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2"/>
  </p:notesMasterIdLst>
  <p:handoutMasterIdLst>
    <p:handoutMasterId r:id="rId323"/>
  </p:handoutMasterIdLst>
  <p:sldIdLst>
    <p:sldId id="256" r:id="rId2"/>
    <p:sldId id="300" r:id="rId3"/>
    <p:sldId id="638" r:id="rId4"/>
    <p:sldId id="298" r:id="rId5"/>
    <p:sldId id="259" r:id="rId6"/>
    <p:sldId id="1017" r:id="rId7"/>
    <p:sldId id="1018" r:id="rId8"/>
    <p:sldId id="1019" r:id="rId9"/>
    <p:sldId id="644" r:id="rId10"/>
    <p:sldId id="643" r:id="rId11"/>
    <p:sldId id="662" r:id="rId12"/>
    <p:sldId id="265" r:id="rId13"/>
    <p:sldId id="296" r:id="rId14"/>
    <p:sldId id="507" r:id="rId15"/>
    <p:sldId id="1020" r:id="rId16"/>
    <p:sldId id="627" r:id="rId17"/>
    <p:sldId id="661" r:id="rId18"/>
    <p:sldId id="299" r:id="rId19"/>
    <p:sldId id="629" r:id="rId20"/>
    <p:sldId id="631" r:id="rId21"/>
    <p:sldId id="632" r:id="rId22"/>
    <p:sldId id="633" r:id="rId23"/>
    <p:sldId id="635" r:id="rId24"/>
    <p:sldId id="636" r:id="rId25"/>
    <p:sldId id="646" r:id="rId26"/>
    <p:sldId id="301" r:id="rId27"/>
    <p:sldId id="302" r:id="rId28"/>
    <p:sldId id="303" r:id="rId29"/>
    <p:sldId id="306" r:id="rId30"/>
    <p:sldId id="304" r:id="rId31"/>
    <p:sldId id="305" r:id="rId32"/>
    <p:sldId id="307" r:id="rId33"/>
    <p:sldId id="308" r:id="rId34"/>
    <p:sldId id="309" r:id="rId35"/>
    <p:sldId id="310" r:id="rId36"/>
    <p:sldId id="311" r:id="rId37"/>
    <p:sldId id="312" r:id="rId38"/>
    <p:sldId id="313" r:id="rId39"/>
    <p:sldId id="647" r:id="rId40"/>
    <p:sldId id="314" r:id="rId41"/>
    <p:sldId id="315" r:id="rId42"/>
    <p:sldId id="668" r:id="rId43"/>
    <p:sldId id="316" r:id="rId44"/>
    <p:sldId id="317" r:id="rId45"/>
    <p:sldId id="318" r:id="rId46"/>
    <p:sldId id="319" r:id="rId47"/>
    <p:sldId id="320" r:id="rId48"/>
    <p:sldId id="321" r:id="rId49"/>
    <p:sldId id="322" r:id="rId50"/>
    <p:sldId id="323" r:id="rId51"/>
    <p:sldId id="324" r:id="rId52"/>
    <p:sldId id="325" r:id="rId53"/>
    <p:sldId id="326" r:id="rId54"/>
    <p:sldId id="327" r:id="rId55"/>
    <p:sldId id="328" r:id="rId56"/>
    <p:sldId id="330" r:id="rId57"/>
    <p:sldId id="331" r:id="rId58"/>
    <p:sldId id="329" r:id="rId59"/>
    <p:sldId id="1021" r:id="rId60"/>
    <p:sldId id="649" r:id="rId61"/>
    <p:sldId id="559" r:id="rId62"/>
    <p:sldId id="578" r:id="rId63"/>
    <p:sldId id="585" r:id="rId64"/>
    <p:sldId id="584" r:id="rId65"/>
    <p:sldId id="579" r:id="rId66"/>
    <p:sldId id="580" r:id="rId67"/>
    <p:sldId id="581" r:id="rId68"/>
    <p:sldId id="582" r:id="rId69"/>
    <p:sldId id="560" r:id="rId70"/>
    <p:sldId id="562" r:id="rId71"/>
    <p:sldId id="563" r:id="rId72"/>
    <p:sldId id="564" r:id="rId73"/>
    <p:sldId id="565" r:id="rId74"/>
    <p:sldId id="566" r:id="rId75"/>
    <p:sldId id="567" r:id="rId76"/>
    <p:sldId id="568" r:id="rId77"/>
    <p:sldId id="569" r:id="rId78"/>
    <p:sldId id="570" r:id="rId79"/>
    <p:sldId id="332" r:id="rId80"/>
    <p:sldId id="669" r:id="rId81"/>
    <p:sldId id="333" r:id="rId82"/>
    <p:sldId id="334" r:id="rId83"/>
    <p:sldId id="509" r:id="rId84"/>
    <p:sldId id="510" r:id="rId85"/>
    <p:sldId id="336" r:id="rId86"/>
    <p:sldId id="342" r:id="rId87"/>
    <p:sldId id="340" r:id="rId88"/>
    <p:sldId id="335" r:id="rId89"/>
    <p:sldId id="337" r:id="rId90"/>
    <p:sldId id="338" r:id="rId91"/>
    <p:sldId id="339" r:id="rId92"/>
    <p:sldId id="345" r:id="rId93"/>
    <p:sldId id="346" r:id="rId94"/>
    <p:sldId id="489" r:id="rId95"/>
    <p:sldId id="490" r:id="rId96"/>
    <p:sldId id="491" r:id="rId97"/>
    <p:sldId id="587" r:id="rId98"/>
    <p:sldId id="493" r:id="rId99"/>
    <p:sldId id="494" r:id="rId100"/>
    <p:sldId id="495" r:id="rId101"/>
    <p:sldId id="496" r:id="rId102"/>
    <p:sldId id="589" r:id="rId103"/>
    <p:sldId id="588" r:id="rId104"/>
    <p:sldId id="497" r:id="rId105"/>
    <p:sldId id="500" r:id="rId106"/>
    <p:sldId id="571" r:id="rId107"/>
    <p:sldId id="572" r:id="rId108"/>
    <p:sldId id="573" r:id="rId109"/>
    <p:sldId id="575" r:id="rId110"/>
    <p:sldId id="651" r:id="rId111"/>
    <p:sldId id="359" r:id="rId112"/>
    <p:sldId id="360" r:id="rId113"/>
    <p:sldId id="361" r:id="rId114"/>
    <p:sldId id="362" r:id="rId115"/>
    <p:sldId id="363" r:id="rId116"/>
    <p:sldId id="364" r:id="rId117"/>
    <p:sldId id="365" r:id="rId118"/>
    <p:sldId id="366" r:id="rId119"/>
    <p:sldId id="367" r:id="rId120"/>
    <p:sldId id="368" r:id="rId121"/>
    <p:sldId id="369" r:id="rId122"/>
    <p:sldId id="590" r:id="rId123"/>
    <p:sldId id="370" r:id="rId124"/>
    <p:sldId id="371" r:id="rId125"/>
    <p:sldId id="372" r:id="rId126"/>
    <p:sldId id="576" r:id="rId127"/>
    <p:sldId id="373" r:id="rId128"/>
    <p:sldId id="374" r:id="rId129"/>
    <p:sldId id="375" r:id="rId130"/>
    <p:sldId id="376" r:id="rId131"/>
    <p:sldId id="377" r:id="rId132"/>
    <p:sldId id="378" r:id="rId133"/>
    <p:sldId id="379" r:id="rId134"/>
    <p:sldId id="659" r:id="rId135"/>
    <p:sldId id="660" r:id="rId136"/>
    <p:sldId id="388" r:id="rId137"/>
    <p:sldId id="389" r:id="rId138"/>
    <p:sldId id="593" r:id="rId139"/>
    <p:sldId id="665" r:id="rId140"/>
    <p:sldId id="380" r:id="rId141"/>
    <p:sldId id="381" r:id="rId142"/>
    <p:sldId id="382" r:id="rId143"/>
    <p:sldId id="594" r:id="rId144"/>
    <p:sldId id="384" r:id="rId145"/>
    <p:sldId id="595" r:id="rId146"/>
    <p:sldId id="657" r:id="rId147"/>
    <p:sldId id="596" r:id="rId148"/>
    <p:sldId id="597" r:id="rId149"/>
    <p:sldId id="390" r:id="rId150"/>
    <p:sldId id="392" r:id="rId151"/>
    <p:sldId id="393" r:id="rId152"/>
    <p:sldId id="394" r:id="rId153"/>
    <p:sldId id="678" r:id="rId154"/>
    <p:sldId id="1016" r:id="rId155"/>
    <p:sldId id="658" r:id="rId156"/>
    <p:sldId id="395" r:id="rId157"/>
    <p:sldId id="396" r:id="rId158"/>
    <p:sldId id="397" r:id="rId159"/>
    <p:sldId id="398" r:id="rId160"/>
    <p:sldId id="399" r:id="rId161"/>
    <p:sldId id="400" r:id="rId162"/>
    <p:sldId id="401" r:id="rId163"/>
    <p:sldId id="670" r:id="rId164"/>
    <p:sldId id="402" r:id="rId165"/>
    <p:sldId id="671" r:id="rId166"/>
    <p:sldId id="403" r:id="rId167"/>
    <p:sldId id="404" r:id="rId168"/>
    <p:sldId id="405" r:id="rId169"/>
    <p:sldId id="406" r:id="rId170"/>
    <p:sldId id="407" r:id="rId171"/>
    <p:sldId id="409" r:id="rId172"/>
    <p:sldId id="410" r:id="rId173"/>
    <p:sldId id="411" r:id="rId174"/>
    <p:sldId id="413" r:id="rId175"/>
    <p:sldId id="414" r:id="rId176"/>
    <p:sldId id="417" r:id="rId177"/>
    <p:sldId id="652" r:id="rId178"/>
    <p:sldId id="422" r:id="rId179"/>
    <p:sldId id="418" r:id="rId180"/>
    <p:sldId id="419" r:id="rId181"/>
    <p:sldId id="420" r:id="rId182"/>
    <p:sldId id="424" r:id="rId183"/>
    <p:sldId id="423" r:id="rId184"/>
    <p:sldId id="425" r:id="rId185"/>
    <p:sldId id="426" r:id="rId186"/>
    <p:sldId id="428" r:id="rId187"/>
    <p:sldId id="613" r:id="rId188"/>
    <p:sldId id="614" r:id="rId189"/>
    <p:sldId id="429" r:id="rId190"/>
    <p:sldId id="615" r:id="rId191"/>
    <p:sldId id="430" r:id="rId192"/>
    <p:sldId id="654" r:id="rId193"/>
    <p:sldId id="431" r:id="rId194"/>
    <p:sldId id="432" r:id="rId195"/>
    <p:sldId id="616" r:id="rId196"/>
    <p:sldId id="433" r:id="rId197"/>
    <p:sldId id="434" r:id="rId198"/>
    <p:sldId id="435" r:id="rId199"/>
    <p:sldId id="617" r:id="rId200"/>
    <p:sldId id="618" r:id="rId201"/>
    <p:sldId id="436" r:id="rId202"/>
    <p:sldId id="516" r:id="rId203"/>
    <p:sldId id="523" r:id="rId204"/>
    <p:sldId id="522" r:id="rId205"/>
    <p:sldId id="534" r:id="rId206"/>
    <p:sldId id="663" r:id="rId207"/>
    <p:sldId id="524" r:id="rId208"/>
    <p:sldId id="517" r:id="rId209"/>
    <p:sldId id="521" r:id="rId210"/>
    <p:sldId id="437" r:id="rId211"/>
    <p:sldId id="438" r:id="rId212"/>
    <p:sldId id="666" r:id="rId213"/>
    <p:sldId id="439" r:id="rId214"/>
    <p:sldId id="440" r:id="rId215"/>
    <p:sldId id="441" r:id="rId216"/>
    <p:sldId id="442" r:id="rId217"/>
    <p:sldId id="443" r:id="rId218"/>
    <p:sldId id="444" r:id="rId219"/>
    <p:sldId id="445" r:id="rId220"/>
    <p:sldId id="446" r:id="rId221"/>
    <p:sldId id="447" r:id="rId222"/>
    <p:sldId id="667" r:id="rId223"/>
    <p:sldId id="448" r:id="rId224"/>
    <p:sldId id="449" r:id="rId225"/>
    <p:sldId id="450" r:id="rId226"/>
    <p:sldId id="451" r:id="rId227"/>
    <p:sldId id="452" r:id="rId228"/>
    <p:sldId id="462" r:id="rId229"/>
    <p:sldId id="672" r:id="rId230"/>
    <p:sldId id="453" r:id="rId231"/>
    <p:sldId id="454" r:id="rId232"/>
    <p:sldId id="455" r:id="rId233"/>
    <p:sldId id="456" r:id="rId234"/>
    <p:sldId id="457" r:id="rId235"/>
    <p:sldId id="458" r:id="rId236"/>
    <p:sldId id="459" r:id="rId237"/>
    <p:sldId id="460" r:id="rId238"/>
    <p:sldId id="461" r:id="rId239"/>
    <p:sldId id="545" r:id="rId240"/>
    <p:sldId id="519" r:id="rId241"/>
    <p:sldId id="463" r:id="rId242"/>
    <p:sldId id="465" r:id="rId243"/>
    <p:sldId id="674" r:id="rId244"/>
    <p:sldId id="673" r:id="rId245"/>
    <p:sldId id="675" r:id="rId246"/>
    <p:sldId id="466" r:id="rId247"/>
    <p:sldId id="467" r:id="rId248"/>
    <p:sldId id="468" r:id="rId249"/>
    <p:sldId id="469" r:id="rId250"/>
    <p:sldId id="676" r:id="rId251"/>
    <p:sldId id="637" r:id="rId252"/>
    <p:sldId id="473" r:id="rId253"/>
    <p:sldId id="474" r:id="rId254"/>
    <p:sldId id="475" r:id="rId255"/>
    <p:sldId id="476" r:id="rId256"/>
    <p:sldId id="477" r:id="rId257"/>
    <p:sldId id="478" r:id="rId258"/>
    <p:sldId id="537" r:id="rId259"/>
    <p:sldId id="538" r:id="rId260"/>
    <p:sldId id="479" r:id="rId261"/>
    <p:sldId id="515" r:id="rId262"/>
    <p:sldId id="480" r:id="rId263"/>
    <p:sldId id="481" r:id="rId264"/>
    <p:sldId id="547" r:id="rId265"/>
    <p:sldId id="548" r:id="rId266"/>
    <p:sldId id="549" r:id="rId267"/>
    <p:sldId id="550" r:id="rId268"/>
    <p:sldId id="482" r:id="rId269"/>
    <p:sldId id="483" r:id="rId270"/>
    <p:sldId id="513" r:id="rId271"/>
    <p:sldId id="484" r:id="rId272"/>
    <p:sldId id="542" r:id="rId273"/>
    <p:sldId id="598" r:id="rId274"/>
    <p:sldId id="539" r:id="rId275"/>
    <p:sldId id="540" r:id="rId276"/>
    <p:sldId id="541" r:id="rId277"/>
    <p:sldId id="543" r:id="rId278"/>
    <p:sldId id="511" r:id="rId279"/>
    <p:sldId id="552" r:id="rId280"/>
    <p:sldId id="553" r:id="rId281"/>
    <p:sldId id="554" r:id="rId282"/>
    <p:sldId id="555" r:id="rId283"/>
    <p:sldId id="556" r:id="rId284"/>
    <p:sldId id="557" r:id="rId285"/>
    <p:sldId id="558" r:id="rId286"/>
    <p:sldId id="485" r:id="rId287"/>
    <p:sldId id="608" r:id="rId288"/>
    <p:sldId id="609" r:id="rId289"/>
    <p:sldId id="610" r:id="rId290"/>
    <p:sldId id="624" r:id="rId291"/>
    <p:sldId id="486" r:id="rId292"/>
    <p:sldId id="487" r:id="rId293"/>
    <p:sldId id="535" r:id="rId294"/>
    <p:sldId id="536" r:id="rId295"/>
    <p:sldId id="501" r:id="rId296"/>
    <p:sldId id="529" r:id="rId297"/>
    <p:sldId id="530" r:id="rId298"/>
    <p:sldId id="531" r:id="rId299"/>
    <p:sldId id="532" r:id="rId300"/>
    <p:sldId id="599" r:id="rId301"/>
    <p:sldId id="600" r:id="rId302"/>
    <p:sldId id="621" r:id="rId303"/>
    <p:sldId id="622" r:id="rId304"/>
    <p:sldId id="601" r:id="rId305"/>
    <p:sldId id="602" r:id="rId306"/>
    <p:sldId id="620" r:id="rId307"/>
    <p:sldId id="603" r:id="rId308"/>
    <p:sldId id="604" r:id="rId309"/>
    <p:sldId id="605" r:id="rId310"/>
    <p:sldId id="606" r:id="rId311"/>
    <p:sldId id="607" r:id="rId312"/>
    <p:sldId id="619" r:id="rId313"/>
    <p:sldId id="640" r:id="rId314"/>
    <p:sldId id="623" r:id="rId315"/>
    <p:sldId id="625" r:id="rId316"/>
    <p:sldId id="626" r:id="rId317"/>
    <p:sldId id="634" r:id="rId318"/>
    <p:sldId id="641" r:id="rId319"/>
    <p:sldId id="642" r:id="rId320"/>
    <p:sldId id="427" r:id="rId32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FFFFFF"/>
    <a:srgbClr val="008000"/>
    <a:srgbClr val="000099"/>
    <a:srgbClr val="F8F8F8"/>
    <a:srgbClr val="99CCFF"/>
    <a:srgbClr val="3399FF"/>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945" autoAdjust="0"/>
    <p:restoredTop sz="60701" autoAdjust="0"/>
  </p:normalViewPr>
  <p:slideViewPr>
    <p:cSldViewPr>
      <p:cViewPr varScale="1">
        <p:scale>
          <a:sx n="49" d="100"/>
          <a:sy n="49" d="100"/>
        </p:scale>
        <p:origin x="1747" y="48"/>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303" Type="http://schemas.openxmlformats.org/officeDocument/2006/relationships/slide" Target="slides/slide302.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324" Type="http://schemas.openxmlformats.org/officeDocument/2006/relationships/presProps" Target="presProps.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289" Type="http://schemas.openxmlformats.org/officeDocument/2006/relationships/slide" Target="slides/slide288.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314" Type="http://schemas.openxmlformats.org/officeDocument/2006/relationships/slide" Target="slides/slide313.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slide" Target="slides/slide278.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25" Type="http://schemas.openxmlformats.org/officeDocument/2006/relationships/viewProps" Target="viewProps.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315" Type="http://schemas.openxmlformats.org/officeDocument/2006/relationships/slide" Target="slides/slide314.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305" Type="http://schemas.openxmlformats.org/officeDocument/2006/relationships/slide" Target="slides/slide304.xml"/><Relationship Id="rId326" Type="http://schemas.openxmlformats.org/officeDocument/2006/relationships/theme" Target="theme/theme1.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16" Type="http://schemas.openxmlformats.org/officeDocument/2006/relationships/slide" Target="slides/slide315.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327" Type="http://schemas.openxmlformats.org/officeDocument/2006/relationships/tableStyles" Target="tableStyles.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282" Type="http://schemas.openxmlformats.org/officeDocument/2006/relationships/slide" Target="slides/slide281.xml"/><Relationship Id="rId312" Type="http://schemas.openxmlformats.org/officeDocument/2006/relationships/slide" Target="slides/slide311.xml"/><Relationship Id="rId317" Type="http://schemas.openxmlformats.org/officeDocument/2006/relationships/slide" Target="slides/slide31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72" Type="http://schemas.openxmlformats.org/officeDocument/2006/relationships/slide" Target="slides/slide271.xml"/><Relationship Id="rId293" Type="http://schemas.openxmlformats.org/officeDocument/2006/relationships/slide" Target="slides/slide292.xml"/><Relationship Id="rId302" Type="http://schemas.openxmlformats.org/officeDocument/2006/relationships/slide" Target="slides/slide301.xml"/><Relationship Id="rId307" Type="http://schemas.openxmlformats.org/officeDocument/2006/relationships/slide" Target="slides/slide306.xml"/><Relationship Id="rId323"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283" Type="http://schemas.openxmlformats.org/officeDocument/2006/relationships/slide" Target="slides/slide282.xml"/><Relationship Id="rId313" Type="http://schemas.openxmlformats.org/officeDocument/2006/relationships/slide" Target="slides/slide312.xml"/><Relationship Id="rId318" Type="http://schemas.openxmlformats.org/officeDocument/2006/relationships/slide" Target="slides/slide317.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5A4EC9AE-754B-49FD-BA16-B62493B54AAE}" type="datetimeFigureOut">
              <a:rPr lang="zh-CN" altLang="en-US"/>
              <a:pPr>
                <a:defRPr/>
              </a:pPr>
              <a:t>2023/9/3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D4895103-49AF-4E9F-8FAA-AC2C9A984A0F}" type="slidenum">
              <a:rPr lang="zh-CN" altLang="en-US"/>
              <a:pPr>
                <a:defRPr/>
              </a:pPr>
              <a:t>‹#›</a:t>
            </a:fld>
            <a:endParaRPr lang="zh-CN" altLang="en-US"/>
          </a:p>
        </p:txBody>
      </p:sp>
    </p:spTree>
    <p:extLst>
      <p:ext uri="{BB962C8B-B14F-4D97-AF65-F5344CB8AC3E}">
        <p14:creationId xmlns:p14="http://schemas.microsoft.com/office/powerpoint/2010/main" val="37072796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A8BD7D17-9F94-433F-85A9-A167373EBE7A}" type="datetimeFigureOut">
              <a:rPr lang="zh-CN" altLang="en-US"/>
              <a:pPr>
                <a:defRPr/>
              </a:pPr>
              <a:t>2023/9/3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37F5F534-2C7B-4B3E-AB7E-5181B2239891}" type="slidenum">
              <a:rPr lang="zh-CN" altLang="en-US"/>
              <a:pPr>
                <a:defRPr/>
              </a:pPr>
              <a:t>‹#›</a:t>
            </a:fld>
            <a:endParaRPr lang="zh-CN" altLang="en-US"/>
          </a:p>
        </p:txBody>
      </p:sp>
    </p:spTree>
    <p:extLst>
      <p:ext uri="{BB962C8B-B14F-4D97-AF65-F5344CB8AC3E}">
        <p14:creationId xmlns:p14="http://schemas.microsoft.com/office/powerpoint/2010/main" val="174383058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317.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318.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3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noFill/>
          <a:ln>
            <a:solidFill>
              <a:srgbClr val="000000"/>
            </a:solidFill>
            <a:miter lim="800000"/>
            <a:headEnd/>
            <a:tailEnd/>
          </a:ln>
        </p:spPr>
      </p:sp>
      <p:sp>
        <p:nvSpPr>
          <p:cNvPr id="337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0A6A8501-8938-4B94-BC5C-55C939656245}" type="slidenum">
              <a:rPr lang="zh-CN" altLang="en-US" smtClean="0"/>
              <a:pPr>
                <a:defRPr/>
              </a:pPr>
              <a:t>1</a:t>
            </a:fld>
            <a:endParaRPr lang="zh-CN" altLang="en-US"/>
          </a:p>
        </p:txBody>
      </p:sp>
    </p:spTree>
    <p:extLst>
      <p:ext uri="{BB962C8B-B14F-4D97-AF65-F5344CB8AC3E}">
        <p14:creationId xmlns:p14="http://schemas.microsoft.com/office/powerpoint/2010/main" val="3558671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a:t>
            </a:fld>
            <a:endParaRPr lang="zh-CN" altLang="en-US"/>
          </a:p>
        </p:txBody>
      </p:sp>
    </p:spTree>
    <p:extLst>
      <p:ext uri="{BB962C8B-B14F-4D97-AF65-F5344CB8AC3E}">
        <p14:creationId xmlns:p14="http://schemas.microsoft.com/office/powerpoint/2010/main" val="3294404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4</a:t>
            </a:fld>
            <a:endParaRPr lang="zh-CN" altLang="en-US"/>
          </a:p>
        </p:txBody>
      </p:sp>
    </p:spTree>
    <p:extLst>
      <p:ext uri="{BB962C8B-B14F-4D97-AF65-F5344CB8AC3E}">
        <p14:creationId xmlns:p14="http://schemas.microsoft.com/office/powerpoint/2010/main" val="3061558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4A44C9C8-0A7A-486D-AB7B-39E601226F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FDEE524-1742-424F-9D5B-98F331E41B2C}" type="slidenum">
              <a:rPr lang="zh-CN" altLang="en-US"/>
              <a:pPr>
                <a:spcBef>
                  <a:spcPct val="0"/>
                </a:spcBef>
              </a:pPr>
              <a:t>5</a:t>
            </a:fld>
            <a:endParaRPr lang="en-US" altLang="zh-CN"/>
          </a:p>
        </p:txBody>
      </p:sp>
      <p:sp>
        <p:nvSpPr>
          <p:cNvPr id="34819" name="Rectangle 2">
            <a:extLst>
              <a:ext uri="{FF2B5EF4-FFF2-40B4-BE49-F238E27FC236}">
                <a16:creationId xmlns:a16="http://schemas.microsoft.com/office/drawing/2014/main" id="{EC993A7A-0667-4C49-AA15-7F5C32A47AC8}"/>
              </a:ext>
            </a:extLst>
          </p:cNvPr>
          <p:cNvSpPr>
            <a:spLocks noGrp="1" noRot="1" noChangeAspect="1" noChangeArrowheads="1" noTextEdit="1"/>
          </p:cNvSpPr>
          <p:nvPr>
            <p:ph type="sldImg"/>
          </p:nvPr>
        </p:nvSpPr>
        <p:spPr>
          <a:solidFill>
            <a:srgbClr val="FFFFFF"/>
          </a:solidFill>
          <a:ln/>
        </p:spPr>
      </p:sp>
      <p:sp>
        <p:nvSpPr>
          <p:cNvPr id="34820" name="Rectangle 3">
            <a:extLst>
              <a:ext uri="{FF2B5EF4-FFF2-40B4-BE49-F238E27FC236}">
                <a16:creationId xmlns:a16="http://schemas.microsoft.com/office/drawing/2014/main" id="{C4740D7C-EB68-4EAE-8422-9A026945230E}"/>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en-US" dirty="0"/>
          </a:p>
        </p:txBody>
      </p:sp>
    </p:spTree>
    <p:extLst>
      <p:ext uri="{BB962C8B-B14F-4D97-AF65-F5344CB8AC3E}">
        <p14:creationId xmlns:p14="http://schemas.microsoft.com/office/powerpoint/2010/main" val="3417410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10</a:t>
            </a:fld>
            <a:endParaRPr lang="zh-CN" altLang="en-US"/>
          </a:p>
        </p:txBody>
      </p:sp>
    </p:spTree>
    <p:extLst>
      <p:ext uri="{BB962C8B-B14F-4D97-AF65-F5344CB8AC3E}">
        <p14:creationId xmlns:p14="http://schemas.microsoft.com/office/powerpoint/2010/main" val="2186468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12</a:t>
            </a:fld>
            <a:endParaRPr lang="zh-CN" altLang="en-US"/>
          </a:p>
        </p:txBody>
      </p:sp>
    </p:spTree>
    <p:extLst>
      <p:ext uri="{BB962C8B-B14F-4D97-AF65-F5344CB8AC3E}">
        <p14:creationId xmlns:p14="http://schemas.microsoft.com/office/powerpoint/2010/main" val="3838479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13</a:t>
            </a:fld>
            <a:endParaRPr lang="zh-CN" altLang="en-US"/>
          </a:p>
        </p:txBody>
      </p:sp>
    </p:spTree>
    <p:extLst>
      <p:ext uri="{BB962C8B-B14F-4D97-AF65-F5344CB8AC3E}">
        <p14:creationId xmlns:p14="http://schemas.microsoft.com/office/powerpoint/2010/main" val="52655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14</a:t>
            </a:fld>
            <a:endParaRPr lang="zh-CN" altLang="en-US"/>
          </a:p>
        </p:txBody>
      </p:sp>
    </p:spTree>
    <p:extLst>
      <p:ext uri="{BB962C8B-B14F-4D97-AF65-F5344CB8AC3E}">
        <p14:creationId xmlns:p14="http://schemas.microsoft.com/office/powerpoint/2010/main" val="2924586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08B4F9A7-0C13-4A5A-8B00-479080D63153}"/>
              </a:ext>
            </a:extLst>
          </p:cNvPr>
          <p:cNvSpPr>
            <a:spLocks noGrp="1" noRot="1" noChangeAspect="1" noChangeArrowheads="1" noTextEdit="1"/>
          </p:cNvSpPr>
          <p:nvPr>
            <p:ph type="sldImg"/>
          </p:nvPr>
        </p:nvSpPr>
        <p:spPr>
          <a:xfrm>
            <a:off x="1144588" y="685800"/>
            <a:ext cx="4570412" cy="3429000"/>
          </a:xfrm>
          <a:ln/>
        </p:spPr>
      </p:sp>
      <p:sp>
        <p:nvSpPr>
          <p:cNvPr id="13315" name="Notes Placeholder 2">
            <a:extLst>
              <a:ext uri="{FF2B5EF4-FFF2-40B4-BE49-F238E27FC236}">
                <a16:creationId xmlns:a16="http://schemas.microsoft.com/office/drawing/2014/main" id="{DB566923-58E2-4473-8109-FF9308B81E36}"/>
              </a:ext>
            </a:extLst>
          </p:cNvPr>
          <p:cNvSpPr>
            <a:spLocks noGrp="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lstStyle/>
          <a:p>
            <a:endParaRPr lang="zh-CN" altLang="en-US" dirty="0"/>
          </a:p>
        </p:txBody>
      </p:sp>
      <p:sp>
        <p:nvSpPr>
          <p:cNvPr id="13316" name="Slide Number Placeholder 3">
            <a:extLst>
              <a:ext uri="{FF2B5EF4-FFF2-40B4-BE49-F238E27FC236}">
                <a16:creationId xmlns:a16="http://schemas.microsoft.com/office/drawing/2014/main" id="{F269E3B8-9272-463D-8CDD-0028C1C35959}"/>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a:spcBef>
                <a:spcPct val="0"/>
              </a:spcBef>
            </a:pPr>
            <a:fld id="{93109945-D2DD-40B6-BB6A-AE62929DD7EE}" type="slidenum">
              <a:rPr kumimoji="0" lang="zh-CN" altLang="en-US" sz="1100">
                <a:latin typeface="Arial" panose="020B0604020202020204" pitchFamily="34" charset="0"/>
              </a:rPr>
              <a:pPr algn="r">
                <a:spcBef>
                  <a:spcPct val="0"/>
                </a:spcBef>
              </a:pPr>
              <a:t>16</a:t>
            </a:fld>
            <a:endParaRPr kumimoji="0" lang="en-US" altLang="zh-CN" sz="1100">
              <a:latin typeface="Arial" panose="020B0604020202020204" pitchFamily="34" charset="0"/>
            </a:endParaRPr>
          </a:p>
        </p:txBody>
      </p:sp>
    </p:spTree>
    <p:extLst>
      <p:ext uri="{BB962C8B-B14F-4D97-AF65-F5344CB8AC3E}">
        <p14:creationId xmlns:p14="http://schemas.microsoft.com/office/powerpoint/2010/main" val="42323804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17</a:t>
            </a:fld>
            <a:endParaRPr lang="zh-CN" altLang="en-US"/>
          </a:p>
        </p:txBody>
      </p:sp>
    </p:spTree>
    <p:extLst>
      <p:ext uri="{BB962C8B-B14F-4D97-AF65-F5344CB8AC3E}">
        <p14:creationId xmlns:p14="http://schemas.microsoft.com/office/powerpoint/2010/main" val="24927988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8415784B-9385-4B14-8B6D-370F7EF279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F70DBB6-E717-47E0-82FE-E5E93E9AEE02}" type="slidenum">
              <a:rPr lang="zh-CN" altLang="en-US"/>
              <a:pPr>
                <a:spcBef>
                  <a:spcPct val="0"/>
                </a:spcBef>
              </a:pPr>
              <a:t>18</a:t>
            </a:fld>
            <a:endParaRPr lang="en-US" altLang="zh-CN"/>
          </a:p>
        </p:txBody>
      </p:sp>
      <p:sp>
        <p:nvSpPr>
          <p:cNvPr id="31747" name="Rectangle 2">
            <a:extLst>
              <a:ext uri="{FF2B5EF4-FFF2-40B4-BE49-F238E27FC236}">
                <a16:creationId xmlns:a16="http://schemas.microsoft.com/office/drawing/2014/main" id="{44630882-3DF9-4EE1-A701-535E75E19DF8}"/>
              </a:ext>
            </a:extLst>
          </p:cNvPr>
          <p:cNvSpPr>
            <a:spLocks noGrp="1" noRot="1" noChangeAspect="1" noChangeArrowheads="1" noTextEdit="1"/>
          </p:cNvSpPr>
          <p:nvPr>
            <p:ph type="sldImg"/>
          </p:nvPr>
        </p:nvSpPr>
        <p:spPr>
          <a:solidFill>
            <a:srgbClr val="FFFFFF"/>
          </a:solidFill>
          <a:ln/>
        </p:spPr>
      </p:sp>
      <p:sp>
        <p:nvSpPr>
          <p:cNvPr id="31748" name="Rectangle 3">
            <a:extLst>
              <a:ext uri="{FF2B5EF4-FFF2-40B4-BE49-F238E27FC236}">
                <a16:creationId xmlns:a16="http://schemas.microsoft.com/office/drawing/2014/main" id="{AECF15C3-74BB-48F9-953A-6CB21F51FAF6}"/>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ea typeface="宋体" panose="02010600030101010101" pitchFamily="2" charset="-122"/>
            </a:endParaRPr>
          </a:p>
        </p:txBody>
      </p:sp>
    </p:spTree>
    <p:extLst>
      <p:ext uri="{BB962C8B-B14F-4D97-AF65-F5344CB8AC3E}">
        <p14:creationId xmlns:p14="http://schemas.microsoft.com/office/powerpoint/2010/main" val="22706014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14317BB2-98A9-4296-9943-CBC7FD4AFA99}"/>
              </a:ext>
            </a:extLst>
          </p:cNvPr>
          <p:cNvSpPr>
            <a:spLocks noGrp="1" noRot="1" noChangeAspect="1" noChangeArrowheads="1" noTextEdit="1"/>
          </p:cNvSpPr>
          <p:nvPr>
            <p:ph type="sldImg"/>
          </p:nvPr>
        </p:nvSpPr>
        <p:spPr>
          <a:xfrm>
            <a:off x="1144588" y="685800"/>
            <a:ext cx="4570412" cy="3429000"/>
          </a:xfrm>
          <a:ln/>
        </p:spPr>
      </p:sp>
      <p:sp>
        <p:nvSpPr>
          <p:cNvPr id="15363" name="Notes Placeholder 2">
            <a:extLst>
              <a:ext uri="{FF2B5EF4-FFF2-40B4-BE49-F238E27FC236}">
                <a16:creationId xmlns:a16="http://schemas.microsoft.com/office/drawing/2014/main" id="{638B5AC7-68F2-4179-9083-6A613623E5B4}"/>
              </a:ext>
            </a:extLst>
          </p:cNvPr>
          <p:cNvSpPr>
            <a:spLocks noGrp="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lstStyle/>
          <a:p>
            <a:pPr>
              <a:spcBef>
                <a:spcPct val="0"/>
              </a:spcBef>
            </a:pPr>
            <a:endParaRPr lang="en-US" altLang="zh-CN" dirty="0"/>
          </a:p>
        </p:txBody>
      </p:sp>
      <p:sp>
        <p:nvSpPr>
          <p:cNvPr id="15364" name="Slide Number Placeholder 3">
            <a:extLst>
              <a:ext uri="{FF2B5EF4-FFF2-40B4-BE49-F238E27FC236}">
                <a16:creationId xmlns:a16="http://schemas.microsoft.com/office/drawing/2014/main" id="{67A89C9E-B80D-43F1-97AA-A5439234A4CD}"/>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a:spcBef>
                <a:spcPct val="0"/>
              </a:spcBef>
            </a:pPr>
            <a:fld id="{636686A9-78FD-40FA-ADBB-B0F89E7C7D9D}" type="slidenum">
              <a:rPr kumimoji="0" lang="zh-CN" altLang="en-US" sz="1100">
                <a:latin typeface="Arial" panose="020B0604020202020204" pitchFamily="34" charset="0"/>
              </a:rPr>
              <a:pPr algn="r">
                <a:spcBef>
                  <a:spcPct val="0"/>
                </a:spcBef>
              </a:pPr>
              <a:t>19</a:t>
            </a:fld>
            <a:endParaRPr kumimoji="0" lang="en-US" altLang="zh-CN" sz="110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9D542C8D-C83A-4194-B5EA-DDDAB2A38D60}"/>
              </a:ext>
            </a:extLst>
          </p:cNvPr>
          <p:cNvSpPr>
            <a:spLocks noGrp="1" noRot="1" noChangeAspect="1" noChangeArrowheads="1" noTextEdit="1"/>
          </p:cNvSpPr>
          <p:nvPr>
            <p:ph type="sldImg"/>
          </p:nvPr>
        </p:nvSpPr>
        <p:spPr>
          <a:xfrm>
            <a:off x="1144588" y="685800"/>
            <a:ext cx="4570412" cy="3429000"/>
          </a:xfrm>
          <a:ln/>
        </p:spPr>
      </p:sp>
      <p:sp>
        <p:nvSpPr>
          <p:cNvPr id="19459" name="Notes Placeholder 2">
            <a:extLst>
              <a:ext uri="{FF2B5EF4-FFF2-40B4-BE49-F238E27FC236}">
                <a16:creationId xmlns:a16="http://schemas.microsoft.com/office/drawing/2014/main" id="{133485E5-CFCC-4903-837A-F6312F0D5E0C}"/>
              </a:ext>
            </a:extLst>
          </p:cNvPr>
          <p:cNvSpPr>
            <a:spLocks noGrp="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lstStyle/>
          <a:p>
            <a:pPr>
              <a:spcBef>
                <a:spcPct val="0"/>
              </a:spcBef>
            </a:pPr>
            <a:endParaRPr lang="en-US" altLang="zh-CN"/>
          </a:p>
        </p:txBody>
      </p:sp>
      <p:sp>
        <p:nvSpPr>
          <p:cNvPr id="19460" name="Slide Number Placeholder 3">
            <a:extLst>
              <a:ext uri="{FF2B5EF4-FFF2-40B4-BE49-F238E27FC236}">
                <a16:creationId xmlns:a16="http://schemas.microsoft.com/office/drawing/2014/main" id="{D0A68441-738A-4108-8D10-A9E42A002654}"/>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a:spcBef>
                <a:spcPct val="0"/>
              </a:spcBef>
            </a:pPr>
            <a:fld id="{1ED727C6-3207-40C5-8C97-FBC0ABF84D54}" type="slidenum">
              <a:rPr kumimoji="0" lang="zh-CN" altLang="en-US" sz="1100">
                <a:latin typeface="Arial" panose="020B0604020202020204" pitchFamily="34" charset="0"/>
              </a:rPr>
              <a:pPr algn="r">
                <a:spcBef>
                  <a:spcPct val="0"/>
                </a:spcBef>
              </a:pPr>
              <a:t>20</a:t>
            </a:fld>
            <a:endParaRPr kumimoji="0" lang="en-US" altLang="zh-CN" sz="110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DD2A77FF-55D8-49BA-990A-D46E9C114D9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6BFEA2E0-BB8B-4DA9-B24A-4CD3653B8D34}" type="slidenum">
              <a:rPr kumimoji="0" lang="zh-CN" altLang="en-US" sz="1100">
                <a:latin typeface="Arial" panose="020B0604020202020204" pitchFamily="34" charset="0"/>
                <a:ea typeface="ＭＳ Ｐゴシック" panose="020B0600070205080204" pitchFamily="34" charset="-128"/>
              </a:rPr>
              <a:pPr algn="r" eaLnBrk="1" hangingPunct="1">
                <a:spcBef>
                  <a:spcPct val="0"/>
                </a:spcBef>
              </a:pPr>
              <a:t>21</a:t>
            </a:fld>
            <a:endParaRPr kumimoji="0" lang="en-US" altLang="zh-CN" sz="1100">
              <a:latin typeface="Arial" panose="020B0604020202020204" pitchFamily="34" charset="0"/>
              <a:ea typeface="ＭＳ Ｐゴシック" panose="020B0600070205080204" pitchFamily="34" charset="-128"/>
            </a:endParaRPr>
          </a:p>
        </p:txBody>
      </p:sp>
      <p:sp>
        <p:nvSpPr>
          <p:cNvPr id="21507" name="Rectangle 2">
            <a:extLst>
              <a:ext uri="{FF2B5EF4-FFF2-40B4-BE49-F238E27FC236}">
                <a16:creationId xmlns:a16="http://schemas.microsoft.com/office/drawing/2014/main" id="{F108AB92-10AB-4264-AA85-E6DA33FA38E7}"/>
              </a:ext>
            </a:extLst>
          </p:cNvPr>
          <p:cNvSpPr>
            <a:spLocks noGrp="1" noRot="1" noChangeAspect="1" noChangeArrowheads="1" noTextEdit="1"/>
          </p:cNvSpPr>
          <p:nvPr>
            <p:ph type="sldImg"/>
          </p:nvPr>
        </p:nvSpPr>
        <p:spPr>
          <a:xfrm>
            <a:off x="1144588" y="685800"/>
            <a:ext cx="4570412" cy="3429000"/>
          </a:xfrm>
          <a:solidFill>
            <a:srgbClr val="FFFFFF"/>
          </a:solidFill>
          <a:ln/>
        </p:spPr>
      </p:sp>
      <p:sp>
        <p:nvSpPr>
          <p:cNvPr id="21508" name="Rectangle 3">
            <a:extLst>
              <a:ext uri="{FF2B5EF4-FFF2-40B4-BE49-F238E27FC236}">
                <a16:creationId xmlns:a16="http://schemas.microsoft.com/office/drawing/2014/main" id="{F81AD435-8A77-4A23-9E31-6BB0FD6A7283}"/>
              </a:ext>
            </a:extLst>
          </p:cNvPr>
          <p:cNvSpPr>
            <a:spLocks noGrp="1" noChangeArrowheads="1"/>
          </p:cNvSpPr>
          <p:nvPr>
            <p:ph type="body" idx="1"/>
          </p:nvPr>
        </p:nvSpPr>
        <p:spPr>
          <a:solidFill>
            <a:srgbClr val="FFFFFF"/>
          </a:solidFill>
          <a:ln>
            <a:solidFill>
              <a:srgbClr val="000000"/>
            </a:solidFill>
          </a:ln>
        </p:spPr>
        <p:txBody>
          <a:bodyPr lIns="86493" tIns="43247" rIns="86493" bIns="43247"/>
          <a:lstStyle/>
          <a:p>
            <a:endParaRPr lang="en-US"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071DC0D8-8638-4339-A1F5-B276E966BB35}"/>
              </a:ext>
            </a:extLst>
          </p:cNvPr>
          <p:cNvSpPr>
            <a:spLocks noGrp="1" noRot="1" noChangeAspect="1" noChangeArrowheads="1" noTextEdit="1"/>
          </p:cNvSpPr>
          <p:nvPr>
            <p:ph type="sldImg"/>
          </p:nvPr>
        </p:nvSpPr>
        <p:spPr>
          <a:xfrm>
            <a:off x="1144588" y="685800"/>
            <a:ext cx="4570412" cy="3429000"/>
          </a:xfrm>
          <a:ln/>
        </p:spPr>
      </p:sp>
      <p:sp>
        <p:nvSpPr>
          <p:cNvPr id="23555" name="Notes Placeholder 2">
            <a:extLst>
              <a:ext uri="{FF2B5EF4-FFF2-40B4-BE49-F238E27FC236}">
                <a16:creationId xmlns:a16="http://schemas.microsoft.com/office/drawing/2014/main" id="{397824E7-C4E1-492A-B0F4-1F29624394EF}"/>
              </a:ext>
            </a:extLst>
          </p:cNvPr>
          <p:cNvSpPr>
            <a:spLocks noGrp="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lstStyle/>
          <a:p>
            <a:pPr>
              <a:spcBef>
                <a:spcPct val="0"/>
              </a:spcBef>
            </a:pPr>
            <a:endParaRPr lang="en-US" altLang="zh-CN"/>
          </a:p>
        </p:txBody>
      </p:sp>
      <p:sp>
        <p:nvSpPr>
          <p:cNvPr id="23556" name="Slide Number Placeholder 3">
            <a:extLst>
              <a:ext uri="{FF2B5EF4-FFF2-40B4-BE49-F238E27FC236}">
                <a16:creationId xmlns:a16="http://schemas.microsoft.com/office/drawing/2014/main" id="{8DAB5798-ED96-49FC-A9F4-9809F121D13C}"/>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a:spcBef>
                <a:spcPct val="0"/>
              </a:spcBef>
            </a:pPr>
            <a:fld id="{5D695327-BA5E-46A3-B70B-3EB4EC12C441}" type="slidenum">
              <a:rPr kumimoji="0" lang="zh-CN" altLang="en-US" sz="1100">
                <a:latin typeface="Arial" panose="020B0604020202020204" pitchFamily="34" charset="0"/>
              </a:rPr>
              <a:pPr algn="r">
                <a:spcBef>
                  <a:spcPct val="0"/>
                </a:spcBef>
              </a:pPr>
              <a:t>22</a:t>
            </a:fld>
            <a:endParaRPr kumimoji="0" lang="en-US" altLang="zh-CN" sz="1100">
              <a:latin typeface="Arial" panose="020B0604020202020204" pitchFamily="34" charset="0"/>
            </a:endParaRPr>
          </a:p>
        </p:txBody>
      </p:sp>
    </p:spTree>
    <p:extLst>
      <p:ext uri="{BB962C8B-B14F-4D97-AF65-F5344CB8AC3E}">
        <p14:creationId xmlns:p14="http://schemas.microsoft.com/office/powerpoint/2010/main" val="42719826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720D4BF2-1731-43C7-89A5-387CC24D9CF3}"/>
              </a:ext>
            </a:extLst>
          </p:cNvPr>
          <p:cNvSpPr>
            <a:spLocks noGrp="1" noRot="1" noChangeAspect="1" noChangeArrowheads="1" noTextEdit="1"/>
          </p:cNvSpPr>
          <p:nvPr>
            <p:ph type="sldImg"/>
          </p:nvPr>
        </p:nvSpPr>
        <p:spPr>
          <a:xfrm>
            <a:off x="1144588" y="685800"/>
            <a:ext cx="4570412" cy="3429000"/>
          </a:xfrm>
          <a:ln/>
        </p:spPr>
      </p:sp>
      <p:sp>
        <p:nvSpPr>
          <p:cNvPr id="27651" name="Notes Placeholder 2">
            <a:extLst>
              <a:ext uri="{FF2B5EF4-FFF2-40B4-BE49-F238E27FC236}">
                <a16:creationId xmlns:a16="http://schemas.microsoft.com/office/drawing/2014/main" id="{9E0213A5-E98B-4565-AD31-D6C668D3104B}"/>
              </a:ext>
            </a:extLst>
          </p:cNvPr>
          <p:cNvSpPr>
            <a:spLocks noGrp="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lstStyle/>
          <a:p>
            <a:endParaRPr lang="zh-CN" altLang="en-US" dirty="0"/>
          </a:p>
        </p:txBody>
      </p:sp>
      <p:sp>
        <p:nvSpPr>
          <p:cNvPr id="27652" name="Slide Number Placeholder 3">
            <a:extLst>
              <a:ext uri="{FF2B5EF4-FFF2-40B4-BE49-F238E27FC236}">
                <a16:creationId xmlns:a16="http://schemas.microsoft.com/office/drawing/2014/main" id="{BE8D89AE-7CBD-4DA7-9831-3EBADDD76ECC}"/>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a:spcBef>
                <a:spcPct val="0"/>
              </a:spcBef>
            </a:pPr>
            <a:fld id="{51A4D6EB-E243-46D6-BF28-9DFAA5572BF8}" type="slidenum">
              <a:rPr kumimoji="0" lang="zh-CN" altLang="en-US" sz="1100">
                <a:latin typeface="Arial" panose="020B0604020202020204" pitchFamily="34" charset="0"/>
              </a:rPr>
              <a:pPr algn="r">
                <a:spcBef>
                  <a:spcPct val="0"/>
                </a:spcBef>
              </a:pPr>
              <a:t>23</a:t>
            </a:fld>
            <a:endParaRPr kumimoji="0" lang="en-US" altLang="zh-CN" sz="1100">
              <a:latin typeface="Arial" panose="020B0604020202020204" pitchFamily="34" charset="0"/>
            </a:endParaRPr>
          </a:p>
        </p:txBody>
      </p:sp>
    </p:spTree>
    <p:extLst>
      <p:ext uri="{BB962C8B-B14F-4D97-AF65-F5344CB8AC3E}">
        <p14:creationId xmlns:p14="http://schemas.microsoft.com/office/powerpoint/2010/main" val="5796545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2F12DD47-41DE-46DD-8815-0876C5834793}"/>
              </a:ext>
            </a:extLst>
          </p:cNvPr>
          <p:cNvSpPr>
            <a:spLocks noGrp="1" noRot="1" noChangeAspect="1" noChangeArrowheads="1" noTextEdit="1"/>
          </p:cNvSpPr>
          <p:nvPr>
            <p:ph type="sldImg"/>
          </p:nvPr>
        </p:nvSpPr>
        <p:spPr>
          <a:xfrm>
            <a:off x="1144588" y="685800"/>
            <a:ext cx="4570412" cy="3429000"/>
          </a:xfrm>
          <a:ln/>
        </p:spPr>
      </p:sp>
      <p:sp>
        <p:nvSpPr>
          <p:cNvPr id="29699" name="Notes Placeholder 2">
            <a:extLst>
              <a:ext uri="{FF2B5EF4-FFF2-40B4-BE49-F238E27FC236}">
                <a16:creationId xmlns:a16="http://schemas.microsoft.com/office/drawing/2014/main" id="{262BE3BD-8037-4C66-8534-4DE9871B3443}"/>
              </a:ext>
            </a:extLst>
          </p:cNvPr>
          <p:cNvSpPr>
            <a:spLocks noGrp="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lstStyle/>
          <a:p>
            <a:pPr>
              <a:spcBef>
                <a:spcPct val="0"/>
              </a:spcBef>
            </a:pPr>
            <a:endParaRPr lang="en-US" altLang="zh-CN" dirty="0"/>
          </a:p>
        </p:txBody>
      </p:sp>
      <p:sp>
        <p:nvSpPr>
          <p:cNvPr id="29700" name="Slide Number Placeholder 3">
            <a:extLst>
              <a:ext uri="{FF2B5EF4-FFF2-40B4-BE49-F238E27FC236}">
                <a16:creationId xmlns:a16="http://schemas.microsoft.com/office/drawing/2014/main" id="{19EC6B76-0BF5-4578-A7B2-BEC042478012}"/>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a:spcBef>
                <a:spcPct val="0"/>
              </a:spcBef>
            </a:pPr>
            <a:fld id="{FA125FBF-2FF0-47C2-A9DE-0F99F8967306}" type="slidenum">
              <a:rPr kumimoji="0" lang="zh-CN" altLang="en-US" sz="1100">
                <a:latin typeface="Arial" panose="020B0604020202020204" pitchFamily="34" charset="0"/>
              </a:rPr>
              <a:pPr algn="r">
                <a:spcBef>
                  <a:spcPct val="0"/>
                </a:spcBef>
              </a:pPr>
              <a:t>24</a:t>
            </a:fld>
            <a:endParaRPr kumimoji="0" lang="en-US" altLang="zh-CN" sz="1100">
              <a:latin typeface="Arial" panose="020B0604020202020204" pitchFamily="34" charset="0"/>
            </a:endParaRPr>
          </a:p>
        </p:txBody>
      </p:sp>
    </p:spTree>
    <p:extLst>
      <p:ext uri="{BB962C8B-B14F-4D97-AF65-F5344CB8AC3E}">
        <p14:creationId xmlns:p14="http://schemas.microsoft.com/office/powerpoint/2010/main" val="35819080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26</a:t>
            </a:fld>
            <a:endParaRPr lang="zh-CN" altLang="en-US"/>
          </a:p>
        </p:txBody>
      </p:sp>
    </p:spTree>
    <p:extLst>
      <p:ext uri="{BB962C8B-B14F-4D97-AF65-F5344CB8AC3E}">
        <p14:creationId xmlns:p14="http://schemas.microsoft.com/office/powerpoint/2010/main" val="21680162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27</a:t>
            </a:fld>
            <a:endParaRPr lang="zh-CN" altLang="en-US"/>
          </a:p>
        </p:txBody>
      </p:sp>
    </p:spTree>
    <p:extLst>
      <p:ext uri="{BB962C8B-B14F-4D97-AF65-F5344CB8AC3E}">
        <p14:creationId xmlns:p14="http://schemas.microsoft.com/office/powerpoint/2010/main" val="32642705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28</a:t>
            </a:fld>
            <a:endParaRPr lang="zh-CN" altLang="en-US"/>
          </a:p>
        </p:txBody>
      </p:sp>
    </p:spTree>
    <p:extLst>
      <p:ext uri="{BB962C8B-B14F-4D97-AF65-F5344CB8AC3E}">
        <p14:creationId xmlns:p14="http://schemas.microsoft.com/office/powerpoint/2010/main" val="7554423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29</a:t>
            </a:fld>
            <a:endParaRPr lang="zh-CN" altLang="en-US"/>
          </a:p>
        </p:txBody>
      </p:sp>
    </p:spTree>
    <p:extLst>
      <p:ext uri="{BB962C8B-B14F-4D97-AF65-F5344CB8AC3E}">
        <p14:creationId xmlns:p14="http://schemas.microsoft.com/office/powerpoint/2010/main" val="34306118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30</a:t>
            </a:fld>
            <a:endParaRPr lang="zh-CN" altLang="en-US"/>
          </a:p>
        </p:txBody>
      </p:sp>
    </p:spTree>
    <p:extLst>
      <p:ext uri="{BB962C8B-B14F-4D97-AF65-F5344CB8AC3E}">
        <p14:creationId xmlns:p14="http://schemas.microsoft.com/office/powerpoint/2010/main" val="19168329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32</a:t>
            </a:fld>
            <a:endParaRPr lang="zh-CN" altLang="en-US"/>
          </a:p>
        </p:txBody>
      </p:sp>
    </p:spTree>
    <p:extLst>
      <p:ext uri="{BB962C8B-B14F-4D97-AF65-F5344CB8AC3E}">
        <p14:creationId xmlns:p14="http://schemas.microsoft.com/office/powerpoint/2010/main" val="41586533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4C51DED5-CDCC-4671-A741-47F8958EC3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42B75BB-FA48-4D22-9FA5-3572FEA6DA2D}" type="slidenum">
              <a:rPr lang="zh-CN" altLang="en-US"/>
              <a:pPr>
                <a:spcBef>
                  <a:spcPct val="0"/>
                </a:spcBef>
              </a:pPr>
              <a:t>33</a:t>
            </a:fld>
            <a:endParaRPr lang="en-US" altLang="zh-CN"/>
          </a:p>
        </p:txBody>
      </p:sp>
      <p:sp>
        <p:nvSpPr>
          <p:cNvPr id="48131" name="Rectangle 2">
            <a:extLst>
              <a:ext uri="{FF2B5EF4-FFF2-40B4-BE49-F238E27FC236}">
                <a16:creationId xmlns:a16="http://schemas.microsoft.com/office/drawing/2014/main" id="{AFDE1086-DDE8-491E-836F-384692CAD0C7}"/>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16373617-52B4-4F17-A78F-2F29FC9C65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ea typeface="宋体" panose="02010600030101010101" pitchFamily="2" charset="-122"/>
            </a:endParaRPr>
          </a:p>
        </p:txBody>
      </p:sp>
    </p:spTree>
    <p:extLst>
      <p:ext uri="{BB962C8B-B14F-4D97-AF65-F5344CB8AC3E}">
        <p14:creationId xmlns:p14="http://schemas.microsoft.com/office/powerpoint/2010/main" val="36346522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35</a:t>
            </a:fld>
            <a:endParaRPr lang="zh-CN" altLang="en-US"/>
          </a:p>
        </p:txBody>
      </p:sp>
    </p:spTree>
    <p:extLst>
      <p:ext uri="{BB962C8B-B14F-4D97-AF65-F5344CB8AC3E}">
        <p14:creationId xmlns:p14="http://schemas.microsoft.com/office/powerpoint/2010/main" val="35988300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39</a:t>
            </a:fld>
            <a:endParaRPr lang="zh-CN" altLang="en-US"/>
          </a:p>
        </p:txBody>
      </p:sp>
    </p:spTree>
    <p:extLst>
      <p:ext uri="{BB962C8B-B14F-4D97-AF65-F5344CB8AC3E}">
        <p14:creationId xmlns:p14="http://schemas.microsoft.com/office/powerpoint/2010/main" val="29128765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40</a:t>
            </a:fld>
            <a:endParaRPr lang="zh-CN" altLang="en-US"/>
          </a:p>
        </p:txBody>
      </p:sp>
    </p:spTree>
    <p:extLst>
      <p:ext uri="{BB962C8B-B14F-4D97-AF65-F5344CB8AC3E}">
        <p14:creationId xmlns:p14="http://schemas.microsoft.com/office/powerpoint/2010/main" val="34406548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41</a:t>
            </a:fld>
            <a:endParaRPr lang="zh-CN" altLang="en-US"/>
          </a:p>
        </p:txBody>
      </p:sp>
    </p:spTree>
    <p:extLst>
      <p:ext uri="{BB962C8B-B14F-4D97-AF65-F5344CB8AC3E}">
        <p14:creationId xmlns:p14="http://schemas.microsoft.com/office/powerpoint/2010/main" val="17835066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43</a:t>
            </a:fld>
            <a:endParaRPr lang="zh-CN" altLang="en-US"/>
          </a:p>
        </p:txBody>
      </p:sp>
    </p:spTree>
    <p:extLst>
      <p:ext uri="{BB962C8B-B14F-4D97-AF65-F5344CB8AC3E}">
        <p14:creationId xmlns:p14="http://schemas.microsoft.com/office/powerpoint/2010/main" val="13896673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44</a:t>
            </a:fld>
            <a:endParaRPr lang="zh-CN" altLang="en-US"/>
          </a:p>
        </p:txBody>
      </p:sp>
    </p:spTree>
    <p:extLst>
      <p:ext uri="{BB962C8B-B14F-4D97-AF65-F5344CB8AC3E}">
        <p14:creationId xmlns:p14="http://schemas.microsoft.com/office/powerpoint/2010/main" val="18169138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45</a:t>
            </a:fld>
            <a:endParaRPr lang="zh-CN" altLang="en-US"/>
          </a:p>
        </p:txBody>
      </p:sp>
    </p:spTree>
    <p:extLst>
      <p:ext uri="{BB962C8B-B14F-4D97-AF65-F5344CB8AC3E}">
        <p14:creationId xmlns:p14="http://schemas.microsoft.com/office/powerpoint/2010/main" val="17565090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B19233DB-2CAC-47BA-AC47-B43DD4676A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A34C421-B7D8-4212-BCDE-EC2F7D9DD7D0}" type="slidenum">
              <a:rPr lang="zh-CN" altLang="en-US"/>
              <a:pPr>
                <a:spcBef>
                  <a:spcPct val="0"/>
                </a:spcBef>
              </a:pPr>
              <a:t>46</a:t>
            </a:fld>
            <a:endParaRPr lang="en-US" altLang="zh-CN"/>
          </a:p>
        </p:txBody>
      </p:sp>
      <p:sp>
        <p:nvSpPr>
          <p:cNvPr id="61443" name="Rectangle 2">
            <a:extLst>
              <a:ext uri="{FF2B5EF4-FFF2-40B4-BE49-F238E27FC236}">
                <a16:creationId xmlns:a16="http://schemas.microsoft.com/office/drawing/2014/main" id="{67CB84D0-A448-4E46-B2FA-3033472B9033}"/>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B69D96EF-054F-4F86-955B-696F051C64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宋体" panose="02010600030101010101" pitchFamily="2" charset="-122"/>
            </a:endParaRPr>
          </a:p>
        </p:txBody>
      </p:sp>
    </p:spTree>
    <p:extLst>
      <p:ext uri="{BB962C8B-B14F-4D97-AF65-F5344CB8AC3E}">
        <p14:creationId xmlns:p14="http://schemas.microsoft.com/office/powerpoint/2010/main" val="21630525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47</a:t>
            </a:fld>
            <a:endParaRPr lang="zh-CN" altLang="en-US"/>
          </a:p>
        </p:txBody>
      </p:sp>
    </p:spTree>
    <p:extLst>
      <p:ext uri="{BB962C8B-B14F-4D97-AF65-F5344CB8AC3E}">
        <p14:creationId xmlns:p14="http://schemas.microsoft.com/office/powerpoint/2010/main" val="33697880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48</a:t>
            </a:fld>
            <a:endParaRPr lang="zh-CN" altLang="en-US"/>
          </a:p>
        </p:txBody>
      </p:sp>
    </p:spTree>
    <p:extLst>
      <p:ext uri="{BB962C8B-B14F-4D97-AF65-F5344CB8AC3E}">
        <p14:creationId xmlns:p14="http://schemas.microsoft.com/office/powerpoint/2010/main" val="23476756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F0E09E17-1899-49AC-9D21-8941BD0CA6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70579BC-C572-47F0-A3EF-3AE5BA1951B4}" type="slidenum">
              <a:rPr lang="zh-CN" altLang="en-US"/>
              <a:pPr>
                <a:spcBef>
                  <a:spcPct val="0"/>
                </a:spcBef>
              </a:pPr>
              <a:t>49</a:t>
            </a:fld>
            <a:endParaRPr lang="en-US" altLang="zh-CN"/>
          </a:p>
        </p:txBody>
      </p:sp>
      <p:sp>
        <p:nvSpPr>
          <p:cNvPr id="65539" name="Rectangle 2">
            <a:extLst>
              <a:ext uri="{FF2B5EF4-FFF2-40B4-BE49-F238E27FC236}">
                <a16:creationId xmlns:a16="http://schemas.microsoft.com/office/drawing/2014/main" id="{B420688D-C912-4BC8-ACE6-CDB30E5F2506}"/>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097E8DFB-1C88-4E38-98CF-70078B978D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6882131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50</a:t>
            </a:fld>
            <a:endParaRPr lang="zh-CN" altLang="en-US"/>
          </a:p>
        </p:txBody>
      </p:sp>
    </p:spTree>
    <p:extLst>
      <p:ext uri="{BB962C8B-B14F-4D97-AF65-F5344CB8AC3E}">
        <p14:creationId xmlns:p14="http://schemas.microsoft.com/office/powerpoint/2010/main" val="31833106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51</a:t>
            </a:fld>
            <a:endParaRPr lang="zh-CN" altLang="en-US"/>
          </a:p>
        </p:txBody>
      </p:sp>
    </p:spTree>
    <p:extLst>
      <p:ext uri="{BB962C8B-B14F-4D97-AF65-F5344CB8AC3E}">
        <p14:creationId xmlns:p14="http://schemas.microsoft.com/office/powerpoint/2010/main" val="4542249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54</a:t>
            </a:fld>
            <a:endParaRPr lang="zh-CN" altLang="en-US"/>
          </a:p>
        </p:txBody>
      </p:sp>
    </p:spTree>
    <p:extLst>
      <p:ext uri="{BB962C8B-B14F-4D97-AF65-F5344CB8AC3E}">
        <p14:creationId xmlns:p14="http://schemas.microsoft.com/office/powerpoint/2010/main" val="8334131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8D39939E-AC44-4BA9-BDDA-AED7F6E92F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1CEBBCD-52E5-46E5-A531-AF9996C2A3DD}" type="slidenum">
              <a:rPr lang="zh-CN" altLang="en-US"/>
              <a:pPr>
                <a:spcBef>
                  <a:spcPct val="0"/>
                </a:spcBef>
              </a:pPr>
              <a:t>56</a:t>
            </a:fld>
            <a:endParaRPr lang="en-US" altLang="zh-CN"/>
          </a:p>
        </p:txBody>
      </p:sp>
      <p:sp>
        <p:nvSpPr>
          <p:cNvPr id="74755" name="Rectangle 2">
            <a:extLst>
              <a:ext uri="{FF2B5EF4-FFF2-40B4-BE49-F238E27FC236}">
                <a16:creationId xmlns:a16="http://schemas.microsoft.com/office/drawing/2014/main" id="{940C04D2-5A40-4AE6-B4A8-5C56B9185450}"/>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105925D4-6E04-4718-98C1-C756E834A3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ea typeface="宋体" panose="02010600030101010101" pitchFamily="2" charset="-122"/>
            </a:endParaRPr>
          </a:p>
        </p:txBody>
      </p:sp>
    </p:spTree>
    <p:extLst>
      <p:ext uri="{BB962C8B-B14F-4D97-AF65-F5344CB8AC3E}">
        <p14:creationId xmlns:p14="http://schemas.microsoft.com/office/powerpoint/2010/main" val="1095123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CA594718-2A6B-41CC-8F3C-E094413524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566A8F4-D26C-4B11-97CD-5A4FA8DD110E}" type="slidenum">
              <a:rPr lang="zh-CN" altLang="en-US"/>
              <a:pPr>
                <a:spcBef>
                  <a:spcPct val="0"/>
                </a:spcBef>
              </a:pPr>
              <a:t>57</a:t>
            </a:fld>
            <a:endParaRPr lang="en-US" altLang="zh-CN"/>
          </a:p>
        </p:txBody>
      </p:sp>
      <p:sp>
        <p:nvSpPr>
          <p:cNvPr id="76803" name="Rectangle 2">
            <a:extLst>
              <a:ext uri="{FF2B5EF4-FFF2-40B4-BE49-F238E27FC236}">
                <a16:creationId xmlns:a16="http://schemas.microsoft.com/office/drawing/2014/main" id="{2D57D7CE-EF8A-41EE-B01F-20AC41B4CF02}"/>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7E8553B8-3B27-4A48-8A7C-21FCEEFF64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3094165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58</a:t>
            </a:fld>
            <a:endParaRPr lang="zh-CN" altLang="en-US"/>
          </a:p>
        </p:txBody>
      </p:sp>
    </p:spTree>
    <p:extLst>
      <p:ext uri="{BB962C8B-B14F-4D97-AF65-F5344CB8AC3E}">
        <p14:creationId xmlns:p14="http://schemas.microsoft.com/office/powerpoint/2010/main" val="17887072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60</a:t>
            </a:fld>
            <a:endParaRPr lang="zh-CN" altLang="en-US"/>
          </a:p>
        </p:txBody>
      </p:sp>
    </p:spTree>
    <p:extLst>
      <p:ext uri="{BB962C8B-B14F-4D97-AF65-F5344CB8AC3E}">
        <p14:creationId xmlns:p14="http://schemas.microsoft.com/office/powerpoint/2010/main" val="29120329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79</a:t>
            </a:fld>
            <a:endParaRPr lang="zh-CN" altLang="en-US"/>
          </a:p>
        </p:txBody>
      </p:sp>
    </p:spTree>
    <p:extLst>
      <p:ext uri="{BB962C8B-B14F-4D97-AF65-F5344CB8AC3E}">
        <p14:creationId xmlns:p14="http://schemas.microsoft.com/office/powerpoint/2010/main" val="293098789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80</a:t>
            </a:fld>
            <a:endParaRPr lang="zh-CN" altLang="en-US"/>
          </a:p>
        </p:txBody>
      </p:sp>
    </p:spTree>
    <p:extLst>
      <p:ext uri="{BB962C8B-B14F-4D97-AF65-F5344CB8AC3E}">
        <p14:creationId xmlns:p14="http://schemas.microsoft.com/office/powerpoint/2010/main" val="12458952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81</a:t>
            </a:fld>
            <a:endParaRPr lang="zh-CN" altLang="en-US"/>
          </a:p>
        </p:txBody>
      </p:sp>
    </p:spTree>
    <p:extLst>
      <p:ext uri="{BB962C8B-B14F-4D97-AF65-F5344CB8AC3E}">
        <p14:creationId xmlns:p14="http://schemas.microsoft.com/office/powerpoint/2010/main" val="27412893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82</a:t>
            </a:fld>
            <a:endParaRPr lang="zh-CN" altLang="en-US"/>
          </a:p>
        </p:txBody>
      </p:sp>
    </p:spTree>
    <p:extLst>
      <p:ext uri="{BB962C8B-B14F-4D97-AF65-F5344CB8AC3E}">
        <p14:creationId xmlns:p14="http://schemas.microsoft.com/office/powerpoint/2010/main" val="23443793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736F7416-187B-40C1-959F-CA7C79FF62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0D73EFF-DAC3-41FB-98F9-6A474E72AA68}" type="slidenum">
              <a:rPr lang="zh-CN" altLang="en-US"/>
              <a:pPr>
                <a:spcBef>
                  <a:spcPct val="0"/>
                </a:spcBef>
              </a:pPr>
              <a:t>83</a:t>
            </a:fld>
            <a:endParaRPr lang="en-US" altLang="zh-CN"/>
          </a:p>
        </p:txBody>
      </p:sp>
      <p:sp>
        <p:nvSpPr>
          <p:cNvPr id="102403" name="Rectangle 2">
            <a:extLst>
              <a:ext uri="{FF2B5EF4-FFF2-40B4-BE49-F238E27FC236}">
                <a16:creationId xmlns:a16="http://schemas.microsoft.com/office/drawing/2014/main" id="{97F33A73-A3FF-40AB-ADC3-CC505DABD35C}"/>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D64F78FA-F49E-44BC-8375-485B566CC7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宋体" panose="02010600030101010101" pitchFamily="2" charset="-122"/>
            </a:endParaRPr>
          </a:p>
        </p:txBody>
      </p:sp>
    </p:spTree>
    <p:extLst>
      <p:ext uri="{BB962C8B-B14F-4D97-AF65-F5344CB8AC3E}">
        <p14:creationId xmlns:p14="http://schemas.microsoft.com/office/powerpoint/2010/main" val="10282202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C174D7A3-F5AC-4856-A098-6AFAE3A2B5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2964417-5EBB-43A5-AC38-17ED4512C81B}" type="slidenum">
              <a:rPr lang="zh-CN" altLang="en-US"/>
              <a:pPr>
                <a:spcBef>
                  <a:spcPct val="0"/>
                </a:spcBef>
              </a:pPr>
              <a:t>84</a:t>
            </a:fld>
            <a:endParaRPr lang="en-US" altLang="zh-CN"/>
          </a:p>
        </p:txBody>
      </p:sp>
      <p:sp>
        <p:nvSpPr>
          <p:cNvPr id="104451" name="Rectangle 2">
            <a:extLst>
              <a:ext uri="{FF2B5EF4-FFF2-40B4-BE49-F238E27FC236}">
                <a16:creationId xmlns:a16="http://schemas.microsoft.com/office/drawing/2014/main" id="{882492F0-A543-4525-8C79-66A9334622CD}"/>
              </a:ext>
            </a:extLst>
          </p:cNvPr>
          <p:cNvSpPr>
            <a:spLocks noGrp="1" noRot="1" noChangeAspect="1" noChangeArrowheads="1" noTextEdit="1"/>
          </p:cNvSpPr>
          <p:nvPr>
            <p:ph type="sldImg"/>
          </p:nvPr>
        </p:nvSpPr>
        <p:spPr>
          <a:ln/>
        </p:spPr>
      </p:sp>
      <p:sp>
        <p:nvSpPr>
          <p:cNvPr id="104452" name="Rectangle 3">
            <a:extLst>
              <a:ext uri="{FF2B5EF4-FFF2-40B4-BE49-F238E27FC236}">
                <a16:creationId xmlns:a16="http://schemas.microsoft.com/office/drawing/2014/main" id="{6586CA15-FB00-4EF6-92A9-ACFD00D1F5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宋体" panose="02010600030101010101" pitchFamily="2" charset="-122"/>
            </a:endParaRPr>
          </a:p>
        </p:txBody>
      </p:sp>
    </p:spTree>
    <p:extLst>
      <p:ext uri="{BB962C8B-B14F-4D97-AF65-F5344CB8AC3E}">
        <p14:creationId xmlns:p14="http://schemas.microsoft.com/office/powerpoint/2010/main" val="40170388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85</a:t>
            </a:fld>
            <a:endParaRPr lang="zh-CN" altLang="en-US"/>
          </a:p>
        </p:txBody>
      </p:sp>
    </p:spTree>
    <p:extLst>
      <p:ext uri="{BB962C8B-B14F-4D97-AF65-F5344CB8AC3E}">
        <p14:creationId xmlns:p14="http://schemas.microsoft.com/office/powerpoint/2010/main" val="424998463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BC864CEB-1035-49B3-BBB8-EC4A0C2BD4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B83117F-BE8C-47D3-95F5-E219D3BADD75}" type="slidenum">
              <a:rPr lang="zh-CN" altLang="en-US"/>
              <a:pPr>
                <a:spcBef>
                  <a:spcPct val="0"/>
                </a:spcBef>
              </a:pPr>
              <a:t>86</a:t>
            </a:fld>
            <a:endParaRPr lang="en-US" altLang="zh-CN"/>
          </a:p>
        </p:txBody>
      </p:sp>
      <p:sp>
        <p:nvSpPr>
          <p:cNvPr id="115715" name="Rectangle 2">
            <a:extLst>
              <a:ext uri="{FF2B5EF4-FFF2-40B4-BE49-F238E27FC236}">
                <a16:creationId xmlns:a16="http://schemas.microsoft.com/office/drawing/2014/main" id="{B3CD0D19-06BB-4522-AE55-65B122F5A6E9}"/>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45489AA4-AA96-450B-9E20-FDFAAC6AD0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53335348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ABFA1287-838B-4A94-ADC4-221299D9C2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40D995A-FF90-4B35-A7B8-1DC8C833F533}" type="slidenum">
              <a:rPr lang="zh-CN" altLang="en-US"/>
              <a:pPr>
                <a:spcBef>
                  <a:spcPct val="0"/>
                </a:spcBef>
              </a:pPr>
              <a:t>87</a:t>
            </a:fld>
            <a:endParaRPr lang="en-US" altLang="zh-CN"/>
          </a:p>
        </p:txBody>
      </p:sp>
      <p:sp>
        <p:nvSpPr>
          <p:cNvPr id="111619" name="Rectangle 2">
            <a:extLst>
              <a:ext uri="{FF2B5EF4-FFF2-40B4-BE49-F238E27FC236}">
                <a16:creationId xmlns:a16="http://schemas.microsoft.com/office/drawing/2014/main" id="{42AB6501-92F9-4694-B836-2C3E8938CD7C}"/>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8B232611-96EC-4D10-AF72-4D4D4EDD7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宋体" panose="02010600030101010101" pitchFamily="2" charset="-122"/>
            </a:endParaRPr>
          </a:p>
        </p:txBody>
      </p:sp>
    </p:spTree>
    <p:extLst>
      <p:ext uri="{BB962C8B-B14F-4D97-AF65-F5344CB8AC3E}">
        <p14:creationId xmlns:p14="http://schemas.microsoft.com/office/powerpoint/2010/main" val="23783158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88</a:t>
            </a:fld>
            <a:endParaRPr lang="zh-CN" altLang="en-US"/>
          </a:p>
        </p:txBody>
      </p:sp>
    </p:spTree>
    <p:extLst>
      <p:ext uri="{BB962C8B-B14F-4D97-AF65-F5344CB8AC3E}">
        <p14:creationId xmlns:p14="http://schemas.microsoft.com/office/powerpoint/2010/main" val="20631379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89</a:t>
            </a:fld>
            <a:endParaRPr lang="zh-CN" altLang="en-US"/>
          </a:p>
        </p:txBody>
      </p:sp>
    </p:spTree>
    <p:extLst>
      <p:ext uri="{BB962C8B-B14F-4D97-AF65-F5344CB8AC3E}">
        <p14:creationId xmlns:p14="http://schemas.microsoft.com/office/powerpoint/2010/main" val="365645646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90</a:t>
            </a:fld>
            <a:endParaRPr lang="zh-CN" altLang="en-US"/>
          </a:p>
        </p:txBody>
      </p:sp>
    </p:spTree>
    <p:extLst>
      <p:ext uri="{BB962C8B-B14F-4D97-AF65-F5344CB8AC3E}">
        <p14:creationId xmlns:p14="http://schemas.microsoft.com/office/powerpoint/2010/main" val="241088190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42C870D5-F701-4809-8F2C-E4795C69BD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C209BBB-0016-416E-AA52-C6E4D9CC44C7}" type="slidenum">
              <a:rPr lang="zh-CN" altLang="en-US"/>
              <a:pPr>
                <a:spcBef>
                  <a:spcPct val="0"/>
                </a:spcBef>
              </a:pPr>
              <a:t>92</a:t>
            </a:fld>
            <a:endParaRPr lang="en-US" altLang="zh-CN"/>
          </a:p>
        </p:txBody>
      </p:sp>
      <p:sp>
        <p:nvSpPr>
          <p:cNvPr id="117763" name="Rectangle 2">
            <a:extLst>
              <a:ext uri="{FF2B5EF4-FFF2-40B4-BE49-F238E27FC236}">
                <a16:creationId xmlns:a16="http://schemas.microsoft.com/office/drawing/2014/main" id="{98161D3A-0009-4B92-9F5C-60B51E3191A8}"/>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1BC506AD-563A-4AC5-B1A9-E4BEFB96D9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宋体" panose="02010600030101010101" pitchFamily="2" charset="-122"/>
            </a:endParaRPr>
          </a:p>
        </p:txBody>
      </p:sp>
    </p:spTree>
    <p:extLst>
      <p:ext uri="{BB962C8B-B14F-4D97-AF65-F5344CB8AC3E}">
        <p14:creationId xmlns:p14="http://schemas.microsoft.com/office/powerpoint/2010/main" val="35121244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93</a:t>
            </a:fld>
            <a:endParaRPr lang="zh-CN" altLang="en-US"/>
          </a:p>
        </p:txBody>
      </p:sp>
    </p:spTree>
    <p:extLst>
      <p:ext uri="{BB962C8B-B14F-4D97-AF65-F5344CB8AC3E}">
        <p14:creationId xmlns:p14="http://schemas.microsoft.com/office/powerpoint/2010/main" val="155232618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94</a:t>
            </a:fld>
            <a:endParaRPr lang="zh-CN" altLang="en-US"/>
          </a:p>
        </p:txBody>
      </p:sp>
    </p:spTree>
    <p:extLst>
      <p:ext uri="{BB962C8B-B14F-4D97-AF65-F5344CB8AC3E}">
        <p14:creationId xmlns:p14="http://schemas.microsoft.com/office/powerpoint/2010/main" val="112878712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8B5C2173-E81F-4765-B86E-544E07D447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4DB8028-C785-49FE-8668-6B14E1111A20}" type="slidenum">
              <a:rPr lang="zh-CN" altLang="en-US"/>
              <a:pPr>
                <a:spcBef>
                  <a:spcPct val="0"/>
                </a:spcBef>
              </a:pPr>
              <a:t>95</a:t>
            </a:fld>
            <a:endParaRPr lang="en-US" altLang="zh-CN"/>
          </a:p>
        </p:txBody>
      </p:sp>
      <p:sp>
        <p:nvSpPr>
          <p:cNvPr id="121859" name="Rectangle 2">
            <a:extLst>
              <a:ext uri="{FF2B5EF4-FFF2-40B4-BE49-F238E27FC236}">
                <a16:creationId xmlns:a16="http://schemas.microsoft.com/office/drawing/2014/main" id="{5093DF2E-9515-4E39-B651-6827C648810E}"/>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BFA16938-8E04-48A4-9BA3-9CD864B11D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宋体" panose="02010600030101010101" pitchFamily="2" charset="-122"/>
            </a:endParaRPr>
          </a:p>
        </p:txBody>
      </p:sp>
    </p:spTree>
    <p:extLst>
      <p:ext uri="{BB962C8B-B14F-4D97-AF65-F5344CB8AC3E}">
        <p14:creationId xmlns:p14="http://schemas.microsoft.com/office/powerpoint/2010/main" val="54186811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98</a:t>
            </a:fld>
            <a:endParaRPr lang="zh-CN" altLang="en-US"/>
          </a:p>
        </p:txBody>
      </p:sp>
    </p:spTree>
    <p:extLst>
      <p:ext uri="{BB962C8B-B14F-4D97-AF65-F5344CB8AC3E}">
        <p14:creationId xmlns:p14="http://schemas.microsoft.com/office/powerpoint/2010/main" val="49278869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100</a:t>
            </a:fld>
            <a:endParaRPr lang="zh-CN" altLang="en-US"/>
          </a:p>
        </p:txBody>
      </p:sp>
    </p:spTree>
    <p:extLst>
      <p:ext uri="{BB962C8B-B14F-4D97-AF65-F5344CB8AC3E}">
        <p14:creationId xmlns:p14="http://schemas.microsoft.com/office/powerpoint/2010/main" val="35879811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105</a:t>
            </a:fld>
            <a:endParaRPr lang="zh-CN" altLang="en-US"/>
          </a:p>
        </p:txBody>
      </p:sp>
    </p:spTree>
    <p:extLst>
      <p:ext uri="{BB962C8B-B14F-4D97-AF65-F5344CB8AC3E}">
        <p14:creationId xmlns:p14="http://schemas.microsoft.com/office/powerpoint/2010/main" val="350626134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106</a:t>
            </a:fld>
            <a:endParaRPr lang="zh-CN" altLang="en-US"/>
          </a:p>
        </p:txBody>
      </p:sp>
    </p:spTree>
    <p:extLst>
      <p:ext uri="{BB962C8B-B14F-4D97-AF65-F5344CB8AC3E}">
        <p14:creationId xmlns:p14="http://schemas.microsoft.com/office/powerpoint/2010/main" val="139774138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108</a:t>
            </a:fld>
            <a:endParaRPr lang="zh-CN" altLang="en-US"/>
          </a:p>
        </p:txBody>
      </p:sp>
    </p:spTree>
    <p:extLst>
      <p:ext uri="{BB962C8B-B14F-4D97-AF65-F5344CB8AC3E}">
        <p14:creationId xmlns:p14="http://schemas.microsoft.com/office/powerpoint/2010/main" val="231485587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109</a:t>
            </a:fld>
            <a:endParaRPr lang="zh-CN" altLang="en-US"/>
          </a:p>
        </p:txBody>
      </p:sp>
    </p:spTree>
    <p:extLst>
      <p:ext uri="{BB962C8B-B14F-4D97-AF65-F5344CB8AC3E}">
        <p14:creationId xmlns:p14="http://schemas.microsoft.com/office/powerpoint/2010/main" val="13029014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110</a:t>
            </a:fld>
            <a:endParaRPr lang="zh-CN" altLang="en-US"/>
          </a:p>
        </p:txBody>
      </p:sp>
    </p:spTree>
    <p:extLst>
      <p:ext uri="{BB962C8B-B14F-4D97-AF65-F5344CB8AC3E}">
        <p14:creationId xmlns:p14="http://schemas.microsoft.com/office/powerpoint/2010/main" val="114118787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112</a:t>
            </a:fld>
            <a:endParaRPr lang="zh-CN" altLang="en-US"/>
          </a:p>
        </p:txBody>
      </p:sp>
    </p:spTree>
    <p:extLst>
      <p:ext uri="{BB962C8B-B14F-4D97-AF65-F5344CB8AC3E}">
        <p14:creationId xmlns:p14="http://schemas.microsoft.com/office/powerpoint/2010/main" val="289605834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a:extLst>
              <a:ext uri="{FF2B5EF4-FFF2-40B4-BE49-F238E27FC236}">
                <a16:creationId xmlns:a16="http://schemas.microsoft.com/office/drawing/2014/main" id="{4B51C40E-F190-4B42-86FC-31777AB176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EDFB7CB-3020-4A0B-97BD-75F445DC459E}" type="slidenum">
              <a:rPr lang="zh-CN" altLang="en-US"/>
              <a:pPr>
                <a:spcBef>
                  <a:spcPct val="0"/>
                </a:spcBef>
              </a:pPr>
              <a:t>114</a:t>
            </a:fld>
            <a:endParaRPr lang="en-US" altLang="zh-CN"/>
          </a:p>
        </p:txBody>
      </p:sp>
      <p:sp>
        <p:nvSpPr>
          <p:cNvPr id="147459" name="Rectangle 2">
            <a:extLst>
              <a:ext uri="{FF2B5EF4-FFF2-40B4-BE49-F238E27FC236}">
                <a16:creationId xmlns:a16="http://schemas.microsoft.com/office/drawing/2014/main" id="{A056E283-A539-4002-BE95-F16EFA4F5679}"/>
              </a:ext>
            </a:extLst>
          </p:cNvPr>
          <p:cNvSpPr>
            <a:spLocks noGrp="1" noRot="1" noChangeAspect="1" noChangeArrowheads="1" noTextEdit="1"/>
          </p:cNvSpPr>
          <p:nvPr>
            <p:ph type="sldImg"/>
          </p:nvPr>
        </p:nvSpPr>
        <p:spPr>
          <a:ln/>
        </p:spPr>
      </p:sp>
      <p:sp>
        <p:nvSpPr>
          <p:cNvPr id="147460" name="Rectangle 3">
            <a:extLst>
              <a:ext uri="{FF2B5EF4-FFF2-40B4-BE49-F238E27FC236}">
                <a16:creationId xmlns:a16="http://schemas.microsoft.com/office/drawing/2014/main" id="{93EB011A-6EE8-406F-8266-B204690380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74231598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a:extLst>
              <a:ext uri="{FF2B5EF4-FFF2-40B4-BE49-F238E27FC236}">
                <a16:creationId xmlns:a16="http://schemas.microsoft.com/office/drawing/2014/main" id="{8B7FC228-BB35-4D2C-A557-94C4814FC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FEE8441-2DFD-4AD7-8CA2-8BF0EDAE2CFA}" type="slidenum">
              <a:rPr lang="zh-CN" altLang="en-US"/>
              <a:pPr>
                <a:spcBef>
                  <a:spcPct val="0"/>
                </a:spcBef>
              </a:pPr>
              <a:t>116</a:t>
            </a:fld>
            <a:endParaRPr lang="en-US" altLang="zh-CN"/>
          </a:p>
        </p:txBody>
      </p:sp>
      <p:sp>
        <p:nvSpPr>
          <p:cNvPr id="150531" name="Rectangle 2">
            <a:extLst>
              <a:ext uri="{FF2B5EF4-FFF2-40B4-BE49-F238E27FC236}">
                <a16:creationId xmlns:a16="http://schemas.microsoft.com/office/drawing/2014/main" id="{863F9F54-ACFB-42AB-AE4A-57DE57064E9A}"/>
              </a:ext>
            </a:extLst>
          </p:cNvPr>
          <p:cNvSpPr>
            <a:spLocks noGrp="1" noRot="1" noChangeAspect="1" noChangeArrowheads="1" noTextEdit="1"/>
          </p:cNvSpPr>
          <p:nvPr>
            <p:ph type="sldImg"/>
          </p:nvPr>
        </p:nvSpPr>
        <p:spPr>
          <a:ln/>
        </p:spPr>
      </p:sp>
      <p:sp>
        <p:nvSpPr>
          <p:cNvPr id="150532" name="Rectangle 3">
            <a:extLst>
              <a:ext uri="{FF2B5EF4-FFF2-40B4-BE49-F238E27FC236}">
                <a16:creationId xmlns:a16="http://schemas.microsoft.com/office/drawing/2014/main" id="{2900F669-7646-4FBA-B0FC-8CD75D5282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extLst>
      <p:ext uri="{BB962C8B-B14F-4D97-AF65-F5344CB8AC3E}">
        <p14:creationId xmlns:p14="http://schemas.microsoft.com/office/powerpoint/2010/main" val="65288224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117</a:t>
            </a:fld>
            <a:endParaRPr lang="zh-CN" altLang="en-US"/>
          </a:p>
        </p:txBody>
      </p:sp>
    </p:spTree>
    <p:extLst>
      <p:ext uri="{BB962C8B-B14F-4D97-AF65-F5344CB8AC3E}">
        <p14:creationId xmlns:p14="http://schemas.microsoft.com/office/powerpoint/2010/main" val="172252824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118</a:t>
            </a:fld>
            <a:endParaRPr lang="zh-CN" altLang="en-US"/>
          </a:p>
        </p:txBody>
      </p:sp>
    </p:spTree>
    <p:extLst>
      <p:ext uri="{BB962C8B-B14F-4D97-AF65-F5344CB8AC3E}">
        <p14:creationId xmlns:p14="http://schemas.microsoft.com/office/powerpoint/2010/main" val="26735401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a:extLst>
              <a:ext uri="{FF2B5EF4-FFF2-40B4-BE49-F238E27FC236}">
                <a16:creationId xmlns:a16="http://schemas.microsoft.com/office/drawing/2014/main" id="{5341BC83-1AA1-4567-825C-F1ACDC7C71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D609599-E293-4DC2-9515-404993ACB1EF}" type="slidenum">
              <a:rPr lang="zh-CN" altLang="en-US"/>
              <a:pPr>
                <a:spcBef>
                  <a:spcPct val="0"/>
                </a:spcBef>
              </a:pPr>
              <a:t>120</a:t>
            </a:fld>
            <a:endParaRPr lang="en-US" altLang="zh-CN"/>
          </a:p>
        </p:txBody>
      </p:sp>
      <p:sp>
        <p:nvSpPr>
          <p:cNvPr id="155651" name="Rectangle 2">
            <a:extLst>
              <a:ext uri="{FF2B5EF4-FFF2-40B4-BE49-F238E27FC236}">
                <a16:creationId xmlns:a16="http://schemas.microsoft.com/office/drawing/2014/main" id="{10CDDD57-AA30-4475-B1CC-45E4FD9CE1E7}"/>
              </a:ext>
            </a:extLst>
          </p:cNvPr>
          <p:cNvSpPr>
            <a:spLocks noGrp="1" noRot="1" noChangeAspect="1" noChangeArrowheads="1" noTextEdit="1"/>
          </p:cNvSpPr>
          <p:nvPr>
            <p:ph type="sldImg"/>
          </p:nvPr>
        </p:nvSpPr>
        <p:spPr>
          <a:ln/>
        </p:spPr>
      </p:sp>
      <p:sp>
        <p:nvSpPr>
          <p:cNvPr id="155652" name="Rectangle 3">
            <a:extLst>
              <a:ext uri="{FF2B5EF4-FFF2-40B4-BE49-F238E27FC236}">
                <a16:creationId xmlns:a16="http://schemas.microsoft.com/office/drawing/2014/main" id="{45B5DCFC-61C0-4F79-98A2-430C70B9F8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64544784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121</a:t>
            </a:fld>
            <a:endParaRPr lang="zh-CN" altLang="en-US"/>
          </a:p>
        </p:txBody>
      </p:sp>
    </p:spTree>
    <p:extLst>
      <p:ext uri="{BB962C8B-B14F-4D97-AF65-F5344CB8AC3E}">
        <p14:creationId xmlns:p14="http://schemas.microsoft.com/office/powerpoint/2010/main" val="204752304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123</a:t>
            </a:fld>
            <a:endParaRPr lang="zh-CN" altLang="en-US"/>
          </a:p>
        </p:txBody>
      </p:sp>
    </p:spTree>
    <p:extLst>
      <p:ext uri="{BB962C8B-B14F-4D97-AF65-F5344CB8AC3E}">
        <p14:creationId xmlns:p14="http://schemas.microsoft.com/office/powerpoint/2010/main" val="207872345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124</a:t>
            </a:fld>
            <a:endParaRPr lang="zh-CN" altLang="en-US"/>
          </a:p>
        </p:txBody>
      </p:sp>
    </p:spTree>
    <p:extLst>
      <p:ext uri="{BB962C8B-B14F-4D97-AF65-F5344CB8AC3E}">
        <p14:creationId xmlns:p14="http://schemas.microsoft.com/office/powerpoint/2010/main" val="189135739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125</a:t>
            </a:fld>
            <a:endParaRPr lang="zh-CN" altLang="en-US"/>
          </a:p>
        </p:txBody>
      </p:sp>
    </p:spTree>
    <p:extLst>
      <p:ext uri="{BB962C8B-B14F-4D97-AF65-F5344CB8AC3E}">
        <p14:creationId xmlns:p14="http://schemas.microsoft.com/office/powerpoint/2010/main" val="274214500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31C2A308-5D09-461C-A652-BF46DB52574A}"/>
              </a:ext>
            </a:extLst>
          </p:cNvPr>
          <p:cNvSpPr>
            <a:spLocks noGrp="1" noRot="1" noChangeAspect="1" noChangeArrowheads="1" noTextEdit="1"/>
          </p:cNvSpPr>
          <p:nvPr>
            <p:ph type="sldImg"/>
          </p:nvPr>
        </p:nvSpPr>
        <p:spPr>
          <a:ln/>
        </p:spPr>
      </p:sp>
      <p:sp>
        <p:nvSpPr>
          <p:cNvPr id="162819" name="Rectangle 3">
            <a:extLst>
              <a:ext uri="{FF2B5EF4-FFF2-40B4-BE49-F238E27FC236}">
                <a16:creationId xmlns:a16="http://schemas.microsoft.com/office/drawing/2014/main" id="{D51DB697-AD73-43FF-8B0F-6E1EC02E55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宋体" panose="02010600030101010101" pitchFamily="2" charset="-122"/>
            </a:endParaRPr>
          </a:p>
        </p:txBody>
      </p:sp>
    </p:spTree>
    <p:extLst>
      <p:ext uri="{BB962C8B-B14F-4D97-AF65-F5344CB8AC3E}">
        <p14:creationId xmlns:p14="http://schemas.microsoft.com/office/powerpoint/2010/main" val="385154444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a:extLst>
              <a:ext uri="{FF2B5EF4-FFF2-40B4-BE49-F238E27FC236}">
                <a16:creationId xmlns:a16="http://schemas.microsoft.com/office/drawing/2014/main" id="{2A5A366C-70E9-4092-9B8F-CF2DED7268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7642994-0620-429B-A062-5FDE4D651A9F}" type="slidenum">
              <a:rPr lang="zh-CN" altLang="en-US"/>
              <a:pPr>
                <a:spcBef>
                  <a:spcPct val="0"/>
                </a:spcBef>
              </a:pPr>
              <a:t>127</a:t>
            </a:fld>
            <a:endParaRPr lang="en-US" altLang="zh-CN"/>
          </a:p>
        </p:txBody>
      </p:sp>
      <p:sp>
        <p:nvSpPr>
          <p:cNvPr id="164867" name="Rectangle 2">
            <a:extLst>
              <a:ext uri="{FF2B5EF4-FFF2-40B4-BE49-F238E27FC236}">
                <a16:creationId xmlns:a16="http://schemas.microsoft.com/office/drawing/2014/main" id="{FF815497-0A27-42C6-9391-5B0F19C893E1}"/>
              </a:ext>
            </a:extLst>
          </p:cNvPr>
          <p:cNvSpPr>
            <a:spLocks noGrp="1" noRot="1" noChangeAspect="1" noChangeArrowheads="1" noTextEdit="1"/>
          </p:cNvSpPr>
          <p:nvPr>
            <p:ph type="sldImg"/>
          </p:nvPr>
        </p:nvSpPr>
        <p:spPr>
          <a:ln/>
        </p:spPr>
      </p:sp>
      <p:sp>
        <p:nvSpPr>
          <p:cNvPr id="164868" name="Rectangle 3">
            <a:extLst>
              <a:ext uri="{FF2B5EF4-FFF2-40B4-BE49-F238E27FC236}">
                <a16:creationId xmlns:a16="http://schemas.microsoft.com/office/drawing/2014/main" id="{5B1C4F16-B9B2-4D4F-9E0B-EFAB355156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ea typeface="宋体" panose="02010600030101010101" pitchFamily="2" charset="-122"/>
            </a:endParaRPr>
          </a:p>
        </p:txBody>
      </p:sp>
    </p:spTree>
    <p:extLst>
      <p:ext uri="{BB962C8B-B14F-4D97-AF65-F5344CB8AC3E}">
        <p14:creationId xmlns:p14="http://schemas.microsoft.com/office/powerpoint/2010/main" val="395151625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128</a:t>
            </a:fld>
            <a:endParaRPr lang="zh-CN" altLang="en-US"/>
          </a:p>
        </p:txBody>
      </p:sp>
    </p:spTree>
    <p:extLst>
      <p:ext uri="{BB962C8B-B14F-4D97-AF65-F5344CB8AC3E}">
        <p14:creationId xmlns:p14="http://schemas.microsoft.com/office/powerpoint/2010/main" val="183308895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a:extLst>
              <a:ext uri="{FF2B5EF4-FFF2-40B4-BE49-F238E27FC236}">
                <a16:creationId xmlns:a16="http://schemas.microsoft.com/office/drawing/2014/main" id="{569CA64E-5174-4068-80F7-DFB7BA56EB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F79242A-94FA-4010-9EFC-6B6EF4F1ABD2}" type="slidenum">
              <a:rPr lang="zh-CN" altLang="en-US"/>
              <a:pPr>
                <a:spcBef>
                  <a:spcPct val="0"/>
                </a:spcBef>
              </a:pPr>
              <a:t>129</a:t>
            </a:fld>
            <a:endParaRPr lang="en-US" altLang="zh-CN"/>
          </a:p>
        </p:txBody>
      </p:sp>
      <p:sp>
        <p:nvSpPr>
          <p:cNvPr id="168963" name="Rectangle 2">
            <a:extLst>
              <a:ext uri="{FF2B5EF4-FFF2-40B4-BE49-F238E27FC236}">
                <a16:creationId xmlns:a16="http://schemas.microsoft.com/office/drawing/2014/main" id="{F6739BE4-D1D9-4223-9C8D-4C52E3CAEC2A}"/>
              </a:ext>
            </a:extLst>
          </p:cNvPr>
          <p:cNvSpPr>
            <a:spLocks noGrp="1" noRot="1" noChangeAspect="1" noChangeArrowheads="1" noTextEdit="1"/>
          </p:cNvSpPr>
          <p:nvPr>
            <p:ph type="sldImg"/>
          </p:nvPr>
        </p:nvSpPr>
        <p:spPr>
          <a:ln/>
        </p:spPr>
      </p:sp>
      <p:sp>
        <p:nvSpPr>
          <p:cNvPr id="168964" name="Rectangle 3">
            <a:extLst>
              <a:ext uri="{FF2B5EF4-FFF2-40B4-BE49-F238E27FC236}">
                <a16:creationId xmlns:a16="http://schemas.microsoft.com/office/drawing/2014/main" id="{6EBA7BD7-9412-4302-BF72-E5B4426649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62896055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a:extLst>
              <a:ext uri="{FF2B5EF4-FFF2-40B4-BE49-F238E27FC236}">
                <a16:creationId xmlns:a16="http://schemas.microsoft.com/office/drawing/2014/main" id="{8C03E270-BD61-456A-AF7E-0CB95194D5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72F6FF5-BDD3-4494-A7FD-7337D1D5E991}" type="slidenum">
              <a:rPr lang="zh-CN" altLang="en-US"/>
              <a:pPr>
                <a:spcBef>
                  <a:spcPct val="0"/>
                </a:spcBef>
              </a:pPr>
              <a:t>130</a:t>
            </a:fld>
            <a:endParaRPr lang="en-US" altLang="zh-CN"/>
          </a:p>
        </p:txBody>
      </p:sp>
      <p:sp>
        <p:nvSpPr>
          <p:cNvPr id="171011" name="Rectangle 2">
            <a:extLst>
              <a:ext uri="{FF2B5EF4-FFF2-40B4-BE49-F238E27FC236}">
                <a16:creationId xmlns:a16="http://schemas.microsoft.com/office/drawing/2014/main" id="{815406F9-CA49-4082-BB00-60C95152D19A}"/>
              </a:ext>
            </a:extLst>
          </p:cNvPr>
          <p:cNvSpPr>
            <a:spLocks noGrp="1" noRot="1" noChangeAspect="1" noChangeArrowheads="1" noTextEdit="1"/>
          </p:cNvSpPr>
          <p:nvPr>
            <p:ph type="sldImg"/>
          </p:nvPr>
        </p:nvSpPr>
        <p:spPr>
          <a:ln/>
        </p:spPr>
      </p:sp>
      <p:sp>
        <p:nvSpPr>
          <p:cNvPr id="171012" name="Rectangle 3">
            <a:extLst>
              <a:ext uri="{FF2B5EF4-FFF2-40B4-BE49-F238E27FC236}">
                <a16:creationId xmlns:a16="http://schemas.microsoft.com/office/drawing/2014/main" id="{85FAFCA3-9F8B-4B7A-9245-CC610E9B8A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45433352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131</a:t>
            </a:fld>
            <a:endParaRPr lang="zh-CN" altLang="en-US"/>
          </a:p>
        </p:txBody>
      </p:sp>
    </p:spTree>
    <p:extLst>
      <p:ext uri="{BB962C8B-B14F-4D97-AF65-F5344CB8AC3E}">
        <p14:creationId xmlns:p14="http://schemas.microsoft.com/office/powerpoint/2010/main" val="2617894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a:extLst>
              <a:ext uri="{FF2B5EF4-FFF2-40B4-BE49-F238E27FC236}">
                <a16:creationId xmlns:a16="http://schemas.microsoft.com/office/drawing/2014/main" id="{5EEE6923-413C-430D-A33E-14EEDEF78D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E2A385B-DB3E-4C9F-9049-C908F8365CEF}" type="slidenum">
              <a:rPr lang="zh-CN" altLang="en-US"/>
              <a:pPr>
                <a:spcBef>
                  <a:spcPct val="0"/>
                </a:spcBef>
              </a:pPr>
              <a:t>132</a:t>
            </a:fld>
            <a:endParaRPr lang="en-US" altLang="zh-CN"/>
          </a:p>
        </p:txBody>
      </p:sp>
      <p:sp>
        <p:nvSpPr>
          <p:cNvPr id="174083" name="Rectangle 2">
            <a:extLst>
              <a:ext uri="{FF2B5EF4-FFF2-40B4-BE49-F238E27FC236}">
                <a16:creationId xmlns:a16="http://schemas.microsoft.com/office/drawing/2014/main" id="{7AF31743-A450-4859-A867-FC59E44E14CA}"/>
              </a:ext>
            </a:extLst>
          </p:cNvPr>
          <p:cNvSpPr>
            <a:spLocks noGrp="1" noRot="1" noChangeAspect="1" noChangeArrowheads="1" noTextEdit="1"/>
          </p:cNvSpPr>
          <p:nvPr>
            <p:ph type="sldImg"/>
          </p:nvPr>
        </p:nvSpPr>
        <p:spPr>
          <a:ln/>
        </p:spPr>
      </p:sp>
      <p:sp>
        <p:nvSpPr>
          <p:cNvPr id="174084" name="Rectangle 3">
            <a:extLst>
              <a:ext uri="{FF2B5EF4-FFF2-40B4-BE49-F238E27FC236}">
                <a16:creationId xmlns:a16="http://schemas.microsoft.com/office/drawing/2014/main" id="{EB9CE948-BCC8-4B37-8A3E-CF5FCDDE1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ea typeface="宋体" panose="02010600030101010101" pitchFamily="2" charset="-122"/>
            </a:endParaRPr>
          </a:p>
        </p:txBody>
      </p:sp>
    </p:spTree>
    <p:extLst>
      <p:ext uri="{BB962C8B-B14F-4D97-AF65-F5344CB8AC3E}">
        <p14:creationId xmlns:p14="http://schemas.microsoft.com/office/powerpoint/2010/main" val="53684233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134</a:t>
            </a:fld>
            <a:endParaRPr lang="zh-CN" altLang="en-US"/>
          </a:p>
        </p:txBody>
      </p:sp>
    </p:spTree>
    <p:extLst>
      <p:ext uri="{BB962C8B-B14F-4D97-AF65-F5344CB8AC3E}">
        <p14:creationId xmlns:p14="http://schemas.microsoft.com/office/powerpoint/2010/main" val="105996913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135</a:t>
            </a:fld>
            <a:endParaRPr lang="zh-CN" altLang="en-US"/>
          </a:p>
        </p:txBody>
      </p:sp>
    </p:spTree>
    <p:extLst>
      <p:ext uri="{BB962C8B-B14F-4D97-AF65-F5344CB8AC3E}">
        <p14:creationId xmlns:p14="http://schemas.microsoft.com/office/powerpoint/2010/main" val="168771809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136</a:t>
            </a:fld>
            <a:endParaRPr lang="zh-CN" altLang="en-US"/>
          </a:p>
        </p:txBody>
      </p:sp>
    </p:spTree>
    <p:extLst>
      <p:ext uri="{BB962C8B-B14F-4D97-AF65-F5344CB8AC3E}">
        <p14:creationId xmlns:p14="http://schemas.microsoft.com/office/powerpoint/2010/main" val="287191344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a:extLst>
              <a:ext uri="{FF2B5EF4-FFF2-40B4-BE49-F238E27FC236}">
                <a16:creationId xmlns:a16="http://schemas.microsoft.com/office/drawing/2014/main" id="{001E4D88-3F43-46C5-9769-787FDF9B92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8A5878A-428D-4075-9144-43C4B069CC02}" type="slidenum">
              <a:rPr lang="zh-CN" altLang="en-US"/>
              <a:pPr>
                <a:spcBef>
                  <a:spcPct val="0"/>
                </a:spcBef>
              </a:pPr>
              <a:t>137</a:t>
            </a:fld>
            <a:endParaRPr lang="en-US" altLang="zh-CN"/>
          </a:p>
        </p:txBody>
      </p:sp>
      <p:sp>
        <p:nvSpPr>
          <p:cNvPr id="196611" name="Rectangle 2">
            <a:extLst>
              <a:ext uri="{FF2B5EF4-FFF2-40B4-BE49-F238E27FC236}">
                <a16:creationId xmlns:a16="http://schemas.microsoft.com/office/drawing/2014/main" id="{2BC030F4-A64D-43D0-ADAD-7E17859FA7BD}"/>
              </a:ext>
            </a:extLst>
          </p:cNvPr>
          <p:cNvSpPr>
            <a:spLocks noGrp="1" noRot="1" noChangeAspect="1" noChangeArrowheads="1" noTextEdit="1"/>
          </p:cNvSpPr>
          <p:nvPr>
            <p:ph type="sldImg"/>
          </p:nvPr>
        </p:nvSpPr>
        <p:spPr>
          <a:ln/>
        </p:spPr>
      </p:sp>
      <p:sp>
        <p:nvSpPr>
          <p:cNvPr id="196612" name="Rectangle 3">
            <a:extLst>
              <a:ext uri="{FF2B5EF4-FFF2-40B4-BE49-F238E27FC236}">
                <a16:creationId xmlns:a16="http://schemas.microsoft.com/office/drawing/2014/main" id="{5650D9C6-3B61-45B2-A672-7B4AD71AC6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99833957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5AABA8E0-4A9F-4996-8525-3B0FA1377E8A}"/>
              </a:ext>
            </a:extLst>
          </p:cNvPr>
          <p:cNvSpPr>
            <a:spLocks noGrp="1" noRot="1" noChangeAspect="1" noChangeArrowheads="1" noTextEdit="1"/>
          </p:cNvSpPr>
          <p:nvPr>
            <p:ph type="sldImg"/>
          </p:nvPr>
        </p:nvSpPr>
        <p:spPr>
          <a:ln/>
        </p:spPr>
      </p:sp>
      <p:sp>
        <p:nvSpPr>
          <p:cNvPr id="177155" name="Rectangle 3">
            <a:extLst>
              <a:ext uri="{FF2B5EF4-FFF2-40B4-BE49-F238E27FC236}">
                <a16:creationId xmlns:a16="http://schemas.microsoft.com/office/drawing/2014/main" id="{7841FDBA-B313-446E-840B-A8126A91F4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宋体" panose="02010600030101010101" pitchFamily="2" charset="-122"/>
            </a:endParaRPr>
          </a:p>
        </p:txBody>
      </p:sp>
    </p:spTree>
    <p:extLst>
      <p:ext uri="{BB962C8B-B14F-4D97-AF65-F5344CB8AC3E}">
        <p14:creationId xmlns:p14="http://schemas.microsoft.com/office/powerpoint/2010/main" val="60418410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a:extLst>
              <a:ext uri="{FF2B5EF4-FFF2-40B4-BE49-F238E27FC236}">
                <a16:creationId xmlns:a16="http://schemas.microsoft.com/office/drawing/2014/main" id="{8B7FC228-BB35-4D2C-A557-94C4814FC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FEE8441-2DFD-4AD7-8CA2-8BF0EDAE2CFA}" type="slidenum">
              <a:rPr lang="zh-CN" altLang="en-US"/>
              <a:pPr>
                <a:spcBef>
                  <a:spcPct val="0"/>
                </a:spcBef>
              </a:pPr>
              <a:t>139</a:t>
            </a:fld>
            <a:endParaRPr lang="en-US" altLang="zh-CN"/>
          </a:p>
        </p:txBody>
      </p:sp>
      <p:sp>
        <p:nvSpPr>
          <p:cNvPr id="150531" name="Rectangle 2">
            <a:extLst>
              <a:ext uri="{FF2B5EF4-FFF2-40B4-BE49-F238E27FC236}">
                <a16:creationId xmlns:a16="http://schemas.microsoft.com/office/drawing/2014/main" id="{863F9F54-ACFB-42AB-AE4A-57DE57064E9A}"/>
              </a:ext>
            </a:extLst>
          </p:cNvPr>
          <p:cNvSpPr>
            <a:spLocks noGrp="1" noRot="1" noChangeAspect="1" noChangeArrowheads="1" noTextEdit="1"/>
          </p:cNvSpPr>
          <p:nvPr>
            <p:ph type="sldImg"/>
          </p:nvPr>
        </p:nvSpPr>
        <p:spPr>
          <a:ln/>
        </p:spPr>
      </p:sp>
      <p:sp>
        <p:nvSpPr>
          <p:cNvPr id="150532" name="Rectangle 3">
            <a:extLst>
              <a:ext uri="{FF2B5EF4-FFF2-40B4-BE49-F238E27FC236}">
                <a16:creationId xmlns:a16="http://schemas.microsoft.com/office/drawing/2014/main" id="{2900F669-7646-4FBA-B0FC-8CD75D5282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extLst>
      <p:ext uri="{BB962C8B-B14F-4D97-AF65-F5344CB8AC3E}">
        <p14:creationId xmlns:p14="http://schemas.microsoft.com/office/powerpoint/2010/main" val="220268661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140</a:t>
            </a:fld>
            <a:endParaRPr lang="zh-CN" altLang="en-US"/>
          </a:p>
        </p:txBody>
      </p:sp>
    </p:spTree>
    <p:extLst>
      <p:ext uri="{BB962C8B-B14F-4D97-AF65-F5344CB8AC3E}">
        <p14:creationId xmlns:p14="http://schemas.microsoft.com/office/powerpoint/2010/main" val="372438381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141</a:t>
            </a:fld>
            <a:endParaRPr lang="zh-CN" altLang="en-US"/>
          </a:p>
        </p:txBody>
      </p:sp>
    </p:spTree>
    <p:extLst>
      <p:ext uri="{BB962C8B-B14F-4D97-AF65-F5344CB8AC3E}">
        <p14:creationId xmlns:p14="http://schemas.microsoft.com/office/powerpoint/2010/main" val="338815598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a:extLst>
              <a:ext uri="{FF2B5EF4-FFF2-40B4-BE49-F238E27FC236}">
                <a16:creationId xmlns:a16="http://schemas.microsoft.com/office/drawing/2014/main" id="{71018551-C859-4375-B5D6-3974620CEC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9F2E4DB-2865-4B0D-BDEB-CA02DF909C69}" type="slidenum">
              <a:rPr lang="zh-CN" altLang="en-US"/>
              <a:pPr>
                <a:spcBef>
                  <a:spcPct val="0"/>
                </a:spcBef>
              </a:pPr>
              <a:t>142</a:t>
            </a:fld>
            <a:endParaRPr lang="en-US" altLang="zh-CN"/>
          </a:p>
        </p:txBody>
      </p:sp>
      <p:sp>
        <p:nvSpPr>
          <p:cNvPr id="181251" name="Rectangle 2">
            <a:extLst>
              <a:ext uri="{FF2B5EF4-FFF2-40B4-BE49-F238E27FC236}">
                <a16:creationId xmlns:a16="http://schemas.microsoft.com/office/drawing/2014/main" id="{F4EE072F-125F-4FF1-A561-A6C54E3340E9}"/>
              </a:ext>
            </a:extLst>
          </p:cNvPr>
          <p:cNvSpPr>
            <a:spLocks noGrp="1" noRot="1" noChangeAspect="1" noChangeArrowheads="1" noTextEdit="1"/>
          </p:cNvSpPr>
          <p:nvPr>
            <p:ph type="sldImg"/>
          </p:nvPr>
        </p:nvSpPr>
        <p:spPr>
          <a:ln/>
        </p:spPr>
      </p:sp>
      <p:sp>
        <p:nvSpPr>
          <p:cNvPr id="181252" name="Rectangle 3">
            <a:extLst>
              <a:ext uri="{FF2B5EF4-FFF2-40B4-BE49-F238E27FC236}">
                <a16:creationId xmlns:a16="http://schemas.microsoft.com/office/drawing/2014/main" id="{106B0923-8FA1-44B1-9EFB-E5E80CDAB7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22764862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a:extLst>
              <a:ext uri="{FF2B5EF4-FFF2-40B4-BE49-F238E27FC236}">
                <a16:creationId xmlns:a16="http://schemas.microsoft.com/office/drawing/2014/main" id="{64F088EF-49BE-44A6-A04B-20D1BA470713}"/>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0DFED63E-AD4E-4868-A9F8-125120ADC48C}" type="slidenum">
              <a:rPr lang="zh-CN" altLang="en-US"/>
              <a:pPr algn="r" eaLnBrk="1" hangingPunct="1">
                <a:spcBef>
                  <a:spcPct val="0"/>
                </a:spcBef>
              </a:pPr>
              <a:t>143</a:t>
            </a:fld>
            <a:endParaRPr lang="en-US" altLang="zh-CN"/>
          </a:p>
        </p:txBody>
      </p:sp>
      <p:sp>
        <p:nvSpPr>
          <p:cNvPr id="184323" name="Rectangle 2">
            <a:extLst>
              <a:ext uri="{FF2B5EF4-FFF2-40B4-BE49-F238E27FC236}">
                <a16:creationId xmlns:a16="http://schemas.microsoft.com/office/drawing/2014/main" id="{F6421C51-2C43-40B7-B34A-A6E2A1F1B3CC}"/>
              </a:ext>
            </a:extLst>
          </p:cNvPr>
          <p:cNvSpPr>
            <a:spLocks noGrp="1" noRot="1" noChangeAspect="1" noChangeArrowheads="1" noTextEdit="1"/>
          </p:cNvSpPr>
          <p:nvPr>
            <p:ph type="sldImg"/>
          </p:nvPr>
        </p:nvSpPr>
        <p:spPr>
          <a:ln/>
        </p:spPr>
      </p:sp>
      <p:sp>
        <p:nvSpPr>
          <p:cNvPr id="184324" name="Rectangle 3">
            <a:extLst>
              <a:ext uri="{FF2B5EF4-FFF2-40B4-BE49-F238E27FC236}">
                <a16:creationId xmlns:a16="http://schemas.microsoft.com/office/drawing/2014/main" id="{A1D2217E-F48C-4EF0-962B-B1506C7097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91105005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144</a:t>
            </a:fld>
            <a:endParaRPr lang="zh-CN" altLang="en-US"/>
          </a:p>
        </p:txBody>
      </p:sp>
    </p:spTree>
    <p:extLst>
      <p:ext uri="{BB962C8B-B14F-4D97-AF65-F5344CB8AC3E}">
        <p14:creationId xmlns:p14="http://schemas.microsoft.com/office/powerpoint/2010/main" val="17645603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a:extLst>
              <a:ext uri="{FF2B5EF4-FFF2-40B4-BE49-F238E27FC236}">
                <a16:creationId xmlns:a16="http://schemas.microsoft.com/office/drawing/2014/main" id="{8BCA06C0-CD33-4866-A078-4C2BC4D96E32}"/>
              </a:ext>
            </a:extLst>
          </p:cNvPr>
          <p:cNvSpPr>
            <a:spLocks noGrp="1" noRot="1" noChangeAspect="1" noChangeArrowheads="1" noTextEdit="1"/>
          </p:cNvSpPr>
          <p:nvPr>
            <p:ph type="sldImg"/>
          </p:nvPr>
        </p:nvSpPr>
        <p:spPr>
          <a:ln/>
        </p:spPr>
      </p:sp>
      <p:sp>
        <p:nvSpPr>
          <p:cNvPr id="187395" name="Rectangle 3">
            <a:extLst>
              <a:ext uri="{FF2B5EF4-FFF2-40B4-BE49-F238E27FC236}">
                <a16:creationId xmlns:a16="http://schemas.microsoft.com/office/drawing/2014/main" id="{EBA7D028-D3FF-4CDD-8936-89B3C140C7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宋体" panose="02010600030101010101" pitchFamily="2" charset="-122"/>
            </a:endParaRPr>
          </a:p>
        </p:txBody>
      </p:sp>
    </p:spTree>
    <p:extLst>
      <p:ext uri="{BB962C8B-B14F-4D97-AF65-F5344CB8AC3E}">
        <p14:creationId xmlns:p14="http://schemas.microsoft.com/office/powerpoint/2010/main" val="252123548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146</a:t>
            </a:fld>
            <a:endParaRPr lang="zh-CN" altLang="en-US"/>
          </a:p>
        </p:txBody>
      </p:sp>
    </p:spTree>
    <p:extLst>
      <p:ext uri="{BB962C8B-B14F-4D97-AF65-F5344CB8AC3E}">
        <p14:creationId xmlns:p14="http://schemas.microsoft.com/office/powerpoint/2010/main" val="284664500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a:extLst>
              <a:ext uri="{FF2B5EF4-FFF2-40B4-BE49-F238E27FC236}">
                <a16:creationId xmlns:a16="http://schemas.microsoft.com/office/drawing/2014/main" id="{302B94A8-3EF5-4E82-B968-EA87DBA8BC54}"/>
              </a:ext>
            </a:extLst>
          </p:cNvPr>
          <p:cNvSpPr>
            <a:spLocks noGrp="1" noRot="1" noChangeAspect="1" noChangeArrowheads="1" noTextEdit="1"/>
          </p:cNvSpPr>
          <p:nvPr>
            <p:ph type="sldImg"/>
          </p:nvPr>
        </p:nvSpPr>
        <p:spPr>
          <a:ln/>
        </p:spPr>
      </p:sp>
      <p:sp>
        <p:nvSpPr>
          <p:cNvPr id="189443" name="Rectangle 3">
            <a:extLst>
              <a:ext uri="{FF2B5EF4-FFF2-40B4-BE49-F238E27FC236}">
                <a16:creationId xmlns:a16="http://schemas.microsoft.com/office/drawing/2014/main" id="{D99AE26B-F703-46DF-A901-0876D913BC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宋体" panose="02010600030101010101" pitchFamily="2" charset="-122"/>
            </a:endParaRPr>
          </a:p>
        </p:txBody>
      </p:sp>
    </p:spTree>
    <p:extLst>
      <p:ext uri="{BB962C8B-B14F-4D97-AF65-F5344CB8AC3E}">
        <p14:creationId xmlns:p14="http://schemas.microsoft.com/office/powerpoint/2010/main" val="74360065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150</a:t>
            </a:fld>
            <a:endParaRPr lang="zh-CN" altLang="en-US"/>
          </a:p>
        </p:txBody>
      </p:sp>
    </p:spTree>
    <p:extLst>
      <p:ext uri="{BB962C8B-B14F-4D97-AF65-F5344CB8AC3E}">
        <p14:creationId xmlns:p14="http://schemas.microsoft.com/office/powerpoint/2010/main" val="34654505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151</a:t>
            </a:fld>
            <a:endParaRPr lang="zh-CN" altLang="en-US"/>
          </a:p>
        </p:txBody>
      </p:sp>
    </p:spTree>
    <p:extLst>
      <p:ext uri="{BB962C8B-B14F-4D97-AF65-F5344CB8AC3E}">
        <p14:creationId xmlns:p14="http://schemas.microsoft.com/office/powerpoint/2010/main" val="416130208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a:extLst>
              <a:ext uri="{FF2B5EF4-FFF2-40B4-BE49-F238E27FC236}">
                <a16:creationId xmlns:a16="http://schemas.microsoft.com/office/drawing/2014/main" id="{B0AB57B3-4F68-4DF8-86D9-9687640E85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7C6ABD0-848A-4F30-8EC0-2D0CE14F4C1C}" type="slidenum">
              <a:rPr lang="zh-CN" altLang="en-US"/>
              <a:pPr>
                <a:spcBef>
                  <a:spcPct val="0"/>
                </a:spcBef>
              </a:pPr>
              <a:t>152</a:t>
            </a:fld>
            <a:endParaRPr lang="en-US" altLang="zh-CN"/>
          </a:p>
        </p:txBody>
      </p:sp>
      <p:sp>
        <p:nvSpPr>
          <p:cNvPr id="202755" name="Rectangle 2">
            <a:extLst>
              <a:ext uri="{FF2B5EF4-FFF2-40B4-BE49-F238E27FC236}">
                <a16:creationId xmlns:a16="http://schemas.microsoft.com/office/drawing/2014/main" id="{36C49910-B052-4D24-A436-DC202A2086AE}"/>
              </a:ext>
            </a:extLst>
          </p:cNvPr>
          <p:cNvSpPr>
            <a:spLocks noGrp="1" noRot="1" noChangeAspect="1" noChangeArrowheads="1" noTextEdit="1"/>
          </p:cNvSpPr>
          <p:nvPr>
            <p:ph type="sldImg"/>
          </p:nvPr>
        </p:nvSpPr>
        <p:spPr>
          <a:ln/>
        </p:spPr>
      </p:sp>
      <p:sp>
        <p:nvSpPr>
          <p:cNvPr id="202756" name="Rectangle 3">
            <a:extLst>
              <a:ext uri="{FF2B5EF4-FFF2-40B4-BE49-F238E27FC236}">
                <a16:creationId xmlns:a16="http://schemas.microsoft.com/office/drawing/2014/main" id="{0FF0B568-EA7B-44A6-B1FC-56491D646D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extLst>
      <p:ext uri="{BB962C8B-B14F-4D97-AF65-F5344CB8AC3E}">
        <p14:creationId xmlns:p14="http://schemas.microsoft.com/office/powerpoint/2010/main" val="188120022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153</a:t>
            </a:fld>
            <a:endParaRPr lang="zh-CN" altLang="en-US"/>
          </a:p>
        </p:txBody>
      </p:sp>
    </p:spTree>
    <p:extLst>
      <p:ext uri="{BB962C8B-B14F-4D97-AF65-F5344CB8AC3E}">
        <p14:creationId xmlns:p14="http://schemas.microsoft.com/office/powerpoint/2010/main" val="263858401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154</a:t>
            </a:fld>
            <a:endParaRPr lang="zh-CN" altLang="en-US"/>
          </a:p>
        </p:txBody>
      </p:sp>
    </p:spTree>
    <p:extLst>
      <p:ext uri="{BB962C8B-B14F-4D97-AF65-F5344CB8AC3E}">
        <p14:creationId xmlns:p14="http://schemas.microsoft.com/office/powerpoint/2010/main" val="330307991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a:extLst>
              <a:ext uri="{FF2B5EF4-FFF2-40B4-BE49-F238E27FC236}">
                <a16:creationId xmlns:a16="http://schemas.microsoft.com/office/drawing/2014/main" id="{64F088EF-49BE-44A6-A04B-20D1BA470713}"/>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0DFED63E-AD4E-4868-A9F8-125120ADC48C}" type="slidenum">
              <a:rPr lang="zh-CN" altLang="en-US"/>
              <a:pPr algn="r" eaLnBrk="1" hangingPunct="1">
                <a:spcBef>
                  <a:spcPct val="0"/>
                </a:spcBef>
              </a:pPr>
              <a:t>155</a:t>
            </a:fld>
            <a:endParaRPr lang="en-US" altLang="zh-CN"/>
          </a:p>
        </p:txBody>
      </p:sp>
      <p:sp>
        <p:nvSpPr>
          <p:cNvPr id="184323" name="Rectangle 2">
            <a:extLst>
              <a:ext uri="{FF2B5EF4-FFF2-40B4-BE49-F238E27FC236}">
                <a16:creationId xmlns:a16="http://schemas.microsoft.com/office/drawing/2014/main" id="{F6421C51-2C43-40B7-B34A-A6E2A1F1B3CC}"/>
              </a:ext>
            </a:extLst>
          </p:cNvPr>
          <p:cNvSpPr>
            <a:spLocks noGrp="1" noRot="1" noChangeAspect="1" noChangeArrowheads="1" noTextEdit="1"/>
          </p:cNvSpPr>
          <p:nvPr>
            <p:ph type="sldImg"/>
          </p:nvPr>
        </p:nvSpPr>
        <p:spPr>
          <a:ln/>
        </p:spPr>
      </p:sp>
      <p:sp>
        <p:nvSpPr>
          <p:cNvPr id="184324" name="Rectangle 3">
            <a:extLst>
              <a:ext uri="{FF2B5EF4-FFF2-40B4-BE49-F238E27FC236}">
                <a16:creationId xmlns:a16="http://schemas.microsoft.com/office/drawing/2014/main" id="{A1D2217E-F48C-4EF0-962B-B1506C7097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164321199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a:extLst>
              <a:ext uri="{FF2B5EF4-FFF2-40B4-BE49-F238E27FC236}">
                <a16:creationId xmlns:a16="http://schemas.microsoft.com/office/drawing/2014/main" id="{D9A6FF2D-86D5-4D8A-8214-97C860D57B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D96923B-91CE-46F8-83F7-6411CBD2A6BB}" type="slidenum">
              <a:rPr lang="zh-CN" altLang="en-US"/>
              <a:pPr>
                <a:spcBef>
                  <a:spcPct val="0"/>
                </a:spcBef>
              </a:pPr>
              <a:t>156</a:t>
            </a:fld>
            <a:endParaRPr lang="en-US" altLang="zh-CN"/>
          </a:p>
        </p:txBody>
      </p:sp>
      <p:sp>
        <p:nvSpPr>
          <p:cNvPr id="204803" name="Rectangle 2">
            <a:extLst>
              <a:ext uri="{FF2B5EF4-FFF2-40B4-BE49-F238E27FC236}">
                <a16:creationId xmlns:a16="http://schemas.microsoft.com/office/drawing/2014/main" id="{2C900A54-E4B6-4095-B495-A3A16C66F37B}"/>
              </a:ext>
            </a:extLst>
          </p:cNvPr>
          <p:cNvSpPr>
            <a:spLocks noGrp="1" noRot="1" noChangeAspect="1" noChangeArrowheads="1" noTextEdit="1"/>
          </p:cNvSpPr>
          <p:nvPr>
            <p:ph type="sldImg"/>
          </p:nvPr>
        </p:nvSpPr>
        <p:spPr>
          <a:ln/>
        </p:spPr>
      </p:sp>
      <p:sp>
        <p:nvSpPr>
          <p:cNvPr id="204804" name="Rectangle 3">
            <a:extLst>
              <a:ext uri="{FF2B5EF4-FFF2-40B4-BE49-F238E27FC236}">
                <a16:creationId xmlns:a16="http://schemas.microsoft.com/office/drawing/2014/main" id="{FA5D653C-C71E-43FC-B884-847E13CDE0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74153223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a:extLst>
              <a:ext uri="{FF2B5EF4-FFF2-40B4-BE49-F238E27FC236}">
                <a16:creationId xmlns:a16="http://schemas.microsoft.com/office/drawing/2014/main" id="{E6D4D05C-B784-401D-9EB7-C9034371C7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FB5D36-EE56-4BE6-B8DB-1ADB6360608F}" type="slidenum">
              <a:rPr lang="zh-CN" altLang="en-US"/>
              <a:pPr>
                <a:spcBef>
                  <a:spcPct val="0"/>
                </a:spcBef>
              </a:pPr>
              <a:t>157</a:t>
            </a:fld>
            <a:endParaRPr lang="en-US" altLang="zh-CN"/>
          </a:p>
        </p:txBody>
      </p:sp>
      <p:sp>
        <p:nvSpPr>
          <p:cNvPr id="206851" name="Rectangle 2">
            <a:extLst>
              <a:ext uri="{FF2B5EF4-FFF2-40B4-BE49-F238E27FC236}">
                <a16:creationId xmlns:a16="http://schemas.microsoft.com/office/drawing/2014/main" id="{BFC6DD28-11A4-484E-B002-749ECA49C43E}"/>
              </a:ext>
            </a:extLst>
          </p:cNvPr>
          <p:cNvSpPr>
            <a:spLocks noGrp="1" noRot="1" noChangeAspect="1" noChangeArrowheads="1" noTextEdit="1"/>
          </p:cNvSpPr>
          <p:nvPr>
            <p:ph type="sldImg"/>
          </p:nvPr>
        </p:nvSpPr>
        <p:spPr>
          <a:ln/>
        </p:spPr>
      </p:sp>
      <p:sp>
        <p:nvSpPr>
          <p:cNvPr id="206852" name="Rectangle 3">
            <a:extLst>
              <a:ext uri="{FF2B5EF4-FFF2-40B4-BE49-F238E27FC236}">
                <a16:creationId xmlns:a16="http://schemas.microsoft.com/office/drawing/2014/main" id="{48AA2D03-F6D6-44EA-B376-6A586FD87D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159911222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a:extLst>
              <a:ext uri="{FF2B5EF4-FFF2-40B4-BE49-F238E27FC236}">
                <a16:creationId xmlns:a16="http://schemas.microsoft.com/office/drawing/2014/main" id="{70C63563-1868-47BD-A816-70AF0E0B9F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52C4C59-827A-4ADF-8614-0FA3B8A923E3}" type="slidenum">
              <a:rPr lang="zh-CN" altLang="en-US"/>
              <a:pPr>
                <a:spcBef>
                  <a:spcPct val="0"/>
                </a:spcBef>
              </a:pPr>
              <a:t>158</a:t>
            </a:fld>
            <a:endParaRPr lang="en-US" altLang="zh-CN"/>
          </a:p>
        </p:txBody>
      </p:sp>
      <p:sp>
        <p:nvSpPr>
          <p:cNvPr id="208899" name="Rectangle 2">
            <a:extLst>
              <a:ext uri="{FF2B5EF4-FFF2-40B4-BE49-F238E27FC236}">
                <a16:creationId xmlns:a16="http://schemas.microsoft.com/office/drawing/2014/main" id="{05FD1D4C-B9B7-42C6-925D-F8F30E7A0F6C}"/>
              </a:ext>
            </a:extLst>
          </p:cNvPr>
          <p:cNvSpPr>
            <a:spLocks noGrp="1" noRot="1" noChangeAspect="1" noChangeArrowheads="1" noTextEdit="1"/>
          </p:cNvSpPr>
          <p:nvPr>
            <p:ph type="sldImg"/>
          </p:nvPr>
        </p:nvSpPr>
        <p:spPr>
          <a:ln/>
        </p:spPr>
      </p:sp>
      <p:sp>
        <p:nvSpPr>
          <p:cNvPr id="208900" name="Rectangle 3">
            <a:extLst>
              <a:ext uri="{FF2B5EF4-FFF2-40B4-BE49-F238E27FC236}">
                <a16:creationId xmlns:a16="http://schemas.microsoft.com/office/drawing/2014/main" id="{EB328FB9-B46B-49BB-BE6A-9A77C8ED0C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69334320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a:extLst>
              <a:ext uri="{FF2B5EF4-FFF2-40B4-BE49-F238E27FC236}">
                <a16:creationId xmlns:a16="http://schemas.microsoft.com/office/drawing/2014/main" id="{8B2DCBD5-5077-49F6-87E8-77296B3DFC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8579027-3C7B-45E0-8F5B-B45DD08270B4}" type="slidenum">
              <a:rPr lang="zh-CN" altLang="en-US"/>
              <a:pPr>
                <a:spcBef>
                  <a:spcPct val="0"/>
                </a:spcBef>
              </a:pPr>
              <a:t>161</a:t>
            </a:fld>
            <a:endParaRPr lang="en-US" altLang="zh-CN"/>
          </a:p>
        </p:txBody>
      </p:sp>
      <p:sp>
        <p:nvSpPr>
          <p:cNvPr id="212995" name="Rectangle 2">
            <a:extLst>
              <a:ext uri="{FF2B5EF4-FFF2-40B4-BE49-F238E27FC236}">
                <a16:creationId xmlns:a16="http://schemas.microsoft.com/office/drawing/2014/main" id="{3618D4EE-14AC-47B9-A06E-2E88D32CD5D1}"/>
              </a:ext>
            </a:extLst>
          </p:cNvPr>
          <p:cNvSpPr>
            <a:spLocks noGrp="1" noRot="1" noChangeAspect="1" noChangeArrowheads="1" noTextEdit="1"/>
          </p:cNvSpPr>
          <p:nvPr>
            <p:ph type="sldImg"/>
          </p:nvPr>
        </p:nvSpPr>
        <p:spPr>
          <a:ln/>
        </p:spPr>
      </p:sp>
      <p:sp>
        <p:nvSpPr>
          <p:cNvPr id="212996" name="Rectangle 3">
            <a:extLst>
              <a:ext uri="{FF2B5EF4-FFF2-40B4-BE49-F238E27FC236}">
                <a16:creationId xmlns:a16="http://schemas.microsoft.com/office/drawing/2014/main" id="{E9B50F0B-A9D7-4AA6-A99C-DF6AD5CEF6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16793117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a:extLst>
              <a:ext uri="{FF2B5EF4-FFF2-40B4-BE49-F238E27FC236}">
                <a16:creationId xmlns:a16="http://schemas.microsoft.com/office/drawing/2014/main" id="{FCE678DF-A344-4777-987B-B1CA05736E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8E93C59-84BC-49F1-8F81-2649CF84A9A8}" type="slidenum">
              <a:rPr lang="zh-CN" altLang="en-US"/>
              <a:pPr>
                <a:spcBef>
                  <a:spcPct val="0"/>
                </a:spcBef>
              </a:pPr>
              <a:t>162</a:t>
            </a:fld>
            <a:endParaRPr lang="en-US" altLang="zh-CN"/>
          </a:p>
        </p:txBody>
      </p:sp>
      <p:sp>
        <p:nvSpPr>
          <p:cNvPr id="215043" name="Rectangle 2">
            <a:extLst>
              <a:ext uri="{FF2B5EF4-FFF2-40B4-BE49-F238E27FC236}">
                <a16:creationId xmlns:a16="http://schemas.microsoft.com/office/drawing/2014/main" id="{69A4DA8A-2AEA-4903-8B6F-1193E9C6AD74}"/>
              </a:ext>
            </a:extLst>
          </p:cNvPr>
          <p:cNvSpPr>
            <a:spLocks noGrp="1" noRot="1" noChangeAspect="1" noChangeArrowheads="1" noTextEdit="1"/>
          </p:cNvSpPr>
          <p:nvPr>
            <p:ph type="sldImg"/>
          </p:nvPr>
        </p:nvSpPr>
        <p:spPr>
          <a:ln/>
        </p:spPr>
      </p:sp>
      <p:sp>
        <p:nvSpPr>
          <p:cNvPr id="215044" name="Rectangle 3">
            <a:extLst>
              <a:ext uri="{FF2B5EF4-FFF2-40B4-BE49-F238E27FC236}">
                <a16:creationId xmlns:a16="http://schemas.microsoft.com/office/drawing/2014/main" id="{21A2DE36-E58D-4F20-9A31-29C29E3B66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62010503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164</a:t>
            </a:fld>
            <a:endParaRPr lang="zh-CN" altLang="en-US"/>
          </a:p>
        </p:txBody>
      </p:sp>
    </p:spTree>
    <p:extLst>
      <p:ext uri="{BB962C8B-B14F-4D97-AF65-F5344CB8AC3E}">
        <p14:creationId xmlns:p14="http://schemas.microsoft.com/office/powerpoint/2010/main" val="154666638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165</a:t>
            </a:fld>
            <a:endParaRPr lang="zh-CN" altLang="en-US"/>
          </a:p>
        </p:txBody>
      </p:sp>
    </p:spTree>
    <p:extLst>
      <p:ext uri="{BB962C8B-B14F-4D97-AF65-F5344CB8AC3E}">
        <p14:creationId xmlns:p14="http://schemas.microsoft.com/office/powerpoint/2010/main" val="165771063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166</a:t>
            </a:fld>
            <a:endParaRPr lang="zh-CN" altLang="en-US"/>
          </a:p>
        </p:txBody>
      </p:sp>
    </p:spTree>
    <p:extLst>
      <p:ext uri="{BB962C8B-B14F-4D97-AF65-F5344CB8AC3E}">
        <p14:creationId xmlns:p14="http://schemas.microsoft.com/office/powerpoint/2010/main" val="330731325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167</a:t>
            </a:fld>
            <a:endParaRPr lang="zh-CN" altLang="en-US"/>
          </a:p>
        </p:txBody>
      </p:sp>
    </p:spTree>
    <p:extLst>
      <p:ext uri="{BB962C8B-B14F-4D97-AF65-F5344CB8AC3E}">
        <p14:creationId xmlns:p14="http://schemas.microsoft.com/office/powerpoint/2010/main" val="209637176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a:extLst>
              <a:ext uri="{FF2B5EF4-FFF2-40B4-BE49-F238E27FC236}">
                <a16:creationId xmlns:a16="http://schemas.microsoft.com/office/drawing/2014/main" id="{33DE35C4-9527-405D-8118-8112E2BC71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6A82E3E-380C-4025-A2C9-E9ACE09ECA18}" type="slidenum">
              <a:rPr lang="zh-CN" altLang="en-US"/>
              <a:pPr>
                <a:spcBef>
                  <a:spcPct val="0"/>
                </a:spcBef>
              </a:pPr>
              <a:t>168</a:t>
            </a:fld>
            <a:endParaRPr lang="en-US" altLang="zh-CN"/>
          </a:p>
        </p:txBody>
      </p:sp>
      <p:sp>
        <p:nvSpPr>
          <p:cNvPr id="220163" name="Rectangle 2">
            <a:extLst>
              <a:ext uri="{FF2B5EF4-FFF2-40B4-BE49-F238E27FC236}">
                <a16:creationId xmlns:a16="http://schemas.microsoft.com/office/drawing/2014/main" id="{A9069232-C48E-4458-96F1-770B750EFC96}"/>
              </a:ext>
            </a:extLst>
          </p:cNvPr>
          <p:cNvSpPr>
            <a:spLocks noGrp="1" noRot="1" noChangeAspect="1" noChangeArrowheads="1" noTextEdit="1"/>
          </p:cNvSpPr>
          <p:nvPr>
            <p:ph type="sldImg"/>
          </p:nvPr>
        </p:nvSpPr>
        <p:spPr>
          <a:ln/>
        </p:spPr>
      </p:sp>
      <p:sp>
        <p:nvSpPr>
          <p:cNvPr id="220164" name="Rectangle 3">
            <a:extLst>
              <a:ext uri="{FF2B5EF4-FFF2-40B4-BE49-F238E27FC236}">
                <a16:creationId xmlns:a16="http://schemas.microsoft.com/office/drawing/2014/main" id="{745823DA-9F37-42A9-8672-B2AEB449DD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extLst>
      <p:ext uri="{BB962C8B-B14F-4D97-AF65-F5344CB8AC3E}">
        <p14:creationId xmlns:p14="http://schemas.microsoft.com/office/powerpoint/2010/main" val="411365432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a:extLst>
              <a:ext uri="{FF2B5EF4-FFF2-40B4-BE49-F238E27FC236}">
                <a16:creationId xmlns:a16="http://schemas.microsoft.com/office/drawing/2014/main" id="{3E7FCE54-C2D6-4B85-BD63-F73FFB89D0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37382BF-EFC1-4481-B3C7-D0849E0A0E13}" type="slidenum">
              <a:rPr lang="zh-CN" altLang="en-US"/>
              <a:pPr>
                <a:spcBef>
                  <a:spcPct val="0"/>
                </a:spcBef>
              </a:pPr>
              <a:t>169</a:t>
            </a:fld>
            <a:endParaRPr lang="en-US" altLang="zh-CN"/>
          </a:p>
        </p:txBody>
      </p:sp>
      <p:sp>
        <p:nvSpPr>
          <p:cNvPr id="222211" name="Rectangle 2">
            <a:extLst>
              <a:ext uri="{FF2B5EF4-FFF2-40B4-BE49-F238E27FC236}">
                <a16:creationId xmlns:a16="http://schemas.microsoft.com/office/drawing/2014/main" id="{BF12C283-85B4-4AD6-8486-21046A7E5920}"/>
              </a:ext>
            </a:extLst>
          </p:cNvPr>
          <p:cNvSpPr>
            <a:spLocks noGrp="1" noRot="1" noChangeAspect="1" noChangeArrowheads="1" noTextEdit="1"/>
          </p:cNvSpPr>
          <p:nvPr>
            <p:ph type="sldImg"/>
          </p:nvPr>
        </p:nvSpPr>
        <p:spPr>
          <a:ln/>
        </p:spPr>
      </p:sp>
      <p:sp>
        <p:nvSpPr>
          <p:cNvPr id="222212" name="Rectangle 3">
            <a:extLst>
              <a:ext uri="{FF2B5EF4-FFF2-40B4-BE49-F238E27FC236}">
                <a16:creationId xmlns:a16="http://schemas.microsoft.com/office/drawing/2014/main" id="{3C11512E-0FA5-4FB8-8DBD-E0ECB38AFE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1290991248"/>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a:extLst>
              <a:ext uri="{FF2B5EF4-FFF2-40B4-BE49-F238E27FC236}">
                <a16:creationId xmlns:a16="http://schemas.microsoft.com/office/drawing/2014/main" id="{412BC90B-6FCA-41ED-A8AF-C6101AD89F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F3F3A84-0059-4EAD-BB43-943F3CEF1C4F}" type="slidenum">
              <a:rPr lang="zh-CN" altLang="en-US"/>
              <a:pPr>
                <a:spcBef>
                  <a:spcPct val="0"/>
                </a:spcBef>
              </a:pPr>
              <a:t>171</a:t>
            </a:fld>
            <a:endParaRPr lang="en-US" altLang="zh-CN"/>
          </a:p>
        </p:txBody>
      </p:sp>
      <p:sp>
        <p:nvSpPr>
          <p:cNvPr id="229379" name="Rectangle 2">
            <a:extLst>
              <a:ext uri="{FF2B5EF4-FFF2-40B4-BE49-F238E27FC236}">
                <a16:creationId xmlns:a16="http://schemas.microsoft.com/office/drawing/2014/main" id="{03B694CB-0EC6-4636-AD90-2AA364DC03DF}"/>
              </a:ext>
            </a:extLst>
          </p:cNvPr>
          <p:cNvSpPr>
            <a:spLocks noGrp="1" noRot="1" noChangeAspect="1" noChangeArrowheads="1" noTextEdit="1"/>
          </p:cNvSpPr>
          <p:nvPr>
            <p:ph type="sldImg"/>
          </p:nvPr>
        </p:nvSpPr>
        <p:spPr>
          <a:ln/>
        </p:spPr>
      </p:sp>
      <p:sp>
        <p:nvSpPr>
          <p:cNvPr id="229380" name="Rectangle 3">
            <a:extLst>
              <a:ext uri="{FF2B5EF4-FFF2-40B4-BE49-F238E27FC236}">
                <a16:creationId xmlns:a16="http://schemas.microsoft.com/office/drawing/2014/main" id="{94A422EF-E49D-4E8C-BEC2-31AD184616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06064908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a:extLst>
              <a:ext uri="{FF2B5EF4-FFF2-40B4-BE49-F238E27FC236}">
                <a16:creationId xmlns:a16="http://schemas.microsoft.com/office/drawing/2014/main" id="{801FD936-3F5C-4D71-A511-03826DB103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D13DCD1-E5EE-43F0-9F31-661CFD6ED8B4}" type="slidenum">
              <a:rPr lang="zh-CN" altLang="en-US"/>
              <a:pPr>
                <a:spcBef>
                  <a:spcPct val="0"/>
                </a:spcBef>
              </a:pPr>
              <a:t>172</a:t>
            </a:fld>
            <a:endParaRPr lang="en-US" altLang="zh-CN"/>
          </a:p>
        </p:txBody>
      </p:sp>
      <p:sp>
        <p:nvSpPr>
          <p:cNvPr id="231427" name="Rectangle 2">
            <a:extLst>
              <a:ext uri="{FF2B5EF4-FFF2-40B4-BE49-F238E27FC236}">
                <a16:creationId xmlns:a16="http://schemas.microsoft.com/office/drawing/2014/main" id="{2E072926-2F83-48A8-BC1D-22DD4CA6485F}"/>
              </a:ext>
            </a:extLst>
          </p:cNvPr>
          <p:cNvSpPr>
            <a:spLocks noGrp="1" noRot="1" noChangeAspect="1" noChangeArrowheads="1" noTextEdit="1"/>
          </p:cNvSpPr>
          <p:nvPr>
            <p:ph type="sldImg"/>
          </p:nvPr>
        </p:nvSpPr>
        <p:spPr>
          <a:ln/>
        </p:spPr>
      </p:sp>
      <p:sp>
        <p:nvSpPr>
          <p:cNvPr id="231428" name="Rectangle 3">
            <a:extLst>
              <a:ext uri="{FF2B5EF4-FFF2-40B4-BE49-F238E27FC236}">
                <a16:creationId xmlns:a16="http://schemas.microsoft.com/office/drawing/2014/main" id="{B3BCE0F0-7C33-45ED-BEA3-243A371288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1226416332"/>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a:extLst>
              <a:ext uri="{FF2B5EF4-FFF2-40B4-BE49-F238E27FC236}">
                <a16:creationId xmlns:a16="http://schemas.microsoft.com/office/drawing/2014/main" id="{49B2FDBD-1267-478E-88AC-DB5FDC764D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1DD4079-94ED-4712-B222-625015DB3AB0}" type="slidenum">
              <a:rPr lang="zh-CN" altLang="en-US"/>
              <a:pPr>
                <a:spcBef>
                  <a:spcPct val="0"/>
                </a:spcBef>
              </a:pPr>
              <a:t>173</a:t>
            </a:fld>
            <a:endParaRPr lang="en-US" altLang="zh-CN"/>
          </a:p>
        </p:txBody>
      </p:sp>
      <p:sp>
        <p:nvSpPr>
          <p:cNvPr id="233475" name="Rectangle 2">
            <a:extLst>
              <a:ext uri="{FF2B5EF4-FFF2-40B4-BE49-F238E27FC236}">
                <a16:creationId xmlns:a16="http://schemas.microsoft.com/office/drawing/2014/main" id="{4C2E8080-BF6D-4CC6-8660-B7204B6C7F65}"/>
              </a:ext>
            </a:extLst>
          </p:cNvPr>
          <p:cNvSpPr>
            <a:spLocks noGrp="1" noRot="1" noChangeAspect="1" noChangeArrowheads="1" noTextEdit="1"/>
          </p:cNvSpPr>
          <p:nvPr>
            <p:ph type="sldImg"/>
          </p:nvPr>
        </p:nvSpPr>
        <p:spPr>
          <a:ln/>
        </p:spPr>
      </p:sp>
      <p:sp>
        <p:nvSpPr>
          <p:cNvPr id="233476" name="Rectangle 3">
            <a:extLst>
              <a:ext uri="{FF2B5EF4-FFF2-40B4-BE49-F238E27FC236}">
                <a16:creationId xmlns:a16="http://schemas.microsoft.com/office/drawing/2014/main" id="{AF2F2BB7-FC7F-48E0-8FA7-9FA485EDE4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192492212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7">
            <a:extLst>
              <a:ext uri="{FF2B5EF4-FFF2-40B4-BE49-F238E27FC236}">
                <a16:creationId xmlns:a16="http://schemas.microsoft.com/office/drawing/2014/main" id="{B4DBD0F0-3CD6-4342-B508-980DE8BBD3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A743169-CB81-42D7-BBCC-9507E36A91EF}" type="slidenum">
              <a:rPr lang="zh-CN" altLang="en-US"/>
              <a:pPr>
                <a:spcBef>
                  <a:spcPct val="0"/>
                </a:spcBef>
              </a:pPr>
              <a:t>174</a:t>
            </a:fld>
            <a:endParaRPr lang="en-US" altLang="zh-CN"/>
          </a:p>
        </p:txBody>
      </p:sp>
      <p:sp>
        <p:nvSpPr>
          <p:cNvPr id="235523" name="Rectangle 2">
            <a:extLst>
              <a:ext uri="{FF2B5EF4-FFF2-40B4-BE49-F238E27FC236}">
                <a16:creationId xmlns:a16="http://schemas.microsoft.com/office/drawing/2014/main" id="{0D061565-E1EF-4DE6-8197-C0EE64923488}"/>
              </a:ext>
            </a:extLst>
          </p:cNvPr>
          <p:cNvSpPr>
            <a:spLocks noGrp="1" noRot="1" noChangeAspect="1" noChangeArrowheads="1" noTextEdit="1"/>
          </p:cNvSpPr>
          <p:nvPr>
            <p:ph type="sldImg"/>
          </p:nvPr>
        </p:nvSpPr>
        <p:spPr>
          <a:ln/>
        </p:spPr>
      </p:sp>
      <p:sp>
        <p:nvSpPr>
          <p:cNvPr id="235524" name="Rectangle 3">
            <a:extLst>
              <a:ext uri="{FF2B5EF4-FFF2-40B4-BE49-F238E27FC236}">
                <a16:creationId xmlns:a16="http://schemas.microsoft.com/office/drawing/2014/main" id="{6265F20F-30E3-4949-A86D-9FA74F3101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338109334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a:extLst>
              <a:ext uri="{FF2B5EF4-FFF2-40B4-BE49-F238E27FC236}">
                <a16:creationId xmlns:a16="http://schemas.microsoft.com/office/drawing/2014/main" id="{4C99641B-F48E-4ACE-9B29-0A1F48517D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FC1647F-F3F1-4F46-930B-5A920A571B34}" type="slidenum">
              <a:rPr lang="zh-CN" altLang="en-US"/>
              <a:pPr>
                <a:spcBef>
                  <a:spcPct val="0"/>
                </a:spcBef>
              </a:pPr>
              <a:t>175</a:t>
            </a:fld>
            <a:endParaRPr lang="en-US" altLang="zh-CN"/>
          </a:p>
        </p:txBody>
      </p:sp>
      <p:sp>
        <p:nvSpPr>
          <p:cNvPr id="237571" name="Rectangle 2">
            <a:extLst>
              <a:ext uri="{FF2B5EF4-FFF2-40B4-BE49-F238E27FC236}">
                <a16:creationId xmlns:a16="http://schemas.microsoft.com/office/drawing/2014/main" id="{16358AC9-66B0-47AC-A428-49202C62EF43}"/>
              </a:ext>
            </a:extLst>
          </p:cNvPr>
          <p:cNvSpPr>
            <a:spLocks noGrp="1" noRot="1" noChangeAspect="1" noChangeArrowheads="1" noTextEdit="1"/>
          </p:cNvSpPr>
          <p:nvPr>
            <p:ph type="sldImg"/>
          </p:nvPr>
        </p:nvSpPr>
        <p:spPr>
          <a:ln/>
        </p:spPr>
      </p:sp>
      <p:sp>
        <p:nvSpPr>
          <p:cNvPr id="237572" name="Rectangle 3">
            <a:extLst>
              <a:ext uri="{FF2B5EF4-FFF2-40B4-BE49-F238E27FC236}">
                <a16:creationId xmlns:a16="http://schemas.microsoft.com/office/drawing/2014/main" id="{C8E80085-D5BB-4B72-A377-ABA54BAC60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7720448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7">
            <a:extLst>
              <a:ext uri="{FF2B5EF4-FFF2-40B4-BE49-F238E27FC236}">
                <a16:creationId xmlns:a16="http://schemas.microsoft.com/office/drawing/2014/main" id="{FAFAFCFE-10DA-4CBD-86A8-F9AABDA633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63205AD-E4AC-46CA-B98C-B72C0B2F0C0F}" type="slidenum">
              <a:rPr lang="zh-CN" altLang="en-US"/>
              <a:pPr>
                <a:spcBef>
                  <a:spcPct val="0"/>
                </a:spcBef>
              </a:pPr>
              <a:t>176</a:t>
            </a:fld>
            <a:endParaRPr lang="en-US" altLang="zh-CN"/>
          </a:p>
        </p:txBody>
      </p:sp>
      <p:sp>
        <p:nvSpPr>
          <p:cNvPr id="239619" name="Rectangle 2">
            <a:extLst>
              <a:ext uri="{FF2B5EF4-FFF2-40B4-BE49-F238E27FC236}">
                <a16:creationId xmlns:a16="http://schemas.microsoft.com/office/drawing/2014/main" id="{18F7C2F2-F97C-441B-941E-CD7F2BBC9DB5}"/>
              </a:ext>
            </a:extLst>
          </p:cNvPr>
          <p:cNvSpPr>
            <a:spLocks noGrp="1" noRot="1" noChangeAspect="1" noChangeArrowheads="1" noTextEdit="1"/>
          </p:cNvSpPr>
          <p:nvPr>
            <p:ph type="sldImg"/>
          </p:nvPr>
        </p:nvSpPr>
        <p:spPr>
          <a:ln/>
        </p:spPr>
      </p:sp>
      <p:sp>
        <p:nvSpPr>
          <p:cNvPr id="239620" name="Rectangle 3">
            <a:extLst>
              <a:ext uri="{FF2B5EF4-FFF2-40B4-BE49-F238E27FC236}">
                <a16:creationId xmlns:a16="http://schemas.microsoft.com/office/drawing/2014/main" id="{1C6164F5-8F42-4754-A147-B7C751B752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121361582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7">
            <a:extLst>
              <a:ext uri="{FF2B5EF4-FFF2-40B4-BE49-F238E27FC236}">
                <a16:creationId xmlns:a16="http://schemas.microsoft.com/office/drawing/2014/main" id="{36510E61-D545-4F07-A5D3-102A83E506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47356A2-B5F4-44CD-8C69-D692103110FE}" type="slidenum">
              <a:rPr lang="zh-CN" altLang="en-US"/>
              <a:pPr>
                <a:spcBef>
                  <a:spcPct val="0"/>
                </a:spcBef>
              </a:pPr>
              <a:t>179</a:t>
            </a:fld>
            <a:endParaRPr lang="en-US" altLang="zh-CN"/>
          </a:p>
        </p:txBody>
      </p:sp>
      <p:sp>
        <p:nvSpPr>
          <p:cNvPr id="242691" name="Rectangle 2">
            <a:extLst>
              <a:ext uri="{FF2B5EF4-FFF2-40B4-BE49-F238E27FC236}">
                <a16:creationId xmlns:a16="http://schemas.microsoft.com/office/drawing/2014/main" id="{D5BFEB8A-92C6-4904-BFCE-5D1715FA644D}"/>
              </a:ext>
            </a:extLst>
          </p:cNvPr>
          <p:cNvSpPr>
            <a:spLocks noGrp="1" noRot="1" noChangeAspect="1" noChangeArrowheads="1" noTextEdit="1"/>
          </p:cNvSpPr>
          <p:nvPr>
            <p:ph type="sldImg"/>
          </p:nvPr>
        </p:nvSpPr>
        <p:spPr>
          <a:ln/>
        </p:spPr>
      </p:sp>
      <p:sp>
        <p:nvSpPr>
          <p:cNvPr id="242692" name="Rectangle 3">
            <a:extLst>
              <a:ext uri="{FF2B5EF4-FFF2-40B4-BE49-F238E27FC236}">
                <a16:creationId xmlns:a16="http://schemas.microsoft.com/office/drawing/2014/main" id="{874E0538-F27A-4FA3-B0C8-5D17CAE7D3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324138076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a:extLst>
              <a:ext uri="{FF2B5EF4-FFF2-40B4-BE49-F238E27FC236}">
                <a16:creationId xmlns:a16="http://schemas.microsoft.com/office/drawing/2014/main" id="{D274C7AF-9F1D-4269-B2CF-0D51F148D6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61A995B-5EEB-4985-BB9C-634C93498C52}" type="slidenum">
              <a:rPr lang="zh-CN" altLang="en-US"/>
              <a:pPr>
                <a:spcBef>
                  <a:spcPct val="0"/>
                </a:spcBef>
              </a:pPr>
              <a:t>180</a:t>
            </a:fld>
            <a:endParaRPr lang="en-US" altLang="zh-CN"/>
          </a:p>
        </p:txBody>
      </p:sp>
      <p:sp>
        <p:nvSpPr>
          <p:cNvPr id="244739" name="Rectangle 2">
            <a:extLst>
              <a:ext uri="{FF2B5EF4-FFF2-40B4-BE49-F238E27FC236}">
                <a16:creationId xmlns:a16="http://schemas.microsoft.com/office/drawing/2014/main" id="{05CE0564-A1A3-47B2-BB00-085FBA3B6E36}"/>
              </a:ext>
            </a:extLst>
          </p:cNvPr>
          <p:cNvSpPr>
            <a:spLocks noGrp="1" noRot="1" noChangeAspect="1" noChangeArrowheads="1" noTextEdit="1"/>
          </p:cNvSpPr>
          <p:nvPr>
            <p:ph type="sldImg"/>
          </p:nvPr>
        </p:nvSpPr>
        <p:spPr>
          <a:ln/>
        </p:spPr>
      </p:sp>
      <p:sp>
        <p:nvSpPr>
          <p:cNvPr id="244740" name="Rectangle 3">
            <a:extLst>
              <a:ext uri="{FF2B5EF4-FFF2-40B4-BE49-F238E27FC236}">
                <a16:creationId xmlns:a16="http://schemas.microsoft.com/office/drawing/2014/main" id="{0E7D442E-05D0-4E57-B0D6-9BDAF8A27F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43216740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a:extLst>
              <a:ext uri="{FF2B5EF4-FFF2-40B4-BE49-F238E27FC236}">
                <a16:creationId xmlns:a16="http://schemas.microsoft.com/office/drawing/2014/main" id="{ECBDEF15-3028-4245-A8D0-1D5785B166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8C158A2-C528-4FD4-847F-1D733920EC67}" type="slidenum">
              <a:rPr lang="zh-CN" altLang="en-US"/>
              <a:pPr>
                <a:spcBef>
                  <a:spcPct val="0"/>
                </a:spcBef>
              </a:pPr>
              <a:t>181</a:t>
            </a:fld>
            <a:endParaRPr lang="en-US" altLang="zh-CN"/>
          </a:p>
        </p:txBody>
      </p:sp>
      <p:sp>
        <p:nvSpPr>
          <p:cNvPr id="246787" name="Rectangle 2">
            <a:extLst>
              <a:ext uri="{FF2B5EF4-FFF2-40B4-BE49-F238E27FC236}">
                <a16:creationId xmlns:a16="http://schemas.microsoft.com/office/drawing/2014/main" id="{47995467-44BB-43A0-9790-D9329C68AA0B}"/>
              </a:ext>
            </a:extLst>
          </p:cNvPr>
          <p:cNvSpPr>
            <a:spLocks noGrp="1" noRot="1" noChangeAspect="1" noChangeArrowheads="1" noTextEdit="1"/>
          </p:cNvSpPr>
          <p:nvPr>
            <p:ph type="sldImg"/>
          </p:nvPr>
        </p:nvSpPr>
        <p:spPr>
          <a:ln/>
        </p:spPr>
      </p:sp>
      <p:sp>
        <p:nvSpPr>
          <p:cNvPr id="246788" name="Rectangle 3">
            <a:extLst>
              <a:ext uri="{FF2B5EF4-FFF2-40B4-BE49-F238E27FC236}">
                <a16:creationId xmlns:a16="http://schemas.microsoft.com/office/drawing/2014/main" id="{111A36B3-DA88-44D1-8838-4E1D622E2A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36704208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182</a:t>
            </a:fld>
            <a:endParaRPr lang="zh-CN" altLang="en-US"/>
          </a:p>
        </p:txBody>
      </p:sp>
    </p:spTree>
    <p:extLst>
      <p:ext uri="{BB962C8B-B14F-4D97-AF65-F5344CB8AC3E}">
        <p14:creationId xmlns:p14="http://schemas.microsoft.com/office/powerpoint/2010/main" val="223162812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185</a:t>
            </a:fld>
            <a:endParaRPr lang="zh-CN" altLang="en-US"/>
          </a:p>
        </p:txBody>
      </p:sp>
    </p:spTree>
    <p:extLst>
      <p:ext uri="{BB962C8B-B14F-4D97-AF65-F5344CB8AC3E}">
        <p14:creationId xmlns:p14="http://schemas.microsoft.com/office/powerpoint/2010/main" val="1897131130"/>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a:extLst>
              <a:ext uri="{FF2B5EF4-FFF2-40B4-BE49-F238E27FC236}">
                <a16:creationId xmlns:a16="http://schemas.microsoft.com/office/drawing/2014/main" id="{59248917-AD80-4A99-B54F-2F8DDB7E6F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C0793D0-D1E9-4A27-8E2E-8689D52DC596}" type="slidenum">
              <a:rPr lang="zh-CN" altLang="en-US"/>
              <a:pPr>
                <a:spcBef>
                  <a:spcPct val="0"/>
                </a:spcBef>
              </a:pPr>
              <a:t>186</a:t>
            </a:fld>
            <a:endParaRPr lang="en-US" altLang="zh-CN"/>
          </a:p>
        </p:txBody>
      </p:sp>
      <p:sp>
        <p:nvSpPr>
          <p:cNvPr id="254979" name="Rectangle 2">
            <a:extLst>
              <a:ext uri="{FF2B5EF4-FFF2-40B4-BE49-F238E27FC236}">
                <a16:creationId xmlns:a16="http://schemas.microsoft.com/office/drawing/2014/main" id="{F18EB857-8FD9-4AD6-8E41-C88B16D5D46C}"/>
              </a:ext>
            </a:extLst>
          </p:cNvPr>
          <p:cNvSpPr>
            <a:spLocks noGrp="1" noRot="1" noChangeAspect="1" noChangeArrowheads="1" noTextEdit="1"/>
          </p:cNvSpPr>
          <p:nvPr>
            <p:ph type="sldImg"/>
          </p:nvPr>
        </p:nvSpPr>
        <p:spPr>
          <a:ln/>
        </p:spPr>
      </p:sp>
      <p:sp>
        <p:nvSpPr>
          <p:cNvPr id="254980" name="Rectangle 3">
            <a:extLst>
              <a:ext uri="{FF2B5EF4-FFF2-40B4-BE49-F238E27FC236}">
                <a16:creationId xmlns:a16="http://schemas.microsoft.com/office/drawing/2014/main" id="{6D398B84-9864-4474-8F71-914E14328F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516129596"/>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a:extLst>
              <a:ext uri="{FF2B5EF4-FFF2-40B4-BE49-F238E27FC236}">
                <a16:creationId xmlns:a16="http://schemas.microsoft.com/office/drawing/2014/main" id="{CF36322E-8DA0-4EB7-83B9-D4AF6913B2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B4AED1F-9CBF-4F0B-A801-70C8C871A91A}" type="slidenum">
              <a:rPr lang="zh-CN" altLang="en-US"/>
              <a:pPr>
                <a:spcBef>
                  <a:spcPct val="0"/>
                </a:spcBef>
              </a:pPr>
              <a:t>189</a:t>
            </a:fld>
            <a:endParaRPr lang="en-US" altLang="zh-CN"/>
          </a:p>
        </p:txBody>
      </p:sp>
      <p:sp>
        <p:nvSpPr>
          <p:cNvPr id="259075" name="Rectangle 2">
            <a:extLst>
              <a:ext uri="{FF2B5EF4-FFF2-40B4-BE49-F238E27FC236}">
                <a16:creationId xmlns:a16="http://schemas.microsoft.com/office/drawing/2014/main" id="{6979D7BA-F9E2-4A29-87D2-A67FAE0140B6}"/>
              </a:ext>
            </a:extLst>
          </p:cNvPr>
          <p:cNvSpPr>
            <a:spLocks noGrp="1" noRot="1" noChangeAspect="1" noChangeArrowheads="1" noTextEdit="1"/>
          </p:cNvSpPr>
          <p:nvPr>
            <p:ph type="sldImg"/>
          </p:nvPr>
        </p:nvSpPr>
        <p:spPr>
          <a:ln/>
        </p:spPr>
      </p:sp>
      <p:sp>
        <p:nvSpPr>
          <p:cNvPr id="259076" name="Rectangle 3">
            <a:extLst>
              <a:ext uri="{FF2B5EF4-FFF2-40B4-BE49-F238E27FC236}">
                <a16:creationId xmlns:a16="http://schemas.microsoft.com/office/drawing/2014/main" id="{30457FFF-DD3E-4B53-8AB6-04137B0661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extLst>
      <p:ext uri="{BB962C8B-B14F-4D97-AF65-F5344CB8AC3E}">
        <p14:creationId xmlns:p14="http://schemas.microsoft.com/office/powerpoint/2010/main" val="86222967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a:extLst>
              <a:ext uri="{FF2B5EF4-FFF2-40B4-BE49-F238E27FC236}">
                <a16:creationId xmlns:a16="http://schemas.microsoft.com/office/drawing/2014/main" id="{FBE69453-C712-4FFC-A40F-C3D1E1248FDE}"/>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07F2701-2FD0-461C-94A1-F35E012F5314}" type="slidenum">
              <a:rPr lang="zh-CN" altLang="en-US"/>
              <a:pPr algn="r" eaLnBrk="1" hangingPunct="1">
                <a:spcBef>
                  <a:spcPct val="0"/>
                </a:spcBef>
              </a:pPr>
              <a:t>190</a:t>
            </a:fld>
            <a:endParaRPr lang="en-US" altLang="zh-CN"/>
          </a:p>
        </p:txBody>
      </p:sp>
      <p:sp>
        <p:nvSpPr>
          <p:cNvPr id="261123" name="Rectangle 2">
            <a:extLst>
              <a:ext uri="{FF2B5EF4-FFF2-40B4-BE49-F238E27FC236}">
                <a16:creationId xmlns:a16="http://schemas.microsoft.com/office/drawing/2014/main" id="{F753F9D1-9FC5-4CE3-A57F-1BD30E2AEC65}"/>
              </a:ext>
            </a:extLst>
          </p:cNvPr>
          <p:cNvSpPr>
            <a:spLocks noGrp="1" noRot="1" noChangeAspect="1" noChangeArrowheads="1" noTextEdit="1"/>
          </p:cNvSpPr>
          <p:nvPr>
            <p:ph type="sldImg"/>
          </p:nvPr>
        </p:nvSpPr>
        <p:spPr>
          <a:ln/>
        </p:spPr>
      </p:sp>
      <p:sp>
        <p:nvSpPr>
          <p:cNvPr id="261124" name="Rectangle 3">
            <a:extLst>
              <a:ext uri="{FF2B5EF4-FFF2-40B4-BE49-F238E27FC236}">
                <a16:creationId xmlns:a16="http://schemas.microsoft.com/office/drawing/2014/main" id="{A22A99AB-675E-41A1-A7BA-09E0C0A42C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23779397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193</a:t>
            </a:fld>
            <a:endParaRPr lang="zh-CN" altLang="en-US"/>
          </a:p>
        </p:txBody>
      </p:sp>
    </p:spTree>
    <p:extLst>
      <p:ext uri="{BB962C8B-B14F-4D97-AF65-F5344CB8AC3E}">
        <p14:creationId xmlns:p14="http://schemas.microsoft.com/office/powerpoint/2010/main" val="1821190705"/>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194</a:t>
            </a:fld>
            <a:endParaRPr lang="zh-CN" altLang="en-US"/>
          </a:p>
        </p:txBody>
      </p:sp>
    </p:spTree>
    <p:extLst>
      <p:ext uri="{BB962C8B-B14F-4D97-AF65-F5344CB8AC3E}">
        <p14:creationId xmlns:p14="http://schemas.microsoft.com/office/powerpoint/2010/main" val="1620989716"/>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195</a:t>
            </a:fld>
            <a:endParaRPr lang="zh-CN" altLang="en-US"/>
          </a:p>
        </p:txBody>
      </p:sp>
    </p:spTree>
    <p:extLst>
      <p:ext uri="{BB962C8B-B14F-4D97-AF65-F5344CB8AC3E}">
        <p14:creationId xmlns:p14="http://schemas.microsoft.com/office/powerpoint/2010/main" val="230129918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a:extLst>
              <a:ext uri="{FF2B5EF4-FFF2-40B4-BE49-F238E27FC236}">
                <a16:creationId xmlns:a16="http://schemas.microsoft.com/office/drawing/2014/main" id="{B6FABC66-A804-4351-B6C2-6669D44FF8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1FFCB79-A0BC-463E-95FE-77747BA2937B}" type="slidenum">
              <a:rPr lang="zh-CN" altLang="en-US"/>
              <a:pPr>
                <a:spcBef>
                  <a:spcPct val="0"/>
                </a:spcBef>
              </a:pPr>
              <a:t>197</a:t>
            </a:fld>
            <a:endParaRPr lang="en-US" altLang="zh-CN"/>
          </a:p>
        </p:txBody>
      </p:sp>
      <p:sp>
        <p:nvSpPr>
          <p:cNvPr id="268291" name="Rectangle 2">
            <a:extLst>
              <a:ext uri="{FF2B5EF4-FFF2-40B4-BE49-F238E27FC236}">
                <a16:creationId xmlns:a16="http://schemas.microsoft.com/office/drawing/2014/main" id="{EA4697B5-F0CE-4A60-AD47-D7476A7B2AC1}"/>
              </a:ext>
            </a:extLst>
          </p:cNvPr>
          <p:cNvSpPr>
            <a:spLocks noGrp="1" noRot="1" noChangeAspect="1" noChangeArrowheads="1" noTextEdit="1"/>
          </p:cNvSpPr>
          <p:nvPr>
            <p:ph type="sldImg"/>
          </p:nvPr>
        </p:nvSpPr>
        <p:spPr>
          <a:ln/>
        </p:spPr>
      </p:sp>
      <p:sp>
        <p:nvSpPr>
          <p:cNvPr id="268292" name="Rectangle 3">
            <a:extLst>
              <a:ext uri="{FF2B5EF4-FFF2-40B4-BE49-F238E27FC236}">
                <a16:creationId xmlns:a16="http://schemas.microsoft.com/office/drawing/2014/main" id="{D38B3CA7-456D-4763-A358-7E6829A328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extLst>
      <p:ext uri="{BB962C8B-B14F-4D97-AF65-F5344CB8AC3E}">
        <p14:creationId xmlns:p14="http://schemas.microsoft.com/office/powerpoint/2010/main" val="318676703"/>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201</a:t>
            </a:fld>
            <a:endParaRPr lang="zh-CN" altLang="en-US"/>
          </a:p>
        </p:txBody>
      </p:sp>
    </p:spTree>
    <p:extLst>
      <p:ext uri="{BB962C8B-B14F-4D97-AF65-F5344CB8AC3E}">
        <p14:creationId xmlns:p14="http://schemas.microsoft.com/office/powerpoint/2010/main" val="1686134884"/>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202</a:t>
            </a:fld>
            <a:endParaRPr lang="zh-CN" altLang="en-US"/>
          </a:p>
        </p:txBody>
      </p:sp>
    </p:spTree>
    <p:extLst>
      <p:ext uri="{BB962C8B-B14F-4D97-AF65-F5344CB8AC3E}">
        <p14:creationId xmlns:p14="http://schemas.microsoft.com/office/powerpoint/2010/main" val="304800647"/>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203</a:t>
            </a:fld>
            <a:endParaRPr lang="zh-CN" altLang="en-US"/>
          </a:p>
        </p:txBody>
      </p:sp>
    </p:spTree>
    <p:extLst>
      <p:ext uri="{BB962C8B-B14F-4D97-AF65-F5344CB8AC3E}">
        <p14:creationId xmlns:p14="http://schemas.microsoft.com/office/powerpoint/2010/main" val="2033069066"/>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206</a:t>
            </a:fld>
            <a:endParaRPr lang="zh-CN" altLang="en-US"/>
          </a:p>
        </p:txBody>
      </p:sp>
    </p:spTree>
    <p:extLst>
      <p:ext uri="{BB962C8B-B14F-4D97-AF65-F5344CB8AC3E}">
        <p14:creationId xmlns:p14="http://schemas.microsoft.com/office/powerpoint/2010/main" val="2644077909"/>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208</a:t>
            </a:fld>
            <a:endParaRPr lang="zh-CN" altLang="en-US"/>
          </a:p>
        </p:txBody>
      </p:sp>
    </p:spTree>
    <p:extLst>
      <p:ext uri="{BB962C8B-B14F-4D97-AF65-F5344CB8AC3E}">
        <p14:creationId xmlns:p14="http://schemas.microsoft.com/office/powerpoint/2010/main" val="228977255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209</a:t>
            </a:fld>
            <a:endParaRPr lang="zh-CN" altLang="en-US"/>
          </a:p>
        </p:txBody>
      </p:sp>
    </p:spTree>
    <p:extLst>
      <p:ext uri="{BB962C8B-B14F-4D97-AF65-F5344CB8AC3E}">
        <p14:creationId xmlns:p14="http://schemas.microsoft.com/office/powerpoint/2010/main" val="3275063842"/>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210</a:t>
            </a:fld>
            <a:endParaRPr lang="zh-CN" altLang="en-US"/>
          </a:p>
        </p:txBody>
      </p:sp>
    </p:spTree>
    <p:extLst>
      <p:ext uri="{BB962C8B-B14F-4D97-AF65-F5344CB8AC3E}">
        <p14:creationId xmlns:p14="http://schemas.microsoft.com/office/powerpoint/2010/main" val="1397657703"/>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a:extLst>
              <a:ext uri="{FF2B5EF4-FFF2-40B4-BE49-F238E27FC236}">
                <a16:creationId xmlns:a16="http://schemas.microsoft.com/office/drawing/2014/main" id="{FD2C5F41-1734-4E5B-B7B3-33E265966E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5B19057-B6CF-4583-8D9B-89E637F567EC}" type="slidenum">
              <a:rPr lang="zh-CN" altLang="en-US"/>
              <a:pPr>
                <a:spcBef>
                  <a:spcPct val="0"/>
                </a:spcBef>
              </a:pPr>
              <a:t>211</a:t>
            </a:fld>
            <a:endParaRPr lang="en-US" altLang="zh-CN"/>
          </a:p>
        </p:txBody>
      </p:sp>
      <p:sp>
        <p:nvSpPr>
          <p:cNvPr id="282627" name="Rectangle 2">
            <a:extLst>
              <a:ext uri="{FF2B5EF4-FFF2-40B4-BE49-F238E27FC236}">
                <a16:creationId xmlns:a16="http://schemas.microsoft.com/office/drawing/2014/main" id="{756B7950-E566-4987-B5BA-724CA269CBD5}"/>
              </a:ext>
            </a:extLst>
          </p:cNvPr>
          <p:cNvSpPr>
            <a:spLocks noGrp="1" noRot="1" noChangeAspect="1" noChangeArrowheads="1" noTextEdit="1"/>
          </p:cNvSpPr>
          <p:nvPr>
            <p:ph type="sldImg"/>
          </p:nvPr>
        </p:nvSpPr>
        <p:spPr>
          <a:ln/>
        </p:spPr>
      </p:sp>
      <p:sp>
        <p:nvSpPr>
          <p:cNvPr id="282628" name="Rectangle 3">
            <a:extLst>
              <a:ext uri="{FF2B5EF4-FFF2-40B4-BE49-F238E27FC236}">
                <a16:creationId xmlns:a16="http://schemas.microsoft.com/office/drawing/2014/main" id="{72233D74-4396-473A-AC0C-FE2C677E4F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eaLnBrk="1" hangingPunct="1"/>
            <a:endParaRPr lang="zh-CN" altLang="zh-CN" dirty="0"/>
          </a:p>
        </p:txBody>
      </p:sp>
    </p:spTree>
    <p:extLst>
      <p:ext uri="{BB962C8B-B14F-4D97-AF65-F5344CB8AC3E}">
        <p14:creationId xmlns:p14="http://schemas.microsoft.com/office/powerpoint/2010/main" val="159573737"/>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212</a:t>
            </a:fld>
            <a:endParaRPr lang="zh-CN" altLang="en-US"/>
          </a:p>
        </p:txBody>
      </p:sp>
    </p:spTree>
    <p:extLst>
      <p:ext uri="{BB962C8B-B14F-4D97-AF65-F5344CB8AC3E}">
        <p14:creationId xmlns:p14="http://schemas.microsoft.com/office/powerpoint/2010/main" val="3977655154"/>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7">
            <a:extLst>
              <a:ext uri="{FF2B5EF4-FFF2-40B4-BE49-F238E27FC236}">
                <a16:creationId xmlns:a16="http://schemas.microsoft.com/office/drawing/2014/main" id="{78FE1450-6AE0-4CC8-9732-0B015E3CF4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B8F68C8-21B9-451C-8074-52C6BF81D901}" type="slidenum">
              <a:rPr lang="zh-CN" altLang="en-US"/>
              <a:pPr>
                <a:spcBef>
                  <a:spcPct val="0"/>
                </a:spcBef>
              </a:pPr>
              <a:t>213</a:t>
            </a:fld>
            <a:endParaRPr lang="en-US" altLang="zh-CN"/>
          </a:p>
        </p:txBody>
      </p:sp>
      <p:sp>
        <p:nvSpPr>
          <p:cNvPr id="284675" name="Rectangle 2">
            <a:extLst>
              <a:ext uri="{FF2B5EF4-FFF2-40B4-BE49-F238E27FC236}">
                <a16:creationId xmlns:a16="http://schemas.microsoft.com/office/drawing/2014/main" id="{24D96723-4143-44BD-9A69-0B0AF1D8FAF7}"/>
              </a:ext>
            </a:extLst>
          </p:cNvPr>
          <p:cNvSpPr>
            <a:spLocks noGrp="1" noRot="1" noChangeAspect="1" noChangeArrowheads="1" noTextEdit="1"/>
          </p:cNvSpPr>
          <p:nvPr>
            <p:ph type="sldImg"/>
          </p:nvPr>
        </p:nvSpPr>
        <p:spPr>
          <a:ln/>
        </p:spPr>
      </p:sp>
      <p:sp>
        <p:nvSpPr>
          <p:cNvPr id="284676" name="Rectangle 3">
            <a:extLst>
              <a:ext uri="{FF2B5EF4-FFF2-40B4-BE49-F238E27FC236}">
                <a16:creationId xmlns:a16="http://schemas.microsoft.com/office/drawing/2014/main" id="{BFE438FA-C697-43EB-BE07-9E6A926441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866013883"/>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7">
            <a:extLst>
              <a:ext uri="{FF2B5EF4-FFF2-40B4-BE49-F238E27FC236}">
                <a16:creationId xmlns:a16="http://schemas.microsoft.com/office/drawing/2014/main" id="{181E6BBC-919E-417E-BEB5-F5F143B91B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3B45491-5DCF-488D-9BA6-91D31D9D09D6}" type="slidenum">
              <a:rPr lang="zh-CN" altLang="en-US"/>
              <a:pPr>
                <a:spcBef>
                  <a:spcPct val="0"/>
                </a:spcBef>
              </a:pPr>
              <a:t>214</a:t>
            </a:fld>
            <a:endParaRPr lang="en-US" altLang="zh-CN"/>
          </a:p>
        </p:txBody>
      </p:sp>
      <p:sp>
        <p:nvSpPr>
          <p:cNvPr id="286723" name="Rectangle 2">
            <a:extLst>
              <a:ext uri="{FF2B5EF4-FFF2-40B4-BE49-F238E27FC236}">
                <a16:creationId xmlns:a16="http://schemas.microsoft.com/office/drawing/2014/main" id="{BB65407A-25CD-4732-87FE-E9DCCBE948EB}"/>
              </a:ext>
            </a:extLst>
          </p:cNvPr>
          <p:cNvSpPr>
            <a:spLocks noGrp="1" noRot="1" noChangeAspect="1" noChangeArrowheads="1" noTextEdit="1"/>
          </p:cNvSpPr>
          <p:nvPr>
            <p:ph type="sldImg"/>
          </p:nvPr>
        </p:nvSpPr>
        <p:spPr>
          <a:ln/>
        </p:spPr>
      </p:sp>
      <p:sp>
        <p:nvSpPr>
          <p:cNvPr id="286724" name="Rectangle 3">
            <a:extLst>
              <a:ext uri="{FF2B5EF4-FFF2-40B4-BE49-F238E27FC236}">
                <a16:creationId xmlns:a16="http://schemas.microsoft.com/office/drawing/2014/main" id="{BB12D719-8582-47FB-BB61-DFFA1281F6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4005661983"/>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7">
            <a:extLst>
              <a:ext uri="{FF2B5EF4-FFF2-40B4-BE49-F238E27FC236}">
                <a16:creationId xmlns:a16="http://schemas.microsoft.com/office/drawing/2014/main" id="{6716A24D-3568-4AD6-936E-439D1AE4F6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66BE61F-E650-4225-8C01-774C2BC9E9C0}" type="slidenum">
              <a:rPr lang="zh-CN" altLang="en-US"/>
              <a:pPr>
                <a:spcBef>
                  <a:spcPct val="0"/>
                </a:spcBef>
              </a:pPr>
              <a:t>216</a:t>
            </a:fld>
            <a:endParaRPr lang="en-US" altLang="zh-CN"/>
          </a:p>
        </p:txBody>
      </p:sp>
      <p:sp>
        <p:nvSpPr>
          <p:cNvPr id="289795" name="Rectangle 2">
            <a:extLst>
              <a:ext uri="{FF2B5EF4-FFF2-40B4-BE49-F238E27FC236}">
                <a16:creationId xmlns:a16="http://schemas.microsoft.com/office/drawing/2014/main" id="{EE5D6871-29FA-4B62-81E9-9A26AB606A0B}"/>
              </a:ext>
            </a:extLst>
          </p:cNvPr>
          <p:cNvSpPr>
            <a:spLocks noGrp="1" noRot="1" noChangeAspect="1" noChangeArrowheads="1" noTextEdit="1"/>
          </p:cNvSpPr>
          <p:nvPr>
            <p:ph type="sldImg"/>
          </p:nvPr>
        </p:nvSpPr>
        <p:spPr>
          <a:ln/>
        </p:spPr>
      </p:sp>
      <p:sp>
        <p:nvSpPr>
          <p:cNvPr id="289796" name="Rectangle 3">
            <a:extLst>
              <a:ext uri="{FF2B5EF4-FFF2-40B4-BE49-F238E27FC236}">
                <a16:creationId xmlns:a16="http://schemas.microsoft.com/office/drawing/2014/main" id="{08CD643B-5BDD-4B3A-9778-6EBF38FDD6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4146203406"/>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7">
            <a:extLst>
              <a:ext uri="{FF2B5EF4-FFF2-40B4-BE49-F238E27FC236}">
                <a16:creationId xmlns:a16="http://schemas.microsoft.com/office/drawing/2014/main" id="{AEFEFFE7-6FFF-479D-90D6-290FAD82BA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AED9991-2A02-44DA-BA9D-B839F42725B5}" type="slidenum">
              <a:rPr lang="zh-CN" altLang="en-US"/>
              <a:pPr>
                <a:spcBef>
                  <a:spcPct val="0"/>
                </a:spcBef>
              </a:pPr>
              <a:t>217</a:t>
            </a:fld>
            <a:endParaRPr lang="en-US" altLang="zh-CN"/>
          </a:p>
        </p:txBody>
      </p:sp>
      <p:sp>
        <p:nvSpPr>
          <p:cNvPr id="291843" name="Rectangle 2">
            <a:extLst>
              <a:ext uri="{FF2B5EF4-FFF2-40B4-BE49-F238E27FC236}">
                <a16:creationId xmlns:a16="http://schemas.microsoft.com/office/drawing/2014/main" id="{3CAF5124-DF94-4952-AA71-D1B6679081B6}"/>
              </a:ext>
            </a:extLst>
          </p:cNvPr>
          <p:cNvSpPr>
            <a:spLocks noGrp="1" noRot="1" noChangeAspect="1" noChangeArrowheads="1" noTextEdit="1"/>
          </p:cNvSpPr>
          <p:nvPr>
            <p:ph type="sldImg"/>
          </p:nvPr>
        </p:nvSpPr>
        <p:spPr>
          <a:ln/>
        </p:spPr>
      </p:sp>
      <p:sp>
        <p:nvSpPr>
          <p:cNvPr id="291844" name="Rectangle 3">
            <a:extLst>
              <a:ext uri="{FF2B5EF4-FFF2-40B4-BE49-F238E27FC236}">
                <a16:creationId xmlns:a16="http://schemas.microsoft.com/office/drawing/2014/main" id="{5D61741A-EC3E-4643-91A3-C1AF99D3C1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4049872147"/>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218</a:t>
            </a:fld>
            <a:endParaRPr lang="zh-CN" altLang="en-US"/>
          </a:p>
        </p:txBody>
      </p:sp>
    </p:spTree>
    <p:extLst>
      <p:ext uri="{BB962C8B-B14F-4D97-AF65-F5344CB8AC3E}">
        <p14:creationId xmlns:p14="http://schemas.microsoft.com/office/powerpoint/2010/main" val="3578566733"/>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219</a:t>
            </a:fld>
            <a:endParaRPr lang="zh-CN" altLang="en-US"/>
          </a:p>
        </p:txBody>
      </p:sp>
    </p:spTree>
    <p:extLst>
      <p:ext uri="{BB962C8B-B14F-4D97-AF65-F5344CB8AC3E}">
        <p14:creationId xmlns:p14="http://schemas.microsoft.com/office/powerpoint/2010/main" val="79616714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221</a:t>
            </a:fld>
            <a:endParaRPr lang="zh-CN" altLang="en-US"/>
          </a:p>
        </p:txBody>
      </p:sp>
    </p:spTree>
    <p:extLst>
      <p:ext uri="{BB962C8B-B14F-4D97-AF65-F5344CB8AC3E}">
        <p14:creationId xmlns:p14="http://schemas.microsoft.com/office/powerpoint/2010/main" val="4238979000"/>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222</a:t>
            </a:fld>
            <a:endParaRPr lang="zh-CN" altLang="en-US"/>
          </a:p>
        </p:txBody>
      </p:sp>
    </p:spTree>
    <p:extLst>
      <p:ext uri="{BB962C8B-B14F-4D97-AF65-F5344CB8AC3E}">
        <p14:creationId xmlns:p14="http://schemas.microsoft.com/office/powerpoint/2010/main" val="2346189538"/>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7">
            <a:extLst>
              <a:ext uri="{FF2B5EF4-FFF2-40B4-BE49-F238E27FC236}">
                <a16:creationId xmlns:a16="http://schemas.microsoft.com/office/drawing/2014/main" id="{FA7F584E-9396-4237-933B-CF62820685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9A7D652-C6E5-468D-8786-C74660B30D10}" type="slidenum">
              <a:rPr lang="zh-CN" altLang="en-US"/>
              <a:pPr>
                <a:spcBef>
                  <a:spcPct val="0"/>
                </a:spcBef>
              </a:pPr>
              <a:t>223</a:t>
            </a:fld>
            <a:endParaRPr lang="en-US" altLang="zh-CN"/>
          </a:p>
        </p:txBody>
      </p:sp>
      <p:sp>
        <p:nvSpPr>
          <p:cNvPr id="297987" name="Rectangle 2">
            <a:extLst>
              <a:ext uri="{FF2B5EF4-FFF2-40B4-BE49-F238E27FC236}">
                <a16:creationId xmlns:a16="http://schemas.microsoft.com/office/drawing/2014/main" id="{8E657EFD-0787-4FF1-9052-316016C0185B}"/>
              </a:ext>
            </a:extLst>
          </p:cNvPr>
          <p:cNvSpPr>
            <a:spLocks noGrp="1" noRot="1" noChangeAspect="1" noChangeArrowheads="1" noTextEdit="1"/>
          </p:cNvSpPr>
          <p:nvPr>
            <p:ph type="sldImg"/>
          </p:nvPr>
        </p:nvSpPr>
        <p:spPr>
          <a:ln/>
        </p:spPr>
      </p:sp>
      <p:sp>
        <p:nvSpPr>
          <p:cNvPr id="297988" name="Rectangle 3">
            <a:extLst>
              <a:ext uri="{FF2B5EF4-FFF2-40B4-BE49-F238E27FC236}">
                <a16:creationId xmlns:a16="http://schemas.microsoft.com/office/drawing/2014/main" id="{DA2BBCE3-3BAC-4116-9890-E424BFA5E2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1482629758"/>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224</a:t>
            </a:fld>
            <a:endParaRPr lang="zh-CN" altLang="en-US"/>
          </a:p>
        </p:txBody>
      </p:sp>
    </p:spTree>
    <p:extLst>
      <p:ext uri="{BB962C8B-B14F-4D97-AF65-F5344CB8AC3E}">
        <p14:creationId xmlns:p14="http://schemas.microsoft.com/office/powerpoint/2010/main" val="1922627020"/>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225</a:t>
            </a:fld>
            <a:endParaRPr lang="zh-CN" altLang="en-US"/>
          </a:p>
        </p:txBody>
      </p:sp>
    </p:spTree>
    <p:extLst>
      <p:ext uri="{BB962C8B-B14F-4D97-AF65-F5344CB8AC3E}">
        <p14:creationId xmlns:p14="http://schemas.microsoft.com/office/powerpoint/2010/main" val="1033697915"/>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226</a:t>
            </a:fld>
            <a:endParaRPr lang="zh-CN" altLang="en-US"/>
          </a:p>
        </p:txBody>
      </p:sp>
    </p:spTree>
    <p:extLst>
      <p:ext uri="{BB962C8B-B14F-4D97-AF65-F5344CB8AC3E}">
        <p14:creationId xmlns:p14="http://schemas.microsoft.com/office/powerpoint/2010/main" val="4262439649"/>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7">
            <a:extLst>
              <a:ext uri="{FF2B5EF4-FFF2-40B4-BE49-F238E27FC236}">
                <a16:creationId xmlns:a16="http://schemas.microsoft.com/office/drawing/2014/main" id="{B17FB16A-E8A3-4F36-A469-8CF4737544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16C29D8-7953-48C3-8EF8-BB389D158A69}" type="slidenum">
              <a:rPr lang="zh-CN" altLang="en-US"/>
              <a:pPr>
                <a:spcBef>
                  <a:spcPct val="0"/>
                </a:spcBef>
              </a:pPr>
              <a:t>227</a:t>
            </a:fld>
            <a:endParaRPr lang="en-US" altLang="zh-CN"/>
          </a:p>
        </p:txBody>
      </p:sp>
      <p:sp>
        <p:nvSpPr>
          <p:cNvPr id="303107" name="Rectangle 2">
            <a:extLst>
              <a:ext uri="{FF2B5EF4-FFF2-40B4-BE49-F238E27FC236}">
                <a16:creationId xmlns:a16="http://schemas.microsoft.com/office/drawing/2014/main" id="{309AA0A9-5DC9-465C-89D6-76F4F0A6D51D}"/>
              </a:ext>
            </a:extLst>
          </p:cNvPr>
          <p:cNvSpPr>
            <a:spLocks noGrp="1" noRot="1" noChangeAspect="1" noChangeArrowheads="1" noTextEdit="1"/>
          </p:cNvSpPr>
          <p:nvPr>
            <p:ph type="sldImg"/>
          </p:nvPr>
        </p:nvSpPr>
        <p:spPr>
          <a:ln/>
        </p:spPr>
      </p:sp>
      <p:sp>
        <p:nvSpPr>
          <p:cNvPr id="303108" name="Rectangle 3">
            <a:extLst>
              <a:ext uri="{FF2B5EF4-FFF2-40B4-BE49-F238E27FC236}">
                <a16:creationId xmlns:a16="http://schemas.microsoft.com/office/drawing/2014/main" id="{2A8AC118-F497-463A-9F5F-CD26B4623F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extLst>
      <p:ext uri="{BB962C8B-B14F-4D97-AF65-F5344CB8AC3E}">
        <p14:creationId xmlns:p14="http://schemas.microsoft.com/office/powerpoint/2010/main" val="4022889026"/>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a:extLst>
              <a:ext uri="{FF2B5EF4-FFF2-40B4-BE49-F238E27FC236}">
                <a16:creationId xmlns:a16="http://schemas.microsoft.com/office/drawing/2014/main" id="{4A329FF2-9E86-4663-965F-05AB264404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36924D7-4B86-4FF8-ABFE-3A4E19A15777}" type="slidenum">
              <a:rPr lang="zh-CN" altLang="en-US"/>
              <a:pPr>
                <a:spcBef>
                  <a:spcPct val="0"/>
                </a:spcBef>
              </a:pPr>
              <a:t>228</a:t>
            </a:fld>
            <a:endParaRPr lang="en-US" altLang="zh-CN"/>
          </a:p>
        </p:txBody>
      </p:sp>
      <p:sp>
        <p:nvSpPr>
          <p:cNvPr id="318467" name="Rectangle 2">
            <a:extLst>
              <a:ext uri="{FF2B5EF4-FFF2-40B4-BE49-F238E27FC236}">
                <a16:creationId xmlns:a16="http://schemas.microsoft.com/office/drawing/2014/main" id="{C1282394-4BCB-4985-8A5A-45687715B579}"/>
              </a:ext>
            </a:extLst>
          </p:cNvPr>
          <p:cNvSpPr>
            <a:spLocks noGrp="1" noRot="1" noChangeAspect="1" noChangeArrowheads="1" noTextEdit="1"/>
          </p:cNvSpPr>
          <p:nvPr>
            <p:ph type="sldImg"/>
          </p:nvPr>
        </p:nvSpPr>
        <p:spPr>
          <a:ln/>
        </p:spPr>
      </p:sp>
      <p:sp>
        <p:nvSpPr>
          <p:cNvPr id="318468" name="Rectangle 3">
            <a:extLst>
              <a:ext uri="{FF2B5EF4-FFF2-40B4-BE49-F238E27FC236}">
                <a16:creationId xmlns:a16="http://schemas.microsoft.com/office/drawing/2014/main" id="{6258E4DE-BF4F-4580-BC82-FB395B0EFB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eaLnBrk="1" hangingPunct="1"/>
            <a:endParaRPr lang="zh-CN" altLang="zh-CN" dirty="0"/>
          </a:p>
        </p:txBody>
      </p:sp>
    </p:spTree>
    <p:extLst>
      <p:ext uri="{BB962C8B-B14F-4D97-AF65-F5344CB8AC3E}">
        <p14:creationId xmlns:p14="http://schemas.microsoft.com/office/powerpoint/2010/main" val="3042141518"/>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229</a:t>
            </a:fld>
            <a:endParaRPr lang="zh-CN" altLang="en-US"/>
          </a:p>
        </p:txBody>
      </p:sp>
    </p:spTree>
    <p:extLst>
      <p:ext uri="{BB962C8B-B14F-4D97-AF65-F5344CB8AC3E}">
        <p14:creationId xmlns:p14="http://schemas.microsoft.com/office/powerpoint/2010/main" val="1467773867"/>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230</a:t>
            </a:fld>
            <a:endParaRPr lang="zh-CN" altLang="en-US"/>
          </a:p>
        </p:txBody>
      </p:sp>
    </p:spTree>
    <p:extLst>
      <p:ext uri="{BB962C8B-B14F-4D97-AF65-F5344CB8AC3E}">
        <p14:creationId xmlns:p14="http://schemas.microsoft.com/office/powerpoint/2010/main" val="3383603114"/>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231</a:t>
            </a:fld>
            <a:endParaRPr lang="zh-CN" altLang="en-US"/>
          </a:p>
        </p:txBody>
      </p:sp>
    </p:spTree>
    <p:extLst>
      <p:ext uri="{BB962C8B-B14F-4D97-AF65-F5344CB8AC3E}">
        <p14:creationId xmlns:p14="http://schemas.microsoft.com/office/powerpoint/2010/main" val="3829488795"/>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232</a:t>
            </a:fld>
            <a:endParaRPr lang="zh-CN" altLang="en-US"/>
          </a:p>
        </p:txBody>
      </p:sp>
    </p:spTree>
    <p:extLst>
      <p:ext uri="{BB962C8B-B14F-4D97-AF65-F5344CB8AC3E}">
        <p14:creationId xmlns:p14="http://schemas.microsoft.com/office/powerpoint/2010/main" val="2837087163"/>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233</a:t>
            </a:fld>
            <a:endParaRPr lang="zh-CN" altLang="en-US"/>
          </a:p>
        </p:txBody>
      </p:sp>
    </p:spTree>
    <p:extLst>
      <p:ext uri="{BB962C8B-B14F-4D97-AF65-F5344CB8AC3E}">
        <p14:creationId xmlns:p14="http://schemas.microsoft.com/office/powerpoint/2010/main" val="3654706486"/>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a:extLst>
              <a:ext uri="{FF2B5EF4-FFF2-40B4-BE49-F238E27FC236}">
                <a16:creationId xmlns:a16="http://schemas.microsoft.com/office/drawing/2014/main" id="{0B334EA3-34D8-4176-A5C2-FCA2BF6976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7B2ABE0-27FF-4805-A328-93198CD60407}" type="slidenum">
              <a:rPr lang="zh-CN" altLang="en-US"/>
              <a:pPr>
                <a:spcBef>
                  <a:spcPct val="0"/>
                </a:spcBef>
              </a:pPr>
              <a:t>235</a:t>
            </a:fld>
            <a:endParaRPr lang="en-US" altLang="zh-CN"/>
          </a:p>
        </p:txBody>
      </p:sp>
      <p:sp>
        <p:nvSpPr>
          <p:cNvPr id="310275" name="Rectangle 2">
            <a:extLst>
              <a:ext uri="{FF2B5EF4-FFF2-40B4-BE49-F238E27FC236}">
                <a16:creationId xmlns:a16="http://schemas.microsoft.com/office/drawing/2014/main" id="{C3DC2FD2-4D6E-4677-9906-EF7BE472CCD8}"/>
              </a:ext>
            </a:extLst>
          </p:cNvPr>
          <p:cNvSpPr>
            <a:spLocks noGrp="1" noRot="1" noChangeAspect="1" noChangeArrowheads="1" noTextEdit="1"/>
          </p:cNvSpPr>
          <p:nvPr>
            <p:ph type="sldImg"/>
          </p:nvPr>
        </p:nvSpPr>
        <p:spPr>
          <a:ln/>
        </p:spPr>
      </p:sp>
      <p:sp>
        <p:nvSpPr>
          <p:cNvPr id="310276" name="Rectangle 3">
            <a:extLst>
              <a:ext uri="{FF2B5EF4-FFF2-40B4-BE49-F238E27FC236}">
                <a16:creationId xmlns:a16="http://schemas.microsoft.com/office/drawing/2014/main" id="{EEE6F79F-9CAA-4957-BCFB-B750FE61E6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573240570"/>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236</a:t>
            </a:fld>
            <a:endParaRPr lang="zh-CN" altLang="en-US"/>
          </a:p>
        </p:txBody>
      </p:sp>
    </p:spTree>
    <p:extLst>
      <p:ext uri="{BB962C8B-B14F-4D97-AF65-F5344CB8AC3E}">
        <p14:creationId xmlns:p14="http://schemas.microsoft.com/office/powerpoint/2010/main" val="3937690665"/>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a:extLst>
              <a:ext uri="{FF2B5EF4-FFF2-40B4-BE49-F238E27FC236}">
                <a16:creationId xmlns:a16="http://schemas.microsoft.com/office/drawing/2014/main" id="{25E7EE60-C4E8-4300-BD22-6508AE766A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F91DFEE-F9FF-49CD-B099-68AE056B7F0A}" type="slidenum">
              <a:rPr lang="zh-CN" altLang="en-US"/>
              <a:pPr>
                <a:spcBef>
                  <a:spcPct val="0"/>
                </a:spcBef>
              </a:pPr>
              <a:t>237</a:t>
            </a:fld>
            <a:endParaRPr lang="en-US" altLang="zh-CN"/>
          </a:p>
        </p:txBody>
      </p:sp>
      <p:sp>
        <p:nvSpPr>
          <p:cNvPr id="314371" name="Rectangle 2">
            <a:extLst>
              <a:ext uri="{FF2B5EF4-FFF2-40B4-BE49-F238E27FC236}">
                <a16:creationId xmlns:a16="http://schemas.microsoft.com/office/drawing/2014/main" id="{08B1DBD7-9EF9-4219-8860-243016D5A5C9}"/>
              </a:ext>
            </a:extLst>
          </p:cNvPr>
          <p:cNvSpPr>
            <a:spLocks noGrp="1" noRot="1" noChangeAspect="1" noChangeArrowheads="1" noTextEdit="1"/>
          </p:cNvSpPr>
          <p:nvPr>
            <p:ph type="sldImg"/>
          </p:nvPr>
        </p:nvSpPr>
        <p:spPr>
          <a:ln/>
        </p:spPr>
      </p:sp>
      <p:sp>
        <p:nvSpPr>
          <p:cNvPr id="314372" name="Rectangle 3">
            <a:extLst>
              <a:ext uri="{FF2B5EF4-FFF2-40B4-BE49-F238E27FC236}">
                <a16:creationId xmlns:a16="http://schemas.microsoft.com/office/drawing/2014/main" id="{B0DDFB41-C268-4326-B9CA-CAE34383F4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extLst>
      <p:ext uri="{BB962C8B-B14F-4D97-AF65-F5344CB8AC3E}">
        <p14:creationId xmlns:p14="http://schemas.microsoft.com/office/powerpoint/2010/main" val="2493865054"/>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7">
            <a:extLst>
              <a:ext uri="{FF2B5EF4-FFF2-40B4-BE49-F238E27FC236}">
                <a16:creationId xmlns:a16="http://schemas.microsoft.com/office/drawing/2014/main" id="{9BBE59CE-0732-4094-B02E-E6856516B1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F1E2E2B-1B8E-4B89-A479-4FDB41669244}" type="slidenum">
              <a:rPr lang="zh-CN" altLang="en-US"/>
              <a:pPr>
                <a:spcBef>
                  <a:spcPct val="0"/>
                </a:spcBef>
              </a:pPr>
              <a:t>238</a:t>
            </a:fld>
            <a:endParaRPr lang="en-US" altLang="zh-CN"/>
          </a:p>
        </p:txBody>
      </p:sp>
      <p:sp>
        <p:nvSpPr>
          <p:cNvPr id="316419" name="Rectangle 2">
            <a:extLst>
              <a:ext uri="{FF2B5EF4-FFF2-40B4-BE49-F238E27FC236}">
                <a16:creationId xmlns:a16="http://schemas.microsoft.com/office/drawing/2014/main" id="{E8553A1D-75F8-461C-BA21-A81AED272676}"/>
              </a:ext>
            </a:extLst>
          </p:cNvPr>
          <p:cNvSpPr>
            <a:spLocks noGrp="1" noRot="1" noChangeAspect="1" noChangeArrowheads="1" noTextEdit="1"/>
          </p:cNvSpPr>
          <p:nvPr>
            <p:ph type="sldImg"/>
          </p:nvPr>
        </p:nvSpPr>
        <p:spPr>
          <a:ln/>
        </p:spPr>
      </p:sp>
      <p:sp>
        <p:nvSpPr>
          <p:cNvPr id="316420" name="Rectangle 3">
            <a:extLst>
              <a:ext uri="{FF2B5EF4-FFF2-40B4-BE49-F238E27FC236}">
                <a16:creationId xmlns:a16="http://schemas.microsoft.com/office/drawing/2014/main" id="{6F824AB2-B81B-4877-B1A6-440B8D0598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extLst>
      <p:ext uri="{BB962C8B-B14F-4D97-AF65-F5344CB8AC3E}">
        <p14:creationId xmlns:p14="http://schemas.microsoft.com/office/powerpoint/2010/main" val="3081691866"/>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239</a:t>
            </a:fld>
            <a:endParaRPr lang="zh-CN" altLang="en-US"/>
          </a:p>
        </p:txBody>
      </p:sp>
    </p:spTree>
    <p:extLst>
      <p:ext uri="{BB962C8B-B14F-4D97-AF65-F5344CB8AC3E}">
        <p14:creationId xmlns:p14="http://schemas.microsoft.com/office/powerpoint/2010/main" val="513378263"/>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240</a:t>
            </a:fld>
            <a:endParaRPr lang="zh-CN" altLang="en-US"/>
          </a:p>
        </p:txBody>
      </p:sp>
    </p:spTree>
    <p:extLst>
      <p:ext uri="{BB962C8B-B14F-4D97-AF65-F5344CB8AC3E}">
        <p14:creationId xmlns:p14="http://schemas.microsoft.com/office/powerpoint/2010/main" val="1124021776"/>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241</a:t>
            </a:fld>
            <a:endParaRPr lang="zh-CN" altLang="en-US"/>
          </a:p>
        </p:txBody>
      </p:sp>
    </p:spTree>
    <p:extLst>
      <p:ext uri="{BB962C8B-B14F-4D97-AF65-F5344CB8AC3E}">
        <p14:creationId xmlns:p14="http://schemas.microsoft.com/office/powerpoint/2010/main" val="3821113372"/>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7">
            <a:extLst>
              <a:ext uri="{FF2B5EF4-FFF2-40B4-BE49-F238E27FC236}">
                <a16:creationId xmlns:a16="http://schemas.microsoft.com/office/drawing/2014/main" id="{BD1FED2A-8388-477B-B273-7C2A3B2E99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43D7EBB-DF9A-4B82-853D-9CF736FD1E15}" type="slidenum">
              <a:rPr lang="zh-CN" altLang="en-US"/>
              <a:pPr>
                <a:spcBef>
                  <a:spcPct val="0"/>
                </a:spcBef>
              </a:pPr>
              <a:t>242</a:t>
            </a:fld>
            <a:endParaRPr lang="en-US" altLang="zh-CN"/>
          </a:p>
        </p:txBody>
      </p:sp>
      <p:sp>
        <p:nvSpPr>
          <p:cNvPr id="325635" name="Rectangle 2">
            <a:extLst>
              <a:ext uri="{FF2B5EF4-FFF2-40B4-BE49-F238E27FC236}">
                <a16:creationId xmlns:a16="http://schemas.microsoft.com/office/drawing/2014/main" id="{BD7A7249-E1B9-4D45-A435-0D486F8B5AB6}"/>
              </a:ext>
            </a:extLst>
          </p:cNvPr>
          <p:cNvSpPr>
            <a:spLocks noGrp="1" noRot="1" noChangeAspect="1" noChangeArrowheads="1" noTextEdit="1"/>
          </p:cNvSpPr>
          <p:nvPr>
            <p:ph type="sldImg"/>
          </p:nvPr>
        </p:nvSpPr>
        <p:spPr>
          <a:ln/>
        </p:spPr>
      </p:sp>
      <p:sp>
        <p:nvSpPr>
          <p:cNvPr id="325636" name="Rectangle 3">
            <a:extLst>
              <a:ext uri="{FF2B5EF4-FFF2-40B4-BE49-F238E27FC236}">
                <a16:creationId xmlns:a16="http://schemas.microsoft.com/office/drawing/2014/main" id="{DA972E17-E65B-4552-809B-38D4F6EDFF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4001841969"/>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243</a:t>
            </a:fld>
            <a:endParaRPr lang="zh-CN" altLang="en-US"/>
          </a:p>
        </p:txBody>
      </p:sp>
    </p:spTree>
    <p:extLst>
      <p:ext uri="{BB962C8B-B14F-4D97-AF65-F5344CB8AC3E}">
        <p14:creationId xmlns:p14="http://schemas.microsoft.com/office/powerpoint/2010/main" val="1568833764"/>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244</a:t>
            </a:fld>
            <a:endParaRPr lang="zh-CN" altLang="en-US"/>
          </a:p>
        </p:txBody>
      </p:sp>
    </p:spTree>
    <p:extLst>
      <p:ext uri="{BB962C8B-B14F-4D97-AF65-F5344CB8AC3E}">
        <p14:creationId xmlns:p14="http://schemas.microsoft.com/office/powerpoint/2010/main" val="3357703254"/>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245</a:t>
            </a:fld>
            <a:endParaRPr lang="zh-CN" altLang="en-US"/>
          </a:p>
        </p:txBody>
      </p:sp>
    </p:spTree>
    <p:extLst>
      <p:ext uri="{BB962C8B-B14F-4D97-AF65-F5344CB8AC3E}">
        <p14:creationId xmlns:p14="http://schemas.microsoft.com/office/powerpoint/2010/main" val="2002197278"/>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246</a:t>
            </a:fld>
            <a:endParaRPr lang="zh-CN" altLang="en-US"/>
          </a:p>
        </p:txBody>
      </p:sp>
    </p:spTree>
    <p:extLst>
      <p:ext uri="{BB962C8B-B14F-4D97-AF65-F5344CB8AC3E}">
        <p14:creationId xmlns:p14="http://schemas.microsoft.com/office/powerpoint/2010/main" val="253837422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248</a:t>
            </a:fld>
            <a:endParaRPr lang="zh-CN" altLang="en-US"/>
          </a:p>
        </p:txBody>
      </p:sp>
    </p:spTree>
    <p:extLst>
      <p:ext uri="{BB962C8B-B14F-4D97-AF65-F5344CB8AC3E}">
        <p14:creationId xmlns:p14="http://schemas.microsoft.com/office/powerpoint/2010/main" val="2183687087"/>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249</a:t>
            </a:fld>
            <a:endParaRPr lang="zh-CN" altLang="en-US"/>
          </a:p>
        </p:txBody>
      </p:sp>
    </p:spTree>
    <p:extLst>
      <p:ext uri="{BB962C8B-B14F-4D97-AF65-F5344CB8AC3E}">
        <p14:creationId xmlns:p14="http://schemas.microsoft.com/office/powerpoint/2010/main" val="1070693119"/>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250</a:t>
            </a:fld>
            <a:endParaRPr lang="zh-CN" altLang="en-US"/>
          </a:p>
        </p:txBody>
      </p:sp>
    </p:spTree>
    <p:extLst>
      <p:ext uri="{BB962C8B-B14F-4D97-AF65-F5344CB8AC3E}">
        <p14:creationId xmlns:p14="http://schemas.microsoft.com/office/powerpoint/2010/main" val="2745441727"/>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251</a:t>
            </a:fld>
            <a:endParaRPr lang="zh-CN" altLang="en-US"/>
          </a:p>
        </p:txBody>
      </p:sp>
    </p:spTree>
    <p:extLst>
      <p:ext uri="{BB962C8B-B14F-4D97-AF65-F5344CB8AC3E}">
        <p14:creationId xmlns:p14="http://schemas.microsoft.com/office/powerpoint/2010/main" val="2500311638"/>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252</a:t>
            </a:fld>
            <a:endParaRPr lang="zh-CN" altLang="en-US"/>
          </a:p>
        </p:txBody>
      </p:sp>
    </p:spTree>
    <p:extLst>
      <p:ext uri="{BB962C8B-B14F-4D97-AF65-F5344CB8AC3E}">
        <p14:creationId xmlns:p14="http://schemas.microsoft.com/office/powerpoint/2010/main" val="3933622708"/>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253</a:t>
            </a:fld>
            <a:endParaRPr lang="zh-CN" altLang="en-US"/>
          </a:p>
        </p:txBody>
      </p:sp>
    </p:spTree>
    <p:extLst>
      <p:ext uri="{BB962C8B-B14F-4D97-AF65-F5344CB8AC3E}">
        <p14:creationId xmlns:p14="http://schemas.microsoft.com/office/powerpoint/2010/main" val="587045134"/>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256</a:t>
            </a:fld>
            <a:endParaRPr lang="zh-CN" altLang="en-US"/>
          </a:p>
        </p:txBody>
      </p:sp>
    </p:spTree>
    <p:extLst>
      <p:ext uri="{BB962C8B-B14F-4D97-AF65-F5344CB8AC3E}">
        <p14:creationId xmlns:p14="http://schemas.microsoft.com/office/powerpoint/2010/main" val="413231374"/>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257</a:t>
            </a:fld>
            <a:endParaRPr lang="zh-CN" altLang="en-US"/>
          </a:p>
        </p:txBody>
      </p:sp>
    </p:spTree>
    <p:extLst>
      <p:ext uri="{BB962C8B-B14F-4D97-AF65-F5344CB8AC3E}">
        <p14:creationId xmlns:p14="http://schemas.microsoft.com/office/powerpoint/2010/main" val="1117529739"/>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258</a:t>
            </a:fld>
            <a:endParaRPr lang="zh-CN" altLang="en-US"/>
          </a:p>
        </p:txBody>
      </p:sp>
    </p:spTree>
    <p:extLst>
      <p:ext uri="{BB962C8B-B14F-4D97-AF65-F5344CB8AC3E}">
        <p14:creationId xmlns:p14="http://schemas.microsoft.com/office/powerpoint/2010/main" val="429042417"/>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259</a:t>
            </a:fld>
            <a:endParaRPr lang="zh-CN" altLang="en-US"/>
          </a:p>
        </p:txBody>
      </p:sp>
    </p:spTree>
    <p:extLst>
      <p:ext uri="{BB962C8B-B14F-4D97-AF65-F5344CB8AC3E}">
        <p14:creationId xmlns:p14="http://schemas.microsoft.com/office/powerpoint/2010/main" val="2784781258"/>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260</a:t>
            </a:fld>
            <a:endParaRPr lang="zh-CN" altLang="en-US"/>
          </a:p>
        </p:txBody>
      </p:sp>
    </p:spTree>
    <p:extLst>
      <p:ext uri="{BB962C8B-B14F-4D97-AF65-F5344CB8AC3E}">
        <p14:creationId xmlns:p14="http://schemas.microsoft.com/office/powerpoint/2010/main" val="1234956367"/>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263</a:t>
            </a:fld>
            <a:endParaRPr lang="zh-CN" altLang="en-US"/>
          </a:p>
        </p:txBody>
      </p:sp>
    </p:spTree>
    <p:extLst>
      <p:ext uri="{BB962C8B-B14F-4D97-AF65-F5344CB8AC3E}">
        <p14:creationId xmlns:p14="http://schemas.microsoft.com/office/powerpoint/2010/main" val="3716328188"/>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a:extLst>
              <a:ext uri="{FF2B5EF4-FFF2-40B4-BE49-F238E27FC236}">
                <a16:creationId xmlns:a16="http://schemas.microsoft.com/office/drawing/2014/main" id="{F0A5AEFC-9C78-4172-9FEC-8A5B75472E0C}"/>
              </a:ext>
            </a:extLst>
          </p:cNvPr>
          <p:cNvSpPr>
            <a:spLocks noGrp="1" noRot="1" noChangeAspect="1" noChangeArrowheads="1" noTextEdit="1"/>
          </p:cNvSpPr>
          <p:nvPr>
            <p:ph type="sldImg"/>
          </p:nvPr>
        </p:nvSpPr>
        <p:spPr>
          <a:ln/>
        </p:spPr>
      </p:sp>
      <p:sp>
        <p:nvSpPr>
          <p:cNvPr id="351235" name="Rectangle 3">
            <a:extLst>
              <a:ext uri="{FF2B5EF4-FFF2-40B4-BE49-F238E27FC236}">
                <a16:creationId xmlns:a16="http://schemas.microsoft.com/office/drawing/2014/main" id="{EE6A4597-C94E-4DFF-8949-92F15D8B50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520921330"/>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271</a:t>
            </a:fld>
            <a:endParaRPr lang="zh-CN" altLang="en-US"/>
          </a:p>
        </p:txBody>
      </p:sp>
    </p:spTree>
    <p:extLst>
      <p:ext uri="{BB962C8B-B14F-4D97-AF65-F5344CB8AC3E}">
        <p14:creationId xmlns:p14="http://schemas.microsoft.com/office/powerpoint/2010/main" val="2014984458"/>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272</a:t>
            </a:fld>
            <a:endParaRPr lang="zh-CN" altLang="en-US"/>
          </a:p>
        </p:txBody>
      </p:sp>
    </p:spTree>
    <p:extLst>
      <p:ext uri="{BB962C8B-B14F-4D97-AF65-F5344CB8AC3E}">
        <p14:creationId xmlns:p14="http://schemas.microsoft.com/office/powerpoint/2010/main" val="4125440519"/>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289</a:t>
            </a:fld>
            <a:endParaRPr lang="zh-CN" altLang="en-US"/>
          </a:p>
        </p:txBody>
      </p:sp>
    </p:spTree>
    <p:extLst>
      <p:ext uri="{BB962C8B-B14F-4D97-AF65-F5344CB8AC3E}">
        <p14:creationId xmlns:p14="http://schemas.microsoft.com/office/powerpoint/2010/main" val="506384178"/>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300</a:t>
            </a:fld>
            <a:endParaRPr lang="zh-CN" altLang="en-US"/>
          </a:p>
        </p:txBody>
      </p:sp>
    </p:spTree>
    <p:extLst>
      <p:ext uri="{BB962C8B-B14F-4D97-AF65-F5344CB8AC3E}">
        <p14:creationId xmlns:p14="http://schemas.microsoft.com/office/powerpoint/2010/main" val="1347466539"/>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75DCFCBA-9A89-47F0-B775-36EA0D6D0AE3}"/>
              </a:ext>
            </a:extLst>
          </p:cNvPr>
          <p:cNvSpPr>
            <a:spLocks noGrp="1" noRot="1" noChangeAspect="1" noChangeArrowheads="1" noTextEdit="1"/>
          </p:cNvSpPr>
          <p:nvPr>
            <p:ph type="sldImg"/>
          </p:nvPr>
        </p:nvSpPr>
        <p:spPr>
          <a:xfrm>
            <a:off x="1144588" y="685800"/>
            <a:ext cx="4570412" cy="3429000"/>
          </a:xfrm>
          <a:ln/>
        </p:spPr>
      </p:sp>
      <p:sp>
        <p:nvSpPr>
          <p:cNvPr id="25603" name="Notes Placeholder 2">
            <a:extLst>
              <a:ext uri="{FF2B5EF4-FFF2-40B4-BE49-F238E27FC236}">
                <a16:creationId xmlns:a16="http://schemas.microsoft.com/office/drawing/2014/main" id="{79D7BB9C-18EB-4431-B507-6AC87CF6A7FE}"/>
              </a:ext>
            </a:extLst>
          </p:cNvPr>
          <p:cNvSpPr>
            <a:spLocks noGrp="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lstStyle/>
          <a:p>
            <a:pPr>
              <a:spcBef>
                <a:spcPct val="0"/>
              </a:spcBef>
            </a:pPr>
            <a:endParaRPr lang="en-US" altLang="zh-CN"/>
          </a:p>
        </p:txBody>
      </p:sp>
      <p:sp>
        <p:nvSpPr>
          <p:cNvPr id="25604" name="Slide Number Placeholder 3">
            <a:extLst>
              <a:ext uri="{FF2B5EF4-FFF2-40B4-BE49-F238E27FC236}">
                <a16:creationId xmlns:a16="http://schemas.microsoft.com/office/drawing/2014/main" id="{6B5E9981-929E-4A11-A0B7-55CCE50BDB16}"/>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a:spcBef>
                <a:spcPct val="0"/>
              </a:spcBef>
            </a:pPr>
            <a:fld id="{B0E5AF88-B2B3-437E-BACC-2454198BFB17}" type="slidenum">
              <a:rPr kumimoji="0" lang="zh-CN" altLang="en-US" sz="1100">
                <a:latin typeface="Arial" panose="020B0604020202020204" pitchFamily="34" charset="0"/>
              </a:rPr>
              <a:pPr algn="r">
                <a:spcBef>
                  <a:spcPct val="0"/>
                </a:spcBef>
              </a:pPr>
              <a:t>317</a:t>
            </a:fld>
            <a:endParaRPr kumimoji="0" lang="en-US" altLang="zh-CN" sz="1100">
              <a:latin typeface="Arial" panose="020B0604020202020204" pitchFamily="34" charset="0"/>
            </a:endParaRPr>
          </a:p>
        </p:txBody>
      </p:sp>
    </p:spTree>
    <p:extLst>
      <p:ext uri="{BB962C8B-B14F-4D97-AF65-F5344CB8AC3E}">
        <p14:creationId xmlns:p14="http://schemas.microsoft.com/office/powerpoint/2010/main" val="1922028677"/>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318</a:t>
            </a:fld>
            <a:endParaRPr lang="zh-CN" altLang="en-US"/>
          </a:p>
        </p:txBody>
      </p:sp>
    </p:spTree>
    <p:extLst>
      <p:ext uri="{BB962C8B-B14F-4D97-AF65-F5344CB8AC3E}">
        <p14:creationId xmlns:p14="http://schemas.microsoft.com/office/powerpoint/2010/main" val="3309279650"/>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a:extLst>
              <a:ext uri="{FF2B5EF4-FFF2-40B4-BE49-F238E27FC236}">
                <a16:creationId xmlns:a16="http://schemas.microsoft.com/office/drawing/2014/main" id="{05F09227-F7F8-497D-86CF-546CB81C34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6F30189-C447-453A-8AD1-B99EF93D0CAC}" type="slidenum">
              <a:rPr lang="zh-CN" altLang="en-US"/>
              <a:pPr>
                <a:spcBef>
                  <a:spcPct val="0"/>
                </a:spcBef>
              </a:pPr>
              <a:t>320</a:t>
            </a:fld>
            <a:endParaRPr lang="en-US" altLang="zh-CN"/>
          </a:p>
        </p:txBody>
      </p:sp>
      <p:sp>
        <p:nvSpPr>
          <p:cNvPr id="252931" name="Rectangle 2">
            <a:extLst>
              <a:ext uri="{FF2B5EF4-FFF2-40B4-BE49-F238E27FC236}">
                <a16:creationId xmlns:a16="http://schemas.microsoft.com/office/drawing/2014/main" id="{13DB0F1D-F282-4718-88B6-9CBE32944DAF}"/>
              </a:ext>
            </a:extLst>
          </p:cNvPr>
          <p:cNvSpPr>
            <a:spLocks noGrp="1" noRot="1" noChangeAspect="1" noChangeArrowheads="1" noTextEdit="1"/>
          </p:cNvSpPr>
          <p:nvPr>
            <p:ph type="sldImg"/>
          </p:nvPr>
        </p:nvSpPr>
        <p:spPr>
          <a:ln/>
        </p:spPr>
      </p:sp>
      <p:sp>
        <p:nvSpPr>
          <p:cNvPr id="252932" name="Rectangle 3">
            <a:extLst>
              <a:ext uri="{FF2B5EF4-FFF2-40B4-BE49-F238E27FC236}">
                <a16:creationId xmlns:a16="http://schemas.microsoft.com/office/drawing/2014/main" id="{5E6F2A87-A642-4DBE-B4BD-8D1D884DEF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extLst>
      <p:ext uri="{BB962C8B-B14F-4D97-AF65-F5344CB8AC3E}">
        <p14:creationId xmlns:p14="http://schemas.microsoft.com/office/powerpoint/2010/main" val="28439537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 descr="C:\Users\Administrator\AppData\Roaming\Tencent\Users\85060380\QQ\WinTemp\RichOle\3{JSB(G2RI2O{CFOGZRGH23.jpg"/>
          <p:cNvPicPr>
            <a:picLocks noChangeAspect="1" noChangeArrowheads="1"/>
          </p:cNvPicPr>
          <p:nvPr/>
        </p:nvPicPr>
        <p:blipFill rotWithShape="1">
          <a:blip r:embed="rId2" cstate="print"/>
          <a:srcRect r="78850"/>
          <a:stretch/>
        </p:blipFill>
        <p:spPr bwMode="auto">
          <a:xfrm>
            <a:off x="1" y="44624"/>
            <a:ext cx="899591" cy="792088"/>
          </a:xfrm>
          <a:prstGeom prst="rect">
            <a:avLst/>
          </a:prstGeom>
          <a:noFill/>
          <a:ln w="9525">
            <a:noFill/>
            <a:miter lim="800000"/>
            <a:headEnd/>
            <a:tailEnd/>
          </a:ln>
        </p:spPr>
      </p:pic>
      <p:pic>
        <p:nvPicPr>
          <p:cNvPr id="6" name="Picture 2" descr="C:\Users\Administrator\AppData\Roaming\Tencent\Users\85060380\QQ\WinTemp\RichOle\J6JYNSSQRTOD2X}K2W`MNJ7.jpg"/>
          <p:cNvPicPr>
            <a:picLocks noChangeAspect="1" noChangeArrowheads="1"/>
          </p:cNvPicPr>
          <p:nvPr/>
        </p:nvPicPr>
        <p:blipFill>
          <a:blip r:embed="rId3" cstate="print"/>
          <a:srcRect/>
          <a:stretch>
            <a:fillRect/>
          </a:stretch>
        </p:blipFill>
        <p:spPr bwMode="auto">
          <a:xfrm>
            <a:off x="6764751" y="1"/>
            <a:ext cx="1191625" cy="740094"/>
          </a:xfrm>
          <a:prstGeom prst="rect">
            <a:avLst/>
          </a:prstGeom>
          <a:noFill/>
          <a:ln w="9525">
            <a:noFill/>
            <a:miter lim="800000"/>
            <a:headEnd/>
            <a:tailEnd/>
          </a:ln>
        </p:spPr>
      </p:pic>
      <p:pic>
        <p:nvPicPr>
          <p:cNvPr id="7" name="Picture 3" descr="C:\Users\Administrator\AppData\Roaming\Tencent\Users\85060380\QQ\WinTemp\RichOle\GD$GN72[756M7J@}Q112F3M.jpg"/>
          <p:cNvPicPr>
            <a:picLocks noChangeAspect="1" noChangeArrowheads="1"/>
          </p:cNvPicPr>
          <p:nvPr/>
        </p:nvPicPr>
        <p:blipFill>
          <a:blip r:embed="rId4" cstate="print"/>
          <a:srcRect/>
          <a:stretch>
            <a:fillRect/>
          </a:stretch>
        </p:blipFill>
        <p:spPr bwMode="auto">
          <a:xfrm>
            <a:off x="7956376" y="1"/>
            <a:ext cx="1191625" cy="740094"/>
          </a:xfrm>
          <a:prstGeom prst="rect">
            <a:avLst/>
          </a:prstGeom>
          <a:noFill/>
          <a:ln w="9525">
            <a:noFill/>
            <a:miter lim="800000"/>
            <a:headEnd/>
            <a:tailEnd/>
          </a:ln>
        </p:spPr>
      </p:pic>
      <p:pic>
        <p:nvPicPr>
          <p:cNvPr id="8" name="Picture 4" descr="C:\Users\Administrator\AppData\Roaming\Tencent\Users\85060380\QQ\WinTemp\RichOle\{SL304[_K`X~M@`NNZQS~XD.jpg"/>
          <p:cNvPicPr>
            <a:picLocks noChangeAspect="1" noChangeArrowheads="1"/>
          </p:cNvPicPr>
          <p:nvPr/>
        </p:nvPicPr>
        <p:blipFill>
          <a:blip r:embed="rId5" cstate="print"/>
          <a:srcRect/>
          <a:stretch>
            <a:fillRect/>
          </a:stretch>
        </p:blipFill>
        <p:spPr bwMode="auto">
          <a:xfrm>
            <a:off x="4427984" y="0"/>
            <a:ext cx="2350885" cy="740094"/>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lvl1pPr>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9" name="日期占位符 3"/>
          <p:cNvSpPr>
            <a:spLocks noGrp="1"/>
          </p:cNvSpPr>
          <p:nvPr>
            <p:ph type="dt" sz="half" idx="10"/>
          </p:nvPr>
        </p:nvSpPr>
        <p:spPr/>
        <p:txBody>
          <a:bodyPr/>
          <a:lstStyle>
            <a:lvl1pPr>
              <a:defRPr/>
            </a:lvl1pPr>
          </a:lstStyle>
          <a:p>
            <a:pPr>
              <a:defRPr/>
            </a:pPr>
            <a:fld id="{3169F77C-FFE2-4793-9207-02588634C718}" type="datetimeFigureOut">
              <a:rPr lang="zh-CN" altLang="en-US"/>
              <a:pPr>
                <a:defRPr/>
              </a:pPr>
              <a:t>2023/9/3</a:t>
            </a:fld>
            <a:endParaRPr lang="zh-CN" altLang="en-US"/>
          </a:p>
        </p:txBody>
      </p:sp>
      <p:sp>
        <p:nvSpPr>
          <p:cNvPr id="10" name="页脚占位符 4"/>
          <p:cNvSpPr>
            <a:spLocks noGrp="1"/>
          </p:cNvSpPr>
          <p:nvPr>
            <p:ph type="ftr" sz="quarter" idx="11"/>
          </p:nvPr>
        </p:nvSpPr>
        <p:spPr/>
        <p:txBody>
          <a:bodyPr/>
          <a:lstStyle>
            <a:lvl1pPr>
              <a:defRPr/>
            </a:lvl1pPr>
          </a:lstStyle>
          <a:p>
            <a:pPr>
              <a:defRPr/>
            </a:pPr>
            <a:endParaRPr lang="zh-CN" altLang="en-US"/>
          </a:p>
        </p:txBody>
      </p:sp>
      <p:sp>
        <p:nvSpPr>
          <p:cNvPr id="11" name="灯片编号占位符 5"/>
          <p:cNvSpPr>
            <a:spLocks noGrp="1"/>
          </p:cNvSpPr>
          <p:nvPr>
            <p:ph type="sldNum" sz="quarter" idx="12"/>
          </p:nvPr>
        </p:nvSpPr>
        <p:spPr/>
        <p:txBody>
          <a:bodyPr/>
          <a:lstStyle>
            <a:lvl1pPr>
              <a:defRPr/>
            </a:lvl1pPr>
          </a:lstStyle>
          <a:p>
            <a:pPr>
              <a:defRPr/>
            </a:pPr>
            <a:fld id="{CDC8E333-6AB3-4FDA-8E97-ACA84AEA881D}" type="slidenum">
              <a:rPr lang="zh-CN" altLang="en-US"/>
              <a:pPr>
                <a:defRPr/>
              </a:pPr>
              <a:t>‹#›</a:t>
            </a:fld>
            <a:endParaRPr lang="zh-CN" altLang="en-US"/>
          </a:p>
        </p:txBody>
      </p:sp>
      <p:pic>
        <p:nvPicPr>
          <p:cNvPr id="13" name="图片 12">
            <a:extLst>
              <a:ext uri="{FF2B5EF4-FFF2-40B4-BE49-F238E27FC236}">
                <a16:creationId xmlns:a16="http://schemas.microsoft.com/office/drawing/2014/main" id="{B93D3275-083F-47FB-8AE6-915D3BE6F623}"/>
              </a:ext>
            </a:extLst>
          </p:cNvPr>
          <p:cNvPicPr>
            <a:picLocks noChangeAspect="1"/>
          </p:cNvPicPr>
          <p:nvPr userDrawn="1"/>
        </p:nvPicPr>
        <p:blipFill rotWithShape="1">
          <a:blip r:embed="rId6"/>
          <a:srcRect l="32675" t="11636" r="34167" b="75247"/>
          <a:stretch/>
        </p:blipFill>
        <p:spPr>
          <a:xfrm>
            <a:off x="971600" y="259870"/>
            <a:ext cx="2592288" cy="57684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6" name="Picture 2" descr="C:\Users\Administrator\Desktop\44.jpg"/>
          <p:cNvPicPr>
            <a:picLocks noChangeAspect="1" noChangeArrowheads="1"/>
          </p:cNvPicPr>
          <p:nvPr/>
        </p:nvPicPr>
        <p:blipFill>
          <a:blip r:embed="rId2" cstate="print"/>
          <a:srcRect/>
          <a:stretch>
            <a:fillRect/>
          </a:stretch>
        </p:blipFill>
        <p:spPr bwMode="auto">
          <a:xfrm>
            <a:off x="7429500" y="5948363"/>
            <a:ext cx="1714500" cy="909637"/>
          </a:xfrm>
          <a:prstGeom prst="rect">
            <a:avLst/>
          </a:prstGeom>
          <a:noFill/>
          <a:ln w="9525">
            <a:noFill/>
            <a:miter lim="800000"/>
            <a:headEnd/>
            <a:tailEnd/>
          </a:ln>
        </p:spPr>
      </p:pic>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B91F3533-4646-4892-B1D3-08067A86ACDD}" type="datetimeFigureOut">
              <a:rPr lang="zh-CN" altLang="en-US"/>
              <a:pPr>
                <a:defRPr/>
              </a:pPr>
              <a:t>2023/9/3</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F36D17FC-20E3-4805-979B-A7677B8B4C05}" type="slidenum">
              <a:rPr lang="zh-CN" altLang="en-US"/>
              <a:pPr>
                <a:defRPr/>
              </a:pPr>
              <a:t>‹#›</a:t>
            </a:fld>
            <a:endParaRPr lang="zh-CN" altLang="en-US"/>
          </a:p>
        </p:txBody>
      </p:sp>
      <p:pic>
        <p:nvPicPr>
          <p:cNvPr id="10" name="Picture 1" descr="C:\Users\Administrator\AppData\Roaming\Tencent\Users\85060380\QQ\WinTemp\RichOle\3{JSB(G2RI2O{CFOGZRGH23.jpg">
            <a:extLst>
              <a:ext uri="{FF2B5EF4-FFF2-40B4-BE49-F238E27FC236}">
                <a16:creationId xmlns:a16="http://schemas.microsoft.com/office/drawing/2014/main" id="{3270E545-7934-4BFA-B40E-1C355AF290BD}"/>
              </a:ext>
            </a:extLst>
          </p:cNvPr>
          <p:cNvPicPr>
            <a:picLocks noChangeAspect="1" noChangeArrowheads="1"/>
          </p:cNvPicPr>
          <p:nvPr userDrawn="1"/>
        </p:nvPicPr>
        <p:blipFill rotWithShape="1">
          <a:blip r:embed="rId3" cstate="print"/>
          <a:srcRect r="78850"/>
          <a:stretch/>
        </p:blipFill>
        <p:spPr bwMode="auto">
          <a:xfrm>
            <a:off x="1" y="6126164"/>
            <a:ext cx="862263" cy="759220"/>
          </a:xfrm>
          <a:prstGeom prst="rect">
            <a:avLst/>
          </a:prstGeom>
          <a:noFill/>
          <a:ln w="9525">
            <a:noFill/>
            <a:miter lim="800000"/>
            <a:headEnd/>
            <a:tailEnd/>
          </a:ln>
        </p:spPr>
      </p:pic>
      <p:pic>
        <p:nvPicPr>
          <p:cNvPr id="11" name="图片 10">
            <a:extLst>
              <a:ext uri="{FF2B5EF4-FFF2-40B4-BE49-F238E27FC236}">
                <a16:creationId xmlns:a16="http://schemas.microsoft.com/office/drawing/2014/main" id="{9D899D2D-93AD-4325-9F12-9039E226AB1A}"/>
              </a:ext>
            </a:extLst>
          </p:cNvPr>
          <p:cNvPicPr>
            <a:picLocks noChangeAspect="1"/>
          </p:cNvPicPr>
          <p:nvPr userDrawn="1"/>
        </p:nvPicPr>
        <p:blipFill rotWithShape="1">
          <a:blip r:embed="rId4"/>
          <a:srcRect l="32675" t="11636" r="34167" b="75247"/>
          <a:stretch/>
        </p:blipFill>
        <p:spPr>
          <a:xfrm>
            <a:off x="810072" y="6309320"/>
            <a:ext cx="1872208" cy="4166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2AD29482-33CF-481B-96A0-139B86FAC950}" type="datetimeFigureOut">
              <a:rPr lang="zh-CN" altLang="en-US"/>
              <a:pPr>
                <a:defRPr/>
              </a:pPr>
              <a:t>2023/9/3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85CAA0F-046B-4F95-895B-81CD4A6F9754}"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739708D0-9777-46E5-8CD2-243B8DBC2E7E}" type="datetimeFigureOut">
              <a:rPr lang="zh-CN" altLang="en-US"/>
              <a:pPr>
                <a:defRPr/>
              </a:pPr>
              <a:t>2023/9/3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88200FF-9D1B-4EDF-84DB-F86000551396}"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A3895C0A-1844-48A2-990B-042EBB1C5E5D}" type="datetimeFigureOut">
              <a:rPr lang="zh-CN" altLang="en-US"/>
              <a:pPr>
                <a:defRPr/>
              </a:pPr>
              <a:t>2023/9/3</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631865BB-9052-4115-90F0-13EE3E4ED9A2}"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22A4F1A8-960E-4ED9-9A4F-401EFE12B95D}" type="datetimeFigureOut">
              <a:rPr lang="zh-CN" altLang="en-US"/>
              <a:pPr>
                <a:defRPr/>
              </a:pPr>
              <a:t>2023/9/3</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5FA7321-CB36-4EF0-87BA-C64E2A84FAED}"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309E1E0-9E63-41E0-8CDD-DF0C8EF81975}" type="datetimeFigureOut">
              <a:rPr lang="zh-CN" altLang="en-US"/>
              <a:pPr>
                <a:defRPr/>
              </a:pPr>
              <a:t>2023/9/3</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61E5839-3D4F-4698-B864-F37BC54DB928}"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8BE0510E-738A-4BCF-A997-3F9844EB6F00}" type="datetimeFigureOut">
              <a:rPr lang="zh-CN" altLang="en-US"/>
              <a:pPr>
                <a:defRPr/>
              </a:pPr>
              <a:t>2023/9/3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0BBB1ED-864B-4BBB-A169-7623F6B49B6C}"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E4B2317B-E539-4449-A4E4-953D83123880}" type="datetimeFigureOut">
              <a:rPr lang="zh-CN" altLang="en-US"/>
              <a:pPr>
                <a:defRPr/>
              </a:pPr>
              <a:t>2023/9/3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473C950-90C1-4BA5-A0E0-DE52BA876111}"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5D1DBE6-D526-4889-9558-7CE646AEAB4F}" type="datetimeFigureOut">
              <a:rPr lang="zh-CN" altLang="en-US"/>
              <a:pPr>
                <a:defRPr/>
              </a:pPr>
              <a:t>2023/9/3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052D626-89B4-4965-9172-80E6946FF058}"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8125ED1-746E-4220-8D3F-8230166A076B}" type="datetimeFigureOut">
              <a:rPr lang="zh-CN" altLang="en-US"/>
              <a:pPr>
                <a:defRPr/>
              </a:pPr>
              <a:t>2023/9/3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481450B-1AE2-4423-BCAB-59BF187F138D}"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50938" y="617538"/>
            <a:ext cx="7804150" cy="55149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1">
            <a:extLst>
              <a:ext uri="{FF2B5EF4-FFF2-40B4-BE49-F238E27FC236}">
                <a16:creationId xmlns:a16="http://schemas.microsoft.com/office/drawing/2014/main" id="{B02F1FC6-B0C6-4E7A-990A-CFEB2D2F62F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id="{D66634D8-4C16-4AC0-976F-F93338BB735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9875FA25-01DA-4E45-BC10-1B8AB3BF2007}"/>
              </a:ext>
            </a:extLst>
          </p:cNvPr>
          <p:cNvSpPr>
            <a:spLocks noGrp="1" noChangeArrowheads="1"/>
          </p:cNvSpPr>
          <p:nvPr>
            <p:ph type="sldNum" sz="quarter" idx="12"/>
          </p:nvPr>
        </p:nvSpPr>
        <p:spPr>
          <a:ln/>
        </p:spPr>
        <p:txBody>
          <a:bodyPr/>
          <a:lstStyle>
            <a:lvl1pPr>
              <a:defRPr/>
            </a:lvl1pPr>
          </a:lstStyle>
          <a:p>
            <a:pPr>
              <a:defRPr/>
            </a:pPr>
            <a:fld id="{44C57B66-5B8E-47D6-AB61-7668CAE30A41}" type="slidenum">
              <a:rPr lang="zh-CN" altLang="en-US"/>
              <a:pPr>
                <a:defRPr/>
              </a:pPr>
              <a:t>‹#›</a:t>
            </a:fld>
            <a:endParaRPr lang="en-US" altLang="zh-CN"/>
          </a:p>
        </p:txBody>
      </p:sp>
    </p:spTree>
    <p:extLst>
      <p:ext uri="{BB962C8B-B14F-4D97-AF65-F5344CB8AC3E}">
        <p14:creationId xmlns:p14="http://schemas.microsoft.com/office/powerpoint/2010/main" val="20146567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6" name="Picture 2" descr="C:\Users\Administrator\Desktop\44.jpg"/>
          <p:cNvPicPr>
            <a:picLocks noChangeAspect="1" noChangeArrowheads="1"/>
          </p:cNvPicPr>
          <p:nvPr/>
        </p:nvPicPr>
        <p:blipFill>
          <a:blip r:embed="rId2" cstate="print"/>
          <a:srcRect/>
          <a:stretch>
            <a:fillRect/>
          </a:stretch>
        </p:blipFill>
        <p:spPr bwMode="auto">
          <a:xfrm>
            <a:off x="7429500" y="5948363"/>
            <a:ext cx="1714500" cy="909637"/>
          </a:xfrm>
          <a:prstGeom prst="rect">
            <a:avLst/>
          </a:prstGeom>
          <a:noFill/>
          <a:ln w="9525">
            <a:noFill/>
            <a:miter lim="800000"/>
            <a:headEnd/>
            <a:tailEnd/>
          </a:ln>
        </p:spPr>
      </p:pic>
      <p:sp>
        <p:nvSpPr>
          <p:cNvPr id="7" name="日期占位符 3"/>
          <p:cNvSpPr>
            <a:spLocks noGrp="1"/>
          </p:cNvSpPr>
          <p:nvPr>
            <p:ph type="dt" sz="half" idx="10"/>
          </p:nvPr>
        </p:nvSpPr>
        <p:spPr/>
        <p:txBody>
          <a:bodyPr/>
          <a:lstStyle>
            <a:lvl1pPr>
              <a:defRPr/>
            </a:lvl1pPr>
          </a:lstStyle>
          <a:p>
            <a:pPr>
              <a:defRPr/>
            </a:pPr>
            <a:fld id="{B91F3533-4646-4892-B1D3-08067A86ACDD}" type="datetimeFigureOut">
              <a:rPr lang="zh-CN" altLang="en-US"/>
              <a:t>2023/9/3</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F36D17FC-20E3-4805-979B-A7677B8B4C05}" type="slidenum">
              <a:rPr lang="zh-CN" altLang="en-US"/>
              <a:t>‹#›</a:t>
            </a:fld>
            <a:endParaRPr lang="zh-CN" altLang="en-US"/>
          </a:p>
        </p:txBody>
      </p:sp>
      <p:pic>
        <p:nvPicPr>
          <p:cNvPr id="10" name="Picture 1" descr="C:\Users\Administrator\AppData\Roaming\Tencent\Users\85060380\QQ\WinTemp\RichOle\3{JSB(G2RI2O{CFOGZRGH23.jpg"/>
          <p:cNvPicPr>
            <a:picLocks noChangeAspect="1" noChangeArrowheads="1"/>
          </p:cNvPicPr>
          <p:nvPr userDrawn="1"/>
        </p:nvPicPr>
        <p:blipFill rotWithShape="1">
          <a:blip r:embed="rId3" cstate="print"/>
          <a:srcRect r="78850"/>
          <a:stretch>
            <a:fillRect/>
          </a:stretch>
        </p:blipFill>
        <p:spPr bwMode="auto">
          <a:xfrm>
            <a:off x="1" y="6126164"/>
            <a:ext cx="862263" cy="759220"/>
          </a:xfrm>
          <a:prstGeom prst="rect">
            <a:avLst/>
          </a:prstGeom>
          <a:noFill/>
          <a:ln w="9525">
            <a:noFill/>
            <a:miter lim="800000"/>
            <a:headEnd/>
            <a:tailEnd/>
          </a:ln>
        </p:spPr>
      </p:pic>
      <p:pic>
        <p:nvPicPr>
          <p:cNvPr id="11" name="图片 10"/>
          <p:cNvPicPr>
            <a:picLocks noChangeAspect="1"/>
          </p:cNvPicPr>
          <p:nvPr userDrawn="1"/>
        </p:nvPicPr>
        <p:blipFill rotWithShape="1">
          <a:blip r:embed="rId4" cstate="print"/>
          <a:srcRect l="32675" t="11636" r="34167" b="75247"/>
          <a:stretch>
            <a:fillRect/>
          </a:stretch>
        </p:blipFill>
        <p:spPr>
          <a:xfrm>
            <a:off x="810072" y="6309320"/>
            <a:ext cx="1872208" cy="416609"/>
          </a:xfrm>
          <a:prstGeom prst="rect">
            <a:avLst/>
          </a:prstGeom>
        </p:spPr>
      </p:pic>
    </p:spTree>
    <p:extLst>
      <p:ext uri="{BB962C8B-B14F-4D97-AF65-F5344CB8AC3E}">
        <p14:creationId xmlns:p14="http://schemas.microsoft.com/office/powerpoint/2010/main" val="1182313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B11D7156-5C3F-4BEA-93EC-FF328D866D27}" type="datetimeFigureOut">
              <a:rPr lang="zh-CN" altLang="en-US"/>
              <a:pPr>
                <a:defRPr/>
              </a:pPr>
              <a:t>2023/9/3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9C709816-5D03-481C-A7CB-52B98C3CDEF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5" r:id="rId12"/>
    <p:sldLayoutId id="2147483856" r:id="rId13"/>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gdyang@sdau.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257.xml"/><Relationship Id="rId3" Type="http://schemas.openxmlformats.org/officeDocument/2006/relationships/slide" Target="slide26.xml"/><Relationship Id="rId7" Type="http://schemas.openxmlformats.org/officeDocument/2006/relationships/slide" Target="slide252.xml"/><Relationship Id="rId2" Type="http://schemas.openxmlformats.org/officeDocument/2006/relationships/slide" Target="slide13.xml"/><Relationship Id="rId1" Type="http://schemas.openxmlformats.org/officeDocument/2006/relationships/slideLayout" Target="../slideLayouts/slideLayout2.xml"/><Relationship Id="rId6" Type="http://schemas.openxmlformats.org/officeDocument/2006/relationships/slide" Target="slide219.xml"/><Relationship Id="rId5" Type="http://schemas.openxmlformats.org/officeDocument/2006/relationships/slide" Target="slide111.xml"/><Relationship Id="rId10" Type="http://schemas.openxmlformats.org/officeDocument/2006/relationships/slide" Target="slide54.xml"/><Relationship Id="rId4" Type="http://schemas.openxmlformats.org/officeDocument/2006/relationships/slide" Target="slide79.xml"/><Relationship Id="rId9" Type="http://schemas.openxmlformats.org/officeDocument/2006/relationships/slide" Target="slide286.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12.xml"/><Relationship Id="rId4" Type="http://schemas.openxmlformats.org/officeDocument/2006/relationships/image" Target="../media/image17.jp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9.jpeg"/></Relationships>
</file>

<file path=ppt/slides/_rels/slide1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3.JPG"/><Relationship Id="rId4" Type="http://schemas.openxmlformats.org/officeDocument/2006/relationships/image" Target="../media/image22.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41.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slide" Target="slide6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12.xml"/><Relationship Id="rId5" Type="http://schemas.openxmlformats.org/officeDocument/2006/relationships/image" Target="../media/image47.wmf"/><Relationship Id="rId4" Type="http://schemas.openxmlformats.org/officeDocument/2006/relationships/slide" Target="slide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slideLayout" Target="../slideLayouts/slideLayout7.xml"/><Relationship Id="rId4" Type="http://schemas.openxmlformats.org/officeDocument/2006/relationships/image" Target="../media/image59.emf"/></Relationships>
</file>

<file path=ppt/slides/_rels/slide72.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2.emf"/><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4.emf"/><Relationship Id="rId1" Type="http://schemas.openxmlformats.org/officeDocument/2006/relationships/slideLayout" Target="../slideLayouts/slideLayout7.xml"/><Relationship Id="rId4" Type="http://schemas.openxmlformats.org/officeDocument/2006/relationships/image" Target="../media/image66.emf"/></Relationships>
</file>

<file path=ppt/slides/_rels/slide75.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67.emf"/><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image" Target="../media/image69.emf"/><Relationship Id="rId1" Type="http://schemas.openxmlformats.org/officeDocument/2006/relationships/slideLayout" Target="../slideLayouts/slideLayout7.xml"/><Relationship Id="rId4" Type="http://schemas.openxmlformats.org/officeDocument/2006/relationships/image" Target="../media/image71.emf"/></Relationships>
</file>

<file path=ppt/slides/_rels/slide77.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image" Target="../media/image74.emf"/><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8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9.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81.png"/><Relationship Id="rId4" Type="http://schemas.openxmlformats.org/officeDocument/2006/relationships/image" Target="../media/image79.png"/></Relationships>
</file>

<file path=ppt/slides/_rels/slide8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1.xml"/><Relationship Id="rId1" Type="http://schemas.openxmlformats.org/officeDocument/2006/relationships/slideLayout" Target="../slideLayouts/slideLayout7.xml"/><Relationship Id="rId4" Type="http://schemas.openxmlformats.org/officeDocument/2006/relationships/image" Target="../media/image47.wmf"/></Relationships>
</file>

<file path=ppt/slides/_rels/slide106.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slide" Target="slide133.xml"/><Relationship Id="rId2" Type="http://schemas.openxmlformats.org/officeDocument/2006/relationships/slide" Target="slide112.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image" Target="../media/image97.jpe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00.xml"/><Relationship Id="rId1" Type="http://schemas.openxmlformats.org/officeDocument/2006/relationships/slideLayout" Target="../slideLayouts/slideLayout7.xml"/><Relationship Id="rId4" Type="http://schemas.openxmlformats.org/officeDocument/2006/relationships/image" Target="../media/image113.png"/></Relationships>
</file>

<file path=ppt/slides/_rels/slide15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08.xml"/><Relationship Id="rId1" Type="http://schemas.openxmlformats.org/officeDocument/2006/relationships/slideLayout" Target="../slideLayouts/slideLayout7.xml"/><Relationship Id="rId4" Type="http://schemas.openxmlformats.org/officeDocument/2006/relationships/image" Target="../media/image122.png"/></Relationships>
</file>

<file path=ppt/slides/_rels/slide165.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image" Target="../media/image139.jpeg"/><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image" Target="../media/image140.jpg"/><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2" Type="http://schemas.openxmlformats.org/officeDocument/2006/relationships/image" Target="../media/image145.jpeg"/><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2" Type="http://schemas.openxmlformats.org/officeDocument/2006/relationships/image" Target="../media/image146.jpeg"/><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147.wmf"/><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39.xml"/><Relationship Id="rId1" Type="http://schemas.openxmlformats.org/officeDocument/2006/relationships/slideLayout" Target="../slideLayouts/slideLayout7.xml"/><Relationship Id="rId4" Type="http://schemas.openxmlformats.org/officeDocument/2006/relationships/image" Target="../media/image153.png"/></Relationships>
</file>

<file path=ppt/slides/_rels/slide212.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140.xml"/><Relationship Id="rId1" Type="http://schemas.openxmlformats.org/officeDocument/2006/relationships/slideLayout" Target="../slideLayouts/slideLayout13.xml"/></Relationships>
</file>

<file path=ppt/slides/_rels/slide213.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142.xml"/><Relationship Id="rId1" Type="http://schemas.openxmlformats.org/officeDocument/2006/relationships/slideLayout" Target="../slideLayouts/slideLayout7.xml"/><Relationship Id="rId6" Type="http://schemas.openxmlformats.org/officeDocument/2006/relationships/image" Target="../media/image159.wmf"/><Relationship Id="rId5" Type="http://schemas.openxmlformats.org/officeDocument/2006/relationships/image" Target="../media/image158.png"/><Relationship Id="rId4" Type="http://schemas.openxmlformats.org/officeDocument/2006/relationships/image" Target="../media/image157.png"/></Relationships>
</file>

<file path=ppt/slides/_rels/slide215.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12.xml"/></Relationships>
</file>

<file path=ppt/slides/_rels/slide216.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148.xml"/><Relationship Id="rId1" Type="http://schemas.openxmlformats.org/officeDocument/2006/relationships/slideLayout" Target="../slideLayouts/slideLayout7.xml"/><Relationship Id="rId4" Type="http://schemas.openxmlformats.org/officeDocument/2006/relationships/hyperlink" Target="https://mbd.baidu.com/newspage/data/landingsuper?context=%7B%22nid%22%3A%22news_9665188549338003112%22%7D&amp;n_type=1&amp;p_from=4" TargetMode="External"/></Relationships>
</file>

<file path=ppt/slides/_rels/slide223.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153.xml"/><Relationship Id="rId1" Type="http://schemas.openxmlformats.org/officeDocument/2006/relationships/slideLayout" Target="../slideLayouts/slideLayout7.xml"/><Relationship Id="rId4" Type="http://schemas.openxmlformats.org/officeDocument/2006/relationships/image" Target="../media/image167.png"/></Relationships>
</file>

<file path=ppt/slides/_rels/slide228.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155.xml"/><Relationship Id="rId1" Type="http://schemas.openxmlformats.org/officeDocument/2006/relationships/slideLayout" Target="../slideLayouts/slideLayout7.xml"/><Relationship Id="rId5" Type="http://schemas.openxmlformats.org/officeDocument/2006/relationships/image" Target="../media/image171.png"/><Relationship Id="rId4" Type="http://schemas.openxmlformats.org/officeDocument/2006/relationships/image" Target="../media/image170.png"/></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60.xml"/><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162.xml"/><Relationship Id="rId1" Type="http://schemas.openxmlformats.org/officeDocument/2006/relationships/slideLayout" Target="../slideLayouts/slideLayout7.xml"/><Relationship Id="rId4" Type="http://schemas.openxmlformats.org/officeDocument/2006/relationships/image" Target="../media/image167.png"/></Relationships>
</file>

<file path=ppt/slides/_rels/slide238.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163.xml"/><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3" Type="http://schemas.openxmlformats.org/officeDocument/2006/relationships/image" Target="../media/image174.jpeg"/><Relationship Id="rId2" Type="http://schemas.openxmlformats.org/officeDocument/2006/relationships/notesSlide" Target="../notesSlides/notesSlide164.xml"/><Relationship Id="rId1" Type="http://schemas.openxmlformats.org/officeDocument/2006/relationships/slideLayout" Target="../slideLayouts/slideLayout6.xml"/></Relationships>
</file>

<file path=ppt/slides/_rels/slide240.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65.xml"/><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167.xml"/><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168.xml"/><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3" Type="http://schemas.openxmlformats.org/officeDocument/2006/relationships/image" Target="../media/image178.jpg"/><Relationship Id="rId2" Type="http://schemas.openxmlformats.org/officeDocument/2006/relationships/notesSlide" Target="../notesSlides/notesSlide169.xml"/><Relationship Id="rId1" Type="http://schemas.openxmlformats.org/officeDocument/2006/relationships/slideLayout" Target="../slideLayouts/slideLayout7.xml"/><Relationship Id="rId4" Type="http://schemas.openxmlformats.org/officeDocument/2006/relationships/image" Target="../media/image179.png"/></Relationships>
</file>

<file path=ppt/slides/_rels/slide245.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70.xml"/><Relationship Id="rId1" Type="http://schemas.openxmlformats.org/officeDocument/2006/relationships/slideLayout" Target="../slideLayouts/slideLayout7.xml"/><Relationship Id="rId4" Type="http://schemas.openxmlformats.org/officeDocument/2006/relationships/image" Target="../media/image181.png"/></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174.xml"/><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3" Type="http://schemas.openxmlformats.org/officeDocument/2006/relationships/image" Target="../media/image183.jpg"/><Relationship Id="rId2" Type="http://schemas.openxmlformats.org/officeDocument/2006/relationships/notesSlide" Target="../notesSlides/notesSlide175.xml"/><Relationship Id="rId1" Type="http://schemas.openxmlformats.org/officeDocument/2006/relationships/slideLayout" Target="../slideLayouts/slideLayout7.xml"/><Relationship Id="rId6" Type="http://schemas.openxmlformats.org/officeDocument/2006/relationships/image" Target="../media/image186.png"/><Relationship Id="rId5" Type="http://schemas.openxmlformats.org/officeDocument/2006/relationships/image" Target="../media/image185.png"/><Relationship Id="rId4" Type="http://schemas.openxmlformats.org/officeDocument/2006/relationships/image" Target="../media/image184.png"/></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image" Target="../media/image187.png"/><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178.xml"/><Relationship Id="rId1" Type="http://schemas.openxmlformats.org/officeDocument/2006/relationships/slideLayout" Target="../slideLayouts/slideLayout7.xml"/><Relationship Id="rId5" Type="http://schemas.openxmlformats.org/officeDocument/2006/relationships/image" Target="../media/image47.wmf"/><Relationship Id="rId4" Type="http://schemas.openxmlformats.org/officeDocument/2006/relationships/slide" Target="slide252.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3" Type="http://schemas.openxmlformats.org/officeDocument/2006/relationships/image" Target="../media/image190.jpeg"/><Relationship Id="rId2" Type="http://schemas.openxmlformats.org/officeDocument/2006/relationships/notesSlide" Target="../notesSlides/notesSlide182.xml"/><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2" Type="http://schemas.openxmlformats.org/officeDocument/2006/relationships/image" Target="../media/image192.png"/><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3" Type="http://schemas.openxmlformats.org/officeDocument/2006/relationships/image" Target="../media/image193.jpeg"/><Relationship Id="rId2" Type="http://schemas.openxmlformats.org/officeDocument/2006/relationships/notesSlide" Target="../notesSlides/notesSlide183.xml"/><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2" Type="http://schemas.openxmlformats.org/officeDocument/2006/relationships/image" Target="../media/image194.png"/><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184.xml"/><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2" Type="http://schemas.openxmlformats.org/officeDocument/2006/relationships/image" Target="../media/image197.png"/><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2" Type="http://schemas.openxmlformats.org/officeDocument/2006/relationships/image" Target="../media/image198.png"/><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2" Type="http://schemas.openxmlformats.org/officeDocument/2006/relationships/image" Target="../media/image199.png"/><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85.xml"/><Relationship Id="rId1" Type="http://schemas.openxmlformats.org/officeDocument/2006/relationships/slideLayout" Target="../slideLayouts/slideLayout7.xml"/><Relationship Id="rId4" Type="http://schemas.openxmlformats.org/officeDocument/2006/relationships/image" Target="../media/image201.png"/></Relationships>
</file>

<file path=ppt/slides/_rels/slide272.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186.xml"/><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2" Type="http://schemas.openxmlformats.org/officeDocument/2006/relationships/image" Target="../media/image143.jpeg"/><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2" Type="http://schemas.openxmlformats.org/officeDocument/2006/relationships/image" Target="../media/image203.png"/><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2" Type="http://schemas.openxmlformats.org/officeDocument/2006/relationships/image" Target="../media/image204.png"/><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2" Type="http://schemas.openxmlformats.org/officeDocument/2006/relationships/image" Target="../media/image205.png"/><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2" Type="http://schemas.openxmlformats.org/officeDocument/2006/relationships/image" Target="../media/image206.png"/><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07.jpeg"/><Relationship Id="rId1" Type="http://schemas.openxmlformats.org/officeDocument/2006/relationships/slideLayout" Target="../slideLayouts/slideLayout7.xml"/><Relationship Id="rId4" Type="http://schemas.openxmlformats.org/officeDocument/2006/relationships/image" Target="../media/image47.wmf"/></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2" Type="http://schemas.openxmlformats.org/officeDocument/2006/relationships/image" Target="../media/image208.png"/><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2" Type="http://schemas.openxmlformats.org/officeDocument/2006/relationships/image" Target="../media/image211.jpeg"/><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187.xml"/><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2" Type="http://schemas.openxmlformats.org/officeDocument/2006/relationships/image" Target="../media/image213.jpeg"/><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2" Type="http://schemas.openxmlformats.org/officeDocument/2006/relationships/image" Target="../media/image214.jpeg"/><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2" Type="http://schemas.openxmlformats.org/officeDocument/2006/relationships/image" Target="../media/image197.png"/><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2" Type="http://schemas.openxmlformats.org/officeDocument/2006/relationships/image" Target="../media/image215.jpeg"/><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2" Type="http://schemas.openxmlformats.org/officeDocument/2006/relationships/image" Target="../media/image215.jpeg"/><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2" Type="http://schemas.openxmlformats.org/officeDocument/2006/relationships/image" Target="../media/image215.jpeg"/><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2" Type="http://schemas.openxmlformats.org/officeDocument/2006/relationships/image" Target="../media/image215.jpeg"/><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188.xml"/><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2" Type="http://schemas.openxmlformats.org/officeDocument/2006/relationships/image" Target="../media/image216.png"/><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slide" Target="slide286.xml"/><Relationship Id="rId1" Type="http://schemas.openxmlformats.org/officeDocument/2006/relationships/slideLayout" Target="../slideLayouts/slideLayout7.xml"/><Relationship Id="rId6" Type="http://schemas.openxmlformats.org/officeDocument/2006/relationships/image" Target="../media/image217.wmf"/><Relationship Id="rId5" Type="http://schemas.openxmlformats.org/officeDocument/2006/relationships/hyperlink" Target="sequence%20of%20protein.jpg" TargetMode="External"/><Relationship Id="rId4" Type="http://schemas.openxmlformats.org/officeDocument/2006/relationships/image" Target="../media/image212.png"/></Relationships>
</file>

<file path=ppt/slides/_rels/slide30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2" Type="http://schemas.openxmlformats.org/officeDocument/2006/relationships/image" Target="../media/image218.png"/><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2" Type="http://schemas.openxmlformats.org/officeDocument/2006/relationships/image" Target="../media/image219.png"/><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slide" Target="slide286.xml"/><Relationship Id="rId1" Type="http://schemas.openxmlformats.org/officeDocument/2006/relationships/slideLayout" Target="../slideLayouts/slideLayout7.xml"/><Relationship Id="rId6" Type="http://schemas.openxmlformats.org/officeDocument/2006/relationships/image" Target="../media/image217.wmf"/><Relationship Id="rId5" Type="http://schemas.openxmlformats.org/officeDocument/2006/relationships/hyperlink" Target="sequence%20of%20protein.jpg" TargetMode="External"/><Relationship Id="rId4" Type="http://schemas.openxmlformats.org/officeDocument/2006/relationships/image" Target="../media/image212.png"/></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3" Type="http://schemas.openxmlformats.org/officeDocument/2006/relationships/hyperlink" Target="http://baike.baidu.com/link?url=sRS1jSWOBQ9rtBQM4P1UV3a55Jg6BiQ0Yr3J6Yu7Nejg8if6T2Mcdgfs6_T1oWPZaZ2PGDnRrtVEcTmC8foFRa#2" TargetMode="External"/><Relationship Id="rId2" Type="http://schemas.openxmlformats.org/officeDocument/2006/relationships/hyperlink" Target="http://baike.baidu.com/link?url=sRS1jSWOBQ9rtBQM4P1UV3a55Jg6BiQ0Yr3J6Yu7Nejg8if6T2Mcdgfs6_T1oWPZaZ2PGDnRrtVEcTmC8foFRa#1" TargetMode="External"/><Relationship Id="rId1" Type="http://schemas.openxmlformats.org/officeDocument/2006/relationships/slideLayout" Target="../slideLayouts/slideLayout2.xml"/><Relationship Id="rId6" Type="http://schemas.openxmlformats.org/officeDocument/2006/relationships/hyperlink" Target="http://baike.baidu.com/link?url=sRS1jSWOBQ9rtBQM4P1UV3a55Jg6BiQ0Yr3J6Yu7Nejg8if6T2Mcdgfs6_T1oWPZaZ2PGDnRrtVEcTmC8foFRa#5" TargetMode="External"/><Relationship Id="rId5" Type="http://schemas.openxmlformats.org/officeDocument/2006/relationships/hyperlink" Target="http://baike.baidu.com/link?url=sRS1jSWOBQ9rtBQM4P1UV3a55Jg6BiQ0Yr3J6Yu7Nejg8if6T2Mcdgfs6_T1oWPZaZ2PGDnRrtVEcTmC8foFRa#4" TargetMode="External"/><Relationship Id="rId4" Type="http://schemas.openxmlformats.org/officeDocument/2006/relationships/hyperlink" Target="http://baike.baidu.com/link?url=sRS1jSWOBQ9rtBQM4P1UV3a55Jg6BiQ0Yr3J6Yu7Nejg8if6T2Mcdgfs6_T1oWPZaZ2PGDnRrtVEcTmC8foFRa#3" TargetMode="Externa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3" Type="http://schemas.openxmlformats.org/officeDocument/2006/relationships/image" Target="../media/image222.jpeg"/><Relationship Id="rId2" Type="http://schemas.openxmlformats.org/officeDocument/2006/relationships/notesSlide" Target="../notesSlides/notesSlide189.xml"/><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3" Type="http://schemas.openxmlformats.org/officeDocument/2006/relationships/image" Target="../media/image223.jpg"/><Relationship Id="rId2" Type="http://schemas.openxmlformats.org/officeDocument/2006/relationships/notesSlide" Target="../notesSlides/notesSlide190.xml"/><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2" Type="http://schemas.openxmlformats.org/officeDocument/2006/relationships/image" Target="../media/image224.jpg"/><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notesSlide" Target="../notesSlides/notesSlide19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ctrTitle"/>
          </p:nvPr>
        </p:nvSpPr>
        <p:spPr>
          <a:xfrm>
            <a:off x="772066" y="1484784"/>
            <a:ext cx="6127358" cy="1470025"/>
          </a:xfrm>
        </p:spPr>
        <p:txBody>
          <a:bodyPr/>
          <a:lstStyle/>
          <a:p>
            <a:pPr eaLnBrk="1" hangingPunct="1">
              <a:spcBef>
                <a:spcPct val="50000"/>
              </a:spcBef>
              <a:buClrTx/>
              <a:buSzTx/>
              <a:buFontTx/>
              <a:buNone/>
            </a:pPr>
            <a:r>
              <a:rPr lang="en-US" altLang="zh-CN" sz="4800" dirty="0"/>
              <a:t>Section B</a:t>
            </a:r>
            <a:br>
              <a:rPr lang="en-US" altLang="zh-CN" sz="4800" dirty="0"/>
            </a:br>
            <a:r>
              <a:rPr lang="en-US" altLang="zh-CN" sz="4800" dirty="0"/>
              <a:t>Amino acid and protein</a:t>
            </a:r>
          </a:p>
        </p:txBody>
      </p:sp>
      <p:sp>
        <p:nvSpPr>
          <p:cNvPr id="4099" name="副标题 2"/>
          <p:cNvSpPr>
            <a:spLocks noGrp="1"/>
          </p:cNvSpPr>
          <p:nvPr>
            <p:ph type="subTitle" idx="1"/>
          </p:nvPr>
        </p:nvSpPr>
        <p:spPr>
          <a:xfrm>
            <a:off x="5292080" y="3429000"/>
            <a:ext cx="3214688" cy="1471613"/>
          </a:xfrm>
        </p:spPr>
        <p:txBody>
          <a:bodyPr/>
          <a:lstStyle/>
          <a:p>
            <a:pPr eaLnBrk="1" hangingPunct="1"/>
            <a:r>
              <a:rPr lang="zh-CN" altLang="en-US" sz="2400" b="1" dirty="0">
                <a:solidFill>
                  <a:schemeClr val="tx1"/>
                </a:solidFill>
              </a:rPr>
              <a:t>杨国栋</a:t>
            </a:r>
            <a:endParaRPr lang="en-US" altLang="zh-CN" sz="2400" b="1" dirty="0">
              <a:solidFill>
                <a:schemeClr val="tx1"/>
              </a:solidFill>
            </a:endParaRPr>
          </a:p>
          <a:p>
            <a:pPr eaLnBrk="1" hangingPunct="1"/>
            <a:r>
              <a:rPr lang="en-US" altLang="zh-CN" sz="2400" b="1" dirty="0">
                <a:solidFill>
                  <a:schemeClr val="tx1"/>
                </a:solidFill>
              </a:rPr>
              <a:t>Biochemistry and Molecular Biology, College of Life Sciences</a:t>
            </a:r>
            <a:br>
              <a:rPr lang="en-US" altLang="zh-CN" sz="2400" b="1" dirty="0">
                <a:solidFill>
                  <a:schemeClr val="tx1"/>
                </a:solidFill>
              </a:rPr>
            </a:br>
            <a:endParaRPr lang="en-US" altLang="zh-CN" sz="2400" b="1" dirty="0">
              <a:solidFill>
                <a:schemeClr val="tx1"/>
              </a:solidFill>
            </a:endParaRPr>
          </a:p>
          <a:p>
            <a:pPr eaLnBrk="1" hangingPunct="1"/>
            <a:r>
              <a:rPr lang="en-US" altLang="zh-CN" sz="2400" b="1" dirty="0">
                <a:solidFill>
                  <a:schemeClr val="tx1"/>
                </a:solidFill>
                <a:hlinkClick r:id="rId3"/>
              </a:rPr>
              <a:t>gdyang@sdau.edu.cn</a:t>
            </a:r>
            <a:endParaRPr lang="en-US" altLang="zh-CN" sz="2400"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a:extLst>
              <a:ext uri="{FF2B5EF4-FFF2-40B4-BE49-F238E27FC236}">
                <a16:creationId xmlns:a16="http://schemas.microsoft.com/office/drawing/2014/main" id="{F49EB9D3-C532-40FC-97B7-56FB26F9E43D}"/>
              </a:ext>
            </a:extLst>
          </p:cNvPr>
          <p:cNvSpPr txBox="1">
            <a:spLocks noChangeArrowheads="1"/>
          </p:cNvSpPr>
          <p:nvPr/>
        </p:nvSpPr>
        <p:spPr bwMode="auto">
          <a:xfrm>
            <a:off x="1447800" y="762000"/>
            <a:ext cx="6324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dirty="0"/>
              <a:t>Section B  Amino acid and protein</a:t>
            </a:r>
          </a:p>
        </p:txBody>
      </p:sp>
      <p:sp>
        <p:nvSpPr>
          <p:cNvPr id="9219" name="Rectangle 3">
            <a:extLst>
              <a:ext uri="{FF2B5EF4-FFF2-40B4-BE49-F238E27FC236}">
                <a16:creationId xmlns:a16="http://schemas.microsoft.com/office/drawing/2014/main" id="{146B3000-406A-4368-9E5E-656829C72401}"/>
              </a:ext>
            </a:extLst>
          </p:cNvPr>
          <p:cNvSpPr>
            <a:spLocks noGrp="1" noChangeArrowheads="1"/>
          </p:cNvSpPr>
          <p:nvPr>
            <p:ph type="body" idx="1"/>
          </p:nvPr>
        </p:nvSpPr>
        <p:spPr/>
        <p:txBody>
          <a:bodyPr/>
          <a:lstStyle/>
          <a:p>
            <a:pPr eaLnBrk="1" hangingPunct="1">
              <a:lnSpc>
                <a:spcPct val="90000"/>
              </a:lnSpc>
            </a:pPr>
            <a:r>
              <a:rPr lang="en-US" altLang="zh-CN" dirty="0">
                <a:hlinkClick r:id="rId2" action="ppaction://hlinksldjump"/>
              </a:rPr>
              <a:t>General introduction</a:t>
            </a:r>
            <a:endParaRPr lang="en-US" altLang="zh-CN" dirty="0"/>
          </a:p>
          <a:p>
            <a:pPr eaLnBrk="1" hangingPunct="1">
              <a:lnSpc>
                <a:spcPct val="90000"/>
              </a:lnSpc>
            </a:pPr>
            <a:r>
              <a:rPr lang="en-US" altLang="zh-CN" dirty="0">
                <a:hlinkClick r:id="rId3" action="ppaction://hlinksldjump"/>
              </a:rPr>
              <a:t>Amino acid structure </a:t>
            </a:r>
            <a:r>
              <a:rPr lang="en-US" altLang="zh-CN" u="sng" dirty="0">
                <a:hlinkClick r:id="rId3" action="ppaction://hlinksldjump"/>
              </a:rPr>
              <a:t>(B1)</a:t>
            </a:r>
            <a:r>
              <a:rPr lang="en-US" altLang="zh-CN" dirty="0">
                <a:hlinkClick r:id="rId3" action="ppaction://hlinksldjump"/>
              </a:rPr>
              <a:t> </a:t>
            </a:r>
            <a:endParaRPr lang="en-US" altLang="zh-CN" dirty="0"/>
          </a:p>
          <a:p>
            <a:pPr eaLnBrk="1" hangingPunct="1">
              <a:lnSpc>
                <a:spcPct val="90000"/>
              </a:lnSpc>
            </a:pPr>
            <a:r>
              <a:rPr lang="en-US" altLang="zh-CN" dirty="0">
                <a:hlinkClick r:id="rId4" action="ppaction://hlinksldjump"/>
              </a:rPr>
              <a:t>Acid and bases  (B2)</a:t>
            </a:r>
            <a:endParaRPr lang="en-US" altLang="zh-CN" dirty="0"/>
          </a:p>
          <a:p>
            <a:pPr eaLnBrk="1" hangingPunct="1">
              <a:lnSpc>
                <a:spcPct val="90000"/>
              </a:lnSpc>
            </a:pPr>
            <a:r>
              <a:rPr lang="en-US" altLang="zh-CN" dirty="0">
                <a:hlinkClick r:id="rId5" action="ppaction://hlinksldjump"/>
              </a:rPr>
              <a:t>Protein structure (B3)</a:t>
            </a:r>
            <a:endParaRPr lang="en-US" altLang="zh-CN" dirty="0"/>
          </a:p>
          <a:p>
            <a:pPr eaLnBrk="1" hangingPunct="1">
              <a:lnSpc>
                <a:spcPct val="90000"/>
              </a:lnSpc>
            </a:pPr>
            <a:r>
              <a:rPr lang="en-US" altLang="zh-CN" dirty="0">
                <a:hlinkClick r:id="rId6" action="ppaction://hlinksldjump"/>
              </a:rPr>
              <a:t>Myoglobin and Hemoglobin (B4)</a:t>
            </a:r>
            <a:endParaRPr lang="en-US" altLang="zh-CN" dirty="0"/>
          </a:p>
          <a:p>
            <a:pPr eaLnBrk="1" hangingPunct="1">
              <a:lnSpc>
                <a:spcPct val="90000"/>
              </a:lnSpc>
            </a:pPr>
            <a:r>
              <a:rPr lang="en-US" altLang="zh-CN" dirty="0">
                <a:hlinkClick r:id="rId7" action="ppaction://hlinksldjump"/>
              </a:rPr>
              <a:t>Collagen (B5)</a:t>
            </a:r>
            <a:endParaRPr lang="en-US" altLang="zh-CN" dirty="0"/>
          </a:p>
          <a:p>
            <a:pPr eaLnBrk="1" hangingPunct="1">
              <a:lnSpc>
                <a:spcPct val="90000"/>
              </a:lnSpc>
            </a:pPr>
            <a:r>
              <a:rPr lang="en-US" altLang="zh-CN" dirty="0">
                <a:hlinkClick r:id="rId8" action="ppaction://hlinksldjump"/>
              </a:rPr>
              <a:t>Protein purification (B6, B7,B8)</a:t>
            </a:r>
            <a:endParaRPr lang="en-US" altLang="zh-CN" dirty="0"/>
          </a:p>
          <a:p>
            <a:pPr eaLnBrk="1" hangingPunct="1">
              <a:lnSpc>
                <a:spcPct val="90000"/>
              </a:lnSpc>
            </a:pPr>
            <a:r>
              <a:rPr lang="en-US" altLang="zh-CN" dirty="0">
                <a:hlinkClick r:id="rId9" action="ppaction://hlinksldjump"/>
              </a:rPr>
              <a:t>Protein sequencing (B9)</a:t>
            </a:r>
            <a:endParaRPr lang="en-US" altLang="zh-CN" dirty="0"/>
          </a:p>
        </p:txBody>
      </p:sp>
      <p:sp>
        <p:nvSpPr>
          <p:cNvPr id="2" name="文本框 1">
            <a:extLst>
              <a:ext uri="{FF2B5EF4-FFF2-40B4-BE49-F238E27FC236}">
                <a16:creationId xmlns:a16="http://schemas.microsoft.com/office/drawing/2014/main" id="{574F9196-C388-48FD-A9FE-B75D20AFBBA0}"/>
              </a:ext>
            </a:extLst>
          </p:cNvPr>
          <p:cNvSpPr txBox="1"/>
          <p:nvPr/>
        </p:nvSpPr>
        <p:spPr>
          <a:xfrm>
            <a:off x="5508104" y="2204864"/>
            <a:ext cx="1008112" cy="369332"/>
          </a:xfrm>
          <a:prstGeom prst="rect">
            <a:avLst/>
          </a:prstGeom>
          <a:noFill/>
        </p:spPr>
        <p:txBody>
          <a:bodyPr wrap="square" rtlCol="0">
            <a:spAutoFit/>
          </a:bodyPr>
          <a:lstStyle/>
          <a:p>
            <a:r>
              <a:rPr lang="en-US" altLang="zh-CN" dirty="0">
                <a:hlinkClick r:id="rId10" action="ppaction://hlinksldjump"/>
              </a:rPr>
              <a:t>20 AA</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C48DC36-E978-43E3-8369-3A3AF9C3F35C}"/>
              </a:ext>
            </a:extLst>
          </p:cNvPr>
          <p:cNvPicPr>
            <a:picLocks noChangeAspect="1"/>
          </p:cNvPicPr>
          <p:nvPr/>
        </p:nvPicPr>
        <p:blipFill rotWithShape="1">
          <a:blip r:embed="rId3"/>
          <a:srcRect t="1" b="-1467"/>
          <a:stretch/>
        </p:blipFill>
        <p:spPr>
          <a:xfrm>
            <a:off x="1979712" y="1650934"/>
            <a:ext cx="3744416" cy="3556131"/>
          </a:xfrm>
          <a:prstGeom prst="rect">
            <a:avLst/>
          </a:prstGeom>
        </p:spPr>
      </p:pic>
      <p:sp>
        <p:nvSpPr>
          <p:cNvPr id="5" name="Text Box 7">
            <a:extLst>
              <a:ext uri="{FF2B5EF4-FFF2-40B4-BE49-F238E27FC236}">
                <a16:creationId xmlns:a16="http://schemas.microsoft.com/office/drawing/2014/main" id="{4127F82D-E8BC-4796-B975-3714BB6236EE}"/>
              </a:ext>
            </a:extLst>
          </p:cNvPr>
          <p:cNvSpPr txBox="1">
            <a:spLocks noChangeArrowheads="1"/>
          </p:cNvSpPr>
          <p:nvPr/>
        </p:nvSpPr>
        <p:spPr bwMode="auto">
          <a:xfrm>
            <a:off x="1100673" y="404664"/>
            <a:ext cx="548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en-US" altLang="zh-CN" b="1" dirty="0">
                <a:solidFill>
                  <a:srgbClr val="FF0066"/>
                </a:solidFill>
                <a:latin typeface="Times New Roman" panose="02020603050405020304" pitchFamily="18" charset="0"/>
              </a:rPr>
              <a:t>B0. General Introduction</a:t>
            </a:r>
          </a:p>
        </p:txBody>
      </p:sp>
    </p:spTree>
    <p:extLst>
      <p:ext uri="{BB962C8B-B14F-4D97-AF65-F5344CB8AC3E}">
        <p14:creationId xmlns:p14="http://schemas.microsoft.com/office/powerpoint/2010/main" val="1712307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4">
            <a:extLst>
              <a:ext uri="{FF2B5EF4-FFF2-40B4-BE49-F238E27FC236}">
                <a16:creationId xmlns:a16="http://schemas.microsoft.com/office/drawing/2014/main" id="{4319E51C-6E21-4E1F-9E1E-EB09D32DBEA5}"/>
              </a:ext>
            </a:extLst>
          </p:cNvPr>
          <p:cNvSpPr txBox="1">
            <a:spLocks noChangeArrowheads="1"/>
          </p:cNvSpPr>
          <p:nvPr/>
        </p:nvSpPr>
        <p:spPr bwMode="auto">
          <a:xfrm>
            <a:off x="1115616" y="1428821"/>
            <a:ext cx="7696200" cy="5429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buClrTx/>
              <a:buSzTx/>
              <a:buFontTx/>
              <a:buNone/>
            </a:pPr>
            <a:r>
              <a:rPr kumimoji="0" lang="en-US" altLang="zh-CN" sz="2800" b="1" dirty="0">
                <a:latin typeface="Times New Roman" panose="02020603050405020304" pitchFamily="18" charset="0"/>
                <a:sym typeface="Wingdings" panose="05000000000000000000" pitchFamily="2" charset="2"/>
              </a:rPr>
              <a:t>Proteins have widely diverse forms and functions.</a:t>
            </a:r>
          </a:p>
          <a:p>
            <a:pPr eaLnBrk="1" hangingPunct="1">
              <a:lnSpc>
                <a:spcPct val="130000"/>
              </a:lnSpc>
              <a:spcBef>
                <a:spcPct val="50000"/>
              </a:spcBef>
              <a:buClrTx/>
              <a:buSzTx/>
              <a:buFontTx/>
              <a:buNone/>
            </a:pPr>
            <a:r>
              <a:rPr kumimoji="0" lang="en-US" altLang="zh-CN" sz="2800" b="1" dirty="0">
                <a:latin typeface="Times New Roman" panose="02020603050405020304" pitchFamily="18" charset="0"/>
                <a:sym typeface="Wingdings" panose="05000000000000000000" pitchFamily="2" charset="2"/>
              </a:rPr>
              <a:t>enzymes(</a:t>
            </a:r>
            <a:r>
              <a:rPr kumimoji="0" lang="zh-CN" altLang="en-US" sz="2800" b="1" dirty="0">
                <a:latin typeface="Times New Roman" panose="02020603050405020304" pitchFamily="18" charset="0"/>
                <a:sym typeface="Wingdings" panose="05000000000000000000" pitchFamily="2" charset="2"/>
              </a:rPr>
              <a:t>酶),  </a:t>
            </a:r>
            <a:r>
              <a:rPr kumimoji="0" lang="en-US" altLang="zh-CN" sz="2800" b="1" dirty="0">
                <a:latin typeface="Times New Roman" panose="02020603050405020304" pitchFamily="18" charset="0"/>
                <a:sym typeface="Wingdings" panose="05000000000000000000" pitchFamily="2" charset="2"/>
              </a:rPr>
              <a:t>hormones(</a:t>
            </a:r>
            <a:r>
              <a:rPr kumimoji="0" lang="zh-CN" altLang="en-US" sz="2800" b="1" dirty="0">
                <a:latin typeface="Times New Roman" panose="02020603050405020304" pitchFamily="18" charset="0"/>
                <a:sym typeface="Wingdings" panose="05000000000000000000" pitchFamily="2" charset="2"/>
              </a:rPr>
              <a:t>激素,荷尔蒙), </a:t>
            </a:r>
            <a:r>
              <a:rPr kumimoji="0" lang="en-US" altLang="zh-CN" sz="2800" b="1" dirty="0">
                <a:latin typeface="Times New Roman" panose="02020603050405020304" pitchFamily="18" charset="0"/>
                <a:sym typeface="Wingdings" panose="05000000000000000000" pitchFamily="2" charset="2"/>
              </a:rPr>
              <a:t>antibodies(</a:t>
            </a:r>
            <a:r>
              <a:rPr kumimoji="0" lang="zh-CN" altLang="en-US" sz="2800" b="1" dirty="0">
                <a:latin typeface="Times New Roman" panose="02020603050405020304" pitchFamily="18" charset="0"/>
                <a:sym typeface="Wingdings" panose="05000000000000000000" pitchFamily="2" charset="2"/>
              </a:rPr>
              <a:t>抗体), </a:t>
            </a:r>
            <a:r>
              <a:rPr kumimoji="0" lang="en-US" altLang="zh-CN" sz="2800" b="1" dirty="0">
                <a:latin typeface="Times New Roman" panose="02020603050405020304" pitchFamily="18" charset="0"/>
                <a:sym typeface="Wingdings" panose="05000000000000000000" pitchFamily="2" charset="2"/>
              </a:rPr>
              <a:t>transporters(</a:t>
            </a:r>
            <a:r>
              <a:rPr kumimoji="0" lang="zh-CN" altLang="en-US" sz="2800" b="1" dirty="0">
                <a:latin typeface="Times New Roman" panose="02020603050405020304" pitchFamily="18" charset="0"/>
                <a:sym typeface="Wingdings" panose="05000000000000000000" pitchFamily="2" charset="2"/>
              </a:rPr>
              <a:t>转运蛋白),</a:t>
            </a:r>
          </a:p>
          <a:p>
            <a:pPr eaLnBrk="1" hangingPunct="1">
              <a:lnSpc>
                <a:spcPct val="130000"/>
              </a:lnSpc>
              <a:spcBef>
                <a:spcPct val="50000"/>
              </a:spcBef>
              <a:buClrTx/>
              <a:buSzTx/>
              <a:buFontTx/>
              <a:buNone/>
            </a:pPr>
            <a:r>
              <a:rPr kumimoji="0" lang="en-US" altLang="zh-CN" sz="2800" b="1" dirty="0">
                <a:latin typeface="Times New Roman" panose="02020603050405020304" pitchFamily="18" charset="0"/>
                <a:sym typeface="Wingdings" panose="05000000000000000000" pitchFamily="2" charset="2"/>
              </a:rPr>
              <a:t>muscle(</a:t>
            </a:r>
            <a:r>
              <a:rPr kumimoji="0" lang="zh-CN" altLang="en-US" sz="2800" b="1" dirty="0">
                <a:latin typeface="Times New Roman" panose="02020603050405020304" pitchFamily="18" charset="0"/>
                <a:sym typeface="Wingdings" panose="05000000000000000000" pitchFamily="2" charset="2"/>
              </a:rPr>
              <a:t>肌肉), </a:t>
            </a:r>
            <a:r>
              <a:rPr kumimoji="0" lang="en-US" altLang="zh-CN" sz="2800" b="1" dirty="0">
                <a:latin typeface="Times New Roman" panose="02020603050405020304" pitchFamily="18" charset="0"/>
                <a:sym typeface="Wingdings" panose="05000000000000000000" pitchFamily="2" charset="2"/>
              </a:rPr>
              <a:t>lens protein of eyes(</a:t>
            </a:r>
            <a:r>
              <a:rPr kumimoji="0" lang="zh-CN" altLang="en-US" sz="2800" b="1" dirty="0">
                <a:latin typeface="Times New Roman" panose="02020603050405020304" pitchFamily="18" charset="0"/>
                <a:sym typeface="Wingdings" panose="05000000000000000000" pitchFamily="2" charset="2"/>
              </a:rPr>
              <a:t>眼睛晶状体), </a:t>
            </a:r>
            <a:r>
              <a:rPr kumimoji="0" lang="en-US" altLang="zh-CN" sz="2800" b="1" dirty="0">
                <a:latin typeface="Times New Roman" panose="02020603050405020304" pitchFamily="18" charset="0"/>
                <a:sym typeface="Wingdings" panose="05000000000000000000" pitchFamily="2" charset="2"/>
              </a:rPr>
              <a:t>spider webs(</a:t>
            </a:r>
            <a:r>
              <a:rPr kumimoji="0" lang="zh-CN" altLang="en-US" sz="2800" b="1" dirty="0">
                <a:latin typeface="Times New Roman" panose="02020603050405020304" pitchFamily="18" charset="0"/>
                <a:sym typeface="Wingdings" panose="05000000000000000000" pitchFamily="2" charset="2"/>
              </a:rPr>
              <a:t>蜘蛛网), </a:t>
            </a:r>
            <a:r>
              <a:rPr kumimoji="0" lang="en-US" altLang="zh-CN" sz="2800" b="1" dirty="0">
                <a:latin typeface="Times New Roman" panose="02020603050405020304" pitchFamily="18" charset="0"/>
                <a:sym typeface="Wingdings" panose="05000000000000000000" pitchFamily="2" charset="2"/>
              </a:rPr>
              <a:t>rhinoceros horn(</a:t>
            </a:r>
            <a:r>
              <a:rPr kumimoji="0" lang="zh-CN" altLang="en-US" sz="2800" b="1" dirty="0">
                <a:latin typeface="Times New Roman" panose="02020603050405020304" pitchFamily="18" charset="0"/>
                <a:sym typeface="Wingdings" panose="05000000000000000000" pitchFamily="2" charset="2"/>
              </a:rPr>
              <a:t>犀牛角), </a:t>
            </a:r>
            <a:endParaRPr kumimoji="0" lang="en-US" altLang="zh-CN" sz="2800" b="1" dirty="0">
              <a:latin typeface="Times New Roman" panose="02020603050405020304" pitchFamily="18" charset="0"/>
              <a:sym typeface="Wingdings" panose="05000000000000000000" pitchFamily="2" charset="2"/>
            </a:endParaRPr>
          </a:p>
          <a:p>
            <a:pPr eaLnBrk="1" hangingPunct="1">
              <a:lnSpc>
                <a:spcPct val="130000"/>
              </a:lnSpc>
              <a:spcBef>
                <a:spcPct val="50000"/>
              </a:spcBef>
              <a:buClrTx/>
              <a:buSzTx/>
              <a:buFontTx/>
              <a:buNone/>
            </a:pPr>
            <a:r>
              <a:rPr lang="en-US" altLang="zh-CN" sz="2800" b="1" dirty="0">
                <a:latin typeface="Times New Roman" panose="02020603050405020304" pitchFamily="18" charset="0"/>
                <a:sym typeface="Wingdings" panose="05000000000000000000" pitchFamily="2" charset="2"/>
              </a:rPr>
              <a:t>Antibiotics</a:t>
            </a:r>
            <a:r>
              <a:rPr lang="zh-CN" altLang="en-US" sz="2800" b="1" dirty="0">
                <a:latin typeface="Times New Roman" panose="02020603050405020304" pitchFamily="18" charset="0"/>
                <a:sym typeface="Wingdings" panose="05000000000000000000" pitchFamily="2" charset="2"/>
              </a:rPr>
              <a:t>（抗生素）</a:t>
            </a:r>
            <a:endParaRPr kumimoji="0" lang="en-US" altLang="zh-CN" sz="2800" b="1" dirty="0">
              <a:latin typeface="Times New Roman" panose="02020603050405020304" pitchFamily="18" charset="0"/>
              <a:sym typeface="Wingdings" panose="05000000000000000000" pitchFamily="2" charset="2"/>
            </a:endParaRPr>
          </a:p>
          <a:p>
            <a:pPr eaLnBrk="1" hangingPunct="1">
              <a:lnSpc>
                <a:spcPct val="130000"/>
              </a:lnSpc>
              <a:spcBef>
                <a:spcPct val="50000"/>
              </a:spcBef>
              <a:buClrTx/>
              <a:buSzTx/>
              <a:buFontTx/>
              <a:buNone/>
            </a:pPr>
            <a:r>
              <a:rPr kumimoji="0" lang="en-US" altLang="zh-CN" sz="2800" b="1" dirty="0">
                <a:latin typeface="Times New Roman" panose="02020603050405020304" pitchFamily="18" charset="0"/>
                <a:sym typeface="Wingdings" panose="05000000000000000000" pitchFamily="2" charset="2"/>
              </a:rPr>
              <a:t>mushroom poisons(</a:t>
            </a:r>
            <a:r>
              <a:rPr kumimoji="0" lang="zh-CN" altLang="en-US" sz="2800" b="1" dirty="0">
                <a:latin typeface="Times New Roman" panose="02020603050405020304" pitchFamily="18" charset="0"/>
                <a:sym typeface="Wingdings" panose="05000000000000000000" pitchFamily="2" charset="2"/>
              </a:rPr>
              <a:t>蘑菇毒素).</a:t>
            </a:r>
          </a:p>
          <a:p>
            <a:pPr eaLnBrk="1" hangingPunct="1">
              <a:spcBef>
                <a:spcPct val="50000"/>
              </a:spcBef>
              <a:buClrTx/>
              <a:buSzTx/>
              <a:buFontTx/>
              <a:buNone/>
            </a:pPr>
            <a:endParaRPr lang="zh-CN" altLang="en-US" sz="2400" b="1" dirty="0">
              <a:latin typeface="Tahoma" panose="020B0604030504040204" pitchFamily="34" charset="0"/>
            </a:endParaRPr>
          </a:p>
        </p:txBody>
      </p:sp>
      <p:sp>
        <p:nvSpPr>
          <p:cNvPr id="2" name="Text Box 7">
            <a:extLst>
              <a:ext uri="{FF2B5EF4-FFF2-40B4-BE49-F238E27FC236}">
                <a16:creationId xmlns:a16="http://schemas.microsoft.com/office/drawing/2014/main" id="{23DE2B7A-2C38-47AD-B46D-574A531B885F}"/>
              </a:ext>
            </a:extLst>
          </p:cNvPr>
          <p:cNvSpPr txBox="1">
            <a:spLocks noChangeArrowheads="1"/>
          </p:cNvSpPr>
          <p:nvPr/>
        </p:nvSpPr>
        <p:spPr bwMode="auto">
          <a:xfrm>
            <a:off x="1100673" y="404664"/>
            <a:ext cx="548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en-US" altLang="zh-CN" b="1" dirty="0">
                <a:solidFill>
                  <a:srgbClr val="FF0066"/>
                </a:solidFill>
                <a:latin typeface="Times New Roman" panose="02020603050405020304" pitchFamily="18" charset="0"/>
              </a:rPr>
              <a:t>B0. General Introduction</a:t>
            </a:r>
          </a:p>
        </p:txBody>
      </p:sp>
    </p:spTree>
    <p:extLst>
      <p:ext uri="{BB962C8B-B14F-4D97-AF65-F5344CB8AC3E}">
        <p14:creationId xmlns:p14="http://schemas.microsoft.com/office/powerpoint/2010/main" val="1755276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a:extLst>
              <a:ext uri="{FF2B5EF4-FFF2-40B4-BE49-F238E27FC236}">
                <a16:creationId xmlns:a16="http://schemas.microsoft.com/office/drawing/2014/main" id="{3FEA4C04-917C-4040-A57D-A3288AEEB5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213" y="838200"/>
            <a:ext cx="7519987" cy="533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Text Box 3">
            <a:extLst>
              <a:ext uri="{FF2B5EF4-FFF2-40B4-BE49-F238E27FC236}">
                <a16:creationId xmlns:a16="http://schemas.microsoft.com/office/drawing/2014/main" id="{6FF55AAB-DC88-40B6-B2D7-10352359C216}"/>
              </a:ext>
            </a:extLst>
          </p:cNvPr>
          <p:cNvSpPr txBox="1">
            <a:spLocks noChangeArrowheads="1"/>
          </p:cNvSpPr>
          <p:nvPr/>
        </p:nvSpPr>
        <p:spPr bwMode="auto">
          <a:xfrm>
            <a:off x="180975" y="6019800"/>
            <a:ext cx="91112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400" b="1" dirty="0">
                <a:latin typeface="Times New Roman" panose="02020603050405020304" pitchFamily="18" charset="0"/>
              </a:rPr>
              <a:t>Fireflies emit light catalyzed by luciferase（</a:t>
            </a:r>
            <a:r>
              <a:rPr lang="zh-CN" altLang="en-US" sz="2400" b="1" dirty="0">
                <a:latin typeface="Times New Roman" panose="02020603050405020304" pitchFamily="18" charset="0"/>
              </a:rPr>
              <a:t>萤光素酶） </a:t>
            </a:r>
            <a:r>
              <a:rPr lang="en-US" altLang="zh-CN" sz="2400" b="1" dirty="0">
                <a:latin typeface="Times New Roman" panose="02020603050405020304" pitchFamily="18" charset="0"/>
              </a:rPr>
              <a:t>with ATP</a:t>
            </a:r>
            <a:endParaRPr lang="en-US" altLang="zh-CN" sz="2400" dirty="0">
              <a:latin typeface="Times New Roman" panose="02020603050405020304" pitchFamily="18" charset="0"/>
            </a:endParaRPr>
          </a:p>
        </p:txBody>
      </p:sp>
      <p:sp>
        <p:nvSpPr>
          <p:cNvPr id="33796" name="Text Box 4">
            <a:extLst>
              <a:ext uri="{FF2B5EF4-FFF2-40B4-BE49-F238E27FC236}">
                <a16:creationId xmlns:a16="http://schemas.microsoft.com/office/drawing/2014/main" id="{232CCA26-8F3A-4702-85E7-8DEC9D1264D9}"/>
              </a:ext>
            </a:extLst>
          </p:cNvPr>
          <p:cNvSpPr txBox="1">
            <a:spLocks noChangeArrowheads="1"/>
          </p:cNvSpPr>
          <p:nvPr/>
        </p:nvSpPr>
        <p:spPr bwMode="auto">
          <a:xfrm>
            <a:off x="533400" y="152400"/>
            <a:ext cx="598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A few examples on protein diversity…</a:t>
            </a:r>
            <a:endParaRPr lang="en-US" altLang="zh-CN" sz="2400">
              <a:latin typeface="Times New Roman" panose="02020603050405020304" pitchFamily="18" charset="0"/>
            </a:endParaRPr>
          </a:p>
        </p:txBody>
      </p:sp>
    </p:spTree>
    <p:extLst>
      <p:ext uri="{BB962C8B-B14F-4D97-AF65-F5344CB8AC3E}">
        <p14:creationId xmlns:p14="http://schemas.microsoft.com/office/powerpoint/2010/main" val="3632368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AC44AA6-5211-B717-6A00-8B92992B2BEC}"/>
              </a:ext>
            </a:extLst>
          </p:cNvPr>
          <p:cNvSpPr>
            <a:spLocks noGrp="1"/>
          </p:cNvSpPr>
          <p:nvPr>
            <p:ph/>
          </p:nvPr>
        </p:nvSpPr>
        <p:spPr/>
        <p:txBody>
          <a:bodyPr/>
          <a:lstStyle/>
          <a:p>
            <a:endParaRPr lang="zh-CN" altLang="en-US"/>
          </a:p>
        </p:txBody>
      </p:sp>
      <p:pic>
        <p:nvPicPr>
          <p:cNvPr id="3" name="图片 2">
            <a:extLst>
              <a:ext uri="{FF2B5EF4-FFF2-40B4-BE49-F238E27FC236}">
                <a16:creationId xmlns:a16="http://schemas.microsoft.com/office/drawing/2014/main" id="{70FE777D-635E-7117-BED9-4DCA0D1E1405}"/>
              </a:ext>
            </a:extLst>
          </p:cNvPr>
          <p:cNvPicPr>
            <a:picLocks noChangeAspect="1"/>
          </p:cNvPicPr>
          <p:nvPr/>
        </p:nvPicPr>
        <p:blipFill>
          <a:blip r:embed="rId2"/>
          <a:stretch>
            <a:fillRect/>
          </a:stretch>
        </p:blipFill>
        <p:spPr>
          <a:xfrm>
            <a:off x="1331640" y="725487"/>
            <a:ext cx="6858000" cy="3762375"/>
          </a:xfrm>
          <a:prstGeom prst="rect">
            <a:avLst/>
          </a:prstGeom>
        </p:spPr>
      </p:pic>
      <p:pic>
        <p:nvPicPr>
          <p:cNvPr id="4" name="图片 3">
            <a:extLst>
              <a:ext uri="{FF2B5EF4-FFF2-40B4-BE49-F238E27FC236}">
                <a16:creationId xmlns:a16="http://schemas.microsoft.com/office/drawing/2014/main" id="{EA10307F-E990-EB97-998B-BE60351E48A7}"/>
              </a:ext>
            </a:extLst>
          </p:cNvPr>
          <p:cNvPicPr>
            <a:picLocks noChangeAspect="1"/>
          </p:cNvPicPr>
          <p:nvPr/>
        </p:nvPicPr>
        <p:blipFill>
          <a:blip r:embed="rId3"/>
          <a:stretch>
            <a:fillRect/>
          </a:stretch>
        </p:blipFill>
        <p:spPr>
          <a:xfrm>
            <a:off x="1331640" y="4603694"/>
            <a:ext cx="6858000" cy="1724025"/>
          </a:xfrm>
          <a:prstGeom prst="rect">
            <a:avLst/>
          </a:prstGeom>
        </p:spPr>
      </p:pic>
    </p:spTree>
    <p:extLst>
      <p:ext uri="{BB962C8B-B14F-4D97-AF65-F5344CB8AC3E}">
        <p14:creationId xmlns:p14="http://schemas.microsoft.com/office/powerpoint/2010/main" val="1597783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3C87C3B-8B32-CB74-F675-BBD1F2530F77}"/>
              </a:ext>
            </a:extLst>
          </p:cNvPr>
          <p:cNvSpPr>
            <a:spLocks noGrp="1"/>
          </p:cNvSpPr>
          <p:nvPr>
            <p:ph/>
          </p:nvPr>
        </p:nvSpPr>
        <p:spPr/>
        <p:txBody>
          <a:bodyPr/>
          <a:lstStyle/>
          <a:p>
            <a:endParaRPr lang="zh-CN" altLang="en-US"/>
          </a:p>
        </p:txBody>
      </p:sp>
      <p:pic>
        <p:nvPicPr>
          <p:cNvPr id="3" name="图片 2">
            <a:extLst>
              <a:ext uri="{FF2B5EF4-FFF2-40B4-BE49-F238E27FC236}">
                <a16:creationId xmlns:a16="http://schemas.microsoft.com/office/drawing/2014/main" id="{52728DFC-642A-2788-D65D-C7E797D6662F}"/>
              </a:ext>
            </a:extLst>
          </p:cNvPr>
          <p:cNvPicPr>
            <a:picLocks noChangeAspect="1"/>
          </p:cNvPicPr>
          <p:nvPr/>
        </p:nvPicPr>
        <p:blipFill>
          <a:blip r:embed="rId2"/>
          <a:stretch>
            <a:fillRect/>
          </a:stretch>
        </p:blipFill>
        <p:spPr>
          <a:xfrm>
            <a:off x="1125862" y="2780928"/>
            <a:ext cx="7620000" cy="3629025"/>
          </a:xfrm>
          <a:prstGeom prst="rect">
            <a:avLst/>
          </a:prstGeom>
        </p:spPr>
      </p:pic>
      <p:pic>
        <p:nvPicPr>
          <p:cNvPr id="4" name="图片 3">
            <a:extLst>
              <a:ext uri="{FF2B5EF4-FFF2-40B4-BE49-F238E27FC236}">
                <a16:creationId xmlns:a16="http://schemas.microsoft.com/office/drawing/2014/main" id="{08F3B69D-6682-EDCD-1980-2BA4E52CF254}"/>
              </a:ext>
            </a:extLst>
          </p:cNvPr>
          <p:cNvPicPr>
            <a:picLocks noChangeAspect="1"/>
          </p:cNvPicPr>
          <p:nvPr/>
        </p:nvPicPr>
        <p:blipFill>
          <a:blip r:embed="rId3"/>
          <a:stretch>
            <a:fillRect/>
          </a:stretch>
        </p:blipFill>
        <p:spPr>
          <a:xfrm>
            <a:off x="938213" y="149028"/>
            <a:ext cx="4114800" cy="2590800"/>
          </a:xfrm>
          <a:prstGeom prst="rect">
            <a:avLst/>
          </a:prstGeom>
        </p:spPr>
      </p:pic>
    </p:spTree>
    <p:extLst>
      <p:ext uri="{BB962C8B-B14F-4D97-AF65-F5344CB8AC3E}">
        <p14:creationId xmlns:p14="http://schemas.microsoft.com/office/powerpoint/2010/main" val="644661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3AD8185-4040-0427-5954-39F2BC5D4533}"/>
              </a:ext>
            </a:extLst>
          </p:cNvPr>
          <p:cNvSpPr>
            <a:spLocks noGrp="1"/>
          </p:cNvSpPr>
          <p:nvPr>
            <p:ph/>
          </p:nvPr>
        </p:nvSpPr>
        <p:spPr/>
        <p:txBody>
          <a:bodyPr/>
          <a:lstStyle/>
          <a:p>
            <a:pPr algn="l"/>
            <a:r>
              <a:rPr lang="en-US" altLang="zh-CN" b="1" i="0" dirty="0" err="1">
                <a:solidFill>
                  <a:srgbClr val="121212"/>
                </a:solidFill>
                <a:effectLst/>
                <a:latin typeface="-apple-system"/>
              </a:rPr>
              <a:t>NanoLuc</a:t>
            </a:r>
            <a:r>
              <a:rPr lang="zh-CN" altLang="en-US" b="1" i="0" dirty="0">
                <a:solidFill>
                  <a:srgbClr val="121212"/>
                </a:solidFill>
                <a:effectLst/>
                <a:latin typeface="-apple-system"/>
              </a:rPr>
              <a:t>（</a:t>
            </a:r>
            <a:r>
              <a:rPr lang="en-US" altLang="zh-CN" b="1" i="0" dirty="0" err="1">
                <a:solidFill>
                  <a:srgbClr val="121212"/>
                </a:solidFill>
                <a:effectLst/>
                <a:latin typeface="-apple-system"/>
              </a:rPr>
              <a:t>Nluc</a:t>
            </a:r>
            <a:r>
              <a:rPr lang="zh-CN" altLang="en-US" b="1" i="0" dirty="0">
                <a:solidFill>
                  <a:srgbClr val="121212"/>
                </a:solidFill>
                <a:effectLst/>
                <a:latin typeface="-apple-system"/>
              </a:rPr>
              <a:t>）</a:t>
            </a:r>
          </a:p>
          <a:p>
            <a:pPr algn="l"/>
            <a:r>
              <a:rPr lang="zh-CN" altLang="en-US" b="0" i="0" dirty="0">
                <a:solidFill>
                  <a:srgbClr val="121212"/>
                </a:solidFill>
                <a:effectLst/>
                <a:latin typeface="-apple-system"/>
              </a:rPr>
              <a:t>源自深海细脚刺虾，是一个经过基因工程改造的小分子酶（</a:t>
            </a:r>
            <a:r>
              <a:rPr lang="en-US" altLang="zh-CN" b="0" i="0" dirty="0">
                <a:solidFill>
                  <a:srgbClr val="121212"/>
                </a:solidFill>
                <a:effectLst/>
                <a:latin typeface="-apple-system"/>
              </a:rPr>
              <a:t>19.1kDa</a:t>
            </a:r>
            <a:r>
              <a:rPr lang="zh-CN" altLang="en-US" b="0" i="0" dirty="0">
                <a:solidFill>
                  <a:srgbClr val="121212"/>
                </a:solidFill>
                <a:effectLst/>
                <a:latin typeface="-apple-system"/>
              </a:rPr>
              <a:t>，</a:t>
            </a:r>
            <a:r>
              <a:rPr lang="en-US" altLang="zh-CN" b="0" i="0" dirty="0">
                <a:solidFill>
                  <a:srgbClr val="121212"/>
                </a:solidFill>
                <a:effectLst/>
                <a:latin typeface="-apple-system"/>
              </a:rPr>
              <a:t>171</a:t>
            </a:r>
            <a:r>
              <a:rPr lang="zh-CN" altLang="en-US" b="0" i="0" dirty="0">
                <a:solidFill>
                  <a:srgbClr val="121212"/>
                </a:solidFill>
                <a:effectLst/>
                <a:latin typeface="-apple-system"/>
              </a:rPr>
              <a:t>个氨基酸，</a:t>
            </a:r>
            <a:r>
              <a:rPr lang="en-US" altLang="zh-CN" b="0" i="0" dirty="0">
                <a:solidFill>
                  <a:srgbClr val="121212"/>
                </a:solidFill>
                <a:effectLst/>
                <a:latin typeface="-apple-system"/>
              </a:rPr>
              <a:t>513bp</a:t>
            </a:r>
            <a:r>
              <a:rPr lang="zh-CN" altLang="en-US" b="0" i="0" dirty="0">
                <a:solidFill>
                  <a:srgbClr val="121212"/>
                </a:solidFill>
                <a:effectLst/>
                <a:latin typeface="-apple-system"/>
              </a:rPr>
              <a:t>），是</a:t>
            </a:r>
            <a:r>
              <a:rPr lang="en-US" altLang="zh-CN" b="0" i="0" dirty="0">
                <a:solidFill>
                  <a:srgbClr val="121212"/>
                </a:solidFill>
                <a:effectLst/>
                <a:latin typeface="-apple-system"/>
              </a:rPr>
              <a:t>Promega</a:t>
            </a:r>
            <a:r>
              <a:rPr lang="zh-CN" altLang="en-US" b="0" i="0" dirty="0">
                <a:solidFill>
                  <a:srgbClr val="121212"/>
                </a:solidFill>
                <a:effectLst/>
                <a:latin typeface="-apple-system"/>
              </a:rPr>
              <a:t>的专利萤光素酶，结构简单，没有翻译后修饰或者二硫键。它使用一种新型底物</a:t>
            </a:r>
            <a:r>
              <a:rPr lang="en-US" altLang="zh-CN" b="0" i="0" dirty="0">
                <a:solidFill>
                  <a:srgbClr val="121212"/>
                </a:solidFill>
                <a:effectLst/>
                <a:latin typeface="-apple-system"/>
              </a:rPr>
              <a:t>—</a:t>
            </a:r>
            <a:r>
              <a:rPr lang="en-US" altLang="zh-CN" b="1" i="0" dirty="0" err="1">
                <a:solidFill>
                  <a:srgbClr val="121212"/>
                </a:solidFill>
                <a:effectLst/>
                <a:latin typeface="-apple-system"/>
              </a:rPr>
              <a:t>Furimazine</a:t>
            </a:r>
            <a:r>
              <a:rPr lang="zh-CN" altLang="en-US" b="0" i="0" dirty="0">
                <a:solidFill>
                  <a:srgbClr val="121212"/>
                </a:solidFill>
                <a:effectLst/>
                <a:latin typeface="-apple-system"/>
              </a:rPr>
              <a:t>，不依赖</a:t>
            </a:r>
            <a:r>
              <a:rPr lang="en-US" altLang="zh-CN" b="0" i="0" dirty="0">
                <a:solidFill>
                  <a:srgbClr val="121212"/>
                </a:solidFill>
                <a:effectLst/>
                <a:latin typeface="-apple-system"/>
              </a:rPr>
              <a:t>ATP</a:t>
            </a:r>
            <a:r>
              <a:rPr lang="zh-CN" altLang="en-US" b="0" i="0" dirty="0">
                <a:solidFill>
                  <a:srgbClr val="121212"/>
                </a:solidFill>
                <a:effectLst/>
                <a:latin typeface="-apple-system"/>
              </a:rPr>
              <a:t>，光信号更亮。</a:t>
            </a:r>
          </a:p>
          <a:p>
            <a:endParaRPr lang="zh-CN" altLang="en-US" dirty="0"/>
          </a:p>
        </p:txBody>
      </p:sp>
      <p:pic>
        <p:nvPicPr>
          <p:cNvPr id="3" name="图片 2">
            <a:extLst>
              <a:ext uri="{FF2B5EF4-FFF2-40B4-BE49-F238E27FC236}">
                <a16:creationId xmlns:a16="http://schemas.microsoft.com/office/drawing/2014/main" id="{72453B41-5EAD-E653-36DD-1378789144D0}"/>
              </a:ext>
            </a:extLst>
          </p:cNvPr>
          <p:cNvPicPr>
            <a:picLocks noChangeAspect="1"/>
          </p:cNvPicPr>
          <p:nvPr/>
        </p:nvPicPr>
        <p:blipFill>
          <a:blip r:embed="rId2"/>
          <a:stretch>
            <a:fillRect/>
          </a:stretch>
        </p:blipFill>
        <p:spPr>
          <a:xfrm>
            <a:off x="1135062" y="4365104"/>
            <a:ext cx="6858000" cy="2286000"/>
          </a:xfrm>
          <a:prstGeom prst="rect">
            <a:avLst/>
          </a:prstGeom>
        </p:spPr>
      </p:pic>
    </p:spTree>
    <p:extLst>
      <p:ext uri="{BB962C8B-B14F-4D97-AF65-F5344CB8AC3E}">
        <p14:creationId xmlns:p14="http://schemas.microsoft.com/office/powerpoint/2010/main" val="2341010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5945CAA2-547C-44CC-AD3C-A37451C84997}"/>
              </a:ext>
            </a:extLst>
          </p:cNvPr>
          <p:cNvPicPr>
            <a:picLocks noGrp="1" noChangeAspect="1"/>
          </p:cNvPicPr>
          <p:nvPr>
            <p:ph/>
          </p:nvPr>
        </p:nvPicPr>
        <p:blipFill>
          <a:blip r:embed="rId2" cstate="print">
            <a:extLst>
              <a:ext uri="{28A0092B-C50C-407E-A947-70E740481C1C}">
                <a14:useLocalDpi xmlns:a14="http://schemas.microsoft.com/office/drawing/2010/main" val="0"/>
              </a:ext>
            </a:extLst>
          </a:blip>
          <a:stretch>
            <a:fillRect/>
          </a:stretch>
        </p:blipFill>
        <p:spPr>
          <a:xfrm>
            <a:off x="395536" y="404664"/>
            <a:ext cx="3714600" cy="2496211"/>
          </a:xfrm>
        </p:spPr>
      </p:pic>
      <p:pic>
        <p:nvPicPr>
          <p:cNvPr id="6" name="图片 5">
            <a:extLst>
              <a:ext uri="{FF2B5EF4-FFF2-40B4-BE49-F238E27FC236}">
                <a16:creationId xmlns:a16="http://schemas.microsoft.com/office/drawing/2014/main" id="{FC234A18-DCA6-4A0C-9AEC-A31318F2AB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784" y="1605475"/>
            <a:ext cx="5038725" cy="2590800"/>
          </a:xfrm>
          <a:prstGeom prst="rect">
            <a:avLst/>
          </a:prstGeom>
        </p:spPr>
      </p:pic>
      <p:pic>
        <p:nvPicPr>
          <p:cNvPr id="8" name="图片 7">
            <a:extLst>
              <a:ext uri="{FF2B5EF4-FFF2-40B4-BE49-F238E27FC236}">
                <a16:creationId xmlns:a16="http://schemas.microsoft.com/office/drawing/2014/main" id="{9C1F09F6-A9E7-40D9-B3C6-F96DCA8C5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23928" y="3000094"/>
            <a:ext cx="4140572" cy="2740306"/>
          </a:xfrm>
          <a:prstGeom prst="rect">
            <a:avLst/>
          </a:prstGeom>
        </p:spPr>
      </p:pic>
      <p:sp>
        <p:nvSpPr>
          <p:cNvPr id="10" name="文本框 9">
            <a:extLst>
              <a:ext uri="{FF2B5EF4-FFF2-40B4-BE49-F238E27FC236}">
                <a16:creationId xmlns:a16="http://schemas.microsoft.com/office/drawing/2014/main" id="{4E8093DD-044A-42B0-936B-AEEBE4203F0F}"/>
              </a:ext>
            </a:extLst>
          </p:cNvPr>
          <p:cNvSpPr txBox="1"/>
          <p:nvPr/>
        </p:nvSpPr>
        <p:spPr>
          <a:xfrm>
            <a:off x="3347864" y="5949280"/>
            <a:ext cx="1878284" cy="369332"/>
          </a:xfrm>
          <a:prstGeom prst="rect">
            <a:avLst/>
          </a:prstGeom>
          <a:noFill/>
        </p:spPr>
        <p:txBody>
          <a:bodyPr wrap="square" rtlCol="0">
            <a:spAutoFit/>
          </a:bodyPr>
          <a:lstStyle/>
          <a:p>
            <a:r>
              <a:rPr lang="en-US" altLang="zh-CN" dirty="0"/>
              <a:t>——</a:t>
            </a:r>
            <a:r>
              <a:rPr lang="zh-CN" altLang="en-US" dirty="0"/>
              <a:t>百度图片</a:t>
            </a:r>
          </a:p>
        </p:txBody>
      </p:sp>
    </p:spTree>
    <p:extLst>
      <p:ext uri="{BB962C8B-B14F-4D97-AF65-F5344CB8AC3E}">
        <p14:creationId xmlns:p14="http://schemas.microsoft.com/office/powerpoint/2010/main" val="2225985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9694661-77F0-4109-A476-001B3FD7D29C}"/>
              </a:ext>
            </a:extLst>
          </p:cNvPr>
          <p:cNvSpPr>
            <a:spLocks noGrp="1"/>
          </p:cNvSpPr>
          <p:nvPr>
            <p:ph/>
          </p:nvPr>
        </p:nvSpPr>
        <p:spPr/>
        <p:txBody>
          <a:bodyPr/>
          <a:lstStyle/>
          <a:p>
            <a:endParaRPr lang="zh-CN" altLang="en-US"/>
          </a:p>
        </p:txBody>
      </p:sp>
      <p:pic>
        <p:nvPicPr>
          <p:cNvPr id="3" name="图片 2">
            <a:extLst>
              <a:ext uri="{FF2B5EF4-FFF2-40B4-BE49-F238E27FC236}">
                <a16:creationId xmlns:a16="http://schemas.microsoft.com/office/drawing/2014/main" id="{127DCAAA-732E-4C71-A6C6-5B477EB726AB}"/>
              </a:ext>
            </a:extLst>
          </p:cNvPr>
          <p:cNvPicPr>
            <a:picLocks noChangeAspect="1"/>
          </p:cNvPicPr>
          <p:nvPr/>
        </p:nvPicPr>
        <p:blipFill>
          <a:blip r:embed="rId3"/>
          <a:stretch>
            <a:fillRect/>
          </a:stretch>
        </p:blipFill>
        <p:spPr>
          <a:xfrm>
            <a:off x="1012182" y="257175"/>
            <a:ext cx="4676476" cy="2595444"/>
          </a:xfrm>
          <a:prstGeom prst="rect">
            <a:avLst/>
          </a:prstGeom>
        </p:spPr>
      </p:pic>
      <p:sp>
        <p:nvSpPr>
          <p:cNvPr id="4" name="文本框 3">
            <a:extLst>
              <a:ext uri="{FF2B5EF4-FFF2-40B4-BE49-F238E27FC236}">
                <a16:creationId xmlns:a16="http://schemas.microsoft.com/office/drawing/2014/main" id="{45515356-CB1B-4558-A2AB-438C06E63183}"/>
              </a:ext>
            </a:extLst>
          </p:cNvPr>
          <p:cNvSpPr txBox="1"/>
          <p:nvPr/>
        </p:nvSpPr>
        <p:spPr>
          <a:xfrm>
            <a:off x="6228184" y="1034318"/>
            <a:ext cx="3888432" cy="923330"/>
          </a:xfrm>
          <a:prstGeom prst="rect">
            <a:avLst/>
          </a:prstGeom>
          <a:noFill/>
        </p:spPr>
        <p:txBody>
          <a:bodyPr wrap="square" rtlCol="0">
            <a:spAutoFit/>
          </a:bodyPr>
          <a:lstStyle/>
          <a:p>
            <a:r>
              <a:rPr lang="en-US" altLang="zh-CN" dirty="0"/>
              <a:t>Green fluorescent protein</a:t>
            </a:r>
          </a:p>
          <a:p>
            <a:r>
              <a:rPr lang="zh-CN" altLang="en-US" dirty="0"/>
              <a:t>绿色荧光蛋白</a:t>
            </a:r>
            <a:endParaRPr lang="en-US" altLang="zh-CN" dirty="0"/>
          </a:p>
          <a:p>
            <a:endParaRPr lang="zh-CN" altLang="en-US" dirty="0"/>
          </a:p>
        </p:txBody>
      </p:sp>
      <p:pic>
        <p:nvPicPr>
          <p:cNvPr id="10242" name="Picture 2">
            <a:extLst>
              <a:ext uri="{FF2B5EF4-FFF2-40B4-BE49-F238E27FC236}">
                <a16:creationId xmlns:a16="http://schemas.microsoft.com/office/drawing/2014/main" id="{DBBB8EA1-458A-409A-8339-B578DD320B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589" y="2924944"/>
            <a:ext cx="8054822" cy="2595443"/>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8297B4A8-80BB-4099-8EF2-AEB3C0587122}"/>
              </a:ext>
            </a:extLst>
          </p:cNvPr>
          <p:cNvSpPr txBox="1"/>
          <p:nvPr/>
        </p:nvSpPr>
        <p:spPr>
          <a:xfrm>
            <a:off x="336998" y="5646664"/>
            <a:ext cx="8627420" cy="646331"/>
          </a:xfrm>
          <a:prstGeom prst="rect">
            <a:avLst/>
          </a:prstGeom>
          <a:noFill/>
        </p:spPr>
        <p:txBody>
          <a:bodyPr wrap="square">
            <a:spAutoFit/>
          </a:bodyPr>
          <a:lstStyle/>
          <a:p>
            <a:r>
              <a:rPr lang="en-US" altLang="zh-CN" dirty="0"/>
              <a:t>2008</a:t>
            </a:r>
            <a:r>
              <a:rPr lang="zh-CN" altLang="en-US" dirty="0"/>
              <a:t>年，瑞典皇家科学院将当年诺贝尔化学奖分别授予日本科学家下村修（左一）、美国科学家马丁</a:t>
            </a:r>
            <a:r>
              <a:rPr lang="en-US" altLang="zh-CN" dirty="0"/>
              <a:t>·</a:t>
            </a:r>
            <a:r>
              <a:rPr lang="zh-CN" altLang="en-US" dirty="0"/>
              <a:t>查尔菲（中）和美籍华裔科学家钱永健（左三）</a:t>
            </a:r>
          </a:p>
        </p:txBody>
      </p:sp>
      <p:sp>
        <p:nvSpPr>
          <p:cNvPr id="8" name="文本框 7">
            <a:extLst>
              <a:ext uri="{FF2B5EF4-FFF2-40B4-BE49-F238E27FC236}">
                <a16:creationId xmlns:a16="http://schemas.microsoft.com/office/drawing/2014/main" id="{D9127AF4-35BB-4D05-AF15-8B14EFBEFD84}"/>
              </a:ext>
            </a:extLst>
          </p:cNvPr>
          <p:cNvSpPr txBox="1"/>
          <p:nvPr/>
        </p:nvSpPr>
        <p:spPr>
          <a:xfrm>
            <a:off x="6197575" y="380339"/>
            <a:ext cx="1614785" cy="369332"/>
          </a:xfrm>
          <a:prstGeom prst="rect">
            <a:avLst/>
          </a:prstGeom>
          <a:noFill/>
        </p:spPr>
        <p:txBody>
          <a:bodyPr wrap="square">
            <a:spAutoFit/>
          </a:bodyPr>
          <a:lstStyle/>
          <a:p>
            <a:r>
              <a:rPr lang="en-US" altLang="zh-CN" dirty="0"/>
              <a:t>Aequorea</a:t>
            </a:r>
            <a:endParaRPr lang="zh-CN" altLang="en-US" dirty="0"/>
          </a:p>
        </p:txBody>
      </p:sp>
      <p:sp>
        <p:nvSpPr>
          <p:cNvPr id="5" name="文本框 4">
            <a:extLst>
              <a:ext uri="{FF2B5EF4-FFF2-40B4-BE49-F238E27FC236}">
                <a16:creationId xmlns:a16="http://schemas.microsoft.com/office/drawing/2014/main" id="{FFB961BB-8DDA-4B1A-BF00-96B15D8969C9}"/>
              </a:ext>
            </a:extLst>
          </p:cNvPr>
          <p:cNvSpPr txBox="1"/>
          <p:nvPr/>
        </p:nvSpPr>
        <p:spPr>
          <a:xfrm>
            <a:off x="315568" y="6612565"/>
            <a:ext cx="9813905" cy="184666"/>
          </a:xfrm>
          <a:prstGeom prst="rect">
            <a:avLst/>
          </a:prstGeom>
          <a:noFill/>
        </p:spPr>
        <p:txBody>
          <a:bodyPr wrap="none" rtlCol="0">
            <a:spAutoFit/>
          </a:bodyPr>
          <a:lstStyle/>
          <a:p>
            <a:r>
              <a:rPr lang="en-US" altLang="zh-CN" sz="600" dirty="0"/>
              <a:t>https://www.bilibili.com/video/BV1f4411k755?is_story_h5=false&amp;p=1&amp;share_from=ugc&amp;share_medium=android&amp;share_plat=android&amp;share_session_id=c4e40565-2c67-4466-8031-7021e3f37bdc&amp;share_source=WEIXIN&amp;share_tag=s_i&amp;timestamp=1662295220&amp;unique_k=2Dio5zi</a:t>
            </a:r>
            <a:endParaRPr lang="zh-CN" altLang="en-US" sz="600" dirty="0"/>
          </a:p>
        </p:txBody>
      </p:sp>
      <p:sp>
        <p:nvSpPr>
          <p:cNvPr id="6" name="文本框 5">
            <a:extLst>
              <a:ext uri="{FF2B5EF4-FFF2-40B4-BE49-F238E27FC236}">
                <a16:creationId xmlns:a16="http://schemas.microsoft.com/office/drawing/2014/main" id="{57689185-C178-D93D-0A45-084DBE0991A0}"/>
              </a:ext>
            </a:extLst>
          </p:cNvPr>
          <p:cNvSpPr txBox="1"/>
          <p:nvPr/>
        </p:nvSpPr>
        <p:spPr>
          <a:xfrm>
            <a:off x="336998" y="6292995"/>
            <a:ext cx="1082348" cy="307777"/>
          </a:xfrm>
          <a:prstGeom prst="rect">
            <a:avLst/>
          </a:prstGeom>
          <a:noFill/>
        </p:spPr>
        <p:txBody>
          <a:bodyPr wrap="none" rtlCol="0">
            <a:spAutoFit/>
          </a:bodyPr>
          <a:lstStyle/>
          <a:p>
            <a:r>
              <a:rPr lang="zh-CN" altLang="en-US" sz="1400" dirty="0"/>
              <a:t>钱永健演讲</a:t>
            </a:r>
          </a:p>
        </p:txBody>
      </p:sp>
    </p:spTree>
    <p:extLst>
      <p:ext uri="{BB962C8B-B14F-4D97-AF65-F5344CB8AC3E}">
        <p14:creationId xmlns:p14="http://schemas.microsoft.com/office/powerpoint/2010/main" val="3945738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C1E262-F36B-41DD-A0DF-009435E490F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96BCB33-ECF5-4177-83FA-3C42AD5F23C7}"/>
              </a:ext>
            </a:extLst>
          </p:cNvPr>
          <p:cNvSpPr>
            <a:spLocks noGrp="1"/>
          </p:cNvSpPr>
          <p:nvPr>
            <p:ph idx="1"/>
          </p:nvPr>
        </p:nvSpPr>
        <p:spPr/>
        <p:txBody>
          <a:bodyPr/>
          <a:lstStyle/>
          <a:p>
            <a:endParaRPr lang="zh-CN" altLang="en-US"/>
          </a:p>
        </p:txBody>
      </p:sp>
      <p:pic>
        <p:nvPicPr>
          <p:cNvPr id="11266" name="Picture 2">
            <a:extLst>
              <a:ext uri="{FF2B5EF4-FFF2-40B4-BE49-F238E27FC236}">
                <a16:creationId xmlns:a16="http://schemas.microsoft.com/office/drawing/2014/main" id="{F4B24035-0DA1-4EA9-88A0-4F46090611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124744"/>
            <a:ext cx="6829425" cy="327660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EF2F7463-FDC9-4DCD-98C8-1AF66D17DCF1}"/>
              </a:ext>
            </a:extLst>
          </p:cNvPr>
          <p:cNvSpPr txBox="1"/>
          <p:nvPr/>
        </p:nvSpPr>
        <p:spPr>
          <a:xfrm>
            <a:off x="481338" y="4709755"/>
            <a:ext cx="7776864" cy="369332"/>
          </a:xfrm>
          <a:prstGeom prst="rect">
            <a:avLst/>
          </a:prstGeom>
          <a:noFill/>
        </p:spPr>
        <p:txBody>
          <a:bodyPr wrap="square">
            <a:spAutoFit/>
          </a:bodyPr>
          <a:lstStyle/>
          <a:p>
            <a:r>
              <a:rPr lang="zh-CN" altLang="en-US" dirty="0"/>
              <a:t>钱永健实验室改造的一系列荧光蛋白变体及其被激发光照射后呈现出的颜色</a:t>
            </a:r>
          </a:p>
        </p:txBody>
      </p:sp>
    </p:spTree>
    <p:extLst>
      <p:ext uri="{BB962C8B-B14F-4D97-AF65-F5344CB8AC3E}">
        <p14:creationId xmlns:p14="http://schemas.microsoft.com/office/powerpoint/2010/main" val="2661863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935596" y="404664"/>
            <a:ext cx="6948772" cy="5112568"/>
            <a:chOff x="3969811" y="230303"/>
            <a:chExt cx="4852225" cy="3071573"/>
          </a:xfrm>
        </p:grpSpPr>
        <p:grpSp>
          <p:nvGrpSpPr>
            <p:cNvPr id="20" name="组合 19"/>
            <p:cNvGrpSpPr/>
            <p:nvPr/>
          </p:nvGrpSpPr>
          <p:grpSpPr>
            <a:xfrm>
              <a:off x="4836771" y="407221"/>
              <a:ext cx="3985265" cy="2894655"/>
              <a:chOff x="754878" y="908720"/>
              <a:chExt cx="8011102" cy="5616207"/>
            </a:xfrm>
          </p:grpSpPr>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878" y="908720"/>
                <a:ext cx="8011102" cy="1872207"/>
              </a:xfrm>
              <a:prstGeom prst="rect">
                <a:avLst/>
              </a:prstGeom>
            </p:spPr>
          </p:pic>
          <p:pic>
            <p:nvPicPr>
              <p:cNvPr id="22" name="图片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4879" y="2780928"/>
                <a:ext cx="8010000" cy="1871591"/>
              </a:xfrm>
              <a:prstGeom prst="rect">
                <a:avLst/>
              </a:prstGeom>
            </p:spPr>
          </p:pic>
          <p:pic>
            <p:nvPicPr>
              <p:cNvPr id="23" name="图片 2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5576" y="4652927"/>
                <a:ext cx="8010404" cy="1872000"/>
              </a:xfrm>
              <a:prstGeom prst="rect">
                <a:avLst/>
              </a:prstGeom>
            </p:spPr>
          </p:pic>
        </p:grpSp>
        <p:grpSp>
          <p:nvGrpSpPr>
            <p:cNvPr id="28" name="组合 27"/>
            <p:cNvGrpSpPr/>
            <p:nvPr/>
          </p:nvGrpSpPr>
          <p:grpSpPr>
            <a:xfrm>
              <a:off x="3969811" y="230303"/>
              <a:ext cx="4601473" cy="2564383"/>
              <a:chOff x="3969811" y="263315"/>
              <a:chExt cx="4601473" cy="2564383"/>
            </a:xfrm>
          </p:grpSpPr>
          <p:sp>
            <p:nvSpPr>
              <p:cNvPr id="17" name="TextBox 16"/>
              <p:cNvSpPr txBox="1"/>
              <p:nvPr/>
            </p:nvSpPr>
            <p:spPr>
              <a:xfrm>
                <a:off x="4948882" y="268757"/>
                <a:ext cx="1495566" cy="230832"/>
              </a:xfrm>
              <a:prstGeom prst="rect">
                <a:avLst/>
              </a:prstGeom>
              <a:noFill/>
            </p:spPr>
            <p:txBody>
              <a:bodyPr wrap="square" rtlCol="0">
                <a:spAutoFit/>
              </a:bodyPr>
              <a:lstStyle/>
              <a:p>
                <a:r>
                  <a:rPr lang="en-US" altLang="zh-CN" sz="1200" b="1" dirty="0">
                    <a:latin typeface="Arial" pitchFamily="34" charset="0"/>
                    <a:cs typeface="Arial" pitchFamily="34" charset="0"/>
                  </a:rPr>
                  <a:t>ER Marker:CD3-959 </a:t>
                </a:r>
                <a:endParaRPr lang="zh-CN" altLang="en-US" sz="1200" b="1" dirty="0">
                  <a:latin typeface="Arial" pitchFamily="34" charset="0"/>
                  <a:cs typeface="Arial" pitchFamily="34" charset="0"/>
                </a:endParaRPr>
              </a:p>
            </p:txBody>
          </p:sp>
          <p:sp>
            <p:nvSpPr>
              <p:cNvPr id="18" name="TextBox 17"/>
              <p:cNvSpPr txBox="1"/>
              <p:nvPr/>
            </p:nvSpPr>
            <p:spPr>
              <a:xfrm>
                <a:off x="6421985" y="263315"/>
                <a:ext cx="1114564" cy="166418"/>
              </a:xfrm>
              <a:prstGeom prst="rect">
                <a:avLst/>
              </a:prstGeom>
              <a:noFill/>
            </p:spPr>
            <p:txBody>
              <a:bodyPr wrap="square" rtlCol="0">
                <a:spAutoFit/>
              </a:bodyPr>
              <a:lstStyle>
                <a:defPPr>
                  <a:defRPr lang="zh-CN"/>
                </a:defPPr>
                <a:lvl1pPr>
                  <a:defRPr sz="900">
                    <a:latin typeface="Arial" pitchFamily="34" charset="0"/>
                    <a:cs typeface="Arial" pitchFamily="34" charset="0"/>
                  </a:defRPr>
                </a:lvl1pPr>
              </a:lstStyle>
              <a:p>
                <a:r>
                  <a:rPr lang="en-US" altLang="zh-CN" sz="1200" b="1" dirty="0"/>
                  <a:t>PSL-</a:t>
                </a:r>
                <a:r>
                  <a:rPr lang="en-US" altLang="zh-CN" sz="1200" b="1" dirty="0" err="1"/>
                  <a:t>nGFP</a:t>
                </a:r>
                <a:endParaRPr lang="en-US" altLang="zh-CN" sz="1200" b="1" dirty="0"/>
              </a:p>
            </p:txBody>
          </p:sp>
          <p:sp>
            <p:nvSpPr>
              <p:cNvPr id="19" name="TextBox 18"/>
              <p:cNvSpPr txBox="1"/>
              <p:nvPr/>
            </p:nvSpPr>
            <p:spPr>
              <a:xfrm>
                <a:off x="7926494" y="268757"/>
                <a:ext cx="644790" cy="230832"/>
              </a:xfrm>
              <a:prstGeom prst="rect">
                <a:avLst/>
              </a:prstGeom>
              <a:noFill/>
            </p:spPr>
            <p:txBody>
              <a:bodyPr wrap="square" rtlCol="0">
                <a:spAutoFit/>
              </a:bodyPr>
              <a:lstStyle>
                <a:defPPr>
                  <a:defRPr lang="zh-CN"/>
                </a:defPPr>
                <a:lvl1pPr>
                  <a:defRPr sz="900">
                    <a:latin typeface="Arial" pitchFamily="34" charset="0"/>
                    <a:cs typeface="Arial" pitchFamily="34" charset="0"/>
                  </a:defRPr>
                </a:lvl1pPr>
              </a:lstStyle>
              <a:p>
                <a:r>
                  <a:rPr lang="en-US" altLang="zh-CN" sz="1200" b="1" dirty="0"/>
                  <a:t>Merge </a:t>
                </a:r>
                <a:endParaRPr lang="zh-CN" altLang="en-US" sz="1200" b="1" dirty="0"/>
              </a:p>
            </p:txBody>
          </p:sp>
          <p:sp>
            <p:nvSpPr>
              <p:cNvPr id="24" name="TextBox 23"/>
              <p:cNvSpPr txBox="1"/>
              <p:nvPr/>
            </p:nvSpPr>
            <p:spPr>
              <a:xfrm>
                <a:off x="4002637" y="731367"/>
                <a:ext cx="1043279" cy="166418"/>
              </a:xfrm>
              <a:prstGeom prst="rect">
                <a:avLst/>
              </a:prstGeom>
              <a:noFill/>
            </p:spPr>
            <p:txBody>
              <a:bodyPr wrap="square" rtlCol="0">
                <a:spAutoFit/>
              </a:bodyPr>
              <a:lstStyle>
                <a:defPPr>
                  <a:defRPr lang="zh-CN"/>
                </a:defPPr>
                <a:lvl1pPr>
                  <a:defRPr sz="900">
                    <a:latin typeface="Arial" pitchFamily="34" charset="0"/>
                    <a:cs typeface="Arial" pitchFamily="34" charset="0"/>
                  </a:defRPr>
                </a:lvl1pPr>
              </a:lstStyle>
              <a:p>
                <a:r>
                  <a:rPr lang="en-US" altLang="zh-CN" sz="1200" b="1" dirty="0"/>
                  <a:t>SR1-cGFP</a:t>
                </a:r>
                <a:endParaRPr lang="zh-CN" altLang="en-US" sz="1200" b="1" dirty="0"/>
              </a:p>
            </p:txBody>
          </p:sp>
          <p:sp>
            <p:nvSpPr>
              <p:cNvPr id="25" name="TextBox 24"/>
              <p:cNvSpPr txBox="1"/>
              <p:nvPr/>
            </p:nvSpPr>
            <p:spPr>
              <a:xfrm>
                <a:off x="3969811" y="1733437"/>
                <a:ext cx="1060936" cy="166418"/>
              </a:xfrm>
              <a:prstGeom prst="rect">
                <a:avLst/>
              </a:prstGeom>
              <a:noFill/>
            </p:spPr>
            <p:txBody>
              <a:bodyPr wrap="square" rtlCol="0">
                <a:spAutoFit/>
              </a:bodyPr>
              <a:lstStyle>
                <a:defPPr>
                  <a:defRPr lang="zh-CN"/>
                </a:defPPr>
                <a:lvl1pPr>
                  <a:defRPr sz="900">
                    <a:latin typeface="Arial" pitchFamily="34" charset="0"/>
                    <a:cs typeface="Arial" pitchFamily="34" charset="0"/>
                  </a:defRPr>
                </a:lvl1pPr>
              </a:lstStyle>
              <a:p>
                <a:r>
                  <a:rPr lang="en-US" altLang="zh-CN" sz="1200" b="1" dirty="0"/>
                  <a:t>SR2-cGFP</a:t>
                </a:r>
                <a:endParaRPr lang="zh-CN" altLang="en-US" sz="1200" b="1" dirty="0"/>
              </a:p>
            </p:txBody>
          </p:sp>
          <p:sp>
            <p:nvSpPr>
              <p:cNvPr id="26" name="TextBox 25"/>
              <p:cNvSpPr txBox="1"/>
              <p:nvPr/>
            </p:nvSpPr>
            <p:spPr>
              <a:xfrm>
                <a:off x="4002601" y="2661280"/>
                <a:ext cx="1060936" cy="166418"/>
              </a:xfrm>
              <a:prstGeom prst="rect">
                <a:avLst/>
              </a:prstGeom>
              <a:noFill/>
            </p:spPr>
            <p:txBody>
              <a:bodyPr wrap="square" rtlCol="0">
                <a:spAutoFit/>
              </a:bodyPr>
              <a:lstStyle/>
              <a:p>
                <a:r>
                  <a:rPr lang="en-US" altLang="zh-CN" sz="1200" b="1" dirty="0">
                    <a:latin typeface="Arial" pitchFamily="34" charset="0"/>
                    <a:cs typeface="Arial" pitchFamily="34" charset="0"/>
                  </a:rPr>
                  <a:t>SR3-cGFP</a:t>
                </a:r>
                <a:endParaRPr lang="zh-CN" altLang="en-US" sz="1200" b="1" dirty="0">
                  <a:latin typeface="Arial" pitchFamily="34" charset="0"/>
                  <a:cs typeface="Arial" pitchFamily="34" charset="0"/>
                </a:endParaRPr>
              </a:p>
            </p:txBody>
          </p:sp>
        </p:grpSp>
      </p:grpSp>
      <p:sp>
        <p:nvSpPr>
          <p:cNvPr id="2" name="文本框 1">
            <a:extLst>
              <a:ext uri="{FF2B5EF4-FFF2-40B4-BE49-F238E27FC236}">
                <a16:creationId xmlns:a16="http://schemas.microsoft.com/office/drawing/2014/main" id="{877BAA1D-FBAF-4FAA-92D0-93558B2BD615}"/>
              </a:ext>
            </a:extLst>
          </p:cNvPr>
          <p:cNvSpPr txBox="1"/>
          <p:nvPr/>
        </p:nvSpPr>
        <p:spPr>
          <a:xfrm>
            <a:off x="4067944" y="5694439"/>
            <a:ext cx="1656184" cy="369332"/>
          </a:xfrm>
          <a:prstGeom prst="rect">
            <a:avLst/>
          </a:prstGeom>
          <a:noFill/>
        </p:spPr>
        <p:txBody>
          <a:bodyPr wrap="square" rtlCol="0">
            <a:spAutoFit/>
          </a:bodyPr>
          <a:lstStyle/>
          <a:p>
            <a:r>
              <a:rPr lang="zh-CN" altLang="en-US" dirty="0"/>
              <a:t>路俊尧完成</a:t>
            </a:r>
          </a:p>
        </p:txBody>
      </p:sp>
    </p:spTree>
    <p:extLst>
      <p:ext uri="{BB962C8B-B14F-4D97-AF65-F5344CB8AC3E}">
        <p14:creationId xmlns:p14="http://schemas.microsoft.com/office/powerpoint/2010/main" val="3284606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4">
            <a:extLst>
              <a:ext uri="{FF2B5EF4-FFF2-40B4-BE49-F238E27FC236}">
                <a16:creationId xmlns:a16="http://schemas.microsoft.com/office/drawing/2014/main" id="{F0E53F62-5F42-40EB-9A6C-A2A91C69513A}"/>
              </a:ext>
            </a:extLst>
          </p:cNvPr>
          <p:cNvSpPr txBox="1">
            <a:spLocks noChangeArrowheads="1"/>
          </p:cNvSpPr>
          <p:nvPr/>
        </p:nvSpPr>
        <p:spPr bwMode="auto">
          <a:xfrm>
            <a:off x="990600" y="914400"/>
            <a:ext cx="8610600" cy="223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50000"/>
              </a:spcBef>
              <a:buClrTx/>
              <a:buSzTx/>
              <a:buFontTx/>
              <a:buNone/>
            </a:pPr>
            <a:r>
              <a:rPr kumimoji="0" lang="en-US" altLang="zh-CN" sz="2800" b="1" dirty="0">
                <a:latin typeface="Times New Roman" panose="02020603050405020304" pitchFamily="18" charset="0"/>
                <a:sym typeface="Wingdings" panose="05000000000000000000" pitchFamily="2" charset="2"/>
              </a:rPr>
              <a:t>Proteins are polymers(</a:t>
            </a:r>
            <a:r>
              <a:rPr kumimoji="0" lang="zh-CN" altLang="en-US" sz="2800" b="1" dirty="0">
                <a:latin typeface="Times New Roman" panose="02020603050405020304" pitchFamily="18" charset="0"/>
                <a:sym typeface="Wingdings" panose="05000000000000000000" pitchFamily="2" charset="2"/>
              </a:rPr>
              <a:t>多聚体) </a:t>
            </a:r>
            <a:r>
              <a:rPr kumimoji="0" lang="en-US" altLang="zh-CN" sz="2800" b="1" dirty="0">
                <a:latin typeface="Times New Roman" panose="02020603050405020304" pitchFamily="18" charset="0"/>
                <a:sym typeface="Wingdings" panose="05000000000000000000" pitchFamily="2" charset="2"/>
              </a:rPr>
              <a:t>of amino acids.</a:t>
            </a:r>
          </a:p>
          <a:p>
            <a:pPr eaLnBrk="1" hangingPunct="1">
              <a:lnSpc>
                <a:spcPct val="150000"/>
              </a:lnSpc>
              <a:spcBef>
                <a:spcPct val="50000"/>
              </a:spcBef>
              <a:buClrTx/>
              <a:buSzTx/>
              <a:buFontTx/>
              <a:buNone/>
            </a:pPr>
            <a:r>
              <a:rPr kumimoji="0" lang="en-US" altLang="zh-CN" sz="2800" dirty="0">
                <a:latin typeface="Times New Roman" panose="02020603050405020304" pitchFamily="18" charset="0"/>
              </a:rPr>
              <a:t>20 amino acids (</a:t>
            </a:r>
            <a:r>
              <a:rPr kumimoji="0" lang="zh-CN" altLang="en-US" sz="2800" dirty="0">
                <a:latin typeface="Times New Roman" panose="02020603050405020304" pitchFamily="18" charset="0"/>
              </a:rPr>
              <a:t>氨基酸) </a:t>
            </a:r>
            <a:r>
              <a:rPr kumimoji="0" lang="zh-CN" altLang="en-US" sz="2800" dirty="0">
                <a:latin typeface="Times New Roman" panose="02020603050405020304" pitchFamily="18" charset="0"/>
                <a:sym typeface="Wingdings" panose="05000000000000000000" pitchFamily="2" charset="2"/>
              </a:rPr>
              <a:t> </a:t>
            </a:r>
            <a:r>
              <a:rPr kumimoji="0" lang="en-US" altLang="zh-CN" sz="2800" dirty="0">
                <a:latin typeface="Times New Roman" panose="02020603050405020304" pitchFamily="18" charset="0"/>
                <a:sym typeface="Wingdings" panose="05000000000000000000" pitchFamily="2" charset="2"/>
              </a:rPr>
              <a:t>millions of proteins with different properties and activities. </a:t>
            </a:r>
          </a:p>
        </p:txBody>
      </p:sp>
      <p:sp>
        <p:nvSpPr>
          <p:cNvPr id="10244" name="Text Box 7">
            <a:extLst>
              <a:ext uri="{FF2B5EF4-FFF2-40B4-BE49-F238E27FC236}">
                <a16:creationId xmlns:a16="http://schemas.microsoft.com/office/drawing/2014/main" id="{7F9F4956-BD16-4BC2-8D30-C20A5978A6B3}"/>
              </a:ext>
            </a:extLst>
          </p:cNvPr>
          <p:cNvSpPr txBox="1">
            <a:spLocks noChangeArrowheads="1"/>
          </p:cNvSpPr>
          <p:nvPr/>
        </p:nvSpPr>
        <p:spPr bwMode="auto">
          <a:xfrm>
            <a:off x="1475656" y="334962"/>
            <a:ext cx="548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en-US" altLang="zh-CN" b="1" dirty="0">
                <a:solidFill>
                  <a:srgbClr val="FF0066"/>
                </a:solidFill>
                <a:latin typeface="Times New Roman" panose="02020603050405020304" pitchFamily="18" charset="0"/>
              </a:rPr>
              <a:t>B0. General Introduction</a:t>
            </a:r>
          </a:p>
        </p:txBody>
      </p:sp>
    </p:spTree>
    <p:extLst>
      <p:ext uri="{BB962C8B-B14F-4D97-AF65-F5344CB8AC3E}">
        <p14:creationId xmlns:p14="http://schemas.microsoft.com/office/powerpoint/2010/main" val="171234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4">
            <a:extLst>
              <a:ext uri="{FF2B5EF4-FFF2-40B4-BE49-F238E27FC236}">
                <a16:creationId xmlns:a16="http://schemas.microsoft.com/office/drawing/2014/main" id="{65E44D4A-CE10-47FA-98FC-7762141F04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816" t="18085" r="18517" b="17838"/>
          <a:stretch>
            <a:fillRect/>
          </a:stretch>
        </p:blipFill>
        <p:spPr bwMode="auto">
          <a:xfrm>
            <a:off x="684213" y="476250"/>
            <a:ext cx="8135937" cy="623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DAA4D50-08D0-DC9E-539E-2F8526111ED6}"/>
              </a:ext>
            </a:extLst>
          </p:cNvPr>
          <p:cNvSpPr txBox="1"/>
          <p:nvPr/>
        </p:nvSpPr>
        <p:spPr>
          <a:xfrm>
            <a:off x="467544" y="836712"/>
            <a:ext cx="3096344" cy="5024517"/>
          </a:xfrm>
          <a:prstGeom prst="rect">
            <a:avLst/>
          </a:prstGeom>
          <a:noFill/>
        </p:spPr>
        <p:txBody>
          <a:bodyPr wrap="square">
            <a:spAutoFit/>
          </a:bodyPr>
          <a:lstStyle/>
          <a:p>
            <a:pPr>
              <a:lnSpc>
                <a:spcPct val="150000"/>
              </a:lnSpc>
            </a:pPr>
            <a:r>
              <a:rPr lang="en-US" altLang="zh-CN" b="1" dirty="0"/>
              <a:t>monomer —— </a:t>
            </a:r>
            <a:r>
              <a:rPr lang="zh-CN" altLang="en-US" b="1" dirty="0"/>
              <a:t>单体</a:t>
            </a:r>
            <a:r>
              <a:rPr lang="zh-CN" altLang="en-US" dirty="0"/>
              <a:t>；</a:t>
            </a:r>
          </a:p>
          <a:p>
            <a:pPr>
              <a:lnSpc>
                <a:spcPct val="150000"/>
              </a:lnSpc>
            </a:pPr>
            <a:r>
              <a:rPr lang="en-US" altLang="zh-CN" dirty="0"/>
              <a:t>from Greek mono "one" </a:t>
            </a:r>
          </a:p>
          <a:p>
            <a:pPr>
              <a:lnSpc>
                <a:spcPct val="150000"/>
              </a:lnSpc>
            </a:pPr>
            <a:r>
              <a:rPr lang="en-US" altLang="zh-CN" dirty="0"/>
              <a:t>and </a:t>
            </a:r>
            <a:r>
              <a:rPr lang="en-US" altLang="zh-CN" dirty="0" err="1"/>
              <a:t>meros</a:t>
            </a:r>
            <a:r>
              <a:rPr lang="en-US" altLang="zh-CN" dirty="0"/>
              <a:t> "part")</a:t>
            </a:r>
          </a:p>
          <a:p>
            <a:pPr>
              <a:lnSpc>
                <a:spcPct val="150000"/>
              </a:lnSpc>
            </a:pPr>
            <a:r>
              <a:rPr lang="en-US" altLang="zh-CN" b="1" dirty="0"/>
              <a:t>dimer —— </a:t>
            </a:r>
            <a:r>
              <a:rPr lang="zh-CN" altLang="en-US" b="1" dirty="0"/>
              <a:t>二聚体</a:t>
            </a:r>
            <a:r>
              <a:rPr lang="zh-CN" altLang="en-US" dirty="0"/>
              <a:t>；</a:t>
            </a:r>
          </a:p>
          <a:p>
            <a:pPr>
              <a:lnSpc>
                <a:spcPct val="150000"/>
              </a:lnSpc>
            </a:pPr>
            <a:r>
              <a:rPr lang="en-US" altLang="zh-CN" b="1" dirty="0"/>
              <a:t>trimer —— </a:t>
            </a:r>
            <a:r>
              <a:rPr lang="zh-CN" altLang="en-US" b="1" dirty="0"/>
              <a:t>三聚体</a:t>
            </a:r>
            <a:r>
              <a:rPr lang="zh-CN" altLang="en-US" dirty="0"/>
              <a:t>；</a:t>
            </a:r>
          </a:p>
          <a:p>
            <a:pPr>
              <a:lnSpc>
                <a:spcPct val="150000"/>
              </a:lnSpc>
            </a:pPr>
            <a:r>
              <a:rPr lang="en-US" altLang="zh-CN" b="1" dirty="0"/>
              <a:t>tetramer —— </a:t>
            </a:r>
            <a:r>
              <a:rPr lang="zh-CN" altLang="en-US" b="1" dirty="0"/>
              <a:t>四聚体</a:t>
            </a:r>
            <a:r>
              <a:rPr lang="zh-CN" altLang="en-US" dirty="0"/>
              <a:t>；</a:t>
            </a:r>
          </a:p>
          <a:p>
            <a:pPr>
              <a:lnSpc>
                <a:spcPct val="150000"/>
              </a:lnSpc>
            </a:pPr>
            <a:r>
              <a:rPr lang="en-US" altLang="zh-CN" b="1" dirty="0"/>
              <a:t>pentamer —— </a:t>
            </a:r>
            <a:r>
              <a:rPr lang="zh-CN" altLang="en-US" b="1" dirty="0"/>
              <a:t>五聚体</a:t>
            </a:r>
            <a:r>
              <a:rPr lang="zh-CN" altLang="en-US" dirty="0"/>
              <a:t>；</a:t>
            </a:r>
          </a:p>
          <a:p>
            <a:pPr>
              <a:lnSpc>
                <a:spcPct val="150000"/>
              </a:lnSpc>
            </a:pPr>
            <a:r>
              <a:rPr lang="en-US" altLang="zh-CN" b="1" dirty="0"/>
              <a:t>hexamer —— </a:t>
            </a:r>
            <a:r>
              <a:rPr lang="zh-CN" altLang="en-US" b="1" dirty="0"/>
              <a:t>六聚体</a:t>
            </a:r>
            <a:r>
              <a:rPr lang="zh-CN" altLang="en-US" dirty="0"/>
              <a:t>；</a:t>
            </a:r>
            <a:endParaRPr lang="en-US" altLang="zh-CN" dirty="0"/>
          </a:p>
          <a:p>
            <a:pPr>
              <a:lnSpc>
                <a:spcPct val="150000"/>
              </a:lnSpc>
            </a:pPr>
            <a:r>
              <a:rPr lang="en-US" altLang="zh-CN" b="1" dirty="0"/>
              <a:t>heptamer —— </a:t>
            </a:r>
            <a:r>
              <a:rPr lang="zh-CN" altLang="en-US" b="1" dirty="0"/>
              <a:t>七聚体</a:t>
            </a:r>
            <a:r>
              <a:rPr lang="zh-CN" altLang="en-US" dirty="0"/>
              <a:t>；</a:t>
            </a:r>
            <a:endParaRPr lang="en-US" altLang="zh-CN" dirty="0"/>
          </a:p>
          <a:p>
            <a:pPr>
              <a:lnSpc>
                <a:spcPct val="150000"/>
              </a:lnSpc>
            </a:pPr>
            <a:r>
              <a:rPr lang="en-US" altLang="zh-CN" b="1" dirty="0"/>
              <a:t>octamer —— </a:t>
            </a:r>
            <a:r>
              <a:rPr lang="zh-CN" altLang="en-US" b="1" dirty="0"/>
              <a:t>八聚体</a:t>
            </a:r>
            <a:r>
              <a:rPr lang="zh-CN" altLang="en-US" dirty="0"/>
              <a:t>；</a:t>
            </a:r>
            <a:endParaRPr lang="en-US" altLang="zh-CN" dirty="0"/>
          </a:p>
          <a:p>
            <a:pPr>
              <a:lnSpc>
                <a:spcPct val="150000"/>
              </a:lnSpc>
            </a:pPr>
            <a:r>
              <a:rPr lang="en-US" altLang="zh-CN" b="1" dirty="0" err="1"/>
              <a:t>nonamer</a:t>
            </a:r>
            <a:r>
              <a:rPr lang="en-US" altLang="zh-CN" b="1" dirty="0"/>
              <a:t> —— </a:t>
            </a:r>
            <a:r>
              <a:rPr lang="zh-CN" altLang="en-US" b="1" dirty="0"/>
              <a:t>九聚体</a:t>
            </a:r>
            <a:r>
              <a:rPr lang="zh-CN" altLang="en-US" dirty="0"/>
              <a:t>；</a:t>
            </a:r>
          </a:p>
          <a:p>
            <a:pPr>
              <a:lnSpc>
                <a:spcPct val="150000"/>
              </a:lnSpc>
            </a:pPr>
            <a:r>
              <a:rPr lang="en-US" altLang="zh-CN" b="1" dirty="0" err="1"/>
              <a:t>decamer</a:t>
            </a:r>
            <a:r>
              <a:rPr lang="en-US" altLang="zh-CN" b="1" dirty="0"/>
              <a:t> —— </a:t>
            </a:r>
            <a:r>
              <a:rPr lang="zh-CN" altLang="en-US" b="1" dirty="0"/>
              <a:t>十聚体</a:t>
            </a:r>
            <a:r>
              <a:rPr lang="zh-CN" altLang="en-US" dirty="0"/>
              <a:t>；</a:t>
            </a:r>
          </a:p>
        </p:txBody>
      </p:sp>
      <p:sp>
        <p:nvSpPr>
          <p:cNvPr id="4" name="文本框 3">
            <a:extLst>
              <a:ext uri="{FF2B5EF4-FFF2-40B4-BE49-F238E27FC236}">
                <a16:creationId xmlns:a16="http://schemas.microsoft.com/office/drawing/2014/main" id="{71D70E0E-1611-F3BA-3A55-67B11BE5251A}"/>
              </a:ext>
            </a:extLst>
          </p:cNvPr>
          <p:cNvSpPr txBox="1"/>
          <p:nvPr/>
        </p:nvSpPr>
        <p:spPr>
          <a:xfrm>
            <a:off x="3779912" y="692696"/>
            <a:ext cx="4572000" cy="5864554"/>
          </a:xfrm>
          <a:prstGeom prst="rect">
            <a:avLst/>
          </a:prstGeom>
          <a:noFill/>
        </p:spPr>
        <p:txBody>
          <a:bodyPr wrap="square">
            <a:spAutoFit/>
          </a:bodyPr>
          <a:lstStyle/>
          <a:p>
            <a:pPr>
              <a:lnSpc>
                <a:spcPct val="150000"/>
              </a:lnSpc>
            </a:pPr>
            <a:r>
              <a:rPr lang="en-US" altLang="zh-CN" b="1" i="0" dirty="0">
                <a:solidFill>
                  <a:srgbClr val="333333"/>
                </a:solidFill>
                <a:effectLst/>
                <a:latin typeface="PingFang SC"/>
              </a:rPr>
              <a:t>Single (1) (also: singleton, sole, only, etc.)</a:t>
            </a:r>
            <a:br>
              <a:rPr lang="en-US" altLang="zh-CN" b="1" dirty="0"/>
            </a:br>
            <a:r>
              <a:rPr lang="en-US" altLang="zh-CN" b="1" i="0" dirty="0">
                <a:solidFill>
                  <a:srgbClr val="333333"/>
                </a:solidFill>
                <a:effectLst/>
                <a:latin typeface="PingFang SC"/>
              </a:rPr>
              <a:t>Double (2) (also: pair, twice)</a:t>
            </a:r>
            <a:br>
              <a:rPr lang="en-US" altLang="zh-CN" b="1" dirty="0"/>
            </a:br>
            <a:r>
              <a:rPr lang="en-US" altLang="zh-CN" b="1" i="0" dirty="0">
                <a:solidFill>
                  <a:srgbClr val="333333"/>
                </a:solidFill>
                <a:effectLst/>
                <a:latin typeface="PingFang SC"/>
              </a:rPr>
              <a:t>Triple (3) (also: triplet, treble, thrice, threesome, troika, trio)</a:t>
            </a:r>
            <a:br>
              <a:rPr lang="en-US" altLang="zh-CN" b="1" dirty="0"/>
            </a:br>
            <a:r>
              <a:rPr lang="en-US" altLang="zh-CN" b="1" i="0" dirty="0">
                <a:solidFill>
                  <a:srgbClr val="333333"/>
                </a:solidFill>
                <a:effectLst/>
                <a:latin typeface="PingFang SC"/>
              </a:rPr>
              <a:t>Quadruple (4)</a:t>
            </a:r>
            <a:br>
              <a:rPr lang="en-US" altLang="zh-CN" b="1" dirty="0"/>
            </a:br>
            <a:r>
              <a:rPr lang="en-US" altLang="zh-CN" b="1" i="0" dirty="0">
                <a:solidFill>
                  <a:srgbClr val="333333"/>
                </a:solidFill>
                <a:effectLst/>
                <a:latin typeface="PingFang SC"/>
              </a:rPr>
              <a:t>Quintuple or </a:t>
            </a:r>
            <a:r>
              <a:rPr lang="en-US" altLang="zh-CN" b="1" i="0" dirty="0" err="1">
                <a:solidFill>
                  <a:srgbClr val="333333"/>
                </a:solidFill>
                <a:effectLst/>
                <a:latin typeface="PingFang SC"/>
              </a:rPr>
              <a:t>Pentuple</a:t>
            </a:r>
            <a:r>
              <a:rPr lang="en-US" altLang="zh-CN" b="1" i="0" dirty="0">
                <a:solidFill>
                  <a:srgbClr val="333333"/>
                </a:solidFill>
                <a:effectLst/>
                <a:latin typeface="PingFang SC"/>
              </a:rPr>
              <a:t> (5)</a:t>
            </a:r>
            <a:br>
              <a:rPr lang="en-US" altLang="zh-CN" b="1" dirty="0"/>
            </a:br>
            <a:r>
              <a:rPr lang="en-US" altLang="zh-CN" b="1" i="0" dirty="0">
                <a:solidFill>
                  <a:srgbClr val="333333"/>
                </a:solidFill>
                <a:effectLst/>
                <a:latin typeface="PingFang SC"/>
              </a:rPr>
              <a:t>Sextuple or </a:t>
            </a:r>
            <a:r>
              <a:rPr lang="en-US" altLang="zh-CN" b="1" i="0" dirty="0" err="1">
                <a:solidFill>
                  <a:srgbClr val="333333"/>
                </a:solidFill>
                <a:effectLst/>
                <a:latin typeface="PingFang SC"/>
              </a:rPr>
              <a:t>Hextuple</a:t>
            </a:r>
            <a:r>
              <a:rPr lang="en-US" altLang="zh-CN" b="1" i="0" dirty="0">
                <a:solidFill>
                  <a:srgbClr val="333333"/>
                </a:solidFill>
                <a:effectLst/>
                <a:latin typeface="PingFang SC"/>
              </a:rPr>
              <a:t> (6)</a:t>
            </a:r>
            <a:br>
              <a:rPr lang="en-US" altLang="zh-CN" b="1" dirty="0"/>
            </a:br>
            <a:r>
              <a:rPr lang="en-US" altLang="zh-CN" b="1" i="0" dirty="0">
                <a:solidFill>
                  <a:srgbClr val="333333"/>
                </a:solidFill>
                <a:effectLst/>
                <a:latin typeface="PingFang SC"/>
              </a:rPr>
              <a:t>Septuple (7)</a:t>
            </a:r>
            <a:br>
              <a:rPr lang="en-US" altLang="zh-CN" b="1" dirty="0"/>
            </a:br>
            <a:r>
              <a:rPr lang="en-US" altLang="zh-CN" b="1" i="0" dirty="0">
                <a:solidFill>
                  <a:srgbClr val="333333"/>
                </a:solidFill>
                <a:effectLst/>
                <a:latin typeface="PingFang SC"/>
              </a:rPr>
              <a:t>Octuple (8)</a:t>
            </a:r>
            <a:br>
              <a:rPr lang="en-US" altLang="zh-CN" b="1" dirty="0"/>
            </a:br>
            <a:r>
              <a:rPr lang="en-US" altLang="zh-CN" b="1" i="0" dirty="0">
                <a:solidFill>
                  <a:srgbClr val="333333"/>
                </a:solidFill>
                <a:effectLst/>
                <a:latin typeface="PingFang SC"/>
              </a:rPr>
              <a:t>Nonuple (9)</a:t>
            </a:r>
            <a:br>
              <a:rPr lang="en-US" altLang="zh-CN" b="1" dirty="0"/>
            </a:br>
            <a:r>
              <a:rPr lang="en-US" altLang="zh-CN" b="1" i="0" dirty="0">
                <a:solidFill>
                  <a:srgbClr val="333333"/>
                </a:solidFill>
                <a:effectLst/>
                <a:latin typeface="PingFang SC"/>
              </a:rPr>
              <a:t>Decuple (10)</a:t>
            </a:r>
            <a:br>
              <a:rPr lang="en-US" altLang="zh-CN" b="1" dirty="0"/>
            </a:br>
            <a:r>
              <a:rPr lang="en-US" altLang="zh-CN" b="1" i="0" dirty="0" err="1">
                <a:solidFill>
                  <a:srgbClr val="333333"/>
                </a:solidFill>
                <a:effectLst/>
                <a:latin typeface="PingFang SC"/>
              </a:rPr>
              <a:t>Hendecuple</a:t>
            </a:r>
            <a:r>
              <a:rPr lang="en-US" altLang="zh-CN" b="1" i="0" dirty="0">
                <a:solidFill>
                  <a:srgbClr val="333333"/>
                </a:solidFill>
                <a:effectLst/>
                <a:latin typeface="PingFang SC"/>
              </a:rPr>
              <a:t> or </a:t>
            </a:r>
            <a:r>
              <a:rPr lang="en-US" altLang="zh-CN" b="1" i="0" dirty="0" err="1">
                <a:solidFill>
                  <a:srgbClr val="333333"/>
                </a:solidFill>
                <a:effectLst/>
                <a:latin typeface="PingFang SC"/>
              </a:rPr>
              <a:t>Undecuple</a:t>
            </a:r>
            <a:r>
              <a:rPr lang="en-US" altLang="zh-CN" b="1" i="0" dirty="0">
                <a:solidFill>
                  <a:srgbClr val="333333"/>
                </a:solidFill>
                <a:effectLst/>
                <a:latin typeface="PingFang SC"/>
              </a:rPr>
              <a:t> (11)</a:t>
            </a:r>
            <a:br>
              <a:rPr lang="en-US" altLang="zh-CN" b="1" dirty="0"/>
            </a:br>
            <a:r>
              <a:rPr lang="en-US" altLang="zh-CN" b="1" i="0" dirty="0">
                <a:solidFill>
                  <a:srgbClr val="333333"/>
                </a:solidFill>
                <a:effectLst/>
                <a:latin typeface="PingFang SC"/>
              </a:rPr>
              <a:t>Duodecuple (12)</a:t>
            </a:r>
            <a:br>
              <a:rPr lang="en-US" altLang="zh-CN" b="1" dirty="0"/>
            </a:br>
            <a:r>
              <a:rPr lang="en-US" altLang="zh-CN" b="1" i="0" dirty="0">
                <a:solidFill>
                  <a:srgbClr val="333333"/>
                </a:solidFill>
                <a:effectLst/>
                <a:latin typeface="PingFang SC"/>
              </a:rPr>
              <a:t>Centuple (100)</a:t>
            </a:r>
            <a:endParaRPr lang="zh-CN" altLang="en-US" b="1" dirty="0"/>
          </a:p>
        </p:txBody>
      </p:sp>
    </p:spTree>
    <p:extLst>
      <p:ext uri="{BB962C8B-B14F-4D97-AF65-F5344CB8AC3E}">
        <p14:creationId xmlns:p14="http://schemas.microsoft.com/office/powerpoint/2010/main" val="3628282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2E8362CB-6600-4252-A051-D543325B3296}"/>
              </a:ext>
            </a:extLst>
          </p:cNvPr>
          <p:cNvSpPr>
            <a:spLocks noGrp="1" noChangeArrowheads="1"/>
          </p:cNvSpPr>
          <p:nvPr>
            <p:ph type="title" idx="4294967295"/>
          </p:nvPr>
        </p:nvSpPr>
        <p:spPr>
          <a:xfrm>
            <a:off x="609600" y="0"/>
            <a:ext cx="7772400" cy="1143000"/>
          </a:xfrm>
        </p:spPr>
        <p:txBody>
          <a:bodyPr anchor="ctr"/>
          <a:lstStyle/>
          <a:p>
            <a:pPr eaLnBrk="1" hangingPunct="1"/>
            <a:r>
              <a:rPr lang="en-US" altLang="zh-CN" sz="2800" b="1"/>
              <a:t>Biological Monomers</a:t>
            </a:r>
          </a:p>
        </p:txBody>
      </p:sp>
      <p:sp>
        <p:nvSpPr>
          <p:cNvPr id="12291" name="Text Box 4">
            <a:extLst>
              <a:ext uri="{FF2B5EF4-FFF2-40B4-BE49-F238E27FC236}">
                <a16:creationId xmlns:a16="http://schemas.microsoft.com/office/drawing/2014/main" id="{9D62642E-5AE4-4B72-A34F-496E0BDC8F1B}"/>
              </a:ext>
            </a:extLst>
          </p:cNvPr>
          <p:cNvSpPr txBox="1">
            <a:spLocks noChangeArrowheads="1"/>
          </p:cNvSpPr>
          <p:nvPr/>
        </p:nvSpPr>
        <p:spPr bwMode="auto">
          <a:xfrm>
            <a:off x="609600" y="1219200"/>
            <a:ext cx="8077200" cy="544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Font typeface="Wingdings" panose="05000000000000000000" pitchFamily="2" charset="2"/>
              <a:buNone/>
            </a:pPr>
            <a:r>
              <a:rPr lang="en-US" altLang="zh-CN" sz="2400" dirty="0"/>
              <a:t>What to Look For = What’s Important:</a:t>
            </a:r>
          </a:p>
          <a:p>
            <a:pPr>
              <a:spcBef>
                <a:spcPct val="50000"/>
              </a:spcBef>
              <a:buFont typeface="Wingdings" panose="05000000000000000000" pitchFamily="2" charset="2"/>
              <a:buNone/>
            </a:pPr>
            <a:r>
              <a:rPr lang="en-US" altLang="zh-CN" sz="2400" dirty="0"/>
              <a:t>	</a:t>
            </a:r>
            <a:r>
              <a:rPr lang="en-US" altLang="zh-CN" sz="2400" dirty="0">
                <a:solidFill>
                  <a:srgbClr val="FF0000"/>
                </a:solidFill>
              </a:rPr>
              <a:t>Functional Groups</a:t>
            </a:r>
            <a:r>
              <a:rPr lang="en-US" altLang="zh-CN" sz="2400" dirty="0"/>
              <a:t>:  amino, carboxyl, carbonyls 		(both), alcohol, methyl, phosphate, 			sulfhydryl, and others.</a:t>
            </a:r>
          </a:p>
          <a:p>
            <a:pPr>
              <a:spcBef>
                <a:spcPct val="50000"/>
              </a:spcBef>
              <a:buFont typeface="Wingdings" panose="05000000000000000000" pitchFamily="2" charset="2"/>
              <a:buNone/>
            </a:pPr>
            <a:r>
              <a:rPr lang="en-US" altLang="zh-CN" sz="2400" dirty="0"/>
              <a:t>	</a:t>
            </a:r>
            <a:r>
              <a:rPr lang="en-US" altLang="zh-CN" sz="2400" dirty="0">
                <a:solidFill>
                  <a:srgbClr val="FF0000"/>
                </a:solidFill>
              </a:rPr>
              <a:t>Ionization</a:t>
            </a:r>
            <a:r>
              <a:rPr lang="en-US" altLang="zh-CN" sz="2400" dirty="0"/>
              <a:t> state, or not.</a:t>
            </a:r>
          </a:p>
          <a:p>
            <a:pPr>
              <a:spcBef>
                <a:spcPct val="50000"/>
              </a:spcBef>
              <a:buNone/>
            </a:pPr>
            <a:r>
              <a:rPr lang="en-US" altLang="zh-CN" sz="2400" dirty="0"/>
              <a:t>	</a:t>
            </a:r>
            <a:r>
              <a:rPr lang="en-US" altLang="zh-CN" sz="2400" dirty="0">
                <a:solidFill>
                  <a:srgbClr val="FF0000"/>
                </a:solidFill>
              </a:rPr>
              <a:t>Solubility</a:t>
            </a:r>
          </a:p>
          <a:p>
            <a:pPr>
              <a:spcBef>
                <a:spcPct val="50000"/>
              </a:spcBef>
              <a:buNone/>
            </a:pPr>
            <a:r>
              <a:rPr lang="en-US" altLang="zh-CN" sz="2400" dirty="0">
                <a:solidFill>
                  <a:srgbClr val="FF0000"/>
                </a:solidFill>
              </a:rPr>
              <a:t>         Covalent Bonds </a:t>
            </a:r>
            <a:r>
              <a:rPr lang="en-US" altLang="zh-CN" sz="2400" dirty="0"/>
              <a:t>– single, double, triple.</a:t>
            </a:r>
          </a:p>
          <a:p>
            <a:pPr>
              <a:spcBef>
                <a:spcPct val="50000"/>
              </a:spcBef>
              <a:buNone/>
            </a:pPr>
            <a:r>
              <a:rPr lang="en-US" altLang="zh-CN" sz="2400" dirty="0">
                <a:solidFill>
                  <a:srgbClr val="FF0000"/>
                </a:solidFill>
              </a:rPr>
              <a:t>         Weak Bonds </a:t>
            </a:r>
            <a:r>
              <a:rPr lang="en-US" altLang="zh-CN" sz="2400" dirty="0"/>
              <a:t>= H-bonds, Ionic bonds, 			hydrophobic interactions, van der Waals 	forces.</a:t>
            </a:r>
            <a:endParaRPr lang="en-US" altLang="zh-CN" sz="2400" dirty="0">
              <a:solidFill>
                <a:srgbClr val="FF0000"/>
              </a:solidFill>
            </a:endParaRPr>
          </a:p>
          <a:p>
            <a:pPr>
              <a:spcBef>
                <a:spcPct val="50000"/>
              </a:spcBef>
              <a:buFont typeface="Wingdings" panose="05000000000000000000" pitchFamily="2" charset="2"/>
              <a:buNone/>
            </a:pPr>
            <a:r>
              <a:rPr lang="en-US" altLang="zh-CN" sz="2400" dirty="0"/>
              <a:t>	</a:t>
            </a:r>
            <a:r>
              <a:rPr lang="en-US" altLang="zh-CN" sz="2400" dirty="0">
                <a:solidFill>
                  <a:srgbClr val="FF0000"/>
                </a:solidFill>
              </a:rPr>
              <a:t>How Monomers are Polymerized</a:t>
            </a:r>
          </a:p>
          <a:p>
            <a:pPr>
              <a:spcBef>
                <a:spcPct val="50000"/>
              </a:spcBef>
              <a:buFont typeface="Wingdings" panose="05000000000000000000" pitchFamily="2" charset="2"/>
              <a:buNone/>
            </a:pPr>
            <a:r>
              <a:rPr lang="en-US" altLang="zh-CN" sz="2400"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4">
            <a:extLst>
              <a:ext uri="{FF2B5EF4-FFF2-40B4-BE49-F238E27FC236}">
                <a16:creationId xmlns:a16="http://schemas.microsoft.com/office/drawing/2014/main" id="{F0E53F62-5F42-40EB-9A6C-A2A91C69513A}"/>
              </a:ext>
            </a:extLst>
          </p:cNvPr>
          <p:cNvSpPr txBox="1">
            <a:spLocks noChangeArrowheads="1"/>
          </p:cNvSpPr>
          <p:nvPr/>
        </p:nvSpPr>
        <p:spPr bwMode="auto">
          <a:xfrm>
            <a:off x="990600" y="914400"/>
            <a:ext cx="8610600" cy="223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50000"/>
              </a:spcBef>
              <a:buClrTx/>
              <a:buSzTx/>
              <a:buFontTx/>
              <a:buNone/>
            </a:pPr>
            <a:r>
              <a:rPr kumimoji="0" lang="en-US" altLang="zh-CN" sz="2800" b="1" dirty="0">
                <a:latin typeface="Times New Roman" panose="02020603050405020304" pitchFamily="18" charset="0"/>
                <a:sym typeface="Wingdings" panose="05000000000000000000" pitchFamily="2" charset="2"/>
              </a:rPr>
              <a:t>Proteins are polymers(</a:t>
            </a:r>
            <a:r>
              <a:rPr kumimoji="0" lang="zh-CN" altLang="en-US" sz="2800" b="1" dirty="0">
                <a:latin typeface="Times New Roman" panose="02020603050405020304" pitchFamily="18" charset="0"/>
                <a:sym typeface="Wingdings" panose="05000000000000000000" pitchFamily="2" charset="2"/>
              </a:rPr>
              <a:t>多聚体) </a:t>
            </a:r>
            <a:r>
              <a:rPr kumimoji="0" lang="en-US" altLang="zh-CN" sz="2800" b="1" dirty="0">
                <a:latin typeface="Times New Roman" panose="02020603050405020304" pitchFamily="18" charset="0"/>
                <a:sym typeface="Wingdings" panose="05000000000000000000" pitchFamily="2" charset="2"/>
              </a:rPr>
              <a:t>of amino acids.</a:t>
            </a:r>
          </a:p>
          <a:p>
            <a:pPr eaLnBrk="1" hangingPunct="1">
              <a:lnSpc>
                <a:spcPct val="150000"/>
              </a:lnSpc>
              <a:spcBef>
                <a:spcPct val="50000"/>
              </a:spcBef>
              <a:buClrTx/>
              <a:buSzTx/>
              <a:buFontTx/>
              <a:buNone/>
            </a:pPr>
            <a:r>
              <a:rPr kumimoji="0" lang="en-US" altLang="zh-CN" sz="2800" dirty="0">
                <a:latin typeface="Times New Roman" panose="02020603050405020304" pitchFamily="18" charset="0"/>
              </a:rPr>
              <a:t>20 amino acids (</a:t>
            </a:r>
            <a:r>
              <a:rPr kumimoji="0" lang="zh-CN" altLang="en-US" sz="2800" dirty="0">
                <a:latin typeface="Times New Roman" panose="02020603050405020304" pitchFamily="18" charset="0"/>
              </a:rPr>
              <a:t>氨基酸) </a:t>
            </a:r>
            <a:r>
              <a:rPr kumimoji="0" lang="zh-CN" altLang="en-US" sz="2800" dirty="0">
                <a:latin typeface="Times New Roman" panose="02020603050405020304" pitchFamily="18" charset="0"/>
                <a:sym typeface="Wingdings" panose="05000000000000000000" pitchFamily="2" charset="2"/>
              </a:rPr>
              <a:t> </a:t>
            </a:r>
            <a:r>
              <a:rPr kumimoji="0" lang="en-US" altLang="zh-CN" sz="2800" dirty="0">
                <a:latin typeface="Times New Roman" panose="02020603050405020304" pitchFamily="18" charset="0"/>
                <a:sym typeface="Wingdings" panose="05000000000000000000" pitchFamily="2" charset="2"/>
              </a:rPr>
              <a:t>millions of proteins with different properties and activities. </a:t>
            </a:r>
          </a:p>
        </p:txBody>
      </p:sp>
      <p:sp>
        <p:nvSpPr>
          <p:cNvPr id="10243" name="Text Box 6">
            <a:extLst>
              <a:ext uri="{FF2B5EF4-FFF2-40B4-BE49-F238E27FC236}">
                <a16:creationId xmlns:a16="http://schemas.microsoft.com/office/drawing/2014/main" id="{B3DB1245-E9CF-4BBF-879F-7724B3FCFF16}"/>
              </a:ext>
            </a:extLst>
          </p:cNvPr>
          <p:cNvSpPr txBox="1">
            <a:spLocks noChangeArrowheads="1"/>
          </p:cNvSpPr>
          <p:nvPr/>
        </p:nvSpPr>
        <p:spPr bwMode="auto">
          <a:xfrm>
            <a:off x="762000" y="3357563"/>
            <a:ext cx="7986713"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en-US" altLang="zh-CN" sz="2800" b="1" dirty="0">
                <a:latin typeface="Times New Roman" panose="02020603050405020304" pitchFamily="18" charset="0"/>
                <a:sym typeface="Wingdings" panose="05000000000000000000" pitchFamily="2" charset="2"/>
              </a:rPr>
              <a:t>Protein structures are studied at </a:t>
            </a:r>
            <a:r>
              <a:rPr kumimoji="0"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sym typeface="Wingdings" panose="05000000000000000000" pitchFamily="2" charset="2"/>
              </a:rPr>
              <a:t>primary</a:t>
            </a:r>
            <a:r>
              <a:rPr kumimoji="0" lang="en-US" altLang="zh-CN" sz="2800" b="1" dirty="0">
                <a:latin typeface="Times New Roman" panose="02020603050405020304" pitchFamily="18" charset="0"/>
                <a:sym typeface="Wingdings" panose="05000000000000000000" pitchFamily="2" charset="2"/>
              </a:rPr>
              <a:t>,</a:t>
            </a:r>
          </a:p>
          <a:p>
            <a:pPr eaLnBrk="1" hangingPunct="1">
              <a:spcBef>
                <a:spcPct val="50000"/>
              </a:spcBef>
              <a:buClrTx/>
              <a:buSzTx/>
              <a:buFontTx/>
              <a:buNone/>
            </a:pPr>
            <a:r>
              <a:rPr kumimoji="0" lang="en-US" altLang="zh-CN" sz="2800" b="1" dirty="0">
                <a:latin typeface="Times New Roman" panose="02020603050405020304" pitchFamily="18" charset="0"/>
                <a:sym typeface="Wingdings" panose="05000000000000000000" pitchFamily="2" charset="2"/>
              </a:rPr>
              <a:t>                                                        </a:t>
            </a:r>
            <a:r>
              <a:rPr kumimoji="0"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sym typeface="Wingdings" panose="05000000000000000000" pitchFamily="2" charset="2"/>
              </a:rPr>
              <a:t>secondary</a:t>
            </a:r>
            <a:r>
              <a:rPr kumimoji="0" lang="en-US" altLang="zh-CN" sz="2800" b="1" dirty="0">
                <a:latin typeface="Times New Roman" panose="02020603050405020304" pitchFamily="18" charset="0"/>
                <a:sym typeface="Wingdings" panose="05000000000000000000" pitchFamily="2" charset="2"/>
              </a:rPr>
              <a:t>,</a:t>
            </a:r>
          </a:p>
          <a:p>
            <a:pPr eaLnBrk="1" hangingPunct="1">
              <a:spcBef>
                <a:spcPct val="50000"/>
              </a:spcBef>
              <a:buClrTx/>
              <a:buSzTx/>
              <a:buFontTx/>
              <a:buNone/>
            </a:pPr>
            <a:r>
              <a:rPr kumimoji="0" lang="en-US" altLang="zh-CN" sz="2800" b="1" dirty="0">
                <a:latin typeface="Times New Roman" panose="02020603050405020304" pitchFamily="18" charset="0"/>
                <a:sym typeface="Wingdings" panose="05000000000000000000" pitchFamily="2" charset="2"/>
              </a:rPr>
              <a:t>                                                        </a:t>
            </a:r>
            <a:r>
              <a:rPr kumimoji="0"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sym typeface="Wingdings" panose="05000000000000000000" pitchFamily="2" charset="2"/>
              </a:rPr>
              <a:t>tertiary</a:t>
            </a:r>
            <a:r>
              <a:rPr kumimoji="0" lang="en-US" altLang="zh-CN" sz="2800" b="1" dirty="0">
                <a:solidFill>
                  <a:srgbClr val="FF0000"/>
                </a:solidFill>
                <a:latin typeface="Times New Roman" panose="02020603050405020304" pitchFamily="18" charset="0"/>
                <a:sym typeface="Wingdings" panose="05000000000000000000" pitchFamily="2" charset="2"/>
              </a:rPr>
              <a:t> </a:t>
            </a:r>
          </a:p>
          <a:p>
            <a:pPr eaLnBrk="1" hangingPunct="1">
              <a:spcBef>
                <a:spcPct val="50000"/>
              </a:spcBef>
              <a:buClrTx/>
              <a:buSzTx/>
              <a:buFontTx/>
              <a:buNone/>
            </a:pPr>
            <a:r>
              <a:rPr kumimoji="0" lang="en-US" altLang="zh-CN" sz="2800" b="1" dirty="0">
                <a:latin typeface="Times New Roman" panose="02020603050405020304" pitchFamily="18" charset="0"/>
                <a:sym typeface="Wingdings" panose="05000000000000000000" pitchFamily="2" charset="2"/>
              </a:rPr>
              <a:t>                                                and </a:t>
            </a:r>
            <a:r>
              <a:rPr kumimoji="0" lang="en-US" altLang="zh-CN" sz="2800" b="1" dirty="0">
                <a:solidFill>
                  <a:srgbClr val="FF0000"/>
                </a:solidFill>
                <a:effectLst>
                  <a:outerShdw blurRad="38100" dist="38100" dir="2700000" algn="tl">
                    <a:srgbClr val="000000">
                      <a:alpha val="43137"/>
                    </a:srgbClr>
                  </a:outerShdw>
                </a:effectLst>
                <a:latin typeface="Times New Roman" panose="02020603050405020304" pitchFamily="18" charset="0"/>
                <a:sym typeface="Wingdings" panose="05000000000000000000" pitchFamily="2" charset="2"/>
              </a:rPr>
              <a:t>quaternary</a:t>
            </a:r>
            <a:r>
              <a:rPr kumimoji="0" lang="en-US" altLang="zh-CN" sz="2800" b="1" dirty="0">
                <a:latin typeface="Times New Roman" panose="02020603050405020304" pitchFamily="18" charset="0"/>
                <a:sym typeface="Wingdings" panose="05000000000000000000" pitchFamily="2" charset="2"/>
              </a:rPr>
              <a:t> levels.</a:t>
            </a:r>
          </a:p>
          <a:p>
            <a:pPr eaLnBrk="1" hangingPunct="1">
              <a:spcBef>
                <a:spcPct val="50000"/>
              </a:spcBef>
              <a:buClrTx/>
              <a:buSzTx/>
              <a:buFontTx/>
              <a:buNone/>
            </a:pPr>
            <a:endParaRPr lang="zh-CN" altLang="en-US" sz="2400" dirty="0"/>
          </a:p>
        </p:txBody>
      </p:sp>
      <p:cxnSp>
        <p:nvCxnSpPr>
          <p:cNvPr id="3" name="直接连接符 2">
            <a:extLst>
              <a:ext uri="{FF2B5EF4-FFF2-40B4-BE49-F238E27FC236}">
                <a16:creationId xmlns:a16="http://schemas.microsoft.com/office/drawing/2014/main" id="{AB272F95-74DA-450E-97C7-F0570D881B60}"/>
              </a:ext>
            </a:extLst>
          </p:cNvPr>
          <p:cNvCxnSpPr/>
          <p:nvPr/>
        </p:nvCxnSpPr>
        <p:spPr>
          <a:xfrm>
            <a:off x="5076056" y="4149080"/>
            <a:ext cx="0" cy="151216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33E9C4FB-AD7D-4144-B192-A265296AD601}"/>
              </a:ext>
            </a:extLst>
          </p:cNvPr>
          <p:cNvSpPr txBox="1"/>
          <p:nvPr/>
        </p:nvSpPr>
        <p:spPr>
          <a:xfrm>
            <a:off x="3887586" y="4681002"/>
            <a:ext cx="1440160" cy="400110"/>
          </a:xfrm>
          <a:prstGeom prst="rect">
            <a:avLst/>
          </a:prstGeom>
          <a:noFill/>
        </p:spPr>
        <p:txBody>
          <a:bodyPr wrap="square" rtlCol="0">
            <a:spAutoFit/>
          </a:bodyPr>
          <a:lstStyle/>
          <a:p>
            <a:r>
              <a:rPr lang="zh-CN" altLang="en-US" sz="2000" b="1" dirty="0"/>
              <a:t>高级构象</a:t>
            </a:r>
          </a:p>
        </p:txBody>
      </p:sp>
    </p:spTree>
    <p:extLst>
      <p:ext uri="{BB962C8B-B14F-4D97-AF65-F5344CB8AC3E}">
        <p14:creationId xmlns:p14="http://schemas.microsoft.com/office/powerpoint/2010/main" val="199959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1028">
            <a:extLst>
              <a:ext uri="{FF2B5EF4-FFF2-40B4-BE49-F238E27FC236}">
                <a16:creationId xmlns:a16="http://schemas.microsoft.com/office/drawing/2014/main" id="{BEF7F8DD-96A9-453E-BC0B-25CB5DCB5293}"/>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a:xfrm>
            <a:off x="0" y="2428612"/>
            <a:ext cx="9144000" cy="3241675"/>
          </a:xfrm>
          <a:noFill/>
        </p:spPr>
      </p:pic>
      <p:pic>
        <p:nvPicPr>
          <p:cNvPr id="3" name="Picture 2">
            <a:extLst>
              <a:ext uri="{FF2B5EF4-FFF2-40B4-BE49-F238E27FC236}">
                <a16:creationId xmlns:a16="http://schemas.microsoft.com/office/drawing/2014/main" id="{B3A9E547-E9CB-4017-B5D1-06DDC17479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476672"/>
            <a:ext cx="2195487" cy="1820830"/>
          </a:xfrm>
          <a:prstGeom prst="rect">
            <a:avLst/>
          </a:prstGeom>
          <a:noFill/>
          <a:ln w="9525">
            <a:noFill/>
            <a:miter lim="800000"/>
            <a:headEnd/>
            <a:tailEnd/>
          </a:ln>
        </p:spPr>
      </p:pic>
      <p:sp>
        <p:nvSpPr>
          <p:cNvPr id="2" name="矩形 1">
            <a:extLst>
              <a:ext uri="{FF2B5EF4-FFF2-40B4-BE49-F238E27FC236}">
                <a16:creationId xmlns:a16="http://schemas.microsoft.com/office/drawing/2014/main" id="{D49A0E97-61DD-4EFD-B99E-0A0E5B0DEDA3}"/>
              </a:ext>
            </a:extLst>
          </p:cNvPr>
          <p:cNvSpPr/>
          <p:nvPr/>
        </p:nvSpPr>
        <p:spPr>
          <a:xfrm>
            <a:off x="3985709" y="1202421"/>
            <a:ext cx="1775182" cy="369332"/>
          </a:xfrm>
          <a:prstGeom prst="rect">
            <a:avLst/>
          </a:prstGeom>
        </p:spPr>
        <p:txBody>
          <a:bodyPr wrap="square">
            <a:spAutoFit/>
          </a:bodyPr>
          <a:lstStyle/>
          <a:p>
            <a:r>
              <a:rPr lang="en-US" altLang="zh-CN" dirty="0"/>
              <a:t>amino acid </a:t>
            </a:r>
            <a:endParaRPr lang="zh-CN" altLang="en-US" dirty="0"/>
          </a:p>
        </p:txBody>
      </p:sp>
    </p:spTree>
    <p:extLst>
      <p:ext uri="{BB962C8B-B14F-4D97-AF65-F5344CB8AC3E}">
        <p14:creationId xmlns:p14="http://schemas.microsoft.com/office/powerpoint/2010/main" val="4002141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3">
            <a:extLst>
              <a:ext uri="{FF2B5EF4-FFF2-40B4-BE49-F238E27FC236}">
                <a16:creationId xmlns:a16="http://schemas.microsoft.com/office/drawing/2014/main" id="{A816D49C-1C01-4759-8453-27D6E023F0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638" y="522288"/>
            <a:ext cx="8085137" cy="609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Rectangle 4">
            <a:extLst>
              <a:ext uri="{FF2B5EF4-FFF2-40B4-BE49-F238E27FC236}">
                <a16:creationId xmlns:a16="http://schemas.microsoft.com/office/drawing/2014/main" id="{52877781-6E27-4B27-9F49-912BB5C53CC4}"/>
              </a:ext>
            </a:extLst>
          </p:cNvPr>
          <p:cNvSpPr>
            <a:spLocks noGrp="1" noChangeArrowheads="1"/>
          </p:cNvSpPr>
          <p:nvPr>
            <p:ph type="title" idx="4294967295"/>
          </p:nvPr>
        </p:nvSpPr>
        <p:spPr>
          <a:xfrm>
            <a:off x="685800" y="19050"/>
            <a:ext cx="7772400" cy="533400"/>
          </a:xfrm>
        </p:spPr>
        <p:txBody>
          <a:bodyPr anchor="ctr"/>
          <a:lstStyle/>
          <a:p>
            <a:r>
              <a:rPr lang="en-US" altLang="zh-CN" sz="2800"/>
              <a:t>Carbon Bonding</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a:extLst>
              <a:ext uri="{FF2B5EF4-FFF2-40B4-BE49-F238E27FC236}">
                <a16:creationId xmlns:a16="http://schemas.microsoft.com/office/drawing/2014/main" id="{2B7E5A27-C7B5-4336-A3CD-17A2BE172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4538" y="379413"/>
            <a:ext cx="5114925" cy="609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6AC0C96A-A39C-4943-A419-271ADB30F88C}"/>
              </a:ext>
            </a:extLst>
          </p:cNvPr>
          <p:cNvSpPr>
            <a:spLocks noGrp="1" noChangeArrowheads="1"/>
          </p:cNvSpPr>
          <p:nvPr>
            <p:ph type="title" idx="4294967295"/>
          </p:nvPr>
        </p:nvSpPr>
        <p:spPr>
          <a:xfrm>
            <a:off x="0" y="0"/>
            <a:ext cx="9144000" cy="1143000"/>
          </a:xfrm>
        </p:spPr>
        <p:txBody>
          <a:bodyPr anchor="ctr"/>
          <a:lstStyle/>
          <a:p>
            <a:r>
              <a:rPr lang="en-US" altLang="zh-CN" sz="3200" b="1">
                <a:solidFill>
                  <a:schemeClr val="tx1"/>
                </a:solidFill>
                <a:ea typeface="ＭＳ Ｐゴシック" panose="020B0600070205080204" pitchFamily="34" charset="-128"/>
              </a:rPr>
              <a:t>Biological molecules typically have several functional groups</a:t>
            </a:r>
          </a:p>
        </p:txBody>
      </p:sp>
      <p:pic>
        <p:nvPicPr>
          <p:cNvPr id="20483" name="Picture 1">
            <a:extLst>
              <a:ext uri="{FF2B5EF4-FFF2-40B4-BE49-F238E27FC236}">
                <a16:creationId xmlns:a16="http://schemas.microsoft.com/office/drawing/2014/main" id="{6B638774-1C9C-4876-AE39-2C10DECCA83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6838" y="1074738"/>
            <a:ext cx="8950325"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id="{28775880-7350-485A-B972-DC9F8E45D0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760413"/>
            <a:ext cx="7591425" cy="609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Rectangle 3">
            <a:extLst>
              <a:ext uri="{FF2B5EF4-FFF2-40B4-BE49-F238E27FC236}">
                <a16:creationId xmlns:a16="http://schemas.microsoft.com/office/drawing/2014/main" id="{39BE551F-C13A-414A-96EF-A69463BC7A03}"/>
              </a:ext>
            </a:extLst>
          </p:cNvPr>
          <p:cNvSpPr>
            <a:spLocks noGrp="1" noChangeArrowheads="1"/>
          </p:cNvSpPr>
          <p:nvPr>
            <p:ph type="title" idx="4294967295"/>
          </p:nvPr>
        </p:nvSpPr>
        <p:spPr>
          <a:xfrm>
            <a:off x="685800" y="0"/>
            <a:ext cx="7772400" cy="533400"/>
          </a:xfrm>
        </p:spPr>
        <p:txBody>
          <a:bodyPr anchor="ctr"/>
          <a:lstStyle/>
          <a:p>
            <a:r>
              <a:rPr lang="en-US" altLang="zh-CN" sz="2800" b="1"/>
              <a:t>Bond Angles and Rotation</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a:extLst>
              <a:ext uri="{FF2B5EF4-FFF2-40B4-BE49-F238E27FC236}">
                <a16:creationId xmlns:a16="http://schemas.microsoft.com/office/drawing/2014/main" id="{E73D395D-63CF-44DF-AA9F-193A54B84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213" y="742950"/>
            <a:ext cx="8535987" cy="537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Rectangle 3">
            <a:extLst>
              <a:ext uri="{FF2B5EF4-FFF2-40B4-BE49-F238E27FC236}">
                <a16:creationId xmlns:a16="http://schemas.microsoft.com/office/drawing/2014/main" id="{3326F9E2-62AB-4FEA-8516-3460AC5D45BA}"/>
              </a:ext>
            </a:extLst>
          </p:cNvPr>
          <p:cNvSpPr>
            <a:spLocks noGrp="1" noChangeArrowheads="1"/>
          </p:cNvSpPr>
          <p:nvPr>
            <p:ph type="title" idx="4294967295"/>
          </p:nvPr>
        </p:nvSpPr>
        <p:spPr>
          <a:xfrm>
            <a:off x="685800" y="152400"/>
            <a:ext cx="7772400" cy="533400"/>
          </a:xfrm>
        </p:spPr>
        <p:txBody>
          <a:bodyPr anchor="ctr"/>
          <a:lstStyle/>
          <a:p>
            <a:r>
              <a:rPr lang="en-US" altLang="zh-CN" sz="2800" b="1" i="1"/>
              <a:t>Cis</a:t>
            </a:r>
            <a:r>
              <a:rPr lang="en-US" altLang="zh-CN" sz="2800" b="1"/>
              <a:t> and </a:t>
            </a:r>
            <a:r>
              <a:rPr lang="en-US" altLang="zh-CN" sz="2800" b="1" i="1"/>
              <a:t>Trans</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a:extLst>
              <a:ext uri="{FF2B5EF4-FFF2-40B4-BE49-F238E27FC236}">
                <a16:creationId xmlns:a16="http://schemas.microsoft.com/office/drawing/2014/main" id="{A2E1538C-71CC-4E87-B4D5-B4F5088B80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990600"/>
            <a:ext cx="8535988"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Rectangle 3">
            <a:extLst>
              <a:ext uri="{FF2B5EF4-FFF2-40B4-BE49-F238E27FC236}">
                <a16:creationId xmlns:a16="http://schemas.microsoft.com/office/drawing/2014/main" id="{D28A4FBB-F668-4AB6-8E26-8E31B2E0B30F}"/>
              </a:ext>
            </a:extLst>
          </p:cNvPr>
          <p:cNvSpPr>
            <a:spLocks noGrp="1" noChangeArrowheads="1"/>
          </p:cNvSpPr>
          <p:nvPr>
            <p:ph type="title" idx="4294967295"/>
          </p:nvPr>
        </p:nvSpPr>
        <p:spPr>
          <a:xfrm>
            <a:off x="685800" y="152400"/>
            <a:ext cx="7772400" cy="609600"/>
          </a:xfrm>
        </p:spPr>
        <p:txBody>
          <a:bodyPr anchor="ctr"/>
          <a:lstStyle/>
          <a:p>
            <a:r>
              <a:rPr lang="en-US" altLang="zh-CN" sz="3200" b="1"/>
              <a:t>Cis and Trans –Change</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C1ADA0-3EDE-494E-8FC9-4F07BE23BC0E}"/>
              </a:ext>
            </a:extLst>
          </p:cNvPr>
          <p:cNvSpPr>
            <a:spLocks noGrp="1"/>
          </p:cNvSpPr>
          <p:nvPr>
            <p:ph type="title"/>
          </p:nvPr>
        </p:nvSpPr>
        <p:spPr/>
        <p:txBody>
          <a:bodyPr/>
          <a:lstStyle/>
          <a:p>
            <a:r>
              <a:rPr lang="en-US" altLang="zh-CN" dirty="0"/>
              <a:t>Summary of B0</a:t>
            </a:r>
            <a:endParaRPr lang="zh-CN" altLang="en-US" dirty="0"/>
          </a:p>
        </p:txBody>
      </p:sp>
      <p:sp>
        <p:nvSpPr>
          <p:cNvPr id="3" name="内容占位符 2">
            <a:extLst>
              <a:ext uri="{FF2B5EF4-FFF2-40B4-BE49-F238E27FC236}">
                <a16:creationId xmlns:a16="http://schemas.microsoft.com/office/drawing/2014/main" id="{3AE82233-0EB7-4157-B694-A1E69B3099D0}"/>
              </a:ext>
            </a:extLst>
          </p:cNvPr>
          <p:cNvSpPr>
            <a:spLocks noGrp="1"/>
          </p:cNvSpPr>
          <p:nvPr>
            <p:ph idx="1"/>
          </p:nvPr>
        </p:nvSpPr>
        <p:spPr/>
        <p:txBody>
          <a:bodyPr/>
          <a:lstStyle/>
          <a:p>
            <a:r>
              <a:rPr lang="en-US" altLang="zh-CN" dirty="0">
                <a:latin typeface="Times New Roman" panose="02020603050405020304" pitchFamily="18" charset="0"/>
                <a:sym typeface="Wingdings" panose="05000000000000000000" pitchFamily="2" charset="2"/>
              </a:rPr>
              <a:t>Proteins are polymers of 20 amino acids;</a:t>
            </a:r>
          </a:p>
          <a:p>
            <a:pPr eaLnBrk="1" hangingPunct="1">
              <a:spcBef>
                <a:spcPct val="50000"/>
              </a:spcBef>
            </a:pPr>
            <a:r>
              <a:rPr lang="en-US" altLang="zh-CN" dirty="0">
                <a:latin typeface="Times New Roman" panose="02020603050405020304" pitchFamily="18" charset="0"/>
                <a:sym typeface="Wingdings" panose="05000000000000000000" pitchFamily="2" charset="2"/>
              </a:rPr>
              <a:t>Protein structures are studied at </a:t>
            </a:r>
            <a:r>
              <a:rPr lang="en-US" altLang="zh-CN" dirty="0">
                <a:effectLst>
                  <a:outerShdw blurRad="38100" dist="38100" dir="2700000" algn="tl">
                    <a:srgbClr val="000000">
                      <a:alpha val="43137"/>
                    </a:srgbClr>
                  </a:outerShdw>
                </a:effectLst>
                <a:latin typeface="Times New Roman" panose="02020603050405020304" pitchFamily="18" charset="0"/>
                <a:sym typeface="Wingdings" panose="05000000000000000000" pitchFamily="2" charset="2"/>
              </a:rPr>
              <a:t>primary</a:t>
            </a:r>
            <a:r>
              <a:rPr lang="en-US" altLang="zh-CN" dirty="0">
                <a:latin typeface="Times New Roman" panose="02020603050405020304" pitchFamily="18" charset="0"/>
                <a:sym typeface="Wingdings" panose="05000000000000000000" pitchFamily="2" charset="2"/>
              </a:rPr>
              <a:t>,                                                        </a:t>
            </a:r>
            <a:r>
              <a:rPr lang="en-US" altLang="zh-CN" dirty="0">
                <a:effectLst>
                  <a:outerShdw blurRad="38100" dist="38100" dir="2700000" algn="tl">
                    <a:srgbClr val="000000">
                      <a:alpha val="43137"/>
                    </a:srgbClr>
                  </a:outerShdw>
                </a:effectLst>
                <a:latin typeface="Times New Roman" panose="02020603050405020304" pitchFamily="18" charset="0"/>
                <a:sym typeface="Wingdings" panose="05000000000000000000" pitchFamily="2" charset="2"/>
              </a:rPr>
              <a:t>secondary</a:t>
            </a:r>
            <a:r>
              <a:rPr lang="en-US" altLang="zh-CN" dirty="0">
                <a:latin typeface="Times New Roman" panose="02020603050405020304" pitchFamily="18" charset="0"/>
                <a:sym typeface="Wingdings" panose="05000000000000000000" pitchFamily="2" charset="2"/>
              </a:rPr>
              <a:t>, </a:t>
            </a:r>
            <a:r>
              <a:rPr lang="en-US" altLang="zh-CN" dirty="0">
                <a:effectLst>
                  <a:outerShdw blurRad="38100" dist="38100" dir="2700000" algn="tl">
                    <a:srgbClr val="000000">
                      <a:alpha val="43137"/>
                    </a:srgbClr>
                  </a:outerShdw>
                </a:effectLst>
                <a:latin typeface="Times New Roman" panose="02020603050405020304" pitchFamily="18" charset="0"/>
                <a:sym typeface="Wingdings" panose="05000000000000000000" pitchFamily="2" charset="2"/>
              </a:rPr>
              <a:t>tertiary</a:t>
            </a:r>
            <a:r>
              <a:rPr lang="en-US" altLang="zh-CN" dirty="0">
                <a:latin typeface="Times New Roman" panose="02020603050405020304" pitchFamily="18" charset="0"/>
                <a:sym typeface="Wingdings" panose="05000000000000000000" pitchFamily="2" charset="2"/>
              </a:rPr>
              <a:t> and </a:t>
            </a:r>
            <a:r>
              <a:rPr lang="en-US" altLang="zh-CN" dirty="0">
                <a:effectLst>
                  <a:outerShdw blurRad="38100" dist="38100" dir="2700000" algn="tl">
                    <a:srgbClr val="000000">
                      <a:alpha val="43137"/>
                    </a:srgbClr>
                  </a:outerShdw>
                </a:effectLst>
                <a:latin typeface="Times New Roman" panose="02020603050405020304" pitchFamily="18" charset="0"/>
                <a:sym typeface="Wingdings" panose="05000000000000000000" pitchFamily="2" charset="2"/>
              </a:rPr>
              <a:t>quaternary</a:t>
            </a:r>
            <a:r>
              <a:rPr lang="en-US" altLang="zh-CN" dirty="0">
                <a:latin typeface="Times New Roman" panose="02020603050405020304" pitchFamily="18" charset="0"/>
                <a:sym typeface="Wingdings" panose="05000000000000000000" pitchFamily="2" charset="2"/>
              </a:rPr>
              <a:t> levels.</a:t>
            </a:r>
          </a:p>
          <a:p>
            <a:pPr eaLnBrk="1" hangingPunct="1">
              <a:spcBef>
                <a:spcPct val="50000"/>
              </a:spcBef>
            </a:pPr>
            <a:r>
              <a:rPr lang="en-US" altLang="zh-CN" dirty="0">
                <a:latin typeface="Times New Roman" panose="02020603050405020304" pitchFamily="18" charset="0"/>
              </a:rPr>
              <a:t>Biomolecules are compounds of carbon with a variety of functional groups. </a:t>
            </a:r>
            <a:br>
              <a:rPr lang="en-US" altLang="zh-CN" b="1" dirty="0">
                <a:latin typeface="Times New Roman" panose="02020603050405020304" pitchFamily="18" charset="0"/>
              </a:rPr>
            </a:br>
            <a:endParaRPr lang="en-US" altLang="zh-CN" b="1" dirty="0">
              <a:latin typeface="Times New Roman" panose="02020603050405020304" pitchFamily="18" charset="0"/>
              <a:sym typeface="Wingdings" panose="05000000000000000000" pitchFamily="2" charset="2"/>
            </a:endParaRPr>
          </a:p>
          <a:p>
            <a:endParaRPr lang="zh-CN" altLang="en-US" dirty="0"/>
          </a:p>
        </p:txBody>
      </p:sp>
    </p:spTree>
    <p:extLst>
      <p:ext uri="{BB962C8B-B14F-4D97-AF65-F5344CB8AC3E}">
        <p14:creationId xmlns:p14="http://schemas.microsoft.com/office/powerpoint/2010/main" val="3798009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a:extLst>
              <a:ext uri="{FF2B5EF4-FFF2-40B4-BE49-F238E27FC236}">
                <a16:creationId xmlns:a16="http://schemas.microsoft.com/office/drawing/2014/main" id="{4E0B178E-0747-48A9-B451-389677D10E36}"/>
              </a:ext>
            </a:extLst>
          </p:cNvPr>
          <p:cNvSpPr txBox="1">
            <a:spLocks noChangeArrowheads="1"/>
          </p:cNvSpPr>
          <p:nvPr/>
        </p:nvSpPr>
        <p:spPr bwMode="auto">
          <a:xfrm>
            <a:off x="1295400" y="838200"/>
            <a:ext cx="640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0" lang="en-US" altLang="zh-CN" sz="3600">
                <a:solidFill>
                  <a:srgbClr val="FF0066"/>
                </a:solidFill>
                <a:latin typeface="Times New Roman" panose="02020603050405020304" pitchFamily="18" charset="0"/>
              </a:rPr>
              <a:t>Section B1  Amino acid structure</a:t>
            </a:r>
          </a:p>
        </p:txBody>
      </p:sp>
      <p:sp>
        <p:nvSpPr>
          <p:cNvPr id="39939" name="Text Box 3">
            <a:extLst>
              <a:ext uri="{FF2B5EF4-FFF2-40B4-BE49-F238E27FC236}">
                <a16:creationId xmlns:a16="http://schemas.microsoft.com/office/drawing/2014/main" id="{DF7B449B-00FF-4D85-94BE-A228B0898565}"/>
              </a:ext>
            </a:extLst>
          </p:cNvPr>
          <p:cNvSpPr txBox="1">
            <a:spLocks noChangeArrowheads="1"/>
          </p:cNvSpPr>
          <p:nvPr/>
        </p:nvSpPr>
        <p:spPr bwMode="auto">
          <a:xfrm>
            <a:off x="685800" y="2057400"/>
            <a:ext cx="7696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b="1">
                <a:latin typeface="Times New Roman" panose="02020603050405020304" pitchFamily="18" charset="0"/>
              </a:rPr>
              <a:t>1. All natural proteins were found to be built from the same set of 20 standard </a:t>
            </a:r>
            <a:r>
              <a:rPr lang="en-US" altLang="zh-CN" sz="2800" b="1">
                <a:latin typeface="Times New Roman" panose="02020603050405020304" pitchFamily="18" charset="0"/>
                <a:sym typeface="Symbol" panose="05050102010706020507" pitchFamily="18" charset="2"/>
              </a:rPr>
              <a:t></a:t>
            </a:r>
            <a:r>
              <a:rPr lang="en-US" altLang="zh-CN" sz="2800" b="1">
                <a:latin typeface="Times New Roman" panose="02020603050405020304" pitchFamily="18" charset="0"/>
              </a:rPr>
              <a:t>-amino acids.</a:t>
            </a:r>
            <a:endParaRPr lang="en-US" altLang="zh-CN" sz="2400">
              <a:latin typeface="Times New Roman" panose="02020603050405020304" pitchFamily="18" charset="0"/>
            </a:endParaRPr>
          </a:p>
        </p:txBody>
      </p:sp>
      <p:sp>
        <p:nvSpPr>
          <p:cNvPr id="39940" name="Text Box 4">
            <a:extLst>
              <a:ext uri="{FF2B5EF4-FFF2-40B4-BE49-F238E27FC236}">
                <a16:creationId xmlns:a16="http://schemas.microsoft.com/office/drawing/2014/main" id="{4E7BF164-671D-4A34-B237-B7F2437B0607}"/>
              </a:ext>
            </a:extLst>
          </p:cNvPr>
          <p:cNvSpPr txBox="1">
            <a:spLocks noChangeArrowheads="1"/>
          </p:cNvSpPr>
          <p:nvPr/>
        </p:nvSpPr>
        <p:spPr bwMode="auto">
          <a:xfrm>
            <a:off x="685800" y="3200400"/>
            <a:ext cx="8382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b="1">
                <a:latin typeface="Times New Roman" panose="02020603050405020304" pitchFamily="18" charset="0"/>
              </a:rPr>
              <a:t>2. The 20 amino acids are usually grouped according to the properties (mainly polarity) of their R groups.</a:t>
            </a:r>
            <a:endParaRPr lang="en-US" altLang="zh-CN" sz="2400">
              <a:latin typeface="Times New Roman" panose="02020603050405020304" pitchFamily="18" charset="0"/>
            </a:endParaRPr>
          </a:p>
        </p:txBody>
      </p:sp>
      <p:sp>
        <p:nvSpPr>
          <p:cNvPr id="39941" name="Text Box 5">
            <a:extLst>
              <a:ext uri="{FF2B5EF4-FFF2-40B4-BE49-F238E27FC236}">
                <a16:creationId xmlns:a16="http://schemas.microsoft.com/office/drawing/2014/main" id="{B26C80AA-6492-48E5-A3D3-E55651D00626}"/>
              </a:ext>
            </a:extLst>
          </p:cNvPr>
          <p:cNvSpPr txBox="1">
            <a:spLocks noChangeArrowheads="1"/>
          </p:cNvSpPr>
          <p:nvPr/>
        </p:nvSpPr>
        <p:spPr bwMode="auto">
          <a:xfrm>
            <a:off x="762000" y="4495800"/>
            <a:ext cx="80772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3. Nonstandard amino acids are found in certain proteins, generally as a result of post-translational modifications.</a:t>
            </a:r>
          </a:p>
        </p:txBody>
      </p:sp>
      <p:sp>
        <p:nvSpPr>
          <p:cNvPr id="39942" name="Text Box 6">
            <a:extLst>
              <a:ext uri="{FF2B5EF4-FFF2-40B4-BE49-F238E27FC236}">
                <a16:creationId xmlns:a16="http://schemas.microsoft.com/office/drawing/2014/main" id="{75FA21C7-686B-445E-9A4C-5966514C595B}"/>
              </a:ext>
            </a:extLst>
          </p:cNvPr>
          <p:cNvSpPr txBox="1">
            <a:spLocks noChangeArrowheads="1"/>
          </p:cNvSpPr>
          <p:nvPr/>
        </p:nvSpPr>
        <p:spPr bwMode="auto">
          <a:xfrm>
            <a:off x="762000" y="6019800"/>
            <a:ext cx="7391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4. The amino acids</a:t>
            </a:r>
            <a:r>
              <a:rPr lang="en-US" altLang="zh-CN" sz="2800" b="1" dirty="0">
                <a:solidFill>
                  <a:srgbClr val="FF0066"/>
                </a:solidFill>
                <a:latin typeface="Times New Roman" panose="02020603050405020304" pitchFamily="18" charset="0"/>
              </a:rPr>
              <a:t> ionize</a:t>
            </a:r>
            <a:r>
              <a:rPr lang="en-US" altLang="zh-CN" sz="2800" b="1" dirty="0">
                <a:latin typeface="Times New Roman" panose="02020603050405020304" pitchFamily="18" charset="0"/>
              </a:rPr>
              <a:t> in aqueous solutions.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a:extLst>
              <a:ext uri="{FF2B5EF4-FFF2-40B4-BE49-F238E27FC236}">
                <a16:creationId xmlns:a16="http://schemas.microsoft.com/office/drawing/2014/main" id="{E9D3140B-C21D-4B3B-9580-F1FA356D9A42}"/>
              </a:ext>
            </a:extLst>
          </p:cNvPr>
          <p:cNvSpPr txBox="1">
            <a:spLocks noChangeArrowheads="1"/>
          </p:cNvSpPr>
          <p:nvPr/>
        </p:nvSpPr>
        <p:spPr bwMode="auto">
          <a:xfrm>
            <a:off x="1143000" y="654050"/>
            <a:ext cx="7696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a:solidFill>
                  <a:srgbClr val="FF0066"/>
                </a:solidFill>
                <a:latin typeface="Times New Roman" panose="02020603050405020304" pitchFamily="18" charset="0"/>
              </a:rPr>
              <a:t>1. All natural proteins were found to be built from the same set of 20 standard </a:t>
            </a:r>
            <a:r>
              <a:rPr lang="en-US" altLang="zh-CN" sz="2800" b="1">
                <a:solidFill>
                  <a:srgbClr val="FF0066"/>
                </a:solidFill>
                <a:latin typeface="Times New Roman" panose="02020603050405020304" pitchFamily="18" charset="0"/>
                <a:sym typeface="Symbol" panose="05050102010706020507" pitchFamily="18" charset="2"/>
              </a:rPr>
              <a:t></a:t>
            </a:r>
            <a:r>
              <a:rPr lang="en-US" altLang="zh-CN" sz="2800" b="1">
                <a:solidFill>
                  <a:srgbClr val="FF0066"/>
                </a:solidFill>
                <a:latin typeface="Times New Roman" panose="02020603050405020304" pitchFamily="18" charset="0"/>
              </a:rPr>
              <a:t>-amino acids</a:t>
            </a:r>
            <a:endParaRPr lang="en-US" altLang="zh-CN" sz="2400">
              <a:latin typeface="Times New Roman" panose="02020603050405020304" pitchFamily="18" charset="0"/>
            </a:endParaRPr>
          </a:p>
        </p:txBody>
      </p:sp>
      <p:sp>
        <p:nvSpPr>
          <p:cNvPr id="40963" name="Text Box 3">
            <a:extLst>
              <a:ext uri="{FF2B5EF4-FFF2-40B4-BE49-F238E27FC236}">
                <a16:creationId xmlns:a16="http://schemas.microsoft.com/office/drawing/2014/main" id="{60964B8E-E7AC-49EB-AC71-027445C49D09}"/>
              </a:ext>
            </a:extLst>
          </p:cNvPr>
          <p:cNvSpPr txBox="1">
            <a:spLocks noChangeArrowheads="1"/>
          </p:cNvSpPr>
          <p:nvPr/>
        </p:nvSpPr>
        <p:spPr bwMode="auto">
          <a:xfrm>
            <a:off x="228600" y="1905000"/>
            <a:ext cx="85344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50000"/>
              </a:spcBef>
              <a:buClrTx/>
              <a:buSzTx/>
              <a:buFontTx/>
              <a:buNone/>
            </a:pPr>
            <a:r>
              <a:rPr lang="en-US" altLang="zh-CN" sz="2800" b="1" dirty="0">
                <a:latin typeface="Times New Roman" panose="02020603050405020304" pitchFamily="18" charset="0"/>
              </a:rPr>
              <a:t>The earliest studies of proteins focused on the free amino acids derived from these proteins.</a:t>
            </a:r>
          </a:p>
          <a:p>
            <a:pPr lvl="1" eaLnBrk="1" hangingPunct="1">
              <a:lnSpc>
                <a:spcPct val="120000"/>
              </a:lnSpc>
              <a:spcBef>
                <a:spcPct val="50000"/>
              </a:spcBef>
              <a:buClrTx/>
              <a:buSzTx/>
              <a:buFontTx/>
              <a:buChar char="•"/>
            </a:pPr>
            <a:r>
              <a:rPr lang="en-US" altLang="zh-CN" b="1" dirty="0">
                <a:latin typeface="Times New Roman" panose="02020603050405020304" pitchFamily="18" charset="0"/>
              </a:rPr>
              <a:t>The 1st amino acid (asparagine) was discovered in 1806 from asparagus (a green vegetable).</a:t>
            </a:r>
          </a:p>
          <a:p>
            <a:pPr lvl="1" eaLnBrk="1" hangingPunct="1">
              <a:lnSpc>
                <a:spcPct val="120000"/>
              </a:lnSpc>
              <a:spcBef>
                <a:spcPct val="50000"/>
              </a:spcBef>
              <a:buClrTx/>
              <a:buSzTx/>
              <a:buFontTx/>
              <a:buChar char="•"/>
            </a:pPr>
            <a:r>
              <a:rPr lang="en-US" altLang="zh-CN" b="1" dirty="0">
                <a:latin typeface="Times New Roman" panose="02020603050405020304" pitchFamily="18" charset="0"/>
              </a:rPr>
              <a:t>The last (threonine) was not identified until 1938!</a:t>
            </a:r>
          </a:p>
          <a:p>
            <a:pPr lvl="1" eaLnBrk="1" hangingPunct="1">
              <a:lnSpc>
                <a:spcPct val="120000"/>
              </a:lnSpc>
              <a:spcBef>
                <a:spcPct val="50000"/>
              </a:spcBef>
              <a:buClrTx/>
              <a:buSzTx/>
              <a:buFontTx/>
              <a:buChar char="•"/>
            </a:pPr>
            <a:r>
              <a:rPr lang="en-US" altLang="zh-CN" b="1" dirty="0">
                <a:latin typeface="Times New Roman" panose="02020603050405020304" pitchFamily="18" charset="0"/>
              </a:rPr>
              <a:t>Glutamate from wheat gluten (sticky). Tyrosine from cheese .</a:t>
            </a:r>
            <a:endParaRPr lang="en-US" altLang="zh-CN" sz="2400" dirty="0">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3D1279BF-233E-46FF-A774-B75CA11452EA}"/>
              </a:ext>
            </a:extLst>
          </p:cNvPr>
          <p:cNvSpPr>
            <a:spLocks noGrp="1" noChangeArrowheads="1"/>
          </p:cNvSpPr>
          <p:nvPr>
            <p:ph type="title"/>
          </p:nvPr>
        </p:nvSpPr>
        <p:spPr>
          <a:xfrm>
            <a:off x="1115616" y="381000"/>
            <a:ext cx="7793038" cy="1143000"/>
          </a:xfrm>
        </p:spPr>
        <p:txBody>
          <a:bodyPr/>
          <a:lstStyle/>
          <a:p>
            <a:pPr eaLnBrk="1" hangingPunct="1"/>
            <a:r>
              <a:rPr lang="en-US" altLang="zh-CN" sz="4000" b="1" dirty="0">
                <a:latin typeface="Times New Roman" panose="02020603050405020304" pitchFamily="18" charset="0"/>
              </a:rPr>
              <a:t>The names of the amino acids are often abbreviated, either to three letters or to a single letter.</a:t>
            </a:r>
          </a:p>
        </p:txBody>
      </p:sp>
      <p:sp>
        <p:nvSpPr>
          <p:cNvPr id="41987" name="Rectangle 3">
            <a:extLst>
              <a:ext uri="{FF2B5EF4-FFF2-40B4-BE49-F238E27FC236}">
                <a16:creationId xmlns:a16="http://schemas.microsoft.com/office/drawing/2014/main" id="{55C0CD96-FB75-431D-B92F-E383C3217CF4}"/>
              </a:ext>
            </a:extLst>
          </p:cNvPr>
          <p:cNvSpPr>
            <a:spLocks noGrp="1" noChangeArrowheads="1"/>
          </p:cNvSpPr>
          <p:nvPr>
            <p:ph type="body" sz="half" idx="1"/>
          </p:nvPr>
        </p:nvSpPr>
        <p:spPr>
          <a:xfrm>
            <a:off x="1752600" y="1981200"/>
            <a:ext cx="6019800" cy="4495800"/>
          </a:xfrm>
        </p:spPr>
        <p:txBody>
          <a:bodyPr/>
          <a:lstStyle/>
          <a:p>
            <a:pPr eaLnBrk="1" hangingPunct="1"/>
            <a:r>
              <a:rPr lang="en-US" altLang="zh-CN" dirty="0">
                <a:latin typeface="Arial" panose="020B0604020202020204" pitchFamily="34" charset="0"/>
              </a:rPr>
              <a:t>Glycine (</a:t>
            </a:r>
            <a:r>
              <a:rPr lang="en-US" altLang="zh-CN" dirty="0" err="1">
                <a:latin typeface="Arial" panose="020B0604020202020204" pitchFamily="34" charset="0"/>
              </a:rPr>
              <a:t>Gly</a:t>
            </a:r>
            <a:r>
              <a:rPr lang="en-US" altLang="zh-CN" dirty="0">
                <a:latin typeface="Arial" panose="020B0604020202020204" pitchFamily="34" charset="0"/>
              </a:rPr>
              <a:t>, G)	</a:t>
            </a:r>
            <a:r>
              <a:rPr lang="zh-CN" altLang="en-US" dirty="0">
                <a:latin typeface="Arial" panose="020B0604020202020204" pitchFamily="34" charset="0"/>
                <a:ea typeface="华文中宋" panose="02010600040101010101" pitchFamily="2" charset="-122"/>
              </a:rPr>
              <a:t>甘氨酸</a:t>
            </a:r>
          </a:p>
          <a:p>
            <a:pPr eaLnBrk="1" hangingPunct="1"/>
            <a:r>
              <a:rPr lang="en-US" altLang="zh-CN" dirty="0">
                <a:latin typeface="Arial" panose="020B0604020202020204" pitchFamily="34" charset="0"/>
                <a:ea typeface="华文中宋" panose="02010600040101010101" pitchFamily="2" charset="-122"/>
              </a:rPr>
              <a:t>Alanine (Ala, A)	</a:t>
            </a:r>
            <a:r>
              <a:rPr lang="zh-CN" altLang="en-US" dirty="0">
                <a:latin typeface="Arial" panose="020B0604020202020204" pitchFamily="34" charset="0"/>
                <a:ea typeface="华文中宋" panose="02010600040101010101" pitchFamily="2" charset="-122"/>
              </a:rPr>
              <a:t>丙氨酸</a:t>
            </a:r>
          </a:p>
          <a:p>
            <a:pPr eaLnBrk="1" hangingPunct="1"/>
            <a:r>
              <a:rPr lang="en-US" altLang="zh-CN" dirty="0">
                <a:latin typeface="Arial" panose="020B0604020202020204" pitchFamily="34" charset="0"/>
                <a:ea typeface="华文中宋" panose="02010600040101010101" pitchFamily="2" charset="-122"/>
              </a:rPr>
              <a:t>Valine (Val, V)		</a:t>
            </a:r>
            <a:r>
              <a:rPr lang="zh-CN" altLang="en-US" dirty="0">
                <a:latin typeface="Arial" panose="020B0604020202020204" pitchFamily="34" charset="0"/>
                <a:ea typeface="华文中宋" panose="02010600040101010101" pitchFamily="2" charset="-122"/>
              </a:rPr>
              <a:t>缬氨酸</a:t>
            </a:r>
          </a:p>
          <a:p>
            <a:pPr eaLnBrk="1" hangingPunct="1"/>
            <a:r>
              <a:rPr lang="en-US" altLang="zh-CN" dirty="0">
                <a:latin typeface="Arial" panose="020B0604020202020204" pitchFamily="34" charset="0"/>
                <a:ea typeface="华文中宋" panose="02010600040101010101" pitchFamily="2" charset="-122"/>
              </a:rPr>
              <a:t>Leucine (Leu, L)	</a:t>
            </a:r>
            <a:r>
              <a:rPr lang="zh-CN" altLang="en-US" dirty="0">
                <a:latin typeface="Arial" panose="020B0604020202020204" pitchFamily="34" charset="0"/>
                <a:ea typeface="华文中宋" panose="02010600040101010101" pitchFamily="2" charset="-122"/>
              </a:rPr>
              <a:t>亮氨酸</a:t>
            </a:r>
          </a:p>
          <a:p>
            <a:pPr eaLnBrk="1" hangingPunct="1"/>
            <a:r>
              <a:rPr lang="en-US" altLang="zh-CN" dirty="0">
                <a:latin typeface="Arial" panose="020B0604020202020204" pitchFamily="34" charset="0"/>
                <a:ea typeface="华文中宋" panose="02010600040101010101" pitchFamily="2" charset="-122"/>
              </a:rPr>
              <a:t>Isoleucine (Ile, I) 	</a:t>
            </a:r>
            <a:r>
              <a:rPr lang="zh-CN" altLang="en-US" dirty="0">
                <a:latin typeface="Arial" panose="020B0604020202020204" pitchFamily="34" charset="0"/>
                <a:ea typeface="华文中宋" panose="02010600040101010101" pitchFamily="2" charset="-122"/>
              </a:rPr>
              <a:t>异亮氨酸</a:t>
            </a:r>
          </a:p>
          <a:p>
            <a:pPr eaLnBrk="1" hangingPunct="1"/>
            <a:r>
              <a:rPr lang="en-US" altLang="zh-CN" dirty="0">
                <a:latin typeface="Arial" panose="020B0604020202020204" pitchFamily="34" charset="0"/>
                <a:ea typeface="华文中宋" panose="02010600040101010101" pitchFamily="2" charset="-122"/>
              </a:rPr>
              <a:t>Methionine(Met, M)	</a:t>
            </a:r>
            <a:r>
              <a:rPr lang="zh-CN" altLang="en-US" dirty="0">
                <a:latin typeface="Arial" panose="020B0604020202020204" pitchFamily="34" charset="0"/>
                <a:ea typeface="华文中宋" panose="02010600040101010101" pitchFamily="2" charset="-122"/>
              </a:rPr>
              <a:t>蛋氨酸</a:t>
            </a:r>
          </a:p>
          <a:p>
            <a:pPr eaLnBrk="1" hangingPunct="1"/>
            <a:r>
              <a:rPr lang="en-US" altLang="zh-CN" dirty="0">
                <a:latin typeface="Arial" panose="020B0604020202020204" pitchFamily="34" charset="0"/>
                <a:ea typeface="华文中宋" panose="02010600040101010101" pitchFamily="2" charset="-122"/>
              </a:rPr>
              <a:t>Proline (Pro, P)	</a:t>
            </a:r>
            <a:r>
              <a:rPr lang="zh-CN" altLang="en-US" dirty="0">
                <a:latin typeface="Arial" panose="020B0604020202020204" pitchFamily="34" charset="0"/>
                <a:ea typeface="华文中宋" panose="02010600040101010101" pitchFamily="2" charset="-122"/>
              </a:rPr>
              <a:t>脯氨酸</a:t>
            </a:r>
          </a:p>
          <a:p>
            <a:pPr eaLnBrk="1" hangingPunct="1"/>
            <a:endParaRPr lang="zh-CN" altLang="en-US" dirty="0">
              <a:latin typeface="Arial" panose="020B0604020202020204" pitchFamily="34" charset="0"/>
            </a:endParaRPr>
          </a:p>
        </p:txBody>
      </p:sp>
      <p:sp>
        <p:nvSpPr>
          <p:cNvPr id="41988" name="Text Box 4">
            <a:extLst>
              <a:ext uri="{FF2B5EF4-FFF2-40B4-BE49-F238E27FC236}">
                <a16:creationId xmlns:a16="http://schemas.microsoft.com/office/drawing/2014/main" id="{8D20215E-0901-468B-A8EC-63789C0340F7}"/>
              </a:ext>
            </a:extLst>
          </p:cNvPr>
          <p:cNvSpPr txBox="1">
            <a:spLocks noChangeArrowheads="1"/>
          </p:cNvSpPr>
          <p:nvPr/>
        </p:nvSpPr>
        <p:spPr bwMode="auto">
          <a:xfrm>
            <a:off x="684213" y="6165850"/>
            <a:ext cx="741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dirty="0">
                <a:solidFill>
                  <a:schemeClr val="hlink"/>
                </a:solidFill>
              </a:rPr>
              <a:t>Hydrophobic, aliphatic amino acids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03331CE9-9205-4AC8-B8C0-0F6320AA9C6F}"/>
              </a:ext>
            </a:extLst>
          </p:cNvPr>
          <p:cNvSpPr>
            <a:spLocks noGrp="1" noChangeArrowheads="1"/>
          </p:cNvSpPr>
          <p:nvPr>
            <p:ph type="body" idx="1"/>
          </p:nvPr>
        </p:nvSpPr>
        <p:spPr>
          <a:noFill/>
        </p:spPr>
        <p:txBody>
          <a:bodyPr/>
          <a:lstStyle/>
          <a:p>
            <a:pPr eaLnBrk="1" hangingPunct="1">
              <a:lnSpc>
                <a:spcPct val="120000"/>
              </a:lnSpc>
            </a:pPr>
            <a:r>
              <a:rPr lang="en-US" altLang="zh-CN" dirty="0"/>
              <a:t>Serine (Ser, S) 		</a:t>
            </a:r>
            <a:r>
              <a:rPr lang="zh-CN" altLang="en-US" dirty="0">
                <a:ea typeface="华文中宋" panose="02010600040101010101" pitchFamily="2" charset="-122"/>
              </a:rPr>
              <a:t>丝氨酸</a:t>
            </a:r>
          </a:p>
          <a:p>
            <a:pPr eaLnBrk="1" hangingPunct="1">
              <a:lnSpc>
                <a:spcPct val="120000"/>
              </a:lnSpc>
            </a:pPr>
            <a:r>
              <a:rPr lang="en-US" altLang="zh-CN" dirty="0"/>
              <a:t>Threonine (</a:t>
            </a:r>
            <a:r>
              <a:rPr lang="en-US" altLang="zh-CN" dirty="0" err="1"/>
              <a:t>Thr</a:t>
            </a:r>
            <a:r>
              <a:rPr lang="en-US" altLang="zh-CN" dirty="0"/>
              <a:t>, T) 	</a:t>
            </a:r>
            <a:r>
              <a:rPr lang="zh-CN" altLang="en-US" dirty="0">
                <a:ea typeface="华文中宋" panose="02010600040101010101" pitchFamily="2" charset="-122"/>
              </a:rPr>
              <a:t>苏氨酸</a:t>
            </a:r>
            <a:endParaRPr lang="en-US" altLang="zh-CN" dirty="0">
              <a:ea typeface="华文中宋" panose="02010600040101010101" pitchFamily="2" charset="-122"/>
            </a:endParaRPr>
          </a:p>
          <a:p>
            <a:pPr eaLnBrk="1" hangingPunct="1">
              <a:lnSpc>
                <a:spcPct val="120000"/>
              </a:lnSpc>
            </a:pPr>
            <a:r>
              <a:rPr lang="en-US" altLang="zh-CN" dirty="0">
                <a:latin typeface="Arial" panose="020B0604020202020204" pitchFamily="34" charset="0"/>
                <a:ea typeface="华文中宋" panose="02010600040101010101" pitchFamily="2" charset="-122"/>
              </a:rPr>
              <a:t>Cysteine (</a:t>
            </a:r>
            <a:r>
              <a:rPr lang="en-US" altLang="zh-CN" dirty="0" err="1">
                <a:latin typeface="Arial" panose="020B0604020202020204" pitchFamily="34" charset="0"/>
                <a:ea typeface="华文中宋" panose="02010600040101010101" pitchFamily="2" charset="-122"/>
              </a:rPr>
              <a:t>Cys</a:t>
            </a:r>
            <a:r>
              <a:rPr lang="en-US" altLang="zh-CN" dirty="0">
                <a:latin typeface="Arial" panose="020B0604020202020204" pitchFamily="34" charset="0"/>
                <a:ea typeface="华文中宋" panose="02010600040101010101" pitchFamily="2" charset="-122"/>
              </a:rPr>
              <a:t>, C)	</a:t>
            </a:r>
            <a:r>
              <a:rPr lang="zh-CN" altLang="en-US" dirty="0">
                <a:latin typeface="Arial" panose="020B0604020202020204" pitchFamily="34" charset="0"/>
                <a:ea typeface="华文中宋" panose="02010600040101010101" pitchFamily="2" charset="-122"/>
              </a:rPr>
              <a:t>半胱氨酸</a:t>
            </a:r>
          </a:p>
          <a:p>
            <a:pPr eaLnBrk="1" hangingPunct="1">
              <a:lnSpc>
                <a:spcPct val="120000"/>
              </a:lnSpc>
            </a:pPr>
            <a:r>
              <a:rPr lang="en-US" altLang="zh-CN" dirty="0"/>
              <a:t>Asparagine (</a:t>
            </a:r>
            <a:r>
              <a:rPr lang="en-US" altLang="zh-CN" dirty="0" err="1"/>
              <a:t>Asn</a:t>
            </a:r>
            <a:r>
              <a:rPr lang="en-US" altLang="zh-CN" dirty="0"/>
              <a:t>, N) 	</a:t>
            </a:r>
            <a:r>
              <a:rPr lang="zh-CN" altLang="en-US" dirty="0">
                <a:ea typeface="华文中宋" panose="02010600040101010101" pitchFamily="2" charset="-122"/>
              </a:rPr>
              <a:t>天冬酰胺</a:t>
            </a:r>
          </a:p>
          <a:p>
            <a:pPr eaLnBrk="1" hangingPunct="1">
              <a:lnSpc>
                <a:spcPct val="120000"/>
              </a:lnSpc>
            </a:pPr>
            <a:r>
              <a:rPr lang="en-US" altLang="zh-CN" dirty="0"/>
              <a:t>Glutamine (</a:t>
            </a:r>
            <a:r>
              <a:rPr lang="en-US" altLang="zh-CN" dirty="0" err="1"/>
              <a:t>Gln</a:t>
            </a:r>
            <a:r>
              <a:rPr lang="en-US" altLang="zh-CN" dirty="0"/>
              <a:t>, Q) 	</a:t>
            </a:r>
            <a:r>
              <a:rPr lang="zh-CN" altLang="en-US" dirty="0">
                <a:ea typeface="华文中宋" panose="02010600040101010101" pitchFamily="2" charset="-122"/>
              </a:rPr>
              <a:t>谷氨酰氨</a:t>
            </a:r>
          </a:p>
        </p:txBody>
      </p:sp>
      <p:sp>
        <p:nvSpPr>
          <p:cNvPr id="45059" name="Text Box 3">
            <a:extLst>
              <a:ext uri="{FF2B5EF4-FFF2-40B4-BE49-F238E27FC236}">
                <a16:creationId xmlns:a16="http://schemas.microsoft.com/office/drawing/2014/main" id="{8CE24987-1FFC-4159-9F34-13678AB9BB80}"/>
              </a:ext>
            </a:extLst>
          </p:cNvPr>
          <p:cNvSpPr txBox="1">
            <a:spLocks noChangeArrowheads="1"/>
          </p:cNvSpPr>
          <p:nvPr/>
        </p:nvSpPr>
        <p:spPr bwMode="auto">
          <a:xfrm>
            <a:off x="1547813" y="836613"/>
            <a:ext cx="5472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solidFill>
                  <a:schemeClr val="hlink"/>
                </a:solidFill>
              </a:rPr>
              <a:t>Polar, uncharged amino acid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39EC71BD-C7B8-430D-98AD-985DC77B5872}"/>
              </a:ext>
            </a:extLst>
          </p:cNvPr>
          <p:cNvSpPr>
            <a:spLocks noGrp="1" noChangeArrowheads="1"/>
          </p:cNvSpPr>
          <p:nvPr>
            <p:ph type="body" idx="1"/>
          </p:nvPr>
        </p:nvSpPr>
        <p:spPr>
          <a:xfrm>
            <a:off x="1182688" y="1905000"/>
            <a:ext cx="7772400" cy="4114800"/>
          </a:xfrm>
          <a:noFill/>
        </p:spPr>
        <p:txBody>
          <a:bodyPr/>
          <a:lstStyle/>
          <a:p>
            <a:pPr eaLnBrk="1" hangingPunct="1"/>
            <a:r>
              <a:rPr lang="en-US" altLang="zh-CN" dirty="0"/>
              <a:t>Phenylalanine (</a:t>
            </a:r>
            <a:r>
              <a:rPr lang="en-US" altLang="zh-CN" dirty="0" err="1"/>
              <a:t>Phe,F</a:t>
            </a:r>
            <a:r>
              <a:rPr lang="en-US" altLang="zh-CN" dirty="0"/>
              <a:t>)	</a:t>
            </a:r>
            <a:r>
              <a:rPr lang="zh-CN" altLang="en-US" dirty="0">
                <a:latin typeface="Arial" panose="020B0604020202020204" pitchFamily="34" charset="0"/>
                <a:ea typeface="华文中宋" panose="02010600040101010101" pitchFamily="2" charset="-122"/>
              </a:rPr>
              <a:t>苯丙氨酸</a:t>
            </a:r>
          </a:p>
          <a:p>
            <a:pPr eaLnBrk="1" hangingPunct="1"/>
            <a:endParaRPr lang="zh-CN" altLang="en-US" dirty="0"/>
          </a:p>
          <a:p>
            <a:pPr eaLnBrk="1" hangingPunct="1"/>
            <a:r>
              <a:rPr lang="en-US" altLang="zh-CN" dirty="0"/>
              <a:t>Tyrosine (</a:t>
            </a:r>
            <a:r>
              <a:rPr lang="en-US" altLang="zh-CN" dirty="0" err="1"/>
              <a:t>Tyr,Y</a:t>
            </a:r>
            <a:r>
              <a:rPr lang="en-US" altLang="zh-CN" dirty="0"/>
              <a:t>) 		</a:t>
            </a:r>
            <a:r>
              <a:rPr lang="zh-CN" altLang="en-US" dirty="0">
                <a:latin typeface="Arial" panose="020B0604020202020204" pitchFamily="34" charset="0"/>
                <a:ea typeface="华文中宋" panose="02010600040101010101" pitchFamily="2" charset="-122"/>
              </a:rPr>
              <a:t>酪氨酸</a:t>
            </a:r>
          </a:p>
          <a:p>
            <a:pPr eaLnBrk="1" hangingPunct="1"/>
            <a:endParaRPr lang="zh-CN" altLang="en-US" dirty="0"/>
          </a:p>
          <a:p>
            <a:pPr eaLnBrk="1" hangingPunct="1"/>
            <a:r>
              <a:rPr lang="en-US" altLang="zh-CN" dirty="0"/>
              <a:t>Tryptophan (</a:t>
            </a:r>
            <a:r>
              <a:rPr lang="en-US" altLang="zh-CN" dirty="0" err="1"/>
              <a:t>Trp</a:t>
            </a:r>
            <a:r>
              <a:rPr lang="en-US" altLang="zh-CN" dirty="0"/>
              <a:t>, W)	</a:t>
            </a:r>
            <a:r>
              <a:rPr lang="zh-CN" altLang="en-US" dirty="0">
                <a:latin typeface="Arial" panose="020B0604020202020204" pitchFamily="34" charset="0"/>
                <a:ea typeface="华文中宋" panose="02010600040101010101" pitchFamily="2" charset="-122"/>
              </a:rPr>
              <a:t>色氨酸</a:t>
            </a:r>
          </a:p>
        </p:txBody>
      </p:sp>
      <p:sp>
        <p:nvSpPr>
          <p:cNvPr id="43011" name="Text Box 3">
            <a:extLst>
              <a:ext uri="{FF2B5EF4-FFF2-40B4-BE49-F238E27FC236}">
                <a16:creationId xmlns:a16="http://schemas.microsoft.com/office/drawing/2014/main" id="{6A8B5ED1-3B67-4F1B-9D38-4BDBF97AD3E4}"/>
              </a:ext>
            </a:extLst>
          </p:cNvPr>
          <p:cNvSpPr txBox="1">
            <a:spLocks noChangeArrowheads="1"/>
          </p:cNvSpPr>
          <p:nvPr/>
        </p:nvSpPr>
        <p:spPr bwMode="auto">
          <a:xfrm>
            <a:off x="1835150" y="69215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solidFill>
                  <a:schemeClr val="hlink"/>
                </a:solidFill>
              </a:rPr>
              <a:t>Hydrophobic, aromatic amino acids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3E3C7367-A959-4C82-B4E5-9AB72450AE0B}"/>
              </a:ext>
            </a:extLst>
          </p:cNvPr>
          <p:cNvSpPr>
            <a:spLocks noGrp="1" noChangeArrowheads="1"/>
          </p:cNvSpPr>
          <p:nvPr>
            <p:ph type="body" sz="half" idx="1"/>
          </p:nvPr>
        </p:nvSpPr>
        <p:spPr>
          <a:xfrm>
            <a:off x="1524000" y="1981200"/>
            <a:ext cx="5867400" cy="4114800"/>
          </a:xfrm>
        </p:spPr>
        <p:txBody>
          <a:bodyPr/>
          <a:lstStyle/>
          <a:p>
            <a:pPr eaLnBrk="1" hangingPunct="1">
              <a:lnSpc>
                <a:spcPct val="120000"/>
              </a:lnSpc>
            </a:pPr>
            <a:r>
              <a:rPr lang="en-US" altLang="zh-CN" dirty="0"/>
              <a:t>Arginine (</a:t>
            </a:r>
            <a:r>
              <a:rPr lang="en-US" altLang="zh-CN" dirty="0" err="1"/>
              <a:t>Arg</a:t>
            </a:r>
            <a:r>
              <a:rPr lang="en-US" altLang="zh-CN" dirty="0"/>
              <a:t>, R) 	</a:t>
            </a:r>
            <a:r>
              <a:rPr lang="zh-CN" altLang="en-US" dirty="0">
                <a:ea typeface="华文中宋" panose="02010600040101010101" pitchFamily="2" charset="-122"/>
              </a:rPr>
              <a:t>精氨酸</a:t>
            </a:r>
          </a:p>
          <a:p>
            <a:pPr eaLnBrk="1" hangingPunct="1">
              <a:lnSpc>
                <a:spcPct val="120000"/>
              </a:lnSpc>
            </a:pPr>
            <a:r>
              <a:rPr lang="en-US" altLang="zh-CN" dirty="0"/>
              <a:t>Lysine (Lys, K) 	</a:t>
            </a:r>
            <a:r>
              <a:rPr lang="zh-CN" altLang="en-US" dirty="0">
                <a:ea typeface="华文中宋" panose="02010600040101010101" pitchFamily="2" charset="-122"/>
              </a:rPr>
              <a:t>赖氨酸</a:t>
            </a:r>
          </a:p>
          <a:p>
            <a:pPr eaLnBrk="1" hangingPunct="1">
              <a:lnSpc>
                <a:spcPct val="120000"/>
              </a:lnSpc>
            </a:pPr>
            <a:r>
              <a:rPr lang="en-US" altLang="zh-CN" dirty="0"/>
              <a:t>Histidine (His, H) 	</a:t>
            </a:r>
            <a:r>
              <a:rPr lang="zh-CN" altLang="en-US" dirty="0">
                <a:ea typeface="华文中宋" panose="02010600040101010101" pitchFamily="2" charset="-122"/>
              </a:rPr>
              <a:t>组氨酸</a:t>
            </a:r>
          </a:p>
          <a:p>
            <a:pPr eaLnBrk="1" hangingPunct="1">
              <a:lnSpc>
                <a:spcPct val="120000"/>
              </a:lnSpc>
            </a:pPr>
            <a:r>
              <a:rPr lang="en-US" altLang="zh-CN" dirty="0">
                <a:ea typeface="华文中宋" panose="02010600040101010101" pitchFamily="2" charset="-122"/>
              </a:rPr>
              <a:t>Aspartate (Asp, D) 	</a:t>
            </a:r>
            <a:r>
              <a:rPr lang="zh-CN" altLang="en-US" dirty="0">
                <a:ea typeface="华文中宋" panose="02010600040101010101" pitchFamily="2" charset="-122"/>
              </a:rPr>
              <a:t>天冬氨酸</a:t>
            </a:r>
          </a:p>
          <a:p>
            <a:pPr eaLnBrk="1" hangingPunct="1">
              <a:lnSpc>
                <a:spcPct val="120000"/>
              </a:lnSpc>
            </a:pPr>
            <a:r>
              <a:rPr lang="en-US" altLang="zh-CN" dirty="0">
                <a:ea typeface="华文中宋" panose="02010600040101010101" pitchFamily="2" charset="-122"/>
              </a:rPr>
              <a:t>Glutamate (Glu, E) 	</a:t>
            </a:r>
            <a:r>
              <a:rPr lang="zh-CN" altLang="en-US" dirty="0">
                <a:ea typeface="华文中宋" panose="02010600040101010101" pitchFamily="2" charset="-122"/>
              </a:rPr>
              <a:t>谷氨酸</a:t>
            </a:r>
          </a:p>
        </p:txBody>
      </p:sp>
      <p:sp>
        <p:nvSpPr>
          <p:cNvPr id="44035" name="Text Box 3">
            <a:extLst>
              <a:ext uri="{FF2B5EF4-FFF2-40B4-BE49-F238E27FC236}">
                <a16:creationId xmlns:a16="http://schemas.microsoft.com/office/drawing/2014/main" id="{7C2F92AE-0E9C-4A2A-A465-5C2D18CE3F9E}"/>
              </a:ext>
            </a:extLst>
          </p:cNvPr>
          <p:cNvSpPr txBox="1">
            <a:spLocks noChangeArrowheads="1"/>
          </p:cNvSpPr>
          <p:nvPr/>
        </p:nvSpPr>
        <p:spPr bwMode="auto">
          <a:xfrm>
            <a:off x="1547813" y="981075"/>
            <a:ext cx="55451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solidFill>
                  <a:schemeClr val="hlink"/>
                </a:solidFill>
              </a:rPr>
              <a:t>Polar, charged amino acid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a:extLst>
              <a:ext uri="{FF2B5EF4-FFF2-40B4-BE49-F238E27FC236}">
                <a16:creationId xmlns:a16="http://schemas.microsoft.com/office/drawing/2014/main" id="{1116C53C-C4B1-48B4-8110-1B92A784D6E9}"/>
              </a:ext>
            </a:extLst>
          </p:cNvPr>
          <p:cNvSpPr txBox="1">
            <a:spLocks noChangeArrowheads="1"/>
          </p:cNvSpPr>
          <p:nvPr/>
        </p:nvSpPr>
        <p:spPr bwMode="auto">
          <a:xfrm>
            <a:off x="838200" y="428625"/>
            <a:ext cx="8077200" cy="449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ts val="0"/>
              </a:spcBef>
              <a:buClrTx/>
              <a:buSzTx/>
              <a:buFontTx/>
              <a:buNone/>
            </a:pPr>
            <a:r>
              <a:rPr lang="en-US" altLang="zh-CN" sz="2800" b="1" dirty="0">
                <a:latin typeface="Times New Roman" panose="02020603050405020304" pitchFamily="18" charset="0"/>
              </a:rPr>
              <a:t>1.1 The 20 </a:t>
            </a:r>
            <a:r>
              <a:rPr lang="en-US" altLang="zh-CN" sz="2800" b="1" dirty="0">
                <a:latin typeface="Symbol" panose="05050102010706020507" pitchFamily="18" charset="2"/>
              </a:rPr>
              <a:t>a</a:t>
            </a:r>
            <a:r>
              <a:rPr lang="en-US" altLang="zh-CN" sz="2800" b="1" dirty="0">
                <a:latin typeface="Times New Roman" panose="02020603050405020304" pitchFamily="18" charset="0"/>
              </a:rPr>
              <a:t>-amino acids share </a:t>
            </a:r>
          </a:p>
          <a:p>
            <a:pPr eaLnBrk="1" hangingPunct="1">
              <a:lnSpc>
                <a:spcPct val="120000"/>
              </a:lnSpc>
              <a:spcBef>
                <a:spcPts val="0"/>
              </a:spcBef>
              <a:buClrTx/>
              <a:buSzTx/>
              <a:buFontTx/>
              <a:buNone/>
            </a:pPr>
            <a:r>
              <a:rPr lang="en-US" altLang="zh-CN" sz="2800" b="1" dirty="0">
                <a:solidFill>
                  <a:srgbClr val="FF0066"/>
                </a:solidFill>
                <a:latin typeface="Times New Roman" panose="02020603050405020304" pitchFamily="18" charset="0"/>
              </a:rPr>
              <a:t>                                common structural features.</a:t>
            </a:r>
          </a:p>
          <a:p>
            <a:pPr eaLnBrk="1" hangingPunct="1">
              <a:spcBef>
                <a:spcPct val="50000"/>
              </a:spcBef>
              <a:buClrTx/>
              <a:buSzTx/>
              <a:buFontTx/>
              <a:buNone/>
            </a:pPr>
            <a:endParaRPr lang="en-US" altLang="zh-CN" sz="2800" b="1" dirty="0">
              <a:solidFill>
                <a:srgbClr val="FF0066"/>
              </a:solidFill>
              <a:latin typeface="Times New Roman" panose="02020603050405020304" pitchFamily="18" charset="0"/>
            </a:endParaRPr>
          </a:p>
          <a:p>
            <a:pPr lvl="1" eaLnBrk="1" hangingPunct="1">
              <a:lnSpc>
                <a:spcPct val="150000"/>
              </a:lnSpc>
              <a:spcBef>
                <a:spcPct val="50000"/>
              </a:spcBef>
              <a:buClrTx/>
              <a:buSzTx/>
              <a:buFontTx/>
              <a:buChar char="•"/>
            </a:pPr>
            <a:r>
              <a:rPr lang="en-US" altLang="zh-CN" b="1" dirty="0">
                <a:latin typeface="Times New Roman" panose="02020603050405020304" pitchFamily="18" charset="0"/>
              </a:rPr>
              <a:t>Each has a </a:t>
            </a:r>
            <a:r>
              <a:rPr lang="en-US" altLang="zh-CN" b="1" dirty="0">
                <a:solidFill>
                  <a:srgbClr val="FF0066"/>
                </a:solidFill>
                <a:latin typeface="Times New Roman" panose="02020603050405020304" pitchFamily="18" charset="0"/>
              </a:rPr>
              <a:t>carboxyl </a:t>
            </a:r>
            <a:r>
              <a:rPr lang="en-US" altLang="zh-CN" b="1" dirty="0">
                <a:latin typeface="Times New Roman" panose="02020603050405020304" pitchFamily="18" charset="0"/>
              </a:rPr>
              <a:t>group and an </a:t>
            </a:r>
            <a:r>
              <a:rPr lang="en-US" altLang="zh-CN" b="1" dirty="0">
                <a:solidFill>
                  <a:srgbClr val="FF0066"/>
                </a:solidFill>
                <a:latin typeface="Times New Roman" panose="02020603050405020304" pitchFamily="18" charset="0"/>
              </a:rPr>
              <a:t>amino</a:t>
            </a:r>
            <a:r>
              <a:rPr lang="en-US" altLang="zh-CN" b="1" dirty="0">
                <a:latin typeface="Times New Roman" panose="02020603050405020304" pitchFamily="18" charset="0"/>
              </a:rPr>
              <a:t> group (but one has an </a:t>
            </a:r>
            <a:r>
              <a:rPr lang="en-US" altLang="zh-CN" b="1" dirty="0" err="1">
                <a:solidFill>
                  <a:srgbClr val="FF0066"/>
                </a:solidFill>
                <a:latin typeface="Times New Roman" panose="02020603050405020304" pitchFamily="18" charset="0"/>
              </a:rPr>
              <a:t>imino</a:t>
            </a:r>
            <a:r>
              <a:rPr lang="en-US" altLang="zh-CN" b="1" dirty="0">
                <a:solidFill>
                  <a:srgbClr val="FF0066"/>
                </a:solidFill>
                <a:latin typeface="Times New Roman" panose="02020603050405020304" pitchFamily="18" charset="0"/>
              </a:rPr>
              <a:t> group in proline</a:t>
            </a:r>
            <a:r>
              <a:rPr lang="en-US" altLang="zh-CN" b="1" dirty="0">
                <a:latin typeface="Times New Roman" panose="02020603050405020304" pitchFamily="18" charset="0"/>
              </a:rPr>
              <a:t>) bonded to the same carbon atom, designated as the </a:t>
            </a:r>
            <a:r>
              <a:rPr lang="en-US" altLang="zh-CN" b="1" dirty="0">
                <a:latin typeface="Symbol" panose="05050102010706020507" pitchFamily="18" charset="2"/>
              </a:rPr>
              <a:t>a</a:t>
            </a:r>
            <a:r>
              <a:rPr lang="en-US" altLang="zh-CN" b="1" dirty="0">
                <a:latin typeface="Times New Roman" panose="02020603050405020304" pitchFamily="18" charset="0"/>
              </a:rPr>
              <a:t>-carbon.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a:extLst>
              <a:ext uri="{FF2B5EF4-FFF2-40B4-BE49-F238E27FC236}">
                <a16:creationId xmlns:a16="http://schemas.microsoft.com/office/drawing/2014/main" id="{EA938459-195F-4298-A43F-F28397BAF63D}"/>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a:xfrm>
            <a:off x="1981200" y="2057400"/>
            <a:ext cx="5581650" cy="4629150"/>
          </a:xfrm>
          <a:noFill/>
        </p:spPr>
      </p:pic>
      <p:sp>
        <p:nvSpPr>
          <p:cNvPr id="47107" name="Rectangle 3">
            <a:extLst>
              <a:ext uri="{FF2B5EF4-FFF2-40B4-BE49-F238E27FC236}">
                <a16:creationId xmlns:a16="http://schemas.microsoft.com/office/drawing/2014/main" id="{B06C34B5-8514-4719-9821-92AF81FCC93F}"/>
              </a:ext>
            </a:extLst>
          </p:cNvPr>
          <p:cNvSpPr>
            <a:spLocks noChangeArrowheads="1"/>
          </p:cNvSpPr>
          <p:nvPr/>
        </p:nvSpPr>
        <p:spPr bwMode="auto">
          <a:xfrm>
            <a:off x="609600" y="533400"/>
            <a:ext cx="7543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lvl="1" eaLnBrk="1" hangingPunct="1">
              <a:spcBef>
                <a:spcPct val="50000"/>
              </a:spcBef>
              <a:buClrTx/>
              <a:buSzTx/>
              <a:buFontTx/>
              <a:buChar char="•"/>
            </a:pPr>
            <a:r>
              <a:rPr lang="en-US" altLang="zh-CN" b="1" dirty="0">
                <a:latin typeface="Times New Roman" panose="02020603050405020304" pitchFamily="18" charset="0"/>
              </a:rPr>
              <a:t>Each has a different </a:t>
            </a:r>
            <a:r>
              <a:rPr lang="en-US" altLang="zh-CN" b="1" dirty="0">
                <a:solidFill>
                  <a:srgbClr val="FF0066"/>
                </a:solidFill>
                <a:latin typeface="Times New Roman" panose="02020603050405020304" pitchFamily="18" charset="0"/>
              </a:rPr>
              <a:t>side chain</a:t>
            </a:r>
            <a:r>
              <a:rPr lang="en-US" altLang="zh-CN" b="1" dirty="0">
                <a:latin typeface="Times New Roman" panose="02020603050405020304" pitchFamily="18" charset="0"/>
              </a:rPr>
              <a:t> (or R group, R=“Remainder of the molecule”).</a:t>
            </a:r>
          </a:p>
        </p:txBody>
      </p:sp>
      <p:sp>
        <p:nvSpPr>
          <p:cNvPr id="2" name="文本框 1">
            <a:extLst>
              <a:ext uri="{FF2B5EF4-FFF2-40B4-BE49-F238E27FC236}">
                <a16:creationId xmlns:a16="http://schemas.microsoft.com/office/drawing/2014/main" id="{615E5D74-22DE-480E-B08F-B3CE09FF3BED}"/>
              </a:ext>
            </a:extLst>
          </p:cNvPr>
          <p:cNvSpPr txBox="1"/>
          <p:nvPr/>
        </p:nvSpPr>
        <p:spPr>
          <a:xfrm>
            <a:off x="4415589" y="2348880"/>
            <a:ext cx="648072" cy="523220"/>
          </a:xfrm>
          <a:prstGeom prst="rect">
            <a:avLst/>
          </a:prstGeom>
          <a:noFill/>
        </p:spPr>
        <p:txBody>
          <a:bodyPr wrap="square" rtlCol="0">
            <a:spAutoFit/>
          </a:bodyPr>
          <a:lstStyle/>
          <a:p>
            <a:r>
              <a:rPr lang="en-US" altLang="zh-CN" sz="2800" dirty="0"/>
              <a:t>1</a:t>
            </a:r>
            <a:endParaRPr lang="zh-CN" altLang="en-US" sz="2800" dirty="0"/>
          </a:p>
        </p:txBody>
      </p:sp>
      <p:sp>
        <p:nvSpPr>
          <p:cNvPr id="5" name="文本框 4">
            <a:extLst>
              <a:ext uri="{FF2B5EF4-FFF2-40B4-BE49-F238E27FC236}">
                <a16:creationId xmlns:a16="http://schemas.microsoft.com/office/drawing/2014/main" id="{2A650089-8119-42CE-B62C-C1C60BE26F58}"/>
              </a:ext>
            </a:extLst>
          </p:cNvPr>
          <p:cNvSpPr txBox="1"/>
          <p:nvPr/>
        </p:nvSpPr>
        <p:spPr>
          <a:xfrm>
            <a:off x="4447989" y="3848755"/>
            <a:ext cx="648072" cy="523220"/>
          </a:xfrm>
          <a:prstGeom prst="rect">
            <a:avLst/>
          </a:prstGeom>
          <a:noFill/>
        </p:spPr>
        <p:txBody>
          <a:bodyPr wrap="square" rtlCol="0">
            <a:spAutoFit/>
          </a:bodyPr>
          <a:lstStyle/>
          <a:p>
            <a:r>
              <a:rPr lang="en-US" altLang="zh-CN" sz="2800" dirty="0"/>
              <a:t>2</a:t>
            </a:r>
            <a:endParaRPr lang="zh-CN" altLang="en-US" sz="2800" dirty="0"/>
          </a:p>
        </p:txBody>
      </p:sp>
      <p:sp>
        <p:nvSpPr>
          <p:cNvPr id="6" name="文本框 5">
            <a:extLst>
              <a:ext uri="{FF2B5EF4-FFF2-40B4-BE49-F238E27FC236}">
                <a16:creationId xmlns:a16="http://schemas.microsoft.com/office/drawing/2014/main" id="{E317F1DD-E547-4360-96A1-E10FB76477B5}"/>
              </a:ext>
            </a:extLst>
          </p:cNvPr>
          <p:cNvSpPr txBox="1"/>
          <p:nvPr/>
        </p:nvSpPr>
        <p:spPr>
          <a:xfrm>
            <a:off x="5681383" y="3848755"/>
            <a:ext cx="648072" cy="523220"/>
          </a:xfrm>
          <a:prstGeom prst="rect">
            <a:avLst/>
          </a:prstGeom>
          <a:noFill/>
        </p:spPr>
        <p:txBody>
          <a:bodyPr wrap="square" rtlCol="0">
            <a:spAutoFit/>
          </a:bodyPr>
          <a:lstStyle/>
          <a:p>
            <a:r>
              <a:rPr lang="el-GR" altLang="zh-CN" sz="2800" dirty="0"/>
              <a:t>α</a:t>
            </a:r>
            <a:endParaRPr lang="zh-CN" altLang="en-US" sz="2800" dirty="0"/>
          </a:p>
        </p:txBody>
      </p:sp>
      <p:sp>
        <p:nvSpPr>
          <p:cNvPr id="7" name="文本框 6">
            <a:extLst>
              <a:ext uri="{FF2B5EF4-FFF2-40B4-BE49-F238E27FC236}">
                <a16:creationId xmlns:a16="http://schemas.microsoft.com/office/drawing/2014/main" id="{F8D795AC-9476-461B-B81C-AC9BB441E68E}"/>
              </a:ext>
            </a:extLst>
          </p:cNvPr>
          <p:cNvSpPr txBox="1"/>
          <p:nvPr/>
        </p:nvSpPr>
        <p:spPr>
          <a:xfrm>
            <a:off x="5681383" y="5901720"/>
            <a:ext cx="648072" cy="523220"/>
          </a:xfrm>
          <a:prstGeom prst="rect">
            <a:avLst/>
          </a:prstGeom>
          <a:noFill/>
        </p:spPr>
        <p:txBody>
          <a:bodyPr wrap="square" rtlCol="0">
            <a:spAutoFit/>
          </a:bodyPr>
          <a:lstStyle/>
          <a:p>
            <a:r>
              <a:rPr lang="el-GR" altLang="zh-CN" sz="2800" dirty="0"/>
              <a:t>β</a:t>
            </a:r>
            <a:endParaRPr lang="zh-CN" altLang="en-US"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a:extLst>
              <a:ext uri="{FF2B5EF4-FFF2-40B4-BE49-F238E27FC236}">
                <a16:creationId xmlns:a16="http://schemas.microsoft.com/office/drawing/2014/main" id="{C34E6458-5727-4994-8F3B-66CB7A8F6379}"/>
              </a:ext>
            </a:extLst>
          </p:cNvPr>
          <p:cNvSpPr txBox="1">
            <a:spLocks noChangeArrowheads="1"/>
          </p:cNvSpPr>
          <p:nvPr/>
        </p:nvSpPr>
        <p:spPr bwMode="auto">
          <a:xfrm>
            <a:off x="838200" y="685800"/>
            <a:ext cx="830580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40000"/>
              </a:lnSpc>
              <a:spcBef>
                <a:spcPct val="50000"/>
              </a:spcBef>
              <a:buClrTx/>
              <a:buSzTx/>
              <a:buFontTx/>
              <a:buNone/>
            </a:pPr>
            <a:r>
              <a:rPr lang="en-US" altLang="zh-CN" sz="2400" b="1" dirty="0">
                <a:latin typeface="Times New Roman" panose="02020603050405020304" pitchFamily="18" charset="0"/>
              </a:rPr>
              <a:t>The </a:t>
            </a:r>
            <a:r>
              <a:rPr lang="en-US" altLang="zh-CN" sz="2400" b="1" dirty="0">
                <a:solidFill>
                  <a:srgbClr val="FF0066"/>
                </a:solidFill>
                <a:latin typeface="Symbol" panose="05050102010706020507" pitchFamily="18" charset="2"/>
              </a:rPr>
              <a:t>a</a:t>
            </a:r>
            <a:r>
              <a:rPr lang="en-US" altLang="zh-CN" sz="2400" b="1" dirty="0">
                <a:solidFill>
                  <a:srgbClr val="FF0066"/>
                </a:solidFill>
                <a:latin typeface="Times New Roman" panose="02020603050405020304" pitchFamily="18" charset="0"/>
              </a:rPr>
              <a:t>-carbons</a:t>
            </a:r>
            <a:r>
              <a:rPr lang="en-US" altLang="zh-CN" sz="2400" b="1" dirty="0">
                <a:latin typeface="Times New Roman" panose="02020603050405020304" pitchFamily="18" charset="0"/>
              </a:rPr>
              <a:t> for 19 of them are asymmetric (or </a:t>
            </a:r>
            <a:r>
              <a:rPr lang="en-US" altLang="zh-CN" sz="2400" b="1" dirty="0">
                <a:solidFill>
                  <a:srgbClr val="FF0066"/>
                </a:solidFill>
                <a:latin typeface="Times New Roman" panose="02020603050405020304" pitchFamily="18" charset="0"/>
              </a:rPr>
              <a:t>chiral</a:t>
            </a:r>
            <a:r>
              <a:rPr lang="en-US" altLang="zh-CN" sz="2400" b="1" dirty="0">
                <a:latin typeface="Times New Roman" panose="02020603050405020304" pitchFamily="18" charset="0"/>
              </a:rPr>
              <a:t>), thus being able to have two stereoisomers. </a:t>
            </a:r>
            <a:r>
              <a:rPr lang="en-US" altLang="zh-CN" sz="2400" b="1" dirty="0">
                <a:solidFill>
                  <a:srgbClr val="FF0066"/>
                </a:solidFill>
                <a:latin typeface="Times New Roman" panose="02020603050405020304" pitchFamily="18" charset="0"/>
              </a:rPr>
              <a:t>Glycine</a:t>
            </a:r>
            <a:r>
              <a:rPr lang="en-US" altLang="zh-CN" sz="2400" b="1" dirty="0">
                <a:latin typeface="Times New Roman" panose="02020603050405020304" pitchFamily="18" charset="0"/>
              </a:rPr>
              <a:t> has no chirality.</a:t>
            </a:r>
            <a:endParaRPr lang="en-US" altLang="zh-CN" sz="2400" dirty="0">
              <a:latin typeface="Times New Roman" panose="02020603050405020304" pitchFamily="18" charset="0"/>
            </a:endParaRPr>
          </a:p>
        </p:txBody>
      </p:sp>
      <p:pic>
        <p:nvPicPr>
          <p:cNvPr id="49155" name="Picture 3">
            <a:extLst>
              <a:ext uri="{FF2B5EF4-FFF2-40B4-BE49-F238E27FC236}">
                <a16:creationId xmlns:a16="http://schemas.microsoft.com/office/drawing/2014/main" id="{DDD1C590-878C-48E5-A8BC-6020A8DA4A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76475"/>
            <a:ext cx="8610600" cy="397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962610CF-EC82-424C-836F-93DAE8A156B9}"/>
              </a:ext>
            </a:extLst>
          </p:cNvPr>
          <p:cNvSpPr txBox="1"/>
          <p:nvPr/>
        </p:nvSpPr>
        <p:spPr>
          <a:xfrm>
            <a:off x="2555776" y="3121804"/>
            <a:ext cx="648072" cy="523220"/>
          </a:xfrm>
          <a:prstGeom prst="rect">
            <a:avLst/>
          </a:prstGeom>
          <a:noFill/>
        </p:spPr>
        <p:txBody>
          <a:bodyPr wrap="square" rtlCol="0">
            <a:spAutoFit/>
          </a:bodyPr>
          <a:lstStyle/>
          <a:p>
            <a:r>
              <a:rPr lang="el-GR" altLang="zh-CN" sz="2800" dirty="0"/>
              <a:t>α</a:t>
            </a:r>
            <a:endParaRPr lang="zh-CN" altLang="en-US" sz="2800" dirty="0"/>
          </a:p>
        </p:txBody>
      </p:sp>
      <p:sp>
        <p:nvSpPr>
          <p:cNvPr id="5" name="文本框 4">
            <a:extLst>
              <a:ext uri="{FF2B5EF4-FFF2-40B4-BE49-F238E27FC236}">
                <a16:creationId xmlns:a16="http://schemas.microsoft.com/office/drawing/2014/main" id="{D84D30C2-8108-469D-AB36-8599E7427B00}"/>
              </a:ext>
            </a:extLst>
          </p:cNvPr>
          <p:cNvSpPr txBox="1"/>
          <p:nvPr/>
        </p:nvSpPr>
        <p:spPr>
          <a:xfrm>
            <a:off x="7020272" y="3121804"/>
            <a:ext cx="648072" cy="523220"/>
          </a:xfrm>
          <a:prstGeom prst="rect">
            <a:avLst/>
          </a:prstGeom>
          <a:noFill/>
        </p:spPr>
        <p:txBody>
          <a:bodyPr wrap="square" rtlCol="0">
            <a:spAutoFit/>
          </a:bodyPr>
          <a:lstStyle/>
          <a:p>
            <a:r>
              <a:rPr lang="el-GR" altLang="zh-CN" sz="2800" dirty="0"/>
              <a:t>α</a:t>
            </a:r>
            <a:endParaRPr lang="zh-CN" altLang="en-US" sz="2800" dirty="0"/>
          </a:p>
        </p:txBody>
      </p:sp>
      <p:cxnSp>
        <p:nvCxnSpPr>
          <p:cNvPr id="3" name="直接连接符 2">
            <a:extLst>
              <a:ext uri="{FF2B5EF4-FFF2-40B4-BE49-F238E27FC236}">
                <a16:creationId xmlns:a16="http://schemas.microsoft.com/office/drawing/2014/main" id="{148E7A03-84A5-45A5-A27E-8FB6E80DC905}"/>
              </a:ext>
            </a:extLst>
          </p:cNvPr>
          <p:cNvCxnSpPr/>
          <p:nvPr/>
        </p:nvCxnSpPr>
        <p:spPr>
          <a:xfrm>
            <a:off x="4572000" y="2132856"/>
            <a:ext cx="0" cy="2808312"/>
          </a:xfrm>
          <a:prstGeom prst="line">
            <a:avLst/>
          </a:prstGeom>
          <a:ln w="571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a:extLst>
              <a:ext uri="{FF2B5EF4-FFF2-40B4-BE49-F238E27FC236}">
                <a16:creationId xmlns:a16="http://schemas.microsoft.com/office/drawing/2014/main" id="{48EB2821-6AA2-42CD-81FB-A236DB9B2A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066925"/>
            <a:ext cx="9144000" cy="402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Text Box 3">
            <a:extLst>
              <a:ext uri="{FF2B5EF4-FFF2-40B4-BE49-F238E27FC236}">
                <a16:creationId xmlns:a16="http://schemas.microsoft.com/office/drawing/2014/main" id="{43D02168-9EB4-469C-BF44-C5094101B266}"/>
              </a:ext>
            </a:extLst>
          </p:cNvPr>
          <p:cNvSpPr txBox="1">
            <a:spLocks noChangeArrowheads="1"/>
          </p:cNvSpPr>
          <p:nvPr/>
        </p:nvSpPr>
        <p:spPr bwMode="auto">
          <a:xfrm>
            <a:off x="250825" y="620713"/>
            <a:ext cx="8532813" cy="1076325"/>
          </a:xfrm>
          <a:prstGeom prst="rect">
            <a:avLst/>
          </a:prstGeom>
          <a:solidFill>
            <a:schemeClr val="accent1"/>
          </a:solidFill>
          <a:ln w="9525">
            <a:solidFill>
              <a:schemeClr val="bg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en-US" altLang="zh-CN" dirty="0">
                <a:latin typeface="Arial" panose="020B0604020202020204" pitchFamily="34" charset="0"/>
              </a:rPr>
              <a:t>Enantiomers (The C</a:t>
            </a:r>
            <a:r>
              <a:rPr kumimoji="0" lang="en-US" altLang="zh-CN" dirty="0">
                <a:latin typeface="Arial" panose="020B0604020202020204" pitchFamily="34" charset="0"/>
                <a:sym typeface="Symbol" panose="05050102010706020507" pitchFamily="18" charset="2"/>
              </a:rPr>
              <a:t></a:t>
            </a:r>
            <a:r>
              <a:rPr kumimoji="0" lang="en-US" altLang="zh-CN" dirty="0">
                <a:latin typeface="Arial" panose="020B0604020202020204" pitchFamily="34" charset="0"/>
              </a:rPr>
              <a:t> atom is an asymmetric center or chiral center)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E25D97E0-6D29-47DA-9C4A-70F70D42025D}"/>
              </a:ext>
            </a:extLst>
          </p:cNvPr>
          <p:cNvSpPr>
            <a:spLocks noGrp="1" noChangeArrowheads="1"/>
          </p:cNvSpPr>
          <p:nvPr>
            <p:ph type="title"/>
          </p:nvPr>
        </p:nvSpPr>
        <p:spPr>
          <a:xfrm>
            <a:off x="914400" y="5181600"/>
            <a:ext cx="7543800" cy="1143000"/>
          </a:xfrm>
        </p:spPr>
        <p:txBody>
          <a:bodyPr/>
          <a:lstStyle/>
          <a:p>
            <a:pPr eaLnBrk="1" hangingPunct="1"/>
            <a:r>
              <a:rPr lang="zh-CN" altLang="en-US" sz="3200" b="1">
                <a:solidFill>
                  <a:srgbClr val="0000FF"/>
                </a:solidFill>
              </a:rPr>
              <a:t>某些光学活性介质能使平面偏振光的偏  </a:t>
            </a:r>
            <a:br>
              <a:rPr lang="zh-CN" altLang="en-US" sz="3200" b="1">
                <a:solidFill>
                  <a:srgbClr val="0000FF"/>
                </a:solidFill>
              </a:rPr>
            </a:br>
            <a:r>
              <a:rPr lang="zh-CN" altLang="en-US" sz="3200" b="1">
                <a:solidFill>
                  <a:srgbClr val="0000FF"/>
                </a:solidFill>
              </a:rPr>
              <a:t>            振面发生旋转</a:t>
            </a:r>
            <a:endParaRPr lang="zh-CN" altLang="en-US" sz="4800"/>
          </a:p>
        </p:txBody>
      </p:sp>
      <p:graphicFrame>
        <p:nvGraphicFramePr>
          <p:cNvPr id="52227" name="Object 3">
            <a:extLst>
              <a:ext uri="{FF2B5EF4-FFF2-40B4-BE49-F238E27FC236}">
                <a16:creationId xmlns:a16="http://schemas.microsoft.com/office/drawing/2014/main" id="{532DA34C-EA13-47AE-A529-259DBDF9225E}"/>
              </a:ext>
            </a:extLst>
          </p:cNvPr>
          <p:cNvGraphicFramePr>
            <a:graphicFrameLocks noGrp="1" noChangeAspect="1"/>
          </p:cNvGraphicFramePr>
          <p:nvPr>
            <p:ph idx="1"/>
          </p:nvPr>
        </p:nvGraphicFramePr>
        <p:xfrm>
          <a:off x="1828800" y="1066800"/>
          <a:ext cx="5265738" cy="4114800"/>
        </p:xfrm>
        <a:graphic>
          <a:graphicData uri="http://schemas.openxmlformats.org/presentationml/2006/ole">
            <mc:AlternateContent xmlns:mc="http://schemas.openxmlformats.org/markup-compatibility/2006">
              <mc:Choice xmlns:v="urn:schemas-microsoft-com:vml" Requires="v">
                <p:oleObj name="文档" r:id="rId2" imgW="4328160" imgH="3383280" progId="Word.Document.8">
                  <p:embed/>
                </p:oleObj>
              </mc:Choice>
              <mc:Fallback>
                <p:oleObj name="文档" r:id="rId2" imgW="4328160" imgH="3383280" progId="Word.Document.8">
                  <p:embed/>
                  <p:pic>
                    <p:nvPicPr>
                      <p:cNvPr id="52227" name="Object 3">
                        <a:extLst>
                          <a:ext uri="{FF2B5EF4-FFF2-40B4-BE49-F238E27FC236}">
                            <a16:creationId xmlns:a16="http://schemas.microsoft.com/office/drawing/2014/main" id="{532DA34C-EA13-47AE-A529-259DBDF922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066800"/>
                        <a:ext cx="5265738"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28" name="Text Box 4">
            <a:extLst>
              <a:ext uri="{FF2B5EF4-FFF2-40B4-BE49-F238E27FC236}">
                <a16:creationId xmlns:a16="http://schemas.microsoft.com/office/drawing/2014/main" id="{3158DA89-2DF4-40DF-BF89-857D090600C1}"/>
              </a:ext>
            </a:extLst>
          </p:cNvPr>
          <p:cNvSpPr txBox="1">
            <a:spLocks noChangeArrowheads="1"/>
          </p:cNvSpPr>
          <p:nvPr/>
        </p:nvSpPr>
        <p:spPr bwMode="auto">
          <a:xfrm>
            <a:off x="4419600" y="4495800"/>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b="1">
                <a:solidFill>
                  <a:srgbClr val="0000FF"/>
                </a:solidFill>
                <a:latin typeface="Times New Roman" panose="02020603050405020304" pitchFamily="18" charset="0"/>
              </a:rPr>
              <a:t>光学活性介质</a:t>
            </a:r>
            <a:endParaRPr lang="zh-CN" altLang="en-US" sz="2400">
              <a:latin typeface="Times New Roman" panose="02020603050405020304" pitchFamily="18" charset="0"/>
            </a:endParaRPr>
          </a:p>
        </p:txBody>
      </p:sp>
      <p:sp>
        <p:nvSpPr>
          <p:cNvPr id="52229" name="Rectangle 5">
            <a:extLst>
              <a:ext uri="{FF2B5EF4-FFF2-40B4-BE49-F238E27FC236}">
                <a16:creationId xmlns:a16="http://schemas.microsoft.com/office/drawing/2014/main" id="{B52BF907-08E6-41E5-BC0F-AFC897EB531F}"/>
              </a:ext>
            </a:extLst>
          </p:cNvPr>
          <p:cNvSpPr>
            <a:spLocks noChangeArrowheads="1"/>
          </p:cNvSpPr>
          <p:nvPr/>
        </p:nvSpPr>
        <p:spPr bwMode="auto">
          <a:xfrm>
            <a:off x="2819400" y="1143000"/>
            <a:ext cx="12192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latin typeface="Tahoma" panose="020B0604030504040204" pitchFamily="34" charset="0"/>
            </a:endParaRPr>
          </a:p>
        </p:txBody>
      </p:sp>
      <p:sp>
        <p:nvSpPr>
          <p:cNvPr id="52230" name="Text Box 6">
            <a:extLst>
              <a:ext uri="{FF2B5EF4-FFF2-40B4-BE49-F238E27FC236}">
                <a16:creationId xmlns:a16="http://schemas.microsoft.com/office/drawing/2014/main" id="{55F38426-92D9-427C-9ABD-E71F9B363AC6}"/>
              </a:ext>
            </a:extLst>
          </p:cNvPr>
          <p:cNvSpPr txBox="1">
            <a:spLocks noChangeArrowheads="1"/>
          </p:cNvSpPr>
          <p:nvPr/>
        </p:nvSpPr>
        <p:spPr bwMode="auto">
          <a:xfrm>
            <a:off x="468313" y="549275"/>
            <a:ext cx="51054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Char char="•"/>
            </a:pPr>
            <a:r>
              <a:rPr lang="zh-CN" altLang="en-US" sz="2800" b="1">
                <a:solidFill>
                  <a:srgbClr val="FF3300"/>
                </a:solidFill>
                <a:latin typeface="宋体" panose="02010600030101010101" pitchFamily="2" charset="-122"/>
              </a:rPr>
              <a:t>旋光性（</a:t>
            </a:r>
            <a:r>
              <a:rPr lang="en-US" altLang="zh-CN" sz="2800" b="1">
                <a:solidFill>
                  <a:srgbClr val="FF3300"/>
                </a:solidFill>
                <a:latin typeface="Times New Roman" panose="02020603050405020304" pitchFamily="18" charset="0"/>
              </a:rPr>
              <a:t>optical rotation</a:t>
            </a:r>
            <a:r>
              <a:rPr lang="zh-CN" altLang="en-US" sz="2800" b="1">
                <a:solidFill>
                  <a:srgbClr val="FF3300"/>
                </a:solidFill>
                <a:latin typeface="宋体" panose="02010600030101010101" pitchFamily="2" charset="-122"/>
              </a:rPr>
              <a:t>）</a:t>
            </a:r>
          </a:p>
          <a:p>
            <a:pPr eaLnBrk="1" hangingPunct="1">
              <a:spcBef>
                <a:spcPct val="0"/>
              </a:spcBef>
              <a:buClrTx/>
              <a:buSzTx/>
              <a:buFontTx/>
              <a:buChar char="•"/>
            </a:pPr>
            <a:r>
              <a:rPr lang="zh-CN" altLang="en-US" sz="2800" b="1">
                <a:solidFill>
                  <a:srgbClr val="FF3300"/>
                </a:solidFill>
                <a:latin typeface="宋体" panose="02010600030101010101" pitchFamily="2" charset="-122"/>
              </a:rPr>
              <a:t>光学活性</a:t>
            </a:r>
            <a:r>
              <a:rPr lang="zh-CN" altLang="en-US" sz="2800" b="1">
                <a:solidFill>
                  <a:srgbClr val="FF3300"/>
                </a:solidFill>
                <a:latin typeface="Times New Roman" panose="02020603050405020304" pitchFamily="18" charset="0"/>
              </a:rPr>
              <a:t>（</a:t>
            </a:r>
            <a:r>
              <a:rPr lang="en-US" altLang="zh-CN" sz="2800" b="1">
                <a:solidFill>
                  <a:srgbClr val="FF3300"/>
                </a:solidFill>
                <a:latin typeface="Times New Roman" panose="02020603050405020304" pitchFamily="18" charset="0"/>
              </a:rPr>
              <a:t>optical activity</a:t>
            </a:r>
            <a:r>
              <a:rPr lang="zh-CN" altLang="en-US" sz="2800" b="1">
                <a:solidFill>
                  <a:srgbClr val="FF3300"/>
                </a:solidFill>
                <a:latin typeface="Times New Roman" panose="02020603050405020304" pitchFamily="18" charset="0"/>
              </a:rPr>
              <a:t>）</a:t>
            </a:r>
            <a:endParaRPr lang="zh-CN" altLang="en-US" sz="2800" b="1">
              <a:solidFill>
                <a:srgbClr val="FF3300"/>
              </a:solidFill>
              <a:latin typeface="宋体" panose="02010600030101010101" pitchFamily="2" charset="-122"/>
            </a:endParaRPr>
          </a:p>
          <a:p>
            <a:pPr eaLnBrk="1" hangingPunct="1">
              <a:spcBef>
                <a:spcPct val="0"/>
              </a:spcBef>
              <a:buClrTx/>
              <a:buSzTx/>
              <a:buFontTx/>
              <a:buChar char="•"/>
            </a:pPr>
            <a:r>
              <a:rPr lang="zh-CN" altLang="en-US" sz="2800" b="1">
                <a:solidFill>
                  <a:srgbClr val="FF3300"/>
                </a:solidFill>
                <a:latin typeface="宋体" panose="02010600030101010101" pitchFamily="2" charset="-122"/>
              </a:rPr>
              <a:t> </a:t>
            </a:r>
            <a:r>
              <a:rPr lang="zh-CN" altLang="en-US" sz="2800" b="1">
                <a:solidFill>
                  <a:srgbClr val="FF3300"/>
                </a:solidFill>
                <a:latin typeface="Times New Roman" panose="02020603050405020304" pitchFamily="18" charset="0"/>
              </a:rPr>
              <a:t>“</a:t>
            </a:r>
            <a:r>
              <a:rPr lang="zh-CN" altLang="en-US" sz="2800" b="1">
                <a:solidFill>
                  <a:srgbClr val="FF3300"/>
                </a:solidFill>
                <a:latin typeface="宋体" panose="02010600030101010101" pitchFamily="2" charset="-122"/>
              </a:rPr>
              <a:t>手性</a:t>
            </a:r>
            <a:r>
              <a:rPr lang="zh-CN" altLang="en-US" sz="2800" b="1">
                <a:solidFill>
                  <a:srgbClr val="FF3300"/>
                </a:solidFill>
                <a:latin typeface="Times New Roman" panose="02020603050405020304" pitchFamily="18" charset="0"/>
              </a:rPr>
              <a:t>”</a:t>
            </a:r>
            <a:r>
              <a:rPr lang="zh-CN" altLang="en-US" sz="2800" b="1">
                <a:solidFill>
                  <a:srgbClr val="FF3300"/>
                </a:solidFill>
                <a:latin typeface="宋体" panose="02010600030101010101" pitchFamily="2" charset="-122"/>
              </a:rPr>
              <a:t> </a:t>
            </a:r>
            <a:r>
              <a:rPr lang="en-US" altLang="zh-CN" sz="2800" b="1">
                <a:solidFill>
                  <a:srgbClr val="FF3300"/>
                </a:solidFill>
                <a:latin typeface="宋体" panose="02010600030101010101" pitchFamily="2" charset="-122"/>
              </a:rPr>
              <a:t>(</a:t>
            </a:r>
            <a:r>
              <a:rPr lang="en-US" altLang="zh-CN" sz="2800" b="1">
                <a:solidFill>
                  <a:srgbClr val="FF3300"/>
                </a:solidFill>
                <a:latin typeface="Times New Roman" panose="02020603050405020304" pitchFamily="18" charset="0"/>
              </a:rPr>
              <a:t>chiral</a:t>
            </a:r>
            <a:r>
              <a:rPr lang="en-US" altLang="zh-CN" sz="2800" b="1">
                <a:solidFill>
                  <a:srgbClr val="FF3300"/>
                </a:solidFill>
                <a:latin typeface="宋体" panose="02010600030101010101" pitchFamily="2" charset="-122"/>
              </a:rPr>
              <a:t>)</a:t>
            </a:r>
            <a:endParaRPr lang="en-US" altLang="zh-CN" b="1">
              <a:solidFill>
                <a:srgbClr val="0000FF"/>
              </a:solidFill>
              <a:latin typeface="宋体" panose="02010600030101010101" pitchFamily="2" charset="-122"/>
            </a:endParaRPr>
          </a:p>
        </p:txBody>
      </p:sp>
      <p:sp>
        <p:nvSpPr>
          <p:cNvPr id="52231" name="Line 7">
            <a:extLst>
              <a:ext uri="{FF2B5EF4-FFF2-40B4-BE49-F238E27FC236}">
                <a16:creationId xmlns:a16="http://schemas.microsoft.com/office/drawing/2014/main" id="{BC2D0B91-125B-44D5-B83B-212BE748561A}"/>
              </a:ext>
            </a:extLst>
          </p:cNvPr>
          <p:cNvSpPr>
            <a:spLocks noChangeShapeType="1"/>
          </p:cNvSpPr>
          <p:nvPr/>
        </p:nvSpPr>
        <p:spPr bwMode="auto">
          <a:xfrm flipV="1">
            <a:off x="6096000" y="1447800"/>
            <a:ext cx="914400"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2" name="Text Box 8">
            <a:extLst>
              <a:ext uri="{FF2B5EF4-FFF2-40B4-BE49-F238E27FC236}">
                <a16:creationId xmlns:a16="http://schemas.microsoft.com/office/drawing/2014/main" id="{40767626-3B08-4447-B823-B9DCDD2A01AE}"/>
              </a:ext>
            </a:extLst>
          </p:cNvPr>
          <p:cNvSpPr txBox="1">
            <a:spLocks noChangeArrowheads="1"/>
          </p:cNvSpPr>
          <p:nvPr/>
        </p:nvSpPr>
        <p:spPr bwMode="auto">
          <a:xfrm>
            <a:off x="6096000" y="838200"/>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b="1">
                <a:solidFill>
                  <a:srgbClr val="003399"/>
                </a:solidFill>
                <a:latin typeface="Times New Roman" panose="02020603050405020304" pitchFamily="18" charset="0"/>
              </a:rPr>
              <a:t>入射光的偏振面</a:t>
            </a:r>
            <a:endParaRPr lang="zh-CN" altLang="en-US" sz="2400">
              <a:latin typeface="Times New Roman" panose="02020603050405020304" pitchFamily="18" charset="0"/>
            </a:endParaRPr>
          </a:p>
        </p:txBody>
      </p:sp>
      <p:sp>
        <p:nvSpPr>
          <p:cNvPr id="52233" name="Line 9">
            <a:extLst>
              <a:ext uri="{FF2B5EF4-FFF2-40B4-BE49-F238E27FC236}">
                <a16:creationId xmlns:a16="http://schemas.microsoft.com/office/drawing/2014/main" id="{9A9DB956-0E45-448F-A08A-051F36CC5AC1}"/>
              </a:ext>
            </a:extLst>
          </p:cNvPr>
          <p:cNvSpPr>
            <a:spLocks noChangeShapeType="1"/>
          </p:cNvSpPr>
          <p:nvPr/>
        </p:nvSpPr>
        <p:spPr bwMode="auto">
          <a:xfrm flipH="1" flipV="1">
            <a:off x="2362200" y="4114800"/>
            <a:ext cx="1219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4" name="Text Box 10">
            <a:extLst>
              <a:ext uri="{FF2B5EF4-FFF2-40B4-BE49-F238E27FC236}">
                <a16:creationId xmlns:a16="http://schemas.microsoft.com/office/drawing/2014/main" id="{FD0DE460-1359-47FA-B729-7792F00F046D}"/>
              </a:ext>
            </a:extLst>
          </p:cNvPr>
          <p:cNvSpPr txBox="1">
            <a:spLocks noChangeArrowheads="1"/>
          </p:cNvSpPr>
          <p:nvPr/>
        </p:nvSpPr>
        <p:spPr bwMode="auto">
          <a:xfrm>
            <a:off x="0" y="3581400"/>
            <a:ext cx="304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b="1">
                <a:solidFill>
                  <a:srgbClr val="003399"/>
                </a:solidFill>
                <a:latin typeface="Times New Roman" panose="02020603050405020304" pitchFamily="18" charset="0"/>
              </a:rPr>
              <a:t>  出射光的偏振面</a:t>
            </a:r>
            <a:endParaRPr lang="zh-CN" altLang="en-US" sz="2800" b="1">
              <a:latin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6B781910-3279-4CEE-8BBE-8F3548AB6467}"/>
              </a:ext>
            </a:extLst>
          </p:cNvPr>
          <p:cNvSpPr txBox="1">
            <a:spLocks noChangeArrowheads="1"/>
          </p:cNvSpPr>
          <p:nvPr/>
        </p:nvSpPr>
        <p:spPr bwMode="auto">
          <a:xfrm>
            <a:off x="304800" y="332656"/>
            <a:ext cx="8686800" cy="6398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80000"/>
              </a:lnSpc>
              <a:spcBef>
                <a:spcPct val="50000"/>
              </a:spcBef>
              <a:buClrTx/>
              <a:buSzTx/>
              <a:buFontTx/>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About AA stereoisomers</a:t>
            </a:r>
            <a:r>
              <a:rPr lang="zh-CN" altLang="en-US" sz="2800" b="1" dirty="0">
                <a:latin typeface="Times New Roman" panose="02020603050405020304" pitchFamily="18" charset="0"/>
              </a:rPr>
              <a:t>：</a:t>
            </a:r>
          </a:p>
          <a:p>
            <a:pPr lvl="1">
              <a:lnSpc>
                <a:spcPct val="150000"/>
              </a:lnSpc>
              <a:spcBef>
                <a:spcPct val="50000"/>
              </a:spcBef>
              <a:buClrTx/>
              <a:buSzTx/>
              <a:buFontTx/>
              <a:buChar char="•"/>
            </a:pPr>
            <a:r>
              <a:rPr lang="en-US" altLang="zh-CN" b="1" dirty="0">
                <a:latin typeface="Times New Roman" panose="02020603050405020304" pitchFamily="18" charset="0"/>
              </a:rPr>
              <a:t>The correlation of structure (or configuration) with optical rotation is very complex and has not been successful to date! (i.e., </a:t>
            </a:r>
            <a:r>
              <a:rPr lang="en-US" altLang="zh-CN" b="1" dirty="0">
                <a:solidFill>
                  <a:srgbClr val="FF0066"/>
                </a:solidFill>
                <a:latin typeface="Times New Roman" panose="02020603050405020304" pitchFamily="18" charset="0"/>
              </a:rPr>
              <a:t>the D- and L-signs do not tell anything about their optical rotation!)</a:t>
            </a:r>
          </a:p>
          <a:p>
            <a:pPr lvl="1" eaLnBrk="1" hangingPunct="1">
              <a:lnSpc>
                <a:spcPct val="150000"/>
              </a:lnSpc>
              <a:spcBef>
                <a:spcPct val="50000"/>
              </a:spcBef>
              <a:buClrTx/>
              <a:buSzTx/>
              <a:buFontTx/>
              <a:buChar char="•"/>
            </a:pPr>
            <a:r>
              <a:rPr lang="en-US" altLang="zh-CN" b="1" dirty="0">
                <a:solidFill>
                  <a:srgbClr val="FF0066"/>
                </a:solidFill>
                <a:latin typeface="Times New Roman" panose="02020603050405020304" pitchFamily="18" charset="0"/>
              </a:rPr>
              <a:t>Only the L-amino acids have been found in proteins</a:t>
            </a:r>
            <a:r>
              <a:rPr lang="en-US" altLang="zh-CN" b="1" dirty="0">
                <a:latin typeface="Times New Roman" panose="02020603050405020304" pitchFamily="18" charset="0"/>
              </a:rPr>
              <a:t> (D-isomers have been found only in small peptides of bacteria cell walls and in some peptide antibiotics).</a:t>
            </a:r>
          </a:p>
          <a:p>
            <a:pPr lvl="1">
              <a:lnSpc>
                <a:spcPct val="150000"/>
              </a:lnSpc>
              <a:spcBef>
                <a:spcPct val="50000"/>
              </a:spcBef>
              <a:buClrTx/>
              <a:buSzTx/>
              <a:buNone/>
            </a:pPr>
            <a:r>
              <a:rPr lang="en-US" altLang="zh-CN" sz="3600" b="1" dirty="0">
                <a:solidFill>
                  <a:srgbClr val="FF0066"/>
                </a:solidFill>
                <a:latin typeface="Times New Roman" panose="02020603050405020304" pitchFamily="18" charset="0"/>
              </a:rPr>
              <a:t>L-</a:t>
            </a:r>
            <a:r>
              <a:rPr lang="el-GR" altLang="zh-CN" sz="3600" b="1" dirty="0">
                <a:solidFill>
                  <a:srgbClr val="FF0066"/>
                </a:solidFill>
                <a:latin typeface="Times New Roman" panose="02020603050405020304" pitchFamily="18" charset="0"/>
              </a:rPr>
              <a:t>α</a:t>
            </a:r>
            <a:r>
              <a:rPr lang="en-US" altLang="zh-CN" sz="3600" b="1" dirty="0">
                <a:solidFill>
                  <a:srgbClr val="FF0066"/>
                </a:solidFill>
                <a:latin typeface="Times New Roman" panose="02020603050405020304" pitchFamily="18" charset="0"/>
              </a:rPr>
              <a:t>-AA</a:t>
            </a:r>
            <a:endParaRPr lang="zh-CN" altLang="en-US" sz="3600" b="1" dirty="0">
              <a:solidFill>
                <a:srgbClr val="FF0066"/>
              </a:solidFill>
              <a:latin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a:extLst>
              <a:ext uri="{FF2B5EF4-FFF2-40B4-BE49-F238E27FC236}">
                <a16:creationId xmlns:a16="http://schemas.microsoft.com/office/drawing/2014/main" id="{15F70206-5EAD-47E7-BAF9-C1C06257DE3E}"/>
              </a:ext>
            </a:extLst>
          </p:cNvPr>
          <p:cNvSpPr txBox="1">
            <a:spLocks noChangeArrowheads="1"/>
          </p:cNvSpPr>
          <p:nvPr/>
        </p:nvSpPr>
        <p:spPr bwMode="auto">
          <a:xfrm>
            <a:off x="304800" y="2057400"/>
            <a:ext cx="8610600" cy="351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50000"/>
              </a:spcBef>
              <a:buClrTx/>
              <a:buSzTx/>
              <a:buFontTx/>
              <a:buNone/>
            </a:pPr>
            <a:r>
              <a:rPr lang="en-US" altLang="zh-CN" sz="2800" b="1" dirty="0">
                <a:latin typeface="Times New Roman" panose="02020603050405020304" pitchFamily="18" charset="0"/>
              </a:rPr>
              <a:t>1.2 Each amino acid is given a </a:t>
            </a:r>
            <a:r>
              <a:rPr lang="en-US" altLang="zh-CN" sz="2800" b="1" dirty="0">
                <a:solidFill>
                  <a:srgbClr val="FF0066"/>
                </a:solidFill>
                <a:latin typeface="Times New Roman" panose="02020603050405020304" pitchFamily="18" charset="0"/>
              </a:rPr>
              <a:t>three-letter abbreviation and a one-letter symbol</a:t>
            </a:r>
            <a:r>
              <a:rPr lang="en-US" altLang="zh-CN" sz="2800" b="1" dirty="0">
                <a:latin typeface="Times New Roman" panose="02020603050405020304" pitchFamily="18" charset="0"/>
              </a:rPr>
              <a:t>. They often use the first three letter and the first letter. When there is confusion, an alternative is used. These must be remembered. </a:t>
            </a:r>
          </a:p>
          <a:p>
            <a:pPr eaLnBrk="1" hangingPunct="1">
              <a:lnSpc>
                <a:spcPct val="150000"/>
              </a:lnSpc>
              <a:spcBef>
                <a:spcPct val="50000"/>
              </a:spcBef>
              <a:buClrTx/>
              <a:buSzTx/>
              <a:buFontTx/>
              <a:buNone/>
            </a:pPr>
            <a:endParaRPr lang="zh-CN" altLang="en-US" sz="2800" b="1" dirty="0">
              <a:latin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DD3EE91F-33D2-42F5-80CF-54C530EB685D}"/>
              </a:ext>
            </a:extLst>
          </p:cNvPr>
          <p:cNvSpPr txBox="1">
            <a:spLocks noChangeArrowheads="1"/>
          </p:cNvSpPr>
          <p:nvPr/>
        </p:nvSpPr>
        <p:spPr>
          <a:xfrm>
            <a:off x="481899" y="188640"/>
            <a:ext cx="3528392" cy="3168352"/>
          </a:xfrm>
          <a:prstGeom prst="rect">
            <a:avLst/>
          </a:prstGeom>
          <a:noFill/>
        </p:spPr>
        <p:txBody>
          <a:bodyPr/>
          <a:lstStyle>
            <a:defPPr>
              <a:defRPr lang="zh-CN"/>
            </a:defPPr>
            <a:lvl1pPr marL="0" indent="-342900" eaLnBrk="1" hangingPunct="1">
              <a:spcBef>
                <a:spcPts val="0"/>
              </a:spcBef>
              <a:buFont typeface="Arial" charset="0"/>
              <a:buChar char="•"/>
              <a:defRPr sz="2800">
                <a:latin typeface="+mn-lt"/>
                <a:ea typeface="+mn-ea"/>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r>
              <a:rPr lang="en-US" altLang="zh-CN" dirty="0"/>
              <a:t>Glycine (</a:t>
            </a:r>
            <a:r>
              <a:rPr lang="en-US" altLang="zh-CN" dirty="0" err="1"/>
              <a:t>Gly</a:t>
            </a:r>
            <a:r>
              <a:rPr lang="en-US" altLang="zh-CN" dirty="0"/>
              <a:t>, G)	</a:t>
            </a:r>
            <a:endParaRPr lang="zh-CN" altLang="en-US" dirty="0"/>
          </a:p>
          <a:p>
            <a:r>
              <a:rPr lang="en-US" altLang="zh-CN" dirty="0"/>
              <a:t>Alanine (Ala, A)	</a:t>
            </a:r>
            <a:endParaRPr lang="zh-CN" altLang="en-US" dirty="0"/>
          </a:p>
          <a:p>
            <a:r>
              <a:rPr lang="en-US" altLang="zh-CN" dirty="0"/>
              <a:t>Valine (Val, V)	</a:t>
            </a:r>
            <a:endParaRPr lang="zh-CN" altLang="en-US" dirty="0"/>
          </a:p>
          <a:p>
            <a:r>
              <a:rPr lang="en-US" altLang="zh-CN" dirty="0"/>
              <a:t>Leucine (Leu, L)</a:t>
            </a:r>
            <a:endParaRPr lang="zh-CN" altLang="en-US" dirty="0"/>
          </a:p>
          <a:p>
            <a:r>
              <a:rPr lang="en-US" altLang="zh-CN" dirty="0"/>
              <a:t>Isoleucine (</a:t>
            </a:r>
            <a:r>
              <a:rPr lang="en-US" altLang="zh-CN" b="1" dirty="0">
                <a:solidFill>
                  <a:srgbClr val="FF0000"/>
                </a:solidFill>
              </a:rPr>
              <a:t>Ile</a:t>
            </a:r>
            <a:r>
              <a:rPr lang="en-US" altLang="zh-CN" dirty="0"/>
              <a:t>, I)	</a:t>
            </a:r>
            <a:endParaRPr lang="zh-CN" altLang="en-US" dirty="0"/>
          </a:p>
          <a:p>
            <a:r>
              <a:rPr lang="en-US" altLang="zh-CN" dirty="0"/>
              <a:t>Methionine(Met, M)</a:t>
            </a:r>
          </a:p>
          <a:p>
            <a:r>
              <a:rPr lang="en-US" altLang="zh-CN" sz="2800" dirty="0">
                <a:ea typeface="华文中宋" panose="02010600040101010101" pitchFamily="2" charset="-122"/>
              </a:rPr>
              <a:t>Proline (Pro, P) </a:t>
            </a:r>
            <a:r>
              <a:rPr lang="zh-CN" altLang="en-US" sz="2800" dirty="0">
                <a:ea typeface="华文中宋" panose="02010600040101010101" pitchFamily="2" charset="-122"/>
              </a:rPr>
              <a:t>（</a:t>
            </a:r>
            <a:r>
              <a:rPr lang="en-US" altLang="zh-CN" sz="2800" dirty="0">
                <a:ea typeface="华文中宋" panose="02010600040101010101" pitchFamily="2" charset="-122"/>
              </a:rPr>
              <a:t>total 7 AAs</a:t>
            </a:r>
            <a:r>
              <a:rPr lang="zh-CN" altLang="en-US" sz="2800" dirty="0">
                <a:ea typeface="华文中宋" panose="02010600040101010101" pitchFamily="2" charset="-122"/>
              </a:rPr>
              <a:t>）</a:t>
            </a:r>
            <a:endParaRPr lang="en-US" altLang="zh-CN" sz="2800" dirty="0">
              <a:ea typeface="华文中宋" panose="02010600040101010101" pitchFamily="2" charset="-122"/>
            </a:endParaRPr>
          </a:p>
          <a:p>
            <a:endParaRPr lang="zh-CN" altLang="en-US" dirty="0"/>
          </a:p>
          <a:p>
            <a:endParaRPr lang="zh-CN" altLang="en-US" dirty="0"/>
          </a:p>
        </p:txBody>
      </p:sp>
      <p:sp>
        <p:nvSpPr>
          <p:cNvPr id="3" name="Rectangle 2">
            <a:extLst>
              <a:ext uri="{FF2B5EF4-FFF2-40B4-BE49-F238E27FC236}">
                <a16:creationId xmlns:a16="http://schemas.microsoft.com/office/drawing/2014/main" id="{AD94D4A4-1638-48BE-87E4-7F2415B6DFFD}"/>
              </a:ext>
            </a:extLst>
          </p:cNvPr>
          <p:cNvSpPr txBox="1">
            <a:spLocks noChangeArrowheads="1"/>
          </p:cNvSpPr>
          <p:nvPr/>
        </p:nvSpPr>
        <p:spPr>
          <a:xfrm>
            <a:off x="4139952" y="3635136"/>
            <a:ext cx="3744416" cy="2026568"/>
          </a:xfrm>
          <a:prstGeom prst="rect">
            <a:avLst/>
          </a:prstGeom>
          <a:noFill/>
        </p:spPr>
        <p:txBody>
          <a:bodyPr/>
          <a:lstStyle>
            <a:defPPr>
              <a:defRPr lang="zh-CN"/>
            </a:defPPr>
            <a:lvl1pPr marL="0" indent="-342900" eaLnBrk="1" hangingPunct="1">
              <a:spcBef>
                <a:spcPts val="0"/>
              </a:spcBef>
              <a:buFont typeface="Arial" charset="0"/>
              <a:buChar char="•"/>
              <a:defRPr sz="2800">
                <a:latin typeface="+mn-lt"/>
                <a:ea typeface="+mn-ea"/>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r>
              <a:rPr lang="en-US" altLang="zh-CN" dirty="0"/>
              <a:t>Phenylalanine (</a:t>
            </a:r>
            <a:r>
              <a:rPr lang="en-US" altLang="zh-CN" dirty="0" err="1"/>
              <a:t>Phe,</a:t>
            </a:r>
            <a:r>
              <a:rPr lang="en-US" altLang="zh-CN" b="1" dirty="0" err="1">
                <a:solidFill>
                  <a:srgbClr val="FF0000"/>
                </a:solidFill>
              </a:rPr>
              <a:t>F</a:t>
            </a:r>
            <a:r>
              <a:rPr lang="en-US" altLang="zh-CN" dirty="0"/>
              <a:t>) </a:t>
            </a:r>
          </a:p>
          <a:p>
            <a:r>
              <a:rPr lang="en-US" altLang="zh-CN" dirty="0"/>
              <a:t>Tyrosine (</a:t>
            </a:r>
            <a:r>
              <a:rPr lang="en-US" altLang="zh-CN" dirty="0" err="1"/>
              <a:t>Tyr,</a:t>
            </a:r>
            <a:r>
              <a:rPr lang="en-US" altLang="zh-CN" b="1" dirty="0" err="1">
                <a:solidFill>
                  <a:srgbClr val="FF0000"/>
                </a:solidFill>
              </a:rPr>
              <a:t>Y</a:t>
            </a:r>
            <a:r>
              <a:rPr lang="en-US" altLang="zh-CN" dirty="0"/>
              <a:t>) 	</a:t>
            </a:r>
          </a:p>
          <a:p>
            <a:r>
              <a:rPr lang="en-US" altLang="zh-CN" dirty="0"/>
              <a:t>Tryptophan (</a:t>
            </a:r>
            <a:r>
              <a:rPr lang="en-US" altLang="zh-CN" b="1" dirty="0" err="1">
                <a:solidFill>
                  <a:srgbClr val="FF0000"/>
                </a:solidFill>
              </a:rPr>
              <a:t>Trp</a:t>
            </a:r>
            <a:r>
              <a:rPr lang="en-US" altLang="zh-CN" dirty="0"/>
              <a:t>, </a:t>
            </a:r>
            <a:r>
              <a:rPr lang="en-US" altLang="zh-CN" b="1" dirty="0">
                <a:solidFill>
                  <a:srgbClr val="FF0000"/>
                </a:solidFill>
              </a:rPr>
              <a:t>W</a:t>
            </a:r>
            <a:r>
              <a:rPr lang="en-US" altLang="zh-CN" dirty="0"/>
              <a:t>)</a:t>
            </a:r>
          </a:p>
          <a:p>
            <a:r>
              <a:rPr lang="en-US" altLang="zh-CN" dirty="0">
                <a:latin typeface="Arial" panose="020B0604020202020204" pitchFamily="34" charset="0"/>
                <a:ea typeface="华文中宋" panose="02010600040101010101" pitchFamily="2" charset="-122"/>
              </a:rPr>
              <a:t>(total 3 AAs)</a:t>
            </a:r>
            <a:endParaRPr lang="zh-CN" altLang="en-US" dirty="0">
              <a:latin typeface="Arial" panose="020B0604020202020204" pitchFamily="34" charset="0"/>
              <a:ea typeface="华文中宋" panose="02010600040101010101" pitchFamily="2" charset="-122"/>
            </a:endParaRPr>
          </a:p>
          <a:p>
            <a:endParaRPr lang="zh-CN" altLang="en-US" dirty="0"/>
          </a:p>
        </p:txBody>
      </p:sp>
      <p:sp>
        <p:nvSpPr>
          <p:cNvPr id="4" name="Rectangle 2">
            <a:extLst>
              <a:ext uri="{FF2B5EF4-FFF2-40B4-BE49-F238E27FC236}">
                <a16:creationId xmlns:a16="http://schemas.microsoft.com/office/drawing/2014/main" id="{296FB423-98B2-4968-B8D7-A692A28614E8}"/>
              </a:ext>
            </a:extLst>
          </p:cNvPr>
          <p:cNvSpPr txBox="1">
            <a:spLocks noChangeArrowheads="1"/>
          </p:cNvSpPr>
          <p:nvPr/>
        </p:nvSpPr>
        <p:spPr>
          <a:xfrm>
            <a:off x="481899" y="3861048"/>
            <a:ext cx="3528392" cy="3168352"/>
          </a:xfrm>
          <a:prstGeom prst="rect">
            <a:avLst/>
          </a:prstGeom>
          <a:noFill/>
        </p:spPr>
        <p:txBody>
          <a:bodyPr/>
          <a:lstStyle>
            <a:defPPr>
              <a:defRPr lang="zh-CN"/>
            </a:defPPr>
            <a:lvl1pPr marL="0" indent="-342900" eaLnBrk="1" hangingPunct="1">
              <a:spcBef>
                <a:spcPts val="0"/>
              </a:spcBef>
              <a:buFont typeface="Arial" charset="0"/>
              <a:buChar char="•"/>
              <a:defRPr sz="2800">
                <a:latin typeface="+mn-lt"/>
                <a:ea typeface="+mn-ea"/>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r>
              <a:rPr lang="en-US" altLang="zh-CN" dirty="0"/>
              <a:t>Arginine (</a:t>
            </a:r>
            <a:r>
              <a:rPr lang="en-US" altLang="zh-CN" dirty="0" err="1"/>
              <a:t>Arg</a:t>
            </a:r>
            <a:r>
              <a:rPr lang="en-US" altLang="zh-CN" dirty="0"/>
              <a:t>, </a:t>
            </a:r>
            <a:r>
              <a:rPr lang="en-US" altLang="zh-CN" b="1" dirty="0">
                <a:solidFill>
                  <a:srgbClr val="FF0000"/>
                </a:solidFill>
              </a:rPr>
              <a:t>R</a:t>
            </a:r>
            <a:r>
              <a:rPr lang="en-US" altLang="zh-CN" dirty="0"/>
              <a:t>)</a:t>
            </a:r>
            <a:endParaRPr lang="zh-CN" altLang="en-US" dirty="0"/>
          </a:p>
          <a:p>
            <a:r>
              <a:rPr lang="en-US" altLang="zh-CN" dirty="0"/>
              <a:t>Lysine (Lys, </a:t>
            </a:r>
            <a:r>
              <a:rPr lang="en-US" altLang="zh-CN" b="1" dirty="0">
                <a:solidFill>
                  <a:srgbClr val="FF0000"/>
                </a:solidFill>
              </a:rPr>
              <a:t>K</a:t>
            </a:r>
            <a:r>
              <a:rPr lang="en-US" altLang="zh-CN" dirty="0"/>
              <a:t>)</a:t>
            </a:r>
            <a:endParaRPr lang="zh-CN" altLang="en-US" dirty="0"/>
          </a:p>
          <a:p>
            <a:r>
              <a:rPr lang="en-US" altLang="zh-CN" dirty="0"/>
              <a:t>Histidine (His, H)</a:t>
            </a:r>
            <a:endParaRPr lang="zh-CN" altLang="en-US" dirty="0"/>
          </a:p>
          <a:p>
            <a:r>
              <a:rPr lang="en-US" altLang="zh-CN" dirty="0"/>
              <a:t>Aspartate (Asp, </a:t>
            </a:r>
            <a:r>
              <a:rPr lang="en-US" altLang="zh-CN" b="1" dirty="0">
                <a:solidFill>
                  <a:srgbClr val="FF0000"/>
                </a:solidFill>
              </a:rPr>
              <a:t>D</a:t>
            </a:r>
            <a:r>
              <a:rPr lang="en-US" altLang="zh-CN" dirty="0"/>
              <a:t>)</a:t>
            </a:r>
            <a:endParaRPr lang="zh-CN" altLang="en-US" dirty="0"/>
          </a:p>
          <a:p>
            <a:r>
              <a:rPr lang="en-US" altLang="zh-CN" dirty="0"/>
              <a:t>Glutamate (Glu, </a:t>
            </a:r>
            <a:r>
              <a:rPr lang="en-US" altLang="zh-CN" b="1" dirty="0">
                <a:solidFill>
                  <a:srgbClr val="FF0000"/>
                </a:solidFill>
              </a:rPr>
              <a:t>E</a:t>
            </a:r>
            <a:r>
              <a:rPr lang="en-US" altLang="zh-CN" dirty="0"/>
              <a:t>)</a:t>
            </a:r>
          </a:p>
          <a:p>
            <a:r>
              <a:rPr lang="en-US" altLang="zh-CN" dirty="0">
                <a:latin typeface="Arial" panose="020B0604020202020204" pitchFamily="34" charset="0"/>
                <a:ea typeface="华文中宋" panose="02010600040101010101" pitchFamily="2" charset="-122"/>
              </a:rPr>
              <a:t>(total 5 AAs)</a:t>
            </a:r>
            <a:endParaRPr lang="zh-CN" altLang="en-US" dirty="0">
              <a:latin typeface="Arial" panose="020B0604020202020204" pitchFamily="34" charset="0"/>
              <a:ea typeface="华文中宋" panose="02010600040101010101" pitchFamily="2" charset="-122"/>
            </a:endParaRPr>
          </a:p>
        </p:txBody>
      </p:sp>
      <p:sp>
        <p:nvSpPr>
          <p:cNvPr id="5" name="Rectangle 2">
            <a:extLst>
              <a:ext uri="{FF2B5EF4-FFF2-40B4-BE49-F238E27FC236}">
                <a16:creationId xmlns:a16="http://schemas.microsoft.com/office/drawing/2014/main" id="{0553C2F3-8816-49AE-A562-11613744D160}"/>
              </a:ext>
            </a:extLst>
          </p:cNvPr>
          <p:cNvSpPr txBox="1">
            <a:spLocks noChangeArrowheads="1"/>
          </p:cNvSpPr>
          <p:nvPr/>
        </p:nvSpPr>
        <p:spPr>
          <a:xfrm>
            <a:off x="4139952" y="363489"/>
            <a:ext cx="3600400" cy="3281536"/>
          </a:xfrm>
          <a:prstGeom prst="rect">
            <a:avLst/>
          </a:prstGeom>
          <a:noFill/>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eaLnBrk="1" hangingPunct="1">
              <a:spcBef>
                <a:spcPts val="0"/>
              </a:spcBef>
            </a:pPr>
            <a:r>
              <a:rPr lang="en-US" altLang="zh-CN" sz="2800" dirty="0"/>
              <a:t>Serine (Ser, S)</a:t>
            </a:r>
            <a:endParaRPr lang="zh-CN" altLang="en-US" sz="2800" dirty="0">
              <a:ea typeface="华文中宋" panose="02010600040101010101" pitchFamily="2" charset="-122"/>
            </a:endParaRPr>
          </a:p>
          <a:p>
            <a:pPr marL="0" eaLnBrk="1" hangingPunct="1">
              <a:spcBef>
                <a:spcPts val="0"/>
              </a:spcBef>
            </a:pPr>
            <a:r>
              <a:rPr lang="en-US" altLang="zh-CN" sz="2800" dirty="0"/>
              <a:t>Threonine (</a:t>
            </a:r>
            <a:r>
              <a:rPr lang="en-US" altLang="zh-CN" sz="2800" dirty="0" err="1"/>
              <a:t>Thr</a:t>
            </a:r>
            <a:r>
              <a:rPr lang="en-US" altLang="zh-CN" sz="2800" dirty="0"/>
              <a:t>, T)</a:t>
            </a:r>
          </a:p>
          <a:p>
            <a:pPr marL="0" eaLnBrk="1" hangingPunct="1">
              <a:spcBef>
                <a:spcPts val="0"/>
              </a:spcBef>
            </a:pPr>
            <a:r>
              <a:rPr lang="en-US" altLang="zh-CN" sz="2800" dirty="0">
                <a:ea typeface="华文中宋" panose="02010600040101010101" pitchFamily="2" charset="-122"/>
              </a:rPr>
              <a:t>Cysteine (</a:t>
            </a:r>
            <a:r>
              <a:rPr lang="en-US" altLang="zh-CN" sz="2800" dirty="0" err="1">
                <a:ea typeface="华文中宋" panose="02010600040101010101" pitchFamily="2" charset="-122"/>
              </a:rPr>
              <a:t>Cys</a:t>
            </a:r>
            <a:r>
              <a:rPr lang="en-US" altLang="zh-CN" sz="2800" dirty="0">
                <a:ea typeface="华文中宋" panose="02010600040101010101" pitchFamily="2" charset="-122"/>
              </a:rPr>
              <a:t>, C)</a:t>
            </a:r>
            <a:endParaRPr lang="zh-CN" altLang="en-US" sz="2800" dirty="0">
              <a:ea typeface="华文中宋" panose="02010600040101010101" pitchFamily="2" charset="-122"/>
            </a:endParaRPr>
          </a:p>
          <a:p>
            <a:pPr marL="0" eaLnBrk="1" hangingPunct="1">
              <a:spcBef>
                <a:spcPts val="0"/>
              </a:spcBef>
            </a:pPr>
            <a:r>
              <a:rPr lang="en-US" altLang="zh-CN" sz="2800" dirty="0"/>
              <a:t>Asparagine (</a:t>
            </a:r>
            <a:r>
              <a:rPr lang="en-US" altLang="zh-CN" sz="2800" b="1" dirty="0" err="1">
                <a:solidFill>
                  <a:srgbClr val="FF0000"/>
                </a:solidFill>
              </a:rPr>
              <a:t>Asn</a:t>
            </a:r>
            <a:r>
              <a:rPr lang="en-US" altLang="zh-CN" sz="2800" dirty="0"/>
              <a:t>, </a:t>
            </a:r>
            <a:r>
              <a:rPr lang="en-US" altLang="zh-CN" sz="2800" b="1" dirty="0">
                <a:solidFill>
                  <a:srgbClr val="FF0000"/>
                </a:solidFill>
              </a:rPr>
              <a:t>N</a:t>
            </a:r>
            <a:r>
              <a:rPr lang="en-US" altLang="zh-CN" sz="2800" dirty="0"/>
              <a:t>)</a:t>
            </a:r>
            <a:endParaRPr lang="zh-CN" altLang="en-US" sz="2800" dirty="0">
              <a:ea typeface="华文中宋" panose="02010600040101010101" pitchFamily="2" charset="-122"/>
            </a:endParaRPr>
          </a:p>
          <a:p>
            <a:pPr marL="0" eaLnBrk="1" hangingPunct="1">
              <a:spcBef>
                <a:spcPts val="0"/>
              </a:spcBef>
            </a:pPr>
            <a:r>
              <a:rPr lang="en-US" altLang="zh-CN" sz="2800" dirty="0"/>
              <a:t>Glutamine (</a:t>
            </a:r>
            <a:r>
              <a:rPr lang="en-US" altLang="zh-CN" sz="2800" b="1" dirty="0">
                <a:solidFill>
                  <a:srgbClr val="FF0000"/>
                </a:solidFill>
              </a:rPr>
              <a:t>Gln</a:t>
            </a:r>
            <a:r>
              <a:rPr lang="en-US" altLang="zh-CN" sz="2800" dirty="0"/>
              <a:t>, </a:t>
            </a:r>
            <a:r>
              <a:rPr lang="en-US" altLang="zh-CN" sz="2800" b="1" dirty="0">
                <a:solidFill>
                  <a:srgbClr val="FF0000"/>
                </a:solidFill>
              </a:rPr>
              <a:t>Q</a:t>
            </a:r>
            <a:r>
              <a:rPr lang="en-US" altLang="zh-CN" sz="2800" dirty="0">
                <a:solidFill>
                  <a:srgbClr val="FF0000"/>
                </a:solidFill>
              </a:rPr>
              <a:t>)</a:t>
            </a:r>
          </a:p>
          <a:p>
            <a:pPr marL="0" eaLnBrk="1" hangingPunct="1">
              <a:spcBef>
                <a:spcPts val="0"/>
              </a:spcBef>
            </a:pPr>
            <a:r>
              <a:rPr lang="zh-CN" altLang="en-US" sz="2800" dirty="0"/>
              <a:t>（</a:t>
            </a:r>
            <a:r>
              <a:rPr lang="en-US" altLang="zh-CN" sz="2800" dirty="0"/>
              <a:t>Total 5 AAs</a:t>
            </a:r>
            <a:r>
              <a:rPr lang="zh-CN" altLang="en-US" sz="2800" dirty="0"/>
              <a:t>）</a:t>
            </a:r>
            <a:endParaRPr lang="en-US" altLang="zh-CN" sz="2800" dirty="0"/>
          </a:p>
          <a:p>
            <a:pPr marL="0" indent="0" eaLnBrk="1" hangingPunct="1">
              <a:spcBef>
                <a:spcPts val="0"/>
              </a:spcBef>
              <a:buNone/>
            </a:pPr>
            <a:endParaRPr lang="en-US" altLang="zh-CN" sz="2800" dirty="0">
              <a:ea typeface="华文中宋" panose="02010600040101010101" pitchFamily="2" charset="-122"/>
            </a:endParaRPr>
          </a:p>
          <a:p>
            <a:pPr marL="0" eaLnBrk="1" hangingPunct="1">
              <a:spcBef>
                <a:spcPts val="0"/>
              </a:spcBef>
            </a:pPr>
            <a:endParaRPr lang="zh-CN" altLang="en-US" sz="2800" dirty="0">
              <a:ea typeface="华文中宋" panose="02010600040101010101" pitchFamily="2" charset="-122"/>
            </a:endParaRPr>
          </a:p>
        </p:txBody>
      </p:sp>
    </p:spTree>
    <p:extLst>
      <p:ext uri="{BB962C8B-B14F-4D97-AF65-F5344CB8AC3E}">
        <p14:creationId xmlns:p14="http://schemas.microsoft.com/office/powerpoint/2010/main" val="37781106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6BB12425-7F6E-4558-B0E5-1FC1DED99BB5}"/>
              </a:ext>
            </a:extLst>
          </p:cNvPr>
          <p:cNvSpPr>
            <a:spLocks noGrp="1" noChangeArrowheads="1"/>
          </p:cNvSpPr>
          <p:nvPr>
            <p:ph type="body" idx="1"/>
          </p:nvPr>
        </p:nvSpPr>
        <p:spPr>
          <a:xfrm>
            <a:off x="467544" y="908720"/>
            <a:ext cx="8421688" cy="4611687"/>
          </a:xfrm>
        </p:spPr>
        <p:txBody>
          <a:bodyPr/>
          <a:lstStyle/>
          <a:p>
            <a:pPr eaLnBrk="1" hangingPunct="1">
              <a:lnSpc>
                <a:spcPct val="130000"/>
              </a:lnSpc>
              <a:spcBef>
                <a:spcPct val="50000"/>
              </a:spcBef>
              <a:buClrTx/>
              <a:buSzTx/>
              <a:buFontTx/>
              <a:buNone/>
            </a:pPr>
            <a:r>
              <a:rPr lang="en-US" altLang="zh-CN" sz="2800" b="1" dirty="0">
                <a:latin typeface="Times New Roman" panose="02020603050405020304" pitchFamily="18" charset="0"/>
              </a:rPr>
              <a:t>1.3 All proteins in all species (from bacteria to human) are constructed from the same set of 20 amino acids.</a:t>
            </a:r>
          </a:p>
          <a:p>
            <a:pPr lvl="1" eaLnBrk="1" hangingPunct="1">
              <a:lnSpc>
                <a:spcPct val="130000"/>
              </a:lnSpc>
              <a:spcBef>
                <a:spcPct val="50000"/>
              </a:spcBef>
              <a:buClrTx/>
              <a:buSzTx/>
              <a:buFontTx/>
              <a:buChar char="•"/>
            </a:pPr>
            <a:r>
              <a:rPr lang="en-US" altLang="zh-CN" b="1" dirty="0">
                <a:latin typeface="Times New Roman" panose="02020603050405020304" pitchFamily="18" charset="0"/>
              </a:rPr>
              <a:t>All proteins, no matter how different they are in structure and function, are made from the same set of 20 standard amino acids.</a:t>
            </a:r>
          </a:p>
          <a:p>
            <a:pPr lvl="1" eaLnBrk="1" hangingPunct="1">
              <a:lnSpc>
                <a:spcPct val="130000"/>
              </a:lnSpc>
              <a:spcBef>
                <a:spcPct val="50000"/>
              </a:spcBef>
              <a:buClrTx/>
              <a:buSzTx/>
              <a:buFontTx/>
              <a:buChar char="•"/>
            </a:pPr>
            <a:r>
              <a:rPr lang="en-US" altLang="zh-CN" b="1" dirty="0">
                <a:latin typeface="Times New Roman" panose="02020603050405020304" pitchFamily="18" charset="0"/>
              </a:rPr>
              <a:t>This fundamental alphabet of the protein language is at least two billion years old.</a:t>
            </a:r>
            <a:endParaRPr lang="en-US" altLang="zh-CN" dirty="0">
              <a:latin typeface="Times New Roman" panose="02020603050405020304" pitchFamily="18" charset="0"/>
            </a:endParaRPr>
          </a:p>
          <a:p>
            <a:pPr eaLnBrk="1" hangingPunct="1"/>
            <a:endParaRPr lang="en-US" altLang="zh-CN"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a:extLst>
              <a:ext uri="{FF2B5EF4-FFF2-40B4-BE49-F238E27FC236}">
                <a16:creationId xmlns:a16="http://schemas.microsoft.com/office/drawing/2014/main" id="{D67EB8C9-A87D-4D41-89CB-E193BC6A77A8}"/>
              </a:ext>
            </a:extLst>
          </p:cNvPr>
          <p:cNvSpPr txBox="1">
            <a:spLocks noChangeArrowheads="1"/>
          </p:cNvSpPr>
          <p:nvPr/>
        </p:nvSpPr>
        <p:spPr bwMode="auto">
          <a:xfrm>
            <a:off x="457200" y="228600"/>
            <a:ext cx="8382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a:solidFill>
                  <a:srgbClr val="FF0066"/>
                </a:solidFill>
                <a:latin typeface="Times New Roman" panose="02020603050405020304" pitchFamily="18" charset="0"/>
              </a:rPr>
              <a:t>2. The 20 amino acids are usually grouped according to the properties (mainly polarity) of their R groups</a:t>
            </a:r>
            <a:endParaRPr lang="en-US" altLang="zh-CN" sz="2400">
              <a:latin typeface="Times New Roman" panose="02020603050405020304" pitchFamily="18" charset="0"/>
            </a:endParaRPr>
          </a:p>
        </p:txBody>
      </p:sp>
      <p:sp>
        <p:nvSpPr>
          <p:cNvPr id="56323" name="Text Box 3">
            <a:extLst>
              <a:ext uri="{FF2B5EF4-FFF2-40B4-BE49-F238E27FC236}">
                <a16:creationId xmlns:a16="http://schemas.microsoft.com/office/drawing/2014/main" id="{E1D8A86A-40F6-4B99-8A78-8EA120483E99}"/>
              </a:ext>
            </a:extLst>
          </p:cNvPr>
          <p:cNvSpPr txBox="1">
            <a:spLocks noChangeArrowheads="1"/>
          </p:cNvSpPr>
          <p:nvPr/>
        </p:nvSpPr>
        <p:spPr bwMode="auto">
          <a:xfrm>
            <a:off x="533400" y="1143000"/>
            <a:ext cx="8382000" cy="5478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2.1 seven amino acids have nonpolar, aliphatic</a:t>
            </a:r>
          </a:p>
          <a:p>
            <a:pPr eaLnBrk="1" hangingPunct="1">
              <a:spcBef>
                <a:spcPct val="50000"/>
              </a:spcBef>
              <a:buClrTx/>
              <a:buSzTx/>
              <a:buFontTx/>
              <a:buNone/>
            </a:pPr>
            <a:r>
              <a:rPr lang="en-US" altLang="zh-CN" sz="2800" b="1" dirty="0">
                <a:latin typeface="Times New Roman" panose="02020603050405020304" pitchFamily="18" charset="0"/>
              </a:rPr>
              <a:t>         (hydrophobic) R groups.</a:t>
            </a:r>
          </a:p>
          <a:p>
            <a:pPr lvl="2" eaLnBrk="1" hangingPunct="1">
              <a:spcBef>
                <a:spcPct val="50000"/>
              </a:spcBef>
              <a:buClrTx/>
              <a:buSzTx/>
              <a:buFontTx/>
              <a:buChar char="•"/>
            </a:pPr>
            <a:r>
              <a:rPr lang="en-US" altLang="zh-CN" sz="2800" b="1" dirty="0">
                <a:latin typeface="Times New Roman" panose="02020603050405020304" pitchFamily="18" charset="0"/>
              </a:rPr>
              <a:t>They are </a:t>
            </a:r>
            <a:r>
              <a:rPr lang="en-US" altLang="zh-CN" sz="2800" b="1" dirty="0" err="1">
                <a:latin typeface="Times New Roman" panose="02020603050405020304" pitchFamily="18" charset="0"/>
              </a:rPr>
              <a:t>Gly</a:t>
            </a:r>
            <a:r>
              <a:rPr lang="en-US" altLang="zh-CN" sz="2800" b="1" dirty="0">
                <a:latin typeface="Times New Roman" panose="02020603050405020304" pitchFamily="18" charset="0"/>
              </a:rPr>
              <a:t>, Ala, Val, Leu, Ile, Met and Pro.</a:t>
            </a:r>
          </a:p>
          <a:p>
            <a:pPr lvl="2" eaLnBrk="1" hangingPunct="1">
              <a:spcBef>
                <a:spcPct val="50000"/>
              </a:spcBef>
              <a:buClrTx/>
              <a:buSzTx/>
              <a:buFontTx/>
              <a:buChar char="•"/>
            </a:pPr>
            <a:r>
              <a:rPr lang="en-US" altLang="zh-CN" sz="2800" b="1" dirty="0" err="1">
                <a:latin typeface="Times New Roman" panose="02020603050405020304" pitchFamily="18" charset="0"/>
              </a:rPr>
              <a:t>Gly</a:t>
            </a:r>
            <a:r>
              <a:rPr lang="en-US" altLang="zh-CN" sz="2800" b="1" dirty="0">
                <a:latin typeface="Times New Roman" panose="02020603050405020304" pitchFamily="18" charset="0"/>
              </a:rPr>
              <a:t> has a hydrogen as its R group, having minimal steric hindrance.</a:t>
            </a:r>
          </a:p>
          <a:p>
            <a:pPr lvl="2" eaLnBrk="1" hangingPunct="1">
              <a:spcBef>
                <a:spcPct val="50000"/>
              </a:spcBef>
              <a:buClrTx/>
              <a:buSzTx/>
              <a:buFontTx/>
              <a:buChar char="•"/>
            </a:pPr>
            <a:r>
              <a:rPr lang="en-US" altLang="zh-CN" sz="2800" b="1" dirty="0">
                <a:latin typeface="Times New Roman" panose="02020603050405020304" pitchFamily="18" charset="0"/>
              </a:rPr>
              <a:t>In protein structure </a:t>
            </a:r>
            <a:r>
              <a:rPr lang="en-US" altLang="zh-CN" sz="2800" b="1" dirty="0" err="1">
                <a:latin typeface="Times New Roman" panose="02020603050405020304" pitchFamily="18" charset="0"/>
              </a:rPr>
              <a:t>Gly</a:t>
            </a:r>
            <a:r>
              <a:rPr lang="en-US" altLang="zh-CN" sz="2800" b="1" dirty="0">
                <a:latin typeface="Times New Roman" panose="02020603050405020304" pitchFamily="18" charset="0"/>
              </a:rPr>
              <a:t> offers the most flexibility!</a:t>
            </a:r>
          </a:p>
          <a:p>
            <a:pPr lvl="2" eaLnBrk="1" hangingPunct="1">
              <a:spcBef>
                <a:spcPct val="50000"/>
              </a:spcBef>
              <a:buClrTx/>
              <a:buSzTx/>
              <a:buFontTx/>
              <a:buChar char="•"/>
            </a:pPr>
            <a:r>
              <a:rPr lang="en-US" altLang="zh-CN" sz="2800" b="1" dirty="0">
                <a:latin typeface="Times New Roman" panose="02020603050405020304" pitchFamily="18" charset="0"/>
              </a:rPr>
              <a:t>Ala, Val, Leu, Ile and Met have hydrocarbon R groups, often involved in hydrophobic interactions.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65E895F-8883-4BEE-9212-9EE55F8B4F67}"/>
              </a:ext>
            </a:extLst>
          </p:cNvPr>
          <p:cNvSpPr txBox="1"/>
          <p:nvPr/>
        </p:nvSpPr>
        <p:spPr>
          <a:xfrm>
            <a:off x="-33610" y="620688"/>
            <a:ext cx="8424936" cy="2893100"/>
          </a:xfrm>
          <a:prstGeom prst="rect">
            <a:avLst/>
          </a:prstGeom>
          <a:noFill/>
        </p:spPr>
        <p:txBody>
          <a:bodyPr wrap="square">
            <a:spAutoFit/>
          </a:bodyPr>
          <a:lstStyle/>
          <a:p>
            <a:pPr lvl="2" indent="-285750">
              <a:spcBef>
                <a:spcPct val="50000"/>
              </a:spcBef>
              <a:buFontTx/>
              <a:buChar char="•"/>
            </a:pPr>
            <a:r>
              <a:rPr kumimoji="1" lang="en-US" altLang="zh-CN" sz="2800" b="1" dirty="0">
                <a:latin typeface="Times New Roman" panose="02020603050405020304" pitchFamily="18" charset="0"/>
              </a:rPr>
              <a:t>Pro has an </a:t>
            </a:r>
            <a:r>
              <a:rPr kumimoji="1" lang="en-US" altLang="zh-CN" sz="2800" b="1" dirty="0" err="1">
                <a:latin typeface="Times New Roman" panose="02020603050405020304" pitchFamily="18" charset="0"/>
              </a:rPr>
              <a:t>imino</a:t>
            </a:r>
            <a:r>
              <a:rPr kumimoji="1" lang="en-US" altLang="zh-CN" sz="2800" b="1" dirty="0">
                <a:latin typeface="Times New Roman" panose="02020603050405020304" pitchFamily="18" charset="0"/>
              </a:rPr>
              <a:t> group, instead of an amino group, forming a five-membered ring structure, being rigid in conformation.</a:t>
            </a:r>
          </a:p>
          <a:p>
            <a:pPr lvl="2" indent="-285750">
              <a:spcBef>
                <a:spcPct val="50000"/>
              </a:spcBef>
              <a:buFontTx/>
              <a:buChar char="•"/>
            </a:pPr>
            <a:r>
              <a:rPr kumimoji="1" lang="en-US" altLang="zh-CN" sz="2800" b="1" dirty="0">
                <a:latin typeface="Times New Roman" panose="02020603050405020304" pitchFamily="18" charset="0"/>
              </a:rPr>
              <a:t>Pro is often found in the bends of folded protein chains and often present on the surface of proteins. It offers the least flexibility.</a:t>
            </a:r>
          </a:p>
        </p:txBody>
      </p:sp>
    </p:spTree>
    <p:extLst>
      <p:ext uri="{BB962C8B-B14F-4D97-AF65-F5344CB8AC3E}">
        <p14:creationId xmlns:p14="http://schemas.microsoft.com/office/powerpoint/2010/main" val="24208372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ACD9EE1-24C2-466C-B871-896F5B8004B3}"/>
              </a:ext>
            </a:extLst>
          </p:cNvPr>
          <p:cNvPicPr>
            <a:picLocks noChangeAspect="1"/>
          </p:cNvPicPr>
          <p:nvPr/>
        </p:nvPicPr>
        <p:blipFill>
          <a:blip r:embed="rId3"/>
          <a:stretch>
            <a:fillRect/>
          </a:stretch>
        </p:blipFill>
        <p:spPr>
          <a:xfrm>
            <a:off x="2410885" y="476672"/>
            <a:ext cx="6740795" cy="5301208"/>
          </a:xfrm>
          <a:prstGeom prst="rect">
            <a:avLst/>
          </a:prstGeom>
        </p:spPr>
      </p:pic>
      <p:sp>
        <p:nvSpPr>
          <p:cNvPr id="57347" name="Text Box 3">
            <a:extLst>
              <a:ext uri="{FF2B5EF4-FFF2-40B4-BE49-F238E27FC236}">
                <a16:creationId xmlns:a16="http://schemas.microsoft.com/office/drawing/2014/main" id="{4470AFCF-A421-4A55-8938-358AA439711A}"/>
              </a:ext>
            </a:extLst>
          </p:cNvPr>
          <p:cNvSpPr txBox="1">
            <a:spLocks noChangeArrowheads="1"/>
          </p:cNvSpPr>
          <p:nvPr/>
        </p:nvSpPr>
        <p:spPr bwMode="auto">
          <a:xfrm>
            <a:off x="18471" y="908720"/>
            <a:ext cx="2670924" cy="5831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0"/>
              </a:spcBef>
              <a:buClrTx/>
              <a:buSzTx/>
              <a:buFontTx/>
              <a:buNone/>
            </a:pPr>
            <a:r>
              <a:rPr lang="en-US" altLang="zh-CN" sz="2800" b="1" dirty="0" err="1">
                <a:latin typeface="Times New Roman" panose="02020603050405020304" pitchFamily="18" charset="0"/>
              </a:rPr>
              <a:t>Gly</a:t>
            </a:r>
            <a:r>
              <a:rPr lang="en-US" altLang="zh-CN" sz="2800" b="1" dirty="0">
                <a:latin typeface="Times New Roman" panose="02020603050405020304" pitchFamily="18" charset="0"/>
              </a:rPr>
              <a:t>, G, </a:t>
            </a:r>
            <a:r>
              <a:rPr lang="zh-CN" altLang="en-US" sz="2800" b="1" dirty="0">
                <a:latin typeface="Times New Roman" panose="02020603050405020304" pitchFamily="18" charset="0"/>
              </a:rPr>
              <a:t>甘氨酸</a:t>
            </a:r>
          </a:p>
          <a:p>
            <a:pPr eaLnBrk="1" hangingPunct="1">
              <a:lnSpc>
                <a:spcPct val="150000"/>
              </a:lnSpc>
              <a:spcBef>
                <a:spcPct val="0"/>
              </a:spcBef>
              <a:buClrTx/>
              <a:buSzTx/>
              <a:buFontTx/>
              <a:buNone/>
            </a:pPr>
            <a:r>
              <a:rPr lang="en-US" altLang="zh-CN" sz="2800" b="1" dirty="0">
                <a:latin typeface="Times New Roman" panose="02020603050405020304" pitchFamily="18" charset="0"/>
              </a:rPr>
              <a:t>Ala, A, </a:t>
            </a:r>
            <a:r>
              <a:rPr lang="zh-CN" altLang="en-US" sz="2800" b="1" dirty="0">
                <a:latin typeface="Times New Roman" panose="02020603050405020304" pitchFamily="18" charset="0"/>
              </a:rPr>
              <a:t>丙氨酸</a:t>
            </a:r>
          </a:p>
          <a:p>
            <a:pPr eaLnBrk="1" hangingPunct="1">
              <a:lnSpc>
                <a:spcPct val="150000"/>
              </a:lnSpc>
              <a:spcBef>
                <a:spcPct val="0"/>
              </a:spcBef>
              <a:buClrTx/>
              <a:buSzTx/>
              <a:buFontTx/>
              <a:buNone/>
            </a:pPr>
            <a:r>
              <a:rPr lang="en-US" altLang="zh-CN" sz="2800" b="1" dirty="0">
                <a:latin typeface="Times New Roman" panose="02020603050405020304" pitchFamily="18" charset="0"/>
              </a:rPr>
              <a:t>Val, V, </a:t>
            </a:r>
            <a:r>
              <a:rPr lang="zh-CN" altLang="en-US" sz="2800" b="1" dirty="0">
                <a:latin typeface="Times New Roman" panose="02020603050405020304" pitchFamily="18" charset="0"/>
              </a:rPr>
              <a:t>缬氨酸</a:t>
            </a:r>
          </a:p>
          <a:p>
            <a:pPr eaLnBrk="1" hangingPunct="1">
              <a:lnSpc>
                <a:spcPct val="150000"/>
              </a:lnSpc>
              <a:spcBef>
                <a:spcPct val="0"/>
              </a:spcBef>
              <a:buClrTx/>
              <a:buSzTx/>
              <a:buFontTx/>
              <a:buNone/>
            </a:pPr>
            <a:r>
              <a:rPr lang="en-US" altLang="zh-CN" sz="2800" b="1" dirty="0">
                <a:latin typeface="Times New Roman" panose="02020603050405020304" pitchFamily="18" charset="0"/>
              </a:rPr>
              <a:t>Leu, L, </a:t>
            </a:r>
            <a:r>
              <a:rPr lang="zh-CN" altLang="en-US" sz="2800" b="1" dirty="0">
                <a:latin typeface="Times New Roman" panose="02020603050405020304" pitchFamily="18" charset="0"/>
              </a:rPr>
              <a:t>亮氨酸</a:t>
            </a:r>
          </a:p>
          <a:p>
            <a:pPr eaLnBrk="1" hangingPunct="1">
              <a:lnSpc>
                <a:spcPct val="150000"/>
              </a:lnSpc>
              <a:spcBef>
                <a:spcPct val="0"/>
              </a:spcBef>
              <a:buClrTx/>
              <a:buSzTx/>
              <a:buFontTx/>
              <a:buNone/>
            </a:pPr>
            <a:r>
              <a:rPr lang="en-US" altLang="zh-CN" sz="2800" b="1" dirty="0">
                <a:latin typeface="Times New Roman" panose="02020603050405020304" pitchFamily="18" charset="0"/>
              </a:rPr>
              <a:t>Ile, I, </a:t>
            </a:r>
            <a:r>
              <a:rPr lang="zh-CN" altLang="en-US" sz="2800" b="1" dirty="0">
                <a:latin typeface="Times New Roman" panose="02020603050405020304" pitchFamily="18" charset="0"/>
              </a:rPr>
              <a:t>异亮氨酸</a:t>
            </a:r>
          </a:p>
          <a:p>
            <a:pPr eaLnBrk="1" hangingPunct="1">
              <a:lnSpc>
                <a:spcPct val="150000"/>
              </a:lnSpc>
              <a:spcBef>
                <a:spcPct val="0"/>
              </a:spcBef>
              <a:buClrTx/>
              <a:buSzTx/>
              <a:buFontTx/>
              <a:buNone/>
            </a:pPr>
            <a:r>
              <a:rPr lang="en-US" altLang="zh-CN" sz="2800" b="1" dirty="0">
                <a:latin typeface="Times New Roman" panose="02020603050405020304" pitchFamily="18" charset="0"/>
              </a:rPr>
              <a:t>Met, M, </a:t>
            </a:r>
            <a:r>
              <a:rPr lang="zh-CN" altLang="en-US" sz="2800" b="1" dirty="0">
                <a:latin typeface="Times New Roman" panose="02020603050405020304" pitchFamily="18" charset="0"/>
              </a:rPr>
              <a:t>蛋氨酸</a:t>
            </a:r>
            <a:r>
              <a:rPr lang="en-US" altLang="zh-CN" sz="2800" b="1" dirty="0">
                <a:latin typeface="Times New Roman" panose="02020603050405020304" pitchFamily="18" charset="0"/>
              </a:rPr>
              <a:t>,</a:t>
            </a:r>
          </a:p>
          <a:p>
            <a:pPr eaLnBrk="1" hangingPunct="1">
              <a:lnSpc>
                <a:spcPct val="150000"/>
              </a:lnSpc>
              <a:spcBef>
                <a:spcPct val="0"/>
              </a:spcBef>
              <a:buClrTx/>
              <a:buSzTx/>
              <a:buFontTx/>
              <a:buNone/>
            </a:pPr>
            <a:r>
              <a:rPr lang="en-US" altLang="zh-CN" sz="2800" b="1" dirty="0">
                <a:latin typeface="Times New Roman" panose="02020603050405020304" pitchFamily="18" charset="0"/>
              </a:rPr>
              <a:t>	</a:t>
            </a:r>
            <a:r>
              <a:rPr lang="zh-CN" altLang="en-US" sz="2800" b="1" dirty="0">
                <a:latin typeface="Times New Roman" panose="02020603050405020304" pitchFamily="18" charset="0"/>
              </a:rPr>
              <a:t>甲硫氨酸</a:t>
            </a:r>
            <a:endParaRPr lang="en-US" altLang="zh-CN" sz="2800" b="1" dirty="0">
              <a:latin typeface="Times New Roman" panose="02020603050405020304" pitchFamily="18" charset="0"/>
            </a:endParaRPr>
          </a:p>
          <a:p>
            <a:pPr>
              <a:lnSpc>
                <a:spcPct val="150000"/>
              </a:lnSpc>
              <a:spcBef>
                <a:spcPct val="0"/>
              </a:spcBef>
              <a:buClrTx/>
              <a:buSzTx/>
              <a:buNone/>
            </a:pPr>
            <a:r>
              <a:rPr lang="en-US" altLang="zh-CN" sz="2800" b="1" dirty="0">
                <a:latin typeface="Times New Roman" panose="02020603050405020304" pitchFamily="18" charset="0"/>
              </a:rPr>
              <a:t>Pro, P, </a:t>
            </a:r>
            <a:r>
              <a:rPr lang="zh-CN" altLang="en-US" sz="2800" b="1" dirty="0">
                <a:latin typeface="Times New Roman" panose="02020603050405020304" pitchFamily="18" charset="0"/>
              </a:rPr>
              <a:t>脯氨酸</a:t>
            </a:r>
          </a:p>
          <a:p>
            <a:pPr eaLnBrk="1" hangingPunct="1">
              <a:lnSpc>
                <a:spcPct val="150000"/>
              </a:lnSpc>
              <a:spcBef>
                <a:spcPct val="0"/>
              </a:spcBef>
              <a:buClrTx/>
              <a:buSzTx/>
              <a:buFontTx/>
              <a:buNone/>
            </a:pPr>
            <a:endParaRPr lang="zh-CN" altLang="en-US" sz="2800" b="1" dirty="0">
              <a:latin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a:extLst>
              <a:ext uri="{FF2B5EF4-FFF2-40B4-BE49-F238E27FC236}">
                <a16:creationId xmlns:a16="http://schemas.microsoft.com/office/drawing/2014/main" id="{FA0C0217-7F90-4CDD-B7A7-60BF94B167D5}"/>
              </a:ext>
            </a:extLst>
          </p:cNvPr>
          <p:cNvSpPr txBox="1">
            <a:spLocks noChangeArrowheads="1"/>
          </p:cNvSpPr>
          <p:nvPr/>
        </p:nvSpPr>
        <p:spPr bwMode="auto">
          <a:xfrm>
            <a:off x="457200" y="304800"/>
            <a:ext cx="8686800" cy="355481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2.2 Ser, </a:t>
            </a:r>
            <a:r>
              <a:rPr lang="en-US" altLang="zh-CN" sz="2800" b="1" dirty="0" err="1">
                <a:latin typeface="Times New Roman" panose="02020603050405020304" pitchFamily="18" charset="0"/>
              </a:rPr>
              <a:t>Thr</a:t>
            </a:r>
            <a:r>
              <a:rPr lang="en-US" altLang="zh-CN" sz="2800" b="1" dirty="0">
                <a:latin typeface="Times New Roman" panose="02020603050405020304" pitchFamily="18" charset="0"/>
              </a:rPr>
              <a:t>, </a:t>
            </a:r>
            <a:r>
              <a:rPr lang="en-US" altLang="zh-CN" sz="2800" b="1" dirty="0" err="1">
                <a:latin typeface="Times New Roman" panose="02020603050405020304" pitchFamily="18" charset="0"/>
              </a:rPr>
              <a:t>Asn</a:t>
            </a:r>
            <a:r>
              <a:rPr lang="en-US" altLang="zh-CN" sz="2800" b="1" dirty="0">
                <a:latin typeface="Times New Roman" panose="02020603050405020304" pitchFamily="18" charset="0"/>
              </a:rPr>
              <a:t>, Gln, and </a:t>
            </a:r>
            <a:r>
              <a:rPr lang="en-US" altLang="zh-CN" sz="2800" b="1" dirty="0" err="1">
                <a:latin typeface="Times New Roman" panose="02020603050405020304" pitchFamily="18" charset="0"/>
              </a:rPr>
              <a:t>Cys</a:t>
            </a:r>
            <a:r>
              <a:rPr lang="en-US" altLang="zh-CN" sz="2800" b="1" dirty="0">
                <a:latin typeface="Times New Roman" panose="02020603050405020304" pitchFamily="18" charset="0"/>
              </a:rPr>
              <a:t> have polar, uncharged R groups.</a:t>
            </a:r>
          </a:p>
          <a:p>
            <a:pPr lvl="1" eaLnBrk="1" hangingPunct="1">
              <a:spcBef>
                <a:spcPct val="50000"/>
              </a:spcBef>
              <a:buClrTx/>
              <a:buSzTx/>
              <a:buFontTx/>
              <a:buChar char="•"/>
            </a:pPr>
            <a:r>
              <a:rPr lang="en-US" altLang="zh-CN" sz="2600" b="1" dirty="0">
                <a:latin typeface="Times New Roman" panose="02020603050405020304" pitchFamily="18" charset="0"/>
              </a:rPr>
              <a:t>The R groups are more hydrophilic, due to the presence of hydroxyl groups, sulfur atoms, or amide groups.</a:t>
            </a:r>
          </a:p>
          <a:p>
            <a:pPr lvl="1" eaLnBrk="1" hangingPunct="1">
              <a:spcBef>
                <a:spcPct val="50000"/>
              </a:spcBef>
              <a:buClrTx/>
              <a:buSzTx/>
              <a:buFontTx/>
              <a:buChar char="•"/>
            </a:pPr>
            <a:r>
              <a:rPr lang="en-US" altLang="zh-CN" sz="2600" b="1" dirty="0">
                <a:latin typeface="Times New Roman" panose="02020603050405020304" pitchFamily="18" charset="0"/>
              </a:rPr>
              <a:t>-SH group (sulfhydryl) of two </a:t>
            </a:r>
            <a:r>
              <a:rPr lang="en-US" altLang="zh-CN" sz="2600" b="1" dirty="0" err="1">
                <a:latin typeface="Times New Roman" panose="02020603050405020304" pitchFamily="18" charset="0"/>
              </a:rPr>
              <a:t>Cys</a:t>
            </a:r>
            <a:r>
              <a:rPr lang="en-US" altLang="zh-CN" sz="2600" b="1" dirty="0">
                <a:latin typeface="Times New Roman" panose="02020603050405020304" pitchFamily="18" charset="0"/>
              </a:rPr>
              <a:t> in proteins can be oxidized to form a covalent disulfide bond.</a:t>
            </a:r>
          </a:p>
          <a:p>
            <a:pPr lvl="1" eaLnBrk="1" hangingPunct="1">
              <a:spcBef>
                <a:spcPct val="50000"/>
              </a:spcBef>
              <a:buClrTx/>
              <a:buSzTx/>
              <a:buFontTx/>
              <a:buChar char="•"/>
            </a:pPr>
            <a:r>
              <a:rPr lang="en-US" altLang="zh-CN" sz="2600" b="1" dirty="0" err="1">
                <a:latin typeface="Times New Roman" panose="02020603050405020304" pitchFamily="18" charset="0"/>
              </a:rPr>
              <a:t>Cys</a:t>
            </a:r>
            <a:r>
              <a:rPr lang="en-US" altLang="zh-CN" sz="2600" b="1" dirty="0">
                <a:latin typeface="Times New Roman" panose="02020603050405020304" pitchFamily="18" charset="0"/>
              </a:rPr>
              <a:t> often participates in hydrophobic interactions.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Text Box 3">
            <a:extLst>
              <a:ext uri="{FF2B5EF4-FFF2-40B4-BE49-F238E27FC236}">
                <a16:creationId xmlns:a16="http://schemas.microsoft.com/office/drawing/2014/main" id="{8CCA82FA-D364-4535-9CFB-9714C5C1C62D}"/>
              </a:ext>
            </a:extLst>
          </p:cNvPr>
          <p:cNvSpPr txBox="1">
            <a:spLocks noChangeArrowheads="1"/>
          </p:cNvSpPr>
          <p:nvPr/>
        </p:nvSpPr>
        <p:spPr bwMode="auto">
          <a:xfrm>
            <a:off x="228600" y="1808163"/>
            <a:ext cx="2845651" cy="3242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0"/>
              </a:spcBef>
              <a:buClrTx/>
              <a:buSzTx/>
              <a:buFontTx/>
              <a:buNone/>
            </a:pPr>
            <a:r>
              <a:rPr lang="en-US" altLang="zh-CN" sz="2800" b="1" dirty="0">
                <a:latin typeface="Times New Roman" panose="02020603050405020304" pitchFamily="18" charset="0"/>
              </a:rPr>
              <a:t>Ser, S, </a:t>
            </a:r>
            <a:r>
              <a:rPr lang="zh-CN" altLang="en-US" sz="2800" b="1" dirty="0">
                <a:latin typeface="Times New Roman" panose="02020603050405020304" pitchFamily="18" charset="0"/>
              </a:rPr>
              <a:t>丝氨酸</a:t>
            </a:r>
          </a:p>
          <a:p>
            <a:pPr eaLnBrk="1" hangingPunct="1">
              <a:lnSpc>
                <a:spcPct val="150000"/>
              </a:lnSpc>
              <a:spcBef>
                <a:spcPct val="0"/>
              </a:spcBef>
              <a:buClrTx/>
              <a:buSzTx/>
              <a:buFontTx/>
              <a:buNone/>
            </a:pPr>
            <a:r>
              <a:rPr lang="en-US" altLang="zh-CN" sz="2800" b="1" dirty="0" err="1">
                <a:latin typeface="Times New Roman" panose="02020603050405020304" pitchFamily="18" charset="0"/>
              </a:rPr>
              <a:t>Thr</a:t>
            </a:r>
            <a:r>
              <a:rPr lang="en-US" altLang="zh-CN" sz="2800" b="1" dirty="0">
                <a:latin typeface="Times New Roman" panose="02020603050405020304" pitchFamily="18" charset="0"/>
              </a:rPr>
              <a:t>, T, </a:t>
            </a:r>
            <a:r>
              <a:rPr lang="zh-CN" altLang="en-US" sz="2800" b="1" dirty="0">
                <a:latin typeface="Times New Roman" panose="02020603050405020304" pitchFamily="18" charset="0"/>
              </a:rPr>
              <a:t>苏氨酸</a:t>
            </a:r>
          </a:p>
          <a:p>
            <a:pPr eaLnBrk="1" hangingPunct="1">
              <a:lnSpc>
                <a:spcPct val="150000"/>
              </a:lnSpc>
              <a:spcBef>
                <a:spcPct val="0"/>
              </a:spcBef>
              <a:buClrTx/>
              <a:buSzTx/>
              <a:buFontTx/>
              <a:buNone/>
            </a:pPr>
            <a:r>
              <a:rPr lang="en-US" altLang="zh-CN" sz="2800" b="1" dirty="0" err="1">
                <a:latin typeface="Times New Roman" panose="02020603050405020304" pitchFamily="18" charset="0"/>
              </a:rPr>
              <a:t>Cys</a:t>
            </a:r>
            <a:r>
              <a:rPr lang="en-US" altLang="zh-CN" sz="2800" b="1" dirty="0">
                <a:latin typeface="Times New Roman" panose="02020603050405020304" pitchFamily="18" charset="0"/>
              </a:rPr>
              <a:t>, C, </a:t>
            </a:r>
            <a:r>
              <a:rPr lang="zh-CN" altLang="en-US" sz="2800" b="1" dirty="0">
                <a:latin typeface="Times New Roman" panose="02020603050405020304" pitchFamily="18" charset="0"/>
              </a:rPr>
              <a:t>半胱氨酸</a:t>
            </a:r>
          </a:p>
          <a:p>
            <a:pPr eaLnBrk="1" hangingPunct="1">
              <a:lnSpc>
                <a:spcPct val="150000"/>
              </a:lnSpc>
              <a:spcBef>
                <a:spcPct val="0"/>
              </a:spcBef>
              <a:buClrTx/>
              <a:buSzTx/>
              <a:buFontTx/>
              <a:buNone/>
            </a:pPr>
            <a:r>
              <a:rPr lang="en-US" altLang="zh-CN" sz="2800" b="1" dirty="0" err="1">
                <a:latin typeface="Times New Roman" panose="02020603050405020304" pitchFamily="18" charset="0"/>
              </a:rPr>
              <a:t>Asn</a:t>
            </a:r>
            <a:r>
              <a:rPr lang="en-US" altLang="zh-CN" sz="2800" b="1" dirty="0">
                <a:latin typeface="Times New Roman" panose="02020603050405020304" pitchFamily="18" charset="0"/>
              </a:rPr>
              <a:t>, N, </a:t>
            </a:r>
            <a:r>
              <a:rPr lang="zh-CN" altLang="en-US" sz="2800" b="1" dirty="0">
                <a:latin typeface="Times New Roman" panose="02020603050405020304" pitchFamily="18" charset="0"/>
              </a:rPr>
              <a:t>天冬酰胺</a:t>
            </a:r>
          </a:p>
          <a:p>
            <a:pPr eaLnBrk="1" hangingPunct="1">
              <a:lnSpc>
                <a:spcPct val="150000"/>
              </a:lnSpc>
              <a:spcBef>
                <a:spcPct val="0"/>
              </a:spcBef>
              <a:buClrTx/>
              <a:buSzTx/>
              <a:buFontTx/>
              <a:buNone/>
            </a:pPr>
            <a:r>
              <a:rPr lang="en-US" altLang="zh-CN" sz="2800" b="1" dirty="0">
                <a:latin typeface="Times New Roman" panose="02020603050405020304" pitchFamily="18" charset="0"/>
              </a:rPr>
              <a:t>Gln, Q, </a:t>
            </a:r>
            <a:r>
              <a:rPr lang="zh-CN" altLang="en-US" sz="2800" b="1" dirty="0">
                <a:latin typeface="Times New Roman" panose="02020603050405020304" pitchFamily="18" charset="0"/>
              </a:rPr>
              <a:t>谷氨酰胺</a:t>
            </a:r>
          </a:p>
        </p:txBody>
      </p:sp>
      <p:pic>
        <p:nvPicPr>
          <p:cNvPr id="3" name="图片 2">
            <a:extLst>
              <a:ext uri="{FF2B5EF4-FFF2-40B4-BE49-F238E27FC236}">
                <a16:creationId xmlns:a16="http://schemas.microsoft.com/office/drawing/2014/main" id="{E0CC5C65-1ECA-4749-B680-4FECF254C8DD}"/>
              </a:ext>
            </a:extLst>
          </p:cNvPr>
          <p:cNvPicPr>
            <a:picLocks noChangeAspect="1"/>
          </p:cNvPicPr>
          <p:nvPr/>
        </p:nvPicPr>
        <p:blipFill>
          <a:blip r:embed="rId3"/>
          <a:stretch>
            <a:fillRect/>
          </a:stretch>
        </p:blipFill>
        <p:spPr>
          <a:xfrm>
            <a:off x="3129630" y="116632"/>
            <a:ext cx="5978421"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a:extLst>
              <a:ext uri="{FF2B5EF4-FFF2-40B4-BE49-F238E27FC236}">
                <a16:creationId xmlns:a16="http://schemas.microsoft.com/office/drawing/2014/main" id="{7E324618-3DC8-4927-A7C2-7169A49354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1219200"/>
            <a:ext cx="8026400"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Text Box 3">
            <a:extLst>
              <a:ext uri="{FF2B5EF4-FFF2-40B4-BE49-F238E27FC236}">
                <a16:creationId xmlns:a16="http://schemas.microsoft.com/office/drawing/2014/main" id="{A70A3C02-7C5C-4FB1-B467-DBA7F43CE609}"/>
              </a:ext>
            </a:extLst>
          </p:cNvPr>
          <p:cNvSpPr txBox="1">
            <a:spLocks noChangeArrowheads="1"/>
          </p:cNvSpPr>
          <p:nvPr/>
        </p:nvSpPr>
        <p:spPr bwMode="auto">
          <a:xfrm>
            <a:off x="0" y="5638800"/>
            <a:ext cx="8991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0" lang="en-US" altLang="zh-CN" sz="3600">
                <a:latin typeface="Times New Roman" panose="02020603050405020304" pitchFamily="18" charset="0"/>
              </a:rPr>
              <a:t>Cystine (</a:t>
            </a:r>
            <a:r>
              <a:rPr lang="zh-CN" altLang="en-US" sz="2800" b="1">
                <a:latin typeface="Times New Roman" panose="02020603050405020304" pitchFamily="18" charset="0"/>
              </a:rPr>
              <a:t>胱氨酸</a:t>
            </a:r>
            <a:r>
              <a:rPr kumimoji="0" lang="en-US" altLang="zh-CN" sz="3600">
                <a:latin typeface="Times New Roman" panose="02020603050405020304" pitchFamily="18" charset="0"/>
              </a:rPr>
              <a:t>) is a dimer of cysteine (</a:t>
            </a:r>
            <a:r>
              <a:rPr lang="zh-CN" altLang="en-US" sz="2800" b="1">
                <a:latin typeface="Times New Roman" panose="02020603050405020304" pitchFamily="18" charset="0"/>
              </a:rPr>
              <a:t>半胱氨酸</a:t>
            </a:r>
            <a:r>
              <a:rPr kumimoji="0" lang="en-US" altLang="zh-CN" sz="3600">
                <a:latin typeface="Times New Roman" panose="02020603050405020304" pitchFamily="18" charset="0"/>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a:extLst>
              <a:ext uri="{FF2B5EF4-FFF2-40B4-BE49-F238E27FC236}">
                <a16:creationId xmlns:a16="http://schemas.microsoft.com/office/drawing/2014/main" id="{3F3416DD-6424-4038-9D6F-79B93882DDDF}"/>
              </a:ext>
            </a:extLst>
          </p:cNvPr>
          <p:cNvSpPr txBox="1">
            <a:spLocks noChangeArrowheads="1"/>
          </p:cNvSpPr>
          <p:nvPr/>
        </p:nvSpPr>
        <p:spPr bwMode="auto">
          <a:xfrm>
            <a:off x="609600" y="581025"/>
            <a:ext cx="8534400" cy="627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80000"/>
              </a:lnSpc>
              <a:spcBef>
                <a:spcPct val="30000"/>
              </a:spcBef>
              <a:buClrTx/>
              <a:buSzTx/>
              <a:buFontTx/>
              <a:buNone/>
            </a:pPr>
            <a:r>
              <a:rPr lang="en-US" altLang="zh-CN" b="1" dirty="0">
                <a:latin typeface="Times New Roman" panose="02020603050405020304" pitchFamily="18" charset="0"/>
              </a:rPr>
              <a:t>2.3 </a:t>
            </a:r>
            <a:r>
              <a:rPr lang="en-US" altLang="zh-CN" b="1" dirty="0" err="1">
                <a:latin typeface="Times New Roman" panose="02020603050405020304" pitchFamily="18" charset="0"/>
              </a:rPr>
              <a:t>Phe</a:t>
            </a:r>
            <a:r>
              <a:rPr lang="en-US" altLang="zh-CN" b="1" dirty="0">
                <a:latin typeface="Times New Roman" panose="02020603050405020304" pitchFamily="18" charset="0"/>
              </a:rPr>
              <a:t>, Tyr, and </a:t>
            </a:r>
            <a:r>
              <a:rPr lang="en-US" altLang="zh-CN" b="1" dirty="0" err="1">
                <a:latin typeface="Times New Roman" panose="02020603050405020304" pitchFamily="18" charset="0"/>
              </a:rPr>
              <a:t>Trp</a:t>
            </a:r>
            <a:r>
              <a:rPr lang="en-US" altLang="zh-CN" b="1" dirty="0">
                <a:latin typeface="Times New Roman" panose="02020603050405020304" pitchFamily="18" charset="0"/>
              </a:rPr>
              <a:t> have aromatic (</a:t>
            </a:r>
            <a:r>
              <a:rPr lang="zh-CN" altLang="en-US" b="1" dirty="0">
                <a:latin typeface="Times New Roman" panose="02020603050405020304" pitchFamily="18" charset="0"/>
              </a:rPr>
              <a:t>芳香族</a:t>
            </a:r>
            <a:r>
              <a:rPr lang="en-US" altLang="zh-CN" b="1" dirty="0">
                <a:latin typeface="Times New Roman" panose="02020603050405020304" pitchFamily="18" charset="0"/>
              </a:rPr>
              <a:t>) </a:t>
            </a:r>
          </a:p>
          <a:p>
            <a:pPr eaLnBrk="1" hangingPunct="1">
              <a:lnSpc>
                <a:spcPct val="80000"/>
              </a:lnSpc>
              <a:spcBef>
                <a:spcPct val="30000"/>
              </a:spcBef>
              <a:buClrTx/>
              <a:buSzTx/>
              <a:buFontTx/>
              <a:buNone/>
            </a:pPr>
            <a:r>
              <a:rPr lang="en-US" altLang="zh-CN" b="1" dirty="0">
                <a:latin typeface="Times New Roman" panose="02020603050405020304" pitchFamily="18" charset="0"/>
              </a:rPr>
              <a:t>      R groups</a:t>
            </a:r>
          </a:p>
          <a:p>
            <a:pPr lvl="1" eaLnBrk="1" hangingPunct="1">
              <a:lnSpc>
                <a:spcPct val="120000"/>
              </a:lnSpc>
              <a:spcBef>
                <a:spcPct val="30000"/>
              </a:spcBef>
              <a:buClrTx/>
              <a:buSzTx/>
              <a:buFontTx/>
              <a:buChar char="•"/>
            </a:pPr>
            <a:r>
              <a:rPr lang="en-US" altLang="zh-CN" b="1" dirty="0" err="1">
                <a:latin typeface="Times New Roman" panose="02020603050405020304" pitchFamily="18" charset="0"/>
              </a:rPr>
              <a:t>Phe</a:t>
            </a:r>
            <a:r>
              <a:rPr lang="en-US" altLang="zh-CN" b="1" dirty="0">
                <a:latin typeface="Times New Roman" panose="02020603050405020304" pitchFamily="18" charset="0"/>
              </a:rPr>
              <a:t> and Tyr both have benzene rings.</a:t>
            </a:r>
          </a:p>
          <a:p>
            <a:pPr lvl="1" eaLnBrk="1" hangingPunct="1">
              <a:lnSpc>
                <a:spcPct val="120000"/>
              </a:lnSpc>
              <a:spcBef>
                <a:spcPct val="30000"/>
              </a:spcBef>
              <a:buClrTx/>
              <a:buSzTx/>
              <a:buFontTx/>
              <a:buChar char="•"/>
            </a:pPr>
            <a:r>
              <a:rPr lang="en-US" altLang="zh-CN" b="1" dirty="0">
                <a:latin typeface="Times New Roman" panose="02020603050405020304" pitchFamily="18" charset="0"/>
              </a:rPr>
              <a:t>Tryptophan has an indole ring</a:t>
            </a:r>
            <a:r>
              <a:rPr lang="zh-CN" altLang="en-US" b="1" dirty="0">
                <a:latin typeface="Times New Roman" panose="02020603050405020304" pitchFamily="18" charset="0"/>
              </a:rPr>
              <a:t>（</a:t>
            </a:r>
            <a:r>
              <a:rPr lang="zh-CN" altLang="en-US" dirty="0"/>
              <a:t>吲哚</a:t>
            </a:r>
            <a:r>
              <a:rPr lang="zh-CN" altLang="en-US" b="1" dirty="0">
                <a:latin typeface="Times New Roman" panose="02020603050405020304" pitchFamily="18" charset="0"/>
              </a:rPr>
              <a:t>）</a:t>
            </a:r>
            <a:r>
              <a:rPr lang="en-US" altLang="zh-CN" b="1" dirty="0">
                <a:latin typeface="Times New Roman" panose="02020603050405020304" pitchFamily="18" charset="0"/>
              </a:rPr>
              <a:t>.</a:t>
            </a:r>
          </a:p>
          <a:p>
            <a:pPr lvl="1" eaLnBrk="1" hangingPunct="1">
              <a:lnSpc>
                <a:spcPct val="120000"/>
              </a:lnSpc>
              <a:spcBef>
                <a:spcPct val="30000"/>
              </a:spcBef>
              <a:buClrTx/>
              <a:buSzTx/>
              <a:buFontTx/>
              <a:buChar char="•"/>
            </a:pPr>
            <a:r>
              <a:rPr lang="en-US" altLang="zh-CN" b="1" dirty="0">
                <a:latin typeface="Times New Roman" panose="02020603050405020304" pitchFamily="18" charset="0"/>
              </a:rPr>
              <a:t>All three participate in hydrophobic interactions.</a:t>
            </a:r>
          </a:p>
          <a:p>
            <a:pPr lvl="1" eaLnBrk="1" hangingPunct="1">
              <a:lnSpc>
                <a:spcPct val="120000"/>
              </a:lnSpc>
              <a:spcBef>
                <a:spcPct val="30000"/>
              </a:spcBef>
              <a:buClrTx/>
              <a:buSzTx/>
              <a:buFontTx/>
              <a:buChar char="•"/>
            </a:pPr>
            <a:r>
              <a:rPr lang="en-US" altLang="zh-CN" b="1" dirty="0">
                <a:latin typeface="Times New Roman" panose="02020603050405020304" pitchFamily="18" charset="0"/>
              </a:rPr>
              <a:t>The -OH group in Tyr is an important functional group in proteins. (phosphorylation, hydrogen bond, </a:t>
            </a:r>
            <a:r>
              <a:rPr lang="en-US" altLang="zh-CN" b="1" dirty="0" err="1">
                <a:latin typeface="Times New Roman" panose="02020603050405020304" pitchFamily="18" charset="0"/>
              </a:rPr>
              <a:t>etc</a:t>
            </a:r>
            <a:r>
              <a:rPr lang="en-US" altLang="zh-CN" b="1" dirty="0">
                <a:latin typeface="Times New Roman" panose="02020603050405020304" pitchFamily="18" charset="0"/>
              </a:rPr>
              <a:t>)</a:t>
            </a:r>
          </a:p>
          <a:p>
            <a:pPr lvl="1" eaLnBrk="1" hangingPunct="1">
              <a:lnSpc>
                <a:spcPct val="120000"/>
              </a:lnSpc>
              <a:spcBef>
                <a:spcPct val="30000"/>
              </a:spcBef>
              <a:buClrTx/>
              <a:buSzTx/>
              <a:buFontTx/>
              <a:buChar char="•"/>
            </a:pPr>
            <a:r>
              <a:rPr lang="en-US" altLang="zh-CN" b="1" dirty="0">
                <a:latin typeface="Times New Roman" panose="02020603050405020304" pitchFamily="18" charset="0"/>
              </a:rPr>
              <a:t>They are jointly responsible for the light absorption of proteins at 280 nm, a property used as a measure of the concentration of proteins.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a:extLst>
              <a:ext uri="{FF2B5EF4-FFF2-40B4-BE49-F238E27FC236}">
                <a16:creationId xmlns:a16="http://schemas.microsoft.com/office/drawing/2014/main" id="{681E0CC1-6380-416A-A355-9B6D21FE40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200" y="1066800"/>
            <a:ext cx="7721600" cy="523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1" name="Text Box 3">
            <a:extLst>
              <a:ext uri="{FF2B5EF4-FFF2-40B4-BE49-F238E27FC236}">
                <a16:creationId xmlns:a16="http://schemas.microsoft.com/office/drawing/2014/main" id="{1462E2B4-1E19-46C8-A00D-2679CFE2CD46}"/>
              </a:ext>
            </a:extLst>
          </p:cNvPr>
          <p:cNvSpPr txBox="1">
            <a:spLocks noChangeArrowheads="1"/>
          </p:cNvSpPr>
          <p:nvPr/>
        </p:nvSpPr>
        <p:spPr bwMode="auto">
          <a:xfrm>
            <a:off x="609600" y="228600"/>
            <a:ext cx="78057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Phe, F, </a:t>
            </a:r>
            <a:r>
              <a:rPr lang="zh-CN" altLang="en-US" sz="2800" b="1">
                <a:latin typeface="Times New Roman" panose="02020603050405020304" pitchFamily="18" charset="0"/>
              </a:rPr>
              <a:t>苯丙氨酸</a:t>
            </a:r>
            <a:r>
              <a:rPr lang="en-US" altLang="zh-CN" sz="2800" b="1">
                <a:latin typeface="Times New Roman" panose="02020603050405020304" pitchFamily="18" charset="0"/>
              </a:rPr>
              <a:t>; Tyr, Y, </a:t>
            </a:r>
            <a:r>
              <a:rPr lang="zh-CN" altLang="en-US" sz="2800" b="1">
                <a:latin typeface="Times New Roman" panose="02020603050405020304" pitchFamily="18" charset="0"/>
              </a:rPr>
              <a:t>酪氨酸</a:t>
            </a:r>
            <a:r>
              <a:rPr lang="en-US" altLang="zh-CN" sz="2800" b="1">
                <a:latin typeface="Times New Roman" panose="02020603050405020304" pitchFamily="18" charset="0"/>
              </a:rPr>
              <a:t>; Trp, W, </a:t>
            </a:r>
            <a:r>
              <a:rPr lang="zh-CN" altLang="en-US" sz="2800" b="1">
                <a:latin typeface="Times New Roman" panose="02020603050405020304" pitchFamily="18" charset="0"/>
              </a:rPr>
              <a:t>色氨酸</a:t>
            </a:r>
          </a:p>
        </p:txBody>
      </p:sp>
      <p:sp>
        <p:nvSpPr>
          <p:cNvPr id="5" name="文本框 4">
            <a:extLst>
              <a:ext uri="{FF2B5EF4-FFF2-40B4-BE49-F238E27FC236}">
                <a16:creationId xmlns:a16="http://schemas.microsoft.com/office/drawing/2014/main" id="{2DB3DCDC-7446-4D37-9AE1-2C5292BEB8D1}"/>
              </a:ext>
            </a:extLst>
          </p:cNvPr>
          <p:cNvSpPr txBox="1"/>
          <p:nvPr/>
        </p:nvSpPr>
        <p:spPr>
          <a:xfrm>
            <a:off x="1475656" y="4797152"/>
            <a:ext cx="1656184" cy="369332"/>
          </a:xfrm>
          <a:prstGeom prst="rect">
            <a:avLst/>
          </a:prstGeom>
          <a:noFill/>
        </p:spPr>
        <p:txBody>
          <a:bodyPr wrap="square">
            <a:spAutoFit/>
          </a:bodyPr>
          <a:lstStyle/>
          <a:p>
            <a:r>
              <a:rPr lang="en-US" altLang="zh-CN" b="1" dirty="0">
                <a:latin typeface="Times New Roman" panose="02020603050405020304" pitchFamily="18" charset="0"/>
              </a:rPr>
              <a:t>benzene ring</a:t>
            </a:r>
            <a:endParaRPr lang="zh-CN" altLang="en-US" dirty="0"/>
          </a:p>
        </p:txBody>
      </p:sp>
      <p:sp>
        <p:nvSpPr>
          <p:cNvPr id="7" name="文本框 6">
            <a:extLst>
              <a:ext uri="{FF2B5EF4-FFF2-40B4-BE49-F238E27FC236}">
                <a16:creationId xmlns:a16="http://schemas.microsoft.com/office/drawing/2014/main" id="{A3F79F41-0D21-4206-91DA-EF5057B279A1}"/>
              </a:ext>
            </a:extLst>
          </p:cNvPr>
          <p:cNvSpPr txBox="1"/>
          <p:nvPr/>
        </p:nvSpPr>
        <p:spPr>
          <a:xfrm>
            <a:off x="7631832" y="4293096"/>
            <a:ext cx="1512168" cy="369332"/>
          </a:xfrm>
          <a:prstGeom prst="rect">
            <a:avLst/>
          </a:prstGeom>
          <a:noFill/>
        </p:spPr>
        <p:txBody>
          <a:bodyPr wrap="square">
            <a:spAutoFit/>
          </a:bodyPr>
          <a:lstStyle/>
          <a:p>
            <a:r>
              <a:rPr lang="en-US" altLang="zh-CN" b="1" dirty="0">
                <a:latin typeface="Times New Roman" panose="02020603050405020304" pitchFamily="18" charset="0"/>
              </a:rPr>
              <a:t>indole ring</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5" name="Picture 3">
            <a:extLst>
              <a:ext uri="{FF2B5EF4-FFF2-40B4-BE49-F238E27FC236}">
                <a16:creationId xmlns:a16="http://schemas.microsoft.com/office/drawing/2014/main" id="{FAA24AD2-86C3-4AF9-89D4-10A75AE2A3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25400"/>
            <a:ext cx="8026400"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6" name="Rectangle 4">
            <a:extLst>
              <a:ext uri="{FF2B5EF4-FFF2-40B4-BE49-F238E27FC236}">
                <a16:creationId xmlns:a16="http://schemas.microsoft.com/office/drawing/2014/main" id="{53672D10-5DE6-4BF0-8777-22EF40BE7C80}"/>
              </a:ext>
            </a:extLst>
          </p:cNvPr>
          <p:cNvSpPr>
            <a:spLocks noChangeArrowheads="1"/>
          </p:cNvSpPr>
          <p:nvPr/>
        </p:nvSpPr>
        <p:spPr bwMode="auto">
          <a:xfrm>
            <a:off x="4572000" y="3886200"/>
            <a:ext cx="4267200" cy="265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80000"/>
              </a:lnSpc>
              <a:spcBef>
                <a:spcPct val="50000"/>
              </a:spcBef>
              <a:buClrTx/>
              <a:buSzTx/>
              <a:buFontTx/>
              <a:buNone/>
            </a:pPr>
            <a:r>
              <a:rPr lang="en-US" altLang="zh-CN" sz="2800" b="1">
                <a:latin typeface="Times New Roman" panose="02020603050405020304" pitchFamily="18" charset="0"/>
              </a:rPr>
              <a:t>Lambert-Beer’s law:</a:t>
            </a:r>
          </a:p>
          <a:p>
            <a:pPr eaLnBrk="1" hangingPunct="1">
              <a:lnSpc>
                <a:spcPct val="80000"/>
              </a:lnSpc>
              <a:spcBef>
                <a:spcPct val="50000"/>
              </a:spcBef>
              <a:buClrTx/>
              <a:buSzTx/>
              <a:buFontTx/>
              <a:buNone/>
            </a:pPr>
            <a:r>
              <a:rPr lang="en-US" altLang="zh-CN" sz="2800" b="1">
                <a:latin typeface="Times New Roman" panose="02020603050405020304" pitchFamily="18" charset="0"/>
              </a:rPr>
              <a:t>A=Log I</a:t>
            </a:r>
            <a:r>
              <a:rPr lang="en-US" altLang="zh-CN" sz="2800" b="1" baseline="-25000">
                <a:latin typeface="Times New Roman" panose="02020603050405020304" pitchFamily="18" charset="0"/>
              </a:rPr>
              <a:t>o</a:t>
            </a:r>
            <a:r>
              <a:rPr lang="en-US" altLang="zh-CN" sz="2800" b="1">
                <a:latin typeface="Times New Roman" panose="02020603050405020304" pitchFamily="18" charset="0"/>
              </a:rPr>
              <a:t>/I = </a:t>
            </a:r>
            <a:r>
              <a:rPr lang="en-US" altLang="zh-CN" sz="2800" b="1">
                <a:latin typeface="Symbol" panose="05050102010706020507" pitchFamily="18" charset="2"/>
              </a:rPr>
              <a:t>e</a:t>
            </a:r>
            <a:r>
              <a:rPr lang="en-US" altLang="zh-CN" sz="2800" b="1">
                <a:latin typeface="Times New Roman" panose="02020603050405020304" pitchFamily="18" charset="0"/>
              </a:rPr>
              <a:t>cl</a:t>
            </a:r>
          </a:p>
          <a:p>
            <a:pPr eaLnBrk="1" hangingPunct="1">
              <a:lnSpc>
                <a:spcPct val="80000"/>
              </a:lnSpc>
              <a:spcBef>
                <a:spcPct val="50000"/>
              </a:spcBef>
              <a:buClrTx/>
              <a:buSzTx/>
              <a:buFontTx/>
              <a:buNone/>
            </a:pPr>
            <a:r>
              <a:rPr lang="en-US" altLang="zh-CN" sz="2800" b="1">
                <a:latin typeface="Symbol" panose="05050102010706020507" pitchFamily="18" charset="2"/>
              </a:rPr>
              <a:t>e,</a:t>
            </a:r>
            <a:r>
              <a:rPr lang="en-US" altLang="zh-CN" sz="2800" b="1">
                <a:latin typeface="Times New Roman" panose="02020603050405020304" pitchFamily="18" charset="0"/>
              </a:rPr>
              <a:t> extinction coefficient; </a:t>
            </a:r>
          </a:p>
          <a:p>
            <a:pPr eaLnBrk="1" hangingPunct="1">
              <a:lnSpc>
                <a:spcPct val="80000"/>
              </a:lnSpc>
              <a:spcBef>
                <a:spcPct val="50000"/>
              </a:spcBef>
              <a:buClrTx/>
              <a:buSzTx/>
              <a:buFontTx/>
              <a:buNone/>
            </a:pPr>
            <a:r>
              <a:rPr lang="en-US" altLang="zh-CN" sz="2800" b="1">
                <a:latin typeface="Times New Roman" panose="02020603050405020304" pitchFamily="18" charset="0"/>
              </a:rPr>
              <a:t>c, concentration; </a:t>
            </a:r>
          </a:p>
          <a:p>
            <a:pPr eaLnBrk="1" hangingPunct="1">
              <a:lnSpc>
                <a:spcPct val="80000"/>
              </a:lnSpc>
              <a:spcBef>
                <a:spcPct val="50000"/>
              </a:spcBef>
              <a:buClrTx/>
              <a:buSzTx/>
              <a:buFontTx/>
              <a:buNone/>
            </a:pPr>
            <a:r>
              <a:rPr lang="en-US" altLang="zh-CN" sz="2800" b="1">
                <a:latin typeface="Times New Roman" panose="02020603050405020304" pitchFamily="18" charset="0"/>
              </a:rPr>
              <a:t>l, optical length</a:t>
            </a:r>
          </a:p>
        </p:txBody>
      </p:sp>
      <p:pic>
        <p:nvPicPr>
          <p:cNvPr id="3" name="图片 2">
            <a:extLst>
              <a:ext uri="{FF2B5EF4-FFF2-40B4-BE49-F238E27FC236}">
                <a16:creationId xmlns:a16="http://schemas.microsoft.com/office/drawing/2014/main" id="{4FC5CDE1-222F-B32D-493A-29F8022BBE2C}"/>
              </a:ext>
            </a:extLst>
          </p:cNvPr>
          <p:cNvPicPr>
            <a:picLocks noChangeAspect="1"/>
          </p:cNvPicPr>
          <p:nvPr/>
        </p:nvPicPr>
        <p:blipFill>
          <a:blip r:embed="rId4"/>
          <a:stretch>
            <a:fillRect/>
          </a:stretch>
        </p:blipFill>
        <p:spPr>
          <a:xfrm>
            <a:off x="553578" y="2708920"/>
            <a:ext cx="3603293" cy="395783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a:extLst>
              <a:ext uri="{FF2B5EF4-FFF2-40B4-BE49-F238E27FC236}">
                <a16:creationId xmlns:a16="http://schemas.microsoft.com/office/drawing/2014/main" id="{369D933B-5125-4338-80D1-8580E37B85FD}"/>
              </a:ext>
            </a:extLst>
          </p:cNvPr>
          <p:cNvSpPr txBox="1">
            <a:spLocks noChangeArrowheads="1"/>
          </p:cNvSpPr>
          <p:nvPr/>
        </p:nvSpPr>
        <p:spPr bwMode="auto">
          <a:xfrm>
            <a:off x="381000" y="457200"/>
            <a:ext cx="8534400" cy="578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80000"/>
              </a:lnSpc>
              <a:spcBef>
                <a:spcPct val="30000"/>
              </a:spcBef>
              <a:buClrTx/>
              <a:buSzTx/>
              <a:buFontTx/>
              <a:buNone/>
            </a:pPr>
            <a:r>
              <a:rPr lang="en-US" altLang="zh-CN" b="1" dirty="0">
                <a:latin typeface="Times New Roman" panose="02020603050405020304" pitchFamily="18" charset="0"/>
              </a:rPr>
              <a:t>2.4   Positively charged (basic) and negatively</a:t>
            </a:r>
          </a:p>
          <a:p>
            <a:pPr eaLnBrk="1" hangingPunct="1">
              <a:lnSpc>
                <a:spcPct val="80000"/>
              </a:lnSpc>
              <a:spcBef>
                <a:spcPct val="30000"/>
              </a:spcBef>
              <a:buClrTx/>
              <a:buSzTx/>
              <a:buFontTx/>
              <a:buNone/>
            </a:pPr>
            <a:r>
              <a:rPr lang="en-US" altLang="zh-CN" b="1" dirty="0">
                <a:latin typeface="Times New Roman" panose="02020603050405020304" pitchFamily="18" charset="0"/>
              </a:rPr>
              <a:t>        charged (acidic) R groups</a:t>
            </a:r>
          </a:p>
          <a:p>
            <a:pPr eaLnBrk="1" hangingPunct="1">
              <a:lnSpc>
                <a:spcPct val="80000"/>
              </a:lnSpc>
              <a:spcBef>
                <a:spcPct val="30000"/>
              </a:spcBef>
              <a:buClrTx/>
              <a:buSzTx/>
              <a:buFontTx/>
              <a:buNone/>
            </a:pPr>
            <a:endParaRPr lang="en-US" altLang="zh-CN" b="1" dirty="0">
              <a:latin typeface="Times New Roman" panose="02020603050405020304" pitchFamily="18" charset="0"/>
            </a:endParaRPr>
          </a:p>
          <a:p>
            <a:pPr lvl="1" eaLnBrk="1" hangingPunct="1">
              <a:lnSpc>
                <a:spcPct val="130000"/>
              </a:lnSpc>
              <a:spcBef>
                <a:spcPct val="30000"/>
              </a:spcBef>
              <a:buClrTx/>
              <a:buSzTx/>
              <a:buFontTx/>
              <a:buChar char="•"/>
            </a:pPr>
            <a:r>
              <a:rPr lang="en-US" altLang="zh-CN" b="1" u="sng" dirty="0">
                <a:latin typeface="Times New Roman" panose="02020603050405020304" pitchFamily="18" charset="0"/>
              </a:rPr>
              <a:t>The most hydrophilic R groups </a:t>
            </a:r>
            <a:r>
              <a:rPr lang="en-US" altLang="zh-CN" b="1" dirty="0">
                <a:latin typeface="Times New Roman" panose="02020603050405020304" pitchFamily="18" charset="0"/>
              </a:rPr>
              <a:t>are those either positively or negatively charged.</a:t>
            </a:r>
          </a:p>
          <a:p>
            <a:pPr lvl="1" eaLnBrk="1" hangingPunct="1">
              <a:lnSpc>
                <a:spcPct val="130000"/>
              </a:lnSpc>
              <a:spcBef>
                <a:spcPct val="50000"/>
              </a:spcBef>
              <a:buClrTx/>
              <a:buSzTx/>
              <a:buFontTx/>
              <a:buChar char="•"/>
            </a:pPr>
            <a:r>
              <a:rPr lang="en-US" altLang="zh-CN" b="1" dirty="0">
                <a:latin typeface="Times New Roman" panose="02020603050405020304" pitchFamily="18" charset="0"/>
              </a:rPr>
              <a:t>Asp and Glu have carboxyl in their R groups. They have net negative charge at pH 7.0, thus usually named as aspartate and glutamate (conjugate base names, instead of aspartic acid and glutamic acid, un-ionized form).</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DBAAD3F2-09AD-4FEF-B048-8DD02EFBD69B}"/>
              </a:ext>
            </a:extLst>
          </p:cNvPr>
          <p:cNvSpPr>
            <a:spLocks noGrp="1" noChangeArrowheads="1"/>
          </p:cNvSpPr>
          <p:nvPr>
            <p:ph type="body" idx="1"/>
          </p:nvPr>
        </p:nvSpPr>
        <p:spPr>
          <a:xfrm>
            <a:off x="533400" y="1143000"/>
            <a:ext cx="7772400" cy="4114800"/>
          </a:xfrm>
          <a:solidFill>
            <a:srgbClr val="FFFFCC"/>
          </a:solidFill>
        </p:spPr>
        <p:txBody>
          <a:bodyPr/>
          <a:lstStyle/>
          <a:p>
            <a:pPr lvl="1" eaLnBrk="1" hangingPunct="1">
              <a:lnSpc>
                <a:spcPct val="130000"/>
              </a:lnSpc>
              <a:spcBef>
                <a:spcPct val="50000"/>
              </a:spcBef>
              <a:buClrTx/>
              <a:buSzTx/>
              <a:buFontTx/>
              <a:buChar char="•"/>
            </a:pPr>
            <a:r>
              <a:rPr lang="en-US" altLang="zh-CN" sz="2400" b="1" dirty="0" err="1">
                <a:latin typeface="Times New Roman" panose="02020603050405020304" pitchFamily="18" charset="0"/>
              </a:rPr>
              <a:t>Arg</a:t>
            </a:r>
            <a:r>
              <a:rPr lang="en-US" altLang="zh-CN" sz="2400" b="1" dirty="0">
                <a:latin typeface="Times New Roman" panose="02020603050405020304" pitchFamily="18" charset="0"/>
              </a:rPr>
              <a:t>, Lys, and His have positively charged R groups at pH 7.0.</a:t>
            </a:r>
          </a:p>
          <a:p>
            <a:pPr lvl="2" eaLnBrk="1" hangingPunct="1">
              <a:lnSpc>
                <a:spcPct val="130000"/>
              </a:lnSpc>
              <a:spcBef>
                <a:spcPct val="50000"/>
              </a:spcBef>
              <a:buClrTx/>
              <a:buSzTx/>
              <a:buFontTx/>
              <a:buChar char="•"/>
            </a:pPr>
            <a:r>
              <a:rPr lang="en-US" altLang="zh-CN" b="1" dirty="0">
                <a:latin typeface="Times New Roman" panose="02020603050405020304" pitchFamily="18" charset="0"/>
              </a:rPr>
              <a:t>Their R groups contain </a:t>
            </a:r>
            <a:r>
              <a:rPr lang="en-US" altLang="zh-CN" b="1" dirty="0" err="1">
                <a:latin typeface="Times New Roman" panose="02020603050405020304" pitchFamily="18" charset="0"/>
              </a:rPr>
              <a:t>guanidino</a:t>
            </a:r>
            <a:r>
              <a:rPr lang="en-US" altLang="zh-CN" b="1" dirty="0">
                <a:latin typeface="Times New Roman" panose="02020603050405020304" pitchFamily="18" charset="0"/>
              </a:rPr>
              <a:t>(</a:t>
            </a:r>
            <a:r>
              <a:rPr lang="zh-CN" altLang="en-US" b="1" dirty="0">
                <a:latin typeface="Times New Roman" panose="02020603050405020304" pitchFamily="18" charset="0"/>
              </a:rPr>
              <a:t>胍基</a:t>
            </a:r>
            <a:r>
              <a:rPr lang="en-US" altLang="zh-CN" b="1" dirty="0">
                <a:latin typeface="Times New Roman" panose="02020603050405020304" pitchFamily="18" charset="0"/>
              </a:rPr>
              <a:t>), amino, imidazole(</a:t>
            </a:r>
            <a:r>
              <a:rPr lang="zh-CN" altLang="en-US" b="1" dirty="0">
                <a:latin typeface="Times New Roman" panose="02020603050405020304" pitchFamily="18" charset="0"/>
              </a:rPr>
              <a:t>咪唑基</a:t>
            </a:r>
            <a:r>
              <a:rPr lang="en-US" altLang="zh-CN" b="1" dirty="0">
                <a:latin typeface="Times New Roman" panose="02020603050405020304" pitchFamily="18" charset="0"/>
              </a:rPr>
              <a:t>) groups respectively.</a:t>
            </a:r>
          </a:p>
          <a:p>
            <a:pPr lvl="2" eaLnBrk="1" hangingPunct="1">
              <a:lnSpc>
                <a:spcPct val="130000"/>
              </a:lnSpc>
              <a:spcBef>
                <a:spcPct val="50000"/>
              </a:spcBef>
              <a:buClrTx/>
              <a:buSzTx/>
              <a:buFontTx/>
              <a:buChar char="•"/>
            </a:pPr>
            <a:r>
              <a:rPr lang="en-US" altLang="zh-CN" b="1" dirty="0">
                <a:latin typeface="Times New Roman" panose="02020603050405020304" pitchFamily="18" charset="0"/>
              </a:rPr>
              <a:t>The side chain of His can be positively or uncharged depending on the local environment near pH 7.0</a:t>
            </a:r>
            <a:endParaRPr lang="en-US" altLang="zh-CN" dirty="0">
              <a:latin typeface="Times New Roman" panose="02020603050405020304" pitchFamily="18" charset="0"/>
            </a:endParaRPr>
          </a:p>
          <a:p>
            <a:pPr eaLnBrk="1" hangingPunct="1">
              <a:lnSpc>
                <a:spcPct val="130000"/>
              </a:lnSpc>
            </a:pPr>
            <a:endParaRPr lang="zh-CN" alt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a:extLst>
              <a:ext uri="{FF2B5EF4-FFF2-40B4-BE49-F238E27FC236}">
                <a16:creationId xmlns:a16="http://schemas.microsoft.com/office/drawing/2014/main" id="{82A0DDB2-345E-4DE2-B0EC-B7E71F0318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016000"/>
            <a:ext cx="7213600" cy="538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1" name="Text Box 3">
            <a:extLst>
              <a:ext uri="{FF2B5EF4-FFF2-40B4-BE49-F238E27FC236}">
                <a16:creationId xmlns:a16="http://schemas.microsoft.com/office/drawing/2014/main" id="{A3242249-2FA4-4993-BD2D-6F12B0752C67}"/>
              </a:ext>
            </a:extLst>
          </p:cNvPr>
          <p:cNvSpPr txBox="1">
            <a:spLocks noChangeArrowheads="1"/>
          </p:cNvSpPr>
          <p:nvPr/>
        </p:nvSpPr>
        <p:spPr bwMode="auto">
          <a:xfrm>
            <a:off x="838200" y="219075"/>
            <a:ext cx="7362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Lys, K, </a:t>
            </a:r>
            <a:r>
              <a:rPr lang="zh-CN" altLang="en-US" sz="2800" b="1">
                <a:latin typeface="Times New Roman" panose="02020603050405020304" pitchFamily="18" charset="0"/>
              </a:rPr>
              <a:t>赖氨酸</a:t>
            </a:r>
            <a:r>
              <a:rPr lang="en-US" altLang="zh-CN" sz="2800" b="1">
                <a:latin typeface="Times New Roman" panose="02020603050405020304" pitchFamily="18" charset="0"/>
              </a:rPr>
              <a:t>; Arg, R, </a:t>
            </a:r>
            <a:r>
              <a:rPr lang="zh-CN" altLang="en-US" sz="2800" b="1">
                <a:latin typeface="Times New Roman" panose="02020603050405020304" pitchFamily="18" charset="0"/>
              </a:rPr>
              <a:t>精氨酸</a:t>
            </a:r>
            <a:r>
              <a:rPr lang="en-US" altLang="zh-CN" sz="2800" b="1">
                <a:latin typeface="Times New Roman" panose="02020603050405020304" pitchFamily="18" charset="0"/>
              </a:rPr>
              <a:t>; His, H, </a:t>
            </a:r>
            <a:r>
              <a:rPr lang="zh-CN" altLang="en-US" sz="2800" b="1">
                <a:latin typeface="Times New Roman" panose="02020603050405020304" pitchFamily="18" charset="0"/>
              </a:rPr>
              <a:t>组氨酸</a:t>
            </a:r>
          </a:p>
        </p:txBody>
      </p:sp>
      <p:sp>
        <p:nvSpPr>
          <p:cNvPr id="2" name="矩形 1">
            <a:extLst>
              <a:ext uri="{FF2B5EF4-FFF2-40B4-BE49-F238E27FC236}">
                <a16:creationId xmlns:a16="http://schemas.microsoft.com/office/drawing/2014/main" id="{0E479F0D-DCDF-47B4-B886-B78E5EA5EA63}"/>
              </a:ext>
            </a:extLst>
          </p:cNvPr>
          <p:cNvSpPr/>
          <p:nvPr/>
        </p:nvSpPr>
        <p:spPr>
          <a:xfrm>
            <a:off x="3624174" y="6269593"/>
            <a:ext cx="1790875" cy="369332"/>
          </a:xfrm>
          <a:prstGeom prst="rect">
            <a:avLst/>
          </a:prstGeom>
        </p:spPr>
        <p:txBody>
          <a:bodyPr wrap="none">
            <a:spAutoFit/>
          </a:bodyPr>
          <a:lstStyle/>
          <a:p>
            <a:r>
              <a:rPr lang="en-US" altLang="zh-CN" b="1" dirty="0" err="1">
                <a:latin typeface="Times New Roman" panose="02020603050405020304" pitchFamily="18" charset="0"/>
              </a:rPr>
              <a:t>guanidino</a:t>
            </a:r>
            <a:r>
              <a:rPr lang="en-US" altLang="zh-CN" b="1" dirty="0">
                <a:latin typeface="Times New Roman" panose="02020603050405020304" pitchFamily="18" charset="0"/>
              </a:rPr>
              <a:t>(</a:t>
            </a:r>
            <a:r>
              <a:rPr lang="zh-CN" altLang="en-US" b="1" dirty="0">
                <a:latin typeface="Times New Roman" panose="02020603050405020304" pitchFamily="18" charset="0"/>
              </a:rPr>
              <a:t>胍基</a:t>
            </a:r>
            <a:r>
              <a:rPr lang="en-US" altLang="zh-CN" b="1" dirty="0">
                <a:latin typeface="Times New Roman" panose="02020603050405020304" pitchFamily="18" charset="0"/>
              </a:rPr>
              <a:t>)</a:t>
            </a:r>
            <a:endParaRPr lang="zh-CN" altLang="en-US" dirty="0"/>
          </a:p>
        </p:txBody>
      </p:sp>
      <p:sp>
        <p:nvSpPr>
          <p:cNvPr id="3" name="矩形 2">
            <a:extLst>
              <a:ext uri="{FF2B5EF4-FFF2-40B4-BE49-F238E27FC236}">
                <a16:creationId xmlns:a16="http://schemas.microsoft.com/office/drawing/2014/main" id="{C2B8A48B-CF8E-43FD-A4FB-77E550459122}"/>
              </a:ext>
            </a:extLst>
          </p:cNvPr>
          <p:cNvSpPr/>
          <p:nvPr/>
        </p:nvSpPr>
        <p:spPr>
          <a:xfrm>
            <a:off x="5940152" y="6300028"/>
            <a:ext cx="2042547" cy="369332"/>
          </a:xfrm>
          <a:prstGeom prst="rect">
            <a:avLst/>
          </a:prstGeom>
        </p:spPr>
        <p:txBody>
          <a:bodyPr wrap="none">
            <a:spAutoFit/>
          </a:bodyPr>
          <a:lstStyle/>
          <a:p>
            <a:r>
              <a:rPr lang="en-US" altLang="zh-CN" b="1" dirty="0">
                <a:latin typeface="Times New Roman" panose="02020603050405020304" pitchFamily="18" charset="0"/>
              </a:rPr>
              <a:t>imidazole(</a:t>
            </a:r>
            <a:r>
              <a:rPr lang="zh-CN" altLang="en-US" b="1" dirty="0">
                <a:latin typeface="Times New Roman" panose="02020603050405020304" pitchFamily="18" charset="0"/>
              </a:rPr>
              <a:t>咪唑基</a:t>
            </a:r>
            <a:r>
              <a:rPr lang="en-US" altLang="zh-CN" b="1" dirty="0">
                <a:latin typeface="Times New Roman" panose="02020603050405020304" pitchFamily="18" charset="0"/>
              </a:rPr>
              <a:t>) </a:t>
            </a:r>
            <a:endParaRPr lang="zh-CN" altLang="en-US" dirty="0"/>
          </a:p>
        </p:txBody>
      </p:sp>
      <p:sp>
        <p:nvSpPr>
          <p:cNvPr id="4" name="矩形: 圆角 3">
            <a:extLst>
              <a:ext uri="{FF2B5EF4-FFF2-40B4-BE49-F238E27FC236}">
                <a16:creationId xmlns:a16="http://schemas.microsoft.com/office/drawing/2014/main" id="{16D0C93A-6169-4699-88F9-A4FF013C18AD}"/>
              </a:ext>
            </a:extLst>
          </p:cNvPr>
          <p:cNvSpPr/>
          <p:nvPr/>
        </p:nvSpPr>
        <p:spPr>
          <a:xfrm>
            <a:off x="4067944" y="4293096"/>
            <a:ext cx="1440160" cy="154890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a:extLst>
              <a:ext uri="{FF2B5EF4-FFF2-40B4-BE49-F238E27FC236}">
                <a16:creationId xmlns:a16="http://schemas.microsoft.com/office/drawing/2014/main" id="{9B7BFC00-DFDA-4E10-AAB6-C740E41175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000" y="1016000"/>
            <a:ext cx="6350000" cy="538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Text Box 3">
            <a:extLst>
              <a:ext uri="{FF2B5EF4-FFF2-40B4-BE49-F238E27FC236}">
                <a16:creationId xmlns:a16="http://schemas.microsoft.com/office/drawing/2014/main" id="{A4DCCD36-5DEA-45F3-9642-89E07A2E8896}"/>
              </a:ext>
            </a:extLst>
          </p:cNvPr>
          <p:cNvSpPr txBox="1">
            <a:spLocks noChangeArrowheads="1"/>
          </p:cNvSpPr>
          <p:nvPr/>
        </p:nvSpPr>
        <p:spPr bwMode="auto">
          <a:xfrm>
            <a:off x="1981200" y="242888"/>
            <a:ext cx="5097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Asp, D,</a:t>
            </a:r>
            <a:r>
              <a:rPr lang="zh-CN" altLang="en-US" sz="2800" b="1">
                <a:latin typeface="Times New Roman" panose="02020603050405020304" pitchFamily="18" charset="0"/>
              </a:rPr>
              <a:t>天冬氨酸</a:t>
            </a:r>
            <a:r>
              <a:rPr lang="en-US" altLang="zh-CN" sz="2800" b="1">
                <a:latin typeface="Times New Roman" panose="02020603050405020304" pitchFamily="18" charset="0"/>
              </a:rPr>
              <a:t>; Glu, E,</a:t>
            </a:r>
            <a:r>
              <a:rPr lang="zh-CN" altLang="en-US" sz="2800" b="1">
                <a:latin typeface="Times New Roman" panose="02020603050405020304" pitchFamily="18" charset="0"/>
              </a:rPr>
              <a:t>谷氨酸</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7FDF5B56-7A1D-4DEE-A758-B036AF39F9E7}"/>
              </a:ext>
            </a:extLst>
          </p:cNvPr>
          <p:cNvPicPr>
            <a:picLocks noChangeAspect="1"/>
          </p:cNvPicPr>
          <p:nvPr/>
        </p:nvPicPr>
        <p:blipFill>
          <a:blip r:embed="rId3"/>
          <a:stretch>
            <a:fillRect/>
          </a:stretch>
        </p:blipFill>
        <p:spPr>
          <a:xfrm>
            <a:off x="503104" y="-78129"/>
            <a:ext cx="7282619" cy="6858000"/>
          </a:xfrm>
          <a:prstGeom prst="rect">
            <a:avLst/>
          </a:prstGeom>
        </p:spPr>
      </p:pic>
      <p:sp>
        <p:nvSpPr>
          <p:cNvPr id="2" name="文本框 1">
            <a:extLst>
              <a:ext uri="{FF2B5EF4-FFF2-40B4-BE49-F238E27FC236}">
                <a16:creationId xmlns:a16="http://schemas.microsoft.com/office/drawing/2014/main" id="{FD0E46FE-1F6F-49C6-AEB0-7C8C2FADE0ED}"/>
              </a:ext>
            </a:extLst>
          </p:cNvPr>
          <p:cNvSpPr txBox="1"/>
          <p:nvPr/>
        </p:nvSpPr>
        <p:spPr>
          <a:xfrm>
            <a:off x="8316416" y="6165304"/>
            <a:ext cx="720080" cy="369332"/>
          </a:xfrm>
          <a:prstGeom prst="rect">
            <a:avLst/>
          </a:prstGeom>
          <a:noFill/>
        </p:spPr>
        <p:txBody>
          <a:bodyPr wrap="square" rtlCol="0">
            <a:spAutoFit/>
          </a:bodyPr>
          <a:lstStyle/>
          <a:p>
            <a:r>
              <a:rPr lang="en-US" altLang="zh-CN" dirty="0">
                <a:hlinkClick r:id="rId4" action="ppaction://hlinksldjump"/>
              </a:rPr>
              <a:t>next</a:t>
            </a:r>
            <a:endParaRPr lang="zh-CN" altLang="en-US" dirty="0"/>
          </a:p>
        </p:txBody>
      </p:sp>
      <p:sp>
        <p:nvSpPr>
          <p:cNvPr id="4" name="矩形 3">
            <a:extLst>
              <a:ext uri="{FF2B5EF4-FFF2-40B4-BE49-F238E27FC236}">
                <a16:creationId xmlns:a16="http://schemas.microsoft.com/office/drawing/2014/main" id="{3474A175-90C9-4692-84E4-C9612E550B3C}"/>
              </a:ext>
            </a:extLst>
          </p:cNvPr>
          <p:cNvSpPr/>
          <p:nvPr/>
        </p:nvSpPr>
        <p:spPr>
          <a:xfrm>
            <a:off x="5447660" y="4653136"/>
            <a:ext cx="1428596" cy="307777"/>
          </a:xfrm>
          <a:prstGeom prst="rect">
            <a:avLst/>
          </a:prstGeom>
        </p:spPr>
        <p:txBody>
          <a:bodyPr wrap="none">
            <a:spAutoFit/>
          </a:bodyPr>
          <a:lstStyle/>
          <a:p>
            <a:r>
              <a:rPr lang="en-US" altLang="zh-CN" sz="1400" b="1" dirty="0" err="1">
                <a:latin typeface="Times New Roman" panose="02020603050405020304" pitchFamily="18" charset="0"/>
              </a:rPr>
              <a:t>guanidino</a:t>
            </a:r>
            <a:r>
              <a:rPr lang="en-US" altLang="zh-CN" sz="1400" b="1" dirty="0">
                <a:latin typeface="Times New Roman" panose="02020603050405020304" pitchFamily="18" charset="0"/>
              </a:rPr>
              <a:t>(</a:t>
            </a:r>
            <a:r>
              <a:rPr lang="zh-CN" altLang="en-US" sz="1400" b="1" dirty="0">
                <a:latin typeface="Times New Roman" panose="02020603050405020304" pitchFamily="18" charset="0"/>
              </a:rPr>
              <a:t>胍基</a:t>
            </a:r>
            <a:r>
              <a:rPr lang="en-US" altLang="zh-CN" sz="1400" b="1" dirty="0">
                <a:latin typeface="Times New Roman" panose="02020603050405020304" pitchFamily="18" charset="0"/>
              </a:rPr>
              <a:t>)</a:t>
            </a:r>
            <a:endParaRPr lang="zh-CN" altLang="en-US" sz="1400" dirty="0"/>
          </a:p>
        </p:txBody>
      </p:sp>
      <p:sp>
        <p:nvSpPr>
          <p:cNvPr id="5" name="矩形 4">
            <a:extLst>
              <a:ext uri="{FF2B5EF4-FFF2-40B4-BE49-F238E27FC236}">
                <a16:creationId xmlns:a16="http://schemas.microsoft.com/office/drawing/2014/main" id="{ABE10465-369B-4D24-8E46-ACE72F8E1A16}"/>
              </a:ext>
            </a:extLst>
          </p:cNvPr>
          <p:cNvSpPr/>
          <p:nvPr/>
        </p:nvSpPr>
        <p:spPr>
          <a:xfrm>
            <a:off x="6948264" y="4705399"/>
            <a:ext cx="1624163" cy="307777"/>
          </a:xfrm>
          <a:prstGeom prst="rect">
            <a:avLst/>
          </a:prstGeom>
        </p:spPr>
        <p:txBody>
          <a:bodyPr wrap="none">
            <a:spAutoFit/>
          </a:bodyPr>
          <a:lstStyle/>
          <a:p>
            <a:r>
              <a:rPr lang="en-US" altLang="zh-CN" sz="1400" b="1" dirty="0">
                <a:latin typeface="Times New Roman" panose="02020603050405020304" pitchFamily="18" charset="0"/>
              </a:rPr>
              <a:t>imidazole(</a:t>
            </a:r>
            <a:r>
              <a:rPr lang="zh-CN" altLang="en-US" sz="1400" b="1" dirty="0">
                <a:latin typeface="Times New Roman" panose="02020603050405020304" pitchFamily="18" charset="0"/>
              </a:rPr>
              <a:t>咪唑基</a:t>
            </a:r>
            <a:r>
              <a:rPr lang="en-US" altLang="zh-CN" sz="1400" b="1" dirty="0">
                <a:latin typeface="Times New Roman" panose="02020603050405020304" pitchFamily="18" charset="0"/>
              </a:rPr>
              <a:t>) </a:t>
            </a:r>
            <a:endParaRPr lang="zh-CN" altLang="en-US" sz="1400" dirty="0"/>
          </a:p>
        </p:txBody>
      </p:sp>
      <p:sp>
        <p:nvSpPr>
          <p:cNvPr id="3" name="矩形 2">
            <a:extLst>
              <a:ext uri="{FF2B5EF4-FFF2-40B4-BE49-F238E27FC236}">
                <a16:creationId xmlns:a16="http://schemas.microsoft.com/office/drawing/2014/main" id="{853DF10C-880C-46D3-B5B7-A24C9C1F74EB}"/>
              </a:ext>
            </a:extLst>
          </p:cNvPr>
          <p:cNvSpPr/>
          <p:nvPr/>
        </p:nvSpPr>
        <p:spPr>
          <a:xfrm>
            <a:off x="7236296" y="980728"/>
            <a:ext cx="2016224" cy="569708"/>
          </a:xfrm>
          <a:prstGeom prst="rect">
            <a:avLst/>
          </a:prstGeom>
        </p:spPr>
        <p:txBody>
          <a:bodyPr wrap="square">
            <a:spAutoFit/>
          </a:bodyPr>
          <a:lstStyle/>
          <a:p>
            <a:pPr lvl="1" eaLnBrk="1" hangingPunct="1">
              <a:lnSpc>
                <a:spcPct val="120000"/>
              </a:lnSpc>
              <a:spcBef>
                <a:spcPct val="30000"/>
              </a:spcBef>
              <a:buClrTx/>
              <a:buSzTx/>
              <a:buFontTx/>
              <a:buChar char="•"/>
            </a:pPr>
            <a:r>
              <a:rPr lang="en-US" altLang="zh-CN" sz="1200" b="1" dirty="0">
                <a:latin typeface="Times New Roman" panose="02020603050405020304" pitchFamily="18" charset="0"/>
              </a:rPr>
              <a:t>benzene rings.</a:t>
            </a:r>
          </a:p>
          <a:p>
            <a:pPr lvl="1" eaLnBrk="1" hangingPunct="1">
              <a:lnSpc>
                <a:spcPct val="120000"/>
              </a:lnSpc>
              <a:spcBef>
                <a:spcPct val="30000"/>
              </a:spcBef>
              <a:buClrTx/>
              <a:buSzTx/>
              <a:buFontTx/>
              <a:buChar char="•"/>
            </a:pPr>
            <a:r>
              <a:rPr lang="en-US" altLang="zh-CN" sz="1200" b="1" dirty="0">
                <a:latin typeface="Times New Roman" panose="02020603050405020304" pitchFamily="18" charset="0"/>
              </a:rPr>
              <a:t>indole ring</a:t>
            </a:r>
            <a:r>
              <a:rPr lang="zh-CN" altLang="en-US" sz="1200" b="1" dirty="0">
                <a:latin typeface="Times New Roman" panose="02020603050405020304" pitchFamily="18" charset="0"/>
              </a:rPr>
              <a:t>（</a:t>
            </a:r>
            <a:r>
              <a:rPr lang="zh-CN" altLang="en-US" sz="1200" dirty="0"/>
              <a:t>吲哚</a:t>
            </a:r>
            <a:r>
              <a:rPr lang="zh-CN" altLang="en-US" sz="1200" b="1" dirty="0">
                <a:latin typeface="Times New Roman" panose="02020603050405020304" pitchFamily="18" charset="0"/>
              </a:rPr>
              <a:t>）</a:t>
            </a:r>
            <a:endParaRPr lang="zh-CN" alt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a:extLst>
              <a:ext uri="{FF2B5EF4-FFF2-40B4-BE49-F238E27FC236}">
                <a16:creationId xmlns:a16="http://schemas.microsoft.com/office/drawing/2014/main" id="{B84F349E-66C1-4B5C-B500-E4F1D6FDCC0E}"/>
              </a:ext>
            </a:extLst>
          </p:cNvPr>
          <p:cNvSpPr txBox="1">
            <a:spLocks noChangeArrowheads="1"/>
          </p:cNvSpPr>
          <p:nvPr/>
        </p:nvSpPr>
        <p:spPr bwMode="auto">
          <a:xfrm>
            <a:off x="827088" y="733425"/>
            <a:ext cx="8181975" cy="54324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a:latin typeface="Times New Roman" panose="02020603050405020304" pitchFamily="18" charset="0"/>
              </a:rPr>
              <a:t>3. Nonstandard amino acids are found in certain proteins, generally as a result of post-translational modifications.</a:t>
            </a:r>
          </a:p>
          <a:p>
            <a:pPr lvl="1" eaLnBrk="1" hangingPunct="1">
              <a:spcBef>
                <a:spcPct val="50000"/>
              </a:spcBef>
              <a:buClrTx/>
              <a:buSzTx/>
              <a:buFontTx/>
              <a:buChar char="•"/>
            </a:pPr>
            <a:r>
              <a:rPr lang="en-US" altLang="zh-CN" b="1">
                <a:latin typeface="Times New Roman" panose="02020603050405020304" pitchFamily="18" charset="0"/>
              </a:rPr>
              <a:t>4-Hydroxyglutamate and 5-hydroxylysine in collagen(</a:t>
            </a:r>
            <a:r>
              <a:rPr lang="zh-CN" altLang="en-US" b="1">
                <a:latin typeface="Times New Roman" panose="02020603050405020304" pitchFamily="18" charset="0"/>
              </a:rPr>
              <a:t>胶原</a:t>
            </a:r>
            <a:r>
              <a:rPr lang="en-US" altLang="zh-CN" b="1">
                <a:latin typeface="Times New Roman" panose="02020603050405020304" pitchFamily="18" charset="0"/>
              </a:rPr>
              <a:t>). </a:t>
            </a:r>
          </a:p>
          <a:p>
            <a:pPr lvl="1" eaLnBrk="1" hangingPunct="1">
              <a:spcBef>
                <a:spcPct val="50000"/>
              </a:spcBef>
              <a:buClrTx/>
              <a:buSzTx/>
              <a:buFontTx/>
              <a:buChar char="•"/>
            </a:pPr>
            <a:r>
              <a:rPr lang="en-US" altLang="zh-CN" b="1">
                <a:latin typeface="Times New Roman" panose="02020603050405020304" pitchFamily="18" charset="0"/>
              </a:rPr>
              <a:t> </a:t>
            </a:r>
            <a:r>
              <a:rPr lang="en-US" altLang="zh-CN" b="1">
                <a:latin typeface="Symbol" panose="05050102010706020507" pitchFamily="18" charset="2"/>
              </a:rPr>
              <a:t>g</a:t>
            </a:r>
            <a:r>
              <a:rPr lang="en-US" altLang="zh-CN" b="1">
                <a:latin typeface="Times New Roman" panose="02020603050405020304" pitchFamily="18" charset="0"/>
              </a:rPr>
              <a:t>-carboxyglutamate is found in the blood-clotting prothrombin (</a:t>
            </a:r>
            <a:r>
              <a:rPr lang="zh-CN" altLang="en-US" b="1">
                <a:latin typeface="Times New Roman" panose="02020603050405020304" pitchFamily="18" charset="0"/>
              </a:rPr>
              <a:t>凝血酶原</a:t>
            </a:r>
            <a:r>
              <a:rPr lang="en-US" altLang="zh-CN" b="1">
                <a:latin typeface="Times New Roman" panose="02020603050405020304" pitchFamily="18" charset="0"/>
              </a:rPr>
              <a:t>,an enzyme).</a:t>
            </a:r>
          </a:p>
          <a:p>
            <a:pPr lvl="1" eaLnBrk="1" hangingPunct="1">
              <a:spcBef>
                <a:spcPct val="50000"/>
              </a:spcBef>
              <a:buClrTx/>
              <a:buSzTx/>
              <a:buFontTx/>
              <a:buChar char="•"/>
            </a:pPr>
            <a:r>
              <a:rPr lang="en-US" altLang="zh-CN" b="1">
                <a:latin typeface="Times New Roman" panose="02020603050405020304" pitchFamily="18" charset="0"/>
              </a:rPr>
              <a:t>Many additional nonstandard amino acids are found in cells, but not in proteins (e.g., </a:t>
            </a:r>
            <a:r>
              <a:rPr lang="en-US" altLang="zh-CN" b="1">
                <a:solidFill>
                  <a:schemeClr val="hlink"/>
                </a:solidFill>
                <a:latin typeface="Times New Roman" panose="02020603050405020304" pitchFamily="18" charset="0"/>
              </a:rPr>
              <a:t>ornithine</a:t>
            </a:r>
            <a:r>
              <a:rPr lang="zh-CN" altLang="en-US" b="1">
                <a:latin typeface="Times New Roman" panose="02020603050405020304" pitchFamily="18" charset="0"/>
              </a:rPr>
              <a:t>鸟氨酸</a:t>
            </a:r>
            <a:r>
              <a:rPr lang="en-US" altLang="zh-CN" b="1">
                <a:latin typeface="Times New Roman" panose="02020603050405020304" pitchFamily="18" charset="0"/>
              </a:rPr>
              <a:t>and </a:t>
            </a:r>
            <a:r>
              <a:rPr lang="en-US" altLang="zh-CN" b="1">
                <a:solidFill>
                  <a:schemeClr val="hlink"/>
                </a:solidFill>
                <a:latin typeface="Times New Roman" panose="02020603050405020304" pitchFamily="18" charset="0"/>
              </a:rPr>
              <a:t>citrulline</a:t>
            </a:r>
            <a:r>
              <a:rPr lang="zh-CN" altLang="en-US" b="1">
                <a:latin typeface="Times New Roman" panose="02020603050405020304" pitchFamily="18" charset="0"/>
              </a:rPr>
              <a:t>瓜氨酸</a:t>
            </a:r>
            <a:r>
              <a:rPr lang="en-US" altLang="zh-CN" b="1">
                <a:latin typeface="Times New Roman" panose="02020603050405020304" pitchFamily="18" charset="0"/>
              </a:rPr>
              <a:t>, intermediates in amino acid metabolism).</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2">
            <a:extLst>
              <a:ext uri="{FF2B5EF4-FFF2-40B4-BE49-F238E27FC236}">
                <a16:creationId xmlns:a16="http://schemas.microsoft.com/office/drawing/2014/main" id="{FED770E1-44F4-4386-AE57-B6EB70E458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8600"/>
            <a:ext cx="8585200" cy="543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a:extLst>
              <a:ext uri="{FF2B5EF4-FFF2-40B4-BE49-F238E27FC236}">
                <a16:creationId xmlns:a16="http://schemas.microsoft.com/office/drawing/2014/main" id="{B0364814-5E95-4A35-ACFD-2337B4078F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977900"/>
            <a:ext cx="8026400"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79" name="Picture 3" descr="j0293234">
            <a:hlinkClick r:id="rId4" action="ppaction://hlinksldjump"/>
            <a:extLst>
              <a:ext uri="{FF2B5EF4-FFF2-40B4-BE49-F238E27FC236}">
                <a16:creationId xmlns:a16="http://schemas.microsoft.com/office/drawing/2014/main" id="{3B2419A1-34A8-495F-BEB5-1026FEF3D37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85113" y="5876925"/>
            <a:ext cx="1042987"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2B2BAA5-B966-4406-B1CE-748E97643178}"/>
              </a:ext>
            </a:extLst>
          </p:cNvPr>
          <p:cNvSpPr>
            <a:spLocks noGrp="1" noChangeArrowheads="1"/>
          </p:cNvSpPr>
          <p:nvPr>
            <p:ph type="title"/>
          </p:nvPr>
        </p:nvSpPr>
        <p:spPr/>
        <p:txBody>
          <a:bodyPr/>
          <a:lstStyle/>
          <a:p>
            <a:pPr eaLnBrk="1" hangingPunct="1"/>
            <a:r>
              <a:rPr lang="en-US" altLang="zh-CN"/>
              <a:t>Two additional amino acids have been identified</a:t>
            </a:r>
          </a:p>
        </p:txBody>
      </p:sp>
      <p:sp>
        <p:nvSpPr>
          <p:cNvPr id="72707" name="Text Box 3">
            <a:extLst>
              <a:ext uri="{FF2B5EF4-FFF2-40B4-BE49-F238E27FC236}">
                <a16:creationId xmlns:a16="http://schemas.microsoft.com/office/drawing/2014/main" id="{6594B022-7222-4EAC-A97C-7884EBEECCF7}"/>
              </a:ext>
            </a:extLst>
          </p:cNvPr>
          <p:cNvSpPr txBox="1">
            <a:spLocks noChangeArrowheads="1"/>
          </p:cNvSpPr>
          <p:nvPr/>
        </p:nvSpPr>
        <p:spPr bwMode="auto">
          <a:xfrm>
            <a:off x="822325" y="27844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kumimoji="0" lang="zh-CN" altLang="en-US" sz="2400">
              <a:latin typeface="Times New Roman" panose="02020603050405020304" pitchFamily="18" charset="0"/>
            </a:endParaRPr>
          </a:p>
        </p:txBody>
      </p:sp>
      <p:sp>
        <p:nvSpPr>
          <p:cNvPr id="72708" name="Text Box 4">
            <a:extLst>
              <a:ext uri="{FF2B5EF4-FFF2-40B4-BE49-F238E27FC236}">
                <a16:creationId xmlns:a16="http://schemas.microsoft.com/office/drawing/2014/main" id="{B349BEED-35E4-4169-BB35-B2A04721E475}"/>
              </a:ext>
            </a:extLst>
          </p:cNvPr>
          <p:cNvSpPr txBox="1">
            <a:spLocks noChangeArrowheads="1"/>
          </p:cNvSpPr>
          <p:nvPr/>
        </p:nvSpPr>
        <p:spPr bwMode="auto">
          <a:xfrm>
            <a:off x="1066800" y="2057400"/>
            <a:ext cx="7548563"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0" lang="en-US" altLang="zh-CN" b="1" dirty="0">
                <a:solidFill>
                  <a:srgbClr val="0000FF"/>
                </a:solidFill>
                <a:latin typeface="Times New Roman" panose="02020603050405020304" pitchFamily="18" charset="0"/>
              </a:rPr>
              <a:t>Selenocysteine(</a:t>
            </a:r>
            <a:r>
              <a:rPr kumimoji="0" lang="zh-CN" altLang="en-US" b="1" dirty="0">
                <a:solidFill>
                  <a:srgbClr val="0000FF"/>
                </a:solidFill>
                <a:latin typeface="Times New Roman" panose="02020603050405020304" pitchFamily="18" charset="0"/>
              </a:rPr>
              <a:t>硒代半胱氨酸</a:t>
            </a:r>
            <a:r>
              <a:rPr kumimoji="0" lang="en-US" altLang="zh-CN" b="1" dirty="0">
                <a:solidFill>
                  <a:srgbClr val="0000FF"/>
                </a:solidFill>
                <a:latin typeface="Times New Roman" panose="02020603050405020304" pitchFamily="18" charset="0"/>
              </a:rPr>
              <a:t>)</a:t>
            </a:r>
            <a:r>
              <a:rPr kumimoji="0" lang="en-US" altLang="zh-CN" sz="2800" dirty="0">
                <a:latin typeface="Times New Roman" panose="02020603050405020304" pitchFamily="18" charset="0"/>
              </a:rPr>
              <a:t>: encoded by the RNA nucleotide triplet UGA found in Archaea, eubacteria and animals including mammals.</a:t>
            </a:r>
          </a:p>
          <a:p>
            <a:pPr eaLnBrk="1" hangingPunct="1">
              <a:spcBef>
                <a:spcPct val="0"/>
              </a:spcBef>
              <a:buClrTx/>
              <a:buSzTx/>
              <a:buFontTx/>
              <a:buNone/>
            </a:pPr>
            <a:endParaRPr kumimoji="0" lang="en-US" altLang="zh-CN" sz="2800" dirty="0">
              <a:latin typeface="Times New Roman" panose="02020603050405020304" pitchFamily="18" charset="0"/>
            </a:endParaRPr>
          </a:p>
          <a:p>
            <a:pPr eaLnBrk="1" hangingPunct="1">
              <a:spcBef>
                <a:spcPct val="0"/>
              </a:spcBef>
              <a:buClrTx/>
              <a:buSzTx/>
              <a:buFontTx/>
              <a:buNone/>
            </a:pPr>
            <a:r>
              <a:rPr kumimoji="0" lang="en-US" altLang="zh-CN" b="1" dirty="0" err="1">
                <a:solidFill>
                  <a:srgbClr val="0000FF"/>
                </a:solidFill>
                <a:latin typeface="Times New Roman" panose="02020603050405020304" pitchFamily="18" charset="0"/>
              </a:rPr>
              <a:t>Pyrrolysine</a:t>
            </a:r>
            <a:r>
              <a:rPr kumimoji="0" lang="en-US" altLang="zh-CN" b="1" dirty="0">
                <a:solidFill>
                  <a:srgbClr val="0000FF"/>
                </a:solidFill>
                <a:latin typeface="Times New Roman" panose="02020603050405020304" pitchFamily="18" charset="0"/>
              </a:rPr>
              <a:t> (</a:t>
            </a:r>
            <a:r>
              <a:rPr kumimoji="0" lang="zh-CN" altLang="en-US" b="1" dirty="0">
                <a:solidFill>
                  <a:srgbClr val="0000FF"/>
                </a:solidFill>
                <a:latin typeface="Times New Roman" panose="02020603050405020304" pitchFamily="18" charset="0"/>
              </a:rPr>
              <a:t>吡咯赖氨酸</a:t>
            </a:r>
            <a:r>
              <a:rPr kumimoji="0" lang="en-US" altLang="zh-CN" b="1" dirty="0">
                <a:solidFill>
                  <a:srgbClr val="0000FF"/>
                </a:solidFill>
                <a:latin typeface="Times New Roman" panose="02020603050405020304" pitchFamily="18" charset="0"/>
              </a:rPr>
              <a:t>)</a:t>
            </a:r>
            <a:r>
              <a:rPr kumimoji="0" lang="en-US" altLang="zh-CN" sz="2800" dirty="0">
                <a:latin typeface="Times New Roman" panose="02020603050405020304" pitchFamily="18" charset="0"/>
              </a:rPr>
              <a:t>: encoded by the RNA nucleotide triplet UAG, found in Archaea, and eubacteria.</a:t>
            </a:r>
          </a:p>
          <a:p>
            <a:pPr eaLnBrk="1" hangingPunct="1">
              <a:spcBef>
                <a:spcPct val="0"/>
              </a:spcBef>
              <a:buClrTx/>
              <a:buSzTx/>
              <a:buFontTx/>
              <a:buNone/>
            </a:pPr>
            <a:r>
              <a:rPr kumimoji="0" lang="en-US" altLang="zh-CN" sz="2800" dirty="0">
                <a:latin typeface="Times New Roman" panose="02020603050405020304" pitchFamily="18" charset="0"/>
              </a:rPr>
              <a:t>	</a:t>
            </a:r>
            <a:r>
              <a:rPr kumimoji="0" lang="en-US" altLang="zh-CN" sz="2800" b="1" i="1" dirty="0">
                <a:latin typeface="Times New Roman" panose="02020603050405020304" pitchFamily="18" charset="0"/>
              </a:rPr>
              <a:t>Science</a:t>
            </a:r>
            <a:r>
              <a:rPr kumimoji="0" lang="en-US" altLang="zh-CN" sz="2800" dirty="0">
                <a:latin typeface="Times New Roman" panose="02020603050405020304" pitchFamily="18" charset="0"/>
              </a:rPr>
              <a:t> (2002) vol. 296, 1409</a:t>
            </a:r>
          </a:p>
        </p:txBody>
      </p:sp>
      <p:sp>
        <p:nvSpPr>
          <p:cNvPr id="72709" name="Text Box 5">
            <a:extLst>
              <a:ext uri="{FF2B5EF4-FFF2-40B4-BE49-F238E27FC236}">
                <a16:creationId xmlns:a16="http://schemas.microsoft.com/office/drawing/2014/main" id="{F72984CA-196B-4B63-9767-C82CE01D2845}"/>
              </a:ext>
            </a:extLst>
          </p:cNvPr>
          <p:cNvSpPr txBox="1">
            <a:spLocks noChangeArrowheads="1"/>
          </p:cNvSpPr>
          <p:nvPr/>
        </p:nvSpPr>
        <p:spPr bwMode="auto">
          <a:xfrm>
            <a:off x="952500" y="5761037"/>
            <a:ext cx="7239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0" lang="en-US" altLang="zh-CN" sz="2400" b="1" i="1" dirty="0">
                <a:latin typeface="Times New Roman" panose="02020603050405020304" pitchFamily="18" charset="0"/>
              </a:rPr>
              <a:t>Nature may yet surprise us with more directly encoded amino acids.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1CBB49-DDA4-37C0-AE2A-0AB295F70154}"/>
              </a:ext>
            </a:extLst>
          </p:cNvPr>
          <p:cNvSpPr>
            <a:spLocks noGrp="1"/>
          </p:cNvSpPr>
          <p:nvPr>
            <p:ph type="title"/>
          </p:nvPr>
        </p:nvSpPr>
        <p:spPr/>
        <p:txBody>
          <a:bodyPr/>
          <a:lstStyle/>
          <a:p>
            <a:endParaRPr lang="zh-CN" altLang="en-US"/>
          </a:p>
        </p:txBody>
      </p:sp>
      <p:sp>
        <p:nvSpPr>
          <p:cNvPr id="4" name="文本框 3">
            <a:extLst>
              <a:ext uri="{FF2B5EF4-FFF2-40B4-BE49-F238E27FC236}">
                <a16:creationId xmlns:a16="http://schemas.microsoft.com/office/drawing/2014/main" id="{E99284FF-72AD-7C23-84E5-190FD98BF375}"/>
              </a:ext>
            </a:extLst>
          </p:cNvPr>
          <p:cNvSpPr txBox="1"/>
          <p:nvPr/>
        </p:nvSpPr>
        <p:spPr>
          <a:xfrm>
            <a:off x="2051720" y="6398696"/>
            <a:ext cx="4572000" cy="369332"/>
          </a:xfrm>
          <a:prstGeom prst="rect">
            <a:avLst/>
          </a:prstGeom>
          <a:noFill/>
        </p:spPr>
        <p:txBody>
          <a:bodyPr wrap="square">
            <a:spAutoFit/>
          </a:bodyPr>
          <a:lstStyle/>
          <a:p>
            <a:r>
              <a:rPr lang="en-US" altLang="zh-CN" dirty="0"/>
              <a:t> DOI: 10.1126/science.1069588</a:t>
            </a:r>
            <a:endParaRPr lang="zh-CN" altLang="en-US" dirty="0"/>
          </a:p>
        </p:txBody>
      </p:sp>
      <p:pic>
        <p:nvPicPr>
          <p:cNvPr id="6" name="图片 5">
            <a:extLst>
              <a:ext uri="{FF2B5EF4-FFF2-40B4-BE49-F238E27FC236}">
                <a16:creationId xmlns:a16="http://schemas.microsoft.com/office/drawing/2014/main" id="{C76FD66C-2637-0197-76EC-52DBC00AC04B}"/>
              </a:ext>
            </a:extLst>
          </p:cNvPr>
          <p:cNvPicPr>
            <a:picLocks noChangeAspect="1"/>
          </p:cNvPicPr>
          <p:nvPr/>
        </p:nvPicPr>
        <p:blipFill>
          <a:blip r:embed="rId2"/>
          <a:stretch>
            <a:fillRect/>
          </a:stretch>
        </p:blipFill>
        <p:spPr>
          <a:xfrm>
            <a:off x="0" y="636270"/>
            <a:ext cx="9144000" cy="5585460"/>
          </a:xfrm>
          <a:prstGeom prst="rect">
            <a:avLst/>
          </a:prstGeom>
        </p:spPr>
      </p:pic>
    </p:spTree>
    <p:extLst>
      <p:ext uri="{BB962C8B-B14F-4D97-AF65-F5344CB8AC3E}">
        <p14:creationId xmlns:p14="http://schemas.microsoft.com/office/powerpoint/2010/main" val="40116249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a:extLst>
              <a:ext uri="{FF2B5EF4-FFF2-40B4-BE49-F238E27FC236}">
                <a16:creationId xmlns:a16="http://schemas.microsoft.com/office/drawing/2014/main" id="{4E0B178E-0747-48A9-B451-389677D10E36}"/>
              </a:ext>
            </a:extLst>
          </p:cNvPr>
          <p:cNvSpPr txBox="1">
            <a:spLocks noChangeArrowheads="1"/>
          </p:cNvSpPr>
          <p:nvPr/>
        </p:nvSpPr>
        <p:spPr bwMode="auto">
          <a:xfrm>
            <a:off x="762000" y="838200"/>
            <a:ext cx="7620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0" lang="en-US" altLang="zh-CN" sz="3600" dirty="0">
                <a:solidFill>
                  <a:srgbClr val="FF0066"/>
                </a:solidFill>
                <a:latin typeface="Times New Roman" panose="02020603050405020304" pitchFamily="18" charset="0"/>
              </a:rPr>
              <a:t>Summary of</a:t>
            </a:r>
            <a:r>
              <a:rPr lang="en-US" altLang="zh-CN" sz="3600" dirty="0">
                <a:solidFill>
                  <a:srgbClr val="FF0066"/>
                </a:solidFill>
                <a:latin typeface="Times New Roman" panose="02020603050405020304" pitchFamily="18" charset="0"/>
              </a:rPr>
              <a:t> B1 Amino acid structure</a:t>
            </a:r>
            <a:endParaRPr kumimoji="0" lang="en-US" altLang="zh-CN" sz="3600" dirty="0">
              <a:solidFill>
                <a:srgbClr val="FF0066"/>
              </a:solidFill>
              <a:latin typeface="Times New Roman" panose="02020603050405020304" pitchFamily="18" charset="0"/>
            </a:endParaRPr>
          </a:p>
        </p:txBody>
      </p:sp>
      <p:sp>
        <p:nvSpPr>
          <p:cNvPr id="39939" name="Text Box 3">
            <a:extLst>
              <a:ext uri="{FF2B5EF4-FFF2-40B4-BE49-F238E27FC236}">
                <a16:creationId xmlns:a16="http://schemas.microsoft.com/office/drawing/2014/main" id="{DF7B449B-00FF-4D85-94BE-A228B0898565}"/>
              </a:ext>
            </a:extLst>
          </p:cNvPr>
          <p:cNvSpPr txBox="1">
            <a:spLocks noChangeArrowheads="1"/>
          </p:cNvSpPr>
          <p:nvPr/>
        </p:nvSpPr>
        <p:spPr bwMode="auto">
          <a:xfrm>
            <a:off x="685800" y="1700808"/>
            <a:ext cx="81534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1. All natural proteins were found to be built from the same set of 20 standard </a:t>
            </a:r>
            <a:r>
              <a:rPr lang="en-US" altLang="zh-CN" sz="2800" b="1" dirty="0">
                <a:solidFill>
                  <a:srgbClr val="FF0000"/>
                </a:solidFill>
                <a:latin typeface="Times New Roman" panose="02020603050405020304" pitchFamily="18" charset="0"/>
              </a:rPr>
              <a:t>L-</a:t>
            </a:r>
            <a:r>
              <a:rPr lang="en-US" altLang="zh-CN" sz="2800" b="1" dirty="0">
                <a:solidFill>
                  <a:srgbClr val="FF0000"/>
                </a:solidFill>
                <a:latin typeface="Times New Roman" panose="02020603050405020304" pitchFamily="18" charset="0"/>
                <a:sym typeface="Symbol" panose="05050102010706020507" pitchFamily="18" charset="2"/>
              </a:rPr>
              <a:t></a:t>
            </a:r>
            <a:r>
              <a:rPr lang="en-US" altLang="zh-CN" sz="2800" b="1" dirty="0">
                <a:solidFill>
                  <a:srgbClr val="FF0000"/>
                </a:solidFill>
                <a:latin typeface="Times New Roman" panose="02020603050405020304" pitchFamily="18" charset="0"/>
              </a:rPr>
              <a:t>-amino acids</a:t>
            </a:r>
            <a:r>
              <a:rPr lang="en-US" altLang="zh-CN" sz="2800" b="1" dirty="0">
                <a:latin typeface="Times New Roman" panose="02020603050405020304" pitchFamily="18" charset="0"/>
              </a:rPr>
              <a:t>.</a:t>
            </a:r>
            <a:endParaRPr lang="en-US" altLang="zh-CN" sz="2400" dirty="0">
              <a:latin typeface="Times New Roman" panose="02020603050405020304" pitchFamily="18" charset="0"/>
            </a:endParaRPr>
          </a:p>
        </p:txBody>
      </p:sp>
      <p:sp>
        <p:nvSpPr>
          <p:cNvPr id="39940" name="Text Box 4">
            <a:extLst>
              <a:ext uri="{FF2B5EF4-FFF2-40B4-BE49-F238E27FC236}">
                <a16:creationId xmlns:a16="http://schemas.microsoft.com/office/drawing/2014/main" id="{4E7BF164-671D-4A34-B237-B7F2437B0607}"/>
              </a:ext>
            </a:extLst>
          </p:cNvPr>
          <p:cNvSpPr txBox="1">
            <a:spLocks noChangeArrowheads="1"/>
          </p:cNvSpPr>
          <p:nvPr/>
        </p:nvSpPr>
        <p:spPr bwMode="auto">
          <a:xfrm>
            <a:off x="689589" y="2818091"/>
            <a:ext cx="83820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2. The 20 amino acids are usually grouped according to the properties (mainly polarity) of their R groups.</a:t>
            </a:r>
          </a:p>
          <a:p>
            <a:pPr eaLnBrk="1" hangingPunct="1">
              <a:spcBef>
                <a:spcPts val="0"/>
              </a:spcBef>
              <a:buClrTx/>
              <a:buSzTx/>
              <a:buFontTx/>
              <a:buNone/>
            </a:pPr>
            <a:r>
              <a:rPr lang="en-US" altLang="zh-CN" sz="2800" b="1" dirty="0">
                <a:latin typeface="Times New Roman" panose="02020603050405020304" pitchFamily="18" charset="0"/>
              </a:rPr>
              <a:t>How many groups? And what they are?</a:t>
            </a:r>
            <a:endParaRPr lang="en-US" altLang="zh-CN" sz="2400" dirty="0">
              <a:latin typeface="Times New Roman" panose="02020603050405020304" pitchFamily="18" charset="0"/>
            </a:endParaRPr>
          </a:p>
        </p:txBody>
      </p:sp>
      <p:sp>
        <p:nvSpPr>
          <p:cNvPr id="39941" name="Text Box 5">
            <a:extLst>
              <a:ext uri="{FF2B5EF4-FFF2-40B4-BE49-F238E27FC236}">
                <a16:creationId xmlns:a16="http://schemas.microsoft.com/office/drawing/2014/main" id="{B26C80AA-6492-48E5-A3D3-E55651D00626}"/>
              </a:ext>
            </a:extLst>
          </p:cNvPr>
          <p:cNvSpPr txBox="1">
            <a:spLocks noChangeArrowheads="1"/>
          </p:cNvSpPr>
          <p:nvPr/>
        </p:nvSpPr>
        <p:spPr bwMode="auto">
          <a:xfrm>
            <a:off x="771016" y="4472464"/>
            <a:ext cx="80772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3. Nonstandard amino acids are found in certain proteins, generally as a result of post-translational modifications.</a:t>
            </a:r>
          </a:p>
        </p:txBody>
      </p:sp>
    </p:spTree>
    <p:extLst>
      <p:ext uri="{BB962C8B-B14F-4D97-AF65-F5344CB8AC3E}">
        <p14:creationId xmlns:p14="http://schemas.microsoft.com/office/powerpoint/2010/main" val="37253128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5">
            <a:extLst>
              <a:ext uri="{FF2B5EF4-FFF2-40B4-BE49-F238E27FC236}">
                <a16:creationId xmlns:a16="http://schemas.microsoft.com/office/drawing/2014/main" id="{2A786717-9B0D-484A-B875-303CFA506316}"/>
              </a:ext>
            </a:extLst>
          </p:cNvPr>
          <p:cNvSpPr>
            <a:spLocks noGrp="1" noChangeArrowheads="1"/>
          </p:cNvSpPr>
          <p:nvPr>
            <p:ph type="body" idx="1"/>
          </p:nvPr>
        </p:nvSpPr>
        <p:spPr>
          <a:xfrm>
            <a:off x="611560" y="836712"/>
            <a:ext cx="8532440" cy="5688013"/>
          </a:xfrm>
        </p:spPr>
        <p:txBody>
          <a:bodyPr/>
          <a:lstStyle/>
          <a:p>
            <a:pPr>
              <a:lnSpc>
                <a:spcPct val="80000"/>
              </a:lnSpc>
            </a:pPr>
            <a:r>
              <a:rPr lang="en-US" altLang="zh-CN" dirty="0"/>
              <a:t>Standard amino acid /Nonstandard amino acid</a:t>
            </a:r>
          </a:p>
          <a:p>
            <a:pPr>
              <a:lnSpc>
                <a:spcPct val="80000"/>
              </a:lnSpc>
            </a:pPr>
            <a:r>
              <a:rPr lang="en-US" altLang="zh-CN" b="1" dirty="0">
                <a:solidFill>
                  <a:srgbClr val="FF0066"/>
                </a:solidFill>
                <a:latin typeface="Arial" panose="020B0604020202020204" pitchFamily="34" charset="0"/>
              </a:rPr>
              <a:t>L- </a:t>
            </a:r>
            <a:r>
              <a:rPr kumimoji="0" lang="en-US" altLang="zh-CN" dirty="0">
                <a:sym typeface="Symbol" panose="05050102010706020507" pitchFamily="18" charset="2"/>
              </a:rPr>
              <a:t></a:t>
            </a:r>
            <a:r>
              <a:rPr lang="en-US" altLang="zh-CN" b="1" dirty="0">
                <a:solidFill>
                  <a:srgbClr val="FF0066"/>
                </a:solidFill>
                <a:latin typeface="Arial" panose="020B0604020202020204" pitchFamily="34" charset="0"/>
              </a:rPr>
              <a:t>-amino</a:t>
            </a:r>
            <a:r>
              <a:rPr lang="en-US" altLang="zh-CN" b="1" dirty="0">
                <a:solidFill>
                  <a:srgbClr val="FF0066"/>
                </a:solidFill>
              </a:rPr>
              <a:t> acids</a:t>
            </a:r>
          </a:p>
          <a:p>
            <a:pPr>
              <a:lnSpc>
                <a:spcPct val="80000"/>
              </a:lnSpc>
            </a:pPr>
            <a:r>
              <a:rPr lang="en-US" altLang="zh-CN" b="1" dirty="0"/>
              <a:t>nonpolar, aliphatic </a:t>
            </a:r>
            <a:r>
              <a:rPr lang="en-US" altLang="zh-CN" dirty="0"/>
              <a:t>amino acid </a:t>
            </a:r>
            <a:endParaRPr lang="en-US" altLang="zh-CN" b="1" dirty="0"/>
          </a:p>
          <a:p>
            <a:pPr>
              <a:lnSpc>
                <a:spcPct val="80000"/>
              </a:lnSpc>
            </a:pPr>
            <a:r>
              <a:rPr lang="en-US" altLang="zh-CN" b="1" dirty="0"/>
              <a:t>polar, uncharged </a:t>
            </a:r>
            <a:r>
              <a:rPr lang="en-US" altLang="zh-CN" dirty="0"/>
              <a:t>amino acid </a:t>
            </a:r>
            <a:endParaRPr lang="en-US" altLang="zh-CN" b="1" dirty="0"/>
          </a:p>
          <a:p>
            <a:pPr>
              <a:lnSpc>
                <a:spcPct val="80000"/>
              </a:lnSpc>
            </a:pPr>
            <a:r>
              <a:rPr lang="en-US" altLang="zh-CN" b="1" dirty="0"/>
              <a:t>Aromatic </a:t>
            </a:r>
            <a:r>
              <a:rPr lang="en-US" altLang="zh-CN" dirty="0"/>
              <a:t>amino acid </a:t>
            </a:r>
            <a:endParaRPr lang="en-US" altLang="zh-CN" b="1" dirty="0"/>
          </a:p>
          <a:p>
            <a:pPr>
              <a:lnSpc>
                <a:spcPct val="80000"/>
              </a:lnSpc>
            </a:pPr>
            <a:r>
              <a:rPr lang="en-US" altLang="zh-CN" b="1" dirty="0"/>
              <a:t>Positively charged (basic)</a:t>
            </a:r>
          </a:p>
          <a:p>
            <a:pPr>
              <a:lnSpc>
                <a:spcPct val="80000"/>
              </a:lnSpc>
            </a:pPr>
            <a:r>
              <a:rPr lang="en-US" altLang="zh-CN" b="1" dirty="0"/>
              <a:t>and negatively charged (acidic) </a:t>
            </a:r>
            <a:r>
              <a:rPr lang="en-US" altLang="zh-CN" dirty="0"/>
              <a:t>amino acid </a:t>
            </a:r>
          </a:p>
          <a:p>
            <a:pPr>
              <a:lnSpc>
                <a:spcPct val="80000"/>
              </a:lnSpc>
            </a:pPr>
            <a:r>
              <a:rPr lang="en-US" altLang="zh-CN" dirty="0"/>
              <a:t>Essential amino acid</a:t>
            </a:r>
          </a:p>
          <a:p>
            <a:pPr>
              <a:lnSpc>
                <a:spcPct val="80000"/>
              </a:lnSpc>
            </a:pPr>
            <a:r>
              <a:rPr lang="en-US" altLang="zh-CN" dirty="0"/>
              <a:t>Nonessential amino acid</a:t>
            </a:r>
          </a:p>
          <a:p>
            <a:pPr>
              <a:lnSpc>
                <a:spcPct val="80000"/>
              </a:lnSpc>
            </a:pPr>
            <a:endParaRPr lang="en-US" altLang="zh-CN" dirty="0"/>
          </a:p>
        </p:txBody>
      </p:sp>
      <p:sp>
        <p:nvSpPr>
          <p:cNvPr id="2" name="矩形 1">
            <a:extLst>
              <a:ext uri="{FF2B5EF4-FFF2-40B4-BE49-F238E27FC236}">
                <a16:creationId xmlns:a16="http://schemas.microsoft.com/office/drawing/2014/main" id="{94C109F2-0EF0-4878-A268-FA1740559517}"/>
              </a:ext>
            </a:extLst>
          </p:cNvPr>
          <p:cNvSpPr/>
          <p:nvPr/>
        </p:nvSpPr>
        <p:spPr>
          <a:xfrm>
            <a:off x="3059832" y="-30617"/>
            <a:ext cx="4753471" cy="646331"/>
          </a:xfrm>
          <a:prstGeom prst="rect">
            <a:avLst/>
          </a:prstGeom>
        </p:spPr>
        <p:txBody>
          <a:bodyPr wrap="square">
            <a:spAutoFit/>
          </a:bodyPr>
          <a:lstStyle/>
          <a:p>
            <a:r>
              <a:rPr lang="en-US" altLang="zh-CN" sz="3600" dirty="0"/>
              <a:t>Summary of B1</a:t>
            </a:r>
            <a:endParaRPr lang="zh-CN" altLang="en-US" sz="3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4">
            <a:extLst>
              <a:ext uri="{FF2B5EF4-FFF2-40B4-BE49-F238E27FC236}">
                <a16:creationId xmlns:a16="http://schemas.microsoft.com/office/drawing/2014/main" id="{0917F350-BF3E-436F-ACD2-7EDBD1E847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6576" t="22234" r="26172" b="24153"/>
          <a:stretch>
            <a:fillRect/>
          </a:stretch>
        </p:blipFill>
        <p:spPr bwMode="auto">
          <a:xfrm>
            <a:off x="1835150" y="836613"/>
            <a:ext cx="5761038" cy="5229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descr="2-2">
            <a:extLst>
              <a:ext uri="{FF2B5EF4-FFF2-40B4-BE49-F238E27FC236}">
                <a16:creationId xmlns:a16="http://schemas.microsoft.com/office/drawing/2014/main" id="{3A1A3B8D-68E1-46B6-A0D8-F27993FD23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4535" y="0"/>
            <a:ext cx="6478588" cy="664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66394E6C-6FFC-4C6F-992F-2B4CE158CD12}"/>
              </a:ext>
            </a:extLst>
          </p:cNvPr>
          <p:cNvSpPr txBox="1"/>
          <p:nvPr/>
        </p:nvSpPr>
        <p:spPr>
          <a:xfrm>
            <a:off x="5426775" y="6461734"/>
            <a:ext cx="954107" cy="300608"/>
          </a:xfrm>
          <a:prstGeom prst="rect">
            <a:avLst/>
          </a:prstGeom>
          <a:noFill/>
        </p:spPr>
        <p:txBody>
          <a:bodyPr wrap="none" rtlCol="0">
            <a:spAutoFit/>
          </a:bodyPr>
          <a:lstStyle/>
          <a:p>
            <a:r>
              <a:rPr lang="zh-CN" altLang="en-US" sz="2000" b="1" dirty="0"/>
              <a:t>蛋氨酸</a:t>
            </a:r>
          </a:p>
        </p:txBody>
      </p:sp>
      <p:pic>
        <p:nvPicPr>
          <p:cNvPr id="3" name="Picture 2" descr="2-4">
            <a:extLst>
              <a:ext uri="{FF2B5EF4-FFF2-40B4-BE49-F238E27FC236}">
                <a16:creationId xmlns:a16="http://schemas.microsoft.com/office/drawing/2014/main" id="{AFBE3CA5-E138-5913-991B-50F42C2C29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6347" r="65870"/>
          <a:stretch/>
        </p:blipFill>
        <p:spPr bwMode="auto">
          <a:xfrm>
            <a:off x="251520" y="3194026"/>
            <a:ext cx="2211154" cy="341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descr="2-3">
            <a:extLst>
              <a:ext uri="{FF2B5EF4-FFF2-40B4-BE49-F238E27FC236}">
                <a16:creationId xmlns:a16="http://schemas.microsoft.com/office/drawing/2014/main" id="{BF9D9CE4-AAF2-4DE6-9E11-B3954D48E0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700213"/>
            <a:ext cx="7197725" cy="482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descr="2-4">
            <a:extLst>
              <a:ext uri="{FF2B5EF4-FFF2-40B4-BE49-F238E27FC236}">
                <a16:creationId xmlns:a16="http://schemas.microsoft.com/office/drawing/2014/main" id="{595DFEDE-69DA-4A5F-9B09-6859D9AE46A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2522"/>
          <a:stretch/>
        </p:blipFill>
        <p:spPr bwMode="auto">
          <a:xfrm>
            <a:off x="1619250" y="260350"/>
            <a:ext cx="6478588" cy="3024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descr="2-4">
            <a:extLst>
              <a:ext uri="{FF2B5EF4-FFF2-40B4-BE49-F238E27FC236}">
                <a16:creationId xmlns:a16="http://schemas.microsoft.com/office/drawing/2014/main" id="{0767638F-7637-C866-8DE7-14BE03D68E7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908" t="47478"/>
          <a:stretch/>
        </p:blipFill>
        <p:spPr bwMode="auto">
          <a:xfrm>
            <a:off x="4139952" y="3284984"/>
            <a:ext cx="3957886" cy="3346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descr="2-5">
            <a:extLst>
              <a:ext uri="{FF2B5EF4-FFF2-40B4-BE49-F238E27FC236}">
                <a16:creationId xmlns:a16="http://schemas.microsoft.com/office/drawing/2014/main" id="{BFE2E47F-45A0-45AC-85E8-6332712B08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549275"/>
            <a:ext cx="7197725" cy="589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2" descr="2-6">
            <a:extLst>
              <a:ext uri="{FF2B5EF4-FFF2-40B4-BE49-F238E27FC236}">
                <a16:creationId xmlns:a16="http://schemas.microsoft.com/office/drawing/2014/main" id="{43290EA1-269A-4D6F-AC78-14F4F7D20D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1125538"/>
            <a:ext cx="7197725" cy="496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descr="2-7">
            <a:extLst>
              <a:ext uri="{FF2B5EF4-FFF2-40B4-BE49-F238E27FC236}">
                <a16:creationId xmlns:a16="http://schemas.microsoft.com/office/drawing/2014/main" id="{CEE0054C-2393-4061-87CA-FAD17B93F0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1268413"/>
            <a:ext cx="7197725"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FD8B12AD-8FB6-4DE6-8D75-569946B51EC3}"/>
              </a:ext>
            </a:extLst>
          </p:cNvPr>
          <p:cNvSpPr>
            <a:spLocks noGrp="1" noChangeArrowheads="1"/>
          </p:cNvSpPr>
          <p:nvPr>
            <p:ph type="title"/>
          </p:nvPr>
        </p:nvSpPr>
        <p:spPr/>
        <p:txBody>
          <a:bodyPr/>
          <a:lstStyle/>
          <a:p>
            <a:r>
              <a:rPr lang="zh-CN" altLang="en-US" dirty="0"/>
              <a:t>氨基酸的其他分类方法</a:t>
            </a:r>
          </a:p>
        </p:txBody>
      </p:sp>
      <p:sp>
        <p:nvSpPr>
          <p:cNvPr id="87043" name="Rectangle 3">
            <a:extLst>
              <a:ext uri="{FF2B5EF4-FFF2-40B4-BE49-F238E27FC236}">
                <a16:creationId xmlns:a16="http://schemas.microsoft.com/office/drawing/2014/main" id="{B736F1F6-EF52-42D0-B961-8314D2CE450F}"/>
              </a:ext>
            </a:extLst>
          </p:cNvPr>
          <p:cNvSpPr>
            <a:spLocks noGrp="1" noChangeArrowheads="1"/>
          </p:cNvSpPr>
          <p:nvPr>
            <p:ph type="body" idx="1"/>
          </p:nvPr>
        </p:nvSpPr>
        <p:spPr/>
        <p:txBody>
          <a:bodyPr/>
          <a:lstStyle/>
          <a:p>
            <a:r>
              <a:rPr lang="en-US" altLang="zh-CN" b="1"/>
              <a:t>2C </a:t>
            </a:r>
            <a:r>
              <a:rPr lang="zh-CN" altLang="en-US" b="1"/>
              <a:t>甘</a:t>
            </a:r>
          </a:p>
          <a:p>
            <a:r>
              <a:rPr lang="en-US" altLang="zh-CN" b="1"/>
              <a:t>3C </a:t>
            </a:r>
            <a:r>
              <a:rPr lang="zh-CN" altLang="en-US" b="1"/>
              <a:t>丙 丝 半 色 酪 苯 组</a:t>
            </a:r>
          </a:p>
          <a:p>
            <a:r>
              <a:rPr lang="en-US" altLang="zh-CN" b="1"/>
              <a:t>4C </a:t>
            </a:r>
            <a:r>
              <a:rPr lang="zh-CN" altLang="en-US" b="1"/>
              <a:t>天 天 苏</a:t>
            </a:r>
          </a:p>
          <a:p>
            <a:r>
              <a:rPr lang="en-US" altLang="zh-CN" b="1"/>
              <a:t>5C </a:t>
            </a:r>
            <a:r>
              <a:rPr lang="zh-CN" altLang="en-US" b="1"/>
              <a:t>谷 谷 脯 缬 蛋</a:t>
            </a:r>
          </a:p>
          <a:p>
            <a:r>
              <a:rPr lang="en-US" altLang="zh-CN" b="1"/>
              <a:t>6C </a:t>
            </a:r>
            <a:r>
              <a:rPr lang="zh-CN" altLang="en-US" b="1"/>
              <a:t>亮 异 赖 精</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2" descr="10007">
            <a:extLst>
              <a:ext uri="{FF2B5EF4-FFF2-40B4-BE49-F238E27FC236}">
                <a16:creationId xmlns:a16="http://schemas.microsoft.com/office/drawing/2014/main" id="{168F4141-CD49-487C-86A5-445EDE9476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112963"/>
            <a:ext cx="4038600" cy="304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067" name="Text Box 3">
            <a:extLst>
              <a:ext uri="{FF2B5EF4-FFF2-40B4-BE49-F238E27FC236}">
                <a16:creationId xmlns:a16="http://schemas.microsoft.com/office/drawing/2014/main" id="{63AADD1F-A09D-4F5F-8EF7-78719239CF8D}"/>
              </a:ext>
            </a:extLst>
          </p:cNvPr>
          <p:cNvSpPr txBox="1">
            <a:spLocks noChangeArrowheads="1"/>
          </p:cNvSpPr>
          <p:nvPr/>
        </p:nvSpPr>
        <p:spPr bwMode="auto">
          <a:xfrm>
            <a:off x="250825" y="260350"/>
            <a:ext cx="2087563"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600"/>
              <a:t>2C</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descr="10000">
            <a:extLst>
              <a:ext uri="{FF2B5EF4-FFF2-40B4-BE49-F238E27FC236}">
                <a16:creationId xmlns:a16="http://schemas.microsoft.com/office/drawing/2014/main" id="{4958EF5E-361B-47FE-AEC0-65ED8A34E66D}"/>
              </a:ext>
            </a:extLst>
          </p:cNvPr>
          <p:cNvPicPr>
            <a:picLocks noChangeAspect="1" noChangeArrowheads="1"/>
          </p:cNvPicPr>
          <p:nvPr/>
        </p:nvPicPr>
        <p:blipFill>
          <a:blip r:embed="rId2">
            <a:grayscl/>
            <a:biLevel thresh="50000"/>
            <a:extLst>
              <a:ext uri="{28A0092B-C50C-407E-A947-70E740481C1C}">
                <a14:useLocalDpi xmlns:a14="http://schemas.microsoft.com/office/drawing/2010/main" val="0"/>
              </a:ext>
            </a:extLst>
          </a:blip>
          <a:srcRect/>
          <a:stretch>
            <a:fillRect/>
          </a:stretch>
        </p:blipFill>
        <p:spPr bwMode="auto">
          <a:xfrm>
            <a:off x="228600" y="1905000"/>
            <a:ext cx="2443163"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9091" name="Picture 3" descr="10015">
            <a:extLst>
              <a:ext uri="{FF2B5EF4-FFF2-40B4-BE49-F238E27FC236}">
                <a16:creationId xmlns:a16="http://schemas.microsoft.com/office/drawing/2014/main" id="{20A024AE-9318-4972-8859-FC5FBB1B56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2057400"/>
            <a:ext cx="2311400" cy="252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9092" name="Picture 4" descr="10004">
            <a:extLst>
              <a:ext uri="{FF2B5EF4-FFF2-40B4-BE49-F238E27FC236}">
                <a16:creationId xmlns:a16="http://schemas.microsoft.com/office/drawing/2014/main" id="{1E987C72-F77A-4911-9023-B40FBD1E93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1981200"/>
            <a:ext cx="2311400" cy="252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093" name="Text Box 5">
            <a:extLst>
              <a:ext uri="{FF2B5EF4-FFF2-40B4-BE49-F238E27FC236}">
                <a16:creationId xmlns:a16="http://schemas.microsoft.com/office/drawing/2014/main" id="{8A3B97E6-4BC9-4D9A-B9C8-AEDC27B92305}"/>
              </a:ext>
            </a:extLst>
          </p:cNvPr>
          <p:cNvSpPr txBox="1">
            <a:spLocks noChangeArrowheads="1"/>
          </p:cNvSpPr>
          <p:nvPr/>
        </p:nvSpPr>
        <p:spPr bwMode="auto">
          <a:xfrm>
            <a:off x="179388" y="260350"/>
            <a:ext cx="2087562"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600"/>
              <a:t>3C</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Picture 2" descr="10017">
            <a:extLst>
              <a:ext uri="{FF2B5EF4-FFF2-40B4-BE49-F238E27FC236}">
                <a16:creationId xmlns:a16="http://schemas.microsoft.com/office/drawing/2014/main" id="{46C5A720-64DD-47F2-BA3D-F73D9B08D0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066800"/>
            <a:ext cx="3416300" cy="462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115" name="Picture 3" descr="10018">
            <a:extLst>
              <a:ext uri="{FF2B5EF4-FFF2-40B4-BE49-F238E27FC236}">
                <a16:creationId xmlns:a16="http://schemas.microsoft.com/office/drawing/2014/main" id="{7AA4ABD3-8077-4FA4-B609-BF5F448DE2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1066800"/>
            <a:ext cx="2298700" cy="527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116" name="Text Box 4">
            <a:extLst>
              <a:ext uri="{FF2B5EF4-FFF2-40B4-BE49-F238E27FC236}">
                <a16:creationId xmlns:a16="http://schemas.microsoft.com/office/drawing/2014/main" id="{0864E96E-C070-4514-9597-BFCCF15537D0}"/>
              </a:ext>
            </a:extLst>
          </p:cNvPr>
          <p:cNvSpPr txBox="1">
            <a:spLocks noChangeArrowheads="1"/>
          </p:cNvSpPr>
          <p:nvPr/>
        </p:nvSpPr>
        <p:spPr bwMode="auto">
          <a:xfrm>
            <a:off x="179388" y="188913"/>
            <a:ext cx="2087562"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600"/>
              <a:t>3C</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descr="10013">
            <a:extLst>
              <a:ext uri="{FF2B5EF4-FFF2-40B4-BE49-F238E27FC236}">
                <a16:creationId xmlns:a16="http://schemas.microsoft.com/office/drawing/2014/main" id="{B933530C-6897-487D-A9AD-42F5B0DD3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0" y="1270000"/>
            <a:ext cx="2298700" cy="444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139" name="Picture 3" descr="10008">
            <a:extLst>
              <a:ext uri="{FF2B5EF4-FFF2-40B4-BE49-F238E27FC236}">
                <a16:creationId xmlns:a16="http://schemas.microsoft.com/office/drawing/2014/main" id="{D5E22D8B-50C9-4519-AC0D-39F1B626B5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1371600"/>
            <a:ext cx="2324100" cy="427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140" name="Text Box 4">
            <a:extLst>
              <a:ext uri="{FF2B5EF4-FFF2-40B4-BE49-F238E27FC236}">
                <a16:creationId xmlns:a16="http://schemas.microsoft.com/office/drawing/2014/main" id="{5F3A75CF-3970-4233-8939-100CFA6FED3B}"/>
              </a:ext>
            </a:extLst>
          </p:cNvPr>
          <p:cNvSpPr txBox="1">
            <a:spLocks noChangeArrowheads="1"/>
          </p:cNvSpPr>
          <p:nvPr/>
        </p:nvSpPr>
        <p:spPr bwMode="auto">
          <a:xfrm>
            <a:off x="179388" y="188913"/>
            <a:ext cx="2087562"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600"/>
              <a:t>3C</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2" descr="10003">
            <a:extLst>
              <a:ext uri="{FF2B5EF4-FFF2-40B4-BE49-F238E27FC236}">
                <a16:creationId xmlns:a16="http://schemas.microsoft.com/office/drawing/2014/main" id="{EAAD675F-26E5-43C6-B9C6-13B5CF2809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003425"/>
            <a:ext cx="23495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63" name="Picture 3" descr="10002">
            <a:extLst>
              <a:ext uri="{FF2B5EF4-FFF2-40B4-BE49-F238E27FC236}">
                <a16:creationId xmlns:a16="http://schemas.microsoft.com/office/drawing/2014/main" id="{E946DC75-C07C-4230-BFF7-5F8DC13EFC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916113"/>
            <a:ext cx="2527300" cy="370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64" name="Picture 4" descr="10016">
            <a:extLst>
              <a:ext uri="{FF2B5EF4-FFF2-40B4-BE49-F238E27FC236}">
                <a16:creationId xmlns:a16="http://schemas.microsoft.com/office/drawing/2014/main" id="{76BD05E0-D0A9-4C7D-8EE8-44E8AB99F5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1998663"/>
            <a:ext cx="2311400" cy="351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165" name="Text Box 5">
            <a:extLst>
              <a:ext uri="{FF2B5EF4-FFF2-40B4-BE49-F238E27FC236}">
                <a16:creationId xmlns:a16="http://schemas.microsoft.com/office/drawing/2014/main" id="{E171C02C-F26A-4325-BCE5-77E420B919E2}"/>
              </a:ext>
            </a:extLst>
          </p:cNvPr>
          <p:cNvSpPr txBox="1">
            <a:spLocks noChangeArrowheads="1"/>
          </p:cNvSpPr>
          <p:nvPr/>
        </p:nvSpPr>
        <p:spPr bwMode="auto">
          <a:xfrm>
            <a:off x="179388" y="188913"/>
            <a:ext cx="2087562"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600"/>
              <a:t>4C</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descr="10005">
            <a:extLst>
              <a:ext uri="{FF2B5EF4-FFF2-40B4-BE49-F238E27FC236}">
                <a16:creationId xmlns:a16="http://schemas.microsoft.com/office/drawing/2014/main" id="{933BD553-5B26-4CF3-9123-07895F3C39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0" y="1270000"/>
            <a:ext cx="2336800" cy="462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187" name="Picture 3" descr="10006">
            <a:extLst>
              <a:ext uri="{FF2B5EF4-FFF2-40B4-BE49-F238E27FC236}">
                <a16:creationId xmlns:a16="http://schemas.microsoft.com/office/drawing/2014/main" id="{17BB4F4F-19C1-4162-AE77-7658EFDF19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295400"/>
            <a:ext cx="25527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3188" name="Text Box 4">
            <a:extLst>
              <a:ext uri="{FF2B5EF4-FFF2-40B4-BE49-F238E27FC236}">
                <a16:creationId xmlns:a16="http://schemas.microsoft.com/office/drawing/2014/main" id="{85A3CB79-4431-4997-A623-D4DCDAF104AB}"/>
              </a:ext>
            </a:extLst>
          </p:cNvPr>
          <p:cNvSpPr txBox="1">
            <a:spLocks noChangeArrowheads="1"/>
          </p:cNvSpPr>
          <p:nvPr/>
        </p:nvSpPr>
        <p:spPr bwMode="auto">
          <a:xfrm>
            <a:off x="179388" y="188913"/>
            <a:ext cx="2087562"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600"/>
              <a:t>5C</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2" descr="10014">
            <a:extLst>
              <a:ext uri="{FF2B5EF4-FFF2-40B4-BE49-F238E27FC236}">
                <a16:creationId xmlns:a16="http://schemas.microsoft.com/office/drawing/2014/main" id="{87649F4F-643A-4E80-A995-67D18916AD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295400"/>
            <a:ext cx="2006600" cy="245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211" name="Picture 3" descr="10019">
            <a:extLst>
              <a:ext uri="{FF2B5EF4-FFF2-40B4-BE49-F238E27FC236}">
                <a16:creationId xmlns:a16="http://schemas.microsoft.com/office/drawing/2014/main" id="{59D70CC1-CDFD-4744-995B-B07ED2BC43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371600"/>
            <a:ext cx="2324100" cy="340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212" name="Picture 4" descr="10012">
            <a:extLst>
              <a:ext uri="{FF2B5EF4-FFF2-40B4-BE49-F238E27FC236}">
                <a16:creationId xmlns:a16="http://schemas.microsoft.com/office/drawing/2014/main" id="{838BF5DE-6733-48CF-9A53-6AD991A966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200" y="1371600"/>
            <a:ext cx="2119313"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4213" name="Text Box 5">
            <a:extLst>
              <a:ext uri="{FF2B5EF4-FFF2-40B4-BE49-F238E27FC236}">
                <a16:creationId xmlns:a16="http://schemas.microsoft.com/office/drawing/2014/main" id="{F05875FB-BBD6-4247-B54F-B064F6D3120A}"/>
              </a:ext>
            </a:extLst>
          </p:cNvPr>
          <p:cNvSpPr txBox="1">
            <a:spLocks noChangeArrowheads="1"/>
          </p:cNvSpPr>
          <p:nvPr/>
        </p:nvSpPr>
        <p:spPr bwMode="auto">
          <a:xfrm>
            <a:off x="179388" y="188913"/>
            <a:ext cx="2087562"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600"/>
              <a:t>5C</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2" descr="10010">
            <a:extLst>
              <a:ext uri="{FF2B5EF4-FFF2-40B4-BE49-F238E27FC236}">
                <a16:creationId xmlns:a16="http://schemas.microsoft.com/office/drawing/2014/main" id="{20047444-ED5A-4185-890B-A68B7598BE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219200"/>
            <a:ext cx="2336800" cy="435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235" name="Picture 3" descr="10009">
            <a:extLst>
              <a:ext uri="{FF2B5EF4-FFF2-40B4-BE49-F238E27FC236}">
                <a16:creationId xmlns:a16="http://schemas.microsoft.com/office/drawing/2014/main" id="{1A2A79BE-7C17-4580-BF5F-99C7C53120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1295400"/>
            <a:ext cx="2324100" cy="435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5236" name="Text Box 4">
            <a:extLst>
              <a:ext uri="{FF2B5EF4-FFF2-40B4-BE49-F238E27FC236}">
                <a16:creationId xmlns:a16="http://schemas.microsoft.com/office/drawing/2014/main" id="{94DA6099-DB29-4031-9CC7-4DD1FF8621FB}"/>
              </a:ext>
            </a:extLst>
          </p:cNvPr>
          <p:cNvSpPr txBox="1">
            <a:spLocks noChangeArrowheads="1"/>
          </p:cNvSpPr>
          <p:nvPr/>
        </p:nvSpPr>
        <p:spPr bwMode="auto">
          <a:xfrm>
            <a:off x="179388" y="188913"/>
            <a:ext cx="2087562"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600"/>
              <a:t>6C</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descr="10011">
            <a:extLst>
              <a:ext uri="{FF2B5EF4-FFF2-40B4-BE49-F238E27FC236}">
                <a16:creationId xmlns:a16="http://schemas.microsoft.com/office/drawing/2014/main" id="{8A1F387E-41A5-4A50-B509-F7F13881F9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914400"/>
            <a:ext cx="2362200" cy="528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259" name="Picture 3" descr="10001">
            <a:extLst>
              <a:ext uri="{FF2B5EF4-FFF2-40B4-BE49-F238E27FC236}">
                <a16:creationId xmlns:a16="http://schemas.microsoft.com/office/drawing/2014/main" id="{F43C17CC-AED5-475F-84BB-E8C612F888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914400"/>
            <a:ext cx="36830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6260" name="Text Box 4">
            <a:extLst>
              <a:ext uri="{FF2B5EF4-FFF2-40B4-BE49-F238E27FC236}">
                <a16:creationId xmlns:a16="http://schemas.microsoft.com/office/drawing/2014/main" id="{3201A1BA-471C-481F-ACF6-7FEE6B431BD3}"/>
              </a:ext>
            </a:extLst>
          </p:cNvPr>
          <p:cNvSpPr txBox="1">
            <a:spLocks noChangeArrowheads="1"/>
          </p:cNvSpPr>
          <p:nvPr/>
        </p:nvSpPr>
        <p:spPr bwMode="auto">
          <a:xfrm>
            <a:off x="179388" y="188913"/>
            <a:ext cx="2087562"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600"/>
              <a:t>6C</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37F235C2-D8C5-4F37-BE1D-F6744EB866CE}"/>
              </a:ext>
            </a:extLst>
          </p:cNvPr>
          <p:cNvSpPr>
            <a:spLocks noGrp="1" noChangeArrowheads="1"/>
          </p:cNvSpPr>
          <p:nvPr>
            <p:ph type="title"/>
          </p:nvPr>
        </p:nvSpPr>
        <p:spPr/>
        <p:txBody>
          <a:bodyPr/>
          <a:lstStyle/>
          <a:p>
            <a:pPr eaLnBrk="1" hangingPunct="1"/>
            <a:r>
              <a:rPr lang="en-US" altLang="zh-CN" dirty="0"/>
              <a:t>B2 Acids and Bases</a:t>
            </a:r>
          </a:p>
        </p:txBody>
      </p:sp>
      <p:sp>
        <p:nvSpPr>
          <p:cNvPr id="98307" name="Rectangle 3">
            <a:extLst>
              <a:ext uri="{FF2B5EF4-FFF2-40B4-BE49-F238E27FC236}">
                <a16:creationId xmlns:a16="http://schemas.microsoft.com/office/drawing/2014/main" id="{9D3E3CAB-5C0C-414E-8278-409E3F6DEF3C}"/>
              </a:ext>
            </a:extLst>
          </p:cNvPr>
          <p:cNvSpPr>
            <a:spLocks noGrp="1" noChangeArrowheads="1"/>
          </p:cNvSpPr>
          <p:nvPr>
            <p:ph type="body" idx="1"/>
          </p:nvPr>
        </p:nvSpPr>
        <p:spPr>
          <a:xfrm>
            <a:off x="2644775" y="2593975"/>
            <a:ext cx="4738688" cy="2047875"/>
          </a:xfrm>
        </p:spPr>
        <p:txBody>
          <a:bodyPr/>
          <a:lstStyle/>
          <a:p>
            <a:pPr eaLnBrk="1" hangingPunct="1"/>
            <a:r>
              <a:rPr lang="en-US" altLang="zh-CN" dirty="0"/>
              <a:t>Acids, bases and pH</a:t>
            </a:r>
          </a:p>
          <a:p>
            <a:pPr eaLnBrk="1" hangingPunct="1"/>
            <a:r>
              <a:rPr lang="en-US" altLang="zh-CN" dirty="0"/>
              <a:t>Buffers</a:t>
            </a:r>
          </a:p>
          <a:p>
            <a:pPr eaLnBrk="1" hangingPunct="1"/>
            <a:r>
              <a:rPr lang="en-US" altLang="zh-CN" dirty="0"/>
              <a:t>Ionization of amino acids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7FDF5B56-7A1D-4DEE-A758-B036AF39F9E7}"/>
              </a:ext>
            </a:extLst>
          </p:cNvPr>
          <p:cNvPicPr>
            <a:picLocks noChangeAspect="1"/>
          </p:cNvPicPr>
          <p:nvPr/>
        </p:nvPicPr>
        <p:blipFill>
          <a:blip r:embed="rId3"/>
          <a:stretch>
            <a:fillRect/>
          </a:stretch>
        </p:blipFill>
        <p:spPr>
          <a:xfrm>
            <a:off x="107504" y="27384"/>
            <a:ext cx="7282619" cy="6858000"/>
          </a:xfrm>
          <a:prstGeom prst="rect">
            <a:avLst/>
          </a:prstGeom>
        </p:spPr>
      </p:pic>
      <p:sp>
        <p:nvSpPr>
          <p:cNvPr id="4" name="矩形 3">
            <a:extLst>
              <a:ext uri="{FF2B5EF4-FFF2-40B4-BE49-F238E27FC236}">
                <a16:creationId xmlns:a16="http://schemas.microsoft.com/office/drawing/2014/main" id="{3474A175-90C9-4692-84E4-C9612E550B3C}"/>
              </a:ext>
            </a:extLst>
          </p:cNvPr>
          <p:cNvSpPr/>
          <p:nvPr/>
        </p:nvSpPr>
        <p:spPr>
          <a:xfrm>
            <a:off x="5052060" y="4758649"/>
            <a:ext cx="1428596" cy="307777"/>
          </a:xfrm>
          <a:prstGeom prst="rect">
            <a:avLst/>
          </a:prstGeom>
        </p:spPr>
        <p:txBody>
          <a:bodyPr wrap="none">
            <a:spAutoFit/>
          </a:bodyPr>
          <a:lstStyle/>
          <a:p>
            <a:r>
              <a:rPr lang="en-US" altLang="zh-CN" sz="1400" b="1" dirty="0" err="1">
                <a:latin typeface="Times New Roman" panose="02020603050405020304" pitchFamily="18" charset="0"/>
              </a:rPr>
              <a:t>guanidino</a:t>
            </a:r>
            <a:r>
              <a:rPr lang="en-US" altLang="zh-CN" sz="1400" b="1" dirty="0">
                <a:latin typeface="Times New Roman" panose="02020603050405020304" pitchFamily="18" charset="0"/>
              </a:rPr>
              <a:t>(</a:t>
            </a:r>
            <a:r>
              <a:rPr lang="zh-CN" altLang="en-US" sz="1400" b="1" dirty="0">
                <a:latin typeface="Times New Roman" panose="02020603050405020304" pitchFamily="18" charset="0"/>
              </a:rPr>
              <a:t>胍基</a:t>
            </a:r>
            <a:r>
              <a:rPr lang="en-US" altLang="zh-CN" sz="1400" b="1" dirty="0">
                <a:latin typeface="Times New Roman" panose="02020603050405020304" pitchFamily="18" charset="0"/>
              </a:rPr>
              <a:t>)</a:t>
            </a:r>
            <a:endParaRPr lang="zh-CN" altLang="en-US" sz="1400" dirty="0"/>
          </a:p>
        </p:txBody>
      </p:sp>
      <p:sp>
        <p:nvSpPr>
          <p:cNvPr id="5" name="矩形 4">
            <a:extLst>
              <a:ext uri="{FF2B5EF4-FFF2-40B4-BE49-F238E27FC236}">
                <a16:creationId xmlns:a16="http://schemas.microsoft.com/office/drawing/2014/main" id="{ABE10465-369B-4D24-8E46-ACE72F8E1A16}"/>
              </a:ext>
            </a:extLst>
          </p:cNvPr>
          <p:cNvSpPr/>
          <p:nvPr/>
        </p:nvSpPr>
        <p:spPr>
          <a:xfrm>
            <a:off x="6552664" y="4810912"/>
            <a:ext cx="1624163" cy="307777"/>
          </a:xfrm>
          <a:prstGeom prst="rect">
            <a:avLst/>
          </a:prstGeom>
        </p:spPr>
        <p:txBody>
          <a:bodyPr wrap="none">
            <a:spAutoFit/>
          </a:bodyPr>
          <a:lstStyle/>
          <a:p>
            <a:r>
              <a:rPr lang="en-US" altLang="zh-CN" sz="1400" b="1" dirty="0">
                <a:latin typeface="Times New Roman" panose="02020603050405020304" pitchFamily="18" charset="0"/>
              </a:rPr>
              <a:t>imidazole(</a:t>
            </a:r>
            <a:r>
              <a:rPr lang="zh-CN" altLang="en-US" sz="1400" b="1" dirty="0">
                <a:latin typeface="Times New Roman" panose="02020603050405020304" pitchFamily="18" charset="0"/>
              </a:rPr>
              <a:t>咪唑基</a:t>
            </a:r>
            <a:r>
              <a:rPr lang="en-US" altLang="zh-CN" sz="1400" b="1" dirty="0">
                <a:latin typeface="Times New Roman" panose="02020603050405020304" pitchFamily="18" charset="0"/>
              </a:rPr>
              <a:t>) </a:t>
            </a:r>
            <a:endParaRPr lang="zh-CN" altLang="en-US" sz="1400" dirty="0"/>
          </a:p>
        </p:txBody>
      </p:sp>
      <p:sp>
        <p:nvSpPr>
          <p:cNvPr id="3" name="矩形 2">
            <a:extLst>
              <a:ext uri="{FF2B5EF4-FFF2-40B4-BE49-F238E27FC236}">
                <a16:creationId xmlns:a16="http://schemas.microsoft.com/office/drawing/2014/main" id="{853DF10C-880C-46D3-B5B7-A24C9C1F74EB}"/>
              </a:ext>
            </a:extLst>
          </p:cNvPr>
          <p:cNvSpPr/>
          <p:nvPr/>
        </p:nvSpPr>
        <p:spPr>
          <a:xfrm>
            <a:off x="6840696" y="1086241"/>
            <a:ext cx="2016224" cy="569708"/>
          </a:xfrm>
          <a:prstGeom prst="rect">
            <a:avLst/>
          </a:prstGeom>
        </p:spPr>
        <p:txBody>
          <a:bodyPr wrap="square">
            <a:spAutoFit/>
          </a:bodyPr>
          <a:lstStyle/>
          <a:p>
            <a:pPr lvl="1" eaLnBrk="1" hangingPunct="1">
              <a:lnSpc>
                <a:spcPct val="120000"/>
              </a:lnSpc>
              <a:spcBef>
                <a:spcPct val="30000"/>
              </a:spcBef>
              <a:buClrTx/>
              <a:buSzTx/>
              <a:buFontTx/>
              <a:buChar char="•"/>
            </a:pPr>
            <a:r>
              <a:rPr lang="en-US" altLang="zh-CN" sz="1200" b="1" dirty="0">
                <a:latin typeface="Times New Roman" panose="02020603050405020304" pitchFamily="18" charset="0"/>
              </a:rPr>
              <a:t>benzene rings.</a:t>
            </a:r>
          </a:p>
          <a:p>
            <a:pPr lvl="1" eaLnBrk="1" hangingPunct="1">
              <a:lnSpc>
                <a:spcPct val="120000"/>
              </a:lnSpc>
              <a:spcBef>
                <a:spcPct val="30000"/>
              </a:spcBef>
              <a:buClrTx/>
              <a:buSzTx/>
              <a:buFontTx/>
              <a:buChar char="•"/>
            </a:pPr>
            <a:r>
              <a:rPr lang="en-US" altLang="zh-CN" sz="1200" b="1" dirty="0">
                <a:latin typeface="Times New Roman" panose="02020603050405020304" pitchFamily="18" charset="0"/>
              </a:rPr>
              <a:t>indole ring</a:t>
            </a:r>
            <a:r>
              <a:rPr lang="zh-CN" altLang="en-US" sz="1200" b="1" dirty="0">
                <a:latin typeface="Times New Roman" panose="02020603050405020304" pitchFamily="18" charset="0"/>
              </a:rPr>
              <a:t>（</a:t>
            </a:r>
            <a:r>
              <a:rPr lang="zh-CN" altLang="en-US" sz="1200" dirty="0"/>
              <a:t>吲哚</a:t>
            </a:r>
            <a:r>
              <a:rPr lang="zh-CN" altLang="en-US" sz="1200" b="1" dirty="0">
                <a:latin typeface="Times New Roman" panose="02020603050405020304" pitchFamily="18" charset="0"/>
              </a:rPr>
              <a:t>）</a:t>
            </a:r>
            <a:endParaRPr lang="zh-CN" altLang="en-US" sz="1200" dirty="0"/>
          </a:p>
        </p:txBody>
      </p:sp>
      <p:pic>
        <p:nvPicPr>
          <p:cNvPr id="6" name="图片 5">
            <a:extLst>
              <a:ext uri="{FF2B5EF4-FFF2-40B4-BE49-F238E27FC236}">
                <a16:creationId xmlns:a16="http://schemas.microsoft.com/office/drawing/2014/main" id="{59EBB7BA-7C54-D167-BA31-B45B89142B90}"/>
              </a:ext>
            </a:extLst>
          </p:cNvPr>
          <p:cNvPicPr>
            <a:picLocks noChangeAspect="1"/>
          </p:cNvPicPr>
          <p:nvPr/>
        </p:nvPicPr>
        <p:blipFill rotWithShape="1">
          <a:blip r:embed="rId4"/>
          <a:srcRect r="67735" b="70255"/>
          <a:stretch/>
        </p:blipFill>
        <p:spPr>
          <a:xfrm>
            <a:off x="7364745" y="2924945"/>
            <a:ext cx="1716224" cy="1440160"/>
          </a:xfrm>
          <a:prstGeom prst="rect">
            <a:avLst/>
          </a:prstGeom>
        </p:spPr>
      </p:pic>
    </p:spTree>
    <p:extLst>
      <p:ext uri="{BB962C8B-B14F-4D97-AF65-F5344CB8AC3E}">
        <p14:creationId xmlns:p14="http://schemas.microsoft.com/office/powerpoint/2010/main" val="30282797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a:extLst>
              <a:ext uri="{FF2B5EF4-FFF2-40B4-BE49-F238E27FC236}">
                <a16:creationId xmlns:a16="http://schemas.microsoft.com/office/drawing/2014/main" id="{9CC4E989-31AE-420A-8C83-FDD61997B454}"/>
              </a:ext>
            </a:extLst>
          </p:cNvPr>
          <p:cNvSpPr txBox="1">
            <a:spLocks noChangeArrowheads="1"/>
          </p:cNvSpPr>
          <p:nvPr/>
        </p:nvSpPr>
        <p:spPr bwMode="auto">
          <a:xfrm>
            <a:off x="468313" y="765175"/>
            <a:ext cx="8001000" cy="479107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1 </a:t>
            </a:r>
            <a:r>
              <a:rPr lang="en-US" altLang="zh-CN" sz="2800" b="1" dirty="0">
                <a:solidFill>
                  <a:srgbClr val="FF0066"/>
                </a:solidFill>
                <a:latin typeface="Times New Roman" panose="02020603050405020304" pitchFamily="18" charset="0"/>
              </a:rPr>
              <a:t>Weak acids (proton donors) and weak bases (proton acceptors) do not ionize completely when dissolved in water</a:t>
            </a:r>
            <a:r>
              <a:rPr lang="en-US" altLang="zh-CN" sz="2800" b="1" dirty="0">
                <a:latin typeface="Times New Roman" panose="02020603050405020304" pitchFamily="18" charset="0"/>
              </a:rPr>
              <a:t>.</a:t>
            </a:r>
          </a:p>
          <a:p>
            <a:pPr eaLnBrk="1" hangingPunct="1">
              <a:spcBef>
                <a:spcPct val="50000"/>
              </a:spcBef>
              <a:buClrTx/>
              <a:buSzTx/>
              <a:buFontTx/>
              <a:buNone/>
            </a:pPr>
            <a:r>
              <a:rPr lang="en-US" altLang="zh-CN" sz="2800" b="1" dirty="0">
                <a:latin typeface="Times New Roman" panose="02020603050405020304" pitchFamily="18" charset="0"/>
              </a:rPr>
              <a:t>	1.1 strong acids (e.g., hydrochloric acids, sulfuric and nitric acids) and strong bases (e.g., NaOH and KOH) </a:t>
            </a:r>
            <a:r>
              <a:rPr lang="en-US" altLang="zh-CN" sz="2800" b="1" dirty="0">
                <a:solidFill>
                  <a:srgbClr val="FF0066"/>
                </a:solidFill>
                <a:latin typeface="Times New Roman" panose="02020603050405020304" pitchFamily="18" charset="0"/>
              </a:rPr>
              <a:t>ionizes completely</a:t>
            </a:r>
            <a:r>
              <a:rPr lang="en-US" altLang="zh-CN" sz="2800" b="1" dirty="0">
                <a:latin typeface="Times New Roman" panose="02020603050405020304" pitchFamily="18" charset="0"/>
              </a:rPr>
              <a:t> when dissolved in water.</a:t>
            </a:r>
          </a:p>
          <a:p>
            <a:pPr eaLnBrk="1" hangingPunct="1">
              <a:spcBef>
                <a:spcPct val="50000"/>
              </a:spcBef>
              <a:buClrTx/>
              <a:buSzTx/>
              <a:buFontTx/>
              <a:buNone/>
            </a:pPr>
            <a:r>
              <a:rPr lang="en-US" altLang="zh-CN" sz="2800" b="1" dirty="0">
                <a:latin typeface="Times New Roman" panose="02020603050405020304" pitchFamily="18" charset="0"/>
              </a:rPr>
              <a:t>	1.2 A proton donor and its corresponding proton acceptor make up a </a:t>
            </a:r>
            <a:r>
              <a:rPr lang="en-US" altLang="zh-CN" sz="2800" b="1" dirty="0">
                <a:solidFill>
                  <a:srgbClr val="FF0066"/>
                </a:solidFill>
                <a:latin typeface="Times New Roman" panose="02020603050405020304" pitchFamily="18" charset="0"/>
              </a:rPr>
              <a:t>conjugate acid-base pair.</a:t>
            </a:r>
            <a:endParaRPr lang="en-US" altLang="zh-CN" sz="2400" dirty="0">
              <a:solidFill>
                <a:srgbClr val="FF0066"/>
              </a:solidFill>
              <a:latin typeface="Times New Roman" panose="02020603050405020304" pitchFamily="18" charset="0"/>
            </a:endParaRPr>
          </a:p>
        </p:txBody>
      </p:sp>
      <p:grpSp>
        <p:nvGrpSpPr>
          <p:cNvPr id="5" name="组合 4">
            <a:extLst>
              <a:ext uri="{FF2B5EF4-FFF2-40B4-BE49-F238E27FC236}">
                <a16:creationId xmlns:a16="http://schemas.microsoft.com/office/drawing/2014/main" id="{C8532E1F-D140-777F-C978-8066ACE0C8C7}"/>
              </a:ext>
            </a:extLst>
          </p:cNvPr>
          <p:cNvGrpSpPr/>
          <p:nvPr/>
        </p:nvGrpSpPr>
        <p:grpSpPr>
          <a:xfrm>
            <a:off x="4486212" y="908720"/>
            <a:ext cx="5004048" cy="3338147"/>
            <a:chOff x="3635896" y="3573016"/>
            <a:chExt cx="5004048" cy="3338147"/>
          </a:xfrm>
        </p:grpSpPr>
        <p:pic>
          <p:nvPicPr>
            <p:cNvPr id="2" name="图片 1">
              <a:extLst>
                <a:ext uri="{FF2B5EF4-FFF2-40B4-BE49-F238E27FC236}">
                  <a16:creationId xmlns:a16="http://schemas.microsoft.com/office/drawing/2014/main" id="{0B016B88-0EDD-1B36-864C-5451BCB459A7}"/>
                </a:ext>
              </a:extLst>
            </p:cNvPr>
            <p:cNvPicPr>
              <a:picLocks noChangeAspect="1"/>
            </p:cNvPicPr>
            <p:nvPr/>
          </p:nvPicPr>
          <p:blipFill>
            <a:blip r:embed="rId3"/>
            <a:stretch>
              <a:fillRect/>
            </a:stretch>
          </p:blipFill>
          <p:spPr>
            <a:xfrm>
              <a:off x="3635896" y="3573016"/>
              <a:ext cx="3810000" cy="2943225"/>
            </a:xfrm>
            <a:prstGeom prst="rect">
              <a:avLst/>
            </a:prstGeom>
          </p:spPr>
        </p:pic>
        <p:sp>
          <p:nvSpPr>
            <p:cNvPr id="4" name="文本框 3">
              <a:extLst>
                <a:ext uri="{FF2B5EF4-FFF2-40B4-BE49-F238E27FC236}">
                  <a16:creationId xmlns:a16="http://schemas.microsoft.com/office/drawing/2014/main" id="{C9F4B399-00E4-E755-79ED-9EE4068CE3E7}"/>
                </a:ext>
              </a:extLst>
            </p:cNvPr>
            <p:cNvSpPr txBox="1"/>
            <p:nvPr/>
          </p:nvSpPr>
          <p:spPr>
            <a:xfrm>
              <a:off x="4067944" y="6541831"/>
              <a:ext cx="4572000" cy="369332"/>
            </a:xfrm>
            <a:prstGeom prst="rect">
              <a:avLst/>
            </a:prstGeom>
            <a:noFill/>
          </p:spPr>
          <p:txBody>
            <a:bodyPr wrap="square">
              <a:spAutoFit/>
            </a:bodyPr>
            <a:lstStyle/>
            <a:p>
              <a:r>
                <a:rPr lang="zh-CN" altLang="en-US" dirty="0"/>
                <a:t>双牛曳犁</a:t>
              </a:r>
              <a:r>
                <a:rPr lang="en-US" altLang="zh-CN" dirty="0"/>
                <a:t>(</a:t>
              </a:r>
              <a:r>
                <a:rPr lang="zh-CN" altLang="en-US" dirty="0"/>
                <a:t>汉画像石</a:t>
              </a:r>
              <a:r>
                <a:rPr lang="en-US" altLang="zh-CN" dirty="0"/>
                <a:t>) </a:t>
              </a:r>
              <a:r>
                <a:rPr lang="zh-CN" altLang="en-US" dirty="0"/>
                <a:t>河南南阳</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a:extLst>
              <a:ext uri="{FF2B5EF4-FFF2-40B4-BE49-F238E27FC236}">
                <a16:creationId xmlns:a16="http://schemas.microsoft.com/office/drawing/2014/main" id="{112E940C-7DB7-4FD6-9436-AA622735350B}"/>
              </a:ext>
            </a:extLst>
          </p:cNvPr>
          <p:cNvSpPr txBox="1">
            <a:spLocks noChangeArrowheads="1"/>
          </p:cNvSpPr>
          <p:nvPr/>
        </p:nvSpPr>
        <p:spPr bwMode="auto">
          <a:xfrm>
            <a:off x="1143000" y="990600"/>
            <a:ext cx="7772400" cy="28686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dirty="0">
                <a:latin typeface="Times New Roman" panose="02020603050405020304" pitchFamily="18" charset="0"/>
              </a:rPr>
              <a:t>	</a:t>
            </a:r>
            <a:r>
              <a:rPr lang="en-US" altLang="zh-CN" sz="2800" b="1" dirty="0">
                <a:latin typeface="Times New Roman" panose="02020603050405020304" pitchFamily="18" charset="0"/>
              </a:rPr>
              <a:t>1.3 The characteristic </a:t>
            </a:r>
            <a:r>
              <a:rPr lang="en-US" altLang="zh-CN" sz="2800" b="1" dirty="0">
                <a:solidFill>
                  <a:srgbClr val="FF0066"/>
                </a:solidFill>
                <a:latin typeface="Times New Roman" panose="02020603050405020304" pitchFamily="18" charset="0"/>
              </a:rPr>
              <a:t>tendency of each weak acid for losing its proton</a:t>
            </a:r>
            <a:r>
              <a:rPr lang="en-US" altLang="zh-CN" sz="2800" b="1" dirty="0">
                <a:latin typeface="Times New Roman" panose="02020603050405020304" pitchFamily="18" charset="0"/>
              </a:rPr>
              <a:t> is reflected by its </a:t>
            </a:r>
            <a:r>
              <a:rPr lang="en-US" altLang="zh-CN" sz="2800" b="1" dirty="0">
                <a:solidFill>
                  <a:srgbClr val="FF0066"/>
                </a:solidFill>
                <a:latin typeface="Times New Roman" panose="02020603050405020304" pitchFamily="18" charset="0"/>
              </a:rPr>
              <a:t>dissociation constant Ka</a:t>
            </a:r>
            <a:r>
              <a:rPr lang="en-US" altLang="zh-CN" sz="2800" b="1" dirty="0">
                <a:latin typeface="Times New Roman" panose="02020603050405020304" pitchFamily="18" charset="0"/>
              </a:rPr>
              <a:t> (stronger acids have larger Ka value).</a:t>
            </a:r>
          </a:p>
          <a:p>
            <a:pPr eaLnBrk="1" hangingPunct="1">
              <a:spcBef>
                <a:spcPct val="50000"/>
              </a:spcBef>
              <a:buClrTx/>
              <a:buSzTx/>
              <a:buFontTx/>
              <a:buNone/>
            </a:pPr>
            <a:r>
              <a:rPr lang="en-US" altLang="zh-CN" sz="2800" b="1" dirty="0">
                <a:latin typeface="Times New Roman" panose="02020603050405020304" pitchFamily="18" charset="0"/>
              </a:rPr>
              <a:t>	1.4 For convenience, Ka is converted to </a:t>
            </a:r>
            <a:r>
              <a:rPr lang="en-US" altLang="zh-CN" sz="2800" b="1" dirty="0" err="1">
                <a:solidFill>
                  <a:srgbClr val="FF0066"/>
                </a:solidFill>
                <a:latin typeface="Times New Roman" panose="02020603050405020304" pitchFamily="18" charset="0"/>
              </a:rPr>
              <a:t>pKa</a:t>
            </a:r>
            <a:r>
              <a:rPr lang="en-US" altLang="zh-CN" sz="2800" b="1" dirty="0">
                <a:solidFill>
                  <a:srgbClr val="FF0066"/>
                </a:solidFill>
                <a:latin typeface="Times New Roman" panose="02020603050405020304" pitchFamily="18" charset="0"/>
              </a:rPr>
              <a:t> (the negative logarithm).</a:t>
            </a:r>
            <a:endParaRPr lang="en-US" altLang="zh-CN" sz="2400" dirty="0">
              <a:latin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2">
            <a:extLst>
              <a:ext uri="{FF2B5EF4-FFF2-40B4-BE49-F238E27FC236}">
                <a16:creationId xmlns:a16="http://schemas.microsoft.com/office/drawing/2014/main" id="{D6F2A2E8-EECF-46AF-BEAA-67FCE1AA3E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711200"/>
            <a:ext cx="7315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a:extLst>
              <a:ext uri="{FF2B5EF4-FFF2-40B4-BE49-F238E27FC236}">
                <a16:creationId xmlns:a16="http://schemas.microsoft.com/office/drawing/2014/main" id="{2EA5C4E0-F39F-473F-ACF1-67366190E8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81200"/>
            <a:ext cx="76200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886178E4-D4F3-4261-89A8-B77DEDDB3F8E}"/>
              </a:ext>
            </a:extLst>
          </p:cNvPr>
          <p:cNvSpPr txBox="1"/>
          <p:nvPr/>
        </p:nvSpPr>
        <p:spPr>
          <a:xfrm>
            <a:off x="1691680" y="5013176"/>
            <a:ext cx="5292080" cy="461665"/>
          </a:xfrm>
          <a:prstGeom prst="rect">
            <a:avLst/>
          </a:prstGeom>
          <a:noFill/>
        </p:spPr>
        <p:txBody>
          <a:bodyPr wrap="square">
            <a:spAutoFit/>
          </a:bodyPr>
          <a:lstStyle/>
          <a:p>
            <a:r>
              <a:rPr lang="en-US" altLang="zh-CN" sz="2400" dirty="0"/>
              <a:t>Henderson-Hasselbalch equation</a:t>
            </a:r>
            <a:endParaRPr lang="zh-CN" altLang="en-US" sz="2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2">
            <a:extLst>
              <a:ext uri="{FF2B5EF4-FFF2-40B4-BE49-F238E27FC236}">
                <a16:creationId xmlns:a16="http://schemas.microsoft.com/office/drawing/2014/main" id="{5926CA05-DA6A-4475-9E39-3F2E068190FB}"/>
              </a:ext>
            </a:extLst>
          </p:cNvP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323528" y="333375"/>
            <a:ext cx="6911975" cy="6062663"/>
          </a:xfrm>
          <a:noFill/>
        </p:spPr>
      </p:pic>
      <p:pic>
        <p:nvPicPr>
          <p:cNvPr id="3" name="Picture 2">
            <a:extLst>
              <a:ext uri="{FF2B5EF4-FFF2-40B4-BE49-F238E27FC236}">
                <a16:creationId xmlns:a16="http://schemas.microsoft.com/office/drawing/2014/main" id="{F8535FE0-9016-4652-B797-17129DA6CAB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38140" y="461962"/>
            <a:ext cx="2123151" cy="806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EA7E5D51-E78E-14C8-8701-8125518667F7}"/>
              </a:ext>
            </a:extLst>
          </p:cNvPr>
          <p:cNvGrpSpPr/>
          <p:nvPr/>
        </p:nvGrpSpPr>
        <p:grpSpPr>
          <a:xfrm>
            <a:off x="6418866" y="3789040"/>
            <a:ext cx="2725134" cy="2796788"/>
            <a:chOff x="6418866" y="3789040"/>
            <a:chExt cx="2725134" cy="2796788"/>
          </a:xfrm>
        </p:grpSpPr>
        <p:pic>
          <p:nvPicPr>
            <p:cNvPr id="2" name="图片 1">
              <a:extLst>
                <a:ext uri="{FF2B5EF4-FFF2-40B4-BE49-F238E27FC236}">
                  <a16:creationId xmlns:a16="http://schemas.microsoft.com/office/drawing/2014/main" id="{D775EB48-74F4-EB55-8B6D-2DF1C7CBC93B}"/>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contrast="-20000"/>
                      </a14:imgEffect>
                    </a14:imgLayer>
                  </a14:imgProps>
                </a:ext>
              </a:extLst>
            </a:blip>
            <a:stretch>
              <a:fillRect/>
            </a:stretch>
          </p:blipFill>
          <p:spPr>
            <a:xfrm>
              <a:off x="6418866" y="3789040"/>
              <a:ext cx="2725134" cy="2406870"/>
            </a:xfrm>
            <a:prstGeom prst="rect">
              <a:avLst/>
            </a:prstGeom>
          </p:spPr>
        </p:pic>
        <p:sp>
          <p:nvSpPr>
            <p:cNvPr id="4" name="文本框 3">
              <a:extLst>
                <a:ext uri="{FF2B5EF4-FFF2-40B4-BE49-F238E27FC236}">
                  <a16:creationId xmlns:a16="http://schemas.microsoft.com/office/drawing/2014/main" id="{D7D93021-8949-CCBE-7FAD-AB5C7FA91AB0}"/>
                </a:ext>
              </a:extLst>
            </p:cNvPr>
            <p:cNvSpPr txBox="1"/>
            <p:nvPr/>
          </p:nvSpPr>
          <p:spPr>
            <a:xfrm>
              <a:off x="7235503" y="6216496"/>
              <a:ext cx="1569660" cy="369332"/>
            </a:xfrm>
            <a:prstGeom prst="rect">
              <a:avLst/>
            </a:prstGeom>
            <a:noFill/>
          </p:spPr>
          <p:txBody>
            <a:bodyPr wrap="none" rtlCol="0">
              <a:spAutoFit/>
            </a:bodyPr>
            <a:lstStyle/>
            <a:p>
              <a:r>
                <a:rPr lang="zh-CN" altLang="en-US" dirty="0"/>
                <a:t>盐酸滴定曲线</a:t>
              </a:r>
            </a:p>
          </p:txBody>
        </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0" name="Picture 2">
            <a:extLst>
              <a:ext uri="{FF2B5EF4-FFF2-40B4-BE49-F238E27FC236}">
                <a16:creationId xmlns:a16="http://schemas.microsoft.com/office/drawing/2014/main" id="{F6E2716A-7606-4538-9E6E-A517593D18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367140"/>
            <a:ext cx="5308178" cy="612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a:extLst>
              <a:ext uri="{FF2B5EF4-FFF2-40B4-BE49-F238E27FC236}">
                <a16:creationId xmlns:a16="http://schemas.microsoft.com/office/drawing/2014/main" id="{56B388FA-D94F-4ADC-A890-C37491FF66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965200"/>
            <a:ext cx="8890000" cy="492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2">
            <a:extLst>
              <a:ext uri="{FF2B5EF4-FFF2-40B4-BE49-F238E27FC236}">
                <a16:creationId xmlns:a16="http://schemas.microsoft.com/office/drawing/2014/main" id="{F36203A6-2750-4A5A-A54C-628946AE52B5}"/>
              </a:ext>
            </a:extLst>
          </p:cNvPr>
          <p:cNvSpPr txBox="1">
            <a:spLocks noChangeArrowheads="1"/>
          </p:cNvSpPr>
          <p:nvPr/>
        </p:nvSpPr>
        <p:spPr bwMode="auto">
          <a:xfrm>
            <a:off x="179388" y="587375"/>
            <a:ext cx="8839200" cy="52181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2 The titration curves of weak acids can be fitted by the Henderson-</a:t>
            </a:r>
            <a:r>
              <a:rPr lang="en-US" altLang="zh-CN" sz="2800" b="1" dirty="0" err="1">
                <a:latin typeface="Times New Roman" panose="02020603050405020304" pitchFamily="18" charset="0"/>
              </a:rPr>
              <a:t>Hasselbach</a:t>
            </a:r>
            <a:r>
              <a:rPr lang="en-US" altLang="zh-CN" sz="2800" b="1" dirty="0">
                <a:latin typeface="Times New Roman" panose="02020603050405020304" pitchFamily="18" charset="0"/>
              </a:rPr>
              <a:t> equation</a:t>
            </a:r>
          </a:p>
          <a:p>
            <a:pPr eaLnBrk="1" hangingPunct="1">
              <a:spcBef>
                <a:spcPct val="50000"/>
              </a:spcBef>
              <a:buClrTx/>
              <a:buSzTx/>
              <a:buFontTx/>
              <a:buNone/>
            </a:pPr>
            <a:r>
              <a:rPr lang="en-US" altLang="zh-CN" sz="2800" b="1" dirty="0">
                <a:latin typeface="Times New Roman" panose="02020603050405020304" pitchFamily="18" charset="0"/>
              </a:rPr>
              <a:t>	2.1 The amount of weak acids in a solution can be determined by </a:t>
            </a:r>
            <a:r>
              <a:rPr lang="en-US" altLang="zh-CN" sz="2800" b="1" dirty="0">
                <a:solidFill>
                  <a:srgbClr val="FF0066"/>
                </a:solidFill>
                <a:latin typeface="Times New Roman" panose="02020603050405020304" pitchFamily="18" charset="0"/>
              </a:rPr>
              <a:t>titrating with a strong base of known concentration</a:t>
            </a:r>
            <a:r>
              <a:rPr lang="en-US" altLang="zh-CN" sz="2800" b="1" dirty="0">
                <a:latin typeface="Times New Roman" panose="02020603050405020304" pitchFamily="18" charset="0"/>
              </a:rPr>
              <a:t> .</a:t>
            </a:r>
          </a:p>
          <a:p>
            <a:pPr eaLnBrk="1" hangingPunct="1">
              <a:spcBef>
                <a:spcPct val="50000"/>
              </a:spcBef>
              <a:buClrTx/>
              <a:buSzTx/>
              <a:buFontTx/>
              <a:buNone/>
            </a:pPr>
            <a:r>
              <a:rPr lang="en-US" altLang="zh-CN" sz="2800" b="1" dirty="0">
                <a:latin typeface="Times New Roman" panose="02020603050405020304" pitchFamily="18" charset="0"/>
              </a:rPr>
              <a:t>	2.2 Titration curves are made from plotting the </a:t>
            </a:r>
            <a:r>
              <a:rPr lang="en-US" altLang="zh-CN" sz="2800" b="1" dirty="0">
                <a:solidFill>
                  <a:srgbClr val="FF0066"/>
                </a:solidFill>
                <a:latin typeface="Times New Roman" panose="02020603050405020304" pitchFamily="18" charset="0"/>
              </a:rPr>
              <a:t>pH</a:t>
            </a:r>
            <a:r>
              <a:rPr lang="en-US" altLang="zh-CN" sz="2800" b="1" dirty="0">
                <a:latin typeface="Times New Roman" panose="02020603050405020304" pitchFamily="18" charset="0"/>
              </a:rPr>
              <a:t> of the solution against the </a:t>
            </a:r>
            <a:r>
              <a:rPr lang="en-US" altLang="zh-CN" sz="2800" b="1" dirty="0">
                <a:solidFill>
                  <a:srgbClr val="FF0066"/>
                </a:solidFill>
                <a:latin typeface="Times New Roman" panose="02020603050405020304" pitchFamily="18" charset="0"/>
              </a:rPr>
              <a:t>amount of strong base </a:t>
            </a:r>
            <a:r>
              <a:rPr lang="en-US" altLang="zh-CN" sz="2800" b="1" dirty="0">
                <a:latin typeface="Times New Roman" panose="02020603050405020304" pitchFamily="18" charset="0"/>
              </a:rPr>
              <a:t>added  to neutralize the weak acid (until [proton donor]~0, [proton acceptor]=initial weak acid concentration, that is, all weak acid molecules are ionized, no more buffering effect, pH increases rapidly).</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a:extLst>
              <a:ext uri="{FF2B5EF4-FFF2-40B4-BE49-F238E27FC236}">
                <a16:creationId xmlns:a16="http://schemas.microsoft.com/office/drawing/2014/main" id="{436F669D-C9DB-40DF-B149-E66CABF968C3}"/>
              </a:ext>
            </a:extLst>
          </p:cNvPr>
          <p:cNvSpPr txBox="1">
            <a:spLocks noChangeArrowheads="1"/>
          </p:cNvSpPr>
          <p:nvPr/>
        </p:nvSpPr>
        <p:spPr bwMode="auto">
          <a:xfrm>
            <a:off x="304800" y="381000"/>
            <a:ext cx="8610600" cy="500538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dirty="0">
                <a:latin typeface="Times New Roman" panose="02020603050405020304" pitchFamily="18" charset="0"/>
              </a:rPr>
              <a:t>	</a:t>
            </a:r>
            <a:r>
              <a:rPr lang="en-US" altLang="zh-CN" sz="2800" b="1" dirty="0">
                <a:latin typeface="Times New Roman" panose="02020603050405020304" pitchFamily="18" charset="0"/>
              </a:rPr>
              <a:t>2.3 Titration curves of weak acids have </a:t>
            </a:r>
            <a:r>
              <a:rPr lang="en-US" altLang="zh-CN" sz="2800" b="1" dirty="0">
                <a:solidFill>
                  <a:srgbClr val="FF0066"/>
                </a:solidFill>
                <a:latin typeface="Times New Roman" panose="02020603050405020304" pitchFamily="18" charset="0"/>
              </a:rPr>
              <a:t>nearly identical shapes</a:t>
            </a:r>
            <a:r>
              <a:rPr lang="en-US" altLang="zh-CN" sz="2800" b="1" dirty="0">
                <a:latin typeface="Times New Roman" panose="02020603050405020304" pitchFamily="18" charset="0"/>
              </a:rPr>
              <a:t> (reflecting the same law behind the phenomenon)</a:t>
            </a:r>
          </a:p>
          <a:p>
            <a:pPr eaLnBrk="1" hangingPunct="1">
              <a:spcBef>
                <a:spcPct val="50000"/>
              </a:spcBef>
              <a:buClrTx/>
              <a:buSzTx/>
              <a:buFontTx/>
              <a:buNone/>
            </a:pPr>
            <a:r>
              <a:rPr lang="en-US" altLang="zh-CN" sz="2800" b="1" dirty="0">
                <a:latin typeface="Times New Roman" panose="02020603050405020304" pitchFamily="18" charset="0"/>
              </a:rPr>
              <a:t>	2.4 </a:t>
            </a:r>
            <a:r>
              <a:rPr lang="en-US" altLang="zh-CN" sz="2800" b="1" dirty="0">
                <a:solidFill>
                  <a:srgbClr val="FF0066"/>
                </a:solidFill>
                <a:latin typeface="Times New Roman" panose="02020603050405020304" pitchFamily="18" charset="0"/>
              </a:rPr>
              <a:t>The Henderson-Hasselbalch equation fits the titration curves of all weak acids</a:t>
            </a:r>
            <a:r>
              <a:rPr lang="en-US" altLang="zh-CN" sz="2800" b="1" dirty="0">
                <a:latin typeface="Times New Roman" panose="02020603050405020304" pitchFamily="18" charset="0"/>
              </a:rPr>
              <a:t>!</a:t>
            </a:r>
          </a:p>
          <a:p>
            <a:pPr eaLnBrk="1" hangingPunct="1">
              <a:spcBef>
                <a:spcPct val="50000"/>
              </a:spcBef>
              <a:buClrTx/>
              <a:buSzTx/>
              <a:buFontTx/>
              <a:buNone/>
            </a:pPr>
            <a:r>
              <a:rPr lang="en-US" altLang="zh-CN" sz="2800" b="1" dirty="0">
                <a:latin typeface="Times New Roman" panose="02020603050405020304" pitchFamily="18" charset="0"/>
              </a:rPr>
              <a:t>	pH = </a:t>
            </a:r>
            <a:r>
              <a:rPr lang="en-US" altLang="zh-CN" sz="2800" b="1" dirty="0" err="1">
                <a:latin typeface="Times New Roman" panose="02020603050405020304" pitchFamily="18" charset="0"/>
              </a:rPr>
              <a:t>pKa</a:t>
            </a:r>
            <a:r>
              <a:rPr lang="en-US" altLang="zh-CN" sz="2800" b="1" dirty="0">
                <a:latin typeface="Times New Roman" panose="02020603050405020304" pitchFamily="18" charset="0"/>
              </a:rPr>
              <a:t> + log[proton acceptor]/[proton donor]</a:t>
            </a:r>
          </a:p>
          <a:p>
            <a:pPr eaLnBrk="1" hangingPunct="1">
              <a:spcBef>
                <a:spcPct val="50000"/>
              </a:spcBef>
              <a:buClrTx/>
              <a:buSzTx/>
              <a:buFontTx/>
              <a:buNone/>
            </a:pPr>
            <a:r>
              <a:rPr lang="en-US" altLang="zh-CN" sz="2800" b="1" dirty="0">
                <a:latin typeface="Times New Roman" panose="02020603050405020304" pitchFamily="18" charset="0"/>
              </a:rPr>
              <a:t>	2.5 The </a:t>
            </a:r>
            <a:r>
              <a:rPr lang="en-US" altLang="zh-CN" sz="2800" b="1" dirty="0">
                <a:solidFill>
                  <a:srgbClr val="FF0066"/>
                </a:solidFill>
                <a:latin typeface="Times New Roman" panose="02020603050405020304" pitchFamily="18" charset="0"/>
              </a:rPr>
              <a:t>pH value </a:t>
            </a:r>
            <a:r>
              <a:rPr lang="en-US" altLang="zh-CN" sz="2800" b="1" dirty="0">
                <a:latin typeface="Times New Roman" panose="02020603050405020304" pitchFamily="18" charset="0"/>
              </a:rPr>
              <a:t>at which the conjugate acid-base pair is at </a:t>
            </a:r>
            <a:r>
              <a:rPr lang="en-US" altLang="zh-CN" sz="2800" b="1" dirty="0">
                <a:solidFill>
                  <a:srgbClr val="FF0066"/>
                </a:solidFill>
                <a:latin typeface="Times New Roman" panose="02020603050405020304" pitchFamily="18" charset="0"/>
              </a:rPr>
              <a:t>equimolar concentration </a:t>
            </a:r>
            <a:r>
              <a:rPr lang="en-US" altLang="zh-CN" sz="2800" b="1" dirty="0">
                <a:latin typeface="Times New Roman" panose="02020603050405020304" pitchFamily="18" charset="0"/>
              </a:rPr>
              <a:t>equals to the </a:t>
            </a:r>
            <a:r>
              <a:rPr lang="en-US" altLang="zh-CN" sz="2800" b="1" dirty="0" err="1">
                <a:solidFill>
                  <a:srgbClr val="FF0066"/>
                </a:solidFill>
                <a:latin typeface="Times New Roman" panose="02020603050405020304" pitchFamily="18" charset="0"/>
              </a:rPr>
              <a:t>pKa</a:t>
            </a:r>
            <a:r>
              <a:rPr lang="en-US" altLang="zh-CN" sz="2800" b="1" dirty="0">
                <a:solidFill>
                  <a:srgbClr val="FF0066"/>
                </a:solidFill>
                <a:latin typeface="Times New Roman" panose="02020603050405020304" pitchFamily="18" charset="0"/>
              </a:rPr>
              <a:t> value </a:t>
            </a:r>
            <a:r>
              <a:rPr lang="en-US" altLang="zh-CN" sz="2800" b="1" dirty="0">
                <a:latin typeface="Times New Roman" panose="02020603050405020304" pitchFamily="18" charset="0"/>
              </a:rPr>
              <a:t>of the weak acid. The plateau of the curve gives the </a:t>
            </a:r>
            <a:r>
              <a:rPr lang="en-US" altLang="zh-CN" sz="2800" b="1" dirty="0" err="1">
                <a:latin typeface="Times New Roman" panose="02020603050405020304" pitchFamily="18" charset="0"/>
              </a:rPr>
              <a:t>pKa</a:t>
            </a:r>
            <a:r>
              <a:rPr lang="en-US" altLang="zh-CN" sz="2800" b="1" dirty="0">
                <a:latin typeface="Times New Roman" panose="02020603050405020304" pitchFamily="18" charset="0"/>
              </a:rPr>
              <a:t>. </a:t>
            </a:r>
          </a:p>
        </p:txBody>
      </p:sp>
      <p:pic>
        <p:nvPicPr>
          <p:cNvPr id="3" name="Picture 2">
            <a:extLst>
              <a:ext uri="{FF2B5EF4-FFF2-40B4-BE49-F238E27FC236}">
                <a16:creationId xmlns:a16="http://schemas.microsoft.com/office/drawing/2014/main" id="{3CD5816B-2C88-444D-8454-7CADBB7F897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7711" b="19032"/>
          <a:stretch/>
        </p:blipFill>
        <p:spPr bwMode="auto">
          <a:xfrm>
            <a:off x="6444208" y="2492896"/>
            <a:ext cx="2096968"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a:extLst>
              <a:ext uri="{FF2B5EF4-FFF2-40B4-BE49-F238E27FC236}">
                <a16:creationId xmlns:a16="http://schemas.microsoft.com/office/drawing/2014/main" id="{E24081AB-4B8B-4B17-AC9C-C844F2873A06}"/>
              </a:ext>
            </a:extLst>
          </p:cNvPr>
          <p:cNvSpPr txBox="1">
            <a:spLocks noChangeArrowheads="1"/>
          </p:cNvSpPr>
          <p:nvPr/>
        </p:nvSpPr>
        <p:spPr bwMode="auto">
          <a:xfrm>
            <a:off x="304800" y="723900"/>
            <a:ext cx="8839200" cy="419258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50000"/>
              </a:spcBef>
              <a:buClrTx/>
              <a:buSzTx/>
              <a:buFontTx/>
              <a:buNone/>
            </a:pPr>
            <a:r>
              <a:rPr lang="en-US" altLang="zh-CN" sz="2800" b="1" dirty="0">
                <a:latin typeface="Times New Roman" panose="02020603050405020304" pitchFamily="18" charset="0"/>
              </a:rPr>
              <a:t>3 The titration curves of weak acids indicate that a conjugate acid-base pair can act as </a:t>
            </a:r>
            <a:r>
              <a:rPr lang="en-US" altLang="zh-CN" sz="2800" b="1" dirty="0">
                <a:solidFill>
                  <a:srgbClr val="FF0066"/>
                </a:solidFill>
                <a:latin typeface="Times New Roman" panose="02020603050405020304" pitchFamily="18" charset="0"/>
              </a:rPr>
              <a:t>a buffer (resisting to pH changes of the system).</a:t>
            </a:r>
          </a:p>
          <a:p>
            <a:pPr eaLnBrk="1" hangingPunct="1">
              <a:lnSpc>
                <a:spcPct val="90000"/>
              </a:lnSpc>
              <a:spcBef>
                <a:spcPct val="50000"/>
              </a:spcBef>
              <a:buClrTx/>
              <a:buSzTx/>
              <a:buFontTx/>
              <a:buNone/>
            </a:pPr>
            <a:r>
              <a:rPr lang="en-US" altLang="zh-CN" sz="2800" b="1" dirty="0">
                <a:latin typeface="Times New Roman" panose="02020603050405020304" pitchFamily="18" charset="0"/>
              </a:rPr>
              <a:t>	3.1 There is a relatively </a:t>
            </a:r>
            <a:r>
              <a:rPr lang="en-US" altLang="zh-CN" sz="2800" b="1" dirty="0">
                <a:solidFill>
                  <a:srgbClr val="FF0066"/>
                </a:solidFill>
                <a:latin typeface="Times New Roman" panose="02020603050405020304" pitchFamily="18" charset="0"/>
              </a:rPr>
              <a:t>flat zone</a:t>
            </a:r>
            <a:r>
              <a:rPr lang="en-US" altLang="zh-CN" sz="2800" b="1" dirty="0">
                <a:latin typeface="Times New Roman" panose="02020603050405020304" pitchFamily="18" charset="0"/>
              </a:rPr>
              <a:t> on all titration curves of weak acids extending </a:t>
            </a:r>
            <a:r>
              <a:rPr lang="en-US" altLang="zh-CN" sz="2800" b="1" dirty="0">
                <a:solidFill>
                  <a:srgbClr val="FF0066"/>
                </a:solidFill>
                <a:latin typeface="Times New Roman" panose="02020603050405020304" pitchFamily="18" charset="0"/>
              </a:rPr>
              <a:t>about 1 pH units on either side of the </a:t>
            </a:r>
            <a:r>
              <a:rPr lang="en-US" altLang="zh-CN" sz="2800" b="1" dirty="0" err="1">
                <a:solidFill>
                  <a:srgbClr val="FF0066"/>
                </a:solidFill>
                <a:latin typeface="Times New Roman" panose="02020603050405020304" pitchFamily="18" charset="0"/>
              </a:rPr>
              <a:t>pKa</a:t>
            </a:r>
            <a:r>
              <a:rPr lang="en-US" altLang="zh-CN" sz="2800" b="1" dirty="0">
                <a:solidFill>
                  <a:srgbClr val="FF0066"/>
                </a:solidFill>
                <a:latin typeface="Times New Roman" panose="02020603050405020304" pitchFamily="18" charset="0"/>
              </a:rPr>
              <a:t> values.</a:t>
            </a:r>
          </a:p>
          <a:p>
            <a:pPr eaLnBrk="1" hangingPunct="1">
              <a:lnSpc>
                <a:spcPct val="90000"/>
              </a:lnSpc>
              <a:spcBef>
                <a:spcPct val="50000"/>
              </a:spcBef>
              <a:buClrTx/>
              <a:buSzTx/>
              <a:buFontTx/>
              <a:buNone/>
            </a:pPr>
            <a:r>
              <a:rPr lang="en-US" altLang="zh-CN" sz="2800" b="1" dirty="0">
                <a:latin typeface="Times New Roman" panose="02020603050405020304" pitchFamily="18" charset="0"/>
              </a:rPr>
              <a:t>	3.2 pH changes little in the flat zone when H</a:t>
            </a:r>
            <a:r>
              <a:rPr lang="en-US" altLang="zh-CN" sz="2800" b="1" baseline="30000" dirty="0">
                <a:latin typeface="Times New Roman" panose="02020603050405020304" pitchFamily="18" charset="0"/>
              </a:rPr>
              <a:t>+</a:t>
            </a:r>
            <a:r>
              <a:rPr lang="en-US" altLang="zh-CN" sz="2800" b="1" dirty="0">
                <a:latin typeface="Times New Roman" panose="02020603050405020304" pitchFamily="18" charset="0"/>
              </a:rPr>
              <a:t> or OH</a:t>
            </a:r>
            <a:r>
              <a:rPr lang="en-US" altLang="zh-CN" sz="2800" b="1" baseline="30000" dirty="0">
                <a:latin typeface="Times New Roman" panose="02020603050405020304" pitchFamily="18" charset="0"/>
              </a:rPr>
              <a:t>-</a:t>
            </a:r>
            <a:r>
              <a:rPr lang="en-US" altLang="zh-CN" sz="2800" b="1" dirty="0">
                <a:latin typeface="Times New Roman" panose="02020603050405020304" pitchFamily="18" charset="0"/>
              </a:rPr>
              <a:t> are added to the system .</a:t>
            </a:r>
          </a:p>
          <a:p>
            <a:pPr eaLnBrk="1" hangingPunct="1">
              <a:lnSpc>
                <a:spcPct val="90000"/>
              </a:lnSpc>
              <a:spcBef>
                <a:spcPct val="50000"/>
              </a:spcBef>
              <a:buClrTx/>
              <a:buSzTx/>
              <a:buFontTx/>
              <a:buNone/>
            </a:pPr>
            <a:r>
              <a:rPr lang="en-US" altLang="zh-CN" sz="2800" b="1" dirty="0">
                <a:latin typeface="Times New Roman" panose="02020603050405020304" pitchFamily="18" charset="0"/>
              </a:rPr>
              <a:t>	</a:t>
            </a:r>
            <a:endParaRPr lang="en-US" altLang="zh-CN" sz="2400" dirty="0">
              <a:latin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a:extLst>
              <a:ext uri="{FF2B5EF4-FFF2-40B4-BE49-F238E27FC236}">
                <a16:creationId xmlns:a16="http://schemas.microsoft.com/office/drawing/2014/main" id="{1507CDD2-2F22-4068-9C70-492CE78D8E61}"/>
              </a:ext>
            </a:extLst>
          </p:cNvPr>
          <p:cNvSpPr txBox="1">
            <a:spLocks noChangeArrowheads="1"/>
          </p:cNvSpPr>
          <p:nvPr/>
        </p:nvSpPr>
        <p:spPr bwMode="auto">
          <a:xfrm>
            <a:off x="827088" y="1484313"/>
            <a:ext cx="7696200" cy="388208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50000"/>
              </a:spcBef>
              <a:buClrTx/>
              <a:buSzTx/>
              <a:buFontTx/>
              <a:buNone/>
            </a:pPr>
            <a:r>
              <a:rPr lang="zh-CN" altLang="en-US" sz="2400" dirty="0">
                <a:latin typeface="Times New Roman" panose="02020603050405020304" pitchFamily="18" charset="0"/>
              </a:rPr>
              <a:t>	</a:t>
            </a:r>
            <a:r>
              <a:rPr lang="en-US" altLang="zh-CN" sz="2800" b="1" dirty="0">
                <a:latin typeface="Times New Roman" panose="02020603050405020304" pitchFamily="18" charset="0"/>
              </a:rPr>
              <a:t>3.3 pH values in biological systems are usually </a:t>
            </a:r>
            <a:r>
              <a:rPr lang="en-US" altLang="zh-CN" sz="2800" b="1" dirty="0">
                <a:solidFill>
                  <a:srgbClr val="FF0066"/>
                </a:solidFill>
                <a:latin typeface="Times New Roman" panose="02020603050405020304" pitchFamily="18" charset="0"/>
              </a:rPr>
              <a:t>strictly kept constant</a:t>
            </a:r>
            <a:r>
              <a:rPr lang="en-US" altLang="zh-CN" sz="2800" b="1" dirty="0">
                <a:latin typeface="Times New Roman" panose="02020603050405020304" pitchFamily="18" charset="0"/>
              </a:rPr>
              <a:t> (near pH 7.0) by buffering pairs of conjugate acid-bases.</a:t>
            </a:r>
          </a:p>
          <a:p>
            <a:pPr eaLnBrk="1" hangingPunct="1">
              <a:lnSpc>
                <a:spcPct val="120000"/>
              </a:lnSpc>
              <a:spcBef>
                <a:spcPct val="50000"/>
              </a:spcBef>
              <a:buClrTx/>
              <a:buSzTx/>
              <a:buFontTx/>
              <a:buNone/>
            </a:pPr>
            <a:r>
              <a:rPr lang="en-US" altLang="zh-CN" sz="2800" b="1" dirty="0">
                <a:solidFill>
                  <a:schemeClr val="hlink"/>
                </a:solidFill>
                <a:latin typeface="Times New Roman" panose="02020603050405020304" pitchFamily="18" charset="0"/>
              </a:rPr>
              <a:t>(e.g.,</a:t>
            </a:r>
            <a:r>
              <a:rPr lang="en-US" altLang="zh-CN" sz="2800" b="1" dirty="0">
                <a:latin typeface="Times New Roman" panose="02020603050405020304" pitchFamily="18" charset="0"/>
              </a:rPr>
              <a:t> the phosphate buffer </a:t>
            </a:r>
            <a:r>
              <a:rPr lang="en-US" altLang="zh-CN" sz="2800" b="1" dirty="0">
                <a:solidFill>
                  <a:srgbClr val="FF0066"/>
                </a:solidFill>
                <a:latin typeface="Times New Roman" panose="02020603050405020304" pitchFamily="18" charset="0"/>
              </a:rPr>
              <a:t>H</a:t>
            </a:r>
            <a:r>
              <a:rPr lang="en-US" altLang="zh-CN" sz="2800" b="1" baseline="-25000" dirty="0">
                <a:solidFill>
                  <a:srgbClr val="FF0066"/>
                </a:solidFill>
                <a:latin typeface="Times New Roman" panose="02020603050405020304" pitchFamily="18" charset="0"/>
              </a:rPr>
              <a:t>2</a:t>
            </a:r>
            <a:r>
              <a:rPr lang="en-US" altLang="zh-CN" sz="2800" b="1" dirty="0">
                <a:solidFill>
                  <a:srgbClr val="FF0066"/>
                </a:solidFill>
                <a:latin typeface="Times New Roman" panose="02020603050405020304" pitchFamily="18" charset="0"/>
              </a:rPr>
              <a:t>PO</a:t>
            </a:r>
            <a:r>
              <a:rPr lang="en-US" altLang="zh-CN" sz="2800" b="1" baseline="-25000" dirty="0">
                <a:solidFill>
                  <a:srgbClr val="FF0066"/>
                </a:solidFill>
                <a:latin typeface="Times New Roman" panose="02020603050405020304" pitchFamily="18" charset="0"/>
              </a:rPr>
              <a:t>4</a:t>
            </a:r>
            <a:r>
              <a:rPr lang="en-US" altLang="zh-CN" sz="2800" b="1" baseline="30000" dirty="0">
                <a:solidFill>
                  <a:srgbClr val="FF0066"/>
                </a:solidFill>
                <a:latin typeface="Times New Roman" panose="02020603050405020304" pitchFamily="18" charset="0"/>
              </a:rPr>
              <a:t>-</a:t>
            </a:r>
            <a:r>
              <a:rPr lang="en-US" altLang="zh-CN" sz="2800" b="1" dirty="0">
                <a:solidFill>
                  <a:srgbClr val="FF0066"/>
                </a:solidFill>
                <a:latin typeface="Times New Roman" panose="02020603050405020304" pitchFamily="18" charset="0"/>
              </a:rPr>
              <a:t>/HPO</a:t>
            </a:r>
            <a:r>
              <a:rPr lang="en-US" altLang="zh-CN" sz="2800" b="1" baseline="-25000" dirty="0">
                <a:solidFill>
                  <a:srgbClr val="FF0066"/>
                </a:solidFill>
                <a:latin typeface="Times New Roman" panose="02020603050405020304" pitchFamily="18" charset="0"/>
              </a:rPr>
              <a:t>4</a:t>
            </a:r>
            <a:r>
              <a:rPr lang="en-US" altLang="zh-CN" sz="2800" b="1" baseline="30000" dirty="0">
                <a:solidFill>
                  <a:srgbClr val="FF0066"/>
                </a:solidFill>
                <a:latin typeface="Times New Roman" panose="02020603050405020304" pitchFamily="18" charset="0"/>
              </a:rPr>
              <a:t>-2</a:t>
            </a:r>
            <a:r>
              <a:rPr lang="en-US" altLang="zh-CN" sz="2800" b="1" dirty="0">
                <a:solidFill>
                  <a:srgbClr val="FF0066"/>
                </a:solidFill>
                <a:latin typeface="Times New Roman" panose="02020603050405020304" pitchFamily="18" charset="0"/>
              </a:rPr>
              <a:t> </a:t>
            </a:r>
            <a:r>
              <a:rPr lang="en-US" altLang="zh-CN" sz="2800" b="1" dirty="0">
                <a:latin typeface="Times New Roman" panose="02020603050405020304" pitchFamily="18" charset="0"/>
              </a:rPr>
              <a:t>in cytoplasm and the bicarbonate buffer </a:t>
            </a:r>
            <a:r>
              <a:rPr lang="en-US" altLang="zh-CN" sz="2800" b="1" dirty="0">
                <a:solidFill>
                  <a:srgbClr val="FF0066"/>
                </a:solidFill>
                <a:latin typeface="Times New Roman" panose="02020603050405020304" pitchFamily="18" charset="0"/>
              </a:rPr>
              <a:t>H</a:t>
            </a:r>
            <a:r>
              <a:rPr lang="en-US" altLang="zh-CN" sz="2800" b="1" baseline="-25000" dirty="0">
                <a:solidFill>
                  <a:srgbClr val="FF0066"/>
                </a:solidFill>
                <a:latin typeface="Times New Roman" panose="02020603050405020304" pitchFamily="18" charset="0"/>
              </a:rPr>
              <a:t>2</a:t>
            </a:r>
            <a:r>
              <a:rPr lang="en-US" altLang="zh-CN" sz="2800" b="1" dirty="0">
                <a:solidFill>
                  <a:srgbClr val="FF0066"/>
                </a:solidFill>
                <a:latin typeface="Times New Roman" panose="02020603050405020304" pitchFamily="18" charset="0"/>
              </a:rPr>
              <a:t>CO</a:t>
            </a:r>
            <a:r>
              <a:rPr lang="en-US" altLang="zh-CN" sz="2800" b="1" baseline="-25000" dirty="0">
                <a:solidFill>
                  <a:srgbClr val="FF0066"/>
                </a:solidFill>
                <a:latin typeface="Times New Roman" panose="02020603050405020304" pitchFamily="18" charset="0"/>
              </a:rPr>
              <a:t>3</a:t>
            </a:r>
            <a:r>
              <a:rPr lang="en-US" altLang="zh-CN" sz="2800" b="1" dirty="0">
                <a:solidFill>
                  <a:srgbClr val="FF0066"/>
                </a:solidFill>
                <a:latin typeface="Times New Roman" panose="02020603050405020304" pitchFamily="18" charset="0"/>
              </a:rPr>
              <a:t>/HCO</a:t>
            </a:r>
            <a:r>
              <a:rPr lang="en-US" altLang="zh-CN" sz="2800" b="1" baseline="-25000" dirty="0">
                <a:solidFill>
                  <a:srgbClr val="FF0066"/>
                </a:solidFill>
                <a:latin typeface="Times New Roman" panose="02020603050405020304" pitchFamily="18" charset="0"/>
              </a:rPr>
              <a:t>3</a:t>
            </a:r>
            <a:r>
              <a:rPr lang="en-US" altLang="zh-CN" sz="2800" b="1" baseline="30000" dirty="0">
                <a:solidFill>
                  <a:srgbClr val="FF0066"/>
                </a:solidFill>
                <a:latin typeface="Times New Roman" panose="02020603050405020304" pitchFamily="18" charset="0"/>
              </a:rPr>
              <a:t>-</a:t>
            </a:r>
            <a:r>
              <a:rPr lang="en-US" altLang="zh-CN" sz="2800" b="1" dirty="0">
                <a:solidFill>
                  <a:srgbClr val="FF0066"/>
                </a:solidFill>
                <a:latin typeface="Times New Roman" panose="02020603050405020304" pitchFamily="18" charset="0"/>
              </a:rPr>
              <a:t> </a:t>
            </a:r>
            <a:r>
              <a:rPr lang="en-US" altLang="zh-CN" sz="2800" b="1" dirty="0">
                <a:latin typeface="Times New Roman" panose="02020603050405020304" pitchFamily="18" charset="0"/>
              </a:rPr>
              <a:t>in blood, better with CO</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 gas to dissolved H</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CO</a:t>
            </a:r>
            <a:r>
              <a:rPr lang="en-US" altLang="zh-CN" sz="2800" b="1" baseline="-25000" dirty="0">
                <a:latin typeface="Times New Roman" panose="02020603050405020304" pitchFamily="18" charset="0"/>
              </a:rPr>
              <a:t>3</a:t>
            </a:r>
            <a:r>
              <a:rPr lang="en-US" altLang="zh-CN" sz="2800" b="1" dirty="0">
                <a:latin typeface="Times New Roman" panose="02020603050405020304" pitchFamily="18" charset="0"/>
              </a:rPr>
              <a:t> conversion).</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8" name="Picture 2">
            <a:extLst>
              <a:ext uri="{FF2B5EF4-FFF2-40B4-BE49-F238E27FC236}">
                <a16:creationId xmlns:a16="http://schemas.microsoft.com/office/drawing/2014/main" id="{03090563-1936-4B14-BBF6-71D808C797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196752"/>
            <a:ext cx="8026400" cy="401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647BC8F2-34F3-470E-894D-C91EC4286764}"/>
              </a:ext>
            </a:extLst>
          </p:cNvPr>
          <p:cNvSpPr txBox="1"/>
          <p:nvPr/>
        </p:nvSpPr>
        <p:spPr>
          <a:xfrm>
            <a:off x="1115616" y="5368860"/>
            <a:ext cx="1800200" cy="584775"/>
          </a:xfrm>
          <a:prstGeom prst="rect">
            <a:avLst/>
          </a:prstGeom>
          <a:noFill/>
        </p:spPr>
        <p:txBody>
          <a:bodyPr wrap="square" rtlCol="0">
            <a:spAutoFit/>
          </a:bodyPr>
          <a:lstStyle/>
          <a:p>
            <a:r>
              <a:rPr lang="en-US" altLang="zh-CN" sz="3200" dirty="0"/>
              <a:t>Histidine</a:t>
            </a:r>
            <a:endParaRPr lang="zh-CN" altLang="en-US" sz="3200" dirty="0"/>
          </a:p>
        </p:txBody>
      </p:sp>
      <p:sp>
        <p:nvSpPr>
          <p:cNvPr id="4" name="矩形 3">
            <a:extLst>
              <a:ext uri="{FF2B5EF4-FFF2-40B4-BE49-F238E27FC236}">
                <a16:creationId xmlns:a16="http://schemas.microsoft.com/office/drawing/2014/main" id="{3A38B888-C45F-48A3-9FC1-F95225647955}"/>
              </a:ext>
            </a:extLst>
          </p:cNvPr>
          <p:cNvSpPr/>
          <p:nvPr/>
        </p:nvSpPr>
        <p:spPr>
          <a:xfrm>
            <a:off x="3131840" y="5476581"/>
            <a:ext cx="2658100" cy="461665"/>
          </a:xfrm>
          <a:prstGeom prst="rect">
            <a:avLst/>
          </a:prstGeom>
        </p:spPr>
        <p:txBody>
          <a:bodyPr wrap="none">
            <a:spAutoFit/>
          </a:bodyPr>
          <a:lstStyle/>
          <a:p>
            <a:r>
              <a:rPr lang="en-US" altLang="zh-CN" sz="2400" b="1" dirty="0">
                <a:latin typeface="Times New Roman" panose="02020603050405020304" pitchFamily="18" charset="0"/>
              </a:rPr>
              <a:t>imidazole(</a:t>
            </a:r>
            <a:r>
              <a:rPr lang="zh-CN" altLang="en-US" sz="2400" b="1" dirty="0">
                <a:latin typeface="Times New Roman" panose="02020603050405020304" pitchFamily="18" charset="0"/>
              </a:rPr>
              <a:t>咪唑基</a:t>
            </a:r>
            <a:r>
              <a:rPr lang="en-US" altLang="zh-CN" sz="2400" b="1" dirty="0">
                <a:latin typeface="Times New Roman" panose="02020603050405020304" pitchFamily="18" charset="0"/>
              </a:rPr>
              <a:t>) </a:t>
            </a:r>
            <a:endParaRPr lang="zh-CN" altLang="en-US" sz="24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 Box 2">
            <a:extLst>
              <a:ext uri="{FF2B5EF4-FFF2-40B4-BE49-F238E27FC236}">
                <a16:creationId xmlns:a16="http://schemas.microsoft.com/office/drawing/2014/main" id="{DABD9BC6-B6AB-4D9D-9A98-3613CDE625D4}"/>
              </a:ext>
            </a:extLst>
          </p:cNvPr>
          <p:cNvSpPr txBox="1">
            <a:spLocks noChangeArrowheads="1"/>
          </p:cNvSpPr>
          <p:nvPr/>
        </p:nvSpPr>
        <p:spPr bwMode="auto">
          <a:xfrm>
            <a:off x="304800" y="514350"/>
            <a:ext cx="8534400" cy="421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b="1" dirty="0">
                <a:latin typeface="Times New Roman" panose="02020603050405020304" pitchFamily="18" charset="0"/>
              </a:rPr>
              <a:t>4. The amino acids</a:t>
            </a:r>
            <a:r>
              <a:rPr lang="en-US" altLang="zh-CN" b="1" dirty="0">
                <a:solidFill>
                  <a:srgbClr val="FF0066"/>
                </a:solidFill>
                <a:latin typeface="Times New Roman" panose="02020603050405020304" pitchFamily="18" charset="0"/>
              </a:rPr>
              <a:t> ionize</a:t>
            </a:r>
            <a:r>
              <a:rPr lang="en-US" altLang="zh-CN" b="1" dirty="0">
                <a:latin typeface="Times New Roman" panose="02020603050405020304" pitchFamily="18" charset="0"/>
              </a:rPr>
              <a:t> in aqueous solutions.</a:t>
            </a:r>
          </a:p>
          <a:p>
            <a:pPr eaLnBrk="1" hangingPunct="1">
              <a:spcBef>
                <a:spcPct val="50000"/>
              </a:spcBef>
              <a:buClrTx/>
              <a:buSzTx/>
              <a:buFontTx/>
              <a:buNone/>
            </a:pPr>
            <a:r>
              <a:rPr lang="en-US" altLang="zh-CN" sz="2800" b="1" dirty="0">
                <a:latin typeface="Times New Roman" panose="02020603050405020304" pitchFamily="18" charset="0"/>
              </a:rPr>
              <a:t>       </a:t>
            </a:r>
          </a:p>
          <a:p>
            <a:pPr eaLnBrk="1" hangingPunct="1">
              <a:spcBef>
                <a:spcPct val="50000"/>
              </a:spcBef>
              <a:buClrTx/>
              <a:buSzTx/>
              <a:buFontTx/>
              <a:buNone/>
            </a:pPr>
            <a:r>
              <a:rPr lang="en-US" altLang="zh-CN" sz="2800" b="1" dirty="0">
                <a:latin typeface="Times New Roman" panose="02020603050405020304" pitchFamily="18" charset="0"/>
              </a:rPr>
              <a:t>        4.1  Crystalline amino acids (in neutral aqueous solutions) have melting points much higher than those of other organic molecules of similar size.</a:t>
            </a:r>
          </a:p>
          <a:p>
            <a:pPr lvl="1" eaLnBrk="1" hangingPunct="1">
              <a:lnSpc>
                <a:spcPct val="150000"/>
              </a:lnSpc>
              <a:spcBef>
                <a:spcPct val="50000"/>
              </a:spcBef>
              <a:buClrTx/>
              <a:buSzTx/>
              <a:buFontTx/>
              <a:buNone/>
            </a:pPr>
            <a:r>
              <a:rPr lang="en-US" altLang="zh-CN" b="1" dirty="0">
                <a:latin typeface="Times New Roman" panose="02020603050405020304" pitchFamily="18" charset="0"/>
              </a:rPr>
              <a:t>   4.2  The amino acids ionize to various states </a:t>
            </a:r>
            <a:r>
              <a:rPr lang="en-US" altLang="zh-CN" b="1" dirty="0">
                <a:solidFill>
                  <a:srgbClr val="FF0066"/>
                </a:solidFill>
                <a:latin typeface="Times New Roman" panose="02020603050405020304" pitchFamily="18" charset="0"/>
              </a:rPr>
              <a:t>depending on pH values.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098CDCFF-F8B3-4651-928D-9E1F5BE9A35F}"/>
              </a:ext>
            </a:extLst>
          </p:cNvPr>
          <p:cNvSpPr>
            <a:spLocks noGrp="1" noChangeArrowheads="1"/>
          </p:cNvSpPr>
          <p:nvPr>
            <p:ph type="body" idx="1"/>
          </p:nvPr>
        </p:nvSpPr>
        <p:spPr>
          <a:xfrm>
            <a:off x="468313" y="1268413"/>
            <a:ext cx="8070850" cy="3803650"/>
          </a:xfrm>
        </p:spPr>
        <p:txBody>
          <a:bodyPr/>
          <a:lstStyle/>
          <a:p>
            <a:pPr lvl="1" eaLnBrk="1" hangingPunct="1">
              <a:spcBef>
                <a:spcPct val="50000"/>
              </a:spcBef>
              <a:buClrTx/>
              <a:buSzTx/>
              <a:buFontTx/>
              <a:buNone/>
            </a:pPr>
            <a:r>
              <a:rPr lang="zh-CN" altLang="en-US" b="1" dirty="0">
                <a:latin typeface="Times New Roman" panose="02020603050405020304" pitchFamily="18" charset="0"/>
              </a:rPr>
              <a:t>             </a:t>
            </a:r>
            <a:r>
              <a:rPr lang="en-US" altLang="zh-CN" b="1" dirty="0">
                <a:latin typeface="Times New Roman" panose="02020603050405020304" pitchFamily="18" charset="0"/>
              </a:rPr>
              <a:t>4.3  The amino acids (of neutral side chains) exist predominantly as </a:t>
            </a:r>
            <a:r>
              <a:rPr lang="en-US" altLang="zh-CN" b="1" dirty="0">
                <a:solidFill>
                  <a:srgbClr val="FF0066"/>
                </a:solidFill>
                <a:latin typeface="Times New Roman" panose="02020603050405020304" pitchFamily="18" charset="0"/>
              </a:rPr>
              <a:t>dipolar ions</a:t>
            </a:r>
            <a:r>
              <a:rPr lang="en-US" altLang="zh-CN" b="1" dirty="0">
                <a:latin typeface="Times New Roman" panose="02020603050405020304" pitchFamily="18" charset="0"/>
              </a:rPr>
              <a:t>, known as </a:t>
            </a:r>
            <a:r>
              <a:rPr lang="en-US" altLang="zh-CN" b="1" dirty="0">
                <a:solidFill>
                  <a:srgbClr val="FF0066"/>
                </a:solidFill>
                <a:latin typeface="Times New Roman" panose="02020603050405020304" pitchFamily="18" charset="0"/>
              </a:rPr>
              <a:t>zwitterions</a:t>
            </a:r>
            <a:r>
              <a:rPr lang="en-US" altLang="zh-CN" b="1" dirty="0">
                <a:latin typeface="Times New Roman" panose="02020603050405020304" pitchFamily="18" charset="0"/>
              </a:rPr>
              <a:t> (German for “hybrid ions”).</a:t>
            </a:r>
          </a:p>
          <a:p>
            <a:pPr lvl="1" eaLnBrk="1" hangingPunct="1">
              <a:spcBef>
                <a:spcPct val="50000"/>
              </a:spcBef>
              <a:buClrTx/>
              <a:buSzTx/>
              <a:buFontTx/>
              <a:buNone/>
            </a:pPr>
            <a:r>
              <a:rPr lang="en-US" altLang="zh-CN" b="1" dirty="0">
                <a:latin typeface="Times New Roman" panose="02020603050405020304" pitchFamily="18" charset="0"/>
              </a:rPr>
              <a:t>            4.4  Amino acids can act both as acids and bases. The zwitterion form of amino acids are </a:t>
            </a:r>
            <a:r>
              <a:rPr lang="en-US" altLang="zh-CN" b="1" dirty="0">
                <a:solidFill>
                  <a:srgbClr val="FF0066"/>
                </a:solidFill>
                <a:latin typeface="Times New Roman" panose="02020603050405020304" pitchFamily="18" charset="0"/>
              </a:rPr>
              <a:t>ampholytes</a:t>
            </a:r>
            <a:r>
              <a:rPr lang="en-US" altLang="zh-CN" b="1" dirty="0">
                <a:latin typeface="Times New Roman" panose="02020603050405020304" pitchFamily="18" charset="0"/>
              </a:rPr>
              <a:t>. Amino acids can be diprotic and triprotic acids.</a:t>
            </a:r>
          </a:p>
          <a:p>
            <a:pPr eaLnBrk="1" hangingPunct="1">
              <a:buFont typeface="Wingdings" panose="05000000000000000000" pitchFamily="2" charset="2"/>
              <a:buNone/>
            </a:pPr>
            <a:endParaRPr lang="zh-CN" alt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Picture 2">
            <a:extLst>
              <a:ext uri="{FF2B5EF4-FFF2-40B4-BE49-F238E27FC236}">
                <a16:creationId xmlns:a16="http://schemas.microsoft.com/office/drawing/2014/main" id="{F608D9D1-662E-42B1-BA21-5831E64F34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901700"/>
            <a:ext cx="8026400" cy="505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ext Box 2">
            <a:extLst>
              <a:ext uri="{FF2B5EF4-FFF2-40B4-BE49-F238E27FC236}">
                <a16:creationId xmlns:a16="http://schemas.microsoft.com/office/drawing/2014/main" id="{1E960CB0-BF1A-49DA-8F7E-1155839F6112}"/>
              </a:ext>
            </a:extLst>
          </p:cNvPr>
          <p:cNvSpPr txBox="1">
            <a:spLocks noChangeArrowheads="1"/>
          </p:cNvSpPr>
          <p:nvPr/>
        </p:nvSpPr>
        <p:spPr bwMode="auto">
          <a:xfrm>
            <a:off x="304800" y="228600"/>
            <a:ext cx="8458200" cy="543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50000"/>
              </a:spcBef>
              <a:buClrTx/>
              <a:buSzTx/>
              <a:buFontTx/>
              <a:buNone/>
            </a:pPr>
            <a:r>
              <a:rPr lang="en-US" altLang="zh-CN" sz="2800" b="1" dirty="0">
                <a:latin typeface="Times New Roman" panose="02020603050405020304" pitchFamily="18" charset="0"/>
              </a:rPr>
              <a:t>4.5 </a:t>
            </a:r>
            <a:r>
              <a:rPr lang="en-US" altLang="zh-CN" sz="2800" b="1" dirty="0" err="1">
                <a:latin typeface="Times New Roman" panose="02020603050405020304" pitchFamily="18" charset="0"/>
              </a:rPr>
              <a:t>Monoamino</a:t>
            </a:r>
            <a:r>
              <a:rPr lang="en-US" altLang="zh-CN" sz="2800" b="1" dirty="0">
                <a:latin typeface="Times New Roman" panose="02020603050405020304" pitchFamily="18" charset="0"/>
              </a:rPr>
              <a:t> monocarboxylic </a:t>
            </a:r>
            <a:r>
              <a:rPr lang="en-US" altLang="zh-CN" sz="2800" b="1" dirty="0">
                <a:latin typeface="Symbol" panose="05050102010706020507" pitchFamily="18" charset="2"/>
              </a:rPr>
              <a:t>a</a:t>
            </a:r>
            <a:r>
              <a:rPr lang="en-US" altLang="zh-CN" sz="2800" b="1" dirty="0">
                <a:latin typeface="Times New Roman" panose="02020603050405020304" pitchFamily="18" charset="0"/>
              </a:rPr>
              <a:t>-amino acids </a:t>
            </a:r>
          </a:p>
          <a:p>
            <a:pPr eaLnBrk="1" hangingPunct="1">
              <a:lnSpc>
                <a:spcPct val="150000"/>
              </a:lnSpc>
              <a:spcBef>
                <a:spcPct val="50000"/>
              </a:spcBef>
              <a:buClrTx/>
              <a:buSzTx/>
              <a:buFontTx/>
              <a:buNone/>
            </a:pPr>
            <a:r>
              <a:rPr lang="en-US" altLang="zh-CN" sz="2800" b="1" dirty="0">
                <a:latin typeface="Times New Roman" panose="02020603050405020304" pitchFamily="18" charset="0"/>
              </a:rPr>
              <a:t>          (e.g., </a:t>
            </a:r>
            <a:r>
              <a:rPr lang="en-US" altLang="zh-CN" sz="2800" b="1" dirty="0" err="1">
                <a:latin typeface="Times New Roman" panose="02020603050405020304" pitchFamily="18" charset="0"/>
              </a:rPr>
              <a:t>Gly</a:t>
            </a:r>
            <a:r>
              <a:rPr lang="en-US" altLang="zh-CN" sz="2800" b="1" dirty="0">
                <a:latin typeface="Times New Roman" panose="02020603050405020304" pitchFamily="18" charset="0"/>
              </a:rPr>
              <a:t>, Ser, </a:t>
            </a:r>
            <a:r>
              <a:rPr lang="en-US" altLang="zh-CN" sz="2800" b="1" dirty="0" err="1">
                <a:latin typeface="Times New Roman" panose="02020603050405020304" pitchFamily="18" charset="0"/>
              </a:rPr>
              <a:t>Phe</a:t>
            </a:r>
            <a:r>
              <a:rPr lang="en-US" altLang="zh-CN" sz="2800" b="1" dirty="0">
                <a:latin typeface="Times New Roman" panose="02020603050405020304" pitchFamily="18" charset="0"/>
              </a:rPr>
              <a:t> with no ionizable R groups)</a:t>
            </a:r>
          </a:p>
          <a:p>
            <a:pPr eaLnBrk="1" hangingPunct="1">
              <a:lnSpc>
                <a:spcPct val="150000"/>
              </a:lnSpc>
              <a:spcBef>
                <a:spcPct val="50000"/>
              </a:spcBef>
              <a:buClrTx/>
              <a:buSzTx/>
              <a:buFontTx/>
              <a:buNone/>
            </a:pPr>
            <a:r>
              <a:rPr lang="en-US" altLang="zh-CN" sz="2800" b="1" dirty="0">
                <a:latin typeface="Times New Roman" panose="02020603050405020304" pitchFamily="18" charset="0"/>
              </a:rPr>
              <a:t>         all have similar two-stage titration curves.</a:t>
            </a:r>
          </a:p>
          <a:p>
            <a:pPr lvl="1" eaLnBrk="1" hangingPunct="1">
              <a:lnSpc>
                <a:spcPct val="150000"/>
              </a:lnSpc>
              <a:spcBef>
                <a:spcPct val="50000"/>
              </a:spcBef>
              <a:buClrTx/>
              <a:buSzTx/>
              <a:buFontTx/>
              <a:buChar char="•"/>
            </a:pPr>
            <a:r>
              <a:rPr lang="en-US" altLang="zh-CN" b="1" dirty="0">
                <a:latin typeface="Times New Roman" panose="02020603050405020304" pitchFamily="18" charset="0"/>
              </a:rPr>
              <a:t>The first stage reflects the deprotonation of the </a:t>
            </a:r>
            <a:r>
              <a:rPr lang="en-US" altLang="zh-CN" b="1" dirty="0">
                <a:latin typeface="Symbol" panose="05050102010706020507" pitchFamily="18" charset="2"/>
              </a:rPr>
              <a:t>a</a:t>
            </a:r>
            <a:r>
              <a:rPr lang="en-US" altLang="zh-CN" b="1" dirty="0">
                <a:latin typeface="Times New Roman" panose="02020603050405020304" pitchFamily="18" charset="0"/>
              </a:rPr>
              <a:t>-COOH group (pK</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a:t>
            </a:r>
          </a:p>
          <a:p>
            <a:pPr lvl="1" eaLnBrk="1" hangingPunct="1">
              <a:lnSpc>
                <a:spcPct val="150000"/>
              </a:lnSpc>
              <a:spcBef>
                <a:spcPct val="50000"/>
              </a:spcBef>
              <a:buClrTx/>
              <a:buSzTx/>
              <a:buFontTx/>
              <a:buChar char="•"/>
            </a:pPr>
            <a:r>
              <a:rPr lang="en-US" altLang="zh-CN" b="1" dirty="0">
                <a:latin typeface="Times New Roman" panose="02020603050405020304" pitchFamily="18" charset="0"/>
              </a:rPr>
              <a:t>The second stage reflects the deprotonation of the </a:t>
            </a:r>
            <a:r>
              <a:rPr lang="en-US" altLang="zh-CN" b="1" dirty="0">
                <a:latin typeface="Symbol" panose="05050102010706020507" pitchFamily="18" charset="2"/>
              </a:rPr>
              <a:t>a</a:t>
            </a:r>
            <a:r>
              <a:rPr lang="en-US" altLang="zh-CN" b="1" dirty="0">
                <a:latin typeface="Times New Roman" panose="02020603050405020304" pitchFamily="18" charset="0"/>
              </a:rPr>
              <a:t>-NH </a:t>
            </a:r>
            <a:r>
              <a:rPr lang="en-US" altLang="zh-CN" b="1" baseline="-25000" dirty="0">
                <a:latin typeface="Times New Roman" panose="02020603050405020304" pitchFamily="18" charset="0"/>
              </a:rPr>
              <a:t>3</a:t>
            </a:r>
            <a:r>
              <a:rPr lang="en-US" altLang="zh-CN" b="1" dirty="0">
                <a:latin typeface="Times New Roman" panose="02020603050405020304" pitchFamily="18" charset="0"/>
              </a:rPr>
              <a:t> </a:t>
            </a:r>
            <a:r>
              <a:rPr lang="en-US" altLang="zh-CN" b="1" baseline="30000" dirty="0">
                <a:latin typeface="Times New Roman" panose="02020603050405020304" pitchFamily="18" charset="0"/>
              </a:rPr>
              <a:t>+</a:t>
            </a:r>
            <a:r>
              <a:rPr lang="en-US" altLang="zh-CN" b="1" dirty="0">
                <a:latin typeface="Times New Roman" panose="02020603050405020304" pitchFamily="18" charset="0"/>
              </a:rPr>
              <a:t>  group (pK</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ext Box 2">
            <a:extLst>
              <a:ext uri="{FF2B5EF4-FFF2-40B4-BE49-F238E27FC236}">
                <a16:creationId xmlns:a16="http://schemas.microsoft.com/office/drawing/2014/main" id="{4C204BF6-4C05-4736-9AAA-405E815793DA}"/>
              </a:ext>
            </a:extLst>
          </p:cNvPr>
          <p:cNvSpPr txBox="1">
            <a:spLocks noChangeArrowheads="1"/>
          </p:cNvSpPr>
          <p:nvPr/>
        </p:nvSpPr>
        <p:spPr bwMode="auto">
          <a:xfrm>
            <a:off x="468313" y="333375"/>
            <a:ext cx="8153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a:solidFill>
                  <a:srgbClr val="FF0066"/>
                </a:solidFill>
                <a:latin typeface="Times New Roman" panose="02020603050405020304" pitchFamily="18" charset="0"/>
              </a:rPr>
              <a:t>Amino acids, being both weak acids and bases, have characteristic titration curves and pKa values</a:t>
            </a:r>
            <a:endParaRPr lang="en-US" altLang="zh-CN" sz="2400">
              <a:latin typeface="Times New Roman" panose="02020603050405020304" pitchFamily="18" charset="0"/>
            </a:endParaRPr>
          </a:p>
        </p:txBody>
      </p:sp>
      <p:pic>
        <p:nvPicPr>
          <p:cNvPr id="3" name="Picture 3">
            <a:extLst>
              <a:ext uri="{FF2B5EF4-FFF2-40B4-BE49-F238E27FC236}">
                <a16:creationId xmlns:a16="http://schemas.microsoft.com/office/drawing/2014/main" id="{331EE61F-689E-4876-91D7-5670433F2A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0799" y="2636912"/>
            <a:ext cx="4436938" cy="4002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2" descr="2-8">
            <a:extLst>
              <a:ext uri="{FF2B5EF4-FFF2-40B4-BE49-F238E27FC236}">
                <a16:creationId xmlns:a16="http://schemas.microsoft.com/office/drawing/2014/main" id="{7930F6B9-2720-4C15-90F0-8C59B9A3D7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0824" y="1273310"/>
            <a:ext cx="4436938" cy="111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999C905D-B081-4D2E-B472-3F502222C868}"/>
              </a:ext>
            </a:extLst>
          </p:cNvPr>
          <p:cNvSpPr txBox="1"/>
          <p:nvPr/>
        </p:nvSpPr>
        <p:spPr>
          <a:xfrm>
            <a:off x="430659" y="2994084"/>
            <a:ext cx="4572000" cy="646331"/>
          </a:xfrm>
          <a:prstGeom prst="rect">
            <a:avLst/>
          </a:prstGeom>
          <a:noFill/>
        </p:spPr>
        <p:txBody>
          <a:bodyPr wrap="square">
            <a:spAutoFit/>
          </a:bodyPr>
          <a:lstStyle/>
          <a:p>
            <a:r>
              <a:rPr lang="en-US" altLang="zh-CN" dirty="0"/>
              <a:t>Ampholyte</a:t>
            </a:r>
          </a:p>
          <a:p>
            <a:r>
              <a:rPr lang="en-US" altLang="zh-CN" b="1" dirty="0">
                <a:solidFill>
                  <a:srgbClr val="FF0066"/>
                </a:solidFill>
                <a:latin typeface="Times New Roman" panose="02020603050405020304" pitchFamily="18" charset="0"/>
              </a:rPr>
              <a:t>zwitterion</a:t>
            </a:r>
            <a:endParaRPr lang="zh-CN"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B73D145B-D2B3-4FB1-AA71-0C6D0F403039}"/>
              </a:ext>
            </a:extLst>
          </p:cNvPr>
          <p:cNvSpPr>
            <a:spLocks noGrp="1" noChangeArrowheads="1"/>
          </p:cNvSpPr>
          <p:nvPr>
            <p:ph type="body" idx="1"/>
          </p:nvPr>
        </p:nvSpPr>
        <p:spPr>
          <a:xfrm>
            <a:off x="762000" y="2017713"/>
            <a:ext cx="7772400" cy="4114800"/>
          </a:xfrm>
        </p:spPr>
        <p:txBody>
          <a:bodyPr/>
          <a:lstStyle/>
          <a:p>
            <a:pPr lvl="1" eaLnBrk="1" hangingPunct="1">
              <a:lnSpc>
                <a:spcPct val="130000"/>
              </a:lnSpc>
              <a:spcBef>
                <a:spcPct val="50000"/>
              </a:spcBef>
              <a:buClrTx/>
              <a:buSzTx/>
              <a:buFontTx/>
              <a:buChar char="•"/>
            </a:pPr>
            <a:r>
              <a:rPr lang="en-US" altLang="zh-CN" b="1" dirty="0">
                <a:latin typeface="Times New Roman" panose="02020603050405020304" pitchFamily="18" charset="0"/>
              </a:rPr>
              <a:t>The </a:t>
            </a:r>
            <a:r>
              <a:rPr lang="en-US" altLang="zh-CN" b="1" dirty="0" err="1">
                <a:latin typeface="Times New Roman" panose="02020603050405020304" pitchFamily="18" charset="0"/>
              </a:rPr>
              <a:t>pKa</a:t>
            </a:r>
            <a:r>
              <a:rPr lang="en-US" altLang="zh-CN" b="1" dirty="0">
                <a:latin typeface="Times New Roman" panose="02020603050405020304" pitchFamily="18" charset="0"/>
              </a:rPr>
              <a:t> value of the </a:t>
            </a:r>
            <a:r>
              <a:rPr lang="en-US" altLang="zh-CN" b="1" dirty="0">
                <a:latin typeface="Symbol" panose="05050102010706020507" pitchFamily="18" charset="2"/>
              </a:rPr>
              <a:t>a</a:t>
            </a:r>
            <a:r>
              <a:rPr lang="en-US" altLang="zh-CN" b="1" dirty="0">
                <a:latin typeface="Times New Roman" panose="02020603050405020304" pitchFamily="18" charset="0"/>
              </a:rPr>
              <a:t>-COOH is more than 2 units smaller than that of acetic acid (</a:t>
            </a:r>
            <a:r>
              <a:rPr lang="en-US" altLang="zh-CN" b="1" dirty="0" err="1">
                <a:latin typeface="Times New Roman" panose="02020603050405020304" pitchFamily="18" charset="0"/>
              </a:rPr>
              <a:t>pKa</a:t>
            </a:r>
            <a:r>
              <a:rPr lang="en-US" altLang="zh-CN" b="1" dirty="0">
                <a:latin typeface="Times New Roman" panose="02020603050405020304" pitchFamily="18" charset="0"/>
              </a:rPr>
              <a:t> of 4.76), that is, a stronger (weak) acid.</a:t>
            </a:r>
          </a:p>
          <a:p>
            <a:pPr lvl="1" eaLnBrk="1" hangingPunct="1">
              <a:lnSpc>
                <a:spcPct val="130000"/>
              </a:lnSpc>
              <a:spcBef>
                <a:spcPct val="50000"/>
              </a:spcBef>
              <a:buClrTx/>
              <a:buSzTx/>
              <a:buFontTx/>
              <a:buChar char="•"/>
            </a:pPr>
            <a:r>
              <a:rPr lang="en-US" altLang="zh-CN" b="1" dirty="0">
                <a:latin typeface="Times New Roman" panose="02020603050405020304" pitchFamily="18" charset="0"/>
              </a:rPr>
              <a:t>These amino acids have two buffering power regions.</a:t>
            </a:r>
          </a:p>
          <a:p>
            <a:pPr eaLnBrk="1" hangingPunct="1">
              <a:lnSpc>
                <a:spcPct val="130000"/>
              </a:lnSpc>
            </a:pPr>
            <a:endParaRPr lang="zh-CN" alt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a:extLst>
              <a:ext uri="{FF2B5EF4-FFF2-40B4-BE49-F238E27FC236}">
                <a16:creationId xmlns:a16="http://schemas.microsoft.com/office/drawing/2014/main" id="{184F71BE-5835-4720-9E2F-0A3864EC8A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1100" y="457200"/>
            <a:ext cx="42418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3" name="Rectangle 3">
            <a:extLst>
              <a:ext uri="{FF2B5EF4-FFF2-40B4-BE49-F238E27FC236}">
                <a16:creationId xmlns:a16="http://schemas.microsoft.com/office/drawing/2014/main" id="{A91B73A7-421A-4AEC-B856-43DB93B1BC79}"/>
              </a:ext>
            </a:extLst>
          </p:cNvPr>
          <p:cNvSpPr>
            <a:spLocks noChangeArrowheads="1"/>
          </p:cNvSpPr>
          <p:nvPr/>
        </p:nvSpPr>
        <p:spPr bwMode="auto">
          <a:xfrm>
            <a:off x="3490317" y="5733256"/>
            <a:ext cx="2809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err="1">
                <a:latin typeface="Times New Roman" panose="02020603050405020304" pitchFamily="18" charset="0"/>
              </a:rPr>
              <a:t>pI</a:t>
            </a:r>
            <a:r>
              <a:rPr lang="en-US" altLang="zh-CN" sz="2800" b="1" dirty="0">
                <a:latin typeface="Times New Roman" panose="02020603050405020304" pitchFamily="18" charset="0"/>
              </a:rPr>
              <a:t> = (pK</a:t>
            </a:r>
            <a:r>
              <a:rPr lang="en-US" altLang="zh-CN" sz="2800" b="1" baseline="-25000" dirty="0">
                <a:latin typeface="Times New Roman" panose="02020603050405020304" pitchFamily="18" charset="0"/>
              </a:rPr>
              <a:t>1</a:t>
            </a:r>
            <a:r>
              <a:rPr lang="en-US" altLang="zh-CN" sz="2800" b="1" dirty="0">
                <a:latin typeface="Times New Roman" panose="02020603050405020304" pitchFamily="18" charset="0"/>
              </a:rPr>
              <a:t>+pK</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)/2</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ext Box 2">
            <a:extLst>
              <a:ext uri="{FF2B5EF4-FFF2-40B4-BE49-F238E27FC236}">
                <a16:creationId xmlns:a16="http://schemas.microsoft.com/office/drawing/2014/main" id="{E667CF0B-1A44-403F-83CB-A875C73AB100}"/>
              </a:ext>
            </a:extLst>
          </p:cNvPr>
          <p:cNvSpPr txBox="1">
            <a:spLocks noChangeArrowheads="1"/>
          </p:cNvSpPr>
          <p:nvPr/>
        </p:nvSpPr>
        <p:spPr bwMode="auto">
          <a:xfrm>
            <a:off x="533400" y="533400"/>
            <a:ext cx="8077200" cy="598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solidFill>
                  <a:srgbClr val="FF0000"/>
                </a:solidFill>
                <a:latin typeface="Times New Roman" panose="02020603050405020304" pitchFamily="18" charset="0"/>
              </a:rPr>
              <a:t>There is a specific pH (designated </a:t>
            </a:r>
            <a:r>
              <a:rPr lang="en-US" altLang="zh-CN" sz="2800" b="1" dirty="0" err="1">
                <a:solidFill>
                  <a:srgbClr val="FF0000"/>
                </a:solidFill>
                <a:latin typeface="Times New Roman" panose="02020603050405020304" pitchFamily="18" charset="0"/>
              </a:rPr>
              <a:t>pI</a:t>
            </a:r>
            <a:r>
              <a:rPr lang="en-US" altLang="zh-CN" sz="2800" b="1" dirty="0">
                <a:solidFill>
                  <a:srgbClr val="FF0000"/>
                </a:solidFill>
                <a:latin typeface="Times New Roman" panose="02020603050405020304" pitchFamily="18" charset="0"/>
              </a:rPr>
              <a:t>)</a:t>
            </a:r>
            <a:r>
              <a:rPr lang="en-US" altLang="zh-CN" sz="2800" b="1" dirty="0">
                <a:latin typeface="Times New Roman" panose="02020603050405020304" pitchFamily="18" charset="0"/>
              </a:rPr>
              <a:t> at which</a:t>
            </a:r>
          </a:p>
          <a:p>
            <a:pPr eaLnBrk="1" hangingPunct="1">
              <a:spcBef>
                <a:spcPct val="50000"/>
              </a:spcBef>
              <a:buClrTx/>
              <a:buSzTx/>
              <a:buFontTx/>
              <a:buNone/>
            </a:pPr>
            <a:r>
              <a:rPr lang="en-US" altLang="zh-CN" sz="2800" b="1" dirty="0">
                <a:latin typeface="Times New Roman" panose="02020603050405020304" pitchFamily="18" charset="0"/>
              </a:rPr>
              <a:t>           an amino acid has equal positive and</a:t>
            </a:r>
          </a:p>
          <a:p>
            <a:pPr eaLnBrk="1" hangingPunct="1">
              <a:spcBef>
                <a:spcPct val="50000"/>
              </a:spcBef>
              <a:buClrTx/>
              <a:buSzTx/>
              <a:buFontTx/>
              <a:buNone/>
            </a:pPr>
            <a:r>
              <a:rPr lang="en-US" altLang="zh-CN" sz="2800" b="1" dirty="0">
                <a:latin typeface="Times New Roman" panose="02020603050405020304" pitchFamily="18" charset="0"/>
              </a:rPr>
              <a:t>           negative charge.</a:t>
            </a:r>
          </a:p>
          <a:p>
            <a:pPr lvl="1" eaLnBrk="1" hangingPunct="1">
              <a:spcBef>
                <a:spcPct val="50000"/>
              </a:spcBef>
              <a:buClrTx/>
              <a:buSzTx/>
              <a:buFontTx/>
              <a:buChar char="•"/>
            </a:pPr>
            <a:r>
              <a:rPr lang="en-US" altLang="zh-CN" b="1" dirty="0">
                <a:latin typeface="Times New Roman" panose="02020603050405020304" pitchFamily="18" charset="0"/>
              </a:rPr>
              <a:t>An amino acid does not move in an electric field at its </a:t>
            </a:r>
            <a:r>
              <a:rPr lang="en-US" altLang="zh-CN" b="1" dirty="0" err="1">
                <a:latin typeface="Times New Roman" panose="02020603050405020304" pitchFamily="18" charset="0"/>
              </a:rPr>
              <a:t>pI</a:t>
            </a:r>
            <a:r>
              <a:rPr lang="en-US" altLang="zh-CN" b="1" dirty="0">
                <a:latin typeface="Times New Roman" panose="02020603050405020304" pitchFamily="18" charset="0"/>
              </a:rPr>
              <a:t>, called </a:t>
            </a:r>
            <a:r>
              <a:rPr lang="en-US" altLang="zh-CN" b="1" dirty="0">
                <a:solidFill>
                  <a:srgbClr val="FF0000"/>
                </a:solidFill>
                <a:latin typeface="Times New Roman" panose="02020603050405020304" pitchFamily="18" charset="0"/>
              </a:rPr>
              <a:t>isoelectric point</a:t>
            </a:r>
            <a:r>
              <a:rPr lang="en-US" altLang="zh-CN" b="1" dirty="0">
                <a:latin typeface="Times New Roman" panose="02020603050405020304" pitchFamily="18" charset="0"/>
              </a:rPr>
              <a:t>.</a:t>
            </a:r>
          </a:p>
          <a:p>
            <a:pPr lvl="1" eaLnBrk="1" hangingPunct="1">
              <a:spcBef>
                <a:spcPct val="50000"/>
              </a:spcBef>
              <a:buClrTx/>
              <a:buSzTx/>
              <a:buFontTx/>
              <a:buChar char="•"/>
            </a:pPr>
            <a:r>
              <a:rPr lang="en-US" altLang="zh-CN" b="1" dirty="0">
                <a:latin typeface="Times New Roman" panose="02020603050405020304" pitchFamily="18" charset="0"/>
              </a:rPr>
              <a:t>The </a:t>
            </a:r>
            <a:r>
              <a:rPr lang="en-US" altLang="zh-CN" b="1" dirty="0" err="1">
                <a:latin typeface="Times New Roman" panose="02020603050405020304" pitchFamily="18" charset="0"/>
              </a:rPr>
              <a:t>pI</a:t>
            </a:r>
            <a:r>
              <a:rPr lang="en-US" altLang="zh-CN" b="1" dirty="0">
                <a:latin typeface="Times New Roman" panose="02020603050405020304" pitchFamily="18" charset="0"/>
              </a:rPr>
              <a:t> of </a:t>
            </a:r>
            <a:r>
              <a:rPr lang="en-US" altLang="zh-CN" b="1" dirty="0" err="1">
                <a:latin typeface="Times New Roman" panose="02020603050405020304" pitchFamily="18" charset="0"/>
              </a:rPr>
              <a:t>monoamino</a:t>
            </a:r>
            <a:r>
              <a:rPr lang="en-US" altLang="zh-CN" b="1" dirty="0">
                <a:latin typeface="Times New Roman" panose="02020603050405020304" pitchFamily="18" charset="0"/>
              </a:rPr>
              <a:t> monocarboxylic amino acids reflects a status at which the </a:t>
            </a:r>
            <a:r>
              <a:rPr lang="en-US" altLang="zh-CN" b="1" dirty="0">
                <a:latin typeface="Symbol" panose="05050102010706020507" pitchFamily="18" charset="2"/>
              </a:rPr>
              <a:t>a</a:t>
            </a:r>
            <a:r>
              <a:rPr lang="en-US" altLang="zh-CN" b="1" dirty="0">
                <a:latin typeface="Times New Roman" panose="02020603050405020304" pitchFamily="18" charset="0"/>
              </a:rPr>
              <a:t>-COOH group is fully deprotonated, but the </a:t>
            </a:r>
            <a:r>
              <a:rPr lang="en-US" altLang="zh-CN" b="1" dirty="0">
                <a:latin typeface="Symbol" panose="05050102010706020507" pitchFamily="18" charset="2"/>
              </a:rPr>
              <a:t>a</a:t>
            </a:r>
            <a:r>
              <a:rPr lang="en-US" altLang="zh-CN" b="1" dirty="0">
                <a:latin typeface="Times New Roman" panose="02020603050405020304" pitchFamily="18" charset="0"/>
              </a:rPr>
              <a:t>-NH</a:t>
            </a:r>
            <a:r>
              <a:rPr lang="en-US" altLang="zh-CN" b="1" baseline="-25000" dirty="0">
                <a:latin typeface="Times New Roman" panose="02020603050405020304" pitchFamily="18" charset="0"/>
              </a:rPr>
              <a:t>3</a:t>
            </a:r>
            <a:r>
              <a:rPr lang="en-US" altLang="zh-CN" b="1" baseline="30000" dirty="0">
                <a:latin typeface="Times New Roman" panose="02020603050405020304" pitchFamily="18" charset="0"/>
              </a:rPr>
              <a:t>+</a:t>
            </a:r>
            <a:r>
              <a:rPr lang="en-US" altLang="zh-CN" b="1" dirty="0">
                <a:latin typeface="Times New Roman" panose="02020603050405020304" pitchFamily="18" charset="0"/>
              </a:rPr>
              <a:t> group has not yet started deprotonating</a:t>
            </a:r>
          </a:p>
          <a:p>
            <a:pPr eaLnBrk="1" hangingPunct="1">
              <a:spcBef>
                <a:spcPct val="50000"/>
              </a:spcBef>
              <a:buClrTx/>
              <a:buSzTx/>
              <a:buFontTx/>
              <a:buNone/>
            </a:pPr>
            <a:r>
              <a:rPr lang="en-US" altLang="zh-CN" sz="2800" b="1" dirty="0">
                <a:latin typeface="Times New Roman" panose="02020603050405020304" pitchFamily="18" charset="0"/>
              </a:rPr>
              <a:t>		</a:t>
            </a:r>
            <a:r>
              <a:rPr lang="en-US" altLang="zh-CN" sz="2800" b="1" dirty="0" err="1">
                <a:latin typeface="Times New Roman" panose="02020603050405020304" pitchFamily="18" charset="0"/>
              </a:rPr>
              <a:t>pI</a:t>
            </a:r>
            <a:r>
              <a:rPr lang="en-US" altLang="zh-CN" sz="2800" b="1" dirty="0">
                <a:latin typeface="Times New Roman" panose="02020603050405020304" pitchFamily="18" charset="0"/>
              </a:rPr>
              <a:t> = (pK</a:t>
            </a:r>
            <a:r>
              <a:rPr lang="en-US" altLang="zh-CN" sz="2800" b="1" baseline="-25000" dirty="0">
                <a:latin typeface="Times New Roman" panose="02020603050405020304" pitchFamily="18" charset="0"/>
              </a:rPr>
              <a:t>1</a:t>
            </a:r>
            <a:r>
              <a:rPr lang="en-US" altLang="zh-CN" sz="2800" b="1" dirty="0">
                <a:latin typeface="Times New Roman" panose="02020603050405020304" pitchFamily="18" charset="0"/>
              </a:rPr>
              <a:t>+pK</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)/2</a:t>
            </a:r>
            <a:endParaRPr lang="en-US" altLang="zh-CN" sz="2400" dirty="0">
              <a:latin typeface="Times New Roman" panose="02020603050405020304" pitchFamily="18" charset="0"/>
            </a:endParaRPr>
          </a:p>
          <a:p>
            <a:pPr eaLnBrk="1" hangingPunct="1">
              <a:spcBef>
                <a:spcPct val="50000"/>
              </a:spcBef>
              <a:buClrTx/>
              <a:buSzTx/>
              <a:buFontTx/>
              <a:buNone/>
            </a:pPr>
            <a:endParaRPr lang="en-US" altLang="zh-CN" sz="24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ext Box 2">
            <a:extLst>
              <a:ext uri="{FF2B5EF4-FFF2-40B4-BE49-F238E27FC236}">
                <a16:creationId xmlns:a16="http://schemas.microsoft.com/office/drawing/2014/main" id="{569CE3E9-0B8E-4467-9A05-182A239F0A25}"/>
              </a:ext>
            </a:extLst>
          </p:cNvPr>
          <p:cNvSpPr txBox="1">
            <a:spLocks noChangeArrowheads="1"/>
          </p:cNvSpPr>
          <p:nvPr/>
        </p:nvSpPr>
        <p:spPr bwMode="auto">
          <a:xfrm>
            <a:off x="381000" y="1979613"/>
            <a:ext cx="84582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50000"/>
              </a:spcBef>
              <a:buClrTx/>
              <a:buSzTx/>
              <a:buFontTx/>
              <a:buNone/>
            </a:pPr>
            <a:r>
              <a:rPr lang="en-US" altLang="zh-CN" sz="2800" b="1">
                <a:latin typeface="Times New Roman" panose="02020603050405020304" pitchFamily="18" charset="0"/>
              </a:rPr>
              <a:t>4.6 Acidic and basic amino acids have three-stage titration curves. The additional stage is for the ionizable group on the side chains (pK</a:t>
            </a:r>
            <a:r>
              <a:rPr lang="en-US" altLang="zh-CN" sz="2800" b="1" baseline="-25000">
                <a:latin typeface="Times New Roman" panose="02020603050405020304" pitchFamily="18" charset="0"/>
              </a:rPr>
              <a:t>R</a:t>
            </a:r>
            <a:r>
              <a:rPr lang="en-US" altLang="zh-CN" sz="2800" b="1">
                <a:latin typeface="Times New Roman" panose="02020603050405020304" pitchFamily="18" charset="0"/>
              </a:rPr>
              <a:t>).</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4" descr="2-13">
            <a:extLst>
              <a:ext uri="{FF2B5EF4-FFF2-40B4-BE49-F238E27FC236}">
                <a16:creationId xmlns:a16="http://schemas.microsoft.com/office/drawing/2014/main" id="{BA0C5F89-5D78-4740-883A-7AE1A4C203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980727"/>
            <a:ext cx="5441950" cy="5685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2">
            <a:extLst>
              <a:ext uri="{FF2B5EF4-FFF2-40B4-BE49-F238E27FC236}">
                <a16:creationId xmlns:a16="http://schemas.microsoft.com/office/drawing/2014/main" id="{A149209C-A1D2-4448-8BFC-05C581A165B0}"/>
              </a:ext>
            </a:extLst>
          </p:cNvPr>
          <p:cNvSpPr txBox="1">
            <a:spLocks noChangeArrowheads="1"/>
          </p:cNvSpPr>
          <p:nvPr/>
        </p:nvSpPr>
        <p:spPr bwMode="auto">
          <a:xfrm>
            <a:off x="1560513" y="228600"/>
            <a:ext cx="6022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1" dirty="0">
                <a:latin typeface="Times New Roman" panose="02020603050405020304" pitchFamily="18" charset="0"/>
              </a:rPr>
              <a:t>An acidic amino acid </a:t>
            </a:r>
            <a:r>
              <a:rPr lang="en-US" altLang="zh-CN" sz="2800" b="1" dirty="0" err="1">
                <a:latin typeface="Times New Roman" panose="02020603050405020304" pitchFamily="18" charset="0"/>
              </a:rPr>
              <a:t>pI</a:t>
            </a:r>
            <a:r>
              <a:rPr lang="en-US" altLang="zh-CN" sz="2800" b="1" dirty="0">
                <a:latin typeface="Times New Roman" panose="02020603050405020304" pitchFamily="18" charset="0"/>
              </a:rPr>
              <a:t>=(pK1+pK</a:t>
            </a:r>
            <a:r>
              <a:rPr lang="en-US" altLang="zh-CN" sz="2800" b="1" baseline="-25000" dirty="0">
                <a:latin typeface="Times New Roman" panose="02020603050405020304" pitchFamily="18" charset="0"/>
              </a:rPr>
              <a:t>R</a:t>
            </a:r>
            <a:r>
              <a:rPr lang="en-US" altLang="zh-CN" sz="2800" b="1" dirty="0">
                <a:latin typeface="Times New Roman" panose="02020603050405020304" pitchFamily="18" charset="0"/>
              </a:rPr>
              <a:t>)/2</a:t>
            </a:r>
            <a:endParaRPr lang="en-US" altLang="zh-CN" sz="2400" dirty="0">
              <a:latin typeface="Times New Roman" panose="02020603050405020304" pitchFamily="18" charset="0"/>
            </a:endParaRPr>
          </a:p>
        </p:txBody>
      </p:sp>
      <p:grpSp>
        <p:nvGrpSpPr>
          <p:cNvPr id="11" name="组合 10">
            <a:extLst>
              <a:ext uri="{FF2B5EF4-FFF2-40B4-BE49-F238E27FC236}">
                <a16:creationId xmlns:a16="http://schemas.microsoft.com/office/drawing/2014/main" id="{6383191B-83E4-4EB5-9E92-EDE193ABC32A}"/>
              </a:ext>
            </a:extLst>
          </p:cNvPr>
          <p:cNvGrpSpPr/>
          <p:nvPr/>
        </p:nvGrpSpPr>
        <p:grpSpPr>
          <a:xfrm>
            <a:off x="2235425" y="4847126"/>
            <a:ext cx="2048543" cy="1246170"/>
            <a:chOff x="2235425" y="4847126"/>
            <a:chExt cx="2048543" cy="1246170"/>
          </a:xfrm>
        </p:grpSpPr>
        <p:cxnSp>
          <p:nvCxnSpPr>
            <p:cNvPr id="4" name="直接连接符 3">
              <a:extLst>
                <a:ext uri="{FF2B5EF4-FFF2-40B4-BE49-F238E27FC236}">
                  <a16:creationId xmlns:a16="http://schemas.microsoft.com/office/drawing/2014/main" id="{CB540925-FDE0-4715-A384-83A3BEA118F5}"/>
                </a:ext>
              </a:extLst>
            </p:cNvPr>
            <p:cNvCxnSpPr>
              <a:cxnSpLocks/>
            </p:cNvCxnSpPr>
            <p:nvPr/>
          </p:nvCxnSpPr>
          <p:spPr>
            <a:xfrm>
              <a:off x="2887876" y="5035210"/>
              <a:ext cx="1396092"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0998F0C6-A5E8-47B3-955A-19A7449CA904}"/>
                </a:ext>
              </a:extLst>
            </p:cNvPr>
            <p:cNvCxnSpPr>
              <a:cxnSpLocks/>
            </p:cNvCxnSpPr>
            <p:nvPr/>
          </p:nvCxnSpPr>
          <p:spPr>
            <a:xfrm flipV="1">
              <a:off x="4283968" y="5013176"/>
              <a:ext cx="0" cy="108012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1637EE8F-EFAC-4A8A-A2A0-3DF878B653F6}"/>
                </a:ext>
              </a:extLst>
            </p:cNvPr>
            <p:cNvSpPr/>
            <p:nvPr/>
          </p:nvSpPr>
          <p:spPr>
            <a:xfrm>
              <a:off x="2235425" y="4847126"/>
              <a:ext cx="377026" cy="369332"/>
            </a:xfrm>
            <a:prstGeom prst="rect">
              <a:avLst/>
            </a:prstGeom>
          </p:spPr>
          <p:txBody>
            <a:bodyPr wrap="none">
              <a:spAutoFit/>
            </a:bodyPr>
            <a:lstStyle/>
            <a:p>
              <a:r>
                <a:rPr lang="en-US" altLang="zh-CN" dirty="0" err="1"/>
                <a:t>pI</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8" name="Picture 4" descr="2-12">
            <a:extLst>
              <a:ext uri="{FF2B5EF4-FFF2-40B4-BE49-F238E27FC236}">
                <a16:creationId xmlns:a16="http://schemas.microsoft.com/office/drawing/2014/main" id="{7E17B22A-654C-447F-A77E-5B7D5B9420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980728"/>
            <a:ext cx="6248400" cy="5688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a:extLst>
              <a:ext uri="{FF2B5EF4-FFF2-40B4-BE49-F238E27FC236}">
                <a16:creationId xmlns:a16="http://schemas.microsoft.com/office/drawing/2014/main" id="{FD950867-7367-4C40-A814-CB70353BBECA}"/>
              </a:ext>
            </a:extLst>
          </p:cNvPr>
          <p:cNvSpPr>
            <a:spLocks noChangeArrowheads="1"/>
          </p:cNvSpPr>
          <p:nvPr/>
        </p:nvSpPr>
        <p:spPr bwMode="auto">
          <a:xfrm>
            <a:off x="1524000" y="304800"/>
            <a:ext cx="57070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A basic amino acid pI=(pK</a:t>
            </a:r>
            <a:r>
              <a:rPr lang="en-US" altLang="zh-CN" sz="2800" b="1" baseline="-25000">
                <a:latin typeface="Times New Roman" panose="02020603050405020304" pitchFamily="18" charset="0"/>
              </a:rPr>
              <a:t>R</a:t>
            </a:r>
            <a:r>
              <a:rPr lang="en-US" altLang="zh-CN" sz="2800" b="1">
                <a:latin typeface="Times New Roman" panose="02020603050405020304" pitchFamily="18" charset="0"/>
              </a:rPr>
              <a:t>+pK2)/2</a:t>
            </a:r>
          </a:p>
        </p:txBody>
      </p:sp>
      <p:grpSp>
        <p:nvGrpSpPr>
          <p:cNvPr id="4" name="组合 3">
            <a:extLst>
              <a:ext uri="{FF2B5EF4-FFF2-40B4-BE49-F238E27FC236}">
                <a16:creationId xmlns:a16="http://schemas.microsoft.com/office/drawing/2014/main" id="{FDEBF356-40BD-4617-B983-E820BA57DBE1}"/>
              </a:ext>
            </a:extLst>
          </p:cNvPr>
          <p:cNvGrpSpPr/>
          <p:nvPr/>
        </p:nvGrpSpPr>
        <p:grpSpPr>
          <a:xfrm>
            <a:off x="827585" y="3429000"/>
            <a:ext cx="4680520" cy="2664296"/>
            <a:chOff x="2235425" y="4847126"/>
            <a:chExt cx="2048543" cy="1246170"/>
          </a:xfrm>
        </p:grpSpPr>
        <p:cxnSp>
          <p:nvCxnSpPr>
            <p:cNvPr id="5" name="直接连接符 4">
              <a:extLst>
                <a:ext uri="{FF2B5EF4-FFF2-40B4-BE49-F238E27FC236}">
                  <a16:creationId xmlns:a16="http://schemas.microsoft.com/office/drawing/2014/main" id="{BAF5B82A-7669-4461-878D-113A11B689D4}"/>
                </a:ext>
              </a:extLst>
            </p:cNvPr>
            <p:cNvCxnSpPr>
              <a:cxnSpLocks/>
            </p:cNvCxnSpPr>
            <p:nvPr/>
          </p:nvCxnSpPr>
          <p:spPr>
            <a:xfrm>
              <a:off x="2887876" y="5035210"/>
              <a:ext cx="1396092" cy="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643799A3-EFD5-48A4-B78C-64455C033F52}"/>
                </a:ext>
              </a:extLst>
            </p:cNvPr>
            <p:cNvCxnSpPr>
              <a:cxnSpLocks/>
            </p:cNvCxnSpPr>
            <p:nvPr/>
          </p:nvCxnSpPr>
          <p:spPr>
            <a:xfrm flipV="1">
              <a:off x="4283968" y="5013176"/>
              <a:ext cx="0" cy="1080120"/>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A94738D3-22E7-458D-BD04-416DFB452B2B}"/>
                </a:ext>
              </a:extLst>
            </p:cNvPr>
            <p:cNvSpPr/>
            <p:nvPr/>
          </p:nvSpPr>
          <p:spPr>
            <a:xfrm>
              <a:off x="2235425" y="4847126"/>
              <a:ext cx="501780" cy="302308"/>
            </a:xfrm>
            <a:prstGeom prst="rect">
              <a:avLst/>
            </a:prstGeom>
          </p:spPr>
          <p:txBody>
            <a:bodyPr wrap="none">
              <a:spAutoFit/>
            </a:bodyPr>
            <a:lstStyle/>
            <a:p>
              <a:endParaRPr lang="en-US" altLang="zh-CN" dirty="0"/>
            </a:p>
            <a:p>
              <a:r>
                <a:rPr lang="en-US" altLang="zh-CN" dirty="0"/>
                <a:t>            </a:t>
              </a:r>
              <a:r>
                <a:rPr lang="en-US" altLang="zh-CN" dirty="0" err="1"/>
                <a:t>pI</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2">
            <a:extLst>
              <a:ext uri="{FF2B5EF4-FFF2-40B4-BE49-F238E27FC236}">
                <a16:creationId xmlns:a16="http://schemas.microsoft.com/office/drawing/2014/main" id="{574F7A9C-20B5-4B5D-8A32-49D2BE3A7D3D}"/>
              </a:ext>
            </a:extLst>
          </p:cNvPr>
          <p:cNvSpPr txBox="1">
            <a:spLocks noChangeArrowheads="1"/>
          </p:cNvSpPr>
          <p:nvPr/>
        </p:nvSpPr>
        <p:spPr bwMode="auto">
          <a:xfrm>
            <a:off x="228600" y="1295400"/>
            <a:ext cx="8610600" cy="457676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50000"/>
              </a:spcBef>
              <a:buClrTx/>
              <a:buSzTx/>
              <a:buFontTx/>
              <a:buNone/>
            </a:pPr>
            <a:r>
              <a:rPr lang="en-US" altLang="zh-CN" sz="2800" b="1" dirty="0">
                <a:latin typeface="Times New Roman" panose="02020603050405020304" pitchFamily="18" charset="0"/>
              </a:rPr>
              <a:t>The </a:t>
            </a:r>
            <a:r>
              <a:rPr lang="en-US" altLang="zh-CN" sz="2800" b="1" dirty="0" err="1">
                <a:latin typeface="Times New Roman" panose="02020603050405020304" pitchFamily="18" charset="0"/>
              </a:rPr>
              <a:t>pI</a:t>
            </a:r>
            <a:r>
              <a:rPr lang="en-US" altLang="zh-CN" sz="2800" b="1" dirty="0">
                <a:latin typeface="Times New Roman" panose="02020603050405020304" pitchFamily="18" charset="0"/>
              </a:rPr>
              <a:t> point of an acidic amino acid reflects a status at which the </a:t>
            </a:r>
            <a:r>
              <a:rPr lang="en-US" altLang="zh-CN" sz="2800" b="1" dirty="0">
                <a:latin typeface="Symbol" panose="05050102010706020507" pitchFamily="18" charset="2"/>
              </a:rPr>
              <a:t>a</a:t>
            </a:r>
            <a:r>
              <a:rPr lang="en-US" altLang="zh-CN" sz="2800" b="1" dirty="0">
                <a:latin typeface="Times New Roman" panose="02020603050405020304" pitchFamily="18" charset="0"/>
              </a:rPr>
              <a:t>-COOH is fully deprotonated, but the side chain -COOH and the a-NH</a:t>
            </a:r>
            <a:r>
              <a:rPr lang="en-US" altLang="zh-CN" sz="2800" b="1" baseline="-25000" dirty="0">
                <a:latin typeface="Times New Roman" panose="02020603050405020304" pitchFamily="18" charset="0"/>
              </a:rPr>
              <a:t>3</a:t>
            </a:r>
            <a:r>
              <a:rPr lang="en-US" altLang="zh-CN" sz="2800" b="1" baseline="30000" dirty="0">
                <a:latin typeface="Times New Roman" panose="02020603050405020304" pitchFamily="18" charset="0"/>
              </a:rPr>
              <a:t>+</a:t>
            </a:r>
            <a:r>
              <a:rPr lang="en-US" altLang="zh-CN" sz="2800" b="1" dirty="0">
                <a:latin typeface="Times New Roman" panose="02020603050405020304" pitchFamily="18" charset="0"/>
              </a:rPr>
              <a:t> group have not yet started deprotonating</a:t>
            </a:r>
          </a:p>
          <a:p>
            <a:pPr eaLnBrk="1" hangingPunct="1">
              <a:lnSpc>
                <a:spcPct val="90000"/>
              </a:lnSpc>
              <a:spcBef>
                <a:spcPct val="50000"/>
              </a:spcBef>
              <a:buClrTx/>
              <a:buSzTx/>
              <a:buFontTx/>
              <a:buNone/>
            </a:pPr>
            <a:r>
              <a:rPr lang="en-US" altLang="zh-CN" sz="2800" b="1" dirty="0">
                <a:latin typeface="Times New Roman" panose="02020603050405020304" pitchFamily="18" charset="0"/>
              </a:rPr>
              <a:t>		</a:t>
            </a:r>
            <a:r>
              <a:rPr lang="en-US" altLang="zh-CN" sz="2800" b="1" dirty="0" err="1">
                <a:latin typeface="Times New Roman" panose="02020603050405020304" pitchFamily="18" charset="0"/>
              </a:rPr>
              <a:t>pI</a:t>
            </a:r>
            <a:r>
              <a:rPr lang="en-US" altLang="zh-CN" sz="2800" b="1" dirty="0">
                <a:latin typeface="Times New Roman" panose="02020603050405020304" pitchFamily="18" charset="0"/>
              </a:rPr>
              <a:t> = (pK</a:t>
            </a:r>
            <a:r>
              <a:rPr lang="en-US" altLang="zh-CN" sz="2800" b="1" baseline="-25000" dirty="0">
                <a:latin typeface="Times New Roman" panose="02020603050405020304" pitchFamily="18" charset="0"/>
              </a:rPr>
              <a:t>1</a:t>
            </a:r>
            <a:r>
              <a:rPr lang="en-US" altLang="zh-CN" sz="2800" b="1" dirty="0">
                <a:latin typeface="Times New Roman" panose="02020603050405020304" pitchFamily="18" charset="0"/>
              </a:rPr>
              <a:t>+pK</a:t>
            </a:r>
            <a:r>
              <a:rPr lang="en-US" altLang="zh-CN" sz="2800" b="1" baseline="-25000" dirty="0">
                <a:latin typeface="Times New Roman" panose="02020603050405020304" pitchFamily="18" charset="0"/>
              </a:rPr>
              <a:t>R</a:t>
            </a:r>
            <a:r>
              <a:rPr lang="en-US" altLang="zh-CN" sz="2800" b="1" dirty="0">
                <a:latin typeface="Times New Roman" panose="02020603050405020304" pitchFamily="18" charset="0"/>
              </a:rPr>
              <a:t>)/2</a:t>
            </a:r>
          </a:p>
          <a:p>
            <a:pPr eaLnBrk="1" hangingPunct="1">
              <a:lnSpc>
                <a:spcPct val="90000"/>
              </a:lnSpc>
              <a:spcBef>
                <a:spcPct val="50000"/>
              </a:spcBef>
              <a:buClrTx/>
              <a:buSzTx/>
              <a:buFontTx/>
              <a:buNone/>
            </a:pPr>
            <a:r>
              <a:rPr lang="en-US" altLang="zh-CN" sz="2800" b="1" dirty="0">
                <a:latin typeface="Times New Roman" panose="02020603050405020304" pitchFamily="18" charset="0"/>
              </a:rPr>
              <a:t>The </a:t>
            </a:r>
            <a:r>
              <a:rPr lang="en-US" altLang="zh-CN" sz="2800" b="1" dirty="0" err="1">
                <a:latin typeface="Times New Roman" panose="02020603050405020304" pitchFamily="18" charset="0"/>
              </a:rPr>
              <a:t>pI</a:t>
            </a:r>
            <a:r>
              <a:rPr lang="en-US" altLang="zh-CN" sz="2800" b="1" dirty="0">
                <a:latin typeface="Times New Roman" panose="02020603050405020304" pitchFamily="18" charset="0"/>
              </a:rPr>
              <a:t> point of a basic amino acid reflects a status at which the </a:t>
            </a:r>
            <a:r>
              <a:rPr lang="en-US" altLang="zh-CN" sz="2800" b="1" dirty="0">
                <a:latin typeface="Symbol" panose="05050102010706020507" pitchFamily="18" charset="2"/>
              </a:rPr>
              <a:t>a</a:t>
            </a:r>
            <a:r>
              <a:rPr lang="en-US" altLang="zh-CN" sz="2800" b="1" dirty="0">
                <a:latin typeface="Times New Roman" panose="02020603050405020304" pitchFamily="18" charset="0"/>
              </a:rPr>
              <a:t>-COOH and the side chain NH</a:t>
            </a:r>
            <a:r>
              <a:rPr lang="en-US" altLang="zh-CN" sz="2800" b="1" baseline="-25000" dirty="0">
                <a:latin typeface="Times New Roman" panose="02020603050405020304" pitchFamily="18" charset="0"/>
              </a:rPr>
              <a:t>3</a:t>
            </a:r>
            <a:r>
              <a:rPr lang="en-US" altLang="zh-CN" sz="2800" b="1" baseline="30000" dirty="0">
                <a:latin typeface="Times New Roman" panose="02020603050405020304" pitchFamily="18" charset="0"/>
              </a:rPr>
              <a:t>+</a:t>
            </a:r>
            <a:r>
              <a:rPr lang="en-US" altLang="zh-CN" sz="2800" b="1" dirty="0">
                <a:latin typeface="Times New Roman" panose="02020603050405020304" pitchFamily="18" charset="0"/>
              </a:rPr>
              <a:t> have fully deprotonated, but the </a:t>
            </a:r>
            <a:r>
              <a:rPr lang="en-US" altLang="zh-CN" sz="2800" b="1" dirty="0">
                <a:latin typeface="Symbol" panose="05050102010706020507" pitchFamily="18" charset="2"/>
              </a:rPr>
              <a:t>a</a:t>
            </a:r>
            <a:r>
              <a:rPr lang="en-US" altLang="zh-CN" sz="2800" b="1" dirty="0">
                <a:latin typeface="Times New Roman" panose="02020603050405020304" pitchFamily="18" charset="0"/>
              </a:rPr>
              <a:t>- NH</a:t>
            </a:r>
            <a:r>
              <a:rPr lang="en-US" altLang="zh-CN" sz="2800" b="1" baseline="-25000" dirty="0">
                <a:latin typeface="Times New Roman" panose="02020603050405020304" pitchFamily="18" charset="0"/>
              </a:rPr>
              <a:t>3</a:t>
            </a:r>
            <a:r>
              <a:rPr lang="en-US" altLang="zh-CN" sz="2800" b="1" baseline="30000" dirty="0">
                <a:latin typeface="Times New Roman" panose="02020603050405020304" pitchFamily="18" charset="0"/>
              </a:rPr>
              <a:t>+</a:t>
            </a:r>
            <a:r>
              <a:rPr lang="en-US" altLang="zh-CN" sz="2800" b="1" dirty="0">
                <a:latin typeface="Times New Roman" panose="02020603050405020304" pitchFamily="18" charset="0"/>
              </a:rPr>
              <a:t>  group have not yet deprotonated.</a:t>
            </a:r>
          </a:p>
          <a:p>
            <a:pPr eaLnBrk="1" hangingPunct="1">
              <a:lnSpc>
                <a:spcPct val="90000"/>
              </a:lnSpc>
              <a:spcBef>
                <a:spcPct val="50000"/>
              </a:spcBef>
              <a:buClrTx/>
              <a:buSzTx/>
              <a:buFontTx/>
              <a:buNone/>
            </a:pPr>
            <a:r>
              <a:rPr lang="en-US" altLang="zh-CN" sz="2800" b="1" dirty="0">
                <a:latin typeface="Times New Roman" panose="02020603050405020304" pitchFamily="18" charset="0"/>
              </a:rPr>
              <a:t>		</a:t>
            </a:r>
            <a:r>
              <a:rPr lang="en-US" altLang="zh-CN" sz="2800" b="1" dirty="0" err="1">
                <a:latin typeface="Times New Roman" panose="02020603050405020304" pitchFamily="18" charset="0"/>
              </a:rPr>
              <a:t>pI</a:t>
            </a:r>
            <a:r>
              <a:rPr lang="en-US" altLang="zh-CN" sz="2800" b="1" dirty="0">
                <a:latin typeface="Times New Roman" panose="02020603050405020304" pitchFamily="18" charset="0"/>
              </a:rPr>
              <a:t> = (pK</a:t>
            </a:r>
            <a:r>
              <a:rPr lang="en-US" altLang="zh-CN" sz="2800" b="1" baseline="-25000" dirty="0">
                <a:latin typeface="Times New Roman" panose="02020603050405020304" pitchFamily="18" charset="0"/>
              </a:rPr>
              <a:t>R</a:t>
            </a:r>
            <a:r>
              <a:rPr lang="en-US" altLang="zh-CN" sz="2800" b="1" dirty="0">
                <a:latin typeface="Times New Roman" panose="02020603050405020304" pitchFamily="18" charset="0"/>
              </a:rPr>
              <a:t>+pK</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)/2</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2">
            <a:extLst>
              <a:ext uri="{FF2B5EF4-FFF2-40B4-BE49-F238E27FC236}">
                <a16:creationId xmlns:a16="http://schemas.microsoft.com/office/drawing/2014/main" id="{7289DFB3-47B2-4928-8B28-9DB3A34E50A6}"/>
              </a:ext>
            </a:extLst>
          </p:cNvPr>
          <p:cNvSpPr txBox="1">
            <a:spLocks noChangeArrowheads="1"/>
          </p:cNvSpPr>
          <p:nvPr/>
        </p:nvSpPr>
        <p:spPr bwMode="auto">
          <a:xfrm>
            <a:off x="2209800" y="1122363"/>
            <a:ext cx="5257800"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zh-CN" altLang="en-US" b="1" dirty="0">
                <a:solidFill>
                  <a:srgbClr val="FF0000"/>
                </a:solidFill>
                <a:latin typeface="华文中宋" panose="02010600040101010101" pitchFamily="2" charset="-122"/>
                <a:ea typeface="华文中宋" panose="02010600040101010101" pitchFamily="2" charset="-122"/>
              </a:rPr>
              <a:t>氨基酸的重要反应：</a:t>
            </a:r>
          </a:p>
          <a:p>
            <a:pPr eaLnBrk="1" hangingPunct="1">
              <a:spcBef>
                <a:spcPct val="50000"/>
              </a:spcBef>
              <a:buClrTx/>
              <a:buSzTx/>
              <a:buFontTx/>
              <a:buChar char="•"/>
            </a:pPr>
            <a:r>
              <a:rPr kumimoji="0" lang="zh-CN" altLang="en-US" dirty="0">
                <a:latin typeface="华文中宋" panose="02010600040101010101" pitchFamily="2" charset="-122"/>
                <a:ea typeface="华文中宋" panose="02010600040101010101" pitchFamily="2" charset="-122"/>
              </a:rPr>
              <a:t>与茚三酮反应</a:t>
            </a:r>
          </a:p>
          <a:p>
            <a:pPr eaLnBrk="1" hangingPunct="1">
              <a:spcBef>
                <a:spcPct val="50000"/>
              </a:spcBef>
              <a:buClrTx/>
              <a:buSzTx/>
              <a:buFontTx/>
              <a:buChar char="•"/>
            </a:pPr>
            <a:r>
              <a:rPr kumimoji="0" lang="en-US" altLang="zh-CN" dirty="0">
                <a:latin typeface="华文中宋" panose="02010600040101010101" pitchFamily="2" charset="-122"/>
                <a:ea typeface="华文中宋" panose="02010600040101010101" pitchFamily="2" charset="-122"/>
              </a:rPr>
              <a:t>Sanger</a:t>
            </a:r>
            <a:r>
              <a:rPr kumimoji="0" lang="zh-CN" altLang="en-US" dirty="0">
                <a:latin typeface="华文中宋" panose="02010600040101010101" pitchFamily="2" charset="-122"/>
                <a:ea typeface="华文中宋" panose="02010600040101010101" pitchFamily="2" charset="-122"/>
              </a:rPr>
              <a:t>反应</a:t>
            </a:r>
          </a:p>
          <a:p>
            <a:pPr eaLnBrk="1" hangingPunct="1">
              <a:spcBef>
                <a:spcPct val="50000"/>
              </a:spcBef>
              <a:buClrTx/>
              <a:buSzTx/>
              <a:buFontTx/>
              <a:buChar char="•"/>
            </a:pPr>
            <a:r>
              <a:rPr kumimoji="0" lang="en-US" altLang="zh-CN" dirty="0">
                <a:latin typeface="华文中宋" panose="02010600040101010101" pitchFamily="2" charset="-122"/>
                <a:ea typeface="华文中宋" panose="02010600040101010101" pitchFamily="2" charset="-122"/>
              </a:rPr>
              <a:t>Edman</a:t>
            </a:r>
            <a:r>
              <a:rPr kumimoji="0" lang="zh-CN" altLang="en-US" dirty="0">
                <a:latin typeface="华文中宋" panose="02010600040101010101" pitchFamily="2" charset="-122"/>
                <a:ea typeface="华文中宋" panose="02010600040101010101" pitchFamily="2" charset="-122"/>
              </a:rPr>
              <a:t>反应</a:t>
            </a:r>
          </a:p>
        </p:txBody>
      </p:sp>
      <p:pic>
        <p:nvPicPr>
          <p:cNvPr id="138243" name="Picture 3" descr="j0293234">
            <a:hlinkClick r:id="rId3" action="ppaction://hlinksldjump"/>
            <a:extLst>
              <a:ext uri="{FF2B5EF4-FFF2-40B4-BE49-F238E27FC236}">
                <a16:creationId xmlns:a16="http://schemas.microsoft.com/office/drawing/2014/main" id="{BE8E4393-3B23-41B8-8034-7C917322DE5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85113" y="5876925"/>
            <a:ext cx="1042987"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4">
            <a:extLst>
              <a:ext uri="{FF2B5EF4-FFF2-40B4-BE49-F238E27FC236}">
                <a16:creationId xmlns:a16="http://schemas.microsoft.com/office/drawing/2014/main" id="{DFD7F3B5-F8E2-482D-8925-2114BE11A1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693" t="46268" r="11052" b="13390"/>
          <a:stretch>
            <a:fillRect/>
          </a:stretch>
        </p:blipFill>
        <p:spPr bwMode="auto">
          <a:xfrm>
            <a:off x="107950" y="981075"/>
            <a:ext cx="892810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67" name="Text Box 5">
            <a:extLst>
              <a:ext uri="{FF2B5EF4-FFF2-40B4-BE49-F238E27FC236}">
                <a16:creationId xmlns:a16="http://schemas.microsoft.com/office/drawing/2014/main" id="{24A21518-22DA-4417-85B2-E890CCBA5033}"/>
              </a:ext>
            </a:extLst>
          </p:cNvPr>
          <p:cNvSpPr txBox="1">
            <a:spLocks noChangeArrowheads="1"/>
          </p:cNvSpPr>
          <p:nvPr/>
        </p:nvSpPr>
        <p:spPr bwMode="auto">
          <a:xfrm>
            <a:off x="395288" y="4868863"/>
            <a:ext cx="79930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dirty="0"/>
              <a:t>The amino acids are detected by colorimetric reaction with ninhydrin </a:t>
            </a:r>
            <a:r>
              <a:rPr lang="en-US" altLang="zh-CN" sz="2400" dirty="0">
                <a:latin typeface="华文中宋" panose="02010600040101010101" pitchFamily="2" charset="-122"/>
                <a:ea typeface="华文中宋" panose="02010600040101010101" pitchFamily="2" charset="-122"/>
              </a:rPr>
              <a:t>(</a:t>
            </a:r>
            <a:r>
              <a:rPr lang="zh-CN" altLang="en-US" sz="2400" dirty="0">
                <a:latin typeface="华文中宋" panose="02010600040101010101" pitchFamily="2" charset="-122"/>
                <a:ea typeface="华文中宋" panose="02010600040101010101" pitchFamily="2" charset="-122"/>
              </a:rPr>
              <a:t>茚三酮）</a:t>
            </a:r>
            <a:r>
              <a:rPr lang="en-US" altLang="zh-CN" sz="2400" dirty="0"/>
              <a:t>.</a:t>
            </a:r>
          </a:p>
        </p:txBody>
      </p:sp>
      <p:sp>
        <p:nvSpPr>
          <p:cNvPr id="139268" name="Text Box 4">
            <a:extLst>
              <a:ext uri="{FF2B5EF4-FFF2-40B4-BE49-F238E27FC236}">
                <a16:creationId xmlns:a16="http://schemas.microsoft.com/office/drawing/2014/main" id="{71DE8D86-9D70-46EF-8E23-0B7467CED44D}"/>
              </a:ext>
            </a:extLst>
          </p:cNvPr>
          <p:cNvSpPr txBox="1">
            <a:spLocks noChangeArrowheads="1"/>
          </p:cNvSpPr>
          <p:nvPr/>
        </p:nvSpPr>
        <p:spPr bwMode="auto">
          <a:xfrm>
            <a:off x="179388" y="188913"/>
            <a:ext cx="3384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dirty="0">
                <a:solidFill>
                  <a:srgbClr val="FF0000"/>
                </a:solidFill>
              </a:rPr>
              <a:t>Ninhydrin Reaction</a:t>
            </a:r>
            <a:endParaRPr lang="zh-CN" altLang="en-US" b="1" dirty="0">
              <a:solidFill>
                <a:srgbClr val="FF0000"/>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290" name="Picture 2" descr="49033-04-10 copy">
            <a:extLst>
              <a:ext uri="{FF2B5EF4-FFF2-40B4-BE49-F238E27FC236}">
                <a16:creationId xmlns:a16="http://schemas.microsoft.com/office/drawing/2014/main" id="{AA48A5A1-C2D1-4461-A251-64F348F0EC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404813"/>
            <a:ext cx="7102475" cy="604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291" name="Text Box 3">
            <a:extLst>
              <a:ext uri="{FF2B5EF4-FFF2-40B4-BE49-F238E27FC236}">
                <a16:creationId xmlns:a16="http://schemas.microsoft.com/office/drawing/2014/main" id="{6B673DD9-1AAF-49AD-BDA9-B5701B7C70C2}"/>
              </a:ext>
            </a:extLst>
          </p:cNvPr>
          <p:cNvSpPr txBox="1">
            <a:spLocks noChangeArrowheads="1"/>
          </p:cNvSpPr>
          <p:nvPr/>
        </p:nvSpPr>
        <p:spPr bwMode="auto">
          <a:xfrm>
            <a:off x="1116013" y="2708275"/>
            <a:ext cx="2879923" cy="1569660"/>
          </a:xfrm>
          <a:prstGeom prst="rect">
            <a:avLst/>
          </a:prstGeom>
          <a:solidFill>
            <a:schemeClr val="accent1"/>
          </a:solidFill>
          <a:ln w="9525" algn="ctr">
            <a:solidFill>
              <a:srgbClr val="FFFF99"/>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dirty="0"/>
              <a:t>氨基酸     </a:t>
            </a:r>
            <a:r>
              <a:rPr lang="zh-CN" altLang="en-US" dirty="0">
                <a:solidFill>
                  <a:srgbClr val="0000FF"/>
                </a:solidFill>
              </a:rPr>
              <a:t>蓝紫色</a:t>
            </a:r>
          </a:p>
          <a:p>
            <a:pPr eaLnBrk="1" hangingPunct="1"/>
            <a:r>
              <a:rPr lang="zh-CN" altLang="en-US" dirty="0"/>
              <a:t>亚氨酸     </a:t>
            </a:r>
            <a:r>
              <a:rPr lang="zh-CN" altLang="en-US" b="1" dirty="0">
                <a:solidFill>
                  <a:srgbClr val="FFFF00"/>
                </a:solidFill>
              </a:rPr>
              <a:t>黄色</a:t>
            </a:r>
            <a:endParaRPr lang="en-US" altLang="zh-CN" b="1" dirty="0">
              <a:solidFill>
                <a:srgbClr val="FFFF00"/>
              </a:solidFill>
            </a:endParaRPr>
          </a:p>
          <a:p>
            <a:pPr eaLnBrk="1" hangingPunct="1"/>
            <a:endParaRPr lang="zh-CN" altLang="en-US" b="1" dirty="0">
              <a:solidFill>
                <a:srgbClr val="FFFF00"/>
              </a:solidFill>
            </a:endParaRPr>
          </a:p>
        </p:txBody>
      </p:sp>
      <p:sp>
        <p:nvSpPr>
          <p:cNvPr id="140292" name="Oval 6">
            <a:extLst>
              <a:ext uri="{FF2B5EF4-FFF2-40B4-BE49-F238E27FC236}">
                <a16:creationId xmlns:a16="http://schemas.microsoft.com/office/drawing/2014/main" id="{28F79FD0-ED7F-4CF8-8D8D-F8862EDB42D2}"/>
              </a:ext>
            </a:extLst>
          </p:cNvPr>
          <p:cNvSpPr>
            <a:spLocks noChangeArrowheads="1"/>
          </p:cNvSpPr>
          <p:nvPr/>
        </p:nvSpPr>
        <p:spPr bwMode="auto">
          <a:xfrm>
            <a:off x="2411413" y="3213100"/>
            <a:ext cx="1008062" cy="647700"/>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4">
            <a:extLst>
              <a:ext uri="{FF2B5EF4-FFF2-40B4-BE49-F238E27FC236}">
                <a16:creationId xmlns:a16="http://schemas.microsoft.com/office/drawing/2014/main" id="{1A87A3DE-B3B4-4DA6-956A-C56E4994C9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513" t="46072" r="17513" b="36220"/>
          <a:stretch>
            <a:fillRect/>
          </a:stretch>
        </p:blipFill>
        <p:spPr bwMode="auto">
          <a:xfrm>
            <a:off x="0" y="3141663"/>
            <a:ext cx="9110663"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15" name="Text Box 5">
            <a:extLst>
              <a:ext uri="{FF2B5EF4-FFF2-40B4-BE49-F238E27FC236}">
                <a16:creationId xmlns:a16="http://schemas.microsoft.com/office/drawing/2014/main" id="{87DA3DED-9BD7-48A0-AFA2-0237C4DCDFCC}"/>
              </a:ext>
            </a:extLst>
          </p:cNvPr>
          <p:cNvSpPr txBox="1">
            <a:spLocks noChangeArrowheads="1"/>
          </p:cNvSpPr>
          <p:nvPr/>
        </p:nvSpPr>
        <p:spPr bwMode="auto">
          <a:xfrm>
            <a:off x="323850" y="1989138"/>
            <a:ext cx="5543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a:t>Sanger reaction</a:t>
            </a:r>
          </a:p>
        </p:txBody>
      </p:sp>
      <p:sp>
        <p:nvSpPr>
          <p:cNvPr id="141316" name="Text Box 6">
            <a:extLst>
              <a:ext uri="{FF2B5EF4-FFF2-40B4-BE49-F238E27FC236}">
                <a16:creationId xmlns:a16="http://schemas.microsoft.com/office/drawing/2014/main" id="{BD567543-C41C-4ADB-8C07-0AFBC49D0015}"/>
              </a:ext>
            </a:extLst>
          </p:cNvPr>
          <p:cNvSpPr txBox="1">
            <a:spLocks noChangeArrowheads="1"/>
          </p:cNvSpPr>
          <p:nvPr/>
        </p:nvSpPr>
        <p:spPr bwMode="auto">
          <a:xfrm>
            <a:off x="827088" y="476250"/>
            <a:ext cx="7777162"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r>
              <a:rPr lang="en-US" altLang="zh-CN"/>
              <a:t>Edman degradation and Sanger reaction</a:t>
            </a:r>
          </a:p>
          <a:p>
            <a:pPr eaLnBrk="1" hangingPunct="1">
              <a:spcBef>
                <a:spcPct val="50000"/>
              </a:spcBef>
              <a:buClrTx/>
              <a:buSzTx/>
              <a:buFontTx/>
              <a:buNone/>
            </a:pPr>
            <a:endParaRPr lang="zh-CN" altLang="en-US"/>
          </a:p>
        </p:txBody>
      </p:sp>
      <p:sp>
        <p:nvSpPr>
          <p:cNvPr id="141317" name="Text Box 7">
            <a:extLst>
              <a:ext uri="{FF2B5EF4-FFF2-40B4-BE49-F238E27FC236}">
                <a16:creationId xmlns:a16="http://schemas.microsoft.com/office/drawing/2014/main" id="{EE5A0019-02C8-4E8B-A908-CA288E2B6E28}"/>
              </a:ext>
            </a:extLst>
          </p:cNvPr>
          <p:cNvSpPr txBox="1">
            <a:spLocks noChangeArrowheads="1"/>
          </p:cNvSpPr>
          <p:nvPr/>
        </p:nvSpPr>
        <p:spPr bwMode="auto">
          <a:xfrm>
            <a:off x="179388" y="5300663"/>
            <a:ext cx="345650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dirty="0"/>
              <a:t>DNFB or FDNB</a:t>
            </a:r>
          </a:p>
          <a:p>
            <a:pPr eaLnBrk="1" hangingPunct="1">
              <a:spcBef>
                <a:spcPct val="50000"/>
              </a:spcBef>
              <a:buClrTx/>
              <a:buSzTx/>
              <a:buFontTx/>
              <a:buNone/>
            </a:pPr>
            <a:r>
              <a:rPr lang="zh-CN" altLang="en-US" sz="2400" dirty="0">
                <a:ea typeface="华文中宋" panose="02010600040101010101" pitchFamily="2" charset="-122"/>
              </a:rPr>
              <a:t>二硝基氟苯</a:t>
            </a:r>
            <a:endParaRPr lang="en-US" altLang="zh-CN" sz="2400" dirty="0">
              <a:ea typeface="华文中宋" panose="02010600040101010101" pitchFamily="2" charset="-122"/>
            </a:endParaRPr>
          </a:p>
          <a:p>
            <a:pPr eaLnBrk="1" hangingPunct="1">
              <a:spcBef>
                <a:spcPct val="50000"/>
              </a:spcBef>
              <a:buClrTx/>
              <a:buSzTx/>
              <a:buFontTx/>
              <a:buNone/>
            </a:pPr>
            <a:r>
              <a:rPr lang="zh-CN" altLang="en-US" sz="2400" dirty="0">
                <a:ea typeface="华文中宋" panose="02010600040101010101" pitchFamily="2" charset="-122"/>
              </a:rPr>
              <a:t>（</a:t>
            </a:r>
            <a:r>
              <a:rPr lang="en-US" altLang="zh-CN" sz="2400" dirty="0">
                <a:ea typeface="华文中宋" panose="02010600040101010101" pitchFamily="2" charset="-122"/>
              </a:rPr>
              <a:t>sanger reagent</a:t>
            </a:r>
            <a:r>
              <a:rPr lang="zh-CN" altLang="en-US" sz="2400" dirty="0">
                <a:ea typeface="华文中宋" panose="02010600040101010101" pitchFamily="2" charset="-122"/>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338" name="Picture 4">
            <a:extLst>
              <a:ext uri="{FF2B5EF4-FFF2-40B4-BE49-F238E27FC236}">
                <a16:creationId xmlns:a16="http://schemas.microsoft.com/office/drawing/2014/main" id="{F1303E71-8B8E-4BCD-8925-BDB11C730A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513" t="47049" r="17888" b="14561"/>
          <a:stretch>
            <a:fillRect/>
          </a:stretch>
        </p:blipFill>
        <p:spPr bwMode="auto">
          <a:xfrm>
            <a:off x="468313" y="1484313"/>
            <a:ext cx="8353425" cy="372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39" name="Text Box 5">
            <a:extLst>
              <a:ext uri="{FF2B5EF4-FFF2-40B4-BE49-F238E27FC236}">
                <a16:creationId xmlns:a16="http://schemas.microsoft.com/office/drawing/2014/main" id="{8EBF266A-D870-44DF-9B89-30F7B0A7D76F}"/>
              </a:ext>
            </a:extLst>
          </p:cNvPr>
          <p:cNvSpPr txBox="1">
            <a:spLocks noChangeArrowheads="1"/>
          </p:cNvSpPr>
          <p:nvPr/>
        </p:nvSpPr>
        <p:spPr bwMode="auto">
          <a:xfrm>
            <a:off x="1547813" y="765175"/>
            <a:ext cx="5543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a:t>Edman reaction</a:t>
            </a:r>
          </a:p>
        </p:txBody>
      </p:sp>
      <p:sp>
        <p:nvSpPr>
          <p:cNvPr id="142340" name="Text Box 6">
            <a:extLst>
              <a:ext uri="{FF2B5EF4-FFF2-40B4-BE49-F238E27FC236}">
                <a16:creationId xmlns:a16="http://schemas.microsoft.com/office/drawing/2014/main" id="{D5C23BCD-C1B5-461C-8275-4CB2275C2D8F}"/>
              </a:ext>
            </a:extLst>
          </p:cNvPr>
          <p:cNvSpPr txBox="1">
            <a:spLocks noChangeArrowheads="1"/>
          </p:cNvSpPr>
          <p:nvPr/>
        </p:nvSpPr>
        <p:spPr bwMode="auto">
          <a:xfrm>
            <a:off x="250825" y="5373688"/>
            <a:ext cx="8713788"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t>The amino acid sequence of a protein can be determined by Edman degradation which sequentially removes one residue at a time from the N terminus.</a:t>
            </a:r>
          </a:p>
        </p:txBody>
      </p:sp>
      <p:sp>
        <p:nvSpPr>
          <p:cNvPr id="142341" name="Text Box 7">
            <a:extLst>
              <a:ext uri="{FF2B5EF4-FFF2-40B4-BE49-F238E27FC236}">
                <a16:creationId xmlns:a16="http://schemas.microsoft.com/office/drawing/2014/main" id="{06E10354-E514-4D23-8DEE-5EAF7CD07E81}"/>
              </a:ext>
            </a:extLst>
          </p:cNvPr>
          <p:cNvSpPr txBox="1">
            <a:spLocks noChangeArrowheads="1"/>
          </p:cNvSpPr>
          <p:nvPr/>
        </p:nvSpPr>
        <p:spPr bwMode="auto">
          <a:xfrm>
            <a:off x="900113" y="2492375"/>
            <a:ext cx="172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t>PITC</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a:extLst>
              <a:ext uri="{FF2B5EF4-FFF2-40B4-BE49-F238E27FC236}">
                <a16:creationId xmlns:a16="http://schemas.microsoft.com/office/drawing/2014/main" id="{4E0B178E-0747-48A9-B451-389677D10E36}"/>
              </a:ext>
            </a:extLst>
          </p:cNvPr>
          <p:cNvSpPr txBox="1">
            <a:spLocks noChangeArrowheads="1"/>
          </p:cNvSpPr>
          <p:nvPr/>
        </p:nvSpPr>
        <p:spPr bwMode="auto">
          <a:xfrm>
            <a:off x="762000" y="188640"/>
            <a:ext cx="7620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kumimoji="0" lang="en-US" altLang="zh-CN" sz="3600" dirty="0">
                <a:solidFill>
                  <a:srgbClr val="FF0066"/>
                </a:solidFill>
                <a:latin typeface="Times New Roman" panose="02020603050405020304" pitchFamily="18" charset="0"/>
              </a:rPr>
              <a:t>Summary of</a:t>
            </a:r>
            <a:r>
              <a:rPr lang="en-US" altLang="zh-CN" sz="3600" dirty="0">
                <a:solidFill>
                  <a:srgbClr val="FF0066"/>
                </a:solidFill>
                <a:latin typeface="Times New Roman" panose="02020603050405020304" pitchFamily="18" charset="0"/>
              </a:rPr>
              <a:t> B2 Acids and Bases</a:t>
            </a:r>
            <a:endParaRPr kumimoji="0" lang="en-US" altLang="zh-CN" sz="3600" dirty="0">
              <a:solidFill>
                <a:srgbClr val="FF0066"/>
              </a:solidFill>
              <a:latin typeface="Times New Roman" panose="02020603050405020304" pitchFamily="18" charset="0"/>
            </a:endParaRPr>
          </a:p>
        </p:txBody>
      </p:sp>
      <p:sp>
        <p:nvSpPr>
          <p:cNvPr id="39939" name="Text Box 3">
            <a:extLst>
              <a:ext uri="{FF2B5EF4-FFF2-40B4-BE49-F238E27FC236}">
                <a16:creationId xmlns:a16="http://schemas.microsoft.com/office/drawing/2014/main" id="{DF7B449B-00FF-4D85-94BE-A228B0898565}"/>
              </a:ext>
            </a:extLst>
          </p:cNvPr>
          <p:cNvSpPr txBox="1">
            <a:spLocks noChangeArrowheads="1"/>
          </p:cNvSpPr>
          <p:nvPr/>
        </p:nvSpPr>
        <p:spPr bwMode="auto">
          <a:xfrm>
            <a:off x="685800" y="1051248"/>
            <a:ext cx="81534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50000"/>
              </a:spcBef>
              <a:buClrTx/>
              <a:buSzTx/>
              <a:buFontTx/>
              <a:buAutoNum type="arabicPeriod"/>
            </a:pPr>
            <a:r>
              <a:rPr lang="en-US" altLang="zh-CN" sz="2400" b="1" dirty="0">
                <a:latin typeface="Times New Roman" panose="02020603050405020304" pitchFamily="18" charset="0"/>
              </a:rPr>
              <a:t>Weak acids (proton donors) and weak bases (proton acceptors) do not ionize completely when dissolved in water.</a:t>
            </a:r>
          </a:p>
          <a:p>
            <a:pPr eaLnBrk="1" hangingPunct="1">
              <a:spcBef>
                <a:spcPct val="50000"/>
              </a:spcBef>
              <a:buClrTx/>
              <a:buSzTx/>
              <a:buNone/>
            </a:pPr>
            <a:r>
              <a:rPr lang="en-US" altLang="zh-CN" sz="2400" b="1" dirty="0">
                <a:latin typeface="Times New Roman" panose="02020603050405020304" pitchFamily="18" charset="0"/>
              </a:rPr>
              <a:t>      Titration curves, Henderson-</a:t>
            </a:r>
            <a:r>
              <a:rPr lang="en-US" altLang="zh-CN" sz="2400" b="1" dirty="0" err="1">
                <a:latin typeface="Times New Roman" panose="02020603050405020304" pitchFamily="18" charset="0"/>
              </a:rPr>
              <a:t>Hasselbach</a:t>
            </a:r>
            <a:r>
              <a:rPr lang="en-US" altLang="zh-CN" sz="2400" b="1" dirty="0">
                <a:latin typeface="Times New Roman" panose="02020603050405020304" pitchFamily="18" charset="0"/>
              </a:rPr>
              <a:t> equation, buffering region </a:t>
            </a:r>
          </a:p>
          <a:p>
            <a:pPr marL="457200" indent="-457200" eaLnBrk="1" hangingPunct="1">
              <a:spcBef>
                <a:spcPct val="50000"/>
              </a:spcBef>
              <a:buClrTx/>
              <a:buSzTx/>
              <a:buFontTx/>
              <a:buAutoNum type="arabicPeriod"/>
            </a:pPr>
            <a:endParaRPr lang="en-US" altLang="zh-CN" sz="2400" dirty="0">
              <a:latin typeface="Times New Roman" panose="02020603050405020304" pitchFamily="18" charset="0"/>
            </a:endParaRPr>
          </a:p>
        </p:txBody>
      </p:sp>
      <p:sp>
        <p:nvSpPr>
          <p:cNvPr id="39940" name="Text Box 4">
            <a:extLst>
              <a:ext uri="{FF2B5EF4-FFF2-40B4-BE49-F238E27FC236}">
                <a16:creationId xmlns:a16="http://schemas.microsoft.com/office/drawing/2014/main" id="{4E7BF164-671D-4A34-B237-B7F2437B0607}"/>
              </a:ext>
            </a:extLst>
          </p:cNvPr>
          <p:cNvSpPr txBox="1">
            <a:spLocks noChangeArrowheads="1"/>
          </p:cNvSpPr>
          <p:nvPr/>
        </p:nvSpPr>
        <p:spPr bwMode="auto">
          <a:xfrm>
            <a:off x="726504" y="3429000"/>
            <a:ext cx="83820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b="1" dirty="0">
                <a:latin typeface="Times New Roman" panose="02020603050405020304" pitchFamily="18" charset="0"/>
              </a:rPr>
              <a:t>2. </a:t>
            </a:r>
            <a:r>
              <a:rPr lang="en-US" altLang="zh-CN" sz="2400" b="1" dirty="0">
                <a:latin typeface="Symbol" panose="05050102010706020507" pitchFamily="18" charset="2"/>
              </a:rPr>
              <a:t>a</a:t>
            </a:r>
            <a:r>
              <a:rPr lang="en-US" altLang="zh-CN" sz="2400" b="1" dirty="0">
                <a:latin typeface="Times New Roman" panose="02020603050405020304" pitchFamily="18" charset="0"/>
              </a:rPr>
              <a:t>-amino acids all have similar two-stage titration curves.</a:t>
            </a:r>
          </a:p>
          <a:p>
            <a:pPr lvl="1" eaLnBrk="1" hangingPunct="1">
              <a:spcBef>
                <a:spcPts val="0"/>
              </a:spcBef>
              <a:buClrTx/>
              <a:buSzTx/>
              <a:buFontTx/>
              <a:buChar char="•"/>
            </a:pPr>
            <a:r>
              <a:rPr lang="en-US" altLang="zh-CN" sz="2400" b="1" dirty="0">
                <a:latin typeface="Times New Roman" panose="02020603050405020304" pitchFamily="18" charset="0"/>
              </a:rPr>
              <a:t>the deprotonation of : the </a:t>
            </a:r>
            <a:r>
              <a:rPr lang="en-US" altLang="zh-CN" sz="2400" b="1" dirty="0">
                <a:latin typeface="Symbol" panose="05050102010706020507" pitchFamily="18" charset="2"/>
              </a:rPr>
              <a:t>a</a:t>
            </a:r>
            <a:r>
              <a:rPr lang="en-US" altLang="zh-CN" sz="2400" b="1" dirty="0">
                <a:latin typeface="Times New Roman" panose="02020603050405020304" pitchFamily="18" charset="0"/>
              </a:rPr>
              <a:t>-COOH group (pK</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a:t>
            </a:r>
          </a:p>
          <a:p>
            <a:pPr marL="457200" lvl="1" indent="0" eaLnBrk="1" hangingPunct="1">
              <a:spcBef>
                <a:spcPts val="0"/>
              </a:spcBef>
              <a:buClrTx/>
              <a:buSzTx/>
              <a:buNone/>
            </a:pPr>
            <a:r>
              <a:rPr lang="en-US" altLang="zh-CN" sz="2400" b="1" dirty="0">
                <a:latin typeface="Times New Roman" panose="02020603050405020304" pitchFamily="18" charset="0"/>
              </a:rPr>
              <a:t>                                                (R-COOH, </a:t>
            </a:r>
            <a:r>
              <a:rPr lang="en-US" altLang="zh-CN" sz="2400" b="1" dirty="0" err="1">
                <a:latin typeface="Times New Roman" panose="02020603050405020304" pitchFamily="18" charset="0"/>
              </a:rPr>
              <a:t>pK</a:t>
            </a:r>
            <a:r>
              <a:rPr lang="en-US" altLang="zh-CN" sz="2400" b="1" baseline="-25000" dirty="0" err="1">
                <a:latin typeface="Times New Roman" panose="02020603050405020304" pitchFamily="18" charset="0"/>
              </a:rPr>
              <a:t>R</a:t>
            </a:r>
            <a:r>
              <a:rPr lang="en-US" altLang="zh-CN" sz="2400" b="1" dirty="0">
                <a:latin typeface="Times New Roman" panose="02020603050405020304" pitchFamily="18" charset="0"/>
              </a:rPr>
              <a:t>)</a:t>
            </a:r>
          </a:p>
          <a:p>
            <a:pPr marL="457200" lvl="1" indent="0" eaLnBrk="1" hangingPunct="1">
              <a:spcBef>
                <a:spcPts val="0"/>
              </a:spcBef>
              <a:buClrTx/>
              <a:buSzTx/>
              <a:buNone/>
            </a:pPr>
            <a:r>
              <a:rPr lang="en-US" altLang="zh-CN" sz="2400" b="1" dirty="0">
                <a:latin typeface="Times New Roman" panose="02020603050405020304" pitchFamily="18" charset="0"/>
              </a:rPr>
              <a:t>                                                (R-NH</a:t>
            </a:r>
            <a:r>
              <a:rPr lang="en-US" altLang="zh-CN" sz="2400" b="1" baseline="-25000" dirty="0">
                <a:latin typeface="Times New Roman" panose="02020603050405020304" pitchFamily="18" charset="0"/>
              </a:rPr>
              <a:t>3</a:t>
            </a:r>
            <a:r>
              <a:rPr lang="en-US" altLang="zh-CN" sz="2400" b="1" baseline="30000" dirty="0">
                <a:latin typeface="Times New Roman" panose="02020603050405020304" pitchFamily="18" charset="0"/>
              </a:rPr>
              <a:t>+</a:t>
            </a:r>
            <a:r>
              <a:rPr lang="en-US" altLang="zh-CN" sz="2400" b="1" dirty="0">
                <a:latin typeface="Times New Roman" panose="02020603050405020304" pitchFamily="18" charset="0"/>
              </a:rPr>
              <a:t>, </a:t>
            </a:r>
            <a:r>
              <a:rPr lang="en-US" altLang="zh-CN" sz="2400" b="1" dirty="0" err="1">
                <a:latin typeface="Times New Roman" panose="02020603050405020304" pitchFamily="18" charset="0"/>
              </a:rPr>
              <a:t>pK</a:t>
            </a:r>
            <a:r>
              <a:rPr lang="en-US" altLang="zh-CN" sz="2400" b="1" baseline="-25000" dirty="0" err="1">
                <a:latin typeface="Times New Roman" panose="02020603050405020304" pitchFamily="18" charset="0"/>
              </a:rPr>
              <a:t>R</a:t>
            </a:r>
            <a:r>
              <a:rPr lang="en-US" altLang="zh-CN" sz="2400" b="1" dirty="0">
                <a:latin typeface="Times New Roman" panose="02020603050405020304" pitchFamily="18" charset="0"/>
              </a:rPr>
              <a:t>)</a:t>
            </a:r>
          </a:p>
          <a:p>
            <a:pPr lvl="1" eaLnBrk="1" hangingPunct="1">
              <a:spcBef>
                <a:spcPts val="0"/>
              </a:spcBef>
              <a:buClrTx/>
              <a:buSzTx/>
              <a:buFont typeface="Symbol" panose="05050102010706020507" pitchFamily="18" charset="2"/>
              <a:buChar char=" "/>
            </a:pPr>
            <a:r>
              <a:rPr lang="en-US" altLang="zh-CN" sz="2400" b="1" dirty="0">
                <a:latin typeface="Symbol" panose="05050102010706020507" pitchFamily="18" charset="2"/>
              </a:rPr>
              <a:t>                                             a</a:t>
            </a:r>
            <a:r>
              <a:rPr lang="en-US" altLang="zh-CN" sz="2400" b="1" dirty="0">
                <a:latin typeface="Times New Roman" panose="02020603050405020304" pitchFamily="18" charset="0"/>
              </a:rPr>
              <a:t>-NH</a:t>
            </a:r>
            <a:r>
              <a:rPr lang="en-US" altLang="zh-CN" sz="2400" b="1" baseline="-25000" dirty="0">
                <a:latin typeface="Times New Roman" panose="02020603050405020304" pitchFamily="18" charset="0"/>
              </a:rPr>
              <a:t>3</a:t>
            </a:r>
            <a:r>
              <a:rPr lang="en-US" altLang="zh-CN" sz="2400" b="1" baseline="30000" dirty="0">
                <a:latin typeface="Times New Roman" panose="02020603050405020304" pitchFamily="18" charset="0"/>
              </a:rPr>
              <a:t>+</a:t>
            </a:r>
            <a:r>
              <a:rPr lang="en-US" altLang="zh-CN" sz="2400" b="1" dirty="0">
                <a:latin typeface="Times New Roman" panose="02020603050405020304" pitchFamily="18" charset="0"/>
              </a:rPr>
              <a:t>  group (pK</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a:t>
            </a:r>
          </a:p>
          <a:p>
            <a:pPr lvl="1" eaLnBrk="1" hangingPunct="1">
              <a:spcBef>
                <a:spcPts val="0"/>
              </a:spcBef>
              <a:buClrTx/>
              <a:buSzTx/>
              <a:buFont typeface="Symbol" panose="05050102010706020507" pitchFamily="18" charset="2"/>
              <a:buChar char=" "/>
            </a:pPr>
            <a:r>
              <a:rPr lang="en-US" altLang="zh-CN" sz="2400" b="1" dirty="0" err="1">
                <a:latin typeface="Times New Roman" panose="02020603050405020304" pitchFamily="18" charset="0"/>
              </a:rPr>
              <a:t>pI</a:t>
            </a:r>
            <a:r>
              <a:rPr lang="en-US" altLang="zh-CN" sz="2400" b="1" dirty="0">
                <a:latin typeface="Times New Roman" panose="02020603050405020304" pitchFamily="18" charset="0"/>
              </a:rPr>
              <a:t>?</a:t>
            </a:r>
          </a:p>
        </p:txBody>
      </p:sp>
      <p:pic>
        <p:nvPicPr>
          <p:cNvPr id="6" name="Picture 2">
            <a:extLst>
              <a:ext uri="{FF2B5EF4-FFF2-40B4-BE49-F238E27FC236}">
                <a16:creationId xmlns:a16="http://schemas.microsoft.com/office/drawing/2014/main" id="{A507D811-3C3B-42C6-A757-81A0F6972611}"/>
              </a:ext>
            </a:extLst>
          </p:cNvPr>
          <p:cNvPicPr>
            <a:picLocks noChangeAspect="1" noChangeArrowheads="1"/>
          </p:cNvPicPr>
          <p:nvPr/>
        </p:nvPicPr>
        <p:blipFill rotWithShape="1">
          <a:blip r:embed="rId3" cstate="print">
            <a:duotone>
              <a:prstClr val="black"/>
              <a:schemeClr val="accent2">
                <a:tint val="45000"/>
                <a:satMod val="400000"/>
              </a:schemeClr>
            </a:duotone>
            <a:extLst>
              <a:ext uri="{28A0092B-C50C-407E-A947-70E740481C1C}">
                <a14:useLocalDpi xmlns:a14="http://schemas.microsoft.com/office/drawing/2010/main" val="0"/>
              </a:ext>
            </a:extLst>
          </a:blip>
          <a:srcRect t="17711" b="19032"/>
          <a:stretch/>
        </p:blipFill>
        <p:spPr bwMode="auto">
          <a:xfrm>
            <a:off x="4932040" y="2855516"/>
            <a:ext cx="2096968"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3">
            <a:extLst>
              <a:ext uri="{FF2B5EF4-FFF2-40B4-BE49-F238E27FC236}">
                <a16:creationId xmlns:a16="http://schemas.microsoft.com/office/drawing/2014/main" id="{D346BD4B-55DF-4DB7-9909-F340761152B0}"/>
              </a:ext>
            </a:extLst>
          </p:cNvPr>
          <p:cNvSpPr txBox="1">
            <a:spLocks noChangeArrowheads="1"/>
          </p:cNvSpPr>
          <p:nvPr/>
        </p:nvSpPr>
        <p:spPr bwMode="auto">
          <a:xfrm>
            <a:off x="683568" y="5813682"/>
            <a:ext cx="81534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None/>
            </a:pPr>
            <a:r>
              <a:rPr lang="en-US" altLang="zh-CN" sz="2400" b="1" dirty="0">
                <a:latin typeface="Times New Roman" panose="02020603050405020304" pitchFamily="18" charset="0"/>
              </a:rPr>
              <a:t>3. Three reactions</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ninhydrin,</a:t>
            </a:r>
            <a:r>
              <a:rPr lang="zh-CN" altLang="en-US" sz="2400" b="1" dirty="0">
                <a:latin typeface="Times New Roman" panose="02020603050405020304" pitchFamily="18" charset="0"/>
              </a:rPr>
              <a:t> </a:t>
            </a:r>
            <a:r>
              <a:rPr lang="en-US" altLang="zh-CN" sz="2400" b="1" dirty="0">
                <a:latin typeface="Times New Roman" panose="02020603050405020304" pitchFamily="18" charset="0"/>
              </a:rPr>
              <a:t>Sanger</a:t>
            </a:r>
            <a:r>
              <a:rPr lang="zh-CN" altLang="en-US" sz="2400" b="1" dirty="0">
                <a:latin typeface="Times New Roman" panose="02020603050405020304" pitchFamily="18" charset="0"/>
              </a:rPr>
              <a:t> </a:t>
            </a:r>
            <a:r>
              <a:rPr lang="en-US" altLang="zh-CN" sz="2400" b="1" dirty="0">
                <a:latin typeface="Times New Roman" panose="02020603050405020304" pitchFamily="18" charset="0"/>
              </a:rPr>
              <a:t>reaction,</a:t>
            </a:r>
            <a:r>
              <a:rPr lang="zh-CN" altLang="en-US" sz="2400" b="1" dirty="0">
                <a:latin typeface="Times New Roman" panose="02020603050405020304" pitchFamily="18" charset="0"/>
              </a:rPr>
              <a:t> </a:t>
            </a:r>
            <a:r>
              <a:rPr lang="en-US" altLang="zh-CN" sz="2400" b="1" dirty="0">
                <a:latin typeface="Times New Roman" panose="02020603050405020304" pitchFamily="18" charset="0"/>
              </a:rPr>
              <a:t>Edman</a:t>
            </a:r>
            <a:r>
              <a:rPr lang="zh-CN" altLang="en-US" sz="2400" b="1" dirty="0">
                <a:latin typeface="Times New Roman" panose="02020603050405020304" pitchFamily="18" charset="0"/>
              </a:rPr>
              <a:t> </a:t>
            </a:r>
            <a:r>
              <a:rPr lang="en-US" altLang="zh-CN" sz="2400" b="1" dirty="0">
                <a:latin typeface="Times New Roman" panose="02020603050405020304" pitchFamily="18" charset="0"/>
              </a:rPr>
              <a:t>reaction.</a:t>
            </a:r>
          </a:p>
          <a:p>
            <a:pPr marL="457200" indent="-457200" eaLnBrk="1" hangingPunct="1">
              <a:spcBef>
                <a:spcPct val="50000"/>
              </a:spcBef>
              <a:buClrTx/>
              <a:buSzTx/>
              <a:buFontTx/>
              <a:buAutoNum type="arabicPeriod"/>
            </a:pPr>
            <a:endParaRPr lang="en-US" altLang="zh-CN" sz="2400" dirty="0">
              <a:latin typeface="Times New Roman" panose="02020603050405020304" pitchFamily="18" charset="0"/>
            </a:endParaRPr>
          </a:p>
        </p:txBody>
      </p:sp>
    </p:spTree>
    <p:extLst>
      <p:ext uri="{BB962C8B-B14F-4D97-AF65-F5344CB8AC3E}">
        <p14:creationId xmlns:p14="http://schemas.microsoft.com/office/powerpoint/2010/main" val="168945802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CC44BED7-C90B-4C82-BE43-2E368D50113A}"/>
              </a:ext>
            </a:extLst>
          </p:cNvPr>
          <p:cNvSpPr>
            <a:spLocks noGrp="1" noChangeArrowheads="1"/>
          </p:cNvSpPr>
          <p:nvPr>
            <p:ph type="title"/>
          </p:nvPr>
        </p:nvSpPr>
        <p:spPr/>
        <p:txBody>
          <a:bodyPr/>
          <a:lstStyle/>
          <a:p>
            <a:pPr eaLnBrk="1" hangingPunct="1"/>
            <a:r>
              <a:rPr lang="en-US" altLang="zh-CN"/>
              <a:t>B3  Protein structure</a:t>
            </a:r>
          </a:p>
        </p:txBody>
      </p:sp>
      <p:sp>
        <p:nvSpPr>
          <p:cNvPr id="143363" name="Rectangle 3">
            <a:extLst>
              <a:ext uri="{FF2B5EF4-FFF2-40B4-BE49-F238E27FC236}">
                <a16:creationId xmlns:a16="http://schemas.microsoft.com/office/drawing/2014/main" id="{7469DFA6-11D0-4F44-8607-70F78A64300A}"/>
              </a:ext>
            </a:extLst>
          </p:cNvPr>
          <p:cNvSpPr>
            <a:spLocks noGrp="1" noChangeArrowheads="1"/>
          </p:cNvSpPr>
          <p:nvPr>
            <p:ph type="body" idx="1"/>
          </p:nvPr>
        </p:nvSpPr>
        <p:spPr>
          <a:xfrm>
            <a:off x="1182688" y="2474913"/>
            <a:ext cx="7772400" cy="3087687"/>
          </a:xfrm>
        </p:spPr>
        <p:txBody>
          <a:bodyPr/>
          <a:lstStyle/>
          <a:p>
            <a:pPr eaLnBrk="1" hangingPunct="1"/>
            <a:r>
              <a:rPr lang="en-US" altLang="zh-CN" sz="3600" dirty="0">
                <a:hlinkClick r:id="rId2" action="ppaction://hlinksldjump"/>
              </a:rPr>
              <a:t>Peptide</a:t>
            </a:r>
            <a:endParaRPr lang="en-US" altLang="zh-CN" sz="3600" dirty="0"/>
          </a:p>
          <a:p>
            <a:pPr eaLnBrk="1" hangingPunct="1"/>
            <a:endParaRPr lang="en-US" altLang="zh-CN" sz="3600" dirty="0"/>
          </a:p>
          <a:p>
            <a:pPr eaLnBrk="1" hangingPunct="1"/>
            <a:r>
              <a:rPr lang="en-US" altLang="zh-CN" sz="3600" dirty="0">
                <a:solidFill>
                  <a:srgbClr val="FF0066"/>
                </a:solidFill>
                <a:hlinkClick r:id="rId3" action="ppaction://hlinksldjump"/>
              </a:rPr>
              <a:t>The Three-dimensional Structure</a:t>
            </a:r>
          </a:p>
          <a:p>
            <a:pPr eaLnBrk="1" hangingPunct="1">
              <a:buFont typeface="Wingdings" panose="05000000000000000000" pitchFamily="2" charset="2"/>
              <a:buNone/>
            </a:pPr>
            <a:r>
              <a:rPr lang="en-US" altLang="zh-CN" sz="3600" dirty="0">
                <a:solidFill>
                  <a:srgbClr val="FF0066"/>
                </a:solidFill>
                <a:hlinkClick r:id="rId3" action="ppaction://hlinksldjump"/>
              </a:rPr>
              <a:t>   of Proteins</a:t>
            </a:r>
            <a:endParaRPr lang="en-US" altLang="zh-CN" sz="3600" dirty="0">
              <a:solidFill>
                <a:srgbClr val="FF0066"/>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2">
            <a:extLst>
              <a:ext uri="{FF2B5EF4-FFF2-40B4-BE49-F238E27FC236}">
                <a16:creationId xmlns:a16="http://schemas.microsoft.com/office/drawing/2014/main" id="{1CF7CA6C-ADE6-4CB1-9C02-2AA9F2B0D223}"/>
              </a:ext>
            </a:extLst>
          </p:cNvPr>
          <p:cNvSpPr txBox="1">
            <a:spLocks noChangeArrowheads="1"/>
          </p:cNvSpPr>
          <p:nvPr/>
        </p:nvSpPr>
        <p:spPr bwMode="auto">
          <a:xfrm>
            <a:off x="1524000" y="533400"/>
            <a:ext cx="71628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a:solidFill>
                  <a:srgbClr val="FF0000"/>
                </a:solidFill>
              </a:rPr>
              <a:t>1. Amino acids covalently join one another to form peptides</a:t>
            </a:r>
          </a:p>
        </p:txBody>
      </p:sp>
      <p:sp>
        <p:nvSpPr>
          <p:cNvPr id="144387" name="Text Box 3">
            <a:extLst>
              <a:ext uri="{FF2B5EF4-FFF2-40B4-BE49-F238E27FC236}">
                <a16:creationId xmlns:a16="http://schemas.microsoft.com/office/drawing/2014/main" id="{314EBD6B-EB27-41EF-88BA-B298E3676D3E}"/>
              </a:ext>
            </a:extLst>
          </p:cNvPr>
          <p:cNvSpPr txBox="1">
            <a:spLocks noChangeArrowheads="1"/>
          </p:cNvSpPr>
          <p:nvPr/>
        </p:nvSpPr>
        <p:spPr bwMode="auto">
          <a:xfrm>
            <a:off x="381000" y="1828800"/>
            <a:ext cx="8534400" cy="462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50000"/>
              </a:spcBef>
              <a:buClrTx/>
              <a:buSzTx/>
              <a:buFontTx/>
              <a:buNone/>
            </a:pPr>
            <a:r>
              <a:rPr lang="en-US" altLang="zh-CN" sz="2800" b="1" dirty="0">
                <a:latin typeface="Times New Roman" panose="02020603050405020304" pitchFamily="18" charset="0"/>
              </a:rPr>
              <a:t>1.1. The </a:t>
            </a:r>
            <a:r>
              <a:rPr lang="en-US" altLang="zh-CN" sz="2800" b="1" dirty="0">
                <a:latin typeface="Symbol" panose="05050102010706020507" pitchFamily="18" charset="2"/>
              </a:rPr>
              <a:t>a</a:t>
            </a:r>
            <a:r>
              <a:rPr lang="en-US" altLang="zh-CN" sz="2800" b="1" dirty="0">
                <a:latin typeface="Times New Roman" panose="02020603050405020304" pitchFamily="18" charset="0"/>
              </a:rPr>
              <a:t>-carboxyl group of one amino acid joins with the </a:t>
            </a:r>
            <a:r>
              <a:rPr lang="en-US" altLang="zh-CN" sz="2800" b="1" dirty="0">
                <a:latin typeface="Symbol" panose="05050102010706020507" pitchFamily="18" charset="2"/>
              </a:rPr>
              <a:t>a</a:t>
            </a:r>
            <a:r>
              <a:rPr lang="en-US" altLang="zh-CN" sz="2800" b="1" dirty="0">
                <a:latin typeface="Times New Roman" panose="02020603050405020304" pitchFamily="18" charset="0"/>
              </a:rPr>
              <a:t>-amino group of another amino acid by a </a:t>
            </a:r>
            <a:r>
              <a:rPr lang="en-US" altLang="zh-CN" sz="2800" b="1" dirty="0">
                <a:solidFill>
                  <a:srgbClr val="FF0066"/>
                </a:solidFill>
                <a:latin typeface="Times New Roman" panose="02020603050405020304" pitchFamily="18" charset="0"/>
              </a:rPr>
              <a:t>peptide bond</a:t>
            </a:r>
            <a:r>
              <a:rPr lang="en-US" altLang="zh-CN" sz="2800" b="1" dirty="0">
                <a:latin typeface="Times New Roman" panose="02020603050405020304" pitchFamily="18" charset="0"/>
              </a:rPr>
              <a:t> (actually an amide bond)</a:t>
            </a:r>
          </a:p>
          <a:p>
            <a:pPr eaLnBrk="1" hangingPunct="1">
              <a:lnSpc>
                <a:spcPct val="120000"/>
              </a:lnSpc>
              <a:spcBef>
                <a:spcPct val="50000"/>
              </a:spcBef>
              <a:buClrTx/>
              <a:buSzTx/>
              <a:buFontTx/>
              <a:buNone/>
            </a:pPr>
            <a:r>
              <a:rPr lang="en-US" altLang="zh-CN" sz="2800" b="1" dirty="0">
                <a:latin typeface="Times New Roman" panose="02020603050405020304" pitchFamily="18" charset="0"/>
              </a:rPr>
              <a:t>	1.1.1 This is a condensation reaction where a </a:t>
            </a:r>
            <a:r>
              <a:rPr lang="en-US" altLang="zh-CN" sz="2800" b="1" dirty="0">
                <a:solidFill>
                  <a:srgbClr val="FF0066"/>
                </a:solidFill>
                <a:latin typeface="Times New Roman" panose="02020603050405020304" pitchFamily="18" charset="0"/>
              </a:rPr>
              <a:t>water molecule is liberated or eliminated</a:t>
            </a:r>
            <a:r>
              <a:rPr lang="en-US" altLang="zh-CN" sz="2800" b="1" dirty="0">
                <a:latin typeface="Times New Roman" panose="02020603050405020304" pitchFamily="18" charset="0"/>
              </a:rPr>
              <a:t>.</a:t>
            </a:r>
          </a:p>
          <a:p>
            <a:pPr eaLnBrk="1" hangingPunct="1">
              <a:lnSpc>
                <a:spcPct val="120000"/>
              </a:lnSpc>
              <a:spcBef>
                <a:spcPct val="50000"/>
              </a:spcBef>
              <a:buClrTx/>
              <a:buSzTx/>
              <a:buFontTx/>
              <a:buNone/>
            </a:pPr>
            <a:r>
              <a:rPr lang="en-US" altLang="zh-CN" sz="2800" b="1" dirty="0">
                <a:latin typeface="Times New Roman" panose="02020603050405020304" pitchFamily="18" charset="0"/>
              </a:rPr>
              <a:t>	1.1.2 The condensation reaction can occur repeatedly to form </a:t>
            </a:r>
            <a:r>
              <a:rPr lang="en-US" altLang="zh-CN" sz="2800" b="1" dirty="0">
                <a:solidFill>
                  <a:srgbClr val="FF0066"/>
                </a:solidFill>
                <a:latin typeface="Times New Roman" panose="02020603050405020304" pitchFamily="18" charset="0"/>
              </a:rPr>
              <a:t>oligopeptides</a:t>
            </a:r>
            <a:r>
              <a:rPr lang="en-US" altLang="zh-CN" sz="2800" b="1" dirty="0">
                <a:latin typeface="Times New Roman" panose="02020603050405020304" pitchFamily="18" charset="0"/>
              </a:rPr>
              <a:t> (with less than 50 aa), </a:t>
            </a:r>
            <a:r>
              <a:rPr lang="en-US" altLang="zh-CN" sz="2800" b="1" dirty="0">
                <a:solidFill>
                  <a:srgbClr val="FF0066"/>
                </a:solidFill>
                <a:latin typeface="Times New Roman" panose="02020603050405020304" pitchFamily="18" charset="0"/>
              </a:rPr>
              <a:t>polypeptides </a:t>
            </a:r>
            <a:r>
              <a:rPr lang="en-US" altLang="zh-CN" sz="2800" b="1" dirty="0">
                <a:latin typeface="Times New Roman" panose="02020603050405020304" pitchFamily="18" charset="0"/>
              </a:rPr>
              <a:t>(btw 50-100 aa), and </a:t>
            </a:r>
            <a:r>
              <a:rPr lang="en-US" altLang="zh-CN" sz="2800" b="1" dirty="0">
                <a:solidFill>
                  <a:srgbClr val="FF0066"/>
                </a:solidFill>
                <a:latin typeface="Times New Roman" panose="02020603050405020304" pitchFamily="18" charset="0"/>
              </a:rPr>
              <a:t>proteins </a:t>
            </a:r>
            <a:r>
              <a:rPr lang="en-US" altLang="zh-CN" sz="2800" b="1" dirty="0">
                <a:latin typeface="Times New Roman" panose="02020603050405020304" pitchFamily="18" charset="0"/>
              </a:rPr>
              <a:t>(longer).</a:t>
            </a:r>
            <a:endParaRPr lang="en-US" altLang="zh-CN" sz="2400" dirty="0">
              <a:latin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 Box 2">
            <a:extLst>
              <a:ext uri="{FF2B5EF4-FFF2-40B4-BE49-F238E27FC236}">
                <a16:creationId xmlns:a16="http://schemas.microsoft.com/office/drawing/2014/main" id="{BB194FB4-0C71-41CD-BFAB-A8FE925B3031}"/>
              </a:ext>
            </a:extLst>
          </p:cNvPr>
          <p:cNvSpPr txBox="1">
            <a:spLocks noChangeArrowheads="1"/>
          </p:cNvSpPr>
          <p:nvPr/>
        </p:nvSpPr>
        <p:spPr bwMode="auto">
          <a:xfrm>
            <a:off x="1524000" y="533400"/>
            <a:ext cx="71628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a:solidFill>
                  <a:srgbClr val="FF0000"/>
                </a:solidFill>
              </a:rPr>
              <a:t>1. Amino acids covalently join one another to form peptides</a:t>
            </a:r>
          </a:p>
        </p:txBody>
      </p:sp>
      <p:sp>
        <p:nvSpPr>
          <p:cNvPr id="145411" name="Text Box 3">
            <a:extLst>
              <a:ext uri="{FF2B5EF4-FFF2-40B4-BE49-F238E27FC236}">
                <a16:creationId xmlns:a16="http://schemas.microsoft.com/office/drawing/2014/main" id="{E0F2614A-7AD7-42C6-BF4E-1E34F3EE8990}"/>
              </a:ext>
            </a:extLst>
          </p:cNvPr>
          <p:cNvSpPr txBox="1">
            <a:spLocks noChangeArrowheads="1"/>
          </p:cNvSpPr>
          <p:nvPr/>
        </p:nvSpPr>
        <p:spPr bwMode="auto">
          <a:xfrm>
            <a:off x="381000" y="1828800"/>
            <a:ext cx="8534400" cy="462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50000"/>
              </a:spcBef>
              <a:buClrTx/>
              <a:buSzTx/>
              <a:buFontTx/>
              <a:buNone/>
            </a:pPr>
            <a:r>
              <a:rPr lang="en-US" altLang="zh-CN" sz="2800" b="1" dirty="0">
                <a:latin typeface="Times New Roman" panose="02020603050405020304" pitchFamily="18" charset="0"/>
              </a:rPr>
              <a:t>1.1. The </a:t>
            </a:r>
            <a:r>
              <a:rPr lang="en-US" altLang="zh-CN" sz="2800" b="1" dirty="0">
                <a:latin typeface="Symbol" panose="05050102010706020507" pitchFamily="18" charset="2"/>
              </a:rPr>
              <a:t>a</a:t>
            </a:r>
            <a:r>
              <a:rPr lang="en-US" altLang="zh-CN" sz="2800" b="1" dirty="0">
                <a:latin typeface="Times New Roman" panose="02020603050405020304" pitchFamily="18" charset="0"/>
              </a:rPr>
              <a:t>-carboxyl group of one amino acid joins with the </a:t>
            </a:r>
            <a:r>
              <a:rPr lang="en-US" altLang="zh-CN" sz="2800" b="1" dirty="0">
                <a:latin typeface="Symbol" panose="05050102010706020507" pitchFamily="18" charset="2"/>
              </a:rPr>
              <a:t>a</a:t>
            </a:r>
            <a:r>
              <a:rPr lang="en-US" altLang="zh-CN" sz="2800" b="1" dirty="0">
                <a:latin typeface="Times New Roman" panose="02020603050405020304" pitchFamily="18" charset="0"/>
              </a:rPr>
              <a:t>-amino group of another amino acid by a </a:t>
            </a:r>
            <a:r>
              <a:rPr lang="en-US" altLang="zh-CN" sz="2800" b="1" dirty="0">
                <a:solidFill>
                  <a:srgbClr val="FF0066"/>
                </a:solidFill>
                <a:latin typeface="Times New Roman" panose="02020603050405020304" pitchFamily="18" charset="0"/>
              </a:rPr>
              <a:t>peptide bond</a:t>
            </a:r>
            <a:r>
              <a:rPr lang="en-US" altLang="zh-CN" sz="2800" b="1" dirty="0">
                <a:latin typeface="Times New Roman" panose="02020603050405020304" pitchFamily="18" charset="0"/>
              </a:rPr>
              <a:t> (actually an amide bond)</a:t>
            </a:r>
          </a:p>
          <a:p>
            <a:pPr eaLnBrk="1" hangingPunct="1">
              <a:lnSpc>
                <a:spcPct val="120000"/>
              </a:lnSpc>
              <a:spcBef>
                <a:spcPct val="50000"/>
              </a:spcBef>
              <a:buClrTx/>
              <a:buSzTx/>
              <a:buFontTx/>
              <a:buNone/>
            </a:pPr>
            <a:r>
              <a:rPr lang="en-US" altLang="zh-CN" sz="2800" b="1" dirty="0">
                <a:latin typeface="Times New Roman" panose="02020603050405020304" pitchFamily="18" charset="0"/>
              </a:rPr>
              <a:t>	1.1.1 This is a condensation reaction where a </a:t>
            </a:r>
            <a:r>
              <a:rPr lang="en-US" altLang="zh-CN" sz="2800" b="1" dirty="0">
                <a:solidFill>
                  <a:srgbClr val="FF0066"/>
                </a:solidFill>
                <a:latin typeface="Times New Roman" panose="02020603050405020304" pitchFamily="18" charset="0"/>
              </a:rPr>
              <a:t>water molecule is liberated or eliminated</a:t>
            </a:r>
            <a:r>
              <a:rPr lang="en-US" altLang="zh-CN" sz="2800" b="1" dirty="0">
                <a:latin typeface="Times New Roman" panose="02020603050405020304" pitchFamily="18" charset="0"/>
              </a:rPr>
              <a:t>.</a:t>
            </a:r>
          </a:p>
          <a:p>
            <a:pPr eaLnBrk="1" hangingPunct="1">
              <a:lnSpc>
                <a:spcPct val="120000"/>
              </a:lnSpc>
              <a:spcBef>
                <a:spcPct val="50000"/>
              </a:spcBef>
              <a:buClrTx/>
              <a:buSzTx/>
              <a:buFontTx/>
              <a:buNone/>
            </a:pPr>
            <a:r>
              <a:rPr lang="en-US" altLang="zh-CN" sz="2800" b="1" dirty="0">
                <a:latin typeface="Times New Roman" panose="02020603050405020304" pitchFamily="18" charset="0"/>
              </a:rPr>
              <a:t>	1.1.2 The condensation reaction can occur repeatedly to form </a:t>
            </a:r>
            <a:r>
              <a:rPr lang="en-US" altLang="zh-CN" sz="2800" b="1" dirty="0">
                <a:solidFill>
                  <a:srgbClr val="FF0066"/>
                </a:solidFill>
                <a:latin typeface="Times New Roman" panose="02020603050405020304" pitchFamily="18" charset="0"/>
              </a:rPr>
              <a:t>oligopeptides</a:t>
            </a:r>
            <a:r>
              <a:rPr lang="en-US" altLang="zh-CN" sz="2800" b="1" dirty="0">
                <a:latin typeface="Times New Roman" panose="02020603050405020304" pitchFamily="18" charset="0"/>
              </a:rPr>
              <a:t> (with less than 50 aa), </a:t>
            </a:r>
            <a:r>
              <a:rPr lang="en-US" altLang="zh-CN" sz="2800" b="1" dirty="0">
                <a:solidFill>
                  <a:srgbClr val="FF0066"/>
                </a:solidFill>
                <a:latin typeface="Times New Roman" panose="02020603050405020304" pitchFamily="18" charset="0"/>
              </a:rPr>
              <a:t>polypeptides </a:t>
            </a:r>
            <a:r>
              <a:rPr lang="en-US" altLang="zh-CN" sz="2800" b="1" dirty="0">
                <a:latin typeface="Times New Roman" panose="02020603050405020304" pitchFamily="18" charset="0"/>
              </a:rPr>
              <a:t>(btw 50-100 aa), and </a:t>
            </a:r>
            <a:r>
              <a:rPr lang="en-US" altLang="zh-CN" sz="2800" b="1" dirty="0">
                <a:solidFill>
                  <a:srgbClr val="FF0066"/>
                </a:solidFill>
                <a:latin typeface="Times New Roman" panose="02020603050405020304" pitchFamily="18" charset="0"/>
              </a:rPr>
              <a:t>proteins </a:t>
            </a:r>
            <a:r>
              <a:rPr lang="en-US" altLang="zh-CN" sz="2800" b="1" dirty="0">
                <a:latin typeface="Times New Roman" panose="02020603050405020304" pitchFamily="18" charset="0"/>
              </a:rPr>
              <a:t>(longer).</a:t>
            </a:r>
            <a:endParaRPr lang="en-US" altLang="zh-CN" sz="2400" dirty="0">
              <a:latin typeface="Times New Roman" panose="02020603050405020304" pitchFamily="18"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434" name="Picture 2">
            <a:extLst>
              <a:ext uri="{FF2B5EF4-FFF2-40B4-BE49-F238E27FC236}">
                <a16:creationId xmlns:a16="http://schemas.microsoft.com/office/drawing/2014/main" id="{59E917C9-D331-47A2-96D0-FEB33C51ED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9800" y="711200"/>
            <a:ext cx="72644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a:extLst>
              <a:ext uri="{FF2B5EF4-FFF2-40B4-BE49-F238E27FC236}">
                <a16:creationId xmlns:a16="http://schemas.microsoft.com/office/drawing/2014/main" id="{07087769-9DBE-4A4F-A060-7E0095C135FC}"/>
              </a:ext>
            </a:extLst>
          </p:cNvPr>
          <p:cNvSpPr txBox="1">
            <a:spLocks noChangeArrowheads="1"/>
          </p:cNvSpPr>
          <p:nvPr/>
        </p:nvSpPr>
        <p:spPr bwMode="auto">
          <a:xfrm>
            <a:off x="1295400" y="692150"/>
            <a:ext cx="7543800" cy="586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1.2. The peptide chain is directional.</a:t>
            </a:r>
          </a:p>
          <a:p>
            <a:pPr eaLnBrk="1" hangingPunct="1">
              <a:spcBef>
                <a:spcPct val="50000"/>
              </a:spcBef>
              <a:buClrTx/>
              <a:buSzTx/>
              <a:buFontTx/>
              <a:buNone/>
            </a:pPr>
            <a:r>
              <a:rPr lang="en-US" altLang="zh-CN" sz="2800" b="1" dirty="0">
                <a:latin typeface="Times New Roman" panose="02020603050405020304" pitchFamily="18" charset="0"/>
              </a:rPr>
              <a:t>	1.2.1 An amino acid unit in a peptide chain is called a</a:t>
            </a:r>
            <a:r>
              <a:rPr lang="en-US" altLang="zh-CN" sz="2800" b="1" dirty="0">
                <a:solidFill>
                  <a:srgbClr val="FF0066"/>
                </a:solidFill>
                <a:latin typeface="Times New Roman" panose="02020603050405020304" pitchFamily="18" charset="0"/>
              </a:rPr>
              <a:t> residue</a:t>
            </a:r>
            <a:r>
              <a:rPr lang="en-US" altLang="zh-CN" sz="2800" b="1" dirty="0">
                <a:latin typeface="Times New Roman" panose="02020603050405020304" pitchFamily="18" charset="0"/>
              </a:rPr>
              <a:t>.</a:t>
            </a:r>
          </a:p>
          <a:p>
            <a:pPr eaLnBrk="1" hangingPunct="1">
              <a:spcBef>
                <a:spcPct val="50000"/>
              </a:spcBef>
              <a:buClrTx/>
              <a:buSzTx/>
              <a:buFontTx/>
              <a:buNone/>
            </a:pPr>
            <a:r>
              <a:rPr lang="en-US" altLang="zh-CN" sz="2800" b="1" dirty="0">
                <a:latin typeface="Times New Roman" panose="02020603050405020304" pitchFamily="18" charset="0"/>
              </a:rPr>
              <a:t>	1.2.2 The end having a free </a:t>
            </a:r>
            <a:r>
              <a:rPr lang="en-US" altLang="zh-CN" sz="2800" b="1" dirty="0">
                <a:latin typeface="Symbol" panose="05050102010706020507" pitchFamily="18" charset="2"/>
              </a:rPr>
              <a:t>a</a:t>
            </a:r>
            <a:r>
              <a:rPr lang="en-US" altLang="zh-CN" sz="2800" b="1" dirty="0">
                <a:latin typeface="Times New Roman" panose="02020603050405020304" pitchFamily="18" charset="0"/>
              </a:rPr>
              <a:t>-amino group is called </a:t>
            </a:r>
            <a:r>
              <a:rPr lang="en-US" altLang="zh-CN" sz="2800" b="1" dirty="0">
                <a:solidFill>
                  <a:srgbClr val="FF0066"/>
                </a:solidFill>
                <a:latin typeface="Times New Roman" panose="02020603050405020304" pitchFamily="18" charset="0"/>
              </a:rPr>
              <a:t>amino-terminal or N-terminal</a:t>
            </a:r>
            <a:r>
              <a:rPr lang="en-US" altLang="zh-CN" sz="2800" b="1" dirty="0">
                <a:latin typeface="Times New Roman" panose="02020603050405020304" pitchFamily="18" charset="0"/>
              </a:rPr>
              <a:t>.</a:t>
            </a:r>
          </a:p>
          <a:p>
            <a:pPr eaLnBrk="1" hangingPunct="1">
              <a:spcBef>
                <a:spcPct val="50000"/>
              </a:spcBef>
              <a:buClrTx/>
              <a:buSzTx/>
              <a:buFontTx/>
              <a:buNone/>
            </a:pPr>
            <a:r>
              <a:rPr lang="en-US" altLang="zh-CN" sz="2800" b="1" dirty="0">
                <a:latin typeface="Times New Roman" panose="02020603050405020304" pitchFamily="18" charset="0"/>
              </a:rPr>
              <a:t>	1.2.3 The end having a free </a:t>
            </a:r>
            <a:r>
              <a:rPr lang="en-US" altLang="zh-CN" sz="2800" b="1" dirty="0">
                <a:latin typeface="Symbol" panose="05050102010706020507" pitchFamily="18" charset="2"/>
              </a:rPr>
              <a:t>a</a:t>
            </a:r>
            <a:r>
              <a:rPr lang="en-US" altLang="zh-CN" sz="2800" b="1" dirty="0">
                <a:latin typeface="Times New Roman" panose="02020603050405020304" pitchFamily="18" charset="0"/>
              </a:rPr>
              <a:t>-carboxyl group is called </a:t>
            </a:r>
            <a:r>
              <a:rPr lang="en-US" altLang="zh-CN" sz="2800" b="1" dirty="0">
                <a:solidFill>
                  <a:srgbClr val="FF0066"/>
                </a:solidFill>
                <a:latin typeface="Times New Roman" panose="02020603050405020304" pitchFamily="18" charset="0"/>
              </a:rPr>
              <a:t>carboxyl-terminal or C-terminal</a:t>
            </a:r>
            <a:r>
              <a:rPr lang="en-US" altLang="zh-CN" sz="2800" b="1" dirty="0">
                <a:latin typeface="Times New Roman" panose="02020603050405020304" pitchFamily="18" charset="0"/>
              </a:rPr>
              <a:t>. </a:t>
            </a:r>
          </a:p>
          <a:p>
            <a:pPr eaLnBrk="1" hangingPunct="1">
              <a:spcBef>
                <a:spcPct val="50000"/>
              </a:spcBef>
              <a:buClrTx/>
              <a:buSzTx/>
              <a:buFontTx/>
              <a:buNone/>
            </a:pPr>
            <a:r>
              <a:rPr lang="en-US" altLang="zh-CN" sz="2800" b="1" dirty="0">
                <a:latin typeface="Times New Roman" panose="02020603050405020304" pitchFamily="18" charset="0"/>
              </a:rPr>
              <a:t>	1.2.4 By convention, the N-terminal is taken as the beginning of the peptide chain, and put at the left (C-terminal at the right). </a:t>
            </a:r>
          </a:p>
          <a:p>
            <a:pPr eaLnBrk="1" hangingPunct="1">
              <a:spcBef>
                <a:spcPct val="50000"/>
              </a:spcBef>
              <a:buClrTx/>
              <a:buSzTx/>
              <a:buFontTx/>
              <a:buNone/>
            </a:pPr>
            <a:r>
              <a:rPr lang="en-US" altLang="zh-CN" sz="2800" b="1" dirty="0">
                <a:solidFill>
                  <a:srgbClr val="FF0066"/>
                </a:solidFill>
                <a:latin typeface="Times New Roman" panose="02020603050405020304" pitchFamily="18" charset="0"/>
              </a:rPr>
              <a:t>Biosynthesis starts from the N-terminal</a:t>
            </a:r>
            <a:r>
              <a:rPr lang="en-US" altLang="zh-CN" sz="2800" b="1" dirty="0">
                <a:latin typeface="Times New Roman" panose="02020603050405020304" pitchFamily="18" charset="0"/>
              </a:rPr>
              <a:t>.</a:t>
            </a:r>
            <a:r>
              <a:rPr lang="en-US" altLang="zh-CN" sz="2400" dirty="0">
                <a:latin typeface="Times New Roman" panose="02020603050405020304" pitchFamily="18" charset="0"/>
              </a:rPr>
              <a:t>	</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9506" name="Picture 2">
            <a:extLst>
              <a:ext uri="{FF2B5EF4-FFF2-40B4-BE49-F238E27FC236}">
                <a16:creationId xmlns:a16="http://schemas.microsoft.com/office/drawing/2014/main" id="{6FFA8309-370D-4113-81EF-4375CDB80F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1124744"/>
            <a:ext cx="8026400" cy="391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2DB6A8F4-16C0-474E-B42E-E846888A36F1}"/>
              </a:ext>
            </a:extLst>
          </p:cNvPr>
          <p:cNvSpPr/>
          <p:nvPr/>
        </p:nvSpPr>
        <p:spPr>
          <a:xfrm>
            <a:off x="395536" y="5036344"/>
            <a:ext cx="1944763" cy="523220"/>
          </a:xfrm>
          <a:prstGeom prst="rect">
            <a:avLst/>
          </a:prstGeom>
        </p:spPr>
        <p:txBody>
          <a:bodyPr wrap="none">
            <a:spAutoFit/>
          </a:bodyPr>
          <a:lstStyle/>
          <a:p>
            <a:r>
              <a:rPr kumimoji="1" lang="en-US" altLang="zh-CN" sz="2800" b="1" dirty="0">
                <a:solidFill>
                  <a:srgbClr val="FF0000"/>
                </a:solidFill>
                <a:latin typeface="Times New Roman" panose="02020603050405020304" pitchFamily="18" charset="0"/>
              </a:rPr>
              <a:t>N-</a:t>
            </a:r>
            <a:r>
              <a:rPr lang="en-US" altLang="zh-CN" sz="2800" dirty="0">
                <a:solidFill>
                  <a:srgbClr val="FF0000"/>
                </a:solidFill>
              </a:rPr>
              <a:t>terminus</a:t>
            </a:r>
            <a:endParaRPr kumimoji="1" lang="zh-CN" altLang="en-US" sz="2800" b="1" dirty="0">
              <a:solidFill>
                <a:srgbClr val="FF0000"/>
              </a:solidFill>
              <a:latin typeface="Times New Roman" panose="02020603050405020304" pitchFamily="18" charset="0"/>
            </a:endParaRPr>
          </a:p>
        </p:txBody>
      </p:sp>
      <p:sp>
        <p:nvSpPr>
          <p:cNvPr id="4" name="矩形 3">
            <a:extLst>
              <a:ext uri="{FF2B5EF4-FFF2-40B4-BE49-F238E27FC236}">
                <a16:creationId xmlns:a16="http://schemas.microsoft.com/office/drawing/2014/main" id="{0DBE69A1-6864-4726-A1D7-D59DDFD049A6}"/>
              </a:ext>
            </a:extLst>
          </p:cNvPr>
          <p:cNvSpPr/>
          <p:nvPr/>
        </p:nvSpPr>
        <p:spPr>
          <a:xfrm>
            <a:off x="6228184" y="5024760"/>
            <a:ext cx="1944763" cy="523220"/>
          </a:xfrm>
          <a:prstGeom prst="rect">
            <a:avLst/>
          </a:prstGeom>
        </p:spPr>
        <p:txBody>
          <a:bodyPr wrap="none">
            <a:spAutoFit/>
          </a:bodyPr>
          <a:lstStyle/>
          <a:p>
            <a:r>
              <a:rPr kumimoji="1" lang="en-US" altLang="zh-CN" sz="2800" b="1" dirty="0">
                <a:solidFill>
                  <a:srgbClr val="FF0000"/>
                </a:solidFill>
                <a:latin typeface="Times New Roman" panose="02020603050405020304" pitchFamily="18" charset="0"/>
              </a:rPr>
              <a:t>C-</a:t>
            </a:r>
            <a:r>
              <a:rPr lang="en-US" altLang="zh-CN" sz="2800" dirty="0">
                <a:solidFill>
                  <a:srgbClr val="FF0000"/>
                </a:solidFill>
              </a:rPr>
              <a:t>terminus</a:t>
            </a:r>
            <a:endParaRPr kumimoji="1" lang="zh-CN" altLang="en-US" sz="2800" b="1" dirty="0">
              <a:solidFill>
                <a:srgbClr val="FF0000"/>
              </a:solidFill>
              <a:latin typeface="Times New Roman" panose="02020603050405020304" pitchFamily="18" charset="0"/>
            </a:endParaRPr>
          </a:p>
        </p:txBody>
      </p:sp>
      <p:sp>
        <p:nvSpPr>
          <p:cNvPr id="3" name="矩形: 圆角 2">
            <a:extLst>
              <a:ext uri="{FF2B5EF4-FFF2-40B4-BE49-F238E27FC236}">
                <a16:creationId xmlns:a16="http://schemas.microsoft.com/office/drawing/2014/main" id="{0AC2FDD4-8FAA-4005-AF94-1B1C8FCA788F}"/>
              </a:ext>
            </a:extLst>
          </p:cNvPr>
          <p:cNvSpPr/>
          <p:nvPr/>
        </p:nvSpPr>
        <p:spPr>
          <a:xfrm>
            <a:off x="2555776" y="2636912"/>
            <a:ext cx="1440160" cy="1728192"/>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37BF2DC8-1408-4843-960A-06D20203F08B}"/>
              </a:ext>
            </a:extLst>
          </p:cNvPr>
          <p:cNvSpPr txBox="1"/>
          <p:nvPr/>
        </p:nvSpPr>
        <p:spPr>
          <a:xfrm>
            <a:off x="2771800" y="2292799"/>
            <a:ext cx="1224136" cy="369332"/>
          </a:xfrm>
          <a:prstGeom prst="rect">
            <a:avLst/>
          </a:prstGeom>
          <a:noFill/>
        </p:spPr>
        <p:txBody>
          <a:bodyPr wrap="square" rtlCol="0">
            <a:spAutoFit/>
          </a:bodyPr>
          <a:lstStyle/>
          <a:p>
            <a:r>
              <a:rPr lang="en-US" altLang="zh-CN" b="1" dirty="0">
                <a:solidFill>
                  <a:srgbClr val="FF0000"/>
                </a:solidFill>
              </a:rPr>
              <a:t>residue</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3" grpId="0" animBg="1"/>
      <p:bldP spid="5"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ext Box 2">
            <a:extLst>
              <a:ext uri="{FF2B5EF4-FFF2-40B4-BE49-F238E27FC236}">
                <a16:creationId xmlns:a16="http://schemas.microsoft.com/office/drawing/2014/main" id="{0AB6CB00-24CD-4631-B812-3D79591D7CA8}"/>
              </a:ext>
            </a:extLst>
          </p:cNvPr>
          <p:cNvSpPr txBox="1">
            <a:spLocks noChangeArrowheads="1"/>
          </p:cNvSpPr>
          <p:nvPr/>
        </p:nvSpPr>
        <p:spPr bwMode="auto">
          <a:xfrm>
            <a:off x="1219200" y="1130300"/>
            <a:ext cx="7467600" cy="496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30000"/>
              </a:lnSpc>
              <a:spcBef>
                <a:spcPct val="50000"/>
              </a:spcBef>
              <a:buClrTx/>
              <a:buSzTx/>
              <a:buFontTx/>
              <a:buNone/>
            </a:pPr>
            <a:r>
              <a:rPr lang="zh-CN" altLang="en-US" sz="2400" dirty="0">
                <a:latin typeface="Times New Roman" panose="02020603050405020304" pitchFamily="18" charset="0"/>
              </a:rPr>
              <a:t>	</a:t>
            </a:r>
            <a:r>
              <a:rPr lang="en-US" altLang="zh-CN" sz="2800" b="1" dirty="0">
                <a:latin typeface="Times New Roman" panose="02020603050405020304" pitchFamily="18" charset="0"/>
              </a:rPr>
              <a:t>1.2.5 The peptide chain consist of a regularly repeating </a:t>
            </a:r>
            <a:r>
              <a:rPr lang="en-US" altLang="zh-CN" sz="2800" b="1" dirty="0">
                <a:solidFill>
                  <a:srgbClr val="FF0066"/>
                </a:solidFill>
                <a:latin typeface="Times New Roman" panose="02020603050405020304" pitchFamily="18" charset="0"/>
              </a:rPr>
              <a:t>main chain (or backbone</a:t>
            </a:r>
            <a:r>
              <a:rPr lang="en-US" altLang="zh-CN" sz="2800" b="1" dirty="0">
                <a:latin typeface="Times New Roman" panose="02020603050405020304" pitchFamily="18" charset="0"/>
              </a:rPr>
              <a:t>) and the </a:t>
            </a:r>
            <a:r>
              <a:rPr lang="en-US" altLang="zh-CN" sz="2800" b="1" dirty="0">
                <a:solidFill>
                  <a:srgbClr val="FF0066"/>
                </a:solidFill>
                <a:latin typeface="Times New Roman" panose="02020603050405020304" pitchFamily="18" charset="0"/>
              </a:rPr>
              <a:t>variable side chains</a:t>
            </a:r>
            <a:r>
              <a:rPr lang="en-US" altLang="zh-CN" sz="2800" b="1" dirty="0">
                <a:latin typeface="Times New Roman" panose="02020603050405020304" pitchFamily="18" charset="0"/>
              </a:rPr>
              <a:t> of the residues.</a:t>
            </a:r>
          </a:p>
          <a:p>
            <a:pPr eaLnBrk="1" hangingPunct="1">
              <a:lnSpc>
                <a:spcPct val="130000"/>
              </a:lnSpc>
              <a:spcBef>
                <a:spcPct val="50000"/>
              </a:spcBef>
              <a:buClrTx/>
              <a:buSzTx/>
              <a:buFontTx/>
              <a:buNone/>
            </a:pPr>
            <a:r>
              <a:rPr lang="en-US" altLang="zh-CN" sz="2800" b="1" dirty="0">
                <a:latin typeface="Times New Roman" panose="02020603050405020304" pitchFamily="18" charset="0"/>
              </a:rPr>
              <a:t>	1.2.6 Amino acid residues have an order or </a:t>
            </a:r>
            <a:r>
              <a:rPr lang="en-US" altLang="zh-CN" sz="2800" b="1" dirty="0">
                <a:solidFill>
                  <a:srgbClr val="FF0066"/>
                </a:solidFill>
                <a:latin typeface="Times New Roman" panose="02020603050405020304" pitchFamily="18" charset="0"/>
              </a:rPr>
              <a:t>sequence</a:t>
            </a:r>
            <a:r>
              <a:rPr lang="en-US" altLang="zh-CN" sz="2800" b="1" dirty="0">
                <a:latin typeface="Times New Roman" panose="02020603050405020304" pitchFamily="18" charset="0"/>
              </a:rPr>
              <a:t> on a peptide.</a:t>
            </a:r>
          </a:p>
          <a:p>
            <a:pPr eaLnBrk="1" hangingPunct="1">
              <a:lnSpc>
                <a:spcPct val="130000"/>
              </a:lnSpc>
              <a:spcBef>
                <a:spcPct val="50000"/>
              </a:spcBef>
              <a:buClrTx/>
              <a:buSzTx/>
              <a:buFontTx/>
              <a:buNone/>
            </a:pPr>
            <a:r>
              <a:rPr lang="en-US" altLang="zh-CN" sz="2800" b="1" dirty="0">
                <a:latin typeface="Times New Roman" panose="02020603050405020304" pitchFamily="18" charset="0"/>
              </a:rPr>
              <a:t>	1.2.7 The 20 amino acids are analogous to the 26 letters in English; the number of different peptides made of them is unlimited.</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ext Box 2">
            <a:extLst>
              <a:ext uri="{FF2B5EF4-FFF2-40B4-BE49-F238E27FC236}">
                <a16:creationId xmlns:a16="http://schemas.microsoft.com/office/drawing/2014/main" id="{53CBFC15-2F4B-4E37-8CB0-02B2EFFCCA36}"/>
              </a:ext>
            </a:extLst>
          </p:cNvPr>
          <p:cNvSpPr txBox="1">
            <a:spLocks noChangeArrowheads="1"/>
          </p:cNvSpPr>
          <p:nvPr/>
        </p:nvSpPr>
        <p:spPr bwMode="auto">
          <a:xfrm>
            <a:off x="1371600" y="838200"/>
            <a:ext cx="7620000" cy="52181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1.3. The size of a peptide can be described by its total number of residues (e.g., a pentapeptide, an octapeptide) or relative molecular mass (molecular weight).</a:t>
            </a:r>
          </a:p>
          <a:p>
            <a:pPr eaLnBrk="1" hangingPunct="1">
              <a:spcBef>
                <a:spcPct val="50000"/>
              </a:spcBef>
              <a:buClrTx/>
              <a:buSzTx/>
              <a:buFontTx/>
              <a:buNone/>
            </a:pPr>
            <a:r>
              <a:rPr lang="en-US" altLang="zh-CN" sz="2800" b="1" dirty="0">
                <a:latin typeface="Times New Roman" panose="02020603050405020304" pitchFamily="18" charset="0"/>
              </a:rPr>
              <a:t>	1.3.1 The </a:t>
            </a:r>
            <a:r>
              <a:rPr lang="en-US" altLang="zh-CN" sz="2800" b="1" dirty="0">
                <a:solidFill>
                  <a:srgbClr val="FF0066"/>
                </a:solidFill>
                <a:latin typeface="Times New Roman" panose="02020603050405020304" pitchFamily="18" charset="0"/>
              </a:rPr>
              <a:t>mean molecular weight</a:t>
            </a:r>
            <a:r>
              <a:rPr lang="en-US" altLang="zh-CN" sz="2800" b="1" dirty="0">
                <a:latin typeface="Times New Roman" panose="02020603050405020304" pitchFamily="18" charset="0"/>
              </a:rPr>
              <a:t> of an amino acid residue in a peptide is ~</a:t>
            </a:r>
            <a:r>
              <a:rPr lang="en-US" altLang="zh-CN" sz="2800" b="1" dirty="0">
                <a:solidFill>
                  <a:srgbClr val="FF0066"/>
                </a:solidFill>
                <a:latin typeface="Times New Roman" panose="02020603050405020304" pitchFamily="18" charset="0"/>
              </a:rPr>
              <a:t>110 Dalton</a:t>
            </a:r>
            <a:r>
              <a:rPr lang="en-US" altLang="zh-CN" sz="2800" b="1" dirty="0">
                <a:latin typeface="Times New Roman" panose="02020603050405020304" pitchFamily="18" charset="0"/>
              </a:rPr>
              <a:t>.</a:t>
            </a:r>
          </a:p>
          <a:p>
            <a:pPr eaLnBrk="1" hangingPunct="1">
              <a:spcBef>
                <a:spcPct val="50000"/>
              </a:spcBef>
              <a:buClrTx/>
              <a:buSzTx/>
              <a:buFontTx/>
              <a:buNone/>
            </a:pPr>
            <a:r>
              <a:rPr lang="en-US" altLang="zh-CN" sz="2800" b="1" dirty="0">
                <a:latin typeface="Times New Roman" panose="02020603050405020304" pitchFamily="18" charset="0"/>
              </a:rPr>
              <a:t>	1.3.2 Most natural polypeptide chains contain between 50 and 2000 amino acid residues, thus having relative molecular mass between 5500 </a:t>
            </a:r>
            <a:r>
              <a:rPr lang="en-US" altLang="zh-CN" sz="2800" b="1" dirty="0" err="1">
                <a:latin typeface="Times New Roman" panose="02020603050405020304" pitchFamily="18" charset="0"/>
              </a:rPr>
              <a:t>daltons</a:t>
            </a:r>
            <a:r>
              <a:rPr lang="en-US" altLang="zh-CN" sz="2800" b="1" dirty="0">
                <a:latin typeface="Times New Roman" panose="02020603050405020304" pitchFamily="18" charset="0"/>
              </a:rPr>
              <a:t> and 220,000 </a:t>
            </a:r>
            <a:r>
              <a:rPr lang="en-US" altLang="zh-CN" sz="2800" b="1" dirty="0" err="1">
                <a:latin typeface="Times New Roman" panose="02020603050405020304" pitchFamily="18" charset="0"/>
              </a:rPr>
              <a:t>daltons</a:t>
            </a:r>
            <a:r>
              <a:rPr lang="en-US" altLang="zh-CN" sz="2800" b="1" dirty="0">
                <a:latin typeface="Times New Roman" panose="02020603050405020304" pitchFamily="18" charset="0"/>
              </a:rPr>
              <a:t>, or 5.5 </a:t>
            </a:r>
            <a:r>
              <a:rPr lang="en-US" altLang="zh-CN" sz="2800" b="1" dirty="0" err="1">
                <a:latin typeface="Times New Roman" panose="02020603050405020304" pitchFamily="18" charset="0"/>
              </a:rPr>
              <a:t>kDa</a:t>
            </a:r>
            <a:r>
              <a:rPr lang="en-US" altLang="zh-CN" sz="2800" b="1" dirty="0">
                <a:latin typeface="Times New Roman" panose="02020603050405020304" pitchFamily="18" charset="0"/>
              </a:rPr>
              <a:t> and 220 </a:t>
            </a:r>
            <a:r>
              <a:rPr lang="en-US" altLang="zh-CN" sz="2800" b="1" dirty="0" err="1">
                <a:latin typeface="Times New Roman" panose="02020603050405020304" pitchFamily="18" charset="0"/>
              </a:rPr>
              <a:t>kDa</a:t>
            </a:r>
            <a:r>
              <a:rPr lang="en-US" altLang="zh-CN" sz="2800" b="1" dirty="0">
                <a:latin typeface="Times New Roman" panose="02020603050405020304" pitchFamily="18" charset="0"/>
              </a:rPr>
              <a:t>, respectively.</a:t>
            </a:r>
            <a:endParaRPr lang="en-US" altLang="zh-CN" sz="2400" dirty="0">
              <a:latin typeface="Times New Roman" panose="02020603050405020304" pitchFamily="18"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2">
            <a:extLst>
              <a:ext uri="{FF2B5EF4-FFF2-40B4-BE49-F238E27FC236}">
                <a16:creationId xmlns:a16="http://schemas.microsoft.com/office/drawing/2014/main" id="{6006DAAA-879D-4573-8F54-02A33D8E4895}"/>
              </a:ext>
            </a:extLst>
          </p:cNvPr>
          <p:cNvSpPr txBox="1">
            <a:spLocks noChangeArrowheads="1"/>
          </p:cNvSpPr>
          <p:nvPr/>
        </p:nvSpPr>
        <p:spPr bwMode="auto">
          <a:xfrm>
            <a:off x="1371600" y="1828800"/>
            <a:ext cx="7010400"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50000"/>
              </a:spcBef>
              <a:buClrTx/>
              <a:buSzTx/>
              <a:buFontTx/>
              <a:buNone/>
            </a:pPr>
            <a:r>
              <a:rPr lang="en-US" altLang="zh-CN" sz="2800" b="1">
                <a:latin typeface="Times New Roman" panose="02020603050405020304" pitchFamily="18" charset="0"/>
              </a:rPr>
              <a:t>1.4. Each peptide has a characteristic titration curve and an isoelectric point (pI).</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626" name="Picture 2">
            <a:extLst>
              <a:ext uri="{FF2B5EF4-FFF2-40B4-BE49-F238E27FC236}">
                <a16:creationId xmlns:a16="http://schemas.microsoft.com/office/drawing/2014/main" id="{AC31CF26-EE93-4A01-9B37-5AD18CF901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300" y="228600"/>
            <a:ext cx="51054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627" name="Text Box 3">
            <a:extLst>
              <a:ext uri="{FF2B5EF4-FFF2-40B4-BE49-F238E27FC236}">
                <a16:creationId xmlns:a16="http://schemas.microsoft.com/office/drawing/2014/main" id="{CCDE678D-FF49-4917-B5D7-C78A341430C3}"/>
              </a:ext>
            </a:extLst>
          </p:cNvPr>
          <p:cNvSpPr txBox="1">
            <a:spLocks noChangeArrowheads="1"/>
          </p:cNvSpPr>
          <p:nvPr/>
        </p:nvSpPr>
        <p:spPr bwMode="auto">
          <a:xfrm>
            <a:off x="876300" y="5867400"/>
            <a:ext cx="7391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en-US" altLang="zh-CN" sz="2400" b="1" dirty="0">
                <a:latin typeface="Times New Roman" panose="02020603050405020304" pitchFamily="18" charset="0"/>
              </a:rPr>
              <a:t>This tetrapeptide has one free </a:t>
            </a:r>
            <a:r>
              <a:rPr lang="en-US" altLang="zh-CN" sz="2400" b="1" dirty="0">
                <a:latin typeface="Symbol" panose="05050102010706020507" pitchFamily="18" charset="2"/>
              </a:rPr>
              <a:t>a</a:t>
            </a:r>
            <a:r>
              <a:rPr lang="en-US" altLang="zh-CN" sz="2400" b="1" dirty="0">
                <a:latin typeface="Times New Roman" panose="02020603050405020304" pitchFamily="18" charset="0"/>
              </a:rPr>
              <a:t>-amino group, one free </a:t>
            </a:r>
            <a:r>
              <a:rPr lang="en-US" altLang="zh-CN" sz="2400" b="1" dirty="0">
                <a:latin typeface="Symbol" panose="05050102010706020507" pitchFamily="18" charset="2"/>
              </a:rPr>
              <a:t>a</a:t>
            </a:r>
            <a:r>
              <a:rPr lang="en-US" altLang="zh-CN" sz="2400" b="1" dirty="0">
                <a:latin typeface="Times New Roman" panose="02020603050405020304" pitchFamily="18" charset="0"/>
              </a:rPr>
              <a:t>-carboxyl group, plus two ionizable R groups.</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ext Box 2">
            <a:extLst>
              <a:ext uri="{FF2B5EF4-FFF2-40B4-BE49-F238E27FC236}">
                <a16:creationId xmlns:a16="http://schemas.microsoft.com/office/drawing/2014/main" id="{94A1B0B8-A0BD-4706-95AB-3E8B079CF24C}"/>
              </a:ext>
            </a:extLst>
          </p:cNvPr>
          <p:cNvSpPr txBox="1">
            <a:spLocks noChangeArrowheads="1"/>
          </p:cNvSpPr>
          <p:nvPr/>
        </p:nvSpPr>
        <p:spPr bwMode="auto">
          <a:xfrm>
            <a:off x="1203325" y="730250"/>
            <a:ext cx="77120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a:solidFill>
                  <a:srgbClr val="FF0066"/>
                </a:solidFill>
              </a:rPr>
              <a:t>2. Many short peptides have important biological activities</a:t>
            </a:r>
            <a:endParaRPr lang="en-US" altLang="zh-CN"/>
          </a:p>
        </p:txBody>
      </p:sp>
      <p:sp>
        <p:nvSpPr>
          <p:cNvPr id="156675" name="Text Box 3">
            <a:extLst>
              <a:ext uri="{FF2B5EF4-FFF2-40B4-BE49-F238E27FC236}">
                <a16:creationId xmlns:a16="http://schemas.microsoft.com/office/drawing/2014/main" id="{3854CFA6-48EC-4E7F-830A-93457A35D08D}"/>
              </a:ext>
            </a:extLst>
          </p:cNvPr>
          <p:cNvSpPr txBox="1">
            <a:spLocks noChangeArrowheads="1"/>
          </p:cNvSpPr>
          <p:nvPr/>
        </p:nvSpPr>
        <p:spPr bwMode="auto">
          <a:xfrm>
            <a:off x="228600" y="2293938"/>
            <a:ext cx="8686800" cy="340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600" b="1" dirty="0">
                <a:latin typeface="Times New Roman" panose="02020603050405020304" pitchFamily="18" charset="0"/>
              </a:rPr>
              <a:t>2.1 Glutathione </a:t>
            </a:r>
            <a:r>
              <a:rPr lang="en-US" altLang="zh-CN" sz="2600" b="1" dirty="0">
                <a:solidFill>
                  <a:schemeClr val="hlink"/>
                </a:solidFill>
                <a:latin typeface="Times New Roman" panose="02020603050405020304" pitchFamily="18" charset="0"/>
              </a:rPr>
              <a:t>(GSH),</a:t>
            </a:r>
            <a:r>
              <a:rPr lang="en-US" altLang="zh-CN" sz="2600" b="1" dirty="0">
                <a:latin typeface="Times New Roman" panose="02020603050405020304" pitchFamily="18" charset="0"/>
              </a:rPr>
              <a:t> present in plants, animals, and some bacteria, often at high levels, can be thought of as a redox buffer.</a:t>
            </a:r>
          </a:p>
          <a:p>
            <a:pPr eaLnBrk="1" hangingPunct="1">
              <a:spcBef>
                <a:spcPct val="50000"/>
              </a:spcBef>
              <a:buClrTx/>
              <a:buSzTx/>
              <a:buFontTx/>
              <a:buNone/>
            </a:pPr>
            <a:r>
              <a:rPr lang="en-US" altLang="zh-CN" sz="2600" b="1" dirty="0">
                <a:latin typeface="Times New Roman" panose="02020603050405020304" pitchFamily="18" charset="0"/>
              </a:rPr>
              <a:t>2.2 Some short peptides, such as neuropeptides </a:t>
            </a:r>
            <a:r>
              <a:rPr lang="zh-CN" altLang="en-US" sz="2600" b="1" dirty="0">
                <a:latin typeface="Times New Roman" panose="02020603050405020304" pitchFamily="18" charset="0"/>
              </a:rPr>
              <a:t>（神经肽）</a:t>
            </a:r>
            <a:r>
              <a:rPr lang="en-US" altLang="zh-CN" sz="2600" b="1" dirty="0">
                <a:latin typeface="Times New Roman" panose="02020603050405020304" pitchFamily="18" charset="0"/>
              </a:rPr>
              <a:t>, act as </a:t>
            </a:r>
            <a:r>
              <a:rPr lang="en-US" altLang="zh-CN" sz="2600" b="1" dirty="0">
                <a:solidFill>
                  <a:srgbClr val="FF0066"/>
                </a:solidFill>
                <a:latin typeface="Times New Roman" panose="02020603050405020304" pitchFamily="18" charset="0"/>
              </a:rPr>
              <a:t>neurotransmitters</a:t>
            </a:r>
            <a:r>
              <a:rPr lang="zh-CN" altLang="en-US" sz="2600" b="1" dirty="0">
                <a:solidFill>
                  <a:srgbClr val="FF0066"/>
                </a:solidFill>
                <a:latin typeface="Times New Roman" panose="02020603050405020304" pitchFamily="18" charset="0"/>
              </a:rPr>
              <a:t>（神经传递素）</a:t>
            </a:r>
            <a:r>
              <a:rPr lang="en-US" altLang="zh-CN" sz="2600" b="1" dirty="0">
                <a:solidFill>
                  <a:srgbClr val="FF0066"/>
                </a:solidFill>
                <a:latin typeface="Times New Roman" panose="02020603050405020304" pitchFamily="18" charset="0"/>
              </a:rPr>
              <a:t>, neurohormones</a:t>
            </a:r>
            <a:r>
              <a:rPr lang="zh-CN" altLang="en-US" sz="2600" b="1" dirty="0">
                <a:solidFill>
                  <a:srgbClr val="FF0066"/>
                </a:solidFill>
                <a:latin typeface="Times New Roman" panose="02020603050405020304" pitchFamily="18" charset="0"/>
              </a:rPr>
              <a:t>（神经激素）</a:t>
            </a:r>
            <a:r>
              <a:rPr lang="en-US" altLang="zh-CN" sz="2600" b="1" dirty="0">
                <a:solidFill>
                  <a:srgbClr val="FF0066"/>
                </a:solidFill>
                <a:latin typeface="Times New Roman" panose="02020603050405020304" pitchFamily="18" charset="0"/>
              </a:rPr>
              <a:t>, and neuromodulators</a:t>
            </a:r>
            <a:r>
              <a:rPr lang="en-US" altLang="zh-CN" sz="2600" b="1" dirty="0">
                <a:latin typeface="Times New Roman" panose="02020603050405020304" pitchFamily="18" charset="0"/>
              </a:rPr>
              <a:t>.</a:t>
            </a:r>
          </a:p>
          <a:p>
            <a:pPr eaLnBrk="1" hangingPunct="1">
              <a:lnSpc>
                <a:spcPct val="150000"/>
              </a:lnSpc>
              <a:spcBef>
                <a:spcPct val="50000"/>
              </a:spcBef>
              <a:buClrTx/>
              <a:buSzTx/>
              <a:buFontTx/>
              <a:buNone/>
            </a:pPr>
            <a:r>
              <a:rPr lang="en-US" altLang="zh-CN" sz="2400" b="1" dirty="0"/>
              <a:t>       </a:t>
            </a:r>
            <a:endParaRPr lang="en-US" altLang="zh-CN" sz="2600" b="1" dirty="0">
              <a:latin typeface="Times New Roman" panose="02020603050405020304" pitchFamily="18"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698" name="Picture 4" descr="3-4">
            <a:extLst>
              <a:ext uri="{FF2B5EF4-FFF2-40B4-BE49-F238E27FC236}">
                <a16:creationId xmlns:a16="http://schemas.microsoft.com/office/drawing/2014/main" id="{6B3662C9-5E31-4432-B0A1-6CF32FC367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404813"/>
            <a:ext cx="7197725"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699" name="AutoShape 6" descr="get?name=T1nR_bB7V_1RCvBVdK">
            <a:extLst>
              <a:ext uri="{FF2B5EF4-FFF2-40B4-BE49-F238E27FC236}">
                <a16:creationId xmlns:a16="http://schemas.microsoft.com/office/drawing/2014/main" id="{1AC1AEF1-B618-4919-A915-946500212BD1}"/>
              </a:ext>
            </a:extLst>
          </p:cNvPr>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pic>
        <p:nvPicPr>
          <p:cNvPr id="157700" name="Picture 10" descr="1-3-3">
            <a:extLst>
              <a:ext uri="{FF2B5EF4-FFF2-40B4-BE49-F238E27FC236}">
                <a16:creationId xmlns:a16="http://schemas.microsoft.com/office/drawing/2014/main" id="{515768AF-2584-472D-A555-E0AA66FCF8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2492375"/>
            <a:ext cx="5184775"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701" name="Text Box 11">
            <a:extLst>
              <a:ext uri="{FF2B5EF4-FFF2-40B4-BE49-F238E27FC236}">
                <a16:creationId xmlns:a16="http://schemas.microsoft.com/office/drawing/2014/main" id="{523EAC45-E8C9-4FF4-B7DD-9F14211235B6}"/>
              </a:ext>
            </a:extLst>
          </p:cNvPr>
          <p:cNvSpPr txBox="1">
            <a:spLocks noChangeArrowheads="1"/>
          </p:cNvSpPr>
          <p:nvPr/>
        </p:nvSpPr>
        <p:spPr bwMode="auto">
          <a:xfrm>
            <a:off x="2193925" y="2924175"/>
            <a:ext cx="936625" cy="2647950"/>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a:latin typeface="Times New Roman" panose="02020603050405020304" pitchFamily="18" charset="0"/>
              </a:rPr>
              <a:t>  SH</a:t>
            </a:r>
          </a:p>
          <a:p>
            <a:pPr eaLnBrk="1" hangingPunct="1"/>
            <a:endParaRPr lang="en-US" altLang="zh-CN" b="1">
              <a:latin typeface="Times New Roman" panose="02020603050405020304" pitchFamily="18" charset="0"/>
            </a:endParaRPr>
          </a:p>
          <a:p>
            <a:pPr eaLnBrk="1" hangingPunct="1"/>
            <a:r>
              <a:rPr lang="en-US" altLang="zh-CN" b="1">
                <a:solidFill>
                  <a:schemeClr val="hlink"/>
                </a:solidFill>
                <a:latin typeface="Times New Roman" panose="02020603050405020304" pitchFamily="18" charset="0"/>
              </a:rPr>
              <a:t>GSH</a:t>
            </a:r>
          </a:p>
          <a:p>
            <a:pPr eaLnBrk="1" hangingPunct="1"/>
            <a:endParaRPr lang="en-US" altLang="zh-CN" b="1">
              <a:latin typeface="Times New Roman" panose="02020603050405020304" pitchFamily="18" charset="0"/>
            </a:endParaRPr>
          </a:p>
          <a:p>
            <a:pPr eaLnBrk="1" hangingPunct="1"/>
            <a:endParaRPr lang="en-US" altLang="zh-CN" b="1">
              <a:latin typeface="Times New Roman" panose="02020603050405020304" pitchFamily="18" charset="0"/>
            </a:endParaRPr>
          </a:p>
        </p:txBody>
      </p:sp>
      <p:sp>
        <p:nvSpPr>
          <p:cNvPr id="157702" name="Line 12">
            <a:extLst>
              <a:ext uri="{FF2B5EF4-FFF2-40B4-BE49-F238E27FC236}">
                <a16:creationId xmlns:a16="http://schemas.microsoft.com/office/drawing/2014/main" id="{3B9E9AE6-752C-423B-9C4F-C15E5710F561}"/>
              </a:ext>
            </a:extLst>
          </p:cNvPr>
          <p:cNvSpPr>
            <a:spLocks noChangeShapeType="1"/>
          </p:cNvSpPr>
          <p:nvPr/>
        </p:nvSpPr>
        <p:spPr bwMode="auto">
          <a:xfrm>
            <a:off x="2541588" y="2781300"/>
            <a:ext cx="0" cy="215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157703" name="Text Box 15">
            <a:extLst>
              <a:ext uri="{FF2B5EF4-FFF2-40B4-BE49-F238E27FC236}">
                <a16:creationId xmlns:a16="http://schemas.microsoft.com/office/drawing/2014/main" id="{7ABE2EF9-95F5-4152-B4F9-C7A9CD2A14EE}"/>
              </a:ext>
            </a:extLst>
          </p:cNvPr>
          <p:cNvSpPr txBox="1">
            <a:spLocks noChangeArrowheads="1"/>
          </p:cNvSpPr>
          <p:nvPr/>
        </p:nvSpPr>
        <p:spPr bwMode="auto">
          <a:xfrm>
            <a:off x="4284663" y="5157788"/>
            <a:ext cx="100806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a:solidFill>
                  <a:schemeClr val="hlink"/>
                </a:solidFill>
                <a:latin typeface="Times New Roman" panose="02020603050405020304" pitchFamily="18" charset="0"/>
              </a:rPr>
              <a:t>GSSG</a:t>
            </a:r>
          </a:p>
        </p:txBody>
      </p:sp>
      <p:sp>
        <p:nvSpPr>
          <p:cNvPr id="9" name="文本框 8">
            <a:extLst>
              <a:ext uri="{FF2B5EF4-FFF2-40B4-BE49-F238E27FC236}">
                <a16:creationId xmlns:a16="http://schemas.microsoft.com/office/drawing/2014/main" id="{5871E459-0786-4AEC-8061-7E4687AF9B9C}"/>
              </a:ext>
            </a:extLst>
          </p:cNvPr>
          <p:cNvSpPr txBox="1"/>
          <p:nvPr/>
        </p:nvSpPr>
        <p:spPr>
          <a:xfrm>
            <a:off x="1294657" y="467380"/>
            <a:ext cx="1477143" cy="369332"/>
          </a:xfrm>
          <a:prstGeom prst="rect">
            <a:avLst/>
          </a:prstGeom>
          <a:noFill/>
        </p:spPr>
        <p:txBody>
          <a:bodyPr wrap="square">
            <a:spAutoFit/>
          </a:bodyPr>
          <a:lstStyle/>
          <a:p>
            <a:r>
              <a:rPr lang="en-US" altLang="zh-CN" sz="1800" b="1" dirty="0">
                <a:latin typeface="Times New Roman" panose="02020603050405020304" pitchFamily="18" charset="0"/>
              </a:rPr>
              <a:t>Glutathione</a:t>
            </a:r>
            <a:endParaRPr lang="zh-CN" alt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ext Box 2">
            <a:extLst>
              <a:ext uri="{FF2B5EF4-FFF2-40B4-BE49-F238E27FC236}">
                <a16:creationId xmlns:a16="http://schemas.microsoft.com/office/drawing/2014/main" id="{31E33B7E-BA2A-49EB-A57A-DA6D4427D430}"/>
              </a:ext>
            </a:extLst>
          </p:cNvPr>
          <p:cNvSpPr txBox="1">
            <a:spLocks noChangeArrowheads="1"/>
          </p:cNvSpPr>
          <p:nvPr/>
        </p:nvSpPr>
        <p:spPr bwMode="auto">
          <a:xfrm>
            <a:off x="1066800" y="1196975"/>
            <a:ext cx="7848600" cy="428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30000"/>
              </a:lnSpc>
              <a:spcBef>
                <a:spcPct val="50000"/>
              </a:spcBef>
              <a:buClrTx/>
              <a:buSzTx/>
              <a:buFontTx/>
              <a:buNone/>
            </a:pPr>
            <a:r>
              <a:rPr lang="en-US" altLang="zh-CN" sz="2800" b="1" dirty="0">
                <a:latin typeface="Times New Roman" panose="02020603050405020304" pitchFamily="18" charset="0"/>
              </a:rPr>
              <a:t>2.3 Some short peptides act as </a:t>
            </a:r>
            <a:r>
              <a:rPr lang="en-US" altLang="zh-CN" sz="2800" b="1" dirty="0">
                <a:solidFill>
                  <a:srgbClr val="FF0066"/>
                </a:solidFill>
                <a:latin typeface="Times New Roman" panose="02020603050405020304" pitchFamily="18" charset="0"/>
              </a:rPr>
              <a:t>antibiotics</a:t>
            </a:r>
            <a:endParaRPr lang="en-US" altLang="zh-CN" sz="2800" b="1" dirty="0">
              <a:latin typeface="Times New Roman" panose="02020603050405020304" pitchFamily="18" charset="0"/>
            </a:endParaRPr>
          </a:p>
          <a:p>
            <a:pPr eaLnBrk="1" hangingPunct="1">
              <a:lnSpc>
                <a:spcPct val="130000"/>
              </a:lnSpc>
              <a:spcBef>
                <a:spcPct val="50000"/>
              </a:spcBef>
              <a:buClrTx/>
              <a:buSzTx/>
              <a:buFontTx/>
              <a:buNone/>
            </a:pPr>
            <a:r>
              <a:rPr lang="en-US" altLang="zh-CN" sz="2800" b="1" dirty="0">
                <a:latin typeface="Times New Roman" panose="02020603050405020304" pitchFamily="18" charset="0"/>
              </a:rPr>
              <a:t>	 Gramicidin(</a:t>
            </a:r>
            <a:r>
              <a:rPr lang="zh-CN" altLang="en-US" sz="2800" b="1" dirty="0">
                <a:latin typeface="Times New Roman" panose="02020603050405020304" pitchFamily="18" charset="0"/>
              </a:rPr>
              <a:t>短杆菌肽</a:t>
            </a:r>
            <a:r>
              <a:rPr lang="en-US" altLang="zh-CN" sz="2800" b="1" dirty="0">
                <a:latin typeface="Times New Roman" panose="02020603050405020304" pitchFamily="18" charset="0"/>
              </a:rPr>
              <a:t>) A (15-residue) is a well studied peptide antibiotic.</a:t>
            </a:r>
            <a:r>
              <a:rPr lang="zh-CN" altLang="en-US" sz="2800" b="1" dirty="0">
                <a:latin typeface="Times New Roman" panose="02020603050405020304" pitchFamily="18" charset="0"/>
              </a:rPr>
              <a:t> </a:t>
            </a:r>
            <a:r>
              <a:rPr lang="en-US" altLang="zh-CN" sz="2800" b="1" dirty="0">
                <a:latin typeface="Times New Roman" panose="02020603050405020304" pitchFamily="18" charset="0"/>
              </a:rPr>
              <a:t>Its structure has been determined. It contains alternating </a:t>
            </a:r>
            <a:r>
              <a:rPr lang="en-US" altLang="zh-CN" sz="2800" b="1" dirty="0">
                <a:solidFill>
                  <a:schemeClr val="hlink"/>
                </a:solidFill>
                <a:latin typeface="Times New Roman" panose="02020603050405020304" pitchFamily="18" charset="0"/>
              </a:rPr>
              <a:t>L- and D-amino acid residues</a:t>
            </a:r>
            <a:r>
              <a:rPr lang="en-US" altLang="zh-CN" sz="2800" b="1" dirty="0">
                <a:latin typeface="Times New Roman" panose="02020603050405020304" pitchFamily="18" charset="0"/>
              </a:rPr>
              <a:t>. It is not synthesized on ribosomes!</a:t>
            </a:r>
          </a:p>
          <a:p>
            <a:pPr eaLnBrk="1" hangingPunct="1">
              <a:spcBef>
                <a:spcPct val="50000"/>
              </a:spcBef>
              <a:buClrTx/>
              <a:buSzTx/>
              <a:buFontTx/>
              <a:buNone/>
            </a:pPr>
            <a:r>
              <a:rPr lang="en-US" altLang="zh-CN" sz="2800" b="1" dirty="0">
                <a:latin typeface="Times New Roman" panose="02020603050405020304" pitchFamily="18" charset="0"/>
              </a:rPr>
              <a:t>	</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2">
            <a:extLst>
              <a:ext uri="{FF2B5EF4-FFF2-40B4-BE49-F238E27FC236}">
                <a16:creationId xmlns:a16="http://schemas.microsoft.com/office/drawing/2014/main" id="{0D0C5972-1C39-4D70-9971-91969B0848B2}"/>
              </a:ext>
            </a:extLst>
          </p:cNvPr>
          <p:cNvSpPr txBox="1">
            <a:spLocks noChangeArrowheads="1"/>
          </p:cNvSpPr>
          <p:nvPr/>
        </p:nvSpPr>
        <p:spPr bwMode="auto">
          <a:xfrm>
            <a:off x="990600" y="609600"/>
            <a:ext cx="7620000" cy="547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2.4 Many short peptides are used as </a:t>
            </a:r>
          </a:p>
          <a:p>
            <a:pPr eaLnBrk="1" hangingPunct="1">
              <a:spcBef>
                <a:spcPct val="50000"/>
              </a:spcBef>
              <a:buClrTx/>
              <a:buSzTx/>
              <a:buFontTx/>
              <a:buNone/>
            </a:pPr>
            <a:r>
              <a:rPr lang="en-US" altLang="zh-CN" sz="2800" b="1" dirty="0">
                <a:latin typeface="Times New Roman" panose="02020603050405020304" pitchFamily="18" charset="0"/>
              </a:rPr>
              <a:t>       defensive poisons.</a:t>
            </a:r>
          </a:p>
          <a:p>
            <a:pPr eaLnBrk="1" hangingPunct="1">
              <a:lnSpc>
                <a:spcPct val="130000"/>
              </a:lnSpc>
              <a:spcBef>
                <a:spcPct val="50000"/>
              </a:spcBef>
              <a:buClrTx/>
              <a:buSzTx/>
              <a:buFontTx/>
              <a:buNone/>
            </a:pPr>
            <a:r>
              <a:rPr lang="en-US" altLang="zh-CN" sz="2800" b="1" dirty="0">
                <a:latin typeface="Times New Roman" panose="02020603050405020304" pitchFamily="18" charset="0"/>
              </a:rPr>
              <a:t>	2.3.1 </a:t>
            </a:r>
            <a:r>
              <a:rPr lang="en-US" altLang="zh-CN" sz="2800" b="1" dirty="0">
                <a:latin typeface="Symbol" panose="05050102010706020507" pitchFamily="18" charset="2"/>
              </a:rPr>
              <a:t>a</a:t>
            </a:r>
            <a:r>
              <a:rPr lang="en-US" altLang="zh-CN" sz="2800" b="1" dirty="0">
                <a:latin typeface="Times New Roman" panose="02020603050405020304" pitchFamily="18" charset="0"/>
              </a:rPr>
              <a:t>-Amanitin (</a:t>
            </a:r>
            <a:r>
              <a:rPr lang="zh-CN" altLang="en-US" sz="2800" b="1" dirty="0">
                <a:latin typeface="Times New Roman" panose="02020603050405020304" pitchFamily="18" charset="0"/>
              </a:rPr>
              <a:t>鹅膏蕈碱</a:t>
            </a:r>
            <a:r>
              <a:rPr lang="en-US" altLang="zh-CN" sz="2800" b="1" dirty="0">
                <a:latin typeface="Times New Roman" panose="02020603050405020304" pitchFamily="18" charset="0"/>
              </a:rPr>
              <a:t>) (8-residue, </a:t>
            </a:r>
            <a:r>
              <a:rPr lang="en-US" altLang="zh-CN" sz="2800" b="1" dirty="0">
                <a:solidFill>
                  <a:schemeClr val="hlink"/>
                </a:solidFill>
                <a:latin typeface="Times New Roman" panose="02020603050405020304" pitchFamily="18" charset="0"/>
              </a:rPr>
              <a:t>circular</a:t>
            </a:r>
            <a:r>
              <a:rPr lang="en-US" altLang="zh-CN" sz="2800" b="1" dirty="0">
                <a:latin typeface="Times New Roman" panose="02020603050405020304" pitchFamily="18" charset="0"/>
              </a:rPr>
              <a:t>) in mushroom is an extremely toxic peptide (inhibiting RNA polymerases II and III at picomolar levels!)</a:t>
            </a:r>
          </a:p>
          <a:p>
            <a:pPr eaLnBrk="1" hangingPunct="1">
              <a:lnSpc>
                <a:spcPct val="130000"/>
              </a:lnSpc>
              <a:spcBef>
                <a:spcPct val="50000"/>
              </a:spcBef>
              <a:buClrTx/>
              <a:buSzTx/>
              <a:buFontTx/>
              <a:buNone/>
            </a:pPr>
            <a:r>
              <a:rPr lang="en-US" altLang="zh-CN" sz="2800" b="1" dirty="0">
                <a:latin typeface="Times New Roman" panose="02020603050405020304" pitchFamily="18" charset="0"/>
              </a:rPr>
              <a:t>	2.3.2 Very toxic short peptides are also found in snake venom, spider.</a:t>
            </a:r>
          </a:p>
          <a:p>
            <a:pPr eaLnBrk="1" hangingPunct="1">
              <a:spcBef>
                <a:spcPct val="50000"/>
              </a:spcBef>
              <a:buClrTx/>
              <a:buSzTx/>
              <a:buFontTx/>
              <a:buNone/>
            </a:pPr>
            <a:endParaRPr lang="zh-CN" altLang="en-US" sz="2400" dirty="0">
              <a:latin typeface="Times New Roman" panose="02020603050405020304" pitchFamily="18"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2">
            <a:extLst>
              <a:ext uri="{FF2B5EF4-FFF2-40B4-BE49-F238E27FC236}">
                <a16:creationId xmlns:a16="http://schemas.microsoft.com/office/drawing/2014/main" id="{2B82F673-8671-4822-9AF7-5898DAC9811A}"/>
              </a:ext>
            </a:extLst>
          </p:cNvPr>
          <p:cNvSpPr txBox="1">
            <a:spLocks noChangeArrowheads="1"/>
          </p:cNvSpPr>
          <p:nvPr/>
        </p:nvSpPr>
        <p:spPr bwMode="auto">
          <a:xfrm>
            <a:off x="228600" y="609600"/>
            <a:ext cx="8610600" cy="492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85000"/>
              </a:lnSpc>
              <a:spcBef>
                <a:spcPct val="45000"/>
              </a:spcBef>
              <a:buClrTx/>
              <a:buSzTx/>
              <a:buFontTx/>
              <a:buNone/>
            </a:pPr>
            <a:r>
              <a:rPr lang="en-US" altLang="zh-CN" sz="2800" b="1" dirty="0">
                <a:latin typeface="Times New Roman" panose="02020603050405020304" pitchFamily="18" charset="0"/>
              </a:rPr>
              <a:t>2.5 Many vertebrate hormones are small polypeptides.</a:t>
            </a:r>
          </a:p>
          <a:p>
            <a:pPr eaLnBrk="1" hangingPunct="1">
              <a:lnSpc>
                <a:spcPct val="85000"/>
              </a:lnSpc>
              <a:spcBef>
                <a:spcPct val="45000"/>
              </a:spcBef>
              <a:buClrTx/>
              <a:buSzTx/>
              <a:buFontTx/>
              <a:buNone/>
            </a:pPr>
            <a:endParaRPr lang="en-US" altLang="zh-CN" sz="2800" b="1" dirty="0">
              <a:latin typeface="Times New Roman" panose="02020603050405020304" pitchFamily="18" charset="0"/>
            </a:endParaRPr>
          </a:p>
          <a:p>
            <a:pPr eaLnBrk="1" hangingPunct="1">
              <a:lnSpc>
                <a:spcPct val="130000"/>
              </a:lnSpc>
              <a:spcBef>
                <a:spcPct val="45000"/>
              </a:spcBef>
              <a:buClrTx/>
              <a:buSzTx/>
              <a:buFontTx/>
              <a:buNone/>
            </a:pPr>
            <a:r>
              <a:rPr lang="en-US" altLang="zh-CN" sz="2800" b="1" dirty="0">
                <a:latin typeface="Times New Roman" panose="02020603050405020304" pitchFamily="18" charset="0"/>
              </a:rPr>
              <a:t>	 </a:t>
            </a:r>
            <a:r>
              <a:rPr lang="en-US" altLang="zh-CN" sz="2800" b="1" dirty="0">
                <a:solidFill>
                  <a:srgbClr val="FF0066"/>
                </a:solidFill>
                <a:latin typeface="Times New Roman" panose="02020603050405020304" pitchFamily="18" charset="0"/>
              </a:rPr>
              <a:t>Insulin</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胰岛素</a:t>
            </a:r>
            <a:r>
              <a:rPr lang="en-US" altLang="zh-CN" sz="2800" b="1" dirty="0">
                <a:latin typeface="Times New Roman" panose="02020603050405020304" pitchFamily="18" charset="0"/>
              </a:rPr>
              <a:t>)(51-residue) is produced by the pancreas and acts to lower blood glucose level.</a:t>
            </a:r>
          </a:p>
          <a:p>
            <a:pPr eaLnBrk="1" hangingPunct="1">
              <a:lnSpc>
                <a:spcPct val="130000"/>
              </a:lnSpc>
              <a:spcBef>
                <a:spcPct val="45000"/>
              </a:spcBef>
              <a:buClrTx/>
              <a:buSzTx/>
              <a:buFontTx/>
              <a:buNone/>
            </a:pPr>
            <a:r>
              <a:rPr lang="en-US" altLang="zh-CN" sz="2800" b="1" dirty="0">
                <a:latin typeface="Times New Roman" panose="02020603050405020304" pitchFamily="18" charset="0"/>
              </a:rPr>
              <a:t>	 </a:t>
            </a:r>
            <a:r>
              <a:rPr lang="en-US" altLang="zh-CN" sz="2800" b="1" dirty="0">
                <a:solidFill>
                  <a:srgbClr val="FF0066"/>
                </a:solidFill>
                <a:latin typeface="Times New Roman" panose="02020603050405020304" pitchFamily="18" charset="0"/>
              </a:rPr>
              <a:t>Glucagon</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胰高血糖素</a:t>
            </a:r>
            <a:r>
              <a:rPr lang="en-US" altLang="zh-CN" sz="2800" b="1" dirty="0">
                <a:latin typeface="Times New Roman" panose="02020603050405020304" pitchFamily="18" charset="0"/>
              </a:rPr>
              <a:t>) (29-residue) is also produced by the pancreas and acts to increase the blood glucose level.</a:t>
            </a:r>
          </a:p>
          <a:p>
            <a:pPr eaLnBrk="1" hangingPunct="1">
              <a:lnSpc>
                <a:spcPct val="130000"/>
              </a:lnSpc>
              <a:spcBef>
                <a:spcPct val="45000"/>
              </a:spcBef>
              <a:buClrTx/>
              <a:buSzTx/>
              <a:buFontTx/>
              <a:buNone/>
            </a:pPr>
            <a:r>
              <a:rPr lang="en-US" altLang="zh-CN" sz="2800" b="1" dirty="0">
                <a:latin typeface="Times New Roman" panose="02020603050405020304" pitchFamily="18" charset="0"/>
              </a:rPr>
              <a:t>	</a:t>
            </a:r>
            <a:endParaRPr lang="en-US" altLang="zh-CN" sz="2400" dirty="0">
              <a:latin typeface="Times New Roman" panose="02020603050405020304" pitchFamily="18"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a:extLst>
              <a:ext uri="{FF2B5EF4-FFF2-40B4-BE49-F238E27FC236}">
                <a16:creationId xmlns:a16="http://schemas.microsoft.com/office/drawing/2014/main" id="{314E9472-AB02-4770-8C79-CE731AED7B03}"/>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a:xfrm>
            <a:off x="1908175" y="0"/>
            <a:ext cx="2657475" cy="6858000"/>
          </a:xfrm>
        </p:spPr>
      </p:pic>
      <p:sp>
        <p:nvSpPr>
          <p:cNvPr id="161795" name="Rectangle 3">
            <a:extLst>
              <a:ext uri="{FF2B5EF4-FFF2-40B4-BE49-F238E27FC236}">
                <a16:creationId xmlns:a16="http://schemas.microsoft.com/office/drawing/2014/main" id="{5271541C-8666-4958-8413-1077A754AE4E}"/>
              </a:ext>
            </a:extLst>
          </p:cNvPr>
          <p:cNvSpPr>
            <a:spLocks noChangeArrowheads="1"/>
          </p:cNvSpPr>
          <p:nvPr/>
        </p:nvSpPr>
        <p:spPr bwMode="auto">
          <a:xfrm>
            <a:off x="4675188" y="333375"/>
            <a:ext cx="446881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a:solidFill>
                  <a:srgbClr val="FF0066"/>
                </a:solidFill>
              </a:rPr>
              <a:t>Insulin</a:t>
            </a:r>
            <a:r>
              <a:rPr lang="en-US" altLang="zh-CN" b="1"/>
              <a:t> (</a:t>
            </a:r>
            <a:r>
              <a:rPr lang="zh-CN" altLang="en-US" b="1"/>
              <a:t>胰岛素</a:t>
            </a:r>
            <a:r>
              <a:rPr lang="en-US" altLang="zh-CN" b="1"/>
              <a:t>)(51-residue)</a:t>
            </a:r>
            <a:endParaRPr lang="zh-CN" altLang="en-US" b="1"/>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ext Box 2">
            <a:extLst>
              <a:ext uri="{FF2B5EF4-FFF2-40B4-BE49-F238E27FC236}">
                <a16:creationId xmlns:a16="http://schemas.microsoft.com/office/drawing/2014/main" id="{80061C41-F431-4C9D-8056-626948B0441E}"/>
              </a:ext>
            </a:extLst>
          </p:cNvPr>
          <p:cNvSpPr txBox="1">
            <a:spLocks noChangeArrowheads="1"/>
          </p:cNvSpPr>
          <p:nvPr/>
        </p:nvSpPr>
        <p:spPr bwMode="auto">
          <a:xfrm>
            <a:off x="323850" y="1989138"/>
            <a:ext cx="8229600" cy="360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50000"/>
              </a:spcBef>
              <a:buClrTx/>
              <a:buSzTx/>
              <a:buFontTx/>
              <a:buNone/>
            </a:pPr>
            <a:r>
              <a:rPr kumimoji="0" lang="en-US" altLang="zh-CN" dirty="0"/>
              <a:t>3. Proteins in general</a:t>
            </a:r>
          </a:p>
          <a:p>
            <a:pPr eaLnBrk="1" hangingPunct="1">
              <a:lnSpc>
                <a:spcPct val="150000"/>
              </a:lnSpc>
              <a:spcBef>
                <a:spcPct val="50000"/>
              </a:spcBef>
              <a:buClrTx/>
              <a:buSzTx/>
              <a:buFontTx/>
              <a:buNone/>
            </a:pPr>
            <a:r>
              <a:rPr kumimoji="0" lang="en-US" altLang="zh-CN" sz="2800" b="1" dirty="0">
                <a:latin typeface="Times New Roman" panose="02020603050405020304" pitchFamily="18" charset="0"/>
              </a:rPr>
              <a:t>3.1 While proteins and polypeptides are normally used interchangeably, polypeptides generally have MW of less than 10,000; and also proteins may have multiple polypeptide subunits.</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914" name="Picture 2">
            <a:extLst>
              <a:ext uri="{FF2B5EF4-FFF2-40B4-BE49-F238E27FC236}">
                <a16:creationId xmlns:a16="http://schemas.microsoft.com/office/drawing/2014/main" id="{2B8B6685-74FF-4B6E-8CC2-C70DCCC97F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217" y="476672"/>
            <a:ext cx="8821566" cy="4752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7938" name="Picture 2">
            <a:extLst>
              <a:ext uri="{FF2B5EF4-FFF2-40B4-BE49-F238E27FC236}">
                <a16:creationId xmlns:a16="http://schemas.microsoft.com/office/drawing/2014/main" id="{91FF52F2-82CA-4861-8E94-BC7860DE5745}"/>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a:xfrm>
            <a:off x="4419600" y="76200"/>
            <a:ext cx="3883025" cy="6705600"/>
          </a:xfrm>
        </p:spPr>
      </p:pic>
      <p:sp>
        <p:nvSpPr>
          <p:cNvPr id="167939" name="Text Box 3">
            <a:extLst>
              <a:ext uri="{FF2B5EF4-FFF2-40B4-BE49-F238E27FC236}">
                <a16:creationId xmlns:a16="http://schemas.microsoft.com/office/drawing/2014/main" id="{8DEB9A94-5C83-4EFF-A1AC-B9D694E3BB21}"/>
              </a:ext>
            </a:extLst>
          </p:cNvPr>
          <p:cNvSpPr txBox="1">
            <a:spLocks noChangeArrowheads="1"/>
          </p:cNvSpPr>
          <p:nvPr/>
        </p:nvSpPr>
        <p:spPr bwMode="auto">
          <a:xfrm>
            <a:off x="685800" y="2255838"/>
            <a:ext cx="3124200"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en-US" altLang="zh-CN">
                <a:latin typeface="Times New Roman" panose="02020603050405020304" pitchFamily="18" charset="0"/>
              </a:rPr>
              <a:t>3.2 Proteins have characteristic AA compositions</a:t>
            </a:r>
          </a:p>
        </p:txBody>
      </p:sp>
      <p:sp>
        <p:nvSpPr>
          <p:cNvPr id="2" name="椭圆 1">
            <a:extLst>
              <a:ext uri="{FF2B5EF4-FFF2-40B4-BE49-F238E27FC236}">
                <a16:creationId xmlns:a16="http://schemas.microsoft.com/office/drawing/2014/main" id="{792F15EC-7FEC-4884-A42D-AD027BC9A1EF}"/>
              </a:ext>
            </a:extLst>
          </p:cNvPr>
          <p:cNvSpPr/>
          <p:nvPr/>
        </p:nvSpPr>
        <p:spPr>
          <a:xfrm>
            <a:off x="7275253" y="4642119"/>
            <a:ext cx="432048" cy="21602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91488BA7-8DD4-4613-87DB-D693BC7BC3C6}"/>
              </a:ext>
            </a:extLst>
          </p:cNvPr>
          <p:cNvSpPr/>
          <p:nvPr/>
        </p:nvSpPr>
        <p:spPr>
          <a:xfrm>
            <a:off x="5951169" y="3827997"/>
            <a:ext cx="432048" cy="216024"/>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2">
            <a:extLst>
              <a:ext uri="{FF2B5EF4-FFF2-40B4-BE49-F238E27FC236}">
                <a16:creationId xmlns:a16="http://schemas.microsoft.com/office/drawing/2014/main" id="{D52AEABE-83DC-4E3D-A8A2-865E67DA6682}"/>
              </a:ext>
            </a:extLst>
          </p:cNvPr>
          <p:cNvSpPr txBox="1">
            <a:spLocks noChangeArrowheads="1"/>
          </p:cNvSpPr>
          <p:nvPr/>
        </p:nvSpPr>
        <p:spPr bwMode="auto">
          <a:xfrm>
            <a:off x="381000" y="2133600"/>
            <a:ext cx="8305800" cy="3246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50000"/>
              </a:spcBef>
              <a:buClrTx/>
              <a:buSzTx/>
              <a:buFontTx/>
              <a:buNone/>
            </a:pPr>
            <a:r>
              <a:rPr kumimoji="0" lang="en-US" altLang="zh-CN" sz="2800" b="1" dirty="0">
                <a:latin typeface="Times New Roman" panose="02020603050405020304" pitchFamily="18" charset="0"/>
              </a:rPr>
              <a:t>3.3 Some proteins contain chemical groups other than AA, which are called the </a:t>
            </a:r>
            <a:r>
              <a:rPr kumimoji="0" lang="en-US" altLang="zh-CN" sz="2800" b="1" dirty="0">
                <a:solidFill>
                  <a:srgbClr val="FF0066"/>
                </a:solidFill>
                <a:latin typeface="Times New Roman" panose="02020603050405020304" pitchFamily="18" charset="0"/>
              </a:rPr>
              <a:t>prosthetic groups</a:t>
            </a:r>
            <a:r>
              <a:rPr kumimoji="0" lang="zh-CN" altLang="en-US" sz="2800" b="1" dirty="0">
                <a:solidFill>
                  <a:srgbClr val="FF0066"/>
                </a:solidFill>
                <a:latin typeface="Times New Roman" panose="02020603050405020304" pitchFamily="18" charset="0"/>
              </a:rPr>
              <a:t>（辅基）</a:t>
            </a:r>
            <a:r>
              <a:rPr kumimoji="0" lang="en-US" altLang="zh-CN" sz="2800" b="1" dirty="0">
                <a:latin typeface="Times New Roman" panose="02020603050405020304" pitchFamily="18" charset="0"/>
              </a:rPr>
              <a:t>, and these proteins are referred as </a:t>
            </a:r>
            <a:r>
              <a:rPr kumimoji="0" lang="en-US" altLang="zh-CN" sz="2800" b="1" dirty="0">
                <a:solidFill>
                  <a:srgbClr val="FF0066"/>
                </a:solidFill>
                <a:latin typeface="Times New Roman" panose="02020603050405020304" pitchFamily="18" charset="0"/>
              </a:rPr>
              <a:t>conjugated proteins </a:t>
            </a:r>
            <a:r>
              <a:rPr kumimoji="0" lang="en-US" altLang="zh-CN" sz="2800" b="1" dirty="0">
                <a:latin typeface="Times New Roman" panose="02020603050405020304" pitchFamily="18" charset="0"/>
              </a:rPr>
              <a:t>while the amino acid part alone is called</a:t>
            </a:r>
            <a:r>
              <a:rPr kumimoji="0" lang="en-US" altLang="zh-CN" sz="2800" b="1" dirty="0">
                <a:solidFill>
                  <a:srgbClr val="FF0066"/>
                </a:solidFill>
                <a:latin typeface="Times New Roman" panose="02020603050405020304" pitchFamily="18" charset="0"/>
              </a:rPr>
              <a:t> apoprotein</a:t>
            </a:r>
            <a:r>
              <a:rPr kumimoji="0" lang="en-US" altLang="zh-CN" sz="2800" b="1" dirty="0">
                <a:latin typeface="Times New Roman" panose="02020603050405020304" pitchFamily="18" charset="0"/>
              </a:rPr>
              <a:t>.</a:t>
            </a:r>
          </a:p>
        </p:txBody>
      </p:sp>
      <p:sp>
        <p:nvSpPr>
          <p:cNvPr id="169987" name="Text Box 12">
            <a:extLst>
              <a:ext uri="{FF2B5EF4-FFF2-40B4-BE49-F238E27FC236}">
                <a16:creationId xmlns:a16="http://schemas.microsoft.com/office/drawing/2014/main" id="{72D19880-1E69-4EB6-A8D9-EBAF751EF7C4}"/>
              </a:ext>
            </a:extLst>
          </p:cNvPr>
          <p:cNvSpPr txBox="1">
            <a:spLocks noChangeArrowheads="1"/>
          </p:cNvSpPr>
          <p:nvPr/>
        </p:nvSpPr>
        <p:spPr bwMode="auto">
          <a:xfrm>
            <a:off x="827088" y="5300663"/>
            <a:ext cx="7345362"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200" b="1" dirty="0">
                <a:solidFill>
                  <a:srgbClr val="0000FF"/>
                </a:solidFill>
              </a:rPr>
              <a:t>Simple protein </a:t>
            </a:r>
          </a:p>
          <a:p>
            <a:pPr eaLnBrk="1" hangingPunct="1"/>
            <a:r>
              <a:rPr lang="en-US" altLang="zh-CN" sz="3200" b="1" dirty="0">
                <a:solidFill>
                  <a:srgbClr val="0000FF"/>
                </a:solidFill>
              </a:rPr>
              <a:t>Conjugated protein </a:t>
            </a:r>
            <a:r>
              <a:rPr lang="zh-CN" altLang="en-US" sz="3200" b="1" dirty="0">
                <a:solidFill>
                  <a:srgbClr val="0000FF"/>
                </a:solidFill>
              </a:rPr>
              <a:t>（结合蛋白）</a:t>
            </a:r>
            <a:endParaRPr lang="en-US" altLang="zh-CN" sz="3200" b="1" dirty="0">
              <a:solidFill>
                <a:srgbClr val="0000FF"/>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034" name="Picture 2">
            <a:extLst>
              <a:ext uri="{FF2B5EF4-FFF2-40B4-BE49-F238E27FC236}">
                <a16:creationId xmlns:a16="http://schemas.microsoft.com/office/drawing/2014/main" id="{93B4E107-4860-4EE9-957A-D53EAD630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62000"/>
            <a:ext cx="91440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058" name="Picture 2">
            <a:extLst>
              <a:ext uri="{FF2B5EF4-FFF2-40B4-BE49-F238E27FC236}">
                <a16:creationId xmlns:a16="http://schemas.microsoft.com/office/drawing/2014/main" id="{AD6AB7B5-FFD9-4394-BCA9-1128EC9D82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565275"/>
            <a:ext cx="8915400" cy="384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3059" name="Text Box 3">
            <a:extLst>
              <a:ext uri="{FF2B5EF4-FFF2-40B4-BE49-F238E27FC236}">
                <a16:creationId xmlns:a16="http://schemas.microsoft.com/office/drawing/2014/main" id="{1B55F569-F6EC-4768-882F-E4802664C12E}"/>
              </a:ext>
            </a:extLst>
          </p:cNvPr>
          <p:cNvSpPr txBox="1">
            <a:spLocks noChangeArrowheads="1"/>
          </p:cNvSpPr>
          <p:nvPr/>
        </p:nvSpPr>
        <p:spPr bwMode="auto">
          <a:xfrm>
            <a:off x="381000" y="304800"/>
            <a:ext cx="8305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en-US" altLang="zh-CN" sz="2800" b="1">
                <a:latin typeface="Times New Roman" panose="02020603050405020304" pitchFamily="18" charset="0"/>
              </a:rPr>
              <a:t>3.4 Protein structure is studied at different levels.</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466B724F-2AA1-4E3D-9BE5-5376C31A656F}"/>
              </a:ext>
            </a:extLst>
          </p:cNvPr>
          <p:cNvSpPr>
            <a:spLocks noGrp="1" noChangeArrowheads="1"/>
          </p:cNvSpPr>
          <p:nvPr>
            <p:ph type="title"/>
          </p:nvPr>
        </p:nvSpPr>
        <p:spPr/>
        <p:txBody>
          <a:bodyPr/>
          <a:lstStyle/>
          <a:p>
            <a:pPr eaLnBrk="1" hangingPunct="1"/>
            <a:r>
              <a:rPr lang="en-US" altLang="zh-CN"/>
              <a:t>Protein structure</a:t>
            </a:r>
          </a:p>
        </p:txBody>
      </p:sp>
      <p:sp>
        <p:nvSpPr>
          <p:cNvPr id="175107" name="Rectangle 3">
            <a:extLst>
              <a:ext uri="{FF2B5EF4-FFF2-40B4-BE49-F238E27FC236}">
                <a16:creationId xmlns:a16="http://schemas.microsoft.com/office/drawing/2014/main" id="{CFA2DA5E-687D-4AE3-8592-6269FBA35210}"/>
              </a:ext>
            </a:extLst>
          </p:cNvPr>
          <p:cNvSpPr>
            <a:spLocks noGrp="1" noChangeArrowheads="1"/>
          </p:cNvSpPr>
          <p:nvPr>
            <p:ph type="body" idx="1"/>
          </p:nvPr>
        </p:nvSpPr>
        <p:spPr/>
        <p:txBody>
          <a:bodyPr/>
          <a:lstStyle/>
          <a:p>
            <a:pPr eaLnBrk="1" hangingPunct="1">
              <a:lnSpc>
                <a:spcPct val="90000"/>
              </a:lnSpc>
              <a:spcBef>
                <a:spcPct val="50000"/>
              </a:spcBef>
              <a:buClrTx/>
              <a:buSzTx/>
              <a:buFontTx/>
              <a:buNone/>
            </a:pPr>
            <a:r>
              <a:rPr lang="en-US" altLang="zh-CN" b="1" dirty="0">
                <a:solidFill>
                  <a:srgbClr val="FF0066"/>
                </a:solidFill>
                <a:latin typeface="Times New Roman" panose="02020603050405020304" pitchFamily="18" charset="0"/>
              </a:rPr>
              <a:t>General studies of the peptide  bond</a:t>
            </a:r>
          </a:p>
          <a:p>
            <a:pPr eaLnBrk="1" hangingPunct="1">
              <a:lnSpc>
                <a:spcPct val="90000"/>
              </a:lnSpc>
              <a:spcBef>
                <a:spcPct val="50000"/>
              </a:spcBef>
              <a:buClrTx/>
              <a:buSzTx/>
              <a:buFontTx/>
              <a:buNone/>
            </a:pPr>
            <a:r>
              <a:rPr lang="en-US" altLang="zh-CN" b="1" dirty="0">
                <a:solidFill>
                  <a:srgbClr val="FF0066"/>
                </a:solidFill>
                <a:latin typeface="Times New Roman" panose="02020603050405020304" pitchFamily="18" charset="0"/>
              </a:rPr>
              <a:t>Primary structure</a:t>
            </a:r>
          </a:p>
          <a:p>
            <a:pPr eaLnBrk="1" hangingPunct="1">
              <a:lnSpc>
                <a:spcPct val="90000"/>
              </a:lnSpc>
              <a:spcBef>
                <a:spcPct val="50000"/>
              </a:spcBef>
              <a:buClrTx/>
              <a:buSzTx/>
              <a:buFontTx/>
              <a:buNone/>
            </a:pPr>
            <a:r>
              <a:rPr lang="en-US" altLang="zh-CN" b="1" dirty="0">
                <a:solidFill>
                  <a:srgbClr val="FF0066"/>
                </a:solidFill>
                <a:latin typeface="Times New Roman" panose="02020603050405020304" pitchFamily="18" charset="0"/>
              </a:rPr>
              <a:t>Secondary structure</a:t>
            </a:r>
          </a:p>
          <a:p>
            <a:pPr eaLnBrk="1" hangingPunct="1">
              <a:lnSpc>
                <a:spcPct val="90000"/>
              </a:lnSpc>
              <a:spcBef>
                <a:spcPct val="50000"/>
              </a:spcBef>
              <a:buClrTx/>
              <a:buSzTx/>
              <a:buFontTx/>
              <a:buNone/>
            </a:pPr>
            <a:r>
              <a:rPr lang="en-US" altLang="zh-CN" b="1" dirty="0">
                <a:solidFill>
                  <a:srgbClr val="FF0066"/>
                </a:solidFill>
                <a:latin typeface="Times New Roman" panose="02020603050405020304" pitchFamily="18" charset="0"/>
              </a:rPr>
              <a:t>Tertiary structure</a:t>
            </a:r>
          </a:p>
          <a:p>
            <a:pPr eaLnBrk="1" hangingPunct="1">
              <a:lnSpc>
                <a:spcPct val="90000"/>
              </a:lnSpc>
              <a:spcBef>
                <a:spcPct val="50000"/>
              </a:spcBef>
              <a:buClrTx/>
              <a:buSzTx/>
              <a:buFontTx/>
              <a:buNone/>
            </a:pPr>
            <a:r>
              <a:rPr lang="en-US" altLang="zh-CN" b="1" dirty="0">
                <a:solidFill>
                  <a:srgbClr val="FF0066"/>
                </a:solidFill>
                <a:latin typeface="Times New Roman" panose="02020603050405020304" pitchFamily="18" charset="0"/>
              </a:rPr>
              <a:t>Quaternary structure</a:t>
            </a:r>
          </a:p>
          <a:p>
            <a:pPr eaLnBrk="1" hangingPunct="1">
              <a:lnSpc>
                <a:spcPct val="90000"/>
              </a:lnSpc>
              <a:spcBef>
                <a:spcPct val="50000"/>
              </a:spcBef>
              <a:buClrTx/>
              <a:buSzTx/>
              <a:buFontTx/>
              <a:buNone/>
            </a:pPr>
            <a:r>
              <a:rPr lang="en-US" altLang="zh-CN" b="1" dirty="0">
                <a:solidFill>
                  <a:srgbClr val="FF0066"/>
                </a:solidFill>
                <a:latin typeface="Times New Roman" panose="02020603050405020304" pitchFamily="18" charset="0"/>
              </a:rPr>
              <a:t>Protein stability</a:t>
            </a:r>
            <a:endParaRPr lang="en-US" altLang="zh-CN" dirty="0">
              <a:latin typeface="Times New Roman" panose="02020603050405020304" pitchFamily="18" charset="0"/>
            </a:endParaRPr>
          </a:p>
          <a:p>
            <a:pPr eaLnBrk="1" hangingPunct="1">
              <a:lnSpc>
                <a:spcPct val="90000"/>
              </a:lnSpc>
            </a:pPr>
            <a:endParaRPr lang="zh-CN" alt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Text Box 2">
            <a:extLst>
              <a:ext uri="{FF2B5EF4-FFF2-40B4-BE49-F238E27FC236}">
                <a16:creationId xmlns:a16="http://schemas.microsoft.com/office/drawing/2014/main" id="{FD95768C-24BF-42E8-87E8-32E67AC1B702}"/>
              </a:ext>
            </a:extLst>
          </p:cNvPr>
          <p:cNvSpPr txBox="1">
            <a:spLocks noChangeArrowheads="1"/>
          </p:cNvSpPr>
          <p:nvPr/>
        </p:nvSpPr>
        <p:spPr bwMode="auto">
          <a:xfrm>
            <a:off x="990600" y="914400"/>
            <a:ext cx="7772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endParaRPr kumimoji="0" lang="zh-CN" altLang="en-US" sz="3600">
              <a:latin typeface="Times New Roman" panose="02020603050405020304" pitchFamily="18" charset="0"/>
            </a:endParaRPr>
          </a:p>
        </p:txBody>
      </p:sp>
      <p:sp>
        <p:nvSpPr>
          <p:cNvPr id="192515" name="Text Box 3">
            <a:extLst>
              <a:ext uri="{FF2B5EF4-FFF2-40B4-BE49-F238E27FC236}">
                <a16:creationId xmlns:a16="http://schemas.microsoft.com/office/drawing/2014/main" id="{7E84CD97-5F0D-4EA1-A41E-4558BE23993F}"/>
              </a:ext>
            </a:extLst>
          </p:cNvPr>
          <p:cNvSpPr txBox="1">
            <a:spLocks noChangeArrowheads="1"/>
          </p:cNvSpPr>
          <p:nvPr/>
        </p:nvSpPr>
        <p:spPr bwMode="auto">
          <a:xfrm>
            <a:off x="381000" y="1143000"/>
            <a:ext cx="7924800" cy="466248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30000"/>
              </a:lnSpc>
              <a:spcBef>
                <a:spcPct val="30000"/>
              </a:spcBef>
              <a:buClrTx/>
              <a:buSzTx/>
              <a:buFontTx/>
              <a:buNone/>
            </a:pPr>
            <a:r>
              <a:rPr lang="en-US" altLang="zh-CN" dirty="0">
                <a:solidFill>
                  <a:srgbClr val="FF0066"/>
                </a:solidFill>
              </a:rPr>
              <a:t>1.3 Protein structures have conventionally been understood at four different levels.</a:t>
            </a:r>
          </a:p>
          <a:p>
            <a:pPr eaLnBrk="1" hangingPunct="1">
              <a:lnSpc>
                <a:spcPct val="130000"/>
              </a:lnSpc>
              <a:spcBef>
                <a:spcPct val="30000"/>
              </a:spcBef>
              <a:buClrTx/>
              <a:buSzTx/>
              <a:buFontTx/>
              <a:buNone/>
            </a:pPr>
            <a:r>
              <a:rPr lang="en-US" altLang="zh-CN" sz="2800" b="1" dirty="0">
                <a:latin typeface="Times New Roman" panose="02020603050405020304" pitchFamily="18" charset="0"/>
              </a:rPr>
              <a:t>        </a:t>
            </a:r>
          </a:p>
          <a:p>
            <a:pPr eaLnBrk="1" hangingPunct="1">
              <a:lnSpc>
                <a:spcPct val="130000"/>
              </a:lnSpc>
              <a:spcBef>
                <a:spcPct val="30000"/>
              </a:spcBef>
              <a:buClrTx/>
              <a:buSzTx/>
              <a:buFontTx/>
              <a:buNone/>
            </a:pPr>
            <a:r>
              <a:rPr lang="en-US" altLang="zh-CN" sz="2800" b="1" dirty="0">
                <a:latin typeface="Times New Roman" panose="02020603050405020304" pitchFamily="18" charset="0"/>
              </a:rPr>
              <a:t>          1.3.1 The primary structure is the amino acid sequence (including the locations of disulfide bonds).</a:t>
            </a:r>
            <a:endParaRPr lang="en-US" altLang="zh-CN" sz="2800" b="1" dirty="0">
              <a:solidFill>
                <a:srgbClr val="FF0066"/>
              </a:solidFill>
              <a:latin typeface="Times New Roman" panose="02020603050405020304" pitchFamily="18" charset="0"/>
            </a:endParaRPr>
          </a:p>
          <a:p>
            <a:pPr eaLnBrk="1" hangingPunct="1">
              <a:spcBef>
                <a:spcPct val="50000"/>
              </a:spcBef>
              <a:buClrTx/>
              <a:buSzTx/>
              <a:buFontTx/>
              <a:buNone/>
            </a:pPr>
            <a:endParaRPr kumimoji="0" lang="zh-CN" altLang="en-US" sz="3600" dirty="0">
              <a:latin typeface="Times New Roman" panose="02020603050405020304" pitchFamily="18" charset="0"/>
            </a:endParaRPr>
          </a:p>
        </p:txBody>
      </p:sp>
    </p:spTree>
    <p:extLst>
      <p:ext uri="{BB962C8B-B14F-4D97-AF65-F5344CB8AC3E}">
        <p14:creationId xmlns:p14="http://schemas.microsoft.com/office/powerpoint/2010/main" val="204521838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Text Box 2">
            <a:extLst>
              <a:ext uri="{FF2B5EF4-FFF2-40B4-BE49-F238E27FC236}">
                <a16:creationId xmlns:a16="http://schemas.microsoft.com/office/drawing/2014/main" id="{C8DC70D2-15DB-468A-AC28-672CFF833C61}"/>
              </a:ext>
            </a:extLst>
          </p:cNvPr>
          <p:cNvSpPr txBox="1">
            <a:spLocks noChangeArrowheads="1"/>
          </p:cNvSpPr>
          <p:nvPr/>
        </p:nvSpPr>
        <p:spPr bwMode="auto">
          <a:xfrm>
            <a:off x="152400" y="152400"/>
            <a:ext cx="8763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30000"/>
              </a:lnSpc>
              <a:spcBef>
                <a:spcPct val="30000"/>
              </a:spcBef>
              <a:buClrTx/>
              <a:buSzTx/>
              <a:buFontTx/>
              <a:buNone/>
            </a:pPr>
            <a:r>
              <a:rPr lang="zh-CN" altLang="en-US" sz="2800" b="1">
                <a:latin typeface="Times New Roman" panose="02020603050405020304" pitchFamily="18" charset="0"/>
              </a:rPr>
              <a:t>		</a:t>
            </a:r>
          </a:p>
        </p:txBody>
      </p:sp>
      <p:pic>
        <p:nvPicPr>
          <p:cNvPr id="193539" name="Picture 3" descr="2-43">
            <a:extLst>
              <a:ext uri="{FF2B5EF4-FFF2-40B4-BE49-F238E27FC236}">
                <a16:creationId xmlns:a16="http://schemas.microsoft.com/office/drawing/2014/main" id="{4F0EC52F-2849-438B-B151-5E0207832D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76200"/>
            <a:ext cx="6858000" cy="668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265893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Text Box 2">
            <a:extLst>
              <a:ext uri="{FF2B5EF4-FFF2-40B4-BE49-F238E27FC236}">
                <a16:creationId xmlns:a16="http://schemas.microsoft.com/office/drawing/2014/main" id="{2FF433E8-1707-4BBA-A2A7-165ADD829F24}"/>
              </a:ext>
            </a:extLst>
          </p:cNvPr>
          <p:cNvSpPr txBox="1">
            <a:spLocks noChangeArrowheads="1"/>
          </p:cNvSpPr>
          <p:nvPr/>
        </p:nvSpPr>
        <p:spPr bwMode="auto">
          <a:xfrm>
            <a:off x="304800" y="533400"/>
            <a:ext cx="8534400" cy="513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30000"/>
              </a:lnSpc>
              <a:spcBef>
                <a:spcPct val="30000"/>
              </a:spcBef>
              <a:buClrTx/>
              <a:buSzTx/>
              <a:buFontTx/>
              <a:buNone/>
            </a:pPr>
            <a:r>
              <a:rPr lang="zh-CN" altLang="en-US" sz="2800" dirty="0">
                <a:latin typeface="Times New Roman" panose="02020603050405020304" pitchFamily="18" charset="0"/>
              </a:rPr>
              <a:t>         </a:t>
            </a:r>
            <a:r>
              <a:rPr lang="en-US" altLang="zh-CN" sz="2400" b="1" dirty="0">
                <a:latin typeface="Times New Roman" panose="02020603050405020304" pitchFamily="18" charset="0"/>
              </a:rPr>
              <a:t>1.3.2 </a:t>
            </a:r>
            <a:r>
              <a:rPr lang="en-US" altLang="zh-CN" sz="2400" b="1" dirty="0">
                <a:solidFill>
                  <a:srgbClr val="FF0000"/>
                </a:solidFill>
                <a:latin typeface="Times New Roman" panose="02020603050405020304" pitchFamily="18" charset="0"/>
              </a:rPr>
              <a:t>The secondary structure</a:t>
            </a:r>
            <a:r>
              <a:rPr lang="en-US" altLang="zh-CN" sz="2400" b="1" dirty="0">
                <a:latin typeface="Times New Roman" panose="02020603050405020304" pitchFamily="18" charset="0"/>
              </a:rPr>
              <a:t> refers to the regular, recurring arrangements of adjacent residues resulting mainly from hydrogen bonding between backbone groups, with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-helices and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-pleated sheets as the two most common ones.           </a:t>
            </a:r>
          </a:p>
          <a:p>
            <a:pPr eaLnBrk="1" hangingPunct="1">
              <a:lnSpc>
                <a:spcPct val="130000"/>
              </a:lnSpc>
              <a:spcBef>
                <a:spcPct val="30000"/>
              </a:spcBef>
              <a:buClrTx/>
              <a:buSzTx/>
              <a:buFontTx/>
              <a:buNone/>
            </a:pPr>
            <a:r>
              <a:rPr lang="en-US" altLang="zh-CN" sz="2400" b="1" dirty="0">
                <a:latin typeface="Times New Roman" panose="02020603050405020304" pitchFamily="18" charset="0"/>
              </a:rPr>
              <a:t>           1.3.3 </a:t>
            </a:r>
            <a:r>
              <a:rPr lang="en-US" altLang="zh-CN" sz="2400" b="1" dirty="0">
                <a:solidFill>
                  <a:srgbClr val="FF0000"/>
                </a:solidFill>
                <a:latin typeface="Times New Roman" panose="02020603050405020304" pitchFamily="18" charset="0"/>
              </a:rPr>
              <a:t>The tertiary structure</a:t>
            </a:r>
            <a:r>
              <a:rPr lang="en-US" altLang="zh-CN" sz="2400" b="1" dirty="0">
                <a:latin typeface="Times New Roman" panose="02020603050405020304" pitchFamily="18" charset="0"/>
              </a:rPr>
              <a:t> refers to the spatial relationship among all amino acid residues in a polypeptide chain, that is, the complete three-dimensional structure.</a:t>
            </a:r>
          </a:p>
          <a:p>
            <a:pPr eaLnBrk="1" hangingPunct="1">
              <a:lnSpc>
                <a:spcPct val="130000"/>
              </a:lnSpc>
              <a:spcBef>
                <a:spcPct val="30000"/>
              </a:spcBef>
              <a:buClrTx/>
              <a:buSzTx/>
              <a:buFontTx/>
              <a:buNone/>
            </a:pPr>
            <a:r>
              <a:rPr lang="en-US" altLang="zh-CN" sz="2400" b="1" dirty="0">
                <a:latin typeface="Times New Roman" panose="02020603050405020304" pitchFamily="18" charset="0"/>
              </a:rPr>
              <a:t>	1.3.4 </a:t>
            </a:r>
            <a:r>
              <a:rPr lang="en-US" altLang="zh-CN" sz="2400" b="1" dirty="0">
                <a:solidFill>
                  <a:srgbClr val="FF0000"/>
                </a:solidFill>
                <a:latin typeface="Times New Roman" panose="02020603050405020304" pitchFamily="18" charset="0"/>
              </a:rPr>
              <a:t>The quaternary structure</a:t>
            </a:r>
            <a:r>
              <a:rPr lang="en-US" altLang="zh-CN" sz="2400" b="1" dirty="0">
                <a:latin typeface="Times New Roman" panose="02020603050405020304" pitchFamily="18" charset="0"/>
              </a:rPr>
              <a:t> refers to the spatial arrangements of each subunit in a </a:t>
            </a:r>
            <a:r>
              <a:rPr lang="en-US" altLang="zh-CN" sz="2400" b="1" dirty="0" err="1">
                <a:latin typeface="Times New Roman" panose="02020603050405020304" pitchFamily="18" charset="0"/>
              </a:rPr>
              <a:t>multisubunit</a:t>
            </a:r>
            <a:r>
              <a:rPr lang="en-US" altLang="zh-CN" sz="2400" b="1" dirty="0">
                <a:latin typeface="Times New Roman" panose="02020603050405020304" pitchFamily="18" charset="0"/>
              </a:rPr>
              <a:t> protein, including nature of their contact.</a:t>
            </a:r>
            <a:endParaRPr kumimoji="0" lang="en-US" altLang="zh-CN" sz="3600" dirty="0">
              <a:latin typeface="Times New Roman" panose="02020603050405020304" pitchFamily="18" charset="0"/>
            </a:endParaRPr>
          </a:p>
        </p:txBody>
      </p:sp>
    </p:spTree>
    <p:extLst>
      <p:ext uri="{BB962C8B-B14F-4D97-AF65-F5344CB8AC3E}">
        <p14:creationId xmlns:p14="http://schemas.microsoft.com/office/powerpoint/2010/main" val="299455651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586" name="Picture 2">
            <a:extLst>
              <a:ext uri="{FF2B5EF4-FFF2-40B4-BE49-F238E27FC236}">
                <a16:creationId xmlns:a16="http://schemas.microsoft.com/office/drawing/2014/main" id="{0DCB8767-5507-4B6D-BCC1-13EBB5DB9C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76400"/>
            <a:ext cx="9144000"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305193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6130" name="Picture 2">
            <a:extLst>
              <a:ext uri="{FF2B5EF4-FFF2-40B4-BE49-F238E27FC236}">
                <a16:creationId xmlns:a16="http://schemas.microsoft.com/office/drawing/2014/main" id="{293706BD-55A2-4E11-923C-FA8092C9E149}"/>
              </a:ext>
            </a:extLst>
          </p:cNvP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1955800" y="0"/>
            <a:ext cx="5283200" cy="6858000"/>
          </a:xfr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9506" name="Picture 2">
            <a:extLst>
              <a:ext uri="{FF2B5EF4-FFF2-40B4-BE49-F238E27FC236}">
                <a16:creationId xmlns:a16="http://schemas.microsoft.com/office/drawing/2014/main" id="{6FFA8309-370D-4113-81EF-4375CDB80F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1124744"/>
            <a:ext cx="8026400" cy="391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823598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78178" name="Text Box 2">
            <a:extLst>
              <a:ext uri="{FF2B5EF4-FFF2-40B4-BE49-F238E27FC236}">
                <a16:creationId xmlns:a16="http://schemas.microsoft.com/office/drawing/2014/main" id="{01FD1D70-BA3F-4810-B34D-D22ED8AD96A2}"/>
              </a:ext>
            </a:extLst>
          </p:cNvPr>
          <p:cNvSpPr txBox="1">
            <a:spLocks noChangeArrowheads="1"/>
          </p:cNvSpPr>
          <p:nvPr/>
        </p:nvSpPr>
        <p:spPr bwMode="auto">
          <a:xfrm>
            <a:off x="685800" y="304800"/>
            <a:ext cx="807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a:solidFill>
                  <a:srgbClr val="FF0066"/>
                </a:solidFill>
                <a:latin typeface="Times New Roman" panose="02020603050405020304" pitchFamily="18" charset="0"/>
              </a:rPr>
              <a:t>1. General studies of the peptide  bond</a:t>
            </a:r>
            <a:endParaRPr lang="en-US" altLang="zh-CN" sz="2400">
              <a:latin typeface="Times New Roman" panose="02020603050405020304" pitchFamily="18" charset="0"/>
            </a:endParaRPr>
          </a:p>
        </p:txBody>
      </p:sp>
      <p:sp>
        <p:nvSpPr>
          <p:cNvPr id="178179" name="Text Box 3">
            <a:extLst>
              <a:ext uri="{FF2B5EF4-FFF2-40B4-BE49-F238E27FC236}">
                <a16:creationId xmlns:a16="http://schemas.microsoft.com/office/drawing/2014/main" id="{4379E5CA-5002-4743-AEB2-D1CA96DB22F6}"/>
              </a:ext>
            </a:extLst>
          </p:cNvPr>
          <p:cNvSpPr txBox="1">
            <a:spLocks noChangeArrowheads="1"/>
          </p:cNvSpPr>
          <p:nvPr/>
        </p:nvSpPr>
        <p:spPr bwMode="auto">
          <a:xfrm>
            <a:off x="838200" y="1371600"/>
            <a:ext cx="7391400" cy="52181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1.1 The peptide (O=C-N-H) bond was found to be shorter than the C-N bond in a simple amine and atoms attached are coplanar.</a:t>
            </a:r>
          </a:p>
          <a:p>
            <a:pPr eaLnBrk="1" hangingPunct="1">
              <a:spcBef>
                <a:spcPct val="50000"/>
              </a:spcBef>
              <a:buClrTx/>
              <a:buSzTx/>
              <a:buFontTx/>
              <a:buNone/>
            </a:pPr>
            <a:r>
              <a:rPr lang="en-US" altLang="zh-CN" sz="2800" b="1" dirty="0">
                <a:latin typeface="Times New Roman" panose="02020603050405020304" pitchFamily="18" charset="0"/>
              </a:rPr>
              <a:t>	1.1.1 This was revealed by X-ray diffraction studies of amino acids and of simple dipeptides and tripeptides.</a:t>
            </a:r>
          </a:p>
          <a:p>
            <a:pPr eaLnBrk="1" hangingPunct="1">
              <a:spcBef>
                <a:spcPct val="50000"/>
              </a:spcBef>
              <a:buClrTx/>
              <a:buSzTx/>
              <a:buFontTx/>
              <a:buNone/>
            </a:pPr>
            <a:r>
              <a:rPr lang="en-US" altLang="zh-CN" sz="2800" b="1" dirty="0">
                <a:latin typeface="Times New Roman" panose="02020603050405020304" pitchFamily="18" charset="0"/>
              </a:rPr>
              <a:t>	1.1.2 The peptide (amide) bond was found to be about 1.32 Å(angstrom) (C-N single bond, 1.49; C=N double bond, 1.27), thus having partial double bond feature (should be rigid and unable to rotate freely).</a:t>
            </a:r>
            <a:endParaRPr lang="en-US" altLang="zh-CN" sz="2400" dirty="0">
              <a:latin typeface="Times New Roman" panose="02020603050405020304" pitchFamily="18" charset="0"/>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ext Box 2">
            <a:extLst>
              <a:ext uri="{FF2B5EF4-FFF2-40B4-BE49-F238E27FC236}">
                <a16:creationId xmlns:a16="http://schemas.microsoft.com/office/drawing/2014/main" id="{9BF920B0-CC29-4885-ACBF-B6C57299D91B}"/>
              </a:ext>
            </a:extLst>
          </p:cNvPr>
          <p:cNvSpPr txBox="1">
            <a:spLocks noChangeArrowheads="1"/>
          </p:cNvSpPr>
          <p:nvPr/>
        </p:nvSpPr>
        <p:spPr bwMode="auto">
          <a:xfrm>
            <a:off x="1143000" y="762000"/>
            <a:ext cx="7162800" cy="332398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dirty="0">
                <a:latin typeface="Times New Roman" panose="02020603050405020304" pitchFamily="18" charset="0"/>
              </a:rPr>
              <a:t>	</a:t>
            </a:r>
            <a:r>
              <a:rPr lang="en-US" altLang="zh-CN" sz="2800" b="1" dirty="0">
                <a:latin typeface="Times New Roman" panose="02020603050405020304" pitchFamily="18" charset="0"/>
              </a:rPr>
              <a:t>1.1.3 The </a:t>
            </a:r>
            <a:r>
              <a:rPr lang="en-US" altLang="zh-CN" sz="2800" b="1" dirty="0">
                <a:solidFill>
                  <a:srgbClr val="FF0000"/>
                </a:solidFill>
                <a:latin typeface="Times New Roman" panose="02020603050405020304" pitchFamily="18" charset="0"/>
              </a:rPr>
              <a:t>partial double bond feature </a:t>
            </a:r>
            <a:r>
              <a:rPr lang="en-US" altLang="zh-CN" sz="2800" b="1" dirty="0">
                <a:latin typeface="Times New Roman" panose="02020603050405020304" pitchFamily="18" charset="0"/>
              </a:rPr>
              <a:t>is a result of partial sharing (resonance) of electrons between the carbonyl oxygen and amide nitrogen.</a:t>
            </a:r>
          </a:p>
          <a:p>
            <a:pPr eaLnBrk="1" hangingPunct="1">
              <a:spcBef>
                <a:spcPct val="50000"/>
              </a:spcBef>
              <a:buClrTx/>
              <a:buSzTx/>
              <a:buFontTx/>
              <a:buNone/>
            </a:pPr>
            <a:r>
              <a:rPr lang="en-US" altLang="zh-CN" sz="2800" b="1" dirty="0">
                <a:latin typeface="Times New Roman" panose="02020603050405020304" pitchFamily="18" charset="0"/>
              </a:rPr>
              <a:t>	1.1.4 The atoms attached to the peptide bond are coplanar with the oxygen and hydrogen atom in trans positions.</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0226" name="Picture 2">
            <a:extLst>
              <a:ext uri="{FF2B5EF4-FFF2-40B4-BE49-F238E27FC236}">
                <a16:creationId xmlns:a16="http://schemas.microsoft.com/office/drawing/2014/main" id="{FEB3DC32-ED2F-4772-A4D5-71FA8CA4D9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1397000"/>
            <a:ext cx="8026400"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3298" name="Picture 2">
            <a:extLst>
              <a:ext uri="{FF2B5EF4-FFF2-40B4-BE49-F238E27FC236}">
                <a16:creationId xmlns:a16="http://schemas.microsoft.com/office/drawing/2014/main" id="{D0712A1C-9831-4CFB-BA9D-69879BECC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245592"/>
            <a:ext cx="8026400" cy="391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2065FECB-6D7C-42AC-98B6-703F3649F4A7}"/>
              </a:ext>
            </a:extLst>
          </p:cNvPr>
          <p:cNvSpPr/>
          <p:nvPr/>
        </p:nvSpPr>
        <p:spPr>
          <a:xfrm rot="19736027">
            <a:off x="1642270" y="3232647"/>
            <a:ext cx="1466974" cy="77440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EFF6E891-9478-46BB-8039-0F613D7590DE}"/>
              </a:ext>
            </a:extLst>
          </p:cNvPr>
          <p:cNvSpPr/>
          <p:nvPr/>
        </p:nvSpPr>
        <p:spPr>
          <a:xfrm rot="19736027">
            <a:off x="3293300" y="3323198"/>
            <a:ext cx="1261258" cy="69725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7" name="组合 6">
            <a:extLst>
              <a:ext uri="{FF2B5EF4-FFF2-40B4-BE49-F238E27FC236}">
                <a16:creationId xmlns:a16="http://schemas.microsoft.com/office/drawing/2014/main" id="{B7F5CDDB-0671-4ECD-894E-0E1C0B78346D}"/>
              </a:ext>
            </a:extLst>
          </p:cNvPr>
          <p:cNvGrpSpPr/>
          <p:nvPr/>
        </p:nvGrpSpPr>
        <p:grpSpPr>
          <a:xfrm>
            <a:off x="2987824" y="3861048"/>
            <a:ext cx="576064" cy="1593468"/>
            <a:chOff x="2987824" y="3861048"/>
            <a:chExt cx="576064" cy="1593468"/>
          </a:xfrm>
        </p:grpSpPr>
        <p:sp>
          <p:nvSpPr>
            <p:cNvPr id="3" name="文本框 2">
              <a:extLst>
                <a:ext uri="{FF2B5EF4-FFF2-40B4-BE49-F238E27FC236}">
                  <a16:creationId xmlns:a16="http://schemas.microsoft.com/office/drawing/2014/main" id="{07FB8791-C31F-4BFC-A011-703382236E24}"/>
                </a:ext>
              </a:extLst>
            </p:cNvPr>
            <p:cNvSpPr txBox="1"/>
            <p:nvPr/>
          </p:nvSpPr>
          <p:spPr>
            <a:xfrm>
              <a:off x="2987824" y="5085184"/>
              <a:ext cx="576064" cy="369332"/>
            </a:xfrm>
            <a:prstGeom prst="rect">
              <a:avLst/>
            </a:prstGeom>
            <a:noFill/>
          </p:spPr>
          <p:txBody>
            <a:bodyPr wrap="square" rtlCol="0">
              <a:spAutoFit/>
            </a:bodyPr>
            <a:lstStyle/>
            <a:p>
              <a:r>
                <a:rPr lang="en-US" altLang="zh-CN" dirty="0"/>
                <a:t>Cα</a:t>
              </a:r>
              <a:endParaRPr lang="zh-CN" altLang="en-US" dirty="0"/>
            </a:p>
          </p:txBody>
        </p:sp>
        <p:cxnSp>
          <p:nvCxnSpPr>
            <p:cNvPr id="6" name="直接箭头连接符 5">
              <a:extLst>
                <a:ext uri="{FF2B5EF4-FFF2-40B4-BE49-F238E27FC236}">
                  <a16:creationId xmlns:a16="http://schemas.microsoft.com/office/drawing/2014/main" id="{DA3BC5CC-407A-4AA0-8771-DCEBDBFC15E8}"/>
                </a:ext>
              </a:extLst>
            </p:cNvPr>
            <p:cNvCxnSpPr/>
            <p:nvPr/>
          </p:nvCxnSpPr>
          <p:spPr>
            <a:xfrm flipV="1">
              <a:off x="3203849" y="3861048"/>
              <a:ext cx="0" cy="12961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8" name="矩形 7">
            <a:extLst>
              <a:ext uri="{FF2B5EF4-FFF2-40B4-BE49-F238E27FC236}">
                <a16:creationId xmlns:a16="http://schemas.microsoft.com/office/drawing/2014/main" id="{05B9D1AE-1455-4973-AE61-355C82C60EBB}"/>
              </a:ext>
            </a:extLst>
          </p:cNvPr>
          <p:cNvSpPr/>
          <p:nvPr/>
        </p:nvSpPr>
        <p:spPr>
          <a:xfrm rot="19736027">
            <a:off x="4589443" y="3272372"/>
            <a:ext cx="1261258" cy="69725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652BA90E-EECE-49A5-9EC4-4B52CA50E515}"/>
              </a:ext>
            </a:extLst>
          </p:cNvPr>
          <p:cNvSpPr/>
          <p:nvPr/>
        </p:nvSpPr>
        <p:spPr>
          <a:xfrm rot="19736027">
            <a:off x="6029603" y="3320424"/>
            <a:ext cx="1261258" cy="69725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8" grpId="0" animBg="1"/>
      <p:bldP spid="9"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Text Box 2">
            <a:extLst>
              <a:ext uri="{FF2B5EF4-FFF2-40B4-BE49-F238E27FC236}">
                <a16:creationId xmlns:a16="http://schemas.microsoft.com/office/drawing/2014/main" id="{19F787CE-D072-4CA2-A81D-20B26B273F86}"/>
              </a:ext>
            </a:extLst>
          </p:cNvPr>
          <p:cNvSpPr txBox="1">
            <a:spLocks noChangeArrowheads="1"/>
          </p:cNvSpPr>
          <p:nvPr/>
        </p:nvSpPr>
        <p:spPr bwMode="auto">
          <a:xfrm>
            <a:off x="533400" y="304800"/>
            <a:ext cx="7620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en-US" altLang="zh-CN" b="1" dirty="0">
                <a:latin typeface="Times New Roman" panose="02020603050405020304" pitchFamily="18" charset="0"/>
              </a:rPr>
              <a:t>1.2   The peptide bond is rigid and planar</a:t>
            </a:r>
          </a:p>
        </p:txBody>
      </p:sp>
      <p:pic>
        <p:nvPicPr>
          <p:cNvPr id="4" name="Picture 2">
            <a:extLst>
              <a:ext uri="{FF2B5EF4-FFF2-40B4-BE49-F238E27FC236}">
                <a16:creationId xmlns:a16="http://schemas.microsoft.com/office/drawing/2014/main" id="{30F5E0DB-747A-4438-9243-0A2B534BA8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 r="45111" b="12676"/>
          <a:stretch/>
        </p:blipFill>
        <p:spPr bwMode="auto">
          <a:xfrm>
            <a:off x="971601" y="1772816"/>
            <a:ext cx="6696744" cy="316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5153824F-F3F4-4D02-8F70-F40F51312499}"/>
              </a:ext>
            </a:extLst>
          </p:cNvPr>
          <p:cNvSpPr/>
          <p:nvPr/>
        </p:nvSpPr>
        <p:spPr>
          <a:xfrm>
            <a:off x="2195736" y="5334278"/>
            <a:ext cx="5220072" cy="1200329"/>
          </a:xfrm>
          <a:prstGeom prst="rect">
            <a:avLst/>
          </a:prstGeom>
        </p:spPr>
        <p:txBody>
          <a:bodyPr wrap="square">
            <a:spAutoFit/>
          </a:bodyPr>
          <a:lstStyle/>
          <a:p>
            <a:r>
              <a:rPr lang="en-US" altLang="zh-CN" sz="3600" dirty="0">
                <a:solidFill>
                  <a:srgbClr val="231F20"/>
                </a:solidFill>
                <a:latin typeface="Whitney-Semibold"/>
              </a:rPr>
              <a:t>The planar peptide group</a:t>
            </a:r>
            <a:r>
              <a:rPr lang="en-US" altLang="zh-CN" sz="3600" dirty="0"/>
              <a:t> </a:t>
            </a:r>
            <a:br>
              <a:rPr lang="en-US" altLang="zh-CN" sz="3600" dirty="0"/>
            </a:br>
            <a:endParaRPr lang="zh-CN" altLang="en-US" sz="3600" dirty="0"/>
          </a:p>
        </p:txBody>
      </p:sp>
      <p:sp>
        <p:nvSpPr>
          <p:cNvPr id="6" name="文本框 5">
            <a:extLst>
              <a:ext uri="{FF2B5EF4-FFF2-40B4-BE49-F238E27FC236}">
                <a16:creationId xmlns:a16="http://schemas.microsoft.com/office/drawing/2014/main" id="{DB81A8EE-0606-43DE-9EAB-DB2205AF7201}"/>
              </a:ext>
            </a:extLst>
          </p:cNvPr>
          <p:cNvSpPr txBox="1"/>
          <p:nvPr/>
        </p:nvSpPr>
        <p:spPr>
          <a:xfrm>
            <a:off x="2195736" y="6021288"/>
            <a:ext cx="4572000" cy="461665"/>
          </a:xfrm>
          <a:prstGeom prst="rect">
            <a:avLst/>
          </a:prstGeom>
          <a:noFill/>
        </p:spPr>
        <p:txBody>
          <a:bodyPr wrap="square">
            <a:spAutoFit/>
          </a:bodyPr>
          <a:lstStyle/>
          <a:p>
            <a:r>
              <a:rPr lang="en-US" altLang="zh-CN" sz="2400" dirty="0"/>
              <a:t>Dihedral angles</a:t>
            </a:r>
            <a:r>
              <a:rPr lang="zh-CN" altLang="en-US" sz="2400" dirty="0"/>
              <a:t>：</a:t>
            </a:r>
            <a:r>
              <a:rPr lang="en-US" altLang="zh-CN" sz="2400" dirty="0"/>
              <a:t>Φ and Ψ</a:t>
            </a:r>
            <a:endParaRPr lang="zh-CN" altLang="en-US" sz="24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370" name="Picture 2">
            <a:extLst>
              <a:ext uri="{FF2B5EF4-FFF2-40B4-BE49-F238E27FC236}">
                <a16:creationId xmlns:a16="http://schemas.microsoft.com/office/drawing/2014/main" id="{BE362202-8A85-4D80-95D6-645CADF825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4200" y="711200"/>
            <a:ext cx="54356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9B48A55-7BBC-44F5-8C0A-A0150F76FDC7}"/>
              </a:ext>
            </a:extLst>
          </p:cNvPr>
          <p:cNvPicPr>
            <a:picLocks noChangeAspect="1"/>
          </p:cNvPicPr>
          <p:nvPr/>
        </p:nvPicPr>
        <p:blipFill>
          <a:blip r:embed="rId3"/>
          <a:stretch>
            <a:fillRect/>
          </a:stretch>
        </p:blipFill>
        <p:spPr>
          <a:xfrm>
            <a:off x="1115616" y="1456223"/>
            <a:ext cx="7092280" cy="3945553"/>
          </a:xfrm>
          <a:prstGeom prst="rect">
            <a:avLst/>
          </a:prstGeom>
        </p:spPr>
      </p:pic>
    </p:spTree>
    <p:extLst>
      <p:ext uri="{BB962C8B-B14F-4D97-AF65-F5344CB8AC3E}">
        <p14:creationId xmlns:p14="http://schemas.microsoft.com/office/powerpoint/2010/main" val="20012113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8418" name="Picture 2">
            <a:extLst>
              <a:ext uri="{FF2B5EF4-FFF2-40B4-BE49-F238E27FC236}">
                <a16:creationId xmlns:a16="http://schemas.microsoft.com/office/drawing/2014/main" id="{5A24940D-D5BB-42AF-8DEC-3F30D96249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9400" y="711200"/>
            <a:ext cx="6045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466" name="Picture 4" descr="3-18">
            <a:extLst>
              <a:ext uri="{FF2B5EF4-FFF2-40B4-BE49-F238E27FC236}">
                <a16:creationId xmlns:a16="http://schemas.microsoft.com/office/drawing/2014/main" id="{AFAF147B-E98B-400A-878E-2CE92AB06F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8144" y="66505"/>
            <a:ext cx="5749232" cy="574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4B5D55E7-2B30-4E41-A504-19B75F07E3C1}"/>
              </a:ext>
            </a:extLst>
          </p:cNvPr>
          <p:cNvSpPr txBox="1"/>
          <p:nvPr/>
        </p:nvSpPr>
        <p:spPr>
          <a:xfrm>
            <a:off x="1053999" y="66505"/>
            <a:ext cx="432048" cy="369332"/>
          </a:xfrm>
          <a:prstGeom prst="rect">
            <a:avLst/>
          </a:prstGeom>
          <a:noFill/>
        </p:spPr>
        <p:txBody>
          <a:bodyPr wrap="square" rtlCol="0">
            <a:spAutoFit/>
          </a:bodyPr>
          <a:lstStyle/>
          <a:p>
            <a:r>
              <a:rPr lang="en-US" altLang="zh-CN" dirty="0"/>
              <a:t>+</a:t>
            </a:r>
            <a:endParaRPr lang="zh-CN" altLang="en-US" dirty="0"/>
          </a:p>
        </p:txBody>
      </p:sp>
      <p:sp>
        <p:nvSpPr>
          <p:cNvPr id="3" name="文本框 2">
            <a:extLst>
              <a:ext uri="{FF2B5EF4-FFF2-40B4-BE49-F238E27FC236}">
                <a16:creationId xmlns:a16="http://schemas.microsoft.com/office/drawing/2014/main" id="{2DBECEA7-7D49-4EE3-AE18-AB0442615EF8}"/>
              </a:ext>
            </a:extLst>
          </p:cNvPr>
          <p:cNvSpPr txBox="1"/>
          <p:nvPr/>
        </p:nvSpPr>
        <p:spPr>
          <a:xfrm>
            <a:off x="1095563" y="6082905"/>
            <a:ext cx="432048" cy="369332"/>
          </a:xfrm>
          <a:prstGeom prst="rect">
            <a:avLst/>
          </a:prstGeom>
          <a:noFill/>
        </p:spPr>
        <p:txBody>
          <a:bodyPr wrap="square" rtlCol="0">
            <a:spAutoFit/>
          </a:bodyPr>
          <a:lstStyle/>
          <a:p>
            <a:r>
              <a:rPr lang="en-US" altLang="zh-CN" dirty="0"/>
              <a:t>-</a:t>
            </a:r>
            <a:endParaRPr lang="zh-CN" altLang="en-US" dirty="0"/>
          </a:p>
        </p:txBody>
      </p:sp>
      <p:sp>
        <p:nvSpPr>
          <p:cNvPr id="5" name="文本框 4">
            <a:extLst>
              <a:ext uri="{FF2B5EF4-FFF2-40B4-BE49-F238E27FC236}">
                <a16:creationId xmlns:a16="http://schemas.microsoft.com/office/drawing/2014/main" id="{5AD867F3-BB4D-40F3-9D4E-2B5E9DF12D19}"/>
              </a:ext>
            </a:extLst>
          </p:cNvPr>
          <p:cNvSpPr txBox="1"/>
          <p:nvPr/>
        </p:nvSpPr>
        <p:spPr>
          <a:xfrm>
            <a:off x="6887376" y="6103687"/>
            <a:ext cx="432048" cy="369332"/>
          </a:xfrm>
          <a:prstGeom prst="rect">
            <a:avLst/>
          </a:prstGeom>
          <a:noFill/>
        </p:spPr>
        <p:txBody>
          <a:bodyPr wrap="square" rtlCol="0">
            <a:spAutoFit/>
          </a:bodyPr>
          <a:lstStyle/>
          <a:p>
            <a:r>
              <a:rPr lang="en-US" altLang="zh-CN" dirty="0"/>
              <a:t>+</a:t>
            </a:r>
            <a:endParaRPr lang="zh-CN" alt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Text Box 2">
            <a:extLst>
              <a:ext uri="{FF2B5EF4-FFF2-40B4-BE49-F238E27FC236}">
                <a16:creationId xmlns:a16="http://schemas.microsoft.com/office/drawing/2014/main" id="{222AE859-1834-4360-9177-B4D93AA2C25F}"/>
              </a:ext>
            </a:extLst>
          </p:cNvPr>
          <p:cNvSpPr txBox="1">
            <a:spLocks noChangeArrowheads="1"/>
          </p:cNvSpPr>
          <p:nvPr/>
        </p:nvSpPr>
        <p:spPr bwMode="auto">
          <a:xfrm>
            <a:off x="990600" y="533400"/>
            <a:ext cx="5638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a:solidFill>
                  <a:srgbClr val="FF0066"/>
                </a:solidFill>
                <a:latin typeface="Times New Roman" panose="02020603050405020304" pitchFamily="18" charset="0"/>
              </a:rPr>
              <a:t>2. Protein Secondary Structure</a:t>
            </a:r>
          </a:p>
        </p:txBody>
      </p:sp>
      <p:sp>
        <p:nvSpPr>
          <p:cNvPr id="197635" name="Text Box 3">
            <a:extLst>
              <a:ext uri="{FF2B5EF4-FFF2-40B4-BE49-F238E27FC236}">
                <a16:creationId xmlns:a16="http://schemas.microsoft.com/office/drawing/2014/main" id="{8B69FB1E-A738-43E9-85B5-B6A278B3B795}"/>
              </a:ext>
            </a:extLst>
          </p:cNvPr>
          <p:cNvSpPr txBox="1">
            <a:spLocks noChangeArrowheads="1"/>
          </p:cNvSpPr>
          <p:nvPr/>
        </p:nvSpPr>
        <p:spPr bwMode="auto">
          <a:xfrm>
            <a:off x="838200" y="2286000"/>
            <a:ext cx="7696200"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a:latin typeface="Times New Roman" panose="02020603050405020304" pitchFamily="18" charset="0"/>
              </a:rPr>
              <a:t>Secondary structure refers to the regular folding of regions of the polypeptide chain or local conformation of some part of the polypeptide.</a:t>
            </a:r>
          </a:p>
          <a:p>
            <a:pPr eaLnBrk="1" hangingPunct="1">
              <a:spcBef>
                <a:spcPct val="50000"/>
              </a:spcBef>
              <a:buClrTx/>
              <a:buSzTx/>
              <a:buFontTx/>
              <a:buNone/>
            </a:pPr>
            <a:r>
              <a:rPr lang="en-US" altLang="zh-CN" sz="2800" b="1">
                <a:latin typeface="Times New Roman" panose="02020603050405020304" pitchFamily="18" charset="0"/>
              </a:rPr>
              <a:t>	2.1 Single bonds other than the peptide bond in the backbone chain are free to rotate.</a:t>
            </a:r>
            <a:endParaRPr lang="en-US" altLang="zh-CN" sz="2400">
              <a:latin typeface="Times New Roman" panose="02020603050405020304" pitchFamily="18" charset="0"/>
            </a:endParaRPr>
          </a:p>
        </p:txBody>
      </p:sp>
      <p:sp>
        <p:nvSpPr>
          <p:cNvPr id="197636" name="Text Box 4">
            <a:extLst>
              <a:ext uri="{FF2B5EF4-FFF2-40B4-BE49-F238E27FC236}">
                <a16:creationId xmlns:a16="http://schemas.microsoft.com/office/drawing/2014/main" id="{2A8C11D9-443C-4CF4-B967-81A99E8DA714}"/>
              </a:ext>
            </a:extLst>
          </p:cNvPr>
          <p:cNvSpPr txBox="1">
            <a:spLocks noChangeArrowheads="1"/>
          </p:cNvSpPr>
          <p:nvPr/>
        </p:nvSpPr>
        <p:spPr bwMode="auto">
          <a:xfrm>
            <a:off x="2819400" y="4800600"/>
            <a:ext cx="2971800"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sym typeface="Symbol" panose="05050102010706020507" pitchFamily="18" charset="2"/>
              </a:rPr>
              <a:t>-helix </a:t>
            </a:r>
          </a:p>
          <a:p>
            <a:pPr eaLnBrk="1" hangingPunct="1">
              <a:spcBef>
                <a:spcPct val="50000"/>
              </a:spcBef>
              <a:buClrTx/>
              <a:buSzTx/>
              <a:buFontTx/>
              <a:buNone/>
            </a:pPr>
            <a:r>
              <a:rPr lang="en-US" altLang="zh-CN" sz="2800" b="1" dirty="0">
                <a:latin typeface="Times New Roman" panose="02020603050405020304" pitchFamily="18" charset="0"/>
                <a:sym typeface="Symbol" panose="05050102010706020507" pitchFamily="18" charset="2"/>
              </a:rPr>
              <a:t>-pleated sheet</a:t>
            </a:r>
          </a:p>
          <a:p>
            <a:pPr eaLnBrk="1" hangingPunct="1">
              <a:spcBef>
                <a:spcPct val="50000"/>
              </a:spcBef>
              <a:buClrTx/>
              <a:buSzTx/>
              <a:buFontTx/>
              <a:buNone/>
            </a:pPr>
            <a:r>
              <a:rPr lang="en-US" altLang="zh-CN" sz="2800" b="1" dirty="0">
                <a:latin typeface="Times New Roman" panose="02020603050405020304" pitchFamily="18" charset="0"/>
                <a:sym typeface="Symbol" panose="05050102010706020507" pitchFamily="18" charset="2"/>
              </a:rPr>
              <a:t> -turn</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Text Box 2">
            <a:extLst>
              <a:ext uri="{FF2B5EF4-FFF2-40B4-BE49-F238E27FC236}">
                <a16:creationId xmlns:a16="http://schemas.microsoft.com/office/drawing/2014/main" id="{5E4D72A8-A2F6-4899-ACB6-D9F9480324E7}"/>
              </a:ext>
            </a:extLst>
          </p:cNvPr>
          <p:cNvSpPr txBox="1">
            <a:spLocks noChangeArrowheads="1"/>
          </p:cNvSpPr>
          <p:nvPr/>
        </p:nvSpPr>
        <p:spPr bwMode="auto">
          <a:xfrm>
            <a:off x="457200" y="533400"/>
            <a:ext cx="8458200" cy="543242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2.2 The simplest arrangement of the polypeptide chain was proposed to be a helical structure called </a:t>
            </a:r>
            <a:r>
              <a:rPr lang="en-US" altLang="zh-CN" sz="2800" b="1" dirty="0">
                <a:solidFill>
                  <a:srgbClr val="FF0000"/>
                </a:solidFill>
                <a:latin typeface="Symbol" panose="05050102010706020507" pitchFamily="18" charset="2"/>
              </a:rPr>
              <a:t>a</a:t>
            </a:r>
            <a:r>
              <a:rPr lang="en-US" altLang="zh-CN" sz="2800" b="1" dirty="0">
                <a:solidFill>
                  <a:srgbClr val="FF0000"/>
                </a:solidFill>
                <a:latin typeface="Times New Roman" panose="02020603050405020304" pitchFamily="18" charset="0"/>
              </a:rPr>
              <a:t>-helix</a:t>
            </a:r>
            <a:r>
              <a:rPr lang="en-US" altLang="zh-CN" sz="2800" b="1" dirty="0">
                <a:latin typeface="Times New Roman" panose="02020603050405020304" pitchFamily="18" charset="0"/>
              </a:rPr>
              <a:t> (Pauling and Corey, 1954 </a:t>
            </a:r>
            <a:r>
              <a:rPr lang="zh-CN" altLang="en-US" sz="2800" b="1" dirty="0">
                <a:latin typeface="Times New Roman" panose="02020603050405020304" pitchFamily="18" charset="0"/>
              </a:rPr>
              <a:t>化学奖</a:t>
            </a:r>
            <a:r>
              <a:rPr lang="en-US" altLang="zh-CN" sz="2800" b="1" dirty="0">
                <a:latin typeface="Times New Roman" panose="02020603050405020304" pitchFamily="18" charset="0"/>
              </a:rPr>
              <a:t>)</a:t>
            </a:r>
          </a:p>
          <a:p>
            <a:pPr eaLnBrk="1" hangingPunct="1">
              <a:spcBef>
                <a:spcPct val="50000"/>
              </a:spcBef>
              <a:buClrTx/>
              <a:buSzTx/>
              <a:buFontTx/>
              <a:buNone/>
            </a:pPr>
            <a:r>
              <a:rPr lang="en-US" altLang="zh-CN" sz="2800" b="1" dirty="0">
                <a:latin typeface="Times New Roman" panose="02020603050405020304" pitchFamily="18" charset="0"/>
              </a:rPr>
              <a:t>	2.2.1 The polypeptide backbone is tightly wound around the long axis (</a:t>
            </a:r>
            <a:r>
              <a:rPr lang="en-US" altLang="zh-CN" sz="2800" b="1" dirty="0" err="1">
                <a:latin typeface="Times New Roman" panose="02020603050405020304" pitchFamily="18" charset="0"/>
              </a:rPr>
              <a:t>rodlike</a:t>
            </a:r>
            <a:r>
              <a:rPr lang="en-US" altLang="zh-CN" sz="2800" b="1" dirty="0">
                <a:latin typeface="Times New Roman" panose="02020603050405020304" pitchFamily="18" charset="0"/>
              </a:rPr>
              <a:t>).</a:t>
            </a:r>
          </a:p>
          <a:p>
            <a:pPr eaLnBrk="1" hangingPunct="1">
              <a:spcBef>
                <a:spcPct val="50000"/>
              </a:spcBef>
              <a:buClrTx/>
              <a:buSzTx/>
              <a:buFontTx/>
              <a:buNone/>
            </a:pPr>
            <a:r>
              <a:rPr lang="en-US" altLang="zh-CN" sz="2800" b="1" dirty="0">
                <a:latin typeface="Times New Roman" panose="02020603050405020304" pitchFamily="18" charset="0"/>
              </a:rPr>
              <a:t>	2.2.2 R groups protrude outward from the helical backbone.</a:t>
            </a:r>
          </a:p>
          <a:p>
            <a:pPr eaLnBrk="1" hangingPunct="1">
              <a:spcBef>
                <a:spcPct val="50000"/>
              </a:spcBef>
              <a:buClrTx/>
              <a:buSzTx/>
              <a:buFontTx/>
              <a:buNone/>
            </a:pPr>
            <a:r>
              <a:rPr lang="en-US" altLang="zh-CN" sz="2800" b="1" dirty="0">
                <a:latin typeface="Times New Roman" panose="02020603050405020304" pitchFamily="18" charset="0"/>
              </a:rPr>
              <a:t>	2.2.3 A single turn of the helix (corresponding to the repeating unit in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-keratin) extends about 5.4 Angstroms, including 3.6 residues (each residue arises 1.5 Å and rotate 100 degrees about the helix axis).</a:t>
            </a:r>
            <a:endParaRPr lang="en-US" altLang="zh-CN" sz="2400" dirty="0">
              <a:latin typeface="Times New Roman" panose="02020603050405020304" pitchFamily="18" charset="0"/>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Text Box 2">
            <a:extLst>
              <a:ext uri="{FF2B5EF4-FFF2-40B4-BE49-F238E27FC236}">
                <a16:creationId xmlns:a16="http://schemas.microsoft.com/office/drawing/2014/main" id="{E3C283C0-187B-4ACE-BFA6-D22BA6751F7A}"/>
              </a:ext>
            </a:extLst>
          </p:cNvPr>
          <p:cNvSpPr txBox="1">
            <a:spLocks noChangeArrowheads="1"/>
          </p:cNvSpPr>
          <p:nvPr/>
        </p:nvSpPr>
        <p:spPr bwMode="auto">
          <a:xfrm>
            <a:off x="533400" y="2286000"/>
            <a:ext cx="8305800" cy="24415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dirty="0">
                <a:latin typeface="Times New Roman" panose="02020603050405020304" pitchFamily="18" charset="0"/>
              </a:rPr>
              <a:t>	</a:t>
            </a:r>
            <a:r>
              <a:rPr lang="en-US" altLang="zh-CN" sz="2800" b="1" dirty="0">
                <a:latin typeface="Times New Roman" panose="02020603050405020304" pitchFamily="18" charset="0"/>
              </a:rPr>
              <a:t>2.2.4 The model made optimal use of internal hydrogen bonding for structure stabilization.</a:t>
            </a:r>
          </a:p>
          <a:p>
            <a:pPr eaLnBrk="1" hangingPunct="1">
              <a:spcBef>
                <a:spcPct val="50000"/>
              </a:spcBef>
              <a:buClrTx/>
              <a:buSzTx/>
              <a:buFontTx/>
              <a:buNone/>
            </a:pPr>
            <a:r>
              <a:rPr lang="en-US" altLang="zh-CN" sz="2800" b="1" dirty="0">
                <a:latin typeface="Times New Roman" panose="02020603050405020304" pitchFamily="18" charset="0"/>
              </a:rPr>
              <a:t>	2.2.5 Each carbonyl oxygen </a:t>
            </a:r>
            <a:r>
              <a:rPr lang="en-US" altLang="zh-CN" sz="2800" b="1" dirty="0">
                <a:solidFill>
                  <a:srgbClr val="FF0000"/>
                </a:solidFill>
                <a:latin typeface="Times New Roman" panose="02020603050405020304" pitchFamily="18" charset="0"/>
              </a:rPr>
              <a:t>(n) </a:t>
            </a:r>
            <a:r>
              <a:rPr lang="en-US" altLang="zh-CN" sz="2800" b="1" dirty="0">
                <a:latin typeface="Times New Roman" panose="02020603050405020304" pitchFamily="18" charset="0"/>
              </a:rPr>
              <a:t>of the residue is hydrogen bonded to the hydrogen on the amino group of </a:t>
            </a:r>
            <a:r>
              <a:rPr lang="en-US" altLang="zh-CN" sz="2800" b="1" dirty="0">
                <a:solidFill>
                  <a:srgbClr val="FF0000"/>
                </a:solidFill>
                <a:latin typeface="Times New Roman" panose="02020603050405020304" pitchFamily="18" charset="0"/>
              </a:rPr>
              <a:t>(n+4) </a:t>
            </a:r>
            <a:r>
              <a:rPr lang="en-US" altLang="zh-CN" sz="2800" b="1" dirty="0">
                <a:latin typeface="Times New Roman" panose="02020603050405020304" pitchFamily="18" charset="0"/>
              </a:rPr>
              <a:t>amino acid away. 	</a:t>
            </a:r>
            <a:endParaRPr lang="en-US" altLang="zh-CN" sz="2400" dirty="0">
              <a:latin typeface="Times New Roman" panose="02020603050405020304" pitchFamily="18" charset="0"/>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1730" name="Picture 2" descr="2-helix">
            <a:extLst>
              <a:ext uri="{FF2B5EF4-FFF2-40B4-BE49-F238E27FC236}">
                <a16:creationId xmlns:a16="http://schemas.microsoft.com/office/drawing/2014/main" id="{669759A4-E6E8-43E2-A549-498625BF375B}"/>
              </a:ext>
            </a:extLst>
          </p:cNvPr>
          <p:cNvPicPr>
            <a:picLocks noChangeAspect="1" noChangeArrowheads="1"/>
          </p:cNvPicPr>
          <p:nvPr/>
        </p:nvPicPr>
        <p:blipFill>
          <a:blip r:embed="rId3">
            <a:lum contrast="18000"/>
            <a:extLst>
              <a:ext uri="{28A0092B-C50C-407E-A947-70E740481C1C}">
                <a14:useLocalDpi xmlns:a14="http://schemas.microsoft.com/office/drawing/2010/main" val="0"/>
              </a:ext>
            </a:extLst>
          </a:blip>
          <a:srcRect/>
          <a:stretch>
            <a:fillRect/>
          </a:stretch>
        </p:blipFill>
        <p:spPr bwMode="auto">
          <a:xfrm>
            <a:off x="1525588" y="76200"/>
            <a:ext cx="6311900" cy="678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491E62C8-4EA2-4A89-A7FA-EED417085F2D}"/>
              </a:ext>
            </a:extLst>
          </p:cNvPr>
          <p:cNvSpPr txBox="1"/>
          <p:nvPr/>
        </p:nvSpPr>
        <p:spPr>
          <a:xfrm>
            <a:off x="7164288" y="1844824"/>
            <a:ext cx="382116" cy="369332"/>
          </a:xfrm>
          <a:prstGeom prst="rect">
            <a:avLst/>
          </a:prstGeom>
          <a:noFill/>
        </p:spPr>
        <p:txBody>
          <a:bodyPr wrap="square" rtlCol="0">
            <a:spAutoFit/>
          </a:bodyPr>
          <a:lstStyle/>
          <a:p>
            <a:r>
              <a:rPr lang="en-US" altLang="zh-CN" dirty="0"/>
              <a:t>n</a:t>
            </a:r>
            <a:endParaRPr lang="zh-CN" altLang="en-US" dirty="0"/>
          </a:p>
        </p:txBody>
      </p:sp>
      <p:sp>
        <p:nvSpPr>
          <p:cNvPr id="4" name="文本框 3">
            <a:extLst>
              <a:ext uri="{FF2B5EF4-FFF2-40B4-BE49-F238E27FC236}">
                <a16:creationId xmlns:a16="http://schemas.microsoft.com/office/drawing/2014/main" id="{C287ACEA-F427-4F16-AEC4-459CCD4FB0B9}"/>
              </a:ext>
            </a:extLst>
          </p:cNvPr>
          <p:cNvSpPr txBox="1"/>
          <p:nvPr/>
        </p:nvSpPr>
        <p:spPr>
          <a:xfrm>
            <a:off x="6855135" y="3635732"/>
            <a:ext cx="618305" cy="369332"/>
          </a:xfrm>
          <a:prstGeom prst="rect">
            <a:avLst/>
          </a:prstGeom>
          <a:noFill/>
        </p:spPr>
        <p:txBody>
          <a:bodyPr wrap="square" rtlCol="0">
            <a:spAutoFit/>
          </a:bodyPr>
          <a:lstStyle/>
          <a:p>
            <a:r>
              <a:rPr lang="en-US" altLang="zh-CN" dirty="0"/>
              <a:t>n+4</a:t>
            </a:r>
            <a:endParaRPr lang="zh-CN" altLang="en-US" dirty="0"/>
          </a:p>
        </p:txBody>
      </p:sp>
      <p:sp>
        <p:nvSpPr>
          <p:cNvPr id="5" name="文本框 4">
            <a:extLst>
              <a:ext uri="{FF2B5EF4-FFF2-40B4-BE49-F238E27FC236}">
                <a16:creationId xmlns:a16="http://schemas.microsoft.com/office/drawing/2014/main" id="{6B89B6C2-E906-4F34-B629-E9E990BCCA7F}"/>
              </a:ext>
            </a:extLst>
          </p:cNvPr>
          <p:cNvSpPr txBox="1"/>
          <p:nvPr/>
        </p:nvSpPr>
        <p:spPr>
          <a:xfrm>
            <a:off x="2843808" y="2420888"/>
            <a:ext cx="382116" cy="369332"/>
          </a:xfrm>
          <a:prstGeom prst="rect">
            <a:avLst/>
          </a:prstGeom>
          <a:noFill/>
        </p:spPr>
        <p:txBody>
          <a:bodyPr wrap="square" rtlCol="0">
            <a:spAutoFit/>
          </a:bodyPr>
          <a:lstStyle/>
          <a:p>
            <a:r>
              <a:rPr lang="en-US" altLang="zh-CN" dirty="0"/>
              <a:t>n</a:t>
            </a:r>
            <a:endParaRPr lang="zh-CN" altLang="en-US" dirty="0"/>
          </a:p>
        </p:txBody>
      </p:sp>
      <p:sp>
        <p:nvSpPr>
          <p:cNvPr id="6" name="文本框 5">
            <a:extLst>
              <a:ext uri="{FF2B5EF4-FFF2-40B4-BE49-F238E27FC236}">
                <a16:creationId xmlns:a16="http://schemas.microsoft.com/office/drawing/2014/main" id="{4D48208D-7D20-4F48-9655-F8962D3A50CB}"/>
              </a:ext>
            </a:extLst>
          </p:cNvPr>
          <p:cNvSpPr txBox="1"/>
          <p:nvPr/>
        </p:nvSpPr>
        <p:spPr>
          <a:xfrm>
            <a:off x="2627784" y="4067780"/>
            <a:ext cx="659245" cy="369332"/>
          </a:xfrm>
          <a:prstGeom prst="rect">
            <a:avLst/>
          </a:prstGeom>
          <a:noFill/>
        </p:spPr>
        <p:txBody>
          <a:bodyPr wrap="square" rtlCol="0">
            <a:spAutoFit/>
          </a:bodyPr>
          <a:lstStyle/>
          <a:p>
            <a:r>
              <a:rPr lang="en-US" altLang="zh-CN" dirty="0"/>
              <a:t>n+4</a:t>
            </a:r>
            <a:endParaRPr lang="zh-CN" altLang="en-US"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A0423D7-B88E-CDBB-C1CD-8B851047E0A0}"/>
              </a:ext>
            </a:extLst>
          </p:cNvPr>
          <p:cNvPicPr>
            <a:picLocks noChangeAspect="1"/>
          </p:cNvPicPr>
          <p:nvPr/>
        </p:nvPicPr>
        <p:blipFill>
          <a:blip r:embed="rId3"/>
          <a:stretch>
            <a:fillRect/>
          </a:stretch>
        </p:blipFill>
        <p:spPr>
          <a:xfrm>
            <a:off x="323528" y="1628800"/>
            <a:ext cx="2682114" cy="3161729"/>
          </a:xfrm>
          <a:prstGeom prst="rect">
            <a:avLst/>
          </a:prstGeom>
        </p:spPr>
      </p:pic>
      <p:pic>
        <p:nvPicPr>
          <p:cNvPr id="4" name="图片 3">
            <a:extLst>
              <a:ext uri="{FF2B5EF4-FFF2-40B4-BE49-F238E27FC236}">
                <a16:creationId xmlns:a16="http://schemas.microsoft.com/office/drawing/2014/main" id="{78FDBBB2-F273-F49D-5F8A-A284094A6148}"/>
              </a:ext>
            </a:extLst>
          </p:cNvPr>
          <p:cNvPicPr>
            <a:picLocks noChangeAspect="1"/>
          </p:cNvPicPr>
          <p:nvPr/>
        </p:nvPicPr>
        <p:blipFill>
          <a:blip r:embed="rId4"/>
          <a:stretch>
            <a:fillRect/>
          </a:stretch>
        </p:blipFill>
        <p:spPr>
          <a:xfrm>
            <a:off x="3491880" y="764704"/>
            <a:ext cx="4988813" cy="4509120"/>
          </a:xfrm>
          <a:prstGeom prst="rect">
            <a:avLst/>
          </a:prstGeom>
        </p:spPr>
      </p:pic>
      <p:sp>
        <p:nvSpPr>
          <p:cNvPr id="8" name="文本框 7">
            <a:extLst>
              <a:ext uri="{FF2B5EF4-FFF2-40B4-BE49-F238E27FC236}">
                <a16:creationId xmlns:a16="http://schemas.microsoft.com/office/drawing/2014/main" id="{4BAA319D-E5CA-009F-6472-241CC7F9E29E}"/>
              </a:ext>
            </a:extLst>
          </p:cNvPr>
          <p:cNvSpPr txBox="1"/>
          <p:nvPr/>
        </p:nvSpPr>
        <p:spPr>
          <a:xfrm>
            <a:off x="3707904" y="5589240"/>
            <a:ext cx="3744416" cy="461665"/>
          </a:xfrm>
          <a:prstGeom prst="rect">
            <a:avLst/>
          </a:prstGeom>
          <a:noFill/>
        </p:spPr>
        <p:txBody>
          <a:bodyPr wrap="square">
            <a:spAutoFit/>
          </a:bodyPr>
          <a:lstStyle/>
          <a:p>
            <a:r>
              <a:rPr lang="en-US" altLang="zh-CN" sz="2400" b="1" i="0" dirty="0">
                <a:solidFill>
                  <a:srgbClr val="000000"/>
                </a:solidFill>
                <a:effectLst/>
                <a:latin typeface="TimesNewRomanPS-BoldMT"/>
              </a:rPr>
              <a:t>Hydrogen bonding in ice </a:t>
            </a:r>
            <a:endParaRPr lang="zh-CN" altLang="en-US" sz="2400" dirty="0"/>
          </a:p>
        </p:txBody>
      </p:sp>
    </p:spTree>
    <p:extLst>
      <p:ext uri="{BB962C8B-B14F-4D97-AF65-F5344CB8AC3E}">
        <p14:creationId xmlns:p14="http://schemas.microsoft.com/office/powerpoint/2010/main" val="164549404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0041FE9-0B59-CB30-6604-68356A85BA93}"/>
              </a:ext>
            </a:extLst>
          </p:cNvPr>
          <p:cNvPicPr>
            <a:picLocks noChangeAspect="1"/>
          </p:cNvPicPr>
          <p:nvPr/>
        </p:nvPicPr>
        <p:blipFill>
          <a:blip r:embed="rId3"/>
          <a:stretch>
            <a:fillRect/>
          </a:stretch>
        </p:blipFill>
        <p:spPr>
          <a:xfrm>
            <a:off x="107504" y="1372333"/>
            <a:ext cx="8207896" cy="2576970"/>
          </a:xfrm>
          <a:prstGeom prst="rect">
            <a:avLst/>
          </a:prstGeom>
        </p:spPr>
      </p:pic>
      <p:sp>
        <p:nvSpPr>
          <p:cNvPr id="7" name="文本框 6">
            <a:extLst>
              <a:ext uri="{FF2B5EF4-FFF2-40B4-BE49-F238E27FC236}">
                <a16:creationId xmlns:a16="http://schemas.microsoft.com/office/drawing/2014/main" id="{7CD056FC-46E7-1D6C-5477-7FE3B025C99D}"/>
              </a:ext>
            </a:extLst>
          </p:cNvPr>
          <p:cNvSpPr txBox="1"/>
          <p:nvPr/>
        </p:nvSpPr>
        <p:spPr>
          <a:xfrm>
            <a:off x="2123728" y="5013176"/>
            <a:ext cx="5472608" cy="830997"/>
          </a:xfrm>
          <a:prstGeom prst="rect">
            <a:avLst/>
          </a:prstGeom>
          <a:noFill/>
        </p:spPr>
        <p:txBody>
          <a:bodyPr wrap="square">
            <a:spAutoFit/>
          </a:bodyPr>
          <a:lstStyle/>
          <a:p>
            <a:r>
              <a:rPr lang="en-US" altLang="zh-CN" sz="2400" b="1" i="0" dirty="0">
                <a:solidFill>
                  <a:srgbClr val="000000"/>
                </a:solidFill>
                <a:effectLst/>
                <a:latin typeface="TimesNewRomanPS-BoldMT"/>
              </a:rPr>
              <a:t>Common hydrogen bonds in biological systems</a:t>
            </a:r>
            <a:endParaRPr lang="zh-CN" altLang="en-US" sz="2400" dirty="0"/>
          </a:p>
        </p:txBody>
      </p:sp>
    </p:spTree>
    <p:extLst>
      <p:ext uri="{BB962C8B-B14F-4D97-AF65-F5344CB8AC3E}">
        <p14:creationId xmlns:p14="http://schemas.microsoft.com/office/powerpoint/2010/main" val="342935257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3298" name="Picture 2">
            <a:extLst>
              <a:ext uri="{FF2B5EF4-FFF2-40B4-BE49-F238E27FC236}">
                <a16:creationId xmlns:a16="http://schemas.microsoft.com/office/drawing/2014/main" id="{D0712A1C-9831-4CFB-BA9D-69879BECC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245592"/>
            <a:ext cx="8026400" cy="391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直接连接符 7">
            <a:extLst>
              <a:ext uri="{FF2B5EF4-FFF2-40B4-BE49-F238E27FC236}">
                <a16:creationId xmlns:a16="http://schemas.microsoft.com/office/drawing/2014/main" id="{90B8297B-6A99-47D5-8BD8-B24EB47D672F}"/>
              </a:ext>
            </a:extLst>
          </p:cNvPr>
          <p:cNvCxnSpPr/>
          <p:nvPr/>
        </p:nvCxnSpPr>
        <p:spPr>
          <a:xfrm>
            <a:off x="2267744" y="4365104"/>
            <a:ext cx="0" cy="504056"/>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15" name="组合 14">
            <a:extLst>
              <a:ext uri="{FF2B5EF4-FFF2-40B4-BE49-F238E27FC236}">
                <a16:creationId xmlns:a16="http://schemas.microsoft.com/office/drawing/2014/main" id="{B79A3F99-0725-462B-BF36-89749682CB71}"/>
              </a:ext>
            </a:extLst>
          </p:cNvPr>
          <p:cNvGrpSpPr/>
          <p:nvPr/>
        </p:nvGrpSpPr>
        <p:grpSpPr>
          <a:xfrm>
            <a:off x="2267744" y="3356992"/>
            <a:ext cx="4608512" cy="1512168"/>
            <a:chOff x="2267744" y="3356992"/>
            <a:chExt cx="4608512" cy="1512168"/>
          </a:xfrm>
        </p:grpSpPr>
        <p:cxnSp>
          <p:nvCxnSpPr>
            <p:cNvPr id="10" name="直接连接符 9">
              <a:extLst>
                <a:ext uri="{FF2B5EF4-FFF2-40B4-BE49-F238E27FC236}">
                  <a16:creationId xmlns:a16="http://schemas.microsoft.com/office/drawing/2014/main" id="{54DFCACA-4D07-4F97-8E06-6483BBBE63C2}"/>
                </a:ext>
              </a:extLst>
            </p:cNvPr>
            <p:cNvCxnSpPr>
              <a:cxnSpLocks/>
            </p:cNvCxnSpPr>
            <p:nvPr/>
          </p:nvCxnSpPr>
          <p:spPr>
            <a:xfrm>
              <a:off x="2267744" y="4869160"/>
              <a:ext cx="460851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EDA08675-5F97-43D3-A793-902A96F1B36B}"/>
                </a:ext>
              </a:extLst>
            </p:cNvPr>
            <p:cNvCxnSpPr>
              <a:cxnSpLocks/>
            </p:cNvCxnSpPr>
            <p:nvPr/>
          </p:nvCxnSpPr>
          <p:spPr>
            <a:xfrm>
              <a:off x="6876256" y="3356992"/>
              <a:ext cx="0" cy="1512168"/>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F8B9EE61-FF9F-47D0-B8CE-CD080138FF66}"/>
              </a:ext>
            </a:extLst>
          </p:cNvPr>
          <p:cNvSpPr txBox="1"/>
          <p:nvPr/>
        </p:nvSpPr>
        <p:spPr>
          <a:xfrm>
            <a:off x="2092896" y="5003884"/>
            <a:ext cx="360040" cy="523220"/>
          </a:xfrm>
          <a:prstGeom prst="rect">
            <a:avLst/>
          </a:prstGeom>
          <a:noFill/>
        </p:spPr>
        <p:txBody>
          <a:bodyPr wrap="square" rtlCol="0">
            <a:spAutoFit/>
          </a:bodyPr>
          <a:lstStyle/>
          <a:p>
            <a:r>
              <a:rPr lang="en-US" altLang="zh-CN" sz="2800" dirty="0">
                <a:solidFill>
                  <a:srgbClr val="0070C0"/>
                </a:solidFill>
              </a:rPr>
              <a:t>n</a:t>
            </a:r>
            <a:endParaRPr lang="zh-CN" altLang="en-US" sz="2800" dirty="0">
              <a:solidFill>
                <a:srgbClr val="0070C0"/>
              </a:solidFill>
            </a:endParaRPr>
          </a:p>
        </p:txBody>
      </p:sp>
      <p:sp>
        <p:nvSpPr>
          <p:cNvPr id="9" name="文本框 8">
            <a:extLst>
              <a:ext uri="{FF2B5EF4-FFF2-40B4-BE49-F238E27FC236}">
                <a16:creationId xmlns:a16="http://schemas.microsoft.com/office/drawing/2014/main" id="{CD32EC15-D534-4949-8E43-DE23819183AD}"/>
              </a:ext>
            </a:extLst>
          </p:cNvPr>
          <p:cNvSpPr txBox="1"/>
          <p:nvPr/>
        </p:nvSpPr>
        <p:spPr>
          <a:xfrm>
            <a:off x="6444211" y="5013176"/>
            <a:ext cx="1224133" cy="523220"/>
          </a:xfrm>
          <a:prstGeom prst="rect">
            <a:avLst/>
          </a:prstGeom>
          <a:noFill/>
        </p:spPr>
        <p:txBody>
          <a:bodyPr wrap="square" rtlCol="0">
            <a:spAutoFit/>
          </a:bodyPr>
          <a:lstStyle/>
          <a:p>
            <a:r>
              <a:rPr lang="en-US" altLang="zh-CN" sz="2800" dirty="0">
                <a:solidFill>
                  <a:srgbClr val="0070C0"/>
                </a:solidFill>
              </a:rPr>
              <a:t>n+4</a:t>
            </a:r>
            <a:endParaRPr lang="zh-CN" altLang="en-US" sz="2800" dirty="0">
              <a:solidFill>
                <a:srgbClr val="0070C0"/>
              </a:solidFill>
            </a:endParaRPr>
          </a:p>
        </p:txBody>
      </p:sp>
    </p:spTree>
    <p:extLst>
      <p:ext uri="{BB962C8B-B14F-4D97-AF65-F5344CB8AC3E}">
        <p14:creationId xmlns:p14="http://schemas.microsoft.com/office/powerpoint/2010/main" val="3704534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3778" name="Picture 2">
            <a:extLst>
              <a:ext uri="{FF2B5EF4-FFF2-40B4-BE49-F238E27FC236}">
                <a16:creationId xmlns:a16="http://schemas.microsoft.com/office/drawing/2014/main" id="{E0836180-D429-4987-90D3-A21936BC99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3900" y="711200"/>
            <a:ext cx="5156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826" name="Picture 2">
            <a:extLst>
              <a:ext uri="{FF2B5EF4-FFF2-40B4-BE49-F238E27FC236}">
                <a16:creationId xmlns:a16="http://schemas.microsoft.com/office/drawing/2014/main" id="{8DEB880F-5D18-4B58-BAD9-FA6B44A5A7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4300" y="711200"/>
            <a:ext cx="12954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874" name="Picture 2">
            <a:extLst>
              <a:ext uri="{FF2B5EF4-FFF2-40B4-BE49-F238E27FC236}">
                <a16:creationId xmlns:a16="http://schemas.microsoft.com/office/drawing/2014/main" id="{D6F29E2C-E54B-4265-8457-9C87A1A8B3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3650" y="711200"/>
            <a:ext cx="40767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Text Box 2">
            <a:extLst>
              <a:ext uri="{FF2B5EF4-FFF2-40B4-BE49-F238E27FC236}">
                <a16:creationId xmlns:a16="http://schemas.microsoft.com/office/drawing/2014/main" id="{C6BF7925-F03B-488F-A2A7-2CF1A932B030}"/>
              </a:ext>
            </a:extLst>
          </p:cNvPr>
          <p:cNvSpPr txBox="1">
            <a:spLocks noChangeArrowheads="1"/>
          </p:cNvSpPr>
          <p:nvPr/>
        </p:nvSpPr>
        <p:spPr bwMode="auto">
          <a:xfrm>
            <a:off x="914400" y="685800"/>
            <a:ext cx="7620000" cy="58594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2.3 </a:t>
            </a:r>
            <a:r>
              <a:rPr lang="en-US" altLang="zh-CN" sz="2800" b="1" dirty="0">
                <a:solidFill>
                  <a:srgbClr val="FF0000"/>
                </a:solidFill>
                <a:latin typeface="Symbol" panose="05050102010706020507" pitchFamily="18" charset="2"/>
              </a:rPr>
              <a:t>b</a:t>
            </a:r>
            <a:r>
              <a:rPr lang="en-US" altLang="zh-CN" sz="2800" b="1" dirty="0">
                <a:solidFill>
                  <a:srgbClr val="FF0000"/>
                </a:solidFill>
                <a:latin typeface="Times New Roman" panose="02020603050405020304" pitchFamily="18" charset="0"/>
              </a:rPr>
              <a:t>-pleated sheet</a:t>
            </a:r>
            <a:r>
              <a:rPr lang="en-US" altLang="zh-CN" sz="2800" b="1" dirty="0">
                <a:latin typeface="Times New Roman" panose="02020603050405020304" pitchFamily="18" charset="0"/>
              </a:rPr>
              <a:t> (or </a:t>
            </a:r>
            <a:r>
              <a:rPr lang="en-US" altLang="zh-CN" sz="2800" b="1" dirty="0">
                <a:latin typeface="Symbol" panose="05050102010706020507" pitchFamily="18" charset="2"/>
              </a:rPr>
              <a:t>b </a:t>
            </a:r>
            <a:r>
              <a:rPr lang="en-US" altLang="zh-CN" sz="2800" b="1" dirty="0">
                <a:latin typeface="Times New Roman" panose="02020603050405020304" pitchFamily="18" charset="0"/>
              </a:rPr>
              <a:t>conformation) was proposed to be the more extended conformation of the polypeptide chain.</a:t>
            </a:r>
          </a:p>
          <a:p>
            <a:pPr eaLnBrk="1" hangingPunct="1">
              <a:spcBef>
                <a:spcPct val="50000"/>
              </a:spcBef>
              <a:buClrTx/>
              <a:buSzTx/>
              <a:buFontTx/>
              <a:buNone/>
            </a:pPr>
            <a:r>
              <a:rPr lang="en-US" altLang="zh-CN" sz="2800" b="1" dirty="0">
                <a:latin typeface="Times New Roman" panose="02020603050405020304" pitchFamily="18" charset="0"/>
              </a:rPr>
              <a:t>	2.3.1 The conformation is formed when two or more almost fully extended polypeptide chains are brought together side by side.</a:t>
            </a:r>
          </a:p>
          <a:p>
            <a:pPr eaLnBrk="1" hangingPunct="1">
              <a:spcBef>
                <a:spcPct val="50000"/>
              </a:spcBef>
              <a:buClrTx/>
              <a:buSzTx/>
              <a:buFontTx/>
              <a:buNone/>
            </a:pPr>
            <a:r>
              <a:rPr lang="en-US" altLang="zh-CN" sz="2800" b="1" dirty="0">
                <a:latin typeface="Times New Roman" panose="02020603050405020304" pitchFamily="18" charset="0"/>
              </a:rPr>
              <a:t>	2.3.2 Regular hydrogen bonds are formed between the carbonyl oxygen and amide hydrogen between adjacent chains (look like a zipper).</a:t>
            </a:r>
          </a:p>
          <a:p>
            <a:pPr eaLnBrk="1" hangingPunct="1">
              <a:spcBef>
                <a:spcPct val="50000"/>
              </a:spcBef>
              <a:buClrTx/>
              <a:buSzTx/>
              <a:buFontTx/>
              <a:buNone/>
            </a:pPr>
            <a:r>
              <a:rPr lang="en-US" altLang="zh-CN" sz="2800" b="1" dirty="0">
                <a:latin typeface="Times New Roman" panose="02020603050405020304" pitchFamily="18" charset="0"/>
              </a:rPr>
              <a:t>	2.3.3 The axial distance between the adjacent amino acid residues is ~3.5 Angstroms.</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Text Box 2">
            <a:extLst>
              <a:ext uri="{FF2B5EF4-FFF2-40B4-BE49-F238E27FC236}">
                <a16:creationId xmlns:a16="http://schemas.microsoft.com/office/drawing/2014/main" id="{A455B8BC-06ED-40F2-BBC2-846C36DC2ABA}"/>
              </a:ext>
            </a:extLst>
          </p:cNvPr>
          <p:cNvSpPr txBox="1">
            <a:spLocks noChangeArrowheads="1"/>
          </p:cNvSpPr>
          <p:nvPr/>
        </p:nvSpPr>
        <p:spPr bwMode="auto">
          <a:xfrm>
            <a:off x="838200" y="685800"/>
            <a:ext cx="7620000" cy="350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a:latin typeface="Times New Roman" panose="02020603050405020304" pitchFamily="18" charset="0"/>
              </a:rPr>
              <a:t>	</a:t>
            </a:r>
            <a:r>
              <a:rPr lang="en-US" altLang="zh-CN" sz="2800" b="1">
                <a:latin typeface="Times New Roman" panose="02020603050405020304" pitchFamily="18" charset="0"/>
              </a:rPr>
              <a:t>2.3.4 The planes of the peptide bonds arrange as pleated sheets.</a:t>
            </a:r>
          </a:p>
          <a:p>
            <a:pPr eaLnBrk="1" hangingPunct="1">
              <a:spcBef>
                <a:spcPct val="50000"/>
              </a:spcBef>
              <a:buClrTx/>
              <a:buSzTx/>
              <a:buFontTx/>
              <a:buNone/>
            </a:pPr>
            <a:r>
              <a:rPr lang="en-US" altLang="zh-CN" sz="2800" b="1">
                <a:latin typeface="Times New Roman" panose="02020603050405020304" pitchFamily="18" charset="0"/>
              </a:rPr>
              <a:t>	2.3.5 The R groups of adjacent residues protrude in opposite directions.</a:t>
            </a:r>
          </a:p>
          <a:p>
            <a:pPr eaLnBrk="1" hangingPunct="1">
              <a:spcBef>
                <a:spcPct val="50000"/>
              </a:spcBef>
              <a:buClrTx/>
              <a:buSzTx/>
              <a:buFontTx/>
              <a:buNone/>
            </a:pPr>
            <a:r>
              <a:rPr lang="en-US" altLang="zh-CN" sz="2800" b="1">
                <a:latin typeface="Times New Roman" panose="02020603050405020304" pitchFamily="18" charset="0"/>
              </a:rPr>
              <a:t>	2.3.6 The adjacent polypeptide chains can be either parallel (the same direction) or antiparallel (the opposite direction).</a:t>
            </a:r>
            <a:endParaRPr lang="en-US" altLang="zh-CN" sz="2400">
              <a:latin typeface="Times New Roman" panose="02020603050405020304" pitchFamily="18" charset="0"/>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1970" name="Picture 2">
            <a:extLst>
              <a:ext uri="{FF2B5EF4-FFF2-40B4-BE49-F238E27FC236}">
                <a16:creationId xmlns:a16="http://schemas.microsoft.com/office/drawing/2014/main" id="{EB52C7F6-05B6-470D-8844-81B0EBED67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3513"/>
            <a:ext cx="7772400" cy="616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4018" name="Picture 2">
            <a:extLst>
              <a:ext uri="{FF2B5EF4-FFF2-40B4-BE49-F238E27FC236}">
                <a16:creationId xmlns:a16="http://schemas.microsoft.com/office/drawing/2014/main" id="{FEF0F770-5D33-4622-A2CF-D6DD9889AD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04800"/>
            <a:ext cx="7391400" cy="617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0685FC9-706A-1C38-C0A9-CBAEF2C180C9}"/>
              </a:ext>
            </a:extLst>
          </p:cNvPr>
          <p:cNvPicPr>
            <a:picLocks noChangeAspect="1"/>
          </p:cNvPicPr>
          <p:nvPr/>
        </p:nvPicPr>
        <p:blipFill>
          <a:blip r:embed="rId2"/>
          <a:stretch>
            <a:fillRect/>
          </a:stretch>
        </p:blipFill>
        <p:spPr>
          <a:xfrm>
            <a:off x="1528910" y="0"/>
            <a:ext cx="6086180" cy="6858000"/>
          </a:xfrm>
          <a:prstGeom prst="rect">
            <a:avLst/>
          </a:prstGeom>
        </p:spPr>
      </p:pic>
    </p:spTree>
    <p:extLst>
      <p:ext uri="{BB962C8B-B14F-4D97-AF65-F5344CB8AC3E}">
        <p14:creationId xmlns:p14="http://schemas.microsoft.com/office/powerpoint/2010/main" val="145311340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Text Box 2">
            <a:extLst>
              <a:ext uri="{FF2B5EF4-FFF2-40B4-BE49-F238E27FC236}">
                <a16:creationId xmlns:a16="http://schemas.microsoft.com/office/drawing/2014/main" id="{216E2EF6-6E34-4192-BA8E-6B6D4F9A6C36}"/>
              </a:ext>
            </a:extLst>
          </p:cNvPr>
          <p:cNvSpPr txBox="1">
            <a:spLocks noChangeArrowheads="1"/>
          </p:cNvSpPr>
          <p:nvPr/>
        </p:nvSpPr>
        <p:spPr bwMode="auto">
          <a:xfrm>
            <a:off x="152400" y="168275"/>
            <a:ext cx="8915400" cy="15859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80000"/>
              </a:lnSpc>
              <a:spcBef>
                <a:spcPct val="30000"/>
              </a:spcBef>
              <a:buClrTx/>
              <a:buSzTx/>
              <a:buFontTx/>
              <a:buNone/>
            </a:pPr>
            <a:r>
              <a:rPr lang="en-US" altLang="zh-CN" sz="2800" b="1" dirty="0">
                <a:latin typeface="Times New Roman" panose="02020603050405020304" pitchFamily="18" charset="0"/>
              </a:rPr>
              <a:t>2.4 </a:t>
            </a:r>
            <a:r>
              <a:rPr lang="en-US" altLang="zh-CN" sz="2800" b="1" dirty="0">
                <a:solidFill>
                  <a:srgbClr val="FF0066"/>
                </a:solidFill>
                <a:latin typeface="Symbol" panose="05050102010706020507" pitchFamily="18" charset="2"/>
              </a:rPr>
              <a:t>b</a:t>
            </a:r>
            <a:r>
              <a:rPr lang="en-US" altLang="zh-CN" sz="2800" b="1" dirty="0">
                <a:solidFill>
                  <a:srgbClr val="FF0066"/>
                </a:solidFill>
                <a:latin typeface="Times New Roman" panose="02020603050405020304" pitchFamily="18" charset="0"/>
              </a:rPr>
              <a:t> turn (</a:t>
            </a:r>
            <a:r>
              <a:rPr lang="en-US" altLang="zh-CN" sz="2800" b="1" dirty="0">
                <a:solidFill>
                  <a:srgbClr val="FF0066"/>
                </a:solidFill>
                <a:latin typeface="Symbol" panose="05050102010706020507" pitchFamily="18" charset="2"/>
              </a:rPr>
              <a:t>b</a:t>
            </a:r>
            <a:r>
              <a:rPr lang="en-US" altLang="zh-CN" sz="2800" b="1" dirty="0">
                <a:solidFill>
                  <a:srgbClr val="FF0066"/>
                </a:solidFill>
                <a:latin typeface="Times New Roman" panose="02020603050405020304" pitchFamily="18" charset="0"/>
              </a:rPr>
              <a:t> -bend or hairpin</a:t>
            </a:r>
            <a:r>
              <a:rPr lang="zh-CN" altLang="en-US" sz="2800" b="1" dirty="0">
                <a:solidFill>
                  <a:srgbClr val="FF0066"/>
                </a:solidFill>
                <a:latin typeface="Times New Roman" panose="02020603050405020304" pitchFamily="18" charset="0"/>
              </a:rPr>
              <a:t>发卡 </a:t>
            </a:r>
            <a:r>
              <a:rPr lang="en-US" altLang="zh-CN" sz="2800" b="1" dirty="0">
                <a:solidFill>
                  <a:srgbClr val="FF0066"/>
                </a:solidFill>
                <a:latin typeface="Times New Roman" panose="02020603050405020304" pitchFamily="18" charset="0"/>
              </a:rPr>
              <a:t>turn)</a:t>
            </a:r>
            <a:r>
              <a:rPr lang="en-US" altLang="zh-CN" sz="2800" b="1" dirty="0">
                <a:latin typeface="Times New Roman" panose="02020603050405020304" pitchFamily="18" charset="0"/>
              </a:rPr>
              <a:t> is also a common secondary structure found where a polypeptide chain abruptly reverses its direction.	</a:t>
            </a:r>
          </a:p>
          <a:p>
            <a:pPr eaLnBrk="1" hangingPunct="1">
              <a:lnSpc>
                <a:spcPct val="80000"/>
              </a:lnSpc>
              <a:spcBef>
                <a:spcPct val="30000"/>
              </a:spcBef>
              <a:buClrTx/>
              <a:buSzTx/>
              <a:buFontTx/>
              <a:buNone/>
            </a:pPr>
            <a:r>
              <a:rPr lang="en-US" altLang="zh-CN" sz="2800" b="1" dirty="0">
                <a:latin typeface="Times New Roman" panose="02020603050405020304" pitchFamily="18" charset="0"/>
              </a:rPr>
              <a:t>	</a:t>
            </a:r>
          </a:p>
        </p:txBody>
      </p:sp>
      <p:pic>
        <p:nvPicPr>
          <p:cNvPr id="3" name="图片 2">
            <a:extLst>
              <a:ext uri="{FF2B5EF4-FFF2-40B4-BE49-F238E27FC236}">
                <a16:creationId xmlns:a16="http://schemas.microsoft.com/office/drawing/2014/main" id="{8C34E5FF-5002-F025-66FE-FE80C5CA182C}"/>
              </a:ext>
            </a:extLst>
          </p:cNvPr>
          <p:cNvPicPr>
            <a:picLocks noChangeAspect="1"/>
          </p:cNvPicPr>
          <p:nvPr/>
        </p:nvPicPr>
        <p:blipFill>
          <a:blip r:embed="rId3"/>
          <a:stretch>
            <a:fillRect/>
          </a:stretch>
        </p:blipFill>
        <p:spPr>
          <a:xfrm>
            <a:off x="251520" y="2285796"/>
            <a:ext cx="3979089" cy="4134792"/>
          </a:xfrm>
          <a:prstGeom prst="rect">
            <a:avLst/>
          </a:prstGeom>
        </p:spPr>
      </p:pic>
      <p:pic>
        <p:nvPicPr>
          <p:cNvPr id="5" name="图片 4">
            <a:extLst>
              <a:ext uri="{FF2B5EF4-FFF2-40B4-BE49-F238E27FC236}">
                <a16:creationId xmlns:a16="http://schemas.microsoft.com/office/drawing/2014/main" id="{AD3D23EC-31C1-DA79-4F0C-B5F9E5FDCAF7}"/>
              </a:ext>
            </a:extLst>
          </p:cNvPr>
          <p:cNvPicPr>
            <a:picLocks noChangeAspect="1"/>
          </p:cNvPicPr>
          <p:nvPr/>
        </p:nvPicPr>
        <p:blipFill>
          <a:blip r:embed="rId4"/>
          <a:stretch>
            <a:fillRect/>
          </a:stretch>
        </p:blipFill>
        <p:spPr>
          <a:xfrm>
            <a:off x="4544400" y="2132856"/>
            <a:ext cx="4024946" cy="4322012"/>
          </a:xfrm>
          <a:prstGeom prst="rect">
            <a:avLst/>
          </a:prstGeom>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45E1C59-C75D-A903-8422-3AED0EC314D4}"/>
              </a:ext>
            </a:extLst>
          </p:cNvPr>
          <p:cNvPicPr>
            <a:picLocks noChangeAspect="1"/>
          </p:cNvPicPr>
          <p:nvPr/>
        </p:nvPicPr>
        <p:blipFill>
          <a:blip r:embed="rId3"/>
          <a:stretch>
            <a:fillRect/>
          </a:stretch>
        </p:blipFill>
        <p:spPr>
          <a:xfrm>
            <a:off x="899592" y="1611720"/>
            <a:ext cx="7572550" cy="3634560"/>
          </a:xfrm>
          <a:prstGeom prst="rect">
            <a:avLst/>
          </a:prstGeom>
        </p:spPr>
      </p:pic>
      <p:sp>
        <p:nvSpPr>
          <p:cNvPr id="4" name="文本框 3">
            <a:extLst>
              <a:ext uri="{FF2B5EF4-FFF2-40B4-BE49-F238E27FC236}">
                <a16:creationId xmlns:a16="http://schemas.microsoft.com/office/drawing/2014/main" id="{CAD1DFAD-CD66-8710-475E-DE8C618480FE}"/>
              </a:ext>
            </a:extLst>
          </p:cNvPr>
          <p:cNvSpPr txBox="1"/>
          <p:nvPr/>
        </p:nvSpPr>
        <p:spPr>
          <a:xfrm>
            <a:off x="4133418" y="5877272"/>
            <a:ext cx="1414170" cy="584775"/>
          </a:xfrm>
          <a:prstGeom prst="rect">
            <a:avLst/>
          </a:prstGeom>
          <a:noFill/>
        </p:spPr>
        <p:txBody>
          <a:bodyPr wrap="none" rtlCol="0">
            <a:spAutoFit/>
          </a:bodyPr>
          <a:lstStyle/>
          <a:p>
            <a:r>
              <a:rPr lang="en-US" altLang="zh-CN" sz="3200" dirty="0"/>
              <a:t>proline</a:t>
            </a:r>
            <a:endParaRPr lang="zh-CN" altLang="en-US" sz="3200" dirty="0"/>
          </a:p>
        </p:txBody>
      </p:sp>
    </p:spTree>
    <p:extLst>
      <p:ext uri="{BB962C8B-B14F-4D97-AF65-F5344CB8AC3E}">
        <p14:creationId xmlns:p14="http://schemas.microsoft.com/office/powerpoint/2010/main" val="210396462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2">
            <a:extLst>
              <a:ext uri="{FF2B5EF4-FFF2-40B4-BE49-F238E27FC236}">
                <a16:creationId xmlns:a16="http://schemas.microsoft.com/office/drawing/2014/main" id="{D8079BE3-5A3F-4354-8973-8D620EF2D6C9}"/>
              </a:ext>
            </a:extLst>
          </p:cNvPr>
          <p:cNvSpPr txBox="1">
            <a:spLocks noChangeArrowheads="1"/>
          </p:cNvSpPr>
          <p:nvPr/>
        </p:nvSpPr>
        <p:spPr bwMode="auto">
          <a:xfrm>
            <a:off x="228600" y="514350"/>
            <a:ext cx="8686800" cy="57340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30000"/>
              </a:spcBef>
              <a:buClrTx/>
              <a:buSzTx/>
              <a:buFontTx/>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2.4.1 It often connects the ends of two adjacent segments of an antiparallel </a:t>
            </a:r>
            <a:r>
              <a:rPr lang="en-US" altLang="zh-CN" sz="2800" b="1" dirty="0">
                <a:latin typeface="Symbol" panose="05050102010706020507" pitchFamily="18" charset="2"/>
              </a:rPr>
              <a:t>b</a:t>
            </a:r>
            <a:r>
              <a:rPr lang="en-US" altLang="zh-CN" sz="2800" b="1" dirty="0">
                <a:latin typeface="Times New Roman" panose="02020603050405020304" pitchFamily="18" charset="0"/>
              </a:rPr>
              <a:t>-pleated sheet.</a:t>
            </a:r>
          </a:p>
          <a:p>
            <a:pPr eaLnBrk="1" hangingPunct="1">
              <a:lnSpc>
                <a:spcPct val="120000"/>
              </a:lnSpc>
              <a:spcBef>
                <a:spcPct val="30000"/>
              </a:spcBef>
              <a:buClrTx/>
              <a:buSzTx/>
              <a:buFontTx/>
              <a:buNone/>
            </a:pPr>
            <a:r>
              <a:rPr lang="en-US" altLang="zh-CN" sz="2800" b="1" dirty="0">
                <a:latin typeface="Times New Roman" panose="02020603050405020304" pitchFamily="18" charset="0"/>
              </a:rPr>
              <a:t>	2.4.2 It is a </a:t>
            </a:r>
            <a:r>
              <a:rPr lang="en-US" altLang="zh-CN" sz="2800" b="1" dirty="0">
                <a:solidFill>
                  <a:srgbClr val="FF0066"/>
                </a:solidFill>
                <a:latin typeface="Times New Roman" panose="02020603050405020304" pitchFamily="18" charset="0"/>
              </a:rPr>
              <a:t>tight turn</a:t>
            </a:r>
            <a:r>
              <a:rPr lang="en-US" altLang="zh-CN" sz="2800" b="1" dirty="0">
                <a:latin typeface="Times New Roman" panose="02020603050405020304" pitchFamily="18" charset="0"/>
              </a:rPr>
              <a:t> of ~180 degrees involving four amino acid residues.</a:t>
            </a:r>
          </a:p>
          <a:p>
            <a:pPr eaLnBrk="1" hangingPunct="1">
              <a:lnSpc>
                <a:spcPct val="120000"/>
              </a:lnSpc>
              <a:spcBef>
                <a:spcPct val="30000"/>
              </a:spcBef>
              <a:buClrTx/>
              <a:buSzTx/>
              <a:buFontTx/>
              <a:buNone/>
            </a:pPr>
            <a:r>
              <a:rPr lang="en-US" altLang="zh-CN" sz="2800" b="1" dirty="0">
                <a:latin typeface="Times New Roman" panose="02020603050405020304" pitchFamily="18" charset="0"/>
              </a:rPr>
              <a:t>	2.4.3 The essence of the structure is the </a:t>
            </a:r>
            <a:r>
              <a:rPr lang="en-US" altLang="zh-CN" sz="2800" b="1" dirty="0">
                <a:solidFill>
                  <a:srgbClr val="FF0066"/>
                </a:solidFill>
                <a:latin typeface="Times New Roman" panose="02020603050405020304" pitchFamily="18" charset="0"/>
              </a:rPr>
              <a:t>hydrogen bonding</a:t>
            </a:r>
            <a:r>
              <a:rPr lang="en-US" altLang="zh-CN" sz="2800" b="1" dirty="0">
                <a:latin typeface="Times New Roman" panose="02020603050405020304" pitchFamily="18" charset="0"/>
              </a:rPr>
              <a:t> between the C=O group of </a:t>
            </a:r>
            <a:r>
              <a:rPr lang="en-US" altLang="zh-CN" sz="2800" b="1" dirty="0">
                <a:solidFill>
                  <a:srgbClr val="FF0066"/>
                </a:solidFill>
                <a:latin typeface="Times New Roman" panose="02020603050405020304" pitchFamily="18" charset="0"/>
              </a:rPr>
              <a:t>residue n</a:t>
            </a:r>
            <a:r>
              <a:rPr lang="en-US" altLang="zh-CN" sz="2800" b="1" dirty="0">
                <a:latin typeface="Times New Roman" panose="02020603050405020304" pitchFamily="18" charset="0"/>
              </a:rPr>
              <a:t> and the NH group of the </a:t>
            </a:r>
            <a:r>
              <a:rPr lang="en-US" altLang="zh-CN" sz="2800" b="1" dirty="0">
                <a:solidFill>
                  <a:srgbClr val="FF0066"/>
                </a:solidFill>
                <a:latin typeface="Times New Roman" panose="02020603050405020304" pitchFamily="18" charset="0"/>
              </a:rPr>
              <a:t>residue n+3</a:t>
            </a:r>
            <a:r>
              <a:rPr lang="en-US" altLang="zh-CN" sz="2800" b="1" dirty="0">
                <a:latin typeface="Times New Roman" panose="02020603050405020304" pitchFamily="18" charset="0"/>
              </a:rPr>
              <a:t>.</a:t>
            </a:r>
          </a:p>
          <a:p>
            <a:pPr eaLnBrk="1" hangingPunct="1">
              <a:lnSpc>
                <a:spcPct val="120000"/>
              </a:lnSpc>
              <a:spcBef>
                <a:spcPct val="30000"/>
              </a:spcBef>
              <a:buClrTx/>
              <a:buSzTx/>
              <a:buFontTx/>
              <a:buNone/>
            </a:pPr>
            <a:r>
              <a:rPr lang="en-US" altLang="zh-CN" sz="2800" b="1" dirty="0">
                <a:latin typeface="Times New Roman" panose="02020603050405020304" pitchFamily="18" charset="0"/>
              </a:rPr>
              <a:t>	2.4.4 </a:t>
            </a:r>
            <a:r>
              <a:rPr lang="en-US" altLang="zh-CN" sz="2800" b="1" dirty="0" err="1">
                <a:solidFill>
                  <a:srgbClr val="FF0066"/>
                </a:solidFill>
                <a:latin typeface="Times New Roman" panose="02020603050405020304" pitchFamily="18" charset="0"/>
              </a:rPr>
              <a:t>Gly</a:t>
            </a:r>
            <a:r>
              <a:rPr lang="en-US" altLang="zh-CN" sz="2800" b="1" dirty="0">
                <a:solidFill>
                  <a:srgbClr val="FF0066"/>
                </a:solidFill>
                <a:latin typeface="Times New Roman" panose="02020603050405020304" pitchFamily="18" charset="0"/>
              </a:rPr>
              <a:t> and Pro are often found in </a:t>
            </a:r>
            <a:r>
              <a:rPr lang="en-US" altLang="zh-CN" sz="2800" b="1" dirty="0">
                <a:solidFill>
                  <a:srgbClr val="FF0066"/>
                </a:solidFill>
                <a:latin typeface="Symbol" panose="05050102010706020507" pitchFamily="18" charset="2"/>
              </a:rPr>
              <a:t>b</a:t>
            </a:r>
            <a:r>
              <a:rPr lang="en-US" altLang="zh-CN" sz="2800" b="1" dirty="0">
                <a:solidFill>
                  <a:srgbClr val="FF0066"/>
                </a:solidFill>
                <a:latin typeface="Times New Roman" panose="02020603050405020304" pitchFamily="18" charset="0"/>
              </a:rPr>
              <a:t> turns</a:t>
            </a:r>
            <a:r>
              <a:rPr lang="en-US" altLang="zh-CN" sz="2800" b="1" dirty="0">
                <a:latin typeface="Times New Roman" panose="02020603050405020304" pitchFamily="18" charset="0"/>
              </a:rPr>
              <a:t>. </a:t>
            </a:r>
          </a:p>
          <a:p>
            <a:pPr eaLnBrk="1" hangingPunct="1">
              <a:lnSpc>
                <a:spcPct val="120000"/>
              </a:lnSpc>
              <a:spcBef>
                <a:spcPct val="30000"/>
              </a:spcBef>
              <a:buClrTx/>
              <a:buSzTx/>
              <a:buFontTx/>
              <a:buNone/>
            </a:pPr>
            <a:r>
              <a:rPr lang="en-US" altLang="zh-CN" sz="2800" b="1" dirty="0">
                <a:latin typeface="Times New Roman" panose="02020603050405020304" pitchFamily="18" charset="0"/>
              </a:rPr>
              <a:t>	2.4.5 </a:t>
            </a:r>
            <a:r>
              <a:rPr lang="en-US" altLang="zh-CN" sz="2800" b="1" dirty="0">
                <a:latin typeface="Symbol" panose="05050102010706020507" pitchFamily="18" charset="2"/>
              </a:rPr>
              <a:t>b</a:t>
            </a:r>
            <a:r>
              <a:rPr lang="en-US" altLang="zh-CN" sz="2800" b="1" dirty="0">
                <a:latin typeface="Times New Roman" panose="02020603050405020304" pitchFamily="18" charset="0"/>
              </a:rPr>
              <a:t> turns are often found </a:t>
            </a:r>
            <a:r>
              <a:rPr lang="en-US" altLang="zh-CN" sz="2800" b="1" dirty="0">
                <a:solidFill>
                  <a:srgbClr val="FF0066"/>
                </a:solidFill>
                <a:latin typeface="Times New Roman" panose="02020603050405020304" pitchFamily="18" charset="0"/>
              </a:rPr>
              <a:t>near the surface</a:t>
            </a:r>
            <a:r>
              <a:rPr lang="en-US" altLang="zh-CN" sz="2800" b="1" dirty="0">
                <a:latin typeface="Times New Roman" panose="02020603050405020304" pitchFamily="18" charset="0"/>
              </a:rPr>
              <a:t> of a protein.</a:t>
            </a:r>
            <a:endParaRPr kumimoji="0" lang="en-US" altLang="zh-CN" sz="3600" dirty="0">
              <a:latin typeface="Times New Roman" panose="02020603050405020304" pitchFamily="18" charset="0"/>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Text Box 2">
            <a:extLst>
              <a:ext uri="{FF2B5EF4-FFF2-40B4-BE49-F238E27FC236}">
                <a16:creationId xmlns:a16="http://schemas.microsoft.com/office/drawing/2014/main" id="{8A0E09E0-D820-4089-AD29-0794B072A07B}"/>
              </a:ext>
            </a:extLst>
          </p:cNvPr>
          <p:cNvSpPr txBox="1">
            <a:spLocks noChangeArrowheads="1"/>
          </p:cNvSpPr>
          <p:nvPr/>
        </p:nvSpPr>
        <p:spPr bwMode="auto">
          <a:xfrm>
            <a:off x="914400" y="1905000"/>
            <a:ext cx="76962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	2.5 Some amino acid residues are accommodated in the different types of secondary structure better than others.	</a:t>
            </a:r>
            <a:endParaRPr lang="en-US" altLang="zh-CN" sz="2400" dirty="0">
              <a:latin typeface="Times New Roman" panose="02020603050405020304" pitchFamily="18" charset="0"/>
            </a:endParaRPr>
          </a:p>
        </p:txBody>
      </p:sp>
      <p:sp>
        <p:nvSpPr>
          <p:cNvPr id="218115" name="Text Box 3">
            <a:extLst>
              <a:ext uri="{FF2B5EF4-FFF2-40B4-BE49-F238E27FC236}">
                <a16:creationId xmlns:a16="http://schemas.microsoft.com/office/drawing/2014/main" id="{A3519E5F-7949-4CC7-8ABA-00AEB4262893}"/>
              </a:ext>
            </a:extLst>
          </p:cNvPr>
          <p:cNvSpPr txBox="1">
            <a:spLocks noChangeArrowheads="1"/>
          </p:cNvSpPr>
          <p:nvPr/>
        </p:nvSpPr>
        <p:spPr bwMode="auto">
          <a:xfrm>
            <a:off x="914400" y="3505200"/>
            <a:ext cx="76962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a:latin typeface="Times New Roman" panose="02020603050405020304" pitchFamily="18" charset="0"/>
              </a:rPr>
              <a:t>	2.6 Regions 	of polypeptide chain that are not in  a regular secondary structure are said to have a </a:t>
            </a:r>
            <a:r>
              <a:rPr lang="en-US" altLang="zh-CN" sz="2800" b="1">
                <a:solidFill>
                  <a:schemeClr val="hlink"/>
                </a:solidFill>
                <a:latin typeface="Times New Roman" panose="02020603050405020304" pitchFamily="18" charset="0"/>
              </a:rPr>
              <a:t>coil</a:t>
            </a:r>
            <a:r>
              <a:rPr lang="en-US" altLang="zh-CN" sz="2800" b="1">
                <a:latin typeface="Times New Roman" panose="02020603050405020304" pitchFamily="18" charset="0"/>
              </a:rPr>
              <a:t> or </a:t>
            </a:r>
            <a:r>
              <a:rPr lang="en-US" altLang="zh-CN" sz="2800" b="1">
                <a:solidFill>
                  <a:schemeClr val="hlink"/>
                </a:solidFill>
                <a:latin typeface="Times New Roman" panose="02020603050405020304" pitchFamily="18" charset="0"/>
              </a:rPr>
              <a:t>loop conformation</a:t>
            </a:r>
            <a:r>
              <a:rPr lang="en-US" altLang="zh-CN" sz="2800" b="1">
                <a:latin typeface="Times New Roman" panose="02020603050405020304" pitchFamily="18" charset="0"/>
              </a:rPr>
              <a:t>.</a:t>
            </a:r>
            <a:endParaRPr lang="en-US" altLang="zh-CN" sz="2400">
              <a:latin typeface="Times New Roman" panose="02020603050405020304" pitchFamily="18" charset="0"/>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9138" name="Picture 2">
            <a:extLst>
              <a:ext uri="{FF2B5EF4-FFF2-40B4-BE49-F238E27FC236}">
                <a16:creationId xmlns:a16="http://schemas.microsoft.com/office/drawing/2014/main" id="{FE639580-5931-4741-AF42-8250AE625D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1900" y="152400"/>
            <a:ext cx="6680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9139" name="Text Box 3">
            <a:extLst>
              <a:ext uri="{FF2B5EF4-FFF2-40B4-BE49-F238E27FC236}">
                <a16:creationId xmlns:a16="http://schemas.microsoft.com/office/drawing/2014/main" id="{1988AA23-8A42-48FD-8348-9B807E1CDAF1}"/>
              </a:ext>
            </a:extLst>
          </p:cNvPr>
          <p:cNvSpPr txBox="1">
            <a:spLocks noChangeArrowheads="1"/>
          </p:cNvSpPr>
          <p:nvPr/>
        </p:nvSpPr>
        <p:spPr bwMode="auto">
          <a:xfrm>
            <a:off x="812800" y="5791200"/>
            <a:ext cx="7543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en-US" altLang="zh-CN" sz="2400" b="1">
                <a:latin typeface="Times New Roman" panose="02020603050405020304" pitchFamily="18" charset="0"/>
              </a:rPr>
              <a:t>Relative probabilities that a given amino acid will occur in the three common types of secondary structure.</a:t>
            </a:r>
          </a:p>
        </p:txBody>
      </p:sp>
      <p:cxnSp>
        <p:nvCxnSpPr>
          <p:cNvPr id="3" name="直接连接符 2">
            <a:extLst>
              <a:ext uri="{FF2B5EF4-FFF2-40B4-BE49-F238E27FC236}">
                <a16:creationId xmlns:a16="http://schemas.microsoft.com/office/drawing/2014/main" id="{C82E75D4-8121-4B8A-BE2C-5D5E1AB04567}"/>
              </a:ext>
            </a:extLst>
          </p:cNvPr>
          <p:cNvCxnSpPr/>
          <p:nvPr/>
        </p:nvCxnSpPr>
        <p:spPr>
          <a:xfrm>
            <a:off x="812800" y="5229200"/>
            <a:ext cx="102289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8C0E23B5-B955-4D6D-A8D5-976E05643A5B}"/>
              </a:ext>
            </a:extLst>
          </p:cNvPr>
          <p:cNvCxnSpPr/>
          <p:nvPr/>
        </p:nvCxnSpPr>
        <p:spPr>
          <a:xfrm>
            <a:off x="812800" y="5588000"/>
            <a:ext cx="1022896"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1186" name="Picture 2">
            <a:extLst>
              <a:ext uri="{FF2B5EF4-FFF2-40B4-BE49-F238E27FC236}">
                <a16:creationId xmlns:a16="http://schemas.microsoft.com/office/drawing/2014/main" id="{620BAC81-0804-4B8F-A28F-389AB48E0E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914400"/>
            <a:ext cx="7772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Text Box 2">
            <a:extLst>
              <a:ext uri="{FF2B5EF4-FFF2-40B4-BE49-F238E27FC236}">
                <a16:creationId xmlns:a16="http://schemas.microsoft.com/office/drawing/2014/main" id="{B28667EC-B6F2-427D-9661-696F1EC6DC9F}"/>
              </a:ext>
            </a:extLst>
          </p:cNvPr>
          <p:cNvSpPr txBox="1">
            <a:spLocks noChangeArrowheads="1"/>
          </p:cNvSpPr>
          <p:nvPr/>
        </p:nvSpPr>
        <p:spPr bwMode="auto">
          <a:xfrm>
            <a:off x="304800" y="1828800"/>
            <a:ext cx="8382000" cy="41052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50000"/>
              </a:spcBef>
              <a:buClrTx/>
              <a:buSzTx/>
              <a:buFontTx/>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2.7.1 The </a:t>
            </a:r>
            <a:r>
              <a:rPr lang="en-US" altLang="zh-CN" sz="2800" b="1" dirty="0" err="1">
                <a:latin typeface="Times New Roman" panose="02020603050405020304" pitchFamily="18" charset="0"/>
              </a:rPr>
              <a:t>supersecondary</a:t>
            </a:r>
            <a:r>
              <a:rPr lang="en-US" altLang="zh-CN" sz="2800" b="1" dirty="0">
                <a:latin typeface="Times New Roman" panose="02020603050405020304" pitchFamily="18" charset="0"/>
              </a:rPr>
              <a:t> structures, also called </a:t>
            </a:r>
            <a:r>
              <a:rPr lang="en-US" altLang="zh-CN" sz="2800" b="1" dirty="0">
                <a:solidFill>
                  <a:schemeClr val="hlink"/>
                </a:solidFill>
                <a:latin typeface="Times New Roman" panose="02020603050405020304" pitchFamily="18" charset="0"/>
              </a:rPr>
              <a:t>motifs</a:t>
            </a:r>
            <a:r>
              <a:rPr lang="en-US" altLang="zh-CN" sz="2800" b="1" dirty="0">
                <a:latin typeface="Times New Roman" panose="02020603050405020304" pitchFamily="18" charset="0"/>
              </a:rPr>
              <a:t> or </a:t>
            </a:r>
            <a:r>
              <a:rPr lang="en-US" altLang="zh-CN" sz="2800" b="1" dirty="0">
                <a:solidFill>
                  <a:schemeClr val="hlink"/>
                </a:solidFill>
                <a:latin typeface="Times New Roman" panose="02020603050405020304" pitchFamily="18" charset="0"/>
              </a:rPr>
              <a:t>simply folds</a:t>
            </a:r>
            <a:r>
              <a:rPr lang="en-US" altLang="zh-CN" sz="2800" b="1" dirty="0">
                <a:latin typeface="Times New Roman" panose="02020603050405020304" pitchFamily="18" charset="0"/>
              </a:rPr>
              <a:t>, refers to </a:t>
            </a:r>
            <a:r>
              <a:rPr lang="en-US" altLang="zh-CN" sz="2800" b="1" dirty="0">
                <a:solidFill>
                  <a:srgbClr val="FF0000"/>
                </a:solidFill>
                <a:latin typeface="Times New Roman" panose="02020603050405020304" pitchFamily="18" charset="0"/>
              </a:rPr>
              <a:t>clusters of secondary </a:t>
            </a:r>
            <a:r>
              <a:rPr lang="en-US" altLang="zh-CN" sz="2800" b="1" dirty="0">
                <a:latin typeface="Times New Roman" panose="02020603050405020304" pitchFamily="18" charset="0"/>
              </a:rPr>
              <a:t>structures that repeatedly appear.</a:t>
            </a:r>
          </a:p>
          <a:p>
            <a:pPr eaLnBrk="1" hangingPunct="1">
              <a:lnSpc>
                <a:spcPct val="90000"/>
              </a:lnSpc>
              <a:spcBef>
                <a:spcPct val="50000"/>
              </a:spcBef>
              <a:buClrTx/>
              <a:buSzTx/>
              <a:buFontTx/>
              <a:buNone/>
            </a:pPr>
            <a:r>
              <a:rPr lang="en-US" altLang="zh-CN" sz="2800" b="1" dirty="0">
                <a:latin typeface="Times New Roman" panose="02020603050405020304" pitchFamily="18" charset="0"/>
              </a:rPr>
              <a:t>	</a:t>
            </a:r>
          </a:p>
          <a:p>
            <a:pPr eaLnBrk="1" hangingPunct="1">
              <a:lnSpc>
                <a:spcPct val="90000"/>
              </a:lnSpc>
              <a:spcBef>
                <a:spcPct val="50000"/>
              </a:spcBef>
              <a:buClrTx/>
              <a:buSzTx/>
              <a:buFontTx/>
              <a:buNone/>
            </a:pPr>
            <a:r>
              <a:rPr lang="en-US" altLang="zh-CN" sz="2800" dirty="0">
                <a:latin typeface="Times New Roman" panose="02020603050405020304" pitchFamily="18" charset="0"/>
              </a:rPr>
              <a:t>	</a:t>
            </a:r>
            <a:r>
              <a:rPr lang="en-US" altLang="zh-CN" sz="2800" b="1" dirty="0">
                <a:latin typeface="Times New Roman" panose="02020603050405020304" pitchFamily="18" charset="0"/>
              </a:rPr>
              <a:t>2.7.2 A compact region (usually including less than 200~400 residues) that is </a:t>
            </a:r>
            <a:r>
              <a:rPr lang="en-US" altLang="zh-CN" sz="2800" b="1" dirty="0">
                <a:solidFill>
                  <a:srgbClr val="FF0000"/>
                </a:solidFill>
                <a:latin typeface="Times New Roman" panose="02020603050405020304" pitchFamily="18" charset="0"/>
              </a:rPr>
              <a:t>a distinct structural </a:t>
            </a:r>
            <a:r>
              <a:rPr lang="en-US" altLang="zh-CN" sz="2800" b="1" dirty="0">
                <a:latin typeface="Times New Roman" panose="02020603050405020304" pitchFamily="18" charset="0"/>
              </a:rPr>
              <a:t>unit within a larger polypeptide chain is called a </a:t>
            </a:r>
            <a:r>
              <a:rPr lang="en-US" altLang="zh-CN" sz="2800" b="1" dirty="0">
                <a:solidFill>
                  <a:schemeClr val="hlink"/>
                </a:solidFill>
                <a:latin typeface="Times New Roman" panose="02020603050405020304" pitchFamily="18" charset="0"/>
              </a:rPr>
              <a:t>domain</a:t>
            </a:r>
            <a:r>
              <a:rPr lang="en-US" altLang="zh-CN" sz="2800" b="1" dirty="0">
                <a:latin typeface="Times New Roman" panose="02020603050405020304" pitchFamily="18" charset="0"/>
              </a:rPr>
              <a:t>.</a:t>
            </a:r>
          </a:p>
          <a:p>
            <a:pPr eaLnBrk="1" hangingPunct="1">
              <a:lnSpc>
                <a:spcPct val="90000"/>
              </a:lnSpc>
              <a:spcBef>
                <a:spcPct val="50000"/>
              </a:spcBef>
              <a:buClrTx/>
              <a:buSzTx/>
              <a:buFontTx/>
              <a:buNone/>
            </a:pPr>
            <a:r>
              <a:rPr lang="en-US" altLang="zh-CN" sz="2400" b="1" dirty="0">
                <a:latin typeface="Times New Roman" panose="02020603050405020304" pitchFamily="18" charset="0"/>
              </a:rPr>
              <a:t>	</a:t>
            </a:r>
          </a:p>
        </p:txBody>
      </p:sp>
      <p:sp>
        <p:nvSpPr>
          <p:cNvPr id="223235" name="Rectangle 3">
            <a:extLst>
              <a:ext uri="{FF2B5EF4-FFF2-40B4-BE49-F238E27FC236}">
                <a16:creationId xmlns:a16="http://schemas.microsoft.com/office/drawing/2014/main" id="{DC7E17C8-CB62-4CA2-ACF6-0594B40DEB15}"/>
              </a:ext>
            </a:extLst>
          </p:cNvPr>
          <p:cNvSpPr>
            <a:spLocks noChangeArrowheads="1"/>
          </p:cNvSpPr>
          <p:nvPr/>
        </p:nvSpPr>
        <p:spPr bwMode="auto">
          <a:xfrm>
            <a:off x="755650" y="549275"/>
            <a:ext cx="6834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solidFill>
                  <a:srgbClr val="FF0066"/>
                </a:solidFill>
                <a:latin typeface="Times New Roman" panose="02020603050405020304" pitchFamily="18" charset="0"/>
              </a:rPr>
              <a:t>2.7 </a:t>
            </a:r>
            <a:r>
              <a:rPr lang="en-US" altLang="zh-CN" sz="2800" b="1" dirty="0" err="1">
                <a:solidFill>
                  <a:srgbClr val="FF0066"/>
                </a:solidFill>
                <a:latin typeface="Times New Roman" panose="02020603050405020304" pitchFamily="18" charset="0"/>
              </a:rPr>
              <a:t>Supersecondary</a:t>
            </a:r>
            <a:r>
              <a:rPr lang="en-US" altLang="zh-CN" sz="2800" b="1" dirty="0">
                <a:solidFill>
                  <a:srgbClr val="FF0066"/>
                </a:solidFill>
                <a:latin typeface="Times New Roman" panose="02020603050405020304" pitchFamily="18" charset="0"/>
              </a:rPr>
              <a:t> structures and domains</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8354" name="Picture 2">
            <a:extLst>
              <a:ext uri="{FF2B5EF4-FFF2-40B4-BE49-F238E27FC236}">
                <a16:creationId xmlns:a16="http://schemas.microsoft.com/office/drawing/2014/main" id="{F7FF5574-0153-427A-A84B-B6A18C516E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869950"/>
            <a:ext cx="8026400" cy="511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0402" name="Picture 2">
            <a:extLst>
              <a:ext uri="{FF2B5EF4-FFF2-40B4-BE49-F238E27FC236}">
                <a16:creationId xmlns:a16="http://schemas.microsoft.com/office/drawing/2014/main" id="{725BBBF7-0A5E-4850-ACF9-EFB91DF5ED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711200"/>
            <a:ext cx="72009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2450" name="Picture 2">
            <a:extLst>
              <a:ext uri="{FF2B5EF4-FFF2-40B4-BE49-F238E27FC236}">
                <a16:creationId xmlns:a16="http://schemas.microsoft.com/office/drawing/2014/main" id="{8E9E5626-B188-41F8-A498-68D1F72419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711200"/>
            <a:ext cx="76200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498" name="Picture 2">
            <a:extLst>
              <a:ext uri="{FF2B5EF4-FFF2-40B4-BE49-F238E27FC236}">
                <a16:creationId xmlns:a16="http://schemas.microsoft.com/office/drawing/2014/main" id="{B62B2300-82DF-4A42-B0C3-953A263E3D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939800"/>
            <a:ext cx="8026400" cy="497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6546" name="Picture 2">
            <a:extLst>
              <a:ext uri="{FF2B5EF4-FFF2-40B4-BE49-F238E27FC236}">
                <a16:creationId xmlns:a16="http://schemas.microsoft.com/office/drawing/2014/main" id="{69040A88-225D-4838-AFB7-94EB731911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1295400"/>
            <a:ext cx="80264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594" name="Picture 2">
            <a:extLst>
              <a:ext uri="{FF2B5EF4-FFF2-40B4-BE49-F238E27FC236}">
                <a16:creationId xmlns:a16="http://schemas.microsoft.com/office/drawing/2014/main" id="{53255081-810A-4614-BD76-D24F295408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550" y="1600200"/>
            <a:ext cx="79629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595" name="Text Box 3">
            <a:extLst>
              <a:ext uri="{FF2B5EF4-FFF2-40B4-BE49-F238E27FC236}">
                <a16:creationId xmlns:a16="http://schemas.microsoft.com/office/drawing/2014/main" id="{DDB78658-B9FA-4B2A-A5DE-A90922F3191E}"/>
              </a:ext>
            </a:extLst>
          </p:cNvPr>
          <p:cNvSpPr txBox="1">
            <a:spLocks noChangeArrowheads="1"/>
          </p:cNvSpPr>
          <p:nvPr/>
        </p:nvSpPr>
        <p:spPr bwMode="auto">
          <a:xfrm>
            <a:off x="609600" y="381000"/>
            <a:ext cx="8077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Structural domains in the polypeptide troponin (</a:t>
            </a:r>
            <a:r>
              <a:rPr lang="zh-CN" altLang="en-US" sz="2800" b="1">
                <a:latin typeface="Times New Roman" panose="02020603050405020304" pitchFamily="18" charset="0"/>
              </a:rPr>
              <a:t>肌钙蛋白</a:t>
            </a:r>
            <a:r>
              <a:rPr lang="en-US" altLang="zh-CN" sz="2800" b="1">
                <a:latin typeface="Times New Roman" panose="02020603050405020304" pitchFamily="18" charset="0"/>
              </a:rPr>
              <a:t>) C, two separate calcium-binding domains</a:t>
            </a:r>
            <a:endParaRPr lang="en-US" altLang="zh-CN" sz="2400">
              <a:latin typeface="Times New Roman" panose="02020603050405020304" pitchFamily="18" charset="0"/>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30BE252-BBF7-4151-9EB4-138A58E0E3F3}"/>
              </a:ext>
            </a:extLst>
          </p:cNvPr>
          <p:cNvPicPr>
            <a:picLocks noChangeAspect="1"/>
          </p:cNvPicPr>
          <p:nvPr/>
        </p:nvPicPr>
        <p:blipFill rotWithShape="1">
          <a:blip r:embed="rId2"/>
          <a:srcRect l="66254" t="2362" r="5753" b="50000"/>
          <a:stretch/>
        </p:blipFill>
        <p:spPr>
          <a:xfrm>
            <a:off x="827584" y="836712"/>
            <a:ext cx="3763556" cy="4896544"/>
          </a:xfrm>
          <a:prstGeom prst="rect">
            <a:avLst/>
          </a:prstGeom>
        </p:spPr>
      </p:pic>
      <p:pic>
        <p:nvPicPr>
          <p:cNvPr id="3" name="Picture 2">
            <a:extLst>
              <a:ext uri="{FF2B5EF4-FFF2-40B4-BE49-F238E27FC236}">
                <a16:creationId xmlns:a16="http://schemas.microsoft.com/office/drawing/2014/main" id="{A97E2B30-4212-48F6-B684-0029A07D63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5280" t="2751" r="3052" b="5144"/>
          <a:stretch/>
        </p:blipFill>
        <p:spPr bwMode="auto">
          <a:xfrm>
            <a:off x="5436096" y="332656"/>
            <a:ext cx="2592288" cy="5544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圆角 3">
            <a:extLst>
              <a:ext uri="{FF2B5EF4-FFF2-40B4-BE49-F238E27FC236}">
                <a16:creationId xmlns:a16="http://schemas.microsoft.com/office/drawing/2014/main" id="{67C37883-8909-4844-BEAB-AF1127E7A4B4}"/>
              </a:ext>
            </a:extLst>
          </p:cNvPr>
          <p:cNvSpPr/>
          <p:nvPr/>
        </p:nvSpPr>
        <p:spPr>
          <a:xfrm>
            <a:off x="5076056" y="116632"/>
            <a:ext cx="936104" cy="180020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C6C61B80-9130-4B7A-9F35-3E6BB7BE2E96}"/>
              </a:ext>
            </a:extLst>
          </p:cNvPr>
          <p:cNvSpPr txBox="1"/>
          <p:nvPr/>
        </p:nvSpPr>
        <p:spPr>
          <a:xfrm>
            <a:off x="1710059" y="5877272"/>
            <a:ext cx="963725" cy="523220"/>
          </a:xfrm>
          <a:prstGeom prst="rect">
            <a:avLst/>
          </a:prstGeom>
          <a:noFill/>
        </p:spPr>
        <p:txBody>
          <a:bodyPr wrap="none" rtlCol="0">
            <a:spAutoFit/>
          </a:bodyPr>
          <a:lstStyle/>
          <a:p>
            <a:r>
              <a:rPr lang="en-US" altLang="zh-CN" sz="2800" dirty="0"/>
              <a:t>motif</a:t>
            </a:r>
            <a:endParaRPr lang="zh-CN" altLang="en-US" sz="2800" dirty="0"/>
          </a:p>
        </p:txBody>
      </p:sp>
      <p:sp>
        <p:nvSpPr>
          <p:cNvPr id="7" name="文本框 6">
            <a:extLst>
              <a:ext uri="{FF2B5EF4-FFF2-40B4-BE49-F238E27FC236}">
                <a16:creationId xmlns:a16="http://schemas.microsoft.com/office/drawing/2014/main" id="{E861FFCA-1D12-43B4-A922-CA85A87E8242}"/>
              </a:ext>
            </a:extLst>
          </p:cNvPr>
          <p:cNvSpPr txBox="1"/>
          <p:nvPr/>
        </p:nvSpPr>
        <p:spPr>
          <a:xfrm>
            <a:off x="5978322" y="5894367"/>
            <a:ext cx="1366080" cy="523220"/>
          </a:xfrm>
          <a:prstGeom prst="rect">
            <a:avLst/>
          </a:prstGeom>
          <a:noFill/>
        </p:spPr>
        <p:txBody>
          <a:bodyPr wrap="none" rtlCol="0">
            <a:spAutoFit/>
          </a:bodyPr>
          <a:lstStyle/>
          <a:p>
            <a:r>
              <a:rPr lang="en-US" altLang="zh-CN" sz="2800" dirty="0"/>
              <a:t>domain</a:t>
            </a:r>
            <a:endParaRPr lang="zh-CN" altLang="en-US" sz="2800" dirty="0"/>
          </a:p>
        </p:txBody>
      </p:sp>
    </p:spTree>
    <p:extLst>
      <p:ext uri="{BB962C8B-B14F-4D97-AF65-F5344CB8AC3E}">
        <p14:creationId xmlns:p14="http://schemas.microsoft.com/office/powerpoint/2010/main" val="212226184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Text Box 2">
            <a:extLst>
              <a:ext uri="{FF2B5EF4-FFF2-40B4-BE49-F238E27FC236}">
                <a16:creationId xmlns:a16="http://schemas.microsoft.com/office/drawing/2014/main" id="{663822D1-A7DF-4BF0-890F-121640E56854}"/>
              </a:ext>
            </a:extLst>
          </p:cNvPr>
          <p:cNvSpPr txBox="1">
            <a:spLocks noChangeArrowheads="1"/>
          </p:cNvSpPr>
          <p:nvPr/>
        </p:nvSpPr>
        <p:spPr bwMode="auto">
          <a:xfrm>
            <a:off x="710406" y="2132856"/>
            <a:ext cx="7723187" cy="179863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en-US" altLang="zh-CN" b="1" dirty="0">
                <a:solidFill>
                  <a:srgbClr val="FF0066"/>
                </a:solidFill>
                <a:latin typeface="Times New Roman" panose="02020603050405020304" pitchFamily="18" charset="0"/>
              </a:rPr>
              <a:t>3. Protein Tertiary Structure---</a:t>
            </a:r>
          </a:p>
          <a:p>
            <a:pPr eaLnBrk="1" hangingPunct="1">
              <a:spcBef>
                <a:spcPct val="50000"/>
              </a:spcBef>
              <a:buClrTx/>
              <a:buSzTx/>
              <a:buFontTx/>
              <a:buNone/>
            </a:pPr>
            <a:r>
              <a:rPr kumimoji="0" lang="en-US" altLang="zh-CN" b="1" dirty="0">
                <a:solidFill>
                  <a:srgbClr val="FF0066"/>
                </a:solidFill>
                <a:latin typeface="Times New Roman" panose="02020603050405020304" pitchFamily="18" charset="0"/>
              </a:rPr>
              <a:t>the three-</a:t>
            </a:r>
            <a:r>
              <a:rPr kumimoji="0" lang="en-US" altLang="zh-CN" b="1" dirty="0" err="1">
                <a:solidFill>
                  <a:srgbClr val="FF0066"/>
                </a:solidFill>
                <a:latin typeface="Times New Roman" panose="02020603050405020304" pitchFamily="18" charset="0"/>
              </a:rPr>
              <a:t>dimentional</a:t>
            </a:r>
            <a:r>
              <a:rPr kumimoji="0" lang="en-US" altLang="zh-CN" b="1" dirty="0">
                <a:solidFill>
                  <a:srgbClr val="FF0066"/>
                </a:solidFill>
                <a:latin typeface="Times New Roman" panose="02020603050405020304" pitchFamily="18" charset="0"/>
              </a:rPr>
              <a:t> arrangement of the amino acid in the polypeptide chain.</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1666" name="Picture 2">
            <a:extLst>
              <a:ext uri="{FF2B5EF4-FFF2-40B4-BE49-F238E27FC236}">
                <a16:creationId xmlns:a16="http://schemas.microsoft.com/office/drawing/2014/main" id="{0CF15352-3953-4CE1-88E6-4A191302D5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 y="1631950"/>
            <a:ext cx="8572500" cy="359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3714" name="Picture 2">
            <a:extLst>
              <a:ext uri="{FF2B5EF4-FFF2-40B4-BE49-F238E27FC236}">
                <a16:creationId xmlns:a16="http://schemas.microsoft.com/office/drawing/2014/main" id="{0A4C7CC1-5A26-4F4F-B302-95ED0DB96E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00" y="381000"/>
            <a:ext cx="79756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62" name="Picture 2">
            <a:extLst>
              <a:ext uri="{FF2B5EF4-FFF2-40B4-BE49-F238E27FC236}">
                <a16:creationId xmlns:a16="http://schemas.microsoft.com/office/drawing/2014/main" id="{6F7D48F7-5EA2-4924-AB85-F7CF98FEA9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00" y="1422400"/>
            <a:ext cx="7975600" cy="401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a:extLst>
              <a:ext uri="{FF2B5EF4-FFF2-40B4-BE49-F238E27FC236}">
                <a16:creationId xmlns:a16="http://schemas.microsoft.com/office/drawing/2014/main" id="{E58CB958-E1FD-4DE5-AFBF-C669563B8C6C}"/>
              </a:ext>
            </a:extLst>
          </p:cNvPr>
          <p:cNvSpPr>
            <a:spLocks noGrp="1" noChangeArrowheads="1"/>
          </p:cNvSpPr>
          <p:nvPr>
            <p:ph type="title"/>
          </p:nvPr>
        </p:nvSpPr>
        <p:spPr>
          <a:xfrm>
            <a:off x="457200" y="274638"/>
            <a:ext cx="8229600" cy="346050"/>
          </a:xfrm>
        </p:spPr>
        <p:txBody>
          <a:bodyPr/>
          <a:lstStyle/>
          <a:p>
            <a:pPr eaLnBrk="1" hangingPunct="1"/>
            <a:r>
              <a:rPr lang="en-US" altLang="zh-CN" sz="3200" dirty="0"/>
              <a:t>Interactions that maintain protein structure</a:t>
            </a:r>
            <a:endParaRPr lang="zh-CN" altLang="en-US" sz="3200" dirty="0"/>
          </a:p>
        </p:txBody>
      </p:sp>
      <p:sp>
        <p:nvSpPr>
          <p:cNvPr id="248835" name="Rectangle 3">
            <a:extLst>
              <a:ext uri="{FF2B5EF4-FFF2-40B4-BE49-F238E27FC236}">
                <a16:creationId xmlns:a16="http://schemas.microsoft.com/office/drawing/2014/main" id="{6D74704F-A7AA-4836-A860-DA460B100FDD}"/>
              </a:ext>
            </a:extLst>
          </p:cNvPr>
          <p:cNvSpPr>
            <a:spLocks noGrp="1" noChangeArrowheads="1"/>
          </p:cNvSpPr>
          <p:nvPr>
            <p:ph type="body" idx="1"/>
          </p:nvPr>
        </p:nvSpPr>
        <p:spPr/>
        <p:txBody>
          <a:bodyPr/>
          <a:lstStyle/>
          <a:p>
            <a:pPr eaLnBrk="1" hangingPunct="1"/>
            <a:endParaRPr lang="zh-CN" altLang="en-US"/>
          </a:p>
        </p:txBody>
      </p:sp>
      <p:pic>
        <p:nvPicPr>
          <p:cNvPr id="248836" name="Picture 4">
            <a:extLst>
              <a:ext uri="{FF2B5EF4-FFF2-40B4-BE49-F238E27FC236}">
                <a16:creationId xmlns:a16="http://schemas.microsoft.com/office/drawing/2014/main" id="{56C4B8FD-3576-451D-A75C-2F3EE124EB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969" t="17708" r="17969" b="17708"/>
          <a:stretch>
            <a:fillRect/>
          </a:stretch>
        </p:blipFill>
        <p:spPr bwMode="auto">
          <a:xfrm>
            <a:off x="609600" y="731837"/>
            <a:ext cx="8229600" cy="5775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290" name="Picture 2">
            <a:extLst>
              <a:ext uri="{FF2B5EF4-FFF2-40B4-BE49-F238E27FC236}">
                <a16:creationId xmlns:a16="http://schemas.microsoft.com/office/drawing/2014/main" id="{FE760F19-CF22-4C39-AD3E-626F62955C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14300"/>
            <a:ext cx="8458200" cy="634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Text Box 2">
            <a:extLst>
              <a:ext uri="{FF2B5EF4-FFF2-40B4-BE49-F238E27FC236}">
                <a16:creationId xmlns:a16="http://schemas.microsoft.com/office/drawing/2014/main" id="{AEFBEC0B-5BF2-41B7-9297-A872BFD2AEAC}"/>
              </a:ext>
            </a:extLst>
          </p:cNvPr>
          <p:cNvSpPr txBox="1">
            <a:spLocks noChangeArrowheads="1"/>
          </p:cNvSpPr>
          <p:nvPr/>
        </p:nvSpPr>
        <p:spPr bwMode="auto">
          <a:xfrm>
            <a:off x="755576" y="1354137"/>
            <a:ext cx="7848600" cy="414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The polypeptide chain folds spontaneously so that </a:t>
            </a:r>
            <a:r>
              <a:rPr lang="en-US" altLang="zh-CN" sz="2800" b="1" dirty="0">
                <a:solidFill>
                  <a:srgbClr val="FF0000"/>
                </a:solidFill>
                <a:latin typeface="Times New Roman" panose="02020603050405020304" pitchFamily="18" charset="0"/>
              </a:rPr>
              <a:t>the majority of its hydrophobic side-chains are buried in the interior,</a:t>
            </a:r>
            <a:r>
              <a:rPr lang="en-US" altLang="zh-CN" sz="2800" b="1" dirty="0">
                <a:latin typeface="Times New Roman" panose="02020603050405020304" pitchFamily="18" charset="0"/>
              </a:rPr>
              <a:t> </a:t>
            </a:r>
            <a:r>
              <a:rPr lang="en-US" altLang="zh-CN" sz="2800" b="1" dirty="0">
                <a:solidFill>
                  <a:srgbClr val="FF0000"/>
                </a:solidFill>
                <a:latin typeface="Times New Roman" panose="02020603050405020304" pitchFamily="18" charset="0"/>
              </a:rPr>
              <a:t>and the majority of its polar, charged side-chain are on the surface. </a:t>
            </a:r>
          </a:p>
          <a:p>
            <a:pPr eaLnBrk="1" hangingPunct="1">
              <a:spcBef>
                <a:spcPct val="50000"/>
              </a:spcBef>
              <a:buClrTx/>
              <a:buSzTx/>
              <a:buFontTx/>
              <a:buNone/>
            </a:pPr>
            <a:r>
              <a:rPr lang="en-US" altLang="zh-CN" sz="2800" b="1" dirty="0">
                <a:latin typeface="Times New Roman" panose="02020603050405020304" pitchFamily="18" charset="0"/>
              </a:rPr>
              <a:t>The native conformation is maintained not only by </a:t>
            </a:r>
            <a:r>
              <a:rPr lang="en-US" altLang="zh-CN" sz="2800" b="1" dirty="0">
                <a:solidFill>
                  <a:srgbClr val="FF0000"/>
                </a:solidFill>
                <a:latin typeface="Times New Roman" panose="02020603050405020304" pitchFamily="18" charset="0"/>
              </a:rPr>
              <a:t>hydrophobic</a:t>
            </a:r>
            <a:r>
              <a:rPr lang="en-US" altLang="zh-CN" sz="2800" b="1" dirty="0">
                <a:latin typeface="Times New Roman" panose="02020603050405020304" pitchFamily="18" charset="0"/>
              </a:rPr>
              <a:t> interactions, but also by </a:t>
            </a:r>
            <a:r>
              <a:rPr lang="en-US" altLang="zh-CN" sz="2800" b="1" dirty="0">
                <a:solidFill>
                  <a:srgbClr val="FF0000"/>
                </a:solidFill>
                <a:latin typeface="Times New Roman" panose="02020603050405020304" pitchFamily="18" charset="0"/>
              </a:rPr>
              <a:t>salt bridges, multiple weak van der Waals</a:t>
            </a:r>
            <a:r>
              <a:rPr lang="en-US" altLang="zh-CN" sz="2800" b="1" dirty="0">
                <a:latin typeface="Times New Roman" panose="02020603050405020304" pitchFamily="18" charset="0"/>
              </a:rPr>
              <a:t> interactions, </a:t>
            </a:r>
            <a:r>
              <a:rPr lang="en-US" altLang="zh-CN" sz="2800" b="1" dirty="0">
                <a:solidFill>
                  <a:srgbClr val="FF0000"/>
                </a:solidFill>
                <a:latin typeface="Times New Roman" panose="02020603050405020304" pitchFamily="18" charset="0"/>
              </a:rPr>
              <a:t>hydrogen bonding </a:t>
            </a:r>
            <a:r>
              <a:rPr lang="en-US" altLang="zh-CN" sz="2800" b="1" dirty="0">
                <a:latin typeface="Times New Roman" panose="02020603050405020304" pitchFamily="18" charset="0"/>
              </a:rPr>
              <a:t>and the </a:t>
            </a:r>
            <a:r>
              <a:rPr lang="en-US" altLang="zh-CN" sz="2800" b="1" dirty="0">
                <a:solidFill>
                  <a:srgbClr val="FF0000"/>
                </a:solidFill>
                <a:latin typeface="Times New Roman" panose="02020603050405020304" pitchFamily="18" charset="0"/>
              </a:rPr>
              <a:t>covalent disulfide bonds.</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Text Box 2">
            <a:extLst>
              <a:ext uri="{FF2B5EF4-FFF2-40B4-BE49-F238E27FC236}">
                <a16:creationId xmlns:a16="http://schemas.microsoft.com/office/drawing/2014/main" id="{88C0444B-4DB0-496A-A339-5956CE415D07}"/>
              </a:ext>
            </a:extLst>
          </p:cNvPr>
          <p:cNvSpPr txBox="1">
            <a:spLocks noChangeArrowheads="1"/>
          </p:cNvSpPr>
          <p:nvPr/>
        </p:nvSpPr>
        <p:spPr bwMode="auto">
          <a:xfrm>
            <a:off x="323528" y="1196752"/>
            <a:ext cx="8610600" cy="436403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3.1 Under physiological conditions of solvent and temperature, each protein folds spontaneously into one three-dimensional conformation, called the </a:t>
            </a:r>
            <a:r>
              <a:rPr lang="en-US" altLang="zh-CN" sz="2800" b="1" dirty="0">
                <a:solidFill>
                  <a:srgbClr val="FF0000"/>
                </a:solidFill>
                <a:latin typeface="Times New Roman" panose="02020603050405020304" pitchFamily="18" charset="0"/>
              </a:rPr>
              <a:t>native conformation</a:t>
            </a:r>
            <a:r>
              <a:rPr lang="en-US" altLang="zh-CN" sz="2800" b="1" dirty="0">
                <a:latin typeface="Times New Roman" panose="02020603050405020304" pitchFamily="18" charset="0"/>
              </a:rPr>
              <a:t>.</a:t>
            </a:r>
          </a:p>
          <a:p>
            <a:pPr eaLnBrk="1" hangingPunct="1">
              <a:spcBef>
                <a:spcPct val="50000"/>
              </a:spcBef>
              <a:buClrTx/>
              <a:buSzTx/>
              <a:buFontTx/>
              <a:buNone/>
            </a:pPr>
            <a:r>
              <a:rPr lang="en-US" altLang="zh-CN" sz="2800" b="1" dirty="0">
                <a:latin typeface="Times New Roman" panose="02020603050405020304" pitchFamily="18" charset="0"/>
              </a:rPr>
              <a:t>	3.2  This conformation is usually the most stable, and predominate among the innumerable theoretically possible ones.</a:t>
            </a:r>
          </a:p>
          <a:p>
            <a:pPr eaLnBrk="1" hangingPunct="1">
              <a:spcBef>
                <a:spcPct val="50000"/>
              </a:spcBef>
              <a:buClrTx/>
              <a:buSzTx/>
              <a:buFontTx/>
              <a:buNone/>
            </a:pPr>
            <a:r>
              <a:rPr lang="en-US" altLang="zh-CN" sz="2800" b="1" dirty="0">
                <a:latin typeface="Times New Roman" panose="02020603050405020304" pitchFamily="18" charset="0"/>
              </a:rPr>
              <a:t>	3.3  Usually </a:t>
            </a:r>
            <a:r>
              <a:rPr lang="en-US" altLang="zh-CN" sz="2800" b="1" dirty="0">
                <a:solidFill>
                  <a:srgbClr val="FF0000"/>
                </a:solidFill>
                <a:latin typeface="Times New Roman" panose="02020603050405020304" pitchFamily="18" charset="0"/>
              </a:rPr>
              <a:t>only the native conformation is functional</a:t>
            </a:r>
            <a:r>
              <a:rPr lang="en-US" altLang="zh-CN" sz="2400" dirty="0">
                <a:latin typeface="Times New Roman" panose="02020603050405020304" pitchFamily="18" charset="0"/>
              </a:rPr>
              <a:t>.</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3954" name="Picture 2">
            <a:extLst>
              <a:ext uri="{FF2B5EF4-FFF2-40B4-BE49-F238E27FC236}">
                <a16:creationId xmlns:a16="http://schemas.microsoft.com/office/drawing/2014/main" id="{3329CF29-C583-4A71-8C42-0B12C29BD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768350"/>
            <a:ext cx="6845300"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3955" name="Text Box 3">
            <a:extLst>
              <a:ext uri="{FF2B5EF4-FFF2-40B4-BE49-F238E27FC236}">
                <a16:creationId xmlns:a16="http://schemas.microsoft.com/office/drawing/2014/main" id="{C109A7CB-0E04-4AE2-801C-7BF2F6018BC2}"/>
              </a:ext>
            </a:extLst>
          </p:cNvPr>
          <p:cNvSpPr txBox="1">
            <a:spLocks noChangeArrowheads="1"/>
          </p:cNvSpPr>
          <p:nvPr/>
        </p:nvSpPr>
        <p:spPr bwMode="auto">
          <a:xfrm>
            <a:off x="3333750" y="6175375"/>
            <a:ext cx="22145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b="1">
                <a:latin typeface="Times New Roman" panose="02020603050405020304" pitchFamily="18" charset="0"/>
              </a:rPr>
              <a:t>hemoglobin</a:t>
            </a:r>
            <a:endParaRPr lang="en-US" altLang="zh-CN">
              <a:latin typeface="Times New Roman" panose="02020603050405020304" pitchFamily="18" charset="0"/>
            </a:endParaRPr>
          </a:p>
        </p:txBody>
      </p:sp>
      <p:sp>
        <p:nvSpPr>
          <p:cNvPr id="253956" name="Text Box 4">
            <a:extLst>
              <a:ext uri="{FF2B5EF4-FFF2-40B4-BE49-F238E27FC236}">
                <a16:creationId xmlns:a16="http://schemas.microsoft.com/office/drawing/2014/main" id="{F1018B4C-9CE3-435C-802B-701B55ED299B}"/>
              </a:ext>
            </a:extLst>
          </p:cNvPr>
          <p:cNvSpPr txBox="1">
            <a:spLocks noChangeArrowheads="1"/>
          </p:cNvSpPr>
          <p:nvPr/>
        </p:nvSpPr>
        <p:spPr bwMode="auto">
          <a:xfrm>
            <a:off x="457200" y="76200"/>
            <a:ext cx="79930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1">
                <a:solidFill>
                  <a:srgbClr val="FF0066"/>
                </a:solidFill>
                <a:latin typeface="Times New Roman" panose="02020603050405020304" pitchFamily="18" charset="0"/>
              </a:rPr>
              <a:t>4. Quaternary structure: macromolecular assembly</a:t>
            </a:r>
            <a:endParaRPr lang="en-US" altLang="zh-CN" sz="2400">
              <a:solidFill>
                <a:srgbClr val="FF0066"/>
              </a:solidFill>
              <a:latin typeface="Times New Roman" panose="02020603050405020304" pitchFamily="18" charset="0"/>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02" name="Picture 4" descr="get (3)">
            <a:extLst>
              <a:ext uri="{FF2B5EF4-FFF2-40B4-BE49-F238E27FC236}">
                <a16:creationId xmlns:a16="http://schemas.microsoft.com/office/drawing/2014/main" id="{AB09C525-302F-452B-8090-EBDA0B4BD6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0" y="806450"/>
            <a:ext cx="6985000" cy="524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extLst>
              <a:ext uri="{28A0092B-C50C-407E-A947-70E740481C1C}">
                <a14:useLocalDpi xmlns:a14="http://schemas.microsoft.com/office/drawing/2010/main" val="0"/>
              </a:ext>
            </a:extLst>
          </a:blip>
          <a:srcRect l="34186" t="10101"/>
          <a:stretch/>
        </p:blipFill>
        <p:spPr>
          <a:xfrm>
            <a:off x="1763688" y="332656"/>
            <a:ext cx="5094612" cy="6165304"/>
          </a:xfrm>
          <a:prstGeom prst="rect">
            <a:avLst/>
          </a:prstGeom>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8050" name="Picture 2">
            <a:extLst>
              <a:ext uri="{FF2B5EF4-FFF2-40B4-BE49-F238E27FC236}">
                <a16:creationId xmlns:a16="http://schemas.microsoft.com/office/drawing/2014/main" id="{D936C3AA-B71B-441D-AC22-183A529084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476250"/>
            <a:ext cx="68580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8051" name="Text Box 13">
            <a:extLst>
              <a:ext uri="{FF2B5EF4-FFF2-40B4-BE49-F238E27FC236}">
                <a16:creationId xmlns:a16="http://schemas.microsoft.com/office/drawing/2014/main" id="{A9A68910-8B4C-4DDC-8D1A-9DF112CDEAEA}"/>
              </a:ext>
            </a:extLst>
          </p:cNvPr>
          <p:cNvSpPr txBox="1">
            <a:spLocks noChangeArrowheads="1"/>
          </p:cNvSpPr>
          <p:nvPr/>
        </p:nvSpPr>
        <p:spPr bwMode="auto">
          <a:xfrm>
            <a:off x="3708400" y="6021388"/>
            <a:ext cx="34559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b="1">
                <a:solidFill>
                  <a:srgbClr val="FF0066"/>
                </a:solidFill>
              </a:rPr>
              <a:t>Hemoglobin</a:t>
            </a:r>
            <a:endParaRPr lang="zh-CN" altLang="en-US" b="1">
              <a:solidFill>
                <a:srgbClr val="FF0066"/>
              </a:solidFill>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0098" name="Picture 2">
            <a:extLst>
              <a:ext uri="{FF2B5EF4-FFF2-40B4-BE49-F238E27FC236}">
                <a16:creationId xmlns:a16="http://schemas.microsoft.com/office/drawing/2014/main" id="{D483D58C-A968-4D7C-B9B8-6160D10D84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736600"/>
            <a:ext cx="8026400" cy="538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Text Box 2">
            <a:extLst>
              <a:ext uri="{FF2B5EF4-FFF2-40B4-BE49-F238E27FC236}">
                <a16:creationId xmlns:a16="http://schemas.microsoft.com/office/drawing/2014/main" id="{00B0D59D-F185-48EE-9525-E04D502AAADC}"/>
              </a:ext>
            </a:extLst>
          </p:cNvPr>
          <p:cNvSpPr txBox="1">
            <a:spLocks noChangeArrowheads="1"/>
          </p:cNvSpPr>
          <p:nvPr/>
        </p:nvSpPr>
        <p:spPr bwMode="auto">
          <a:xfrm>
            <a:off x="381000" y="2209800"/>
            <a:ext cx="8458200" cy="265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50000"/>
              </a:spcBef>
              <a:buClrTx/>
              <a:buSzTx/>
              <a:buFontTx/>
              <a:buNone/>
            </a:pPr>
            <a:r>
              <a:rPr lang="en-US" altLang="zh-CN" sz="2800" b="1" dirty="0">
                <a:latin typeface="Times New Roman" panose="02020603050405020304" pitchFamily="18" charset="0"/>
              </a:rPr>
              <a:t>If a protein is made up of more than one polypeptide chain it is said to have quaternary structure. This refers to the spatial arrangement of the polypeptide subunits and the nature of the interactions between them.</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F383169-2380-4132-9D6C-36A43A289B9C}"/>
              </a:ext>
            </a:extLst>
          </p:cNvPr>
          <p:cNvSpPr txBox="1"/>
          <p:nvPr/>
        </p:nvSpPr>
        <p:spPr>
          <a:xfrm>
            <a:off x="1511660" y="2386790"/>
            <a:ext cx="6660740" cy="1077218"/>
          </a:xfrm>
          <a:prstGeom prst="rect">
            <a:avLst/>
          </a:prstGeom>
          <a:noFill/>
        </p:spPr>
        <p:txBody>
          <a:bodyPr wrap="square" rtlCol="0">
            <a:spAutoFit/>
          </a:bodyPr>
          <a:lstStyle/>
          <a:p>
            <a:r>
              <a:rPr lang="en-US" altLang="zh-CN" sz="3200" b="1" dirty="0"/>
              <a:t>What’s</a:t>
            </a:r>
            <a:r>
              <a:rPr lang="zh-CN" altLang="en-US" sz="3200" b="1" dirty="0"/>
              <a:t> </a:t>
            </a:r>
            <a:r>
              <a:rPr lang="en-US" altLang="zh-CN" sz="3200" b="1" dirty="0"/>
              <a:t>the</a:t>
            </a:r>
            <a:r>
              <a:rPr lang="zh-CN" altLang="en-US" sz="3200" b="1" dirty="0"/>
              <a:t> </a:t>
            </a:r>
            <a:r>
              <a:rPr lang="en-US" altLang="zh-CN" sz="3200" b="1" dirty="0"/>
              <a:t>relationship between protein structure and function?</a:t>
            </a:r>
            <a:endParaRPr lang="zh-CN" altLang="en-US" sz="3200" b="1" dirty="0"/>
          </a:p>
        </p:txBody>
      </p:sp>
    </p:spTree>
    <p:extLst>
      <p:ext uri="{BB962C8B-B14F-4D97-AF65-F5344CB8AC3E}">
        <p14:creationId xmlns:p14="http://schemas.microsoft.com/office/powerpoint/2010/main" val="25059179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Text Box 2">
            <a:extLst>
              <a:ext uri="{FF2B5EF4-FFF2-40B4-BE49-F238E27FC236}">
                <a16:creationId xmlns:a16="http://schemas.microsoft.com/office/drawing/2014/main" id="{0FFF12F5-C1A4-44C4-AB4D-4D804B5FD968}"/>
              </a:ext>
            </a:extLst>
          </p:cNvPr>
          <p:cNvSpPr txBox="1">
            <a:spLocks noChangeArrowheads="1"/>
          </p:cNvSpPr>
          <p:nvPr/>
        </p:nvSpPr>
        <p:spPr bwMode="auto">
          <a:xfrm>
            <a:off x="381000" y="304800"/>
            <a:ext cx="7620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solidFill>
                  <a:srgbClr val="FF0066"/>
                </a:solidFill>
                <a:latin typeface="Times New Roman" panose="02020603050405020304" pitchFamily="18" charset="0"/>
              </a:rPr>
              <a:t>5. Proteins denature under stress </a:t>
            </a:r>
            <a:endParaRPr lang="en-US" altLang="zh-CN" sz="2400" dirty="0">
              <a:latin typeface="Times New Roman" panose="02020603050405020304" pitchFamily="18" charset="0"/>
            </a:endParaRPr>
          </a:p>
        </p:txBody>
      </p:sp>
      <p:sp>
        <p:nvSpPr>
          <p:cNvPr id="263171" name="Text Box 3">
            <a:extLst>
              <a:ext uri="{FF2B5EF4-FFF2-40B4-BE49-F238E27FC236}">
                <a16:creationId xmlns:a16="http://schemas.microsoft.com/office/drawing/2014/main" id="{AA96EE93-D6CD-4A14-A581-238270835FDD}"/>
              </a:ext>
            </a:extLst>
          </p:cNvPr>
          <p:cNvSpPr txBox="1">
            <a:spLocks noChangeArrowheads="1"/>
          </p:cNvSpPr>
          <p:nvPr/>
        </p:nvSpPr>
        <p:spPr bwMode="auto">
          <a:xfrm>
            <a:off x="381000" y="1482725"/>
            <a:ext cx="8534400" cy="47656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35000"/>
              </a:spcBef>
              <a:buClrTx/>
              <a:buSzTx/>
              <a:buFontTx/>
              <a:buNone/>
            </a:pPr>
            <a:r>
              <a:rPr lang="en-US" altLang="zh-CN" sz="2800" b="1" dirty="0">
                <a:latin typeface="Times New Roman" panose="02020603050405020304" pitchFamily="18" charset="0"/>
              </a:rPr>
              <a:t>5.1 </a:t>
            </a:r>
            <a:r>
              <a:rPr lang="en-US" altLang="zh-CN" sz="2800" b="1" dirty="0">
                <a:solidFill>
                  <a:srgbClr val="FF0000"/>
                </a:solidFill>
                <a:latin typeface="Times New Roman" panose="02020603050405020304" pitchFamily="18" charset="0"/>
              </a:rPr>
              <a:t>Loss of tertiary structure (native conformation) is accompanied by loss of function</a:t>
            </a:r>
            <a:r>
              <a:rPr lang="en-US" altLang="zh-CN" sz="2800" b="1" dirty="0">
                <a:latin typeface="Times New Roman" panose="02020603050405020304" pitchFamily="18" charset="0"/>
              </a:rPr>
              <a:t>.</a:t>
            </a:r>
          </a:p>
          <a:p>
            <a:pPr eaLnBrk="1" hangingPunct="1">
              <a:lnSpc>
                <a:spcPct val="90000"/>
              </a:lnSpc>
              <a:spcBef>
                <a:spcPct val="35000"/>
              </a:spcBef>
              <a:buClrTx/>
              <a:buSzTx/>
              <a:buFontTx/>
              <a:buNone/>
            </a:pPr>
            <a:r>
              <a:rPr lang="en-US" altLang="zh-CN" sz="2800" b="1" dirty="0">
                <a:latin typeface="Times New Roman" panose="02020603050405020304" pitchFamily="18" charset="0"/>
              </a:rPr>
              <a:t>	5.1.1 Proteins are relatively easy to lose their tertiary structures due to their marginal stability maintained by noncovalent interactions.</a:t>
            </a:r>
          </a:p>
          <a:p>
            <a:pPr eaLnBrk="1" hangingPunct="1">
              <a:lnSpc>
                <a:spcPct val="90000"/>
              </a:lnSpc>
              <a:spcBef>
                <a:spcPct val="35000"/>
              </a:spcBef>
              <a:buClrTx/>
              <a:buSzTx/>
              <a:buFontTx/>
              <a:buNone/>
            </a:pPr>
            <a:r>
              <a:rPr lang="en-US" altLang="zh-CN" sz="2800" b="1" dirty="0">
                <a:latin typeface="Times New Roman" panose="02020603050405020304" pitchFamily="18" charset="0"/>
              </a:rPr>
              <a:t>	5.1.2 </a:t>
            </a:r>
            <a:r>
              <a:rPr lang="en-US" altLang="zh-CN" sz="2800" b="1" dirty="0">
                <a:solidFill>
                  <a:srgbClr val="FF0000"/>
                </a:solidFill>
                <a:latin typeface="Times New Roman" panose="02020603050405020304" pitchFamily="18" charset="0"/>
              </a:rPr>
              <a:t>The process of total loss or randomization of three-dimensional structure of proteins is called denaturation.</a:t>
            </a:r>
          </a:p>
          <a:p>
            <a:pPr eaLnBrk="1" hangingPunct="1">
              <a:lnSpc>
                <a:spcPct val="90000"/>
              </a:lnSpc>
              <a:spcBef>
                <a:spcPct val="35000"/>
              </a:spcBef>
              <a:buClrTx/>
              <a:buSzTx/>
              <a:buFontTx/>
              <a:buNone/>
            </a:pPr>
            <a:r>
              <a:rPr lang="en-US" altLang="zh-CN" sz="2800" b="1" dirty="0">
                <a:latin typeface="Times New Roman" panose="02020603050405020304" pitchFamily="18" charset="0"/>
              </a:rPr>
              <a:t>	5.1.3 Protein denaturation results from a change in the solvent environment that is sufficiently large to upset the forces that keep the protein structure intact.</a:t>
            </a:r>
            <a:endParaRPr lang="en-US" altLang="zh-CN" sz="2400" dirty="0">
              <a:latin typeface="Times New Roman" panose="02020603050405020304" pitchFamily="18" charset="0"/>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Text Box 2">
            <a:extLst>
              <a:ext uri="{FF2B5EF4-FFF2-40B4-BE49-F238E27FC236}">
                <a16:creationId xmlns:a16="http://schemas.microsoft.com/office/drawing/2014/main" id="{47E80E4E-DA54-43FE-B972-FF749045F1D9}"/>
              </a:ext>
            </a:extLst>
          </p:cNvPr>
          <p:cNvSpPr txBox="1">
            <a:spLocks noChangeArrowheads="1"/>
          </p:cNvSpPr>
          <p:nvPr/>
        </p:nvSpPr>
        <p:spPr bwMode="auto">
          <a:xfrm>
            <a:off x="152400" y="152400"/>
            <a:ext cx="8763000" cy="61118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80000"/>
              </a:lnSpc>
              <a:spcBef>
                <a:spcPct val="30000"/>
              </a:spcBef>
              <a:buClrTx/>
              <a:buSzTx/>
              <a:buFontTx/>
              <a:buNone/>
            </a:pPr>
            <a:r>
              <a:rPr lang="zh-CN" altLang="en-US" sz="2400" dirty="0">
                <a:latin typeface="Times New Roman" panose="02020603050405020304" pitchFamily="18" charset="0"/>
              </a:rPr>
              <a:t>	</a:t>
            </a:r>
            <a:r>
              <a:rPr lang="en-US" altLang="zh-CN" sz="2800" b="1" dirty="0">
                <a:latin typeface="Times New Roman" panose="02020603050405020304" pitchFamily="18" charset="0"/>
              </a:rPr>
              <a:t>5.1.4 Many means can cause protein to denature:</a:t>
            </a:r>
          </a:p>
          <a:p>
            <a:pPr eaLnBrk="1" hangingPunct="1">
              <a:lnSpc>
                <a:spcPct val="80000"/>
              </a:lnSpc>
              <a:spcBef>
                <a:spcPct val="30000"/>
              </a:spcBef>
              <a:buClrTx/>
              <a:buSzTx/>
              <a:buFontTx/>
              <a:buNone/>
            </a:pPr>
            <a:r>
              <a:rPr lang="en-US" altLang="zh-CN" sz="2800" b="1" dirty="0">
                <a:latin typeface="Times New Roman" panose="02020603050405020304" pitchFamily="18" charset="0"/>
              </a:rPr>
              <a:t>		Heating: unbalance the compensating enthalpic and entropic contributions, thermal motion causes melting.</a:t>
            </a:r>
          </a:p>
          <a:p>
            <a:pPr eaLnBrk="1" hangingPunct="1">
              <a:lnSpc>
                <a:spcPct val="80000"/>
              </a:lnSpc>
              <a:spcBef>
                <a:spcPct val="30000"/>
              </a:spcBef>
              <a:buClrTx/>
              <a:buSzTx/>
              <a:buFontTx/>
              <a:buNone/>
            </a:pPr>
            <a:r>
              <a:rPr lang="en-US" altLang="zh-CN" sz="2800" b="1" dirty="0">
                <a:latin typeface="Times New Roman" panose="02020603050405020304" pitchFamily="18" charset="0"/>
              </a:rPr>
              <a:t>		Extreme pH: upset the balance of a protein’s charge interactions.</a:t>
            </a:r>
          </a:p>
          <a:p>
            <a:pPr eaLnBrk="1" hangingPunct="1">
              <a:lnSpc>
                <a:spcPct val="80000"/>
              </a:lnSpc>
              <a:spcBef>
                <a:spcPct val="30000"/>
              </a:spcBef>
              <a:buClrTx/>
              <a:buSzTx/>
              <a:buFontTx/>
              <a:buNone/>
            </a:pPr>
            <a:r>
              <a:rPr lang="en-US" altLang="zh-CN" sz="2800" b="1" dirty="0">
                <a:latin typeface="Times New Roman" panose="02020603050405020304" pitchFamily="18" charset="0"/>
              </a:rPr>
              <a:t>		Miscible organic solvents (alcohol and acetone): solvent polarity and hydrogen bonding.</a:t>
            </a:r>
          </a:p>
          <a:p>
            <a:pPr eaLnBrk="1" hangingPunct="1">
              <a:lnSpc>
                <a:spcPct val="80000"/>
              </a:lnSpc>
              <a:spcBef>
                <a:spcPct val="30000"/>
              </a:spcBef>
              <a:buClrTx/>
              <a:buSzTx/>
              <a:buFontTx/>
              <a:buNone/>
            </a:pPr>
            <a:r>
              <a:rPr lang="en-US" altLang="zh-CN" sz="2800" b="1" dirty="0">
                <a:latin typeface="Times New Roman" panose="02020603050405020304" pitchFamily="18" charset="0"/>
              </a:rPr>
              <a:t>		Solutes (urea, guanidine): provide alternative hydrogen bonding.</a:t>
            </a:r>
          </a:p>
          <a:p>
            <a:pPr eaLnBrk="1" hangingPunct="1">
              <a:lnSpc>
                <a:spcPct val="80000"/>
              </a:lnSpc>
              <a:spcBef>
                <a:spcPct val="30000"/>
              </a:spcBef>
              <a:buClrTx/>
              <a:buSzTx/>
              <a:buFontTx/>
              <a:buNone/>
            </a:pPr>
            <a:r>
              <a:rPr lang="en-US" altLang="zh-CN" sz="2800" b="1" dirty="0">
                <a:latin typeface="Times New Roman" panose="02020603050405020304" pitchFamily="18" charset="0"/>
              </a:rPr>
              <a:t>		Detergents (SDS): introducing their hydrophobic tails into the protein’s interior. </a:t>
            </a:r>
          </a:p>
          <a:p>
            <a:pPr eaLnBrk="1" hangingPunct="1">
              <a:lnSpc>
                <a:spcPct val="80000"/>
              </a:lnSpc>
              <a:spcBef>
                <a:spcPct val="30000"/>
              </a:spcBef>
              <a:buClrTx/>
              <a:buSzTx/>
              <a:buFontTx/>
              <a:buNone/>
            </a:pPr>
            <a:r>
              <a:rPr lang="en-US" altLang="zh-CN" sz="2800" b="1" dirty="0">
                <a:latin typeface="Times New Roman" panose="02020603050405020304" pitchFamily="18" charset="0"/>
              </a:rPr>
              <a:t>	</a:t>
            </a:r>
          </a:p>
          <a:p>
            <a:pPr eaLnBrk="1" hangingPunct="1">
              <a:lnSpc>
                <a:spcPct val="80000"/>
              </a:lnSpc>
              <a:spcBef>
                <a:spcPct val="30000"/>
              </a:spcBef>
              <a:buClrTx/>
              <a:buSzTx/>
              <a:buFontTx/>
              <a:buNone/>
            </a:pPr>
            <a:r>
              <a:rPr lang="en-US" altLang="zh-CN" sz="2800" b="1" dirty="0">
                <a:latin typeface="Times New Roman" panose="02020603050405020304" pitchFamily="18" charset="0"/>
              </a:rPr>
              <a:t>	5.1.5 The mechanism of many of these denaturing processes are fully understood.</a:t>
            </a:r>
            <a:endParaRPr lang="en-US" altLang="zh-CN" sz="2400" dirty="0">
              <a:latin typeface="Times New Roman" panose="02020603050405020304" pitchFamily="18" charset="0"/>
            </a:endParaRP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5218" name="Picture 2" descr="3-27">
            <a:extLst>
              <a:ext uri="{FF2B5EF4-FFF2-40B4-BE49-F238E27FC236}">
                <a16:creationId xmlns:a16="http://schemas.microsoft.com/office/drawing/2014/main" id="{A6AC7E4F-47E6-487A-AE54-E5C39CEE44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1916113"/>
            <a:ext cx="7197725" cy="410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Text Box 2">
            <a:extLst>
              <a:ext uri="{FF2B5EF4-FFF2-40B4-BE49-F238E27FC236}">
                <a16:creationId xmlns:a16="http://schemas.microsoft.com/office/drawing/2014/main" id="{45987EE7-678B-4FC2-9F4C-7C2531F1F594}"/>
              </a:ext>
            </a:extLst>
          </p:cNvPr>
          <p:cNvSpPr txBox="1">
            <a:spLocks noChangeArrowheads="1"/>
          </p:cNvSpPr>
          <p:nvPr/>
        </p:nvSpPr>
        <p:spPr bwMode="auto">
          <a:xfrm>
            <a:off x="838200" y="609600"/>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a:latin typeface="Times New Roman" panose="02020603050405020304" pitchFamily="18" charset="0"/>
              </a:rPr>
              <a:t>	</a:t>
            </a:r>
          </a:p>
        </p:txBody>
      </p:sp>
      <p:sp>
        <p:nvSpPr>
          <p:cNvPr id="266243" name="Text Box 3">
            <a:extLst>
              <a:ext uri="{FF2B5EF4-FFF2-40B4-BE49-F238E27FC236}">
                <a16:creationId xmlns:a16="http://schemas.microsoft.com/office/drawing/2014/main" id="{DE16D390-AC3B-44FD-BD7F-7C6A61E55DBD}"/>
              </a:ext>
            </a:extLst>
          </p:cNvPr>
          <p:cNvSpPr txBox="1">
            <a:spLocks noChangeArrowheads="1"/>
          </p:cNvSpPr>
          <p:nvPr/>
        </p:nvSpPr>
        <p:spPr bwMode="auto">
          <a:xfrm>
            <a:off x="228600" y="144463"/>
            <a:ext cx="8763000" cy="547842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5.2 Denaturation of some proteins is reversible.</a:t>
            </a:r>
          </a:p>
          <a:p>
            <a:pPr eaLnBrk="1" hangingPunct="1">
              <a:spcBef>
                <a:spcPct val="50000"/>
              </a:spcBef>
              <a:buClrTx/>
              <a:buSzTx/>
              <a:buFontTx/>
              <a:buNone/>
            </a:pPr>
            <a:r>
              <a:rPr lang="en-US" altLang="zh-CN" sz="2800" b="1" dirty="0">
                <a:latin typeface="Times New Roman" panose="02020603050405020304" pitchFamily="18" charset="0"/>
              </a:rPr>
              <a:t>	5.2.1 </a:t>
            </a:r>
            <a:r>
              <a:rPr lang="en-US" altLang="zh-CN" sz="2800" b="1" dirty="0">
                <a:solidFill>
                  <a:srgbClr val="FF0000"/>
                </a:solidFill>
                <a:latin typeface="Times New Roman" panose="02020603050405020304" pitchFamily="18" charset="0"/>
              </a:rPr>
              <a:t>Some denatured globular proteins will regain their native structure and their biological activity once returned to conditions in which the native conformation is stable. This process is called renaturation</a:t>
            </a:r>
            <a:r>
              <a:rPr lang="en-US" altLang="zh-CN" sz="2800" b="1" dirty="0">
                <a:latin typeface="Times New Roman" panose="02020603050405020304" pitchFamily="18" charset="0"/>
              </a:rPr>
              <a:t>.</a:t>
            </a:r>
          </a:p>
          <a:p>
            <a:pPr eaLnBrk="1" hangingPunct="1">
              <a:spcBef>
                <a:spcPct val="50000"/>
              </a:spcBef>
              <a:buClrTx/>
              <a:buSzTx/>
              <a:buFontTx/>
              <a:buNone/>
            </a:pPr>
            <a:r>
              <a:rPr lang="en-US" altLang="zh-CN" sz="2800" b="1" dirty="0">
                <a:latin typeface="Times New Roman" panose="02020603050405020304" pitchFamily="18" charset="0"/>
              </a:rPr>
              <a:t>	5.2.2 The </a:t>
            </a:r>
            <a:r>
              <a:rPr lang="en-US" altLang="zh-CN" sz="2800" b="1" dirty="0">
                <a:solidFill>
                  <a:srgbClr val="FF0000"/>
                </a:solidFill>
                <a:latin typeface="Times New Roman" panose="02020603050405020304" pitchFamily="18" charset="0"/>
              </a:rPr>
              <a:t>denaturation</a:t>
            </a:r>
            <a:r>
              <a:rPr lang="en-US" altLang="zh-CN" sz="2800" b="1" dirty="0">
                <a:latin typeface="Times New Roman" panose="02020603050405020304" pitchFamily="18" charset="0"/>
              </a:rPr>
              <a:t> and </a:t>
            </a:r>
            <a:r>
              <a:rPr lang="en-US" altLang="zh-CN" sz="2800" b="1" dirty="0">
                <a:solidFill>
                  <a:srgbClr val="FF0000"/>
                </a:solidFill>
                <a:latin typeface="Times New Roman" panose="02020603050405020304" pitchFamily="18" charset="0"/>
              </a:rPr>
              <a:t>renaturation</a:t>
            </a:r>
            <a:r>
              <a:rPr lang="en-US" altLang="zh-CN" sz="2800" b="1" dirty="0">
                <a:latin typeface="Times New Roman" panose="02020603050405020304" pitchFamily="18" charset="0"/>
              </a:rPr>
              <a:t> phenomena were originally observed on ribonuclease A by chance by Christian Anfinsen (1960s).</a:t>
            </a:r>
          </a:p>
          <a:p>
            <a:pPr eaLnBrk="1" hangingPunct="1">
              <a:spcBef>
                <a:spcPct val="50000"/>
              </a:spcBef>
              <a:buClrTx/>
              <a:buSzTx/>
              <a:buFontTx/>
              <a:buNone/>
            </a:pPr>
            <a:r>
              <a:rPr lang="en-US" altLang="zh-CN" sz="2800" b="1" dirty="0">
                <a:latin typeface="Times New Roman" panose="02020603050405020304" pitchFamily="18" charset="0"/>
              </a:rPr>
              <a:t>	5.2.3 Ribonuclease A became reduced and randomly coiled (denatured) in 8 M urea plus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a:t>
            </a:r>
            <a:r>
              <a:rPr lang="en-US" altLang="zh-CN" sz="2800" b="1" dirty="0" err="1">
                <a:latin typeface="Times New Roman" panose="02020603050405020304" pitchFamily="18" charset="0"/>
              </a:rPr>
              <a:t>mercaptoethanol</a:t>
            </a:r>
            <a:r>
              <a:rPr lang="en-US" altLang="zh-CN" sz="2800" b="1" dirty="0">
                <a:latin typeface="Times New Roman" panose="02020603050405020304" pitchFamily="18" charset="0"/>
              </a:rPr>
              <a:t>, with a loss of the enzymatic activity.</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7266" name="Picture 2">
            <a:extLst>
              <a:ext uri="{FF2B5EF4-FFF2-40B4-BE49-F238E27FC236}">
                <a16:creationId xmlns:a16="http://schemas.microsoft.com/office/drawing/2014/main" id="{C0FFAE8F-CBCA-4C71-A3DD-9CEF131994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2400" y="254000"/>
            <a:ext cx="37592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AE614A84-966B-43A4-85F5-C370217D1985}"/>
              </a:ext>
            </a:extLst>
          </p:cNvPr>
          <p:cNvSpPr/>
          <p:nvPr/>
        </p:nvSpPr>
        <p:spPr>
          <a:xfrm>
            <a:off x="4572000" y="1700808"/>
            <a:ext cx="2108911" cy="646331"/>
          </a:xfrm>
          <a:prstGeom prst="rect">
            <a:avLst/>
          </a:prstGeom>
        </p:spPr>
        <p:txBody>
          <a:bodyPr wrap="none">
            <a:spAutoFit/>
          </a:bodyPr>
          <a:lstStyle/>
          <a:p>
            <a:r>
              <a:rPr lang="en-US" altLang="zh-CN" b="1" dirty="0">
                <a:latin typeface="Times New Roman" panose="02020603050405020304" pitchFamily="18" charset="0"/>
              </a:rPr>
              <a:t>8 M urea plus</a:t>
            </a:r>
          </a:p>
          <a:p>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a:t>
            </a:r>
            <a:r>
              <a:rPr lang="en-US" altLang="zh-CN" b="1" dirty="0" err="1">
                <a:latin typeface="Times New Roman" panose="02020603050405020304" pitchFamily="18" charset="0"/>
              </a:rPr>
              <a:t>mercaptoethanol</a:t>
            </a:r>
            <a:endParaRPr lang="zh-CN" altLang="en-US"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Text Box 2">
            <a:extLst>
              <a:ext uri="{FF2B5EF4-FFF2-40B4-BE49-F238E27FC236}">
                <a16:creationId xmlns:a16="http://schemas.microsoft.com/office/drawing/2014/main" id="{257E7D20-EB81-4D38-96EA-F2249C9262B1}"/>
              </a:ext>
            </a:extLst>
          </p:cNvPr>
          <p:cNvSpPr txBox="1">
            <a:spLocks noChangeArrowheads="1"/>
          </p:cNvSpPr>
          <p:nvPr/>
        </p:nvSpPr>
        <p:spPr bwMode="auto">
          <a:xfrm>
            <a:off x="266700" y="130004"/>
            <a:ext cx="8610600" cy="6727996"/>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80000"/>
              </a:lnSpc>
              <a:spcBef>
                <a:spcPct val="30000"/>
              </a:spcBef>
              <a:buClrTx/>
              <a:buSzTx/>
              <a:buFontTx/>
              <a:buNone/>
            </a:pPr>
            <a:r>
              <a:rPr lang="zh-CN" altLang="en-US" sz="2400" dirty="0">
                <a:latin typeface="Times New Roman" panose="02020603050405020304" pitchFamily="18" charset="0"/>
              </a:rPr>
              <a:t>	</a:t>
            </a:r>
            <a:r>
              <a:rPr lang="en-US" altLang="zh-CN" sz="2800" b="1" dirty="0">
                <a:latin typeface="Times New Roman" panose="02020603050405020304" pitchFamily="18" charset="0"/>
              </a:rPr>
              <a:t>5.2.4 When urea and </a:t>
            </a:r>
            <a:r>
              <a:rPr lang="en-US" altLang="zh-CN" sz="2800" b="1" dirty="0">
                <a:latin typeface="Symbol" panose="05050102010706020507" pitchFamily="18" charset="2"/>
              </a:rPr>
              <a:t>b</a:t>
            </a:r>
            <a:r>
              <a:rPr lang="en-US" altLang="zh-CN" sz="2800" b="1" dirty="0">
                <a:latin typeface="Times New Roman" panose="02020603050405020304" pitchFamily="18" charset="0"/>
              </a:rPr>
              <a:t>-</a:t>
            </a:r>
            <a:r>
              <a:rPr lang="en-US" altLang="zh-CN" sz="2800" b="1" dirty="0" err="1">
                <a:latin typeface="Times New Roman" panose="02020603050405020304" pitchFamily="18" charset="0"/>
              </a:rPr>
              <a:t>mercaptoethanol</a:t>
            </a:r>
            <a:r>
              <a:rPr lang="en-US" altLang="zh-CN" sz="2800" b="1" dirty="0">
                <a:latin typeface="Times New Roman" panose="02020603050405020304" pitchFamily="18" charset="0"/>
              </a:rPr>
              <a:t> were removed, the enzymatic activity was slowly regained until full recovery under stable conditions.</a:t>
            </a:r>
          </a:p>
          <a:p>
            <a:pPr eaLnBrk="1" hangingPunct="1">
              <a:lnSpc>
                <a:spcPct val="80000"/>
              </a:lnSpc>
              <a:spcBef>
                <a:spcPct val="30000"/>
              </a:spcBef>
              <a:buClrTx/>
              <a:buSzTx/>
              <a:buFontTx/>
              <a:buNone/>
            </a:pPr>
            <a:r>
              <a:rPr lang="en-US" altLang="zh-CN" sz="2800" b="1" dirty="0">
                <a:latin typeface="Times New Roman" panose="02020603050405020304" pitchFamily="18" charset="0"/>
              </a:rPr>
              <a:t>	5.2.5 All the physical and chemical properties of the refolded enzyme were virtually identical with those of the native enzyme.</a:t>
            </a:r>
          </a:p>
          <a:p>
            <a:pPr eaLnBrk="1" hangingPunct="1">
              <a:lnSpc>
                <a:spcPct val="80000"/>
              </a:lnSpc>
              <a:spcBef>
                <a:spcPct val="30000"/>
              </a:spcBef>
              <a:buClrTx/>
              <a:buSzTx/>
              <a:buFontTx/>
              <a:buNone/>
            </a:pPr>
            <a:r>
              <a:rPr lang="en-US" altLang="zh-CN" sz="2800" b="1" dirty="0">
                <a:latin typeface="Times New Roman" panose="02020603050405020304" pitchFamily="18" charset="0"/>
              </a:rPr>
              <a:t>	5.2.6 </a:t>
            </a:r>
            <a:r>
              <a:rPr lang="en-US" altLang="zh-CN" sz="2800" b="1" dirty="0">
                <a:solidFill>
                  <a:srgbClr val="FF0000"/>
                </a:solidFill>
                <a:latin typeface="Times New Roman" panose="02020603050405020304" pitchFamily="18" charset="0"/>
              </a:rPr>
              <a:t>Conclusion: the information needed to specify the complex tertiary structure of ribonuclease A is all contained in its amino acid sequence.</a:t>
            </a:r>
          </a:p>
          <a:p>
            <a:pPr>
              <a:lnSpc>
                <a:spcPct val="80000"/>
              </a:lnSpc>
              <a:spcBef>
                <a:spcPct val="30000"/>
              </a:spcBef>
              <a:buNone/>
            </a:pPr>
            <a:r>
              <a:rPr lang="en-US" altLang="zh-CN" sz="2800" b="1" dirty="0">
                <a:solidFill>
                  <a:srgbClr val="FF0000"/>
                </a:solidFill>
                <a:latin typeface="Times New Roman" panose="02020603050405020304" pitchFamily="18" charset="0"/>
              </a:rPr>
              <a:t>The 3-D structure of a protein is determined by its amino acid sequence; The function of protein depends on its structure.</a:t>
            </a:r>
          </a:p>
          <a:p>
            <a:pPr>
              <a:lnSpc>
                <a:spcPct val="80000"/>
              </a:lnSpc>
              <a:spcBef>
                <a:spcPct val="30000"/>
              </a:spcBef>
              <a:buNone/>
            </a:pPr>
            <a:r>
              <a:rPr lang="zh-CN" altLang="en-US" sz="2800" b="1" dirty="0">
                <a:solidFill>
                  <a:srgbClr val="FF0000"/>
                </a:solidFill>
                <a:latin typeface="Times New Roman" panose="02020603050405020304" pitchFamily="18" charset="0"/>
              </a:rPr>
              <a:t>（一级结构决定高级结构，高级结构决定功能</a:t>
            </a:r>
            <a:r>
              <a:rPr lang="en-US" altLang="zh-CN" sz="2800" b="1" dirty="0">
                <a:solidFill>
                  <a:srgbClr val="FF0000"/>
                </a:solidFill>
                <a:latin typeface="Times New Roman" panose="02020603050405020304" pitchFamily="18" charset="0"/>
              </a:rPr>
              <a:t>)</a:t>
            </a:r>
          </a:p>
          <a:p>
            <a:pPr eaLnBrk="1" hangingPunct="1">
              <a:lnSpc>
                <a:spcPct val="80000"/>
              </a:lnSpc>
              <a:spcBef>
                <a:spcPct val="30000"/>
              </a:spcBef>
              <a:buClrTx/>
              <a:buSzTx/>
              <a:buFontTx/>
              <a:buNone/>
            </a:pPr>
            <a:r>
              <a:rPr lang="en-US" altLang="zh-CN" sz="2800" b="1" dirty="0">
                <a:latin typeface="Times New Roman" panose="02020603050405020304" pitchFamily="18" charset="0"/>
              </a:rPr>
              <a:t>	5.2.7 Subsequent studies have established the generality of this central principle of molecular biology: sequence specifies conformation.</a:t>
            </a:r>
          </a:p>
          <a:p>
            <a:pPr eaLnBrk="1" hangingPunct="1">
              <a:lnSpc>
                <a:spcPct val="80000"/>
              </a:lnSpc>
              <a:spcBef>
                <a:spcPct val="30000"/>
              </a:spcBef>
              <a:buClrTx/>
              <a:buSzTx/>
              <a:buFontTx/>
              <a:buNone/>
            </a:pPr>
            <a:r>
              <a:rPr lang="en-US" altLang="zh-CN" sz="2800" b="1" dirty="0">
                <a:latin typeface="Times New Roman" panose="02020603050405020304" pitchFamily="18" charset="0"/>
              </a:rPr>
              <a:t>Nobel Prize in Chemistry in 1972 to Anfinsen.</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0338" name="Picture 2" descr="2">
            <a:extLst>
              <a:ext uri="{FF2B5EF4-FFF2-40B4-BE49-F238E27FC236}">
                <a16:creationId xmlns:a16="http://schemas.microsoft.com/office/drawing/2014/main" id="{3F2567D1-A5E3-43F3-8D9A-BFD44C7C1F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011238"/>
            <a:ext cx="6335713" cy="475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Text Box 2">
            <a:extLst>
              <a:ext uri="{FF2B5EF4-FFF2-40B4-BE49-F238E27FC236}">
                <a16:creationId xmlns:a16="http://schemas.microsoft.com/office/drawing/2014/main" id="{81B9C841-F8F8-4159-9721-44C0C6CC5BD0}"/>
              </a:ext>
            </a:extLst>
          </p:cNvPr>
          <p:cNvSpPr txBox="1">
            <a:spLocks noChangeArrowheads="1"/>
          </p:cNvSpPr>
          <p:nvPr/>
        </p:nvSpPr>
        <p:spPr bwMode="auto">
          <a:xfrm>
            <a:off x="179388" y="3789363"/>
            <a:ext cx="8713787" cy="246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spcBef>
                <a:spcPct val="0"/>
              </a:spcBef>
            </a:pPr>
            <a:r>
              <a:rPr lang="en-US" altLang="zh-CN" b="1">
                <a:solidFill>
                  <a:srgbClr val="000000"/>
                </a:solidFill>
                <a:latin typeface="Times New Roman" panose="02020603050405020304" pitchFamily="18" charset="0"/>
              </a:rPr>
              <a:t>Anfinsen studied how the enzyme ribonuclease breaks down the ribonucleic acid (RNA) present in food. Anfinsen was able to ascertain how the ribonuclease molecule folds to form the characteristic three-dimensional structure that is compatible with its function.</a:t>
            </a:r>
            <a:endParaRPr lang="en-US" altLang="zh-CN" b="1">
              <a:latin typeface="Times New Roman" panose="02020603050405020304" pitchFamily="18" charset="0"/>
            </a:endParaRPr>
          </a:p>
          <a:p>
            <a:pPr eaLnBrk="1" hangingPunct="1"/>
            <a:endParaRPr lang="zh-CN" altLang="en-US" b="1">
              <a:latin typeface="Times New Roman" panose="02020603050405020304" pitchFamily="18" charset="0"/>
            </a:endParaRPr>
          </a:p>
        </p:txBody>
      </p:sp>
      <p:pic>
        <p:nvPicPr>
          <p:cNvPr id="271363" name="Picture 3" descr="anfinsen">
            <a:extLst>
              <a:ext uri="{FF2B5EF4-FFF2-40B4-BE49-F238E27FC236}">
                <a16:creationId xmlns:a16="http://schemas.microsoft.com/office/drawing/2014/main" id="{7B70D2D6-1F30-478E-AC03-9EE3FAF382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765175"/>
            <a:ext cx="1584325"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364" name="Text Box 4">
            <a:extLst>
              <a:ext uri="{FF2B5EF4-FFF2-40B4-BE49-F238E27FC236}">
                <a16:creationId xmlns:a16="http://schemas.microsoft.com/office/drawing/2014/main" id="{C7C03F3B-81F3-427E-8213-B7BBA8EB2F35}"/>
              </a:ext>
            </a:extLst>
          </p:cNvPr>
          <p:cNvSpPr txBox="1">
            <a:spLocks noChangeArrowheads="1"/>
          </p:cNvSpPr>
          <p:nvPr/>
        </p:nvSpPr>
        <p:spPr bwMode="auto">
          <a:xfrm>
            <a:off x="2987675" y="1125538"/>
            <a:ext cx="4968875" cy="146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600" b="1" dirty="0">
                <a:latin typeface="Times New Roman" panose="02020603050405020304" pitchFamily="18" charset="0"/>
              </a:rPr>
              <a:t>Anfinsen Christian B.</a:t>
            </a:r>
          </a:p>
          <a:p>
            <a:pPr eaLnBrk="1" hangingPunct="1"/>
            <a:r>
              <a:rPr lang="en-US" altLang="zh-CN" sz="3600" b="1" dirty="0">
                <a:latin typeface="Times New Roman" panose="02020603050405020304" pitchFamily="18" charset="0"/>
              </a:rPr>
              <a:t>1972 </a:t>
            </a:r>
            <a:r>
              <a:rPr lang="zh-CN" altLang="en-US" sz="3600" b="1" dirty="0">
                <a:latin typeface="Times New Roman" panose="02020603050405020304" pitchFamily="18" charset="0"/>
              </a:rPr>
              <a:t>获诺贝尔奖</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Text Box 2">
            <a:extLst>
              <a:ext uri="{FF2B5EF4-FFF2-40B4-BE49-F238E27FC236}">
                <a16:creationId xmlns:a16="http://schemas.microsoft.com/office/drawing/2014/main" id="{D9BF7556-BAA2-4AC6-81EB-804998F79199}"/>
              </a:ext>
            </a:extLst>
          </p:cNvPr>
          <p:cNvSpPr txBox="1">
            <a:spLocks noChangeArrowheads="1"/>
          </p:cNvSpPr>
          <p:nvPr/>
        </p:nvSpPr>
        <p:spPr bwMode="auto">
          <a:xfrm>
            <a:off x="304800" y="533400"/>
            <a:ext cx="8382000" cy="47910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5.3 </a:t>
            </a:r>
            <a:r>
              <a:rPr lang="en-US" altLang="zh-CN" sz="2800" b="1" dirty="0">
                <a:solidFill>
                  <a:srgbClr val="FF0000"/>
                </a:solidFill>
                <a:latin typeface="Times New Roman" panose="02020603050405020304" pitchFamily="18" charset="0"/>
              </a:rPr>
              <a:t>The tertiary structures of proteins are not rigid.</a:t>
            </a:r>
          </a:p>
          <a:p>
            <a:pPr eaLnBrk="1" hangingPunct="1">
              <a:spcBef>
                <a:spcPct val="50000"/>
              </a:spcBef>
              <a:buClrTx/>
              <a:buSzTx/>
              <a:buFontTx/>
              <a:buNone/>
            </a:pPr>
            <a:r>
              <a:rPr lang="en-US" altLang="zh-CN" sz="2800" b="1" dirty="0">
                <a:latin typeface="Times New Roman" panose="02020603050405020304" pitchFamily="18" charset="0"/>
              </a:rPr>
              <a:t>	5.3.1 Many studies have found that globular proteins have certain amount of flexibility in their backbones and undergo short-range internal fluctuations.</a:t>
            </a:r>
          </a:p>
          <a:p>
            <a:pPr eaLnBrk="1" hangingPunct="1">
              <a:spcBef>
                <a:spcPct val="50000"/>
              </a:spcBef>
              <a:buClrTx/>
              <a:buSzTx/>
              <a:buFontTx/>
              <a:buNone/>
            </a:pPr>
            <a:r>
              <a:rPr lang="en-US" altLang="zh-CN" sz="2800" b="1" dirty="0">
                <a:latin typeface="Times New Roman" panose="02020603050405020304" pitchFamily="18" charset="0"/>
              </a:rPr>
              <a:t>	5.3.2 </a:t>
            </a:r>
            <a:r>
              <a:rPr lang="en-US" altLang="zh-CN" sz="2800" b="1" dirty="0">
                <a:solidFill>
                  <a:srgbClr val="FF0000"/>
                </a:solidFill>
                <a:latin typeface="Times New Roman" panose="02020603050405020304" pitchFamily="18" charset="0"/>
              </a:rPr>
              <a:t>Many proteins undergo small conformational changes</a:t>
            </a:r>
            <a:r>
              <a:rPr lang="en-US" altLang="zh-CN" sz="2800" b="1" dirty="0">
                <a:latin typeface="Times New Roman" panose="02020603050405020304" pitchFamily="18" charset="0"/>
              </a:rPr>
              <a:t> in the course of their biological function (e.g., O</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-bound hemoglobin differs from O</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-free hemoglobin, substrate binding to enzymes often causes conformational changes).</a:t>
            </a:r>
            <a:endParaRPr lang="en-US" altLang="zh-CN" sz="2400" dirty="0">
              <a:latin typeface="Times New Roman" panose="02020603050405020304" pitchFamily="18" charset="0"/>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a:extLst>
              <a:ext uri="{FF2B5EF4-FFF2-40B4-BE49-F238E27FC236}">
                <a16:creationId xmlns:a16="http://schemas.microsoft.com/office/drawing/2014/main" id="{CD7E757E-40CB-4EBE-A83E-124A4E640B46}"/>
              </a:ext>
            </a:extLst>
          </p:cNvPr>
          <p:cNvSpPr>
            <a:spLocks noGrp="1" noChangeArrowheads="1"/>
          </p:cNvSpPr>
          <p:nvPr>
            <p:ph type="title"/>
          </p:nvPr>
        </p:nvSpPr>
        <p:spPr/>
        <p:txBody>
          <a:bodyPr/>
          <a:lstStyle/>
          <a:p>
            <a:pPr algn="l"/>
            <a:r>
              <a:rPr lang="en-US" altLang="zh-CN" dirty="0"/>
              <a:t>6.Protein folding</a:t>
            </a:r>
          </a:p>
        </p:txBody>
      </p:sp>
      <p:sp>
        <p:nvSpPr>
          <p:cNvPr id="273411" name="Rectangle 3">
            <a:extLst>
              <a:ext uri="{FF2B5EF4-FFF2-40B4-BE49-F238E27FC236}">
                <a16:creationId xmlns:a16="http://schemas.microsoft.com/office/drawing/2014/main" id="{06BF1DBE-1F2B-40FF-83B3-2F176EA65C9D}"/>
              </a:ext>
            </a:extLst>
          </p:cNvPr>
          <p:cNvSpPr>
            <a:spLocks noGrp="1" noChangeArrowheads="1"/>
          </p:cNvSpPr>
          <p:nvPr>
            <p:ph type="body" idx="1"/>
          </p:nvPr>
        </p:nvSpPr>
        <p:spPr>
          <a:xfrm>
            <a:off x="611188" y="2017713"/>
            <a:ext cx="8343900" cy="4364037"/>
          </a:xfrm>
        </p:spPr>
        <p:txBody>
          <a:bodyPr/>
          <a:lstStyle/>
          <a:p>
            <a:pPr>
              <a:lnSpc>
                <a:spcPct val="90000"/>
              </a:lnSpc>
              <a:buFont typeface="Wingdings" panose="05000000000000000000" pitchFamily="2" charset="2"/>
              <a:buNone/>
            </a:pPr>
            <a:r>
              <a:rPr lang="en-US" altLang="zh-CN" dirty="0"/>
              <a:t>           Although proteins can fold </a:t>
            </a:r>
            <a:r>
              <a:rPr lang="en-US" altLang="zh-CN" dirty="0">
                <a:solidFill>
                  <a:srgbClr val="FF0000"/>
                </a:solidFill>
                <a:latin typeface="Times New Roman" panose="02020603050405020304" pitchFamily="18" charset="0"/>
              </a:rPr>
              <a:t>spontaneously </a:t>
            </a:r>
            <a:r>
              <a:rPr lang="en-US" altLang="zh-CN" i="1" dirty="0">
                <a:latin typeface="Times New Roman" panose="02020603050405020304" pitchFamily="18" charset="0"/>
              </a:rPr>
              <a:t>in intro</a:t>
            </a:r>
            <a:r>
              <a:rPr lang="en-US" altLang="zh-CN" dirty="0"/>
              <a:t> without the presence of accessory proteins, this process can take minutes to days. </a:t>
            </a:r>
            <a:r>
              <a:rPr lang="en-US" altLang="zh-CN" i="1" dirty="0">
                <a:latin typeface="Times New Roman" panose="02020603050405020304" pitchFamily="18" charset="0"/>
              </a:rPr>
              <a:t>In vivo</a:t>
            </a:r>
            <a:r>
              <a:rPr lang="en-US" altLang="zh-CN" dirty="0"/>
              <a:t> this process requires only a few minutes because the cells contain </a:t>
            </a:r>
            <a:r>
              <a:rPr lang="en-US" altLang="zh-CN" dirty="0">
                <a:solidFill>
                  <a:srgbClr val="FF0000"/>
                </a:solidFill>
              </a:rPr>
              <a:t>accessory proteins</a:t>
            </a:r>
            <a:r>
              <a:rPr lang="en-US" altLang="zh-CN" dirty="0"/>
              <a:t> which assist the polypeptides to fold to their native conformation. There are three main classes of </a:t>
            </a:r>
            <a:r>
              <a:rPr lang="en-US" altLang="zh-CN" dirty="0">
                <a:solidFill>
                  <a:srgbClr val="FF0000"/>
                </a:solidFill>
              </a:rPr>
              <a:t>protein folding accessory proteins.</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4434" name="Picture 4">
            <a:extLst>
              <a:ext uri="{FF2B5EF4-FFF2-40B4-BE49-F238E27FC236}">
                <a16:creationId xmlns:a16="http://schemas.microsoft.com/office/drawing/2014/main" id="{A594E8F2-EF2C-497F-976D-9F6CD687E2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168" y="332656"/>
            <a:ext cx="8774607" cy="6250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Text Box 18">
            <a:extLst>
              <a:ext uri="{FF2B5EF4-FFF2-40B4-BE49-F238E27FC236}">
                <a16:creationId xmlns:a16="http://schemas.microsoft.com/office/drawing/2014/main" id="{DB34650F-93FF-44E9-AA68-A141E69C8C44}"/>
              </a:ext>
            </a:extLst>
          </p:cNvPr>
          <p:cNvSpPr txBox="1">
            <a:spLocks noChangeArrowheads="1"/>
          </p:cNvSpPr>
          <p:nvPr/>
        </p:nvSpPr>
        <p:spPr bwMode="auto">
          <a:xfrm flipV="1">
            <a:off x="381000" y="60198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endParaRPr kumimoji="0" lang="zh-CN" altLang="zh-CN" sz="2400">
              <a:latin typeface="Times New Roman" panose="02020603050405020304" pitchFamily="18" charset="0"/>
            </a:endParaRPr>
          </a:p>
        </p:txBody>
      </p:sp>
      <p:grpSp>
        <p:nvGrpSpPr>
          <p:cNvPr id="2" name="Group 35">
            <a:extLst>
              <a:ext uri="{FF2B5EF4-FFF2-40B4-BE49-F238E27FC236}">
                <a16:creationId xmlns:a16="http://schemas.microsoft.com/office/drawing/2014/main" id="{76B28B30-9413-4CBF-8137-91456CDB7003}"/>
              </a:ext>
            </a:extLst>
          </p:cNvPr>
          <p:cNvGrpSpPr>
            <a:grpSpLocks/>
          </p:cNvGrpSpPr>
          <p:nvPr/>
        </p:nvGrpSpPr>
        <p:grpSpPr bwMode="auto">
          <a:xfrm>
            <a:off x="4800600" y="4343400"/>
            <a:ext cx="4191000" cy="2514600"/>
            <a:chOff x="3024" y="2736"/>
            <a:chExt cx="2640" cy="1584"/>
          </a:xfrm>
        </p:grpSpPr>
        <p:graphicFrame>
          <p:nvGraphicFramePr>
            <p:cNvPr id="275475" name="Object 2048">
              <a:extLst>
                <a:ext uri="{FF2B5EF4-FFF2-40B4-BE49-F238E27FC236}">
                  <a16:creationId xmlns:a16="http://schemas.microsoft.com/office/drawing/2014/main" id="{199DB5F1-8AFB-405D-830A-9B022A7BD005}"/>
                </a:ext>
              </a:extLst>
            </p:cNvPr>
            <p:cNvGraphicFramePr>
              <a:graphicFrameLocks noChangeAspect="1"/>
            </p:cNvGraphicFramePr>
            <p:nvPr/>
          </p:nvGraphicFramePr>
          <p:xfrm>
            <a:off x="3024" y="3168"/>
            <a:ext cx="2640" cy="1152"/>
          </p:xfrm>
          <a:graphic>
            <a:graphicData uri="http://schemas.openxmlformats.org/presentationml/2006/ole">
              <mc:AlternateContent xmlns:mc="http://schemas.openxmlformats.org/markup-compatibility/2006">
                <mc:Choice xmlns:v="urn:schemas-microsoft-com:vml" Requires="v">
                  <p:oleObj name="Image" r:id="rId2" imgW="2275529" imgH="1068462" progId="">
                    <p:embed/>
                  </p:oleObj>
                </mc:Choice>
                <mc:Fallback>
                  <p:oleObj name="Image" r:id="rId2" imgW="2275529" imgH="1068462" progId="">
                    <p:embed/>
                    <p:pic>
                      <p:nvPicPr>
                        <p:cNvPr id="275475" name="Object 2048">
                          <a:extLst>
                            <a:ext uri="{FF2B5EF4-FFF2-40B4-BE49-F238E27FC236}">
                              <a16:creationId xmlns:a16="http://schemas.microsoft.com/office/drawing/2014/main" id="{199DB5F1-8AFB-405D-830A-9B022A7BD0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4" y="3168"/>
                          <a:ext cx="2640" cy="1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5476" name="Text Box 17">
              <a:extLst>
                <a:ext uri="{FF2B5EF4-FFF2-40B4-BE49-F238E27FC236}">
                  <a16:creationId xmlns:a16="http://schemas.microsoft.com/office/drawing/2014/main" id="{A0D5C211-80EB-4940-8814-CFE7BFFC12E4}"/>
                </a:ext>
              </a:extLst>
            </p:cNvPr>
            <p:cNvSpPr txBox="1">
              <a:spLocks noChangeArrowheads="1"/>
            </p:cNvSpPr>
            <p:nvPr/>
          </p:nvSpPr>
          <p:spPr bwMode="auto">
            <a:xfrm>
              <a:off x="3264" y="2736"/>
              <a:ext cx="11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kumimoji="0" lang="en-US" altLang="zh-CN" sz="4400" b="1">
                  <a:solidFill>
                    <a:srgbClr val="FF00FF"/>
                  </a:solidFill>
                  <a:latin typeface="Times New Roman" panose="02020603050405020304" pitchFamily="18" charset="0"/>
                </a:rPr>
                <a:t>PPI</a:t>
              </a:r>
            </a:p>
          </p:txBody>
        </p:sp>
      </p:grpSp>
      <p:sp>
        <p:nvSpPr>
          <p:cNvPr id="275460" name="Text Box 2">
            <a:extLst>
              <a:ext uri="{FF2B5EF4-FFF2-40B4-BE49-F238E27FC236}">
                <a16:creationId xmlns:a16="http://schemas.microsoft.com/office/drawing/2014/main" id="{ACAA565D-7350-4EAC-92AA-397D7E6F2C67}"/>
              </a:ext>
            </a:extLst>
          </p:cNvPr>
          <p:cNvSpPr txBox="1">
            <a:spLocks noChangeArrowheads="1"/>
          </p:cNvSpPr>
          <p:nvPr/>
        </p:nvSpPr>
        <p:spPr bwMode="auto">
          <a:xfrm>
            <a:off x="-228600" y="-228600"/>
            <a:ext cx="3810000" cy="469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4400" b="1">
                <a:latin typeface="Times New Roman" panose="02020603050405020304" pitchFamily="18" charset="0"/>
              </a:rPr>
              <a:t>                         </a:t>
            </a:r>
            <a:endParaRPr lang="en-US" altLang="zh-CN" sz="4400" b="1">
              <a:solidFill>
                <a:srgbClr val="FFFF00"/>
              </a:solidFill>
              <a:latin typeface="Times New Roman" panose="02020603050405020304" pitchFamily="18" charset="0"/>
            </a:endParaRPr>
          </a:p>
          <a:p>
            <a:pPr eaLnBrk="1" hangingPunct="1">
              <a:spcBef>
                <a:spcPct val="50000"/>
              </a:spcBef>
              <a:buClrTx/>
              <a:buSzTx/>
              <a:buFontTx/>
              <a:buNone/>
            </a:pPr>
            <a:endParaRPr lang="en-US" altLang="zh-CN" sz="4400" b="1">
              <a:solidFill>
                <a:srgbClr val="FFFF00"/>
              </a:solidFill>
              <a:latin typeface="Times New Roman" panose="02020603050405020304" pitchFamily="18" charset="0"/>
            </a:endParaRPr>
          </a:p>
          <a:p>
            <a:pPr eaLnBrk="1" hangingPunct="1">
              <a:spcBef>
                <a:spcPct val="50000"/>
              </a:spcBef>
              <a:buClrTx/>
              <a:buSzTx/>
              <a:buFontTx/>
              <a:buNone/>
            </a:pPr>
            <a:r>
              <a:rPr lang="en-US" altLang="zh-CN" sz="4400" b="1">
                <a:solidFill>
                  <a:srgbClr val="FFFF00"/>
                </a:solidFill>
                <a:latin typeface="Times New Roman" panose="02020603050405020304" pitchFamily="18" charset="0"/>
              </a:rPr>
              <a:t> </a:t>
            </a:r>
            <a:r>
              <a:rPr lang="en-US" altLang="zh-CN" sz="4000" b="1">
                <a:solidFill>
                  <a:schemeClr val="tx2"/>
                </a:solidFill>
                <a:latin typeface="Times New Roman" panose="02020603050405020304" pitchFamily="18" charset="0"/>
              </a:rPr>
              <a:t>Accessory</a:t>
            </a:r>
          </a:p>
          <a:p>
            <a:pPr eaLnBrk="1" hangingPunct="1">
              <a:spcBef>
                <a:spcPct val="50000"/>
              </a:spcBef>
              <a:buClrTx/>
              <a:buSzTx/>
              <a:buFontTx/>
              <a:buNone/>
            </a:pPr>
            <a:r>
              <a:rPr lang="en-US" altLang="zh-CN" sz="4000" b="1">
                <a:solidFill>
                  <a:schemeClr val="tx2"/>
                </a:solidFill>
                <a:latin typeface="Times New Roman" panose="02020603050405020304" pitchFamily="18" charset="0"/>
              </a:rPr>
              <a:t>  Proteins</a:t>
            </a:r>
          </a:p>
          <a:p>
            <a:pPr algn="ctr" eaLnBrk="1" hangingPunct="1">
              <a:spcBef>
                <a:spcPct val="50000"/>
              </a:spcBef>
              <a:buClrTx/>
              <a:buSzTx/>
              <a:buFontTx/>
              <a:buNone/>
            </a:pPr>
            <a:r>
              <a:rPr lang="en-US" altLang="zh-CN" sz="4400" b="1">
                <a:solidFill>
                  <a:srgbClr val="FFFF00"/>
                </a:solidFill>
                <a:latin typeface="Times New Roman" panose="02020603050405020304" pitchFamily="18" charset="0"/>
              </a:rPr>
              <a:t>                                            </a:t>
            </a:r>
          </a:p>
        </p:txBody>
      </p:sp>
      <p:grpSp>
        <p:nvGrpSpPr>
          <p:cNvPr id="3" name="Group 37">
            <a:extLst>
              <a:ext uri="{FF2B5EF4-FFF2-40B4-BE49-F238E27FC236}">
                <a16:creationId xmlns:a16="http://schemas.microsoft.com/office/drawing/2014/main" id="{97204E50-4FB2-49DF-9620-B38908739ADD}"/>
              </a:ext>
            </a:extLst>
          </p:cNvPr>
          <p:cNvGrpSpPr>
            <a:grpSpLocks/>
          </p:cNvGrpSpPr>
          <p:nvPr/>
        </p:nvGrpSpPr>
        <p:grpSpPr bwMode="auto">
          <a:xfrm>
            <a:off x="1981200" y="457200"/>
            <a:ext cx="5029200" cy="3657600"/>
            <a:chOff x="1248" y="288"/>
            <a:chExt cx="3168" cy="2304"/>
          </a:xfrm>
        </p:grpSpPr>
        <p:sp>
          <p:nvSpPr>
            <p:cNvPr id="275473" name="Text Box 7">
              <a:extLst>
                <a:ext uri="{FF2B5EF4-FFF2-40B4-BE49-F238E27FC236}">
                  <a16:creationId xmlns:a16="http://schemas.microsoft.com/office/drawing/2014/main" id="{63C1A8E0-789A-41C2-AD0C-743DBCC5EC2B}"/>
                </a:ext>
              </a:extLst>
            </p:cNvPr>
            <p:cNvSpPr txBox="1">
              <a:spLocks noChangeArrowheads="1"/>
            </p:cNvSpPr>
            <p:nvPr/>
          </p:nvSpPr>
          <p:spPr bwMode="auto">
            <a:xfrm>
              <a:off x="1536" y="288"/>
              <a:ext cx="2880" cy="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4400" b="1">
                  <a:solidFill>
                    <a:srgbClr val="FF00FF"/>
                  </a:solidFill>
                  <a:latin typeface="Times New Roman" panose="02020603050405020304" pitchFamily="18" charset="0"/>
                </a:rPr>
                <a:t>Molecular Chaperones</a:t>
              </a:r>
            </a:p>
          </p:txBody>
        </p:sp>
        <p:sp>
          <p:nvSpPr>
            <p:cNvPr id="275474" name="AutoShape 23">
              <a:extLst>
                <a:ext uri="{FF2B5EF4-FFF2-40B4-BE49-F238E27FC236}">
                  <a16:creationId xmlns:a16="http://schemas.microsoft.com/office/drawing/2014/main" id="{54A532CF-0778-45CE-9EB7-7C13F88F83C2}"/>
                </a:ext>
              </a:extLst>
            </p:cNvPr>
            <p:cNvSpPr>
              <a:spLocks/>
            </p:cNvSpPr>
            <p:nvPr/>
          </p:nvSpPr>
          <p:spPr bwMode="auto">
            <a:xfrm>
              <a:off x="1248" y="864"/>
              <a:ext cx="288" cy="1728"/>
            </a:xfrm>
            <a:prstGeom prst="leftBrace">
              <a:avLst>
                <a:gd name="adj1" fmla="val 50000"/>
                <a:gd name="adj2" fmla="val 50000"/>
              </a:avLst>
            </a:prstGeom>
            <a:noFill/>
            <a:ln w="508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Clr>
                  <a:schemeClr val="accent2"/>
                </a:buClr>
                <a:buSzPct val="80000"/>
                <a:buFont typeface="Wingdings" panose="05000000000000000000" pitchFamily="2" charset="2"/>
                <a:buChar char="l"/>
              </a:pPr>
              <a:endParaRPr lang="zh-CN" altLang="en-US" sz="3600" b="1">
                <a:latin typeface="Times New Roman" panose="02020603050405020304" pitchFamily="18" charset="0"/>
              </a:endParaRPr>
            </a:p>
          </p:txBody>
        </p:sp>
      </p:grpSp>
      <p:grpSp>
        <p:nvGrpSpPr>
          <p:cNvPr id="4" name="Group 38">
            <a:extLst>
              <a:ext uri="{FF2B5EF4-FFF2-40B4-BE49-F238E27FC236}">
                <a16:creationId xmlns:a16="http://schemas.microsoft.com/office/drawing/2014/main" id="{0C002448-020F-44CF-9C42-DD5A1271E67D}"/>
              </a:ext>
            </a:extLst>
          </p:cNvPr>
          <p:cNvGrpSpPr>
            <a:grpSpLocks/>
          </p:cNvGrpSpPr>
          <p:nvPr/>
        </p:nvGrpSpPr>
        <p:grpSpPr bwMode="auto">
          <a:xfrm>
            <a:off x="2398713" y="3200400"/>
            <a:ext cx="4992687" cy="2463800"/>
            <a:chOff x="1511" y="2016"/>
            <a:chExt cx="3145" cy="1552"/>
          </a:xfrm>
        </p:grpSpPr>
        <p:sp>
          <p:nvSpPr>
            <p:cNvPr id="275471" name="Text Box 6">
              <a:extLst>
                <a:ext uri="{FF2B5EF4-FFF2-40B4-BE49-F238E27FC236}">
                  <a16:creationId xmlns:a16="http://schemas.microsoft.com/office/drawing/2014/main" id="{569A1F99-92B4-480B-BA36-FFEAE1C0928C}"/>
                </a:ext>
              </a:extLst>
            </p:cNvPr>
            <p:cNvSpPr txBox="1">
              <a:spLocks noChangeArrowheads="1"/>
            </p:cNvSpPr>
            <p:nvPr/>
          </p:nvSpPr>
          <p:spPr bwMode="auto">
            <a:xfrm>
              <a:off x="1511" y="2160"/>
              <a:ext cx="3145" cy="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60000"/>
                </a:lnSpc>
                <a:spcBef>
                  <a:spcPct val="50000"/>
                </a:spcBef>
                <a:buClrTx/>
                <a:buSzTx/>
                <a:buFontTx/>
                <a:buNone/>
              </a:pPr>
              <a:r>
                <a:rPr lang="en-US" altLang="zh-CN" sz="4400" b="1">
                  <a:solidFill>
                    <a:srgbClr val="FF00FF"/>
                  </a:solidFill>
                  <a:latin typeface="Times New Roman" panose="02020603050405020304" pitchFamily="18" charset="0"/>
                </a:rPr>
                <a:t>Enzymes </a:t>
              </a:r>
            </a:p>
            <a:p>
              <a:pPr eaLnBrk="1" hangingPunct="1">
                <a:lnSpc>
                  <a:spcPct val="60000"/>
                </a:lnSpc>
                <a:spcBef>
                  <a:spcPct val="50000"/>
                </a:spcBef>
                <a:buClrTx/>
                <a:buSzTx/>
                <a:buFontTx/>
                <a:buNone/>
              </a:pPr>
              <a:r>
                <a:rPr lang="en-US" altLang="zh-CN" sz="4400" b="1">
                  <a:solidFill>
                    <a:srgbClr val="FF00FF"/>
                  </a:solidFill>
                  <a:latin typeface="Times New Roman" panose="02020603050405020304" pitchFamily="18" charset="0"/>
                </a:rPr>
                <a:t>(Foldases)</a:t>
              </a:r>
            </a:p>
            <a:p>
              <a:pPr eaLnBrk="1" hangingPunct="1">
                <a:spcBef>
                  <a:spcPct val="50000"/>
                </a:spcBef>
                <a:buClrTx/>
                <a:buSzTx/>
                <a:buFontTx/>
                <a:buNone/>
              </a:pPr>
              <a:endParaRPr lang="en-US" altLang="zh-CN" sz="4400">
                <a:solidFill>
                  <a:srgbClr val="FF00FF"/>
                </a:solidFill>
                <a:latin typeface="Times New Roman" panose="02020603050405020304" pitchFamily="18" charset="0"/>
              </a:endParaRPr>
            </a:p>
          </p:txBody>
        </p:sp>
        <p:sp>
          <p:nvSpPr>
            <p:cNvPr id="275472" name="AutoShape 24">
              <a:extLst>
                <a:ext uri="{FF2B5EF4-FFF2-40B4-BE49-F238E27FC236}">
                  <a16:creationId xmlns:a16="http://schemas.microsoft.com/office/drawing/2014/main" id="{9C9BB4BB-B3C3-4835-BC65-EC3A2AE51FFF}"/>
                </a:ext>
              </a:extLst>
            </p:cNvPr>
            <p:cNvSpPr>
              <a:spLocks/>
            </p:cNvSpPr>
            <p:nvPr/>
          </p:nvSpPr>
          <p:spPr bwMode="auto">
            <a:xfrm>
              <a:off x="3072" y="2016"/>
              <a:ext cx="96" cy="1056"/>
            </a:xfrm>
            <a:prstGeom prst="leftBrace">
              <a:avLst>
                <a:gd name="adj1" fmla="val 91667"/>
                <a:gd name="adj2" fmla="val 50000"/>
              </a:avLst>
            </a:prstGeom>
            <a:noFill/>
            <a:ln w="5080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buClr>
                  <a:schemeClr val="accent2"/>
                </a:buClr>
                <a:buSzPct val="80000"/>
                <a:buFont typeface="Wingdings" panose="05000000000000000000" pitchFamily="2" charset="2"/>
                <a:buChar char="l"/>
              </a:pPr>
              <a:endParaRPr lang="zh-CN" altLang="en-US" sz="3600" b="1">
                <a:latin typeface="Times New Roman" panose="02020603050405020304" pitchFamily="18" charset="0"/>
              </a:endParaRPr>
            </a:p>
          </p:txBody>
        </p:sp>
      </p:grpSp>
      <p:grpSp>
        <p:nvGrpSpPr>
          <p:cNvPr id="5" name="Group 34">
            <a:extLst>
              <a:ext uri="{FF2B5EF4-FFF2-40B4-BE49-F238E27FC236}">
                <a16:creationId xmlns:a16="http://schemas.microsoft.com/office/drawing/2014/main" id="{9B6F5854-B984-46F5-A37C-ED5DA74A73D2}"/>
              </a:ext>
            </a:extLst>
          </p:cNvPr>
          <p:cNvGrpSpPr>
            <a:grpSpLocks/>
          </p:cNvGrpSpPr>
          <p:nvPr/>
        </p:nvGrpSpPr>
        <p:grpSpPr bwMode="auto">
          <a:xfrm>
            <a:off x="4800600" y="2438400"/>
            <a:ext cx="4343400" cy="1219200"/>
            <a:chOff x="3024" y="1536"/>
            <a:chExt cx="2736" cy="768"/>
          </a:xfrm>
        </p:grpSpPr>
        <p:sp>
          <p:nvSpPr>
            <p:cNvPr id="275464" name="Text Box 16">
              <a:extLst>
                <a:ext uri="{FF2B5EF4-FFF2-40B4-BE49-F238E27FC236}">
                  <a16:creationId xmlns:a16="http://schemas.microsoft.com/office/drawing/2014/main" id="{50FB90A6-398D-4948-BF4D-5A14B1630B88}"/>
                </a:ext>
              </a:extLst>
            </p:cNvPr>
            <p:cNvSpPr txBox="1">
              <a:spLocks noChangeArrowheads="1"/>
            </p:cNvSpPr>
            <p:nvPr/>
          </p:nvSpPr>
          <p:spPr bwMode="auto">
            <a:xfrm>
              <a:off x="3216" y="1824"/>
              <a:ext cx="100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50000"/>
                </a:spcBef>
                <a:buClrTx/>
                <a:buSzTx/>
                <a:buFontTx/>
                <a:buNone/>
              </a:pPr>
              <a:r>
                <a:rPr kumimoji="0" lang="en-US" altLang="zh-CN" sz="4400" b="1">
                  <a:solidFill>
                    <a:srgbClr val="FF00FF"/>
                  </a:solidFill>
                  <a:latin typeface="Times New Roman" panose="02020603050405020304" pitchFamily="18" charset="0"/>
                </a:rPr>
                <a:t>PDI</a:t>
              </a:r>
            </a:p>
          </p:txBody>
        </p:sp>
        <p:grpSp>
          <p:nvGrpSpPr>
            <p:cNvPr id="275465" name="Group 33">
              <a:extLst>
                <a:ext uri="{FF2B5EF4-FFF2-40B4-BE49-F238E27FC236}">
                  <a16:creationId xmlns:a16="http://schemas.microsoft.com/office/drawing/2014/main" id="{25CFD44B-C2C5-451A-A904-0707CCFE5238}"/>
                </a:ext>
              </a:extLst>
            </p:cNvPr>
            <p:cNvGrpSpPr>
              <a:grpSpLocks/>
            </p:cNvGrpSpPr>
            <p:nvPr/>
          </p:nvGrpSpPr>
          <p:grpSpPr bwMode="auto">
            <a:xfrm>
              <a:off x="3024" y="1536"/>
              <a:ext cx="2736" cy="327"/>
              <a:chOff x="3024" y="1536"/>
              <a:chExt cx="2736" cy="327"/>
            </a:xfrm>
          </p:grpSpPr>
          <p:sp>
            <p:nvSpPr>
              <p:cNvPr id="275466" name="Text Box 22">
                <a:extLst>
                  <a:ext uri="{FF2B5EF4-FFF2-40B4-BE49-F238E27FC236}">
                    <a16:creationId xmlns:a16="http://schemas.microsoft.com/office/drawing/2014/main" id="{88EFDD07-7C53-43D3-BFEF-47D1665E643E}"/>
                  </a:ext>
                </a:extLst>
              </p:cNvPr>
              <p:cNvSpPr txBox="1">
                <a:spLocks noChangeArrowheads="1"/>
              </p:cNvSpPr>
              <p:nvPr/>
            </p:nvSpPr>
            <p:spPr bwMode="auto">
              <a:xfrm>
                <a:off x="3024" y="1536"/>
                <a:ext cx="2736" cy="32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err="1">
                    <a:latin typeface="Times New Roman" panose="02020603050405020304" pitchFamily="18" charset="0"/>
                  </a:rPr>
                  <a:t>CySH</a:t>
                </a:r>
                <a:r>
                  <a:rPr lang="en-US" altLang="zh-CN" sz="2800" b="1" dirty="0">
                    <a:latin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rPr>
                  <a:t>+ </a:t>
                </a:r>
                <a:r>
                  <a:rPr lang="en-US" altLang="zh-CN" sz="2800" b="1" dirty="0" err="1">
                    <a:latin typeface="Times New Roman" panose="02020603050405020304" pitchFamily="18" charset="0"/>
                    <a:cs typeface="Times New Roman" panose="02020603050405020304" pitchFamily="18" charset="0"/>
                  </a:rPr>
                  <a:t>CySH</a:t>
                </a:r>
                <a:r>
                  <a:rPr lang="en-US" altLang="zh-CN" sz="2800" b="1" dirty="0">
                    <a:latin typeface="Times New Roman" panose="02020603050405020304" pitchFamily="18" charset="0"/>
                    <a:cs typeface="Times New Roman" panose="02020603050405020304" pitchFamily="18" charset="0"/>
                  </a:rPr>
                  <a:t>   </a:t>
                </a:r>
                <a:r>
                  <a:rPr lang="en-US" altLang="zh-CN" sz="2800" b="1" dirty="0" err="1">
                    <a:latin typeface="Times New Roman" panose="02020603050405020304" pitchFamily="18" charset="0"/>
                    <a:cs typeface="Times New Roman" panose="02020603050405020304" pitchFamily="18" charset="0"/>
                  </a:rPr>
                  <a:t>CyS</a:t>
                </a:r>
                <a:r>
                  <a:rPr lang="en-US" altLang="zh-CN" sz="2800" b="1" dirty="0">
                    <a:latin typeface="Times New Roman" panose="02020603050405020304" pitchFamily="18" charset="0"/>
                    <a:cs typeface="Times New Roman" panose="02020603050405020304" pitchFamily="18" charset="0"/>
                  </a:rPr>
                  <a:t>–</a:t>
                </a:r>
                <a:r>
                  <a:rPr lang="en-US" altLang="zh-CN" sz="2800" b="1" dirty="0" err="1">
                    <a:latin typeface="Times New Roman" panose="02020603050405020304" pitchFamily="18" charset="0"/>
                    <a:cs typeface="Times New Roman" panose="02020603050405020304" pitchFamily="18" charset="0"/>
                  </a:rPr>
                  <a:t>CyS</a:t>
                </a:r>
                <a:endParaRPr lang="en-US" altLang="zh-CN" sz="2800" b="1" dirty="0">
                  <a:latin typeface="Times New Roman" panose="02020603050405020304" pitchFamily="18" charset="0"/>
                </a:endParaRPr>
              </a:p>
            </p:txBody>
          </p:sp>
          <p:sp>
            <p:nvSpPr>
              <p:cNvPr id="275467" name="Line 28">
                <a:extLst>
                  <a:ext uri="{FF2B5EF4-FFF2-40B4-BE49-F238E27FC236}">
                    <a16:creationId xmlns:a16="http://schemas.microsoft.com/office/drawing/2014/main" id="{341832C3-A1C6-4A60-8279-2A3EDFACF0D6}"/>
                  </a:ext>
                </a:extLst>
              </p:cNvPr>
              <p:cNvSpPr>
                <a:spLocks noChangeShapeType="1"/>
              </p:cNvSpPr>
              <p:nvPr/>
            </p:nvSpPr>
            <p:spPr bwMode="auto">
              <a:xfrm>
                <a:off x="4464" y="1680"/>
                <a:ext cx="144" cy="0"/>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5468" name="Line 29">
                <a:extLst>
                  <a:ext uri="{FF2B5EF4-FFF2-40B4-BE49-F238E27FC236}">
                    <a16:creationId xmlns:a16="http://schemas.microsoft.com/office/drawing/2014/main" id="{A185106E-82C5-45A5-8C76-EAD83BCD886D}"/>
                  </a:ext>
                </a:extLst>
              </p:cNvPr>
              <p:cNvSpPr>
                <a:spLocks noChangeShapeType="1"/>
              </p:cNvSpPr>
              <p:nvPr/>
            </p:nvSpPr>
            <p:spPr bwMode="auto">
              <a:xfrm>
                <a:off x="4464" y="1734"/>
                <a:ext cx="144" cy="0"/>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5469" name="Line 30">
                <a:extLst>
                  <a:ext uri="{FF2B5EF4-FFF2-40B4-BE49-F238E27FC236}">
                    <a16:creationId xmlns:a16="http://schemas.microsoft.com/office/drawing/2014/main" id="{853FC435-9AAB-442F-BEEA-CDB2787691E3}"/>
                  </a:ext>
                </a:extLst>
              </p:cNvPr>
              <p:cNvSpPr>
                <a:spLocks noChangeShapeType="1"/>
              </p:cNvSpPr>
              <p:nvPr/>
            </p:nvSpPr>
            <p:spPr bwMode="auto">
              <a:xfrm>
                <a:off x="4560" y="1632"/>
                <a:ext cx="48" cy="48"/>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75470" name="Line 31">
                <a:extLst>
                  <a:ext uri="{FF2B5EF4-FFF2-40B4-BE49-F238E27FC236}">
                    <a16:creationId xmlns:a16="http://schemas.microsoft.com/office/drawing/2014/main" id="{1DAF5EAF-3BB2-4DCD-B557-129976574BE0}"/>
                  </a:ext>
                </a:extLst>
              </p:cNvPr>
              <p:cNvSpPr>
                <a:spLocks noChangeShapeType="1"/>
              </p:cNvSpPr>
              <p:nvPr/>
            </p:nvSpPr>
            <p:spPr bwMode="auto">
              <a:xfrm>
                <a:off x="4464" y="1728"/>
                <a:ext cx="48" cy="48"/>
              </a:xfrm>
              <a:prstGeom prst="line">
                <a:avLst/>
              </a:prstGeom>
              <a:noFill/>
              <a:ln w="9525">
                <a:solidFill>
                  <a:schemeClr val="bg2"/>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82" name="Picture 2" descr="ge32_0163_1">
            <a:extLst>
              <a:ext uri="{FF2B5EF4-FFF2-40B4-BE49-F238E27FC236}">
                <a16:creationId xmlns:a16="http://schemas.microsoft.com/office/drawing/2014/main" id="{A9564713-0F02-492E-8EF6-5235AF38E9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749300"/>
            <a:ext cx="7200900" cy="573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483" name="Text Box 3">
            <a:extLst>
              <a:ext uri="{FF2B5EF4-FFF2-40B4-BE49-F238E27FC236}">
                <a16:creationId xmlns:a16="http://schemas.microsoft.com/office/drawing/2014/main" id="{CD454B26-F5F4-44EA-BEDD-8A946F071163}"/>
              </a:ext>
            </a:extLst>
          </p:cNvPr>
          <p:cNvSpPr txBox="1">
            <a:spLocks noChangeArrowheads="1"/>
          </p:cNvSpPr>
          <p:nvPr/>
        </p:nvSpPr>
        <p:spPr bwMode="auto">
          <a:xfrm>
            <a:off x="3708400" y="260350"/>
            <a:ext cx="295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600" dirty="0"/>
              <a:t>PDI</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4AA38E3-3E74-4681-8B19-8B6C5227F5BC}"/>
              </a:ext>
            </a:extLst>
          </p:cNvPr>
          <p:cNvPicPr>
            <a:picLocks noChangeAspect="1"/>
          </p:cNvPicPr>
          <p:nvPr/>
        </p:nvPicPr>
        <p:blipFill>
          <a:blip r:embed="rId3"/>
          <a:stretch>
            <a:fillRect/>
          </a:stretch>
        </p:blipFill>
        <p:spPr>
          <a:xfrm>
            <a:off x="619125" y="836712"/>
            <a:ext cx="7905750" cy="4467225"/>
          </a:xfrm>
          <a:prstGeom prst="rect">
            <a:avLst/>
          </a:prstGeom>
        </p:spPr>
      </p:pic>
      <p:sp>
        <p:nvSpPr>
          <p:cNvPr id="4" name="Text Box 3">
            <a:extLst>
              <a:ext uri="{FF2B5EF4-FFF2-40B4-BE49-F238E27FC236}">
                <a16:creationId xmlns:a16="http://schemas.microsoft.com/office/drawing/2014/main" id="{64B8E9EF-A336-4F60-8BDC-F45FA321FDD6}"/>
              </a:ext>
            </a:extLst>
          </p:cNvPr>
          <p:cNvSpPr txBox="1">
            <a:spLocks noChangeArrowheads="1"/>
          </p:cNvSpPr>
          <p:nvPr/>
        </p:nvSpPr>
        <p:spPr bwMode="auto">
          <a:xfrm>
            <a:off x="3708400" y="260350"/>
            <a:ext cx="2952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600" dirty="0"/>
              <a:t>PPI</a:t>
            </a:r>
          </a:p>
        </p:txBody>
      </p:sp>
    </p:spTree>
    <p:extLst>
      <p:ext uri="{BB962C8B-B14F-4D97-AF65-F5344CB8AC3E}">
        <p14:creationId xmlns:p14="http://schemas.microsoft.com/office/powerpoint/2010/main" val="140257040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80" name="Rectangle 4">
            <a:extLst>
              <a:ext uri="{FF2B5EF4-FFF2-40B4-BE49-F238E27FC236}">
                <a16:creationId xmlns:a16="http://schemas.microsoft.com/office/drawing/2014/main" id="{35A8D8CC-366E-4E5F-87B1-8C809E8AE999}"/>
              </a:ext>
            </a:extLst>
          </p:cNvPr>
          <p:cNvSpPr>
            <a:spLocks noGrp="1" noChangeArrowheads="1"/>
          </p:cNvSpPr>
          <p:nvPr>
            <p:ph type="title" idx="4294967295"/>
          </p:nvPr>
        </p:nvSpPr>
        <p:spPr/>
        <p:txBody>
          <a:bodyPr lIns="92075" tIns="46038" rIns="92075" bIns="46038" anchor="ctr"/>
          <a:lstStyle/>
          <a:p>
            <a:pPr eaLnBrk="1" hangingPunct="1">
              <a:defRPr/>
            </a:pPr>
            <a:r>
              <a:rPr lang="en-US" altLang="zh-CN" sz="3600"/>
              <a:t>The folding pathways require two enzymes that catalyze isomerizations</a:t>
            </a:r>
            <a:r>
              <a:rPr lang="en-US" altLang="zh-CN" sz="3600">
                <a:effectLst>
                  <a:outerShdw blurRad="38100" dist="38100" dir="2700000" algn="tl">
                    <a:srgbClr val="000000"/>
                  </a:outerShdw>
                </a:effectLst>
              </a:rPr>
              <a:t>.</a:t>
            </a:r>
          </a:p>
        </p:txBody>
      </p:sp>
      <p:sp>
        <p:nvSpPr>
          <p:cNvPr id="277507" name="Rectangle 5">
            <a:extLst>
              <a:ext uri="{FF2B5EF4-FFF2-40B4-BE49-F238E27FC236}">
                <a16:creationId xmlns:a16="http://schemas.microsoft.com/office/drawing/2014/main" id="{A2C16CF5-3575-4E6E-9675-E8D9CB0BD97E}"/>
              </a:ext>
            </a:extLst>
          </p:cNvPr>
          <p:cNvSpPr>
            <a:spLocks noGrp="1" noChangeArrowheads="1"/>
          </p:cNvSpPr>
          <p:nvPr>
            <p:ph type="body" idx="4294967295"/>
          </p:nvPr>
        </p:nvSpPr>
        <p:spPr>
          <a:xfrm>
            <a:off x="468313" y="1981200"/>
            <a:ext cx="8351837" cy="4616450"/>
          </a:xfrm>
        </p:spPr>
        <p:txBody>
          <a:bodyPr/>
          <a:lstStyle/>
          <a:p>
            <a:pPr eaLnBrk="1" hangingPunct="1"/>
            <a:r>
              <a:rPr lang="en-US" altLang="zh-CN" sz="2800" b="1" dirty="0">
                <a:solidFill>
                  <a:srgbClr val="FF0000"/>
                </a:solidFill>
              </a:rPr>
              <a:t>P</a:t>
            </a:r>
            <a:r>
              <a:rPr lang="en-US" altLang="zh-CN" sz="2800" b="1" dirty="0"/>
              <a:t>rotein </a:t>
            </a:r>
            <a:r>
              <a:rPr lang="en-US" altLang="zh-CN" sz="2800" b="1" dirty="0">
                <a:solidFill>
                  <a:srgbClr val="FF0000"/>
                </a:solidFill>
              </a:rPr>
              <a:t>d</a:t>
            </a:r>
            <a:r>
              <a:rPr lang="en-US" altLang="zh-CN" sz="2800" b="1" dirty="0"/>
              <a:t>isulfide </a:t>
            </a:r>
            <a:r>
              <a:rPr lang="en-US" altLang="zh-CN" sz="2800" b="1" dirty="0">
                <a:solidFill>
                  <a:srgbClr val="FF0000"/>
                </a:solidFill>
              </a:rPr>
              <a:t>i</a:t>
            </a:r>
            <a:r>
              <a:rPr lang="en-US" altLang="zh-CN" sz="2800" b="1" dirty="0"/>
              <a:t>somerase (</a:t>
            </a:r>
            <a:r>
              <a:rPr lang="en-US" altLang="zh-CN" sz="2800" b="1" dirty="0">
                <a:solidFill>
                  <a:srgbClr val="FF0000"/>
                </a:solidFill>
              </a:rPr>
              <a:t>PDI</a:t>
            </a:r>
            <a:r>
              <a:rPr lang="en-US" altLang="zh-CN" sz="2800" b="1" dirty="0"/>
              <a:t>) that catalyzes the interchange or shuffling of disulfide bonds until the bonds of native conformation are formed.</a:t>
            </a:r>
          </a:p>
          <a:p>
            <a:pPr eaLnBrk="1" hangingPunct="1"/>
            <a:r>
              <a:rPr lang="en-US" altLang="zh-CN" sz="2800" b="1" dirty="0">
                <a:solidFill>
                  <a:srgbClr val="FF0000"/>
                </a:solidFill>
              </a:rPr>
              <a:t>P</a:t>
            </a:r>
            <a:r>
              <a:rPr lang="en-US" altLang="zh-CN" sz="2800" b="1" dirty="0"/>
              <a:t>eptide (</a:t>
            </a:r>
            <a:r>
              <a:rPr lang="en-US" altLang="zh-CN" sz="2800" b="1" dirty="0">
                <a:solidFill>
                  <a:srgbClr val="FF0000"/>
                </a:solidFill>
              </a:rPr>
              <a:t>P</a:t>
            </a:r>
            <a:r>
              <a:rPr lang="en-US" altLang="zh-CN" sz="2800" b="1" dirty="0"/>
              <a:t>eptidyl) </a:t>
            </a:r>
            <a:r>
              <a:rPr lang="en-US" altLang="zh-CN" sz="2800" b="1" dirty="0">
                <a:solidFill>
                  <a:srgbClr val="FF0000"/>
                </a:solidFill>
              </a:rPr>
              <a:t>p</a:t>
            </a:r>
            <a:r>
              <a:rPr lang="en-US" altLang="zh-CN" sz="2800" b="1" dirty="0"/>
              <a:t>rolyl cis-trans </a:t>
            </a:r>
            <a:r>
              <a:rPr lang="en-US" altLang="zh-CN" sz="2800" b="1" dirty="0">
                <a:solidFill>
                  <a:srgbClr val="FF0000"/>
                </a:solidFill>
              </a:rPr>
              <a:t>i</a:t>
            </a:r>
            <a:r>
              <a:rPr lang="en-US" altLang="zh-CN" sz="2800" b="1" dirty="0"/>
              <a:t>somerase (</a:t>
            </a:r>
            <a:r>
              <a:rPr lang="en-US" altLang="zh-CN" sz="2800" b="1" dirty="0">
                <a:solidFill>
                  <a:srgbClr val="FF0000"/>
                </a:solidFill>
              </a:rPr>
              <a:t>PPI</a:t>
            </a:r>
            <a:r>
              <a:rPr lang="en-US" altLang="zh-CN" sz="2800" b="1" dirty="0"/>
              <a:t>) catalyzes the interconversion of the cis and trans isomers of proline peptide bonds.</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1" name="内容占位符 2">
            <a:extLst>
              <a:ext uri="{FF2B5EF4-FFF2-40B4-BE49-F238E27FC236}">
                <a16:creationId xmlns:a16="http://schemas.microsoft.com/office/drawing/2014/main" id="{CC44F149-55C9-4EFF-90E6-EFB687D64D92}"/>
              </a:ext>
            </a:extLst>
          </p:cNvPr>
          <p:cNvSpPr>
            <a:spLocks noGrp="1" noChangeArrowheads="1"/>
          </p:cNvSpPr>
          <p:nvPr>
            <p:ph type="body" idx="1"/>
          </p:nvPr>
        </p:nvSpPr>
        <p:spPr>
          <a:xfrm>
            <a:off x="271463" y="1421086"/>
            <a:ext cx="8415337" cy="4679950"/>
          </a:xfrm>
        </p:spPr>
        <p:txBody>
          <a:bodyPr/>
          <a:lstStyle/>
          <a:p>
            <a:pPr marL="419100" indent="-382588">
              <a:lnSpc>
                <a:spcPct val="90000"/>
              </a:lnSpc>
              <a:spcBef>
                <a:spcPct val="50000"/>
              </a:spcBef>
            </a:pPr>
            <a:r>
              <a:rPr lang="en-US" altLang="zh-CN" sz="2400" b="1" dirty="0">
                <a:solidFill>
                  <a:srgbClr val="FF0000"/>
                </a:solidFill>
              </a:rPr>
              <a:t>Molecular Chaperones  </a:t>
            </a:r>
            <a:r>
              <a:rPr lang="en-US" altLang="zh-CN" sz="2400" b="1" dirty="0"/>
              <a:t>appear to be essential for the correct folding of certain polypeptide chains </a:t>
            </a:r>
            <a:r>
              <a:rPr lang="en-US" altLang="zh-CN" sz="2400" b="1" i="1" dirty="0"/>
              <a:t>in vivo, </a:t>
            </a:r>
            <a:r>
              <a:rPr lang="en-US" altLang="zh-CN" sz="2400" b="1" dirty="0"/>
              <a:t>for their assembly into oligomers, and for preventing improper folding and aggregation of proteins that may otherwise occur as internal hydrophobic regions are exposed to one another. </a:t>
            </a:r>
            <a:endParaRPr lang="zh-CN" altLang="en-US" sz="2400" b="1" dirty="0"/>
          </a:p>
          <a:p>
            <a:pPr marL="419100" indent="-382588">
              <a:lnSpc>
                <a:spcPct val="90000"/>
              </a:lnSpc>
              <a:spcBef>
                <a:spcPct val="50000"/>
              </a:spcBef>
            </a:pPr>
            <a:endParaRPr lang="zh-CN" altLang="en-US" sz="2200" b="1" dirty="0">
              <a:cs typeface="Times New Roman" panose="02020603050405020304" pitchFamily="18" charset="0"/>
            </a:endParaRPr>
          </a:p>
        </p:txBody>
      </p:sp>
      <p:sp>
        <p:nvSpPr>
          <p:cNvPr id="3" name="标题 2">
            <a:extLst>
              <a:ext uri="{FF2B5EF4-FFF2-40B4-BE49-F238E27FC236}">
                <a16:creationId xmlns:a16="http://schemas.microsoft.com/office/drawing/2014/main" id="{2983E45C-F65F-4054-A0CA-CF92CFB305B9}"/>
              </a:ext>
            </a:extLst>
          </p:cNvPr>
          <p:cNvSpPr>
            <a:spLocks noGrp="1"/>
          </p:cNvSpPr>
          <p:nvPr>
            <p:ph type="title"/>
          </p:nvPr>
        </p:nvSpPr>
        <p:spPr/>
        <p:txBody>
          <a:bodyPr/>
          <a:lstStyle/>
          <a:p>
            <a:endParaRPr lang="zh-CN" altLang="en-US"/>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9554" name="Picture 2" descr="catoon-h-ss">
            <a:extLst>
              <a:ext uri="{FF2B5EF4-FFF2-40B4-BE49-F238E27FC236}">
                <a16:creationId xmlns:a16="http://schemas.microsoft.com/office/drawing/2014/main" id="{FB62DDA9-DEC6-4C26-8D04-41D2419898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385763"/>
            <a:ext cx="8424862" cy="606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Text Box 2">
            <a:extLst>
              <a:ext uri="{FF2B5EF4-FFF2-40B4-BE49-F238E27FC236}">
                <a16:creationId xmlns:a16="http://schemas.microsoft.com/office/drawing/2014/main" id="{1C15C249-04E6-4E1C-9610-A316AEB00E6C}"/>
              </a:ext>
            </a:extLst>
          </p:cNvPr>
          <p:cNvSpPr txBox="1">
            <a:spLocks noChangeArrowheads="1"/>
          </p:cNvSpPr>
          <p:nvPr/>
        </p:nvSpPr>
        <p:spPr bwMode="auto">
          <a:xfrm>
            <a:off x="457200" y="120650"/>
            <a:ext cx="8229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7.  Three-dimensional structures of proteins can be determined by several methods</a:t>
            </a:r>
          </a:p>
        </p:txBody>
      </p:sp>
      <p:sp>
        <p:nvSpPr>
          <p:cNvPr id="280579" name="Text Box 3">
            <a:extLst>
              <a:ext uri="{FF2B5EF4-FFF2-40B4-BE49-F238E27FC236}">
                <a16:creationId xmlns:a16="http://schemas.microsoft.com/office/drawing/2014/main" id="{1921596D-4DCB-45FF-ACB5-E10B99C032DF}"/>
              </a:ext>
            </a:extLst>
          </p:cNvPr>
          <p:cNvSpPr txBox="1">
            <a:spLocks noChangeArrowheads="1"/>
          </p:cNvSpPr>
          <p:nvPr/>
        </p:nvSpPr>
        <p:spPr bwMode="auto">
          <a:xfrm>
            <a:off x="342900" y="1052736"/>
            <a:ext cx="8458200" cy="571233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7.1 </a:t>
            </a:r>
            <a:r>
              <a:rPr lang="en-US" altLang="zh-CN" sz="2800" b="1" dirty="0">
                <a:solidFill>
                  <a:srgbClr val="FF0000"/>
                </a:solidFill>
                <a:latin typeface="Times New Roman" panose="02020603050405020304" pitchFamily="18" charset="0"/>
              </a:rPr>
              <a:t>X-Ray Diffraction </a:t>
            </a:r>
            <a:r>
              <a:rPr lang="en-US" altLang="zh-CN" sz="2800" b="1" dirty="0">
                <a:latin typeface="Times New Roman" panose="02020603050405020304" pitchFamily="18" charset="0"/>
              </a:rPr>
              <a:t>(X-Ray crystallography)</a:t>
            </a:r>
          </a:p>
          <a:p>
            <a:pPr eaLnBrk="1" hangingPunct="1">
              <a:spcBef>
                <a:spcPct val="50000"/>
              </a:spcBef>
              <a:buClrTx/>
              <a:buSzTx/>
              <a:buFontTx/>
              <a:buNone/>
            </a:pPr>
            <a:r>
              <a:rPr lang="en-US" altLang="zh-CN" sz="2800" b="1" dirty="0">
                <a:latin typeface="Times New Roman" panose="02020603050405020304" pitchFamily="18" charset="0"/>
              </a:rPr>
              <a:t>7.2 </a:t>
            </a:r>
            <a:r>
              <a:rPr lang="en-US" altLang="zh-CN" sz="2800" b="1" dirty="0">
                <a:solidFill>
                  <a:srgbClr val="FF0000"/>
                </a:solidFill>
                <a:latin typeface="Times New Roman" panose="02020603050405020304" pitchFamily="18" charset="0"/>
              </a:rPr>
              <a:t>Nuclear Magnetic Resonance (NMR)</a:t>
            </a:r>
            <a:r>
              <a:rPr lang="en-US" altLang="zh-CN" sz="2000" b="1" dirty="0">
                <a:latin typeface="Times New Roman" panose="02020603050405020304" pitchFamily="18" charset="0"/>
              </a:rPr>
              <a:t>(</a:t>
            </a:r>
            <a:r>
              <a:rPr lang="zh-CN" altLang="en-US" sz="2000" dirty="0"/>
              <a:t>获得</a:t>
            </a:r>
            <a:r>
              <a:rPr lang="en-US" altLang="zh-CN" sz="2000" dirty="0"/>
              <a:t>5</a:t>
            </a:r>
            <a:r>
              <a:rPr lang="zh-CN" altLang="en-US" sz="2000" dirty="0"/>
              <a:t>次诺贝尔奖</a:t>
            </a:r>
            <a:r>
              <a:rPr lang="en-US" altLang="zh-CN" sz="2000" dirty="0"/>
              <a:t>)</a:t>
            </a:r>
            <a:endParaRPr lang="en-US" altLang="zh-CN" sz="2800" b="1" dirty="0">
              <a:solidFill>
                <a:srgbClr val="FF0000"/>
              </a:solidFill>
              <a:latin typeface="Times New Roman" panose="02020603050405020304" pitchFamily="18" charset="0"/>
            </a:endParaRPr>
          </a:p>
          <a:p>
            <a:pPr eaLnBrk="1" hangingPunct="1">
              <a:spcBef>
                <a:spcPct val="50000"/>
              </a:spcBef>
              <a:buClrTx/>
              <a:buSzTx/>
              <a:buFontTx/>
              <a:buNone/>
            </a:pPr>
            <a:r>
              <a:rPr lang="en-US" altLang="zh-CN" sz="2800" b="1" dirty="0">
                <a:latin typeface="Times New Roman" panose="02020603050405020304" pitchFamily="18" charset="0"/>
              </a:rPr>
              <a:t>7.3 </a:t>
            </a:r>
            <a:r>
              <a:rPr lang="en-US" altLang="zh-CN" sz="2800" b="1" dirty="0">
                <a:solidFill>
                  <a:srgbClr val="FF0000"/>
                </a:solidFill>
                <a:latin typeface="Times New Roman" panose="02020603050405020304" pitchFamily="18" charset="0"/>
              </a:rPr>
              <a:t>cryo-electron microscopy(</a:t>
            </a:r>
            <a:r>
              <a:rPr lang="zh-CN" altLang="en-US" sz="2800" b="1" dirty="0">
                <a:solidFill>
                  <a:srgbClr val="FF0000"/>
                </a:solidFill>
                <a:latin typeface="Times New Roman" panose="02020603050405020304" pitchFamily="18" charset="0"/>
              </a:rPr>
              <a:t>冷冻电镜</a:t>
            </a:r>
            <a:r>
              <a:rPr lang="en-US" altLang="zh-CN" sz="2800" b="1" dirty="0">
                <a:solidFill>
                  <a:srgbClr val="FF0000"/>
                </a:solidFill>
                <a:latin typeface="Times New Roman" panose="02020603050405020304" pitchFamily="18" charset="0"/>
              </a:rPr>
              <a:t>)</a:t>
            </a:r>
            <a:r>
              <a:rPr lang="zh-CN" altLang="en-US" sz="2800" b="1" dirty="0">
                <a:solidFill>
                  <a:srgbClr val="FF0000"/>
                </a:solidFill>
                <a:latin typeface="Times New Roman" panose="02020603050405020304" pitchFamily="18" charset="0"/>
              </a:rPr>
              <a:t>（</a:t>
            </a:r>
            <a:r>
              <a:rPr lang="en-US" altLang="zh-CN" sz="2800" b="1" dirty="0">
                <a:solidFill>
                  <a:srgbClr val="FF0000"/>
                </a:solidFill>
                <a:latin typeface="Times New Roman" panose="02020603050405020304" pitchFamily="18" charset="0"/>
              </a:rPr>
              <a:t>The Nobel Prize In Chemistry 2017</a:t>
            </a:r>
            <a:r>
              <a:rPr lang="zh-CN" altLang="en-US" sz="2800" b="1" dirty="0">
                <a:solidFill>
                  <a:srgbClr val="FF0000"/>
                </a:solidFill>
                <a:latin typeface="Times New Roman" panose="02020603050405020304" pitchFamily="18" charset="0"/>
              </a:rPr>
              <a:t>）</a:t>
            </a:r>
            <a:endParaRPr lang="en-US" altLang="zh-CN" sz="2800" b="1" dirty="0">
              <a:solidFill>
                <a:srgbClr val="FF0000"/>
              </a:solidFill>
              <a:latin typeface="Times New Roman" panose="02020603050405020304" pitchFamily="18" charset="0"/>
            </a:endParaRPr>
          </a:p>
          <a:p>
            <a:pPr eaLnBrk="1" hangingPunct="1">
              <a:lnSpc>
                <a:spcPct val="80000"/>
              </a:lnSpc>
              <a:spcBef>
                <a:spcPct val="30000"/>
              </a:spcBef>
              <a:buClrTx/>
              <a:buSzTx/>
              <a:buFontTx/>
              <a:buNone/>
            </a:pPr>
            <a:r>
              <a:rPr lang="en-US" altLang="zh-CN" sz="2800" b="1" dirty="0">
                <a:latin typeface="Times New Roman" panose="02020603050405020304" pitchFamily="18" charset="0"/>
              </a:rPr>
              <a:t>7.4 Many proteins have since been determined, such as cytochrome c, lysozyme and ribonuclease A.</a:t>
            </a:r>
          </a:p>
          <a:p>
            <a:pPr eaLnBrk="1" hangingPunct="1">
              <a:lnSpc>
                <a:spcPct val="80000"/>
              </a:lnSpc>
              <a:spcBef>
                <a:spcPct val="30000"/>
              </a:spcBef>
              <a:buClrTx/>
              <a:buSzTx/>
              <a:buFontTx/>
              <a:buNone/>
            </a:pPr>
            <a:r>
              <a:rPr lang="en-US" altLang="zh-CN" sz="2800" b="1" dirty="0">
                <a:latin typeface="Times New Roman" panose="02020603050405020304" pitchFamily="18" charset="0"/>
              </a:rPr>
              <a:t>7.5 Some common characteristics of proteins</a:t>
            </a:r>
          </a:p>
          <a:p>
            <a:pPr eaLnBrk="1" hangingPunct="1">
              <a:lnSpc>
                <a:spcPct val="80000"/>
              </a:lnSpc>
              <a:spcBef>
                <a:spcPct val="30000"/>
              </a:spcBef>
              <a:buClrTx/>
              <a:buSzTx/>
              <a:buFontTx/>
              <a:buNone/>
            </a:pPr>
            <a:r>
              <a:rPr lang="en-US" altLang="zh-CN" sz="2800" b="1" dirty="0">
                <a:latin typeface="Times New Roman" panose="02020603050405020304" pitchFamily="18" charset="0"/>
              </a:rPr>
              <a:t>	</a:t>
            </a:r>
            <a:r>
              <a:rPr lang="en-US" altLang="zh-CN" sz="2400" b="1" dirty="0">
                <a:latin typeface="Times New Roman" panose="02020603050405020304" pitchFamily="18" charset="0"/>
              </a:rPr>
              <a:t>All the water soluble globular proteins have a hydrophobic core and a mainly hydrophilic outer surface.</a:t>
            </a:r>
          </a:p>
          <a:p>
            <a:pPr eaLnBrk="1" hangingPunct="1">
              <a:lnSpc>
                <a:spcPct val="80000"/>
              </a:lnSpc>
              <a:spcBef>
                <a:spcPct val="30000"/>
              </a:spcBef>
              <a:buClrTx/>
              <a:buSzTx/>
              <a:buFontTx/>
              <a:buNone/>
            </a:pPr>
            <a:r>
              <a:rPr lang="en-US" altLang="zh-CN" sz="2400" b="1" dirty="0">
                <a:latin typeface="Times New Roman" panose="02020603050405020304" pitchFamily="18" charset="0"/>
              </a:rPr>
              <a:t>	Proteins are stabilized mainly by noncovalent interactions (sometimes by disulfide bonds).</a:t>
            </a:r>
          </a:p>
          <a:p>
            <a:pPr eaLnBrk="1" hangingPunct="1">
              <a:lnSpc>
                <a:spcPct val="80000"/>
              </a:lnSpc>
              <a:spcBef>
                <a:spcPct val="30000"/>
              </a:spcBef>
              <a:buClrTx/>
              <a:buSzTx/>
              <a:buFontTx/>
              <a:buNone/>
            </a:pPr>
            <a:r>
              <a:rPr lang="en-US" altLang="zh-CN" sz="2400" b="1" dirty="0">
                <a:latin typeface="Times New Roman" panose="02020603050405020304" pitchFamily="18" charset="0"/>
              </a:rPr>
              <a:t>	Each protein has a unique structure to perform its unique function.</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1602" name="Picture 2">
            <a:extLst>
              <a:ext uri="{FF2B5EF4-FFF2-40B4-BE49-F238E27FC236}">
                <a16:creationId xmlns:a16="http://schemas.microsoft.com/office/drawing/2014/main" id="{754231CB-E2AF-4B8B-86B3-DC4FA0EA12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736600"/>
            <a:ext cx="8026400" cy="292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1603" name="Picture 3">
            <a:extLst>
              <a:ext uri="{FF2B5EF4-FFF2-40B4-BE49-F238E27FC236}">
                <a16:creationId xmlns:a16="http://schemas.microsoft.com/office/drawing/2014/main" id="{7B5DC89F-CA77-45E0-B08F-F1AEA319D0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 y="3733800"/>
            <a:ext cx="80010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1604" name="Rectangle 4">
            <a:extLst>
              <a:ext uri="{FF2B5EF4-FFF2-40B4-BE49-F238E27FC236}">
                <a16:creationId xmlns:a16="http://schemas.microsoft.com/office/drawing/2014/main" id="{9EAF573D-C0DC-4A56-A978-2DD31E381106}"/>
              </a:ext>
            </a:extLst>
          </p:cNvPr>
          <p:cNvSpPr>
            <a:spLocks noChangeArrowheads="1"/>
          </p:cNvSpPr>
          <p:nvPr/>
        </p:nvSpPr>
        <p:spPr bwMode="auto">
          <a:xfrm>
            <a:off x="533400" y="76200"/>
            <a:ext cx="29416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X-Ray Diffraction</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576FE8A-B4AB-43BA-9073-DD2764CFBAE2}"/>
              </a:ext>
            </a:extLst>
          </p:cNvPr>
          <p:cNvPicPr>
            <a:picLocks noChangeAspect="1"/>
          </p:cNvPicPr>
          <p:nvPr/>
        </p:nvPicPr>
        <p:blipFill>
          <a:blip r:embed="rId3"/>
          <a:stretch>
            <a:fillRect/>
          </a:stretch>
        </p:blipFill>
        <p:spPr>
          <a:xfrm>
            <a:off x="2123728" y="1412776"/>
            <a:ext cx="4737687" cy="3241285"/>
          </a:xfrm>
          <a:prstGeom prst="rect">
            <a:avLst/>
          </a:prstGeom>
        </p:spPr>
      </p:pic>
    </p:spTree>
    <p:extLst>
      <p:ext uri="{BB962C8B-B14F-4D97-AF65-F5344CB8AC3E}">
        <p14:creationId xmlns:p14="http://schemas.microsoft.com/office/powerpoint/2010/main" val="3959940220"/>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3650" name="Picture 2">
            <a:extLst>
              <a:ext uri="{FF2B5EF4-FFF2-40B4-BE49-F238E27FC236}">
                <a16:creationId xmlns:a16="http://schemas.microsoft.com/office/drawing/2014/main" id="{2E05E6A6-AE20-4499-8385-F9492EAB43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3200" y="1066800"/>
            <a:ext cx="61976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3651" name="Rectangle 3">
            <a:extLst>
              <a:ext uri="{FF2B5EF4-FFF2-40B4-BE49-F238E27FC236}">
                <a16:creationId xmlns:a16="http://schemas.microsoft.com/office/drawing/2014/main" id="{990BB985-0A2D-424F-B979-817C3B71B6CA}"/>
              </a:ext>
            </a:extLst>
          </p:cNvPr>
          <p:cNvSpPr>
            <a:spLocks noChangeArrowheads="1"/>
          </p:cNvSpPr>
          <p:nvPr/>
        </p:nvSpPr>
        <p:spPr bwMode="auto">
          <a:xfrm>
            <a:off x="990600" y="228600"/>
            <a:ext cx="3711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One-dimensional NMR</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5698" name="Picture 2">
            <a:extLst>
              <a:ext uri="{FF2B5EF4-FFF2-40B4-BE49-F238E27FC236}">
                <a16:creationId xmlns:a16="http://schemas.microsoft.com/office/drawing/2014/main" id="{4DE6D622-0D4D-4170-A313-98D25775DE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52400"/>
            <a:ext cx="3429000" cy="325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5699" name="Picture 3">
            <a:extLst>
              <a:ext uri="{FF2B5EF4-FFF2-40B4-BE49-F238E27FC236}">
                <a16:creationId xmlns:a16="http://schemas.microsoft.com/office/drawing/2014/main" id="{C9CBAF24-6B63-4F08-BA68-4CB84EFBAB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1778000"/>
            <a:ext cx="3879850"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5700" name="Picture 4">
            <a:extLst>
              <a:ext uri="{FF2B5EF4-FFF2-40B4-BE49-F238E27FC236}">
                <a16:creationId xmlns:a16="http://schemas.microsoft.com/office/drawing/2014/main" id="{4D397239-C594-4052-B048-0D1DB585C5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3733800"/>
            <a:ext cx="2454275" cy="28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5701" name="Line 5">
            <a:extLst>
              <a:ext uri="{FF2B5EF4-FFF2-40B4-BE49-F238E27FC236}">
                <a16:creationId xmlns:a16="http://schemas.microsoft.com/office/drawing/2014/main" id="{8047362D-F059-4535-B37F-7FCF5C1050F5}"/>
              </a:ext>
            </a:extLst>
          </p:cNvPr>
          <p:cNvSpPr>
            <a:spLocks noChangeShapeType="1"/>
          </p:cNvSpPr>
          <p:nvPr/>
        </p:nvSpPr>
        <p:spPr bwMode="auto">
          <a:xfrm>
            <a:off x="3657600" y="1752600"/>
            <a:ext cx="1371600" cy="838200"/>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wrap="none"/>
          <a:lstStyle/>
          <a:p>
            <a:endParaRPr lang="zh-CN" altLang="en-US"/>
          </a:p>
        </p:txBody>
      </p:sp>
      <p:sp>
        <p:nvSpPr>
          <p:cNvPr id="285702" name="Line 6">
            <a:extLst>
              <a:ext uri="{FF2B5EF4-FFF2-40B4-BE49-F238E27FC236}">
                <a16:creationId xmlns:a16="http://schemas.microsoft.com/office/drawing/2014/main" id="{70EA2A71-094D-4A35-98A6-017ACEA21738}"/>
              </a:ext>
            </a:extLst>
          </p:cNvPr>
          <p:cNvSpPr>
            <a:spLocks noChangeShapeType="1"/>
          </p:cNvSpPr>
          <p:nvPr/>
        </p:nvSpPr>
        <p:spPr bwMode="auto">
          <a:xfrm flipH="1">
            <a:off x="3276600" y="4724400"/>
            <a:ext cx="1752600" cy="1066800"/>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wrap="none"/>
          <a:lstStyle/>
          <a:p>
            <a:endParaRPr lang="zh-CN" altLang="en-US"/>
          </a:p>
        </p:txBody>
      </p:sp>
      <p:pic>
        <p:nvPicPr>
          <p:cNvPr id="285703" name="Picture 7" descr="bs00580_">
            <a:extLst>
              <a:ext uri="{FF2B5EF4-FFF2-40B4-BE49-F238E27FC236}">
                <a16:creationId xmlns:a16="http://schemas.microsoft.com/office/drawing/2014/main" id="{476FF375-5FFC-415A-9DB3-F6C050EC099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962400" y="893763"/>
            <a:ext cx="110490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5704" name="Picture 8" descr="bs00580_">
            <a:extLst>
              <a:ext uri="{FF2B5EF4-FFF2-40B4-BE49-F238E27FC236}">
                <a16:creationId xmlns:a16="http://schemas.microsoft.com/office/drawing/2014/main" id="{B0CD462A-E424-4E4D-B48F-2B20513C69C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52800" y="3886200"/>
            <a:ext cx="1219200"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5705" name="Rectangle 9">
            <a:extLst>
              <a:ext uri="{FF2B5EF4-FFF2-40B4-BE49-F238E27FC236}">
                <a16:creationId xmlns:a16="http://schemas.microsoft.com/office/drawing/2014/main" id="{256399F0-1C36-46BD-AB33-BA2EA57CAB49}"/>
              </a:ext>
            </a:extLst>
          </p:cNvPr>
          <p:cNvSpPr>
            <a:spLocks noChangeArrowheads="1"/>
          </p:cNvSpPr>
          <p:nvPr/>
        </p:nvSpPr>
        <p:spPr bwMode="auto">
          <a:xfrm>
            <a:off x="4953000" y="228600"/>
            <a:ext cx="37512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1" dirty="0">
                <a:latin typeface="Times New Roman" panose="02020603050405020304" pitchFamily="18" charset="0"/>
              </a:rPr>
              <a:t>Two-dimensional NMR</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7746" name="Picture 2" descr="MONO2">
            <a:extLst>
              <a:ext uri="{FF2B5EF4-FFF2-40B4-BE49-F238E27FC236}">
                <a16:creationId xmlns:a16="http://schemas.microsoft.com/office/drawing/2014/main" id="{BAFA5218-8E00-4F3E-BD89-EF756019C7D0}"/>
              </a:ext>
            </a:extLst>
          </p:cNvPr>
          <p:cNvPicPr>
            <a:picLocks noChangeAspect="1" noChangeArrowheads="1"/>
          </p:cNvPicPr>
          <p:nvPr/>
        </p:nvPicPr>
        <p:blipFill>
          <a:blip r:embed="rId2">
            <a:lum bright="42000" contrast="54000"/>
            <a:extLst>
              <a:ext uri="{28A0092B-C50C-407E-A947-70E740481C1C}">
                <a14:useLocalDpi xmlns:a14="http://schemas.microsoft.com/office/drawing/2010/main" val="0"/>
              </a:ext>
            </a:extLst>
          </a:blip>
          <a:srcRect/>
          <a:stretch>
            <a:fillRect/>
          </a:stretch>
        </p:blipFill>
        <p:spPr bwMode="auto">
          <a:xfrm>
            <a:off x="3733800" y="228600"/>
            <a:ext cx="514032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7747" name="Picture 3">
            <a:extLst>
              <a:ext uri="{FF2B5EF4-FFF2-40B4-BE49-F238E27FC236}">
                <a16:creationId xmlns:a16="http://schemas.microsoft.com/office/drawing/2014/main" id="{000E34C8-9416-4C85-92E7-276A3C91CB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28600"/>
            <a:ext cx="2489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748" name="Rectangle 4">
            <a:extLst>
              <a:ext uri="{FF2B5EF4-FFF2-40B4-BE49-F238E27FC236}">
                <a16:creationId xmlns:a16="http://schemas.microsoft.com/office/drawing/2014/main" id="{8FEC9567-5BDF-403C-96F2-1EC4995D06D9}"/>
              </a:ext>
            </a:extLst>
          </p:cNvPr>
          <p:cNvSpPr>
            <a:spLocks noChangeArrowheads="1"/>
          </p:cNvSpPr>
          <p:nvPr/>
        </p:nvSpPr>
        <p:spPr bwMode="auto">
          <a:xfrm>
            <a:off x="228600" y="5791200"/>
            <a:ext cx="8534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cytochrome c contains only about 40% </a:t>
            </a:r>
            <a:r>
              <a:rPr lang="en-US" altLang="zh-CN" sz="2800" b="1">
                <a:latin typeface="Symbol" panose="05050102010706020507" pitchFamily="18" charset="2"/>
              </a:rPr>
              <a:t>a</a:t>
            </a:r>
            <a:r>
              <a:rPr lang="en-US" altLang="zh-CN" sz="2800" b="1">
                <a:latin typeface="Times New Roman" panose="02020603050405020304" pitchFamily="18" charset="0"/>
              </a:rPr>
              <a:t>-helices, but many irregularly coiled and extended segments</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770" name="Picture 2">
            <a:extLst>
              <a:ext uri="{FF2B5EF4-FFF2-40B4-BE49-F238E27FC236}">
                <a16:creationId xmlns:a16="http://schemas.microsoft.com/office/drawing/2014/main" id="{DBB7D9BF-3069-4037-851D-2D918DC224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711200"/>
            <a:ext cx="30988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8771" name="Rectangle 3">
            <a:extLst>
              <a:ext uri="{FF2B5EF4-FFF2-40B4-BE49-F238E27FC236}">
                <a16:creationId xmlns:a16="http://schemas.microsoft.com/office/drawing/2014/main" id="{666BE1B2-0D24-4020-B69A-F99FFCDA4B23}"/>
              </a:ext>
            </a:extLst>
          </p:cNvPr>
          <p:cNvSpPr>
            <a:spLocks noChangeArrowheads="1"/>
          </p:cNvSpPr>
          <p:nvPr/>
        </p:nvSpPr>
        <p:spPr bwMode="auto">
          <a:xfrm>
            <a:off x="4572000" y="2017713"/>
            <a:ext cx="3962400" cy="282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80000"/>
              </a:lnSpc>
              <a:spcBef>
                <a:spcPct val="30000"/>
              </a:spcBef>
              <a:buClrTx/>
              <a:buSzTx/>
              <a:buFontTx/>
              <a:buNone/>
            </a:pPr>
            <a:r>
              <a:rPr lang="en-US" altLang="zh-CN" sz="2800" b="1" dirty="0">
                <a:latin typeface="Times New Roman" panose="02020603050405020304" pitchFamily="18" charset="0"/>
              </a:rPr>
              <a:t>Lysozyme, an enzyme that catalyzes the hydrolytic cleavage of polysaccharides in some bacterial cell walls, contains about 40% </a:t>
            </a:r>
            <a:r>
              <a:rPr lang="en-US" altLang="zh-CN" sz="2800" b="1" dirty="0">
                <a:latin typeface="Symbol" panose="05050102010706020507" pitchFamily="18" charset="2"/>
              </a:rPr>
              <a:t>a</a:t>
            </a:r>
            <a:r>
              <a:rPr lang="en-US" altLang="zh-CN" sz="2800" b="1" dirty="0">
                <a:latin typeface="Times New Roman" panose="02020603050405020304" pitchFamily="18" charset="0"/>
              </a:rPr>
              <a:t>-helices and about 12% </a:t>
            </a:r>
            <a:r>
              <a:rPr lang="en-US" altLang="zh-CN" sz="2800" b="1" dirty="0">
                <a:latin typeface="Symbol" panose="05050102010706020507" pitchFamily="18" charset="2"/>
              </a:rPr>
              <a:t>b</a:t>
            </a:r>
            <a:r>
              <a:rPr lang="en-US" altLang="zh-CN" sz="2800" b="1" dirty="0">
                <a:latin typeface="Times New Roman" panose="02020603050405020304" pitchFamily="18" charset="0"/>
              </a:rPr>
              <a:t>-sheets.</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0818" name="Picture 2">
            <a:extLst>
              <a:ext uri="{FF2B5EF4-FFF2-40B4-BE49-F238E27FC236}">
                <a16:creationId xmlns:a16="http://schemas.microsoft.com/office/drawing/2014/main" id="{789D2100-35CC-4CA6-9286-C97B2C77E9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711200"/>
            <a:ext cx="2870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0819" name="Rectangle 3">
            <a:extLst>
              <a:ext uri="{FF2B5EF4-FFF2-40B4-BE49-F238E27FC236}">
                <a16:creationId xmlns:a16="http://schemas.microsoft.com/office/drawing/2014/main" id="{5D384F28-7880-4492-8667-E709AD38D641}"/>
              </a:ext>
            </a:extLst>
          </p:cNvPr>
          <p:cNvSpPr>
            <a:spLocks noChangeArrowheads="1"/>
          </p:cNvSpPr>
          <p:nvPr/>
        </p:nvSpPr>
        <p:spPr bwMode="auto">
          <a:xfrm>
            <a:off x="4876800" y="3581400"/>
            <a:ext cx="3376613"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80000"/>
              </a:lnSpc>
              <a:spcBef>
                <a:spcPct val="30000"/>
              </a:spcBef>
              <a:buClrTx/>
              <a:buSzTx/>
              <a:buFontTx/>
              <a:buNone/>
            </a:pPr>
            <a:r>
              <a:rPr lang="en-US" altLang="zh-CN" sz="2800" b="1">
                <a:latin typeface="Times New Roman" panose="02020603050405020304" pitchFamily="18" charset="0"/>
              </a:rPr>
              <a:t>Ribonuclease A contains more </a:t>
            </a:r>
            <a:r>
              <a:rPr lang="en-US" altLang="zh-CN" sz="2800" b="1">
                <a:latin typeface="Symbol" panose="05050102010706020507" pitchFamily="18" charset="2"/>
              </a:rPr>
              <a:t>b</a:t>
            </a:r>
            <a:r>
              <a:rPr lang="en-US" altLang="zh-CN" sz="2800" b="1">
                <a:latin typeface="Times New Roman" panose="02020603050405020304" pitchFamily="18" charset="0"/>
              </a:rPr>
              <a:t>-sheet structures.</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Text Box 2">
            <a:extLst>
              <a:ext uri="{FF2B5EF4-FFF2-40B4-BE49-F238E27FC236}">
                <a16:creationId xmlns:a16="http://schemas.microsoft.com/office/drawing/2014/main" id="{AB07F99E-993B-4478-B9AB-C3FE1EA7E87B}"/>
              </a:ext>
            </a:extLst>
          </p:cNvPr>
          <p:cNvSpPr txBox="1">
            <a:spLocks noChangeArrowheads="1"/>
          </p:cNvSpPr>
          <p:nvPr/>
        </p:nvSpPr>
        <p:spPr bwMode="auto">
          <a:xfrm>
            <a:off x="107504" y="28585"/>
            <a:ext cx="9057828" cy="7792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80000"/>
              </a:lnSpc>
              <a:spcBef>
                <a:spcPct val="30000"/>
              </a:spcBef>
              <a:buClrTx/>
              <a:buSzTx/>
              <a:buFontTx/>
              <a:buNone/>
            </a:pPr>
            <a:r>
              <a:rPr lang="en-US" altLang="zh-CN" b="1" dirty="0">
                <a:latin typeface="Times New Roman" panose="02020603050405020304" pitchFamily="18" charset="0"/>
              </a:rPr>
              <a:t>Summary of B3</a:t>
            </a:r>
          </a:p>
          <a:p>
            <a:pPr eaLnBrk="1" hangingPunct="1">
              <a:lnSpc>
                <a:spcPct val="80000"/>
              </a:lnSpc>
              <a:spcBef>
                <a:spcPct val="30000"/>
              </a:spcBef>
              <a:buClrTx/>
              <a:buSzTx/>
              <a:buFontTx/>
              <a:buNone/>
            </a:pPr>
            <a:endParaRPr lang="en-US" altLang="zh-CN" b="1" dirty="0">
              <a:solidFill>
                <a:srgbClr val="FF0066"/>
              </a:solidFill>
              <a:latin typeface="Times New Roman" panose="02020603050405020304" pitchFamily="18" charset="0"/>
            </a:endParaRPr>
          </a:p>
          <a:p>
            <a:pPr marL="0" indent="0" eaLnBrk="1" hangingPunct="1">
              <a:lnSpc>
                <a:spcPct val="80000"/>
              </a:lnSpc>
              <a:spcBef>
                <a:spcPct val="30000"/>
              </a:spcBef>
              <a:buClrTx/>
              <a:buSzTx/>
              <a:buNone/>
            </a:pPr>
            <a:r>
              <a:rPr lang="en-US" altLang="zh-CN" sz="2800" b="1" dirty="0">
                <a:latin typeface="Times New Roman" panose="02020603050405020304" pitchFamily="18" charset="0"/>
              </a:rPr>
              <a:t>1.   Protein structures have conventionally been      understood at four different levels.</a:t>
            </a:r>
          </a:p>
          <a:p>
            <a:pPr eaLnBrk="1" hangingPunct="1">
              <a:lnSpc>
                <a:spcPct val="130000"/>
              </a:lnSpc>
              <a:spcBef>
                <a:spcPct val="30000"/>
              </a:spcBef>
              <a:buClrTx/>
              <a:buSzTx/>
              <a:buFontTx/>
              <a:buNone/>
            </a:pPr>
            <a:r>
              <a:rPr lang="en-US" altLang="zh-CN" sz="2800" b="1" dirty="0">
                <a:latin typeface="Times New Roman" panose="02020603050405020304" pitchFamily="18" charset="0"/>
              </a:rPr>
              <a:t>     Primary: N    C</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S-S</a:t>
            </a:r>
          </a:p>
          <a:p>
            <a:pPr eaLnBrk="1" hangingPunct="1">
              <a:spcBef>
                <a:spcPct val="50000"/>
              </a:spcBef>
              <a:buClrTx/>
              <a:buSzTx/>
              <a:buFontTx/>
              <a:buNone/>
            </a:pPr>
            <a:r>
              <a:rPr lang="en-US" altLang="zh-CN" sz="2800" b="1" dirty="0">
                <a:latin typeface="Times New Roman" panose="02020603050405020304" pitchFamily="18" charset="0"/>
              </a:rPr>
              <a:t>     secondary</a:t>
            </a:r>
            <a:r>
              <a:rPr lang="zh-CN" altLang="en-US" sz="2800" b="1" dirty="0">
                <a:latin typeface="Times New Roman" panose="02020603050405020304" pitchFamily="18" charset="0"/>
              </a:rPr>
              <a:t>：</a:t>
            </a:r>
            <a:r>
              <a:rPr lang="zh-CN" altLang="en-US"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sym typeface="Symbol" panose="05050102010706020507" pitchFamily="18" charset="2"/>
              </a:rPr>
              <a:t>-helix,</a:t>
            </a:r>
            <a:r>
              <a:rPr lang="zh-CN" altLang="en-US" sz="2800" b="1" dirty="0">
                <a:latin typeface="Times New Roman" panose="02020603050405020304" pitchFamily="18" charset="0"/>
                <a:sym typeface="Symbol" panose="05050102010706020507" pitchFamily="18" charset="2"/>
              </a:rPr>
              <a:t> </a:t>
            </a:r>
            <a:r>
              <a:rPr lang="en-US" altLang="zh-CN" sz="2800" b="1" dirty="0">
                <a:latin typeface="Times New Roman" panose="02020603050405020304" pitchFamily="18" charset="0"/>
                <a:sym typeface="Symbol" panose="05050102010706020507" pitchFamily="18" charset="2"/>
              </a:rPr>
              <a:t>-pleated sheet,  -turn</a:t>
            </a:r>
            <a:r>
              <a:rPr lang="en-US" altLang="zh-CN" sz="2800" b="1" dirty="0">
                <a:latin typeface="Times New Roman" panose="02020603050405020304" pitchFamily="18" charset="0"/>
              </a:rPr>
              <a:t> </a:t>
            </a:r>
          </a:p>
          <a:p>
            <a:pPr eaLnBrk="1" hangingPunct="1">
              <a:lnSpc>
                <a:spcPct val="130000"/>
              </a:lnSpc>
              <a:spcBef>
                <a:spcPct val="30000"/>
              </a:spcBef>
              <a:buClrTx/>
              <a:buSzTx/>
              <a:buFontTx/>
              <a:buNone/>
            </a:pPr>
            <a:r>
              <a:rPr lang="en-US" altLang="zh-CN" sz="2800" b="1" dirty="0">
                <a:latin typeface="Times New Roman" panose="02020603050405020304" pitchFamily="18" charset="0"/>
              </a:rPr>
              <a:t>     tertiary,      quaternary;</a:t>
            </a:r>
          </a:p>
          <a:p>
            <a:pPr eaLnBrk="1" hangingPunct="1">
              <a:lnSpc>
                <a:spcPct val="130000"/>
              </a:lnSpc>
              <a:spcBef>
                <a:spcPct val="30000"/>
              </a:spcBef>
              <a:buClrTx/>
              <a:buSzTx/>
              <a:buFontTx/>
              <a:buNone/>
            </a:pPr>
            <a:r>
              <a:rPr lang="en-US" altLang="zh-CN" sz="2800" b="1" dirty="0">
                <a:latin typeface="Times New Roman" panose="02020603050405020304" pitchFamily="18" charset="0"/>
              </a:rPr>
              <a:t>     peptide bond, </a:t>
            </a:r>
            <a:r>
              <a:rPr kumimoji="0" lang="en-US" altLang="zh-CN" sz="2800" b="1" dirty="0">
                <a:latin typeface="Times New Roman" panose="02020603050405020304" pitchFamily="18" charset="0"/>
              </a:rPr>
              <a:t>peptide bond is rigid and planar</a:t>
            </a:r>
          </a:p>
          <a:p>
            <a:pPr marL="514350" indent="-514350">
              <a:lnSpc>
                <a:spcPct val="130000"/>
              </a:lnSpc>
              <a:spcBef>
                <a:spcPct val="30000"/>
              </a:spcBef>
              <a:buClrTx/>
              <a:buSzTx/>
              <a:buAutoNum type="arabicPeriod" startAt="2"/>
            </a:pPr>
            <a:r>
              <a:rPr lang="en-US" altLang="zh-CN" sz="2800" b="1" dirty="0">
                <a:latin typeface="Times New Roman" panose="02020603050405020304" pitchFamily="18" charset="0"/>
              </a:rPr>
              <a:t>Proteins </a:t>
            </a:r>
            <a:r>
              <a:rPr lang="en-US" altLang="zh-CN" sz="2800" dirty="0">
                <a:latin typeface="Times New Roman" panose="02020603050405020304" pitchFamily="18" charset="0"/>
              </a:rPr>
              <a:t>(ribonuclease A) </a:t>
            </a:r>
            <a:r>
              <a:rPr lang="en-US" altLang="zh-CN" sz="2800" b="1" dirty="0">
                <a:latin typeface="Times New Roman" panose="02020603050405020304" pitchFamily="18" charset="0"/>
              </a:rPr>
              <a:t>denaturation, renaturation;</a:t>
            </a:r>
          </a:p>
          <a:p>
            <a:pPr marL="514350" indent="-514350">
              <a:lnSpc>
                <a:spcPct val="130000"/>
              </a:lnSpc>
              <a:spcBef>
                <a:spcPct val="30000"/>
              </a:spcBef>
              <a:buClrTx/>
              <a:buSzTx/>
              <a:buAutoNum type="arabicPeriod" startAt="2"/>
            </a:pPr>
            <a:r>
              <a:rPr lang="en-US" altLang="zh-CN" sz="2800" b="1" dirty="0">
                <a:latin typeface="Times New Roman" panose="02020603050405020304" pitchFamily="18" charset="0"/>
              </a:rPr>
              <a:t>Protein folding;</a:t>
            </a:r>
          </a:p>
          <a:p>
            <a:pPr marL="0" indent="0">
              <a:lnSpc>
                <a:spcPct val="130000"/>
              </a:lnSpc>
              <a:spcBef>
                <a:spcPct val="30000"/>
              </a:spcBef>
              <a:buClrTx/>
              <a:buSzTx/>
              <a:buNone/>
            </a:pPr>
            <a:r>
              <a:rPr lang="en-US" altLang="zh-CN" sz="2800" b="1" dirty="0">
                <a:latin typeface="Times New Roman" panose="02020603050405020304" pitchFamily="18" charset="0"/>
              </a:rPr>
              <a:t>4.   Determination of 3-D structures of proteins.</a:t>
            </a:r>
            <a:endParaRPr lang="zh-CN" altLang="zh-CN" sz="2800" b="1" dirty="0">
              <a:latin typeface="Times New Roman" panose="02020603050405020304" pitchFamily="18" charset="0"/>
            </a:endParaRPr>
          </a:p>
          <a:p>
            <a:pPr eaLnBrk="1" hangingPunct="1">
              <a:lnSpc>
                <a:spcPct val="130000"/>
              </a:lnSpc>
              <a:spcBef>
                <a:spcPct val="30000"/>
              </a:spcBef>
              <a:buClrTx/>
              <a:buSzTx/>
              <a:buFontTx/>
              <a:buNone/>
            </a:pPr>
            <a:endParaRPr lang="en-US" altLang="zh-CN" sz="2800" b="1" dirty="0">
              <a:latin typeface="Times New Roman" panose="02020603050405020304" pitchFamily="18" charset="0"/>
            </a:endParaRPr>
          </a:p>
          <a:p>
            <a:pPr eaLnBrk="1" hangingPunct="1">
              <a:lnSpc>
                <a:spcPct val="80000"/>
              </a:lnSpc>
              <a:spcBef>
                <a:spcPct val="30000"/>
              </a:spcBef>
              <a:buClrTx/>
              <a:buSzTx/>
              <a:buFontTx/>
              <a:buNone/>
            </a:pPr>
            <a:endParaRPr lang="en-US" altLang="zh-CN" sz="2800" b="1" dirty="0">
              <a:latin typeface="Times New Roman" panose="02020603050405020304" pitchFamily="18" charset="0"/>
            </a:endParaRPr>
          </a:p>
        </p:txBody>
      </p:sp>
      <p:cxnSp>
        <p:nvCxnSpPr>
          <p:cNvPr id="3" name="直接箭头连接符 2">
            <a:extLst>
              <a:ext uri="{FF2B5EF4-FFF2-40B4-BE49-F238E27FC236}">
                <a16:creationId xmlns:a16="http://schemas.microsoft.com/office/drawing/2014/main" id="{E1581F4D-E858-4124-AD21-230735A093B7}"/>
              </a:ext>
            </a:extLst>
          </p:cNvPr>
          <p:cNvCxnSpPr/>
          <p:nvPr/>
        </p:nvCxnSpPr>
        <p:spPr>
          <a:xfrm>
            <a:off x="2422646" y="2237522"/>
            <a:ext cx="28803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Text Box 2">
            <a:extLst>
              <a:ext uri="{FF2B5EF4-FFF2-40B4-BE49-F238E27FC236}">
                <a16:creationId xmlns:a16="http://schemas.microsoft.com/office/drawing/2014/main" id="{4847D67F-862E-4D08-AFBB-A6D99F0FED72}"/>
              </a:ext>
            </a:extLst>
          </p:cNvPr>
          <p:cNvSpPr txBox="1">
            <a:spLocks noChangeArrowheads="1"/>
          </p:cNvSpPr>
          <p:nvPr/>
        </p:nvSpPr>
        <p:spPr bwMode="auto">
          <a:xfrm>
            <a:off x="755650" y="2636838"/>
            <a:ext cx="7848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4400" b="1" dirty="0">
                <a:solidFill>
                  <a:srgbClr val="FF0066"/>
                </a:solidFill>
                <a:latin typeface="Times New Roman" panose="02020603050405020304" pitchFamily="18" charset="0"/>
              </a:rPr>
              <a:t>B4  Myoglobin and Hemoglobin</a:t>
            </a:r>
            <a:endParaRPr lang="en-US" altLang="zh-CN" sz="4400" dirty="0">
              <a:latin typeface="Times New Roman" panose="02020603050405020304" pitchFamily="18" charset="0"/>
            </a:endParaRP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Text Box 2">
            <a:extLst>
              <a:ext uri="{FF2B5EF4-FFF2-40B4-BE49-F238E27FC236}">
                <a16:creationId xmlns:a16="http://schemas.microsoft.com/office/drawing/2014/main" id="{BE44D3BE-0463-4415-8A87-41F08C5EB2BD}"/>
              </a:ext>
            </a:extLst>
          </p:cNvPr>
          <p:cNvSpPr txBox="1">
            <a:spLocks noChangeArrowheads="1"/>
          </p:cNvSpPr>
          <p:nvPr/>
        </p:nvSpPr>
        <p:spPr bwMode="auto">
          <a:xfrm>
            <a:off x="609600" y="609600"/>
            <a:ext cx="7772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en-US" altLang="zh-CN" sz="3600">
                <a:latin typeface="Times New Roman" panose="02020603050405020304" pitchFamily="18" charset="0"/>
              </a:rPr>
              <a:t>1. Oxygen-binding proteins</a:t>
            </a:r>
          </a:p>
        </p:txBody>
      </p:sp>
      <p:sp>
        <p:nvSpPr>
          <p:cNvPr id="294915" name="Text Box 3">
            <a:extLst>
              <a:ext uri="{FF2B5EF4-FFF2-40B4-BE49-F238E27FC236}">
                <a16:creationId xmlns:a16="http://schemas.microsoft.com/office/drawing/2014/main" id="{C8899517-BEF5-4482-B170-035B94C41907}"/>
              </a:ext>
            </a:extLst>
          </p:cNvPr>
          <p:cNvSpPr txBox="1">
            <a:spLocks noChangeArrowheads="1"/>
          </p:cNvSpPr>
          <p:nvPr/>
        </p:nvSpPr>
        <p:spPr bwMode="auto">
          <a:xfrm>
            <a:off x="990600" y="1905000"/>
            <a:ext cx="73914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en-US" altLang="zh-CN" sz="3600">
                <a:latin typeface="Times New Roman" panose="02020603050405020304" pitchFamily="18" charset="0"/>
              </a:rPr>
              <a:t>Hemoglobin and myoglobin are the two oxygen-binding proteins present in large multicellular organisms.</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Text Box 2">
            <a:extLst>
              <a:ext uri="{FF2B5EF4-FFF2-40B4-BE49-F238E27FC236}">
                <a16:creationId xmlns:a16="http://schemas.microsoft.com/office/drawing/2014/main" id="{F984F1BF-8A6D-4AD5-868E-F6983BD13231}"/>
              </a:ext>
            </a:extLst>
          </p:cNvPr>
          <p:cNvSpPr txBox="1">
            <a:spLocks noChangeArrowheads="1"/>
          </p:cNvSpPr>
          <p:nvPr/>
        </p:nvSpPr>
        <p:spPr bwMode="auto">
          <a:xfrm>
            <a:off x="755650" y="2205038"/>
            <a:ext cx="7696200" cy="265747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50000"/>
              </a:spcBef>
              <a:buClrTx/>
              <a:buSzTx/>
              <a:buFontTx/>
              <a:buNone/>
            </a:pPr>
            <a:r>
              <a:rPr lang="en-US" altLang="zh-CN" sz="2800" b="1" dirty="0">
                <a:latin typeface="Times New Roman" panose="02020603050405020304" pitchFamily="18" charset="0"/>
              </a:rPr>
              <a:t>2. Sperm whale (</a:t>
            </a:r>
            <a:r>
              <a:rPr lang="zh-CN" altLang="en-US" sz="2800" b="1" dirty="0">
                <a:latin typeface="Times New Roman" panose="02020603050405020304" pitchFamily="18" charset="0"/>
              </a:rPr>
              <a:t>抹香鲸</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巨头鲸</a:t>
            </a:r>
            <a:r>
              <a:rPr lang="en-US" altLang="zh-CN" sz="2800" b="1" dirty="0">
                <a:latin typeface="Times New Roman" panose="02020603050405020304" pitchFamily="18" charset="0"/>
              </a:rPr>
              <a:t>) myoglobin (</a:t>
            </a:r>
            <a:r>
              <a:rPr lang="zh-CN" altLang="en-US" sz="2800" b="1" dirty="0">
                <a:latin typeface="Times New Roman" panose="02020603050405020304" pitchFamily="18" charset="0"/>
              </a:rPr>
              <a:t>肌红蛋白</a:t>
            </a:r>
            <a:r>
              <a:rPr lang="en-US" altLang="zh-CN" sz="2800" b="1" dirty="0">
                <a:latin typeface="Times New Roman" panose="02020603050405020304" pitchFamily="18" charset="0"/>
              </a:rPr>
              <a:t>), the oxygen carrier in muscle, was the first protein to be seen in atomic detail by X-ray analysis (John Kendrew, 1950s)</a:t>
            </a:r>
            <a:endParaRPr lang="en-US" altLang="zh-CN" sz="2400" dirty="0">
              <a:latin typeface="Times New Roman" panose="02020603050405020304" pitchFamily="18" charset="0"/>
            </a:endParaRP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C6EB88A-7B1D-4E19-93AE-1E46ED4A523A}"/>
              </a:ext>
            </a:extLst>
          </p:cNvPr>
          <p:cNvPicPr>
            <a:picLocks noChangeAspect="1"/>
          </p:cNvPicPr>
          <p:nvPr/>
        </p:nvPicPr>
        <p:blipFill>
          <a:blip r:embed="rId3"/>
          <a:stretch>
            <a:fillRect/>
          </a:stretch>
        </p:blipFill>
        <p:spPr>
          <a:xfrm>
            <a:off x="1619672" y="764704"/>
            <a:ext cx="6096000" cy="4572000"/>
          </a:xfrm>
          <a:prstGeom prst="rect">
            <a:avLst/>
          </a:prstGeom>
        </p:spPr>
      </p:pic>
      <p:sp>
        <p:nvSpPr>
          <p:cNvPr id="4" name="文本框 3">
            <a:extLst>
              <a:ext uri="{FF2B5EF4-FFF2-40B4-BE49-F238E27FC236}">
                <a16:creationId xmlns:a16="http://schemas.microsoft.com/office/drawing/2014/main" id="{2A168ABB-B21A-465B-894F-DAD78BC5840D}"/>
              </a:ext>
            </a:extLst>
          </p:cNvPr>
          <p:cNvSpPr txBox="1"/>
          <p:nvPr/>
        </p:nvSpPr>
        <p:spPr>
          <a:xfrm>
            <a:off x="2123728" y="5589240"/>
            <a:ext cx="4572000" cy="646331"/>
          </a:xfrm>
          <a:prstGeom prst="rect">
            <a:avLst/>
          </a:prstGeom>
          <a:noFill/>
        </p:spPr>
        <p:txBody>
          <a:bodyPr wrap="square">
            <a:spAutoFit/>
          </a:bodyPr>
          <a:lstStyle/>
          <a:p>
            <a:r>
              <a:rPr lang="zh-CN" altLang="en-US" dirty="0">
                <a:hlinkClick r:id="rId4"/>
              </a:rPr>
              <a:t>“环保先锋”丹麦围杀</a:t>
            </a:r>
            <a:r>
              <a:rPr lang="en-US" altLang="zh-CN" dirty="0">
                <a:hlinkClick r:id="rId4"/>
              </a:rPr>
              <a:t>1400</a:t>
            </a:r>
            <a:r>
              <a:rPr lang="zh-CN" altLang="en-US" dirty="0">
                <a:hlinkClick r:id="rId4"/>
              </a:rPr>
              <a:t>多只海豚，鲜血染红了海滩 </a:t>
            </a:r>
            <a:r>
              <a:rPr lang="en-US" altLang="zh-CN" dirty="0">
                <a:hlinkClick r:id="rId4"/>
              </a:rPr>
              <a:t>(baidu.com)</a:t>
            </a:r>
            <a:r>
              <a:rPr lang="en-US" altLang="zh-CN" dirty="0"/>
              <a:t>  -</a:t>
            </a:r>
            <a:r>
              <a:rPr lang="zh-CN" altLang="en-US" dirty="0"/>
              <a:t>百度新闻</a:t>
            </a:r>
          </a:p>
        </p:txBody>
      </p:sp>
    </p:spTree>
    <p:extLst>
      <p:ext uri="{BB962C8B-B14F-4D97-AF65-F5344CB8AC3E}">
        <p14:creationId xmlns:p14="http://schemas.microsoft.com/office/powerpoint/2010/main" val="473621130"/>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62" name="Picture 2">
            <a:extLst>
              <a:ext uri="{FF2B5EF4-FFF2-40B4-BE49-F238E27FC236}">
                <a16:creationId xmlns:a16="http://schemas.microsoft.com/office/drawing/2014/main" id="{71D17C06-3B62-48A1-B56E-C4456A7840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28575"/>
            <a:ext cx="80264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63" name="Text Box 3">
            <a:extLst>
              <a:ext uri="{FF2B5EF4-FFF2-40B4-BE49-F238E27FC236}">
                <a16:creationId xmlns:a16="http://schemas.microsoft.com/office/drawing/2014/main" id="{D7D8244E-37B0-45CE-99C1-557654F9FC9A}"/>
              </a:ext>
            </a:extLst>
          </p:cNvPr>
          <p:cNvSpPr txBox="1">
            <a:spLocks noChangeArrowheads="1"/>
          </p:cNvSpPr>
          <p:nvPr/>
        </p:nvSpPr>
        <p:spPr bwMode="auto">
          <a:xfrm>
            <a:off x="914400" y="5289550"/>
            <a:ext cx="7924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en-US" altLang="zh-CN" sz="2400" b="1" dirty="0">
                <a:latin typeface="Times New Roman" panose="02020603050405020304" pitchFamily="18" charset="0"/>
              </a:rPr>
              <a:t>Tertiary structure of s</a:t>
            </a:r>
            <a:r>
              <a:rPr lang="en-US" altLang="zh-CN" sz="2400" b="1" dirty="0">
                <a:latin typeface="Times New Roman" panose="02020603050405020304" pitchFamily="18" charset="0"/>
              </a:rPr>
              <a:t>perm whale myoglobin. </a:t>
            </a:r>
          </a:p>
          <a:p>
            <a:pPr eaLnBrk="1" hangingPunct="1">
              <a:spcBef>
                <a:spcPct val="50000"/>
              </a:spcBef>
              <a:buClrTx/>
              <a:buSzTx/>
              <a:buFontTx/>
              <a:buNone/>
            </a:pPr>
            <a:r>
              <a:rPr lang="en-US" altLang="zh-CN" sz="2400" b="1" dirty="0">
                <a:latin typeface="Times New Roman" panose="02020603050405020304" pitchFamily="18" charset="0"/>
              </a:rPr>
              <a:t>a) backbone; b) “mesh” image; c) surface contour image; </a:t>
            </a:r>
          </a:p>
          <a:p>
            <a:pPr eaLnBrk="1" hangingPunct="1">
              <a:spcBef>
                <a:spcPct val="50000"/>
              </a:spcBef>
              <a:buClrTx/>
              <a:buSzTx/>
              <a:buFontTx/>
              <a:buNone/>
            </a:pPr>
            <a:r>
              <a:rPr lang="en-US" altLang="zh-CN" sz="2400" b="1" dirty="0">
                <a:latin typeface="Times New Roman" panose="02020603050405020304" pitchFamily="18" charset="0"/>
              </a:rPr>
              <a:t>d) ribbon; e) space-filling model.</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Text Box 2">
            <a:extLst>
              <a:ext uri="{FF2B5EF4-FFF2-40B4-BE49-F238E27FC236}">
                <a16:creationId xmlns:a16="http://schemas.microsoft.com/office/drawing/2014/main" id="{7F7FE2DE-A8CA-4BFF-B9E0-EDA56248F80F}"/>
              </a:ext>
            </a:extLst>
          </p:cNvPr>
          <p:cNvSpPr txBox="1">
            <a:spLocks noChangeArrowheads="1"/>
          </p:cNvSpPr>
          <p:nvPr/>
        </p:nvSpPr>
        <p:spPr bwMode="auto">
          <a:xfrm>
            <a:off x="457200" y="838200"/>
            <a:ext cx="8382000" cy="46212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40000"/>
              </a:spcBef>
              <a:buClrTx/>
              <a:buSzTx/>
              <a:buFontTx/>
              <a:buNone/>
            </a:pPr>
            <a:r>
              <a:rPr lang="en-US" altLang="zh-CN" sz="2800" b="1" dirty="0">
                <a:latin typeface="Times New Roman" panose="02020603050405020304" pitchFamily="18" charset="0"/>
              </a:rPr>
              <a:t>2.1 The existence of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-helices were for the first time directly observed in a protein.</a:t>
            </a:r>
          </a:p>
          <a:p>
            <a:pPr eaLnBrk="1" hangingPunct="1">
              <a:spcBef>
                <a:spcPct val="40000"/>
              </a:spcBef>
              <a:buClrTx/>
              <a:buSzTx/>
              <a:buFontTx/>
              <a:buNone/>
            </a:pPr>
            <a:r>
              <a:rPr lang="en-US" altLang="zh-CN" sz="2800" b="1" dirty="0">
                <a:latin typeface="Times New Roman" panose="02020603050405020304" pitchFamily="18" charset="0"/>
              </a:rPr>
              <a:t>	The myoglobin molecule contains </a:t>
            </a:r>
            <a:r>
              <a:rPr lang="en-US" altLang="zh-CN" sz="2800" b="1" dirty="0">
                <a:solidFill>
                  <a:srgbClr val="FF0000"/>
                </a:solidFill>
                <a:latin typeface="Times New Roman" panose="02020603050405020304" pitchFamily="18" charset="0"/>
              </a:rPr>
              <a:t>eight </a:t>
            </a:r>
            <a:r>
              <a:rPr lang="en-US" altLang="zh-CN" sz="2800" b="1" dirty="0">
                <a:solidFill>
                  <a:srgbClr val="FF0000"/>
                </a:solidFill>
                <a:latin typeface="Times New Roman" panose="02020603050405020304" pitchFamily="18" charset="0"/>
                <a:sym typeface="Symbol" panose="05050102010706020507" pitchFamily="18" charset="2"/>
              </a:rPr>
              <a:t></a:t>
            </a:r>
            <a:r>
              <a:rPr lang="en-US" altLang="zh-CN" sz="2800" b="1" dirty="0">
                <a:solidFill>
                  <a:srgbClr val="FF0000"/>
                </a:solidFill>
                <a:latin typeface="Times New Roman" panose="02020603050405020304" pitchFamily="18" charset="0"/>
              </a:rPr>
              <a:t>-helices.</a:t>
            </a:r>
          </a:p>
          <a:p>
            <a:pPr eaLnBrk="1" hangingPunct="1">
              <a:spcBef>
                <a:spcPct val="40000"/>
              </a:spcBef>
              <a:buClrTx/>
              <a:buSzTx/>
              <a:buFontTx/>
              <a:buNone/>
            </a:pPr>
            <a:r>
              <a:rPr lang="en-US" altLang="zh-CN" sz="2800" b="1" dirty="0">
                <a:latin typeface="Times New Roman" panose="02020603050405020304" pitchFamily="18" charset="0"/>
              </a:rPr>
              <a:t>	All the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-helices are </a:t>
            </a:r>
            <a:r>
              <a:rPr lang="en-US" altLang="zh-CN" sz="2800" b="1" dirty="0">
                <a:solidFill>
                  <a:srgbClr val="FF0000"/>
                </a:solidFill>
                <a:latin typeface="Times New Roman" panose="02020603050405020304" pitchFamily="18" charset="0"/>
              </a:rPr>
              <a:t>right-handed</a:t>
            </a:r>
            <a:r>
              <a:rPr lang="en-US" altLang="zh-CN" sz="2800" b="1" dirty="0">
                <a:latin typeface="Times New Roman" panose="02020603050405020304" pitchFamily="18" charset="0"/>
              </a:rPr>
              <a:t>.</a:t>
            </a:r>
          </a:p>
          <a:p>
            <a:pPr eaLnBrk="1" hangingPunct="1">
              <a:spcBef>
                <a:spcPct val="40000"/>
              </a:spcBef>
              <a:buClrTx/>
              <a:buSzTx/>
              <a:buFontTx/>
              <a:buNone/>
            </a:pPr>
            <a:r>
              <a:rPr lang="en-US" altLang="zh-CN" sz="2800" b="1" dirty="0">
                <a:latin typeface="Times New Roman" panose="02020603050405020304" pitchFamily="18" charset="0"/>
              </a:rPr>
              <a:t>	All the peptide bonds are in the planar trans configuration. </a:t>
            </a:r>
          </a:p>
          <a:p>
            <a:pPr eaLnBrk="1" hangingPunct="1">
              <a:spcBef>
                <a:spcPct val="40000"/>
              </a:spcBef>
              <a:buClrTx/>
              <a:buSzTx/>
              <a:buFontTx/>
              <a:buNone/>
            </a:pPr>
            <a:r>
              <a:rPr lang="en-US" altLang="zh-CN" sz="2800" b="1" dirty="0">
                <a:latin typeface="Times New Roman" panose="02020603050405020304" pitchFamily="18" charset="0"/>
              </a:rPr>
              <a:t>	There is </a:t>
            </a:r>
            <a:r>
              <a:rPr lang="en-US" altLang="zh-CN" sz="2800" b="1" dirty="0">
                <a:solidFill>
                  <a:srgbClr val="FF0000"/>
                </a:solidFill>
                <a:latin typeface="Times New Roman" panose="02020603050405020304" pitchFamily="18" charset="0"/>
              </a:rPr>
              <a:t>no </a:t>
            </a:r>
            <a:r>
              <a:rPr lang="en-US" altLang="zh-CN" sz="2800" b="1" dirty="0">
                <a:solidFill>
                  <a:srgbClr val="FF0000"/>
                </a:solidFill>
                <a:latin typeface="Times New Roman" panose="02020603050405020304" pitchFamily="18" charset="0"/>
                <a:sym typeface="Symbol" panose="05050102010706020507" pitchFamily="18" charset="2"/>
              </a:rPr>
              <a:t></a:t>
            </a:r>
            <a:r>
              <a:rPr lang="en-US" altLang="zh-CN" sz="2800" b="1" dirty="0">
                <a:solidFill>
                  <a:srgbClr val="FF0000"/>
                </a:solidFill>
                <a:latin typeface="Times New Roman" panose="02020603050405020304" pitchFamily="18" charset="0"/>
              </a:rPr>
              <a:t>-pleated sheets observed</a:t>
            </a:r>
            <a:r>
              <a:rPr lang="en-US" altLang="zh-CN" sz="2800" b="1" dirty="0">
                <a:latin typeface="Times New Roman" panose="02020603050405020304" pitchFamily="18" charset="0"/>
              </a:rPr>
              <a:t> in the molecule.</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Text Box 2">
            <a:extLst>
              <a:ext uri="{FF2B5EF4-FFF2-40B4-BE49-F238E27FC236}">
                <a16:creationId xmlns:a16="http://schemas.microsoft.com/office/drawing/2014/main" id="{FF030060-97EC-492D-BD9B-CF261AD5167D}"/>
              </a:ext>
            </a:extLst>
          </p:cNvPr>
          <p:cNvSpPr txBox="1">
            <a:spLocks noChangeArrowheads="1"/>
          </p:cNvSpPr>
          <p:nvPr/>
        </p:nvSpPr>
        <p:spPr bwMode="auto">
          <a:xfrm>
            <a:off x="571500" y="593725"/>
            <a:ext cx="8001000" cy="534987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30000"/>
              </a:lnSpc>
              <a:buClrTx/>
              <a:buSzTx/>
              <a:buFontTx/>
              <a:buNone/>
            </a:pPr>
            <a:r>
              <a:rPr lang="en-US" altLang="zh-CN" sz="2800" b="1" dirty="0">
                <a:latin typeface="Times New Roman" panose="02020603050405020304" pitchFamily="18" charset="0"/>
              </a:rPr>
              <a:t>2.2 The myoglobin molecule </a:t>
            </a:r>
            <a:r>
              <a:rPr lang="en-US" altLang="zh-CN" sz="2800" b="1" dirty="0">
                <a:solidFill>
                  <a:srgbClr val="FF0000"/>
                </a:solidFill>
                <a:latin typeface="Times New Roman" panose="02020603050405020304" pitchFamily="18" charset="0"/>
              </a:rPr>
              <a:t>has a dense hydrophobic core</a:t>
            </a:r>
            <a:r>
              <a:rPr lang="en-US" altLang="zh-CN" sz="2800" b="1" dirty="0">
                <a:latin typeface="Times New Roman" panose="02020603050405020304" pitchFamily="18" charset="0"/>
              </a:rPr>
              <a:t>.</a:t>
            </a:r>
          </a:p>
          <a:p>
            <a:pPr eaLnBrk="1" hangingPunct="1">
              <a:lnSpc>
                <a:spcPct val="130000"/>
              </a:lnSpc>
              <a:buClrTx/>
              <a:buSzTx/>
              <a:buFontTx/>
              <a:buNone/>
            </a:pPr>
            <a:r>
              <a:rPr lang="en-US" altLang="zh-CN" sz="2800" b="1" dirty="0">
                <a:latin typeface="Times New Roman" panose="02020603050405020304" pitchFamily="18" charset="0"/>
              </a:rPr>
              <a:t>	Many hydrophobic R groups (e.g., Leu, Val, Met, </a:t>
            </a:r>
            <a:r>
              <a:rPr lang="en-US" altLang="zh-CN" sz="2800" b="1" dirty="0" err="1">
                <a:latin typeface="Times New Roman" panose="02020603050405020304" pitchFamily="18" charset="0"/>
              </a:rPr>
              <a:t>Phe</a:t>
            </a:r>
            <a:r>
              <a:rPr lang="en-US" altLang="zh-CN" sz="2800" b="1" dirty="0">
                <a:latin typeface="Times New Roman" panose="02020603050405020304" pitchFamily="18" charset="0"/>
              </a:rPr>
              <a:t>) are found to be in the interior of the myoglobin molecule.</a:t>
            </a:r>
          </a:p>
          <a:p>
            <a:pPr eaLnBrk="1" hangingPunct="1">
              <a:lnSpc>
                <a:spcPct val="130000"/>
              </a:lnSpc>
              <a:buClrTx/>
              <a:buSzTx/>
              <a:buFontTx/>
              <a:buNone/>
            </a:pPr>
            <a:r>
              <a:rPr lang="en-US" altLang="zh-CN" sz="2800" b="1" dirty="0">
                <a:latin typeface="Times New Roman" panose="02020603050405020304" pitchFamily="18" charset="0"/>
              </a:rPr>
              <a:t>	Hydrophobic interaction is important for the stability of the protein structure.</a:t>
            </a:r>
          </a:p>
          <a:p>
            <a:pPr eaLnBrk="1" hangingPunct="1">
              <a:lnSpc>
                <a:spcPct val="130000"/>
              </a:lnSpc>
              <a:buClrTx/>
              <a:buSzTx/>
              <a:buFontTx/>
              <a:buNone/>
            </a:pPr>
            <a:r>
              <a:rPr lang="en-US" altLang="zh-CN" sz="2800" b="1" dirty="0">
                <a:latin typeface="Times New Roman" panose="02020603050405020304" pitchFamily="18" charset="0"/>
              </a:rPr>
              <a:t>	</a:t>
            </a:r>
            <a:r>
              <a:rPr lang="en-US" altLang="zh-CN" sz="2800" b="1" dirty="0">
                <a:solidFill>
                  <a:srgbClr val="FF0000"/>
                </a:solidFill>
                <a:latin typeface="Times New Roman" panose="02020603050405020304" pitchFamily="18" charset="0"/>
              </a:rPr>
              <a:t>Only two hydrophilic histidine residues were found in the interior of the protein</a:t>
            </a:r>
            <a:r>
              <a:rPr lang="en-US" altLang="zh-CN" sz="2800" b="1" dirty="0">
                <a:latin typeface="Times New Roman" panose="02020603050405020304" pitchFamily="18" charset="0"/>
              </a:rPr>
              <a:t>.	</a:t>
            </a:r>
            <a:endParaRPr lang="en-US" altLang="zh-CN" sz="2400" dirty="0">
              <a:latin typeface="Times New Roman" panose="02020603050405020304" pitchFamily="18" charset="0"/>
            </a:endParaRP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Text Box 2">
            <a:extLst>
              <a:ext uri="{FF2B5EF4-FFF2-40B4-BE49-F238E27FC236}">
                <a16:creationId xmlns:a16="http://schemas.microsoft.com/office/drawing/2014/main" id="{25512722-1723-4082-B5BA-2687C31BDF61}"/>
              </a:ext>
            </a:extLst>
          </p:cNvPr>
          <p:cNvSpPr txBox="1">
            <a:spLocks noChangeArrowheads="1"/>
          </p:cNvSpPr>
          <p:nvPr/>
        </p:nvSpPr>
        <p:spPr bwMode="auto">
          <a:xfrm>
            <a:off x="533400" y="457200"/>
            <a:ext cx="8229600" cy="577215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2.3 </a:t>
            </a:r>
            <a:r>
              <a:rPr lang="en-US" altLang="zh-CN" sz="2800" b="1" dirty="0">
                <a:solidFill>
                  <a:srgbClr val="FF0000"/>
                </a:solidFill>
                <a:latin typeface="Times New Roman" panose="02020603050405020304" pitchFamily="18" charset="0"/>
              </a:rPr>
              <a:t>The polar R groups are located on the outer surface and hydrated</a:t>
            </a:r>
            <a:r>
              <a:rPr lang="en-US" altLang="zh-CN" sz="2800" b="1" dirty="0">
                <a:latin typeface="Times New Roman" panose="02020603050405020304" pitchFamily="18" charset="0"/>
              </a:rPr>
              <a:t>.</a:t>
            </a:r>
          </a:p>
          <a:p>
            <a:pPr eaLnBrk="1" hangingPunct="1">
              <a:spcBef>
                <a:spcPct val="50000"/>
              </a:spcBef>
              <a:buClrTx/>
              <a:buSzTx/>
              <a:buFontTx/>
              <a:buNone/>
            </a:pPr>
            <a:r>
              <a:rPr lang="en-US" altLang="zh-CN" sz="2800" b="1" dirty="0">
                <a:latin typeface="Times New Roman" panose="02020603050405020304" pitchFamily="18" charset="0"/>
              </a:rPr>
              <a:t>	Nonpolar residues are also present on the outer surface!</a:t>
            </a:r>
          </a:p>
          <a:p>
            <a:pPr eaLnBrk="1" hangingPunct="1">
              <a:spcBef>
                <a:spcPct val="50000"/>
              </a:spcBef>
              <a:buClrTx/>
              <a:buSzTx/>
              <a:buFontTx/>
              <a:buNone/>
            </a:pPr>
            <a:r>
              <a:rPr lang="en-US" altLang="zh-CN" sz="2800" b="1" dirty="0">
                <a:latin typeface="Times New Roman" panose="02020603050405020304" pitchFamily="18" charset="0"/>
              </a:rPr>
              <a:t>2.4 All Pro residues are found at bends.</a:t>
            </a:r>
          </a:p>
          <a:p>
            <a:pPr eaLnBrk="1" hangingPunct="1">
              <a:lnSpc>
                <a:spcPct val="80000"/>
              </a:lnSpc>
              <a:spcBef>
                <a:spcPct val="30000"/>
              </a:spcBef>
              <a:buClrTx/>
              <a:buSzTx/>
              <a:buFontTx/>
              <a:buNone/>
            </a:pPr>
            <a:r>
              <a:rPr lang="en-US" altLang="zh-CN" sz="2800" b="1" dirty="0">
                <a:latin typeface="Times New Roman" panose="02020603050405020304" pitchFamily="18" charset="0"/>
              </a:rPr>
              <a:t>2.5 The flat</a:t>
            </a:r>
            <a:r>
              <a:rPr lang="en-US" altLang="zh-CN" sz="2800" b="1" dirty="0">
                <a:solidFill>
                  <a:srgbClr val="FF0000"/>
                </a:solidFill>
                <a:latin typeface="Times New Roman" panose="02020603050405020304" pitchFamily="18" charset="0"/>
              </a:rPr>
              <a:t> heme group (the prosthetic group) </a:t>
            </a:r>
            <a:r>
              <a:rPr lang="en-US" altLang="zh-CN" sz="2800" b="1" dirty="0">
                <a:latin typeface="Times New Roman" panose="02020603050405020304" pitchFamily="18" charset="0"/>
              </a:rPr>
              <a:t>was revealed to rest in a crevice (pocket).</a:t>
            </a:r>
          </a:p>
          <a:p>
            <a:pPr eaLnBrk="1" hangingPunct="1">
              <a:lnSpc>
                <a:spcPct val="80000"/>
              </a:lnSpc>
              <a:spcBef>
                <a:spcPct val="30000"/>
              </a:spcBef>
              <a:buClrTx/>
              <a:buSzTx/>
              <a:buFontTx/>
              <a:buNone/>
            </a:pPr>
            <a:r>
              <a:rPr lang="en-US" altLang="zh-CN" sz="2800" b="1" dirty="0">
                <a:latin typeface="Times New Roman" panose="02020603050405020304" pitchFamily="18" charset="0"/>
              </a:rPr>
              <a:t>	</a:t>
            </a:r>
            <a:r>
              <a:rPr lang="en-US" altLang="zh-CN" sz="2800" b="1" dirty="0">
                <a:solidFill>
                  <a:srgbClr val="FF0000"/>
                </a:solidFill>
                <a:latin typeface="Times New Roman" panose="02020603050405020304" pitchFamily="18" charset="0"/>
              </a:rPr>
              <a:t>The heme group consists of a complex organic ring structure, protoporphyrin, which is bound to an iron atom in its ferrous (Fe</a:t>
            </a:r>
            <a:r>
              <a:rPr lang="en-US" altLang="zh-CN" sz="2800" b="1" baseline="30000" dirty="0">
                <a:solidFill>
                  <a:srgbClr val="FF0000"/>
                </a:solidFill>
                <a:latin typeface="Times New Roman" panose="02020603050405020304" pitchFamily="18" charset="0"/>
              </a:rPr>
              <a:t>2+</a:t>
            </a:r>
            <a:r>
              <a:rPr lang="en-US" altLang="zh-CN" sz="2800" b="1" dirty="0">
                <a:solidFill>
                  <a:srgbClr val="FF0000"/>
                </a:solidFill>
                <a:latin typeface="Times New Roman" panose="02020603050405020304" pitchFamily="18" charset="0"/>
              </a:rPr>
              <a:t>) state. </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ferrous/ferric</a:t>
            </a:r>
            <a:r>
              <a:rPr lang="zh-CN" altLang="en-US" sz="2800" b="1" dirty="0">
                <a:latin typeface="Times New Roman" panose="02020603050405020304" pitchFamily="18" charset="0"/>
              </a:rPr>
              <a:t>）</a:t>
            </a:r>
            <a:endParaRPr lang="en-US" altLang="zh-CN" sz="2800" b="1" dirty="0">
              <a:latin typeface="Times New Roman" panose="02020603050405020304" pitchFamily="18" charset="0"/>
            </a:endParaRPr>
          </a:p>
          <a:p>
            <a:pPr eaLnBrk="1" hangingPunct="1">
              <a:lnSpc>
                <a:spcPct val="80000"/>
              </a:lnSpc>
              <a:spcBef>
                <a:spcPct val="30000"/>
              </a:spcBef>
              <a:buClrTx/>
              <a:buSzTx/>
              <a:buFontTx/>
              <a:buNone/>
            </a:pPr>
            <a:r>
              <a:rPr lang="en-US" altLang="zh-CN" sz="2800" b="1" dirty="0">
                <a:latin typeface="Times New Roman" panose="02020603050405020304" pitchFamily="18" charset="0"/>
              </a:rPr>
              <a:t>	The iron atom has six </a:t>
            </a:r>
            <a:r>
              <a:rPr lang="en-US" altLang="zh-CN" sz="2800" b="1" dirty="0">
                <a:solidFill>
                  <a:schemeClr val="tx2">
                    <a:lumMod val="75000"/>
                  </a:schemeClr>
                </a:solidFill>
                <a:latin typeface="Times New Roman" panose="02020603050405020304" pitchFamily="18" charset="0"/>
              </a:rPr>
              <a:t>coordination bonds</a:t>
            </a:r>
            <a:r>
              <a:rPr lang="zh-CN" altLang="en-US" sz="2800" b="1" dirty="0">
                <a:solidFill>
                  <a:schemeClr val="tx2">
                    <a:lumMod val="75000"/>
                  </a:schemeClr>
                </a:solidFill>
                <a:latin typeface="Times New Roman" panose="02020603050405020304" pitchFamily="18" charset="0"/>
              </a:rPr>
              <a:t>（配位键）</a:t>
            </a:r>
            <a:r>
              <a:rPr lang="en-US" altLang="zh-CN" sz="2800" b="1" dirty="0">
                <a:latin typeface="Times New Roman" panose="02020603050405020304" pitchFamily="18" charset="0"/>
              </a:rPr>
              <a:t>, with four in the plane of and bonded to the flat porphyrin molecule and two perpendicular to it.</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2082" name="Picture 2">
            <a:extLst>
              <a:ext uri="{FF2B5EF4-FFF2-40B4-BE49-F238E27FC236}">
                <a16:creationId xmlns:a16="http://schemas.microsoft.com/office/drawing/2014/main" id="{C203F6A3-F7EE-450A-9E4A-8572433D53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79400"/>
            <a:ext cx="42291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2083" name="Picture 3">
            <a:extLst>
              <a:ext uri="{FF2B5EF4-FFF2-40B4-BE49-F238E27FC236}">
                <a16:creationId xmlns:a16="http://schemas.microsoft.com/office/drawing/2014/main" id="{742D45E6-3343-455C-9484-E8330D1C5A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279400"/>
            <a:ext cx="30480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2084" name="Text Box 4">
            <a:extLst>
              <a:ext uri="{FF2B5EF4-FFF2-40B4-BE49-F238E27FC236}">
                <a16:creationId xmlns:a16="http://schemas.microsoft.com/office/drawing/2014/main" id="{1EF337D1-E936-4017-9766-8638DECA03A8}"/>
              </a:ext>
            </a:extLst>
          </p:cNvPr>
          <p:cNvSpPr txBox="1">
            <a:spLocks noChangeArrowheads="1"/>
          </p:cNvSpPr>
          <p:nvPr/>
        </p:nvSpPr>
        <p:spPr bwMode="auto">
          <a:xfrm>
            <a:off x="3048000" y="6096000"/>
            <a:ext cx="304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en-US" altLang="zh-CN" sz="2800" b="1">
                <a:latin typeface="Times New Roman" panose="02020603050405020304" pitchFamily="18" charset="0"/>
              </a:rPr>
              <a:t>The heme group.</a:t>
            </a:r>
          </a:p>
        </p:txBody>
      </p:sp>
      <p:sp>
        <p:nvSpPr>
          <p:cNvPr id="2" name="文本框 1">
            <a:extLst>
              <a:ext uri="{FF2B5EF4-FFF2-40B4-BE49-F238E27FC236}">
                <a16:creationId xmlns:a16="http://schemas.microsoft.com/office/drawing/2014/main" id="{42576B10-8962-4F25-B382-9BD9E01C5D57}"/>
              </a:ext>
            </a:extLst>
          </p:cNvPr>
          <p:cNvSpPr txBox="1"/>
          <p:nvPr/>
        </p:nvSpPr>
        <p:spPr>
          <a:xfrm>
            <a:off x="7956376" y="980728"/>
            <a:ext cx="936104" cy="369332"/>
          </a:xfrm>
          <a:prstGeom prst="rect">
            <a:avLst/>
          </a:prstGeom>
          <a:noFill/>
        </p:spPr>
        <p:txBody>
          <a:bodyPr wrap="square" rtlCol="0">
            <a:spAutoFit/>
          </a:bodyPr>
          <a:lstStyle/>
          <a:p>
            <a:r>
              <a:rPr lang="en-US" altLang="zh-CN" dirty="0"/>
              <a:t>His</a:t>
            </a:r>
            <a:endParaRPr lang="zh-CN" altLang="en-US" dirty="0"/>
          </a:p>
        </p:txBody>
      </p:sp>
      <p:sp>
        <p:nvSpPr>
          <p:cNvPr id="3" name="文本框 2">
            <a:extLst>
              <a:ext uri="{FF2B5EF4-FFF2-40B4-BE49-F238E27FC236}">
                <a16:creationId xmlns:a16="http://schemas.microsoft.com/office/drawing/2014/main" id="{3E400A23-3288-42A7-9988-688D098E7303}"/>
              </a:ext>
            </a:extLst>
          </p:cNvPr>
          <p:cNvSpPr txBox="1"/>
          <p:nvPr/>
        </p:nvSpPr>
        <p:spPr>
          <a:xfrm>
            <a:off x="7524328" y="4365104"/>
            <a:ext cx="1115144" cy="646331"/>
          </a:xfrm>
          <a:prstGeom prst="rect">
            <a:avLst/>
          </a:prstGeom>
          <a:noFill/>
        </p:spPr>
        <p:txBody>
          <a:bodyPr wrap="square" rtlCol="0">
            <a:spAutoFit/>
          </a:bodyPr>
          <a:lstStyle/>
          <a:p>
            <a:r>
              <a:rPr lang="en-US" altLang="zh-CN" dirty="0"/>
              <a:t>Fe</a:t>
            </a:r>
            <a:r>
              <a:rPr lang="en-US" altLang="zh-CN" baseline="30000" dirty="0"/>
              <a:t>2+</a:t>
            </a:r>
            <a:r>
              <a:rPr lang="en-US" altLang="zh-CN" dirty="0"/>
              <a:t>    </a:t>
            </a:r>
            <a:r>
              <a:rPr lang="zh-CN" altLang="en-US" dirty="0"/>
              <a:t>√</a:t>
            </a:r>
            <a:endParaRPr lang="en-US" altLang="zh-CN" dirty="0"/>
          </a:p>
          <a:p>
            <a:r>
              <a:rPr lang="en-US" altLang="zh-CN" dirty="0"/>
              <a:t>Fe</a:t>
            </a:r>
            <a:r>
              <a:rPr lang="en-US" altLang="zh-CN" baseline="30000" dirty="0"/>
              <a:t>3+</a:t>
            </a:r>
            <a:r>
              <a:rPr lang="en-US" altLang="zh-CN" dirty="0"/>
              <a:t>    X</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38C0528-9985-45C7-900A-BCEA82AF2758}"/>
              </a:ext>
            </a:extLst>
          </p:cNvPr>
          <p:cNvSpPr txBox="1"/>
          <p:nvPr/>
        </p:nvSpPr>
        <p:spPr>
          <a:xfrm>
            <a:off x="755576" y="4653136"/>
            <a:ext cx="1584176" cy="369332"/>
          </a:xfrm>
          <a:prstGeom prst="rect">
            <a:avLst/>
          </a:prstGeom>
          <a:noFill/>
        </p:spPr>
        <p:txBody>
          <a:bodyPr wrap="square" rtlCol="0">
            <a:spAutoFit/>
          </a:bodyPr>
          <a:lstStyle/>
          <a:p>
            <a:r>
              <a:rPr lang="en-US" altLang="zh-CN" dirty="0"/>
              <a:t>N-terminus</a:t>
            </a:r>
            <a:endParaRPr lang="zh-CN" altLang="en-US" dirty="0"/>
          </a:p>
        </p:txBody>
      </p:sp>
      <p:sp>
        <p:nvSpPr>
          <p:cNvPr id="4" name="文本框 3">
            <a:extLst>
              <a:ext uri="{FF2B5EF4-FFF2-40B4-BE49-F238E27FC236}">
                <a16:creationId xmlns:a16="http://schemas.microsoft.com/office/drawing/2014/main" id="{9B95B058-3C44-4D91-AD99-BFC2A5EF85B6}"/>
              </a:ext>
            </a:extLst>
          </p:cNvPr>
          <p:cNvSpPr txBox="1"/>
          <p:nvPr/>
        </p:nvSpPr>
        <p:spPr>
          <a:xfrm>
            <a:off x="1835696" y="1340768"/>
            <a:ext cx="1584176" cy="369332"/>
          </a:xfrm>
          <a:prstGeom prst="rect">
            <a:avLst/>
          </a:prstGeom>
          <a:noFill/>
        </p:spPr>
        <p:txBody>
          <a:bodyPr wrap="square" rtlCol="0">
            <a:spAutoFit/>
          </a:bodyPr>
          <a:lstStyle/>
          <a:p>
            <a:r>
              <a:rPr lang="en-US" altLang="zh-CN" dirty="0"/>
              <a:t>C-terminus</a:t>
            </a:r>
            <a:endParaRPr lang="zh-CN" altLang="en-US" dirty="0"/>
          </a:p>
        </p:txBody>
      </p:sp>
      <p:pic>
        <p:nvPicPr>
          <p:cNvPr id="5" name="图片 4">
            <a:extLst>
              <a:ext uri="{FF2B5EF4-FFF2-40B4-BE49-F238E27FC236}">
                <a16:creationId xmlns:a16="http://schemas.microsoft.com/office/drawing/2014/main" id="{5AF7F9C2-C30A-0C15-3108-96803B45B775}"/>
              </a:ext>
            </a:extLst>
          </p:cNvPr>
          <p:cNvPicPr>
            <a:picLocks noChangeAspect="1"/>
          </p:cNvPicPr>
          <p:nvPr/>
        </p:nvPicPr>
        <p:blipFill>
          <a:blip r:embed="rId3"/>
          <a:stretch>
            <a:fillRect/>
          </a:stretch>
        </p:blipFill>
        <p:spPr>
          <a:xfrm>
            <a:off x="131468" y="0"/>
            <a:ext cx="8881064" cy="6858000"/>
          </a:xfrm>
          <a:prstGeom prst="rect">
            <a:avLst/>
          </a:prstGeom>
        </p:spPr>
      </p:pic>
    </p:spTree>
    <p:extLst>
      <p:ext uri="{BB962C8B-B14F-4D97-AF65-F5344CB8AC3E}">
        <p14:creationId xmlns:p14="http://schemas.microsoft.com/office/powerpoint/2010/main" val="1816251745"/>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76B556F-127E-3F77-7103-679D6E51FEEE}"/>
              </a:ext>
            </a:extLst>
          </p:cNvPr>
          <p:cNvPicPr>
            <a:picLocks noChangeAspect="1"/>
          </p:cNvPicPr>
          <p:nvPr/>
        </p:nvPicPr>
        <p:blipFill>
          <a:blip r:embed="rId3"/>
          <a:stretch>
            <a:fillRect/>
          </a:stretch>
        </p:blipFill>
        <p:spPr>
          <a:xfrm>
            <a:off x="1695450" y="390525"/>
            <a:ext cx="5753100" cy="6076950"/>
          </a:xfrm>
          <a:prstGeom prst="rect">
            <a:avLst/>
          </a:prstGeom>
        </p:spPr>
      </p:pic>
      <p:pic>
        <p:nvPicPr>
          <p:cNvPr id="2" name="图片 1">
            <a:extLst>
              <a:ext uri="{FF2B5EF4-FFF2-40B4-BE49-F238E27FC236}">
                <a16:creationId xmlns:a16="http://schemas.microsoft.com/office/drawing/2014/main" id="{FB87C693-69CF-E4C0-C773-125445516D24}"/>
              </a:ext>
            </a:extLst>
          </p:cNvPr>
          <p:cNvPicPr>
            <a:picLocks noChangeAspect="1"/>
          </p:cNvPicPr>
          <p:nvPr/>
        </p:nvPicPr>
        <p:blipFill>
          <a:blip r:embed="rId4"/>
          <a:stretch>
            <a:fillRect/>
          </a:stretch>
        </p:blipFill>
        <p:spPr>
          <a:xfrm>
            <a:off x="0" y="0"/>
            <a:ext cx="2755964" cy="1509789"/>
          </a:xfrm>
          <a:prstGeom prst="rect">
            <a:avLst/>
          </a:prstGeom>
        </p:spPr>
      </p:pic>
      <p:pic>
        <p:nvPicPr>
          <p:cNvPr id="4" name="图片 3">
            <a:extLst>
              <a:ext uri="{FF2B5EF4-FFF2-40B4-BE49-F238E27FC236}">
                <a16:creationId xmlns:a16="http://schemas.microsoft.com/office/drawing/2014/main" id="{9783AAA1-3C1D-4B8B-9532-CE22A938D83C}"/>
              </a:ext>
            </a:extLst>
          </p:cNvPr>
          <p:cNvPicPr>
            <a:picLocks noChangeAspect="1"/>
          </p:cNvPicPr>
          <p:nvPr/>
        </p:nvPicPr>
        <p:blipFill>
          <a:blip r:embed="rId5"/>
          <a:stretch>
            <a:fillRect/>
          </a:stretch>
        </p:blipFill>
        <p:spPr>
          <a:xfrm>
            <a:off x="6388038" y="0"/>
            <a:ext cx="2660104" cy="1665561"/>
          </a:xfrm>
          <a:prstGeom prst="rect">
            <a:avLst/>
          </a:prstGeom>
        </p:spPr>
      </p:pic>
    </p:spTree>
    <p:extLst>
      <p:ext uri="{BB962C8B-B14F-4D97-AF65-F5344CB8AC3E}">
        <p14:creationId xmlns:p14="http://schemas.microsoft.com/office/powerpoint/2010/main" val="3024993615"/>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Text Box 2">
            <a:extLst>
              <a:ext uri="{FF2B5EF4-FFF2-40B4-BE49-F238E27FC236}">
                <a16:creationId xmlns:a16="http://schemas.microsoft.com/office/drawing/2014/main" id="{20DCAB7E-5CC0-4A40-9414-2B64D1C43FEA}"/>
              </a:ext>
            </a:extLst>
          </p:cNvPr>
          <p:cNvSpPr txBox="1">
            <a:spLocks noChangeArrowheads="1"/>
          </p:cNvSpPr>
          <p:nvPr/>
        </p:nvSpPr>
        <p:spPr bwMode="auto">
          <a:xfrm>
            <a:off x="971550" y="476250"/>
            <a:ext cx="8001000" cy="534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30000"/>
              </a:lnSpc>
              <a:spcBef>
                <a:spcPct val="30000"/>
              </a:spcBef>
              <a:buClrTx/>
              <a:buSzTx/>
              <a:buFontTx/>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One of the perpendicular coordination bonds is bound to a nitrogen atom of an interior His residue.</a:t>
            </a:r>
          </a:p>
          <a:p>
            <a:pPr eaLnBrk="1" hangingPunct="1">
              <a:lnSpc>
                <a:spcPct val="130000"/>
              </a:lnSpc>
              <a:spcBef>
                <a:spcPct val="30000"/>
              </a:spcBef>
              <a:buClrTx/>
              <a:buSzTx/>
              <a:buFontTx/>
              <a:buNone/>
            </a:pPr>
            <a:r>
              <a:rPr lang="en-US" altLang="zh-CN" sz="2800" b="1" dirty="0">
                <a:latin typeface="Times New Roman" panose="02020603050405020304" pitchFamily="18" charset="0"/>
              </a:rPr>
              <a:t>	The sixth coordination serves as the binding site for O</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a:t>
            </a:r>
          </a:p>
          <a:p>
            <a:pPr eaLnBrk="1" hangingPunct="1">
              <a:lnSpc>
                <a:spcPct val="130000"/>
              </a:lnSpc>
              <a:spcBef>
                <a:spcPct val="30000"/>
              </a:spcBef>
              <a:buClrTx/>
              <a:buSzTx/>
              <a:buFontTx/>
              <a:buNone/>
            </a:pPr>
            <a:r>
              <a:rPr lang="en-US" altLang="zh-CN" sz="2800" b="1" dirty="0">
                <a:latin typeface="Times New Roman" panose="02020603050405020304" pitchFamily="18" charset="0"/>
              </a:rPr>
              <a:t>	The accessibility of the heme group to solvent is highly restricted, thus preventing the oxidation of the </a:t>
            </a:r>
            <a:r>
              <a:rPr lang="en-US" altLang="zh-CN" sz="2800" b="1" dirty="0">
                <a:solidFill>
                  <a:srgbClr val="FF0000"/>
                </a:solidFill>
                <a:latin typeface="Times New Roman" panose="02020603050405020304" pitchFamily="18" charset="0"/>
              </a:rPr>
              <a:t>ferrous ion (Fe</a:t>
            </a:r>
            <a:r>
              <a:rPr lang="en-US" altLang="zh-CN" sz="2800" b="1" baseline="30000" dirty="0">
                <a:solidFill>
                  <a:srgbClr val="FF0000"/>
                </a:solidFill>
                <a:latin typeface="Times New Roman" panose="02020603050405020304" pitchFamily="18" charset="0"/>
              </a:rPr>
              <a:t>2+</a:t>
            </a:r>
            <a:r>
              <a:rPr lang="en-US" altLang="zh-CN" sz="2800" b="1" dirty="0">
                <a:solidFill>
                  <a:srgbClr val="FF0000"/>
                </a:solidFill>
                <a:latin typeface="Times New Roman" panose="02020603050405020304" pitchFamily="18" charset="0"/>
              </a:rPr>
              <a:t>) to the ferric ion (Fe</a:t>
            </a:r>
            <a:r>
              <a:rPr lang="en-US" altLang="zh-CN" sz="2800" b="1" baseline="30000" dirty="0">
                <a:solidFill>
                  <a:srgbClr val="FF0000"/>
                </a:solidFill>
                <a:latin typeface="Times New Roman" panose="02020603050405020304" pitchFamily="18" charset="0"/>
              </a:rPr>
              <a:t>3+</a:t>
            </a:r>
            <a:r>
              <a:rPr lang="en-US" altLang="zh-CN" sz="2800" b="1" dirty="0">
                <a:solidFill>
                  <a:srgbClr val="FF0000"/>
                </a:solidFill>
                <a:latin typeface="Times New Roman" panose="02020603050405020304" pitchFamily="18" charset="0"/>
              </a:rPr>
              <a:t>), which is unable to bind O</a:t>
            </a:r>
            <a:r>
              <a:rPr lang="en-US" altLang="zh-CN" sz="2800" b="1" baseline="-25000" dirty="0">
                <a:solidFill>
                  <a:srgbClr val="FF0000"/>
                </a:solidFill>
                <a:latin typeface="Times New Roman" panose="02020603050405020304" pitchFamily="18" charset="0"/>
              </a:rPr>
              <a:t>2</a:t>
            </a:r>
            <a:r>
              <a:rPr lang="en-US" altLang="zh-CN" sz="2800" b="1" dirty="0">
                <a:latin typeface="Times New Roman" panose="02020603050405020304" pitchFamily="18" charset="0"/>
              </a:rPr>
              <a:t>.</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Text Box 2">
            <a:extLst>
              <a:ext uri="{FF2B5EF4-FFF2-40B4-BE49-F238E27FC236}">
                <a16:creationId xmlns:a16="http://schemas.microsoft.com/office/drawing/2014/main" id="{2D654963-85E8-4F56-AB45-F7666407A369}"/>
              </a:ext>
            </a:extLst>
          </p:cNvPr>
          <p:cNvSpPr txBox="1">
            <a:spLocks noChangeArrowheads="1"/>
          </p:cNvSpPr>
          <p:nvPr/>
        </p:nvSpPr>
        <p:spPr bwMode="auto">
          <a:xfrm>
            <a:off x="755576" y="1772816"/>
            <a:ext cx="7239000"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50000"/>
              </a:spcBef>
              <a:buClrTx/>
              <a:buSzTx/>
              <a:buFontTx/>
              <a:buNone/>
            </a:pPr>
            <a:r>
              <a:rPr lang="en-US" altLang="zh-CN" sz="2800" b="1" dirty="0">
                <a:latin typeface="Times New Roman" panose="02020603050405020304" pitchFamily="18" charset="0"/>
              </a:rPr>
              <a:t>Sir John Kendrew and Max Perutz won the Nobel Prize in Chemistry in 1962 for determining the complete atomic structure of myoglobin and </a:t>
            </a:r>
            <a:r>
              <a:rPr lang="en-US" altLang="zh-CN" sz="2800" b="1" dirty="0" err="1">
                <a:latin typeface="Times New Roman" panose="02020603050405020304" pitchFamily="18" charset="0"/>
              </a:rPr>
              <a:t>hemeglobin</a:t>
            </a:r>
            <a:r>
              <a:rPr lang="en-US" altLang="zh-CN" sz="2800" b="1" dirty="0">
                <a:latin typeface="Times New Roman" panose="02020603050405020304" pitchFamily="18" charset="0"/>
              </a:rPr>
              <a:t>.</a:t>
            </a:r>
            <a:endParaRPr lang="en-US" altLang="zh-CN" sz="2400" dirty="0">
              <a:latin typeface="Times New Roman" panose="02020603050405020304" pitchFamily="18" charset="0"/>
            </a:endParaRP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Text Box 2">
            <a:extLst>
              <a:ext uri="{FF2B5EF4-FFF2-40B4-BE49-F238E27FC236}">
                <a16:creationId xmlns:a16="http://schemas.microsoft.com/office/drawing/2014/main" id="{80CE4F76-E509-4B8E-AB8F-D0EE1D55BA35}"/>
              </a:ext>
            </a:extLst>
          </p:cNvPr>
          <p:cNvSpPr txBox="1">
            <a:spLocks noChangeArrowheads="1"/>
          </p:cNvSpPr>
          <p:nvPr/>
        </p:nvSpPr>
        <p:spPr bwMode="auto">
          <a:xfrm>
            <a:off x="827088" y="404813"/>
            <a:ext cx="7848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solidFill>
                  <a:srgbClr val="FF0066"/>
                </a:solidFill>
                <a:latin typeface="Times New Roman" panose="02020603050405020304" pitchFamily="18" charset="0"/>
              </a:rPr>
              <a:t>3. Hemoglobin is a </a:t>
            </a:r>
            <a:r>
              <a:rPr lang="en-US" altLang="zh-CN" sz="2800" b="1" dirty="0" err="1">
                <a:solidFill>
                  <a:srgbClr val="FF0066"/>
                </a:solidFill>
                <a:latin typeface="Times New Roman" panose="02020603050405020304" pitchFamily="18" charset="0"/>
              </a:rPr>
              <a:t>multisubunit</a:t>
            </a:r>
            <a:r>
              <a:rPr lang="en-US" altLang="zh-CN" sz="2800" b="1" dirty="0">
                <a:solidFill>
                  <a:srgbClr val="FF0066"/>
                </a:solidFill>
                <a:latin typeface="Times New Roman" panose="02020603050405020304" pitchFamily="18" charset="0"/>
              </a:rPr>
              <a:t> allosteric (</a:t>
            </a:r>
            <a:r>
              <a:rPr lang="zh-CN" altLang="en-US" sz="2800" b="1" dirty="0">
                <a:solidFill>
                  <a:srgbClr val="FF0066"/>
                </a:solidFill>
                <a:latin typeface="Times New Roman" panose="02020603050405020304" pitchFamily="18" charset="0"/>
              </a:rPr>
              <a:t>变构</a:t>
            </a:r>
            <a:r>
              <a:rPr lang="en-US" altLang="zh-CN" sz="2800" b="1" dirty="0">
                <a:solidFill>
                  <a:srgbClr val="FF0066"/>
                </a:solidFill>
                <a:latin typeface="Times New Roman" panose="02020603050405020304" pitchFamily="18" charset="0"/>
              </a:rPr>
              <a:t>) protein that carries O</a:t>
            </a:r>
            <a:r>
              <a:rPr lang="en-US" altLang="zh-CN" sz="2800" b="1" baseline="-25000" dirty="0">
                <a:solidFill>
                  <a:srgbClr val="FF0066"/>
                </a:solidFill>
                <a:latin typeface="Times New Roman" panose="02020603050405020304" pitchFamily="18" charset="0"/>
              </a:rPr>
              <a:t>2</a:t>
            </a:r>
            <a:r>
              <a:rPr lang="en-US" altLang="zh-CN" sz="2800" b="1" dirty="0">
                <a:solidFill>
                  <a:srgbClr val="FF0066"/>
                </a:solidFill>
                <a:latin typeface="Times New Roman" panose="02020603050405020304" pitchFamily="18" charset="0"/>
              </a:rPr>
              <a:t> in erythrocyte.</a:t>
            </a:r>
            <a:endParaRPr lang="en-US" altLang="zh-CN" sz="2400" dirty="0">
              <a:latin typeface="Times New Roman" panose="02020603050405020304" pitchFamily="18" charset="0"/>
            </a:endParaRPr>
          </a:p>
        </p:txBody>
      </p:sp>
      <p:sp>
        <p:nvSpPr>
          <p:cNvPr id="306179" name="Text Box 3">
            <a:extLst>
              <a:ext uri="{FF2B5EF4-FFF2-40B4-BE49-F238E27FC236}">
                <a16:creationId xmlns:a16="http://schemas.microsoft.com/office/drawing/2014/main" id="{F918740C-338C-46D0-9A40-C2BA8AC848B7}"/>
              </a:ext>
            </a:extLst>
          </p:cNvPr>
          <p:cNvSpPr txBox="1">
            <a:spLocks noChangeArrowheads="1"/>
          </p:cNvSpPr>
          <p:nvPr/>
        </p:nvSpPr>
        <p:spPr bwMode="auto">
          <a:xfrm>
            <a:off x="685800" y="1905000"/>
            <a:ext cx="8305800" cy="415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3.1 Hemoglobin is a well-studied and well-understood protein.</a:t>
            </a:r>
          </a:p>
          <a:p>
            <a:pPr eaLnBrk="1" hangingPunct="1">
              <a:spcBef>
                <a:spcPct val="50000"/>
              </a:spcBef>
              <a:buClrTx/>
              <a:buSzTx/>
              <a:buFontTx/>
              <a:buNone/>
            </a:pPr>
            <a:r>
              <a:rPr lang="en-US" altLang="zh-CN" sz="2800" b="1" dirty="0">
                <a:latin typeface="Times New Roman" panose="02020603050405020304" pitchFamily="18" charset="0"/>
              </a:rPr>
              <a:t>	3.1.1 It was one of the first proteins to have its molecular mass accurately determined.</a:t>
            </a:r>
          </a:p>
          <a:p>
            <a:pPr eaLnBrk="1" hangingPunct="1">
              <a:spcBef>
                <a:spcPct val="50000"/>
              </a:spcBef>
              <a:buClrTx/>
              <a:buSzTx/>
              <a:buFontTx/>
              <a:buNone/>
            </a:pPr>
            <a:r>
              <a:rPr lang="en-US" altLang="zh-CN" sz="2800" b="1" dirty="0">
                <a:latin typeface="Times New Roman" panose="02020603050405020304" pitchFamily="18" charset="0"/>
              </a:rPr>
              <a:t>	3.1.2 The first protein to be characterized by ultracentrifuge.</a:t>
            </a:r>
          </a:p>
          <a:p>
            <a:pPr eaLnBrk="1" hangingPunct="1">
              <a:spcBef>
                <a:spcPct val="50000"/>
              </a:spcBef>
              <a:buClrTx/>
              <a:buSzTx/>
              <a:buFontTx/>
              <a:buNone/>
            </a:pPr>
            <a:r>
              <a:rPr lang="en-US" altLang="zh-CN" sz="2800" b="1" dirty="0">
                <a:latin typeface="Times New Roman" panose="02020603050405020304" pitchFamily="18" charset="0"/>
              </a:rPr>
              <a:t>	3.1.3 </a:t>
            </a:r>
            <a:r>
              <a:rPr lang="en-US" altLang="zh-CN" sz="2800" b="1" dirty="0">
                <a:solidFill>
                  <a:srgbClr val="FF0000"/>
                </a:solidFill>
                <a:latin typeface="Times New Roman" panose="02020603050405020304" pitchFamily="18" charset="0"/>
              </a:rPr>
              <a:t>The first protein to be associated with a specific physiological function</a:t>
            </a:r>
            <a:r>
              <a:rPr lang="en-US" altLang="zh-CN" sz="2800" b="1" dirty="0">
                <a:latin typeface="Times New Roman" panose="02020603050405020304" pitchFamily="18" charset="0"/>
              </a:rPr>
              <a:t>.</a:t>
            </a:r>
            <a:endParaRPr lang="en-US" altLang="zh-CN" sz="2400" dirty="0">
              <a:latin typeface="Times New Roman" panose="02020603050405020304" pitchFamily="18" charset="0"/>
            </a:endParaRP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Text Box 2">
            <a:extLst>
              <a:ext uri="{FF2B5EF4-FFF2-40B4-BE49-F238E27FC236}">
                <a16:creationId xmlns:a16="http://schemas.microsoft.com/office/drawing/2014/main" id="{4C757B6F-642B-48E8-90CF-23CF6B16B601}"/>
              </a:ext>
            </a:extLst>
          </p:cNvPr>
          <p:cNvSpPr txBox="1">
            <a:spLocks noChangeArrowheads="1"/>
          </p:cNvSpPr>
          <p:nvPr/>
        </p:nvSpPr>
        <p:spPr bwMode="auto">
          <a:xfrm>
            <a:off x="1042988" y="836613"/>
            <a:ext cx="7543800" cy="393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dirty="0">
                <a:latin typeface="Times New Roman" panose="02020603050405020304" pitchFamily="18" charset="0"/>
              </a:rPr>
              <a:t>	</a:t>
            </a:r>
            <a:r>
              <a:rPr lang="en-US" altLang="zh-CN" sz="2800" b="1" dirty="0">
                <a:latin typeface="Times New Roman" panose="02020603050405020304" pitchFamily="18" charset="0"/>
              </a:rPr>
              <a:t>3.1.4 </a:t>
            </a:r>
            <a:r>
              <a:rPr lang="en-US" altLang="zh-CN" sz="2800" b="1" dirty="0">
                <a:solidFill>
                  <a:srgbClr val="FF0000"/>
                </a:solidFill>
                <a:latin typeface="Times New Roman" panose="02020603050405020304" pitchFamily="18" charset="0"/>
              </a:rPr>
              <a:t>The first protein with a single amino acid substitution being related to a genetic disease.</a:t>
            </a:r>
          </a:p>
          <a:p>
            <a:pPr eaLnBrk="1" hangingPunct="1">
              <a:spcBef>
                <a:spcPct val="50000"/>
              </a:spcBef>
              <a:buClrTx/>
              <a:buSzTx/>
              <a:buFontTx/>
              <a:buNone/>
            </a:pPr>
            <a:r>
              <a:rPr lang="en-US" altLang="zh-CN" sz="2800" b="1" dirty="0">
                <a:latin typeface="Times New Roman" panose="02020603050405020304" pitchFamily="18" charset="0"/>
              </a:rPr>
              <a:t>	3.1.5 The first </a:t>
            </a:r>
            <a:r>
              <a:rPr lang="en-US" altLang="zh-CN" sz="2800" b="1" dirty="0" err="1">
                <a:latin typeface="Times New Roman" panose="02020603050405020304" pitchFamily="18" charset="0"/>
              </a:rPr>
              <a:t>multisubunit</a:t>
            </a:r>
            <a:r>
              <a:rPr lang="en-US" altLang="zh-CN" sz="2800" b="1" dirty="0">
                <a:latin typeface="Times New Roman" panose="02020603050405020304" pitchFamily="18" charset="0"/>
              </a:rPr>
              <a:t> protein with its detailed atomic structure determined by X-ray crystallography.</a:t>
            </a:r>
          </a:p>
          <a:p>
            <a:pPr eaLnBrk="1" hangingPunct="1">
              <a:spcBef>
                <a:spcPct val="50000"/>
              </a:spcBef>
              <a:buClrTx/>
              <a:buSzTx/>
              <a:buFontTx/>
              <a:buNone/>
            </a:pPr>
            <a:r>
              <a:rPr lang="en-US" altLang="zh-CN" sz="2800" b="1" dirty="0">
                <a:latin typeface="Times New Roman" panose="02020603050405020304" pitchFamily="18" charset="0"/>
              </a:rPr>
              <a:t>	3.1.6 The best understood </a:t>
            </a:r>
            <a:r>
              <a:rPr lang="en-US" altLang="zh-CN" sz="2800" b="1" dirty="0">
                <a:solidFill>
                  <a:srgbClr val="FF0000"/>
                </a:solidFill>
                <a:latin typeface="Times New Roman" panose="02020603050405020304" pitchFamily="18" charset="0"/>
              </a:rPr>
              <a:t>allosteric protein.</a:t>
            </a:r>
            <a:endParaRPr lang="en-US" altLang="zh-CN" sz="2400" dirty="0">
              <a:solidFill>
                <a:srgbClr val="FF0000"/>
              </a:solidFill>
              <a:latin typeface="Times New Roman" panose="02020603050405020304" pitchFamily="18" charset="0"/>
            </a:endParaRP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Text Box 2">
            <a:extLst>
              <a:ext uri="{FF2B5EF4-FFF2-40B4-BE49-F238E27FC236}">
                <a16:creationId xmlns:a16="http://schemas.microsoft.com/office/drawing/2014/main" id="{E23B3DFC-69A4-4E67-A385-2DFAE824C3BC}"/>
              </a:ext>
            </a:extLst>
          </p:cNvPr>
          <p:cNvSpPr txBox="1">
            <a:spLocks noChangeArrowheads="1"/>
          </p:cNvSpPr>
          <p:nvPr/>
        </p:nvSpPr>
        <p:spPr bwMode="auto">
          <a:xfrm>
            <a:off x="685800" y="685800"/>
            <a:ext cx="81534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30000"/>
              </a:spcBef>
              <a:buClrTx/>
              <a:buSzTx/>
              <a:buFontTx/>
              <a:buNone/>
            </a:pPr>
            <a:r>
              <a:rPr lang="en-US" altLang="zh-CN" sz="2800" b="1" dirty="0">
                <a:latin typeface="Times New Roman" panose="02020603050405020304" pitchFamily="18" charset="0"/>
              </a:rPr>
              <a:t>3.2 Determination of the atomic structure of hemoglobin A (from normal adult) is very revealing.</a:t>
            </a:r>
          </a:p>
          <a:p>
            <a:pPr eaLnBrk="1" hangingPunct="1">
              <a:lnSpc>
                <a:spcPct val="120000"/>
              </a:lnSpc>
              <a:spcBef>
                <a:spcPct val="30000"/>
              </a:spcBef>
              <a:buClrTx/>
              <a:buSzTx/>
              <a:buFontTx/>
              <a:buNone/>
            </a:pPr>
            <a:r>
              <a:rPr lang="en-US" altLang="zh-CN" sz="2800" b="1" dirty="0">
                <a:latin typeface="Times New Roman" panose="02020603050405020304" pitchFamily="18" charset="0"/>
              </a:rPr>
              <a:t>	3.2.1 The protein molecule exists as a </a:t>
            </a:r>
            <a:r>
              <a:rPr lang="en-US" altLang="zh-CN" sz="2800" b="1" dirty="0">
                <a:solidFill>
                  <a:srgbClr val="FF0000"/>
                </a:solidFill>
                <a:latin typeface="Symbol" panose="05050102010706020507" pitchFamily="18" charset="2"/>
              </a:rPr>
              <a:t>a</a:t>
            </a:r>
            <a:r>
              <a:rPr lang="en-US" altLang="zh-CN" sz="2800" b="1" baseline="-25000" dirty="0">
                <a:solidFill>
                  <a:srgbClr val="FF0000"/>
                </a:solidFill>
                <a:latin typeface="Times New Roman" panose="02020603050405020304" pitchFamily="18" charset="0"/>
              </a:rPr>
              <a:t>2</a:t>
            </a:r>
            <a:r>
              <a:rPr lang="en-US" altLang="zh-CN" sz="2800" b="1" dirty="0">
                <a:solidFill>
                  <a:srgbClr val="FF0000"/>
                </a:solidFill>
                <a:latin typeface="Symbol" panose="05050102010706020507" pitchFamily="18" charset="2"/>
              </a:rPr>
              <a:t>b</a:t>
            </a:r>
            <a:r>
              <a:rPr lang="en-US" altLang="zh-CN" sz="2800" b="1" baseline="-25000" dirty="0">
                <a:solidFill>
                  <a:srgbClr val="FF0000"/>
                </a:solidFill>
                <a:latin typeface="Times New Roman" panose="02020603050405020304" pitchFamily="18" charset="0"/>
              </a:rPr>
              <a:t>2</a:t>
            </a:r>
            <a:r>
              <a:rPr lang="en-US" altLang="zh-CN" sz="2800" b="1" dirty="0">
                <a:solidFill>
                  <a:srgbClr val="FF0000"/>
                </a:solidFill>
                <a:latin typeface="Times New Roman" panose="02020603050405020304" pitchFamily="18" charset="0"/>
              </a:rPr>
              <a:t> tetramer</a:t>
            </a:r>
            <a:r>
              <a:rPr lang="en-US" altLang="zh-CN" sz="2800" b="1" dirty="0">
                <a:latin typeface="Times New Roman" panose="02020603050405020304" pitchFamily="18" charset="0"/>
              </a:rPr>
              <a:t>. </a:t>
            </a:r>
          </a:p>
          <a:p>
            <a:pPr eaLnBrk="1" hangingPunct="1">
              <a:lnSpc>
                <a:spcPct val="120000"/>
              </a:lnSpc>
              <a:spcBef>
                <a:spcPct val="30000"/>
              </a:spcBef>
              <a:buClrTx/>
              <a:buSzTx/>
              <a:buFontTx/>
              <a:buNone/>
            </a:pPr>
            <a:r>
              <a:rPr lang="en-US" altLang="zh-CN" sz="2800" b="1" dirty="0">
                <a:latin typeface="Times New Roman" panose="02020603050405020304" pitchFamily="18" charset="0"/>
              </a:rPr>
              <a:t>	3.2.2 Each subunit has a structure strikingly and unexpectedly similar to each other and to that of myoglobin, indicating </a:t>
            </a:r>
            <a:r>
              <a:rPr lang="en-US" altLang="zh-CN" sz="2800" b="1" dirty="0">
                <a:solidFill>
                  <a:srgbClr val="FF0066"/>
                </a:solidFill>
                <a:latin typeface="Times New Roman" panose="02020603050405020304" pitchFamily="18" charset="0"/>
              </a:rPr>
              <a:t>quite different amino acid sequences can specify very similar 3-D structures</a:t>
            </a:r>
            <a:r>
              <a:rPr lang="en-US" altLang="zh-CN" sz="2800" b="1" dirty="0">
                <a:latin typeface="Times New Roman" panose="02020603050405020304" pitchFamily="18" charset="0"/>
              </a:rPr>
              <a:t>.</a:t>
            </a:r>
          </a:p>
          <a:p>
            <a:pPr eaLnBrk="1" hangingPunct="1">
              <a:lnSpc>
                <a:spcPct val="120000"/>
              </a:lnSpc>
              <a:spcBef>
                <a:spcPct val="30000"/>
              </a:spcBef>
              <a:buClrTx/>
              <a:buSzTx/>
              <a:buFontTx/>
              <a:buNone/>
            </a:pPr>
            <a:r>
              <a:rPr lang="en-US" altLang="zh-CN" sz="2800" b="1" dirty="0">
                <a:latin typeface="Times New Roman" panose="02020603050405020304" pitchFamily="18" charset="0"/>
              </a:rPr>
              <a:t>	</a:t>
            </a: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9250" name="Picture 2">
            <a:extLst>
              <a:ext uri="{FF2B5EF4-FFF2-40B4-BE49-F238E27FC236}">
                <a16:creationId xmlns:a16="http://schemas.microsoft.com/office/drawing/2014/main" id="{29C24BC0-A6A2-440F-B6B0-81B0406117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736600"/>
            <a:ext cx="8026400" cy="538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Text Box 2">
            <a:extLst>
              <a:ext uri="{FF2B5EF4-FFF2-40B4-BE49-F238E27FC236}">
                <a16:creationId xmlns:a16="http://schemas.microsoft.com/office/drawing/2014/main" id="{9AD71510-4534-4EBF-AE43-D926EC7E10B1}"/>
              </a:ext>
            </a:extLst>
          </p:cNvPr>
          <p:cNvSpPr txBox="1">
            <a:spLocks noChangeArrowheads="1"/>
          </p:cNvSpPr>
          <p:nvPr/>
        </p:nvSpPr>
        <p:spPr bwMode="auto">
          <a:xfrm>
            <a:off x="533400" y="533400"/>
            <a:ext cx="8001000" cy="56880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30000"/>
              </a:spcBef>
              <a:buClrTx/>
              <a:buSzTx/>
              <a:buFontTx/>
              <a:buNone/>
            </a:pPr>
            <a:r>
              <a:rPr lang="zh-CN" altLang="en-US" sz="2800" b="1" dirty="0">
                <a:latin typeface="Times New Roman" panose="02020603050405020304" pitchFamily="18" charset="0"/>
              </a:rPr>
              <a:t>          </a:t>
            </a:r>
            <a:r>
              <a:rPr lang="en-US" altLang="zh-CN" sz="2800" b="1" dirty="0">
                <a:latin typeface="Times New Roman" panose="02020603050405020304" pitchFamily="18" charset="0"/>
              </a:rPr>
              <a:t>3.2.3 Extensive interactions exist between the unlike subunits through noncovalent interactions.</a:t>
            </a:r>
          </a:p>
          <a:p>
            <a:pPr eaLnBrk="1" hangingPunct="1">
              <a:spcBef>
                <a:spcPct val="30000"/>
              </a:spcBef>
              <a:buClrTx/>
              <a:buSzTx/>
              <a:buFontTx/>
              <a:buNone/>
            </a:pPr>
            <a:r>
              <a:rPr lang="en-US" altLang="zh-CN" sz="2800" b="1" dirty="0">
                <a:latin typeface="Times New Roman" panose="02020603050405020304" pitchFamily="18" charset="0"/>
              </a:rPr>
              <a:t>	3.2.4 </a:t>
            </a:r>
            <a:r>
              <a:rPr lang="en-US" altLang="zh-CN" sz="2800" b="1" dirty="0">
                <a:solidFill>
                  <a:srgbClr val="FF0000"/>
                </a:solidFill>
                <a:latin typeface="Times New Roman" panose="02020603050405020304" pitchFamily="18" charset="0"/>
              </a:rPr>
              <a:t>Quaternary structure changes markedly when O</a:t>
            </a:r>
            <a:r>
              <a:rPr lang="en-US" altLang="zh-CN" sz="2800" b="1" baseline="-25000" dirty="0">
                <a:solidFill>
                  <a:srgbClr val="FF0000"/>
                </a:solidFill>
                <a:latin typeface="Times New Roman" panose="02020603050405020304" pitchFamily="18" charset="0"/>
              </a:rPr>
              <a:t>2 </a:t>
            </a:r>
            <a:r>
              <a:rPr lang="en-US" altLang="zh-CN" sz="2800" b="1" dirty="0">
                <a:solidFill>
                  <a:srgbClr val="FF0000"/>
                </a:solidFill>
                <a:latin typeface="Times New Roman" panose="02020603050405020304" pitchFamily="18" charset="0"/>
              </a:rPr>
              <a:t>binds</a:t>
            </a:r>
            <a:r>
              <a:rPr lang="en-US" altLang="zh-CN" sz="2800" b="1" dirty="0">
                <a:latin typeface="Times New Roman" panose="02020603050405020304" pitchFamily="18" charset="0"/>
              </a:rPr>
              <a:t>. Crystals of deoxyhemoglobin shatter (break) when exposed to O</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a:t>
            </a:r>
          </a:p>
          <a:p>
            <a:pPr eaLnBrk="1" hangingPunct="1">
              <a:spcBef>
                <a:spcPct val="30000"/>
              </a:spcBef>
              <a:buClrTx/>
              <a:buSzTx/>
              <a:buFontTx/>
              <a:buNone/>
            </a:pPr>
            <a:r>
              <a:rPr lang="en-US" altLang="zh-CN" sz="2800" b="1" dirty="0">
                <a:latin typeface="Times New Roman" panose="02020603050405020304" pitchFamily="18" charset="0"/>
              </a:rPr>
              <a:t>	3.2.5 O</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 binds to the sixth coordination position of the </a:t>
            </a:r>
            <a:r>
              <a:rPr lang="en-US" altLang="zh-CN" sz="2800" b="1" dirty="0">
                <a:solidFill>
                  <a:srgbClr val="FF0000"/>
                </a:solidFill>
                <a:latin typeface="Times New Roman" panose="02020603050405020304" pitchFamily="18" charset="0"/>
              </a:rPr>
              <a:t>ferrous iron </a:t>
            </a:r>
            <a:r>
              <a:rPr lang="en-US" altLang="zh-CN" sz="2800" b="1" dirty="0">
                <a:latin typeface="Times New Roman" panose="02020603050405020304" pitchFamily="18" charset="0"/>
              </a:rPr>
              <a:t>(as in myoglobin).</a:t>
            </a:r>
          </a:p>
          <a:p>
            <a:pPr eaLnBrk="1" hangingPunct="1">
              <a:spcBef>
                <a:spcPct val="50000"/>
              </a:spcBef>
              <a:buClrTx/>
              <a:buSzTx/>
              <a:buFontTx/>
              <a:buNone/>
            </a:pPr>
            <a:r>
              <a:rPr lang="en-US" altLang="zh-CN" sz="2800" b="1" dirty="0">
                <a:latin typeface="Times New Roman" panose="02020603050405020304" pitchFamily="18" charset="0"/>
              </a:rPr>
              <a:t>          3.2.6 Oxygen binding of hemoglobin shows </a:t>
            </a:r>
            <a:r>
              <a:rPr lang="en-US" altLang="zh-CN" sz="2800" b="1" dirty="0">
                <a:solidFill>
                  <a:srgbClr val="FF0066"/>
                </a:solidFill>
                <a:latin typeface="Times New Roman" panose="02020603050405020304" pitchFamily="18" charset="0"/>
              </a:rPr>
              <a:t>positive cooperativity</a:t>
            </a:r>
            <a:r>
              <a:rPr lang="en-US" altLang="zh-CN" sz="2800" b="1" dirty="0">
                <a:latin typeface="Times New Roman" panose="02020603050405020304" pitchFamily="18" charset="0"/>
              </a:rPr>
              <a:t>. The binding of O</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 (the ligand) at one heme facilitates the binding of O</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 at the other hemes on the same tetramer.</a:t>
            </a: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3346" name="Picture 2">
            <a:extLst>
              <a:ext uri="{FF2B5EF4-FFF2-40B4-BE49-F238E27FC236}">
                <a16:creationId xmlns:a16="http://schemas.microsoft.com/office/drawing/2014/main" id="{39872FF1-D9DC-44FD-B20E-C7B9357491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269"/>
          <a:stretch/>
        </p:blipFill>
        <p:spPr bwMode="auto">
          <a:xfrm>
            <a:off x="395536" y="477261"/>
            <a:ext cx="4752528" cy="5542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3">
            <a:extLst>
              <a:ext uri="{FF2B5EF4-FFF2-40B4-BE49-F238E27FC236}">
                <a16:creationId xmlns:a16="http://schemas.microsoft.com/office/drawing/2014/main" id="{ABFDC265-C28F-4A01-B0DA-82B85B45587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8580"/>
          <a:stretch/>
        </p:blipFill>
        <p:spPr bwMode="auto">
          <a:xfrm>
            <a:off x="5508104" y="764023"/>
            <a:ext cx="3048000" cy="4969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5394" name="Picture 2">
            <a:extLst>
              <a:ext uri="{FF2B5EF4-FFF2-40B4-BE49-F238E27FC236}">
                <a16:creationId xmlns:a16="http://schemas.microsoft.com/office/drawing/2014/main" id="{E44C0877-70CE-4DDE-A944-FFC0B5F1E7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711200"/>
            <a:ext cx="4521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a:extLst>
              <a:ext uri="{FF2B5EF4-FFF2-40B4-BE49-F238E27FC236}">
                <a16:creationId xmlns:a16="http://schemas.microsoft.com/office/drawing/2014/main" id="{FC1B624E-AF04-42E6-8645-EA47E7D154F1}"/>
              </a:ext>
            </a:extLst>
          </p:cNvPr>
          <p:cNvSpPr>
            <a:spLocks noGrp="1" noChangeArrowheads="1"/>
          </p:cNvSpPr>
          <p:nvPr>
            <p:ph type="title"/>
          </p:nvPr>
        </p:nvSpPr>
        <p:spPr bwMode="auto">
          <a:xfrm>
            <a:off x="1547813" y="404813"/>
            <a:ext cx="6019800" cy="714375"/>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2500" b="1">
                <a:solidFill>
                  <a:srgbClr val="FF0000"/>
                </a:solidFill>
                <a:effectLst>
                  <a:outerShdw blurRad="38100" dist="38100" dir="2700000" algn="tl">
                    <a:srgbClr val="C0C0C0"/>
                  </a:outerShdw>
                </a:effectLst>
              </a:rPr>
              <a:t>血红蛋白输氧功能和构象变化</a:t>
            </a:r>
          </a:p>
        </p:txBody>
      </p:sp>
      <p:grpSp>
        <p:nvGrpSpPr>
          <p:cNvPr id="121859" name="Group 4">
            <a:extLst>
              <a:ext uri="{FF2B5EF4-FFF2-40B4-BE49-F238E27FC236}">
                <a16:creationId xmlns:a16="http://schemas.microsoft.com/office/drawing/2014/main" id="{99BCFF92-FDA0-4BC3-B9F6-12D866319EB5}"/>
              </a:ext>
            </a:extLst>
          </p:cNvPr>
          <p:cNvGrpSpPr>
            <a:grpSpLocks/>
          </p:cNvGrpSpPr>
          <p:nvPr/>
        </p:nvGrpSpPr>
        <p:grpSpPr bwMode="auto">
          <a:xfrm>
            <a:off x="685800" y="1157288"/>
            <a:ext cx="1752600" cy="5472112"/>
            <a:chOff x="432" y="585"/>
            <a:chExt cx="1104" cy="3447"/>
          </a:xfrm>
        </p:grpSpPr>
        <p:grpSp>
          <p:nvGrpSpPr>
            <p:cNvPr id="121861" name="Group 5">
              <a:extLst>
                <a:ext uri="{FF2B5EF4-FFF2-40B4-BE49-F238E27FC236}">
                  <a16:creationId xmlns:a16="http://schemas.microsoft.com/office/drawing/2014/main" id="{119A296F-E809-4550-86C2-E542DD414424}"/>
                </a:ext>
              </a:extLst>
            </p:cNvPr>
            <p:cNvGrpSpPr>
              <a:grpSpLocks/>
            </p:cNvGrpSpPr>
            <p:nvPr/>
          </p:nvGrpSpPr>
          <p:grpSpPr bwMode="auto">
            <a:xfrm>
              <a:off x="816" y="585"/>
              <a:ext cx="624" cy="555"/>
              <a:chOff x="912" y="1296"/>
              <a:chExt cx="288" cy="288"/>
            </a:xfrm>
          </p:grpSpPr>
          <p:sp>
            <p:nvSpPr>
              <p:cNvPr id="121878" name="Rectangle 6">
                <a:extLst>
                  <a:ext uri="{FF2B5EF4-FFF2-40B4-BE49-F238E27FC236}">
                    <a16:creationId xmlns:a16="http://schemas.microsoft.com/office/drawing/2014/main" id="{AEB8624D-12E9-4894-BAFD-481BE7795263}"/>
                  </a:ext>
                </a:extLst>
              </p:cNvPr>
              <p:cNvSpPr>
                <a:spLocks noChangeArrowheads="1"/>
              </p:cNvSpPr>
              <p:nvPr/>
            </p:nvSpPr>
            <p:spPr bwMode="auto">
              <a:xfrm>
                <a:off x="1056" y="1440"/>
                <a:ext cx="144" cy="144"/>
              </a:xfrm>
              <a:prstGeom prst="rect">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1879" name="Rectangle 7">
                <a:extLst>
                  <a:ext uri="{FF2B5EF4-FFF2-40B4-BE49-F238E27FC236}">
                    <a16:creationId xmlns:a16="http://schemas.microsoft.com/office/drawing/2014/main" id="{2A95623C-0457-4BDC-BEAC-00AF12D42ACF}"/>
                  </a:ext>
                </a:extLst>
              </p:cNvPr>
              <p:cNvSpPr>
                <a:spLocks noChangeArrowheads="1"/>
              </p:cNvSpPr>
              <p:nvPr/>
            </p:nvSpPr>
            <p:spPr bwMode="auto">
              <a:xfrm>
                <a:off x="912" y="1440"/>
                <a:ext cx="144" cy="144"/>
              </a:xfrm>
              <a:prstGeom prst="rect">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1880" name="Rectangle 8">
                <a:extLst>
                  <a:ext uri="{FF2B5EF4-FFF2-40B4-BE49-F238E27FC236}">
                    <a16:creationId xmlns:a16="http://schemas.microsoft.com/office/drawing/2014/main" id="{7E66963F-9BC1-4823-99F3-82D2DA934ABE}"/>
                  </a:ext>
                </a:extLst>
              </p:cNvPr>
              <p:cNvSpPr>
                <a:spLocks noChangeArrowheads="1"/>
              </p:cNvSpPr>
              <p:nvPr/>
            </p:nvSpPr>
            <p:spPr bwMode="auto">
              <a:xfrm>
                <a:off x="1056" y="1296"/>
                <a:ext cx="144" cy="144"/>
              </a:xfrm>
              <a:prstGeom prst="rect">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1881" name="Rectangle 9">
                <a:extLst>
                  <a:ext uri="{FF2B5EF4-FFF2-40B4-BE49-F238E27FC236}">
                    <a16:creationId xmlns:a16="http://schemas.microsoft.com/office/drawing/2014/main" id="{C030D21E-35A6-4B27-BBE5-F8929A575A7D}"/>
                  </a:ext>
                </a:extLst>
              </p:cNvPr>
              <p:cNvSpPr>
                <a:spLocks noChangeArrowheads="1"/>
              </p:cNvSpPr>
              <p:nvPr/>
            </p:nvSpPr>
            <p:spPr bwMode="auto">
              <a:xfrm>
                <a:off x="912" y="1296"/>
                <a:ext cx="144" cy="144"/>
              </a:xfrm>
              <a:prstGeom prst="rect">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21862" name="Text Box 10">
              <a:extLst>
                <a:ext uri="{FF2B5EF4-FFF2-40B4-BE49-F238E27FC236}">
                  <a16:creationId xmlns:a16="http://schemas.microsoft.com/office/drawing/2014/main" id="{195E176D-3D38-4926-9BF5-9ECBE6B60226}"/>
                </a:ext>
              </a:extLst>
            </p:cNvPr>
            <p:cNvSpPr txBox="1">
              <a:spLocks noChangeArrowheads="1"/>
            </p:cNvSpPr>
            <p:nvPr/>
          </p:nvSpPr>
          <p:spPr bwMode="auto">
            <a:xfrm>
              <a:off x="1056" y="2649"/>
              <a:ext cx="4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b="1">
                  <a:solidFill>
                    <a:srgbClr val="FF0000"/>
                  </a:solidFill>
                  <a:latin typeface="Times New Roman" panose="02020603050405020304" pitchFamily="18" charset="0"/>
                </a:rPr>
                <a:t>O</a:t>
              </a:r>
              <a:r>
                <a:rPr lang="en-US" altLang="zh-CN" b="1" baseline="-25000">
                  <a:solidFill>
                    <a:srgbClr val="FF0000"/>
                  </a:solidFill>
                  <a:latin typeface="Times New Roman" panose="02020603050405020304" pitchFamily="18" charset="0"/>
                </a:rPr>
                <a:t>2</a:t>
              </a:r>
            </a:p>
          </p:txBody>
        </p:sp>
        <p:grpSp>
          <p:nvGrpSpPr>
            <p:cNvPr id="121863" name="Group 11">
              <a:extLst>
                <a:ext uri="{FF2B5EF4-FFF2-40B4-BE49-F238E27FC236}">
                  <a16:creationId xmlns:a16="http://schemas.microsoft.com/office/drawing/2014/main" id="{6C1A6D3D-6481-4B21-B473-C4AE35F33EA7}"/>
                </a:ext>
              </a:extLst>
            </p:cNvPr>
            <p:cNvGrpSpPr>
              <a:grpSpLocks/>
            </p:cNvGrpSpPr>
            <p:nvPr/>
          </p:nvGrpSpPr>
          <p:grpSpPr bwMode="auto">
            <a:xfrm>
              <a:off x="768" y="3229"/>
              <a:ext cx="576" cy="524"/>
              <a:chOff x="2832" y="1344"/>
              <a:chExt cx="288" cy="288"/>
            </a:xfrm>
          </p:grpSpPr>
          <p:sp>
            <p:nvSpPr>
              <p:cNvPr id="121874" name="Oval 12">
                <a:extLst>
                  <a:ext uri="{FF2B5EF4-FFF2-40B4-BE49-F238E27FC236}">
                    <a16:creationId xmlns:a16="http://schemas.microsoft.com/office/drawing/2014/main" id="{1AEB40BF-7C35-439F-AC74-DAC3C88014D8}"/>
                  </a:ext>
                </a:extLst>
              </p:cNvPr>
              <p:cNvSpPr>
                <a:spLocks noChangeArrowheads="1"/>
              </p:cNvSpPr>
              <p:nvPr/>
            </p:nvSpPr>
            <p:spPr bwMode="auto">
              <a:xfrm>
                <a:off x="2832" y="1344"/>
                <a:ext cx="144" cy="144"/>
              </a:xfrm>
              <a:prstGeom prst="ellipse">
                <a:avLst/>
              </a:prstGeom>
              <a:solidFill>
                <a:srgbClr val="CC3300"/>
              </a:solidFill>
              <a:ln w="9525">
                <a:solidFill>
                  <a:schemeClr val="tx1"/>
                </a:solidFill>
                <a:round/>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1875" name="Oval 13">
                <a:extLst>
                  <a:ext uri="{FF2B5EF4-FFF2-40B4-BE49-F238E27FC236}">
                    <a16:creationId xmlns:a16="http://schemas.microsoft.com/office/drawing/2014/main" id="{EFC4E49B-63A9-4781-9187-D4CB34FDBA68}"/>
                  </a:ext>
                </a:extLst>
              </p:cNvPr>
              <p:cNvSpPr>
                <a:spLocks noChangeArrowheads="1"/>
              </p:cNvSpPr>
              <p:nvPr/>
            </p:nvSpPr>
            <p:spPr bwMode="auto">
              <a:xfrm>
                <a:off x="2832" y="1488"/>
                <a:ext cx="144" cy="144"/>
              </a:xfrm>
              <a:prstGeom prst="ellipse">
                <a:avLst/>
              </a:prstGeom>
              <a:solidFill>
                <a:srgbClr val="CC3300"/>
              </a:solidFill>
              <a:ln w="9525">
                <a:solidFill>
                  <a:schemeClr val="tx1"/>
                </a:solidFill>
                <a:round/>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2000"/>
              </a:p>
            </p:txBody>
          </p:sp>
          <p:sp>
            <p:nvSpPr>
              <p:cNvPr id="121876" name="Oval 14">
                <a:extLst>
                  <a:ext uri="{FF2B5EF4-FFF2-40B4-BE49-F238E27FC236}">
                    <a16:creationId xmlns:a16="http://schemas.microsoft.com/office/drawing/2014/main" id="{A28A1565-B5FD-4B96-9B90-DD3D55AC722E}"/>
                  </a:ext>
                </a:extLst>
              </p:cNvPr>
              <p:cNvSpPr>
                <a:spLocks noChangeArrowheads="1"/>
              </p:cNvSpPr>
              <p:nvPr/>
            </p:nvSpPr>
            <p:spPr bwMode="auto">
              <a:xfrm>
                <a:off x="2976" y="1488"/>
                <a:ext cx="144" cy="144"/>
              </a:xfrm>
              <a:prstGeom prst="ellipse">
                <a:avLst/>
              </a:prstGeom>
              <a:solidFill>
                <a:srgbClr val="CC3300"/>
              </a:solidFill>
              <a:ln w="9525">
                <a:solidFill>
                  <a:schemeClr val="tx1"/>
                </a:solidFill>
                <a:round/>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1877" name="Oval 15">
                <a:extLst>
                  <a:ext uri="{FF2B5EF4-FFF2-40B4-BE49-F238E27FC236}">
                    <a16:creationId xmlns:a16="http://schemas.microsoft.com/office/drawing/2014/main" id="{798E2254-3FB3-4EC0-9A04-D84B040A0221}"/>
                  </a:ext>
                </a:extLst>
              </p:cNvPr>
              <p:cNvSpPr>
                <a:spLocks noChangeArrowheads="1"/>
              </p:cNvSpPr>
              <p:nvPr/>
            </p:nvSpPr>
            <p:spPr bwMode="auto">
              <a:xfrm>
                <a:off x="2976" y="1344"/>
                <a:ext cx="144" cy="144"/>
              </a:xfrm>
              <a:prstGeom prst="ellipse">
                <a:avLst/>
              </a:prstGeom>
              <a:solidFill>
                <a:srgbClr val="CC3300"/>
              </a:solidFill>
              <a:ln w="9525">
                <a:solidFill>
                  <a:schemeClr val="tx1"/>
                </a:solidFill>
                <a:round/>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21864" name="Line 16">
              <a:extLst>
                <a:ext uri="{FF2B5EF4-FFF2-40B4-BE49-F238E27FC236}">
                  <a16:creationId xmlns:a16="http://schemas.microsoft.com/office/drawing/2014/main" id="{BDB98D83-9940-4AC8-A9AD-7303E20C362B}"/>
                </a:ext>
              </a:extLst>
            </p:cNvPr>
            <p:cNvSpPr>
              <a:spLocks noChangeShapeType="1"/>
            </p:cNvSpPr>
            <p:nvPr/>
          </p:nvSpPr>
          <p:spPr bwMode="auto">
            <a:xfrm>
              <a:off x="1056" y="1209"/>
              <a:ext cx="0" cy="52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865" name="Text Box 17">
              <a:extLst>
                <a:ext uri="{FF2B5EF4-FFF2-40B4-BE49-F238E27FC236}">
                  <a16:creationId xmlns:a16="http://schemas.microsoft.com/office/drawing/2014/main" id="{70C66246-D95C-4F34-8EAA-8B47AF165FB3}"/>
                </a:ext>
              </a:extLst>
            </p:cNvPr>
            <p:cNvSpPr txBox="1">
              <a:spLocks noChangeArrowheads="1"/>
            </p:cNvSpPr>
            <p:nvPr/>
          </p:nvSpPr>
          <p:spPr bwMode="auto">
            <a:xfrm>
              <a:off x="432" y="729"/>
              <a:ext cx="4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b="1">
                  <a:solidFill>
                    <a:srgbClr val="0000CC"/>
                  </a:solidFill>
                  <a:latin typeface="Times New Roman" panose="02020603050405020304" pitchFamily="18" charset="0"/>
                </a:rPr>
                <a:t>Hb</a:t>
              </a:r>
              <a:endParaRPr lang="en-US" altLang="zh-CN" b="1" baseline="-25000">
                <a:solidFill>
                  <a:srgbClr val="0000CC"/>
                </a:solidFill>
                <a:latin typeface="Times New Roman" panose="02020603050405020304" pitchFamily="18" charset="0"/>
              </a:endParaRPr>
            </a:p>
          </p:txBody>
        </p:sp>
        <p:sp>
          <p:nvSpPr>
            <p:cNvPr id="121866" name="Text Box 18">
              <a:extLst>
                <a:ext uri="{FF2B5EF4-FFF2-40B4-BE49-F238E27FC236}">
                  <a16:creationId xmlns:a16="http://schemas.microsoft.com/office/drawing/2014/main" id="{264433F6-314C-45EF-8A5B-A4F99AA64755}"/>
                </a:ext>
              </a:extLst>
            </p:cNvPr>
            <p:cNvSpPr txBox="1">
              <a:spLocks noChangeArrowheads="1"/>
            </p:cNvSpPr>
            <p:nvPr/>
          </p:nvSpPr>
          <p:spPr bwMode="auto">
            <a:xfrm>
              <a:off x="720" y="3705"/>
              <a:ext cx="8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b="1">
                  <a:solidFill>
                    <a:srgbClr val="0000CC"/>
                  </a:solidFill>
                  <a:latin typeface="Times New Roman" panose="02020603050405020304" pitchFamily="18" charset="0"/>
                </a:rPr>
                <a:t>Hb- </a:t>
              </a:r>
              <a:r>
                <a:rPr lang="en-US" altLang="zh-CN" b="1">
                  <a:solidFill>
                    <a:srgbClr val="FF0000"/>
                  </a:solidFill>
                  <a:latin typeface="Times New Roman" panose="02020603050405020304" pitchFamily="18" charset="0"/>
                </a:rPr>
                <a:t>O</a:t>
              </a:r>
              <a:r>
                <a:rPr lang="en-US" altLang="zh-CN" b="1" baseline="-25000">
                  <a:solidFill>
                    <a:srgbClr val="FF0000"/>
                  </a:solidFill>
                  <a:latin typeface="Times New Roman" panose="02020603050405020304" pitchFamily="18" charset="0"/>
                </a:rPr>
                <a:t>2</a:t>
              </a:r>
            </a:p>
          </p:txBody>
        </p:sp>
        <p:grpSp>
          <p:nvGrpSpPr>
            <p:cNvPr id="121867" name="Group 19">
              <a:extLst>
                <a:ext uri="{FF2B5EF4-FFF2-40B4-BE49-F238E27FC236}">
                  <a16:creationId xmlns:a16="http://schemas.microsoft.com/office/drawing/2014/main" id="{0F7D161F-ED5B-4E97-B4C1-1F4C13E13A90}"/>
                </a:ext>
              </a:extLst>
            </p:cNvPr>
            <p:cNvGrpSpPr>
              <a:grpSpLocks/>
            </p:cNvGrpSpPr>
            <p:nvPr/>
          </p:nvGrpSpPr>
          <p:grpSpPr bwMode="auto">
            <a:xfrm>
              <a:off x="768" y="1881"/>
              <a:ext cx="624" cy="555"/>
              <a:chOff x="1440" y="1152"/>
              <a:chExt cx="624" cy="555"/>
            </a:xfrm>
          </p:grpSpPr>
          <p:sp>
            <p:nvSpPr>
              <p:cNvPr id="121870" name="Oval 20">
                <a:extLst>
                  <a:ext uri="{FF2B5EF4-FFF2-40B4-BE49-F238E27FC236}">
                    <a16:creationId xmlns:a16="http://schemas.microsoft.com/office/drawing/2014/main" id="{1E4EAABE-13D5-46C7-8DE4-B8035980F388}"/>
                  </a:ext>
                </a:extLst>
              </p:cNvPr>
              <p:cNvSpPr>
                <a:spLocks noChangeArrowheads="1"/>
              </p:cNvSpPr>
              <p:nvPr/>
            </p:nvSpPr>
            <p:spPr bwMode="auto">
              <a:xfrm>
                <a:off x="1440" y="1440"/>
                <a:ext cx="288" cy="262"/>
              </a:xfrm>
              <a:prstGeom prst="ellipse">
                <a:avLst/>
              </a:prstGeom>
              <a:solidFill>
                <a:srgbClr val="CC3300"/>
              </a:solidFill>
              <a:ln w="9525">
                <a:solidFill>
                  <a:schemeClr val="tx1"/>
                </a:solidFill>
                <a:round/>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2000"/>
              </a:p>
            </p:txBody>
          </p:sp>
          <p:sp>
            <p:nvSpPr>
              <p:cNvPr id="121871" name="Rectangle 21">
                <a:extLst>
                  <a:ext uri="{FF2B5EF4-FFF2-40B4-BE49-F238E27FC236}">
                    <a16:creationId xmlns:a16="http://schemas.microsoft.com/office/drawing/2014/main" id="{AFBA6731-2D88-43A6-BADC-24651BBB6F85}"/>
                  </a:ext>
                </a:extLst>
              </p:cNvPr>
              <p:cNvSpPr>
                <a:spLocks noChangeArrowheads="1"/>
              </p:cNvSpPr>
              <p:nvPr/>
            </p:nvSpPr>
            <p:spPr bwMode="auto">
              <a:xfrm>
                <a:off x="1752" y="1430"/>
                <a:ext cx="312" cy="277"/>
              </a:xfrm>
              <a:prstGeom prst="rect">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1872" name="Rectangle 22">
                <a:extLst>
                  <a:ext uri="{FF2B5EF4-FFF2-40B4-BE49-F238E27FC236}">
                    <a16:creationId xmlns:a16="http://schemas.microsoft.com/office/drawing/2014/main" id="{65788674-0ADD-40C7-9E57-4E06B1EAD1B6}"/>
                  </a:ext>
                </a:extLst>
              </p:cNvPr>
              <p:cNvSpPr>
                <a:spLocks noChangeArrowheads="1"/>
              </p:cNvSpPr>
              <p:nvPr/>
            </p:nvSpPr>
            <p:spPr bwMode="auto">
              <a:xfrm>
                <a:off x="1752" y="1152"/>
                <a:ext cx="312" cy="278"/>
              </a:xfrm>
              <a:prstGeom prst="rect">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1873" name="Rectangle 23">
                <a:extLst>
                  <a:ext uri="{FF2B5EF4-FFF2-40B4-BE49-F238E27FC236}">
                    <a16:creationId xmlns:a16="http://schemas.microsoft.com/office/drawing/2014/main" id="{2725FBB9-3478-4386-A55F-1E2199B082BE}"/>
                  </a:ext>
                </a:extLst>
              </p:cNvPr>
              <p:cNvSpPr>
                <a:spLocks noChangeArrowheads="1"/>
              </p:cNvSpPr>
              <p:nvPr/>
            </p:nvSpPr>
            <p:spPr bwMode="auto">
              <a:xfrm>
                <a:off x="1440" y="1152"/>
                <a:ext cx="312" cy="278"/>
              </a:xfrm>
              <a:prstGeom prst="rect">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21868" name="Line 24">
              <a:extLst>
                <a:ext uri="{FF2B5EF4-FFF2-40B4-BE49-F238E27FC236}">
                  <a16:creationId xmlns:a16="http://schemas.microsoft.com/office/drawing/2014/main" id="{50C9EB40-1003-4A63-82CF-1831D8BD108F}"/>
                </a:ext>
              </a:extLst>
            </p:cNvPr>
            <p:cNvSpPr>
              <a:spLocks noChangeShapeType="1"/>
            </p:cNvSpPr>
            <p:nvPr/>
          </p:nvSpPr>
          <p:spPr bwMode="auto">
            <a:xfrm>
              <a:off x="1056" y="2601"/>
              <a:ext cx="0" cy="52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869" name="Text Box 25">
              <a:extLst>
                <a:ext uri="{FF2B5EF4-FFF2-40B4-BE49-F238E27FC236}">
                  <a16:creationId xmlns:a16="http://schemas.microsoft.com/office/drawing/2014/main" id="{1098C899-1523-4846-8B08-8BE46FDDAE7B}"/>
                </a:ext>
              </a:extLst>
            </p:cNvPr>
            <p:cNvSpPr txBox="1">
              <a:spLocks noChangeArrowheads="1"/>
            </p:cNvSpPr>
            <p:nvPr/>
          </p:nvSpPr>
          <p:spPr bwMode="auto">
            <a:xfrm>
              <a:off x="1056" y="1305"/>
              <a:ext cx="4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b="1">
                  <a:solidFill>
                    <a:srgbClr val="FF0000"/>
                  </a:solidFill>
                  <a:latin typeface="Times New Roman" panose="02020603050405020304" pitchFamily="18" charset="0"/>
                </a:rPr>
                <a:t>O</a:t>
              </a:r>
              <a:r>
                <a:rPr lang="en-US" altLang="zh-CN" b="1" baseline="-25000">
                  <a:solidFill>
                    <a:srgbClr val="FF0000"/>
                  </a:solidFill>
                  <a:latin typeface="Times New Roman" panose="02020603050405020304" pitchFamily="18" charset="0"/>
                </a:rPr>
                <a:t>2</a:t>
              </a:r>
            </a:p>
          </p:txBody>
        </p:sp>
      </p:grpSp>
      <p:pic>
        <p:nvPicPr>
          <p:cNvPr id="121860" name="Picture 39" descr="幻灯片48">
            <a:extLst>
              <a:ext uri="{FF2B5EF4-FFF2-40B4-BE49-F238E27FC236}">
                <a16:creationId xmlns:a16="http://schemas.microsoft.com/office/drawing/2014/main" id="{20148619-A62B-4366-B510-F78B06F350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8038" y="1628775"/>
            <a:ext cx="5327650" cy="362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7C3D8789-70FD-A227-CCE3-7A339A7FF5C2}"/>
              </a:ext>
            </a:extLst>
          </p:cNvPr>
          <p:cNvSpPr txBox="1"/>
          <p:nvPr/>
        </p:nvSpPr>
        <p:spPr>
          <a:xfrm>
            <a:off x="2438400" y="1484784"/>
            <a:ext cx="556563" cy="369332"/>
          </a:xfrm>
          <a:prstGeom prst="rect">
            <a:avLst/>
          </a:prstGeom>
          <a:noFill/>
        </p:spPr>
        <p:txBody>
          <a:bodyPr wrap="none" rtlCol="0">
            <a:spAutoFit/>
          </a:bodyPr>
          <a:lstStyle/>
          <a:p>
            <a:r>
              <a:rPr lang="en-US" altLang="zh-CN" b="1" dirty="0"/>
              <a:t>T</a:t>
            </a:r>
            <a:r>
              <a:rPr lang="zh-CN" altLang="en-US" b="1" dirty="0"/>
              <a:t>型</a:t>
            </a:r>
          </a:p>
        </p:txBody>
      </p:sp>
      <p:sp>
        <p:nvSpPr>
          <p:cNvPr id="4" name="文本框 3">
            <a:extLst>
              <a:ext uri="{FF2B5EF4-FFF2-40B4-BE49-F238E27FC236}">
                <a16:creationId xmlns:a16="http://schemas.microsoft.com/office/drawing/2014/main" id="{551F61B8-A12C-D3AB-A5ED-2211680B960B}"/>
              </a:ext>
            </a:extLst>
          </p:cNvPr>
          <p:cNvSpPr txBox="1"/>
          <p:nvPr/>
        </p:nvSpPr>
        <p:spPr>
          <a:xfrm>
            <a:off x="2446070" y="5661248"/>
            <a:ext cx="582211" cy="369332"/>
          </a:xfrm>
          <a:prstGeom prst="rect">
            <a:avLst/>
          </a:prstGeom>
          <a:noFill/>
        </p:spPr>
        <p:txBody>
          <a:bodyPr wrap="none" rtlCol="0">
            <a:spAutoFit/>
          </a:bodyPr>
          <a:lstStyle/>
          <a:p>
            <a:r>
              <a:rPr lang="en-US" altLang="zh-CN" b="1" dirty="0"/>
              <a:t>R</a:t>
            </a:r>
            <a:r>
              <a:rPr lang="zh-CN" altLang="en-US" b="1" dirty="0"/>
              <a:t>型</a:t>
            </a: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733F48A-F421-00FC-2FCC-063FEC8DA34B}"/>
              </a:ext>
            </a:extLst>
          </p:cNvPr>
          <p:cNvPicPr>
            <a:picLocks noChangeAspect="1"/>
          </p:cNvPicPr>
          <p:nvPr/>
        </p:nvPicPr>
        <p:blipFill>
          <a:blip r:embed="rId3"/>
          <a:stretch>
            <a:fillRect/>
          </a:stretch>
        </p:blipFill>
        <p:spPr>
          <a:xfrm>
            <a:off x="1938337" y="604837"/>
            <a:ext cx="5267325" cy="5648325"/>
          </a:xfrm>
          <a:prstGeom prst="rect">
            <a:avLst/>
          </a:prstGeom>
        </p:spPr>
      </p:pic>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Text Box 2">
            <a:extLst>
              <a:ext uri="{FF2B5EF4-FFF2-40B4-BE49-F238E27FC236}">
                <a16:creationId xmlns:a16="http://schemas.microsoft.com/office/drawing/2014/main" id="{41AFA661-E9AB-4091-9496-2CC83896C744}"/>
              </a:ext>
            </a:extLst>
          </p:cNvPr>
          <p:cNvSpPr txBox="1">
            <a:spLocks noChangeArrowheads="1"/>
          </p:cNvSpPr>
          <p:nvPr/>
        </p:nvSpPr>
        <p:spPr bwMode="auto">
          <a:xfrm>
            <a:off x="838200" y="609600"/>
            <a:ext cx="769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a:latin typeface="Times New Roman" panose="02020603050405020304" pitchFamily="18" charset="0"/>
              </a:rPr>
              <a:t>	</a:t>
            </a:r>
          </a:p>
        </p:txBody>
      </p:sp>
      <p:sp>
        <p:nvSpPr>
          <p:cNvPr id="320515" name="Text Box 3">
            <a:extLst>
              <a:ext uri="{FF2B5EF4-FFF2-40B4-BE49-F238E27FC236}">
                <a16:creationId xmlns:a16="http://schemas.microsoft.com/office/drawing/2014/main" id="{C498ED21-906F-4AFE-9045-B1B0F6E60E59}"/>
              </a:ext>
            </a:extLst>
          </p:cNvPr>
          <p:cNvSpPr txBox="1">
            <a:spLocks noChangeArrowheads="1"/>
          </p:cNvSpPr>
          <p:nvPr/>
        </p:nvSpPr>
        <p:spPr bwMode="auto">
          <a:xfrm>
            <a:off x="539750" y="549275"/>
            <a:ext cx="8382000" cy="52911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400" dirty="0">
                <a:latin typeface="Times New Roman" panose="02020603050405020304" pitchFamily="18" charset="0"/>
              </a:rPr>
              <a:t>	</a:t>
            </a:r>
            <a:r>
              <a:rPr lang="en-US" altLang="zh-CN" sz="2600" b="1" dirty="0">
                <a:latin typeface="Times New Roman" panose="02020603050405020304" pitchFamily="18" charset="0"/>
              </a:rPr>
              <a:t>3.3 </a:t>
            </a:r>
            <a:r>
              <a:rPr lang="en-US" altLang="zh-CN" sz="2600" b="1" dirty="0">
                <a:solidFill>
                  <a:srgbClr val="FF0066"/>
                </a:solidFill>
                <a:latin typeface="Times New Roman" panose="02020603050405020304" pitchFamily="18" charset="0"/>
              </a:rPr>
              <a:t>The Bohr effect</a:t>
            </a:r>
          </a:p>
          <a:p>
            <a:pPr eaLnBrk="1" hangingPunct="1">
              <a:lnSpc>
                <a:spcPct val="120000"/>
              </a:lnSpc>
              <a:spcBef>
                <a:spcPct val="50000"/>
              </a:spcBef>
              <a:buClrTx/>
              <a:buSzTx/>
              <a:buFontTx/>
              <a:buNone/>
            </a:pPr>
            <a:r>
              <a:rPr lang="en-US" altLang="zh-CN" sz="2600" b="1" dirty="0">
                <a:latin typeface="Times New Roman" panose="02020603050405020304" pitchFamily="18" charset="0"/>
              </a:rPr>
              <a:t>     Increasing concentrations of H</a:t>
            </a:r>
            <a:r>
              <a:rPr lang="en-US" altLang="zh-CN" sz="2600" b="1" baseline="30000" dirty="0">
                <a:latin typeface="Times New Roman" panose="02020603050405020304" pitchFamily="18" charset="0"/>
              </a:rPr>
              <a:t>+</a:t>
            </a:r>
            <a:r>
              <a:rPr lang="en-US" altLang="zh-CN" sz="2600" b="1" dirty="0">
                <a:latin typeface="Times New Roman" panose="02020603050405020304" pitchFamily="18" charset="0"/>
              </a:rPr>
              <a:t> (with a decrease of pH) or CO</a:t>
            </a:r>
            <a:r>
              <a:rPr lang="en-US" altLang="zh-CN" sz="2600" b="1" baseline="-25000" dirty="0">
                <a:latin typeface="Times New Roman" panose="02020603050405020304" pitchFamily="18" charset="0"/>
              </a:rPr>
              <a:t>2</a:t>
            </a:r>
            <a:r>
              <a:rPr lang="en-US" altLang="zh-CN" sz="2600" b="1" dirty="0">
                <a:latin typeface="Times New Roman" panose="02020603050405020304" pitchFamily="18" charset="0"/>
              </a:rPr>
              <a:t> lower the O</a:t>
            </a:r>
            <a:r>
              <a:rPr lang="en-US" altLang="zh-CN" sz="2600" b="1" baseline="-25000" dirty="0">
                <a:latin typeface="Times New Roman" panose="02020603050405020304" pitchFamily="18" charset="0"/>
              </a:rPr>
              <a:t>2</a:t>
            </a:r>
            <a:r>
              <a:rPr lang="en-US" altLang="zh-CN" sz="2600" b="1" dirty="0">
                <a:latin typeface="Times New Roman" panose="02020603050405020304" pitchFamily="18" charset="0"/>
              </a:rPr>
              <a:t> affinity of hemoglobin (H</a:t>
            </a:r>
            <a:r>
              <a:rPr lang="en-US" altLang="zh-CN" sz="2600" b="1" baseline="30000" dirty="0">
                <a:latin typeface="Times New Roman" panose="02020603050405020304" pitchFamily="18" charset="0"/>
              </a:rPr>
              <a:t>+</a:t>
            </a:r>
            <a:r>
              <a:rPr lang="en-US" altLang="zh-CN" sz="2600" b="1" dirty="0">
                <a:latin typeface="Times New Roman" panose="02020603050405020304" pitchFamily="18" charset="0"/>
              </a:rPr>
              <a:t> and CO</a:t>
            </a:r>
            <a:r>
              <a:rPr lang="en-US" altLang="zh-CN" sz="2600" b="1" baseline="-25000" dirty="0">
                <a:latin typeface="Times New Roman" panose="02020603050405020304" pitchFamily="18" charset="0"/>
              </a:rPr>
              <a:t>2</a:t>
            </a:r>
            <a:r>
              <a:rPr lang="en-US" altLang="zh-CN" sz="2600" b="1" dirty="0">
                <a:latin typeface="Times New Roman" panose="02020603050405020304" pitchFamily="18" charset="0"/>
              </a:rPr>
              <a:t> has no effect on O</a:t>
            </a:r>
            <a:r>
              <a:rPr lang="en-US" altLang="zh-CN" sz="2600" b="1" baseline="-25000" dirty="0">
                <a:latin typeface="Times New Roman" panose="02020603050405020304" pitchFamily="18" charset="0"/>
              </a:rPr>
              <a:t>2</a:t>
            </a:r>
            <a:r>
              <a:rPr lang="en-US" altLang="zh-CN" sz="2600" b="1" dirty="0">
                <a:latin typeface="Times New Roman" panose="02020603050405020304" pitchFamily="18" charset="0"/>
              </a:rPr>
              <a:t> affinity of myoglobin). One molecule of 2,3-diphosphoglycerate (BPG) binds to the central cavity of one tetramer of hemoglobin, which also lowers its O</a:t>
            </a:r>
            <a:r>
              <a:rPr lang="en-US" altLang="zh-CN" sz="2600" b="1" baseline="-25000" dirty="0">
                <a:latin typeface="Times New Roman" panose="02020603050405020304" pitchFamily="18" charset="0"/>
              </a:rPr>
              <a:t>2</a:t>
            </a:r>
            <a:r>
              <a:rPr lang="en-US" altLang="zh-CN" sz="2600" b="1" dirty="0">
                <a:latin typeface="Times New Roman" panose="02020603050405020304" pitchFamily="18" charset="0"/>
              </a:rPr>
              <a:t> affinity.</a:t>
            </a:r>
          </a:p>
          <a:p>
            <a:pPr eaLnBrk="1" hangingPunct="1">
              <a:lnSpc>
                <a:spcPct val="120000"/>
              </a:lnSpc>
              <a:spcBef>
                <a:spcPct val="50000"/>
              </a:spcBef>
              <a:buClrTx/>
              <a:buSzTx/>
              <a:buFontTx/>
              <a:buNone/>
            </a:pPr>
            <a:r>
              <a:rPr lang="en-US" altLang="zh-CN" sz="2600" b="1" dirty="0">
                <a:latin typeface="Times New Roman" panose="02020603050405020304" pitchFamily="18" charset="0"/>
              </a:rPr>
              <a:t>This is called Bohr effect, which helps the release of O</a:t>
            </a:r>
            <a:r>
              <a:rPr lang="en-US" altLang="zh-CN" sz="2600" b="1" baseline="-25000" dirty="0">
                <a:latin typeface="Times New Roman" panose="02020603050405020304" pitchFamily="18" charset="0"/>
              </a:rPr>
              <a:t>2</a:t>
            </a:r>
            <a:r>
              <a:rPr lang="en-US" altLang="zh-CN" sz="2600" b="1" dirty="0">
                <a:latin typeface="Times New Roman" panose="02020603050405020304" pitchFamily="18" charset="0"/>
              </a:rPr>
              <a:t> in the capillaries of actively metabolizing tissues. </a:t>
            </a:r>
          </a:p>
          <a:p>
            <a:pPr eaLnBrk="1" hangingPunct="1">
              <a:spcBef>
                <a:spcPct val="50000"/>
              </a:spcBef>
              <a:buClrTx/>
              <a:buSzTx/>
              <a:buFontTx/>
              <a:buNone/>
            </a:pPr>
            <a:r>
              <a:rPr lang="en-US" altLang="zh-CN" sz="2600" b="1" dirty="0">
                <a:latin typeface="Times New Roman" panose="02020603050405020304" pitchFamily="18" charset="0"/>
              </a:rPr>
              <a:t>		</a:t>
            </a: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4610" name="Picture 2">
            <a:extLst>
              <a:ext uri="{FF2B5EF4-FFF2-40B4-BE49-F238E27FC236}">
                <a16:creationId xmlns:a16="http://schemas.microsoft.com/office/drawing/2014/main" id="{991F867D-EAB8-45BB-907D-B685B8FBD8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0" y="711200"/>
            <a:ext cx="56515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4611" name="Text Box 3">
            <a:extLst>
              <a:ext uri="{FF2B5EF4-FFF2-40B4-BE49-F238E27FC236}">
                <a16:creationId xmlns:a16="http://schemas.microsoft.com/office/drawing/2014/main" id="{C7D8A52E-C9A8-4C3D-A923-E573ED7D2B46}"/>
              </a:ext>
            </a:extLst>
          </p:cNvPr>
          <p:cNvSpPr txBox="1">
            <a:spLocks noChangeArrowheads="1"/>
          </p:cNvSpPr>
          <p:nvPr/>
        </p:nvSpPr>
        <p:spPr bwMode="auto">
          <a:xfrm>
            <a:off x="539750" y="188913"/>
            <a:ext cx="66532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1">
                <a:latin typeface="Times New Roman" panose="02020603050405020304" pitchFamily="18" charset="0"/>
              </a:rPr>
              <a:t>Bohr’s effect and its molecular mechanism</a:t>
            </a:r>
            <a:endParaRPr lang="en-US" altLang="zh-CN" sz="2400">
              <a:latin typeface="Times New Roman" panose="02020603050405020304" pitchFamily="18" charset="0"/>
            </a:endParaRPr>
          </a:p>
        </p:txBody>
      </p:sp>
      <p:sp>
        <p:nvSpPr>
          <p:cNvPr id="324612" name="Text Box 4">
            <a:extLst>
              <a:ext uri="{FF2B5EF4-FFF2-40B4-BE49-F238E27FC236}">
                <a16:creationId xmlns:a16="http://schemas.microsoft.com/office/drawing/2014/main" id="{DE5C772C-7F61-4362-B2E1-EAD1B9E30A23}"/>
              </a:ext>
            </a:extLst>
          </p:cNvPr>
          <p:cNvSpPr txBox="1">
            <a:spLocks noChangeArrowheads="1"/>
          </p:cNvSpPr>
          <p:nvPr/>
        </p:nvSpPr>
        <p:spPr bwMode="auto">
          <a:xfrm>
            <a:off x="4572000" y="4267200"/>
            <a:ext cx="230663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400" dirty="0">
                <a:solidFill>
                  <a:srgbClr val="FF0066"/>
                </a:solidFill>
                <a:latin typeface="Times New Roman" panose="02020603050405020304" pitchFamily="18" charset="0"/>
              </a:rPr>
              <a:t>Release of O</a:t>
            </a:r>
            <a:r>
              <a:rPr lang="en-US" altLang="zh-CN" sz="2400" baseline="-25000" dirty="0">
                <a:solidFill>
                  <a:srgbClr val="FF0066"/>
                </a:solidFill>
                <a:latin typeface="Times New Roman" panose="02020603050405020304" pitchFamily="18" charset="0"/>
              </a:rPr>
              <a:t>2 </a:t>
            </a:r>
            <a:r>
              <a:rPr lang="en-US" altLang="zh-CN" sz="2400" dirty="0">
                <a:solidFill>
                  <a:srgbClr val="FF0066"/>
                </a:solidFill>
                <a:latin typeface="Times New Roman" panose="02020603050405020304" pitchFamily="18" charset="0"/>
              </a:rPr>
              <a:t> in</a:t>
            </a:r>
          </a:p>
          <a:p>
            <a:pPr eaLnBrk="1" hangingPunct="1">
              <a:spcBef>
                <a:spcPct val="0"/>
              </a:spcBef>
              <a:buClrTx/>
              <a:buSzTx/>
              <a:buFontTx/>
              <a:buNone/>
            </a:pPr>
            <a:r>
              <a:rPr lang="en-US" altLang="zh-CN" sz="2400" dirty="0">
                <a:solidFill>
                  <a:srgbClr val="FF0066"/>
                </a:solidFill>
                <a:latin typeface="Times New Roman" panose="02020603050405020304" pitchFamily="18" charset="0"/>
              </a:rPr>
              <a:t>peripheral tissues</a:t>
            </a:r>
          </a:p>
        </p:txBody>
      </p:sp>
      <p:sp>
        <p:nvSpPr>
          <p:cNvPr id="324613" name="Text Box 5">
            <a:extLst>
              <a:ext uri="{FF2B5EF4-FFF2-40B4-BE49-F238E27FC236}">
                <a16:creationId xmlns:a16="http://schemas.microsoft.com/office/drawing/2014/main" id="{B3FB72D2-697C-4C31-97E1-50CC3321CFA6}"/>
              </a:ext>
            </a:extLst>
          </p:cNvPr>
          <p:cNvSpPr txBox="1">
            <a:spLocks noChangeArrowheads="1"/>
          </p:cNvSpPr>
          <p:nvPr/>
        </p:nvSpPr>
        <p:spPr bwMode="auto">
          <a:xfrm>
            <a:off x="6019800" y="2514600"/>
            <a:ext cx="3124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000" dirty="0">
                <a:solidFill>
                  <a:srgbClr val="FF0066"/>
                </a:solidFill>
                <a:latin typeface="Times New Roman" panose="02020603050405020304" pitchFamily="18" charset="0"/>
              </a:rPr>
              <a:t>Binding of O2 in lungs with release of H</a:t>
            </a:r>
            <a:r>
              <a:rPr lang="en-US" altLang="zh-CN" sz="2000" baseline="30000" dirty="0">
                <a:solidFill>
                  <a:srgbClr val="FF0066"/>
                </a:solidFill>
                <a:latin typeface="Times New Roman" panose="02020603050405020304" pitchFamily="18" charset="0"/>
              </a:rPr>
              <a:t>+</a:t>
            </a:r>
            <a:r>
              <a:rPr lang="en-US" altLang="zh-CN" sz="2000" dirty="0">
                <a:solidFill>
                  <a:srgbClr val="FF0066"/>
                </a:solidFill>
                <a:latin typeface="Times New Roman" panose="02020603050405020304" pitchFamily="18" charset="0"/>
              </a:rPr>
              <a:t> and CO</a:t>
            </a:r>
            <a:r>
              <a:rPr lang="en-US" altLang="zh-CN" sz="2000" baseline="-25000" dirty="0">
                <a:solidFill>
                  <a:srgbClr val="FF0066"/>
                </a:solidFill>
                <a:latin typeface="Times New Roman" panose="02020603050405020304" pitchFamily="18" charset="0"/>
              </a:rPr>
              <a:t>2</a:t>
            </a:r>
            <a:r>
              <a:rPr lang="en-US" altLang="zh-CN" sz="2000" dirty="0">
                <a:solidFill>
                  <a:srgbClr val="FF0066"/>
                </a:solidFill>
                <a:latin typeface="Times New Roman" panose="02020603050405020304" pitchFamily="18" charset="0"/>
              </a:rPr>
              <a:t>.</a:t>
            </a:r>
          </a:p>
        </p:txBody>
      </p:sp>
      <p:sp>
        <p:nvSpPr>
          <p:cNvPr id="324614" name="Text Box 8">
            <a:extLst>
              <a:ext uri="{FF2B5EF4-FFF2-40B4-BE49-F238E27FC236}">
                <a16:creationId xmlns:a16="http://schemas.microsoft.com/office/drawing/2014/main" id="{69CE9CA5-A943-4EA7-9335-6903CEB2CA34}"/>
              </a:ext>
            </a:extLst>
          </p:cNvPr>
          <p:cNvSpPr txBox="1">
            <a:spLocks noChangeArrowheads="1"/>
          </p:cNvSpPr>
          <p:nvPr/>
        </p:nvSpPr>
        <p:spPr bwMode="auto">
          <a:xfrm flipV="1">
            <a:off x="1187450" y="2205038"/>
            <a:ext cx="549275"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a:t>saturation</a:t>
            </a: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1B806EF-E17C-BE21-0098-8103A97ACAF9}"/>
              </a:ext>
            </a:extLst>
          </p:cNvPr>
          <p:cNvPicPr>
            <a:picLocks noChangeAspect="1"/>
          </p:cNvPicPr>
          <p:nvPr/>
        </p:nvPicPr>
        <p:blipFill>
          <a:blip r:embed="rId3"/>
          <a:stretch>
            <a:fillRect/>
          </a:stretch>
        </p:blipFill>
        <p:spPr>
          <a:xfrm>
            <a:off x="1280371" y="1628800"/>
            <a:ext cx="6583258" cy="2356969"/>
          </a:xfrm>
          <a:prstGeom prst="rect">
            <a:avLst/>
          </a:prstGeom>
        </p:spPr>
      </p:pic>
    </p:spTree>
    <p:extLst>
      <p:ext uri="{BB962C8B-B14F-4D97-AF65-F5344CB8AC3E}">
        <p14:creationId xmlns:p14="http://schemas.microsoft.com/office/powerpoint/2010/main" val="1248250364"/>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CEE4BF4-6672-849D-0C7A-C04A40CCFB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1018" y="259812"/>
            <a:ext cx="5211864" cy="5977500"/>
          </a:xfrm>
          <a:prstGeom prst="rect">
            <a:avLst/>
          </a:prstGeom>
        </p:spPr>
      </p:pic>
      <p:pic>
        <p:nvPicPr>
          <p:cNvPr id="4" name="图片 3">
            <a:extLst>
              <a:ext uri="{FF2B5EF4-FFF2-40B4-BE49-F238E27FC236}">
                <a16:creationId xmlns:a16="http://schemas.microsoft.com/office/drawing/2014/main" id="{22B2CD78-9BCF-925C-453B-36A47D64D960}"/>
              </a:ext>
            </a:extLst>
          </p:cNvPr>
          <p:cNvPicPr>
            <a:picLocks noChangeAspect="1"/>
          </p:cNvPicPr>
          <p:nvPr/>
        </p:nvPicPr>
        <p:blipFill>
          <a:blip r:embed="rId4"/>
          <a:stretch>
            <a:fillRect/>
          </a:stretch>
        </p:blipFill>
        <p:spPr>
          <a:xfrm>
            <a:off x="331118" y="68354"/>
            <a:ext cx="2209991" cy="2716003"/>
          </a:xfrm>
          <a:prstGeom prst="rect">
            <a:avLst/>
          </a:prstGeom>
        </p:spPr>
      </p:pic>
      <p:sp>
        <p:nvSpPr>
          <p:cNvPr id="5" name="文本框 4">
            <a:extLst>
              <a:ext uri="{FF2B5EF4-FFF2-40B4-BE49-F238E27FC236}">
                <a16:creationId xmlns:a16="http://schemas.microsoft.com/office/drawing/2014/main" id="{A823BAC7-6C50-9024-8B89-5813682ED65B}"/>
              </a:ext>
            </a:extLst>
          </p:cNvPr>
          <p:cNvSpPr txBox="1"/>
          <p:nvPr/>
        </p:nvSpPr>
        <p:spPr>
          <a:xfrm>
            <a:off x="575048" y="6420314"/>
            <a:ext cx="8568952" cy="369332"/>
          </a:xfrm>
          <a:prstGeom prst="rect">
            <a:avLst/>
          </a:prstGeom>
          <a:noFill/>
        </p:spPr>
        <p:txBody>
          <a:bodyPr wrap="square">
            <a:spAutoFit/>
          </a:bodyPr>
          <a:lstStyle/>
          <a:p>
            <a:r>
              <a:rPr lang="en-US" altLang="zh-CN" b="1" dirty="0"/>
              <a:t>Effect of 2,3-bisphosphoglycerate on oxygen binding to hemoglobin.</a:t>
            </a:r>
            <a:endParaRPr lang="zh-CN" altLang="en-US" b="1" dirty="0"/>
          </a:p>
        </p:txBody>
      </p:sp>
    </p:spTree>
    <p:extLst>
      <p:ext uri="{BB962C8B-B14F-4D97-AF65-F5344CB8AC3E}">
        <p14:creationId xmlns:p14="http://schemas.microsoft.com/office/powerpoint/2010/main" val="3196255399"/>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5340335-B1F5-5981-3D61-FFB2AE5401A9}"/>
              </a:ext>
            </a:extLst>
          </p:cNvPr>
          <p:cNvPicPr>
            <a:picLocks noChangeAspect="1"/>
          </p:cNvPicPr>
          <p:nvPr/>
        </p:nvPicPr>
        <p:blipFill>
          <a:blip r:embed="rId3"/>
          <a:stretch>
            <a:fillRect/>
          </a:stretch>
        </p:blipFill>
        <p:spPr>
          <a:xfrm>
            <a:off x="280806" y="1730544"/>
            <a:ext cx="3636912" cy="2922592"/>
          </a:xfrm>
          <a:prstGeom prst="rect">
            <a:avLst/>
          </a:prstGeom>
        </p:spPr>
      </p:pic>
      <p:pic>
        <p:nvPicPr>
          <p:cNvPr id="5" name="图片 4">
            <a:extLst>
              <a:ext uri="{FF2B5EF4-FFF2-40B4-BE49-F238E27FC236}">
                <a16:creationId xmlns:a16="http://schemas.microsoft.com/office/drawing/2014/main" id="{943717BD-C716-5C56-0DCE-D8A4F15F64AD}"/>
              </a:ext>
            </a:extLst>
          </p:cNvPr>
          <p:cNvPicPr>
            <a:picLocks noChangeAspect="1"/>
          </p:cNvPicPr>
          <p:nvPr/>
        </p:nvPicPr>
        <p:blipFill>
          <a:blip r:embed="rId4"/>
          <a:stretch>
            <a:fillRect/>
          </a:stretch>
        </p:blipFill>
        <p:spPr>
          <a:xfrm>
            <a:off x="4427984" y="1360979"/>
            <a:ext cx="3748500" cy="3429000"/>
          </a:xfrm>
          <a:prstGeom prst="rect">
            <a:avLst/>
          </a:prstGeom>
        </p:spPr>
      </p:pic>
      <p:sp>
        <p:nvSpPr>
          <p:cNvPr id="9" name="文本框 8">
            <a:extLst>
              <a:ext uri="{FF2B5EF4-FFF2-40B4-BE49-F238E27FC236}">
                <a16:creationId xmlns:a16="http://schemas.microsoft.com/office/drawing/2014/main" id="{4763B6B6-E30F-5EB1-B3FC-7B8413D6CAA9}"/>
              </a:ext>
            </a:extLst>
          </p:cNvPr>
          <p:cNvSpPr txBox="1"/>
          <p:nvPr/>
        </p:nvSpPr>
        <p:spPr>
          <a:xfrm>
            <a:off x="1730234" y="5497021"/>
            <a:ext cx="6658190" cy="646331"/>
          </a:xfrm>
          <a:prstGeom prst="rect">
            <a:avLst/>
          </a:prstGeom>
          <a:noFill/>
        </p:spPr>
        <p:txBody>
          <a:bodyPr wrap="square">
            <a:spAutoFit/>
          </a:bodyPr>
          <a:lstStyle/>
          <a:p>
            <a:r>
              <a:rPr lang="en-US" altLang="zh-CN" sz="1800" b="1" i="0" dirty="0">
                <a:solidFill>
                  <a:srgbClr val="000000"/>
                </a:solidFill>
                <a:effectLst/>
                <a:latin typeface="TimesNewRomanPS-BoldMT"/>
              </a:rPr>
              <a:t>Binding of 2,3-bisphosphoglycerate to deoxyhemoglobin.</a:t>
            </a:r>
            <a:r>
              <a:rPr lang="en-US" altLang="zh-CN" dirty="0"/>
              <a:t> </a:t>
            </a:r>
            <a:br>
              <a:rPr lang="en-US" altLang="zh-CN" dirty="0"/>
            </a:br>
            <a:endParaRPr lang="zh-CN" altLang="en-US" dirty="0"/>
          </a:p>
        </p:txBody>
      </p:sp>
    </p:spTree>
    <p:extLst>
      <p:ext uri="{BB962C8B-B14F-4D97-AF65-F5344CB8AC3E}">
        <p14:creationId xmlns:p14="http://schemas.microsoft.com/office/powerpoint/2010/main" val="2237926401"/>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Text Box 2">
            <a:extLst>
              <a:ext uri="{FF2B5EF4-FFF2-40B4-BE49-F238E27FC236}">
                <a16:creationId xmlns:a16="http://schemas.microsoft.com/office/drawing/2014/main" id="{BFFC3948-DE74-450B-A734-5CE514C971AE}"/>
              </a:ext>
            </a:extLst>
          </p:cNvPr>
          <p:cNvSpPr txBox="1">
            <a:spLocks noChangeArrowheads="1"/>
          </p:cNvSpPr>
          <p:nvPr/>
        </p:nvSpPr>
        <p:spPr bwMode="auto">
          <a:xfrm>
            <a:off x="685800" y="304800"/>
            <a:ext cx="7620000" cy="521811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3.4 </a:t>
            </a:r>
            <a:r>
              <a:rPr lang="en-US" altLang="zh-CN" sz="2800" b="1" dirty="0">
                <a:solidFill>
                  <a:srgbClr val="FF0000"/>
                </a:solidFill>
                <a:latin typeface="Times New Roman" panose="02020603050405020304" pitchFamily="18" charset="0"/>
              </a:rPr>
              <a:t>Cooperativity</a:t>
            </a:r>
            <a:r>
              <a:rPr lang="en-US" altLang="zh-CN" sz="2800" b="1" dirty="0">
                <a:latin typeface="Times New Roman" panose="02020603050405020304" pitchFamily="18" charset="0"/>
              </a:rPr>
              <a:t> is a particular case of an </a:t>
            </a:r>
            <a:r>
              <a:rPr lang="en-US" altLang="zh-CN" sz="2800" b="1" dirty="0">
                <a:solidFill>
                  <a:srgbClr val="FF0000"/>
                </a:solidFill>
                <a:latin typeface="Times New Roman" panose="02020603050405020304" pitchFamily="18" charset="0"/>
              </a:rPr>
              <a:t>allosteric effect</a:t>
            </a:r>
          </a:p>
          <a:p>
            <a:pPr eaLnBrk="1" hangingPunct="1">
              <a:spcBef>
                <a:spcPct val="50000"/>
              </a:spcBef>
              <a:buClrTx/>
              <a:buSzTx/>
              <a:buFontTx/>
              <a:buNone/>
            </a:pPr>
            <a:r>
              <a:rPr lang="en-US" altLang="zh-CN" sz="2800" b="1" dirty="0">
                <a:latin typeface="Times New Roman" panose="02020603050405020304" pitchFamily="18" charset="0"/>
              </a:rPr>
              <a:t>	3.4.1 </a:t>
            </a:r>
            <a:r>
              <a:rPr lang="en-US" altLang="zh-CN" sz="2800" b="1" dirty="0">
                <a:solidFill>
                  <a:srgbClr val="FF0000"/>
                </a:solidFill>
                <a:latin typeface="Times New Roman" panose="02020603050405020304" pitchFamily="18" charset="0"/>
              </a:rPr>
              <a:t>Allosteric effect </a:t>
            </a:r>
            <a:r>
              <a:rPr lang="en-US" altLang="zh-CN" sz="2800" b="1" dirty="0">
                <a:latin typeface="Times New Roman" panose="02020603050405020304" pitchFamily="18" charset="0"/>
              </a:rPr>
              <a:t>refers to the phenomenon in which a molecule (allosteric effector) bound to one site on a protein causes a conformational change in the protein such that the activity of another site on the protein is altered (increased or decreased).</a:t>
            </a:r>
          </a:p>
          <a:p>
            <a:pPr eaLnBrk="1" hangingPunct="1">
              <a:spcBef>
                <a:spcPct val="50000"/>
              </a:spcBef>
              <a:buClrTx/>
              <a:buSzTx/>
              <a:buFontTx/>
              <a:buNone/>
            </a:pPr>
            <a:r>
              <a:rPr lang="en-US" altLang="zh-CN" sz="2800" b="1" dirty="0">
                <a:latin typeface="Times New Roman" panose="02020603050405020304" pitchFamily="18" charset="0"/>
              </a:rPr>
              <a:t>	3.4.2 H</a:t>
            </a:r>
            <a:r>
              <a:rPr lang="en-US" altLang="zh-CN" sz="2800" b="1" baseline="30000" dirty="0">
                <a:latin typeface="Times New Roman" panose="02020603050405020304" pitchFamily="18" charset="0"/>
              </a:rPr>
              <a:t>+</a:t>
            </a:r>
            <a:r>
              <a:rPr lang="en-US" altLang="zh-CN" sz="2800" b="1" dirty="0">
                <a:latin typeface="Times New Roman" panose="02020603050405020304" pitchFamily="18" charset="0"/>
              </a:rPr>
              <a:t>, CO</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 and BPG all show an allosteric effect for the O</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 binding process of hemoglobin.</a:t>
            </a: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Text Box 2">
            <a:extLst>
              <a:ext uri="{FF2B5EF4-FFF2-40B4-BE49-F238E27FC236}">
                <a16:creationId xmlns:a16="http://schemas.microsoft.com/office/drawing/2014/main" id="{B04CEA4D-F0BB-4BB9-99FF-18C52D23F18E}"/>
              </a:ext>
            </a:extLst>
          </p:cNvPr>
          <p:cNvSpPr txBox="1">
            <a:spLocks noChangeArrowheads="1"/>
          </p:cNvSpPr>
          <p:nvPr/>
        </p:nvSpPr>
        <p:spPr bwMode="auto">
          <a:xfrm>
            <a:off x="838200" y="762000"/>
            <a:ext cx="7620000" cy="36830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40000"/>
              </a:lnSpc>
              <a:spcBef>
                <a:spcPct val="50000"/>
              </a:spcBef>
              <a:buClrTx/>
              <a:buSzTx/>
              <a:buFontTx/>
              <a:buNone/>
            </a:pPr>
            <a:r>
              <a:rPr lang="en-US" altLang="zh-CN" sz="2800" b="1" dirty="0">
                <a:latin typeface="Times New Roman" panose="02020603050405020304" pitchFamily="18" charset="0"/>
              </a:rPr>
              <a:t>3.5 The functional characteristics of an allosteric protein are regulated by specific molecules in its environment. In other words, </a:t>
            </a:r>
            <a:r>
              <a:rPr lang="en-US" altLang="zh-CN" sz="2800" b="1" dirty="0">
                <a:solidFill>
                  <a:srgbClr val="FF0066"/>
                </a:solidFill>
                <a:latin typeface="Times New Roman" panose="02020603050405020304" pitchFamily="18" charset="0"/>
              </a:rPr>
              <a:t>in the evolutionary transition from myoglobin to hemoglobin, a macromolecule capable of perceiving information from its environment has emerged</a:t>
            </a:r>
            <a:r>
              <a:rPr lang="en-US" altLang="zh-CN" sz="2800" b="1" dirty="0">
                <a:latin typeface="Times New Roman" panose="02020603050405020304" pitchFamily="18" charset="0"/>
              </a:rPr>
              <a:t>.</a:t>
            </a:r>
            <a:endParaRPr lang="en-US" altLang="zh-CN" sz="2400" dirty="0">
              <a:latin typeface="Times New Roman" panose="02020603050405020304" pitchFamily="18" charset="0"/>
            </a:endParaRP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Text Box 2">
            <a:extLst>
              <a:ext uri="{FF2B5EF4-FFF2-40B4-BE49-F238E27FC236}">
                <a16:creationId xmlns:a16="http://schemas.microsoft.com/office/drawing/2014/main" id="{CE5B7ACD-3F0D-4056-826C-E4E096E6247E}"/>
              </a:ext>
            </a:extLst>
          </p:cNvPr>
          <p:cNvSpPr txBox="1">
            <a:spLocks noChangeArrowheads="1"/>
          </p:cNvSpPr>
          <p:nvPr/>
        </p:nvSpPr>
        <p:spPr bwMode="auto">
          <a:xfrm>
            <a:off x="304800" y="508000"/>
            <a:ext cx="8534400" cy="544988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40000"/>
              </a:lnSpc>
              <a:spcBef>
                <a:spcPct val="30000"/>
              </a:spcBef>
              <a:buClrTx/>
              <a:buSzTx/>
              <a:buFontTx/>
              <a:buNone/>
            </a:pPr>
            <a:r>
              <a:rPr lang="en-US" altLang="zh-CN" sz="2600" b="1" dirty="0">
                <a:latin typeface="Times New Roman" panose="02020603050405020304" pitchFamily="18" charset="0"/>
              </a:rPr>
              <a:t>3.6 </a:t>
            </a:r>
            <a:r>
              <a:rPr lang="en-US" altLang="zh-CN" sz="2600" b="1" dirty="0">
                <a:solidFill>
                  <a:srgbClr val="FF0000"/>
                </a:solidFill>
                <a:latin typeface="Times New Roman" panose="02020603050405020304" pitchFamily="18" charset="0"/>
              </a:rPr>
              <a:t>Sickle-cell anemia </a:t>
            </a:r>
            <a:r>
              <a:rPr lang="en-US" altLang="zh-CN" sz="2600" b="1" dirty="0">
                <a:latin typeface="Times New Roman" panose="02020603050405020304" pitchFamily="18" charset="0"/>
              </a:rPr>
              <a:t>was found to be caused by a single amino acid change in the </a:t>
            </a:r>
            <a:r>
              <a:rPr lang="en-US" altLang="zh-CN" sz="2600" b="1" dirty="0">
                <a:latin typeface="Symbol" panose="05050102010706020507" pitchFamily="18" charset="2"/>
              </a:rPr>
              <a:t>b</a:t>
            </a:r>
            <a:r>
              <a:rPr lang="en-US" altLang="zh-CN" sz="2600" b="1" dirty="0">
                <a:latin typeface="Times New Roman" panose="02020603050405020304" pitchFamily="18" charset="0"/>
              </a:rPr>
              <a:t> chain of hemoglobin molecules.</a:t>
            </a:r>
          </a:p>
          <a:p>
            <a:pPr eaLnBrk="1" hangingPunct="1">
              <a:lnSpc>
                <a:spcPct val="140000"/>
              </a:lnSpc>
              <a:spcBef>
                <a:spcPct val="30000"/>
              </a:spcBef>
              <a:buClrTx/>
              <a:buSzTx/>
              <a:buFontTx/>
              <a:buNone/>
            </a:pPr>
            <a:r>
              <a:rPr lang="en-US" altLang="zh-CN" sz="2600" b="1" dirty="0">
                <a:latin typeface="Times New Roman" panose="02020603050405020304" pitchFamily="18" charset="0"/>
              </a:rPr>
              <a:t>	3.6.1 The hemoglobin molecule from sickle-cell anemia patients (</a:t>
            </a:r>
            <a:r>
              <a:rPr lang="en-US" altLang="zh-CN" sz="2600" b="1" dirty="0" err="1">
                <a:latin typeface="Times New Roman" panose="02020603050405020304" pitchFamily="18" charset="0"/>
              </a:rPr>
              <a:t>HbS</a:t>
            </a:r>
            <a:r>
              <a:rPr lang="en-US" altLang="zh-CN" sz="2600" b="1" dirty="0">
                <a:latin typeface="Times New Roman" panose="02020603050405020304" pitchFamily="18" charset="0"/>
              </a:rPr>
              <a:t>) was found to have a higher </a:t>
            </a:r>
            <a:r>
              <a:rPr lang="en-US" altLang="zh-CN" sz="2600" b="1" dirty="0" err="1">
                <a:latin typeface="Times New Roman" panose="02020603050405020304" pitchFamily="18" charset="0"/>
              </a:rPr>
              <a:t>pI</a:t>
            </a:r>
            <a:r>
              <a:rPr lang="en-US" altLang="zh-CN" sz="2600" b="1" dirty="0">
                <a:latin typeface="Times New Roman" panose="02020603050405020304" pitchFamily="18" charset="0"/>
              </a:rPr>
              <a:t> value (having more net positive charges).</a:t>
            </a:r>
          </a:p>
          <a:p>
            <a:pPr eaLnBrk="1" hangingPunct="1">
              <a:lnSpc>
                <a:spcPct val="140000"/>
              </a:lnSpc>
              <a:spcBef>
                <a:spcPct val="30000"/>
              </a:spcBef>
              <a:buClrTx/>
              <a:buSzTx/>
              <a:buFontTx/>
              <a:buNone/>
            </a:pPr>
            <a:r>
              <a:rPr lang="en-US" altLang="zh-CN" sz="2600" b="1" dirty="0">
                <a:latin typeface="Times New Roman" panose="02020603050405020304" pitchFamily="18" charset="0"/>
              </a:rPr>
              <a:t>           3.6.2 Amino acid sequencing revealed that </a:t>
            </a:r>
            <a:r>
              <a:rPr lang="en-US" altLang="zh-CN" sz="2600" b="1" dirty="0" err="1">
                <a:latin typeface="Times New Roman" panose="02020603050405020304" pitchFamily="18" charset="0"/>
              </a:rPr>
              <a:t>HbS</a:t>
            </a:r>
            <a:r>
              <a:rPr lang="en-US" altLang="zh-CN" sz="2600" b="1" dirty="0">
                <a:latin typeface="Times New Roman" panose="02020603050405020304" pitchFamily="18" charset="0"/>
              </a:rPr>
              <a:t> contains </a:t>
            </a:r>
            <a:r>
              <a:rPr lang="en-US" altLang="zh-CN" sz="2600" b="1" dirty="0">
                <a:solidFill>
                  <a:srgbClr val="FF0000"/>
                </a:solidFill>
                <a:latin typeface="Times New Roman" panose="02020603050405020304" pitchFamily="18" charset="0"/>
              </a:rPr>
              <a:t>Val instead of Glu at position 6 of the </a:t>
            </a:r>
            <a:r>
              <a:rPr lang="en-US" altLang="zh-CN" sz="2600" b="1" dirty="0">
                <a:solidFill>
                  <a:srgbClr val="FF0000"/>
                </a:solidFill>
                <a:latin typeface="Symbol" panose="05050102010706020507" pitchFamily="18" charset="2"/>
              </a:rPr>
              <a:t>b</a:t>
            </a:r>
            <a:r>
              <a:rPr lang="en-US" altLang="zh-CN" sz="2600" b="1" dirty="0">
                <a:solidFill>
                  <a:srgbClr val="FF0000"/>
                </a:solidFill>
                <a:latin typeface="Times New Roman" panose="02020603050405020304" pitchFamily="18" charset="0"/>
              </a:rPr>
              <a:t> chain</a:t>
            </a:r>
            <a:r>
              <a:rPr lang="en-US" altLang="zh-CN" sz="2600" b="1" dirty="0">
                <a:latin typeface="Times New Roman" panose="02020603050405020304" pitchFamily="18" charset="0"/>
              </a:rPr>
              <a:t>!   </a:t>
            </a:r>
          </a:p>
          <a:p>
            <a:pPr eaLnBrk="1" hangingPunct="1">
              <a:lnSpc>
                <a:spcPct val="140000"/>
              </a:lnSpc>
              <a:spcBef>
                <a:spcPct val="30000"/>
              </a:spcBef>
              <a:buClrTx/>
              <a:buSzTx/>
              <a:buFontTx/>
              <a:buNone/>
            </a:pPr>
            <a:r>
              <a:rPr lang="en-US" altLang="zh-CN" sz="2600" b="1" dirty="0">
                <a:latin typeface="Times New Roman" panose="02020603050405020304" pitchFamily="18" charset="0"/>
              </a:rPr>
              <a:t>           3.6.3 DNA sequencing of the genes further revealed that </a:t>
            </a:r>
            <a:r>
              <a:rPr lang="en-US" altLang="zh-CN" sz="2600" b="1" dirty="0">
                <a:solidFill>
                  <a:srgbClr val="FF0000"/>
                </a:solidFill>
                <a:latin typeface="Times New Roman" panose="02020603050405020304" pitchFamily="18" charset="0"/>
              </a:rPr>
              <a:t>the codon of </a:t>
            </a:r>
            <a:r>
              <a:rPr lang="en-US" altLang="zh-CN" sz="2600" b="1" dirty="0">
                <a:solidFill>
                  <a:srgbClr val="FF0000"/>
                </a:solidFill>
                <a:latin typeface="Symbol" panose="05050102010706020507" pitchFamily="18" charset="2"/>
              </a:rPr>
              <a:t>b6 </a:t>
            </a:r>
            <a:r>
              <a:rPr lang="en-US" altLang="zh-CN" sz="2600" b="1" dirty="0">
                <a:solidFill>
                  <a:srgbClr val="FF0000"/>
                </a:solidFill>
                <a:latin typeface="Times New Roman" panose="02020603050405020304" pitchFamily="18" charset="0"/>
              </a:rPr>
              <a:t>changed </a:t>
            </a:r>
            <a:r>
              <a:rPr lang="en-US" altLang="zh-CN" sz="2600" b="1" dirty="0">
                <a:latin typeface="Times New Roman" panose="02020603050405020304" pitchFamily="18" charset="0"/>
              </a:rPr>
              <a:t>from </a:t>
            </a:r>
            <a:r>
              <a:rPr kumimoji="0" lang="en-US" altLang="zh-CN" sz="2600" b="1" dirty="0">
                <a:latin typeface="Times New Roman" panose="02020603050405020304" pitchFamily="18" charset="0"/>
              </a:rPr>
              <a:t>G</a:t>
            </a:r>
            <a:r>
              <a:rPr kumimoji="0" lang="en-US" altLang="zh-CN" sz="2600" b="1" dirty="0">
                <a:solidFill>
                  <a:srgbClr val="FF0066"/>
                </a:solidFill>
                <a:latin typeface="Times New Roman" panose="02020603050405020304" pitchFamily="18" charset="0"/>
              </a:rPr>
              <a:t>A</a:t>
            </a:r>
            <a:r>
              <a:rPr kumimoji="0" lang="en-US" altLang="zh-CN" sz="2600" b="1" dirty="0">
                <a:latin typeface="Times New Roman" panose="02020603050405020304" pitchFamily="18" charset="0"/>
              </a:rPr>
              <a:t>A(Glu) to G</a:t>
            </a:r>
            <a:r>
              <a:rPr kumimoji="0" lang="en-US" altLang="zh-CN" sz="2600" b="1" dirty="0">
                <a:solidFill>
                  <a:srgbClr val="FF0066"/>
                </a:solidFill>
                <a:latin typeface="Times New Roman" panose="02020603050405020304" pitchFamily="18" charset="0"/>
              </a:rPr>
              <a:t>T</a:t>
            </a:r>
            <a:r>
              <a:rPr kumimoji="0" lang="en-US" altLang="zh-CN" sz="2600" b="1" dirty="0">
                <a:latin typeface="Times New Roman" panose="02020603050405020304" pitchFamily="18" charset="0"/>
              </a:rPr>
              <a:t>A(Val)</a:t>
            </a:r>
            <a:r>
              <a:rPr lang="en-US" altLang="zh-CN" sz="2600" b="1" dirty="0">
                <a:latin typeface="Symbol" panose="05050102010706020507" pitchFamily="18" charset="2"/>
              </a:rPr>
              <a:t>.</a:t>
            </a:r>
            <a:endParaRPr lang="en-US" altLang="zh-CN" sz="2600" b="1" dirty="0">
              <a:latin typeface="Times New Roman" panose="02020603050405020304" pitchFamily="18" charset="0"/>
            </a:endParaRP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Text Box 2">
            <a:extLst>
              <a:ext uri="{FF2B5EF4-FFF2-40B4-BE49-F238E27FC236}">
                <a16:creationId xmlns:a16="http://schemas.microsoft.com/office/drawing/2014/main" id="{B2B86A5F-B817-424D-BAE5-34CC0819F96D}"/>
              </a:ext>
            </a:extLst>
          </p:cNvPr>
          <p:cNvSpPr txBox="1">
            <a:spLocks noChangeArrowheads="1"/>
          </p:cNvSpPr>
          <p:nvPr/>
        </p:nvSpPr>
        <p:spPr bwMode="auto">
          <a:xfrm>
            <a:off x="533400" y="381000"/>
            <a:ext cx="8153400" cy="59261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40000"/>
              </a:lnSpc>
              <a:spcBef>
                <a:spcPct val="30000"/>
              </a:spcBef>
              <a:buClrTx/>
              <a:buSzTx/>
              <a:buFontTx/>
              <a:buNone/>
            </a:pPr>
            <a:r>
              <a:rPr lang="zh-CN" altLang="en-US" sz="2600" b="1" dirty="0">
                <a:latin typeface="Times New Roman" panose="02020603050405020304" pitchFamily="18" charset="0"/>
              </a:rPr>
              <a:t>   </a:t>
            </a:r>
          </a:p>
          <a:p>
            <a:pPr eaLnBrk="1" hangingPunct="1">
              <a:lnSpc>
                <a:spcPct val="140000"/>
              </a:lnSpc>
              <a:spcBef>
                <a:spcPct val="30000"/>
              </a:spcBef>
              <a:buClrTx/>
              <a:buSzTx/>
              <a:buFontTx/>
              <a:buNone/>
            </a:pPr>
            <a:r>
              <a:rPr lang="zh-CN" altLang="en-US" sz="2600" b="1" dirty="0">
                <a:latin typeface="Times New Roman" panose="02020603050405020304" pitchFamily="18" charset="0"/>
              </a:rPr>
              <a:t>	</a:t>
            </a:r>
            <a:r>
              <a:rPr lang="en-US" altLang="zh-CN" sz="2600" b="1" dirty="0">
                <a:latin typeface="Times New Roman" panose="02020603050405020304" pitchFamily="18" charset="0"/>
              </a:rPr>
              <a:t>3.6.4 The oxygen binding affinity and allosteric properties of hemoglobin </a:t>
            </a:r>
            <a:r>
              <a:rPr lang="en-US" altLang="zh-CN" sz="2600" b="1" dirty="0">
                <a:solidFill>
                  <a:srgbClr val="FF0000"/>
                </a:solidFill>
                <a:latin typeface="Times New Roman" panose="02020603050405020304" pitchFamily="18" charset="0"/>
              </a:rPr>
              <a:t>are virtually unaffected by this change </a:t>
            </a:r>
            <a:r>
              <a:rPr lang="en-US" altLang="zh-CN" sz="2600" b="1" dirty="0">
                <a:latin typeface="Times New Roman" panose="02020603050405020304" pitchFamily="18" charset="0"/>
              </a:rPr>
              <a:t>(the </a:t>
            </a:r>
            <a:r>
              <a:rPr lang="en-US" altLang="zh-CN" sz="2600" b="1" dirty="0">
                <a:latin typeface="Symbol" panose="05050102010706020507" pitchFamily="18" charset="2"/>
              </a:rPr>
              <a:t>b</a:t>
            </a:r>
            <a:r>
              <a:rPr lang="en-US" altLang="zh-CN" sz="2600" b="1" dirty="0">
                <a:latin typeface="Times New Roman" panose="02020603050405020304" pitchFamily="18" charset="0"/>
              </a:rPr>
              <a:t>6 is located at the surface of the protein).</a:t>
            </a:r>
          </a:p>
          <a:p>
            <a:pPr eaLnBrk="1" hangingPunct="1">
              <a:lnSpc>
                <a:spcPct val="140000"/>
              </a:lnSpc>
              <a:spcBef>
                <a:spcPct val="30000"/>
              </a:spcBef>
              <a:buClrTx/>
              <a:buSzTx/>
              <a:buFontTx/>
              <a:buNone/>
            </a:pPr>
            <a:r>
              <a:rPr lang="en-US" altLang="zh-CN" sz="2600" b="1" dirty="0">
                <a:latin typeface="Times New Roman" panose="02020603050405020304" pitchFamily="18" charset="0"/>
              </a:rPr>
              <a:t>          3.6.5 Presence of Val 6 on the </a:t>
            </a:r>
            <a:r>
              <a:rPr lang="en-US" altLang="zh-CN" sz="2600" b="1" dirty="0">
                <a:latin typeface="Symbol" panose="05050102010706020507" pitchFamily="18" charset="2"/>
              </a:rPr>
              <a:t>b</a:t>
            </a:r>
            <a:r>
              <a:rPr lang="en-US" altLang="zh-CN" sz="2600" b="1" dirty="0">
                <a:latin typeface="Times New Roman" panose="02020603050405020304" pitchFamily="18" charset="0"/>
              </a:rPr>
              <a:t> subunits generates </a:t>
            </a:r>
            <a:r>
              <a:rPr lang="en-US" altLang="zh-CN" sz="2600" b="1" dirty="0">
                <a:solidFill>
                  <a:srgbClr val="FF0000"/>
                </a:solidFill>
                <a:latin typeface="Times New Roman" panose="02020603050405020304" pitchFamily="18" charset="0"/>
              </a:rPr>
              <a:t>a hydrophobic patch </a:t>
            </a:r>
            <a:r>
              <a:rPr lang="en-US" altLang="zh-CN" sz="2600" b="1" dirty="0">
                <a:latin typeface="Times New Roman" panose="02020603050405020304" pitchFamily="18" charset="0"/>
              </a:rPr>
              <a:t>on the surface which complements with another hydrophobic patch formed only in deoxygenated </a:t>
            </a:r>
            <a:r>
              <a:rPr lang="en-US" altLang="zh-CN" sz="2600" b="1" dirty="0" err="1">
                <a:latin typeface="Times New Roman" panose="02020603050405020304" pitchFamily="18" charset="0"/>
              </a:rPr>
              <a:t>HbS</a:t>
            </a:r>
            <a:r>
              <a:rPr lang="en-US" altLang="zh-CN" sz="2600" b="1" dirty="0">
                <a:latin typeface="Times New Roman" panose="02020603050405020304" pitchFamily="18" charset="0"/>
              </a:rPr>
              <a:t>, thus generating the </a:t>
            </a:r>
            <a:r>
              <a:rPr lang="en-US" altLang="zh-CN" sz="2600" b="1" dirty="0">
                <a:solidFill>
                  <a:srgbClr val="FF0000"/>
                </a:solidFill>
                <a:latin typeface="Times New Roman" panose="02020603050405020304" pitchFamily="18" charset="0"/>
              </a:rPr>
              <a:t>fiber aggregates </a:t>
            </a:r>
            <a:r>
              <a:rPr lang="en-US" altLang="zh-CN" sz="2600" b="1" dirty="0">
                <a:latin typeface="Times New Roman" panose="02020603050405020304" pitchFamily="18" charset="0"/>
              </a:rPr>
              <a:t>(a polymer of </a:t>
            </a:r>
            <a:r>
              <a:rPr lang="en-US" altLang="zh-CN" sz="2600" b="1" dirty="0" err="1">
                <a:latin typeface="Times New Roman" panose="02020603050405020304" pitchFamily="18" charset="0"/>
              </a:rPr>
              <a:t>HbS</a:t>
            </a:r>
            <a:r>
              <a:rPr lang="en-US" altLang="zh-CN" sz="2600" b="1" dirty="0">
                <a:latin typeface="Times New Roman" panose="02020603050405020304" pitchFamily="18" charset="0"/>
              </a:rPr>
              <a:t>).</a:t>
            </a:r>
          </a:p>
          <a:p>
            <a:pPr eaLnBrk="1" hangingPunct="1">
              <a:spcBef>
                <a:spcPct val="50000"/>
              </a:spcBef>
              <a:buClrTx/>
              <a:buSzTx/>
              <a:buFontTx/>
              <a:buNone/>
            </a:pPr>
            <a:endParaRPr kumimoji="0" lang="en-US" altLang="zh-CN" sz="2600" dirty="0">
              <a:latin typeface="Times New Roman" panose="02020603050405020304" pitchFamily="18" charset="0"/>
            </a:endParaRP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9E304E7-E677-FEA7-91C3-ACFC5BB39AD9}"/>
              </a:ext>
            </a:extLst>
          </p:cNvPr>
          <p:cNvPicPr>
            <a:picLocks noChangeAspect="1"/>
          </p:cNvPicPr>
          <p:nvPr/>
        </p:nvPicPr>
        <p:blipFill>
          <a:blip r:embed="rId3"/>
          <a:stretch>
            <a:fillRect/>
          </a:stretch>
        </p:blipFill>
        <p:spPr>
          <a:xfrm>
            <a:off x="2757058" y="0"/>
            <a:ext cx="3629884" cy="6858000"/>
          </a:xfrm>
          <a:prstGeom prst="rect">
            <a:avLst/>
          </a:prstGeom>
        </p:spPr>
      </p:pic>
    </p:spTree>
    <p:extLst>
      <p:ext uri="{BB962C8B-B14F-4D97-AF65-F5344CB8AC3E}">
        <p14:creationId xmlns:p14="http://schemas.microsoft.com/office/powerpoint/2010/main" val="2377570059"/>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3D3932B-7B8A-4167-8419-6D02B53545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1960" y="359037"/>
            <a:ext cx="3571875" cy="5715000"/>
          </a:xfrm>
          <a:prstGeom prst="rect">
            <a:avLst/>
          </a:prstGeom>
        </p:spPr>
      </p:pic>
      <p:pic>
        <p:nvPicPr>
          <p:cNvPr id="4" name="Picture 2">
            <a:extLst>
              <a:ext uri="{FF2B5EF4-FFF2-40B4-BE49-F238E27FC236}">
                <a16:creationId xmlns:a16="http://schemas.microsoft.com/office/drawing/2014/main" id="{0B36FD4F-5920-4F42-A492-11D19BA392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332656"/>
            <a:ext cx="3182963" cy="228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a:extLst>
              <a:ext uri="{FF2B5EF4-FFF2-40B4-BE49-F238E27FC236}">
                <a16:creationId xmlns:a16="http://schemas.microsoft.com/office/drawing/2014/main" id="{53C10E86-2B64-484A-B84A-97906B17CB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627" y="2852936"/>
            <a:ext cx="3056943" cy="216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FB50C458-62DF-4033-8905-FCFA96DCE37D}"/>
              </a:ext>
            </a:extLst>
          </p:cNvPr>
          <p:cNvPicPr>
            <a:picLocks noChangeAspect="1"/>
          </p:cNvPicPr>
          <p:nvPr/>
        </p:nvPicPr>
        <p:blipFill rotWithShape="1">
          <a:blip r:embed="rId6"/>
          <a:srcRect l="1963" t="12200" r="76775" b="45800"/>
          <a:stretch/>
        </p:blipFill>
        <p:spPr>
          <a:xfrm>
            <a:off x="7949244" y="5877272"/>
            <a:ext cx="792088" cy="880098"/>
          </a:xfrm>
          <a:prstGeom prst="rect">
            <a:avLst/>
          </a:prstGeom>
        </p:spPr>
      </p:pic>
      <p:sp>
        <p:nvSpPr>
          <p:cNvPr id="7" name="文本框 6">
            <a:extLst>
              <a:ext uri="{FF2B5EF4-FFF2-40B4-BE49-F238E27FC236}">
                <a16:creationId xmlns:a16="http://schemas.microsoft.com/office/drawing/2014/main" id="{4F44F0B5-CDB5-4CAB-8395-99201CD50182}"/>
              </a:ext>
            </a:extLst>
          </p:cNvPr>
          <p:cNvSpPr txBox="1"/>
          <p:nvPr/>
        </p:nvSpPr>
        <p:spPr>
          <a:xfrm>
            <a:off x="7510065" y="6360463"/>
            <a:ext cx="547539" cy="276999"/>
          </a:xfrm>
          <a:prstGeom prst="rect">
            <a:avLst/>
          </a:prstGeom>
          <a:noFill/>
        </p:spPr>
        <p:txBody>
          <a:bodyPr wrap="square" rtlCol="0">
            <a:spAutoFit/>
          </a:bodyPr>
          <a:lstStyle/>
          <a:p>
            <a:r>
              <a:rPr lang="en-US" altLang="zh-CN" sz="1200" dirty="0"/>
              <a:t>from</a:t>
            </a:r>
            <a:endParaRPr lang="zh-CN" altLang="en-US" sz="1200" dirty="0"/>
          </a:p>
        </p:txBody>
      </p:sp>
    </p:spTree>
    <p:extLst>
      <p:ext uri="{BB962C8B-B14F-4D97-AF65-F5344CB8AC3E}">
        <p14:creationId xmlns:p14="http://schemas.microsoft.com/office/powerpoint/2010/main" val="1186602185"/>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a:extLst>
              <a:ext uri="{FF2B5EF4-FFF2-40B4-BE49-F238E27FC236}">
                <a16:creationId xmlns:a16="http://schemas.microsoft.com/office/drawing/2014/main" id="{80FDE23C-63AE-4446-A213-B3523FB7B7C7}"/>
              </a:ext>
            </a:extLst>
          </p:cNvPr>
          <p:cNvSpPr>
            <a:spLocks noGrp="1" noChangeArrowheads="1"/>
          </p:cNvSpPr>
          <p:nvPr>
            <p:ph type="title"/>
          </p:nvPr>
        </p:nvSpPr>
        <p:spPr/>
        <p:txBody>
          <a:bodyPr/>
          <a:lstStyle/>
          <a:p>
            <a:pPr eaLnBrk="1" hangingPunct="1"/>
            <a:r>
              <a:rPr lang="en-US" altLang="zh-CN" dirty="0"/>
              <a:t>B5 Collagen </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胶原蛋白）</a:t>
            </a:r>
          </a:p>
        </p:txBody>
      </p:sp>
      <p:sp>
        <p:nvSpPr>
          <p:cNvPr id="336899" name="Rectangle 3">
            <a:extLst>
              <a:ext uri="{FF2B5EF4-FFF2-40B4-BE49-F238E27FC236}">
                <a16:creationId xmlns:a16="http://schemas.microsoft.com/office/drawing/2014/main" id="{611D0CD8-1AD8-40E6-A04D-EC3D37598A13}"/>
              </a:ext>
            </a:extLst>
          </p:cNvPr>
          <p:cNvSpPr>
            <a:spLocks noGrp="1" noChangeArrowheads="1"/>
          </p:cNvSpPr>
          <p:nvPr>
            <p:ph type="body" idx="1"/>
          </p:nvPr>
        </p:nvSpPr>
        <p:spPr>
          <a:xfrm>
            <a:off x="611188" y="2017713"/>
            <a:ext cx="8343900" cy="4506912"/>
          </a:xfrm>
        </p:spPr>
        <p:txBody>
          <a:bodyPr/>
          <a:lstStyle/>
          <a:p>
            <a:pPr lvl="1" eaLnBrk="1" hangingPunct="1"/>
            <a:r>
              <a:rPr kumimoji="0" lang="en-US" altLang="zh-CN" sz="3200"/>
              <a:t>Fibrous proteins have polypeptide chains arranged in long strands or sheets.</a:t>
            </a:r>
          </a:p>
          <a:p>
            <a:pPr lvl="1" eaLnBrk="1" hangingPunct="1"/>
            <a:r>
              <a:rPr kumimoji="0" lang="en-US" altLang="zh-CN" sz="3200"/>
              <a:t>Globular proteins have polypeptide chains folded into a spherical or globular shape.</a:t>
            </a:r>
          </a:p>
          <a:p>
            <a:pPr lvl="1" eaLnBrk="1" hangingPunct="1"/>
            <a:r>
              <a:rPr lang="en-US" altLang="zh-CN" sz="3200"/>
              <a:t>Collegen is the name given to a family of structurally related proteins that form strong insoluble fibers.</a:t>
            </a:r>
            <a:endParaRPr lang="en-US" altLang="zh-CN"/>
          </a:p>
          <a:p>
            <a:pPr eaLnBrk="1" hangingPunct="1"/>
            <a:endParaRPr lang="en-US" altLang="zh-CN"/>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Text Box 2">
            <a:extLst>
              <a:ext uri="{FF2B5EF4-FFF2-40B4-BE49-F238E27FC236}">
                <a16:creationId xmlns:a16="http://schemas.microsoft.com/office/drawing/2014/main" id="{3930A5ED-5CCC-4064-87A4-7FCFA6E18C33}"/>
              </a:ext>
            </a:extLst>
          </p:cNvPr>
          <p:cNvSpPr txBox="1">
            <a:spLocks noChangeArrowheads="1"/>
          </p:cNvSpPr>
          <p:nvPr/>
        </p:nvSpPr>
        <p:spPr bwMode="auto">
          <a:xfrm>
            <a:off x="827088" y="1697038"/>
            <a:ext cx="7921625"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30000"/>
              </a:lnSpc>
              <a:spcBef>
                <a:spcPct val="50000"/>
              </a:spcBef>
              <a:buClrTx/>
              <a:buSzTx/>
              <a:buFontTx/>
              <a:buNone/>
            </a:pPr>
            <a:r>
              <a:rPr lang="zh-CN" altLang="en-US" dirty="0"/>
              <a:t>    </a:t>
            </a:r>
            <a:r>
              <a:rPr lang="en-US" altLang="zh-CN" dirty="0"/>
              <a:t>Collagen is the most abundant protein in mammals and is present in most organs of the body, where it serves to hold cells together in discrete units. It is also the major fibrous element of skin, bones, tendons</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腱）</a:t>
            </a:r>
            <a:r>
              <a:rPr lang="en-US" altLang="zh-CN" dirty="0"/>
              <a:t>, cartilage </a:t>
            </a:r>
            <a:r>
              <a:rPr lang="zh-CN" altLang="en-US" dirty="0">
                <a:ea typeface="华文中宋" panose="02010600040101010101" pitchFamily="2" charset="-122"/>
              </a:rPr>
              <a:t>（软骨）</a:t>
            </a:r>
            <a:r>
              <a:rPr lang="en-US" altLang="zh-CN" dirty="0"/>
              <a:t>, blood vessels and teeth.</a:t>
            </a: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8946" name="Picture 2">
            <a:extLst>
              <a:ext uri="{FF2B5EF4-FFF2-40B4-BE49-F238E27FC236}">
                <a16:creationId xmlns:a16="http://schemas.microsoft.com/office/drawing/2014/main" id="{7CC9772A-E42E-4ABE-B50F-34F409133F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3580"/>
          <a:stretch>
            <a:fillRect/>
          </a:stretch>
        </p:blipFill>
        <p:spPr bwMode="auto">
          <a:xfrm>
            <a:off x="1763713" y="404813"/>
            <a:ext cx="4316412" cy="623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947" name="Picture 3">
            <a:extLst>
              <a:ext uri="{FF2B5EF4-FFF2-40B4-BE49-F238E27FC236}">
                <a16:creationId xmlns:a16="http://schemas.microsoft.com/office/drawing/2014/main" id="{18C07619-5F5D-48E5-A7F5-C8B3EFDFCA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9628" t="14247" r="7552" b="16377"/>
          <a:stretch>
            <a:fillRect/>
          </a:stretch>
        </p:blipFill>
        <p:spPr bwMode="auto">
          <a:xfrm>
            <a:off x="6156325" y="404813"/>
            <a:ext cx="1728788" cy="619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9970" name="Picture 2">
            <a:extLst>
              <a:ext uri="{FF2B5EF4-FFF2-40B4-BE49-F238E27FC236}">
                <a16:creationId xmlns:a16="http://schemas.microsoft.com/office/drawing/2014/main" id="{7468F49D-06A4-4F51-BED9-6D0BBDA4B5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8686" r="758" b="-1665"/>
          <a:stretch>
            <a:fillRect/>
          </a:stretch>
        </p:blipFill>
        <p:spPr bwMode="auto">
          <a:xfrm>
            <a:off x="900113" y="476250"/>
            <a:ext cx="7416800" cy="605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0994" name="Picture 2">
            <a:extLst>
              <a:ext uri="{FF2B5EF4-FFF2-40B4-BE49-F238E27FC236}">
                <a16:creationId xmlns:a16="http://schemas.microsoft.com/office/drawing/2014/main" id="{2EE527BB-BA0F-481D-989E-37B1C8CB2C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3150" y="115888"/>
            <a:ext cx="4316413" cy="659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0995" name="Picture 3" descr="j0293234">
            <a:hlinkClick r:id="rId4" action="ppaction://hlinksldjump"/>
            <a:extLst>
              <a:ext uri="{FF2B5EF4-FFF2-40B4-BE49-F238E27FC236}">
                <a16:creationId xmlns:a16="http://schemas.microsoft.com/office/drawing/2014/main" id="{ED664A65-F991-4D2E-A0E0-FC87300D3CC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85113" y="5876925"/>
            <a:ext cx="1042987"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Text Box 2">
            <a:extLst>
              <a:ext uri="{FF2B5EF4-FFF2-40B4-BE49-F238E27FC236}">
                <a16:creationId xmlns:a16="http://schemas.microsoft.com/office/drawing/2014/main" id="{A815F940-8B17-491D-B950-0E42D71A8D0A}"/>
              </a:ext>
            </a:extLst>
          </p:cNvPr>
          <p:cNvSpPr txBox="1">
            <a:spLocks noChangeArrowheads="1"/>
          </p:cNvSpPr>
          <p:nvPr/>
        </p:nvSpPr>
        <p:spPr bwMode="auto">
          <a:xfrm>
            <a:off x="2286000" y="838200"/>
            <a:ext cx="6318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3600" b="1">
                <a:solidFill>
                  <a:schemeClr val="folHlink"/>
                </a:solidFill>
                <a:latin typeface="Times New Roman" panose="02020603050405020304" pitchFamily="18" charset="0"/>
              </a:rPr>
              <a:t>B6 B7 B8  Protein Purification</a:t>
            </a:r>
          </a:p>
        </p:txBody>
      </p:sp>
      <p:sp>
        <p:nvSpPr>
          <p:cNvPr id="342019" name="Text Box 3">
            <a:extLst>
              <a:ext uri="{FF2B5EF4-FFF2-40B4-BE49-F238E27FC236}">
                <a16:creationId xmlns:a16="http://schemas.microsoft.com/office/drawing/2014/main" id="{DCF9DB99-E1AF-4BC3-811E-453CC7355623}"/>
              </a:ext>
            </a:extLst>
          </p:cNvPr>
          <p:cNvSpPr txBox="1">
            <a:spLocks noChangeArrowheads="1"/>
          </p:cNvSpPr>
          <p:nvPr/>
        </p:nvSpPr>
        <p:spPr bwMode="auto">
          <a:xfrm>
            <a:off x="152400" y="2438400"/>
            <a:ext cx="1905000" cy="1196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t>Selection of a protein source</a:t>
            </a:r>
          </a:p>
        </p:txBody>
      </p:sp>
      <p:sp>
        <p:nvSpPr>
          <p:cNvPr id="342020" name="Text Box 4">
            <a:extLst>
              <a:ext uri="{FF2B5EF4-FFF2-40B4-BE49-F238E27FC236}">
                <a16:creationId xmlns:a16="http://schemas.microsoft.com/office/drawing/2014/main" id="{2636005F-749D-4C5E-91FF-3960E03B12F4}"/>
              </a:ext>
            </a:extLst>
          </p:cNvPr>
          <p:cNvSpPr txBox="1">
            <a:spLocks noChangeArrowheads="1"/>
          </p:cNvSpPr>
          <p:nvPr/>
        </p:nvSpPr>
        <p:spPr bwMode="auto">
          <a:xfrm>
            <a:off x="2438400" y="2438400"/>
            <a:ext cx="2133600" cy="1196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t>Homogeniza-tion and solubilization</a:t>
            </a:r>
          </a:p>
        </p:txBody>
      </p:sp>
      <p:sp>
        <p:nvSpPr>
          <p:cNvPr id="342021" name="Text Box 5">
            <a:extLst>
              <a:ext uri="{FF2B5EF4-FFF2-40B4-BE49-F238E27FC236}">
                <a16:creationId xmlns:a16="http://schemas.microsoft.com/office/drawing/2014/main" id="{396FCB78-E216-4849-99BD-098C7BA07A54}"/>
              </a:ext>
            </a:extLst>
          </p:cNvPr>
          <p:cNvSpPr txBox="1">
            <a:spLocks noChangeArrowheads="1"/>
          </p:cNvSpPr>
          <p:nvPr/>
        </p:nvSpPr>
        <p:spPr bwMode="auto">
          <a:xfrm>
            <a:off x="4876800" y="2438400"/>
            <a:ext cx="1905000" cy="1196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dirty="0"/>
              <a:t>Ammonium sulfate precipitation</a:t>
            </a:r>
          </a:p>
        </p:txBody>
      </p:sp>
      <p:sp>
        <p:nvSpPr>
          <p:cNvPr id="342022" name="Text Box 6">
            <a:extLst>
              <a:ext uri="{FF2B5EF4-FFF2-40B4-BE49-F238E27FC236}">
                <a16:creationId xmlns:a16="http://schemas.microsoft.com/office/drawing/2014/main" id="{7AB97DDC-338D-4EFE-898B-D52789B75F29}"/>
              </a:ext>
            </a:extLst>
          </p:cNvPr>
          <p:cNvSpPr txBox="1">
            <a:spLocks noChangeArrowheads="1"/>
          </p:cNvSpPr>
          <p:nvPr/>
        </p:nvSpPr>
        <p:spPr bwMode="auto">
          <a:xfrm>
            <a:off x="7239000" y="2514600"/>
            <a:ext cx="1447800" cy="10144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dirty="0"/>
              <a:t>Dialysis</a:t>
            </a:r>
          </a:p>
          <a:p>
            <a:pPr eaLnBrk="1" hangingPunct="1">
              <a:spcBef>
                <a:spcPct val="50000"/>
              </a:spcBef>
              <a:buClrTx/>
              <a:buSzTx/>
              <a:buFontTx/>
              <a:buNone/>
            </a:pPr>
            <a:endParaRPr lang="en-US" altLang="zh-CN" sz="2400" dirty="0"/>
          </a:p>
        </p:txBody>
      </p:sp>
      <p:sp>
        <p:nvSpPr>
          <p:cNvPr id="342023" name="Text Box 7">
            <a:extLst>
              <a:ext uri="{FF2B5EF4-FFF2-40B4-BE49-F238E27FC236}">
                <a16:creationId xmlns:a16="http://schemas.microsoft.com/office/drawing/2014/main" id="{0F8A1111-9E64-4FDF-8454-9398A4B4FBBC}"/>
              </a:ext>
            </a:extLst>
          </p:cNvPr>
          <p:cNvSpPr txBox="1">
            <a:spLocks noChangeArrowheads="1"/>
          </p:cNvSpPr>
          <p:nvPr/>
        </p:nvSpPr>
        <p:spPr bwMode="auto">
          <a:xfrm>
            <a:off x="228600" y="4800600"/>
            <a:ext cx="1905000" cy="831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t>Further purification</a:t>
            </a:r>
          </a:p>
        </p:txBody>
      </p:sp>
      <p:sp>
        <p:nvSpPr>
          <p:cNvPr id="342024" name="Text Box 8">
            <a:extLst>
              <a:ext uri="{FF2B5EF4-FFF2-40B4-BE49-F238E27FC236}">
                <a16:creationId xmlns:a16="http://schemas.microsoft.com/office/drawing/2014/main" id="{74C447D4-4073-4A54-879C-01BE10740DCA}"/>
              </a:ext>
            </a:extLst>
          </p:cNvPr>
          <p:cNvSpPr txBox="1">
            <a:spLocks noChangeArrowheads="1"/>
          </p:cNvSpPr>
          <p:nvPr/>
        </p:nvSpPr>
        <p:spPr bwMode="auto">
          <a:xfrm>
            <a:off x="2743200" y="4114800"/>
            <a:ext cx="28194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t>Ultracentrifugation</a:t>
            </a:r>
          </a:p>
        </p:txBody>
      </p:sp>
      <p:sp>
        <p:nvSpPr>
          <p:cNvPr id="342025" name="Text Box 9">
            <a:extLst>
              <a:ext uri="{FF2B5EF4-FFF2-40B4-BE49-F238E27FC236}">
                <a16:creationId xmlns:a16="http://schemas.microsoft.com/office/drawing/2014/main" id="{A1BD4A58-9D5B-471C-A8B2-D02D4E1FD3A0}"/>
              </a:ext>
            </a:extLst>
          </p:cNvPr>
          <p:cNvSpPr txBox="1">
            <a:spLocks noChangeArrowheads="1"/>
          </p:cNvSpPr>
          <p:nvPr/>
        </p:nvSpPr>
        <p:spPr bwMode="auto">
          <a:xfrm>
            <a:off x="2743200" y="5638800"/>
            <a:ext cx="28194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t>Electrophoresis</a:t>
            </a:r>
          </a:p>
        </p:txBody>
      </p:sp>
      <p:sp>
        <p:nvSpPr>
          <p:cNvPr id="342026" name="Text Box 10">
            <a:extLst>
              <a:ext uri="{FF2B5EF4-FFF2-40B4-BE49-F238E27FC236}">
                <a16:creationId xmlns:a16="http://schemas.microsoft.com/office/drawing/2014/main" id="{37F42D4A-7B83-4858-B257-6758ED5B7CA8}"/>
              </a:ext>
            </a:extLst>
          </p:cNvPr>
          <p:cNvSpPr txBox="1">
            <a:spLocks noChangeArrowheads="1"/>
          </p:cNvSpPr>
          <p:nvPr/>
        </p:nvSpPr>
        <p:spPr bwMode="auto">
          <a:xfrm>
            <a:off x="2743200" y="4876800"/>
            <a:ext cx="28194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t>Chromatography    </a:t>
            </a:r>
          </a:p>
        </p:txBody>
      </p:sp>
      <p:sp>
        <p:nvSpPr>
          <p:cNvPr id="342027" name="Line 11">
            <a:extLst>
              <a:ext uri="{FF2B5EF4-FFF2-40B4-BE49-F238E27FC236}">
                <a16:creationId xmlns:a16="http://schemas.microsoft.com/office/drawing/2014/main" id="{F7C92D96-EC1A-4E6F-A2CF-177F841DEA89}"/>
              </a:ext>
            </a:extLst>
          </p:cNvPr>
          <p:cNvSpPr>
            <a:spLocks noChangeShapeType="1"/>
          </p:cNvSpPr>
          <p:nvPr/>
        </p:nvSpPr>
        <p:spPr bwMode="auto">
          <a:xfrm>
            <a:off x="1981200" y="2971800"/>
            <a:ext cx="457200" cy="0"/>
          </a:xfrm>
          <a:prstGeom prst="line">
            <a:avLst/>
          </a:prstGeom>
          <a:noFill/>
          <a:ln w="7620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2028" name="Line 12">
            <a:extLst>
              <a:ext uri="{FF2B5EF4-FFF2-40B4-BE49-F238E27FC236}">
                <a16:creationId xmlns:a16="http://schemas.microsoft.com/office/drawing/2014/main" id="{80E7B4F0-97D1-4386-A6D3-E8125F90FAF7}"/>
              </a:ext>
            </a:extLst>
          </p:cNvPr>
          <p:cNvSpPr>
            <a:spLocks noChangeShapeType="1"/>
          </p:cNvSpPr>
          <p:nvPr/>
        </p:nvSpPr>
        <p:spPr bwMode="auto">
          <a:xfrm flipV="1">
            <a:off x="2209800" y="4419600"/>
            <a:ext cx="457200" cy="685800"/>
          </a:xfrm>
          <a:prstGeom prst="line">
            <a:avLst/>
          </a:prstGeom>
          <a:noFill/>
          <a:ln w="7620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2029" name="Line 13">
            <a:extLst>
              <a:ext uri="{FF2B5EF4-FFF2-40B4-BE49-F238E27FC236}">
                <a16:creationId xmlns:a16="http://schemas.microsoft.com/office/drawing/2014/main" id="{5AF25B21-7E89-47D0-AF36-7E458C070692}"/>
              </a:ext>
            </a:extLst>
          </p:cNvPr>
          <p:cNvSpPr>
            <a:spLocks noChangeShapeType="1"/>
          </p:cNvSpPr>
          <p:nvPr/>
        </p:nvSpPr>
        <p:spPr bwMode="auto">
          <a:xfrm>
            <a:off x="4419600" y="3048000"/>
            <a:ext cx="457200" cy="0"/>
          </a:xfrm>
          <a:prstGeom prst="line">
            <a:avLst/>
          </a:prstGeom>
          <a:noFill/>
          <a:ln w="7620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2030" name="Line 14">
            <a:extLst>
              <a:ext uri="{FF2B5EF4-FFF2-40B4-BE49-F238E27FC236}">
                <a16:creationId xmlns:a16="http://schemas.microsoft.com/office/drawing/2014/main" id="{69EDB089-35AD-4330-90D4-167B2014EE12}"/>
              </a:ext>
            </a:extLst>
          </p:cNvPr>
          <p:cNvSpPr>
            <a:spLocks noChangeShapeType="1"/>
          </p:cNvSpPr>
          <p:nvPr/>
        </p:nvSpPr>
        <p:spPr bwMode="auto">
          <a:xfrm>
            <a:off x="6781800" y="2971800"/>
            <a:ext cx="457200" cy="0"/>
          </a:xfrm>
          <a:prstGeom prst="line">
            <a:avLst/>
          </a:prstGeom>
          <a:noFill/>
          <a:ln w="7620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2031" name="Line 15">
            <a:extLst>
              <a:ext uri="{FF2B5EF4-FFF2-40B4-BE49-F238E27FC236}">
                <a16:creationId xmlns:a16="http://schemas.microsoft.com/office/drawing/2014/main" id="{1B8D8C23-9E8D-4144-BB48-FCA5F470A84D}"/>
              </a:ext>
            </a:extLst>
          </p:cNvPr>
          <p:cNvSpPr>
            <a:spLocks noChangeShapeType="1"/>
          </p:cNvSpPr>
          <p:nvPr/>
        </p:nvSpPr>
        <p:spPr bwMode="auto">
          <a:xfrm>
            <a:off x="2209800" y="5334000"/>
            <a:ext cx="457200" cy="533400"/>
          </a:xfrm>
          <a:prstGeom prst="line">
            <a:avLst/>
          </a:prstGeom>
          <a:noFill/>
          <a:ln w="7620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2032" name="Line 16">
            <a:extLst>
              <a:ext uri="{FF2B5EF4-FFF2-40B4-BE49-F238E27FC236}">
                <a16:creationId xmlns:a16="http://schemas.microsoft.com/office/drawing/2014/main" id="{27BD2C41-86CF-4214-A594-C5D5B53AF8A5}"/>
              </a:ext>
            </a:extLst>
          </p:cNvPr>
          <p:cNvSpPr>
            <a:spLocks noChangeShapeType="1"/>
          </p:cNvSpPr>
          <p:nvPr/>
        </p:nvSpPr>
        <p:spPr bwMode="auto">
          <a:xfrm>
            <a:off x="2209800" y="5181600"/>
            <a:ext cx="457200" cy="0"/>
          </a:xfrm>
          <a:prstGeom prst="line">
            <a:avLst/>
          </a:prstGeom>
          <a:noFill/>
          <a:ln w="7620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标题 1">
            <a:extLst>
              <a:ext uri="{FF2B5EF4-FFF2-40B4-BE49-F238E27FC236}">
                <a16:creationId xmlns:a16="http://schemas.microsoft.com/office/drawing/2014/main" id="{5DBA0DB5-5FC5-4F0C-9500-CE70D60577BF}"/>
              </a:ext>
            </a:extLst>
          </p:cNvPr>
          <p:cNvSpPr>
            <a:spLocks noGrp="1" noChangeArrowheads="1"/>
          </p:cNvSpPr>
          <p:nvPr>
            <p:ph type="title" idx="4294967295"/>
          </p:nvPr>
        </p:nvSpPr>
        <p:spPr>
          <a:xfrm>
            <a:off x="1476375" y="549275"/>
            <a:ext cx="7467600" cy="857250"/>
          </a:xfrm>
        </p:spPr>
        <p:txBody>
          <a:bodyPr lIns="45720" rIns="45720" anchor="ctr"/>
          <a:lstStyle/>
          <a:p>
            <a:r>
              <a:rPr lang="en-US" altLang="zh-CN" sz="3400" b="1">
                <a:solidFill>
                  <a:schemeClr val="hlink"/>
                </a:solidFill>
              </a:rPr>
              <a:t>salting in and salting out</a:t>
            </a:r>
            <a:endParaRPr lang="zh-CN" altLang="en-US" sz="3400" b="1">
              <a:solidFill>
                <a:schemeClr val="hlink"/>
              </a:solidFill>
            </a:endParaRPr>
          </a:p>
        </p:txBody>
      </p:sp>
      <p:sp>
        <p:nvSpPr>
          <p:cNvPr id="343043" name="内容占位符 2">
            <a:extLst>
              <a:ext uri="{FF2B5EF4-FFF2-40B4-BE49-F238E27FC236}">
                <a16:creationId xmlns:a16="http://schemas.microsoft.com/office/drawing/2014/main" id="{E9837810-988D-4276-8DEA-3C5F0E9EF22C}"/>
              </a:ext>
            </a:extLst>
          </p:cNvPr>
          <p:cNvSpPr>
            <a:spLocks noGrp="1" noChangeArrowheads="1"/>
          </p:cNvSpPr>
          <p:nvPr>
            <p:ph idx="4294967295"/>
          </p:nvPr>
        </p:nvSpPr>
        <p:spPr>
          <a:xfrm>
            <a:off x="0" y="2276475"/>
            <a:ext cx="9144000" cy="4010025"/>
          </a:xfrm>
        </p:spPr>
        <p:txBody>
          <a:bodyPr/>
          <a:lstStyle/>
          <a:p>
            <a:pPr marL="419100" indent="-382588"/>
            <a:r>
              <a:rPr lang="en-US" altLang="zh-CN" sz="2800" b="1" dirty="0"/>
              <a:t>Ionic strength also profoundly influences protein solubility. </a:t>
            </a:r>
          </a:p>
          <a:p>
            <a:pPr marL="419100" indent="-382588"/>
            <a:r>
              <a:rPr lang="en-US" altLang="zh-CN" sz="2800" b="1" dirty="0"/>
              <a:t>Most globular proteins tend to become increasingly soluble as the ionic strength is raised. This phenomenon, called </a:t>
            </a:r>
            <a:r>
              <a:rPr lang="en-US" altLang="zh-CN" sz="2800" b="1" dirty="0">
                <a:solidFill>
                  <a:srgbClr val="FF00FF"/>
                </a:solidFill>
              </a:rPr>
              <a:t>salting in</a:t>
            </a:r>
            <a:r>
              <a:rPr lang="en-US" altLang="zh-CN" sz="2800" b="1" dirty="0"/>
              <a:t>, is attributed to the diminishment by the salt ions of electrostatic attractions between the protein molecules. </a:t>
            </a: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Text Box 4">
            <a:extLst>
              <a:ext uri="{FF2B5EF4-FFF2-40B4-BE49-F238E27FC236}">
                <a16:creationId xmlns:a16="http://schemas.microsoft.com/office/drawing/2014/main" id="{6091CDA4-A5CF-4A34-B1AD-D1A16638C52F}"/>
              </a:ext>
            </a:extLst>
          </p:cNvPr>
          <p:cNvSpPr txBox="1">
            <a:spLocks noChangeArrowheads="1"/>
          </p:cNvSpPr>
          <p:nvPr/>
        </p:nvSpPr>
        <p:spPr bwMode="auto">
          <a:xfrm>
            <a:off x="323850" y="476250"/>
            <a:ext cx="8569325" cy="543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spcBef>
                <a:spcPct val="20000"/>
              </a:spcBef>
              <a:buClr>
                <a:schemeClr val="folHlink"/>
              </a:buClr>
              <a:buSzPct val="60000"/>
              <a:buFont typeface="Wingdings" panose="05000000000000000000" pitchFamily="2" charset="2"/>
              <a:buChar char="n"/>
            </a:pPr>
            <a:r>
              <a:rPr lang="en-US" altLang="zh-CN" sz="2800" b="1" dirty="0"/>
              <a:t>However, as the salt concentration reaches high levels (greater than 1 </a:t>
            </a:r>
            <a:r>
              <a:rPr lang="en-US" altLang="zh-CN" sz="2800" b="1" i="1" dirty="0"/>
              <a:t>M</a:t>
            </a:r>
            <a:r>
              <a:rPr lang="en-US" altLang="zh-CN" sz="2800" b="1" dirty="0"/>
              <a:t>), the effect may reverse so that the solubility of proteins is generally lowered, which called </a:t>
            </a:r>
            <a:r>
              <a:rPr lang="en-US" altLang="zh-CN" sz="2800" b="1" dirty="0">
                <a:solidFill>
                  <a:srgbClr val="FF00FF"/>
                </a:solidFill>
              </a:rPr>
              <a:t>salting out.</a:t>
            </a:r>
            <a:r>
              <a:rPr lang="en-US" altLang="zh-CN" sz="2800" b="1" dirty="0"/>
              <a:t> In such cases, the numerous salt ions begin to compete with the protein for waters of solvation, and, as they win out, the protein becomes insoluble.</a:t>
            </a:r>
          </a:p>
          <a:p>
            <a:pPr eaLnBrk="1" hangingPunct="1">
              <a:spcBef>
                <a:spcPct val="0"/>
              </a:spcBef>
              <a:buFontTx/>
              <a:buChar char="•"/>
            </a:pPr>
            <a:endParaRPr lang="en-US" altLang="zh-CN" sz="2800" b="1" dirty="0"/>
          </a:p>
          <a:p>
            <a:pPr eaLnBrk="1" hangingPunct="1">
              <a:spcBef>
                <a:spcPct val="0"/>
              </a:spcBef>
              <a:buClr>
                <a:srgbClr val="0000FF"/>
              </a:buClr>
              <a:buFont typeface="Wingdings" panose="05000000000000000000" pitchFamily="2" charset="2"/>
              <a:buChar char="n"/>
            </a:pPr>
            <a:r>
              <a:rPr lang="en-US" altLang="zh-CN" sz="2800" b="1" dirty="0">
                <a:solidFill>
                  <a:srgbClr val="FF00FF"/>
                </a:solidFill>
              </a:rPr>
              <a:t>Ammonium sulfate</a:t>
            </a:r>
            <a:r>
              <a:rPr lang="en-US" altLang="zh-CN" sz="2800" b="1" dirty="0"/>
              <a:t> is often used for this purpose.</a:t>
            </a:r>
            <a:endParaRPr lang="zh-CN" altLang="en-US" sz="2800" b="1" dirty="0"/>
          </a:p>
          <a:p>
            <a:pPr eaLnBrk="1" hangingPunct="1"/>
            <a:endParaRPr lang="zh-CN" altLang="en-US" sz="280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5090" name="Picture 2" descr="0026">
            <a:extLst>
              <a:ext uri="{FF2B5EF4-FFF2-40B4-BE49-F238E27FC236}">
                <a16:creationId xmlns:a16="http://schemas.microsoft.com/office/drawing/2014/main" id="{43443851-A11B-41FC-8264-5FF84E1F63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798513"/>
            <a:ext cx="79248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5091" name="Text Box 6">
            <a:extLst>
              <a:ext uri="{FF2B5EF4-FFF2-40B4-BE49-F238E27FC236}">
                <a16:creationId xmlns:a16="http://schemas.microsoft.com/office/drawing/2014/main" id="{AC742A0E-D441-41E0-9F3A-D32F1A8D085C}"/>
              </a:ext>
            </a:extLst>
          </p:cNvPr>
          <p:cNvSpPr txBox="1">
            <a:spLocks noChangeArrowheads="1"/>
          </p:cNvSpPr>
          <p:nvPr/>
        </p:nvSpPr>
        <p:spPr bwMode="auto">
          <a:xfrm>
            <a:off x="684213" y="188913"/>
            <a:ext cx="374332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dirty="0">
                <a:solidFill>
                  <a:schemeClr val="hlink"/>
                </a:solidFill>
              </a:rPr>
              <a:t>Dialysis</a:t>
            </a:r>
          </a:p>
          <a:p>
            <a:pPr eaLnBrk="1" hangingPunct="1">
              <a:spcBef>
                <a:spcPct val="50000"/>
              </a:spcBef>
              <a:buClrTx/>
              <a:buSzTx/>
              <a:buFontTx/>
              <a:buNone/>
            </a:pPr>
            <a:endParaRPr lang="en-US" altLang="zh-CN" dirty="0">
              <a:solidFill>
                <a:schemeClr val="hlink"/>
              </a:solidFill>
            </a:endParaRP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6114" name="Picture 2">
            <a:extLst>
              <a:ext uri="{FF2B5EF4-FFF2-40B4-BE49-F238E27FC236}">
                <a16:creationId xmlns:a16="http://schemas.microsoft.com/office/drawing/2014/main" id="{FAF05AF9-EFF5-40BB-B106-2BD101B4E5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176" b="3914"/>
          <a:stretch>
            <a:fillRect/>
          </a:stretch>
        </p:blipFill>
        <p:spPr bwMode="auto">
          <a:xfrm>
            <a:off x="285750" y="428625"/>
            <a:ext cx="8550275"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7138" name="Picture 2">
            <a:extLst>
              <a:ext uri="{FF2B5EF4-FFF2-40B4-BE49-F238E27FC236}">
                <a16:creationId xmlns:a16="http://schemas.microsoft.com/office/drawing/2014/main" id="{4428A72C-C3D6-4869-8A98-93D787F79E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0163"/>
            <a:ext cx="8686800" cy="652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7139" name="Text Box 3">
            <a:extLst>
              <a:ext uri="{FF2B5EF4-FFF2-40B4-BE49-F238E27FC236}">
                <a16:creationId xmlns:a16="http://schemas.microsoft.com/office/drawing/2014/main" id="{4C1087E7-C418-40A9-BB8C-D74257484F86}"/>
              </a:ext>
            </a:extLst>
          </p:cNvPr>
          <p:cNvSpPr txBox="1">
            <a:spLocks noChangeArrowheads="1"/>
          </p:cNvSpPr>
          <p:nvPr/>
        </p:nvSpPr>
        <p:spPr bwMode="auto">
          <a:xfrm>
            <a:off x="395288" y="5445125"/>
            <a:ext cx="2736850" cy="4572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solidFill>
                  <a:schemeClr val="hlink"/>
                </a:solidFill>
              </a:rPr>
              <a:t>Ultracentrifugation</a:t>
            </a:r>
            <a:endParaRPr lang="zh-CN" altLang="en-US" sz="2400">
              <a:solidFill>
                <a:schemeClr val="hlink"/>
              </a:solidFill>
            </a:endParaRP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62" name="Picture 2">
            <a:extLst>
              <a:ext uri="{FF2B5EF4-FFF2-40B4-BE49-F238E27FC236}">
                <a16:creationId xmlns:a16="http://schemas.microsoft.com/office/drawing/2014/main" id="{C6D4BD8F-57BC-4937-9FA7-8228BDD984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57200"/>
            <a:ext cx="8243888" cy="618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63" name="Text Box 3">
            <a:extLst>
              <a:ext uri="{FF2B5EF4-FFF2-40B4-BE49-F238E27FC236}">
                <a16:creationId xmlns:a16="http://schemas.microsoft.com/office/drawing/2014/main" id="{014D28DD-4FF3-42D1-A86F-43A1331D2E00}"/>
              </a:ext>
            </a:extLst>
          </p:cNvPr>
          <p:cNvSpPr txBox="1">
            <a:spLocks noChangeArrowheads="1"/>
          </p:cNvSpPr>
          <p:nvPr/>
        </p:nvSpPr>
        <p:spPr bwMode="auto">
          <a:xfrm>
            <a:off x="381000" y="0"/>
            <a:ext cx="670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dirty="0">
                <a:latin typeface="Times New Roman" panose="02020603050405020304" pitchFamily="18" charset="0"/>
              </a:rPr>
              <a:t>Gel filtration chromatography</a:t>
            </a: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9186" name="Picture 2">
            <a:extLst>
              <a:ext uri="{FF2B5EF4-FFF2-40B4-BE49-F238E27FC236}">
                <a16:creationId xmlns:a16="http://schemas.microsoft.com/office/drawing/2014/main" id="{5962CEBA-7AD8-47E9-9EF6-E7544E0AB1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406" t="51042" r="50000" b="23958"/>
          <a:stretch>
            <a:fillRect/>
          </a:stretch>
        </p:blipFill>
        <p:spPr bwMode="auto">
          <a:xfrm>
            <a:off x="4724400" y="2895600"/>
            <a:ext cx="32766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9187" name="Picture 3">
            <a:extLst>
              <a:ext uri="{FF2B5EF4-FFF2-40B4-BE49-F238E27FC236}">
                <a16:creationId xmlns:a16="http://schemas.microsoft.com/office/drawing/2014/main" id="{9C197D48-8D91-43A1-BE6C-5DBB4AFFBC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0781" t="44792" r="11719" b="23958"/>
          <a:stretch>
            <a:fillRect/>
          </a:stretch>
        </p:blipFill>
        <p:spPr bwMode="auto">
          <a:xfrm>
            <a:off x="914400" y="2362200"/>
            <a:ext cx="36576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9188" name="Text Box 4">
            <a:extLst>
              <a:ext uri="{FF2B5EF4-FFF2-40B4-BE49-F238E27FC236}">
                <a16:creationId xmlns:a16="http://schemas.microsoft.com/office/drawing/2014/main" id="{823753F9-9233-4D3C-94FC-6183F217B4E3}"/>
              </a:ext>
            </a:extLst>
          </p:cNvPr>
          <p:cNvSpPr txBox="1">
            <a:spLocks noChangeArrowheads="1"/>
          </p:cNvSpPr>
          <p:nvPr/>
        </p:nvSpPr>
        <p:spPr bwMode="auto">
          <a:xfrm>
            <a:off x="2743200" y="1143000"/>
            <a:ext cx="3048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sp>
        <p:nvSpPr>
          <p:cNvPr id="349189" name="Text Box 5">
            <a:extLst>
              <a:ext uri="{FF2B5EF4-FFF2-40B4-BE49-F238E27FC236}">
                <a16:creationId xmlns:a16="http://schemas.microsoft.com/office/drawing/2014/main" id="{9B112EC8-C70E-4EDF-9E4E-C233D2BB40B1}"/>
              </a:ext>
            </a:extLst>
          </p:cNvPr>
          <p:cNvSpPr txBox="1">
            <a:spLocks noChangeArrowheads="1"/>
          </p:cNvSpPr>
          <p:nvPr/>
        </p:nvSpPr>
        <p:spPr bwMode="auto">
          <a:xfrm>
            <a:off x="1066800" y="1828800"/>
            <a:ext cx="419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3200" b="1">
                <a:solidFill>
                  <a:srgbClr val="0033CC"/>
                </a:solidFill>
                <a:latin typeface="Arial" panose="020B0604020202020204" pitchFamily="34" charset="0"/>
              </a:rPr>
              <a:t>交联的葡聚糖凝胶</a:t>
            </a:r>
          </a:p>
        </p:txBody>
      </p:sp>
      <p:sp>
        <p:nvSpPr>
          <p:cNvPr id="349190" name="Text Box 6">
            <a:extLst>
              <a:ext uri="{FF2B5EF4-FFF2-40B4-BE49-F238E27FC236}">
                <a16:creationId xmlns:a16="http://schemas.microsoft.com/office/drawing/2014/main" id="{D53BE81D-D1F7-49EB-BF29-427B5186E665}"/>
              </a:ext>
            </a:extLst>
          </p:cNvPr>
          <p:cNvSpPr txBox="1">
            <a:spLocks noChangeArrowheads="1"/>
          </p:cNvSpPr>
          <p:nvPr/>
        </p:nvSpPr>
        <p:spPr bwMode="auto">
          <a:xfrm>
            <a:off x="838200" y="685800"/>
            <a:ext cx="3200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2800" b="1">
                <a:solidFill>
                  <a:srgbClr val="0033CC"/>
                </a:solidFill>
                <a:latin typeface="Arial" panose="020B0604020202020204" pitchFamily="34" charset="0"/>
              </a:rPr>
              <a:t>凝胶过滤层析</a:t>
            </a:r>
          </a:p>
        </p:txBody>
      </p:sp>
      <p:sp>
        <p:nvSpPr>
          <p:cNvPr id="349191" name="Text Box 7">
            <a:extLst>
              <a:ext uri="{FF2B5EF4-FFF2-40B4-BE49-F238E27FC236}">
                <a16:creationId xmlns:a16="http://schemas.microsoft.com/office/drawing/2014/main" id="{B2EE30D3-11EA-4016-B96B-CC225857C299}"/>
              </a:ext>
            </a:extLst>
          </p:cNvPr>
          <p:cNvSpPr txBox="1">
            <a:spLocks noChangeArrowheads="1"/>
          </p:cNvSpPr>
          <p:nvPr/>
        </p:nvSpPr>
        <p:spPr bwMode="auto">
          <a:xfrm>
            <a:off x="1905000" y="4953000"/>
            <a:ext cx="617220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b="1">
                <a:latin typeface="Arial" panose="020B0604020202020204" pitchFamily="34" charset="0"/>
              </a:rPr>
              <a:t>凝胶颗粒                凝胶颗粒内部的网状结构</a:t>
            </a:r>
          </a:p>
        </p:txBody>
      </p:sp>
    </p:spTree>
  </p:cSld>
  <p:clrMapOvr>
    <a:masterClrMapping/>
  </p:clrMapOvr>
  <p:transition/>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0210" name="Picture 2">
            <a:extLst>
              <a:ext uri="{FF2B5EF4-FFF2-40B4-BE49-F238E27FC236}">
                <a16:creationId xmlns:a16="http://schemas.microsoft.com/office/drawing/2014/main" id="{180940B3-C301-4490-B427-7DCD0E10FD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1334" t="23334" b="4251"/>
          <a:stretch>
            <a:fillRect/>
          </a:stretch>
        </p:blipFill>
        <p:spPr bwMode="auto">
          <a:xfrm>
            <a:off x="6553200" y="76200"/>
            <a:ext cx="1981200"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0211" name="Picture 4">
            <a:extLst>
              <a:ext uri="{FF2B5EF4-FFF2-40B4-BE49-F238E27FC236}">
                <a16:creationId xmlns:a16="http://schemas.microsoft.com/office/drawing/2014/main" id="{DE271A03-F213-4FC2-9069-C51F682DC2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0070" t="13504" b="16409"/>
          <a:stretch>
            <a:fillRect/>
          </a:stretch>
        </p:blipFill>
        <p:spPr bwMode="auto">
          <a:xfrm>
            <a:off x="3851275" y="0"/>
            <a:ext cx="2259013"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0212" name="Picture 5">
            <a:extLst>
              <a:ext uri="{FF2B5EF4-FFF2-40B4-BE49-F238E27FC236}">
                <a16:creationId xmlns:a16="http://schemas.microsoft.com/office/drawing/2014/main" id="{1FC061C5-4A0B-45C5-9789-24EB23C6F2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3605" r="47801" b="28123"/>
          <a:stretch>
            <a:fillRect/>
          </a:stretch>
        </p:blipFill>
        <p:spPr bwMode="auto">
          <a:xfrm>
            <a:off x="685800" y="914400"/>
            <a:ext cx="2506663"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0213" name="Rectangle 8">
            <a:extLst>
              <a:ext uri="{FF2B5EF4-FFF2-40B4-BE49-F238E27FC236}">
                <a16:creationId xmlns:a16="http://schemas.microsoft.com/office/drawing/2014/main" id="{C0D029BA-4EF0-4476-96EC-C207F3F2FECD}"/>
              </a:ext>
            </a:extLst>
          </p:cNvPr>
          <p:cNvSpPr>
            <a:spLocks noChangeArrowheads="1"/>
          </p:cNvSpPr>
          <p:nvPr/>
        </p:nvSpPr>
        <p:spPr bwMode="auto">
          <a:xfrm>
            <a:off x="6553200" y="4038600"/>
            <a:ext cx="609600" cy="8382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50214" name="Rectangle 9">
            <a:extLst>
              <a:ext uri="{FF2B5EF4-FFF2-40B4-BE49-F238E27FC236}">
                <a16:creationId xmlns:a16="http://schemas.microsoft.com/office/drawing/2014/main" id="{90DE8FE3-E397-4439-807A-A84B210995FB}"/>
              </a:ext>
            </a:extLst>
          </p:cNvPr>
          <p:cNvSpPr>
            <a:spLocks noChangeArrowheads="1"/>
          </p:cNvSpPr>
          <p:nvPr/>
        </p:nvSpPr>
        <p:spPr bwMode="auto">
          <a:xfrm>
            <a:off x="6553200" y="5105400"/>
            <a:ext cx="304800" cy="9144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50215" name="Rectangle 10">
            <a:extLst>
              <a:ext uri="{FF2B5EF4-FFF2-40B4-BE49-F238E27FC236}">
                <a16:creationId xmlns:a16="http://schemas.microsoft.com/office/drawing/2014/main" id="{C2160AE5-3530-4F26-9908-EB704479665C}"/>
              </a:ext>
            </a:extLst>
          </p:cNvPr>
          <p:cNvSpPr>
            <a:spLocks noChangeArrowheads="1"/>
          </p:cNvSpPr>
          <p:nvPr/>
        </p:nvSpPr>
        <p:spPr bwMode="auto">
          <a:xfrm>
            <a:off x="6553200" y="3276600"/>
            <a:ext cx="228600" cy="9144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Tree>
  </p:cSld>
  <p:clrMapOvr>
    <a:masterClrMapping/>
  </p:clrMapOvr>
  <p:transition/>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2258" name="Picture 2">
            <a:extLst>
              <a:ext uri="{FF2B5EF4-FFF2-40B4-BE49-F238E27FC236}">
                <a16:creationId xmlns:a16="http://schemas.microsoft.com/office/drawing/2014/main" id="{09F042EF-60E0-4F4E-9919-5C2709FF17C0}"/>
              </a:ext>
            </a:extLst>
          </p:cNvPr>
          <p:cNvPicPr>
            <a:picLocks noChangeAspect="1" noChangeArrowheads="1"/>
          </p:cNvPicPr>
          <p:nvPr/>
        </p:nvPicPr>
        <p:blipFill>
          <a:blip r:embed="rId2">
            <a:lum contrast="6000"/>
            <a:extLst>
              <a:ext uri="{28A0092B-C50C-407E-A947-70E740481C1C}">
                <a14:useLocalDpi xmlns:a14="http://schemas.microsoft.com/office/drawing/2010/main" val="0"/>
              </a:ext>
            </a:extLst>
          </a:blip>
          <a:srcRect l="8594" t="15625" r="7813" b="8333"/>
          <a:stretch>
            <a:fillRect/>
          </a:stretch>
        </p:blipFill>
        <p:spPr bwMode="auto">
          <a:xfrm>
            <a:off x="457200" y="685800"/>
            <a:ext cx="815340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2259" name="Rectangle 3">
            <a:extLst>
              <a:ext uri="{FF2B5EF4-FFF2-40B4-BE49-F238E27FC236}">
                <a16:creationId xmlns:a16="http://schemas.microsoft.com/office/drawing/2014/main" id="{1BA1D658-804C-4BA0-82DA-8F9F69F73220}"/>
              </a:ext>
            </a:extLst>
          </p:cNvPr>
          <p:cNvSpPr>
            <a:spLocks noChangeArrowheads="1"/>
          </p:cNvSpPr>
          <p:nvPr/>
        </p:nvSpPr>
        <p:spPr bwMode="auto">
          <a:xfrm>
            <a:off x="609600" y="5638800"/>
            <a:ext cx="1676400" cy="5334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52260" name="Rectangle 4">
            <a:extLst>
              <a:ext uri="{FF2B5EF4-FFF2-40B4-BE49-F238E27FC236}">
                <a16:creationId xmlns:a16="http://schemas.microsoft.com/office/drawing/2014/main" id="{E4B37287-50AC-4C59-B058-2D4AAF6EED44}"/>
              </a:ext>
            </a:extLst>
          </p:cNvPr>
          <p:cNvSpPr>
            <a:spLocks noChangeArrowheads="1"/>
          </p:cNvSpPr>
          <p:nvPr/>
        </p:nvSpPr>
        <p:spPr bwMode="auto">
          <a:xfrm>
            <a:off x="8077200" y="5715000"/>
            <a:ext cx="304800" cy="381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Tree>
  </p:cSld>
  <p:clrMapOvr>
    <a:masterClrMapping/>
  </p:clrMapOvr>
  <p:transition/>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Text Box 2">
            <a:extLst>
              <a:ext uri="{FF2B5EF4-FFF2-40B4-BE49-F238E27FC236}">
                <a16:creationId xmlns:a16="http://schemas.microsoft.com/office/drawing/2014/main" id="{D960E199-7485-4BF3-8EBA-E88E71F31FF5}"/>
              </a:ext>
            </a:extLst>
          </p:cNvPr>
          <p:cNvSpPr txBox="1">
            <a:spLocks noChangeArrowheads="1"/>
          </p:cNvSpPr>
          <p:nvPr/>
        </p:nvSpPr>
        <p:spPr bwMode="auto">
          <a:xfrm>
            <a:off x="1466850" y="620713"/>
            <a:ext cx="5867400"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3200" b="1">
                <a:latin typeface="华文中宋" panose="02010600040101010101" pitchFamily="2" charset="-122"/>
                <a:ea typeface="华文中宋" panose="02010600040101010101" pitchFamily="2" charset="-122"/>
              </a:rPr>
              <a:t>表</a:t>
            </a:r>
            <a:r>
              <a:rPr lang="zh-CN" altLang="en-US" sz="3200">
                <a:latin typeface="华文中宋" panose="02010600040101010101" pitchFamily="2" charset="-122"/>
                <a:ea typeface="华文中宋" panose="02010600040101010101" pitchFamily="2" charset="-122"/>
              </a:rPr>
              <a:t>1   常用凝胶分离范围</a:t>
            </a:r>
          </a:p>
          <a:p>
            <a:pPr eaLnBrk="1" hangingPunct="1"/>
            <a:endParaRPr lang="zh-CN" altLang="en-US">
              <a:latin typeface="华文中宋" panose="02010600040101010101" pitchFamily="2" charset="-122"/>
              <a:ea typeface="华文中宋" panose="02010600040101010101" pitchFamily="2" charset="-122"/>
            </a:endParaRPr>
          </a:p>
        </p:txBody>
      </p:sp>
      <p:graphicFrame>
        <p:nvGraphicFramePr>
          <p:cNvPr id="365571" name="Group 3">
            <a:extLst>
              <a:ext uri="{FF2B5EF4-FFF2-40B4-BE49-F238E27FC236}">
                <a16:creationId xmlns:a16="http://schemas.microsoft.com/office/drawing/2014/main" id="{65FE3F53-86B2-4CEE-9818-2DAA85CAA774}"/>
              </a:ext>
            </a:extLst>
          </p:cNvPr>
          <p:cNvGraphicFramePr>
            <a:graphicFrameLocks noGrp="1"/>
          </p:cNvGraphicFramePr>
          <p:nvPr/>
        </p:nvGraphicFramePr>
        <p:xfrm>
          <a:off x="468313" y="1382713"/>
          <a:ext cx="7704137" cy="4689475"/>
        </p:xfrm>
        <a:graphic>
          <a:graphicData uri="http://schemas.openxmlformats.org/drawingml/2006/table">
            <a:tbl>
              <a:tblPr/>
              <a:tblGrid>
                <a:gridCol w="3494087">
                  <a:extLst>
                    <a:ext uri="{9D8B030D-6E8A-4147-A177-3AD203B41FA5}">
                      <a16:colId xmlns:a16="http://schemas.microsoft.com/office/drawing/2014/main" val="1626189768"/>
                    </a:ext>
                  </a:extLst>
                </a:gridCol>
                <a:gridCol w="1641475">
                  <a:extLst>
                    <a:ext uri="{9D8B030D-6E8A-4147-A177-3AD203B41FA5}">
                      <a16:colId xmlns:a16="http://schemas.microsoft.com/office/drawing/2014/main" val="2086060332"/>
                    </a:ext>
                  </a:extLst>
                </a:gridCol>
                <a:gridCol w="2568575">
                  <a:extLst>
                    <a:ext uri="{9D8B030D-6E8A-4147-A177-3AD203B41FA5}">
                      <a16:colId xmlns:a16="http://schemas.microsoft.com/office/drawing/2014/main" val="2340949412"/>
                    </a:ext>
                  </a:extLst>
                </a:gridCol>
              </a:tblGrid>
              <a:tr h="457200">
                <a:tc gridSpan="2">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凝胶类型及规格</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分离范围</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63316591"/>
                  </a:ext>
                </a:extLst>
              </a:tr>
              <a:tr h="223838">
                <a:tc rowSpan="4">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葡聚糖凝胶</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a:t>
                      </a:r>
                      <a:r>
                        <a:rPr kumimoji="1" lang="en-US" altLang="zh-CN"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sephadex)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G-200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6×10</a:t>
                      </a:r>
                      <a:r>
                        <a:rPr kumimoji="1" lang="zh-CN" altLang="en-US" sz="2400" b="0" i="0" u="none" strike="noStrike" cap="none" normalizeH="0" baseline="30000">
                          <a:ln>
                            <a:noFill/>
                          </a:ln>
                          <a:solidFill>
                            <a:schemeClr val="tx1"/>
                          </a:solidFill>
                          <a:effectLst/>
                          <a:latin typeface="华文中宋" panose="02010600040101010101" pitchFamily="2" charset="-122"/>
                          <a:ea typeface="华文中宋" panose="02010600040101010101" pitchFamily="2" charset="-122"/>
                        </a:rPr>
                        <a:t>5</a:t>
                      </a: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750599"/>
                  </a:ext>
                </a:extLst>
              </a:tr>
              <a:tr h="222250">
                <a:tc vMerge="1">
                  <a:txBody>
                    <a:bodyPr/>
                    <a:lstStyle/>
                    <a:p>
                      <a:endParaRPr lang="zh-CN" altLang="en-US"/>
                    </a:p>
                  </a:txBody>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G-100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1.5×10</a:t>
                      </a:r>
                      <a:r>
                        <a:rPr kumimoji="1" lang="zh-CN" altLang="en-US" sz="2400" b="0" i="0" u="none" strike="noStrike" cap="none" normalizeH="0" baseline="30000">
                          <a:ln>
                            <a:noFill/>
                          </a:ln>
                          <a:solidFill>
                            <a:schemeClr val="tx1"/>
                          </a:solidFill>
                          <a:effectLst/>
                          <a:latin typeface="华文中宋" panose="02010600040101010101" pitchFamily="2" charset="-122"/>
                          <a:ea typeface="华文中宋" panose="02010600040101010101" pitchFamily="2" charset="-122"/>
                        </a:rPr>
                        <a:t>5</a:t>
                      </a: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76160459"/>
                  </a:ext>
                </a:extLst>
              </a:tr>
              <a:tr h="574675">
                <a:tc vMerge="1">
                  <a:txBody>
                    <a:bodyPr/>
                    <a:lstStyle/>
                    <a:p>
                      <a:endParaRPr lang="zh-CN" altLang="en-US"/>
                    </a:p>
                  </a:txBody>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G-50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3×10</a:t>
                      </a:r>
                      <a:r>
                        <a:rPr kumimoji="1" lang="zh-CN" altLang="en-US" sz="2400" b="0" i="0" u="none" strike="noStrike" cap="none" normalizeH="0" baseline="30000">
                          <a:ln>
                            <a:noFill/>
                          </a:ln>
                          <a:solidFill>
                            <a:schemeClr val="tx1"/>
                          </a:solidFill>
                          <a:effectLst/>
                          <a:latin typeface="华文中宋" panose="02010600040101010101" pitchFamily="2" charset="-122"/>
                          <a:ea typeface="华文中宋" panose="02010600040101010101" pitchFamily="2" charset="-122"/>
                        </a:rPr>
                        <a:t>4</a:t>
                      </a: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68202565"/>
                  </a:ext>
                </a:extLst>
              </a:tr>
              <a:tr h="222250">
                <a:tc vMerge="1">
                  <a:txBody>
                    <a:bodyPr/>
                    <a:lstStyle/>
                    <a:p>
                      <a:endParaRPr lang="zh-CN" altLang="en-US"/>
                    </a:p>
                  </a:txBody>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G-25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5×10</a:t>
                      </a:r>
                      <a:r>
                        <a:rPr kumimoji="1" lang="zh-CN" altLang="en-US" sz="2400" b="0" i="0" u="none" strike="noStrike" cap="none" normalizeH="0" baseline="30000">
                          <a:ln>
                            <a:noFill/>
                          </a:ln>
                          <a:solidFill>
                            <a:schemeClr val="tx1"/>
                          </a:solidFill>
                          <a:effectLst/>
                          <a:latin typeface="华文中宋" panose="02010600040101010101" pitchFamily="2" charset="-122"/>
                          <a:ea typeface="华文中宋" panose="02010600040101010101" pitchFamily="2" charset="-122"/>
                        </a:rPr>
                        <a:t>3</a:t>
                      </a: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47366244"/>
                  </a:ext>
                </a:extLst>
              </a:tr>
              <a:tr h="222250">
                <a:tc rowSpan="2">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 聚丙烯酰胺凝胶 </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   (</a:t>
                      </a:r>
                      <a:r>
                        <a:rPr kumimoji="1" lang="en-US" altLang="zh-CN"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Bio-Gel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P-300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5×10</a:t>
                      </a:r>
                      <a:r>
                        <a:rPr kumimoji="1" lang="zh-CN" altLang="en-US" sz="2400" b="0" i="0" u="none" strike="noStrike" cap="none" normalizeH="0" baseline="30000">
                          <a:ln>
                            <a:noFill/>
                          </a:ln>
                          <a:solidFill>
                            <a:schemeClr val="tx1"/>
                          </a:solidFill>
                          <a:effectLst/>
                          <a:latin typeface="华文中宋" panose="02010600040101010101" pitchFamily="2" charset="-122"/>
                          <a:ea typeface="华文中宋" panose="02010600040101010101" pitchFamily="2" charset="-122"/>
                        </a:rPr>
                        <a:t>5</a:t>
                      </a: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10612625"/>
                  </a:ext>
                </a:extLst>
              </a:tr>
              <a:tr h="400050">
                <a:tc vMerge="1">
                  <a:txBody>
                    <a:bodyPr/>
                    <a:lstStyle/>
                    <a:p>
                      <a:endParaRPr lang="zh-CN" altLang="en-US"/>
                    </a:p>
                  </a:txBody>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P-150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1.5×10</a:t>
                      </a:r>
                      <a:r>
                        <a:rPr kumimoji="1" lang="zh-CN" altLang="en-US" sz="2400" b="0" i="0" u="none" strike="noStrike" cap="none" normalizeH="0" baseline="30000">
                          <a:ln>
                            <a:noFill/>
                          </a:ln>
                          <a:solidFill>
                            <a:schemeClr val="tx1"/>
                          </a:solidFill>
                          <a:effectLst/>
                          <a:latin typeface="华文中宋" panose="02010600040101010101" pitchFamily="2" charset="-122"/>
                          <a:ea typeface="华文中宋" panose="02010600040101010101" pitchFamily="2" charset="-122"/>
                        </a:rPr>
                        <a:t>5</a:t>
                      </a: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01965918"/>
                  </a:ext>
                </a:extLst>
              </a:tr>
              <a:tr h="222250">
                <a:tc rowSpan="3">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   琼脂糖凝胶  </a:t>
                      </a: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   （</a:t>
                      </a:r>
                      <a:r>
                        <a:rPr kumimoji="1" lang="en-US" altLang="zh-CN"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Sepharose）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 2</a:t>
                      </a:r>
                      <a:r>
                        <a:rPr kumimoji="1" lang="en-US" altLang="zh-CN"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1.5×10</a:t>
                      </a:r>
                      <a:r>
                        <a:rPr kumimoji="1" lang="zh-CN" altLang="en-US" sz="2400" b="0" i="0" u="none" strike="noStrike" cap="none" normalizeH="0" baseline="30000">
                          <a:ln>
                            <a:noFill/>
                          </a:ln>
                          <a:solidFill>
                            <a:schemeClr val="tx1"/>
                          </a:solidFill>
                          <a:effectLst/>
                          <a:latin typeface="华文中宋" panose="02010600040101010101" pitchFamily="2" charset="-122"/>
                          <a:ea typeface="华文中宋" panose="02010600040101010101"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60987154"/>
                  </a:ext>
                </a:extLst>
              </a:tr>
              <a:tr h="223838">
                <a:tc vMerge="1">
                  <a:txBody>
                    <a:bodyPr/>
                    <a:lstStyle/>
                    <a:p>
                      <a:endParaRPr lang="zh-CN" altLang="en-US"/>
                    </a:p>
                  </a:txBody>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 4</a:t>
                      </a:r>
                      <a:r>
                        <a:rPr kumimoji="1" lang="en-US" altLang="zh-CN"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1.5×10</a:t>
                      </a:r>
                      <a:r>
                        <a:rPr kumimoji="1" lang="zh-CN" altLang="en-US" sz="2400" b="0" i="0" u="none" strike="noStrike" cap="none" normalizeH="0" baseline="30000">
                          <a:ln>
                            <a:noFill/>
                          </a:ln>
                          <a:solidFill>
                            <a:schemeClr val="tx1"/>
                          </a:solidFill>
                          <a:effectLst/>
                          <a:latin typeface="华文中宋" panose="02010600040101010101" pitchFamily="2" charset="-122"/>
                          <a:ea typeface="华文中宋" panose="02010600040101010101"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02017111"/>
                  </a:ext>
                </a:extLst>
              </a:tr>
              <a:tr h="222250">
                <a:tc vMerge="1">
                  <a:txBody>
                    <a:bodyPr/>
                    <a:lstStyle/>
                    <a:p>
                      <a:endParaRPr lang="zh-CN" altLang="en-US"/>
                    </a:p>
                  </a:txBody>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 6</a:t>
                      </a:r>
                      <a:r>
                        <a:rPr kumimoji="1" lang="en-US" altLang="zh-CN" sz="24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4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1.5×10</a:t>
                      </a:r>
                      <a:r>
                        <a:rPr kumimoji="1" lang="zh-CN" altLang="en-US" sz="2400" b="0" i="0" u="none" strike="noStrike" cap="none" normalizeH="0" baseline="30000" dirty="0">
                          <a:ln>
                            <a:noFill/>
                          </a:ln>
                          <a:solidFill>
                            <a:schemeClr val="tx1"/>
                          </a:solidFill>
                          <a:effectLst/>
                          <a:latin typeface="华文中宋" panose="02010600040101010101" pitchFamily="2" charset="-122"/>
                          <a:ea typeface="华文中宋" panose="02010600040101010101"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31094713"/>
                  </a:ext>
                </a:extLst>
              </a:tr>
            </a:tbl>
          </a:graphicData>
        </a:graphic>
      </p:graphicFrame>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a:extLst>
              <a:ext uri="{FF2B5EF4-FFF2-40B4-BE49-F238E27FC236}">
                <a16:creationId xmlns:a16="http://schemas.microsoft.com/office/drawing/2014/main" id="{CE228DD0-C7CC-42A6-8E8A-5FD60CE3D202}"/>
              </a:ext>
            </a:extLst>
          </p:cNvPr>
          <p:cNvSpPr>
            <a:spLocks noGrp="1" noChangeArrowheads="1"/>
          </p:cNvSpPr>
          <p:nvPr>
            <p:ph type="title"/>
          </p:nvPr>
        </p:nvSpPr>
        <p:spPr/>
        <p:txBody>
          <a:bodyPr/>
          <a:lstStyle/>
          <a:p>
            <a:pPr eaLnBrk="1" hangingPunct="1"/>
            <a:endParaRPr lang="zh-CN" altLang="en-US"/>
          </a:p>
        </p:txBody>
      </p:sp>
      <p:sp>
        <p:nvSpPr>
          <p:cNvPr id="354307" name="Rectangle 3">
            <a:extLst>
              <a:ext uri="{FF2B5EF4-FFF2-40B4-BE49-F238E27FC236}">
                <a16:creationId xmlns:a16="http://schemas.microsoft.com/office/drawing/2014/main" id="{05BFB371-8950-46EC-A541-1BFFA63EDD83}"/>
              </a:ext>
            </a:extLst>
          </p:cNvPr>
          <p:cNvSpPr>
            <a:spLocks noGrp="1" noChangeArrowheads="1"/>
          </p:cNvSpPr>
          <p:nvPr>
            <p:ph type="body" idx="1"/>
          </p:nvPr>
        </p:nvSpPr>
        <p:spPr/>
        <p:txBody>
          <a:bodyPr/>
          <a:lstStyle/>
          <a:p>
            <a:pPr eaLnBrk="1" hangingPunct="1"/>
            <a:endParaRPr lang="zh-CN" altLang="en-US"/>
          </a:p>
        </p:txBody>
      </p:sp>
      <p:pic>
        <p:nvPicPr>
          <p:cNvPr id="354308" name="Picture 4">
            <a:extLst>
              <a:ext uri="{FF2B5EF4-FFF2-40B4-BE49-F238E27FC236}">
                <a16:creationId xmlns:a16="http://schemas.microsoft.com/office/drawing/2014/main" id="{FC9F5A8A-7CC8-4CDF-A717-20884702DC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457200"/>
            <a:ext cx="8382000" cy="630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4309" name="Text Box 5">
            <a:extLst>
              <a:ext uri="{FF2B5EF4-FFF2-40B4-BE49-F238E27FC236}">
                <a16:creationId xmlns:a16="http://schemas.microsoft.com/office/drawing/2014/main" id="{51B38368-D331-4DE9-957C-CAEA80361A5D}"/>
              </a:ext>
            </a:extLst>
          </p:cNvPr>
          <p:cNvSpPr txBox="1">
            <a:spLocks noChangeArrowheads="1"/>
          </p:cNvSpPr>
          <p:nvPr/>
        </p:nvSpPr>
        <p:spPr bwMode="auto">
          <a:xfrm>
            <a:off x="381000" y="0"/>
            <a:ext cx="670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a:latin typeface="Times New Roman" panose="02020603050405020304" pitchFamily="18" charset="0"/>
              </a:rPr>
              <a:t>Ion exchange chromatography</a:t>
            </a: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5330" name="Picture 2">
            <a:extLst>
              <a:ext uri="{FF2B5EF4-FFF2-40B4-BE49-F238E27FC236}">
                <a16:creationId xmlns:a16="http://schemas.microsoft.com/office/drawing/2014/main" id="{AFC06DD4-CC0C-423B-BDA1-D05A49A77C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9113" y="0"/>
            <a:ext cx="367188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5331" name="Text Box 3">
            <a:extLst>
              <a:ext uri="{FF2B5EF4-FFF2-40B4-BE49-F238E27FC236}">
                <a16:creationId xmlns:a16="http://schemas.microsoft.com/office/drawing/2014/main" id="{FAA4A25C-7F1B-491A-B927-95B7161A8639}"/>
              </a:ext>
            </a:extLst>
          </p:cNvPr>
          <p:cNvSpPr txBox="1">
            <a:spLocks noChangeArrowheads="1"/>
          </p:cNvSpPr>
          <p:nvPr/>
        </p:nvSpPr>
        <p:spPr bwMode="auto">
          <a:xfrm>
            <a:off x="228600" y="381000"/>
            <a:ext cx="4038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a:latin typeface="Times New Roman" panose="02020603050405020304" pitchFamily="18" charset="0"/>
              </a:rPr>
              <a:t>Affinity chromatography</a:t>
            </a: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6354" name="Picture 2">
            <a:extLst>
              <a:ext uri="{FF2B5EF4-FFF2-40B4-BE49-F238E27FC236}">
                <a16:creationId xmlns:a16="http://schemas.microsoft.com/office/drawing/2014/main" id="{E640E4F8-D043-4CB8-A804-16F890B79E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516" t="5608" r="6250" b="2586"/>
          <a:stretch>
            <a:fillRect/>
          </a:stretch>
        </p:blipFill>
        <p:spPr bwMode="auto">
          <a:xfrm>
            <a:off x="428625" y="71438"/>
            <a:ext cx="8286750" cy="674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7378" name="Picture 2">
            <a:extLst>
              <a:ext uri="{FF2B5EF4-FFF2-40B4-BE49-F238E27FC236}">
                <a16:creationId xmlns:a16="http://schemas.microsoft.com/office/drawing/2014/main" id="{82B098F2-D22A-4DA3-B9C7-FBA54ADD37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700" y="3886200"/>
            <a:ext cx="3784600" cy="217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7379" name="Picture 3">
            <a:extLst>
              <a:ext uri="{FF2B5EF4-FFF2-40B4-BE49-F238E27FC236}">
                <a16:creationId xmlns:a16="http://schemas.microsoft.com/office/drawing/2014/main" id="{E9A2F14C-895E-4EAD-9E3A-56687DA18D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8275" y="736600"/>
            <a:ext cx="5013325" cy="55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7380" name="Text Box 4">
            <a:extLst>
              <a:ext uri="{FF2B5EF4-FFF2-40B4-BE49-F238E27FC236}">
                <a16:creationId xmlns:a16="http://schemas.microsoft.com/office/drawing/2014/main" id="{FBCA09F9-604B-43A3-A3CC-8EE6B6A0FFD7}"/>
              </a:ext>
            </a:extLst>
          </p:cNvPr>
          <p:cNvSpPr txBox="1">
            <a:spLocks noChangeArrowheads="1"/>
          </p:cNvSpPr>
          <p:nvPr/>
        </p:nvSpPr>
        <p:spPr bwMode="auto">
          <a:xfrm>
            <a:off x="827088" y="2060575"/>
            <a:ext cx="3124200"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a:latin typeface="Times New Roman" panose="02020603050405020304" pitchFamily="18" charset="0"/>
              </a:rPr>
              <a:t>Native PAGE</a:t>
            </a:r>
          </a:p>
          <a:p>
            <a:pPr eaLnBrk="1" hangingPunct="1">
              <a:spcBef>
                <a:spcPct val="50000"/>
              </a:spcBef>
              <a:buClrTx/>
              <a:buSzTx/>
              <a:buFontTx/>
              <a:buNone/>
            </a:pPr>
            <a:r>
              <a:rPr lang="en-US" altLang="zh-CN" sz="2800" b="1">
                <a:latin typeface="Times New Roman" panose="02020603050405020304" pitchFamily="18" charset="0"/>
              </a:rPr>
              <a:t>SDS-PAGE</a:t>
            </a:r>
          </a:p>
        </p:txBody>
      </p:sp>
      <p:sp>
        <p:nvSpPr>
          <p:cNvPr id="357381" name="Text Box 9">
            <a:extLst>
              <a:ext uri="{FF2B5EF4-FFF2-40B4-BE49-F238E27FC236}">
                <a16:creationId xmlns:a16="http://schemas.microsoft.com/office/drawing/2014/main" id="{1A54C428-DCAE-4810-A14E-CB647FABD237}"/>
              </a:ext>
            </a:extLst>
          </p:cNvPr>
          <p:cNvSpPr txBox="1">
            <a:spLocks noChangeArrowheads="1"/>
          </p:cNvSpPr>
          <p:nvPr/>
        </p:nvSpPr>
        <p:spPr bwMode="auto">
          <a:xfrm>
            <a:off x="611188" y="260350"/>
            <a:ext cx="3600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dirty="0">
                <a:solidFill>
                  <a:schemeClr val="hlink"/>
                </a:solidFill>
              </a:rPr>
              <a:t>Electrophoresis</a:t>
            </a: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02" name="Group 11">
            <a:extLst>
              <a:ext uri="{FF2B5EF4-FFF2-40B4-BE49-F238E27FC236}">
                <a16:creationId xmlns:a16="http://schemas.microsoft.com/office/drawing/2014/main" id="{75E03591-E609-4E72-A177-678F7FB595DD}"/>
              </a:ext>
            </a:extLst>
          </p:cNvPr>
          <p:cNvGrpSpPr>
            <a:grpSpLocks/>
          </p:cNvGrpSpPr>
          <p:nvPr/>
        </p:nvGrpSpPr>
        <p:grpSpPr bwMode="auto">
          <a:xfrm>
            <a:off x="115888" y="188913"/>
            <a:ext cx="8777287" cy="6583362"/>
            <a:chOff x="793" y="346"/>
            <a:chExt cx="5529" cy="4147"/>
          </a:xfrm>
        </p:grpSpPr>
        <p:pic>
          <p:nvPicPr>
            <p:cNvPr id="358403" name="Picture 2">
              <a:extLst>
                <a:ext uri="{FF2B5EF4-FFF2-40B4-BE49-F238E27FC236}">
                  <a16:creationId xmlns:a16="http://schemas.microsoft.com/office/drawing/2014/main" id="{CA588185-AB05-4CC3-9256-21CB934A00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 y="346"/>
              <a:ext cx="5529" cy="4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58404" name="Group 10">
              <a:extLst>
                <a:ext uri="{FF2B5EF4-FFF2-40B4-BE49-F238E27FC236}">
                  <a16:creationId xmlns:a16="http://schemas.microsoft.com/office/drawing/2014/main" id="{F3B10B0B-5649-4F19-B9D2-45187F2D657E}"/>
                </a:ext>
              </a:extLst>
            </p:cNvPr>
            <p:cNvGrpSpPr>
              <a:grpSpLocks/>
            </p:cNvGrpSpPr>
            <p:nvPr/>
          </p:nvGrpSpPr>
          <p:grpSpPr bwMode="auto">
            <a:xfrm>
              <a:off x="984" y="2087"/>
              <a:ext cx="272" cy="227"/>
              <a:chOff x="295" y="1842"/>
              <a:chExt cx="272" cy="227"/>
            </a:xfrm>
          </p:grpSpPr>
          <p:sp>
            <p:nvSpPr>
              <p:cNvPr id="358409" name="Oval 3">
                <a:extLst>
                  <a:ext uri="{FF2B5EF4-FFF2-40B4-BE49-F238E27FC236}">
                    <a16:creationId xmlns:a16="http://schemas.microsoft.com/office/drawing/2014/main" id="{A2BFAC4C-23FB-4332-9F7B-66194AD07D1D}"/>
                  </a:ext>
                </a:extLst>
              </p:cNvPr>
              <p:cNvSpPr>
                <a:spLocks noChangeArrowheads="1"/>
              </p:cNvSpPr>
              <p:nvPr/>
            </p:nvSpPr>
            <p:spPr bwMode="auto">
              <a:xfrm>
                <a:off x="295" y="1842"/>
                <a:ext cx="272" cy="22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58410" name="Line 4">
                <a:extLst>
                  <a:ext uri="{FF2B5EF4-FFF2-40B4-BE49-F238E27FC236}">
                    <a16:creationId xmlns:a16="http://schemas.microsoft.com/office/drawing/2014/main" id="{DB9CFEC9-15BB-4CF5-99CA-DF0040006751}"/>
                  </a:ext>
                </a:extLst>
              </p:cNvPr>
              <p:cNvSpPr>
                <a:spLocks noChangeShapeType="1"/>
              </p:cNvSpPr>
              <p:nvPr/>
            </p:nvSpPr>
            <p:spPr bwMode="auto">
              <a:xfrm>
                <a:off x="358" y="1961"/>
                <a:ext cx="136"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58405" name="Group 9">
              <a:extLst>
                <a:ext uri="{FF2B5EF4-FFF2-40B4-BE49-F238E27FC236}">
                  <a16:creationId xmlns:a16="http://schemas.microsoft.com/office/drawing/2014/main" id="{B57150A2-F6E0-475D-9D2E-17FF6E9216DF}"/>
                </a:ext>
              </a:extLst>
            </p:cNvPr>
            <p:cNvGrpSpPr>
              <a:grpSpLocks/>
            </p:cNvGrpSpPr>
            <p:nvPr/>
          </p:nvGrpSpPr>
          <p:grpSpPr bwMode="auto">
            <a:xfrm>
              <a:off x="975" y="3838"/>
              <a:ext cx="272" cy="227"/>
              <a:chOff x="476" y="2659"/>
              <a:chExt cx="272" cy="227"/>
            </a:xfrm>
          </p:grpSpPr>
          <p:sp>
            <p:nvSpPr>
              <p:cNvPr id="358406" name="Oval 5">
                <a:extLst>
                  <a:ext uri="{FF2B5EF4-FFF2-40B4-BE49-F238E27FC236}">
                    <a16:creationId xmlns:a16="http://schemas.microsoft.com/office/drawing/2014/main" id="{9AB27F4A-80E2-4C60-9BCB-94D9285044EE}"/>
                  </a:ext>
                </a:extLst>
              </p:cNvPr>
              <p:cNvSpPr>
                <a:spLocks noChangeArrowheads="1"/>
              </p:cNvSpPr>
              <p:nvPr/>
            </p:nvSpPr>
            <p:spPr bwMode="auto">
              <a:xfrm>
                <a:off x="476" y="2659"/>
                <a:ext cx="272" cy="22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58407" name="Line 6">
                <a:extLst>
                  <a:ext uri="{FF2B5EF4-FFF2-40B4-BE49-F238E27FC236}">
                    <a16:creationId xmlns:a16="http://schemas.microsoft.com/office/drawing/2014/main" id="{6A45E95D-F20A-4BF8-BB49-2CDC62D42419}"/>
                  </a:ext>
                </a:extLst>
              </p:cNvPr>
              <p:cNvSpPr>
                <a:spLocks noChangeShapeType="1"/>
              </p:cNvSpPr>
              <p:nvPr/>
            </p:nvSpPr>
            <p:spPr bwMode="auto">
              <a:xfrm>
                <a:off x="548" y="2777"/>
                <a:ext cx="136"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8408" name="Line 8">
                <a:extLst>
                  <a:ext uri="{FF2B5EF4-FFF2-40B4-BE49-F238E27FC236}">
                    <a16:creationId xmlns:a16="http://schemas.microsoft.com/office/drawing/2014/main" id="{B094413D-E3B4-427B-826E-BB197ACB9AAA}"/>
                  </a:ext>
                </a:extLst>
              </p:cNvPr>
              <p:cNvSpPr>
                <a:spLocks noChangeShapeType="1"/>
              </p:cNvSpPr>
              <p:nvPr/>
            </p:nvSpPr>
            <p:spPr bwMode="auto">
              <a:xfrm>
                <a:off x="612" y="2677"/>
                <a:ext cx="0" cy="181"/>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9426" name="Picture 4" descr="3-27">
            <a:extLst>
              <a:ext uri="{FF2B5EF4-FFF2-40B4-BE49-F238E27FC236}">
                <a16:creationId xmlns:a16="http://schemas.microsoft.com/office/drawing/2014/main" id="{B4D77EFE-AB37-4EAF-ADD3-2EF401E99E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1916113"/>
            <a:ext cx="7197725" cy="410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0450" name="Picture 4">
            <a:extLst>
              <a:ext uri="{FF2B5EF4-FFF2-40B4-BE49-F238E27FC236}">
                <a16:creationId xmlns:a16="http://schemas.microsoft.com/office/drawing/2014/main" id="{4F884623-F15F-4C86-A0B6-1220EFBA9F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274638"/>
            <a:ext cx="8777287" cy="6583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1474" name="Picture 4">
            <a:extLst>
              <a:ext uri="{FF2B5EF4-FFF2-40B4-BE49-F238E27FC236}">
                <a16:creationId xmlns:a16="http://schemas.microsoft.com/office/drawing/2014/main" id="{1D29237E-EDB8-42C4-907C-00AFDA0787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25" y="158750"/>
            <a:ext cx="8777288" cy="658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2498" name="Picture 4">
            <a:extLst>
              <a:ext uri="{FF2B5EF4-FFF2-40B4-BE49-F238E27FC236}">
                <a16:creationId xmlns:a16="http://schemas.microsoft.com/office/drawing/2014/main" id="{3A32D182-E408-4C02-A295-CA3DA3F5DD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25" y="115888"/>
            <a:ext cx="8777288" cy="6583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3522" name="Picture 2">
            <a:extLst>
              <a:ext uri="{FF2B5EF4-FFF2-40B4-BE49-F238E27FC236}">
                <a16:creationId xmlns:a16="http://schemas.microsoft.com/office/drawing/2014/main" id="{27333A47-325C-46C3-B08A-1638FEDBDF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3185"/>
          <a:stretch>
            <a:fillRect/>
          </a:stretch>
        </p:blipFill>
        <p:spPr bwMode="auto">
          <a:xfrm>
            <a:off x="0" y="549275"/>
            <a:ext cx="9197975" cy="5989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4546" name="Picture 4">
            <a:extLst>
              <a:ext uri="{FF2B5EF4-FFF2-40B4-BE49-F238E27FC236}">
                <a16:creationId xmlns:a16="http://schemas.microsoft.com/office/drawing/2014/main" id="{F5C4EC1C-4A62-4C97-B7D6-2113D8A2A3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44463"/>
            <a:ext cx="2682875" cy="645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4547" name="Picture 5" descr="j0293234">
            <a:hlinkClick r:id="rId3" action="ppaction://hlinksldjump"/>
            <a:extLst>
              <a:ext uri="{FF2B5EF4-FFF2-40B4-BE49-F238E27FC236}">
                <a16:creationId xmlns:a16="http://schemas.microsoft.com/office/drawing/2014/main" id="{278132D1-9149-42B6-8040-01EC331CC63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85113" y="0"/>
            <a:ext cx="1042987"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a:extLst>
              <a:ext uri="{FF2B5EF4-FFF2-40B4-BE49-F238E27FC236}">
                <a16:creationId xmlns:a16="http://schemas.microsoft.com/office/drawing/2014/main" id="{5119AA53-FD0F-462D-9A2D-478D11F5ACC1}"/>
              </a:ext>
            </a:extLst>
          </p:cNvPr>
          <p:cNvSpPr>
            <a:spLocks noGrp="1" noChangeArrowheads="1"/>
          </p:cNvSpPr>
          <p:nvPr>
            <p:ph type="title"/>
          </p:nvPr>
        </p:nvSpPr>
        <p:spPr/>
        <p:txBody>
          <a:bodyPr/>
          <a:lstStyle/>
          <a:p>
            <a:r>
              <a:rPr lang="en-US" altLang="zh-CN">
                <a:ea typeface="华文中宋" panose="02010600040101010101" pitchFamily="2" charset="-122"/>
              </a:rPr>
              <a:t>Isoelectric Focusing (IEF)</a:t>
            </a:r>
          </a:p>
        </p:txBody>
      </p:sp>
      <p:sp>
        <p:nvSpPr>
          <p:cNvPr id="365571" name="Rectangle 3">
            <a:extLst>
              <a:ext uri="{FF2B5EF4-FFF2-40B4-BE49-F238E27FC236}">
                <a16:creationId xmlns:a16="http://schemas.microsoft.com/office/drawing/2014/main" id="{0C742BF1-76E5-4767-B0D2-4EE51E18DECD}"/>
              </a:ext>
            </a:extLst>
          </p:cNvPr>
          <p:cNvSpPr>
            <a:spLocks noGrp="1" noChangeArrowheads="1"/>
          </p:cNvSpPr>
          <p:nvPr>
            <p:ph type="body" idx="1"/>
          </p:nvPr>
        </p:nvSpPr>
        <p:spPr>
          <a:xfrm>
            <a:off x="533400" y="2133600"/>
            <a:ext cx="8215313" cy="4535488"/>
          </a:xfrm>
        </p:spPr>
        <p:txBody>
          <a:bodyPr/>
          <a:lstStyle/>
          <a:p>
            <a:pPr>
              <a:lnSpc>
                <a:spcPct val="120000"/>
              </a:lnSpc>
              <a:buFont typeface="Wingdings" panose="05000000000000000000" pitchFamily="2" charset="2"/>
              <a:buNone/>
            </a:pPr>
            <a:r>
              <a:rPr lang="zh-CN" altLang="en-US" sz="2800"/>
              <a:t>       </a:t>
            </a:r>
            <a:r>
              <a:rPr lang="en-US" altLang="zh-CN" sz="2800"/>
              <a:t>IEF can be described as electrophoresis in a pH gradient set up between a cathode and an anode with the cathode at higher pH than the anode. Proteins, being amphoteric species, are positively charged at pH values below their pI and negatively charged above their pI. It means that whenever a  protein is in the gradient, it will migrate towards its pI.</a:t>
            </a:r>
          </a:p>
        </p:txBody>
      </p:sp>
    </p:spTree>
  </p:cSld>
  <p:clrMapOvr>
    <a:masterClrMapping/>
  </p:clrMapOvr>
  <p:transition/>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6594" name="Picture 2">
            <a:extLst>
              <a:ext uri="{FF2B5EF4-FFF2-40B4-BE49-F238E27FC236}">
                <a16:creationId xmlns:a16="http://schemas.microsoft.com/office/drawing/2014/main" id="{330275D8-B8E1-4308-A9C5-3F36BD909E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659" t="7683" r="5696"/>
          <a:stretch>
            <a:fillRect/>
          </a:stretch>
        </p:blipFill>
        <p:spPr bwMode="auto">
          <a:xfrm>
            <a:off x="285750" y="104775"/>
            <a:ext cx="8858250" cy="67532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7618" name="Group 2">
            <a:extLst>
              <a:ext uri="{FF2B5EF4-FFF2-40B4-BE49-F238E27FC236}">
                <a16:creationId xmlns:a16="http://schemas.microsoft.com/office/drawing/2014/main" id="{8D250780-7189-4848-BBEB-6328597D98E3}"/>
              </a:ext>
            </a:extLst>
          </p:cNvPr>
          <p:cNvGrpSpPr>
            <a:grpSpLocks/>
          </p:cNvGrpSpPr>
          <p:nvPr/>
        </p:nvGrpSpPr>
        <p:grpSpPr bwMode="auto">
          <a:xfrm>
            <a:off x="1331913" y="981075"/>
            <a:ext cx="6985000" cy="3984625"/>
            <a:chOff x="431" y="618"/>
            <a:chExt cx="4400" cy="2510"/>
          </a:xfrm>
        </p:grpSpPr>
        <p:sp>
          <p:nvSpPr>
            <p:cNvPr id="367626" name="Rectangle 3">
              <a:extLst>
                <a:ext uri="{FF2B5EF4-FFF2-40B4-BE49-F238E27FC236}">
                  <a16:creationId xmlns:a16="http://schemas.microsoft.com/office/drawing/2014/main" id="{3456E3A1-A54F-4A8B-A6A2-5D4E778E621D}"/>
                </a:ext>
              </a:extLst>
            </p:cNvPr>
            <p:cNvSpPr>
              <a:spLocks noChangeArrowheads="1"/>
            </p:cNvSpPr>
            <p:nvPr/>
          </p:nvSpPr>
          <p:spPr bwMode="auto">
            <a:xfrm>
              <a:off x="431" y="618"/>
              <a:ext cx="1769" cy="2495"/>
            </a:xfrm>
            <a:prstGeom prst="rect">
              <a:avLst/>
            </a:prstGeom>
            <a:solidFill>
              <a:srgbClr val="FFCC66"/>
            </a:solidFill>
            <a:ln w="9525">
              <a:solidFill>
                <a:srgbClr val="FF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7627" name="Rectangle 4">
              <a:extLst>
                <a:ext uri="{FF2B5EF4-FFF2-40B4-BE49-F238E27FC236}">
                  <a16:creationId xmlns:a16="http://schemas.microsoft.com/office/drawing/2014/main" id="{5BECABC7-C3BF-43E3-AF87-A640E6D51E53}"/>
                </a:ext>
              </a:extLst>
            </p:cNvPr>
            <p:cNvSpPr>
              <a:spLocks noChangeArrowheads="1"/>
            </p:cNvSpPr>
            <p:nvPr/>
          </p:nvSpPr>
          <p:spPr bwMode="auto">
            <a:xfrm>
              <a:off x="3061" y="633"/>
              <a:ext cx="1769" cy="2495"/>
            </a:xfrm>
            <a:prstGeom prst="rect">
              <a:avLst/>
            </a:prstGeom>
            <a:solidFill>
              <a:srgbClr val="FFCC66"/>
            </a:solidFill>
            <a:ln w="9525">
              <a:solidFill>
                <a:srgbClr val="FF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7628" name="Oval 5">
              <a:extLst>
                <a:ext uri="{FF2B5EF4-FFF2-40B4-BE49-F238E27FC236}">
                  <a16:creationId xmlns:a16="http://schemas.microsoft.com/office/drawing/2014/main" id="{F1333237-86BE-438B-A589-814F6D8AECBE}"/>
                </a:ext>
              </a:extLst>
            </p:cNvPr>
            <p:cNvSpPr>
              <a:spLocks noChangeArrowheads="1"/>
            </p:cNvSpPr>
            <p:nvPr/>
          </p:nvSpPr>
          <p:spPr bwMode="auto">
            <a:xfrm>
              <a:off x="793" y="981"/>
              <a:ext cx="273" cy="27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7629" name="Oval 6">
              <a:extLst>
                <a:ext uri="{FF2B5EF4-FFF2-40B4-BE49-F238E27FC236}">
                  <a16:creationId xmlns:a16="http://schemas.microsoft.com/office/drawing/2014/main" id="{62D4A304-716B-48CF-93AE-86D363AA955E}"/>
                </a:ext>
              </a:extLst>
            </p:cNvPr>
            <p:cNvSpPr>
              <a:spLocks noChangeArrowheads="1"/>
            </p:cNvSpPr>
            <p:nvPr/>
          </p:nvSpPr>
          <p:spPr bwMode="auto">
            <a:xfrm>
              <a:off x="1519" y="981"/>
              <a:ext cx="272" cy="27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7630" name="Text Box 7">
              <a:extLst>
                <a:ext uri="{FF2B5EF4-FFF2-40B4-BE49-F238E27FC236}">
                  <a16:creationId xmlns:a16="http://schemas.microsoft.com/office/drawing/2014/main" id="{57949AA4-8A16-472B-8D3A-22B5098D4AC6}"/>
                </a:ext>
              </a:extLst>
            </p:cNvPr>
            <p:cNvSpPr txBox="1">
              <a:spLocks noChangeArrowheads="1"/>
            </p:cNvSpPr>
            <p:nvPr/>
          </p:nvSpPr>
          <p:spPr bwMode="auto">
            <a:xfrm>
              <a:off x="607" y="674"/>
              <a:ext cx="862" cy="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70000"/>
                </a:lnSpc>
              </a:pPr>
              <a:r>
                <a:rPr lang="en-US" altLang="zh-CN" b="1">
                  <a:latin typeface="Times New Roman" panose="02020603050405020304" pitchFamily="18" charset="0"/>
                </a:rPr>
                <a:t>_     _ </a:t>
              </a:r>
            </a:p>
            <a:p>
              <a:pPr eaLnBrk="1" hangingPunct="1">
                <a:lnSpc>
                  <a:spcPct val="70000"/>
                </a:lnSpc>
              </a:pPr>
              <a:r>
                <a:rPr lang="en-US" altLang="zh-CN" b="1">
                  <a:latin typeface="Times New Roman" panose="02020603050405020304" pitchFamily="18" charset="0"/>
                </a:rPr>
                <a:t>_       _</a:t>
              </a:r>
            </a:p>
            <a:p>
              <a:pPr eaLnBrk="1" hangingPunct="1">
                <a:lnSpc>
                  <a:spcPct val="70000"/>
                </a:lnSpc>
              </a:pPr>
              <a:r>
                <a:rPr lang="en-US" altLang="zh-CN" b="1">
                  <a:latin typeface="Times New Roman" panose="02020603050405020304" pitchFamily="18" charset="0"/>
                </a:rPr>
                <a:t>+   +  </a:t>
              </a:r>
            </a:p>
          </p:txBody>
        </p:sp>
        <p:sp>
          <p:nvSpPr>
            <p:cNvPr id="367631" name="Text Box 8">
              <a:extLst>
                <a:ext uri="{FF2B5EF4-FFF2-40B4-BE49-F238E27FC236}">
                  <a16:creationId xmlns:a16="http://schemas.microsoft.com/office/drawing/2014/main" id="{59662954-87F1-4DD1-9F4D-9BC4837ED038}"/>
                </a:ext>
              </a:extLst>
            </p:cNvPr>
            <p:cNvSpPr txBox="1">
              <a:spLocks noChangeArrowheads="1"/>
            </p:cNvSpPr>
            <p:nvPr/>
          </p:nvSpPr>
          <p:spPr bwMode="auto">
            <a:xfrm>
              <a:off x="1383" y="754"/>
              <a:ext cx="862" cy="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70000"/>
                </a:lnSpc>
              </a:pPr>
              <a:r>
                <a:rPr lang="en-US" altLang="zh-CN" b="1">
                  <a:latin typeface="Times New Roman" panose="02020603050405020304" pitchFamily="18" charset="0"/>
                </a:rPr>
                <a:t>_     _ </a:t>
              </a:r>
            </a:p>
            <a:p>
              <a:pPr eaLnBrk="1" hangingPunct="1">
                <a:lnSpc>
                  <a:spcPct val="70000"/>
                </a:lnSpc>
              </a:pPr>
              <a:r>
                <a:rPr lang="en-US" altLang="zh-CN" b="1">
                  <a:latin typeface="Times New Roman" panose="02020603050405020304" pitchFamily="18" charset="0"/>
                </a:rPr>
                <a:t>_       _</a:t>
              </a:r>
            </a:p>
            <a:p>
              <a:pPr eaLnBrk="1" hangingPunct="1">
                <a:lnSpc>
                  <a:spcPct val="70000"/>
                </a:lnSpc>
              </a:pPr>
              <a:r>
                <a:rPr lang="en-US" altLang="zh-CN" b="1">
                  <a:latin typeface="Times New Roman" panose="02020603050405020304" pitchFamily="18" charset="0"/>
                </a:rPr>
                <a:t>+   --</a:t>
              </a:r>
            </a:p>
          </p:txBody>
        </p:sp>
        <p:sp>
          <p:nvSpPr>
            <p:cNvPr id="367632" name="Text Box 9">
              <a:extLst>
                <a:ext uri="{FF2B5EF4-FFF2-40B4-BE49-F238E27FC236}">
                  <a16:creationId xmlns:a16="http://schemas.microsoft.com/office/drawing/2014/main" id="{B894E294-B1AF-4329-BCAD-6ABFC71F4029}"/>
                </a:ext>
              </a:extLst>
            </p:cNvPr>
            <p:cNvSpPr txBox="1">
              <a:spLocks noChangeArrowheads="1"/>
            </p:cNvSpPr>
            <p:nvPr/>
          </p:nvSpPr>
          <p:spPr bwMode="auto">
            <a:xfrm>
              <a:off x="3969" y="2024"/>
              <a:ext cx="862" cy="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70000"/>
                </a:lnSpc>
              </a:pPr>
              <a:r>
                <a:rPr lang="en-US" altLang="zh-CN" b="1">
                  <a:latin typeface="Times New Roman" panose="02020603050405020304" pitchFamily="18" charset="0"/>
                </a:rPr>
                <a:t>_     _ </a:t>
              </a:r>
            </a:p>
            <a:p>
              <a:pPr eaLnBrk="1" hangingPunct="1">
                <a:lnSpc>
                  <a:spcPct val="70000"/>
                </a:lnSpc>
              </a:pPr>
              <a:r>
                <a:rPr lang="en-US" altLang="zh-CN" b="1">
                  <a:latin typeface="Times New Roman" panose="02020603050405020304" pitchFamily="18" charset="0"/>
                </a:rPr>
                <a:t>_       +</a:t>
              </a:r>
            </a:p>
            <a:p>
              <a:pPr eaLnBrk="1" hangingPunct="1">
                <a:lnSpc>
                  <a:spcPct val="70000"/>
                </a:lnSpc>
              </a:pPr>
              <a:r>
                <a:rPr lang="en-US" altLang="zh-CN" b="1">
                  <a:latin typeface="Times New Roman" panose="02020603050405020304" pitchFamily="18" charset="0"/>
                </a:rPr>
                <a:t>+   +  </a:t>
              </a:r>
            </a:p>
          </p:txBody>
        </p:sp>
        <p:sp>
          <p:nvSpPr>
            <p:cNvPr id="367633" name="Oval 10">
              <a:extLst>
                <a:ext uri="{FF2B5EF4-FFF2-40B4-BE49-F238E27FC236}">
                  <a16:creationId xmlns:a16="http://schemas.microsoft.com/office/drawing/2014/main" id="{6B0E518A-A5B6-4D95-BEF9-9CB699C88237}"/>
                </a:ext>
              </a:extLst>
            </p:cNvPr>
            <p:cNvSpPr>
              <a:spLocks noChangeArrowheads="1"/>
            </p:cNvSpPr>
            <p:nvPr/>
          </p:nvSpPr>
          <p:spPr bwMode="auto">
            <a:xfrm>
              <a:off x="4195" y="2296"/>
              <a:ext cx="227" cy="2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7634" name="Oval 11">
              <a:extLst>
                <a:ext uri="{FF2B5EF4-FFF2-40B4-BE49-F238E27FC236}">
                  <a16:creationId xmlns:a16="http://schemas.microsoft.com/office/drawing/2014/main" id="{0496E4D4-103C-410B-B939-92949AFBE60D}"/>
                </a:ext>
              </a:extLst>
            </p:cNvPr>
            <p:cNvSpPr>
              <a:spLocks noChangeArrowheads="1"/>
            </p:cNvSpPr>
            <p:nvPr/>
          </p:nvSpPr>
          <p:spPr bwMode="auto">
            <a:xfrm>
              <a:off x="3379" y="1616"/>
              <a:ext cx="227" cy="2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7635" name="Text Box 12">
              <a:extLst>
                <a:ext uri="{FF2B5EF4-FFF2-40B4-BE49-F238E27FC236}">
                  <a16:creationId xmlns:a16="http://schemas.microsoft.com/office/drawing/2014/main" id="{3657E2E7-EDA2-4494-944B-A6CA9DA2BB90}"/>
                </a:ext>
              </a:extLst>
            </p:cNvPr>
            <p:cNvSpPr txBox="1">
              <a:spLocks noChangeArrowheads="1"/>
            </p:cNvSpPr>
            <p:nvPr/>
          </p:nvSpPr>
          <p:spPr bwMode="auto">
            <a:xfrm>
              <a:off x="3152" y="1389"/>
              <a:ext cx="862" cy="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lnSpc>
                  <a:spcPct val="70000"/>
                </a:lnSpc>
              </a:pPr>
              <a:r>
                <a:rPr lang="en-US" altLang="zh-CN" b="1">
                  <a:latin typeface="Times New Roman" panose="02020603050405020304" pitchFamily="18" charset="0"/>
                </a:rPr>
                <a:t>_     _ </a:t>
              </a:r>
            </a:p>
            <a:p>
              <a:pPr eaLnBrk="1" hangingPunct="1">
                <a:lnSpc>
                  <a:spcPct val="70000"/>
                </a:lnSpc>
              </a:pPr>
              <a:r>
                <a:rPr lang="en-US" altLang="zh-CN" b="1">
                  <a:latin typeface="Times New Roman" panose="02020603050405020304" pitchFamily="18" charset="0"/>
                </a:rPr>
                <a:t>_       +</a:t>
              </a:r>
            </a:p>
            <a:p>
              <a:pPr eaLnBrk="1" hangingPunct="1">
                <a:lnSpc>
                  <a:spcPct val="70000"/>
                </a:lnSpc>
              </a:pPr>
              <a:r>
                <a:rPr lang="en-US" altLang="zh-CN" b="1">
                  <a:latin typeface="Times New Roman" panose="02020603050405020304" pitchFamily="18" charset="0"/>
                </a:rPr>
                <a:t>+   +  </a:t>
              </a:r>
            </a:p>
          </p:txBody>
        </p:sp>
      </p:grpSp>
      <p:sp>
        <p:nvSpPr>
          <p:cNvPr id="367619" name="Oval 13">
            <a:extLst>
              <a:ext uri="{FF2B5EF4-FFF2-40B4-BE49-F238E27FC236}">
                <a16:creationId xmlns:a16="http://schemas.microsoft.com/office/drawing/2014/main" id="{5DEB5F80-0AC4-4454-8AA2-B73888650178}"/>
              </a:ext>
            </a:extLst>
          </p:cNvPr>
          <p:cNvSpPr>
            <a:spLocks noChangeArrowheads="1"/>
          </p:cNvSpPr>
          <p:nvPr/>
        </p:nvSpPr>
        <p:spPr bwMode="auto">
          <a:xfrm>
            <a:off x="611188" y="1125538"/>
            <a:ext cx="360362" cy="433387"/>
          </a:xfrm>
          <a:prstGeom prst="ellipse">
            <a:avLst/>
          </a:prstGeom>
          <a:solidFill>
            <a:srgbClr val="FF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7620" name="Line 14">
            <a:extLst>
              <a:ext uri="{FF2B5EF4-FFF2-40B4-BE49-F238E27FC236}">
                <a16:creationId xmlns:a16="http://schemas.microsoft.com/office/drawing/2014/main" id="{E4688BCF-E670-4835-A7BE-60C709361031}"/>
              </a:ext>
            </a:extLst>
          </p:cNvPr>
          <p:cNvSpPr>
            <a:spLocks noChangeShapeType="1"/>
          </p:cNvSpPr>
          <p:nvPr/>
        </p:nvSpPr>
        <p:spPr bwMode="auto">
          <a:xfrm>
            <a:off x="611188" y="1341438"/>
            <a:ext cx="3603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7621" name="AutoShape 15">
            <a:extLst>
              <a:ext uri="{FF2B5EF4-FFF2-40B4-BE49-F238E27FC236}">
                <a16:creationId xmlns:a16="http://schemas.microsoft.com/office/drawing/2014/main" id="{584BACDE-7F65-4EA2-9982-2ACDAFBDB126}"/>
              </a:ext>
            </a:extLst>
          </p:cNvPr>
          <p:cNvSpPr>
            <a:spLocks noChangeArrowheads="1"/>
          </p:cNvSpPr>
          <p:nvPr/>
        </p:nvSpPr>
        <p:spPr bwMode="auto">
          <a:xfrm>
            <a:off x="468313" y="4437063"/>
            <a:ext cx="431800" cy="433387"/>
          </a:xfrm>
          <a:prstGeom prst="flowChartOr">
            <a:avLst/>
          </a:prstGeom>
          <a:solidFill>
            <a:srgbClr val="FFFFCC"/>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7622" name="Text Box 16">
            <a:extLst>
              <a:ext uri="{FF2B5EF4-FFF2-40B4-BE49-F238E27FC236}">
                <a16:creationId xmlns:a16="http://schemas.microsoft.com/office/drawing/2014/main" id="{2AEABCE5-D9DE-482D-982C-0F2F440756F2}"/>
              </a:ext>
            </a:extLst>
          </p:cNvPr>
          <p:cNvSpPr txBox="1">
            <a:spLocks noChangeArrowheads="1"/>
          </p:cNvSpPr>
          <p:nvPr/>
        </p:nvSpPr>
        <p:spPr bwMode="auto">
          <a:xfrm>
            <a:off x="539750" y="2133600"/>
            <a:ext cx="719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pitchFamily="18" charset="0"/>
              </a:rPr>
              <a:t>7.0</a:t>
            </a:r>
          </a:p>
        </p:txBody>
      </p:sp>
      <p:sp>
        <p:nvSpPr>
          <p:cNvPr id="367623" name="Text Box 17">
            <a:extLst>
              <a:ext uri="{FF2B5EF4-FFF2-40B4-BE49-F238E27FC236}">
                <a16:creationId xmlns:a16="http://schemas.microsoft.com/office/drawing/2014/main" id="{6A156ADA-BE65-467C-97AB-19132DE050F6}"/>
              </a:ext>
            </a:extLst>
          </p:cNvPr>
          <p:cNvSpPr txBox="1">
            <a:spLocks noChangeArrowheads="1"/>
          </p:cNvSpPr>
          <p:nvPr/>
        </p:nvSpPr>
        <p:spPr bwMode="auto">
          <a:xfrm>
            <a:off x="506413" y="2852738"/>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pitchFamily="18" charset="0"/>
              </a:rPr>
              <a:t>6.0</a:t>
            </a:r>
          </a:p>
        </p:txBody>
      </p:sp>
      <p:sp>
        <p:nvSpPr>
          <p:cNvPr id="367624" name="Text Box 18">
            <a:extLst>
              <a:ext uri="{FF2B5EF4-FFF2-40B4-BE49-F238E27FC236}">
                <a16:creationId xmlns:a16="http://schemas.microsoft.com/office/drawing/2014/main" id="{30E379B6-3870-4803-89FC-AD095757CAA8}"/>
              </a:ext>
            </a:extLst>
          </p:cNvPr>
          <p:cNvSpPr txBox="1">
            <a:spLocks noChangeArrowheads="1"/>
          </p:cNvSpPr>
          <p:nvPr/>
        </p:nvSpPr>
        <p:spPr bwMode="auto">
          <a:xfrm>
            <a:off x="420688" y="3644900"/>
            <a:ext cx="576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pitchFamily="18" charset="0"/>
              </a:rPr>
              <a:t>5.0</a:t>
            </a:r>
          </a:p>
        </p:txBody>
      </p:sp>
      <p:sp>
        <p:nvSpPr>
          <p:cNvPr id="367625" name="Text Box 19">
            <a:extLst>
              <a:ext uri="{FF2B5EF4-FFF2-40B4-BE49-F238E27FC236}">
                <a16:creationId xmlns:a16="http://schemas.microsoft.com/office/drawing/2014/main" id="{1281265D-3249-4429-A90D-172147EA3822}"/>
              </a:ext>
            </a:extLst>
          </p:cNvPr>
          <p:cNvSpPr txBox="1">
            <a:spLocks noChangeArrowheads="1"/>
          </p:cNvSpPr>
          <p:nvPr/>
        </p:nvSpPr>
        <p:spPr bwMode="auto">
          <a:xfrm>
            <a:off x="3276600" y="5589588"/>
            <a:ext cx="30956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3600" b="1">
                <a:latin typeface="Times New Roman" panose="02020603050405020304" pitchFamily="18" charset="0"/>
              </a:rPr>
              <a:t>等电聚焦</a:t>
            </a:r>
          </a:p>
        </p:txBody>
      </p:sp>
    </p:spTree>
  </p:cSld>
  <p:clrMapOvr>
    <a:masterClrMapping/>
  </p:clrMapOvr>
  <p:transition/>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a:extLst>
              <a:ext uri="{FF2B5EF4-FFF2-40B4-BE49-F238E27FC236}">
                <a16:creationId xmlns:a16="http://schemas.microsoft.com/office/drawing/2014/main" id="{FD34A97B-7AD9-4D6A-9092-1B1D3CE61F41}"/>
              </a:ext>
            </a:extLst>
          </p:cNvPr>
          <p:cNvSpPr>
            <a:spLocks noChangeArrowheads="1"/>
          </p:cNvSpPr>
          <p:nvPr/>
        </p:nvSpPr>
        <p:spPr bwMode="auto">
          <a:xfrm>
            <a:off x="611188" y="1628775"/>
            <a:ext cx="6985000" cy="576263"/>
          </a:xfrm>
          <a:prstGeom prst="rect">
            <a:avLst/>
          </a:prstGeom>
          <a:solidFill>
            <a:srgbClr val="FFCC66"/>
          </a:solidFill>
          <a:ln w="9525">
            <a:solidFill>
              <a:srgbClr val="FF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8643" name="Rectangle 3">
            <a:extLst>
              <a:ext uri="{FF2B5EF4-FFF2-40B4-BE49-F238E27FC236}">
                <a16:creationId xmlns:a16="http://schemas.microsoft.com/office/drawing/2014/main" id="{B395B077-B0F7-48F1-8F07-8D638CF3D489}"/>
              </a:ext>
            </a:extLst>
          </p:cNvPr>
          <p:cNvSpPr>
            <a:spLocks noChangeArrowheads="1"/>
          </p:cNvSpPr>
          <p:nvPr/>
        </p:nvSpPr>
        <p:spPr bwMode="auto">
          <a:xfrm>
            <a:off x="611188" y="2420938"/>
            <a:ext cx="6985000" cy="3600450"/>
          </a:xfrm>
          <a:prstGeom prst="rect">
            <a:avLst/>
          </a:prstGeom>
          <a:solidFill>
            <a:srgbClr val="FFCC66"/>
          </a:solidFill>
          <a:ln w="9525">
            <a:solidFill>
              <a:srgbClr val="FFFF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8644" name="Line 4">
            <a:extLst>
              <a:ext uri="{FF2B5EF4-FFF2-40B4-BE49-F238E27FC236}">
                <a16:creationId xmlns:a16="http://schemas.microsoft.com/office/drawing/2014/main" id="{D016054A-0A95-4AA5-A810-176A7509BCF4}"/>
              </a:ext>
            </a:extLst>
          </p:cNvPr>
          <p:cNvSpPr>
            <a:spLocks noChangeShapeType="1"/>
          </p:cNvSpPr>
          <p:nvPr/>
        </p:nvSpPr>
        <p:spPr bwMode="auto">
          <a:xfrm>
            <a:off x="2268538" y="1628775"/>
            <a:ext cx="0" cy="57626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8645" name="Line 5">
            <a:extLst>
              <a:ext uri="{FF2B5EF4-FFF2-40B4-BE49-F238E27FC236}">
                <a16:creationId xmlns:a16="http://schemas.microsoft.com/office/drawing/2014/main" id="{03673C4F-574F-4E30-92EA-73A63FC17AFC}"/>
              </a:ext>
            </a:extLst>
          </p:cNvPr>
          <p:cNvSpPr>
            <a:spLocks noChangeShapeType="1"/>
          </p:cNvSpPr>
          <p:nvPr/>
        </p:nvSpPr>
        <p:spPr bwMode="auto">
          <a:xfrm>
            <a:off x="3708400" y="1628775"/>
            <a:ext cx="0" cy="57626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8646" name="Line 6">
            <a:extLst>
              <a:ext uri="{FF2B5EF4-FFF2-40B4-BE49-F238E27FC236}">
                <a16:creationId xmlns:a16="http://schemas.microsoft.com/office/drawing/2014/main" id="{6C86C49D-51B5-4D38-864B-831C9869D413}"/>
              </a:ext>
            </a:extLst>
          </p:cNvPr>
          <p:cNvSpPr>
            <a:spLocks noChangeShapeType="1"/>
          </p:cNvSpPr>
          <p:nvPr/>
        </p:nvSpPr>
        <p:spPr bwMode="auto">
          <a:xfrm>
            <a:off x="4787900" y="1604963"/>
            <a:ext cx="0" cy="5762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8647" name="Line 7">
            <a:extLst>
              <a:ext uri="{FF2B5EF4-FFF2-40B4-BE49-F238E27FC236}">
                <a16:creationId xmlns:a16="http://schemas.microsoft.com/office/drawing/2014/main" id="{DB92F980-29D4-4878-BF62-24BD381DBBCD}"/>
              </a:ext>
            </a:extLst>
          </p:cNvPr>
          <p:cNvSpPr>
            <a:spLocks noChangeShapeType="1"/>
          </p:cNvSpPr>
          <p:nvPr/>
        </p:nvSpPr>
        <p:spPr bwMode="auto">
          <a:xfrm>
            <a:off x="6516688" y="1652588"/>
            <a:ext cx="0" cy="5762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8648" name="Line 8">
            <a:extLst>
              <a:ext uri="{FF2B5EF4-FFF2-40B4-BE49-F238E27FC236}">
                <a16:creationId xmlns:a16="http://schemas.microsoft.com/office/drawing/2014/main" id="{56D61B6B-6636-49D0-9465-29A57ACF8FB1}"/>
              </a:ext>
            </a:extLst>
          </p:cNvPr>
          <p:cNvSpPr>
            <a:spLocks noChangeShapeType="1"/>
          </p:cNvSpPr>
          <p:nvPr/>
        </p:nvSpPr>
        <p:spPr bwMode="auto">
          <a:xfrm>
            <a:off x="971550" y="1268413"/>
            <a:ext cx="619283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8649" name="Oval 9">
            <a:extLst>
              <a:ext uri="{FF2B5EF4-FFF2-40B4-BE49-F238E27FC236}">
                <a16:creationId xmlns:a16="http://schemas.microsoft.com/office/drawing/2014/main" id="{C264DFFE-D316-41C1-9502-93779D99978D}"/>
              </a:ext>
            </a:extLst>
          </p:cNvPr>
          <p:cNvSpPr>
            <a:spLocks noChangeArrowheads="1"/>
          </p:cNvSpPr>
          <p:nvPr/>
        </p:nvSpPr>
        <p:spPr bwMode="auto">
          <a:xfrm>
            <a:off x="1258888" y="549275"/>
            <a:ext cx="433387" cy="431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8650" name="Text Box 10">
            <a:extLst>
              <a:ext uri="{FF2B5EF4-FFF2-40B4-BE49-F238E27FC236}">
                <a16:creationId xmlns:a16="http://schemas.microsoft.com/office/drawing/2014/main" id="{FFECE503-6B56-47C2-BF99-63E3404243E5}"/>
              </a:ext>
            </a:extLst>
          </p:cNvPr>
          <p:cNvSpPr txBox="1">
            <a:spLocks noChangeArrowheads="1"/>
          </p:cNvSpPr>
          <p:nvPr/>
        </p:nvSpPr>
        <p:spPr bwMode="auto">
          <a:xfrm>
            <a:off x="1260475" y="476250"/>
            <a:ext cx="58324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1       Isoelectric focusing</a:t>
            </a:r>
          </a:p>
        </p:txBody>
      </p:sp>
      <p:sp>
        <p:nvSpPr>
          <p:cNvPr id="368651" name="Text Box 11">
            <a:extLst>
              <a:ext uri="{FF2B5EF4-FFF2-40B4-BE49-F238E27FC236}">
                <a16:creationId xmlns:a16="http://schemas.microsoft.com/office/drawing/2014/main" id="{C6C21A98-79A6-4BFC-819E-9B31DB486640}"/>
              </a:ext>
            </a:extLst>
          </p:cNvPr>
          <p:cNvSpPr txBox="1">
            <a:spLocks noChangeArrowheads="1"/>
          </p:cNvSpPr>
          <p:nvPr/>
        </p:nvSpPr>
        <p:spPr bwMode="auto">
          <a:xfrm>
            <a:off x="0" y="1196975"/>
            <a:ext cx="1187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pitchFamily="18" charset="0"/>
              </a:rPr>
              <a:t>pH  10</a:t>
            </a:r>
          </a:p>
        </p:txBody>
      </p:sp>
      <p:sp>
        <p:nvSpPr>
          <p:cNvPr id="368652" name="Text Box 12">
            <a:extLst>
              <a:ext uri="{FF2B5EF4-FFF2-40B4-BE49-F238E27FC236}">
                <a16:creationId xmlns:a16="http://schemas.microsoft.com/office/drawing/2014/main" id="{C5D0FEE8-0262-4829-A31B-85FB9F4DB618}"/>
              </a:ext>
            </a:extLst>
          </p:cNvPr>
          <p:cNvSpPr txBox="1">
            <a:spLocks noChangeArrowheads="1"/>
          </p:cNvSpPr>
          <p:nvPr/>
        </p:nvSpPr>
        <p:spPr bwMode="auto">
          <a:xfrm>
            <a:off x="7451725" y="1196975"/>
            <a:ext cx="1187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a:latin typeface="Times New Roman" panose="02020603050405020304" pitchFamily="18" charset="0"/>
              </a:rPr>
              <a:t>pH  4</a:t>
            </a:r>
          </a:p>
        </p:txBody>
      </p:sp>
      <p:sp>
        <p:nvSpPr>
          <p:cNvPr id="368653" name="Oval 13">
            <a:extLst>
              <a:ext uri="{FF2B5EF4-FFF2-40B4-BE49-F238E27FC236}">
                <a16:creationId xmlns:a16="http://schemas.microsoft.com/office/drawing/2014/main" id="{16EED78C-D367-4A75-8A9F-F23F98FF0B2B}"/>
              </a:ext>
            </a:extLst>
          </p:cNvPr>
          <p:cNvSpPr>
            <a:spLocks noChangeArrowheads="1"/>
          </p:cNvSpPr>
          <p:nvPr/>
        </p:nvSpPr>
        <p:spPr bwMode="auto">
          <a:xfrm>
            <a:off x="2195513" y="3213100"/>
            <a:ext cx="144462" cy="1444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8654" name="Oval 14">
            <a:extLst>
              <a:ext uri="{FF2B5EF4-FFF2-40B4-BE49-F238E27FC236}">
                <a16:creationId xmlns:a16="http://schemas.microsoft.com/office/drawing/2014/main" id="{539FDE3C-8DBD-45A1-8FB3-04DA48369EFA}"/>
              </a:ext>
            </a:extLst>
          </p:cNvPr>
          <p:cNvSpPr>
            <a:spLocks noChangeArrowheads="1"/>
          </p:cNvSpPr>
          <p:nvPr/>
        </p:nvSpPr>
        <p:spPr bwMode="auto">
          <a:xfrm>
            <a:off x="3492500" y="4940300"/>
            <a:ext cx="144463" cy="1444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8655" name="Oval 15">
            <a:extLst>
              <a:ext uri="{FF2B5EF4-FFF2-40B4-BE49-F238E27FC236}">
                <a16:creationId xmlns:a16="http://schemas.microsoft.com/office/drawing/2014/main" id="{DFC62A60-3E5B-44B1-A487-0F2C702E4097}"/>
              </a:ext>
            </a:extLst>
          </p:cNvPr>
          <p:cNvSpPr>
            <a:spLocks noChangeArrowheads="1"/>
          </p:cNvSpPr>
          <p:nvPr/>
        </p:nvSpPr>
        <p:spPr bwMode="auto">
          <a:xfrm>
            <a:off x="3563938" y="2997200"/>
            <a:ext cx="144462" cy="1444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8656" name="Oval 16">
            <a:extLst>
              <a:ext uri="{FF2B5EF4-FFF2-40B4-BE49-F238E27FC236}">
                <a16:creationId xmlns:a16="http://schemas.microsoft.com/office/drawing/2014/main" id="{ACBA8079-38DB-4C0E-A83D-161CAB0070F7}"/>
              </a:ext>
            </a:extLst>
          </p:cNvPr>
          <p:cNvSpPr>
            <a:spLocks noChangeArrowheads="1"/>
          </p:cNvSpPr>
          <p:nvPr/>
        </p:nvSpPr>
        <p:spPr bwMode="auto">
          <a:xfrm>
            <a:off x="4724400" y="3860800"/>
            <a:ext cx="144463" cy="1444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8657" name="Oval 17">
            <a:extLst>
              <a:ext uri="{FF2B5EF4-FFF2-40B4-BE49-F238E27FC236}">
                <a16:creationId xmlns:a16="http://schemas.microsoft.com/office/drawing/2014/main" id="{228B6561-BBFC-4218-B98D-A434050229DA}"/>
              </a:ext>
            </a:extLst>
          </p:cNvPr>
          <p:cNvSpPr>
            <a:spLocks noChangeArrowheads="1"/>
          </p:cNvSpPr>
          <p:nvPr/>
        </p:nvSpPr>
        <p:spPr bwMode="auto">
          <a:xfrm>
            <a:off x="4716463" y="3068638"/>
            <a:ext cx="144462" cy="144462"/>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8658" name="Oval 18">
            <a:extLst>
              <a:ext uri="{FF2B5EF4-FFF2-40B4-BE49-F238E27FC236}">
                <a16:creationId xmlns:a16="http://schemas.microsoft.com/office/drawing/2014/main" id="{C0F0D561-2439-4B47-98BE-42ED12B75886}"/>
              </a:ext>
            </a:extLst>
          </p:cNvPr>
          <p:cNvSpPr>
            <a:spLocks noChangeArrowheads="1"/>
          </p:cNvSpPr>
          <p:nvPr/>
        </p:nvSpPr>
        <p:spPr bwMode="auto">
          <a:xfrm>
            <a:off x="6372225" y="3644900"/>
            <a:ext cx="144463" cy="1444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8659" name="Oval 19">
            <a:extLst>
              <a:ext uri="{FF2B5EF4-FFF2-40B4-BE49-F238E27FC236}">
                <a16:creationId xmlns:a16="http://schemas.microsoft.com/office/drawing/2014/main" id="{FE475DD2-648D-49FB-9ECE-D8D490CC14DD}"/>
              </a:ext>
            </a:extLst>
          </p:cNvPr>
          <p:cNvSpPr>
            <a:spLocks noChangeArrowheads="1"/>
          </p:cNvSpPr>
          <p:nvPr/>
        </p:nvSpPr>
        <p:spPr bwMode="auto">
          <a:xfrm>
            <a:off x="6372225" y="4149725"/>
            <a:ext cx="144463" cy="1444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8660" name="Oval 20">
            <a:extLst>
              <a:ext uri="{FF2B5EF4-FFF2-40B4-BE49-F238E27FC236}">
                <a16:creationId xmlns:a16="http://schemas.microsoft.com/office/drawing/2014/main" id="{98FE056C-7DA6-4D84-9B6B-D21C70FD93FB}"/>
              </a:ext>
            </a:extLst>
          </p:cNvPr>
          <p:cNvSpPr>
            <a:spLocks noChangeArrowheads="1"/>
          </p:cNvSpPr>
          <p:nvPr/>
        </p:nvSpPr>
        <p:spPr bwMode="auto">
          <a:xfrm>
            <a:off x="6372225" y="4724400"/>
            <a:ext cx="144463" cy="1444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8661" name="Oval 21">
            <a:extLst>
              <a:ext uri="{FF2B5EF4-FFF2-40B4-BE49-F238E27FC236}">
                <a16:creationId xmlns:a16="http://schemas.microsoft.com/office/drawing/2014/main" id="{AB2C8FA6-A279-45AD-B364-AE7B2FB52E69}"/>
              </a:ext>
            </a:extLst>
          </p:cNvPr>
          <p:cNvSpPr>
            <a:spLocks noChangeArrowheads="1"/>
          </p:cNvSpPr>
          <p:nvPr/>
        </p:nvSpPr>
        <p:spPr bwMode="auto">
          <a:xfrm>
            <a:off x="3563938" y="3860800"/>
            <a:ext cx="144462" cy="1444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8662" name="Oval 22">
            <a:extLst>
              <a:ext uri="{FF2B5EF4-FFF2-40B4-BE49-F238E27FC236}">
                <a16:creationId xmlns:a16="http://schemas.microsoft.com/office/drawing/2014/main" id="{A988B0BA-0D3A-4386-AF60-001D41A62FDF}"/>
              </a:ext>
            </a:extLst>
          </p:cNvPr>
          <p:cNvSpPr>
            <a:spLocks noChangeArrowheads="1"/>
          </p:cNvSpPr>
          <p:nvPr/>
        </p:nvSpPr>
        <p:spPr bwMode="auto">
          <a:xfrm>
            <a:off x="3563938" y="3573463"/>
            <a:ext cx="144462" cy="144462"/>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8663" name="Oval 23">
            <a:extLst>
              <a:ext uri="{FF2B5EF4-FFF2-40B4-BE49-F238E27FC236}">
                <a16:creationId xmlns:a16="http://schemas.microsoft.com/office/drawing/2014/main" id="{2F5EC5C3-A503-4004-9257-86BDBA61E384}"/>
              </a:ext>
            </a:extLst>
          </p:cNvPr>
          <p:cNvSpPr>
            <a:spLocks noChangeArrowheads="1"/>
          </p:cNvSpPr>
          <p:nvPr/>
        </p:nvSpPr>
        <p:spPr bwMode="auto">
          <a:xfrm>
            <a:off x="8029575" y="2997200"/>
            <a:ext cx="287338" cy="36036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368664" name="Text Box 24">
            <a:extLst>
              <a:ext uri="{FF2B5EF4-FFF2-40B4-BE49-F238E27FC236}">
                <a16:creationId xmlns:a16="http://schemas.microsoft.com/office/drawing/2014/main" id="{3735CF03-0A84-4796-8D6A-9B1D75346E9D}"/>
              </a:ext>
            </a:extLst>
          </p:cNvPr>
          <p:cNvSpPr txBox="1">
            <a:spLocks noChangeArrowheads="1"/>
          </p:cNvSpPr>
          <p:nvPr/>
        </p:nvSpPr>
        <p:spPr bwMode="auto">
          <a:xfrm>
            <a:off x="7991475" y="2900363"/>
            <a:ext cx="1476375" cy="88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2  </a:t>
            </a:r>
            <a:r>
              <a:rPr lang="en-US" altLang="zh-CN">
                <a:latin typeface="Times New Roman" panose="02020603050405020304" pitchFamily="18" charset="0"/>
              </a:rPr>
              <a:t>SDS-PAGE</a:t>
            </a:r>
          </a:p>
        </p:txBody>
      </p:sp>
      <p:sp>
        <p:nvSpPr>
          <p:cNvPr id="368665" name="Line 25">
            <a:extLst>
              <a:ext uri="{FF2B5EF4-FFF2-40B4-BE49-F238E27FC236}">
                <a16:creationId xmlns:a16="http://schemas.microsoft.com/office/drawing/2014/main" id="{1876BAAC-7422-4EB0-9F50-6E3B419EEFA4}"/>
              </a:ext>
            </a:extLst>
          </p:cNvPr>
          <p:cNvSpPr>
            <a:spLocks noChangeShapeType="1"/>
          </p:cNvSpPr>
          <p:nvPr/>
        </p:nvSpPr>
        <p:spPr bwMode="auto">
          <a:xfrm>
            <a:off x="7812088" y="2492375"/>
            <a:ext cx="0" cy="3313113"/>
          </a:xfrm>
          <a:prstGeom prst="line">
            <a:avLst/>
          </a:prstGeom>
          <a:noFill/>
          <a:ln w="3810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8666" name="Text Box 26">
            <a:extLst>
              <a:ext uri="{FF2B5EF4-FFF2-40B4-BE49-F238E27FC236}">
                <a16:creationId xmlns:a16="http://schemas.microsoft.com/office/drawing/2014/main" id="{ED8A8AAA-FFE0-424C-B5FE-9CF7164A0622}"/>
              </a:ext>
            </a:extLst>
          </p:cNvPr>
          <p:cNvSpPr txBox="1">
            <a:spLocks noChangeArrowheads="1"/>
          </p:cNvSpPr>
          <p:nvPr/>
        </p:nvSpPr>
        <p:spPr bwMode="auto">
          <a:xfrm>
            <a:off x="935038" y="6021388"/>
            <a:ext cx="82089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200">
                <a:latin typeface="Times New Roman" panose="02020603050405020304" pitchFamily="18" charset="0"/>
              </a:rPr>
              <a:t>Two-dimensional gel electrophoresis</a:t>
            </a:r>
          </a:p>
        </p:txBody>
      </p:sp>
    </p:spTree>
  </p:cSld>
  <p:clrMapOvr>
    <a:masterClrMapping/>
  </p:clrMapOvr>
  <p:transition/>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9666" name="Picture 2">
            <a:extLst>
              <a:ext uri="{FF2B5EF4-FFF2-40B4-BE49-F238E27FC236}">
                <a16:creationId xmlns:a16="http://schemas.microsoft.com/office/drawing/2014/main" id="{88843ABF-3D9C-41A6-BA81-EC7A373C84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0"/>
            <a:ext cx="60404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0690" name="Picture 2">
            <a:extLst>
              <a:ext uri="{FF2B5EF4-FFF2-40B4-BE49-F238E27FC236}">
                <a16:creationId xmlns:a16="http://schemas.microsoft.com/office/drawing/2014/main" id="{48509BCF-D99F-4132-B377-FCB032E9BD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3338" y="0"/>
            <a:ext cx="3997325"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1714" name="Picture 2">
            <a:extLst>
              <a:ext uri="{FF2B5EF4-FFF2-40B4-BE49-F238E27FC236}">
                <a16:creationId xmlns:a16="http://schemas.microsoft.com/office/drawing/2014/main" id="{BE1F8B89-3DA1-4D24-9693-D8EA3DD260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620713"/>
            <a:ext cx="7345362" cy="598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a:extLst>
              <a:ext uri="{FF2B5EF4-FFF2-40B4-BE49-F238E27FC236}">
                <a16:creationId xmlns:a16="http://schemas.microsoft.com/office/drawing/2014/main" id="{F711D4A3-9880-4877-B704-3AC7EF8DC767}"/>
              </a:ext>
            </a:extLst>
          </p:cNvPr>
          <p:cNvSpPr>
            <a:spLocks noGrp="1" noChangeArrowheads="1"/>
          </p:cNvSpPr>
          <p:nvPr>
            <p:ph type="title"/>
          </p:nvPr>
        </p:nvSpPr>
        <p:spPr/>
        <p:txBody>
          <a:bodyPr/>
          <a:lstStyle/>
          <a:p>
            <a:pPr eaLnBrk="1" hangingPunct="1"/>
            <a:r>
              <a:rPr lang="en-US" altLang="zh-CN" sz="4000"/>
              <a:t>B9 Protein sequencing and peptide synthesis</a:t>
            </a:r>
          </a:p>
        </p:txBody>
      </p:sp>
      <p:sp>
        <p:nvSpPr>
          <p:cNvPr id="372739" name="Rectangle 3">
            <a:extLst>
              <a:ext uri="{FF2B5EF4-FFF2-40B4-BE49-F238E27FC236}">
                <a16:creationId xmlns:a16="http://schemas.microsoft.com/office/drawing/2014/main" id="{34892854-3E55-45FB-84B8-2421C1A0EFFB}"/>
              </a:ext>
            </a:extLst>
          </p:cNvPr>
          <p:cNvSpPr>
            <a:spLocks noGrp="1" noChangeArrowheads="1"/>
          </p:cNvSpPr>
          <p:nvPr>
            <p:ph type="body" idx="1"/>
          </p:nvPr>
        </p:nvSpPr>
        <p:spPr>
          <a:xfrm>
            <a:off x="990600" y="2819400"/>
            <a:ext cx="7693025" cy="3724275"/>
          </a:xfrm>
        </p:spPr>
        <p:txBody>
          <a:bodyPr/>
          <a:lstStyle/>
          <a:p>
            <a:pPr eaLnBrk="1" hangingPunct="1"/>
            <a:r>
              <a:rPr lang="en-US" altLang="zh-CN"/>
              <a:t>Sequencing strategy</a:t>
            </a:r>
          </a:p>
          <a:p>
            <a:pPr eaLnBrk="1" hangingPunct="1"/>
            <a:r>
              <a:rPr lang="en-US" altLang="zh-CN"/>
              <a:t>Amino acid composition analysis</a:t>
            </a:r>
          </a:p>
          <a:p>
            <a:pPr eaLnBrk="1" hangingPunct="1"/>
            <a:r>
              <a:rPr lang="en-US" altLang="zh-CN"/>
              <a:t>Edman degradation and Sanger reaction</a:t>
            </a:r>
          </a:p>
          <a:p>
            <a:pPr eaLnBrk="1" hangingPunct="1"/>
            <a:endParaRPr lang="en-US" altLang="zh-CN"/>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9">
            <a:extLst>
              <a:ext uri="{FF2B5EF4-FFF2-40B4-BE49-F238E27FC236}">
                <a16:creationId xmlns:a16="http://schemas.microsoft.com/office/drawing/2014/main" id="{6FC157AC-B284-4BBC-99E3-8D3E6567006B}"/>
              </a:ext>
            </a:extLst>
          </p:cNvPr>
          <p:cNvSpPr>
            <a:spLocks noGrp="1" noChangeArrowheads="1"/>
          </p:cNvSpPr>
          <p:nvPr>
            <p:ph type="title" idx="4294967295"/>
          </p:nvPr>
        </p:nvSpPr>
        <p:spPr/>
        <p:txBody>
          <a:bodyPr/>
          <a:lstStyle/>
          <a:p>
            <a:pPr eaLnBrk="1" hangingPunct="1"/>
            <a:r>
              <a:rPr lang="en-US" altLang="zh-CN">
                <a:solidFill>
                  <a:schemeClr val="tx1"/>
                </a:solidFill>
              </a:rPr>
              <a:t>Sequencing strategy</a:t>
            </a:r>
            <a:endParaRPr lang="zh-CN" altLang="en-US">
              <a:solidFill>
                <a:schemeClr val="tx1"/>
              </a:solidFill>
            </a:endParaRPr>
          </a:p>
        </p:txBody>
      </p:sp>
      <p:sp>
        <p:nvSpPr>
          <p:cNvPr id="373763" name="Rectangle 10">
            <a:extLst>
              <a:ext uri="{FF2B5EF4-FFF2-40B4-BE49-F238E27FC236}">
                <a16:creationId xmlns:a16="http://schemas.microsoft.com/office/drawing/2014/main" id="{81E5950F-51DC-485B-9637-C8DD8673593F}"/>
              </a:ext>
            </a:extLst>
          </p:cNvPr>
          <p:cNvSpPr>
            <a:spLocks noGrp="1" noChangeArrowheads="1"/>
          </p:cNvSpPr>
          <p:nvPr>
            <p:ph type="body" idx="4294967295"/>
          </p:nvPr>
        </p:nvSpPr>
        <p:spPr/>
        <p:txBody>
          <a:bodyPr/>
          <a:lstStyle/>
          <a:p>
            <a:pPr eaLnBrk="1" hangingPunct="1"/>
            <a:r>
              <a:rPr lang="en-US" altLang="zh-CN"/>
              <a:t>The polypeptide is to broken down into smaller fragments.</a:t>
            </a:r>
          </a:p>
          <a:p>
            <a:pPr eaLnBrk="1" hangingPunct="1"/>
            <a:r>
              <a:rPr lang="en-US" altLang="zh-CN"/>
              <a:t>The smaller fragments are then sequenced by Edman degradation.</a:t>
            </a:r>
          </a:p>
          <a:p>
            <a:pPr eaLnBrk="1" hangingPunct="1"/>
            <a:r>
              <a:rPr lang="en-US" altLang="zh-CN"/>
              <a:t>The complete sequence is assembled by analyzing overlapping fragments.</a:t>
            </a:r>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a:extLst>
              <a:ext uri="{FF2B5EF4-FFF2-40B4-BE49-F238E27FC236}">
                <a16:creationId xmlns:a16="http://schemas.microsoft.com/office/drawing/2014/main" id="{9C8AAD8C-630E-4862-B178-1670F3E1F0FB}"/>
              </a:ext>
            </a:extLst>
          </p:cNvPr>
          <p:cNvSpPr>
            <a:spLocks noGrp="1" noChangeArrowheads="1"/>
          </p:cNvSpPr>
          <p:nvPr>
            <p:ph type="title"/>
          </p:nvPr>
        </p:nvSpPr>
        <p:spPr/>
        <p:txBody>
          <a:bodyPr/>
          <a:lstStyle/>
          <a:p>
            <a:r>
              <a:rPr lang="en-US" altLang="zh-CN"/>
              <a:t>Three steps</a:t>
            </a:r>
          </a:p>
        </p:txBody>
      </p:sp>
      <p:sp>
        <p:nvSpPr>
          <p:cNvPr id="374787" name="Rectangle 3">
            <a:extLst>
              <a:ext uri="{FF2B5EF4-FFF2-40B4-BE49-F238E27FC236}">
                <a16:creationId xmlns:a16="http://schemas.microsoft.com/office/drawing/2014/main" id="{78E41A35-83CD-4A5E-B96C-285489A37F11}"/>
              </a:ext>
            </a:extLst>
          </p:cNvPr>
          <p:cNvSpPr>
            <a:spLocks noGrp="1" noChangeArrowheads="1"/>
          </p:cNvSpPr>
          <p:nvPr>
            <p:ph type="body" idx="1"/>
          </p:nvPr>
        </p:nvSpPr>
        <p:spPr/>
        <p:txBody>
          <a:bodyPr/>
          <a:lstStyle/>
          <a:p>
            <a:pPr marL="609600" indent="-609600"/>
            <a:r>
              <a:rPr lang="en-US" altLang="zh-CN"/>
              <a:t>Determine types and amounts of amino acids in polypeptide.</a:t>
            </a:r>
          </a:p>
          <a:p>
            <a:pPr marL="609600" indent="-609600"/>
            <a:r>
              <a:rPr lang="en-US" altLang="zh-CN"/>
              <a:t>Identify terminal residues of polypeptide.</a:t>
            </a:r>
          </a:p>
          <a:p>
            <a:pPr marL="609600" indent="-609600"/>
            <a:r>
              <a:rPr lang="en-US" altLang="zh-CN"/>
              <a:t>Identify amino-terminal residue; purify and recycle remaining peptide fragment through Edman process.</a:t>
            </a:r>
          </a:p>
          <a:p>
            <a:pPr marL="609600" indent="-609600"/>
            <a:endParaRPr lang="en-US" altLang="zh-CN"/>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5811" name="Picture 5">
            <a:extLst>
              <a:ext uri="{FF2B5EF4-FFF2-40B4-BE49-F238E27FC236}">
                <a16:creationId xmlns:a16="http://schemas.microsoft.com/office/drawing/2014/main" id="{0D1C0A50-28BD-4338-9DD3-C0A6E798B7E8}"/>
              </a:ext>
            </a:extLst>
          </p:cNvPr>
          <p:cNvPicPr>
            <a:picLocks noChangeAspect="1" noChangeArrowheads="1"/>
          </p:cNvPicPr>
          <p:nvPr/>
        </p:nvPicPr>
        <p:blipFill>
          <a:blip r:embed="rId3">
            <a:lum bright="-60000" contrast="78000"/>
            <a:extLst>
              <a:ext uri="{28A0092B-C50C-407E-A947-70E740481C1C}">
                <a14:useLocalDpi xmlns:a14="http://schemas.microsoft.com/office/drawing/2010/main" val="0"/>
              </a:ext>
            </a:extLst>
          </a:blip>
          <a:srcRect/>
          <a:stretch>
            <a:fillRect/>
          </a:stretch>
        </p:blipFill>
        <p:spPr bwMode="auto">
          <a:xfrm>
            <a:off x="1466850" y="0"/>
            <a:ext cx="62087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矩形 1">
            <a:extLst>
              <a:ext uri="{FF2B5EF4-FFF2-40B4-BE49-F238E27FC236}">
                <a16:creationId xmlns:a16="http://schemas.microsoft.com/office/drawing/2014/main" id="{D6D19A63-C596-441B-A822-F54532D97D21}"/>
              </a:ext>
            </a:extLst>
          </p:cNvPr>
          <p:cNvSpPr>
            <a:spLocks noChangeArrowheads="1"/>
          </p:cNvSpPr>
          <p:nvPr/>
        </p:nvSpPr>
        <p:spPr bwMode="auto">
          <a:xfrm>
            <a:off x="428625" y="1000125"/>
            <a:ext cx="8072438"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6700" indent="-26670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0"/>
              </a:spcBef>
              <a:buClr>
                <a:srgbClr val="C00000"/>
              </a:buClr>
              <a:buSzTx/>
              <a:buFont typeface="Wingdings" panose="05000000000000000000" pitchFamily="2" charset="2"/>
              <a:buChar char="l"/>
            </a:pPr>
            <a:r>
              <a:rPr kumimoji="0" lang="zh-CN" altLang="en-US" sz="2800" b="1">
                <a:latin typeface="Times New Roman" panose="02020603050405020304" pitchFamily="18" charset="0"/>
              </a:rPr>
              <a:t>胃蛋白酶</a:t>
            </a:r>
            <a:r>
              <a:rPr kumimoji="0" lang="en-US" altLang="zh-CN" sz="2800" b="1" i="1">
                <a:solidFill>
                  <a:srgbClr val="0000FF"/>
                </a:solidFill>
                <a:latin typeface="Times New Roman" panose="02020603050405020304" pitchFamily="18" charset="0"/>
              </a:rPr>
              <a:t>Pepsin </a:t>
            </a:r>
            <a:r>
              <a:rPr kumimoji="0" lang="zh-CN" altLang="en-US" sz="2800" b="1">
                <a:latin typeface="Times New Roman" panose="02020603050405020304" pitchFamily="18" charset="0"/>
              </a:rPr>
              <a:t>：芳香族</a:t>
            </a:r>
            <a:r>
              <a:rPr kumimoji="0" lang="en-US" altLang="zh-CN" sz="2800" b="1">
                <a:latin typeface="Times New Roman" panose="02020603050405020304" pitchFamily="18" charset="0"/>
              </a:rPr>
              <a:t>aa</a:t>
            </a:r>
            <a:r>
              <a:rPr kumimoji="0" lang="zh-CN" altLang="en-US" sz="2800" b="1">
                <a:latin typeface="Times New Roman" panose="02020603050405020304" pitchFamily="18" charset="0"/>
              </a:rPr>
              <a:t>－</a:t>
            </a:r>
            <a:r>
              <a:rPr kumimoji="0" lang="en-US" altLang="zh-CN" sz="2800" b="1">
                <a:latin typeface="Times New Roman" panose="02020603050405020304" pitchFamily="18" charset="0"/>
              </a:rPr>
              <a:t>NH</a:t>
            </a:r>
            <a:r>
              <a:rPr kumimoji="0" lang="en-US" altLang="zh-CN" sz="1600" b="1">
                <a:latin typeface="Times New Roman" panose="02020603050405020304" pitchFamily="18" charset="0"/>
              </a:rPr>
              <a:t>2</a:t>
            </a:r>
            <a:r>
              <a:rPr kumimoji="0" lang="zh-CN" altLang="en-US" sz="2800" b="1">
                <a:latin typeface="Times New Roman" panose="02020603050405020304" pitchFamily="18" charset="0"/>
              </a:rPr>
              <a:t>形成的肽键</a:t>
            </a:r>
            <a:endParaRPr kumimoji="0" lang="en-US" altLang="zh-CN" sz="2800" b="1">
              <a:latin typeface="Times New Roman" panose="02020603050405020304" pitchFamily="18" charset="0"/>
            </a:endParaRPr>
          </a:p>
          <a:p>
            <a:pPr eaLnBrk="1" hangingPunct="1">
              <a:lnSpc>
                <a:spcPct val="150000"/>
              </a:lnSpc>
              <a:spcBef>
                <a:spcPct val="0"/>
              </a:spcBef>
              <a:buClr>
                <a:srgbClr val="C00000"/>
              </a:buClr>
              <a:buSzTx/>
              <a:buFont typeface="Wingdings" panose="05000000000000000000" pitchFamily="2" charset="2"/>
              <a:buChar char="l"/>
            </a:pPr>
            <a:r>
              <a:rPr kumimoji="0" lang="zh-CN" altLang="en-US" sz="2800" b="1">
                <a:latin typeface="Times New Roman" panose="02020603050405020304" pitchFamily="18" charset="0"/>
              </a:rPr>
              <a:t>胰蛋白酶</a:t>
            </a:r>
            <a:r>
              <a:rPr kumimoji="0" lang="en-US" altLang="zh-CN" sz="2800" b="1" i="1">
                <a:solidFill>
                  <a:srgbClr val="0000FF"/>
                </a:solidFill>
                <a:latin typeface="Times New Roman" panose="02020603050405020304" pitchFamily="18" charset="0"/>
                <a:cs typeface="Times New Roman" panose="02020603050405020304" pitchFamily="18" charset="0"/>
              </a:rPr>
              <a:t>trypsin</a:t>
            </a:r>
            <a:r>
              <a:rPr kumimoji="0" lang="en-US" altLang="zh-CN" sz="2800" b="1" i="1">
                <a:solidFill>
                  <a:srgbClr val="FF0000"/>
                </a:solidFill>
                <a:latin typeface="Times New Roman" panose="02020603050405020304" pitchFamily="18" charset="0"/>
                <a:cs typeface="Times New Roman" panose="02020603050405020304" pitchFamily="18" charset="0"/>
              </a:rPr>
              <a:t> </a:t>
            </a:r>
            <a:r>
              <a:rPr kumimoji="0" lang="zh-CN" altLang="en-US" sz="2800" b="1">
                <a:latin typeface="Times New Roman" panose="02020603050405020304" pitchFamily="18" charset="0"/>
              </a:rPr>
              <a:t>：</a:t>
            </a:r>
            <a:r>
              <a:rPr kumimoji="0" lang="en-US" altLang="zh-CN" sz="2800" b="1">
                <a:latin typeface="Times New Roman" panose="02020603050405020304" pitchFamily="18" charset="0"/>
              </a:rPr>
              <a:t>Lys</a:t>
            </a:r>
            <a:r>
              <a:rPr kumimoji="0" lang="zh-CN" altLang="en-US" sz="2800" b="1">
                <a:latin typeface="Times New Roman" panose="02020603050405020304" pitchFamily="18" charset="0"/>
              </a:rPr>
              <a:t>或</a:t>
            </a:r>
            <a:r>
              <a:rPr kumimoji="0" lang="en-US" altLang="zh-CN" sz="2800" b="1">
                <a:latin typeface="Times New Roman" panose="02020603050405020304" pitchFamily="18" charset="0"/>
              </a:rPr>
              <a:t>Arg</a:t>
            </a:r>
            <a:r>
              <a:rPr kumimoji="0" lang="zh-CN" altLang="en-US" sz="2800" b="1">
                <a:latin typeface="Times New Roman" panose="02020603050405020304" pitchFamily="18" charset="0"/>
              </a:rPr>
              <a:t>－</a:t>
            </a:r>
            <a:r>
              <a:rPr kumimoji="0" lang="en-US" altLang="zh-CN" sz="2800" b="1">
                <a:latin typeface="Times New Roman" panose="02020603050405020304" pitchFamily="18" charset="0"/>
              </a:rPr>
              <a:t>COOH</a:t>
            </a:r>
            <a:r>
              <a:rPr kumimoji="0" lang="zh-CN" altLang="en-US" sz="2800" b="1">
                <a:latin typeface="Times New Roman" panose="02020603050405020304" pitchFamily="18" charset="0"/>
              </a:rPr>
              <a:t>（碱性，高度专一）形成的肽键；</a:t>
            </a:r>
            <a:r>
              <a:rPr kumimoji="0" lang="en-US" altLang="zh-CN" sz="2800" b="1">
                <a:latin typeface="Times New Roman" panose="02020603050405020304" pitchFamily="18" charset="0"/>
              </a:rPr>
              <a:t>Pro</a:t>
            </a:r>
            <a:r>
              <a:rPr kumimoji="0" lang="zh-CN" altLang="en-US" sz="2800" b="1">
                <a:latin typeface="Times New Roman" panose="02020603050405020304" pitchFamily="18" charset="0"/>
              </a:rPr>
              <a:t>抑制水解</a:t>
            </a:r>
            <a:endParaRPr kumimoji="0" lang="en-US" altLang="zh-CN" sz="2800" b="1">
              <a:latin typeface="Times New Roman" panose="02020603050405020304" pitchFamily="18" charset="0"/>
            </a:endParaRPr>
          </a:p>
          <a:p>
            <a:pPr eaLnBrk="1" hangingPunct="1">
              <a:lnSpc>
                <a:spcPct val="150000"/>
              </a:lnSpc>
              <a:spcBef>
                <a:spcPct val="0"/>
              </a:spcBef>
              <a:buClr>
                <a:srgbClr val="C00000"/>
              </a:buClr>
              <a:buSzTx/>
              <a:buFont typeface="Wingdings" panose="05000000000000000000" pitchFamily="2" charset="2"/>
              <a:buChar char="l"/>
            </a:pPr>
            <a:r>
              <a:rPr kumimoji="0" lang="zh-CN" altLang="en-US" sz="2800" b="1">
                <a:latin typeface="Times New Roman" panose="02020603050405020304" pitchFamily="18" charset="0"/>
              </a:rPr>
              <a:t>胰凝乳蛋白酶</a:t>
            </a:r>
            <a:r>
              <a:rPr kumimoji="0" lang="en-US" altLang="zh-CN" sz="2800" b="1" i="1">
                <a:solidFill>
                  <a:srgbClr val="0000FF"/>
                </a:solidFill>
                <a:latin typeface="Times New Roman" panose="02020603050405020304" pitchFamily="18" charset="0"/>
                <a:cs typeface="Times New Roman" panose="02020603050405020304" pitchFamily="18" charset="0"/>
              </a:rPr>
              <a:t>Chymotrypsin</a:t>
            </a:r>
            <a:r>
              <a:rPr kumimoji="0" lang="en-US" altLang="zh-CN" sz="2800" b="1" i="1">
                <a:solidFill>
                  <a:srgbClr val="FF0000"/>
                </a:solidFill>
                <a:latin typeface="Times New Roman" panose="02020603050405020304" pitchFamily="18" charset="0"/>
                <a:cs typeface="Times New Roman" panose="02020603050405020304" pitchFamily="18" charset="0"/>
              </a:rPr>
              <a:t> </a:t>
            </a:r>
            <a:r>
              <a:rPr kumimoji="0" lang="zh-CN" altLang="en-US" sz="2800" b="1">
                <a:latin typeface="Times New Roman" panose="02020603050405020304" pitchFamily="18" charset="0"/>
              </a:rPr>
              <a:t>：芳香族</a:t>
            </a:r>
            <a:r>
              <a:rPr kumimoji="0" lang="en-US" altLang="zh-CN" sz="2800" b="1">
                <a:latin typeface="Times New Roman" panose="02020603050405020304" pitchFamily="18" charset="0"/>
              </a:rPr>
              <a:t>aa</a:t>
            </a:r>
            <a:r>
              <a:rPr kumimoji="0" lang="zh-CN" altLang="en-US" sz="2800" b="1">
                <a:latin typeface="Times New Roman" panose="02020603050405020304" pitchFamily="18" charset="0"/>
              </a:rPr>
              <a:t>－</a:t>
            </a:r>
            <a:r>
              <a:rPr kumimoji="0" lang="en-US" altLang="zh-CN" sz="2800" b="1">
                <a:latin typeface="Times New Roman" panose="02020603050405020304" pitchFamily="18" charset="0"/>
              </a:rPr>
              <a:t>COOH</a:t>
            </a:r>
            <a:r>
              <a:rPr kumimoji="0" lang="zh-CN" altLang="en-US" sz="2800" b="1">
                <a:latin typeface="Times New Roman" panose="02020603050405020304" pitchFamily="18" charset="0"/>
              </a:rPr>
              <a:t>形成的肽键</a:t>
            </a:r>
            <a:r>
              <a:rPr kumimoji="0" lang="en-US" altLang="zh-CN" sz="2800" b="1">
                <a:latin typeface="Times New Roman" panose="02020603050405020304" pitchFamily="18" charset="0"/>
              </a:rPr>
              <a:t>, Leu</a:t>
            </a:r>
            <a:r>
              <a:rPr kumimoji="0" lang="zh-CN" altLang="en-US" sz="2800" b="1">
                <a:latin typeface="Times New Roman" panose="02020603050405020304" pitchFamily="18" charset="0"/>
              </a:rPr>
              <a:t>、</a:t>
            </a:r>
            <a:r>
              <a:rPr kumimoji="0" lang="en-US" altLang="zh-CN" sz="2800" b="1">
                <a:latin typeface="Times New Roman" panose="02020603050405020304" pitchFamily="18" charset="0"/>
              </a:rPr>
              <a:t>Met</a:t>
            </a:r>
            <a:r>
              <a:rPr kumimoji="0" lang="zh-CN" altLang="en-US" sz="2800" b="1">
                <a:latin typeface="Times New Roman" panose="02020603050405020304" pitchFamily="18" charset="0"/>
              </a:rPr>
              <a:t>、</a:t>
            </a:r>
            <a:r>
              <a:rPr kumimoji="0" lang="en-US" altLang="zh-CN" sz="2800" b="1">
                <a:latin typeface="Times New Roman" panose="02020603050405020304" pitchFamily="18" charset="0"/>
              </a:rPr>
              <a:t>His</a:t>
            </a:r>
            <a:r>
              <a:rPr kumimoji="0" lang="zh-CN" altLang="en-US" sz="2800" b="1">
                <a:latin typeface="Times New Roman" panose="02020603050405020304" pitchFamily="18" charset="0"/>
              </a:rPr>
              <a:t>水解速度次之</a:t>
            </a:r>
            <a:r>
              <a:rPr kumimoji="0" lang="en-US" altLang="zh-CN" sz="2800" b="1">
                <a:latin typeface="Times New Roman" panose="02020603050405020304" pitchFamily="18" charset="0"/>
              </a:rPr>
              <a:t>,Pro</a:t>
            </a:r>
            <a:r>
              <a:rPr kumimoji="0" lang="zh-CN" altLang="en-US" sz="2800" b="1">
                <a:latin typeface="Times New Roman" panose="02020603050405020304" pitchFamily="18" charset="0"/>
              </a:rPr>
              <a:t>抑制水解。</a:t>
            </a:r>
            <a:endParaRPr kumimoji="0" lang="en-US" altLang="zh-CN" sz="2800" b="1">
              <a:latin typeface="Times New Roman" panose="02020603050405020304" pitchFamily="18" charset="0"/>
            </a:endParaRPr>
          </a:p>
          <a:p>
            <a:pPr eaLnBrk="1" hangingPunct="1">
              <a:lnSpc>
                <a:spcPct val="150000"/>
              </a:lnSpc>
              <a:spcBef>
                <a:spcPct val="0"/>
              </a:spcBef>
              <a:buClr>
                <a:srgbClr val="C00000"/>
              </a:buClr>
              <a:buSzTx/>
              <a:buFont typeface="Wingdings" panose="05000000000000000000" pitchFamily="2" charset="2"/>
              <a:buChar char="l"/>
            </a:pPr>
            <a:r>
              <a:rPr kumimoji="0" lang="zh-CN" altLang="en-US" sz="2800" b="1">
                <a:latin typeface="Times New Roman" panose="02020603050405020304" pitchFamily="18" charset="0"/>
              </a:rPr>
              <a:t>溴化氰</a:t>
            </a:r>
            <a:r>
              <a:rPr kumimoji="0" lang="en-US" altLang="zh-CN" sz="2800" b="1" i="1">
                <a:solidFill>
                  <a:srgbClr val="0000FF"/>
                </a:solidFill>
                <a:latin typeface="Times New Roman" panose="02020603050405020304" pitchFamily="18" charset="0"/>
                <a:cs typeface="Times New Roman" panose="02020603050405020304" pitchFamily="18" charset="0"/>
              </a:rPr>
              <a:t>cyanogen bromide</a:t>
            </a:r>
            <a:r>
              <a:rPr kumimoji="0" lang="en-US" altLang="zh-CN" sz="2800" b="1" i="1">
                <a:solidFill>
                  <a:srgbClr val="FFFF00"/>
                </a:solidFill>
                <a:latin typeface="Times New Roman" panose="02020603050405020304" pitchFamily="18" charset="0"/>
                <a:cs typeface="Times New Roman" panose="02020603050405020304" pitchFamily="18" charset="0"/>
              </a:rPr>
              <a:t> </a:t>
            </a:r>
            <a:r>
              <a:rPr kumimoji="0" lang="zh-CN" altLang="en-US" sz="2800" b="1">
                <a:latin typeface="Times New Roman" panose="02020603050405020304" pitchFamily="18" charset="0"/>
              </a:rPr>
              <a:t>：</a:t>
            </a:r>
            <a:r>
              <a:rPr kumimoji="0" lang="en-US" altLang="zh-CN" sz="2800" b="1">
                <a:latin typeface="Times New Roman" panose="02020603050405020304" pitchFamily="18" charset="0"/>
              </a:rPr>
              <a:t>Met</a:t>
            </a:r>
            <a:r>
              <a:rPr kumimoji="0" lang="zh-CN" altLang="en-US" sz="2800" b="1">
                <a:latin typeface="Times New Roman" panose="02020603050405020304" pitchFamily="18" charset="0"/>
              </a:rPr>
              <a:t>（高度专一）</a:t>
            </a:r>
          </a:p>
        </p:txBody>
      </p:sp>
      <p:sp>
        <p:nvSpPr>
          <p:cNvPr id="376835" name="Text Box 3">
            <a:extLst>
              <a:ext uri="{FF2B5EF4-FFF2-40B4-BE49-F238E27FC236}">
                <a16:creationId xmlns:a16="http://schemas.microsoft.com/office/drawing/2014/main" id="{BEAFFA8D-3D78-4919-B100-B2C2A73E3B4E}"/>
              </a:ext>
            </a:extLst>
          </p:cNvPr>
          <p:cNvSpPr txBox="1">
            <a:spLocks noChangeArrowheads="1"/>
          </p:cNvSpPr>
          <p:nvPr/>
        </p:nvSpPr>
        <p:spPr bwMode="auto">
          <a:xfrm>
            <a:off x="250825" y="260350"/>
            <a:ext cx="63373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2800"/>
              <a:t>Cut the peptide into fragments</a:t>
            </a:r>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Text Box 4">
            <a:extLst>
              <a:ext uri="{FF2B5EF4-FFF2-40B4-BE49-F238E27FC236}">
                <a16:creationId xmlns:a16="http://schemas.microsoft.com/office/drawing/2014/main" id="{45F70928-5158-4DDC-9139-35F15E4BA317}"/>
              </a:ext>
            </a:extLst>
          </p:cNvPr>
          <p:cNvSpPr txBox="1">
            <a:spLocks noChangeArrowheads="1"/>
          </p:cNvSpPr>
          <p:nvPr/>
        </p:nvSpPr>
        <p:spPr bwMode="auto">
          <a:xfrm>
            <a:off x="1763713" y="1916113"/>
            <a:ext cx="6121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a:solidFill>
                  <a:schemeClr val="hlink"/>
                </a:solidFill>
              </a:rPr>
              <a:t>Amino acid composition analysis</a:t>
            </a:r>
            <a:endParaRPr lang="zh-CN" altLang="en-US">
              <a:solidFill>
                <a:schemeClr val="hlink"/>
              </a:solidFill>
            </a:endParaRPr>
          </a:p>
        </p:txBody>
      </p:sp>
      <p:grpSp>
        <p:nvGrpSpPr>
          <p:cNvPr id="377859" name="Group 10">
            <a:extLst>
              <a:ext uri="{FF2B5EF4-FFF2-40B4-BE49-F238E27FC236}">
                <a16:creationId xmlns:a16="http://schemas.microsoft.com/office/drawing/2014/main" id="{F004B94C-19F9-4E5D-A2FE-1182CA0AA81D}"/>
              </a:ext>
            </a:extLst>
          </p:cNvPr>
          <p:cNvGrpSpPr>
            <a:grpSpLocks/>
          </p:cNvGrpSpPr>
          <p:nvPr/>
        </p:nvGrpSpPr>
        <p:grpSpPr bwMode="auto">
          <a:xfrm>
            <a:off x="755650" y="3141663"/>
            <a:ext cx="7848600" cy="1393825"/>
            <a:chOff x="385" y="1207"/>
            <a:chExt cx="4944" cy="878"/>
          </a:xfrm>
        </p:grpSpPr>
        <p:sp>
          <p:nvSpPr>
            <p:cNvPr id="377861" name="Oval 4">
              <a:extLst>
                <a:ext uri="{FF2B5EF4-FFF2-40B4-BE49-F238E27FC236}">
                  <a16:creationId xmlns:a16="http://schemas.microsoft.com/office/drawing/2014/main" id="{6360559A-6198-4CBD-9EF5-0EA429670F17}"/>
                </a:ext>
              </a:extLst>
            </p:cNvPr>
            <p:cNvSpPr>
              <a:spLocks noChangeArrowheads="1"/>
            </p:cNvSpPr>
            <p:nvPr/>
          </p:nvSpPr>
          <p:spPr bwMode="auto">
            <a:xfrm>
              <a:off x="431" y="1525"/>
              <a:ext cx="136" cy="181"/>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7862" name="Oval 5">
              <a:extLst>
                <a:ext uri="{FF2B5EF4-FFF2-40B4-BE49-F238E27FC236}">
                  <a16:creationId xmlns:a16="http://schemas.microsoft.com/office/drawing/2014/main" id="{F7E6015C-4DEF-470D-A4E1-635F8A468248}"/>
                </a:ext>
              </a:extLst>
            </p:cNvPr>
            <p:cNvSpPr>
              <a:spLocks noChangeArrowheads="1"/>
            </p:cNvSpPr>
            <p:nvPr/>
          </p:nvSpPr>
          <p:spPr bwMode="auto">
            <a:xfrm>
              <a:off x="567" y="1525"/>
              <a:ext cx="136" cy="181"/>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7863" name="Oval 6">
              <a:extLst>
                <a:ext uri="{FF2B5EF4-FFF2-40B4-BE49-F238E27FC236}">
                  <a16:creationId xmlns:a16="http://schemas.microsoft.com/office/drawing/2014/main" id="{26A5AF49-B6BE-4636-BDA4-88003F6D69A9}"/>
                </a:ext>
              </a:extLst>
            </p:cNvPr>
            <p:cNvSpPr>
              <a:spLocks noChangeArrowheads="1"/>
            </p:cNvSpPr>
            <p:nvPr/>
          </p:nvSpPr>
          <p:spPr bwMode="auto">
            <a:xfrm>
              <a:off x="703" y="1525"/>
              <a:ext cx="136" cy="181"/>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7864" name="Oval 7">
              <a:extLst>
                <a:ext uri="{FF2B5EF4-FFF2-40B4-BE49-F238E27FC236}">
                  <a16:creationId xmlns:a16="http://schemas.microsoft.com/office/drawing/2014/main" id="{379D8E18-46E4-4DD6-82CC-EC83559DD4E4}"/>
                </a:ext>
              </a:extLst>
            </p:cNvPr>
            <p:cNvSpPr>
              <a:spLocks noChangeArrowheads="1"/>
            </p:cNvSpPr>
            <p:nvPr/>
          </p:nvSpPr>
          <p:spPr bwMode="auto">
            <a:xfrm>
              <a:off x="839" y="1525"/>
              <a:ext cx="136" cy="181"/>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7865" name="Oval 8">
              <a:extLst>
                <a:ext uri="{FF2B5EF4-FFF2-40B4-BE49-F238E27FC236}">
                  <a16:creationId xmlns:a16="http://schemas.microsoft.com/office/drawing/2014/main" id="{D98ACD97-ED91-4394-910E-3C5075A601A1}"/>
                </a:ext>
              </a:extLst>
            </p:cNvPr>
            <p:cNvSpPr>
              <a:spLocks noChangeArrowheads="1"/>
            </p:cNvSpPr>
            <p:nvPr/>
          </p:nvSpPr>
          <p:spPr bwMode="auto">
            <a:xfrm>
              <a:off x="975" y="1525"/>
              <a:ext cx="136" cy="181"/>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7866" name="Oval 9">
              <a:extLst>
                <a:ext uri="{FF2B5EF4-FFF2-40B4-BE49-F238E27FC236}">
                  <a16:creationId xmlns:a16="http://schemas.microsoft.com/office/drawing/2014/main" id="{78DD5F62-7A70-443D-BE27-0B343146642D}"/>
                </a:ext>
              </a:extLst>
            </p:cNvPr>
            <p:cNvSpPr>
              <a:spLocks noChangeArrowheads="1"/>
            </p:cNvSpPr>
            <p:nvPr/>
          </p:nvSpPr>
          <p:spPr bwMode="auto">
            <a:xfrm>
              <a:off x="1111" y="1525"/>
              <a:ext cx="136" cy="181"/>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7867" name="Oval 10">
              <a:extLst>
                <a:ext uri="{FF2B5EF4-FFF2-40B4-BE49-F238E27FC236}">
                  <a16:creationId xmlns:a16="http://schemas.microsoft.com/office/drawing/2014/main" id="{0A734480-5C1D-442E-9ACF-A33EFE4CF6CC}"/>
                </a:ext>
              </a:extLst>
            </p:cNvPr>
            <p:cNvSpPr>
              <a:spLocks noChangeArrowheads="1"/>
            </p:cNvSpPr>
            <p:nvPr/>
          </p:nvSpPr>
          <p:spPr bwMode="auto">
            <a:xfrm>
              <a:off x="1247" y="1525"/>
              <a:ext cx="136" cy="181"/>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7868" name="Oval 11">
              <a:extLst>
                <a:ext uri="{FF2B5EF4-FFF2-40B4-BE49-F238E27FC236}">
                  <a16:creationId xmlns:a16="http://schemas.microsoft.com/office/drawing/2014/main" id="{EB6EB31A-8CAF-4EA0-BEA4-BB2FA669B44A}"/>
                </a:ext>
              </a:extLst>
            </p:cNvPr>
            <p:cNvSpPr>
              <a:spLocks noChangeArrowheads="1"/>
            </p:cNvSpPr>
            <p:nvPr/>
          </p:nvSpPr>
          <p:spPr bwMode="auto">
            <a:xfrm>
              <a:off x="1383" y="1525"/>
              <a:ext cx="136" cy="181"/>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7869" name="Oval 12">
              <a:extLst>
                <a:ext uri="{FF2B5EF4-FFF2-40B4-BE49-F238E27FC236}">
                  <a16:creationId xmlns:a16="http://schemas.microsoft.com/office/drawing/2014/main" id="{96CB2905-A892-4B02-9764-1C21B9361EA4}"/>
                </a:ext>
              </a:extLst>
            </p:cNvPr>
            <p:cNvSpPr>
              <a:spLocks noChangeArrowheads="1"/>
            </p:cNvSpPr>
            <p:nvPr/>
          </p:nvSpPr>
          <p:spPr bwMode="auto">
            <a:xfrm>
              <a:off x="1519" y="1525"/>
              <a:ext cx="136" cy="181"/>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7870" name="Line 13">
              <a:extLst>
                <a:ext uri="{FF2B5EF4-FFF2-40B4-BE49-F238E27FC236}">
                  <a16:creationId xmlns:a16="http://schemas.microsoft.com/office/drawing/2014/main" id="{D2D9E713-3210-4DAD-9A53-CC4926FEB949}"/>
                </a:ext>
              </a:extLst>
            </p:cNvPr>
            <p:cNvSpPr>
              <a:spLocks noChangeShapeType="1"/>
            </p:cNvSpPr>
            <p:nvPr/>
          </p:nvSpPr>
          <p:spPr bwMode="auto">
            <a:xfrm>
              <a:off x="1746" y="1616"/>
              <a:ext cx="1361" cy="0"/>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77871" name="Oval 14">
              <a:extLst>
                <a:ext uri="{FF2B5EF4-FFF2-40B4-BE49-F238E27FC236}">
                  <a16:creationId xmlns:a16="http://schemas.microsoft.com/office/drawing/2014/main" id="{BD795F47-4C71-40D6-9A72-981ECDAEF95F}"/>
                </a:ext>
              </a:extLst>
            </p:cNvPr>
            <p:cNvSpPr>
              <a:spLocks noChangeArrowheads="1"/>
            </p:cNvSpPr>
            <p:nvPr/>
          </p:nvSpPr>
          <p:spPr bwMode="auto">
            <a:xfrm>
              <a:off x="5103" y="1525"/>
              <a:ext cx="136" cy="181"/>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7872" name="Oval 15">
              <a:extLst>
                <a:ext uri="{FF2B5EF4-FFF2-40B4-BE49-F238E27FC236}">
                  <a16:creationId xmlns:a16="http://schemas.microsoft.com/office/drawing/2014/main" id="{AC97241F-5E5A-4020-B546-E1CCE09F3035}"/>
                </a:ext>
              </a:extLst>
            </p:cNvPr>
            <p:cNvSpPr>
              <a:spLocks noChangeArrowheads="1"/>
            </p:cNvSpPr>
            <p:nvPr/>
          </p:nvSpPr>
          <p:spPr bwMode="auto">
            <a:xfrm>
              <a:off x="4785" y="1525"/>
              <a:ext cx="136" cy="181"/>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7873" name="Oval 16">
              <a:extLst>
                <a:ext uri="{FF2B5EF4-FFF2-40B4-BE49-F238E27FC236}">
                  <a16:creationId xmlns:a16="http://schemas.microsoft.com/office/drawing/2014/main" id="{1C4B8CCC-F3F5-4DAE-B8DF-7D22C70DD794}"/>
                </a:ext>
              </a:extLst>
            </p:cNvPr>
            <p:cNvSpPr>
              <a:spLocks noChangeArrowheads="1"/>
            </p:cNvSpPr>
            <p:nvPr/>
          </p:nvSpPr>
          <p:spPr bwMode="auto">
            <a:xfrm>
              <a:off x="4468" y="1525"/>
              <a:ext cx="136" cy="181"/>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7874" name="Oval 17">
              <a:extLst>
                <a:ext uri="{FF2B5EF4-FFF2-40B4-BE49-F238E27FC236}">
                  <a16:creationId xmlns:a16="http://schemas.microsoft.com/office/drawing/2014/main" id="{F1FE5E01-4C1C-441C-93B9-4A2B97640E28}"/>
                </a:ext>
              </a:extLst>
            </p:cNvPr>
            <p:cNvSpPr>
              <a:spLocks noChangeArrowheads="1"/>
            </p:cNvSpPr>
            <p:nvPr/>
          </p:nvSpPr>
          <p:spPr bwMode="auto">
            <a:xfrm>
              <a:off x="4195" y="1525"/>
              <a:ext cx="136" cy="181"/>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7875" name="Oval 18">
              <a:extLst>
                <a:ext uri="{FF2B5EF4-FFF2-40B4-BE49-F238E27FC236}">
                  <a16:creationId xmlns:a16="http://schemas.microsoft.com/office/drawing/2014/main" id="{CA53A452-1527-49D2-88EF-93F9E507FA0C}"/>
                </a:ext>
              </a:extLst>
            </p:cNvPr>
            <p:cNvSpPr>
              <a:spLocks noChangeArrowheads="1"/>
            </p:cNvSpPr>
            <p:nvPr/>
          </p:nvSpPr>
          <p:spPr bwMode="auto">
            <a:xfrm>
              <a:off x="3923" y="1525"/>
              <a:ext cx="136" cy="181"/>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7876" name="Oval 19">
              <a:extLst>
                <a:ext uri="{FF2B5EF4-FFF2-40B4-BE49-F238E27FC236}">
                  <a16:creationId xmlns:a16="http://schemas.microsoft.com/office/drawing/2014/main" id="{1DBF6369-7A67-407F-AC15-F91FBA36E705}"/>
                </a:ext>
              </a:extLst>
            </p:cNvPr>
            <p:cNvSpPr>
              <a:spLocks noChangeArrowheads="1"/>
            </p:cNvSpPr>
            <p:nvPr/>
          </p:nvSpPr>
          <p:spPr bwMode="auto">
            <a:xfrm>
              <a:off x="3606" y="1525"/>
              <a:ext cx="136" cy="181"/>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7877" name="Oval 20">
              <a:extLst>
                <a:ext uri="{FF2B5EF4-FFF2-40B4-BE49-F238E27FC236}">
                  <a16:creationId xmlns:a16="http://schemas.microsoft.com/office/drawing/2014/main" id="{D7DB5AA1-AA1E-41AD-A3BF-0ECFCF4A7C7B}"/>
                </a:ext>
              </a:extLst>
            </p:cNvPr>
            <p:cNvSpPr>
              <a:spLocks noChangeArrowheads="1"/>
            </p:cNvSpPr>
            <p:nvPr/>
          </p:nvSpPr>
          <p:spPr bwMode="auto">
            <a:xfrm>
              <a:off x="3243" y="1525"/>
              <a:ext cx="136" cy="181"/>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7878" name="Text Box 21">
              <a:extLst>
                <a:ext uri="{FF2B5EF4-FFF2-40B4-BE49-F238E27FC236}">
                  <a16:creationId xmlns:a16="http://schemas.microsoft.com/office/drawing/2014/main" id="{0B50231B-EE6A-44DA-A13C-387C84DD165D}"/>
                </a:ext>
              </a:extLst>
            </p:cNvPr>
            <p:cNvSpPr txBox="1">
              <a:spLocks noChangeArrowheads="1"/>
            </p:cNvSpPr>
            <p:nvPr/>
          </p:nvSpPr>
          <p:spPr bwMode="auto">
            <a:xfrm>
              <a:off x="1927" y="1207"/>
              <a:ext cx="131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t>6 M HCl</a:t>
              </a:r>
              <a:endParaRPr lang="zh-CN" altLang="en-US" sz="2400"/>
            </a:p>
          </p:txBody>
        </p:sp>
        <p:sp>
          <p:nvSpPr>
            <p:cNvPr id="377879" name="Text Box 22">
              <a:extLst>
                <a:ext uri="{FF2B5EF4-FFF2-40B4-BE49-F238E27FC236}">
                  <a16:creationId xmlns:a16="http://schemas.microsoft.com/office/drawing/2014/main" id="{F934405B-082A-429C-A776-712444473A9B}"/>
                </a:ext>
              </a:extLst>
            </p:cNvPr>
            <p:cNvSpPr txBox="1">
              <a:spLocks noChangeArrowheads="1"/>
            </p:cNvSpPr>
            <p:nvPr/>
          </p:nvSpPr>
          <p:spPr bwMode="auto">
            <a:xfrm>
              <a:off x="385" y="1797"/>
              <a:ext cx="11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t>protein</a:t>
              </a:r>
            </a:p>
          </p:txBody>
        </p:sp>
        <p:sp>
          <p:nvSpPr>
            <p:cNvPr id="377880" name="Text Box 23">
              <a:extLst>
                <a:ext uri="{FF2B5EF4-FFF2-40B4-BE49-F238E27FC236}">
                  <a16:creationId xmlns:a16="http://schemas.microsoft.com/office/drawing/2014/main" id="{D4ED70AF-112B-403F-8050-3E05C4D37409}"/>
                </a:ext>
              </a:extLst>
            </p:cNvPr>
            <p:cNvSpPr txBox="1">
              <a:spLocks noChangeArrowheads="1"/>
            </p:cNvSpPr>
            <p:nvPr/>
          </p:nvSpPr>
          <p:spPr bwMode="auto">
            <a:xfrm>
              <a:off x="3107" y="1797"/>
              <a:ext cx="22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t>Mixture of amino acid</a:t>
              </a:r>
            </a:p>
          </p:txBody>
        </p:sp>
      </p:grpSp>
      <p:sp>
        <p:nvSpPr>
          <p:cNvPr id="377860" name="Text Box 32">
            <a:extLst>
              <a:ext uri="{FF2B5EF4-FFF2-40B4-BE49-F238E27FC236}">
                <a16:creationId xmlns:a16="http://schemas.microsoft.com/office/drawing/2014/main" id="{0FCB4D1F-B085-47A6-8538-45896D65F23D}"/>
              </a:ext>
            </a:extLst>
          </p:cNvPr>
          <p:cNvSpPr txBox="1">
            <a:spLocks noChangeArrowheads="1"/>
          </p:cNvSpPr>
          <p:nvPr/>
        </p:nvSpPr>
        <p:spPr bwMode="auto">
          <a:xfrm>
            <a:off x="1187450" y="620713"/>
            <a:ext cx="3529013"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200">
                <a:solidFill>
                  <a:srgbClr val="0000FF"/>
                </a:solidFill>
              </a:rPr>
              <a:t>Step 1</a:t>
            </a:r>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Text Box 6">
            <a:extLst>
              <a:ext uri="{FF2B5EF4-FFF2-40B4-BE49-F238E27FC236}">
                <a16:creationId xmlns:a16="http://schemas.microsoft.com/office/drawing/2014/main" id="{40C223A3-344F-40E9-97AB-40EF9D1E2756}"/>
              </a:ext>
            </a:extLst>
          </p:cNvPr>
          <p:cNvSpPr txBox="1">
            <a:spLocks noChangeArrowheads="1"/>
          </p:cNvSpPr>
          <p:nvPr/>
        </p:nvSpPr>
        <p:spPr bwMode="auto">
          <a:xfrm>
            <a:off x="611188" y="1989138"/>
            <a:ext cx="7921625"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lnSpc>
                <a:spcPct val="130000"/>
              </a:lnSpc>
              <a:spcBef>
                <a:spcPct val="50000"/>
              </a:spcBef>
              <a:buClrTx/>
              <a:buSzTx/>
              <a:buFontTx/>
              <a:buNone/>
            </a:pPr>
            <a:r>
              <a:rPr lang="en-US" altLang="zh-CN" sz="2800"/>
              <a:t>The purified protein sample is hydrolyzed into amino acid by heating it in 6 M HCl at 110 degree for 24 h. The resulting mixture of amino acid is subjected to ion exchange chromatography on a column to separate out the 20 standard amino acids. The separated amino acids are then detected and quantified by reacting them with </a:t>
            </a:r>
            <a:r>
              <a:rPr lang="en-US" altLang="zh-CN" sz="2800">
                <a:solidFill>
                  <a:schemeClr val="folHlink"/>
                </a:solidFill>
              </a:rPr>
              <a:t>ninhydrin</a:t>
            </a:r>
            <a:r>
              <a:rPr lang="en-US" altLang="zh-CN" sz="2800"/>
              <a:t>.</a:t>
            </a: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9906" name="Picture 4" descr="h7g8gdkcq86g">
            <a:extLst>
              <a:ext uri="{FF2B5EF4-FFF2-40B4-BE49-F238E27FC236}">
                <a16:creationId xmlns:a16="http://schemas.microsoft.com/office/drawing/2014/main" id="{87809CA1-2412-4C42-BA0D-328B4DC155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2060575"/>
            <a:ext cx="8258175" cy="328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0930" name="Picture 4" descr="1257478739949">
            <a:extLst>
              <a:ext uri="{FF2B5EF4-FFF2-40B4-BE49-F238E27FC236}">
                <a16:creationId xmlns:a16="http://schemas.microsoft.com/office/drawing/2014/main" id="{6DF8444B-8A44-48D5-BB63-BF8BC40548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692150"/>
            <a:ext cx="8316912" cy="513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a:extLst>
              <a:ext uri="{FF2B5EF4-FFF2-40B4-BE49-F238E27FC236}">
                <a16:creationId xmlns:a16="http://schemas.microsoft.com/office/drawing/2014/main" id="{74C85646-BBFB-41EC-B06A-E23D23BE735F}"/>
              </a:ext>
            </a:extLst>
          </p:cNvPr>
          <p:cNvSpPr>
            <a:spLocks noGrp="1" noChangeArrowheads="1"/>
          </p:cNvSpPr>
          <p:nvPr>
            <p:ph type="title"/>
          </p:nvPr>
        </p:nvSpPr>
        <p:spPr/>
        <p:txBody>
          <a:bodyPr/>
          <a:lstStyle/>
          <a:p>
            <a:pPr eaLnBrk="1" hangingPunct="1"/>
            <a:endParaRPr lang="zh-CN" altLang="en-US"/>
          </a:p>
        </p:txBody>
      </p:sp>
      <p:sp>
        <p:nvSpPr>
          <p:cNvPr id="381955" name="Rectangle 3">
            <a:extLst>
              <a:ext uri="{FF2B5EF4-FFF2-40B4-BE49-F238E27FC236}">
                <a16:creationId xmlns:a16="http://schemas.microsoft.com/office/drawing/2014/main" id="{61F56538-CAD7-4D62-8BB7-5DD2A7066234}"/>
              </a:ext>
            </a:extLst>
          </p:cNvPr>
          <p:cNvSpPr>
            <a:spLocks noGrp="1" noChangeArrowheads="1"/>
          </p:cNvSpPr>
          <p:nvPr>
            <p:ph type="body" idx="1"/>
          </p:nvPr>
        </p:nvSpPr>
        <p:spPr/>
        <p:txBody>
          <a:bodyPr/>
          <a:lstStyle/>
          <a:p>
            <a:pPr eaLnBrk="1" hangingPunct="1"/>
            <a:endParaRPr lang="zh-CN" altLang="en-US"/>
          </a:p>
        </p:txBody>
      </p:sp>
      <p:pic>
        <p:nvPicPr>
          <p:cNvPr id="381956" name="Picture 4">
            <a:extLst>
              <a:ext uri="{FF2B5EF4-FFF2-40B4-BE49-F238E27FC236}">
                <a16:creationId xmlns:a16="http://schemas.microsoft.com/office/drawing/2014/main" id="{DC034CCB-834C-46DB-9360-127DFB64EC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457200"/>
            <a:ext cx="8382000" cy="630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1957" name="Text Box 5">
            <a:extLst>
              <a:ext uri="{FF2B5EF4-FFF2-40B4-BE49-F238E27FC236}">
                <a16:creationId xmlns:a16="http://schemas.microsoft.com/office/drawing/2014/main" id="{B9AC62AB-5CC4-48B2-BD85-D11DCD0AFFF8}"/>
              </a:ext>
            </a:extLst>
          </p:cNvPr>
          <p:cNvSpPr txBox="1">
            <a:spLocks noChangeArrowheads="1"/>
          </p:cNvSpPr>
          <p:nvPr/>
        </p:nvSpPr>
        <p:spPr bwMode="auto">
          <a:xfrm>
            <a:off x="381000" y="0"/>
            <a:ext cx="670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b="1">
                <a:latin typeface="Times New Roman" panose="02020603050405020304" pitchFamily="18" charset="0"/>
              </a:rPr>
              <a:t>Ion exchange chromatography</a:t>
            </a:r>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2978" name="Picture 4" descr="49033-04-20 copy">
            <a:extLst>
              <a:ext uri="{FF2B5EF4-FFF2-40B4-BE49-F238E27FC236}">
                <a16:creationId xmlns:a16="http://schemas.microsoft.com/office/drawing/2014/main" id="{56DB1644-FAD4-403B-AC00-C7B63AF19FB4}"/>
              </a:ext>
            </a:extLst>
          </p:cNvPr>
          <p:cNvPicPr>
            <a:picLocks noChangeAspect="1" noChangeArrowheads="1"/>
          </p:cNvPicPr>
          <p:nvPr/>
        </p:nvPicPr>
        <p:blipFill>
          <a:blip r:embed="rId2">
            <a:lum bright="-18000" contrast="30000"/>
            <a:extLst>
              <a:ext uri="{28A0092B-C50C-407E-A947-70E740481C1C}">
                <a14:useLocalDpi xmlns:a14="http://schemas.microsoft.com/office/drawing/2010/main" val="0"/>
              </a:ext>
            </a:extLst>
          </a:blip>
          <a:srcRect l="22858" b="59166"/>
          <a:stretch>
            <a:fillRect/>
          </a:stretch>
        </p:blipFill>
        <p:spPr bwMode="auto">
          <a:xfrm>
            <a:off x="250825" y="188913"/>
            <a:ext cx="6804025" cy="596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4002" name="Picture 4" descr="49033-04-20 copy">
            <a:extLst>
              <a:ext uri="{FF2B5EF4-FFF2-40B4-BE49-F238E27FC236}">
                <a16:creationId xmlns:a16="http://schemas.microsoft.com/office/drawing/2014/main" id="{0C777B7C-4B44-4963-9ED5-43110D6FE44F}"/>
              </a:ext>
            </a:extLst>
          </p:cNvPr>
          <p:cNvPicPr>
            <a:picLocks noChangeAspect="1" noChangeArrowheads="1"/>
          </p:cNvPicPr>
          <p:nvPr/>
        </p:nvPicPr>
        <p:blipFill>
          <a:blip r:embed="rId2">
            <a:lum bright="-18000" contrast="30000"/>
            <a:extLst>
              <a:ext uri="{28A0092B-C50C-407E-A947-70E740481C1C}">
                <a14:useLocalDpi xmlns:a14="http://schemas.microsoft.com/office/drawing/2010/main" val="0"/>
              </a:ext>
            </a:extLst>
          </a:blip>
          <a:srcRect l="12068" t="19366" r="10338" b="34984"/>
          <a:stretch>
            <a:fillRect/>
          </a:stretch>
        </p:blipFill>
        <p:spPr bwMode="auto">
          <a:xfrm>
            <a:off x="250825" y="188913"/>
            <a:ext cx="6481763" cy="631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5026" name="Picture 4" descr="49033-04-20 copy">
            <a:extLst>
              <a:ext uri="{FF2B5EF4-FFF2-40B4-BE49-F238E27FC236}">
                <a16:creationId xmlns:a16="http://schemas.microsoft.com/office/drawing/2014/main" id="{8A35D0DC-0A14-428A-9D6D-1336BCBF2B3A}"/>
              </a:ext>
            </a:extLst>
          </p:cNvPr>
          <p:cNvPicPr>
            <a:picLocks noChangeAspect="1" noChangeArrowheads="1"/>
          </p:cNvPicPr>
          <p:nvPr/>
        </p:nvPicPr>
        <p:blipFill>
          <a:blip r:embed="rId2">
            <a:lum bright="-18000" contrast="30000"/>
            <a:extLst>
              <a:ext uri="{28A0092B-C50C-407E-A947-70E740481C1C}">
                <a14:useLocalDpi xmlns:a14="http://schemas.microsoft.com/office/drawing/2010/main" val="0"/>
              </a:ext>
            </a:extLst>
          </a:blip>
          <a:srcRect l="4002" t="40067" r="23305" b="19867"/>
          <a:stretch>
            <a:fillRect/>
          </a:stretch>
        </p:blipFill>
        <p:spPr bwMode="auto">
          <a:xfrm>
            <a:off x="395288" y="260350"/>
            <a:ext cx="6516687"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6050" name="Picture 4" descr="49033-04-20 copy">
            <a:extLst>
              <a:ext uri="{FF2B5EF4-FFF2-40B4-BE49-F238E27FC236}">
                <a16:creationId xmlns:a16="http://schemas.microsoft.com/office/drawing/2014/main" id="{FA0BB4D3-B3BA-42EB-9A5C-468FE7EC0538}"/>
              </a:ext>
            </a:extLst>
          </p:cNvPr>
          <p:cNvPicPr>
            <a:picLocks noChangeAspect="1" noChangeArrowheads="1"/>
          </p:cNvPicPr>
          <p:nvPr/>
        </p:nvPicPr>
        <p:blipFill>
          <a:blip r:embed="rId2">
            <a:lum bright="-24000" contrast="36000"/>
            <a:extLst>
              <a:ext uri="{28A0092B-C50C-407E-A947-70E740481C1C}">
                <a14:useLocalDpi xmlns:a14="http://schemas.microsoft.com/office/drawing/2010/main" val="0"/>
              </a:ext>
            </a:extLst>
          </a:blip>
          <a:srcRect t="59717" r="30363"/>
          <a:stretch>
            <a:fillRect/>
          </a:stretch>
        </p:blipFill>
        <p:spPr bwMode="auto">
          <a:xfrm>
            <a:off x="1619250" y="333375"/>
            <a:ext cx="6192838" cy="593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7074" name="Picture 4">
            <a:extLst>
              <a:ext uri="{FF2B5EF4-FFF2-40B4-BE49-F238E27FC236}">
                <a16:creationId xmlns:a16="http://schemas.microsoft.com/office/drawing/2014/main" id="{AB6A6205-9E3B-40A1-82C0-714B010BEF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693" t="46268" r="11052" b="13390"/>
          <a:stretch>
            <a:fillRect/>
          </a:stretch>
        </p:blipFill>
        <p:spPr bwMode="auto">
          <a:xfrm>
            <a:off x="107950" y="981075"/>
            <a:ext cx="8928100"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7075" name="Text Box 5">
            <a:extLst>
              <a:ext uri="{FF2B5EF4-FFF2-40B4-BE49-F238E27FC236}">
                <a16:creationId xmlns:a16="http://schemas.microsoft.com/office/drawing/2014/main" id="{E9434EEE-64BA-499F-A1F9-F1E57DDD93D1}"/>
              </a:ext>
            </a:extLst>
          </p:cNvPr>
          <p:cNvSpPr txBox="1">
            <a:spLocks noChangeArrowheads="1"/>
          </p:cNvSpPr>
          <p:nvPr/>
        </p:nvSpPr>
        <p:spPr bwMode="auto">
          <a:xfrm>
            <a:off x="395288" y="4868863"/>
            <a:ext cx="79930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dirty="0"/>
              <a:t>The amino acids are detected by colorimetric reaction with ninhydrin </a:t>
            </a:r>
            <a:r>
              <a:rPr lang="en-US" altLang="zh-CN" sz="2400" dirty="0">
                <a:latin typeface="华文中宋" panose="02010600040101010101" pitchFamily="2" charset="-122"/>
                <a:ea typeface="华文中宋" panose="02010600040101010101" pitchFamily="2" charset="-122"/>
              </a:rPr>
              <a:t>(</a:t>
            </a:r>
            <a:r>
              <a:rPr lang="zh-CN" altLang="en-US" sz="2400" dirty="0">
                <a:latin typeface="华文中宋" panose="02010600040101010101" pitchFamily="2" charset="-122"/>
                <a:ea typeface="华文中宋" panose="02010600040101010101" pitchFamily="2" charset="-122"/>
              </a:rPr>
              <a:t>茚三酮）</a:t>
            </a:r>
            <a:r>
              <a:rPr lang="en-US" altLang="zh-CN" sz="2400" dirty="0"/>
              <a:t>.</a:t>
            </a: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8098" name="Picture 2" descr="49033-04-10 copy">
            <a:extLst>
              <a:ext uri="{FF2B5EF4-FFF2-40B4-BE49-F238E27FC236}">
                <a16:creationId xmlns:a16="http://schemas.microsoft.com/office/drawing/2014/main" id="{4F093814-A90E-4B70-AE80-91B23ABA14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404813"/>
            <a:ext cx="7102475" cy="604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3">
            <a:extLst>
              <a:ext uri="{FF2B5EF4-FFF2-40B4-BE49-F238E27FC236}">
                <a16:creationId xmlns:a16="http://schemas.microsoft.com/office/drawing/2014/main" id="{367BEBF9-E524-4B2A-B0BD-E99B55AD2110}"/>
              </a:ext>
            </a:extLst>
          </p:cNvPr>
          <p:cNvSpPr>
            <a:spLocks noGrp="1" noChangeArrowheads="1"/>
          </p:cNvSpPr>
          <p:nvPr>
            <p:ph type="body" idx="1"/>
          </p:nvPr>
        </p:nvSpPr>
        <p:spPr/>
        <p:txBody>
          <a:bodyPr/>
          <a:lstStyle/>
          <a:p>
            <a:r>
              <a:rPr lang="en-US" altLang="zh-CN"/>
              <a:t>Identify terminal residues of polypeptide</a:t>
            </a:r>
          </a:p>
          <a:p>
            <a:endParaRPr lang="zh-CN" altLang="en-US"/>
          </a:p>
          <a:p>
            <a:r>
              <a:rPr lang="en-US" altLang="zh-CN"/>
              <a:t>Sanger Reaction for N-terminal residue </a:t>
            </a:r>
          </a:p>
          <a:p>
            <a:r>
              <a:rPr lang="en-US" altLang="zh-CN"/>
              <a:t>Other Reaction</a:t>
            </a:r>
          </a:p>
        </p:txBody>
      </p:sp>
      <p:sp>
        <p:nvSpPr>
          <p:cNvPr id="389123" name="Text Box 4">
            <a:extLst>
              <a:ext uri="{FF2B5EF4-FFF2-40B4-BE49-F238E27FC236}">
                <a16:creationId xmlns:a16="http://schemas.microsoft.com/office/drawing/2014/main" id="{9523C09B-EC2B-4C67-8646-6B68AEE59A3A}"/>
              </a:ext>
            </a:extLst>
          </p:cNvPr>
          <p:cNvSpPr>
            <a:spLocks noGrp="1" noChangeArrowheads="1"/>
          </p:cNvSpPr>
          <p:nvPr>
            <p:ph type="title"/>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ct val="50000"/>
              </a:spcBef>
            </a:pPr>
            <a:r>
              <a:rPr lang="en-US" altLang="zh-CN"/>
              <a:t>Step 2</a:t>
            </a:r>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a:extLst>
              <a:ext uri="{FF2B5EF4-FFF2-40B4-BE49-F238E27FC236}">
                <a16:creationId xmlns:a16="http://schemas.microsoft.com/office/drawing/2014/main" id="{C5637947-8888-47B9-B2BF-A812E07940EF}"/>
              </a:ext>
            </a:extLst>
          </p:cNvPr>
          <p:cNvSpPr>
            <a:spLocks noGrp="1" noChangeArrowheads="1"/>
          </p:cNvSpPr>
          <p:nvPr>
            <p:ph type="body" idx="1"/>
          </p:nvPr>
        </p:nvSpPr>
        <p:spPr/>
        <p:txBody>
          <a:bodyPr/>
          <a:lstStyle/>
          <a:p>
            <a:r>
              <a:rPr lang="en-US" altLang="zh-CN"/>
              <a:t>Identify amino-terminal residue; purify and recycle remaining peptide fragment through Edman process.</a:t>
            </a:r>
            <a:endParaRPr lang="zh-CN" altLang="en-US"/>
          </a:p>
        </p:txBody>
      </p:sp>
      <p:sp>
        <p:nvSpPr>
          <p:cNvPr id="390147" name="Text Box 3">
            <a:extLst>
              <a:ext uri="{FF2B5EF4-FFF2-40B4-BE49-F238E27FC236}">
                <a16:creationId xmlns:a16="http://schemas.microsoft.com/office/drawing/2014/main" id="{306CE389-CD7C-457D-AFE2-4400D2074BFD}"/>
              </a:ext>
            </a:extLst>
          </p:cNvPr>
          <p:cNvSpPr>
            <a:spLocks noGrp="1" noChangeArrowheads="1"/>
          </p:cNvSpPr>
          <p:nvPr>
            <p:ph type="title"/>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spcBef>
                <a:spcPct val="50000"/>
              </a:spcBef>
            </a:pPr>
            <a:r>
              <a:rPr lang="en-US" altLang="zh-CN"/>
              <a:t>Step 3</a:t>
            </a:r>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1170" name="Picture 4">
            <a:extLst>
              <a:ext uri="{FF2B5EF4-FFF2-40B4-BE49-F238E27FC236}">
                <a16:creationId xmlns:a16="http://schemas.microsoft.com/office/drawing/2014/main" id="{BA4E2CE8-C019-412E-9541-397D987F3C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513" t="46072" r="17513" b="36220"/>
          <a:stretch>
            <a:fillRect/>
          </a:stretch>
        </p:blipFill>
        <p:spPr bwMode="auto">
          <a:xfrm>
            <a:off x="0" y="3141663"/>
            <a:ext cx="9110663"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1171" name="Text Box 5">
            <a:extLst>
              <a:ext uri="{FF2B5EF4-FFF2-40B4-BE49-F238E27FC236}">
                <a16:creationId xmlns:a16="http://schemas.microsoft.com/office/drawing/2014/main" id="{79294FCF-BD57-44FD-B9E3-7F35CC3A075F}"/>
              </a:ext>
            </a:extLst>
          </p:cNvPr>
          <p:cNvSpPr txBox="1">
            <a:spLocks noChangeArrowheads="1"/>
          </p:cNvSpPr>
          <p:nvPr/>
        </p:nvSpPr>
        <p:spPr bwMode="auto">
          <a:xfrm>
            <a:off x="323850" y="1989138"/>
            <a:ext cx="5543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a:t>Sanger reaction</a:t>
            </a:r>
          </a:p>
        </p:txBody>
      </p:sp>
      <p:sp>
        <p:nvSpPr>
          <p:cNvPr id="391172" name="Text Box 6">
            <a:extLst>
              <a:ext uri="{FF2B5EF4-FFF2-40B4-BE49-F238E27FC236}">
                <a16:creationId xmlns:a16="http://schemas.microsoft.com/office/drawing/2014/main" id="{CF6C896E-ECA5-4BBB-A9AD-6D1A8883CA14}"/>
              </a:ext>
            </a:extLst>
          </p:cNvPr>
          <p:cNvSpPr txBox="1">
            <a:spLocks noChangeArrowheads="1"/>
          </p:cNvSpPr>
          <p:nvPr/>
        </p:nvSpPr>
        <p:spPr bwMode="auto">
          <a:xfrm>
            <a:off x="827088" y="476250"/>
            <a:ext cx="7777162"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r>
              <a:rPr lang="en-US" altLang="zh-CN"/>
              <a:t>Edman degradation and Sanger reaction</a:t>
            </a:r>
          </a:p>
          <a:p>
            <a:pPr eaLnBrk="1" hangingPunct="1">
              <a:spcBef>
                <a:spcPct val="50000"/>
              </a:spcBef>
              <a:buClrTx/>
              <a:buSzTx/>
              <a:buFontTx/>
              <a:buNone/>
            </a:pPr>
            <a:endParaRPr lang="zh-CN" altLang="en-US"/>
          </a:p>
        </p:txBody>
      </p:sp>
      <p:sp>
        <p:nvSpPr>
          <p:cNvPr id="391173" name="Text Box 7">
            <a:extLst>
              <a:ext uri="{FF2B5EF4-FFF2-40B4-BE49-F238E27FC236}">
                <a16:creationId xmlns:a16="http://schemas.microsoft.com/office/drawing/2014/main" id="{F37082D6-CAB9-4C68-930F-42937278AD83}"/>
              </a:ext>
            </a:extLst>
          </p:cNvPr>
          <p:cNvSpPr txBox="1">
            <a:spLocks noChangeArrowheads="1"/>
          </p:cNvSpPr>
          <p:nvPr/>
        </p:nvSpPr>
        <p:spPr bwMode="auto">
          <a:xfrm>
            <a:off x="179388" y="5300663"/>
            <a:ext cx="230505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t>DNFB or FDNB</a:t>
            </a:r>
          </a:p>
          <a:p>
            <a:pPr eaLnBrk="1" hangingPunct="1">
              <a:spcBef>
                <a:spcPct val="50000"/>
              </a:spcBef>
              <a:buClrTx/>
              <a:buSzTx/>
              <a:buFontTx/>
              <a:buNone/>
            </a:pPr>
            <a:r>
              <a:rPr lang="zh-CN" altLang="en-US" sz="2400">
                <a:ea typeface="华文中宋" panose="02010600040101010101" pitchFamily="2" charset="-122"/>
              </a:rPr>
              <a:t>二硝基氟苯</a:t>
            </a:r>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2194" name="Picture 4">
            <a:extLst>
              <a:ext uri="{FF2B5EF4-FFF2-40B4-BE49-F238E27FC236}">
                <a16:creationId xmlns:a16="http://schemas.microsoft.com/office/drawing/2014/main" id="{58E4E5CC-FA40-4324-9790-1D1E7C561E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872" t="19489" r="11621" b="15559"/>
          <a:stretch>
            <a:fillRect/>
          </a:stretch>
        </p:blipFill>
        <p:spPr bwMode="auto">
          <a:xfrm>
            <a:off x="250825" y="549275"/>
            <a:ext cx="8642350" cy="543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3218" name="Picture 4" descr="j0293234">
            <a:hlinkClick r:id="rId2" action="ppaction://hlinksldjump"/>
            <a:extLst>
              <a:ext uri="{FF2B5EF4-FFF2-40B4-BE49-F238E27FC236}">
                <a16:creationId xmlns:a16="http://schemas.microsoft.com/office/drawing/2014/main" id="{12E6C71B-1441-48EC-8F0F-E3354AB8D50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85113" y="5876925"/>
            <a:ext cx="1042987"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3219" name="Picture 5">
            <a:extLst>
              <a:ext uri="{FF2B5EF4-FFF2-40B4-BE49-F238E27FC236}">
                <a16:creationId xmlns:a16="http://schemas.microsoft.com/office/drawing/2014/main" id="{3BFB1413-A805-46B7-A2F3-869E0E881B39}"/>
              </a:ext>
            </a:extLst>
          </p:cNvPr>
          <p:cNvPicPr>
            <a:picLocks noChangeAspect="1" noChangeArrowheads="1"/>
          </p:cNvPicPr>
          <p:nvPr/>
        </p:nvPicPr>
        <p:blipFill>
          <a:blip r:embed="rId4">
            <a:lum bright="-60000" contrast="78000"/>
            <a:extLst>
              <a:ext uri="{28A0092B-C50C-407E-A947-70E740481C1C}">
                <a14:useLocalDpi xmlns:a14="http://schemas.microsoft.com/office/drawing/2010/main" val="0"/>
              </a:ext>
            </a:extLst>
          </a:blip>
          <a:srcRect/>
          <a:stretch>
            <a:fillRect/>
          </a:stretch>
        </p:blipFill>
        <p:spPr bwMode="auto">
          <a:xfrm>
            <a:off x="1466850" y="0"/>
            <a:ext cx="62087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3220" name="Picture 7" descr="j0293236">
            <a:hlinkClick r:id="rId5" action="ppaction://hlinkfile"/>
            <a:extLst>
              <a:ext uri="{FF2B5EF4-FFF2-40B4-BE49-F238E27FC236}">
                <a16:creationId xmlns:a16="http://schemas.microsoft.com/office/drawing/2014/main" id="{56E97F2C-3E87-445D-B510-67E7612DB96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740650" y="836613"/>
            <a:ext cx="10255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4242" name="Picture 4">
            <a:extLst>
              <a:ext uri="{FF2B5EF4-FFF2-40B4-BE49-F238E27FC236}">
                <a16:creationId xmlns:a16="http://schemas.microsoft.com/office/drawing/2014/main" id="{328D00A7-9E00-4417-9D8A-68AA8DF442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513" t="47049" r="17888" b="14561"/>
          <a:stretch>
            <a:fillRect/>
          </a:stretch>
        </p:blipFill>
        <p:spPr bwMode="auto">
          <a:xfrm>
            <a:off x="468313" y="1484313"/>
            <a:ext cx="8353425" cy="372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243" name="Text Box 5">
            <a:extLst>
              <a:ext uri="{FF2B5EF4-FFF2-40B4-BE49-F238E27FC236}">
                <a16:creationId xmlns:a16="http://schemas.microsoft.com/office/drawing/2014/main" id="{301BCB7B-7503-435A-AD51-13DFD1CDB3BB}"/>
              </a:ext>
            </a:extLst>
          </p:cNvPr>
          <p:cNvSpPr txBox="1">
            <a:spLocks noChangeArrowheads="1"/>
          </p:cNvSpPr>
          <p:nvPr/>
        </p:nvSpPr>
        <p:spPr bwMode="auto">
          <a:xfrm>
            <a:off x="1547813" y="765175"/>
            <a:ext cx="5543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800"/>
              <a:t>Edman reaction</a:t>
            </a:r>
          </a:p>
        </p:txBody>
      </p:sp>
      <p:sp>
        <p:nvSpPr>
          <p:cNvPr id="394244" name="Text Box 6">
            <a:extLst>
              <a:ext uri="{FF2B5EF4-FFF2-40B4-BE49-F238E27FC236}">
                <a16:creationId xmlns:a16="http://schemas.microsoft.com/office/drawing/2014/main" id="{A1D265E5-4680-42C1-832E-DF3952132385}"/>
              </a:ext>
            </a:extLst>
          </p:cNvPr>
          <p:cNvSpPr txBox="1">
            <a:spLocks noChangeArrowheads="1"/>
          </p:cNvSpPr>
          <p:nvPr/>
        </p:nvSpPr>
        <p:spPr bwMode="auto">
          <a:xfrm>
            <a:off x="250825" y="5373688"/>
            <a:ext cx="8713788"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t>The amino acid sequence of a protein can be determined by Edman degradation which sequentially removes one residue at a time from the N terminus.</a:t>
            </a:r>
          </a:p>
        </p:txBody>
      </p:sp>
      <p:sp>
        <p:nvSpPr>
          <p:cNvPr id="394245" name="Text Box 7">
            <a:extLst>
              <a:ext uri="{FF2B5EF4-FFF2-40B4-BE49-F238E27FC236}">
                <a16:creationId xmlns:a16="http://schemas.microsoft.com/office/drawing/2014/main" id="{A8F418B4-921B-4E3B-86B8-F6ADEA481CB6}"/>
              </a:ext>
            </a:extLst>
          </p:cNvPr>
          <p:cNvSpPr txBox="1">
            <a:spLocks noChangeArrowheads="1"/>
          </p:cNvSpPr>
          <p:nvPr/>
        </p:nvSpPr>
        <p:spPr bwMode="auto">
          <a:xfrm>
            <a:off x="900113" y="2492375"/>
            <a:ext cx="172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sz="2400"/>
              <a:t>PITC</a:t>
            </a:r>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5266" name="Picture 2" descr="2_9_clip_image004">
            <a:extLst>
              <a:ext uri="{FF2B5EF4-FFF2-40B4-BE49-F238E27FC236}">
                <a16:creationId xmlns:a16="http://schemas.microsoft.com/office/drawing/2014/main" id="{A3A699CA-1301-49CD-A383-3A92D5A311EE}"/>
              </a:ext>
            </a:extLst>
          </p:cNvPr>
          <p:cNvPicPr>
            <a:picLocks noChangeAspect="1" noChangeArrowheads="1"/>
          </p:cNvPicPr>
          <p:nvPr/>
        </p:nvPicPr>
        <p:blipFill>
          <a:blip r:embed="rId2">
            <a:lum bright="-18000" contrast="30000"/>
            <a:extLst>
              <a:ext uri="{28A0092B-C50C-407E-A947-70E740481C1C}">
                <a14:useLocalDpi xmlns:a14="http://schemas.microsoft.com/office/drawing/2010/main" val="0"/>
              </a:ext>
            </a:extLst>
          </a:blip>
          <a:srcRect/>
          <a:stretch>
            <a:fillRect/>
          </a:stretch>
        </p:blipFill>
        <p:spPr bwMode="auto">
          <a:xfrm>
            <a:off x="1187450" y="260350"/>
            <a:ext cx="6767513" cy="625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6290" name="Picture 2" descr="2_9_clip_image002">
            <a:extLst>
              <a:ext uri="{FF2B5EF4-FFF2-40B4-BE49-F238E27FC236}">
                <a16:creationId xmlns:a16="http://schemas.microsoft.com/office/drawing/2014/main" id="{312EF7F5-7EC0-48B6-BD8C-740023239084}"/>
              </a:ext>
            </a:extLst>
          </p:cNvPr>
          <p:cNvPicPr>
            <a:picLocks noChangeAspect="1" noChangeArrowheads="1"/>
          </p:cNvPicPr>
          <p:nvPr/>
        </p:nvPicPr>
        <p:blipFill>
          <a:blip r:embed="rId2">
            <a:lum bright="-12000" contrast="18000"/>
            <a:extLst>
              <a:ext uri="{28A0092B-C50C-407E-A947-70E740481C1C}">
                <a14:useLocalDpi xmlns:a14="http://schemas.microsoft.com/office/drawing/2010/main" val="0"/>
              </a:ext>
            </a:extLst>
          </a:blip>
          <a:srcRect/>
          <a:stretch>
            <a:fillRect/>
          </a:stretch>
        </p:blipFill>
        <p:spPr bwMode="auto">
          <a:xfrm>
            <a:off x="1835150" y="188913"/>
            <a:ext cx="5192713"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7314" name="Picture 2">
            <a:extLst>
              <a:ext uri="{FF2B5EF4-FFF2-40B4-BE49-F238E27FC236}">
                <a16:creationId xmlns:a16="http://schemas.microsoft.com/office/drawing/2014/main" id="{52C81322-0DA5-48CF-BDFC-4F8DEEEE477A}"/>
              </a:ext>
            </a:extLst>
          </p:cNvPr>
          <p:cNvPicPr>
            <a:picLocks noChangeAspect="1" noChangeArrowheads="1"/>
          </p:cNvPicPr>
          <p:nvPr/>
        </p:nvPicPr>
        <p:blipFill>
          <a:blip r:embed="rId2">
            <a:lum bright="-18000" contrast="30000"/>
            <a:extLst>
              <a:ext uri="{28A0092B-C50C-407E-A947-70E740481C1C}">
                <a14:useLocalDpi xmlns:a14="http://schemas.microsoft.com/office/drawing/2010/main" val="0"/>
              </a:ext>
            </a:extLst>
          </a:blip>
          <a:srcRect t="4176" b="2870"/>
          <a:stretch>
            <a:fillRect/>
          </a:stretch>
        </p:blipFill>
        <p:spPr bwMode="auto">
          <a:xfrm>
            <a:off x="593725" y="357188"/>
            <a:ext cx="8550275" cy="6357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8338" name="Picture 4">
            <a:extLst>
              <a:ext uri="{FF2B5EF4-FFF2-40B4-BE49-F238E27FC236}">
                <a16:creationId xmlns:a16="http://schemas.microsoft.com/office/drawing/2014/main" id="{C7AF7480-0CD5-4FCD-A4FC-57CF1C317AE2}"/>
              </a:ext>
            </a:extLst>
          </p:cNvPr>
          <p:cNvPicPr>
            <a:picLocks noChangeAspect="1" noChangeArrowheads="1"/>
          </p:cNvPicPr>
          <p:nvPr/>
        </p:nvPicPr>
        <p:blipFill>
          <a:blip r:embed="rId2">
            <a:lum bright="-48000" contrast="66000"/>
            <a:extLst>
              <a:ext uri="{28A0092B-C50C-407E-A947-70E740481C1C}">
                <a14:useLocalDpi xmlns:a14="http://schemas.microsoft.com/office/drawing/2010/main" val="0"/>
              </a:ext>
            </a:extLst>
          </a:blip>
          <a:srcRect/>
          <a:stretch>
            <a:fillRect/>
          </a:stretch>
        </p:blipFill>
        <p:spPr bwMode="auto">
          <a:xfrm>
            <a:off x="587375" y="0"/>
            <a:ext cx="79676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62" name="Picture 4" descr="j0293234">
            <a:hlinkClick r:id="rId2" action="ppaction://hlinksldjump"/>
            <a:extLst>
              <a:ext uri="{FF2B5EF4-FFF2-40B4-BE49-F238E27FC236}">
                <a16:creationId xmlns:a16="http://schemas.microsoft.com/office/drawing/2014/main" id="{D983D96E-F9BE-4DE3-8CAB-C1FDBE7DBB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85113" y="5876925"/>
            <a:ext cx="1042987"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363" name="Picture 5">
            <a:extLst>
              <a:ext uri="{FF2B5EF4-FFF2-40B4-BE49-F238E27FC236}">
                <a16:creationId xmlns:a16="http://schemas.microsoft.com/office/drawing/2014/main" id="{BCE774D9-8664-401B-AD13-8E2BA7682922}"/>
              </a:ext>
            </a:extLst>
          </p:cNvPr>
          <p:cNvPicPr>
            <a:picLocks noChangeAspect="1" noChangeArrowheads="1"/>
          </p:cNvPicPr>
          <p:nvPr/>
        </p:nvPicPr>
        <p:blipFill>
          <a:blip r:embed="rId4">
            <a:lum bright="-60000" contrast="78000"/>
            <a:extLst>
              <a:ext uri="{28A0092B-C50C-407E-A947-70E740481C1C}">
                <a14:useLocalDpi xmlns:a14="http://schemas.microsoft.com/office/drawing/2010/main" val="0"/>
              </a:ext>
            </a:extLst>
          </a:blip>
          <a:srcRect/>
          <a:stretch>
            <a:fillRect/>
          </a:stretch>
        </p:blipFill>
        <p:spPr bwMode="auto">
          <a:xfrm>
            <a:off x="1466850" y="0"/>
            <a:ext cx="62087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364" name="Picture 7" descr="j0293236">
            <a:hlinkClick r:id="rId5" action="ppaction://hlinkfile"/>
            <a:extLst>
              <a:ext uri="{FF2B5EF4-FFF2-40B4-BE49-F238E27FC236}">
                <a16:creationId xmlns:a16="http://schemas.microsoft.com/office/drawing/2014/main" id="{0E2E5583-078C-4932-B8EB-00DDD11B784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740650" y="836613"/>
            <a:ext cx="10255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538C1C-7EE4-4D80-ABBC-CCACD415D6F2}"/>
              </a:ext>
            </a:extLst>
          </p:cNvPr>
          <p:cNvSpPr txBox="1"/>
          <p:nvPr/>
        </p:nvSpPr>
        <p:spPr>
          <a:xfrm>
            <a:off x="2123728" y="2564904"/>
            <a:ext cx="4896544" cy="1107996"/>
          </a:xfrm>
          <a:prstGeom prst="rect">
            <a:avLst/>
          </a:prstGeom>
          <a:noFill/>
        </p:spPr>
        <p:txBody>
          <a:bodyPr wrap="square" rtlCol="0">
            <a:spAutoFit/>
          </a:bodyPr>
          <a:lstStyle/>
          <a:p>
            <a:r>
              <a:rPr lang="en-US" altLang="zh-CN" sz="6600" dirty="0"/>
              <a:t>Thank</a:t>
            </a:r>
            <a:r>
              <a:rPr lang="zh-CN" altLang="en-US" sz="6600" dirty="0"/>
              <a:t> </a:t>
            </a:r>
            <a:r>
              <a:rPr lang="en-US" altLang="zh-CN" sz="6600" dirty="0"/>
              <a:t>you!</a:t>
            </a:r>
            <a:endParaRPr lang="zh-CN" altLang="en-US" sz="6600" dirty="0"/>
          </a:p>
        </p:txBody>
      </p:sp>
    </p:spTree>
    <p:extLst>
      <p:ext uri="{BB962C8B-B14F-4D97-AF65-F5344CB8AC3E}">
        <p14:creationId xmlns:p14="http://schemas.microsoft.com/office/powerpoint/2010/main" val="2706933649"/>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Text Box 4">
            <a:extLst>
              <a:ext uri="{FF2B5EF4-FFF2-40B4-BE49-F238E27FC236}">
                <a16:creationId xmlns:a16="http://schemas.microsoft.com/office/drawing/2014/main" id="{77FF9AB9-6770-4298-BD64-74000D7168DD}"/>
              </a:ext>
            </a:extLst>
          </p:cNvPr>
          <p:cNvSpPr txBox="1">
            <a:spLocks noChangeArrowheads="1"/>
          </p:cNvSpPr>
          <p:nvPr/>
        </p:nvSpPr>
        <p:spPr bwMode="auto">
          <a:xfrm>
            <a:off x="1476375" y="260350"/>
            <a:ext cx="6696075" cy="3506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en-US" altLang="zh-CN" sz="3200">
                <a:latin typeface="Times New Roman" panose="02020603050405020304" pitchFamily="18" charset="0"/>
              </a:rPr>
              <a:t>Isoelectric points (pI)</a:t>
            </a:r>
          </a:p>
          <a:p>
            <a:pPr eaLnBrk="1" hangingPunct="1"/>
            <a:r>
              <a:rPr lang="en-US" altLang="zh-CN" sz="3200">
                <a:latin typeface="Times New Roman" panose="02020603050405020304" pitchFamily="18" charset="0"/>
              </a:rPr>
              <a:t>Supersecondary structure</a:t>
            </a:r>
          </a:p>
          <a:p>
            <a:pPr eaLnBrk="1" hangingPunct="1"/>
            <a:r>
              <a:rPr lang="en-US" altLang="zh-CN" sz="3200">
                <a:latin typeface="Times New Roman" panose="02020603050405020304" pitchFamily="18" charset="0"/>
              </a:rPr>
              <a:t>Protein tertiary structure</a:t>
            </a:r>
          </a:p>
          <a:p>
            <a:pPr eaLnBrk="1" hangingPunct="1"/>
            <a:r>
              <a:rPr lang="en-US" altLang="zh-CN" sz="3200">
                <a:latin typeface="Times New Roman" panose="02020603050405020304" pitchFamily="18" charset="0"/>
              </a:rPr>
              <a:t>Allosteric effect</a:t>
            </a:r>
          </a:p>
          <a:p>
            <a:pPr eaLnBrk="1" hangingPunct="1"/>
            <a:r>
              <a:rPr lang="en-US" altLang="zh-CN" sz="3200">
                <a:latin typeface="Times New Roman" panose="02020603050405020304" pitchFamily="18" charset="0"/>
              </a:rPr>
              <a:t>Protein denaturation</a:t>
            </a:r>
            <a:endParaRPr lang="zh-CN" altLang="en-US" sz="3200">
              <a:latin typeface="Times New Roman" panose="02020603050405020304" pitchFamily="18" charset="0"/>
            </a:endParaRPr>
          </a:p>
        </p:txBody>
      </p:sp>
      <p:sp>
        <p:nvSpPr>
          <p:cNvPr id="400387" name="Text Box 5">
            <a:extLst>
              <a:ext uri="{FF2B5EF4-FFF2-40B4-BE49-F238E27FC236}">
                <a16:creationId xmlns:a16="http://schemas.microsoft.com/office/drawing/2014/main" id="{63CAA6B2-5AC7-4921-A6FA-F66D9D85307B}"/>
              </a:ext>
            </a:extLst>
          </p:cNvPr>
          <p:cNvSpPr txBox="1">
            <a:spLocks noChangeArrowheads="1"/>
          </p:cNvSpPr>
          <p:nvPr/>
        </p:nvSpPr>
        <p:spPr bwMode="auto">
          <a:xfrm>
            <a:off x="250825" y="3933825"/>
            <a:ext cx="8569325" cy="2654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50000"/>
              </a:spcBef>
              <a:defRPr kumimoji="1" sz="2400">
                <a:solidFill>
                  <a:schemeClr val="tx1"/>
                </a:solidFill>
                <a:latin typeface="Tahoma" panose="020B0604030504040204" pitchFamily="34" charset="0"/>
                <a:ea typeface="宋体" panose="02010600030101010101" pitchFamily="2" charset="-122"/>
              </a:defRPr>
            </a:lvl1pPr>
            <a:lvl2pPr marL="742950" indent="-285750">
              <a:spcBef>
                <a:spcPct val="50000"/>
              </a:spcBef>
              <a:defRPr kumimoji="1" sz="2400">
                <a:solidFill>
                  <a:schemeClr val="tx1"/>
                </a:solidFill>
                <a:latin typeface="Tahoma" panose="020B0604030504040204" pitchFamily="34" charset="0"/>
                <a:ea typeface="宋体" panose="02010600030101010101" pitchFamily="2" charset="-122"/>
              </a:defRPr>
            </a:lvl2pPr>
            <a:lvl3pPr marL="1143000" indent="-228600">
              <a:spcBef>
                <a:spcPct val="50000"/>
              </a:spcBef>
              <a:defRPr kumimoji="1" sz="2400">
                <a:solidFill>
                  <a:schemeClr val="tx1"/>
                </a:solidFill>
                <a:latin typeface="Tahoma" panose="020B0604030504040204" pitchFamily="34" charset="0"/>
                <a:ea typeface="宋体" panose="02010600030101010101" pitchFamily="2" charset="-122"/>
              </a:defRPr>
            </a:lvl3pPr>
            <a:lvl4pPr marL="1600200" indent="-228600">
              <a:spcBef>
                <a:spcPct val="50000"/>
              </a:spcBef>
              <a:defRPr kumimoji="1" sz="2400">
                <a:solidFill>
                  <a:schemeClr val="tx1"/>
                </a:solidFill>
                <a:latin typeface="Tahoma" panose="020B0604030504040204" pitchFamily="34" charset="0"/>
                <a:ea typeface="宋体" panose="02010600030101010101" pitchFamily="2" charset="-122"/>
              </a:defRPr>
            </a:lvl4pPr>
            <a:lvl5pPr marL="2057400" indent="-228600">
              <a:spcBef>
                <a:spcPct val="50000"/>
              </a:spcBef>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5000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lang="zh-CN" altLang="en-US" sz="2800" b="1">
                <a:latin typeface="Times New Roman" panose="02020603050405020304" pitchFamily="18" charset="0"/>
              </a:rPr>
              <a:t>        有一个七肽，组成为：</a:t>
            </a:r>
            <a:r>
              <a:rPr lang="en-US" altLang="zh-CN" sz="2800" b="1">
                <a:latin typeface="Times New Roman" panose="02020603050405020304" pitchFamily="18" charset="0"/>
              </a:rPr>
              <a:t>Gly</a:t>
            </a:r>
            <a:r>
              <a:rPr lang="zh-CN" altLang="en-US" sz="2800" b="1">
                <a:latin typeface="Times New Roman" panose="02020603050405020304" pitchFamily="18" charset="0"/>
              </a:rPr>
              <a:t>、</a:t>
            </a:r>
            <a:r>
              <a:rPr lang="en-US" altLang="zh-CN" sz="2800" b="1">
                <a:latin typeface="Times New Roman" panose="02020603050405020304" pitchFamily="18" charset="0"/>
              </a:rPr>
              <a:t>Ala</a:t>
            </a:r>
            <a:r>
              <a:rPr lang="zh-CN" altLang="en-US" sz="2800" b="1">
                <a:latin typeface="Times New Roman" panose="02020603050405020304" pitchFamily="18" charset="0"/>
              </a:rPr>
              <a:t>、</a:t>
            </a:r>
            <a:r>
              <a:rPr lang="en-US" altLang="zh-CN" sz="2800" b="1">
                <a:latin typeface="Times New Roman" panose="02020603050405020304" pitchFamily="18" charset="0"/>
              </a:rPr>
              <a:t>Ser</a:t>
            </a:r>
            <a:r>
              <a:rPr lang="zh-CN" altLang="en-US" sz="2800" b="1">
                <a:latin typeface="Times New Roman" panose="02020603050405020304" pitchFamily="18" charset="0"/>
              </a:rPr>
              <a:t>、</a:t>
            </a:r>
            <a:r>
              <a:rPr lang="en-US" altLang="zh-CN" sz="2800" b="1">
                <a:latin typeface="Times New Roman" panose="02020603050405020304" pitchFamily="18" charset="0"/>
              </a:rPr>
              <a:t>Arg</a:t>
            </a:r>
            <a:r>
              <a:rPr lang="zh-CN" altLang="en-US" sz="2800" b="1">
                <a:latin typeface="Times New Roman" panose="02020603050405020304" pitchFamily="18" charset="0"/>
              </a:rPr>
              <a:t>、</a:t>
            </a:r>
            <a:r>
              <a:rPr lang="en-US" altLang="zh-CN" sz="2800" b="1">
                <a:latin typeface="Times New Roman" panose="02020603050405020304" pitchFamily="18" charset="0"/>
              </a:rPr>
              <a:t>Val</a:t>
            </a:r>
            <a:r>
              <a:rPr lang="zh-CN" altLang="en-US" sz="2800" b="1">
                <a:latin typeface="Times New Roman" panose="02020603050405020304" pitchFamily="18" charset="0"/>
              </a:rPr>
              <a:t>（</a:t>
            </a:r>
            <a:r>
              <a:rPr lang="en-US" altLang="zh-CN" sz="2800" b="1">
                <a:latin typeface="Times New Roman" panose="02020603050405020304" pitchFamily="18" charset="0"/>
              </a:rPr>
              <a:t>2</a:t>
            </a:r>
            <a:r>
              <a:rPr lang="zh-CN" altLang="en-US" sz="2800" b="1">
                <a:latin typeface="Times New Roman" panose="02020603050405020304" pitchFamily="18" charset="0"/>
              </a:rPr>
              <a:t>个）、</a:t>
            </a:r>
            <a:r>
              <a:rPr lang="en-US" altLang="zh-CN" sz="2800" b="1">
                <a:latin typeface="Times New Roman" panose="02020603050405020304" pitchFamily="18" charset="0"/>
              </a:rPr>
              <a:t>Phe</a:t>
            </a:r>
            <a:r>
              <a:rPr lang="zh-CN" altLang="en-US" sz="2800" b="1">
                <a:latin typeface="Times New Roman" panose="02020603050405020304" pitchFamily="18" charset="0"/>
              </a:rPr>
              <a:t>。与</a:t>
            </a:r>
            <a:r>
              <a:rPr lang="en-US" altLang="zh-CN" sz="2800" b="1">
                <a:latin typeface="Times New Roman" panose="02020603050405020304" pitchFamily="18" charset="0"/>
              </a:rPr>
              <a:t>DNFB</a:t>
            </a:r>
            <a:r>
              <a:rPr lang="zh-CN" altLang="en-US" sz="2800" b="1">
                <a:latin typeface="Times New Roman" panose="02020603050405020304" pitchFamily="18" charset="0"/>
              </a:rPr>
              <a:t>反应产生</a:t>
            </a:r>
            <a:r>
              <a:rPr lang="en-US" altLang="zh-CN" sz="2800" b="1">
                <a:latin typeface="Times New Roman" panose="02020603050405020304" pitchFamily="18" charset="0"/>
              </a:rPr>
              <a:t>DNP-Ala</a:t>
            </a:r>
            <a:r>
              <a:rPr lang="zh-CN" altLang="en-US" sz="2800" b="1">
                <a:latin typeface="Times New Roman" panose="02020603050405020304" pitchFamily="18" charset="0"/>
              </a:rPr>
              <a:t>，羧肽酶水解可产生游离的</a:t>
            </a:r>
            <a:r>
              <a:rPr lang="en-US" altLang="zh-CN" sz="2800" b="1">
                <a:latin typeface="Times New Roman" panose="02020603050405020304" pitchFamily="18" charset="0"/>
              </a:rPr>
              <a:t>Gly</a:t>
            </a:r>
            <a:r>
              <a:rPr lang="zh-CN" altLang="en-US" sz="2800" b="1">
                <a:latin typeface="Times New Roman" panose="02020603050405020304" pitchFamily="18" charset="0"/>
              </a:rPr>
              <a:t>，用胰蛋白酶水解产生一个三肽（</a:t>
            </a:r>
            <a:r>
              <a:rPr lang="en-US" altLang="zh-CN" sz="2800" b="1">
                <a:latin typeface="Times New Roman" panose="02020603050405020304" pitchFamily="18" charset="0"/>
              </a:rPr>
              <a:t>Ala</a:t>
            </a:r>
            <a:r>
              <a:rPr lang="zh-CN" altLang="en-US" sz="2800" b="1">
                <a:latin typeface="Times New Roman" panose="02020603050405020304" pitchFamily="18" charset="0"/>
              </a:rPr>
              <a:t>、</a:t>
            </a:r>
            <a:r>
              <a:rPr lang="en-US" altLang="zh-CN" sz="2800" b="1">
                <a:latin typeface="Times New Roman" panose="02020603050405020304" pitchFamily="18" charset="0"/>
              </a:rPr>
              <a:t>Arg</a:t>
            </a:r>
            <a:r>
              <a:rPr lang="zh-CN" altLang="en-US" sz="2800" b="1">
                <a:latin typeface="Times New Roman" panose="02020603050405020304" pitchFamily="18" charset="0"/>
              </a:rPr>
              <a:t>、</a:t>
            </a:r>
            <a:r>
              <a:rPr lang="en-US" altLang="zh-CN" sz="2800" b="1">
                <a:latin typeface="Times New Roman" panose="02020603050405020304" pitchFamily="18" charset="0"/>
              </a:rPr>
              <a:t>Ser</a:t>
            </a:r>
            <a:r>
              <a:rPr lang="zh-CN" altLang="en-US" sz="2800" b="1">
                <a:latin typeface="Times New Roman" panose="02020603050405020304" pitchFamily="18" charset="0"/>
              </a:rPr>
              <a:t>）和一个四肽。用胰凝乳蛋白酶处理可得一个五肽和一个二肽。试推测这个多肽的结构。</a:t>
            </a: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a:extLst>
              <a:ext uri="{FF2B5EF4-FFF2-40B4-BE49-F238E27FC236}">
                <a16:creationId xmlns:a16="http://schemas.microsoft.com/office/drawing/2014/main" id="{4EEDB06A-BA7C-452C-B423-99310FC11C6C}"/>
              </a:ext>
            </a:extLst>
          </p:cNvPr>
          <p:cNvSpPr>
            <a:spLocks noGrp="1" noChangeArrowheads="1"/>
          </p:cNvSpPr>
          <p:nvPr>
            <p:ph type="title"/>
          </p:nvPr>
        </p:nvSpPr>
        <p:spPr/>
        <p:txBody>
          <a:bodyPr/>
          <a:lstStyle/>
          <a:p>
            <a:r>
              <a:rPr lang="zh-CN" altLang="en-US" b="1"/>
              <a:t>两次获得诺贝尔奖的科学家</a:t>
            </a:r>
          </a:p>
        </p:txBody>
      </p:sp>
      <p:sp>
        <p:nvSpPr>
          <p:cNvPr id="401411" name="Rectangle 3">
            <a:extLst>
              <a:ext uri="{FF2B5EF4-FFF2-40B4-BE49-F238E27FC236}">
                <a16:creationId xmlns:a16="http://schemas.microsoft.com/office/drawing/2014/main" id="{9CAF539A-CD60-4BE5-950C-81FBD195AAB0}"/>
              </a:ext>
            </a:extLst>
          </p:cNvPr>
          <p:cNvSpPr>
            <a:spLocks noGrp="1" noChangeArrowheads="1"/>
          </p:cNvSpPr>
          <p:nvPr>
            <p:ph type="body" idx="1"/>
          </p:nvPr>
        </p:nvSpPr>
        <p:spPr/>
        <p:txBody>
          <a:bodyPr/>
          <a:lstStyle/>
          <a:p>
            <a:r>
              <a:rPr lang="zh-CN" altLang="en-US">
                <a:hlinkClick r:id="rId2"/>
              </a:rPr>
              <a:t>诺贝尔奖二次得主</a:t>
            </a:r>
            <a:br>
              <a:rPr lang="zh-CN" altLang="en-US"/>
            </a:br>
            <a:r>
              <a:rPr lang="zh-CN" altLang="en-US">
                <a:hlinkClick r:id="rId3"/>
              </a:rPr>
              <a:t>居里夫人（</a:t>
            </a:r>
            <a:r>
              <a:rPr lang="en-US" altLang="zh-CN">
                <a:hlinkClick r:id="rId3"/>
              </a:rPr>
              <a:t>Marie Curie</a:t>
            </a:r>
            <a:r>
              <a:rPr lang="zh-CN" altLang="en-US">
                <a:hlinkClick r:id="rId3"/>
              </a:rPr>
              <a:t>）</a:t>
            </a:r>
            <a:br>
              <a:rPr lang="zh-CN" altLang="en-US"/>
            </a:br>
            <a:r>
              <a:rPr lang="zh-CN" altLang="en-US">
                <a:hlinkClick r:id="rId4"/>
              </a:rPr>
              <a:t>约翰</a:t>
            </a:r>
            <a:r>
              <a:rPr lang="en-US" altLang="zh-CN">
                <a:hlinkClick r:id="rId4"/>
              </a:rPr>
              <a:t>·</a:t>
            </a:r>
            <a:r>
              <a:rPr lang="zh-CN" altLang="en-US">
                <a:hlinkClick r:id="rId4"/>
              </a:rPr>
              <a:t>巴丁（</a:t>
            </a:r>
            <a:r>
              <a:rPr lang="en-US" altLang="zh-CN">
                <a:hlinkClick r:id="rId4"/>
              </a:rPr>
              <a:t>John Bardeen</a:t>
            </a:r>
            <a:r>
              <a:rPr lang="zh-CN" altLang="en-US">
                <a:hlinkClick r:id="rId4"/>
              </a:rPr>
              <a:t>）</a:t>
            </a:r>
            <a:br>
              <a:rPr lang="zh-CN" altLang="en-US"/>
            </a:br>
            <a:r>
              <a:rPr lang="zh-CN" altLang="en-US">
                <a:hlinkClick r:id="rId5"/>
              </a:rPr>
              <a:t>莱纳斯</a:t>
            </a:r>
            <a:r>
              <a:rPr lang="en-US" altLang="zh-CN">
                <a:hlinkClick r:id="rId5"/>
              </a:rPr>
              <a:t>·</a:t>
            </a:r>
            <a:r>
              <a:rPr lang="zh-CN" altLang="en-US">
                <a:hlinkClick r:id="rId5"/>
              </a:rPr>
              <a:t>鲍林（</a:t>
            </a:r>
            <a:r>
              <a:rPr lang="en-US" altLang="zh-CN">
                <a:hlinkClick r:id="rId5"/>
              </a:rPr>
              <a:t>Linus Pauling</a:t>
            </a:r>
            <a:r>
              <a:rPr lang="zh-CN" altLang="en-US">
                <a:hlinkClick r:id="rId5"/>
              </a:rPr>
              <a:t>）</a:t>
            </a:r>
            <a:br>
              <a:rPr lang="zh-CN" altLang="en-US"/>
            </a:br>
            <a:r>
              <a:rPr lang="zh-CN" altLang="en-US">
                <a:hlinkClick r:id="rId6"/>
              </a:rPr>
              <a:t>弗雷德</a:t>
            </a:r>
            <a:r>
              <a:rPr lang="en-US" altLang="zh-CN">
                <a:hlinkClick r:id="rId6"/>
              </a:rPr>
              <a:t>·</a:t>
            </a:r>
            <a:r>
              <a:rPr lang="zh-CN" altLang="en-US">
                <a:hlinkClick r:id="rId6"/>
              </a:rPr>
              <a:t>桑格尔（</a:t>
            </a:r>
            <a:r>
              <a:rPr lang="en-US" altLang="zh-CN">
                <a:hlinkClick r:id="rId6"/>
              </a:rPr>
              <a:t>Fred Sanger</a:t>
            </a:r>
            <a:r>
              <a:rPr lang="zh-CN" altLang="en-US">
                <a:hlinkClick r:id="rId6"/>
              </a:rPr>
              <a:t>）</a:t>
            </a:r>
            <a:endParaRPr lang="zh-CN" altLang="en-US"/>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864DDFFA-32D5-4784-AB04-BAB6762C10DE}"/>
              </a:ext>
            </a:extLst>
          </p:cNvPr>
          <p:cNvSpPr>
            <a:spLocks noGrp="1" noChangeArrowheads="1"/>
          </p:cNvSpPr>
          <p:nvPr>
            <p:ph type="title"/>
          </p:nvPr>
        </p:nvSpPr>
        <p:spPr>
          <a:xfrm>
            <a:off x="900113" y="260350"/>
            <a:ext cx="8712200" cy="1143000"/>
          </a:xfrm>
        </p:spPr>
        <p:txBody>
          <a:bodyPr/>
          <a:lstStyle/>
          <a:p>
            <a:r>
              <a:rPr lang="zh-CN" altLang="en-US" b="1"/>
              <a:t>弗雷德</a:t>
            </a:r>
            <a:r>
              <a:rPr lang="en-US" altLang="zh-CN" b="1"/>
              <a:t>·</a:t>
            </a:r>
            <a:r>
              <a:rPr lang="zh-CN" altLang="en-US" b="1"/>
              <a:t>桑格尔（</a:t>
            </a:r>
            <a:r>
              <a:rPr lang="en-US" altLang="zh-CN" b="1"/>
              <a:t>Fred Sanger</a:t>
            </a:r>
            <a:r>
              <a:rPr lang="zh-CN" altLang="en-US" b="1"/>
              <a:t>）</a:t>
            </a:r>
          </a:p>
        </p:txBody>
      </p:sp>
      <p:sp>
        <p:nvSpPr>
          <p:cNvPr id="402435" name="Rectangle 3">
            <a:extLst>
              <a:ext uri="{FF2B5EF4-FFF2-40B4-BE49-F238E27FC236}">
                <a16:creationId xmlns:a16="http://schemas.microsoft.com/office/drawing/2014/main" id="{8C5D72D6-CE42-4E07-A6B7-CE3C7FFC3015}"/>
              </a:ext>
            </a:extLst>
          </p:cNvPr>
          <p:cNvSpPr>
            <a:spLocks noGrp="1" noChangeArrowheads="1"/>
          </p:cNvSpPr>
          <p:nvPr>
            <p:ph type="body" idx="1"/>
          </p:nvPr>
        </p:nvSpPr>
        <p:spPr>
          <a:xfrm>
            <a:off x="179388" y="2017713"/>
            <a:ext cx="8775700" cy="4651375"/>
          </a:xfrm>
        </p:spPr>
        <p:txBody>
          <a:bodyPr/>
          <a:lstStyle/>
          <a:p>
            <a:pPr>
              <a:spcBef>
                <a:spcPct val="40000"/>
              </a:spcBef>
            </a:pPr>
            <a:r>
              <a:rPr lang="zh-CN" altLang="en-US" sz="2400" b="1"/>
              <a:t>英国生物化学家</a:t>
            </a:r>
            <a:r>
              <a:rPr lang="en-US" altLang="zh-CN" sz="2400" b="1"/>
              <a:t> Sanger</a:t>
            </a:r>
            <a:r>
              <a:rPr lang="zh-CN" altLang="en-US" sz="2400" b="1"/>
              <a:t>，</a:t>
            </a:r>
            <a:r>
              <a:rPr lang="en-US" altLang="zh-CN" sz="2400" b="1"/>
              <a:t>(1918</a:t>
            </a:r>
            <a:r>
              <a:rPr lang="zh-CN" altLang="en-US" sz="2400" b="1"/>
              <a:t>年</a:t>
            </a:r>
            <a:r>
              <a:rPr lang="en-US" altLang="zh-CN" sz="2400" b="1"/>
              <a:t>8</a:t>
            </a:r>
            <a:r>
              <a:rPr lang="zh-CN" altLang="en-US" sz="2400" b="1"/>
              <a:t>月</a:t>
            </a:r>
            <a:r>
              <a:rPr lang="en-US" altLang="zh-CN" sz="2400" b="1"/>
              <a:t>13</a:t>
            </a:r>
            <a:r>
              <a:rPr lang="zh-CN" altLang="en-US" sz="2400" b="1"/>
              <a:t>日</a:t>
            </a:r>
            <a:r>
              <a:rPr lang="en-US" altLang="zh-CN" sz="2400" b="1"/>
              <a:t>— </a:t>
            </a:r>
            <a:r>
              <a:rPr lang="zh-CN" altLang="en-US" sz="2400" b="1"/>
              <a:t>）</a:t>
            </a:r>
            <a:r>
              <a:rPr lang="en-US" altLang="zh-CN" sz="2400" b="1"/>
              <a:t>,</a:t>
            </a:r>
            <a:r>
              <a:rPr lang="zh-CN" altLang="en-US" sz="2400" b="1"/>
              <a:t>分别获得</a:t>
            </a:r>
            <a:r>
              <a:rPr lang="en-US" altLang="zh-CN" sz="2400" b="1"/>
              <a:t>1958</a:t>
            </a:r>
            <a:r>
              <a:rPr lang="zh-CN" altLang="en-US" sz="2400" b="1"/>
              <a:t>年和</a:t>
            </a:r>
            <a:r>
              <a:rPr lang="en-US" altLang="zh-CN" sz="2400" b="1"/>
              <a:t>1980</a:t>
            </a:r>
            <a:r>
              <a:rPr lang="zh-CN" altLang="en-US" sz="2400" b="1"/>
              <a:t>年诺贝尔化学奖。他是同一领域内两次获奖的第二人，更关键的是，两次获奖理由都可归结为：测序。并且，他是目前唯一在世的两次获得诺贝尔奖的人。</a:t>
            </a:r>
            <a:r>
              <a:rPr lang="en-US" altLang="zh-CN" sz="2400" b="1">
                <a:solidFill>
                  <a:srgbClr val="0000FF"/>
                </a:solidFill>
              </a:rPr>
              <a:t>2013</a:t>
            </a:r>
            <a:r>
              <a:rPr lang="zh-CN" altLang="en-US" sz="2400" b="1">
                <a:solidFill>
                  <a:srgbClr val="0000FF"/>
                </a:solidFill>
              </a:rPr>
              <a:t>年去世。</a:t>
            </a:r>
          </a:p>
          <a:p>
            <a:pPr>
              <a:spcBef>
                <a:spcPct val="40000"/>
              </a:spcBef>
            </a:pPr>
            <a:r>
              <a:rPr lang="en-US" altLang="zh-CN" sz="2400" b="1"/>
              <a:t>1958</a:t>
            </a:r>
            <a:r>
              <a:rPr lang="zh-CN" altLang="en-US" sz="2400" b="1"/>
              <a:t>：弗雷德</a:t>
            </a:r>
            <a:r>
              <a:rPr lang="en-US" altLang="zh-CN" sz="2400" b="1"/>
              <a:t>·</a:t>
            </a:r>
            <a:r>
              <a:rPr lang="zh-CN" altLang="en-US" sz="2400" b="1"/>
              <a:t>桑格尔发明酶法测定人胰岛素序列，从而确定胰岛素的分子结构，开创了蛋白质测序的领域。</a:t>
            </a:r>
          </a:p>
          <a:p>
            <a:pPr>
              <a:spcBef>
                <a:spcPct val="40000"/>
              </a:spcBef>
            </a:pPr>
            <a:r>
              <a:rPr lang="en-US" altLang="zh-CN" sz="2400" b="1"/>
              <a:t>1980</a:t>
            </a:r>
            <a:r>
              <a:rPr lang="zh-CN" altLang="en-US" sz="2400" b="1"/>
              <a:t>：弗雷德</a:t>
            </a:r>
            <a:r>
              <a:rPr lang="en-US" altLang="zh-CN" sz="2400" b="1"/>
              <a:t>·</a:t>
            </a:r>
            <a:r>
              <a:rPr lang="zh-CN" altLang="en-US" sz="2400" b="1"/>
              <a:t>桑格尔、沃尔特</a:t>
            </a:r>
            <a:r>
              <a:rPr lang="en-US" altLang="zh-CN" sz="2400" b="1"/>
              <a:t>·</a:t>
            </a:r>
            <a:r>
              <a:rPr lang="zh-CN" altLang="en-US" sz="2400" b="1"/>
              <a:t>吉尔伯特共同荣获诺贝尔化学奖。他们的贡献在于：分别使用不同的方法测定</a:t>
            </a:r>
            <a:r>
              <a:rPr lang="en-US" altLang="zh-CN" sz="2400" b="1"/>
              <a:t>DNA</a:t>
            </a:r>
            <a:r>
              <a:rPr lang="zh-CN" altLang="en-US" sz="2400" b="1"/>
              <a:t>的序列。</a:t>
            </a:r>
            <a:r>
              <a:rPr lang="en-US" altLang="zh-CN" sz="2400" b="1"/>
              <a:t>Sanger</a:t>
            </a:r>
            <a:r>
              <a:rPr lang="zh-CN" altLang="en-US" sz="2400" b="1"/>
              <a:t>法后来成为主流，并用于人类基因组计划（</a:t>
            </a:r>
            <a:r>
              <a:rPr lang="en-US" altLang="zh-CN" sz="2400" b="1"/>
              <a:t>HGP</a:t>
            </a:r>
            <a:r>
              <a:rPr lang="zh-CN" altLang="en-US" sz="2400" b="1"/>
              <a:t>）的测序。</a:t>
            </a:r>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3">
            <a:extLst>
              <a:ext uri="{FF2B5EF4-FFF2-40B4-BE49-F238E27FC236}">
                <a16:creationId xmlns:a16="http://schemas.microsoft.com/office/drawing/2014/main" id="{007B0FDF-A17B-4517-BC14-40840D6639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0363" y="379413"/>
            <a:ext cx="5883275" cy="609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7987554"/>
      </p:ext>
    </p:extLst>
  </p:cSld>
  <p:clrMapOvr>
    <a:masterClrMapping/>
  </p:clrMapOvr>
  <p:transition/>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DA6B5AD-EBEC-485A-BC52-558A7F8D9A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085" y="902970"/>
            <a:ext cx="7783830" cy="5052060"/>
          </a:xfrm>
          <a:prstGeom prst="rect">
            <a:avLst/>
          </a:prstGeom>
        </p:spPr>
      </p:pic>
    </p:spTree>
    <p:extLst>
      <p:ext uri="{BB962C8B-B14F-4D97-AF65-F5344CB8AC3E}">
        <p14:creationId xmlns:p14="http://schemas.microsoft.com/office/powerpoint/2010/main" val="1182019236"/>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C1743B1-7092-4E66-AE71-B22640E829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 y="127000"/>
            <a:ext cx="8763000" cy="6604000"/>
          </a:xfrm>
          <a:prstGeom prst="rect">
            <a:avLst/>
          </a:prstGeom>
        </p:spPr>
      </p:pic>
    </p:spTree>
    <p:extLst>
      <p:ext uri="{BB962C8B-B14F-4D97-AF65-F5344CB8AC3E}">
        <p14:creationId xmlns:p14="http://schemas.microsoft.com/office/powerpoint/2010/main" val="1792819396"/>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1906" name="Picture 2">
            <a:extLst>
              <a:ext uri="{FF2B5EF4-FFF2-40B4-BE49-F238E27FC236}">
                <a16:creationId xmlns:a16="http://schemas.microsoft.com/office/drawing/2014/main" id="{31818BBF-A430-4403-82B2-83985ABF7B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2514600"/>
            <a:ext cx="80264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1907" name="Text Box 3">
            <a:extLst>
              <a:ext uri="{FF2B5EF4-FFF2-40B4-BE49-F238E27FC236}">
                <a16:creationId xmlns:a16="http://schemas.microsoft.com/office/drawing/2014/main" id="{43DC51A3-DE70-4D32-B08D-097DAC1F61D7}"/>
              </a:ext>
            </a:extLst>
          </p:cNvPr>
          <p:cNvSpPr txBox="1">
            <a:spLocks noChangeArrowheads="1"/>
          </p:cNvSpPr>
          <p:nvPr/>
        </p:nvSpPr>
        <p:spPr bwMode="auto">
          <a:xfrm>
            <a:off x="228600" y="457200"/>
            <a:ext cx="8686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0" lang="en-US" altLang="zh-CN" sz="2800" b="1" dirty="0">
                <a:solidFill>
                  <a:srgbClr val="FF0066"/>
                </a:solidFill>
                <a:latin typeface="Times New Roman" panose="02020603050405020304" pitchFamily="18" charset="0"/>
              </a:rPr>
              <a:t>Globular protein structures are compact and varied</a:t>
            </a:r>
          </a:p>
        </p:txBody>
      </p:sp>
    </p:spTree>
    <p:extLst>
      <p:ext uri="{BB962C8B-B14F-4D97-AF65-F5344CB8AC3E}">
        <p14:creationId xmlns:p14="http://schemas.microsoft.com/office/powerpoint/2010/main" val="3592323486"/>
      </p:ext>
    </p:extLst>
  </p:cSld>
  <p:clrMapOvr>
    <a:masterClrMapping/>
  </p:clrMapOvr>
</p:sld>
</file>

<file path=ppt/theme/theme1.xml><?xml version="1.0" encoding="utf-8"?>
<a:theme xmlns:a="http://schemas.openxmlformats.org/drawingml/2006/main" name="shan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shand</Template>
  <TotalTime>20648</TotalTime>
  <Words>8984</Words>
  <Application>Microsoft Office PowerPoint</Application>
  <PresentationFormat>全屏显示(4:3)</PresentationFormat>
  <Paragraphs>983</Paragraphs>
  <Slides>320</Slides>
  <Notes>191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320</vt:i4>
      </vt:variant>
    </vt:vector>
  </HeadingPairs>
  <TitlesOfParts>
    <vt:vector size="335" baseType="lpstr">
      <vt:lpstr>-apple-system</vt:lpstr>
      <vt:lpstr>PingFang SC</vt:lpstr>
      <vt:lpstr>TimesNewRomanPS-BoldMT</vt:lpstr>
      <vt:lpstr>Whitney-Semibold</vt:lpstr>
      <vt:lpstr>华文中宋</vt:lpstr>
      <vt:lpstr>宋体</vt:lpstr>
      <vt:lpstr>Arial</vt:lpstr>
      <vt:lpstr>Calibri</vt:lpstr>
      <vt:lpstr>Symbol</vt:lpstr>
      <vt:lpstr>Tahoma</vt:lpstr>
      <vt:lpstr>Times New Roman</vt:lpstr>
      <vt:lpstr>Wingdings</vt:lpstr>
      <vt:lpstr>shand</vt:lpstr>
      <vt:lpstr>文档</vt:lpstr>
      <vt:lpstr>Image</vt:lpstr>
      <vt:lpstr>Section B Amino acid and protein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Biological Monomers</vt:lpstr>
      <vt:lpstr>PowerPoint 演示文稿</vt:lpstr>
      <vt:lpstr>PowerPoint 演示文稿</vt:lpstr>
      <vt:lpstr>Carbon Bonding</vt:lpstr>
      <vt:lpstr>PowerPoint 演示文稿</vt:lpstr>
      <vt:lpstr>Biological molecules typically have several functional groups</vt:lpstr>
      <vt:lpstr>Bond Angles and Rotation</vt:lpstr>
      <vt:lpstr>Cis and Trans</vt:lpstr>
      <vt:lpstr>Cis and Trans –Change</vt:lpstr>
      <vt:lpstr>Summary of B0</vt:lpstr>
      <vt:lpstr>PowerPoint 演示文稿</vt:lpstr>
      <vt:lpstr>PowerPoint 演示文稿</vt:lpstr>
      <vt:lpstr>The names of the amino acids are often abbreviated, either to three letters or to a single letter.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某些光学活性介质能使平面偏振光的偏               振面发生旋转</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Two additional amino acids have been identified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氨基酸的其他分类方法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B2 Acids and Bases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B3  Protein structure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Protein structure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Interactions that maintain protein structure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6.Protein folding</vt:lpstr>
      <vt:lpstr>PowerPoint 演示文稿</vt:lpstr>
      <vt:lpstr>PowerPoint 演示文稿</vt:lpstr>
      <vt:lpstr>PowerPoint 演示文稿</vt:lpstr>
      <vt:lpstr>PowerPoint 演示文稿</vt:lpstr>
      <vt:lpstr>The folding pathways require two enzymes that catalyze isomerizations.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血红蛋白输氧功能和构象变化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B5 Collagen (胶原蛋白）</vt:lpstr>
      <vt:lpstr>PowerPoint 演示文稿</vt:lpstr>
      <vt:lpstr>PowerPoint 演示文稿</vt:lpstr>
      <vt:lpstr>PowerPoint 演示文稿</vt:lpstr>
      <vt:lpstr>PowerPoint 演示文稿</vt:lpstr>
      <vt:lpstr>PowerPoint 演示文稿</vt:lpstr>
      <vt:lpstr>salting in and salting out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Isoelectric Focusing (IEF)</vt:lpstr>
      <vt:lpstr>PowerPoint 演示文稿</vt:lpstr>
      <vt:lpstr>PowerPoint 演示文稿</vt:lpstr>
      <vt:lpstr>PowerPoint 演示文稿</vt:lpstr>
      <vt:lpstr>PowerPoint 演示文稿</vt:lpstr>
      <vt:lpstr>PowerPoint 演示文稿</vt:lpstr>
      <vt:lpstr>PowerPoint 演示文稿</vt:lpstr>
      <vt:lpstr>B9 Protein sequencing and peptide synthesis</vt:lpstr>
      <vt:lpstr>Sequencing strategy</vt:lpstr>
      <vt:lpstr>Three steps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Step 2</vt:lpstr>
      <vt:lpstr>Step 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两次获得诺贝尔奖的科学家</vt:lpstr>
      <vt:lpstr>弗雷德·桑格尔（Fred Sanger）</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dc:creator>
  <cp:lastModifiedBy>weiyu</cp:lastModifiedBy>
  <cp:revision>294</cp:revision>
  <dcterms:created xsi:type="dcterms:W3CDTF">2014-10-13T11:37:17Z</dcterms:created>
  <dcterms:modified xsi:type="dcterms:W3CDTF">2023-09-03T02:33:46Z</dcterms:modified>
</cp:coreProperties>
</file>