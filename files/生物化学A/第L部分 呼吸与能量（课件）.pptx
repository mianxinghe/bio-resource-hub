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av" ContentType="audio/wav"/>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8"/>
  </p:notesMasterIdLst>
  <p:handoutMasterIdLst>
    <p:handoutMasterId r:id="rId129"/>
  </p:handoutMasterIdLst>
  <p:sldIdLst>
    <p:sldId id="256" r:id="rId2"/>
    <p:sldId id="399" r:id="rId3"/>
    <p:sldId id="279" r:id="rId4"/>
    <p:sldId id="280" r:id="rId5"/>
    <p:sldId id="281" r:id="rId6"/>
    <p:sldId id="424" r:id="rId7"/>
    <p:sldId id="425" r:id="rId8"/>
    <p:sldId id="426" r:id="rId9"/>
    <p:sldId id="283" r:id="rId10"/>
    <p:sldId id="284" r:id="rId11"/>
    <p:sldId id="285" r:id="rId12"/>
    <p:sldId id="286" r:id="rId13"/>
    <p:sldId id="287" r:id="rId14"/>
    <p:sldId id="290" r:id="rId15"/>
    <p:sldId id="291" r:id="rId16"/>
    <p:sldId id="292" r:id="rId17"/>
    <p:sldId id="294" r:id="rId18"/>
    <p:sldId id="296" r:id="rId19"/>
    <p:sldId id="298" r:id="rId20"/>
    <p:sldId id="297" r:id="rId21"/>
    <p:sldId id="299" r:id="rId22"/>
    <p:sldId id="300" r:id="rId23"/>
    <p:sldId id="301" r:id="rId24"/>
    <p:sldId id="302" r:id="rId25"/>
    <p:sldId id="303" r:id="rId26"/>
    <p:sldId id="304" r:id="rId27"/>
    <p:sldId id="305" r:id="rId28"/>
    <p:sldId id="413" r:id="rId29"/>
    <p:sldId id="306" r:id="rId30"/>
    <p:sldId id="307" r:id="rId31"/>
    <p:sldId id="308" r:id="rId32"/>
    <p:sldId id="311" r:id="rId33"/>
    <p:sldId id="310" r:id="rId34"/>
    <p:sldId id="312" r:id="rId35"/>
    <p:sldId id="313" r:id="rId36"/>
    <p:sldId id="314" r:id="rId37"/>
    <p:sldId id="315" r:id="rId38"/>
    <p:sldId id="316" r:id="rId39"/>
    <p:sldId id="317" r:id="rId40"/>
    <p:sldId id="318" r:id="rId41"/>
    <p:sldId id="319" r:id="rId42"/>
    <p:sldId id="427" r:id="rId43"/>
    <p:sldId id="320" r:id="rId44"/>
    <p:sldId id="321" r:id="rId45"/>
    <p:sldId id="322" r:id="rId46"/>
    <p:sldId id="323" r:id="rId47"/>
    <p:sldId id="324" r:id="rId48"/>
    <p:sldId id="325" r:id="rId49"/>
    <p:sldId id="326" r:id="rId50"/>
    <p:sldId id="327" r:id="rId51"/>
    <p:sldId id="328" r:id="rId52"/>
    <p:sldId id="329" r:id="rId53"/>
    <p:sldId id="330" r:id="rId54"/>
    <p:sldId id="331" r:id="rId55"/>
    <p:sldId id="332" r:id="rId56"/>
    <p:sldId id="334" r:id="rId57"/>
    <p:sldId id="336" r:id="rId58"/>
    <p:sldId id="337" r:id="rId59"/>
    <p:sldId id="338" r:id="rId60"/>
    <p:sldId id="339" r:id="rId61"/>
    <p:sldId id="340" r:id="rId62"/>
    <p:sldId id="342" r:id="rId63"/>
    <p:sldId id="417" r:id="rId64"/>
    <p:sldId id="418" r:id="rId65"/>
    <p:sldId id="344" r:id="rId66"/>
    <p:sldId id="346" r:id="rId67"/>
    <p:sldId id="485" r:id="rId68"/>
    <p:sldId id="348" r:id="rId69"/>
    <p:sldId id="486" r:id="rId70"/>
    <p:sldId id="489" r:id="rId71"/>
    <p:sldId id="349" r:id="rId72"/>
    <p:sldId id="350" r:id="rId73"/>
    <p:sldId id="351" r:id="rId74"/>
    <p:sldId id="352" r:id="rId75"/>
    <p:sldId id="353" r:id="rId76"/>
    <p:sldId id="354" r:id="rId77"/>
    <p:sldId id="355" r:id="rId78"/>
    <p:sldId id="484" r:id="rId79"/>
    <p:sldId id="356" r:id="rId80"/>
    <p:sldId id="357" r:id="rId81"/>
    <p:sldId id="358" r:id="rId82"/>
    <p:sldId id="488" r:id="rId83"/>
    <p:sldId id="487" r:id="rId84"/>
    <p:sldId id="419" r:id="rId85"/>
    <p:sldId id="360" r:id="rId86"/>
    <p:sldId id="397" r:id="rId87"/>
    <p:sldId id="363" r:id="rId88"/>
    <p:sldId id="483" r:id="rId89"/>
    <p:sldId id="364" r:id="rId90"/>
    <p:sldId id="365" r:id="rId91"/>
    <p:sldId id="367" r:id="rId92"/>
    <p:sldId id="368" r:id="rId93"/>
    <p:sldId id="490" r:id="rId94"/>
    <p:sldId id="370" r:id="rId95"/>
    <p:sldId id="371" r:id="rId96"/>
    <p:sldId id="411" r:id="rId97"/>
    <p:sldId id="373" r:id="rId98"/>
    <p:sldId id="374" r:id="rId99"/>
    <p:sldId id="375" r:id="rId100"/>
    <p:sldId id="376" r:id="rId101"/>
    <p:sldId id="377" r:id="rId102"/>
    <p:sldId id="378" r:id="rId103"/>
    <p:sldId id="379" r:id="rId104"/>
    <p:sldId id="380" r:id="rId105"/>
    <p:sldId id="381" r:id="rId106"/>
    <p:sldId id="382" r:id="rId107"/>
    <p:sldId id="423" r:id="rId108"/>
    <p:sldId id="383" r:id="rId109"/>
    <p:sldId id="384" r:id="rId110"/>
    <p:sldId id="386" r:id="rId111"/>
    <p:sldId id="387" r:id="rId112"/>
    <p:sldId id="388" r:id="rId113"/>
    <p:sldId id="389" r:id="rId114"/>
    <p:sldId id="390" r:id="rId115"/>
    <p:sldId id="391" r:id="rId116"/>
    <p:sldId id="392" r:id="rId117"/>
    <p:sldId id="393" r:id="rId118"/>
    <p:sldId id="394" r:id="rId119"/>
    <p:sldId id="276" r:id="rId120"/>
    <p:sldId id="403" r:id="rId121"/>
    <p:sldId id="404" r:id="rId122"/>
    <p:sldId id="405" r:id="rId123"/>
    <p:sldId id="406" r:id="rId124"/>
    <p:sldId id="416" r:id="rId125"/>
    <p:sldId id="420" r:id="rId126"/>
    <p:sldId id="421" r:id="rId127"/>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600000"/>
    <a:srgbClr val="008000"/>
    <a:srgbClr val="F8F8F8"/>
    <a:srgbClr val="99CCFF"/>
    <a:srgbClr val="3399FF"/>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60075" autoAdjust="0"/>
  </p:normalViewPr>
  <p:slideViewPr>
    <p:cSldViewPr>
      <p:cViewPr varScale="1">
        <p:scale>
          <a:sx n="68" d="100"/>
          <a:sy n="68" d="100"/>
        </p:scale>
        <p:origin x="2850" y="72"/>
      </p:cViewPr>
      <p:guideLst>
        <p:guide orient="horz" pos="2160"/>
        <p:guide pos="2880"/>
      </p:guideLst>
    </p:cSldViewPr>
  </p:slideViewPr>
  <p:notesTextViewPr>
    <p:cViewPr>
      <p:scale>
        <a:sx n="100" d="100"/>
        <a:sy n="100" d="100"/>
      </p:scale>
      <p:origin x="0" y="0"/>
    </p:cViewPr>
  </p:notesText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5A4EC9AE-754B-49FD-BA16-B62493B54AAE}" type="datetimeFigureOut">
              <a:rPr lang="zh-CN" altLang="en-US"/>
              <a:pPr>
                <a:defRPr/>
              </a:pPr>
              <a:t>2022/11/30</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D4895103-49AF-4E9F-8FAA-AC2C9A984A0F}" type="slidenum">
              <a:rPr lang="zh-CN" altLang="en-US"/>
              <a:pPr>
                <a:defRPr/>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A8BD7D17-9F94-433F-85A9-A167373EBE7A}" type="datetimeFigureOut">
              <a:rPr lang="zh-CN" altLang="en-US"/>
              <a:pPr>
                <a:defRPr/>
              </a:pPr>
              <a:t>2022/11/30</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37F5F534-2C7B-4B3E-AB7E-5181B223989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baike.baidu.com/item/%E9%BB%91%E8%90%A4" TargetMode="External"/><Relationship Id="rId2" Type="http://schemas.openxmlformats.org/officeDocument/2006/relationships/slide" Target="../slides/slide4.xml"/><Relationship Id="rId1" Type="http://schemas.openxmlformats.org/officeDocument/2006/relationships/notesMaster" Target="../notesMasters/notesMaster1.xml"/><Relationship Id="rId5" Type="http://schemas.openxmlformats.org/officeDocument/2006/relationships/hyperlink" Target="https://baike.baidu.com/item/%E5%8F%91%E5%85%89%E5%99%A8" TargetMode="External"/><Relationship Id="rId4" Type="http://schemas.openxmlformats.org/officeDocument/2006/relationships/hyperlink" Target="https://baike.baidu.com/item/%E9%94%AF%E9%BD%BF"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8" Type="http://schemas.openxmlformats.org/officeDocument/2006/relationships/hyperlink" Target="https://baike.baidu.com/item/%E6%B0%A2" TargetMode="External"/><Relationship Id="rId13" Type="http://schemas.openxmlformats.org/officeDocument/2006/relationships/hyperlink" Target="https://baike.baidu.com/item/%E6%95%99%E7%A7%91%E4%B9%A6" TargetMode="External"/><Relationship Id="rId18" Type="http://schemas.openxmlformats.org/officeDocument/2006/relationships/hyperlink" Target="https://baike.baidu.com/item/%E6%8B%89%E6%A0%BC%E6%9C%97%E6%97%A5" TargetMode="External"/><Relationship Id="rId3" Type="http://schemas.openxmlformats.org/officeDocument/2006/relationships/hyperlink" Target="http://www.baidu.com/link?url=XRmwezt9wsHStwXodvtNFD5f4JrcchCAEl_41o6aPJPBeaND75zIttqI-p2V4VbQbINNYCkP7QXGB99cgNzFf2PSvabCBdEvSl0KEaqXkrh3EIIeeQjvSrFWoMdjd5di" TargetMode="External"/><Relationship Id="rId21" Type="http://schemas.openxmlformats.org/officeDocument/2006/relationships/hyperlink" Target="https://baike.baidu.com/item/%E6%96%87%E8%89%BA%E5%A4%8D%E5%85%B4/93247" TargetMode="External"/><Relationship Id="rId7" Type="http://schemas.openxmlformats.org/officeDocument/2006/relationships/hyperlink" Target="https://baike.baidu.com/item/%E6%B0%A7/83765" TargetMode="External"/><Relationship Id="rId12" Type="http://schemas.openxmlformats.org/officeDocument/2006/relationships/hyperlink" Target="https://baike.baidu.com/item/%E5%85%83%E7%B4%A0/29645" TargetMode="External"/><Relationship Id="rId17" Type="http://schemas.openxmlformats.org/officeDocument/2006/relationships/hyperlink" Target="https://baike.baidu.com/item/%E6%B3%95%E5%9B%BD%E5%A4%A7%E9%9D%A9%E5%91%BD/205281" TargetMode="External"/><Relationship Id="rId25" Type="http://schemas.openxmlformats.org/officeDocument/2006/relationships/hyperlink" Target="https://baike.baidu.com/item/%E8%B5%84%E6%9C%AC%E4%B8%BB%E4%B9%89%E5%B7%A5%E4%B8%9A%E5%8C%96/10422272" TargetMode="External"/><Relationship Id="rId2" Type="http://schemas.openxmlformats.org/officeDocument/2006/relationships/slide" Target="../slides/slide12.xml"/><Relationship Id="rId16" Type="http://schemas.openxmlformats.org/officeDocument/2006/relationships/hyperlink" Target="https://baike.baidu.com/item/%E7%BC%93%E6%85%A2%E6%B0%A7%E5%8C%96" TargetMode="External"/><Relationship Id="rId20" Type="http://schemas.openxmlformats.org/officeDocument/2006/relationships/hyperlink" Target="https://baike.baidu.com/item/%E8%A5%BF%E7%BD%97%E9%A9%AC%E5%B8%9D%E5%9B%BD/9542907" TargetMode="External"/><Relationship Id="rId1" Type="http://schemas.openxmlformats.org/officeDocument/2006/relationships/notesMaster" Target="../notesMasters/notesMaster1.xml"/><Relationship Id="rId6" Type="http://schemas.openxmlformats.org/officeDocument/2006/relationships/hyperlink" Target="https://baike.baidu.com/item/%E5%AE%9A%E9%87%8F" TargetMode="External"/><Relationship Id="rId11" Type="http://schemas.openxmlformats.org/officeDocument/2006/relationships/hyperlink" Target="https://baike.baidu.com/item/%E5%8C%96%E5%AD%A6%E5%85%83%E7%B4%A0" TargetMode="External"/><Relationship Id="rId24" Type="http://schemas.openxmlformats.org/officeDocument/2006/relationships/hyperlink" Target="https://baike.baidu.com/item/%E8%8B%B1%E6%A0%BC%E5%85%B0/1064478" TargetMode="External"/><Relationship Id="rId5" Type="http://schemas.openxmlformats.org/officeDocument/2006/relationships/hyperlink" Target="https://baike.baidu.com/item/%E5%AE%9A%E6%80%A7" TargetMode="External"/><Relationship Id="rId15" Type="http://schemas.openxmlformats.org/officeDocument/2006/relationships/hyperlink" Target="https://baike.baidu.com/item/%E8%B4%A8%E9%87%8F%E5%AE%88%E6%81%92%E5%AE%9A%E5%BE%8B" TargetMode="External"/><Relationship Id="rId23" Type="http://schemas.openxmlformats.org/officeDocument/2006/relationships/hyperlink" Target="https://baike.baidu.com/item/%E4%B8%9C%E7%BD%97%E9%A9%AC%E5%B8%9D%E5%9B%BD%E7%81%AD%E4%BA%A1/12713992" TargetMode="External"/><Relationship Id="rId10" Type="http://schemas.openxmlformats.org/officeDocument/2006/relationships/hyperlink" Target="https://baike.baidu.com/item/%E5%85%AC%E5%88%B6" TargetMode="External"/><Relationship Id="rId19" Type="http://schemas.openxmlformats.org/officeDocument/2006/relationships/hyperlink" Target="https://baike.baidu.com/item/%E6%AC%A7%E6%B4%B2/145550" TargetMode="External"/><Relationship Id="rId4" Type="http://schemas.openxmlformats.org/officeDocument/2006/relationships/hyperlink" Target="https://baike.baidu.com/item/%E4%BA%BA%E7%B1%BB%E5%8E%86%E5%8F%B2" TargetMode="External"/><Relationship Id="rId9" Type="http://schemas.openxmlformats.org/officeDocument/2006/relationships/hyperlink" Target="https://baike.baidu.com/item/%E7%A1%85/2142941" TargetMode="External"/><Relationship Id="rId14" Type="http://schemas.openxmlformats.org/officeDocument/2006/relationships/hyperlink" Target="https://baike.baidu.com/item/%E5%AE%9A%E9%87%8F%E5%88%86%E6%9E%90" TargetMode="External"/><Relationship Id="rId22" Type="http://schemas.openxmlformats.org/officeDocument/2006/relationships/hyperlink" Target="https://baike.baidu.com/item/%E5%9C%B0%E7%90%86%E5%A4%A7%E5%8F%91%E7%8E%B0/1413768" TargetMode="Externa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baike.baidu.com/item/%E4%BF%84%E5%9B%BD" TargetMode="External"/><Relationship Id="rId7" Type="http://schemas.openxmlformats.org/officeDocument/2006/relationships/hyperlink" Target="https://baike.baidu.com/item/%E8%B4%A8%E9%87%8F/2640907" TargetMode="External"/><Relationship Id="rId2" Type="http://schemas.openxmlformats.org/officeDocument/2006/relationships/slide" Target="../slides/slide13.xml"/><Relationship Id="rId1" Type="http://schemas.openxmlformats.org/officeDocument/2006/relationships/notesMaster" Target="../notesMasters/notesMaster1.xml"/><Relationship Id="rId6" Type="http://schemas.openxmlformats.org/officeDocument/2006/relationships/hyperlink" Target="https://baike.baidu.com/item/%E5%8C%96%E5%AD%A6%E5%8F%8D%E5%BA%94/926372" TargetMode="External"/><Relationship Id="rId5" Type="http://schemas.openxmlformats.org/officeDocument/2006/relationships/hyperlink" Target="https://baike.baidu.com/item/%E6%8B%89%E7%93%A6%E9%94%A1" TargetMode="External"/><Relationship Id="rId4" Type="http://schemas.openxmlformats.org/officeDocument/2006/relationships/hyperlink" Target="https://baike.baidu.com/item/%E7%BD%97%E8%92%99%E8%AF%BA%E7%B4%A2%E5%A4%AB"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baike.baidu.com/item/%E7%99%B8%E5%8D%AF" TargetMode="External"/><Relationship Id="rId2" Type="http://schemas.openxmlformats.org/officeDocument/2006/relationships/slide" Target="../slides/slide15.xml"/><Relationship Id="rId1" Type="http://schemas.openxmlformats.org/officeDocument/2006/relationships/notesMaster" Target="../notesMasters/notesMaster1.xml"/><Relationship Id="rId5" Type="http://schemas.openxmlformats.org/officeDocument/2006/relationships/hyperlink" Target="https://baike.baidu.com/item/%E6%95%B0%E5%AD%A6%E7%89%A9%E7%90%86" TargetMode="External"/><Relationship Id="rId4" Type="http://schemas.openxmlformats.org/officeDocument/2006/relationships/hyperlink" Target="https://baike.baidu.com/item/%E7%89%A9%E7%90%86%E5%8C%96%E5%AD%A6/2632"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8" Type="http://schemas.openxmlformats.org/officeDocument/2006/relationships/hyperlink" Target="https://baike.baidu.com/item/%E9%AB%98%E8%83%BD%E7%A3%B7%E9%85%B8%E5%8C%96%E5%90%88%E7%89%A9" TargetMode="External"/><Relationship Id="rId13" Type="http://schemas.openxmlformats.org/officeDocument/2006/relationships/hyperlink" Target="https://baike.baidu.com/item/ATP" TargetMode="External"/><Relationship Id="rId18" Type="http://schemas.openxmlformats.org/officeDocument/2006/relationships/hyperlink" Target="https://baike.baidu.com/item/%E5%88%86%E5%AD%90" TargetMode="External"/><Relationship Id="rId26" Type="http://schemas.openxmlformats.org/officeDocument/2006/relationships/hyperlink" Target="https://baike.baidu.com/item/%E4%BB%A3%E8%B0%A2%E9%80%94%E5%BE%84" TargetMode="External"/><Relationship Id="rId3" Type="http://schemas.openxmlformats.org/officeDocument/2006/relationships/hyperlink" Target="http://www.cast.org.cn/" TargetMode="External"/><Relationship Id="rId21" Type="http://schemas.openxmlformats.org/officeDocument/2006/relationships/hyperlink" Target="https://baike.baidu.com/item/%E7%BB%86%E8%83%9E" TargetMode="External"/><Relationship Id="rId7" Type="http://schemas.openxmlformats.org/officeDocument/2006/relationships/hyperlink" Target="https://baike.baidu.com/item/%E7%A5%9E%E7%BB%8F" TargetMode="External"/><Relationship Id="rId12" Type="http://schemas.openxmlformats.org/officeDocument/2006/relationships/hyperlink" Target="https://baike.baidu.com/item/%E8%87%AA%E7%94%B1%E8%83%BD" TargetMode="External"/><Relationship Id="rId17" Type="http://schemas.openxmlformats.org/officeDocument/2006/relationships/hyperlink" Target="https://baike.baidu.com/item/ADP" TargetMode="External"/><Relationship Id="rId25" Type="http://schemas.openxmlformats.org/officeDocument/2006/relationships/hyperlink" Target="https://baike.baidu.com/item/%E5%88%86%E8%A7%A3" TargetMode="External"/><Relationship Id="rId2" Type="http://schemas.openxmlformats.org/officeDocument/2006/relationships/slide" Target="../slides/slide22.xml"/><Relationship Id="rId16" Type="http://schemas.openxmlformats.org/officeDocument/2006/relationships/hyperlink" Target="https://baike.baidu.com/item/%E8%BD%AC%E7%A7%BB" TargetMode="External"/><Relationship Id="rId20" Type="http://schemas.openxmlformats.org/officeDocument/2006/relationships/hyperlink" Target="https://baike.baidu.com/item/%E4%BD%9C%E7%94%A8" TargetMode="External"/><Relationship Id="rId29" Type="http://schemas.openxmlformats.org/officeDocument/2006/relationships/hyperlink" Target="https://baike.baidu.com/item/%E7%B2%BE%E6%B0%A8%E9%85%B8" TargetMode="External"/><Relationship Id="rId1" Type="http://schemas.openxmlformats.org/officeDocument/2006/relationships/notesMaster" Target="../notesMasters/notesMaster1.xml"/><Relationship Id="rId6" Type="http://schemas.openxmlformats.org/officeDocument/2006/relationships/hyperlink" Target="https://baike.baidu.com/item/%E7%BB%84%E7%BB%87" TargetMode="External"/><Relationship Id="rId11" Type="http://schemas.openxmlformats.org/officeDocument/2006/relationships/hyperlink" Target="https://baike.baidu.com/item/%E5%8C%96%E5%90%88%E7%89%A9" TargetMode="External"/><Relationship Id="rId24" Type="http://schemas.openxmlformats.org/officeDocument/2006/relationships/hyperlink" Target="https://baike.baidu.com/item/%E5%8F%8D%E5%BA%94" TargetMode="External"/><Relationship Id="rId5" Type="http://schemas.openxmlformats.org/officeDocument/2006/relationships/hyperlink" Target="https://baike.baidu.com/item/%E5%85%B4%E5%A5%8B%E6%80%A7" TargetMode="External"/><Relationship Id="rId15" Type="http://schemas.openxmlformats.org/officeDocument/2006/relationships/hyperlink" Target="https://baike.baidu.com/item/%E8%82%8C%E9%85%B8%E6%BF%80%E9%85%B6" TargetMode="External"/><Relationship Id="rId23" Type="http://schemas.openxmlformats.org/officeDocument/2006/relationships/hyperlink" Target="https://baike.baidu.com/item/%E6%B4%BB%E5%8A%A8" TargetMode="External"/><Relationship Id="rId28" Type="http://schemas.openxmlformats.org/officeDocument/2006/relationships/hyperlink" Target="https://baike.baidu.com/item/%E6%97%A0%E8%84%8A%E6%A4%8E%E5%8A%A8%E7%89%A9" TargetMode="External"/><Relationship Id="rId10" Type="http://schemas.openxmlformats.org/officeDocument/2006/relationships/hyperlink" Target="https://baike.baidu.com/item/%E6%91%A9%E5%B0%94" TargetMode="External"/><Relationship Id="rId19" Type="http://schemas.openxmlformats.org/officeDocument/2006/relationships/hyperlink" Target="https://baike.baidu.com/item/%E8%82%8C%E8%82%89%E6%94%B6%E7%BC%A9" TargetMode="External"/><Relationship Id="rId4" Type="http://schemas.openxmlformats.org/officeDocument/2006/relationships/hyperlink" Target="https://baike.baidu.com/item/%E8%82%8C%E8%82%89" TargetMode="External"/><Relationship Id="rId9" Type="http://schemas.openxmlformats.org/officeDocument/2006/relationships/hyperlink" Target="https://baike.baidu.com/item/%E7%A3%B7%E9%85%B8" TargetMode="External"/><Relationship Id="rId14" Type="http://schemas.openxmlformats.org/officeDocument/2006/relationships/hyperlink" Target="https://baike.baidu.com/item/%E8%83%BD%E9%87%8F" TargetMode="External"/><Relationship Id="rId22" Type="http://schemas.openxmlformats.org/officeDocument/2006/relationships/hyperlink" Target="https://baike.baidu.com/item/%E7%9F%AD%E6%9C%9F" TargetMode="External"/><Relationship Id="rId27" Type="http://schemas.openxmlformats.org/officeDocument/2006/relationships/hyperlink" Target="https://baike.baidu.com/item/%E5%8A%9F%E8%83%BD" TargetMode="External"/><Relationship Id="rId30" Type="http://schemas.openxmlformats.org/officeDocument/2006/relationships/hyperlink" Target="https://baike.baidu.com/item/%E7%B3%96%E9%85%B5%E8%A7%A3"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baike.baidu.com/view/10812319.htm" TargetMode="External"/><Relationship Id="rId2" Type="http://schemas.openxmlformats.org/officeDocument/2006/relationships/slide" Target="../slides/slide31.xml"/><Relationship Id="rId1" Type="http://schemas.openxmlformats.org/officeDocument/2006/relationships/notesMaster" Target="../notesMasters/notesMaster1.xml"/><Relationship Id="rId5" Type="http://schemas.openxmlformats.org/officeDocument/2006/relationships/hyperlink" Target="https://baike.baidu.com/item/%E7%AD%89%E7%A6%BB%E5%AD%90%E4%BD%93" TargetMode="External"/><Relationship Id="rId4" Type="http://schemas.openxmlformats.org/officeDocument/2006/relationships/hyperlink" Target="https://baike.baidu.com/item/%E7%AD%89%E7%A6%BB%E5%AD%90%E4%BD%93%E7%89%A9%E7%90%86%E5%AD%A6" TargetMode="Externa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baike.baidu.com/item/%E8%BE%85%E9%85%B6Q" TargetMode="External"/><Relationship Id="rId7" Type="http://schemas.openxmlformats.org/officeDocument/2006/relationships/hyperlink" Target="https://baike.baidu.com/item/%E4%BE%A7%E9%93%BE/9492925" TargetMode="External"/><Relationship Id="rId2" Type="http://schemas.openxmlformats.org/officeDocument/2006/relationships/slide" Target="../slides/slide68.xml"/><Relationship Id="rId1" Type="http://schemas.openxmlformats.org/officeDocument/2006/relationships/notesMaster" Target="../notesMasters/notesMaster1.xml"/><Relationship Id="rId6" Type="http://schemas.openxmlformats.org/officeDocument/2006/relationships/hyperlink" Target="https://baike.baidu.com/item/%E5%BC%82%E6%88%8A%E4%BA%8C%E7%83%AF" TargetMode="External"/><Relationship Id="rId5" Type="http://schemas.openxmlformats.org/officeDocument/2006/relationships/hyperlink" Target="https://baike.baidu.com/item/%E9%86%8C%E7%B1%BB%E5%8C%96%E5%90%88%E7%89%A9" TargetMode="External"/><Relationship Id="rId4" Type="http://schemas.openxmlformats.org/officeDocument/2006/relationships/hyperlink" Target="https://baike.baidu.com/item/%E8%84%82%E6%BA%B6%E6%80%A7/3864690" TargetMode="Externa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3" Type="http://schemas.openxmlformats.org/officeDocument/2006/relationships/hyperlink" Target="http://www.baidu.com/link?url=mdAN_TrYpqMAPGrxpgcVTsHUtas9JbCtIE1qgI73xBIYFivAFiDSZPawr5S_wprjYG6hHV93vS32wkaIA0pNia" TargetMode="External"/><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3" Type="http://schemas.openxmlformats.org/officeDocument/2006/relationships/hyperlink" Target="https://www.baidu.com/s?wd=%E8%A7%A3%E5%81%B6%E8%81%94%E5%89%82&amp;tn=44039180_cpr&amp;fenlei=mv6quAkxTZn0IZRqIHckPjm4nH00T1d9uy7WuywWPHb3uARLrjKb0ZwV5Hcvrjm3rH6sPfKWUMw85HfYnjn4nH6sgvPsT6KdThsqpZwYTjCEQLGCpyw9Uz4Bmy-bIi4WUvYETgN-TLwGUv3En1msnWmdn1ndPjc1n1nzPWRz" TargetMode="External"/><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bwMode="auto">
          <a:noFill/>
          <a:ln>
            <a:solidFill>
              <a:srgbClr val="000000"/>
            </a:solidFill>
            <a:miter lim="800000"/>
            <a:headEnd/>
            <a:tailEnd/>
          </a:ln>
        </p:spPr>
      </p:sp>
      <p:sp>
        <p:nvSpPr>
          <p:cNvPr id="33795" name="备注占位符 2"/>
          <p:cNvSpPr>
            <a:spLocks noGrp="1"/>
          </p:cNvSpPr>
          <p:nvPr>
            <p:ph type="body" idx="1"/>
          </p:nvPr>
        </p:nvSpPr>
        <p:spPr bwMode="auto">
          <a:noFill/>
        </p:spPr>
        <p:txBody>
          <a:bodyPr wrap="square" numCol="1" anchor="t" anchorCtr="0" compatLnSpc="1">
            <a:prstTxWarp prst="textNoShape">
              <a:avLst/>
            </a:prstTxWarp>
          </a:bodyPr>
          <a:lstStyle/>
          <a:p>
            <a:r>
              <a:rPr lang="en-US" altLang="zh-CN" dirty="0"/>
              <a:t>respiration </a:t>
            </a:r>
            <a:r>
              <a:rPr lang="zh-CN" altLang="en-US" dirty="0"/>
              <a:t>英 </a:t>
            </a:r>
            <a:r>
              <a:rPr lang="en-US" altLang="zh-CN" dirty="0"/>
              <a:t>[ˌ</a:t>
            </a:r>
            <a:r>
              <a:rPr lang="en-US" altLang="zh-CN" dirty="0" err="1"/>
              <a:t>respəˈreɪʃn</a:t>
            </a:r>
            <a:r>
              <a:rPr lang="en-US" altLang="zh-CN" dirty="0"/>
              <a:t>] </a:t>
            </a:r>
            <a:r>
              <a:rPr lang="zh-CN" altLang="en-US" dirty="0"/>
              <a:t>美 </a:t>
            </a:r>
            <a:r>
              <a:rPr lang="en-US" altLang="zh-CN" dirty="0"/>
              <a:t>[ˌ</a:t>
            </a:r>
            <a:r>
              <a:rPr lang="en-US" altLang="zh-CN" dirty="0" err="1"/>
              <a:t>rɛspəˈreʃən</a:t>
            </a:r>
            <a:r>
              <a:rPr lang="en-US" altLang="zh-CN" dirty="0"/>
              <a:t>]  n. </a:t>
            </a:r>
            <a:r>
              <a:rPr lang="zh-CN" altLang="en-US" dirty="0"/>
              <a:t>呼吸，一次呼吸</a:t>
            </a:r>
            <a:r>
              <a:rPr lang="en-US" altLang="zh-CN" dirty="0"/>
              <a:t>; </a:t>
            </a:r>
            <a:r>
              <a:rPr lang="zh-CN" altLang="en-US" dirty="0"/>
              <a:t>（植物的） 呼吸</a:t>
            </a:r>
            <a:r>
              <a:rPr lang="en-US" altLang="zh-CN" dirty="0"/>
              <a:t>; </a:t>
            </a:r>
            <a:r>
              <a:rPr lang="zh-CN" altLang="en-US" dirty="0"/>
              <a:t>一息</a:t>
            </a:r>
            <a:endParaRPr lang="en-US" altLang="zh-CN" dirty="0"/>
          </a:p>
          <a:p>
            <a:r>
              <a:rPr lang="en-US" altLang="zh-CN" dirty="0"/>
              <a:t>energy </a:t>
            </a:r>
            <a:r>
              <a:rPr lang="zh-CN" altLang="en-US" dirty="0"/>
              <a:t>英 </a:t>
            </a:r>
            <a:r>
              <a:rPr lang="en-US" altLang="zh-CN" dirty="0"/>
              <a:t>[ˈ</a:t>
            </a:r>
            <a:r>
              <a:rPr lang="en-US" altLang="zh-CN" dirty="0" err="1"/>
              <a:t>enədʒi</a:t>
            </a:r>
            <a:r>
              <a:rPr lang="en-US" altLang="zh-CN" dirty="0"/>
              <a:t>] </a:t>
            </a:r>
            <a:r>
              <a:rPr lang="zh-CN" altLang="en-US" dirty="0"/>
              <a:t>美 </a:t>
            </a:r>
            <a:r>
              <a:rPr lang="en-US" altLang="zh-CN" dirty="0"/>
              <a:t>[ˈ</a:t>
            </a:r>
            <a:r>
              <a:rPr lang="en-US" altLang="zh-CN" dirty="0" err="1"/>
              <a:t>enərdʒi</a:t>
            </a:r>
            <a:r>
              <a:rPr lang="en-US" altLang="zh-CN" dirty="0"/>
              <a:t>] </a:t>
            </a:r>
          </a:p>
          <a:p>
            <a:r>
              <a:rPr lang="en-US" altLang="zh-CN" dirty="0"/>
              <a:t>n. </a:t>
            </a:r>
            <a:r>
              <a:rPr lang="zh-CN" altLang="en-US" dirty="0"/>
              <a:t>精力</a:t>
            </a:r>
            <a:r>
              <a:rPr lang="en-US" altLang="zh-CN" dirty="0"/>
              <a:t>; </a:t>
            </a:r>
            <a:r>
              <a:rPr lang="zh-CN" altLang="en-US" dirty="0"/>
              <a:t>活力</a:t>
            </a:r>
            <a:r>
              <a:rPr lang="en-US" altLang="zh-CN" dirty="0"/>
              <a:t>; [</a:t>
            </a:r>
            <a:r>
              <a:rPr lang="zh-CN" altLang="en-US" dirty="0"/>
              <a:t>物</a:t>
            </a:r>
            <a:r>
              <a:rPr lang="en-US" altLang="zh-CN" dirty="0"/>
              <a:t>] </a:t>
            </a:r>
            <a:r>
              <a:rPr lang="zh-CN" altLang="en-US" dirty="0"/>
              <a:t>能量</a:t>
            </a:r>
            <a:r>
              <a:rPr lang="en-US" altLang="zh-CN" dirty="0"/>
              <a:t>; </a:t>
            </a:r>
            <a:r>
              <a:rPr lang="zh-CN" altLang="en-US" dirty="0"/>
              <a:t>精神</a:t>
            </a:r>
          </a:p>
        </p:txBody>
      </p:sp>
      <p:sp>
        <p:nvSpPr>
          <p:cNvPr id="4" name="灯片编号占位符 3"/>
          <p:cNvSpPr>
            <a:spLocks noGrp="1"/>
          </p:cNvSpPr>
          <p:nvPr>
            <p:ph type="sldNum" sz="quarter" idx="5"/>
          </p:nvPr>
        </p:nvSpPr>
        <p:spPr/>
        <p:txBody>
          <a:bodyPr/>
          <a:lstStyle/>
          <a:p>
            <a:pPr>
              <a:defRPr/>
            </a:pPr>
            <a:fld id="{0A6A8501-8938-4B94-BC5C-55C939656245}" type="slidenum">
              <a:rPr lang="zh-CN" altLang="en-US" smtClean="0"/>
              <a:pPr>
                <a:defRPr/>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一、生物体需要能量，能量运动的形式是电子的运动、能量的定量</a:t>
            </a:r>
            <a:endParaRPr lang="en-US" altLang="zh-CN" dirty="0"/>
          </a:p>
          <a:p>
            <a:r>
              <a:rPr lang="en-US" altLang="zh-CN" dirty="0"/>
              <a:t>1 </a:t>
            </a:r>
            <a:r>
              <a:rPr lang="zh-CN" altLang="en-US" dirty="0"/>
              <a:t>生物体需要能量，能量运动的形式是电子的运动</a:t>
            </a:r>
            <a:endParaRPr lang="en-US" altLang="zh-CN" dirty="0"/>
          </a:p>
          <a:p>
            <a:r>
              <a:rPr lang="en-US" altLang="zh-CN" dirty="0"/>
              <a:t>2.3. </a:t>
            </a:r>
            <a:r>
              <a:rPr lang="zh-CN" altLang="en-US" dirty="0"/>
              <a:t>能量的定量：</a:t>
            </a:r>
            <a:r>
              <a:rPr lang="en-US" altLang="zh-CN" dirty="0"/>
              <a:t>G</a:t>
            </a:r>
          </a:p>
          <a:p>
            <a:r>
              <a:rPr lang="en-US" altLang="zh-CN" dirty="0"/>
              <a:t>4. </a:t>
            </a:r>
            <a:r>
              <a:rPr lang="zh-CN" altLang="en-US" dirty="0"/>
              <a:t>能量的通货是</a:t>
            </a:r>
            <a:r>
              <a:rPr lang="en-US" altLang="zh-CN" dirty="0"/>
              <a:t>ATP</a:t>
            </a:r>
          </a:p>
          <a:p>
            <a:r>
              <a:rPr lang="en-US" altLang="zh-CN" dirty="0"/>
              <a:t>5. </a:t>
            </a:r>
            <a:r>
              <a:rPr lang="zh-CN" altLang="en-US" dirty="0"/>
              <a:t>能量的另一种计算方法 </a:t>
            </a:r>
            <a:r>
              <a:rPr lang="en-US" altLang="zh-CN" dirty="0"/>
              <a:t>E(</a:t>
            </a:r>
            <a:r>
              <a:rPr lang="zh-CN" altLang="en-US" dirty="0"/>
              <a:t>适用于氧化还原反应）</a:t>
            </a:r>
            <a:endParaRPr lang="en-US" altLang="zh-CN" dirty="0"/>
          </a:p>
          <a:p>
            <a:r>
              <a:rPr lang="en-US" altLang="zh-CN" dirty="0"/>
              <a:t>6. </a:t>
            </a:r>
            <a:r>
              <a:rPr lang="zh-CN" altLang="en-US" dirty="0"/>
              <a:t>脱氢酶的辅酶：电子的收集</a:t>
            </a:r>
            <a:endParaRPr lang="en-US" altLang="zh-CN" dirty="0"/>
          </a:p>
          <a:p>
            <a:r>
              <a:rPr lang="zh-CN" altLang="en-US" dirty="0"/>
              <a:t>二、电子传递链和</a:t>
            </a:r>
            <a:r>
              <a:rPr lang="en-US" altLang="zh-CN" dirty="0"/>
              <a:t>ATP</a:t>
            </a:r>
            <a:r>
              <a:rPr lang="zh-CN" altLang="en-US"/>
              <a:t>的产生</a:t>
            </a:r>
            <a:endParaRPr lang="en-US" altLang="zh-CN"/>
          </a:p>
          <a:p>
            <a:r>
              <a:rPr lang="en-US" altLang="zh-CN" dirty="0"/>
              <a:t>7,8,9</a:t>
            </a:r>
            <a:r>
              <a:rPr lang="zh-CN" altLang="en-US" dirty="0"/>
              <a:t>电子传递链的组成</a:t>
            </a:r>
            <a:endParaRPr lang="en-US" altLang="zh-CN" dirty="0"/>
          </a:p>
          <a:p>
            <a:r>
              <a:rPr lang="en-US" altLang="zh-CN" dirty="0"/>
              <a:t>10,11,12</a:t>
            </a:r>
            <a:r>
              <a:rPr lang="zh-CN" altLang="en-US" dirty="0"/>
              <a:t>  电子传递链偶联</a:t>
            </a:r>
            <a:r>
              <a:rPr lang="en-US" altLang="zh-CN" dirty="0"/>
              <a:t>ATP</a:t>
            </a:r>
            <a:r>
              <a:rPr lang="zh-CN" altLang="en-US" dirty="0"/>
              <a:t>的产生</a:t>
            </a:r>
            <a:endParaRPr lang="en-US" altLang="zh-CN" dirty="0"/>
          </a:p>
          <a:p>
            <a:r>
              <a:rPr lang="zh-CN" altLang="en-US" dirty="0"/>
              <a:t>本章解决两个问题：</a:t>
            </a:r>
            <a:r>
              <a:rPr lang="en-US" altLang="zh-CN" dirty="0"/>
              <a:t>1.</a:t>
            </a:r>
            <a:r>
              <a:rPr lang="zh-CN" altLang="en-US" dirty="0"/>
              <a:t>生命需要能量，能量能不能定量？如何定量？</a:t>
            </a:r>
            <a:endParaRPr lang="en-US" altLang="zh-CN" dirty="0"/>
          </a:p>
          <a:p>
            <a:r>
              <a:rPr lang="en-US" altLang="zh-CN" dirty="0"/>
              <a:t>                               2.</a:t>
            </a:r>
            <a:r>
              <a:rPr lang="zh-CN" altLang="en-US" dirty="0"/>
              <a:t>产生</a:t>
            </a:r>
            <a:r>
              <a:rPr lang="en-US" altLang="zh-CN" dirty="0"/>
              <a:t>ATP</a:t>
            </a:r>
            <a:r>
              <a:rPr lang="zh-CN" altLang="en-US" dirty="0"/>
              <a:t>的关键环节，电子传递链？</a:t>
            </a:r>
            <a:endParaRPr lang="en-US" altLang="zh-CN" dirty="0"/>
          </a:p>
          <a:p>
            <a:endParaRPr lang="en-US" altLang="zh-CN" dirty="0"/>
          </a:p>
          <a:p>
            <a:r>
              <a:rPr lang="en-US" altLang="zh-CN" dirty="0"/>
              <a:t>2020.11.21</a:t>
            </a:r>
            <a:r>
              <a:rPr lang="zh-CN" altLang="en-US" dirty="0"/>
              <a:t> 生物使用能量：两个方面：</a:t>
            </a:r>
            <a:r>
              <a:rPr lang="en-US" altLang="zh-CN" dirty="0"/>
              <a:t>1. </a:t>
            </a:r>
            <a:r>
              <a:rPr lang="zh-CN" altLang="en-US" dirty="0"/>
              <a:t>能量在整个生物圈的流动的形式是电子的流动</a:t>
            </a:r>
            <a:endParaRPr lang="en-US" altLang="zh-CN" dirty="0"/>
          </a:p>
          <a:p>
            <a:r>
              <a:rPr lang="en-US" altLang="zh-CN" dirty="0"/>
              <a:t>                                                            2. </a:t>
            </a:r>
            <a:r>
              <a:rPr lang="zh-CN" altLang="en-US" dirty="0"/>
              <a:t>能量的转化时发生在细胞内的，称为细胞呼吸（</a:t>
            </a:r>
            <a:r>
              <a:rPr lang="en-US" altLang="zh-CN" dirty="0"/>
              <a:t>cellular respiration</a:t>
            </a:r>
            <a:r>
              <a:rPr lang="zh-CN" altLang="en-US" dirty="0"/>
              <a:t>）</a:t>
            </a:r>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a:t>
            </a:fld>
            <a:endParaRPr lang="zh-CN" altLang="en-US"/>
          </a:p>
        </p:txBody>
      </p:sp>
    </p:spTree>
    <p:extLst>
      <p:ext uri="{BB962C8B-B14F-4D97-AF65-F5344CB8AC3E}">
        <p14:creationId xmlns:p14="http://schemas.microsoft.com/office/powerpoint/2010/main" val="189298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lnSpcReduction="10000"/>
          </a:bodyPr>
          <a:lstStyle/>
          <a:p>
            <a:r>
              <a:rPr lang="zh-CN" altLang="en-US" dirty="0"/>
              <a:t>萤火虫</a:t>
            </a:r>
            <a:r>
              <a:rPr lang="zh-CN" altLang="en-US" i="1" dirty="0"/>
              <a:t>（英文：</a:t>
            </a:r>
            <a:r>
              <a:rPr lang="en-US" altLang="zh-CN" i="1" dirty="0"/>
              <a:t>Firefly</a:t>
            </a:r>
            <a:r>
              <a:rPr lang="zh-CN" altLang="en-US" i="1" dirty="0"/>
              <a:t>）</a:t>
            </a:r>
            <a:r>
              <a:rPr lang="zh-CN" altLang="en-US" dirty="0"/>
              <a:t>又名夜光、景天、如熠燿、夜照、流萤、宵烛、耀夜等，属鞘翅目萤科，是一种小型甲虫，因其尾部能发出荧光，故名为萤火虫。这种尾部能发光的昆虫，约有近</a:t>
            </a:r>
            <a:r>
              <a:rPr lang="en-US" altLang="zh-CN" dirty="0"/>
              <a:t>2000</a:t>
            </a:r>
            <a:r>
              <a:rPr lang="zh-CN" altLang="en-US" dirty="0"/>
              <a:t>种，我国较常见的有</a:t>
            </a:r>
            <a:r>
              <a:rPr lang="zh-CN" altLang="en-US" dirty="0">
                <a:hlinkClick r:id="rId3"/>
              </a:rPr>
              <a:t>黑萤</a:t>
            </a:r>
            <a:r>
              <a:rPr lang="zh-CN" altLang="en-US" dirty="0"/>
              <a:t>、姬红萤、窗胸萤等几种。</a:t>
            </a:r>
            <a:endParaRPr lang="en-US" altLang="zh-CN" dirty="0"/>
          </a:p>
          <a:p>
            <a:r>
              <a:rPr lang="zh-CN" altLang="en-US" dirty="0"/>
              <a:t>发光的生物学意义：</a:t>
            </a:r>
          </a:p>
          <a:p>
            <a:r>
              <a:rPr lang="zh-CN" altLang="en-US" dirty="0"/>
              <a:t>成虫利用物种特有的闪光信号来定位并吸引异性，借此完成求偶交配及繁殖的使命，少数萤火虫成虫利用闪光信号进行捕食，还有一种作用是作为警戒信号，即当萤火虫受到刺激时会发出亮光。</a:t>
            </a:r>
            <a:r>
              <a:rPr lang="en-US" altLang="zh-CN" baseline="30000" dirty="0"/>
              <a:t>[</a:t>
            </a:r>
            <a:endParaRPr lang="zh-CN" altLang="en-US" dirty="0"/>
          </a:p>
          <a:p>
            <a:endParaRPr lang="en-US" altLang="zh-CN" dirty="0"/>
          </a:p>
          <a:p>
            <a:r>
              <a:rPr lang="zh-CN" altLang="en-US" dirty="0"/>
              <a:t>问题，发光的是雄虫吗？还是都可发光？</a:t>
            </a:r>
            <a:endParaRPr lang="en-US" altLang="zh-CN" dirty="0"/>
          </a:p>
          <a:p>
            <a:r>
              <a:rPr lang="zh-CN" altLang="en-US" dirty="0"/>
              <a:t>雄虫触角较长，有</a:t>
            </a:r>
            <a:r>
              <a:rPr lang="en-US" altLang="zh-CN" dirty="0"/>
              <a:t>11</a:t>
            </a:r>
            <a:r>
              <a:rPr lang="zh-CN" altLang="en-US" dirty="0"/>
              <a:t>节，呈扁平丝或</a:t>
            </a:r>
            <a:r>
              <a:rPr lang="zh-CN" altLang="en-US" dirty="0">
                <a:hlinkClick r:id="rId4"/>
              </a:rPr>
              <a:t>锯齿</a:t>
            </a:r>
            <a:r>
              <a:rPr lang="zh-CN" altLang="en-US" dirty="0"/>
              <a:t>状；腹部可见腹板</a:t>
            </a:r>
            <a:r>
              <a:rPr lang="en-US" altLang="zh-CN" dirty="0"/>
              <a:t>6~7</a:t>
            </a:r>
            <a:r>
              <a:rPr lang="zh-CN" altLang="en-US" dirty="0"/>
              <a:t>节，末端有</a:t>
            </a:r>
            <a:r>
              <a:rPr lang="zh-CN" altLang="en-US" dirty="0">
                <a:hlinkClick r:id="rId5"/>
              </a:rPr>
              <a:t>发光器</a:t>
            </a:r>
            <a:r>
              <a:rPr lang="zh-CN" altLang="en-US" dirty="0"/>
              <a:t>，可发出荧光；雄虫大多有翅。雌虫无翅，身体比雄虫大，不能飞翔，但荧光比雄虫亮。</a:t>
            </a:r>
            <a:endParaRPr lang="en-US" altLang="zh-CN" dirty="0"/>
          </a:p>
          <a:p>
            <a:r>
              <a:rPr lang="zh-CN" altLang="en-US" dirty="0"/>
              <a:t>萤火虫是一种在夜间能发光的动物，人们曾实验，在雌虫发光结束时，用人工发出</a:t>
            </a:r>
            <a:r>
              <a:rPr lang="en-US" altLang="zh-CN" dirty="0"/>
              <a:t>2</a:t>
            </a:r>
            <a:r>
              <a:rPr lang="zh-CN" altLang="en-US" dirty="0"/>
              <a:t>秒钟的闪光，雄虫也会被引诱过来．另有一种萤火虫，雌虫能以准确的时间间隔，发出“亮 一 灭，亮 一 灭”的信号来，雄虫收到用灯语表达的“悄悄话”后，立刻发出“亮 一 灭，亮 一 灭”的灯语作为回答．信息一经沟通，它们便飞到一起共度良宵，所以雌萤火虫发光的目的是吸引同种异性前来交配，但题干中的雌虫能准确地模仿另一种萤火虫的信号吸引那种萤火虫的雄性个体前来，雌的这样做了，雄的就把它认作为情伴并向它靠近．雄的在结束其发光后，若用实验办法人工发出二秒钟的闪光，则雄的也能被引诱．这种行为的意义可能是诱骗不同种异性以取食</a:t>
            </a:r>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a:t>
            </a:fld>
            <a:endParaRPr lang="zh-CN" altLang="en-US"/>
          </a:p>
        </p:txBody>
      </p:sp>
    </p:spTree>
    <p:extLst>
      <p:ext uri="{BB962C8B-B14F-4D97-AF65-F5344CB8AC3E}">
        <p14:creationId xmlns:p14="http://schemas.microsoft.com/office/powerpoint/2010/main" val="3017758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autotroph </a:t>
            </a:r>
            <a:r>
              <a:rPr lang="zh-CN" altLang="en-US" dirty="0"/>
              <a:t>英 </a:t>
            </a:r>
            <a:r>
              <a:rPr lang="en-US" altLang="zh-CN" dirty="0"/>
              <a:t>[ˈ</a:t>
            </a:r>
            <a:r>
              <a:rPr lang="en-US" altLang="zh-CN" dirty="0" err="1"/>
              <a:t>ɔ:tətrəʊf</a:t>
            </a:r>
            <a:r>
              <a:rPr lang="en-US" altLang="zh-CN" dirty="0"/>
              <a:t>] </a:t>
            </a:r>
            <a:r>
              <a:rPr lang="zh-CN" altLang="en-US" dirty="0"/>
              <a:t>美 </a:t>
            </a:r>
            <a:r>
              <a:rPr lang="en-US" altLang="zh-CN" dirty="0"/>
              <a:t>[ˈ</a:t>
            </a:r>
            <a:r>
              <a:rPr lang="en-US" altLang="zh-CN" dirty="0" err="1"/>
              <a:t>ɔ:tətroʊf</a:t>
            </a:r>
            <a:r>
              <a:rPr lang="en-US" altLang="zh-CN" dirty="0"/>
              <a:t>]  n. </a:t>
            </a:r>
            <a:r>
              <a:rPr lang="zh-CN" altLang="en-US" dirty="0"/>
              <a:t>自养生物，靠无机物质生存的生物</a:t>
            </a:r>
            <a:r>
              <a:rPr lang="en-US" altLang="zh-CN" dirty="0"/>
              <a:t>; </a:t>
            </a:r>
            <a:r>
              <a:rPr lang="zh-CN" altLang="en-US" dirty="0"/>
              <a:t>真核有植物，原核有蓝藻 </a:t>
            </a:r>
            <a:endParaRPr lang="en-US" altLang="zh-CN" dirty="0"/>
          </a:p>
          <a:p>
            <a:r>
              <a:rPr lang="en-US" altLang="zh-CN" dirty="0"/>
              <a:t>heterotroph </a:t>
            </a:r>
            <a:r>
              <a:rPr lang="zh-CN" altLang="en-US" dirty="0"/>
              <a:t>英 </a:t>
            </a:r>
            <a:r>
              <a:rPr lang="en-US" altLang="zh-CN" dirty="0"/>
              <a:t>[ˈ</a:t>
            </a:r>
            <a:r>
              <a:rPr lang="en-US" altLang="zh-CN" dirty="0" err="1"/>
              <a:t>hetərətrəʊf</a:t>
            </a:r>
            <a:r>
              <a:rPr lang="en-US" altLang="zh-CN" dirty="0"/>
              <a:t>] </a:t>
            </a:r>
            <a:r>
              <a:rPr lang="zh-CN" altLang="en-US" dirty="0"/>
              <a:t>美 </a:t>
            </a:r>
            <a:r>
              <a:rPr lang="en-US" altLang="zh-CN" dirty="0"/>
              <a:t>[ˈ</a:t>
            </a:r>
            <a:r>
              <a:rPr lang="en-US" altLang="zh-CN" dirty="0" err="1"/>
              <a:t>hetərətroʊf</a:t>
            </a:r>
            <a:r>
              <a:rPr lang="en-US" altLang="zh-CN" dirty="0"/>
              <a:t>] n. </a:t>
            </a:r>
            <a:r>
              <a:rPr lang="zh-CN" altLang="en-US" dirty="0"/>
              <a:t>异养生物</a:t>
            </a:r>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a:t>
            </a:fld>
            <a:endParaRPr lang="zh-CN" altLang="en-US"/>
          </a:p>
        </p:txBody>
      </p:sp>
    </p:spTree>
    <p:extLst>
      <p:ext uri="{BB962C8B-B14F-4D97-AF65-F5344CB8AC3E}">
        <p14:creationId xmlns:p14="http://schemas.microsoft.com/office/powerpoint/2010/main" val="4816837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本章解决两个问题：</a:t>
            </a:r>
            <a:r>
              <a:rPr lang="en-US" altLang="zh-CN" dirty="0"/>
              <a:t>1.</a:t>
            </a:r>
            <a:r>
              <a:rPr lang="zh-CN" altLang="en-US" dirty="0"/>
              <a:t>生命需要能量，能量能不能定量？如何定量？</a:t>
            </a:r>
            <a:endParaRPr lang="en-US" altLang="zh-CN" dirty="0"/>
          </a:p>
          <a:p>
            <a:r>
              <a:rPr lang="en-US" altLang="zh-CN" dirty="0"/>
              <a:t>                               2.</a:t>
            </a:r>
            <a:r>
              <a:rPr lang="zh-CN" altLang="en-US" dirty="0"/>
              <a:t>产生</a:t>
            </a:r>
            <a:r>
              <a:rPr lang="en-US" altLang="zh-CN" dirty="0"/>
              <a:t>ATP</a:t>
            </a:r>
            <a:r>
              <a:rPr lang="zh-CN" altLang="en-US" dirty="0"/>
              <a:t>的关键环节，电子传递链？</a:t>
            </a:r>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8</a:t>
            </a:fld>
            <a:endParaRPr lang="zh-CN" altLang="en-US"/>
          </a:p>
        </p:txBody>
      </p:sp>
    </p:spTree>
    <p:extLst>
      <p:ext uri="{BB962C8B-B14F-4D97-AF65-F5344CB8AC3E}">
        <p14:creationId xmlns:p14="http://schemas.microsoft.com/office/powerpoint/2010/main" val="17561841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异养生物的脱氢氧化过程</a:t>
            </a:r>
            <a:endParaRPr lang="en-US" altLang="zh-CN" dirty="0"/>
          </a:p>
          <a:p>
            <a:endParaRPr lang="en-US" altLang="zh-CN" dirty="0"/>
          </a:p>
          <a:p>
            <a:r>
              <a:rPr lang="en-US" altLang="zh-CN" dirty="0"/>
              <a:t>metabolism </a:t>
            </a:r>
            <a:r>
              <a:rPr lang="zh-CN" altLang="en-US" dirty="0"/>
              <a:t>英 </a:t>
            </a:r>
            <a:r>
              <a:rPr lang="en-US" altLang="zh-CN" dirty="0"/>
              <a:t>[</a:t>
            </a:r>
            <a:r>
              <a:rPr lang="en-US" altLang="zh-CN" dirty="0" err="1"/>
              <a:t>məˈtæbəlɪzəm</a:t>
            </a:r>
            <a:r>
              <a:rPr lang="en-US" altLang="zh-CN" dirty="0"/>
              <a:t>] </a:t>
            </a:r>
            <a:r>
              <a:rPr lang="zh-CN" altLang="en-US" dirty="0"/>
              <a:t>美 </a:t>
            </a:r>
            <a:r>
              <a:rPr lang="en-US" altLang="zh-CN" dirty="0"/>
              <a:t>[</a:t>
            </a:r>
            <a:r>
              <a:rPr lang="en-US" altLang="zh-CN" dirty="0" err="1"/>
              <a:t>mɪˈtæbəˌlɪzəm</a:t>
            </a:r>
            <a:r>
              <a:rPr lang="en-US" altLang="zh-CN" dirty="0"/>
              <a:t>] n. </a:t>
            </a:r>
            <a:r>
              <a:rPr lang="zh-CN" altLang="en-US" dirty="0"/>
              <a:t>新陈代谢</a:t>
            </a:r>
            <a:r>
              <a:rPr lang="en-US" altLang="zh-CN" dirty="0"/>
              <a:t>; </a:t>
            </a:r>
            <a:r>
              <a:rPr lang="zh-CN" altLang="en-US" dirty="0"/>
              <a:t>代谢作用</a:t>
            </a:r>
            <a:endParaRPr lang="en-US" altLang="zh-CN" dirty="0"/>
          </a:p>
          <a:p>
            <a:r>
              <a:rPr lang="en-US" altLang="zh-CN" dirty="0"/>
              <a:t>catabolism </a:t>
            </a:r>
            <a:r>
              <a:rPr lang="zh-CN" altLang="en-US" dirty="0"/>
              <a:t>英 </a:t>
            </a:r>
            <a:r>
              <a:rPr lang="en-US" altLang="zh-CN" dirty="0"/>
              <a:t>[</a:t>
            </a:r>
            <a:r>
              <a:rPr lang="en-US" altLang="zh-CN" dirty="0" err="1"/>
              <a:t>kə'tæbəlɪzəm</a:t>
            </a:r>
            <a:r>
              <a:rPr lang="en-US" altLang="zh-CN" dirty="0"/>
              <a:t>] </a:t>
            </a:r>
            <a:r>
              <a:rPr lang="zh-CN" altLang="en-US" dirty="0"/>
              <a:t>美 </a:t>
            </a:r>
            <a:r>
              <a:rPr lang="en-US" altLang="zh-CN" dirty="0"/>
              <a:t>[</a:t>
            </a:r>
            <a:r>
              <a:rPr lang="en-US" altLang="zh-CN" dirty="0" err="1"/>
              <a:t>kə'tæbəlɪzəm</a:t>
            </a:r>
            <a:r>
              <a:rPr lang="en-US" altLang="zh-CN" dirty="0"/>
              <a:t>] n. </a:t>
            </a:r>
            <a:r>
              <a:rPr lang="zh-CN" altLang="en-US" dirty="0"/>
              <a:t>异化作用，分解代谢</a:t>
            </a:r>
            <a:r>
              <a:rPr lang="en-US" altLang="zh-CN" dirty="0"/>
              <a:t>; </a:t>
            </a:r>
            <a:r>
              <a:rPr lang="zh-CN" altLang="en-US" dirty="0"/>
              <a:t>陈谢</a:t>
            </a:r>
            <a:endParaRPr lang="en-US" altLang="zh-CN" dirty="0"/>
          </a:p>
          <a:p>
            <a:r>
              <a:rPr lang="en-US" altLang="zh-CN" dirty="0"/>
              <a:t>anabolism </a:t>
            </a:r>
            <a:r>
              <a:rPr lang="zh-CN" altLang="en-US" dirty="0"/>
              <a:t>英 </a:t>
            </a:r>
            <a:r>
              <a:rPr lang="en-US" altLang="zh-CN" dirty="0"/>
              <a:t>[</a:t>
            </a:r>
            <a:r>
              <a:rPr lang="en-US" altLang="zh-CN" dirty="0" err="1"/>
              <a:t>ə'nabəˌlɪzəm</a:t>
            </a:r>
            <a:r>
              <a:rPr lang="en-US" altLang="zh-CN" dirty="0"/>
              <a:t>] </a:t>
            </a:r>
            <a:r>
              <a:rPr lang="zh-CN" altLang="en-US" dirty="0"/>
              <a:t>美 </a:t>
            </a:r>
            <a:r>
              <a:rPr lang="en-US" altLang="zh-CN" dirty="0"/>
              <a:t>[</a:t>
            </a:r>
            <a:r>
              <a:rPr lang="en-US" altLang="zh-CN" dirty="0" err="1"/>
              <a:t>ə'nabəˌlɪzəm</a:t>
            </a:r>
            <a:r>
              <a:rPr lang="en-US" altLang="zh-CN" dirty="0"/>
              <a:t>] n. </a:t>
            </a:r>
            <a:r>
              <a:rPr lang="zh-CN" altLang="en-US" dirty="0"/>
              <a:t>合成代谢</a:t>
            </a:r>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9</a:t>
            </a:fld>
            <a:endParaRPr lang="zh-CN" altLang="en-US"/>
          </a:p>
        </p:txBody>
      </p:sp>
    </p:spTree>
    <p:extLst>
      <p:ext uri="{BB962C8B-B14F-4D97-AF65-F5344CB8AC3E}">
        <p14:creationId xmlns:p14="http://schemas.microsoft.com/office/powerpoint/2010/main" val="21820821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20000"/>
          </a:bodyPr>
          <a:lstStyle/>
          <a:p>
            <a:r>
              <a:rPr lang="en-US" altLang="zh-CN" dirty="0"/>
              <a:t>combustion </a:t>
            </a:r>
            <a:r>
              <a:rPr lang="zh-CN" altLang="en-US" dirty="0"/>
              <a:t>英 </a:t>
            </a:r>
            <a:r>
              <a:rPr lang="en-US" altLang="zh-CN" dirty="0"/>
              <a:t>[</a:t>
            </a:r>
            <a:r>
              <a:rPr lang="en-US" altLang="zh-CN" dirty="0" err="1"/>
              <a:t>kəmˈbʌstʃən</a:t>
            </a:r>
            <a:r>
              <a:rPr lang="en-US" altLang="zh-CN" dirty="0"/>
              <a:t>] </a:t>
            </a:r>
            <a:r>
              <a:rPr lang="zh-CN" altLang="en-US" dirty="0"/>
              <a:t>美 </a:t>
            </a:r>
            <a:r>
              <a:rPr lang="en-US" altLang="zh-CN" dirty="0"/>
              <a:t>[</a:t>
            </a:r>
            <a:r>
              <a:rPr lang="en-US" altLang="zh-CN" dirty="0" err="1"/>
              <a:t>kəmˈbʌstʃən</a:t>
            </a:r>
            <a:r>
              <a:rPr lang="en-US" altLang="zh-CN" dirty="0"/>
              <a:t>] </a:t>
            </a:r>
          </a:p>
          <a:p>
            <a:r>
              <a:rPr lang="en-US" altLang="zh-CN" dirty="0"/>
              <a:t>n. </a:t>
            </a:r>
            <a:r>
              <a:rPr lang="zh-CN" altLang="en-US" dirty="0"/>
              <a:t>燃烧，烧毁</a:t>
            </a:r>
            <a:r>
              <a:rPr lang="en-US" altLang="zh-CN" dirty="0"/>
              <a:t>; </a:t>
            </a:r>
            <a:r>
              <a:rPr lang="zh-CN" altLang="en-US" dirty="0"/>
              <a:t>氧化</a:t>
            </a:r>
            <a:r>
              <a:rPr lang="en-US" altLang="zh-CN" dirty="0"/>
              <a:t>; </a:t>
            </a:r>
            <a:r>
              <a:rPr lang="zh-CN" altLang="en-US" dirty="0"/>
              <a:t>骚动</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u="sng" dirty="0">
                <a:solidFill>
                  <a:srgbClr val="F73131"/>
                </a:solidFill>
                <a:effectLst/>
                <a:latin typeface="Arial" panose="020B0604020202020204" pitchFamily="34" charset="0"/>
                <a:hlinkClick r:id="rId3"/>
              </a:rPr>
              <a:t>文艺复兴</a:t>
            </a:r>
            <a:r>
              <a:rPr lang="en-US" altLang="zh-CN" b="0" u="sng" dirty="0">
                <a:solidFill>
                  <a:srgbClr val="2440B3"/>
                </a:solidFill>
                <a:effectLst/>
                <a:latin typeface="Arial" panose="020B0604020202020204" pitchFamily="34" charset="0"/>
                <a:hlinkClick r:id="rId3"/>
              </a:rPr>
              <a:t>(14</a:t>
            </a:r>
            <a:r>
              <a:rPr lang="zh-CN" altLang="en-US" b="0" u="sng" dirty="0">
                <a:solidFill>
                  <a:srgbClr val="2440B3"/>
                </a:solidFill>
                <a:effectLst/>
                <a:latin typeface="Arial" panose="020B0604020202020204" pitchFamily="34" charset="0"/>
                <a:hlinkClick r:id="rId3"/>
              </a:rPr>
              <a:t>到</a:t>
            </a:r>
            <a:r>
              <a:rPr lang="en-US" altLang="zh-CN" b="0" u="sng" dirty="0">
                <a:solidFill>
                  <a:srgbClr val="2440B3"/>
                </a:solidFill>
                <a:effectLst/>
                <a:latin typeface="Arial" panose="020B0604020202020204" pitchFamily="34" charset="0"/>
                <a:hlinkClick r:id="rId3"/>
              </a:rPr>
              <a:t>17</a:t>
            </a:r>
            <a:r>
              <a:rPr lang="zh-CN" altLang="en-US" b="0" u="sng" dirty="0">
                <a:solidFill>
                  <a:srgbClr val="2440B3"/>
                </a:solidFill>
                <a:effectLst/>
                <a:latin typeface="Arial" panose="020B0604020202020204" pitchFamily="34" charset="0"/>
                <a:hlinkClick r:id="rId3"/>
              </a:rPr>
              <a:t>世纪的西欧思想解放文化运动</a:t>
            </a:r>
            <a:r>
              <a:rPr lang="en-US" altLang="zh-CN" b="0" u="sng" dirty="0">
                <a:solidFill>
                  <a:srgbClr val="2440B3"/>
                </a:solidFill>
                <a:effectLst/>
                <a:latin typeface="Arial" panose="020B0604020202020204" pitchFamily="34" charset="0"/>
                <a:hlinkClick r:id="rId3"/>
              </a:rPr>
              <a:t>) - </a:t>
            </a:r>
            <a:r>
              <a:rPr lang="zh-CN" altLang="en-US" b="0" u="sng" dirty="0">
                <a:solidFill>
                  <a:srgbClr val="2440B3"/>
                </a:solidFill>
                <a:effectLst/>
                <a:latin typeface="Arial" panose="020B0604020202020204" pitchFamily="34" charset="0"/>
                <a:hlinkClick r:id="rId3"/>
              </a:rPr>
              <a:t>百度百科</a:t>
            </a:r>
            <a:endParaRPr lang="zh-CN" altLang="en-US" b="0" dirty="0">
              <a:solidFill>
                <a:srgbClr val="333333"/>
              </a:solidFill>
              <a:effectLst/>
              <a:latin typeface="Arial" panose="020B0604020202020204" pitchFamily="34" charset="0"/>
            </a:endParaRPr>
          </a:p>
          <a:p>
            <a:endParaRPr lang="en-US" altLang="zh-CN" dirty="0"/>
          </a:p>
          <a:p>
            <a:r>
              <a:rPr lang="zh-CN" altLang="en-US" dirty="0"/>
              <a:t>安托万</a:t>
            </a:r>
            <a:r>
              <a:rPr lang="en-US" altLang="zh-CN" dirty="0"/>
              <a:t>-</a:t>
            </a:r>
            <a:r>
              <a:rPr lang="zh-CN" altLang="en-US" dirty="0"/>
              <a:t>洛朗</a:t>
            </a:r>
            <a:r>
              <a:rPr lang="en-US" altLang="zh-CN" dirty="0"/>
              <a:t>·</a:t>
            </a:r>
            <a:r>
              <a:rPr lang="zh-CN" altLang="en-US" dirty="0"/>
              <a:t>德</a:t>
            </a:r>
            <a:r>
              <a:rPr lang="en-US" altLang="zh-CN" dirty="0"/>
              <a:t>·</a:t>
            </a:r>
            <a:r>
              <a:rPr lang="zh-CN" altLang="en-US" dirty="0"/>
              <a:t>拉瓦锡（法语：</a:t>
            </a:r>
            <a:r>
              <a:rPr lang="en-US" altLang="zh-CN" dirty="0"/>
              <a:t>Antoine-Laurent de Lavoisier</a:t>
            </a:r>
            <a:r>
              <a:rPr lang="zh-CN" altLang="en-US" dirty="0"/>
              <a:t>，</a:t>
            </a:r>
            <a:r>
              <a:rPr lang="en-US" altLang="zh-CN" dirty="0"/>
              <a:t>1743</a:t>
            </a:r>
            <a:r>
              <a:rPr lang="zh-CN" altLang="en-US" dirty="0"/>
              <a:t>年</a:t>
            </a:r>
            <a:r>
              <a:rPr lang="en-US" altLang="zh-CN" dirty="0"/>
              <a:t>8</a:t>
            </a:r>
            <a:r>
              <a:rPr lang="zh-CN" altLang="en-US" dirty="0"/>
              <a:t>月</a:t>
            </a:r>
            <a:r>
              <a:rPr lang="en-US" altLang="zh-CN" dirty="0"/>
              <a:t>26</a:t>
            </a:r>
            <a:r>
              <a:rPr lang="zh-CN" altLang="en-US" dirty="0"/>
              <a:t>日－</a:t>
            </a:r>
            <a:r>
              <a:rPr lang="en-US" altLang="zh-CN" dirty="0"/>
              <a:t>1794</a:t>
            </a:r>
            <a:r>
              <a:rPr lang="zh-CN" altLang="en-US" dirty="0"/>
              <a:t>年</a:t>
            </a:r>
            <a:r>
              <a:rPr lang="en-US" altLang="zh-CN" dirty="0"/>
              <a:t>5</a:t>
            </a:r>
            <a:r>
              <a:rPr lang="zh-CN" altLang="en-US" dirty="0"/>
              <a:t>月</a:t>
            </a:r>
            <a:r>
              <a:rPr lang="en-US" altLang="zh-CN" dirty="0"/>
              <a:t>8</a:t>
            </a:r>
            <a:r>
              <a:rPr lang="zh-CN" altLang="en-US" dirty="0"/>
              <a:t>日），法国贵族，著名化学家、生物学家，被广泛认为是</a:t>
            </a:r>
            <a:r>
              <a:rPr lang="zh-CN" altLang="en-US" dirty="0">
                <a:hlinkClick r:id="rId4"/>
              </a:rPr>
              <a:t>人类历史</a:t>
            </a:r>
            <a:r>
              <a:rPr lang="zh-CN" altLang="en-US" dirty="0"/>
              <a:t>上最伟大的化学家。拉瓦锡被后世尊称为</a:t>
            </a:r>
            <a:r>
              <a:rPr lang="en-US" altLang="zh-CN" dirty="0"/>
              <a:t>"</a:t>
            </a:r>
            <a:r>
              <a:rPr lang="zh-CN" altLang="en-US" dirty="0"/>
              <a:t>化学之父</a:t>
            </a:r>
            <a:r>
              <a:rPr lang="en-US" altLang="zh-CN" dirty="0"/>
              <a:t>"</a:t>
            </a:r>
            <a:r>
              <a:rPr lang="zh-CN" altLang="en-US" dirty="0"/>
              <a:t>（</a:t>
            </a:r>
            <a:r>
              <a:rPr lang="en-US" altLang="zh-CN" dirty="0"/>
              <a:t>father of chemistry</a:t>
            </a:r>
            <a:r>
              <a:rPr lang="zh-CN" altLang="en-US" dirty="0"/>
              <a:t>）、</a:t>
            </a:r>
            <a:r>
              <a:rPr lang="en-US" altLang="zh-CN" dirty="0"/>
              <a:t>"</a:t>
            </a:r>
            <a:r>
              <a:rPr lang="zh-CN" altLang="en-US" dirty="0"/>
              <a:t>现代化学之父</a:t>
            </a:r>
            <a:r>
              <a:rPr lang="en-US" altLang="zh-CN" dirty="0"/>
              <a:t>"</a:t>
            </a:r>
            <a:r>
              <a:rPr lang="zh-CN" altLang="en-US" dirty="0"/>
              <a:t>（</a:t>
            </a:r>
            <a:r>
              <a:rPr lang="en-US" altLang="zh-CN" dirty="0"/>
              <a:t>father of modern chemistry</a:t>
            </a:r>
            <a:r>
              <a:rPr lang="zh-CN" altLang="en-US" dirty="0"/>
              <a:t>）。</a:t>
            </a:r>
          </a:p>
          <a:p>
            <a:r>
              <a:rPr lang="zh-CN" altLang="en-US" dirty="0"/>
              <a:t>他使化学从</a:t>
            </a:r>
            <a:r>
              <a:rPr lang="zh-CN" altLang="en-US" dirty="0">
                <a:hlinkClick r:id="rId5"/>
              </a:rPr>
              <a:t>定性</a:t>
            </a:r>
            <a:r>
              <a:rPr lang="zh-CN" altLang="en-US" dirty="0"/>
              <a:t>转为</a:t>
            </a:r>
            <a:r>
              <a:rPr lang="zh-CN" altLang="en-US" dirty="0">
                <a:hlinkClick r:id="rId6"/>
              </a:rPr>
              <a:t>定量</a:t>
            </a:r>
            <a:r>
              <a:rPr lang="zh-CN" altLang="en-US" dirty="0"/>
              <a:t>，给出了</a:t>
            </a:r>
            <a:r>
              <a:rPr lang="zh-CN" altLang="en-US" dirty="0">
                <a:hlinkClick r:id="rId7"/>
              </a:rPr>
              <a:t>氧</a:t>
            </a:r>
            <a:r>
              <a:rPr lang="zh-CN" altLang="en-US" dirty="0"/>
              <a:t>与</a:t>
            </a:r>
            <a:r>
              <a:rPr lang="zh-CN" altLang="en-US" dirty="0">
                <a:hlinkClick r:id="rId8"/>
              </a:rPr>
              <a:t>氢</a:t>
            </a:r>
            <a:r>
              <a:rPr lang="zh-CN" altLang="en-US" dirty="0"/>
              <a:t>的命名，并且预测了</a:t>
            </a:r>
            <a:r>
              <a:rPr lang="zh-CN" altLang="en-US" dirty="0">
                <a:hlinkClick r:id="rId9"/>
              </a:rPr>
              <a:t>硅</a:t>
            </a:r>
            <a:r>
              <a:rPr lang="zh-CN" altLang="en-US" dirty="0"/>
              <a:t>的存在。他帮助建立了</a:t>
            </a:r>
            <a:r>
              <a:rPr lang="zh-CN" altLang="en-US" dirty="0">
                <a:hlinkClick r:id="rId10"/>
              </a:rPr>
              <a:t>公制</a:t>
            </a:r>
            <a:r>
              <a:rPr lang="zh-CN" altLang="en-US" dirty="0"/>
              <a:t>。拉瓦锡提出了“元素”的定义，按照这定义，于</a:t>
            </a:r>
            <a:r>
              <a:rPr lang="en-US" altLang="zh-CN" dirty="0"/>
              <a:t>1789</a:t>
            </a:r>
            <a:r>
              <a:rPr lang="zh-CN" altLang="en-US" dirty="0"/>
              <a:t>年发表第一个现代</a:t>
            </a:r>
            <a:r>
              <a:rPr lang="zh-CN" altLang="en-US" dirty="0">
                <a:hlinkClick r:id="rId11"/>
              </a:rPr>
              <a:t>化学元素</a:t>
            </a:r>
            <a:r>
              <a:rPr lang="zh-CN" altLang="en-US" dirty="0"/>
              <a:t>列表，列出</a:t>
            </a:r>
            <a:r>
              <a:rPr lang="en-US" altLang="zh-CN" dirty="0"/>
              <a:t>33</a:t>
            </a:r>
            <a:r>
              <a:rPr lang="zh-CN" altLang="en-US" dirty="0"/>
              <a:t>种</a:t>
            </a:r>
            <a:r>
              <a:rPr lang="zh-CN" altLang="en-US" dirty="0">
                <a:hlinkClick r:id="rId12"/>
              </a:rPr>
              <a:t>元素</a:t>
            </a:r>
            <a:r>
              <a:rPr lang="zh-CN" altLang="en-US" dirty="0"/>
              <a:t>，其中包括光与热和一些当时被认为是元素的化合物。拉瓦锡的贡献促使</a:t>
            </a:r>
            <a:r>
              <a:rPr lang="en-US" altLang="zh-CN" dirty="0"/>
              <a:t>18</a:t>
            </a:r>
            <a:r>
              <a:rPr lang="zh-CN" altLang="en-US" dirty="0"/>
              <a:t>世纪的化学更加物理及数学化。他提出规范的化学命名法，撰写了第一部真正现代化学</a:t>
            </a:r>
            <a:r>
              <a:rPr lang="zh-CN" altLang="en-US" dirty="0">
                <a:hlinkClick r:id="rId13"/>
              </a:rPr>
              <a:t>教科书</a:t>
            </a:r>
            <a:r>
              <a:rPr lang="en-US" altLang="zh-CN" dirty="0"/>
              <a:t>《</a:t>
            </a:r>
            <a:r>
              <a:rPr lang="zh-CN" altLang="en-US" dirty="0"/>
              <a:t>化学基本论述</a:t>
            </a:r>
            <a:r>
              <a:rPr lang="en-US" altLang="zh-CN" dirty="0"/>
              <a:t>》</a:t>
            </a:r>
            <a:r>
              <a:rPr lang="zh-CN" altLang="en-US" dirty="0"/>
              <a:t>（</a:t>
            </a:r>
            <a:r>
              <a:rPr lang="en-US" altLang="zh-CN" dirty="0" err="1"/>
              <a:t>Traité</a:t>
            </a:r>
            <a:r>
              <a:rPr lang="en-US" altLang="zh-CN" dirty="0"/>
              <a:t> </a:t>
            </a:r>
            <a:r>
              <a:rPr lang="en-US" altLang="zh-CN" dirty="0" err="1"/>
              <a:t>Élémentaire</a:t>
            </a:r>
            <a:r>
              <a:rPr lang="en-US" altLang="zh-CN" dirty="0"/>
              <a:t> de </a:t>
            </a:r>
            <a:r>
              <a:rPr lang="en-US" altLang="zh-CN" dirty="0" err="1"/>
              <a:t>Chimie</a:t>
            </a:r>
            <a:r>
              <a:rPr lang="zh-CN" altLang="en-US" dirty="0"/>
              <a:t>）。他倡导并改进</a:t>
            </a:r>
            <a:r>
              <a:rPr lang="zh-CN" altLang="en-US" dirty="0">
                <a:hlinkClick r:id="rId14"/>
              </a:rPr>
              <a:t>定量分析</a:t>
            </a:r>
            <a:r>
              <a:rPr lang="zh-CN" altLang="en-US" dirty="0"/>
              <a:t>方法并用其验证了</a:t>
            </a:r>
            <a:r>
              <a:rPr lang="zh-CN" altLang="en-US" dirty="0">
                <a:hlinkClick r:id="rId15"/>
              </a:rPr>
              <a:t>质量守恒定律</a:t>
            </a:r>
            <a:r>
              <a:rPr lang="zh-CN" altLang="en-US" dirty="0"/>
              <a:t>。他创立氧化说以解释燃烧等实验现象，指出动物的呼吸实质上是</a:t>
            </a:r>
            <a:r>
              <a:rPr lang="zh-CN" altLang="en-US" dirty="0">
                <a:hlinkClick r:id="rId16"/>
              </a:rPr>
              <a:t>缓慢氧化</a:t>
            </a:r>
            <a:r>
              <a:rPr lang="zh-CN" altLang="en-US" dirty="0"/>
              <a:t>。这些划时代贡献使得他成为历史上最伟大的化学家。</a:t>
            </a:r>
            <a:r>
              <a:rPr lang="en-US" altLang="zh-CN" baseline="30000" dirty="0"/>
              <a:t>[1]</a:t>
            </a:r>
            <a:r>
              <a:rPr lang="zh-CN" altLang="en-US" dirty="0"/>
              <a:t>  </a:t>
            </a:r>
          </a:p>
          <a:p>
            <a:r>
              <a:rPr lang="zh-CN" altLang="en-US" dirty="0"/>
              <a:t>拉瓦锡曾任税务官，因此他有充足的资金进行科学研究。不幸在</a:t>
            </a:r>
            <a:r>
              <a:rPr lang="zh-CN" altLang="en-US" dirty="0">
                <a:hlinkClick r:id="rId17"/>
              </a:rPr>
              <a:t>法国大革命</a:t>
            </a:r>
            <a:r>
              <a:rPr lang="zh-CN" altLang="en-US" dirty="0"/>
              <a:t>中被送上断头台而死。法国著名数学家</a:t>
            </a:r>
            <a:r>
              <a:rPr lang="zh-CN" altLang="en-US" dirty="0">
                <a:hlinkClick r:id="rId18"/>
              </a:rPr>
              <a:t>拉格朗日</a:t>
            </a:r>
            <a:r>
              <a:rPr lang="zh-CN" altLang="en-US" dirty="0"/>
              <a:t>痛心地说：“他们可以一眨眼就把他的头砍下来，但他那样的头脑一百年也再长不出一个来了。”</a:t>
            </a:r>
            <a:endParaRPr lang="en-US" altLang="zh-CN" dirty="0"/>
          </a:p>
          <a:p>
            <a:endParaRPr lang="en-US" altLang="zh-CN" dirty="0"/>
          </a:p>
          <a:p>
            <a:r>
              <a:rPr lang="zh-CN" altLang="en-US" sz="1200" b="0" i="0" kern="1200" dirty="0">
                <a:solidFill>
                  <a:schemeClr val="tx1"/>
                </a:solidFill>
                <a:effectLst/>
                <a:latin typeface="+mn-lt"/>
                <a:ea typeface="+mn-ea"/>
                <a:cs typeface="+mn-cs"/>
              </a:rPr>
              <a:t>中世纪（</a:t>
            </a:r>
            <a:r>
              <a:rPr lang="en-US" altLang="zh-CN" sz="1200" b="0" i="0" kern="1200" dirty="0">
                <a:solidFill>
                  <a:schemeClr val="tx1"/>
                </a:solidFill>
                <a:effectLst/>
                <a:latin typeface="+mn-lt"/>
                <a:ea typeface="+mn-ea"/>
                <a:cs typeface="+mn-cs"/>
              </a:rPr>
              <a:t>Middle Ages</a:t>
            </a:r>
            <a:r>
              <a:rPr lang="zh-CN" altLang="en-US" sz="1200" b="0" i="0" kern="1200" dirty="0">
                <a:solidFill>
                  <a:schemeClr val="tx1"/>
                </a:solidFill>
                <a:effectLst/>
                <a:latin typeface="+mn-lt"/>
                <a:ea typeface="+mn-ea"/>
                <a:cs typeface="+mn-cs"/>
              </a:rPr>
              <a:t>）从公元</a:t>
            </a:r>
            <a:r>
              <a:rPr lang="en-US" altLang="zh-CN" sz="1200" b="0" i="0" kern="1200" dirty="0">
                <a:solidFill>
                  <a:schemeClr val="tx1"/>
                </a:solidFill>
                <a:effectLst/>
                <a:latin typeface="+mn-lt"/>
                <a:ea typeface="+mn-ea"/>
                <a:cs typeface="+mn-cs"/>
              </a:rPr>
              <a:t>5</a:t>
            </a:r>
            <a:r>
              <a:rPr lang="zh-CN" altLang="en-US" sz="1200" b="0" i="0" kern="1200" dirty="0">
                <a:solidFill>
                  <a:schemeClr val="tx1"/>
                </a:solidFill>
                <a:effectLst/>
                <a:latin typeface="+mn-lt"/>
                <a:ea typeface="+mn-ea"/>
                <a:cs typeface="+mn-cs"/>
              </a:rPr>
              <a:t>世纪持续到公元</a:t>
            </a:r>
            <a:r>
              <a:rPr lang="en-US" altLang="zh-CN" sz="1200" b="0" i="0" kern="1200" dirty="0">
                <a:solidFill>
                  <a:schemeClr val="tx1"/>
                </a:solidFill>
                <a:effectLst/>
                <a:latin typeface="+mn-lt"/>
                <a:ea typeface="+mn-ea"/>
                <a:cs typeface="+mn-cs"/>
              </a:rPr>
              <a:t>15</a:t>
            </a:r>
            <a:r>
              <a:rPr lang="zh-CN" altLang="en-US" sz="1200" b="0" i="0" kern="1200" dirty="0">
                <a:solidFill>
                  <a:schemeClr val="tx1"/>
                </a:solidFill>
                <a:effectLst/>
                <a:latin typeface="+mn-lt"/>
                <a:ea typeface="+mn-ea"/>
                <a:cs typeface="+mn-cs"/>
              </a:rPr>
              <a:t>世纪，是</a:t>
            </a:r>
            <a:r>
              <a:rPr lang="zh-CN" altLang="en-US" sz="1200" b="0" i="0" u="none" strike="noStrike" kern="1200" dirty="0">
                <a:solidFill>
                  <a:schemeClr val="tx1"/>
                </a:solidFill>
                <a:effectLst/>
                <a:latin typeface="+mn-lt"/>
                <a:ea typeface="+mn-ea"/>
                <a:cs typeface="+mn-cs"/>
                <a:hlinkClick r:id="rId19"/>
              </a:rPr>
              <a:t>欧洲</a:t>
            </a:r>
            <a:r>
              <a:rPr lang="zh-CN" altLang="en-US" sz="1200" b="0" i="0" kern="1200" dirty="0">
                <a:solidFill>
                  <a:schemeClr val="tx1"/>
                </a:solidFill>
                <a:effectLst/>
                <a:latin typeface="+mn-lt"/>
                <a:ea typeface="+mn-ea"/>
                <a:cs typeface="+mn-cs"/>
              </a:rPr>
              <a:t>历史三大传统划分的一个中间时期。中世纪始于</a:t>
            </a:r>
            <a:r>
              <a:rPr lang="zh-CN" altLang="en-US" sz="1200" b="0" i="0" u="none" strike="noStrike" kern="1200" dirty="0">
                <a:solidFill>
                  <a:schemeClr val="tx1"/>
                </a:solidFill>
                <a:effectLst/>
                <a:latin typeface="+mn-lt"/>
                <a:ea typeface="+mn-ea"/>
                <a:cs typeface="+mn-cs"/>
                <a:hlinkClick r:id="rId20"/>
              </a:rPr>
              <a:t>西罗马帝国</a:t>
            </a:r>
            <a:r>
              <a:rPr lang="zh-CN" altLang="en-US" sz="1200" b="0" i="0" kern="1200" dirty="0">
                <a:solidFill>
                  <a:schemeClr val="tx1"/>
                </a:solidFill>
                <a:effectLst/>
                <a:latin typeface="+mn-lt"/>
                <a:ea typeface="+mn-ea"/>
                <a:cs typeface="+mn-cs"/>
              </a:rPr>
              <a:t>灭亡（公元</a:t>
            </a:r>
            <a:r>
              <a:rPr lang="en-US" altLang="zh-CN" sz="1200" b="0" i="0" kern="1200" dirty="0">
                <a:solidFill>
                  <a:schemeClr val="tx1"/>
                </a:solidFill>
                <a:effectLst/>
                <a:latin typeface="+mn-lt"/>
                <a:ea typeface="+mn-ea"/>
                <a:cs typeface="+mn-cs"/>
              </a:rPr>
              <a:t>476</a:t>
            </a:r>
            <a:r>
              <a:rPr lang="zh-CN" altLang="en-US" sz="1200" b="0" i="0" kern="1200" dirty="0">
                <a:solidFill>
                  <a:schemeClr val="tx1"/>
                </a:solidFill>
                <a:effectLst/>
                <a:latin typeface="+mn-lt"/>
                <a:ea typeface="+mn-ea"/>
                <a:cs typeface="+mn-cs"/>
              </a:rPr>
              <a:t>年），</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最终融入</a:t>
            </a:r>
            <a:r>
              <a:rPr lang="zh-CN" altLang="en-US" sz="1200" b="0" i="0" u="none" strike="noStrike" kern="1200" dirty="0">
                <a:solidFill>
                  <a:schemeClr val="tx1"/>
                </a:solidFill>
                <a:effectLst/>
                <a:latin typeface="+mn-lt"/>
                <a:ea typeface="+mn-ea"/>
                <a:cs typeface="+mn-cs"/>
                <a:hlinkClick r:id="rId21"/>
              </a:rPr>
              <a:t>文艺复兴</a:t>
            </a:r>
            <a:r>
              <a:rPr lang="zh-CN" altLang="en-US" sz="1200" b="0" i="0" kern="1200" dirty="0">
                <a:solidFill>
                  <a:schemeClr val="tx1"/>
                </a:solidFill>
                <a:effectLst/>
                <a:latin typeface="+mn-lt"/>
                <a:ea typeface="+mn-ea"/>
                <a:cs typeface="+mn-cs"/>
              </a:rPr>
              <a:t>和探索时代（</a:t>
            </a:r>
            <a:r>
              <a:rPr lang="zh-CN" altLang="en-US" sz="1200" b="0" i="0" u="none" strike="noStrike" kern="1200" dirty="0">
                <a:solidFill>
                  <a:schemeClr val="tx1"/>
                </a:solidFill>
                <a:effectLst/>
                <a:latin typeface="+mn-lt"/>
                <a:ea typeface="+mn-ea"/>
                <a:cs typeface="+mn-cs"/>
                <a:hlinkClick r:id="rId22"/>
              </a:rPr>
              <a:t>地理大发现</a:t>
            </a:r>
            <a:r>
              <a:rPr lang="zh-CN" altLang="en-US" sz="1200" b="0" i="0" kern="1200" dirty="0">
                <a:solidFill>
                  <a:schemeClr val="tx1"/>
                </a:solidFill>
                <a:effectLst/>
                <a:latin typeface="+mn-lt"/>
                <a:ea typeface="+mn-ea"/>
                <a:cs typeface="+mn-cs"/>
              </a:rPr>
              <a:t>）中。</a:t>
            </a:r>
            <a:r>
              <a:rPr lang="zh-CN" altLang="en-US" sz="1200" b="0" i="0" kern="1200" baseline="30000" dirty="0">
                <a:solidFill>
                  <a:schemeClr val="tx1"/>
                </a:solidFill>
                <a:effectLst/>
                <a:latin typeface="+mn-lt"/>
                <a:ea typeface="+mn-ea"/>
                <a:cs typeface="+mn-cs"/>
              </a:rPr>
              <a:t> </a:t>
            </a:r>
            <a:r>
              <a:rPr lang="en-US" altLang="zh-CN" sz="1200" b="0" i="0" kern="1200" baseline="30000" dirty="0">
                <a:solidFill>
                  <a:schemeClr val="tx1"/>
                </a:solidFill>
                <a:effectLst/>
                <a:latin typeface="+mn-lt"/>
                <a:ea typeface="+mn-ea"/>
                <a:cs typeface="+mn-cs"/>
              </a:rPr>
              <a:t>[1]</a:t>
            </a:r>
            <a:r>
              <a:rPr lang="zh-CN" altLang="en-US" sz="1200" b="0" i="0" u="none" strike="noStrike"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 另有说法认为中世纪结束于</a:t>
            </a:r>
            <a:r>
              <a:rPr lang="zh-CN" altLang="en-US" sz="1200" b="0" i="0" u="none" strike="noStrike" kern="1200" dirty="0">
                <a:solidFill>
                  <a:schemeClr val="tx1"/>
                </a:solidFill>
                <a:effectLst/>
                <a:latin typeface="+mn-lt"/>
                <a:ea typeface="+mn-ea"/>
                <a:cs typeface="+mn-cs"/>
                <a:hlinkClick r:id="rId23"/>
              </a:rPr>
              <a:t>东罗马帝国灭亡</a:t>
            </a:r>
            <a:endParaRPr lang="zh-CN" altLang="en-US" dirty="0"/>
          </a:p>
          <a:p>
            <a:r>
              <a:rPr lang="zh-CN" altLang="en-US" sz="1200" b="0" i="0" kern="1200" dirty="0">
                <a:solidFill>
                  <a:schemeClr val="tx1"/>
                </a:solidFill>
                <a:effectLst/>
                <a:latin typeface="+mn-lt"/>
                <a:ea typeface="+mn-ea"/>
                <a:cs typeface="+mn-cs"/>
              </a:rPr>
              <a:t>工业革命（</a:t>
            </a:r>
            <a:r>
              <a:rPr lang="en-US" altLang="zh-CN" sz="1200" b="0" i="0" kern="1200" dirty="0">
                <a:solidFill>
                  <a:schemeClr val="tx1"/>
                </a:solidFill>
                <a:effectLst/>
                <a:latin typeface="+mn-lt"/>
                <a:ea typeface="+mn-ea"/>
                <a:cs typeface="+mn-cs"/>
              </a:rPr>
              <a:t>The Industrial Revolution </a:t>
            </a:r>
            <a:r>
              <a:rPr lang="zh-CN" altLang="en-US" sz="1200" b="0" i="0" kern="1200" dirty="0">
                <a:solidFill>
                  <a:schemeClr val="tx1"/>
                </a:solidFill>
                <a:effectLst/>
                <a:latin typeface="+mn-lt"/>
                <a:ea typeface="+mn-ea"/>
                <a:cs typeface="+mn-cs"/>
              </a:rPr>
              <a:t>）开始于十八世纪六十年代，通常认为它发源于</a:t>
            </a:r>
            <a:r>
              <a:rPr lang="zh-CN" altLang="en-US" sz="1200" b="0" i="0" u="none" strike="noStrike" kern="1200" dirty="0">
                <a:solidFill>
                  <a:schemeClr val="tx1"/>
                </a:solidFill>
                <a:effectLst/>
                <a:latin typeface="+mn-lt"/>
                <a:ea typeface="+mn-ea"/>
                <a:cs typeface="+mn-cs"/>
                <a:hlinkClick r:id="rId24"/>
              </a:rPr>
              <a:t>英格兰</a:t>
            </a:r>
            <a:r>
              <a:rPr lang="zh-CN" altLang="en-US" sz="1200" b="0" i="0" kern="1200" dirty="0">
                <a:solidFill>
                  <a:schemeClr val="tx1"/>
                </a:solidFill>
                <a:effectLst/>
                <a:latin typeface="+mn-lt"/>
                <a:ea typeface="+mn-ea"/>
                <a:cs typeface="+mn-cs"/>
              </a:rPr>
              <a:t>中部地区，是指</a:t>
            </a:r>
            <a:r>
              <a:rPr lang="zh-CN" altLang="en-US" sz="1200" b="0" i="0" u="none" strike="noStrike" kern="1200" dirty="0">
                <a:solidFill>
                  <a:schemeClr val="tx1"/>
                </a:solidFill>
                <a:effectLst/>
                <a:latin typeface="+mn-lt"/>
                <a:ea typeface="+mn-ea"/>
                <a:cs typeface="+mn-cs"/>
                <a:hlinkClick r:id="rId25"/>
              </a:rPr>
              <a:t>资本主义工业化</a:t>
            </a:r>
            <a:r>
              <a:rPr lang="zh-CN" altLang="en-US" sz="1200" b="0" i="0" kern="1200" dirty="0">
                <a:solidFill>
                  <a:schemeClr val="tx1"/>
                </a:solidFill>
                <a:effectLst/>
                <a:latin typeface="+mn-lt"/>
                <a:ea typeface="+mn-ea"/>
                <a:cs typeface="+mn-cs"/>
              </a:rPr>
              <a:t>的早期历程，</a:t>
            </a:r>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12</a:t>
            </a:fld>
            <a:endParaRPr lang="zh-CN" altLang="en-US"/>
          </a:p>
        </p:txBody>
      </p:sp>
    </p:spTree>
    <p:extLst>
      <p:ext uri="{BB962C8B-B14F-4D97-AF65-F5344CB8AC3E}">
        <p14:creationId xmlns:p14="http://schemas.microsoft.com/office/powerpoint/2010/main" val="33614380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entropy </a:t>
            </a:r>
            <a:r>
              <a:rPr lang="zh-CN" altLang="en-US" dirty="0"/>
              <a:t>英 </a:t>
            </a:r>
            <a:r>
              <a:rPr lang="en-US" altLang="zh-CN" dirty="0"/>
              <a:t>[ˈ</a:t>
            </a:r>
            <a:r>
              <a:rPr lang="en-US" altLang="zh-CN" dirty="0" err="1"/>
              <a:t>entrəpi</a:t>
            </a:r>
            <a:r>
              <a:rPr lang="en-US" altLang="zh-CN" dirty="0"/>
              <a:t>] </a:t>
            </a:r>
            <a:r>
              <a:rPr lang="zh-CN" altLang="en-US" dirty="0"/>
              <a:t>美 </a:t>
            </a:r>
            <a:r>
              <a:rPr lang="en-US" altLang="zh-CN" dirty="0"/>
              <a:t>[ˈ</a:t>
            </a:r>
            <a:r>
              <a:rPr lang="en-US" altLang="zh-CN" dirty="0" err="1"/>
              <a:t>ɛntrəpi</a:t>
            </a:r>
            <a:r>
              <a:rPr lang="en-US" altLang="zh-CN" dirty="0"/>
              <a:t>] n. </a:t>
            </a:r>
            <a:r>
              <a:rPr lang="zh-CN" altLang="en-US" dirty="0"/>
              <a:t>熵，平均信息量</a:t>
            </a:r>
            <a:r>
              <a:rPr lang="en-US" altLang="zh-CN" dirty="0"/>
              <a:t>; </a:t>
            </a:r>
            <a:r>
              <a:rPr lang="zh-CN" altLang="en-US" dirty="0"/>
              <a:t>负熵</a:t>
            </a:r>
            <a:endParaRPr lang="en-US" altLang="zh-CN" dirty="0"/>
          </a:p>
          <a:p>
            <a:endParaRPr lang="en-US" altLang="zh-CN" dirty="0"/>
          </a:p>
          <a:p>
            <a:r>
              <a:rPr lang="zh-CN" altLang="en-US" dirty="0"/>
              <a:t>质量守恒定律是</a:t>
            </a:r>
            <a:r>
              <a:rPr lang="zh-CN" altLang="en-US" dirty="0">
                <a:hlinkClick r:id="rId3"/>
              </a:rPr>
              <a:t>俄国</a:t>
            </a:r>
            <a:r>
              <a:rPr lang="zh-CN" altLang="en-US" dirty="0"/>
              <a:t>科学家</a:t>
            </a:r>
            <a:r>
              <a:rPr lang="zh-CN" altLang="en-US" dirty="0">
                <a:hlinkClick r:id="rId4"/>
              </a:rPr>
              <a:t>罗蒙诺索夫</a:t>
            </a:r>
            <a:r>
              <a:rPr lang="zh-CN" altLang="en-US" dirty="0"/>
              <a:t>于</a:t>
            </a:r>
            <a:r>
              <a:rPr lang="en-US" altLang="zh-CN" dirty="0"/>
              <a:t>1756</a:t>
            </a:r>
            <a:r>
              <a:rPr lang="zh-CN" altLang="en-US" dirty="0"/>
              <a:t>年最早发现的。</a:t>
            </a:r>
            <a:r>
              <a:rPr lang="zh-CN" altLang="en-US" dirty="0">
                <a:hlinkClick r:id="rId5"/>
              </a:rPr>
              <a:t>拉瓦锡</a:t>
            </a:r>
            <a:r>
              <a:rPr lang="zh-CN" altLang="en-US" dirty="0"/>
              <a:t>通过大量的定量试验，发现了在</a:t>
            </a:r>
            <a:r>
              <a:rPr lang="zh-CN" altLang="en-US" dirty="0">
                <a:hlinkClick r:id="rId6"/>
              </a:rPr>
              <a:t>化学反应</a:t>
            </a:r>
            <a:r>
              <a:rPr lang="zh-CN" altLang="en-US" dirty="0"/>
              <a:t>中，参加反应的各物质的</a:t>
            </a:r>
            <a:r>
              <a:rPr lang="zh-CN" altLang="en-US" dirty="0">
                <a:hlinkClick r:id="rId7"/>
              </a:rPr>
              <a:t>质量</a:t>
            </a:r>
            <a:r>
              <a:rPr lang="zh-CN" altLang="en-US" dirty="0"/>
              <a:t>总和等于反应后生成各物质的质量总和。这个规律就叫做质量守恒定律</a:t>
            </a:r>
            <a:r>
              <a:rPr lang="en-US" altLang="zh-CN" dirty="0"/>
              <a:t>(Law of conservation of mass)</a:t>
            </a:r>
            <a:r>
              <a:rPr lang="zh-CN" altLang="en-US" dirty="0"/>
              <a:t>。也称物质不灭定律。它是自然界普遍存在的基本定律之一。</a:t>
            </a:r>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13</a:t>
            </a:fld>
            <a:endParaRPr lang="zh-CN" altLang="en-US"/>
          </a:p>
        </p:txBody>
      </p:sp>
    </p:spTree>
    <p:extLst>
      <p:ext uri="{BB962C8B-B14F-4D97-AF65-F5344CB8AC3E}">
        <p14:creationId xmlns:p14="http://schemas.microsoft.com/office/powerpoint/2010/main" val="35657611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reactant </a:t>
            </a:r>
            <a:r>
              <a:rPr lang="zh-CN" altLang="en-US" dirty="0"/>
              <a:t>英 </a:t>
            </a:r>
            <a:r>
              <a:rPr lang="en-US" altLang="zh-CN" dirty="0"/>
              <a:t>[</a:t>
            </a:r>
            <a:r>
              <a:rPr lang="en-US" altLang="zh-CN" dirty="0" err="1"/>
              <a:t>riˈæktənt</a:t>
            </a:r>
            <a:r>
              <a:rPr lang="en-US" altLang="zh-CN" dirty="0"/>
              <a:t>] </a:t>
            </a:r>
            <a:r>
              <a:rPr lang="zh-CN" altLang="en-US" dirty="0"/>
              <a:t>美 </a:t>
            </a:r>
            <a:r>
              <a:rPr lang="en-US" altLang="zh-CN" dirty="0"/>
              <a:t>[</a:t>
            </a:r>
            <a:r>
              <a:rPr lang="en-US" altLang="zh-CN" dirty="0" err="1"/>
              <a:t>riˈæktənt</a:t>
            </a:r>
            <a:r>
              <a:rPr lang="en-US" altLang="zh-CN" dirty="0"/>
              <a:t>]  n. </a:t>
            </a:r>
            <a:r>
              <a:rPr lang="zh-CN" altLang="en-US" dirty="0"/>
              <a:t>反应物</a:t>
            </a:r>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14</a:t>
            </a:fld>
            <a:endParaRPr lang="zh-CN" altLang="en-US"/>
          </a:p>
        </p:txBody>
      </p:sp>
    </p:spTree>
    <p:extLst>
      <p:ext uri="{BB962C8B-B14F-4D97-AF65-F5344CB8AC3E}">
        <p14:creationId xmlns:p14="http://schemas.microsoft.com/office/powerpoint/2010/main" val="12221346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约西亚</a:t>
            </a:r>
            <a:r>
              <a:rPr lang="en-US" altLang="zh-CN" dirty="0"/>
              <a:t>·</a:t>
            </a:r>
            <a:r>
              <a:rPr lang="zh-CN" altLang="en-US" dirty="0"/>
              <a:t>威拉德</a:t>
            </a:r>
            <a:r>
              <a:rPr lang="en-US" altLang="zh-CN" dirty="0"/>
              <a:t>·</a:t>
            </a:r>
            <a:r>
              <a:rPr lang="zh-CN" altLang="en-US" dirty="0"/>
              <a:t>吉布斯（</a:t>
            </a:r>
            <a:r>
              <a:rPr lang="en-US" altLang="zh-CN" dirty="0"/>
              <a:t>Josiah Willard Gibbs</a:t>
            </a:r>
            <a:r>
              <a:rPr lang="zh-CN" altLang="en-US" dirty="0"/>
              <a:t>，</a:t>
            </a:r>
            <a:r>
              <a:rPr lang="en-US" altLang="zh-CN" dirty="0"/>
              <a:t>1839</a:t>
            </a:r>
            <a:r>
              <a:rPr lang="zh-CN" altLang="en-US" dirty="0"/>
              <a:t>年（己亥年）</a:t>
            </a:r>
            <a:r>
              <a:rPr lang="en-US" altLang="zh-CN" dirty="0"/>
              <a:t>2</a:t>
            </a:r>
            <a:r>
              <a:rPr lang="zh-CN" altLang="en-US" dirty="0"/>
              <a:t>月</a:t>
            </a:r>
            <a:r>
              <a:rPr lang="en-US" altLang="zh-CN" dirty="0"/>
              <a:t>11</a:t>
            </a:r>
            <a:r>
              <a:rPr lang="zh-CN" altLang="en-US" dirty="0"/>
              <a:t>日－</a:t>
            </a:r>
            <a:r>
              <a:rPr lang="en-US" altLang="zh-CN" dirty="0"/>
              <a:t>1903</a:t>
            </a:r>
            <a:r>
              <a:rPr lang="zh-CN" altLang="en-US" dirty="0"/>
              <a:t>年（</a:t>
            </a:r>
            <a:r>
              <a:rPr lang="zh-CN" altLang="en-US" dirty="0">
                <a:hlinkClick r:id="rId3"/>
              </a:rPr>
              <a:t>癸卯</a:t>
            </a:r>
            <a:r>
              <a:rPr lang="zh-CN" altLang="en-US" dirty="0"/>
              <a:t>年）</a:t>
            </a:r>
            <a:r>
              <a:rPr lang="en-US" altLang="zh-CN" dirty="0"/>
              <a:t>4</a:t>
            </a:r>
            <a:r>
              <a:rPr lang="zh-CN" altLang="en-US" dirty="0"/>
              <a:t>月</a:t>
            </a:r>
            <a:r>
              <a:rPr lang="en-US" altLang="zh-CN" dirty="0"/>
              <a:t>28</a:t>
            </a:r>
            <a:r>
              <a:rPr lang="zh-CN" altLang="en-US" dirty="0"/>
              <a:t>日），美国</a:t>
            </a:r>
            <a:r>
              <a:rPr lang="zh-CN" altLang="en-US" dirty="0">
                <a:hlinkClick r:id="rId4"/>
              </a:rPr>
              <a:t>物理化学</a:t>
            </a:r>
            <a:r>
              <a:rPr lang="zh-CN" altLang="en-US" dirty="0"/>
              <a:t>家、</a:t>
            </a:r>
            <a:r>
              <a:rPr lang="zh-CN" altLang="en-US" dirty="0">
                <a:hlinkClick r:id="rId5"/>
              </a:rPr>
              <a:t>数学物理</a:t>
            </a:r>
            <a:r>
              <a:rPr lang="zh-CN" altLang="en-US" dirty="0"/>
              <a:t>学家。</a:t>
            </a:r>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15</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spontaneity </a:t>
            </a:r>
            <a:r>
              <a:rPr lang="zh-CN" altLang="en-US" dirty="0"/>
              <a:t>英 </a:t>
            </a:r>
            <a:r>
              <a:rPr lang="en-US" altLang="zh-CN" dirty="0"/>
              <a:t>[ˌ</a:t>
            </a:r>
            <a:r>
              <a:rPr lang="en-US" altLang="zh-CN" dirty="0" err="1"/>
              <a:t>spɒntəˈneɪəti</a:t>
            </a:r>
            <a:r>
              <a:rPr lang="en-US" altLang="zh-CN" dirty="0"/>
              <a:t>] </a:t>
            </a:r>
            <a:r>
              <a:rPr lang="zh-CN" altLang="en-US" dirty="0"/>
              <a:t>美 </a:t>
            </a:r>
            <a:r>
              <a:rPr lang="en-US" altLang="zh-CN" dirty="0"/>
              <a:t>[ˌ</a:t>
            </a:r>
            <a:r>
              <a:rPr lang="en-US" altLang="zh-CN" dirty="0" err="1"/>
              <a:t>spɑ:ntəˈneɪəti</a:t>
            </a:r>
            <a:r>
              <a:rPr lang="en-US" altLang="zh-CN" dirty="0"/>
              <a:t>] n. </a:t>
            </a:r>
            <a:r>
              <a:rPr lang="zh-CN" altLang="en-US" dirty="0"/>
              <a:t>自发性，自然发生</a:t>
            </a:r>
            <a:r>
              <a:rPr lang="en-US" altLang="zh-CN" dirty="0"/>
              <a:t>; </a:t>
            </a:r>
            <a:r>
              <a:rPr lang="zh-CN" altLang="en-US" dirty="0"/>
              <a:t>自发行为</a:t>
            </a:r>
            <a:r>
              <a:rPr lang="en-US" altLang="zh-CN" dirty="0"/>
              <a:t>[</a:t>
            </a:r>
            <a:r>
              <a:rPr lang="zh-CN" altLang="en-US" dirty="0"/>
              <a:t>行动</a:t>
            </a:r>
            <a:r>
              <a:rPr lang="en-US" altLang="zh-CN" dirty="0"/>
              <a:t>]</a:t>
            </a:r>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18</a:t>
            </a:fld>
            <a:endParaRPr lang="zh-CN" altLang="en-US"/>
          </a:p>
        </p:txBody>
      </p:sp>
    </p:spTree>
    <p:extLst>
      <p:ext uri="{BB962C8B-B14F-4D97-AF65-F5344CB8AC3E}">
        <p14:creationId xmlns:p14="http://schemas.microsoft.com/office/powerpoint/2010/main" val="25343893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此图用来说明自由能总量不可知，而自由能变可测量。</a:t>
            </a:r>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20</a:t>
            </a:fld>
            <a:endParaRPr lang="zh-CN" altLang="en-US"/>
          </a:p>
        </p:txBody>
      </p:sp>
    </p:spTree>
    <p:extLst>
      <p:ext uri="{BB962C8B-B14F-4D97-AF65-F5344CB8AC3E}">
        <p14:creationId xmlns:p14="http://schemas.microsoft.com/office/powerpoint/2010/main" val="25387694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生命、细胞利用化学能，如何利用？有机物质氧化释放的化学能转变成了什么形式？可以举例：肌肉运动，是否要等葡萄糖糖酵解、</a:t>
            </a:r>
            <a:r>
              <a:rPr lang="en-US" altLang="zh-CN" dirty="0"/>
              <a:t>TCA</a:t>
            </a:r>
            <a:r>
              <a:rPr lang="zh-CN" altLang="en-US" dirty="0"/>
              <a:t>释放能量再做工，还是有一种更快捷的利用方式</a:t>
            </a:r>
            <a:r>
              <a:rPr lang="en-US" altLang="zh-CN" dirty="0"/>
              <a:t>?</a:t>
            </a:r>
          </a:p>
          <a:p>
            <a:endParaRPr lang="en-US" altLang="zh-CN" dirty="0"/>
          </a:p>
          <a:p>
            <a:r>
              <a:rPr lang="zh-CN" altLang="en-US" dirty="0"/>
              <a:t>以能量的形式来介绍</a:t>
            </a:r>
            <a:r>
              <a:rPr lang="en-US" altLang="zh-CN" dirty="0"/>
              <a:t>ATP</a:t>
            </a:r>
            <a:r>
              <a:rPr lang="zh-CN" altLang="en-US" dirty="0"/>
              <a:t>，能量的通用形式、能量普遍形式</a:t>
            </a:r>
            <a:endParaRPr lang="en-US" altLang="zh-CN" dirty="0"/>
          </a:p>
          <a:p>
            <a:r>
              <a:rPr lang="en-US" altLang="zh-CN" dirty="0"/>
              <a:t>ATP </a:t>
            </a:r>
            <a:r>
              <a:rPr lang="en-US" altLang="zh-CN" sz="1200" i="1" dirty="0">
                <a:sym typeface="Symbol" panose="05050102010706020507" pitchFamily="18" charset="2"/>
              </a:rPr>
              <a:t>G </a:t>
            </a:r>
            <a:r>
              <a:rPr lang="zh-CN" altLang="en-US" sz="1200" i="0" dirty="0">
                <a:sym typeface="Symbol" panose="05050102010706020507" pitchFamily="18" charset="2"/>
              </a:rPr>
              <a:t>为什么这么大 是标准的两倍？因为温度不同，有效浓度（浓度只会影响速率吧？）</a:t>
            </a:r>
            <a:r>
              <a:rPr lang="en-US" altLang="zh-CN" sz="1200" i="0" dirty="0">
                <a:sym typeface="Symbol" panose="05050102010706020507" pitchFamily="18" charset="2"/>
              </a:rPr>
              <a:t>pH</a:t>
            </a:r>
            <a:r>
              <a:rPr lang="zh-CN" altLang="en-US" sz="1200" i="0" dirty="0">
                <a:sym typeface="Symbol" panose="05050102010706020507" pitchFamily="18" charset="2"/>
              </a:rPr>
              <a:t>的差异？</a:t>
            </a:r>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21</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本词条由</a:t>
            </a:r>
            <a:r>
              <a:rPr lang="zh-CN" altLang="en-US" dirty="0">
                <a:hlinkClick r:id="rId3"/>
              </a:rPr>
              <a:t>“科普中国”百科科学词条编写与应用工作项目</a:t>
            </a:r>
            <a:r>
              <a:rPr lang="zh-CN" altLang="en-US" dirty="0"/>
              <a:t> 审核 。</a:t>
            </a:r>
          </a:p>
          <a:p>
            <a:r>
              <a:rPr lang="zh-CN" altLang="en-US" dirty="0"/>
              <a:t>磷酸肌酸是在</a:t>
            </a:r>
            <a:r>
              <a:rPr lang="zh-CN" altLang="en-US" dirty="0">
                <a:hlinkClick r:id="rId4"/>
              </a:rPr>
              <a:t>肌肉</a:t>
            </a:r>
            <a:r>
              <a:rPr lang="zh-CN" altLang="en-US" dirty="0"/>
              <a:t>或其他</a:t>
            </a:r>
            <a:r>
              <a:rPr lang="zh-CN" altLang="en-US" dirty="0">
                <a:hlinkClick r:id="rId5"/>
              </a:rPr>
              <a:t>兴奋性</a:t>
            </a:r>
            <a:r>
              <a:rPr lang="zh-CN" altLang="en-US" dirty="0">
                <a:hlinkClick r:id="rId6"/>
              </a:rPr>
              <a:t>组织</a:t>
            </a:r>
            <a:r>
              <a:rPr lang="zh-CN" altLang="en-US" dirty="0"/>
              <a:t>（如脑和</a:t>
            </a:r>
            <a:r>
              <a:rPr lang="zh-CN" altLang="en-US" dirty="0">
                <a:hlinkClick r:id="rId7"/>
              </a:rPr>
              <a:t>神经</a:t>
            </a:r>
            <a:r>
              <a:rPr lang="zh-CN" altLang="en-US" dirty="0"/>
              <a:t>）中的一种</a:t>
            </a:r>
            <a:r>
              <a:rPr lang="zh-CN" altLang="en-US" dirty="0">
                <a:hlinkClick r:id="rId8"/>
              </a:rPr>
              <a:t>高能磷酸化合物</a:t>
            </a:r>
            <a:r>
              <a:rPr lang="zh-CN" altLang="en-US" dirty="0"/>
              <a:t>，是高能</a:t>
            </a:r>
            <a:r>
              <a:rPr lang="zh-CN" altLang="en-US" dirty="0">
                <a:hlinkClick r:id="rId9"/>
              </a:rPr>
              <a:t>磷酸</a:t>
            </a:r>
            <a:r>
              <a:rPr lang="zh-CN" altLang="en-US" dirty="0"/>
              <a:t>基的暂时贮存形式。磷酸肌酸水解时，每</a:t>
            </a:r>
            <a:r>
              <a:rPr lang="zh-CN" altLang="en-US" dirty="0">
                <a:hlinkClick r:id="rId10"/>
              </a:rPr>
              <a:t>摩尔</a:t>
            </a:r>
            <a:r>
              <a:rPr lang="zh-CN" altLang="en-US" dirty="0">
                <a:hlinkClick r:id="rId11"/>
              </a:rPr>
              <a:t>化合物</a:t>
            </a:r>
            <a:r>
              <a:rPr lang="zh-CN" altLang="en-US" dirty="0"/>
              <a:t>释放</a:t>
            </a:r>
            <a:r>
              <a:rPr lang="en-US" altLang="zh-CN" dirty="0"/>
              <a:t>10.3</a:t>
            </a:r>
            <a:r>
              <a:rPr lang="zh-CN" altLang="en-US" dirty="0"/>
              <a:t>千卡的</a:t>
            </a:r>
            <a:r>
              <a:rPr lang="zh-CN" altLang="en-US" dirty="0">
                <a:hlinkClick r:id="rId12"/>
              </a:rPr>
              <a:t>自由能</a:t>
            </a:r>
            <a:r>
              <a:rPr lang="zh-CN" altLang="en-US" dirty="0"/>
              <a:t>，比</a:t>
            </a:r>
            <a:r>
              <a:rPr lang="en-US" altLang="zh-CN" dirty="0">
                <a:hlinkClick r:id="rId13"/>
              </a:rPr>
              <a:t>ATP</a:t>
            </a:r>
            <a:r>
              <a:rPr lang="zh-CN" altLang="en-US" dirty="0"/>
              <a:t>释放的</a:t>
            </a:r>
            <a:r>
              <a:rPr lang="zh-CN" altLang="en-US" dirty="0">
                <a:hlinkClick r:id="rId14"/>
              </a:rPr>
              <a:t>能量</a:t>
            </a:r>
            <a:r>
              <a:rPr lang="zh-CN" altLang="en-US" dirty="0"/>
              <a:t>（每摩尔</a:t>
            </a:r>
            <a:r>
              <a:rPr lang="en-US" altLang="zh-CN" dirty="0"/>
              <a:t>7.3</a:t>
            </a:r>
            <a:r>
              <a:rPr lang="zh-CN" altLang="en-US" dirty="0"/>
              <a:t>千卡）多些。磷酸肌酸能在</a:t>
            </a:r>
            <a:r>
              <a:rPr lang="zh-CN" altLang="en-US" dirty="0">
                <a:hlinkClick r:id="rId15"/>
              </a:rPr>
              <a:t>肌酸激酶</a:t>
            </a:r>
            <a:r>
              <a:rPr lang="zh-CN" altLang="en-US" dirty="0"/>
              <a:t>的催化下，将其磷酸基</a:t>
            </a:r>
            <a:r>
              <a:rPr lang="zh-CN" altLang="en-US" dirty="0">
                <a:hlinkClick r:id="rId16"/>
              </a:rPr>
              <a:t>转移</a:t>
            </a:r>
            <a:r>
              <a:rPr lang="zh-CN" altLang="en-US" dirty="0"/>
              <a:t>到</a:t>
            </a:r>
            <a:r>
              <a:rPr lang="en-US" altLang="zh-CN" dirty="0">
                <a:hlinkClick r:id="rId17"/>
              </a:rPr>
              <a:t>ADP</a:t>
            </a:r>
            <a:r>
              <a:rPr lang="zh-CN" altLang="en-US" dirty="0">
                <a:hlinkClick r:id="rId18"/>
              </a:rPr>
              <a:t>分子</a:t>
            </a:r>
            <a:r>
              <a:rPr lang="zh-CN" altLang="en-US" dirty="0"/>
              <a:t>中。当一些</a:t>
            </a:r>
            <a:r>
              <a:rPr lang="en-US" altLang="zh-CN" dirty="0"/>
              <a:t>ATP</a:t>
            </a:r>
            <a:r>
              <a:rPr lang="zh-CN" altLang="en-US" dirty="0"/>
              <a:t>用于</a:t>
            </a:r>
            <a:r>
              <a:rPr lang="zh-CN" altLang="en-US" dirty="0">
                <a:hlinkClick r:id="rId19"/>
              </a:rPr>
              <a:t>肌肉收缩</a:t>
            </a:r>
            <a:r>
              <a:rPr lang="zh-CN" altLang="en-US" dirty="0"/>
              <a:t>，就会产生</a:t>
            </a:r>
            <a:r>
              <a:rPr lang="en-US" altLang="zh-CN" dirty="0"/>
              <a:t>ADP</a:t>
            </a:r>
            <a:r>
              <a:rPr lang="zh-CN" altLang="en-US" dirty="0"/>
              <a:t>。这时，通过肌酸激酶的</a:t>
            </a:r>
            <a:r>
              <a:rPr lang="zh-CN" altLang="en-US" dirty="0">
                <a:hlinkClick r:id="rId20"/>
              </a:rPr>
              <a:t>作用</a:t>
            </a:r>
            <a:r>
              <a:rPr lang="zh-CN" altLang="en-US" dirty="0"/>
              <a:t>，磷酸肌酸很快供给</a:t>
            </a:r>
            <a:r>
              <a:rPr lang="en-US" altLang="zh-CN" dirty="0"/>
              <a:t>ADP</a:t>
            </a:r>
            <a:r>
              <a:rPr lang="zh-CN" altLang="en-US" dirty="0"/>
              <a:t>以磷酸基，从而恢复正常的</a:t>
            </a:r>
            <a:r>
              <a:rPr lang="en-US" altLang="zh-CN" dirty="0"/>
              <a:t>ATP</a:t>
            </a:r>
            <a:r>
              <a:rPr lang="zh-CN" altLang="en-US" dirty="0"/>
              <a:t>高水平。由于肌肉</a:t>
            </a:r>
            <a:r>
              <a:rPr lang="zh-CN" altLang="en-US" dirty="0">
                <a:hlinkClick r:id="rId21"/>
              </a:rPr>
              <a:t>细胞</a:t>
            </a:r>
            <a:r>
              <a:rPr lang="zh-CN" altLang="en-US" dirty="0"/>
              <a:t>的磷酸肌酸含量是其</a:t>
            </a:r>
            <a:r>
              <a:rPr lang="en-US" altLang="zh-CN" dirty="0"/>
              <a:t>ATP</a:t>
            </a:r>
            <a:r>
              <a:rPr lang="zh-CN" altLang="en-US" dirty="0"/>
              <a:t>含量的</a:t>
            </a:r>
            <a:r>
              <a:rPr lang="en-US" altLang="zh-CN" dirty="0"/>
              <a:t>3</a:t>
            </a:r>
            <a:r>
              <a:rPr lang="zh-CN" altLang="en-US" dirty="0"/>
              <a:t>～</a:t>
            </a:r>
            <a:r>
              <a:rPr lang="en-US" altLang="zh-CN" dirty="0"/>
              <a:t>4</a:t>
            </a:r>
            <a:r>
              <a:rPr lang="zh-CN" altLang="en-US" dirty="0"/>
              <a:t>倍，前者可贮存供</a:t>
            </a:r>
            <a:r>
              <a:rPr lang="zh-CN" altLang="en-US" dirty="0">
                <a:hlinkClick r:id="rId22"/>
              </a:rPr>
              <a:t>短期</a:t>
            </a:r>
            <a:r>
              <a:rPr lang="zh-CN" altLang="en-US" dirty="0">
                <a:hlinkClick r:id="rId23"/>
              </a:rPr>
              <a:t>活动</a:t>
            </a:r>
            <a:r>
              <a:rPr lang="zh-CN" altLang="en-US" dirty="0"/>
              <a:t>用的、足够的磷酸基。在活动后的恢复期中，积累的肌酸又可被</a:t>
            </a:r>
            <a:r>
              <a:rPr lang="en-US" altLang="zh-CN" dirty="0"/>
              <a:t>ATP</a:t>
            </a:r>
            <a:r>
              <a:rPr lang="zh-CN" altLang="en-US" dirty="0"/>
              <a:t>磷酸化，重新生成磷酸肌酸，这是同一个酶催化的逆</a:t>
            </a:r>
            <a:r>
              <a:rPr lang="zh-CN" altLang="en-US" dirty="0">
                <a:hlinkClick r:id="rId24"/>
              </a:rPr>
              <a:t>反应</a:t>
            </a:r>
            <a:r>
              <a:rPr lang="zh-CN" altLang="en-US" dirty="0"/>
              <a:t>。因为细胞中没有其他合成和</a:t>
            </a:r>
            <a:r>
              <a:rPr lang="zh-CN" altLang="en-US" dirty="0">
                <a:hlinkClick r:id="rId25"/>
              </a:rPr>
              <a:t>分解</a:t>
            </a:r>
            <a:r>
              <a:rPr lang="zh-CN" altLang="en-US" dirty="0"/>
              <a:t>磷酸肌酸的</a:t>
            </a:r>
            <a:r>
              <a:rPr lang="zh-CN" altLang="en-US" dirty="0">
                <a:hlinkClick r:id="rId26"/>
              </a:rPr>
              <a:t>代谢途径</a:t>
            </a:r>
            <a:r>
              <a:rPr lang="zh-CN" altLang="en-US" dirty="0"/>
              <a:t>，此化合物很适合完成这种暂时贮存的</a:t>
            </a:r>
            <a:r>
              <a:rPr lang="zh-CN" altLang="en-US" dirty="0">
                <a:hlinkClick r:id="rId27"/>
              </a:rPr>
              <a:t>功能</a:t>
            </a:r>
            <a:r>
              <a:rPr lang="zh-CN" altLang="en-US" dirty="0"/>
              <a:t>。在许多</a:t>
            </a:r>
            <a:r>
              <a:rPr lang="zh-CN" altLang="en-US" dirty="0">
                <a:hlinkClick r:id="rId28"/>
              </a:rPr>
              <a:t>无脊椎动物</a:t>
            </a:r>
            <a:r>
              <a:rPr lang="zh-CN" altLang="en-US" dirty="0"/>
              <a:t>中，磷酸</a:t>
            </a:r>
            <a:r>
              <a:rPr lang="zh-CN" altLang="en-US" dirty="0">
                <a:hlinkClick r:id="rId29"/>
              </a:rPr>
              <a:t>精氨酸</a:t>
            </a:r>
            <a:r>
              <a:rPr lang="zh-CN" altLang="en-US" dirty="0"/>
              <a:t>代替磷酸肌酸为能的贮存形式。可用人的短跑为例说明磷酸肌酸的功能。肌肉中磷酸肌酸的含量为</a:t>
            </a:r>
            <a:r>
              <a:rPr lang="en-US" altLang="zh-CN" dirty="0"/>
              <a:t>17</a:t>
            </a:r>
            <a:r>
              <a:rPr lang="zh-CN" altLang="en-US" dirty="0"/>
              <a:t>微摩尔</a:t>
            </a:r>
            <a:r>
              <a:rPr lang="en-US" altLang="zh-CN" dirty="0"/>
              <a:t>/</a:t>
            </a:r>
            <a:r>
              <a:rPr lang="zh-CN" altLang="en-US" dirty="0"/>
              <a:t>克，全速短跑可消耗磷酸肌酸</a:t>
            </a:r>
            <a:r>
              <a:rPr lang="en-US" altLang="zh-CN" dirty="0"/>
              <a:t>13</a:t>
            </a:r>
            <a:r>
              <a:rPr lang="zh-CN" altLang="en-US" dirty="0"/>
              <a:t>微摩尔</a:t>
            </a:r>
            <a:r>
              <a:rPr lang="en-US" altLang="zh-CN" dirty="0"/>
              <a:t>/</a:t>
            </a:r>
            <a:r>
              <a:rPr lang="zh-CN" altLang="en-US" dirty="0"/>
              <a:t>克，故它仅可作为最初</a:t>
            </a:r>
            <a:r>
              <a:rPr lang="en-US" altLang="zh-CN" dirty="0"/>
              <a:t>4</a:t>
            </a:r>
            <a:r>
              <a:rPr lang="zh-CN" altLang="en-US" dirty="0"/>
              <a:t>秒钟的能量来源，但它可提供时间来调节</a:t>
            </a:r>
            <a:r>
              <a:rPr lang="zh-CN" altLang="en-US" dirty="0">
                <a:hlinkClick r:id="rId30"/>
              </a:rPr>
              <a:t>糖酵解</a:t>
            </a:r>
            <a:r>
              <a:rPr lang="zh-CN" altLang="en-US" dirty="0"/>
              <a:t>酶的活性，使肌肉通过酵解得到能量。</a:t>
            </a:r>
          </a:p>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22</a:t>
            </a:fld>
            <a:endParaRPr lang="zh-CN" altLang="en-US"/>
          </a:p>
        </p:txBody>
      </p:sp>
    </p:spTree>
    <p:extLst>
      <p:ext uri="{BB962C8B-B14F-4D97-AF65-F5344CB8AC3E}">
        <p14:creationId xmlns:p14="http://schemas.microsoft.com/office/powerpoint/2010/main" val="10517300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anhydride</a:t>
            </a:r>
            <a:r>
              <a:rPr lang="zh-CN" altLang="en-US" sz="1200" b="0" i="0" kern="1200" dirty="0">
                <a:solidFill>
                  <a:schemeClr val="tx1"/>
                </a:solidFill>
                <a:effectLst/>
                <a:latin typeface="+mn-lt"/>
                <a:ea typeface="+mn-ea"/>
                <a:cs typeface="+mn-cs"/>
              </a:rPr>
              <a:t>英</a:t>
            </a:r>
            <a:r>
              <a:rPr lang="en-US" altLang="zh-CN"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æn'haɪˌdraɪd</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美</a:t>
            </a:r>
            <a:r>
              <a:rPr lang="en-US" altLang="zh-CN"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æn'haɪˌdraɪd</a:t>
            </a:r>
            <a:r>
              <a:rPr lang="en-US" altLang="zh-CN" sz="1200" b="0" i="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n.</a:t>
            </a:r>
            <a:r>
              <a:rPr lang="zh-CN" altLang="en-US" sz="1200" kern="1200" dirty="0">
                <a:solidFill>
                  <a:schemeClr val="tx1"/>
                </a:solidFill>
                <a:effectLst/>
                <a:latin typeface="+mn-lt"/>
                <a:ea typeface="+mn-ea"/>
                <a:cs typeface="+mn-cs"/>
              </a:rPr>
              <a:t>酐</a:t>
            </a:r>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23</a:t>
            </a:fld>
            <a:endParaRPr lang="zh-CN" altLang="en-US"/>
          </a:p>
        </p:txBody>
      </p:sp>
    </p:spTree>
    <p:extLst>
      <p:ext uri="{BB962C8B-B14F-4D97-AF65-F5344CB8AC3E}">
        <p14:creationId xmlns:p14="http://schemas.microsoft.com/office/powerpoint/2010/main" val="12944945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这个图比喻成水利发电来讲解，水自高向低，势能下降</a:t>
            </a:r>
            <a:r>
              <a:rPr lang="zh-CN" altLang="en-US" baseline="0" dirty="0"/>
              <a:t> 转化为</a:t>
            </a:r>
            <a:r>
              <a:rPr lang="en-US" altLang="zh-CN" baseline="0" dirty="0"/>
              <a:t>ATP</a:t>
            </a:r>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24</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phosphocreatine </a:t>
            </a:r>
            <a:r>
              <a:rPr lang="zh-CN" altLang="en-US" dirty="0"/>
              <a:t>英 </a:t>
            </a:r>
            <a:r>
              <a:rPr lang="en-US" altLang="zh-CN" dirty="0"/>
              <a:t>[</a:t>
            </a:r>
            <a:r>
              <a:rPr lang="en-US" altLang="zh-CN" dirty="0" err="1"/>
              <a:t>fɒsfəʊ'kri:əti:n</a:t>
            </a:r>
            <a:r>
              <a:rPr lang="en-US" altLang="zh-CN" dirty="0"/>
              <a:t>] </a:t>
            </a:r>
            <a:r>
              <a:rPr lang="zh-CN" altLang="en-US" dirty="0"/>
              <a:t>美 </a:t>
            </a:r>
            <a:r>
              <a:rPr lang="en-US" altLang="zh-CN" dirty="0"/>
              <a:t>[ˌ</a:t>
            </a:r>
            <a:r>
              <a:rPr lang="en-US" altLang="zh-CN" dirty="0" err="1"/>
              <a:t>fɒsfoʊ'kri:əˌti:n</a:t>
            </a:r>
            <a:r>
              <a:rPr lang="en-US" altLang="zh-CN" dirty="0"/>
              <a:t>]  n. </a:t>
            </a:r>
            <a:r>
              <a:rPr lang="zh-CN" altLang="en-US" dirty="0"/>
              <a:t>磷酸肌酸</a:t>
            </a:r>
            <a:endParaRPr lang="en-US" altLang="zh-CN" dirty="0"/>
          </a:p>
          <a:p>
            <a:r>
              <a:rPr lang="en-US" altLang="zh-CN" dirty="0"/>
              <a:t>phosphoglycerate </a:t>
            </a:r>
            <a:r>
              <a:rPr lang="zh-CN" altLang="en-US" dirty="0"/>
              <a:t>英 </a:t>
            </a:r>
            <a:r>
              <a:rPr lang="en-US" altLang="zh-CN" dirty="0"/>
              <a:t>[</a:t>
            </a:r>
            <a:r>
              <a:rPr lang="en-US" altLang="zh-CN" dirty="0" err="1"/>
              <a:t>fɒsfə'glɪsəreɪt</a:t>
            </a:r>
            <a:r>
              <a:rPr lang="en-US" altLang="zh-CN" dirty="0"/>
              <a:t>] </a:t>
            </a:r>
            <a:r>
              <a:rPr lang="zh-CN" altLang="en-US" dirty="0"/>
              <a:t>美 </a:t>
            </a:r>
            <a:r>
              <a:rPr lang="en-US" altLang="zh-CN" dirty="0"/>
              <a:t>[</a:t>
            </a:r>
            <a:r>
              <a:rPr lang="en-US" altLang="zh-CN" dirty="0" err="1"/>
              <a:t>fɒsfə'glɪsəreɪt</a:t>
            </a:r>
            <a:r>
              <a:rPr lang="en-US" altLang="zh-CN" dirty="0"/>
              <a:t>] n. </a:t>
            </a:r>
            <a:r>
              <a:rPr lang="zh-CN" altLang="en-US" dirty="0"/>
              <a:t>磷酸甘油酸盐</a:t>
            </a:r>
            <a:r>
              <a:rPr lang="en-US" altLang="zh-CN" dirty="0"/>
              <a:t>[</a:t>
            </a:r>
            <a:r>
              <a:rPr lang="zh-CN" altLang="en-US" dirty="0"/>
              <a:t>酯</a:t>
            </a:r>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25</a:t>
            </a:fld>
            <a:endParaRPr lang="zh-CN" altLang="en-US"/>
          </a:p>
        </p:txBody>
      </p:sp>
    </p:spTree>
    <p:extLst>
      <p:ext uri="{BB962C8B-B14F-4D97-AF65-F5344CB8AC3E}">
        <p14:creationId xmlns:p14="http://schemas.microsoft.com/office/powerpoint/2010/main" val="36334569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atinLnBrk="1"/>
            <a:r>
              <a:rPr lang="en-US" sz="1200" kern="1200" dirty="0" err="1">
                <a:solidFill>
                  <a:schemeClr val="tx1"/>
                </a:solidFill>
                <a:latin typeface="+mn-lt"/>
                <a:ea typeface="+mn-ea"/>
                <a:cs typeface="+mn-cs"/>
              </a:rPr>
              <a:t>hydrocarbon英</a:t>
            </a:r>
            <a:r>
              <a:rPr lang="en-US" sz="1200" kern="1200" dirty="0">
                <a:solidFill>
                  <a:schemeClr val="tx1"/>
                </a:solidFill>
                <a:latin typeface="+mn-lt"/>
                <a:ea typeface="+mn-ea"/>
                <a:cs typeface="+mn-cs"/>
              </a:rPr>
              <a:t> [ˌ</a:t>
            </a:r>
            <a:r>
              <a:rPr lang="en-US" sz="1200" kern="1200" dirty="0" err="1">
                <a:solidFill>
                  <a:schemeClr val="tx1"/>
                </a:solidFill>
                <a:latin typeface="+mn-lt"/>
                <a:ea typeface="+mn-ea"/>
                <a:cs typeface="+mn-cs"/>
              </a:rPr>
              <a:t>haɪdrəˈkɑ:bən</a:t>
            </a:r>
            <a:r>
              <a:rPr lang="en-US" sz="1200" kern="1200" dirty="0">
                <a:solidFill>
                  <a:schemeClr val="tx1"/>
                </a:solidFill>
                <a:latin typeface="+mn-lt"/>
                <a:ea typeface="+mn-ea"/>
                <a:cs typeface="+mn-cs"/>
              </a:rPr>
              <a:t>] 美 [ˌ</a:t>
            </a:r>
            <a:r>
              <a:rPr lang="en-US" sz="1200" kern="1200" dirty="0" err="1">
                <a:solidFill>
                  <a:schemeClr val="tx1"/>
                </a:solidFill>
                <a:latin typeface="+mn-lt"/>
                <a:ea typeface="+mn-ea"/>
                <a:cs typeface="+mn-cs"/>
              </a:rPr>
              <a:t>haɪdrəˈkɑ:rbən</a:t>
            </a:r>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n.</a:t>
            </a:r>
            <a:r>
              <a:rPr lang="en-US" sz="1200" u="none" strike="noStrike" kern="1200" dirty="0">
                <a:solidFill>
                  <a:schemeClr val="tx1"/>
                </a:solidFill>
                <a:latin typeface="+mn-lt"/>
                <a:ea typeface="+mn-ea"/>
                <a:cs typeface="+mn-cs"/>
              </a:rPr>
              <a:t> &lt;化&gt;</a:t>
            </a:r>
            <a:r>
              <a:rPr lang="en-US" sz="1200" u="none" strike="noStrike" kern="1200" dirty="0" err="1">
                <a:solidFill>
                  <a:schemeClr val="tx1"/>
                </a:solidFill>
                <a:latin typeface="+mn-lt"/>
                <a:ea typeface="+mn-ea"/>
                <a:cs typeface="+mn-cs"/>
              </a:rPr>
              <a:t>碳氢化合物，烃</a:t>
            </a:r>
            <a:endParaRPr lang="en-US" sz="1200" u="none" strike="noStrike" kern="1200" dirty="0">
              <a:solidFill>
                <a:schemeClr val="tx1"/>
              </a:solidFill>
              <a:latin typeface="+mn-lt"/>
              <a:ea typeface="+mn-ea"/>
              <a:cs typeface="+mn-cs"/>
            </a:endParaRPr>
          </a:p>
          <a:p>
            <a:endParaRPr lang="en-US" altLang="zh-CN" sz="1200" u="none" strike="noStrike" kern="1200" dirty="0">
              <a:solidFill>
                <a:schemeClr val="tx1"/>
              </a:solidFill>
              <a:latin typeface="+mn-lt"/>
              <a:ea typeface="+mn-ea"/>
              <a:cs typeface="+mn-cs"/>
            </a:endParaRPr>
          </a:p>
          <a:p>
            <a:r>
              <a:rPr lang="en-US" altLang="zh-CN" sz="1200" b="0" i="0" kern="1200" dirty="0">
                <a:solidFill>
                  <a:schemeClr val="tx1"/>
                </a:solidFill>
                <a:effectLst/>
                <a:latin typeface="+mn-lt"/>
                <a:ea typeface="+mn-ea"/>
                <a:cs typeface="+mn-cs"/>
              </a:rPr>
              <a:t>alkyl</a:t>
            </a:r>
          </a:p>
          <a:p>
            <a:pPr latinLnBrk="1"/>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英</a:t>
            </a:r>
            <a:r>
              <a:rPr lang="en-US" altLang="zh-CN" sz="1200" b="0" i="0" kern="1200" dirty="0">
                <a:solidFill>
                  <a:schemeClr val="tx1"/>
                </a:solidFill>
                <a:effectLst/>
                <a:latin typeface="+mn-lt"/>
                <a:ea typeface="+mn-ea"/>
                <a:cs typeface="+mn-cs"/>
              </a:rPr>
              <a:t>] ['</a:t>
            </a:r>
            <a:r>
              <a:rPr lang="en-US" altLang="zh-CN" sz="1200" b="0" i="0" kern="1200" dirty="0" err="1">
                <a:solidFill>
                  <a:schemeClr val="tx1"/>
                </a:solidFill>
                <a:effectLst/>
                <a:latin typeface="+mn-lt"/>
                <a:ea typeface="+mn-ea"/>
                <a:cs typeface="+mn-cs"/>
              </a:rPr>
              <a:t>ælkɪl</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美</a:t>
            </a:r>
            <a:r>
              <a:rPr lang="en-US" altLang="zh-CN" sz="1200" b="0" i="0" kern="1200" dirty="0">
                <a:solidFill>
                  <a:schemeClr val="tx1"/>
                </a:solidFill>
                <a:effectLst/>
                <a:latin typeface="+mn-lt"/>
                <a:ea typeface="+mn-ea"/>
                <a:cs typeface="+mn-cs"/>
              </a:rPr>
              <a:t>] ['</a:t>
            </a:r>
            <a:r>
              <a:rPr lang="en-US" altLang="zh-CN" sz="1200" b="0" i="0" kern="1200" dirty="0" err="1">
                <a:solidFill>
                  <a:schemeClr val="tx1"/>
                </a:solidFill>
                <a:effectLst/>
                <a:latin typeface="+mn-lt"/>
                <a:ea typeface="+mn-ea"/>
                <a:cs typeface="+mn-cs"/>
              </a:rPr>
              <a:t>ælkɪl</a:t>
            </a:r>
            <a:r>
              <a:rPr lang="en-US" altLang="zh-CN" sz="1200" b="0" i="0" kern="1200" dirty="0">
                <a:solidFill>
                  <a:schemeClr val="tx1"/>
                </a:solidFill>
                <a:effectLst/>
                <a:latin typeface="+mn-lt"/>
                <a:ea typeface="+mn-ea"/>
                <a:cs typeface="+mn-cs"/>
              </a:rPr>
              <a:t>]</a:t>
            </a:r>
          </a:p>
          <a:p>
            <a:r>
              <a:rPr lang="en-US" altLang="zh-CN" sz="1200" b="0" i="0" kern="1200" dirty="0">
                <a:solidFill>
                  <a:schemeClr val="tx1"/>
                </a:solidFill>
                <a:effectLst/>
                <a:latin typeface="+mn-lt"/>
                <a:ea typeface="+mn-ea"/>
                <a:cs typeface="+mn-cs"/>
              </a:rPr>
              <a:t>n.</a:t>
            </a:r>
            <a:r>
              <a:rPr lang="zh-CN" altLang="en-US" sz="1200" b="0" i="0" kern="1200" dirty="0">
                <a:solidFill>
                  <a:schemeClr val="tx1"/>
                </a:solidFill>
                <a:effectLst/>
                <a:latin typeface="+mn-lt"/>
                <a:ea typeface="+mn-ea"/>
                <a:cs typeface="+mn-cs"/>
              </a:rPr>
              <a:t>烷基，烃基；</a:t>
            </a:r>
          </a:p>
          <a:p>
            <a:r>
              <a:rPr lang="en-US" altLang="zh-CN" sz="1200" b="0" i="0" kern="1200" dirty="0">
                <a:solidFill>
                  <a:schemeClr val="tx1"/>
                </a:solidFill>
                <a:effectLst/>
                <a:latin typeface="+mn-lt"/>
                <a:ea typeface="+mn-ea"/>
                <a:cs typeface="+mn-cs"/>
              </a:rPr>
              <a:t>adj.</a:t>
            </a:r>
            <a:r>
              <a:rPr lang="zh-CN" altLang="en-US" sz="1200" b="0" i="0" kern="1200" dirty="0">
                <a:solidFill>
                  <a:schemeClr val="tx1"/>
                </a:solidFill>
                <a:effectLst/>
                <a:latin typeface="+mn-lt"/>
                <a:ea typeface="+mn-ea"/>
                <a:cs typeface="+mn-cs"/>
              </a:rPr>
              <a:t>烷基的，烃基的；</a:t>
            </a:r>
          </a:p>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30</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atinLnBrk="1"/>
            <a:r>
              <a:rPr lang="en-US" sz="1200" kern="1200" dirty="0" err="1">
                <a:solidFill>
                  <a:schemeClr val="tx1"/>
                </a:solidFill>
                <a:latin typeface="+mn-lt"/>
                <a:ea typeface="+mn-ea"/>
                <a:cs typeface="+mn-cs"/>
              </a:rPr>
              <a:t>hydride英</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haɪdraɪd</a:t>
            </a:r>
            <a:r>
              <a:rPr lang="en-US" sz="1200" kern="1200" dirty="0">
                <a:solidFill>
                  <a:schemeClr val="tx1"/>
                </a:solidFill>
                <a:latin typeface="+mn-lt"/>
                <a:ea typeface="+mn-ea"/>
                <a:cs typeface="+mn-cs"/>
              </a:rPr>
              <a:t>] 美 ['</a:t>
            </a:r>
            <a:r>
              <a:rPr lang="en-US" sz="1200" kern="1200" dirty="0" err="1">
                <a:solidFill>
                  <a:schemeClr val="tx1"/>
                </a:solidFill>
                <a:latin typeface="+mn-lt"/>
                <a:ea typeface="+mn-ea"/>
                <a:cs typeface="+mn-cs"/>
              </a:rPr>
              <a:t>haɪdraɪd</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n.</a:t>
            </a:r>
            <a:r>
              <a:rPr lang="en-US" sz="1200" u="none" strike="noStrike" kern="1200" dirty="0" err="1">
                <a:solidFill>
                  <a:schemeClr val="tx1"/>
                </a:solidFill>
                <a:latin typeface="+mn-lt"/>
                <a:ea typeface="+mn-ea"/>
                <a:cs typeface="+mn-cs"/>
              </a:rPr>
              <a:t>氢化物</a:t>
            </a:r>
            <a:endParaRPr lang="en-US" sz="1200" u="none" strike="noStrike" kern="1200" dirty="0">
              <a:solidFill>
                <a:schemeClr val="tx1"/>
              </a:solidFill>
              <a:latin typeface="+mn-lt"/>
              <a:ea typeface="+mn-ea"/>
              <a:cs typeface="+mn-cs"/>
            </a:endParaRPr>
          </a:p>
          <a:p>
            <a:pPr latinLnBrk="1"/>
            <a:r>
              <a:rPr lang="en-US" sz="1200" kern="1200" dirty="0">
                <a:solidFill>
                  <a:schemeClr val="tx1"/>
                </a:solidFill>
                <a:latin typeface="+mn-lt"/>
                <a:ea typeface="+mn-ea"/>
                <a:cs typeface="+mn-cs"/>
              </a:rPr>
              <a:t>hydride </a:t>
            </a:r>
            <a:r>
              <a:rPr lang="en-US" sz="1200" kern="1200" dirty="0" err="1">
                <a:solidFill>
                  <a:schemeClr val="tx1"/>
                </a:solidFill>
                <a:latin typeface="+mn-lt"/>
                <a:ea typeface="+mn-ea"/>
                <a:cs typeface="+mn-cs"/>
              </a:rPr>
              <a:t>ion英</a:t>
            </a:r>
            <a:r>
              <a:rPr lang="en-US" sz="1200" kern="1200" dirty="0">
                <a:solidFill>
                  <a:schemeClr val="tx1"/>
                </a:solidFill>
                <a:latin typeface="+mn-lt"/>
                <a:ea typeface="+mn-ea"/>
                <a:cs typeface="+mn-cs"/>
              </a:rPr>
              <a:t> [ˈ</a:t>
            </a:r>
            <a:r>
              <a:rPr lang="en-US" sz="1200" kern="1200" dirty="0" err="1">
                <a:solidFill>
                  <a:schemeClr val="tx1"/>
                </a:solidFill>
                <a:latin typeface="+mn-lt"/>
                <a:ea typeface="+mn-ea"/>
                <a:cs typeface="+mn-cs"/>
              </a:rPr>
              <a:t>haidraid</a:t>
            </a:r>
            <a:r>
              <a:rPr lang="en-US" sz="1200" kern="1200" dirty="0">
                <a:solidFill>
                  <a:schemeClr val="tx1"/>
                </a:solidFill>
                <a:latin typeface="+mn-lt"/>
                <a:ea typeface="+mn-ea"/>
                <a:cs typeface="+mn-cs"/>
              </a:rPr>
              <a:t> ˈ</a:t>
            </a:r>
            <a:r>
              <a:rPr lang="en-US" sz="1200" kern="1200" dirty="0" err="1">
                <a:solidFill>
                  <a:schemeClr val="tx1"/>
                </a:solidFill>
                <a:latin typeface="+mn-lt"/>
                <a:ea typeface="+mn-ea"/>
                <a:cs typeface="+mn-cs"/>
              </a:rPr>
              <a:t>aɪən</a:t>
            </a:r>
            <a:r>
              <a:rPr lang="en-US" sz="1200" kern="1200" dirty="0">
                <a:solidFill>
                  <a:schemeClr val="tx1"/>
                </a:solidFill>
                <a:latin typeface="+mn-lt"/>
                <a:ea typeface="+mn-ea"/>
                <a:cs typeface="+mn-cs"/>
              </a:rPr>
              <a:t>] 美 [ˈ</a:t>
            </a:r>
            <a:r>
              <a:rPr lang="en-US" sz="1200" kern="1200" dirty="0" err="1">
                <a:solidFill>
                  <a:schemeClr val="tx1"/>
                </a:solidFill>
                <a:latin typeface="+mn-lt"/>
                <a:ea typeface="+mn-ea"/>
                <a:cs typeface="+mn-cs"/>
              </a:rPr>
              <a:t>haɪˌdraɪd</a:t>
            </a:r>
            <a:r>
              <a:rPr lang="en-US" sz="1200" kern="1200" dirty="0">
                <a:solidFill>
                  <a:schemeClr val="tx1"/>
                </a:solidFill>
                <a:latin typeface="+mn-lt"/>
                <a:ea typeface="+mn-ea"/>
                <a:cs typeface="+mn-cs"/>
              </a:rPr>
              <a:t> ˈ</a:t>
            </a:r>
            <a:r>
              <a:rPr lang="en-US" sz="1200" kern="1200" dirty="0" err="1">
                <a:solidFill>
                  <a:schemeClr val="tx1"/>
                </a:solidFill>
                <a:latin typeface="+mn-lt"/>
                <a:ea typeface="+mn-ea"/>
                <a:cs typeface="+mn-cs"/>
              </a:rPr>
              <a:t>aɪən</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词典</a:t>
            </a:r>
            <a:r>
              <a:rPr lang="en-US" sz="1200" kern="1200" dirty="0">
                <a:solidFill>
                  <a:schemeClr val="tx1"/>
                </a:solidFill>
                <a:latin typeface="+mn-lt"/>
                <a:ea typeface="+mn-ea"/>
                <a:cs typeface="+mn-cs"/>
              </a:rPr>
              <a:t>]</a:t>
            </a:r>
            <a:r>
              <a:rPr lang="en-US" sz="1200" u="none" strike="noStrike" kern="1200" dirty="0" err="1">
                <a:solidFill>
                  <a:schemeClr val="tx1"/>
                </a:solidFill>
                <a:latin typeface="+mn-lt"/>
                <a:ea typeface="+mn-ea"/>
                <a:cs typeface="+mn-cs"/>
              </a:rPr>
              <a:t>氢阴离子，带一对电子的质子</a:t>
            </a:r>
            <a:endParaRPr lang="en-US" sz="1200" u="none" strike="noStrike" kern="1200" dirty="0">
              <a:solidFill>
                <a:schemeClr val="tx1"/>
              </a:solidFill>
              <a:latin typeface="+mn-lt"/>
              <a:ea typeface="+mn-ea"/>
              <a:cs typeface="+mn-cs"/>
            </a:endParaRPr>
          </a:p>
          <a:p>
            <a:pPr latinLnBrk="1"/>
            <a:endParaRPr lang="en-US" altLang="zh-CN" sz="1200" u="none" strike="noStrike" kern="1200" dirty="0">
              <a:solidFill>
                <a:schemeClr val="tx1"/>
              </a:solidFill>
              <a:latin typeface="+mn-lt"/>
              <a:ea typeface="+mn-ea"/>
              <a:cs typeface="+mn-cs"/>
            </a:endParaRPr>
          </a:p>
          <a:p>
            <a:pPr latinLnBrk="1"/>
            <a:r>
              <a:rPr lang="zh-CN" altLang="en-US" sz="1200" u="none" strike="noStrike" kern="1200" dirty="0">
                <a:solidFill>
                  <a:schemeClr val="tx1"/>
                </a:solidFill>
                <a:latin typeface="+mn-lt"/>
                <a:ea typeface="+mn-ea"/>
                <a:cs typeface="+mn-cs"/>
              </a:rPr>
              <a:t>脱氢酶脱氢是否可以理解为电子以</a:t>
            </a:r>
            <a:r>
              <a:rPr lang="en-US" altLang="zh-CN" sz="1200" u="none" strike="noStrike" kern="1200" dirty="0">
                <a:solidFill>
                  <a:schemeClr val="tx1"/>
                </a:solidFill>
                <a:latin typeface="+mn-lt"/>
                <a:ea typeface="+mn-ea"/>
                <a:cs typeface="+mn-cs"/>
              </a:rPr>
              <a:t>hydrogen</a:t>
            </a:r>
            <a:r>
              <a:rPr lang="en-US" altLang="zh-CN" sz="1200" u="none" strike="noStrike" kern="1200" baseline="0" dirty="0">
                <a:solidFill>
                  <a:schemeClr val="tx1"/>
                </a:solidFill>
                <a:latin typeface="+mn-lt"/>
                <a:ea typeface="+mn-ea"/>
                <a:cs typeface="+mn-cs"/>
              </a:rPr>
              <a:t> atom</a:t>
            </a:r>
            <a:r>
              <a:rPr lang="zh-CN" altLang="en-US" sz="1200" u="none" strike="noStrike" kern="1200" baseline="0" dirty="0">
                <a:solidFill>
                  <a:schemeClr val="tx1"/>
                </a:solidFill>
                <a:latin typeface="+mn-lt"/>
                <a:ea typeface="+mn-ea"/>
                <a:cs typeface="+mn-cs"/>
              </a:rPr>
              <a:t>的形式传递。</a:t>
            </a:r>
            <a:endParaRPr lang="en-US" altLang="zh-CN" sz="1200" u="none" strike="noStrike" kern="1200" dirty="0">
              <a:solidFill>
                <a:schemeClr val="tx1"/>
              </a:solidFill>
              <a:latin typeface="+mn-lt"/>
              <a:ea typeface="+mn-ea"/>
              <a:cs typeface="+mn-cs"/>
            </a:endParaRPr>
          </a:p>
          <a:p>
            <a:r>
              <a:rPr lang="zh-CN" altLang="en-US" b="1" dirty="0"/>
              <a:t>氢负离子</a:t>
            </a:r>
          </a:p>
          <a:p>
            <a:r>
              <a:rPr lang="zh-CN" altLang="en-US" dirty="0"/>
              <a:t>编辑 </a:t>
            </a:r>
            <a:r>
              <a:rPr lang="zh-CN" altLang="en-US" dirty="0">
                <a:hlinkClick r:id="rId3" tooltip="锁定"/>
              </a:rPr>
              <a:t>锁定</a:t>
            </a:r>
            <a:r>
              <a:rPr lang="zh-CN" altLang="en-US" dirty="0"/>
              <a:t> </a:t>
            </a:r>
          </a:p>
          <a:p>
            <a:r>
              <a:rPr lang="zh-CN" altLang="en-US" dirty="0"/>
              <a:t>氢负离子也称负氢离子（</a:t>
            </a:r>
            <a:r>
              <a:rPr lang="en-US" altLang="zh-CN" dirty="0"/>
              <a:t>H</a:t>
            </a:r>
            <a:r>
              <a:rPr lang="zh-CN" altLang="en-US" dirty="0"/>
              <a:t>－），又称为氢化离子，直到最近它才被纳入</a:t>
            </a:r>
            <a:r>
              <a:rPr lang="zh-CN" altLang="en-US" dirty="0">
                <a:hlinkClick r:id="rId4"/>
              </a:rPr>
              <a:t>等离子体物理学</a:t>
            </a:r>
            <a:r>
              <a:rPr lang="zh-CN" altLang="en-US" dirty="0"/>
              <a:t>的范畴。这种状态的氢，其原子上多带了一个电子，因而带负电，成为负离子。在地球表面常温常压的条件下，</a:t>
            </a:r>
            <a:r>
              <a:rPr lang="en-US" altLang="zh-CN" dirty="0"/>
              <a:t>H</a:t>
            </a:r>
            <a:r>
              <a:rPr lang="zh-CN" altLang="en-US" dirty="0"/>
              <a:t>－极不稳定，主要存在于实验室里的</a:t>
            </a:r>
            <a:r>
              <a:rPr lang="zh-CN" altLang="en-US" dirty="0">
                <a:hlinkClick r:id="rId5"/>
              </a:rPr>
              <a:t>等离子体</a:t>
            </a:r>
            <a:r>
              <a:rPr lang="zh-CN" altLang="en-US" dirty="0"/>
              <a:t>和各种星体（包括太阳）的内部，其寿命只有几毫微秒</a:t>
            </a:r>
          </a:p>
          <a:p>
            <a:pPr latinLnBrk="1"/>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31</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nicotinamide</a:t>
            </a:r>
          </a:p>
          <a:p>
            <a:r>
              <a:rPr lang="zh-CN" altLang="en-US" sz="1200" b="0" i="0" kern="1200" dirty="0">
                <a:solidFill>
                  <a:schemeClr val="tx1"/>
                </a:solidFill>
                <a:effectLst/>
                <a:latin typeface="+mn-lt"/>
                <a:ea typeface="+mn-ea"/>
                <a:cs typeface="+mn-cs"/>
              </a:rPr>
              <a:t>英 </a:t>
            </a:r>
            <a:r>
              <a:rPr lang="en-US" altLang="zh-CN"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nɪkə'tɪnəmaɪd</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美 </a:t>
            </a:r>
            <a:r>
              <a:rPr lang="en-US" altLang="zh-CN" sz="1200" b="0" i="0" kern="1200" dirty="0">
                <a:solidFill>
                  <a:schemeClr val="tx1"/>
                </a:solidFill>
                <a:effectLst/>
                <a:latin typeface="+mn-lt"/>
                <a:ea typeface="+mn-ea"/>
                <a:cs typeface="+mn-cs"/>
              </a:rPr>
              <a:t>[ˌ</a:t>
            </a:r>
            <a:r>
              <a:rPr lang="en-US" altLang="zh-CN" sz="1200" b="0" i="0" kern="1200" dirty="0" err="1">
                <a:solidFill>
                  <a:schemeClr val="tx1"/>
                </a:solidFill>
                <a:effectLst/>
                <a:latin typeface="+mn-lt"/>
                <a:ea typeface="+mn-ea"/>
                <a:cs typeface="+mn-cs"/>
              </a:rPr>
              <a:t>nɪkəˌtɪnəˌmaɪd</a:t>
            </a:r>
            <a:r>
              <a:rPr lang="en-US" altLang="zh-CN" sz="1200" b="0" i="0" kern="1200" dirty="0">
                <a:solidFill>
                  <a:schemeClr val="tx1"/>
                </a:solidFill>
                <a:effectLst/>
                <a:latin typeface="+mn-lt"/>
                <a:ea typeface="+mn-ea"/>
                <a:cs typeface="+mn-cs"/>
              </a:rPr>
              <a:t>] </a:t>
            </a:r>
          </a:p>
          <a:p>
            <a:r>
              <a:rPr lang="en-US" altLang="zh-CN" sz="1200" b="0" i="0" kern="1200" dirty="0">
                <a:solidFill>
                  <a:schemeClr val="tx1"/>
                </a:solidFill>
                <a:effectLst/>
                <a:latin typeface="+mn-lt"/>
                <a:ea typeface="+mn-ea"/>
                <a:cs typeface="+mn-cs"/>
              </a:rPr>
              <a:t>n.</a:t>
            </a:r>
            <a:r>
              <a:rPr lang="zh-CN" altLang="en-US" sz="1200" b="0" i="0" kern="1200" dirty="0">
                <a:solidFill>
                  <a:schemeClr val="tx1"/>
                </a:solidFill>
                <a:effectLst/>
                <a:latin typeface="+mn-lt"/>
                <a:ea typeface="+mn-ea"/>
                <a:cs typeface="+mn-cs"/>
              </a:rPr>
              <a:t>烟碱； 维生素</a:t>
            </a:r>
            <a:r>
              <a:rPr lang="en-US" altLang="zh-CN" sz="1200" b="0" i="0" kern="1200" dirty="0">
                <a:solidFill>
                  <a:schemeClr val="tx1"/>
                </a:solidFill>
                <a:effectLst/>
                <a:latin typeface="+mn-lt"/>
                <a:ea typeface="+mn-ea"/>
                <a:cs typeface="+mn-cs"/>
              </a:rPr>
              <a:t>PP</a:t>
            </a:r>
            <a:r>
              <a:rPr lang="zh-CN" altLang="en-US" sz="1200" b="0" i="0" kern="1200" dirty="0">
                <a:solidFill>
                  <a:schemeClr val="tx1"/>
                </a:solidFill>
                <a:effectLst/>
                <a:latin typeface="+mn-lt"/>
                <a:ea typeface="+mn-ea"/>
                <a:cs typeface="+mn-cs"/>
              </a:rPr>
              <a:t>； 维生素</a:t>
            </a:r>
            <a:r>
              <a:rPr lang="en-US" altLang="zh-CN" sz="1200" b="0" i="0" kern="1200" dirty="0">
                <a:solidFill>
                  <a:schemeClr val="tx1"/>
                </a:solidFill>
                <a:effectLst/>
                <a:latin typeface="+mn-lt"/>
                <a:ea typeface="+mn-ea"/>
                <a:cs typeface="+mn-cs"/>
              </a:rPr>
              <a:t>B5</a:t>
            </a:r>
          </a:p>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32</a:t>
            </a:fld>
            <a:endParaRPr lang="zh-CN" altLang="en-US"/>
          </a:p>
        </p:txBody>
      </p:sp>
    </p:spTree>
    <p:extLst>
      <p:ext uri="{BB962C8B-B14F-4D97-AF65-F5344CB8AC3E}">
        <p14:creationId xmlns:p14="http://schemas.microsoft.com/office/powerpoint/2010/main" val="38173046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reduction potential </a:t>
            </a:r>
            <a:r>
              <a:rPr lang="zh-CN" altLang="en-US" dirty="0"/>
              <a:t>英 </a:t>
            </a:r>
            <a:r>
              <a:rPr lang="en-US" altLang="zh-CN" dirty="0"/>
              <a:t>[</a:t>
            </a:r>
            <a:r>
              <a:rPr lang="en-US" altLang="zh-CN" dirty="0" err="1"/>
              <a:t>riˈdʌkʃən</a:t>
            </a:r>
            <a:r>
              <a:rPr lang="en-US" altLang="zh-CN" dirty="0"/>
              <a:t> </a:t>
            </a:r>
            <a:r>
              <a:rPr lang="en-US" altLang="zh-CN" dirty="0" err="1"/>
              <a:t>pəˈtenʃəl</a:t>
            </a:r>
            <a:r>
              <a:rPr lang="en-US" altLang="zh-CN" dirty="0"/>
              <a:t>] </a:t>
            </a:r>
            <a:r>
              <a:rPr lang="zh-CN" altLang="en-US" dirty="0"/>
              <a:t>美 </a:t>
            </a:r>
            <a:r>
              <a:rPr lang="en-US" altLang="zh-CN" dirty="0"/>
              <a:t>[</a:t>
            </a:r>
            <a:r>
              <a:rPr lang="en-US" altLang="zh-CN" dirty="0" err="1"/>
              <a:t>rɪˈdʌkʃən</a:t>
            </a:r>
            <a:r>
              <a:rPr lang="en-US" altLang="zh-CN" dirty="0"/>
              <a:t> </a:t>
            </a:r>
            <a:r>
              <a:rPr lang="en-US" altLang="zh-CN" dirty="0" err="1"/>
              <a:t>pəˈtɛnʃəl</a:t>
            </a:r>
            <a:r>
              <a:rPr lang="en-US" altLang="zh-CN" dirty="0"/>
              <a:t>] </a:t>
            </a:r>
          </a:p>
          <a:p>
            <a:r>
              <a:rPr lang="en-US" altLang="zh-CN" dirty="0"/>
              <a:t>[</a:t>
            </a:r>
            <a:r>
              <a:rPr lang="zh-CN" altLang="en-US" dirty="0"/>
              <a:t>词典</a:t>
            </a:r>
            <a:r>
              <a:rPr lang="en-US" altLang="zh-CN" dirty="0"/>
              <a:t>] </a:t>
            </a:r>
            <a:r>
              <a:rPr lang="zh-CN" altLang="en-US" dirty="0"/>
              <a:t>还原电势</a:t>
            </a:r>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34</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35</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acetaldehyde</a:t>
            </a:r>
          </a:p>
          <a:p>
            <a:r>
              <a:rPr lang="en-US" altLang="zh-CN" sz="1200" kern="1200" dirty="0">
                <a:solidFill>
                  <a:schemeClr val="tx1"/>
                </a:solidFill>
                <a:effectLst/>
                <a:latin typeface="+mn-lt"/>
                <a:ea typeface="+mn-ea"/>
                <a:cs typeface="+mn-cs"/>
              </a:rPr>
              <a:t>n.</a:t>
            </a:r>
            <a:r>
              <a:rPr lang="zh-CN" altLang="en-US" sz="1200" kern="1200" dirty="0">
                <a:solidFill>
                  <a:schemeClr val="tx1"/>
                </a:solidFill>
                <a:effectLst/>
                <a:latin typeface="+mn-lt"/>
                <a:ea typeface="+mn-ea"/>
                <a:cs typeface="+mn-cs"/>
              </a:rPr>
              <a:t>乙醛</a:t>
            </a:r>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36</a:t>
            </a:fld>
            <a:endParaRPr lang="zh-CN" altLang="en-US"/>
          </a:p>
        </p:txBody>
      </p:sp>
    </p:spTree>
    <p:extLst>
      <p:ext uri="{BB962C8B-B14F-4D97-AF65-F5344CB8AC3E}">
        <p14:creationId xmlns:p14="http://schemas.microsoft.com/office/powerpoint/2010/main" val="39974709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atinLnBrk="1"/>
            <a:r>
              <a:rPr lang="en-US" sz="1200" kern="1200" dirty="0" err="1">
                <a:solidFill>
                  <a:schemeClr val="tx1"/>
                </a:solidFill>
                <a:latin typeface="+mn-lt"/>
                <a:ea typeface="+mn-ea"/>
                <a:cs typeface="+mn-cs"/>
              </a:rPr>
              <a:t>ferredoxin英</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fe'redɒksɪn</a:t>
            </a:r>
            <a:r>
              <a:rPr lang="en-US" sz="1200" kern="1200" dirty="0">
                <a:solidFill>
                  <a:schemeClr val="tx1"/>
                </a:solidFill>
                <a:latin typeface="+mn-lt"/>
                <a:ea typeface="+mn-ea"/>
                <a:cs typeface="+mn-cs"/>
              </a:rPr>
              <a:t>] 美 [ˌ</a:t>
            </a:r>
            <a:r>
              <a:rPr lang="en-US" sz="1200" kern="1200" dirty="0" err="1">
                <a:solidFill>
                  <a:schemeClr val="tx1"/>
                </a:solidFill>
                <a:latin typeface="+mn-lt"/>
                <a:ea typeface="+mn-ea"/>
                <a:cs typeface="+mn-cs"/>
              </a:rPr>
              <a:t>ferɪ'dɒksɪn</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n.</a:t>
            </a:r>
            <a:r>
              <a:rPr lang="en-US" sz="1200" u="none" strike="noStrike" kern="1200" dirty="0" err="1">
                <a:solidFill>
                  <a:schemeClr val="tx1"/>
                </a:solidFill>
                <a:latin typeface="+mn-lt"/>
                <a:ea typeface="+mn-ea"/>
                <a:cs typeface="+mn-cs"/>
              </a:rPr>
              <a:t>铁氧化还原蛋白</a:t>
            </a:r>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39</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本章解决两个问题：</a:t>
            </a:r>
            <a:r>
              <a:rPr lang="en-US" altLang="zh-CN" dirty="0"/>
              <a:t>1.</a:t>
            </a:r>
            <a:r>
              <a:rPr lang="zh-CN" altLang="en-US" dirty="0"/>
              <a:t>生命需要能量，能量能不能定量？如何定量？</a:t>
            </a:r>
            <a:endParaRPr lang="en-US" altLang="zh-CN" dirty="0"/>
          </a:p>
          <a:p>
            <a:r>
              <a:rPr lang="en-US" altLang="zh-CN" dirty="0"/>
              <a:t>                               2.</a:t>
            </a:r>
            <a:r>
              <a:rPr lang="zh-CN" altLang="en-US" dirty="0"/>
              <a:t>产生</a:t>
            </a:r>
            <a:r>
              <a:rPr lang="en-US" altLang="zh-CN" dirty="0"/>
              <a:t>ATP</a:t>
            </a:r>
            <a:r>
              <a:rPr lang="zh-CN" altLang="en-US" dirty="0"/>
              <a:t>的关键环节，电子传递链？</a:t>
            </a:r>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42</a:t>
            </a:fld>
            <a:endParaRPr lang="zh-CN" altLang="en-US"/>
          </a:p>
        </p:txBody>
      </p:sp>
    </p:spTree>
    <p:extLst>
      <p:ext uri="{BB962C8B-B14F-4D97-AF65-F5344CB8AC3E}">
        <p14:creationId xmlns:p14="http://schemas.microsoft.com/office/powerpoint/2010/main" val="10972017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dirty="0"/>
              <a:t>Reduction of NAD</a:t>
            </a:r>
            <a:r>
              <a:rPr lang="en-US" altLang="zh-CN" sz="1200" baseline="30000" dirty="0"/>
              <a:t>+</a:t>
            </a:r>
            <a:r>
              <a:rPr lang="en-US" altLang="zh-CN" sz="1200" dirty="0"/>
              <a:t> and NADP</a:t>
            </a:r>
            <a:r>
              <a:rPr lang="en-US" altLang="zh-CN" sz="1200" baseline="30000" dirty="0"/>
              <a:t>+</a:t>
            </a:r>
            <a:r>
              <a:rPr lang="en-US" altLang="zh-CN" sz="1200" dirty="0"/>
              <a:t> can be easily followed by spectroscopy (at 340 nm).</a:t>
            </a:r>
          </a:p>
          <a:p>
            <a:r>
              <a:rPr lang="en-US" altLang="zh-CN" dirty="0"/>
              <a:t>hydride ion </a:t>
            </a:r>
            <a:r>
              <a:rPr lang="zh-CN" altLang="en-US" dirty="0"/>
              <a:t>英 </a:t>
            </a:r>
            <a:r>
              <a:rPr lang="en-US" altLang="zh-CN" dirty="0"/>
              <a:t>[ˈ</a:t>
            </a:r>
            <a:r>
              <a:rPr lang="en-US" altLang="zh-CN" dirty="0" err="1"/>
              <a:t>haidraid</a:t>
            </a:r>
            <a:r>
              <a:rPr lang="en-US" altLang="zh-CN" dirty="0"/>
              <a:t> ˈ</a:t>
            </a:r>
            <a:r>
              <a:rPr lang="en-US" altLang="zh-CN" dirty="0" err="1"/>
              <a:t>aɪən</a:t>
            </a:r>
            <a:r>
              <a:rPr lang="en-US" altLang="zh-CN" dirty="0"/>
              <a:t>] </a:t>
            </a:r>
            <a:r>
              <a:rPr lang="zh-CN" altLang="en-US" dirty="0"/>
              <a:t>美 </a:t>
            </a:r>
            <a:r>
              <a:rPr lang="en-US" altLang="zh-CN" dirty="0"/>
              <a:t>[ˈ</a:t>
            </a:r>
            <a:r>
              <a:rPr lang="en-US" altLang="zh-CN" dirty="0" err="1"/>
              <a:t>haɪˌdraɪd</a:t>
            </a:r>
            <a:r>
              <a:rPr lang="en-US" altLang="zh-CN" dirty="0"/>
              <a:t> ˈ</a:t>
            </a:r>
            <a:r>
              <a:rPr lang="en-US" altLang="zh-CN" dirty="0" err="1"/>
              <a:t>aɪən</a:t>
            </a:r>
            <a:r>
              <a:rPr lang="en-US" altLang="zh-CN" dirty="0"/>
              <a:t>] [</a:t>
            </a:r>
            <a:r>
              <a:rPr lang="zh-CN" altLang="en-US" dirty="0"/>
              <a:t>词典</a:t>
            </a:r>
            <a:r>
              <a:rPr lang="en-US" altLang="zh-CN" dirty="0"/>
              <a:t>] </a:t>
            </a:r>
            <a:r>
              <a:rPr lang="zh-CN" altLang="en-US" dirty="0"/>
              <a:t>氢阴离子，带一对电子的质子</a:t>
            </a:r>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44</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nicotinamide </a:t>
            </a:r>
            <a:r>
              <a:rPr lang="zh-CN" altLang="en-US" dirty="0"/>
              <a:t>英 </a:t>
            </a:r>
            <a:r>
              <a:rPr lang="en-US" altLang="zh-CN" dirty="0"/>
              <a:t>[</a:t>
            </a:r>
            <a:r>
              <a:rPr lang="en-US" altLang="zh-CN" dirty="0" err="1"/>
              <a:t>nɪkə'tɪnəmaɪd</a:t>
            </a:r>
            <a:r>
              <a:rPr lang="en-US" altLang="zh-CN" dirty="0"/>
              <a:t>] </a:t>
            </a:r>
            <a:r>
              <a:rPr lang="zh-CN" altLang="en-US" dirty="0"/>
              <a:t>美 </a:t>
            </a:r>
            <a:r>
              <a:rPr lang="en-US" altLang="zh-CN" dirty="0"/>
              <a:t>[ˌ</a:t>
            </a:r>
            <a:r>
              <a:rPr lang="en-US" altLang="zh-CN" dirty="0" err="1"/>
              <a:t>nɪkəˌtɪnəˌmaɪd</a:t>
            </a:r>
            <a:r>
              <a:rPr lang="en-US" altLang="zh-CN" dirty="0"/>
              <a:t>] n. </a:t>
            </a:r>
            <a:r>
              <a:rPr lang="zh-CN" altLang="en-US" dirty="0"/>
              <a:t>烟碱</a:t>
            </a:r>
            <a:r>
              <a:rPr lang="en-US" altLang="zh-CN" dirty="0"/>
              <a:t>; </a:t>
            </a:r>
            <a:r>
              <a:rPr lang="zh-CN" altLang="en-US" dirty="0"/>
              <a:t>维生素</a:t>
            </a:r>
            <a:r>
              <a:rPr lang="en-US" altLang="zh-CN" dirty="0"/>
              <a:t>PP; </a:t>
            </a:r>
            <a:r>
              <a:rPr lang="zh-CN" altLang="en-US" dirty="0"/>
              <a:t>维生素</a:t>
            </a:r>
            <a:r>
              <a:rPr lang="en-US" altLang="zh-CN" dirty="0"/>
              <a:t>B5</a:t>
            </a:r>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45</a:t>
            </a:fld>
            <a:endParaRPr lang="zh-CN" altLang="en-US"/>
          </a:p>
        </p:txBody>
      </p:sp>
    </p:spTree>
    <p:extLst>
      <p:ext uri="{BB962C8B-B14F-4D97-AF65-F5344CB8AC3E}">
        <p14:creationId xmlns:p14="http://schemas.microsoft.com/office/powerpoint/2010/main" val="31107472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dirty="0"/>
              <a:t>ADP is commonly present all these universal electron carriers (as well as in Coenzyme A and ATP), suggesting that RNA catalyzed these reactions in the early stages of life.</a:t>
            </a:r>
          </a:p>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46</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烟酰胺腺嘌呤二核苷酸</a:t>
            </a:r>
            <a:r>
              <a:rPr lang="en-US" altLang="zh-CN" dirty="0"/>
              <a:t>(</a:t>
            </a:r>
            <a:r>
              <a:rPr lang="zh-CN" altLang="en-US" dirty="0"/>
              <a:t>或尼克酰胺腺嘌呤二核苷酸或辅酶</a:t>
            </a:r>
            <a:r>
              <a:rPr lang="en-US" altLang="zh-CN" dirty="0"/>
              <a:t>Ⅰ)</a:t>
            </a:r>
          </a:p>
          <a:p>
            <a:r>
              <a:rPr lang="en-US" altLang="zh-CN" i="1" dirty="0"/>
              <a:t>NADPH</a:t>
            </a:r>
            <a:r>
              <a:rPr lang="zh-CN" altLang="en-US" dirty="0"/>
              <a:t> 是一种辅酶，叫还原型辅酶</a:t>
            </a:r>
            <a:r>
              <a:rPr lang="en-US" altLang="zh-CN" dirty="0"/>
              <a:t>Ⅱ</a:t>
            </a:r>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47</a:t>
            </a:fld>
            <a:endParaRPr lang="zh-CN" altLang="en-US"/>
          </a:p>
        </p:txBody>
      </p:sp>
    </p:spTree>
    <p:extLst>
      <p:ext uri="{BB962C8B-B14F-4D97-AF65-F5344CB8AC3E}">
        <p14:creationId xmlns:p14="http://schemas.microsoft.com/office/powerpoint/2010/main" val="12460986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atinLnBrk="1"/>
            <a:r>
              <a:rPr lang="en-US" sz="1200" kern="1200" dirty="0" err="1">
                <a:solidFill>
                  <a:schemeClr val="tx1"/>
                </a:solidFill>
                <a:latin typeface="+mn-lt"/>
                <a:ea typeface="+mn-ea"/>
                <a:cs typeface="+mn-cs"/>
              </a:rPr>
              <a:t>isoalloxazine英</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aɪsəʊə'lɒksəzi:n</a:t>
            </a:r>
            <a:r>
              <a:rPr lang="en-US" sz="1200" kern="1200" dirty="0">
                <a:solidFill>
                  <a:schemeClr val="tx1"/>
                </a:solidFill>
                <a:latin typeface="+mn-lt"/>
                <a:ea typeface="+mn-ea"/>
                <a:cs typeface="+mn-cs"/>
              </a:rPr>
              <a:t>] 美 [ˌ</a:t>
            </a:r>
            <a:r>
              <a:rPr lang="en-US" sz="1200" kern="1200" dirty="0" err="1">
                <a:solidFill>
                  <a:schemeClr val="tx1"/>
                </a:solidFill>
                <a:latin typeface="+mn-lt"/>
                <a:ea typeface="+mn-ea"/>
                <a:cs typeface="+mn-cs"/>
              </a:rPr>
              <a:t>aɪsoʊr'lɒksəˌzɪn</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n.</a:t>
            </a:r>
            <a:r>
              <a:rPr lang="en-US" sz="1200" u="none" strike="noStrike" kern="1200" dirty="0" err="1">
                <a:solidFill>
                  <a:schemeClr val="tx1"/>
                </a:solidFill>
                <a:latin typeface="+mn-lt"/>
                <a:ea typeface="+mn-ea"/>
                <a:cs typeface="+mn-cs"/>
              </a:rPr>
              <a:t>异咯嗪</a:t>
            </a:r>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48</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Glutamate </a:t>
            </a:r>
            <a:r>
              <a:rPr lang="zh-CN" altLang="en-US" dirty="0"/>
              <a:t>谷氨酸</a:t>
            </a:r>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49</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glycolate </a:t>
            </a:r>
            <a:r>
              <a:rPr lang="zh-CN" altLang="en-US" dirty="0"/>
              <a:t>英 </a:t>
            </a:r>
            <a:r>
              <a:rPr lang="en-US" altLang="zh-CN" dirty="0"/>
              <a:t>['</a:t>
            </a:r>
            <a:r>
              <a:rPr lang="en-US" altLang="zh-CN" dirty="0" err="1"/>
              <a:t>glaɪkəʊleɪt</a:t>
            </a:r>
            <a:r>
              <a:rPr lang="en-US" altLang="zh-CN" dirty="0"/>
              <a:t>] </a:t>
            </a:r>
            <a:r>
              <a:rPr lang="zh-CN" altLang="en-US" dirty="0"/>
              <a:t>美 </a:t>
            </a:r>
            <a:r>
              <a:rPr lang="en-US" altLang="zh-CN" dirty="0"/>
              <a:t>['</a:t>
            </a:r>
            <a:r>
              <a:rPr lang="en-US" altLang="zh-CN" dirty="0" err="1"/>
              <a:t>glaɪkoʊleɪt</a:t>
            </a:r>
            <a:r>
              <a:rPr lang="en-US" altLang="zh-CN" dirty="0"/>
              <a:t>] </a:t>
            </a:r>
          </a:p>
          <a:p>
            <a:r>
              <a:rPr lang="en-US" altLang="zh-CN" dirty="0"/>
              <a:t>n. </a:t>
            </a:r>
            <a:r>
              <a:rPr lang="zh-CN" altLang="en-US" dirty="0"/>
              <a:t>乙醇酸盐（或酯），羟乙酸盐（或酯）</a:t>
            </a:r>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50</a:t>
            </a:fld>
            <a:endParaRPr lang="zh-CN" altLang="en-US"/>
          </a:p>
        </p:txBody>
      </p:sp>
    </p:spTree>
    <p:extLst>
      <p:ext uri="{BB962C8B-B14F-4D97-AF65-F5344CB8AC3E}">
        <p14:creationId xmlns:p14="http://schemas.microsoft.com/office/powerpoint/2010/main" val="3735400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FMN</a:t>
            </a:r>
            <a:r>
              <a:rPr lang="zh-CN" altLang="en-US" dirty="0"/>
              <a:t>哪里有核苷酸的成分？</a:t>
            </a:r>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59</a:t>
            </a:fld>
            <a:endParaRPr lang="zh-CN" altLang="en-US"/>
          </a:p>
        </p:txBody>
      </p:sp>
    </p:spTree>
    <p:extLst>
      <p:ext uri="{BB962C8B-B14F-4D97-AF65-F5344CB8AC3E}">
        <p14:creationId xmlns:p14="http://schemas.microsoft.com/office/powerpoint/2010/main" val="27527440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i="1" kern="1200" dirty="0">
                <a:solidFill>
                  <a:schemeClr val="tx1"/>
                </a:solidFill>
                <a:latin typeface="+mn-lt"/>
                <a:ea typeface="+mn-ea"/>
                <a:cs typeface="+mn-cs"/>
              </a:rPr>
              <a:t>泛醌</a:t>
            </a:r>
            <a:r>
              <a:rPr lang="en-US" altLang="zh-CN" sz="1200" kern="1200" dirty="0">
                <a:solidFill>
                  <a:schemeClr val="tx1"/>
                </a:solidFill>
                <a:latin typeface="+mn-lt"/>
                <a:ea typeface="+mn-ea"/>
                <a:cs typeface="+mn-cs"/>
              </a:rPr>
              <a:t>/ </a:t>
            </a:r>
            <a:r>
              <a:rPr lang="zh-CN" altLang="en-US" sz="1200" kern="1200" dirty="0">
                <a:solidFill>
                  <a:schemeClr val="tx1"/>
                </a:solidFill>
                <a:latin typeface="+mn-lt"/>
                <a:ea typeface="+mn-ea"/>
                <a:cs typeface="+mn-cs"/>
              </a:rPr>
              <a:t>泛醇</a:t>
            </a:r>
            <a:endParaRPr lang="en-US" altLang="zh-CN" sz="1200" kern="1200" dirty="0">
              <a:solidFill>
                <a:schemeClr val="tx1"/>
              </a:solidFill>
              <a:latin typeface="+mn-lt"/>
              <a:ea typeface="+mn-ea"/>
              <a:cs typeface="+mn-cs"/>
            </a:endParaRPr>
          </a:p>
          <a:p>
            <a:r>
              <a:rPr lang="en-US" altLang="zh-CN" sz="1200" kern="1200" dirty="0">
                <a:solidFill>
                  <a:schemeClr val="tx1"/>
                </a:solidFill>
                <a:latin typeface="+mn-lt"/>
                <a:ea typeface="+mn-ea"/>
                <a:cs typeface="+mn-cs"/>
              </a:rPr>
              <a:t>Isoprene </a:t>
            </a:r>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60</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protoporphyrin </a:t>
            </a:r>
            <a:r>
              <a:rPr lang="zh-CN" altLang="en-US" dirty="0"/>
              <a:t>英 </a:t>
            </a:r>
            <a:r>
              <a:rPr lang="en-US" altLang="zh-CN" dirty="0"/>
              <a:t>[</a:t>
            </a:r>
            <a:r>
              <a:rPr lang="en-US" altLang="zh-CN" dirty="0" err="1"/>
              <a:t>prəʊtə'pɔ:fɪrɪn</a:t>
            </a:r>
            <a:r>
              <a:rPr lang="en-US" altLang="zh-CN" dirty="0"/>
              <a:t>] </a:t>
            </a:r>
            <a:r>
              <a:rPr lang="zh-CN" altLang="en-US" dirty="0"/>
              <a:t>美 </a:t>
            </a:r>
            <a:r>
              <a:rPr lang="en-US" altLang="zh-CN" dirty="0"/>
              <a:t>[ˌ</a:t>
            </a:r>
            <a:r>
              <a:rPr lang="en-US" altLang="zh-CN" dirty="0" err="1"/>
              <a:t>proʊtoʊ'pɔ:fərɪn</a:t>
            </a:r>
            <a:r>
              <a:rPr lang="en-US" altLang="zh-CN" dirty="0"/>
              <a:t>] n. </a:t>
            </a:r>
            <a:r>
              <a:rPr lang="zh-CN" altLang="en-US" dirty="0"/>
              <a:t>原卟啉</a:t>
            </a:r>
            <a:endParaRPr lang="en-US" altLang="zh-CN" dirty="0"/>
          </a:p>
          <a:p>
            <a:r>
              <a:rPr lang="zh-CN" altLang="en-US" dirty="0"/>
              <a:t>卟啉环合成的前体是：</a:t>
            </a:r>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61</a:t>
            </a:fld>
            <a:endParaRPr lang="zh-CN" altLang="en-US"/>
          </a:p>
        </p:txBody>
      </p:sp>
    </p:spTree>
    <p:extLst>
      <p:ext uri="{BB962C8B-B14F-4D97-AF65-F5344CB8AC3E}">
        <p14:creationId xmlns:p14="http://schemas.microsoft.com/office/powerpoint/2010/main" val="36671452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N-2</a:t>
            </a:r>
            <a:r>
              <a:rPr lang="zh-CN" altLang="en-US" dirty="0"/>
              <a:t>是什么？</a:t>
            </a:r>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66</a:t>
            </a:fld>
            <a:endParaRPr lang="zh-CN" altLang="en-US"/>
          </a:p>
        </p:txBody>
      </p:sp>
    </p:spTree>
    <p:extLst>
      <p:ext uri="{BB962C8B-B14F-4D97-AF65-F5344CB8AC3E}">
        <p14:creationId xmlns:p14="http://schemas.microsoft.com/office/powerpoint/2010/main" val="27595363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泛醌（</a:t>
            </a:r>
            <a:r>
              <a:rPr lang="en-US" altLang="zh-CN" dirty="0" err="1"/>
              <a:t>ubiquinone</a:t>
            </a:r>
            <a:r>
              <a:rPr lang="zh-CN" altLang="en-US" dirty="0"/>
              <a:t>）</a:t>
            </a:r>
          </a:p>
          <a:p>
            <a:r>
              <a:rPr lang="zh-CN" altLang="en-US" dirty="0"/>
              <a:t>又称</a:t>
            </a:r>
            <a:r>
              <a:rPr lang="zh-CN" altLang="en-US" dirty="0">
                <a:hlinkClick r:id="rId3"/>
              </a:rPr>
              <a:t>辅酶</a:t>
            </a:r>
            <a:r>
              <a:rPr lang="en-US" altLang="zh-CN" dirty="0">
                <a:hlinkClick r:id="rId3"/>
              </a:rPr>
              <a:t>Q</a:t>
            </a:r>
            <a:r>
              <a:rPr lang="zh-CN" altLang="en-US" dirty="0"/>
              <a:t>（</a:t>
            </a:r>
            <a:r>
              <a:rPr lang="en-US" altLang="zh-CN" dirty="0" err="1"/>
              <a:t>CoQ</a:t>
            </a:r>
            <a:r>
              <a:rPr lang="zh-CN" altLang="en-US" dirty="0"/>
              <a:t>），为一类</a:t>
            </a:r>
            <a:r>
              <a:rPr lang="zh-CN" altLang="en-US" dirty="0">
                <a:hlinkClick r:id="rId4"/>
              </a:rPr>
              <a:t>脂溶性</a:t>
            </a:r>
            <a:r>
              <a:rPr lang="zh-CN" altLang="en-US" dirty="0">
                <a:hlinkClick r:id="rId5"/>
              </a:rPr>
              <a:t>醌类化合物</a:t>
            </a:r>
            <a:r>
              <a:rPr lang="zh-CN" altLang="en-US" dirty="0"/>
              <a:t>，带有由不同数目（</a:t>
            </a:r>
            <a:r>
              <a:rPr lang="en-US" altLang="zh-CN" dirty="0"/>
              <a:t>6</a:t>
            </a:r>
            <a:r>
              <a:rPr lang="zh-CN" altLang="en-US" dirty="0"/>
              <a:t>～</a:t>
            </a:r>
            <a:r>
              <a:rPr lang="en-US" altLang="zh-CN" dirty="0"/>
              <a:t>10</a:t>
            </a:r>
            <a:r>
              <a:rPr lang="zh-CN" altLang="en-US" dirty="0"/>
              <a:t>）</a:t>
            </a:r>
            <a:r>
              <a:rPr lang="zh-CN" altLang="en-US" dirty="0">
                <a:hlinkClick r:id="rId6"/>
              </a:rPr>
              <a:t>异戊二烯</a:t>
            </a:r>
            <a:r>
              <a:rPr lang="zh-CN" altLang="en-US" dirty="0"/>
              <a:t>单位组成的</a:t>
            </a:r>
            <a:r>
              <a:rPr lang="zh-CN" altLang="en-US" dirty="0">
                <a:hlinkClick r:id="rId7"/>
              </a:rPr>
              <a:t>侧链</a:t>
            </a:r>
            <a:r>
              <a:rPr lang="en-US" altLang="zh-CN" dirty="0"/>
              <a:t>.</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68</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b="1" i="0" dirty="0">
                <a:solidFill>
                  <a:srgbClr val="000000"/>
                </a:solidFill>
                <a:effectLst/>
                <a:latin typeface="TimesNewRomanPS-BoldMT"/>
              </a:rPr>
              <a:t>Structure of Complex II (succinate dehydrogenase)</a:t>
            </a:r>
            <a:r>
              <a:rPr lang="en-US" altLang="zh-CN" dirty="0"/>
              <a:t> </a:t>
            </a:r>
            <a:br>
              <a:rPr lang="en-US" altLang="zh-CN" dirty="0"/>
            </a:br>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69</a:t>
            </a:fld>
            <a:endParaRPr lang="zh-CN" altLang="en-US"/>
          </a:p>
        </p:txBody>
      </p:sp>
    </p:spTree>
    <p:extLst>
      <p:ext uri="{BB962C8B-B14F-4D97-AF65-F5344CB8AC3E}">
        <p14:creationId xmlns:p14="http://schemas.microsoft.com/office/powerpoint/2010/main" val="6579837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b="1" i="0" dirty="0">
                <a:solidFill>
                  <a:srgbClr val="000000"/>
                </a:solidFill>
                <a:effectLst/>
                <a:latin typeface="TimesNewRomanPS-BoldMT"/>
              </a:rPr>
              <a:t>Dihydroorotate dehydrogenase</a:t>
            </a:r>
            <a:r>
              <a:rPr lang="en-US" altLang="zh-CN" sz="1800" b="0" i="0" dirty="0">
                <a:solidFill>
                  <a:srgbClr val="000000"/>
                </a:solidFill>
                <a:effectLst/>
                <a:latin typeface="TimesNewRomanPSMT"/>
              </a:rPr>
              <a:t>, which acts in the synthesis of pyrimidines (see </a:t>
            </a:r>
            <a:r>
              <a:rPr lang="en-US" altLang="zh-CN" sz="1800" b="0" i="0" dirty="0">
                <a:solidFill>
                  <a:srgbClr val="0000EE"/>
                </a:solidFill>
                <a:effectLst/>
                <a:latin typeface="TimesNewRomanPSMT"/>
              </a:rPr>
              <a:t>Fig. 22-38</a:t>
            </a:r>
            <a:r>
              <a:rPr lang="en-US" altLang="zh-CN" sz="1800" b="0" i="0" dirty="0">
                <a:solidFill>
                  <a:srgbClr val="000000"/>
                </a:solidFill>
                <a:effectLst/>
                <a:latin typeface="TimesNewRomanPSMT"/>
              </a:rPr>
              <a:t>),</a:t>
            </a:r>
            <a:br>
              <a:rPr lang="en-US" altLang="zh-CN" sz="1800" b="0" i="0" dirty="0">
                <a:solidFill>
                  <a:srgbClr val="000000"/>
                </a:solidFill>
                <a:effectLst/>
                <a:latin typeface="TimesNewRomanPSMT"/>
              </a:rPr>
            </a:br>
            <a:r>
              <a:rPr lang="en-US" altLang="zh-CN" sz="1800" b="0" i="0" dirty="0">
                <a:solidFill>
                  <a:srgbClr val="000000"/>
                </a:solidFill>
                <a:effectLst/>
                <a:latin typeface="TimesNewRomanPSMT"/>
              </a:rPr>
              <a:t>is also on the outside of the inner mitochondrial membrane and donates electrons to Q in the</a:t>
            </a:r>
            <a:br>
              <a:rPr lang="en-US" altLang="zh-CN" sz="1800" b="0" i="0" dirty="0">
                <a:solidFill>
                  <a:srgbClr val="000000"/>
                </a:solidFill>
                <a:effectLst/>
                <a:latin typeface="TimesNewRomanPSMT"/>
              </a:rPr>
            </a:br>
            <a:r>
              <a:rPr lang="en-US" altLang="zh-CN" sz="1800" b="0" i="0" dirty="0">
                <a:solidFill>
                  <a:srgbClr val="000000"/>
                </a:solidFill>
                <a:effectLst/>
                <a:latin typeface="TimesNewRomanPSMT"/>
              </a:rPr>
              <a:t>respiratory chain. The reduced QH2 passes its electrons through Complex III and ultimately to O2.</a:t>
            </a:r>
            <a:r>
              <a:rPr lang="en-US" altLang="zh-CN" dirty="0"/>
              <a:t> </a:t>
            </a:r>
            <a:br>
              <a:rPr lang="en-US" altLang="zh-CN" dirty="0"/>
            </a:br>
            <a:r>
              <a:rPr lang="en-US" altLang="zh-CN" sz="1200" b="1" i="0" dirty="0">
                <a:solidFill>
                  <a:srgbClr val="000000"/>
                </a:solidFill>
                <a:effectLst/>
                <a:latin typeface="TimesNewRomanPS-BoldMT"/>
              </a:rPr>
              <a:t>Dihydroorotate dehydrogenase </a:t>
            </a:r>
            <a:r>
              <a:rPr lang="zh-CN" altLang="en-US" sz="1200" b="1" i="0" dirty="0">
                <a:solidFill>
                  <a:srgbClr val="000000"/>
                </a:solidFill>
                <a:effectLst/>
                <a:latin typeface="TimesNewRomanPS-BoldMT"/>
              </a:rPr>
              <a:t>该酶的辅酶为</a:t>
            </a:r>
            <a:r>
              <a:rPr lang="en-US" altLang="zh-CN" sz="1200" b="1" i="0" dirty="0">
                <a:solidFill>
                  <a:srgbClr val="000000"/>
                </a:solidFill>
                <a:effectLst/>
                <a:latin typeface="TimesNewRomanPS-BoldMT"/>
              </a:rPr>
              <a:t>NADH, </a:t>
            </a:r>
            <a:r>
              <a:rPr lang="zh-CN" altLang="en-US" sz="1200" b="1" i="0" dirty="0">
                <a:solidFill>
                  <a:srgbClr val="000000"/>
                </a:solidFill>
                <a:effectLst/>
                <a:latin typeface="TimesNewRomanPS-BoldMT"/>
              </a:rPr>
              <a:t>为何此处标记</a:t>
            </a:r>
            <a:r>
              <a:rPr lang="en-US" altLang="zh-CN" sz="1200" b="1" i="0" dirty="0">
                <a:solidFill>
                  <a:srgbClr val="000000"/>
                </a:solidFill>
                <a:effectLst/>
                <a:latin typeface="TimesNewRomanPS-BoldMT"/>
              </a:rPr>
              <a:t>FMN</a:t>
            </a:r>
          </a:p>
          <a:p>
            <a:endParaRPr lang="en-US" altLang="zh-CN" sz="1200" b="1" i="0" dirty="0">
              <a:solidFill>
                <a:srgbClr val="000000"/>
              </a:solidFill>
              <a:effectLst/>
              <a:latin typeface="TimesNewRomanPS-BoldMT"/>
            </a:endParaRPr>
          </a:p>
          <a:p>
            <a:r>
              <a:rPr lang="zh-CN" altLang="en-US" b="1" i="0" dirty="0">
                <a:solidFill>
                  <a:srgbClr val="666666"/>
                </a:solidFill>
                <a:effectLst/>
                <a:latin typeface="Arial" panose="020B0604020202020204" pitchFamily="34" charset="0"/>
              </a:rPr>
              <a:t>目前网上查到的最新版为生物化学原理 第八版 </a:t>
            </a:r>
            <a:r>
              <a:rPr lang="en-US" altLang="zh-CN" b="1" i="0" dirty="0" err="1">
                <a:solidFill>
                  <a:srgbClr val="666666"/>
                </a:solidFill>
                <a:effectLst/>
                <a:latin typeface="Arial" panose="020B0604020202020204" pitchFamily="34" charset="0"/>
              </a:rPr>
              <a:t>Lehninger</a:t>
            </a:r>
            <a:r>
              <a:rPr lang="en-US" altLang="zh-CN" b="1" i="0" dirty="0">
                <a:solidFill>
                  <a:srgbClr val="666666"/>
                </a:solidFill>
                <a:effectLst/>
                <a:latin typeface="Arial" panose="020B0604020202020204" pitchFamily="34" charset="0"/>
              </a:rPr>
              <a:t> Principles of Biochemistry...</a:t>
            </a:r>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70</a:t>
            </a:fld>
            <a:endParaRPr lang="zh-CN" altLang="en-US"/>
          </a:p>
        </p:txBody>
      </p:sp>
    </p:spTree>
    <p:extLst>
      <p:ext uri="{BB962C8B-B14F-4D97-AF65-F5344CB8AC3E}">
        <p14:creationId xmlns:p14="http://schemas.microsoft.com/office/powerpoint/2010/main" val="42461341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脂肪酸</a:t>
            </a:r>
            <a:r>
              <a:rPr lang="el-GR" altLang="zh-CN" sz="1200" b="0" i="0" kern="1200" dirty="0">
                <a:solidFill>
                  <a:schemeClr val="tx1"/>
                </a:solidFill>
                <a:effectLst/>
                <a:latin typeface="+mn-lt"/>
                <a:ea typeface="+mn-ea"/>
                <a:cs typeface="+mn-cs"/>
              </a:rPr>
              <a:t>β-</a:t>
            </a:r>
            <a:r>
              <a:rPr lang="zh-CN" altLang="en-US" sz="1200" b="0" i="0" kern="1200" dirty="0">
                <a:solidFill>
                  <a:schemeClr val="tx1"/>
                </a:solidFill>
                <a:effectLst/>
                <a:latin typeface="+mn-lt"/>
                <a:ea typeface="+mn-ea"/>
                <a:cs typeface="+mn-cs"/>
              </a:rPr>
              <a:t>氧化的反应途径 脂酰</a:t>
            </a:r>
            <a:r>
              <a:rPr lang="en-US" altLang="zh-CN" sz="1200" b="0" i="0" kern="1200" dirty="0">
                <a:solidFill>
                  <a:schemeClr val="tx1"/>
                </a:solidFill>
                <a:effectLst/>
                <a:latin typeface="+mn-lt"/>
                <a:ea typeface="+mn-ea"/>
                <a:cs typeface="+mn-cs"/>
              </a:rPr>
              <a:t>-CoA</a:t>
            </a:r>
            <a:r>
              <a:rPr lang="zh-CN" altLang="en-US" sz="1200" b="0" i="0" kern="1200" dirty="0">
                <a:solidFill>
                  <a:schemeClr val="tx1"/>
                </a:solidFill>
                <a:effectLst/>
                <a:latin typeface="+mn-lt"/>
                <a:ea typeface="+mn-ea"/>
                <a:cs typeface="+mn-cs"/>
              </a:rPr>
              <a:t>脱氢酶的作用 </a:t>
            </a:r>
            <a:r>
              <a:rPr lang="en-US" altLang="zh-CN" sz="1200" b="0" i="0" kern="1200" dirty="0">
                <a:solidFill>
                  <a:schemeClr val="tx1"/>
                </a:solidFill>
                <a:effectLst/>
                <a:latin typeface="+mn-lt"/>
                <a:ea typeface="+mn-ea"/>
                <a:cs typeface="+mn-cs"/>
              </a:rPr>
              <a:t>ETF: Electron transfer flavoprotein</a:t>
            </a:r>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71</a:t>
            </a:fld>
            <a:endParaRPr lang="zh-CN" altLang="en-US"/>
          </a:p>
        </p:txBody>
      </p:sp>
    </p:spTree>
    <p:extLst>
      <p:ext uri="{BB962C8B-B14F-4D97-AF65-F5344CB8AC3E}">
        <p14:creationId xmlns:p14="http://schemas.microsoft.com/office/powerpoint/2010/main" val="10968055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80</a:t>
            </a:fld>
            <a:endParaRPr lang="zh-CN" altLang="en-US"/>
          </a:p>
        </p:txBody>
      </p:sp>
    </p:spTree>
    <p:extLst>
      <p:ext uri="{BB962C8B-B14F-4D97-AF65-F5344CB8AC3E}">
        <p14:creationId xmlns:p14="http://schemas.microsoft.com/office/powerpoint/2010/main" val="17607985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问题，递氢体是不是质子泵？</a:t>
            </a:r>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81</a:t>
            </a:fld>
            <a:endParaRPr lang="zh-CN" altLang="en-US"/>
          </a:p>
        </p:txBody>
      </p:sp>
    </p:spTree>
    <p:extLst>
      <p:ext uri="{BB962C8B-B14F-4D97-AF65-F5344CB8AC3E}">
        <p14:creationId xmlns:p14="http://schemas.microsoft.com/office/powerpoint/2010/main" val="393538923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问题：为什么多次出现</a:t>
            </a:r>
            <a:r>
              <a:rPr lang="en-US" altLang="zh-CN" dirty="0" err="1"/>
              <a:t>FeS</a:t>
            </a:r>
            <a:r>
              <a:rPr lang="zh-CN" altLang="en-US" dirty="0"/>
              <a:t>中心？为什么此表中没有</a:t>
            </a:r>
            <a:r>
              <a:rPr lang="en-US" altLang="zh-CN" dirty="0" err="1"/>
              <a:t>FeS</a:t>
            </a:r>
            <a:r>
              <a:rPr lang="zh-CN" altLang="en-US" dirty="0"/>
              <a:t>中心？</a:t>
            </a:r>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86</a:t>
            </a:fld>
            <a:endParaRPr lang="zh-CN" altLang="en-US"/>
          </a:p>
        </p:txBody>
      </p:sp>
    </p:spTree>
    <p:extLst>
      <p:ext uri="{BB962C8B-B14F-4D97-AF65-F5344CB8AC3E}">
        <p14:creationId xmlns:p14="http://schemas.microsoft.com/office/powerpoint/2010/main" val="33129585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Helvetica Neue"/>
              </a:rPr>
              <a:t>一氧化碳中毒是含碳物质燃烧不完全时的产物经呼吸道吸入引起中毒。中毒机理是一氧化碳与血红蛋白的亲合力比氧与血红蛋白的亲合力高</a:t>
            </a:r>
            <a:r>
              <a:rPr lang="en-US" altLang="zh-CN" b="0" i="0" dirty="0">
                <a:solidFill>
                  <a:srgbClr val="333333"/>
                </a:solidFill>
                <a:effectLst/>
                <a:latin typeface="Helvetica Neue"/>
              </a:rPr>
              <a:t>200</a:t>
            </a:r>
            <a:r>
              <a:rPr lang="zh-CN" altLang="en-US" b="0" i="0" dirty="0">
                <a:solidFill>
                  <a:srgbClr val="333333"/>
                </a:solidFill>
                <a:effectLst/>
                <a:latin typeface="Helvetica Neue"/>
              </a:rPr>
              <a:t>～</a:t>
            </a:r>
            <a:r>
              <a:rPr lang="en-US" altLang="zh-CN" b="0" i="0" dirty="0">
                <a:solidFill>
                  <a:srgbClr val="333333"/>
                </a:solidFill>
                <a:effectLst/>
                <a:latin typeface="Helvetica Neue"/>
              </a:rPr>
              <a:t>300</a:t>
            </a:r>
            <a:r>
              <a:rPr lang="zh-CN" altLang="en-US" b="0" i="0">
                <a:solidFill>
                  <a:srgbClr val="333333"/>
                </a:solidFill>
                <a:effectLst/>
                <a:latin typeface="Helvetica Neue"/>
              </a:rPr>
              <a:t>倍，所以一氧化碳极易与血红蛋白结合，形成碳氧血红蛋白，使血红蛋白丧失携氧的能力和作用，造成组织窒息。对全身的组织细胞均有毒性作用，尤其对大脑皮质的影响最为严重。</a:t>
            </a:r>
            <a:endParaRPr lang="zh-CN" altLang="en-US"/>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87</a:t>
            </a:fld>
            <a:endParaRPr lang="zh-CN" altLang="en-US"/>
          </a:p>
        </p:txBody>
      </p:sp>
    </p:spTree>
    <p:extLst>
      <p:ext uri="{BB962C8B-B14F-4D97-AF65-F5344CB8AC3E}">
        <p14:creationId xmlns:p14="http://schemas.microsoft.com/office/powerpoint/2010/main" val="38698103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obligatory </a:t>
            </a:r>
            <a:r>
              <a:rPr lang="zh-CN" altLang="en-US" dirty="0"/>
              <a:t>英 </a:t>
            </a:r>
            <a:r>
              <a:rPr lang="en-US" altLang="zh-CN" dirty="0"/>
              <a:t>[</a:t>
            </a:r>
            <a:r>
              <a:rPr lang="en-US" altLang="zh-CN" dirty="0" err="1"/>
              <a:t>əˈblɪgətri</a:t>
            </a:r>
            <a:r>
              <a:rPr lang="en-US" altLang="zh-CN" dirty="0"/>
              <a:t>] </a:t>
            </a:r>
            <a:r>
              <a:rPr lang="zh-CN" altLang="en-US" dirty="0"/>
              <a:t>美 </a:t>
            </a:r>
            <a:r>
              <a:rPr lang="en-US" altLang="zh-CN" dirty="0"/>
              <a:t>[</a:t>
            </a:r>
            <a:r>
              <a:rPr lang="en-US" altLang="zh-CN" dirty="0" err="1"/>
              <a:t>əˈblɪgətɔ:ri</a:t>
            </a:r>
            <a:r>
              <a:rPr lang="en-US" altLang="zh-CN" dirty="0"/>
              <a:t>] adj. </a:t>
            </a:r>
            <a:r>
              <a:rPr lang="zh-CN" altLang="en-US" dirty="0"/>
              <a:t>强制性的</a:t>
            </a:r>
            <a:r>
              <a:rPr lang="en-US" altLang="zh-CN" dirty="0"/>
              <a:t>; </a:t>
            </a:r>
            <a:r>
              <a:rPr lang="zh-CN" altLang="en-US" dirty="0"/>
              <a:t>义务的</a:t>
            </a:r>
            <a:r>
              <a:rPr lang="en-US" altLang="zh-CN" dirty="0"/>
              <a:t>; </a:t>
            </a:r>
            <a:r>
              <a:rPr lang="zh-CN" altLang="en-US" dirty="0"/>
              <a:t>必须的</a:t>
            </a:r>
            <a:r>
              <a:rPr lang="en-US" altLang="zh-CN" dirty="0"/>
              <a:t>; </a:t>
            </a:r>
            <a:r>
              <a:rPr lang="zh-CN" altLang="en-US" dirty="0"/>
              <a:t>应尽的</a:t>
            </a:r>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89</a:t>
            </a:fld>
            <a:endParaRPr lang="zh-CN" altLang="en-US"/>
          </a:p>
        </p:txBody>
      </p:sp>
    </p:spTree>
    <p:extLst>
      <p:ext uri="{BB962C8B-B14F-4D97-AF65-F5344CB8AC3E}">
        <p14:creationId xmlns:p14="http://schemas.microsoft.com/office/powerpoint/2010/main" val="76830106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1" dirty="0">
                <a:hlinkClick r:id="rId3"/>
              </a:rPr>
              <a:t>化学渗透假说</a:t>
            </a:r>
            <a:r>
              <a:rPr lang="en-US" altLang="zh-CN" b="1" dirty="0">
                <a:hlinkClick r:id="rId3"/>
              </a:rPr>
              <a:t>(</a:t>
            </a:r>
            <a:r>
              <a:rPr lang="en-US" altLang="zh-CN" b="1" i="1" dirty="0">
                <a:hlinkClick r:id="rId3"/>
              </a:rPr>
              <a:t>chemiosmotic</a:t>
            </a:r>
            <a:r>
              <a:rPr lang="en-US" altLang="zh-CN" b="1" dirty="0">
                <a:hlinkClick r:id="rId3"/>
              </a:rPr>
              <a:t> coupling hypothesis)</a:t>
            </a:r>
            <a:endParaRPr lang="en-US" altLang="zh-CN" b="1" dirty="0"/>
          </a:p>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91</a:t>
            </a:fld>
            <a:endParaRPr lang="zh-CN" altLang="en-US"/>
          </a:p>
        </p:txBody>
      </p:sp>
    </p:spTree>
    <p:extLst>
      <p:ext uri="{BB962C8B-B14F-4D97-AF65-F5344CB8AC3E}">
        <p14:creationId xmlns:p14="http://schemas.microsoft.com/office/powerpoint/2010/main" val="279251182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alkaline </a:t>
            </a:r>
            <a:r>
              <a:rPr lang="zh-CN" altLang="en-US" dirty="0"/>
              <a:t>英 </a:t>
            </a:r>
            <a:r>
              <a:rPr lang="en-US" altLang="zh-CN" dirty="0"/>
              <a:t>[ˈ</a:t>
            </a:r>
            <a:r>
              <a:rPr lang="en-US" altLang="zh-CN" dirty="0" err="1"/>
              <a:t>ælkəlaɪn</a:t>
            </a:r>
            <a:r>
              <a:rPr lang="en-US" altLang="zh-CN" dirty="0"/>
              <a:t>] </a:t>
            </a:r>
            <a:r>
              <a:rPr lang="zh-CN" altLang="en-US" dirty="0"/>
              <a:t>美 </a:t>
            </a:r>
            <a:r>
              <a:rPr lang="en-US" altLang="zh-CN" dirty="0"/>
              <a:t>[ˈ</a:t>
            </a:r>
            <a:r>
              <a:rPr lang="en-US" altLang="zh-CN" dirty="0" err="1"/>
              <a:t>ælkəlɪn</a:t>
            </a:r>
            <a:r>
              <a:rPr lang="en-US" altLang="zh-CN" dirty="0"/>
              <a:t>, -ˌ</a:t>
            </a:r>
            <a:r>
              <a:rPr lang="en-US" altLang="zh-CN" dirty="0" err="1"/>
              <a:t>laɪn</a:t>
            </a:r>
            <a:r>
              <a:rPr lang="en-US" altLang="zh-CN" dirty="0"/>
              <a:t>] adj. </a:t>
            </a:r>
            <a:r>
              <a:rPr lang="zh-CN" altLang="en-US" dirty="0"/>
              <a:t>碱性的，碱的</a:t>
            </a:r>
            <a:r>
              <a:rPr lang="en-US" altLang="zh-CN" dirty="0"/>
              <a:t>; </a:t>
            </a:r>
            <a:r>
              <a:rPr lang="zh-CN" altLang="en-US" dirty="0"/>
              <a:t>含碱的</a:t>
            </a:r>
            <a:r>
              <a:rPr lang="en-US" altLang="zh-CN" dirty="0"/>
              <a:t>; n. </a:t>
            </a:r>
            <a:r>
              <a:rPr lang="zh-CN" altLang="en-US" dirty="0"/>
              <a:t>碱度，碱性</a:t>
            </a:r>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92</a:t>
            </a:fld>
            <a:endParaRPr lang="zh-CN" altLang="en-US"/>
          </a:p>
        </p:txBody>
      </p:sp>
    </p:spTree>
    <p:extLst>
      <p:ext uri="{BB962C8B-B14F-4D97-AF65-F5344CB8AC3E}">
        <p14:creationId xmlns:p14="http://schemas.microsoft.com/office/powerpoint/2010/main" val="3792586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94</a:t>
            </a:fld>
            <a:endParaRPr lang="zh-CN" altLang="en-US"/>
          </a:p>
        </p:txBody>
      </p:sp>
    </p:spTree>
    <p:extLst>
      <p:ext uri="{BB962C8B-B14F-4D97-AF65-F5344CB8AC3E}">
        <p14:creationId xmlns:p14="http://schemas.microsoft.com/office/powerpoint/2010/main" val="341527371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1" dirty="0"/>
              <a:t>为什么</a:t>
            </a:r>
            <a:r>
              <a:rPr lang="en-US" altLang="zh-CN" b="1" dirty="0"/>
              <a:t>2</a:t>
            </a:r>
            <a:r>
              <a:rPr lang="zh-CN" altLang="en-US" b="1" dirty="0"/>
              <a:t>，</a:t>
            </a:r>
            <a:r>
              <a:rPr lang="en-US" altLang="zh-CN" b="1" dirty="0"/>
              <a:t>4-</a:t>
            </a:r>
            <a:r>
              <a:rPr lang="zh-CN" altLang="en-US" b="1" dirty="0"/>
              <a:t>二硝基苯酚不能用来做减肥药？</a:t>
            </a:r>
            <a:endParaRPr lang="en-US" altLang="zh-CN" dirty="0"/>
          </a:p>
          <a:p>
            <a:r>
              <a:rPr lang="zh-CN" altLang="en-US" dirty="0"/>
              <a:t>因为</a:t>
            </a:r>
            <a:r>
              <a:rPr lang="en-US" altLang="zh-CN" dirty="0"/>
              <a:t>DNP</a:t>
            </a:r>
            <a:r>
              <a:rPr lang="zh-CN" altLang="en-US" dirty="0"/>
              <a:t>是一种</a:t>
            </a:r>
            <a:r>
              <a:rPr lang="zh-CN" altLang="en-US" dirty="0">
                <a:hlinkClick r:id="rId3"/>
              </a:rPr>
              <a:t>解偶联剂</a:t>
            </a:r>
            <a:r>
              <a:rPr lang="zh-CN" altLang="en-US" dirty="0"/>
              <a:t>，是让身体内的</a:t>
            </a:r>
            <a:r>
              <a:rPr lang="en-US" altLang="zh-CN" dirty="0"/>
              <a:t>ATP</a:t>
            </a:r>
            <a:r>
              <a:rPr lang="zh-CN" altLang="en-US" dirty="0"/>
              <a:t>合成收到阻碍，这样身体就会自发分解脂肪和蛋白质获得能量来弥补</a:t>
            </a:r>
            <a:r>
              <a:rPr lang="en-US" altLang="zh-CN" dirty="0"/>
              <a:t>ATP</a:t>
            </a:r>
            <a:r>
              <a:rPr lang="zh-CN" altLang="en-US" dirty="0"/>
              <a:t>合成的不足，从而让体重减轻。但是过度分解会导致人死亡，有这样的案例，所以禁用了。你找个学过生物化学这门课的人问一下就懂了。</a:t>
            </a:r>
            <a:endParaRPr lang="en-US" altLang="zh-CN" dirty="0"/>
          </a:p>
          <a:p>
            <a:r>
              <a:rPr lang="zh-CN" altLang="en-US" sz="1200" b="0" i="0" kern="1200" dirty="0">
                <a:solidFill>
                  <a:schemeClr val="tx1"/>
                </a:solidFill>
                <a:effectLst/>
                <a:latin typeface="+mn-lt"/>
                <a:ea typeface="+mn-ea"/>
                <a:cs typeface="+mn-cs"/>
              </a:rPr>
              <a:t>最新研究是耶鲁大学医学院的超级牛人</a:t>
            </a:r>
            <a:r>
              <a:rPr lang="en-US" altLang="zh-CN" sz="1200" b="0" i="0" kern="1200" dirty="0">
                <a:solidFill>
                  <a:schemeClr val="tx1"/>
                </a:solidFill>
                <a:effectLst/>
                <a:latin typeface="+mn-lt"/>
                <a:ea typeface="+mn-ea"/>
                <a:cs typeface="+mn-cs"/>
              </a:rPr>
              <a:t>(CNS</a:t>
            </a:r>
            <a:r>
              <a:rPr lang="zh-CN" altLang="en-US" sz="1200" b="0" i="0" kern="1200" dirty="0">
                <a:solidFill>
                  <a:schemeClr val="tx1"/>
                </a:solidFill>
                <a:effectLst/>
                <a:latin typeface="+mn-lt"/>
                <a:ea typeface="+mn-ea"/>
                <a:cs typeface="+mn-cs"/>
              </a:rPr>
              <a:t>发表的论文无数，年内发表论文高达</a:t>
            </a:r>
            <a:r>
              <a:rPr lang="en-US" altLang="zh-CN" sz="1200" b="0" i="0" kern="1200" dirty="0">
                <a:solidFill>
                  <a:schemeClr val="tx1"/>
                </a:solidFill>
                <a:effectLst/>
                <a:latin typeface="+mn-lt"/>
                <a:ea typeface="+mn-ea"/>
                <a:cs typeface="+mn-cs"/>
              </a:rPr>
              <a:t>30</a:t>
            </a:r>
            <a:r>
              <a:rPr lang="zh-CN" altLang="en-US" sz="1200" b="0" i="0" kern="1200" dirty="0">
                <a:solidFill>
                  <a:schemeClr val="tx1"/>
                </a:solidFill>
                <a:effectLst/>
                <a:latin typeface="+mn-lt"/>
                <a:ea typeface="+mn-ea"/>
                <a:cs typeface="+mn-cs"/>
              </a:rPr>
              <a:t>篇</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，内分泌学家</a:t>
            </a:r>
            <a:r>
              <a:rPr lang="en-US" altLang="zh-CN" sz="1200" b="0" i="0" kern="1200" dirty="0">
                <a:solidFill>
                  <a:schemeClr val="tx1"/>
                </a:solidFill>
                <a:effectLst/>
                <a:latin typeface="+mn-lt"/>
                <a:ea typeface="+mn-ea"/>
                <a:cs typeface="+mn-cs"/>
              </a:rPr>
              <a:t>Gerald Shulman</a:t>
            </a:r>
            <a:r>
              <a:rPr lang="zh-CN" altLang="en-US" sz="1200" b="0" i="0" kern="1200" dirty="0">
                <a:solidFill>
                  <a:schemeClr val="tx1"/>
                </a:solidFill>
                <a:effectLst/>
                <a:latin typeface="+mn-lt"/>
                <a:ea typeface="+mn-ea"/>
                <a:cs typeface="+mn-cs"/>
              </a:rPr>
              <a:t>带领下完成的，最早在第一次世界大战期间，科学家发现法国军工厂工人接触高浓度</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4-</a:t>
            </a:r>
            <a:r>
              <a:rPr lang="zh-CN" altLang="en-US" sz="1200" b="0" i="0" kern="1200" dirty="0">
                <a:solidFill>
                  <a:schemeClr val="tx1"/>
                </a:solidFill>
                <a:effectLst/>
                <a:latin typeface="+mn-lt"/>
                <a:ea typeface="+mn-ea"/>
                <a:cs typeface="+mn-cs"/>
              </a:rPr>
              <a:t>二硝基苯酚后体重下降，少数人会中毒死亡。进一步研究发现，这种药物具有很好的减肥作用，</a:t>
            </a:r>
            <a:r>
              <a:rPr lang="en-US" altLang="zh-CN" sz="1200" b="0" i="0" kern="1200" dirty="0">
                <a:solidFill>
                  <a:schemeClr val="tx1"/>
                </a:solidFill>
                <a:effectLst/>
                <a:latin typeface="+mn-lt"/>
                <a:ea typeface="+mn-ea"/>
                <a:cs typeface="+mn-cs"/>
              </a:rPr>
              <a:t>1930</a:t>
            </a:r>
            <a:r>
              <a:rPr lang="zh-CN" altLang="en-US" sz="1200" b="0" i="0" kern="1200" dirty="0">
                <a:solidFill>
                  <a:schemeClr val="tx1"/>
                </a:solidFill>
                <a:effectLst/>
                <a:latin typeface="+mn-lt"/>
                <a:ea typeface="+mn-ea"/>
                <a:cs typeface="+mn-cs"/>
              </a:rPr>
              <a:t>年代被作为非处方减肥药物广泛使用，据说有至少</a:t>
            </a:r>
            <a:r>
              <a:rPr lang="en-US" altLang="zh-CN" sz="1200" b="0" i="0" kern="1200" dirty="0">
                <a:solidFill>
                  <a:schemeClr val="tx1"/>
                </a:solidFill>
                <a:effectLst/>
                <a:latin typeface="+mn-lt"/>
                <a:ea typeface="+mn-ea"/>
                <a:cs typeface="+mn-cs"/>
              </a:rPr>
              <a:t>10</a:t>
            </a:r>
            <a:r>
              <a:rPr lang="zh-CN" altLang="en-US" sz="1200" b="0" i="0" kern="1200" dirty="0">
                <a:solidFill>
                  <a:schemeClr val="tx1"/>
                </a:solidFill>
                <a:effectLst/>
                <a:latin typeface="+mn-lt"/>
                <a:ea typeface="+mn-ea"/>
                <a:cs typeface="+mn-cs"/>
              </a:rPr>
              <a:t>万美国人使用该药物减肥。后来发现这种药物副作用明显，导致许多食用者死亡，</a:t>
            </a:r>
            <a:r>
              <a:rPr lang="en-US" altLang="zh-CN" sz="1200" b="0" i="0" kern="1200" dirty="0">
                <a:solidFill>
                  <a:schemeClr val="tx1"/>
                </a:solidFill>
                <a:effectLst/>
                <a:latin typeface="+mn-lt"/>
                <a:ea typeface="+mn-ea"/>
                <a:cs typeface="+mn-cs"/>
              </a:rPr>
              <a:t>FDA</a:t>
            </a:r>
            <a:r>
              <a:rPr lang="zh-CN" altLang="en-US" sz="1200" b="0" i="0" kern="1200" dirty="0">
                <a:solidFill>
                  <a:schemeClr val="tx1"/>
                </a:solidFill>
                <a:effectLst/>
                <a:latin typeface="+mn-lt"/>
                <a:ea typeface="+mn-ea"/>
                <a:cs typeface="+mn-cs"/>
              </a:rPr>
              <a:t>禁止使用该药物。但现在仍有不少人使用这种东西减肥，而且不断有报道因大剂量使用致死的。由于这种物质是一种简单的线粒体膜质子漏药物，一直被科学家作为线粒体研究重要工具药。</a:t>
            </a:r>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99</a:t>
            </a:fld>
            <a:endParaRPr lang="zh-CN" altLang="en-US"/>
          </a:p>
        </p:txBody>
      </p:sp>
    </p:spTree>
    <p:extLst>
      <p:ext uri="{BB962C8B-B14F-4D97-AF65-F5344CB8AC3E}">
        <p14:creationId xmlns:p14="http://schemas.microsoft.com/office/powerpoint/2010/main" val="134646336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FCCP</a:t>
            </a:r>
            <a:r>
              <a:rPr lang="zh-CN" altLang="en-US" dirty="0"/>
              <a:t>解偶联剂是线粒体氧化磷酸化解偶联剂，羰基</a:t>
            </a:r>
            <a:r>
              <a:rPr lang="en-US" altLang="zh-CN" dirty="0"/>
              <a:t>-</a:t>
            </a:r>
            <a:r>
              <a:rPr lang="zh-CN" altLang="en-US" dirty="0"/>
              <a:t>氰</a:t>
            </a:r>
            <a:r>
              <a:rPr lang="en-US" altLang="zh-CN" dirty="0"/>
              <a:t>-</a:t>
            </a:r>
            <a:r>
              <a:rPr lang="zh-CN" altLang="en-US" dirty="0"/>
              <a:t>对</a:t>
            </a:r>
            <a:r>
              <a:rPr lang="en-US" altLang="zh-CN" dirty="0"/>
              <a:t>-</a:t>
            </a:r>
            <a:r>
              <a:rPr lang="zh-CN" altLang="en-US" dirty="0"/>
              <a:t>三氟甲氧基本腙 </a:t>
            </a:r>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100</a:t>
            </a:fld>
            <a:endParaRPr lang="zh-CN" altLang="en-US"/>
          </a:p>
        </p:txBody>
      </p:sp>
    </p:spTree>
    <p:extLst>
      <p:ext uri="{BB962C8B-B14F-4D97-AF65-F5344CB8AC3E}">
        <p14:creationId xmlns:p14="http://schemas.microsoft.com/office/powerpoint/2010/main" val="399148419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a:t>
            </a:r>
            <a:r>
              <a:rPr lang="en-US" altLang="zh-CN" baseline="-25000" dirty="0"/>
              <a:t>O</a:t>
            </a:r>
            <a:r>
              <a:rPr lang="en-US" altLang="zh-CN" dirty="0"/>
              <a:t>-F</a:t>
            </a:r>
            <a:r>
              <a:rPr lang="en-US" altLang="zh-CN" baseline="-25000" dirty="0"/>
              <a:t>1</a:t>
            </a:r>
            <a:r>
              <a:rPr lang="zh-CN" altLang="en-US" dirty="0"/>
              <a:t>重组实验</a:t>
            </a:r>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104</a:t>
            </a:fld>
            <a:endParaRPr lang="zh-CN" altLang="en-US"/>
          </a:p>
        </p:txBody>
      </p:sp>
    </p:spTree>
    <p:extLst>
      <p:ext uri="{BB962C8B-B14F-4D97-AF65-F5344CB8AC3E}">
        <p14:creationId xmlns:p14="http://schemas.microsoft.com/office/powerpoint/2010/main" val="59582333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Fo</a:t>
            </a:r>
            <a:r>
              <a:rPr lang="zh-CN" altLang="en-US" dirty="0"/>
              <a:t>（哦）不是</a:t>
            </a:r>
            <a:r>
              <a:rPr lang="en-US" altLang="zh-CN" dirty="0"/>
              <a:t>0</a:t>
            </a:r>
            <a:r>
              <a:rPr lang="zh-CN" altLang="en-US" dirty="0"/>
              <a:t>（零）</a:t>
            </a:r>
            <a:endParaRPr lang="en-US" altLang="zh-CN" dirty="0"/>
          </a:p>
          <a:p>
            <a:r>
              <a:rPr lang="pt-BR" altLang="zh-CN" sz="1800" b="0" i="0" dirty="0">
                <a:solidFill>
                  <a:srgbClr val="000000"/>
                </a:solidFill>
                <a:effectLst/>
                <a:latin typeface="TimesNewRomanPSMT"/>
              </a:rPr>
              <a:t>Fo (</a:t>
            </a:r>
            <a:r>
              <a:rPr lang="pt-BR" altLang="zh-CN" sz="1800" b="0" i="1" dirty="0">
                <a:solidFill>
                  <a:srgbClr val="000000"/>
                </a:solidFill>
                <a:effectLst/>
                <a:latin typeface="TimesNewRomanPS-ItalicMT"/>
              </a:rPr>
              <a:t>o </a:t>
            </a:r>
            <a:r>
              <a:rPr lang="pt-BR" altLang="zh-CN" sz="1800" b="0" i="0" dirty="0">
                <a:solidFill>
                  <a:srgbClr val="000000"/>
                </a:solidFill>
                <a:effectLst/>
                <a:latin typeface="TimesNewRomanPSMT"/>
              </a:rPr>
              <a:t>denoting oligomycin-sensitive)</a:t>
            </a:r>
            <a:r>
              <a:rPr lang="pt-BR" altLang="zh-CN" dirty="0"/>
              <a:t> </a:t>
            </a:r>
            <a:br>
              <a:rPr lang="pt-BR" altLang="zh-CN" dirty="0"/>
            </a:br>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108</a:t>
            </a:fld>
            <a:endParaRPr lang="zh-CN" altLang="en-US"/>
          </a:p>
        </p:txBody>
      </p:sp>
    </p:spTree>
    <p:extLst>
      <p:ext uri="{BB962C8B-B14F-4D97-AF65-F5344CB8AC3E}">
        <p14:creationId xmlns:p14="http://schemas.microsoft.com/office/powerpoint/2010/main" val="129057666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Glycerol 3-phosphate dehydrogenase</a:t>
            </a:r>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111</a:t>
            </a:fld>
            <a:endParaRPr lang="zh-CN" altLang="en-US"/>
          </a:p>
        </p:txBody>
      </p:sp>
    </p:spTree>
    <p:extLst>
      <p:ext uri="{BB962C8B-B14F-4D97-AF65-F5344CB8AC3E}">
        <p14:creationId xmlns:p14="http://schemas.microsoft.com/office/powerpoint/2010/main" val="13103944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1" descr="C:\Users\Administrator\AppData\Roaming\Tencent\Users\85060380\QQ\WinTemp\RichOle\3{JSB(G2RI2O{CFOGZRGH23.jpg"/>
          <p:cNvPicPr>
            <a:picLocks noChangeAspect="1" noChangeArrowheads="1"/>
          </p:cNvPicPr>
          <p:nvPr/>
        </p:nvPicPr>
        <p:blipFill rotWithShape="1">
          <a:blip r:embed="rId2" cstate="print"/>
          <a:srcRect r="78850"/>
          <a:stretch/>
        </p:blipFill>
        <p:spPr bwMode="auto">
          <a:xfrm>
            <a:off x="1" y="44624"/>
            <a:ext cx="899591" cy="792088"/>
          </a:xfrm>
          <a:prstGeom prst="rect">
            <a:avLst/>
          </a:prstGeom>
          <a:noFill/>
          <a:ln w="9525">
            <a:noFill/>
            <a:miter lim="800000"/>
            <a:headEnd/>
            <a:tailEnd/>
          </a:ln>
        </p:spPr>
      </p:pic>
      <p:pic>
        <p:nvPicPr>
          <p:cNvPr id="6" name="Picture 2" descr="C:\Users\Administrator\AppData\Roaming\Tencent\Users\85060380\QQ\WinTemp\RichOle\J6JYNSSQRTOD2X}K2W`MNJ7.jpg"/>
          <p:cNvPicPr>
            <a:picLocks noChangeAspect="1" noChangeArrowheads="1"/>
          </p:cNvPicPr>
          <p:nvPr/>
        </p:nvPicPr>
        <p:blipFill>
          <a:blip r:embed="rId3" cstate="print"/>
          <a:srcRect/>
          <a:stretch>
            <a:fillRect/>
          </a:stretch>
        </p:blipFill>
        <p:spPr bwMode="auto">
          <a:xfrm>
            <a:off x="6764751" y="1"/>
            <a:ext cx="1191625" cy="740094"/>
          </a:xfrm>
          <a:prstGeom prst="rect">
            <a:avLst/>
          </a:prstGeom>
          <a:noFill/>
          <a:ln w="9525">
            <a:noFill/>
            <a:miter lim="800000"/>
            <a:headEnd/>
            <a:tailEnd/>
          </a:ln>
        </p:spPr>
      </p:pic>
      <p:pic>
        <p:nvPicPr>
          <p:cNvPr id="7" name="Picture 3" descr="C:\Users\Administrator\AppData\Roaming\Tencent\Users\85060380\QQ\WinTemp\RichOle\GD$GN72[756M7J@}Q112F3M.jpg"/>
          <p:cNvPicPr>
            <a:picLocks noChangeAspect="1" noChangeArrowheads="1"/>
          </p:cNvPicPr>
          <p:nvPr/>
        </p:nvPicPr>
        <p:blipFill>
          <a:blip r:embed="rId4" cstate="print"/>
          <a:srcRect/>
          <a:stretch>
            <a:fillRect/>
          </a:stretch>
        </p:blipFill>
        <p:spPr bwMode="auto">
          <a:xfrm>
            <a:off x="7956376" y="1"/>
            <a:ext cx="1191625" cy="740094"/>
          </a:xfrm>
          <a:prstGeom prst="rect">
            <a:avLst/>
          </a:prstGeom>
          <a:noFill/>
          <a:ln w="9525">
            <a:noFill/>
            <a:miter lim="800000"/>
            <a:headEnd/>
            <a:tailEnd/>
          </a:ln>
        </p:spPr>
      </p:pic>
      <p:pic>
        <p:nvPicPr>
          <p:cNvPr id="8" name="Picture 4" descr="C:\Users\Administrator\AppData\Roaming\Tencent\Users\85060380\QQ\WinTemp\RichOle\{SL304[_K`X~M@`NNZQS~XD.jpg"/>
          <p:cNvPicPr>
            <a:picLocks noChangeAspect="1" noChangeArrowheads="1"/>
          </p:cNvPicPr>
          <p:nvPr/>
        </p:nvPicPr>
        <p:blipFill>
          <a:blip r:embed="rId5" cstate="print"/>
          <a:srcRect/>
          <a:stretch>
            <a:fillRect/>
          </a:stretch>
        </p:blipFill>
        <p:spPr bwMode="auto">
          <a:xfrm>
            <a:off x="4427984" y="0"/>
            <a:ext cx="2350885" cy="740094"/>
          </a:xfrm>
          <a:prstGeom prst="rect">
            <a:avLst/>
          </a:prstGeom>
          <a:noFill/>
          <a:ln w="9525">
            <a:noFill/>
            <a:miter lim="800000"/>
            <a:headEnd/>
            <a:tailEnd/>
          </a:ln>
        </p:spPr>
      </p:pic>
      <p:sp>
        <p:nvSpPr>
          <p:cNvPr id="2" name="标题 1"/>
          <p:cNvSpPr>
            <a:spLocks noGrp="1"/>
          </p:cNvSpPr>
          <p:nvPr>
            <p:ph type="ctrTitle"/>
          </p:nvPr>
        </p:nvSpPr>
        <p:spPr>
          <a:xfrm>
            <a:off x="685800" y="2130425"/>
            <a:ext cx="7772400" cy="1470025"/>
          </a:xfrm>
          <a:prstGeom prst="rect">
            <a:avLst/>
          </a:prstGeom>
        </p:spPr>
        <p:txBody>
          <a:bodyPr/>
          <a:lstStyle>
            <a:lvl1pPr>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9" name="日期占位符 3"/>
          <p:cNvSpPr>
            <a:spLocks noGrp="1"/>
          </p:cNvSpPr>
          <p:nvPr>
            <p:ph type="dt" sz="half" idx="10"/>
          </p:nvPr>
        </p:nvSpPr>
        <p:spPr/>
        <p:txBody>
          <a:bodyPr/>
          <a:lstStyle>
            <a:lvl1pPr>
              <a:defRPr/>
            </a:lvl1pPr>
          </a:lstStyle>
          <a:p>
            <a:pPr>
              <a:defRPr/>
            </a:pPr>
            <a:fld id="{3169F77C-FFE2-4793-9207-02588634C718}" type="datetimeFigureOut">
              <a:rPr lang="zh-CN" altLang="en-US"/>
              <a:pPr>
                <a:defRPr/>
              </a:pPr>
              <a:t>2022/11/30</a:t>
            </a:fld>
            <a:endParaRPr lang="zh-CN" altLang="en-US"/>
          </a:p>
        </p:txBody>
      </p:sp>
      <p:sp>
        <p:nvSpPr>
          <p:cNvPr id="10" name="页脚占位符 4"/>
          <p:cNvSpPr>
            <a:spLocks noGrp="1"/>
          </p:cNvSpPr>
          <p:nvPr>
            <p:ph type="ftr" sz="quarter" idx="11"/>
          </p:nvPr>
        </p:nvSpPr>
        <p:spPr/>
        <p:txBody>
          <a:bodyPr/>
          <a:lstStyle>
            <a:lvl1pPr>
              <a:defRPr/>
            </a:lvl1pPr>
          </a:lstStyle>
          <a:p>
            <a:pPr>
              <a:defRPr/>
            </a:pPr>
            <a:endParaRPr lang="zh-CN" altLang="en-US"/>
          </a:p>
        </p:txBody>
      </p:sp>
      <p:sp>
        <p:nvSpPr>
          <p:cNvPr id="11" name="灯片编号占位符 5"/>
          <p:cNvSpPr>
            <a:spLocks noGrp="1"/>
          </p:cNvSpPr>
          <p:nvPr>
            <p:ph type="sldNum" sz="quarter" idx="12"/>
          </p:nvPr>
        </p:nvSpPr>
        <p:spPr/>
        <p:txBody>
          <a:bodyPr/>
          <a:lstStyle>
            <a:lvl1pPr>
              <a:defRPr/>
            </a:lvl1pPr>
          </a:lstStyle>
          <a:p>
            <a:pPr>
              <a:defRPr/>
            </a:pPr>
            <a:fld id="{CDC8E333-6AB3-4FDA-8E97-ACA84AEA881D}" type="slidenum">
              <a:rPr lang="zh-CN" altLang="en-US"/>
              <a:pPr>
                <a:defRPr/>
              </a:pPr>
              <a:t>‹#›</a:t>
            </a:fld>
            <a:endParaRPr lang="zh-CN" altLang="en-US"/>
          </a:p>
        </p:txBody>
      </p:sp>
      <p:pic>
        <p:nvPicPr>
          <p:cNvPr id="13" name="图片 12">
            <a:extLst>
              <a:ext uri="{FF2B5EF4-FFF2-40B4-BE49-F238E27FC236}">
                <a16:creationId xmlns:a16="http://schemas.microsoft.com/office/drawing/2014/main" id="{B93D3275-083F-47FB-8AE6-915D3BE6F623}"/>
              </a:ext>
            </a:extLst>
          </p:cNvPr>
          <p:cNvPicPr>
            <a:picLocks noChangeAspect="1"/>
          </p:cNvPicPr>
          <p:nvPr userDrawn="1"/>
        </p:nvPicPr>
        <p:blipFill rotWithShape="1">
          <a:blip r:embed="rId6" cstate="print"/>
          <a:srcRect l="32675" t="11636" r="34167" b="75247"/>
          <a:stretch/>
        </p:blipFill>
        <p:spPr>
          <a:xfrm>
            <a:off x="971600" y="259870"/>
            <a:ext cx="2592288" cy="57684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6" name="Picture 2" descr="C:\Users\Administrator\Desktop\44.jpg"/>
          <p:cNvPicPr>
            <a:picLocks noChangeAspect="1" noChangeArrowheads="1"/>
          </p:cNvPicPr>
          <p:nvPr/>
        </p:nvPicPr>
        <p:blipFill>
          <a:blip r:embed="rId2" cstate="print"/>
          <a:srcRect/>
          <a:stretch>
            <a:fillRect/>
          </a:stretch>
        </p:blipFill>
        <p:spPr bwMode="auto">
          <a:xfrm>
            <a:off x="7429500" y="5948363"/>
            <a:ext cx="1714500" cy="909637"/>
          </a:xfrm>
          <a:prstGeom prst="rect">
            <a:avLst/>
          </a:prstGeom>
          <a:noFill/>
          <a:ln w="9525">
            <a:noFill/>
            <a:miter lim="800000"/>
            <a:headEnd/>
            <a:tailEnd/>
          </a:ln>
        </p:spPr>
      </p:pic>
      <p:sp>
        <p:nvSpPr>
          <p:cNvPr id="7" name="日期占位符 3"/>
          <p:cNvSpPr>
            <a:spLocks noGrp="1"/>
          </p:cNvSpPr>
          <p:nvPr>
            <p:ph type="dt" sz="half" idx="10"/>
          </p:nvPr>
        </p:nvSpPr>
        <p:spPr/>
        <p:txBody>
          <a:bodyPr/>
          <a:lstStyle>
            <a:lvl1pPr>
              <a:defRPr/>
            </a:lvl1pPr>
          </a:lstStyle>
          <a:p>
            <a:pPr>
              <a:defRPr/>
            </a:pPr>
            <a:fld id="{B91F3533-4646-4892-B1D3-08067A86ACDD}" type="datetimeFigureOut">
              <a:rPr lang="zh-CN" altLang="en-US"/>
              <a:pPr>
                <a:defRPr/>
              </a:pPr>
              <a:t>2022/11/30</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F36D17FC-20E3-4805-979B-A7677B8B4C05}" type="slidenum">
              <a:rPr lang="zh-CN" altLang="en-US"/>
              <a:pPr>
                <a:defRPr/>
              </a:pPr>
              <a:t>‹#›</a:t>
            </a:fld>
            <a:endParaRPr lang="zh-CN" altLang="en-US"/>
          </a:p>
        </p:txBody>
      </p:sp>
      <p:pic>
        <p:nvPicPr>
          <p:cNvPr id="10" name="Picture 1" descr="C:\Users\Administrator\AppData\Roaming\Tencent\Users\85060380\QQ\WinTemp\RichOle\3{JSB(G2RI2O{CFOGZRGH23.jpg">
            <a:extLst>
              <a:ext uri="{FF2B5EF4-FFF2-40B4-BE49-F238E27FC236}">
                <a16:creationId xmlns:a16="http://schemas.microsoft.com/office/drawing/2014/main" id="{3270E545-7934-4BFA-B40E-1C355AF290BD}"/>
              </a:ext>
            </a:extLst>
          </p:cNvPr>
          <p:cNvPicPr>
            <a:picLocks noChangeAspect="1" noChangeArrowheads="1"/>
          </p:cNvPicPr>
          <p:nvPr userDrawn="1"/>
        </p:nvPicPr>
        <p:blipFill rotWithShape="1">
          <a:blip r:embed="rId3" cstate="print"/>
          <a:srcRect r="78850"/>
          <a:stretch/>
        </p:blipFill>
        <p:spPr bwMode="auto">
          <a:xfrm>
            <a:off x="1" y="6126164"/>
            <a:ext cx="862263" cy="759220"/>
          </a:xfrm>
          <a:prstGeom prst="rect">
            <a:avLst/>
          </a:prstGeom>
          <a:noFill/>
          <a:ln w="9525">
            <a:noFill/>
            <a:miter lim="800000"/>
            <a:headEnd/>
            <a:tailEnd/>
          </a:ln>
        </p:spPr>
      </p:pic>
      <p:pic>
        <p:nvPicPr>
          <p:cNvPr id="11" name="图片 10">
            <a:extLst>
              <a:ext uri="{FF2B5EF4-FFF2-40B4-BE49-F238E27FC236}">
                <a16:creationId xmlns:a16="http://schemas.microsoft.com/office/drawing/2014/main" id="{9D899D2D-93AD-4325-9F12-9039E226AB1A}"/>
              </a:ext>
            </a:extLst>
          </p:cNvPr>
          <p:cNvPicPr>
            <a:picLocks noChangeAspect="1"/>
          </p:cNvPicPr>
          <p:nvPr userDrawn="1"/>
        </p:nvPicPr>
        <p:blipFill rotWithShape="1">
          <a:blip r:embed="rId4" cstate="print"/>
          <a:srcRect l="32675" t="11636" r="34167" b="75247"/>
          <a:stretch/>
        </p:blipFill>
        <p:spPr>
          <a:xfrm>
            <a:off x="810072" y="6309320"/>
            <a:ext cx="1872208" cy="41660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3"/>
          <p:cNvSpPr>
            <a:spLocks noGrp="1"/>
          </p:cNvSpPr>
          <p:nvPr>
            <p:ph type="dt" sz="half" idx="10"/>
          </p:nvPr>
        </p:nvSpPr>
        <p:spPr/>
        <p:txBody>
          <a:bodyPr/>
          <a:lstStyle>
            <a:lvl1pPr>
              <a:defRPr/>
            </a:lvl1pPr>
          </a:lstStyle>
          <a:p>
            <a:pPr>
              <a:defRPr/>
            </a:pPr>
            <a:fld id="{22A4F1A8-960E-4ED9-9A4F-401EFE12B95D}" type="datetimeFigureOut">
              <a:rPr lang="zh-CN" altLang="en-US"/>
              <a:pPr>
                <a:defRPr/>
              </a:pPr>
              <a:t>2022/11/30</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85FA7321-CB36-4EF0-87BA-C64E2A84FAED}"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8309E1E0-9E63-41E0-8CDD-DF0C8EF81975}" type="datetimeFigureOut">
              <a:rPr lang="zh-CN" altLang="en-US"/>
              <a:pPr>
                <a:defRPr/>
              </a:pPr>
              <a:t>2022/11/30</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61E5839-3D4F-4698-B864-F37BC54DB928}"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垂直排列标题与文本">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056">
            <a:extLst>
              <a:ext uri="{FF2B5EF4-FFF2-40B4-BE49-F238E27FC236}">
                <a16:creationId xmlns:a16="http://schemas.microsoft.com/office/drawing/2014/main" id="{7DC53FBE-35CB-4D18-AF60-43A4B4AF2BC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057">
            <a:extLst>
              <a:ext uri="{FF2B5EF4-FFF2-40B4-BE49-F238E27FC236}">
                <a16:creationId xmlns:a16="http://schemas.microsoft.com/office/drawing/2014/main" id="{03193A6D-A4C7-4ADC-BA4F-D6ADEC9FC92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058">
            <a:extLst>
              <a:ext uri="{FF2B5EF4-FFF2-40B4-BE49-F238E27FC236}">
                <a16:creationId xmlns:a16="http://schemas.microsoft.com/office/drawing/2014/main" id="{EAC58636-4D8C-452D-8562-7369E3BD0C90}"/>
              </a:ext>
            </a:extLst>
          </p:cNvPr>
          <p:cNvSpPr>
            <a:spLocks noGrp="1" noChangeArrowheads="1"/>
          </p:cNvSpPr>
          <p:nvPr>
            <p:ph type="sldNum" sz="quarter" idx="12"/>
          </p:nvPr>
        </p:nvSpPr>
        <p:spPr>
          <a:ln/>
        </p:spPr>
        <p:txBody>
          <a:bodyPr/>
          <a:lstStyle>
            <a:lvl1pPr>
              <a:defRPr/>
            </a:lvl1pPr>
          </a:lstStyle>
          <a:p>
            <a:fld id="{27D05128-49EB-43F5-A705-A179A79C65AF}" type="slidenum">
              <a:rPr lang="en-US" altLang="zh-CN"/>
              <a:pPr/>
              <a:t>‹#›</a:t>
            </a:fld>
            <a:endParaRPr lang="en-US" altLang="zh-CN"/>
          </a:p>
        </p:txBody>
      </p:sp>
    </p:spTree>
    <p:extLst>
      <p:ext uri="{BB962C8B-B14F-4D97-AF65-F5344CB8AC3E}">
        <p14:creationId xmlns:p14="http://schemas.microsoft.com/office/powerpoint/2010/main" val="327472914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465138"/>
            <a:ext cx="7772400" cy="1431925"/>
          </a:xfrm>
        </p:spPr>
        <p:txBody>
          <a:bodyPr/>
          <a:lstStyle/>
          <a:p>
            <a:r>
              <a:rPr lang="zh-CN" altLang="en-US"/>
              <a:t>单击此处编辑母版标题样式</a:t>
            </a:r>
          </a:p>
        </p:txBody>
      </p:sp>
      <p:sp>
        <p:nvSpPr>
          <p:cNvPr id="3" name="表格占位符 2"/>
          <p:cNvSpPr>
            <a:spLocks noGrp="1"/>
          </p:cNvSpPr>
          <p:nvPr>
            <p:ph type="tbl" idx="1"/>
          </p:nvPr>
        </p:nvSpPr>
        <p:spPr>
          <a:xfrm>
            <a:off x="685800" y="1981200"/>
            <a:ext cx="7772400" cy="4114800"/>
          </a:xfrm>
        </p:spPr>
        <p:txBody>
          <a:bodyPr/>
          <a:lstStyle/>
          <a:p>
            <a:pPr lvl="0"/>
            <a:endParaRPr lang="zh-CN" altLang="en-US" noProof="0"/>
          </a:p>
        </p:txBody>
      </p:sp>
      <p:sp>
        <p:nvSpPr>
          <p:cNvPr id="4" name="Rectangle 1056">
            <a:extLst>
              <a:ext uri="{FF2B5EF4-FFF2-40B4-BE49-F238E27FC236}">
                <a16:creationId xmlns:a16="http://schemas.microsoft.com/office/drawing/2014/main" id="{0BE053B7-0FA5-4D35-A589-B768D455090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057">
            <a:extLst>
              <a:ext uri="{FF2B5EF4-FFF2-40B4-BE49-F238E27FC236}">
                <a16:creationId xmlns:a16="http://schemas.microsoft.com/office/drawing/2014/main" id="{9310B45E-27A5-49F3-8500-9865145D69E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58">
            <a:extLst>
              <a:ext uri="{FF2B5EF4-FFF2-40B4-BE49-F238E27FC236}">
                <a16:creationId xmlns:a16="http://schemas.microsoft.com/office/drawing/2014/main" id="{6B08D0D3-0D2D-491E-9936-3805A289A304}"/>
              </a:ext>
            </a:extLst>
          </p:cNvPr>
          <p:cNvSpPr>
            <a:spLocks noGrp="1" noChangeArrowheads="1"/>
          </p:cNvSpPr>
          <p:nvPr>
            <p:ph type="sldNum" sz="quarter" idx="12"/>
          </p:nvPr>
        </p:nvSpPr>
        <p:spPr>
          <a:ln/>
        </p:spPr>
        <p:txBody>
          <a:bodyPr/>
          <a:lstStyle>
            <a:lvl1pPr>
              <a:defRPr/>
            </a:lvl1pPr>
          </a:lstStyle>
          <a:p>
            <a:fld id="{8CAB4580-B2C1-41B7-8FAD-68095E869AAC}" type="slidenum">
              <a:rPr lang="en-US" altLang="zh-CN"/>
              <a:pPr/>
              <a:t>‹#›</a:t>
            </a:fld>
            <a:endParaRPr lang="en-US" altLang="zh-CN"/>
          </a:p>
        </p:txBody>
      </p:sp>
    </p:spTree>
    <p:extLst>
      <p:ext uri="{BB962C8B-B14F-4D97-AF65-F5344CB8AC3E}">
        <p14:creationId xmlns:p14="http://schemas.microsoft.com/office/powerpoint/2010/main" val="2658933884"/>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685800" y="465138"/>
            <a:ext cx="7772400" cy="1431925"/>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剪贴画占位符 3"/>
          <p:cNvSpPr>
            <a:spLocks noGrp="1"/>
          </p:cNvSpPr>
          <p:nvPr>
            <p:ph type="clipArt" sz="half" idx="2"/>
          </p:nvPr>
        </p:nvSpPr>
        <p:spPr>
          <a:xfrm>
            <a:off x="4648200" y="1981200"/>
            <a:ext cx="3810000" cy="4114800"/>
          </a:xfrm>
        </p:spPr>
        <p:txBody>
          <a:bodyPr/>
          <a:lstStyle/>
          <a:p>
            <a:pPr lvl="0"/>
            <a:endParaRPr lang="zh-CN" altLang="en-US" noProof="0"/>
          </a:p>
        </p:txBody>
      </p:sp>
      <p:sp>
        <p:nvSpPr>
          <p:cNvPr id="5" name="Rectangle 1056">
            <a:extLst>
              <a:ext uri="{FF2B5EF4-FFF2-40B4-BE49-F238E27FC236}">
                <a16:creationId xmlns:a16="http://schemas.microsoft.com/office/drawing/2014/main" id="{5804BFED-16E7-430A-B361-995FCD15EF5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057">
            <a:extLst>
              <a:ext uri="{FF2B5EF4-FFF2-40B4-BE49-F238E27FC236}">
                <a16:creationId xmlns:a16="http://schemas.microsoft.com/office/drawing/2014/main" id="{316EA543-D8CE-4C1D-9815-681A4FDEA0D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058">
            <a:extLst>
              <a:ext uri="{FF2B5EF4-FFF2-40B4-BE49-F238E27FC236}">
                <a16:creationId xmlns:a16="http://schemas.microsoft.com/office/drawing/2014/main" id="{BB9BD4D6-4C44-4462-B019-4CF280144AD9}"/>
              </a:ext>
            </a:extLst>
          </p:cNvPr>
          <p:cNvSpPr>
            <a:spLocks noGrp="1" noChangeArrowheads="1"/>
          </p:cNvSpPr>
          <p:nvPr>
            <p:ph type="sldNum" sz="quarter" idx="12"/>
          </p:nvPr>
        </p:nvSpPr>
        <p:spPr>
          <a:ln/>
        </p:spPr>
        <p:txBody>
          <a:bodyPr/>
          <a:lstStyle>
            <a:lvl1pPr>
              <a:defRPr/>
            </a:lvl1pPr>
          </a:lstStyle>
          <a:p>
            <a:fld id="{D7EA7CF2-C4C7-453E-808D-EE06BC1B9B34}" type="slidenum">
              <a:rPr lang="en-US" altLang="zh-CN"/>
              <a:pPr/>
              <a:t>‹#›</a:t>
            </a:fld>
            <a:endParaRPr lang="en-US" altLang="zh-CN"/>
          </a:p>
        </p:txBody>
      </p:sp>
    </p:spTree>
    <p:extLst>
      <p:ext uri="{BB962C8B-B14F-4D97-AF65-F5344CB8AC3E}">
        <p14:creationId xmlns:p14="http://schemas.microsoft.com/office/powerpoint/2010/main" val="3452941005"/>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56">
            <a:extLst>
              <a:ext uri="{FF2B5EF4-FFF2-40B4-BE49-F238E27FC236}">
                <a16:creationId xmlns:a16="http://schemas.microsoft.com/office/drawing/2014/main" id="{56F93937-1DE6-4525-A7E9-9F27AA0D7AE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057">
            <a:extLst>
              <a:ext uri="{FF2B5EF4-FFF2-40B4-BE49-F238E27FC236}">
                <a16:creationId xmlns:a16="http://schemas.microsoft.com/office/drawing/2014/main" id="{4B366E88-5914-4012-B335-E4ACE4D7282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58">
            <a:extLst>
              <a:ext uri="{FF2B5EF4-FFF2-40B4-BE49-F238E27FC236}">
                <a16:creationId xmlns:a16="http://schemas.microsoft.com/office/drawing/2014/main" id="{8A4452EF-140A-4415-A328-FE99C2551BFE}"/>
              </a:ext>
            </a:extLst>
          </p:cNvPr>
          <p:cNvSpPr>
            <a:spLocks noGrp="1" noChangeArrowheads="1"/>
          </p:cNvSpPr>
          <p:nvPr>
            <p:ph type="sldNum" sz="quarter" idx="12"/>
          </p:nvPr>
        </p:nvSpPr>
        <p:spPr>
          <a:ln/>
        </p:spPr>
        <p:txBody>
          <a:bodyPr/>
          <a:lstStyle>
            <a:lvl1pPr>
              <a:defRPr/>
            </a:lvl1pPr>
          </a:lstStyle>
          <a:p>
            <a:fld id="{D07D07DA-3971-4355-88D5-92FE3CD2DBEE}" type="slidenum">
              <a:rPr lang="en-US" altLang="zh-CN"/>
              <a:pPr/>
              <a:t>‹#›</a:t>
            </a:fld>
            <a:endParaRPr lang="en-US" altLang="zh-CN"/>
          </a:p>
        </p:txBody>
      </p:sp>
    </p:spTree>
    <p:extLst>
      <p:ext uri="{BB962C8B-B14F-4D97-AF65-F5344CB8AC3E}">
        <p14:creationId xmlns:p14="http://schemas.microsoft.com/office/powerpoint/2010/main" val="3352936772"/>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B11D7156-5C3F-4BEA-93EC-FF328D866D27}" type="datetimeFigureOut">
              <a:rPr lang="zh-CN" altLang="en-US"/>
              <a:pPr>
                <a:defRPr/>
              </a:pPr>
              <a:t>2022/11/30</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9C709816-5D03-481C-A7CB-52B98C3CDEFE}"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853" r:id="rId1"/>
    <p:sldLayoutId id="2147483854"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 id="2147483855" r:id="rId12"/>
    <p:sldLayoutId id="2147483857" r:id="rId13"/>
    <p:sldLayoutId id="2147483858" r:id="rId14"/>
    <p:sldLayoutId id="2147483859" r:id="rId15"/>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gdyang@sdau.edu.c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18.wmf"/><Relationship Id="rId5" Type="http://schemas.openxmlformats.org/officeDocument/2006/relationships/oleObject" Target="../embeddings/oleObject2.bin"/><Relationship Id="rId4" Type="http://schemas.openxmlformats.org/officeDocument/2006/relationships/image" Target="../media/image17.wmf"/></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oleObject" Target="../embeddings/oleObject3.bin"/><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35.jpeg"/></Relationships>
</file>

<file path=ppt/slides/_rels/slide41.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4.xml"/></Relationships>
</file>

<file path=ppt/slides/_rels/slide97.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image" Target="../media/image73.jpeg"/><Relationship Id="rId1" Type="http://schemas.openxmlformats.org/officeDocument/2006/relationships/slideLayout" Target="../slideLayouts/slideLayout2.xml"/><Relationship Id="rId5" Type="http://schemas.openxmlformats.org/officeDocument/2006/relationships/image" Target="../media/image76.jpeg"/><Relationship Id="rId4" Type="http://schemas.openxmlformats.org/officeDocument/2006/relationships/image" Target="../media/image75.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oleObject" Target="../embeddings/oleObject7.bin"/><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oleObject" Target="../embeddings/oleObject5.bin"/><Relationship Id="rId4" Type="http://schemas.openxmlformats.org/officeDocument/2006/relationships/image" Target="../media/image77.png"/></Relationships>
</file>

<file path=ppt/slides/_rels/slide100.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87.jpe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image" Target="../media/image88.jpe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ctrTitle"/>
          </p:nvPr>
        </p:nvSpPr>
        <p:spPr>
          <a:xfrm>
            <a:off x="642938" y="2000250"/>
            <a:ext cx="7772400" cy="1470025"/>
          </a:xfrm>
        </p:spPr>
        <p:txBody>
          <a:bodyPr/>
          <a:lstStyle/>
          <a:p>
            <a:pPr eaLnBrk="1" hangingPunct="1"/>
            <a:r>
              <a:rPr lang="en-US" altLang="zh-CN" sz="4000" b="1" dirty="0">
                <a:solidFill>
                  <a:srgbClr val="FF0000"/>
                </a:solidFill>
              </a:rPr>
              <a:t>Section L  </a:t>
            </a:r>
            <a:br>
              <a:rPr lang="en-US" altLang="zh-CN" sz="4000" b="1" dirty="0">
                <a:solidFill>
                  <a:srgbClr val="FF0000"/>
                </a:solidFill>
              </a:rPr>
            </a:br>
            <a:r>
              <a:rPr lang="en-US" altLang="zh-CN" sz="4000" b="1" dirty="0">
                <a:solidFill>
                  <a:srgbClr val="FF0000"/>
                </a:solidFill>
              </a:rPr>
              <a:t>Respiration and energy</a:t>
            </a:r>
            <a:endParaRPr lang="zh-CN" altLang="en-US" sz="4000" b="1" dirty="0">
              <a:solidFill>
                <a:srgbClr val="FF0000"/>
              </a:solidFill>
            </a:endParaRPr>
          </a:p>
        </p:txBody>
      </p:sp>
      <p:sp>
        <p:nvSpPr>
          <p:cNvPr id="4099" name="副标题 2"/>
          <p:cNvSpPr>
            <a:spLocks noGrp="1"/>
          </p:cNvSpPr>
          <p:nvPr>
            <p:ph type="subTitle" idx="1"/>
          </p:nvPr>
        </p:nvSpPr>
        <p:spPr>
          <a:xfrm>
            <a:off x="5143500" y="3714750"/>
            <a:ext cx="3214688" cy="1471613"/>
          </a:xfrm>
        </p:spPr>
        <p:txBody>
          <a:bodyPr/>
          <a:lstStyle/>
          <a:p>
            <a:pPr eaLnBrk="1" hangingPunct="1"/>
            <a:r>
              <a:rPr lang="en-US" altLang="zh-CN" sz="2400" b="1" dirty="0" err="1">
                <a:solidFill>
                  <a:schemeClr val="tx1"/>
                </a:solidFill>
              </a:rPr>
              <a:t>Guodong</a:t>
            </a:r>
            <a:r>
              <a:rPr lang="en-US" altLang="zh-CN" sz="2400" b="1" dirty="0">
                <a:solidFill>
                  <a:schemeClr val="tx1"/>
                </a:solidFill>
              </a:rPr>
              <a:t> Yang</a:t>
            </a:r>
          </a:p>
          <a:p>
            <a:pPr eaLnBrk="1" hangingPunct="1"/>
            <a:r>
              <a:rPr lang="en-US" altLang="zh-CN" sz="1600" b="1" dirty="0">
                <a:solidFill>
                  <a:schemeClr val="tx1"/>
                </a:solidFill>
              </a:rPr>
              <a:t>Biochemistry and Molecular Biology, College of Life Sciences</a:t>
            </a:r>
            <a:br>
              <a:rPr lang="en-US" altLang="zh-CN" sz="1600" b="1" dirty="0">
                <a:solidFill>
                  <a:schemeClr val="tx1"/>
                </a:solidFill>
              </a:rPr>
            </a:br>
            <a:endParaRPr lang="en-US" altLang="zh-CN" sz="1600" b="1" dirty="0">
              <a:solidFill>
                <a:schemeClr val="tx1"/>
              </a:solidFill>
            </a:endParaRPr>
          </a:p>
          <a:p>
            <a:pPr eaLnBrk="1" hangingPunct="1"/>
            <a:r>
              <a:rPr lang="en-US" altLang="zh-CN" sz="1600" b="1" dirty="0">
                <a:solidFill>
                  <a:schemeClr val="tx1"/>
                </a:solidFill>
                <a:hlinkClick r:id="rId3"/>
              </a:rPr>
              <a:t>gdyang@sdau.edu.cn</a:t>
            </a:r>
            <a:endParaRPr lang="en-US" altLang="zh-CN" sz="1600" b="1" dirty="0">
              <a:solidFill>
                <a:schemeClr val="tx1"/>
              </a:solidFill>
            </a:endParaRPr>
          </a:p>
          <a:p>
            <a:pPr eaLnBrk="1" hangingPunct="1"/>
            <a:r>
              <a:rPr lang="en-US" altLang="zh-CN" sz="1600" b="1" dirty="0">
                <a:solidFill>
                  <a:schemeClr val="tx1"/>
                </a:solidFill>
              </a:rPr>
              <a:t>13854808762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3650" name="Picture 2">
            <a:extLst>
              <a:ext uri="{FF2B5EF4-FFF2-40B4-BE49-F238E27FC236}">
                <a16:creationId xmlns:a16="http://schemas.microsoft.com/office/drawing/2014/main" id="{E5A4DC27-88F9-4ECE-8869-FB48DA7AF92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200" y="0"/>
            <a:ext cx="408200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48733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F45096CF-B70E-4C4E-AE31-350BA5B8D561}"/>
              </a:ext>
            </a:extLst>
          </p:cNvPr>
          <p:cNvSpPr>
            <a:spLocks noChangeArrowheads="1"/>
          </p:cNvSpPr>
          <p:nvPr/>
        </p:nvSpPr>
        <p:spPr bwMode="auto">
          <a:xfrm>
            <a:off x="-228600" y="228600"/>
            <a:ext cx="91440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4400" b="1" dirty="0">
                <a:solidFill>
                  <a:srgbClr val="FF0000"/>
                </a:solidFill>
              </a:rPr>
              <a:t>1. Cells need energy to do all their work</a:t>
            </a:r>
            <a:r>
              <a:rPr lang="en-US" altLang="zh-CN" sz="4400" dirty="0">
                <a:solidFill>
                  <a:srgbClr val="FF0000"/>
                </a:solidFill>
                <a:latin typeface="Arial Black" panose="020B0A04020102020204" pitchFamily="34" charset="0"/>
              </a:rPr>
              <a:t> </a:t>
            </a:r>
          </a:p>
        </p:txBody>
      </p:sp>
      <p:sp>
        <p:nvSpPr>
          <p:cNvPr id="8195" name="Rectangle 3">
            <a:extLst>
              <a:ext uri="{FF2B5EF4-FFF2-40B4-BE49-F238E27FC236}">
                <a16:creationId xmlns:a16="http://schemas.microsoft.com/office/drawing/2014/main" id="{388340EE-EEBF-46F9-BFF1-20156C188B27}"/>
              </a:ext>
            </a:extLst>
          </p:cNvPr>
          <p:cNvSpPr>
            <a:spLocks noChangeArrowheads="1"/>
          </p:cNvSpPr>
          <p:nvPr/>
        </p:nvSpPr>
        <p:spPr bwMode="auto">
          <a:xfrm>
            <a:off x="228600" y="2362200"/>
            <a:ext cx="89154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SzPct val="85000"/>
              <a:buFontTx/>
              <a:buBlip>
                <a:blip r:embed="rId2"/>
              </a:buBlip>
            </a:pPr>
            <a:r>
              <a:rPr lang="en-US" altLang="zh-CN" sz="3200" dirty="0"/>
              <a:t>To generate and maintain its highly ordered structure (biosynthesis of macromolecules).</a:t>
            </a:r>
          </a:p>
          <a:p>
            <a:pPr eaLnBrk="1" hangingPunct="1">
              <a:lnSpc>
                <a:spcPct val="90000"/>
              </a:lnSpc>
              <a:spcBef>
                <a:spcPct val="20000"/>
              </a:spcBef>
              <a:buSzPct val="85000"/>
              <a:buFontTx/>
              <a:buBlip>
                <a:blip r:embed="rId2"/>
              </a:buBlip>
            </a:pPr>
            <a:r>
              <a:rPr lang="en-US" altLang="zh-CN" sz="3200" dirty="0"/>
              <a:t>To generate all kinds of movement.</a:t>
            </a:r>
          </a:p>
          <a:p>
            <a:pPr eaLnBrk="1" hangingPunct="1">
              <a:lnSpc>
                <a:spcPct val="90000"/>
              </a:lnSpc>
              <a:spcBef>
                <a:spcPct val="20000"/>
              </a:spcBef>
              <a:buSzPct val="85000"/>
              <a:buFontTx/>
              <a:buBlip>
                <a:blip r:embed="rId2"/>
              </a:buBlip>
            </a:pPr>
            <a:r>
              <a:rPr lang="en-US" altLang="zh-CN" sz="3200" dirty="0"/>
              <a:t>To generate concentration and electrical gradients across cell membranes.</a:t>
            </a:r>
          </a:p>
          <a:p>
            <a:pPr eaLnBrk="1" hangingPunct="1">
              <a:lnSpc>
                <a:spcPct val="90000"/>
              </a:lnSpc>
              <a:spcBef>
                <a:spcPct val="20000"/>
              </a:spcBef>
              <a:buSzPct val="85000"/>
              <a:buFontTx/>
              <a:buBlip>
                <a:blip r:embed="rId2"/>
              </a:buBlip>
            </a:pPr>
            <a:r>
              <a:rPr lang="en-US" altLang="zh-CN" sz="3200" dirty="0"/>
              <a:t>To maintain a body temperature.</a:t>
            </a:r>
          </a:p>
          <a:p>
            <a:pPr eaLnBrk="1" hangingPunct="1">
              <a:lnSpc>
                <a:spcPct val="90000"/>
              </a:lnSpc>
              <a:spcBef>
                <a:spcPct val="20000"/>
              </a:spcBef>
              <a:buSzPct val="85000"/>
              <a:buFontTx/>
              <a:buBlip>
                <a:blip r:embed="rId2"/>
              </a:buBlip>
            </a:pPr>
            <a:r>
              <a:rPr lang="en-US" altLang="zh-CN" sz="3200" dirty="0"/>
              <a:t>To generate light in some animals.</a:t>
            </a:r>
          </a:p>
        </p:txBody>
      </p:sp>
    </p:spTree>
    <p:extLst>
      <p:ext uri="{BB962C8B-B14F-4D97-AF65-F5344CB8AC3E}">
        <p14:creationId xmlns:p14="http://schemas.microsoft.com/office/powerpoint/2010/main" val="26153448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1026">
            <a:extLst>
              <a:ext uri="{FF2B5EF4-FFF2-40B4-BE49-F238E27FC236}">
                <a16:creationId xmlns:a16="http://schemas.microsoft.com/office/drawing/2014/main" id="{999EDBF0-4E16-4249-B989-01CB254D911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51000" y="332656"/>
            <a:ext cx="5842000" cy="543560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
        <p:nvSpPr>
          <p:cNvPr id="2" name="矩形 1">
            <a:extLst>
              <a:ext uri="{FF2B5EF4-FFF2-40B4-BE49-F238E27FC236}">
                <a16:creationId xmlns:a16="http://schemas.microsoft.com/office/drawing/2014/main" id="{460CE3C2-A1D6-49F3-9041-8A77FEDA3D9E}"/>
              </a:ext>
            </a:extLst>
          </p:cNvPr>
          <p:cNvSpPr/>
          <p:nvPr/>
        </p:nvSpPr>
        <p:spPr>
          <a:xfrm>
            <a:off x="3923928" y="5777137"/>
            <a:ext cx="1286699" cy="584775"/>
          </a:xfrm>
          <a:prstGeom prst="rect">
            <a:avLst/>
          </a:prstGeom>
        </p:spPr>
        <p:txBody>
          <a:bodyPr wrap="none">
            <a:spAutoFit/>
          </a:bodyPr>
          <a:lstStyle/>
          <a:p>
            <a:r>
              <a:rPr lang="en-US" altLang="zh-CN" sz="3200" i="1" dirty="0">
                <a:latin typeface="Times New Roman" panose="02020603050405020304" pitchFamily="18" charset="0"/>
                <a:cs typeface="Times New Roman" panose="02020603050405020304" pitchFamily="18" charset="0"/>
              </a:rPr>
              <a:t>Firefly</a:t>
            </a:r>
            <a:endParaRPr lang="zh-CN"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1020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5A74FAE7-2442-4A6D-9115-49D6D3AEAE4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05050" y="404664"/>
            <a:ext cx="4533900" cy="543560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2" name="文本框 1">
            <a:extLst>
              <a:ext uri="{FF2B5EF4-FFF2-40B4-BE49-F238E27FC236}">
                <a16:creationId xmlns:a16="http://schemas.microsoft.com/office/drawing/2014/main" id="{66F2D9A5-A72A-47F8-9E17-15A70B60B5BE}"/>
              </a:ext>
            </a:extLst>
          </p:cNvPr>
          <p:cNvSpPr txBox="1"/>
          <p:nvPr/>
        </p:nvSpPr>
        <p:spPr>
          <a:xfrm>
            <a:off x="4570185" y="2293519"/>
            <a:ext cx="576064" cy="523220"/>
          </a:xfrm>
          <a:prstGeom prst="rect">
            <a:avLst/>
          </a:prstGeom>
          <a:noFill/>
        </p:spPr>
        <p:txBody>
          <a:bodyPr wrap="square" rtlCol="0">
            <a:spAutoFit/>
          </a:bodyPr>
          <a:lstStyle/>
          <a:p>
            <a:r>
              <a:rPr lang="en-US" altLang="zh-CN" sz="2800" b="1" dirty="0">
                <a:solidFill>
                  <a:srgbClr val="FF0000"/>
                </a:solidFill>
              </a:rPr>
              <a:t>e</a:t>
            </a:r>
            <a:endParaRPr lang="zh-CN" altLang="en-US" sz="2800" b="1" dirty="0">
              <a:solidFill>
                <a:srgbClr val="FF0000"/>
              </a:solidFill>
            </a:endParaRPr>
          </a:p>
        </p:txBody>
      </p:sp>
      <p:sp>
        <p:nvSpPr>
          <p:cNvPr id="12" name="文本框 11">
            <a:extLst>
              <a:ext uri="{FF2B5EF4-FFF2-40B4-BE49-F238E27FC236}">
                <a16:creationId xmlns:a16="http://schemas.microsoft.com/office/drawing/2014/main" id="{820B28B2-D223-4016-95DB-E2EE3B4D8082}"/>
              </a:ext>
            </a:extLst>
          </p:cNvPr>
          <p:cNvSpPr txBox="1"/>
          <p:nvPr/>
        </p:nvSpPr>
        <p:spPr>
          <a:xfrm>
            <a:off x="4572000" y="5228813"/>
            <a:ext cx="576064" cy="523220"/>
          </a:xfrm>
          <a:prstGeom prst="rect">
            <a:avLst/>
          </a:prstGeom>
          <a:noFill/>
        </p:spPr>
        <p:txBody>
          <a:bodyPr wrap="square" rtlCol="0">
            <a:spAutoFit/>
          </a:bodyPr>
          <a:lstStyle/>
          <a:p>
            <a:r>
              <a:rPr lang="en-US" altLang="zh-CN" sz="2800" b="1" dirty="0">
                <a:solidFill>
                  <a:srgbClr val="FF0000"/>
                </a:solidFill>
              </a:rPr>
              <a:t>e</a:t>
            </a:r>
            <a:endParaRPr lang="zh-CN" altLang="en-US" sz="2800" b="1" dirty="0">
              <a:solidFill>
                <a:srgbClr val="FF0000"/>
              </a:solidFill>
            </a:endParaRPr>
          </a:p>
        </p:txBody>
      </p:sp>
    </p:spTree>
    <p:extLst>
      <p:ext uri="{BB962C8B-B14F-4D97-AF65-F5344CB8AC3E}">
        <p14:creationId xmlns:p14="http://schemas.microsoft.com/office/powerpoint/2010/main" val="3077560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4626" name="Picture 2"/>
          <p:cNvPicPr>
            <a:picLocks noChangeAspect="1" noChangeArrowheads="1"/>
          </p:cNvPicPr>
          <p:nvPr/>
        </p:nvPicPr>
        <p:blipFill rotWithShape="1">
          <a:blip r:embed="rId2" cstate="print"/>
          <a:srcRect l="49212" t="-2579"/>
          <a:stretch/>
        </p:blipFill>
        <p:spPr bwMode="auto">
          <a:xfrm>
            <a:off x="1259632" y="196909"/>
            <a:ext cx="6336704" cy="6464182"/>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4626" name="Picture 2"/>
          <p:cNvPicPr>
            <a:picLocks noChangeAspect="1" noChangeArrowheads="1"/>
          </p:cNvPicPr>
          <p:nvPr/>
        </p:nvPicPr>
        <p:blipFill rotWithShape="1">
          <a:blip r:embed="rId2" cstate="print"/>
          <a:srcRect r="50000" b="-1886"/>
          <a:stretch/>
        </p:blipFill>
        <p:spPr bwMode="auto">
          <a:xfrm>
            <a:off x="1475656" y="260648"/>
            <a:ext cx="5940152" cy="6113536"/>
          </a:xfrm>
          <a:prstGeom prst="rect">
            <a:avLst/>
          </a:prstGeom>
          <a:noFill/>
          <a:ln w="9525">
            <a:noFill/>
            <a:miter lim="800000"/>
            <a:headEnd/>
            <a:tailEnd/>
          </a:ln>
        </p:spPr>
      </p:pic>
    </p:spTree>
    <p:extLst>
      <p:ext uri="{BB962C8B-B14F-4D97-AF65-F5344CB8AC3E}">
        <p14:creationId xmlns:p14="http://schemas.microsoft.com/office/powerpoint/2010/main" val="11255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3650" name="Picture 2">
            <a:extLst>
              <a:ext uri="{FF2B5EF4-FFF2-40B4-BE49-F238E27FC236}">
                <a16:creationId xmlns:a16="http://schemas.microsoft.com/office/drawing/2014/main" id="{E5A4DC27-88F9-4ECE-8869-FB48DA7AF92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200" y="0"/>
            <a:ext cx="408200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54989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1026">
            <a:extLst>
              <a:ext uri="{FF2B5EF4-FFF2-40B4-BE49-F238E27FC236}">
                <a16:creationId xmlns:a16="http://schemas.microsoft.com/office/drawing/2014/main" id="{0C2DA6B8-0A89-4F42-B99F-2FC7D195FAB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762000"/>
            <a:ext cx="8915400"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81869D50-84F1-47DB-9856-73366BD32CC6}"/>
              </a:ext>
            </a:extLst>
          </p:cNvPr>
          <p:cNvSpPr/>
          <p:nvPr/>
        </p:nvSpPr>
        <p:spPr>
          <a:xfrm>
            <a:off x="2987824" y="138573"/>
            <a:ext cx="2544286" cy="646331"/>
          </a:xfrm>
          <a:prstGeom prst="rect">
            <a:avLst/>
          </a:prstGeom>
        </p:spPr>
        <p:txBody>
          <a:bodyPr wrap="none">
            <a:spAutoFit/>
          </a:bodyPr>
          <a:lstStyle/>
          <a:p>
            <a:r>
              <a:rPr lang="en-US" altLang="zh-CN" sz="3600" dirty="0"/>
              <a:t>metabolism</a:t>
            </a:r>
            <a:endParaRPr lang="zh-CN" altLang="en-US" sz="3600" dirty="0"/>
          </a:p>
        </p:txBody>
      </p:sp>
    </p:spTree>
    <p:extLst>
      <p:ext uri="{BB962C8B-B14F-4D97-AF65-F5344CB8AC3E}">
        <p14:creationId xmlns:p14="http://schemas.microsoft.com/office/powerpoint/2010/main" val="2698152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1026">
            <a:extLst>
              <a:ext uri="{FF2B5EF4-FFF2-40B4-BE49-F238E27FC236}">
                <a16:creationId xmlns:a16="http://schemas.microsoft.com/office/drawing/2014/main" id="{9C8C7733-5A3F-4AC0-A4A4-21B47A4CEA89}"/>
              </a:ext>
            </a:extLst>
          </p:cNvPr>
          <p:cNvPicPr>
            <a:picLocks noChangeAspect="1" noChangeArrowheads="1"/>
          </p:cNvPicPr>
          <p:nvPr/>
        </p:nvPicPr>
        <p:blipFill>
          <a:blip r:embed="rId2" cstate="print">
            <a:extLst>
              <a:ext uri="{BEBA8EAE-BF5A-486C-A8C5-ECC9F3942E4B}">
                <a14:imgProps xmlns:a14="http://schemas.microsoft.com/office/drawing/2010/main">
                  <a14:imgLayer r:embed="rId3">
                    <a14:imgEffect>
                      <a14:saturation sat="300000"/>
                    </a14:imgEffect>
                  </a14:imgLayer>
                </a14:imgProps>
              </a:ext>
              <a:ext uri="{28A0092B-C50C-407E-A947-70E740481C1C}">
                <a14:useLocalDpi xmlns:a14="http://schemas.microsoft.com/office/drawing/2010/main" val="0"/>
              </a:ext>
            </a:extLst>
          </a:blip>
          <a:srcRect/>
          <a:stretch>
            <a:fillRect/>
          </a:stretch>
        </p:blipFill>
        <p:spPr bwMode="auto">
          <a:xfrm>
            <a:off x="254000" y="513680"/>
            <a:ext cx="8636000" cy="543560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56185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2050">
            <a:extLst>
              <a:ext uri="{FF2B5EF4-FFF2-40B4-BE49-F238E27FC236}">
                <a16:creationId xmlns:a16="http://schemas.microsoft.com/office/drawing/2014/main" id="{CE4A658C-5799-4DFF-9E87-2E54DD3F6913}"/>
              </a:ext>
            </a:extLst>
          </p:cNvPr>
          <p:cNvSpPr>
            <a:spLocks noChangeArrowheads="1"/>
          </p:cNvSpPr>
          <p:nvPr/>
        </p:nvSpPr>
        <p:spPr bwMode="auto">
          <a:xfrm>
            <a:off x="228600" y="304800"/>
            <a:ext cx="8610600" cy="4114800"/>
          </a:xfrm>
          <a:prstGeom prst="rect">
            <a:avLst/>
          </a:prstGeom>
          <a:noFill/>
          <a:ln w="9525">
            <a:noFill/>
            <a:miter lim="800000"/>
            <a:headEnd/>
            <a:tailEnd/>
          </a:ln>
          <a:effectLst/>
        </p:spPr>
        <p:txBody>
          <a:bodyPr/>
          <a:lstStyle/>
          <a:p>
            <a:pPr marL="342900" indent="-342900">
              <a:spcBef>
                <a:spcPct val="20000"/>
              </a:spcBef>
              <a:buSzPct val="85000"/>
              <a:buFontTx/>
              <a:buBlip>
                <a:blip r:embed="rId2"/>
              </a:buBlip>
              <a:defRPr/>
            </a:pPr>
            <a:r>
              <a:rPr lang="en-US" altLang="zh-CN" sz="3200" b="1" dirty="0">
                <a:solidFill>
                  <a:srgbClr val="FF0000"/>
                </a:solidFill>
                <a:effectLst>
                  <a:outerShdw blurRad="38100" dist="38100" dir="2700000" algn="tl">
                    <a:srgbClr val="000000"/>
                  </a:outerShdw>
                </a:effectLst>
                <a:latin typeface="Times New Roman" pitchFamily="18" charset="0"/>
              </a:rPr>
              <a:t>Bioenergetics (</a:t>
            </a:r>
            <a:r>
              <a:rPr lang="zh-CN" altLang="en-US" sz="3200" b="1" dirty="0">
                <a:solidFill>
                  <a:srgbClr val="FF0000"/>
                </a:solidFill>
                <a:effectLst>
                  <a:outerShdw blurRad="38100" dist="38100" dir="2700000" algn="tl">
                    <a:srgbClr val="000000"/>
                  </a:outerShdw>
                </a:effectLst>
                <a:latin typeface="Times New Roman" pitchFamily="18" charset="0"/>
                <a:ea typeface="隶书" pitchFamily="49" charset="-122"/>
              </a:rPr>
              <a:t>生物能学</a:t>
            </a:r>
            <a:r>
              <a:rPr lang="zh-CN" altLang="en-US" sz="3200" b="1" dirty="0">
                <a:solidFill>
                  <a:srgbClr val="FF0000"/>
                </a:solidFill>
                <a:effectLst>
                  <a:outerShdw blurRad="38100" dist="38100" dir="2700000" algn="tl">
                    <a:srgbClr val="000000"/>
                  </a:outerShdw>
                </a:effectLst>
                <a:latin typeface="Times New Roman" pitchFamily="18" charset="0"/>
              </a:rPr>
              <a:t>）</a:t>
            </a:r>
            <a:r>
              <a:rPr lang="en-US" altLang="zh-CN" sz="3200" dirty="0">
                <a:latin typeface="Times New Roman" pitchFamily="18" charset="0"/>
              </a:rPr>
              <a:t>: the quantitative study of energy transductions in living cells and the chemical nature underlying these processes.</a:t>
            </a:r>
          </a:p>
          <a:p>
            <a:pPr marL="342900" indent="-342900">
              <a:spcBef>
                <a:spcPct val="20000"/>
              </a:spcBef>
              <a:buSzPct val="85000"/>
              <a:buFontTx/>
              <a:buBlip>
                <a:blip r:embed="rId2"/>
              </a:buBlip>
              <a:defRPr/>
            </a:pPr>
            <a:endParaRPr lang="en-US" altLang="zh-CN" sz="3200" dirty="0">
              <a:latin typeface="Times New Roman" pitchFamily="18" charset="0"/>
            </a:endParaRPr>
          </a:p>
        </p:txBody>
      </p:sp>
    </p:spTree>
    <p:extLst>
      <p:ext uri="{BB962C8B-B14F-4D97-AF65-F5344CB8AC3E}">
        <p14:creationId xmlns:p14="http://schemas.microsoft.com/office/powerpoint/2010/main" val="2582922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051">
            <a:extLst>
              <a:ext uri="{FF2B5EF4-FFF2-40B4-BE49-F238E27FC236}">
                <a16:creationId xmlns:a16="http://schemas.microsoft.com/office/drawing/2014/main" id="{9C0493E6-5091-4E51-A1AD-BB7769A612A5}"/>
              </a:ext>
            </a:extLst>
          </p:cNvPr>
          <p:cNvSpPr>
            <a:spLocks noChangeArrowheads="1"/>
          </p:cNvSpPr>
          <p:nvPr/>
        </p:nvSpPr>
        <p:spPr bwMode="auto">
          <a:xfrm>
            <a:off x="0" y="304800"/>
            <a:ext cx="9144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4400" b="1" dirty="0">
                <a:solidFill>
                  <a:srgbClr val="FF0000"/>
                </a:solidFill>
              </a:rPr>
              <a:t>2. Cells have to use chemical energy to do all their work</a:t>
            </a:r>
          </a:p>
        </p:txBody>
      </p:sp>
      <p:sp>
        <p:nvSpPr>
          <p:cNvPr id="15363" name="Rectangle 2052">
            <a:extLst>
              <a:ext uri="{FF2B5EF4-FFF2-40B4-BE49-F238E27FC236}">
                <a16:creationId xmlns:a16="http://schemas.microsoft.com/office/drawing/2014/main" id="{F75CCA8F-FF3A-42C3-8BE3-E173E83C0D36}"/>
              </a:ext>
            </a:extLst>
          </p:cNvPr>
          <p:cNvSpPr>
            <a:spLocks noChangeArrowheads="1"/>
          </p:cNvSpPr>
          <p:nvPr/>
        </p:nvSpPr>
        <p:spPr bwMode="auto">
          <a:xfrm>
            <a:off x="0" y="1643050"/>
            <a:ext cx="91440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SzPct val="85000"/>
              <a:buFontTx/>
              <a:buBlip>
                <a:blip r:embed="rId3"/>
              </a:buBlip>
            </a:pPr>
            <a:r>
              <a:rPr lang="en-US" altLang="zh-CN" sz="3200" dirty="0"/>
              <a:t>Antoine Lavoisier`s</a:t>
            </a:r>
            <a:r>
              <a:rPr lang="zh-CN" altLang="en-US" sz="2000" dirty="0"/>
              <a:t>（</a:t>
            </a:r>
            <a:r>
              <a:rPr lang="en-US" altLang="zh-CN" sz="2000" dirty="0"/>
              <a:t>1743</a:t>
            </a:r>
            <a:r>
              <a:rPr lang="zh-CN" altLang="en-US" sz="2000" dirty="0"/>
              <a:t>－</a:t>
            </a:r>
            <a:r>
              <a:rPr lang="en-US" altLang="zh-CN" sz="2000" dirty="0"/>
              <a:t>1794</a:t>
            </a:r>
            <a:r>
              <a:rPr lang="zh-CN" altLang="en-US" sz="2000" dirty="0"/>
              <a:t>）</a:t>
            </a:r>
            <a:r>
              <a:rPr lang="en-US" altLang="zh-CN" sz="2000" dirty="0"/>
              <a:t> </a:t>
            </a:r>
            <a:r>
              <a:rPr lang="en-US" altLang="zh-CN" sz="3200" dirty="0"/>
              <a:t>insight on animal respiration in the 18</a:t>
            </a:r>
            <a:r>
              <a:rPr lang="en-US" altLang="zh-CN" sz="3200" baseline="30000" dirty="0"/>
              <a:t>th</a:t>
            </a:r>
            <a:r>
              <a:rPr lang="en-US" altLang="zh-CN" sz="3200" dirty="0"/>
              <a:t> century:  it is nothing but a slow combustion of carbon and hydrogen (the same nature as a lighting candle).</a:t>
            </a:r>
          </a:p>
          <a:p>
            <a:pPr eaLnBrk="1" hangingPunct="1">
              <a:lnSpc>
                <a:spcPct val="90000"/>
              </a:lnSpc>
              <a:spcBef>
                <a:spcPct val="20000"/>
              </a:spcBef>
              <a:buSzPct val="85000"/>
              <a:buFontTx/>
              <a:buBlip>
                <a:blip r:embed="rId3"/>
              </a:buBlip>
            </a:pPr>
            <a:r>
              <a:rPr lang="en-US" altLang="zh-CN" sz="3200" dirty="0"/>
              <a:t>Living cells are generally held at constant temperature and pressure: </a:t>
            </a:r>
            <a:r>
              <a:rPr lang="en-US" altLang="zh-CN" sz="3200" b="1" dirty="0">
                <a:solidFill>
                  <a:srgbClr val="000099"/>
                </a:solidFill>
              </a:rPr>
              <a:t>chemical energy </a:t>
            </a:r>
            <a:r>
              <a:rPr lang="en-US" altLang="zh-CN" sz="3200" dirty="0"/>
              <a:t>(free energy) has to be used by living organisms, no thermal energy, neither mechanical energy is available to do work in cells.</a:t>
            </a:r>
          </a:p>
          <a:p>
            <a:pPr eaLnBrk="1" hangingPunct="1">
              <a:lnSpc>
                <a:spcPct val="90000"/>
              </a:lnSpc>
              <a:spcBef>
                <a:spcPct val="20000"/>
              </a:spcBef>
              <a:buSzPct val="85000"/>
            </a:pPr>
            <a:endParaRPr lang="en-US" altLang="zh-CN" sz="3200" dirty="0"/>
          </a:p>
        </p:txBody>
      </p:sp>
    </p:spTree>
    <p:extLst>
      <p:ext uri="{BB962C8B-B14F-4D97-AF65-F5344CB8AC3E}">
        <p14:creationId xmlns:p14="http://schemas.microsoft.com/office/powerpoint/2010/main" val="2852635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DC574FF6-2332-43E7-95FE-32C0EA3AB840}"/>
              </a:ext>
            </a:extLst>
          </p:cNvPr>
          <p:cNvSpPr>
            <a:spLocks noChangeArrowheads="1"/>
          </p:cNvSpPr>
          <p:nvPr/>
        </p:nvSpPr>
        <p:spPr bwMode="auto">
          <a:xfrm>
            <a:off x="0" y="381000"/>
            <a:ext cx="9144000"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SzPct val="85000"/>
              <a:buFontTx/>
              <a:buBlip>
                <a:blip r:embed="rId3"/>
              </a:buBlip>
            </a:pPr>
            <a:r>
              <a:rPr lang="en-US" altLang="zh-CN" sz="3200" dirty="0"/>
              <a:t>Biological energy transformation obey the two basic laws of thermodynamics revealed by physicists and chemists in the 19</a:t>
            </a:r>
            <a:r>
              <a:rPr lang="en-US" altLang="zh-CN" sz="3200" baseline="30000" dirty="0"/>
              <a:t>th</a:t>
            </a:r>
            <a:r>
              <a:rPr lang="en-US" altLang="zh-CN" sz="3200" dirty="0"/>
              <a:t> century: energy can neither be created nor be destroyed (but conserved); energy conversion is never 100% efficient (some will always be wasted in increasing the disorder or “entropy” of the universe).</a:t>
            </a:r>
          </a:p>
          <a:p>
            <a:pPr eaLnBrk="1" hangingPunct="1">
              <a:lnSpc>
                <a:spcPct val="90000"/>
              </a:lnSpc>
              <a:spcBef>
                <a:spcPct val="20000"/>
              </a:spcBef>
              <a:buSzPct val="85000"/>
              <a:buFontTx/>
              <a:buBlip>
                <a:blip r:embed="rId3"/>
              </a:buBlip>
            </a:pPr>
            <a:r>
              <a:rPr lang="en-US" altLang="zh-CN" sz="3200" b="1" dirty="0">
                <a:solidFill>
                  <a:srgbClr val="000099"/>
                </a:solidFill>
              </a:rPr>
              <a:t>The free energy </a:t>
            </a:r>
            <a:r>
              <a:rPr lang="en-US" altLang="zh-CN" sz="3200" dirty="0"/>
              <a:t>concept of thermodynamic is more important to biochemists than to chemists (who can always increase the temperature and pressure to make a reaction to occur!).</a:t>
            </a:r>
          </a:p>
          <a:p>
            <a:pPr eaLnBrk="1" hangingPunct="1">
              <a:lnSpc>
                <a:spcPct val="90000"/>
              </a:lnSpc>
              <a:spcBef>
                <a:spcPct val="20000"/>
              </a:spcBef>
              <a:buSzPct val="85000"/>
              <a:buFontTx/>
              <a:buBlip>
                <a:blip r:embed="rId3"/>
              </a:buBlip>
            </a:pPr>
            <a:endParaRPr lang="en-US" altLang="zh-CN" sz="3200" dirty="0"/>
          </a:p>
        </p:txBody>
      </p:sp>
    </p:spTree>
    <p:extLst>
      <p:ext uri="{BB962C8B-B14F-4D97-AF65-F5344CB8AC3E}">
        <p14:creationId xmlns:p14="http://schemas.microsoft.com/office/powerpoint/2010/main" val="41633376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a:extLst>
              <a:ext uri="{FF2B5EF4-FFF2-40B4-BE49-F238E27FC236}">
                <a16:creationId xmlns:a16="http://schemas.microsoft.com/office/drawing/2014/main" id="{4CEC6DA5-3FF2-4806-8DA2-C2A473F9CF58}"/>
              </a:ext>
            </a:extLst>
          </p:cNvPr>
          <p:cNvSpPr>
            <a:spLocks noChangeArrowheads="1"/>
          </p:cNvSpPr>
          <p:nvPr/>
        </p:nvSpPr>
        <p:spPr bwMode="auto">
          <a:xfrm>
            <a:off x="0" y="228600"/>
            <a:ext cx="91440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4400" b="1" dirty="0">
                <a:solidFill>
                  <a:srgbClr val="FF0000"/>
                </a:solidFill>
              </a:rPr>
              <a:t>3. Application of the free energy (</a:t>
            </a:r>
            <a:r>
              <a:rPr lang="en-US" altLang="zh-CN" sz="4400" b="1" i="1" dirty="0">
                <a:solidFill>
                  <a:srgbClr val="FF0000"/>
                </a:solidFill>
              </a:rPr>
              <a:t>G</a:t>
            </a:r>
            <a:r>
              <a:rPr lang="en-US" altLang="zh-CN" sz="4400" b="1" dirty="0">
                <a:solidFill>
                  <a:srgbClr val="FF0000"/>
                </a:solidFill>
              </a:rPr>
              <a:t>) concept to biochemical reactions</a:t>
            </a:r>
          </a:p>
        </p:txBody>
      </p:sp>
      <p:sp>
        <p:nvSpPr>
          <p:cNvPr id="19459" name="Rectangle 4">
            <a:extLst>
              <a:ext uri="{FF2B5EF4-FFF2-40B4-BE49-F238E27FC236}">
                <a16:creationId xmlns:a16="http://schemas.microsoft.com/office/drawing/2014/main" id="{2DDA6E6E-C48A-413E-AA3D-8AA2C556A2FA}"/>
              </a:ext>
            </a:extLst>
          </p:cNvPr>
          <p:cNvSpPr>
            <a:spLocks noChangeArrowheads="1"/>
          </p:cNvSpPr>
          <p:nvPr/>
        </p:nvSpPr>
        <p:spPr bwMode="auto">
          <a:xfrm>
            <a:off x="381000" y="2590800"/>
            <a:ext cx="8610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SzPct val="85000"/>
              <a:buFontTx/>
              <a:buBlip>
                <a:blip r:embed="rId3"/>
              </a:buBlip>
            </a:pPr>
            <a:r>
              <a:rPr lang="en-US" altLang="zh-CN" sz="3200" dirty="0">
                <a:solidFill>
                  <a:srgbClr val="0070C0"/>
                </a:solidFill>
              </a:rPr>
              <a:t>Free energy </a:t>
            </a:r>
            <a:r>
              <a:rPr lang="en-US" altLang="zh-CN" sz="3200" dirty="0"/>
              <a:t>(</a:t>
            </a:r>
            <a:r>
              <a:rPr lang="en-US" altLang="zh-CN" sz="3200" i="1" dirty="0"/>
              <a:t>G</a:t>
            </a:r>
            <a:r>
              <a:rPr lang="en-US" altLang="zh-CN" sz="3200" dirty="0"/>
              <a:t>): the amount of energy available to do work during a reaction at a constant temperature and pressure; change, </a:t>
            </a:r>
            <a:r>
              <a:rPr lang="en-US" altLang="zh-CN" sz="3200" dirty="0">
                <a:solidFill>
                  <a:srgbClr val="000099"/>
                </a:solidFill>
              </a:rPr>
              <a:t>not absolute value can be measured.</a:t>
            </a:r>
          </a:p>
          <a:p>
            <a:pPr eaLnBrk="1" hangingPunct="1">
              <a:lnSpc>
                <a:spcPct val="90000"/>
              </a:lnSpc>
              <a:spcBef>
                <a:spcPct val="20000"/>
              </a:spcBef>
              <a:buSzPct val="85000"/>
              <a:buFontTx/>
              <a:buBlip>
                <a:blip r:embed="rId3"/>
              </a:buBlip>
            </a:pPr>
            <a:r>
              <a:rPr lang="en-US" altLang="zh-CN" sz="3200" dirty="0">
                <a:solidFill>
                  <a:srgbClr val="0070C0"/>
                </a:solidFill>
              </a:rPr>
              <a:t>Free energy change (</a:t>
            </a:r>
            <a:r>
              <a:rPr lang="en-US" altLang="zh-CN" sz="3200" i="1" dirty="0">
                <a:solidFill>
                  <a:srgbClr val="0070C0"/>
                </a:solidFill>
                <a:sym typeface="Symbol" panose="05050102010706020507" pitchFamily="18" charset="2"/>
              </a:rPr>
              <a:t></a:t>
            </a:r>
            <a:r>
              <a:rPr lang="en-US" altLang="zh-CN" sz="3200" i="1" dirty="0">
                <a:solidFill>
                  <a:srgbClr val="0070C0"/>
                </a:solidFill>
              </a:rPr>
              <a:t>G</a:t>
            </a:r>
            <a:r>
              <a:rPr lang="en-US" altLang="zh-CN" sz="3200" dirty="0">
                <a:solidFill>
                  <a:srgbClr val="0070C0"/>
                </a:solidFill>
              </a:rPr>
              <a:t>): </a:t>
            </a:r>
            <a:r>
              <a:rPr lang="en-US" altLang="zh-CN" sz="3200" dirty="0"/>
              <a:t>The free energy difference between the products and the reactants.</a:t>
            </a:r>
          </a:p>
        </p:txBody>
      </p:sp>
    </p:spTree>
    <p:extLst>
      <p:ext uri="{BB962C8B-B14F-4D97-AF65-F5344CB8AC3E}">
        <p14:creationId xmlns:p14="http://schemas.microsoft.com/office/powerpoint/2010/main" val="22222482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1026">
            <a:extLst>
              <a:ext uri="{FF2B5EF4-FFF2-40B4-BE49-F238E27FC236}">
                <a16:creationId xmlns:a16="http://schemas.microsoft.com/office/drawing/2014/main" id="{5382DF35-E22C-48E1-A6A7-05DDAD4B2029}"/>
              </a:ext>
            </a:extLst>
          </p:cNvPr>
          <p:cNvSpPr txBox="1">
            <a:spLocks noChangeArrowheads="1"/>
          </p:cNvSpPr>
          <p:nvPr/>
        </p:nvSpPr>
        <p:spPr bwMode="auto">
          <a:xfrm>
            <a:off x="304800" y="685800"/>
            <a:ext cx="8534400" cy="5139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SzPct val="85000"/>
              <a:buFontTx/>
              <a:buBlip>
                <a:blip r:embed="rId3"/>
              </a:buBlip>
            </a:pPr>
            <a:endParaRPr lang="en-US" altLang="zh-CN" sz="3200" dirty="0"/>
          </a:p>
          <a:p>
            <a:pPr eaLnBrk="1" hangingPunct="1">
              <a:lnSpc>
                <a:spcPct val="130000"/>
              </a:lnSpc>
              <a:spcBef>
                <a:spcPct val="20000"/>
              </a:spcBef>
              <a:buSzPct val="85000"/>
              <a:buFontTx/>
              <a:buBlip>
                <a:blip r:embed="rId3"/>
              </a:buBlip>
            </a:pPr>
            <a:r>
              <a:rPr lang="en-US" altLang="zh-CN" sz="3200" dirty="0"/>
              <a:t>Gibbs </a:t>
            </a:r>
            <a:r>
              <a:rPr lang="en-US" altLang="zh-CN" sz="2000" dirty="0"/>
              <a:t>(Josiah W.</a:t>
            </a:r>
            <a:r>
              <a:rPr lang="zh-CN" altLang="en-US" sz="2000" dirty="0"/>
              <a:t> </a:t>
            </a:r>
            <a:r>
              <a:rPr lang="en-US" altLang="zh-CN" sz="2000" dirty="0"/>
              <a:t>Gibbs)</a:t>
            </a:r>
            <a:r>
              <a:rPr lang="en-US" altLang="zh-CN" sz="3200" dirty="0"/>
              <a:t>observation: under constant temperature and pressure, all systems change in such a way that free energy is minimized (products should have less free energy than reactants for a reaction to occur spontaneously, i.e., </a:t>
            </a:r>
            <a:r>
              <a:rPr lang="en-US" altLang="zh-CN" sz="3200" i="1" dirty="0">
                <a:solidFill>
                  <a:srgbClr val="000099"/>
                </a:solidFill>
                <a:sym typeface="Symbol" panose="05050102010706020507" pitchFamily="18" charset="2"/>
              </a:rPr>
              <a:t></a:t>
            </a:r>
            <a:r>
              <a:rPr lang="en-US" altLang="zh-CN" sz="3200" i="1" dirty="0">
                <a:solidFill>
                  <a:srgbClr val="000099"/>
                </a:solidFill>
              </a:rPr>
              <a:t>G</a:t>
            </a:r>
            <a:r>
              <a:rPr lang="en-US" altLang="zh-CN" sz="3200" dirty="0">
                <a:solidFill>
                  <a:srgbClr val="000099"/>
                </a:solidFill>
              </a:rPr>
              <a:t> has a negative value</a:t>
            </a:r>
            <a:r>
              <a:rPr lang="en-US" altLang="zh-CN" sz="3200" dirty="0"/>
              <a:t> ).</a:t>
            </a:r>
          </a:p>
          <a:p>
            <a:pPr eaLnBrk="1" hangingPunct="1">
              <a:lnSpc>
                <a:spcPct val="130000"/>
              </a:lnSpc>
              <a:spcBef>
                <a:spcPct val="50000"/>
              </a:spcBef>
            </a:pPr>
            <a:endParaRPr lang="en-US" altLang="zh-CN" dirty="0"/>
          </a:p>
        </p:txBody>
      </p:sp>
    </p:spTree>
    <p:extLst>
      <p:ext uri="{BB962C8B-B14F-4D97-AF65-F5344CB8AC3E}">
        <p14:creationId xmlns:p14="http://schemas.microsoft.com/office/powerpoint/2010/main" val="2375728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a:extLst>
              <a:ext uri="{FF2B5EF4-FFF2-40B4-BE49-F238E27FC236}">
                <a16:creationId xmlns:a16="http://schemas.microsoft.com/office/drawing/2014/main" id="{6644E874-9552-41A4-8E66-C9E54004C48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10001" t="10001" r="10001" b="10001"/>
          <a:stretch>
            <a:fillRect/>
          </a:stretch>
        </p:blipFill>
        <p:spPr bwMode="auto">
          <a:xfrm>
            <a:off x="990600" y="533400"/>
            <a:ext cx="7467600" cy="560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57995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1026">
            <a:extLst>
              <a:ext uri="{FF2B5EF4-FFF2-40B4-BE49-F238E27FC236}">
                <a16:creationId xmlns:a16="http://schemas.microsoft.com/office/drawing/2014/main" id="{D7D7D155-4887-4840-8228-5B55C603466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10001" t="10001" r="10001" b="10001"/>
          <a:stretch>
            <a:fillRect/>
          </a:stretch>
        </p:blipFill>
        <p:spPr bwMode="auto">
          <a:xfrm>
            <a:off x="838200" y="533400"/>
            <a:ext cx="7086600" cy="531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050" name="Object 1033">
            <a:extLst>
              <a:ext uri="{FF2B5EF4-FFF2-40B4-BE49-F238E27FC236}">
                <a16:creationId xmlns:a16="http://schemas.microsoft.com/office/drawing/2014/main" id="{58FC4A66-8FF4-405D-B0BB-EE1F0B24AA03}"/>
              </a:ext>
            </a:extLst>
          </p:cNvPr>
          <p:cNvGraphicFramePr>
            <a:graphicFrameLocks noChangeAspect="1"/>
          </p:cNvGraphicFramePr>
          <p:nvPr/>
        </p:nvGraphicFramePr>
        <p:xfrm>
          <a:off x="5915025" y="2635250"/>
          <a:ext cx="274638" cy="304800"/>
        </p:xfrm>
        <a:graphic>
          <a:graphicData uri="http://schemas.openxmlformats.org/presentationml/2006/ole">
            <mc:AlternateContent xmlns:mc="http://schemas.openxmlformats.org/markup-compatibility/2006">
              <mc:Choice xmlns:v="urn:schemas-microsoft-com:vml" Requires="v">
                <p:oleObj name="Equation" r:id="rId3" imgW="114102" imgH="126780" progId="">
                  <p:embed/>
                </p:oleObj>
              </mc:Choice>
              <mc:Fallback>
                <p:oleObj name="Equation" r:id="rId3" imgW="114102" imgH="126780" progId="">
                  <p:embed/>
                  <p:pic>
                    <p:nvPicPr>
                      <p:cNvPr id="0" name="Picture 9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15025" y="2635250"/>
                        <a:ext cx="274638" cy="304800"/>
                      </a:xfrm>
                      <a:prstGeom prst="rect">
                        <a:avLst/>
                      </a:prstGeom>
                      <a:solidFill>
                        <a:srgbClr val="C9CDCF"/>
                      </a:solidFill>
                    </p:spPr>
                  </p:pic>
                </p:oleObj>
              </mc:Fallback>
            </mc:AlternateContent>
          </a:graphicData>
        </a:graphic>
      </p:graphicFrame>
      <p:graphicFrame>
        <p:nvGraphicFramePr>
          <p:cNvPr id="2051" name="Object 1034">
            <a:extLst>
              <a:ext uri="{FF2B5EF4-FFF2-40B4-BE49-F238E27FC236}">
                <a16:creationId xmlns:a16="http://schemas.microsoft.com/office/drawing/2014/main" id="{1A6BF6D4-1159-4A69-BA60-5812B9832559}"/>
              </a:ext>
            </a:extLst>
          </p:cNvPr>
          <p:cNvGraphicFramePr>
            <a:graphicFrameLocks noChangeAspect="1"/>
          </p:cNvGraphicFramePr>
          <p:nvPr/>
        </p:nvGraphicFramePr>
        <p:xfrm>
          <a:off x="5924550" y="3073400"/>
          <a:ext cx="274638" cy="304800"/>
        </p:xfrm>
        <a:graphic>
          <a:graphicData uri="http://schemas.openxmlformats.org/presentationml/2006/ole">
            <mc:AlternateContent xmlns:mc="http://schemas.openxmlformats.org/markup-compatibility/2006">
              <mc:Choice xmlns:v="urn:schemas-microsoft-com:vml" Requires="v">
                <p:oleObj name="Equation" r:id="rId5" imgW="114102" imgH="126780" progId="">
                  <p:embed/>
                </p:oleObj>
              </mc:Choice>
              <mc:Fallback>
                <p:oleObj name="Equation" r:id="rId5" imgW="114102" imgH="126780" progId="">
                  <p:embed/>
                  <p:pic>
                    <p:nvPicPr>
                      <p:cNvPr id="0" name="Picture 9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24550" y="3073400"/>
                        <a:ext cx="274638" cy="304800"/>
                      </a:xfrm>
                      <a:prstGeom prst="rect">
                        <a:avLst/>
                      </a:prstGeom>
                      <a:solidFill>
                        <a:srgbClr val="C9CDCF"/>
                      </a:solidFill>
                    </p:spPr>
                  </p:pic>
                </p:oleObj>
              </mc:Fallback>
            </mc:AlternateContent>
          </a:graphicData>
        </a:graphic>
      </p:graphicFrame>
    </p:spTree>
    <p:extLst>
      <p:ext uri="{BB962C8B-B14F-4D97-AF65-F5344CB8AC3E}">
        <p14:creationId xmlns:p14="http://schemas.microsoft.com/office/powerpoint/2010/main" val="39473291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026">
            <a:extLst>
              <a:ext uri="{FF2B5EF4-FFF2-40B4-BE49-F238E27FC236}">
                <a16:creationId xmlns:a16="http://schemas.microsoft.com/office/drawing/2014/main" id="{B20CABC6-3600-42B5-B793-251E4CD9E59C}"/>
              </a:ext>
            </a:extLst>
          </p:cNvPr>
          <p:cNvSpPr>
            <a:spLocks noChangeArrowheads="1"/>
          </p:cNvSpPr>
          <p:nvPr/>
        </p:nvSpPr>
        <p:spPr bwMode="auto">
          <a:xfrm>
            <a:off x="304800" y="304800"/>
            <a:ext cx="86106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buSzPct val="85000"/>
              <a:buFontTx/>
              <a:buBlip>
                <a:blip r:embed="rId3"/>
              </a:buBlip>
            </a:pPr>
            <a:r>
              <a:rPr lang="en-US" altLang="zh-CN" sz="3200" b="1" dirty="0">
                <a:solidFill>
                  <a:srgbClr val="0070C0"/>
                </a:solidFill>
              </a:rPr>
              <a:t>Spontaneity</a:t>
            </a:r>
            <a:r>
              <a:rPr lang="en-US" altLang="zh-CN" sz="3200" dirty="0">
                <a:solidFill>
                  <a:srgbClr val="0070C0"/>
                </a:solidFill>
              </a:rPr>
              <a:t> </a:t>
            </a:r>
            <a:r>
              <a:rPr lang="en-US" altLang="zh-CN" sz="3200" dirty="0"/>
              <a:t>has nothing to do with rate!</a:t>
            </a:r>
          </a:p>
          <a:p>
            <a:pPr eaLnBrk="1" hangingPunct="1">
              <a:lnSpc>
                <a:spcPct val="120000"/>
              </a:lnSpc>
              <a:spcBef>
                <a:spcPct val="20000"/>
              </a:spcBef>
              <a:buSzPct val="85000"/>
              <a:buFontTx/>
              <a:buBlip>
                <a:blip r:embed="rId3"/>
              </a:buBlip>
            </a:pPr>
            <a:r>
              <a:rPr lang="en-US" altLang="zh-CN" sz="3200" dirty="0">
                <a:solidFill>
                  <a:srgbClr val="0070C0"/>
                </a:solidFill>
              </a:rPr>
              <a:t>Standard free energy change </a:t>
            </a:r>
            <a:r>
              <a:rPr lang="en-US" altLang="zh-CN" sz="3200" dirty="0"/>
              <a:t>in biochemistry (</a:t>
            </a:r>
            <a:r>
              <a:rPr lang="en-US" altLang="zh-CN" sz="3200" b="1" i="1" dirty="0">
                <a:solidFill>
                  <a:srgbClr val="FF0000"/>
                </a:solidFill>
                <a:sym typeface="Symbol" panose="05050102010706020507" pitchFamily="18" charset="2"/>
              </a:rPr>
              <a:t></a:t>
            </a:r>
            <a:r>
              <a:rPr lang="en-US" altLang="zh-CN" sz="3200" i="1" dirty="0" err="1">
                <a:solidFill>
                  <a:srgbClr val="FF0000"/>
                </a:solidFill>
              </a:rPr>
              <a:t>G</a:t>
            </a:r>
            <a:r>
              <a:rPr lang="en-US" altLang="zh-CN" sz="3200" i="1" dirty="0" err="1">
                <a:solidFill>
                  <a:srgbClr val="FF0000"/>
                </a:solidFill>
                <a:cs typeface="Times New Roman" pitchFamily="18" charset="0"/>
              </a:rPr>
              <a:t>'</a:t>
            </a:r>
            <a:r>
              <a:rPr lang="en-US" altLang="zh-CN" sz="3200" i="1" baseline="30000" dirty="0" err="1">
                <a:solidFill>
                  <a:srgbClr val="FF0000"/>
                </a:solidFill>
                <a:cs typeface="Times New Roman" pitchFamily="18" charset="0"/>
              </a:rPr>
              <a:t>o</a:t>
            </a:r>
            <a:r>
              <a:rPr lang="en-US" altLang="zh-CN" sz="3200" dirty="0"/>
              <a:t>): value of the change in free energy under conditions of 298 K (25</a:t>
            </a:r>
            <a:r>
              <a:rPr lang="en-US" altLang="zh-CN" sz="3200" baseline="30000" dirty="0"/>
              <a:t>o</a:t>
            </a:r>
            <a:r>
              <a:rPr lang="en-US" altLang="zh-CN" sz="3200" dirty="0"/>
              <a:t>C), 1 </a:t>
            </a:r>
            <a:r>
              <a:rPr lang="en-US" altLang="zh-CN" sz="3200" dirty="0" err="1"/>
              <a:t>atm</a:t>
            </a:r>
            <a:r>
              <a:rPr lang="en-US" altLang="zh-CN" sz="3200" dirty="0"/>
              <a:t> pressure, </a:t>
            </a:r>
            <a:r>
              <a:rPr lang="en-US" altLang="zh-CN" sz="3200" dirty="0">
                <a:solidFill>
                  <a:srgbClr val="0070C0"/>
                </a:solidFill>
              </a:rPr>
              <a:t>pH 7.0 </a:t>
            </a:r>
            <a:r>
              <a:rPr lang="en-US" altLang="zh-CN" sz="3200" dirty="0"/>
              <a:t>(chemists use pH 0, i.e., the concentration of H</a:t>
            </a:r>
            <a:r>
              <a:rPr lang="en-US" altLang="zh-CN" sz="3200" baseline="30000" dirty="0"/>
              <a:t>+</a:t>
            </a:r>
            <a:r>
              <a:rPr lang="en-US" altLang="zh-CN" sz="3200" dirty="0"/>
              <a:t> they use is 1M, not 10</a:t>
            </a:r>
            <a:r>
              <a:rPr lang="en-US" altLang="zh-CN" sz="3200" baseline="30000" dirty="0"/>
              <a:t>-7</a:t>
            </a:r>
            <a:r>
              <a:rPr lang="en-US" altLang="zh-CN" sz="3200" dirty="0"/>
              <a:t> M as biochemists use here) and initial concentrations of 1 M for all reactants and products (except H</a:t>
            </a:r>
            <a:r>
              <a:rPr lang="en-US" altLang="zh-CN" sz="3200" baseline="30000" dirty="0"/>
              <a:t>+</a:t>
            </a:r>
            <a:r>
              <a:rPr lang="en-US" altLang="zh-CN" sz="3200" dirty="0"/>
              <a:t>).</a:t>
            </a:r>
          </a:p>
        </p:txBody>
      </p:sp>
    </p:spTree>
    <p:extLst>
      <p:ext uri="{BB962C8B-B14F-4D97-AF65-F5344CB8AC3E}">
        <p14:creationId xmlns:p14="http://schemas.microsoft.com/office/powerpoint/2010/main" val="32089528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a:extLst>
              <a:ext uri="{FF2B5EF4-FFF2-40B4-BE49-F238E27FC236}">
                <a16:creationId xmlns:a16="http://schemas.microsoft.com/office/drawing/2014/main" id="{9734AB4B-486E-43E5-97C2-E75FF6C51342}"/>
              </a:ext>
            </a:extLst>
          </p:cNvPr>
          <p:cNvSpPr txBox="1">
            <a:spLocks noChangeArrowheads="1"/>
          </p:cNvSpPr>
          <p:nvPr/>
        </p:nvSpPr>
        <p:spPr bwMode="auto">
          <a:xfrm>
            <a:off x="381000" y="533400"/>
            <a:ext cx="8382000" cy="467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SzPct val="85000"/>
              <a:buFontTx/>
              <a:buBlip>
                <a:blip r:embed="rId2"/>
              </a:buBlip>
            </a:pPr>
            <a:endParaRPr lang="en-US" altLang="zh-CN" sz="3200" dirty="0"/>
          </a:p>
          <a:p>
            <a:pPr eaLnBrk="1" hangingPunct="1">
              <a:lnSpc>
                <a:spcPct val="130000"/>
              </a:lnSpc>
              <a:spcBef>
                <a:spcPct val="20000"/>
              </a:spcBef>
              <a:buSzPct val="85000"/>
              <a:buFontTx/>
              <a:buBlip>
                <a:blip r:embed="rId2"/>
              </a:buBlip>
            </a:pPr>
            <a:r>
              <a:rPr lang="en-US" altLang="zh-CN" sz="3200" dirty="0">
                <a:sym typeface="Symbol" panose="05050102010706020507" pitchFamily="18" charset="2"/>
              </a:rPr>
              <a:t>The </a:t>
            </a:r>
            <a:r>
              <a:rPr lang="en-US" altLang="zh-CN" sz="3200" dirty="0">
                <a:solidFill>
                  <a:srgbClr val="0070C0"/>
                </a:solidFill>
                <a:sym typeface="Symbol" panose="05050102010706020507" pitchFamily="18" charset="2"/>
              </a:rPr>
              <a:t>actual free energy </a:t>
            </a:r>
            <a:r>
              <a:rPr lang="en-US" altLang="zh-CN" sz="3200" dirty="0" err="1">
                <a:solidFill>
                  <a:srgbClr val="0070C0"/>
                </a:solidFill>
                <a:sym typeface="Symbol" panose="05050102010706020507" pitchFamily="18" charset="2"/>
              </a:rPr>
              <a:t>chang</a:t>
            </a:r>
            <a:r>
              <a:rPr lang="en-US" altLang="zh-CN" sz="3200" i="1" dirty="0">
                <a:solidFill>
                  <a:srgbClr val="0070C0"/>
                </a:solidFill>
                <a:sym typeface="Symbol" panose="05050102010706020507" pitchFamily="18" charset="2"/>
              </a:rPr>
              <a:t> (</a:t>
            </a:r>
            <a:r>
              <a:rPr lang="en-US" altLang="zh-CN" sz="3200" i="1" dirty="0">
                <a:solidFill>
                  <a:srgbClr val="0070C0"/>
                </a:solidFill>
              </a:rPr>
              <a:t>G )</a:t>
            </a:r>
            <a:r>
              <a:rPr lang="en-US" altLang="zh-CN" sz="3200" dirty="0"/>
              <a:t>depends on </a:t>
            </a:r>
            <a:r>
              <a:rPr lang="en-US" altLang="zh-CN" sz="3200" i="1" dirty="0">
                <a:sym typeface="Symbol" panose="05050102010706020507" pitchFamily="18" charset="2"/>
              </a:rPr>
              <a:t></a:t>
            </a:r>
            <a:r>
              <a:rPr lang="en-US" altLang="zh-CN" sz="3200" i="1" dirty="0" err="1"/>
              <a:t>G</a:t>
            </a:r>
            <a:r>
              <a:rPr lang="en-US" altLang="zh-CN" sz="3200" i="1" dirty="0" err="1">
                <a:cs typeface="Times New Roman" pitchFamily="18" charset="0"/>
              </a:rPr>
              <a:t>'</a:t>
            </a:r>
            <a:r>
              <a:rPr lang="en-US" altLang="zh-CN" sz="3200" i="1" baseline="30000" dirty="0" err="1"/>
              <a:t>o</a:t>
            </a:r>
            <a:r>
              <a:rPr lang="en-US" altLang="zh-CN" sz="3200" dirty="0"/>
              <a:t>, temperature,  ratio of product and reactant concentrations (Q):</a:t>
            </a:r>
          </a:p>
          <a:p>
            <a:pPr eaLnBrk="1" hangingPunct="1">
              <a:lnSpc>
                <a:spcPct val="130000"/>
              </a:lnSpc>
              <a:spcBef>
                <a:spcPct val="20000"/>
              </a:spcBef>
              <a:buSzPct val="85000"/>
              <a:buFontTx/>
              <a:buBlip>
                <a:blip r:embed="rId2"/>
              </a:buBlip>
            </a:pPr>
            <a:r>
              <a:rPr lang="en-US" altLang="zh-CN" sz="3200" i="1" dirty="0">
                <a:solidFill>
                  <a:srgbClr val="0070C0"/>
                </a:solidFill>
                <a:sym typeface="Symbol" panose="05050102010706020507" pitchFamily="18" charset="2"/>
              </a:rPr>
              <a:t>         </a:t>
            </a:r>
            <a:r>
              <a:rPr lang="en-US" altLang="zh-CN" sz="3200" i="1" dirty="0">
                <a:solidFill>
                  <a:srgbClr val="0070C0"/>
                </a:solidFill>
              </a:rPr>
              <a:t>G </a:t>
            </a:r>
            <a:r>
              <a:rPr lang="en-US" altLang="zh-CN" sz="3200" dirty="0">
                <a:solidFill>
                  <a:srgbClr val="0070C0"/>
                </a:solidFill>
              </a:rPr>
              <a:t>= </a:t>
            </a:r>
            <a:r>
              <a:rPr lang="en-US" altLang="zh-CN" sz="3200" i="1" dirty="0">
                <a:solidFill>
                  <a:srgbClr val="0070C0"/>
                </a:solidFill>
                <a:sym typeface="Symbol" panose="05050102010706020507" pitchFamily="18" charset="2"/>
              </a:rPr>
              <a:t></a:t>
            </a:r>
            <a:r>
              <a:rPr lang="en-US" altLang="zh-CN" sz="3200" i="1" dirty="0" err="1">
                <a:solidFill>
                  <a:srgbClr val="0070C0"/>
                </a:solidFill>
              </a:rPr>
              <a:t>G</a:t>
            </a:r>
            <a:r>
              <a:rPr lang="en-US" altLang="zh-CN" sz="3200" i="1" dirty="0" err="1">
                <a:solidFill>
                  <a:srgbClr val="0070C0"/>
                </a:solidFill>
                <a:cs typeface="Times New Roman" pitchFamily="18" charset="0"/>
              </a:rPr>
              <a:t>'</a:t>
            </a:r>
            <a:r>
              <a:rPr lang="en-US" altLang="zh-CN" sz="3200" i="1" baseline="30000" dirty="0" err="1">
                <a:solidFill>
                  <a:srgbClr val="0070C0"/>
                </a:solidFill>
              </a:rPr>
              <a:t>o</a:t>
            </a:r>
            <a:r>
              <a:rPr lang="en-US" altLang="zh-CN" sz="3200" i="1" baseline="30000" dirty="0">
                <a:solidFill>
                  <a:srgbClr val="0070C0"/>
                </a:solidFill>
              </a:rPr>
              <a:t> </a:t>
            </a:r>
            <a:r>
              <a:rPr lang="en-US" altLang="zh-CN" sz="3200" dirty="0">
                <a:solidFill>
                  <a:srgbClr val="0070C0"/>
                </a:solidFill>
              </a:rPr>
              <a:t>+ </a:t>
            </a:r>
            <a:r>
              <a:rPr lang="en-US" altLang="zh-CN" sz="3200" i="1" dirty="0">
                <a:solidFill>
                  <a:srgbClr val="0070C0"/>
                </a:solidFill>
              </a:rPr>
              <a:t>RT </a:t>
            </a:r>
            <a:r>
              <a:rPr lang="en-US" altLang="zh-CN" sz="3200" dirty="0">
                <a:solidFill>
                  <a:srgbClr val="0070C0"/>
                </a:solidFill>
              </a:rPr>
              <a:t>ln Q</a:t>
            </a:r>
          </a:p>
          <a:p>
            <a:pPr eaLnBrk="1" hangingPunct="1">
              <a:lnSpc>
                <a:spcPct val="130000"/>
              </a:lnSpc>
              <a:spcBef>
                <a:spcPct val="20000"/>
              </a:spcBef>
              <a:buSzPct val="85000"/>
              <a:buFontTx/>
              <a:buBlip>
                <a:blip r:embed="rId2"/>
              </a:buBlip>
            </a:pPr>
            <a:r>
              <a:rPr lang="en-US" altLang="zh-CN" sz="3200" dirty="0">
                <a:solidFill>
                  <a:srgbClr val="000099"/>
                </a:solidFill>
              </a:rPr>
              <a:t>Enzymes only speed up thermodynamically favorable reactions (having a negative </a:t>
            </a:r>
            <a:r>
              <a:rPr lang="en-US" altLang="zh-CN" sz="3200" i="1" dirty="0">
                <a:solidFill>
                  <a:srgbClr val="000099"/>
                </a:solidFill>
                <a:sym typeface="Symbol" panose="05050102010706020507" pitchFamily="18" charset="2"/>
              </a:rPr>
              <a:t></a:t>
            </a:r>
            <a:r>
              <a:rPr lang="en-US" altLang="zh-CN" sz="3200" i="1" dirty="0">
                <a:solidFill>
                  <a:srgbClr val="000099"/>
                </a:solidFill>
              </a:rPr>
              <a:t>G)</a:t>
            </a:r>
            <a:r>
              <a:rPr lang="en-US" altLang="zh-CN" sz="3200" dirty="0">
                <a:solidFill>
                  <a:srgbClr val="000099"/>
                </a:solidFill>
              </a:rPr>
              <a:t> !</a:t>
            </a:r>
          </a:p>
        </p:txBody>
      </p:sp>
    </p:spTree>
    <p:extLst>
      <p:ext uri="{BB962C8B-B14F-4D97-AF65-F5344CB8AC3E}">
        <p14:creationId xmlns:p14="http://schemas.microsoft.com/office/powerpoint/2010/main" val="38277414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1026">
            <a:extLst>
              <a:ext uri="{FF2B5EF4-FFF2-40B4-BE49-F238E27FC236}">
                <a16:creationId xmlns:a16="http://schemas.microsoft.com/office/drawing/2014/main" id="{EBCF9A2A-C251-42C2-8941-E9537D08765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15456" t="8308" r="9091" b="6491"/>
          <a:stretch>
            <a:fillRect/>
          </a:stretch>
        </p:blipFill>
        <p:spPr bwMode="auto">
          <a:xfrm>
            <a:off x="609600" y="304800"/>
            <a:ext cx="7010400" cy="593725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59481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a:extLst>
              <a:ext uri="{FF2B5EF4-FFF2-40B4-BE49-F238E27FC236}">
                <a16:creationId xmlns:a16="http://schemas.microsoft.com/office/drawing/2014/main" id="{94617797-0F4E-40BC-8055-CDECB0A133E8}"/>
              </a:ext>
            </a:extLst>
          </p:cNvPr>
          <p:cNvSpPr>
            <a:spLocks noChangeArrowheads="1"/>
          </p:cNvSpPr>
          <p:nvPr/>
        </p:nvSpPr>
        <p:spPr bwMode="auto">
          <a:xfrm>
            <a:off x="0" y="304800"/>
            <a:ext cx="8534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4400" b="1" dirty="0">
                <a:solidFill>
                  <a:srgbClr val="FF0000"/>
                </a:solidFill>
              </a:rPr>
              <a:t>4. ATP is the universal currency for biological energy</a:t>
            </a:r>
          </a:p>
        </p:txBody>
      </p:sp>
      <p:sp>
        <p:nvSpPr>
          <p:cNvPr id="25603" name="Rectangle 4">
            <a:extLst>
              <a:ext uri="{FF2B5EF4-FFF2-40B4-BE49-F238E27FC236}">
                <a16:creationId xmlns:a16="http://schemas.microsoft.com/office/drawing/2014/main" id="{72F01010-F520-4FC0-BCB8-DF01CD00CC2E}"/>
              </a:ext>
            </a:extLst>
          </p:cNvPr>
          <p:cNvSpPr>
            <a:spLocks noChangeArrowheads="1"/>
          </p:cNvSpPr>
          <p:nvPr/>
        </p:nvSpPr>
        <p:spPr bwMode="auto">
          <a:xfrm>
            <a:off x="0" y="2133600"/>
            <a:ext cx="91440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SzPct val="85000"/>
              <a:buFontTx/>
              <a:buBlip>
                <a:blip r:embed="rId3"/>
              </a:buBlip>
            </a:pPr>
            <a:r>
              <a:rPr lang="en-US" altLang="zh-CN" sz="3200" dirty="0"/>
              <a:t>This was first perceived by Fritz Lipmann and Herman </a:t>
            </a:r>
            <a:r>
              <a:rPr lang="en-US" altLang="zh-CN" sz="3200" dirty="0" err="1"/>
              <a:t>Kalckar</a:t>
            </a:r>
            <a:r>
              <a:rPr lang="en-US" altLang="zh-CN" sz="3200" dirty="0"/>
              <a:t> in 1941 when studying </a:t>
            </a:r>
            <a:r>
              <a:rPr lang="en-US" altLang="zh-CN" sz="3200" dirty="0" err="1"/>
              <a:t>glycolysis</a:t>
            </a:r>
            <a:r>
              <a:rPr lang="en-US" altLang="zh-CN" sz="3200" dirty="0"/>
              <a:t>.</a:t>
            </a:r>
          </a:p>
          <a:p>
            <a:pPr eaLnBrk="1" hangingPunct="1">
              <a:lnSpc>
                <a:spcPct val="90000"/>
              </a:lnSpc>
              <a:spcBef>
                <a:spcPct val="20000"/>
              </a:spcBef>
              <a:buSzPct val="85000"/>
              <a:buFontTx/>
              <a:buBlip>
                <a:blip r:embed="rId3"/>
              </a:buBlip>
            </a:pPr>
            <a:r>
              <a:rPr lang="en-US" altLang="zh-CN" sz="3200" dirty="0"/>
              <a:t>Hydrolysis of the two </a:t>
            </a:r>
            <a:r>
              <a:rPr lang="en-US" altLang="zh-CN" sz="3200" dirty="0" err="1"/>
              <a:t>phosphoanhydride</a:t>
            </a:r>
            <a:r>
              <a:rPr lang="en-US" altLang="zh-CN" sz="3200" dirty="0"/>
              <a:t> (</a:t>
            </a:r>
            <a:r>
              <a:rPr lang="zh-CN" altLang="en-US" sz="3200" dirty="0">
                <a:ea typeface="华文新魏" panose="02010800040101010101" pitchFamily="2" charset="-122"/>
              </a:rPr>
              <a:t>磷酸酐键</a:t>
            </a:r>
            <a:r>
              <a:rPr lang="en-US" altLang="zh-CN" sz="3200" dirty="0">
                <a:ea typeface="华文新魏" panose="02010800040101010101" pitchFamily="2" charset="-122"/>
              </a:rPr>
              <a:t>)</a:t>
            </a:r>
            <a:r>
              <a:rPr lang="en-US" altLang="zh-CN" sz="3200" dirty="0"/>
              <a:t> bonds in ATP generate more stable products releasing large amount of free energy (</a:t>
            </a:r>
            <a:r>
              <a:rPr lang="en-US" altLang="zh-CN" sz="3200" i="1" dirty="0">
                <a:sym typeface="Symbol" panose="05050102010706020507" pitchFamily="18" charset="2"/>
              </a:rPr>
              <a:t></a:t>
            </a:r>
            <a:r>
              <a:rPr lang="en-US" altLang="zh-CN" sz="3200" i="1" dirty="0" err="1"/>
              <a:t>G</a:t>
            </a:r>
            <a:r>
              <a:rPr lang="en-US" altLang="zh-CN" sz="3200" i="1" dirty="0" err="1">
                <a:cs typeface="Times New Roman" pitchFamily="18" charset="0"/>
              </a:rPr>
              <a:t>'</a:t>
            </a:r>
            <a:r>
              <a:rPr lang="en-US" altLang="zh-CN" sz="3200" i="1" baseline="30000" dirty="0" err="1"/>
              <a:t>o</a:t>
            </a:r>
            <a:r>
              <a:rPr lang="en-US" altLang="zh-CN" sz="3200" dirty="0"/>
              <a:t> </a:t>
            </a:r>
            <a:r>
              <a:rPr lang="en-US" altLang="zh-CN" sz="3200" dirty="0">
                <a:sym typeface="Symbol" panose="05050102010706020507" pitchFamily="18" charset="2"/>
              </a:rPr>
              <a:t>is -30.5 kJ/mol; </a:t>
            </a:r>
            <a:r>
              <a:rPr lang="en-US" altLang="zh-CN" sz="3200" i="1" dirty="0">
                <a:sym typeface="Symbol" panose="05050102010706020507" pitchFamily="18" charset="2"/>
              </a:rPr>
              <a:t>G</a:t>
            </a:r>
            <a:r>
              <a:rPr lang="en-US" altLang="zh-CN" sz="3200" dirty="0">
                <a:sym typeface="Symbol" panose="05050102010706020507" pitchFamily="18" charset="2"/>
              </a:rPr>
              <a:t> in cells is -50 to -65 kJ/mol)</a:t>
            </a:r>
            <a:r>
              <a:rPr lang="en-US" altLang="zh-CN" sz="3200" dirty="0"/>
              <a:t>.</a:t>
            </a:r>
          </a:p>
        </p:txBody>
      </p:sp>
    </p:spTree>
    <p:extLst>
      <p:ext uri="{BB962C8B-B14F-4D97-AF65-F5344CB8AC3E}">
        <p14:creationId xmlns:p14="http://schemas.microsoft.com/office/powerpoint/2010/main" val="29700975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a:extLst>
              <a:ext uri="{FF2B5EF4-FFF2-40B4-BE49-F238E27FC236}">
                <a16:creationId xmlns:a16="http://schemas.microsoft.com/office/drawing/2014/main" id="{56139540-417A-4808-B52A-37A76CDB2624}"/>
              </a:ext>
            </a:extLst>
          </p:cNvPr>
          <p:cNvSpPr txBox="1">
            <a:spLocks noChangeArrowheads="1"/>
          </p:cNvSpPr>
          <p:nvPr/>
        </p:nvSpPr>
        <p:spPr bwMode="auto">
          <a:xfrm>
            <a:off x="381000" y="685800"/>
            <a:ext cx="8305800" cy="5706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SzPct val="85000"/>
              <a:buFontTx/>
              <a:buBlip>
                <a:blip r:embed="rId3"/>
              </a:buBlip>
            </a:pPr>
            <a:r>
              <a:rPr lang="en-US" altLang="zh-CN" sz="3200" dirty="0"/>
              <a:t>The ATP molecule is </a:t>
            </a:r>
            <a:r>
              <a:rPr lang="en-US" altLang="zh-CN" sz="3200" dirty="0">
                <a:solidFill>
                  <a:srgbClr val="0070C0"/>
                </a:solidFill>
              </a:rPr>
              <a:t>kinetically stable </a:t>
            </a:r>
            <a:r>
              <a:rPr lang="en-US" altLang="zh-CN" sz="3200" dirty="0"/>
              <a:t>at pH 7 (i.e., it has a high </a:t>
            </a:r>
            <a:r>
              <a:rPr lang="en-US" altLang="zh-CN" sz="3200" dirty="0">
                <a:solidFill>
                  <a:srgbClr val="0070C0"/>
                </a:solidFill>
              </a:rPr>
              <a:t>activation energy, </a:t>
            </a:r>
            <a:r>
              <a:rPr lang="en-US" altLang="zh-CN" sz="3200" i="1" dirty="0">
                <a:sym typeface="Symbol" panose="05050102010706020507" pitchFamily="18" charset="2"/>
              </a:rPr>
              <a:t>G</a:t>
            </a:r>
            <a:r>
              <a:rPr lang="en-US" altLang="zh-CN" sz="3200" baseline="30000" dirty="0">
                <a:ea typeface="PMingLiU" panose="020B0604030504040204" pitchFamily="18" charset="-120"/>
                <a:sym typeface="Symbol" panose="05050102010706020507" pitchFamily="18" charset="2"/>
              </a:rPr>
              <a:t>‡</a:t>
            </a:r>
            <a:r>
              <a:rPr lang="en-US" altLang="zh-CN" sz="3200" dirty="0"/>
              <a:t> for hydrolysis) and enzyme catalysis is needed for its hydrolysis.</a:t>
            </a:r>
          </a:p>
          <a:p>
            <a:pPr eaLnBrk="1" hangingPunct="1">
              <a:spcBef>
                <a:spcPct val="20000"/>
              </a:spcBef>
              <a:buSzPct val="85000"/>
              <a:buFontTx/>
              <a:buBlip>
                <a:blip r:embed="rId3"/>
              </a:buBlip>
            </a:pPr>
            <a:r>
              <a:rPr lang="en-US" altLang="zh-CN" sz="3200" dirty="0"/>
              <a:t>ATP is </a:t>
            </a:r>
            <a:r>
              <a:rPr lang="en-US" altLang="zh-CN" sz="3200" dirty="0">
                <a:solidFill>
                  <a:srgbClr val="000099"/>
                </a:solidFill>
              </a:rPr>
              <a:t>not a long-term storage </a:t>
            </a:r>
            <a:r>
              <a:rPr lang="en-US" altLang="zh-CN" sz="3200" dirty="0"/>
              <a:t>form of free energy in living cells, being consumed within </a:t>
            </a:r>
            <a:r>
              <a:rPr lang="en-US" altLang="zh-CN" sz="3200" dirty="0">
                <a:solidFill>
                  <a:srgbClr val="000099"/>
                </a:solidFill>
              </a:rPr>
              <a:t>a minute </a:t>
            </a:r>
            <a:r>
              <a:rPr lang="en-US" altLang="zh-CN" sz="3200" dirty="0"/>
              <a:t>following its formation (phosphocreatine, </a:t>
            </a:r>
            <a:r>
              <a:rPr lang="zh-CN" altLang="en-US" sz="3200" dirty="0">
                <a:ea typeface="华文新魏" panose="02010800040101010101" pitchFamily="2" charset="-122"/>
              </a:rPr>
              <a:t>磷酸肌酸</a:t>
            </a:r>
            <a:r>
              <a:rPr lang="en-US" altLang="zh-CN" sz="3200" dirty="0">
                <a:ea typeface="华文新魏" panose="02010800040101010101" pitchFamily="2" charset="-122"/>
              </a:rPr>
              <a:t>,</a:t>
            </a:r>
            <a:r>
              <a:rPr lang="en-US" altLang="zh-CN" sz="3200" dirty="0"/>
              <a:t> act as a energy storage form for longer term).</a:t>
            </a:r>
          </a:p>
          <a:p>
            <a:pPr eaLnBrk="1" hangingPunct="1">
              <a:spcBef>
                <a:spcPct val="20000"/>
              </a:spcBef>
              <a:buSzPct val="85000"/>
              <a:buFontTx/>
              <a:buBlip>
                <a:blip r:embed="rId3"/>
              </a:buBlip>
            </a:pPr>
            <a:r>
              <a:rPr lang="en-US" altLang="zh-CN" sz="3200" dirty="0"/>
              <a:t>A resting human consumes about 40 kg of ATP in 24 hours!</a:t>
            </a:r>
            <a:endParaRPr lang="en-US" altLang="zh-CN" dirty="0"/>
          </a:p>
        </p:txBody>
      </p:sp>
    </p:spTree>
    <p:extLst>
      <p:ext uri="{BB962C8B-B14F-4D97-AF65-F5344CB8AC3E}">
        <p14:creationId xmlns:p14="http://schemas.microsoft.com/office/powerpoint/2010/main" val="31107315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a:extLst>
              <a:ext uri="{FF2B5EF4-FFF2-40B4-BE49-F238E27FC236}">
                <a16:creationId xmlns:a16="http://schemas.microsoft.com/office/drawing/2014/main" id="{4FD2F028-2CB3-4C2B-9005-7B993A50DF1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10001" t="10001" r="10001" b="10001"/>
          <a:stretch>
            <a:fillRect/>
          </a:stretch>
        </p:blipFill>
        <p:spPr bwMode="auto">
          <a:xfrm>
            <a:off x="914400" y="533400"/>
            <a:ext cx="7696200" cy="577215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72922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a:extLst>
              <a:ext uri="{FF2B5EF4-FFF2-40B4-BE49-F238E27FC236}">
                <a16:creationId xmlns:a16="http://schemas.microsoft.com/office/drawing/2014/main" id="{CA473D97-A516-4DC9-895E-123614FC7FE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0" y="1066800"/>
            <a:ext cx="6705600" cy="555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5" name="Rectangle 3">
            <a:extLst>
              <a:ext uri="{FF2B5EF4-FFF2-40B4-BE49-F238E27FC236}">
                <a16:creationId xmlns:a16="http://schemas.microsoft.com/office/drawing/2014/main" id="{27CA3A07-F5A9-4498-97F1-8CA769F50126}"/>
              </a:ext>
            </a:extLst>
          </p:cNvPr>
          <p:cNvSpPr>
            <a:spLocks noChangeArrowheads="1"/>
          </p:cNvSpPr>
          <p:nvPr/>
        </p:nvSpPr>
        <p:spPr bwMode="auto">
          <a:xfrm>
            <a:off x="0" y="0"/>
            <a:ext cx="8686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solidFill>
                  <a:srgbClr val="FF0000"/>
                </a:solidFill>
              </a:rPr>
              <a:t>ATP has an intermediate phosphoryl group transfer potential.</a:t>
            </a:r>
          </a:p>
        </p:txBody>
      </p:sp>
    </p:spTree>
    <p:extLst>
      <p:ext uri="{BB962C8B-B14F-4D97-AF65-F5344CB8AC3E}">
        <p14:creationId xmlns:p14="http://schemas.microsoft.com/office/powerpoint/2010/main" val="15586785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a:extLst>
              <a:ext uri="{FF2B5EF4-FFF2-40B4-BE49-F238E27FC236}">
                <a16:creationId xmlns:a16="http://schemas.microsoft.com/office/drawing/2014/main" id="{35B626FF-960E-4FF8-8FCB-C898DAE2F4E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0" y="381000"/>
            <a:ext cx="7315200" cy="6067425"/>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67819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a:extLst>
              <a:ext uri="{FF2B5EF4-FFF2-40B4-BE49-F238E27FC236}">
                <a16:creationId xmlns:a16="http://schemas.microsoft.com/office/drawing/2014/main" id="{22A0E10A-603A-418F-8B62-58A55AED1E6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1905000"/>
            <a:ext cx="8026400" cy="309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322705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1026">
            <a:extLst>
              <a:ext uri="{FF2B5EF4-FFF2-40B4-BE49-F238E27FC236}">
                <a16:creationId xmlns:a16="http://schemas.microsoft.com/office/drawing/2014/main" id="{473BE91C-D43F-477E-816C-F615AB5538D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163" y="379413"/>
            <a:ext cx="7304087" cy="609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63926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A4150654-02D3-4B90-8C34-58487AD39067}"/>
              </a:ext>
            </a:extLst>
          </p:cNvPr>
          <p:cNvSpPr>
            <a:spLocks noGrp="1" noChangeArrowheads="1"/>
          </p:cNvSpPr>
          <p:nvPr>
            <p:ph type="title"/>
          </p:nvPr>
        </p:nvSpPr>
        <p:spPr>
          <a:xfrm>
            <a:off x="342900" y="692150"/>
            <a:ext cx="628650" cy="3194050"/>
          </a:xfrm>
        </p:spPr>
        <p:txBody>
          <a:bodyPr/>
          <a:lstStyle/>
          <a:p>
            <a:r>
              <a:rPr lang="zh-CN" altLang="en-US" sz="2800" b="1" dirty="0">
                <a:solidFill>
                  <a:schemeClr val="tx1"/>
                </a:solidFill>
              </a:rPr>
              <a:t>高能化合物类型</a:t>
            </a:r>
          </a:p>
        </p:txBody>
      </p:sp>
      <p:grpSp>
        <p:nvGrpSpPr>
          <p:cNvPr id="123908" name="Group 4">
            <a:extLst>
              <a:ext uri="{FF2B5EF4-FFF2-40B4-BE49-F238E27FC236}">
                <a16:creationId xmlns:a16="http://schemas.microsoft.com/office/drawing/2014/main" id="{2566B11A-5284-4DE7-A1FD-4F9812B53886}"/>
              </a:ext>
            </a:extLst>
          </p:cNvPr>
          <p:cNvGrpSpPr>
            <a:grpSpLocks/>
          </p:cNvGrpSpPr>
          <p:nvPr/>
        </p:nvGrpSpPr>
        <p:grpSpPr bwMode="auto">
          <a:xfrm>
            <a:off x="1257300" y="0"/>
            <a:ext cx="7353300" cy="6858000"/>
            <a:chOff x="792" y="0"/>
            <a:chExt cx="4632" cy="4320"/>
          </a:xfrm>
        </p:grpSpPr>
        <p:graphicFrame>
          <p:nvGraphicFramePr>
            <p:cNvPr id="123909" name="Object 5">
              <a:extLst>
                <a:ext uri="{FF2B5EF4-FFF2-40B4-BE49-F238E27FC236}">
                  <a16:creationId xmlns:a16="http://schemas.microsoft.com/office/drawing/2014/main" id="{F46A574B-378E-4438-9A83-2E105D235AC2}"/>
                </a:ext>
              </a:extLst>
            </p:cNvPr>
            <p:cNvGraphicFramePr>
              <a:graphicFrameLocks noChangeAspect="1"/>
            </p:cNvGraphicFramePr>
            <p:nvPr/>
          </p:nvGraphicFramePr>
          <p:xfrm>
            <a:off x="792" y="0"/>
            <a:ext cx="4632" cy="4320"/>
          </p:xfrm>
          <a:graphic>
            <a:graphicData uri="http://schemas.openxmlformats.org/presentationml/2006/ole">
              <mc:AlternateContent xmlns:mc="http://schemas.openxmlformats.org/markup-compatibility/2006">
                <mc:Choice xmlns:v="urn:schemas-microsoft-com:vml" Requires="v">
                  <p:oleObj name="Image" r:id="rId2" imgW="4689024" imgH="4853659" progId="">
                    <p:embed/>
                  </p:oleObj>
                </mc:Choice>
                <mc:Fallback>
                  <p:oleObj name="Image" r:id="rId2" imgW="4689024" imgH="4853659" progId="">
                    <p:embed/>
                    <p:pic>
                      <p:nvPicPr>
                        <p:cNvPr id="0" name="Picture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 y="0"/>
                          <a:ext cx="4632" cy="4320"/>
                        </a:xfrm>
                        <a:prstGeom prst="rect">
                          <a:avLst/>
                        </a:pr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3910" name="Line 6">
              <a:extLst>
                <a:ext uri="{FF2B5EF4-FFF2-40B4-BE49-F238E27FC236}">
                  <a16:creationId xmlns:a16="http://schemas.microsoft.com/office/drawing/2014/main" id="{589E885F-52F1-442B-9969-95A5A012817F}"/>
                </a:ext>
              </a:extLst>
            </p:cNvPr>
            <p:cNvSpPr>
              <a:spLocks noChangeShapeType="1"/>
            </p:cNvSpPr>
            <p:nvPr/>
          </p:nvSpPr>
          <p:spPr bwMode="auto">
            <a:xfrm>
              <a:off x="840" y="48"/>
              <a:ext cx="44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911" name="Line 7">
              <a:extLst>
                <a:ext uri="{FF2B5EF4-FFF2-40B4-BE49-F238E27FC236}">
                  <a16:creationId xmlns:a16="http://schemas.microsoft.com/office/drawing/2014/main" id="{1B2FCF30-A818-4C64-9367-821034A67315}"/>
                </a:ext>
              </a:extLst>
            </p:cNvPr>
            <p:cNvSpPr>
              <a:spLocks noChangeShapeType="1"/>
            </p:cNvSpPr>
            <p:nvPr/>
          </p:nvSpPr>
          <p:spPr bwMode="auto">
            <a:xfrm>
              <a:off x="816" y="3168"/>
              <a:ext cx="44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912" name="Line 8">
              <a:extLst>
                <a:ext uri="{FF2B5EF4-FFF2-40B4-BE49-F238E27FC236}">
                  <a16:creationId xmlns:a16="http://schemas.microsoft.com/office/drawing/2014/main" id="{3323A16B-F203-4F1F-8753-71C58ABBCAE0}"/>
                </a:ext>
              </a:extLst>
            </p:cNvPr>
            <p:cNvSpPr>
              <a:spLocks noChangeShapeType="1"/>
            </p:cNvSpPr>
            <p:nvPr/>
          </p:nvSpPr>
          <p:spPr bwMode="auto">
            <a:xfrm>
              <a:off x="816" y="2256"/>
              <a:ext cx="44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913" name="Line 9">
              <a:extLst>
                <a:ext uri="{FF2B5EF4-FFF2-40B4-BE49-F238E27FC236}">
                  <a16:creationId xmlns:a16="http://schemas.microsoft.com/office/drawing/2014/main" id="{8B20D64F-5F4B-4787-A156-16F27C972F92}"/>
                </a:ext>
              </a:extLst>
            </p:cNvPr>
            <p:cNvSpPr>
              <a:spLocks noChangeShapeType="1"/>
            </p:cNvSpPr>
            <p:nvPr/>
          </p:nvSpPr>
          <p:spPr bwMode="auto">
            <a:xfrm>
              <a:off x="1488" y="1584"/>
              <a:ext cx="3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914" name="Line 10">
              <a:extLst>
                <a:ext uri="{FF2B5EF4-FFF2-40B4-BE49-F238E27FC236}">
                  <a16:creationId xmlns:a16="http://schemas.microsoft.com/office/drawing/2014/main" id="{FF47756E-FD0A-4BF5-AE44-5692B52E0514}"/>
                </a:ext>
              </a:extLst>
            </p:cNvPr>
            <p:cNvSpPr>
              <a:spLocks noChangeShapeType="1"/>
            </p:cNvSpPr>
            <p:nvPr/>
          </p:nvSpPr>
          <p:spPr bwMode="auto">
            <a:xfrm>
              <a:off x="1488" y="960"/>
              <a:ext cx="38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915" name="Line 11">
              <a:extLst>
                <a:ext uri="{FF2B5EF4-FFF2-40B4-BE49-F238E27FC236}">
                  <a16:creationId xmlns:a16="http://schemas.microsoft.com/office/drawing/2014/main" id="{58B075E0-A0FF-44AD-95F4-4864C3D07A47}"/>
                </a:ext>
              </a:extLst>
            </p:cNvPr>
            <p:cNvSpPr>
              <a:spLocks noChangeShapeType="1"/>
            </p:cNvSpPr>
            <p:nvPr/>
          </p:nvSpPr>
          <p:spPr bwMode="auto">
            <a:xfrm>
              <a:off x="816" y="4224"/>
              <a:ext cx="44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916" name="Line 12">
              <a:extLst>
                <a:ext uri="{FF2B5EF4-FFF2-40B4-BE49-F238E27FC236}">
                  <a16:creationId xmlns:a16="http://schemas.microsoft.com/office/drawing/2014/main" id="{3BF27D36-6505-4596-BF3C-060B6752BCDA}"/>
                </a:ext>
              </a:extLst>
            </p:cNvPr>
            <p:cNvSpPr>
              <a:spLocks noChangeShapeType="1"/>
            </p:cNvSpPr>
            <p:nvPr/>
          </p:nvSpPr>
          <p:spPr bwMode="auto">
            <a:xfrm flipV="1">
              <a:off x="816" y="48"/>
              <a:ext cx="0" cy="41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917" name="Line 13">
              <a:extLst>
                <a:ext uri="{FF2B5EF4-FFF2-40B4-BE49-F238E27FC236}">
                  <a16:creationId xmlns:a16="http://schemas.microsoft.com/office/drawing/2014/main" id="{38DDF844-4C9B-46F8-AE02-C1FC0FCB6998}"/>
                </a:ext>
              </a:extLst>
            </p:cNvPr>
            <p:cNvSpPr>
              <a:spLocks noChangeShapeType="1"/>
            </p:cNvSpPr>
            <p:nvPr/>
          </p:nvSpPr>
          <p:spPr bwMode="auto">
            <a:xfrm flipV="1">
              <a:off x="1488" y="48"/>
              <a:ext cx="0" cy="41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918" name="Line 14">
              <a:extLst>
                <a:ext uri="{FF2B5EF4-FFF2-40B4-BE49-F238E27FC236}">
                  <a16:creationId xmlns:a16="http://schemas.microsoft.com/office/drawing/2014/main" id="{2DE68713-FC67-4620-99E8-34DB5C6F4D93}"/>
                </a:ext>
              </a:extLst>
            </p:cNvPr>
            <p:cNvSpPr>
              <a:spLocks noChangeShapeType="1"/>
            </p:cNvSpPr>
            <p:nvPr/>
          </p:nvSpPr>
          <p:spPr bwMode="auto">
            <a:xfrm flipV="1">
              <a:off x="4176" y="48"/>
              <a:ext cx="0" cy="41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919" name="Line 15">
              <a:extLst>
                <a:ext uri="{FF2B5EF4-FFF2-40B4-BE49-F238E27FC236}">
                  <a16:creationId xmlns:a16="http://schemas.microsoft.com/office/drawing/2014/main" id="{851874ED-F2D1-46C4-8C67-F406C59658EC}"/>
                </a:ext>
              </a:extLst>
            </p:cNvPr>
            <p:cNvSpPr>
              <a:spLocks noChangeShapeType="1"/>
            </p:cNvSpPr>
            <p:nvPr/>
          </p:nvSpPr>
          <p:spPr bwMode="auto">
            <a:xfrm flipV="1">
              <a:off x="5304" y="48"/>
              <a:ext cx="0" cy="41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920" name="Line 16">
              <a:extLst>
                <a:ext uri="{FF2B5EF4-FFF2-40B4-BE49-F238E27FC236}">
                  <a16:creationId xmlns:a16="http://schemas.microsoft.com/office/drawing/2014/main" id="{EEB17D4A-45E7-40D1-96DE-2E1A291295A9}"/>
                </a:ext>
              </a:extLst>
            </p:cNvPr>
            <p:cNvSpPr>
              <a:spLocks noChangeShapeType="1"/>
            </p:cNvSpPr>
            <p:nvPr/>
          </p:nvSpPr>
          <p:spPr bwMode="auto">
            <a:xfrm flipV="1">
              <a:off x="2496" y="48"/>
              <a:ext cx="0" cy="41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p>
          </p:txBody>
        </p:sp>
        <p:sp>
          <p:nvSpPr>
            <p:cNvPr id="123921" name="Line 17">
              <a:extLst>
                <a:ext uri="{FF2B5EF4-FFF2-40B4-BE49-F238E27FC236}">
                  <a16:creationId xmlns:a16="http://schemas.microsoft.com/office/drawing/2014/main" id="{25B81314-FDCD-4134-B820-F463639E85F1}"/>
                </a:ext>
              </a:extLst>
            </p:cNvPr>
            <p:cNvSpPr>
              <a:spLocks noChangeShapeType="1"/>
            </p:cNvSpPr>
            <p:nvPr/>
          </p:nvSpPr>
          <p:spPr bwMode="auto">
            <a:xfrm>
              <a:off x="816" y="288"/>
              <a:ext cx="44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922" name="Line 18">
              <a:extLst>
                <a:ext uri="{FF2B5EF4-FFF2-40B4-BE49-F238E27FC236}">
                  <a16:creationId xmlns:a16="http://schemas.microsoft.com/office/drawing/2014/main" id="{9B2A7517-9EE6-48B4-81E5-36DBB9B9C746}"/>
                </a:ext>
              </a:extLst>
            </p:cNvPr>
            <p:cNvSpPr>
              <a:spLocks noChangeShapeType="1"/>
            </p:cNvSpPr>
            <p:nvPr/>
          </p:nvSpPr>
          <p:spPr bwMode="auto">
            <a:xfrm>
              <a:off x="1488" y="3696"/>
              <a:ext cx="3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357108596"/>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86E2F03C-086D-4649-AA34-B69EA7FC7871}"/>
              </a:ext>
            </a:extLst>
          </p:cNvPr>
          <p:cNvSpPr>
            <a:spLocks noChangeArrowheads="1"/>
          </p:cNvSpPr>
          <p:nvPr/>
        </p:nvSpPr>
        <p:spPr bwMode="auto">
          <a:xfrm>
            <a:off x="0" y="609600"/>
            <a:ext cx="9144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4400" b="1" dirty="0">
                <a:solidFill>
                  <a:srgbClr val="FF0000"/>
                </a:solidFill>
              </a:rPr>
              <a:t>5.</a:t>
            </a:r>
            <a:r>
              <a:rPr lang="en-US" altLang="zh-CN" sz="4400" dirty="0">
                <a:solidFill>
                  <a:srgbClr val="FF0000"/>
                </a:solidFill>
              </a:rPr>
              <a:t> </a:t>
            </a:r>
            <a:r>
              <a:rPr lang="en-US" altLang="zh-CN" sz="4400" b="1" dirty="0">
                <a:solidFill>
                  <a:srgbClr val="FF0000"/>
                </a:solidFill>
              </a:rPr>
              <a:t>Electron transfer via redox reactions generates biological energy</a:t>
            </a:r>
          </a:p>
        </p:txBody>
      </p:sp>
      <p:pic>
        <p:nvPicPr>
          <p:cNvPr id="32771" name="Picture 4">
            <a:extLst>
              <a:ext uri="{FF2B5EF4-FFF2-40B4-BE49-F238E27FC236}">
                <a16:creationId xmlns:a16="http://schemas.microsoft.com/office/drawing/2014/main" id="{94C2254B-DBB9-45BF-937A-4B18B33EB3F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10001" t="10001" r="10001" b="10001"/>
          <a:stretch>
            <a:fillRect/>
          </a:stretch>
        </p:blipFill>
        <p:spPr bwMode="auto">
          <a:xfrm>
            <a:off x="1600200" y="2209800"/>
            <a:ext cx="60960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934739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a:extLst>
              <a:ext uri="{FF2B5EF4-FFF2-40B4-BE49-F238E27FC236}">
                <a16:creationId xmlns:a16="http://schemas.microsoft.com/office/drawing/2014/main" id="{424F074D-8F11-4FFE-A8D9-6FB34DCC9DDD}"/>
              </a:ext>
            </a:extLst>
          </p:cNvPr>
          <p:cNvSpPr>
            <a:spLocks noChangeArrowheads="1"/>
          </p:cNvSpPr>
          <p:nvPr/>
        </p:nvSpPr>
        <p:spPr bwMode="auto">
          <a:xfrm>
            <a:off x="323528" y="3287713"/>
            <a:ext cx="5798988"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Clr>
                <a:schemeClr val="tx2"/>
              </a:buClr>
              <a:buSzPct val="115000"/>
            </a:pPr>
            <a:r>
              <a:rPr lang="en-US" altLang="zh-CN" sz="2800" dirty="0">
                <a:solidFill>
                  <a:srgbClr val="0070C0"/>
                </a:solidFill>
              </a:rPr>
              <a:t> </a:t>
            </a:r>
            <a:r>
              <a:rPr lang="en-US" altLang="zh-CN" sz="3600" b="1" dirty="0">
                <a:solidFill>
                  <a:srgbClr val="0070C0"/>
                </a:solidFill>
              </a:rPr>
              <a:t>Carbons have various oxidation states, with hydrocarbon being the most reduced and CO</a:t>
            </a:r>
            <a:r>
              <a:rPr lang="en-US" altLang="zh-CN" sz="3600" b="1" baseline="-25000" dirty="0">
                <a:solidFill>
                  <a:srgbClr val="0070C0"/>
                </a:solidFill>
              </a:rPr>
              <a:t>2</a:t>
            </a:r>
            <a:r>
              <a:rPr lang="en-US" altLang="zh-CN" sz="3600" b="1" dirty="0">
                <a:solidFill>
                  <a:srgbClr val="0070C0"/>
                </a:solidFill>
              </a:rPr>
              <a:t> being the most oxidized.</a:t>
            </a:r>
          </a:p>
        </p:txBody>
      </p:sp>
      <p:pic>
        <p:nvPicPr>
          <p:cNvPr id="34819" name="Picture 4" descr="未标题-1 拷贝">
            <a:extLst>
              <a:ext uri="{FF2B5EF4-FFF2-40B4-BE49-F238E27FC236}">
                <a16:creationId xmlns:a16="http://schemas.microsoft.com/office/drawing/2014/main" id="{92077B2B-68F8-4B67-9D19-37DE61B3540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0825" y="260350"/>
            <a:ext cx="8642350" cy="301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E2E117A2-AD0A-4A1A-8AC5-49FD981A15B6}"/>
              </a:ext>
            </a:extLst>
          </p:cNvPr>
          <p:cNvPicPr>
            <a:picLocks noChangeAspect="1"/>
          </p:cNvPicPr>
          <p:nvPr/>
        </p:nvPicPr>
        <p:blipFill>
          <a:blip r:embed="rId4" cstate="print"/>
          <a:stretch>
            <a:fillRect/>
          </a:stretch>
        </p:blipFill>
        <p:spPr>
          <a:xfrm>
            <a:off x="6239278" y="3287713"/>
            <a:ext cx="2653052" cy="2303587"/>
          </a:xfrm>
          <a:prstGeom prst="rect">
            <a:avLst/>
          </a:prstGeom>
        </p:spPr>
      </p:pic>
    </p:spTree>
    <p:extLst>
      <p:ext uri="{BB962C8B-B14F-4D97-AF65-F5344CB8AC3E}">
        <p14:creationId xmlns:p14="http://schemas.microsoft.com/office/powerpoint/2010/main" val="1860810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3BCE8871-E1CD-4103-BD04-2EB59BAC591F}"/>
              </a:ext>
            </a:extLst>
          </p:cNvPr>
          <p:cNvSpPr>
            <a:spLocks noChangeArrowheads="1"/>
          </p:cNvSpPr>
          <p:nvPr/>
        </p:nvSpPr>
        <p:spPr bwMode="auto">
          <a:xfrm>
            <a:off x="0" y="304800"/>
            <a:ext cx="91440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SzPct val="85000"/>
              <a:buFontTx/>
              <a:buBlip>
                <a:blip r:embed="rId3"/>
              </a:buBlip>
            </a:pPr>
            <a:r>
              <a:rPr lang="en-US" altLang="zh-CN" sz="3200" dirty="0"/>
              <a:t>When electrons flow from a low affinity carrier (reductant)  to a high affinity carrier (oxidant), either in an electric battery or in a living cell, energy is released and work can be done.</a:t>
            </a:r>
          </a:p>
          <a:p>
            <a:pPr eaLnBrk="1" hangingPunct="1">
              <a:lnSpc>
                <a:spcPct val="90000"/>
              </a:lnSpc>
              <a:spcBef>
                <a:spcPct val="20000"/>
              </a:spcBef>
              <a:buSzPct val="85000"/>
              <a:buFontTx/>
              <a:buBlip>
                <a:blip r:embed="rId3"/>
              </a:buBlip>
            </a:pPr>
            <a:r>
              <a:rPr lang="en-US" altLang="zh-CN" sz="3200" dirty="0"/>
              <a:t>Oxidation of energy-rich biological fuels often means </a:t>
            </a:r>
            <a:r>
              <a:rPr lang="en-US" altLang="zh-CN" sz="3200" dirty="0">
                <a:solidFill>
                  <a:srgbClr val="0070C0"/>
                </a:solidFill>
              </a:rPr>
              <a:t>dehydrogenation</a:t>
            </a:r>
            <a:r>
              <a:rPr lang="en-US" altLang="zh-CN" sz="3200" dirty="0"/>
              <a:t> (catalyzed by dehydrogenases, </a:t>
            </a:r>
            <a:r>
              <a:rPr lang="zh-CN" altLang="en-US" sz="3200" dirty="0">
                <a:ea typeface="华文新魏" panose="02010800040101010101" pitchFamily="2" charset="-122"/>
              </a:rPr>
              <a:t>脱氢酶</a:t>
            </a:r>
            <a:r>
              <a:rPr lang="en-US" altLang="zh-CN" sz="3200" dirty="0"/>
              <a:t>) from carbons having various oxidation states.</a:t>
            </a:r>
          </a:p>
          <a:p>
            <a:pPr eaLnBrk="1" hangingPunct="1">
              <a:lnSpc>
                <a:spcPct val="90000"/>
              </a:lnSpc>
              <a:spcBef>
                <a:spcPct val="20000"/>
              </a:spcBef>
              <a:buSzPct val="85000"/>
              <a:buFontTx/>
              <a:buBlip>
                <a:blip r:embed="rId3"/>
              </a:buBlip>
            </a:pPr>
            <a:r>
              <a:rPr lang="en-US" altLang="zh-CN" sz="3200" dirty="0"/>
              <a:t>In the living cells, electrons are transferred directly as </a:t>
            </a:r>
            <a:r>
              <a:rPr lang="en-US" altLang="zh-CN" sz="3200" dirty="0">
                <a:solidFill>
                  <a:srgbClr val="000099"/>
                </a:solidFill>
              </a:rPr>
              <a:t>electrons </a:t>
            </a:r>
            <a:r>
              <a:rPr lang="en-US" altLang="zh-CN" sz="3200" dirty="0"/>
              <a:t>(between metal ions), as </a:t>
            </a:r>
            <a:r>
              <a:rPr lang="en-US" altLang="zh-CN" sz="3200" dirty="0">
                <a:solidFill>
                  <a:srgbClr val="000099"/>
                </a:solidFill>
              </a:rPr>
              <a:t>hydrogen atoms </a:t>
            </a:r>
            <a:r>
              <a:rPr lang="en-US" altLang="zh-CN" sz="3200" dirty="0"/>
              <a:t>(H</a:t>
            </a:r>
            <a:r>
              <a:rPr lang="en-US" altLang="zh-CN" sz="3200" baseline="30000" dirty="0"/>
              <a:t>+ </a:t>
            </a:r>
            <a:r>
              <a:rPr lang="en-US" altLang="zh-CN" sz="3200" dirty="0"/>
              <a:t>+ e</a:t>
            </a:r>
            <a:r>
              <a:rPr lang="en-US" altLang="zh-CN" sz="3200" baseline="30000" dirty="0"/>
              <a:t>-</a:t>
            </a:r>
            <a:r>
              <a:rPr lang="en-US" altLang="zh-CN" sz="3200" dirty="0"/>
              <a:t>), or as a </a:t>
            </a:r>
            <a:r>
              <a:rPr lang="en-US" altLang="zh-CN" sz="3200" dirty="0">
                <a:solidFill>
                  <a:srgbClr val="000099"/>
                </a:solidFill>
              </a:rPr>
              <a:t>hydride ion </a:t>
            </a:r>
            <a:r>
              <a:rPr lang="en-US" altLang="zh-CN" sz="3200" dirty="0"/>
              <a:t>(:H</a:t>
            </a:r>
            <a:r>
              <a:rPr lang="en-US" altLang="zh-CN" sz="3200" baseline="30000" dirty="0"/>
              <a:t>-</a:t>
            </a:r>
            <a:r>
              <a:rPr lang="en-US" altLang="zh-CN" sz="3200" dirty="0"/>
              <a:t> or H</a:t>
            </a:r>
            <a:r>
              <a:rPr lang="en-US" altLang="zh-CN" sz="3200" baseline="30000" dirty="0"/>
              <a:t>+ </a:t>
            </a:r>
            <a:r>
              <a:rPr lang="en-US" altLang="zh-CN" sz="3200" dirty="0"/>
              <a:t>+ 2e</a:t>
            </a:r>
            <a:r>
              <a:rPr lang="en-US" altLang="zh-CN" sz="3200" baseline="30000" dirty="0"/>
              <a:t>-</a:t>
            </a:r>
            <a:r>
              <a:rPr lang="en-US" altLang="zh-CN" sz="3200" dirty="0"/>
              <a:t>).</a:t>
            </a:r>
          </a:p>
          <a:p>
            <a:pPr eaLnBrk="1" hangingPunct="1">
              <a:lnSpc>
                <a:spcPct val="90000"/>
              </a:lnSpc>
              <a:spcBef>
                <a:spcPct val="20000"/>
              </a:spcBef>
              <a:buSzPct val="85000"/>
              <a:buFontTx/>
              <a:buBlip>
                <a:blip r:embed="rId3"/>
              </a:buBlip>
            </a:pPr>
            <a:endParaRPr lang="en-US" altLang="zh-CN" sz="3200" dirty="0"/>
          </a:p>
        </p:txBody>
      </p:sp>
    </p:spTree>
    <p:extLst>
      <p:ext uri="{BB962C8B-B14F-4D97-AF65-F5344CB8AC3E}">
        <p14:creationId xmlns:p14="http://schemas.microsoft.com/office/powerpoint/2010/main" val="38248800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153F332A-E905-44A0-A172-F042C10D7EAA}"/>
              </a:ext>
            </a:extLst>
          </p:cNvPr>
          <p:cNvSpPr>
            <a:spLocks noChangeArrowheads="1"/>
          </p:cNvSpPr>
          <p:nvPr/>
        </p:nvSpPr>
        <p:spPr bwMode="auto">
          <a:xfrm>
            <a:off x="0" y="5029200"/>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b="1" dirty="0"/>
              <a:t>Nicotinamide is derived From niacin(B5)</a:t>
            </a:r>
          </a:p>
        </p:txBody>
      </p:sp>
      <p:pic>
        <p:nvPicPr>
          <p:cNvPr id="37891" name="Picture 3">
            <a:extLst>
              <a:ext uri="{FF2B5EF4-FFF2-40B4-BE49-F238E27FC236}">
                <a16:creationId xmlns:a16="http://schemas.microsoft.com/office/drawing/2014/main" id="{FDE46BA6-BA76-4185-889F-799D9FC0492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304800"/>
            <a:ext cx="80264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580005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a:extLst>
              <a:ext uri="{FF2B5EF4-FFF2-40B4-BE49-F238E27FC236}">
                <a16:creationId xmlns:a16="http://schemas.microsoft.com/office/drawing/2014/main" id="{642A763E-5029-4EA8-8791-930C9FEE1C5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5600" y="304800"/>
            <a:ext cx="8026400" cy="523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7" name="Rectangle 3">
            <a:extLst>
              <a:ext uri="{FF2B5EF4-FFF2-40B4-BE49-F238E27FC236}">
                <a16:creationId xmlns:a16="http://schemas.microsoft.com/office/drawing/2014/main" id="{B731C648-57A8-482A-AE85-02314B0F3A56}"/>
              </a:ext>
            </a:extLst>
          </p:cNvPr>
          <p:cNvSpPr>
            <a:spLocks noChangeArrowheads="1"/>
          </p:cNvSpPr>
          <p:nvPr/>
        </p:nvSpPr>
        <p:spPr bwMode="auto">
          <a:xfrm>
            <a:off x="4114800" y="2971800"/>
            <a:ext cx="4197350" cy="2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dirty="0">
                <a:solidFill>
                  <a:srgbClr val="0000FF"/>
                </a:solidFill>
              </a:rPr>
              <a:t>FMN (</a:t>
            </a:r>
            <a:r>
              <a:rPr lang="en-US" altLang="zh-CN" sz="3600" dirty="0" err="1">
                <a:solidFill>
                  <a:srgbClr val="0000FF"/>
                </a:solidFill>
              </a:rPr>
              <a:t>Flavin</a:t>
            </a:r>
            <a:r>
              <a:rPr lang="en-US" altLang="zh-CN" sz="3600" dirty="0">
                <a:solidFill>
                  <a:srgbClr val="0000FF"/>
                </a:solidFill>
              </a:rPr>
              <a:t> </a:t>
            </a:r>
          </a:p>
          <a:p>
            <a:pPr eaLnBrk="1" hangingPunct="1"/>
            <a:r>
              <a:rPr lang="en-US" altLang="zh-CN" sz="3600" dirty="0" err="1">
                <a:solidFill>
                  <a:srgbClr val="0000FF"/>
                </a:solidFill>
              </a:rPr>
              <a:t>MonoNucleotide</a:t>
            </a:r>
            <a:r>
              <a:rPr lang="en-US" altLang="zh-CN" sz="3600" dirty="0">
                <a:solidFill>
                  <a:srgbClr val="0000FF"/>
                </a:solidFill>
              </a:rPr>
              <a:t>) </a:t>
            </a:r>
          </a:p>
          <a:p>
            <a:pPr eaLnBrk="1" hangingPunct="1"/>
            <a:r>
              <a:rPr lang="en-US" altLang="zh-CN" sz="3600" dirty="0">
                <a:solidFill>
                  <a:srgbClr val="0000FF"/>
                </a:solidFill>
              </a:rPr>
              <a:t>FAD (</a:t>
            </a:r>
            <a:r>
              <a:rPr lang="en-US" altLang="zh-CN" sz="3600" dirty="0" err="1">
                <a:solidFill>
                  <a:srgbClr val="0000FF"/>
                </a:solidFill>
              </a:rPr>
              <a:t>Flavin</a:t>
            </a:r>
            <a:r>
              <a:rPr lang="en-US" altLang="zh-CN" sz="3600" dirty="0">
                <a:solidFill>
                  <a:srgbClr val="0000FF"/>
                </a:solidFill>
              </a:rPr>
              <a:t> Adenine</a:t>
            </a:r>
          </a:p>
          <a:p>
            <a:pPr eaLnBrk="1" hangingPunct="1"/>
            <a:r>
              <a:rPr lang="en-US" altLang="zh-CN" sz="3600" dirty="0" err="1">
                <a:solidFill>
                  <a:srgbClr val="0000FF"/>
                </a:solidFill>
              </a:rPr>
              <a:t>Dinucleotide</a:t>
            </a:r>
            <a:r>
              <a:rPr lang="en-US" altLang="zh-CN" sz="3600" dirty="0">
                <a:solidFill>
                  <a:srgbClr val="0000FF"/>
                </a:solidFill>
              </a:rPr>
              <a:t>)</a:t>
            </a:r>
            <a:endParaRPr lang="en-US" altLang="zh-CN" sz="3600" baseline="30000" dirty="0">
              <a:solidFill>
                <a:srgbClr val="0000FF"/>
              </a:solidFill>
            </a:endParaRPr>
          </a:p>
        </p:txBody>
      </p:sp>
    </p:spTree>
    <p:extLst>
      <p:ext uri="{BB962C8B-B14F-4D97-AF65-F5344CB8AC3E}">
        <p14:creationId xmlns:p14="http://schemas.microsoft.com/office/powerpoint/2010/main" val="37623202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41B43FBE-A03A-43D8-9438-04964990F814}"/>
              </a:ext>
            </a:extLst>
          </p:cNvPr>
          <p:cNvSpPr>
            <a:spLocks noChangeArrowheads="1"/>
          </p:cNvSpPr>
          <p:nvPr/>
        </p:nvSpPr>
        <p:spPr bwMode="auto">
          <a:xfrm>
            <a:off x="0" y="228600"/>
            <a:ext cx="8915400" cy="632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SzPct val="85000"/>
              <a:buFontTx/>
              <a:buBlip>
                <a:blip r:embed="rId3"/>
              </a:buBlip>
            </a:pPr>
            <a:r>
              <a:rPr lang="en-US" altLang="zh-CN" sz="3200" dirty="0"/>
              <a:t>The affinity for electrons of a compound (in its oxidized form) is indicated by its </a:t>
            </a:r>
            <a:r>
              <a:rPr lang="en-US" altLang="zh-CN" sz="3200" dirty="0">
                <a:solidFill>
                  <a:srgbClr val="C00000"/>
                </a:solidFill>
              </a:rPr>
              <a:t>reduction potential (</a:t>
            </a:r>
            <a:r>
              <a:rPr lang="en-US" altLang="zh-CN" sz="3200" i="1" dirty="0">
                <a:solidFill>
                  <a:srgbClr val="C00000"/>
                </a:solidFill>
              </a:rPr>
              <a:t>E</a:t>
            </a:r>
            <a:r>
              <a:rPr lang="en-US" altLang="zh-CN" sz="3200" dirty="0">
                <a:solidFill>
                  <a:srgbClr val="C00000"/>
                </a:solidFill>
              </a:rPr>
              <a:t>).</a:t>
            </a:r>
          </a:p>
          <a:p>
            <a:pPr eaLnBrk="1" hangingPunct="1">
              <a:lnSpc>
                <a:spcPct val="90000"/>
              </a:lnSpc>
              <a:spcBef>
                <a:spcPct val="20000"/>
              </a:spcBef>
              <a:buSzPct val="85000"/>
              <a:buFontTx/>
              <a:buBlip>
                <a:blip r:embed="rId3"/>
              </a:buBlip>
            </a:pPr>
            <a:r>
              <a:rPr lang="en-US" altLang="zh-CN" sz="3200" dirty="0">
                <a:solidFill>
                  <a:srgbClr val="C00000"/>
                </a:solidFill>
              </a:rPr>
              <a:t>Standard reduction potential (</a:t>
            </a:r>
            <a:r>
              <a:rPr lang="en-US" altLang="zh-CN" sz="3200" i="1" dirty="0" err="1">
                <a:solidFill>
                  <a:srgbClr val="C00000"/>
                </a:solidFill>
              </a:rPr>
              <a:t>E</a:t>
            </a:r>
            <a:r>
              <a:rPr lang="en-US" altLang="zh-CN" sz="3200" i="1" dirty="0" err="1">
                <a:solidFill>
                  <a:srgbClr val="C00000"/>
                </a:solidFill>
                <a:cs typeface="Times New Roman" pitchFamily="18" charset="0"/>
              </a:rPr>
              <a:t>'</a:t>
            </a:r>
            <a:r>
              <a:rPr lang="en-US" altLang="zh-CN" sz="3200" i="1" baseline="30000" dirty="0" err="1">
                <a:solidFill>
                  <a:srgbClr val="C00000"/>
                </a:solidFill>
              </a:rPr>
              <a:t>o</a:t>
            </a:r>
            <a:r>
              <a:rPr lang="en-US" altLang="zh-CN" sz="3200" dirty="0">
                <a:solidFill>
                  <a:srgbClr val="C00000"/>
                </a:solidFill>
              </a:rPr>
              <a:t>) </a:t>
            </a:r>
            <a:r>
              <a:rPr lang="en-US" altLang="zh-CN" sz="3200" dirty="0"/>
              <a:t>of each oxidant (a constant) is measured by connecting a half-cell having the oxidized and reduced species of the redox pair each at 1 M, or 1 </a:t>
            </a:r>
            <a:r>
              <a:rPr lang="en-US" altLang="zh-CN" sz="3200" dirty="0" err="1"/>
              <a:t>atm</a:t>
            </a:r>
            <a:r>
              <a:rPr lang="en-US" altLang="zh-CN" sz="3200" dirty="0"/>
              <a:t> for gases, </a:t>
            </a:r>
            <a:r>
              <a:rPr lang="en-US" altLang="zh-CN" sz="3200" dirty="0">
                <a:solidFill>
                  <a:srgbClr val="000099"/>
                </a:solidFill>
              </a:rPr>
              <a:t>pH 7</a:t>
            </a:r>
            <a:r>
              <a:rPr lang="en-US" altLang="zh-CN" sz="3200" dirty="0"/>
              <a:t> to a reference half-cell having 1 M H</a:t>
            </a:r>
            <a:r>
              <a:rPr lang="en-US" altLang="zh-CN" sz="3200" baseline="30000" dirty="0"/>
              <a:t>+</a:t>
            </a:r>
            <a:r>
              <a:rPr lang="en-US" altLang="zh-CN" sz="3200" dirty="0"/>
              <a:t> and 1 </a:t>
            </a:r>
            <a:r>
              <a:rPr lang="en-US" altLang="zh-CN" sz="3200" dirty="0" err="1"/>
              <a:t>atm</a:t>
            </a:r>
            <a:r>
              <a:rPr lang="en-US" altLang="zh-CN" sz="3200" dirty="0"/>
              <a:t> H</a:t>
            </a:r>
            <a:r>
              <a:rPr lang="en-US" altLang="zh-CN" sz="3200" baseline="-25000" dirty="0"/>
              <a:t>2</a:t>
            </a:r>
            <a:r>
              <a:rPr lang="en-US" altLang="zh-CN" sz="3200" dirty="0"/>
              <a:t>, whose </a:t>
            </a:r>
            <a:r>
              <a:rPr lang="en-US" altLang="zh-CN" sz="3200" i="1" dirty="0"/>
              <a:t>E</a:t>
            </a:r>
            <a:r>
              <a:rPr lang="en-US" altLang="zh-CN" sz="3200" i="1" dirty="0">
                <a:cs typeface="Times New Roman" pitchFamily="18" charset="0"/>
              </a:rPr>
              <a:t>' </a:t>
            </a:r>
            <a:r>
              <a:rPr lang="en-US" altLang="zh-CN" sz="3200" b="1" i="1" baseline="30000" dirty="0"/>
              <a:t>o</a:t>
            </a:r>
            <a:r>
              <a:rPr lang="en-US" altLang="zh-CN" sz="3200" dirty="0"/>
              <a:t> is </a:t>
            </a:r>
            <a:r>
              <a:rPr lang="en-US" altLang="zh-CN" sz="3200" dirty="0">
                <a:solidFill>
                  <a:srgbClr val="000099"/>
                </a:solidFill>
              </a:rPr>
              <a:t>arbitrarily assigned </a:t>
            </a:r>
            <a:r>
              <a:rPr lang="en-US" altLang="zh-CN" sz="3200" dirty="0"/>
              <a:t>as 0.00 V.</a:t>
            </a:r>
          </a:p>
          <a:p>
            <a:pPr eaLnBrk="1" hangingPunct="1">
              <a:lnSpc>
                <a:spcPct val="90000"/>
              </a:lnSpc>
              <a:spcBef>
                <a:spcPct val="20000"/>
              </a:spcBef>
              <a:buSzPct val="85000"/>
              <a:buFontTx/>
              <a:buBlip>
                <a:blip r:embed="rId3"/>
              </a:buBlip>
            </a:pPr>
            <a:r>
              <a:rPr lang="en-US" altLang="zh-CN" sz="3200" dirty="0"/>
              <a:t>A positive value of </a:t>
            </a:r>
            <a:r>
              <a:rPr lang="en-US" altLang="zh-CN" sz="3200" i="1" dirty="0" err="1"/>
              <a:t>E</a:t>
            </a:r>
            <a:r>
              <a:rPr lang="en-US" altLang="zh-CN" sz="3200" i="1" dirty="0" err="1">
                <a:cs typeface="Times New Roman" pitchFamily="18" charset="0"/>
              </a:rPr>
              <a:t>'</a:t>
            </a:r>
            <a:r>
              <a:rPr lang="en-US" altLang="zh-CN" sz="3200" b="1" i="1" baseline="30000" dirty="0" err="1"/>
              <a:t>o</a:t>
            </a:r>
            <a:r>
              <a:rPr lang="en-US" altLang="zh-CN" sz="3200" dirty="0"/>
              <a:t> indicates a tendency to acquire electron from the reference half cell (with 1M H</a:t>
            </a:r>
            <a:r>
              <a:rPr lang="en-US" altLang="zh-CN" sz="3200" baseline="30000" dirty="0"/>
              <a:t>+</a:t>
            </a:r>
            <a:r>
              <a:rPr lang="en-US" altLang="zh-CN" sz="3200" dirty="0"/>
              <a:t>/1atm H</a:t>
            </a:r>
            <a:r>
              <a:rPr lang="en-US" altLang="zh-CN" sz="3200" baseline="-25000" dirty="0"/>
              <a:t>2</a:t>
            </a:r>
            <a:r>
              <a:rPr lang="en-US" altLang="zh-CN" sz="3200" dirty="0"/>
              <a:t>).</a:t>
            </a:r>
          </a:p>
        </p:txBody>
      </p:sp>
    </p:spTree>
    <p:extLst>
      <p:ext uri="{BB962C8B-B14F-4D97-AF65-F5344CB8AC3E}">
        <p14:creationId xmlns:p14="http://schemas.microsoft.com/office/powerpoint/2010/main" val="5281497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a:extLst>
              <a:ext uri="{FF2B5EF4-FFF2-40B4-BE49-F238E27FC236}">
                <a16:creationId xmlns:a16="http://schemas.microsoft.com/office/drawing/2014/main" id="{C301023A-494D-4B13-8EA2-E89BA9FCE895}"/>
              </a:ext>
            </a:extLst>
          </p:cNvPr>
          <p:cNvSpPr>
            <a:spLocks noChangeArrowheads="1"/>
          </p:cNvSpPr>
          <p:nvPr/>
        </p:nvSpPr>
        <p:spPr bwMode="auto">
          <a:xfrm>
            <a:off x="4859338" y="377825"/>
            <a:ext cx="3969356"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dirty="0"/>
              <a:t>The standard reduction</a:t>
            </a:r>
          </a:p>
          <a:p>
            <a:pPr eaLnBrk="1" hangingPunct="1"/>
            <a:r>
              <a:rPr lang="en-US" altLang="zh-CN" sz="3200" dirty="0"/>
              <a:t>potential (</a:t>
            </a:r>
            <a:r>
              <a:rPr lang="en-US" altLang="zh-CN" sz="3200" i="1" dirty="0" err="1"/>
              <a:t>E</a:t>
            </a:r>
            <a:r>
              <a:rPr lang="en-US" altLang="zh-CN" sz="3200" i="1" dirty="0" err="1">
                <a:cs typeface="Times New Roman" pitchFamily="18" charset="0"/>
              </a:rPr>
              <a:t>'</a:t>
            </a:r>
            <a:r>
              <a:rPr lang="en-US" altLang="zh-CN" sz="3200" i="1" baseline="30000" dirty="0" err="1"/>
              <a:t>o</a:t>
            </a:r>
            <a:r>
              <a:rPr lang="en-US" altLang="zh-CN" sz="3200" i="1" dirty="0"/>
              <a:t>)</a:t>
            </a:r>
            <a:r>
              <a:rPr lang="en-US" altLang="zh-CN" sz="3200" dirty="0"/>
              <a:t> of a </a:t>
            </a:r>
          </a:p>
          <a:p>
            <a:pPr eaLnBrk="1" hangingPunct="1"/>
            <a:r>
              <a:rPr lang="en-US" altLang="zh-CN" sz="3200" dirty="0"/>
              <a:t>conjugate redox pair</a:t>
            </a:r>
          </a:p>
          <a:p>
            <a:pPr eaLnBrk="1" hangingPunct="1"/>
            <a:r>
              <a:rPr lang="en-US" altLang="zh-CN" sz="3200" dirty="0"/>
              <a:t>is measured by </a:t>
            </a:r>
          </a:p>
          <a:p>
            <a:pPr eaLnBrk="1" hangingPunct="1"/>
            <a:r>
              <a:rPr lang="en-US" altLang="zh-CN" sz="3200" dirty="0"/>
              <a:t>connecting the sample </a:t>
            </a:r>
          </a:p>
          <a:p>
            <a:pPr eaLnBrk="1" hangingPunct="1"/>
            <a:r>
              <a:rPr lang="en-US" altLang="zh-CN" sz="3200" dirty="0"/>
              <a:t>half cell to the H</a:t>
            </a:r>
            <a:r>
              <a:rPr lang="en-US" altLang="zh-CN" sz="3200" baseline="30000" dirty="0"/>
              <a:t>+</a:t>
            </a:r>
            <a:r>
              <a:rPr lang="en-US" altLang="zh-CN" sz="3200" dirty="0"/>
              <a:t>/H</a:t>
            </a:r>
            <a:r>
              <a:rPr lang="en-US" altLang="zh-CN" sz="3200" baseline="-25000" dirty="0"/>
              <a:t>2</a:t>
            </a:r>
            <a:endParaRPr lang="en-US" altLang="zh-CN" sz="3200" dirty="0"/>
          </a:p>
          <a:p>
            <a:pPr eaLnBrk="1" hangingPunct="1"/>
            <a:r>
              <a:rPr lang="en-US" altLang="zh-CN" sz="3200" dirty="0"/>
              <a:t>reference half cell.</a:t>
            </a:r>
          </a:p>
        </p:txBody>
      </p:sp>
      <p:pic>
        <p:nvPicPr>
          <p:cNvPr id="41987" name="Picture 4">
            <a:extLst>
              <a:ext uri="{FF2B5EF4-FFF2-40B4-BE49-F238E27FC236}">
                <a16:creationId xmlns:a16="http://schemas.microsoft.com/office/drawing/2014/main" id="{0B475196-D60B-4CBB-BDA0-0C359B2CADF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 y="228600"/>
            <a:ext cx="4275138"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743012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884" name="Picture 4" descr="49033-20-02 copy">
            <a:extLst>
              <a:ext uri="{FF2B5EF4-FFF2-40B4-BE49-F238E27FC236}">
                <a16:creationId xmlns:a16="http://schemas.microsoft.com/office/drawing/2014/main" id="{FC32F11E-7F1B-46DF-84B9-CF2B5338598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b="66078"/>
          <a:stretch>
            <a:fillRect/>
          </a:stretch>
        </p:blipFill>
        <p:spPr bwMode="auto">
          <a:xfrm>
            <a:off x="1692275" y="620713"/>
            <a:ext cx="4789488" cy="539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014273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908" name="Picture 4" descr="49033-20-02 copy">
            <a:extLst>
              <a:ext uri="{FF2B5EF4-FFF2-40B4-BE49-F238E27FC236}">
                <a16:creationId xmlns:a16="http://schemas.microsoft.com/office/drawing/2014/main" id="{3456A1F2-164A-4FFA-A42D-BCBA840E442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t="32756" b="31969"/>
          <a:stretch>
            <a:fillRect/>
          </a:stretch>
        </p:blipFill>
        <p:spPr bwMode="auto">
          <a:xfrm>
            <a:off x="1835150" y="333375"/>
            <a:ext cx="4606925" cy="539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339970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2" name="Picture 4" descr="49033-20-02 copy">
            <a:extLst>
              <a:ext uri="{FF2B5EF4-FFF2-40B4-BE49-F238E27FC236}">
                <a16:creationId xmlns:a16="http://schemas.microsoft.com/office/drawing/2014/main" id="{6E8BFB2A-2152-415D-BFA4-E04BB343942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t="66803"/>
          <a:stretch>
            <a:fillRect/>
          </a:stretch>
        </p:blipFill>
        <p:spPr bwMode="auto">
          <a:xfrm>
            <a:off x="1692275" y="549275"/>
            <a:ext cx="4894263" cy="539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783775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4" descr="未标题-1 拷贝">
            <a:extLst>
              <a:ext uri="{FF2B5EF4-FFF2-40B4-BE49-F238E27FC236}">
                <a16:creationId xmlns:a16="http://schemas.microsoft.com/office/drawing/2014/main" id="{AA36BD29-0E5E-4F34-8BC5-F85EAEBC7A7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63713" y="188913"/>
            <a:ext cx="4521200" cy="635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11351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9309037-BFFF-47E0-B7DB-F4973642095A}"/>
              </a:ext>
            </a:extLst>
          </p:cNvPr>
          <p:cNvSpPr>
            <a:spLocks noChangeArrowheads="1"/>
          </p:cNvSpPr>
          <p:nvPr/>
        </p:nvSpPr>
        <p:spPr bwMode="auto">
          <a:xfrm>
            <a:off x="304800" y="304800"/>
            <a:ext cx="85344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SzPct val="85000"/>
              <a:buFontTx/>
              <a:buBlip>
                <a:blip r:embed="rId2"/>
              </a:buBlip>
            </a:pPr>
            <a:r>
              <a:rPr lang="en-US" altLang="zh-CN" sz="3200" dirty="0"/>
              <a:t>The </a:t>
            </a:r>
            <a:r>
              <a:rPr lang="en-US" altLang="zh-CN" sz="3200" dirty="0">
                <a:solidFill>
                  <a:srgbClr val="C00000"/>
                </a:solidFill>
              </a:rPr>
              <a:t>actual reduction potential </a:t>
            </a:r>
            <a:r>
              <a:rPr lang="en-US" altLang="zh-CN" sz="3200" dirty="0"/>
              <a:t>(</a:t>
            </a:r>
            <a:r>
              <a:rPr lang="en-US" altLang="zh-CN" sz="3200" i="1" dirty="0"/>
              <a:t>E</a:t>
            </a:r>
            <a:r>
              <a:rPr lang="en-US" altLang="zh-CN" sz="3200" dirty="0"/>
              <a:t>) depends on  , electrons transferred per molecule, temperature, ratio of [electron acceptor]/[electron donor]:</a:t>
            </a:r>
            <a:endParaRPr lang="en-US" altLang="zh-CN" sz="3200" dirty="0">
              <a:latin typeface="Monotype Corsiva" panose="03010101010201010101" pitchFamily="66" charset="0"/>
            </a:endParaRPr>
          </a:p>
          <a:p>
            <a:pPr eaLnBrk="1" hangingPunct="1">
              <a:lnSpc>
                <a:spcPct val="90000"/>
              </a:lnSpc>
              <a:spcBef>
                <a:spcPct val="20000"/>
              </a:spcBef>
              <a:buSzPct val="85000"/>
              <a:buFontTx/>
              <a:buBlip>
                <a:blip r:embed="rId2"/>
              </a:buBlip>
            </a:pPr>
            <a:endParaRPr lang="en-US" altLang="zh-CN" sz="3200" dirty="0"/>
          </a:p>
          <a:p>
            <a:pPr eaLnBrk="1" hangingPunct="1">
              <a:lnSpc>
                <a:spcPct val="90000"/>
              </a:lnSpc>
              <a:spcBef>
                <a:spcPct val="20000"/>
              </a:spcBef>
              <a:buSzPct val="85000"/>
            </a:pPr>
            <a:endParaRPr lang="en-US" altLang="zh-CN" sz="3200" dirty="0"/>
          </a:p>
          <a:p>
            <a:pPr eaLnBrk="1" hangingPunct="1">
              <a:lnSpc>
                <a:spcPct val="90000"/>
              </a:lnSpc>
              <a:spcBef>
                <a:spcPct val="20000"/>
              </a:spcBef>
              <a:buSzPct val="85000"/>
            </a:pPr>
            <a:endParaRPr lang="en-US" altLang="zh-CN" sz="3200" dirty="0"/>
          </a:p>
          <a:p>
            <a:pPr eaLnBrk="1" hangingPunct="1">
              <a:lnSpc>
                <a:spcPct val="90000"/>
              </a:lnSpc>
              <a:spcBef>
                <a:spcPct val="20000"/>
              </a:spcBef>
              <a:buSzPct val="85000"/>
              <a:buFontTx/>
              <a:buBlip>
                <a:blip r:embed="rId2"/>
              </a:buBlip>
            </a:pPr>
            <a:r>
              <a:rPr lang="en-US" altLang="zh-CN" sz="3600" i="1" dirty="0">
                <a:sym typeface="Symbol" panose="05050102010706020507" pitchFamily="18" charset="2"/>
              </a:rPr>
              <a:t></a:t>
            </a:r>
            <a:r>
              <a:rPr lang="en-US" altLang="zh-CN" sz="3600" i="1" dirty="0" err="1"/>
              <a:t>G</a:t>
            </a:r>
            <a:r>
              <a:rPr lang="en-US" altLang="zh-CN" sz="3600" i="1" dirty="0" err="1">
                <a:cs typeface="Times New Roman" pitchFamily="18" charset="0"/>
              </a:rPr>
              <a:t>'</a:t>
            </a:r>
            <a:r>
              <a:rPr lang="en-US" altLang="zh-CN" sz="3600" i="1" baseline="30000" dirty="0" err="1"/>
              <a:t>o</a:t>
            </a:r>
            <a:r>
              <a:rPr lang="en-US" altLang="zh-CN" sz="3600" dirty="0"/>
              <a:t> </a:t>
            </a:r>
            <a:r>
              <a:rPr lang="en-US" altLang="zh-CN" sz="3200" dirty="0">
                <a:sym typeface="Symbol" panose="05050102010706020507" pitchFamily="18" charset="2"/>
              </a:rPr>
              <a:t>of a redox reaction can be calculated from the </a:t>
            </a:r>
            <a:r>
              <a:rPr lang="en-US" altLang="zh-CN" sz="3600" i="1" dirty="0">
                <a:sym typeface="Symbol" panose="05050102010706020507" pitchFamily="18" charset="2"/>
              </a:rPr>
              <a:t></a:t>
            </a:r>
            <a:r>
              <a:rPr lang="en-US" altLang="zh-CN" sz="3600" i="1" dirty="0" err="1"/>
              <a:t>E</a:t>
            </a:r>
            <a:r>
              <a:rPr lang="en-US" altLang="zh-CN" sz="3600" i="1" dirty="0" err="1">
                <a:cs typeface="Times New Roman" pitchFamily="18" charset="0"/>
              </a:rPr>
              <a:t>'</a:t>
            </a:r>
            <a:r>
              <a:rPr lang="en-US" altLang="zh-CN" sz="3600" b="1" i="1" baseline="30000" dirty="0" err="1"/>
              <a:t>o</a:t>
            </a:r>
            <a:r>
              <a:rPr lang="en-US" altLang="zh-CN" sz="3600" dirty="0"/>
              <a:t> </a:t>
            </a:r>
            <a:r>
              <a:rPr lang="en-US" altLang="zh-CN" sz="3200" dirty="0"/>
              <a:t>of the two redox pairs:</a:t>
            </a:r>
          </a:p>
          <a:p>
            <a:pPr eaLnBrk="1" hangingPunct="1">
              <a:lnSpc>
                <a:spcPct val="90000"/>
              </a:lnSpc>
              <a:spcBef>
                <a:spcPct val="20000"/>
              </a:spcBef>
              <a:buSzPct val="85000"/>
              <a:buFontTx/>
              <a:buBlip>
                <a:blip r:embed="rId2"/>
              </a:buBlip>
            </a:pPr>
            <a:endParaRPr lang="en-US" altLang="zh-CN" sz="3200" dirty="0"/>
          </a:p>
          <a:p>
            <a:pPr eaLnBrk="1" hangingPunct="1">
              <a:lnSpc>
                <a:spcPct val="90000"/>
              </a:lnSpc>
              <a:spcBef>
                <a:spcPct val="20000"/>
              </a:spcBef>
              <a:buSzPct val="85000"/>
              <a:buFontTx/>
              <a:buBlip>
                <a:blip r:embed="rId2"/>
              </a:buBlip>
            </a:pPr>
            <a:endParaRPr lang="en-US" altLang="zh-CN" sz="3200" dirty="0"/>
          </a:p>
        </p:txBody>
      </p:sp>
      <p:pic>
        <p:nvPicPr>
          <p:cNvPr id="39939" name="Picture 3" descr="reducpo">
            <a:extLst>
              <a:ext uri="{FF2B5EF4-FFF2-40B4-BE49-F238E27FC236}">
                <a16:creationId xmlns:a16="http://schemas.microsoft.com/office/drawing/2014/main" id="{A04A6E45-1B2C-4B80-8DD3-D8B224216C8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r="2831" b="2869"/>
          <a:stretch>
            <a:fillRect/>
          </a:stretch>
        </p:blipFill>
        <p:spPr bwMode="auto">
          <a:xfrm>
            <a:off x="609600" y="2209800"/>
            <a:ext cx="7848600" cy="155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0" name="Picture 4" descr="ge">
            <a:extLst>
              <a:ext uri="{FF2B5EF4-FFF2-40B4-BE49-F238E27FC236}">
                <a16:creationId xmlns:a16="http://schemas.microsoft.com/office/drawing/2014/main" id="{1956D22B-B7F5-49B4-9722-03C5527CBE7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r="9259" b="9264"/>
          <a:stretch>
            <a:fillRect/>
          </a:stretch>
        </p:blipFill>
        <p:spPr bwMode="auto">
          <a:xfrm>
            <a:off x="609600" y="5029200"/>
            <a:ext cx="7467600" cy="113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552058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descr="13-13">
            <a:extLst>
              <a:ext uri="{FF2B5EF4-FFF2-40B4-BE49-F238E27FC236}">
                <a16:creationId xmlns:a16="http://schemas.microsoft.com/office/drawing/2014/main" id="{11CDF257-42DE-4A82-A6CE-422E6EFA9647}"/>
              </a:ext>
            </a:extLst>
          </p:cNvPr>
          <p:cNvPicPr>
            <a:picLocks noChangeAspect="1" noChangeArrowheads="1"/>
          </p:cNvPicPr>
          <p:nvPr/>
        </p:nvPicPr>
        <p:blipFill>
          <a:blip r:embed="rId2" cstate="print">
            <a:lum bright="6000" contrast="24000"/>
            <a:extLst>
              <a:ext uri="{28A0092B-C50C-407E-A947-70E740481C1C}">
                <a14:useLocalDpi xmlns:a14="http://schemas.microsoft.com/office/drawing/2010/main" val="0"/>
              </a:ext>
            </a:extLst>
          </a:blip>
          <a:srcRect l="2293" t="3448" r="3452" b="2299"/>
          <a:stretch>
            <a:fillRect/>
          </a:stretch>
        </p:blipFill>
        <p:spPr bwMode="auto">
          <a:xfrm>
            <a:off x="71406" y="228600"/>
            <a:ext cx="6069012"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3" name="Rectangle 4">
            <a:extLst>
              <a:ext uri="{FF2B5EF4-FFF2-40B4-BE49-F238E27FC236}">
                <a16:creationId xmlns:a16="http://schemas.microsoft.com/office/drawing/2014/main" id="{3FC34F70-3BBD-4281-B83A-E81D8FF398E5}"/>
              </a:ext>
            </a:extLst>
          </p:cNvPr>
          <p:cNvSpPr>
            <a:spLocks noChangeArrowheads="1"/>
          </p:cNvSpPr>
          <p:nvPr/>
        </p:nvSpPr>
        <p:spPr bwMode="auto">
          <a:xfrm>
            <a:off x="6072198" y="88637"/>
            <a:ext cx="3214341"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solidFill>
                  <a:srgbClr val="000099"/>
                </a:solidFill>
              </a:rPr>
              <a:t> Energy is</a:t>
            </a:r>
          </a:p>
          <a:p>
            <a:pPr eaLnBrk="1" hangingPunct="1"/>
            <a:r>
              <a:rPr lang="en-US" altLang="zh-CN" sz="3200" b="1" dirty="0">
                <a:solidFill>
                  <a:srgbClr val="000099"/>
                </a:solidFill>
              </a:rPr>
              <a:t> “generated” via</a:t>
            </a:r>
          </a:p>
          <a:p>
            <a:pPr eaLnBrk="1" hangingPunct="1"/>
            <a:r>
              <a:rPr lang="en-US" altLang="zh-CN" sz="3200" b="1" dirty="0">
                <a:solidFill>
                  <a:srgbClr val="000099"/>
                </a:solidFill>
              </a:rPr>
              <a:t> electron flow</a:t>
            </a:r>
          </a:p>
          <a:p>
            <a:pPr eaLnBrk="1" hangingPunct="1"/>
            <a:r>
              <a:rPr lang="en-US" altLang="zh-CN" sz="3200" b="1" dirty="0">
                <a:solidFill>
                  <a:srgbClr val="000099"/>
                </a:solidFill>
              </a:rPr>
              <a:t> both in a battery</a:t>
            </a:r>
          </a:p>
          <a:p>
            <a:pPr eaLnBrk="1" hangingPunct="1"/>
            <a:r>
              <a:rPr lang="en-US" altLang="zh-CN" sz="3200" b="1" dirty="0">
                <a:solidFill>
                  <a:srgbClr val="000099"/>
                </a:solidFill>
              </a:rPr>
              <a:t> and in a cell!</a:t>
            </a:r>
          </a:p>
        </p:txBody>
      </p:sp>
    </p:spTree>
    <p:extLst>
      <p:ext uri="{BB962C8B-B14F-4D97-AF65-F5344CB8AC3E}">
        <p14:creationId xmlns:p14="http://schemas.microsoft.com/office/powerpoint/2010/main" val="40960730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3650" name="Picture 2">
            <a:extLst>
              <a:ext uri="{FF2B5EF4-FFF2-40B4-BE49-F238E27FC236}">
                <a16:creationId xmlns:a16="http://schemas.microsoft.com/office/drawing/2014/main" id="{E5A4DC27-88F9-4ECE-8869-FB48DA7AF92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200" y="0"/>
            <a:ext cx="408200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47216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026">
            <a:extLst>
              <a:ext uri="{FF2B5EF4-FFF2-40B4-BE49-F238E27FC236}">
                <a16:creationId xmlns:a16="http://schemas.microsoft.com/office/drawing/2014/main" id="{C1A9BAD4-FF76-495C-B5A9-E711C42EC393}"/>
              </a:ext>
            </a:extLst>
          </p:cNvPr>
          <p:cNvSpPr>
            <a:spLocks noChangeArrowheads="1"/>
          </p:cNvSpPr>
          <p:nvPr/>
        </p:nvSpPr>
        <p:spPr bwMode="auto">
          <a:xfrm>
            <a:off x="0" y="1371600"/>
            <a:ext cx="9144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4400" b="1" dirty="0">
                <a:solidFill>
                  <a:srgbClr val="FF0000"/>
                </a:solidFill>
              </a:rPr>
              <a:t>6.</a:t>
            </a:r>
            <a:r>
              <a:rPr lang="en-US" altLang="zh-CN" sz="4400" dirty="0">
                <a:solidFill>
                  <a:srgbClr val="FF0000"/>
                </a:solidFill>
              </a:rPr>
              <a:t> </a:t>
            </a:r>
            <a:r>
              <a:rPr lang="en-US" altLang="zh-CN" sz="4400" b="1" dirty="0">
                <a:solidFill>
                  <a:srgbClr val="FF0000"/>
                </a:solidFill>
              </a:rPr>
              <a:t>A few universal carriers (as coenzymes) collect electrons from the oxidation of various substrates</a:t>
            </a:r>
          </a:p>
        </p:txBody>
      </p:sp>
    </p:spTree>
    <p:extLst>
      <p:ext uri="{BB962C8B-B14F-4D97-AF65-F5344CB8AC3E}">
        <p14:creationId xmlns:p14="http://schemas.microsoft.com/office/powerpoint/2010/main" val="15715409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0E9F218B-DD59-4386-8BAF-C8C69299245E}"/>
              </a:ext>
            </a:extLst>
          </p:cNvPr>
          <p:cNvSpPr>
            <a:spLocks noChangeArrowheads="1"/>
          </p:cNvSpPr>
          <p:nvPr/>
        </p:nvSpPr>
        <p:spPr bwMode="auto">
          <a:xfrm>
            <a:off x="0" y="1484784"/>
            <a:ext cx="91440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SzPct val="85000"/>
              <a:buFontTx/>
              <a:buBlip>
                <a:blip r:embed="rId3"/>
              </a:buBlip>
            </a:pPr>
            <a:r>
              <a:rPr lang="en-US" altLang="zh-CN" sz="3200" dirty="0"/>
              <a:t>NAD</a:t>
            </a:r>
            <a:r>
              <a:rPr lang="en-US" altLang="zh-CN" sz="3200" baseline="30000" dirty="0"/>
              <a:t>+</a:t>
            </a:r>
            <a:r>
              <a:rPr lang="en-US" altLang="zh-CN" sz="3200" dirty="0"/>
              <a:t>, NADP</a:t>
            </a:r>
            <a:r>
              <a:rPr lang="en-US" altLang="zh-CN" sz="3200" baseline="30000" dirty="0"/>
              <a:t>+</a:t>
            </a:r>
            <a:r>
              <a:rPr lang="en-US" altLang="zh-CN" sz="3200" dirty="0"/>
              <a:t>, FAD are the few commonly used such reversible electron carriers.</a:t>
            </a:r>
          </a:p>
          <a:p>
            <a:pPr eaLnBrk="1" hangingPunct="1">
              <a:spcBef>
                <a:spcPct val="20000"/>
              </a:spcBef>
              <a:buSzPct val="85000"/>
              <a:buFontTx/>
              <a:buBlip>
                <a:blip r:embed="rId3"/>
              </a:buBlip>
            </a:pPr>
            <a:r>
              <a:rPr lang="en-US" altLang="zh-CN" sz="3200" dirty="0"/>
              <a:t>NAD and NADP are dinucleotides able to accept/donate a hydride ion (</a:t>
            </a:r>
            <a:r>
              <a:rPr lang="en-US" altLang="zh-CN" sz="3200" dirty="0">
                <a:solidFill>
                  <a:srgbClr val="000099"/>
                </a:solidFill>
              </a:rPr>
              <a:t>:H</a:t>
            </a:r>
            <a:r>
              <a:rPr lang="en-US" altLang="zh-CN" sz="3200" baseline="30000" dirty="0">
                <a:solidFill>
                  <a:srgbClr val="000099"/>
                </a:solidFill>
              </a:rPr>
              <a:t>-</a:t>
            </a:r>
            <a:r>
              <a:rPr lang="en-US" altLang="zh-CN" sz="3200" dirty="0">
                <a:solidFill>
                  <a:srgbClr val="000099"/>
                </a:solidFill>
              </a:rPr>
              <a:t> </a:t>
            </a:r>
            <a:r>
              <a:rPr lang="en-US" altLang="zh-CN" sz="3200" dirty="0"/>
              <a:t>, =H</a:t>
            </a:r>
            <a:r>
              <a:rPr lang="en-US" altLang="zh-CN" sz="3200" baseline="30000" dirty="0"/>
              <a:t>+ </a:t>
            </a:r>
            <a:r>
              <a:rPr lang="en-US" altLang="zh-CN" sz="3200" dirty="0"/>
              <a:t>+2e</a:t>
            </a:r>
            <a:r>
              <a:rPr lang="en-US" altLang="zh-CN" sz="3200" baseline="30000" dirty="0"/>
              <a:t>-</a:t>
            </a:r>
            <a:r>
              <a:rPr lang="en-US" altLang="zh-CN" sz="3200" dirty="0"/>
              <a:t>) for each round of reduction/oxidation.</a:t>
            </a:r>
          </a:p>
        </p:txBody>
      </p:sp>
    </p:spTree>
    <p:extLst>
      <p:ext uri="{BB962C8B-B14F-4D97-AF65-F5344CB8AC3E}">
        <p14:creationId xmlns:p14="http://schemas.microsoft.com/office/powerpoint/2010/main" val="14360580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0D0C16EF-35D4-44C1-A380-9F9FBB3B914E}"/>
              </a:ext>
            </a:extLst>
          </p:cNvPr>
          <p:cNvSpPr>
            <a:spLocks noChangeArrowheads="1"/>
          </p:cNvSpPr>
          <p:nvPr/>
        </p:nvSpPr>
        <p:spPr bwMode="auto">
          <a:xfrm>
            <a:off x="228600" y="228600"/>
            <a:ext cx="86868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SzPct val="85000"/>
              <a:buFontTx/>
              <a:buBlip>
                <a:blip r:embed="rId3"/>
              </a:buBlip>
            </a:pPr>
            <a:r>
              <a:rPr lang="en-US" altLang="zh-CN" sz="3200" dirty="0"/>
              <a:t>In each specific NAD- or NADP-containing </a:t>
            </a:r>
            <a:r>
              <a:rPr lang="en-US" altLang="zh-CN" sz="3200" dirty="0" err="1"/>
              <a:t>dehydrogenase</a:t>
            </a:r>
            <a:r>
              <a:rPr lang="en-US" altLang="zh-CN" sz="3200" dirty="0"/>
              <a:t>, the hydride ion is added/taken </a:t>
            </a:r>
            <a:r>
              <a:rPr lang="en-US" altLang="zh-CN" sz="3200" dirty="0" err="1"/>
              <a:t>stereospecifically</a:t>
            </a:r>
            <a:r>
              <a:rPr lang="en-US" altLang="zh-CN" sz="3200" dirty="0"/>
              <a:t> from one side (A or B) of the </a:t>
            </a:r>
            <a:r>
              <a:rPr lang="en-US" altLang="zh-CN" sz="3200" dirty="0" err="1"/>
              <a:t>nicotinamide</a:t>
            </a:r>
            <a:r>
              <a:rPr lang="en-US" altLang="zh-CN" sz="3200" dirty="0"/>
              <a:t> (</a:t>
            </a:r>
            <a:r>
              <a:rPr lang="zh-CN" altLang="en-US" sz="3200" dirty="0">
                <a:ea typeface="华文新魏" panose="02010800040101010101" pitchFamily="2" charset="-122"/>
              </a:rPr>
              <a:t>烟碱</a:t>
            </a:r>
            <a:r>
              <a:rPr lang="en-US" altLang="zh-CN" sz="3200" dirty="0"/>
              <a:t>) ring.</a:t>
            </a:r>
          </a:p>
          <a:p>
            <a:pPr eaLnBrk="1" hangingPunct="1">
              <a:lnSpc>
                <a:spcPct val="90000"/>
              </a:lnSpc>
              <a:spcBef>
                <a:spcPct val="20000"/>
              </a:spcBef>
              <a:buSzPct val="85000"/>
              <a:buFontTx/>
              <a:buBlip>
                <a:blip r:embed="rId3"/>
              </a:buBlip>
            </a:pPr>
            <a:r>
              <a:rPr lang="en-US" altLang="zh-CN" sz="3200" dirty="0"/>
              <a:t>FAD is able to accept/donate one or two electrons (as hydrogen atom), with absorption maximum shifts from 570 nm to 450nm.</a:t>
            </a:r>
          </a:p>
          <a:p>
            <a:pPr eaLnBrk="1" hangingPunct="1">
              <a:lnSpc>
                <a:spcPct val="90000"/>
              </a:lnSpc>
              <a:spcBef>
                <a:spcPct val="20000"/>
              </a:spcBef>
              <a:buSzPct val="85000"/>
              <a:buFontTx/>
              <a:buBlip>
                <a:blip r:embed="rId3"/>
              </a:buBlip>
            </a:pPr>
            <a:r>
              <a:rPr lang="en-US" altLang="zh-CN" sz="3200" dirty="0">
                <a:solidFill>
                  <a:srgbClr val="000099"/>
                </a:solidFill>
              </a:rPr>
              <a:t>NAD and NADP can easily diffuse out of the enzymes, but FMN and FAD are tightly bound to the enzymes.</a:t>
            </a:r>
          </a:p>
        </p:txBody>
      </p:sp>
    </p:spTree>
    <p:extLst>
      <p:ext uri="{BB962C8B-B14F-4D97-AF65-F5344CB8AC3E}">
        <p14:creationId xmlns:p14="http://schemas.microsoft.com/office/powerpoint/2010/main" val="28036438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8C4372E4-3F5F-4FC8-A89A-69B3A28E3FF0}"/>
              </a:ext>
            </a:extLst>
          </p:cNvPr>
          <p:cNvSpPr>
            <a:spLocks noChangeArrowheads="1"/>
          </p:cNvSpPr>
          <p:nvPr/>
        </p:nvSpPr>
        <p:spPr bwMode="auto">
          <a:xfrm>
            <a:off x="0" y="457200"/>
            <a:ext cx="91440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SzPct val="85000"/>
              <a:buFontTx/>
              <a:buBlip>
                <a:blip r:embed="rId3"/>
              </a:buBlip>
            </a:pPr>
            <a:r>
              <a:rPr lang="en-US" altLang="zh-CN" sz="3200" dirty="0"/>
              <a:t>They serve as cofactors of various enzymes catalyzing the oxidation of nutrients.</a:t>
            </a:r>
          </a:p>
          <a:p>
            <a:pPr eaLnBrk="1" hangingPunct="1">
              <a:spcBef>
                <a:spcPct val="20000"/>
              </a:spcBef>
              <a:buSzPct val="85000"/>
              <a:buFontTx/>
              <a:buBlip>
                <a:blip r:embed="rId3"/>
              </a:buBlip>
            </a:pPr>
            <a:r>
              <a:rPr lang="en-US" altLang="zh-CN" sz="3200" dirty="0"/>
              <a:t> NADH and FADH</a:t>
            </a:r>
            <a:r>
              <a:rPr lang="en-US" altLang="zh-CN" sz="3200" baseline="-25000" dirty="0"/>
              <a:t>2</a:t>
            </a:r>
            <a:r>
              <a:rPr lang="en-US" altLang="zh-CN" sz="3200" dirty="0"/>
              <a:t> will be further oxidized via the respiratory chain on the inner membrane of mitochondria or plasma membrane of bacteria for energy generation (transduction).</a:t>
            </a:r>
          </a:p>
        </p:txBody>
      </p:sp>
    </p:spTree>
    <p:extLst>
      <p:ext uri="{BB962C8B-B14F-4D97-AF65-F5344CB8AC3E}">
        <p14:creationId xmlns:p14="http://schemas.microsoft.com/office/powerpoint/2010/main" val="10691486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a:extLst>
              <a:ext uri="{FF2B5EF4-FFF2-40B4-BE49-F238E27FC236}">
                <a16:creationId xmlns:a16="http://schemas.microsoft.com/office/drawing/2014/main" id="{90D36A48-5268-493A-8D8E-73C99B989238}"/>
              </a:ext>
            </a:extLst>
          </p:cNvPr>
          <p:cNvSpPr>
            <a:spLocks noChangeArrowheads="1"/>
          </p:cNvSpPr>
          <p:nvPr/>
        </p:nvSpPr>
        <p:spPr bwMode="auto">
          <a:xfrm>
            <a:off x="0" y="5029200"/>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b="1" dirty="0">
                <a:solidFill>
                  <a:srgbClr val="FF0000"/>
                </a:solidFill>
              </a:rPr>
              <a:t>Nicotinamide is derived From niacin(B5)</a:t>
            </a:r>
          </a:p>
        </p:txBody>
      </p:sp>
      <p:pic>
        <p:nvPicPr>
          <p:cNvPr id="48131" name="Picture 4">
            <a:extLst>
              <a:ext uri="{FF2B5EF4-FFF2-40B4-BE49-F238E27FC236}">
                <a16:creationId xmlns:a16="http://schemas.microsoft.com/office/drawing/2014/main" id="{6370A47F-A04B-427D-A50F-EF9825CFAFD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304800"/>
            <a:ext cx="80264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787368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4">
            <a:extLst>
              <a:ext uri="{FF2B5EF4-FFF2-40B4-BE49-F238E27FC236}">
                <a16:creationId xmlns:a16="http://schemas.microsoft.com/office/drawing/2014/main" id="{2DE67F66-67AD-46D9-89F9-7F609532CE7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5600" y="304800"/>
            <a:ext cx="8026400" cy="523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5" name="Rectangle 2">
            <a:extLst>
              <a:ext uri="{FF2B5EF4-FFF2-40B4-BE49-F238E27FC236}">
                <a16:creationId xmlns:a16="http://schemas.microsoft.com/office/drawing/2014/main" id="{38534D6E-478E-486A-9726-CABFBCED33E6}"/>
              </a:ext>
            </a:extLst>
          </p:cNvPr>
          <p:cNvSpPr>
            <a:spLocks noChangeArrowheads="1"/>
          </p:cNvSpPr>
          <p:nvPr/>
        </p:nvSpPr>
        <p:spPr bwMode="auto">
          <a:xfrm>
            <a:off x="4114800" y="2971800"/>
            <a:ext cx="4197350" cy="2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dirty="0">
                <a:solidFill>
                  <a:srgbClr val="0000FF"/>
                </a:solidFill>
              </a:rPr>
              <a:t>FMN (</a:t>
            </a:r>
            <a:r>
              <a:rPr lang="en-US" altLang="zh-CN" sz="3600" dirty="0" err="1">
                <a:solidFill>
                  <a:srgbClr val="0000FF"/>
                </a:solidFill>
              </a:rPr>
              <a:t>Flavin</a:t>
            </a:r>
            <a:r>
              <a:rPr lang="en-US" altLang="zh-CN" sz="3600" dirty="0">
                <a:solidFill>
                  <a:srgbClr val="0000FF"/>
                </a:solidFill>
              </a:rPr>
              <a:t> </a:t>
            </a:r>
          </a:p>
          <a:p>
            <a:pPr eaLnBrk="1" hangingPunct="1"/>
            <a:r>
              <a:rPr lang="en-US" altLang="zh-CN" sz="3600" dirty="0" err="1">
                <a:solidFill>
                  <a:srgbClr val="0000FF"/>
                </a:solidFill>
              </a:rPr>
              <a:t>MonoNucleotide</a:t>
            </a:r>
            <a:r>
              <a:rPr lang="en-US" altLang="zh-CN" sz="3600" dirty="0">
                <a:solidFill>
                  <a:srgbClr val="0000FF"/>
                </a:solidFill>
              </a:rPr>
              <a:t>) </a:t>
            </a:r>
          </a:p>
          <a:p>
            <a:pPr eaLnBrk="1" hangingPunct="1"/>
            <a:r>
              <a:rPr lang="en-US" altLang="zh-CN" sz="3600" dirty="0">
                <a:solidFill>
                  <a:srgbClr val="0000FF"/>
                </a:solidFill>
              </a:rPr>
              <a:t>FAD (</a:t>
            </a:r>
            <a:r>
              <a:rPr lang="en-US" altLang="zh-CN" sz="3600" dirty="0" err="1">
                <a:solidFill>
                  <a:srgbClr val="0000FF"/>
                </a:solidFill>
              </a:rPr>
              <a:t>Flavin</a:t>
            </a:r>
            <a:r>
              <a:rPr lang="en-US" altLang="zh-CN" sz="3600" dirty="0">
                <a:solidFill>
                  <a:srgbClr val="0000FF"/>
                </a:solidFill>
              </a:rPr>
              <a:t> Adenine</a:t>
            </a:r>
          </a:p>
          <a:p>
            <a:pPr eaLnBrk="1" hangingPunct="1"/>
            <a:r>
              <a:rPr lang="en-US" altLang="zh-CN" sz="3600" dirty="0" err="1">
                <a:solidFill>
                  <a:srgbClr val="0000FF"/>
                </a:solidFill>
              </a:rPr>
              <a:t>Dinucleotide</a:t>
            </a:r>
            <a:r>
              <a:rPr lang="en-US" altLang="zh-CN" sz="3600" dirty="0">
                <a:solidFill>
                  <a:srgbClr val="0000FF"/>
                </a:solidFill>
              </a:rPr>
              <a:t>)</a:t>
            </a:r>
            <a:endParaRPr lang="en-US" altLang="zh-CN" sz="3600" baseline="30000" dirty="0">
              <a:solidFill>
                <a:srgbClr val="0000FF"/>
              </a:solidFill>
            </a:endParaRPr>
          </a:p>
        </p:txBody>
      </p:sp>
    </p:spTree>
    <p:extLst>
      <p:ext uri="{BB962C8B-B14F-4D97-AF65-F5344CB8AC3E}">
        <p14:creationId xmlns:p14="http://schemas.microsoft.com/office/powerpoint/2010/main" val="3032922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a:extLst>
              <a:ext uri="{FF2B5EF4-FFF2-40B4-BE49-F238E27FC236}">
                <a16:creationId xmlns:a16="http://schemas.microsoft.com/office/drawing/2014/main" id="{16922493-C33C-4E9D-A3D5-2BF27DB2882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0400" y="889000"/>
            <a:ext cx="7823200" cy="5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13018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a:extLst>
              <a:ext uri="{FF2B5EF4-FFF2-40B4-BE49-F238E27FC236}">
                <a16:creationId xmlns:a16="http://schemas.microsoft.com/office/drawing/2014/main" id="{FCEF4185-CA8F-4505-94AB-D035308F619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97000" y="914400"/>
            <a:ext cx="6350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447869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4">
            <a:extLst>
              <a:ext uri="{FF2B5EF4-FFF2-40B4-BE49-F238E27FC236}">
                <a16:creationId xmlns:a16="http://schemas.microsoft.com/office/drawing/2014/main" id="{24D5E8D5-757E-4E39-9ADD-7AF539EF1D1A}"/>
              </a:ext>
            </a:extLst>
          </p:cNvPr>
          <p:cNvSpPr>
            <a:spLocks noGrp="1" noChangeArrowheads="1"/>
          </p:cNvSpPr>
          <p:nvPr>
            <p:ph type="title" idx="4294967295"/>
          </p:nvPr>
        </p:nvSpPr>
        <p:spPr>
          <a:xfrm>
            <a:off x="633413" y="1050925"/>
            <a:ext cx="8510587" cy="2771775"/>
          </a:xfrm>
        </p:spPr>
        <p:txBody>
          <a:bodyPr/>
          <a:lstStyle/>
          <a:p>
            <a:pPr eaLnBrk="1" hangingPunct="1"/>
            <a:r>
              <a:rPr lang="en-US" altLang="zh-CN" b="1" dirty="0">
                <a:solidFill>
                  <a:srgbClr val="FF0000"/>
                </a:solidFill>
                <a:latin typeface="Times New Roman" pitchFamily="18" charset="0"/>
              </a:rPr>
              <a:t>7. Electrons of NADH and FADH2 are transferred to O</a:t>
            </a:r>
            <a:r>
              <a:rPr lang="en-US" altLang="zh-CN" b="1" baseline="-25000" dirty="0">
                <a:solidFill>
                  <a:srgbClr val="FF0000"/>
                </a:solidFill>
                <a:latin typeface="Times New Roman" pitchFamily="18" charset="0"/>
              </a:rPr>
              <a:t>2</a:t>
            </a:r>
            <a:r>
              <a:rPr lang="en-US" altLang="zh-CN" b="1" dirty="0">
                <a:solidFill>
                  <a:srgbClr val="FF0000"/>
                </a:solidFill>
                <a:latin typeface="Times New Roman" pitchFamily="18" charset="0"/>
              </a:rPr>
              <a:t> via many intermediate electron carriers on the way.</a:t>
            </a:r>
          </a:p>
        </p:txBody>
      </p:sp>
    </p:spTree>
    <p:extLst>
      <p:ext uri="{BB962C8B-B14F-4D97-AF65-F5344CB8AC3E}">
        <p14:creationId xmlns:p14="http://schemas.microsoft.com/office/powerpoint/2010/main" val="13134077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2">
            <a:extLst>
              <a:ext uri="{FF2B5EF4-FFF2-40B4-BE49-F238E27FC236}">
                <a16:creationId xmlns:a16="http://schemas.microsoft.com/office/drawing/2014/main" id="{80FA000B-7FA7-4A82-AF96-6F7208870D5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89250" y="254000"/>
            <a:ext cx="3365500" cy="635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512168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2" name="Picture 2" descr="catabol">
            <a:extLst>
              <a:ext uri="{FF2B5EF4-FFF2-40B4-BE49-F238E27FC236}">
                <a16:creationId xmlns:a16="http://schemas.microsoft.com/office/drawing/2014/main" id="{4B209452-12D9-459F-AFD0-FA03F6237F8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678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03" name="Rectangle 5">
            <a:extLst>
              <a:ext uri="{FF2B5EF4-FFF2-40B4-BE49-F238E27FC236}">
                <a16:creationId xmlns:a16="http://schemas.microsoft.com/office/drawing/2014/main" id="{CA81A9E0-D985-480F-A22B-A57F3EF605B7}"/>
              </a:ext>
            </a:extLst>
          </p:cNvPr>
          <p:cNvSpPr>
            <a:spLocks noChangeArrowheads="1"/>
          </p:cNvSpPr>
          <p:nvPr/>
        </p:nvSpPr>
        <p:spPr bwMode="auto">
          <a:xfrm>
            <a:off x="44450" y="31750"/>
            <a:ext cx="3613150" cy="87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lang="en-US" altLang="zh-CN" sz="2000" b="1" dirty="0">
                <a:solidFill>
                  <a:srgbClr val="FF0000"/>
                </a:solidFill>
              </a:rPr>
              <a:t>Oxidative </a:t>
            </a:r>
            <a:r>
              <a:rPr lang="en-US" altLang="zh-CN" sz="2000" b="1" dirty="0" err="1">
                <a:solidFill>
                  <a:srgbClr val="FF0000"/>
                </a:solidFill>
              </a:rPr>
              <a:t>phosphorylation</a:t>
            </a:r>
            <a:endParaRPr lang="en-US" altLang="zh-CN" sz="2000" b="1" dirty="0">
              <a:solidFill>
                <a:srgbClr val="FF0000"/>
              </a:solidFill>
            </a:endParaRPr>
          </a:p>
          <a:p>
            <a:pPr eaLnBrk="1" hangingPunct="1">
              <a:lnSpc>
                <a:spcPct val="85000"/>
              </a:lnSpc>
            </a:pPr>
            <a:r>
              <a:rPr lang="en-US" altLang="zh-CN" sz="2000" b="1" dirty="0">
                <a:solidFill>
                  <a:srgbClr val="FF0000"/>
                </a:solidFill>
              </a:rPr>
              <a:t>occurs on the</a:t>
            </a:r>
            <a:r>
              <a:rPr kumimoji="0" lang="en-US" altLang="zh-CN" sz="2000" dirty="0">
                <a:solidFill>
                  <a:srgbClr val="FF0000"/>
                </a:solidFill>
              </a:rPr>
              <a:t> </a:t>
            </a:r>
            <a:r>
              <a:rPr lang="en-US" altLang="zh-CN" sz="2000" b="1" dirty="0">
                <a:solidFill>
                  <a:srgbClr val="FF0000"/>
                </a:solidFill>
              </a:rPr>
              <a:t>inner membrane of mitochondria (</a:t>
            </a:r>
            <a:r>
              <a:rPr lang="en-US" altLang="zh-CN" sz="2000" b="1" dirty="0" err="1">
                <a:solidFill>
                  <a:srgbClr val="FF0000"/>
                </a:solidFill>
              </a:rPr>
              <a:t>cristae</a:t>
            </a:r>
            <a:r>
              <a:rPr lang="en-US" altLang="zh-CN" sz="2000" b="1" dirty="0">
                <a:solidFill>
                  <a:srgbClr val="FF0000"/>
                </a:solidFill>
              </a:rPr>
              <a:t>)</a:t>
            </a:r>
          </a:p>
        </p:txBody>
      </p:sp>
      <p:sp>
        <p:nvSpPr>
          <p:cNvPr id="128004" name="Rectangle 6">
            <a:extLst>
              <a:ext uri="{FF2B5EF4-FFF2-40B4-BE49-F238E27FC236}">
                <a16:creationId xmlns:a16="http://schemas.microsoft.com/office/drawing/2014/main" id="{7A2000B4-F4D3-4A5E-8CDD-3BF16863CDD7}"/>
              </a:ext>
            </a:extLst>
          </p:cNvPr>
          <p:cNvSpPr>
            <a:spLocks noChangeArrowheads="1"/>
          </p:cNvSpPr>
          <p:nvPr/>
        </p:nvSpPr>
        <p:spPr bwMode="auto">
          <a:xfrm>
            <a:off x="3995738" y="188913"/>
            <a:ext cx="2360583" cy="563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85000"/>
              </a:lnSpc>
            </a:pPr>
            <a:r>
              <a:rPr lang="en-US" altLang="zh-CN" sz="1800" b="1" dirty="0">
                <a:solidFill>
                  <a:srgbClr val="FF0000"/>
                </a:solidFill>
              </a:rPr>
              <a:t>(or plasma membrane</a:t>
            </a:r>
          </a:p>
          <a:p>
            <a:pPr algn="ctr" eaLnBrk="1" hangingPunct="1">
              <a:lnSpc>
                <a:spcPct val="85000"/>
              </a:lnSpc>
            </a:pPr>
            <a:r>
              <a:rPr lang="en-US" altLang="zh-CN" sz="1800" b="1" dirty="0">
                <a:solidFill>
                  <a:srgbClr val="FF0000"/>
                </a:solidFill>
              </a:rPr>
              <a:t>In bacteria)</a:t>
            </a:r>
          </a:p>
        </p:txBody>
      </p:sp>
      <p:pic>
        <p:nvPicPr>
          <p:cNvPr id="128005" name="Picture 7" descr="mitochon">
            <a:extLst>
              <a:ext uri="{FF2B5EF4-FFF2-40B4-BE49-F238E27FC236}">
                <a16:creationId xmlns:a16="http://schemas.microsoft.com/office/drawing/2014/main" id="{13C1D94B-165F-4F30-9074-8E8CBAFE79C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4868863"/>
            <a:ext cx="1385888" cy="187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471533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978" name="Picture 2">
            <a:extLst>
              <a:ext uri="{FF2B5EF4-FFF2-40B4-BE49-F238E27FC236}">
                <a16:creationId xmlns:a16="http://schemas.microsoft.com/office/drawing/2014/main" id="{87FB5E0D-4B7F-4799-96F7-2D9E63A7A39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7000" y="2311400"/>
            <a:ext cx="8890000" cy="309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308637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3" descr="respiration chain-2">
            <a:extLst>
              <a:ext uri="{FF2B5EF4-FFF2-40B4-BE49-F238E27FC236}">
                <a16:creationId xmlns:a16="http://schemas.microsoft.com/office/drawing/2014/main" id="{A8A96FC0-BF6B-4A3F-B478-3F5EB9207F4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3479" t="10059" r="2609"/>
          <a:stretch>
            <a:fillRect/>
          </a:stretch>
        </p:blipFill>
        <p:spPr bwMode="auto">
          <a:xfrm>
            <a:off x="76200" y="152400"/>
            <a:ext cx="8915400" cy="272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1" name="Picture 4" descr="respiration chain-1">
            <a:extLst>
              <a:ext uri="{FF2B5EF4-FFF2-40B4-BE49-F238E27FC236}">
                <a16:creationId xmlns:a16="http://schemas.microsoft.com/office/drawing/2014/main" id="{3D1E5BD2-68BC-42B0-BB2F-8E486BB939D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2632" t="6720" b="7596"/>
          <a:stretch>
            <a:fillRect/>
          </a:stretch>
        </p:blipFill>
        <p:spPr bwMode="auto">
          <a:xfrm>
            <a:off x="76200" y="2971800"/>
            <a:ext cx="89154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866693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956" name="Picture 4" descr="49033-20-03 copy">
            <a:extLst>
              <a:ext uri="{FF2B5EF4-FFF2-40B4-BE49-F238E27FC236}">
                <a16:creationId xmlns:a16="http://schemas.microsoft.com/office/drawing/2014/main" id="{F2C4DC17-3DFC-4ADB-AF93-9115EE340B0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24075" y="571500"/>
            <a:ext cx="4895850"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78032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descr="echain">
            <a:extLst>
              <a:ext uri="{FF2B5EF4-FFF2-40B4-BE49-F238E27FC236}">
                <a16:creationId xmlns:a16="http://schemas.microsoft.com/office/drawing/2014/main" id="{CA846613-50C3-443A-B9F7-1CD07718BBCF}"/>
              </a:ext>
            </a:extLst>
          </p:cNvPr>
          <p:cNvPicPr>
            <a:picLocks noChangeAspect="1" noChangeArrowheads="1"/>
          </p:cNvPicPr>
          <p:nvPr/>
        </p:nvPicPr>
        <p:blipFill>
          <a:blip r:embed="rId2" cstate="print">
            <a:lum bright="20000" contrast="40000"/>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7" name="Rectangle 13">
            <a:extLst>
              <a:ext uri="{FF2B5EF4-FFF2-40B4-BE49-F238E27FC236}">
                <a16:creationId xmlns:a16="http://schemas.microsoft.com/office/drawing/2014/main" id="{41D513E8-9D8E-42AD-8136-904B7595B3C7}"/>
              </a:ext>
            </a:extLst>
          </p:cNvPr>
          <p:cNvSpPr>
            <a:spLocks noChangeArrowheads="1"/>
          </p:cNvSpPr>
          <p:nvPr/>
        </p:nvSpPr>
        <p:spPr bwMode="auto">
          <a:xfrm>
            <a:off x="1763713" y="981075"/>
            <a:ext cx="3429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t>I</a:t>
            </a:r>
          </a:p>
        </p:txBody>
      </p:sp>
      <p:sp>
        <p:nvSpPr>
          <p:cNvPr id="57348" name="Rectangle 14">
            <a:extLst>
              <a:ext uri="{FF2B5EF4-FFF2-40B4-BE49-F238E27FC236}">
                <a16:creationId xmlns:a16="http://schemas.microsoft.com/office/drawing/2014/main" id="{FE86A9FB-EB44-42DE-89E8-293223EEC503}"/>
              </a:ext>
            </a:extLst>
          </p:cNvPr>
          <p:cNvSpPr>
            <a:spLocks noChangeArrowheads="1"/>
          </p:cNvSpPr>
          <p:nvPr/>
        </p:nvSpPr>
        <p:spPr bwMode="auto">
          <a:xfrm>
            <a:off x="4067175" y="1052513"/>
            <a:ext cx="5016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t>II</a:t>
            </a:r>
          </a:p>
        </p:txBody>
      </p:sp>
      <p:sp>
        <p:nvSpPr>
          <p:cNvPr id="57349" name="Rectangle 15">
            <a:extLst>
              <a:ext uri="{FF2B5EF4-FFF2-40B4-BE49-F238E27FC236}">
                <a16:creationId xmlns:a16="http://schemas.microsoft.com/office/drawing/2014/main" id="{C1E31187-2744-4E6F-B560-9698D30C6CAB}"/>
              </a:ext>
            </a:extLst>
          </p:cNvPr>
          <p:cNvSpPr>
            <a:spLocks noChangeArrowheads="1"/>
          </p:cNvSpPr>
          <p:nvPr/>
        </p:nvSpPr>
        <p:spPr bwMode="auto">
          <a:xfrm>
            <a:off x="7092950" y="2708275"/>
            <a:ext cx="660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t>III</a:t>
            </a:r>
          </a:p>
        </p:txBody>
      </p:sp>
      <p:sp>
        <p:nvSpPr>
          <p:cNvPr id="57350" name="Rectangle 16">
            <a:extLst>
              <a:ext uri="{FF2B5EF4-FFF2-40B4-BE49-F238E27FC236}">
                <a16:creationId xmlns:a16="http://schemas.microsoft.com/office/drawing/2014/main" id="{EE967910-C508-47D1-B6C2-C3F7FDF08D36}"/>
              </a:ext>
            </a:extLst>
          </p:cNvPr>
          <p:cNvSpPr>
            <a:spLocks noChangeArrowheads="1"/>
          </p:cNvSpPr>
          <p:nvPr/>
        </p:nvSpPr>
        <p:spPr bwMode="auto">
          <a:xfrm>
            <a:off x="5219700" y="4508500"/>
            <a:ext cx="6365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t>IV</a:t>
            </a:r>
          </a:p>
        </p:txBody>
      </p:sp>
      <p:sp>
        <p:nvSpPr>
          <p:cNvPr id="57351" name="Rectangle 19">
            <a:extLst>
              <a:ext uri="{FF2B5EF4-FFF2-40B4-BE49-F238E27FC236}">
                <a16:creationId xmlns:a16="http://schemas.microsoft.com/office/drawing/2014/main" id="{2A89C4EE-BF8D-4367-953E-5B43BBF1A7F9}"/>
              </a:ext>
            </a:extLst>
          </p:cNvPr>
          <p:cNvSpPr>
            <a:spLocks noChangeArrowheads="1"/>
          </p:cNvSpPr>
          <p:nvPr/>
        </p:nvSpPr>
        <p:spPr bwMode="auto">
          <a:xfrm>
            <a:off x="1042988" y="4005263"/>
            <a:ext cx="4008405"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200" b="1" dirty="0">
                <a:solidFill>
                  <a:srgbClr val="00FF00"/>
                </a:solidFill>
              </a:rPr>
              <a:t>The respiratory chain</a:t>
            </a:r>
          </a:p>
          <a:p>
            <a:pPr algn="ctr" eaLnBrk="1" hangingPunct="1"/>
            <a:r>
              <a:rPr lang="en-US" altLang="zh-CN" sz="3200" b="1" dirty="0">
                <a:solidFill>
                  <a:srgbClr val="00FF00"/>
                </a:solidFill>
              </a:rPr>
              <a:t>consists of 4 multi-</a:t>
            </a:r>
          </a:p>
          <a:p>
            <a:pPr algn="ctr" eaLnBrk="1" hangingPunct="1"/>
            <a:r>
              <a:rPr lang="en-US" altLang="zh-CN" sz="3200" b="1" dirty="0">
                <a:solidFill>
                  <a:srgbClr val="00FF00"/>
                </a:solidFill>
              </a:rPr>
              <a:t>subunit complexes </a:t>
            </a:r>
          </a:p>
          <a:p>
            <a:pPr algn="ctr" eaLnBrk="1" hangingPunct="1"/>
            <a:r>
              <a:rPr lang="en-US" altLang="zh-CN" sz="3200" b="1" dirty="0">
                <a:solidFill>
                  <a:srgbClr val="00FF00"/>
                </a:solidFill>
              </a:rPr>
              <a:t>and two mobile </a:t>
            </a:r>
          </a:p>
          <a:p>
            <a:pPr algn="ctr" eaLnBrk="1" hangingPunct="1"/>
            <a:r>
              <a:rPr lang="en-US" altLang="zh-CN" sz="3200" b="1" dirty="0">
                <a:solidFill>
                  <a:srgbClr val="00FF00"/>
                </a:solidFill>
              </a:rPr>
              <a:t>e</a:t>
            </a:r>
            <a:r>
              <a:rPr lang="en-US" altLang="zh-CN" sz="3200" b="1" baseline="30000" dirty="0">
                <a:solidFill>
                  <a:srgbClr val="00FF00"/>
                </a:solidFill>
              </a:rPr>
              <a:t>-</a:t>
            </a:r>
            <a:r>
              <a:rPr lang="en-US" altLang="zh-CN" sz="3200" b="1" dirty="0">
                <a:solidFill>
                  <a:srgbClr val="00FF00"/>
                </a:solidFill>
              </a:rPr>
              <a:t> carriers.</a:t>
            </a:r>
          </a:p>
        </p:txBody>
      </p:sp>
      <p:sp>
        <p:nvSpPr>
          <p:cNvPr id="57352" name="Rectangle 20">
            <a:extLst>
              <a:ext uri="{FF2B5EF4-FFF2-40B4-BE49-F238E27FC236}">
                <a16:creationId xmlns:a16="http://schemas.microsoft.com/office/drawing/2014/main" id="{3E7FEEDA-04FD-4389-9681-44819CD116AE}"/>
              </a:ext>
            </a:extLst>
          </p:cNvPr>
          <p:cNvSpPr>
            <a:spLocks noChangeArrowheads="1"/>
          </p:cNvSpPr>
          <p:nvPr/>
        </p:nvSpPr>
        <p:spPr bwMode="auto">
          <a:xfrm>
            <a:off x="684213" y="-23813"/>
            <a:ext cx="1736725" cy="396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i="1" dirty="0">
                <a:solidFill>
                  <a:srgbClr val="00FFFF"/>
                </a:solidFill>
              </a:rPr>
              <a:t>E`</a:t>
            </a:r>
            <a:r>
              <a:rPr lang="en-US" altLang="zh-CN" sz="2000" b="1" i="1" baseline="30000" dirty="0">
                <a:solidFill>
                  <a:srgbClr val="00FFFF"/>
                </a:solidFill>
              </a:rPr>
              <a:t>0 </a:t>
            </a:r>
            <a:r>
              <a:rPr lang="en-US" altLang="zh-CN" sz="2000" b="1" dirty="0">
                <a:solidFill>
                  <a:srgbClr val="00FFFF"/>
                </a:solidFill>
              </a:rPr>
              <a:t> = -0.320 V</a:t>
            </a:r>
          </a:p>
        </p:txBody>
      </p:sp>
      <p:sp>
        <p:nvSpPr>
          <p:cNvPr id="57353" name="Rectangle 21">
            <a:extLst>
              <a:ext uri="{FF2B5EF4-FFF2-40B4-BE49-F238E27FC236}">
                <a16:creationId xmlns:a16="http://schemas.microsoft.com/office/drawing/2014/main" id="{A0FFC835-C7A4-4B36-BBF3-7986318F5D89}"/>
              </a:ext>
            </a:extLst>
          </p:cNvPr>
          <p:cNvSpPr>
            <a:spLocks noChangeArrowheads="1"/>
          </p:cNvSpPr>
          <p:nvPr/>
        </p:nvSpPr>
        <p:spPr bwMode="auto">
          <a:xfrm>
            <a:off x="4724400" y="5976938"/>
            <a:ext cx="16525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i="1" dirty="0">
                <a:solidFill>
                  <a:srgbClr val="00FFFF"/>
                </a:solidFill>
              </a:rPr>
              <a:t>E`</a:t>
            </a:r>
            <a:r>
              <a:rPr lang="en-US" altLang="zh-CN" sz="2000" b="1" i="1" baseline="30000" dirty="0">
                <a:solidFill>
                  <a:srgbClr val="00FFFF"/>
                </a:solidFill>
              </a:rPr>
              <a:t>0 </a:t>
            </a:r>
            <a:r>
              <a:rPr lang="en-US" altLang="zh-CN" sz="2000" b="1" dirty="0">
                <a:solidFill>
                  <a:srgbClr val="00FFFF"/>
                </a:solidFill>
              </a:rPr>
              <a:t> = 0.816 V</a:t>
            </a:r>
          </a:p>
        </p:txBody>
      </p:sp>
    </p:spTree>
    <p:extLst>
      <p:ext uri="{BB962C8B-B14F-4D97-AF65-F5344CB8AC3E}">
        <p14:creationId xmlns:p14="http://schemas.microsoft.com/office/powerpoint/2010/main" val="2532559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9E316A32-BE78-41BC-965D-79F271525514}"/>
              </a:ext>
            </a:extLst>
          </p:cNvPr>
          <p:cNvSpPr>
            <a:spLocks noGrp="1" noChangeArrowheads="1"/>
          </p:cNvSpPr>
          <p:nvPr>
            <p:ph type="title" idx="4294967295"/>
          </p:nvPr>
        </p:nvSpPr>
        <p:spPr>
          <a:xfrm>
            <a:off x="0" y="1319213"/>
            <a:ext cx="7772400" cy="2771775"/>
          </a:xfrm>
        </p:spPr>
        <p:txBody>
          <a:bodyPr/>
          <a:lstStyle/>
          <a:p>
            <a:pPr eaLnBrk="1" hangingPunct="1"/>
            <a:r>
              <a:rPr lang="en-US" altLang="zh-CN" b="1" dirty="0">
                <a:solidFill>
                  <a:srgbClr val="FF0000"/>
                </a:solidFill>
                <a:latin typeface="Times New Roman" pitchFamily="18" charset="0"/>
              </a:rPr>
              <a:t>8. Various prosthetic groups act as intermediate electron carriers in the respiratory chain</a:t>
            </a:r>
          </a:p>
        </p:txBody>
      </p:sp>
    </p:spTree>
    <p:extLst>
      <p:ext uri="{BB962C8B-B14F-4D97-AF65-F5344CB8AC3E}">
        <p14:creationId xmlns:p14="http://schemas.microsoft.com/office/powerpoint/2010/main" val="24260602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2" descr="fmn">
            <a:extLst>
              <a:ext uri="{FF2B5EF4-FFF2-40B4-BE49-F238E27FC236}">
                <a16:creationId xmlns:a16="http://schemas.microsoft.com/office/drawing/2014/main" id="{72114940-78D3-4C9F-A0DC-22952943B0C0}"/>
              </a:ext>
            </a:extLst>
          </p:cNvPr>
          <p:cNvPicPr>
            <a:picLocks noChangeAspect="1" noChangeArrowheads="1"/>
          </p:cNvPicPr>
          <p:nvPr/>
        </p:nvPicPr>
        <p:blipFill>
          <a:blip r:embed="rId3" cstate="print">
            <a:lum bright="40000" contrast="40000"/>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5" name="Rectangle 3">
            <a:extLst>
              <a:ext uri="{FF2B5EF4-FFF2-40B4-BE49-F238E27FC236}">
                <a16:creationId xmlns:a16="http://schemas.microsoft.com/office/drawing/2014/main" id="{07FDB91B-7DDE-4259-9292-B5A1D8604029}"/>
              </a:ext>
            </a:extLst>
          </p:cNvPr>
          <p:cNvSpPr>
            <a:spLocks noChangeArrowheads="1"/>
          </p:cNvSpPr>
          <p:nvPr/>
        </p:nvSpPr>
        <p:spPr bwMode="auto">
          <a:xfrm>
            <a:off x="0" y="0"/>
            <a:ext cx="89154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pPr>
            <a:r>
              <a:rPr lang="en-US" altLang="zh-CN" sz="3600" b="1" dirty="0">
                <a:solidFill>
                  <a:srgbClr val="00FFFF"/>
                </a:solidFill>
              </a:rPr>
              <a:t>FMN and FAD can accept/donate one/two e</a:t>
            </a:r>
            <a:r>
              <a:rPr lang="en-US" altLang="zh-CN" sz="3600" b="1" baseline="30000" dirty="0">
                <a:solidFill>
                  <a:srgbClr val="00FFFF"/>
                </a:solidFill>
              </a:rPr>
              <a:t>-</a:t>
            </a:r>
          </a:p>
        </p:txBody>
      </p:sp>
    </p:spTree>
    <p:extLst>
      <p:ext uri="{BB962C8B-B14F-4D97-AF65-F5344CB8AC3E}">
        <p14:creationId xmlns:p14="http://schemas.microsoft.com/office/powerpoint/2010/main" val="28833005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8">
            <a:extLst>
              <a:ext uri="{FF2B5EF4-FFF2-40B4-BE49-F238E27FC236}">
                <a16:creationId xmlns:a16="http://schemas.microsoft.com/office/drawing/2014/main" id="{3A1C928B-BC8A-4AE3-A9CA-8D2FEB4304DE}"/>
              </a:ext>
            </a:extLst>
          </p:cNvPr>
          <p:cNvSpPr>
            <a:spLocks noChangeArrowheads="1"/>
          </p:cNvSpPr>
          <p:nvPr/>
        </p:nvSpPr>
        <p:spPr bwMode="auto">
          <a:xfrm>
            <a:off x="304800" y="0"/>
            <a:ext cx="5508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C00000"/>
                </a:solidFill>
              </a:rPr>
              <a:t>Q is a mobile one/two e</a:t>
            </a:r>
            <a:r>
              <a:rPr lang="en-US" altLang="zh-CN" b="1" baseline="30000" dirty="0">
                <a:solidFill>
                  <a:srgbClr val="C00000"/>
                </a:solidFill>
              </a:rPr>
              <a:t>-</a:t>
            </a:r>
            <a:r>
              <a:rPr lang="en-US" altLang="zh-CN" b="1" dirty="0">
                <a:solidFill>
                  <a:srgbClr val="C00000"/>
                </a:solidFill>
              </a:rPr>
              <a:t>/H</a:t>
            </a:r>
            <a:r>
              <a:rPr lang="en-US" altLang="zh-CN" b="1" baseline="30000" dirty="0">
                <a:solidFill>
                  <a:srgbClr val="C00000"/>
                </a:solidFill>
              </a:rPr>
              <a:t>+</a:t>
            </a:r>
            <a:r>
              <a:rPr lang="en-US" altLang="zh-CN" b="1" dirty="0">
                <a:solidFill>
                  <a:srgbClr val="C00000"/>
                </a:solidFill>
              </a:rPr>
              <a:t> carrier</a:t>
            </a:r>
          </a:p>
        </p:txBody>
      </p:sp>
      <p:sp>
        <p:nvSpPr>
          <p:cNvPr id="60419" name="Rectangle 10">
            <a:extLst>
              <a:ext uri="{FF2B5EF4-FFF2-40B4-BE49-F238E27FC236}">
                <a16:creationId xmlns:a16="http://schemas.microsoft.com/office/drawing/2014/main" id="{BA3FEC6C-63C8-4E50-ACF6-130EE50E4D20}"/>
              </a:ext>
            </a:extLst>
          </p:cNvPr>
          <p:cNvSpPr>
            <a:spLocks noChangeArrowheads="1"/>
          </p:cNvSpPr>
          <p:nvPr/>
        </p:nvSpPr>
        <p:spPr bwMode="auto">
          <a:xfrm>
            <a:off x="5003800" y="1773238"/>
            <a:ext cx="3615029"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b="1" dirty="0">
                <a:solidFill>
                  <a:srgbClr val="C00000"/>
                </a:solidFill>
              </a:rPr>
              <a:t>The only e</a:t>
            </a:r>
            <a:r>
              <a:rPr lang="en-US" altLang="zh-CN" sz="2800" b="1" baseline="30000" dirty="0">
                <a:solidFill>
                  <a:srgbClr val="C00000"/>
                </a:solidFill>
              </a:rPr>
              <a:t>-</a:t>
            </a:r>
            <a:r>
              <a:rPr lang="en-US" altLang="zh-CN" sz="2800" b="1" dirty="0">
                <a:solidFill>
                  <a:srgbClr val="C00000"/>
                </a:solidFill>
              </a:rPr>
              <a:t> carrier </a:t>
            </a:r>
          </a:p>
          <a:p>
            <a:pPr algn="ctr" eaLnBrk="1" hangingPunct="1"/>
            <a:r>
              <a:rPr lang="en-US" altLang="zh-CN" sz="2800" b="1" dirty="0">
                <a:solidFill>
                  <a:srgbClr val="C00000"/>
                </a:solidFill>
              </a:rPr>
              <a:t>not bound to a protein</a:t>
            </a:r>
          </a:p>
        </p:txBody>
      </p:sp>
      <p:sp>
        <p:nvSpPr>
          <p:cNvPr id="60420" name="Rectangle 11">
            <a:extLst>
              <a:ext uri="{FF2B5EF4-FFF2-40B4-BE49-F238E27FC236}">
                <a16:creationId xmlns:a16="http://schemas.microsoft.com/office/drawing/2014/main" id="{9423F03D-A64F-41AA-9835-3749FB61C1D4}"/>
              </a:ext>
            </a:extLst>
          </p:cNvPr>
          <p:cNvSpPr>
            <a:spLocks noChangeArrowheads="1"/>
          </p:cNvSpPr>
          <p:nvPr/>
        </p:nvSpPr>
        <p:spPr bwMode="auto">
          <a:xfrm>
            <a:off x="5003800" y="3933825"/>
            <a:ext cx="3616631"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C00000"/>
                </a:solidFill>
              </a:rPr>
              <a:t>Q/QH2 diffuses freely </a:t>
            </a:r>
          </a:p>
          <a:p>
            <a:pPr eaLnBrk="1" hangingPunct="1"/>
            <a:r>
              <a:rPr lang="en-US" altLang="zh-CN" sz="2800" b="1" dirty="0">
                <a:solidFill>
                  <a:srgbClr val="C00000"/>
                </a:solidFill>
              </a:rPr>
              <a:t>in the lipid bilayer</a:t>
            </a:r>
          </a:p>
        </p:txBody>
      </p:sp>
      <p:pic>
        <p:nvPicPr>
          <p:cNvPr id="60421" name="Picture 2">
            <a:extLst>
              <a:ext uri="{FF2B5EF4-FFF2-40B4-BE49-F238E27FC236}">
                <a16:creationId xmlns:a16="http://schemas.microsoft.com/office/drawing/2014/main" id="{E7B7E395-D94F-4125-8190-CEEFF9EEFB2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533400"/>
            <a:ext cx="4700588"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241160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2">
            <a:extLst>
              <a:ext uri="{FF2B5EF4-FFF2-40B4-BE49-F238E27FC236}">
                <a16:creationId xmlns:a16="http://schemas.microsoft.com/office/drawing/2014/main" id="{58FACE76-CF5C-4AE9-9713-25517A34B89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400" y="177800"/>
            <a:ext cx="8026400" cy="5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3" name="Rectangle 3">
            <a:extLst>
              <a:ext uri="{FF2B5EF4-FFF2-40B4-BE49-F238E27FC236}">
                <a16:creationId xmlns:a16="http://schemas.microsoft.com/office/drawing/2014/main" id="{62F66385-6D96-4183-888B-2CF6CEBD3015}"/>
              </a:ext>
            </a:extLst>
          </p:cNvPr>
          <p:cNvSpPr>
            <a:spLocks noChangeArrowheads="1"/>
          </p:cNvSpPr>
          <p:nvPr/>
        </p:nvSpPr>
        <p:spPr bwMode="auto">
          <a:xfrm>
            <a:off x="228600" y="5000636"/>
            <a:ext cx="89154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b="1" dirty="0">
                <a:solidFill>
                  <a:srgbClr val="000099"/>
                </a:solidFill>
              </a:rPr>
              <a:t>Three types of </a:t>
            </a:r>
            <a:r>
              <a:rPr lang="en-US" altLang="zh-CN" sz="3600" b="1" dirty="0" err="1">
                <a:solidFill>
                  <a:srgbClr val="000099"/>
                </a:solidFill>
              </a:rPr>
              <a:t>heme</a:t>
            </a:r>
            <a:r>
              <a:rPr lang="en-US" altLang="zh-CN" sz="3600" b="1" dirty="0">
                <a:solidFill>
                  <a:srgbClr val="000099"/>
                </a:solidFill>
              </a:rPr>
              <a:t> groups are found in </a:t>
            </a:r>
            <a:r>
              <a:rPr lang="en-US" altLang="zh-CN" sz="3600" b="1" dirty="0" err="1">
                <a:solidFill>
                  <a:srgbClr val="000099"/>
                </a:solidFill>
              </a:rPr>
              <a:t>cytochromes</a:t>
            </a:r>
            <a:r>
              <a:rPr lang="en-US" altLang="zh-CN" sz="3600" b="1" dirty="0">
                <a:solidFill>
                  <a:srgbClr val="000099"/>
                </a:solidFill>
              </a:rPr>
              <a:t>.</a:t>
            </a:r>
          </a:p>
        </p:txBody>
      </p:sp>
    </p:spTree>
    <p:extLst>
      <p:ext uri="{BB962C8B-B14F-4D97-AF65-F5344CB8AC3E}">
        <p14:creationId xmlns:p14="http://schemas.microsoft.com/office/powerpoint/2010/main" val="19417149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5">
            <a:extLst>
              <a:ext uri="{FF2B5EF4-FFF2-40B4-BE49-F238E27FC236}">
                <a16:creationId xmlns:a16="http://schemas.microsoft.com/office/drawing/2014/main" id="{CC4DF9B8-1FB1-4FF4-9EB6-E1543DEEB309}"/>
              </a:ext>
            </a:extLst>
          </p:cNvPr>
          <p:cNvSpPr>
            <a:spLocks noChangeArrowheads="1"/>
          </p:cNvSpPr>
          <p:nvPr/>
        </p:nvSpPr>
        <p:spPr bwMode="auto">
          <a:xfrm>
            <a:off x="0" y="3716338"/>
            <a:ext cx="8893175"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000" b="1" dirty="0"/>
              <a:t>At least eight different types of iron-sulfur centers act in the respiratory chain: </a:t>
            </a:r>
            <a:r>
              <a:rPr lang="en-US" altLang="zh-CN" sz="4000" dirty="0"/>
              <a:t>iron atoms cycle between Fe</a:t>
            </a:r>
            <a:r>
              <a:rPr lang="en-US" altLang="zh-CN" sz="4000" baseline="30000" dirty="0"/>
              <a:t>2+</a:t>
            </a:r>
            <a:r>
              <a:rPr lang="en-US" altLang="zh-CN" sz="4000" dirty="0"/>
              <a:t> (reduced) and Fe</a:t>
            </a:r>
            <a:r>
              <a:rPr lang="en-US" altLang="zh-CN" sz="4000" baseline="30000" dirty="0"/>
              <a:t>3+</a:t>
            </a:r>
            <a:r>
              <a:rPr lang="en-US" altLang="zh-CN" sz="4000" dirty="0"/>
              <a:t> (oxidized).</a:t>
            </a:r>
          </a:p>
        </p:txBody>
      </p:sp>
      <p:pic>
        <p:nvPicPr>
          <p:cNvPr id="63491" name="Picture 7" descr="f19-5">
            <a:extLst>
              <a:ext uri="{FF2B5EF4-FFF2-40B4-BE49-F238E27FC236}">
                <a16:creationId xmlns:a16="http://schemas.microsoft.com/office/drawing/2014/main" id="{E1F065AC-7969-4531-8E62-C3A8ED7B4D1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378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2" name="Rectangle 8">
            <a:extLst>
              <a:ext uri="{FF2B5EF4-FFF2-40B4-BE49-F238E27FC236}">
                <a16:creationId xmlns:a16="http://schemas.microsoft.com/office/drawing/2014/main" id="{7D0F5294-CD64-4D9D-8DDC-319997929A50}"/>
              </a:ext>
            </a:extLst>
          </p:cNvPr>
          <p:cNvSpPr>
            <a:spLocks noChangeArrowheads="1"/>
          </p:cNvSpPr>
          <p:nvPr/>
        </p:nvSpPr>
        <p:spPr bwMode="auto">
          <a:xfrm>
            <a:off x="6705600" y="0"/>
            <a:ext cx="13795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solidFill>
                  <a:srgbClr val="FF0000"/>
                </a:solidFill>
              </a:rPr>
              <a:t>4Fe-4S</a:t>
            </a:r>
          </a:p>
        </p:txBody>
      </p:sp>
      <p:sp>
        <p:nvSpPr>
          <p:cNvPr id="63493" name="Rectangle 9">
            <a:extLst>
              <a:ext uri="{FF2B5EF4-FFF2-40B4-BE49-F238E27FC236}">
                <a16:creationId xmlns:a16="http://schemas.microsoft.com/office/drawing/2014/main" id="{FB0F382D-426B-46E4-BAE0-AF3703133CED}"/>
              </a:ext>
            </a:extLst>
          </p:cNvPr>
          <p:cNvSpPr>
            <a:spLocks noChangeArrowheads="1"/>
          </p:cNvSpPr>
          <p:nvPr/>
        </p:nvSpPr>
        <p:spPr bwMode="auto">
          <a:xfrm>
            <a:off x="3810000" y="0"/>
            <a:ext cx="13795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solidFill>
                  <a:srgbClr val="FF0000"/>
                </a:solidFill>
              </a:rPr>
              <a:t>2Fe-2S</a:t>
            </a:r>
          </a:p>
        </p:txBody>
      </p:sp>
    </p:spTree>
    <p:extLst>
      <p:ext uri="{BB962C8B-B14F-4D97-AF65-F5344CB8AC3E}">
        <p14:creationId xmlns:p14="http://schemas.microsoft.com/office/powerpoint/2010/main" val="36914676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3" descr="respiration chain-2">
            <a:extLst>
              <a:ext uri="{FF2B5EF4-FFF2-40B4-BE49-F238E27FC236}">
                <a16:creationId xmlns:a16="http://schemas.microsoft.com/office/drawing/2014/main" id="{A8A96FC0-BF6B-4A3F-B478-3F5EB9207F4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3479" t="10059" r="2609"/>
          <a:stretch>
            <a:fillRect/>
          </a:stretch>
        </p:blipFill>
        <p:spPr bwMode="auto">
          <a:xfrm>
            <a:off x="76200" y="152400"/>
            <a:ext cx="8915400" cy="272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1" name="Picture 4" descr="respiration chain-1">
            <a:extLst>
              <a:ext uri="{FF2B5EF4-FFF2-40B4-BE49-F238E27FC236}">
                <a16:creationId xmlns:a16="http://schemas.microsoft.com/office/drawing/2014/main" id="{3D1E5BD2-68BC-42B0-BB2F-8E486BB939D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2632" t="6720" b="7596"/>
          <a:stretch>
            <a:fillRect/>
          </a:stretch>
        </p:blipFill>
        <p:spPr bwMode="auto">
          <a:xfrm>
            <a:off x="76200" y="2204864"/>
            <a:ext cx="89154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9345803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1556" name="Picture 4">
            <a:extLst>
              <a:ext uri="{FF2B5EF4-FFF2-40B4-BE49-F238E27FC236}">
                <a16:creationId xmlns:a16="http://schemas.microsoft.com/office/drawing/2014/main" id="{940CC2B1-C520-4CE4-92CC-FC585A6C5A3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765175"/>
            <a:ext cx="9144000" cy="385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51557" name="Group 5">
            <a:extLst>
              <a:ext uri="{FF2B5EF4-FFF2-40B4-BE49-F238E27FC236}">
                <a16:creationId xmlns:a16="http://schemas.microsoft.com/office/drawing/2014/main" id="{AD3684AC-0142-4CA6-815A-89A4830A33EA}"/>
              </a:ext>
            </a:extLst>
          </p:cNvPr>
          <p:cNvGrpSpPr>
            <a:grpSpLocks/>
          </p:cNvGrpSpPr>
          <p:nvPr/>
        </p:nvGrpSpPr>
        <p:grpSpPr bwMode="auto">
          <a:xfrm>
            <a:off x="0" y="1501775"/>
            <a:ext cx="1049338" cy="558800"/>
            <a:chOff x="0" y="946"/>
            <a:chExt cx="661" cy="352"/>
          </a:xfrm>
        </p:grpSpPr>
        <p:pic>
          <p:nvPicPr>
            <p:cNvPr id="151558" name="Picture 6">
              <a:extLst>
                <a:ext uri="{FF2B5EF4-FFF2-40B4-BE49-F238E27FC236}">
                  <a16:creationId xmlns:a16="http://schemas.microsoft.com/office/drawing/2014/main" id="{92723E81-C0E6-4DAE-8128-0BEAA208E4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946"/>
              <a:ext cx="661" cy="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1559" name="Line 7">
              <a:extLst>
                <a:ext uri="{FF2B5EF4-FFF2-40B4-BE49-F238E27FC236}">
                  <a16:creationId xmlns:a16="http://schemas.microsoft.com/office/drawing/2014/main" id="{7E4196CC-92AC-4F9D-99E0-F0F3AF880782}"/>
                </a:ext>
              </a:extLst>
            </p:cNvPr>
            <p:cNvSpPr>
              <a:spLocks noChangeShapeType="1"/>
            </p:cNvSpPr>
            <p:nvPr/>
          </p:nvSpPr>
          <p:spPr bwMode="auto">
            <a:xfrm>
              <a:off x="79" y="1073"/>
              <a:ext cx="478" cy="0"/>
            </a:xfrm>
            <a:prstGeom prst="line">
              <a:avLst/>
            </a:prstGeom>
            <a:noFill/>
            <a:ln w="571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 name="文本框 1">
            <a:extLst>
              <a:ext uri="{FF2B5EF4-FFF2-40B4-BE49-F238E27FC236}">
                <a16:creationId xmlns:a16="http://schemas.microsoft.com/office/drawing/2014/main" id="{F8CB14C9-8E9A-4EFC-BD05-02B45DC1464E}"/>
              </a:ext>
            </a:extLst>
          </p:cNvPr>
          <p:cNvSpPr txBox="1"/>
          <p:nvPr/>
        </p:nvSpPr>
        <p:spPr>
          <a:xfrm>
            <a:off x="884238" y="5154612"/>
            <a:ext cx="3888432" cy="369332"/>
          </a:xfrm>
          <a:prstGeom prst="rect">
            <a:avLst/>
          </a:prstGeom>
          <a:noFill/>
        </p:spPr>
        <p:txBody>
          <a:bodyPr wrap="square" rtlCol="0">
            <a:spAutoFit/>
          </a:bodyPr>
          <a:lstStyle/>
          <a:p>
            <a:r>
              <a:rPr lang="zh-CN" altLang="en-US" b="1" dirty="0"/>
              <a:t>递氢体和递电子体交替排列</a:t>
            </a:r>
          </a:p>
        </p:txBody>
      </p:sp>
    </p:spTree>
    <p:extLst>
      <p:ext uri="{BB962C8B-B14F-4D97-AF65-F5344CB8AC3E}">
        <p14:creationId xmlns:p14="http://schemas.microsoft.com/office/powerpoint/2010/main" val="422703891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a:extLst>
              <a:ext uri="{FF2B5EF4-FFF2-40B4-BE49-F238E27FC236}">
                <a16:creationId xmlns:a16="http://schemas.microsoft.com/office/drawing/2014/main" id="{2D8D1183-6E55-48A8-A484-C10A863ECF4F}"/>
              </a:ext>
            </a:extLst>
          </p:cNvPr>
          <p:cNvSpPr>
            <a:spLocks noChangeArrowheads="1"/>
          </p:cNvSpPr>
          <p:nvPr/>
        </p:nvSpPr>
        <p:spPr bwMode="auto">
          <a:xfrm>
            <a:off x="381000" y="1143000"/>
            <a:ext cx="8001000" cy="2590800"/>
          </a:xfrm>
          <a:prstGeom prst="rect">
            <a:avLst/>
          </a:prstGeom>
          <a:noFill/>
          <a:ln w="9525">
            <a:noFill/>
            <a:miter lim="800000"/>
            <a:headEnd/>
            <a:tailEnd/>
          </a:ln>
          <a:effectLst/>
        </p:spPr>
        <p:txBody>
          <a:bodyPr>
            <a:spAutoFit/>
          </a:bodyPr>
          <a:lstStyle/>
          <a:p>
            <a:pPr>
              <a:defRPr/>
            </a:pPr>
            <a:r>
              <a:rPr kumimoji="0" lang="en-US" altLang="zh-CN" sz="3600" b="1" dirty="0">
                <a:solidFill>
                  <a:srgbClr val="000099"/>
                </a:solidFill>
                <a:latin typeface="Times New Roman" pitchFamily="18" charset="0"/>
              </a:rPr>
              <a:t>Complex I:</a:t>
            </a:r>
          </a:p>
          <a:p>
            <a:pPr>
              <a:defRPr/>
            </a:pPr>
            <a:r>
              <a:rPr kumimoji="0" lang="en-US" altLang="zh-CN" sz="3200" dirty="0">
                <a:latin typeface="Times New Roman" pitchFamily="18" charset="0"/>
              </a:rPr>
              <a:t>NADH enters at </a:t>
            </a:r>
            <a:r>
              <a:rPr lang="en-US" altLang="zh-CN" sz="3200" dirty="0">
                <a:solidFill>
                  <a:srgbClr val="FF0000"/>
                </a:solidFill>
                <a:latin typeface="Times New Roman" pitchFamily="18" charset="0"/>
              </a:rPr>
              <a:t>NADH dehydrogenase</a:t>
            </a:r>
          </a:p>
          <a:p>
            <a:pPr>
              <a:defRPr/>
            </a:pPr>
            <a:r>
              <a:rPr kumimoji="0" lang="en-US" altLang="zh-CN" sz="3200" dirty="0">
                <a:latin typeface="Times New Roman" pitchFamily="18" charset="0"/>
              </a:rPr>
              <a:t>(also </a:t>
            </a:r>
            <a:r>
              <a:rPr kumimoji="0" lang="en-US" altLang="zh-CN" sz="3200" dirty="0" err="1">
                <a:latin typeface="Times New Roman" pitchFamily="18" charset="0"/>
              </a:rPr>
              <a:t>NADH:ubiquinone</a:t>
            </a:r>
            <a:r>
              <a:rPr kumimoji="0" lang="en-US" altLang="zh-CN" sz="3200" dirty="0">
                <a:latin typeface="Times New Roman" pitchFamily="18" charset="0"/>
              </a:rPr>
              <a:t> oxidoreductase </a:t>
            </a:r>
          </a:p>
          <a:p>
            <a:pPr>
              <a:defRPr/>
            </a:pPr>
            <a:r>
              <a:rPr kumimoji="0" lang="en-US" altLang="zh-CN" sz="3200" dirty="0">
                <a:latin typeface="Times New Roman" pitchFamily="18" charset="0"/>
              </a:rPr>
              <a:t>or NADH-Q oxidoreductase).</a:t>
            </a:r>
            <a:endParaRPr lang="en-US" altLang="zh-CN" sz="3200" dirty="0">
              <a:latin typeface="Times New Roman" pitchFamily="18" charset="0"/>
            </a:endParaRPr>
          </a:p>
          <a:p>
            <a:pPr>
              <a:defRPr/>
            </a:pPr>
            <a:endParaRPr lang="en-US" altLang="zh-CN" sz="3200" dirty="0">
              <a:solidFill>
                <a:srgbClr val="000099"/>
              </a:solidFill>
              <a:latin typeface="Times New Roman" pitchFamily="18" charset="0"/>
            </a:endParaRPr>
          </a:p>
        </p:txBody>
      </p:sp>
    </p:spTree>
    <p:extLst>
      <p:ext uri="{BB962C8B-B14F-4D97-AF65-F5344CB8AC3E}">
        <p14:creationId xmlns:p14="http://schemas.microsoft.com/office/powerpoint/2010/main" val="360417483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6" descr="f19-9">
            <a:extLst>
              <a:ext uri="{FF2B5EF4-FFF2-40B4-BE49-F238E27FC236}">
                <a16:creationId xmlns:a16="http://schemas.microsoft.com/office/drawing/2014/main" id="{69CEABF2-A2E0-4ED4-A80E-9D4B99FF7E9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79375"/>
            <a:ext cx="9144000" cy="677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3AA345CC-C254-47DD-8073-1E6C15919A1D}"/>
              </a:ext>
            </a:extLst>
          </p:cNvPr>
          <p:cNvSpPr txBox="1"/>
          <p:nvPr/>
        </p:nvSpPr>
        <p:spPr>
          <a:xfrm>
            <a:off x="5652120" y="6309320"/>
            <a:ext cx="1184940" cy="369332"/>
          </a:xfrm>
          <a:prstGeom prst="rect">
            <a:avLst/>
          </a:prstGeom>
          <a:noFill/>
        </p:spPr>
        <p:txBody>
          <a:bodyPr wrap="none" rtlCol="0">
            <a:spAutoFit/>
          </a:bodyPr>
          <a:lstStyle/>
          <a:p>
            <a:r>
              <a:rPr lang="en-US" altLang="zh-CN" dirty="0"/>
              <a:t>4</a:t>
            </a:r>
            <a:r>
              <a:rPr lang="en-US" altLang="zh-CN" baseline="30000" dirty="0"/>
              <a:t>th</a:t>
            </a:r>
            <a:r>
              <a:rPr lang="en-US" altLang="zh-CN" dirty="0"/>
              <a:t> edition</a:t>
            </a:r>
            <a:endParaRPr lang="zh-CN" altLang="en-US" dirty="0"/>
          </a:p>
        </p:txBody>
      </p:sp>
    </p:spTree>
    <p:extLst>
      <p:ext uri="{BB962C8B-B14F-4D97-AF65-F5344CB8AC3E}">
        <p14:creationId xmlns:p14="http://schemas.microsoft.com/office/powerpoint/2010/main" val="2482631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8E11DEE-C94D-4A68-93F7-4CE6ACAC74B0}"/>
              </a:ext>
            </a:extLst>
          </p:cNvPr>
          <p:cNvPicPr>
            <a:picLocks noChangeAspect="1"/>
          </p:cNvPicPr>
          <p:nvPr/>
        </p:nvPicPr>
        <p:blipFill>
          <a:blip r:embed="rId2"/>
          <a:stretch>
            <a:fillRect/>
          </a:stretch>
        </p:blipFill>
        <p:spPr>
          <a:xfrm>
            <a:off x="750524" y="0"/>
            <a:ext cx="7642952" cy="6858000"/>
          </a:xfrm>
          <a:prstGeom prst="rect">
            <a:avLst/>
          </a:prstGeom>
        </p:spPr>
      </p:pic>
      <p:sp>
        <p:nvSpPr>
          <p:cNvPr id="4" name="文本框 3">
            <a:extLst>
              <a:ext uri="{FF2B5EF4-FFF2-40B4-BE49-F238E27FC236}">
                <a16:creationId xmlns:a16="http://schemas.microsoft.com/office/drawing/2014/main" id="{265ED92C-E210-41B9-8802-9ADA135DAA6A}"/>
              </a:ext>
            </a:extLst>
          </p:cNvPr>
          <p:cNvSpPr txBox="1"/>
          <p:nvPr/>
        </p:nvSpPr>
        <p:spPr>
          <a:xfrm>
            <a:off x="750524" y="6488668"/>
            <a:ext cx="1184940" cy="369332"/>
          </a:xfrm>
          <a:prstGeom prst="rect">
            <a:avLst/>
          </a:prstGeom>
          <a:noFill/>
        </p:spPr>
        <p:txBody>
          <a:bodyPr wrap="none" rtlCol="0">
            <a:spAutoFit/>
          </a:bodyPr>
          <a:lstStyle/>
          <a:p>
            <a:r>
              <a:rPr lang="en-US" altLang="zh-CN" dirty="0"/>
              <a:t>7</a:t>
            </a:r>
            <a:r>
              <a:rPr lang="en-US" altLang="zh-CN" baseline="30000" dirty="0"/>
              <a:t>th</a:t>
            </a:r>
            <a:r>
              <a:rPr lang="en-US" altLang="zh-CN" dirty="0"/>
              <a:t> edition</a:t>
            </a:r>
            <a:endParaRPr lang="zh-CN" altLang="en-US" dirty="0"/>
          </a:p>
        </p:txBody>
      </p:sp>
    </p:spTree>
    <p:extLst>
      <p:ext uri="{BB962C8B-B14F-4D97-AF65-F5344CB8AC3E}">
        <p14:creationId xmlns:p14="http://schemas.microsoft.com/office/powerpoint/2010/main" val="14028346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a:extLst>
              <a:ext uri="{FF2B5EF4-FFF2-40B4-BE49-F238E27FC236}">
                <a16:creationId xmlns:a16="http://schemas.microsoft.com/office/drawing/2014/main" id="{837C4303-A66A-4FDC-BECA-0D2036629B8F}"/>
              </a:ext>
            </a:extLst>
          </p:cNvPr>
          <p:cNvSpPr>
            <a:spLocks noChangeArrowheads="1"/>
          </p:cNvSpPr>
          <p:nvPr/>
        </p:nvSpPr>
        <p:spPr bwMode="auto">
          <a:xfrm>
            <a:off x="304800" y="1219200"/>
            <a:ext cx="7848600" cy="1128713"/>
          </a:xfrm>
          <a:prstGeom prst="rect">
            <a:avLst/>
          </a:prstGeom>
          <a:noFill/>
          <a:ln w="9525">
            <a:noFill/>
            <a:miter lim="800000"/>
            <a:headEnd/>
            <a:tailEnd/>
          </a:ln>
          <a:effectLst/>
        </p:spPr>
        <p:txBody>
          <a:bodyPr>
            <a:spAutoFit/>
          </a:bodyPr>
          <a:lstStyle/>
          <a:p>
            <a:pPr>
              <a:defRPr/>
            </a:pPr>
            <a:r>
              <a:rPr kumimoji="0" lang="en-US" altLang="zh-CN" sz="3600" b="1" dirty="0">
                <a:solidFill>
                  <a:srgbClr val="000099"/>
                </a:solidFill>
                <a:latin typeface="Times New Roman" pitchFamily="18" charset="0"/>
                <a:cs typeface="Times New Roman" pitchFamily="18" charset="0"/>
              </a:rPr>
              <a:t>(complex II) :</a:t>
            </a:r>
          </a:p>
          <a:p>
            <a:pPr>
              <a:defRPr/>
            </a:pPr>
            <a:r>
              <a:rPr kumimoji="0" lang="en-US" altLang="zh-CN" sz="3200" dirty="0">
                <a:solidFill>
                  <a:srgbClr val="000099"/>
                </a:solidFill>
                <a:latin typeface="Times New Roman" pitchFamily="18" charset="0"/>
                <a:cs typeface="Times New Roman" pitchFamily="18" charset="0"/>
              </a:rPr>
              <a:t>succinate Dehydrogenase</a:t>
            </a:r>
          </a:p>
        </p:txBody>
      </p:sp>
      <p:sp>
        <p:nvSpPr>
          <p:cNvPr id="69635" name="Rectangle 3">
            <a:extLst>
              <a:ext uri="{FF2B5EF4-FFF2-40B4-BE49-F238E27FC236}">
                <a16:creationId xmlns:a16="http://schemas.microsoft.com/office/drawing/2014/main" id="{63EE0580-E10C-4254-AE8E-0C2841438E77}"/>
              </a:ext>
            </a:extLst>
          </p:cNvPr>
          <p:cNvSpPr>
            <a:spLocks noChangeArrowheads="1"/>
          </p:cNvSpPr>
          <p:nvPr/>
        </p:nvSpPr>
        <p:spPr bwMode="auto">
          <a:xfrm>
            <a:off x="228600" y="2971800"/>
            <a:ext cx="8077200"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t>FADH</a:t>
            </a:r>
            <a:r>
              <a:rPr lang="en-US" altLang="zh-CN" sz="3200" b="1" baseline="-25000" dirty="0"/>
              <a:t>2</a:t>
            </a:r>
            <a:r>
              <a:rPr lang="en-US" altLang="zh-CN" sz="3200" b="1" dirty="0"/>
              <a:t> of flavoproteins also transfer their electrons to ubiquinone (Q), with no H</a:t>
            </a:r>
            <a:r>
              <a:rPr lang="en-US" altLang="zh-CN" sz="3200" b="1" baseline="30000" dirty="0"/>
              <a:t>+ </a:t>
            </a:r>
            <a:r>
              <a:rPr lang="en-US" altLang="zh-CN" sz="3200" b="1" dirty="0"/>
              <a:t>pumped.</a:t>
            </a:r>
          </a:p>
          <a:p>
            <a:pPr eaLnBrk="1" hangingPunct="1"/>
            <a:endParaRPr lang="en-US" altLang="zh-CN" sz="3200" b="1" dirty="0"/>
          </a:p>
        </p:txBody>
      </p:sp>
    </p:spTree>
    <p:extLst>
      <p:ext uri="{BB962C8B-B14F-4D97-AF65-F5344CB8AC3E}">
        <p14:creationId xmlns:p14="http://schemas.microsoft.com/office/powerpoint/2010/main" val="19284884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6F63139-95A0-4C29-9658-9AEBAD7AA708}"/>
              </a:ext>
            </a:extLst>
          </p:cNvPr>
          <p:cNvPicPr>
            <a:picLocks noChangeAspect="1"/>
          </p:cNvPicPr>
          <p:nvPr/>
        </p:nvPicPr>
        <p:blipFill>
          <a:blip r:embed="rId3"/>
          <a:stretch>
            <a:fillRect/>
          </a:stretch>
        </p:blipFill>
        <p:spPr>
          <a:xfrm>
            <a:off x="1041579" y="0"/>
            <a:ext cx="7060842" cy="6858000"/>
          </a:xfrm>
          <a:prstGeom prst="rect">
            <a:avLst/>
          </a:prstGeom>
        </p:spPr>
      </p:pic>
      <p:sp>
        <p:nvSpPr>
          <p:cNvPr id="5" name="文本框 4">
            <a:extLst>
              <a:ext uri="{FF2B5EF4-FFF2-40B4-BE49-F238E27FC236}">
                <a16:creationId xmlns:a16="http://schemas.microsoft.com/office/drawing/2014/main" id="{83071D4B-CFF3-4C87-A69B-1C399CC7FA23}"/>
              </a:ext>
            </a:extLst>
          </p:cNvPr>
          <p:cNvSpPr txBox="1"/>
          <p:nvPr/>
        </p:nvSpPr>
        <p:spPr>
          <a:xfrm>
            <a:off x="1041579" y="6246856"/>
            <a:ext cx="3096344" cy="646331"/>
          </a:xfrm>
          <a:prstGeom prst="rect">
            <a:avLst/>
          </a:prstGeom>
          <a:noFill/>
        </p:spPr>
        <p:txBody>
          <a:bodyPr wrap="square">
            <a:spAutoFit/>
          </a:bodyPr>
          <a:lstStyle/>
          <a:p>
            <a:r>
              <a:rPr lang="en-US" altLang="zh-CN" b="1" dirty="0"/>
              <a:t>Structure of Complex II </a:t>
            </a:r>
          </a:p>
          <a:p>
            <a:r>
              <a:rPr lang="en-US" altLang="zh-CN" b="1" dirty="0"/>
              <a:t>(succinate dehydrogenase)</a:t>
            </a:r>
            <a:endParaRPr lang="zh-CN" altLang="en-US" b="1" dirty="0"/>
          </a:p>
        </p:txBody>
      </p:sp>
      <p:sp>
        <p:nvSpPr>
          <p:cNvPr id="6" name="文本框 5">
            <a:extLst>
              <a:ext uri="{FF2B5EF4-FFF2-40B4-BE49-F238E27FC236}">
                <a16:creationId xmlns:a16="http://schemas.microsoft.com/office/drawing/2014/main" id="{A2B4C795-25A2-486A-8698-5DDF4DB1DB0E}"/>
              </a:ext>
            </a:extLst>
          </p:cNvPr>
          <p:cNvSpPr txBox="1"/>
          <p:nvPr/>
        </p:nvSpPr>
        <p:spPr>
          <a:xfrm>
            <a:off x="6987460" y="6488668"/>
            <a:ext cx="1184940" cy="369332"/>
          </a:xfrm>
          <a:prstGeom prst="rect">
            <a:avLst/>
          </a:prstGeom>
          <a:noFill/>
        </p:spPr>
        <p:txBody>
          <a:bodyPr wrap="none" rtlCol="0">
            <a:spAutoFit/>
          </a:bodyPr>
          <a:lstStyle/>
          <a:p>
            <a:r>
              <a:rPr lang="en-US" altLang="zh-CN" dirty="0"/>
              <a:t>7</a:t>
            </a:r>
            <a:r>
              <a:rPr lang="en-US" altLang="zh-CN" baseline="30000" dirty="0"/>
              <a:t>th</a:t>
            </a:r>
            <a:r>
              <a:rPr lang="en-US" altLang="zh-CN" dirty="0"/>
              <a:t> edition</a:t>
            </a:r>
            <a:endParaRPr lang="zh-CN" altLang="en-US" dirty="0"/>
          </a:p>
        </p:txBody>
      </p:sp>
    </p:spTree>
    <p:extLst>
      <p:ext uri="{BB962C8B-B14F-4D97-AF65-F5344CB8AC3E}">
        <p14:creationId xmlns:p14="http://schemas.microsoft.com/office/powerpoint/2010/main" val="16518243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BB53A9BA-2129-4AEA-B138-996D849D4EA8}"/>
              </a:ext>
            </a:extLst>
          </p:cNvPr>
          <p:cNvPicPr>
            <a:picLocks noChangeAspect="1"/>
          </p:cNvPicPr>
          <p:nvPr/>
        </p:nvPicPr>
        <p:blipFill>
          <a:blip r:embed="rId3"/>
          <a:stretch>
            <a:fillRect/>
          </a:stretch>
        </p:blipFill>
        <p:spPr>
          <a:xfrm>
            <a:off x="568854" y="0"/>
            <a:ext cx="8006292" cy="6858000"/>
          </a:xfrm>
          <a:prstGeom prst="rect">
            <a:avLst/>
          </a:prstGeom>
        </p:spPr>
      </p:pic>
      <p:sp>
        <p:nvSpPr>
          <p:cNvPr id="4" name="文本框 3">
            <a:extLst>
              <a:ext uri="{FF2B5EF4-FFF2-40B4-BE49-F238E27FC236}">
                <a16:creationId xmlns:a16="http://schemas.microsoft.com/office/drawing/2014/main" id="{67F385D7-48CA-42E3-8963-3585A81D8A1E}"/>
              </a:ext>
            </a:extLst>
          </p:cNvPr>
          <p:cNvSpPr txBox="1"/>
          <p:nvPr/>
        </p:nvSpPr>
        <p:spPr>
          <a:xfrm>
            <a:off x="539552" y="6488668"/>
            <a:ext cx="1184940" cy="369332"/>
          </a:xfrm>
          <a:prstGeom prst="rect">
            <a:avLst/>
          </a:prstGeom>
          <a:noFill/>
        </p:spPr>
        <p:txBody>
          <a:bodyPr wrap="none" rtlCol="0">
            <a:spAutoFit/>
          </a:bodyPr>
          <a:lstStyle/>
          <a:p>
            <a:r>
              <a:rPr lang="en-US" altLang="zh-CN" dirty="0"/>
              <a:t>7</a:t>
            </a:r>
            <a:r>
              <a:rPr lang="en-US" altLang="zh-CN" baseline="30000" dirty="0"/>
              <a:t>th</a:t>
            </a:r>
            <a:r>
              <a:rPr lang="en-US" altLang="zh-CN" dirty="0"/>
              <a:t> edition</a:t>
            </a:r>
            <a:endParaRPr lang="zh-CN" altLang="en-US" dirty="0"/>
          </a:p>
        </p:txBody>
      </p:sp>
    </p:spTree>
    <p:extLst>
      <p:ext uri="{BB962C8B-B14F-4D97-AF65-F5344CB8AC3E}">
        <p14:creationId xmlns:p14="http://schemas.microsoft.com/office/powerpoint/2010/main" val="86410026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3" descr="f19-8">
            <a:extLst>
              <a:ext uri="{FF2B5EF4-FFF2-40B4-BE49-F238E27FC236}">
                <a16:creationId xmlns:a16="http://schemas.microsoft.com/office/drawing/2014/main" id="{B62F9B9D-DE1F-4CFD-8B2D-7CFBDD5C004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177255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2">
            <a:extLst>
              <a:ext uri="{FF2B5EF4-FFF2-40B4-BE49-F238E27FC236}">
                <a16:creationId xmlns:a16="http://schemas.microsoft.com/office/drawing/2014/main" id="{BACD7C10-84A9-4D54-9ED5-A8E97DC9FA9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9891" t="8791" r="8791" b="9891"/>
          <a:stretch>
            <a:fillRect/>
          </a:stretch>
        </p:blipFill>
        <p:spPr bwMode="auto">
          <a:xfrm>
            <a:off x="609600" y="381000"/>
            <a:ext cx="76200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6305455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1048B993-78E9-4989-92FE-0987490A127C}"/>
              </a:ext>
            </a:extLst>
          </p:cNvPr>
          <p:cNvSpPr>
            <a:spLocks noChangeArrowheads="1"/>
          </p:cNvSpPr>
          <p:nvPr/>
        </p:nvSpPr>
        <p:spPr bwMode="auto">
          <a:xfrm>
            <a:off x="0" y="1066800"/>
            <a:ext cx="8915400" cy="2923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sz="3600" b="1" dirty="0">
                <a:solidFill>
                  <a:srgbClr val="000099"/>
                </a:solidFill>
              </a:rPr>
              <a:t>(Complex III)</a:t>
            </a:r>
            <a:r>
              <a:rPr lang="en-US" altLang="zh-CN" sz="2800" b="1" dirty="0">
                <a:solidFill>
                  <a:srgbClr val="000099"/>
                </a:solidFill>
              </a:rPr>
              <a:t> </a:t>
            </a:r>
          </a:p>
          <a:p>
            <a:pPr eaLnBrk="1" hangingPunct="1">
              <a:lnSpc>
                <a:spcPct val="120000"/>
              </a:lnSpc>
            </a:pPr>
            <a:r>
              <a:rPr lang="en-US" altLang="zh-CN" sz="3200" b="1" dirty="0">
                <a:solidFill>
                  <a:srgbClr val="000099"/>
                </a:solidFill>
              </a:rPr>
              <a:t>Cytochrome </a:t>
            </a:r>
            <a:r>
              <a:rPr lang="en-US" altLang="zh-CN" sz="3200" b="1" i="1" dirty="0">
                <a:solidFill>
                  <a:srgbClr val="000099"/>
                </a:solidFill>
              </a:rPr>
              <a:t>bc</a:t>
            </a:r>
            <a:r>
              <a:rPr lang="en-US" altLang="zh-CN" sz="3200" b="1" baseline="-25000" dirty="0">
                <a:solidFill>
                  <a:srgbClr val="000099"/>
                </a:solidFill>
              </a:rPr>
              <a:t>1</a:t>
            </a:r>
            <a:r>
              <a:rPr lang="en-US" altLang="zh-CN" sz="3200" b="1" dirty="0">
                <a:solidFill>
                  <a:srgbClr val="000099"/>
                </a:solidFill>
              </a:rPr>
              <a:t> complex passes 2e</a:t>
            </a:r>
            <a:r>
              <a:rPr lang="en-US" altLang="zh-CN" sz="3200" b="1" baseline="30000" dirty="0">
                <a:solidFill>
                  <a:srgbClr val="000099"/>
                </a:solidFill>
              </a:rPr>
              <a:t>-</a:t>
            </a:r>
            <a:r>
              <a:rPr lang="en-US" altLang="zh-CN" sz="3200" b="1" dirty="0">
                <a:solidFill>
                  <a:srgbClr val="000099"/>
                </a:solidFill>
              </a:rPr>
              <a:t> from 1 QH</a:t>
            </a:r>
            <a:r>
              <a:rPr lang="en-US" altLang="zh-CN" sz="3200" b="1" baseline="-25000" dirty="0">
                <a:solidFill>
                  <a:srgbClr val="000099"/>
                </a:solidFill>
              </a:rPr>
              <a:t>2</a:t>
            </a:r>
            <a:r>
              <a:rPr lang="en-US" altLang="zh-CN" sz="3200" b="1" dirty="0">
                <a:solidFill>
                  <a:srgbClr val="000099"/>
                </a:solidFill>
              </a:rPr>
              <a:t> to 2 cytochrome </a:t>
            </a:r>
            <a:r>
              <a:rPr lang="en-US" altLang="zh-CN" sz="3200" b="1" i="1" dirty="0">
                <a:solidFill>
                  <a:srgbClr val="000099"/>
                </a:solidFill>
              </a:rPr>
              <a:t>c</a:t>
            </a:r>
          </a:p>
          <a:p>
            <a:pPr eaLnBrk="1" hangingPunct="1"/>
            <a:endParaRPr lang="en-US" altLang="zh-CN" sz="3200" b="1" dirty="0">
              <a:solidFill>
                <a:srgbClr val="000099"/>
              </a:solidFill>
            </a:endParaRPr>
          </a:p>
          <a:p>
            <a:pPr eaLnBrk="1" hangingPunct="1"/>
            <a:endParaRPr lang="en-US" altLang="zh-CN" sz="3200" b="1" dirty="0">
              <a:solidFill>
                <a:srgbClr val="000099"/>
              </a:solidFill>
            </a:endParaRPr>
          </a:p>
        </p:txBody>
      </p:sp>
      <p:sp>
        <p:nvSpPr>
          <p:cNvPr id="72707" name="Rectangle 3">
            <a:extLst>
              <a:ext uri="{FF2B5EF4-FFF2-40B4-BE49-F238E27FC236}">
                <a16:creationId xmlns:a16="http://schemas.microsoft.com/office/drawing/2014/main" id="{723F46C2-3BA1-4197-B890-F54BABB481FA}"/>
              </a:ext>
            </a:extLst>
          </p:cNvPr>
          <p:cNvSpPr>
            <a:spLocks noChangeArrowheads="1"/>
          </p:cNvSpPr>
          <p:nvPr/>
        </p:nvSpPr>
        <p:spPr bwMode="auto">
          <a:xfrm>
            <a:off x="228600" y="3733800"/>
            <a:ext cx="8610600"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solidFill>
                  <a:srgbClr val="000099"/>
                </a:solidFill>
              </a:rPr>
              <a:t>e</a:t>
            </a:r>
            <a:r>
              <a:rPr lang="en-US" altLang="zh-CN" sz="3200" b="1" baseline="30000" dirty="0">
                <a:solidFill>
                  <a:srgbClr val="000099"/>
                </a:solidFill>
              </a:rPr>
              <a:t>-</a:t>
            </a:r>
            <a:r>
              <a:rPr lang="en-US" altLang="zh-CN" sz="3200" b="1" dirty="0">
                <a:solidFill>
                  <a:srgbClr val="000099"/>
                </a:solidFill>
              </a:rPr>
              <a:t> transferring &amp; H</a:t>
            </a:r>
            <a:r>
              <a:rPr lang="en-US" altLang="zh-CN" sz="3200" b="1" baseline="30000" dirty="0">
                <a:solidFill>
                  <a:srgbClr val="000099"/>
                </a:solidFill>
              </a:rPr>
              <a:t>+</a:t>
            </a:r>
            <a:r>
              <a:rPr lang="en-US" altLang="zh-CN" sz="3200" b="1" dirty="0">
                <a:solidFill>
                  <a:srgbClr val="000099"/>
                </a:solidFill>
              </a:rPr>
              <a:t> pumping in Complex III via the Q cycle (for each 2 e</a:t>
            </a:r>
            <a:r>
              <a:rPr lang="en-US" altLang="zh-CN" sz="3200" b="1" baseline="30000" dirty="0">
                <a:solidFill>
                  <a:srgbClr val="000099"/>
                </a:solidFill>
              </a:rPr>
              <a:t>- </a:t>
            </a:r>
            <a:r>
              <a:rPr lang="en-US" altLang="zh-CN" sz="3200" b="1" dirty="0">
                <a:solidFill>
                  <a:srgbClr val="000099"/>
                </a:solidFill>
              </a:rPr>
              <a:t>transferred, 4H</a:t>
            </a:r>
            <a:r>
              <a:rPr lang="en-US" altLang="zh-CN" sz="3200" b="1" baseline="30000" dirty="0">
                <a:solidFill>
                  <a:srgbClr val="000099"/>
                </a:solidFill>
              </a:rPr>
              <a:t>+</a:t>
            </a:r>
            <a:r>
              <a:rPr lang="en-US" altLang="zh-CN" sz="3200" b="1" dirty="0">
                <a:solidFill>
                  <a:srgbClr val="000099"/>
                </a:solidFill>
              </a:rPr>
              <a:t> are released at the P side and 2H</a:t>
            </a:r>
            <a:r>
              <a:rPr lang="en-US" altLang="zh-CN" sz="3200" b="1" baseline="30000" dirty="0">
                <a:solidFill>
                  <a:srgbClr val="000099"/>
                </a:solidFill>
              </a:rPr>
              <a:t>+</a:t>
            </a:r>
            <a:r>
              <a:rPr lang="en-US" altLang="zh-CN" sz="3200" b="1" dirty="0">
                <a:solidFill>
                  <a:srgbClr val="000099"/>
                </a:solidFill>
              </a:rPr>
              <a:t> taken from the N side)</a:t>
            </a:r>
          </a:p>
        </p:txBody>
      </p:sp>
    </p:spTree>
    <p:extLst>
      <p:ext uri="{BB962C8B-B14F-4D97-AF65-F5344CB8AC3E}">
        <p14:creationId xmlns:p14="http://schemas.microsoft.com/office/powerpoint/2010/main" val="68502184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0" name="Picture 2">
            <a:extLst>
              <a:ext uri="{FF2B5EF4-FFF2-40B4-BE49-F238E27FC236}">
                <a16:creationId xmlns:a16="http://schemas.microsoft.com/office/drawing/2014/main" id="{A755DDB3-12B1-4193-9B8A-BA4EA15D7ED3}"/>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0001" t="10001" r="10001" b="25668"/>
          <a:stretch/>
        </p:blipFill>
        <p:spPr bwMode="auto">
          <a:xfrm>
            <a:off x="914400" y="457200"/>
            <a:ext cx="7315200" cy="4411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593196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4">
            <a:extLst>
              <a:ext uri="{FF2B5EF4-FFF2-40B4-BE49-F238E27FC236}">
                <a16:creationId xmlns:a16="http://schemas.microsoft.com/office/drawing/2014/main" id="{96721B32-F5F2-40B9-A511-1505D41DDDA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533400"/>
            <a:ext cx="6858000" cy="606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8059871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Picture 2">
            <a:extLst>
              <a:ext uri="{FF2B5EF4-FFF2-40B4-BE49-F238E27FC236}">
                <a16:creationId xmlns:a16="http://schemas.microsoft.com/office/drawing/2014/main" id="{72BCE816-BB8E-4E26-B7C8-269A7EFDCB1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1100" y="711200"/>
            <a:ext cx="67818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4498874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2" descr="f19-11">
            <a:extLst>
              <a:ext uri="{FF2B5EF4-FFF2-40B4-BE49-F238E27FC236}">
                <a16:creationId xmlns:a16="http://schemas.microsoft.com/office/drawing/2014/main" id="{59A103F5-FC42-46D3-A147-5B6F5CF5FAE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3" name="Rectangle 4">
            <a:extLst>
              <a:ext uri="{FF2B5EF4-FFF2-40B4-BE49-F238E27FC236}">
                <a16:creationId xmlns:a16="http://schemas.microsoft.com/office/drawing/2014/main" id="{6D83FCCC-A0FD-4933-93A6-90C44D5F4458}"/>
              </a:ext>
            </a:extLst>
          </p:cNvPr>
          <p:cNvSpPr>
            <a:spLocks noChangeArrowheads="1"/>
          </p:cNvSpPr>
          <p:nvPr/>
        </p:nvSpPr>
        <p:spPr bwMode="auto">
          <a:xfrm>
            <a:off x="2051050" y="2349500"/>
            <a:ext cx="9080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FF0000"/>
                </a:solidFill>
                <a:latin typeface="Arial Black" panose="020B0A04020102020204" pitchFamily="34" charset="0"/>
                <a:ea typeface="隶书" panose="02010509060101010101" pitchFamily="49" charset="-122"/>
              </a:rPr>
              <a:t>The Q </a:t>
            </a:r>
          </a:p>
          <a:p>
            <a:pPr eaLnBrk="1" hangingPunct="1"/>
            <a:r>
              <a:rPr lang="en-US" altLang="zh-CN" sz="1600" b="1">
                <a:solidFill>
                  <a:srgbClr val="FF0000"/>
                </a:solidFill>
                <a:latin typeface="Arial Black" panose="020B0A04020102020204" pitchFamily="34" charset="0"/>
                <a:ea typeface="隶书" panose="02010509060101010101" pitchFamily="49" charset="-122"/>
              </a:rPr>
              <a:t>cycle</a:t>
            </a:r>
          </a:p>
        </p:txBody>
      </p:sp>
      <p:sp>
        <p:nvSpPr>
          <p:cNvPr id="76804" name="Rectangle 5">
            <a:extLst>
              <a:ext uri="{FF2B5EF4-FFF2-40B4-BE49-F238E27FC236}">
                <a16:creationId xmlns:a16="http://schemas.microsoft.com/office/drawing/2014/main" id="{70B198FF-4A37-47AC-872D-5FED7AC70E08}"/>
              </a:ext>
            </a:extLst>
          </p:cNvPr>
          <p:cNvSpPr>
            <a:spLocks noChangeArrowheads="1"/>
          </p:cNvSpPr>
          <p:nvPr/>
        </p:nvSpPr>
        <p:spPr bwMode="auto">
          <a:xfrm>
            <a:off x="6877050" y="2349500"/>
            <a:ext cx="8382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a:solidFill>
                  <a:srgbClr val="FF0000"/>
                </a:solidFill>
                <a:latin typeface="Arial Black" panose="020B0A04020102020204" pitchFamily="34" charset="0"/>
              </a:rPr>
              <a:t>The Q</a:t>
            </a:r>
          </a:p>
          <a:p>
            <a:pPr eaLnBrk="1" hangingPunct="1"/>
            <a:r>
              <a:rPr lang="en-US" altLang="zh-CN" sz="1600">
                <a:solidFill>
                  <a:srgbClr val="FF0000"/>
                </a:solidFill>
                <a:latin typeface="Arial Black" panose="020B0A04020102020204" pitchFamily="34" charset="0"/>
              </a:rPr>
              <a:t>cycle</a:t>
            </a:r>
          </a:p>
        </p:txBody>
      </p:sp>
      <p:sp>
        <p:nvSpPr>
          <p:cNvPr id="76805" name="Rectangle 6">
            <a:extLst>
              <a:ext uri="{FF2B5EF4-FFF2-40B4-BE49-F238E27FC236}">
                <a16:creationId xmlns:a16="http://schemas.microsoft.com/office/drawing/2014/main" id="{C7AA9E26-EF53-43DD-A245-B9F72A01E1D0}"/>
              </a:ext>
            </a:extLst>
          </p:cNvPr>
          <p:cNvSpPr>
            <a:spLocks noChangeArrowheads="1"/>
          </p:cNvSpPr>
          <p:nvPr/>
        </p:nvSpPr>
        <p:spPr bwMode="auto">
          <a:xfrm>
            <a:off x="2411413" y="3860800"/>
            <a:ext cx="1135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1</a:t>
            </a:r>
            <a:r>
              <a:rPr lang="en-US" altLang="zh-CN" b="1" baseline="30000" dirty="0"/>
              <a:t>st</a:t>
            </a:r>
            <a:r>
              <a:rPr lang="en-US" altLang="zh-CN" b="1" dirty="0"/>
              <a:t> QH</a:t>
            </a:r>
            <a:r>
              <a:rPr lang="en-US" altLang="zh-CN" b="1" baseline="-25000" dirty="0"/>
              <a:t>2</a:t>
            </a:r>
          </a:p>
        </p:txBody>
      </p:sp>
      <p:sp>
        <p:nvSpPr>
          <p:cNvPr id="76806" name="Line 7">
            <a:extLst>
              <a:ext uri="{FF2B5EF4-FFF2-40B4-BE49-F238E27FC236}">
                <a16:creationId xmlns:a16="http://schemas.microsoft.com/office/drawing/2014/main" id="{8DFD6E82-2BD2-46B1-94F1-5972059C8CA8}"/>
              </a:ext>
            </a:extLst>
          </p:cNvPr>
          <p:cNvSpPr>
            <a:spLocks noChangeShapeType="1"/>
          </p:cNvSpPr>
          <p:nvPr/>
        </p:nvSpPr>
        <p:spPr bwMode="auto">
          <a:xfrm flipV="1">
            <a:off x="2771775" y="2781300"/>
            <a:ext cx="200025" cy="1125538"/>
          </a:xfrm>
          <a:prstGeom prst="line">
            <a:avLst/>
          </a:prstGeom>
          <a:noFill/>
          <a:ln w="9525">
            <a:solidFill>
              <a:schemeClr val="folHlink"/>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dirty="0">
              <a:latin typeface="Times New Roman" pitchFamily="18" charset="0"/>
            </a:endParaRPr>
          </a:p>
        </p:txBody>
      </p:sp>
      <p:sp>
        <p:nvSpPr>
          <p:cNvPr id="76807" name="Rectangle 8">
            <a:extLst>
              <a:ext uri="{FF2B5EF4-FFF2-40B4-BE49-F238E27FC236}">
                <a16:creationId xmlns:a16="http://schemas.microsoft.com/office/drawing/2014/main" id="{77EB87F4-8F60-4782-91CE-5882386867E4}"/>
              </a:ext>
            </a:extLst>
          </p:cNvPr>
          <p:cNvSpPr>
            <a:spLocks noChangeArrowheads="1"/>
          </p:cNvSpPr>
          <p:nvPr/>
        </p:nvSpPr>
        <p:spPr bwMode="auto">
          <a:xfrm>
            <a:off x="7019925" y="3860800"/>
            <a:ext cx="1212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2</a:t>
            </a:r>
            <a:r>
              <a:rPr lang="en-US" altLang="zh-CN" b="1" baseline="30000" dirty="0"/>
              <a:t>nd</a:t>
            </a:r>
            <a:r>
              <a:rPr lang="en-US" altLang="zh-CN" b="1" dirty="0"/>
              <a:t> QH</a:t>
            </a:r>
            <a:r>
              <a:rPr lang="en-US" altLang="zh-CN" b="1" baseline="-25000" dirty="0"/>
              <a:t>2</a:t>
            </a:r>
          </a:p>
        </p:txBody>
      </p:sp>
      <p:sp>
        <p:nvSpPr>
          <p:cNvPr id="76808" name="Line 9">
            <a:extLst>
              <a:ext uri="{FF2B5EF4-FFF2-40B4-BE49-F238E27FC236}">
                <a16:creationId xmlns:a16="http://schemas.microsoft.com/office/drawing/2014/main" id="{5776E1C9-D409-4E68-B489-E8312B67827B}"/>
              </a:ext>
            </a:extLst>
          </p:cNvPr>
          <p:cNvSpPr>
            <a:spLocks noChangeShapeType="1"/>
          </p:cNvSpPr>
          <p:nvPr/>
        </p:nvSpPr>
        <p:spPr bwMode="auto">
          <a:xfrm flipV="1">
            <a:off x="7596188" y="2781300"/>
            <a:ext cx="100012" cy="1270000"/>
          </a:xfrm>
          <a:prstGeom prst="line">
            <a:avLst/>
          </a:prstGeom>
          <a:noFill/>
          <a:ln w="9525">
            <a:solidFill>
              <a:schemeClr val="folHlink"/>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dirty="0">
              <a:latin typeface="Times New Roman" pitchFamily="18" charset="0"/>
            </a:endParaRPr>
          </a:p>
        </p:txBody>
      </p:sp>
      <p:sp>
        <p:nvSpPr>
          <p:cNvPr id="76809" name="Rectangle 10">
            <a:extLst>
              <a:ext uri="{FF2B5EF4-FFF2-40B4-BE49-F238E27FC236}">
                <a16:creationId xmlns:a16="http://schemas.microsoft.com/office/drawing/2014/main" id="{B2E45FC1-7CAC-44B7-A123-97896934DF4F}"/>
              </a:ext>
            </a:extLst>
          </p:cNvPr>
          <p:cNvSpPr>
            <a:spLocks noChangeArrowheads="1"/>
          </p:cNvSpPr>
          <p:nvPr/>
        </p:nvSpPr>
        <p:spPr bwMode="auto">
          <a:xfrm>
            <a:off x="3048000" y="2362200"/>
            <a:ext cx="4780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err="1">
                <a:solidFill>
                  <a:srgbClr val="0000FF"/>
                </a:solidFill>
              </a:rPr>
              <a:t>Q</a:t>
            </a:r>
            <a:r>
              <a:rPr lang="en-US" altLang="zh-CN" sz="2000" b="1" baseline="-25000" dirty="0" err="1">
                <a:solidFill>
                  <a:srgbClr val="0000FF"/>
                </a:solidFill>
              </a:rPr>
              <a:t>p</a:t>
            </a:r>
            <a:endParaRPr lang="en-US" altLang="zh-CN" sz="2000" b="1" baseline="-25000" dirty="0">
              <a:solidFill>
                <a:srgbClr val="0000FF"/>
              </a:solidFill>
            </a:endParaRPr>
          </a:p>
        </p:txBody>
      </p:sp>
      <p:sp>
        <p:nvSpPr>
          <p:cNvPr id="76810" name="Rectangle 11">
            <a:extLst>
              <a:ext uri="{FF2B5EF4-FFF2-40B4-BE49-F238E27FC236}">
                <a16:creationId xmlns:a16="http://schemas.microsoft.com/office/drawing/2014/main" id="{F99605DC-5B07-4E64-B314-0AEF8EB85F49}"/>
              </a:ext>
            </a:extLst>
          </p:cNvPr>
          <p:cNvSpPr>
            <a:spLocks noChangeArrowheads="1"/>
          </p:cNvSpPr>
          <p:nvPr/>
        </p:nvSpPr>
        <p:spPr bwMode="auto">
          <a:xfrm>
            <a:off x="7696200" y="2362200"/>
            <a:ext cx="4780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err="1">
                <a:solidFill>
                  <a:srgbClr val="0000FF"/>
                </a:solidFill>
              </a:rPr>
              <a:t>Q</a:t>
            </a:r>
            <a:r>
              <a:rPr lang="en-US" altLang="zh-CN" sz="2000" b="1" baseline="-25000" dirty="0" err="1">
                <a:solidFill>
                  <a:srgbClr val="0000FF"/>
                </a:solidFill>
              </a:rPr>
              <a:t>p</a:t>
            </a:r>
            <a:endParaRPr lang="en-US" altLang="zh-CN" sz="2000" b="1" baseline="-25000" dirty="0">
              <a:solidFill>
                <a:srgbClr val="0000FF"/>
              </a:solidFill>
            </a:endParaRPr>
          </a:p>
        </p:txBody>
      </p:sp>
      <p:sp>
        <p:nvSpPr>
          <p:cNvPr id="76811" name="Rectangle 12">
            <a:extLst>
              <a:ext uri="{FF2B5EF4-FFF2-40B4-BE49-F238E27FC236}">
                <a16:creationId xmlns:a16="http://schemas.microsoft.com/office/drawing/2014/main" id="{67DEA67C-70EE-4831-A080-458888E06D24}"/>
              </a:ext>
            </a:extLst>
          </p:cNvPr>
          <p:cNvSpPr>
            <a:spLocks noChangeArrowheads="1"/>
          </p:cNvSpPr>
          <p:nvPr/>
        </p:nvSpPr>
        <p:spPr bwMode="auto">
          <a:xfrm>
            <a:off x="2843213" y="3213100"/>
            <a:ext cx="50687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FF"/>
                </a:solidFill>
              </a:rPr>
              <a:t>Q</a:t>
            </a:r>
            <a:r>
              <a:rPr lang="en-US" altLang="zh-CN" sz="2000" b="1" baseline="-25000" dirty="0">
                <a:solidFill>
                  <a:srgbClr val="0000FF"/>
                </a:solidFill>
              </a:rPr>
              <a:t>N</a:t>
            </a:r>
          </a:p>
        </p:txBody>
      </p:sp>
      <p:sp>
        <p:nvSpPr>
          <p:cNvPr id="76812" name="Rectangle 13">
            <a:extLst>
              <a:ext uri="{FF2B5EF4-FFF2-40B4-BE49-F238E27FC236}">
                <a16:creationId xmlns:a16="http://schemas.microsoft.com/office/drawing/2014/main" id="{E2EC1C90-4FDE-4784-95DC-0FBE9CCA8DFC}"/>
              </a:ext>
            </a:extLst>
          </p:cNvPr>
          <p:cNvSpPr>
            <a:spLocks noChangeArrowheads="1"/>
          </p:cNvSpPr>
          <p:nvPr/>
        </p:nvSpPr>
        <p:spPr bwMode="auto">
          <a:xfrm>
            <a:off x="7620000" y="3276600"/>
            <a:ext cx="50687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FF"/>
                </a:solidFill>
              </a:rPr>
              <a:t>Q</a:t>
            </a:r>
            <a:r>
              <a:rPr lang="en-US" altLang="zh-CN" sz="2000" b="1" baseline="-25000" dirty="0">
                <a:solidFill>
                  <a:srgbClr val="0000FF"/>
                </a:solidFill>
              </a:rPr>
              <a:t>N</a:t>
            </a:r>
          </a:p>
        </p:txBody>
      </p:sp>
      <p:sp>
        <p:nvSpPr>
          <p:cNvPr id="76813" name="Rectangle 14">
            <a:extLst>
              <a:ext uri="{FF2B5EF4-FFF2-40B4-BE49-F238E27FC236}">
                <a16:creationId xmlns:a16="http://schemas.microsoft.com/office/drawing/2014/main" id="{8AC69123-4DEC-4475-82E3-0804EB5A5246}"/>
              </a:ext>
            </a:extLst>
          </p:cNvPr>
          <p:cNvSpPr>
            <a:spLocks noChangeArrowheads="1"/>
          </p:cNvSpPr>
          <p:nvPr/>
        </p:nvSpPr>
        <p:spPr bwMode="auto">
          <a:xfrm>
            <a:off x="2411413" y="4437063"/>
            <a:ext cx="221733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dirty="0">
                <a:solidFill>
                  <a:srgbClr val="FF0000"/>
                </a:solidFill>
              </a:rPr>
              <a:t>A switch between 2e</a:t>
            </a:r>
            <a:r>
              <a:rPr lang="en-US" altLang="zh-CN" sz="1800" b="1" baseline="30000" dirty="0">
                <a:solidFill>
                  <a:srgbClr val="FF0000"/>
                </a:solidFill>
              </a:rPr>
              <a:t>-</a:t>
            </a:r>
          </a:p>
          <a:p>
            <a:pPr eaLnBrk="1" hangingPunct="1"/>
            <a:r>
              <a:rPr lang="en-US" altLang="zh-CN" sz="1800" b="1" dirty="0">
                <a:solidFill>
                  <a:srgbClr val="FF0000"/>
                </a:solidFill>
              </a:rPr>
              <a:t>carrier (QH</a:t>
            </a:r>
            <a:r>
              <a:rPr lang="en-US" altLang="zh-CN" sz="1800" b="1" baseline="-25000" dirty="0">
                <a:solidFill>
                  <a:srgbClr val="FF0000"/>
                </a:solidFill>
              </a:rPr>
              <a:t>2</a:t>
            </a:r>
            <a:r>
              <a:rPr lang="en-US" altLang="zh-CN" sz="1800" b="1" dirty="0">
                <a:solidFill>
                  <a:srgbClr val="FF0000"/>
                </a:solidFill>
              </a:rPr>
              <a:t>) and </a:t>
            </a:r>
          </a:p>
          <a:p>
            <a:pPr eaLnBrk="1" hangingPunct="1"/>
            <a:r>
              <a:rPr lang="en-US" altLang="zh-CN" sz="1800" b="1" dirty="0">
                <a:solidFill>
                  <a:srgbClr val="FF0000"/>
                </a:solidFill>
              </a:rPr>
              <a:t>1e</a:t>
            </a:r>
            <a:r>
              <a:rPr lang="en-US" altLang="zh-CN" sz="1800" b="1" baseline="30000" dirty="0">
                <a:solidFill>
                  <a:srgbClr val="FF0000"/>
                </a:solidFill>
              </a:rPr>
              <a:t>-</a:t>
            </a:r>
            <a:r>
              <a:rPr lang="en-US" altLang="zh-CN" sz="1800" b="1" dirty="0">
                <a:solidFill>
                  <a:srgbClr val="FF0000"/>
                </a:solidFill>
              </a:rPr>
              <a:t> carrier (</a:t>
            </a:r>
            <a:r>
              <a:rPr lang="en-US" altLang="zh-CN" sz="1800" b="1" dirty="0" err="1">
                <a:solidFill>
                  <a:srgbClr val="FF0000"/>
                </a:solidFill>
              </a:rPr>
              <a:t>Cyt</a:t>
            </a:r>
            <a:r>
              <a:rPr lang="en-US" altLang="zh-CN" sz="1800" b="1" dirty="0">
                <a:solidFill>
                  <a:srgbClr val="FF0000"/>
                </a:solidFill>
              </a:rPr>
              <a:t> c)</a:t>
            </a:r>
          </a:p>
        </p:txBody>
      </p:sp>
    </p:spTree>
    <p:extLst>
      <p:ext uri="{BB962C8B-B14F-4D97-AF65-F5344CB8AC3E}">
        <p14:creationId xmlns:p14="http://schemas.microsoft.com/office/powerpoint/2010/main" val="112624478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0B6DC5C6-3AB0-456C-A3CE-371A9D7E07DA}"/>
              </a:ext>
            </a:extLst>
          </p:cNvPr>
          <p:cNvPicPr>
            <a:picLocks noChangeAspect="1"/>
          </p:cNvPicPr>
          <p:nvPr/>
        </p:nvPicPr>
        <p:blipFill>
          <a:blip r:embed="rId2"/>
          <a:stretch>
            <a:fillRect/>
          </a:stretch>
        </p:blipFill>
        <p:spPr>
          <a:xfrm>
            <a:off x="0" y="156549"/>
            <a:ext cx="9144000" cy="6544901"/>
          </a:xfrm>
          <a:prstGeom prst="rect">
            <a:avLst/>
          </a:prstGeom>
        </p:spPr>
      </p:pic>
    </p:spTree>
    <p:extLst>
      <p:ext uri="{BB962C8B-B14F-4D97-AF65-F5344CB8AC3E}">
        <p14:creationId xmlns:p14="http://schemas.microsoft.com/office/powerpoint/2010/main" val="293842596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3BA865F0-DA28-41FC-A9B1-70D211CAF673}"/>
              </a:ext>
            </a:extLst>
          </p:cNvPr>
          <p:cNvSpPr>
            <a:spLocks noChangeArrowheads="1"/>
          </p:cNvSpPr>
          <p:nvPr/>
        </p:nvSpPr>
        <p:spPr bwMode="auto">
          <a:xfrm>
            <a:off x="47625" y="2055813"/>
            <a:ext cx="8001999" cy="2477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100" b="1" dirty="0">
                <a:solidFill>
                  <a:srgbClr val="000099"/>
                </a:solidFill>
              </a:rPr>
              <a:t>Complex IV :</a:t>
            </a:r>
          </a:p>
          <a:p>
            <a:pPr eaLnBrk="1" hangingPunct="1"/>
            <a:r>
              <a:rPr lang="en-US" altLang="zh-CN" sz="3100" b="1" dirty="0">
                <a:solidFill>
                  <a:srgbClr val="FF0000"/>
                </a:solidFill>
              </a:rPr>
              <a:t>Cytochrome </a:t>
            </a:r>
            <a:r>
              <a:rPr lang="en-US" altLang="zh-CN" sz="3100" b="1" i="1" dirty="0">
                <a:solidFill>
                  <a:srgbClr val="FF0000"/>
                </a:solidFill>
              </a:rPr>
              <a:t>c </a:t>
            </a:r>
            <a:r>
              <a:rPr lang="en-US" altLang="zh-CN" sz="3100" b="1" dirty="0">
                <a:solidFill>
                  <a:srgbClr val="FF0000"/>
                </a:solidFill>
              </a:rPr>
              <a:t>oxidase</a:t>
            </a:r>
            <a:r>
              <a:rPr lang="en-US" altLang="zh-CN" sz="3100" b="1" dirty="0">
                <a:solidFill>
                  <a:srgbClr val="000099"/>
                </a:solidFill>
              </a:rPr>
              <a:t>, the terminal</a:t>
            </a:r>
          </a:p>
          <a:p>
            <a:pPr eaLnBrk="1" hangingPunct="1"/>
            <a:r>
              <a:rPr lang="en-US" altLang="zh-CN" sz="3100" b="1" dirty="0">
                <a:solidFill>
                  <a:srgbClr val="000099"/>
                </a:solidFill>
              </a:rPr>
              <a:t>enzyme of the respiratory chain, contains </a:t>
            </a:r>
          </a:p>
          <a:p>
            <a:pPr eaLnBrk="1" hangingPunct="1"/>
            <a:r>
              <a:rPr lang="en-US" altLang="zh-CN" sz="3100" b="1" dirty="0">
                <a:solidFill>
                  <a:srgbClr val="000099"/>
                </a:solidFill>
              </a:rPr>
              <a:t>3 Cu and 2 </a:t>
            </a:r>
            <a:r>
              <a:rPr lang="en-US" altLang="zh-CN" sz="3100" b="1" dirty="0" err="1">
                <a:solidFill>
                  <a:srgbClr val="000099"/>
                </a:solidFill>
              </a:rPr>
              <a:t>heme</a:t>
            </a:r>
            <a:r>
              <a:rPr lang="en-US" altLang="zh-CN" sz="3100" b="1" dirty="0">
                <a:solidFill>
                  <a:srgbClr val="000099"/>
                </a:solidFill>
              </a:rPr>
              <a:t> A groups as electron carriers</a:t>
            </a:r>
          </a:p>
          <a:p>
            <a:pPr eaLnBrk="1" hangingPunct="1"/>
            <a:endParaRPr lang="en-US" altLang="zh-CN" sz="3100" b="1" dirty="0">
              <a:solidFill>
                <a:srgbClr val="000099"/>
              </a:solidFill>
            </a:endParaRPr>
          </a:p>
        </p:txBody>
      </p:sp>
    </p:spTree>
    <p:extLst>
      <p:ext uri="{BB962C8B-B14F-4D97-AF65-F5344CB8AC3E}">
        <p14:creationId xmlns:p14="http://schemas.microsoft.com/office/powerpoint/2010/main" val="428059524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2" descr="f19-12">
            <a:extLst>
              <a:ext uri="{FF2B5EF4-FFF2-40B4-BE49-F238E27FC236}">
                <a16:creationId xmlns:a16="http://schemas.microsoft.com/office/drawing/2014/main" id="{D768C0CE-EF4A-4D05-8328-E0F666CE848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9144000" cy="544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1" name="Rectangle 5">
            <a:extLst>
              <a:ext uri="{FF2B5EF4-FFF2-40B4-BE49-F238E27FC236}">
                <a16:creationId xmlns:a16="http://schemas.microsoft.com/office/drawing/2014/main" id="{32FFC552-05E1-4EE2-A846-F0D1FB8ABFB7}"/>
              </a:ext>
            </a:extLst>
          </p:cNvPr>
          <p:cNvSpPr>
            <a:spLocks noChangeArrowheads="1"/>
          </p:cNvSpPr>
          <p:nvPr/>
        </p:nvSpPr>
        <p:spPr bwMode="auto">
          <a:xfrm>
            <a:off x="539750" y="692150"/>
            <a:ext cx="1449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err="1">
                <a:solidFill>
                  <a:srgbClr val="FF0000"/>
                </a:solidFill>
                <a:cs typeface="Times New Roman" pitchFamily="18" charset="0"/>
              </a:rPr>
              <a:t>Cu</a:t>
            </a:r>
            <a:r>
              <a:rPr lang="en-US" altLang="zh-CN" b="1" baseline="-25000" dirty="0" err="1">
                <a:solidFill>
                  <a:srgbClr val="FF0000"/>
                </a:solidFill>
                <a:cs typeface="Times New Roman" pitchFamily="18" charset="0"/>
              </a:rPr>
              <a:t>A</a:t>
            </a:r>
            <a:r>
              <a:rPr lang="en-US" altLang="zh-CN" b="1" dirty="0" err="1">
                <a:solidFill>
                  <a:srgbClr val="FF0000"/>
                </a:solidFill>
                <a:cs typeface="Times New Roman" pitchFamily="18" charset="0"/>
              </a:rPr>
              <a:t>-CuA</a:t>
            </a:r>
            <a:endParaRPr lang="en-US" altLang="zh-CN" b="1" dirty="0">
              <a:solidFill>
                <a:srgbClr val="FF0000"/>
              </a:solidFill>
              <a:cs typeface="Times New Roman" pitchFamily="18" charset="0"/>
            </a:endParaRPr>
          </a:p>
        </p:txBody>
      </p:sp>
      <p:sp>
        <p:nvSpPr>
          <p:cNvPr id="78852" name="Line 6">
            <a:extLst>
              <a:ext uri="{FF2B5EF4-FFF2-40B4-BE49-F238E27FC236}">
                <a16:creationId xmlns:a16="http://schemas.microsoft.com/office/drawing/2014/main" id="{6A8E8F35-E452-488F-97D1-DD6752DFE827}"/>
              </a:ext>
            </a:extLst>
          </p:cNvPr>
          <p:cNvSpPr>
            <a:spLocks noChangeShapeType="1"/>
          </p:cNvSpPr>
          <p:nvPr/>
        </p:nvSpPr>
        <p:spPr bwMode="auto">
          <a:xfrm>
            <a:off x="1908175" y="908050"/>
            <a:ext cx="1066800" cy="914400"/>
          </a:xfrm>
          <a:prstGeom prst="line">
            <a:avLst/>
          </a:prstGeom>
          <a:noFill/>
          <a:ln w="9525">
            <a:solidFill>
              <a:srgbClr val="33CC33"/>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dirty="0">
              <a:latin typeface="Times New Roman" pitchFamily="18" charset="0"/>
            </a:endParaRPr>
          </a:p>
        </p:txBody>
      </p:sp>
      <p:sp>
        <p:nvSpPr>
          <p:cNvPr id="78853" name="Rectangle 7">
            <a:extLst>
              <a:ext uri="{FF2B5EF4-FFF2-40B4-BE49-F238E27FC236}">
                <a16:creationId xmlns:a16="http://schemas.microsoft.com/office/drawing/2014/main" id="{AEBB9A3E-B97A-420B-B781-145266242989}"/>
              </a:ext>
            </a:extLst>
          </p:cNvPr>
          <p:cNvSpPr>
            <a:spLocks noChangeArrowheads="1"/>
          </p:cNvSpPr>
          <p:nvPr/>
        </p:nvSpPr>
        <p:spPr bwMode="auto">
          <a:xfrm>
            <a:off x="0" y="1268413"/>
            <a:ext cx="89159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err="1">
                <a:solidFill>
                  <a:srgbClr val="FF0000"/>
                </a:solidFill>
              </a:rPr>
              <a:t>Cu</a:t>
            </a:r>
            <a:r>
              <a:rPr lang="en-US" altLang="zh-CN" sz="3200" b="1" baseline="-25000" dirty="0" err="1">
                <a:solidFill>
                  <a:srgbClr val="FF0000"/>
                </a:solidFill>
              </a:rPr>
              <a:t>B</a:t>
            </a:r>
            <a:endParaRPr lang="en-US" altLang="zh-CN" sz="3200" b="1" baseline="-25000" dirty="0">
              <a:solidFill>
                <a:srgbClr val="FF0000"/>
              </a:solidFill>
            </a:endParaRPr>
          </a:p>
        </p:txBody>
      </p:sp>
      <p:sp>
        <p:nvSpPr>
          <p:cNvPr id="78854" name="Line 8">
            <a:extLst>
              <a:ext uri="{FF2B5EF4-FFF2-40B4-BE49-F238E27FC236}">
                <a16:creationId xmlns:a16="http://schemas.microsoft.com/office/drawing/2014/main" id="{ECED0801-84F8-4ADB-B5B7-C06399DB35EA}"/>
              </a:ext>
            </a:extLst>
          </p:cNvPr>
          <p:cNvSpPr>
            <a:spLocks noChangeShapeType="1"/>
          </p:cNvSpPr>
          <p:nvPr/>
        </p:nvSpPr>
        <p:spPr bwMode="auto">
          <a:xfrm>
            <a:off x="900113" y="1700213"/>
            <a:ext cx="1871662" cy="122872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dirty="0">
              <a:latin typeface="Times New Roman" pitchFamily="18" charset="0"/>
            </a:endParaRPr>
          </a:p>
        </p:txBody>
      </p:sp>
      <p:sp>
        <p:nvSpPr>
          <p:cNvPr id="78855" name="Rectangle 9">
            <a:extLst>
              <a:ext uri="{FF2B5EF4-FFF2-40B4-BE49-F238E27FC236}">
                <a16:creationId xmlns:a16="http://schemas.microsoft.com/office/drawing/2014/main" id="{9D76F69C-D76E-49D9-BE37-8604862078E8}"/>
              </a:ext>
            </a:extLst>
          </p:cNvPr>
          <p:cNvSpPr>
            <a:spLocks noChangeArrowheads="1"/>
          </p:cNvSpPr>
          <p:nvPr/>
        </p:nvSpPr>
        <p:spPr bwMode="auto">
          <a:xfrm>
            <a:off x="3924300" y="1700213"/>
            <a:ext cx="927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dirty="0" err="1">
                <a:solidFill>
                  <a:srgbClr val="FF0000"/>
                </a:solidFill>
              </a:rPr>
              <a:t>Heme</a:t>
            </a:r>
            <a:r>
              <a:rPr lang="en-US" altLang="zh-CN" sz="1800" b="1" dirty="0">
                <a:solidFill>
                  <a:srgbClr val="FF0000"/>
                </a:solidFill>
              </a:rPr>
              <a:t> </a:t>
            </a:r>
            <a:r>
              <a:rPr lang="en-US" altLang="zh-CN" sz="1800" b="1" i="1" dirty="0">
                <a:solidFill>
                  <a:srgbClr val="FF0000"/>
                </a:solidFill>
              </a:rPr>
              <a:t>a</a:t>
            </a:r>
            <a:endParaRPr lang="en-US" altLang="zh-CN" sz="1800" b="1" i="1" baseline="-25000" dirty="0">
              <a:solidFill>
                <a:srgbClr val="FF0000"/>
              </a:solidFill>
            </a:endParaRPr>
          </a:p>
        </p:txBody>
      </p:sp>
      <p:sp>
        <p:nvSpPr>
          <p:cNvPr id="78856" name="Line 10">
            <a:extLst>
              <a:ext uri="{FF2B5EF4-FFF2-40B4-BE49-F238E27FC236}">
                <a16:creationId xmlns:a16="http://schemas.microsoft.com/office/drawing/2014/main" id="{C3F1F82D-E401-4D0A-A7DB-6D20B3E6E8FE}"/>
              </a:ext>
            </a:extLst>
          </p:cNvPr>
          <p:cNvSpPr>
            <a:spLocks noChangeShapeType="1"/>
          </p:cNvSpPr>
          <p:nvPr/>
        </p:nvSpPr>
        <p:spPr bwMode="auto">
          <a:xfrm flipH="1">
            <a:off x="3203575" y="1989138"/>
            <a:ext cx="914400" cy="6858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dirty="0">
              <a:latin typeface="Times New Roman" pitchFamily="18" charset="0"/>
            </a:endParaRPr>
          </a:p>
        </p:txBody>
      </p:sp>
      <p:sp>
        <p:nvSpPr>
          <p:cNvPr id="78857" name="Rectangle 11">
            <a:extLst>
              <a:ext uri="{FF2B5EF4-FFF2-40B4-BE49-F238E27FC236}">
                <a16:creationId xmlns:a16="http://schemas.microsoft.com/office/drawing/2014/main" id="{2DC1CE24-9BA0-4D4A-9787-1452330A9D8C}"/>
              </a:ext>
            </a:extLst>
          </p:cNvPr>
          <p:cNvSpPr>
            <a:spLocks noChangeArrowheads="1"/>
          </p:cNvSpPr>
          <p:nvPr/>
        </p:nvSpPr>
        <p:spPr bwMode="auto">
          <a:xfrm>
            <a:off x="4140200" y="2997200"/>
            <a:ext cx="10033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dirty="0" err="1">
                <a:solidFill>
                  <a:srgbClr val="FF0000"/>
                </a:solidFill>
              </a:rPr>
              <a:t>Heme</a:t>
            </a:r>
            <a:r>
              <a:rPr lang="en-US" altLang="zh-CN" sz="1800" b="1" dirty="0">
                <a:solidFill>
                  <a:srgbClr val="FF0000"/>
                </a:solidFill>
              </a:rPr>
              <a:t> </a:t>
            </a:r>
            <a:r>
              <a:rPr lang="en-US" altLang="zh-CN" sz="1800" b="1" i="1" dirty="0">
                <a:solidFill>
                  <a:srgbClr val="FF0000"/>
                </a:solidFill>
              </a:rPr>
              <a:t>a</a:t>
            </a:r>
            <a:r>
              <a:rPr lang="en-US" altLang="zh-CN" sz="1800" b="1" baseline="-25000" dirty="0">
                <a:solidFill>
                  <a:srgbClr val="FF0000"/>
                </a:solidFill>
              </a:rPr>
              <a:t>3</a:t>
            </a:r>
          </a:p>
        </p:txBody>
      </p:sp>
      <p:sp>
        <p:nvSpPr>
          <p:cNvPr id="78858" name="Line 12">
            <a:extLst>
              <a:ext uri="{FF2B5EF4-FFF2-40B4-BE49-F238E27FC236}">
                <a16:creationId xmlns:a16="http://schemas.microsoft.com/office/drawing/2014/main" id="{AC78FD67-73E1-4074-B181-CB771F431EA4}"/>
              </a:ext>
            </a:extLst>
          </p:cNvPr>
          <p:cNvSpPr>
            <a:spLocks noChangeShapeType="1"/>
          </p:cNvSpPr>
          <p:nvPr/>
        </p:nvSpPr>
        <p:spPr bwMode="auto">
          <a:xfrm flipH="1">
            <a:off x="3132138" y="3213100"/>
            <a:ext cx="1066800" cy="762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dirty="0">
              <a:latin typeface="Times New Roman" pitchFamily="18" charset="0"/>
            </a:endParaRPr>
          </a:p>
        </p:txBody>
      </p:sp>
      <p:sp>
        <p:nvSpPr>
          <p:cNvPr id="78859" name="Rectangle 13">
            <a:extLst>
              <a:ext uri="{FF2B5EF4-FFF2-40B4-BE49-F238E27FC236}">
                <a16:creationId xmlns:a16="http://schemas.microsoft.com/office/drawing/2014/main" id="{40797254-55D1-48DD-A8EF-AE70ACE00A01}"/>
              </a:ext>
            </a:extLst>
          </p:cNvPr>
          <p:cNvSpPr>
            <a:spLocks noChangeArrowheads="1"/>
          </p:cNvSpPr>
          <p:nvPr/>
        </p:nvSpPr>
        <p:spPr bwMode="auto">
          <a:xfrm>
            <a:off x="6588125" y="3284538"/>
            <a:ext cx="8143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err="1">
                <a:solidFill>
                  <a:srgbClr val="FF0000"/>
                </a:solidFill>
              </a:rPr>
              <a:t>Cu</a:t>
            </a:r>
            <a:r>
              <a:rPr lang="en-US" altLang="zh-CN" sz="2800" b="1" baseline="-25000" dirty="0" err="1">
                <a:solidFill>
                  <a:srgbClr val="FF0000"/>
                </a:solidFill>
              </a:rPr>
              <a:t>A</a:t>
            </a:r>
            <a:endParaRPr lang="en-US" altLang="zh-CN" sz="2800" b="1" baseline="-25000" dirty="0">
              <a:solidFill>
                <a:srgbClr val="FF0000"/>
              </a:solidFill>
            </a:endParaRPr>
          </a:p>
        </p:txBody>
      </p:sp>
      <p:sp>
        <p:nvSpPr>
          <p:cNvPr id="78860" name="Rectangle 14">
            <a:extLst>
              <a:ext uri="{FF2B5EF4-FFF2-40B4-BE49-F238E27FC236}">
                <a16:creationId xmlns:a16="http://schemas.microsoft.com/office/drawing/2014/main" id="{E34CFA4C-0622-46B5-BD05-0A4E7702B16C}"/>
              </a:ext>
            </a:extLst>
          </p:cNvPr>
          <p:cNvSpPr>
            <a:spLocks noChangeArrowheads="1"/>
          </p:cNvSpPr>
          <p:nvPr/>
        </p:nvSpPr>
        <p:spPr bwMode="auto">
          <a:xfrm>
            <a:off x="6516688" y="2492375"/>
            <a:ext cx="8143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err="1">
                <a:solidFill>
                  <a:srgbClr val="FF0000"/>
                </a:solidFill>
              </a:rPr>
              <a:t>Cu</a:t>
            </a:r>
            <a:r>
              <a:rPr lang="en-US" altLang="zh-CN" sz="2800" b="1" baseline="-25000" dirty="0" err="1">
                <a:solidFill>
                  <a:srgbClr val="FF0000"/>
                </a:solidFill>
              </a:rPr>
              <a:t>A</a:t>
            </a:r>
            <a:endParaRPr lang="en-US" altLang="zh-CN" sz="2800" b="1" baseline="-25000" dirty="0">
              <a:solidFill>
                <a:srgbClr val="FF0000"/>
              </a:solidFill>
            </a:endParaRPr>
          </a:p>
        </p:txBody>
      </p:sp>
      <p:sp>
        <p:nvSpPr>
          <p:cNvPr id="78861" name="Rectangle 18">
            <a:extLst>
              <a:ext uri="{FF2B5EF4-FFF2-40B4-BE49-F238E27FC236}">
                <a16:creationId xmlns:a16="http://schemas.microsoft.com/office/drawing/2014/main" id="{C11010C3-ADFE-40A0-B59A-986937E80E03}"/>
              </a:ext>
            </a:extLst>
          </p:cNvPr>
          <p:cNvSpPr>
            <a:spLocks noChangeArrowheads="1"/>
          </p:cNvSpPr>
          <p:nvPr/>
        </p:nvSpPr>
        <p:spPr bwMode="auto">
          <a:xfrm>
            <a:off x="6227763" y="1484313"/>
            <a:ext cx="23446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FF0000"/>
                </a:solidFill>
              </a:rPr>
              <a:t>Copper center A</a:t>
            </a:r>
          </a:p>
        </p:txBody>
      </p:sp>
    </p:spTree>
    <p:extLst>
      <p:ext uri="{BB962C8B-B14F-4D97-AF65-F5344CB8AC3E}">
        <p14:creationId xmlns:p14="http://schemas.microsoft.com/office/powerpoint/2010/main" val="85830859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5">
            <a:extLst>
              <a:ext uri="{FF2B5EF4-FFF2-40B4-BE49-F238E27FC236}">
                <a16:creationId xmlns:a16="http://schemas.microsoft.com/office/drawing/2014/main" id="{287F9161-B0F0-4D20-982B-E8081CE84ACE}"/>
              </a:ext>
            </a:extLst>
          </p:cNvPr>
          <p:cNvSpPr>
            <a:spLocks noChangeArrowheads="1"/>
          </p:cNvSpPr>
          <p:nvPr/>
        </p:nvSpPr>
        <p:spPr bwMode="auto">
          <a:xfrm>
            <a:off x="381000" y="228600"/>
            <a:ext cx="8382000" cy="190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pPr>
            <a:r>
              <a:rPr lang="en-US" altLang="zh-CN" sz="3600" b="1" dirty="0">
                <a:solidFill>
                  <a:srgbClr val="000099"/>
                </a:solidFill>
              </a:rPr>
              <a:t>~ 10 protons are pumped per NADH, and ~6 per FADH</a:t>
            </a:r>
            <a:r>
              <a:rPr lang="en-US" altLang="zh-CN" sz="3600" b="1" baseline="-25000" dirty="0">
                <a:solidFill>
                  <a:srgbClr val="000099"/>
                </a:solidFill>
              </a:rPr>
              <a:t>2 </a:t>
            </a:r>
            <a:r>
              <a:rPr lang="en-US" altLang="zh-CN" sz="3600" b="1" dirty="0">
                <a:solidFill>
                  <a:srgbClr val="000099"/>
                </a:solidFill>
              </a:rPr>
              <a:t>oxidized via the respiratory chain.</a:t>
            </a:r>
            <a:r>
              <a:rPr lang="en-US" altLang="zh-CN" sz="3600" dirty="0">
                <a:solidFill>
                  <a:srgbClr val="000099"/>
                </a:solidFill>
              </a:rPr>
              <a:t> </a:t>
            </a:r>
          </a:p>
        </p:txBody>
      </p:sp>
      <p:pic>
        <p:nvPicPr>
          <p:cNvPr id="79875" name="Picture 6">
            <a:extLst>
              <a:ext uri="{FF2B5EF4-FFF2-40B4-BE49-F238E27FC236}">
                <a16:creationId xmlns:a16="http://schemas.microsoft.com/office/drawing/2014/main" id="{190A7E61-36AE-4DB8-939E-7E75363C900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2514600"/>
            <a:ext cx="8890000" cy="309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1331999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613383A-158C-4A15-AACA-75AFA074830B}"/>
              </a:ext>
            </a:extLst>
          </p:cNvPr>
          <p:cNvPicPr>
            <a:picLocks noChangeAspect="1"/>
          </p:cNvPicPr>
          <p:nvPr/>
        </p:nvPicPr>
        <p:blipFill>
          <a:blip r:embed="rId2"/>
          <a:stretch>
            <a:fillRect/>
          </a:stretch>
        </p:blipFill>
        <p:spPr>
          <a:xfrm>
            <a:off x="0" y="1438650"/>
            <a:ext cx="9144000" cy="3980700"/>
          </a:xfrm>
          <a:prstGeom prst="rect">
            <a:avLst/>
          </a:prstGeom>
        </p:spPr>
      </p:pic>
      <p:sp>
        <p:nvSpPr>
          <p:cNvPr id="4" name="文本框 3">
            <a:extLst>
              <a:ext uri="{FF2B5EF4-FFF2-40B4-BE49-F238E27FC236}">
                <a16:creationId xmlns:a16="http://schemas.microsoft.com/office/drawing/2014/main" id="{A4AF8628-1773-4732-83B4-3999B8A2EF34}"/>
              </a:ext>
            </a:extLst>
          </p:cNvPr>
          <p:cNvSpPr txBox="1"/>
          <p:nvPr/>
        </p:nvSpPr>
        <p:spPr>
          <a:xfrm>
            <a:off x="6516216" y="6488668"/>
            <a:ext cx="1184940" cy="369332"/>
          </a:xfrm>
          <a:prstGeom prst="rect">
            <a:avLst/>
          </a:prstGeom>
          <a:noFill/>
        </p:spPr>
        <p:txBody>
          <a:bodyPr wrap="none" rtlCol="0">
            <a:spAutoFit/>
          </a:bodyPr>
          <a:lstStyle/>
          <a:p>
            <a:r>
              <a:rPr lang="en-US" altLang="zh-CN" dirty="0"/>
              <a:t>7</a:t>
            </a:r>
            <a:r>
              <a:rPr lang="en-US" altLang="zh-CN" baseline="30000" dirty="0"/>
              <a:t>th</a:t>
            </a:r>
            <a:r>
              <a:rPr lang="en-US" altLang="zh-CN" dirty="0"/>
              <a:t> edition</a:t>
            </a:r>
            <a:endParaRPr lang="zh-CN" altLang="en-US" dirty="0"/>
          </a:p>
        </p:txBody>
      </p:sp>
      <p:sp>
        <p:nvSpPr>
          <p:cNvPr id="5" name="文本框 4">
            <a:extLst>
              <a:ext uri="{FF2B5EF4-FFF2-40B4-BE49-F238E27FC236}">
                <a16:creationId xmlns:a16="http://schemas.microsoft.com/office/drawing/2014/main" id="{6B84508B-FC5A-4497-AA9B-FDB91D250262}"/>
              </a:ext>
            </a:extLst>
          </p:cNvPr>
          <p:cNvSpPr txBox="1"/>
          <p:nvPr/>
        </p:nvSpPr>
        <p:spPr>
          <a:xfrm>
            <a:off x="539552" y="6488668"/>
            <a:ext cx="1184940" cy="369332"/>
          </a:xfrm>
          <a:prstGeom prst="rect">
            <a:avLst/>
          </a:prstGeom>
          <a:noFill/>
        </p:spPr>
        <p:txBody>
          <a:bodyPr wrap="none" rtlCol="0">
            <a:spAutoFit/>
          </a:bodyPr>
          <a:lstStyle/>
          <a:p>
            <a:r>
              <a:rPr lang="en-US" altLang="zh-CN" dirty="0"/>
              <a:t>7</a:t>
            </a:r>
            <a:r>
              <a:rPr lang="en-US" altLang="zh-CN" baseline="30000" dirty="0"/>
              <a:t>th</a:t>
            </a:r>
            <a:r>
              <a:rPr lang="en-US" altLang="zh-CN" dirty="0"/>
              <a:t> edition</a:t>
            </a:r>
            <a:endParaRPr lang="zh-CN" altLang="en-US" dirty="0"/>
          </a:p>
        </p:txBody>
      </p:sp>
    </p:spTree>
    <p:extLst>
      <p:ext uri="{BB962C8B-B14F-4D97-AF65-F5344CB8AC3E}">
        <p14:creationId xmlns:p14="http://schemas.microsoft.com/office/powerpoint/2010/main" val="197496448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4FE738D-A362-4190-9FB7-3E70A9B27BA4}"/>
              </a:ext>
            </a:extLst>
          </p:cNvPr>
          <p:cNvPicPr>
            <a:picLocks noChangeAspect="1"/>
          </p:cNvPicPr>
          <p:nvPr/>
        </p:nvPicPr>
        <p:blipFill>
          <a:blip r:embed="rId2"/>
          <a:stretch>
            <a:fillRect/>
          </a:stretch>
        </p:blipFill>
        <p:spPr>
          <a:xfrm>
            <a:off x="1526146" y="0"/>
            <a:ext cx="6091707" cy="6858000"/>
          </a:xfrm>
          <a:prstGeom prst="rect">
            <a:avLst/>
          </a:prstGeom>
        </p:spPr>
      </p:pic>
      <p:sp>
        <p:nvSpPr>
          <p:cNvPr id="4" name="文本框 3">
            <a:extLst>
              <a:ext uri="{FF2B5EF4-FFF2-40B4-BE49-F238E27FC236}">
                <a16:creationId xmlns:a16="http://schemas.microsoft.com/office/drawing/2014/main" id="{1B6CFB86-8F39-44BF-B6C6-911B876A5620}"/>
              </a:ext>
            </a:extLst>
          </p:cNvPr>
          <p:cNvSpPr txBox="1"/>
          <p:nvPr/>
        </p:nvSpPr>
        <p:spPr>
          <a:xfrm>
            <a:off x="539552" y="6488668"/>
            <a:ext cx="1184940" cy="369332"/>
          </a:xfrm>
          <a:prstGeom prst="rect">
            <a:avLst/>
          </a:prstGeom>
          <a:noFill/>
        </p:spPr>
        <p:txBody>
          <a:bodyPr wrap="none" rtlCol="0">
            <a:spAutoFit/>
          </a:bodyPr>
          <a:lstStyle/>
          <a:p>
            <a:r>
              <a:rPr lang="en-US" altLang="zh-CN" dirty="0"/>
              <a:t>7</a:t>
            </a:r>
            <a:r>
              <a:rPr lang="en-US" altLang="zh-CN" baseline="30000" dirty="0"/>
              <a:t>th</a:t>
            </a:r>
            <a:r>
              <a:rPr lang="en-US" altLang="zh-CN" dirty="0"/>
              <a:t> edition</a:t>
            </a:r>
            <a:endParaRPr lang="zh-CN" altLang="en-US" dirty="0"/>
          </a:p>
        </p:txBody>
      </p:sp>
    </p:spTree>
    <p:extLst>
      <p:ext uri="{BB962C8B-B14F-4D97-AF65-F5344CB8AC3E}">
        <p14:creationId xmlns:p14="http://schemas.microsoft.com/office/powerpoint/2010/main" val="336747123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F9EF36D-E93D-4BE6-B90E-FAB3416F7F21}"/>
              </a:ext>
            </a:extLst>
          </p:cNvPr>
          <p:cNvSpPr/>
          <p:nvPr/>
        </p:nvSpPr>
        <p:spPr>
          <a:xfrm>
            <a:off x="839070" y="1916832"/>
            <a:ext cx="8125418" cy="2456057"/>
          </a:xfrm>
          <a:prstGeom prst="rect">
            <a:avLst/>
          </a:prstGeom>
        </p:spPr>
        <p:txBody>
          <a:bodyPr wrap="square">
            <a:spAutoFit/>
          </a:bodyPr>
          <a:lstStyle/>
          <a:p>
            <a:pPr>
              <a:spcBef>
                <a:spcPct val="40000"/>
              </a:spcBef>
            </a:pPr>
            <a:r>
              <a:rPr lang="zh-CN" altLang="en-US" sz="3200" dirty="0"/>
              <a:t>每消耗一个氧原子所形成的</a:t>
            </a:r>
            <a:r>
              <a:rPr lang="en-US" altLang="zh-CN" sz="3200" dirty="0"/>
              <a:t>ATP</a:t>
            </a:r>
            <a:r>
              <a:rPr lang="zh-CN" altLang="en-US" sz="3200" dirty="0"/>
              <a:t>数或每一对电子通过呼吸链传至</a:t>
            </a:r>
            <a:r>
              <a:rPr lang="en-US" altLang="zh-CN" sz="3200" dirty="0"/>
              <a:t>O</a:t>
            </a:r>
            <a:r>
              <a:rPr lang="en-US" altLang="zh-CN" sz="3200" baseline="-25000" dirty="0"/>
              <a:t>2</a:t>
            </a:r>
            <a:r>
              <a:rPr lang="zh-CN" altLang="en-US" sz="3200" dirty="0"/>
              <a:t>所产生 的 </a:t>
            </a:r>
            <a:r>
              <a:rPr lang="en-US" altLang="zh-CN" sz="3200" dirty="0"/>
              <a:t>ATP</a:t>
            </a:r>
            <a:r>
              <a:rPr lang="zh-CN" altLang="en-US" sz="3200" dirty="0"/>
              <a:t>分子数。</a:t>
            </a:r>
          </a:p>
          <a:p>
            <a:pPr>
              <a:spcBef>
                <a:spcPct val="40000"/>
              </a:spcBef>
              <a:buFont typeface="Wingdings" panose="05000000000000000000" pitchFamily="2" charset="2"/>
              <a:buNone/>
            </a:pPr>
            <a:r>
              <a:rPr lang="en-US" altLang="zh-CN" sz="3200" dirty="0"/>
              <a:t>NADH</a:t>
            </a:r>
            <a:r>
              <a:rPr lang="zh-CN" altLang="en-US" sz="3200" dirty="0"/>
              <a:t>呼吸链中</a:t>
            </a:r>
            <a:r>
              <a:rPr lang="en-US" altLang="zh-CN" sz="3200" dirty="0"/>
              <a:t>P/O</a:t>
            </a:r>
            <a:r>
              <a:rPr lang="zh-CN" altLang="en-US" sz="3200" dirty="0"/>
              <a:t>比为</a:t>
            </a:r>
            <a:r>
              <a:rPr lang="en-US" altLang="zh-CN" sz="3200" dirty="0">
                <a:solidFill>
                  <a:schemeClr val="accent2"/>
                </a:solidFill>
              </a:rPr>
              <a:t>2.5</a:t>
            </a:r>
            <a:endParaRPr lang="zh-CN" altLang="en-US" sz="3200" dirty="0"/>
          </a:p>
          <a:p>
            <a:pPr>
              <a:spcBef>
                <a:spcPct val="40000"/>
              </a:spcBef>
              <a:buFont typeface="Wingdings" panose="05000000000000000000" pitchFamily="2" charset="2"/>
              <a:buNone/>
            </a:pPr>
            <a:r>
              <a:rPr lang="zh-CN" altLang="en-US" sz="3200" dirty="0"/>
              <a:t> </a:t>
            </a:r>
            <a:r>
              <a:rPr lang="en-US" altLang="zh-CN" sz="3200" dirty="0"/>
              <a:t>FADH</a:t>
            </a:r>
            <a:r>
              <a:rPr lang="en-US" altLang="zh-CN" sz="3200" baseline="-25000" dirty="0"/>
              <a:t>2</a:t>
            </a:r>
            <a:r>
              <a:rPr lang="zh-CN" altLang="en-US" sz="3200" dirty="0"/>
              <a:t>呼吸链中</a:t>
            </a:r>
            <a:r>
              <a:rPr lang="en-US" altLang="zh-CN" sz="3200" dirty="0"/>
              <a:t>P/O</a:t>
            </a:r>
            <a:r>
              <a:rPr lang="zh-CN" altLang="en-US" sz="3200" dirty="0"/>
              <a:t>比为</a:t>
            </a:r>
            <a:r>
              <a:rPr lang="en-US" altLang="zh-CN" sz="3200" dirty="0">
                <a:solidFill>
                  <a:schemeClr val="accent2"/>
                </a:solidFill>
              </a:rPr>
              <a:t>1.5</a:t>
            </a:r>
            <a:endParaRPr lang="zh-CN" altLang="en-US" sz="3200" dirty="0"/>
          </a:p>
        </p:txBody>
      </p:sp>
      <p:sp>
        <p:nvSpPr>
          <p:cNvPr id="3" name="矩形 2">
            <a:extLst>
              <a:ext uri="{FF2B5EF4-FFF2-40B4-BE49-F238E27FC236}">
                <a16:creationId xmlns:a16="http://schemas.microsoft.com/office/drawing/2014/main" id="{AFBFC54F-BFCC-4CD0-9342-0B791C4D4B3C}"/>
              </a:ext>
            </a:extLst>
          </p:cNvPr>
          <p:cNvSpPr/>
          <p:nvPr/>
        </p:nvSpPr>
        <p:spPr>
          <a:xfrm>
            <a:off x="683568" y="836712"/>
            <a:ext cx="3611886" cy="707886"/>
          </a:xfrm>
          <a:prstGeom prst="rect">
            <a:avLst/>
          </a:prstGeom>
        </p:spPr>
        <p:txBody>
          <a:bodyPr wrap="none">
            <a:spAutoFit/>
          </a:bodyPr>
          <a:lstStyle/>
          <a:p>
            <a:r>
              <a:rPr lang="zh-CN" altLang="en-US" sz="4000" b="1" dirty="0"/>
              <a:t>磷氧比（</a:t>
            </a:r>
            <a:r>
              <a:rPr lang="en-US" altLang="zh-CN" sz="4000" b="1" dirty="0">
                <a:latin typeface="Times New Roman" panose="02020603050405020304" pitchFamily="18" charset="0"/>
                <a:ea typeface="楷体_GB2312" pitchFamily="49" charset="-122"/>
              </a:rPr>
              <a:t>P/O</a:t>
            </a:r>
            <a:r>
              <a:rPr lang="zh-CN" altLang="en-US" sz="4000" b="1" dirty="0"/>
              <a:t>）</a:t>
            </a:r>
            <a:endParaRPr lang="zh-CN" altLang="en-US" sz="4000" dirty="0"/>
          </a:p>
        </p:txBody>
      </p:sp>
    </p:spTree>
    <p:extLst>
      <p:ext uri="{BB962C8B-B14F-4D97-AF65-F5344CB8AC3E}">
        <p14:creationId xmlns:p14="http://schemas.microsoft.com/office/powerpoint/2010/main" val="51898958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AEB12E46-2B21-4BB1-A552-D015338CC2B6}"/>
              </a:ext>
            </a:extLst>
          </p:cNvPr>
          <p:cNvSpPr>
            <a:spLocks noGrp="1" noChangeArrowheads="1"/>
          </p:cNvSpPr>
          <p:nvPr>
            <p:ph type="title" idx="4294967295"/>
          </p:nvPr>
        </p:nvSpPr>
        <p:spPr>
          <a:xfrm>
            <a:off x="0" y="1266825"/>
            <a:ext cx="9144000" cy="3019425"/>
          </a:xfrm>
        </p:spPr>
        <p:txBody>
          <a:bodyPr/>
          <a:lstStyle/>
          <a:p>
            <a:pPr eaLnBrk="1" hangingPunct="1"/>
            <a:r>
              <a:rPr lang="en-US" altLang="zh-CN" sz="4800" b="1" dirty="0">
                <a:solidFill>
                  <a:srgbClr val="FF0000"/>
                </a:solidFill>
                <a:latin typeface="Times New Roman" pitchFamily="18" charset="0"/>
              </a:rPr>
              <a:t>9.  The order of the many electron carriers on the respiratory chain have been elucidated via various studies</a:t>
            </a:r>
          </a:p>
        </p:txBody>
      </p:sp>
    </p:spTree>
    <p:extLst>
      <p:ext uri="{BB962C8B-B14F-4D97-AF65-F5344CB8AC3E}">
        <p14:creationId xmlns:p14="http://schemas.microsoft.com/office/powerpoint/2010/main" val="229743307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7F976677-E9FA-41D2-AF10-F61B9D4B9356}"/>
              </a:ext>
            </a:extLst>
          </p:cNvPr>
          <p:cNvPicPr>
            <a:picLocks noChangeAspect="1"/>
          </p:cNvPicPr>
          <p:nvPr/>
        </p:nvPicPr>
        <p:blipFill>
          <a:blip r:embed="rId3" cstate="print">
            <a:lum bright="30000" contrast="40000"/>
          </a:blip>
          <a:stretch>
            <a:fillRect/>
          </a:stretch>
        </p:blipFill>
        <p:spPr>
          <a:xfrm>
            <a:off x="0" y="0"/>
            <a:ext cx="9144000" cy="6858000"/>
          </a:xfrm>
          <a:prstGeom prst="rect">
            <a:avLst/>
          </a:prstGeom>
        </p:spPr>
      </p:pic>
    </p:spTree>
    <p:extLst>
      <p:ext uri="{BB962C8B-B14F-4D97-AF65-F5344CB8AC3E}">
        <p14:creationId xmlns:p14="http://schemas.microsoft.com/office/powerpoint/2010/main" val="125458954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64" name="Picture 13">
            <a:extLst>
              <a:ext uri="{FF2B5EF4-FFF2-40B4-BE49-F238E27FC236}">
                <a16:creationId xmlns:a16="http://schemas.microsoft.com/office/drawing/2014/main" id="{D44759E2-AF43-485D-AC2E-C2CE7F928C0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476250"/>
            <a:ext cx="9009063" cy="456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7" name="Rectangle 3">
            <a:extLst>
              <a:ext uri="{FF2B5EF4-FFF2-40B4-BE49-F238E27FC236}">
                <a16:creationId xmlns:a16="http://schemas.microsoft.com/office/drawing/2014/main" id="{0C481713-907F-48BC-9425-2845A1A58382}"/>
              </a:ext>
            </a:extLst>
          </p:cNvPr>
          <p:cNvSpPr>
            <a:spLocks noChangeArrowheads="1"/>
          </p:cNvSpPr>
          <p:nvPr/>
        </p:nvSpPr>
        <p:spPr bwMode="auto">
          <a:xfrm>
            <a:off x="0" y="5257800"/>
            <a:ext cx="9144000" cy="1446550"/>
          </a:xfrm>
          <a:prstGeom prst="rect">
            <a:avLst/>
          </a:prstGeom>
          <a:solidFill>
            <a:srgbClr val="101B7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4400" b="1" dirty="0">
                <a:solidFill>
                  <a:srgbClr val="FFFF00"/>
                </a:solidFill>
              </a:rPr>
              <a:t>Studies with specific inhibitors help to reveal the orders of the e</a:t>
            </a:r>
            <a:r>
              <a:rPr lang="en-US" altLang="zh-CN" sz="4400" b="1" baseline="30000" dirty="0">
                <a:solidFill>
                  <a:srgbClr val="FFFF00"/>
                </a:solidFill>
              </a:rPr>
              <a:t>-</a:t>
            </a:r>
            <a:r>
              <a:rPr lang="en-US" altLang="zh-CN" sz="4400" b="1" dirty="0">
                <a:solidFill>
                  <a:srgbClr val="FFFF00"/>
                </a:solidFill>
              </a:rPr>
              <a:t> carriers</a:t>
            </a:r>
          </a:p>
        </p:txBody>
      </p:sp>
      <p:sp>
        <p:nvSpPr>
          <p:cNvPr id="82948" name="Rectangle 5">
            <a:extLst>
              <a:ext uri="{FF2B5EF4-FFF2-40B4-BE49-F238E27FC236}">
                <a16:creationId xmlns:a16="http://schemas.microsoft.com/office/drawing/2014/main" id="{E68A4CFE-6E65-4A48-8837-C7C44623F33A}"/>
              </a:ext>
            </a:extLst>
          </p:cNvPr>
          <p:cNvSpPr>
            <a:spLocks noChangeArrowheads="1"/>
          </p:cNvSpPr>
          <p:nvPr/>
        </p:nvSpPr>
        <p:spPr bwMode="auto">
          <a:xfrm>
            <a:off x="1979613" y="3068638"/>
            <a:ext cx="15081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6600FF"/>
                </a:solidFill>
              </a:rPr>
              <a:t>Reduced</a:t>
            </a:r>
          </a:p>
        </p:txBody>
      </p:sp>
      <p:sp>
        <p:nvSpPr>
          <p:cNvPr id="82953" name="Rectangle 10">
            <a:extLst>
              <a:ext uri="{FF2B5EF4-FFF2-40B4-BE49-F238E27FC236}">
                <a16:creationId xmlns:a16="http://schemas.microsoft.com/office/drawing/2014/main" id="{4A932B51-D836-4113-A293-E0800314D7BD}"/>
              </a:ext>
            </a:extLst>
          </p:cNvPr>
          <p:cNvSpPr>
            <a:spLocks noChangeArrowheads="1"/>
          </p:cNvSpPr>
          <p:nvPr/>
        </p:nvSpPr>
        <p:spPr bwMode="auto">
          <a:xfrm>
            <a:off x="-31750" y="1557338"/>
            <a:ext cx="15081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6600FF"/>
                </a:solidFill>
              </a:rPr>
              <a:t>Reduced</a:t>
            </a:r>
          </a:p>
        </p:txBody>
      </p:sp>
      <p:sp>
        <p:nvSpPr>
          <p:cNvPr id="82996" name="Rectangle 5">
            <a:extLst>
              <a:ext uri="{FF2B5EF4-FFF2-40B4-BE49-F238E27FC236}">
                <a16:creationId xmlns:a16="http://schemas.microsoft.com/office/drawing/2014/main" id="{45D3658D-A047-47F5-980E-B2214C3510E6}"/>
              </a:ext>
            </a:extLst>
          </p:cNvPr>
          <p:cNvSpPr>
            <a:spLocks noChangeArrowheads="1"/>
          </p:cNvSpPr>
          <p:nvPr/>
        </p:nvSpPr>
        <p:spPr bwMode="auto">
          <a:xfrm>
            <a:off x="6159500" y="4652963"/>
            <a:ext cx="15081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6600FF"/>
                </a:solidFill>
              </a:rPr>
              <a:t>Reduced</a:t>
            </a:r>
          </a:p>
        </p:txBody>
      </p:sp>
    </p:spTree>
    <p:extLst>
      <p:ext uri="{BB962C8B-B14F-4D97-AF65-F5344CB8AC3E}">
        <p14:creationId xmlns:p14="http://schemas.microsoft.com/office/powerpoint/2010/main" val="302460870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159" name="Rectangle 79">
            <a:extLst>
              <a:ext uri="{FF2B5EF4-FFF2-40B4-BE49-F238E27FC236}">
                <a16:creationId xmlns:a16="http://schemas.microsoft.com/office/drawing/2014/main" id="{C61E5E23-DB20-4602-B016-1C2E4CF3782A}"/>
              </a:ext>
            </a:extLst>
          </p:cNvPr>
          <p:cNvSpPr>
            <a:spLocks noChangeArrowheads="1"/>
          </p:cNvSpPr>
          <p:nvPr/>
        </p:nvSpPr>
        <p:spPr bwMode="auto">
          <a:xfrm>
            <a:off x="0" y="0"/>
            <a:ext cx="9144000" cy="68580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302086" name="Text Box 6">
            <a:extLst>
              <a:ext uri="{FF2B5EF4-FFF2-40B4-BE49-F238E27FC236}">
                <a16:creationId xmlns:a16="http://schemas.microsoft.com/office/drawing/2014/main" id="{E735BF0D-2B67-4AC5-9F27-334AA405A694}"/>
              </a:ext>
            </a:extLst>
          </p:cNvPr>
          <p:cNvSpPr txBox="1">
            <a:spLocks noChangeArrowheads="1"/>
          </p:cNvSpPr>
          <p:nvPr/>
        </p:nvSpPr>
        <p:spPr bwMode="auto">
          <a:xfrm>
            <a:off x="6042025" y="166688"/>
            <a:ext cx="990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en-US" altLang="zh-CN" sz="1800" b="1"/>
              <a:t>NADH</a:t>
            </a:r>
          </a:p>
        </p:txBody>
      </p:sp>
      <p:sp>
        <p:nvSpPr>
          <p:cNvPr id="302087" name="Text Box 7">
            <a:extLst>
              <a:ext uri="{FF2B5EF4-FFF2-40B4-BE49-F238E27FC236}">
                <a16:creationId xmlns:a16="http://schemas.microsoft.com/office/drawing/2014/main" id="{32357C27-3EB9-439B-AEFD-9401712435DC}"/>
              </a:ext>
            </a:extLst>
          </p:cNvPr>
          <p:cNvSpPr txBox="1">
            <a:spLocks noChangeArrowheads="1"/>
          </p:cNvSpPr>
          <p:nvPr/>
        </p:nvSpPr>
        <p:spPr bwMode="auto">
          <a:xfrm>
            <a:off x="6118225" y="8524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en-US" altLang="zh-CN" sz="1800" b="1"/>
              <a:t>FMN</a:t>
            </a:r>
          </a:p>
        </p:txBody>
      </p:sp>
      <p:sp>
        <p:nvSpPr>
          <p:cNvPr id="302088" name="Text Box 8">
            <a:extLst>
              <a:ext uri="{FF2B5EF4-FFF2-40B4-BE49-F238E27FC236}">
                <a16:creationId xmlns:a16="http://schemas.microsoft.com/office/drawing/2014/main" id="{5EB26746-2685-4464-A519-817FBF4DFC05}"/>
              </a:ext>
            </a:extLst>
          </p:cNvPr>
          <p:cNvSpPr txBox="1">
            <a:spLocks noChangeArrowheads="1"/>
          </p:cNvSpPr>
          <p:nvPr/>
        </p:nvSpPr>
        <p:spPr bwMode="auto">
          <a:xfrm>
            <a:off x="6118225" y="2071688"/>
            <a:ext cx="6858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en-US" altLang="zh-CN" sz="1800" b="1"/>
              <a:t>CoQ</a:t>
            </a:r>
          </a:p>
        </p:txBody>
      </p:sp>
      <p:sp>
        <p:nvSpPr>
          <p:cNvPr id="302089" name="Text Box 9">
            <a:extLst>
              <a:ext uri="{FF2B5EF4-FFF2-40B4-BE49-F238E27FC236}">
                <a16:creationId xmlns:a16="http://schemas.microsoft.com/office/drawing/2014/main" id="{FDF5EF88-B01F-4BC0-82F7-81EB26DA6A0E}"/>
              </a:ext>
            </a:extLst>
          </p:cNvPr>
          <p:cNvSpPr txBox="1">
            <a:spLocks noChangeArrowheads="1"/>
          </p:cNvSpPr>
          <p:nvPr/>
        </p:nvSpPr>
        <p:spPr bwMode="auto">
          <a:xfrm>
            <a:off x="6118225" y="35194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en-US" altLang="zh-CN" sz="1800" b="1"/>
              <a:t>Fe-S</a:t>
            </a:r>
          </a:p>
        </p:txBody>
      </p:sp>
      <p:sp>
        <p:nvSpPr>
          <p:cNvPr id="302090" name="Text Box 10">
            <a:extLst>
              <a:ext uri="{FF2B5EF4-FFF2-40B4-BE49-F238E27FC236}">
                <a16:creationId xmlns:a16="http://schemas.microsoft.com/office/drawing/2014/main" id="{B71C8B10-F34A-45FB-8E54-259DB9C23C97}"/>
              </a:ext>
            </a:extLst>
          </p:cNvPr>
          <p:cNvSpPr txBox="1">
            <a:spLocks noChangeArrowheads="1"/>
          </p:cNvSpPr>
          <p:nvPr/>
        </p:nvSpPr>
        <p:spPr bwMode="auto">
          <a:xfrm>
            <a:off x="6042025" y="4129088"/>
            <a:ext cx="914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en-US" altLang="zh-CN" sz="1800" b="1"/>
              <a:t>Cyt c1</a:t>
            </a:r>
          </a:p>
        </p:txBody>
      </p:sp>
      <p:sp>
        <p:nvSpPr>
          <p:cNvPr id="302091" name="Text Box 11">
            <a:extLst>
              <a:ext uri="{FF2B5EF4-FFF2-40B4-BE49-F238E27FC236}">
                <a16:creationId xmlns:a16="http://schemas.microsoft.com/office/drawing/2014/main" id="{639B5AEC-2C72-4DB2-82AD-4E93812FD8CB}"/>
              </a:ext>
            </a:extLst>
          </p:cNvPr>
          <p:cNvSpPr txBox="1">
            <a:spLocks noChangeArrowheads="1"/>
          </p:cNvSpPr>
          <p:nvPr/>
        </p:nvSpPr>
        <p:spPr bwMode="auto">
          <a:xfrm>
            <a:off x="6270625" y="6491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en-US" altLang="zh-CN" sz="1800" b="1"/>
              <a:t>O2</a:t>
            </a:r>
          </a:p>
        </p:txBody>
      </p:sp>
      <p:sp>
        <p:nvSpPr>
          <p:cNvPr id="302092" name="Text Box 12">
            <a:extLst>
              <a:ext uri="{FF2B5EF4-FFF2-40B4-BE49-F238E27FC236}">
                <a16:creationId xmlns:a16="http://schemas.microsoft.com/office/drawing/2014/main" id="{ADFB2CC7-8245-482E-AE7D-405C13F95913}"/>
              </a:ext>
            </a:extLst>
          </p:cNvPr>
          <p:cNvSpPr txBox="1">
            <a:spLocks noChangeArrowheads="1"/>
          </p:cNvSpPr>
          <p:nvPr/>
        </p:nvSpPr>
        <p:spPr bwMode="auto">
          <a:xfrm>
            <a:off x="6042025" y="28336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en-US" altLang="zh-CN" sz="1800" b="1"/>
              <a:t>Cyt b</a:t>
            </a:r>
          </a:p>
        </p:txBody>
      </p:sp>
      <p:sp>
        <p:nvSpPr>
          <p:cNvPr id="302093" name="Text Box 13">
            <a:extLst>
              <a:ext uri="{FF2B5EF4-FFF2-40B4-BE49-F238E27FC236}">
                <a16:creationId xmlns:a16="http://schemas.microsoft.com/office/drawing/2014/main" id="{CFFB97A0-3F23-4404-9256-F83CD3E7BC5C}"/>
              </a:ext>
            </a:extLst>
          </p:cNvPr>
          <p:cNvSpPr txBox="1">
            <a:spLocks noChangeArrowheads="1"/>
          </p:cNvSpPr>
          <p:nvPr/>
        </p:nvSpPr>
        <p:spPr bwMode="auto">
          <a:xfrm>
            <a:off x="6118225" y="48910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en-US" altLang="zh-CN" sz="1800" b="1"/>
              <a:t>Cyt c</a:t>
            </a:r>
          </a:p>
        </p:txBody>
      </p:sp>
      <p:sp>
        <p:nvSpPr>
          <p:cNvPr id="302094" name="Text Box 14">
            <a:extLst>
              <a:ext uri="{FF2B5EF4-FFF2-40B4-BE49-F238E27FC236}">
                <a16:creationId xmlns:a16="http://schemas.microsoft.com/office/drawing/2014/main" id="{3E53EF4A-7E1E-45A6-A2EA-3A9B07EF7C10}"/>
              </a:ext>
            </a:extLst>
          </p:cNvPr>
          <p:cNvSpPr txBox="1">
            <a:spLocks noChangeArrowheads="1"/>
          </p:cNvSpPr>
          <p:nvPr/>
        </p:nvSpPr>
        <p:spPr bwMode="auto">
          <a:xfrm>
            <a:off x="5965825" y="5653088"/>
            <a:ext cx="990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en-US" altLang="zh-CN" sz="1800" b="1"/>
              <a:t>Cyt aa3</a:t>
            </a:r>
          </a:p>
        </p:txBody>
      </p:sp>
      <p:sp>
        <p:nvSpPr>
          <p:cNvPr id="302095" name="Text Box 15">
            <a:extLst>
              <a:ext uri="{FF2B5EF4-FFF2-40B4-BE49-F238E27FC236}">
                <a16:creationId xmlns:a16="http://schemas.microsoft.com/office/drawing/2014/main" id="{B6202D65-BA49-47BF-BB1F-35343765E710}"/>
              </a:ext>
            </a:extLst>
          </p:cNvPr>
          <p:cNvSpPr txBox="1">
            <a:spLocks noChangeArrowheads="1"/>
          </p:cNvSpPr>
          <p:nvPr/>
        </p:nvSpPr>
        <p:spPr bwMode="auto">
          <a:xfrm>
            <a:off x="6194425" y="14620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en-US" altLang="zh-CN" sz="1800" b="1">
                <a:solidFill>
                  <a:srgbClr val="CC0099"/>
                </a:solidFill>
              </a:rPr>
              <a:t>Fe-S</a:t>
            </a:r>
          </a:p>
        </p:txBody>
      </p:sp>
      <p:sp>
        <p:nvSpPr>
          <p:cNvPr id="302096" name="Line 16">
            <a:extLst>
              <a:ext uri="{FF2B5EF4-FFF2-40B4-BE49-F238E27FC236}">
                <a16:creationId xmlns:a16="http://schemas.microsoft.com/office/drawing/2014/main" id="{ED9C8FB8-BB00-4BF8-AA46-EDAF8C411DA1}"/>
              </a:ext>
            </a:extLst>
          </p:cNvPr>
          <p:cNvSpPr>
            <a:spLocks noChangeShapeType="1"/>
          </p:cNvSpPr>
          <p:nvPr/>
        </p:nvSpPr>
        <p:spPr bwMode="auto">
          <a:xfrm>
            <a:off x="6423025" y="471488"/>
            <a:ext cx="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2097" name="Line 17">
            <a:extLst>
              <a:ext uri="{FF2B5EF4-FFF2-40B4-BE49-F238E27FC236}">
                <a16:creationId xmlns:a16="http://schemas.microsoft.com/office/drawing/2014/main" id="{E25D4BDB-B38F-4730-8F22-18CCCF0AD9FC}"/>
              </a:ext>
            </a:extLst>
          </p:cNvPr>
          <p:cNvSpPr>
            <a:spLocks noChangeShapeType="1"/>
          </p:cNvSpPr>
          <p:nvPr/>
        </p:nvSpPr>
        <p:spPr bwMode="auto">
          <a:xfrm>
            <a:off x="6423025" y="4419600"/>
            <a:ext cx="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2098" name="Line 18">
            <a:extLst>
              <a:ext uri="{FF2B5EF4-FFF2-40B4-BE49-F238E27FC236}">
                <a16:creationId xmlns:a16="http://schemas.microsoft.com/office/drawing/2014/main" id="{992DEE90-2075-4295-BCDC-0EABA13B5E73}"/>
              </a:ext>
            </a:extLst>
          </p:cNvPr>
          <p:cNvSpPr>
            <a:spLocks noChangeShapeType="1"/>
          </p:cNvSpPr>
          <p:nvPr/>
        </p:nvSpPr>
        <p:spPr bwMode="auto">
          <a:xfrm>
            <a:off x="6423025" y="5181600"/>
            <a:ext cx="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2099" name="Line 19">
            <a:extLst>
              <a:ext uri="{FF2B5EF4-FFF2-40B4-BE49-F238E27FC236}">
                <a16:creationId xmlns:a16="http://schemas.microsoft.com/office/drawing/2014/main" id="{13C62DD4-5F40-4821-A288-DC2FA09497A6}"/>
              </a:ext>
            </a:extLst>
          </p:cNvPr>
          <p:cNvSpPr>
            <a:spLocks noChangeShapeType="1"/>
          </p:cNvSpPr>
          <p:nvPr/>
        </p:nvSpPr>
        <p:spPr bwMode="auto">
          <a:xfrm>
            <a:off x="6423025" y="5943600"/>
            <a:ext cx="0" cy="5476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2100" name="Line 20">
            <a:extLst>
              <a:ext uri="{FF2B5EF4-FFF2-40B4-BE49-F238E27FC236}">
                <a16:creationId xmlns:a16="http://schemas.microsoft.com/office/drawing/2014/main" id="{CD4B0F4E-9C66-4211-927B-FB726F419A29}"/>
              </a:ext>
            </a:extLst>
          </p:cNvPr>
          <p:cNvSpPr>
            <a:spLocks noChangeShapeType="1"/>
          </p:cNvSpPr>
          <p:nvPr/>
        </p:nvSpPr>
        <p:spPr bwMode="auto">
          <a:xfrm>
            <a:off x="6423025" y="1143000"/>
            <a:ext cx="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2101" name="Line 21">
            <a:extLst>
              <a:ext uri="{FF2B5EF4-FFF2-40B4-BE49-F238E27FC236}">
                <a16:creationId xmlns:a16="http://schemas.microsoft.com/office/drawing/2014/main" id="{2505CA8B-181A-4C6A-9BB5-F793D4DFBFA9}"/>
              </a:ext>
            </a:extLst>
          </p:cNvPr>
          <p:cNvSpPr>
            <a:spLocks noChangeShapeType="1"/>
          </p:cNvSpPr>
          <p:nvPr/>
        </p:nvSpPr>
        <p:spPr bwMode="auto">
          <a:xfrm>
            <a:off x="6423025" y="1752600"/>
            <a:ext cx="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2102" name="Line 22">
            <a:extLst>
              <a:ext uri="{FF2B5EF4-FFF2-40B4-BE49-F238E27FC236}">
                <a16:creationId xmlns:a16="http://schemas.microsoft.com/office/drawing/2014/main" id="{26012EF6-415A-4664-8F5A-BBC27B299CC2}"/>
              </a:ext>
            </a:extLst>
          </p:cNvPr>
          <p:cNvSpPr>
            <a:spLocks noChangeShapeType="1"/>
          </p:cNvSpPr>
          <p:nvPr/>
        </p:nvSpPr>
        <p:spPr bwMode="auto">
          <a:xfrm>
            <a:off x="6423025" y="2438400"/>
            <a:ext cx="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2103" name="Line 23">
            <a:extLst>
              <a:ext uri="{FF2B5EF4-FFF2-40B4-BE49-F238E27FC236}">
                <a16:creationId xmlns:a16="http://schemas.microsoft.com/office/drawing/2014/main" id="{651B33F6-11F7-40BF-8265-568DDA34D118}"/>
              </a:ext>
            </a:extLst>
          </p:cNvPr>
          <p:cNvSpPr>
            <a:spLocks noChangeShapeType="1"/>
          </p:cNvSpPr>
          <p:nvPr/>
        </p:nvSpPr>
        <p:spPr bwMode="auto">
          <a:xfrm>
            <a:off x="6423025" y="3200400"/>
            <a:ext cx="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2104" name="Line 24">
            <a:extLst>
              <a:ext uri="{FF2B5EF4-FFF2-40B4-BE49-F238E27FC236}">
                <a16:creationId xmlns:a16="http://schemas.microsoft.com/office/drawing/2014/main" id="{18271D17-0CB9-4999-876B-914D0F0128EC}"/>
              </a:ext>
            </a:extLst>
          </p:cNvPr>
          <p:cNvSpPr>
            <a:spLocks noChangeShapeType="1"/>
          </p:cNvSpPr>
          <p:nvPr/>
        </p:nvSpPr>
        <p:spPr bwMode="auto">
          <a:xfrm>
            <a:off x="6423025" y="3810000"/>
            <a:ext cx="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02105" name="Group 25">
            <a:extLst>
              <a:ext uri="{FF2B5EF4-FFF2-40B4-BE49-F238E27FC236}">
                <a16:creationId xmlns:a16="http://schemas.microsoft.com/office/drawing/2014/main" id="{6735ADF7-17D6-4240-80F0-B2183F60D3C3}"/>
              </a:ext>
            </a:extLst>
          </p:cNvPr>
          <p:cNvGrpSpPr>
            <a:grpSpLocks/>
          </p:cNvGrpSpPr>
          <p:nvPr/>
        </p:nvGrpSpPr>
        <p:grpSpPr bwMode="auto">
          <a:xfrm>
            <a:off x="5889625" y="700088"/>
            <a:ext cx="990600" cy="1204912"/>
            <a:chOff x="3792" y="288"/>
            <a:chExt cx="624" cy="720"/>
          </a:xfrm>
        </p:grpSpPr>
        <p:sp>
          <p:nvSpPr>
            <p:cNvPr id="302106" name="Line 26">
              <a:extLst>
                <a:ext uri="{FF2B5EF4-FFF2-40B4-BE49-F238E27FC236}">
                  <a16:creationId xmlns:a16="http://schemas.microsoft.com/office/drawing/2014/main" id="{5704CAE7-6A59-43E1-B6BF-21C351CDE46B}"/>
                </a:ext>
              </a:extLst>
            </p:cNvPr>
            <p:cNvSpPr>
              <a:spLocks noChangeShapeType="1"/>
            </p:cNvSpPr>
            <p:nvPr/>
          </p:nvSpPr>
          <p:spPr bwMode="auto">
            <a:xfrm>
              <a:off x="3792" y="288"/>
              <a:ext cx="624" cy="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2107" name="Line 27">
              <a:extLst>
                <a:ext uri="{FF2B5EF4-FFF2-40B4-BE49-F238E27FC236}">
                  <a16:creationId xmlns:a16="http://schemas.microsoft.com/office/drawing/2014/main" id="{9B101322-460A-4CF3-A845-393045926DDB}"/>
                </a:ext>
              </a:extLst>
            </p:cNvPr>
            <p:cNvSpPr>
              <a:spLocks noChangeShapeType="1"/>
            </p:cNvSpPr>
            <p:nvPr/>
          </p:nvSpPr>
          <p:spPr bwMode="auto">
            <a:xfrm>
              <a:off x="3792" y="1008"/>
              <a:ext cx="624" cy="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2108" name="Line 28">
              <a:extLst>
                <a:ext uri="{FF2B5EF4-FFF2-40B4-BE49-F238E27FC236}">
                  <a16:creationId xmlns:a16="http://schemas.microsoft.com/office/drawing/2014/main" id="{E79C65BF-F78C-4C0B-8A0D-FA34F6AA7701}"/>
                </a:ext>
              </a:extLst>
            </p:cNvPr>
            <p:cNvSpPr>
              <a:spLocks noChangeShapeType="1"/>
            </p:cNvSpPr>
            <p:nvPr/>
          </p:nvSpPr>
          <p:spPr bwMode="auto">
            <a:xfrm flipV="1">
              <a:off x="3792" y="288"/>
              <a:ext cx="0" cy="72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2109" name="Line 29">
              <a:extLst>
                <a:ext uri="{FF2B5EF4-FFF2-40B4-BE49-F238E27FC236}">
                  <a16:creationId xmlns:a16="http://schemas.microsoft.com/office/drawing/2014/main" id="{0478A563-DC93-4952-853D-F33E8BBA94F2}"/>
                </a:ext>
              </a:extLst>
            </p:cNvPr>
            <p:cNvSpPr>
              <a:spLocks noChangeShapeType="1"/>
            </p:cNvSpPr>
            <p:nvPr/>
          </p:nvSpPr>
          <p:spPr bwMode="auto">
            <a:xfrm flipV="1">
              <a:off x="4416" y="288"/>
              <a:ext cx="0" cy="72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02110" name="Group 30">
            <a:extLst>
              <a:ext uri="{FF2B5EF4-FFF2-40B4-BE49-F238E27FC236}">
                <a16:creationId xmlns:a16="http://schemas.microsoft.com/office/drawing/2014/main" id="{5B313666-E8A2-4F79-8F0F-36BEA02F98B4}"/>
              </a:ext>
            </a:extLst>
          </p:cNvPr>
          <p:cNvGrpSpPr>
            <a:grpSpLocks/>
          </p:cNvGrpSpPr>
          <p:nvPr/>
        </p:nvGrpSpPr>
        <p:grpSpPr bwMode="auto">
          <a:xfrm>
            <a:off x="5889625" y="5410200"/>
            <a:ext cx="990600" cy="762000"/>
            <a:chOff x="3792" y="288"/>
            <a:chExt cx="624" cy="720"/>
          </a:xfrm>
        </p:grpSpPr>
        <p:sp>
          <p:nvSpPr>
            <p:cNvPr id="302111" name="Line 31">
              <a:extLst>
                <a:ext uri="{FF2B5EF4-FFF2-40B4-BE49-F238E27FC236}">
                  <a16:creationId xmlns:a16="http://schemas.microsoft.com/office/drawing/2014/main" id="{CA2AD3F4-81CA-47CB-805B-AB28502D6ACD}"/>
                </a:ext>
              </a:extLst>
            </p:cNvPr>
            <p:cNvSpPr>
              <a:spLocks noChangeShapeType="1"/>
            </p:cNvSpPr>
            <p:nvPr/>
          </p:nvSpPr>
          <p:spPr bwMode="auto">
            <a:xfrm>
              <a:off x="3792" y="288"/>
              <a:ext cx="624" cy="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2112" name="Line 32">
              <a:extLst>
                <a:ext uri="{FF2B5EF4-FFF2-40B4-BE49-F238E27FC236}">
                  <a16:creationId xmlns:a16="http://schemas.microsoft.com/office/drawing/2014/main" id="{AC38AB0B-45C2-424B-9B01-CF4EB67885EF}"/>
                </a:ext>
              </a:extLst>
            </p:cNvPr>
            <p:cNvSpPr>
              <a:spLocks noChangeShapeType="1"/>
            </p:cNvSpPr>
            <p:nvPr/>
          </p:nvSpPr>
          <p:spPr bwMode="auto">
            <a:xfrm>
              <a:off x="3792" y="1008"/>
              <a:ext cx="624" cy="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2113" name="Line 33">
              <a:extLst>
                <a:ext uri="{FF2B5EF4-FFF2-40B4-BE49-F238E27FC236}">
                  <a16:creationId xmlns:a16="http://schemas.microsoft.com/office/drawing/2014/main" id="{6D3A4B6B-8B1B-4500-BB02-B89C91742E98}"/>
                </a:ext>
              </a:extLst>
            </p:cNvPr>
            <p:cNvSpPr>
              <a:spLocks noChangeShapeType="1"/>
            </p:cNvSpPr>
            <p:nvPr/>
          </p:nvSpPr>
          <p:spPr bwMode="auto">
            <a:xfrm flipV="1">
              <a:off x="3792" y="288"/>
              <a:ext cx="0" cy="72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2114" name="Line 34">
              <a:extLst>
                <a:ext uri="{FF2B5EF4-FFF2-40B4-BE49-F238E27FC236}">
                  <a16:creationId xmlns:a16="http://schemas.microsoft.com/office/drawing/2014/main" id="{D252D401-1953-46CE-9416-187B38F34EDF}"/>
                </a:ext>
              </a:extLst>
            </p:cNvPr>
            <p:cNvSpPr>
              <a:spLocks noChangeShapeType="1"/>
            </p:cNvSpPr>
            <p:nvPr/>
          </p:nvSpPr>
          <p:spPr bwMode="auto">
            <a:xfrm flipV="1">
              <a:off x="4416" y="288"/>
              <a:ext cx="0" cy="72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02115" name="Group 35">
            <a:extLst>
              <a:ext uri="{FF2B5EF4-FFF2-40B4-BE49-F238E27FC236}">
                <a16:creationId xmlns:a16="http://schemas.microsoft.com/office/drawing/2014/main" id="{B0ABBF8D-9139-466E-8B42-8CE5EC98DE49}"/>
              </a:ext>
            </a:extLst>
          </p:cNvPr>
          <p:cNvGrpSpPr>
            <a:grpSpLocks/>
          </p:cNvGrpSpPr>
          <p:nvPr/>
        </p:nvGrpSpPr>
        <p:grpSpPr bwMode="auto">
          <a:xfrm>
            <a:off x="5889625" y="2667000"/>
            <a:ext cx="1066800" cy="1981200"/>
            <a:chOff x="3744" y="1440"/>
            <a:chExt cx="672" cy="1296"/>
          </a:xfrm>
        </p:grpSpPr>
        <p:sp>
          <p:nvSpPr>
            <p:cNvPr id="302116" name="Line 36">
              <a:extLst>
                <a:ext uri="{FF2B5EF4-FFF2-40B4-BE49-F238E27FC236}">
                  <a16:creationId xmlns:a16="http://schemas.microsoft.com/office/drawing/2014/main" id="{E54B1D35-DA08-4F9A-A5B2-D0E8266F1D5A}"/>
                </a:ext>
              </a:extLst>
            </p:cNvPr>
            <p:cNvSpPr>
              <a:spLocks noChangeShapeType="1"/>
            </p:cNvSpPr>
            <p:nvPr/>
          </p:nvSpPr>
          <p:spPr bwMode="auto">
            <a:xfrm>
              <a:off x="3744" y="1440"/>
              <a:ext cx="672" cy="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2117" name="Line 37">
              <a:extLst>
                <a:ext uri="{FF2B5EF4-FFF2-40B4-BE49-F238E27FC236}">
                  <a16:creationId xmlns:a16="http://schemas.microsoft.com/office/drawing/2014/main" id="{FC6B395F-8D14-4F3B-809E-450709A37D1D}"/>
                </a:ext>
              </a:extLst>
            </p:cNvPr>
            <p:cNvSpPr>
              <a:spLocks noChangeShapeType="1"/>
            </p:cNvSpPr>
            <p:nvPr/>
          </p:nvSpPr>
          <p:spPr bwMode="auto">
            <a:xfrm>
              <a:off x="3744" y="2736"/>
              <a:ext cx="672" cy="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2118" name="Line 38">
              <a:extLst>
                <a:ext uri="{FF2B5EF4-FFF2-40B4-BE49-F238E27FC236}">
                  <a16:creationId xmlns:a16="http://schemas.microsoft.com/office/drawing/2014/main" id="{B3E22D2B-9BE3-4865-9500-5C1FD24814F2}"/>
                </a:ext>
              </a:extLst>
            </p:cNvPr>
            <p:cNvSpPr>
              <a:spLocks noChangeShapeType="1"/>
            </p:cNvSpPr>
            <p:nvPr/>
          </p:nvSpPr>
          <p:spPr bwMode="auto">
            <a:xfrm flipV="1">
              <a:off x="3744" y="1440"/>
              <a:ext cx="0" cy="1296"/>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2119" name="Line 39">
              <a:extLst>
                <a:ext uri="{FF2B5EF4-FFF2-40B4-BE49-F238E27FC236}">
                  <a16:creationId xmlns:a16="http://schemas.microsoft.com/office/drawing/2014/main" id="{F71A30A4-5236-4A45-89E3-A304473EA441}"/>
                </a:ext>
              </a:extLst>
            </p:cNvPr>
            <p:cNvSpPr>
              <a:spLocks noChangeShapeType="1"/>
            </p:cNvSpPr>
            <p:nvPr/>
          </p:nvSpPr>
          <p:spPr bwMode="auto">
            <a:xfrm flipV="1">
              <a:off x="4416" y="1440"/>
              <a:ext cx="0" cy="1296"/>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02120" name="Group 40">
            <a:extLst>
              <a:ext uri="{FF2B5EF4-FFF2-40B4-BE49-F238E27FC236}">
                <a16:creationId xmlns:a16="http://schemas.microsoft.com/office/drawing/2014/main" id="{B2371131-B7D0-42A9-BD48-1C651B143FC3}"/>
              </a:ext>
            </a:extLst>
          </p:cNvPr>
          <p:cNvGrpSpPr>
            <a:grpSpLocks/>
          </p:cNvGrpSpPr>
          <p:nvPr/>
        </p:nvGrpSpPr>
        <p:grpSpPr bwMode="auto">
          <a:xfrm>
            <a:off x="2051050" y="1773238"/>
            <a:ext cx="3097213" cy="685800"/>
            <a:chOff x="2064" y="1056"/>
            <a:chExt cx="1392" cy="432"/>
          </a:xfrm>
        </p:grpSpPr>
        <p:sp>
          <p:nvSpPr>
            <p:cNvPr id="302121" name="Line 41">
              <a:extLst>
                <a:ext uri="{FF2B5EF4-FFF2-40B4-BE49-F238E27FC236}">
                  <a16:creationId xmlns:a16="http://schemas.microsoft.com/office/drawing/2014/main" id="{3A128681-9D0A-4EE7-BC0F-29A9256E4FF4}"/>
                </a:ext>
              </a:extLst>
            </p:cNvPr>
            <p:cNvSpPr>
              <a:spLocks noChangeShapeType="1"/>
            </p:cNvSpPr>
            <p:nvPr/>
          </p:nvSpPr>
          <p:spPr bwMode="auto">
            <a:xfrm>
              <a:off x="2064" y="1056"/>
              <a:ext cx="1392" cy="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2122" name="Line 42">
              <a:extLst>
                <a:ext uri="{FF2B5EF4-FFF2-40B4-BE49-F238E27FC236}">
                  <a16:creationId xmlns:a16="http://schemas.microsoft.com/office/drawing/2014/main" id="{C8EB5D6C-EF6D-4CF9-B6C3-B56B8F7D49B5}"/>
                </a:ext>
              </a:extLst>
            </p:cNvPr>
            <p:cNvSpPr>
              <a:spLocks noChangeShapeType="1"/>
            </p:cNvSpPr>
            <p:nvPr/>
          </p:nvSpPr>
          <p:spPr bwMode="auto">
            <a:xfrm>
              <a:off x="2064" y="1488"/>
              <a:ext cx="1392" cy="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2123" name="Line 43">
              <a:extLst>
                <a:ext uri="{FF2B5EF4-FFF2-40B4-BE49-F238E27FC236}">
                  <a16:creationId xmlns:a16="http://schemas.microsoft.com/office/drawing/2014/main" id="{EC306CFE-1CA0-458B-8CE5-BDE75D3CBC3C}"/>
                </a:ext>
              </a:extLst>
            </p:cNvPr>
            <p:cNvSpPr>
              <a:spLocks noChangeShapeType="1"/>
            </p:cNvSpPr>
            <p:nvPr/>
          </p:nvSpPr>
          <p:spPr bwMode="auto">
            <a:xfrm flipV="1">
              <a:off x="2064" y="1056"/>
              <a:ext cx="0" cy="432"/>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2124" name="Line 44">
              <a:extLst>
                <a:ext uri="{FF2B5EF4-FFF2-40B4-BE49-F238E27FC236}">
                  <a16:creationId xmlns:a16="http://schemas.microsoft.com/office/drawing/2014/main" id="{C0012A65-DA65-4D34-8238-C8E8CAD3752E}"/>
                </a:ext>
              </a:extLst>
            </p:cNvPr>
            <p:cNvSpPr>
              <a:spLocks noChangeShapeType="1"/>
            </p:cNvSpPr>
            <p:nvPr/>
          </p:nvSpPr>
          <p:spPr bwMode="auto">
            <a:xfrm flipV="1">
              <a:off x="3456" y="1056"/>
              <a:ext cx="0" cy="432"/>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02125" name="Line 45">
            <a:extLst>
              <a:ext uri="{FF2B5EF4-FFF2-40B4-BE49-F238E27FC236}">
                <a16:creationId xmlns:a16="http://schemas.microsoft.com/office/drawing/2014/main" id="{D4A37416-4658-4831-8C30-95C0F2E51413}"/>
              </a:ext>
            </a:extLst>
          </p:cNvPr>
          <p:cNvSpPr>
            <a:spLocks noChangeShapeType="1"/>
          </p:cNvSpPr>
          <p:nvPr/>
        </p:nvSpPr>
        <p:spPr bwMode="auto">
          <a:xfrm>
            <a:off x="5203825" y="2133600"/>
            <a:ext cx="914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2126" name="Text Box 46">
            <a:extLst>
              <a:ext uri="{FF2B5EF4-FFF2-40B4-BE49-F238E27FC236}">
                <a16:creationId xmlns:a16="http://schemas.microsoft.com/office/drawing/2014/main" id="{E799D5F6-DF54-4745-B82B-FB87AE56FFE2}"/>
              </a:ext>
            </a:extLst>
          </p:cNvPr>
          <p:cNvSpPr txBox="1">
            <a:spLocks noChangeArrowheads="1"/>
          </p:cNvSpPr>
          <p:nvPr/>
        </p:nvSpPr>
        <p:spPr bwMode="auto">
          <a:xfrm>
            <a:off x="3365500" y="196373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en-US" altLang="zh-CN" sz="1800" b="1"/>
              <a:t>FMN</a:t>
            </a:r>
          </a:p>
        </p:txBody>
      </p:sp>
      <p:sp>
        <p:nvSpPr>
          <p:cNvPr id="302127" name="Text Box 47">
            <a:extLst>
              <a:ext uri="{FF2B5EF4-FFF2-40B4-BE49-F238E27FC236}">
                <a16:creationId xmlns:a16="http://schemas.microsoft.com/office/drawing/2014/main" id="{699F90F5-ACED-4B31-862F-C57C52FCA6E0}"/>
              </a:ext>
            </a:extLst>
          </p:cNvPr>
          <p:cNvSpPr txBox="1">
            <a:spLocks noChangeArrowheads="1"/>
          </p:cNvSpPr>
          <p:nvPr/>
        </p:nvSpPr>
        <p:spPr bwMode="auto">
          <a:xfrm>
            <a:off x="4538663" y="1951038"/>
            <a:ext cx="914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en-US" altLang="zh-CN" sz="1800" b="1"/>
              <a:t>Fe-S</a:t>
            </a:r>
          </a:p>
        </p:txBody>
      </p:sp>
      <p:sp>
        <p:nvSpPr>
          <p:cNvPr id="302128" name="Line 48">
            <a:extLst>
              <a:ext uri="{FF2B5EF4-FFF2-40B4-BE49-F238E27FC236}">
                <a16:creationId xmlns:a16="http://schemas.microsoft.com/office/drawing/2014/main" id="{BD74E2B3-68A6-4355-86BE-D775F8AFAAD2}"/>
              </a:ext>
            </a:extLst>
          </p:cNvPr>
          <p:cNvSpPr>
            <a:spLocks noChangeShapeType="1"/>
          </p:cNvSpPr>
          <p:nvPr/>
        </p:nvSpPr>
        <p:spPr bwMode="auto">
          <a:xfrm>
            <a:off x="4060825" y="2133600"/>
            <a:ext cx="533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2129" name="Line 49">
            <a:extLst>
              <a:ext uri="{FF2B5EF4-FFF2-40B4-BE49-F238E27FC236}">
                <a16:creationId xmlns:a16="http://schemas.microsoft.com/office/drawing/2014/main" id="{D8E9C7AE-E8AD-4B9A-9FDA-5958A49B9083}"/>
              </a:ext>
            </a:extLst>
          </p:cNvPr>
          <p:cNvSpPr>
            <a:spLocks noChangeShapeType="1"/>
          </p:cNvSpPr>
          <p:nvPr/>
        </p:nvSpPr>
        <p:spPr bwMode="auto">
          <a:xfrm>
            <a:off x="2917825" y="2133600"/>
            <a:ext cx="533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2130" name="Text Box 50">
            <a:extLst>
              <a:ext uri="{FF2B5EF4-FFF2-40B4-BE49-F238E27FC236}">
                <a16:creationId xmlns:a16="http://schemas.microsoft.com/office/drawing/2014/main" id="{938A2D21-EFC5-4B54-9235-8B50B2AC8E40}"/>
              </a:ext>
            </a:extLst>
          </p:cNvPr>
          <p:cNvSpPr txBox="1">
            <a:spLocks noChangeArrowheads="1"/>
          </p:cNvSpPr>
          <p:nvPr/>
        </p:nvSpPr>
        <p:spPr bwMode="auto">
          <a:xfrm>
            <a:off x="2051050" y="1958975"/>
            <a:ext cx="914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zh-CN" altLang="en-US" sz="1800" b="1"/>
              <a:t>琥珀酸</a:t>
            </a:r>
          </a:p>
        </p:txBody>
      </p:sp>
      <p:sp>
        <p:nvSpPr>
          <p:cNvPr id="302131" name="Text Box 51">
            <a:extLst>
              <a:ext uri="{FF2B5EF4-FFF2-40B4-BE49-F238E27FC236}">
                <a16:creationId xmlns:a16="http://schemas.microsoft.com/office/drawing/2014/main" id="{DE2014C6-F866-486D-BF83-CC6FA241E239}"/>
              </a:ext>
            </a:extLst>
          </p:cNvPr>
          <p:cNvSpPr txBox="1">
            <a:spLocks noChangeArrowheads="1"/>
          </p:cNvSpPr>
          <p:nvPr/>
        </p:nvSpPr>
        <p:spPr bwMode="auto">
          <a:xfrm>
            <a:off x="3492500" y="2492375"/>
            <a:ext cx="137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zh-CN" altLang="en-US" sz="2000" b="1">
                <a:solidFill>
                  <a:srgbClr val="0000CC"/>
                </a:solidFill>
              </a:rPr>
              <a:t>复合物 </a:t>
            </a:r>
            <a:r>
              <a:rPr kumimoji="0" lang="en-US" altLang="zh-CN" b="1">
                <a:solidFill>
                  <a:srgbClr val="0000CC"/>
                </a:solidFill>
              </a:rPr>
              <a:t>II</a:t>
            </a:r>
          </a:p>
        </p:txBody>
      </p:sp>
      <p:sp>
        <p:nvSpPr>
          <p:cNvPr id="302132" name="Text Box 52">
            <a:extLst>
              <a:ext uri="{FF2B5EF4-FFF2-40B4-BE49-F238E27FC236}">
                <a16:creationId xmlns:a16="http://schemas.microsoft.com/office/drawing/2014/main" id="{998981EB-9046-492B-9FFC-A6AA475F40BB}"/>
              </a:ext>
            </a:extLst>
          </p:cNvPr>
          <p:cNvSpPr txBox="1">
            <a:spLocks noChangeArrowheads="1"/>
          </p:cNvSpPr>
          <p:nvPr/>
        </p:nvSpPr>
        <p:spPr bwMode="auto">
          <a:xfrm>
            <a:off x="6956425" y="5638800"/>
            <a:ext cx="144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zh-CN" altLang="en-US" sz="2000" b="1">
                <a:solidFill>
                  <a:srgbClr val="0000CC"/>
                </a:solidFill>
              </a:rPr>
              <a:t>复合物 </a:t>
            </a:r>
            <a:r>
              <a:rPr kumimoji="0" lang="en-US" altLang="zh-CN" b="1">
                <a:solidFill>
                  <a:srgbClr val="0000CC"/>
                </a:solidFill>
              </a:rPr>
              <a:t>IV</a:t>
            </a:r>
          </a:p>
        </p:txBody>
      </p:sp>
      <p:sp>
        <p:nvSpPr>
          <p:cNvPr id="302133" name="Text Box 53">
            <a:extLst>
              <a:ext uri="{FF2B5EF4-FFF2-40B4-BE49-F238E27FC236}">
                <a16:creationId xmlns:a16="http://schemas.microsoft.com/office/drawing/2014/main" id="{0EB23070-55BF-4B19-A19B-B06E3180FA16}"/>
              </a:ext>
            </a:extLst>
          </p:cNvPr>
          <p:cNvSpPr txBox="1">
            <a:spLocks noChangeArrowheads="1"/>
          </p:cNvSpPr>
          <p:nvPr/>
        </p:nvSpPr>
        <p:spPr bwMode="auto">
          <a:xfrm>
            <a:off x="6880225" y="990600"/>
            <a:ext cx="114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zh-CN" altLang="en-US" sz="2000" b="1">
                <a:solidFill>
                  <a:srgbClr val="0000CC"/>
                </a:solidFill>
              </a:rPr>
              <a:t>复合物 </a:t>
            </a:r>
            <a:r>
              <a:rPr kumimoji="0" lang="en-US" altLang="zh-CN" b="1">
                <a:solidFill>
                  <a:srgbClr val="0000CC"/>
                </a:solidFill>
              </a:rPr>
              <a:t>I</a:t>
            </a:r>
          </a:p>
        </p:txBody>
      </p:sp>
      <p:sp>
        <p:nvSpPr>
          <p:cNvPr id="302134" name="Text Box 54">
            <a:extLst>
              <a:ext uri="{FF2B5EF4-FFF2-40B4-BE49-F238E27FC236}">
                <a16:creationId xmlns:a16="http://schemas.microsoft.com/office/drawing/2014/main" id="{C7741250-448D-4BF8-89DF-BF33B7044D32}"/>
              </a:ext>
            </a:extLst>
          </p:cNvPr>
          <p:cNvSpPr txBox="1">
            <a:spLocks noChangeArrowheads="1"/>
          </p:cNvSpPr>
          <p:nvPr/>
        </p:nvSpPr>
        <p:spPr bwMode="auto">
          <a:xfrm>
            <a:off x="6880225" y="3200400"/>
            <a:ext cx="137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zh-CN" altLang="en-US" sz="2000" b="1">
                <a:solidFill>
                  <a:srgbClr val="0000CC"/>
                </a:solidFill>
              </a:rPr>
              <a:t>复合物 </a:t>
            </a:r>
            <a:r>
              <a:rPr kumimoji="0" lang="en-US" altLang="zh-CN" b="1">
                <a:solidFill>
                  <a:srgbClr val="0000CC"/>
                </a:solidFill>
              </a:rPr>
              <a:t>III</a:t>
            </a:r>
          </a:p>
        </p:txBody>
      </p:sp>
      <p:grpSp>
        <p:nvGrpSpPr>
          <p:cNvPr id="302141" name="Group 61">
            <a:extLst>
              <a:ext uri="{FF2B5EF4-FFF2-40B4-BE49-F238E27FC236}">
                <a16:creationId xmlns:a16="http://schemas.microsoft.com/office/drawing/2014/main" id="{6D1C6725-8CB3-48A2-9434-EAA2EDABE551}"/>
              </a:ext>
            </a:extLst>
          </p:cNvPr>
          <p:cNvGrpSpPr>
            <a:grpSpLocks/>
          </p:cNvGrpSpPr>
          <p:nvPr/>
        </p:nvGrpSpPr>
        <p:grpSpPr bwMode="auto">
          <a:xfrm>
            <a:off x="3832225" y="3352800"/>
            <a:ext cx="1905000" cy="366713"/>
            <a:chOff x="2352" y="2064"/>
            <a:chExt cx="1200" cy="231"/>
          </a:xfrm>
        </p:grpSpPr>
        <p:sp>
          <p:nvSpPr>
            <p:cNvPr id="302142" name="Text Box 62">
              <a:extLst>
                <a:ext uri="{FF2B5EF4-FFF2-40B4-BE49-F238E27FC236}">
                  <a16:creationId xmlns:a16="http://schemas.microsoft.com/office/drawing/2014/main" id="{EBD5E9EC-D080-4996-BA6D-01C619A8171A}"/>
                </a:ext>
              </a:extLst>
            </p:cNvPr>
            <p:cNvSpPr txBox="1">
              <a:spLocks noChangeArrowheads="1"/>
            </p:cNvSpPr>
            <p:nvPr/>
          </p:nvSpPr>
          <p:spPr bwMode="auto">
            <a:xfrm>
              <a:off x="2352" y="2064"/>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zh-CN" altLang="en-US" sz="1800" b="1">
                  <a:solidFill>
                    <a:srgbClr val="CC0099"/>
                  </a:solidFill>
                </a:rPr>
                <a:t>抗霉素</a:t>
              </a:r>
              <a:r>
                <a:rPr kumimoji="0" lang="en-US" altLang="zh-CN" sz="1800" b="1">
                  <a:solidFill>
                    <a:srgbClr val="CC0099"/>
                  </a:solidFill>
                </a:rPr>
                <a:t>A</a:t>
              </a:r>
            </a:p>
          </p:txBody>
        </p:sp>
        <p:sp>
          <p:nvSpPr>
            <p:cNvPr id="302143" name="Line 63">
              <a:extLst>
                <a:ext uri="{FF2B5EF4-FFF2-40B4-BE49-F238E27FC236}">
                  <a16:creationId xmlns:a16="http://schemas.microsoft.com/office/drawing/2014/main" id="{2866B5B6-2EB0-493B-8439-F244D2FB21D6}"/>
                </a:ext>
              </a:extLst>
            </p:cNvPr>
            <p:cNvSpPr>
              <a:spLocks noChangeShapeType="1"/>
            </p:cNvSpPr>
            <p:nvPr/>
          </p:nvSpPr>
          <p:spPr bwMode="auto">
            <a:xfrm>
              <a:off x="3024" y="2160"/>
              <a:ext cx="528" cy="0"/>
            </a:xfrm>
            <a:prstGeom prst="line">
              <a:avLst/>
            </a:prstGeom>
            <a:noFill/>
            <a:ln w="28575">
              <a:solidFill>
                <a:schemeClr val="tx1"/>
              </a:solidFill>
              <a:prstDash val="lgDashDot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02144" name="Group 64">
            <a:extLst>
              <a:ext uri="{FF2B5EF4-FFF2-40B4-BE49-F238E27FC236}">
                <a16:creationId xmlns:a16="http://schemas.microsoft.com/office/drawing/2014/main" id="{0AB1B2D9-70FC-4F5F-80B7-6CC3B67C91EB}"/>
              </a:ext>
            </a:extLst>
          </p:cNvPr>
          <p:cNvGrpSpPr>
            <a:grpSpLocks/>
          </p:cNvGrpSpPr>
          <p:nvPr/>
        </p:nvGrpSpPr>
        <p:grpSpPr bwMode="auto">
          <a:xfrm>
            <a:off x="3527425" y="5734050"/>
            <a:ext cx="2362200" cy="369888"/>
            <a:chOff x="2064" y="3264"/>
            <a:chExt cx="1488" cy="233"/>
          </a:xfrm>
        </p:grpSpPr>
        <p:sp>
          <p:nvSpPr>
            <p:cNvPr id="302145" name="Text Box 65">
              <a:extLst>
                <a:ext uri="{FF2B5EF4-FFF2-40B4-BE49-F238E27FC236}">
                  <a16:creationId xmlns:a16="http://schemas.microsoft.com/office/drawing/2014/main" id="{911CE230-4DFA-4A95-97F7-39F690B59743}"/>
                </a:ext>
              </a:extLst>
            </p:cNvPr>
            <p:cNvSpPr txBox="1">
              <a:spLocks noChangeArrowheads="1"/>
            </p:cNvSpPr>
            <p:nvPr/>
          </p:nvSpPr>
          <p:spPr bwMode="auto">
            <a:xfrm>
              <a:off x="2064" y="3264"/>
              <a:ext cx="100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spcBef>
                  <a:spcPct val="50000"/>
                </a:spcBef>
              </a:pPr>
              <a:r>
                <a:rPr kumimoji="0" lang="zh-CN" altLang="en-US" sz="1800" b="1" dirty="0">
                  <a:solidFill>
                    <a:srgbClr val="CC0099"/>
                  </a:solidFill>
                </a:rPr>
                <a:t>氰化物</a:t>
              </a:r>
              <a:r>
                <a:rPr kumimoji="0" lang="en-US" altLang="zh-CN" sz="1800" b="1" dirty="0">
                  <a:solidFill>
                    <a:srgbClr val="CC0099"/>
                  </a:solidFill>
                </a:rPr>
                <a:t>CN</a:t>
              </a:r>
              <a:r>
                <a:rPr kumimoji="0" lang="en-US" altLang="zh-CN" sz="1800" b="1" baseline="30000" dirty="0">
                  <a:solidFill>
                    <a:srgbClr val="CC0099"/>
                  </a:solidFill>
                </a:rPr>
                <a:t>-</a:t>
              </a:r>
              <a:endParaRPr kumimoji="0" lang="zh-CN" altLang="en-US" sz="1800" b="1" baseline="30000" dirty="0">
                <a:solidFill>
                  <a:srgbClr val="CC0099"/>
                </a:solidFill>
              </a:endParaRPr>
            </a:p>
          </p:txBody>
        </p:sp>
        <p:sp>
          <p:nvSpPr>
            <p:cNvPr id="302146" name="Line 66">
              <a:extLst>
                <a:ext uri="{FF2B5EF4-FFF2-40B4-BE49-F238E27FC236}">
                  <a16:creationId xmlns:a16="http://schemas.microsoft.com/office/drawing/2014/main" id="{2AA96A1C-85FA-4BDF-A27D-F03F9B22556A}"/>
                </a:ext>
              </a:extLst>
            </p:cNvPr>
            <p:cNvSpPr>
              <a:spLocks noChangeShapeType="1"/>
            </p:cNvSpPr>
            <p:nvPr/>
          </p:nvSpPr>
          <p:spPr bwMode="auto">
            <a:xfrm>
              <a:off x="3024" y="3408"/>
              <a:ext cx="528" cy="0"/>
            </a:xfrm>
            <a:prstGeom prst="line">
              <a:avLst/>
            </a:prstGeom>
            <a:noFill/>
            <a:ln w="28575">
              <a:solidFill>
                <a:schemeClr val="tx1"/>
              </a:solidFill>
              <a:prstDash val="lgDashDot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02147" name="Group 67">
            <a:extLst>
              <a:ext uri="{FF2B5EF4-FFF2-40B4-BE49-F238E27FC236}">
                <a16:creationId xmlns:a16="http://schemas.microsoft.com/office/drawing/2014/main" id="{7906AFBE-51E0-4D3A-897F-2028AC28E5A4}"/>
              </a:ext>
            </a:extLst>
          </p:cNvPr>
          <p:cNvGrpSpPr>
            <a:grpSpLocks/>
          </p:cNvGrpSpPr>
          <p:nvPr/>
        </p:nvGrpSpPr>
        <p:grpSpPr bwMode="auto">
          <a:xfrm>
            <a:off x="4518025" y="6015038"/>
            <a:ext cx="1371600" cy="366712"/>
            <a:chOff x="2688" y="3561"/>
            <a:chExt cx="864" cy="231"/>
          </a:xfrm>
        </p:grpSpPr>
        <p:sp>
          <p:nvSpPr>
            <p:cNvPr id="302148" name="Text Box 68">
              <a:extLst>
                <a:ext uri="{FF2B5EF4-FFF2-40B4-BE49-F238E27FC236}">
                  <a16:creationId xmlns:a16="http://schemas.microsoft.com/office/drawing/2014/main" id="{AACC1751-1791-4AE8-8B9B-CCEA12CE2C66}"/>
                </a:ext>
              </a:extLst>
            </p:cNvPr>
            <p:cNvSpPr txBox="1">
              <a:spLocks noChangeArrowheads="1"/>
            </p:cNvSpPr>
            <p:nvPr/>
          </p:nvSpPr>
          <p:spPr bwMode="auto">
            <a:xfrm>
              <a:off x="2688" y="3561"/>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en-US" altLang="zh-CN" sz="1800" b="1">
                  <a:solidFill>
                    <a:srgbClr val="CC0099"/>
                  </a:solidFill>
                </a:rPr>
                <a:t>CO</a:t>
              </a:r>
            </a:p>
          </p:txBody>
        </p:sp>
        <p:sp>
          <p:nvSpPr>
            <p:cNvPr id="302149" name="Line 69">
              <a:extLst>
                <a:ext uri="{FF2B5EF4-FFF2-40B4-BE49-F238E27FC236}">
                  <a16:creationId xmlns:a16="http://schemas.microsoft.com/office/drawing/2014/main" id="{6E2EAAEF-D9DD-495F-8AA6-C94D591AA5FE}"/>
                </a:ext>
              </a:extLst>
            </p:cNvPr>
            <p:cNvSpPr>
              <a:spLocks noChangeShapeType="1"/>
            </p:cNvSpPr>
            <p:nvPr/>
          </p:nvSpPr>
          <p:spPr bwMode="auto">
            <a:xfrm>
              <a:off x="3024" y="3696"/>
              <a:ext cx="528" cy="0"/>
            </a:xfrm>
            <a:prstGeom prst="line">
              <a:avLst/>
            </a:prstGeom>
            <a:noFill/>
            <a:ln w="28575">
              <a:solidFill>
                <a:schemeClr val="tx1"/>
              </a:solidFill>
              <a:prstDash val="lgDashDot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02155" name="Group 75">
            <a:extLst>
              <a:ext uri="{FF2B5EF4-FFF2-40B4-BE49-F238E27FC236}">
                <a16:creationId xmlns:a16="http://schemas.microsoft.com/office/drawing/2014/main" id="{A89C05F1-8FB3-44F2-8928-92FB35D5BE3D}"/>
              </a:ext>
            </a:extLst>
          </p:cNvPr>
          <p:cNvGrpSpPr>
            <a:grpSpLocks/>
          </p:cNvGrpSpPr>
          <p:nvPr/>
        </p:nvGrpSpPr>
        <p:grpSpPr bwMode="auto">
          <a:xfrm>
            <a:off x="3014663" y="622300"/>
            <a:ext cx="2711450" cy="963613"/>
            <a:chOff x="1519" y="392"/>
            <a:chExt cx="1708" cy="607"/>
          </a:xfrm>
        </p:grpSpPr>
        <p:sp>
          <p:nvSpPr>
            <p:cNvPr id="302136" name="Text Box 56">
              <a:extLst>
                <a:ext uri="{FF2B5EF4-FFF2-40B4-BE49-F238E27FC236}">
                  <a16:creationId xmlns:a16="http://schemas.microsoft.com/office/drawing/2014/main" id="{7D35381D-A1E4-4227-A27A-520C6B3A7463}"/>
                </a:ext>
              </a:extLst>
            </p:cNvPr>
            <p:cNvSpPr txBox="1">
              <a:spLocks noChangeArrowheads="1"/>
            </p:cNvSpPr>
            <p:nvPr/>
          </p:nvSpPr>
          <p:spPr bwMode="auto">
            <a:xfrm>
              <a:off x="2082" y="585"/>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zh-CN" altLang="en-US" sz="1800" b="1">
                  <a:solidFill>
                    <a:srgbClr val="CC0099"/>
                  </a:solidFill>
                </a:rPr>
                <a:t>鱼藤酮</a:t>
              </a:r>
            </a:p>
          </p:txBody>
        </p:sp>
        <p:sp>
          <p:nvSpPr>
            <p:cNvPr id="302137" name="Line 57">
              <a:extLst>
                <a:ext uri="{FF2B5EF4-FFF2-40B4-BE49-F238E27FC236}">
                  <a16:creationId xmlns:a16="http://schemas.microsoft.com/office/drawing/2014/main" id="{C50FFFA0-9BF7-4F2A-B11B-D04D18DF033F}"/>
                </a:ext>
              </a:extLst>
            </p:cNvPr>
            <p:cNvSpPr>
              <a:spLocks noChangeShapeType="1"/>
            </p:cNvSpPr>
            <p:nvPr/>
          </p:nvSpPr>
          <p:spPr bwMode="auto">
            <a:xfrm>
              <a:off x="2658" y="681"/>
              <a:ext cx="528" cy="0"/>
            </a:xfrm>
            <a:prstGeom prst="line">
              <a:avLst/>
            </a:prstGeom>
            <a:noFill/>
            <a:ln w="28575">
              <a:solidFill>
                <a:schemeClr val="tx1"/>
              </a:solidFill>
              <a:prstDash val="lgDashDot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02138" name="Group 58">
              <a:extLst>
                <a:ext uri="{FF2B5EF4-FFF2-40B4-BE49-F238E27FC236}">
                  <a16:creationId xmlns:a16="http://schemas.microsoft.com/office/drawing/2014/main" id="{60A3EB2F-FDF2-42A2-8B78-82C3A3A987C9}"/>
                </a:ext>
              </a:extLst>
            </p:cNvPr>
            <p:cNvGrpSpPr>
              <a:grpSpLocks/>
            </p:cNvGrpSpPr>
            <p:nvPr/>
          </p:nvGrpSpPr>
          <p:grpSpPr bwMode="auto">
            <a:xfrm>
              <a:off x="2082" y="768"/>
              <a:ext cx="1104" cy="231"/>
              <a:chOff x="2448" y="720"/>
              <a:chExt cx="1104" cy="231"/>
            </a:xfrm>
          </p:grpSpPr>
          <p:sp>
            <p:nvSpPr>
              <p:cNvPr id="302139" name="Text Box 59">
                <a:extLst>
                  <a:ext uri="{FF2B5EF4-FFF2-40B4-BE49-F238E27FC236}">
                    <a16:creationId xmlns:a16="http://schemas.microsoft.com/office/drawing/2014/main" id="{06A25928-FD1D-45CA-8605-3AAD293BF542}"/>
                  </a:ext>
                </a:extLst>
              </p:cNvPr>
              <p:cNvSpPr txBox="1">
                <a:spLocks noChangeArrowheads="1"/>
              </p:cNvSpPr>
              <p:nvPr/>
            </p:nvSpPr>
            <p:spPr bwMode="auto">
              <a:xfrm>
                <a:off x="2448" y="720"/>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zh-CN" altLang="en-US" sz="1800" b="1">
                    <a:solidFill>
                      <a:srgbClr val="CC0099"/>
                    </a:solidFill>
                  </a:rPr>
                  <a:t>安密妥</a:t>
                </a:r>
              </a:p>
            </p:txBody>
          </p:sp>
          <p:sp>
            <p:nvSpPr>
              <p:cNvPr id="302140" name="Line 60">
                <a:extLst>
                  <a:ext uri="{FF2B5EF4-FFF2-40B4-BE49-F238E27FC236}">
                    <a16:creationId xmlns:a16="http://schemas.microsoft.com/office/drawing/2014/main" id="{B89CE39F-22FE-4BCF-A120-D0D48CDC27AC}"/>
                  </a:ext>
                </a:extLst>
              </p:cNvPr>
              <p:cNvSpPr>
                <a:spLocks noChangeShapeType="1"/>
              </p:cNvSpPr>
              <p:nvPr/>
            </p:nvSpPr>
            <p:spPr bwMode="auto">
              <a:xfrm>
                <a:off x="3024" y="864"/>
                <a:ext cx="528" cy="0"/>
              </a:xfrm>
              <a:prstGeom prst="line">
                <a:avLst/>
              </a:prstGeom>
              <a:noFill/>
              <a:ln w="28575">
                <a:solidFill>
                  <a:schemeClr val="tx1"/>
                </a:solidFill>
                <a:prstDash val="lgDashDot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02150" name="Rectangle 70">
              <a:extLst>
                <a:ext uri="{FF2B5EF4-FFF2-40B4-BE49-F238E27FC236}">
                  <a16:creationId xmlns:a16="http://schemas.microsoft.com/office/drawing/2014/main" id="{D447AE59-C917-476D-BA25-8B5E6A27B245}"/>
                </a:ext>
              </a:extLst>
            </p:cNvPr>
            <p:cNvSpPr>
              <a:spLocks noChangeArrowheads="1"/>
            </p:cNvSpPr>
            <p:nvPr/>
          </p:nvSpPr>
          <p:spPr bwMode="auto">
            <a:xfrm>
              <a:off x="1519" y="392"/>
              <a:ext cx="94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zh-CN" altLang="en-US" sz="1800" b="1">
                  <a:solidFill>
                    <a:srgbClr val="CC0099"/>
                  </a:solidFill>
                </a:rPr>
                <a:t>杀粉蝶霉素</a:t>
              </a:r>
              <a:r>
                <a:rPr kumimoji="0" lang="en-US" altLang="en-US" sz="1800" b="1">
                  <a:solidFill>
                    <a:srgbClr val="CC0099"/>
                  </a:solidFill>
                </a:rPr>
                <a:t>A</a:t>
              </a:r>
              <a:endParaRPr kumimoji="0" lang="en-US" altLang="zh-CN" sz="1800" b="1">
                <a:solidFill>
                  <a:srgbClr val="CC0099"/>
                </a:solidFill>
              </a:endParaRPr>
            </a:p>
          </p:txBody>
        </p:sp>
        <p:sp>
          <p:nvSpPr>
            <p:cNvPr id="302152" name="Line 72">
              <a:extLst>
                <a:ext uri="{FF2B5EF4-FFF2-40B4-BE49-F238E27FC236}">
                  <a16:creationId xmlns:a16="http://schemas.microsoft.com/office/drawing/2014/main" id="{E728D2C8-7E9D-46F0-A246-14872E90E991}"/>
                </a:ext>
              </a:extLst>
            </p:cNvPr>
            <p:cNvSpPr>
              <a:spLocks noChangeShapeType="1"/>
            </p:cNvSpPr>
            <p:nvPr/>
          </p:nvSpPr>
          <p:spPr bwMode="auto">
            <a:xfrm>
              <a:off x="2699" y="527"/>
              <a:ext cx="528" cy="0"/>
            </a:xfrm>
            <a:prstGeom prst="line">
              <a:avLst/>
            </a:prstGeom>
            <a:noFill/>
            <a:ln w="28575">
              <a:solidFill>
                <a:schemeClr val="tx1"/>
              </a:solidFill>
              <a:prstDash val="lgDashDot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02153" name="Rectangle 73">
            <a:extLst>
              <a:ext uri="{FF2B5EF4-FFF2-40B4-BE49-F238E27FC236}">
                <a16:creationId xmlns:a16="http://schemas.microsoft.com/office/drawing/2014/main" id="{5393C139-1DD5-4384-9AE0-B2FD78C5760E}"/>
              </a:ext>
            </a:extLst>
          </p:cNvPr>
          <p:cNvSpPr>
            <a:spLocks noChangeArrowheads="1"/>
          </p:cNvSpPr>
          <p:nvPr/>
        </p:nvSpPr>
        <p:spPr bwMode="auto">
          <a:xfrm>
            <a:off x="3375025" y="5300663"/>
            <a:ext cx="184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b="1">
                <a:solidFill>
                  <a:srgbClr val="CC0099"/>
                </a:solidFill>
              </a:rPr>
              <a:t>H</a:t>
            </a:r>
            <a:r>
              <a:rPr lang="en-US" altLang="en-US" b="1" baseline="-25000">
                <a:solidFill>
                  <a:srgbClr val="CC0099"/>
                </a:solidFill>
              </a:rPr>
              <a:t>2</a:t>
            </a:r>
            <a:r>
              <a:rPr lang="en-US" altLang="en-US" b="1">
                <a:solidFill>
                  <a:srgbClr val="CC0099"/>
                </a:solidFill>
              </a:rPr>
              <a:t>S</a:t>
            </a:r>
            <a:r>
              <a:rPr lang="zh-CN" altLang="en-US" b="1">
                <a:solidFill>
                  <a:srgbClr val="CC0099"/>
                </a:solidFill>
              </a:rPr>
              <a:t>、 </a:t>
            </a:r>
            <a:r>
              <a:rPr lang="en-US" altLang="en-US" b="1">
                <a:solidFill>
                  <a:srgbClr val="CC0099"/>
                </a:solidFill>
              </a:rPr>
              <a:t>N</a:t>
            </a:r>
            <a:r>
              <a:rPr lang="en-US" altLang="en-US" b="1" baseline="-25000">
                <a:solidFill>
                  <a:srgbClr val="CC0099"/>
                </a:solidFill>
              </a:rPr>
              <a:t>3</a:t>
            </a:r>
            <a:endParaRPr lang="en-US" altLang="zh-CN" b="1" baseline="-25000">
              <a:solidFill>
                <a:srgbClr val="CC0099"/>
              </a:solidFill>
            </a:endParaRPr>
          </a:p>
        </p:txBody>
      </p:sp>
      <p:sp>
        <p:nvSpPr>
          <p:cNvPr id="302154" name="Line 74">
            <a:extLst>
              <a:ext uri="{FF2B5EF4-FFF2-40B4-BE49-F238E27FC236}">
                <a16:creationId xmlns:a16="http://schemas.microsoft.com/office/drawing/2014/main" id="{B0545999-D8CE-48A8-8E16-60AFDEDD9B78}"/>
              </a:ext>
            </a:extLst>
          </p:cNvPr>
          <p:cNvSpPr>
            <a:spLocks noChangeShapeType="1"/>
          </p:cNvSpPr>
          <p:nvPr/>
        </p:nvSpPr>
        <p:spPr bwMode="auto">
          <a:xfrm>
            <a:off x="4887913" y="5588000"/>
            <a:ext cx="838200" cy="0"/>
          </a:xfrm>
          <a:prstGeom prst="line">
            <a:avLst/>
          </a:prstGeom>
          <a:noFill/>
          <a:ln w="28575">
            <a:solidFill>
              <a:schemeClr val="tx1"/>
            </a:solidFill>
            <a:prstDash val="lgDashDot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2158" name="Rectangle 78">
            <a:extLst>
              <a:ext uri="{FF2B5EF4-FFF2-40B4-BE49-F238E27FC236}">
                <a16:creationId xmlns:a16="http://schemas.microsoft.com/office/drawing/2014/main" id="{EC38967C-462A-46DE-A11B-911783E8C86E}"/>
              </a:ext>
            </a:extLst>
          </p:cNvPr>
          <p:cNvSpPr>
            <a:spLocks noChangeArrowheads="1"/>
          </p:cNvSpPr>
          <p:nvPr/>
        </p:nvSpPr>
        <p:spPr bwMode="auto">
          <a:xfrm>
            <a:off x="971550" y="620713"/>
            <a:ext cx="576263"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dirty="0">
                <a:solidFill>
                  <a:srgbClr val="FF0066"/>
                </a:solidFill>
              </a:rPr>
              <a:t>电子传递抑制剂</a:t>
            </a:r>
          </a:p>
        </p:txBody>
      </p:sp>
    </p:spTree>
    <p:extLst>
      <p:ext uri="{BB962C8B-B14F-4D97-AF65-F5344CB8AC3E}">
        <p14:creationId xmlns:p14="http://schemas.microsoft.com/office/powerpoint/2010/main" val="1808484533"/>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26F9C5A7-D254-4146-9C25-394DE26B0E41}"/>
              </a:ext>
            </a:extLst>
          </p:cNvPr>
          <p:cNvSpPr>
            <a:spLocks noGrp="1" noChangeArrowheads="1"/>
          </p:cNvSpPr>
          <p:nvPr>
            <p:ph type="title" idx="4294967295"/>
          </p:nvPr>
        </p:nvSpPr>
        <p:spPr>
          <a:xfrm>
            <a:off x="0" y="469900"/>
            <a:ext cx="9144000" cy="3751263"/>
          </a:xfrm>
        </p:spPr>
        <p:txBody>
          <a:bodyPr/>
          <a:lstStyle/>
          <a:p>
            <a:pPr eaLnBrk="1" hangingPunct="1"/>
            <a:r>
              <a:rPr lang="en-US" altLang="zh-CN" sz="4800" b="1" dirty="0">
                <a:solidFill>
                  <a:srgbClr val="FF0000"/>
                </a:solidFill>
                <a:latin typeface="Times New Roman" pitchFamily="18" charset="0"/>
              </a:rPr>
              <a:t>10. Electron transfer to O</a:t>
            </a:r>
            <a:r>
              <a:rPr lang="en-US" altLang="zh-CN" sz="4800" b="1" baseline="-25000" dirty="0">
                <a:solidFill>
                  <a:srgbClr val="FF0000"/>
                </a:solidFill>
                <a:latin typeface="Times New Roman" pitchFamily="18" charset="0"/>
              </a:rPr>
              <a:t>2</a:t>
            </a:r>
            <a:r>
              <a:rPr lang="en-US" altLang="zh-CN" sz="4800" b="1" dirty="0">
                <a:solidFill>
                  <a:srgbClr val="FF0000"/>
                </a:solidFill>
                <a:latin typeface="Times New Roman" pitchFamily="18" charset="0"/>
              </a:rPr>
              <a:t> was found to be obligatorily coupled to ATP synthesis from ADP + P</a:t>
            </a:r>
            <a:r>
              <a:rPr lang="en-US" altLang="zh-CN" sz="4800" b="1" baseline="-25000" dirty="0">
                <a:solidFill>
                  <a:srgbClr val="FF0000"/>
                </a:solidFill>
                <a:latin typeface="Times New Roman" pitchFamily="18" charset="0"/>
              </a:rPr>
              <a:t>i </a:t>
            </a:r>
            <a:r>
              <a:rPr lang="en-US" altLang="zh-CN" sz="4800" b="1" dirty="0">
                <a:solidFill>
                  <a:srgbClr val="FF0000"/>
                </a:solidFill>
                <a:latin typeface="Times New Roman" pitchFamily="18" charset="0"/>
              </a:rPr>
              <a:t>in isolated mitochondria</a:t>
            </a:r>
          </a:p>
        </p:txBody>
      </p:sp>
    </p:spTree>
    <p:extLst>
      <p:ext uri="{BB962C8B-B14F-4D97-AF65-F5344CB8AC3E}">
        <p14:creationId xmlns:p14="http://schemas.microsoft.com/office/powerpoint/2010/main" val="269915419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4">
            <a:extLst>
              <a:ext uri="{FF2B5EF4-FFF2-40B4-BE49-F238E27FC236}">
                <a16:creationId xmlns:a16="http://schemas.microsoft.com/office/drawing/2014/main" id="{A0760907-E79B-450B-B18B-822247506CF6}"/>
              </a:ext>
            </a:extLst>
          </p:cNvPr>
          <p:cNvSpPr>
            <a:spLocks noGrp="1" noChangeArrowheads="1"/>
          </p:cNvSpPr>
          <p:nvPr>
            <p:ph type="title" idx="4294967295"/>
          </p:nvPr>
        </p:nvSpPr>
        <p:spPr>
          <a:xfrm>
            <a:off x="633413" y="1508125"/>
            <a:ext cx="8510587" cy="2287588"/>
          </a:xfrm>
        </p:spPr>
        <p:txBody>
          <a:bodyPr/>
          <a:lstStyle/>
          <a:p>
            <a:pPr eaLnBrk="1" hangingPunct="1"/>
            <a:r>
              <a:rPr lang="en-US" altLang="zh-CN" sz="4800" b="1" dirty="0">
                <a:solidFill>
                  <a:srgbClr val="FF0000"/>
                </a:solidFill>
                <a:latin typeface="Times New Roman" pitchFamily="18" charset="0"/>
              </a:rPr>
              <a:t>11. How is oxidation of NADH/FADH</a:t>
            </a:r>
            <a:r>
              <a:rPr lang="en-US" altLang="zh-CN" sz="4800" b="1" baseline="-25000" dirty="0">
                <a:solidFill>
                  <a:srgbClr val="FF0000"/>
                </a:solidFill>
                <a:latin typeface="Times New Roman" pitchFamily="18" charset="0"/>
              </a:rPr>
              <a:t>2</a:t>
            </a:r>
            <a:r>
              <a:rPr lang="en-US" altLang="zh-CN" sz="4800" b="1" dirty="0">
                <a:solidFill>
                  <a:srgbClr val="FF0000"/>
                </a:solidFill>
                <a:latin typeface="Times New Roman" pitchFamily="18" charset="0"/>
              </a:rPr>
              <a:t> coupled to the phosphorylation of ADP?</a:t>
            </a:r>
          </a:p>
        </p:txBody>
      </p:sp>
    </p:spTree>
    <p:extLst>
      <p:ext uri="{BB962C8B-B14F-4D97-AF65-F5344CB8AC3E}">
        <p14:creationId xmlns:p14="http://schemas.microsoft.com/office/powerpoint/2010/main" val="144683176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BABF788C-582A-4839-9C17-486510204D08}"/>
              </a:ext>
            </a:extLst>
          </p:cNvPr>
          <p:cNvSpPr>
            <a:spLocks noGrp="1" noChangeArrowheads="1"/>
          </p:cNvSpPr>
          <p:nvPr>
            <p:ph type="title" idx="4294967295"/>
          </p:nvPr>
        </p:nvSpPr>
        <p:spPr>
          <a:xfrm>
            <a:off x="0" y="533400"/>
            <a:ext cx="9144000" cy="1554163"/>
          </a:xfrm>
        </p:spPr>
        <p:txBody>
          <a:bodyPr/>
          <a:lstStyle/>
          <a:p>
            <a:pPr eaLnBrk="1" hangingPunct="1"/>
            <a:r>
              <a:rPr lang="en-US" altLang="zh-CN" sz="3200" b="1" dirty="0">
                <a:solidFill>
                  <a:srgbClr val="C00000"/>
                </a:solidFill>
                <a:latin typeface="Times New Roman" pitchFamily="18" charset="0"/>
              </a:rPr>
              <a:t>The </a:t>
            </a:r>
            <a:r>
              <a:rPr lang="en-US" altLang="zh-CN" sz="3200" b="1" u="sng" dirty="0">
                <a:solidFill>
                  <a:srgbClr val="C00000"/>
                </a:solidFill>
                <a:latin typeface="Times New Roman" pitchFamily="18" charset="0"/>
              </a:rPr>
              <a:t>chemiosmotic model </a:t>
            </a:r>
            <a:r>
              <a:rPr lang="en-US" altLang="zh-CN" sz="3200" b="1" dirty="0">
                <a:solidFill>
                  <a:srgbClr val="C00000"/>
                </a:solidFill>
                <a:latin typeface="Times New Roman" pitchFamily="18" charset="0"/>
              </a:rPr>
              <a:t>was proposed by Peter Mitchell in 1961 to explain the coupling of electron flow and ATP synthesis</a:t>
            </a:r>
          </a:p>
        </p:txBody>
      </p:sp>
      <p:sp>
        <p:nvSpPr>
          <p:cNvPr id="87043" name="Rectangle 5">
            <a:extLst>
              <a:ext uri="{FF2B5EF4-FFF2-40B4-BE49-F238E27FC236}">
                <a16:creationId xmlns:a16="http://schemas.microsoft.com/office/drawing/2014/main" id="{B760E502-7525-42C5-9E7E-B87B3A3E91F3}"/>
              </a:ext>
            </a:extLst>
          </p:cNvPr>
          <p:cNvSpPr>
            <a:spLocks noChangeArrowheads="1"/>
          </p:cNvSpPr>
          <p:nvPr/>
        </p:nvSpPr>
        <p:spPr bwMode="auto">
          <a:xfrm>
            <a:off x="251520" y="2644170"/>
            <a:ext cx="91440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solidFill>
                  <a:srgbClr val="0070C0"/>
                </a:solidFill>
              </a:rPr>
              <a:t>The </a:t>
            </a:r>
            <a:r>
              <a:rPr lang="en-US" altLang="zh-CN" sz="3200" b="1" u="sng" dirty="0">
                <a:solidFill>
                  <a:srgbClr val="FF0000"/>
                </a:solidFill>
              </a:rPr>
              <a:t>chemiosmotic model </a:t>
            </a:r>
            <a:r>
              <a:rPr lang="en-US" altLang="zh-CN" sz="3200" b="1" dirty="0">
                <a:solidFill>
                  <a:srgbClr val="0070C0"/>
                </a:solidFill>
              </a:rPr>
              <a:t>of Mitchell:</a:t>
            </a:r>
          </a:p>
          <a:p>
            <a:pPr eaLnBrk="1" hangingPunct="1"/>
            <a:r>
              <a:rPr lang="en-US" altLang="zh-CN" sz="3200" b="1" dirty="0">
                <a:solidFill>
                  <a:srgbClr val="0070C0"/>
                </a:solidFill>
              </a:rPr>
              <a:t>e</a:t>
            </a:r>
            <a:r>
              <a:rPr lang="en-US" altLang="zh-CN" sz="3200" b="1" baseline="30000" dirty="0">
                <a:solidFill>
                  <a:srgbClr val="0070C0"/>
                </a:solidFill>
              </a:rPr>
              <a:t>-</a:t>
            </a:r>
            <a:r>
              <a:rPr lang="en-US" altLang="zh-CN" sz="3200" b="1" dirty="0">
                <a:solidFill>
                  <a:srgbClr val="0070C0"/>
                </a:solidFill>
              </a:rPr>
              <a:t> flow and ATP synthesis are separate events, coupled via a transmembrane H</a:t>
            </a:r>
            <a:r>
              <a:rPr lang="en-US" altLang="zh-CN" sz="3200" b="1" baseline="30000" dirty="0">
                <a:solidFill>
                  <a:srgbClr val="0070C0"/>
                </a:solidFill>
              </a:rPr>
              <a:t>+</a:t>
            </a:r>
            <a:r>
              <a:rPr lang="en-US" altLang="zh-CN" sz="3200" b="1" dirty="0">
                <a:solidFill>
                  <a:srgbClr val="0070C0"/>
                </a:solidFill>
              </a:rPr>
              <a:t> gradient!</a:t>
            </a:r>
          </a:p>
        </p:txBody>
      </p:sp>
    </p:spTree>
    <p:extLst>
      <p:ext uri="{BB962C8B-B14F-4D97-AF65-F5344CB8AC3E}">
        <p14:creationId xmlns:p14="http://schemas.microsoft.com/office/powerpoint/2010/main" val="278043919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Picture 4">
            <a:extLst>
              <a:ext uri="{FF2B5EF4-FFF2-40B4-BE49-F238E27FC236}">
                <a16:creationId xmlns:a16="http://schemas.microsoft.com/office/drawing/2014/main" id="{0F920458-633C-4AC1-ABC9-F0CD3D3FE72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 y="304800"/>
            <a:ext cx="8229600" cy="626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椭圆 1">
            <a:extLst>
              <a:ext uri="{FF2B5EF4-FFF2-40B4-BE49-F238E27FC236}">
                <a16:creationId xmlns:a16="http://schemas.microsoft.com/office/drawing/2014/main" id="{71CFEC55-0FA2-47CE-9DE5-C61A2013A875}"/>
              </a:ext>
            </a:extLst>
          </p:cNvPr>
          <p:cNvSpPr/>
          <p:nvPr/>
        </p:nvSpPr>
        <p:spPr>
          <a:xfrm>
            <a:off x="4427984" y="3789040"/>
            <a:ext cx="3600400" cy="136815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924857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D3D22E84-E061-406A-9AAB-52768113E4F5}"/>
              </a:ext>
            </a:extLst>
          </p:cNvPr>
          <p:cNvPicPr>
            <a:picLocks noChangeAspect="1"/>
          </p:cNvPicPr>
          <p:nvPr/>
        </p:nvPicPr>
        <p:blipFill>
          <a:blip r:embed="rId2"/>
          <a:stretch>
            <a:fillRect/>
          </a:stretch>
        </p:blipFill>
        <p:spPr>
          <a:xfrm>
            <a:off x="0" y="1459832"/>
            <a:ext cx="9293096" cy="3876147"/>
          </a:xfrm>
          <a:prstGeom prst="rect">
            <a:avLst/>
          </a:prstGeom>
        </p:spPr>
      </p:pic>
      <p:sp>
        <p:nvSpPr>
          <p:cNvPr id="4" name="文本框 3">
            <a:extLst>
              <a:ext uri="{FF2B5EF4-FFF2-40B4-BE49-F238E27FC236}">
                <a16:creationId xmlns:a16="http://schemas.microsoft.com/office/drawing/2014/main" id="{30DEC6FE-29DA-4410-8C3B-FCBCAEF4C30A}"/>
              </a:ext>
            </a:extLst>
          </p:cNvPr>
          <p:cNvSpPr txBox="1"/>
          <p:nvPr/>
        </p:nvSpPr>
        <p:spPr>
          <a:xfrm>
            <a:off x="539552" y="6488668"/>
            <a:ext cx="1184940" cy="369332"/>
          </a:xfrm>
          <a:prstGeom prst="rect">
            <a:avLst/>
          </a:prstGeom>
          <a:noFill/>
        </p:spPr>
        <p:txBody>
          <a:bodyPr wrap="none" rtlCol="0">
            <a:spAutoFit/>
          </a:bodyPr>
          <a:lstStyle/>
          <a:p>
            <a:r>
              <a:rPr lang="en-US" altLang="zh-CN" dirty="0"/>
              <a:t>7</a:t>
            </a:r>
            <a:r>
              <a:rPr lang="en-US" altLang="zh-CN" baseline="30000" dirty="0"/>
              <a:t>th</a:t>
            </a:r>
            <a:r>
              <a:rPr lang="en-US" altLang="zh-CN" dirty="0"/>
              <a:t> edition</a:t>
            </a:r>
            <a:endParaRPr lang="zh-CN" altLang="en-US" dirty="0"/>
          </a:p>
        </p:txBody>
      </p:sp>
    </p:spTree>
    <p:extLst>
      <p:ext uri="{BB962C8B-B14F-4D97-AF65-F5344CB8AC3E}">
        <p14:creationId xmlns:p14="http://schemas.microsoft.com/office/powerpoint/2010/main" val="89396213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D88C4151-640F-4BDE-85E8-DD6CF538215F}"/>
              </a:ext>
            </a:extLst>
          </p:cNvPr>
          <p:cNvSpPr>
            <a:spLocks noGrp="1" noChangeArrowheads="1"/>
          </p:cNvSpPr>
          <p:nvPr>
            <p:ph type="title" idx="4294967295"/>
          </p:nvPr>
        </p:nvSpPr>
        <p:spPr>
          <a:xfrm>
            <a:off x="985838" y="309563"/>
            <a:ext cx="8158162" cy="1087437"/>
          </a:xfrm>
          <a:noFill/>
        </p:spPr>
        <p:txBody>
          <a:bodyPr anchor="b"/>
          <a:lstStyle/>
          <a:p>
            <a:r>
              <a:rPr lang="zh-CN" altLang="en-US" b="1">
                <a:solidFill>
                  <a:schemeClr val="folHlink"/>
                </a:solidFill>
                <a:latin typeface="楷体_GB2312" pitchFamily="49" charset="-122"/>
                <a:ea typeface="楷体_GB2312" pitchFamily="49" charset="-122"/>
              </a:rPr>
              <a:t>化学渗透学说</a:t>
            </a:r>
            <a:endParaRPr lang="zh-CN" altLang="en-US">
              <a:solidFill>
                <a:schemeClr val="folHlink"/>
              </a:solidFill>
            </a:endParaRPr>
          </a:p>
        </p:txBody>
      </p:sp>
      <p:sp>
        <p:nvSpPr>
          <p:cNvPr id="129027" name="Rectangle 3">
            <a:extLst>
              <a:ext uri="{FF2B5EF4-FFF2-40B4-BE49-F238E27FC236}">
                <a16:creationId xmlns:a16="http://schemas.microsoft.com/office/drawing/2014/main" id="{FECCF97A-CE72-401F-8559-643EAFBE27FD}"/>
              </a:ext>
            </a:extLst>
          </p:cNvPr>
          <p:cNvSpPr>
            <a:spLocks noGrp="1" noChangeArrowheads="1"/>
          </p:cNvSpPr>
          <p:nvPr>
            <p:ph type="body" idx="4294967295"/>
          </p:nvPr>
        </p:nvSpPr>
        <p:spPr>
          <a:xfrm>
            <a:off x="0" y="1412875"/>
            <a:ext cx="5327650" cy="4583113"/>
          </a:xfrm>
          <a:noFill/>
        </p:spPr>
        <p:txBody>
          <a:bodyPr/>
          <a:lstStyle/>
          <a:p>
            <a:pPr algn="just">
              <a:buClr>
                <a:schemeClr val="hlink"/>
              </a:buClr>
            </a:pPr>
            <a:r>
              <a:rPr lang="zh-CN" altLang="en-US" b="1">
                <a:solidFill>
                  <a:srgbClr val="CC0099"/>
                </a:solidFill>
                <a:latin typeface="楷体_GB2312" pitchFamily="49" charset="-122"/>
                <a:ea typeface="楷体_GB2312" pitchFamily="49" charset="-122"/>
              </a:rPr>
              <a:t>化学渗透假说的要点：</a:t>
            </a:r>
          </a:p>
          <a:p>
            <a:pPr algn="just">
              <a:buFont typeface="Wingdings" panose="05000000000000000000" pitchFamily="2" charset="2"/>
              <a:buNone/>
            </a:pPr>
            <a:r>
              <a:rPr lang="en-US" altLang="zh-CN" sz="2600" b="1">
                <a:latin typeface="楷体_GB2312" pitchFamily="49" charset="-122"/>
                <a:ea typeface="楷体_GB2312" pitchFamily="49" charset="-122"/>
              </a:rPr>
              <a:t>a. </a:t>
            </a:r>
            <a:r>
              <a:rPr lang="zh-CN" altLang="en-US" sz="2600" b="1">
                <a:latin typeface="楷体_GB2312" pitchFamily="49" charset="-122"/>
                <a:ea typeface="楷体_GB2312" pitchFamily="49" charset="-122"/>
              </a:rPr>
              <a:t>线粒体内膜的电子传递链是一个质子泵；</a:t>
            </a:r>
          </a:p>
          <a:p>
            <a:pPr algn="just">
              <a:buFont typeface="Wingdings" panose="05000000000000000000" pitchFamily="2" charset="2"/>
              <a:buNone/>
            </a:pPr>
            <a:r>
              <a:rPr lang="en-US" altLang="zh-CN" sz="2600" b="1">
                <a:latin typeface="楷体_GB2312" pitchFamily="49" charset="-122"/>
                <a:ea typeface="楷体_GB2312" pitchFamily="49" charset="-122"/>
              </a:rPr>
              <a:t>b. </a:t>
            </a:r>
            <a:r>
              <a:rPr lang="zh-CN" altLang="en-US" sz="2600" b="1">
                <a:latin typeface="楷体_GB2312" pitchFamily="49" charset="-122"/>
                <a:ea typeface="楷体_GB2312" pitchFamily="49" charset="-122"/>
              </a:rPr>
              <a:t>在电子传递链中，电子由高能状态传递到低能状态时释放出来的能量，用于驱动膜内侧的</a:t>
            </a:r>
            <a:r>
              <a:rPr lang="en-US" altLang="zh-CN" sz="2600" b="1">
                <a:latin typeface="楷体_GB2312" pitchFamily="49" charset="-122"/>
                <a:ea typeface="楷体_GB2312" pitchFamily="49" charset="-122"/>
              </a:rPr>
              <a:t>H</a:t>
            </a:r>
            <a:r>
              <a:rPr lang="en-US" altLang="zh-CN" sz="2600" b="1" baseline="30000">
                <a:latin typeface="楷体_GB2312" pitchFamily="49" charset="-122"/>
                <a:ea typeface="楷体_GB2312" pitchFamily="49" charset="-122"/>
              </a:rPr>
              <a:t>+</a:t>
            </a:r>
            <a:r>
              <a:rPr lang="zh-CN" altLang="en-US" sz="2600" b="1">
                <a:latin typeface="楷体_GB2312" pitchFamily="49" charset="-122"/>
                <a:ea typeface="楷体_GB2312" pitchFamily="49" charset="-122"/>
              </a:rPr>
              <a:t>迁移到膜外侧，线粒体内膜对</a:t>
            </a:r>
            <a:r>
              <a:rPr lang="en-US" altLang="zh-CN" sz="2600" b="1">
                <a:latin typeface="楷体_GB2312" pitchFamily="49" charset="-122"/>
                <a:ea typeface="楷体_GB2312" pitchFamily="49" charset="-122"/>
              </a:rPr>
              <a:t>H</a:t>
            </a:r>
            <a:r>
              <a:rPr lang="en-US" altLang="zh-CN" sz="2600" b="1" baseline="30000">
                <a:latin typeface="楷体_GB2312" pitchFamily="49" charset="-122"/>
                <a:ea typeface="楷体_GB2312" pitchFamily="49" charset="-122"/>
              </a:rPr>
              <a:t>+</a:t>
            </a:r>
            <a:r>
              <a:rPr lang="zh-CN" altLang="en-US" sz="2600" b="1">
                <a:latin typeface="楷体_GB2312" pitchFamily="49" charset="-122"/>
                <a:ea typeface="楷体_GB2312" pitchFamily="49" charset="-122"/>
              </a:rPr>
              <a:t>是不通透的，这样，在膜的内侧与外侧就产生了跨膜质子梯度 </a:t>
            </a:r>
            <a:r>
              <a:rPr lang="en-US" altLang="zh-CN" sz="2600" b="1">
                <a:latin typeface="楷体_GB2312" pitchFamily="49" charset="-122"/>
                <a:ea typeface="楷体_GB2312" pitchFamily="49" charset="-122"/>
              </a:rPr>
              <a:t>(</a:t>
            </a:r>
            <a:r>
              <a:rPr lang="en-US" altLang="zh-CN" sz="2600" b="1">
                <a:latin typeface="楷体_GB2312" pitchFamily="49" charset="-122"/>
                <a:ea typeface="楷体_GB2312" pitchFamily="49" charset="-122"/>
                <a:sym typeface="Symbol" panose="05050102010706020507" pitchFamily="18" charset="2"/>
              </a:rPr>
              <a:t></a:t>
            </a:r>
            <a:r>
              <a:rPr lang="en-US" altLang="zh-CN" sz="2600" b="1">
                <a:latin typeface="楷体_GB2312" pitchFamily="49" charset="-122"/>
                <a:ea typeface="楷体_GB2312" pitchFamily="49" charset="-122"/>
              </a:rPr>
              <a:t>pH) </a:t>
            </a:r>
            <a:r>
              <a:rPr lang="zh-CN" altLang="en-US" sz="2600" b="1">
                <a:latin typeface="楷体_GB2312" pitchFamily="49" charset="-122"/>
                <a:ea typeface="楷体_GB2312" pitchFamily="49" charset="-122"/>
              </a:rPr>
              <a:t>和电位梯度（</a:t>
            </a:r>
            <a:r>
              <a:rPr lang="zh-CN" altLang="en-US" sz="2600" b="1">
                <a:latin typeface="楷体_GB2312" pitchFamily="49" charset="-122"/>
                <a:ea typeface="楷体_GB2312" pitchFamily="49" charset="-122"/>
                <a:sym typeface="Symbol" panose="05050102010706020507" pitchFamily="18" charset="2"/>
              </a:rPr>
              <a:t></a:t>
            </a:r>
            <a:r>
              <a:rPr lang="zh-CN" altLang="en-US" sz="2600" b="1">
                <a:latin typeface="楷体_GB2312" pitchFamily="49" charset="-122"/>
                <a:ea typeface="楷体_GB2312" pitchFamily="49" charset="-122"/>
              </a:rPr>
              <a:t>）；</a:t>
            </a:r>
          </a:p>
        </p:txBody>
      </p:sp>
      <p:pic>
        <p:nvPicPr>
          <p:cNvPr id="129028" name="Picture 5">
            <a:extLst>
              <a:ext uri="{FF2B5EF4-FFF2-40B4-BE49-F238E27FC236}">
                <a16:creationId xmlns:a16="http://schemas.microsoft.com/office/drawing/2014/main" id="{39ABC21F-FB5E-4C5E-8EAC-684622A6E9B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r="65262"/>
          <a:stretch>
            <a:fillRect/>
          </a:stretch>
        </p:blipFill>
        <p:spPr bwMode="auto">
          <a:xfrm>
            <a:off x="6084888" y="1700213"/>
            <a:ext cx="2184400" cy="419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3934958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a:extLst>
              <a:ext uri="{FF2B5EF4-FFF2-40B4-BE49-F238E27FC236}">
                <a16:creationId xmlns:a16="http://schemas.microsoft.com/office/drawing/2014/main" id="{7FACD426-E4AB-438F-9C88-E1F528C1DE9B}"/>
              </a:ext>
            </a:extLst>
          </p:cNvPr>
          <p:cNvSpPr>
            <a:spLocks noGrp="1" noChangeArrowheads="1"/>
          </p:cNvSpPr>
          <p:nvPr>
            <p:ph type="body" idx="4294967295"/>
          </p:nvPr>
        </p:nvSpPr>
        <p:spPr>
          <a:xfrm>
            <a:off x="762000" y="515938"/>
            <a:ext cx="8382000" cy="1905000"/>
          </a:xfrm>
          <a:solidFill>
            <a:schemeClr val="bg1"/>
          </a:solidFill>
        </p:spPr>
        <p:txBody>
          <a:bodyPr/>
          <a:lstStyle/>
          <a:p>
            <a:pPr algn="just">
              <a:buFont typeface="Wingdings" panose="05000000000000000000" pitchFamily="2" charset="2"/>
              <a:buNone/>
            </a:pPr>
            <a:r>
              <a:rPr lang="en-US" altLang="zh-CN" sz="2600" b="1">
                <a:latin typeface="楷体_GB2312" pitchFamily="49" charset="-122"/>
                <a:ea typeface="楷体_GB2312" pitchFamily="49" charset="-122"/>
              </a:rPr>
              <a:t>c. </a:t>
            </a:r>
            <a:r>
              <a:rPr lang="zh-CN" altLang="en-US" sz="2600" b="1">
                <a:latin typeface="楷体_GB2312" pitchFamily="49" charset="-122"/>
                <a:ea typeface="楷体_GB2312" pitchFamily="49" charset="-122"/>
              </a:rPr>
              <a:t>在膜内外势能差（</a:t>
            </a:r>
            <a:r>
              <a:rPr lang="zh-CN" altLang="en-US" sz="2600" b="1">
                <a:latin typeface="楷体_GB2312" pitchFamily="49" charset="-122"/>
                <a:ea typeface="楷体_GB2312" pitchFamily="49" charset="-122"/>
                <a:sym typeface="Symbol" panose="05050102010706020507" pitchFamily="18" charset="2"/>
              </a:rPr>
              <a:t></a:t>
            </a:r>
            <a:r>
              <a:rPr lang="en-US" altLang="zh-CN" sz="2600" b="1">
                <a:latin typeface="楷体_GB2312" pitchFamily="49" charset="-122"/>
                <a:ea typeface="楷体_GB2312" pitchFamily="49" charset="-122"/>
              </a:rPr>
              <a:t>pH </a:t>
            </a:r>
            <a:r>
              <a:rPr lang="zh-CN" altLang="en-US" sz="2600" b="1">
                <a:latin typeface="楷体_GB2312" pitchFamily="49" charset="-122"/>
                <a:ea typeface="楷体_GB2312" pitchFamily="49" charset="-122"/>
              </a:rPr>
              <a:t>和</a:t>
            </a:r>
            <a:r>
              <a:rPr lang="zh-CN" altLang="en-US" sz="2600" b="1">
                <a:latin typeface="楷体_GB2312" pitchFamily="49" charset="-122"/>
                <a:ea typeface="楷体_GB2312" pitchFamily="49" charset="-122"/>
                <a:sym typeface="Symbol" panose="05050102010706020507" pitchFamily="18" charset="2"/>
              </a:rPr>
              <a:t></a:t>
            </a:r>
            <a:r>
              <a:rPr lang="zh-CN" altLang="en-US" sz="2600" b="1">
                <a:latin typeface="楷体_GB2312" pitchFamily="49" charset="-122"/>
                <a:ea typeface="楷体_GB2312" pitchFamily="49" charset="-122"/>
              </a:rPr>
              <a:t>）的驱动下，膜外高能质子沿着一个特殊通道（</a:t>
            </a:r>
            <a:r>
              <a:rPr lang="en-US" altLang="zh-CN" sz="2600" b="1">
                <a:latin typeface="楷体_GB2312" pitchFamily="49" charset="-122"/>
                <a:ea typeface="楷体_GB2312" pitchFamily="49" charset="-122"/>
              </a:rPr>
              <a:t>ATP</a:t>
            </a:r>
            <a:r>
              <a:rPr lang="zh-CN" altLang="en-US" sz="2600" b="1">
                <a:latin typeface="楷体_GB2312" pitchFamily="49" charset="-122"/>
                <a:ea typeface="楷体_GB2312" pitchFamily="49" charset="-122"/>
              </a:rPr>
              <a:t>酶的组成部分），跨膜回到膜内侧。质子跨膜过程中释放的能量，直接驱动</a:t>
            </a:r>
            <a:r>
              <a:rPr lang="en-US" altLang="zh-CN" sz="2600" b="1">
                <a:latin typeface="楷体_GB2312" pitchFamily="49" charset="-122"/>
                <a:ea typeface="楷体_GB2312" pitchFamily="49" charset="-122"/>
              </a:rPr>
              <a:t>ADP</a:t>
            </a:r>
            <a:r>
              <a:rPr lang="zh-CN" altLang="en-US" sz="2600" b="1">
                <a:latin typeface="楷体_GB2312" pitchFamily="49" charset="-122"/>
                <a:ea typeface="楷体_GB2312" pitchFamily="49" charset="-122"/>
              </a:rPr>
              <a:t>和磷酸合成</a:t>
            </a:r>
            <a:r>
              <a:rPr lang="en-US" altLang="zh-CN" sz="2600" b="1">
                <a:latin typeface="楷体_GB2312" pitchFamily="49" charset="-122"/>
                <a:ea typeface="楷体_GB2312" pitchFamily="49" charset="-122"/>
              </a:rPr>
              <a:t>ATP</a:t>
            </a:r>
            <a:r>
              <a:rPr lang="zh-CN" altLang="en-US" sz="2600" b="1">
                <a:latin typeface="楷体_GB2312" pitchFamily="49" charset="-122"/>
                <a:ea typeface="楷体_GB2312" pitchFamily="49" charset="-122"/>
              </a:rPr>
              <a:t>。</a:t>
            </a:r>
            <a:endParaRPr lang="zh-CN" altLang="en-US"/>
          </a:p>
        </p:txBody>
      </p:sp>
      <p:pic>
        <p:nvPicPr>
          <p:cNvPr id="130051" name="Picture 3">
            <a:extLst>
              <a:ext uri="{FF2B5EF4-FFF2-40B4-BE49-F238E27FC236}">
                <a16:creationId xmlns:a16="http://schemas.microsoft.com/office/drawing/2014/main" id="{F3C9F840-5C7D-4616-8929-758034321C5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0" y="2351088"/>
            <a:ext cx="6288088" cy="419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520602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178" name="Picture 34">
            <a:extLst>
              <a:ext uri="{FF2B5EF4-FFF2-40B4-BE49-F238E27FC236}">
                <a16:creationId xmlns:a16="http://schemas.microsoft.com/office/drawing/2014/main" id="{3354483D-B7FE-42CB-8BDC-ECCEF53AB56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400" y="1219200"/>
            <a:ext cx="6553200" cy="5018088"/>
          </a:xfrm>
          <a:prstGeom prst="rect">
            <a:avLst/>
          </a:prstGeom>
          <a:noFill/>
          <a:extLst>
            <a:ext uri="{909E8E84-426E-40DD-AFC4-6F175D3DCCD1}">
              <a14:hiddenFill xmlns:a14="http://schemas.microsoft.com/office/drawing/2010/main">
                <a:solidFill>
                  <a:srgbClr val="FFFFFF"/>
                </a:solidFill>
              </a14:hiddenFill>
            </a:ext>
          </a:extLst>
        </p:spPr>
      </p:pic>
      <p:sp>
        <p:nvSpPr>
          <p:cNvPr id="134146" name="Rectangle 2">
            <a:extLst>
              <a:ext uri="{FF2B5EF4-FFF2-40B4-BE49-F238E27FC236}">
                <a16:creationId xmlns:a16="http://schemas.microsoft.com/office/drawing/2014/main" id="{C9E026BD-D0FE-4A92-A022-21D6DCF90F29}"/>
              </a:ext>
            </a:extLst>
          </p:cNvPr>
          <p:cNvSpPr>
            <a:spLocks noGrp="1" noChangeArrowheads="1"/>
          </p:cNvSpPr>
          <p:nvPr>
            <p:ph type="title" idx="4294967295"/>
          </p:nvPr>
        </p:nvSpPr>
        <p:spPr>
          <a:xfrm>
            <a:off x="0" y="76200"/>
            <a:ext cx="4419600" cy="904875"/>
          </a:xfrm>
        </p:spPr>
        <p:txBody>
          <a:bodyPr/>
          <a:lstStyle/>
          <a:p>
            <a:r>
              <a:rPr lang="zh-CN" altLang="en-US" sz="3000" b="1">
                <a:solidFill>
                  <a:schemeClr val="accent2"/>
                </a:solidFill>
                <a:latin typeface="Times New Roman" panose="02020603050405020304" pitchFamily="18" charset="0"/>
                <a:ea typeface="楷体_GB2312" pitchFamily="49" charset="-122"/>
              </a:rPr>
              <a:t>化学渗透学说示意图</a:t>
            </a:r>
          </a:p>
        </p:txBody>
      </p:sp>
      <p:sp>
        <p:nvSpPr>
          <p:cNvPr id="134148" name="Text Box 4">
            <a:extLst>
              <a:ext uri="{FF2B5EF4-FFF2-40B4-BE49-F238E27FC236}">
                <a16:creationId xmlns:a16="http://schemas.microsoft.com/office/drawing/2014/main" id="{D855AD30-EA38-4A5C-86FD-A9F12A6486AE}"/>
              </a:ext>
            </a:extLst>
          </p:cNvPr>
          <p:cNvSpPr txBox="1">
            <a:spLocks noChangeArrowheads="1"/>
          </p:cNvSpPr>
          <p:nvPr/>
        </p:nvSpPr>
        <p:spPr bwMode="auto">
          <a:xfrm>
            <a:off x="7848600" y="3464173"/>
            <a:ext cx="733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en-US" altLang="zh-CN" sz="2000" b="1" dirty="0">
                <a:solidFill>
                  <a:srgbClr val="0000CC"/>
                </a:solidFill>
                <a:latin typeface="Times New Roman" panose="02020603050405020304" pitchFamily="18" charset="0"/>
                <a:ea typeface="宋体" panose="02010600030101010101" pitchFamily="2" charset="-122"/>
              </a:rPr>
              <a:t>4H</a:t>
            </a:r>
            <a:r>
              <a:rPr kumimoji="0" lang="en-US" altLang="zh-CN" sz="2000" b="1" baseline="30000" dirty="0">
                <a:solidFill>
                  <a:srgbClr val="0000CC"/>
                </a:solidFill>
                <a:latin typeface="Times New Roman" panose="02020603050405020304" pitchFamily="18" charset="0"/>
                <a:ea typeface="宋体" panose="02010600030101010101" pitchFamily="2" charset="-122"/>
              </a:rPr>
              <a:t>+</a:t>
            </a:r>
          </a:p>
        </p:txBody>
      </p:sp>
      <p:sp>
        <p:nvSpPr>
          <p:cNvPr id="134149" name="Text Box 5">
            <a:extLst>
              <a:ext uri="{FF2B5EF4-FFF2-40B4-BE49-F238E27FC236}">
                <a16:creationId xmlns:a16="http://schemas.microsoft.com/office/drawing/2014/main" id="{906498B2-59F7-4DB6-B0CC-CABC00FD95F3}"/>
              </a:ext>
            </a:extLst>
          </p:cNvPr>
          <p:cNvSpPr txBox="1">
            <a:spLocks noChangeArrowheads="1"/>
          </p:cNvSpPr>
          <p:nvPr/>
        </p:nvSpPr>
        <p:spPr bwMode="auto">
          <a:xfrm>
            <a:off x="7696200" y="2819400"/>
            <a:ext cx="733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en-US" altLang="zh-CN" sz="2000" b="1" dirty="0">
                <a:solidFill>
                  <a:srgbClr val="0000CC"/>
                </a:solidFill>
                <a:latin typeface="Times New Roman" panose="02020603050405020304" pitchFamily="18" charset="0"/>
                <a:ea typeface="宋体" panose="02010600030101010101" pitchFamily="2" charset="-122"/>
              </a:rPr>
              <a:t>4H</a:t>
            </a:r>
            <a:r>
              <a:rPr kumimoji="0" lang="en-US" altLang="zh-CN" sz="2000" b="1" baseline="30000" dirty="0">
                <a:solidFill>
                  <a:srgbClr val="0000CC"/>
                </a:solidFill>
                <a:latin typeface="Times New Roman" panose="02020603050405020304" pitchFamily="18" charset="0"/>
                <a:ea typeface="宋体" panose="02010600030101010101" pitchFamily="2" charset="-122"/>
              </a:rPr>
              <a:t>+</a:t>
            </a:r>
          </a:p>
        </p:txBody>
      </p:sp>
      <p:sp>
        <p:nvSpPr>
          <p:cNvPr id="134152" name="Text Box 8">
            <a:extLst>
              <a:ext uri="{FF2B5EF4-FFF2-40B4-BE49-F238E27FC236}">
                <a16:creationId xmlns:a16="http://schemas.microsoft.com/office/drawing/2014/main" id="{DEE6CCDF-CBFF-4B3A-8F33-24E880F686C3}"/>
              </a:ext>
            </a:extLst>
          </p:cNvPr>
          <p:cNvSpPr txBox="1">
            <a:spLocks noChangeArrowheads="1"/>
          </p:cNvSpPr>
          <p:nvPr/>
        </p:nvSpPr>
        <p:spPr bwMode="auto">
          <a:xfrm>
            <a:off x="4419600" y="2743200"/>
            <a:ext cx="1524000" cy="406400"/>
          </a:xfrm>
          <a:prstGeom prst="rect">
            <a:avLst/>
          </a:prstGeom>
          <a:solidFill>
            <a:srgbClr val="00FFFF"/>
          </a:solidFill>
          <a:ln w="9525">
            <a:solidFill>
              <a:srgbClr val="33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en-US" altLang="zh-CN" sz="2000" b="1">
                <a:solidFill>
                  <a:srgbClr val="D60093"/>
                </a:solidFill>
                <a:latin typeface="Times New Roman" panose="02020603050405020304" pitchFamily="18" charset="0"/>
                <a:ea typeface="宋体" panose="02010600030101010101" pitchFamily="2" charset="-122"/>
              </a:rPr>
              <a:t>NADH+H</a:t>
            </a:r>
            <a:r>
              <a:rPr kumimoji="0" lang="en-US" altLang="zh-CN" sz="2000" b="1" baseline="30000">
                <a:solidFill>
                  <a:srgbClr val="D60093"/>
                </a:solidFill>
                <a:latin typeface="Times New Roman" panose="02020603050405020304" pitchFamily="18" charset="0"/>
                <a:ea typeface="宋体" panose="02010600030101010101" pitchFamily="2" charset="-122"/>
              </a:rPr>
              <a:t>+</a:t>
            </a:r>
          </a:p>
        </p:txBody>
      </p:sp>
      <p:sp>
        <p:nvSpPr>
          <p:cNvPr id="134153" name="Text Box 9">
            <a:extLst>
              <a:ext uri="{FF2B5EF4-FFF2-40B4-BE49-F238E27FC236}">
                <a16:creationId xmlns:a16="http://schemas.microsoft.com/office/drawing/2014/main" id="{33A38AF6-F837-4DDD-9742-7A82DA2091C2}"/>
              </a:ext>
            </a:extLst>
          </p:cNvPr>
          <p:cNvSpPr txBox="1">
            <a:spLocks noChangeArrowheads="1"/>
          </p:cNvSpPr>
          <p:nvPr/>
        </p:nvSpPr>
        <p:spPr bwMode="auto">
          <a:xfrm>
            <a:off x="7877175" y="4040237"/>
            <a:ext cx="733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en-US" altLang="zh-CN" sz="2000" b="1" dirty="0">
                <a:solidFill>
                  <a:srgbClr val="0000CC"/>
                </a:solidFill>
                <a:latin typeface="Times New Roman" panose="02020603050405020304" pitchFamily="18" charset="0"/>
                <a:ea typeface="宋体" panose="02010600030101010101" pitchFamily="2" charset="-122"/>
              </a:rPr>
              <a:t>2H</a:t>
            </a:r>
            <a:r>
              <a:rPr kumimoji="0" lang="en-US" altLang="zh-CN" sz="2000" b="1" baseline="30000" dirty="0">
                <a:solidFill>
                  <a:srgbClr val="0000CC"/>
                </a:solidFill>
                <a:latin typeface="Times New Roman" panose="02020603050405020304" pitchFamily="18" charset="0"/>
                <a:ea typeface="宋体" panose="02010600030101010101" pitchFamily="2" charset="-122"/>
              </a:rPr>
              <a:t>+</a:t>
            </a:r>
          </a:p>
        </p:txBody>
      </p:sp>
      <p:sp>
        <p:nvSpPr>
          <p:cNvPr id="134154" name="Text Box 10">
            <a:extLst>
              <a:ext uri="{FF2B5EF4-FFF2-40B4-BE49-F238E27FC236}">
                <a16:creationId xmlns:a16="http://schemas.microsoft.com/office/drawing/2014/main" id="{97DE9B3C-872B-442B-ABB9-91B5721CBA6C}"/>
              </a:ext>
            </a:extLst>
          </p:cNvPr>
          <p:cNvSpPr txBox="1">
            <a:spLocks noChangeArrowheads="1"/>
          </p:cNvSpPr>
          <p:nvPr/>
        </p:nvSpPr>
        <p:spPr bwMode="auto">
          <a:xfrm>
            <a:off x="3910013" y="3276600"/>
            <a:ext cx="733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en-US" altLang="zh-CN" sz="2000" b="1" dirty="0">
                <a:solidFill>
                  <a:srgbClr val="0000CC"/>
                </a:solidFill>
                <a:latin typeface="Times New Roman" panose="02020603050405020304" pitchFamily="18" charset="0"/>
                <a:ea typeface="宋体" panose="02010600030101010101" pitchFamily="2" charset="-122"/>
                <a:hlinkClick r:id="rId4" action="ppaction://hlinksldjump"/>
              </a:rPr>
              <a:t>4H</a:t>
            </a:r>
            <a:r>
              <a:rPr kumimoji="0" lang="en-US" altLang="zh-CN" sz="2000" b="1" baseline="30000" dirty="0">
                <a:solidFill>
                  <a:srgbClr val="0000CC"/>
                </a:solidFill>
                <a:latin typeface="Times New Roman" panose="02020603050405020304" pitchFamily="18" charset="0"/>
                <a:ea typeface="宋体" panose="02010600030101010101" pitchFamily="2" charset="-122"/>
                <a:hlinkClick r:id="rId4" action="ppaction://hlinksldjump"/>
              </a:rPr>
              <a:t>+</a:t>
            </a:r>
            <a:endParaRPr kumimoji="0" lang="en-US" altLang="zh-CN" sz="2000" b="1" baseline="30000" dirty="0">
              <a:solidFill>
                <a:srgbClr val="0000CC"/>
              </a:solidFill>
              <a:latin typeface="Times New Roman" panose="02020603050405020304" pitchFamily="18" charset="0"/>
              <a:ea typeface="宋体" panose="02010600030101010101" pitchFamily="2" charset="-122"/>
            </a:endParaRPr>
          </a:p>
        </p:txBody>
      </p:sp>
      <p:sp>
        <p:nvSpPr>
          <p:cNvPr id="134155" name="Text Box 11">
            <a:extLst>
              <a:ext uri="{FF2B5EF4-FFF2-40B4-BE49-F238E27FC236}">
                <a16:creationId xmlns:a16="http://schemas.microsoft.com/office/drawing/2014/main" id="{65A74735-28DC-49C8-BACF-E88CD7A82B10}"/>
              </a:ext>
            </a:extLst>
          </p:cNvPr>
          <p:cNvSpPr txBox="1">
            <a:spLocks noChangeArrowheads="1"/>
          </p:cNvSpPr>
          <p:nvPr/>
        </p:nvSpPr>
        <p:spPr bwMode="auto">
          <a:xfrm>
            <a:off x="3833813" y="6384925"/>
            <a:ext cx="733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en-US" altLang="zh-CN" sz="2000" b="1" dirty="0">
                <a:solidFill>
                  <a:srgbClr val="0000CC"/>
                </a:solidFill>
                <a:latin typeface="Times New Roman" panose="02020603050405020304" pitchFamily="18" charset="0"/>
                <a:ea typeface="宋体" panose="02010600030101010101" pitchFamily="2" charset="-122"/>
              </a:rPr>
              <a:t>4H</a:t>
            </a:r>
            <a:r>
              <a:rPr kumimoji="0" lang="en-US" altLang="zh-CN" sz="2000" b="1" baseline="30000" dirty="0">
                <a:solidFill>
                  <a:srgbClr val="0000CC"/>
                </a:solidFill>
                <a:latin typeface="Times New Roman" panose="02020603050405020304" pitchFamily="18" charset="0"/>
                <a:ea typeface="宋体" panose="02010600030101010101" pitchFamily="2" charset="-122"/>
              </a:rPr>
              <a:t>+</a:t>
            </a:r>
          </a:p>
        </p:txBody>
      </p:sp>
      <p:sp>
        <p:nvSpPr>
          <p:cNvPr id="134156" name="Text Box 12">
            <a:extLst>
              <a:ext uri="{FF2B5EF4-FFF2-40B4-BE49-F238E27FC236}">
                <a16:creationId xmlns:a16="http://schemas.microsoft.com/office/drawing/2014/main" id="{6A0D2691-CD82-47C9-9974-82D5D2ACDFDB}"/>
              </a:ext>
            </a:extLst>
          </p:cNvPr>
          <p:cNvSpPr txBox="1">
            <a:spLocks noChangeArrowheads="1"/>
          </p:cNvSpPr>
          <p:nvPr/>
        </p:nvSpPr>
        <p:spPr bwMode="auto">
          <a:xfrm>
            <a:off x="2667000" y="3810000"/>
            <a:ext cx="1219200" cy="406400"/>
          </a:xfrm>
          <a:prstGeom prst="rect">
            <a:avLst/>
          </a:prstGeom>
          <a:solidFill>
            <a:srgbClr val="FFFF00"/>
          </a:solidFill>
          <a:ln w="9525">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en-US" altLang="zh-CN" sz="2000" b="1">
                <a:solidFill>
                  <a:schemeClr val="tx2"/>
                </a:solidFill>
                <a:latin typeface="Times New Roman" panose="02020603050405020304" pitchFamily="18" charset="0"/>
                <a:ea typeface="宋体" panose="02010600030101010101" pitchFamily="2" charset="-122"/>
              </a:rPr>
              <a:t> ADP+Pi</a:t>
            </a:r>
            <a:endParaRPr kumimoji="0" lang="en-US" altLang="zh-CN" sz="2000" b="1" baseline="30000">
              <a:solidFill>
                <a:schemeClr val="tx2"/>
              </a:solidFill>
              <a:latin typeface="Times New Roman" panose="02020603050405020304" pitchFamily="18" charset="0"/>
              <a:ea typeface="宋体" panose="02010600030101010101" pitchFamily="2" charset="-122"/>
            </a:endParaRPr>
          </a:p>
        </p:txBody>
      </p:sp>
      <p:sp>
        <p:nvSpPr>
          <p:cNvPr id="134157" name="Text Box 13">
            <a:extLst>
              <a:ext uri="{FF2B5EF4-FFF2-40B4-BE49-F238E27FC236}">
                <a16:creationId xmlns:a16="http://schemas.microsoft.com/office/drawing/2014/main" id="{C942E40C-2D64-42C5-9BA3-FD2789E2C125}"/>
              </a:ext>
            </a:extLst>
          </p:cNvPr>
          <p:cNvSpPr txBox="1">
            <a:spLocks noChangeArrowheads="1"/>
          </p:cNvSpPr>
          <p:nvPr/>
        </p:nvSpPr>
        <p:spPr bwMode="auto">
          <a:xfrm>
            <a:off x="4452938" y="3784600"/>
            <a:ext cx="728662" cy="406400"/>
          </a:xfrm>
          <a:prstGeom prst="rect">
            <a:avLst/>
          </a:prstGeom>
          <a:solidFill>
            <a:srgbClr val="FF99CC"/>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en-US" altLang="zh-CN" sz="2000" b="1">
                <a:solidFill>
                  <a:srgbClr val="0000CC"/>
                </a:solidFill>
                <a:latin typeface="Times New Roman" panose="02020603050405020304" pitchFamily="18" charset="0"/>
                <a:ea typeface="宋体" panose="02010600030101010101" pitchFamily="2" charset="-122"/>
              </a:rPr>
              <a:t>ATP</a:t>
            </a:r>
          </a:p>
        </p:txBody>
      </p:sp>
      <p:sp>
        <p:nvSpPr>
          <p:cNvPr id="134158" name="Text Box 14">
            <a:extLst>
              <a:ext uri="{FF2B5EF4-FFF2-40B4-BE49-F238E27FC236}">
                <a16:creationId xmlns:a16="http://schemas.microsoft.com/office/drawing/2014/main" id="{54E62084-FDDC-4528-B59D-A6DF2ED7C9F3}"/>
              </a:ext>
            </a:extLst>
          </p:cNvPr>
          <p:cNvSpPr txBox="1">
            <a:spLocks noChangeArrowheads="1"/>
          </p:cNvSpPr>
          <p:nvPr/>
        </p:nvSpPr>
        <p:spPr bwMode="auto">
          <a:xfrm>
            <a:off x="8458200" y="2743200"/>
            <a:ext cx="322263" cy="1465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zh-CN" altLang="en-US" b="1">
                <a:latin typeface="Times New Roman" panose="02020603050405020304" pitchFamily="18" charset="0"/>
                <a:ea typeface="宋体" panose="02010600030101010101" pitchFamily="2" charset="-122"/>
              </a:rPr>
              <a:t>高质子浓度</a:t>
            </a:r>
          </a:p>
        </p:txBody>
      </p:sp>
      <p:sp>
        <p:nvSpPr>
          <p:cNvPr id="134159" name="Text Box 15">
            <a:extLst>
              <a:ext uri="{FF2B5EF4-FFF2-40B4-BE49-F238E27FC236}">
                <a16:creationId xmlns:a16="http://schemas.microsoft.com/office/drawing/2014/main" id="{1A4AEA58-2E64-4B94-8092-464B09DD8620}"/>
              </a:ext>
            </a:extLst>
          </p:cNvPr>
          <p:cNvSpPr txBox="1">
            <a:spLocks noChangeArrowheads="1"/>
          </p:cNvSpPr>
          <p:nvPr/>
        </p:nvSpPr>
        <p:spPr bwMode="auto">
          <a:xfrm>
            <a:off x="5272088" y="4311650"/>
            <a:ext cx="8969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en-US" altLang="zh-CN" sz="2000" b="1">
                <a:solidFill>
                  <a:srgbClr val="990000"/>
                </a:solidFill>
                <a:latin typeface="Times New Roman" panose="02020603050405020304" pitchFamily="18" charset="0"/>
                <a:ea typeface="宋体" panose="02010600030101010101" pitchFamily="2" charset="-122"/>
              </a:rPr>
              <a:t>H</a:t>
            </a:r>
            <a:r>
              <a:rPr kumimoji="0" lang="en-US" altLang="zh-CN" sz="2000" b="1" baseline="-25000">
                <a:solidFill>
                  <a:srgbClr val="990000"/>
                </a:solidFill>
                <a:latin typeface="Times New Roman" panose="02020603050405020304" pitchFamily="18" charset="0"/>
                <a:ea typeface="宋体" panose="02010600030101010101" pitchFamily="2" charset="-122"/>
              </a:rPr>
              <a:t>2</a:t>
            </a:r>
            <a:r>
              <a:rPr kumimoji="0" lang="en-US" altLang="zh-CN" sz="2000" b="1">
                <a:solidFill>
                  <a:srgbClr val="990000"/>
                </a:solidFill>
                <a:latin typeface="Times New Roman" panose="02020603050405020304" pitchFamily="18" charset="0"/>
                <a:ea typeface="宋体" panose="02010600030101010101" pitchFamily="2" charset="-122"/>
              </a:rPr>
              <a:t>O</a:t>
            </a:r>
          </a:p>
        </p:txBody>
      </p:sp>
      <p:sp>
        <p:nvSpPr>
          <p:cNvPr id="134160" name="Text Box 16">
            <a:extLst>
              <a:ext uri="{FF2B5EF4-FFF2-40B4-BE49-F238E27FC236}">
                <a16:creationId xmlns:a16="http://schemas.microsoft.com/office/drawing/2014/main" id="{3388E579-B326-4FC3-8B49-72B22CD3332C}"/>
              </a:ext>
            </a:extLst>
          </p:cNvPr>
          <p:cNvSpPr txBox="1">
            <a:spLocks noChangeArrowheads="1"/>
          </p:cNvSpPr>
          <p:nvPr/>
        </p:nvSpPr>
        <p:spPr bwMode="auto">
          <a:xfrm>
            <a:off x="6248400" y="2590800"/>
            <a:ext cx="5699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en-US" altLang="zh-CN" sz="2000" b="1">
                <a:solidFill>
                  <a:schemeClr val="hlink"/>
                </a:solidFill>
                <a:latin typeface="Times New Roman" panose="02020603050405020304" pitchFamily="18" charset="0"/>
                <a:ea typeface="宋体" panose="02010600030101010101" pitchFamily="2" charset="-122"/>
              </a:rPr>
              <a:t>2</a:t>
            </a:r>
            <a:r>
              <a:rPr kumimoji="0" lang="en-US" altLang="zh-CN" sz="2400" b="1">
                <a:solidFill>
                  <a:schemeClr val="hlink"/>
                </a:solidFill>
                <a:latin typeface="Times New Roman" panose="02020603050405020304" pitchFamily="18" charset="0"/>
                <a:ea typeface="宋体" panose="02010600030101010101" pitchFamily="2" charset="-122"/>
              </a:rPr>
              <a:t>e</a:t>
            </a:r>
            <a:r>
              <a:rPr kumimoji="0" lang="en-US" altLang="zh-CN" sz="2400" b="1" baseline="30000">
                <a:solidFill>
                  <a:schemeClr val="hlink"/>
                </a:solidFill>
                <a:latin typeface="Times New Roman" panose="02020603050405020304" pitchFamily="18" charset="0"/>
                <a:ea typeface="宋体" panose="02010600030101010101" pitchFamily="2" charset="-122"/>
              </a:rPr>
              <a:t>-</a:t>
            </a:r>
          </a:p>
        </p:txBody>
      </p:sp>
      <p:sp>
        <p:nvSpPr>
          <p:cNvPr id="134161" name="AutoShape 17">
            <a:extLst>
              <a:ext uri="{FF2B5EF4-FFF2-40B4-BE49-F238E27FC236}">
                <a16:creationId xmlns:a16="http://schemas.microsoft.com/office/drawing/2014/main" id="{71895F37-74CC-414A-A792-35C3666158A0}"/>
              </a:ext>
            </a:extLst>
          </p:cNvPr>
          <p:cNvSpPr>
            <a:spLocks noChangeArrowheads="1"/>
          </p:cNvSpPr>
          <p:nvPr/>
        </p:nvSpPr>
        <p:spPr bwMode="auto">
          <a:xfrm>
            <a:off x="3400425" y="4237038"/>
            <a:ext cx="1465263" cy="488950"/>
          </a:xfrm>
          <a:prstGeom prst="curvedUpArrow">
            <a:avLst>
              <a:gd name="adj1" fmla="val 26777"/>
              <a:gd name="adj2" fmla="val 86712"/>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162" name="Line 18">
            <a:extLst>
              <a:ext uri="{FF2B5EF4-FFF2-40B4-BE49-F238E27FC236}">
                <a16:creationId xmlns:a16="http://schemas.microsoft.com/office/drawing/2014/main" id="{55845C44-7AC6-4DB5-8B10-3D3D975BA236}"/>
              </a:ext>
            </a:extLst>
          </p:cNvPr>
          <p:cNvSpPr>
            <a:spLocks noChangeShapeType="1"/>
          </p:cNvSpPr>
          <p:nvPr/>
        </p:nvSpPr>
        <p:spPr bwMode="auto">
          <a:xfrm flipV="1">
            <a:off x="4110038" y="3581400"/>
            <a:ext cx="4762" cy="2895600"/>
          </a:xfrm>
          <a:prstGeom prst="line">
            <a:avLst/>
          </a:prstGeom>
          <a:noFill/>
          <a:ln w="25400">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163" name="Text Box 19">
            <a:extLst>
              <a:ext uri="{FF2B5EF4-FFF2-40B4-BE49-F238E27FC236}">
                <a16:creationId xmlns:a16="http://schemas.microsoft.com/office/drawing/2014/main" id="{C080CA63-7019-482F-90A4-3FC60E4D6193}"/>
              </a:ext>
            </a:extLst>
          </p:cNvPr>
          <p:cNvSpPr txBox="1">
            <a:spLocks noChangeArrowheads="1"/>
          </p:cNvSpPr>
          <p:nvPr/>
        </p:nvSpPr>
        <p:spPr bwMode="auto">
          <a:xfrm>
            <a:off x="2819400" y="914400"/>
            <a:ext cx="3048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en-US" altLang="zh-CN" sz="2800" b="1">
                <a:latin typeface="Times New Roman" panose="02020603050405020304" pitchFamily="18" charset="0"/>
                <a:ea typeface="宋体" panose="02010600030101010101" pitchFamily="2" charset="-122"/>
              </a:rPr>
              <a:t>+ + + + + + + + +</a:t>
            </a:r>
          </a:p>
        </p:txBody>
      </p:sp>
      <p:sp>
        <p:nvSpPr>
          <p:cNvPr id="134164" name="Text Box 20">
            <a:extLst>
              <a:ext uri="{FF2B5EF4-FFF2-40B4-BE49-F238E27FC236}">
                <a16:creationId xmlns:a16="http://schemas.microsoft.com/office/drawing/2014/main" id="{787413E3-ED46-4AB3-B324-37435E1E5ED1}"/>
              </a:ext>
            </a:extLst>
          </p:cNvPr>
          <p:cNvSpPr txBox="1">
            <a:spLocks noChangeArrowheads="1"/>
          </p:cNvSpPr>
          <p:nvPr/>
        </p:nvSpPr>
        <p:spPr bwMode="auto">
          <a:xfrm>
            <a:off x="2773363" y="1905000"/>
            <a:ext cx="30940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en-US" altLang="zh-CN" sz="2800" b="1">
                <a:solidFill>
                  <a:srgbClr val="010000"/>
                </a:solidFill>
                <a:latin typeface="Times New Roman" panose="02020603050405020304" pitchFamily="18" charset="0"/>
                <a:ea typeface="宋体" panose="02010600030101010101" pitchFamily="2" charset="-122"/>
              </a:rPr>
              <a:t>_ _ _ _ _ _ _ _ _ _</a:t>
            </a:r>
          </a:p>
        </p:txBody>
      </p:sp>
      <p:sp>
        <p:nvSpPr>
          <p:cNvPr id="134165" name="Line 21">
            <a:extLst>
              <a:ext uri="{FF2B5EF4-FFF2-40B4-BE49-F238E27FC236}">
                <a16:creationId xmlns:a16="http://schemas.microsoft.com/office/drawing/2014/main" id="{A20CB820-9501-4C26-8679-A2274150B176}"/>
              </a:ext>
            </a:extLst>
          </p:cNvPr>
          <p:cNvSpPr>
            <a:spLocks noChangeShapeType="1"/>
          </p:cNvSpPr>
          <p:nvPr/>
        </p:nvSpPr>
        <p:spPr bwMode="auto">
          <a:xfrm>
            <a:off x="5867400" y="3048000"/>
            <a:ext cx="1905000" cy="0"/>
          </a:xfrm>
          <a:prstGeom prst="line">
            <a:avLst/>
          </a:prstGeom>
          <a:noFill/>
          <a:ln w="28575">
            <a:solidFill>
              <a:srgbClr val="333399"/>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166" name="Line 22">
            <a:extLst>
              <a:ext uri="{FF2B5EF4-FFF2-40B4-BE49-F238E27FC236}">
                <a16:creationId xmlns:a16="http://schemas.microsoft.com/office/drawing/2014/main" id="{BB52DD9E-C76A-4ACF-ABE6-9661926F2F20}"/>
              </a:ext>
            </a:extLst>
          </p:cNvPr>
          <p:cNvSpPr>
            <a:spLocks noChangeShapeType="1"/>
          </p:cNvSpPr>
          <p:nvPr/>
        </p:nvSpPr>
        <p:spPr bwMode="auto">
          <a:xfrm>
            <a:off x="6019800" y="3657600"/>
            <a:ext cx="1905000" cy="0"/>
          </a:xfrm>
          <a:prstGeom prst="line">
            <a:avLst/>
          </a:prstGeom>
          <a:noFill/>
          <a:ln w="28575">
            <a:solidFill>
              <a:srgbClr val="333399"/>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167" name="Line 23">
            <a:extLst>
              <a:ext uri="{FF2B5EF4-FFF2-40B4-BE49-F238E27FC236}">
                <a16:creationId xmlns:a16="http://schemas.microsoft.com/office/drawing/2014/main" id="{DFF4B0CA-BA4B-4B3B-981E-5C643BF9C89D}"/>
              </a:ext>
            </a:extLst>
          </p:cNvPr>
          <p:cNvSpPr>
            <a:spLocks noChangeShapeType="1"/>
          </p:cNvSpPr>
          <p:nvPr/>
        </p:nvSpPr>
        <p:spPr bwMode="auto">
          <a:xfrm>
            <a:off x="6019800" y="4267200"/>
            <a:ext cx="1905000" cy="0"/>
          </a:xfrm>
          <a:prstGeom prst="line">
            <a:avLst/>
          </a:prstGeom>
          <a:noFill/>
          <a:ln w="28575">
            <a:solidFill>
              <a:srgbClr val="333399"/>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134168" name="AutoShape 24">
            <a:extLst>
              <a:ext uri="{FF2B5EF4-FFF2-40B4-BE49-F238E27FC236}">
                <a16:creationId xmlns:a16="http://schemas.microsoft.com/office/drawing/2014/main" id="{63B410C1-0351-4514-8D8C-FC1E71BB561E}"/>
              </a:ext>
            </a:extLst>
          </p:cNvPr>
          <p:cNvCxnSpPr>
            <a:cxnSpLocks noChangeShapeType="1"/>
          </p:cNvCxnSpPr>
          <p:nvPr/>
        </p:nvCxnSpPr>
        <p:spPr bwMode="auto">
          <a:xfrm rot="5400000">
            <a:off x="5442744" y="3671094"/>
            <a:ext cx="2239962" cy="3676650"/>
          </a:xfrm>
          <a:prstGeom prst="curvedConnector2">
            <a:avLst/>
          </a:prstGeom>
          <a:noFill/>
          <a:ln w="2857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4169" name="Text Box 25">
            <a:extLst>
              <a:ext uri="{FF2B5EF4-FFF2-40B4-BE49-F238E27FC236}">
                <a16:creationId xmlns:a16="http://schemas.microsoft.com/office/drawing/2014/main" id="{B3272C90-B13E-4D33-B193-9D2EA43FDE4F}"/>
              </a:ext>
            </a:extLst>
          </p:cNvPr>
          <p:cNvSpPr txBox="1">
            <a:spLocks noChangeArrowheads="1"/>
          </p:cNvSpPr>
          <p:nvPr/>
        </p:nvSpPr>
        <p:spPr bwMode="auto">
          <a:xfrm>
            <a:off x="7162800" y="5867400"/>
            <a:ext cx="1066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zh-CN" altLang="en-US" sz="2000" b="1">
                <a:latin typeface="Times New Roman" panose="02020603050405020304" pitchFamily="18" charset="0"/>
                <a:ea typeface="宋体" panose="02010600030101010101" pitchFamily="2" charset="-122"/>
              </a:rPr>
              <a:t>质子流</a:t>
            </a:r>
          </a:p>
        </p:txBody>
      </p:sp>
      <p:sp>
        <p:nvSpPr>
          <p:cNvPr id="134170" name="Text Box 26">
            <a:extLst>
              <a:ext uri="{FF2B5EF4-FFF2-40B4-BE49-F238E27FC236}">
                <a16:creationId xmlns:a16="http://schemas.microsoft.com/office/drawing/2014/main" id="{FAA658CD-B684-4294-9004-973EB13174F2}"/>
              </a:ext>
            </a:extLst>
          </p:cNvPr>
          <p:cNvSpPr txBox="1">
            <a:spLocks noChangeArrowheads="1"/>
          </p:cNvSpPr>
          <p:nvPr/>
        </p:nvSpPr>
        <p:spPr bwMode="auto">
          <a:xfrm>
            <a:off x="3352800" y="1600200"/>
            <a:ext cx="152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zh-CN" altLang="en-US" sz="2000" b="1">
                <a:latin typeface="Times New Roman" panose="02020603050405020304" pitchFamily="18" charset="0"/>
                <a:ea typeface="宋体" panose="02010600030101010101" pitchFamily="2" charset="-122"/>
              </a:rPr>
              <a:t>线粒体内膜</a:t>
            </a:r>
          </a:p>
        </p:txBody>
      </p:sp>
      <p:grpSp>
        <p:nvGrpSpPr>
          <p:cNvPr id="134171" name="Group 27">
            <a:extLst>
              <a:ext uri="{FF2B5EF4-FFF2-40B4-BE49-F238E27FC236}">
                <a16:creationId xmlns:a16="http://schemas.microsoft.com/office/drawing/2014/main" id="{5D5A1149-68C5-4B60-A595-2359F2C5A963}"/>
              </a:ext>
            </a:extLst>
          </p:cNvPr>
          <p:cNvGrpSpPr>
            <a:grpSpLocks/>
          </p:cNvGrpSpPr>
          <p:nvPr/>
        </p:nvGrpSpPr>
        <p:grpSpPr bwMode="auto">
          <a:xfrm>
            <a:off x="457200" y="1981200"/>
            <a:ext cx="1371600" cy="685800"/>
            <a:chOff x="288" y="1248"/>
            <a:chExt cx="864" cy="432"/>
          </a:xfrm>
        </p:grpSpPr>
        <p:sp>
          <p:nvSpPr>
            <p:cNvPr id="134172" name="AutoShape 28">
              <a:extLst>
                <a:ext uri="{FF2B5EF4-FFF2-40B4-BE49-F238E27FC236}">
                  <a16:creationId xmlns:a16="http://schemas.microsoft.com/office/drawing/2014/main" id="{933EE3DD-1B26-43FC-B376-0782EE1E3865}"/>
                </a:ext>
              </a:extLst>
            </p:cNvPr>
            <p:cNvSpPr>
              <a:spLocks noChangeArrowheads="1"/>
            </p:cNvSpPr>
            <p:nvPr/>
          </p:nvSpPr>
          <p:spPr bwMode="auto">
            <a:xfrm>
              <a:off x="288" y="1248"/>
              <a:ext cx="864" cy="432"/>
            </a:xfrm>
            <a:prstGeom prst="wedgeRoundRectCallout">
              <a:avLst>
                <a:gd name="adj1" fmla="val 158449"/>
                <a:gd name="adj2" fmla="val 207639"/>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hangingPunct="0"/>
              <a:endParaRPr kumimoji="0" lang="zh-CN" altLang="zh-CN" sz="2400">
                <a:latin typeface="Times New Roman" panose="02020603050405020304" pitchFamily="18" charset="0"/>
                <a:ea typeface="宋体" panose="02010600030101010101" pitchFamily="2" charset="-122"/>
              </a:endParaRPr>
            </a:p>
          </p:txBody>
        </p:sp>
        <p:sp>
          <p:nvSpPr>
            <p:cNvPr id="134173" name="Text Box 29">
              <a:extLst>
                <a:ext uri="{FF2B5EF4-FFF2-40B4-BE49-F238E27FC236}">
                  <a16:creationId xmlns:a16="http://schemas.microsoft.com/office/drawing/2014/main" id="{86030DDA-8DF2-46C9-9DAC-4C82823C2FB9}"/>
                </a:ext>
              </a:extLst>
            </p:cNvPr>
            <p:cNvSpPr txBox="1">
              <a:spLocks noChangeArrowheads="1"/>
            </p:cNvSpPr>
            <p:nvPr/>
          </p:nvSpPr>
          <p:spPr bwMode="auto">
            <a:xfrm>
              <a:off x="384" y="1344"/>
              <a:ext cx="7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zh-CN" altLang="en-US" sz="2400" b="1">
                  <a:solidFill>
                    <a:schemeClr val="hlink"/>
                  </a:solidFill>
                  <a:latin typeface="Times New Roman" panose="02020603050405020304" pitchFamily="18" charset="0"/>
                  <a:ea typeface="宋体" panose="02010600030101010101" pitchFamily="2" charset="-122"/>
                </a:rPr>
                <a:t>磷酸化</a:t>
              </a:r>
              <a:r>
                <a:rPr kumimoji="0" lang="zh-CN" altLang="en-US" sz="2400">
                  <a:latin typeface="Times New Roman" panose="02020603050405020304" pitchFamily="18" charset="0"/>
                  <a:ea typeface="宋体" panose="02010600030101010101" pitchFamily="2" charset="-122"/>
                </a:rPr>
                <a:t> </a:t>
              </a:r>
            </a:p>
          </p:txBody>
        </p:sp>
      </p:grpSp>
      <p:grpSp>
        <p:nvGrpSpPr>
          <p:cNvPr id="134174" name="Group 30">
            <a:extLst>
              <a:ext uri="{FF2B5EF4-FFF2-40B4-BE49-F238E27FC236}">
                <a16:creationId xmlns:a16="http://schemas.microsoft.com/office/drawing/2014/main" id="{0C705842-0378-4684-BCCC-7B2A60B86899}"/>
              </a:ext>
            </a:extLst>
          </p:cNvPr>
          <p:cNvGrpSpPr>
            <a:grpSpLocks/>
          </p:cNvGrpSpPr>
          <p:nvPr/>
        </p:nvGrpSpPr>
        <p:grpSpPr bwMode="auto">
          <a:xfrm>
            <a:off x="6858000" y="1447800"/>
            <a:ext cx="914400" cy="457200"/>
            <a:chOff x="4320" y="912"/>
            <a:chExt cx="576" cy="288"/>
          </a:xfrm>
        </p:grpSpPr>
        <p:sp>
          <p:nvSpPr>
            <p:cNvPr id="134175" name="AutoShape 31">
              <a:extLst>
                <a:ext uri="{FF2B5EF4-FFF2-40B4-BE49-F238E27FC236}">
                  <a16:creationId xmlns:a16="http://schemas.microsoft.com/office/drawing/2014/main" id="{7027A0F5-7685-4D2A-8E83-ED610C34EAD5}"/>
                </a:ext>
              </a:extLst>
            </p:cNvPr>
            <p:cNvSpPr>
              <a:spLocks noChangeArrowheads="1"/>
            </p:cNvSpPr>
            <p:nvPr/>
          </p:nvSpPr>
          <p:spPr bwMode="auto">
            <a:xfrm>
              <a:off x="4320" y="912"/>
              <a:ext cx="576" cy="288"/>
            </a:xfrm>
            <a:prstGeom prst="wedgeRoundRectCallout">
              <a:avLst>
                <a:gd name="adj1" fmla="val -109028"/>
                <a:gd name="adj2" fmla="val 232986"/>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hangingPunct="0"/>
              <a:endParaRPr kumimoji="0" lang="zh-CN" altLang="zh-CN" sz="2400">
                <a:latin typeface="Times New Roman" panose="02020603050405020304" pitchFamily="18" charset="0"/>
                <a:ea typeface="宋体" panose="02010600030101010101" pitchFamily="2" charset="-122"/>
              </a:endParaRPr>
            </a:p>
          </p:txBody>
        </p:sp>
        <p:sp>
          <p:nvSpPr>
            <p:cNvPr id="134176" name="Text Box 32">
              <a:extLst>
                <a:ext uri="{FF2B5EF4-FFF2-40B4-BE49-F238E27FC236}">
                  <a16:creationId xmlns:a16="http://schemas.microsoft.com/office/drawing/2014/main" id="{50A79641-ABD9-4053-BE4E-5A93DA38D610}"/>
                </a:ext>
              </a:extLst>
            </p:cNvPr>
            <p:cNvSpPr txBox="1">
              <a:spLocks noChangeArrowheads="1"/>
            </p:cNvSpPr>
            <p:nvPr/>
          </p:nvSpPr>
          <p:spPr bwMode="auto">
            <a:xfrm>
              <a:off x="4368" y="912"/>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0" lang="zh-CN" altLang="en-US" sz="2400" b="1">
                  <a:solidFill>
                    <a:schemeClr val="hlink"/>
                  </a:solidFill>
                  <a:latin typeface="Times New Roman" panose="02020603050405020304" pitchFamily="18" charset="0"/>
                  <a:ea typeface="宋体" panose="02010600030101010101" pitchFamily="2" charset="-122"/>
                </a:rPr>
                <a:t>氧化</a:t>
              </a:r>
              <a:r>
                <a:rPr kumimoji="0" lang="zh-CN" altLang="en-US" sz="2400">
                  <a:latin typeface="Times New Roman" panose="02020603050405020304" pitchFamily="18" charset="0"/>
                  <a:ea typeface="宋体" panose="02010600030101010101" pitchFamily="2" charset="-122"/>
                </a:rPr>
                <a:t> </a:t>
              </a:r>
            </a:p>
          </p:txBody>
        </p:sp>
      </p:grpSp>
    </p:spTree>
    <p:extLst>
      <p:ext uri="{BB962C8B-B14F-4D97-AF65-F5344CB8AC3E}">
        <p14:creationId xmlns:p14="http://schemas.microsoft.com/office/powerpoint/2010/main" val="4042667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415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4" presetClass="entr" presetSubtype="16" fill="hold" grpId="0" nodeType="clickEffect">
                                  <p:stCondLst>
                                    <p:cond delay="0"/>
                                  </p:stCondLst>
                                  <p:childTnLst>
                                    <p:set>
                                      <p:cBhvr>
                                        <p:cTn id="10" dur="1" fill="hold">
                                          <p:stCondLst>
                                            <p:cond delay="0"/>
                                          </p:stCondLst>
                                        </p:cTn>
                                        <p:tgtEl>
                                          <p:spTgt spid="134160"/>
                                        </p:tgtEl>
                                        <p:attrNameLst>
                                          <p:attrName>style.visibility</p:attrName>
                                        </p:attrNameLst>
                                      </p:cBhvr>
                                      <p:to>
                                        <p:strVal val="visible"/>
                                      </p:to>
                                    </p:set>
                                    <p:animEffect transition="in" filter="box(in)">
                                      <p:cBhvr>
                                        <p:cTn id="11" dur="500"/>
                                        <p:tgtEl>
                                          <p:spTgt spid="134160"/>
                                        </p:tgtEl>
                                      </p:cBhvr>
                                    </p:animEffect>
                                  </p:childTnLst>
                                </p:cTn>
                              </p:par>
                            </p:childTnLst>
                          </p:cTn>
                        </p:par>
                        <p:par>
                          <p:cTn id="12" fill="hold" nodeType="afterGroup">
                            <p:stCondLst>
                              <p:cond delay="500"/>
                            </p:stCondLst>
                            <p:childTnLst>
                              <p:par>
                                <p:cTn id="13" presetID="9" presetClass="entr" presetSubtype="0" fill="hold" grpId="0" nodeType="afterEffect">
                                  <p:stCondLst>
                                    <p:cond delay="0"/>
                                  </p:stCondLst>
                                  <p:childTnLst>
                                    <p:set>
                                      <p:cBhvr>
                                        <p:cTn id="14" dur="1" fill="hold">
                                          <p:stCondLst>
                                            <p:cond delay="0"/>
                                          </p:stCondLst>
                                        </p:cTn>
                                        <p:tgtEl>
                                          <p:spTgt spid="134159"/>
                                        </p:tgtEl>
                                        <p:attrNameLst>
                                          <p:attrName>style.visibility</p:attrName>
                                        </p:attrNameLst>
                                      </p:cBhvr>
                                      <p:to>
                                        <p:strVal val="visible"/>
                                      </p:to>
                                    </p:set>
                                    <p:animEffect transition="in" filter="dissolve">
                                      <p:cBhvr>
                                        <p:cTn id="15" dur="500"/>
                                        <p:tgtEl>
                                          <p:spTgt spid="13415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 presetClass="entr" presetSubtype="10" fill="hold" nodeType="clickEffect">
                                  <p:stCondLst>
                                    <p:cond delay="0"/>
                                  </p:stCondLst>
                                  <p:childTnLst>
                                    <p:set>
                                      <p:cBhvr>
                                        <p:cTn id="19" dur="1" fill="hold">
                                          <p:stCondLst>
                                            <p:cond delay="0"/>
                                          </p:stCondLst>
                                        </p:cTn>
                                        <p:tgtEl>
                                          <p:spTgt spid="134165"/>
                                        </p:tgtEl>
                                        <p:attrNameLst>
                                          <p:attrName>style.visibility</p:attrName>
                                        </p:attrNameLst>
                                      </p:cBhvr>
                                      <p:to>
                                        <p:strVal val="visible"/>
                                      </p:to>
                                    </p:set>
                                    <p:animEffect transition="in" filter="checkerboard(across)">
                                      <p:cBhvr>
                                        <p:cTn id="20" dur="500"/>
                                        <p:tgtEl>
                                          <p:spTgt spid="134165"/>
                                        </p:tgtEl>
                                      </p:cBhvr>
                                    </p:animEffect>
                                  </p:childTnLst>
                                </p:cTn>
                              </p:par>
                            </p:childTnLst>
                          </p:cTn>
                        </p:par>
                        <p:par>
                          <p:cTn id="21" fill="hold" nodeType="afterGroup">
                            <p:stCondLst>
                              <p:cond delay="500"/>
                            </p:stCondLst>
                            <p:childTnLst>
                              <p:par>
                                <p:cTn id="22" presetID="4" presetClass="entr" presetSubtype="16" fill="hold" grpId="0" nodeType="afterEffect">
                                  <p:stCondLst>
                                    <p:cond delay="1000"/>
                                  </p:stCondLst>
                                  <p:childTnLst>
                                    <p:set>
                                      <p:cBhvr>
                                        <p:cTn id="23" dur="1" fill="hold">
                                          <p:stCondLst>
                                            <p:cond delay="0"/>
                                          </p:stCondLst>
                                        </p:cTn>
                                        <p:tgtEl>
                                          <p:spTgt spid="134149"/>
                                        </p:tgtEl>
                                        <p:attrNameLst>
                                          <p:attrName>style.visibility</p:attrName>
                                        </p:attrNameLst>
                                      </p:cBhvr>
                                      <p:to>
                                        <p:strVal val="visible"/>
                                      </p:to>
                                    </p:set>
                                    <p:animEffect transition="in" filter="box(in)">
                                      <p:cBhvr>
                                        <p:cTn id="24" dur="500"/>
                                        <p:tgtEl>
                                          <p:spTgt spid="134149"/>
                                        </p:tgtEl>
                                      </p:cBhvr>
                                    </p:animEffect>
                                  </p:childTnLst>
                                </p:cTn>
                              </p:par>
                            </p:childTnLst>
                          </p:cTn>
                        </p:par>
                        <p:par>
                          <p:cTn id="25" fill="hold" nodeType="afterGroup">
                            <p:stCondLst>
                              <p:cond delay="2000"/>
                            </p:stCondLst>
                            <p:childTnLst>
                              <p:par>
                                <p:cTn id="26" presetID="5" presetClass="entr" presetSubtype="10" fill="hold" nodeType="afterEffect">
                                  <p:stCondLst>
                                    <p:cond delay="1000"/>
                                  </p:stCondLst>
                                  <p:childTnLst>
                                    <p:set>
                                      <p:cBhvr>
                                        <p:cTn id="27" dur="1" fill="hold">
                                          <p:stCondLst>
                                            <p:cond delay="0"/>
                                          </p:stCondLst>
                                        </p:cTn>
                                        <p:tgtEl>
                                          <p:spTgt spid="134166"/>
                                        </p:tgtEl>
                                        <p:attrNameLst>
                                          <p:attrName>style.visibility</p:attrName>
                                        </p:attrNameLst>
                                      </p:cBhvr>
                                      <p:to>
                                        <p:strVal val="visible"/>
                                      </p:to>
                                    </p:set>
                                    <p:animEffect transition="in" filter="checkerboard(across)">
                                      <p:cBhvr>
                                        <p:cTn id="28" dur="500"/>
                                        <p:tgtEl>
                                          <p:spTgt spid="134166"/>
                                        </p:tgtEl>
                                      </p:cBhvr>
                                    </p:animEffect>
                                  </p:childTnLst>
                                </p:cTn>
                              </p:par>
                            </p:childTnLst>
                          </p:cTn>
                        </p:par>
                        <p:par>
                          <p:cTn id="29" fill="hold" nodeType="afterGroup">
                            <p:stCondLst>
                              <p:cond delay="3500"/>
                            </p:stCondLst>
                            <p:childTnLst>
                              <p:par>
                                <p:cTn id="30" presetID="5" presetClass="entr" presetSubtype="10" fill="hold" grpId="0" nodeType="afterEffect">
                                  <p:stCondLst>
                                    <p:cond delay="1000"/>
                                  </p:stCondLst>
                                  <p:childTnLst>
                                    <p:set>
                                      <p:cBhvr>
                                        <p:cTn id="31" dur="1" fill="hold">
                                          <p:stCondLst>
                                            <p:cond delay="0"/>
                                          </p:stCondLst>
                                        </p:cTn>
                                        <p:tgtEl>
                                          <p:spTgt spid="134148"/>
                                        </p:tgtEl>
                                        <p:attrNameLst>
                                          <p:attrName>style.visibility</p:attrName>
                                        </p:attrNameLst>
                                      </p:cBhvr>
                                      <p:to>
                                        <p:strVal val="visible"/>
                                      </p:to>
                                    </p:set>
                                    <p:animEffect transition="in" filter="checkerboard(across)">
                                      <p:cBhvr>
                                        <p:cTn id="32" dur="500"/>
                                        <p:tgtEl>
                                          <p:spTgt spid="134148"/>
                                        </p:tgtEl>
                                      </p:cBhvr>
                                    </p:animEffect>
                                  </p:childTnLst>
                                </p:cTn>
                              </p:par>
                            </p:childTnLst>
                          </p:cTn>
                        </p:par>
                        <p:par>
                          <p:cTn id="33" fill="hold" nodeType="afterGroup">
                            <p:stCondLst>
                              <p:cond delay="5000"/>
                            </p:stCondLst>
                            <p:childTnLst>
                              <p:par>
                                <p:cTn id="34" presetID="5" presetClass="entr" presetSubtype="10" fill="hold" nodeType="afterEffect">
                                  <p:stCondLst>
                                    <p:cond delay="1000"/>
                                  </p:stCondLst>
                                  <p:childTnLst>
                                    <p:set>
                                      <p:cBhvr>
                                        <p:cTn id="35" dur="1" fill="hold">
                                          <p:stCondLst>
                                            <p:cond delay="0"/>
                                          </p:stCondLst>
                                        </p:cTn>
                                        <p:tgtEl>
                                          <p:spTgt spid="134167"/>
                                        </p:tgtEl>
                                        <p:attrNameLst>
                                          <p:attrName>style.visibility</p:attrName>
                                        </p:attrNameLst>
                                      </p:cBhvr>
                                      <p:to>
                                        <p:strVal val="visible"/>
                                      </p:to>
                                    </p:set>
                                    <p:animEffect transition="in" filter="checkerboard(across)">
                                      <p:cBhvr>
                                        <p:cTn id="36" dur="500"/>
                                        <p:tgtEl>
                                          <p:spTgt spid="134167"/>
                                        </p:tgtEl>
                                      </p:cBhvr>
                                    </p:animEffect>
                                  </p:childTnLst>
                                </p:cTn>
                              </p:par>
                            </p:childTnLst>
                          </p:cTn>
                        </p:par>
                        <p:par>
                          <p:cTn id="37" fill="hold" nodeType="afterGroup">
                            <p:stCondLst>
                              <p:cond delay="6500"/>
                            </p:stCondLst>
                            <p:childTnLst>
                              <p:par>
                                <p:cTn id="38" presetID="4" presetClass="entr" presetSubtype="16" fill="hold" grpId="0" nodeType="afterEffect">
                                  <p:stCondLst>
                                    <p:cond delay="1000"/>
                                  </p:stCondLst>
                                  <p:childTnLst>
                                    <p:set>
                                      <p:cBhvr>
                                        <p:cTn id="39" dur="1" fill="hold">
                                          <p:stCondLst>
                                            <p:cond delay="0"/>
                                          </p:stCondLst>
                                        </p:cTn>
                                        <p:tgtEl>
                                          <p:spTgt spid="134153"/>
                                        </p:tgtEl>
                                        <p:attrNameLst>
                                          <p:attrName>style.visibility</p:attrName>
                                        </p:attrNameLst>
                                      </p:cBhvr>
                                      <p:to>
                                        <p:strVal val="visible"/>
                                      </p:to>
                                    </p:set>
                                    <p:animEffect transition="in" filter="box(in)">
                                      <p:cBhvr>
                                        <p:cTn id="40" dur="500"/>
                                        <p:tgtEl>
                                          <p:spTgt spid="134153"/>
                                        </p:tgtEl>
                                      </p:cBhvr>
                                    </p:animEffect>
                                  </p:childTnLst>
                                </p:cTn>
                              </p:par>
                            </p:childTnLst>
                          </p:cTn>
                        </p:par>
                        <p:par>
                          <p:cTn id="41" fill="hold" nodeType="afterGroup">
                            <p:stCondLst>
                              <p:cond delay="8000"/>
                            </p:stCondLst>
                            <p:childTnLst>
                              <p:par>
                                <p:cTn id="42" presetID="5" presetClass="entr" presetSubtype="10" fill="hold" grpId="0" nodeType="afterEffect">
                                  <p:stCondLst>
                                    <p:cond delay="1000"/>
                                  </p:stCondLst>
                                  <p:childTnLst>
                                    <p:set>
                                      <p:cBhvr>
                                        <p:cTn id="43" dur="1" fill="hold">
                                          <p:stCondLst>
                                            <p:cond delay="0"/>
                                          </p:stCondLst>
                                        </p:cTn>
                                        <p:tgtEl>
                                          <p:spTgt spid="134158"/>
                                        </p:tgtEl>
                                        <p:attrNameLst>
                                          <p:attrName>style.visibility</p:attrName>
                                        </p:attrNameLst>
                                      </p:cBhvr>
                                      <p:to>
                                        <p:strVal val="visible"/>
                                      </p:to>
                                    </p:set>
                                    <p:animEffect transition="in" filter="checkerboard(across)">
                                      <p:cBhvr>
                                        <p:cTn id="44" dur="500"/>
                                        <p:tgtEl>
                                          <p:spTgt spid="134158"/>
                                        </p:tgtEl>
                                      </p:cBhvr>
                                    </p:animEffect>
                                  </p:childTnLst>
                                </p:cTn>
                              </p:par>
                            </p:childTnLst>
                          </p:cTn>
                        </p:par>
                        <p:par>
                          <p:cTn id="45" fill="hold" nodeType="afterGroup">
                            <p:stCondLst>
                              <p:cond delay="9500"/>
                            </p:stCondLst>
                            <p:childTnLst>
                              <p:par>
                                <p:cTn id="46" presetID="9" presetClass="entr" presetSubtype="0" fill="hold" grpId="0" nodeType="afterEffect">
                                  <p:stCondLst>
                                    <p:cond delay="1000"/>
                                  </p:stCondLst>
                                  <p:childTnLst>
                                    <p:set>
                                      <p:cBhvr>
                                        <p:cTn id="47" dur="1" fill="hold">
                                          <p:stCondLst>
                                            <p:cond delay="0"/>
                                          </p:stCondLst>
                                        </p:cTn>
                                        <p:tgtEl>
                                          <p:spTgt spid="134163"/>
                                        </p:tgtEl>
                                        <p:attrNameLst>
                                          <p:attrName>style.visibility</p:attrName>
                                        </p:attrNameLst>
                                      </p:cBhvr>
                                      <p:to>
                                        <p:strVal val="visible"/>
                                      </p:to>
                                    </p:set>
                                    <p:animEffect transition="in" filter="dissolve">
                                      <p:cBhvr>
                                        <p:cTn id="48" dur="500"/>
                                        <p:tgtEl>
                                          <p:spTgt spid="134163"/>
                                        </p:tgtEl>
                                      </p:cBhvr>
                                    </p:animEffect>
                                  </p:childTnLst>
                                </p:cTn>
                              </p:par>
                            </p:childTnLst>
                          </p:cTn>
                        </p:par>
                        <p:par>
                          <p:cTn id="49" fill="hold" nodeType="afterGroup">
                            <p:stCondLst>
                              <p:cond delay="11000"/>
                            </p:stCondLst>
                            <p:childTnLst>
                              <p:par>
                                <p:cTn id="50" presetID="9" presetClass="entr" presetSubtype="0" fill="hold" grpId="0" nodeType="afterEffect">
                                  <p:stCondLst>
                                    <p:cond delay="1000"/>
                                  </p:stCondLst>
                                  <p:childTnLst>
                                    <p:set>
                                      <p:cBhvr>
                                        <p:cTn id="51" dur="1" fill="hold">
                                          <p:stCondLst>
                                            <p:cond delay="0"/>
                                          </p:stCondLst>
                                        </p:cTn>
                                        <p:tgtEl>
                                          <p:spTgt spid="134164"/>
                                        </p:tgtEl>
                                        <p:attrNameLst>
                                          <p:attrName>style.visibility</p:attrName>
                                        </p:attrNameLst>
                                      </p:cBhvr>
                                      <p:to>
                                        <p:strVal val="visible"/>
                                      </p:to>
                                    </p:set>
                                    <p:animEffect transition="in" filter="dissolve">
                                      <p:cBhvr>
                                        <p:cTn id="52" dur="500"/>
                                        <p:tgtEl>
                                          <p:spTgt spid="13416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4" presetClass="entr" presetSubtype="5" fill="hold" nodeType="clickEffect">
                                  <p:stCondLst>
                                    <p:cond delay="0"/>
                                  </p:stCondLst>
                                  <p:childTnLst>
                                    <p:set>
                                      <p:cBhvr>
                                        <p:cTn id="56" dur="1" fill="hold">
                                          <p:stCondLst>
                                            <p:cond delay="0"/>
                                          </p:stCondLst>
                                        </p:cTn>
                                        <p:tgtEl>
                                          <p:spTgt spid="134168"/>
                                        </p:tgtEl>
                                        <p:attrNameLst>
                                          <p:attrName>style.visibility</p:attrName>
                                        </p:attrNameLst>
                                      </p:cBhvr>
                                      <p:to>
                                        <p:strVal val="visible"/>
                                      </p:to>
                                    </p:set>
                                    <p:animEffect transition="in" filter="randombar(vertical)">
                                      <p:cBhvr>
                                        <p:cTn id="57" dur="500"/>
                                        <p:tgtEl>
                                          <p:spTgt spid="134168"/>
                                        </p:tgtEl>
                                      </p:cBhvr>
                                    </p:animEffect>
                                  </p:childTnLst>
                                </p:cTn>
                              </p:par>
                            </p:childTnLst>
                          </p:cTn>
                        </p:par>
                        <p:par>
                          <p:cTn id="58" fill="hold" nodeType="afterGroup">
                            <p:stCondLst>
                              <p:cond delay="500"/>
                            </p:stCondLst>
                            <p:childTnLst>
                              <p:par>
                                <p:cTn id="59" presetID="5" presetClass="entr" presetSubtype="10" fill="hold" grpId="0" nodeType="afterEffect">
                                  <p:stCondLst>
                                    <p:cond delay="1000"/>
                                  </p:stCondLst>
                                  <p:childTnLst>
                                    <p:set>
                                      <p:cBhvr>
                                        <p:cTn id="60" dur="1" fill="hold">
                                          <p:stCondLst>
                                            <p:cond delay="0"/>
                                          </p:stCondLst>
                                        </p:cTn>
                                        <p:tgtEl>
                                          <p:spTgt spid="134169"/>
                                        </p:tgtEl>
                                        <p:attrNameLst>
                                          <p:attrName>style.visibility</p:attrName>
                                        </p:attrNameLst>
                                      </p:cBhvr>
                                      <p:to>
                                        <p:strVal val="visible"/>
                                      </p:to>
                                    </p:set>
                                    <p:animEffect transition="in" filter="checkerboard(across)">
                                      <p:cBhvr>
                                        <p:cTn id="61" dur="500"/>
                                        <p:tgtEl>
                                          <p:spTgt spid="134169"/>
                                        </p:tgtEl>
                                      </p:cBhvr>
                                    </p:animEffect>
                                  </p:childTnLst>
                                </p:cTn>
                              </p:par>
                            </p:childTnLst>
                          </p:cTn>
                        </p:par>
                        <p:par>
                          <p:cTn id="62" fill="hold" nodeType="afterGroup">
                            <p:stCondLst>
                              <p:cond delay="2000"/>
                            </p:stCondLst>
                            <p:childTnLst>
                              <p:par>
                                <p:cTn id="63" presetID="3" presetClass="entr" presetSubtype="10" fill="hold" grpId="0" nodeType="afterEffect">
                                  <p:stCondLst>
                                    <p:cond delay="1000"/>
                                  </p:stCondLst>
                                  <p:childTnLst>
                                    <p:set>
                                      <p:cBhvr>
                                        <p:cTn id="64" dur="1" fill="hold">
                                          <p:stCondLst>
                                            <p:cond delay="0"/>
                                          </p:stCondLst>
                                        </p:cTn>
                                        <p:tgtEl>
                                          <p:spTgt spid="134155"/>
                                        </p:tgtEl>
                                        <p:attrNameLst>
                                          <p:attrName>style.visibility</p:attrName>
                                        </p:attrNameLst>
                                      </p:cBhvr>
                                      <p:to>
                                        <p:strVal val="visible"/>
                                      </p:to>
                                    </p:set>
                                    <p:animEffect transition="in" filter="blinds(horizontal)">
                                      <p:cBhvr>
                                        <p:cTn id="65" dur="500"/>
                                        <p:tgtEl>
                                          <p:spTgt spid="134155"/>
                                        </p:tgtEl>
                                      </p:cBhvr>
                                    </p:animEffect>
                                  </p:childTnLst>
                                </p:cTn>
                              </p:par>
                            </p:childTnLst>
                          </p:cTn>
                        </p:par>
                        <p:par>
                          <p:cTn id="66" fill="hold" nodeType="afterGroup">
                            <p:stCondLst>
                              <p:cond delay="3500"/>
                            </p:stCondLst>
                            <p:childTnLst>
                              <p:par>
                                <p:cTn id="67" presetID="14" presetClass="entr" presetSubtype="5" fill="hold" nodeType="afterEffect">
                                  <p:stCondLst>
                                    <p:cond delay="1000"/>
                                  </p:stCondLst>
                                  <p:childTnLst>
                                    <p:set>
                                      <p:cBhvr>
                                        <p:cTn id="68" dur="1" fill="hold">
                                          <p:stCondLst>
                                            <p:cond delay="0"/>
                                          </p:stCondLst>
                                        </p:cTn>
                                        <p:tgtEl>
                                          <p:spTgt spid="134162"/>
                                        </p:tgtEl>
                                        <p:attrNameLst>
                                          <p:attrName>style.visibility</p:attrName>
                                        </p:attrNameLst>
                                      </p:cBhvr>
                                      <p:to>
                                        <p:strVal val="visible"/>
                                      </p:to>
                                    </p:set>
                                    <p:animEffect transition="in" filter="randombar(vertical)">
                                      <p:cBhvr>
                                        <p:cTn id="69" dur="500"/>
                                        <p:tgtEl>
                                          <p:spTgt spid="134162"/>
                                        </p:tgtEl>
                                      </p:cBhvr>
                                    </p:animEffect>
                                  </p:childTnLst>
                                </p:cTn>
                              </p:par>
                            </p:childTnLst>
                          </p:cTn>
                        </p:par>
                        <p:par>
                          <p:cTn id="70" fill="hold" nodeType="afterGroup">
                            <p:stCondLst>
                              <p:cond delay="5000"/>
                            </p:stCondLst>
                            <p:childTnLst>
                              <p:par>
                                <p:cTn id="71" presetID="2" presetClass="entr" presetSubtype="4" fill="hold" grpId="0" nodeType="afterEffect">
                                  <p:stCondLst>
                                    <p:cond delay="1000"/>
                                  </p:stCondLst>
                                  <p:childTnLst>
                                    <p:set>
                                      <p:cBhvr>
                                        <p:cTn id="72" dur="1" fill="hold">
                                          <p:stCondLst>
                                            <p:cond delay="0"/>
                                          </p:stCondLst>
                                        </p:cTn>
                                        <p:tgtEl>
                                          <p:spTgt spid="134154"/>
                                        </p:tgtEl>
                                        <p:attrNameLst>
                                          <p:attrName>style.visibility</p:attrName>
                                        </p:attrNameLst>
                                      </p:cBhvr>
                                      <p:to>
                                        <p:strVal val="visible"/>
                                      </p:to>
                                    </p:set>
                                    <p:anim calcmode="lin" valueType="num">
                                      <p:cBhvr additive="base">
                                        <p:cTn id="73" dur="500" fill="hold"/>
                                        <p:tgtEl>
                                          <p:spTgt spid="134154"/>
                                        </p:tgtEl>
                                        <p:attrNameLst>
                                          <p:attrName>ppt_x</p:attrName>
                                        </p:attrNameLst>
                                      </p:cBhvr>
                                      <p:tavLst>
                                        <p:tav tm="0">
                                          <p:val>
                                            <p:strVal val="#ppt_x"/>
                                          </p:val>
                                        </p:tav>
                                        <p:tav tm="100000">
                                          <p:val>
                                            <p:strVal val="#ppt_x"/>
                                          </p:val>
                                        </p:tav>
                                      </p:tavLst>
                                    </p:anim>
                                    <p:anim calcmode="lin" valueType="num">
                                      <p:cBhvr additive="base">
                                        <p:cTn id="74" dur="500" fill="hold"/>
                                        <p:tgtEl>
                                          <p:spTgt spid="134154"/>
                                        </p:tgtEl>
                                        <p:attrNameLst>
                                          <p:attrName>ppt_y</p:attrName>
                                        </p:attrNameLst>
                                      </p:cBhvr>
                                      <p:tavLst>
                                        <p:tav tm="0">
                                          <p:val>
                                            <p:strVal val="1+#ppt_h/2"/>
                                          </p:val>
                                        </p:tav>
                                        <p:tav tm="100000">
                                          <p:val>
                                            <p:strVal val="#ppt_y"/>
                                          </p:val>
                                        </p:tav>
                                      </p:tavLst>
                                    </p:anim>
                                  </p:childTnLst>
                                </p:cTn>
                              </p:par>
                            </p:childTnLst>
                          </p:cTn>
                        </p:par>
                        <p:par>
                          <p:cTn id="75" fill="hold" nodeType="afterGroup">
                            <p:stCondLst>
                              <p:cond delay="6500"/>
                            </p:stCondLst>
                            <p:childTnLst>
                              <p:par>
                                <p:cTn id="76" presetID="4" presetClass="entr" presetSubtype="16" fill="hold" grpId="0" nodeType="afterEffect">
                                  <p:stCondLst>
                                    <p:cond delay="1000"/>
                                  </p:stCondLst>
                                  <p:childTnLst>
                                    <p:set>
                                      <p:cBhvr>
                                        <p:cTn id="77" dur="1" fill="hold">
                                          <p:stCondLst>
                                            <p:cond delay="0"/>
                                          </p:stCondLst>
                                        </p:cTn>
                                        <p:tgtEl>
                                          <p:spTgt spid="134156"/>
                                        </p:tgtEl>
                                        <p:attrNameLst>
                                          <p:attrName>style.visibility</p:attrName>
                                        </p:attrNameLst>
                                      </p:cBhvr>
                                      <p:to>
                                        <p:strVal val="visible"/>
                                      </p:to>
                                    </p:set>
                                    <p:animEffect transition="in" filter="box(in)">
                                      <p:cBhvr>
                                        <p:cTn id="78" dur="500"/>
                                        <p:tgtEl>
                                          <p:spTgt spid="134156"/>
                                        </p:tgtEl>
                                      </p:cBhvr>
                                    </p:animEffect>
                                  </p:childTnLst>
                                </p:cTn>
                              </p:par>
                            </p:childTnLst>
                          </p:cTn>
                        </p:par>
                        <p:par>
                          <p:cTn id="79" fill="hold" nodeType="afterGroup">
                            <p:stCondLst>
                              <p:cond delay="8000"/>
                            </p:stCondLst>
                            <p:childTnLst>
                              <p:par>
                                <p:cTn id="80" presetID="9" presetClass="entr" presetSubtype="0" fill="hold" nodeType="afterEffect">
                                  <p:stCondLst>
                                    <p:cond delay="1000"/>
                                  </p:stCondLst>
                                  <p:childTnLst>
                                    <p:set>
                                      <p:cBhvr>
                                        <p:cTn id="81" dur="1" fill="hold">
                                          <p:stCondLst>
                                            <p:cond delay="0"/>
                                          </p:stCondLst>
                                        </p:cTn>
                                        <p:tgtEl>
                                          <p:spTgt spid="134161"/>
                                        </p:tgtEl>
                                        <p:attrNameLst>
                                          <p:attrName>style.visibility</p:attrName>
                                        </p:attrNameLst>
                                      </p:cBhvr>
                                      <p:to>
                                        <p:strVal val="visible"/>
                                      </p:to>
                                    </p:set>
                                    <p:animEffect transition="in" filter="dissolve">
                                      <p:cBhvr>
                                        <p:cTn id="82" dur="500"/>
                                        <p:tgtEl>
                                          <p:spTgt spid="134161"/>
                                        </p:tgtEl>
                                      </p:cBhvr>
                                    </p:animEffect>
                                  </p:childTnLst>
                                </p:cTn>
                              </p:par>
                            </p:childTnLst>
                          </p:cTn>
                        </p:par>
                        <p:par>
                          <p:cTn id="83" fill="hold" nodeType="afterGroup">
                            <p:stCondLst>
                              <p:cond delay="9500"/>
                            </p:stCondLst>
                            <p:childTnLst>
                              <p:par>
                                <p:cTn id="84" presetID="19" presetClass="entr" presetSubtype="10" fill="hold" grpId="0" nodeType="afterEffect">
                                  <p:stCondLst>
                                    <p:cond delay="1000"/>
                                  </p:stCondLst>
                                  <p:childTnLst>
                                    <p:set>
                                      <p:cBhvr>
                                        <p:cTn id="85" dur="1" fill="hold">
                                          <p:stCondLst>
                                            <p:cond delay="0"/>
                                          </p:stCondLst>
                                        </p:cTn>
                                        <p:tgtEl>
                                          <p:spTgt spid="134157"/>
                                        </p:tgtEl>
                                        <p:attrNameLst>
                                          <p:attrName>style.visibility</p:attrName>
                                        </p:attrNameLst>
                                      </p:cBhvr>
                                      <p:to>
                                        <p:strVal val="visible"/>
                                      </p:to>
                                    </p:set>
                                    <p:anim calcmode="lin" valueType="num">
                                      <p:cBhvr>
                                        <p:cTn id="86" dur="5000" fill="hold"/>
                                        <p:tgtEl>
                                          <p:spTgt spid="134157"/>
                                        </p:tgtEl>
                                        <p:attrNameLst>
                                          <p:attrName>ppt_w</p:attrName>
                                        </p:attrNameLst>
                                      </p:cBhvr>
                                      <p:tavLst>
                                        <p:tav tm="0" fmla="#ppt_w*sin(2.5*pi*$)">
                                          <p:val>
                                            <p:fltVal val="0"/>
                                          </p:val>
                                        </p:tav>
                                        <p:tav tm="100000">
                                          <p:val>
                                            <p:fltVal val="1"/>
                                          </p:val>
                                        </p:tav>
                                      </p:tavLst>
                                    </p:anim>
                                    <p:anim calcmode="lin" valueType="num">
                                      <p:cBhvr>
                                        <p:cTn id="87" dur="5000" fill="hold"/>
                                        <p:tgtEl>
                                          <p:spTgt spid="13415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4"/>
                                            </p:cond>
                                          </p:stCondLst>
                                          <p:endCondLst>
                                            <p:cond evt="onStopAudio" delay="0">
                                              <p:tgtEl>
                                                <p:sldTgt/>
                                              </p:tgtEl>
                                            </p:cond>
                                          </p:endCondLst>
                                        </p:cTn>
                                        <p:tgtEl>
                                          <p:sndTgt r:embed="rId2" name="laser.wav"/>
                                        </p:tgtEl>
                                      </p:cMediaNode>
                                    </p:audio>
                                  </p:subTnLst>
                                </p:cTn>
                              </p:par>
                            </p:childTnLst>
                          </p:cTn>
                        </p:par>
                      </p:childTnLst>
                    </p:cTn>
                  </p:par>
                  <p:par>
                    <p:cTn id="88" fill="hold" nodeType="clickPar">
                      <p:stCondLst>
                        <p:cond delay="indefinite"/>
                      </p:stCondLst>
                      <p:childTnLst>
                        <p:par>
                          <p:cTn id="89" fill="hold" nodeType="withGroup">
                            <p:stCondLst>
                              <p:cond delay="0"/>
                            </p:stCondLst>
                            <p:childTnLst>
                              <p:par>
                                <p:cTn id="90" presetID="12" presetClass="entr" presetSubtype="2" fill="hold" nodeType="clickEffect">
                                  <p:stCondLst>
                                    <p:cond delay="0"/>
                                  </p:stCondLst>
                                  <p:childTnLst>
                                    <p:set>
                                      <p:cBhvr>
                                        <p:cTn id="91" dur="1" fill="hold">
                                          <p:stCondLst>
                                            <p:cond delay="0"/>
                                          </p:stCondLst>
                                        </p:cTn>
                                        <p:tgtEl>
                                          <p:spTgt spid="134174"/>
                                        </p:tgtEl>
                                        <p:attrNameLst>
                                          <p:attrName>style.visibility</p:attrName>
                                        </p:attrNameLst>
                                      </p:cBhvr>
                                      <p:to>
                                        <p:strVal val="visible"/>
                                      </p:to>
                                    </p:set>
                                    <p:animEffect transition="in" filter="slide(fromRight)">
                                      <p:cBhvr>
                                        <p:cTn id="92" dur="500"/>
                                        <p:tgtEl>
                                          <p:spTgt spid="134174"/>
                                        </p:tgtEl>
                                      </p:cBhvr>
                                    </p:animEffect>
                                  </p:childTnLst>
                                </p:cTn>
                              </p:par>
                            </p:childTnLst>
                          </p:cTn>
                        </p:par>
                        <p:par>
                          <p:cTn id="93" fill="hold" nodeType="afterGroup">
                            <p:stCondLst>
                              <p:cond delay="500"/>
                            </p:stCondLst>
                            <p:childTnLst>
                              <p:par>
                                <p:cTn id="94" presetID="2" presetClass="entr" presetSubtype="8" fill="hold" nodeType="afterEffect">
                                  <p:stCondLst>
                                    <p:cond delay="1000"/>
                                  </p:stCondLst>
                                  <p:childTnLst>
                                    <p:set>
                                      <p:cBhvr>
                                        <p:cTn id="95" dur="1" fill="hold">
                                          <p:stCondLst>
                                            <p:cond delay="0"/>
                                          </p:stCondLst>
                                        </p:cTn>
                                        <p:tgtEl>
                                          <p:spTgt spid="134171"/>
                                        </p:tgtEl>
                                        <p:attrNameLst>
                                          <p:attrName>style.visibility</p:attrName>
                                        </p:attrNameLst>
                                      </p:cBhvr>
                                      <p:to>
                                        <p:strVal val="visible"/>
                                      </p:to>
                                    </p:set>
                                    <p:anim calcmode="lin" valueType="num">
                                      <p:cBhvr additive="base">
                                        <p:cTn id="96" dur="500" fill="hold"/>
                                        <p:tgtEl>
                                          <p:spTgt spid="134171"/>
                                        </p:tgtEl>
                                        <p:attrNameLst>
                                          <p:attrName>ppt_x</p:attrName>
                                        </p:attrNameLst>
                                      </p:cBhvr>
                                      <p:tavLst>
                                        <p:tav tm="0">
                                          <p:val>
                                            <p:strVal val="0-#ppt_w/2"/>
                                          </p:val>
                                        </p:tav>
                                        <p:tav tm="100000">
                                          <p:val>
                                            <p:strVal val="#ppt_x"/>
                                          </p:val>
                                        </p:tav>
                                      </p:tavLst>
                                    </p:anim>
                                    <p:anim calcmode="lin" valueType="num">
                                      <p:cBhvr additive="base">
                                        <p:cTn id="97" dur="500" fill="hold"/>
                                        <p:tgtEl>
                                          <p:spTgt spid="1341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8" grpId="0" autoUpdateAnimBg="0"/>
      <p:bldP spid="134149" grpId="0" autoUpdateAnimBg="0"/>
      <p:bldP spid="134152" grpId="0" animBg="1" autoUpdateAnimBg="0"/>
      <p:bldP spid="134153" grpId="0" autoUpdateAnimBg="0"/>
      <p:bldP spid="134154" grpId="0" autoUpdateAnimBg="0"/>
      <p:bldP spid="134155" grpId="0" autoUpdateAnimBg="0"/>
      <p:bldP spid="134156" grpId="0" animBg="1" autoUpdateAnimBg="0"/>
      <p:bldP spid="134157" grpId="0" animBg="1" autoUpdateAnimBg="0"/>
      <p:bldP spid="134158" grpId="0" autoUpdateAnimBg="0"/>
      <p:bldP spid="134159" grpId="0" autoUpdateAnimBg="0"/>
      <p:bldP spid="134160" grpId="0" autoUpdateAnimBg="0"/>
      <p:bldP spid="134163" grpId="0" autoUpdateAnimBg="0"/>
      <p:bldP spid="134164" grpId="0" autoUpdateAnimBg="0"/>
      <p:bldP spid="134169" grpId="0"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8" name="Picture 2" descr="mitchel">
            <a:extLst>
              <a:ext uri="{FF2B5EF4-FFF2-40B4-BE49-F238E27FC236}">
                <a16:creationId xmlns:a16="http://schemas.microsoft.com/office/drawing/2014/main" id="{DB0F672B-0CE1-4F3B-91AC-94CC12F2A9F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691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39" name="Picture 5" descr="mitchell">
            <a:extLst>
              <a:ext uri="{FF2B5EF4-FFF2-40B4-BE49-F238E27FC236}">
                <a16:creationId xmlns:a16="http://schemas.microsoft.com/office/drawing/2014/main" id="{A9FB3983-E2CD-477C-BB3A-0659B72CB49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48263" y="2852738"/>
            <a:ext cx="2043112" cy="288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50908" name="Group 28">
            <a:extLst>
              <a:ext uri="{FF2B5EF4-FFF2-40B4-BE49-F238E27FC236}">
                <a16:creationId xmlns:a16="http://schemas.microsoft.com/office/drawing/2014/main" id="{F9F3F61D-9EA3-4AF2-A41D-5E369A8BFBB0}"/>
              </a:ext>
            </a:extLst>
          </p:cNvPr>
          <p:cNvGraphicFramePr>
            <a:graphicFrameLocks noGrp="1"/>
          </p:cNvGraphicFramePr>
          <p:nvPr/>
        </p:nvGraphicFramePr>
        <p:xfrm>
          <a:off x="4092575" y="1866900"/>
          <a:ext cx="722324" cy="3125788"/>
        </p:xfrm>
        <a:graphic>
          <a:graphicData uri="http://schemas.openxmlformats.org/drawingml/2006/table">
            <a:tbl>
              <a:tblPr/>
              <a:tblGrid>
                <a:gridCol w="208200">
                  <a:extLst>
                    <a:ext uri="{9D8B030D-6E8A-4147-A177-3AD203B41FA5}">
                      <a16:colId xmlns:a16="http://schemas.microsoft.com/office/drawing/2014/main" val="20000"/>
                    </a:ext>
                  </a:extLst>
                </a:gridCol>
                <a:gridCol w="514124">
                  <a:extLst>
                    <a:ext uri="{9D8B030D-6E8A-4147-A177-3AD203B41FA5}">
                      <a16:colId xmlns:a16="http://schemas.microsoft.com/office/drawing/2014/main" val="20001"/>
                    </a:ext>
                  </a:extLst>
                </a:gridCol>
              </a:tblGrid>
              <a:tr h="3125788">
                <a:tc>
                  <a:txBody>
                    <a:bodyPr/>
                    <a:lstStyle/>
                    <a:p>
                      <a:pPr marL="0" marR="0" lvl="0" indent="0" algn="l" defTabSz="914400" rtl="0" eaLnBrk="0" fontAlgn="base" latinLnBrk="0" hangingPunct="0">
                        <a:lnSpc>
                          <a:spcPct val="100000"/>
                        </a:lnSpc>
                        <a:spcBef>
                          <a:spcPct val="0"/>
                        </a:spcBef>
                        <a:spcAft>
                          <a:spcPct val="0"/>
                        </a:spcAft>
                        <a:buClrTx/>
                        <a:buSzPct val="85000"/>
                        <a:buFontTx/>
                        <a:buNone/>
                        <a:tabLst/>
                      </a:pPr>
                      <a:r>
                        <a:rPr kumimoji="1" lang="en-US" altLang="zh-CN" sz="2400" b="0" i="0" u="none" strike="noStrike" cap="none" normalizeH="0" baseline="0" dirty="0">
                          <a:ln>
                            <a:noFill/>
                          </a:ln>
                          <a:solidFill>
                            <a:schemeClr val="tx1"/>
                          </a:solidFill>
                          <a:effectLst/>
                          <a:latin typeface="Times New Roman" pitchFamily="18" charset="0"/>
                          <a:ea typeface="宋体" pitchFamily="2" charset="-122"/>
                        </a:rPr>
                        <a:t>  </a:t>
                      </a:r>
                      <a:r>
                        <a:rPr kumimoji="1" lang="en-US" altLang="zh-CN" b="0" i="0" u="none" strike="noStrike" cap="none" normalizeH="0" baseline="0" dirty="0">
                          <a:ln>
                            <a:noFill/>
                          </a:ln>
                          <a:solidFill>
                            <a:schemeClr val="tx1"/>
                          </a:solidFill>
                          <a:effectLst/>
                          <a:latin typeface="Times New Roman" pitchFamily="18" charset="0"/>
                          <a:ea typeface="宋体" pitchFamily="2" charset="-122"/>
                        </a:rPr>
                        <a:t> </a:t>
                      </a:r>
                      <a:endParaRPr kumimoji="1" lang="en-US" altLang="zh-CN" sz="2400" b="0" i="0" u="none" strike="noStrike" cap="none" normalizeH="0" baseline="0" dirty="0">
                        <a:ln>
                          <a:noFill/>
                        </a:ln>
                        <a:solidFill>
                          <a:schemeClr val="tx1"/>
                        </a:solidFill>
                        <a:effectLst/>
                        <a:latin typeface="Times New Roman" pitchFamily="18" charset="0"/>
                        <a:ea typeface="宋体" pitchFamily="2" charset="-122"/>
                      </a:endParaRPr>
                    </a:p>
                  </a:txBody>
                  <a:tcPr marL="91400" marR="91400" anchor="ctr" horzOverflow="overflow">
                    <a:lnL cap="flat">
                      <a:noFill/>
                    </a:lnL>
                    <a:lnR>
                      <a:noFill/>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endParaRPr kumimoji="1" lang="zh-CN" altLang="zh-CN" sz="2800" b="0" i="0" u="none" strike="noStrike" cap="none" normalizeH="0" baseline="0" dirty="0">
                        <a:ln>
                          <a:noFill/>
                        </a:ln>
                        <a:solidFill>
                          <a:schemeClr val="tx1"/>
                        </a:solidFill>
                        <a:effectLst/>
                        <a:latin typeface="Times New Roman" pitchFamily="18" charset="0"/>
                        <a:ea typeface="宋体" pitchFamily="2" charset="-122"/>
                      </a:endParaRPr>
                    </a:p>
                  </a:txBody>
                  <a:tcPr marL="91400" marR="91400" horzOverflow="overflow">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50909" name="Group 29">
            <a:extLst>
              <a:ext uri="{FF2B5EF4-FFF2-40B4-BE49-F238E27FC236}">
                <a16:creationId xmlns:a16="http://schemas.microsoft.com/office/drawing/2014/main" id="{427873C5-FB98-4989-AB11-0975EFBBD40C}"/>
              </a:ext>
            </a:extLst>
          </p:cNvPr>
          <p:cNvGraphicFramePr>
            <a:graphicFrameLocks noGrp="1"/>
          </p:cNvGraphicFramePr>
          <p:nvPr/>
        </p:nvGraphicFramePr>
        <p:xfrm>
          <a:off x="4275138" y="3027363"/>
          <a:ext cx="615950" cy="822890"/>
        </p:xfrm>
        <a:graphic>
          <a:graphicData uri="http://schemas.openxmlformats.org/drawingml/2006/table">
            <a:tbl>
              <a:tblPr/>
              <a:tblGrid>
                <a:gridCol w="615950">
                  <a:extLst>
                    <a:ext uri="{9D8B030D-6E8A-4147-A177-3AD203B41FA5}">
                      <a16:colId xmlns:a16="http://schemas.microsoft.com/office/drawing/2014/main" val="20000"/>
                    </a:ext>
                  </a:extLst>
                </a:gridCol>
              </a:tblGrid>
              <a:tr h="822325">
                <a:tc>
                  <a:txBody>
                    <a:bodyPr/>
                    <a:lstStyle/>
                    <a:p>
                      <a:pPr marL="0" marR="0" lvl="0" indent="0" algn="l" defTabSz="914400" rtl="0" eaLnBrk="0" fontAlgn="base" latinLnBrk="0" hangingPunct="0">
                        <a:lnSpc>
                          <a:spcPct val="100000"/>
                        </a:lnSpc>
                        <a:spcBef>
                          <a:spcPct val="0"/>
                        </a:spcBef>
                        <a:spcAft>
                          <a:spcPct val="0"/>
                        </a:spcAft>
                        <a:buClrTx/>
                        <a:buSzPct val="85000"/>
                        <a:buFontTx/>
                        <a:buNone/>
                        <a:tabLst/>
                      </a:pPr>
                      <a:r>
                        <a:rPr kumimoji="1" lang="en-US" altLang="zh-CN" sz="800" b="0" i="0" u="none" strike="noStrike" cap="none" normalizeH="0" baseline="0" dirty="0">
                          <a:ln>
                            <a:noFill/>
                          </a:ln>
                          <a:solidFill>
                            <a:schemeClr val="tx1"/>
                          </a:solidFill>
                          <a:effectLst/>
                          <a:latin typeface="Verdana" pitchFamily="34" charset="0"/>
                          <a:ea typeface="宋体" pitchFamily="2" charset="-122"/>
                        </a:rPr>
                        <a:t>  </a:t>
                      </a:r>
                      <a:r>
                        <a:rPr kumimoji="1" lang="en-US" altLang="zh-CN" sz="4000" b="0" i="0" u="none" strike="noStrike" cap="none" normalizeH="0" baseline="0" dirty="0">
                          <a:ln>
                            <a:noFill/>
                          </a:ln>
                          <a:solidFill>
                            <a:schemeClr val="tx1"/>
                          </a:solidFill>
                          <a:effectLst/>
                          <a:latin typeface="Times New Roman" pitchFamily="18" charset="0"/>
                          <a:ea typeface="宋体" pitchFamily="2" charset="-122"/>
                        </a:rPr>
                        <a:t> </a:t>
                      </a:r>
                      <a:r>
                        <a:rPr kumimoji="1" lang="en-US" altLang="zh-CN" sz="800" b="0" i="0" u="none" strike="noStrike" cap="none" normalizeH="0" baseline="0" dirty="0">
                          <a:ln>
                            <a:noFill/>
                          </a:ln>
                          <a:solidFill>
                            <a:schemeClr val="tx1"/>
                          </a:solidFill>
                          <a:effectLst/>
                          <a:latin typeface="Times New Roman" pitchFamily="18" charset="0"/>
                          <a:ea typeface="宋体" pitchFamily="2" charset="-122"/>
                        </a:rPr>
                        <a:t>                </a:t>
                      </a:r>
                      <a:endParaRPr kumimoji="1" lang="en-US" altLang="zh-CN" sz="800" b="0" i="0" u="none" strike="noStrike" cap="none" normalizeH="0" baseline="0" dirty="0">
                        <a:ln>
                          <a:noFill/>
                        </a:ln>
                        <a:solidFill>
                          <a:schemeClr val="tx1"/>
                        </a:solidFill>
                        <a:effectLst/>
                        <a:latin typeface="Verdana" pitchFamily="34" charset="0"/>
                        <a:ea typeface="宋体" pitchFamily="2" charset="-122"/>
                      </a:endParaRPr>
                    </a:p>
                  </a:txBody>
                  <a:tcPr marT="45685" marB="45685" anchor="ctr" horzOverflow="overflow">
                    <a:lnL cap="flat">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pic>
        <p:nvPicPr>
          <p:cNvPr id="91145" name="Picture 7" descr="pixel">
            <a:extLst>
              <a:ext uri="{FF2B5EF4-FFF2-40B4-BE49-F238E27FC236}">
                <a16:creationId xmlns:a16="http://schemas.microsoft.com/office/drawing/2014/main" id="{E0271F2A-1B44-4B2B-B6CC-036618625C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83063" y="3429000"/>
            <a:ext cx="76200" cy="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46" name="Picture 9" descr="chemistry">
            <a:extLst>
              <a:ext uri="{FF2B5EF4-FFF2-40B4-BE49-F238E27FC236}">
                <a16:creationId xmlns:a16="http://schemas.microsoft.com/office/drawing/2014/main" id="{ED6A6EB3-E02A-4D69-93D8-DFA2DD9C8D9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0" y="0"/>
            <a:ext cx="1331913" cy="1331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36764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5" name="Rectangle 3">
            <a:extLst>
              <a:ext uri="{FF2B5EF4-FFF2-40B4-BE49-F238E27FC236}">
                <a16:creationId xmlns:a16="http://schemas.microsoft.com/office/drawing/2014/main" id="{72458119-A4FC-4CA2-BE7B-1BBB38BAE0E0}"/>
              </a:ext>
            </a:extLst>
          </p:cNvPr>
          <p:cNvSpPr>
            <a:spLocks noChangeArrowheads="1"/>
          </p:cNvSpPr>
          <p:nvPr/>
        </p:nvSpPr>
        <p:spPr bwMode="auto">
          <a:xfrm>
            <a:off x="971550" y="549275"/>
            <a:ext cx="6985000" cy="585788"/>
          </a:xfrm>
          <a:prstGeom prst="rect">
            <a:avLst/>
          </a:prstGeom>
          <a:noFill/>
          <a:ln w="9525">
            <a:noFill/>
            <a:miter lim="800000"/>
            <a:headEnd/>
            <a:tailEnd/>
          </a:ln>
          <a:effectLst/>
        </p:spPr>
        <p:txBody>
          <a:bodyPr anchor="b"/>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3300" b="1" dirty="0">
                <a:effectLst>
                  <a:outerShdw blurRad="38100" dist="38100" dir="2700000" algn="tl">
                    <a:srgbClr val="C0C0C0"/>
                  </a:outerShdw>
                </a:effectLst>
                <a:latin typeface="Arial Black" panose="020B0A04020102020204" pitchFamily="34" charset="0"/>
              </a:rPr>
              <a:t>氧化磷酸化的解偶联和抑制</a:t>
            </a:r>
            <a:endParaRPr kumimoji="0" lang="zh-CN" altLang="en-US" sz="3300" b="1" dirty="0">
              <a:effectLst>
                <a:outerShdw blurRad="38100" dist="38100" dir="2700000" algn="tl">
                  <a:srgbClr val="C0C0C0"/>
                </a:outerShdw>
              </a:effectLst>
              <a:ea typeface="楷体_GB2312" pitchFamily="49" charset="-122"/>
            </a:endParaRPr>
          </a:p>
        </p:txBody>
      </p:sp>
      <p:sp>
        <p:nvSpPr>
          <p:cNvPr id="137219" name="Rectangle 4">
            <a:extLst>
              <a:ext uri="{FF2B5EF4-FFF2-40B4-BE49-F238E27FC236}">
                <a16:creationId xmlns:a16="http://schemas.microsoft.com/office/drawing/2014/main" id="{C219D5F5-BE14-4410-8248-74403FEFBE51}"/>
              </a:ext>
            </a:extLst>
          </p:cNvPr>
          <p:cNvSpPr>
            <a:spLocks noChangeArrowheads="1"/>
          </p:cNvSpPr>
          <p:nvPr/>
        </p:nvSpPr>
        <p:spPr bwMode="auto">
          <a:xfrm>
            <a:off x="755650" y="1628775"/>
            <a:ext cx="7489825" cy="160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05000"/>
              </a:lnSpc>
              <a:spcBef>
                <a:spcPct val="20000"/>
              </a:spcBef>
              <a:buClr>
                <a:srgbClr val="FF0066"/>
              </a:buClr>
              <a:buSzPct val="90000"/>
              <a:buFont typeface="Symbol" panose="05050102010706020507" pitchFamily="18" charset="2"/>
              <a:buChar char="¨"/>
            </a:pPr>
            <a:r>
              <a:rPr kumimoji="0" lang="zh-CN" altLang="en-US" sz="2800" b="1" dirty="0"/>
              <a:t>解偶联剂（</a:t>
            </a:r>
            <a:r>
              <a:rPr kumimoji="0" lang="en-US" altLang="zh-CN" sz="2800" b="1" dirty="0" err="1"/>
              <a:t>uncoupler</a:t>
            </a:r>
            <a:r>
              <a:rPr kumimoji="0" lang="en-US" altLang="zh-CN" sz="2800" b="1" dirty="0"/>
              <a:t>)</a:t>
            </a:r>
          </a:p>
          <a:p>
            <a:pPr eaLnBrk="1" hangingPunct="1">
              <a:lnSpc>
                <a:spcPct val="105000"/>
              </a:lnSpc>
              <a:spcBef>
                <a:spcPct val="20000"/>
              </a:spcBef>
              <a:buClr>
                <a:srgbClr val="FF0066"/>
              </a:buClr>
              <a:buSzPct val="90000"/>
              <a:buFont typeface="Symbol" panose="05050102010706020507" pitchFamily="18" charset="2"/>
              <a:buChar char="¨"/>
            </a:pPr>
            <a:r>
              <a:rPr kumimoji="0" lang="zh-CN" altLang="en-US" sz="2800" b="1" dirty="0"/>
              <a:t>氧化磷酸化抑制剂</a:t>
            </a:r>
          </a:p>
          <a:p>
            <a:pPr eaLnBrk="1" hangingPunct="1">
              <a:lnSpc>
                <a:spcPct val="105000"/>
              </a:lnSpc>
              <a:spcBef>
                <a:spcPct val="20000"/>
              </a:spcBef>
              <a:buClr>
                <a:srgbClr val="FF0066"/>
              </a:buClr>
              <a:buSzPct val="90000"/>
              <a:buFont typeface="Symbol" panose="05050102010706020507" pitchFamily="18" charset="2"/>
              <a:buChar char="¨"/>
            </a:pPr>
            <a:r>
              <a:rPr kumimoji="0" lang="zh-CN" altLang="en-US" sz="2800" b="1" dirty="0"/>
              <a:t>离子载体抑制剂</a:t>
            </a:r>
            <a:r>
              <a:rPr kumimoji="0" lang="en-US" altLang="zh-CN" sz="2800" b="1" dirty="0"/>
              <a:t>(</a:t>
            </a:r>
            <a:r>
              <a:rPr kumimoji="0" lang="en-US" altLang="zh-CN" sz="2800" b="1" dirty="0" err="1"/>
              <a:t>ionophore</a:t>
            </a:r>
            <a:r>
              <a:rPr kumimoji="0" lang="en-US" altLang="zh-CN" sz="2800" b="1" dirty="0"/>
              <a:t>)</a:t>
            </a:r>
          </a:p>
        </p:txBody>
      </p:sp>
    </p:spTree>
    <p:extLst>
      <p:ext uri="{BB962C8B-B14F-4D97-AF65-F5344CB8AC3E}">
        <p14:creationId xmlns:p14="http://schemas.microsoft.com/office/powerpoint/2010/main" val="257514807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a:extLst>
              <a:ext uri="{FF2B5EF4-FFF2-40B4-BE49-F238E27FC236}">
                <a16:creationId xmlns:a16="http://schemas.microsoft.com/office/drawing/2014/main" id="{9AF40F79-ADAB-4D68-9906-17F1C07A1E29}"/>
              </a:ext>
            </a:extLst>
          </p:cNvPr>
          <p:cNvSpPr>
            <a:spLocks noChangeArrowheads="1"/>
          </p:cNvSpPr>
          <p:nvPr/>
        </p:nvSpPr>
        <p:spPr bwMode="auto">
          <a:xfrm>
            <a:off x="684213" y="333375"/>
            <a:ext cx="7991475" cy="3238500"/>
          </a:xfrm>
          <a:prstGeom prst="rect">
            <a:avLst/>
          </a:prstGeom>
          <a:solidFill>
            <a:schemeClr val="bg1"/>
          </a:solidFill>
          <a:ln w="9525">
            <a:noFill/>
            <a:miter lim="800000"/>
            <a:headEnd/>
            <a:tailEnd/>
          </a:ln>
          <a:effectLst/>
        </p:spPr>
        <p:txBody>
          <a:bodyPr>
            <a:spAutoFit/>
          </a:bodyPr>
          <a:lstStyle/>
          <a:p>
            <a:pPr marL="179388" lvl="1">
              <a:lnSpc>
                <a:spcPct val="120000"/>
              </a:lnSpc>
              <a:defRPr/>
            </a:pPr>
            <a:r>
              <a:rPr lang="en-US" altLang="zh-CN" sz="3200" b="1" dirty="0">
                <a:solidFill>
                  <a:srgbClr val="CC0099"/>
                </a:solidFill>
                <a:effectLst>
                  <a:outerShdw blurRad="38100" dist="38100" dir="2700000" algn="tl">
                    <a:srgbClr val="C0C0C0"/>
                  </a:outerShdw>
                </a:effectLst>
                <a:latin typeface="楷体_GB2312" pitchFamily="49" charset="-122"/>
                <a:ea typeface="楷体_GB2312" pitchFamily="49" charset="-122"/>
              </a:rPr>
              <a:t>1</a:t>
            </a:r>
            <a:r>
              <a:rPr lang="zh-CN" altLang="en-US" sz="3200" b="1" dirty="0">
                <a:solidFill>
                  <a:srgbClr val="CC0099"/>
                </a:solidFill>
                <a:effectLst>
                  <a:outerShdw blurRad="38100" dist="38100" dir="2700000" algn="tl">
                    <a:srgbClr val="C0C0C0"/>
                  </a:outerShdw>
                </a:effectLst>
                <a:latin typeface="楷体_GB2312" pitchFamily="49" charset="-122"/>
                <a:ea typeface="楷体_GB2312" pitchFamily="49" charset="-122"/>
              </a:rPr>
              <a:t>、解偶联剂（</a:t>
            </a:r>
            <a:r>
              <a:rPr lang="en-US" altLang="en-US" sz="3200" b="1" dirty="0" err="1">
                <a:solidFill>
                  <a:srgbClr val="CC0099"/>
                </a:solidFill>
                <a:effectLst>
                  <a:outerShdw blurRad="38100" dist="38100" dir="2700000" algn="tl">
                    <a:srgbClr val="C0C0C0"/>
                  </a:outerShdw>
                </a:effectLst>
                <a:latin typeface="楷体_GB2312" pitchFamily="49" charset="-122"/>
                <a:ea typeface="楷体_GB2312" pitchFamily="49" charset="-122"/>
              </a:rPr>
              <a:t>uncoupler</a:t>
            </a:r>
            <a:r>
              <a:rPr lang="zh-CN" altLang="en-US" sz="3200" b="1" dirty="0">
                <a:solidFill>
                  <a:srgbClr val="CC0099"/>
                </a:solidFill>
                <a:effectLst>
                  <a:outerShdw blurRad="38100" dist="38100" dir="2700000" algn="tl">
                    <a:srgbClr val="C0C0C0"/>
                  </a:outerShdw>
                </a:effectLst>
                <a:latin typeface="楷体_GB2312" pitchFamily="49" charset="-122"/>
                <a:ea typeface="楷体_GB2312" pitchFamily="49" charset="-122"/>
              </a:rPr>
              <a:t>）</a:t>
            </a:r>
          </a:p>
          <a:p>
            <a:pPr>
              <a:defRPr/>
            </a:pPr>
            <a:r>
              <a:rPr lang="zh-CN" altLang="en-US" sz="2800" b="1" dirty="0">
                <a:latin typeface="楷体_GB2312" pitchFamily="49" charset="-122"/>
                <a:ea typeface="楷体_GB2312" pitchFamily="49" charset="-122"/>
              </a:rPr>
              <a:t>使电子传递与</a:t>
            </a:r>
            <a:r>
              <a:rPr lang="en-US" altLang="zh-CN" sz="2800" b="1" dirty="0">
                <a:latin typeface="楷体_GB2312" pitchFamily="49" charset="-122"/>
                <a:ea typeface="楷体_GB2312" pitchFamily="49" charset="-122"/>
              </a:rPr>
              <a:t>ADP</a:t>
            </a:r>
            <a:r>
              <a:rPr lang="zh-CN" altLang="en-US" sz="2800" b="1" dirty="0">
                <a:latin typeface="楷体_GB2312" pitchFamily="49" charset="-122"/>
                <a:ea typeface="楷体_GB2312" pitchFamily="49" charset="-122"/>
              </a:rPr>
              <a:t>磷酸化分离，只抑制</a:t>
            </a:r>
            <a:r>
              <a:rPr lang="en-US" altLang="zh-CN" sz="2800" b="1" dirty="0">
                <a:latin typeface="楷体_GB2312" pitchFamily="49" charset="-122"/>
                <a:ea typeface="楷体_GB2312" pitchFamily="49" charset="-122"/>
              </a:rPr>
              <a:t>ATP</a:t>
            </a:r>
            <a:r>
              <a:rPr lang="zh-CN" altLang="en-US" sz="2800" b="1" dirty="0">
                <a:latin typeface="楷体_GB2312" pitchFamily="49" charset="-122"/>
                <a:ea typeface="楷体_GB2312" pitchFamily="49" charset="-122"/>
              </a:rPr>
              <a:t>的形成，而不抑制电子传递</a:t>
            </a:r>
          </a:p>
          <a:p>
            <a:pPr>
              <a:defRPr/>
            </a:pPr>
            <a:r>
              <a:rPr lang="en-US" altLang="zh-CN" sz="2800" b="1" dirty="0">
                <a:solidFill>
                  <a:srgbClr val="CC0099"/>
                </a:solidFill>
                <a:latin typeface="楷体_GB2312" pitchFamily="49" charset="-122"/>
                <a:ea typeface="楷体_GB2312" pitchFamily="49" charset="-122"/>
              </a:rPr>
              <a:t>[</a:t>
            </a:r>
            <a:r>
              <a:rPr lang="zh-CN" altLang="en-US" sz="2800" b="1" dirty="0">
                <a:solidFill>
                  <a:srgbClr val="CC0099"/>
                </a:solidFill>
                <a:latin typeface="楷体_GB2312" pitchFamily="49" charset="-122"/>
                <a:ea typeface="楷体_GB2312" pitchFamily="49" charset="-122"/>
              </a:rPr>
              <a:t>例</a:t>
            </a:r>
            <a:r>
              <a:rPr lang="en-US" altLang="zh-CN" sz="2800" b="1" dirty="0">
                <a:solidFill>
                  <a:srgbClr val="CC0099"/>
                </a:solidFill>
                <a:latin typeface="楷体_GB2312" pitchFamily="49" charset="-122"/>
                <a:ea typeface="楷体_GB2312" pitchFamily="49" charset="-122"/>
              </a:rPr>
              <a:t>1]2,4-</a:t>
            </a:r>
            <a:r>
              <a:rPr lang="zh-CN" altLang="en-US" sz="2800" b="1" dirty="0">
                <a:solidFill>
                  <a:srgbClr val="CC0099"/>
                </a:solidFill>
                <a:latin typeface="楷体_GB2312" pitchFamily="49" charset="-122"/>
                <a:ea typeface="楷体_GB2312" pitchFamily="49" charset="-122"/>
              </a:rPr>
              <a:t>二硝基苯酚</a:t>
            </a:r>
            <a:r>
              <a:rPr lang="zh-CN" altLang="en-US" sz="2800" b="1" dirty="0">
                <a:latin typeface="楷体_GB2312" pitchFamily="49" charset="-122"/>
                <a:ea typeface="楷体_GB2312" pitchFamily="49" charset="-122"/>
              </a:rPr>
              <a:t>（</a:t>
            </a:r>
            <a:r>
              <a:rPr lang="en-US" altLang="en-US" sz="2800" b="1" dirty="0" err="1">
                <a:latin typeface="楷体_GB2312" pitchFamily="49" charset="-122"/>
                <a:ea typeface="楷体_GB2312" pitchFamily="49" charset="-122"/>
              </a:rPr>
              <a:t>dinitrophenol</a:t>
            </a:r>
            <a:r>
              <a:rPr lang="en-US" altLang="zh-CN" sz="2800" b="1" dirty="0" err="1">
                <a:latin typeface="楷体_GB2312" pitchFamily="49" charset="-122"/>
                <a:ea typeface="楷体_GB2312" pitchFamily="49" charset="-122"/>
              </a:rPr>
              <a:t>,</a:t>
            </a:r>
            <a:r>
              <a:rPr lang="en-US" altLang="en-US" sz="2800" b="1" dirty="0" err="1">
                <a:latin typeface="楷体_GB2312" pitchFamily="49" charset="-122"/>
                <a:ea typeface="楷体_GB2312" pitchFamily="49" charset="-122"/>
              </a:rPr>
              <a:t>DNP</a:t>
            </a:r>
            <a:r>
              <a:rPr lang="zh-CN" altLang="en-US" sz="2800" b="1" dirty="0">
                <a:latin typeface="楷体_GB2312" pitchFamily="49" charset="-122"/>
                <a:ea typeface="楷体_GB2312" pitchFamily="49" charset="-122"/>
              </a:rPr>
              <a:t>）</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酸性条件下为脂溶性物质，自由通过线粒体膜，将膜内</a:t>
            </a:r>
            <a:r>
              <a:rPr lang="en-US" altLang="en-US" sz="2800" b="1" dirty="0">
                <a:latin typeface="楷体_GB2312" pitchFamily="49" charset="-122"/>
                <a:ea typeface="楷体_GB2312" pitchFamily="49" charset="-122"/>
              </a:rPr>
              <a:t>H</a:t>
            </a:r>
            <a:r>
              <a:rPr lang="en-US" altLang="en-US" sz="2800" b="1" baseline="30000"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带进基质</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破坏了</a:t>
            </a:r>
            <a:r>
              <a:rPr lang="en-US" altLang="en-US" sz="2800" b="1" dirty="0">
                <a:latin typeface="楷体_GB2312" pitchFamily="49" charset="-122"/>
                <a:ea typeface="楷体_GB2312" pitchFamily="49" charset="-122"/>
              </a:rPr>
              <a:t>H</a:t>
            </a:r>
            <a:r>
              <a:rPr lang="en-US" altLang="en-US" sz="2800" b="1" baseline="30000" dirty="0">
                <a:latin typeface="楷体_GB2312" pitchFamily="49" charset="-122"/>
                <a:ea typeface="楷体_GB2312" pitchFamily="49" charset="-122"/>
              </a:rPr>
              <a:t>+</a:t>
            </a:r>
            <a:r>
              <a:rPr lang="en-US" altLang="zh-CN" sz="2800" b="1" dirty="0">
                <a:latin typeface="楷体_GB2312" pitchFamily="49" charset="-122"/>
                <a:ea typeface="楷体_GB2312" pitchFamily="49" charset="-122"/>
              </a:rPr>
              <a:t> </a:t>
            </a:r>
            <a:r>
              <a:rPr lang="zh-CN" altLang="en-US" sz="2800" b="1" dirty="0">
                <a:latin typeface="楷体_GB2312" pitchFamily="49" charset="-122"/>
                <a:ea typeface="楷体_GB2312" pitchFamily="49" charset="-122"/>
              </a:rPr>
              <a:t>梯度</a:t>
            </a:r>
            <a:r>
              <a:rPr lang="en-US" altLang="zh-CN" sz="2800" b="1" dirty="0">
                <a:latin typeface="楷体_GB2312" pitchFamily="49" charset="-122"/>
                <a:ea typeface="楷体_GB2312" pitchFamily="49" charset="-122"/>
              </a:rPr>
              <a:t>.  </a:t>
            </a:r>
          </a:p>
          <a:p>
            <a:pPr>
              <a:defRPr/>
            </a:pPr>
            <a:r>
              <a:rPr lang="en-US" altLang="zh-CN" sz="2800" b="1" dirty="0">
                <a:latin typeface="楷体_GB2312" pitchFamily="49" charset="-122"/>
                <a:ea typeface="楷体_GB2312" pitchFamily="49" charset="-122"/>
              </a:rPr>
              <a:t>          </a:t>
            </a:r>
          </a:p>
        </p:txBody>
      </p:sp>
      <p:grpSp>
        <p:nvGrpSpPr>
          <p:cNvPr id="2" name="Group 3">
            <a:extLst>
              <a:ext uri="{FF2B5EF4-FFF2-40B4-BE49-F238E27FC236}">
                <a16:creationId xmlns:a16="http://schemas.microsoft.com/office/drawing/2014/main" id="{3849CEA4-34FD-4A50-9700-68A7C798CBE9}"/>
              </a:ext>
            </a:extLst>
          </p:cNvPr>
          <p:cNvGrpSpPr>
            <a:grpSpLocks/>
          </p:cNvGrpSpPr>
          <p:nvPr/>
        </p:nvGrpSpPr>
        <p:grpSpPr bwMode="auto">
          <a:xfrm>
            <a:off x="341313" y="3694113"/>
            <a:ext cx="1606550" cy="2171700"/>
            <a:chOff x="48" y="1632"/>
            <a:chExt cx="1012" cy="1368"/>
          </a:xfrm>
        </p:grpSpPr>
        <p:graphicFrame>
          <p:nvGraphicFramePr>
            <p:cNvPr id="138244" name="Object 4">
              <a:extLst>
                <a:ext uri="{FF2B5EF4-FFF2-40B4-BE49-F238E27FC236}">
                  <a16:creationId xmlns:a16="http://schemas.microsoft.com/office/drawing/2014/main" id="{B332E1AF-A96F-48AB-9D21-378431EE8BC8}"/>
                </a:ext>
              </a:extLst>
            </p:cNvPr>
            <p:cNvGraphicFramePr>
              <a:graphicFrameLocks noChangeAspect="1"/>
            </p:cNvGraphicFramePr>
            <p:nvPr/>
          </p:nvGraphicFramePr>
          <p:xfrm>
            <a:off x="48" y="2022"/>
            <a:ext cx="460" cy="650"/>
          </p:xfrm>
          <a:graphic>
            <a:graphicData uri="http://schemas.openxmlformats.org/presentationml/2006/ole">
              <mc:AlternateContent xmlns:mc="http://schemas.openxmlformats.org/markup-compatibility/2006">
                <mc:Choice xmlns:v="urn:schemas-microsoft-com:vml" Requires="v">
                  <p:oleObj name="Image" r:id="rId3" imgW="283321" imgH="371511" progId="">
                    <p:embed/>
                  </p:oleObj>
                </mc:Choice>
                <mc:Fallback>
                  <p:oleObj name="Image" r:id="rId3" imgW="283321" imgH="371511" progId="">
                    <p:embed/>
                    <p:pic>
                      <p:nvPicPr>
                        <p:cNvPr id="0" name="Picture 17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 y="2022"/>
                          <a:ext cx="460" cy="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8245" name="Text Box 5">
              <a:extLst>
                <a:ext uri="{FF2B5EF4-FFF2-40B4-BE49-F238E27FC236}">
                  <a16:creationId xmlns:a16="http://schemas.microsoft.com/office/drawing/2014/main" id="{1BA37ED5-8E62-49C0-9043-168E5BB59688}"/>
                </a:ext>
              </a:extLst>
            </p:cNvPr>
            <p:cNvSpPr txBox="1">
              <a:spLocks noChangeArrowheads="1"/>
            </p:cNvSpPr>
            <p:nvPr/>
          </p:nvSpPr>
          <p:spPr bwMode="auto">
            <a:xfrm>
              <a:off x="169" y="1632"/>
              <a:ext cx="4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sz="2000" b="1" dirty="0">
                  <a:solidFill>
                    <a:srgbClr val="000000"/>
                  </a:solidFill>
                </a:rPr>
                <a:t>NO</a:t>
              </a:r>
              <a:r>
                <a:rPr kumimoji="0" lang="en-US" altLang="zh-CN" sz="2000" b="1" baseline="-25000" dirty="0">
                  <a:solidFill>
                    <a:srgbClr val="000000"/>
                  </a:solidFill>
                </a:rPr>
                <a:t>2</a:t>
              </a:r>
            </a:p>
          </p:txBody>
        </p:sp>
        <p:sp>
          <p:nvSpPr>
            <p:cNvPr id="138246" name="Text Box 6">
              <a:extLst>
                <a:ext uri="{FF2B5EF4-FFF2-40B4-BE49-F238E27FC236}">
                  <a16:creationId xmlns:a16="http://schemas.microsoft.com/office/drawing/2014/main" id="{B28747CE-2F2A-47BC-839A-A8FFAD9D95D2}"/>
                </a:ext>
              </a:extLst>
            </p:cNvPr>
            <p:cNvSpPr txBox="1">
              <a:spLocks noChangeArrowheads="1"/>
            </p:cNvSpPr>
            <p:nvPr/>
          </p:nvSpPr>
          <p:spPr bwMode="auto">
            <a:xfrm>
              <a:off x="576" y="2304"/>
              <a:ext cx="4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sz="2000" b="1" dirty="0">
                  <a:solidFill>
                    <a:srgbClr val="000000"/>
                  </a:solidFill>
                </a:rPr>
                <a:t>NO</a:t>
              </a:r>
              <a:r>
                <a:rPr kumimoji="0" lang="en-US" altLang="zh-CN" sz="2000" b="1" baseline="-25000" dirty="0">
                  <a:solidFill>
                    <a:srgbClr val="000000"/>
                  </a:solidFill>
                </a:rPr>
                <a:t>2</a:t>
              </a:r>
            </a:p>
          </p:txBody>
        </p:sp>
        <p:sp>
          <p:nvSpPr>
            <p:cNvPr id="138247" name="Line 7">
              <a:extLst>
                <a:ext uri="{FF2B5EF4-FFF2-40B4-BE49-F238E27FC236}">
                  <a16:creationId xmlns:a16="http://schemas.microsoft.com/office/drawing/2014/main" id="{9F781C6B-45AE-47A9-81E3-497386144913}"/>
                </a:ext>
              </a:extLst>
            </p:cNvPr>
            <p:cNvSpPr>
              <a:spLocks noChangeShapeType="1"/>
            </p:cNvSpPr>
            <p:nvPr/>
          </p:nvSpPr>
          <p:spPr bwMode="auto">
            <a:xfrm flipV="1">
              <a:off x="290" y="1849"/>
              <a:ext cx="0" cy="17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Times New Roman" pitchFamily="18" charset="0"/>
              </a:endParaRPr>
            </a:p>
          </p:txBody>
        </p:sp>
        <p:sp>
          <p:nvSpPr>
            <p:cNvPr id="138248" name="Line 8">
              <a:extLst>
                <a:ext uri="{FF2B5EF4-FFF2-40B4-BE49-F238E27FC236}">
                  <a16:creationId xmlns:a16="http://schemas.microsoft.com/office/drawing/2014/main" id="{F8698933-82E9-4799-B41A-70AEE95F5D6E}"/>
                </a:ext>
              </a:extLst>
            </p:cNvPr>
            <p:cNvSpPr>
              <a:spLocks noChangeShapeType="1"/>
            </p:cNvSpPr>
            <p:nvPr/>
          </p:nvSpPr>
          <p:spPr bwMode="auto">
            <a:xfrm>
              <a:off x="432" y="2448"/>
              <a:ext cx="16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Times New Roman" pitchFamily="18" charset="0"/>
              </a:endParaRPr>
            </a:p>
          </p:txBody>
        </p:sp>
        <p:sp>
          <p:nvSpPr>
            <p:cNvPr id="138249" name="Line 9">
              <a:extLst>
                <a:ext uri="{FF2B5EF4-FFF2-40B4-BE49-F238E27FC236}">
                  <a16:creationId xmlns:a16="http://schemas.microsoft.com/office/drawing/2014/main" id="{DFEE9119-A7DB-418E-82CD-5B91D9C9EC20}"/>
                </a:ext>
              </a:extLst>
            </p:cNvPr>
            <p:cNvSpPr>
              <a:spLocks noChangeShapeType="1"/>
            </p:cNvSpPr>
            <p:nvPr/>
          </p:nvSpPr>
          <p:spPr bwMode="auto">
            <a:xfrm>
              <a:off x="290" y="2629"/>
              <a:ext cx="0" cy="17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Times New Roman" pitchFamily="18" charset="0"/>
              </a:endParaRPr>
            </a:p>
          </p:txBody>
        </p:sp>
        <p:sp>
          <p:nvSpPr>
            <p:cNvPr id="138250" name="Text Box 10">
              <a:extLst>
                <a:ext uri="{FF2B5EF4-FFF2-40B4-BE49-F238E27FC236}">
                  <a16:creationId xmlns:a16="http://schemas.microsoft.com/office/drawing/2014/main" id="{B962AC15-1B58-424A-B6C3-972121552E61}"/>
                </a:ext>
              </a:extLst>
            </p:cNvPr>
            <p:cNvSpPr txBox="1">
              <a:spLocks noChangeArrowheads="1"/>
            </p:cNvSpPr>
            <p:nvPr/>
          </p:nvSpPr>
          <p:spPr bwMode="auto">
            <a:xfrm>
              <a:off x="209" y="2750"/>
              <a:ext cx="3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sz="2000" b="1" dirty="0">
                  <a:solidFill>
                    <a:srgbClr val="000000"/>
                  </a:solidFill>
                </a:rPr>
                <a:t>O</a:t>
              </a:r>
              <a:r>
                <a:rPr kumimoji="0" lang="en-US" altLang="zh-CN" sz="2000" baseline="30000" dirty="0">
                  <a:solidFill>
                    <a:srgbClr val="000000"/>
                  </a:solidFill>
                </a:rPr>
                <a:t>-</a:t>
              </a:r>
            </a:p>
          </p:txBody>
        </p:sp>
      </p:grpSp>
      <p:grpSp>
        <p:nvGrpSpPr>
          <p:cNvPr id="3" name="Group 11">
            <a:extLst>
              <a:ext uri="{FF2B5EF4-FFF2-40B4-BE49-F238E27FC236}">
                <a16:creationId xmlns:a16="http://schemas.microsoft.com/office/drawing/2014/main" id="{044735CE-4F67-4B7A-96DF-4A27C1D12F92}"/>
              </a:ext>
            </a:extLst>
          </p:cNvPr>
          <p:cNvGrpSpPr>
            <a:grpSpLocks/>
          </p:cNvGrpSpPr>
          <p:nvPr/>
        </p:nvGrpSpPr>
        <p:grpSpPr bwMode="auto">
          <a:xfrm>
            <a:off x="2605088" y="3694113"/>
            <a:ext cx="1606550" cy="2171700"/>
            <a:chOff x="1488" y="1584"/>
            <a:chExt cx="1012" cy="1368"/>
          </a:xfrm>
        </p:grpSpPr>
        <p:graphicFrame>
          <p:nvGraphicFramePr>
            <p:cNvPr id="138252" name="Object 12">
              <a:extLst>
                <a:ext uri="{FF2B5EF4-FFF2-40B4-BE49-F238E27FC236}">
                  <a16:creationId xmlns:a16="http://schemas.microsoft.com/office/drawing/2014/main" id="{77E3D92F-4A63-4B79-8A6C-56E90FA5F97B}"/>
                </a:ext>
              </a:extLst>
            </p:cNvPr>
            <p:cNvGraphicFramePr>
              <a:graphicFrameLocks noChangeAspect="1"/>
            </p:cNvGraphicFramePr>
            <p:nvPr/>
          </p:nvGraphicFramePr>
          <p:xfrm>
            <a:off x="1488" y="1974"/>
            <a:ext cx="460" cy="651"/>
          </p:xfrm>
          <a:graphic>
            <a:graphicData uri="http://schemas.openxmlformats.org/presentationml/2006/ole">
              <mc:AlternateContent xmlns:mc="http://schemas.openxmlformats.org/markup-compatibility/2006">
                <mc:Choice xmlns:v="urn:schemas-microsoft-com:vml" Requires="v">
                  <p:oleObj name="Image" r:id="rId5" imgW="283321" imgH="371511" progId="">
                    <p:embed/>
                  </p:oleObj>
                </mc:Choice>
                <mc:Fallback>
                  <p:oleObj name="Image" r:id="rId5" imgW="283321" imgH="371511" progId="">
                    <p:embed/>
                    <p:pic>
                      <p:nvPicPr>
                        <p:cNvPr id="0" name="Picture 17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8" y="1974"/>
                          <a:ext cx="460" cy="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8253" name="Text Box 13">
              <a:extLst>
                <a:ext uri="{FF2B5EF4-FFF2-40B4-BE49-F238E27FC236}">
                  <a16:creationId xmlns:a16="http://schemas.microsoft.com/office/drawing/2014/main" id="{4DA667F3-90D4-40D1-8A70-D44BE45A3156}"/>
                </a:ext>
              </a:extLst>
            </p:cNvPr>
            <p:cNvSpPr txBox="1">
              <a:spLocks noChangeArrowheads="1"/>
            </p:cNvSpPr>
            <p:nvPr/>
          </p:nvSpPr>
          <p:spPr bwMode="auto">
            <a:xfrm>
              <a:off x="1609" y="1584"/>
              <a:ext cx="4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sz="2000" b="1" dirty="0">
                  <a:solidFill>
                    <a:srgbClr val="000000"/>
                  </a:solidFill>
                </a:rPr>
                <a:t>NO</a:t>
              </a:r>
              <a:r>
                <a:rPr kumimoji="0" lang="en-US" altLang="zh-CN" sz="2000" b="1" baseline="-25000" dirty="0">
                  <a:solidFill>
                    <a:srgbClr val="000000"/>
                  </a:solidFill>
                </a:rPr>
                <a:t>2</a:t>
              </a:r>
            </a:p>
          </p:txBody>
        </p:sp>
        <p:sp>
          <p:nvSpPr>
            <p:cNvPr id="138254" name="Text Box 14">
              <a:extLst>
                <a:ext uri="{FF2B5EF4-FFF2-40B4-BE49-F238E27FC236}">
                  <a16:creationId xmlns:a16="http://schemas.microsoft.com/office/drawing/2014/main" id="{B7FF7E9A-36E0-4F2E-9E3D-A331444FA5A9}"/>
                </a:ext>
              </a:extLst>
            </p:cNvPr>
            <p:cNvSpPr txBox="1">
              <a:spLocks noChangeArrowheads="1"/>
            </p:cNvSpPr>
            <p:nvPr/>
          </p:nvSpPr>
          <p:spPr bwMode="auto">
            <a:xfrm>
              <a:off x="2016" y="2256"/>
              <a:ext cx="4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sz="2000" b="1" dirty="0">
                  <a:solidFill>
                    <a:srgbClr val="000000"/>
                  </a:solidFill>
                </a:rPr>
                <a:t>NO</a:t>
              </a:r>
              <a:r>
                <a:rPr kumimoji="0" lang="en-US" altLang="zh-CN" sz="2000" b="1" baseline="-25000" dirty="0">
                  <a:solidFill>
                    <a:srgbClr val="000000"/>
                  </a:solidFill>
                </a:rPr>
                <a:t>2</a:t>
              </a:r>
            </a:p>
          </p:txBody>
        </p:sp>
        <p:sp>
          <p:nvSpPr>
            <p:cNvPr id="138255" name="Line 15">
              <a:extLst>
                <a:ext uri="{FF2B5EF4-FFF2-40B4-BE49-F238E27FC236}">
                  <a16:creationId xmlns:a16="http://schemas.microsoft.com/office/drawing/2014/main" id="{3721518A-EEB2-4E79-890A-551E866AA157}"/>
                </a:ext>
              </a:extLst>
            </p:cNvPr>
            <p:cNvSpPr>
              <a:spLocks noChangeShapeType="1"/>
            </p:cNvSpPr>
            <p:nvPr/>
          </p:nvSpPr>
          <p:spPr bwMode="auto">
            <a:xfrm flipV="1">
              <a:off x="1730" y="1801"/>
              <a:ext cx="0" cy="17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Times New Roman" pitchFamily="18" charset="0"/>
              </a:endParaRPr>
            </a:p>
          </p:txBody>
        </p:sp>
        <p:sp>
          <p:nvSpPr>
            <p:cNvPr id="138256" name="Line 16">
              <a:extLst>
                <a:ext uri="{FF2B5EF4-FFF2-40B4-BE49-F238E27FC236}">
                  <a16:creationId xmlns:a16="http://schemas.microsoft.com/office/drawing/2014/main" id="{58EC8FE6-C4DF-4B33-B598-560D4D985A89}"/>
                </a:ext>
              </a:extLst>
            </p:cNvPr>
            <p:cNvSpPr>
              <a:spLocks noChangeShapeType="1"/>
            </p:cNvSpPr>
            <p:nvPr/>
          </p:nvSpPr>
          <p:spPr bwMode="auto">
            <a:xfrm>
              <a:off x="1920" y="2400"/>
              <a:ext cx="16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Times New Roman" pitchFamily="18" charset="0"/>
              </a:endParaRPr>
            </a:p>
          </p:txBody>
        </p:sp>
        <p:sp>
          <p:nvSpPr>
            <p:cNvPr id="138257" name="Line 17">
              <a:extLst>
                <a:ext uri="{FF2B5EF4-FFF2-40B4-BE49-F238E27FC236}">
                  <a16:creationId xmlns:a16="http://schemas.microsoft.com/office/drawing/2014/main" id="{5E19E727-623B-47CD-AD57-C32658026E1D}"/>
                </a:ext>
              </a:extLst>
            </p:cNvPr>
            <p:cNvSpPr>
              <a:spLocks noChangeShapeType="1"/>
            </p:cNvSpPr>
            <p:nvPr/>
          </p:nvSpPr>
          <p:spPr bwMode="auto">
            <a:xfrm>
              <a:off x="1730" y="2581"/>
              <a:ext cx="0" cy="17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Times New Roman" pitchFamily="18" charset="0"/>
              </a:endParaRPr>
            </a:p>
          </p:txBody>
        </p:sp>
        <p:sp>
          <p:nvSpPr>
            <p:cNvPr id="138258" name="Text Box 18">
              <a:extLst>
                <a:ext uri="{FF2B5EF4-FFF2-40B4-BE49-F238E27FC236}">
                  <a16:creationId xmlns:a16="http://schemas.microsoft.com/office/drawing/2014/main" id="{A9B62AE3-37BD-4987-8E98-90870A9F7897}"/>
                </a:ext>
              </a:extLst>
            </p:cNvPr>
            <p:cNvSpPr txBox="1">
              <a:spLocks noChangeArrowheads="1"/>
            </p:cNvSpPr>
            <p:nvPr/>
          </p:nvSpPr>
          <p:spPr bwMode="auto">
            <a:xfrm>
              <a:off x="1632" y="2702"/>
              <a:ext cx="51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sz="2000" b="1" dirty="0">
                  <a:solidFill>
                    <a:srgbClr val="000000"/>
                  </a:solidFill>
                </a:rPr>
                <a:t>O</a:t>
              </a:r>
              <a:r>
                <a:rPr kumimoji="0" lang="en-US" altLang="zh-CN" sz="2000" b="1" dirty="0">
                  <a:solidFill>
                    <a:schemeClr val="hlink"/>
                  </a:solidFill>
                </a:rPr>
                <a:t>H</a:t>
              </a:r>
              <a:endParaRPr kumimoji="0" lang="en-US" altLang="zh-CN" sz="2000" dirty="0">
                <a:solidFill>
                  <a:schemeClr val="hlink"/>
                </a:solidFill>
              </a:endParaRPr>
            </a:p>
          </p:txBody>
        </p:sp>
      </p:grpSp>
      <p:grpSp>
        <p:nvGrpSpPr>
          <p:cNvPr id="4" name="Group 19">
            <a:extLst>
              <a:ext uri="{FF2B5EF4-FFF2-40B4-BE49-F238E27FC236}">
                <a16:creationId xmlns:a16="http://schemas.microsoft.com/office/drawing/2014/main" id="{33D2DD50-7571-4711-97C2-C400D8A0BC9E}"/>
              </a:ext>
            </a:extLst>
          </p:cNvPr>
          <p:cNvGrpSpPr>
            <a:grpSpLocks/>
          </p:cNvGrpSpPr>
          <p:nvPr/>
        </p:nvGrpSpPr>
        <p:grpSpPr bwMode="auto">
          <a:xfrm>
            <a:off x="7451725" y="3541713"/>
            <a:ext cx="1606550" cy="2171700"/>
            <a:chOff x="48" y="1632"/>
            <a:chExt cx="1012" cy="1368"/>
          </a:xfrm>
        </p:grpSpPr>
        <p:graphicFrame>
          <p:nvGraphicFramePr>
            <p:cNvPr id="138260" name="Object 20">
              <a:extLst>
                <a:ext uri="{FF2B5EF4-FFF2-40B4-BE49-F238E27FC236}">
                  <a16:creationId xmlns:a16="http://schemas.microsoft.com/office/drawing/2014/main" id="{B7479AB9-9BE8-46CD-9025-B61BD5EC01BA}"/>
                </a:ext>
              </a:extLst>
            </p:cNvPr>
            <p:cNvGraphicFramePr>
              <a:graphicFrameLocks noChangeAspect="1"/>
            </p:cNvGraphicFramePr>
            <p:nvPr/>
          </p:nvGraphicFramePr>
          <p:xfrm>
            <a:off x="48" y="2022"/>
            <a:ext cx="460" cy="650"/>
          </p:xfrm>
          <a:graphic>
            <a:graphicData uri="http://schemas.openxmlformats.org/presentationml/2006/ole">
              <mc:AlternateContent xmlns:mc="http://schemas.openxmlformats.org/markup-compatibility/2006">
                <mc:Choice xmlns:v="urn:schemas-microsoft-com:vml" Requires="v">
                  <p:oleObj name="Image" r:id="rId6" imgW="283321" imgH="371511" progId="">
                    <p:embed/>
                  </p:oleObj>
                </mc:Choice>
                <mc:Fallback>
                  <p:oleObj name="Image" r:id="rId6" imgW="283321" imgH="371511" progId="">
                    <p:embed/>
                    <p:pic>
                      <p:nvPicPr>
                        <p:cNvPr id="0" name="Picture 18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 y="2022"/>
                          <a:ext cx="460" cy="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8261" name="Text Box 21">
              <a:extLst>
                <a:ext uri="{FF2B5EF4-FFF2-40B4-BE49-F238E27FC236}">
                  <a16:creationId xmlns:a16="http://schemas.microsoft.com/office/drawing/2014/main" id="{1ECA4D93-12A2-421B-8966-97482F17B6D8}"/>
                </a:ext>
              </a:extLst>
            </p:cNvPr>
            <p:cNvSpPr txBox="1">
              <a:spLocks noChangeArrowheads="1"/>
            </p:cNvSpPr>
            <p:nvPr/>
          </p:nvSpPr>
          <p:spPr bwMode="auto">
            <a:xfrm>
              <a:off x="169" y="1632"/>
              <a:ext cx="4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sz="2000" b="1" dirty="0">
                  <a:solidFill>
                    <a:srgbClr val="000000"/>
                  </a:solidFill>
                </a:rPr>
                <a:t>NO</a:t>
              </a:r>
              <a:r>
                <a:rPr kumimoji="0" lang="en-US" altLang="zh-CN" sz="2000" b="1" baseline="-25000" dirty="0">
                  <a:solidFill>
                    <a:srgbClr val="000000"/>
                  </a:solidFill>
                </a:rPr>
                <a:t>2</a:t>
              </a:r>
            </a:p>
          </p:txBody>
        </p:sp>
        <p:sp>
          <p:nvSpPr>
            <p:cNvPr id="138262" name="Text Box 22">
              <a:extLst>
                <a:ext uri="{FF2B5EF4-FFF2-40B4-BE49-F238E27FC236}">
                  <a16:creationId xmlns:a16="http://schemas.microsoft.com/office/drawing/2014/main" id="{3B96C021-4F27-4F10-AE0E-67FFF8DD7C86}"/>
                </a:ext>
              </a:extLst>
            </p:cNvPr>
            <p:cNvSpPr txBox="1">
              <a:spLocks noChangeArrowheads="1"/>
            </p:cNvSpPr>
            <p:nvPr/>
          </p:nvSpPr>
          <p:spPr bwMode="auto">
            <a:xfrm>
              <a:off x="576" y="2304"/>
              <a:ext cx="4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sz="2000" b="1" dirty="0">
                  <a:solidFill>
                    <a:srgbClr val="000000"/>
                  </a:solidFill>
                </a:rPr>
                <a:t>NO</a:t>
              </a:r>
              <a:r>
                <a:rPr kumimoji="0" lang="en-US" altLang="zh-CN" sz="2000" b="1" baseline="-25000" dirty="0">
                  <a:solidFill>
                    <a:srgbClr val="000000"/>
                  </a:solidFill>
                </a:rPr>
                <a:t>2</a:t>
              </a:r>
            </a:p>
          </p:txBody>
        </p:sp>
        <p:sp>
          <p:nvSpPr>
            <p:cNvPr id="138263" name="Line 23">
              <a:extLst>
                <a:ext uri="{FF2B5EF4-FFF2-40B4-BE49-F238E27FC236}">
                  <a16:creationId xmlns:a16="http://schemas.microsoft.com/office/drawing/2014/main" id="{C004E918-E6F8-4893-A546-D6DED6D201D8}"/>
                </a:ext>
              </a:extLst>
            </p:cNvPr>
            <p:cNvSpPr>
              <a:spLocks noChangeShapeType="1"/>
            </p:cNvSpPr>
            <p:nvPr/>
          </p:nvSpPr>
          <p:spPr bwMode="auto">
            <a:xfrm flipV="1">
              <a:off x="290" y="1849"/>
              <a:ext cx="0" cy="17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Times New Roman" pitchFamily="18" charset="0"/>
              </a:endParaRPr>
            </a:p>
          </p:txBody>
        </p:sp>
        <p:sp>
          <p:nvSpPr>
            <p:cNvPr id="138264" name="Line 24">
              <a:extLst>
                <a:ext uri="{FF2B5EF4-FFF2-40B4-BE49-F238E27FC236}">
                  <a16:creationId xmlns:a16="http://schemas.microsoft.com/office/drawing/2014/main" id="{BEF650F3-1BCF-4272-9195-FA200F0B223A}"/>
                </a:ext>
              </a:extLst>
            </p:cNvPr>
            <p:cNvSpPr>
              <a:spLocks noChangeShapeType="1"/>
            </p:cNvSpPr>
            <p:nvPr/>
          </p:nvSpPr>
          <p:spPr bwMode="auto">
            <a:xfrm>
              <a:off x="432" y="2448"/>
              <a:ext cx="16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Times New Roman" pitchFamily="18" charset="0"/>
              </a:endParaRPr>
            </a:p>
          </p:txBody>
        </p:sp>
        <p:sp>
          <p:nvSpPr>
            <p:cNvPr id="138265" name="Line 25">
              <a:extLst>
                <a:ext uri="{FF2B5EF4-FFF2-40B4-BE49-F238E27FC236}">
                  <a16:creationId xmlns:a16="http://schemas.microsoft.com/office/drawing/2014/main" id="{B786F391-4C7A-440C-9291-08118B398375}"/>
                </a:ext>
              </a:extLst>
            </p:cNvPr>
            <p:cNvSpPr>
              <a:spLocks noChangeShapeType="1"/>
            </p:cNvSpPr>
            <p:nvPr/>
          </p:nvSpPr>
          <p:spPr bwMode="auto">
            <a:xfrm>
              <a:off x="290" y="2629"/>
              <a:ext cx="0" cy="17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Times New Roman" pitchFamily="18" charset="0"/>
              </a:endParaRPr>
            </a:p>
          </p:txBody>
        </p:sp>
        <p:sp>
          <p:nvSpPr>
            <p:cNvPr id="138266" name="Text Box 26">
              <a:extLst>
                <a:ext uri="{FF2B5EF4-FFF2-40B4-BE49-F238E27FC236}">
                  <a16:creationId xmlns:a16="http://schemas.microsoft.com/office/drawing/2014/main" id="{D06B7897-3BF3-4AF3-A389-45EF21D58F05}"/>
                </a:ext>
              </a:extLst>
            </p:cNvPr>
            <p:cNvSpPr txBox="1">
              <a:spLocks noChangeArrowheads="1"/>
            </p:cNvSpPr>
            <p:nvPr/>
          </p:nvSpPr>
          <p:spPr bwMode="auto">
            <a:xfrm>
              <a:off x="209" y="2750"/>
              <a:ext cx="3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sz="2000" b="1" dirty="0">
                  <a:solidFill>
                    <a:srgbClr val="000000"/>
                  </a:solidFill>
                </a:rPr>
                <a:t>O</a:t>
              </a:r>
              <a:r>
                <a:rPr kumimoji="0" lang="en-US" altLang="zh-CN" sz="2000" baseline="30000" dirty="0">
                  <a:solidFill>
                    <a:srgbClr val="000000"/>
                  </a:solidFill>
                </a:rPr>
                <a:t>-</a:t>
              </a:r>
            </a:p>
          </p:txBody>
        </p:sp>
      </p:grpSp>
      <p:grpSp>
        <p:nvGrpSpPr>
          <p:cNvPr id="5" name="Group 27">
            <a:extLst>
              <a:ext uri="{FF2B5EF4-FFF2-40B4-BE49-F238E27FC236}">
                <a16:creationId xmlns:a16="http://schemas.microsoft.com/office/drawing/2014/main" id="{BEF1E52E-1D36-485D-9AD3-1B3ADDF14C57}"/>
              </a:ext>
            </a:extLst>
          </p:cNvPr>
          <p:cNvGrpSpPr>
            <a:grpSpLocks/>
          </p:cNvGrpSpPr>
          <p:nvPr/>
        </p:nvGrpSpPr>
        <p:grpSpPr bwMode="auto">
          <a:xfrm>
            <a:off x="5435600" y="3617913"/>
            <a:ext cx="1606550" cy="2171700"/>
            <a:chOff x="1488" y="1584"/>
            <a:chExt cx="1012" cy="1368"/>
          </a:xfrm>
        </p:grpSpPr>
        <p:graphicFrame>
          <p:nvGraphicFramePr>
            <p:cNvPr id="138268" name="Object 28">
              <a:extLst>
                <a:ext uri="{FF2B5EF4-FFF2-40B4-BE49-F238E27FC236}">
                  <a16:creationId xmlns:a16="http://schemas.microsoft.com/office/drawing/2014/main" id="{22C5F114-230F-41F5-858B-86BDF9297830}"/>
                </a:ext>
              </a:extLst>
            </p:cNvPr>
            <p:cNvGraphicFramePr>
              <a:graphicFrameLocks noChangeAspect="1"/>
            </p:cNvGraphicFramePr>
            <p:nvPr/>
          </p:nvGraphicFramePr>
          <p:xfrm>
            <a:off x="1488" y="1974"/>
            <a:ext cx="460" cy="651"/>
          </p:xfrm>
          <a:graphic>
            <a:graphicData uri="http://schemas.openxmlformats.org/presentationml/2006/ole">
              <mc:AlternateContent xmlns:mc="http://schemas.openxmlformats.org/markup-compatibility/2006">
                <mc:Choice xmlns:v="urn:schemas-microsoft-com:vml" Requires="v">
                  <p:oleObj name="Image" r:id="rId7" imgW="283321" imgH="371511" progId="">
                    <p:embed/>
                  </p:oleObj>
                </mc:Choice>
                <mc:Fallback>
                  <p:oleObj name="Image" r:id="rId7" imgW="283321" imgH="371511" progId="">
                    <p:embed/>
                    <p:pic>
                      <p:nvPicPr>
                        <p:cNvPr id="0" name="Picture 18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8" y="1974"/>
                          <a:ext cx="460" cy="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8269" name="Text Box 29">
              <a:extLst>
                <a:ext uri="{FF2B5EF4-FFF2-40B4-BE49-F238E27FC236}">
                  <a16:creationId xmlns:a16="http://schemas.microsoft.com/office/drawing/2014/main" id="{086B2075-3ACD-4B64-8322-DD54C61EAC72}"/>
                </a:ext>
              </a:extLst>
            </p:cNvPr>
            <p:cNvSpPr txBox="1">
              <a:spLocks noChangeArrowheads="1"/>
            </p:cNvSpPr>
            <p:nvPr/>
          </p:nvSpPr>
          <p:spPr bwMode="auto">
            <a:xfrm>
              <a:off x="1609" y="1584"/>
              <a:ext cx="4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sz="2000" b="1" dirty="0">
                  <a:solidFill>
                    <a:srgbClr val="000000"/>
                  </a:solidFill>
                </a:rPr>
                <a:t>NO</a:t>
              </a:r>
              <a:r>
                <a:rPr kumimoji="0" lang="en-US" altLang="zh-CN" sz="2000" b="1" baseline="-25000" dirty="0">
                  <a:solidFill>
                    <a:srgbClr val="000000"/>
                  </a:solidFill>
                </a:rPr>
                <a:t>2</a:t>
              </a:r>
            </a:p>
          </p:txBody>
        </p:sp>
        <p:sp>
          <p:nvSpPr>
            <p:cNvPr id="138270" name="Text Box 30">
              <a:extLst>
                <a:ext uri="{FF2B5EF4-FFF2-40B4-BE49-F238E27FC236}">
                  <a16:creationId xmlns:a16="http://schemas.microsoft.com/office/drawing/2014/main" id="{2E403BDD-95FB-4F46-A9CB-23E0F53337EB}"/>
                </a:ext>
              </a:extLst>
            </p:cNvPr>
            <p:cNvSpPr txBox="1">
              <a:spLocks noChangeArrowheads="1"/>
            </p:cNvSpPr>
            <p:nvPr/>
          </p:nvSpPr>
          <p:spPr bwMode="auto">
            <a:xfrm>
              <a:off x="2016" y="2256"/>
              <a:ext cx="4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sz="2000" b="1" dirty="0">
                  <a:solidFill>
                    <a:srgbClr val="000000"/>
                  </a:solidFill>
                </a:rPr>
                <a:t>NO</a:t>
              </a:r>
              <a:r>
                <a:rPr kumimoji="0" lang="en-US" altLang="zh-CN" sz="2000" b="1" baseline="-25000" dirty="0">
                  <a:solidFill>
                    <a:srgbClr val="000000"/>
                  </a:solidFill>
                </a:rPr>
                <a:t>2</a:t>
              </a:r>
            </a:p>
          </p:txBody>
        </p:sp>
        <p:sp>
          <p:nvSpPr>
            <p:cNvPr id="138271" name="Line 31">
              <a:extLst>
                <a:ext uri="{FF2B5EF4-FFF2-40B4-BE49-F238E27FC236}">
                  <a16:creationId xmlns:a16="http://schemas.microsoft.com/office/drawing/2014/main" id="{A0815EAE-6C7A-4914-B3D9-5B3988DDDDCE}"/>
                </a:ext>
              </a:extLst>
            </p:cNvPr>
            <p:cNvSpPr>
              <a:spLocks noChangeShapeType="1"/>
            </p:cNvSpPr>
            <p:nvPr/>
          </p:nvSpPr>
          <p:spPr bwMode="auto">
            <a:xfrm flipV="1">
              <a:off x="1730" y="1801"/>
              <a:ext cx="0" cy="17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Times New Roman" pitchFamily="18" charset="0"/>
              </a:endParaRPr>
            </a:p>
          </p:txBody>
        </p:sp>
        <p:sp>
          <p:nvSpPr>
            <p:cNvPr id="138272" name="Line 32">
              <a:extLst>
                <a:ext uri="{FF2B5EF4-FFF2-40B4-BE49-F238E27FC236}">
                  <a16:creationId xmlns:a16="http://schemas.microsoft.com/office/drawing/2014/main" id="{0CE5423B-7BEE-48E3-B982-56671A29B6B9}"/>
                </a:ext>
              </a:extLst>
            </p:cNvPr>
            <p:cNvSpPr>
              <a:spLocks noChangeShapeType="1"/>
            </p:cNvSpPr>
            <p:nvPr/>
          </p:nvSpPr>
          <p:spPr bwMode="auto">
            <a:xfrm>
              <a:off x="1920" y="2400"/>
              <a:ext cx="16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Times New Roman" pitchFamily="18" charset="0"/>
              </a:endParaRPr>
            </a:p>
          </p:txBody>
        </p:sp>
        <p:sp>
          <p:nvSpPr>
            <p:cNvPr id="138273" name="Line 33">
              <a:extLst>
                <a:ext uri="{FF2B5EF4-FFF2-40B4-BE49-F238E27FC236}">
                  <a16:creationId xmlns:a16="http://schemas.microsoft.com/office/drawing/2014/main" id="{CA85325F-B92C-43A5-9769-085C18DE20B8}"/>
                </a:ext>
              </a:extLst>
            </p:cNvPr>
            <p:cNvSpPr>
              <a:spLocks noChangeShapeType="1"/>
            </p:cNvSpPr>
            <p:nvPr/>
          </p:nvSpPr>
          <p:spPr bwMode="auto">
            <a:xfrm>
              <a:off x="1730" y="2581"/>
              <a:ext cx="0" cy="17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Times New Roman" pitchFamily="18" charset="0"/>
              </a:endParaRPr>
            </a:p>
          </p:txBody>
        </p:sp>
        <p:sp>
          <p:nvSpPr>
            <p:cNvPr id="138274" name="Text Box 34">
              <a:extLst>
                <a:ext uri="{FF2B5EF4-FFF2-40B4-BE49-F238E27FC236}">
                  <a16:creationId xmlns:a16="http://schemas.microsoft.com/office/drawing/2014/main" id="{030FB591-BBCB-4FC5-BEBE-6AA823619200}"/>
                </a:ext>
              </a:extLst>
            </p:cNvPr>
            <p:cNvSpPr txBox="1">
              <a:spLocks noChangeArrowheads="1"/>
            </p:cNvSpPr>
            <p:nvPr/>
          </p:nvSpPr>
          <p:spPr bwMode="auto">
            <a:xfrm>
              <a:off x="1632" y="2702"/>
              <a:ext cx="51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sz="2000" b="1" dirty="0">
                  <a:solidFill>
                    <a:srgbClr val="000000"/>
                  </a:solidFill>
                </a:rPr>
                <a:t>O</a:t>
              </a:r>
              <a:r>
                <a:rPr kumimoji="0" lang="en-US" altLang="zh-CN" sz="2000" b="1" dirty="0">
                  <a:solidFill>
                    <a:schemeClr val="hlink"/>
                  </a:solidFill>
                </a:rPr>
                <a:t>H</a:t>
              </a:r>
              <a:endParaRPr kumimoji="0" lang="en-US" altLang="zh-CN" sz="2000" dirty="0">
                <a:solidFill>
                  <a:schemeClr val="hlink"/>
                </a:solidFill>
              </a:endParaRPr>
            </a:p>
          </p:txBody>
        </p:sp>
      </p:grpSp>
      <p:sp>
        <p:nvSpPr>
          <p:cNvPr id="367651" name="Line 35">
            <a:extLst>
              <a:ext uri="{FF2B5EF4-FFF2-40B4-BE49-F238E27FC236}">
                <a16:creationId xmlns:a16="http://schemas.microsoft.com/office/drawing/2014/main" id="{ACBAC0AA-12E9-4E72-A6A1-8A8B0794BA59}"/>
              </a:ext>
            </a:extLst>
          </p:cNvPr>
          <p:cNvSpPr>
            <a:spLocks noChangeShapeType="1"/>
          </p:cNvSpPr>
          <p:nvPr/>
        </p:nvSpPr>
        <p:spPr bwMode="auto">
          <a:xfrm>
            <a:off x="1865313" y="4760913"/>
            <a:ext cx="609600" cy="15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itchFamily="18" charset="0"/>
            </a:endParaRPr>
          </a:p>
        </p:txBody>
      </p:sp>
      <p:sp>
        <p:nvSpPr>
          <p:cNvPr id="367652" name="Text Box 36">
            <a:extLst>
              <a:ext uri="{FF2B5EF4-FFF2-40B4-BE49-F238E27FC236}">
                <a16:creationId xmlns:a16="http://schemas.microsoft.com/office/drawing/2014/main" id="{07B51E4A-513D-42DD-A2F5-4D4F926BB973}"/>
              </a:ext>
            </a:extLst>
          </p:cNvPr>
          <p:cNvSpPr txBox="1">
            <a:spLocks noChangeArrowheads="1"/>
          </p:cNvSpPr>
          <p:nvPr/>
        </p:nvSpPr>
        <p:spPr bwMode="auto">
          <a:xfrm>
            <a:off x="1941513" y="4379913"/>
            <a:ext cx="685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sz="2000" b="1" dirty="0">
                <a:solidFill>
                  <a:schemeClr val="hlink"/>
                </a:solidFill>
              </a:rPr>
              <a:t>H</a:t>
            </a:r>
            <a:r>
              <a:rPr kumimoji="0" lang="en-US" altLang="zh-CN" sz="2000" b="1" baseline="30000" dirty="0">
                <a:solidFill>
                  <a:schemeClr val="hlink"/>
                </a:solidFill>
              </a:rPr>
              <a:t>+</a:t>
            </a:r>
          </a:p>
        </p:txBody>
      </p:sp>
      <p:sp>
        <p:nvSpPr>
          <p:cNvPr id="367653" name="Line 37">
            <a:extLst>
              <a:ext uri="{FF2B5EF4-FFF2-40B4-BE49-F238E27FC236}">
                <a16:creationId xmlns:a16="http://schemas.microsoft.com/office/drawing/2014/main" id="{41D0A5BA-4FB5-499C-AB2A-C870CCDF2047}"/>
              </a:ext>
            </a:extLst>
          </p:cNvPr>
          <p:cNvSpPr>
            <a:spLocks noChangeShapeType="1"/>
          </p:cNvSpPr>
          <p:nvPr/>
        </p:nvSpPr>
        <p:spPr bwMode="auto">
          <a:xfrm>
            <a:off x="6732588" y="4684713"/>
            <a:ext cx="685800" cy="15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itchFamily="18" charset="0"/>
            </a:endParaRPr>
          </a:p>
        </p:txBody>
      </p:sp>
      <p:sp>
        <p:nvSpPr>
          <p:cNvPr id="367654" name="Text Box 38">
            <a:extLst>
              <a:ext uri="{FF2B5EF4-FFF2-40B4-BE49-F238E27FC236}">
                <a16:creationId xmlns:a16="http://schemas.microsoft.com/office/drawing/2014/main" id="{6368D2FB-CED9-4405-98E4-E6ACB213C591}"/>
              </a:ext>
            </a:extLst>
          </p:cNvPr>
          <p:cNvSpPr txBox="1">
            <a:spLocks noChangeArrowheads="1"/>
          </p:cNvSpPr>
          <p:nvPr/>
        </p:nvSpPr>
        <p:spPr bwMode="auto">
          <a:xfrm>
            <a:off x="6948488" y="5876925"/>
            <a:ext cx="685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sz="2000" b="1" dirty="0">
                <a:solidFill>
                  <a:schemeClr val="hlink"/>
                </a:solidFill>
              </a:rPr>
              <a:t>H</a:t>
            </a:r>
            <a:r>
              <a:rPr kumimoji="0" lang="en-US" altLang="zh-CN" sz="2000" b="1" baseline="30000" dirty="0">
                <a:solidFill>
                  <a:schemeClr val="hlink"/>
                </a:solidFill>
              </a:rPr>
              <a:t>+</a:t>
            </a:r>
          </a:p>
        </p:txBody>
      </p:sp>
      <p:sp>
        <p:nvSpPr>
          <p:cNvPr id="367655" name="Line 39">
            <a:extLst>
              <a:ext uri="{FF2B5EF4-FFF2-40B4-BE49-F238E27FC236}">
                <a16:creationId xmlns:a16="http://schemas.microsoft.com/office/drawing/2014/main" id="{3DFB9E15-7AA2-4B72-AA64-ED85615F18F8}"/>
              </a:ext>
            </a:extLst>
          </p:cNvPr>
          <p:cNvSpPr>
            <a:spLocks noChangeShapeType="1"/>
          </p:cNvSpPr>
          <p:nvPr/>
        </p:nvSpPr>
        <p:spPr bwMode="auto">
          <a:xfrm>
            <a:off x="7197725" y="4760913"/>
            <a:ext cx="7938" cy="97155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itchFamily="18" charset="0"/>
            </a:endParaRPr>
          </a:p>
        </p:txBody>
      </p:sp>
      <p:sp>
        <p:nvSpPr>
          <p:cNvPr id="138280" name="Rectangle 40">
            <a:extLst>
              <a:ext uri="{FF2B5EF4-FFF2-40B4-BE49-F238E27FC236}">
                <a16:creationId xmlns:a16="http://schemas.microsoft.com/office/drawing/2014/main" id="{1B0A7EFF-96B3-4A07-B76C-B20CF63D5B31}"/>
              </a:ext>
            </a:extLst>
          </p:cNvPr>
          <p:cNvSpPr>
            <a:spLocks noChangeArrowheads="1"/>
          </p:cNvSpPr>
          <p:nvPr/>
        </p:nvSpPr>
        <p:spPr bwMode="auto">
          <a:xfrm>
            <a:off x="4378325" y="3357563"/>
            <a:ext cx="533400" cy="2951162"/>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p>
        </p:txBody>
      </p:sp>
      <p:sp>
        <p:nvSpPr>
          <p:cNvPr id="138281" name="Text Box 41">
            <a:extLst>
              <a:ext uri="{FF2B5EF4-FFF2-40B4-BE49-F238E27FC236}">
                <a16:creationId xmlns:a16="http://schemas.microsoft.com/office/drawing/2014/main" id="{6D55FAEB-8E9B-4344-9A98-02EFF5AE776F}"/>
              </a:ext>
            </a:extLst>
          </p:cNvPr>
          <p:cNvSpPr txBox="1">
            <a:spLocks noChangeArrowheads="1"/>
          </p:cNvSpPr>
          <p:nvPr/>
        </p:nvSpPr>
        <p:spPr bwMode="auto">
          <a:xfrm>
            <a:off x="4419283" y="3357563"/>
            <a:ext cx="492443" cy="334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zh-CN" altLang="en-US" sz="2000" b="1" dirty="0">
                <a:solidFill>
                  <a:srgbClr val="990000"/>
                </a:solidFill>
              </a:rPr>
              <a:t>线粒体内膜</a:t>
            </a:r>
          </a:p>
        </p:txBody>
      </p:sp>
      <p:sp>
        <p:nvSpPr>
          <p:cNvPr id="138282" name="Text Box 42">
            <a:extLst>
              <a:ext uri="{FF2B5EF4-FFF2-40B4-BE49-F238E27FC236}">
                <a16:creationId xmlns:a16="http://schemas.microsoft.com/office/drawing/2014/main" id="{74AE0F2E-A03A-44DB-8D85-278CA2E397E5}"/>
              </a:ext>
            </a:extLst>
          </p:cNvPr>
          <p:cNvSpPr txBox="1">
            <a:spLocks noChangeArrowheads="1"/>
          </p:cNvSpPr>
          <p:nvPr/>
        </p:nvSpPr>
        <p:spPr bwMode="auto">
          <a:xfrm>
            <a:off x="4911725" y="3341688"/>
            <a:ext cx="762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zh-CN" altLang="en-US" sz="2000" b="1" dirty="0">
                <a:solidFill>
                  <a:srgbClr val="000099"/>
                </a:solidFill>
              </a:rPr>
              <a:t>内</a:t>
            </a:r>
          </a:p>
        </p:txBody>
      </p:sp>
      <p:sp>
        <p:nvSpPr>
          <p:cNvPr id="138283" name="Text Box 43">
            <a:extLst>
              <a:ext uri="{FF2B5EF4-FFF2-40B4-BE49-F238E27FC236}">
                <a16:creationId xmlns:a16="http://schemas.microsoft.com/office/drawing/2014/main" id="{D67A34C0-D52A-4312-BDFF-7E6543C38FBD}"/>
              </a:ext>
            </a:extLst>
          </p:cNvPr>
          <p:cNvSpPr txBox="1">
            <a:spLocks noChangeArrowheads="1"/>
          </p:cNvSpPr>
          <p:nvPr/>
        </p:nvSpPr>
        <p:spPr bwMode="auto">
          <a:xfrm>
            <a:off x="3921125" y="3357563"/>
            <a:ext cx="762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zh-CN" altLang="en-US" sz="2000" b="1" dirty="0">
                <a:solidFill>
                  <a:srgbClr val="000099"/>
                </a:solidFill>
              </a:rPr>
              <a:t>外</a:t>
            </a:r>
          </a:p>
        </p:txBody>
      </p:sp>
      <p:sp>
        <p:nvSpPr>
          <p:cNvPr id="367660" name="Line 44">
            <a:extLst>
              <a:ext uri="{FF2B5EF4-FFF2-40B4-BE49-F238E27FC236}">
                <a16:creationId xmlns:a16="http://schemas.microsoft.com/office/drawing/2014/main" id="{B4FBC744-ADFC-4218-BF9B-5B0C8BD207E1}"/>
              </a:ext>
            </a:extLst>
          </p:cNvPr>
          <p:cNvSpPr>
            <a:spLocks noChangeShapeType="1"/>
          </p:cNvSpPr>
          <p:nvPr/>
        </p:nvSpPr>
        <p:spPr bwMode="auto">
          <a:xfrm>
            <a:off x="3921125" y="4760913"/>
            <a:ext cx="1447800" cy="15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itchFamily="18" charset="0"/>
            </a:endParaRPr>
          </a:p>
        </p:txBody>
      </p:sp>
    </p:spTree>
    <p:extLst>
      <p:ext uri="{BB962C8B-B14F-4D97-AF65-F5344CB8AC3E}">
        <p14:creationId xmlns:p14="http://schemas.microsoft.com/office/powerpoint/2010/main" val="8458219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7" presetClass="entr" presetSubtype="8" fill="hold" nodeType="afterEffect">
                                  <p:stCondLst>
                                    <p:cond delay="1000"/>
                                  </p:stCondLst>
                                  <p:childTnLst>
                                    <p:set>
                                      <p:cBhvr>
                                        <p:cTn id="11" dur="1" fill="hold">
                                          <p:stCondLst>
                                            <p:cond delay="0"/>
                                          </p:stCondLst>
                                        </p:cTn>
                                        <p:tgtEl>
                                          <p:spTgt spid="367651"/>
                                        </p:tgtEl>
                                        <p:attrNameLst>
                                          <p:attrName>style.visibility</p:attrName>
                                        </p:attrNameLst>
                                      </p:cBhvr>
                                      <p:to>
                                        <p:strVal val="visible"/>
                                      </p:to>
                                    </p:set>
                                    <p:anim calcmode="lin" valueType="num">
                                      <p:cBhvr>
                                        <p:cTn id="12" dur="500" fill="hold"/>
                                        <p:tgtEl>
                                          <p:spTgt spid="367651"/>
                                        </p:tgtEl>
                                        <p:attrNameLst>
                                          <p:attrName>ppt_x</p:attrName>
                                        </p:attrNameLst>
                                      </p:cBhvr>
                                      <p:tavLst>
                                        <p:tav tm="0">
                                          <p:val>
                                            <p:strVal val="#ppt_x-#ppt_w/2"/>
                                          </p:val>
                                        </p:tav>
                                        <p:tav tm="100000">
                                          <p:val>
                                            <p:strVal val="#ppt_x"/>
                                          </p:val>
                                        </p:tav>
                                      </p:tavLst>
                                    </p:anim>
                                    <p:anim calcmode="lin" valueType="num">
                                      <p:cBhvr>
                                        <p:cTn id="13" dur="500" fill="hold"/>
                                        <p:tgtEl>
                                          <p:spTgt spid="367651"/>
                                        </p:tgtEl>
                                        <p:attrNameLst>
                                          <p:attrName>ppt_y</p:attrName>
                                        </p:attrNameLst>
                                      </p:cBhvr>
                                      <p:tavLst>
                                        <p:tav tm="0">
                                          <p:val>
                                            <p:strVal val="#ppt_y"/>
                                          </p:val>
                                        </p:tav>
                                        <p:tav tm="100000">
                                          <p:val>
                                            <p:strVal val="#ppt_y"/>
                                          </p:val>
                                        </p:tav>
                                      </p:tavLst>
                                    </p:anim>
                                    <p:anim calcmode="lin" valueType="num">
                                      <p:cBhvr>
                                        <p:cTn id="14" dur="500" fill="hold"/>
                                        <p:tgtEl>
                                          <p:spTgt spid="367651"/>
                                        </p:tgtEl>
                                        <p:attrNameLst>
                                          <p:attrName>ppt_w</p:attrName>
                                        </p:attrNameLst>
                                      </p:cBhvr>
                                      <p:tavLst>
                                        <p:tav tm="0">
                                          <p:val>
                                            <p:fltVal val="0"/>
                                          </p:val>
                                        </p:tav>
                                        <p:tav tm="100000">
                                          <p:val>
                                            <p:strVal val="#ppt_w"/>
                                          </p:val>
                                        </p:tav>
                                      </p:tavLst>
                                    </p:anim>
                                    <p:anim calcmode="lin" valueType="num">
                                      <p:cBhvr>
                                        <p:cTn id="15" dur="500" fill="hold"/>
                                        <p:tgtEl>
                                          <p:spTgt spid="367651"/>
                                        </p:tgtEl>
                                        <p:attrNameLst>
                                          <p:attrName>ppt_h</p:attrName>
                                        </p:attrNameLst>
                                      </p:cBhvr>
                                      <p:tavLst>
                                        <p:tav tm="0">
                                          <p:val>
                                            <p:strVal val="#ppt_h"/>
                                          </p:val>
                                        </p:tav>
                                        <p:tav tm="100000">
                                          <p:val>
                                            <p:strVal val="#ppt_h"/>
                                          </p:val>
                                        </p:tav>
                                      </p:tavLst>
                                    </p:anim>
                                  </p:childTnLst>
                                </p:cTn>
                              </p:par>
                            </p:childTnLst>
                          </p:cTn>
                        </p:par>
                        <p:par>
                          <p:cTn id="16" fill="hold" nodeType="afterGroup">
                            <p:stCondLst>
                              <p:cond delay="2000"/>
                            </p:stCondLst>
                            <p:childTnLst>
                              <p:par>
                                <p:cTn id="17" presetID="4" presetClass="entr" presetSubtype="16" fill="hold" grpId="0" nodeType="afterEffect">
                                  <p:stCondLst>
                                    <p:cond delay="1000"/>
                                  </p:stCondLst>
                                  <p:childTnLst>
                                    <p:set>
                                      <p:cBhvr>
                                        <p:cTn id="18" dur="1" fill="hold">
                                          <p:stCondLst>
                                            <p:cond delay="0"/>
                                          </p:stCondLst>
                                        </p:cTn>
                                        <p:tgtEl>
                                          <p:spTgt spid="367652"/>
                                        </p:tgtEl>
                                        <p:attrNameLst>
                                          <p:attrName>style.visibility</p:attrName>
                                        </p:attrNameLst>
                                      </p:cBhvr>
                                      <p:to>
                                        <p:strVal val="visible"/>
                                      </p:to>
                                    </p:set>
                                    <p:animEffect transition="in" filter="box(in)">
                                      <p:cBhvr>
                                        <p:cTn id="19" dur="500"/>
                                        <p:tgtEl>
                                          <p:spTgt spid="367652"/>
                                        </p:tgtEl>
                                      </p:cBhvr>
                                    </p:animEffect>
                                  </p:childTnLst>
                                </p:cTn>
                              </p:par>
                            </p:childTnLst>
                          </p:cTn>
                        </p:par>
                        <p:par>
                          <p:cTn id="20" fill="hold" nodeType="afterGroup">
                            <p:stCondLst>
                              <p:cond delay="3500"/>
                            </p:stCondLst>
                            <p:childTnLst>
                              <p:par>
                                <p:cTn id="21" presetID="5" presetClass="entr" presetSubtype="10" fill="hold" nodeType="afterEffect">
                                  <p:stCondLst>
                                    <p:cond delay="1000"/>
                                  </p:stCondLst>
                                  <p:childTnLst>
                                    <p:set>
                                      <p:cBhvr>
                                        <p:cTn id="22" dur="1" fill="hold">
                                          <p:stCondLst>
                                            <p:cond delay="0"/>
                                          </p:stCondLst>
                                        </p:cTn>
                                        <p:tgtEl>
                                          <p:spTgt spid="3"/>
                                        </p:tgtEl>
                                        <p:attrNameLst>
                                          <p:attrName>style.visibility</p:attrName>
                                        </p:attrNameLst>
                                      </p:cBhvr>
                                      <p:to>
                                        <p:strVal val="visible"/>
                                      </p:to>
                                    </p:set>
                                    <p:animEffect transition="in" filter="checkerboard(across)">
                                      <p:cBhvr>
                                        <p:cTn id="23" dur="500"/>
                                        <p:tgtEl>
                                          <p:spTgt spid="3"/>
                                        </p:tgtEl>
                                      </p:cBhvr>
                                    </p:animEffect>
                                  </p:childTnLst>
                                </p:cTn>
                              </p:par>
                            </p:childTnLst>
                          </p:cTn>
                        </p:par>
                        <p:par>
                          <p:cTn id="24" fill="hold" nodeType="afterGroup">
                            <p:stCondLst>
                              <p:cond delay="5000"/>
                            </p:stCondLst>
                            <p:childTnLst>
                              <p:par>
                                <p:cTn id="25" presetID="17" presetClass="entr" presetSubtype="8" fill="hold" nodeType="afterEffect">
                                  <p:stCondLst>
                                    <p:cond delay="2000"/>
                                  </p:stCondLst>
                                  <p:childTnLst>
                                    <p:set>
                                      <p:cBhvr>
                                        <p:cTn id="26" dur="1" fill="hold">
                                          <p:stCondLst>
                                            <p:cond delay="0"/>
                                          </p:stCondLst>
                                        </p:cTn>
                                        <p:tgtEl>
                                          <p:spTgt spid="367660"/>
                                        </p:tgtEl>
                                        <p:attrNameLst>
                                          <p:attrName>style.visibility</p:attrName>
                                        </p:attrNameLst>
                                      </p:cBhvr>
                                      <p:to>
                                        <p:strVal val="visible"/>
                                      </p:to>
                                    </p:set>
                                    <p:anim calcmode="lin" valueType="num">
                                      <p:cBhvr>
                                        <p:cTn id="27" dur="500" fill="hold"/>
                                        <p:tgtEl>
                                          <p:spTgt spid="367660"/>
                                        </p:tgtEl>
                                        <p:attrNameLst>
                                          <p:attrName>ppt_x</p:attrName>
                                        </p:attrNameLst>
                                      </p:cBhvr>
                                      <p:tavLst>
                                        <p:tav tm="0">
                                          <p:val>
                                            <p:strVal val="#ppt_x-#ppt_w/2"/>
                                          </p:val>
                                        </p:tav>
                                        <p:tav tm="100000">
                                          <p:val>
                                            <p:strVal val="#ppt_x"/>
                                          </p:val>
                                        </p:tav>
                                      </p:tavLst>
                                    </p:anim>
                                    <p:anim calcmode="lin" valueType="num">
                                      <p:cBhvr>
                                        <p:cTn id="28" dur="500" fill="hold"/>
                                        <p:tgtEl>
                                          <p:spTgt spid="367660"/>
                                        </p:tgtEl>
                                        <p:attrNameLst>
                                          <p:attrName>ppt_y</p:attrName>
                                        </p:attrNameLst>
                                      </p:cBhvr>
                                      <p:tavLst>
                                        <p:tav tm="0">
                                          <p:val>
                                            <p:strVal val="#ppt_y"/>
                                          </p:val>
                                        </p:tav>
                                        <p:tav tm="100000">
                                          <p:val>
                                            <p:strVal val="#ppt_y"/>
                                          </p:val>
                                        </p:tav>
                                      </p:tavLst>
                                    </p:anim>
                                    <p:anim calcmode="lin" valueType="num">
                                      <p:cBhvr>
                                        <p:cTn id="29" dur="500" fill="hold"/>
                                        <p:tgtEl>
                                          <p:spTgt spid="367660"/>
                                        </p:tgtEl>
                                        <p:attrNameLst>
                                          <p:attrName>ppt_w</p:attrName>
                                        </p:attrNameLst>
                                      </p:cBhvr>
                                      <p:tavLst>
                                        <p:tav tm="0">
                                          <p:val>
                                            <p:fltVal val="0"/>
                                          </p:val>
                                        </p:tav>
                                        <p:tav tm="100000">
                                          <p:val>
                                            <p:strVal val="#ppt_w"/>
                                          </p:val>
                                        </p:tav>
                                      </p:tavLst>
                                    </p:anim>
                                    <p:anim calcmode="lin" valueType="num">
                                      <p:cBhvr>
                                        <p:cTn id="30" dur="500" fill="hold"/>
                                        <p:tgtEl>
                                          <p:spTgt spid="367660"/>
                                        </p:tgtEl>
                                        <p:attrNameLst>
                                          <p:attrName>ppt_h</p:attrName>
                                        </p:attrNameLst>
                                      </p:cBhvr>
                                      <p:tavLst>
                                        <p:tav tm="0">
                                          <p:val>
                                            <p:strVal val="#ppt_h"/>
                                          </p:val>
                                        </p:tav>
                                        <p:tav tm="100000">
                                          <p:val>
                                            <p:strVal val="#ppt_h"/>
                                          </p:val>
                                        </p:tav>
                                      </p:tavLst>
                                    </p:anim>
                                  </p:childTnLst>
                                </p:cTn>
                              </p:par>
                            </p:childTnLst>
                          </p:cTn>
                        </p:par>
                        <p:par>
                          <p:cTn id="31" fill="hold" nodeType="afterGroup">
                            <p:stCondLst>
                              <p:cond delay="7500"/>
                            </p:stCondLst>
                            <p:childTnLst>
                              <p:par>
                                <p:cTn id="32" presetID="5" presetClass="entr" presetSubtype="10" fill="hold" nodeType="afterEffect">
                                  <p:stCondLst>
                                    <p:cond delay="2000"/>
                                  </p:stCondLst>
                                  <p:childTnLst>
                                    <p:set>
                                      <p:cBhvr>
                                        <p:cTn id="33" dur="1" fill="hold">
                                          <p:stCondLst>
                                            <p:cond delay="0"/>
                                          </p:stCondLst>
                                        </p:cTn>
                                        <p:tgtEl>
                                          <p:spTgt spid="5"/>
                                        </p:tgtEl>
                                        <p:attrNameLst>
                                          <p:attrName>style.visibility</p:attrName>
                                        </p:attrNameLst>
                                      </p:cBhvr>
                                      <p:to>
                                        <p:strVal val="visible"/>
                                      </p:to>
                                    </p:set>
                                    <p:animEffect transition="in" filter="checkerboard(across)">
                                      <p:cBhvr>
                                        <p:cTn id="34" dur="500"/>
                                        <p:tgtEl>
                                          <p:spTgt spid="5"/>
                                        </p:tgtEl>
                                      </p:cBhvr>
                                    </p:animEffect>
                                  </p:childTnLst>
                                </p:cTn>
                              </p:par>
                            </p:childTnLst>
                          </p:cTn>
                        </p:par>
                        <p:par>
                          <p:cTn id="35" fill="hold" nodeType="afterGroup">
                            <p:stCondLst>
                              <p:cond delay="10000"/>
                            </p:stCondLst>
                            <p:childTnLst>
                              <p:par>
                                <p:cTn id="36" presetID="17" presetClass="entr" presetSubtype="8" fill="hold" nodeType="afterEffect">
                                  <p:stCondLst>
                                    <p:cond delay="1000"/>
                                  </p:stCondLst>
                                  <p:childTnLst>
                                    <p:set>
                                      <p:cBhvr>
                                        <p:cTn id="37" dur="1" fill="hold">
                                          <p:stCondLst>
                                            <p:cond delay="0"/>
                                          </p:stCondLst>
                                        </p:cTn>
                                        <p:tgtEl>
                                          <p:spTgt spid="367653"/>
                                        </p:tgtEl>
                                        <p:attrNameLst>
                                          <p:attrName>style.visibility</p:attrName>
                                        </p:attrNameLst>
                                      </p:cBhvr>
                                      <p:to>
                                        <p:strVal val="visible"/>
                                      </p:to>
                                    </p:set>
                                    <p:anim calcmode="lin" valueType="num">
                                      <p:cBhvr>
                                        <p:cTn id="38" dur="500" fill="hold"/>
                                        <p:tgtEl>
                                          <p:spTgt spid="367653"/>
                                        </p:tgtEl>
                                        <p:attrNameLst>
                                          <p:attrName>ppt_x</p:attrName>
                                        </p:attrNameLst>
                                      </p:cBhvr>
                                      <p:tavLst>
                                        <p:tav tm="0">
                                          <p:val>
                                            <p:strVal val="#ppt_x-#ppt_w/2"/>
                                          </p:val>
                                        </p:tav>
                                        <p:tav tm="100000">
                                          <p:val>
                                            <p:strVal val="#ppt_x"/>
                                          </p:val>
                                        </p:tav>
                                      </p:tavLst>
                                    </p:anim>
                                    <p:anim calcmode="lin" valueType="num">
                                      <p:cBhvr>
                                        <p:cTn id="39" dur="500" fill="hold"/>
                                        <p:tgtEl>
                                          <p:spTgt spid="367653"/>
                                        </p:tgtEl>
                                        <p:attrNameLst>
                                          <p:attrName>ppt_y</p:attrName>
                                        </p:attrNameLst>
                                      </p:cBhvr>
                                      <p:tavLst>
                                        <p:tav tm="0">
                                          <p:val>
                                            <p:strVal val="#ppt_y"/>
                                          </p:val>
                                        </p:tav>
                                        <p:tav tm="100000">
                                          <p:val>
                                            <p:strVal val="#ppt_y"/>
                                          </p:val>
                                        </p:tav>
                                      </p:tavLst>
                                    </p:anim>
                                    <p:anim calcmode="lin" valueType="num">
                                      <p:cBhvr>
                                        <p:cTn id="40" dur="500" fill="hold"/>
                                        <p:tgtEl>
                                          <p:spTgt spid="367653"/>
                                        </p:tgtEl>
                                        <p:attrNameLst>
                                          <p:attrName>ppt_w</p:attrName>
                                        </p:attrNameLst>
                                      </p:cBhvr>
                                      <p:tavLst>
                                        <p:tav tm="0">
                                          <p:val>
                                            <p:fltVal val="0"/>
                                          </p:val>
                                        </p:tav>
                                        <p:tav tm="100000">
                                          <p:val>
                                            <p:strVal val="#ppt_w"/>
                                          </p:val>
                                        </p:tav>
                                      </p:tavLst>
                                    </p:anim>
                                    <p:anim calcmode="lin" valueType="num">
                                      <p:cBhvr>
                                        <p:cTn id="41" dur="500" fill="hold"/>
                                        <p:tgtEl>
                                          <p:spTgt spid="367653"/>
                                        </p:tgtEl>
                                        <p:attrNameLst>
                                          <p:attrName>ppt_h</p:attrName>
                                        </p:attrNameLst>
                                      </p:cBhvr>
                                      <p:tavLst>
                                        <p:tav tm="0">
                                          <p:val>
                                            <p:strVal val="#ppt_h"/>
                                          </p:val>
                                        </p:tav>
                                        <p:tav tm="100000">
                                          <p:val>
                                            <p:strVal val="#ppt_h"/>
                                          </p:val>
                                        </p:tav>
                                      </p:tavLst>
                                    </p:anim>
                                  </p:childTnLst>
                                </p:cTn>
                              </p:par>
                            </p:childTnLst>
                          </p:cTn>
                        </p:par>
                        <p:par>
                          <p:cTn id="42" fill="hold" nodeType="afterGroup">
                            <p:stCondLst>
                              <p:cond delay="11500"/>
                            </p:stCondLst>
                            <p:childTnLst>
                              <p:par>
                                <p:cTn id="43" presetID="17" presetClass="entr" presetSubtype="1" fill="hold" nodeType="afterEffect">
                                  <p:stCondLst>
                                    <p:cond delay="1000"/>
                                  </p:stCondLst>
                                  <p:childTnLst>
                                    <p:set>
                                      <p:cBhvr>
                                        <p:cTn id="44" dur="1" fill="hold">
                                          <p:stCondLst>
                                            <p:cond delay="0"/>
                                          </p:stCondLst>
                                        </p:cTn>
                                        <p:tgtEl>
                                          <p:spTgt spid="367655"/>
                                        </p:tgtEl>
                                        <p:attrNameLst>
                                          <p:attrName>style.visibility</p:attrName>
                                        </p:attrNameLst>
                                      </p:cBhvr>
                                      <p:to>
                                        <p:strVal val="visible"/>
                                      </p:to>
                                    </p:set>
                                    <p:anim calcmode="lin" valueType="num">
                                      <p:cBhvr>
                                        <p:cTn id="45" dur="500" fill="hold"/>
                                        <p:tgtEl>
                                          <p:spTgt spid="367655"/>
                                        </p:tgtEl>
                                        <p:attrNameLst>
                                          <p:attrName>ppt_x</p:attrName>
                                        </p:attrNameLst>
                                      </p:cBhvr>
                                      <p:tavLst>
                                        <p:tav tm="0">
                                          <p:val>
                                            <p:strVal val="#ppt_x"/>
                                          </p:val>
                                        </p:tav>
                                        <p:tav tm="100000">
                                          <p:val>
                                            <p:strVal val="#ppt_x"/>
                                          </p:val>
                                        </p:tav>
                                      </p:tavLst>
                                    </p:anim>
                                    <p:anim calcmode="lin" valueType="num">
                                      <p:cBhvr>
                                        <p:cTn id="46" dur="500" fill="hold"/>
                                        <p:tgtEl>
                                          <p:spTgt spid="367655"/>
                                        </p:tgtEl>
                                        <p:attrNameLst>
                                          <p:attrName>ppt_y</p:attrName>
                                        </p:attrNameLst>
                                      </p:cBhvr>
                                      <p:tavLst>
                                        <p:tav tm="0">
                                          <p:val>
                                            <p:strVal val="#ppt_y-#ppt_h/2"/>
                                          </p:val>
                                        </p:tav>
                                        <p:tav tm="100000">
                                          <p:val>
                                            <p:strVal val="#ppt_y"/>
                                          </p:val>
                                        </p:tav>
                                      </p:tavLst>
                                    </p:anim>
                                    <p:anim calcmode="lin" valueType="num">
                                      <p:cBhvr>
                                        <p:cTn id="47" dur="500" fill="hold"/>
                                        <p:tgtEl>
                                          <p:spTgt spid="367655"/>
                                        </p:tgtEl>
                                        <p:attrNameLst>
                                          <p:attrName>ppt_w</p:attrName>
                                        </p:attrNameLst>
                                      </p:cBhvr>
                                      <p:tavLst>
                                        <p:tav tm="0">
                                          <p:val>
                                            <p:strVal val="#ppt_w"/>
                                          </p:val>
                                        </p:tav>
                                        <p:tav tm="100000">
                                          <p:val>
                                            <p:strVal val="#ppt_w"/>
                                          </p:val>
                                        </p:tav>
                                      </p:tavLst>
                                    </p:anim>
                                    <p:anim calcmode="lin" valueType="num">
                                      <p:cBhvr>
                                        <p:cTn id="48" dur="500" fill="hold"/>
                                        <p:tgtEl>
                                          <p:spTgt spid="367655"/>
                                        </p:tgtEl>
                                        <p:attrNameLst>
                                          <p:attrName>ppt_h</p:attrName>
                                        </p:attrNameLst>
                                      </p:cBhvr>
                                      <p:tavLst>
                                        <p:tav tm="0">
                                          <p:val>
                                            <p:fltVal val="0"/>
                                          </p:val>
                                        </p:tav>
                                        <p:tav tm="100000">
                                          <p:val>
                                            <p:strVal val="#ppt_h"/>
                                          </p:val>
                                        </p:tav>
                                      </p:tavLst>
                                    </p:anim>
                                  </p:childTnLst>
                                </p:cTn>
                              </p:par>
                            </p:childTnLst>
                          </p:cTn>
                        </p:par>
                        <p:par>
                          <p:cTn id="49" fill="hold" nodeType="afterGroup">
                            <p:stCondLst>
                              <p:cond delay="13000"/>
                            </p:stCondLst>
                            <p:childTnLst>
                              <p:par>
                                <p:cTn id="50" presetID="9" presetClass="entr" presetSubtype="0" fill="hold" grpId="0" nodeType="afterEffect">
                                  <p:stCondLst>
                                    <p:cond delay="1000"/>
                                  </p:stCondLst>
                                  <p:childTnLst>
                                    <p:set>
                                      <p:cBhvr>
                                        <p:cTn id="51" dur="1" fill="hold">
                                          <p:stCondLst>
                                            <p:cond delay="0"/>
                                          </p:stCondLst>
                                        </p:cTn>
                                        <p:tgtEl>
                                          <p:spTgt spid="367654"/>
                                        </p:tgtEl>
                                        <p:attrNameLst>
                                          <p:attrName>style.visibility</p:attrName>
                                        </p:attrNameLst>
                                      </p:cBhvr>
                                      <p:to>
                                        <p:strVal val="visible"/>
                                      </p:to>
                                    </p:set>
                                    <p:animEffect transition="in" filter="dissolve">
                                      <p:cBhvr>
                                        <p:cTn id="52" dur="500"/>
                                        <p:tgtEl>
                                          <p:spTgt spid="367654"/>
                                        </p:tgtEl>
                                      </p:cBhvr>
                                    </p:animEffect>
                                  </p:childTnLst>
                                </p:cTn>
                              </p:par>
                            </p:childTnLst>
                          </p:cTn>
                        </p:par>
                        <p:par>
                          <p:cTn id="53" fill="hold" nodeType="afterGroup">
                            <p:stCondLst>
                              <p:cond delay="14500"/>
                            </p:stCondLst>
                            <p:childTnLst>
                              <p:par>
                                <p:cTn id="54" presetID="5" presetClass="entr" presetSubtype="10" fill="hold" nodeType="afterEffect">
                                  <p:stCondLst>
                                    <p:cond delay="1000"/>
                                  </p:stCondLst>
                                  <p:childTnLst>
                                    <p:set>
                                      <p:cBhvr>
                                        <p:cTn id="55" dur="1" fill="hold">
                                          <p:stCondLst>
                                            <p:cond delay="0"/>
                                          </p:stCondLst>
                                        </p:cTn>
                                        <p:tgtEl>
                                          <p:spTgt spid="4"/>
                                        </p:tgtEl>
                                        <p:attrNameLst>
                                          <p:attrName>style.visibility</p:attrName>
                                        </p:attrNameLst>
                                      </p:cBhvr>
                                      <p:to>
                                        <p:strVal val="visible"/>
                                      </p:to>
                                    </p:set>
                                    <p:animEffect transition="in" filter="checkerboard(across)">
                                      <p:cBhvr>
                                        <p:cTn id="5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52" grpId="0" autoUpdateAnimBg="0"/>
      <p:bldP spid="367654" grpId="0" autoUpdateAnimBg="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4">
            <a:extLst>
              <a:ext uri="{FF2B5EF4-FFF2-40B4-BE49-F238E27FC236}">
                <a16:creationId xmlns:a16="http://schemas.microsoft.com/office/drawing/2014/main" id="{D031E292-C43D-4A8E-89CA-572DE7AE3F36}"/>
              </a:ext>
            </a:extLst>
          </p:cNvPr>
          <p:cNvSpPr>
            <a:spLocks noChangeArrowheads="1"/>
          </p:cNvSpPr>
          <p:nvPr/>
        </p:nvSpPr>
        <p:spPr bwMode="auto">
          <a:xfrm>
            <a:off x="5784850" y="1724025"/>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sz="3600" b="1" dirty="0">
              <a:solidFill>
                <a:srgbClr val="00FFFF"/>
              </a:solidFill>
            </a:endParaRPr>
          </a:p>
        </p:txBody>
      </p:sp>
      <p:pic>
        <p:nvPicPr>
          <p:cNvPr id="90115" name="Picture 5" descr="f19-18">
            <a:extLst>
              <a:ext uri="{FF2B5EF4-FFF2-40B4-BE49-F238E27FC236}">
                <a16:creationId xmlns:a16="http://schemas.microsoft.com/office/drawing/2014/main" id="{501029DC-B93A-4809-8E37-ED820F1AD97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6" name="Rectangle 7">
            <a:extLst>
              <a:ext uri="{FF2B5EF4-FFF2-40B4-BE49-F238E27FC236}">
                <a16:creationId xmlns:a16="http://schemas.microsoft.com/office/drawing/2014/main" id="{7926B99C-0906-495A-B6DB-329F13BD24BA}"/>
              </a:ext>
            </a:extLst>
          </p:cNvPr>
          <p:cNvSpPr>
            <a:spLocks noChangeArrowheads="1"/>
          </p:cNvSpPr>
          <p:nvPr/>
        </p:nvSpPr>
        <p:spPr bwMode="auto">
          <a:xfrm>
            <a:off x="6232525" y="476250"/>
            <a:ext cx="2911475" cy="204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en-US" altLang="zh-CN" sz="3600" b="1" dirty="0"/>
          </a:p>
          <a:p>
            <a:pPr algn="ctr" eaLnBrk="1" hangingPunct="1"/>
            <a:endParaRPr lang="en-US" altLang="zh-CN" sz="3600" b="1" dirty="0"/>
          </a:p>
          <a:p>
            <a:pPr algn="ctr" eaLnBrk="1" hangingPunct="1"/>
            <a:r>
              <a:rPr lang="en-US" altLang="zh-CN" sz="2800" b="1" dirty="0"/>
              <a:t>proton gradient is</a:t>
            </a:r>
          </a:p>
          <a:p>
            <a:pPr algn="ctr" eaLnBrk="1" hangingPunct="1"/>
            <a:r>
              <a:rPr lang="en-US" altLang="zh-CN" sz="2800" b="1" dirty="0"/>
              <a:t>dissipated</a:t>
            </a:r>
          </a:p>
        </p:txBody>
      </p:sp>
    </p:spTree>
    <p:extLst>
      <p:ext uri="{BB962C8B-B14F-4D97-AF65-F5344CB8AC3E}">
        <p14:creationId xmlns:p14="http://schemas.microsoft.com/office/powerpoint/2010/main" val="397353079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2">
            <a:extLst>
              <a:ext uri="{FF2B5EF4-FFF2-40B4-BE49-F238E27FC236}">
                <a16:creationId xmlns:a16="http://schemas.microsoft.com/office/drawing/2014/main" id="{8D131144-0543-4A8D-B79A-F8E2A5BCAC0B}"/>
              </a:ext>
            </a:extLst>
          </p:cNvPr>
          <p:cNvSpPr>
            <a:spLocks noChangeArrowheads="1"/>
          </p:cNvSpPr>
          <p:nvPr/>
        </p:nvSpPr>
        <p:spPr bwMode="auto">
          <a:xfrm>
            <a:off x="684213" y="333375"/>
            <a:ext cx="7991475" cy="4313238"/>
          </a:xfrm>
          <a:prstGeom prst="rect">
            <a:avLst/>
          </a:prstGeom>
          <a:solidFill>
            <a:schemeClr val="bg1"/>
          </a:solidFill>
          <a:ln w="9525">
            <a:noFill/>
            <a:miter lim="800000"/>
            <a:headEnd/>
            <a:tailEnd/>
          </a:ln>
          <a:effec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179388"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eaLnBrk="1" hangingPunct="1">
              <a:lnSpc>
                <a:spcPct val="120000"/>
              </a:lnSpc>
            </a:pPr>
            <a:r>
              <a:rPr lang="en-US" altLang="zh-CN" sz="3600" b="1" dirty="0">
                <a:solidFill>
                  <a:srgbClr val="CC0099"/>
                </a:solidFill>
                <a:effectLst>
                  <a:outerShdw blurRad="38100" dist="38100" dir="2700000" algn="tl">
                    <a:srgbClr val="C0C0C0"/>
                  </a:outerShdw>
                </a:effectLst>
                <a:latin typeface="楷体_GB2312" pitchFamily="49" charset="-122"/>
                <a:ea typeface="楷体_GB2312" pitchFamily="49" charset="-122"/>
              </a:rPr>
              <a:t>2</a:t>
            </a:r>
            <a:r>
              <a:rPr lang="zh-CN" altLang="en-US" sz="3600" b="1" dirty="0">
                <a:solidFill>
                  <a:srgbClr val="CC0099"/>
                </a:solidFill>
                <a:effectLst>
                  <a:outerShdw blurRad="38100" dist="38100" dir="2700000" algn="tl">
                    <a:srgbClr val="C0C0C0"/>
                  </a:outerShdw>
                </a:effectLst>
                <a:latin typeface="楷体_GB2312" pitchFamily="49" charset="-122"/>
                <a:ea typeface="楷体_GB2312" pitchFamily="49" charset="-122"/>
              </a:rPr>
              <a:t>、氧化磷酸化抑制剂</a:t>
            </a:r>
          </a:p>
          <a:p>
            <a:pPr lvl="1" eaLnBrk="1" hangingPunct="1">
              <a:lnSpc>
                <a:spcPct val="120000"/>
              </a:lnSpc>
            </a:pPr>
            <a:endParaRPr lang="zh-CN" altLang="en-US" sz="3600" b="1" dirty="0">
              <a:solidFill>
                <a:srgbClr val="CC0099"/>
              </a:solidFill>
              <a:effectLst>
                <a:outerShdw blurRad="38100" dist="38100" dir="2700000" algn="tl">
                  <a:srgbClr val="C0C0C0"/>
                </a:outerShdw>
              </a:effectLst>
              <a:latin typeface="楷体_GB2312" pitchFamily="49" charset="-122"/>
              <a:ea typeface="楷体_GB2312" pitchFamily="49" charset="-122"/>
            </a:endParaRPr>
          </a:p>
          <a:p>
            <a:pPr eaLnBrk="1" hangingPunct="1"/>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作用</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对电子传递和</a:t>
            </a:r>
            <a:r>
              <a:rPr lang="en-US" altLang="en-US" sz="2800" b="1" dirty="0">
                <a:latin typeface="楷体_GB2312" pitchFamily="49" charset="-122"/>
                <a:ea typeface="楷体_GB2312" pitchFamily="49" charset="-122"/>
              </a:rPr>
              <a:t>ADP</a:t>
            </a:r>
            <a:r>
              <a:rPr lang="zh-CN" altLang="en-US" sz="2800" b="1" dirty="0">
                <a:latin typeface="楷体_GB2312" pitchFamily="49" charset="-122"/>
                <a:ea typeface="楷体_GB2312" pitchFamily="49" charset="-122"/>
              </a:rPr>
              <a:t>的磷酸化均有抑制。</a:t>
            </a:r>
          </a:p>
          <a:p>
            <a:pPr eaLnBrk="1" hangingPunct="1"/>
            <a:endParaRPr lang="zh-CN" altLang="en-US" sz="2800" b="1" dirty="0">
              <a:latin typeface="楷体_GB2312" pitchFamily="49" charset="-122"/>
              <a:ea typeface="楷体_GB2312" pitchFamily="49" charset="-122"/>
            </a:endParaRPr>
          </a:p>
          <a:p>
            <a:pPr eaLnBrk="1" hangingPunct="1">
              <a:lnSpc>
                <a:spcPct val="145000"/>
              </a:lnSpc>
              <a:spcBef>
                <a:spcPct val="45000"/>
              </a:spcBef>
            </a:pP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例</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寡霉素</a:t>
            </a:r>
            <a:r>
              <a:rPr lang="en-US" altLang="zh-CN" sz="2800" b="1" dirty="0">
                <a:ea typeface="楷体_GB2312" pitchFamily="49" charset="-122"/>
              </a:rPr>
              <a:t>(</a:t>
            </a:r>
            <a:r>
              <a:rPr lang="en-US" altLang="zh-CN" sz="2800" b="1" dirty="0" err="1">
                <a:ea typeface="楷体_GB2312" pitchFamily="49" charset="-122"/>
              </a:rPr>
              <a:t>Oligomycin</a:t>
            </a:r>
            <a:r>
              <a:rPr lang="en-US" altLang="zh-CN" sz="2800" b="1" dirty="0">
                <a:ea typeface="楷体_GB2312" pitchFamily="49" charset="-122"/>
              </a:rPr>
              <a:t>):</a:t>
            </a:r>
            <a:r>
              <a:rPr lang="zh-CN" altLang="en-US" sz="2800" b="1" dirty="0">
                <a:latin typeface="楷体_GB2312" pitchFamily="49" charset="-122"/>
                <a:ea typeface="楷体_GB2312" pitchFamily="49" charset="-122"/>
              </a:rPr>
              <a:t>与</a:t>
            </a:r>
            <a:r>
              <a:rPr lang="en-US" altLang="zh-CN" sz="2800" b="1" dirty="0">
                <a:latin typeface="楷体_GB2312" pitchFamily="49" charset="-122"/>
                <a:ea typeface="楷体_GB2312" pitchFamily="49" charset="-122"/>
              </a:rPr>
              <a:t>ATP</a:t>
            </a:r>
            <a:r>
              <a:rPr lang="zh-CN" altLang="en-US" sz="2800" b="1" dirty="0">
                <a:latin typeface="楷体_GB2312" pitchFamily="49" charset="-122"/>
                <a:ea typeface="楷体_GB2312" pitchFamily="49" charset="-122"/>
              </a:rPr>
              <a:t>合酶的</a:t>
            </a:r>
            <a:r>
              <a:rPr lang="en-US" altLang="zh-CN" sz="2800" b="1" dirty="0">
                <a:latin typeface="楷体_GB2312" pitchFamily="49" charset="-122"/>
                <a:ea typeface="楷体_GB2312" pitchFamily="49" charset="-122"/>
              </a:rPr>
              <a:t>F</a:t>
            </a:r>
            <a:r>
              <a:rPr lang="en-US" altLang="zh-CN" sz="2800" b="1" baseline="-25000" dirty="0">
                <a:latin typeface="楷体_GB2312" pitchFamily="49" charset="-122"/>
                <a:ea typeface="楷体_GB2312" pitchFamily="49" charset="-122"/>
              </a:rPr>
              <a:t>0</a:t>
            </a:r>
            <a:r>
              <a:rPr lang="zh-CN" altLang="en-US" sz="2800" b="1" dirty="0">
                <a:latin typeface="楷体_GB2312" pitchFamily="49" charset="-122"/>
                <a:ea typeface="楷体_GB2312" pitchFamily="49" charset="-122"/>
              </a:rPr>
              <a:t>部位结合，破坏</a:t>
            </a:r>
            <a:r>
              <a:rPr lang="en-US" altLang="en-US" sz="2800" b="1" dirty="0">
                <a:latin typeface="楷体_GB2312" pitchFamily="49" charset="-122"/>
                <a:ea typeface="楷体_GB2312" pitchFamily="49" charset="-122"/>
              </a:rPr>
              <a:t>H</a:t>
            </a:r>
            <a:r>
              <a:rPr lang="en-US" altLang="en-US" sz="2800" b="1" baseline="30000"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回流，影响呼吸链质子泵的功能，抑制电子传递。</a:t>
            </a:r>
          </a:p>
        </p:txBody>
      </p:sp>
    </p:spTree>
    <p:extLst>
      <p:ext uri="{BB962C8B-B14F-4D97-AF65-F5344CB8AC3E}">
        <p14:creationId xmlns:p14="http://schemas.microsoft.com/office/powerpoint/2010/main" val="54383411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2341" name="Picture 5">
            <a:extLst>
              <a:ext uri="{FF2B5EF4-FFF2-40B4-BE49-F238E27FC236}">
                <a16:creationId xmlns:a16="http://schemas.microsoft.com/office/drawing/2014/main" id="{DFF558A6-234D-4F7F-BE1D-CD4D8F59BF0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547688"/>
            <a:ext cx="8748713" cy="5761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750575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2">
            <a:extLst>
              <a:ext uri="{FF2B5EF4-FFF2-40B4-BE49-F238E27FC236}">
                <a16:creationId xmlns:a16="http://schemas.microsoft.com/office/drawing/2014/main" id="{E9DBE3DE-C1D2-4D69-9121-358D55D49AF3}"/>
              </a:ext>
            </a:extLst>
          </p:cNvPr>
          <p:cNvSpPr>
            <a:spLocks noChangeArrowheads="1"/>
          </p:cNvSpPr>
          <p:nvPr/>
        </p:nvSpPr>
        <p:spPr bwMode="auto">
          <a:xfrm>
            <a:off x="684213" y="333375"/>
            <a:ext cx="7991475" cy="5551488"/>
          </a:xfrm>
          <a:prstGeom prst="rect">
            <a:avLst/>
          </a:prstGeom>
          <a:solidFill>
            <a:schemeClr val="bg1"/>
          </a:solidFill>
          <a:ln w="9525">
            <a:noFill/>
            <a:miter lim="800000"/>
            <a:headEnd/>
            <a:tailEnd/>
          </a:ln>
          <a:effec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179388"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eaLnBrk="1" hangingPunct="1">
              <a:lnSpc>
                <a:spcPct val="120000"/>
              </a:lnSpc>
            </a:pPr>
            <a:r>
              <a:rPr lang="en-US" altLang="zh-CN" sz="3600" b="1" dirty="0">
                <a:solidFill>
                  <a:srgbClr val="CC0099"/>
                </a:solidFill>
                <a:effectLst>
                  <a:outerShdw blurRad="38100" dist="38100" dir="2700000" algn="tl">
                    <a:srgbClr val="C0C0C0"/>
                  </a:outerShdw>
                </a:effectLst>
                <a:latin typeface="楷体_GB2312" pitchFamily="49" charset="-122"/>
                <a:ea typeface="楷体_GB2312" pitchFamily="49" charset="-122"/>
              </a:rPr>
              <a:t>3</a:t>
            </a:r>
            <a:r>
              <a:rPr lang="zh-CN" altLang="en-US" sz="3600" b="1" dirty="0">
                <a:solidFill>
                  <a:srgbClr val="CC0099"/>
                </a:solidFill>
                <a:effectLst>
                  <a:outerShdw blurRad="38100" dist="38100" dir="2700000" algn="tl">
                    <a:srgbClr val="C0C0C0"/>
                  </a:outerShdw>
                </a:effectLst>
                <a:latin typeface="楷体_GB2312" pitchFamily="49" charset="-122"/>
                <a:ea typeface="楷体_GB2312" pitchFamily="49" charset="-122"/>
              </a:rPr>
              <a:t>、离子载体抑制剂</a:t>
            </a:r>
          </a:p>
          <a:p>
            <a:pPr lvl="1" eaLnBrk="1" hangingPunct="1">
              <a:lnSpc>
                <a:spcPct val="120000"/>
              </a:lnSpc>
            </a:pPr>
            <a:endParaRPr lang="zh-CN" altLang="en-US" sz="3600" b="1" dirty="0">
              <a:solidFill>
                <a:srgbClr val="CC0099"/>
              </a:solidFill>
              <a:effectLst>
                <a:outerShdw blurRad="38100" dist="38100" dir="2700000" algn="tl">
                  <a:srgbClr val="C0C0C0"/>
                </a:outerShdw>
              </a:effectLst>
              <a:latin typeface="楷体_GB2312" pitchFamily="49" charset="-122"/>
              <a:ea typeface="楷体_GB2312" pitchFamily="49" charset="-122"/>
            </a:endParaRPr>
          </a:p>
          <a:p>
            <a:pPr eaLnBrk="1" hangingPunct="1"/>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作用</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与离子形成脂溶性物质，对</a:t>
            </a:r>
            <a:r>
              <a:rPr lang="en-US" altLang="en-US" sz="2800" b="1" dirty="0">
                <a:latin typeface="楷体_GB2312" pitchFamily="49" charset="-122"/>
                <a:ea typeface="楷体_GB2312" pitchFamily="49" charset="-122"/>
              </a:rPr>
              <a:t>ADP</a:t>
            </a:r>
            <a:r>
              <a:rPr lang="zh-CN" altLang="en-US" sz="2800" b="1" dirty="0">
                <a:latin typeface="楷体_GB2312" pitchFamily="49" charset="-122"/>
                <a:ea typeface="楷体_GB2312" pitchFamily="49" charset="-122"/>
              </a:rPr>
              <a:t>的磷酸化有抑制。</a:t>
            </a:r>
          </a:p>
          <a:p>
            <a:pPr eaLnBrk="1" hangingPunct="1"/>
            <a:endParaRPr lang="zh-CN" altLang="en-US" sz="2800" b="1" dirty="0">
              <a:latin typeface="楷体_GB2312" pitchFamily="49" charset="-122"/>
              <a:ea typeface="楷体_GB2312" pitchFamily="49" charset="-122"/>
            </a:endParaRPr>
          </a:p>
          <a:p>
            <a:pPr eaLnBrk="1" hangingPunct="1">
              <a:lnSpc>
                <a:spcPct val="145000"/>
              </a:lnSpc>
              <a:spcBef>
                <a:spcPct val="45000"/>
              </a:spcBef>
            </a:pP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例</a:t>
            </a:r>
            <a:r>
              <a:rPr lang="en-US" altLang="zh-CN" sz="2800" b="1" dirty="0">
                <a:latin typeface="楷体_GB2312" pitchFamily="49" charset="-122"/>
                <a:ea typeface="楷体_GB2312" pitchFamily="49" charset="-122"/>
              </a:rPr>
              <a:t>]</a:t>
            </a:r>
            <a:r>
              <a:rPr lang="zh-CN" altLang="en-US" sz="2800" b="1" dirty="0">
                <a:ea typeface="楷体_GB2312" pitchFamily="49" charset="-122"/>
              </a:rPr>
              <a:t>缬氨霉素</a:t>
            </a:r>
            <a:r>
              <a:rPr lang="en-US" altLang="zh-CN" sz="2800" b="1" dirty="0">
                <a:ea typeface="楷体_GB2312" pitchFamily="49" charset="-122"/>
              </a:rPr>
              <a:t>(</a:t>
            </a:r>
            <a:r>
              <a:rPr lang="en-US" altLang="zh-CN" sz="2800" b="1" dirty="0" err="1">
                <a:ea typeface="楷体_GB2312" pitchFamily="49" charset="-122"/>
              </a:rPr>
              <a:t>Valinomycin</a:t>
            </a:r>
            <a:r>
              <a:rPr lang="en-US" altLang="zh-CN" sz="2800" b="1" dirty="0">
                <a:ea typeface="楷体_GB2312" pitchFamily="49" charset="-122"/>
              </a:rPr>
              <a:t>)</a:t>
            </a:r>
            <a:r>
              <a:rPr lang="zh-CN" altLang="en-US" sz="2800" b="1" dirty="0">
                <a:ea typeface="楷体_GB2312" pitchFamily="49" charset="-122"/>
              </a:rPr>
              <a:t>结合</a:t>
            </a:r>
            <a:r>
              <a:rPr lang="en-US" altLang="zh-CN" sz="2800" b="1" dirty="0">
                <a:ea typeface="楷体_GB2312" pitchFamily="49" charset="-122"/>
              </a:rPr>
              <a:t>K</a:t>
            </a:r>
            <a:r>
              <a:rPr lang="zh-CN" altLang="en-US" sz="2800" b="1" baseline="30000" dirty="0">
                <a:ea typeface="楷体_GB2312" pitchFamily="49" charset="-122"/>
              </a:rPr>
              <a:t>＋</a:t>
            </a:r>
            <a:r>
              <a:rPr lang="zh-CN" altLang="en-US" sz="2800" b="1" dirty="0">
                <a:ea typeface="楷体_GB2312" pitchFamily="49" charset="-122"/>
              </a:rPr>
              <a:t>，形成脂溶性复合物，于是</a:t>
            </a:r>
            <a:r>
              <a:rPr lang="en-US" altLang="zh-CN" b="1" dirty="0"/>
              <a:t>K</a:t>
            </a:r>
            <a:r>
              <a:rPr lang="zh-CN" altLang="en-US" b="1" baseline="30000" dirty="0"/>
              <a:t>＋</a:t>
            </a:r>
            <a:r>
              <a:rPr lang="zh-CN" altLang="en-US" sz="2800" b="1" dirty="0">
                <a:ea typeface="楷体_GB2312" pitchFamily="49" charset="-122"/>
              </a:rPr>
              <a:t>容易透过膜。</a:t>
            </a:r>
            <a:endParaRPr lang="en-US" altLang="zh-CN" sz="2800" b="1" dirty="0">
              <a:ea typeface="楷体_GB2312" pitchFamily="49" charset="-122"/>
            </a:endParaRPr>
          </a:p>
          <a:p>
            <a:pPr eaLnBrk="1" hangingPunct="1">
              <a:lnSpc>
                <a:spcPct val="145000"/>
              </a:lnSpc>
              <a:spcBef>
                <a:spcPct val="45000"/>
              </a:spcBef>
            </a:pPr>
            <a:r>
              <a:rPr lang="zh-CN" altLang="en-US" sz="2800" b="1" dirty="0">
                <a:ea typeface="楷体_GB2312" pitchFamily="49" charset="-122"/>
              </a:rPr>
              <a:t>    短杆菌肽结合</a:t>
            </a:r>
            <a:r>
              <a:rPr lang="en-US" altLang="zh-CN" sz="2800" b="1" dirty="0">
                <a:ea typeface="楷体_GB2312" pitchFamily="49" charset="-122"/>
              </a:rPr>
              <a:t>K</a:t>
            </a:r>
            <a:r>
              <a:rPr lang="zh-CN" altLang="en-US" sz="2800" b="1" baseline="30000" dirty="0">
                <a:ea typeface="楷体_GB2312" pitchFamily="49" charset="-122"/>
              </a:rPr>
              <a:t>＋ 、</a:t>
            </a:r>
            <a:r>
              <a:rPr lang="en-US" altLang="zh-CN" sz="2800" b="1" dirty="0">
                <a:ea typeface="楷体_GB2312" pitchFamily="49" charset="-122"/>
              </a:rPr>
              <a:t>Na</a:t>
            </a:r>
            <a:r>
              <a:rPr lang="zh-CN" altLang="en-US" sz="2800" b="1" baseline="30000" dirty="0">
                <a:ea typeface="楷体_GB2312" pitchFamily="49" charset="-122"/>
              </a:rPr>
              <a:t>＋</a:t>
            </a:r>
            <a:r>
              <a:rPr lang="zh-CN" altLang="en-US" sz="2800" b="1" dirty="0">
                <a:ea typeface="楷体_GB2312" pitchFamily="49" charset="-122"/>
              </a:rPr>
              <a:t>，  破坏了膜两侧的电位梯度。</a:t>
            </a:r>
            <a:r>
              <a:rPr lang="zh-CN" altLang="en-US" sz="2800" b="1" baseline="30000" dirty="0">
                <a:latin typeface="楷体_GB2312" pitchFamily="49" charset="-122"/>
                <a:ea typeface="楷体_GB2312" pitchFamily="49" charset="-122"/>
              </a:rPr>
              <a:t>   </a:t>
            </a:r>
          </a:p>
        </p:txBody>
      </p:sp>
    </p:spTree>
    <p:extLst>
      <p:ext uri="{BB962C8B-B14F-4D97-AF65-F5344CB8AC3E}">
        <p14:creationId xmlns:p14="http://schemas.microsoft.com/office/powerpoint/2010/main" val="23229816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2A8ECE89-6D90-47E4-A61A-32EC7503FAA8}"/>
              </a:ext>
            </a:extLst>
          </p:cNvPr>
          <p:cNvSpPr>
            <a:spLocks noGrp="1" noChangeArrowheads="1"/>
          </p:cNvSpPr>
          <p:nvPr>
            <p:ph type="title" idx="4294967295"/>
          </p:nvPr>
        </p:nvSpPr>
        <p:spPr>
          <a:xfrm>
            <a:off x="0" y="1562100"/>
            <a:ext cx="9144000" cy="2287588"/>
          </a:xfrm>
        </p:spPr>
        <p:txBody>
          <a:bodyPr/>
          <a:lstStyle/>
          <a:p>
            <a:pPr eaLnBrk="1" hangingPunct="1"/>
            <a:r>
              <a:rPr lang="en-US" altLang="zh-CN" sz="4800" b="1" dirty="0">
                <a:solidFill>
                  <a:srgbClr val="FF0000"/>
                </a:solidFill>
                <a:latin typeface="Times New Roman" pitchFamily="18" charset="0"/>
              </a:rPr>
              <a:t>12. ATP synthase was first identified by dissociation and reconstitution studies</a:t>
            </a:r>
          </a:p>
        </p:txBody>
      </p:sp>
    </p:spTree>
    <p:extLst>
      <p:ext uri="{BB962C8B-B14F-4D97-AF65-F5344CB8AC3E}">
        <p14:creationId xmlns:p14="http://schemas.microsoft.com/office/powerpoint/2010/main" val="11025359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6" name="Picture 2" descr="18-15a">
            <a:extLst>
              <a:ext uri="{FF2B5EF4-FFF2-40B4-BE49-F238E27FC236}">
                <a16:creationId xmlns:a16="http://schemas.microsoft.com/office/drawing/2014/main" id="{50CFA34A-D851-402C-B651-C163D327986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536416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7155" name="Rectangle 3">
            <a:extLst>
              <a:ext uri="{FF2B5EF4-FFF2-40B4-BE49-F238E27FC236}">
                <a16:creationId xmlns:a16="http://schemas.microsoft.com/office/drawing/2014/main" id="{3ED885C9-8636-421C-B9A3-C446C1B64186}"/>
              </a:ext>
            </a:extLst>
          </p:cNvPr>
          <p:cNvSpPr>
            <a:spLocks noChangeArrowheads="1"/>
          </p:cNvSpPr>
          <p:nvPr/>
        </p:nvSpPr>
        <p:spPr bwMode="auto">
          <a:xfrm>
            <a:off x="5562600" y="685800"/>
            <a:ext cx="3336925" cy="1477328"/>
          </a:xfrm>
          <a:prstGeom prst="rect">
            <a:avLst/>
          </a:prstGeom>
          <a:noFill/>
          <a:ln w="9525">
            <a:noFill/>
            <a:miter lim="800000"/>
            <a:headEnd/>
            <a:tailEnd/>
          </a:ln>
          <a:effectLst/>
        </p:spPr>
        <p:txBody>
          <a:bodyPr>
            <a:spAutoFit/>
          </a:bodyPr>
          <a:lstStyle/>
          <a:p>
            <a:pPr>
              <a:defRPr/>
            </a:pPr>
            <a:r>
              <a:rPr kumimoji="0" lang="en-US" altLang="zh-CN" dirty="0">
                <a:effectLst>
                  <a:outerShdw blurRad="38100" dist="38100" dir="2700000" algn="tl">
                    <a:srgbClr val="000000"/>
                  </a:outerShdw>
                </a:effectLst>
                <a:latin typeface="Times New Roman" pitchFamily="18" charset="0"/>
              </a:rPr>
              <a:t>Abundant knob-like protruding </a:t>
            </a:r>
          </a:p>
          <a:p>
            <a:pPr>
              <a:defRPr/>
            </a:pPr>
            <a:r>
              <a:rPr kumimoji="0" lang="en-US" altLang="zh-CN" dirty="0">
                <a:effectLst>
                  <a:outerShdw blurRad="38100" dist="38100" dir="2700000" algn="tl">
                    <a:srgbClr val="000000"/>
                  </a:outerShdw>
                </a:effectLst>
                <a:latin typeface="Times New Roman" pitchFamily="18" charset="0"/>
              </a:rPr>
              <a:t>structures were observed </a:t>
            </a:r>
          </a:p>
          <a:p>
            <a:pPr>
              <a:defRPr/>
            </a:pPr>
            <a:r>
              <a:rPr kumimoji="0" lang="en-US" altLang="zh-CN" dirty="0">
                <a:effectLst>
                  <a:outerShdw blurRad="38100" dist="38100" dir="2700000" algn="tl">
                    <a:srgbClr val="000000"/>
                  </a:outerShdw>
                </a:effectLst>
                <a:latin typeface="Times New Roman" pitchFamily="18" charset="0"/>
              </a:rPr>
              <a:t>on the matrix side of the inner </a:t>
            </a:r>
          </a:p>
          <a:p>
            <a:pPr>
              <a:defRPr/>
            </a:pPr>
            <a:r>
              <a:rPr kumimoji="0" lang="en-US" altLang="zh-CN" dirty="0">
                <a:effectLst>
                  <a:outerShdw blurRad="38100" dist="38100" dir="2700000" algn="tl">
                    <a:srgbClr val="000000"/>
                  </a:outerShdw>
                </a:effectLst>
                <a:latin typeface="Times New Roman" pitchFamily="18" charset="0"/>
              </a:rPr>
              <a:t>mitochondrial membrane </a:t>
            </a:r>
          </a:p>
          <a:p>
            <a:pPr>
              <a:defRPr/>
            </a:pPr>
            <a:r>
              <a:rPr kumimoji="0" lang="en-US" altLang="zh-CN" dirty="0">
                <a:effectLst>
                  <a:outerShdw blurRad="38100" dist="38100" dir="2700000" algn="tl">
                    <a:srgbClr val="000000"/>
                  </a:outerShdw>
                </a:effectLst>
                <a:latin typeface="Times New Roman" pitchFamily="18" charset="0"/>
              </a:rPr>
              <a:t>by EM (</a:t>
            </a:r>
            <a:r>
              <a:rPr kumimoji="0" lang="en-US" altLang="zh-CN" dirty="0" err="1">
                <a:effectLst>
                  <a:outerShdw blurRad="38100" dist="38100" dir="2700000" algn="tl">
                    <a:srgbClr val="000000"/>
                  </a:outerShdw>
                </a:effectLst>
                <a:latin typeface="Times New Roman" pitchFamily="18" charset="0"/>
              </a:rPr>
              <a:t>Racker</a:t>
            </a:r>
            <a:r>
              <a:rPr kumimoji="0" lang="en-US" altLang="zh-CN" dirty="0">
                <a:effectLst>
                  <a:outerShdw blurRad="38100" dist="38100" dir="2700000" algn="tl">
                    <a:srgbClr val="000000"/>
                  </a:outerShdw>
                </a:effectLst>
                <a:latin typeface="Times New Roman" pitchFamily="18" charset="0"/>
              </a:rPr>
              <a:t> in 1960).</a:t>
            </a:r>
          </a:p>
        </p:txBody>
      </p:sp>
    </p:spTree>
    <p:extLst>
      <p:ext uri="{BB962C8B-B14F-4D97-AF65-F5344CB8AC3E}">
        <p14:creationId xmlns:p14="http://schemas.microsoft.com/office/powerpoint/2010/main" val="179797343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10" name="Picture 2" descr="dissociation and reconstitution">
            <a:extLst>
              <a:ext uri="{FF2B5EF4-FFF2-40B4-BE49-F238E27FC236}">
                <a16:creationId xmlns:a16="http://schemas.microsoft.com/office/drawing/2014/main" id="{D5123F76-E546-4100-B3D1-11D979E9855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0"/>
            <a:ext cx="8915400" cy="686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3312847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8414A980-5677-4371-ACB5-EA6BB713E335}"/>
              </a:ext>
            </a:extLst>
          </p:cNvPr>
          <p:cNvSpPr>
            <a:spLocks noGrp="1" noChangeArrowheads="1"/>
          </p:cNvSpPr>
          <p:nvPr>
            <p:ph type="title" idx="4294967295"/>
          </p:nvPr>
        </p:nvSpPr>
        <p:spPr>
          <a:xfrm>
            <a:off x="969963" y="304800"/>
            <a:ext cx="8174037" cy="1216025"/>
          </a:xfrm>
        </p:spPr>
        <p:txBody>
          <a:bodyPr/>
          <a:lstStyle/>
          <a:p>
            <a:r>
              <a:rPr lang="zh-CN" altLang="en-US" sz="3200" dirty="0"/>
              <a:t>化学渗透学说的实验证据</a:t>
            </a:r>
            <a:r>
              <a:rPr lang="zh-CN" altLang="en-US" sz="1800" dirty="0"/>
              <a:t>（氧化磷酸化的重组实验）</a:t>
            </a:r>
          </a:p>
        </p:txBody>
      </p:sp>
      <p:pic>
        <p:nvPicPr>
          <p:cNvPr id="109572" name="Picture 4">
            <a:extLst>
              <a:ext uri="{FF2B5EF4-FFF2-40B4-BE49-F238E27FC236}">
                <a16:creationId xmlns:a16="http://schemas.microsoft.com/office/drawing/2014/main" id="{BA64C575-F474-4189-A945-EEF76565959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550" y="1844675"/>
            <a:ext cx="7200900" cy="2808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9575" name="Text Box 7">
            <a:extLst>
              <a:ext uri="{FF2B5EF4-FFF2-40B4-BE49-F238E27FC236}">
                <a16:creationId xmlns:a16="http://schemas.microsoft.com/office/drawing/2014/main" id="{03C531D5-BE72-4C08-8AC9-3465168FC8CC}"/>
              </a:ext>
            </a:extLst>
          </p:cNvPr>
          <p:cNvSpPr txBox="1">
            <a:spLocks noChangeArrowheads="1"/>
          </p:cNvSpPr>
          <p:nvPr/>
        </p:nvSpPr>
        <p:spPr bwMode="auto">
          <a:xfrm>
            <a:off x="3924300" y="4797425"/>
            <a:ext cx="2159000" cy="10541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ea typeface="宋体" panose="02010600030101010101" pitchFamily="2" charset="-122"/>
              </a:rPr>
              <a:t>破坏</a:t>
            </a:r>
            <a:r>
              <a:rPr lang="en-US" altLang="zh-CN" b="1">
                <a:ea typeface="宋体" panose="02010600030101010101" pitchFamily="2" charset="-122"/>
              </a:rPr>
              <a:t>F1 –F0 </a:t>
            </a:r>
            <a:r>
              <a:rPr lang="zh-CN" altLang="en-US" b="1">
                <a:ea typeface="宋体" panose="02010600030101010101" pitchFamily="2" charset="-122"/>
              </a:rPr>
              <a:t>因子</a:t>
            </a:r>
          </a:p>
          <a:p>
            <a:pPr>
              <a:spcBef>
                <a:spcPct val="50000"/>
              </a:spcBef>
            </a:pPr>
            <a:r>
              <a:rPr lang="zh-CN" altLang="en-US" b="1">
                <a:ea typeface="宋体" panose="02010600030101010101" pitchFamily="2" charset="-122"/>
              </a:rPr>
              <a:t>有电子传递作用；无</a:t>
            </a:r>
            <a:r>
              <a:rPr lang="en-US" altLang="zh-CN" b="1">
                <a:ea typeface="宋体" panose="02010600030101010101" pitchFamily="2" charset="-122"/>
              </a:rPr>
              <a:t>ATP</a:t>
            </a:r>
            <a:r>
              <a:rPr lang="zh-CN" altLang="en-US" b="1">
                <a:ea typeface="宋体" panose="02010600030101010101" pitchFamily="2" charset="-122"/>
              </a:rPr>
              <a:t>生成</a:t>
            </a:r>
          </a:p>
        </p:txBody>
      </p:sp>
      <p:sp>
        <p:nvSpPr>
          <p:cNvPr id="109576" name="Text Box 8">
            <a:extLst>
              <a:ext uri="{FF2B5EF4-FFF2-40B4-BE49-F238E27FC236}">
                <a16:creationId xmlns:a16="http://schemas.microsoft.com/office/drawing/2014/main" id="{49AA506E-BD0D-498D-B2BA-E521F9770911}"/>
              </a:ext>
            </a:extLst>
          </p:cNvPr>
          <p:cNvSpPr txBox="1">
            <a:spLocks noChangeArrowheads="1"/>
          </p:cNvSpPr>
          <p:nvPr/>
        </p:nvSpPr>
        <p:spPr bwMode="auto">
          <a:xfrm>
            <a:off x="6372225" y="4797425"/>
            <a:ext cx="2089150" cy="10541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ea typeface="宋体" panose="02010600030101010101" pitchFamily="2" charset="-122"/>
              </a:rPr>
              <a:t>F1-F0</a:t>
            </a:r>
            <a:r>
              <a:rPr lang="zh-CN" altLang="en-US" b="1">
                <a:ea typeface="宋体" panose="02010600030101010101" pitchFamily="2" charset="-122"/>
              </a:rPr>
              <a:t>重组</a:t>
            </a:r>
          </a:p>
          <a:p>
            <a:pPr>
              <a:spcBef>
                <a:spcPct val="50000"/>
              </a:spcBef>
            </a:pPr>
            <a:r>
              <a:rPr lang="zh-CN" altLang="en-US" b="1">
                <a:ea typeface="宋体" panose="02010600030101010101" pitchFamily="2" charset="-122"/>
              </a:rPr>
              <a:t>电子传递与氧化磷酸化偶联</a:t>
            </a:r>
          </a:p>
        </p:txBody>
      </p:sp>
    </p:spTree>
    <p:extLst>
      <p:ext uri="{BB962C8B-B14F-4D97-AF65-F5344CB8AC3E}">
        <p14:creationId xmlns:p14="http://schemas.microsoft.com/office/powerpoint/2010/main" val="48685222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6" name="Rectangle 6">
            <a:extLst>
              <a:ext uri="{FF2B5EF4-FFF2-40B4-BE49-F238E27FC236}">
                <a16:creationId xmlns:a16="http://schemas.microsoft.com/office/drawing/2014/main" id="{221FF483-FB1D-4B32-B096-D9E9E3877008}"/>
              </a:ext>
            </a:extLst>
          </p:cNvPr>
          <p:cNvSpPr>
            <a:spLocks noChangeArrowheads="1"/>
          </p:cNvSpPr>
          <p:nvPr/>
        </p:nvSpPr>
        <p:spPr bwMode="auto">
          <a:xfrm>
            <a:off x="467544" y="104775"/>
            <a:ext cx="7109575" cy="1200329"/>
          </a:xfrm>
          <a:prstGeom prst="rect">
            <a:avLst/>
          </a:prstGeom>
          <a:noFill/>
          <a:ln w="9525">
            <a:noFill/>
            <a:miter lim="800000"/>
            <a:headEnd/>
            <a:tailEnd/>
          </a:ln>
          <a:effectLst/>
        </p:spPr>
        <p:txBody>
          <a:bodyPr wrap="none">
            <a:spAutoFit/>
          </a:bodyPr>
          <a:lstStyle/>
          <a:p>
            <a:pPr>
              <a:defRPr/>
            </a:pPr>
            <a:r>
              <a:rPr kumimoji="0" lang="en-US" altLang="zh-CN" sz="3600" b="1" dirty="0">
                <a:solidFill>
                  <a:srgbClr val="FF0000"/>
                </a:solidFill>
                <a:effectLst>
                  <a:outerShdw blurRad="38100" dist="38100" dir="2700000" algn="tl">
                    <a:srgbClr val="000000"/>
                  </a:outerShdw>
                </a:effectLst>
                <a:latin typeface="Times New Roman" pitchFamily="18" charset="0"/>
              </a:rPr>
              <a:t>ATP synthase comprises a proton </a:t>
            </a:r>
          </a:p>
          <a:p>
            <a:pPr>
              <a:defRPr/>
            </a:pPr>
            <a:r>
              <a:rPr kumimoji="0" lang="en-US" altLang="zh-CN" sz="3600" b="1" dirty="0">
                <a:solidFill>
                  <a:srgbClr val="FF0000"/>
                </a:solidFill>
                <a:effectLst>
                  <a:outerShdw blurRad="38100" dist="38100" dir="2700000" algn="tl">
                    <a:srgbClr val="000000"/>
                  </a:outerShdw>
                </a:effectLst>
                <a:latin typeface="Times New Roman" pitchFamily="18" charset="0"/>
              </a:rPr>
              <a:t>channel (</a:t>
            </a:r>
            <a:r>
              <a:rPr kumimoji="0" lang="en-US" altLang="zh-CN" sz="3600" b="1" dirty="0" err="1">
                <a:solidFill>
                  <a:srgbClr val="FF0000"/>
                </a:solidFill>
                <a:effectLst>
                  <a:outerShdw blurRad="38100" dist="38100" dir="2700000" algn="tl">
                    <a:srgbClr val="000000"/>
                  </a:outerShdw>
                </a:effectLst>
                <a:latin typeface="Times New Roman" pitchFamily="18" charset="0"/>
              </a:rPr>
              <a:t>F</a:t>
            </a:r>
            <a:r>
              <a:rPr kumimoji="0" lang="en-US" altLang="zh-CN" sz="3600" b="1" baseline="-25000" dirty="0" err="1">
                <a:solidFill>
                  <a:srgbClr val="FF0000"/>
                </a:solidFill>
                <a:effectLst>
                  <a:outerShdw blurRad="38100" dist="38100" dir="2700000" algn="tl">
                    <a:srgbClr val="000000"/>
                  </a:outerShdw>
                </a:effectLst>
                <a:latin typeface="Times New Roman" pitchFamily="18" charset="0"/>
              </a:rPr>
              <a:t>o</a:t>
            </a:r>
            <a:r>
              <a:rPr kumimoji="0" lang="en-US" altLang="zh-CN" sz="3600" b="1" dirty="0">
                <a:solidFill>
                  <a:srgbClr val="FF0000"/>
                </a:solidFill>
                <a:effectLst>
                  <a:outerShdw blurRad="38100" dist="38100" dir="2700000" algn="tl">
                    <a:srgbClr val="000000"/>
                  </a:outerShdw>
                </a:effectLst>
                <a:latin typeface="Times New Roman" pitchFamily="18" charset="0"/>
              </a:rPr>
              <a:t>) and an ATPase (F</a:t>
            </a:r>
            <a:r>
              <a:rPr kumimoji="0" lang="en-US" altLang="zh-CN" sz="3600" b="1" baseline="-25000" dirty="0">
                <a:solidFill>
                  <a:srgbClr val="FF0000"/>
                </a:solidFill>
                <a:effectLst>
                  <a:outerShdw blurRad="38100" dist="38100" dir="2700000" algn="tl">
                    <a:srgbClr val="000000"/>
                  </a:outerShdw>
                </a:effectLst>
                <a:latin typeface="Times New Roman" pitchFamily="18" charset="0"/>
              </a:rPr>
              <a:t>1</a:t>
            </a:r>
            <a:r>
              <a:rPr kumimoji="0" lang="en-US" altLang="zh-CN" sz="3600" b="1" dirty="0">
                <a:solidFill>
                  <a:srgbClr val="FF0000"/>
                </a:solidFill>
                <a:effectLst>
                  <a:outerShdw blurRad="38100" dist="38100" dir="2700000" algn="tl">
                    <a:srgbClr val="000000"/>
                  </a:outerShdw>
                </a:effectLst>
                <a:latin typeface="Times New Roman" pitchFamily="18" charset="0"/>
              </a:rPr>
              <a:t>)</a:t>
            </a:r>
          </a:p>
        </p:txBody>
      </p:sp>
      <p:sp>
        <p:nvSpPr>
          <p:cNvPr id="307207" name="Rectangle 7">
            <a:extLst>
              <a:ext uri="{FF2B5EF4-FFF2-40B4-BE49-F238E27FC236}">
                <a16:creationId xmlns:a16="http://schemas.microsoft.com/office/drawing/2014/main" id="{DA77431B-71EE-4CD7-A8C3-6E4BC1B2E040}"/>
              </a:ext>
            </a:extLst>
          </p:cNvPr>
          <p:cNvSpPr>
            <a:spLocks noChangeArrowheads="1"/>
          </p:cNvSpPr>
          <p:nvPr/>
        </p:nvSpPr>
        <p:spPr bwMode="auto">
          <a:xfrm>
            <a:off x="323850" y="2192338"/>
            <a:ext cx="2436813" cy="641350"/>
          </a:xfrm>
          <a:prstGeom prst="rect">
            <a:avLst/>
          </a:prstGeom>
          <a:noFill/>
          <a:ln w="9525">
            <a:noFill/>
            <a:miter lim="800000"/>
            <a:headEnd/>
            <a:tailEnd/>
          </a:ln>
          <a:effectLst/>
        </p:spPr>
        <p:txBody>
          <a:bodyPr wrap="none">
            <a:spAutoFit/>
          </a:bodyPr>
          <a:lstStyle/>
          <a:p>
            <a:pPr>
              <a:defRPr/>
            </a:pPr>
            <a:r>
              <a:rPr kumimoji="0" lang="en-US" altLang="zh-CN" sz="3600" b="1" dirty="0">
                <a:solidFill>
                  <a:srgbClr val="FF0000"/>
                </a:solidFill>
                <a:effectLst>
                  <a:outerShdw blurRad="38100" dist="38100" dir="2700000" algn="tl">
                    <a:srgbClr val="000000"/>
                  </a:outerShdw>
                </a:effectLst>
                <a:latin typeface="Times New Roman" pitchFamily="18" charset="0"/>
              </a:rPr>
              <a:t>F</a:t>
            </a:r>
            <a:r>
              <a:rPr kumimoji="0" lang="en-US" altLang="zh-CN" sz="3600" b="1" baseline="-25000" dirty="0">
                <a:solidFill>
                  <a:srgbClr val="FF0000"/>
                </a:solidFill>
                <a:effectLst>
                  <a:outerShdw blurRad="38100" dist="38100" dir="2700000" algn="tl">
                    <a:srgbClr val="000000"/>
                  </a:outerShdw>
                </a:effectLst>
                <a:latin typeface="Times New Roman" pitchFamily="18" charset="0"/>
              </a:rPr>
              <a:t>1</a:t>
            </a:r>
            <a:r>
              <a:rPr kumimoji="0" lang="en-US" altLang="zh-CN" sz="3600" b="1" dirty="0">
                <a:solidFill>
                  <a:srgbClr val="FF0000"/>
                </a:solidFill>
                <a:effectLst>
                  <a:outerShdw blurRad="38100" dist="38100" dir="2700000" algn="tl">
                    <a:srgbClr val="000000"/>
                  </a:outerShdw>
                </a:effectLst>
                <a:latin typeface="Times New Roman" pitchFamily="18" charset="0"/>
              </a:rPr>
              <a:t>: </a:t>
            </a:r>
            <a:r>
              <a:rPr kumimoji="0" lang="en-US" altLang="zh-CN" sz="3600" b="1" dirty="0">
                <a:solidFill>
                  <a:srgbClr val="FF0000"/>
                </a:solidFill>
                <a:effectLst>
                  <a:outerShdw blurRad="38100" dist="38100" dir="2700000" algn="tl">
                    <a:srgbClr val="000000"/>
                  </a:outerShdw>
                </a:effectLst>
                <a:latin typeface="Symbol" pitchFamily="18" charset="2"/>
              </a:rPr>
              <a:t>a</a:t>
            </a:r>
            <a:r>
              <a:rPr kumimoji="0" lang="en-US" altLang="zh-CN" sz="3600" b="1" baseline="-25000" dirty="0">
                <a:solidFill>
                  <a:srgbClr val="FF0000"/>
                </a:solidFill>
                <a:effectLst>
                  <a:outerShdw blurRad="38100" dist="38100" dir="2700000" algn="tl">
                    <a:srgbClr val="000000"/>
                  </a:outerShdw>
                </a:effectLst>
                <a:latin typeface="Symbol" pitchFamily="18" charset="2"/>
              </a:rPr>
              <a:t>3</a:t>
            </a:r>
            <a:r>
              <a:rPr kumimoji="0" lang="en-US" altLang="zh-CN" sz="3600" b="1" dirty="0">
                <a:solidFill>
                  <a:srgbClr val="FF0000"/>
                </a:solidFill>
                <a:effectLst>
                  <a:outerShdw blurRad="38100" dist="38100" dir="2700000" algn="tl">
                    <a:srgbClr val="000000"/>
                  </a:outerShdw>
                </a:effectLst>
                <a:latin typeface="Symbol" pitchFamily="18" charset="2"/>
              </a:rPr>
              <a:t>b</a:t>
            </a:r>
            <a:r>
              <a:rPr kumimoji="0" lang="en-US" altLang="zh-CN" sz="3600" b="1" baseline="-25000" dirty="0">
                <a:solidFill>
                  <a:srgbClr val="FF0000"/>
                </a:solidFill>
                <a:effectLst>
                  <a:outerShdw blurRad="38100" dist="38100" dir="2700000" algn="tl">
                    <a:srgbClr val="000000"/>
                  </a:outerShdw>
                </a:effectLst>
                <a:latin typeface="Symbol" pitchFamily="18" charset="2"/>
              </a:rPr>
              <a:t>3</a:t>
            </a:r>
            <a:r>
              <a:rPr kumimoji="0" lang="en-US" altLang="zh-CN" sz="3600" b="1" dirty="0">
                <a:solidFill>
                  <a:srgbClr val="FF0000"/>
                </a:solidFill>
                <a:effectLst>
                  <a:outerShdw blurRad="38100" dist="38100" dir="2700000" algn="tl">
                    <a:srgbClr val="000000"/>
                  </a:outerShdw>
                </a:effectLst>
                <a:latin typeface="Symbol" pitchFamily="18" charset="2"/>
              </a:rPr>
              <a:t>gde</a:t>
            </a:r>
            <a:r>
              <a:rPr kumimoji="0" lang="en-US" altLang="zh-CN" sz="1800" b="1" dirty="0">
                <a:solidFill>
                  <a:srgbClr val="FF0000"/>
                </a:solidFill>
                <a:effectLst>
                  <a:outerShdw blurRad="38100" dist="38100" dir="2700000" algn="tl">
                    <a:srgbClr val="000000"/>
                  </a:outerShdw>
                </a:effectLst>
                <a:latin typeface="Times New Roman" pitchFamily="18" charset="0"/>
              </a:rPr>
              <a:t>.</a:t>
            </a:r>
          </a:p>
        </p:txBody>
      </p:sp>
      <p:sp>
        <p:nvSpPr>
          <p:cNvPr id="307208" name="Rectangle 8">
            <a:extLst>
              <a:ext uri="{FF2B5EF4-FFF2-40B4-BE49-F238E27FC236}">
                <a16:creationId xmlns:a16="http://schemas.microsoft.com/office/drawing/2014/main" id="{044FB32C-D750-4D82-8575-BE063B4993EF}"/>
              </a:ext>
            </a:extLst>
          </p:cNvPr>
          <p:cNvSpPr>
            <a:spLocks noChangeArrowheads="1"/>
          </p:cNvSpPr>
          <p:nvPr/>
        </p:nvSpPr>
        <p:spPr bwMode="auto">
          <a:xfrm>
            <a:off x="304280" y="4509120"/>
            <a:ext cx="2428870" cy="590931"/>
          </a:xfrm>
          <a:prstGeom prst="rect">
            <a:avLst/>
          </a:prstGeom>
          <a:noFill/>
          <a:ln w="9525">
            <a:noFill/>
            <a:miter lim="800000"/>
            <a:headEnd/>
            <a:tailEnd/>
          </a:ln>
          <a:effectLst/>
        </p:spPr>
        <p:txBody>
          <a:bodyPr wrap="none">
            <a:spAutoFit/>
          </a:bodyPr>
          <a:lstStyle/>
          <a:p>
            <a:pPr>
              <a:lnSpc>
                <a:spcPct val="90000"/>
              </a:lnSpc>
              <a:spcBef>
                <a:spcPct val="20000"/>
              </a:spcBef>
              <a:buClr>
                <a:schemeClr val="hlink"/>
              </a:buClr>
              <a:buFont typeface="Wingdings" pitchFamily="2" charset="2"/>
              <a:buNone/>
              <a:defRPr/>
            </a:pPr>
            <a:r>
              <a:rPr kumimoji="0" lang="en-US" altLang="zh-CN" sz="3600" b="1" dirty="0" err="1">
                <a:solidFill>
                  <a:srgbClr val="FF0000"/>
                </a:solidFill>
                <a:effectLst>
                  <a:outerShdw blurRad="38100" dist="38100" dir="2700000" algn="tl">
                    <a:srgbClr val="000000"/>
                  </a:outerShdw>
                </a:effectLst>
                <a:latin typeface="Times New Roman" pitchFamily="18" charset="0"/>
              </a:rPr>
              <a:t>F</a:t>
            </a:r>
            <a:r>
              <a:rPr kumimoji="0" lang="en-US" altLang="zh-CN" sz="3600" b="1" baseline="-25000" dirty="0" err="1">
                <a:solidFill>
                  <a:srgbClr val="FF0000"/>
                </a:solidFill>
                <a:effectLst>
                  <a:outerShdw blurRad="38100" dist="38100" dir="2700000" algn="tl">
                    <a:srgbClr val="000000"/>
                  </a:outerShdw>
                </a:effectLst>
                <a:latin typeface="Times New Roman" pitchFamily="18" charset="0"/>
              </a:rPr>
              <a:t>o</a:t>
            </a:r>
            <a:r>
              <a:rPr kumimoji="0" lang="en-US" altLang="zh-CN" sz="3600" b="1" dirty="0">
                <a:solidFill>
                  <a:srgbClr val="FF0000"/>
                </a:solidFill>
                <a:effectLst>
                  <a:outerShdw blurRad="38100" dist="38100" dir="2700000" algn="tl">
                    <a:srgbClr val="000000"/>
                  </a:outerShdw>
                </a:effectLst>
                <a:latin typeface="Times New Roman" pitchFamily="18" charset="0"/>
              </a:rPr>
              <a:t>: </a:t>
            </a:r>
            <a:r>
              <a:rPr kumimoji="0" lang="en-US" altLang="zh-CN" sz="3600" b="1" i="1" dirty="0">
                <a:solidFill>
                  <a:srgbClr val="FF0000"/>
                </a:solidFill>
                <a:effectLst>
                  <a:outerShdw blurRad="38100" dist="38100" dir="2700000" algn="tl">
                    <a:srgbClr val="000000"/>
                  </a:outerShdw>
                </a:effectLst>
                <a:latin typeface="Times New Roman" pitchFamily="18" charset="0"/>
              </a:rPr>
              <a:t>ab</a:t>
            </a:r>
            <a:r>
              <a:rPr kumimoji="0" lang="en-US" altLang="zh-CN" sz="3600" b="1" baseline="-25000" dirty="0">
                <a:solidFill>
                  <a:srgbClr val="FF0000"/>
                </a:solidFill>
                <a:effectLst>
                  <a:outerShdw blurRad="38100" dist="38100" dir="2700000" algn="tl">
                    <a:srgbClr val="000000"/>
                  </a:outerShdw>
                </a:effectLst>
                <a:latin typeface="Times New Roman" pitchFamily="18" charset="0"/>
              </a:rPr>
              <a:t>2</a:t>
            </a:r>
            <a:r>
              <a:rPr kumimoji="0" lang="en-US" altLang="zh-CN" sz="3600" b="1" i="1" dirty="0">
                <a:solidFill>
                  <a:srgbClr val="FF0000"/>
                </a:solidFill>
                <a:effectLst>
                  <a:outerShdw blurRad="38100" dist="38100" dir="2700000" algn="tl">
                    <a:srgbClr val="000000"/>
                  </a:outerShdw>
                </a:effectLst>
                <a:latin typeface="Times New Roman" pitchFamily="18" charset="0"/>
              </a:rPr>
              <a:t>c</a:t>
            </a:r>
            <a:r>
              <a:rPr kumimoji="0" lang="en-US" altLang="zh-CN" sz="3600" b="1" baseline="-25000" dirty="0">
                <a:solidFill>
                  <a:srgbClr val="FF0000"/>
                </a:solidFill>
                <a:effectLst>
                  <a:outerShdw blurRad="38100" dist="38100" dir="2700000" algn="tl">
                    <a:srgbClr val="000000"/>
                  </a:outerShdw>
                </a:effectLst>
                <a:latin typeface="Times New Roman" pitchFamily="18" charset="0"/>
              </a:rPr>
              <a:t>10-12</a:t>
            </a:r>
            <a:endParaRPr kumimoji="0" lang="en-US" altLang="zh-CN" sz="3600" b="1" dirty="0">
              <a:solidFill>
                <a:srgbClr val="FF0000"/>
              </a:solidFill>
              <a:effectLst>
                <a:outerShdw blurRad="38100" dist="38100" dir="2700000" algn="tl">
                  <a:srgbClr val="000000"/>
                </a:outerShdw>
              </a:effectLst>
              <a:latin typeface="Times New Roman" pitchFamily="18" charset="0"/>
            </a:endParaRPr>
          </a:p>
        </p:txBody>
      </p:sp>
      <p:pic>
        <p:nvPicPr>
          <p:cNvPr id="95237" name="Picture 9">
            <a:extLst>
              <a:ext uri="{FF2B5EF4-FFF2-40B4-BE49-F238E27FC236}">
                <a16:creationId xmlns:a16="http://schemas.microsoft.com/office/drawing/2014/main" id="{887C8440-B754-47F1-8E19-08DEAAC7683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71800" y="1295400"/>
            <a:ext cx="50927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AB8C4868-9DD3-AF3E-ADDC-8EEED0704E79}"/>
              </a:ext>
            </a:extLst>
          </p:cNvPr>
          <p:cNvSpPr txBox="1"/>
          <p:nvPr/>
        </p:nvSpPr>
        <p:spPr>
          <a:xfrm>
            <a:off x="295439" y="5565237"/>
            <a:ext cx="4572000" cy="646331"/>
          </a:xfrm>
          <a:prstGeom prst="rect">
            <a:avLst/>
          </a:prstGeom>
          <a:noFill/>
        </p:spPr>
        <p:txBody>
          <a:bodyPr wrap="square">
            <a:spAutoFit/>
          </a:bodyPr>
          <a:lstStyle/>
          <a:p>
            <a:r>
              <a:rPr lang="pt-BR" altLang="zh-CN" sz="1800" b="0" i="0" dirty="0">
                <a:solidFill>
                  <a:srgbClr val="FF0000"/>
                </a:solidFill>
                <a:effectLst/>
                <a:latin typeface="TimesNewRomanPSMT"/>
              </a:rPr>
              <a:t>Fo (</a:t>
            </a:r>
            <a:r>
              <a:rPr lang="pt-BR" altLang="zh-CN" sz="1800" b="0" i="1" dirty="0">
                <a:solidFill>
                  <a:srgbClr val="FF0000"/>
                </a:solidFill>
                <a:effectLst/>
                <a:latin typeface="TimesNewRomanPS-ItalicMT"/>
              </a:rPr>
              <a:t>o </a:t>
            </a:r>
            <a:r>
              <a:rPr lang="pt-BR" altLang="zh-CN" sz="1800" b="0" i="0" dirty="0">
                <a:solidFill>
                  <a:srgbClr val="FF0000"/>
                </a:solidFill>
                <a:effectLst/>
                <a:latin typeface="TimesNewRomanPSMT"/>
              </a:rPr>
              <a:t>denoting oligomycin-sensitive)</a:t>
            </a:r>
            <a:r>
              <a:rPr lang="pt-BR" altLang="zh-CN" dirty="0">
                <a:solidFill>
                  <a:srgbClr val="FF0000"/>
                </a:solidFill>
              </a:rPr>
              <a:t> </a:t>
            </a:r>
            <a:br>
              <a:rPr lang="pt-BR" altLang="zh-CN" dirty="0">
                <a:solidFill>
                  <a:srgbClr val="FF0000"/>
                </a:solidFill>
              </a:rPr>
            </a:br>
            <a:endParaRPr lang="zh-CN" altLang="en-US" dirty="0">
              <a:solidFill>
                <a:srgbClr val="FF0000"/>
              </a:solidFill>
            </a:endParaRPr>
          </a:p>
        </p:txBody>
      </p:sp>
    </p:spTree>
    <p:extLst>
      <p:ext uri="{BB962C8B-B14F-4D97-AF65-F5344CB8AC3E}">
        <p14:creationId xmlns:p14="http://schemas.microsoft.com/office/powerpoint/2010/main" val="159349268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3680E1C4-7D29-46A4-863A-A789CAFAA429}"/>
              </a:ext>
            </a:extLst>
          </p:cNvPr>
          <p:cNvPicPr>
            <a:picLocks noChangeAspect="1"/>
          </p:cNvPicPr>
          <p:nvPr/>
        </p:nvPicPr>
        <p:blipFill>
          <a:blip r:embed="rId2" cstate="print"/>
          <a:stretch>
            <a:fillRect/>
          </a:stretch>
        </p:blipFill>
        <p:spPr>
          <a:xfrm>
            <a:off x="0" y="82296"/>
            <a:ext cx="9144000" cy="6693408"/>
          </a:xfrm>
          <a:prstGeom prst="rect">
            <a:avLst/>
          </a:prstGeom>
        </p:spPr>
      </p:pic>
    </p:spTree>
    <p:extLst>
      <p:ext uri="{BB962C8B-B14F-4D97-AF65-F5344CB8AC3E}">
        <p14:creationId xmlns:p14="http://schemas.microsoft.com/office/powerpoint/2010/main" val="348859503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A9D527F4-8C55-4F9E-BAB7-0D91077218CE}"/>
              </a:ext>
            </a:extLst>
          </p:cNvPr>
          <p:cNvSpPr>
            <a:spLocks noGrp="1" noChangeArrowheads="1"/>
          </p:cNvSpPr>
          <p:nvPr>
            <p:ph type="title" idx="4294967295"/>
          </p:nvPr>
        </p:nvSpPr>
        <p:spPr>
          <a:xfrm>
            <a:off x="0" y="1143000"/>
            <a:ext cx="9144000" cy="3019425"/>
          </a:xfrm>
        </p:spPr>
        <p:txBody>
          <a:bodyPr/>
          <a:lstStyle/>
          <a:p>
            <a:pPr eaLnBrk="1" hangingPunct="1"/>
            <a:r>
              <a:rPr lang="en-US" altLang="zh-CN" sz="4800" b="1" dirty="0">
                <a:solidFill>
                  <a:srgbClr val="FF0000"/>
                </a:solidFill>
                <a:latin typeface="Times New Roman" pitchFamily="18" charset="0"/>
              </a:rPr>
              <a:t>13.  Electrons in NADH generated in cytosol is shuttled into mitochondria to enter the respiratory chain</a:t>
            </a:r>
            <a:r>
              <a:rPr lang="en-US" altLang="zh-CN" dirty="0">
                <a:solidFill>
                  <a:srgbClr val="FF0000"/>
                </a:solidFill>
              </a:rPr>
              <a:t> </a:t>
            </a:r>
          </a:p>
        </p:txBody>
      </p:sp>
    </p:spTree>
    <p:extLst>
      <p:ext uri="{BB962C8B-B14F-4D97-AF65-F5344CB8AC3E}">
        <p14:creationId xmlns:p14="http://schemas.microsoft.com/office/powerpoint/2010/main" val="178502911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30" name="Picture 2" descr="glycerol shuttle">
            <a:extLst>
              <a:ext uri="{FF2B5EF4-FFF2-40B4-BE49-F238E27FC236}">
                <a16:creationId xmlns:a16="http://schemas.microsoft.com/office/drawing/2014/main" id="{20820A72-9140-42D1-8A0A-1755443AC6D6}"/>
              </a:ext>
            </a:extLst>
          </p:cNvPr>
          <p:cNvPicPr>
            <a:picLocks noChangeAspect="1" noChangeArrowheads="1"/>
          </p:cNvPicPr>
          <p:nvPr/>
        </p:nvPicPr>
        <p:blipFill>
          <a:blip r:embed="rId3" cstate="print">
            <a:lum contrast="24000"/>
            <a:extLst>
              <a:ext uri="{28A0092B-C50C-407E-A947-70E740481C1C}">
                <a14:useLocalDpi xmlns:a14="http://schemas.microsoft.com/office/drawing/2010/main" val="0"/>
              </a:ext>
            </a:extLst>
          </a:blip>
          <a:srcRect l="7477" t="5554" r="4672" b="8360"/>
          <a:stretch>
            <a:fillRect/>
          </a:stretch>
        </p:blipFill>
        <p:spPr bwMode="auto">
          <a:xfrm>
            <a:off x="381000" y="457200"/>
            <a:ext cx="8382000" cy="552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2116476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4" name="Picture 2" descr="f19-27">
            <a:extLst>
              <a:ext uri="{FF2B5EF4-FFF2-40B4-BE49-F238E27FC236}">
                <a16:creationId xmlns:a16="http://schemas.microsoft.com/office/drawing/2014/main" id="{497AA8E7-9DC4-4A0C-925F-BED451A7BAE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666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5" name="Rectangle 4">
            <a:extLst>
              <a:ext uri="{FF2B5EF4-FFF2-40B4-BE49-F238E27FC236}">
                <a16:creationId xmlns:a16="http://schemas.microsoft.com/office/drawing/2014/main" id="{3B4807F7-7DF9-4A5C-8D99-F9793F5A33AA}"/>
              </a:ext>
            </a:extLst>
          </p:cNvPr>
          <p:cNvSpPr>
            <a:spLocks noChangeArrowheads="1"/>
          </p:cNvSpPr>
          <p:nvPr/>
        </p:nvSpPr>
        <p:spPr bwMode="auto">
          <a:xfrm>
            <a:off x="0" y="0"/>
            <a:ext cx="3489994" cy="954107"/>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chemeClr val="bg1"/>
                </a:solidFill>
              </a:rPr>
              <a:t>Glycerol-3-phosphate</a:t>
            </a:r>
          </a:p>
          <a:p>
            <a:pPr eaLnBrk="1" hangingPunct="1"/>
            <a:r>
              <a:rPr lang="en-US" altLang="zh-CN" sz="2800" b="1" dirty="0">
                <a:solidFill>
                  <a:schemeClr val="bg1"/>
                </a:solidFill>
              </a:rPr>
              <a:t>shuttle system</a:t>
            </a:r>
          </a:p>
        </p:txBody>
      </p:sp>
    </p:spTree>
    <p:extLst>
      <p:ext uri="{BB962C8B-B14F-4D97-AF65-F5344CB8AC3E}">
        <p14:creationId xmlns:p14="http://schemas.microsoft.com/office/powerpoint/2010/main" val="269568599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78" name="Picture 2" descr="f19-26">
            <a:extLst>
              <a:ext uri="{FF2B5EF4-FFF2-40B4-BE49-F238E27FC236}">
                <a16:creationId xmlns:a16="http://schemas.microsoft.com/office/drawing/2014/main" id="{8F553BE7-22D7-4545-B1D5-0AF2C2C3116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379" name="Rectangle 4">
            <a:extLst>
              <a:ext uri="{FF2B5EF4-FFF2-40B4-BE49-F238E27FC236}">
                <a16:creationId xmlns:a16="http://schemas.microsoft.com/office/drawing/2014/main" id="{F231A7B3-5171-4298-9D58-482A7FF1275E}"/>
              </a:ext>
            </a:extLst>
          </p:cNvPr>
          <p:cNvSpPr>
            <a:spLocks noChangeArrowheads="1"/>
          </p:cNvSpPr>
          <p:nvPr/>
        </p:nvSpPr>
        <p:spPr bwMode="auto">
          <a:xfrm>
            <a:off x="6596063" y="5911850"/>
            <a:ext cx="254793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err="1">
                <a:solidFill>
                  <a:schemeClr val="bg1"/>
                </a:solidFill>
              </a:rPr>
              <a:t>Malate-aspartate</a:t>
            </a:r>
            <a:endParaRPr lang="en-US" altLang="zh-CN" sz="2800" dirty="0">
              <a:solidFill>
                <a:schemeClr val="bg1"/>
              </a:solidFill>
            </a:endParaRPr>
          </a:p>
          <a:p>
            <a:pPr eaLnBrk="1" hangingPunct="1"/>
            <a:r>
              <a:rPr lang="en-US" altLang="zh-CN" sz="2800" dirty="0">
                <a:solidFill>
                  <a:schemeClr val="bg1"/>
                </a:solidFill>
              </a:rPr>
              <a:t>shuttle system</a:t>
            </a:r>
          </a:p>
        </p:txBody>
      </p:sp>
      <p:sp>
        <p:nvSpPr>
          <p:cNvPr id="101380" name="Rectangle 5">
            <a:extLst>
              <a:ext uri="{FF2B5EF4-FFF2-40B4-BE49-F238E27FC236}">
                <a16:creationId xmlns:a16="http://schemas.microsoft.com/office/drawing/2014/main" id="{A0307FFB-88E9-4DCF-A423-46BF0460F40E}"/>
              </a:ext>
            </a:extLst>
          </p:cNvPr>
          <p:cNvSpPr>
            <a:spLocks noChangeArrowheads="1"/>
          </p:cNvSpPr>
          <p:nvPr/>
        </p:nvSpPr>
        <p:spPr bwMode="auto">
          <a:xfrm>
            <a:off x="0" y="4221163"/>
            <a:ext cx="3317511"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1600" b="1" dirty="0">
                <a:solidFill>
                  <a:srgbClr val="FF0000"/>
                </a:solidFill>
              </a:rPr>
              <a:t>Occurs in liver, kidney and heart</a:t>
            </a:r>
          </a:p>
          <a:p>
            <a:pPr eaLnBrk="1" hangingPunct="1"/>
            <a:r>
              <a:rPr kumimoji="0" lang="en-US" altLang="zh-CN" sz="1600" b="1" dirty="0">
                <a:solidFill>
                  <a:srgbClr val="FF0000"/>
                </a:solidFill>
              </a:rPr>
              <a:t>and is readily reversible (depending</a:t>
            </a:r>
          </a:p>
          <a:p>
            <a:pPr eaLnBrk="1" hangingPunct="1"/>
            <a:r>
              <a:rPr kumimoji="0" lang="en-US" altLang="zh-CN" sz="1600" b="1" dirty="0">
                <a:solidFill>
                  <a:srgbClr val="FF0000"/>
                </a:solidFill>
              </a:rPr>
              <a:t>on which side has a higher </a:t>
            </a:r>
          </a:p>
          <a:p>
            <a:pPr eaLnBrk="1" hangingPunct="1"/>
            <a:r>
              <a:rPr kumimoji="0" lang="en-US" altLang="zh-CN" sz="1600" b="1" dirty="0">
                <a:solidFill>
                  <a:srgbClr val="FF0000"/>
                </a:solidFill>
              </a:rPr>
              <a:t>NADH/NAD+ ratio.</a:t>
            </a:r>
          </a:p>
        </p:txBody>
      </p:sp>
    </p:spTree>
    <p:extLst>
      <p:ext uri="{BB962C8B-B14F-4D97-AF65-F5344CB8AC3E}">
        <p14:creationId xmlns:p14="http://schemas.microsoft.com/office/powerpoint/2010/main" val="63307862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BB4BAF83-E8C0-45D7-8E0F-7D239DEDC4EA}"/>
              </a:ext>
            </a:extLst>
          </p:cNvPr>
          <p:cNvSpPr>
            <a:spLocks noGrp="1" noChangeArrowheads="1"/>
          </p:cNvSpPr>
          <p:nvPr>
            <p:ph type="title" idx="4294967295"/>
          </p:nvPr>
        </p:nvSpPr>
        <p:spPr>
          <a:xfrm>
            <a:off x="0" y="1703388"/>
            <a:ext cx="9144000" cy="2287587"/>
          </a:xfrm>
        </p:spPr>
        <p:txBody>
          <a:bodyPr/>
          <a:lstStyle/>
          <a:p>
            <a:pPr eaLnBrk="1" hangingPunct="1"/>
            <a:r>
              <a:rPr lang="en-US" altLang="zh-CN" sz="4800" b="1" dirty="0">
                <a:solidFill>
                  <a:srgbClr val="FF0000"/>
                </a:solidFill>
                <a:latin typeface="Times New Roman" pitchFamily="18" charset="0"/>
              </a:rPr>
              <a:t>14.  The pathways leading to ATP synthesis are coordinately regulated</a:t>
            </a:r>
          </a:p>
        </p:txBody>
      </p:sp>
    </p:spTree>
    <p:extLst>
      <p:ext uri="{BB962C8B-B14F-4D97-AF65-F5344CB8AC3E}">
        <p14:creationId xmlns:p14="http://schemas.microsoft.com/office/powerpoint/2010/main" val="58199230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Picture 2" descr="f19-29">
            <a:extLst>
              <a:ext uri="{FF2B5EF4-FFF2-40B4-BE49-F238E27FC236}">
                <a16:creationId xmlns:a16="http://schemas.microsoft.com/office/drawing/2014/main" id="{3F444A4C-A29C-4002-873F-DD8AF69559B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762000"/>
            <a:ext cx="4538663"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27" name="Picture 3" descr="f19-29b">
            <a:extLst>
              <a:ext uri="{FF2B5EF4-FFF2-40B4-BE49-F238E27FC236}">
                <a16:creationId xmlns:a16="http://schemas.microsoft.com/office/drawing/2014/main" id="{38E1786D-7E6B-49E8-BC16-CC02E26A790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0" y="0"/>
            <a:ext cx="457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8" name="Line 7">
            <a:extLst>
              <a:ext uri="{FF2B5EF4-FFF2-40B4-BE49-F238E27FC236}">
                <a16:creationId xmlns:a16="http://schemas.microsoft.com/office/drawing/2014/main" id="{826AE575-5BB6-4A44-A2B8-2990C0155BD6}"/>
              </a:ext>
            </a:extLst>
          </p:cNvPr>
          <p:cNvSpPr>
            <a:spLocks noChangeShapeType="1"/>
          </p:cNvSpPr>
          <p:nvPr/>
        </p:nvSpPr>
        <p:spPr bwMode="auto">
          <a:xfrm flipH="1">
            <a:off x="4267200" y="1700213"/>
            <a:ext cx="3144838" cy="890587"/>
          </a:xfrm>
          <a:prstGeom prst="line">
            <a:avLst/>
          </a:prstGeom>
          <a:noFill/>
          <a:ln w="1587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dirty="0">
              <a:latin typeface="Times New Roman" pitchFamily="18" charset="0"/>
            </a:endParaRPr>
          </a:p>
        </p:txBody>
      </p:sp>
    </p:spTree>
    <p:extLst>
      <p:ext uri="{BB962C8B-B14F-4D97-AF65-F5344CB8AC3E}">
        <p14:creationId xmlns:p14="http://schemas.microsoft.com/office/powerpoint/2010/main" val="243008083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C6707886-52C9-4C91-9811-B60AE791E76E}"/>
              </a:ext>
            </a:extLst>
          </p:cNvPr>
          <p:cNvSpPr>
            <a:spLocks noChangeArrowheads="1"/>
          </p:cNvSpPr>
          <p:nvPr/>
        </p:nvSpPr>
        <p:spPr bwMode="auto">
          <a:xfrm>
            <a:off x="0" y="1371600"/>
            <a:ext cx="91440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SzPct val="85000"/>
              <a:buFontTx/>
              <a:buBlip>
                <a:blip r:embed="rId2"/>
              </a:buBlip>
            </a:pPr>
            <a:r>
              <a:rPr lang="en-US" altLang="zh-CN" sz="3200" dirty="0" err="1"/>
              <a:t>Bioenergy</a:t>
            </a:r>
            <a:r>
              <a:rPr lang="en-US" altLang="zh-CN" sz="3200" dirty="0"/>
              <a:t> is chemical energy, studied in terms of free energy and free energy change (</a:t>
            </a:r>
            <a:r>
              <a:rPr lang="en-US" altLang="zh-CN" sz="3200" i="1" dirty="0">
                <a:sym typeface="Symbol" panose="05050102010706020507" pitchFamily="18" charset="2"/>
              </a:rPr>
              <a:t></a:t>
            </a:r>
            <a:r>
              <a:rPr lang="en-US" altLang="zh-CN" sz="3200" i="1" dirty="0"/>
              <a:t>G</a:t>
            </a:r>
            <a:r>
              <a:rPr lang="en-US" altLang="zh-CN" sz="3200" dirty="0"/>
              <a:t> ).</a:t>
            </a:r>
          </a:p>
          <a:p>
            <a:pPr eaLnBrk="1" hangingPunct="1">
              <a:lnSpc>
                <a:spcPct val="90000"/>
              </a:lnSpc>
              <a:spcBef>
                <a:spcPct val="20000"/>
              </a:spcBef>
              <a:buSzPct val="85000"/>
              <a:buFontTx/>
              <a:buBlip>
                <a:blip r:embed="rId2"/>
              </a:buBlip>
            </a:pPr>
            <a:r>
              <a:rPr lang="en-US" altLang="zh-CN" sz="3200" dirty="0"/>
              <a:t>ATP acts as the free energy carrier in cells.</a:t>
            </a:r>
          </a:p>
          <a:p>
            <a:pPr eaLnBrk="1" hangingPunct="1">
              <a:lnSpc>
                <a:spcPct val="90000"/>
              </a:lnSpc>
              <a:spcBef>
                <a:spcPct val="20000"/>
              </a:spcBef>
              <a:buSzPct val="85000"/>
              <a:buFontTx/>
              <a:buBlip>
                <a:blip r:embed="rId2"/>
              </a:buBlip>
            </a:pPr>
            <a:r>
              <a:rPr lang="en-US" altLang="zh-CN" sz="3200" dirty="0" err="1"/>
              <a:t>Bioenergy</a:t>
            </a:r>
            <a:r>
              <a:rPr lang="en-US" altLang="zh-CN" sz="3200" dirty="0"/>
              <a:t> is mainly produced via stepwise electron flow (</a:t>
            </a:r>
            <a:r>
              <a:rPr lang="en-US" altLang="zh-CN" sz="3200" dirty="0" err="1"/>
              <a:t>redox</a:t>
            </a:r>
            <a:r>
              <a:rPr lang="en-US" altLang="zh-CN" sz="3200" dirty="0"/>
              <a:t> reactions) through a series of electron carriers having increasing levels of reduction potential (</a:t>
            </a:r>
            <a:r>
              <a:rPr lang="en-US" altLang="zh-CN" sz="3200" i="1" dirty="0"/>
              <a:t>E</a:t>
            </a:r>
            <a:r>
              <a:rPr lang="en-US" altLang="zh-CN" sz="3200" dirty="0"/>
              <a:t>).</a:t>
            </a:r>
          </a:p>
          <a:p>
            <a:pPr eaLnBrk="1" hangingPunct="1">
              <a:lnSpc>
                <a:spcPct val="90000"/>
              </a:lnSpc>
              <a:spcBef>
                <a:spcPct val="20000"/>
              </a:spcBef>
              <a:buSzPct val="85000"/>
              <a:buFontTx/>
              <a:buBlip>
                <a:blip r:embed="rId2"/>
              </a:buBlip>
            </a:pPr>
            <a:r>
              <a:rPr lang="en-US" altLang="zh-CN" sz="3200" dirty="0"/>
              <a:t>Electrons released from the oxidation of nutrient fuels are initially channeled to a few universal electron carriers (including NADH and FADH</a:t>
            </a:r>
            <a:r>
              <a:rPr lang="en-US" altLang="zh-CN" sz="3200" baseline="-25000" dirty="0"/>
              <a:t>2</a:t>
            </a:r>
            <a:r>
              <a:rPr lang="en-US" altLang="zh-CN" sz="3200" dirty="0"/>
              <a:t>).</a:t>
            </a:r>
          </a:p>
        </p:txBody>
      </p:sp>
      <p:sp>
        <p:nvSpPr>
          <p:cNvPr id="104451" name="Rectangle 3">
            <a:extLst>
              <a:ext uri="{FF2B5EF4-FFF2-40B4-BE49-F238E27FC236}">
                <a16:creationId xmlns:a16="http://schemas.microsoft.com/office/drawing/2014/main" id="{0259965E-C7AD-41AB-9708-AAB6682A1952}"/>
              </a:ext>
            </a:extLst>
          </p:cNvPr>
          <p:cNvSpPr>
            <a:spLocks noChangeArrowheads="1"/>
          </p:cNvSpPr>
          <p:nvPr/>
        </p:nvSpPr>
        <p:spPr bwMode="auto">
          <a:xfrm>
            <a:off x="533400" y="1905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4400">
                <a:solidFill>
                  <a:schemeClr val="tx2"/>
                </a:solidFill>
                <a:latin typeface="Arial Black" panose="020B0A04020102020204" pitchFamily="34" charset="0"/>
              </a:rPr>
              <a:t>Summary</a:t>
            </a:r>
          </a:p>
        </p:txBody>
      </p:sp>
    </p:spTree>
    <p:extLst>
      <p:ext uri="{BB962C8B-B14F-4D97-AF65-F5344CB8AC3E}">
        <p14:creationId xmlns:p14="http://schemas.microsoft.com/office/powerpoint/2010/main" val="334029720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3">
            <a:extLst>
              <a:ext uri="{FF2B5EF4-FFF2-40B4-BE49-F238E27FC236}">
                <a16:creationId xmlns:a16="http://schemas.microsoft.com/office/drawing/2014/main" id="{9AB1DBC2-5D5C-4F73-9E0C-2BCBD447EDDA}"/>
              </a:ext>
            </a:extLst>
          </p:cNvPr>
          <p:cNvSpPr>
            <a:spLocks noGrp="1" noChangeArrowheads="1"/>
          </p:cNvSpPr>
          <p:nvPr>
            <p:ph type="body" idx="4294967295"/>
          </p:nvPr>
        </p:nvSpPr>
        <p:spPr>
          <a:xfrm>
            <a:off x="0" y="381000"/>
            <a:ext cx="9144000" cy="6248400"/>
          </a:xfrm>
        </p:spPr>
        <p:txBody>
          <a:bodyPr/>
          <a:lstStyle/>
          <a:p>
            <a:pPr eaLnBrk="1" hangingPunct="1">
              <a:lnSpc>
                <a:spcPct val="110000"/>
              </a:lnSpc>
            </a:pPr>
            <a:r>
              <a:rPr lang="en-US" altLang="zh-CN"/>
              <a:t>Electrons collected in NADH and FADH</a:t>
            </a:r>
            <a:r>
              <a:rPr lang="en-US" altLang="zh-CN" baseline="-25000"/>
              <a:t>2</a:t>
            </a:r>
            <a:r>
              <a:rPr lang="en-US" altLang="zh-CN"/>
              <a:t> are released (at different entering points) and transported to O</a:t>
            </a:r>
            <a:r>
              <a:rPr lang="en-US" altLang="zh-CN" baseline="-25000"/>
              <a:t>2</a:t>
            </a:r>
            <a:r>
              <a:rPr lang="en-US" altLang="zh-CN"/>
              <a:t> via the respiratory chain, which consists of four multiprotein complexes (I, II, III, and IV) and two mobile electron carriers (ubiquinone and cytochrome c).</a:t>
            </a:r>
          </a:p>
          <a:p>
            <a:pPr eaLnBrk="1" hangingPunct="1"/>
            <a:r>
              <a:rPr lang="en-US" altLang="zh-CN"/>
              <a:t>The order of the many electron carriers on the respiratory chain have been elucidated via various studies, including measurements of the standard reduction potential and effects of various respiratory chain inhibitors.</a:t>
            </a:r>
            <a:endParaRPr lang="en-US" altLang="zh-CN" sz="2800"/>
          </a:p>
        </p:txBody>
      </p:sp>
    </p:spTree>
    <p:extLst>
      <p:ext uri="{BB962C8B-B14F-4D97-AF65-F5344CB8AC3E}">
        <p14:creationId xmlns:p14="http://schemas.microsoft.com/office/powerpoint/2010/main" val="191081009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3">
            <a:extLst>
              <a:ext uri="{FF2B5EF4-FFF2-40B4-BE49-F238E27FC236}">
                <a16:creationId xmlns:a16="http://schemas.microsoft.com/office/drawing/2014/main" id="{E3224069-6C46-4D4C-94CE-424BEE0BC684}"/>
              </a:ext>
            </a:extLst>
          </p:cNvPr>
          <p:cNvSpPr>
            <a:spLocks noGrp="1" noChangeArrowheads="1"/>
          </p:cNvSpPr>
          <p:nvPr>
            <p:ph type="body" idx="4294967295"/>
          </p:nvPr>
        </p:nvSpPr>
        <p:spPr>
          <a:xfrm>
            <a:off x="0" y="457200"/>
            <a:ext cx="9144000" cy="6096000"/>
          </a:xfrm>
          <a:noFill/>
        </p:spPr>
        <p:txBody>
          <a:bodyPr/>
          <a:lstStyle/>
          <a:p>
            <a:pPr eaLnBrk="1" hangingPunct="1">
              <a:lnSpc>
                <a:spcPct val="90000"/>
              </a:lnSpc>
            </a:pPr>
            <a:r>
              <a:rPr lang="en-US" altLang="zh-CN" dirty="0"/>
              <a:t>Electron transfer to O</a:t>
            </a:r>
            <a:r>
              <a:rPr lang="en-US" altLang="zh-CN" baseline="-25000" dirty="0"/>
              <a:t>2</a:t>
            </a:r>
            <a:r>
              <a:rPr lang="en-US" altLang="zh-CN" dirty="0"/>
              <a:t> was found to be coupled to ATP synthesis from ADP + Pi in isolated mitochondria.</a:t>
            </a:r>
          </a:p>
          <a:p>
            <a:pPr eaLnBrk="1" hangingPunct="1">
              <a:lnSpc>
                <a:spcPct val="90000"/>
              </a:lnSpc>
            </a:pPr>
            <a:r>
              <a:rPr lang="en-US" altLang="zh-CN" dirty="0"/>
              <a:t>The chemiosmotic theory explains the coupling of electron flow and ATP synthesis.</a:t>
            </a:r>
          </a:p>
          <a:p>
            <a:pPr eaLnBrk="1" hangingPunct="1">
              <a:lnSpc>
                <a:spcPct val="90000"/>
              </a:lnSpc>
            </a:pPr>
            <a:r>
              <a:rPr lang="en-US" altLang="zh-CN" dirty="0"/>
              <a:t>ATP synthase comprises a proton channel (</a:t>
            </a:r>
            <a:r>
              <a:rPr lang="en-US" altLang="zh-CN" dirty="0" err="1"/>
              <a:t>F</a:t>
            </a:r>
            <a:r>
              <a:rPr lang="en-US" altLang="zh-CN" baseline="-25000" dirty="0" err="1"/>
              <a:t>o</a:t>
            </a:r>
            <a:r>
              <a:rPr lang="en-US" altLang="zh-CN" dirty="0"/>
              <a:t>) and a ATPase (F</a:t>
            </a:r>
            <a:r>
              <a:rPr lang="en-US" altLang="zh-CN" baseline="-25000" dirty="0"/>
              <a:t>1</a:t>
            </a:r>
            <a:r>
              <a:rPr lang="en-US" altLang="zh-CN" dirty="0"/>
              <a:t>).</a:t>
            </a:r>
          </a:p>
          <a:p>
            <a:pPr eaLnBrk="1" hangingPunct="1">
              <a:lnSpc>
                <a:spcPct val="90000"/>
              </a:lnSpc>
            </a:pPr>
            <a:r>
              <a:rPr lang="en-US" altLang="zh-CN" dirty="0"/>
              <a:t>Electrons in NADH generated in cytosol is shuttled into mitochondria to enter the respiratory chain.</a:t>
            </a:r>
          </a:p>
          <a:p>
            <a:pPr eaLnBrk="1" hangingPunct="1">
              <a:lnSpc>
                <a:spcPct val="90000"/>
              </a:lnSpc>
            </a:pPr>
            <a:r>
              <a:rPr lang="en-US" altLang="zh-CN" dirty="0"/>
              <a:t>The pathways leading to ATP </a:t>
            </a:r>
            <a:r>
              <a:rPr lang="en-US" altLang="zh-CN" dirty="0" err="1"/>
              <a:t>sysnthesis</a:t>
            </a:r>
            <a:r>
              <a:rPr lang="en-US" altLang="zh-CN" dirty="0"/>
              <a:t> is coordinately regulated.</a:t>
            </a:r>
          </a:p>
        </p:txBody>
      </p:sp>
    </p:spTree>
    <p:extLst>
      <p:ext uri="{BB962C8B-B14F-4D97-AF65-F5344CB8AC3E}">
        <p14:creationId xmlns:p14="http://schemas.microsoft.com/office/powerpoint/2010/main" val="410318131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DFC3423-E345-4802-AB9D-C80D504E2B96}"/>
              </a:ext>
            </a:extLst>
          </p:cNvPr>
          <p:cNvSpPr txBox="1"/>
          <p:nvPr/>
        </p:nvSpPr>
        <p:spPr>
          <a:xfrm>
            <a:off x="3419872" y="2276872"/>
            <a:ext cx="2736304" cy="1754326"/>
          </a:xfrm>
          <a:prstGeom prst="rect">
            <a:avLst/>
          </a:prstGeom>
          <a:noFill/>
        </p:spPr>
        <p:txBody>
          <a:bodyPr wrap="square" rtlCol="0">
            <a:spAutoFit/>
          </a:bodyPr>
          <a:lstStyle/>
          <a:p>
            <a:pPr algn="ctr"/>
            <a:r>
              <a:rPr lang="en-US" altLang="zh-CN" sz="5400" dirty="0">
                <a:latin typeface="Times New Roman" pitchFamily="18" charset="0"/>
              </a:rPr>
              <a:t>END</a:t>
            </a:r>
          </a:p>
          <a:p>
            <a:pPr algn="ctr"/>
            <a:endParaRPr lang="en-US" altLang="zh-CN" dirty="0">
              <a:latin typeface="Times New Roman" pitchFamily="18" charset="0"/>
            </a:endParaRPr>
          </a:p>
          <a:p>
            <a:pPr algn="ctr"/>
            <a:r>
              <a:rPr lang="en-US" altLang="zh-CN" sz="3600" dirty="0">
                <a:latin typeface="Times New Roman" pitchFamily="18" charset="0"/>
              </a:rPr>
              <a:t>Thank you</a:t>
            </a:r>
            <a:endParaRPr lang="zh-CN" altLang="en-US" sz="3600" dirty="0">
              <a:latin typeface="Times New Roman" pitchFamily="18" charset="0"/>
            </a:endParaRPr>
          </a:p>
        </p:txBody>
      </p:sp>
    </p:spTree>
    <p:extLst>
      <p:ext uri="{BB962C8B-B14F-4D97-AF65-F5344CB8AC3E}">
        <p14:creationId xmlns:p14="http://schemas.microsoft.com/office/powerpoint/2010/main" val="138913980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2" descr="f19-4">
            <a:extLst>
              <a:ext uri="{FF2B5EF4-FFF2-40B4-BE49-F238E27FC236}">
                <a16:creationId xmlns:a16="http://schemas.microsoft.com/office/drawing/2014/main" id="{ADD12EFB-1793-4DBA-BB5A-1FA956BE5C7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62484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7" name="Rectangle 8">
            <a:extLst>
              <a:ext uri="{FF2B5EF4-FFF2-40B4-BE49-F238E27FC236}">
                <a16:creationId xmlns:a16="http://schemas.microsoft.com/office/drawing/2014/main" id="{4739214D-690B-4E03-AE7A-B0947238EAAC}"/>
              </a:ext>
            </a:extLst>
          </p:cNvPr>
          <p:cNvSpPr>
            <a:spLocks noChangeArrowheads="1"/>
          </p:cNvSpPr>
          <p:nvPr/>
        </p:nvSpPr>
        <p:spPr bwMode="auto">
          <a:xfrm>
            <a:off x="4565650" y="0"/>
            <a:ext cx="4578350" cy="2838450"/>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600" b="1" dirty="0">
                <a:solidFill>
                  <a:srgbClr val="FFFF00"/>
                </a:solidFill>
              </a:rPr>
              <a:t>Reduced </a:t>
            </a:r>
            <a:r>
              <a:rPr lang="en-US" altLang="zh-CN" sz="3600" b="1" dirty="0" err="1">
                <a:solidFill>
                  <a:srgbClr val="FFFF00"/>
                </a:solidFill>
              </a:rPr>
              <a:t>cytochromes</a:t>
            </a:r>
            <a:r>
              <a:rPr lang="en-US" altLang="zh-CN" sz="3600" b="1" dirty="0">
                <a:solidFill>
                  <a:srgbClr val="FFFF00"/>
                </a:solidFill>
              </a:rPr>
              <a:t> </a:t>
            </a:r>
          </a:p>
          <a:p>
            <a:pPr algn="ctr" eaLnBrk="1" hangingPunct="1"/>
            <a:r>
              <a:rPr lang="en-US" altLang="zh-CN" sz="3600" b="1" dirty="0">
                <a:solidFill>
                  <a:srgbClr val="FFFF00"/>
                </a:solidFill>
              </a:rPr>
              <a:t>has three absorption</a:t>
            </a:r>
          </a:p>
          <a:p>
            <a:pPr algn="ctr" eaLnBrk="1" hangingPunct="1"/>
            <a:r>
              <a:rPr lang="en-US" altLang="zh-CN" sz="3600" b="1" dirty="0">
                <a:solidFill>
                  <a:srgbClr val="FFFF00"/>
                </a:solidFill>
              </a:rPr>
              <a:t>bands in the visible </a:t>
            </a:r>
          </a:p>
          <a:p>
            <a:pPr algn="ctr" eaLnBrk="1" hangingPunct="1"/>
            <a:r>
              <a:rPr lang="en-US" altLang="zh-CN" sz="3600" b="1" dirty="0">
                <a:solidFill>
                  <a:srgbClr val="FFFF00"/>
                </a:solidFill>
              </a:rPr>
              <a:t>wavelengths</a:t>
            </a:r>
          </a:p>
          <a:p>
            <a:pPr algn="ctr" eaLnBrk="1" hangingPunct="1"/>
            <a:endParaRPr lang="en-US" altLang="zh-CN" sz="3600" b="1" dirty="0">
              <a:solidFill>
                <a:srgbClr val="FFFF00"/>
              </a:solidFill>
            </a:endParaRPr>
          </a:p>
        </p:txBody>
      </p:sp>
    </p:spTree>
    <p:extLst>
      <p:ext uri="{BB962C8B-B14F-4D97-AF65-F5344CB8AC3E}">
        <p14:creationId xmlns:p14="http://schemas.microsoft.com/office/powerpoint/2010/main" val="173803446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2">
            <a:extLst>
              <a:ext uri="{FF2B5EF4-FFF2-40B4-BE49-F238E27FC236}">
                <a16:creationId xmlns:a16="http://schemas.microsoft.com/office/drawing/2014/main" id="{82410287-6135-40B5-A179-D4BDCDCCA53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t="8789" b="7053"/>
          <a:stretch>
            <a:fillRect/>
          </a:stretch>
        </p:blipFill>
        <p:spPr bwMode="auto">
          <a:xfrm>
            <a:off x="138113" y="428625"/>
            <a:ext cx="8863012" cy="596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951445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2">
            <a:extLst>
              <a:ext uri="{FF2B5EF4-FFF2-40B4-BE49-F238E27FC236}">
                <a16:creationId xmlns:a16="http://schemas.microsoft.com/office/drawing/2014/main" id="{B451AF7C-7923-434B-A263-837A0C2F235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10001" t="10001" r="10001" b="10001"/>
          <a:stretch>
            <a:fillRect/>
          </a:stretch>
        </p:blipFill>
        <p:spPr bwMode="auto">
          <a:xfrm>
            <a:off x="914400" y="457200"/>
            <a:ext cx="73152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2309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0" name="Picture 2">
            <a:extLst>
              <a:ext uri="{FF2B5EF4-FFF2-40B4-BE49-F238E27FC236}">
                <a16:creationId xmlns:a16="http://schemas.microsoft.com/office/drawing/2014/main" id="{6F724A12-3966-4D4E-A66C-0021749058E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10001" t="9000" r="9000" b="10001"/>
          <a:stretch>
            <a:fillRect/>
          </a:stretch>
        </p:blipFill>
        <p:spPr bwMode="auto">
          <a:xfrm>
            <a:off x="381000" y="304800"/>
            <a:ext cx="8382000" cy="628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4840977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a:extLst>
              <a:ext uri="{FF2B5EF4-FFF2-40B4-BE49-F238E27FC236}">
                <a16:creationId xmlns:a16="http://schemas.microsoft.com/office/drawing/2014/main" id="{C9D61BF6-321D-4B8F-9DB0-E95C4C1FF91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10001" t="10001" r="10001" b="10001"/>
          <a:stretch>
            <a:fillRect/>
          </a:stretch>
        </p:blipFill>
        <p:spPr bwMode="auto">
          <a:xfrm>
            <a:off x="609600" y="457200"/>
            <a:ext cx="8153400" cy="611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9884867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4388" name="Picture 10">
            <a:extLst>
              <a:ext uri="{FF2B5EF4-FFF2-40B4-BE49-F238E27FC236}">
                <a16:creationId xmlns:a16="http://schemas.microsoft.com/office/drawing/2014/main" id="{AAB5440A-6A70-4703-8227-E9ED723D334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504" y="1412776"/>
            <a:ext cx="8943975" cy="343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2303022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9B6DE7B1-A11A-41A0-A960-0CD9D1AB8041}"/>
              </a:ext>
            </a:extLst>
          </p:cNvPr>
          <p:cNvSpPr>
            <a:spLocks noGrp="1" noChangeArrowheads="1"/>
          </p:cNvSpPr>
          <p:nvPr>
            <p:ph type="title" idx="4294967295"/>
          </p:nvPr>
        </p:nvSpPr>
        <p:spPr>
          <a:xfrm>
            <a:off x="0" y="371475"/>
            <a:ext cx="9144000" cy="1066800"/>
          </a:xfrm>
        </p:spPr>
        <p:txBody>
          <a:bodyPr/>
          <a:lstStyle/>
          <a:p>
            <a:pPr eaLnBrk="1" hangingPunct="1"/>
            <a:r>
              <a:rPr lang="en-US" altLang="zh-CN" sz="3200" b="1" dirty="0">
                <a:solidFill>
                  <a:srgbClr val="FF0000"/>
                </a:solidFill>
                <a:latin typeface="Times New Roman" pitchFamily="18" charset="0"/>
              </a:rPr>
              <a:t>It was widely believed that ATP synthesis occurs by chemical coupling</a:t>
            </a:r>
          </a:p>
        </p:txBody>
      </p:sp>
      <p:sp>
        <p:nvSpPr>
          <p:cNvPr id="86019" name="Rectangle 3">
            <a:extLst>
              <a:ext uri="{FF2B5EF4-FFF2-40B4-BE49-F238E27FC236}">
                <a16:creationId xmlns:a16="http://schemas.microsoft.com/office/drawing/2014/main" id="{ACB783C4-603A-45FA-BA71-465CF6A58974}"/>
              </a:ext>
            </a:extLst>
          </p:cNvPr>
          <p:cNvSpPr>
            <a:spLocks noGrp="1" noChangeArrowheads="1"/>
          </p:cNvSpPr>
          <p:nvPr>
            <p:ph type="body" idx="4294967295"/>
          </p:nvPr>
        </p:nvSpPr>
        <p:spPr>
          <a:xfrm>
            <a:off x="0" y="1752600"/>
            <a:ext cx="9144000" cy="4572000"/>
          </a:xfrm>
        </p:spPr>
        <p:txBody>
          <a:bodyPr/>
          <a:lstStyle/>
          <a:p>
            <a:pPr eaLnBrk="1" hangingPunct="1">
              <a:lnSpc>
                <a:spcPct val="90000"/>
              </a:lnSpc>
            </a:pPr>
            <a:r>
              <a:rPr lang="en-US" altLang="zh-CN" sz="3000" dirty="0">
                <a:solidFill>
                  <a:srgbClr val="0070C0"/>
                </a:solidFill>
              </a:rPr>
              <a:t>High energy intermediates </a:t>
            </a:r>
            <a:r>
              <a:rPr lang="en-US" altLang="zh-CN" sz="3000" dirty="0"/>
              <a:t>similar to 1,3-bisphophoglycerate (which is used for </a:t>
            </a:r>
            <a:r>
              <a:rPr lang="en-US" altLang="zh-CN" sz="3000" dirty="0">
                <a:solidFill>
                  <a:srgbClr val="000099"/>
                </a:solidFill>
              </a:rPr>
              <a:t>substrate-level phosphorylation</a:t>
            </a:r>
            <a:r>
              <a:rPr lang="en-US" altLang="zh-CN" sz="3000" dirty="0"/>
              <a:t>) was once proposed to be produced first from the electron flows on both the mitochondrial and chloroplast membranes.</a:t>
            </a:r>
          </a:p>
          <a:p>
            <a:pPr eaLnBrk="1" hangingPunct="1">
              <a:lnSpc>
                <a:spcPct val="90000"/>
              </a:lnSpc>
            </a:pPr>
            <a:r>
              <a:rPr lang="en-US" altLang="zh-CN" sz="3000" dirty="0" err="1">
                <a:solidFill>
                  <a:srgbClr val="0070C0"/>
                </a:solidFill>
              </a:rPr>
              <a:t>Phophorylated</a:t>
            </a:r>
            <a:r>
              <a:rPr lang="en-US" altLang="zh-CN" sz="3000" dirty="0">
                <a:solidFill>
                  <a:srgbClr val="0070C0"/>
                </a:solidFill>
              </a:rPr>
              <a:t> protein intermediates </a:t>
            </a:r>
            <a:r>
              <a:rPr lang="en-US" altLang="zh-CN" sz="3000" dirty="0"/>
              <a:t>(as formed in the action of phosphoglycerate mutase and </a:t>
            </a:r>
            <a:r>
              <a:rPr lang="en-US" altLang="zh-CN" sz="3000" dirty="0" err="1"/>
              <a:t>phosphoglucomutase</a:t>
            </a:r>
            <a:r>
              <a:rPr lang="en-US" altLang="zh-CN" sz="3000" dirty="0"/>
              <a:t>) were also hypothesized.</a:t>
            </a:r>
          </a:p>
          <a:p>
            <a:pPr eaLnBrk="1" hangingPunct="1">
              <a:lnSpc>
                <a:spcPct val="90000"/>
              </a:lnSpc>
            </a:pPr>
            <a:r>
              <a:rPr lang="en-US" altLang="zh-CN" sz="3000" dirty="0"/>
              <a:t>But neither were ever revealed despite intense efforts by many investigators over several decades.</a:t>
            </a:r>
          </a:p>
        </p:txBody>
      </p:sp>
    </p:spTree>
    <p:extLst>
      <p:ext uri="{BB962C8B-B14F-4D97-AF65-F5344CB8AC3E}">
        <p14:creationId xmlns:p14="http://schemas.microsoft.com/office/powerpoint/2010/main" val="222564549"/>
      </p:ext>
    </p:extLst>
  </p:cSld>
  <p:clrMapOvr>
    <a:masterClrMapping/>
  </p:clrMapOvr>
</p:sld>
</file>

<file path=ppt/theme/theme1.xml><?xml version="1.0" encoding="utf-8"?>
<a:theme xmlns:a="http://schemas.openxmlformats.org/drawingml/2006/main" name="shan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shand</Template>
  <TotalTime>5703</TotalTime>
  <Words>5747</Words>
  <Application>Microsoft Office PowerPoint</Application>
  <PresentationFormat>全屏显示(4:3)</PresentationFormat>
  <Paragraphs>485</Paragraphs>
  <Slides>126</Slides>
  <Notes>53</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vt:i4>
      </vt:variant>
      <vt:variant>
        <vt:lpstr>幻灯片标题</vt:lpstr>
      </vt:variant>
      <vt:variant>
        <vt:i4>126</vt:i4>
      </vt:variant>
    </vt:vector>
  </HeadingPairs>
  <TitlesOfParts>
    <vt:vector size="142" baseType="lpstr">
      <vt:lpstr>Helvetica Neue</vt:lpstr>
      <vt:lpstr>TimesNewRomanPS-BoldMT</vt:lpstr>
      <vt:lpstr>TimesNewRomanPS-ItalicMT</vt:lpstr>
      <vt:lpstr>TimesNewRomanPSMT</vt:lpstr>
      <vt:lpstr>楷体_GB2312</vt:lpstr>
      <vt:lpstr>Arial</vt:lpstr>
      <vt:lpstr>Arial Black</vt:lpstr>
      <vt:lpstr>Calibri</vt:lpstr>
      <vt:lpstr>Monotype Corsiva</vt:lpstr>
      <vt:lpstr>Symbol</vt:lpstr>
      <vt:lpstr>Times New Roman</vt:lpstr>
      <vt:lpstr>Verdana</vt:lpstr>
      <vt:lpstr>Wingdings</vt:lpstr>
      <vt:lpstr>shand</vt:lpstr>
      <vt:lpstr>Equation</vt:lpstr>
      <vt:lpstr>Image</vt:lpstr>
      <vt:lpstr>Section L   Respiration and energy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高能化合物类型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 Electrons of NADH and FADH2 are transferred to O2 via many intermediate electron carriers on the way.</vt:lpstr>
      <vt:lpstr>PowerPoint 演示文稿</vt:lpstr>
      <vt:lpstr>PowerPoint 演示文稿</vt:lpstr>
      <vt:lpstr>PowerPoint 演示文稿</vt:lpstr>
      <vt:lpstr>PowerPoint 演示文稿</vt:lpstr>
      <vt:lpstr>PowerPoint 演示文稿</vt:lpstr>
      <vt:lpstr>PowerPoint 演示文稿</vt:lpstr>
      <vt:lpstr>8. Various prosthetic groups act as intermediate electron carriers in the respiratory chain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9.  The order of the many electron carriers on the respiratory chain have been elucidated via various studies</vt:lpstr>
      <vt:lpstr>PowerPoint 演示文稿</vt:lpstr>
      <vt:lpstr>PowerPoint 演示文稿</vt:lpstr>
      <vt:lpstr>PowerPoint 演示文稿</vt:lpstr>
      <vt:lpstr>10. Electron transfer to O2 was found to be obligatorily coupled to ATP synthesis from ADP + Pi in isolated mitochondria</vt:lpstr>
      <vt:lpstr>11. How is oxidation of NADH/FADH2 coupled to the phosphorylation of ADP?</vt:lpstr>
      <vt:lpstr>The chemiosmotic model was proposed by Peter Mitchell in 1961 to explain the coupling of electron flow and ATP synthesis</vt:lpstr>
      <vt:lpstr>PowerPoint 演示文稿</vt:lpstr>
      <vt:lpstr>PowerPoint 演示文稿</vt:lpstr>
      <vt:lpstr>化学渗透学说</vt:lpstr>
      <vt:lpstr>PowerPoint 演示文稿</vt:lpstr>
      <vt:lpstr>化学渗透学说示意图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12. ATP synthase was first identified by dissociation and reconstitution studies</vt:lpstr>
      <vt:lpstr>PowerPoint 演示文稿</vt:lpstr>
      <vt:lpstr>PowerPoint 演示文稿</vt:lpstr>
      <vt:lpstr>化学渗透学说的实验证据（氧化磷酸化的重组实验）</vt:lpstr>
      <vt:lpstr>PowerPoint 演示文稿</vt:lpstr>
      <vt:lpstr>PowerPoint 演示文稿</vt:lpstr>
      <vt:lpstr>13.  Electrons in NADH generated in cytosol is shuttled into mitochondria to enter the respiratory chain </vt:lpstr>
      <vt:lpstr>PowerPoint 演示文稿</vt:lpstr>
      <vt:lpstr>PowerPoint 演示文稿</vt:lpstr>
      <vt:lpstr>PowerPoint 演示文稿</vt:lpstr>
      <vt:lpstr>14.  The pathways leading to ATP synthesis are coordinately regulated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It was widely believed that ATP synthesis occurs by chemical coupling</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dc:creator>
  <cp:lastModifiedBy>windows 用户</cp:lastModifiedBy>
  <cp:revision>207</cp:revision>
  <dcterms:created xsi:type="dcterms:W3CDTF">2014-10-13T11:37:17Z</dcterms:created>
  <dcterms:modified xsi:type="dcterms:W3CDTF">2022-11-30T11:45:51Z</dcterms:modified>
</cp:coreProperties>
</file>