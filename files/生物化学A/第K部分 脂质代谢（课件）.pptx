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6"/>
  </p:notesMasterIdLst>
  <p:handoutMasterIdLst>
    <p:handoutMasterId r:id="rId167"/>
  </p:handoutMasterIdLst>
  <p:sldIdLst>
    <p:sldId id="256" r:id="rId2"/>
    <p:sldId id="409" r:id="rId3"/>
    <p:sldId id="528" r:id="rId4"/>
    <p:sldId id="278" r:id="rId5"/>
    <p:sldId id="279" r:id="rId6"/>
    <p:sldId id="407" r:id="rId7"/>
    <p:sldId id="280" r:id="rId8"/>
    <p:sldId id="281" r:id="rId9"/>
    <p:sldId id="405" r:id="rId10"/>
    <p:sldId id="482" r:id="rId11"/>
    <p:sldId id="486" r:id="rId12"/>
    <p:sldId id="483" r:id="rId13"/>
    <p:sldId id="413" r:id="rId14"/>
    <p:sldId id="414" r:id="rId15"/>
    <p:sldId id="415" r:id="rId16"/>
    <p:sldId id="416" r:id="rId17"/>
    <p:sldId id="417" r:id="rId18"/>
    <p:sldId id="418" r:id="rId19"/>
    <p:sldId id="419" r:id="rId20"/>
    <p:sldId id="420" r:id="rId21"/>
    <p:sldId id="421" r:id="rId22"/>
    <p:sldId id="422" r:id="rId23"/>
    <p:sldId id="423" r:id="rId24"/>
    <p:sldId id="424" r:id="rId25"/>
    <p:sldId id="425" r:id="rId26"/>
    <p:sldId id="426" r:id="rId27"/>
    <p:sldId id="487" r:id="rId28"/>
    <p:sldId id="427" r:id="rId29"/>
    <p:sldId id="428" r:id="rId30"/>
    <p:sldId id="284" r:id="rId31"/>
    <p:sldId id="285" r:id="rId32"/>
    <p:sldId id="286" r:id="rId33"/>
    <p:sldId id="282" r:id="rId34"/>
    <p:sldId id="283" r:id="rId35"/>
    <p:sldId id="287" r:id="rId36"/>
    <p:sldId id="288" r:id="rId37"/>
    <p:sldId id="290" r:id="rId38"/>
    <p:sldId id="289" r:id="rId39"/>
    <p:sldId id="291" r:id="rId40"/>
    <p:sldId id="292" r:id="rId41"/>
    <p:sldId id="530" r:id="rId42"/>
    <p:sldId id="293" r:id="rId43"/>
    <p:sldId id="294" r:id="rId44"/>
    <p:sldId id="295" r:id="rId45"/>
    <p:sldId id="489" r:id="rId46"/>
    <p:sldId id="296" r:id="rId47"/>
    <p:sldId id="297" r:id="rId48"/>
    <p:sldId id="298" r:id="rId49"/>
    <p:sldId id="299" r:id="rId50"/>
    <p:sldId id="300" r:id="rId51"/>
    <p:sldId id="301" r:id="rId52"/>
    <p:sldId id="302" r:id="rId53"/>
    <p:sldId id="303" r:id="rId54"/>
    <p:sldId id="304" r:id="rId55"/>
    <p:sldId id="305" r:id="rId56"/>
    <p:sldId id="408"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529" r:id="rId92"/>
    <p:sldId id="340" r:id="rId93"/>
    <p:sldId id="341" r:id="rId94"/>
    <p:sldId id="342" r:id="rId95"/>
    <p:sldId id="343" r:id="rId96"/>
    <p:sldId id="344" r:id="rId97"/>
    <p:sldId id="345" r:id="rId98"/>
    <p:sldId id="346" r:id="rId99"/>
    <p:sldId id="347" r:id="rId100"/>
    <p:sldId id="348" r:id="rId101"/>
    <p:sldId id="349" r:id="rId102"/>
    <p:sldId id="410" r:id="rId103"/>
    <p:sldId id="350" r:id="rId104"/>
    <p:sldId id="351" r:id="rId105"/>
    <p:sldId id="352" r:id="rId106"/>
    <p:sldId id="353" r:id="rId107"/>
    <p:sldId id="354" r:id="rId108"/>
    <p:sldId id="355" r:id="rId109"/>
    <p:sldId id="356" r:id="rId110"/>
    <p:sldId id="357" r:id="rId111"/>
    <p:sldId id="358" r:id="rId112"/>
    <p:sldId id="359" r:id="rId113"/>
    <p:sldId id="360" r:id="rId114"/>
    <p:sldId id="361" r:id="rId115"/>
    <p:sldId id="362" r:id="rId116"/>
    <p:sldId id="363" r:id="rId117"/>
    <p:sldId id="364" r:id="rId118"/>
    <p:sldId id="365" r:id="rId119"/>
    <p:sldId id="366" r:id="rId120"/>
    <p:sldId id="367" r:id="rId121"/>
    <p:sldId id="368" r:id="rId122"/>
    <p:sldId id="369" r:id="rId123"/>
    <p:sldId id="370" r:id="rId124"/>
    <p:sldId id="371" r:id="rId125"/>
    <p:sldId id="372" r:id="rId126"/>
    <p:sldId id="373" r:id="rId127"/>
    <p:sldId id="374" r:id="rId128"/>
    <p:sldId id="375" r:id="rId129"/>
    <p:sldId id="376" r:id="rId130"/>
    <p:sldId id="377" r:id="rId131"/>
    <p:sldId id="378" r:id="rId132"/>
    <p:sldId id="379" r:id="rId133"/>
    <p:sldId id="380" r:id="rId134"/>
    <p:sldId id="381" r:id="rId135"/>
    <p:sldId id="382" r:id="rId136"/>
    <p:sldId id="383" r:id="rId137"/>
    <p:sldId id="412" r:id="rId138"/>
    <p:sldId id="384" r:id="rId139"/>
    <p:sldId id="385" r:id="rId140"/>
    <p:sldId id="386" r:id="rId141"/>
    <p:sldId id="387" r:id="rId142"/>
    <p:sldId id="388" r:id="rId143"/>
    <p:sldId id="535" r:id="rId144"/>
    <p:sldId id="390" r:id="rId145"/>
    <p:sldId id="389" r:id="rId146"/>
    <p:sldId id="536" r:id="rId147"/>
    <p:sldId id="391" r:id="rId148"/>
    <p:sldId id="392" r:id="rId149"/>
    <p:sldId id="393" r:id="rId150"/>
    <p:sldId id="394" r:id="rId151"/>
    <p:sldId id="395" r:id="rId152"/>
    <p:sldId id="396" r:id="rId153"/>
    <p:sldId id="397" r:id="rId154"/>
    <p:sldId id="398" r:id="rId155"/>
    <p:sldId id="399" r:id="rId156"/>
    <p:sldId id="400" r:id="rId157"/>
    <p:sldId id="401" r:id="rId158"/>
    <p:sldId id="534" r:id="rId159"/>
    <p:sldId id="531" r:id="rId160"/>
    <p:sldId id="402" r:id="rId161"/>
    <p:sldId id="533" r:id="rId162"/>
    <p:sldId id="532" r:id="rId163"/>
    <p:sldId id="403" r:id="rId164"/>
    <p:sldId id="276" r:id="rId165"/>
  </p:sldIdLst>
  <p:sldSz cx="9144000" cy="6858000" type="screen4x3"/>
  <p:notesSz cx="6858000" cy="9144000"/>
  <p:defaultTextStyle>
    <a:defPPr>
      <a:defRPr lang="zh-CN"/>
    </a:defPPr>
    <a:lvl1pPr algn="l" rtl="0" fontAlgn="base">
      <a:spcBef>
        <a:spcPct val="0"/>
      </a:spcBef>
      <a:spcAft>
        <a:spcPct val="0"/>
      </a:spcAft>
      <a:defRPr kern="1200">
        <a:solidFill>
          <a:schemeClr val="tx1"/>
        </a:solidFill>
        <a:latin typeface="Arial" charset="0"/>
        <a:ea typeface="宋体" pitchFamily="2"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CCCC00"/>
    <a:srgbClr val="600000"/>
    <a:srgbClr val="008000"/>
    <a:srgbClr val="000099"/>
    <a:srgbClr val="F8F8F8"/>
    <a:srgbClr val="99CCFF"/>
    <a:srgbClr val="3399FF"/>
    <a:srgbClr val="00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54631" autoAdjust="0"/>
  </p:normalViewPr>
  <p:slideViewPr>
    <p:cSldViewPr>
      <p:cViewPr varScale="1">
        <p:scale>
          <a:sx n="43" d="100"/>
          <a:sy n="43" d="100"/>
        </p:scale>
        <p:origin x="2530" y="58"/>
      </p:cViewPr>
      <p:guideLst>
        <p:guide orient="horz" pos="2160"/>
        <p:guide pos="2880"/>
      </p:guideLst>
    </p:cSldViewPr>
  </p:slideViewPr>
  <p:notesTextViewPr>
    <p:cViewPr>
      <p:scale>
        <a:sx n="100" d="100"/>
        <a:sy n="100" d="100"/>
      </p:scale>
      <p:origin x="0" y="0"/>
    </p:cViewPr>
  </p:notesTextViewPr>
  <p:notesViewPr>
    <p:cSldViewPr>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slide" Target="slides/slide137.xml"/><Relationship Id="rId154" Type="http://schemas.openxmlformats.org/officeDocument/2006/relationships/slide" Target="slides/slide153.xml"/><Relationship Id="rId159" Type="http://schemas.openxmlformats.org/officeDocument/2006/relationships/slide" Target="slides/slide158.xml"/><Relationship Id="rId170" Type="http://schemas.openxmlformats.org/officeDocument/2006/relationships/theme" Target="theme/theme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slide" Target="slides/slide143.xml"/><Relationship Id="rId149" Type="http://schemas.openxmlformats.org/officeDocument/2006/relationships/slide" Target="slides/slide14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60" Type="http://schemas.openxmlformats.org/officeDocument/2006/relationships/slide" Target="slides/slide159.xml"/><Relationship Id="rId165" Type="http://schemas.openxmlformats.org/officeDocument/2006/relationships/slide" Target="slides/slide16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slide" Target="slides/slide154.xml"/><Relationship Id="rId171" Type="http://schemas.openxmlformats.org/officeDocument/2006/relationships/tableStyles" Target="tableStyles.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66"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slide" Target="slides/slide134.xml"/><Relationship Id="rId143" Type="http://schemas.openxmlformats.org/officeDocument/2006/relationships/slide" Target="slides/slide142.xml"/><Relationship Id="rId148" Type="http://schemas.openxmlformats.org/officeDocument/2006/relationships/slide" Target="slides/slide147.xml"/><Relationship Id="rId151" Type="http://schemas.openxmlformats.org/officeDocument/2006/relationships/slide" Target="slides/slide150.xml"/><Relationship Id="rId156" Type="http://schemas.openxmlformats.org/officeDocument/2006/relationships/slide" Target="slides/slide155.xml"/><Relationship Id="rId164" Type="http://schemas.openxmlformats.org/officeDocument/2006/relationships/slide" Target="slides/slide163.xml"/><Relationship Id="rId16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handoutMaster" Target="handoutMasters/handout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ea typeface="+mn-ea"/>
              </a:defRPr>
            </a:lvl1pPr>
          </a:lstStyle>
          <a:p>
            <a:pPr>
              <a:defRPr/>
            </a:pPr>
            <a:fld id="{5A4EC9AE-754B-49FD-BA16-B62493B54AAE}" type="datetimeFigureOut">
              <a:rPr lang="zh-CN" altLang="en-US"/>
              <a:pPr>
                <a:defRPr/>
              </a:pPr>
              <a:t>2023/9/3</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defRPr>
            </a:lvl1pPr>
          </a:lstStyle>
          <a:p>
            <a:pPr>
              <a:defRPr/>
            </a:pPr>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ea typeface="+mn-ea"/>
              </a:defRPr>
            </a:lvl1pPr>
          </a:lstStyle>
          <a:p>
            <a:pPr>
              <a:defRPr/>
            </a:pPr>
            <a:fld id="{D4895103-49AF-4E9F-8FAA-AC2C9A984A0F}" type="slidenum">
              <a:rPr lang="zh-CN" altLang="en-US"/>
              <a:pPr>
                <a:defRPr/>
              </a:pPr>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ea typeface="+mn-ea"/>
              </a:defRPr>
            </a:lvl1pPr>
          </a:lstStyle>
          <a:p>
            <a:pPr>
              <a:defRPr/>
            </a:pPr>
            <a:fld id="{A8BD7D17-9F94-433F-85A9-A167373EBE7A}" type="datetimeFigureOut">
              <a:rPr lang="zh-CN" altLang="en-US"/>
              <a:pPr>
                <a:defRPr/>
              </a:pPr>
              <a:t>2023/9/3</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ea typeface="+mn-ea"/>
              </a:defRPr>
            </a:lvl1pPr>
          </a:lstStyle>
          <a:p>
            <a:pPr>
              <a:defRPr/>
            </a:pPr>
            <a:fld id="{37F5F534-2C7B-4B3E-AB7E-5181B2239891}"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幻灯片图像占位符 1"/>
          <p:cNvSpPr>
            <a:spLocks noGrp="1" noRot="1" noChangeAspect="1" noTextEdit="1"/>
          </p:cNvSpPr>
          <p:nvPr>
            <p:ph type="sldImg"/>
          </p:nvPr>
        </p:nvSpPr>
        <p:spPr bwMode="auto">
          <a:noFill/>
          <a:ln>
            <a:solidFill>
              <a:srgbClr val="000000"/>
            </a:solidFill>
            <a:miter lim="800000"/>
            <a:headEnd/>
            <a:tailEnd/>
          </a:ln>
        </p:spPr>
      </p:sp>
      <p:sp>
        <p:nvSpPr>
          <p:cNvPr id="33795"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dirty="0"/>
          </a:p>
        </p:txBody>
      </p:sp>
      <p:sp>
        <p:nvSpPr>
          <p:cNvPr id="4" name="灯片编号占位符 3"/>
          <p:cNvSpPr>
            <a:spLocks noGrp="1"/>
          </p:cNvSpPr>
          <p:nvPr>
            <p:ph type="sldNum" sz="quarter" idx="5"/>
          </p:nvPr>
        </p:nvSpPr>
        <p:spPr/>
        <p:txBody>
          <a:bodyPr/>
          <a:lstStyle/>
          <a:p>
            <a:pPr>
              <a:defRPr/>
            </a:pPr>
            <a:fld id="{0A6A8501-8938-4B94-BC5C-55C939656245}" type="slidenum">
              <a:rPr lang="zh-CN" altLang="en-US" smtClean="0"/>
              <a:pPr>
                <a:defRPr/>
              </a:pPr>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3</a:t>
            </a:fld>
            <a:endParaRPr lang="zh-CN" altLang="en-US"/>
          </a:p>
        </p:txBody>
      </p:sp>
    </p:spTree>
    <p:extLst>
      <p:ext uri="{BB962C8B-B14F-4D97-AF65-F5344CB8AC3E}">
        <p14:creationId xmlns:p14="http://schemas.microsoft.com/office/powerpoint/2010/main" val="39850447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5</a:t>
            </a:fld>
            <a:endParaRPr lang="zh-CN" altLang="en-US"/>
          </a:p>
        </p:txBody>
      </p:sp>
    </p:spTree>
    <p:extLst>
      <p:ext uri="{BB962C8B-B14F-4D97-AF65-F5344CB8AC3E}">
        <p14:creationId xmlns:p14="http://schemas.microsoft.com/office/powerpoint/2010/main" val="24518285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6</a:t>
            </a:fld>
            <a:endParaRPr lang="zh-CN" altLang="en-US"/>
          </a:p>
        </p:txBody>
      </p:sp>
    </p:spTree>
    <p:extLst>
      <p:ext uri="{BB962C8B-B14F-4D97-AF65-F5344CB8AC3E}">
        <p14:creationId xmlns:p14="http://schemas.microsoft.com/office/powerpoint/2010/main" val="25442794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7</a:t>
            </a:fld>
            <a:endParaRPr lang="zh-CN" altLang="en-US"/>
          </a:p>
        </p:txBody>
      </p:sp>
    </p:spTree>
    <p:extLst>
      <p:ext uri="{BB962C8B-B14F-4D97-AF65-F5344CB8AC3E}">
        <p14:creationId xmlns:p14="http://schemas.microsoft.com/office/powerpoint/2010/main" val="22579032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B441319-1B3F-4F94-9B53-C417F44EA5D2}"/>
              </a:ext>
            </a:extLst>
          </p:cNvPr>
          <p:cNvSpPr>
            <a:spLocks noGrp="1" noChangeArrowheads="1"/>
          </p:cNvSpPr>
          <p:nvPr>
            <p:ph type="sldNum" sz="quarter" idx="5"/>
          </p:nvPr>
        </p:nvSpPr>
        <p:spPr>
          <a:ln/>
        </p:spPr>
        <p:txBody>
          <a:bodyPr/>
          <a:lstStyle/>
          <a:p>
            <a:fld id="{33AB70ED-43D4-4DB3-AAD5-E85A21454D40}" type="slidenum">
              <a:rPr lang="zh-CN" altLang="en-US"/>
              <a:pPr/>
              <a:t>12</a:t>
            </a:fld>
            <a:endParaRPr lang="en-US" altLang="zh-CN"/>
          </a:p>
        </p:txBody>
      </p:sp>
      <p:sp>
        <p:nvSpPr>
          <p:cNvPr id="265218" name="Rectangle 7">
            <a:extLst>
              <a:ext uri="{FF2B5EF4-FFF2-40B4-BE49-F238E27FC236}">
                <a16:creationId xmlns:a16="http://schemas.microsoft.com/office/drawing/2014/main" id="{CFCFDD3B-A966-42A2-8094-B7AEC576219D}"/>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2400">
                <a:solidFill>
                  <a:schemeClr val="tx1"/>
                </a:solidFill>
                <a:latin typeface="Bookman Old Style" panose="02050604050505020204" pitchFamily="18" charset="0"/>
              </a:defRPr>
            </a:lvl1pPr>
            <a:lvl2pPr marL="742950" indent="-285750">
              <a:defRPr sz="2400">
                <a:solidFill>
                  <a:schemeClr val="tx1"/>
                </a:solidFill>
                <a:latin typeface="Bookman Old Style" panose="02050604050505020204" pitchFamily="18" charset="0"/>
              </a:defRPr>
            </a:lvl2pPr>
            <a:lvl3pPr marL="1143000" indent="-228600">
              <a:defRPr sz="2400">
                <a:solidFill>
                  <a:schemeClr val="tx1"/>
                </a:solidFill>
                <a:latin typeface="Bookman Old Style" panose="02050604050505020204" pitchFamily="18" charset="0"/>
              </a:defRPr>
            </a:lvl3pPr>
            <a:lvl4pPr marL="1600200" indent="-228600">
              <a:defRPr sz="2400">
                <a:solidFill>
                  <a:schemeClr val="tx1"/>
                </a:solidFill>
                <a:latin typeface="Bookman Old Style" panose="02050604050505020204" pitchFamily="18" charset="0"/>
              </a:defRPr>
            </a:lvl4pPr>
            <a:lvl5pPr marL="2057400" indent="-228600">
              <a:defRPr sz="2400">
                <a:solidFill>
                  <a:schemeClr val="tx1"/>
                </a:solidFill>
                <a:latin typeface="Bookman Old Style" panose="02050604050505020204" pitchFamily="18" charset="0"/>
              </a:defRPr>
            </a:lvl5pPr>
            <a:lvl6pPr marL="2514600" indent="-228600" eaLnBrk="0" fontAlgn="base" hangingPunct="0">
              <a:spcBef>
                <a:spcPct val="0"/>
              </a:spcBef>
              <a:spcAft>
                <a:spcPct val="0"/>
              </a:spcAft>
              <a:defRPr sz="2400">
                <a:solidFill>
                  <a:schemeClr val="tx1"/>
                </a:solidFill>
                <a:latin typeface="Bookman Old Style" panose="02050604050505020204" pitchFamily="18" charset="0"/>
              </a:defRPr>
            </a:lvl6pPr>
            <a:lvl7pPr marL="2971800" indent="-228600" eaLnBrk="0" fontAlgn="base" hangingPunct="0">
              <a:spcBef>
                <a:spcPct val="0"/>
              </a:spcBef>
              <a:spcAft>
                <a:spcPct val="0"/>
              </a:spcAft>
              <a:defRPr sz="2400">
                <a:solidFill>
                  <a:schemeClr val="tx1"/>
                </a:solidFill>
                <a:latin typeface="Bookman Old Style" panose="02050604050505020204" pitchFamily="18" charset="0"/>
              </a:defRPr>
            </a:lvl7pPr>
            <a:lvl8pPr marL="3429000" indent="-228600" eaLnBrk="0" fontAlgn="base" hangingPunct="0">
              <a:spcBef>
                <a:spcPct val="0"/>
              </a:spcBef>
              <a:spcAft>
                <a:spcPct val="0"/>
              </a:spcAft>
              <a:defRPr sz="2400">
                <a:solidFill>
                  <a:schemeClr val="tx1"/>
                </a:solidFill>
                <a:latin typeface="Bookman Old Style" panose="02050604050505020204" pitchFamily="18" charset="0"/>
              </a:defRPr>
            </a:lvl8pPr>
            <a:lvl9pPr marL="3886200" indent="-228600" eaLnBrk="0" fontAlgn="base" hangingPunct="0">
              <a:spcBef>
                <a:spcPct val="0"/>
              </a:spcBef>
              <a:spcAft>
                <a:spcPct val="0"/>
              </a:spcAft>
              <a:defRPr sz="2400">
                <a:solidFill>
                  <a:schemeClr val="tx1"/>
                </a:solidFill>
                <a:latin typeface="Bookman Old Style" panose="02050604050505020204" pitchFamily="18" charset="0"/>
              </a:defRPr>
            </a:lvl9pPr>
          </a:lstStyle>
          <a:p>
            <a:pPr algn="r" eaLnBrk="1" hangingPunct="1"/>
            <a:fld id="{4E0896C2-FBDD-4F12-86C0-A0DAC654DB27}" type="slidenum">
              <a:rPr kumimoji="1" lang="en-US" altLang="zh-CN" sz="1200">
                <a:latin typeface="Times New Roman" panose="02020603050405020304" pitchFamily="18" charset="0"/>
                <a:ea typeface="宋体" panose="02010600030101010101" pitchFamily="2" charset="-122"/>
              </a:rPr>
              <a:pPr algn="r" eaLnBrk="1" hangingPunct="1"/>
              <a:t>12</a:t>
            </a:fld>
            <a:endParaRPr kumimoji="1" lang="en-US" altLang="zh-CN" sz="1200">
              <a:latin typeface="Times New Roman" panose="02020603050405020304" pitchFamily="18" charset="0"/>
              <a:ea typeface="宋体" panose="02010600030101010101" pitchFamily="2" charset="-122"/>
            </a:endParaRPr>
          </a:p>
        </p:txBody>
      </p:sp>
      <p:sp>
        <p:nvSpPr>
          <p:cNvPr id="265219" name="Rectangle 2">
            <a:extLst>
              <a:ext uri="{FF2B5EF4-FFF2-40B4-BE49-F238E27FC236}">
                <a16:creationId xmlns:a16="http://schemas.microsoft.com/office/drawing/2014/main" id="{C7701557-7279-4D79-B437-1B74C8BDF631}"/>
              </a:ext>
            </a:extLst>
          </p:cNvPr>
          <p:cNvSpPr>
            <a:spLocks noGrp="1" noRot="1" noChangeAspect="1" noChangeArrowheads="1" noTextEdit="1"/>
          </p:cNvSpPr>
          <p:nvPr>
            <p:ph type="sldImg"/>
          </p:nvPr>
        </p:nvSpPr>
        <p:spPr>
          <a:ln/>
        </p:spPr>
      </p:sp>
      <p:sp>
        <p:nvSpPr>
          <p:cNvPr id="265220" name="Rectangle 3">
            <a:extLst>
              <a:ext uri="{FF2B5EF4-FFF2-40B4-BE49-F238E27FC236}">
                <a16:creationId xmlns:a16="http://schemas.microsoft.com/office/drawing/2014/main" id="{23EE5776-0D6D-44A8-A605-34820DB0F23E}"/>
              </a:ext>
            </a:extLst>
          </p:cNvPr>
          <p:cNvSpPr>
            <a:spLocks noGrp="1" noChangeArrowheads="1"/>
          </p:cNvSpPr>
          <p:nvPr>
            <p:ph type="body" idx="1"/>
          </p:nvPr>
        </p:nvSpPr>
        <p:spPr/>
        <p:txBody>
          <a:bodyPr/>
          <a:lstStyle/>
          <a:p>
            <a:pPr eaLnBrk="1" hangingPunct="1"/>
            <a:endParaRPr lang="zh-CN"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14</a:t>
            </a:fld>
            <a:endParaRPr lang="zh-CN" altLang="en-US"/>
          </a:p>
        </p:txBody>
      </p:sp>
    </p:spTree>
    <p:extLst>
      <p:ext uri="{BB962C8B-B14F-4D97-AF65-F5344CB8AC3E}">
        <p14:creationId xmlns:p14="http://schemas.microsoft.com/office/powerpoint/2010/main" val="8319014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16</a:t>
            </a:fld>
            <a:endParaRPr lang="zh-CN" altLang="en-US"/>
          </a:p>
        </p:txBody>
      </p:sp>
    </p:spTree>
    <p:extLst>
      <p:ext uri="{BB962C8B-B14F-4D97-AF65-F5344CB8AC3E}">
        <p14:creationId xmlns:p14="http://schemas.microsoft.com/office/powerpoint/2010/main" val="7875729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4590171-D49E-4CFA-A5A8-37B350544DC8}" type="slidenum">
              <a:rPr lang="en-US" altLang="zh-CN" smtClean="0"/>
              <a:pPr/>
              <a:t>17</a:t>
            </a:fld>
            <a:endParaRPr lang="en-US" altLang="zh-CN"/>
          </a:p>
        </p:txBody>
      </p:sp>
    </p:spTree>
    <p:extLst>
      <p:ext uri="{BB962C8B-B14F-4D97-AF65-F5344CB8AC3E}">
        <p14:creationId xmlns:p14="http://schemas.microsoft.com/office/powerpoint/2010/main" val="27282086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18</a:t>
            </a:fld>
            <a:endParaRPr lang="zh-CN" altLang="en-US"/>
          </a:p>
        </p:txBody>
      </p:sp>
    </p:spTree>
    <p:extLst>
      <p:ext uri="{BB962C8B-B14F-4D97-AF65-F5344CB8AC3E}">
        <p14:creationId xmlns:p14="http://schemas.microsoft.com/office/powerpoint/2010/main" val="16714741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21</a:t>
            </a:fld>
            <a:endParaRPr lang="zh-CN" altLang="en-US"/>
          </a:p>
        </p:txBody>
      </p:sp>
    </p:spTree>
    <p:extLst>
      <p:ext uri="{BB962C8B-B14F-4D97-AF65-F5344CB8AC3E}">
        <p14:creationId xmlns:p14="http://schemas.microsoft.com/office/powerpoint/2010/main" val="9761477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22</a:t>
            </a:fld>
            <a:endParaRPr lang="zh-CN" altLang="en-US"/>
          </a:p>
        </p:txBody>
      </p:sp>
    </p:spTree>
    <p:extLst>
      <p:ext uri="{BB962C8B-B14F-4D97-AF65-F5344CB8AC3E}">
        <p14:creationId xmlns:p14="http://schemas.microsoft.com/office/powerpoint/2010/main" val="204437373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23</a:t>
            </a:fld>
            <a:endParaRPr lang="zh-CN" altLang="en-US"/>
          </a:p>
        </p:txBody>
      </p:sp>
    </p:spTree>
    <p:extLst>
      <p:ext uri="{BB962C8B-B14F-4D97-AF65-F5344CB8AC3E}">
        <p14:creationId xmlns:p14="http://schemas.microsoft.com/office/powerpoint/2010/main" val="81894720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25</a:t>
            </a:fld>
            <a:endParaRPr lang="zh-CN" altLang="en-US"/>
          </a:p>
        </p:txBody>
      </p:sp>
    </p:spTree>
    <p:extLst>
      <p:ext uri="{BB962C8B-B14F-4D97-AF65-F5344CB8AC3E}">
        <p14:creationId xmlns:p14="http://schemas.microsoft.com/office/powerpoint/2010/main" val="42365308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26</a:t>
            </a:fld>
            <a:endParaRPr lang="zh-CN" altLang="en-US"/>
          </a:p>
        </p:txBody>
      </p:sp>
    </p:spTree>
    <p:extLst>
      <p:ext uri="{BB962C8B-B14F-4D97-AF65-F5344CB8AC3E}">
        <p14:creationId xmlns:p14="http://schemas.microsoft.com/office/powerpoint/2010/main" val="35555471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B7B31BC7-E87F-487B-A779-C20FADD08853}"/>
              </a:ext>
            </a:extLst>
          </p:cNvPr>
          <p:cNvSpPr>
            <a:spLocks noGrp="1" noChangeArrowheads="1"/>
          </p:cNvSpPr>
          <p:nvPr>
            <p:ph type="sldNum" sz="quarter" idx="5"/>
          </p:nvPr>
        </p:nvSpPr>
        <p:spPr>
          <a:ln/>
        </p:spPr>
        <p:txBody>
          <a:bodyPr/>
          <a:lstStyle/>
          <a:p>
            <a:fld id="{6F8AC4A5-7AF3-45FD-ADBC-85C028BBEBE9}" type="slidenum">
              <a:rPr lang="en-US" altLang="zh-CN"/>
              <a:pPr/>
              <a:t>28</a:t>
            </a:fld>
            <a:endParaRPr lang="en-US" altLang="zh-CN"/>
          </a:p>
        </p:txBody>
      </p:sp>
      <p:sp>
        <p:nvSpPr>
          <p:cNvPr id="263170" name="Rectangle 2">
            <a:extLst>
              <a:ext uri="{FF2B5EF4-FFF2-40B4-BE49-F238E27FC236}">
                <a16:creationId xmlns:a16="http://schemas.microsoft.com/office/drawing/2014/main" id="{CF542774-4EF4-495C-B2C7-4A3926808A26}"/>
              </a:ext>
            </a:extLst>
          </p:cNvPr>
          <p:cNvSpPr>
            <a:spLocks noGrp="1" noRot="1" noChangeAspect="1" noChangeArrowheads="1" noTextEdit="1"/>
          </p:cNvSpPr>
          <p:nvPr>
            <p:ph type="sldImg"/>
          </p:nvPr>
        </p:nvSpPr>
        <p:spPr>
          <a:ln/>
        </p:spPr>
      </p:sp>
      <p:sp>
        <p:nvSpPr>
          <p:cNvPr id="263171" name="Rectangle 3">
            <a:extLst>
              <a:ext uri="{FF2B5EF4-FFF2-40B4-BE49-F238E27FC236}">
                <a16:creationId xmlns:a16="http://schemas.microsoft.com/office/drawing/2014/main" id="{5D68C32D-625E-467A-A4E7-943FD976202C}"/>
              </a:ext>
            </a:extLst>
          </p:cNvPr>
          <p:cNvSpPr>
            <a:spLocks noGrp="1" noChangeArrowheads="1"/>
          </p:cNvSpPr>
          <p:nvPr>
            <p:ph type="body" idx="1"/>
          </p:nvPr>
        </p:nvSpPr>
        <p:spPr/>
        <p:txBody>
          <a:bodyPr/>
          <a:lstStyle/>
          <a:p>
            <a:endParaRPr lang="zh-CN" altLang="zh-CN" dirty="0"/>
          </a:p>
        </p:txBody>
      </p:sp>
    </p:spTree>
    <p:extLst>
      <p:ext uri="{BB962C8B-B14F-4D97-AF65-F5344CB8AC3E}">
        <p14:creationId xmlns:p14="http://schemas.microsoft.com/office/powerpoint/2010/main" val="68069506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29</a:t>
            </a:fld>
            <a:endParaRPr lang="zh-CN" altLang="en-US"/>
          </a:p>
        </p:txBody>
      </p:sp>
    </p:spTree>
    <p:extLst>
      <p:ext uri="{BB962C8B-B14F-4D97-AF65-F5344CB8AC3E}">
        <p14:creationId xmlns:p14="http://schemas.microsoft.com/office/powerpoint/2010/main" val="157685467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30</a:t>
            </a:fld>
            <a:endParaRPr lang="zh-CN" altLang="en-US"/>
          </a:p>
        </p:txBody>
      </p:sp>
    </p:spTree>
    <p:extLst>
      <p:ext uri="{BB962C8B-B14F-4D97-AF65-F5344CB8AC3E}">
        <p14:creationId xmlns:p14="http://schemas.microsoft.com/office/powerpoint/2010/main" val="220989954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32</a:t>
            </a:fld>
            <a:endParaRPr lang="zh-CN" altLang="en-US"/>
          </a:p>
        </p:txBody>
      </p:sp>
    </p:spTree>
    <p:extLst>
      <p:ext uri="{BB962C8B-B14F-4D97-AF65-F5344CB8AC3E}">
        <p14:creationId xmlns:p14="http://schemas.microsoft.com/office/powerpoint/2010/main" val="404740384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33</a:t>
            </a:fld>
            <a:endParaRPr lang="zh-CN" altLang="en-US"/>
          </a:p>
        </p:txBody>
      </p:sp>
    </p:spTree>
    <p:extLst>
      <p:ext uri="{BB962C8B-B14F-4D97-AF65-F5344CB8AC3E}">
        <p14:creationId xmlns:p14="http://schemas.microsoft.com/office/powerpoint/2010/main" val="125918475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34</a:t>
            </a:fld>
            <a:endParaRPr lang="zh-CN" altLang="en-US"/>
          </a:p>
        </p:txBody>
      </p:sp>
    </p:spTree>
    <p:extLst>
      <p:ext uri="{BB962C8B-B14F-4D97-AF65-F5344CB8AC3E}">
        <p14:creationId xmlns:p14="http://schemas.microsoft.com/office/powerpoint/2010/main" val="368910544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35</a:t>
            </a:fld>
            <a:endParaRPr lang="zh-CN" altLang="en-US"/>
          </a:p>
        </p:txBody>
      </p:sp>
    </p:spTree>
    <p:extLst>
      <p:ext uri="{BB962C8B-B14F-4D97-AF65-F5344CB8AC3E}">
        <p14:creationId xmlns:p14="http://schemas.microsoft.com/office/powerpoint/2010/main" val="3300534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36</a:t>
            </a:fld>
            <a:endParaRPr lang="zh-CN" altLang="en-US"/>
          </a:p>
        </p:txBody>
      </p:sp>
    </p:spTree>
    <p:extLst>
      <p:ext uri="{BB962C8B-B14F-4D97-AF65-F5344CB8AC3E}">
        <p14:creationId xmlns:p14="http://schemas.microsoft.com/office/powerpoint/2010/main" val="194004665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40</a:t>
            </a:fld>
            <a:endParaRPr lang="zh-CN" altLang="en-US"/>
          </a:p>
        </p:txBody>
      </p:sp>
    </p:spTree>
    <p:extLst>
      <p:ext uri="{BB962C8B-B14F-4D97-AF65-F5344CB8AC3E}">
        <p14:creationId xmlns:p14="http://schemas.microsoft.com/office/powerpoint/2010/main" val="238910215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41</a:t>
            </a:fld>
            <a:endParaRPr lang="zh-CN" altLang="en-US"/>
          </a:p>
        </p:txBody>
      </p:sp>
    </p:spTree>
    <p:extLst>
      <p:ext uri="{BB962C8B-B14F-4D97-AF65-F5344CB8AC3E}">
        <p14:creationId xmlns:p14="http://schemas.microsoft.com/office/powerpoint/2010/main" val="404830828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42</a:t>
            </a:fld>
            <a:endParaRPr lang="zh-CN" altLang="en-US"/>
          </a:p>
        </p:txBody>
      </p:sp>
    </p:spTree>
    <p:extLst>
      <p:ext uri="{BB962C8B-B14F-4D97-AF65-F5344CB8AC3E}">
        <p14:creationId xmlns:p14="http://schemas.microsoft.com/office/powerpoint/2010/main" val="65821508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45</a:t>
            </a:fld>
            <a:endParaRPr lang="zh-CN" altLang="en-US"/>
          </a:p>
        </p:txBody>
      </p:sp>
    </p:spTree>
    <p:extLst>
      <p:ext uri="{BB962C8B-B14F-4D97-AF65-F5344CB8AC3E}">
        <p14:creationId xmlns:p14="http://schemas.microsoft.com/office/powerpoint/2010/main" val="251531959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46</a:t>
            </a:fld>
            <a:endParaRPr lang="zh-CN" altLang="en-US"/>
          </a:p>
        </p:txBody>
      </p:sp>
    </p:spTree>
    <p:extLst>
      <p:ext uri="{BB962C8B-B14F-4D97-AF65-F5344CB8AC3E}">
        <p14:creationId xmlns:p14="http://schemas.microsoft.com/office/powerpoint/2010/main" val="136519189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47</a:t>
            </a:fld>
            <a:endParaRPr lang="zh-CN" altLang="en-US"/>
          </a:p>
        </p:txBody>
      </p:sp>
    </p:spTree>
    <p:extLst>
      <p:ext uri="{BB962C8B-B14F-4D97-AF65-F5344CB8AC3E}">
        <p14:creationId xmlns:p14="http://schemas.microsoft.com/office/powerpoint/2010/main" val="116678187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50</a:t>
            </a:fld>
            <a:endParaRPr lang="zh-CN" altLang="en-US"/>
          </a:p>
        </p:txBody>
      </p:sp>
    </p:spTree>
    <p:extLst>
      <p:ext uri="{BB962C8B-B14F-4D97-AF65-F5344CB8AC3E}">
        <p14:creationId xmlns:p14="http://schemas.microsoft.com/office/powerpoint/2010/main" val="341561194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51</a:t>
            </a:fld>
            <a:endParaRPr lang="zh-CN" altLang="en-US"/>
          </a:p>
        </p:txBody>
      </p:sp>
    </p:spTree>
    <p:extLst>
      <p:ext uri="{BB962C8B-B14F-4D97-AF65-F5344CB8AC3E}">
        <p14:creationId xmlns:p14="http://schemas.microsoft.com/office/powerpoint/2010/main" val="4154247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52</a:t>
            </a:fld>
            <a:endParaRPr lang="zh-CN" altLang="en-US"/>
          </a:p>
        </p:txBody>
      </p:sp>
    </p:spTree>
    <p:extLst>
      <p:ext uri="{BB962C8B-B14F-4D97-AF65-F5344CB8AC3E}">
        <p14:creationId xmlns:p14="http://schemas.microsoft.com/office/powerpoint/2010/main" val="412161599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56</a:t>
            </a:fld>
            <a:endParaRPr lang="zh-CN" altLang="en-US"/>
          </a:p>
        </p:txBody>
      </p:sp>
    </p:spTree>
    <p:extLst>
      <p:ext uri="{BB962C8B-B14F-4D97-AF65-F5344CB8AC3E}">
        <p14:creationId xmlns:p14="http://schemas.microsoft.com/office/powerpoint/2010/main" val="286038652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57</a:t>
            </a:fld>
            <a:endParaRPr lang="zh-CN" altLang="en-US"/>
          </a:p>
        </p:txBody>
      </p:sp>
    </p:spTree>
    <p:extLst>
      <p:ext uri="{BB962C8B-B14F-4D97-AF65-F5344CB8AC3E}">
        <p14:creationId xmlns:p14="http://schemas.microsoft.com/office/powerpoint/2010/main" val="410396828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59</a:t>
            </a:fld>
            <a:endParaRPr lang="zh-CN" altLang="en-US"/>
          </a:p>
        </p:txBody>
      </p:sp>
    </p:spTree>
    <p:extLst>
      <p:ext uri="{BB962C8B-B14F-4D97-AF65-F5344CB8AC3E}">
        <p14:creationId xmlns:p14="http://schemas.microsoft.com/office/powerpoint/2010/main" val="349041874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62</a:t>
            </a:fld>
            <a:endParaRPr lang="zh-CN" altLang="en-US"/>
          </a:p>
        </p:txBody>
      </p:sp>
    </p:spTree>
    <p:extLst>
      <p:ext uri="{BB962C8B-B14F-4D97-AF65-F5344CB8AC3E}">
        <p14:creationId xmlns:p14="http://schemas.microsoft.com/office/powerpoint/2010/main" val="375103512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65</a:t>
            </a:fld>
            <a:endParaRPr lang="zh-CN" altLang="en-US"/>
          </a:p>
        </p:txBody>
      </p:sp>
    </p:spTree>
    <p:extLst>
      <p:ext uri="{BB962C8B-B14F-4D97-AF65-F5344CB8AC3E}">
        <p14:creationId xmlns:p14="http://schemas.microsoft.com/office/powerpoint/2010/main" val="3512188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72</a:t>
            </a:fld>
            <a:endParaRPr lang="zh-CN" altLang="en-US"/>
          </a:p>
        </p:txBody>
      </p:sp>
    </p:spTree>
    <p:extLst>
      <p:ext uri="{BB962C8B-B14F-4D97-AF65-F5344CB8AC3E}">
        <p14:creationId xmlns:p14="http://schemas.microsoft.com/office/powerpoint/2010/main" val="55073348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75</a:t>
            </a:fld>
            <a:endParaRPr lang="zh-CN" altLang="en-US"/>
          </a:p>
        </p:txBody>
      </p:sp>
    </p:spTree>
    <p:extLst>
      <p:ext uri="{BB962C8B-B14F-4D97-AF65-F5344CB8AC3E}">
        <p14:creationId xmlns:p14="http://schemas.microsoft.com/office/powerpoint/2010/main" val="272289509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76</a:t>
            </a:fld>
            <a:endParaRPr lang="zh-CN" altLang="en-US"/>
          </a:p>
        </p:txBody>
      </p:sp>
    </p:spTree>
    <p:extLst>
      <p:ext uri="{BB962C8B-B14F-4D97-AF65-F5344CB8AC3E}">
        <p14:creationId xmlns:p14="http://schemas.microsoft.com/office/powerpoint/2010/main" val="103510135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77</a:t>
            </a:fld>
            <a:endParaRPr lang="zh-CN" altLang="en-US"/>
          </a:p>
        </p:txBody>
      </p:sp>
    </p:spTree>
    <p:extLst>
      <p:ext uri="{BB962C8B-B14F-4D97-AF65-F5344CB8AC3E}">
        <p14:creationId xmlns:p14="http://schemas.microsoft.com/office/powerpoint/2010/main" val="350348921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78</a:t>
            </a:fld>
            <a:endParaRPr lang="zh-CN" altLang="en-US"/>
          </a:p>
        </p:txBody>
      </p:sp>
    </p:spTree>
    <p:extLst>
      <p:ext uri="{BB962C8B-B14F-4D97-AF65-F5344CB8AC3E}">
        <p14:creationId xmlns:p14="http://schemas.microsoft.com/office/powerpoint/2010/main" val="420477427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80</a:t>
            </a:fld>
            <a:endParaRPr lang="zh-CN" altLang="en-US"/>
          </a:p>
        </p:txBody>
      </p:sp>
    </p:spTree>
    <p:extLst>
      <p:ext uri="{BB962C8B-B14F-4D97-AF65-F5344CB8AC3E}">
        <p14:creationId xmlns:p14="http://schemas.microsoft.com/office/powerpoint/2010/main" val="237197263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83</a:t>
            </a:fld>
            <a:endParaRPr lang="zh-CN" altLang="en-US"/>
          </a:p>
        </p:txBody>
      </p:sp>
    </p:spTree>
    <p:extLst>
      <p:ext uri="{BB962C8B-B14F-4D97-AF65-F5344CB8AC3E}">
        <p14:creationId xmlns:p14="http://schemas.microsoft.com/office/powerpoint/2010/main" val="398103614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a:extLst>
              <a:ext uri="{FF2B5EF4-FFF2-40B4-BE49-F238E27FC236}">
                <a16:creationId xmlns:a16="http://schemas.microsoft.com/office/drawing/2014/main" id="{0C1E241B-22DA-4537-A326-C28A1626BD15}"/>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fld id="{8E3A9DC9-D356-4E78-8E39-C412A0AB6C0C}" type="slidenum">
              <a:rPr lang="en-US" altLang="zh-CN" sz="1200"/>
              <a:pPr algn="r" eaLnBrk="1" hangingPunct="1"/>
              <a:t>88</a:t>
            </a:fld>
            <a:endParaRPr lang="en-US" altLang="zh-CN" sz="1200"/>
          </a:p>
        </p:txBody>
      </p:sp>
      <p:sp>
        <p:nvSpPr>
          <p:cNvPr id="86019" name="Rectangle 2">
            <a:extLst>
              <a:ext uri="{FF2B5EF4-FFF2-40B4-BE49-F238E27FC236}">
                <a16:creationId xmlns:a16="http://schemas.microsoft.com/office/drawing/2014/main" id="{56CB7D40-7FB7-4635-ACD6-DA62DE4DE3BD}"/>
              </a:ext>
            </a:extLst>
          </p:cNvPr>
          <p:cNvSpPr>
            <a:spLocks noGrp="1" noRot="1" noChangeAspect="1" noChangeArrowheads="1" noTextEdit="1"/>
          </p:cNvSpPr>
          <p:nvPr>
            <p:ph type="sldImg"/>
          </p:nvPr>
        </p:nvSpPr>
        <p:spPr>
          <a:ln/>
        </p:spPr>
      </p:sp>
      <p:sp>
        <p:nvSpPr>
          <p:cNvPr id="86020" name="Rectangle 3">
            <a:extLst>
              <a:ext uri="{FF2B5EF4-FFF2-40B4-BE49-F238E27FC236}">
                <a16:creationId xmlns:a16="http://schemas.microsoft.com/office/drawing/2014/main" id="{9F3695BD-84EF-4931-8C37-F1E357BD251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dirty="0"/>
          </a:p>
        </p:txBody>
      </p:sp>
    </p:spTree>
    <p:extLst>
      <p:ext uri="{BB962C8B-B14F-4D97-AF65-F5344CB8AC3E}">
        <p14:creationId xmlns:p14="http://schemas.microsoft.com/office/powerpoint/2010/main" val="212042199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89</a:t>
            </a:fld>
            <a:endParaRPr lang="zh-CN" altLang="en-US"/>
          </a:p>
        </p:txBody>
      </p:sp>
    </p:spTree>
    <p:extLst>
      <p:ext uri="{BB962C8B-B14F-4D97-AF65-F5344CB8AC3E}">
        <p14:creationId xmlns:p14="http://schemas.microsoft.com/office/powerpoint/2010/main" val="404854869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90</a:t>
            </a:fld>
            <a:endParaRPr lang="zh-CN" altLang="en-US"/>
          </a:p>
        </p:txBody>
      </p:sp>
    </p:spTree>
    <p:extLst>
      <p:ext uri="{BB962C8B-B14F-4D97-AF65-F5344CB8AC3E}">
        <p14:creationId xmlns:p14="http://schemas.microsoft.com/office/powerpoint/2010/main" val="270190852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94</a:t>
            </a:fld>
            <a:endParaRPr lang="zh-CN" altLang="en-US"/>
          </a:p>
        </p:txBody>
      </p:sp>
    </p:spTree>
    <p:extLst>
      <p:ext uri="{BB962C8B-B14F-4D97-AF65-F5344CB8AC3E}">
        <p14:creationId xmlns:p14="http://schemas.microsoft.com/office/powerpoint/2010/main" val="27689006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102</a:t>
            </a:fld>
            <a:endParaRPr lang="zh-CN" altLang="en-US"/>
          </a:p>
        </p:txBody>
      </p:sp>
    </p:spTree>
    <p:extLst>
      <p:ext uri="{BB962C8B-B14F-4D97-AF65-F5344CB8AC3E}">
        <p14:creationId xmlns:p14="http://schemas.microsoft.com/office/powerpoint/2010/main" val="334498219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124</a:t>
            </a:fld>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125</a:t>
            </a:fld>
            <a:endParaRPr lang="zh-CN" altLang="en-US"/>
          </a:p>
        </p:txBody>
      </p:sp>
    </p:spTree>
    <p:extLst>
      <p:ext uri="{BB962C8B-B14F-4D97-AF65-F5344CB8AC3E}">
        <p14:creationId xmlns:p14="http://schemas.microsoft.com/office/powerpoint/2010/main" val="48793050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126</a:t>
            </a:fld>
            <a:endParaRPr lang="zh-CN" altLang="en-US"/>
          </a:p>
        </p:txBody>
      </p:sp>
    </p:spTree>
    <p:extLst>
      <p:ext uri="{BB962C8B-B14F-4D97-AF65-F5344CB8AC3E}">
        <p14:creationId xmlns:p14="http://schemas.microsoft.com/office/powerpoint/2010/main" val="385044550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129</a:t>
            </a:fld>
            <a:endParaRPr lang="zh-CN" altLang="en-US"/>
          </a:p>
        </p:txBody>
      </p:sp>
    </p:spTree>
    <p:extLst>
      <p:ext uri="{BB962C8B-B14F-4D97-AF65-F5344CB8AC3E}">
        <p14:creationId xmlns:p14="http://schemas.microsoft.com/office/powerpoint/2010/main" val="49152163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133</a:t>
            </a:fld>
            <a:endParaRPr lang="zh-CN" altLang="en-US"/>
          </a:p>
        </p:txBody>
      </p:sp>
    </p:spTree>
    <p:extLst>
      <p:ext uri="{BB962C8B-B14F-4D97-AF65-F5344CB8AC3E}">
        <p14:creationId xmlns:p14="http://schemas.microsoft.com/office/powerpoint/2010/main" val="318908810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136</a:t>
            </a:fld>
            <a:endParaRPr lang="zh-CN" altLang="en-US"/>
          </a:p>
        </p:txBody>
      </p:sp>
    </p:spTree>
    <p:extLst>
      <p:ext uri="{BB962C8B-B14F-4D97-AF65-F5344CB8AC3E}">
        <p14:creationId xmlns:p14="http://schemas.microsoft.com/office/powerpoint/2010/main" val="423131221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143</a:t>
            </a:fld>
            <a:endParaRPr lang="zh-CN" altLang="en-US"/>
          </a:p>
        </p:txBody>
      </p:sp>
    </p:spTree>
    <p:extLst>
      <p:ext uri="{BB962C8B-B14F-4D97-AF65-F5344CB8AC3E}">
        <p14:creationId xmlns:p14="http://schemas.microsoft.com/office/powerpoint/2010/main" val="364256215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145</a:t>
            </a:fld>
            <a:endParaRPr lang="zh-CN" altLang="en-US"/>
          </a:p>
        </p:txBody>
      </p:sp>
    </p:spTree>
    <p:extLst>
      <p:ext uri="{BB962C8B-B14F-4D97-AF65-F5344CB8AC3E}">
        <p14:creationId xmlns:p14="http://schemas.microsoft.com/office/powerpoint/2010/main" val="291699702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146</a:t>
            </a:fld>
            <a:endParaRPr lang="zh-CN" altLang="en-US"/>
          </a:p>
        </p:txBody>
      </p:sp>
    </p:spTree>
    <p:extLst>
      <p:ext uri="{BB962C8B-B14F-4D97-AF65-F5344CB8AC3E}">
        <p14:creationId xmlns:p14="http://schemas.microsoft.com/office/powerpoint/2010/main" val="269123716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147</a:t>
            </a:fld>
            <a:endParaRPr lang="zh-CN" altLang="en-US"/>
          </a:p>
        </p:txBody>
      </p:sp>
    </p:spTree>
    <p:extLst>
      <p:ext uri="{BB962C8B-B14F-4D97-AF65-F5344CB8AC3E}">
        <p14:creationId xmlns:p14="http://schemas.microsoft.com/office/powerpoint/2010/main" val="117314785"/>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158</a:t>
            </a:fld>
            <a:endParaRPr lang="zh-CN" altLang="en-US"/>
          </a:p>
        </p:txBody>
      </p:sp>
    </p:spTree>
    <p:extLst>
      <p:ext uri="{BB962C8B-B14F-4D97-AF65-F5344CB8AC3E}">
        <p14:creationId xmlns:p14="http://schemas.microsoft.com/office/powerpoint/2010/main" val="1732003010"/>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159</a:t>
            </a:fld>
            <a:endParaRPr lang="zh-CN" altLang="en-US"/>
          </a:p>
        </p:txBody>
      </p:sp>
    </p:spTree>
    <p:extLst>
      <p:ext uri="{BB962C8B-B14F-4D97-AF65-F5344CB8AC3E}">
        <p14:creationId xmlns:p14="http://schemas.microsoft.com/office/powerpoint/2010/main" val="101436844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160</a:t>
            </a:fld>
            <a:endParaRPr lang="zh-CN" altLang="en-US"/>
          </a:p>
        </p:txBody>
      </p:sp>
    </p:spTree>
    <p:extLst>
      <p:ext uri="{BB962C8B-B14F-4D97-AF65-F5344CB8AC3E}">
        <p14:creationId xmlns:p14="http://schemas.microsoft.com/office/powerpoint/2010/main" val="1674873470"/>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161</a:t>
            </a:fld>
            <a:endParaRPr lang="zh-CN" altLang="en-US"/>
          </a:p>
        </p:txBody>
      </p:sp>
    </p:spTree>
    <p:extLst>
      <p:ext uri="{BB962C8B-B14F-4D97-AF65-F5344CB8AC3E}">
        <p14:creationId xmlns:p14="http://schemas.microsoft.com/office/powerpoint/2010/main" val="1068419977"/>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162</a:t>
            </a:fld>
            <a:endParaRPr lang="zh-CN" altLang="en-US"/>
          </a:p>
        </p:txBody>
      </p:sp>
    </p:spTree>
    <p:extLst>
      <p:ext uri="{BB962C8B-B14F-4D97-AF65-F5344CB8AC3E}">
        <p14:creationId xmlns:p14="http://schemas.microsoft.com/office/powerpoint/2010/main" val="17924197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image" Target="../media/image3.jpe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4" name="Picture 1" descr="C:\Users\Administrator\AppData\Roaming\Tencent\Users\85060380\QQ\WinTemp\RichOle\3{JSB(G2RI2O{CFOGZRGH23.jpg"/>
          <p:cNvPicPr>
            <a:picLocks noChangeAspect="1" noChangeArrowheads="1"/>
          </p:cNvPicPr>
          <p:nvPr/>
        </p:nvPicPr>
        <p:blipFill rotWithShape="1">
          <a:blip r:embed="rId2" cstate="print"/>
          <a:srcRect r="78850"/>
          <a:stretch/>
        </p:blipFill>
        <p:spPr bwMode="auto">
          <a:xfrm>
            <a:off x="1" y="44624"/>
            <a:ext cx="899591" cy="792088"/>
          </a:xfrm>
          <a:prstGeom prst="rect">
            <a:avLst/>
          </a:prstGeom>
          <a:noFill/>
          <a:ln w="9525">
            <a:noFill/>
            <a:miter lim="800000"/>
            <a:headEnd/>
            <a:tailEnd/>
          </a:ln>
        </p:spPr>
      </p:pic>
      <p:pic>
        <p:nvPicPr>
          <p:cNvPr id="6" name="Picture 2" descr="C:\Users\Administrator\AppData\Roaming\Tencent\Users\85060380\QQ\WinTemp\RichOle\J6JYNSSQRTOD2X}K2W`MNJ7.jpg"/>
          <p:cNvPicPr>
            <a:picLocks noChangeAspect="1" noChangeArrowheads="1"/>
          </p:cNvPicPr>
          <p:nvPr/>
        </p:nvPicPr>
        <p:blipFill>
          <a:blip r:embed="rId3" cstate="print"/>
          <a:srcRect/>
          <a:stretch>
            <a:fillRect/>
          </a:stretch>
        </p:blipFill>
        <p:spPr bwMode="auto">
          <a:xfrm>
            <a:off x="6764751" y="1"/>
            <a:ext cx="1191625" cy="740094"/>
          </a:xfrm>
          <a:prstGeom prst="rect">
            <a:avLst/>
          </a:prstGeom>
          <a:noFill/>
          <a:ln w="9525">
            <a:noFill/>
            <a:miter lim="800000"/>
            <a:headEnd/>
            <a:tailEnd/>
          </a:ln>
        </p:spPr>
      </p:pic>
      <p:pic>
        <p:nvPicPr>
          <p:cNvPr id="7" name="Picture 3" descr="C:\Users\Administrator\AppData\Roaming\Tencent\Users\85060380\QQ\WinTemp\RichOle\GD$GN72[756M7J@}Q112F3M.jpg"/>
          <p:cNvPicPr>
            <a:picLocks noChangeAspect="1" noChangeArrowheads="1"/>
          </p:cNvPicPr>
          <p:nvPr/>
        </p:nvPicPr>
        <p:blipFill>
          <a:blip r:embed="rId4" cstate="print"/>
          <a:srcRect/>
          <a:stretch>
            <a:fillRect/>
          </a:stretch>
        </p:blipFill>
        <p:spPr bwMode="auto">
          <a:xfrm>
            <a:off x="7956376" y="1"/>
            <a:ext cx="1191625" cy="740094"/>
          </a:xfrm>
          <a:prstGeom prst="rect">
            <a:avLst/>
          </a:prstGeom>
          <a:noFill/>
          <a:ln w="9525">
            <a:noFill/>
            <a:miter lim="800000"/>
            <a:headEnd/>
            <a:tailEnd/>
          </a:ln>
        </p:spPr>
      </p:pic>
      <p:pic>
        <p:nvPicPr>
          <p:cNvPr id="8" name="Picture 4" descr="C:\Users\Administrator\AppData\Roaming\Tencent\Users\85060380\QQ\WinTemp\RichOle\{SL304[_K`X~M@`NNZQS~XD.jpg"/>
          <p:cNvPicPr>
            <a:picLocks noChangeAspect="1" noChangeArrowheads="1"/>
          </p:cNvPicPr>
          <p:nvPr/>
        </p:nvPicPr>
        <p:blipFill>
          <a:blip r:embed="rId5" cstate="print"/>
          <a:srcRect/>
          <a:stretch>
            <a:fillRect/>
          </a:stretch>
        </p:blipFill>
        <p:spPr bwMode="auto">
          <a:xfrm>
            <a:off x="4427984" y="0"/>
            <a:ext cx="2350885" cy="740094"/>
          </a:xfrm>
          <a:prstGeom prst="rect">
            <a:avLst/>
          </a:prstGeom>
          <a:noFill/>
          <a:ln w="9525">
            <a:noFill/>
            <a:miter lim="800000"/>
            <a:headEnd/>
            <a:tailEnd/>
          </a:ln>
        </p:spPr>
      </p:pic>
      <p:sp>
        <p:nvSpPr>
          <p:cNvPr id="2" name="标题 1"/>
          <p:cNvSpPr>
            <a:spLocks noGrp="1"/>
          </p:cNvSpPr>
          <p:nvPr>
            <p:ph type="ctrTitle"/>
          </p:nvPr>
        </p:nvSpPr>
        <p:spPr>
          <a:xfrm>
            <a:off x="685800" y="2130425"/>
            <a:ext cx="7772400" cy="1470025"/>
          </a:xfrm>
          <a:prstGeom prst="rect">
            <a:avLst/>
          </a:prstGeom>
        </p:spPr>
        <p:txBody>
          <a:bodyPr/>
          <a:lstStyle>
            <a:lvl1pPr>
              <a:defRPr/>
            </a:lvl1pPr>
          </a:lstStyle>
          <a:p>
            <a:r>
              <a:rPr lang="zh-CN" altLang="en-US" dirty="0"/>
              <a:t>单击此处编辑母版标题样式</a:t>
            </a:r>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p>
        </p:txBody>
      </p:sp>
      <p:sp>
        <p:nvSpPr>
          <p:cNvPr id="9" name="日期占位符 3"/>
          <p:cNvSpPr>
            <a:spLocks noGrp="1"/>
          </p:cNvSpPr>
          <p:nvPr>
            <p:ph type="dt" sz="half" idx="10"/>
          </p:nvPr>
        </p:nvSpPr>
        <p:spPr/>
        <p:txBody>
          <a:bodyPr/>
          <a:lstStyle>
            <a:lvl1pPr>
              <a:defRPr/>
            </a:lvl1pPr>
          </a:lstStyle>
          <a:p>
            <a:pPr>
              <a:defRPr/>
            </a:pPr>
            <a:fld id="{3169F77C-FFE2-4793-9207-02588634C718}" type="datetimeFigureOut">
              <a:rPr lang="zh-CN" altLang="en-US"/>
              <a:pPr>
                <a:defRPr/>
              </a:pPr>
              <a:t>2023/9/3</a:t>
            </a:fld>
            <a:endParaRPr lang="zh-CN" altLang="en-US"/>
          </a:p>
        </p:txBody>
      </p:sp>
      <p:sp>
        <p:nvSpPr>
          <p:cNvPr id="10" name="页脚占位符 4"/>
          <p:cNvSpPr>
            <a:spLocks noGrp="1"/>
          </p:cNvSpPr>
          <p:nvPr>
            <p:ph type="ftr" sz="quarter" idx="11"/>
          </p:nvPr>
        </p:nvSpPr>
        <p:spPr/>
        <p:txBody>
          <a:bodyPr/>
          <a:lstStyle>
            <a:lvl1pPr>
              <a:defRPr/>
            </a:lvl1pPr>
          </a:lstStyle>
          <a:p>
            <a:pPr>
              <a:defRPr/>
            </a:pPr>
            <a:endParaRPr lang="zh-CN" altLang="en-US"/>
          </a:p>
        </p:txBody>
      </p:sp>
      <p:sp>
        <p:nvSpPr>
          <p:cNvPr id="11" name="灯片编号占位符 5"/>
          <p:cNvSpPr>
            <a:spLocks noGrp="1"/>
          </p:cNvSpPr>
          <p:nvPr>
            <p:ph type="sldNum" sz="quarter" idx="12"/>
          </p:nvPr>
        </p:nvSpPr>
        <p:spPr/>
        <p:txBody>
          <a:bodyPr/>
          <a:lstStyle>
            <a:lvl1pPr>
              <a:defRPr/>
            </a:lvl1pPr>
          </a:lstStyle>
          <a:p>
            <a:pPr>
              <a:defRPr/>
            </a:pPr>
            <a:fld id="{CDC8E333-6AB3-4FDA-8E97-ACA84AEA881D}" type="slidenum">
              <a:rPr lang="zh-CN" altLang="en-US"/>
              <a:pPr>
                <a:defRPr/>
              </a:pPr>
              <a:t>‹#›</a:t>
            </a:fld>
            <a:endParaRPr lang="zh-CN" altLang="en-US"/>
          </a:p>
        </p:txBody>
      </p:sp>
      <p:pic>
        <p:nvPicPr>
          <p:cNvPr id="13" name="图片 12">
            <a:extLst>
              <a:ext uri="{FF2B5EF4-FFF2-40B4-BE49-F238E27FC236}">
                <a16:creationId xmlns:a16="http://schemas.microsoft.com/office/drawing/2014/main" id="{B93D3275-083F-47FB-8AE6-915D3BE6F623}"/>
              </a:ext>
            </a:extLst>
          </p:cNvPr>
          <p:cNvPicPr>
            <a:picLocks noChangeAspect="1"/>
          </p:cNvPicPr>
          <p:nvPr userDrawn="1"/>
        </p:nvPicPr>
        <p:blipFill rotWithShape="1">
          <a:blip r:embed="rId6" cstate="print"/>
          <a:srcRect l="32675" t="11636" r="34167" b="75247"/>
          <a:stretch/>
        </p:blipFill>
        <p:spPr>
          <a:xfrm>
            <a:off x="971600" y="259870"/>
            <a:ext cx="2592288" cy="576842"/>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pic>
        <p:nvPicPr>
          <p:cNvPr id="6" name="Picture 2" descr="C:\Users\Administrator\Desktop\44.jpg"/>
          <p:cNvPicPr>
            <a:picLocks noChangeAspect="1" noChangeArrowheads="1"/>
          </p:cNvPicPr>
          <p:nvPr/>
        </p:nvPicPr>
        <p:blipFill>
          <a:blip r:embed="rId2" cstate="print"/>
          <a:srcRect/>
          <a:stretch>
            <a:fillRect/>
          </a:stretch>
        </p:blipFill>
        <p:spPr bwMode="auto">
          <a:xfrm>
            <a:off x="7429500" y="5948363"/>
            <a:ext cx="1714500" cy="909637"/>
          </a:xfrm>
          <a:prstGeom prst="rect">
            <a:avLst/>
          </a:prstGeom>
          <a:noFill/>
          <a:ln w="9525">
            <a:noFill/>
            <a:miter lim="800000"/>
            <a:headEnd/>
            <a:tailEnd/>
          </a:ln>
        </p:spPr>
      </p:pic>
      <p:sp>
        <p:nvSpPr>
          <p:cNvPr id="7" name="日期占位符 3"/>
          <p:cNvSpPr>
            <a:spLocks noGrp="1"/>
          </p:cNvSpPr>
          <p:nvPr>
            <p:ph type="dt" sz="half" idx="10"/>
          </p:nvPr>
        </p:nvSpPr>
        <p:spPr/>
        <p:txBody>
          <a:bodyPr/>
          <a:lstStyle>
            <a:lvl1pPr>
              <a:defRPr/>
            </a:lvl1pPr>
          </a:lstStyle>
          <a:p>
            <a:pPr>
              <a:defRPr/>
            </a:pPr>
            <a:fld id="{B91F3533-4646-4892-B1D3-08067A86ACDD}" type="datetimeFigureOut">
              <a:rPr lang="zh-CN" altLang="en-US"/>
              <a:pPr>
                <a:defRPr/>
              </a:pPr>
              <a:t>2023/9/3</a:t>
            </a:fld>
            <a:endParaRPr lang="zh-CN" altLang="en-US"/>
          </a:p>
        </p:txBody>
      </p:sp>
      <p:sp>
        <p:nvSpPr>
          <p:cNvPr id="8" name="页脚占位符 4"/>
          <p:cNvSpPr>
            <a:spLocks noGrp="1"/>
          </p:cNvSpPr>
          <p:nvPr>
            <p:ph type="ftr" sz="quarter" idx="11"/>
          </p:nvPr>
        </p:nvSpPr>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p:txBody>
          <a:bodyPr/>
          <a:lstStyle>
            <a:lvl1pPr>
              <a:defRPr/>
            </a:lvl1pPr>
          </a:lstStyle>
          <a:p>
            <a:pPr>
              <a:defRPr/>
            </a:pPr>
            <a:fld id="{F36D17FC-20E3-4805-979B-A7677B8B4C05}" type="slidenum">
              <a:rPr lang="zh-CN" altLang="en-US"/>
              <a:pPr>
                <a:defRPr/>
              </a:pPr>
              <a:t>‹#›</a:t>
            </a:fld>
            <a:endParaRPr lang="zh-CN" altLang="en-US"/>
          </a:p>
        </p:txBody>
      </p:sp>
      <p:pic>
        <p:nvPicPr>
          <p:cNvPr id="10" name="Picture 1" descr="C:\Users\Administrator\AppData\Roaming\Tencent\Users\85060380\QQ\WinTemp\RichOle\3{JSB(G2RI2O{CFOGZRGH23.jpg">
            <a:extLst>
              <a:ext uri="{FF2B5EF4-FFF2-40B4-BE49-F238E27FC236}">
                <a16:creationId xmlns:a16="http://schemas.microsoft.com/office/drawing/2014/main" id="{3270E545-7934-4BFA-B40E-1C355AF290BD}"/>
              </a:ext>
            </a:extLst>
          </p:cNvPr>
          <p:cNvPicPr>
            <a:picLocks noChangeAspect="1" noChangeArrowheads="1"/>
          </p:cNvPicPr>
          <p:nvPr userDrawn="1"/>
        </p:nvPicPr>
        <p:blipFill rotWithShape="1">
          <a:blip r:embed="rId3" cstate="print"/>
          <a:srcRect r="78850"/>
          <a:stretch/>
        </p:blipFill>
        <p:spPr bwMode="auto">
          <a:xfrm>
            <a:off x="1" y="6126164"/>
            <a:ext cx="862263" cy="759220"/>
          </a:xfrm>
          <a:prstGeom prst="rect">
            <a:avLst/>
          </a:prstGeom>
          <a:noFill/>
          <a:ln w="9525">
            <a:noFill/>
            <a:miter lim="800000"/>
            <a:headEnd/>
            <a:tailEnd/>
          </a:ln>
        </p:spPr>
      </p:pic>
      <p:pic>
        <p:nvPicPr>
          <p:cNvPr id="11" name="图片 10">
            <a:extLst>
              <a:ext uri="{FF2B5EF4-FFF2-40B4-BE49-F238E27FC236}">
                <a16:creationId xmlns:a16="http://schemas.microsoft.com/office/drawing/2014/main" id="{9D899D2D-93AD-4325-9F12-9039E226AB1A}"/>
              </a:ext>
            </a:extLst>
          </p:cNvPr>
          <p:cNvPicPr>
            <a:picLocks noChangeAspect="1"/>
          </p:cNvPicPr>
          <p:nvPr userDrawn="1"/>
        </p:nvPicPr>
        <p:blipFill rotWithShape="1">
          <a:blip r:embed="rId4" cstate="print"/>
          <a:srcRect l="32675" t="11636" r="34167" b="75247"/>
          <a:stretch/>
        </p:blipFill>
        <p:spPr>
          <a:xfrm>
            <a:off x="810072" y="6309320"/>
            <a:ext cx="1872208" cy="416609"/>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3" name="日期占位符 3"/>
          <p:cNvSpPr>
            <a:spLocks noGrp="1"/>
          </p:cNvSpPr>
          <p:nvPr>
            <p:ph type="dt" sz="half" idx="10"/>
          </p:nvPr>
        </p:nvSpPr>
        <p:spPr/>
        <p:txBody>
          <a:bodyPr/>
          <a:lstStyle>
            <a:lvl1pPr>
              <a:defRPr/>
            </a:lvl1pPr>
          </a:lstStyle>
          <a:p>
            <a:pPr>
              <a:defRPr/>
            </a:pPr>
            <a:fld id="{22A4F1A8-960E-4ED9-9A4F-401EFE12B95D}" type="datetimeFigureOut">
              <a:rPr lang="zh-CN" altLang="en-US"/>
              <a:pPr>
                <a:defRPr/>
              </a:pPr>
              <a:t>2023/9/3</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85FA7321-CB36-4EF0-87BA-C64E2A84FAED}" type="slidenum">
              <a:rPr lang="zh-CN" altLang="en-US"/>
              <a:pPr>
                <a:defRPr/>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8309E1E0-9E63-41E0-8CDD-DF0C8EF81975}" type="datetimeFigureOut">
              <a:rPr lang="zh-CN" altLang="en-US"/>
              <a:pPr>
                <a:defRPr/>
              </a:pPr>
              <a:t>2023/9/3</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961E5839-3D4F-4698-B864-F37BC54DB928}" type="slidenum">
              <a:rPr lang="zh-CN" altLang="en-US"/>
              <a:pPr>
                <a:defRPr/>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标题和竖排文字">
    <p:spTree>
      <p:nvGrpSpPr>
        <p:cNvPr id="1" name=""/>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垂直排列标题与文本">
    <p:spTree>
      <p:nvGrpSpPr>
        <p:cNvPr id="1" name=""/>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2">
            <a:extLst>
              <a:ext uri="{FF2B5EF4-FFF2-40B4-BE49-F238E27FC236}">
                <a16:creationId xmlns:a16="http://schemas.microsoft.com/office/drawing/2014/main" id="{D0581C6D-5968-4A3F-BE8A-0D4DF647503B}"/>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3">
            <a:extLst>
              <a:ext uri="{FF2B5EF4-FFF2-40B4-BE49-F238E27FC236}">
                <a16:creationId xmlns:a16="http://schemas.microsoft.com/office/drawing/2014/main" id="{688C11CE-AEBC-4AB0-8B6F-FA711ED0A910}"/>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14">
            <a:extLst>
              <a:ext uri="{FF2B5EF4-FFF2-40B4-BE49-F238E27FC236}">
                <a16:creationId xmlns:a16="http://schemas.microsoft.com/office/drawing/2014/main" id="{FF4A21D9-F201-41DC-8850-C6486ABDDA62}"/>
              </a:ext>
            </a:extLst>
          </p:cNvPr>
          <p:cNvSpPr>
            <a:spLocks noGrp="1" noChangeArrowheads="1"/>
          </p:cNvSpPr>
          <p:nvPr>
            <p:ph type="sldNum" sz="quarter" idx="12"/>
          </p:nvPr>
        </p:nvSpPr>
        <p:spPr>
          <a:ln/>
        </p:spPr>
        <p:txBody>
          <a:bodyPr/>
          <a:lstStyle>
            <a:lvl1pPr>
              <a:defRPr/>
            </a:lvl1pPr>
          </a:lstStyle>
          <a:p>
            <a:fld id="{BFDFFBEE-50F9-45C5-B814-56F465F77CA3}" type="slidenum">
              <a:rPr lang="en-US" altLang="zh-CN"/>
              <a:pPr/>
              <a:t>‹#›</a:t>
            </a:fld>
            <a:endParaRPr lang="en-US" altLang="zh-CN"/>
          </a:p>
        </p:txBody>
      </p:sp>
    </p:spTree>
    <p:extLst>
      <p:ext uri="{BB962C8B-B14F-4D97-AF65-F5344CB8AC3E}">
        <p14:creationId xmlns:p14="http://schemas.microsoft.com/office/powerpoint/2010/main" val="1804361650"/>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cSld name="1_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764B9E7-A985-4EFC-9542-6F5A96C25B34}"/>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470C278D-3B13-4F5D-8A69-FF2B33608008}"/>
              </a:ext>
            </a:extLst>
          </p:cNvPr>
          <p:cNvSpPr>
            <a:spLocks noGrp="1"/>
          </p:cNvSpPr>
          <p:nvPr>
            <p:ph type="dt" sz="half" idx="10"/>
          </p:nvPr>
        </p:nvSpPr>
        <p:spPr/>
        <p:txBody>
          <a:bodyPr/>
          <a:lstStyle>
            <a:lvl1pPr>
              <a:defRPr/>
            </a:lvl1pPr>
          </a:lstStyle>
          <a:p>
            <a:endParaRPr lang="en-US" altLang="zh-CN"/>
          </a:p>
        </p:txBody>
      </p:sp>
      <p:sp>
        <p:nvSpPr>
          <p:cNvPr id="4" name="页脚占位符 3">
            <a:extLst>
              <a:ext uri="{FF2B5EF4-FFF2-40B4-BE49-F238E27FC236}">
                <a16:creationId xmlns:a16="http://schemas.microsoft.com/office/drawing/2014/main" id="{6A8F8F9E-6197-4227-A18B-EF8189298B68}"/>
              </a:ext>
            </a:extLst>
          </p:cNvPr>
          <p:cNvSpPr>
            <a:spLocks noGrp="1"/>
          </p:cNvSpPr>
          <p:nvPr>
            <p:ph type="ftr" sz="quarter" idx="11"/>
          </p:nvPr>
        </p:nvSpPr>
        <p:spPr/>
        <p:txBody>
          <a:bodyPr/>
          <a:lstStyle>
            <a:lvl1pPr>
              <a:defRPr/>
            </a:lvl1pPr>
          </a:lstStyle>
          <a:p>
            <a:endParaRPr lang="en-US" altLang="zh-CN"/>
          </a:p>
        </p:txBody>
      </p:sp>
      <p:sp>
        <p:nvSpPr>
          <p:cNvPr id="5" name="灯片编号占位符 4">
            <a:extLst>
              <a:ext uri="{FF2B5EF4-FFF2-40B4-BE49-F238E27FC236}">
                <a16:creationId xmlns:a16="http://schemas.microsoft.com/office/drawing/2014/main" id="{25B5D4EE-53AC-4F5D-A8B3-BAC9FF073EBC}"/>
              </a:ext>
            </a:extLst>
          </p:cNvPr>
          <p:cNvSpPr>
            <a:spLocks noGrp="1"/>
          </p:cNvSpPr>
          <p:nvPr>
            <p:ph type="sldNum" sz="quarter" idx="12"/>
          </p:nvPr>
        </p:nvSpPr>
        <p:spPr/>
        <p:txBody>
          <a:bodyPr/>
          <a:lstStyle>
            <a:lvl1pPr>
              <a:defRPr/>
            </a:lvl1pPr>
          </a:lstStyle>
          <a:p>
            <a:fld id="{EBC2FF6F-9C09-458C-AE98-ABB7E0032E2F}" type="slidenum">
              <a:rPr lang="zh-CN" altLang="en-US"/>
              <a:pPr/>
              <a:t>‹#›</a:t>
            </a:fld>
            <a:endParaRPr lang="en-US" altLang="zh-CN"/>
          </a:p>
        </p:txBody>
      </p:sp>
    </p:spTree>
    <p:extLst>
      <p:ext uri="{BB962C8B-B14F-4D97-AF65-F5344CB8AC3E}">
        <p14:creationId xmlns:p14="http://schemas.microsoft.com/office/powerpoint/2010/main" val="2654395730"/>
      </p:ext>
    </p:extLst>
  </p:cSld>
  <p:clrMapOvr>
    <a:masterClrMapping/>
  </p:clrMapOvr>
  <p:transition>
    <p:pull/>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ea typeface="+mn-ea"/>
              </a:defRPr>
            </a:lvl1pPr>
          </a:lstStyle>
          <a:p>
            <a:pPr>
              <a:defRPr/>
            </a:pPr>
            <a:fld id="{B11D7156-5C3F-4BEA-93EC-FF328D866D27}" type="datetimeFigureOut">
              <a:rPr lang="zh-CN" altLang="en-US"/>
              <a:pPr>
                <a:defRPr/>
              </a:pPr>
              <a:t>2023/9/3</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ea typeface="+mn-ea"/>
              </a:defRPr>
            </a:lvl1pPr>
          </a:lstStyle>
          <a:p>
            <a:pPr>
              <a:defRPr/>
            </a:pPr>
            <a:fld id="{9C709816-5D03-481C-A7CB-52B98C3CDEFE}"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sldLayoutIdLst>
    <p:sldLayoutId id="2147483853" r:id="rId1"/>
    <p:sldLayoutId id="2147483854" r:id="rId2"/>
    <p:sldLayoutId id="2147483844" r:id="rId3"/>
    <p:sldLayoutId id="2147483845" r:id="rId4"/>
    <p:sldLayoutId id="2147483846" r:id="rId5"/>
    <p:sldLayoutId id="2147483847" r:id="rId6"/>
    <p:sldLayoutId id="2147483848" r:id="rId7"/>
    <p:sldLayoutId id="2147483849" r:id="rId8"/>
    <p:sldLayoutId id="2147483850" r:id="rId9"/>
    <p:sldLayoutId id="2147483851" r:id="rId10"/>
    <p:sldLayoutId id="2147483852" r:id="rId11"/>
    <p:sldLayoutId id="2147483855" r:id="rId12"/>
    <p:sldLayoutId id="2147483856" r:id="rId13"/>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ea typeface="宋体" charset="-122"/>
        </a:defRPr>
      </a:lvl2pPr>
      <a:lvl3pPr algn="ctr" rtl="0" eaLnBrk="0" fontAlgn="base" hangingPunct="0">
        <a:spcBef>
          <a:spcPct val="0"/>
        </a:spcBef>
        <a:spcAft>
          <a:spcPct val="0"/>
        </a:spcAft>
        <a:defRPr sz="4400">
          <a:solidFill>
            <a:schemeClr val="tx1"/>
          </a:solidFill>
          <a:latin typeface="Calibri" pitchFamily="34" charset="0"/>
          <a:ea typeface="宋体" charset="-122"/>
        </a:defRPr>
      </a:lvl3pPr>
      <a:lvl4pPr algn="ctr" rtl="0" eaLnBrk="0" fontAlgn="base" hangingPunct="0">
        <a:spcBef>
          <a:spcPct val="0"/>
        </a:spcBef>
        <a:spcAft>
          <a:spcPct val="0"/>
        </a:spcAft>
        <a:defRPr sz="4400">
          <a:solidFill>
            <a:schemeClr val="tx1"/>
          </a:solidFill>
          <a:latin typeface="Calibri" pitchFamily="34" charset="0"/>
          <a:ea typeface="宋体" charset="-122"/>
        </a:defRPr>
      </a:lvl4pPr>
      <a:lvl5pPr algn="ctr" rtl="0" eaLnBrk="0" fontAlgn="base" hangingPunct="0">
        <a:spcBef>
          <a:spcPct val="0"/>
        </a:spcBef>
        <a:spcAft>
          <a:spcPct val="0"/>
        </a:spcAft>
        <a:defRPr sz="4400">
          <a:solidFill>
            <a:schemeClr val="tx1"/>
          </a:solidFill>
          <a:latin typeface="Calibri" pitchFamily="34" charset="0"/>
          <a:ea typeface="宋体" charset="-122"/>
        </a:defRPr>
      </a:lvl5pPr>
      <a:lvl6pPr marL="457200" algn="ctr" rtl="0" fontAlgn="base">
        <a:spcBef>
          <a:spcPct val="0"/>
        </a:spcBef>
        <a:spcAft>
          <a:spcPct val="0"/>
        </a:spcAft>
        <a:defRPr sz="4400">
          <a:solidFill>
            <a:schemeClr val="tx1"/>
          </a:solidFill>
          <a:latin typeface="Calibri" pitchFamily="34" charset="0"/>
          <a:ea typeface="宋体" charset="-122"/>
        </a:defRPr>
      </a:lvl6pPr>
      <a:lvl7pPr marL="914400" algn="ctr" rtl="0" fontAlgn="base">
        <a:spcBef>
          <a:spcPct val="0"/>
        </a:spcBef>
        <a:spcAft>
          <a:spcPct val="0"/>
        </a:spcAft>
        <a:defRPr sz="4400">
          <a:solidFill>
            <a:schemeClr val="tx1"/>
          </a:solidFill>
          <a:latin typeface="Calibri" pitchFamily="34" charset="0"/>
          <a:ea typeface="宋体" charset="-122"/>
        </a:defRPr>
      </a:lvl7pPr>
      <a:lvl8pPr marL="1371600" algn="ctr" rtl="0" fontAlgn="base">
        <a:spcBef>
          <a:spcPct val="0"/>
        </a:spcBef>
        <a:spcAft>
          <a:spcPct val="0"/>
        </a:spcAft>
        <a:defRPr sz="4400">
          <a:solidFill>
            <a:schemeClr val="tx1"/>
          </a:solidFill>
          <a:latin typeface="Calibri" pitchFamily="34" charset="0"/>
          <a:ea typeface="宋体" charset="-122"/>
        </a:defRPr>
      </a:lvl8pPr>
      <a:lvl9pPr marL="1828800" algn="ctr" rtl="0" fontAlgn="base">
        <a:spcBef>
          <a:spcPct val="0"/>
        </a:spcBef>
        <a:spcAft>
          <a:spcPct val="0"/>
        </a:spcAft>
        <a:defRPr sz="4400">
          <a:solidFill>
            <a:schemeClr val="tx1"/>
          </a:solidFill>
          <a:latin typeface="Calibri" pitchFamily="34" charset="0"/>
          <a:ea typeface="宋体" charset="-122"/>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gdyang@sdau.edu.cn"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baidu.com/s?wd=%E8%91%A1%E8%90%84%E7%B3%96&amp;tn=SE_PcZhidaonwhc_ngpagmjz&amp;rsv_dl=gh_pc_zhidao" TargetMode="External"/><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wmf"/></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slide" Target="slide35.xml"/><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38.emf"/></Relationships>
</file>

<file path=ppt/slides/_rels/slide3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42.png"/><Relationship Id="rId4" Type="http://schemas.openxmlformats.org/officeDocument/2006/relationships/image" Target="../media/image41.jpe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31.xml"/><Relationship Id="rId1" Type="http://schemas.openxmlformats.org/officeDocument/2006/relationships/slideLayout" Target="../slideLayouts/slideLayout2.xml"/><Relationship Id="rId5" Type="http://schemas.openxmlformats.org/officeDocument/2006/relationships/image" Target="../media/image52.jpeg"/><Relationship Id="rId4" Type="http://schemas.openxmlformats.org/officeDocument/2006/relationships/image" Target="../media/image51.png"/></Relationships>
</file>

<file path=ppt/slides/_rels/slide52.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53.jpe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53.jpe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53.jpe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33.xml"/><Relationship Id="rId1" Type="http://schemas.openxmlformats.org/officeDocument/2006/relationships/slideLayout" Target="../slideLayouts/slideLayout2.xml"/><Relationship Id="rId5" Type="http://schemas.openxmlformats.org/officeDocument/2006/relationships/image" Target="../media/image52.jpeg"/><Relationship Id="rId4" Type="http://schemas.openxmlformats.org/officeDocument/2006/relationships/image" Target="../media/image51.png"/></Relationships>
</file>

<file path=ppt/slides/_rels/slide57.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50.jpe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oleObject" Target="../embeddings/oleObject3.bin"/><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61.jpe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62.jpe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62.jpe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63.jpe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64.png"/></Relationships>
</file>

<file path=ppt/slides/_rels/slide76.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67.jpe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67.jpe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70.jpe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2.xml"/><Relationship Id="rId4" Type="http://schemas.openxmlformats.org/officeDocument/2006/relationships/hyperlink" Target="http://www.baidu.com/link?url=Ngfls6ns-3-0oOPjaVu1-uUfzZhyk_sir_sF3c7M1Jlyk7rUJ47dJimi4EBCVHpj" TargetMode="External"/></Relationships>
</file>

<file path=ppt/slides/_rels/slide96.xml.rels><?xml version="1.0" encoding="UTF-8" standalone="yes"?>
<Relationships xmlns="http://schemas.openxmlformats.org/package/2006/relationships"><Relationship Id="rId2" Type="http://schemas.openxmlformats.org/officeDocument/2006/relationships/image" Target="../media/image73.jpe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77.jpe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78.jpeg"/><Relationship Id="rId2" Type="http://schemas.openxmlformats.org/officeDocument/2006/relationships/notesSlide" Target="../notesSlides/notesSlide49.xml"/><Relationship Id="rId1" Type="http://schemas.openxmlformats.org/officeDocument/2006/relationships/slideLayout" Target="../slideLayouts/slideLayout7.xml"/><Relationship Id="rId4" Type="http://schemas.openxmlformats.org/officeDocument/2006/relationships/image" Target="../media/image79.png"/></Relationships>
</file>

<file path=ppt/slides/_rels/slide103.xml.rels><?xml version="1.0" encoding="UTF-8" standalone="yes"?>
<Relationships xmlns="http://schemas.openxmlformats.org/package/2006/relationships"><Relationship Id="rId2" Type="http://schemas.openxmlformats.org/officeDocument/2006/relationships/image" Target="../media/image80.jpe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81.jpe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86.jpe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image" Target="../media/image87.jpe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image" Target="../media/image96.jpeg"/><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image" Target="../media/image97.jpeg"/><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3" Type="http://schemas.openxmlformats.org/officeDocument/2006/relationships/image" Target="../media/image98.jpe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image" Target="../media/image99.jpeg"/><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3" Type="http://schemas.openxmlformats.org/officeDocument/2006/relationships/image" Target="../media/image100.jpeg"/><Relationship Id="rId2" Type="http://schemas.openxmlformats.org/officeDocument/2006/relationships/notesSlide" Target="../notesSlides/notesSlide54.xml"/><Relationship Id="rId1" Type="http://schemas.openxmlformats.org/officeDocument/2006/relationships/slideLayout" Target="../slideLayouts/slideLayout2.xml"/><Relationship Id="rId4" Type="http://schemas.openxmlformats.org/officeDocument/2006/relationships/image" Target="../media/image101.jpeg"/></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image" Target="../media/image102.jpeg"/><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image" Target="../media/image103.png"/><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image" Target="../media/image105.png"/><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notesSlide" Target="../notesSlides/notesSlide57.xml"/><Relationship Id="rId1" Type="http://schemas.openxmlformats.org/officeDocument/2006/relationships/slideLayout" Target="../slideLayouts/slideLayout2.xml"/><Relationship Id="rId4" Type="http://schemas.openxmlformats.org/officeDocument/2006/relationships/image" Target="../media/image107.png"/></Relationships>
</file>

<file path=ppt/slides/_rels/slide146.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 Type="http://schemas.openxmlformats.org/officeDocument/2006/relationships/image" Target="../media/image109.png"/><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3" Type="http://schemas.openxmlformats.org/officeDocument/2006/relationships/image" Target="../media/image113.wmf"/><Relationship Id="rId2" Type="http://schemas.openxmlformats.org/officeDocument/2006/relationships/image" Target="../media/image112.wmf"/><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2" Type="http://schemas.openxmlformats.org/officeDocument/2006/relationships/image" Target="../media/image114.jpeg"/><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2" Type="http://schemas.openxmlformats.org/officeDocument/2006/relationships/image" Target="../media/image115.jpeg"/><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2" Type="http://schemas.openxmlformats.org/officeDocument/2006/relationships/image" Target="../media/image116.png"/><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2" Type="http://schemas.openxmlformats.org/officeDocument/2006/relationships/image" Target="../media/image122.jpeg"/><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标题 1"/>
          <p:cNvSpPr>
            <a:spLocks noGrp="1"/>
          </p:cNvSpPr>
          <p:nvPr>
            <p:ph type="ctrTitle"/>
          </p:nvPr>
        </p:nvSpPr>
        <p:spPr>
          <a:xfrm>
            <a:off x="642938" y="2000250"/>
            <a:ext cx="7772400" cy="1470025"/>
          </a:xfrm>
        </p:spPr>
        <p:txBody>
          <a:bodyPr/>
          <a:lstStyle/>
          <a:p>
            <a:pPr eaLnBrk="1" hangingPunct="1"/>
            <a:r>
              <a:rPr lang="en-US" altLang="zh-CN" sz="4000" b="1" dirty="0">
                <a:solidFill>
                  <a:srgbClr val="0000FF"/>
                </a:solidFill>
              </a:rPr>
              <a:t>Section K   </a:t>
            </a:r>
            <a:br>
              <a:rPr lang="en-US" altLang="zh-CN" sz="4000" b="1" dirty="0">
                <a:solidFill>
                  <a:srgbClr val="0000FF"/>
                </a:solidFill>
              </a:rPr>
            </a:br>
            <a:r>
              <a:rPr lang="en-US" altLang="zh-CN" sz="4000" b="1" dirty="0">
                <a:solidFill>
                  <a:srgbClr val="0000FF"/>
                </a:solidFill>
              </a:rPr>
              <a:t>Lipid Metabolism</a:t>
            </a:r>
            <a:endParaRPr lang="zh-CN" altLang="en-US" sz="4000" b="1" dirty="0">
              <a:solidFill>
                <a:srgbClr val="0000FF"/>
              </a:solidFill>
            </a:endParaRPr>
          </a:p>
        </p:txBody>
      </p:sp>
      <p:sp>
        <p:nvSpPr>
          <p:cNvPr id="4099" name="副标题 2"/>
          <p:cNvSpPr>
            <a:spLocks noGrp="1"/>
          </p:cNvSpPr>
          <p:nvPr>
            <p:ph type="subTitle" idx="1"/>
          </p:nvPr>
        </p:nvSpPr>
        <p:spPr>
          <a:xfrm>
            <a:off x="5143500" y="3714750"/>
            <a:ext cx="3214688" cy="1471613"/>
          </a:xfrm>
        </p:spPr>
        <p:txBody>
          <a:bodyPr/>
          <a:lstStyle/>
          <a:p>
            <a:pPr eaLnBrk="1" hangingPunct="1"/>
            <a:r>
              <a:rPr lang="en-US" altLang="zh-CN" sz="2400" b="1" dirty="0" err="1">
                <a:solidFill>
                  <a:schemeClr val="tx1"/>
                </a:solidFill>
              </a:rPr>
              <a:t>Guodong</a:t>
            </a:r>
            <a:r>
              <a:rPr lang="en-US" altLang="zh-CN" sz="2400" b="1" dirty="0">
                <a:solidFill>
                  <a:schemeClr val="tx1"/>
                </a:solidFill>
              </a:rPr>
              <a:t> Yang</a:t>
            </a:r>
          </a:p>
          <a:p>
            <a:pPr eaLnBrk="1" hangingPunct="1"/>
            <a:r>
              <a:rPr lang="en-US" altLang="zh-CN" sz="1600" b="1" dirty="0">
                <a:solidFill>
                  <a:schemeClr val="tx1"/>
                </a:solidFill>
              </a:rPr>
              <a:t>Biochemistry and Molecular Biology, College of Life Sciences</a:t>
            </a:r>
            <a:br>
              <a:rPr lang="en-US" altLang="zh-CN" sz="1600" b="1" dirty="0">
                <a:solidFill>
                  <a:schemeClr val="tx1"/>
                </a:solidFill>
              </a:rPr>
            </a:br>
            <a:endParaRPr lang="en-US" altLang="zh-CN" sz="1600" b="1" dirty="0">
              <a:solidFill>
                <a:schemeClr val="tx1"/>
              </a:solidFill>
            </a:endParaRPr>
          </a:p>
          <a:p>
            <a:pPr eaLnBrk="1" hangingPunct="1"/>
            <a:r>
              <a:rPr lang="en-US" altLang="zh-CN" sz="1600" b="1" dirty="0">
                <a:solidFill>
                  <a:schemeClr val="tx1"/>
                </a:solidFill>
                <a:hlinkClick r:id="rId3"/>
              </a:rPr>
              <a:t>gdyang@sdau.edu.cn</a:t>
            </a:r>
            <a:endParaRPr lang="en-US" altLang="zh-CN" sz="1600" b="1" dirty="0">
              <a:solidFill>
                <a:schemeClr val="tx1"/>
              </a:solidFill>
            </a:endParaRPr>
          </a:p>
          <a:p>
            <a:pPr eaLnBrk="1" hangingPunct="1"/>
            <a:r>
              <a:rPr lang="en-US" altLang="zh-CN" sz="1600" b="1" dirty="0">
                <a:solidFill>
                  <a:schemeClr val="tx1"/>
                </a:solidFill>
              </a:rPr>
              <a:t>13854808762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https://ss2.meipian.me/users/6574686/09527da50dd6493190c851a195b8e0e3.jpg-mobile">
            <a:extLst>
              <a:ext uri="{FF2B5EF4-FFF2-40B4-BE49-F238E27FC236}">
                <a16:creationId xmlns:a16="http://schemas.microsoft.com/office/drawing/2014/main" id="{C2B70D54-D43E-45DB-81EA-58065445A374}"/>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r="23255"/>
          <a:stretch/>
        </p:blipFill>
        <p:spPr bwMode="auto">
          <a:xfrm>
            <a:off x="2051719" y="620688"/>
            <a:ext cx="3960441" cy="3870430"/>
          </a:xfrm>
          <a:prstGeom prst="rect">
            <a:avLst/>
          </a:prstGeom>
          <a:noFill/>
          <a:extLst>
            <a:ext uri="{909E8E84-426E-40DD-AFC4-6F175D3DCCD1}">
              <a14:hiddenFill xmlns:a14="http://schemas.microsoft.com/office/drawing/2010/main">
                <a:solidFill>
                  <a:srgbClr val="FFFFFF"/>
                </a:solidFill>
              </a14:hiddenFill>
            </a:ext>
          </a:extLst>
        </p:spPr>
      </p:pic>
      <p:sp>
        <p:nvSpPr>
          <p:cNvPr id="2" name="矩形 1">
            <a:extLst>
              <a:ext uri="{FF2B5EF4-FFF2-40B4-BE49-F238E27FC236}">
                <a16:creationId xmlns:a16="http://schemas.microsoft.com/office/drawing/2014/main" id="{DE293038-7B9F-4BB2-A0C6-15018CCDCF77}"/>
              </a:ext>
            </a:extLst>
          </p:cNvPr>
          <p:cNvSpPr/>
          <p:nvPr/>
        </p:nvSpPr>
        <p:spPr>
          <a:xfrm>
            <a:off x="2123728" y="4737918"/>
            <a:ext cx="4572000" cy="646331"/>
          </a:xfrm>
          <a:prstGeom prst="rect">
            <a:avLst/>
          </a:prstGeom>
        </p:spPr>
        <p:txBody>
          <a:bodyPr>
            <a:spAutoFit/>
          </a:bodyPr>
          <a:lstStyle/>
          <a:p>
            <a:r>
              <a:rPr lang="en-US" altLang="zh-CN" dirty="0"/>
              <a:t>1g</a:t>
            </a:r>
            <a:r>
              <a:rPr lang="zh-CN" altLang="en-US" dirty="0">
                <a:hlinkClick r:id="rId3"/>
              </a:rPr>
              <a:t>葡萄糖</a:t>
            </a:r>
            <a:r>
              <a:rPr lang="zh-CN" altLang="en-US" dirty="0"/>
              <a:t>释放约</a:t>
            </a:r>
            <a:r>
              <a:rPr lang="en-US" altLang="zh-CN" dirty="0"/>
              <a:t>16KJ</a:t>
            </a:r>
            <a:r>
              <a:rPr lang="zh-CN" altLang="en-US" dirty="0"/>
              <a:t>的能量</a:t>
            </a:r>
            <a:endParaRPr lang="en-US" altLang="zh-CN" dirty="0"/>
          </a:p>
          <a:p>
            <a:r>
              <a:rPr lang="en-US" altLang="zh-CN" dirty="0"/>
              <a:t>1g</a:t>
            </a:r>
            <a:r>
              <a:rPr lang="zh-CN" altLang="en-US" dirty="0"/>
              <a:t>脂肪可以放出约</a:t>
            </a:r>
            <a:r>
              <a:rPr lang="en-US" altLang="zh-CN" dirty="0"/>
              <a:t>39KJ</a:t>
            </a:r>
            <a:r>
              <a:rPr lang="zh-CN" altLang="en-US" dirty="0"/>
              <a:t>的能量。</a:t>
            </a:r>
          </a:p>
        </p:txBody>
      </p:sp>
    </p:spTree>
    <p:extLst>
      <p:ext uri="{BB962C8B-B14F-4D97-AF65-F5344CB8AC3E}">
        <p14:creationId xmlns:p14="http://schemas.microsoft.com/office/powerpoint/2010/main" val="26246985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ext Box 3">
            <a:extLst>
              <a:ext uri="{FF2B5EF4-FFF2-40B4-BE49-F238E27FC236}">
                <a16:creationId xmlns:a16="http://schemas.microsoft.com/office/drawing/2014/main" id="{97D996EE-D0A1-4A95-B77F-E7D639D18996}"/>
              </a:ext>
            </a:extLst>
          </p:cNvPr>
          <p:cNvSpPr txBox="1">
            <a:spLocks noChangeArrowheads="1"/>
          </p:cNvSpPr>
          <p:nvPr/>
        </p:nvSpPr>
        <p:spPr bwMode="auto">
          <a:xfrm>
            <a:off x="685800" y="1066800"/>
            <a:ext cx="7924800" cy="3697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pPr>
            <a:r>
              <a:rPr lang="en-US" altLang="zh-CN" sz="3200" b="1" dirty="0">
                <a:solidFill>
                  <a:srgbClr val="0000FF"/>
                </a:solidFill>
              </a:rPr>
              <a:t>K1 Structures and roles of fatty acids</a:t>
            </a:r>
          </a:p>
          <a:p>
            <a:pPr eaLnBrk="1" hangingPunct="1">
              <a:lnSpc>
                <a:spcPct val="150000"/>
              </a:lnSpc>
              <a:spcBef>
                <a:spcPct val="50000"/>
              </a:spcBef>
            </a:pPr>
            <a:r>
              <a:rPr lang="en-US" altLang="zh-CN" sz="3200" b="1" dirty="0">
                <a:solidFill>
                  <a:srgbClr val="0000FF"/>
                </a:solidFill>
              </a:rPr>
              <a:t>K2 Fatty Acid Breakdown</a:t>
            </a:r>
          </a:p>
          <a:p>
            <a:pPr eaLnBrk="1" hangingPunct="1">
              <a:lnSpc>
                <a:spcPct val="150000"/>
              </a:lnSpc>
              <a:spcBef>
                <a:spcPct val="50000"/>
              </a:spcBef>
            </a:pPr>
            <a:r>
              <a:rPr lang="en-US" altLang="zh-CN" sz="3200" b="1" dirty="0">
                <a:solidFill>
                  <a:srgbClr val="0000FF"/>
                </a:solidFill>
              </a:rPr>
              <a:t>K3 Fatty Acid Synthesis </a:t>
            </a:r>
          </a:p>
          <a:p>
            <a:pPr eaLnBrk="1" hangingPunct="1">
              <a:lnSpc>
                <a:spcPct val="150000"/>
              </a:lnSpc>
              <a:spcBef>
                <a:spcPct val="50000"/>
              </a:spcBef>
            </a:pPr>
            <a:r>
              <a:rPr lang="en-US" altLang="zh-CN" sz="3200" b="1" dirty="0">
                <a:solidFill>
                  <a:srgbClr val="0000FF"/>
                </a:solidFill>
              </a:rPr>
              <a:t>K4 </a:t>
            </a:r>
            <a:r>
              <a:rPr lang="en-US" altLang="zh-CN" sz="3200" b="1" dirty="0">
                <a:solidFill>
                  <a:srgbClr val="0000FF"/>
                </a:solidFill>
                <a:ea typeface="隶书" panose="02010509060101010101" pitchFamily="49" charset="-122"/>
              </a:rPr>
              <a:t>Metabolism of Triacylglycerols</a:t>
            </a:r>
            <a:endParaRPr lang="en-US" altLang="zh-CN" sz="3200" b="1" dirty="0">
              <a:solidFill>
                <a:srgbClr val="0000FF"/>
              </a:solidFill>
            </a:endParaRPr>
          </a:p>
        </p:txBody>
      </p:sp>
    </p:spTree>
    <p:extLst>
      <p:ext uri="{BB962C8B-B14F-4D97-AF65-F5344CB8AC3E}">
        <p14:creationId xmlns:p14="http://schemas.microsoft.com/office/powerpoint/2010/main" val="9882463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ext Box 3">
            <a:extLst>
              <a:ext uri="{FF2B5EF4-FFF2-40B4-BE49-F238E27FC236}">
                <a16:creationId xmlns:a16="http://schemas.microsoft.com/office/drawing/2014/main" id="{97D996EE-D0A1-4A95-B77F-E7D639D18996}"/>
              </a:ext>
            </a:extLst>
          </p:cNvPr>
          <p:cNvSpPr txBox="1">
            <a:spLocks noChangeArrowheads="1"/>
          </p:cNvSpPr>
          <p:nvPr/>
        </p:nvSpPr>
        <p:spPr bwMode="auto">
          <a:xfrm>
            <a:off x="685800" y="1066800"/>
            <a:ext cx="7924800" cy="3416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5400" b="1" dirty="0">
                <a:solidFill>
                  <a:srgbClr val="0000FF"/>
                </a:solidFill>
              </a:rPr>
              <a:t>K1 </a:t>
            </a:r>
          </a:p>
          <a:p>
            <a:pPr algn="ctr" eaLnBrk="1" hangingPunct="1">
              <a:spcBef>
                <a:spcPct val="50000"/>
              </a:spcBef>
            </a:pPr>
            <a:r>
              <a:rPr lang="en-US" altLang="zh-CN" sz="5400" b="1" dirty="0">
                <a:solidFill>
                  <a:srgbClr val="0000FF"/>
                </a:solidFill>
              </a:rPr>
              <a:t>Structures and roles </a:t>
            </a:r>
          </a:p>
          <a:p>
            <a:pPr algn="ctr" eaLnBrk="1" hangingPunct="1">
              <a:spcBef>
                <a:spcPct val="50000"/>
              </a:spcBef>
            </a:pPr>
            <a:r>
              <a:rPr lang="en-US" altLang="zh-CN" sz="5400" b="1" dirty="0">
                <a:solidFill>
                  <a:srgbClr val="0000FF"/>
                </a:solidFill>
              </a:rPr>
              <a:t>of fatty acids</a:t>
            </a:r>
          </a:p>
        </p:txBody>
      </p:sp>
    </p:spTree>
    <p:extLst>
      <p:ext uri="{BB962C8B-B14F-4D97-AF65-F5344CB8AC3E}">
        <p14:creationId xmlns:p14="http://schemas.microsoft.com/office/powerpoint/2010/main" val="528843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Text Box 2">
            <a:extLst>
              <a:ext uri="{FF2B5EF4-FFF2-40B4-BE49-F238E27FC236}">
                <a16:creationId xmlns:a16="http://schemas.microsoft.com/office/drawing/2014/main" id="{C0A5CEBA-247F-46BE-9217-9076B5998E9D}"/>
              </a:ext>
            </a:extLst>
          </p:cNvPr>
          <p:cNvSpPr txBox="1">
            <a:spLocks noChangeArrowheads="1"/>
          </p:cNvSpPr>
          <p:nvPr/>
        </p:nvSpPr>
        <p:spPr bwMode="auto">
          <a:xfrm>
            <a:off x="683568" y="643622"/>
            <a:ext cx="8077200" cy="48320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3600" b="1" dirty="0">
                <a:solidFill>
                  <a:srgbClr val="0000FF"/>
                </a:solidFill>
              </a:rPr>
              <a:t>1. Lipid</a:t>
            </a:r>
          </a:p>
          <a:p>
            <a:pPr eaLnBrk="1" hangingPunct="1">
              <a:spcBef>
                <a:spcPct val="50000"/>
              </a:spcBef>
            </a:pPr>
            <a:r>
              <a:rPr lang="en-US" altLang="zh-CN" sz="3200" b="1" dirty="0">
                <a:solidFill>
                  <a:srgbClr val="000000"/>
                </a:solidFill>
              </a:rPr>
              <a:t>   Biological lipids are a chemically diverse group of compounds, the common and defining feature of which is their insolubility in water.</a:t>
            </a:r>
          </a:p>
          <a:p>
            <a:pPr eaLnBrk="1" hangingPunct="1">
              <a:spcBef>
                <a:spcPct val="50000"/>
              </a:spcBef>
            </a:pPr>
            <a:r>
              <a:rPr lang="en-US" altLang="zh-CN" sz="3200" b="1" dirty="0">
                <a:solidFill>
                  <a:srgbClr val="6600CC"/>
                </a:solidFill>
              </a:rPr>
              <a:t>Fats and oils (storage lipids)</a:t>
            </a:r>
          </a:p>
          <a:p>
            <a:pPr eaLnBrk="1" hangingPunct="1">
              <a:spcBef>
                <a:spcPct val="50000"/>
              </a:spcBef>
            </a:pPr>
            <a:r>
              <a:rPr lang="en-US" altLang="zh-CN" sz="3200" b="1" dirty="0">
                <a:solidFill>
                  <a:srgbClr val="6600CC"/>
                </a:solidFill>
              </a:rPr>
              <a:t>Phospholipids and sterol (major elements of membranes)</a:t>
            </a:r>
          </a:p>
        </p:txBody>
      </p:sp>
    </p:spTree>
    <p:extLst>
      <p:ext uri="{BB962C8B-B14F-4D97-AF65-F5344CB8AC3E}">
        <p14:creationId xmlns:p14="http://schemas.microsoft.com/office/powerpoint/2010/main" val="11824283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81" name="Rectangle 25">
            <a:extLst>
              <a:ext uri="{FF2B5EF4-FFF2-40B4-BE49-F238E27FC236}">
                <a16:creationId xmlns:a16="http://schemas.microsoft.com/office/drawing/2014/main" id="{7756C695-6895-4E80-8C2B-61BF6BE83E84}"/>
              </a:ext>
            </a:extLst>
          </p:cNvPr>
          <p:cNvSpPr>
            <a:spLocks noChangeArrowheads="1"/>
          </p:cNvSpPr>
          <p:nvPr/>
        </p:nvSpPr>
        <p:spPr bwMode="auto">
          <a:xfrm>
            <a:off x="450850" y="739775"/>
            <a:ext cx="5903913" cy="603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0" tIns="45716" rIns="91430" bIns="45716" anchor="b"/>
          <a:lstStyle>
            <a:lvl1pPr algn="ctr">
              <a:defRPr sz="3200" b="1">
                <a:solidFill>
                  <a:schemeClr val="tx2"/>
                </a:solidFill>
                <a:latin typeface="宋体" panose="02010600030101010101" pitchFamily="2" charset="-122"/>
                <a:ea typeface="宋体" panose="02010600030101010101" pitchFamily="2" charset="-122"/>
              </a:defRPr>
            </a:lvl1pPr>
            <a:lvl2pPr algn="ctr">
              <a:defRPr sz="3200" b="1">
                <a:solidFill>
                  <a:schemeClr val="tx2"/>
                </a:solidFill>
                <a:latin typeface="宋体" panose="02010600030101010101" pitchFamily="2" charset="-122"/>
                <a:ea typeface="宋体" panose="02010600030101010101" pitchFamily="2" charset="-122"/>
              </a:defRPr>
            </a:lvl2pPr>
            <a:lvl3pPr algn="ctr">
              <a:defRPr sz="3200" b="1">
                <a:solidFill>
                  <a:schemeClr val="tx2"/>
                </a:solidFill>
                <a:latin typeface="宋体" panose="02010600030101010101" pitchFamily="2" charset="-122"/>
                <a:ea typeface="宋体" panose="02010600030101010101" pitchFamily="2" charset="-122"/>
              </a:defRPr>
            </a:lvl3pPr>
            <a:lvl4pPr algn="ctr">
              <a:defRPr sz="3200" b="1">
                <a:solidFill>
                  <a:schemeClr val="tx2"/>
                </a:solidFill>
                <a:latin typeface="宋体" panose="02010600030101010101" pitchFamily="2" charset="-122"/>
                <a:ea typeface="宋体" panose="02010600030101010101" pitchFamily="2" charset="-122"/>
              </a:defRPr>
            </a:lvl4pPr>
            <a:lvl5pPr algn="ctr">
              <a:defRPr sz="3200" b="1">
                <a:solidFill>
                  <a:schemeClr val="tx2"/>
                </a:solidFill>
                <a:latin typeface="宋体" panose="02010600030101010101" pitchFamily="2" charset="-122"/>
                <a:ea typeface="宋体" panose="02010600030101010101" pitchFamily="2" charset="-122"/>
              </a:defRPr>
            </a:lvl5pPr>
            <a:lvl6pPr marL="457200" algn="ctr" eaLnBrk="0" fontAlgn="base" hangingPunct="0">
              <a:spcBef>
                <a:spcPct val="0"/>
              </a:spcBef>
              <a:spcAft>
                <a:spcPct val="0"/>
              </a:spcAft>
              <a:defRPr sz="3200" b="1">
                <a:solidFill>
                  <a:schemeClr val="tx2"/>
                </a:solidFill>
                <a:latin typeface="宋体" panose="02010600030101010101" pitchFamily="2" charset="-122"/>
                <a:ea typeface="宋体" panose="02010600030101010101" pitchFamily="2" charset="-122"/>
              </a:defRPr>
            </a:lvl6pPr>
            <a:lvl7pPr marL="914400" algn="ctr" eaLnBrk="0" fontAlgn="base" hangingPunct="0">
              <a:spcBef>
                <a:spcPct val="0"/>
              </a:spcBef>
              <a:spcAft>
                <a:spcPct val="0"/>
              </a:spcAft>
              <a:defRPr sz="3200" b="1">
                <a:solidFill>
                  <a:schemeClr val="tx2"/>
                </a:solidFill>
                <a:latin typeface="宋体" panose="02010600030101010101" pitchFamily="2" charset="-122"/>
                <a:ea typeface="宋体" panose="02010600030101010101" pitchFamily="2" charset="-122"/>
              </a:defRPr>
            </a:lvl7pPr>
            <a:lvl8pPr marL="1371600" algn="ctr" eaLnBrk="0" fontAlgn="base" hangingPunct="0">
              <a:spcBef>
                <a:spcPct val="0"/>
              </a:spcBef>
              <a:spcAft>
                <a:spcPct val="0"/>
              </a:spcAft>
              <a:defRPr sz="3200" b="1">
                <a:solidFill>
                  <a:schemeClr val="tx2"/>
                </a:solidFill>
                <a:latin typeface="宋体" panose="02010600030101010101" pitchFamily="2" charset="-122"/>
                <a:ea typeface="宋体" panose="02010600030101010101" pitchFamily="2" charset="-122"/>
              </a:defRPr>
            </a:lvl8pPr>
            <a:lvl9pPr marL="1828800" algn="ctr" eaLnBrk="0" fontAlgn="base" hangingPunct="0">
              <a:spcBef>
                <a:spcPct val="0"/>
              </a:spcBef>
              <a:spcAft>
                <a:spcPct val="0"/>
              </a:spcAft>
              <a:defRPr sz="3200" b="1">
                <a:solidFill>
                  <a:schemeClr val="tx2"/>
                </a:solidFill>
                <a:latin typeface="宋体" panose="02010600030101010101" pitchFamily="2" charset="-122"/>
                <a:ea typeface="宋体" panose="02010600030101010101" pitchFamily="2" charset="-122"/>
              </a:defRPr>
            </a:lvl9pPr>
          </a:lstStyle>
          <a:p>
            <a:pPr algn="l"/>
            <a:r>
              <a:rPr lang="zh-CN" altLang="en-US" sz="2800" dirty="0">
                <a:solidFill>
                  <a:srgbClr val="000066"/>
                </a:solidFill>
                <a:effectLst>
                  <a:outerShdw blurRad="38100" dist="38100" dir="2700000" algn="tl">
                    <a:srgbClr val="C0C0C0"/>
                  </a:outerShdw>
                </a:effectLst>
                <a:ea typeface="隶书" panose="02010509060101010101" pitchFamily="49" charset="-122"/>
              </a:rPr>
              <a:t>生物体内的脂类</a:t>
            </a:r>
            <a:r>
              <a:rPr kumimoji="1" lang="en-US" altLang="zh-CN" sz="2800" b="0" dirty="0">
                <a:solidFill>
                  <a:schemeClr val="tx1"/>
                </a:solidFill>
                <a:effectLst>
                  <a:outerShdw blurRad="38100" dist="38100" dir="2700000" algn="tl">
                    <a:srgbClr val="C0C0C0"/>
                  </a:outerShdw>
                </a:effectLst>
              </a:rPr>
              <a:t>(lipid)</a:t>
            </a:r>
            <a:endParaRPr kumimoji="1" lang="zh-CN" altLang="en-US" sz="2800" b="0" dirty="0">
              <a:solidFill>
                <a:schemeClr val="tx1"/>
              </a:solidFill>
              <a:effectLst>
                <a:outerShdw blurRad="38100" dist="38100" dir="2700000" algn="tl">
                  <a:srgbClr val="C0C0C0"/>
                </a:outerShdw>
              </a:effectLst>
            </a:endParaRPr>
          </a:p>
        </p:txBody>
      </p:sp>
      <p:grpSp>
        <p:nvGrpSpPr>
          <p:cNvPr id="96286" name="Group 30">
            <a:extLst>
              <a:ext uri="{FF2B5EF4-FFF2-40B4-BE49-F238E27FC236}">
                <a16:creationId xmlns:a16="http://schemas.microsoft.com/office/drawing/2014/main" id="{2327D9E2-C8DA-45D6-97BB-3E00B18C9B45}"/>
              </a:ext>
            </a:extLst>
          </p:cNvPr>
          <p:cNvGrpSpPr>
            <a:grpSpLocks/>
          </p:cNvGrpSpPr>
          <p:nvPr/>
        </p:nvGrpSpPr>
        <p:grpSpPr bwMode="auto">
          <a:xfrm>
            <a:off x="756296" y="2108200"/>
            <a:ext cx="7704135" cy="4560888"/>
            <a:chOff x="-70" y="1328"/>
            <a:chExt cx="4853" cy="2873"/>
          </a:xfrm>
        </p:grpSpPr>
        <p:sp>
          <p:nvSpPr>
            <p:cNvPr id="96259" name="AutoShape 3">
              <a:extLst>
                <a:ext uri="{FF2B5EF4-FFF2-40B4-BE49-F238E27FC236}">
                  <a16:creationId xmlns:a16="http://schemas.microsoft.com/office/drawing/2014/main" id="{5B1D4214-1428-4461-A769-AF2E3DB90B6B}"/>
                </a:ext>
              </a:extLst>
            </p:cNvPr>
            <p:cNvSpPr>
              <a:spLocks/>
            </p:cNvSpPr>
            <p:nvPr/>
          </p:nvSpPr>
          <p:spPr bwMode="auto">
            <a:xfrm>
              <a:off x="431" y="1808"/>
              <a:ext cx="96" cy="1484"/>
            </a:xfrm>
            <a:prstGeom prst="leftBrace">
              <a:avLst>
                <a:gd name="adj1" fmla="val 128819"/>
                <a:gd name="adj2" fmla="val 50000"/>
              </a:avLst>
            </a:prstGeom>
            <a:noFill/>
            <a:ln w="9525">
              <a:solidFill>
                <a:srgbClr val="FFFFFF"/>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96261" name="Text Box 5">
              <a:extLst>
                <a:ext uri="{FF2B5EF4-FFF2-40B4-BE49-F238E27FC236}">
                  <a16:creationId xmlns:a16="http://schemas.microsoft.com/office/drawing/2014/main" id="{FB59BEDB-95D0-49CD-A449-37EF182EEE25}"/>
                </a:ext>
              </a:extLst>
            </p:cNvPr>
            <p:cNvSpPr txBox="1">
              <a:spLocks noChangeArrowheads="1"/>
            </p:cNvSpPr>
            <p:nvPr/>
          </p:nvSpPr>
          <p:spPr bwMode="auto">
            <a:xfrm>
              <a:off x="1301" y="1525"/>
              <a:ext cx="2404"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lIns="91430" tIns="45716" rIns="91430" bIns="45716">
              <a:spAutoFit/>
            </a:bodyPr>
            <a:lstStyle>
              <a:lvl1pPr>
                <a:defRPr sz="2400">
                  <a:solidFill>
                    <a:schemeClr val="tx1"/>
                  </a:solidFill>
                  <a:latin typeface="Bookman Old Style" panose="02050604050505020204" pitchFamily="18" charset="0"/>
                </a:defRPr>
              </a:lvl1pPr>
              <a:lvl2pPr>
                <a:defRPr sz="2400">
                  <a:solidFill>
                    <a:schemeClr val="tx1"/>
                  </a:solidFill>
                  <a:latin typeface="Bookman Old Style" panose="02050604050505020204" pitchFamily="18" charset="0"/>
                </a:defRPr>
              </a:lvl2pPr>
              <a:lvl3pPr>
                <a:defRPr sz="2400">
                  <a:solidFill>
                    <a:schemeClr val="tx1"/>
                  </a:solidFill>
                  <a:latin typeface="Bookman Old Style" panose="02050604050505020204" pitchFamily="18" charset="0"/>
                </a:defRPr>
              </a:lvl3pPr>
              <a:lvl4pPr>
                <a:defRPr sz="2400">
                  <a:solidFill>
                    <a:schemeClr val="tx1"/>
                  </a:solidFill>
                  <a:latin typeface="Bookman Old Style" panose="02050604050505020204" pitchFamily="18" charset="0"/>
                </a:defRPr>
              </a:lvl4pPr>
              <a:lvl5pPr marL="1827213">
                <a:defRPr sz="2400">
                  <a:solidFill>
                    <a:schemeClr val="tx1"/>
                  </a:solidFill>
                  <a:latin typeface="Bookman Old Style" panose="02050604050505020204" pitchFamily="18" charset="0"/>
                </a:defRPr>
              </a:lvl5pPr>
              <a:lvl6pPr marL="2284413" eaLnBrk="0" fontAlgn="base" hangingPunct="0">
                <a:spcBef>
                  <a:spcPct val="0"/>
                </a:spcBef>
                <a:spcAft>
                  <a:spcPct val="0"/>
                </a:spcAft>
                <a:defRPr sz="2400">
                  <a:solidFill>
                    <a:schemeClr val="tx1"/>
                  </a:solidFill>
                  <a:latin typeface="Bookman Old Style" panose="02050604050505020204" pitchFamily="18" charset="0"/>
                </a:defRPr>
              </a:lvl6pPr>
              <a:lvl7pPr marL="2741613" eaLnBrk="0" fontAlgn="base" hangingPunct="0">
                <a:spcBef>
                  <a:spcPct val="0"/>
                </a:spcBef>
                <a:spcAft>
                  <a:spcPct val="0"/>
                </a:spcAft>
                <a:defRPr sz="2400">
                  <a:solidFill>
                    <a:schemeClr val="tx1"/>
                  </a:solidFill>
                  <a:latin typeface="Bookman Old Style" panose="02050604050505020204" pitchFamily="18" charset="0"/>
                </a:defRPr>
              </a:lvl7pPr>
              <a:lvl8pPr marL="3198813" eaLnBrk="0" fontAlgn="base" hangingPunct="0">
                <a:spcBef>
                  <a:spcPct val="0"/>
                </a:spcBef>
                <a:spcAft>
                  <a:spcPct val="0"/>
                </a:spcAft>
                <a:defRPr sz="2400">
                  <a:solidFill>
                    <a:schemeClr val="tx1"/>
                  </a:solidFill>
                  <a:latin typeface="Bookman Old Style" panose="02050604050505020204" pitchFamily="18" charset="0"/>
                </a:defRPr>
              </a:lvl8pPr>
              <a:lvl9pPr marL="3656013" eaLnBrk="0" fontAlgn="base" hangingPunct="0">
                <a:spcBef>
                  <a:spcPct val="0"/>
                </a:spcBef>
                <a:spcAft>
                  <a:spcPct val="0"/>
                </a:spcAft>
                <a:defRPr sz="2400">
                  <a:solidFill>
                    <a:schemeClr val="tx1"/>
                  </a:solidFill>
                  <a:latin typeface="Bookman Old Style" panose="02050604050505020204" pitchFamily="18" charset="0"/>
                </a:defRPr>
              </a:lvl9pPr>
            </a:lstStyle>
            <a:p>
              <a:pPr eaLnBrk="1" hangingPunct="1">
                <a:spcBef>
                  <a:spcPct val="50000"/>
                </a:spcBef>
              </a:pPr>
              <a:r>
                <a:rPr kumimoji="1" lang="zh-CN" altLang="en-US" sz="2800" b="1">
                  <a:effectLst>
                    <a:outerShdw blurRad="38100" dist="38100" dir="2700000" algn="tl">
                      <a:srgbClr val="C0C0C0"/>
                    </a:outerShdw>
                  </a:effectLst>
                  <a:latin typeface="Times New Roman" panose="02020603050405020304" pitchFamily="18" charset="0"/>
                  <a:ea typeface="隶书" panose="02010509060101010101" pitchFamily="49" charset="-122"/>
                </a:rPr>
                <a:t>单纯脂类</a:t>
              </a:r>
              <a:endParaRPr lang="zh-CN" altLang="en-US" b="1">
                <a:solidFill>
                  <a:srgbClr val="000066"/>
                </a:solidFill>
                <a:effectLst>
                  <a:outerShdw blurRad="38100" dist="38100" dir="2700000" algn="tl">
                    <a:srgbClr val="C0C0C0"/>
                  </a:outerShdw>
                </a:effectLst>
                <a:ea typeface="宋体" panose="02010600030101010101" pitchFamily="2" charset="-122"/>
                <a:hlinkClick r:id="" action="ppaction://hlinkshowjump?jump=nextslide"/>
              </a:endParaRPr>
            </a:p>
          </p:txBody>
        </p:sp>
        <p:sp>
          <p:nvSpPr>
            <p:cNvPr id="96262" name="Text Box 6">
              <a:extLst>
                <a:ext uri="{FF2B5EF4-FFF2-40B4-BE49-F238E27FC236}">
                  <a16:creationId xmlns:a16="http://schemas.microsoft.com/office/drawing/2014/main" id="{BD813878-696D-438C-B713-99741E04CE56}"/>
                </a:ext>
              </a:extLst>
            </p:cNvPr>
            <p:cNvSpPr txBox="1">
              <a:spLocks noChangeArrowheads="1"/>
            </p:cNvSpPr>
            <p:nvPr/>
          </p:nvSpPr>
          <p:spPr bwMode="auto">
            <a:xfrm>
              <a:off x="1301" y="2369"/>
              <a:ext cx="2449"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lIns="91430" tIns="45716" rIns="91430" bIns="45716">
              <a:spAutoFit/>
            </a:bodyPr>
            <a:lstStyle>
              <a:lvl1pPr>
                <a:defRPr sz="2400">
                  <a:solidFill>
                    <a:schemeClr val="tx1"/>
                  </a:solidFill>
                  <a:latin typeface="Bookman Old Style" panose="02050604050505020204" pitchFamily="18" charset="0"/>
                </a:defRPr>
              </a:lvl1pPr>
              <a:lvl2pPr>
                <a:defRPr sz="2400">
                  <a:solidFill>
                    <a:schemeClr val="tx1"/>
                  </a:solidFill>
                  <a:latin typeface="Bookman Old Style" panose="02050604050505020204" pitchFamily="18" charset="0"/>
                </a:defRPr>
              </a:lvl2pPr>
              <a:lvl3pPr>
                <a:defRPr sz="2400">
                  <a:solidFill>
                    <a:schemeClr val="tx1"/>
                  </a:solidFill>
                  <a:latin typeface="Bookman Old Style" panose="02050604050505020204" pitchFamily="18" charset="0"/>
                </a:defRPr>
              </a:lvl3pPr>
              <a:lvl4pPr>
                <a:defRPr sz="2400">
                  <a:solidFill>
                    <a:schemeClr val="tx1"/>
                  </a:solidFill>
                  <a:latin typeface="Bookman Old Style" panose="02050604050505020204" pitchFamily="18" charset="0"/>
                </a:defRPr>
              </a:lvl4pPr>
              <a:lvl5pPr marL="1827213">
                <a:defRPr sz="2400">
                  <a:solidFill>
                    <a:schemeClr val="tx1"/>
                  </a:solidFill>
                  <a:latin typeface="Bookman Old Style" panose="02050604050505020204" pitchFamily="18" charset="0"/>
                </a:defRPr>
              </a:lvl5pPr>
              <a:lvl6pPr marL="2284413" eaLnBrk="0" fontAlgn="base" hangingPunct="0">
                <a:spcBef>
                  <a:spcPct val="0"/>
                </a:spcBef>
                <a:spcAft>
                  <a:spcPct val="0"/>
                </a:spcAft>
                <a:defRPr sz="2400">
                  <a:solidFill>
                    <a:schemeClr val="tx1"/>
                  </a:solidFill>
                  <a:latin typeface="Bookman Old Style" panose="02050604050505020204" pitchFamily="18" charset="0"/>
                </a:defRPr>
              </a:lvl6pPr>
              <a:lvl7pPr marL="2741613" eaLnBrk="0" fontAlgn="base" hangingPunct="0">
                <a:spcBef>
                  <a:spcPct val="0"/>
                </a:spcBef>
                <a:spcAft>
                  <a:spcPct val="0"/>
                </a:spcAft>
                <a:defRPr sz="2400">
                  <a:solidFill>
                    <a:schemeClr val="tx1"/>
                  </a:solidFill>
                  <a:latin typeface="Bookman Old Style" panose="02050604050505020204" pitchFamily="18" charset="0"/>
                </a:defRPr>
              </a:lvl7pPr>
              <a:lvl8pPr marL="3198813" eaLnBrk="0" fontAlgn="base" hangingPunct="0">
                <a:spcBef>
                  <a:spcPct val="0"/>
                </a:spcBef>
                <a:spcAft>
                  <a:spcPct val="0"/>
                </a:spcAft>
                <a:defRPr sz="2400">
                  <a:solidFill>
                    <a:schemeClr val="tx1"/>
                  </a:solidFill>
                  <a:latin typeface="Bookman Old Style" panose="02050604050505020204" pitchFamily="18" charset="0"/>
                </a:defRPr>
              </a:lvl8pPr>
              <a:lvl9pPr marL="3656013" eaLnBrk="0" fontAlgn="base" hangingPunct="0">
                <a:spcBef>
                  <a:spcPct val="0"/>
                </a:spcBef>
                <a:spcAft>
                  <a:spcPct val="0"/>
                </a:spcAft>
                <a:defRPr sz="2400">
                  <a:solidFill>
                    <a:schemeClr val="tx1"/>
                  </a:solidFill>
                  <a:latin typeface="Bookman Old Style" panose="02050604050505020204" pitchFamily="18" charset="0"/>
                </a:defRPr>
              </a:lvl9pPr>
            </a:lstStyle>
            <a:p>
              <a:pPr eaLnBrk="1" hangingPunct="1">
                <a:spcBef>
                  <a:spcPct val="50000"/>
                </a:spcBef>
              </a:pPr>
              <a:r>
                <a:rPr kumimoji="1" lang="zh-CN" altLang="en-US" sz="2800" b="1">
                  <a:effectLst>
                    <a:outerShdw blurRad="38100" dist="38100" dir="2700000" algn="tl">
                      <a:srgbClr val="C0C0C0"/>
                    </a:outerShdw>
                  </a:effectLst>
                  <a:latin typeface="Times New Roman" panose="02020603050405020304" pitchFamily="18" charset="0"/>
                  <a:ea typeface="隶书" panose="02010509060101010101" pitchFamily="49" charset="-122"/>
                </a:rPr>
                <a:t>复合脂类</a:t>
              </a:r>
              <a:endParaRPr lang="zh-CN" altLang="en-US" b="1">
                <a:solidFill>
                  <a:srgbClr val="000066"/>
                </a:solidFill>
                <a:effectLst>
                  <a:outerShdw blurRad="38100" dist="38100" dir="2700000" algn="tl">
                    <a:srgbClr val="C0C0C0"/>
                  </a:outerShdw>
                </a:effectLst>
                <a:ea typeface="宋体" panose="02010600030101010101" pitchFamily="2" charset="-122"/>
              </a:endParaRPr>
            </a:p>
          </p:txBody>
        </p:sp>
        <p:sp>
          <p:nvSpPr>
            <p:cNvPr id="96263" name="Text Box 7">
              <a:extLst>
                <a:ext uri="{FF2B5EF4-FFF2-40B4-BE49-F238E27FC236}">
                  <a16:creationId xmlns:a16="http://schemas.microsoft.com/office/drawing/2014/main" id="{C3C99DB0-9143-472B-914F-7D19DEB6552A}"/>
                </a:ext>
              </a:extLst>
            </p:cNvPr>
            <p:cNvSpPr txBox="1">
              <a:spLocks noChangeArrowheads="1"/>
            </p:cNvSpPr>
            <p:nvPr/>
          </p:nvSpPr>
          <p:spPr bwMode="auto">
            <a:xfrm>
              <a:off x="1346" y="3520"/>
              <a:ext cx="2304"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lIns="91430" tIns="45716" rIns="91430" bIns="45716">
              <a:spAutoFit/>
            </a:bodyPr>
            <a:lstStyle>
              <a:lvl1pPr>
                <a:defRPr sz="2400">
                  <a:solidFill>
                    <a:schemeClr val="tx1"/>
                  </a:solidFill>
                  <a:latin typeface="Bookman Old Style" panose="02050604050505020204" pitchFamily="18" charset="0"/>
                </a:defRPr>
              </a:lvl1pPr>
              <a:lvl2pPr>
                <a:defRPr sz="2400">
                  <a:solidFill>
                    <a:schemeClr val="tx1"/>
                  </a:solidFill>
                  <a:latin typeface="Bookman Old Style" panose="02050604050505020204" pitchFamily="18" charset="0"/>
                </a:defRPr>
              </a:lvl2pPr>
              <a:lvl3pPr>
                <a:defRPr sz="2400">
                  <a:solidFill>
                    <a:schemeClr val="tx1"/>
                  </a:solidFill>
                  <a:latin typeface="Bookman Old Style" panose="02050604050505020204" pitchFamily="18" charset="0"/>
                </a:defRPr>
              </a:lvl3pPr>
              <a:lvl4pPr>
                <a:defRPr sz="2400">
                  <a:solidFill>
                    <a:schemeClr val="tx1"/>
                  </a:solidFill>
                  <a:latin typeface="Bookman Old Style" panose="02050604050505020204" pitchFamily="18" charset="0"/>
                </a:defRPr>
              </a:lvl4pPr>
              <a:lvl5pPr marL="1827213">
                <a:defRPr sz="2400">
                  <a:solidFill>
                    <a:schemeClr val="tx1"/>
                  </a:solidFill>
                  <a:latin typeface="Bookman Old Style" panose="02050604050505020204" pitchFamily="18" charset="0"/>
                </a:defRPr>
              </a:lvl5pPr>
              <a:lvl6pPr marL="2284413" eaLnBrk="0" fontAlgn="base" hangingPunct="0">
                <a:spcBef>
                  <a:spcPct val="0"/>
                </a:spcBef>
                <a:spcAft>
                  <a:spcPct val="0"/>
                </a:spcAft>
                <a:defRPr sz="2400">
                  <a:solidFill>
                    <a:schemeClr val="tx1"/>
                  </a:solidFill>
                  <a:latin typeface="Bookman Old Style" panose="02050604050505020204" pitchFamily="18" charset="0"/>
                </a:defRPr>
              </a:lvl6pPr>
              <a:lvl7pPr marL="2741613" eaLnBrk="0" fontAlgn="base" hangingPunct="0">
                <a:spcBef>
                  <a:spcPct val="0"/>
                </a:spcBef>
                <a:spcAft>
                  <a:spcPct val="0"/>
                </a:spcAft>
                <a:defRPr sz="2400">
                  <a:solidFill>
                    <a:schemeClr val="tx1"/>
                  </a:solidFill>
                  <a:latin typeface="Bookman Old Style" panose="02050604050505020204" pitchFamily="18" charset="0"/>
                </a:defRPr>
              </a:lvl7pPr>
              <a:lvl8pPr marL="3198813" eaLnBrk="0" fontAlgn="base" hangingPunct="0">
                <a:spcBef>
                  <a:spcPct val="0"/>
                </a:spcBef>
                <a:spcAft>
                  <a:spcPct val="0"/>
                </a:spcAft>
                <a:defRPr sz="2400">
                  <a:solidFill>
                    <a:schemeClr val="tx1"/>
                  </a:solidFill>
                  <a:latin typeface="Bookman Old Style" panose="02050604050505020204" pitchFamily="18" charset="0"/>
                </a:defRPr>
              </a:lvl8pPr>
              <a:lvl9pPr marL="3656013" eaLnBrk="0" fontAlgn="base" hangingPunct="0">
                <a:spcBef>
                  <a:spcPct val="0"/>
                </a:spcBef>
                <a:spcAft>
                  <a:spcPct val="0"/>
                </a:spcAft>
                <a:defRPr sz="2400">
                  <a:solidFill>
                    <a:schemeClr val="tx1"/>
                  </a:solidFill>
                  <a:latin typeface="Bookman Old Style" panose="02050604050505020204" pitchFamily="18" charset="0"/>
                </a:defRPr>
              </a:lvl9pPr>
            </a:lstStyle>
            <a:p>
              <a:pPr eaLnBrk="1" hangingPunct="1">
                <a:spcBef>
                  <a:spcPct val="50000"/>
                </a:spcBef>
              </a:pPr>
              <a:r>
                <a:rPr kumimoji="1" lang="zh-CN" altLang="en-US" sz="2800" b="1">
                  <a:effectLst>
                    <a:outerShdw blurRad="38100" dist="38100" dir="2700000" algn="tl">
                      <a:srgbClr val="C0C0C0"/>
                    </a:outerShdw>
                  </a:effectLst>
                  <a:latin typeface="Times New Roman" panose="02020603050405020304" pitchFamily="18" charset="0"/>
                  <a:ea typeface="隶书" panose="02010509060101010101" pitchFamily="49" charset="-122"/>
                </a:rPr>
                <a:t>非皂化脂类</a:t>
              </a:r>
              <a:endParaRPr kumimoji="1" lang="zh-CN" altLang="en-US" b="1">
                <a:effectLst>
                  <a:outerShdw blurRad="38100" dist="38100" dir="2700000" algn="tl">
                    <a:srgbClr val="C0C0C0"/>
                  </a:outerShdw>
                </a:effectLst>
                <a:latin typeface="Times New Roman" panose="02020603050405020304" pitchFamily="18" charset="0"/>
                <a:ea typeface="宋体" panose="02010600030101010101" pitchFamily="2" charset="-122"/>
              </a:endParaRPr>
            </a:p>
          </p:txBody>
        </p:sp>
        <p:sp>
          <p:nvSpPr>
            <p:cNvPr id="96264" name="AutoShape 8">
              <a:extLst>
                <a:ext uri="{FF2B5EF4-FFF2-40B4-BE49-F238E27FC236}">
                  <a16:creationId xmlns:a16="http://schemas.microsoft.com/office/drawing/2014/main" id="{16D3345A-C4CE-4643-9CD1-699C450E7D18}"/>
                </a:ext>
              </a:extLst>
            </p:cNvPr>
            <p:cNvSpPr>
              <a:spLocks/>
            </p:cNvSpPr>
            <p:nvPr/>
          </p:nvSpPr>
          <p:spPr bwMode="auto">
            <a:xfrm>
              <a:off x="2414" y="1406"/>
              <a:ext cx="96" cy="576"/>
            </a:xfrm>
            <a:prstGeom prst="leftBrace">
              <a:avLst>
                <a:gd name="adj1" fmla="val 50000"/>
                <a:gd name="adj2" fmla="val 50000"/>
              </a:avLst>
            </a:prstGeom>
            <a:noFill/>
            <a:ln w="38100">
              <a:solidFill>
                <a:srgbClr val="E55C25"/>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96265" name="AutoShape 9">
              <a:extLst>
                <a:ext uri="{FF2B5EF4-FFF2-40B4-BE49-F238E27FC236}">
                  <a16:creationId xmlns:a16="http://schemas.microsoft.com/office/drawing/2014/main" id="{73660966-54EB-47E7-88EB-0F8EFAE9B94F}"/>
                </a:ext>
              </a:extLst>
            </p:cNvPr>
            <p:cNvSpPr>
              <a:spLocks/>
            </p:cNvSpPr>
            <p:nvPr/>
          </p:nvSpPr>
          <p:spPr bwMode="auto">
            <a:xfrm>
              <a:off x="2414" y="2293"/>
              <a:ext cx="96" cy="576"/>
            </a:xfrm>
            <a:prstGeom prst="leftBrace">
              <a:avLst>
                <a:gd name="adj1" fmla="val 50000"/>
                <a:gd name="adj2" fmla="val 50000"/>
              </a:avLst>
            </a:prstGeom>
            <a:noFill/>
            <a:ln w="38100">
              <a:solidFill>
                <a:srgbClr val="E55C25"/>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96266" name="AutoShape 10">
              <a:extLst>
                <a:ext uri="{FF2B5EF4-FFF2-40B4-BE49-F238E27FC236}">
                  <a16:creationId xmlns:a16="http://schemas.microsoft.com/office/drawing/2014/main" id="{25D59730-0F90-4BA9-8CB2-5E3F5868E380}"/>
                </a:ext>
              </a:extLst>
            </p:cNvPr>
            <p:cNvSpPr>
              <a:spLocks/>
            </p:cNvSpPr>
            <p:nvPr/>
          </p:nvSpPr>
          <p:spPr bwMode="auto">
            <a:xfrm>
              <a:off x="2616" y="3442"/>
              <a:ext cx="96" cy="576"/>
            </a:xfrm>
            <a:prstGeom prst="leftBrace">
              <a:avLst>
                <a:gd name="adj1" fmla="val 50000"/>
                <a:gd name="adj2" fmla="val 50000"/>
              </a:avLst>
            </a:prstGeom>
            <a:noFill/>
            <a:ln w="38100">
              <a:solidFill>
                <a:srgbClr val="E55C25"/>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96267" name="Text Box 11">
              <a:extLst>
                <a:ext uri="{FF2B5EF4-FFF2-40B4-BE49-F238E27FC236}">
                  <a16:creationId xmlns:a16="http://schemas.microsoft.com/office/drawing/2014/main" id="{728E3695-CB8B-41CD-9C46-61C6DBBC7B8D}"/>
                </a:ext>
              </a:extLst>
            </p:cNvPr>
            <p:cNvSpPr txBox="1">
              <a:spLocks noChangeArrowheads="1"/>
            </p:cNvSpPr>
            <p:nvPr/>
          </p:nvSpPr>
          <p:spPr bwMode="auto">
            <a:xfrm>
              <a:off x="2493" y="1328"/>
              <a:ext cx="2290"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lIns="91430" tIns="45716" rIns="91430" bIns="45716">
              <a:spAutoFit/>
            </a:bodyPr>
            <a:lstStyle>
              <a:lvl1pPr>
                <a:defRPr sz="2400">
                  <a:solidFill>
                    <a:schemeClr val="tx1"/>
                  </a:solidFill>
                  <a:latin typeface="Bookman Old Style" panose="02050604050505020204" pitchFamily="18" charset="0"/>
                </a:defRPr>
              </a:lvl1pPr>
              <a:lvl2pPr>
                <a:defRPr sz="2400">
                  <a:solidFill>
                    <a:schemeClr val="tx1"/>
                  </a:solidFill>
                  <a:latin typeface="Bookman Old Style" panose="02050604050505020204" pitchFamily="18" charset="0"/>
                </a:defRPr>
              </a:lvl2pPr>
              <a:lvl3pPr>
                <a:defRPr sz="2400">
                  <a:solidFill>
                    <a:schemeClr val="tx1"/>
                  </a:solidFill>
                  <a:latin typeface="Bookman Old Style" panose="02050604050505020204" pitchFamily="18" charset="0"/>
                </a:defRPr>
              </a:lvl3pPr>
              <a:lvl4pPr>
                <a:defRPr sz="2400">
                  <a:solidFill>
                    <a:schemeClr val="tx1"/>
                  </a:solidFill>
                  <a:latin typeface="Bookman Old Style" panose="02050604050505020204" pitchFamily="18" charset="0"/>
                </a:defRPr>
              </a:lvl4pPr>
              <a:lvl5pPr marL="1827213">
                <a:defRPr sz="2400">
                  <a:solidFill>
                    <a:schemeClr val="tx1"/>
                  </a:solidFill>
                  <a:latin typeface="Bookman Old Style" panose="02050604050505020204" pitchFamily="18" charset="0"/>
                </a:defRPr>
              </a:lvl5pPr>
              <a:lvl6pPr marL="2284413" eaLnBrk="0" fontAlgn="base" hangingPunct="0">
                <a:spcBef>
                  <a:spcPct val="0"/>
                </a:spcBef>
                <a:spcAft>
                  <a:spcPct val="0"/>
                </a:spcAft>
                <a:defRPr sz="2400">
                  <a:solidFill>
                    <a:schemeClr val="tx1"/>
                  </a:solidFill>
                  <a:latin typeface="Bookman Old Style" panose="02050604050505020204" pitchFamily="18" charset="0"/>
                </a:defRPr>
              </a:lvl6pPr>
              <a:lvl7pPr marL="2741613" eaLnBrk="0" fontAlgn="base" hangingPunct="0">
                <a:spcBef>
                  <a:spcPct val="0"/>
                </a:spcBef>
                <a:spcAft>
                  <a:spcPct val="0"/>
                </a:spcAft>
                <a:defRPr sz="2400">
                  <a:solidFill>
                    <a:schemeClr val="tx1"/>
                  </a:solidFill>
                  <a:latin typeface="Bookman Old Style" panose="02050604050505020204" pitchFamily="18" charset="0"/>
                </a:defRPr>
              </a:lvl7pPr>
              <a:lvl8pPr marL="3198813" eaLnBrk="0" fontAlgn="base" hangingPunct="0">
                <a:spcBef>
                  <a:spcPct val="0"/>
                </a:spcBef>
                <a:spcAft>
                  <a:spcPct val="0"/>
                </a:spcAft>
                <a:defRPr sz="2400">
                  <a:solidFill>
                    <a:schemeClr val="tx1"/>
                  </a:solidFill>
                  <a:latin typeface="Bookman Old Style" panose="02050604050505020204" pitchFamily="18" charset="0"/>
                </a:defRPr>
              </a:lvl8pPr>
              <a:lvl9pPr marL="3656013" eaLnBrk="0" fontAlgn="base" hangingPunct="0">
                <a:spcBef>
                  <a:spcPct val="0"/>
                </a:spcBef>
                <a:spcAft>
                  <a:spcPct val="0"/>
                </a:spcAft>
                <a:defRPr sz="2400">
                  <a:solidFill>
                    <a:schemeClr val="tx1"/>
                  </a:solidFill>
                  <a:latin typeface="Bookman Old Style" panose="02050604050505020204" pitchFamily="18" charset="0"/>
                </a:defRPr>
              </a:lvl9pPr>
            </a:lstStyle>
            <a:p>
              <a:pPr eaLnBrk="1" hangingPunct="1">
                <a:spcBef>
                  <a:spcPct val="50000"/>
                </a:spcBef>
              </a:pPr>
              <a:r>
                <a:rPr kumimoji="1" lang="zh-CN" altLang="en-US" sz="2800" b="1">
                  <a:solidFill>
                    <a:srgbClr val="000066"/>
                  </a:solidFill>
                  <a:effectLst>
                    <a:outerShdw blurRad="38100" dist="38100" dir="2700000" algn="tl">
                      <a:srgbClr val="C0C0C0"/>
                    </a:outerShdw>
                  </a:effectLst>
                  <a:latin typeface="Times New Roman" panose="02020603050405020304" pitchFamily="18" charset="0"/>
                  <a:ea typeface="隶书" panose="02010509060101010101" pitchFamily="49" charset="-122"/>
                </a:rPr>
                <a:t>三酰甘油</a:t>
              </a:r>
              <a:endParaRPr kumimoji="1" lang="en-US" altLang="zh-CN" sz="2800" b="1">
                <a:solidFill>
                  <a:srgbClr val="000066"/>
                </a:solidFill>
                <a:effectLst>
                  <a:outerShdw blurRad="38100" dist="38100" dir="2700000" algn="tl">
                    <a:srgbClr val="C0C0C0"/>
                  </a:outerShdw>
                </a:effectLst>
                <a:latin typeface="Times New Roman" panose="02020603050405020304" pitchFamily="18" charset="0"/>
                <a:ea typeface="隶书" panose="02010509060101010101" pitchFamily="49" charset="-122"/>
              </a:endParaRPr>
            </a:p>
          </p:txBody>
        </p:sp>
        <p:sp>
          <p:nvSpPr>
            <p:cNvPr id="96268" name="Text Box 12">
              <a:extLst>
                <a:ext uri="{FF2B5EF4-FFF2-40B4-BE49-F238E27FC236}">
                  <a16:creationId xmlns:a16="http://schemas.microsoft.com/office/drawing/2014/main" id="{451EBC0E-0D3C-4590-90B5-3E49CB7E81F2}"/>
                </a:ext>
              </a:extLst>
            </p:cNvPr>
            <p:cNvSpPr txBox="1">
              <a:spLocks noChangeArrowheads="1"/>
            </p:cNvSpPr>
            <p:nvPr/>
          </p:nvSpPr>
          <p:spPr bwMode="auto">
            <a:xfrm>
              <a:off x="2529" y="1534"/>
              <a:ext cx="432" cy="59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lIns="91430" tIns="45716" rIns="91430" bIns="45716">
              <a:spAutoFit/>
            </a:bodyPr>
            <a:lstStyle>
              <a:lvl1pPr>
                <a:defRPr sz="2400">
                  <a:solidFill>
                    <a:schemeClr val="tx1"/>
                  </a:solidFill>
                  <a:latin typeface="Bookman Old Style" panose="02050604050505020204" pitchFamily="18" charset="0"/>
                </a:defRPr>
              </a:lvl1pPr>
              <a:lvl2pPr>
                <a:defRPr sz="2400">
                  <a:solidFill>
                    <a:schemeClr val="tx1"/>
                  </a:solidFill>
                  <a:latin typeface="Bookman Old Style" panose="02050604050505020204" pitchFamily="18" charset="0"/>
                </a:defRPr>
              </a:lvl2pPr>
              <a:lvl3pPr>
                <a:defRPr sz="2400">
                  <a:solidFill>
                    <a:schemeClr val="tx1"/>
                  </a:solidFill>
                  <a:latin typeface="Bookman Old Style" panose="02050604050505020204" pitchFamily="18" charset="0"/>
                </a:defRPr>
              </a:lvl3pPr>
              <a:lvl4pPr>
                <a:defRPr sz="2400">
                  <a:solidFill>
                    <a:schemeClr val="tx1"/>
                  </a:solidFill>
                  <a:latin typeface="Bookman Old Style" panose="02050604050505020204" pitchFamily="18" charset="0"/>
                </a:defRPr>
              </a:lvl4pPr>
              <a:lvl5pPr marL="1827213">
                <a:defRPr sz="2400">
                  <a:solidFill>
                    <a:schemeClr val="tx1"/>
                  </a:solidFill>
                  <a:latin typeface="Bookman Old Style" panose="02050604050505020204" pitchFamily="18" charset="0"/>
                </a:defRPr>
              </a:lvl5pPr>
              <a:lvl6pPr marL="2284413" eaLnBrk="0" fontAlgn="base" hangingPunct="0">
                <a:spcBef>
                  <a:spcPct val="0"/>
                </a:spcBef>
                <a:spcAft>
                  <a:spcPct val="0"/>
                </a:spcAft>
                <a:defRPr sz="2400">
                  <a:solidFill>
                    <a:schemeClr val="tx1"/>
                  </a:solidFill>
                  <a:latin typeface="Bookman Old Style" panose="02050604050505020204" pitchFamily="18" charset="0"/>
                </a:defRPr>
              </a:lvl6pPr>
              <a:lvl7pPr marL="2741613" eaLnBrk="0" fontAlgn="base" hangingPunct="0">
                <a:spcBef>
                  <a:spcPct val="0"/>
                </a:spcBef>
                <a:spcAft>
                  <a:spcPct val="0"/>
                </a:spcAft>
                <a:defRPr sz="2400">
                  <a:solidFill>
                    <a:schemeClr val="tx1"/>
                  </a:solidFill>
                  <a:latin typeface="Bookman Old Style" panose="02050604050505020204" pitchFamily="18" charset="0"/>
                </a:defRPr>
              </a:lvl7pPr>
              <a:lvl8pPr marL="3198813" eaLnBrk="0" fontAlgn="base" hangingPunct="0">
                <a:spcBef>
                  <a:spcPct val="0"/>
                </a:spcBef>
                <a:spcAft>
                  <a:spcPct val="0"/>
                </a:spcAft>
                <a:defRPr sz="2400">
                  <a:solidFill>
                    <a:schemeClr val="tx1"/>
                  </a:solidFill>
                  <a:latin typeface="Bookman Old Style" panose="02050604050505020204" pitchFamily="18" charset="0"/>
                </a:defRPr>
              </a:lvl8pPr>
              <a:lvl9pPr marL="3656013" eaLnBrk="0" fontAlgn="base" hangingPunct="0">
                <a:spcBef>
                  <a:spcPct val="0"/>
                </a:spcBef>
                <a:spcAft>
                  <a:spcPct val="0"/>
                </a:spcAft>
                <a:defRPr sz="2400">
                  <a:solidFill>
                    <a:schemeClr val="tx1"/>
                  </a:solidFill>
                  <a:latin typeface="Bookman Old Style" panose="02050604050505020204" pitchFamily="18" charset="0"/>
                </a:defRPr>
              </a:lvl9pPr>
            </a:lstStyle>
            <a:p>
              <a:pPr algn="just">
                <a:lnSpc>
                  <a:spcPct val="200000"/>
                </a:lnSpc>
              </a:pPr>
              <a:r>
                <a:rPr kumimoji="1" lang="zh-CN" altLang="en-US" sz="2800" b="1">
                  <a:solidFill>
                    <a:srgbClr val="000066"/>
                  </a:solidFill>
                  <a:effectLst>
                    <a:outerShdw blurRad="38100" dist="38100" dir="2700000" algn="tl">
                      <a:srgbClr val="C0C0C0"/>
                    </a:outerShdw>
                  </a:effectLst>
                  <a:latin typeface="Times New Roman" panose="02020603050405020304" pitchFamily="18" charset="0"/>
                  <a:ea typeface="隶书" panose="02010509060101010101" pitchFamily="49" charset="-122"/>
                </a:rPr>
                <a:t>蜡</a:t>
              </a:r>
            </a:p>
          </p:txBody>
        </p:sp>
        <p:sp>
          <p:nvSpPr>
            <p:cNvPr id="96269" name="Text Box 13">
              <a:extLst>
                <a:ext uri="{FF2B5EF4-FFF2-40B4-BE49-F238E27FC236}">
                  <a16:creationId xmlns:a16="http://schemas.microsoft.com/office/drawing/2014/main" id="{524853ED-6068-4B74-A45B-7F4CC3DE10E3}"/>
                </a:ext>
              </a:extLst>
            </p:cNvPr>
            <p:cNvSpPr txBox="1">
              <a:spLocks noChangeArrowheads="1"/>
            </p:cNvSpPr>
            <p:nvPr/>
          </p:nvSpPr>
          <p:spPr bwMode="auto">
            <a:xfrm>
              <a:off x="2529" y="2069"/>
              <a:ext cx="576"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lIns="91430" tIns="45716" rIns="91430" bIns="45716">
              <a:spAutoFit/>
            </a:bodyPr>
            <a:lstStyle>
              <a:lvl1pPr>
                <a:defRPr sz="2400">
                  <a:solidFill>
                    <a:schemeClr val="tx1"/>
                  </a:solidFill>
                  <a:latin typeface="Bookman Old Style" panose="02050604050505020204" pitchFamily="18" charset="0"/>
                </a:defRPr>
              </a:lvl1pPr>
              <a:lvl2pPr>
                <a:defRPr sz="2400">
                  <a:solidFill>
                    <a:schemeClr val="tx1"/>
                  </a:solidFill>
                  <a:latin typeface="Bookman Old Style" panose="02050604050505020204" pitchFamily="18" charset="0"/>
                </a:defRPr>
              </a:lvl2pPr>
              <a:lvl3pPr>
                <a:defRPr sz="2400">
                  <a:solidFill>
                    <a:schemeClr val="tx1"/>
                  </a:solidFill>
                  <a:latin typeface="Bookman Old Style" panose="02050604050505020204" pitchFamily="18" charset="0"/>
                </a:defRPr>
              </a:lvl3pPr>
              <a:lvl4pPr>
                <a:defRPr sz="2400">
                  <a:solidFill>
                    <a:schemeClr val="tx1"/>
                  </a:solidFill>
                  <a:latin typeface="Bookman Old Style" panose="02050604050505020204" pitchFamily="18" charset="0"/>
                </a:defRPr>
              </a:lvl4pPr>
              <a:lvl5pPr marL="1827213">
                <a:defRPr sz="2400">
                  <a:solidFill>
                    <a:schemeClr val="tx1"/>
                  </a:solidFill>
                  <a:latin typeface="Bookman Old Style" panose="02050604050505020204" pitchFamily="18" charset="0"/>
                </a:defRPr>
              </a:lvl5pPr>
              <a:lvl6pPr marL="2284413" eaLnBrk="0" fontAlgn="base" hangingPunct="0">
                <a:spcBef>
                  <a:spcPct val="0"/>
                </a:spcBef>
                <a:spcAft>
                  <a:spcPct val="0"/>
                </a:spcAft>
                <a:defRPr sz="2400">
                  <a:solidFill>
                    <a:schemeClr val="tx1"/>
                  </a:solidFill>
                  <a:latin typeface="Bookman Old Style" panose="02050604050505020204" pitchFamily="18" charset="0"/>
                </a:defRPr>
              </a:lvl6pPr>
              <a:lvl7pPr marL="2741613" eaLnBrk="0" fontAlgn="base" hangingPunct="0">
                <a:spcBef>
                  <a:spcPct val="0"/>
                </a:spcBef>
                <a:spcAft>
                  <a:spcPct val="0"/>
                </a:spcAft>
                <a:defRPr sz="2400">
                  <a:solidFill>
                    <a:schemeClr val="tx1"/>
                  </a:solidFill>
                  <a:latin typeface="Bookman Old Style" panose="02050604050505020204" pitchFamily="18" charset="0"/>
                </a:defRPr>
              </a:lvl7pPr>
              <a:lvl8pPr marL="3198813" eaLnBrk="0" fontAlgn="base" hangingPunct="0">
                <a:spcBef>
                  <a:spcPct val="0"/>
                </a:spcBef>
                <a:spcAft>
                  <a:spcPct val="0"/>
                </a:spcAft>
                <a:defRPr sz="2400">
                  <a:solidFill>
                    <a:schemeClr val="tx1"/>
                  </a:solidFill>
                  <a:latin typeface="Bookman Old Style" panose="02050604050505020204" pitchFamily="18" charset="0"/>
                </a:defRPr>
              </a:lvl8pPr>
              <a:lvl9pPr marL="3656013" eaLnBrk="0" fontAlgn="base" hangingPunct="0">
                <a:spcBef>
                  <a:spcPct val="0"/>
                </a:spcBef>
                <a:spcAft>
                  <a:spcPct val="0"/>
                </a:spcAft>
                <a:defRPr sz="2400">
                  <a:solidFill>
                    <a:schemeClr val="tx1"/>
                  </a:solidFill>
                  <a:latin typeface="Bookman Old Style" panose="02050604050505020204" pitchFamily="18" charset="0"/>
                </a:defRPr>
              </a:lvl9pPr>
            </a:lstStyle>
            <a:p>
              <a:pPr algn="just"/>
              <a:r>
                <a:rPr kumimoji="1" lang="zh-CN" altLang="en-US" sz="2800" b="1">
                  <a:solidFill>
                    <a:srgbClr val="000066"/>
                  </a:solidFill>
                  <a:effectLst>
                    <a:outerShdw blurRad="38100" dist="38100" dir="2700000" algn="tl">
                      <a:srgbClr val="C0C0C0"/>
                    </a:outerShdw>
                  </a:effectLst>
                  <a:latin typeface="Times New Roman" panose="02020603050405020304" pitchFamily="18" charset="0"/>
                  <a:ea typeface="隶书" panose="02010509060101010101" pitchFamily="49" charset="-122"/>
                </a:rPr>
                <a:t>磷脂</a:t>
              </a:r>
            </a:p>
          </p:txBody>
        </p:sp>
        <p:sp>
          <p:nvSpPr>
            <p:cNvPr id="96270" name="Text Box 14">
              <a:extLst>
                <a:ext uri="{FF2B5EF4-FFF2-40B4-BE49-F238E27FC236}">
                  <a16:creationId xmlns:a16="http://schemas.microsoft.com/office/drawing/2014/main" id="{97C8DBF1-20B6-4E5E-91DA-EF5ED29F0AC5}"/>
                </a:ext>
              </a:extLst>
            </p:cNvPr>
            <p:cNvSpPr txBox="1">
              <a:spLocks noChangeArrowheads="1"/>
            </p:cNvSpPr>
            <p:nvPr/>
          </p:nvSpPr>
          <p:spPr bwMode="auto">
            <a:xfrm>
              <a:off x="2515" y="2387"/>
              <a:ext cx="595" cy="73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lIns="91430" tIns="45716" rIns="91430" bIns="45716">
              <a:spAutoFit/>
            </a:bodyPr>
            <a:lstStyle>
              <a:lvl1pPr>
                <a:defRPr sz="2400">
                  <a:solidFill>
                    <a:schemeClr val="tx1"/>
                  </a:solidFill>
                  <a:latin typeface="Bookman Old Style" panose="02050604050505020204" pitchFamily="18" charset="0"/>
                </a:defRPr>
              </a:lvl1pPr>
              <a:lvl2pPr>
                <a:defRPr sz="2400">
                  <a:solidFill>
                    <a:schemeClr val="tx1"/>
                  </a:solidFill>
                  <a:latin typeface="Bookman Old Style" panose="02050604050505020204" pitchFamily="18" charset="0"/>
                </a:defRPr>
              </a:lvl2pPr>
              <a:lvl3pPr>
                <a:defRPr sz="2400">
                  <a:solidFill>
                    <a:schemeClr val="tx1"/>
                  </a:solidFill>
                  <a:latin typeface="Bookman Old Style" panose="02050604050505020204" pitchFamily="18" charset="0"/>
                </a:defRPr>
              </a:lvl3pPr>
              <a:lvl4pPr>
                <a:defRPr sz="2400">
                  <a:solidFill>
                    <a:schemeClr val="tx1"/>
                  </a:solidFill>
                  <a:latin typeface="Bookman Old Style" panose="02050604050505020204" pitchFamily="18" charset="0"/>
                </a:defRPr>
              </a:lvl4pPr>
              <a:lvl5pPr marL="1827213">
                <a:defRPr sz="2400">
                  <a:solidFill>
                    <a:schemeClr val="tx1"/>
                  </a:solidFill>
                  <a:latin typeface="Bookman Old Style" panose="02050604050505020204" pitchFamily="18" charset="0"/>
                </a:defRPr>
              </a:lvl5pPr>
              <a:lvl6pPr marL="2284413" eaLnBrk="0" fontAlgn="base" hangingPunct="0">
                <a:spcBef>
                  <a:spcPct val="0"/>
                </a:spcBef>
                <a:spcAft>
                  <a:spcPct val="0"/>
                </a:spcAft>
                <a:defRPr sz="2400">
                  <a:solidFill>
                    <a:schemeClr val="tx1"/>
                  </a:solidFill>
                  <a:latin typeface="Bookman Old Style" panose="02050604050505020204" pitchFamily="18" charset="0"/>
                </a:defRPr>
              </a:lvl6pPr>
              <a:lvl7pPr marL="2741613" eaLnBrk="0" fontAlgn="base" hangingPunct="0">
                <a:spcBef>
                  <a:spcPct val="0"/>
                </a:spcBef>
                <a:spcAft>
                  <a:spcPct val="0"/>
                </a:spcAft>
                <a:defRPr sz="2400">
                  <a:solidFill>
                    <a:schemeClr val="tx1"/>
                  </a:solidFill>
                  <a:latin typeface="Bookman Old Style" panose="02050604050505020204" pitchFamily="18" charset="0"/>
                </a:defRPr>
              </a:lvl7pPr>
              <a:lvl8pPr marL="3198813" eaLnBrk="0" fontAlgn="base" hangingPunct="0">
                <a:spcBef>
                  <a:spcPct val="0"/>
                </a:spcBef>
                <a:spcAft>
                  <a:spcPct val="0"/>
                </a:spcAft>
                <a:defRPr sz="2400">
                  <a:solidFill>
                    <a:schemeClr val="tx1"/>
                  </a:solidFill>
                  <a:latin typeface="Bookman Old Style" panose="02050604050505020204" pitchFamily="18" charset="0"/>
                </a:defRPr>
              </a:lvl8pPr>
              <a:lvl9pPr marL="3656013" eaLnBrk="0" fontAlgn="base" hangingPunct="0">
                <a:spcBef>
                  <a:spcPct val="0"/>
                </a:spcBef>
                <a:spcAft>
                  <a:spcPct val="0"/>
                </a:spcAft>
                <a:defRPr sz="2400">
                  <a:solidFill>
                    <a:schemeClr val="tx1"/>
                  </a:solidFill>
                  <a:latin typeface="Bookman Old Style" panose="02050604050505020204" pitchFamily="18" charset="0"/>
                </a:defRPr>
              </a:lvl9pPr>
            </a:lstStyle>
            <a:p>
              <a:pPr eaLnBrk="1" hangingPunct="1">
                <a:spcBef>
                  <a:spcPct val="50000"/>
                </a:spcBef>
              </a:pPr>
              <a:r>
                <a:rPr kumimoji="1" lang="zh-CN" altLang="en-US" sz="2800" b="1">
                  <a:solidFill>
                    <a:srgbClr val="000066"/>
                  </a:solidFill>
                  <a:effectLst>
                    <a:outerShdw blurRad="38100" dist="38100" dir="2700000" algn="tl">
                      <a:srgbClr val="C0C0C0"/>
                    </a:outerShdw>
                  </a:effectLst>
                  <a:latin typeface="Times New Roman" panose="02020603050405020304" pitchFamily="18" charset="0"/>
                  <a:ea typeface="隶书" panose="02010509060101010101" pitchFamily="49" charset="-122"/>
                </a:rPr>
                <a:t>糖脂</a:t>
              </a:r>
            </a:p>
            <a:p>
              <a:pPr eaLnBrk="1" hangingPunct="1">
                <a:spcBef>
                  <a:spcPct val="50000"/>
                </a:spcBef>
              </a:pPr>
              <a:r>
                <a:rPr kumimoji="1" lang="zh-CN" altLang="en-US" sz="2800" b="1">
                  <a:solidFill>
                    <a:srgbClr val="000066"/>
                  </a:solidFill>
                  <a:effectLst>
                    <a:outerShdw blurRad="38100" dist="38100" dir="2700000" algn="tl">
                      <a:srgbClr val="C0C0C0"/>
                    </a:outerShdw>
                  </a:effectLst>
                  <a:latin typeface="Times New Roman" panose="02020603050405020304" pitchFamily="18" charset="0"/>
                  <a:ea typeface="隶书" panose="02010509060101010101" pitchFamily="49" charset="-122"/>
                </a:rPr>
                <a:t>硫脂</a:t>
              </a:r>
              <a:endParaRPr kumimoji="1" lang="zh-CN" altLang="en-US" sz="2800" b="1">
                <a:solidFill>
                  <a:srgbClr val="000066"/>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p:txBody>
        </p:sp>
        <p:sp>
          <p:nvSpPr>
            <p:cNvPr id="96271" name="Text Box 15">
              <a:extLst>
                <a:ext uri="{FF2B5EF4-FFF2-40B4-BE49-F238E27FC236}">
                  <a16:creationId xmlns:a16="http://schemas.microsoft.com/office/drawing/2014/main" id="{E2C9E58C-9E2A-4EF1-BD86-5841E6442835}"/>
                </a:ext>
              </a:extLst>
            </p:cNvPr>
            <p:cNvSpPr txBox="1">
              <a:spLocks noChangeArrowheads="1"/>
            </p:cNvSpPr>
            <p:nvPr/>
          </p:nvSpPr>
          <p:spPr bwMode="auto">
            <a:xfrm>
              <a:off x="2712" y="3298"/>
              <a:ext cx="1104"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lIns="91430" tIns="45716" rIns="91430" bIns="45716">
              <a:spAutoFit/>
            </a:bodyPr>
            <a:lstStyle>
              <a:lvl1pPr>
                <a:defRPr sz="2400">
                  <a:solidFill>
                    <a:schemeClr val="tx1"/>
                  </a:solidFill>
                  <a:latin typeface="Bookman Old Style" panose="02050604050505020204" pitchFamily="18" charset="0"/>
                </a:defRPr>
              </a:lvl1pPr>
              <a:lvl2pPr>
                <a:defRPr sz="2400">
                  <a:solidFill>
                    <a:schemeClr val="tx1"/>
                  </a:solidFill>
                  <a:latin typeface="Bookman Old Style" panose="02050604050505020204" pitchFamily="18" charset="0"/>
                </a:defRPr>
              </a:lvl2pPr>
              <a:lvl3pPr>
                <a:defRPr sz="2400">
                  <a:solidFill>
                    <a:schemeClr val="tx1"/>
                  </a:solidFill>
                  <a:latin typeface="Bookman Old Style" panose="02050604050505020204" pitchFamily="18" charset="0"/>
                </a:defRPr>
              </a:lvl3pPr>
              <a:lvl4pPr>
                <a:defRPr sz="2400">
                  <a:solidFill>
                    <a:schemeClr val="tx1"/>
                  </a:solidFill>
                  <a:latin typeface="Bookman Old Style" panose="02050604050505020204" pitchFamily="18" charset="0"/>
                </a:defRPr>
              </a:lvl4pPr>
              <a:lvl5pPr marL="1827213">
                <a:defRPr sz="2400">
                  <a:solidFill>
                    <a:schemeClr val="tx1"/>
                  </a:solidFill>
                  <a:latin typeface="Bookman Old Style" panose="02050604050505020204" pitchFamily="18" charset="0"/>
                </a:defRPr>
              </a:lvl5pPr>
              <a:lvl6pPr marL="2284413" eaLnBrk="0" fontAlgn="base" hangingPunct="0">
                <a:spcBef>
                  <a:spcPct val="0"/>
                </a:spcBef>
                <a:spcAft>
                  <a:spcPct val="0"/>
                </a:spcAft>
                <a:defRPr sz="2400">
                  <a:solidFill>
                    <a:schemeClr val="tx1"/>
                  </a:solidFill>
                  <a:latin typeface="Bookman Old Style" panose="02050604050505020204" pitchFamily="18" charset="0"/>
                </a:defRPr>
              </a:lvl6pPr>
              <a:lvl7pPr marL="2741613" eaLnBrk="0" fontAlgn="base" hangingPunct="0">
                <a:spcBef>
                  <a:spcPct val="0"/>
                </a:spcBef>
                <a:spcAft>
                  <a:spcPct val="0"/>
                </a:spcAft>
                <a:defRPr sz="2400">
                  <a:solidFill>
                    <a:schemeClr val="tx1"/>
                  </a:solidFill>
                  <a:latin typeface="Bookman Old Style" panose="02050604050505020204" pitchFamily="18" charset="0"/>
                </a:defRPr>
              </a:lvl7pPr>
              <a:lvl8pPr marL="3198813" eaLnBrk="0" fontAlgn="base" hangingPunct="0">
                <a:spcBef>
                  <a:spcPct val="0"/>
                </a:spcBef>
                <a:spcAft>
                  <a:spcPct val="0"/>
                </a:spcAft>
                <a:defRPr sz="2400">
                  <a:solidFill>
                    <a:schemeClr val="tx1"/>
                  </a:solidFill>
                  <a:latin typeface="Bookman Old Style" panose="02050604050505020204" pitchFamily="18" charset="0"/>
                </a:defRPr>
              </a:lvl8pPr>
              <a:lvl9pPr marL="3656013" eaLnBrk="0" fontAlgn="base" hangingPunct="0">
                <a:spcBef>
                  <a:spcPct val="0"/>
                </a:spcBef>
                <a:spcAft>
                  <a:spcPct val="0"/>
                </a:spcAft>
                <a:defRPr sz="2400">
                  <a:solidFill>
                    <a:schemeClr val="tx1"/>
                  </a:solidFill>
                  <a:latin typeface="Bookman Old Style" panose="02050604050505020204" pitchFamily="18" charset="0"/>
                </a:defRPr>
              </a:lvl9pPr>
            </a:lstStyle>
            <a:p>
              <a:pPr eaLnBrk="1" hangingPunct="1">
                <a:spcBef>
                  <a:spcPct val="50000"/>
                </a:spcBef>
              </a:pPr>
              <a:r>
                <a:rPr kumimoji="1" lang="zh-CN" altLang="en-US" sz="2800" b="1">
                  <a:solidFill>
                    <a:srgbClr val="000066"/>
                  </a:solidFill>
                  <a:effectLst>
                    <a:outerShdw blurRad="38100" dist="38100" dir="2700000" algn="tl">
                      <a:srgbClr val="C0C0C0"/>
                    </a:outerShdw>
                  </a:effectLst>
                  <a:latin typeface="隶书" panose="02010509060101010101" pitchFamily="49" charset="-122"/>
                  <a:ea typeface="隶书" panose="02010509060101010101" pitchFamily="49" charset="-122"/>
                </a:rPr>
                <a:t>萜  类</a:t>
              </a:r>
              <a:endParaRPr kumimoji="1" lang="zh-CN" altLang="en-US" sz="2800" b="1">
                <a:solidFill>
                  <a:srgbClr val="000066"/>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p:txBody>
        </p:sp>
        <p:sp>
          <p:nvSpPr>
            <p:cNvPr id="96272" name="Text Box 16">
              <a:extLst>
                <a:ext uri="{FF2B5EF4-FFF2-40B4-BE49-F238E27FC236}">
                  <a16:creationId xmlns:a16="http://schemas.microsoft.com/office/drawing/2014/main" id="{1E31C697-801B-4EC3-8C0B-40F47CABFB46}"/>
                </a:ext>
              </a:extLst>
            </p:cNvPr>
            <p:cNvSpPr txBox="1">
              <a:spLocks noChangeArrowheads="1"/>
            </p:cNvSpPr>
            <p:nvPr/>
          </p:nvSpPr>
          <p:spPr bwMode="auto">
            <a:xfrm>
              <a:off x="2664" y="3874"/>
              <a:ext cx="960"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lIns="91430" tIns="45716" rIns="91430" bIns="45716">
              <a:spAutoFit/>
            </a:bodyPr>
            <a:lstStyle>
              <a:lvl1pPr>
                <a:defRPr sz="2400">
                  <a:solidFill>
                    <a:schemeClr val="tx1"/>
                  </a:solidFill>
                  <a:latin typeface="Bookman Old Style" panose="02050604050505020204" pitchFamily="18" charset="0"/>
                </a:defRPr>
              </a:lvl1pPr>
              <a:lvl2pPr>
                <a:defRPr sz="2400">
                  <a:solidFill>
                    <a:schemeClr val="tx1"/>
                  </a:solidFill>
                  <a:latin typeface="Bookman Old Style" panose="02050604050505020204" pitchFamily="18" charset="0"/>
                </a:defRPr>
              </a:lvl2pPr>
              <a:lvl3pPr>
                <a:defRPr sz="2400">
                  <a:solidFill>
                    <a:schemeClr val="tx1"/>
                  </a:solidFill>
                  <a:latin typeface="Bookman Old Style" panose="02050604050505020204" pitchFamily="18" charset="0"/>
                </a:defRPr>
              </a:lvl3pPr>
              <a:lvl4pPr>
                <a:defRPr sz="2400">
                  <a:solidFill>
                    <a:schemeClr val="tx1"/>
                  </a:solidFill>
                  <a:latin typeface="Bookman Old Style" panose="02050604050505020204" pitchFamily="18" charset="0"/>
                </a:defRPr>
              </a:lvl4pPr>
              <a:lvl5pPr marL="1827213">
                <a:defRPr sz="2400">
                  <a:solidFill>
                    <a:schemeClr val="tx1"/>
                  </a:solidFill>
                  <a:latin typeface="Bookman Old Style" panose="02050604050505020204" pitchFamily="18" charset="0"/>
                </a:defRPr>
              </a:lvl5pPr>
              <a:lvl6pPr marL="2284413" eaLnBrk="0" fontAlgn="base" hangingPunct="0">
                <a:spcBef>
                  <a:spcPct val="0"/>
                </a:spcBef>
                <a:spcAft>
                  <a:spcPct val="0"/>
                </a:spcAft>
                <a:defRPr sz="2400">
                  <a:solidFill>
                    <a:schemeClr val="tx1"/>
                  </a:solidFill>
                  <a:latin typeface="Bookman Old Style" panose="02050604050505020204" pitchFamily="18" charset="0"/>
                </a:defRPr>
              </a:lvl6pPr>
              <a:lvl7pPr marL="2741613" eaLnBrk="0" fontAlgn="base" hangingPunct="0">
                <a:spcBef>
                  <a:spcPct val="0"/>
                </a:spcBef>
                <a:spcAft>
                  <a:spcPct val="0"/>
                </a:spcAft>
                <a:defRPr sz="2400">
                  <a:solidFill>
                    <a:schemeClr val="tx1"/>
                  </a:solidFill>
                  <a:latin typeface="Bookman Old Style" panose="02050604050505020204" pitchFamily="18" charset="0"/>
                </a:defRPr>
              </a:lvl7pPr>
              <a:lvl8pPr marL="3198813" eaLnBrk="0" fontAlgn="base" hangingPunct="0">
                <a:spcBef>
                  <a:spcPct val="0"/>
                </a:spcBef>
                <a:spcAft>
                  <a:spcPct val="0"/>
                </a:spcAft>
                <a:defRPr sz="2400">
                  <a:solidFill>
                    <a:schemeClr val="tx1"/>
                  </a:solidFill>
                  <a:latin typeface="Bookman Old Style" panose="02050604050505020204" pitchFamily="18" charset="0"/>
                </a:defRPr>
              </a:lvl8pPr>
              <a:lvl9pPr marL="3656013" eaLnBrk="0" fontAlgn="base" hangingPunct="0">
                <a:spcBef>
                  <a:spcPct val="0"/>
                </a:spcBef>
                <a:spcAft>
                  <a:spcPct val="0"/>
                </a:spcAft>
                <a:defRPr sz="2400">
                  <a:solidFill>
                    <a:schemeClr val="tx1"/>
                  </a:solidFill>
                  <a:latin typeface="Bookman Old Style" panose="02050604050505020204" pitchFamily="18" charset="0"/>
                </a:defRPr>
              </a:lvl9pPr>
            </a:lstStyle>
            <a:p>
              <a:pPr eaLnBrk="1" hangingPunct="1">
                <a:spcBef>
                  <a:spcPct val="50000"/>
                </a:spcBef>
              </a:pPr>
              <a:r>
                <a:rPr kumimoji="1" lang="zh-CN" altLang="en-US" sz="2800" b="1">
                  <a:solidFill>
                    <a:srgbClr val="000066"/>
                  </a:solidFill>
                  <a:effectLst>
                    <a:outerShdw blurRad="38100" dist="38100" dir="2700000" algn="tl">
                      <a:srgbClr val="C0C0C0"/>
                    </a:outerShdw>
                  </a:effectLst>
                  <a:latin typeface="Times New Roman" panose="02020603050405020304" pitchFamily="18" charset="0"/>
                  <a:ea typeface="隶书" panose="02010509060101010101" pitchFamily="49" charset="-122"/>
                </a:rPr>
                <a:t>类固醇</a:t>
              </a:r>
            </a:p>
          </p:txBody>
        </p:sp>
        <p:sp>
          <p:nvSpPr>
            <p:cNvPr id="96274" name="AutoShape 18">
              <a:extLst>
                <a:ext uri="{FF2B5EF4-FFF2-40B4-BE49-F238E27FC236}">
                  <a16:creationId xmlns:a16="http://schemas.microsoft.com/office/drawing/2014/main" id="{C69E9155-93F1-432D-87D8-5136858F43D7}"/>
                </a:ext>
              </a:extLst>
            </p:cNvPr>
            <p:cNvSpPr>
              <a:spLocks/>
            </p:cNvSpPr>
            <p:nvPr/>
          </p:nvSpPr>
          <p:spPr bwMode="auto">
            <a:xfrm>
              <a:off x="3454" y="3490"/>
              <a:ext cx="96" cy="576"/>
            </a:xfrm>
            <a:prstGeom prst="rightBrace">
              <a:avLst>
                <a:gd name="adj1" fmla="val 50000"/>
                <a:gd name="adj2" fmla="val 50000"/>
              </a:avLst>
            </a:prstGeom>
            <a:noFill/>
            <a:ln w="38100">
              <a:solidFill>
                <a:srgbClr val="E55C25"/>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96276" name="Text Box 20">
              <a:extLst>
                <a:ext uri="{FF2B5EF4-FFF2-40B4-BE49-F238E27FC236}">
                  <a16:creationId xmlns:a16="http://schemas.microsoft.com/office/drawing/2014/main" id="{9820E297-66C2-4BA3-BC70-D67D4AE967B3}"/>
                </a:ext>
              </a:extLst>
            </p:cNvPr>
            <p:cNvSpPr txBox="1">
              <a:spLocks noChangeArrowheads="1"/>
            </p:cNvSpPr>
            <p:nvPr/>
          </p:nvSpPr>
          <p:spPr bwMode="auto">
            <a:xfrm>
              <a:off x="-70" y="2014"/>
              <a:ext cx="1100"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lIns="91430" tIns="45716" rIns="91430" bIns="45716">
              <a:spAutoFit/>
            </a:bodyPr>
            <a:lstStyle>
              <a:lvl1pPr>
                <a:defRPr sz="2400">
                  <a:solidFill>
                    <a:schemeClr val="tx1"/>
                  </a:solidFill>
                  <a:latin typeface="Bookman Old Style" panose="02050604050505020204" pitchFamily="18" charset="0"/>
                </a:defRPr>
              </a:lvl1pPr>
              <a:lvl2pPr>
                <a:defRPr sz="2400">
                  <a:solidFill>
                    <a:schemeClr val="tx1"/>
                  </a:solidFill>
                  <a:latin typeface="Bookman Old Style" panose="02050604050505020204" pitchFamily="18" charset="0"/>
                </a:defRPr>
              </a:lvl2pPr>
              <a:lvl3pPr>
                <a:defRPr sz="2400">
                  <a:solidFill>
                    <a:schemeClr val="tx1"/>
                  </a:solidFill>
                  <a:latin typeface="Bookman Old Style" panose="02050604050505020204" pitchFamily="18" charset="0"/>
                </a:defRPr>
              </a:lvl3pPr>
              <a:lvl4pPr>
                <a:defRPr sz="2400">
                  <a:solidFill>
                    <a:schemeClr val="tx1"/>
                  </a:solidFill>
                  <a:latin typeface="Bookman Old Style" panose="02050604050505020204" pitchFamily="18" charset="0"/>
                </a:defRPr>
              </a:lvl4pPr>
              <a:lvl5pPr marL="1827213">
                <a:defRPr sz="2400">
                  <a:solidFill>
                    <a:schemeClr val="tx1"/>
                  </a:solidFill>
                  <a:latin typeface="Bookman Old Style" panose="02050604050505020204" pitchFamily="18" charset="0"/>
                </a:defRPr>
              </a:lvl5pPr>
              <a:lvl6pPr marL="2284413" eaLnBrk="0" fontAlgn="base" hangingPunct="0">
                <a:spcBef>
                  <a:spcPct val="0"/>
                </a:spcBef>
                <a:spcAft>
                  <a:spcPct val="0"/>
                </a:spcAft>
                <a:defRPr sz="2400">
                  <a:solidFill>
                    <a:schemeClr val="tx1"/>
                  </a:solidFill>
                  <a:latin typeface="Bookman Old Style" panose="02050604050505020204" pitchFamily="18" charset="0"/>
                </a:defRPr>
              </a:lvl6pPr>
              <a:lvl7pPr marL="2741613" eaLnBrk="0" fontAlgn="base" hangingPunct="0">
                <a:spcBef>
                  <a:spcPct val="0"/>
                </a:spcBef>
                <a:spcAft>
                  <a:spcPct val="0"/>
                </a:spcAft>
                <a:defRPr sz="2400">
                  <a:solidFill>
                    <a:schemeClr val="tx1"/>
                  </a:solidFill>
                  <a:latin typeface="Bookman Old Style" panose="02050604050505020204" pitchFamily="18" charset="0"/>
                </a:defRPr>
              </a:lvl7pPr>
              <a:lvl8pPr marL="3198813" eaLnBrk="0" fontAlgn="base" hangingPunct="0">
                <a:spcBef>
                  <a:spcPct val="0"/>
                </a:spcBef>
                <a:spcAft>
                  <a:spcPct val="0"/>
                </a:spcAft>
                <a:defRPr sz="2400">
                  <a:solidFill>
                    <a:schemeClr val="tx1"/>
                  </a:solidFill>
                  <a:latin typeface="Bookman Old Style" panose="02050604050505020204" pitchFamily="18" charset="0"/>
                </a:defRPr>
              </a:lvl8pPr>
              <a:lvl9pPr marL="3656013" eaLnBrk="0" fontAlgn="base" hangingPunct="0">
                <a:spcBef>
                  <a:spcPct val="0"/>
                </a:spcBef>
                <a:spcAft>
                  <a:spcPct val="0"/>
                </a:spcAft>
                <a:defRPr sz="2400">
                  <a:solidFill>
                    <a:schemeClr val="tx1"/>
                  </a:solidFill>
                  <a:latin typeface="Bookman Old Style" panose="02050604050505020204" pitchFamily="18" charset="0"/>
                </a:defRPr>
              </a:lvl9pPr>
            </a:lstStyle>
            <a:p>
              <a:pPr eaLnBrk="1" hangingPunct="1">
                <a:spcBef>
                  <a:spcPct val="50000"/>
                </a:spcBef>
              </a:pPr>
              <a:r>
                <a:rPr kumimoji="1" lang="zh-CN" altLang="en-US" sz="2800" b="1" dirty="0">
                  <a:effectLst>
                    <a:outerShdw blurRad="38100" dist="38100" dir="2700000" algn="tl">
                      <a:srgbClr val="C0C0C0"/>
                    </a:outerShdw>
                  </a:effectLst>
                  <a:latin typeface="Times New Roman" panose="02020603050405020304" pitchFamily="18" charset="0"/>
                  <a:ea typeface="隶书" panose="02010509060101010101" pitchFamily="49" charset="-122"/>
                </a:rPr>
                <a:t>皂化脂类</a:t>
              </a:r>
            </a:p>
          </p:txBody>
        </p:sp>
        <p:sp>
          <p:nvSpPr>
            <p:cNvPr id="96283" name="AutoShape 27">
              <a:extLst>
                <a:ext uri="{FF2B5EF4-FFF2-40B4-BE49-F238E27FC236}">
                  <a16:creationId xmlns:a16="http://schemas.microsoft.com/office/drawing/2014/main" id="{D9E2FD01-04C8-4440-86BC-0E6215D4C8D6}"/>
                </a:ext>
              </a:extLst>
            </p:cNvPr>
            <p:cNvSpPr>
              <a:spLocks/>
            </p:cNvSpPr>
            <p:nvPr/>
          </p:nvSpPr>
          <p:spPr bwMode="auto">
            <a:xfrm rot="10800000">
              <a:off x="1012" y="1534"/>
              <a:ext cx="226" cy="1214"/>
            </a:xfrm>
            <a:prstGeom prst="rightBrace">
              <a:avLst>
                <a:gd name="adj1" fmla="val 56858"/>
                <a:gd name="adj2" fmla="val 46461"/>
              </a:avLst>
            </a:prstGeom>
            <a:noFill/>
            <a:ln w="38100">
              <a:solidFill>
                <a:srgbClr val="E55C25"/>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grpSp>
      <p:sp>
        <p:nvSpPr>
          <p:cNvPr id="96284" name="Text Box 28">
            <a:extLst>
              <a:ext uri="{FF2B5EF4-FFF2-40B4-BE49-F238E27FC236}">
                <a16:creationId xmlns:a16="http://schemas.microsoft.com/office/drawing/2014/main" id="{4A3ADE40-32C7-40FD-B222-E8B15B73B0A3}"/>
              </a:ext>
            </a:extLst>
          </p:cNvPr>
          <p:cNvSpPr txBox="1">
            <a:spLocks noChangeArrowheads="1"/>
          </p:cNvSpPr>
          <p:nvPr/>
        </p:nvSpPr>
        <p:spPr bwMode="auto">
          <a:xfrm>
            <a:off x="417513" y="1476375"/>
            <a:ext cx="72723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b="1">
                <a:solidFill>
                  <a:srgbClr val="000066"/>
                </a:solidFill>
                <a:effectLst>
                  <a:outerShdw blurRad="38100" dist="38100" dir="2700000" algn="tl">
                    <a:srgbClr val="C0C0C0"/>
                  </a:outerShdw>
                </a:effectLst>
                <a:latin typeface="宋体" panose="02010600030101010101" pitchFamily="2" charset="-122"/>
                <a:ea typeface="隶书" panose="02010509060101010101" pitchFamily="49" charset="-122"/>
              </a:rPr>
              <a:t>（脂质，类脂）：脂肪酸和醇组成或其衍生物</a:t>
            </a:r>
          </a:p>
        </p:txBody>
      </p:sp>
    </p:spTree>
    <p:extLst>
      <p:ext uri="{BB962C8B-B14F-4D97-AF65-F5344CB8AC3E}">
        <p14:creationId xmlns:p14="http://schemas.microsoft.com/office/powerpoint/2010/main" val="1091003909"/>
      </p:ext>
    </p:extLst>
  </p:cSld>
  <p:clrMapOvr>
    <a:masterClrMapping/>
  </p:clrMapOvr>
  <p:transition>
    <p:pull/>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ext Box 3">
            <a:extLst>
              <a:ext uri="{FF2B5EF4-FFF2-40B4-BE49-F238E27FC236}">
                <a16:creationId xmlns:a16="http://schemas.microsoft.com/office/drawing/2014/main" id="{84729D2B-91A5-4A9B-AD3C-683299BF916F}"/>
              </a:ext>
            </a:extLst>
          </p:cNvPr>
          <p:cNvSpPr txBox="1">
            <a:spLocks noChangeArrowheads="1"/>
          </p:cNvSpPr>
          <p:nvPr/>
        </p:nvSpPr>
        <p:spPr bwMode="auto">
          <a:xfrm>
            <a:off x="762000" y="692696"/>
            <a:ext cx="7620000" cy="3257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pPr>
            <a:r>
              <a:rPr lang="en-US" altLang="zh-CN" sz="3200" b="1" dirty="0">
                <a:solidFill>
                  <a:srgbClr val="000000"/>
                </a:solidFill>
              </a:rPr>
              <a:t>The fats and oils used almost universally as stored forms of energy in living organisms are </a:t>
            </a:r>
            <a:r>
              <a:rPr lang="en-US" altLang="zh-CN" sz="3200" b="1" dirty="0">
                <a:solidFill>
                  <a:srgbClr val="0000FF"/>
                </a:solidFill>
              </a:rPr>
              <a:t>derivatives of fatty acids</a:t>
            </a:r>
            <a:r>
              <a:rPr lang="en-US" altLang="zh-CN" sz="3200" b="1" dirty="0">
                <a:solidFill>
                  <a:srgbClr val="000000"/>
                </a:solidFill>
              </a:rPr>
              <a:t>.</a:t>
            </a:r>
          </a:p>
          <a:p>
            <a:pPr eaLnBrk="1" hangingPunct="1">
              <a:lnSpc>
                <a:spcPct val="120000"/>
              </a:lnSpc>
              <a:spcBef>
                <a:spcPct val="50000"/>
              </a:spcBef>
            </a:pPr>
            <a:r>
              <a:rPr lang="en-US" altLang="zh-CN" sz="3200" b="1" dirty="0">
                <a:solidFill>
                  <a:srgbClr val="000000"/>
                </a:solidFill>
              </a:rPr>
              <a:t>Typical type of fatty acid-containing compounds are  </a:t>
            </a:r>
            <a:r>
              <a:rPr lang="en-US" altLang="zh-CN" sz="3200" b="1" dirty="0" err="1">
                <a:solidFill>
                  <a:srgbClr val="0000FF"/>
                </a:solidFill>
              </a:rPr>
              <a:t>triacylglycerols</a:t>
            </a:r>
            <a:r>
              <a:rPr lang="en-US" altLang="zh-CN" sz="3200" b="1" dirty="0">
                <a:solidFill>
                  <a:srgbClr val="000000"/>
                </a:solidFill>
              </a:rPr>
              <a:t>.</a:t>
            </a:r>
          </a:p>
        </p:txBody>
      </p:sp>
      <p:grpSp>
        <p:nvGrpSpPr>
          <p:cNvPr id="5" name="组合 4">
            <a:extLst>
              <a:ext uri="{FF2B5EF4-FFF2-40B4-BE49-F238E27FC236}">
                <a16:creationId xmlns:a16="http://schemas.microsoft.com/office/drawing/2014/main" id="{2BE0B97B-F26A-4A17-8749-57016DC6611E}"/>
              </a:ext>
            </a:extLst>
          </p:cNvPr>
          <p:cNvGrpSpPr/>
          <p:nvPr/>
        </p:nvGrpSpPr>
        <p:grpSpPr>
          <a:xfrm>
            <a:off x="3184203" y="3985050"/>
            <a:ext cx="2641600" cy="2396277"/>
            <a:chOff x="3184203" y="3985050"/>
            <a:chExt cx="2641600" cy="2396277"/>
          </a:xfrm>
        </p:grpSpPr>
        <p:pic>
          <p:nvPicPr>
            <p:cNvPr id="3" name="图片 2">
              <a:extLst>
                <a:ext uri="{FF2B5EF4-FFF2-40B4-BE49-F238E27FC236}">
                  <a16:creationId xmlns:a16="http://schemas.microsoft.com/office/drawing/2014/main" id="{C652D121-93D3-439D-9A32-DAC73F959BC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184203" y="3985050"/>
              <a:ext cx="2641600" cy="2235200"/>
            </a:xfrm>
            <a:prstGeom prst="rect">
              <a:avLst/>
            </a:prstGeom>
          </p:spPr>
        </p:pic>
        <p:pic>
          <p:nvPicPr>
            <p:cNvPr id="4" name="图片 3">
              <a:extLst>
                <a:ext uri="{FF2B5EF4-FFF2-40B4-BE49-F238E27FC236}">
                  <a16:creationId xmlns:a16="http://schemas.microsoft.com/office/drawing/2014/main" id="{86368AE2-A69C-4E52-9ACC-4F05013A7E4E}"/>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9152" t="2039" b="60571"/>
            <a:stretch/>
          </p:blipFill>
          <p:spPr>
            <a:xfrm>
              <a:off x="3690117" y="5329489"/>
              <a:ext cx="2135686" cy="835753"/>
            </a:xfrm>
            <a:prstGeom prst="rect">
              <a:avLst/>
            </a:prstGeom>
          </p:spPr>
        </p:pic>
        <p:sp>
          <p:nvSpPr>
            <p:cNvPr id="2" name="椭圆 1">
              <a:extLst>
                <a:ext uri="{FF2B5EF4-FFF2-40B4-BE49-F238E27FC236}">
                  <a16:creationId xmlns:a16="http://schemas.microsoft.com/office/drawing/2014/main" id="{A29CBD79-EFE4-4EE7-8587-5CE2350AA207}"/>
                </a:ext>
              </a:extLst>
            </p:cNvPr>
            <p:cNvSpPr/>
            <p:nvPr/>
          </p:nvSpPr>
          <p:spPr>
            <a:xfrm>
              <a:off x="4049883" y="5841240"/>
              <a:ext cx="450109" cy="540087"/>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6" name="矩形 5">
            <a:extLst>
              <a:ext uri="{FF2B5EF4-FFF2-40B4-BE49-F238E27FC236}">
                <a16:creationId xmlns:a16="http://schemas.microsoft.com/office/drawing/2014/main" id="{39D475A1-7914-4917-ACDD-47F6217EA015}"/>
              </a:ext>
            </a:extLst>
          </p:cNvPr>
          <p:cNvSpPr/>
          <p:nvPr/>
        </p:nvSpPr>
        <p:spPr>
          <a:xfrm>
            <a:off x="5436096" y="4425356"/>
            <a:ext cx="1441420" cy="369332"/>
          </a:xfrm>
          <a:prstGeom prst="rect">
            <a:avLst/>
          </a:prstGeom>
        </p:spPr>
        <p:txBody>
          <a:bodyPr wrap="none">
            <a:spAutoFit/>
          </a:bodyPr>
          <a:lstStyle/>
          <a:p>
            <a:r>
              <a:rPr lang="en-US" altLang="zh-CN" dirty="0"/>
              <a:t>(C4 to C36) </a:t>
            </a:r>
            <a:endParaRPr lang="zh-CN" altLang="en-US" dirty="0"/>
          </a:p>
        </p:txBody>
      </p:sp>
    </p:spTree>
    <p:extLst>
      <p:ext uri="{BB962C8B-B14F-4D97-AF65-F5344CB8AC3E}">
        <p14:creationId xmlns:p14="http://schemas.microsoft.com/office/powerpoint/2010/main" val="6934445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Text Box 2">
            <a:extLst>
              <a:ext uri="{FF2B5EF4-FFF2-40B4-BE49-F238E27FC236}">
                <a16:creationId xmlns:a16="http://schemas.microsoft.com/office/drawing/2014/main" id="{3DB94368-5AFF-4984-9146-3E079F375AB6}"/>
              </a:ext>
            </a:extLst>
          </p:cNvPr>
          <p:cNvSpPr txBox="1">
            <a:spLocks noChangeArrowheads="1"/>
          </p:cNvSpPr>
          <p:nvPr/>
        </p:nvSpPr>
        <p:spPr bwMode="auto">
          <a:xfrm>
            <a:off x="533400" y="333375"/>
            <a:ext cx="86106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3600" b="1">
                <a:solidFill>
                  <a:srgbClr val="0000FF"/>
                </a:solidFill>
              </a:rPr>
              <a:t>2. Structure and properties of Fatty acids</a:t>
            </a:r>
          </a:p>
        </p:txBody>
      </p:sp>
      <p:pic>
        <p:nvPicPr>
          <p:cNvPr id="70659" name="Picture 3" descr="F11-01ab.GIF002                                                0000525BSumanas' Hard Drive            B4EBCDA7:">
            <a:extLst>
              <a:ext uri="{FF2B5EF4-FFF2-40B4-BE49-F238E27FC236}">
                <a16:creationId xmlns:a16="http://schemas.microsoft.com/office/drawing/2014/main" id="{294EC977-C83B-400F-91EC-271A7D50BC6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33400" y="1549400"/>
            <a:ext cx="8026400" cy="523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509108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1122" name="Picture 2" descr="F12-04b.GIF013                                                 000055E5Sumanas' Hard Drive            B4EBCDA7:">
            <a:extLst>
              <a:ext uri="{FF2B5EF4-FFF2-40B4-BE49-F238E27FC236}">
                <a16:creationId xmlns:a16="http://schemas.microsoft.com/office/drawing/2014/main" id="{4742A3D9-4611-470C-A5EB-C2DA866C61D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55576" y="1196752"/>
            <a:ext cx="6807200" cy="543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a:extLst>
              <a:ext uri="{FF2B5EF4-FFF2-40B4-BE49-F238E27FC236}">
                <a16:creationId xmlns:a16="http://schemas.microsoft.com/office/drawing/2014/main" id="{6FA9333F-F5AB-4077-8975-3585ED128342}"/>
              </a:ext>
            </a:extLst>
          </p:cNvPr>
          <p:cNvSpPr txBox="1"/>
          <p:nvPr/>
        </p:nvSpPr>
        <p:spPr>
          <a:xfrm>
            <a:off x="2409318" y="6211669"/>
            <a:ext cx="5328592" cy="646331"/>
          </a:xfrm>
          <a:prstGeom prst="rect">
            <a:avLst/>
          </a:prstGeom>
          <a:solidFill>
            <a:schemeClr val="bg1"/>
          </a:solidFill>
          <a:ln>
            <a:solidFill>
              <a:schemeClr val="bg1"/>
            </a:solidFill>
          </a:ln>
        </p:spPr>
        <p:txBody>
          <a:bodyPr wrap="square" rtlCol="0">
            <a:spAutoFit/>
          </a:bodyPr>
          <a:lstStyle/>
          <a:p>
            <a:r>
              <a:rPr lang="en-US" altLang="zh-CN" sz="3600" dirty="0"/>
              <a:t>Cell membrane</a:t>
            </a:r>
            <a:endParaRPr lang="zh-CN" altLang="en-US" sz="3600" dirty="0"/>
          </a:p>
        </p:txBody>
      </p:sp>
      <p:pic>
        <p:nvPicPr>
          <p:cNvPr id="3" name="图片 2">
            <a:extLst>
              <a:ext uri="{FF2B5EF4-FFF2-40B4-BE49-F238E27FC236}">
                <a16:creationId xmlns:a16="http://schemas.microsoft.com/office/drawing/2014/main" id="{9F6DA03A-85C1-48D3-97C5-92E3C4FEFEAC}"/>
              </a:ext>
            </a:extLst>
          </p:cNvPr>
          <p:cNvPicPr>
            <a:picLocks noChangeAspect="1"/>
          </p:cNvPicPr>
          <p:nvPr/>
        </p:nvPicPr>
        <p:blipFill>
          <a:blip r:embed="rId3" cstate="print"/>
          <a:stretch>
            <a:fillRect/>
          </a:stretch>
        </p:blipFill>
        <p:spPr>
          <a:xfrm>
            <a:off x="5087713" y="692696"/>
            <a:ext cx="3365208" cy="1405590"/>
          </a:xfrm>
          <a:prstGeom prst="rect">
            <a:avLst/>
          </a:prstGeom>
        </p:spPr>
      </p:pic>
    </p:spTree>
    <p:extLst>
      <p:ext uri="{BB962C8B-B14F-4D97-AF65-F5344CB8AC3E}">
        <p14:creationId xmlns:p14="http://schemas.microsoft.com/office/powerpoint/2010/main" val="20381652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3170" name="Picture 2052" descr="F12-08.1.GIF020                                                000055E5Sumanas' Hard Drive            B4EBCDA7:">
            <a:extLst>
              <a:ext uri="{FF2B5EF4-FFF2-40B4-BE49-F238E27FC236}">
                <a16:creationId xmlns:a16="http://schemas.microsoft.com/office/drawing/2014/main" id="{3F1F5FCB-6EC1-4C0F-8A55-3FAF5365422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4213" y="1268413"/>
            <a:ext cx="8026400" cy="370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8290" name="Picture 2" descr="Export Wizard-1">
            <a:extLst>
              <a:ext uri="{FF2B5EF4-FFF2-40B4-BE49-F238E27FC236}">
                <a16:creationId xmlns:a16="http://schemas.microsoft.com/office/drawing/2014/main" id="{259A098D-0E4E-49D5-A511-503B9A63F08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48038" y="3357563"/>
            <a:ext cx="2659062" cy="3240087"/>
          </a:xfrm>
          <a:prstGeom prst="rect">
            <a:avLst/>
          </a:prstGeom>
          <a:noFill/>
          <a:extLst>
            <a:ext uri="{909E8E84-426E-40DD-AFC4-6F175D3DCCD1}">
              <a14:hiddenFill xmlns:a14="http://schemas.microsoft.com/office/drawing/2010/main">
                <a:solidFill>
                  <a:srgbClr val="FFFFFF"/>
                </a:solidFill>
              </a14:hiddenFill>
            </a:ext>
          </a:extLst>
        </p:spPr>
      </p:pic>
      <p:pic>
        <p:nvPicPr>
          <p:cNvPr id="268292" name="Picture 4">
            <a:extLst>
              <a:ext uri="{FF2B5EF4-FFF2-40B4-BE49-F238E27FC236}">
                <a16:creationId xmlns:a16="http://schemas.microsoft.com/office/drawing/2014/main" id="{6ED05F21-6E3A-4D6E-968F-59A3EB55C6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7450" y="981075"/>
            <a:ext cx="6264275" cy="2182813"/>
          </a:xfrm>
          <a:prstGeom prst="rect">
            <a:avLst/>
          </a:prstGeom>
          <a:noFill/>
          <a:effectLst>
            <a:outerShdw dist="107763" dir="18900000" algn="ctr" rotWithShape="0">
              <a:srgbClr val="808080"/>
            </a:outerShdw>
          </a:effectLst>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4194" name="Picture 2" descr="&#10;F12-03.GIF010                                                  000055E5Sumanas' Hard Drive            B4EBCDA7:">
            <a:extLst>
              <a:ext uri="{FF2B5EF4-FFF2-40B4-BE49-F238E27FC236}">
                <a16:creationId xmlns:a16="http://schemas.microsoft.com/office/drawing/2014/main" id="{21EFF144-FC2E-4676-8090-44AC657A6A5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333375"/>
            <a:ext cx="8991600" cy="4779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 Box 2">
            <a:extLst>
              <a:ext uri="{FF2B5EF4-FFF2-40B4-BE49-F238E27FC236}">
                <a16:creationId xmlns:a16="http://schemas.microsoft.com/office/drawing/2014/main" id="{CD61B4E3-6333-40DC-AABF-C5EE5BE3F6C8}"/>
              </a:ext>
            </a:extLst>
          </p:cNvPr>
          <p:cNvSpPr txBox="1">
            <a:spLocks noChangeArrowheads="1"/>
          </p:cNvSpPr>
          <p:nvPr/>
        </p:nvSpPr>
        <p:spPr bwMode="auto">
          <a:xfrm>
            <a:off x="152400" y="228600"/>
            <a:ext cx="8991600" cy="4659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30000"/>
              </a:lnSpc>
              <a:spcBef>
                <a:spcPct val="20000"/>
              </a:spcBef>
            </a:pPr>
            <a:r>
              <a:rPr lang="en-US" altLang="zh-CN" sz="2800" b="1" dirty="0"/>
              <a:t>Membranes consist mainly of </a:t>
            </a:r>
            <a:r>
              <a:rPr lang="en-US" altLang="zh-CN" sz="2800" b="1" dirty="0">
                <a:solidFill>
                  <a:srgbClr val="0000FF"/>
                </a:solidFill>
              </a:rPr>
              <a:t>lipids</a:t>
            </a:r>
            <a:r>
              <a:rPr lang="en-US" altLang="zh-CN" sz="2800" b="1" dirty="0"/>
              <a:t> and </a:t>
            </a:r>
            <a:r>
              <a:rPr lang="en-US" altLang="zh-CN" sz="2800" b="1" dirty="0">
                <a:solidFill>
                  <a:srgbClr val="0000FF"/>
                </a:solidFill>
              </a:rPr>
              <a:t>proteins</a:t>
            </a:r>
            <a:r>
              <a:rPr lang="en-US" altLang="zh-CN" sz="2800" b="1" dirty="0"/>
              <a:t> with mass ratio ranges between 1:4 to 4:1 (membranes with different functions have different proteins, some lipids and proteins have covalently linked </a:t>
            </a:r>
            <a:r>
              <a:rPr lang="en-US" altLang="zh-CN" sz="2800" b="1" dirty="0">
                <a:solidFill>
                  <a:srgbClr val="0000FF"/>
                </a:solidFill>
              </a:rPr>
              <a:t>carbohydrate</a:t>
            </a:r>
            <a:r>
              <a:rPr lang="en-US" altLang="zh-CN" sz="2800" b="1" dirty="0"/>
              <a:t>s).</a:t>
            </a:r>
            <a:r>
              <a:rPr lang="en-US" altLang="zh-CN" sz="2800" dirty="0"/>
              <a:t> </a:t>
            </a:r>
          </a:p>
          <a:p>
            <a:pPr>
              <a:lnSpc>
                <a:spcPct val="130000"/>
              </a:lnSpc>
              <a:spcBef>
                <a:spcPct val="20000"/>
              </a:spcBef>
            </a:pPr>
            <a:r>
              <a:rPr lang="en-US" altLang="zh-CN" sz="2800" b="1" dirty="0"/>
              <a:t>	1.2.1	In membranes the three major classes of lipids are the </a:t>
            </a:r>
            <a:r>
              <a:rPr lang="en-US" altLang="zh-CN" sz="2800" b="1" dirty="0">
                <a:solidFill>
                  <a:srgbClr val="0000FF"/>
                </a:solidFill>
              </a:rPr>
              <a:t>glycerophospholipids (</a:t>
            </a:r>
            <a:r>
              <a:rPr lang="zh-CN" altLang="en-US" sz="2800" b="1" dirty="0">
                <a:solidFill>
                  <a:srgbClr val="0000FF"/>
                </a:solidFill>
              </a:rPr>
              <a:t>甘油磷脂）</a:t>
            </a:r>
            <a:r>
              <a:rPr lang="en-US" altLang="zh-CN" sz="2800" b="1" dirty="0"/>
              <a:t>, the </a:t>
            </a:r>
            <a:r>
              <a:rPr lang="en-US" altLang="zh-CN" sz="2800" b="1" dirty="0">
                <a:solidFill>
                  <a:srgbClr val="0000FF"/>
                </a:solidFill>
              </a:rPr>
              <a:t>sphingolipids </a:t>
            </a:r>
            <a:r>
              <a:rPr lang="zh-CN" altLang="en-US" sz="2800" b="1" dirty="0">
                <a:solidFill>
                  <a:srgbClr val="0000FF"/>
                </a:solidFill>
              </a:rPr>
              <a:t>（鞘磷脂） </a:t>
            </a:r>
            <a:r>
              <a:rPr lang="en-US" altLang="zh-CN" sz="2800" b="1" dirty="0"/>
              <a:t>and the </a:t>
            </a:r>
            <a:r>
              <a:rPr lang="en-US" altLang="zh-CN" sz="2800" b="1" dirty="0">
                <a:solidFill>
                  <a:srgbClr val="0000FF"/>
                </a:solidFill>
              </a:rPr>
              <a:t>sterols</a:t>
            </a:r>
            <a:r>
              <a:rPr lang="zh-CN" altLang="en-US" sz="2800" b="1" dirty="0">
                <a:solidFill>
                  <a:srgbClr val="0000FF"/>
                </a:solidFill>
              </a:rPr>
              <a:t>（固醇）</a:t>
            </a:r>
            <a:r>
              <a:rPr lang="en-US" altLang="zh-CN" sz="2800" b="1" dirty="0"/>
              <a:t>.</a:t>
            </a:r>
          </a:p>
        </p:txBody>
      </p:sp>
    </p:spTree>
    <p:extLst>
      <p:ext uri="{BB962C8B-B14F-4D97-AF65-F5344CB8AC3E}">
        <p14:creationId xmlns:p14="http://schemas.microsoft.com/office/powerpoint/2010/main" val="33428213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278" name="Text Box 6">
            <a:extLst>
              <a:ext uri="{FF2B5EF4-FFF2-40B4-BE49-F238E27FC236}">
                <a16:creationId xmlns:a16="http://schemas.microsoft.com/office/drawing/2014/main" id="{09915F25-25DA-4481-98C0-6F729CF3B862}"/>
              </a:ext>
            </a:extLst>
          </p:cNvPr>
          <p:cNvSpPr txBox="1">
            <a:spLocks noChangeArrowheads="1"/>
          </p:cNvSpPr>
          <p:nvPr/>
        </p:nvSpPr>
        <p:spPr bwMode="auto">
          <a:xfrm>
            <a:off x="395536" y="115888"/>
            <a:ext cx="8568952" cy="6198620"/>
          </a:xfrm>
          <a:prstGeom prst="rect">
            <a:avLst/>
          </a:prstGeom>
          <a:solidFill>
            <a:schemeClr val="bg1"/>
          </a:solidFill>
          <a:ln>
            <a:noFill/>
          </a:ln>
          <a:effectLst/>
        </p:spPr>
        <p:txBody>
          <a:bodyPr wrap="square">
            <a:spAutoFit/>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914400" indent="-457200">
              <a:defRPr kumimoji="1" sz="2400">
                <a:solidFill>
                  <a:schemeClr val="tx1"/>
                </a:solidFill>
                <a:latin typeface="Times New Roman" panose="02020603050405020304" pitchFamily="18" charset="0"/>
                <a:ea typeface="宋体" panose="02010600030101010101" pitchFamily="2" charset="-122"/>
              </a:defRPr>
            </a:lvl2pPr>
            <a:lvl3pPr marL="1371600" indent="-4572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buFontTx/>
              <a:buAutoNum type="arabicParenBoth"/>
            </a:pPr>
            <a:r>
              <a:rPr lang="en-US" altLang="zh-CN" sz="3200" b="1" dirty="0"/>
              <a:t>The </a:t>
            </a:r>
            <a:r>
              <a:rPr lang="en-US" altLang="zh-CN" sz="3200" b="1" dirty="0">
                <a:solidFill>
                  <a:srgbClr val="0000FF"/>
                </a:solidFill>
              </a:rPr>
              <a:t>glycerophospholipids </a:t>
            </a:r>
            <a:r>
              <a:rPr lang="en-US" altLang="zh-CN" sz="2800" b="1" dirty="0">
                <a:solidFill>
                  <a:srgbClr val="0000FF"/>
                </a:solidFill>
              </a:rPr>
              <a:t>(</a:t>
            </a:r>
            <a:r>
              <a:rPr lang="zh-CN" altLang="en-US" sz="2800" b="1" dirty="0"/>
              <a:t>甘油磷脂）</a:t>
            </a:r>
            <a:r>
              <a:rPr lang="en-US" altLang="zh-CN" sz="3200" b="1" dirty="0"/>
              <a:t>have a glycerol backbone that is attached to two </a:t>
            </a:r>
            <a:r>
              <a:rPr lang="en-US" altLang="zh-CN" sz="3200" b="1" dirty="0">
                <a:solidFill>
                  <a:srgbClr val="0000FF"/>
                </a:solidFill>
              </a:rPr>
              <a:t>fatty acid hydrocarbon chains </a:t>
            </a:r>
            <a:r>
              <a:rPr lang="en-US" altLang="zh-CN" sz="3200" b="1" dirty="0"/>
              <a:t>and a phosphorylated </a:t>
            </a:r>
            <a:r>
              <a:rPr lang="en-US" altLang="zh-CN" sz="3200" b="1" dirty="0">
                <a:solidFill>
                  <a:srgbClr val="0000FF"/>
                </a:solidFill>
              </a:rPr>
              <a:t>head group</a:t>
            </a:r>
            <a:r>
              <a:rPr lang="en-US" altLang="zh-CN" sz="3200" b="1" dirty="0"/>
              <a:t>.</a:t>
            </a:r>
          </a:p>
          <a:p>
            <a:pPr>
              <a:lnSpc>
                <a:spcPct val="70000"/>
              </a:lnSpc>
              <a:spcBef>
                <a:spcPct val="50000"/>
              </a:spcBef>
            </a:pPr>
            <a:r>
              <a:rPr lang="en-US" altLang="zh-CN" sz="3200" b="1" dirty="0"/>
              <a:t>These include</a:t>
            </a:r>
            <a:r>
              <a:rPr lang="zh-CN" altLang="en-US" sz="3200" b="1" dirty="0"/>
              <a:t>：</a:t>
            </a:r>
          </a:p>
          <a:p>
            <a:pPr>
              <a:lnSpc>
                <a:spcPct val="70000"/>
              </a:lnSpc>
              <a:spcBef>
                <a:spcPct val="50000"/>
              </a:spcBef>
            </a:pPr>
            <a:r>
              <a:rPr lang="zh-CN" altLang="en-US" sz="3200" b="1" dirty="0"/>
              <a:t>   </a:t>
            </a:r>
            <a:r>
              <a:rPr lang="en-US" altLang="zh-CN" sz="3200" b="1" dirty="0"/>
              <a:t>phosphatidate  </a:t>
            </a:r>
            <a:r>
              <a:rPr lang="en-US" altLang="zh-CN" sz="2800" b="1" dirty="0"/>
              <a:t>(</a:t>
            </a:r>
            <a:r>
              <a:rPr lang="zh-CN" altLang="en-US" sz="2800" b="1" dirty="0"/>
              <a:t>磷脂酸）</a:t>
            </a:r>
          </a:p>
          <a:p>
            <a:pPr>
              <a:lnSpc>
                <a:spcPct val="70000"/>
              </a:lnSpc>
              <a:spcBef>
                <a:spcPct val="50000"/>
              </a:spcBef>
            </a:pPr>
            <a:r>
              <a:rPr lang="en-US" altLang="zh-CN" sz="3200" b="1" dirty="0"/>
              <a:t>   phosphatidylcholine </a:t>
            </a:r>
            <a:r>
              <a:rPr lang="zh-CN" altLang="en-US" sz="3200" b="1" dirty="0"/>
              <a:t>（</a:t>
            </a:r>
            <a:r>
              <a:rPr lang="zh-CN" altLang="en-US" sz="2800" b="1" dirty="0"/>
              <a:t>磷脂酰胆碱</a:t>
            </a:r>
            <a:r>
              <a:rPr lang="zh-CN" altLang="en-US" sz="3200" b="1" dirty="0"/>
              <a:t>）</a:t>
            </a:r>
          </a:p>
          <a:p>
            <a:pPr>
              <a:lnSpc>
                <a:spcPct val="70000"/>
              </a:lnSpc>
              <a:spcBef>
                <a:spcPct val="50000"/>
              </a:spcBef>
            </a:pPr>
            <a:r>
              <a:rPr lang="zh-CN" altLang="en-US" sz="3200" b="1" dirty="0"/>
              <a:t>   </a:t>
            </a:r>
            <a:r>
              <a:rPr lang="en-US" altLang="zh-CN" sz="3200" b="1" dirty="0"/>
              <a:t>phosphatidylethanolamine </a:t>
            </a:r>
            <a:r>
              <a:rPr lang="zh-CN" altLang="en-US" sz="2800" b="1" dirty="0"/>
              <a:t>（磷脂酰胆胺）</a:t>
            </a:r>
            <a:r>
              <a:rPr lang="zh-CN" altLang="en-US" sz="3200" b="1" dirty="0"/>
              <a:t> </a:t>
            </a:r>
          </a:p>
          <a:p>
            <a:pPr>
              <a:lnSpc>
                <a:spcPct val="70000"/>
              </a:lnSpc>
              <a:spcBef>
                <a:spcPct val="50000"/>
              </a:spcBef>
            </a:pPr>
            <a:r>
              <a:rPr lang="en-US" altLang="zh-CN" sz="3200" b="1" dirty="0"/>
              <a:t>   phosphatidylglycerol </a:t>
            </a:r>
            <a:r>
              <a:rPr lang="zh-CN" altLang="en-US" sz="2800" b="1" dirty="0"/>
              <a:t>（磷脂酰甘油）</a:t>
            </a:r>
          </a:p>
          <a:p>
            <a:pPr>
              <a:lnSpc>
                <a:spcPct val="70000"/>
              </a:lnSpc>
              <a:spcBef>
                <a:spcPct val="50000"/>
              </a:spcBef>
            </a:pPr>
            <a:r>
              <a:rPr lang="zh-CN" altLang="en-US" sz="3200" b="1" dirty="0"/>
              <a:t>   </a:t>
            </a:r>
            <a:r>
              <a:rPr lang="en-US" altLang="zh-CN" sz="3200" b="1" dirty="0"/>
              <a:t>phosphatidylinositol</a:t>
            </a:r>
            <a:r>
              <a:rPr lang="zh-CN" altLang="en-US" sz="3200" b="1" dirty="0"/>
              <a:t>（</a:t>
            </a:r>
            <a:r>
              <a:rPr lang="zh-CN" altLang="en-US" sz="2800" b="1" dirty="0"/>
              <a:t>磷脂酰肌醇）</a:t>
            </a:r>
            <a:r>
              <a:rPr lang="zh-CN" altLang="en-US" sz="3200" b="1" dirty="0"/>
              <a:t> </a:t>
            </a:r>
          </a:p>
          <a:p>
            <a:pPr>
              <a:lnSpc>
                <a:spcPct val="70000"/>
              </a:lnSpc>
              <a:spcBef>
                <a:spcPct val="50000"/>
              </a:spcBef>
            </a:pPr>
            <a:r>
              <a:rPr lang="en-US" altLang="zh-CN" sz="3200" b="1" dirty="0"/>
              <a:t>   </a:t>
            </a:r>
            <a:r>
              <a:rPr lang="en-US" altLang="zh-CN" sz="3200" b="1" dirty="0" err="1"/>
              <a:t>diphosphatidylglycerol</a:t>
            </a:r>
            <a:r>
              <a:rPr lang="en-US" altLang="zh-CN" sz="3200" b="1" dirty="0"/>
              <a:t> </a:t>
            </a:r>
            <a:r>
              <a:rPr lang="zh-CN" altLang="en-US" sz="3200" b="1" dirty="0"/>
              <a:t>（</a:t>
            </a:r>
            <a:r>
              <a:rPr lang="zh-CN" altLang="en-US" sz="2800" b="1" dirty="0"/>
              <a:t>二磷脂酰甘油，心磷脂</a:t>
            </a:r>
            <a:r>
              <a:rPr lang="zh-CN" altLang="en-US" sz="3200" b="1" dirty="0"/>
              <a:t>）</a:t>
            </a:r>
          </a:p>
        </p:txBody>
      </p:sp>
      <p:cxnSp>
        <p:nvCxnSpPr>
          <p:cNvPr id="3" name="直接连接符 2">
            <a:extLst>
              <a:ext uri="{FF2B5EF4-FFF2-40B4-BE49-F238E27FC236}">
                <a16:creationId xmlns:a16="http://schemas.microsoft.com/office/drawing/2014/main" id="{904CAAA8-BC3E-4E69-A12F-293C4748BF54}"/>
              </a:ext>
            </a:extLst>
          </p:cNvPr>
          <p:cNvCxnSpPr/>
          <p:nvPr/>
        </p:nvCxnSpPr>
        <p:spPr>
          <a:xfrm>
            <a:off x="3124844" y="3861048"/>
            <a:ext cx="1224136"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5" name="直接连接符 4">
            <a:extLst>
              <a:ext uri="{FF2B5EF4-FFF2-40B4-BE49-F238E27FC236}">
                <a16:creationId xmlns:a16="http://schemas.microsoft.com/office/drawing/2014/main" id="{11F49636-EF70-4FE7-ACB5-FAE5791FA7F5}"/>
              </a:ext>
            </a:extLst>
          </p:cNvPr>
          <p:cNvCxnSpPr>
            <a:cxnSpLocks/>
          </p:cNvCxnSpPr>
          <p:nvPr/>
        </p:nvCxnSpPr>
        <p:spPr>
          <a:xfrm>
            <a:off x="3124844" y="4437112"/>
            <a:ext cx="2254550"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直接连接符 6">
            <a:extLst>
              <a:ext uri="{FF2B5EF4-FFF2-40B4-BE49-F238E27FC236}">
                <a16:creationId xmlns:a16="http://schemas.microsoft.com/office/drawing/2014/main" id="{9A457616-B4F7-4BAD-B54E-59E118134B7D}"/>
              </a:ext>
            </a:extLst>
          </p:cNvPr>
          <p:cNvCxnSpPr/>
          <p:nvPr/>
        </p:nvCxnSpPr>
        <p:spPr>
          <a:xfrm>
            <a:off x="3124844" y="5085184"/>
            <a:ext cx="1224136"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A38EBB5E-9A13-470D-A75A-23C9B574E10F}"/>
              </a:ext>
            </a:extLst>
          </p:cNvPr>
          <p:cNvCxnSpPr/>
          <p:nvPr/>
        </p:nvCxnSpPr>
        <p:spPr>
          <a:xfrm>
            <a:off x="3081187" y="5589240"/>
            <a:ext cx="1224136"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772EED18-84B2-4745-9143-E7679E82D63F}"/>
              </a:ext>
            </a:extLst>
          </p:cNvPr>
          <p:cNvCxnSpPr>
            <a:cxnSpLocks/>
          </p:cNvCxnSpPr>
          <p:nvPr/>
        </p:nvCxnSpPr>
        <p:spPr>
          <a:xfrm>
            <a:off x="3366454" y="6237312"/>
            <a:ext cx="1349562"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8616C5BF-15D1-4429-A9CA-4F58B6B236DF}"/>
              </a:ext>
            </a:extLst>
          </p:cNvPr>
          <p:cNvCxnSpPr>
            <a:cxnSpLocks/>
          </p:cNvCxnSpPr>
          <p:nvPr/>
        </p:nvCxnSpPr>
        <p:spPr>
          <a:xfrm>
            <a:off x="821535" y="6215073"/>
            <a:ext cx="269442"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767619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4377" name="Group 9">
            <a:extLst>
              <a:ext uri="{FF2B5EF4-FFF2-40B4-BE49-F238E27FC236}">
                <a16:creationId xmlns:a16="http://schemas.microsoft.com/office/drawing/2014/main" id="{C307432D-0BA4-4528-BEEA-01D444C85B6F}"/>
              </a:ext>
            </a:extLst>
          </p:cNvPr>
          <p:cNvGrpSpPr>
            <a:grpSpLocks/>
          </p:cNvGrpSpPr>
          <p:nvPr/>
        </p:nvGrpSpPr>
        <p:grpSpPr bwMode="auto">
          <a:xfrm>
            <a:off x="1586160" y="445665"/>
            <a:ext cx="8026400" cy="5257800"/>
            <a:chOff x="336" y="192"/>
            <a:chExt cx="5056" cy="3312"/>
          </a:xfrm>
        </p:grpSpPr>
        <p:pic>
          <p:nvPicPr>
            <p:cNvPr id="314372" name="Picture 4">
              <a:extLst>
                <a:ext uri="{FF2B5EF4-FFF2-40B4-BE49-F238E27FC236}">
                  <a16:creationId xmlns:a16="http://schemas.microsoft.com/office/drawing/2014/main" id="{2571592D-A218-488A-92E2-1A12B052D3F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6" y="192"/>
              <a:ext cx="5056" cy="3312"/>
            </a:xfrm>
            <a:prstGeom prst="rect">
              <a:avLst/>
            </a:prstGeom>
            <a:solidFill>
              <a:schemeClr val="tx1"/>
            </a:solidFill>
          </p:spPr>
        </p:pic>
        <p:sp>
          <p:nvSpPr>
            <p:cNvPr id="314373" name="Text Box 5">
              <a:extLst>
                <a:ext uri="{FF2B5EF4-FFF2-40B4-BE49-F238E27FC236}">
                  <a16:creationId xmlns:a16="http://schemas.microsoft.com/office/drawing/2014/main" id="{0CC72319-23F6-4F1E-A0D6-8926371B7AD4}"/>
                </a:ext>
              </a:extLst>
            </p:cNvPr>
            <p:cNvSpPr txBox="1">
              <a:spLocks noChangeArrowheads="1"/>
            </p:cNvSpPr>
            <p:nvPr/>
          </p:nvSpPr>
          <p:spPr bwMode="auto">
            <a:xfrm>
              <a:off x="3344" y="1142"/>
              <a:ext cx="2048" cy="23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endParaRPr lang="en-US" altLang="zh-CN" sz="6000" dirty="0">
                <a:solidFill>
                  <a:schemeClr val="bg2"/>
                </a:solidFill>
              </a:endParaRPr>
            </a:p>
            <a:p>
              <a:pPr>
                <a:spcBef>
                  <a:spcPct val="50000"/>
                </a:spcBef>
              </a:pPr>
              <a:r>
                <a:rPr lang="en-US" altLang="zh-CN" sz="6000" b="1" dirty="0">
                  <a:ln w="0"/>
                  <a:latin typeface="Times New Roman" panose="02020603050405020304" pitchFamily="18" charset="0"/>
                  <a:cs typeface="Times New Roman" panose="02020603050405020304" pitchFamily="18" charset="0"/>
                </a:rPr>
                <a:t>H</a:t>
              </a:r>
            </a:p>
            <a:p>
              <a:pPr>
                <a:spcBef>
                  <a:spcPct val="50000"/>
                </a:spcBef>
              </a:pPr>
              <a:endParaRPr lang="en-US" altLang="zh-CN" sz="6000" dirty="0">
                <a:solidFill>
                  <a:schemeClr val="bg2"/>
                </a:solidFill>
              </a:endParaRPr>
            </a:p>
          </p:txBody>
        </p:sp>
      </p:grpSp>
      <p:sp>
        <p:nvSpPr>
          <p:cNvPr id="314375" name="Text Box 7">
            <a:extLst>
              <a:ext uri="{FF2B5EF4-FFF2-40B4-BE49-F238E27FC236}">
                <a16:creationId xmlns:a16="http://schemas.microsoft.com/office/drawing/2014/main" id="{0540F6A4-7A90-4361-B15D-D6C0A71C1E37}"/>
              </a:ext>
            </a:extLst>
          </p:cNvPr>
          <p:cNvSpPr txBox="1">
            <a:spLocks noChangeArrowheads="1"/>
          </p:cNvSpPr>
          <p:nvPr/>
        </p:nvSpPr>
        <p:spPr bwMode="auto">
          <a:xfrm>
            <a:off x="2814885" y="5801890"/>
            <a:ext cx="39624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3200">
                <a:latin typeface="Arial" panose="020B0604020202020204" pitchFamily="34" charset="0"/>
              </a:rPr>
              <a:t>glycerol</a:t>
            </a:r>
          </a:p>
        </p:txBody>
      </p:sp>
    </p:spTree>
    <p:extLst>
      <p:ext uri="{BB962C8B-B14F-4D97-AF65-F5344CB8AC3E}">
        <p14:creationId xmlns:p14="http://schemas.microsoft.com/office/powerpoint/2010/main" val="38759517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18E2115F-BF1D-4478-B8AB-2BE70C3B8456}"/>
              </a:ext>
            </a:extLst>
          </p:cNvPr>
          <p:cNvPicPr>
            <a:picLocks noChangeAspect="1"/>
          </p:cNvPicPr>
          <p:nvPr/>
        </p:nvPicPr>
        <p:blipFill>
          <a:blip r:embed="rId3"/>
          <a:stretch>
            <a:fillRect/>
          </a:stretch>
        </p:blipFill>
        <p:spPr>
          <a:xfrm>
            <a:off x="251520" y="0"/>
            <a:ext cx="6308704" cy="6436956"/>
          </a:xfrm>
          <a:prstGeom prst="rect">
            <a:avLst/>
          </a:prstGeom>
        </p:spPr>
      </p:pic>
      <p:sp>
        <p:nvSpPr>
          <p:cNvPr id="7" name="矩形 6">
            <a:extLst>
              <a:ext uri="{FF2B5EF4-FFF2-40B4-BE49-F238E27FC236}">
                <a16:creationId xmlns:a16="http://schemas.microsoft.com/office/drawing/2014/main" id="{12AA4808-0AB6-449D-9179-3F78F6945E1A}"/>
              </a:ext>
            </a:extLst>
          </p:cNvPr>
          <p:cNvSpPr/>
          <p:nvPr/>
        </p:nvSpPr>
        <p:spPr>
          <a:xfrm>
            <a:off x="5364088" y="1844824"/>
            <a:ext cx="3528392" cy="3444726"/>
          </a:xfrm>
          <a:prstGeom prst="rect">
            <a:avLst/>
          </a:prstGeom>
        </p:spPr>
        <p:txBody>
          <a:bodyPr wrap="square">
            <a:spAutoFit/>
          </a:bodyPr>
          <a:lstStyle/>
          <a:p>
            <a:pPr algn="r">
              <a:lnSpc>
                <a:spcPct val="130000"/>
              </a:lnSpc>
              <a:spcBef>
                <a:spcPct val="50000"/>
              </a:spcBef>
            </a:pPr>
            <a:r>
              <a:rPr lang="zh-CN" altLang="en-US" sz="1400" b="1" dirty="0">
                <a:latin typeface="Times New Roman" panose="02020603050405020304" pitchFamily="18" charset="0"/>
                <a:cs typeface="Times New Roman" panose="02020603050405020304" pitchFamily="18" charset="0"/>
              </a:rPr>
              <a:t> </a:t>
            </a:r>
            <a:r>
              <a:rPr lang="en-US" altLang="zh-CN" sz="1400" b="1" dirty="0">
                <a:latin typeface="Times New Roman" panose="02020603050405020304" pitchFamily="18" charset="0"/>
                <a:cs typeface="Times New Roman" panose="02020603050405020304" pitchFamily="18" charset="0"/>
              </a:rPr>
              <a:t>phosphatidate  (</a:t>
            </a:r>
            <a:r>
              <a:rPr lang="zh-CN" altLang="en-US" sz="1400" b="1" dirty="0">
                <a:latin typeface="Times New Roman" panose="02020603050405020304" pitchFamily="18" charset="0"/>
                <a:cs typeface="Times New Roman" panose="02020603050405020304" pitchFamily="18" charset="0"/>
              </a:rPr>
              <a:t>磷脂酸）</a:t>
            </a:r>
          </a:p>
          <a:p>
            <a:pPr algn="r">
              <a:lnSpc>
                <a:spcPct val="130000"/>
              </a:lnSpc>
              <a:spcBef>
                <a:spcPct val="50000"/>
              </a:spcBef>
            </a:pPr>
            <a:r>
              <a:rPr lang="en-US" altLang="zh-CN" sz="1400" b="1" dirty="0">
                <a:latin typeface="Times New Roman" panose="02020603050405020304" pitchFamily="18" charset="0"/>
                <a:cs typeface="Times New Roman" panose="02020603050405020304" pitchFamily="18" charset="0"/>
              </a:rPr>
              <a:t>phosphatidylethanolamine </a:t>
            </a:r>
            <a:r>
              <a:rPr lang="zh-CN" altLang="en-US" sz="1400" b="1" dirty="0">
                <a:latin typeface="Times New Roman" panose="02020603050405020304" pitchFamily="18" charset="0"/>
                <a:cs typeface="Times New Roman" panose="02020603050405020304" pitchFamily="18" charset="0"/>
              </a:rPr>
              <a:t>（磷脂酰胆胺）</a:t>
            </a:r>
            <a:endParaRPr lang="en-US" altLang="zh-CN" sz="1400" b="1" dirty="0">
              <a:latin typeface="Times New Roman" panose="02020603050405020304" pitchFamily="18" charset="0"/>
              <a:cs typeface="Times New Roman" panose="02020603050405020304" pitchFamily="18" charset="0"/>
            </a:endParaRPr>
          </a:p>
          <a:p>
            <a:pPr algn="r">
              <a:lnSpc>
                <a:spcPct val="130000"/>
              </a:lnSpc>
              <a:spcBef>
                <a:spcPct val="50000"/>
              </a:spcBef>
            </a:pPr>
            <a:r>
              <a:rPr lang="en-US" altLang="zh-CN" sz="1400" b="1" dirty="0">
                <a:latin typeface="Times New Roman" panose="02020603050405020304" pitchFamily="18" charset="0"/>
                <a:cs typeface="Times New Roman" panose="02020603050405020304" pitchFamily="18" charset="0"/>
              </a:rPr>
              <a:t>phosphatidylcholine </a:t>
            </a:r>
            <a:r>
              <a:rPr lang="zh-CN" altLang="en-US" sz="1400" b="1" dirty="0">
                <a:latin typeface="Times New Roman" panose="02020603050405020304" pitchFamily="18" charset="0"/>
                <a:cs typeface="Times New Roman" panose="02020603050405020304" pitchFamily="18" charset="0"/>
              </a:rPr>
              <a:t>（磷脂酰胆碱）</a:t>
            </a:r>
            <a:endParaRPr lang="en-US" altLang="zh-CN" sz="1400" b="1" dirty="0">
              <a:latin typeface="Times New Roman" panose="02020603050405020304" pitchFamily="18" charset="0"/>
              <a:cs typeface="Times New Roman" panose="02020603050405020304" pitchFamily="18" charset="0"/>
            </a:endParaRPr>
          </a:p>
          <a:p>
            <a:pPr algn="r">
              <a:lnSpc>
                <a:spcPct val="130000"/>
              </a:lnSpc>
              <a:spcBef>
                <a:spcPct val="50000"/>
              </a:spcBef>
            </a:pPr>
            <a:endParaRPr lang="zh-CN" altLang="en-US" sz="1400" b="1" dirty="0">
              <a:latin typeface="Times New Roman" panose="02020603050405020304" pitchFamily="18" charset="0"/>
              <a:cs typeface="Times New Roman" panose="02020603050405020304" pitchFamily="18" charset="0"/>
            </a:endParaRPr>
          </a:p>
          <a:p>
            <a:pPr algn="r">
              <a:lnSpc>
                <a:spcPct val="130000"/>
              </a:lnSpc>
              <a:spcBef>
                <a:spcPct val="50000"/>
              </a:spcBef>
            </a:pPr>
            <a:r>
              <a:rPr lang="en-US" altLang="zh-CN" sz="1400" b="1" dirty="0">
                <a:latin typeface="Times New Roman" panose="02020603050405020304" pitchFamily="18" charset="0"/>
                <a:cs typeface="Times New Roman" panose="02020603050405020304" pitchFamily="18" charset="0"/>
              </a:rPr>
              <a:t>   phosphatidylglycerol </a:t>
            </a:r>
            <a:r>
              <a:rPr lang="zh-CN" altLang="en-US" sz="1400" b="1" dirty="0">
                <a:latin typeface="Times New Roman" panose="02020603050405020304" pitchFamily="18" charset="0"/>
                <a:cs typeface="Times New Roman" panose="02020603050405020304" pitchFamily="18" charset="0"/>
              </a:rPr>
              <a:t>（磷脂酰甘油）</a:t>
            </a:r>
          </a:p>
          <a:p>
            <a:pPr algn="r">
              <a:lnSpc>
                <a:spcPct val="130000"/>
              </a:lnSpc>
              <a:spcBef>
                <a:spcPct val="50000"/>
              </a:spcBef>
            </a:pPr>
            <a:r>
              <a:rPr lang="zh-CN" altLang="en-US" sz="1400" b="1" dirty="0">
                <a:latin typeface="Times New Roman" panose="02020603050405020304" pitchFamily="18" charset="0"/>
                <a:cs typeface="Times New Roman" panose="02020603050405020304" pitchFamily="18" charset="0"/>
              </a:rPr>
              <a:t>   </a:t>
            </a:r>
            <a:endParaRPr lang="en-US" altLang="zh-CN" sz="1400" b="1" dirty="0">
              <a:latin typeface="Times New Roman" panose="02020603050405020304" pitchFamily="18" charset="0"/>
              <a:cs typeface="Times New Roman" panose="02020603050405020304" pitchFamily="18" charset="0"/>
            </a:endParaRPr>
          </a:p>
          <a:p>
            <a:pPr algn="r">
              <a:lnSpc>
                <a:spcPct val="130000"/>
              </a:lnSpc>
              <a:spcBef>
                <a:spcPct val="50000"/>
              </a:spcBef>
            </a:pPr>
            <a:r>
              <a:rPr lang="en-US" altLang="zh-CN" sz="1400" b="1" dirty="0">
                <a:latin typeface="Times New Roman" panose="02020603050405020304" pitchFamily="18" charset="0"/>
                <a:cs typeface="Times New Roman" panose="02020603050405020304" pitchFamily="18" charset="0"/>
              </a:rPr>
              <a:t>phosphatidylinositol</a:t>
            </a:r>
            <a:r>
              <a:rPr lang="zh-CN" altLang="en-US" sz="1400" b="1" dirty="0">
                <a:latin typeface="Times New Roman" panose="02020603050405020304" pitchFamily="18" charset="0"/>
                <a:cs typeface="Times New Roman" panose="02020603050405020304" pitchFamily="18" charset="0"/>
              </a:rPr>
              <a:t>（磷脂酰肌醇） </a:t>
            </a:r>
          </a:p>
          <a:p>
            <a:pPr algn="r">
              <a:lnSpc>
                <a:spcPct val="130000"/>
              </a:lnSpc>
              <a:spcBef>
                <a:spcPct val="50000"/>
              </a:spcBef>
            </a:pPr>
            <a:r>
              <a:rPr lang="en-US" altLang="zh-CN" sz="1400" b="1" dirty="0">
                <a:latin typeface="Times New Roman" panose="02020603050405020304" pitchFamily="18" charset="0"/>
                <a:cs typeface="Times New Roman" panose="02020603050405020304" pitchFamily="18" charset="0"/>
              </a:rPr>
              <a:t>  </a:t>
            </a:r>
          </a:p>
          <a:p>
            <a:pPr algn="r">
              <a:lnSpc>
                <a:spcPct val="130000"/>
              </a:lnSpc>
              <a:spcBef>
                <a:spcPct val="50000"/>
              </a:spcBef>
            </a:pPr>
            <a:r>
              <a:rPr lang="en-US" altLang="zh-CN" sz="1400" b="1" dirty="0">
                <a:latin typeface="Times New Roman" panose="02020603050405020304" pitchFamily="18" charset="0"/>
                <a:cs typeface="Times New Roman" panose="02020603050405020304" pitchFamily="18" charset="0"/>
              </a:rPr>
              <a:t> diphosphatidylglycerl </a:t>
            </a:r>
            <a:r>
              <a:rPr lang="zh-CN" altLang="en-US" sz="1400" b="1" dirty="0">
                <a:latin typeface="Times New Roman" panose="02020603050405020304" pitchFamily="18" charset="0"/>
                <a:cs typeface="Times New Roman" panose="02020603050405020304" pitchFamily="18" charset="0"/>
              </a:rPr>
              <a:t>（二磷脂酰甘油）</a:t>
            </a:r>
            <a:endParaRPr lang="zh-CN" altLang="en-US" sz="1400" dirty="0">
              <a:latin typeface="Times New Roman" panose="02020603050405020304" pitchFamily="18" charset="0"/>
              <a:cs typeface="Times New Roman" panose="02020603050405020304" pitchFamily="18" charset="0"/>
            </a:endParaRPr>
          </a:p>
        </p:txBody>
      </p:sp>
      <p:sp>
        <p:nvSpPr>
          <p:cNvPr id="2" name="矩形 1">
            <a:extLst>
              <a:ext uri="{FF2B5EF4-FFF2-40B4-BE49-F238E27FC236}">
                <a16:creationId xmlns:a16="http://schemas.microsoft.com/office/drawing/2014/main" id="{86FC9E7F-0C8E-4916-89A9-73E87789DECB}"/>
              </a:ext>
            </a:extLst>
          </p:cNvPr>
          <p:cNvSpPr/>
          <p:nvPr/>
        </p:nvSpPr>
        <p:spPr>
          <a:xfrm>
            <a:off x="7812360" y="5229200"/>
            <a:ext cx="877163" cy="369332"/>
          </a:xfrm>
          <a:prstGeom prst="rect">
            <a:avLst/>
          </a:prstGeom>
        </p:spPr>
        <p:txBody>
          <a:bodyPr wrap="none">
            <a:spAutoFit/>
          </a:bodyPr>
          <a:lstStyle/>
          <a:p>
            <a:r>
              <a:rPr lang="zh-CN" altLang="en-US" dirty="0"/>
              <a:t>心磷脂</a:t>
            </a:r>
          </a:p>
        </p:txBody>
      </p:sp>
    </p:spTree>
    <p:extLst>
      <p:ext uri="{BB962C8B-B14F-4D97-AF65-F5344CB8AC3E}">
        <p14:creationId xmlns:p14="http://schemas.microsoft.com/office/powerpoint/2010/main" val="5640824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6836" name="Picture 4">
            <a:extLst>
              <a:ext uri="{FF2B5EF4-FFF2-40B4-BE49-F238E27FC236}">
                <a16:creationId xmlns:a16="http://schemas.microsoft.com/office/drawing/2014/main" id="{DB536CAE-8C7F-4D6D-AB8E-AA8223098AF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388" y="188913"/>
            <a:ext cx="4564062" cy="6108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76837" name="Picture 5">
            <a:extLst>
              <a:ext uri="{FF2B5EF4-FFF2-40B4-BE49-F238E27FC236}">
                <a16:creationId xmlns:a16="http://schemas.microsoft.com/office/drawing/2014/main" id="{E094CA2C-6FB0-43CB-867C-8B7AD95DA45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5925"/>
          <a:stretch>
            <a:fillRect/>
          </a:stretch>
        </p:blipFill>
        <p:spPr bwMode="auto">
          <a:xfrm>
            <a:off x="4859338" y="1052513"/>
            <a:ext cx="3776662" cy="2268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76838" name="Picture 6">
            <a:extLst>
              <a:ext uri="{FF2B5EF4-FFF2-40B4-BE49-F238E27FC236}">
                <a16:creationId xmlns:a16="http://schemas.microsoft.com/office/drawing/2014/main" id="{4D195F78-CF92-4195-B28D-816ACB5612F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4158" t="3287" r="5429"/>
          <a:stretch>
            <a:fillRect/>
          </a:stretch>
        </p:blipFill>
        <p:spPr bwMode="auto">
          <a:xfrm>
            <a:off x="4787900" y="3860800"/>
            <a:ext cx="4176713" cy="2101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 name="图片 1">
            <a:extLst>
              <a:ext uri="{FF2B5EF4-FFF2-40B4-BE49-F238E27FC236}">
                <a16:creationId xmlns:a16="http://schemas.microsoft.com/office/drawing/2014/main" id="{00495B06-FC34-4DFC-A5C3-686529CD2EC2}"/>
              </a:ext>
            </a:extLst>
          </p:cNvPr>
          <p:cNvPicPr>
            <a:picLocks noChangeAspect="1"/>
          </p:cNvPicPr>
          <p:nvPr/>
        </p:nvPicPr>
        <p:blipFill rotWithShape="1">
          <a:blip r:embed="rId6"/>
          <a:srcRect l="19919" t="18959" r="15242" b="19919"/>
          <a:stretch/>
        </p:blipFill>
        <p:spPr>
          <a:xfrm>
            <a:off x="7857058" y="188913"/>
            <a:ext cx="1107554" cy="1044054"/>
          </a:xfrm>
          <a:prstGeom prst="rect">
            <a:avLst/>
          </a:prstGeom>
        </p:spPr>
      </p:pic>
    </p:spTree>
    <p:extLst>
      <p:ext uri="{BB962C8B-B14F-4D97-AF65-F5344CB8AC3E}">
        <p14:creationId xmlns:p14="http://schemas.microsoft.com/office/powerpoint/2010/main" val="33816011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95EE48FC-57B5-40E0-9C07-41534D5A8616}"/>
              </a:ext>
            </a:extLst>
          </p:cNvPr>
          <p:cNvPicPr>
            <a:picLocks noChangeAspect="1"/>
          </p:cNvPicPr>
          <p:nvPr/>
        </p:nvPicPr>
        <p:blipFill>
          <a:blip r:embed="rId3"/>
          <a:stretch>
            <a:fillRect/>
          </a:stretch>
        </p:blipFill>
        <p:spPr>
          <a:xfrm>
            <a:off x="683568" y="1268760"/>
            <a:ext cx="7298357" cy="3817476"/>
          </a:xfrm>
          <a:prstGeom prst="rect">
            <a:avLst/>
          </a:prstGeom>
        </p:spPr>
      </p:pic>
    </p:spTree>
    <p:extLst>
      <p:ext uri="{BB962C8B-B14F-4D97-AF65-F5344CB8AC3E}">
        <p14:creationId xmlns:p14="http://schemas.microsoft.com/office/powerpoint/2010/main" val="18887770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D2175EC3-1DBC-4182-8ABA-2FC15BA18DF5}"/>
              </a:ext>
            </a:extLst>
          </p:cNvPr>
          <p:cNvPicPr>
            <a:picLocks noChangeAspect="1"/>
          </p:cNvPicPr>
          <p:nvPr/>
        </p:nvPicPr>
        <p:blipFill>
          <a:blip r:embed="rId2"/>
          <a:stretch>
            <a:fillRect/>
          </a:stretch>
        </p:blipFill>
        <p:spPr>
          <a:xfrm>
            <a:off x="521804" y="1412776"/>
            <a:ext cx="8100392" cy="3493980"/>
          </a:xfrm>
          <a:prstGeom prst="rect">
            <a:avLst/>
          </a:prstGeom>
        </p:spPr>
      </p:pic>
    </p:spTree>
    <p:extLst>
      <p:ext uri="{BB962C8B-B14F-4D97-AF65-F5344CB8AC3E}">
        <p14:creationId xmlns:p14="http://schemas.microsoft.com/office/powerpoint/2010/main" val="25816104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5812" name="Picture 4">
            <a:extLst>
              <a:ext uri="{FF2B5EF4-FFF2-40B4-BE49-F238E27FC236}">
                <a16:creationId xmlns:a16="http://schemas.microsoft.com/office/drawing/2014/main" id="{7F74F07C-F8C3-4612-B9A4-E87AC0E68E9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3350" y="1557338"/>
            <a:ext cx="6356350" cy="3589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248826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2564" name="Text Box 4">
            <a:extLst>
              <a:ext uri="{FF2B5EF4-FFF2-40B4-BE49-F238E27FC236}">
                <a16:creationId xmlns:a16="http://schemas.microsoft.com/office/drawing/2014/main" id="{A881BEB9-09A8-4B21-9736-63F91E163BE4}"/>
              </a:ext>
            </a:extLst>
          </p:cNvPr>
          <p:cNvSpPr txBox="1">
            <a:spLocks noChangeArrowheads="1"/>
          </p:cNvSpPr>
          <p:nvPr/>
        </p:nvSpPr>
        <p:spPr bwMode="auto">
          <a:xfrm>
            <a:off x="533400" y="533400"/>
            <a:ext cx="7696200" cy="36379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50000"/>
              </a:spcBef>
            </a:pPr>
            <a:r>
              <a:rPr lang="en-US" altLang="zh-CN" sz="3200" b="1" dirty="0"/>
              <a:t>(2)</a:t>
            </a:r>
            <a:r>
              <a:rPr lang="en-US" altLang="zh-CN" sz="3200" dirty="0"/>
              <a:t> </a:t>
            </a:r>
            <a:r>
              <a:rPr lang="en-US" altLang="zh-CN" sz="3200" b="1" dirty="0"/>
              <a:t>The sphingolipids </a:t>
            </a:r>
            <a:r>
              <a:rPr lang="zh-CN" altLang="en-US" sz="2800" b="1" dirty="0"/>
              <a:t>（鞘氨醇磷脂类）</a:t>
            </a:r>
            <a:r>
              <a:rPr lang="zh-CN" altLang="en-US" sz="3200" b="1" dirty="0"/>
              <a:t> </a:t>
            </a:r>
            <a:r>
              <a:rPr lang="en-US" altLang="zh-CN" sz="3200" b="1" dirty="0"/>
              <a:t>are base on </a:t>
            </a:r>
            <a:r>
              <a:rPr lang="en-US" altLang="zh-CN" sz="3200" b="1" dirty="0">
                <a:solidFill>
                  <a:srgbClr val="0000FF"/>
                </a:solidFill>
              </a:rPr>
              <a:t>sphingosine </a:t>
            </a:r>
            <a:r>
              <a:rPr lang="zh-CN" altLang="en-US" sz="2800" b="1" dirty="0"/>
              <a:t>（鞘氨醇）</a:t>
            </a:r>
            <a:r>
              <a:rPr lang="en-US" altLang="zh-CN" sz="3200" b="1" dirty="0"/>
              <a:t>to which a single fatty acid chain is attached and either a phosphorylated head group (sphingomyelin) or one or more sugar residues.</a:t>
            </a:r>
          </a:p>
        </p:txBody>
      </p:sp>
      <p:grpSp>
        <p:nvGrpSpPr>
          <p:cNvPr id="5" name="组合 4">
            <a:extLst>
              <a:ext uri="{FF2B5EF4-FFF2-40B4-BE49-F238E27FC236}">
                <a16:creationId xmlns:a16="http://schemas.microsoft.com/office/drawing/2014/main" id="{E05EE12A-6A57-41BD-A414-463BA56EBCEA}"/>
              </a:ext>
            </a:extLst>
          </p:cNvPr>
          <p:cNvGrpSpPr/>
          <p:nvPr/>
        </p:nvGrpSpPr>
        <p:grpSpPr>
          <a:xfrm>
            <a:off x="4932040" y="3653889"/>
            <a:ext cx="3888432" cy="3177807"/>
            <a:chOff x="2411760" y="2924944"/>
            <a:chExt cx="3888432" cy="3177807"/>
          </a:xfrm>
        </p:grpSpPr>
        <p:pic>
          <p:nvPicPr>
            <p:cNvPr id="3" name="图片 2">
              <a:extLst>
                <a:ext uri="{FF2B5EF4-FFF2-40B4-BE49-F238E27FC236}">
                  <a16:creationId xmlns:a16="http://schemas.microsoft.com/office/drawing/2014/main" id="{E495A64F-85AD-436E-88AF-332ECBEDBB86}"/>
                </a:ext>
              </a:extLst>
            </p:cNvPr>
            <p:cNvPicPr>
              <a:picLocks noChangeAspect="1"/>
            </p:cNvPicPr>
            <p:nvPr/>
          </p:nvPicPr>
          <p:blipFill rotWithShape="1">
            <a:blip r:embed="rId3">
              <a:extLst>
                <a:ext uri="{28A0092B-C50C-407E-A947-70E740481C1C}">
                  <a14:useLocalDpi xmlns:a14="http://schemas.microsoft.com/office/drawing/2010/main" val="0"/>
                </a:ext>
              </a:extLst>
            </a:blip>
            <a:srcRect l="8640" t="10106" r="9713"/>
            <a:stretch/>
          </p:blipFill>
          <p:spPr>
            <a:xfrm>
              <a:off x="2411760" y="2924944"/>
              <a:ext cx="3888432" cy="2808474"/>
            </a:xfrm>
            <a:prstGeom prst="rect">
              <a:avLst/>
            </a:prstGeom>
          </p:spPr>
        </p:pic>
        <p:sp>
          <p:nvSpPr>
            <p:cNvPr id="4" name="矩形 3">
              <a:extLst>
                <a:ext uri="{FF2B5EF4-FFF2-40B4-BE49-F238E27FC236}">
                  <a16:creationId xmlns:a16="http://schemas.microsoft.com/office/drawing/2014/main" id="{4417DC7B-A08F-460A-B751-C591E95C4594}"/>
                </a:ext>
              </a:extLst>
            </p:cNvPr>
            <p:cNvSpPr/>
            <p:nvPr/>
          </p:nvSpPr>
          <p:spPr>
            <a:xfrm>
              <a:off x="3779912" y="5733419"/>
              <a:ext cx="889987" cy="369332"/>
            </a:xfrm>
            <a:prstGeom prst="rect">
              <a:avLst/>
            </a:prstGeom>
          </p:spPr>
          <p:txBody>
            <a:bodyPr wrap="none">
              <a:spAutoFit/>
            </a:bodyPr>
            <a:lstStyle/>
            <a:p>
              <a:r>
                <a:rPr lang="en-US" altLang="zh-CN" dirty="0"/>
                <a:t>Sphinx</a:t>
              </a:r>
              <a:endParaRPr lang="zh-CN" altLang="en-US" dirty="0"/>
            </a:p>
          </p:txBody>
        </p:sp>
      </p:grpSp>
    </p:spTree>
    <p:extLst>
      <p:ext uri="{BB962C8B-B14F-4D97-AF65-F5344CB8AC3E}">
        <p14:creationId xmlns:p14="http://schemas.microsoft.com/office/powerpoint/2010/main" val="23582977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C31CD8C4-0D88-4F74-9E59-BED5AE2C7532}"/>
              </a:ext>
            </a:extLst>
          </p:cNvPr>
          <p:cNvPicPr>
            <a:picLocks noChangeAspect="1"/>
          </p:cNvPicPr>
          <p:nvPr/>
        </p:nvPicPr>
        <p:blipFill>
          <a:blip r:embed="rId3"/>
          <a:stretch>
            <a:fillRect/>
          </a:stretch>
        </p:blipFill>
        <p:spPr>
          <a:xfrm>
            <a:off x="2308548" y="189459"/>
            <a:ext cx="5659583" cy="6479082"/>
          </a:xfrm>
          <a:prstGeom prst="rect">
            <a:avLst/>
          </a:prstGeom>
        </p:spPr>
      </p:pic>
      <p:pic>
        <p:nvPicPr>
          <p:cNvPr id="8" name="图片 7">
            <a:extLst>
              <a:ext uri="{FF2B5EF4-FFF2-40B4-BE49-F238E27FC236}">
                <a16:creationId xmlns:a16="http://schemas.microsoft.com/office/drawing/2014/main" id="{55F00F80-8021-452C-84BF-D20F53480CA1}"/>
              </a:ext>
            </a:extLst>
          </p:cNvPr>
          <p:cNvPicPr>
            <a:picLocks noChangeAspect="1"/>
          </p:cNvPicPr>
          <p:nvPr/>
        </p:nvPicPr>
        <p:blipFill>
          <a:blip r:embed="rId4"/>
          <a:stretch>
            <a:fillRect/>
          </a:stretch>
        </p:blipFill>
        <p:spPr>
          <a:xfrm>
            <a:off x="539552" y="836712"/>
            <a:ext cx="1768996" cy="1002846"/>
          </a:xfrm>
          <a:prstGeom prst="rect">
            <a:avLst/>
          </a:prstGeom>
        </p:spPr>
      </p:pic>
    </p:spTree>
    <p:extLst>
      <p:ext uri="{BB962C8B-B14F-4D97-AF65-F5344CB8AC3E}">
        <p14:creationId xmlns:p14="http://schemas.microsoft.com/office/powerpoint/2010/main" val="12892280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8709" name="Text Box 5">
            <a:extLst>
              <a:ext uri="{FF2B5EF4-FFF2-40B4-BE49-F238E27FC236}">
                <a16:creationId xmlns:a16="http://schemas.microsoft.com/office/drawing/2014/main" id="{FD97FA5D-9C6F-4433-864E-79D3BD300B36}"/>
              </a:ext>
            </a:extLst>
          </p:cNvPr>
          <p:cNvSpPr txBox="1">
            <a:spLocks noChangeArrowheads="1"/>
          </p:cNvSpPr>
          <p:nvPr/>
        </p:nvSpPr>
        <p:spPr bwMode="auto">
          <a:xfrm>
            <a:off x="1187624" y="548680"/>
            <a:ext cx="1828800" cy="861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b="1" dirty="0"/>
              <a:t>Ceramide</a:t>
            </a:r>
          </a:p>
          <a:p>
            <a:pPr>
              <a:spcBef>
                <a:spcPct val="50000"/>
              </a:spcBef>
            </a:pPr>
            <a:r>
              <a:rPr lang="zh-CN" altLang="en-US" sz="2000" b="1" dirty="0"/>
              <a:t>神经酰氨</a:t>
            </a:r>
          </a:p>
        </p:txBody>
      </p:sp>
      <p:pic>
        <p:nvPicPr>
          <p:cNvPr id="6" name="图片 5">
            <a:extLst>
              <a:ext uri="{FF2B5EF4-FFF2-40B4-BE49-F238E27FC236}">
                <a16:creationId xmlns:a16="http://schemas.microsoft.com/office/drawing/2014/main" id="{FCE18505-62E9-4DFA-9464-6BDC347C0E96}"/>
              </a:ext>
            </a:extLst>
          </p:cNvPr>
          <p:cNvPicPr>
            <a:picLocks noChangeAspect="1"/>
          </p:cNvPicPr>
          <p:nvPr/>
        </p:nvPicPr>
        <p:blipFill rotWithShape="1">
          <a:blip r:embed="rId3"/>
          <a:srcRect t="3800"/>
          <a:stretch/>
        </p:blipFill>
        <p:spPr>
          <a:xfrm>
            <a:off x="2555776" y="260772"/>
            <a:ext cx="4808850" cy="6597352"/>
          </a:xfrm>
          <a:prstGeom prst="rect">
            <a:avLst/>
          </a:prstGeom>
        </p:spPr>
      </p:pic>
      <p:sp>
        <p:nvSpPr>
          <p:cNvPr id="7" name="矩形 6">
            <a:extLst>
              <a:ext uri="{FF2B5EF4-FFF2-40B4-BE49-F238E27FC236}">
                <a16:creationId xmlns:a16="http://schemas.microsoft.com/office/drawing/2014/main" id="{5CA4579F-CE06-4D32-B475-344BBAF03F79}"/>
              </a:ext>
            </a:extLst>
          </p:cNvPr>
          <p:cNvSpPr/>
          <p:nvPr/>
        </p:nvSpPr>
        <p:spPr>
          <a:xfrm>
            <a:off x="323528" y="3097659"/>
            <a:ext cx="2952328" cy="2246769"/>
          </a:xfrm>
          <a:prstGeom prst="rect">
            <a:avLst/>
          </a:prstGeom>
        </p:spPr>
        <p:txBody>
          <a:bodyPr wrap="square">
            <a:spAutoFit/>
          </a:bodyPr>
          <a:lstStyle/>
          <a:p>
            <a:r>
              <a:rPr lang="en-US" altLang="zh-CN" sz="2800" b="1" dirty="0">
                <a:solidFill>
                  <a:srgbClr val="231F20"/>
                </a:solidFill>
                <a:latin typeface="Optima-Bold"/>
              </a:rPr>
              <a:t>Glycosphingolipids </a:t>
            </a:r>
          </a:p>
          <a:p>
            <a:r>
              <a:rPr lang="en-US" altLang="zh-CN" sz="2800" b="1" dirty="0">
                <a:solidFill>
                  <a:srgbClr val="231F20"/>
                </a:solidFill>
                <a:latin typeface="Optima-Bold"/>
              </a:rPr>
              <a:t>as determinants of blood</a:t>
            </a:r>
            <a:br>
              <a:rPr lang="en-US" altLang="zh-CN" sz="2800" b="1" dirty="0">
                <a:solidFill>
                  <a:srgbClr val="231F20"/>
                </a:solidFill>
                <a:latin typeface="Optima-Bold"/>
              </a:rPr>
            </a:br>
            <a:r>
              <a:rPr lang="en-US" altLang="zh-CN" sz="2800" b="1" dirty="0">
                <a:solidFill>
                  <a:srgbClr val="231F20"/>
                </a:solidFill>
                <a:latin typeface="Optima-Bold"/>
              </a:rPr>
              <a:t>groups.</a:t>
            </a:r>
            <a:r>
              <a:rPr lang="en-US" altLang="zh-CN" sz="2800" dirty="0"/>
              <a:t> </a:t>
            </a:r>
            <a:br>
              <a:rPr lang="en-US" altLang="zh-CN" sz="2800" dirty="0"/>
            </a:br>
            <a:endParaRPr lang="zh-CN" altLang="en-US" sz="2800" dirty="0"/>
          </a:p>
        </p:txBody>
      </p:sp>
    </p:spTree>
    <p:extLst>
      <p:ext uri="{BB962C8B-B14F-4D97-AF65-F5344CB8AC3E}">
        <p14:creationId xmlns:p14="http://schemas.microsoft.com/office/powerpoint/2010/main" val="25827565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9DB30130-54B5-4692-8B47-74D5C677F0D8}"/>
              </a:ext>
            </a:extLst>
          </p:cNvPr>
          <p:cNvPicPr>
            <a:picLocks noChangeAspect="1"/>
          </p:cNvPicPr>
          <p:nvPr/>
        </p:nvPicPr>
        <p:blipFill rotWithShape="1">
          <a:blip r:embed="rId2"/>
          <a:srcRect r="7476"/>
          <a:stretch/>
        </p:blipFill>
        <p:spPr>
          <a:xfrm>
            <a:off x="467544" y="1052736"/>
            <a:ext cx="8460432" cy="4427085"/>
          </a:xfrm>
          <a:prstGeom prst="rect">
            <a:avLst/>
          </a:prstGeom>
        </p:spPr>
      </p:pic>
    </p:spTree>
    <p:extLst>
      <p:ext uri="{BB962C8B-B14F-4D97-AF65-F5344CB8AC3E}">
        <p14:creationId xmlns:p14="http://schemas.microsoft.com/office/powerpoint/2010/main" val="6691561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660" name="Text Box 4">
            <a:extLst>
              <a:ext uri="{FF2B5EF4-FFF2-40B4-BE49-F238E27FC236}">
                <a16:creationId xmlns:a16="http://schemas.microsoft.com/office/drawing/2014/main" id="{8A4A2411-5E79-4ED7-AD51-DFAB1C714EEC}"/>
              </a:ext>
            </a:extLst>
          </p:cNvPr>
          <p:cNvSpPr txBox="1">
            <a:spLocks noChangeArrowheads="1"/>
          </p:cNvSpPr>
          <p:nvPr/>
        </p:nvSpPr>
        <p:spPr bwMode="auto">
          <a:xfrm>
            <a:off x="304800" y="609600"/>
            <a:ext cx="8610600" cy="2041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3200" b="1" dirty="0"/>
              <a:t>(3) The major sterol (</a:t>
            </a:r>
            <a:r>
              <a:rPr lang="zh-CN" altLang="en-US" sz="3200" b="1" dirty="0"/>
              <a:t>固醇） </a:t>
            </a:r>
            <a:r>
              <a:rPr lang="en-US" altLang="zh-CN" sz="3200" b="1" dirty="0"/>
              <a:t>in animal plasma membranes is cholesterol </a:t>
            </a:r>
            <a:r>
              <a:rPr lang="zh-CN" altLang="en-US" sz="3200" b="1" dirty="0"/>
              <a:t>（胆固醇）</a:t>
            </a:r>
            <a:r>
              <a:rPr lang="en-US" altLang="zh-CN" sz="3200" b="1" dirty="0"/>
              <a:t>, while the structurally related stigmasterol (</a:t>
            </a:r>
            <a:r>
              <a:rPr lang="zh-CN" altLang="en-US" sz="3200" b="1" dirty="0"/>
              <a:t>豆甾醇） </a:t>
            </a:r>
            <a:r>
              <a:rPr lang="en-US" altLang="zh-CN" sz="3200" b="1" dirty="0"/>
              <a:t>and </a:t>
            </a:r>
            <a:r>
              <a:rPr lang="en-US" altLang="zh-CN" sz="3200" b="1" dirty="0">
                <a:sym typeface="Symbol" panose="05050102010706020507" pitchFamily="18" charset="2"/>
              </a:rPr>
              <a:t></a:t>
            </a:r>
            <a:r>
              <a:rPr lang="en-US" altLang="zh-CN" sz="3200" b="1" dirty="0"/>
              <a:t>–sitosterol</a:t>
            </a:r>
            <a:r>
              <a:rPr lang="zh-CN" altLang="en-US" sz="3200" b="1" dirty="0"/>
              <a:t>（谷甾醇） </a:t>
            </a:r>
            <a:r>
              <a:rPr lang="en-US" altLang="zh-CN" sz="3200" b="1" dirty="0"/>
              <a:t>are found in plants.</a:t>
            </a:r>
          </a:p>
        </p:txBody>
      </p:sp>
    </p:spTree>
    <p:extLst>
      <p:ext uri="{BB962C8B-B14F-4D97-AF65-F5344CB8AC3E}">
        <p14:creationId xmlns:p14="http://schemas.microsoft.com/office/powerpoint/2010/main" val="33578830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0756" name="Picture 4">
            <a:extLst>
              <a:ext uri="{FF2B5EF4-FFF2-40B4-BE49-F238E27FC236}">
                <a16:creationId xmlns:a16="http://schemas.microsoft.com/office/drawing/2014/main" id="{0375BE4E-9BCE-4E2A-80B6-FA57DB676F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95736" y="476672"/>
            <a:ext cx="5602064" cy="4719849"/>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5">
            <a:extLst>
              <a:ext uri="{FF2B5EF4-FFF2-40B4-BE49-F238E27FC236}">
                <a16:creationId xmlns:a16="http://schemas.microsoft.com/office/drawing/2014/main" id="{EDDE6AC8-E548-48B8-B165-48E0001BD637}"/>
              </a:ext>
            </a:extLst>
          </p:cNvPr>
          <p:cNvSpPr/>
          <p:nvPr/>
        </p:nvSpPr>
        <p:spPr>
          <a:xfrm>
            <a:off x="1680704" y="5373216"/>
            <a:ext cx="6203664" cy="954107"/>
          </a:xfrm>
          <a:prstGeom prst="rect">
            <a:avLst/>
          </a:prstGeom>
        </p:spPr>
        <p:txBody>
          <a:bodyPr wrap="square">
            <a:spAutoFit/>
          </a:bodyPr>
          <a:lstStyle/>
          <a:p>
            <a:r>
              <a:rPr lang="en-US" altLang="zh-CN" sz="2800" b="1" dirty="0">
                <a:solidFill>
                  <a:srgbClr val="01589C"/>
                </a:solidFill>
                <a:latin typeface="Times New Roman" panose="02020603050405020304" pitchFamily="18" charset="0"/>
                <a:cs typeface="Times New Roman" panose="02020603050405020304" pitchFamily="18" charset="0"/>
              </a:rPr>
              <a:t>Sterols Have Four Fused Carbon Rings</a:t>
            </a:r>
            <a:r>
              <a:rPr lang="en-US" altLang="zh-CN" sz="2800" dirty="0">
                <a:latin typeface="Times New Roman" panose="02020603050405020304" pitchFamily="18" charset="0"/>
                <a:cs typeface="Times New Roman" panose="02020603050405020304" pitchFamily="18" charset="0"/>
              </a:rPr>
              <a:t> </a:t>
            </a:r>
            <a:br>
              <a:rPr lang="en-US" altLang="zh-CN" sz="2800" dirty="0">
                <a:latin typeface="Times New Roman" panose="02020603050405020304" pitchFamily="18" charset="0"/>
                <a:cs typeface="Times New Roman" panose="02020603050405020304" pitchFamily="18" charset="0"/>
              </a:rPr>
            </a:br>
            <a:endParaRPr lang="zh-CN" altLang="en-US" sz="2800" dirty="0">
              <a:latin typeface="Times New Roman" panose="02020603050405020304" pitchFamily="18" charset="0"/>
              <a:cs typeface="Times New Roman" panose="02020603050405020304" pitchFamily="18" charset="0"/>
            </a:endParaRPr>
          </a:p>
        </p:txBody>
      </p:sp>
      <p:sp>
        <p:nvSpPr>
          <p:cNvPr id="7" name="文本框 6">
            <a:extLst>
              <a:ext uri="{FF2B5EF4-FFF2-40B4-BE49-F238E27FC236}">
                <a16:creationId xmlns:a16="http://schemas.microsoft.com/office/drawing/2014/main" id="{BE2079B5-417E-46D4-AD0A-4388556224A0}"/>
              </a:ext>
            </a:extLst>
          </p:cNvPr>
          <p:cNvSpPr txBox="1"/>
          <p:nvPr/>
        </p:nvSpPr>
        <p:spPr>
          <a:xfrm>
            <a:off x="1619672" y="1484784"/>
            <a:ext cx="1584176" cy="400110"/>
          </a:xfrm>
          <a:prstGeom prst="rect">
            <a:avLst/>
          </a:prstGeom>
          <a:noFill/>
        </p:spPr>
        <p:txBody>
          <a:bodyPr wrap="square" rtlCol="0">
            <a:spAutoFit/>
          </a:bodyPr>
          <a:lstStyle/>
          <a:p>
            <a:r>
              <a:rPr lang="zh-CN" altLang="en-US" sz="2000" b="1" dirty="0"/>
              <a:t>胆固醇</a:t>
            </a:r>
          </a:p>
        </p:txBody>
      </p:sp>
    </p:spTree>
    <p:extLst>
      <p:ext uri="{BB962C8B-B14F-4D97-AF65-F5344CB8AC3E}">
        <p14:creationId xmlns:p14="http://schemas.microsoft.com/office/powerpoint/2010/main" val="20607582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8661D1C5-3ED0-42C3-97B5-7A8AFB8057EF}"/>
              </a:ext>
            </a:extLst>
          </p:cNvPr>
          <p:cNvPicPr>
            <a:picLocks noChangeAspect="1"/>
          </p:cNvPicPr>
          <p:nvPr/>
        </p:nvPicPr>
        <p:blipFill>
          <a:blip r:embed="rId2"/>
          <a:stretch>
            <a:fillRect/>
          </a:stretch>
        </p:blipFill>
        <p:spPr>
          <a:xfrm>
            <a:off x="209595" y="145578"/>
            <a:ext cx="4352925" cy="2247900"/>
          </a:xfrm>
          <a:prstGeom prst="rect">
            <a:avLst/>
          </a:prstGeom>
        </p:spPr>
      </p:pic>
      <p:sp>
        <p:nvSpPr>
          <p:cNvPr id="4" name="文本框 3">
            <a:extLst>
              <a:ext uri="{FF2B5EF4-FFF2-40B4-BE49-F238E27FC236}">
                <a16:creationId xmlns:a16="http://schemas.microsoft.com/office/drawing/2014/main" id="{C157CBA5-CEB2-45CE-802A-D0DC221F2F67}"/>
              </a:ext>
            </a:extLst>
          </p:cNvPr>
          <p:cNvSpPr txBox="1"/>
          <p:nvPr/>
        </p:nvSpPr>
        <p:spPr>
          <a:xfrm>
            <a:off x="3779912" y="6121511"/>
            <a:ext cx="1584176" cy="584775"/>
          </a:xfrm>
          <a:prstGeom prst="rect">
            <a:avLst/>
          </a:prstGeom>
          <a:noFill/>
        </p:spPr>
        <p:txBody>
          <a:bodyPr wrap="square" rtlCol="0">
            <a:spAutoFit/>
          </a:bodyPr>
          <a:lstStyle/>
          <a:p>
            <a:r>
              <a:rPr lang="zh-CN" altLang="en-US" sz="3200" b="1" dirty="0"/>
              <a:t>胆固醇</a:t>
            </a:r>
          </a:p>
        </p:txBody>
      </p:sp>
      <p:pic>
        <p:nvPicPr>
          <p:cNvPr id="2" name="图片 1">
            <a:extLst>
              <a:ext uri="{FF2B5EF4-FFF2-40B4-BE49-F238E27FC236}">
                <a16:creationId xmlns:a16="http://schemas.microsoft.com/office/drawing/2014/main" id="{FF117998-33EA-4DC1-A51F-FC5C2A29850B}"/>
              </a:ext>
            </a:extLst>
          </p:cNvPr>
          <p:cNvPicPr>
            <a:picLocks noChangeAspect="1"/>
          </p:cNvPicPr>
          <p:nvPr/>
        </p:nvPicPr>
        <p:blipFill>
          <a:blip r:embed="rId3"/>
          <a:stretch>
            <a:fillRect/>
          </a:stretch>
        </p:blipFill>
        <p:spPr>
          <a:xfrm>
            <a:off x="2123728" y="1583379"/>
            <a:ext cx="5902052" cy="4538132"/>
          </a:xfrm>
          <a:prstGeom prst="rect">
            <a:avLst/>
          </a:prstGeom>
        </p:spPr>
      </p:pic>
    </p:spTree>
    <p:extLst>
      <p:ext uri="{BB962C8B-B14F-4D97-AF65-F5344CB8AC3E}">
        <p14:creationId xmlns:p14="http://schemas.microsoft.com/office/powerpoint/2010/main" val="138248672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A955BD54-6810-4B1E-B0F7-807AE24C38C2}"/>
              </a:ext>
            </a:extLst>
          </p:cNvPr>
          <p:cNvPicPr>
            <a:picLocks noChangeAspect="1"/>
          </p:cNvPicPr>
          <p:nvPr/>
        </p:nvPicPr>
        <p:blipFill>
          <a:blip r:embed="rId3"/>
          <a:stretch>
            <a:fillRect/>
          </a:stretch>
        </p:blipFill>
        <p:spPr>
          <a:xfrm>
            <a:off x="35496" y="1170660"/>
            <a:ext cx="9144000" cy="4516679"/>
          </a:xfrm>
          <a:prstGeom prst="rect">
            <a:avLst/>
          </a:prstGeom>
        </p:spPr>
      </p:pic>
      <p:sp>
        <p:nvSpPr>
          <p:cNvPr id="3" name="矩形 2">
            <a:extLst>
              <a:ext uri="{FF2B5EF4-FFF2-40B4-BE49-F238E27FC236}">
                <a16:creationId xmlns:a16="http://schemas.microsoft.com/office/drawing/2014/main" id="{D628EF4F-B5A9-4B03-8B05-0AEB7D9DB72F}"/>
              </a:ext>
            </a:extLst>
          </p:cNvPr>
          <p:cNvSpPr/>
          <p:nvPr/>
        </p:nvSpPr>
        <p:spPr>
          <a:xfrm>
            <a:off x="3599384" y="4149080"/>
            <a:ext cx="576064" cy="432048"/>
          </a:xfrm>
          <a:prstGeom prst="rect">
            <a:avLst/>
          </a:prstGeom>
          <a:noFill/>
          <a:ln w="3810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圆角 3">
            <a:extLst>
              <a:ext uri="{FF2B5EF4-FFF2-40B4-BE49-F238E27FC236}">
                <a16:creationId xmlns:a16="http://schemas.microsoft.com/office/drawing/2014/main" id="{773A51BE-2D23-4B91-A3BC-B972B90A0DC7}"/>
              </a:ext>
            </a:extLst>
          </p:cNvPr>
          <p:cNvSpPr/>
          <p:nvPr/>
        </p:nvSpPr>
        <p:spPr>
          <a:xfrm>
            <a:off x="0" y="4725144"/>
            <a:ext cx="9252520" cy="1368152"/>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172955876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2804" name="Picture 4">
            <a:extLst>
              <a:ext uri="{FF2B5EF4-FFF2-40B4-BE49-F238E27FC236}">
                <a16:creationId xmlns:a16="http://schemas.microsoft.com/office/drawing/2014/main" id="{D1365909-7865-42D6-9A45-9EF8CECB264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5400" y="152400"/>
            <a:ext cx="5811838" cy="6477000"/>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5">
            <a:extLst>
              <a:ext uri="{FF2B5EF4-FFF2-40B4-BE49-F238E27FC236}">
                <a16:creationId xmlns:a16="http://schemas.microsoft.com/office/drawing/2014/main" id="{4B349F30-A633-4EBC-AF93-816C6821D395}"/>
              </a:ext>
            </a:extLst>
          </p:cNvPr>
          <p:cNvSpPr/>
          <p:nvPr/>
        </p:nvSpPr>
        <p:spPr>
          <a:xfrm>
            <a:off x="2007459" y="1916832"/>
            <a:ext cx="877163" cy="369332"/>
          </a:xfrm>
          <a:prstGeom prst="rect">
            <a:avLst/>
          </a:prstGeom>
        </p:spPr>
        <p:txBody>
          <a:bodyPr wrap="none">
            <a:spAutoFit/>
          </a:bodyPr>
          <a:lstStyle/>
          <a:p>
            <a:r>
              <a:rPr lang="zh-CN" altLang="en-US" dirty="0"/>
              <a:t>睾丸素</a:t>
            </a:r>
          </a:p>
        </p:txBody>
      </p:sp>
      <p:sp>
        <p:nvSpPr>
          <p:cNvPr id="7" name="矩形 6">
            <a:extLst>
              <a:ext uri="{FF2B5EF4-FFF2-40B4-BE49-F238E27FC236}">
                <a16:creationId xmlns:a16="http://schemas.microsoft.com/office/drawing/2014/main" id="{82366765-36CA-4D7A-9415-87BBF12FC2B8}"/>
              </a:ext>
            </a:extLst>
          </p:cNvPr>
          <p:cNvSpPr/>
          <p:nvPr/>
        </p:nvSpPr>
        <p:spPr>
          <a:xfrm>
            <a:off x="6372200" y="1711288"/>
            <a:ext cx="877163" cy="369332"/>
          </a:xfrm>
          <a:prstGeom prst="rect">
            <a:avLst/>
          </a:prstGeom>
        </p:spPr>
        <p:txBody>
          <a:bodyPr wrap="none">
            <a:spAutoFit/>
          </a:bodyPr>
          <a:lstStyle/>
          <a:p>
            <a:r>
              <a:rPr lang="zh-CN" altLang="en-US" dirty="0"/>
              <a:t>雌二醇</a:t>
            </a:r>
          </a:p>
        </p:txBody>
      </p:sp>
      <p:sp>
        <p:nvSpPr>
          <p:cNvPr id="8" name="矩形 7">
            <a:extLst>
              <a:ext uri="{FF2B5EF4-FFF2-40B4-BE49-F238E27FC236}">
                <a16:creationId xmlns:a16="http://schemas.microsoft.com/office/drawing/2014/main" id="{C5408DB0-E788-4D62-9351-D028EE103272}"/>
              </a:ext>
            </a:extLst>
          </p:cNvPr>
          <p:cNvSpPr/>
          <p:nvPr/>
        </p:nvSpPr>
        <p:spPr>
          <a:xfrm>
            <a:off x="1661210" y="4202505"/>
            <a:ext cx="1569660" cy="369332"/>
          </a:xfrm>
          <a:prstGeom prst="rect">
            <a:avLst/>
          </a:prstGeom>
        </p:spPr>
        <p:txBody>
          <a:bodyPr wrap="none">
            <a:spAutoFit/>
          </a:bodyPr>
          <a:lstStyle/>
          <a:p>
            <a:r>
              <a:rPr lang="zh-CN" altLang="en-US" dirty="0"/>
              <a:t>皮质（甾）醇</a:t>
            </a:r>
          </a:p>
        </p:txBody>
      </p:sp>
      <p:sp>
        <p:nvSpPr>
          <p:cNvPr id="9" name="矩形 8">
            <a:extLst>
              <a:ext uri="{FF2B5EF4-FFF2-40B4-BE49-F238E27FC236}">
                <a16:creationId xmlns:a16="http://schemas.microsoft.com/office/drawing/2014/main" id="{35A3AAF0-BFB6-4FB4-AFC5-A7B2A7FE4A40}"/>
              </a:ext>
            </a:extLst>
          </p:cNvPr>
          <p:cNvSpPr/>
          <p:nvPr/>
        </p:nvSpPr>
        <p:spPr>
          <a:xfrm>
            <a:off x="6376351" y="3985678"/>
            <a:ext cx="877163" cy="369332"/>
          </a:xfrm>
          <a:prstGeom prst="rect">
            <a:avLst/>
          </a:prstGeom>
        </p:spPr>
        <p:txBody>
          <a:bodyPr wrap="none">
            <a:spAutoFit/>
          </a:bodyPr>
          <a:lstStyle/>
          <a:p>
            <a:r>
              <a:rPr lang="zh-CN" altLang="en-US" dirty="0"/>
              <a:t>醛甾酮</a:t>
            </a:r>
          </a:p>
        </p:txBody>
      </p:sp>
    </p:spTree>
    <p:extLst>
      <p:ext uri="{BB962C8B-B14F-4D97-AF65-F5344CB8AC3E}">
        <p14:creationId xmlns:p14="http://schemas.microsoft.com/office/powerpoint/2010/main" val="56013151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Text Box 2">
            <a:extLst>
              <a:ext uri="{FF2B5EF4-FFF2-40B4-BE49-F238E27FC236}">
                <a16:creationId xmlns:a16="http://schemas.microsoft.com/office/drawing/2014/main" id="{3638FF2D-92E9-4310-BDB7-636DC1413297}"/>
              </a:ext>
            </a:extLst>
          </p:cNvPr>
          <p:cNvSpPr txBox="1">
            <a:spLocks noChangeArrowheads="1"/>
          </p:cNvSpPr>
          <p:nvPr/>
        </p:nvSpPr>
        <p:spPr bwMode="auto">
          <a:xfrm>
            <a:off x="1219200" y="838200"/>
            <a:ext cx="76200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3600" b="1" dirty="0">
                <a:solidFill>
                  <a:srgbClr val="0000FF"/>
                </a:solidFill>
              </a:rPr>
              <a:t>Prostaglandins </a:t>
            </a:r>
            <a:r>
              <a:rPr lang="en-US" altLang="zh-CN" sz="2800" b="1" dirty="0">
                <a:solidFill>
                  <a:srgbClr val="0000FF"/>
                </a:solidFill>
                <a:latin typeface="楷体_GB2312" pitchFamily="49" charset="-122"/>
                <a:ea typeface="楷体_GB2312" pitchFamily="49" charset="-122"/>
              </a:rPr>
              <a:t>(</a:t>
            </a:r>
            <a:r>
              <a:rPr lang="zh-CN" altLang="en-US" sz="2800" b="1" dirty="0">
                <a:solidFill>
                  <a:srgbClr val="0000FF"/>
                </a:solidFill>
                <a:latin typeface="楷体_GB2312" pitchFamily="49" charset="-122"/>
                <a:ea typeface="楷体_GB2312" pitchFamily="49" charset="-122"/>
              </a:rPr>
              <a:t>前列腺素）</a:t>
            </a:r>
          </a:p>
        </p:txBody>
      </p:sp>
      <p:sp>
        <p:nvSpPr>
          <p:cNvPr id="73731" name="Text Box 3">
            <a:extLst>
              <a:ext uri="{FF2B5EF4-FFF2-40B4-BE49-F238E27FC236}">
                <a16:creationId xmlns:a16="http://schemas.microsoft.com/office/drawing/2014/main" id="{21E8A971-8263-4A95-8F27-04419B4D16CB}"/>
              </a:ext>
            </a:extLst>
          </p:cNvPr>
          <p:cNvSpPr txBox="1">
            <a:spLocks noChangeArrowheads="1"/>
          </p:cNvSpPr>
          <p:nvPr/>
        </p:nvSpPr>
        <p:spPr bwMode="auto">
          <a:xfrm>
            <a:off x="838200" y="2286000"/>
            <a:ext cx="7772400" cy="3195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spcBef>
                <a:spcPct val="50000"/>
              </a:spcBef>
            </a:pPr>
            <a:r>
              <a:rPr lang="zh-CN" altLang="en-US" b="1" dirty="0">
                <a:solidFill>
                  <a:srgbClr val="000000"/>
                </a:solidFill>
              </a:rPr>
              <a:t>前列腺素（</a:t>
            </a:r>
            <a:r>
              <a:rPr lang="en-US" altLang="zh-CN" b="1" dirty="0">
                <a:solidFill>
                  <a:srgbClr val="000000"/>
                </a:solidFill>
              </a:rPr>
              <a:t>PG</a:t>
            </a:r>
            <a:r>
              <a:rPr lang="zh-CN" altLang="en-US" b="1" dirty="0">
                <a:solidFill>
                  <a:srgbClr val="000000"/>
                </a:solidFill>
              </a:rPr>
              <a:t>）实际上是一类具有生物活性的物质的总称，目前已发现的有几十种，它的基本结构为含一个环戊烷及两个脂肪侧链的二十碳脂肪酸，即前列腺烷酸。</a:t>
            </a:r>
          </a:p>
          <a:p>
            <a:pPr eaLnBrk="1" hangingPunct="1">
              <a:lnSpc>
                <a:spcPct val="130000"/>
              </a:lnSpc>
              <a:spcBef>
                <a:spcPct val="50000"/>
              </a:spcBef>
            </a:pPr>
            <a:r>
              <a:rPr lang="zh-CN" altLang="en-US" b="1" dirty="0">
                <a:solidFill>
                  <a:srgbClr val="000000"/>
                </a:solidFill>
              </a:rPr>
              <a:t>由于环戊烷上的不饱和键位置或取代基不同，可将已知的前列素分为</a:t>
            </a:r>
            <a:r>
              <a:rPr lang="en-US" altLang="zh-CN" b="1" dirty="0">
                <a:solidFill>
                  <a:srgbClr val="000000"/>
                </a:solidFill>
              </a:rPr>
              <a:t>E</a:t>
            </a:r>
            <a:r>
              <a:rPr lang="zh-CN" altLang="en-US" b="1" dirty="0">
                <a:solidFill>
                  <a:srgbClr val="000000"/>
                </a:solidFill>
              </a:rPr>
              <a:t>、</a:t>
            </a:r>
            <a:r>
              <a:rPr lang="en-US" altLang="zh-CN" b="1" dirty="0">
                <a:solidFill>
                  <a:srgbClr val="000000"/>
                </a:solidFill>
              </a:rPr>
              <a:t>F</a:t>
            </a:r>
            <a:r>
              <a:rPr lang="zh-CN" altLang="en-US" b="1" dirty="0">
                <a:solidFill>
                  <a:srgbClr val="000000"/>
                </a:solidFill>
              </a:rPr>
              <a:t>、</a:t>
            </a:r>
            <a:r>
              <a:rPr lang="en-US" altLang="zh-CN" b="1" dirty="0">
                <a:solidFill>
                  <a:srgbClr val="000000"/>
                </a:solidFill>
              </a:rPr>
              <a:t>A</a:t>
            </a:r>
            <a:r>
              <a:rPr lang="zh-CN" altLang="en-US" b="1" dirty="0">
                <a:solidFill>
                  <a:srgbClr val="000000"/>
                </a:solidFill>
              </a:rPr>
              <a:t>、</a:t>
            </a:r>
            <a:r>
              <a:rPr lang="en-US" altLang="zh-CN" b="1" dirty="0">
                <a:solidFill>
                  <a:srgbClr val="000000"/>
                </a:solidFill>
              </a:rPr>
              <a:t>B </a:t>
            </a:r>
            <a:r>
              <a:rPr lang="zh-CN" altLang="en-US" b="1" dirty="0">
                <a:solidFill>
                  <a:srgbClr val="000000"/>
                </a:solidFill>
              </a:rPr>
              <a:t>四大类。</a:t>
            </a:r>
          </a:p>
          <a:p>
            <a:pPr eaLnBrk="1" hangingPunct="1">
              <a:spcBef>
                <a:spcPct val="50000"/>
              </a:spcBef>
            </a:pPr>
            <a:endParaRPr lang="en-US" altLang="zh-CN" b="1" dirty="0">
              <a:solidFill>
                <a:srgbClr val="000000"/>
              </a:solidFill>
            </a:endParaRPr>
          </a:p>
        </p:txBody>
      </p:sp>
    </p:spTree>
    <p:extLst>
      <p:ext uri="{BB962C8B-B14F-4D97-AF65-F5344CB8AC3E}">
        <p14:creationId xmlns:p14="http://schemas.microsoft.com/office/powerpoint/2010/main" val="22734183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4754" name="Picture 2" descr="F:\biochemistry\素材庫\Prostalandins.jpg">
            <a:extLst>
              <a:ext uri="{FF2B5EF4-FFF2-40B4-BE49-F238E27FC236}">
                <a16:creationId xmlns:a16="http://schemas.microsoft.com/office/drawing/2014/main" id="{E5C5F963-0E8F-4B97-8404-D42DB9829397}"/>
              </a:ext>
            </a:extLst>
          </p:cNvPr>
          <p:cNvPicPr>
            <a:picLocks noChangeAspect="1" noChangeArrowheads="1"/>
          </p:cNvPicPr>
          <p:nvPr/>
        </p:nvPicPr>
        <p:blipFill>
          <a:blip r:embed="rId2" cstate="print">
            <a:lum contrast="30000"/>
            <a:extLst>
              <a:ext uri="{28A0092B-C50C-407E-A947-70E740481C1C}">
                <a14:useLocalDpi xmlns:a14="http://schemas.microsoft.com/office/drawing/2010/main" val="0"/>
              </a:ext>
            </a:extLst>
          </a:blip>
          <a:srcRect l="3069" t="12402" r="4688" b="7930"/>
          <a:stretch>
            <a:fillRect/>
          </a:stretch>
        </p:blipFill>
        <p:spPr bwMode="auto">
          <a:xfrm>
            <a:off x="381000" y="857250"/>
            <a:ext cx="8534400" cy="539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170000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5778" name="Picture 2" descr="F11-16b.GIF029                                                 0000525BSumanas' Hard Drive            B4EBCDA7:">
            <a:extLst>
              <a:ext uri="{FF2B5EF4-FFF2-40B4-BE49-F238E27FC236}">
                <a16:creationId xmlns:a16="http://schemas.microsoft.com/office/drawing/2014/main" id="{AEFB8CA6-6C22-431E-A5B0-F2B6C4C611B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2400" y="1371600"/>
            <a:ext cx="8610600" cy="332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779" name="Text Box 3">
            <a:extLst>
              <a:ext uri="{FF2B5EF4-FFF2-40B4-BE49-F238E27FC236}">
                <a16:creationId xmlns:a16="http://schemas.microsoft.com/office/drawing/2014/main" id="{27CBE052-D123-4B99-8D82-9EA13B05E2CE}"/>
              </a:ext>
            </a:extLst>
          </p:cNvPr>
          <p:cNvSpPr txBox="1">
            <a:spLocks noChangeArrowheads="1"/>
          </p:cNvSpPr>
          <p:nvPr/>
        </p:nvSpPr>
        <p:spPr bwMode="auto">
          <a:xfrm>
            <a:off x="5105400" y="38100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dirty="0">
                <a:solidFill>
                  <a:srgbClr val="000000"/>
                </a:solidFill>
              </a:rPr>
              <a:t>凝血噁烷</a:t>
            </a:r>
          </a:p>
        </p:txBody>
      </p:sp>
    </p:spTree>
    <p:extLst>
      <p:ext uri="{BB962C8B-B14F-4D97-AF65-F5344CB8AC3E}">
        <p14:creationId xmlns:p14="http://schemas.microsoft.com/office/powerpoint/2010/main" val="109060106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Text Box 1026">
            <a:extLst>
              <a:ext uri="{FF2B5EF4-FFF2-40B4-BE49-F238E27FC236}">
                <a16:creationId xmlns:a16="http://schemas.microsoft.com/office/drawing/2014/main" id="{555428A0-E620-42D5-8E0E-DE069EB4B816}"/>
              </a:ext>
            </a:extLst>
          </p:cNvPr>
          <p:cNvSpPr txBox="1">
            <a:spLocks noChangeArrowheads="1"/>
          </p:cNvSpPr>
          <p:nvPr/>
        </p:nvSpPr>
        <p:spPr bwMode="auto">
          <a:xfrm>
            <a:off x="457200" y="381000"/>
            <a:ext cx="4267200" cy="6413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3600" b="1" dirty="0">
                <a:solidFill>
                  <a:srgbClr val="0000FF"/>
                </a:solidFill>
              </a:rPr>
              <a:t>3. Nomenclature</a:t>
            </a:r>
          </a:p>
        </p:txBody>
      </p:sp>
      <p:sp>
        <p:nvSpPr>
          <p:cNvPr id="71683" name="Text Box 1027">
            <a:extLst>
              <a:ext uri="{FF2B5EF4-FFF2-40B4-BE49-F238E27FC236}">
                <a16:creationId xmlns:a16="http://schemas.microsoft.com/office/drawing/2014/main" id="{89C8E204-2B29-4D38-8968-088449B3C9C2}"/>
              </a:ext>
            </a:extLst>
          </p:cNvPr>
          <p:cNvSpPr txBox="1">
            <a:spLocks noChangeArrowheads="1"/>
          </p:cNvSpPr>
          <p:nvPr/>
        </p:nvSpPr>
        <p:spPr bwMode="auto">
          <a:xfrm>
            <a:off x="457200" y="1295400"/>
            <a:ext cx="8153400" cy="49305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3200" b="1" dirty="0">
                <a:solidFill>
                  <a:srgbClr val="000000"/>
                </a:solidFill>
              </a:rPr>
              <a:t>Fatty acids are named according to the </a:t>
            </a:r>
            <a:r>
              <a:rPr lang="en-US" altLang="zh-CN" sz="3200" b="1" dirty="0">
                <a:solidFill>
                  <a:schemeClr val="accent6">
                    <a:lumMod val="75000"/>
                  </a:schemeClr>
                </a:solidFill>
              </a:rPr>
              <a:t>number of carbon atoms </a:t>
            </a:r>
            <a:r>
              <a:rPr lang="en-US" altLang="zh-CN" sz="3200" b="1" dirty="0">
                <a:solidFill>
                  <a:srgbClr val="000000"/>
                </a:solidFill>
              </a:rPr>
              <a:t>in the chain and the number and position of any </a:t>
            </a:r>
            <a:r>
              <a:rPr lang="en-US" altLang="zh-CN" sz="3200" b="1" dirty="0">
                <a:solidFill>
                  <a:schemeClr val="accent6">
                    <a:lumMod val="75000"/>
                  </a:schemeClr>
                </a:solidFill>
              </a:rPr>
              <a:t>double bonds</a:t>
            </a:r>
            <a:r>
              <a:rPr lang="en-US" altLang="zh-CN" sz="3200" b="1" dirty="0">
                <a:solidFill>
                  <a:srgbClr val="000000"/>
                </a:solidFill>
              </a:rPr>
              <a:t>.</a:t>
            </a:r>
          </a:p>
          <a:p>
            <a:pPr eaLnBrk="1" hangingPunct="1">
              <a:lnSpc>
                <a:spcPct val="80000"/>
              </a:lnSpc>
              <a:spcBef>
                <a:spcPct val="50000"/>
              </a:spcBef>
            </a:pPr>
            <a:r>
              <a:rPr lang="en-US" altLang="zh-CN" sz="2800" b="1" dirty="0">
                <a:solidFill>
                  <a:srgbClr val="000000"/>
                </a:solidFill>
              </a:rPr>
              <a:t>Palmitate		(C16:0)	</a:t>
            </a:r>
            <a:r>
              <a:rPr lang="zh-CN" altLang="en-US" sz="2800" b="1" dirty="0">
                <a:solidFill>
                  <a:schemeClr val="accent6">
                    <a:lumMod val="75000"/>
                  </a:schemeClr>
                </a:solidFill>
                <a:ea typeface="楷体_GB2312" pitchFamily="49" charset="-122"/>
              </a:rPr>
              <a:t>棕榈酸（软脂酸）</a:t>
            </a:r>
          </a:p>
          <a:p>
            <a:pPr eaLnBrk="1" hangingPunct="1">
              <a:lnSpc>
                <a:spcPct val="80000"/>
              </a:lnSpc>
              <a:spcBef>
                <a:spcPct val="50000"/>
              </a:spcBef>
            </a:pPr>
            <a:r>
              <a:rPr lang="en-US" altLang="zh-CN" sz="2800" b="1" dirty="0">
                <a:solidFill>
                  <a:srgbClr val="000000"/>
                </a:solidFill>
              </a:rPr>
              <a:t>Stearate		(C18:0)	</a:t>
            </a:r>
            <a:r>
              <a:rPr lang="zh-CN" altLang="en-US" sz="2800" b="1" dirty="0">
                <a:solidFill>
                  <a:schemeClr val="accent6">
                    <a:lumMod val="75000"/>
                  </a:schemeClr>
                </a:solidFill>
                <a:ea typeface="楷体_GB2312" pitchFamily="49" charset="-122"/>
              </a:rPr>
              <a:t>硬脂酸</a:t>
            </a:r>
          </a:p>
          <a:p>
            <a:pPr eaLnBrk="1" hangingPunct="1">
              <a:lnSpc>
                <a:spcPct val="80000"/>
              </a:lnSpc>
              <a:spcBef>
                <a:spcPct val="50000"/>
              </a:spcBef>
            </a:pPr>
            <a:r>
              <a:rPr lang="en-US" altLang="zh-CN" sz="2800" b="1" dirty="0">
                <a:solidFill>
                  <a:srgbClr val="000000"/>
                </a:solidFill>
              </a:rPr>
              <a:t>Oleate		(C18:1</a:t>
            </a:r>
            <a:r>
              <a:rPr lang="zh-CN" altLang="en-US" sz="2800" b="1" dirty="0">
                <a:solidFill>
                  <a:srgbClr val="000000"/>
                </a:solidFill>
              </a:rPr>
              <a:t>（</a:t>
            </a:r>
            <a:r>
              <a:rPr lang="en-US" altLang="zh-CN" sz="2800" dirty="0">
                <a:latin typeface="+mn-lt"/>
                <a:ea typeface="+mn-ea"/>
              </a:rPr>
              <a:t>Δ</a:t>
            </a:r>
            <a:r>
              <a:rPr lang="en-US" altLang="zh-CN" sz="2800" baseline="30000" dirty="0">
                <a:latin typeface="+mn-lt"/>
                <a:ea typeface="+mn-ea"/>
              </a:rPr>
              <a:t>9</a:t>
            </a:r>
            <a:r>
              <a:rPr lang="zh-CN" altLang="en-US" sz="2800" b="1" dirty="0">
                <a:solidFill>
                  <a:srgbClr val="000000"/>
                </a:solidFill>
              </a:rPr>
              <a:t>））</a:t>
            </a:r>
            <a:r>
              <a:rPr lang="en-US" altLang="zh-CN" sz="2800" b="1" dirty="0">
                <a:solidFill>
                  <a:srgbClr val="000000"/>
                </a:solidFill>
              </a:rPr>
              <a:t>	</a:t>
            </a:r>
            <a:r>
              <a:rPr lang="zh-CN" altLang="en-US" sz="2800" b="1" dirty="0">
                <a:solidFill>
                  <a:schemeClr val="accent6">
                    <a:lumMod val="75000"/>
                  </a:schemeClr>
                </a:solidFill>
                <a:ea typeface="楷体_GB2312" pitchFamily="49" charset="-122"/>
              </a:rPr>
              <a:t>油酸</a:t>
            </a:r>
          </a:p>
          <a:p>
            <a:pPr eaLnBrk="1" hangingPunct="1">
              <a:lnSpc>
                <a:spcPct val="80000"/>
              </a:lnSpc>
              <a:spcBef>
                <a:spcPct val="50000"/>
              </a:spcBef>
            </a:pPr>
            <a:r>
              <a:rPr lang="en-US" altLang="zh-CN" sz="2800" b="1" dirty="0">
                <a:solidFill>
                  <a:srgbClr val="000000"/>
                </a:solidFill>
              </a:rPr>
              <a:t>Linoleate		(C18:2</a:t>
            </a:r>
            <a:r>
              <a:rPr lang="zh-CN" altLang="en-US" sz="2800" b="1" dirty="0">
                <a:solidFill>
                  <a:srgbClr val="000000"/>
                </a:solidFill>
              </a:rPr>
              <a:t>（</a:t>
            </a:r>
            <a:r>
              <a:rPr lang="en-US" altLang="zh-CN" sz="2800" dirty="0">
                <a:latin typeface="+mn-lt"/>
                <a:ea typeface="+mn-ea"/>
              </a:rPr>
              <a:t>Δ</a:t>
            </a:r>
            <a:r>
              <a:rPr lang="en-US" altLang="zh-CN" sz="2800" baseline="30000" dirty="0">
                <a:latin typeface="+mn-lt"/>
                <a:ea typeface="+mn-ea"/>
              </a:rPr>
              <a:t>9,12</a:t>
            </a:r>
            <a:r>
              <a:rPr lang="zh-CN" altLang="en-US" sz="2800" b="1" dirty="0">
                <a:solidFill>
                  <a:srgbClr val="000000"/>
                </a:solidFill>
              </a:rPr>
              <a:t>））</a:t>
            </a:r>
            <a:r>
              <a:rPr lang="en-US" altLang="zh-CN" sz="2800" b="1" dirty="0">
                <a:solidFill>
                  <a:srgbClr val="000000"/>
                </a:solidFill>
              </a:rPr>
              <a:t>	</a:t>
            </a:r>
            <a:r>
              <a:rPr lang="zh-CN" altLang="en-US" sz="2800" b="1" dirty="0">
                <a:solidFill>
                  <a:schemeClr val="accent6">
                    <a:lumMod val="75000"/>
                  </a:schemeClr>
                </a:solidFill>
                <a:ea typeface="楷体_GB2312" pitchFamily="49" charset="-122"/>
              </a:rPr>
              <a:t>亚油酸</a:t>
            </a:r>
          </a:p>
          <a:p>
            <a:pPr eaLnBrk="1" hangingPunct="1">
              <a:lnSpc>
                <a:spcPct val="80000"/>
              </a:lnSpc>
              <a:spcBef>
                <a:spcPct val="50000"/>
              </a:spcBef>
            </a:pPr>
            <a:r>
              <a:rPr lang="en-US" altLang="zh-CN" sz="2800" b="1" dirty="0" err="1">
                <a:solidFill>
                  <a:srgbClr val="000000"/>
                </a:solidFill>
              </a:rPr>
              <a:t>Linolenate</a:t>
            </a:r>
            <a:r>
              <a:rPr lang="en-US" altLang="zh-CN" sz="2800" b="1" dirty="0">
                <a:solidFill>
                  <a:srgbClr val="000000"/>
                </a:solidFill>
              </a:rPr>
              <a:t>     	(C18:3)	</a:t>
            </a:r>
            <a:r>
              <a:rPr lang="zh-CN" altLang="en-US" sz="2800" b="1" dirty="0">
                <a:solidFill>
                  <a:schemeClr val="accent6">
                    <a:lumMod val="75000"/>
                  </a:schemeClr>
                </a:solidFill>
                <a:ea typeface="楷体_GB2312" pitchFamily="49" charset="-122"/>
              </a:rPr>
              <a:t>亚麻酸</a:t>
            </a:r>
          </a:p>
          <a:p>
            <a:pPr eaLnBrk="1" hangingPunct="1">
              <a:lnSpc>
                <a:spcPct val="80000"/>
              </a:lnSpc>
              <a:spcBef>
                <a:spcPct val="50000"/>
              </a:spcBef>
            </a:pPr>
            <a:r>
              <a:rPr lang="en-US" altLang="zh-CN" sz="2800" b="1" dirty="0" err="1">
                <a:solidFill>
                  <a:srgbClr val="000000"/>
                </a:solidFill>
              </a:rPr>
              <a:t>Arachidonate</a:t>
            </a:r>
            <a:r>
              <a:rPr lang="en-US" altLang="zh-CN" sz="2800" b="1" dirty="0">
                <a:solidFill>
                  <a:srgbClr val="000000"/>
                </a:solidFill>
              </a:rPr>
              <a:t>	(C20:4)	</a:t>
            </a:r>
            <a:r>
              <a:rPr lang="zh-CN" altLang="en-US" sz="2800" b="1" dirty="0">
                <a:solidFill>
                  <a:schemeClr val="accent6">
                    <a:lumMod val="75000"/>
                  </a:schemeClr>
                </a:solidFill>
                <a:ea typeface="楷体_GB2312" pitchFamily="49" charset="-122"/>
              </a:rPr>
              <a:t>花生四稀酸</a:t>
            </a:r>
          </a:p>
        </p:txBody>
      </p:sp>
    </p:spTree>
    <p:extLst>
      <p:ext uri="{BB962C8B-B14F-4D97-AF65-F5344CB8AC3E}">
        <p14:creationId xmlns:p14="http://schemas.microsoft.com/office/powerpoint/2010/main" val="317004091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Text Box 2">
            <a:extLst>
              <a:ext uri="{FF2B5EF4-FFF2-40B4-BE49-F238E27FC236}">
                <a16:creationId xmlns:a16="http://schemas.microsoft.com/office/drawing/2014/main" id="{6FC7515F-1668-4118-B9F5-E72EB2A5C799}"/>
              </a:ext>
            </a:extLst>
          </p:cNvPr>
          <p:cNvSpPr txBox="1">
            <a:spLocks noChangeArrowheads="1"/>
          </p:cNvSpPr>
          <p:nvPr/>
        </p:nvSpPr>
        <p:spPr bwMode="auto">
          <a:xfrm>
            <a:off x="811213" y="1062038"/>
            <a:ext cx="8153400" cy="507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3600" b="1" dirty="0">
                <a:solidFill>
                  <a:srgbClr val="0000FF"/>
                </a:solidFill>
              </a:rPr>
              <a:t>     4. Roles</a:t>
            </a:r>
          </a:p>
          <a:p>
            <a:pPr>
              <a:spcBef>
                <a:spcPct val="50000"/>
              </a:spcBef>
              <a:buFontTx/>
              <a:buChar char="•"/>
            </a:pPr>
            <a:r>
              <a:rPr lang="en-US" altLang="zh-CN" sz="3200" b="1" dirty="0">
                <a:solidFill>
                  <a:srgbClr val="000000"/>
                </a:solidFill>
              </a:rPr>
              <a:t>Energy stores (</a:t>
            </a:r>
            <a:r>
              <a:rPr lang="en-US" altLang="zh-CN" sz="3200" b="1" dirty="0" err="1">
                <a:solidFill>
                  <a:srgbClr val="000000"/>
                </a:solidFill>
              </a:rPr>
              <a:t>triacylglycerols</a:t>
            </a:r>
            <a:r>
              <a:rPr lang="en-US" altLang="zh-CN" sz="3200" b="1" dirty="0">
                <a:solidFill>
                  <a:srgbClr val="000000"/>
                </a:solidFill>
              </a:rPr>
              <a:t>) and fuel molecule</a:t>
            </a:r>
          </a:p>
          <a:p>
            <a:pPr eaLnBrk="1" hangingPunct="1">
              <a:spcBef>
                <a:spcPct val="50000"/>
              </a:spcBef>
              <a:buFontTx/>
              <a:buChar char="•"/>
            </a:pPr>
            <a:r>
              <a:rPr lang="en-US" altLang="zh-CN" sz="3200" b="1" dirty="0">
                <a:solidFill>
                  <a:srgbClr val="000000"/>
                </a:solidFill>
              </a:rPr>
              <a:t>Components of membranes (glycerophospholipids and sphingolipids)</a:t>
            </a:r>
          </a:p>
          <a:p>
            <a:pPr>
              <a:spcBef>
                <a:spcPct val="50000"/>
              </a:spcBef>
              <a:buFontTx/>
              <a:buChar char="•"/>
            </a:pPr>
            <a:r>
              <a:rPr lang="en-US" altLang="zh-CN" sz="3200" b="1" dirty="0">
                <a:solidFill>
                  <a:srgbClr val="000000"/>
                </a:solidFill>
              </a:rPr>
              <a:t>As hormones and intracellular second messengers (</a:t>
            </a:r>
            <a:r>
              <a:rPr lang="en-US" altLang="zh-CN" sz="3200" b="1" dirty="0">
                <a:solidFill>
                  <a:schemeClr val="accent6">
                    <a:lumMod val="75000"/>
                  </a:schemeClr>
                </a:solidFill>
              </a:rPr>
              <a:t>DAG</a:t>
            </a:r>
            <a:r>
              <a:rPr lang="en-US" altLang="zh-CN" sz="3200" b="1" dirty="0">
                <a:solidFill>
                  <a:srgbClr val="000000"/>
                </a:solidFill>
              </a:rPr>
              <a:t>, diacylglycerol)</a:t>
            </a:r>
          </a:p>
          <a:p>
            <a:pPr eaLnBrk="1" hangingPunct="1">
              <a:spcBef>
                <a:spcPct val="50000"/>
              </a:spcBef>
              <a:buFontTx/>
              <a:buChar char="•"/>
            </a:pPr>
            <a:r>
              <a:rPr lang="en-US" altLang="zh-CN" sz="3200" b="1" dirty="0">
                <a:solidFill>
                  <a:srgbClr val="000000"/>
                </a:solidFill>
              </a:rPr>
              <a:t>Covalently joined with some proteins</a:t>
            </a:r>
          </a:p>
        </p:txBody>
      </p:sp>
      <p:sp>
        <p:nvSpPr>
          <p:cNvPr id="2" name="等腰三角形 1">
            <a:hlinkClick r:id="rId3" action="ppaction://hlinksldjump"/>
            <a:extLst>
              <a:ext uri="{FF2B5EF4-FFF2-40B4-BE49-F238E27FC236}">
                <a16:creationId xmlns:a16="http://schemas.microsoft.com/office/drawing/2014/main" id="{FCC8C823-E441-43B5-8B1A-3C9C09CA63E6}"/>
              </a:ext>
            </a:extLst>
          </p:cNvPr>
          <p:cNvSpPr/>
          <p:nvPr/>
        </p:nvSpPr>
        <p:spPr>
          <a:xfrm rot="5400000">
            <a:off x="8028384" y="6237312"/>
            <a:ext cx="432048" cy="432048"/>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3891074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C9476DA6-4E4B-4721-9299-3DB298AB70AB}"/>
              </a:ext>
            </a:extLst>
          </p:cNvPr>
          <p:cNvSpPr>
            <a:spLocks noGrp="1" noChangeArrowheads="1"/>
          </p:cNvSpPr>
          <p:nvPr>
            <p:ph type="ctrTitle" idx="4294967295"/>
          </p:nvPr>
        </p:nvSpPr>
        <p:spPr>
          <a:xfrm>
            <a:off x="0" y="1905000"/>
            <a:ext cx="8534400" cy="1143000"/>
          </a:xfrm>
          <a:prstGeom prst="rect">
            <a:avLst/>
          </a:prstGeom>
        </p:spPr>
        <p:txBody>
          <a:bodyPr/>
          <a:lstStyle/>
          <a:p>
            <a:pPr eaLnBrk="1" hangingPunct="1"/>
            <a:r>
              <a:rPr lang="en-US" altLang="zh-CN" sz="6000" b="1" dirty="0">
                <a:solidFill>
                  <a:srgbClr val="0000FF"/>
                </a:solidFill>
              </a:rPr>
              <a:t>Fatty Acid Breakdown </a:t>
            </a:r>
            <a:r>
              <a:rPr lang="en-US" altLang="zh-CN" sz="4000" b="1" dirty="0">
                <a:solidFill>
                  <a:srgbClr val="0000FF"/>
                </a:solidFill>
              </a:rPr>
              <a:t>(K2)</a:t>
            </a:r>
          </a:p>
        </p:txBody>
      </p:sp>
    </p:spTree>
    <p:extLst>
      <p:ext uri="{BB962C8B-B14F-4D97-AF65-F5344CB8AC3E}">
        <p14:creationId xmlns:p14="http://schemas.microsoft.com/office/powerpoint/2010/main" val="297957851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11-01ab.GIF002                                                0000525BSumanas' Hard Drive            B4EBCDA7:">
            <a:extLst>
              <a:ext uri="{FF2B5EF4-FFF2-40B4-BE49-F238E27FC236}">
                <a16:creationId xmlns:a16="http://schemas.microsoft.com/office/drawing/2014/main" id="{22D68D55-0CF3-4010-911E-45C5A5DCD8AE}"/>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22505" r="44301" b="13107"/>
          <a:stretch/>
        </p:blipFill>
        <p:spPr bwMode="auto">
          <a:xfrm rot="5400000">
            <a:off x="6607253" y="1032491"/>
            <a:ext cx="865312" cy="32076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18" name="Rectangle 2">
            <a:extLst>
              <a:ext uri="{FF2B5EF4-FFF2-40B4-BE49-F238E27FC236}">
                <a16:creationId xmlns:a16="http://schemas.microsoft.com/office/drawing/2014/main" id="{DEF8DA42-1062-4A92-A88A-625A5AC06CD1}"/>
              </a:ext>
            </a:extLst>
          </p:cNvPr>
          <p:cNvSpPr>
            <a:spLocks noGrp="1" noChangeArrowheads="1"/>
          </p:cNvSpPr>
          <p:nvPr>
            <p:ph type="title" idx="4294967295"/>
          </p:nvPr>
        </p:nvSpPr>
        <p:spPr>
          <a:xfrm>
            <a:off x="0" y="116632"/>
            <a:ext cx="9144000" cy="1828800"/>
          </a:xfrm>
        </p:spPr>
        <p:txBody>
          <a:bodyPr/>
          <a:lstStyle/>
          <a:p>
            <a:pPr eaLnBrk="1" hangingPunct="1"/>
            <a:r>
              <a:rPr lang="en-US" altLang="zh-CN" dirty="0">
                <a:solidFill>
                  <a:srgbClr val="0000FF"/>
                </a:solidFill>
              </a:rPr>
              <a:t>1. Early labeling experiments (1904): fatty acids are degraded by sequential removal of two-carbon units</a:t>
            </a:r>
          </a:p>
        </p:txBody>
      </p:sp>
      <p:sp>
        <p:nvSpPr>
          <p:cNvPr id="9219" name="Rectangle 3">
            <a:extLst>
              <a:ext uri="{FF2B5EF4-FFF2-40B4-BE49-F238E27FC236}">
                <a16:creationId xmlns:a16="http://schemas.microsoft.com/office/drawing/2014/main" id="{690F26F1-D0D4-4118-9061-8BE8D5E9B6C9}"/>
              </a:ext>
            </a:extLst>
          </p:cNvPr>
          <p:cNvSpPr>
            <a:spLocks noGrp="1" noChangeArrowheads="1"/>
          </p:cNvSpPr>
          <p:nvPr>
            <p:ph type="body" idx="4294967295"/>
          </p:nvPr>
        </p:nvSpPr>
        <p:spPr>
          <a:xfrm>
            <a:off x="0" y="2924944"/>
            <a:ext cx="9144000" cy="3505200"/>
          </a:xfrm>
        </p:spPr>
        <p:txBody>
          <a:bodyPr/>
          <a:lstStyle/>
          <a:p>
            <a:pPr eaLnBrk="1" hangingPunct="1"/>
            <a:r>
              <a:rPr lang="en-US" altLang="zh-CN" b="1" dirty="0"/>
              <a:t>When dogs were fed with odd-numbered fatty acids attached to a </a:t>
            </a:r>
            <a:r>
              <a:rPr lang="en-US" altLang="zh-CN" b="1" dirty="0">
                <a:solidFill>
                  <a:srgbClr val="FF0000"/>
                </a:solidFill>
              </a:rPr>
              <a:t>phenyl group</a:t>
            </a:r>
            <a:r>
              <a:rPr lang="en-US" altLang="zh-CN" b="1" dirty="0"/>
              <a:t>, benzoate was excreted; and when fed with even-numbered, phenylacetate was excreted.</a:t>
            </a:r>
          </a:p>
          <a:p>
            <a:pPr eaLnBrk="1" hangingPunct="1"/>
            <a:r>
              <a:rPr lang="en-US" altLang="zh-CN" b="1" dirty="0"/>
              <a:t>Hypothesis: the </a:t>
            </a:r>
            <a:r>
              <a:rPr lang="en-US" altLang="zh-CN" b="1" dirty="0">
                <a:sym typeface="Symbol" panose="05050102010706020507" pitchFamily="18" charset="2"/>
              </a:rPr>
              <a:t></a:t>
            </a:r>
            <a:r>
              <a:rPr lang="en-US" altLang="zh-CN" b="1" dirty="0"/>
              <a:t>-carbon is </a:t>
            </a:r>
            <a:r>
              <a:rPr lang="en-US" altLang="zh-CN" b="1" dirty="0" err="1"/>
              <a:t>oxidized,with</a:t>
            </a:r>
            <a:r>
              <a:rPr lang="en-US" altLang="zh-CN" b="1" dirty="0"/>
              <a:t> two-carbon units released by each round of oxidation.</a:t>
            </a:r>
          </a:p>
        </p:txBody>
      </p:sp>
      <p:pic>
        <p:nvPicPr>
          <p:cNvPr id="2" name="图片 1">
            <a:extLst>
              <a:ext uri="{FF2B5EF4-FFF2-40B4-BE49-F238E27FC236}">
                <a16:creationId xmlns:a16="http://schemas.microsoft.com/office/drawing/2014/main" id="{2AB3DB8A-DC2F-4650-B070-E13620E1F26B}"/>
              </a:ext>
            </a:extLst>
          </p:cNvPr>
          <p:cNvPicPr>
            <a:picLocks noChangeAspect="1"/>
          </p:cNvPicPr>
          <p:nvPr/>
        </p:nvPicPr>
        <p:blipFill rotWithShape="1">
          <a:blip r:embed="rId4" cstate="print">
            <a:duotone>
              <a:prstClr val="black"/>
              <a:schemeClr val="accent6">
                <a:tint val="45000"/>
                <a:satMod val="400000"/>
              </a:schemeClr>
            </a:duotone>
          </a:blip>
          <a:srcRect l="2669" t="32222" r="69363" b="57350"/>
          <a:stretch/>
        </p:blipFill>
        <p:spPr>
          <a:xfrm>
            <a:off x="4644008" y="2060848"/>
            <a:ext cx="936105" cy="715144"/>
          </a:xfrm>
          <a:prstGeom prst="rect">
            <a:avLst/>
          </a:prstGeom>
        </p:spPr>
      </p:pic>
    </p:spTree>
    <p:extLst>
      <p:ext uri="{BB962C8B-B14F-4D97-AF65-F5344CB8AC3E}">
        <p14:creationId xmlns:p14="http://schemas.microsoft.com/office/powerpoint/2010/main" val="9698397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26" name="Object 11">
            <a:extLst>
              <a:ext uri="{FF2B5EF4-FFF2-40B4-BE49-F238E27FC236}">
                <a16:creationId xmlns:a16="http://schemas.microsoft.com/office/drawing/2014/main" id="{945912E3-F2A2-483D-B744-AFDDA076F61A}"/>
              </a:ext>
            </a:extLst>
          </p:cNvPr>
          <p:cNvGraphicFramePr>
            <a:graphicFrameLocks noChangeAspect="1"/>
          </p:cNvGraphicFramePr>
          <p:nvPr/>
        </p:nvGraphicFramePr>
        <p:xfrm>
          <a:off x="0" y="0"/>
          <a:ext cx="3340100" cy="6858000"/>
        </p:xfrm>
        <a:graphic>
          <a:graphicData uri="http://schemas.openxmlformats.org/presentationml/2006/ole">
            <mc:AlternateContent xmlns:mc="http://schemas.openxmlformats.org/markup-compatibility/2006">
              <mc:Choice xmlns:v="urn:schemas-microsoft-com:vml" Requires="v">
                <p:oleObj name="Image" r:id="rId2" imgW="4266667" imgH="8761905" progId="">
                  <p:embed/>
                </p:oleObj>
              </mc:Choice>
              <mc:Fallback>
                <p:oleObj name="Image" r:id="rId2" imgW="4266667" imgH="8761905" progId="">
                  <p:embed/>
                  <p:pic>
                    <p:nvPicPr>
                      <p:cNvPr id="0" name="Picture 6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3340100"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27" name="Rectangle 3">
            <a:extLst>
              <a:ext uri="{FF2B5EF4-FFF2-40B4-BE49-F238E27FC236}">
                <a16:creationId xmlns:a16="http://schemas.microsoft.com/office/drawing/2014/main" id="{FFCF86E6-9EC6-41D2-8E97-DCB333D0543F}"/>
              </a:ext>
            </a:extLst>
          </p:cNvPr>
          <p:cNvSpPr>
            <a:spLocks noChangeArrowheads="1"/>
          </p:cNvSpPr>
          <p:nvPr/>
        </p:nvSpPr>
        <p:spPr bwMode="auto">
          <a:xfrm>
            <a:off x="3352800" y="228600"/>
            <a:ext cx="5822428" cy="4154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4400" dirty="0"/>
              <a:t>Franz Knoop’s labeling</a:t>
            </a:r>
          </a:p>
          <a:p>
            <a:pPr eaLnBrk="1" hangingPunct="1"/>
            <a:r>
              <a:rPr lang="en-US" altLang="zh-CN" sz="4400" dirty="0"/>
              <a:t>Experiments (1904):</a:t>
            </a:r>
          </a:p>
          <a:p>
            <a:pPr eaLnBrk="1" hangingPunct="1"/>
            <a:r>
              <a:rPr lang="en-US" altLang="zh-CN" sz="4400" dirty="0"/>
              <a:t> fatty acids are degraded</a:t>
            </a:r>
          </a:p>
          <a:p>
            <a:pPr eaLnBrk="1" hangingPunct="1"/>
            <a:r>
              <a:rPr lang="en-US" altLang="zh-CN" sz="4400" dirty="0"/>
              <a:t> by oxidation at the </a:t>
            </a:r>
            <a:r>
              <a:rPr lang="en-US" altLang="zh-CN" sz="4400" dirty="0">
                <a:latin typeface="Symbol" panose="05050102010706020507" pitchFamily="18" charset="2"/>
              </a:rPr>
              <a:t>b</a:t>
            </a:r>
            <a:r>
              <a:rPr lang="en-US" altLang="zh-CN" sz="4400" dirty="0"/>
              <a:t> </a:t>
            </a:r>
          </a:p>
          <a:p>
            <a:pPr eaLnBrk="1" hangingPunct="1"/>
            <a:r>
              <a:rPr lang="en-US" altLang="zh-CN" sz="4400" dirty="0"/>
              <a:t>carbon, i.e., </a:t>
            </a:r>
            <a:r>
              <a:rPr lang="en-US" altLang="zh-CN" sz="4400" b="1" dirty="0">
                <a:latin typeface="Symbol" panose="05050102010706020507" pitchFamily="18" charset="2"/>
              </a:rPr>
              <a:t>b</a:t>
            </a:r>
            <a:r>
              <a:rPr lang="en-US" altLang="zh-CN" sz="4400" b="1" dirty="0"/>
              <a:t> oxidation</a:t>
            </a:r>
            <a:r>
              <a:rPr lang="en-US" altLang="zh-CN" sz="4400" dirty="0"/>
              <a:t>.</a:t>
            </a:r>
          </a:p>
          <a:p>
            <a:pPr eaLnBrk="1" hangingPunct="1"/>
            <a:r>
              <a:rPr lang="en-US" altLang="zh-CN" sz="4400" dirty="0"/>
              <a:t> </a:t>
            </a:r>
          </a:p>
        </p:txBody>
      </p:sp>
      <p:sp>
        <p:nvSpPr>
          <p:cNvPr id="1028" name="Rectangle 4">
            <a:extLst>
              <a:ext uri="{FF2B5EF4-FFF2-40B4-BE49-F238E27FC236}">
                <a16:creationId xmlns:a16="http://schemas.microsoft.com/office/drawing/2014/main" id="{2167F7BE-DE03-4134-8CA6-CF10A0FA9730}"/>
              </a:ext>
            </a:extLst>
          </p:cNvPr>
          <p:cNvSpPr>
            <a:spLocks noChangeArrowheads="1"/>
          </p:cNvSpPr>
          <p:nvPr/>
        </p:nvSpPr>
        <p:spPr bwMode="auto">
          <a:xfrm>
            <a:off x="914400" y="0"/>
            <a:ext cx="3794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a:solidFill>
                  <a:srgbClr val="0000CC"/>
                </a:solidFill>
                <a:latin typeface="Symbol" panose="05050102010706020507" pitchFamily="18" charset="2"/>
              </a:rPr>
              <a:t>b</a:t>
            </a:r>
          </a:p>
        </p:txBody>
      </p:sp>
      <p:sp>
        <p:nvSpPr>
          <p:cNvPr id="1029" name="Rectangle 6">
            <a:extLst>
              <a:ext uri="{FF2B5EF4-FFF2-40B4-BE49-F238E27FC236}">
                <a16:creationId xmlns:a16="http://schemas.microsoft.com/office/drawing/2014/main" id="{C523FA1F-A538-49C5-B2D0-A4B219B4707C}"/>
              </a:ext>
            </a:extLst>
          </p:cNvPr>
          <p:cNvSpPr>
            <a:spLocks noChangeArrowheads="1"/>
          </p:cNvSpPr>
          <p:nvPr/>
        </p:nvSpPr>
        <p:spPr bwMode="auto">
          <a:xfrm>
            <a:off x="1447800" y="3505200"/>
            <a:ext cx="3794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a:solidFill>
                  <a:srgbClr val="0000CC"/>
                </a:solidFill>
                <a:latin typeface="Symbol" panose="05050102010706020507" pitchFamily="18" charset="2"/>
              </a:rPr>
              <a:t>b</a:t>
            </a:r>
          </a:p>
        </p:txBody>
      </p:sp>
      <p:sp>
        <p:nvSpPr>
          <p:cNvPr id="1030" name="Rectangle 7">
            <a:extLst>
              <a:ext uri="{FF2B5EF4-FFF2-40B4-BE49-F238E27FC236}">
                <a16:creationId xmlns:a16="http://schemas.microsoft.com/office/drawing/2014/main" id="{252FB706-01DC-45E5-860D-92B414040E8F}"/>
              </a:ext>
            </a:extLst>
          </p:cNvPr>
          <p:cNvSpPr>
            <a:spLocks noChangeArrowheads="1"/>
          </p:cNvSpPr>
          <p:nvPr/>
        </p:nvSpPr>
        <p:spPr bwMode="auto">
          <a:xfrm>
            <a:off x="1447800" y="0"/>
            <a:ext cx="4079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a:solidFill>
                  <a:srgbClr val="0000CC"/>
                </a:solidFill>
                <a:latin typeface="Symbol" panose="05050102010706020507" pitchFamily="18" charset="2"/>
              </a:rPr>
              <a:t>a</a:t>
            </a:r>
          </a:p>
        </p:txBody>
      </p:sp>
      <p:sp>
        <p:nvSpPr>
          <p:cNvPr id="1031" name="Rectangle 8">
            <a:extLst>
              <a:ext uri="{FF2B5EF4-FFF2-40B4-BE49-F238E27FC236}">
                <a16:creationId xmlns:a16="http://schemas.microsoft.com/office/drawing/2014/main" id="{8F9A6666-037B-4DEA-92A1-FA92FFCAC16F}"/>
              </a:ext>
            </a:extLst>
          </p:cNvPr>
          <p:cNvSpPr>
            <a:spLocks noChangeArrowheads="1"/>
          </p:cNvSpPr>
          <p:nvPr/>
        </p:nvSpPr>
        <p:spPr bwMode="auto">
          <a:xfrm>
            <a:off x="2057400" y="3505200"/>
            <a:ext cx="4079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a:solidFill>
                  <a:srgbClr val="0000CC"/>
                </a:solidFill>
                <a:latin typeface="Symbol" panose="05050102010706020507" pitchFamily="18" charset="2"/>
              </a:rPr>
              <a:t>a</a:t>
            </a:r>
          </a:p>
        </p:txBody>
      </p:sp>
      <p:sp>
        <p:nvSpPr>
          <p:cNvPr id="1032" name="AutoShape 9">
            <a:extLst>
              <a:ext uri="{FF2B5EF4-FFF2-40B4-BE49-F238E27FC236}">
                <a16:creationId xmlns:a16="http://schemas.microsoft.com/office/drawing/2014/main" id="{85D8827C-FE4E-4017-A4A9-A607770989FB}"/>
              </a:ext>
            </a:extLst>
          </p:cNvPr>
          <p:cNvSpPr>
            <a:spLocks noChangeArrowheads="1"/>
          </p:cNvSpPr>
          <p:nvPr/>
        </p:nvSpPr>
        <p:spPr bwMode="auto">
          <a:xfrm>
            <a:off x="1295400" y="685800"/>
            <a:ext cx="228600" cy="381000"/>
          </a:xfrm>
          <a:prstGeom prst="upArrow">
            <a:avLst>
              <a:gd name="adj1" fmla="val 50000"/>
              <a:gd name="adj2" fmla="val 41667"/>
            </a:avLst>
          </a:prstGeom>
          <a:solidFill>
            <a:schemeClr val="accent1"/>
          </a:solidFill>
          <a:ln w="9525">
            <a:solidFill>
              <a:schemeClr val="tx1"/>
            </a:solidFill>
            <a:miter lim="800000"/>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a:p>
        </p:txBody>
      </p:sp>
      <p:sp>
        <p:nvSpPr>
          <p:cNvPr id="1033" name="AutoShape 10">
            <a:extLst>
              <a:ext uri="{FF2B5EF4-FFF2-40B4-BE49-F238E27FC236}">
                <a16:creationId xmlns:a16="http://schemas.microsoft.com/office/drawing/2014/main" id="{F8EE27B6-6A81-46BD-8F09-4AC73DAEB344}"/>
              </a:ext>
            </a:extLst>
          </p:cNvPr>
          <p:cNvSpPr>
            <a:spLocks noChangeArrowheads="1"/>
          </p:cNvSpPr>
          <p:nvPr/>
        </p:nvSpPr>
        <p:spPr bwMode="auto">
          <a:xfrm>
            <a:off x="1905000" y="4191000"/>
            <a:ext cx="228600" cy="381000"/>
          </a:xfrm>
          <a:prstGeom prst="upArrow">
            <a:avLst>
              <a:gd name="adj1" fmla="val 50000"/>
              <a:gd name="adj2" fmla="val 41667"/>
            </a:avLst>
          </a:prstGeom>
          <a:solidFill>
            <a:schemeClr val="accent1"/>
          </a:solidFill>
          <a:ln w="9525">
            <a:solidFill>
              <a:schemeClr val="tx1"/>
            </a:solidFill>
            <a:miter lim="800000"/>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a:p>
        </p:txBody>
      </p:sp>
    </p:spTree>
    <p:extLst>
      <p:ext uri="{BB962C8B-B14F-4D97-AF65-F5344CB8AC3E}">
        <p14:creationId xmlns:p14="http://schemas.microsoft.com/office/powerpoint/2010/main" val="108105780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 Box 2">
            <a:extLst>
              <a:ext uri="{FF2B5EF4-FFF2-40B4-BE49-F238E27FC236}">
                <a16:creationId xmlns:a16="http://schemas.microsoft.com/office/drawing/2014/main" id="{DFABAD60-8C14-4D9F-B5C6-716A993C76DF}"/>
              </a:ext>
            </a:extLst>
          </p:cNvPr>
          <p:cNvSpPr txBox="1">
            <a:spLocks noChangeArrowheads="1"/>
          </p:cNvSpPr>
          <p:nvPr/>
        </p:nvSpPr>
        <p:spPr bwMode="auto">
          <a:xfrm>
            <a:off x="152400" y="914400"/>
            <a:ext cx="8915400" cy="3847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spcBef>
                <a:spcPct val="20000"/>
              </a:spcBef>
              <a:buFontTx/>
              <a:buChar char="•"/>
            </a:pPr>
            <a:r>
              <a:rPr lang="en-US" altLang="zh-CN" sz="3200" b="1" dirty="0"/>
              <a:t>These experiments are a </a:t>
            </a:r>
            <a:r>
              <a:rPr lang="en-US" altLang="zh-CN" sz="3200" b="1" dirty="0">
                <a:solidFill>
                  <a:srgbClr val="C00000"/>
                </a:solidFill>
              </a:rPr>
              <a:t>landmark</a:t>
            </a:r>
            <a:r>
              <a:rPr lang="en-US" altLang="zh-CN" sz="3200" b="1" dirty="0"/>
              <a:t> in biochemistry, in using synthetic label (the phenyl group here) to elucidate reaction mechanism, and was done long before radioisotopes was used in biochemistry!</a:t>
            </a:r>
          </a:p>
          <a:p>
            <a:pPr>
              <a:spcBef>
                <a:spcPct val="50000"/>
              </a:spcBef>
            </a:pPr>
            <a:endParaRPr lang="en-US" altLang="zh-CN" dirty="0"/>
          </a:p>
        </p:txBody>
      </p:sp>
    </p:spTree>
    <p:extLst>
      <p:ext uri="{BB962C8B-B14F-4D97-AF65-F5344CB8AC3E}">
        <p14:creationId xmlns:p14="http://schemas.microsoft.com/office/powerpoint/2010/main" val="157930463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1026">
            <a:extLst>
              <a:ext uri="{FF2B5EF4-FFF2-40B4-BE49-F238E27FC236}">
                <a16:creationId xmlns:a16="http://schemas.microsoft.com/office/drawing/2014/main" id="{AE1DD57A-06E0-4614-94D3-0FBB5738022A}"/>
              </a:ext>
            </a:extLst>
          </p:cNvPr>
          <p:cNvSpPr>
            <a:spLocks noGrp="1" noChangeArrowheads="1"/>
          </p:cNvSpPr>
          <p:nvPr>
            <p:ph type="title" idx="4294967295"/>
          </p:nvPr>
        </p:nvSpPr>
        <p:spPr>
          <a:xfrm>
            <a:off x="0" y="1447800"/>
            <a:ext cx="7772400" cy="1143000"/>
          </a:xfrm>
        </p:spPr>
        <p:txBody>
          <a:bodyPr/>
          <a:lstStyle/>
          <a:p>
            <a:pPr eaLnBrk="1" hangingPunct="1"/>
            <a:r>
              <a:rPr lang="en-US" altLang="zh-CN" dirty="0">
                <a:solidFill>
                  <a:srgbClr val="0000FF"/>
                </a:solidFill>
              </a:rPr>
              <a:t>2. Fatty acid oxidation was found to occur in mitochondria </a:t>
            </a:r>
          </a:p>
        </p:txBody>
      </p:sp>
      <p:sp>
        <p:nvSpPr>
          <p:cNvPr id="11267" name="Rectangle 1027">
            <a:extLst>
              <a:ext uri="{FF2B5EF4-FFF2-40B4-BE49-F238E27FC236}">
                <a16:creationId xmlns:a16="http://schemas.microsoft.com/office/drawing/2014/main" id="{831DC4FC-6343-49BD-B38D-47695716D912}"/>
              </a:ext>
            </a:extLst>
          </p:cNvPr>
          <p:cNvSpPr>
            <a:spLocks noGrp="1" noChangeArrowheads="1"/>
          </p:cNvSpPr>
          <p:nvPr>
            <p:ph type="body" idx="4294967295"/>
          </p:nvPr>
        </p:nvSpPr>
        <p:spPr>
          <a:xfrm>
            <a:off x="0" y="3276600"/>
            <a:ext cx="9144000" cy="2362200"/>
          </a:xfrm>
        </p:spPr>
        <p:txBody>
          <a:bodyPr/>
          <a:lstStyle/>
          <a:p>
            <a:pPr eaLnBrk="1" hangingPunct="1"/>
            <a:r>
              <a:rPr lang="en-US" altLang="zh-CN" b="1">
                <a:solidFill>
                  <a:srgbClr val="FFFFFF"/>
                </a:solidFill>
              </a:rPr>
              <a:t>Enzymes of fatty acid oxidation in animal cells were localized in the mitochondria matrix.</a:t>
            </a:r>
          </a:p>
          <a:p>
            <a:pPr eaLnBrk="1" hangingPunct="1"/>
            <a:r>
              <a:rPr lang="en-US" altLang="zh-CN" b="1">
                <a:solidFill>
                  <a:srgbClr val="FFFFFF"/>
                </a:solidFill>
              </a:rPr>
              <a:t>Revealed by Eugene Kennedy and Albert Lehninger in 1948.</a:t>
            </a:r>
          </a:p>
        </p:txBody>
      </p:sp>
    </p:spTree>
    <p:extLst>
      <p:ext uri="{BB962C8B-B14F-4D97-AF65-F5344CB8AC3E}">
        <p14:creationId xmlns:p14="http://schemas.microsoft.com/office/powerpoint/2010/main" val="28440929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descr="mitochon">
            <a:extLst>
              <a:ext uri="{FF2B5EF4-FFF2-40B4-BE49-F238E27FC236}">
                <a16:creationId xmlns:a16="http://schemas.microsoft.com/office/drawing/2014/main" id="{80F334EC-3B06-459D-A463-BCEB521D5C7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0"/>
            <a:ext cx="4906963" cy="662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1" name="Picture 3" descr="lehning">
            <a:extLst>
              <a:ext uri="{FF2B5EF4-FFF2-40B4-BE49-F238E27FC236}">
                <a16:creationId xmlns:a16="http://schemas.microsoft.com/office/drawing/2014/main" id="{CAC66C84-2583-45B1-B550-2A9EEFF7E1C5}"/>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302250" y="0"/>
            <a:ext cx="3841750" cy="662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图片 3">
            <a:extLst>
              <a:ext uri="{FF2B5EF4-FFF2-40B4-BE49-F238E27FC236}">
                <a16:creationId xmlns:a16="http://schemas.microsoft.com/office/drawing/2014/main" id="{3DF809FC-B2EC-4E45-B4BF-756AF1C09E7A}"/>
              </a:ext>
            </a:extLst>
          </p:cNvPr>
          <p:cNvPicPr>
            <a:picLocks noChangeAspect="1"/>
          </p:cNvPicPr>
          <p:nvPr/>
        </p:nvPicPr>
        <p:blipFill>
          <a:blip r:embed="rId5" cstate="print"/>
          <a:stretch>
            <a:fillRect/>
          </a:stretch>
        </p:blipFill>
        <p:spPr>
          <a:xfrm>
            <a:off x="3059832" y="3126447"/>
            <a:ext cx="2687762" cy="3731553"/>
          </a:xfrm>
          <a:prstGeom prst="rect">
            <a:avLst/>
          </a:prstGeom>
        </p:spPr>
      </p:pic>
    </p:spTree>
    <p:extLst>
      <p:ext uri="{BB962C8B-B14F-4D97-AF65-F5344CB8AC3E}">
        <p14:creationId xmlns:p14="http://schemas.microsoft.com/office/powerpoint/2010/main" val="33158371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3F6D2A28-2D78-4E36-913F-0052EFC2E110}"/>
              </a:ext>
            </a:extLst>
          </p:cNvPr>
          <p:cNvSpPr txBox="1"/>
          <p:nvPr/>
        </p:nvSpPr>
        <p:spPr>
          <a:xfrm>
            <a:off x="323528" y="1052736"/>
            <a:ext cx="8956298" cy="3754874"/>
          </a:xfrm>
          <a:prstGeom prst="rect">
            <a:avLst/>
          </a:prstGeom>
          <a:noFill/>
        </p:spPr>
        <p:txBody>
          <a:bodyPr wrap="none" rtlCol="0">
            <a:spAutoFit/>
          </a:bodyPr>
          <a:lstStyle/>
          <a:p>
            <a:pPr marL="514350" indent="-514350">
              <a:lnSpc>
                <a:spcPct val="150000"/>
              </a:lnSpc>
              <a:buFont typeface="+mj-lt"/>
              <a:buAutoNum type="arabicPeriod"/>
            </a:pPr>
            <a:r>
              <a:rPr lang="en-US" altLang="zh-CN" sz="2800" dirty="0"/>
              <a:t>Activation of Fatty acid </a:t>
            </a:r>
            <a:r>
              <a:rPr lang="zh-CN" altLang="en-US" sz="2800" dirty="0"/>
              <a:t>（</a:t>
            </a:r>
            <a:r>
              <a:rPr lang="en-US" altLang="zh-CN" sz="2800" dirty="0"/>
              <a:t>outer membrane of </a:t>
            </a:r>
            <a:r>
              <a:rPr lang="en-US" altLang="zh-CN" sz="2800" dirty="0" err="1"/>
              <a:t>mito</a:t>
            </a:r>
            <a:r>
              <a:rPr lang="zh-CN" altLang="en-US" sz="2800" dirty="0"/>
              <a:t>）</a:t>
            </a:r>
            <a:endParaRPr lang="en-US" altLang="zh-CN" sz="2800" dirty="0"/>
          </a:p>
          <a:p>
            <a:pPr marL="514350" indent="-514350">
              <a:lnSpc>
                <a:spcPct val="150000"/>
              </a:lnSpc>
              <a:buFont typeface="+mj-lt"/>
              <a:buAutoNum type="arabicPeriod"/>
            </a:pPr>
            <a:r>
              <a:rPr lang="en-US" altLang="zh-CN" sz="2800" dirty="0"/>
              <a:t>Transport of fatty acyl-COA</a:t>
            </a:r>
          </a:p>
          <a:p>
            <a:pPr marL="514350" indent="-514350">
              <a:lnSpc>
                <a:spcPct val="150000"/>
              </a:lnSpc>
              <a:buFont typeface="+mj-lt"/>
              <a:buAutoNum type="arabicPeriod"/>
            </a:pPr>
            <a:r>
              <a:rPr lang="en-US" altLang="zh-CN" sz="2800" dirty="0"/>
              <a:t>β-oxidation</a:t>
            </a:r>
            <a:r>
              <a:rPr lang="zh-CN" altLang="en-US" sz="2800" dirty="0"/>
              <a:t>：</a:t>
            </a:r>
            <a:r>
              <a:rPr lang="en-US" altLang="zh-CN" sz="2800" dirty="0"/>
              <a:t>(mitochondria matrix)</a:t>
            </a:r>
          </a:p>
          <a:p>
            <a:pPr eaLnBrk="1" hangingPunct="1"/>
            <a:r>
              <a:rPr lang="en-US" altLang="zh-CN" sz="2800" dirty="0"/>
              <a:t>                  Oxidation by FAD</a:t>
            </a:r>
          </a:p>
          <a:p>
            <a:pPr eaLnBrk="1" hangingPunct="1"/>
            <a:r>
              <a:rPr lang="en-US" altLang="zh-CN" sz="2800" dirty="0"/>
              <a:t>                  Hydration</a:t>
            </a:r>
          </a:p>
          <a:p>
            <a:pPr eaLnBrk="1" hangingPunct="1"/>
            <a:r>
              <a:rPr lang="en-US" altLang="zh-CN" sz="2800" dirty="0"/>
              <a:t>                  Oxidation by NAD</a:t>
            </a:r>
            <a:r>
              <a:rPr lang="en-US" altLang="zh-CN" sz="2800" baseline="30000" dirty="0"/>
              <a:t>+</a:t>
            </a:r>
            <a:r>
              <a:rPr lang="en-US" altLang="zh-CN" sz="2800" dirty="0"/>
              <a:t>  </a:t>
            </a:r>
          </a:p>
          <a:p>
            <a:pPr eaLnBrk="1" hangingPunct="1"/>
            <a:r>
              <a:rPr lang="en-US" altLang="zh-CN" sz="2800" dirty="0"/>
              <a:t>                  </a:t>
            </a:r>
            <a:r>
              <a:rPr lang="en-US" altLang="zh-CN" sz="2800" dirty="0" err="1"/>
              <a:t>Thiolysis</a:t>
            </a:r>
            <a:r>
              <a:rPr lang="en-US" altLang="zh-CN" sz="2800" dirty="0"/>
              <a:t> by CoA.</a:t>
            </a:r>
          </a:p>
        </p:txBody>
      </p:sp>
    </p:spTree>
    <p:extLst>
      <p:ext uri="{BB962C8B-B14F-4D97-AF65-F5344CB8AC3E}">
        <p14:creationId xmlns:p14="http://schemas.microsoft.com/office/powerpoint/2010/main" val="24823574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BA5B7309-9B7A-4CE2-A896-C2E84B968639}"/>
              </a:ext>
            </a:extLst>
          </p:cNvPr>
          <p:cNvSpPr>
            <a:spLocks noGrp="1" noChangeArrowheads="1"/>
          </p:cNvSpPr>
          <p:nvPr>
            <p:ph type="title" idx="4294967295"/>
          </p:nvPr>
        </p:nvSpPr>
        <p:spPr>
          <a:xfrm>
            <a:off x="0" y="457200"/>
            <a:ext cx="7772400" cy="1143000"/>
          </a:xfrm>
        </p:spPr>
        <p:txBody>
          <a:bodyPr/>
          <a:lstStyle/>
          <a:p>
            <a:pPr eaLnBrk="1" hangingPunct="1"/>
            <a:r>
              <a:rPr lang="en-US" altLang="zh-CN" dirty="0">
                <a:solidFill>
                  <a:srgbClr val="0000FF"/>
                </a:solidFill>
              </a:rPr>
              <a:t>3. Fatty acids are activated on the outer membrane of mitochondria</a:t>
            </a:r>
          </a:p>
        </p:txBody>
      </p:sp>
      <p:sp>
        <p:nvSpPr>
          <p:cNvPr id="13315" name="Rectangle 3">
            <a:extLst>
              <a:ext uri="{FF2B5EF4-FFF2-40B4-BE49-F238E27FC236}">
                <a16:creationId xmlns:a16="http://schemas.microsoft.com/office/drawing/2014/main" id="{900064ED-D4AB-4900-9CA2-FA91606EE368}"/>
              </a:ext>
            </a:extLst>
          </p:cNvPr>
          <p:cNvSpPr>
            <a:spLocks noGrp="1" noChangeArrowheads="1"/>
          </p:cNvSpPr>
          <p:nvPr>
            <p:ph type="body" idx="4294967295"/>
          </p:nvPr>
        </p:nvSpPr>
        <p:spPr>
          <a:xfrm>
            <a:off x="0" y="2590800"/>
            <a:ext cx="9144000" cy="3352800"/>
          </a:xfrm>
        </p:spPr>
        <p:txBody>
          <a:bodyPr/>
          <a:lstStyle/>
          <a:p>
            <a:pPr eaLnBrk="1" hangingPunct="1"/>
            <a:r>
              <a:rPr lang="en-US" altLang="zh-CN" b="1" dirty="0"/>
              <a:t>Fatty acids are converted to </a:t>
            </a:r>
            <a:r>
              <a:rPr lang="en-US" altLang="zh-CN" b="1" dirty="0">
                <a:solidFill>
                  <a:schemeClr val="accent6">
                    <a:lumMod val="75000"/>
                  </a:schemeClr>
                </a:solidFill>
              </a:rPr>
              <a:t>fatty acyl-CoA </a:t>
            </a:r>
            <a:r>
              <a:rPr lang="en-US" altLang="zh-CN" b="1" dirty="0"/>
              <a:t>(a high energy compound) via a </a:t>
            </a:r>
            <a:r>
              <a:rPr lang="en-US" altLang="zh-CN" b="1" dirty="0">
                <a:solidFill>
                  <a:schemeClr val="accent6">
                    <a:lumMod val="75000"/>
                  </a:schemeClr>
                </a:solidFill>
              </a:rPr>
              <a:t>fatty-acyl-adenylate </a:t>
            </a:r>
            <a:r>
              <a:rPr lang="en-US" altLang="zh-CN" b="1" dirty="0"/>
              <a:t>intermediate (enzyme-bound) by the action of </a:t>
            </a:r>
            <a:r>
              <a:rPr lang="en-US" altLang="zh-CN" b="1" dirty="0">
                <a:solidFill>
                  <a:schemeClr val="accent6">
                    <a:lumMod val="75000"/>
                  </a:schemeClr>
                </a:solidFill>
              </a:rPr>
              <a:t>fatty acyl-CoA synthetases </a:t>
            </a:r>
            <a:r>
              <a:rPr lang="en-US" altLang="zh-CN" b="1" dirty="0"/>
              <a:t>(also called fatty acid thiokinase</a:t>
            </a:r>
            <a:r>
              <a:rPr lang="zh-CN" altLang="en-US" b="1" dirty="0"/>
              <a:t>，硫激酶</a:t>
            </a:r>
            <a:r>
              <a:rPr lang="en-US" altLang="zh-CN" b="1" dirty="0"/>
              <a:t>).</a:t>
            </a:r>
          </a:p>
        </p:txBody>
      </p:sp>
    </p:spTree>
    <p:extLst>
      <p:ext uri="{BB962C8B-B14F-4D97-AF65-F5344CB8AC3E}">
        <p14:creationId xmlns:p14="http://schemas.microsoft.com/office/powerpoint/2010/main" val="306599924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a:extLst>
              <a:ext uri="{FF2B5EF4-FFF2-40B4-BE49-F238E27FC236}">
                <a16:creationId xmlns:a16="http://schemas.microsoft.com/office/drawing/2014/main" id="{EBB54D17-026B-4AFC-BA48-A3500DE3BBA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l="10001" t="10001" r="10001" b="10001"/>
          <a:stretch>
            <a:fillRect/>
          </a:stretch>
        </p:blipFill>
        <p:spPr bwMode="auto">
          <a:xfrm>
            <a:off x="838200" y="381000"/>
            <a:ext cx="7924800" cy="594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1780519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1E69B3DE-0BA0-4AD0-9922-C38180E6B994}"/>
              </a:ext>
            </a:extLst>
          </p:cNvPr>
          <p:cNvPicPr>
            <a:picLocks noChangeAspect="1"/>
          </p:cNvPicPr>
          <p:nvPr/>
        </p:nvPicPr>
        <p:blipFill>
          <a:blip r:embed="rId2" cstate="print"/>
          <a:stretch>
            <a:fillRect/>
          </a:stretch>
        </p:blipFill>
        <p:spPr>
          <a:xfrm>
            <a:off x="971600" y="188640"/>
            <a:ext cx="7814072" cy="6148778"/>
          </a:xfrm>
          <a:prstGeom prst="rect">
            <a:avLst/>
          </a:prstGeom>
        </p:spPr>
      </p:pic>
      <p:sp>
        <p:nvSpPr>
          <p:cNvPr id="2051" name="Rectangle 4">
            <a:extLst>
              <a:ext uri="{FF2B5EF4-FFF2-40B4-BE49-F238E27FC236}">
                <a16:creationId xmlns:a16="http://schemas.microsoft.com/office/drawing/2014/main" id="{4775990F-8565-4AD9-94B4-686FD9E6A4D8}"/>
              </a:ext>
            </a:extLst>
          </p:cNvPr>
          <p:cNvSpPr>
            <a:spLocks noChangeArrowheads="1"/>
          </p:cNvSpPr>
          <p:nvPr/>
        </p:nvSpPr>
        <p:spPr bwMode="auto">
          <a:xfrm>
            <a:off x="0" y="50800"/>
            <a:ext cx="2783134" cy="1938992"/>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dirty="0">
                <a:solidFill>
                  <a:schemeClr val="bg1"/>
                </a:solidFill>
              </a:rPr>
              <a:t>Fatty acyl-CoA is</a:t>
            </a:r>
          </a:p>
          <a:p>
            <a:pPr eaLnBrk="1" hangingPunct="1"/>
            <a:r>
              <a:rPr lang="en-US" altLang="zh-CN" b="1" dirty="0">
                <a:solidFill>
                  <a:schemeClr val="bg1"/>
                </a:solidFill>
              </a:rPr>
              <a:t>formed from fatty</a:t>
            </a:r>
          </a:p>
          <a:p>
            <a:pPr eaLnBrk="1" hangingPunct="1"/>
            <a:r>
              <a:rPr lang="en-US" altLang="zh-CN" b="1" dirty="0">
                <a:solidFill>
                  <a:schemeClr val="bg1"/>
                </a:solidFill>
              </a:rPr>
              <a:t>acids and coenzyme</a:t>
            </a:r>
          </a:p>
          <a:p>
            <a:pPr eaLnBrk="1" hangingPunct="1"/>
            <a:r>
              <a:rPr lang="en-US" altLang="zh-CN" b="1" dirty="0">
                <a:solidFill>
                  <a:schemeClr val="bg1"/>
                </a:solidFill>
              </a:rPr>
              <a:t>A via a fatty acyl-</a:t>
            </a:r>
          </a:p>
          <a:p>
            <a:pPr eaLnBrk="1" hangingPunct="1"/>
            <a:r>
              <a:rPr lang="en-US" altLang="zh-CN" b="1" dirty="0">
                <a:solidFill>
                  <a:schemeClr val="bg1"/>
                </a:solidFill>
              </a:rPr>
              <a:t>AMP intermediate</a:t>
            </a:r>
          </a:p>
        </p:txBody>
      </p:sp>
    </p:spTree>
    <p:extLst>
      <p:ext uri="{BB962C8B-B14F-4D97-AF65-F5344CB8AC3E}">
        <p14:creationId xmlns:p14="http://schemas.microsoft.com/office/powerpoint/2010/main" val="126647257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890" name="Rectangle 2">
            <a:extLst>
              <a:ext uri="{FF2B5EF4-FFF2-40B4-BE49-F238E27FC236}">
                <a16:creationId xmlns:a16="http://schemas.microsoft.com/office/drawing/2014/main" id="{E3E01C4A-70F4-4859-9AF0-00699F8C25E8}"/>
              </a:ext>
            </a:extLst>
          </p:cNvPr>
          <p:cNvSpPr>
            <a:spLocks noChangeArrowheads="1"/>
          </p:cNvSpPr>
          <p:nvPr/>
        </p:nvSpPr>
        <p:spPr bwMode="auto">
          <a:xfrm>
            <a:off x="228600" y="4267200"/>
            <a:ext cx="8734425"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200" b="1" dirty="0">
                <a:solidFill>
                  <a:srgbClr val="C00000"/>
                </a:solidFill>
              </a:rPr>
              <a:t>The oxidative decarboxylation of pyruvate</a:t>
            </a:r>
          </a:p>
          <a:p>
            <a:pPr eaLnBrk="1" hangingPunct="1"/>
            <a:r>
              <a:rPr lang="en-US" altLang="zh-CN" sz="3200" b="1" dirty="0">
                <a:solidFill>
                  <a:srgbClr val="C00000"/>
                </a:solidFill>
              </a:rPr>
              <a:t>in mitochondria: producing acetyl-CoA and CO</a:t>
            </a:r>
            <a:r>
              <a:rPr lang="en-US" altLang="zh-CN" sz="3200" b="1" baseline="-25000" dirty="0">
                <a:solidFill>
                  <a:srgbClr val="C00000"/>
                </a:solidFill>
              </a:rPr>
              <a:t>2</a:t>
            </a:r>
            <a:r>
              <a:rPr lang="en-US" altLang="zh-CN" sz="3200" b="1" dirty="0">
                <a:solidFill>
                  <a:srgbClr val="C00000"/>
                </a:solidFill>
              </a:rPr>
              <a:t>.</a:t>
            </a:r>
          </a:p>
        </p:txBody>
      </p:sp>
      <p:pic>
        <p:nvPicPr>
          <p:cNvPr id="293891" name="Picture 4">
            <a:extLst>
              <a:ext uri="{FF2B5EF4-FFF2-40B4-BE49-F238E27FC236}">
                <a16:creationId xmlns:a16="http://schemas.microsoft.com/office/drawing/2014/main" id="{712309C3-B941-462A-8784-3DEC98EE764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9600" y="609600"/>
            <a:ext cx="8026400" cy="320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6247469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 Box 2">
            <a:extLst>
              <a:ext uri="{FF2B5EF4-FFF2-40B4-BE49-F238E27FC236}">
                <a16:creationId xmlns:a16="http://schemas.microsoft.com/office/drawing/2014/main" id="{E084BD35-70F9-4BFE-B10B-E69D6710902D}"/>
              </a:ext>
            </a:extLst>
          </p:cNvPr>
          <p:cNvSpPr txBox="1">
            <a:spLocks noChangeArrowheads="1"/>
          </p:cNvSpPr>
          <p:nvPr/>
        </p:nvSpPr>
        <p:spPr bwMode="auto">
          <a:xfrm>
            <a:off x="76202" y="1325522"/>
            <a:ext cx="9144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sz="2800" b="1" dirty="0">
                <a:solidFill>
                  <a:schemeClr val="accent6">
                    <a:lumMod val="75000"/>
                  </a:schemeClr>
                </a:solidFill>
              </a:rPr>
              <a:t>Fatty acid  + CoA + ATP         fatty acyl-CoA + AMP + 2Pi</a:t>
            </a:r>
          </a:p>
        </p:txBody>
      </p:sp>
      <p:sp>
        <p:nvSpPr>
          <p:cNvPr id="15363" name="Line 3">
            <a:extLst>
              <a:ext uri="{FF2B5EF4-FFF2-40B4-BE49-F238E27FC236}">
                <a16:creationId xmlns:a16="http://schemas.microsoft.com/office/drawing/2014/main" id="{989D73DC-AD87-4EA0-8A83-428727B7995A}"/>
              </a:ext>
            </a:extLst>
          </p:cNvPr>
          <p:cNvSpPr>
            <a:spLocks noChangeShapeType="1"/>
          </p:cNvSpPr>
          <p:nvPr/>
        </p:nvSpPr>
        <p:spPr bwMode="auto">
          <a:xfrm>
            <a:off x="4038600" y="1585078"/>
            <a:ext cx="533400" cy="0"/>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solidFill>
                <a:schemeClr val="accent6">
                  <a:lumMod val="75000"/>
                </a:schemeClr>
              </a:solidFill>
            </a:endParaRPr>
          </a:p>
        </p:txBody>
      </p:sp>
      <p:sp>
        <p:nvSpPr>
          <p:cNvPr id="15364" name="Text Box 4">
            <a:extLst>
              <a:ext uri="{FF2B5EF4-FFF2-40B4-BE49-F238E27FC236}">
                <a16:creationId xmlns:a16="http://schemas.microsoft.com/office/drawing/2014/main" id="{220BD142-ABB0-4B72-A477-B347BF0512E9}"/>
              </a:ext>
            </a:extLst>
          </p:cNvPr>
          <p:cNvSpPr txBox="1">
            <a:spLocks noChangeArrowheads="1"/>
          </p:cNvSpPr>
          <p:nvPr/>
        </p:nvSpPr>
        <p:spPr bwMode="auto">
          <a:xfrm>
            <a:off x="457200" y="2133600"/>
            <a:ext cx="8686800" cy="3139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sz="3600" dirty="0"/>
              <a:t>The fatty acid is activated by forming a thioester link with CoA before entering the mitochondria. </a:t>
            </a:r>
          </a:p>
          <a:p>
            <a:pPr>
              <a:spcBef>
                <a:spcPct val="50000"/>
              </a:spcBef>
            </a:pPr>
            <a:r>
              <a:rPr lang="en-US" altLang="zh-CN" sz="3600" dirty="0"/>
              <a:t>The inner mitochondrial membrane is not permeable to long-chain acyl CoA derivatives.</a:t>
            </a:r>
          </a:p>
        </p:txBody>
      </p:sp>
      <p:pic>
        <p:nvPicPr>
          <p:cNvPr id="2" name="图片 1">
            <a:extLst>
              <a:ext uri="{FF2B5EF4-FFF2-40B4-BE49-F238E27FC236}">
                <a16:creationId xmlns:a16="http://schemas.microsoft.com/office/drawing/2014/main" id="{21BFAC7B-28BB-43BE-B7DD-3C13AB741C3C}"/>
              </a:ext>
            </a:extLst>
          </p:cNvPr>
          <p:cNvPicPr>
            <a:picLocks noChangeAspect="1"/>
          </p:cNvPicPr>
          <p:nvPr/>
        </p:nvPicPr>
        <p:blipFill>
          <a:blip r:embed="rId3" cstate="print"/>
          <a:stretch>
            <a:fillRect/>
          </a:stretch>
        </p:blipFill>
        <p:spPr>
          <a:xfrm>
            <a:off x="179511" y="511960"/>
            <a:ext cx="8541221" cy="554005"/>
          </a:xfrm>
          <a:prstGeom prst="rect">
            <a:avLst/>
          </a:prstGeom>
        </p:spPr>
      </p:pic>
      <p:sp>
        <p:nvSpPr>
          <p:cNvPr id="3" name="箭头: 下 2">
            <a:extLst>
              <a:ext uri="{FF2B5EF4-FFF2-40B4-BE49-F238E27FC236}">
                <a16:creationId xmlns:a16="http://schemas.microsoft.com/office/drawing/2014/main" id="{99205423-27A8-4C6C-8A26-7821507C4149}"/>
              </a:ext>
            </a:extLst>
          </p:cNvPr>
          <p:cNvSpPr/>
          <p:nvPr/>
        </p:nvSpPr>
        <p:spPr>
          <a:xfrm>
            <a:off x="4038600" y="980728"/>
            <a:ext cx="245368" cy="34479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3464604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8">
            <a:extLst>
              <a:ext uri="{FF2B5EF4-FFF2-40B4-BE49-F238E27FC236}">
                <a16:creationId xmlns:a16="http://schemas.microsoft.com/office/drawing/2014/main" id="{58358E61-DACA-4128-B30A-D87B56E064E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81000" y="2743200"/>
            <a:ext cx="8026400" cy="335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87" name="Rectangle 2">
            <a:extLst>
              <a:ext uri="{FF2B5EF4-FFF2-40B4-BE49-F238E27FC236}">
                <a16:creationId xmlns:a16="http://schemas.microsoft.com/office/drawing/2014/main" id="{99F17E78-EE2D-475D-8A9A-63495C1C67E8}"/>
              </a:ext>
            </a:extLst>
          </p:cNvPr>
          <p:cNvSpPr>
            <a:spLocks noGrp="1" noChangeArrowheads="1"/>
          </p:cNvSpPr>
          <p:nvPr>
            <p:ph type="title" idx="4294967295"/>
          </p:nvPr>
        </p:nvSpPr>
        <p:spPr>
          <a:xfrm>
            <a:off x="0" y="304800"/>
            <a:ext cx="9144000" cy="1752600"/>
          </a:xfrm>
        </p:spPr>
        <p:txBody>
          <a:bodyPr/>
          <a:lstStyle/>
          <a:p>
            <a:pPr eaLnBrk="1" hangingPunct="1"/>
            <a:r>
              <a:rPr lang="en-US" altLang="zh-CN" dirty="0">
                <a:solidFill>
                  <a:srgbClr val="0000FF"/>
                </a:solidFill>
              </a:rPr>
              <a:t>4. Activated (long chain) fatty acids are carried into the matrix by carnitine</a:t>
            </a:r>
          </a:p>
        </p:txBody>
      </p:sp>
      <p:sp>
        <p:nvSpPr>
          <p:cNvPr id="16388" name="Text Box 7">
            <a:extLst>
              <a:ext uri="{FF2B5EF4-FFF2-40B4-BE49-F238E27FC236}">
                <a16:creationId xmlns:a16="http://schemas.microsoft.com/office/drawing/2014/main" id="{61EC62DC-B199-4551-8E06-4F6155508BAC}"/>
              </a:ext>
            </a:extLst>
          </p:cNvPr>
          <p:cNvSpPr txBox="1">
            <a:spLocks noChangeArrowheads="1"/>
          </p:cNvSpPr>
          <p:nvPr/>
        </p:nvSpPr>
        <p:spPr bwMode="auto">
          <a:xfrm>
            <a:off x="5410200" y="5486400"/>
            <a:ext cx="2362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lang="zh-CN" altLang="en-US" dirty="0">
                <a:solidFill>
                  <a:srgbClr val="000000"/>
                </a:solidFill>
              </a:rPr>
              <a:t>肉碱（肉毒碱）</a:t>
            </a:r>
          </a:p>
        </p:txBody>
      </p:sp>
    </p:spTree>
    <p:extLst>
      <p:ext uri="{BB962C8B-B14F-4D97-AF65-F5344CB8AC3E}">
        <p14:creationId xmlns:p14="http://schemas.microsoft.com/office/powerpoint/2010/main" val="304990648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a:extLst>
              <a:ext uri="{FF2B5EF4-FFF2-40B4-BE49-F238E27FC236}">
                <a16:creationId xmlns:a16="http://schemas.microsoft.com/office/drawing/2014/main" id="{D6B24DC0-744F-4C9B-A6A5-FD3A628B111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2514600"/>
            <a:ext cx="9144000" cy="3355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1" name="Picture 3" descr="carnit'">
            <a:extLst>
              <a:ext uri="{FF2B5EF4-FFF2-40B4-BE49-F238E27FC236}">
                <a16:creationId xmlns:a16="http://schemas.microsoft.com/office/drawing/2014/main" id="{5C02B4C3-E258-46DA-B3C1-1124B038996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304800"/>
            <a:ext cx="9144000" cy="199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0551999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3F5B9E24-4F83-42EF-9483-0C6FFD65BC72}"/>
              </a:ext>
            </a:extLst>
          </p:cNvPr>
          <p:cNvSpPr>
            <a:spLocks noChangeArrowheads="1"/>
          </p:cNvSpPr>
          <p:nvPr/>
        </p:nvSpPr>
        <p:spPr bwMode="auto">
          <a:xfrm>
            <a:off x="0" y="457200"/>
            <a:ext cx="9144000" cy="556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buFontTx/>
              <a:buChar char="•"/>
            </a:pPr>
            <a:r>
              <a:rPr lang="en-US" altLang="zh-CN" sz="3200" dirty="0"/>
              <a:t>The fatty acyl group is attached to </a:t>
            </a:r>
            <a:r>
              <a:rPr lang="en-US" altLang="zh-CN" sz="3200" b="1" dirty="0">
                <a:solidFill>
                  <a:schemeClr val="accent6">
                    <a:lumMod val="75000"/>
                  </a:schemeClr>
                </a:solidFill>
              </a:rPr>
              <a:t>carnitine</a:t>
            </a:r>
            <a:r>
              <a:rPr lang="en-US" altLang="zh-CN" sz="3200" dirty="0"/>
              <a:t> (</a:t>
            </a:r>
            <a:r>
              <a:rPr lang="zh-CN" altLang="en-US" sz="3200" dirty="0">
                <a:ea typeface="隶书" panose="02010509060101010101" pitchFamily="49" charset="-122"/>
              </a:rPr>
              <a:t>肉碱</a:t>
            </a:r>
            <a:r>
              <a:rPr lang="zh-CN" altLang="en-US" sz="3200" dirty="0"/>
              <a:t>） </a:t>
            </a:r>
            <a:r>
              <a:rPr lang="en-US" altLang="zh-CN" sz="3200" dirty="0"/>
              <a:t>by the action of </a:t>
            </a:r>
            <a:r>
              <a:rPr lang="en-US" altLang="zh-CN" sz="3200" b="1" dirty="0">
                <a:solidFill>
                  <a:srgbClr val="7030A0"/>
                </a:solidFill>
              </a:rPr>
              <a:t>carnitine acyltransferase I</a:t>
            </a:r>
            <a:r>
              <a:rPr lang="en-US" altLang="zh-CN" sz="3200" dirty="0">
                <a:solidFill>
                  <a:srgbClr val="7030A0"/>
                </a:solidFill>
              </a:rPr>
              <a:t> </a:t>
            </a:r>
            <a:r>
              <a:rPr lang="en-US" altLang="zh-CN" sz="3200" dirty="0"/>
              <a:t>located on the outer face of the inner membrane, forming </a:t>
            </a:r>
            <a:r>
              <a:rPr lang="en-US" altLang="zh-CN" sz="3200" b="1" dirty="0">
                <a:solidFill>
                  <a:schemeClr val="accent6">
                    <a:lumMod val="75000"/>
                  </a:schemeClr>
                </a:solidFill>
              </a:rPr>
              <a:t>fatty acyl-carnitine</a:t>
            </a:r>
            <a:r>
              <a:rPr lang="en-US" altLang="zh-CN" sz="3200" dirty="0"/>
              <a:t>, leaving the CoA in the cytosol.</a:t>
            </a:r>
          </a:p>
          <a:p>
            <a:pPr eaLnBrk="1" hangingPunct="1">
              <a:spcBef>
                <a:spcPct val="20000"/>
              </a:spcBef>
              <a:buFontTx/>
              <a:buChar char="•"/>
            </a:pPr>
            <a:r>
              <a:rPr lang="en-US" altLang="zh-CN" sz="3200" dirty="0"/>
              <a:t>The </a:t>
            </a:r>
            <a:r>
              <a:rPr lang="en-US" altLang="zh-CN" sz="3200" b="1" dirty="0">
                <a:solidFill>
                  <a:schemeClr val="accent6">
                    <a:lumMod val="75000"/>
                  </a:schemeClr>
                </a:solidFill>
              </a:rPr>
              <a:t>acyl carnitine/carnitine transporter</a:t>
            </a:r>
            <a:r>
              <a:rPr lang="en-US" altLang="zh-CN" sz="3200" dirty="0">
                <a:solidFill>
                  <a:schemeClr val="accent6">
                    <a:lumMod val="75000"/>
                  </a:schemeClr>
                </a:solidFill>
              </a:rPr>
              <a:t> </a:t>
            </a:r>
            <a:r>
              <a:rPr lang="en-US" altLang="zh-CN" sz="3200" dirty="0"/>
              <a:t>moves acyl-carnitine across the inner membrane of mitochondria.</a:t>
            </a:r>
          </a:p>
          <a:p>
            <a:pPr eaLnBrk="1" hangingPunct="1">
              <a:spcBef>
                <a:spcPct val="20000"/>
              </a:spcBef>
              <a:buFontTx/>
              <a:buChar char="•"/>
            </a:pPr>
            <a:r>
              <a:rPr lang="en-US" altLang="zh-CN" sz="3200" dirty="0"/>
              <a:t>The acyl group is then transferred back to CoA to form fatty acyl-CoA by the action of </a:t>
            </a:r>
            <a:r>
              <a:rPr lang="en-US" altLang="zh-CN" sz="3200" b="1" dirty="0">
                <a:solidFill>
                  <a:srgbClr val="7030A0"/>
                </a:solidFill>
              </a:rPr>
              <a:t>carnitine acyltransferase II</a:t>
            </a:r>
            <a:r>
              <a:rPr lang="en-US" altLang="zh-CN" sz="3200" dirty="0">
                <a:solidFill>
                  <a:srgbClr val="7030A0"/>
                </a:solidFill>
              </a:rPr>
              <a:t> </a:t>
            </a:r>
            <a:r>
              <a:rPr lang="en-US" altLang="zh-CN" sz="3200" dirty="0"/>
              <a:t>located on the inner face of the inner membrane.</a:t>
            </a:r>
          </a:p>
        </p:txBody>
      </p:sp>
    </p:spTree>
    <p:extLst>
      <p:ext uri="{BB962C8B-B14F-4D97-AF65-F5344CB8AC3E}">
        <p14:creationId xmlns:p14="http://schemas.microsoft.com/office/powerpoint/2010/main" val="124366347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1026">
            <a:extLst>
              <a:ext uri="{FF2B5EF4-FFF2-40B4-BE49-F238E27FC236}">
                <a16:creationId xmlns:a16="http://schemas.microsoft.com/office/drawing/2014/main" id="{8994D8BF-8370-4A28-8532-EBBCB2CC3210}"/>
              </a:ext>
            </a:extLst>
          </p:cNvPr>
          <p:cNvSpPr>
            <a:spLocks noGrp="1" noChangeArrowheads="1"/>
          </p:cNvSpPr>
          <p:nvPr>
            <p:ph type="title" idx="4294967295"/>
          </p:nvPr>
        </p:nvSpPr>
        <p:spPr>
          <a:xfrm>
            <a:off x="0" y="304800"/>
            <a:ext cx="9144000" cy="1524000"/>
          </a:xfrm>
        </p:spPr>
        <p:txBody>
          <a:bodyPr/>
          <a:lstStyle/>
          <a:p>
            <a:pPr eaLnBrk="1" hangingPunct="1"/>
            <a:r>
              <a:rPr lang="en-US" altLang="zh-CN" dirty="0">
                <a:solidFill>
                  <a:srgbClr val="0000FF"/>
                </a:solidFill>
              </a:rPr>
              <a:t>5. Fatty acyl-CoA is oxidized to acetyl-CoA via multiple rounds of </a:t>
            </a:r>
            <a:r>
              <a:rPr lang="en-US" altLang="zh-CN" dirty="0">
                <a:solidFill>
                  <a:srgbClr val="0000FF"/>
                </a:solidFill>
                <a:latin typeface="Symbol" panose="05050102010706020507" pitchFamily="18" charset="2"/>
              </a:rPr>
              <a:t>b</a:t>
            </a:r>
            <a:r>
              <a:rPr lang="en-US" altLang="zh-CN" dirty="0">
                <a:solidFill>
                  <a:srgbClr val="0000FF"/>
                </a:solidFill>
              </a:rPr>
              <a:t> oxidation </a:t>
            </a:r>
          </a:p>
        </p:txBody>
      </p:sp>
      <p:sp>
        <p:nvSpPr>
          <p:cNvPr id="19459" name="Rectangle 1027">
            <a:extLst>
              <a:ext uri="{FF2B5EF4-FFF2-40B4-BE49-F238E27FC236}">
                <a16:creationId xmlns:a16="http://schemas.microsoft.com/office/drawing/2014/main" id="{0B88D291-5374-4A81-AB2E-4AEFD126CE5B}"/>
              </a:ext>
            </a:extLst>
          </p:cNvPr>
          <p:cNvSpPr>
            <a:spLocks noGrp="1" noChangeArrowheads="1"/>
          </p:cNvSpPr>
          <p:nvPr>
            <p:ph type="body" idx="4294967295"/>
          </p:nvPr>
        </p:nvSpPr>
        <p:spPr>
          <a:xfrm>
            <a:off x="0" y="2209800"/>
            <a:ext cx="8305800" cy="3352800"/>
          </a:xfrm>
        </p:spPr>
        <p:txBody>
          <a:bodyPr/>
          <a:lstStyle/>
          <a:p>
            <a:pPr eaLnBrk="1" hangingPunct="1">
              <a:buFontTx/>
              <a:buNone/>
            </a:pPr>
            <a:r>
              <a:rPr lang="en-US" altLang="zh-CN" sz="3600" dirty="0"/>
              <a:t>The </a:t>
            </a:r>
            <a:r>
              <a:rPr lang="en-US" altLang="zh-CN" sz="3600" dirty="0">
                <a:latin typeface="Symbol" panose="05050102010706020507" pitchFamily="18" charset="2"/>
              </a:rPr>
              <a:t>b</a:t>
            </a:r>
            <a:r>
              <a:rPr lang="en-US" altLang="zh-CN" sz="3600" dirty="0"/>
              <a:t> oxidation consists of four reactions: </a:t>
            </a:r>
          </a:p>
          <a:p>
            <a:pPr eaLnBrk="1" hangingPunct="1"/>
            <a:r>
              <a:rPr lang="en-US" altLang="zh-CN" sz="3600" dirty="0"/>
              <a:t>Oxidation by FAD</a:t>
            </a:r>
          </a:p>
          <a:p>
            <a:pPr eaLnBrk="1" hangingPunct="1"/>
            <a:r>
              <a:rPr lang="en-US" altLang="zh-CN" sz="3600" dirty="0"/>
              <a:t>Hydration</a:t>
            </a:r>
          </a:p>
          <a:p>
            <a:pPr eaLnBrk="1" hangingPunct="1"/>
            <a:r>
              <a:rPr lang="en-US" altLang="zh-CN" sz="3600" dirty="0"/>
              <a:t>Oxidation by NAD</a:t>
            </a:r>
            <a:r>
              <a:rPr lang="en-US" altLang="zh-CN" sz="3600" baseline="30000" dirty="0"/>
              <a:t>+</a:t>
            </a:r>
            <a:r>
              <a:rPr lang="en-US" altLang="zh-CN" sz="3600" dirty="0"/>
              <a:t>  </a:t>
            </a:r>
          </a:p>
          <a:p>
            <a:pPr eaLnBrk="1" hangingPunct="1"/>
            <a:r>
              <a:rPr lang="en-US" altLang="zh-CN" sz="3600" dirty="0" err="1"/>
              <a:t>Thiolysis</a:t>
            </a:r>
            <a:r>
              <a:rPr lang="en-US" altLang="zh-CN" sz="3600" dirty="0"/>
              <a:t> by CoA.</a:t>
            </a:r>
          </a:p>
        </p:txBody>
      </p:sp>
    </p:spTree>
    <p:extLst>
      <p:ext uri="{BB962C8B-B14F-4D97-AF65-F5344CB8AC3E}">
        <p14:creationId xmlns:p14="http://schemas.microsoft.com/office/powerpoint/2010/main" val="53835198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6">
            <a:extLst>
              <a:ext uri="{FF2B5EF4-FFF2-40B4-BE49-F238E27FC236}">
                <a16:creationId xmlns:a16="http://schemas.microsoft.com/office/drawing/2014/main" id="{77782CA7-C86E-4B4E-A8F4-46E0806AEBE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33805" y="0"/>
            <a:ext cx="3725863"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图片 2">
            <a:extLst>
              <a:ext uri="{FF2B5EF4-FFF2-40B4-BE49-F238E27FC236}">
                <a16:creationId xmlns:a16="http://schemas.microsoft.com/office/drawing/2014/main" id="{E80650C0-AA21-4EDB-9319-76E3E1FFBEC2}"/>
              </a:ext>
            </a:extLst>
          </p:cNvPr>
          <p:cNvPicPr>
            <a:picLocks noChangeAspect="1"/>
          </p:cNvPicPr>
          <p:nvPr/>
        </p:nvPicPr>
        <p:blipFill rotWithShape="1">
          <a:blip r:embed="rId4" cstate="print"/>
          <a:srcRect l="-3329" t="-3277" r="82927" b="88473"/>
          <a:stretch/>
        </p:blipFill>
        <p:spPr>
          <a:xfrm>
            <a:off x="3321583" y="1988840"/>
            <a:ext cx="602345" cy="325311"/>
          </a:xfrm>
          <a:prstGeom prst="rect">
            <a:avLst/>
          </a:prstGeom>
        </p:spPr>
      </p:pic>
      <p:pic>
        <p:nvPicPr>
          <p:cNvPr id="6" name="Picture 4">
            <a:extLst>
              <a:ext uri="{FF2B5EF4-FFF2-40B4-BE49-F238E27FC236}">
                <a16:creationId xmlns:a16="http://schemas.microsoft.com/office/drawing/2014/main" id="{E4D0C2BB-63B3-47EF-B6C2-B1FAB0DC9AA5}"/>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14300" r="59695" b="15350"/>
          <a:stretch/>
        </p:blipFill>
        <p:spPr bwMode="auto">
          <a:xfrm>
            <a:off x="611560" y="404664"/>
            <a:ext cx="2657871" cy="48245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559232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2">
            <a:extLst>
              <a:ext uri="{FF2B5EF4-FFF2-40B4-BE49-F238E27FC236}">
                <a16:creationId xmlns:a16="http://schemas.microsoft.com/office/drawing/2014/main" id="{BE284E4C-156B-4ADF-99C2-6D87E678543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b="66666"/>
          <a:stretch>
            <a:fillRect/>
          </a:stretch>
        </p:blipFill>
        <p:spPr bwMode="auto">
          <a:xfrm>
            <a:off x="533400" y="685800"/>
            <a:ext cx="8077200" cy="4956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4862228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2">
            <a:extLst>
              <a:ext uri="{FF2B5EF4-FFF2-40B4-BE49-F238E27FC236}">
                <a16:creationId xmlns:a16="http://schemas.microsoft.com/office/drawing/2014/main" id="{A9A3121F-5C03-4E11-96CE-8FF781CCEAA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t="20000" b="43333"/>
          <a:stretch>
            <a:fillRect/>
          </a:stretch>
        </p:blipFill>
        <p:spPr bwMode="auto">
          <a:xfrm>
            <a:off x="533400" y="457200"/>
            <a:ext cx="8229600" cy="5554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9622230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2">
            <a:extLst>
              <a:ext uri="{FF2B5EF4-FFF2-40B4-BE49-F238E27FC236}">
                <a16:creationId xmlns:a16="http://schemas.microsoft.com/office/drawing/2014/main" id="{2EB86F81-EA6A-4014-8AE9-1013E8D0F79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t="42223" b="24445"/>
          <a:stretch>
            <a:fillRect/>
          </a:stretch>
        </p:blipFill>
        <p:spPr bwMode="auto">
          <a:xfrm>
            <a:off x="457200" y="762000"/>
            <a:ext cx="8382000"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9738198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2">
            <a:extLst>
              <a:ext uri="{FF2B5EF4-FFF2-40B4-BE49-F238E27FC236}">
                <a16:creationId xmlns:a16="http://schemas.microsoft.com/office/drawing/2014/main" id="{2451AD14-F801-4D74-89BF-900A3274FAD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t="64444" b="1662"/>
          <a:stretch>
            <a:fillRect/>
          </a:stretch>
        </p:blipFill>
        <p:spPr bwMode="auto">
          <a:xfrm>
            <a:off x="533400" y="762000"/>
            <a:ext cx="8305800" cy="518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2562665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6">
            <a:extLst>
              <a:ext uri="{FF2B5EF4-FFF2-40B4-BE49-F238E27FC236}">
                <a16:creationId xmlns:a16="http://schemas.microsoft.com/office/drawing/2014/main" id="{77782CA7-C86E-4B4E-A8F4-46E0806AEBE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33805" y="0"/>
            <a:ext cx="3725863"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图片 2">
            <a:extLst>
              <a:ext uri="{FF2B5EF4-FFF2-40B4-BE49-F238E27FC236}">
                <a16:creationId xmlns:a16="http://schemas.microsoft.com/office/drawing/2014/main" id="{E80650C0-AA21-4EDB-9319-76E3E1FFBEC2}"/>
              </a:ext>
            </a:extLst>
          </p:cNvPr>
          <p:cNvPicPr>
            <a:picLocks noChangeAspect="1"/>
          </p:cNvPicPr>
          <p:nvPr/>
        </p:nvPicPr>
        <p:blipFill rotWithShape="1">
          <a:blip r:embed="rId4" cstate="print"/>
          <a:srcRect r="83055" b="83616"/>
          <a:stretch/>
        </p:blipFill>
        <p:spPr>
          <a:xfrm>
            <a:off x="3238102" y="2060848"/>
            <a:ext cx="500262" cy="360040"/>
          </a:xfrm>
          <a:prstGeom prst="rect">
            <a:avLst/>
          </a:prstGeom>
        </p:spPr>
      </p:pic>
      <p:pic>
        <p:nvPicPr>
          <p:cNvPr id="6" name="Picture 4">
            <a:extLst>
              <a:ext uri="{FF2B5EF4-FFF2-40B4-BE49-F238E27FC236}">
                <a16:creationId xmlns:a16="http://schemas.microsoft.com/office/drawing/2014/main" id="{E4D0C2BB-63B3-47EF-B6C2-B1FAB0DC9AA5}"/>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14300" r="59695" b="15350"/>
          <a:stretch/>
        </p:blipFill>
        <p:spPr bwMode="auto">
          <a:xfrm>
            <a:off x="611560" y="404664"/>
            <a:ext cx="2657871" cy="48245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3080873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Picture 2">
            <a:extLst>
              <a:ext uri="{FF2B5EF4-FFF2-40B4-BE49-F238E27FC236}">
                <a16:creationId xmlns:a16="http://schemas.microsoft.com/office/drawing/2014/main" id="{705AE70F-B788-49ED-AF67-1F3E912BFE8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b="22897"/>
          <a:stretch>
            <a:fillRect/>
          </a:stretch>
        </p:blipFill>
        <p:spPr bwMode="auto">
          <a:xfrm>
            <a:off x="381000" y="1828800"/>
            <a:ext cx="8382000" cy="388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3" name="Rectangle 3">
            <a:extLst>
              <a:ext uri="{FF2B5EF4-FFF2-40B4-BE49-F238E27FC236}">
                <a16:creationId xmlns:a16="http://schemas.microsoft.com/office/drawing/2014/main" id="{571C1A01-8995-4771-BD6F-F67CCFBF99DB}"/>
              </a:ext>
            </a:extLst>
          </p:cNvPr>
          <p:cNvSpPr>
            <a:spLocks noChangeArrowheads="1"/>
          </p:cNvSpPr>
          <p:nvPr/>
        </p:nvSpPr>
        <p:spPr bwMode="auto">
          <a:xfrm>
            <a:off x="304800" y="304800"/>
            <a:ext cx="8839200" cy="10668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200" b="1" dirty="0">
                <a:solidFill>
                  <a:srgbClr val="0000FF"/>
                </a:solidFill>
              </a:rPr>
              <a:t>Three similar reactions between the </a:t>
            </a:r>
            <a:r>
              <a:rPr lang="en-US" altLang="zh-CN" sz="3200" b="1" dirty="0">
                <a:solidFill>
                  <a:srgbClr val="0000FF"/>
                </a:solidFill>
                <a:latin typeface="Symbol" panose="05050102010706020507" pitchFamily="18" charset="2"/>
              </a:rPr>
              <a:t>b</a:t>
            </a:r>
            <a:r>
              <a:rPr lang="en-US" altLang="zh-CN" sz="3200" b="1" dirty="0">
                <a:solidFill>
                  <a:srgbClr val="0000FF"/>
                </a:solidFill>
              </a:rPr>
              <a:t>-oxidation and citric acid cycle</a:t>
            </a:r>
          </a:p>
        </p:txBody>
      </p:sp>
    </p:spTree>
    <p:extLst>
      <p:ext uri="{BB962C8B-B14F-4D97-AF65-F5344CB8AC3E}">
        <p14:creationId xmlns:p14="http://schemas.microsoft.com/office/powerpoint/2010/main" val="152027511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1026">
            <a:extLst>
              <a:ext uri="{FF2B5EF4-FFF2-40B4-BE49-F238E27FC236}">
                <a16:creationId xmlns:a16="http://schemas.microsoft.com/office/drawing/2014/main" id="{4BBB8FBE-0A8B-4886-9923-A3CB01C3043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55600" y="431800"/>
            <a:ext cx="8026400" cy="528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0945215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0" name="Picture 2">
            <a:extLst>
              <a:ext uri="{FF2B5EF4-FFF2-40B4-BE49-F238E27FC236}">
                <a16:creationId xmlns:a16="http://schemas.microsoft.com/office/drawing/2014/main" id="{48F28E84-16C1-40F9-BF80-F94A40A7BF5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9600" y="1447800"/>
            <a:ext cx="8026400" cy="370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733220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4" name="Picture 2">
            <a:extLst>
              <a:ext uri="{FF2B5EF4-FFF2-40B4-BE49-F238E27FC236}">
                <a16:creationId xmlns:a16="http://schemas.microsoft.com/office/drawing/2014/main" id="{BBA465E7-E28A-4B1B-8F62-B81E82B25A3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895600" y="0"/>
            <a:ext cx="3725863"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5396838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ABECF1E3-375C-4CEF-A2F0-E54499556034}"/>
              </a:ext>
            </a:extLst>
          </p:cNvPr>
          <p:cNvSpPr>
            <a:spLocks noGrp="1" noChangeArrowheads="1"/>
          </p:cNvSpPr>
          <p:nvPr>
            <p:ph type="title" idx="4294967295"/>
          </p:nvPr>
        </p:nvSpPr>
        <p:spPr>
          <a:xfrm flipV="1">
            <a:off x="0" y="1752600"/>
            <a:ext cx="7772400" cy="76200"/>
          </a:xfrm>
        </p:spPr>
        <p:txBody>
          <a:bodyPr/>
          <a:lstStyle/>
          <a:p>
            <a:pPr eaLnBrk="1" hangingPunct="1"/>
            <a:r>
              <a:rPr lang="en-US" altLang="zh-CN"/>
              <a:t> </a:t>
            </a:r>
          </a:p>
        </p:txBody>
      </p:sp>
      <p:sp>
        <p:nvSpPr>
          <p:cNvPr id="29699" name="Rectangle 3">
            <a:extLst>
              <a:ext uri="{FF2B5EF4-FFF2-40B4-BE49-F238E27FC236}">
                <a16:creationId xmlns:a16="http://schemas.microsoft.com/office/drawing/2014/main" id="{EE4E1511-EE2E-4190-B909-D72F222CF41E}"/>
              </a:ext>
            </a:extLst>
          </p:cNvPr>
          <p:cNvSpPr>
            <a:spLocks noGrp="1" noChangeArrowheads="1"/>
          </p:cNvSpPr>
          <p:nvPr>
            <p:ph type="body" idx="4294967295"/>
          </p:nvPr>
        </p:nvSpPr>
        <p:spPr>
          <a:xfrm>
            <a:off x="0" y="457200"/>
            <a:ext cx="9144000" cy="5715000"/>
          </a:xfrm>
        </p:spPr>
        <p:txBody>
          <a:bodyPr/>
          <a:lstStyle/>
          <a:p>
            <a:pPr eaLnBrk="1" hangingPunct="1">
              <a:lnSpc>
                <a:spcPct val="90000"/>
              </a:lnSpc>
            </a:pPr>
            <a:endParaRPr lang="en-US" altLang="zh-CN" dirty="0"/>
          </a:p>
          <a:p>
            <a:pPr eaLnBrk="1" hangingPunct="1">
              <a:lnSpc>
                <a:spcPct val="90000"/>
              </a:lnSpc>
            </a:pPr>
            <a:r>
              <a:rPr lang="en-US" altLang="zh-CN" dirty="0"/>
              <a:t>1. The 1</a:t>
            </a:r>
            <a:r>
              <a:rPr lang="en-US" altLang="zh-CN" baseline="30000" dirty="0"/>
              <a:t>st</a:t>
            </a:r>
            <a:r>
              <a:rPr lang="en-US" altLang="zh-CN" dirty="0"/>
              <a:t> oxidation is catalyzed by the membrane-bound </a:t>
            </a:r>
            <a:r>
              <a:rPr lang="en-US" altLang="zh-CN" dirty="0">
                <a:solidFill>
                  <a:srgbClr val="7030A0"/>
                </a:solidFill>
              </a:rPr>
              <a:t>acyl-CoA dehydrogenase</a:t>
            </a:r>
            <a:r>
              <a:rPr lang="en-US" altLang="zh-CN" dirty="0"/>
              <a:t>, converting acyl-CoA to </a:t>
            </a:r>
            <a:r>
              <a:rPr lang="en-US" altLang="zh-CN" i="1" dirty="0">
                <a:solidFill>
                  <a:schemeClr val="accent6">
                    <a:lumMod val="75000"/>
                  </a:schemeClr>
                </a:solidFill>
              </a:rPr>
              <a:t>trans</a:t>
            </a:r>
            <a:r>
              <a:rPr lang="en-US" altLang="zh-CN" dirty="0">
                <a:solidFill>
                  <a:schemeClr val="accent6">
                    <a:lumMod val="75000"/>
                  </a:schemeClr>
                </a:solidFill>
              </a:rPr>
              <a:t>-</a:t>
            </a:r>
            <a:r>
              <a:rPr lang="en-US" altLang="zh-CN" dirty="0">
                <a:solidFill>
                  <a:schemeClr val="accent6">
                    <a:lumMod val="75000"/>
                  </a:schemeClr>
                </a:solidFill>
                <a:sym typeface="Symbol" panose="05050102010706020507" pitchFamily="18" charset="2"/>
              </a:rPr>
              <a:t></a:t>
            </a:r>
            <a:r>
              <a:rPr lang="en-US" altLang="zh-CN" baseline="30000" dirty="0">
                <a:solidFill>
                  <a:schemeClr val="accent6">
                    <a:lumMod val="75000"/>
                  </a:schemeClr>
                </a:solidFill>
              </a:rPr>
              <a:t>2</a:t>
            </a:r>
            <a:r>
              <a:rPr lang="en-US" altLang="zh-CN" dirty="0">
                <a:solidFill>
                  <a:schemeClr val="accent6">
                    <a:lumMod val="75000"/>
                  </a:schemeClr>
                </a:solidFill>
              </a:rPr>
              <a:t>-enoyl-CoA </a:t>
            </a:r>
            <a:r>
              <a:rPr lang="en-US" altLang="zh-CN" dirty="0"/>
              <a:t>with electrons collected by FAD.</a:t>
            </a:r>
          </a:p>
          <a:p>
            <a:pPr eaLnBrk="1" hangingPunct="1">
              <a:lnSpc>
                <a:spcPct val="90000"/>
              </a:lnSpc>
            </a:pPr>
            <a:r>
              <a:rPr lang="en-US" altLang="zh-CN" dirty="0"/>
              <a:t>2. The hydration step, catalyzed by  </a:t>
            </a:r>
            <a:r>
              <a:rPr lang="en-US" altLang="zh-CN" dirty="0">
                <a:solidFill>
                  <a:srgbClr val="7030A0"/>
                </a:solidFill>
              </a:rPr>
              <a:t>enoyl-CoA hydratase</a:t>
            </a:r>
            <a:r>
              <a:rPr lang="en-US" altLang="zh-CN" dirty="0"/>
              <a:t>, converts the </a:t>
            </a:r>
            <a:r>
              <a:rPr lang="en-US" altLang="zh-CN" i="1" dirty="0"/>
              <a:t>trans</a:t>
            </a:r>
            <a:r>
              <a:rPr lang="en-US" altLang="zh-CN" dirty="0"/>
              <a:t>-</a:t>
            </a:r>
            <a:r>
              <a:rPr lang="en-US" altLang="zh-CN" dirty="0">
                <a:sym typeface="Symbol" panose="05050102010706020507" pitchFamily="18" charset="2"/>
              </a:rPr>
              <a:t></a:t>
            </a:r>
            <a:r>
              <a:rPr lang="en-US" altLang="zh-CN" baseline="30000" dirty="0"/>
              <a:t>2</a:t>
            </a:r>
            <a:r>
              <a:rPr lang="en-US" altLang="zh-CN" dirty="0"/>
              <a:t>-enoyl-CoA to </a:t>
            </a:r>
            <a:r>
              <a:rPr lang="en-US" altLang="zh-CN" dirty="0">
                <a:solidFill>
                  <a:schemeClr val="accent6">
                    <a:lumMod val="75000"/>
                  </a:schemeClr>
                </a:solidFill>
              </a:rPr>
              <a:t>L-</a:t>
            </a:r>
            <a:r>
              <a:rPr lang="en-US" altLang="zh-CN" dirty="0">
                <a:solidFill>
                  <a:schemeClr val="accent6">
                    <a:lumMod val="75000"/>
                  </a:schemeClr>
                </a:solidFill>
                <a:latin typeface="Symbol" panose="05050102010706020507" pitchFamily="18" charset="2"/>
              </a:rPr>
              <a:t>b</a:t>
            </a:r>
            <a:r>
              <a:rPr lang="en-US" altLang="zh-CN" dirty="0">
                <a:solidFill>
                  <a:schemeClr val="accent6">
                    <a:lumMod val="75000"/>
                  </a:schemeClr>
                </a:solidFill>
              </a:rPr>
              <a:t>-</a:t>
            </a:r>
            <a:r>
              <a:rPr lang="en-US" altLang="zh-CN" dirty="0" err="1">
                <a:solidFill>
                  <a:schemeClr val="accent6">
                    <a:lumMod val="75000"/>
                  </a:schemeClr>
                </a:solidFill>
              </a:rPr>
              <a:t>hydroxyacyl</a:t>
            </a:r>
            <a:r>
              <a:rPr lang="en-US" altLang="zh-CN" dirty="0">
                <a:solidFill>
                  <a:schemeClr val="accent6">
                    <a:lumMod val="75000"/>
                  </a:schemeClr>
                </a:solidFill>
              </a:rPr>
              <a:t>-CoA</a:t>
            </a:r>
            <a:r>
              <a:rPr lang="en-US" altLang="zh-CN" dirty="0"/>
              <a:t>.</a:t>
            </a:r>
          </a:p>
          <a:p>
            <a:pPr eaLnBrk="1" hangingPunct="1">
              <a:lnSpc>
                <a:spcPct val="90000"/>
              </a:lnSpc>
            </a:pPr>
            <a:r>
              <a:rPr lang="en-US" altLang="zh-CN" dirty="0"/>
              <a:t>3. The second oxidation is catalyzed by </a:t>
            </a:r>
            <a:r>
              <a:rPr lang="en-US" altLang="zh-CN" dirty="0">
                <a:solidFill>
                  <a:srgbClr val="7030A0"/>
                </a:solidFill>
              </a:rPr>
              <a:t>L-</a:t>
            </a:r>
            <a:r>
              <a:rPr lang="en-US" altLang="zh-CN" dirty="0">
                <a:solidFill>
                  <a:srgbClr val="7030A0"/>
                </a:solidFill>
                <a:latin typeface="Symbol" panose="05050102010706020507" pitchFamily="18" charset="2"/>
              </a:rPr>
              <a:t>b</a:t>
            </a:r>
            <a:r>
              <a:rPr lang="en-US" altLang="zh-CN" dirty="0">
                <a:solidFill>
                  <a:srgbClr val="7030A0"/>
                </a:solidFill>
              </a:rPr>
              <a:t>-</a:t>
            </a:r>
            <a:r>
              <a:rPr lang="en-US" altLang="zh-CN" dirty="0" err="1">
                <a:solidFill>
                  <a:srgbClr val="7030A0"/>
                </a:solidFill>
              </a:rPr>
              <a:t>hydroxyacyl</a:t>
            </a:r>
            <a:r>
              <a:rPr lang="en-US" altLang="zh-CN" dirty="0">
                <a:solidFill>
                  <a:srgbClr val="7030A0"/>
                </a:solidFill>
              </a:rPr>
              <a:t>-CoA dehydrogenase</a:t>
            </a:r>
            <a:r>
              <a:rPr lang="en-US" altLang="zh-CN" dirty="0"/>
              <a:t>, converting L-</a:t>
            </a:r>
            <a:r>
              <a:rPr lang="en-US" altLang="zh-CN" dirty="0">
                <a:latin typeface="Symbol" panose="05050102010706020507" pitchFamily="18" charset="2"/>
              </a:rPr>
              <a:t>b</a:t>
            </a:r>
            <a:r>
              <a:rPr lang="en-US" altLang="zh-CN" dirty="0"/>
              <a:t>-</a:t>
            </a:r>
            <a:r>
              <a:rPr lang="en-US" altLang="zh-CN" dirty="0" err="1"/>
              <a:t>hydroxylacyl</a:t>
            </a:r>
            <a:r>
              <a:rPr lang="en-US" altLang="zh-CN" dirty="0"/>
              <a:t>-CoA to </a:t>
            </a:r>
            <a:r>
              <a:rPr lang="en-US" altLang="zh-CN" dirty="0">
                <a:solidFill>
                  <a:schemeClr val="accent6">
                    <a:lumMod val="75000"/>
                  </a:schemeClr>
                </a:solidFill>
                <a:latin typeface="Symbol" panose="05050102010706020507" pitchFamily="18" charset="2"/>
              </a:rPr>
              <a:t>b</a:t>
            </a:r>
            <a:r>
              <a:rPr lang="en-US" altLang="zh-CN" dirty="0">
                <a:solidFill>
                  <a:schemeClr val="accent6">
                    <a:lumMod val="75000"/>
                  </a:schemeClr>
                </a:solidFill>
              </a:rPr>
              <a:t>-ketoacyl-CoA</a:t>
            </a:r>
            <a:r>
              <a:rPr lang="en-US" altLang="zh-CN" dirty="0"/>
              <a:t>, with electrons collected by NAD</a:t>
            </a:r>
            <a:r>
              <a:rPr lang="en-US" altLang="zh-CN" baseline="30000" dirty="0"/>
              <a:t>+</a:t>
            </a:r>
            <a:r>
              <a:rPr lang="en-US" altLang="zh-CN" dirty="0"/>
              <a:t>.</a:t>
            </a:r>
          </a:p>
        </p:txBody>
      </p:sp>
    </p:spTree>
    <p:extLst>
      <p:ext uri="{BB962C8B-B14F-4D97-AF65-F5344CB8AC3E}">
        <p14:creationId xmlns:p14="http://schemas.microsoft.com/office/powerpoint/2010/main" val="237854292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7773DE35-BAC5-4473-8823-DED9546A0AB2}"/>
              </a:ext>
            </a:extLst>
          </p:cNvPr>
          <p:cNvSpPr>
            <a:spLocks noGrp="1" noChangeArrowheads="1"/>
          </p:cNvSpPr>
          <p:nvPr>
            <p:ph type="title" idx="4294967295"/>
          </p:nvPr>
        </p:nvSpPr>
        <p:spPr>
          <a:xfrm flipV="1">
            <a:off x="0" y="0"/>
            <a:ext cx="7772400" cy="76200"/>
          </a:xfrm>
        </p:spPr>
        <p:txBody>
          <a:bodyPr/>
          <a:lstStyle/>
          <a:p>
            <a:pPr eaLnBrk="1" hangingPunct="1"/>
            <a:r>
              <a:rPr lang="en-US" altLang="zh-CN"/>
              <a:t> </a:t>
            </a:r>
          </a:p>
        </p:txBody>
      </p:sp>
      <p:sp>
        <p:nvSpPr>
          <p:cNvPr id="30723" name="Rectangle 3">
            <a:extLst>
              <a:ext uri="{FF2B5EF4-FFF2-40B4-BE49-F238E27FC236}">
                <a16:creationId xmlns:a16="http://schemas.microsoft.com/office/drawing/2014/main" id="{AFD378A2-18F1-420A-81F6-CE8645D8541A}"/>
              </a:ext>
            </a:extLst>
          </p:cNvPr>
          <p:cNvSpPr>
            <a:spLocks noGrp="1" noChangeArrowheads="1"/>
          </p:cNvSpPr>
          <p:nvPr>
            <p:ph type="body" idx="4294967295"/>
          </p:nvPr>
        </p:nvSpPr>
        <p:spPr>
          <a:xfrm>
            <a:off x="0" y="685800"/>
            <a:ext cx="9144000" cy="5715000"/>
          </a:xfrm>
        </p:spPr>
        <p:txBody>
          <a:bodyPr/>
          <a:lstStyle/>
          <a:p>
            <a:pPr eaLnBrk="1" hangingPunct="1">
              <a:lnSpc>
                <a:spcPct val="120000"/>
              </a:lnSpc>
            </a:pPr>
            <a:r>
              <a:rPr lang="en-US" altLang="zh-CN" dirty="0"/>
              <a:t>4. The </a:t>
            </a:r>
            <a:r>
              <a:rPr lang="en-US" altLang="zh-CN" dirty="0">
                <a:solidFill>
                  <a:srgbClr val="7030A0"/>
                </a:solidFill>
              </a:rPr>
              <a:t>acyl-CoA acetyltransferase </a:t>
            </a:r>
            <a:r>
              <a:rPr lang="en-US" altLang="zh-CN" dirty="0"/>
              <a:t>(or </a:t>
            </a:r>
            <a:r>
              <a:rPr lang="en-US" altLang="zh-CN" dirty="0" err="1"/>
              <a:t>commoly</a:t>
            </a:r>
            <a:r>
              <a:rPr lang="en-US" altLang="zh-CN" dirty="0"/>
              <a:t> called </a:t>
            </a:r>
            <a:r>
              <a:rPr lang="en-US" altLang="zh-CN" dirty="0" err="1">
                <a:solidFill>
                  <a:srgbClr val="7030A0"/>
                </a:solidFill>
              </a:rPr>
              <a:t>thiolase</a:t>
            </a:r>
            <a:r>
              <a:rPr lang="en-US" altLang="zh-CN" dirty="0"/>
              <a:t>) catalyzes the attack of CoA, cleaving </a:t>
            </a:r>
            <a:r>
              <a:rPr lang="en-US" altLang="zh-CN" dirty="0">
                <a:latin typeface="Symbol" panose="05050102010706020507" pitchFamily="18" charset="2"/>
              </a:rPr>
              <a:t>b</a:t>
            </a:r>
            <a:r>
              <a:rPr lang="en-US" altLang="zh-CN" dirty="0"/>
              <a:t>-ketoacyl-CoA between the </a:t>
            </a:r>
            <a:r>
              <a:rPr lang="en-US" altLang="zh-CN" dirty="0">
                <a:latin typeface="Symbol" panose="05050102010706020507" pitchFamily="18" charset="2"/>
              </a:rPr>
              <a:t>a</a:t>
            </a:r>
            <a:r>
              <a:rPr lang="en-US" altLang="zh-CN" dirty="0"/>
              <a:t> and </a:t>
            </a:r>
            <a:r>
              <a:rPr lang="en-US" altLang="zh-CN" dirty="0">
                <a:latin typeface="Symbol" panose="05050102010706020507" pitchFamily="18" charset="2"/>
              </a:rPr>
              <a:t>b</a:t>
            </a:r>
            <a:r>
              <a:rPr lang="en-US" altLang="zh-CN" dirty="0"/>
              <a:t> carbon (</a:t>
            </a:r>
            <a:r>
              <a:rPr lang="en-US" altLang="zh-CN" dirty="0" err="1">
                <a:solidFill>
                  <a:schemeClr val="accent6">
                    <a:lumMod val="75000"/>
                  </a:schemeClr>
                </a:solidFill>
              </a:rPr>
              <a:t>thiolysis</a:t>
            </a:r>
            <a:r>
              <a:rPr lang="en-US" altLang="zh-CN" dirty="0"/>
              <a:t>), generating two acyl-CoA molecules with one entering the citric acid cycle and the other reenter the </a:t>
            </a:r>
            <a:r>
              <a:rPr lang="en-US" altLang="zh-CN" dirty="0">
                <a:latin typeface="Symbol" panose="05050102010706020507" pitchFamily="18" charset="2"/>
              </a:rPr>
              <a:t>b</a:t>
            </a:r>
            <a:r>
              <a:rPr lang="en-US" altLang="zh-CN" dirty="0"/>
              <a:t> oxidation pathway.</a:t>
            </a:r>
          </a:p>
        </p:txBody>
      </p:sp>
    </p:spTree>
    <p:extLst>
      <p:ext uri="{BB962C8B-B14F-4D97-AF65-F5344CB8AC3E}">
        <p14:creationId xmlns:p14="http://schemas.microsoft.com/office/powerpoint/2010/main" val="81546150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6" name="Picture 1028">
            <a:extLst>
              <a:ext uri="{FF2B5EF4-FFF2-40B4-BE49-F238E27FC236}">
                <a16:creationId xmlns:a16="http://schemas.microsoft.com/office/drawing/2014/main" id="{44382EF3-821B-4B24-9FAD-0F26E202CF1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b="10001"/>
          <a:stretch>
            <a:fillRect/>
          </a:stretch>
        </p:blipFill>
        <p:spPr bwMode="auto">
          <a:xfrm>
            <a:off x="3048000" y="1143000"/>
            <a:ext cx="5241925"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47" name="Text Box 1029">
            <a:extLst>
              <a:ext uri="{FF2B5EF4-FFF2-40B4-BE49-F238E27FC236}">
                <a16:creationId xmlns:a16="http://schemas.microsoft.com/office/drawing/2014/main" id="{925A0561-DE17-46B5-BFA3-8585F182D2BA}"/>
              </a:ext>
            </a:extLst>
          </p:cNvPr>
          <p:cNvSpPr txBox="1">
            <a:spLocks noChangeArrowheads="1"/>
          </p:cNvSpPr>
          <p:nvPr/>
        </p:nvSpPr>
        <p:spPr bwMode="auto">
          <a:xfrm>
            <a:off x="0" y="304800"/>
            <a:ext cx="38862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buFontTx/>
              <a:buChar char="•"/>
            </a:pPr>
            <a:r>
              <a:rPr lang="en-US" altLang="zh-CN" sz="4400" dirty="0" err="1">
                <a:solidFill>
                  <a:srgbClr val="0000FF"/>
                </a:solidFill>
              </a:rPr>
              <a:t>Emergy</a:t>
            </a:r>
            <a:r>
              <a:rPr lang="en-US" altLang="zh-CN" sz="4400" dirty="0">
                <a:solidFill>
                  <a:srgbClr val="0000FF"/>
                </a:solidFill>
              </a:rPr>
              <a:t> yield</a:t>
            </a:r>
            <a:endParaRPr lang="en-US" altLang="zh-CN" dirty="0">
              <a:solidFill>
                <a:srgbClr val="0000FF"/>
              </a:solidFill>
            </a:endParaRPr>
          </a:p>
        </p:txBody>
      </p:sp>
      <p:sp>
        <p:nvSpPr>
          <p:cNvPr id="31748" name="Text Box 1030">
            <a:extLst>
              <a:ext uri="{FF2B5EF4-FFF2-40B4-BE49-F238E27FC236}">
                <a16:creationId xmlns:a16="http://schemas.microsoft.com/office/drawing/2014/main" id="{8267CD87-D6F9-45E9-A900-11B668B19808}"/>
              </a:ext>
            </a:extLst>
          </p:cNvPr>
          <p:cNvSpPr txBox="1">
            <a:spLocks noChangeArrowheads="1"/>
          </p:cNvSpPr>
          <p:nvPr/>
        </p:nvSpPr>
        <p:spPr bwMode="auto">
          <a:xfrm>
            <a:off x="4038600" y="533400"/>
            <a:ext cx="15240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sz="4000" b="1">
                <a:latin typeface="Arial" panose="020B0604020202020204" pitchFamily="34" charset="0"/>
              </a:rPr>
              <a:t>C</a:t>
            </a:r>
            <a:r>
              <a:rPr lang="en-US" altLang="zh-CN" sz="2800" b="1">
                <a:latin typeface="Arial" panose="020B0604020202020204" pitchFamily="34" charset="0"/>
              </a:rPr>
              <a:t>16</a:t>
            </a:r>
          </a:p>
        </p:txBody>
      </p:sp>
      <p:sp>
        <p:nvSpPr>
          <p:cNvPr id="2" name="文本框 1">
            <a:extLst>
              <a:ext uri="{FF2B5EF4-FFF2-40B4-BE49-F238E27FC236}">
                <a16:creationId xmlns:a16="http://schemas.microsoft.com/office/drawing/2014/main" id="{322178B5-CBB0-4371-BFA2-E99410F643ED}"/>
              </a:ext>
            </a:extLst>
          </p:cNvPr>
          <p:cNvSpPr txBox="1"/>
          <p:nvPr/>
        </p:nvSpPr>
        <p:spPr>
          <a:xfrm>
            <a:off x="2729880" y="5868561"/>
            <a:ext cx="636240" cy="584775"/>
          </a:xfrm>
          <a:prstGeom prst="rect">
            <a:avLst/>
          </a:prstGeom>
          <a:noFill/>
        </p:spPr>
        <p:txBody>
          <a:bodyPr wrap="square" rtlCol="0">
            <a:spAutoFit/>
          </a:bodyPr>
          <a:lstStyle/>
          <a:p>
            <a:r>
              <a:rPr lang="en-US" altLang="zh-CN" sz="3200" dirty="0"/>
              <a:t>2</a:t>
            </a:r>
            <a:endParaRPr lang="zh-CN" altLang="en-US" sz="3200" dirty="0"/>
          </a:p>
        </p:txBody>
      </p:sp>
    </p:spTree>
    <p:extLst>
      <p:ext uri="{BB962C8B-B14F-4D97-AF65-F5344CB8AC3E}">
        <p14:creationId xmlns:p14="http://schemas.microsoft.com/office/powerpoint/2010/main" val="92621211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74" name="Object 3">
            <a:extLst>
              <a:ext uri="{FF2B5EF4-FFF2-40B4-BE49-F238E27FC236}">
                <a16:creationId xmlns:a16="http://schemas.microsoft.com/office/drawing/2014/main" id="{7B862A8C-4450-49B7-9C9F-EBDA36C69060}"/>
              </a:ext>
            </a:extLst>
          </p:cNvPr>
          <p:cNvGraphicFramePr>
            <a:graphicFrameLocks noChangeAspect="1"/>
          </p:cNvGraphicFramePr>
          <p:nvPr/>
        </p:nvGraphicFramePr>
        <p:xfrm>
          <a:off x="2339975" y="228600"/>
          <a:ext cx="3984625" cy="6553200"/>
        </p:xfrm>
        <a:graphic>
          <a:graphicData uri="http://schemas.openxmlformats.org/presentationml/2006/ole">
            <mc:AlternateContent xmlns:mc="http://schemas.openxmlformats.org/markup-compatibility/2006">
              <mc:Choice xmlns:v="urn:schemas-microsoft-com:vml" Requires="v">
                <p:oleObj name="Image" r:id="rId2" imgW="3860317" imgH="6349206" progId="">
                  <p:embed/>
                </p:oleObj>
              </mc:Choice>
              <mc:Fallback>
                <p:oleObj name="Image" r:id="rId2" imgW="3860317" imgH="6349206" progId="">
                  <p:embed/>
                  <p:pic>
                    <p:nvPicPr>
                      <p:cNvPr id="0" name="Picture 6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39975" y="228600"/>
                        <a:ext cx="3984625" cy="6553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285393038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ext Box 2">
            <a:extLst>
              <a:ext uri="{FF2B5EF4-FFF2-40B4-BE49-F238E27FC236}">
                <a16:creationId xmlns:a16="http://schemas.microsoft.com/office/drawing/2014/main" id="{73192939-DA94-4936-8F36-758C09BF0041}"/>
              </a:ext>
            </a:extLst>
          </p:cNvPr>
          <p:cNvSpPr txBox="1">
            <a:spLocks noChangeArrowheads="1"/>
          </p:cNvSpPr>
          <p:nvPr/>
        </p:nvSpPr>
        <p:spPr bwMode="auto">
          <a:xfrm>
            <a:off x="179512" y="1700808"/>
            <a:ext cx="8534400" cy="4081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buFontTx/>
              <a:buChar char="•"/>
            </a:pPr>
            <a:r>
              <a:rPr lang="en-US" altLang="zh-CN" sz="4400" dirty="0" err="1">
                <a:solidFill>
                  <a:srgbClr val="0000FF"/>
                </a:solidFill>
              </a:rPr>
              <a:t>Emergy</a:t>
            </a:r>
            <a:r>
              <a:rPr lang="en-US" altLang="zh-CN" sz="4400" dirty="0">
                <a:solidFill>
                  <a:srgbClr val="0000FF"/>
                </a:solidFill>
              </a:rPr>
              <a:t> yield</a:t>
            </a:r>
          </a:p>
          <a:p>
            <a:pPr eaLnBrk="1" hangingPunct="1">
              <a:spcBef>
                <a:spcPct val="20000"/>
              </a:spcBef>
              <a:buFontTx/>
              <a:buChar char="•"/>
            </a:pPr>
            <a:r>
              <a:rPr lang="en-US" altLang="zh-CN" sz="3200" dirty="0"/>
              <a:t>The complete oxidization of each 16-carbon </a:t>
            </a:r>
            <a:r>
              <a:rPr lang="en-US" altLang="zh-CN" sz="3200" dirty="0">
                <a:solidFill>
                  <a:schemeClr val="accent6">
                    <a:lumMod val="75000"/>
                  </a:schemeClr>
                </a:solidFill>
              </a:rPr>
              <a:t>palmitate </a:t>
            </a:r>
            <a:r>
              <a:rPr lang="en-US" altLang="zh-CN" sz="3200" dirty="0"/>
              <a:t>(to H</a:t>
            </a:r>
            <a:r>
              <a:rPr lang="en-US" altLang="zh-CN" sz="3200" baseline="-25000" dirty="0"/>
              <a:t>2</a:t>
            </a:r>
            <a:r>
              <a:rPr lang="en-US" altLang="zh-CN" sz="3200" dirty="0"/>
              <a:t>O and CO</a:t>
            </a:r>
            <a:r>
              <a:rPr lang="en-US" altLang="zh-CN" sz="3200" baseline="-25000" dirty="0"/>
              <a:t>2</a:t>
            </a:r>
            <a:r>
              <a:rPr lang="en-US" altLang="zh-CN" sz="3200" dirty="0"/>
              <a:t>) yields </a:t>
            </a:r>
            <a:r>
              <a:rPr lang="en-US" altLang="zh-CN" sz="3200" dirty="0">
                <a:solidFill>
                  <a:srgbClr val="FF0000"/>
                </a:solidFill>
              </a:rPr>
              <a:t>106 </a:t>
            </a:r>
            <a:r>
              <a:rPr lang="en-US" altLang="zh-CN" sz="3200" dirty="0"/>
              <a:t>ATP </a:t>
            </a:r>
          </a:p>
          <a:p>
            <a:pPr eaLnBrk="1" hangingPunct="1">
              <a:spcBef>
                <a:spcPct val="20000"/>
              </a:spcBef>
              <a:buFontTx/>
              <a:buChar char="•"/>
            </a:pPr>
            <a:endParaRPr lang="en-US" altLang="zh-CN" sz="3200" dirty="0"/>
          </a:p>
          <a:p>
            <a:pPr eaLnBrk="1" hangingPunct="1">
              <a:spcBef>
                <a:spcPct val="20000"/>
              </a:spcBef>
              <a:buFontTx/>
              <a:buChar char="•"/>
            </a:pPr>
            <a:r>
              <a:rPr lang="en-US" altLang="zh-CN" sz="3200" dirty="0"/>
              <a:t>(</a:t>
            </a:r>
            <a:r>
              <a:rPr lang="en-US" altLang="zh-CN" sz="3200" dirty="0">
                <a:solidFill>
                  <a:srgbClr val="FF0000"/>
                </a:solidFill>
              </a:rPr>
              <a:t>32 </a:t>
            </a:r>
            <a:r>
              <a:rPr lang="en-US" altLang="zh-CN" sz="3200" dirty="0"/>
              <a:t>ATP per glucose, both having about 60% of actual energy recovery).</a:t>
            </a:r>
          </a:p>
          <a:p>
            <a:pPr>
              <a:spcBef>
                <a:spcPct val="50000"/>
              </a:spcBef>
            </a:pPr>
            <a:endParaRPr lang="en-US" altLang="zh-CN" dirty="0"/>
          </a:p>
        </p:txBody>
      </p:sp>
      <p:pic>
        <p:nvPicPr>
          <p:cNvPr id="2" name="图片 1">
            <a:extLst>
              <a:ext uri="{FF2B5EF4-FFF2-40B4-BE49-F238E27FC236}">
                <a16:creationId xmlns:a16="http://schemas.microsoft.com/office/drawing/2014/main" id="{CE76180D-2298-46AF-88B1-949B1F1F97AA}"/>
              </a:ext>
            </a:extLst>
          </p:cNvPr>
          <p:cNvPicPr>
            <a:picLocks noChangeAspect="1"/>
          </p:cNvPicPr>
          <p:nvPr/>
        </p:nvPicPr>
        <p:blipFill>
          <a:blip r:embed="rId3" cstate="print"/>
          <a:stretch>
            <a:fillRect/>
          </a:stretch>
        </p:blipFill>
        <p:spPr>
          <a:xfrm>
            <a:off x="395536" y="683403"/>
            <a:ext cx="7596336" cy="785344"/>
          </a:xfrm>
          <a:prstGeom prst="rect">
            <a:avLst/>
          </a:prstGeom>
        </p:spPr>
      </p:pic>
    </p:spTree>
    <p:extLst>
      <p:ext uri="{BB962C8B-B14F-4D97-AF65-F5344CB8AC3E}">
        <p14:creationId xmlns:p14="http://schemas.microsoft.com/office/powerpoint/2010/main" val="28068318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67A4F008-5FFD-46D0-896A-3CC3EBB6D35F}"/>
              </a:ext>
            </a:extLst>
          </p:cNvPr>
          <p:cNvSpPr>
            <a:spLocks noGrp="1" noChangeArrowheads="1"/>
          </p:cNvSpPr>
          <p:nvPr>
            <p:ph type="title" idx="4294967295"/>
          </p:nvPr>
        </p:nvSpPr>
        <p:spPr>
          <a:xfrm>
            <a:off x="0" y="0"/>
            <a:ext cx="9144000" cy="2209800"/>
          </a:xfrm>
        </p:spPr>
        <p:txBody>
          <a:bodyPr/>
          <a:lstStyle/>
          <a:p>
            <a:pPr eaLnBrk="1" hangingPunct="1"/>
            <a:r>
              <a:rPr lang="en-US" altLang="zh-CN" dirty="0">
                <a:solidFill>
                  <a:srgbClr val="0000FF"/>
                </a:solidFill>
              </a:rPr>
              <a:t>6. Oxidation of unsaturated fatty acids requires one or two auxiliary enzymes,  an isomerase and a reductase </a:t>
            </a:r>
          </a:p>
        </p:txBody>
      </p:sp>
      <p:sp>
        <p:nvSpPr>
          <p:cNvPr id="33795" name="Rectangle 3">
            <a:extLst>
              <a:ext uri="{FF2B5EF4-FFF2-40B4-BE49-F238E27FC236}">
                <a16:creationId xmlns:a16="http://schemas.microsoft.com/office/drawing/2014/main" id="{E2A4E000-653E-4EB6-8A5A-3BE5C1FE11A0}"/>
              </a:ext>
            </a:extLst>
          </p:cNvPr>
          <p:cNvSpPr>
            <a:spLocks noGrp="1" noChangeArrowheads="1"/>
          </p:cNvSpPr>
          <p:nvPr>
            <p:ph type="body" idx="4294967295"/>
          </p:nvPr>
        </p:nvSpPr>
        <p:spPr>
          <a:xfrm>
            <a:off x="0" y="2209800"/>
            <a:ext cx="9144000" cy="4114800"/>
          </a:xfrm>
        </p:spPr>
        <p:txBody>
          <a:bodyPr/>
          <a:lstStyle/>
          <a:p>
            <a:pPr eaLnBrk="1" hangingPunct="1">
              <a:lnSpc>
                <a:spcPct val="90000"/>
              </a:lnSpc>
            </a:pPr>
            <a:r>
              <a:rPr lang="en-US" altLang="zh-CN" dirty="0"/>
              <a:t>The </a:t>
            </a:r>
            <a:r>
              <a:rPr lang="en-US" altLang="zh-CN" dirty="0">
                <a:solidFill>
                  <a:srgbClr val="7030A0"/>
                </a:solidFill>
              </a:rPr>
              <a:t>isomerase</a:t>
            </a:r>
            <a:r>
              <a:rPr lang="en-US" altLang="zh-CN" dirty="0">
                <a:solidFill>
                  <a:srgbClr val="00FF00"/>
                </a:solidFill>
              </a:rPr>
              <a:t> </a:t>
            </a:r>
            <a:r>
              <a:rPr lang="en-US" altLang="zh-CN" dirty="0"/>
              <a:t>converts a </a:t>
            </a:r>
            <a:r>
              <a:rPr lang="en-US" altLang="zh-CN" i="1" dirty="0">
                <a:solidFill>
                  <a:schemeClr val="accent6">
                    <a:lumMod val="75000"/>
                  </a:schemeClr>
                </a:solidFill>
              </a:rPr>
              <a:t>cis</a:t>
            </a:r>
            <a:r>
              <a:rPr lang="en-US" altLang="zh-CN" dirty="0">
                <a:solidFill>
                  <a:schemeClr val="accent6">
                    <a:lumMod val="75000"/>
                  </a:schemeClr>
                </a:solidFill>
              </a:rPr>
              <a:t>-</a:t>
            </a:r>
            <a:r>
              <a:rPr lang="en-US" altLang="zh-CN" dirty="0">
                <a:solidFill>
                  <a:schemeClr val="accent6">
                    <a:lumMod val="75000"/>
                  </a:schemeClr>
                </a:solidFill>
                <a:sym typeface="Symbol" panose="05050102010706020507" pitchFamily="18" charset="2"/>
              </a:rPr>
              <a:t></a:t>
            </a:r>
            <a:r>
              <a:rPr lang="en-US" altLang="zh-CN" baseline="30000" dirty="0">
                <a:solidFill>
                  <a:schemeClr val="accent6">
                    <a:lumMod val="75000"/>
                  </a:schemeClr>
                </a:solidFill>
              </a:rPr>
              <a:t>3</a:t>
            </a:r>
            <a:r>
              <a:rPr lang="en-US" altLang="zh-CN" dirty="0">
                <a:solidFill>
                  <a:schemeClr val="accent6">
                    <a:lumMod val="75000"/>
                  </a:schemeClr>
                </a:solidFill>
              </a:rPr>
              <a:t> </a:t>
            </a:r>
            <a:r>
              <a:rPr lang="en-US" altLang="zh-CN" dirty="0"/>
              <a:t>double bond to a </a:t>
            </a:r>
            <a:r>
              <a:rPr lang="en-US" altLang="zh-CN" i="1" dirty="0">
                <a:solidFill>
                  <a:schemeClr val="accent6">
                    <a:lumMod val="75000"/>
                  </a:schemeClr>
                </a:solidFill>
              </a:rPr>
              <a:t>trans</a:t>
            </a:r>
            <a:r>
              <a:rPr lang="en-US" altLang="zh-CN" dirty="0">
                <a:solidFill>
                  <a:schemeClr val="accent6">
                    <a:lumMod val="75000"/>
                  </a:schemeClr>
                </a:solidFill>
              </a:rPr>
              <a:t>-</a:t>
            </a:r>
            <a:r>
              <a:rPr lang="en-US" altLang="zh-CN" dirty="0">
                <a:solidFill>
                  <a:schemeClr val="accent6">
                    <a:lumMod val="75000"/>
                  </a:schemeClr>
                </a:solidFill>
                <a:sym typeface="Symbol" panose="05050102010706020507" pitchFamily="18" charset="2"/>
              </a:rPr>
              <a:t></a:t>
            </a:r>
            <a:r>
              <a:rPr lang="en-US" altLang="zh-CN" baseline="30000" dirty="0">
                <a:solidFill>
                  <a:schemeClr val="accent6">
                    <a:lumMod val="75000"/>
                  </a:schemeClr>
                </a:solidFill>
              </a:rPr>
              <a:t>2</a:t>
            </a:r>
            <a:r>
              <a:rPr lang="en-US" altLang="zh-CN" dirty="0">
                <a:solidFill>
                  <a:schemeClr val="accent6">
                    <a:lumMod val="75000"/>
                  </a:schemeClr>
                </a:solidFill>
              </a:rPr>
              <a:t> </a:t>
            </a:r>
            <a:r>
              <a:rPr lang="en-US" altLang="zh-CN" dirty="0"/>
              <a:t>double bond.</a:t>
            </a:r>
          </a:p>
          <a:p>
            <a:pPr eaLnBrk="1" hangingPunct="1">
              <a:lnSpc>
                <a:spcPct val="90000"/>
              </a:lnSpc>
            </a:pPr>
            <a:r>
              <a:rPr lang="en-US" altLang="zh-CN" dirty="0"/>
              <a:t>The reductase (</a:t>
            </a:r>
            <a:r>
              <a:rPr lang="en-US" altLang="zh-CN" dirty="0">
                <a:solidFill>
                  <a:srgbClr val="7030A0"/>
                </a:solidFill>
              </a:rPr>
              <a:t>2,4-dienoyl-CoA reductase</a:t>
            </a:r>
            <a:r>
              <a:rPr lang="en-US" altLang="zh-CN" dirty="0"/>
              <a:t>) converts a </a:t>
            </a:r>
            <a:r>
              <a:rPr lang="en-US" altLang="zh-CN" i="1" dirty="0">
                <a:solidFill>
                  <a:schemeClr val="accent6">
                    <a:lumMod val="75000"/>
                  </a:schemeClr>
                </a:solidFill>
              </a:rPr>
              <a:t>trans</a:t>
            </a:r>
            <a:r>
              <a:rPr lang="en-US" altLang="zh-CN" dirty="0">
                <a:solidFill>
                  <a:schemeClr val="accent6">
                    <a:lumMod val="75000"/>
                  </a:schemeClr>
                </a:solidFill>
              </a:rPr>
              <a:t>-</a:t>
            </a:r>
            <a:r>
              <a:rPr lang="en-US" altLang="zh-CN" dirty="0">
                <a:solidFill>
                  <a:schemeClr val="accent6">
                    <a:lumMod val="75000"/>
                  </a:schemeClr>
                </a:solidFill>
                <a:sym typeface="Symbol" panose="05050102010706020507" pitchFamily="18" charset="2"/>
              </a:rPr>
              <a:t></a:t>
            </a:r>
            <a:r>
              <a:rPr lang="en-US" altLang="zh-CN" baseline="30000" dirty="0">
                <a:solidFill>
                  <a:schemeClr val="accent6">
                    <a:lumMod val="75000"/>
                  </a:schemeClr>
                </a:solidFill>
              </a:rPr>
              <a:t>2</a:t>
            </a:r>
            <a:r>
              <a:rPr lang="en-US" altLang="zh-CN" dirty="0">
                <a:solidFill>
                  <a:schemeClr val="accent6">
                    <a:lumMod val="75000"/>
                  </a:schemeClr>
                </a:solidFill>
              </a:rPr>
              <a:t>, cis-</a:t>
            </a:r>
            <a:r>
              <a:rPr lang="en-US" altLang="zh-CN" dirty="0">
                <a:solidFill>
                  <a:schemeClr val="accent6">
                    <a:lumMod val="75000"/>
                  </a:schemeClr>
                </a:solidFill>
                <a:sym typeface="Symbol" panose="05050102010706020507" pitchFamily="18" charset="2"/>
              </a:rPr>
              <a:t></a:t>
            </a:r>
            <a:r>
              <a:rPr lang="en-US" altLang="zh-CN" baseline="30000" dirty="0">
                <a:solidFill>
                  <a:schemeClr val="accent6">
                    <a:lumMod val="75000"/>
                  </a:schemeClr>
                </a:solidFill>
              </a:rPr>
              <a:t>4 </a:t>
            </a:r>
            <a:r>
              <a:rPr lang="en-US" altLang="zh-CN" dirty="0"/>
              <a:t>structure to a </a:t>
            </a:r>
            <a:r>
              <a:rPr lang="en-US" altLang="zh-CN" i="1" dirty="0">
                <a:solidFill>
                  <a:schemeClr val="accent6">
                    <a:lumMod val="75000"/>
                  </a:schemeClr>
                </a:solidFill>
              </a:rPr>
              <a:t>trans</a:t>
            </a:r>
            <a:r>
              <a:rPr lang="en-US" altLang="zh-CN" dirty="0">
                <a:solidFill>
                  <a:schemeClr val="accent6">
                    <a:lumMod val="75000"/>
                  </a:schemeClr>
                </a:solidFill>
              </a:rPr>
              <a:t>-</a:t>
            </a:r>
            <a:r>
              <a:rPr lang="en-US" altLang="zh-CN" dirty="0">
                <a:solidFill>
                  <a:schemeClr val="accent6">
                    <a:lumMod val="75000"/>
                  </a:schemeClr>
                </a:solidFill>
                <a:sym typeface="Symbol" panose="05050102010706020507" pitchFamily="18" charset="2"/>
              </a:rPr>
              <a:t></a:t>
            </a:r>
            <a:r>
              <a:rPr lang="en-US" altLang="zh-CN" baseline="30000" dirty="0">
                <a:solidFill>
                  <a:schemeClr val="accent6">
                    <a:lumMod val="75000"/>
                  </a:schemeClr>
                </a:solidFill>
              </a:rPr>
              <a:t>3</a:t>
            </a:r>
            <a:r>
              <a:rPr lang="en-US" altLang="zh-CN" dirty="0"/>
              <a:t> structure, which will be further converted to a </a:t>
            </a:r>
            <a:r>
              <a:rPr lang="en-US" altLang="zh-CN" i="1" dirty="0"/>
              <a:t>trans</a:t>
            </a:r>
            <a:r>
              <a:rPr lang="en-US" altLang="zh-CN" dirty="0"/>
              <a:t>-</a:t>
            </a:r>
            <a:r>
              <a:rPr lang="en-US" altLang="zh-CN" dirty="0">
                <a:sym typeface="Symbol" panose="05050102010706020507" pitchFamily="18" charset="2"/>
              </a:rPr>
              <a:t></a:t>
            </a:r>
            <a:r>
              <a:rPr lang="en-US" altLang="zh-CN" baseline="30000" dirty="0"/>
              <a:t>2</a:t>
            </a:r>
            <a:r>
              <a:rPr lang="en-US" altLang="zh-CN" dirty="0"/>
              <a:t>  structure by the isomerase.</a:t>
            </a:r>
          </a:p>
          <a:p>
            <a:pPr eaLnBrk="1" hangingPunct="1">
              <a:lnSpc>
                <a:spcPct val="90000"/>
              </a:lnSpc>
            </a:pPr>
            <a:r>
              <a:rPr lang="en-US" altLang="zh-CN" dirty="0">
                <a:solidFill>
                  <a:schemeClr val="accent6">
                    <a:lumMod val="75000"/>
                  </a:schemeClr>
                </a:solidFill>
              </a:rPr>
              <a:t>NADPH</a:t>
            </a:r>
            <a:r>
              <a:rPr lang="en-US" altLang="zh-CN" dirty="0"/>
              <a:t> is needed for the reduction (from two double bonds to one).</a:t>
            </a:r>
          </a:p>
        </p:txBody>
      </p:sp>
    </p:spTree>
    <p:extLst>
      <p:ext uri="{BB962C8B-B14F-4D97-AF65-F5344CB8AC3E}">
        <p14:creationId xmlns:p14="http://schemas.microsoft.com/office/powerpoint/2010/main" val="210414806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4">
            <a:extLst>
              <a:ext uri="{FF2B5EF4-FFF2-40B4-BE49-F238E27FC236}">
                <a16:creationId xmlns:a16="http://schemas.microsoft.com/office/drawing/2014/main" id="{FEA8CA08-7874-4AEA-A3E7-F4703B327562}"/>
              </a:ext>
            </a:extLst>
          </p:cNvPr>
          <p:cNvSpPr>
            <a:spLocks noChangeArrowheads="1"/>
          </p:cNvSpPr>
          <p:nvPr/>
        </p:nvSpPr>
        <p:spPr bwMode="auto">
          <a:xfrm>
            <a:off x="5791200" y="0"/>
            <a:ext cx="3377848" cy="40318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200" b="1" dirty="0">
                <a:solidFill>
                  <a:srgbClr val="0000FF"/>
                </a:solidFill>
              </a:rPr>
              <a:t>Oxidation of a</a:t>
            </a:r>
          </a:p>
          <a:p>
            <a:pPr eaLnBrk="1" hangingPunct="1"/>
            <a:r>
              <a:rPr lang="en-US" altLang="zh-CN" sz="3200" b="1" dirty="0">
                <a:solidFill>
                  <a:srgbClr val="0000FF"/>
                </a:solidFill>
              </a:rPr>
              <a:t>monounsaturated</a:t>
            </a:r>
          </a:p>
          <a:p>
            <a:pPr eaLnBrk="1" hangingPunct="1"/>
            <a:r>
              <a:rPr lang="en-US" altLang="zh-CN" sz="3200" b="1" dirty="0">
                <a:solidFill>
                  <a:srgbClr val="0000FF"/>
                </a:solidFill>
              </a:rPr>
              <a:t>fatty acid: the </a:t>
            </a:r>
          </a:p>
          <a:p>
            <a:pPr eaLnBrk="1" hangingPunct="1"/>
            <a:r>
              <a:rPr lang="en-US" altLang="zh-CN" sz="3200" b="1" dirty="0">
                <a:solidFill>
                  <a:srgbClr val="0000FF"/>
                </a:solidFill>
              </a:rPr>
              <a:t>enoyl-CoA </a:t>
            </a:r>
          </a:p>
          <a:p>
            <a:pPr eaLnBrk="1" hangingPunct="1"/>
            <a:r>
              <a:rPr lang="en-US" altLang="zh-CN" sz="3200" b="1" dirty="0">
                <a:solidFill>
                  <a:srgbClr val="0000FF"/>
                </a:solidFill>
              </a:rPr>
              <a:t>isomerase helps to</a:t>
            </a:r>
          </a:p>
          <a:p>
            <a:pPr eaLnBrk="1" hangingPunct="1"/>
            <a:r>
              <a:rPr lang="en-US" altLang="zh-CN" sz="3200" b="1" dirty="0">
                <a:solidFill>
                  <a:srgbClr val="0000FF"/>
                </a:solidFill>
              </a:rPr>
              <a:t>reposition the </a:t>
            </a:r>
          </a:p>
          <a:p>
            <a:pPr eaLnBrk="1" hangingPunct="1"/>
            <a:r>
              <a:rPr lang="en-US" altLang="zh-CN" sz="3200" b="1" dirty="0">
                <a:solidFill>
                  <a:srgbClr val="0000FF"/>
                </a:solidFill>
              </a:rPr>
              <a:t>double bond</a:t>
            </a:r>
          </a:p>
          <a:p>
            <a:pPr eaLnBrk="1" hangingPunct="1"/>
            <a:endParaRPr lang="en-US" altLang="zh-CN" sz="3200" b="1" dirty="0">
              <a:solidFill>
                <a:srgbClr val="0000FF"/>
              </a:solidFill>
            </a:endParaRPr>
          </a:p>
        </p:txBody>
      </p:sp>
      <p:graphicFrame>
        <p:nvGraphicFramePr>
          <p:cNvPr id="4098" name="Object 7">
            <a:extLst>
              <a:ext uri="{FF2B5EF4-FFF2-40B4-BE49-F238E27FC236}">
                <a16:creationId xmlns:a16="http://schemas.microsoft.com/office/drawing/2014/main" id="{ED7EF70B-3A62-4095-A1B2-9072E36F090F}"/>
              </a:ext>
            </a:extLst>
          </p:cNvPr>
          <p:cNvGraphicFramePr>
            <a:graphicFrameLocks noChangeAspect="1"/>
          </p:cNvGraphicFramePr>
          <p:nvPr/>
        </p:nvGraphicFramePr>
        <p:xfrm>
          <a:off x="0" y="76200"/>
          <a:ext cx="5764213" cy="6629400"/>
        </p:xfrm>
        <a:graphic>
          <a:graphicData uri="http://schemas.openxmlformats.org/presentationml/2006/ole">
            <mc:AlternateContent xmlns:mc="http://schemas.openxmlformats.org/markup-compatibility/2006">
              <mc:Choice xmlns:v="urn:schemas-microsoft-com:vml" Requires="v">
                <p:oleObj name="Image" r:id="rId2" imgW="7365079" imgH="8469841" progId="">
                  <p:embed/>
                </p:oleObj>
              </mc:Choice>
              <mc:Fallback>
                <p:oleObj name="Image" r:id="rId2" imgW="7365079" imgH="8469841" progId="">
                  <p:embed/>
                  <p:pic>
                    <p:nvPicPr>
                      <p:cNvPr id="0" name="Picture 6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76200"/>
                        <a:ext cx="5764213" cy="662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94748472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4">
            <a:extLst>
              <a:ext uri="{FF2B5EF4-FFF2-40B4-BE49-F238E27FC236}">
                <a16:creationId xmlns:a16="http://schemas.microsoft.com/office/drawing/2014/main" id="{D6584174-89E1-419F-AC59-32882ABF0844}"/>
              </a:ext>
            </a:extLst>
          </p:cNvPr>
          <p:cNvSpPr>
            <a:spLocks noChangeArrowheads="1"/>
          </p:cNvSpPr>
          <p:nvPr/>
        </p:nvSpPr>
        <p:spPr bwMode="auto">
          <a:xfrm>
            <a:off x="5105400" y="304800"/>
            <a:ext cx="4172489" cy="2554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200" b="1" dirty="0">
                <a:solidFill>
                  <a:srgbClr val="0000FF"/>
                </a:solidFill>
              </a:rPr>
              <a:t>Both an isomerase and</a:t>
            </a:r>
          </a:p>
          <a:p>
            <a:pPr eaLnBrk="1" hangingPunct="1"/>
            <a:r>
              <a:rPr lang="en-US" altLang="zh-CN" sz="3200" b="1" dirty="0">
                <a:solidFill>
                  <a:srgbClr val="0000FF"/>
                </a:solidFill>
              </a:rPr>
              <a:t>a reductase are needed</a:t>
            </a:r>
          </a:p>
          <a:p>
            <a:pPr eaLnBrk="1" hangingPunct="1"/>
            <a:r>
              <a:rPr lang="en-US" altLang="zh-CN" sz="3200" b="1" dirty="0">
                <a:solidFill>
                  <a:srgbClr val="0000FF"/>
                </a:solidFill>
              </a:rPr>
              <a:t>for oxidizing </a:t>
            </a:r>
          </a:p>
          <a:p>
            <a:pPr eaLnBrk="1" hangingPunct="1"/>
            <a:r>
              <a:rPr lang="en-US" altLang="zh-CN" sz="3200" b="1" dirty="0">
                <a:solidFill>
                  <a:srgbClr val="0000FF"/>
                </a:solidFill>
              </a:rPr>
              <a:t>polyunsaturated fatty </a:t>
            </a:r>
          </a:p>
          <a:p>
            <a:pPr eaLnBrk="1" hangingPunct="1"/>
            <a:r>
              <a:rPr lang="en-US" altLang="zh-CN" sz="3200" b="1" dirty="0">
                <a:solidFill>
                  <a:srgbClr val="0000FF"/>
                </a:solidFill>
              </a:rPr>
              <a:t>acids.</a:t>
            </a:r>
          </a:p>
        </p:txBody>
      </p:sp>
      <p:pic>
        <p:nvPicPr>
          <p:cNvPr id="34819" name="Picture 5">
            <a:extLst>
              <a:ext uri="{FF2B5EF4-FFF2-40B4-BE49-F238E27FC236}">
                <a16:creationId xmlns:a16="http://schemas.microsoft.com/office/drawing/2014/main" id="{E811E4A9-F458-41B5-AAA0-9DB9629C432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200" y="0"/>
            <a:ext cx="50292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8646713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2" name="Picture 5">
            <a:extLst>
              <a:ext uri="{FF2B5EF4-FFF2-40B4-BE49-F238E27FC236}">
                <a16:creationId xmlns:a16="http://schemas.microsoft.com/office/drawing/2014/main" id="{919243F6-C7B6-471C-BF43-614B853239EB}"/>
              </a:ext>
            </a:extLst>
          </p:cNvPr>
          <p:cNvPicPr>
            <a:picLocks noChangeAspect="1" noChangeArrowheads="1"/>
          </p:cNvPicPr>
          <p:nvPr/>
        </p:nvPicPr>
        <p:blipFill>
          <a:blip r:embed="rId2" cstate="print">
            <a:lum contrast="-10000"/>
            <a:extLst>
              <a:ext uri="{28A0092B-C50C-407E-A947-70E740481C1C}">
                <a14:useLocalDpi xmlns:a14="http://schemas.microsoft.com/office/drawing/2010/main" val="0"/>
              </a:ext>
            </a:extLst>
          </a:blip>
          <a:srcRect b="51042"/>
          <a:stretch>
            <a:fillRect/>
          </a:stretch>
        </p:blipFill>
        <p:spPr bwMode="auto">
          <a:xfrm>
            <a:off x="467544" y="188640"/>
            <a:ext cx="7814071" cy="52169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5">
            <a:extLst>
              <a:ext uri="{FF2B5EF4-FFF2-40B4-BE49-F238E27FC236}">
                <a16:creationId xmlns:a16="http://schemas.microsoft.com/office/drawing/2014/main" id="{82866E99-CBF5-44DA-BDAD-D0C73933AF11}"/>
              </a:ext>
            </a:extLst>
          </p:cNvPr>
          <p:cNvPicPr>
            <a:picLocks noChangeAspect="1" noChangeArrowheads="1"/>
          </p:cNvPicPr>
          <p:nvPr/>
        </p:nvPicPr>
        <p:blipFill rotWithShape="1">
          <a:blip r:embed="rId2" cstate="print">
            <a:lum contrast="-10000"/>
            <a:extLst>
              <a:ext uri="{28A0092B-C50C-407E-A947-70E740481C1C}">
                <a14:useLocalDpi xmlns:a14="http://schemas.microsoft.com/office/drawing/2010/main" val="0"/>
              </a:ext>
            </a:extLst>
          </a:blip>
          <a:srcRect l="92859" t="29183" b="66280"/>
          <a:stretch/>
        </p:blipFill>
        <p:spPr bwMode="auto">
          <a:xfrm>
            <a:off x="2755032" y="5184010"/>
            <a:ext cx="558031" cy="483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5">
            <a:extLst>
              <a:ext uri="{FF2B5EF4-FFF2-40B4-BE49-F238E27FC236}">
                <a16:creationId xmlns:a16="http://schemas.microsoft.com/office/drawing/2014/main" id="{A97265DA-E179-4DE1-ABF7-823F0C3F968E}"/>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48585" b="42490"/>
          <a:stretch/>
        </p:blipFill>
        <p:spPr bwMode="auto">
          <a:xfrm>
            <a:off x="467544" y="5405561"/>
            <a:ext cx="8283575" cy="1008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5">
            <a:extLst>
              <a:ext uri="{FF2B5EF4-FFF2-40B4-BE49-F238E27FC236}">
                <a16:creationId xmlns:a16="http://schemas.microsoft.com/office/drawing/2014/main" id="{B44B5718-3BF0-43AC-BF07-D998D1727233}"/>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72050" t="48585" b="42490"/>
          <a:stretch/>
        </p:blipFill>
        <p:spPr bwMode="auto">
          <a:xfrm>
            <a:off x="5508104" y="5425786"/>
            <a:ext cx="2315295" cy="1008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5">
            <a:extLst>
              <a:ext uri="{FF2B5EF4-FFF2-40B4-BE49-F238E27FC236}">
                <a16:creationId xmlns:a16="http://schemas.microsoft.com/office/drawing/2014/main" id="{F095FAB8-D020-470E-B713-A19D0134953E}"/>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86727" t="53145" b="42490"/>
          <a:stretch/>
        </p:blipFill>
        <p:spPr bwMode="auto">
          <a:xfrm rot="19753326">
            <a:off x="2956961" y="5834044"/>
            <a:ext cx="332655" cy="4930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480073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866" name="Picture 5">
            <a:extLst>
              <a:ext uri="{FF2B5EF4-FFF2-40B4-BE49-F238E27FC236}">
                <a16:creationId xmlns:a16="http://schemas.microsoft.com/office/drawing/2014/main" id="{589CC541-985F-4FBA-9F40-95DF1E305AB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t="46875"/>
          <a:stretch>
            <a:fillRect/>
          </a:stretch>
        </p:blipFill>
        <p:spPr bwMode="auto">
          <a:xfrm>
            <a:off x="500063" y="571500"/>
            <a:ext cx="8283575" cy="600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2590835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0" name="Picture 2" descr="unsaturated acylCoA">
            <a:extLst>
              <a:ext uri="{FF2B5EF4-FFF2-40B4-BE49-F238E27FC236}">
                <a16:creationId xmlns:a16="http://schemas.microsoft.com/office/drawing/2014/main" id="{AB68C523-3806-484E-A2B7-DBB9AC16F17B}"/>
              </a:ext>
            </a:extLst>
          </p:cNvPr>
          <p:cNvPicPr>
            <a:picLocks noChangeAspect="1" noChangeArrowheads="1"/>
          </p:cNvPicPr>
          <p:nvPr/>
        </p:nvPicPr>
        <p:blipFill>
          <a:blip r:embed="rId2" cstate="print">
            <a:lum contrast="40000"/>
            <a:extLst>
              <a:ext uri="{28A0092B-C50C-407E-A947-70E740481C1C}">
                <a14:useLocalDpi xmlns:a14="http://schemas.microsoft.com/office/drawing/2010/main" val="0"/>
              </a:ext>
            </a:extLst>
          </a:blip>
          <a:srcRect l="6642" t="4445" r="9660" b="6667"/>
          <a:stretch>
            <a:fillRect/>
          </a:stretch>
        </p:blipFill>
        <p:spPr bwMode="auto">
          <a:xfrm>
            <a:off x="1609725" y="0"/>
            <a:ext cx="5400675"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6229886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609A3F65-1458-4101-BA56-E12F832D8840}"/>
              </a:ext>
            </a:extLst>
          </p:cNvPr>
          <p:cNvSpPr>
            <a:spLocks noGrp="1" noChangeArrowheads="1"/>
          </p:cNvSpPr>
          <p:nvPr>
            <p:ph type="title" idx="4294967295"/>
          </p:nvPr>
        </p:nvSpPr>
        <p:spPr>
          <a:xfrm>
            <a:off x="0" y="152400"/>
            <a:ext cx="9144000" cy="1828800"/>
          </a:xfrm>
        </p:spPr>
        <p:txBody>
          <a:bodyPr/>
          <a:lstStyle/>
          <a:p>
            <a:pPr eaLnBrk="1" hangingPunct="1"/>
            <a:r>
              <a:rPr lang="en-US" altLang="zh-CN" dirty="0">
                <a:solidFill>
                  <a:srgbClr val="0000FF"/>
                </a:solidFill>
              </a:rPr>
              <a:t>7. The oxidation of odd-chain fatty acids forms C3 propionyl-CoA</a:t>
            </a:r>
          </a:p>
        </p:txBody>
      </p:sp>
      <p:sp>
        <p:nvSpPr>
          <p:cNvPr id="38915" name="Rectangle 3">
            <a:extLst>
              <a:ext uri="{FF2B5EF4-FFF2-40B4-BE49-F238E27FC236}">
                <a16:creationId xmlns:a16="http://schemas.microsoft.com/office/drawing/2014/main" id="{4FC4E493-928C-4454-9E37-ED02F75C68FF}"/>
              </a:ext>
            </a:extLst>
          </p:cNvPr>
          <p:cNvSpPr>
            <a:spLocks noGrp="1" noChangeArrowheads="1"/>
          </p:cNvSpPr>
          <p:nvPr>
            <p:ph type="body" idx="4294967295"/>
          </p:nvPr>
        </p:nvSpPr>
        <p:spPr>
          <a:xfrm>
            <a:off x="0" y="2057400"/>
            <a:ext cx="9144000" cy="4114800"/>
          </a:xfrm>
        </p:spPr>
        <p:txBody>
          <a:bodyPr/>
          <a:lstStyle/>
          <a:p>
            <a:pPr eaLnBrk="1" hangingPunct="1"/>
            <a:r>
              <a:rPr lang="en-US" altLang="zh-CN" dirty="0"/>
              <a:t>Fatty acids having an odd number of carbon atoms are also degraded by the </a:t>
            </a:r>
            <a:r>
              <a:rPr lang="en-US" altLang="zh-CN" dirty="0">
                <a:solidFill>
                  <a:schemeClr val="accent6">
                    <a:lumMod val="75000"/>
                  </a:schemeClr>
                </a:solidFill>
                <a:latin typeface="Symbol" panose="05050102010706020507" pitchFamily="18" charset="2"/>
              </a:rPr>
              <a:t>b</a:t>
            </a:r>
            <a:r>
              <a:rPr lang="en-US" altLang="zh-CN" dirty="0">
                <a:solidFill>
                  <a:schemeClr val="accent6">
                    <a:lumMod val="75000"/>
                  </a:schemeClr>
                </a:solidFill>
              </a:rPr>
              <a:t>–oxidation </a:t>
            </a:r>
            <a:r>
              <a:rPr lang="en-US" altLang="zh-CN" dirty="0"/>
              <a:t>pathway in the same way as those with an even number of carbon atoms.</a:t>
            </a:r>
          </a:p>
          <a:p>
            <a:pPr eaLnBrk="1" hangingPunct="1"/>
            <a:r>
              <a:rPr lang="en-US" altLang="zh-CN" dirty="0"/>
              <a:t>The only difference is that in the final round the five carbon acyl CoA intermediate is cleaved into C3 </a:t>
            </a:r>
            <a:r>
              <a:rPr lang="en-US" altLang="zh-CN" b="1" dirty="0">
                <a:solidFill>
                  <a:schemeClr val="accent6">
                    <a:lumMod val="75000"/>
                  </a:schemeClr>
                </a:solidFill>
              </a:rPr>
              <a:t>propionyl CoA</a:t>
            </a:r>
            <a:r>
              <a:rPr lang="en-US" altLang="zh-CN" dirty="0">
                <a:solidFill>
                  <a:schemeClr val="accent6">
                    <a:lumMod val="75000"/>
                  </a:schemeClr>
                </a:solidFill>
              </a:rPr>
              <a:t> </a:t>
            </a:r>
            <a:r>
              <a:rPr lang="en-US" altLang="zh-CN" dirty="0"/>
              <a:t>and acetyl CoA.</a:t>
            </a:r>
          </a:p>
        </p:txBody>
      </p:sp>
    </p:spTree>
    <p:extLst>
      <p:ext uri="{BB962C8B-B14F-4D97-AF65-F5344CB8AC3E}">
        <p14:creationId xmlns:p14="http://schemas.microsoft.com/office/powerpoint/2010/main" val="67462686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386685DE-AC76-4B2A-BC1D-4AD45A14FE99}"/>
              </a:ext>
            </a:extLst>
          </p:cNvPr>
          <p:cNvSpPr>
            <a:spLocks noGrp="1" noChangeArrowheads="1"/>
          </p:cNvSpPr>
          <p:nvPr>
            <p:ph type="title" idx="4294967295"/>
          </p:nvPr>
        </p:nvSpPr>
        <p:spPr>
          <a:xfrm>
            <a:off x="533400" y="457200"/>
            <a:ext cx="8610600" cy="1143000"/>
          </a:xfrm>
        </p:spPr>
        <p:txBody>
          <a:bodyPr/>
          <a:lstStyle/>
          <a:p>
            <a:pPr eaLnBrk="1" hangingPunct="1"/>
            <a:r>
              <a:rPr lang="en-US" altLang="zh-CN" dirty="0">
                <a:solidFill>
                  <a:srgbClr val="0000FF"/>
                </a:solidFill>
              </a:rPr>
              <a:t>8. Fatty acid oxidation also occurs in peroxisomes (glyoxysomes)</a:t>
            </a:r>
          </a:p>
        </p:txBody>
      </p:sp>
      <p:sp>
        <p:nvSpPr>
          <p:cNvPr id="39939" name="Rectangle 3">
            <a:extLst>
              <a:ext uri="{FF2B5EF4-FFF2-40B4-BE49-F238E27FC236}">
                <a16:creationId xmlns:a16="http://schemas.microsoft.com/office/drawing/2014/main" id="{1CF344E9-F4E7-4759-8E3F-B64819ED6270}"/>
              </a:ext>
            </a:extLst>
          </p:cNvPr>
          <p:cNvSpPr>
            <a:spLocks noGrp="1" noChangeArrowheads="1"/>
          </p:cNvSpPr>
          <p:nvPr>
            <p:ph type="body" idx="4294967295"/>
          </p:nvPr>
        </p:nvSpPr>
        <p:spPr>
          <a:xfrm>
            <a:off x="0" y="1981200"/>
            <a:ext cx="9144000" cy="4114800"/>
          </a:xfrm>
        </p:spPr>
        <p:txBody>
          <a:bodyPr/>
          <a:lstStyle/>
          <a:p>
            <a:pPr eaLnBrk="1" hangingPunct="1"/>
            <a:r>
              <a:rPr lang="en-US" altLang="zh-CN" dirty="0">
                <a:solidFill>
                  <a:schemeClr val="accent6">
                    <a:lumMod val="75000"/>
                  </a:schemeClr>
                </a:solidFill>
              </a:rPr>
              <a:t>Peroxisome</a:t>
            </a:r>
            <a:r>
              <a:rPr lang="en-US" altLang="zh-CN" dirty="0"/>
              <a:t> is now recognized as the principal organelle in which fatty acids are oxidized in most cell types.</a:t>
            </a:r>
          </a:p>
          <a:p>
            <a:pPr eaLnBrk="1" hangingPunct="1"/>
            <a:r>
              <a:rPr lang="en-US" altLang="zh-CN" dirty="0"/>
              <a:t>The acetyl-CoA produced </a:t>
            </a:r>
            <a:r>
              <a:rPr lang="en-US" altLang="zh-CN" dirty="0">
                <a:solidFill>
                  <a:srgbClr val="FF0000"/>
                </a:solidFill>
              </a:rPr>
              <a:t>in animal peroxisomes </a:t>
            </a:r>
            <a:r>
              <a:rPr lang="en-US" altLang="zh-CN" dirty="0"/>
              <a:t>is transported into cytosol, where it is used in the synthesis of cholesterol and other metabolites.</a:t>
            </a:r>
          </a:p>
          <a:p>
            <a:pPr eaLnBrk="1" hangingPunct="1"/>
            <a:endParaRPr lang="en-US" altLang="zh-CN" dirty="0"/>
          </a:p>
        </p:txBody>
      </p:sp>
    </p:spTree>
    <p:extLst>
      <p:ext uri="{BB962C8B-B14F-4D97-AF65-F5344CB8AC3E}">
        <p14:creationId xmlns:p14="http://schemas.microsoft.com/office/powerpoint/2010/main" val="422928853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3">
            <a:extLst>
              <a:ext uri="{FF2B5EF4-FFF2-40B4-BE49-F238E27FC236}">
                <a16:creationId xmlns:a16="http://schemas.microsoft.com/office/drawing/2014/main" id="{3D2734A7-1913-47D1-96A8-47D8B9F18EFE}"/>
              </a:ext>
            </a:extLst>
          </p:cNvPr>
          <p:cNvSpPr>
            <a:spLocks noGrp="1" noChangeArrowheads="1"/>
          </p:cNvSpPr>
          <p:nvPr>
            <p:ph type="body" idx="4294967295"/>
          </p:nvPr>
        </p:nvSpPr>
        <p:spPr>
          <a:xfrm>
            <a:off x="0" y="914400"/>
            <a:ext cx="9144000" cy="2819400"/>
          </a:xfrm>
        </p:spPr>
        <p:txBody>
          <a:bodyPr/>
          <a:lstStyle/>
          <a:p>
            <a:pPr eaLnBrk="1" hangingPunct="1">
              <a:lnSpc>
                <a:spcPct val="120000"/>
              </a:lnSpc>
            </a:pPr>
            <a:r>
              <a:rPr lang="en-US" altLang="zh-CN" dirty="0"/>
              <a:t>The acetyl-CoA produced in plant peroxisomes/ glyoxysomes (especially in germinating seeds) is converted to succinate via the glyoxylate cycle, and then to glucose via gluconeogenesis.</a:t>
            </a:r>
          </a:p>
        </p:txBody>
      </p:sp>
    </p:spTree>
    <p:extLst>
      <p:ext uri="{BB962C8B-B14F-4D97-AF65-F5344CB8AC3E}">
        <p14:creationId xmlns:p14="http://schemas.microsoft.com/office/powerpoint/2010/main" val="312090975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122" name="Object 0">
            <a:extLst>
              <a:ext uri="{FF2B5EF4-FFF2-40B4-BE49-F238E27FC236}">
                <a16:creationId xmlns:a16="http://schemas.microsoft.com/office/drawing/2014/main" id="{84724E2C-7E71-4AF4-A45F-B88DCD389889}"/>
              </a:ext>
            </a:extLst>
          </p:cNvPr>
          <p:cNvGraphicFramePr>
            <a:graphicFrameLocks noChangeAspect="1"/>
          </p:cNvGraphicFramePr>
          <p:nvPr/>
        </p:nvGraphicFramePr>
        <p:xfrm>
          <a:off x="276225" y="133350"/>
          <a:ext cx="6276975" cy="6572250"/>
        </p:xfrm>
        <a:graphic>
          <a:graphicData uri="http://schemas.openxmlformats.org/presentationml/2006/ole">
            <mc:AlternateContent xmlns:mc="http://schemas.openxmlformats.org/markup-compatibility/2006">
              <mc:Choice xmlns:v="urn:schemas-microsoft-com:vml" Requires="v">
                <p:oleObj name="Image" r:id="rId3" imgW="8368254" imgH="8761905" progId="">
                  <p:embed/>
                </p:oleObj>
              </mc:Choice>
              <mc:Fallback>
                <p:oleObj name="Image" r:id="rId3" imgW="8368254" imgH="8761905" progId="">
                  <p:embed/>
                  <p:pic>
                    <p:nvPicPr>
                      <p:cNvPr id="0" name="Picture 6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6225" y="133350"/>
                        <a:ext cx="6276975" cy="6572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123" name="Rectangle 6">
            <a:extLst>
              <a:ext uri="{FF2B5EF4-FFF2-40B4-BE49-F238E27FC236}">
                <a16:creationId xmlns:a16="http://schemas.microsoft.com/office/drawing/2014/main" id="{BF367248-9B4E-4AA8-9C74-595214F2A5C8}"/>
              </a:ext>
            </a:extLst>
          </p:cNvPr>
          <p:cNvSpPr>
            <a:spLocks noChangeArrowheads="1"/>
          </p:cNvSpPr>
          <p:nvPr/>
        </p:nvSpPr>
        <p:spPr bwMode="auto">
          <a:xfrm>
            <a:off x="5410200" y="838200"/>
            <a:ext cx="3498073" cy="156966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200" dirty="0">
                <a:solidFill>
                  <a:srgbClr val="0000FF"/>
                </a:solidFill>
                <a:sym typeface="Symbol" panose="05050102010706020507" pitchFamily="18" charset="2"/>
              </a:rPr>
              <a:t></a:t>
            </a:r>
            <a:r>
              <a:rPr lang="en-US" altLang="zh-CN" sz="3200" dirty="0">
                <a:solidFill>
                  <a:srgbClr val="0000FF"/>
                </a:solidFill>
              </a:rPr>
              <a:t>-oxidation of fatty </a:t>
            </a:r>
          </a:p>
          <a:p>
            <a:pPr eaLnBrk="1" hangingPunct="1"/>
            <a:r>
              <a:rPr lang="en-US" altLang="zh-CN" sz="3200" dirty="0">
                <a:solidFill>
                  <a:srgbClr val="0000FF"/>
                </a:solidFill>
              </a:rPr>
              <a:t>acids also occurs in</a:t>
            </a:r>
          </a:p>
          <a:p>
            <a:pPr eaLnBrk="1" hangingPunct="1"/>
            <a:r>
              <a:rPr lang="en-US" altLang="zh-CN" sz="3200" dirty="0">
                <a:solidFill>
                  <a:srgbClr val="0000FF"/>
                </a:solidFill>
              </a:rPr>
              <a:t>peroxisomes</a:t>
            </a:r>
          </a:p>
        </p:txBody>
      </p:sp>
      <p:sp>
        <p:nvSpPr>
          <p:cNvPr id="2" name="文本框 1">
            <a:extLst>
              <a:ext uri="{FF2B5EF4-FFF2-40B4-BE49-F238E27FC236}">
                <a16:creationId xmlns:a16="http://schemas.microsoft.com/office/drawing/2014/main" id="{79FAF550-C19F-4492-8113-FC4B591D4EE3}"/>
              </a:ext>
            </a:extLst>
          </p:cNvPr>
          <p:cNvSpPr txBox="1"/>
          <p:nvPr/>
        </p:nvSpPr>
        <p:spPr>
          <a:xfrm>
            <a:off x="4554088" y="1253698"/>
            <a:ext cx="959622" cy="369332"/>
          </a:xfrm>
          <a:prstGeom prst="rect">
            <a:avLst/>
          </a:prstGeom>
          <a:noFill/>
        </p:spPr>
        <p:txBody>
          <a:bodyPr wrap="none" rtlCol="0">
            <a:spAutoFit/>
          </a:bodyPr>
          <a:lstStyle/>
          <a:p>
            <a:r>
              <a:rPr lang="en-US" altLang="zh-CN" sz="1800" b="1" i="0" dirty="0">
                <a:solidFill>
                  <a:srgbClr val="242021"/>
                </a:solidFill>
                <a:effectLst/>
                <a:latin typeface="CenturyStd-Bold"/>
              </a:rPr>
              <a:t>catalase</a:t>
            </a:r>
            <a:endParaRPr lang="zh-CN" altLang="en-US" dirty="0"/>
          </a:p>
        </p:txBody>
      </p:sp>
    </p:spTree>
    <p:extLst>
      <p:ext uri="{BB962C8B-B14F-4D97-AF65-F5344CB8AC3E}">
        <p14:creationId xmlns:p14="http://schemas.microsoft.com/office/powerpoint/2010/main" val="141342026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986" name="Picture 2">
            <a:extLst>
              <a:ext uri="{FF2B5EF4-FFF2-40B4-BE49-F238E27FC236}">
                <a16:creationId xmlns:a16="http://schemas.microsoft.com/office/drawing/2014/main" id="{64715FD1-A0B2-4CE8-807E-CDB1F1764A4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71600" y="152400"/>
            <a:ext cx="6492875" cy="655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0767206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C558B7BB-47ED-4118-B1DF-B4E795BBF4FF}"/>
              </a:ext>
            </a:extLst>
          </p:cNvPr>
          <p:cNvSpPr>
            <a:spLocks noGrp="1" noChangeArrowheads="1"/>
          </p:cNvSpPr>
          <p:nvPr>
            <p:ph type="title" idx="4294967295"/>
          </p:nvPr>
        </p:nvSpPr>
        <p:spPr>
          <a:xfrm>
            <a:off x="0" y="304800"/>
            <a:ext cx="9144000" cy="1828800"/>
          </a:xfrm>
        </p:spPr>
        <p:txBody>
          <a:bodyPr/>
          <a:lstStyle/>
          <a:p>
            <a:pPr eaLnBrk="1" hangingPunct="1"/>
            <a:r>
              <a:rPr lang="en-US" altLang="zh-CN" dirty="0">
                <a:solidFill>
                  <a:srgbClr val="0000FF"/>
                </a:solidFill>
              </a:rPr>
              <a:t>9. Acetyl-CoA in liver can be converted to ketone bodies when carbohydrate supply is not optimal</a:t>
            </a:r>
          </a:p>
        </p:txBody>
      </p:sp>
      <p:sp>
        <p:nvSpPr>
          <p:cNvPr id="43011" name="Rectangle 3">
            <a:extLst>
              <a:ext uri="{FF2B5EF4-FFF2-40B4-BE49-F238E27FC236}">
                <a16:creationId xmlns:a16="http://schemas.microsoft.com/office/drawing/2014/main" id="{EB8C46F9-CF81-408A-81EE-5C9F51780245}"/>
              </a:ext>
            </a:extLst>
          </p:cNvPr>
          <p:cNvSpPr>
            <a:spLocks noGrp="1" noChangeArrowheads="1"/>
          </p:cNvSpPr>
          <p:nvPr>
            <p:ph type="body" idx="4294967295"/>
          </p:nvPr>
        </p:nvSpPr>
        <p:spPr>
          <a:xfrm>
            <a:off x="0" y="2743200"/>
            <a:ext cx="8610600" cy="4114800"/>
          </a:xfrm>
        </p:spPr>
        <p:txBody>
          <a:bodyPr/>
          <a:lstStyle/>
          <a:p>
            <a:pPr eaLnBrk="1" hangingPunct="1">
              <a:buFontTx/>
              <a:buNone/>
            </a:pPr>
            <a:endParaRPr lang="en-US" altLang="zh-CN" dirty="0"/>
          </a:p>
        </p:txBody>
      </p:sp>
    </p:spTree>
    <p:extLst>
      <p:ext uri="{BB962C8B-B14F-4D97-AF65-F5344CB8AC3E}">
        <p14:creationId xmlns:p14="http://schemas.microsoft.com/office/powerpoint/2010/main" val="146077256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ext Box 2">
            <a:extLst>
              <a:ext uri="{FF2B5EF4-FFF2-40B4-BE49-F238E27FC236}">
                <a16:creationId xmlns:a16="http://schemas.microsoft.com/office/drawing/2014/main" id="{41C8FAD3-4176-4559-B965-3EDE4E8530AE}"/>
              </a:ext>
            </a:extLst>
          </p:cNvPr>
          <p:cNvSpPr txBox="1">
            <a:spLocks noChangeArrowheads="1"/>
          </p:cNvSpPr>
          <p:nvPr/>
        </p:nvSpPr>
        <p:spPr bwMode="auto">
          <a:xfrm>
            <a:off x="228600" y="914400"/>
            <a:ext cx="8915400" cy="4598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20000"/>
              </a:spcBef>
              <a:buFontTx/>
              <a:buChar char="•"/>
            </a:pPr>
            <a:r>
              <a:rPr lang="en-US" altLang="zh-CN" sz="5400" dirty="0">
                <a:solidFill>
                  <a:srgbClr val="0000FF"/>
                </a:solidFill>
              </a:rPr>
              <a:t>In liver, </a:t>
            </a:r>
            <a:r>
              <a:rPr lang="en-US" altLang="zh-CN" sz="3200" dirty="0"/>
              <a:t>The acetyl-CoA generated from active fatty acid oxidation can not be oxidized via the citric acid cycle and will be converted to </a:t>
            </a:r>
            <a:r>
              <a:rPr lang="en-US" altLang="zh-CN" sz="3200" dirty="0">
                <a:solidFill>
                  <a:schemeClr val="accent6">
                    <a:lumMod val="75000"/>
                  </a:schemeClr>
                </a:solidFill>
              </a:rPr>
              <a:t>acetoacetate </a:t>
            </a:r>
            <a:r>
              <a:rPr lang="zh-CN" altLang="en-US" sz="3200" dirty="0">
                <a:solidFill>
                  <a:schemeClr val="accent6">
                    <a:lumMod val="75000"/>
                  </a:schemeClr>
                </a:solidFill>
              </a:rPr>
              <a:t>（乙酰乙酸）</a:t>
            </a:r>
            <a:r>
              <a:rPr lang="en-US" altLang="zh-CN" sz="3200" dirty="0"/>
              <a:t>, </a:t>
            </a:r>
            <a:r>
              <a:rPr lang="en-US" altLang="zh-CN" sz="3200" dirty="0">
                <a:solidFill>
                  <a:schemeClr val="accent6">
                    <a:lumMod val="75000"/>
                  </a:schemeClr>
                </a:solidFill>
                <a:latin typeface="Symbol" panose="05050102010706020507" pitchFamily="18" charset="2"/>
              </a:rPr>
              <a:t>b</a:t>
            </a:r>
            <a:r>
              <a:rPr lang="en-US" altLang="zh-CN" sz="3200" dirty="0">
                <a:solidFill>
                  <a:schemeClr val="accent6">
                    <a:lumMod val="75000"/>
                  </a:schemeClr>
                </a:solidFill>
              </a:rPr>
              <a:t>-hydroxybutyrate </a:t>
            </a:r>
            <a:r>
              <a:rPr lang="zh-CN" altLang="en-US" sz="3200" dirty="0">
                <a:solidFill>
                  <a:schemeClr val="accent6">
                    <a:lumMod val="75000"/>
                  </a:schemeClr>
                </a:solidFill>
              </a:rPr>
              <a:t>（羟基丁酸）</a:t>
            </a:r>
            <a:r>
              <a:rPr lang="en-US" altLang="zh-CN" sz="3200" dirty="0"/>
              <a:t>, and </a:t>
            </a:r>
            <a:r>
              <a:rPr lang="en-US" altLang="zh-CN" sz="3200" dirty="0">
                <a:solidFill>
                  <a:schemeClr val="accent6">
                    <a:lumMod val="75000"/>
                  </a:schemeClr>
                </a:solidFill>
              </a:rPr>
              <a:t>acetone </a:t>
            </a:r>
            <a:r>
              <a:rPr lang="zh-CN" altLang="en-US" sz="3200" dirty="0">
                <a:solidFill>
                  <a:schemeClr val="accent6">
                    <a:lumMod val="75000"/>
                  </a:schemeClr>
                </a:solidFill>
              </a:rPr>
              <a:t>（丙酮）</a:t>
            </a:r>
            <a:r>
              <a:rPr lang="en-US" altLang="zh-CN" sz="3200" dirty="0"/>
              <a:t>(i.e., the </a:t>
            </a:r>
            <a:r>
              <a:rPr lang="en-US" altLang="zh-CN" sz="3200" dirty="0">
                <a:solidFill>
                  <a:schemeClr val="accent6">
                    <a:lumMod val="75000"/>
                  </a:schemeClr>
                </a:solidFill>
              </a:rPr>
              <a:t>ketone bodies</a:t>
            </a:r>
            <a:r>
              <a:rPr lang="en-US" altLang="zh-CN" sz="3200" dirty="0"/>
              <a:t>)  in mitochondria for export to other tissues.</a:t>
            </a:r>
          </a:p>
          <a:p>
            <a:pPr>
              <a:spcBef>
                <a:spcPct val="50000"/>
              </a:spcBef>
            </a:pPr>
            <a:endParaRPr lang="en-US" altLang="zh-CN" dirty="0"/>
          </a:p>
        </p:txBody>
      </p:sp>
    </p:spTree>
    <p:extLst>
      <p:ext uri="{BB962C8B-B14F-4D97-AF65-F5344CB8AC3E}">
        <p14:creationId xmlns:p14="http://schemas.microsoft.com/office/powerpoint/2010/main" val="292910532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5" name="Rectangle 3">
            <a:extLst>
              <a:ext uri="{FF2B5EF4-FFF2-40B4-BE49-F238E27FC236}">
                <a16:creationId xmlns:a16="http://schemas.microsoft.com/office/drawing/2014/main" id="{69C361FA-55C2-41DE-B693-BA9A4073E790}"/>
              </a:ext>
            </a:extLst>
          </p:cNvPr>
          <p:cNvSpPr>
            <a:spLocks noGrp="1" noChangeArrowheads="1"/>
          </p:cNvSpPr>
          <p:nvPr>
            <p:ph type="body" idx="4294967295"/>
          </p:nvPr>
        </p:nvSpPr>
        <p:spPr>
          <a:xfrm>
            <a:off x="0" y="838200"/>
            <a:ext cx="9144000" cy="5181600"/>
          </a:xfrm>
        </p:spPr>
        <p:txBody>
          <a:bodyPr/>
          <a:lstStyle/>
          <a:p>
            <a:pPr eaLnBrk="1" hangingPunct="1">
              <a:defRPr/>
            </a:pPr>
            <a:r>
              <a:rPr lang="en-US" altLang="zh-CN" dirty="0"/>
              <a:t>For ketone body formation, first two </a:t>
            </a:r>
            <a:r>
              <a:rPr lang="en-US" altLang="zh-CN" dirty="0">
                <a:effectLst>
                  <a:outerShdw blurRad="38100" dist="38100" dir="2700000" algn="tl">
                    <a:srgbClr val="000000"/>
                  </a:outerShdw>
                </a:effectLst>
              </a:rPr>
              <a:t>acetyl-</a:t>
            </a:r>
            <a:r>
              <a:rPr lang="en-US" altLang="zh-CN" dirty="0" err="1">
                <a:effectLst>
                  <a:outerShdw blurRad="38100" dist="38100" dir="2700000" algn="tl">
                    <a:srgbClr val="000000"/>
                  </a:outerShdw>
                </a:effectLst>
              </a:rPr>
              <a:t>CoAs</a:t>
            </a:r>
            <a:r>
              <a:rPr lang="en-US" altLang="zh-CN" dirty="0"/>
              <a:t> condense to form </a:t>
            </a:r>
            <a:r>
              <a:rPr lang="en-US" altLang="zh-CN" dirty="0" err="1">
                <a:solidFill>
                  <a:schemeClr val="accent6">
                    <a:lumMod val="75000"/>
                  </a:schemeClr>
                </a:solidFill>
              </a:rPr>
              <a:t>acetoacetyl</a:t>
            </a:r>
            <a:r>
              <a:rPr lang="en-US" altLang="zh-CN" dirty="0">
                <a:solidFill>
                  <a:schemeClr val="accent6">
                    <a:lumMod val="75000"/>
                  </a:schemeClr>
                </a:solidFill>
              </a:rPr>
              <a:t>-CoA </a:t>
            </a:r>
            <a:r>
              <a:rPr lang="en-US" altLang="zh-CN" sz="2800" b="1" dirty="0">
                <a:solidFill>
                  <a:schemeClr val="accent6">
                    <a:lumMod val="75000"/>
                  </a:schemeClr>
                </a:solidFill>
              </a:rPr>
              <a:t>(</a:t>
            </a:r>
            <a:r>
              <a:rPr lang="zh-CN" altLang="en-US" sz="2800" b="1" dirty="0">
                <a:solidFill>
                  <a:schemeClr val="accent6">
                    <a:lumMod val="75000"/>
                  </a:schemeClr>
                </a:solidFill>
              </a:rPr>
              <a:t>乙酰乙酰</a:t>
            </a:r>
            <a:r>
              <a:rPr lang="en-US" altLang="zh-CN" sz="2800" b="1" dirty="0">
                <a:solidFill>
                  <a:schemeClr val="accent6">
                    <a:lumMod val="75000"/>
                  </a:schemeClr>
                </a:solidFill>
              </a:rPr>
              <a:t>CoA)</a:t>
            </a:r>
            <a:r>
              <a:rPr lang="en-US" altLang="zh-CN" dirty="0">
                <a:solidFill>
                  <a:schemeClr val="accent6">
                    <a:lumMod val="75000"/>
                  </a:schemeClr>
                </a:solidFill>
              </a:rPr>
              <a:t> </a:t>
            </a:r>
            <a:r>
              <a:rPr lang="en-US" altLang="zh-CN" dirty="0"/>
              <a:t>catalyzed by </a:t>
            </a:r>
            <a:r>
              <a:rPr lang="en-US" altLang="zh-CN" dirty="0" err="1"/>
              <a:t>thiolase</a:t>
            </a:r>
            <a:r>
              <a:rPr lang="en-US" altLang="zh-CN" dirty="0"/>
              <a:t>; then addition of another acetyl-CoA forms </a:t>
            </a:r>
            <a:r>
              <a:rPr lang="en-US" altLang="zh-CN" dirty="0">
                <a:solidFill>
                  <a:schemeClr val="accent6">
                    <a:lumMod val="75000"/>
                  </a:schemeClr>
                </a:solidFill>
                <a:latin typeface="Symbol" pitchFamily="18" charset="2"/>
              </a:rPr>
              <a:t>b</a:t>
            </a:r>
            <a:r>
              <a:rPr lang="en-US" altLang="zh-CN" dirty="0">
                <a:solidFill>
                  <a:schemeClr val="accent6">
                    <a:lumMod val="75000"/>
                  </a:schemeClr>
                </a:solidFill>
              </a:rPr>
              <a:t>-hydroxyl-</a:t>
            </a:r>
            <a:r>
              <a:rPr lang="en-US" altLang="zh-CN" dirty="0">
                <a:solidFill>
                  <a:schemeClr val="accent6">
                    <a:lumMod val="75000"/>
                  </a:schemeClr>
                </a:solidFill>
                <a:latin typeface="Symbol" pitchFamily="18" charset="2"/>
              </a:rPr>
              <a:t>b</a:t>
            </a:r>
            <a:r>
              <a:rPr lang="en-US" altLang="zh-CN" dirty="0">
                <a:solidFill>
                  <a:schemeClr val="accent6">
                    <a:lumMod val="75000"/>
                  </a:schemeClr>
                </a:solidFill>
              </a:rPr>
              <a:t>-</a:t>
            </a:r>
            <a:r>
              <a:rPr lang="en-US" altLang="zh-CN" dirty="0" err="1">
                <a:solidFill>
                  <a:schemeClr val="accent6">
                    <a:lumMod val="75000"/>
                  </a:schemeClr>
                </a:solidFill>
              </a:rPr>
              <a:t>methylglutaryl</a:t>
            </a:r>
            <a:r>
              <a:rPr lang="en-US" altLang="zh-CN" dirty="0">
                <a:solidFill>
                  <a:schemeClr val="accent6">
                    <a:lumMod val="75000"/>
                  </a:schemeClr>
                </a:solidFill>
              </a:rPr>
              <a:t>-CoA</a:t>
            </a:r>
            <a:r>
              <a:rPr lang="en-US" altLang="zh-CN" dirty="0">
                <a:solidFill>
                  <a:srgbClr val="FFFF00"/>
                </a:solidFill>
              </a:rPr>
              <a:t> </a:t>
            </a:r>
            <a:r>
              <a:rPr lang="en-US" altLang="zh-CN" sz="2800" b="1" dirty="0">
                <a:solidFill>
                  <a:schemeClr val="accent6">
                    <a:lumMod val="75000"/>
                  </a:schemeClr>
                </a:solidFill>
              </a:rPr>
              <a:t>(</a:t>
            </a:r>
            <a:r>
              <a:rPr lang="en-US" altLang="zh-CN" sz="2800" b="1" dirty="0">
                <a:solidFill>
                  <a:schemeClr val="accent6">
                    <a:lumMod val="75000"/>
                  </a:schemeClr>
                </a:solidFill>
                <a:latin typeface="Symbol" pitchFamily="18" charset="2"/>
              </a:rPr>
              <a:t>b-</a:t>
            </a:r>
            <a:r>
              <a:rPr lang="zh-CN" altLang="en-US" sz="2800" b="1" dirty="0">
                <a:solidFill>
                  <a:schemeClr val="accent6">
                    <a:lumMod val="75000"/>
                  </a:schemeClr>
                </a:solidFill>
                <a:latin typeface="Symbol" pitchFamily="18" charset="2"/>
              </a:rPr>
              <a:t>羟－ </a:t>
            </a:r>
            <a:r>
              <a:rPr lang="en-US" altLang="zh-CN" sz="2800" b="1" dirty="0">
                <a:solidFill>
                  <a:schemeClr val="accent6">
                    <a:lumMod val="75000"/>
                  </a:schemeClr>
                </a:solidFill>
                <a:latin typeface="Symbol" pitchFamily="18" charset="2"/>
              </a:rPr>
              <a:t>b</a:t>
            </a:r>
            <a:r>
              <a:rPr lang="zh-CN" altLang="en-US" sz="2800" b="1" dirty="0">
                <a:solidFill>
                  <a:schemeClr val="accent6">
                    <a:lumMod val="75000"/>
                  </a:schemeClr>
                </a:solidFill>
                <a:latin typeface="Symbol" pitchFamily="18" charset="2"/>
              </a:rPr>
              <a:t>－甲基戊二酰</a:t>
            </a:r>
            <a:r>
              <a:rPr lang="en-US" altLang="zh-CN" sz="2800" b="1" dirty="0">
                <a:solidFill>
                  <a:schemeClr val="accent6">
                    <a:lumMod val="75000"/>
                  </a:schemeClr>
                </a:solidFill>
              </a:rPr>
              <a:t>CoA)</a:t>
            </a:r>
            <a:r>
              <a:rPr lang="en-US" altLang="zh-CN" sz="2800" b="1" dirty="0"/>
              <a:t>.</a:t>
            </a:r>
          </a:p>
          <a:p>
            <a:pPr eaLnBrk="1" hangingPunct="1">
              <a:defRPr/>
            </a:pPr>
            <a:r>
              <a:rPr lang="en-US" altLang="zh-CN" dirty="0"/>
              <a:t>Acetoacetate can be decarboxylated to form acetone (decarboxylase) or reduced to </a:t>
            </a:r>
            <a:r>
              <a:rPr lang="en-US" altLang="zh-CN" dirty="0">
                <a:solidFill>
                  <a:schemeClr val="accent6">
                    <a:lumMod val="75000"/>
                  </a:schemeClr>
                </a:solidFill>
                <a:effectLst>
                  <a:outerShdw blurRad="38100" dist="38100" dir="2700000" algn="tl">
                    <a:srgbClr val="000000"/>
                  </a:outerShdw>
                </a:effectLst>
              </a:rPr>
              <a:t>D-</a:t>
            </a:r>
            <a:r>
              <a:rPr lang="en-US" altLang="zh-CN" dirty="0">
                <a:solidFill>
                  <a:schemeClr val="accent6">
                    <a:lumMod val="75000"/>
                  </a:schemeClr>
                </a:solidFill>
                <a:effectLst>
                  <a:outerShdw blurRad="38100" dist="38100" dir="2700000" algn="tl">
                    <a:srgbClr val="000000"/>
                  </a:outerShdw>
                </a:effectLst>
                <a:latin typeface="Symbol" pitchFamily="18" charset="2"/>
              </a:rPr>
              <a:t>b</a:t>
            </a:r>
            <a:r>
              <a:rPr lang="en-US" altLang="zh-CN" dirty="0">
                <a:solidFill>
                  <a:schemeClr val="accent6">
                    <a:lumMod val="75000"/>
                  </a:schemeClr>
                </a:solidFill>
                <a:effectLst>
                  <a:outerShdw blurRad="38100" dist="38100" dir="2700000" algn="tl">
                    <a:srgbClr val="000000"/>
                  </a:outerShdw>
                </a:effectLst>
              </a:rPr>
              <a:t>-</a:t>
            </a:r>
            <a:r>
              <a:rPr lang="en-US" altLang="zh-CN" dirty="0" err="1">
                <a:solidFill>
                  <a:schemeClr val="accent6">
                    <a:lumMod val="75000"/>
                  </a:schemeClr>
                </a:solidFill>
                <a:effectLst>
                  <a:outerShdw blurRad="38100" dist="38100" dir="2700000" algn="tl">
                    <a:srgbClr val="000000"/>
                  </a:outerShdw>
                </a:effectLst>
              </a:rPr>
              <a:t>hydroxylbutyrate</a:t>
            </a:r>
            <a:r>
              <a:rPr lang="en-US" altLang="zh-CN" dirty="0">
                <a:solidFill>
                  <a:schemeClr val="accent6">
                    <a:lumMod val="75000"/>
                  </a:schemeClr>
                </a:solidFill>
                <a:effectLst>
                  <a:outerShdw blurRad="38100" dist="38100" dir="2700000" algn="tl">
                    <a:srgbClr val="000000"/>
                  </a:outerShdw>
                </a:effectLst>
              </a:rPr>
              <a:t> </a:t>
            </a:r>
            <a:r>
              <a:rPr lang="en-US" altLang="zh-CN" sz="2800" b="1" dirty="0">
                <a:solidFill>
                  <a:schemeClr val="accent6">
                    <a:lumMod val="75000"/>
                  </a:schemeClr>
                </a:solidFill>
              </a:rPr>
              <a:t>(</a:t>
            </a:r>
            <a:r>
              <a:rPr lang="en-US" altLang="zh-CN" sz="2800" b="1" dirty="0">
                <a:solidFill>
                  <a:schemeClr val="accent6">
                    <a:lumMod val="75000"/>
                  </a:schemeClr>
                </a:solidFill>
                <a:latin typeface="Symbol" pitchFamily="18" charset="2"/>
              </a:rPr>
              <a:t>b-</a:t>
            </a:r>
            <a:r>
              <a:rPr lang="zh-CN" altLang="en-US" sz="2800" b="1" dirty="0">
                <a:solidFill>
                  <a:schemeClr val="accent6">
                    <a:lumMod val="75000"/>
                  </a:schemeClr>
                </a:solidFill>
                <a:latin typeface="Symbol" pitchFamily="18" charset="2"/>
              </a:rPr>
              <a:t>羟丁酸</a:t>
            </a:r>
            <a:r>
              <a:rPr lang="en-US" altLang="zh-CN" sz="2800" b="1" dirty="0">
                <a:solidFill>
                  <a:schemeClr val="accent6">
                    <a:lumMod val="75000"/>
                  </a:schemeClr>
                </a:solidFill>
              </a:rPr>
              <a:t>)</a:t>
            </a:r>
            <a:r>
              <a:rPr lang="en-US" altLang="zh-CN" dirty="0"/>
              <a:t> (dehydrogenase).</a:t>
            </a:r>
          </a:p>
        </p:txBody>
      </p:sp>
    </p:spTree>
    <p:extLst>
      <p:ext uri="{BB962C8B-B14F-4D97-AF65-F5344CB8AC3E}">
        <p14:creationId xmlns:p14="http://schemas.microsoft.com/office/powerpoint/2010/main" val="123607389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3">
            <a:extLst>
              <a:ext uri="{FF2B5EF4-FFF2-40B4-BE49-F238E27FC236}">
                <a16:creationId xmlns:a16="http://schemas.microsoft.com/office/drawing/2014/main" id="{583FE5CA-8684-4694-B12F-CCBFE2AECFE3}"/>
              </a:ext>
            </a:extLst>
          </p:cNvPr>
          <p:cNvSpPr>
            <a:spLocks noChangeArrowheads="1"/>
          </p:cNvSpPr>
          <p:nvPr/>
        </p:nvSpPr>
        <p:spPr bwMode="auto">
          <a:xfrm>
            <a:off x="4343400" y="228600"/>
            <a:ext cx="4940583"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200" dirty="0" err="1"/>
              <a:t>Acety</a:t>
            </a:r>
            <a:r>
              <a:rPr lang="en-US" altLang="zh-CN" sz="3200" dirty="0"/>
              <a:t>-CoA can be converted</a:t>
            </a:r>
          </a:p>
          <a:p>
            <a:pPr eaLnBrk="1" hangingPunct="1"/>
            <a:r>
              <a:rPr lang="en-US" altLang="zh-CN" sz="3200" dirty="0"/>
              <a:t>to ketone bodies in liver.</a:t>
            </a:r>
          </a:p>
        </p:txBody>
      </p:sp>
      <p:pic>
        <p:nvPicPr>
          <p:cNvPr id="46083" name="Picture 5">
            <a:extLst>
              <a:ext uri="{FF2B5EF4-FFF2-40B4-BE49-F238E27FC236}">
                <a16:creationId xmlns:a16="http://schemas.microsoft.com/office/drawing/2014/main" id="{5D747347-6F98-47C9-9940-BFCB723CB0D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4400" y="0"/>
            <a:ext cx="3402013"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345980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106" name="Picture 5">
            <a:extLst>
              <a:ext uri="{FF2B5EF4-FFF2-40B4-BE49-F238E27FC236}">
                <a16:creationId xmlns:a16="http://schemas.microsoft.com/office/drawing/2014/main" id="{C73DCD1A-184D-4DFC-A6EB-4663D01EEDD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b="44792"/>
          <a:stretch>
            <a:fillRect/>
          </a:stretch>
        </p:blipFill>
        <p:spPr bwMode="auto">
          <a:xfrm>
            <a:off x="1285875" y="142875"/>
            <a:ext cx="5786438" cy="6440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7124332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130" name="Picture 5">
            <a:extLst>
              <a:ext uri="{FF2B5EF4-FFF2-40B4-BE49-F238E27FC236}">
                <a16:creationId xmlns:a16="http://schemas.microsoft.com/office/drawing/2014/main" id="{17DA06DA-3495-42FB-BB6E-FE5016ADA79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t="39583"/>
          <a:stretch>
            <a:fillRect/>
          </a:stretch>
        </p:blipFill>
        <p:spPr bwMode="auto">
          <a:xfrm>
            <a:off x="1428750" y="142875"/>
            <a:ext cx="5357813" cy="6524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1738307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0AE629B1-2847-4106-88ED-C2C6160C28A6}"/>
              </a:ext>
            </a:extLst>
          </p:cNvPr>
          <p:cNvSpPr>
            <a:spLocks noGrp="1" noChangeArrowheads="1"/>
          </p:cNvSpPr>
          <p:nvPr>
            <p:ph type="title" idx="4294967295"/>
          </p:nvPr>
        </p:nvSpPr>
        <p:spPr>
          <a:xfrm>
            <a:off x="0" y="838200"/>
            <a:ext cx="9144000" cy="1295400"/>
          </a:xfrm>
        </p:spPr>
        <p:txBody>
          <a:bodyPr/>
          <a:lstStyle/>
          <a:p>
            <a:pPr eaLnBrk="1" hangingPunct="1"/>
            <a:r>
              <a:rPr lang="en-US" altLang="zh-CN" dirty="0">
                <a:solidFill>
                  <a:srgbClr val="0000FF"/>
                </a:solidFill>
              </a:rPr>
              <a:t>10. Ketone bodies are converted back to acetyl-CoA in extrahepatic tissues</a:t>
            </a:r>
          </a:p>
        </p:txBody>
      </p:sp>
    </p:spTree>
    <p:extLst>
      <p:ext uri="{BB962C8B-B14F-4D97-AF65-F5344CB8AC3E}">
        <p14:creationId xmlns:p14="http://schemas.microsoft.com/office/powerpoint/2010/main" val="52220509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4">
            <a:extLst>
              <a:ext uri="{FF2B5EF4-FFF2-40B4-BE49-F238E27FC236}">
                <a16:creationId xmlns:a16="http://schemas.microsoft.com/office/drawing/2014/main" id="{30EC296F-9813-44C9-A6C1-3A119C399911}"/>
              </a:ext>
            </a:extLst>
          </p:cNvPr>
          <p:cNvSpPr>
            <a:spLocks noChangeArrowheads="1"/>
          </p:cNvSpPr>
          <p:nvPr/>
        </p:nvSpPr>
        <p:spPr bwMode="auto">
          <a:xfrm>
            <a:off x="5456238" y="320675"/>
            <a:ext cx="3459162" cy="204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200"/>
              <a:t>Ketone bodies are</a:t>
            </a:r>
          </a:p>
          <a:p>
            <a:pPr eaLnBrk="1" hangingPunct="1"/>
            <a:r>
              <a:rPr lang="en-US" altLang="zh-CN" sz="3200"/>
              <a:t>converted to acetyl-</a:t>
            </a:r>
          </a:p>
          <a:p>
            <a:pPr eaLnBrk="1" hangingPunct="1"/>
            <a:r>
              <a:rPr lang="en-US" altLang="zh-CN" sz="3200"/>
              <a:t>CoA in extrahepatic</a:t>
            </a:r>
          </a:p>
          <a:p>
            <a:pPr eaLnBrk="1" hangingPunct="1"/>
            <a:r>
              <a:rPr lang="en-US" altLang="zh-CN" sz="3200"/>
              <a:t>tissues.</a:t>
            </a:r>
          </a:p>
        </p:txBody>
      </p:sp>
      <p:pic>
        <p:nvPicPr>
          <p:cNvPr id="50179" name="Picture 5">
            <a:extLst>
              <a:ext uri="{FF2B5EF4-FFF2-40B4-BE49-F238E27FC236}">
                <a16:creationId xmlns:a16="http://schemas.microsoft.com/office/drawing/2014/main" id="{EA205078-3AAA-4C4E-94FC-B132B63DDBD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0"/>
            <a:ext cx="53213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7235741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EB95AA56-43B7-4A6E-8AC1-4225E5FE6C5D}"/>
              </a:ext>
            </a:extLst>
          </p:cNvPr>
          <p:cNvSpPr>
            <a:spLocks noGrp="1" noChangeArrowheads="1"/>
          </p:cNvSpPr>
          <p:nvPr>
            <p:ph type="title" idx="4294967295"/>
          </p:nvPr>
        </p:nvSpPr>
        <p:spPr>
          <a:xfrm>
            <a:off x="0" y="381000"/>
            <a:ext cx="6934200" cy="838200"/>
          </a:xfrm>
        </p:spPr>
        <p:txBody>
          <a:bodyPr/>
          <a:lstStyle/>
          <a:p>
            <a:pPr eaLnBrk="1" hangingPunct="1"/>
            <a:r>
              <a:rPr lang="en-US" altLang="zh-CN"/>
              <a:t>Summary</a:t>
            </a:r>
          </a:p>
        </p:txBody>
      </p:sp>
      <p:sp>
        <p:nvSpPr>
          <p:cNvPr id="51203" name="Rectangle 3">
            <a:extLst>
              <a:ext uri="{FF2B5EF4-FFF2-40B4-BE49-F238E27FC236}">
                <a16:creationId xmlns:a16="http://schemas.microsoft.com/office/drawing/2014/main" id="{92D0AF29-5732-429E-9DBA-A45FEC974CE4}"/>
              </a:ext>
            </a:extLst>
          </p:cNvPr>
          <p:cNvSpPr>
            <a:spLocks noGrp="1" noChangeArrowheads="1"/>
          </p:cNvSpPr>
          <p:nvPr>
            <p:ph type="body" idx="4294967295"/>
          </p:nvPr>
        </p:nvSpPr>
        <p:spPr>
          <a:xfrm>
            <a:off x="0" y="914400"/>
            <a:ext cx="9144000" cy="5105400"/>
          </a:xfrm>
        </p:spPr>
        <p:txBody>
          <a:bodyPr/>
          <a:lstStyle/>
          <a:p>
            <a:pPr eaLnBrk="1" hangingPunct="1"/>
            <a:endParaRPr lang="en-US" altLang="zh-CN" sz="2800"/>
          </a:p>
          <a:p>
            <a:pPr eaLnBrk="1" hangingPunct="1"/>
            <a:r>
              <a:rPr lang="en-US" altLang="zh-CN"/>
              <a:t>Fatty acids are activated to the acyl-CoA form and is then carried into mitochondria by carnitine with the help of two carnitine acyltranseferase isozymes (I and II) located on the outside and inside of the inner membrane.</a:t>
            </a:r>
          </a:p>
          <a:p>
            <a:pPr eaLnBrk="1" hangingPunct="1"/>
            <a:r>
              <a:rPr lang="en-US" altLang="zh-CN"/>
              <a:t>Acyl-CoA is converted to acetyl-CoA after going through multiple rounds of the four-step (dehydrogenation, hydration, dehydrogenation and thiolysis) </a:t>
            </a:r>
            <a:r>
              <a:rPr lang="en-US" altLang="zh-CN">
                <a:latin typeface="Symbol" panose="05050102010706020507" pitchFamily="18" charset="2"/>
              </a:rPr>
              <a:t>b</a:t>
            </a:r>
            <a:r>
              <a:rPr lang="en-US" altLang="zh-CN"/>
              <a:t>-oxidation pathway.</a:t>
            </a:r>
          </a:p>
        </p:txBody>
      </p:sp>
    </p:spTree>
    <p:extLst>
      <p:ext uri="{BB962C8B-B14F-4D97-AF65-F5344CB8AC3E}">
        <p14:creationId xmlns:p14="http://schemas.microsoft.com/office/powerpoint/2010/main" val="257571391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3">
            <a:extLst>
              <a:ext uri="{FF2B5EF4-FFF2-40B4-BE49-F238E27FC236}">
                <a16:creationId xmlns:a16="http://schemas.microsoft.com/office/drawing/2014/main" id="{8EAFEFB6-2E61-4C3A-A36E-9B7DDE894AF0}"/>
              </a:ext>
            </a:extLst>
          </p:cNvPr>
          <p:cNvSpPr>
            <a:spLocks noGrp="1" noChangeArrowheads="1"/>
          </p:cNvSpPr>
          <p:nvPr>
            <p:ph type="body" idx="4294967295"/>
          </p:nvPr>
        </p:nvSpPr>
        <p:spPr>
          <a:xfrm>
            <a:off x="0" y="838200"/>
            <a:ext cx="9144000" cy="5410200"/>
          </a:xfrm>
        </p:spPr>
        <p:txBody>
          <a:bodyPr/>
          <a:lstStyle/>
          <a:p>
            <a:pPr eaLnBrk="1" hangingPunct="1">
              <a:lnSpc>
                <a:spcPct val="90000"/>
              </a:lnSpc>
            </a:pPr>
            <a:r>
              <a:rPr lang="en-US" altLang="zh-CN"/>
              <a:t>Oxidative degradation of unsaturated fatty acids need two extra enzymes: an isomerase and a reductase.</a:t>
            </a:r>
          </a:p>
          <a:p>
            <a:pPr eaLnBrk="1" hangingPunct="1">
              <a:lnSpc>
                <a:spcPct val="90000"/>
              </a:lnSpc>
            </a:pPr>
            <a:r>
              <a:rPr lang="en-US" altLang="zh-CN"/>
              <a:t>The rate of </a:t>
            </a:r>
            <a:r>
              <a:rPr lang="en-US" altLang="zh-CN">
                <a:latin typeface="Symbol" panose="05050102010706020507" pitchFamily="18" charset="2"/>
              </a:rPr>
              <a:t>b</a:t>
            </a:r>
            <a:r>
              <a:rPr lang="en-US" altLang="zh-CN"/>
              <a:t>-oxidation pathway is controlled by the rate at which acyl-CoA is transported into mitochondria.</a:t>
            </a:r>
          </a:p>
          <a:p>
            <a:pPr eaLnBrk="1" hangingPunct="1">
              <a:lnSpc>
                <a:spcPct val="90000"/>
              </a:lnSpc>
            </a:pPr>
            <a:r>
              <a:rPr lang="en-US" altLang="zh-CN"/>
              <a:t>Excess acetyl-CoA (under conditions when glucose metabolism is not optimal) can be converted to ketone bodies (acetoacetate, </a:t>
            </a:r>
            <a:r>
              <a:rPr lang="en-US" altLang="zh-CN">
                <a:latin typeface="Symbol" panose="05050102010706020507" pitchFamily="18" charset="2"/>
              </a:rPr>
              <a:t>b</a:t>
            </a:r>
            <a:r>
              <a:rPr lang="en-US" altLang="zh-CN"/>
              <a:t>-hydroxylbutyrate and acetone) in the liver cells and reconverted into acetyl-CoA in extrahepatic cells.</a:t>
            </a:r>
          </a:p>
        </p:txBody>
      </p:sp>
    </p:spTree>
    <p:extLst>
      <p:ext uri="{BB962C8B-B14F-4D97-AF65-F5344CB8AC3E}">
        <p14:creationId xmlns:p14="http://schemas.microsoft.com/office/powerpoint/2010/main" val="354532899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a:extLst>
              <a:ext uri="{FF2B5EF4-FFF2-40B4-BE49-F238E27FC236}">
                <a16:creationId xmlns:a16="http://schemas.microsoft.com/office/drawing/2014/main" id="{7B2DF8E2-0804-404E-9492-1184F1F0BA05}"/>
              </a:ext>
            </a:extLst>
          </p:cNvPr>
          <p:cNvSpPr>
            <a:spLocks noGrp="1" noChangeArrowheads="1"/>
          </p:cNvSpPr>
          <p:nvPr>
            <p:ph type="ctrTitle" idx="4294967295"/>
          </p:nvPr>
        </p:nvSpPr>
        <p:spPr>
          <a:xfrm>
            <a:off x="1295400" y="1538288"/>
            <a:ext cx="7848600" cy="2105025"/>
          </a:xfrm>
        </p:spPr>
        <p:txBody>
          <a:bodyPr/>
          <a:lstStyle/>
          <a:p>
            <a:pPr algn="l" eaLnBrk="1" hangingPunct="1"/>
            <a:r>
              <a:rPr lang="en-US" altLang="zh-CN" sz="6600" dirty="0">
                <a:solidFill>
                  <a:srgbClr val="0000FF"/>
                </a:solidFill>
                <a:latin typeface="Times New Roman" panose="02020603050405020304" pitchFamily="18" charset="0"/>
              </a:rPr>
              <a:t>Fatty Acid Synthesis</a:t>
            </a:r>
            <a:r>
              <a:rPr lang="en-US" altLang="zh-CN" sz="6600" b="1" dirty="0">
                <a:solidFill>
                  <a:srgbClr val="0000FF"/>
                </a:solidFill>
              </a:rPr>
              <a:t> </a:t>
            </a:r>
            <a:br>
              <a:rPr lang="en-US" altLang="zh-CN" sz="6600" b="1" dirty="0">
                <a:solidFill>
                  <a:srgbClr val="0000FF"/>
                </a:solidFill>
              </a:rPr>
            </a:br>
            <a:r>
              <a:rPr lang="en-US" altLang="zh-CN" sz="6600" b="1" dirty="0">
                <a:solidFill>
                  <a:srgbClr val="0000FF"/>
                </a:solidFill>
              </a:rPr>
              <a:t>          </a:t>
            </a:r>
            <a:r>
              <a:rPr lang="en-US" altLang="zh-CN" sz="3600" b="1" dirty="0">
                <a:solidFill>
                  <a:srgbClr val="0000FF"/>
                </a:solidFill>
              </a:rPr>
              <a:t>(K3)</a:t>
            </a:r>
          </a:p>
        </p:txBody>
      </p:sp>
    </p:spTree>
    <p:extLst>
      <p:ext uri="{BB962C8B-B14F-4D97-AF65-F5344CB8AC3E}">
        <p14:creationId xmlns:p14="http://schemas.microsoft.com/office/powerpoint/2010/main" val="1132476996"/>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a:extLst>
              <a:ext uri="{FF2B5EF4-FFF2-40B4-BE49-F238E27FC236}">
                <a16:creationId xmlns:a16="http://schemas.microsoft.com/office/drawing/2014/main" id="{C921F2CE-9BC0-4421-876B-70791566C524}"/>
              </a:ext>
            </a:extLst>
          </p:cNvPr>
          <p:cNvSpPr>
            <a:spLocks noGrp="1" noChangeArrowheads="1"/>
          </p:cNvSpPr>
          <p:nvPr>
            <p:ph type="title" idx="4294967295"/>
          </p:nvPr>
        </p:nvSpPr>
        <p:spPr>
          <a:xfrm>
            <a:off x="0" y="120650"/>
            <a:ext cx="9144000" cy="1860550"/>
          </a:xfrm>
        </p:spPr>
        <p:txBody>
          <a:bodyPr/>
          <a:lstStyle/>
          <a:p>
            <a:pPr eaLnBrk="1" hangingPunct="1"/>
            <a:r>
              <a:rPr lang="en-US" altLang="zh-CN" sz="4000" dirty="0">
                <a:solidFill>
                  <a:srgbClr val="0000FF"/>
                </a:solidFill>
              </a:rPr>
              <a:t>1.</a:t>
            </a:r>
            <a:r>
              <a:rPr lang="en-US" altLang="zh-CN" dirty="0">
                <a:solidFill>
                  <a:srgbClr val="0000FF"/>
                </a:solidFill>
              </a:rPr>
              <a:t> </a:t>
            </a:r>
            <a:r>
              <a:rPr lang="en-US" altLang="zh-CN" sz="3600" dirty="0">
                <a:solidFill>
                  <a:srgbClr val="0000FF"/>
                </a:solidFill>
              </a:rPr>
              <a:t>Fatty acid synthesis takes a different pathway from its degradation</a:t>
            </a:r>
          </a:p>
        </p:txBody>
      </p:sp>
      <p:sp>
        <p:nvSpPr>
          <p:cNvPr id="84995" name="Rectangle 3">
            <a:extLst>
              <a:ext uri="{FF2B5EF4-FFF2-40B4-BE49-F238E27FC236}">
                <a16:creationId xmlns:a16="http://schemas.microsoft.com/office/drawing/2014/main" id="{B8A55A77-4BAB-4166-90AD-43C8122844B4}"/>
              </a:ext>
            </a:extLst>
          </p:cNvPr>
          <p:cNvSpPr>
            <a:spLocks noGrp="1" noChangeArrowheads="1"/>
          </p:cNvSpPr>
          <p:nvPr>
            <p:ph type="body" idx="4294967295"/>
          </p:nvPr>
        </p:nvSpPr>
        <p:spPr>
          <a:xfrm>
            <a:off x="228600" y="2286000"/>
            <a:ext cx="8915400" cy="4572000"/>
          </a:xfrm>
        </p:spPr>
        <p:txBody>
          <a:bodyPr/>
          <a:lstStyle/>
          <a:p>
            <a:pPr eaLnBrk="1" hangingPunct="1">
              <a:lnSpc>
                <a:spcPct val="120000"/>
              </a:lnSpc>
            </a:pPr>
            <a:r>
              <a:rPr lang="en-US" altLang="zh-CN" sz="2800" b="1" dirty="0">
                <a:solidFill>
                  <a:srgbClr val="FF0000"/>
                </a:solidFill>
              </a:rPr>
              <a:t>Occurs in the cytosol (chloroplasts in plants).</a:t>
            </a:r>
          </a:p>
          <a:p>
            <a:pPr eaLnBrk="1" hangingPunct="1">
              <a:lnSpc>
                <a:spcPct val="120000"/>
              </a:lnSpc>
            </a:pPr>
            <a:r>
              <a:rPr lang="en-US" altLang="zh-CN" sz="2800" b="1" dirty="0"/>
              <a:t>Acetyl-CoA provides the first two carbons, which is elongated by sequential addition of two-carbon units donated from malonyl-CoA.</a:t>
            </a:r>
          </a:p>
          <a:p>
            <a:pPr eaLnBrk="1" hangingPunct="1">
              <a:lnSpc>
                <a:spcPct val="120000"/>
              </a:lnSpc>
            </a:pPr>
            <a:r>
              <a:rPr lang="en-US" altLang="zh-CN" sz="2800" b="1" dirty="0"/>
              <a:t>Intermediates are attached to the -SH groups of an acyl carrier protein  (ACP).</a:t>
            </a:r>
          </a:p>
        </p:txBody>
      </p:sp>
    </p:spTree>
    <p:extLst>
      <p:ext uri="{BB962C8B-B14F-4D97-AF65-F5344CB8AC3E}">
        <p14:creationId xmlns:p14="http://schemas.microsoft.com/office/powerpoint/2010/main" val="121790470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3">
            <a:extLst>
              <a:ext uri="{FF2B5EF4-FFF2-40B4-BE49-F238E27FC236}">
                <a16:creationId xmlns:a16="http://schemas.microsoft.com/office/drawing/2014/main" id="{B3EFAE77-FE64-4763-9F2C-C1A3B040C9C7}"/>
              </a:ext>
            </a:extLst>
          </p:cNvPr>
          <p:cNvSpPr>
            <a:spLocks noGrp="1" noChangeArrowheads="1"/>
          </p:cNvSpPr>
          <p:nvPr>
            <p:ph type="body" idx="4294967295"/>
          </p:nvPr>
        </p:nvSpPr>
        <p:spPr>
          <a:xfrm>
            <a:off x="304800" y="685800"/>
            <a:ext cx="8839200" cy="5486400"/>
          </a:xfrm>
        </p:spPr>
        <p:txBody>
          <a:bodyPr/>
          <a:lstStyle/>
          <a:p>
            <a:pPr eaLnBrk="1" hangingPunct="1">
              <a:lnSpc>
                <a:spcPct val="120000"/>
              </a:lnSpc>
            </a:pPr>
            <a:r>
              <a:rPr lang="en-US" altLang="zh-CN" sz="2800" b="1" dirty="0"/>
              <a:t>NADPH is the reductant.</a:t>
            </a:r>
          </a:p>
          <a:p>
            <a:pPr eaLnBrk="1" hangingPunct="1">
              <a:lnSpc>
                <a:spcPct val="120000"/>
              </a:lnSpc>
            </a:pPr>
            <a:r>
              <a:rPr lang="en-US" altLang="zh-CN" sz="2800" b="1" dirty="0">
                <a:solidFill>
                  <a:srgbClr val="FF0000"/>
                </a:solidFill>
              </a:rPr>
              <a:t>The enzymes are associated as a multi-enzyme complex or even being in one polypeptide chain in higher organisms </a:t>
            </a:r>
            <a:r>
              <a:rPr lang="en-US" altLang="zh-CN" sz="2800" b="1" dirty="0"/>
              <a:t>(fatty acid synthase). </a:t>
            </a:r>
          </a:p>
          <a:p>
            <a:pPr eaLnBrk="1" hangingPunct="1">
              <a:lnSpc>
                <a:spcPct val="120000"/>
              </a:lnSpc>
            </a:pPr>
            <a:r>
              <a:rPr lang="en-US" altLang="zh-CN" sz="2800" b="1" dirty="0"/>
              <a:t>Elongation by the fatty acid synthase complex stops upon formation of palmitate (</a:t>
            </a:r>
            <a:r>
              <a:rPr lang="en-US" altLang="zh-CN" sz="2800" b="1" i="1" dirty="0"/>
              <a:t>C</a:t>
            </a:r>
            <a:r>
              <a:rPr lang="en-US" altLang="zh-CN" sz="2800" b="1" i="1" baseline="-25000" dirty="0"/>
              <a:t>16</a:t>
            </a:r>
            <a:r>
              <a:rPr lang="en-US" altLang="zh-CN" sz="2800" b="1" dirty="0"/>
              <a:t>), further elongation and desaturation are carried out by other enzyme systems</a:t>
            </a:r>
            <a:r>
              <a:rPr lang="en-US" altLang="zh-CN" sz="2400" dirty="0"/>
              <a:t>.</a:t>
            </a:r>
          </a:p>
          <a:p>
            <a:pPr eaLnBrk="1" hangingPunct="1"/>
            <a:endParaRPr lang="en-US" altLang="zh-CN" sz="2400" dirty="0"/>
          </a:p>
        </p:txBody>
      </p:sp>
      <p:sp>
        <p:nvSpPr>
          <p:cNvPr id="4" name="文本框 3">
            <a:extLst>
              <a:ext uri="{FF2B5EF4-FFF2-40B4-BE49-F238E27FC236}">
                <a16:creationId xmlns:a16="http://schemas.microsoft.com/office/drawing/2014/main" id="{61683340-2244-403B-9F30-2B689A2C4DA8}"/>
              </a:ext>
            </a:extLst>
          </p:cNvPr>
          <p:cNvSpPr txBox="1"/>
          <p:nvPr/>
        </p:nvSpPr>
        <p:spPr>
          <a:xfrm>
            <a:off x="2417064" y="4725144"/>
            <a:ext cx="4614672" cy="1323439"/>
          </a:xfrm>
          <a:prstGeom prst="rect">
            <a:avLst/>
          </a:prstGeom>
          <a:noFill/>
        </p:spPr>
        <p:txBody>
          <a:bodyPr wrap="square">
            <a:spAutoFit/>
          </a:bodyPr>
          <a:lstStyle/>
          <a:p>
            <a:r>
              <a:rPr lang="en-US" altLang="zh-CN" sz="2000" dirty="0">
                <a:solidFill>
                  <a:srgbClr val="FF0000"/>
                </a:solidFill>
              </a:rPr>
              <a:t>unsaturated fatty acids</a:t>
            </a:r>
          </a:p>
          <a:p>
            <a:r>
              <a:rPr lang="en-US" altLang="zh-CN" sz="2000" dirty="0">
                <a:solidFill>
                  <a:srgbClr val="FF0000"/>
                </a:solidFill>
              </a:rPr>
              <a:t>saturated fatty acids</a:t>
            </a:r>
          </a:p>
          <a:p>
            <a:r>
              <a:rPr lang="en-US" altLang="zh-CN" sz="2000" dirty="0" err="1">
                <a:solidFill>
                  <a:srgbClr val="FF0000"/>
                </a:solidFill>
              </a:rPr>
              <a:t>desatureation</a:t>
            </a:r>
            <a:endParaRPr lang="en-US" altLang="zh-CN" sz="2000" dirty="0">
              <a:solidFill>
                <a:srgbClr val="FF0000"/>
              </a:solidFill>
            </a:endParaRPr>
          </a:p>
          <a:p>
            <a:r>
              <a:rPr lang="en-US" altLang="zh-CN" sz="2000" dirty="0">
                <a:solidFill>
                  <a:srgbClr val="FF0000"/>
                </a:solidFill>
              </a:rPr>
              <a:t> </a:t>
            </a:r>
          </a:p>
        </p:txBody>
      </p:sp>
    </p:spTree>
    <p:extLst>
      <p:ext uri="{BB962C8B-B14F-4D97-AF65-F5344CB8AC3E}">
        <p14:creationId xmlns:p14="http://schemas.microsoft.com/office/powerpoint/2010/main" val="3096863573"/>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Picture 2">
            <a:extLst>
              <a:ext uri="{FF2B5EF4-FFF2-40B4-BE49-F238E27FC236}">
                <a16:creationId xmlns:a16="http://schemas.microsoft.com/office/drawing/2014/main" id="{7D25B4B8-9138-47EE-A4C8-FA84C10C763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4800" y="533400"/>
            <a:ext cx="8559800" cy="55610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6094883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8710E98E-F2C8-48F1-AA68-EC5928EE12D4}"/>
              </a:ext>
            </a:extLst>
          </p:cNvPr>
          <p:cNvSpPr txBox="1"/>
          <p:nvPr/>
        </p:nvSpPr>
        <p:spPr>
          <a:xfrm>
            <a:off x="688565" y="836712"/>
            <a:ext cx="8048037" cy="6117829"/>
          </a:xfrm>
          <a:prstGeom prst="rect">
            <a:avLst/>
          </a:prstGeom>
          <a:noFill/>
        </p:spPr>
        <p:txBody>
          <a:bodyPr wrap="none" rtlCol="0">
            <a:spAutoFit/>
          </a:bodyPr>
          <a:lstStyle/>
          <a:p>
            <a:pPr marL="342900" indent="-342900">
              <a:lnSpc>
                <a:spcPct val="150000"/>
              </a:lnSpc>
              <a:buFont typeface="+mj-lt"/>
              <a:buAutoNum type="arabicPeriod"/>
            </a:pPr>
            <a:r>
              <a:rPr lang="en-US" altLang="zh-CN" sz="2400" dirty="0"/>
              <a:t>Acetyl-COA </a:t>
            </a:r>
            <a:r>
              <a:rPr lang="zh-CN" altLang="en-US" sz="2400" dirty="0"/>
              <a:t>转运</a:t>
            </a:r>
            <a:endParaRPr lang="en-US" altLang="zh-CN" sz="2400" dirty="0"/>
          </a:p>
          <a:p>
            <a:pPr marL="342900" indent="-342900">
              <a:lnSpc>
                <a:spcPct val="150000"/>
              </a:lnSpc>
              <a:buFont typeface="+mj-lt"/>
              <a:buAutoNum type="arabicPeriod"/>
            </a:pPr>
            <a:r>
              <a:rPr lang="en-US" altLang="zh-CN" sz="2400" dirty="0"/>
              <a:t>Acetyl-COA </a:t>
            </a:r>
            <a:r>
              <a:rPr lang="zh-CN" altLang="en-US" sz="2400" dirty="0"/>
              <a:t>羧化为</a:t>
            </a:r>
            <a:r>
              <a:rPr lang="en-US" altLang="zh-CN" sz="2400" dirty="0"/>
              <a:t>malonyl-COA</a:t>
            </a:r>
          </a:p>
          <a:p>
            <a:pPr marL="342900" indent="-342900">
              <a:lnSpc>
                <a:spcPct val="150000"/>
              </a:lnSpc>
              <a:buFont typeface="+mj-lt"/>
              <a:buAutoNum type="arabicPeriod"/>
            </a:pPr>
            <a:r>
              <a:rPr lang="en-US" altLang="zh-CN" sz="2400" dirty="0"/>
              <a:t>Fatty acid synthesis</a:t>
            </a:r>
            <a:r>
              <a:rPr lang="zh-CN" altLang="en-US" sz="2400" dirty="0"/>
              <a:t>：</a:t>
            </a:r>
            <a:endParaRPr lang="en-US" altLang="zh-CN" sz="2400" dirty="0"/>
          </a:p>
          <a:p>
            <a:pPr>
              <a:lnSpc>
                <a:spcPct val="150000"/>
              </a:lnSpc>
            </a:pPr>
            <a:r>
              <a:rPr lang="en-US" altLang="zh-CN" sz="2400" dirty="0"/>
              <a:t>         Acetyl-COA</a:t>
            </a:r>
            <a:r>
              <a:rPr lang="zh-CN" altLang="en-US" sz="2400" dirty="0"/>
              <a:t>进位</a:t>
            </a:r>
            <a:r>
              <a:rPr lang="en-US" altLang="zh-CN" sz="2400" dirty="0"/>
              <a:t>KS</a:t>
            </a:r>
            <a:r>
              <a:rPr lang="zh-CN" altLang="en-US" sz="2400" dirty="0"/>
              <a:t>巯基</a:t>
            </a:r>
            <a:r>
              <a:rPr lang="en-US" altLang="zh-CN" sz="2400" dirty="0"/>
              <a:t>, malonyl-COA</a:t>
            </a:r>
            <a:r>
              <a:rPr lang="zh-CN" altLang="en-US" sz="2400" dirty="0"/>
              <a:t>进位</a:t>
            </a:r>
            <a:r>
              <a:rPr lang="en-US" altLang="zh-CN" sz="2400" dirty="0"/>
              <a:t>ACP</a:t>
            </a:r>
            <a:r>
              <a:rPr lang="zh-CN" altLang="en-US" sz="2400" dirty="0"/>
              <a:t>巯基</a:t>
            </a:r>
            <a:endParaRPr lang="en-US" altLang="zh-CN" sz="2400" dirty="0"/>
          </a:p>
          <a:p>
            <a:pPr>
              <a:lnSpc>
                <a:spcPct val="150000"/>
              </a:lnSpc>
            </a:pPr>
            <a:r>
              <a:rPr lang="en-US" altLang="zh-CN" sz="2400" dirty="0"/>
              <a:t>        </a:t>
            </a:r>
            <a:r>
              <a:rPr lang="en-US" altLang="zh-CN" sz="2400" b="1" i="1" dirty="0"/>
              <a:t>Condensation</a:t>
            </a:r>
          </a:p>
          <a:p>
            <a:pPr>
              <a:lnSpc>
                <a:spcPct val="150000"/>
              </a:lnSpc>
            </a:pPr>
            <a:r>
              <a:rPr lang="en-US" altLang="zh-CN" sz="2400" b="1" i="1" dirty="0"/>
              <a:t>        Reduction</a:t>
            </a:r>
          </a:p>
          <a:p>
            <a:pPr>
              <a:lnSpc>
                <a:spcPct val="150000"/>
              </a:lnSpc>
            </a:pPr>
            <a:r>
              <a:rPr lang="en-US" altLang="zh-CN" sz="2400" b="1" i="1" dirty="0"/>
              <a:t>        Dehydration</a:t>
            </a:r>
          </a:p>
          <a:p>
            <a:pPr>
              <a:lnSpc>
                <a:spcPct val="150000"/>
              </a:lnSpc>
            </a:pPr>
            <a:r>
              <a:rPr lang="en-US" altLang="zh-CN" sz="2400" b="1" i="1" dirty="0"/>
              <a:t>        Reduction</a:t>
            </a:r>
          </a:p>
          <a:p>
            <a:pPr>
              <a:lnSpc>
                <a:spcPct val="150000"/>
              </a:lnSpc>
            </a:pPr>
            <a:r>
              <a:rPr lang="zh-CN" altLang="en-US" sz="2400" dirty="0"/>
              <a:t>        延长</a:t>
            </a:r>
            <a:r>
              <a:rPr lang="en-US" altLang="zh-CN" sz="2400" dirty="0"/>
              <a:t>2C fatty acyl </a:t>
            </a:r>
            <a:r>
              <a:rPr lang="zh-CN" altLang="en-US" sz="2400" dirty="0"/>
              <a:t>移位至外周巯基</a:t>
            </a:r>
            <a:endParaRPr lang="en-US" altLang="zh-CN" sz="2400" dirty="0"/>
          </a:p>
          <a:p>
            <a:pPr>
              <a:lnSpc>
                <a:spcPct val="150000"/>
              </a:lnSpc>
            </a:pPr>
            <a:endParaRPr lang="en-US" altLang="zh-CN" sz="2400" dirty="0"/>
          </a:p>
          <a:p>
            <a:pPr>
              <a:lnSpc>
                <a:spcPct val="150000"/>
              </a:lnSpc>
            </a:pPr>
            <a:endParaRPr lang="zh-CN" altLang="en-US" sz="2400" dirty="0"/>
          </a:p>
        </p:txBody>
      </p:sp>
    </p:spTree>
    <p:extLst>
      <p:ext uri="{BB962C8B-B14F-4D97-AF65-F5344CB8AC3E}">
        <p14:creationId xmlns:p14="http://schemas.microsoft.com/office/powerpoint/2010/main" val="911465367"/>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050">
            <a:extLst>
              <a:ext uri="{FF2B5EF4-FFF2-40B4-BE49-F238E27FC236}">
                <a16:creationId xmlns:a16="http://schemas.microsoft.com/office/drawing/2014/main" id="{C82BEED1-0920-4E76-A79B-0926F7E45440}"/>
              </a:ext>
            </a:extLst>
          </p:cNvPr>
          <p:cNvSpPr>
            <a:spLocks noGrp="1" noChangeArrowheads="1"/>
          </p:cNvSpPr>
          <p:nvPr>
            <p:ph type="title" idx="4294967295"/>
          </p:nvPr>
        </p:nvSpPr>
        <p:spPr>
          <a:xfrm>
            <a:off x="0" y="165100"/>
            <a:ext cx="9144000" cy="1739900"/>
          </a:xfrm>
        </p:spPr>
        <p:txBody>
          <a:bodyPr/>
          <a:lstStyle/>
          <a:p>
            <a:pPr eaLnBrk="1" hangingPunct="1"/>
            <a:r>
              <a:rPr lang="en-US" altLang="zh-CN" sz="3600" dirty="0">
                <a:solidFill>
                  <a:srgbClr val="0000FF"/>
                </a:solidFill>
              </a:rPr>
              <a:t>2. The acetyl groups of the mitochondrion are transported into the cytosol in the form of citrate</a:t>
            </a:r>
          </a:p>
        </p:txBody>
      </p:sp>
      <p:sp>
        <p:nvSpPr>
          <p:cNvPr id="89091" name="Rectangle 2051">
            <a:extLst>
              <a:ext uri="{FF2B5EF4-FFF2-40B4-BE49-F238E27FC236}">
                <a16:creationId xmlns:a16="http://schemas.microsoft.com/office/drawing/2014/main" id="{33C2340C-75D4-4A6A-9E3F-8CCF9DDAD5B1}"/>
              </a:ext>
            </a:extLst>
          </p:cNvPr>
          <p:cNvSpPr>
            <a:spLocks noGrp="1" noChangeArrowheads="1"/>
          </p:cNvSpPr>
          <p:nvPr>
            <p:ph type="body" idx="4294967295"/>
          </p:nvPr>
        </p:nvSpPr>
        <p:spPr>
          <a:xfrm>
            <a:off x="0" y="2057400"/>
            <a:ext cx="9144000" cy="4724400"/>
          </a:xfrm>
        </p:spPr>
        <p:txBody>
          <a:bodyPr/>
          <a:lstStyle/>
          <a:p>
            <a:pPr eaLnBrk="1" hangingPunct="1">
              <a:lnSpc>
                <a:spcPct val="90000"/>
              </a:lnSpc>
            </a:pPr>
            <a:r>
              <a:rPr lang="en-US" altLang="zh-CN"/>
              <a:t>The acetyl-CoA molecules are made from glucose and amino acids in mitochondria.</a:t>
            </a:r>
          </a:p>
          <a:p>
            <a:pPr eaLnBrk="1" hangingPunct="1">
              <a:lnSpc>
                <a:spcPct val="90000"/>
              </a:lnSpc>
            </a:pPr>
            <a:r>
              <a:rPr lang="en-US" altLang="zh-CN"/>
              <a:t>They are shuttled into the cytosol in the form of citrate via the citrate transporter of the inner membrane.</a:t>
            </a:r>
          </a:p>
          <a:p>
            <a:pPr eaLnBrk="1" hangingPunct="1">
              <a:lnSpc>
                <a:spcPct val="90000"/>
              </a:lnSpc>
            </a:pPr>
            <a:r>
              <a:rPr lang="en-US" altLang="zh-CN"/>
              <a:t>Acetyl-CoA is regenerated by the action of ATP-dependent citrate lyase in the cytosol.</a:t>
            </a:r>
          </a:p>
          <a:p>
            <a:pPr eaLnBrk="1" hangingPunct="1">
              <a:lnSpc>
                <a:spcPct val="90000"/>
              </a:lnSpc>
            </a:pPr>
            <a:r>
              <a:rPr lang="en-US" altLang="zh-CN"/>
              <a:t>Oxaloacetate is shuttled back into the mitochondria as malate or pyruvate.</a:t>
            </a:r>
          </a:p>
        </p:txBody>
      </p:sp>
    </p:spTree>
    <p:extLst>
      <p:ext uri="{BB962C8B-B14F-4D97-AF65-F5344CB8AC3E}">
        <p14:creationId xmlns:p14="http://schemas.microsoft.com/office/powerpoint/2010/main" val="235177630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0114" name="Picture 2" descr="&#10;F21-11.JPG                                                     00014CF9&#10;ECONOMICS 2.0                  B088F83F:">
            <a:extLst>
              <a:ext uri="{FF2B5EF4-FFF2-40B4-BE49-F238E27FC236}">
                <a16:creationId xmlns:a16="http://schemas.microsoft.com/office/drawing/2014/main" id="{4B8EE7E6-F43A-4FD5-85AE-10FA5FD303C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5800" y="228600"/>
            <a:ext cx="7948613" cy="6097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73924305"/>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a:extLst>
              <a:ext uri="{FF2B5EF4-FFF2-40B4-BE49-F238E27FC236}">
                <a16:creationId xmlns:a16="http://schemas.microsoft.com/office/drawing/2014/main" id="{966C1B6C-C77B-4C70-A6A7-214022B7759A}"/>
              </a:ext>
            </a:extLst>
          </p:cNvPr>
          <p:cNvSpPr>
            <a:spLocks noGrp="1" noChangeArrowheads="1"/>
          </p:cNvSpPr>
          <p:nvPr>
            <p:ph type="title" idx="4294967295"/>
          </p:nvPr>
        </p:nvSpPr>
        <p:spPr>
          <a:xfrm>
            <a:off x="0" y="168275"/>
            <a:ext cx="9144000" cy="1431925"/>
          </a:xfrm>
        </p:spPr>
        <p:txBody>
          <a:bodyPr/>
          <a:lstStyle/>
          <a:p>
            <a:pPr eaLnBrk="1" hangingPunct="1"/>
            <a:r>
              <a:rPr lang="en-US" altLang="zh-CN" sz="4000" dirty="0">
                <a:solidFill>
                  <a:srgbClr val="0000FF"/>
                </a:solidFill>
              </a:rPr>
              <a:t>3.</a:t>
            </a:r>
            <a:r>
              <a:rPr lang="en-US" altLang="zh-CN" dirty="0">
                <a:solidFill>
                  <a:srgbClr val="0000FF"/>
                </a:solidFill>
              </a:rPr>
              <a:t> </a:t>
            </a:r>
            <a:r>
              <a:rPr lang="en-US" altLang="zh-CN" sz="3600" dirty="0">
                <a:solidFill>
                  <a:srgbClr val="0000FF"/>
                </a:solidFill>
              </a:rPr>
              <a:t>Malonyl-CoA is formed from acetyl-CoA and bicarbonate</a:t>
            </a:r>
            <a:r>
              <a:rPr lang="en-US" altLang="zh-CN" dirty="0">
                <a:solidFill>
                  <a:srgbClr val="0000FF"/>
                </a:solidFill>
              </a:rPr>
              <a:t> </a:t>
            </a:r>
          </a:p>
        </p:txBody>
      </p:sp>
      <p:sp>
        <p:nvSpPr>
          <p:cNvPr id="91139" name="Rectangle 3">
            <a:extLst>
              <a:ext uri="{FF2B5EF4-FFF2-40B4-BE49-F238E27FC236}">
                <a16:creationId xmlns:a16="http://schemas.microsoft.com/office/drawing/2014/main" id="{9FD40D04-D806-479C-969A-3A2E4C2BF0A6}"/>
              </a:ext>
            </a:extLst>
          </p:cNvPr>
          <p:cNvSpPr>
            <a:spLocks noGrp="1" noChangeArrowheads="1"/>
          </p:cNvSpPr>
          <p:nvPr>
            <p:ph type="body" idx="4294967295"/>
          </p:nvPr>
        </p:nvSpPr>
        <p:spPr>
          <a:xfrm>
            <a:off x="0" y="1752600"/>
            <a:ext cx="9144000" cy="4876800"/>
          </a:xfrm>
        </p:spPr>
        <p:txBody>
          <a:bodyPr/>
          <a:lstStyle/>
          <a:p>
            <a:pPr eaLnBrk="1" hangingPunct="1"/>
            <a:r>
              <a:rPr lang="en-US" altLang="zh-CN" sz="3600"/>
              <a:t>Salih Wakil discovered that HCO</a:t>
            </a:r>
            <a:r>
              <a:rPr lang="en-US" altLang="zh-CN" sz="3600" baseline="-25000"/>
              <a:t>3</a:t>
            </a:r>
            <a:r>
              <a:rPr lang="en-US" altLang="zh-CN" sz="3600" baseline="30000"/>
              <a:t>-</a:t>
            </a:r>
            <a:r>
              <a:rPr lang="en-US" altLang="zh-CN" sz="3600"/>
              <a:t> is required for fatty acid synthesis.</a:t>
            </a:r>
          </a:p>
          <a:p>
            <a:pPr eaLnBrk="1" hangingPunct="1"/>
            <a:r>
              <a:rPr lang="en-US" altLang="zh-CN" sz="3600"/>
              <a:t>Acetyl-CoA carboxylase catalyzes this carboxylation reaction.</a:t>
            </a:r>
          </a:p>
          <a:p>
            <a:pPr eaLnBrk="1" hangingPunct="1"/>
            <a:r>
              <a:rPr lang="en-US" altLang="zh-CN" sz="3600"/>
              <a:t>The enzyme has three functional parts: a biotin carrier protein; an ATP-dependent biotin carboxylase; and a transcarboxylase.</a:t>
            </a:r>
          </a:p>
        </p:txBody>
      </p:sp>
    </p:spTree>
    <p:extLst>
      <p:ext uri="{BB962C8B-B14F-4D97-AF65-F5344CB8AC3E}">
        <p14:creationId xmlns:p14="http://schemas.microsoft.com/office/powerpoint/2010/main" val="866815754"/>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3">
            <a:extLst>
              <a:ext uri="{FF2B5EF4-FFF2-40B4-BE49-F238E27FC236}">
                <a16:creationId xmlns:a16="http://schemas.microsoft.com/office/drawing/2014/main" id="{94525FE3-7880-4249-B6E2-E68898493F28}"/>
              </a:ext>
            </a:extLst>
          </p:cNvPr>
          <p:cNvSpPr>
            <a:spLocks noChangeArrowheads="1"/>
          </p:cNvSpPr>
          <p:nvPr/>
        </p:nvSpPr>
        <p:spPr bwMode="auto">
          <a:xfrm>
            <a:off x="1600200" y="914400"/>
            <a:ext cx="1143000" cy="609600"/>
          </a:xfrm>
          <a:prstGeom prst="rect">
            <a:avLst/>
          </a:prstGeom>
          <a:solidFill>
            <a:schemeClr val="accent1"/>
          </a:solidFill>
          <a:ln w="9525">
            <a:solidFill>
              <a:schemeClr val="tx1"/>
            </a:solidFill>
            <a:miter lim="800000"/>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92163" name="Rectangle 4">
            <a:extLst>
              <a:ext uri="{FF2B5EF4-FFF2-40B4-BE49-F238E27FC236}">
                <a16:creationId xmlns:a16="http://schemas.microsoft.com/office/drawing/2014/main" id="{38C60E81-C684-4324-A772-DFABBE3D5196}"/>
              </a:ext>
            </a:extLst>
          </p:cNvPr>
          <p:cNvSpPr>
            <a:spLocks noChangeArrowheads="1"/>
          </p:cNvSpPr>
          <p:nvPr/>
        </p:nvSpPr>
        <p:spPr bwMode="auto">
          <a:xfrm>
            <a:off x="3962400" y="914400"/>
            <a:ext cx="990600" cy="457200"/>
          </a:xfrm>
          <a:prstGeom prst="rect">
            <a:avLst/>
          </a:prstGeom>
          <a:solidFill>
            <a:schemeClr val="accent1"/>
          </a:solidFill>
          <a:ln w="9525">
            <a:solidFill>
              <a:schemeClr val="tx1"/>
            </a:solidFill>
            <a:miter lim="800000"/>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92164" name="Line 5">
            <a:extLst>
              <a:ext uri="{FF2B5EF4-FFF2-40B4-BE49-F238E27FC236}">
                <a16:creationId xmlns:a16="http://schemas.microsoft.com/office/drawing/2014/main" id="{FA6B2527-09DB-4A7E-BB4C-8A2A2C04B78F}"/>
              </a:ext>
            </a:extLst>
          </p:cNvPr>
          <p:cNvSpPr>
            <a:spLocks noChangeShapeType="1"/>
          </p:cNvSpPr>
          <p:nvPr/>
        </p:nvSpPr>
        <p:spPr bwMode="auto">
          <a:xfrm>
            <a:off x="1600200" y="914400"/>
            <a:ext cx="1219200"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2165" name="Line 6">
            <a:extLst>
              <a:ext uri="{FF2B5EF4-FFF2-40B4-BE49-F238E27FC236}">
                <a16:creationId xmlns:a16="http://schemas.microsoft.com/office/drawing/2014/main" id="{C600FD5D-DA7F-4AF6-A7CF-9907F79A94D5}"/>
              </a:ext>
            </a:extLst>
          </p:cNvPr>
          <p:cNvSpPr>
            <a:spLocks noChangeShapeType="1"/>
          </p:cNvSpPr>
          <p:nvPr/>
        </p:nvSpPr>
        <p:spPr bwMode="auto">
          <a:xfrm>
            <a:off x="4038600" y="914400"/>
            <a:ext cx="1066800" cy="0"/>
          </a:xfrm>
          <a:prstGeom prst="line">
            <a:avLst/>
          </a:prstGeom>
          <a:noFill/>
          <a:ln w="1587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2166" name="Rectangle 7">
            <a:extLst>
              <a:ext uri="{FF2B5EF4-FFF2-40B4-BE49-F238E27FC236}">
                <a16:creationId xmlns:a16="http://schemas.microsoft.com/office/drawing/2014/main" id="{186C11B6-6B63-423F-BD32-E7E0658726B5}"/>
              </a:ext>
            </a:extLst>
          </p:cNvPr>
          <p:cNvSpPr>
            <a:spLocks noChangeArrowheads="1"/>
          </p:cNvSpPr>
          <p:nvPr/>
        </p:nvSpPr>
        <p:spPr bwMode="auto">
          <a:xfrm>
            <a:off x="1600200" y="885825"/>
            <a:ext cx="1157288"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600">
                <a:solidFill>
                  <a:srgbClr val="0000FF"/>
                </a:solidFill>
              </a:rPr>
              <a:t>biotin </a:t>
            </a:r>
          </a:p>
          <a:p>
            <a:r>
              <a:rPr lang="en-US" altLang="zh-CN" sz="1600">
                <a:solidFill>
                  <a:srgbClr val="0000FF"/>
                </a:solidFill>
              </a:rPr>
              <a:t>carboxylase</a:t>
            </a:r>
          </a:p>
        </p:txBody>
      </p:sp>
      <p:sp>
        <p:nvSpPr>
          <p:cNvPr id="92167" name="Rectangle 9">
            <a:extLst>
              <a:ext uri="{FF2B5EF4-FFF2-40B4-BE49-F238E27FC236}">
                <a16:creationId xmlns:a16="http://schemas.microsoft.com/office/drawing/2014/main" id="{03367566-961A-4139-B7D5-41983639B0CB}"/>
              </a:ext>
            </a:extLst>
          </p:cNvPr>
          <p:cNvSpPr>
            <a:spLocks noChangeArrowheads="1"/>
          </p:cNvSpPr>
          <p:nvPr/>
        </p:nvSpPr>
        <p:spPr bwMode="auto">
          <a:xfrm>
            <a:off x="3886200" y="838200"/>
            <a:ext cx="1157288"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600">
                <a:solidFill>
                  <a:srgbClr val="0000FF"/>
                </a:solidFill>
              </a:rPr>
              <a:t>Trans-</a:t>
            </a:r>
          </a:p>
          <a:p>
            <a:r>
              <a:rPr lang="en-US" altLang="zh-CN" sz="1600">
                <a:solidFill>
                  <a:srgbClr val="0000FF"/>
                </a:solidFill>
              </a:rPr>
              <a:t>carboxylase</a:t>
            </a:r>
          </a:p>
        </p:txBody>
      </p:sp>
      <p:pic>
        <p:nvPicPr>
          <p:cNvPr id="92168" name="Picture 13" descr="Fig 21-01.0-top.GIF001                                         0000691BSumanas' Hard Drive            B4EBCDA7:">
            <a:extLst>
              <a:ext uri="{FF2B5EF4-FFF2-40B4-BE49-F238E27FC236}">
                <a16:creationId xmlns:a16="http://schemas.microsoft.com/office/drawing/2014/main" id="{7EEED3B8-E632-4B21-9406-3368116A081F}"/>
              </a:ext>
            </a:extLst>
          </p:cNvPr>
          <p:cNvPicPr>
            <a:picLocks noChangeAspect="1" noChangeArrowheads="1"/>
          </p:cNvPicPr>
          <p:nvPr/>
        </p:nvPicPr>
        <p:blipFill>
          <a:blip r:embed="rId2" cstate="print">
            <a:lum bright="-16000" contrast="24000"/>
            <a:extLst>
              <a:ext uri="{28A0092B-C50C-407E-A947-70E740481C1C}">
                <a14:useLocalDpi xmlns:a14="http://schemas.microsoft.com/office/drawing/2010/main" val="0"/>
              </a:ext>
            </a:extLst>
          </a:blip>
          <a:srcRect/>
          <a:stretch>
            <a:fillRect/>
          </a:stretch>
        </p:blipFill>
        <p:spPr bwMode="auto">
          <a:xfrm>
            <a:off x="228600" y="685800"/>
            <a:ext cx="8686800" cy="4727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169" name="Text Box 15">
            <a:extLst>
              <a:ext uri="{FF2B5EF4-FFF2-40B4-BE49-F238E27FC236}">
                <a16:creationId xmlns:a16="http://schemas.microsoft.com/office/drawing/2014/main" id="{07060A7A-67B3-4DB5-9040-794EF0B3B9CF}"/>
              </a:ext>
            </a:extLst>
          </p:cNvPr>
          <p:cNvSpPr txBox="1">
            <a:spLocks noChangeArrowheads="1"/>
          </p:cNvSpPr>
          <p:nvPr/>
        </p:nvSpPr>
        <p:spPr bwMode="auto">
          <a:xfrm>
            <a:off x="381000" y="5229200"/>
            <a:ext cx="83058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4000" dirty="0"/>
              <a:t>biotin carboxyl-carrier protein    </a:t>
            </a:r>
            <a:r>
              <a:rPr lang="en-US" altLang="zh-CN" sz="4000" b="1" dirty="0">
                <a:solidFill>
                  <a:srgbClr val="FF0000"/>
                </a:solidFill>
              </a:rPr>
              <a:t>BCCP</a:t>
            </a:r>
            <a:r>
              <a:rPr lang="en-US" altLang="zh-CN" dirty="0">
                <a:solidFill>
                  <a:srgbClr val="FF0000"/>
                </a:solidFill>
              </a:rPr>
              <a:t> </a:t>
            </a:r>
            <a:r>
              <a:rPr lang="en-US" altLang="zh-CN" dirty="0"/>
              <a:t> </a:t>
            </a:r>
          </a:p>
        </p:txBody>
      </p:sp>
      <p:pic>
        <p:nvPicPr>
          <p:cNvPr id="2" name="图片 1">
            <a:extLst>
              <a:ext uri="{FF2B5EF4-FFF2-40B4-BE49-F238E27FC236}">
                <a16:creationId xmlns:a16="http://schemas.microsoft.com/office/drawing/2014/main" id="{18482AC2-EA08-B6F9-7B2B-E1F7A8BFF163}"/>
              </a:ext>
            </a:extLst>
          </p:cNvPr>
          <p:cNvPicPr>
            <a:picLocks noChangeAspect="1"/>
          </p:cNvPicPr>
          <p:nvPr/>
        </p:nvPicPr>
        <p:blipFill rotWithShape="1">
          <a:blip r:embed="rId3"/>
          <a:srcRect t="19760" b="14720"/>
          <a:stretch/>
        </p:blipFill>
        <p:spPr>
          <a:xfrm>
            <a:off x="1763688" y="39789"/>
            <a:ext cx="2592288" cy="1052754"/>
          </a:xfrm>
          <a:prstGeom prst="rect">
            <a:avLst/>
          </a:prstGeom>
        </p:spPr>
      </p:pic>
      <p:sp>
        <p:nvSpPr>
          <p:cNvPr id="3" name="文本框 2">
            <a:extLst>
              <a:ext uri="{FF2B5EF4-FFF2-40B4-BE49-F238E27FC236}">
                <a16:creationId xmlns:a16="http://schemas.microsoft.com/office/drawing/2014/main" id="{C84EA588-9D3C-E9B7-6927-751FA3FC2214}"/>
              </a:ext>
            </a:extLst>
          </p:cNvPr>
          <p:cNvSpPr txBox="1"/>
          <p:nvPr/>
        </p:nvSpPr>
        <p:spPr>
          <a:xfrm>
            <a:off x="4554840" y="272535"/>
            <a:ext cx="1915909" cy="369332"/>
          </a:xfrm>
          <a:prstGeom prst="rect">
            <a:avLst/>
          </a:prstGeom>
          <a:noFill/>
        </p:spPr>
        <p:txBody>
          <a:bodyPr wrap="none" rtlCol="0">
            <a:spAutoFit/>
          </a:bodyPr>
          <a:lstStyle/>
          <a:p>
            <a:r>
              <a:rPr lang="zh-CN" altLang="en-US" b="0" i="0" u="none" strike="noStrike" dirty="0">
                <a:solidFill>
                  <a:srgbClr val="2440B3"/>
                </a:solidFill>
                <a:effectLst/>
                <a:latin typeface="Arial" panose="020B0604020202020204" pitchFamily="34" charset="0"/>
                <a:hlinkClick r:id="rId4"/>
              </a:rPr>
              <a:t>维生素</a:t>
            </a:r>
            <a:r>
              <a:rPr lang="en-US" altLang="zh-CN" b="0" i="0" u="none" strike="noStrike" dirty="0">
                <a:solidFill>
                  <a:srgbClr val="2440B3"/>
                </a:solidFill>
                <a:effectLst/>
                <a:latin typeface="Arial" panose="020B0604020202020204" pitchFamily="34" charset="0"/>
                <a:hlinkClick r:id="rId4"/>
              </a:rPr>
              <a:t>B7 </a:t>
            </a:r>
            <a:r>
              <a:rPr lang="zh-CN" altLang="en-US" b="0" i="0" u="none" strike="noStrike" dirty="0">
                <a:solidFill>
                  <a:srgbClr val="F73131"/>
                </a:solidFill>
                <a:effectLst/>
                <a:latin typeface="Arial" panose="020B0604020202020204" pitchFamily="34" charset="0"/>
                <a:hlinkClick r:id="rId4"/>
              </a:rPr>
              <a:t>生物素</a:t>
            </a:r>
            <a:endParaRPr lang="zh-CN" altLang="en-US" dirty="0"/>
          </a:p>
        </p:txBody>
      </p:sp>
    </p:spTree>
    <p:extLst>
      <p:ext uri="{BB962C8B-B14F-4D97-AF65-F5344CB8AC3E}">
        <p14:creationId xmlns:p14="http://schemas.microsoft.com/office/powerpoint/2010/main" val="1223617897"/>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3186" name="Picture 2" descr="I:\whole\image\24\49033-24-03 copy.jpg">
            <a:extLst>
              <a:ext uri="{FF2B5EF4-FFF2-40B4-BE49-F238E27FC236}">
                <a16:creationId xmlns:a16="http://schemas.microsoft.com/office/drawing/2014/main" id="{FDEA8DF4-1787-4FAD-AEF3-FEA17D633C16}"/>
              </a:ext>
            </a:extLst>
          </p:cNvPr>
          <p:cNvPicPr>
            <a:picLocks noChangeAspect="1" noChangeArrowheads="1"/>
          </p:cNvPicPr>
          <p:nvPr/>
        </p:nvPicPr>
        <p:blipFill>
          <a:blip r:embed="rId2" cstate="print">
            <a:lum bright="-12000"/>
            <a:extLst>
              <a:ext uri="{28A0092B-C50C-407E-A947-70E740481C1C}">
                <a14:useLocalDpi xmlns:a14="http://schemas.microsoft.com/office/drawing/2010/main" val="0"/>
              </a:ext>
            </a:extLst>
          </a:blip>
          <a:srcRect/>
          <a:stretch>
            <a:fillRect/>
          </a:stretch>
        </p:blipFill>
        <p:spPr bwMode="auto">
          <a:xfrm>
            <a:off x="304800" y="1371600"/>
            <a:ext cx="8572500" cy="322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60877422"/>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4210" name="Picture 2">
            <a:extLst>
              <a:ext uri="{FF2B5EF4-FFF2-40B4-BE49-F238E27FC236}">
                <a16:creationId xmlns:a16="http://schemas.microsoft.com/office/drawing/2014/main" id="{5E45FB3F-8DB8-4343-8FDF-EB2E50EEE9B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66800" y="228600"/>
            <a:ext cx="6654800" cy="6191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60819008"/>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a:extLst>
              <a:ext uri="{FF2B5EF4-FFF2-40B4-BE49-F238E27FC236}">
                <a16:creationId xmlns:a16="http://schemas.microsoft.com/office/drawing/2014/main" id="{57C233F1-F65E-4D3E-B038-6CBACF3F7C3D}"/>
              </a:ext>
            </a:extLst>
          </p:cNvPr>
          <p:cNvSpPr>
            <a:spLocks noGrp="1" noChangeArrowheads="1"/>
          </p:cNvSpPr>
          <p:nvPr>
            <p:ph type="title" idx="4294967295"/>
          </p:nvPr>
        </p:nvSpPr>
        <p:spPr>
          <a:xfrm>
            <a:off x="-1420" y="620688"/>
            <a:ext cx="9144000" cy="2289175"/>
          </a:xfrm>
        </p:spPr>
        <p:txBody>
          <a:bodyPr/>
          <a:lstStyle/>
          <a:p>
            <a:pPr eaLnBrk="1" hangingPunct="1"/>
            <a:r>
              <a:rPr lang="en-US" altLang="zh-CN" sz="3600" dirty="0">
                <a:solidFill>
                  <a:srgbClr val="0000FF"/>
                </a:solidFill>
              </a:rPr>
              <a:t>4. The acetyl and malonyl groups are first transferred to two </a:t>
            </a:r>
            <a:r>
              <a:rPr lang="en-US" altLang="zh-CN" sz="3600" dirty="0">
                <a:solidFill>
                  <a:srgbClr val="0000FF"/>
                </a:solidFill>
                <a:latin typeface="Arial" panose="020B0604020202020204" pitchFamily="34" charset="0"/>
              </a:rPr>
              <a:t>–</a:t>
            </a:r>
            <a:r>
              <a:rPr lang="en-US" altLang="zh-CN" sz="3600" dirty="0">
                <a:solidFill>
                  <a:srgbClr val="0000FF"/>
                </a:solidFill>
              </a:rPr>
              <a:t>SH groups of the fatty acid synthase complex</a:t>
            </a:r>
          </a:p>
        </p:txBody>
      </p:sp>
      <p:sp>
        <p:nvSpPr>
          <p:cNvPr id="95235" name="Rectangle 3">
            <a:extLst>
              <a:ext uri="{FF2B5EF4-FFF2-40B4-BE49-F238E27FC236}">
                <a16:creationId xmlns:a16="http://schemas.microsoft.com/office/drawing/2014/main" id="{BA7C8269-D7FD-4A9F-AA8A-DFA16359306C}"/>
              </a:ext>
            </a:extLst>
          </p:cNvPr>
          <p:cNvSpPr>
            <a:spLocks noGrp="1" noChangeArrowheads="1"/>
          </p:cNvSpPr>
          <p:nvPr>
            <p:ph type="body" idx="4294967295"/>
          </p:nvPr>
        </p:nvSpPr>
        <p:spPr>
          <a:xfrm>
            <a:off x="14604" y="2708920"/>
            <a:ext cx="9144000" cy="3048000"/>
          </a:xfrm>
          <a:solidFill>
            <a:schemeClr val="bg1"/>
          </a:solidFill>
          <a:ln>
            <a:solidFill>
              <a:schemeClr val="bg1"/>
            </a:solidFill>
            <a:miter lim="800000"/>
            <a:headEnd/>
            <a:tailEnd/>
          </a:ln>
        </p:spPr>
        <p:txBody>
          <a:bodyPr/>
          <a:lstStyle/>
          <a:p>
            <a:pPr eaLnBrk="1" hangingPunct="1">
              <a:lnSpc>
                <a:spcPct val="90000"/>
              </a:lnSpc>
            </a:pPr>
            <a:r>
              <a:rPr lang="en-US" altLang="zh-CN" sz="2800" dirty="0"/>
              <a:t>The acetyl group of acetyl-CoA is first transferred to the </a:t>
            </a:r>
            <a:r>
              <a:rPr lang="en-US" altLang="zh-CN" sz="2800" dirty="0">
                <a:latin typeface="Times New Roman" panose="02020603050405020304" pitchFamily="18" charset="0"/>
              </a:rPr>
              <a:t>–</a:t>
            </a:r>
            <a:r>
              <a:rPr lang="en-US" altLang="zh-CN" sz="2800" dirty="0"/>
              <a:t>SH group of a </a:t>
            </a:r>
            <a:r>
              <a:rPr lang="en-US" altLang="zh-CN" sz="2800" dirty="0" err="1"/>
              <a:t>Cys</a:t>
            </a:r>
            <a:r>
              <a:rPr lang="en-US" altLang="zh-CN" sz="2800" dirty="0"/>
              <a:t> residue on the </a:t>
            </a:r>
            <a:r>
              <a:rPr lang="en-US" altLang="zh-CN" sz="2800" dirty="0">
                <a:latin typeface="Symbol" panose="05050102010706020507" pitchFamily="18" charset="2"/>
              </a:rPr>
              <a:t>b</a:t>
            </a:r>
            <a:r>
              <a:rPr lang="en-US" altLang="zh-CN" sz="2800" dirty="0"/>
              <a:t>-ketoacyl-ACP synthase (KS) in a reaction catalyzed by acetyl-CoA-ACP </a:t>
            </a:r>
            <a:r>
              <a:rPr lang="en-US" altLang="zh-CN" sz="2800" dirty="0" err="1"/>
              <a:t>transacetylase</a:t>
            </a:r>
            <a:r>
              <a:rPr lang="en-US" altLang="zh-CN" sz="2800" dirty="0"/>
              <a:t> </a:t>
            </a:r>
            <a:r>
              <a:rPr lang="en-US" altLang="zh-CN" sz="2800" dirty="0">
                <a:solidFill>
                  <a:srgbClr val="7030A0"/>
                </a:solidFill>
              </a:rPr>
              <a:t>(AT).</a:t>
            </a:r>
          </a:p>
          <a:p>
            <a:pPr eaLnBrk="1" hangingPunct="1">
              <a:lnSpc>
                <a:spcPct val="90000"/>
              </a:lnSpc>
            </a:pPr>
            <a:r>
              <a:rPr lang="en-US" altLang="zh-CN" sz="2800" dirty="0"/>
              <a:t>The malonyl group is transferred from malonyl-CoA to the </a:t>
            </a:r>
            <a:r>
              <a:rPr lang="en-US" altLang="zh-CN" sz="2800" dirty="0">
                <a:latin typeface="Times New Roman" panose="02020603050405020304" pitchFamily="18" charset="0"/>
              </a:rPr>
              <a:t>–</a:t>
            </a:r>
            <a:r>
              <a:rPr lang="en-US" altLang="zh-CN" sz="2800" dirty="0"/>
              <a:t>SH group of the acyl carrier protein </a:t>
            </a:r>
            <a:r>
              <a:rPr lang="en-US" altLang="zh-CN" sz="2800" dirty="0">
                <a:solidFill>
                  <a:srgbClr val="7030A0"/>
                </a:solidFill>
              </a:rPr>
              <a:t>(ACP) </a:t>
            </a:r>
            <a:r>
              <a:rPr lang="en-US" altLang="zh-CN" sz="2800" dirty="0"/>
              <a:t>catalyzed by malonyl-CoA-ACP </a:t>
            </a:r>
            <a:r>
              <a:rPr lang="en-US" altLang="zh-CN" sz="2800" dirty="0" err="1"/>
              <a:t>transacetylase</a:t>
            </a:r>
            <a:r>
              <a:rPr lang="en-US" altLang="zh-CN" sz="2800" dirty="0"/>
              <a:t> </a:t>
            </a:r>
            <a:r>
              <a:rPr lang="en-US" altLang="zh-CN" sz="2800" dirty="0">
                <a:solidFill>
                  <a:srgbClr val="7030A0"/>
                </a:solidFill>
              </a:rPr>
              <a:t>(MT).</a:t>
            </a:r>
          </a:p>
        </p:txBody>
      </p:sp>
    </p:spTree>
    <p:extLst>
      <p:ext uri="{BB962C8B-B14F-4D97-AF65-F5344CB8AC3E}">
        <p14:creationId xmlns:p14="http://schemas.microsoft.com/office/powerpoint/2010/main" val="169018029"/>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6258" name="Picture 5" descr="Fig 21-03.1.GIF009                                             0000691BSumanas' Hard Drive            B4EBCDA7:">
            <a:extLst>
              <a:ext uri="{FF2B5EF4-FFF2-40B4-BE49-F238E27FC236}">
                <a16:creationId xmlns:a16="http://schemas.microsoft.com/office/drawing/2014/main" id="{FB8C85CD-19DB-4B77-B017-0408BC2DE05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8600" y="609600"/>
            <a:ext cx="8763000" cy="5167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44797849"/>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7282" name="Picture 1026" descr="Fig 21-05.1-01.GIF012                                          0000691BSumanas' Hard Drive            B4EBCDA7:">
            <a:extLst>
              <a:ext uri="{FF2B5EF4-FFF2-40B4-BE49-F238E27FC236}">
                <a16:creationId xmlns:a16="http://schemas.microsoft.com/office/drawing/2014/main" id="{346EA092-DAE4-4B91-A92D-8113D851624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l="26315" b="58411"/>
          <a:stretch>
            <a:fillRect/>
          </a:stretch>
        </p:blipFill>
        <p:spPr bwMode="auto">
          <a:xfrm>
            <a:off x="2667000" y="685800"/>
            <a:ext cx="5334000" cy="4806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7283" name="Rectangle 1028">
            <a:extLst>
              <a:ext uri="{FF2B5EF4-FFF2-40B4-BE49-F238E27FC236}">
                <a16:creationId xmlns:a16="http://schemas.microsoft.com/office/drawing/2014/main" id="{EF8FF01E-860E-458F-8BE1-69388E5F2A6B}"/>
              </a:ext>
            </a:extLst>
          </p:cNvPr>
          <p:cNvSpPr>
            <a:spLocks noChangeArrowheads="1"/>
          </p:cNvSpPr>
          <p:nvPr/>
        </p:nvSpPr>
        <p:spPr bwMode="auto">
          <a:xfrm>
            <a:off x="2667000" y="4402138"/>
            <a:ext cx="304800" cy="1066800"/>
          </a:xfrm>
          <a:prstGeom prst="rect">
            <a:avLst/>
          </a:prstGeom>
          <a:solidFill>
            <a:schemeClr val="tx1"/>
          </a:solidFill>
          <a:ln w="9525">
            <a:solidFill>
              <a:schemeClr val="tx1"/>
            </a:solidFill>
            <a:miter lim="800000"/>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Tree>
    <p:extLst>
      <p:ext uri="{BB962C8B-B14F-4D97-AF65-F5344CB8AC3E}">
        <p14:creationId xmlns:p14="http://schemas.microsoft.com/office/powerpoint/2010/main" val="3161135703"/>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a:extLst>
              <a:ext uri="{FF2B5EF4-FFF2-40B4-BE49-F238E27FC236}">
                <a16:creationId xmlns:a16="http://schemas.microsoft.com/office/drawing/2014/main" id="{75C3607B-99DB-45C7-B4AD-656E0D9E088D}"/>
              </a:ext>
            </a:extLst>
          </p:cNvPr>
          <p:cNvSpPr>
            <a:spLocks noGrp="1" noChangeArrowheads="1"/>
          </p:cNvSpPr>
          <p:nvPr>
            <p:ph type="title" idx="4294967295"/>
          </p:nvPr>
        </p:nvSpPr>
        <p:spPr>
          <a:xfrm>
            <a:off x="0" y="304800"/>
            <a:ext cx="7772400" cy="1373188"/>
          </a:xfrm>
        </p:spPr>
        <p:txBody>
          <a:bodyPr/>
          <a:lstStyle/>
          <a:p>
            <a:pPr eaLnBrk="1" hangingPunct="1"/>
            <a:r>
              <a:rPr lang="en-US" altLang="zh-CN" sz="2800" dirty="0">
                <a:solidFill>
                  <a:srgbClr val="0000FF"/>
                </a:solidFill>
              </a:rPr>
              <a:t>The acyl carrier protein (ACP) is very similar to CoA (thus can be regarded as </a:t>
            </a:r>
            <a:r>
              <a:rPr lang="en-US" altLang="zh-CN" sz="2800" dirty="0">
                <a:solidFill>
                  <a:srgbClr val="0000FF"/>
                </a:solidFill>
                <a:latin typeface="Times New Roman" panose="02020603050405020304" pitchFamily="18" charset="0"/>
              </a:rPr>
              <a:t>“</a:t>
            </a:r>
            <a:r>
              <a:rPr lang="en-US" altLang="zh-CN" sz="2800" dirty="0">
                <a:solidFill>
                  <a:srgbClr val="0000FF"/>
                </a:solidFill>
              </a:rPr>
              <a:t>macro CoA</a:t>
            </a:r>
            <a:r>
              <a:rPr lang="en-US" altLang="zh-CN" sz="2800" dirty="0">
                <a:solidFill>
                  <a:srgbClr val="0000FF"/>
                </a:solidFill>
                <a:latin typeface="Times New Roman" panose="02020603050405020304" pitchFamily="18" charset="0"/>
              </a:rPr>
              <a:t>”</a:t>
            </a:r>
            <a:r>
              <a:rPr lang="en-US" altLang="zh-CN" sz="2800" dirty="0">
                <a:solidFill>
                  <a:srgbClr val="0000FF"/>
                </a:solidFill>
              </a:rPr>
              <a:t>)</a:t>
            </a:r>
            <a:endParaRPr lang="en-US" altLang="zh-CN" dirty="0">
              <a:solidFill>
                <a:srgbClr val="0000FF"/>
              </a:solidFill>
            </a:endParaRPr>
          </a:p>
        </p:txBody>
      </p:sp>
      <p:pic>
        <p:nvPicPr>
          <p:cNvPr id="98307" name="Picture 2" descr="I:\whole\image\24\49033-24-06 copy.jpg">
            <a:extLst>
              <a:ext uri="{FF2B5EF4-FFF2-40B4-BE49-F238E27FC236}">
                <a16:creationId xmlns:a16="http://schemas.microsoft.com/office/drawing/2014/main" id="{3C6A6003-3E13-41CD-A925-D9E52D2E30A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0500" y="2514600"/>
            <a:ext cx="88773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59872189"/>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6" name="Picture 2" descr="未标题-1 拷贝">
            <a:extLst>
              <a:ext uri="{FF2B5EF4-FFF2-40B4-BE49-F238E27FC236}">
                <a16:creationId xmlns:a16="http://schemas.microsoft.com/office/drawing/2014/main" id="{A30922DE-AEB2-4426-995C-69C91EDEC75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1188" y="1916113"/>
            <a:ext cx="8026400" cy="335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a:extLst>
              <a:ext uri="{FF2B5EF4-FFF2-40B4-BE49-F238E27FC236}">
                <a16:creationId xmlns:a16="http://schemas.microsoft.com/office/drawing/2014/main" id="{49B7BA10-8109-4400-AD95-5F4613E1A31D}"/>
              </a:ext>
            </a:extLst>
          </p:cNvPr>
          <p:cNvPicPr>
            <a:picLocks noChangeAspect="1" noChangeArrowheads="1"/>
          </p:cNvPicPr>
          <p:nvPr/>
        </p:nvPicPr>
        <p:blipFill rotWithShape="1">
          <a:blip r:embed="rId4" cstate="print">
            <a:lum contrast="42000"/>
            <a:extLst>
              <a:ext uri="{28A0092B-C50C-407E-A947-70E740481C1C}">
                <a14:useLocalDpi xmlns:a14="http://schemas.microsoft.com/office/drawing/2010/main" val="0"/>
              </a:ext>
            </a:extLst>
          </a:blip>
          <a:srcRect l="24028" t="46695" r="35115" b="49611"/>
          <a:stretch/>
        </p:blipFill>
        <p:spPr bwMode="auto">
          <a:xfrm>
            <a:off x="3635896" y="908720"/>
            <a:ext cx="4248472" cy="2880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a:extLst>
              <a:ext uri="{FF2B5EF4-FFF2-40B4-BE49-F238E27FC236}">
                <a16:creationId xmlns:a16="http://schemas.microsoft.com/office/drawing/2014/main" id="{63F01833-FAFA-11D6-34D9-D3A38A7DBE50}"/>
              </a:ext>
            </a:extLst>
          </p:cNvPr>
          <p:cNvSpPr txBox="1"/>
          <p:nvPr/>
        </p:nvSpPr>
        <p:spPr>
          <a:xfrm>
            <a:off x="3059832" y="870784"/>
            <a:ext cx="504056" cy="369332"/>
          </a:xfrm>
          <a:prstGeom prst="rect">
            <a:avLst/>
          </a:prstGeom>
          <a:noFill/>
        </p:spPr>
        <p:txBody>
          <a:bodyPr wrap="square" rtlCol="0">
            <a:spAutoFit/>
          </a:bodyPr>
          <a:lstStyle/>
          <a:p>
            <a:r>
              <a:rPr lang="en-US" altLang="zh-CN" dirty="0"/>
              <a:t>B5</a:t>
            </a:r>
            <a:endParaRPr lang="zh-CN" altLang="en-US"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9330" name="Picture 2" descr="F:\biochemistry\素材庫\0198D1.jpg">
            <a:extLst>
              <a:ext uri="{FF2B5EF4-FFF2-40B4-BE49-F238E27FC236}">
                <a16:creationId xmlns:a16="http://schemas.microsoft.com/office/drawing/2014/main" id="{9A1B3350-1CC4-4ECE-A403-38F0D82C410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38649744"/>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0354" name="Picture 2" descr="F:\biochemistry\素材庫\0198D2.jpg">
            <a:extLst>
              <a:ext uri="{FF2B5EF4-FFF2-40B4-BE49-F238E27FC236}">
                <a16:creationId xmlns:a16="http://schemas.microsoft.com/office/drawing/2014/main" id="{6BB18C77-BC46-42F7-9C3C-ABF47DC389C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4800" y="0"/>
            <a:ext cx="8839200" cy="662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10945593"/>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a:extLst>
              <a:ext uri="{FF2B5EF4-FFF2-40B4-BE49-F238E27FC236}">
                <a16:creationId xmlns:a16="http://schemas.microsoft.com/office/drawing/2014/main" id="{ADD5F844-C7E7-4517-89BC-AEF1FC9E141A}"/>
              </a:ext>
            </a:extLst>
          </p:cNvPr>
          <p:cNvSpPr>
            <a:spLocks noGrp="1" noChangeArrowheads="1"/>
          </p:cNvSpPr>
          <p:nvPr>
            <p:ph type="title" idx="4294967295"/>
          </p:nvPr>
        </p:nvSpPr>
        <p:spPr>
          <a:xfrm>
            <a:off x="0" y="539750"/>
            <a:ext cx="9144000" cy="1739900"/>
          </a:xfrm>
        </p:spPr>
        <p:txBody>
          <a:bodyPr/>
          <a:lstStyle/>
          <a:p>
            <a:pPr eaLnBrk="1" hangingPunct="1"/>
            <a:r>
              <a:rPr lang="en-US" altLang="zh-CN" sz="3600" dirty="0">
                <a:solidFill>
                  <a:srgbClr val="0000FF"/>
                </a:solidFill>
              </a:rPr>
              <a:t>4. Fatty acids are synthesized by a repeating four-step reaction sequence</a:t>
            </a:r>
          </a:p>
        </p:txBody>
      </p:sp>
      <p:sp>
        <p:nvSpPr>
          <p:cNvPr id="101379" name="Rectangle 3">
            <a:extLst>
              <a:ext uri="{FF2B5EF4-FFF2-40B4-BE49-F238E27FC236}">
                <a16:creationId xmlns:a16="http://schemas.microsoft.com/office/drawing/2014/main" id="{5BD9DFFC-7542-4833-928A-C16CB299AB46}"/>
              </a:ext>
            </a:extLst>
          </p:cNvPr>
          <p:cNvSpPr>
            <a:spLocks noGrp="1" noChangeArrowheads="1"/>
          </p:cNvSpPr>
          <p:nvPr>
            <p:ph type="body" idx="4294967295"/>
          </p:nvPr>
        </p:nvSpPr>
        <p:spPr>
          <a:xfrm>
            <a:off x="0" y="2817813"/>
            <a:ext cx="7350125" cy="2578100"/>
          </a:xfrm>
        </p:spPr>
        <p:txBody>
          <a:bodyPr/>
          <a:lstStyle/>
          <a:p>
            <a:pPr eaLnBrk="1" hangingPunct="1"/>
            <a:r>
              <a:rPr lang="en-US" altLang="zh-CN" sz="4400" dirty="0">
                <a:solidFill>
                  <a:srgbClr val="FF6600"/>
                </a:solidFill>
              </a:rPr>
              <a:t>step 1</a:t>
            </a:r>
            <a:r>
              <a:rPr lang="en-US" altLang="zh-CN" sz="4400" dirty="0"/>
              <a:t> </a:t>
            </a:r>
          </a:p>
          <a:p>
            <a:pPr eaLnBrk="1" hangingPunct="1">
              <a:buFontTx/>
              <a:buNone/>
            </a:pPr>
            <a:r>
              <a:rPr lang="en-US" altLang="zh-CN" sz="3600" dirty="0"/>
              <a:t>   Condensation of acetyl-ACP and malonyl-ACP to form </a:t>
            </a:r>
            <a:r>
              <a:rPr lang="en-US" altLang="zh-CN" sz="3600" dirty="0" err="1"/>
              <a:t>acetoacetyl</a:t>
            </a:r>
            <a:r>
              <a:rPr lang="en-US" altLang="zh-CN" sz="3600" dirty="0"/>
              <a:t>-ACP, releasing free ACP and CO</a:t>
            </a:r>
            <a:r>
              <a:rPr lang="en-US" altLang="zh-CN" sz="3600" baseline="-25000" dirty="0"/>
              <a:t>2</a:t>
            </a:r>
            <a:r>
              <a:rPr lang="en-US" altLang="zh-CN" sz="3600" dirty="0"/>
              <a:t>.</a:t>
            </a:r>
          </a:p>
        </p:txBody>
      </p:sp>
    </p:spTree>
    <p:extLst>
      <p:ext uri="{BB962C8B-B14F-4D97-AF65-F5344CB8AC3E}">
        <p14:creationId xmlns:p14="http://schemas.microsoft.com/office/powerpoint/2010/main" val="2260244458"/>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02" name="Picture 4" descr="Fig 21-02.1-01.GIF004                                          0000691BSumanas' Hard Drive            B4EBCDA7:">
            <a:extLst>
              <a:ext uri="{FF2B5EF4-FFF2-40B4-BE49-F238E27FC236}">
                <a16:creationId xmlns:a16="http://schemas.microsoft.com/office/drawing/2014/main" id="{334840B0-1915-4063-A673-EA59A63F0C9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71600" y="304800"/>
            <a:ext cx="6019800" cy="5964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54658407"/>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a:extLst>
              <a:ext uri="{FF2B5EF4-FFF2-40B4-BE49-F238E27FC236}">
                <a16:creationId xmlns:a16="http://schemas.microsoft.com/office/drawing/2014/main" id="{4ABA6ED5-71F2-4F05-A85B-FF0A8B0C3A84}"/>
              </a:ext>
            </a:extLst>
          </p:cNvPr>
          <p:cNvSpPr>
            <a:spLocks noGrp="1" noChangeArrowheads="1"/>
          </p:cNvSpPr>
          <p:nvPr>
            <p:ph type="title" idx="4294967295"/>
          </p:nvPr>
        </p:nvSpPr>
        <p:spPr>
          <a:xfrm>
            <a:off x="0" y="800100"/>
            <a:ext cx="7772400" cy="762000"/>
          </a:xfrm>
        </p:spPr>
        <p:txBody>
          <a:bodyPr/>
          <a:lstStyle/>
          <a:p>
            <a:pPr algn="l" eaLnBrk="1" hangingPunct="1"/>
            <a:r>
              <a:rPr lang="en-US" altLang="zh-CN" dirty="0">
                <a:solidFill>
                  <a:srgbClr val="0000FF"/>
                </a:solidFill>
                <a:latin typeface="Arial" panose="020B0604020202020204" pitchFamily="34" charset="0"/>
              </a:rPr>
              <a:t>Step 2</a:t>
            </a:r>
          </a:p>
        </p:txBody>
      </p:sp>
      <p:sp>
        <p:nvSpPr>
          <p:cNvPr id="103427" name="Rectangle 3">
            <a:extLst>
              <a:ext uri="{FF2B5EF4-FFF2-40B4-BE49-F238E27FC236}">
                <a16:creationId xmlns:a16="http://schemas.microsoft.com/office/drawing/2014/main" id="{D0DA4D89-32CD-4007-9B53-7E96E324EF4F}"/>
              </a:ext>
            </a:extLst>
          </p:cNvPr>
          <p:cNvSpPr>
            <a:spLocks noGrp="1" noChangeArrowheads="1"/>
          </p:cNvSpPr>
          <p:nvPr>
            <p:ph type="body" idx="4294967295"/>
          </p:nvPr>
        </p:nvSpPr>
        <p:spPr>
          <a:xfrm>
            <a:off x="323528" y="2204864"/>
            <a:ext cx="0" cy="0"/>
          </a:xfrm>
        </p:spPr>
        <p:txBody>
          <a:bodyPr/>
          <a:lstStyle/>
          <a:p>
            <a:pPr marL="0" indent="0" eaLnBrk="1" hangingPunct="1">
              <a:buNone/>
            </a:pPr>
            <a:r>
              <a:rPr lang="en-US" altLang="zh-CN" sz="4400" dirty="0"/>
              <a:t>Reduction of </a:t>
            </a:r>
            <a:r>
              <a:rPr lang="en-US" altLang="zh-CN" sz="4400" dirty="0" err="1"/>
              <a:t>acetoacetyl</a:t>
            </a:r>
            <a:r>
              <a:rPr lang="en-US" altLang="zh-CN" sz="4400" dirty="0"/>
              <a:t>-ACP to </a:t>
            </a:r>
          </a:p>
          <a:p>
            <a:pPr marL="0" indent="0" eaLnBrk="1" hangingPunct="1">
              <a:buNone/>
            </a:pPr>
            <a:r>
              <a:rPr lang="en-US" altLang="zh-CN" sz="4400" dirty="0"/>
              <a:t>form </a:t>
            </a:r>
            <a:r>
              <a:rPr lang="en-US" altLang="zh-CN" sz="4400" dirty="0" err="1"/>
              <a:t>hydroxybutyryl</a:t>
            </a:r>
            <a:r>
              <a:rPr lang="en-US" altLang="zh-CN" sz="4400" dirty="0"/>
              <a:t>-ACP, using </a:t>
            </a:r>
          </a:p>
          <a:p>
            <a:pPr marL="0" indent="0" eaLnBrk="1" hangingPunct="1">
              <a:buNone/>
            </a:pPr>
            <a:r>
              <a:rPr lang="en-US" altLang="zh-CN" sz="4400" dirty="0"/>
              <a:t>NADPH as reductant. </a:t>
            </a:r>
          </a:p>
        </p:txBody>
      </p:sp>
    </p:spTree>
    <p:extLst>
      <p:ext uri="{BB962C8B-B14F-4D97-AF65-F5344CB8AC3E}">
        <p14:creationId xmlns:p14="http://schemas.microsoft.com/office/powerpoint/2010/main" val="3397468309"/>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4450" name="Picture 4" descr="Fig 21-02.2-02.GIF005                                          0000691BSumanas' Hard Drive            B4EBCDA7:">
            <a:extLst>
              <a:ext uri="{FF2B5EF4-FFF2-40B4-BE49-F238E27FC236}">
                <a16:creationId xmlns:a16="http://schemas.microsoft.com/office/drawing/2014/main" id="{A132A9C1-A0A0-4719-8285-B27002C7C13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90800" y="152400"/>
            <a:ext cx="3368675" cy="632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45662476"/>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3">
            <a:extLst>
              <a:ext uri="{FF2B5EF4-FFF2-40B4-BE49-F238E27FC236}">
                <a16:creationId xmlns:a16="http://schemas.microsoft.com/office/drawing/2014/main" id="{951C60BC-0C1A-4FCD-9856-FD6BCDF58BFF}"/>
              </a:ext>
            </a:extLst>
          </p:cNvPr>
          <p:cNvSpPr>
            <a:spLocks noGrp="1" noChangeArrowheads="1"/>
          </p:cNvSpPr>
          <p:nvPr>
            <p:ph type="body" idx="4294967295"/>
          </p:nvPr>
        </p:nvSpPr>
        <p:spPr>
          <a:xfrm>
            <a:off x="0" y="381000"/>
            <a:ext cx="9144000" cy="4114800"/>
          </a:xfrm>
        </p:spPr>
        <p:txBody>
          <a:bodyPr/>
          <a:lstStyle/>
          <a:p>
            <a:pPr eaLnBrk="1" hangingPunct="1"/>
            <a:r>
              <a:rPr lang="en-US" altLang="zh-CN" sz="4400" dirty="0">
                <a:solidFill>
                  <a:srgbClr val="0000FF"/>
                </a:solidFill>
              </a:rPr>
              <a:t>Step 3</a:t>
            </a:r>
          </a:p>
          <a:p>
            <a:pPr eaLnBrk="1" hangingPunct="1"/>
            <a:endParaRPr lang="en-US" altLang="zh-CN" sz="4400" dirty="0">
              <a:solidFill>
                <a:srgbClr val="FF6600"/>
              </a:solidFill>
            </a:endParaRPr>
          </a:p>
          <a:p>
            <a:pPr eaLnBrk="1" hangingPunct="1"/>
            <a:r>
              <a:rPr lang="en-US" altLang="zh-CN" sz="3600" dirty="0"/>
              <a:t> </a:t>
            </a:r>
            <a:r>
              <a:rPr lang="en-US" altLang="zh-CN" sz="4000" dirty="0"/>
              <a:t>dehydration of </a:t>
            </a:r>
            <a:r>
              <a:rPr lang="en-US" altLang="zh-CN" sz="4000" dirty="0" err="1"/>
              <a:t>hydroxybutyryl</a:t>
            </a:r>
            <a:r>
              <a:rPr lang="en-US" altLang="zh-CN" sz="4000" dirty="0"/>
              <a:t>-ACP to produce crotonyl-ACP.</a:t>
            </a:r>
          </a:p>
        </p:txBody>
      </p:sp>
    </p:spTree>
    <p:extLst>
      <p:ext uri="{BB962C8B-B14F-4D97-AF65-F5344CB8AC3E}">
        <p14:creationId xmlns:p14="http://schemas.microsoft.com/office/powerpoint/2010/main" val="1677415973"/>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6498" name="Picture 4" descr="Fig 21-02.3-03.GIF006                                          0000691BSumanas' Hard Drive            B4EBCDA7:">
            <a:extLst>
              <a:ext uri="{FF2B5EF4-FFF2-40B4-BE49-F238E27FC236}">
                <a16:creationId xmlns:a16="http://schemas.microsoft.com/office/drawing/2014/main" id="{5B3D275D-9FF2-42DA-928F-97438CF318C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38400" y="152400"/>
            <a:ext cx="3887788" cy="640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31544016"/>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3">
            <a:extLst>
              <a:ext uri="{FF2B5EF4-FFF2-40B4-BE49-F238E27FC236}">
                <a16:creationId xmlns:a16="http://schemas.microsoft.com/office/drawing/2014/main" id="{259413F6-6C08-4D93-832E-668E91CF5C3B}"/>
              </a:ext>
            </a:extLst>
          </p:cNvPr>
          <p:cNvSpPr>
            <a:spLocks noGrp="1" noChangeArrowheads="1"/>
          </p:cNvSpPr>
          <p:nvPr>
            <p:ph type="body" idx="4294967295"/>
          </p:nvPr>
        </p:nvSpPr>
        <p:spPr>
          <a:xfrm>
            <a:off x="0" y="457200"/>
            <a:ext cx="9144000" cy="4114800"/>
          </a:xfrm>
        </p:spPr>
        <p:txBody>
          <a:bodyPr/>
          <a:lstStyle/>
          <a:p>
            <a:pPr eaLnBrk="1" hangingPunct="1"/>
            <a:r>
              <a:rPr lang="en-US" altLang="zh-CN" sz="4400" dirty="0">
                <a:solidFill>
                  <a:srgbClr val="0000FF"/>
                </a:solidFill>
              </a:rPr>
              <a:t>Step 4</a:t>
            </a:r>
          </a:p>
          <a:p>
            <a:pPr eaLnBrk="1" hangingPunct="1"/>
            <a:endParaRPr lang="en-US" altLang="zh-CN" sz="4400" dirty="0">
              <a:solidFill>
                <a:srgbClr val="FF6600"/>
              </a:solidFill>
            </a:endParaRPr>
          </a:p>
          <a:p>
            <a:pPr eaLnBrk="1" hangingPunct="1"/>
            <a:r>
              <a:rPr lang="en-US" altLang="zh-CN" sz="4000" dirty="0"/>
              <a:t>Reduction of crotonyl-ACP by a second NADPH molecule to give butyryl-ACP .</a:t>
            </a:r>
          </a:p>
        </p:txBody>
      </p:sp>
    </p:spTree>
    <p:extLst>
      <p:ext uri="{BB962C8B-B14F-4D97-AF65-F5344CB8AC3E}">
        <p14:creationId xmlns:p14="http://schemas.microsoft.com/office/powerpoint/2010/main" val="1078685025"/>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8546" name="Picture 4" descr="Fig 21-02.4-04.GIF007                                          0000691BSumanas' Hard Drive            B4EBCDA7:">
            <a:extLst>
              <a:ext uri="{FF2B5EF4-FFF2-40B4-BE49-F238E27FC236}">
                <a16:creationId xmlns:a16="http://schemas.microsoft.com/office/drawing/2014/main" id="{F89E8A7E-4886-4892-94D3-A4A9B72014E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33600" y="228600"/>
            <a:ext cx="5024438" cy="632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30371620"/>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9570" name="Picture 5" descr="F:\课件\素材库2\0202D1.jpe">
            <a:extLst>
              <a:ext uri="{FF2B5EF4-FFF2-40B4-BE49-F238E27FC236}">
                <a16:creationId xmlns:a16="http://schemas.microsoft.com/office/drawing/2014/main" id="{AE03F3D2-C264-4903-AD00-F06A892013F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9600" y="152400"/>
            <a:ext cx="8153400" cy="6115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22545155"/>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0594" name="Picture 4" descr="F:\课件\素材库2\0202D2.jpe">
            <a:extLst>
              <a:ext uri="{FF2B5EF4-FFF2-40B4-BE49-F238E27FC236}">
                <a16:creationId xmlns:a16="http://schemas.microsoft.com/office/drawing/2014/main" id="{F19C4796-66C9-411B-9D25-525D5844F3F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7200" y="152400"/>
            <a:ext cx="8153400" cy="6115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20345346"/>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1618" name="Picture 2" descr="Fig 21-03.1.GIF009                                             0000691BSumanas' Hard Drive            B4EBCDA7:">
            <a:extLst>
              <a:ext uri="{FF2B5EF4-FFF2-40B4-BE49-F238E27FC236}">
                <a16:creationId xmlns:a16="http://schemas.microsoft.com/office/drawing/2014/main" id="{5DA88AE1-703E-4A98-8264-8ABEC41B109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8600" y="609600"/>
            <a:ext cx="8763000" cy="5167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45000427"/>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42" name="Picture 2" descr="Fig 21-05.1-01.GIF012                                          0000691BSumanas' Hard Drive            B4EBCDA7:">
            <a:extLst>
              <a:ext uri="{FF2B5EF4-FFF2-40B4-BE49-F238E27FC236}">
                <a16:creationId xmlns:a16="http://schemas.microsoft.com/office/drawing/2014/main" id="{680D5C95-5533-483C-8C17-177748E4793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28800" y="76200"/>
            <a:ext cx="4151313" cy="662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13431013"/>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3666" name="Picture 2" descr="Fig 21-05.2-02.GIF013                                          0000691BSumanas' Hard Drive            B4EBCDA7:">
            <a:extLst>
              <a:ext uri="{FF2B5EF4-FFF2-40B4-BE49-F238E27FC236}">
                <a16:creationId xmlns:a16="http://schemas.microsoft.com/office/drawing/2014/main" id="{19559BC9-93A2-4E9B-8756-4A36406B242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76400" y="304800"/>
            <a:ext cx="5133975" cy="617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50656745"/>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4690" name="Picture 2" descr="Fig 21-05.3-03.GIF014                                          0000691BSumanas' Hard Drive            B4EBCDA7:">
            <a:extLst>
              <a:ext uri="{FF2B5EF4-FFF2-40B4-BE49-F238E27FC236}">
                <a16:creationId xmlns:a16="http://schemas.microsoft.com/office/drawing/2014/main" id="{9C6BFB44-1CDC-455D-AAA6-F94137707A2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86000" y="304800"/>
            <a:ext cx="4262438" cy="624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7082646"/>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5714" name="Picture 1026" descr="Fig 21-05.4-04.GIF015                                          0000691BSumanas' Hard Drive            B4EBCDA7:">
            <a:extLst>
              <a:ext uri="{FF2B5EF4-FFF2-40B4-BE49-F238E27FC236}">
                <a16:creationId xmlns:a16="http://schemas.microsoft.com/office/drawing/2014/main" id="{039AC64B-5885-4EDC-AED3-19831B2E281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36600" y="711200"/>
            <a:ext cx="7670800" cy="543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95949878"/>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6738" name="Picture 2" descr="Fig 21-05.5-05.GIF016                                          0000691BSumanas' Hard Drive            B4EBCDA7:">
            <a:extLst>
              <a:ext uri="{FF2B5EF4-FFF2-40B4-BE49-F238E27FC236}">
                <a16:creationId xmlns:a16="http://schemas.microsoft.com/office/drawing/2014/main" id="{FFEC99E7-C119-4B37-826C-D1C039AFD61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2000" y="711200"/>
            <a:ext cx="7620000" cy="543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53696367"/>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7762" name="Picture 2" descr="Fig 21-05.6-06.GIF017                                          0000691BSumanas' Hard Drive            B4EBCDA7:">
            <a:extLst>
              <a:ext uri="{FF2B5EF4-FFF2-40B4-BE49-F238E27FC236}">
                <a16:creationId xmlns:a16="http://schemas.microsoft.com/office/drawing/2014/main" id="{52156AC9-E9A9-4822-BAEF-E802B07338F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895600" y="381000"/>
            <a:ext cx="3368675" cy="632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77502034"/>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8786" name="Picture 4" descr="Fig 21-05.7-07.GIF018                                          0000691BSumanas' Hard Drive            B4EBCDA7:">
            <a:extLst>
              <a:ext uri="{FF2B5EF4-FFF2-40B4-BE49-F238E27FC236}">
                <a16:creationId xmlns:a16="http://schemas.microsoft.com/office/drawing/2014/main" id="{A29A1FF3-9133-4999-89A4-CC5BB01F224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1000" y="520700"/>
            <a:ext cx="8382000" cy="6184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54015164"/>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9810" name="Picture 2" descr="Fig 21-03.0.GIF008                                             0000691BSumanas' Hard Drive            B4EBCDA7:">
            <a:extLst>
              <a:ext uri="{FF2B5EF4-FFF2-40B4-BE49-F238E27FC236}">
                <a16:creationId xmlns:a16="http://schemas.microsoft.com/office/drawing/2014/main" id="{000A40ED-6B75-4728-9528-74E7C9E6225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381000"/>
            <a:ext cx="9144000" cy="5035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96656370"/>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0834" name="Picture 2" descr="Fig 21-07.GIF020                                               0000691BSumanas' Hard Drive            B4EBCDA7:">
            <a:extLst>
              <a:ext uri="{FF2B5EF4-FFF2-40B4-BE49-F238E27FC236}">
                <a16:creationId xmlns:a16="http://schemas.microsoft.com/office/drawing/2014/main" id="{FEF3A130-E847-4E03-AD50-F36621478D6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00200" y="381000"/>
            <a:ext cx="5327650" cy="647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6988136"/>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a:extLst>
              <a:ext uri="{FF2B5EF4-FFF2-40B4-BE49-F238E27FC236}">
                <a16:creationId xmlns:a16="http://schemas.microsoft.com/office/drawing/2014/main" id="{E52EDCC2-47FE-492E-9A7F-9D90BBE7F5A1}"/>
              </a:ext>
            </a:extLst>
          </p:cNvPr>
          <p:cNvSpPr>
            <a:spLocks noGrp="1" noChangeArrowheads="1"/>
          </p:cNvSpPr>
          <p:nvPr>
            <p:ph type="title" idx="4294967295"/>
          </p:nvPr>
        </p:nvSpPr>
        <p:spPr>
          <a:xfrm>
            <a:off x="0" y="304800"/>
            <a:ext cx="9144000" cy="1739900"/>
          </a:xfrm>
        </p:spPr>
        <p:txBody>
          <a:bodyPr/>
          <a:lstStyle/>
          <a:p>
            <a:pPr eaLnBrk="1" hangingPunct="1"/>
            <a:r>
              <a:rPr lang="en-US" altLang="zh-CN" sz="3600" dirty="0">
                <a:solidFill>
                  <a:srgbClr val="0000FF"/>
                </a:solidFill>
              </a:rPr>
              <a:t>5. Palmitate can be further </a:t>
            </a:r>
            <a:r>
              <a:rPr lang="en-US" altLang="zh-CN" sz="3600" dirty="0">
                <a:solidFill>
                  <a:srgbClr val="FF0000"/>
                </a:solidFill>
              </a:rPr>
              <a:t>elongated</a:t>
            </a:r>
            <a:r>
              <a:rPr lang="en-US" altLang="zh-CN" sz="3600" dirty="0">
                <a:solidFill>
                  <a:srgbClr val="0000FF"/>
                </a:solidFill>
              </a:rPr>
              <a:t> and </a:t>
            </a:r>
            <a:r>
              <a:rPr lang="en-US" altLang="zh-CN" sz="3600" dirty="0">
                <a:solidFill>
                  <a:srgbClr val="FF0000"/>
                </a:solidFill>
              </a:rPr>
              <a:t>desaturated</a:t>
            </a:r>
            <a:r>
              <a:rPr lang="en-US" altLang="zh-CN" sz="3600" dirty="0">
                <a:solidFill>
                  <a:srgbClr val="0000FF"/>
                </a:solidFill>
              </a:rPr>
              <a:t> in smooth </a:t>
            </a:r>
            <a:r>
              <a:rPr lang="en-US" altLang="zh-CN" sz="3600" dirty="0">
                <a:solidFill>
                  <a:srgbClr val="FF0000"/>
                </a:solidFill>
              </a:rPr>
              <a:t>ER</a:t>
            </a:r>
          </a:p>
        </p:txBody>
      </p:sp>
      <p:sp>
        <p:nvSpPr>
          <p:cNvPr id="121859" name="Rectangle 3">
            <a:extLst>
              <a:ext uri="{FF2B5EF4-FFF2-40B4-BE49-F238E27FC236}">
                <a16:creationId xmlns:a16="http://schemas.microsoft.com/office/drawing/2014/main" id="{645516BB-FC23-48F5-B38F-EF142F6E451A}"/>
              </a:ext>
            </a:extLst>
          </p:cNvPr>
          <p:cNvSpPr>
            <a:spLocks noGrp="1" noChangeArrowheads="1"/>
          </p:cNvSpPr>
          <p:nvPr>
            <p:ph type="body" idx="4294967295"/>
          </p:nvPr>
        </p:nvSpPr>
        <p:spPr>
          <a:xfrm>
            <a:off x="0" y="2286000"/>
            <a:ext cx="9144000" cy="4114800"/>
          </a:xfrm>
        </p:spPr>
        <p:txBody>
          <a:bodyPr/>
          <a:lstStyle/>
          <a:p>
            <a:pPr eaLnBrk="1" hangingPunct="1"/>
            <a:r>
              <a:rPr lang="en-US" altLang="zh-CN" dirty="0"/>
              <a:t>Palmitoyl-CoA can be further </a:t>
            </a:r>
            <a:r>
              <a:rPr lang="en-US" altLang="zh-CN" b="1" dirty="0">
                <a:solidFill>
                  <a:srgbClr val="FF0000"/>
                </a:solidFill>
              </a:rPr>
              <a:t>elongated</a:t>
            </a:r>
            <a:r>
              <a:rPr lang="en-US" altLang="zh-CN" dirty="0"/>
              <a:t> by the fatty acid elongation system present mainly in the </a:t>
            </a:r>
            <a:r>
              <a:rPr lang="en-US" altLang="zh-CN" b="1" dirty="0">
                <a:solidFill>
                  <a:srgbClr val="FF0000"/>
                </a:solidFill>
              </a:rPr>
              <a:t>smooth endoplasmic reticulum </a:t>
            </a:r>
            <a:r>
              <a:rPr lang="zh-CN" altLang="en-US" b="1" dirty="0">
                <a:solidFill>
                  <a:srgbClr val="FF0000"/>
                </a:solidFill>
              </a:rPr>
              <a:t>（</a:t>
            </a:r>
            <a:r>
              <a:rPr lang="en-US" altLang="zh-CN" b="1" dirty="0">
                <a:solidFill>
                  <a:srgbClr val="FF0000"/>
                </a:solidFill>
              </a:rPr>
              <a:t>ER</a:t>
            </a:r>
            <a:r>
              <a:rPr lang="zh-CN" altLang="en-US" b="1" dirty="0">
                <a:solidFill>
                  <a:srgbClr val="FF0000"/>
                </a:solidFill>
              </a:rPr>
              <a:t>）</a:t>
            </a:r>
            <a:r>
              <a:rPr lang="en-US" altLang="zh-CN" dirty="0"/>
              <a:t>, with two-carbon units also donated by </a:t>
            </a:r>
            <a:r>
              <a:rPr lang="en-US" altLang="zh-CN" dirty="0">
                <a:solidFill>
                  <a:schemeClr val="accent6">
                    <a:lumMod val="75000"/>
                  </a:schemeClr>
                </a:solidFill>
              </a:rPr>
              <a:t>malonyl-CoA.</a:t>
            </a:r>
            <a:endParaRPr lang="en-US" altLang="zh-CN" dirty="0">
              <a:solidFill>
                <a:srgbClr val="FFFF00"/>
              </a:solidFill>
            </a:endParaRPr>
          </a:p>
          <a:p>
            <a:pPr eaLnBrk="1" hangingPunct="1"/>
            <a:r>
              <a:rPr lang="en-US" altLang="zh-CN" dirty="0"/>
              <a:t>Stearoyl-CoA (</a:t>
            </a:r>
            <a:r>
              <a:rPr lang="zh-CN" altLang="en-US" dirty="0"/>
              <a:t>硬脂酰）</a:t>
            </a:r>
            <a:r>
              <a:rPr lang="en-US" altLang="zh-CN" dirty="0"/>
              <a:t>can be desaturated between C-9 and C-10 to produce oleate</a:t>
            </a:r>
            <a:r>
              <a:rPr lang="zh-CN" altLang="en-US" dirty="0"/>
              <a:t>（油酸）</a:t>
            </a:r>
            <a:r>
              <a:rPr lang="en-US" altLang="zh-CN" dirty="0"/>
              <a:t>, 18:1(</a:t>
            </a:r>
            <a:r>
              <a:rPr lang="en-US" altLang="zh-CN" dirty="0">
                <a:sym typeface="Symbol" panose="05050102010706020507" pitchFamily="18" charset="2"/>
              </a:rPr>
              <a:t></a:t>
            </a:r>
            <a:r>
              <a:rPr lang="en-US" altLang="zh-CN" baseline="30000" dirty="0"/>
              <a:t>9</a:t>
            </a:r>
            <a:r>
              <a:rPr lang="en-US" altLang="zh-CN" dirty="0"/>
              <a:t>).</a:t>
            </a:r>
          </a:p>
        </p:txBody>
      </p:sp>
    </p:spTree>
    <p:extLst>
      <p:ext uri="{BB962C8B-B14F-4D97-AF65-F5344CB8AC3E}">
        <p14:creationId xmlns:p14="http://schemas.microsoft.com/office/powerpoint/2010/main" val="899765423"/>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3">
            <a:extLst>
              <a:ext uri="{FF2B5EF4-FFF2-40B4-BE49-F238E27FC236}">
                <a16:creationId xmlns:a16="http://schemas.microsoft.com/office/drawing/2014/main" id="{1CC851DB-1396-48C6-81AB-26F4DD72853F}"/>
              </a:ext>
            </a:extLst>
          </p:cNvPr>
          <p:cNvSpPr>
            <a:spLocks noGrp="1" noChangeArrowheads="1"/>
          </p:cNvSpPr>
          <p:nvPr>
            <p:ph type="body" idx="4294967295"/>
          </p:nvPr>
        </p:nvSpPr>
        <p:spPr>
          <a:xfrm>
            <a:off x="0" y="533400"/>
            <a:ext cx="9144000" cy="5791200"/>
          </a:xfrm>
        </p:spPr>
        <p:txBody>
          <a:bodyPr/>
          <a:lstStyle/>
          <a:p>
            <a:pPr eaLnBrk="1" hangingPunct="1"/>
            <a:r>
              <a:rPr lang="en-US" altLang="zh-CN" dirty="0"/>
              <a:t>The double bonds are introduced by the catalysis of fatty acyl-CoA </a:t>
            </a:r>
            <a:r>
              <a:rPr lang="en-US" altLang="zh-CN" b="1" dirty="0">
                <a:solidFill>
                  <a:srgbClr val="FF0000"/>
                </a:solidFill>
              </a:rPr>
              <a:t>desaturase</a:t>
            </a:r>
            <a:r>
              <a:rPr lang="en-US" altLang="zh-CN" dirty="0"/>
              <a:t>, where both the fatty acyl group and NADPH are oxidized by O</a:t>
            </a:r>
            <a:r>
              <a:rPr lang="en-US" altLang="zh-CN" baseline="-25000" dirty="0"/>
              <a:t>2</a:t>
            </a:r>
            <a:r>
              <a:rPr lang="en-US" altLang="zh-CN" dirty="0"/>
              <a:t>.</a:t>
            </a:r>
          </a:p>
          <a:p>
            <a:pPr eaLnBrk="1" hangingPunct="1"/>
            <a:r>
              <a:rPr lang="en-US" altLang="zh-CN" b="1" dirty="0">
                <a:solidFill>
                  <a:schemeClr val="accent6">
                    <a:lumMod val="75000"/>
                  </a:schemeClr>
                </a:solidFill>
              </a:rPr>
              <a:t>Linoleate (</a:t>
            </a:r>
            <a:r>
              <a:rPr lang="zh-CN" altLang="en-US" b="1" dirty="0">
                <a:solidFill>
                  <a:schemeClr val="accent6">
                    <a:lumMod val="75000"/>
                  </a:schemeClr>
                </a:solidFill>
              </a:rPr>
              <a:t>亚油酸</a:t>
            </a:r>
            <a:r>
              <a:rPr lang="en-US" altLang="zh-CN" b="1" dirty="0">
                <a:solidFill>
                  <a:schemeClr val="accent6">
                    <a:lumMod val="75000"/>
                  </a:schemeClr>
                </a:solidFill>
              </a:rPr>
              <a:t>) and </a:t>
            </a:r>
            <a:r>
              <a:rPr lang="en-US" altLang="zh-CN" b="1" dirty="0" err="1">
                <a:solidFill>
                  <a:schemeClr val="accent6">
                    <a:lumMod val="75000"/>
                  </a:schemeClr>
                </a:solidFill>
              </a:rPr>
              <a:t>linolenate</a:t>
            </a:r>
            <a:r>
              <a:rPr lang="en-US" altLang="zh-CN" b="1" dirty="0">
                <a:solidFill>
                  <a:schemeClr val="accent6">
                    <a:lumMod val="75000"/>
                  </a:schemeClr>
                </a:solidFill>
              </a:rPr>
              <a:t> </a:t>
            </a:r>
            <a:r>
              <a:rPr lang="zh-CN" altLang="en-US" b="1" dirty="0">
                <a:solidFill>
                  <a:schemeClr val="accent6">
                    <a:lumMod val="75000"/>
                  </a:schemeClr>
                </a:solidFill>
              </a:rPr>
              <a:t>（亚麻酸）</a:t>
            </a:r>
            <a:r>
              <a:rPr lang="en-US" altLang="zh-CN" dirty="0"/>
              <a:t>cannot be synthesized by mammals and are therefore termed</a:t>
            </a:r>
            <a:r>
              <a:rPr lang="en-US" altLang="zh-CN" b="1" dirty="0">
                <a:solidFill>
                  <a:srgbClr val="FFFF00"/>
                </a:solidFill>
              </a:rPr>
              <a:t> </a:t>
            </a:r>
            <a:r>
              <a:rPr lang="en-US" altLang="zh-CN" dirty="0">
                <a:solidFill>
                  <a:schemeClr val="accent6">
                    <a:lumMod val="75000"/>
                  </a:schemeClr>
                </a:solidFill>
              </a:rPr>
              <a:t>essential fatty acids </a:t>
            </a:r>
            <a:r>
              <a:rPr lang="en-US" altLang="zh-CN" dirty="0"/>
              <a:t>as they have to be </a:t>
            </a:r>
            <a:r>
              <a:rPr lang="en-US" altLang="zh-CN" dirty="0">
                <a:solidFill>
                  <a:srgbClr val="FF0000"/>
                </a:solidFill>
              </a:rPr>
              <a:t>ingested in the diet</a:t>
            </a:r>
            <a:r>
              <a:rPr lang="en-US" altLang="zh-CN" dirty="0"/>
              <a:t>.</a:t>
            </a:r>
          </a:p>
        </p:txBody>
      </p:sp>
    </p:spTree>
    <p:extLst>
      <p:ext uri="{BB962C8B-B14F-4D97-AF65-F5344CB8AC3E}">
        <p14:creationId xmlns:p14="http://schemas.microsoft.com/office/powerpoint/2010/main" val="1041788173"/>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3906" name="Picture 2" descr="D:\Biofigures\f21-13.jpg">
            <a:extLst>
              <a:ext uri="{FF2B5EF4-FFF2-40B4-BE49-F238E27FC236}">
                <a16:creationId xmlns:a16="http://schemas.microsoft.com/office/drawing/2014/main" id="{E9ABD31B-57AE-4F24-B7AD-32B16A58AC1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0"/>
            <a:ext cx="4092575"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0532" name="Rectangle 4">
            <a:extLst>
              <a:ext uri="{FF2B5EF4-FFF2-40B4-BE49-F238E27FC236}">
                <a16:creationId xmlns:a16="http://schemas.microsoft.com/office/drawing/2014/main" id="{9F07CB1A-CA56-4FB8-8EC7-80B1EAF4C029}"/>
              </a:ext>
            </a:extLst>
          </p:cNvPr>
          <p:cNvSpPr>
            <a:spLocks noChangeArrowheads="1"/>
          </p:cNvSpPr>
          <p:nvPr/>
        </p:nvSpPr>
        <p:spPr bwMode="auto">
          <a:xfrm>
            <a:off x="4268788" y="0"/>
            <a:ext cx="4921540" cy="2800767"/>
          </a:xfrm>
          <a:prstGeom prst="rect">
            <a:avLst/>
          </a:prstGeom>
          <a:noFill/>
          <a:ln w="9525">
            <a:noFill/>
            <a:miter lim="800000"/>
            <a:headEnd/>
            <a:tailEnd/>
          </a:ln>
          <a:effectLst/>
        </p:spPr>
        <p:txBody>
          <a:bodyPr wrap="none">
            <a:spAutoFit/>
          </a:bodyPr>
          <a:lstStyle/>
          <a:p>
            <a:pPr eaLnBrk="1" hangingPunct="1">
              <a:defRPr/>
            </a:pPr>
            <a:r>
              <a:rPr lang="en-US" altLang="zh-CN" sz="4400" b="1" dirty="0">
                <a:solidFill>
                  <a:srgbClr val="0000FF"/>
                </a:solidFill>
                <a:effectLst>
                  <a:outerShdw blurRad="38100" dist="38100" dir="2700000" algn="tl">
                    <a:srgbClr val="000000"/>
                  </a:outerShdw>
                </a:effectLst>
                <a:latin typeface="Arial" charset="0"/>
              </a:rPr>
              <a:t>Palmitate is the </a:t>
            </a:r>
          </a:p>
          <a:p>
            <a:pPr eaLnBrk="1" hangingPunct="1">
              <a:defRPr/>
            </a:pPr>
            <a:r>
              <a:rPr lang="en-US" altLang="zh-CN" sz="4400" b="1" dirty="0">
                <a:solidFill>
                  <a:srgbClr val="0000FF"/>
                </a:solidFill>
                <a:effectLst>
                  <a:outerShdw blurRad="38100" dist="38100" dir="2700000" algn="tl">
                    <a:srgbClr val="000000"/>
                  </a:outerShdw>
                </a:effectLst>
                <a:latin typeface="Arial" charset="0"/>
              </a:rPr>
              <a:t>Precursor for the </a:t>
            </a:r>
          </a:p>
          <a:p>
            <a:pPr eaLnBrk="1" hangingPunct="1">
              <a:defRPr/>
            </a:pPr>
            <a:r>
              <a:rPr lang="en-US" altLang="zh-CN" sz="4400" b="1" dirty="0">
                <a:solidFill>
                  <a:srgbClr val="0000FF"/>
                </a:solidFill>
                <a:effectLst>
                  <a:outerShdw blurRad="38100" dist="38100" dir="2700000" algn="tl">
                    <a:srgbClr val="000000"/>
                  </a:outerShdw>
                </a:effectLst>
                <a:latin typeface="Arial" charset="0"/>
              </a:rPr>
              <a:t>biosynthesis of</a:t>
            </a:r>
          </a:p>
          <a:p>
            <a:pPr eaLnBrk="1" hangingPunct="1">
              <a:defRPr/>
            </a:pPr>
            <a:r>
              <a:rPr lang="en-US" altLang="zh-CN" sz="4400" b="1" dirty="0">
                <a:solidFill>
                  <a:srgbClr val="0000FF"/>
                </a:solidFill>
                <a:effectLst>
                  <a:outerShdw blurRad="38100" dist="38100" dir="2700000" algn="tl">
                    <a:srgbClr val="000000"/>
                  </a:outerShdw>
                </a:effectLst>
                <a:latin typeface="Arial" charset="0"/>
              </a:rPr>
              <a:t>other fatty acids</a:t>
            </a:r>
          </a:p>
        </p:txBody>
      </p:sp>
    </p:spTree>
    <p:extLst>
      <p:ext uri="{BB962C8B-B14F-4D97-AF65-F5344CB8AC3E}">
        <p14:creationId xmlns:p14="http://schemas.microsoft.com/office/powerpoint/2010/main" val="3629272651"/>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4930" name="Picture 2" descr="D:\Biofigures\f21-14.jpg">
            <a:extLst>
              <a:ext uri="{FF2B5EF4-FFF2-40B4-BE49-F238E27FC236}">
                <a16:creationId xmlns:a16="http://schemas.microsoft.com/office/drawing/2014/main" id="{AC027802-E603-4878-8DC3-06C7E591663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0"/>
            <a:ext cx="9144000" cy="385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1555" name="Rectangle 3">
            <a:extLst>
              <a:ext uri="{FF2B5EF4-FFF2-40B4-BE49-F238E27FC236}">
                <a16:creationId xmlns:a16="http://schemas.microsoft.com/office/drawing/2014/main" id="{D63D26EC-6CCE-41D2-880B-8CC4D5AFC689}"/>
              </a:ext>
            </a:extLst>
          </p:cNvPr>
          <p:cNvSpPr>
            <a:spLocks noChangeArrowheads="1"/>
          </p:cNvSpPr>
          <p:nvPr/>
        </p:nvSpPr>
        <p:spPr bwMode="auto">
          <a:xfrm>
            <a:off x="0" y="3886200"/>
            <a:ext cx="8997950" cy="1190625"/>
          </a:xfrm>
          <a:prstGeom prst="rect">
            <a:avLst/>
          </a:prstGeom>
          <a:noFill/>
          <a:ln w="9525">
            <a:noFill/>
            <a:miter lim="800000"/>
            <a:headEnd/>
            <a:tailEnd/>
          </a:ln>
          <a:effectLst/>
        </p:spPr>
        <p:txBody>
          <a:bodyPr wrap="none">
            <a:spAutoFit/>
          </a:bodyPr>
          <a:lstStyle/>
          <a:p>
            <a:pPr eaLnBrk="1" hangingPunct="1">
              <a:defRPr/>
            </a:pPr>
            <a:r>
              <a:rPr lang="en-US" altLang="zh-CN" sz="3600" b="1" dirty="0">
                <a:solidFill>
                  <a:srgbClr val="0000FF"/>
                </a:solidFill>
                <a:effectLst>
                  <a:outerShdw blurRad="38100" dist="38100" dir="2700000" algn="tl">
                    <a:srgbClr val="000000"/>
                  </a:outerShdw>
                </a:effectLst>
                <a:latin typeface="Arial" charset="0"/>
              </a:rPr>
              <a:t>Fatty acyl-CoA is desaturated (oxidized) </a:t>
            </a:r>
          </a:p>
          <a:p>
            <a:pPr eaLnBrk="1" hangingPunct="1">
              <a:defRPr/>
            </a:pPr>
            <a:r>
              <a:rPr lang="en-US" altLang="zh-CN" sz="3600" b="1" dirty="0">
                <a:solidFill>
                  <a:srgbClr val="0000FF"/>
                </a:solidFill>
                <a:effectLst>
                  <a:outerShdw blurRad="38100" dist="38100" dir="2700000" algn="tl">
                    <a:srgbClr val="000000"/>
                  </a:outerShdw>
                </a:effectLst>
                <a:latin typeface="Arial" charset="0"/>
              </a:rPr>
              <a:t>by O</a:t>
            </a:r>
            <a:r>
              <a:rPr lang="en-US" altLang="zh-CN" sz="3600" b="1" baseline="-25000" dirty="0">
                <a:solidFill>
                  <a:srgbClr val="0000FF"/>
                </a:solidFill>
                <a:effectLst>
                  <a:outerShdw blurRad="38100" dist="38100" dir="2700000" algn="tl">
                    <a:srgbClr val="000000"/>
                  </a:outerShdw>
                </a:effectLst>
                <a:latin typeface="Arial" charset="0"/>
              </a:rPr>
              <a:t>2</a:t>
            </a:r>
            <a:r>
              <a:rPr lang="en-US" altLang="zh-CN" sz="3600" b="1" dirty="0">
                <a:solidFill>
                  <a:srgbClr val="0000FF"/>
                </a:solidFill>
                <a:effectLst>
                  <a:outerShdw blurRad="38100" dist="38100" dir="2700000" algn="tl">
                    <a:srgbClr val="000000"/>
                  </a:outerShdw>
                </a:effectLst>
                <a:latin typeface="Arial" charset="0"/>
              </a:rPr>
              <a:t> and NADPH.</a:t>
            </a:r>
          </a:p>
        </p:txBody>
      </p:sp>
    </p:spTree>
    <p:extLst>
      <p:ext uri="{BB962C8B-B14F-4D97-AF65-F5344CB8AC3E}">
        <p14:creationId xmlns:p14="http://schemas.microsoft.com/office/powerpoint/2010/main" val="3225345557"/>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5954" name="Picture 2" descr="D:\Biofigures\f21-15.jpg">
            <a:extLst>
              <a:ext uri="{FF2B5EF4-FFF2-40B4-BE49-F238E27FC236}">
                <a16:creationId xmlns:a16="http://schemas.microsoft.com/office/drawing/2014/main" id="{D858CB05-9F30-4B1A-B679-E93EA6806BC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67200" y="0"/>
            <a:ext cx="4706938"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5955" name="Rectangle 3">
            <a:extLst>
              <a:ext uri="{FF2B5EF4-FFF2-40B4-BE49-F238E27FC236}">
                <a16:creationId xmlns:a16="http://schemas.microsoft.com/office/drawing/2014/main" id="{AF76AC29-AE8C-4B4D-B778-6C4D7020ACDF}"/>
              </a:ext>
            </a:extLst>
          </p:cNvPr>
          <p:cNvSpPr>
            <a:spLocks noChangeArrowheads="1"/>
          </p:cNvSpPr>
          <p:nvPr/>
        </p:nvSpPr>
        <p:spPr bwMode="auto">
          <a:xfrm>
            <a:off x="120650" y="1066800"/>
            <a:ext cx="4146550" cy="173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600" b="1" dirty="0"/>
              <a:t>Oleate can be </a:t>
            </a:r>
          </a:p>
          <a:p>
            <a:pPr eaLnBrk="1" hangingPunct="1"/>
            <a:r>
              <a:rPr lang="en-US" altLang="zh-CN" sz="3600" b="1" dirty="0"/>
              <a:t>desaturated on </a:t>
            </a:r>
          </a:p>
          <a:p>
            <a:pPr eaLnBrk="1" hangingPunct="1"/>
            <a:r>
              <a:rPr lang="en-US" altLang="zh-CN" sz="3600" b="1" dirty="0"/>
              <a:t>Phosphatidylcholine</a:t>
            </a:r>
          </a:p>
        </p:txBody>
      </p:sp>
    </p:spTree>
    <p:extLst>
      <p:ext uri="{BB962C8B-B14F-4D97-AF65-F5344CB8AC3E}">
        <p14:creationId xmlns:p14="http://schemas.microsoft.com/office/powerpoint/2010/main" val="1208924016"/>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a:extLst>
              <a:ext uri="{FF2B5EF4-FFF2-40B4-BE49-F238E27FC236}">
                <a16:creationId xmlns:a16="http://schemas.microsoft.com/office/drawing/2014/main" id="{BF74ADC6-CAB0-4927-83FC-8F9B01E0E130}"/>
              </a:ext>
            </a:extLst>
          </p:cNvPr>
          <p:cNvSpPr>
            <a:spLocks noGrp="1" noChangeArrowheads="1"/>
          </p:cNvSpPr>
          <p:nvPr>
            <p:ph type="title" idx="4294967295"/>
          </p:nvPr>
        </p:nvSpPr>
        <p:spPr>
          <a:xfrm>
            <a:off x="0" y="250825"/>
            <a:ext cx="9144000" cy="641350"/>
          </a:xfrm>
        </p:spPr>
        <p:txBody>
          <a:bodyPr/>
          <a:lstStyle/>
          <a:p>
            <a:pPr eaLnBrk="1" hangingPunct="1"/>
            <a:r>
              <a:rPr lang="en-US" altLang="zh-CN" sz="3600" dirty="0">
                <a:solidFill>
                  <a:srgbClr val="0000FF"/>
                </a:solidFill>
              </a:rPr>
              <a:t>6.  Essential fatty acids</a:t>
            </a:r>
          </a:p>
        </p:txBody>
      </p:sp>
      <p:sp>
        <p:nvSpPr>
          <p:cNvPr id="126979" name="Rectangle 3">
            <a:extLst>
              <a:ext uri="{FF2B5EF4-FFF2-40B4-BE49-F238E27FC236}">
                <a16:creationId xmlns:a16="http://schemas.microsoft.com/office/drawing/2014/main" id="{4530D066-5CC0-490B-8B2E-1382370A34B8}"/>
              </a:ext>
            </a:extLst>
          </p:cNvPr>
          <p:cNvSpPr>
            <a:spLocks noGrp="1" noChangeArrowheads="1"/>
          </p:cNvSpPr>
          <p:nvPr>
            <p:ph type="body" idx="4294967295"/>
          </p:nvPr>
        </p:nvSpPr>
        <p:spPr>
          <a:xfrm>
            <a:off x="0" y="1371600"/>
            <a:ext cx="9144000" cy="5029200"/>
          </a:xfrm>
        </p:spPr>
        <p:txBody>
          <a:bodyPr/>
          <a:lstStyle/>
          <a:p>
            <a:pPr eaLnBrk="1" hangingPunct="1"/>
            <a:r>
              <a:rPr lang="en-US" altLang="zh-CN" sz="3500" dirty="0"/>
              <a:t> The polyunsaturated fatty </a:t>
            </a:r>
            <a:r>
              <a:rPr lang="en-US" altLang="zh-CN" sz="3500" dirty="0">
                <a:solidFill>
                  <a:schemeClr val="accent6">
                    <a:lumMod val="75000"/>
                  </a:schemeClr>
                </a:solidFill>
              </a:rPr>
              <a:t>acids </a:t>
            </a:r>
            <a:r>
              <a:rPr lang="en-US" altLang="zh-CN" sz="3500" b="1" dirty="0">
                <a:solidFill>
                  <a:schemeClr val="accent6">
                    <a:lumMod val="75000"/>
                  </a:schemeClr>
                </a:solidFill>
              </a:rPr>
              <a:t>linoleate and </a:t>
            </a:r>
            <a:r>
              <a:rPr lang="en-US" altLang="zh-CN" sz="3500" b="1" dirty="0" err="1">
                <a:solidFill>
                  <a:schemeClr val="accent6">
                    <a:lumMod val="75000"/>
                  </a:schemeClr>
                </a:solidFill>
              </a:rPr>
              <a:t>linolenate</a:t>
            </a:r>
            <a:r>
              <a:rPr lang="en-US" altLang="zh-CN" sz="3500" dirty="0"/>
              <a:t> cannot be synthesized by mammals and are therefore termed essential fatty acids as they have to be ingested in the diet.</a:t>
            </a:r>
          </a:p>
        </p:txBody>
      </p:sp>
    </p:spTree>
    <p:extLst>
      <p:ext uri="{BB962C8B-B14F-4D97-AF65-F5344CB8AC3E}">
        <p14:creationId xmlns:p14="http://schemas.microsoft.com/office/powerpoint/2010/main" val="2592011210"/>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a:extLst>
              <a:ext uri="{FF2B5EF4-FFF2-40B4-BE49-F238E27FC236}">
                <a16:creationId xmlns:a16="http://schemas.microsoft.com/office/drawing/2014/main" id="{9AC84AF0-5C6F-42EA-985D-F347082CA210}"/>
              </a:ext>
            </a:extLst>
          </p:cNvPr>
          <p:cNvSpPr>
            <a:spLocks noGrp="1" noChangeArrowheads="1"/>
          </p:cNvSpPr>
          <p:nvPr>
            <p:ph type="title" idx="4294967295"/>
          </p:nvPr>
        </p:nvSpPr>
        <p:spPr>
          <a:xfrm>
            <a:off x="0" y="228600"/>
            <a:ext cx="9144000" cy="1739900"/>
          </a:xfrm>
        </p:spPr>
        <p:txBody>
          <a:bodyPr/>
          <a:lstStyle/>
          <a:p>
            <a:pPr eaLnBrk="1" hangingPunct="1"/>
            <a:r>
              <a:rPr lang="en-US" altLang="zh-CN" sz="3600" dirty="0">
                <a:solidFill>
                  <a:srgbClr val="0000FF"/>
                </a:solidFill>
              </a:rPr>
              <a:t>7. Newly synthesized fatty acids have mainly two alternative fates in cells</a:t>
            </a:r>
          </a:p>
        </p:txBody>
      </p:sp>
      <p:sp>
        <p:nvSpPr>
          <p:cNvPr id="128003" name="Rectangle 3">
            <a:extLst>
              <a:ext uri="{FF2B5EF4-FFF2-40B4-BE49-F238E27FC236}">
                <a16:creationId xmlns:a16="http://schemas.microsoft.com/office/drawing/2014/main" id="{F2ED505F-C027-439A-A315-23592A1B46E6}"/>
              </a:ext>
            </a:extLst>
          </p:cNvPr>
          <p:cNvSpPr>
            <a:spLocks noGrp="1" noChangeArrowheads="1"/>
          </p:cNvSpPr>
          <p:nvPr>
            <p:ph type="body" idx="4294967295"/>
          </p:nvPr>
        </p:nvSpPr>
        <p:spPr>
          <a:xfrm>
            <a:off x="0" y="2133600"/>
            <a:ext cx="9144000" cy="4114800"/>
          </a:xfrm>
        </p:spPr>
        <p:txBody>
          <a:bodyPr/>
          <a:lstStyle/>
          <a:p>
            <a:pPr eaLnBrk="1" hangingPunct="1"/>
            <a:r>
              <a:rPr lang="en-US" altLang="zh-CN" sz="3600"/>
              <a:t>Fate I: be incorporated into triacylglycerols as a form to store metabolic energy in long terms.</a:t>
            </a:r>
          </a:p>
          <a:p>
            <a:pPr eaLnBrk="1" hangingPunct="1"/>
            <a:r>
              <a:rPr lang="en-US" altLang="zh-CN" sz="3600"/>
              <a:t>Fate II: be incorporated into membrane phospholipids (during rapid growth).</a:t>
            </a:r>
          </a:p>
        </p:txBody>
      </p:sp>
    </p:spTree>
    <p:extLst>
      <p:ext uri="{BB962C8B-B14F-4D97-AF65-F5344CB8AC3E}">
        <p14:creationId xmlns:p14="http://schemas.microsoft.com/office/powerpoint/2010/main" val="724825633"/>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9026" name="Picture 2" descr="D:\bloch.jpg">
            <a:extLst>
              <a:ext uri="{FF2B5EF4-FFF2-40B4-BE49-F238E27FC236}">
                <a16:creationId xmlns:a16="http://schemas.microsoft.com/office/drawing/2014/main" id="{14083CFD-9FA5-4927-8332-8DA75021F1E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24000" y="76200"/>
            <a:ext cx="5572125" cy="632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98417365"/>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0050" name="Picture 2" descr="D:\goldst.jpg">
            <a:extLst>
              <a:ext uri="{FF2B5EF4-FFF2-40B4-BE49-F238E27FC236}">
                <a16:creationId xmlns:a16="http://schemas.microsoft.com/office/drawing/2014/main" id="{FF001BF4-1C39-43C5-A9F5-38B19C2CAB7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0"/>
            <a:ext cx="5710238"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0051" name="Picture 3" descr="D:\brown.jpg">
            <a:extLst>
              <a:ext uri="{FF2B5EF4-FFF2-40B4-BE49-F238E27FC236}">
                <a16:creationId xmlns:a16="http://schemas.microsoft.com/office/drawing/2014/main" id="{5B6BB58A-60F4-470A-9690-8BCB8D53B2C9}"/>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867400" y="0"/>
            <a:ext cx="3276600" cy="300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56103047"/>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a:extLst>
              <a:ext uri="{FF2B5EF4-FFF2-40B4-BE49-F238E27FC236}">
                <a16:creationId xmlns:a16="http://schemas.microsoft.com/office/drawing/2014/main" id="{4E3779B8-8599-4987-8D3E-5B5B1591F5C3}"/>
              </a:ext>
            </a:extLst>
          </p:cNvPr>
          <p:cNvSpPr>
            <a:spLocks noGrp="1" noChangeArrowheads="1"/>
          </p:cNvSpPr>
          <p:nvPr>
            <p:ph type="title" idx="4294967295"/>
          </p:nvPr>
        </p:nvSpPr>
        <p:spPr>
          <a:xfrm>
            <a:off x="304800" y="457200"/>
            <a:ext cx="8839200" cy="1739900"/>
          </a:xfrm>
        </p:spPr>
        <p:txBody>
          <a:bodyPr/>
          <a:lstStyle/>
          <a:p>
            <a:pPr eaLnBrk="1" hangingPunct="1"/>
            <a:r>
              <a:rPr lang="en-US" altLang="zh-CN" sz="3600" b="1" dirty="0">
                <a:solidFill>
                  <a:srgbClr val="0000FF"/>
                </a:solidFill>
              </a:rPr>
              <a:t>8. The rate of fatty acid biosynthesis is controlled by acetyl-CoA carboxylase</a:t>
            </a:r>
          </a:p>
        </p:txBody>
      </p:sp>
      <p:sp>
        <p:nvSpPr>
          <p:cNvPr id="131075" name="Text Box 4">
            <a:extLst>
              <a:ext uri="{FF2B5EF4-FFF2-40B4-BE49-F238E27FC236}">
                <a16:creationId xmlns:a16="http://schemas.microsoft.com/office/drawing/2014/main" id="{A07C37D4-ED53-4408-8224-BB3F5D44B028}"/>
              </a:ext>
            </a:extLst>
          </p:cNvPr>
          <p:cNvSpPr txBox="1">
            <a:spLocks noChangeArrowheads="1"/>
          </p:cNvSpPr>
          <p:nvPr/>
        </p:nvSpPr>
        <p:spPr bwMode="auto">
          <a:xfrm>
            <a:off x="457200" y="2895600"/>
            <a:ext cx="8686800" cy="192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4000" dirty="0">
                <a:latin typeface="Arial" panose="020B0604020202020204" pitchFamily="34" charset="0"/>
              </a:rPr>
              <a:t>Acetyl-CoA carboxylase is regulated by allosteric effectors and </a:t>
            </a:r>
            <a:r>
              <a:rPr lang="en-US" altLang="zh-CN" sz="4000" dirty="0">
                <a:solidFill>
                  <a:srgbClr val="FF0000"/>
                </a:solidFill>
                <a:latin typeface="Arial" panose="020B0604020202020204" pitchFamily="34" charset="0"/>
              </a:rPr>
              <a:t>reversible phosphorylation</a:t>
            </a:r>
            <a:r>
              <a:rPr lang="en-US" altLang="zh-CN" sz="4000" dirty="0">
                <a:latin typeface="Arial" panose="020B0604020202020204" pitchFamily="34" charset="0"/>
              </a:rPr>
              <a:t>.</a:t>
            </a:r>
          </a:p>
        </p:txBody>
      </p:sp>
    </p:spTree>
    <p:extLst>
      <p:ext uri="{BB962C8B-B14F-4D97-AF65-F5344CB8AC3E}">
        <p14:creationId xmlns:p14="http://schemas.microsoft.com/office/powerpoint/2010/main" val="1492913891"/>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2">
            <a:extLst>
              <a:ext uri="{FF2B5EF4-FFF2-40B4-BE49-F238E27FC236}">
                <a16:creationId xmlns:a16="http://schemas.microsoft.com/office/drawing/2014/main" id="{630F5473-274E-4B84-8C03-7AE26C72AD63}"/>
              </a:ext>
            </a:extLst>
          </p:cNvPr>
          <p:cNvSpPr>
            <a:spLocks noChangeArrowheads="1"/>
          </p:cNvSpPr>
          <p:nvPr/>
        </p:nvSpPr>
        <p:spPr bwMode="auto">
          <a:xfrm>
            <a:off x="457200" y="914400"/>
            <a:ext cx="8686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3600" dirty="0">
                <a:solidFill>
                  <a:srgbClr val="0000FF"/>
                </a:solidFill>
                <a:latin typeface="Arial Black" panose="020B0A04020102020204" pitchFamily="34" charset="0"/>
              </a:rPr>
              <a:t>Citrate partially activate the phosphorylated acetyl-CoA carboxylase</a:t>
            </a:r>
          </a:p>
        </p:txBody>
      </p:sp>
      <p:pic>
        <p:nvPicPr>
          <p:cNvPr id="47107" name="Picture 3" descr="D:\citrate.jpg">
            <a:extLst>
              <a:ext uri="{FF2B5EF4-FFF2-40B4-BE49-F238E27FC236}">
                <a16:creationId xmlns:a16="http://schemas.microsoft.com/office/drawing/2014/main" id="{61F5347B-C513-49BD-B7A9-42396BAFB68B}"/>
              </a:ext>
            </a:extLst>
          </p:cNvPr>
          <p:cNvPicPr>
            <a:picLocks noChangeAspect="1" noChangeArrowheads="1"/>
          </p:cNvPicPr>
          <p:nvPr/>
        </p:nvPicPr>
        <p:blipFill>
          <a:blip r:embed="rId2" cstate="print"/>
          <a:srcRect/>
          <a:stretch>
            <a:fillRect/>
          </a:stretch>
        </p:blipFill>
        <p:spPr bwMode="auto">
          <a:xfrm>
            <a:off x="0" y="2514600"/>
            <a:ext cx="9144000" cy="3378200"/>
          </a:xfrm>
          <a:prstGeom prst="rect">
            <a:avLst/>
          </a:prstGeom>
          <a:noFill/>
          <a:ln w="9525">
            <a:noFill/>
            <a:miter lim="800000"/>
            <a:headEnd/>
            <a:tailEnd/>
          </a:ln>
          <a:effectLst>
            <a:outerShdw blurRad="50800" dist="50800" dir="5400000" algn="ctr" rotWithShape="0">
              <a:schemeClr val="tx1"/>
            </a:outerShdw>
          </a:effectLst>
        </p:spPr>
      </p:pic>
    </p:spTree>
    <p:extLst>
      <p:ext uri="{BB962C8B-B14F-4D97-AF65-F5344CB8AC3E}">
        <p14:creationId xmlns:p14="http://schemas.microsoft.com/office/powerpoint/2010/main" val="2105022159"/>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5">
            <a:extLst>
              <a:ext uri="{FF2B5EF4-FFF2-40B4-BE49-F238E27FC236}">
                <a16:creationId xmlns:a16="http://schemas.microsoft.com/office/drawing/2014/main" id="{2F045571-446E-4368-AF7F-F5F2F83DFC5B}"/>
              </a:ext>
            </a:extLst>
          </p:cNvPr>
          <p:cNvSpPr>
            <a:spLocks noChangeArrowheads="1"/>
          </p:cNvSpPr>
          <p:nvPr/>
        </p:nvSpPr>
        <p:spPr bwMode="auto">
          <a:xfrm>
            <a:off x="0" y="1066800"/>
            <a:ext cx="91440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20000"/>
              </a:spcBef>
              <a:buSzPct val="85000"/>
            </a:pPr>
            <a:endParaRPr lang="en-US" altLang="zh-CN" sz="3000" dirty="0">
              <a:latin typeface="Arial" panose="020B0604020202020204" pitchFamily="34" charset="0"/>
            </a:endParaRPr>
          </a:p>
          <a:p>
            <a:pPr eaLnBrk="1" hangingPunct="1">
              <a:lnSpc>
                <a:spcPct val="90000"/>
              </a:lnSpc>
              <a:spcBef>
                <a:spcPct val="20000"/>
              </a:spcBef>
              <a:buSzPct val="85000"/>
              <a:buFontTx/>
              <a:buChar char="•"/>
            </a:pPr>
            <a:r>
              <a:rPr lang="en-US" altLang="zh-CN" sz="3000" dirty="0">
                <a:latin typeface="Arial" panose="020B0604020202020204" pitchFamily="34" charset="0"/>
              </a:rPr>
              <a:t>Acetyl-</a:t>
            </a:r>
            <a:r>
              <a:rPr lang="en-US" altLang="zh-CN" sz="3000" dirty="0" err="1">
                <a:latin typeface="Arial" panose="020B0604020202020204" pitchFamily="34" charset="0"/>
              </a:rPr>
              <a:t>CoA</a:t>
            </a:r>
            <a:r>
              <a:rPr lang="en-US" altLang="zh-CN" sz="3000" dirty="0">
                <a:latin typeface="Arial" panose="020B0604020202020204" pitchFamily="34" charset="0"/>
              </a:rPr>
              <a:t> </a:t>
            </a:r>
            <a:r>
              <a:rPr lang="en-US" altLang="zh-CN" sz="3000" dirty="0" err="1">
                <a:latin typeface="Arial" panose="020B0604020202020204" pitchFamily="34" charset="0"/>
              </a:rPr>
              <a:t>carboxylase</a:t>
            </a:r>
            <a:r>
              <a:rPr lang="en-US" altLang="zh-CN" sz="3000" dirty="0">
                <a:latin typeface="Arial" panose="020B0604020202020204" pitchFamily="34" charset="0"/>
              </a:rPr>
              <a:t>, catalyzing the committing and rate-limiting step of fatty acid synthesis, is </a:t>
            </a:r>
            <a:r>
              <a:rPr lang="en-US" altLang="zh-CN" sz="3000" dirty="0" err="1">
                <a:latin typeface="Arial" panose="020B0604020202020204" pitchFamily="34" charset="0"/>
              </a:rPr>
              <a:t>allosterically</a:t>
            </a:r>
            <a:r>
              <a:rPr lang="en-US" altLang="zh-CN" sz="3000" dirty="0">
                <a:latin typeface="Arial" panose="020B0604020202020204" pitchFamily="34" charset="0"/>
              </a:rPr>
              <a:t> </a:t>
            </a:r>
            <a:r>
              <a:rPr lang="en-US" altLang="zh-CN" sz="3000" b="1" dirty="0">
                <a:solidFill>
                  <a:srgbClr val="0000FF"/>
                </a:solidFill>
                <a:latin typeface="Arial" panose="020B0604020202020204" pitchFamily="34" charset="0"/>
              </a:rPr>
              <a:t>inhibited by </a:t>
            </a:r>
            <a:r>
              <a:rPr lang="en-US" altLang="zh-CN" sz="3000" b="1" dirty="0" err="1">
                <a:solidFill>
                  <a:srgbClr val="0000FF"/>
                </a:solidFill>
                <a:latin typeface="Arial" panose="020B0604020202020204" pitchFamily="34" charset="0"/>
              </a:rPr>
              <a:t>palmitoyl-CoA</a:t>
            </a:r>
            <a:r>
              <a:rPr lang="en-US" altLang="zh-CN" sz="3000" b="1" dirty="0">
                <a:solidFill>
                  <a:srgbClr val="0000FF"/>
                </a:solidFill>
                <a:latin typeface="Arial" panose="020B0604020202020204" pitchFamily="34" charset="0"/>
              </a:rPr>
              <a:t> and activated by citrate.</a:t>
            </a:r>
          </a:p>
          <a:p>
            <a:pPr eaLnBrk="1" hangingPunct="1">
              <a:lnSpc>
                <a:spcPct val="90000"/>
              </a:lnSpc>
              <a:spcBef>
                <a:spcPct val="20000"/>
              </a:spcBef>
              <a:buSzPct val="85000"/>
              <a:buFontTx/>
              <a:buChar char="•"/>
            </a:pPr>
            <a:r>
              <a:rPr lang="en-US" altLang="zh-CN" sz="3000" b="1" dirty="0">
                <a:solidFill>
                  <a:srgbClr val="0000FF"/>
                </a:solidFill>
                <a:latin typeface="Arial" panose="020B0604020202020204" pitchFamily="34" charset="0"/>
              </a:rPr>
              <a:t>Glucagon</a:t>
            </a:r>
            <a:r>
              <a:rPr lang="en-US" altLang="zh-CN" sz="3000" dirty="0">
                <a:latin typeface="Arial" panose="020B0604020202020204" pitchFamily="34" charset="0"/>
              </a:rPr>
              <a:t> and </a:t>
            </a:r>
            <a:r>
              <a:rPr lang="en-US" altLang="zh-CN" sz="3000" b="1" dirty="0">
                <a:solidFill>
                  <a:srgbClr val="0000FF"/>
                </a:solidFill>
                <a:latin typeface="Arial" panose="020B0604020202020204" pitchFamily="34" charset="0"/>
              </a:rPr>
              <a:t>epinephrine</a:t>
            </a:r>
            <a:r>
              <a:rPr lang="en-US" altLang="zh-CN" sz="3000" dirty="0">
                <a:solidFill>
                  <a:srgbClr val="0000FF"/>
                </a:solidFill>
                <a:latin typeface="Arial" panose="020B0604020202020204" pitchFamily="34" charset="0"/>
              </a:rPr>
              <a:t> </a:t>
            </a:r>
            <a:r>
              <a:rPr lang="en-US" altLang="zh-CN" sz="3000" dirty="0">
                <a:latin typeface="Arial" panose="020B0604020202020204" pitchFamily="34" charset="0"/>
              </a:rPr>
              <a:t>inhibit protein </a:t>
            </a:r>
            <a:r>
              <a:rPr lang="en-US" altLang="zh-CN" sz="3000" dirty="0" err="1">
                <a:latin typeface="Arial" panose="020B0604020202020204" pitchFamily="34" charset="0"/>
              </a:rPr>
              <a:t>phosphatase</a:t>
            </a:r>
            <a:r>
              <a:rPr lang="en-US" altLang="zh-CN" sz="3000" dirty="0">
                <a:latin typeface="Arial" panose="020B0604020202020204" pitchFamily="34" charset="0"/>
              </a:rPr>
              <a:t> 2A, thus keeping acetyl </a:t>
            </a:r>
            <a:r>
              <a:rPr lang="en-US" altLang="zh-CN" sz="3000" dirty="0" err="1">
                <a:latin typeface="Arial" panose="020B0604020202020204" pitchFamily="34" charset="0"/>
              </a:rPr>
              <a:t>CoA</a:t>
            </a:r>
            <a:r>
              <a:rPr lang="en-US" altLang="zh-CN" sz="3000" dirty="0">
                <a:latin typeface="Arial" panose="020B0604020202020204" pitchFamily="34" charset="0"/>
              </a:rPr>
              <a:t> </a:t>
            </a:r>
            <a:r>
              <a:rPr lang="en-US" altLang="zh-CN" sz="3000" dirty="0" err="1">
                <a:latin typeface="Arial" panose="020B0604020202020204" pitchFamily="34" charset="0"/>
              </a:rPr>
              <a:t>carboxylase</a:t>
            </a:r>
            <a:r>
              <a:rPr lang="en-US" altLang="zh-CN" sz="3000" dirty="0">
                <a:latin typeface="Arial" panose="020B0604020202020204" pitchFamily="34" charset="0"/>
              </a:rPr>
              <a:t> in the inactive form and blocking fatty acid synthesis. </a:t>
            </a:r>
            <a:r>
              <a:rPr lang="en-US" altLang="zh-CN" sz="3000" b="1" dirty="0">
                <a:solidFill>
                  <a:srgbClr val="FF0000"/>
                </a:solidFill>
                <a:latin typeface="Arial" panose="020B0604020202020204" pitchFamily="34" charset="0"/>
              </a:rPr>
              <a:t>Insulin stimulates acetyl </a:t>
            </a:r>
            <a:r>
              <a:rPr lang="en-US" altLang="zh-CN" sz="3000" b="1" dirty="0" err="1">
                <a:solidFill>
                  <a:srgbClr val="FF0000"/>
                </a:solidFill>
                <a:latin typeface="Arial" panose="020B0604020202020204" pitchFamily="34" charset="0"/>
              </a:rPr>
              <a:t>CoA</a:t>
            </a:r>
            <a:r>
              <a:rPr lang="en-US" altLang="zh-CN" sz="3000" b="1" dirty="0">
                <a:solidFill>
                  <a:srgbClr val="FF0000"/>
                </a:solidFill>
                <a:latin typeface="Arial" panose="020B0604020202020204" pitchFamily="34" charset="0"/>
              </a:rPr>
              <a:t> </a:t>
            </a:r>
            <a:r>
              <a:rPr lang="en-US" altLang="zh-CN" sz="3000" b="1" dirty="0" err="1">
                <a:solidFill>
                  <a:srgbClr val="FF0000"/>
                </a:solidFill>
                <a:latin typeface="Arial" panose="020B0604020202020204" pitchFamily="34" charset="0"/>
              </a:rPr>
              <a:t>carboxylase</a:t>
            </a:r>
            <a:r>
              <a:rPr lang="en-US" altLang="zh-CN" sz="3000" b="1" dirty="0">
                <a:solidFill>
                  <a:srgbClr val="FF0000"/>
                </a:solidFill>
                <a:latin typeface="Arial" panose="020B0604020202020204" pitchFamily="34" charset="0"/>
              </a:rPr>
              <a:t>.</a:t>
            </a:r>
          </a:p>
        </p:txBody>
      </p:sp>
    </p:spTree>
    <p:extLst>
      <p:ext uri="{BB962C8B-B14F-4D97-AF65-F5344CB8AC3E}">
        <p14:creationId xmlns:p14="http://schemas.microsoft.com/office/powerpoint/2010/main" val="1138925413"/>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2">
            <a:extLst>
              <a:ext uri="{FF2B5EF4-FFF2-40B4-BE49-F238E27FC236}">
                <a16:creationId xmlns:a16="http://schemas.microsoft.com/office/drawing/2014/main" id="{1FB733F9-ACE4-4EA6-9111-78658DA26052}"/>
              </a:ext>
            </a:extLst>
          </p:cNvPr>
          <p:cNvSpPr>
            <a:spLocks noGrp="1" noChangeArrowheads="1"/>
          </p:cNvSpPr>
          <p:nvPr>
            <p:ph type="title" idx="4294967295"/>
          </p:nvPr>
        </p:nvSpPr>
        <p:spPr>
          <a:xfrm>
            <a:off x="0" y="204788"/>
            <a:ext cx="9144000" cy="1190625"/>
          </a:xfrm>
        </p:spPr>
        <p:txBody>
          <a:bodyPr/>
          <a:lstStyle/>
          <a:p>
            <a:pPr eaLnBrk="1" hangingPunct="1"/>
            <a:r>
              <a:rPr lang="en-US" altLang="zh-CN" sz="3600" b="1" dirty="0">
                <a:solidFill>
                  <a:srgbClr val="0000FF"/>
                </a:solidFill>
                <a:latin typeface="Arial" panose="020B0604020202020204" pitchFamily="34" charset="0"/>
              </a:rPr>
              <a:t>4. Insulin stimulates conversion of dietary carbohydrates/proteins into fat</a:t>
            </a:r>
          </a:p>
        </p:txBody>
      </p:sp>
      <p:sp>
        <p:nvSpPr>
          <p:cNvPr id="166915" name="Rectangle 3">
            <a:extLst>
              <a:ext uri="{FF2B5EF4-FFF2-40B4-BE49-F238E27FC236}">
                <a16:creationId xmlns:a16="http://schemas.microsoft.com/office/drawing/2014/main" id="{BB27B280-EE1D-4E12-B29E-64CFDA17F0FE}"/>
              </a:ext>
            </a:extLst>
          </p:cNvPr>
          <p:cNvSpPr>
            <a:spLocks noGrp="1" noChangeArrowheads="1"/>
          </p:cNvSpPr>
          <p:nvPr>
            <p:ph type="body" idx="4294967295"/>
          </p:nvPr>
        </p:nvSpPr>
        <p:spPr>
          <a:xfrm>
            <a:off x="0" y="1828800"/>
            <a:ext cx="9144000" cy="4114800"/>
          </a:xfrm>
        </p:spPr>
        <p:txBody>
          <a:bodyPr/>
          <a:lstStyle/>
          <a:p>
            <a:pPr eaLnBrk="1" hangingPunct="1"/>
            <a:r>
              <a:rPr lang="en-US" altLang="zh-CN" dirty="0"/>
              <a:t>Diabetes patients due to lack of insulin would neither be able to use glucose properly, nor to synthesize fatty acids from carbohydrates and amino acids.</a:t>
            </a:r>
          </a:p>
          <a:p>
            <a:pPr eaLnBrk="1" hangingPunct="1"/>
            <a:r>
              <a:rPr lang="en-US" altLang="zh-CN" dirty="0"/>
              <a:t>They show </a:t>
            </a:r>
            <a:r>
              <a:rPr lang="en-US" altLang="zh-CN" dirty="0">
                <a:solidFill>
                  <a:srgbClr val="FF0000"/>
                </a:solidFill>
              </a:rPr>
              <a:t>increased rates of fatty acid oxidation and </a:t>
            </a:r>
            <a:r>
              <a:rPr lang="en-US" altLang="zh-CN" dirty="0" err="1">
                <a:solidFill>
                  <a:srgbClr val="FF0000"/>
                </a:solidFill>
              </a:rPr>
              <a:t>ketone</a:t>
            </a:r>
            <a:r>
              <a:rPr lang="en-US" altLang="zh-CN" dirty="0">
                <a:solidFill>
                  <a:srgbClr val="FF0000"/>
                </a:solidFill>
              </a:rPr>
              <a:t> body formation, thus losing weight</a:t>
            </a:r>
            <a:r>
              <a:rPr lang="en-US" altLang="zh-CN" dirty="0"/>
              <a:t>. </a:t>
            </a:r>
          </a:p>
        </p:txBody>
      </p:sp>
    </p:spTree>
    <p:extLst>
      <p:ext uri="{BB962C8B-B14F-4D97-AF65-F5344CB8AC3E}">
        <p14:creationId xmlns:p14="http://schemas.microsoft.com/office/powerpoint/2010/main" val="3639665240"/>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a:extLst>
              <a:ext uri="{FF2B5EF4-FFF2-40B4-BE49-F238E27FC236}">
                <a16:creationId xmlns:a16="http://schemas.microsoft.com/office/drawing/2014/main" id="{1D024EAC-41F3-49A3-9F80-B7E506A945C5}"/>
              </a:ext>
            </a:extLst>
          </p:cNvPr>
          <p:cNvSpPr>
            <a:spLocks noGrp="1" noChangeArrowheads="1"/>
          </p:cNvSpPr>
          <p:nvPr>
            <p:ph type="title" idx="4294967295"/>
          </p:nvPr>
        </p:nvSpPr>
        <p:spPr>
          <a:xfrm>
            <a:off x="0" y="560388"/>
            <a:ext cx="7340600" cy="762000"/>
          </a:xfrm>
        </p:spPr>
        <p:txBody>
          <a:bodyPr/>
          <a:lstStyle/>
          <a:p>
            <a:pPr eaLnBrk="1" hangingPunct="1"/>
            <a:r>
              <a:rPr lang="en-US" altLang="zh-CN"/>
              <a:t>Summary</a:t>
            </a:r>
          </a:p>
        </p:txBody>
      </p:sp>
      <p:sp>
        <p:nvSpPr>
          <p:cNvPr id="134147" name="Rectangle 3">
            <a:extLst>
              <a:ext uri="{FF2B5EF4-FFF2-40B4-BE49-F238E27FC236}">
                <a16:creationId xmlns:a16="http://schemas.microsoft.com/office/drawing/2014/main" id="{CDE57E18-B9C5-43C7-A98B-3F03F7819C64}"/>
              </a:ext>
            </a:extLst>
          </p:cNvPr>
          <p:cNvSpPr>
            <a:spLocks noGrp="1" noChangeArrowheads="1"/>
          </p:cNvSpPr>
          <p:nvPr>
            <p:ph type="body" idx="4294967295"/>
          </p:nvPr>
        </p:nvSpPr>
        <p:spPr>
          <a:xfrm>
            <a:off x="0" y="1524000"/>
            <a:ext cx="9144000" cy="4114800"/>
          </a:xfrm>
        </p:spPr>
        <p:txBody>
          <a:bodyPr/>
          <a:lstStyle/>
          <a:p>
            <a:pPr eaLnBrk="1" hangingPunct="1"/>
            <a:r>
              <a:rPr lang="en-US" altLang="zh-CN" sz="3600"/>
              <a:t>Fatty acid biosynthesis takes a different pathway from the reverse of its degradation and takes place in different cellular compartments.</a:t>
            </a:r>
          </a:p>
          <a:p>
            <a:pPr eaLnBrk="1" hangingPunct="1"/>
            <a:r>
              <a:rPr lang="en-US" altLang="zh-CN" sz="3600"/>
              <a:t>The aceytl-CoA units are transported out of mitochondrial matrix as citrate.</a:t>
            </a:r>
          </a:p>
        </p:txBody>
      </p:sp>
    </p:spTree>
    <p:extLst>
      <p:ext uri="{BB962C8B-B14F-4D97-AF65-F5344CB8AC3E}">
        <p14:creationId xmlns:p14="http://schemas.microsoft.com/office/powerpoint/2010/main" val="3071770650"/>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3">
            <a:extLst>
              <a:ext uri="{FF2B5EF4-FFF2-40B4-BE49-F238E27FC236}">
                <a16:creationId xmlns:a16="http://schemas.microsoft.com/office/drawing/2014/main" id="{B863333B-D10A-4D3B-87A9-88E3996F01B9}"/>
              </a:ext>
            </a:extLst>
          </p:cNvPr>
          <p:cNvSpPr>
            <a:spLocks noGrp="1" noChangeArrowheads="1"/>
          </p:cNvSpPr>
          <p:nvPr>
            <p:ph type="body" idx="4294967295"/>
          </p:nvPr>
        </p:nvSpPr>
        <p:spPr>
          <a:xfrm>
            <a:off x="0" y="457200"/>
            <a:ext cx="9144000" cy="4648200"/>
          </a:xfrm>
        </p:spPr>
        <p:txBody>
          <a:bodyPr/>
          <a:lstStyle/>
          <a:p>
            <a:pPr eaLnBrk="1" hangingPunct="1"/>
            <a:r>
              <a:rPr lang="en-US" altLang="zh-CN" sz="3600"/>
              <a:t>Acetyl-CoA carboxylase catalyzes the rate-limiting step of fatty acid synthesis and is highly regulated by allosteric and covalent modifications.</a:t>
            </a:r>
          </a:p>
          <a:p>
            <a:pPr eaLnBrk="1" hangingPunct="1"/>
            <a:r>
              <a:rPr lang="en-US" altLang="zh-CN" sz="3600"/>
              <a:t>Palmitate, the usual final product of fatty acid synthesis, can be further elongated and desaturated in sER.</a:t>
            </a:r>
          </a:p>
          <a:p>
            <a:pPr eaLnBrk="1" hangingPunct="1"/>
            <a:endParaRPr lang="en-US" altLang="zh-CN" sz="3600"/>
          </a:p>
        </p:txBody>
      </p:sp>
    </p:spTree>
    <p:extLst>
      <p:ext uri="{BB962C8B-B14F-4D97-AF65-F5344CB8AC3E}">
        <p14:creationId xmlns:p14="http://schemas.microsoft.com/office/powerpoint/2010/main" val="1310372199"/>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2">
            <a:extLst>
              <a:ext uri="{FF2B5EF4-FFF2-40B4-BE49-F238E27FC236}">
                <a16:creationId xmlns:a16="http://schemas.microsoft.com/office/drawing/2014/main" id="{2F8AA6E1-C42A-43F4-9FBD-8AE7CB2D07DE}"/>
              </a:ext>
            </a:extLst>
          </p:cNvPr>
          <p:cNvSpPr>
            <a:spLocks noGrp="1" noChangeArrowheads="1"/>
          </p:cNvSpPr>
          <p:nvPr>
            <p:ph type="ctrTitle" idx="4294967295"/>
          </p:nvPr>
        </p:nvSpPr>
        <p:spPr>
          <a:xfrm>
            <a:off x="251520" y="1340768"/>
            <a:ext cx="9296400" cy="914400"/>
          </a:xfrm>
        </p:spPr>
        <p:txBody>
          <a:bodyPr/>
          <a:lstStyle/>
          <a:p>
            <a:pPr algn="l" eaLnBrk="1" hangingPunct="1"/>
            <a:r>
              <a:rPr lang="en-US" altLang="zh-CN" sz="4000" dirty="0">
                <a:solidFill>
                  <a:srgbClr val="0000FF"/>
                </a:solidFill>
                <a:latin typeface="Times New Roman" panose="02020603050405020304" pitchFamily="18" charset="0"/>
                <a:ea typeface="隶书" panose="02010509060101010101" pitchFamily="49" charset="-122"/>
              </a:rPr>
              <a:t>Metabolism of </a:t>
            </a:r>
            <a:r>
              <a:rPr lang="en-US" altLang="zh-CN" sz="4000" dirty="0" err="1">
                <a:solidFill>
                  <a:srgbClr val="0000FF"/>
                </a:solidFill>
                <a:latin typeface="Times New Roman" panose="02020603050405020304" pitchFamily="18" charset="0"/>
                <a:ea typeface="隶书" panose="02010509060101010101" pitchFamily="49" charset="-122"/>
              </a:rPr>
              <a:t>Triacylglycerols</a:t>
            </a:r>
            <a:r>
              <a:rPr lang="en-US" altLang="zh-CN" sz="4000" dirty="0">
                <a:solidFill>
                  <a:srgbClr val="0000FF"/>
                </a:solidFill>
                <a:latin typeface="Times New Roman" panose="02020603050405020304" pitchFamily="18" charset="0"/>
                <a:ea typeface="隶书" panose="02010509060101010101" pitchFamily="49" charset="-122"/>
              </a:rPr>
              <a:t>   </a:t>
            </a:r>
            <a:r>
              <a:rPr lang="en-US" altLang="zh-CN" sz="4000" dirty="0">
                <a:solidFill>
                  <a:srgbClr val="0000FF"/>
                </a:solidFill>
              </a:rPr>
              <a:t>K4</a:t>
            </a:r>
            <a:br>
              <a:rPr lang="en-US" altLang="zh-CN" sz="4000" dirty="0">
                <a:solidFill>
                  <a:srgbClr val="0000FF"/>
                </a:solidFill>
              </a:rPr>
            </a:br>
            <a:endParaRPr lang="en-US" altLang="zh-CN" sz="4000" dirty="0">
              <a:solidFill>
                <a:srgbClr val="0000FF"/>
              </a:solidFill>
              <a:latin typeface="Times New Roman" panose="02020603050405020304" pitchFamily="18" charset="0"/>
              <a:ea typeface="隶书" panose="02010509060101010101" pitchFamily="49" charset="-122"/>
            </a:endParaRPr>
          </a:p>
        </p:txBody>
      </p:sp>
    </p:spTree>
    <p:extLst>
      <p:ext uri="{BB962C8B-B14F-4D97-AF65-F5344CB8AC3E}">
        <p14:creationId xmlns:p14="http://schemas.microsoft.com/office/powerpoint/2010/main" val="2833758457"/>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2">
            <a:extLst>
              <a:ext uri="{FF2B5EF4-FFF2-40B4-BE49-F238E27FC236}">
                <a16:creationId xmlns:a16="http://schemas.microsoft.com/office/drawing/2014/main" id="{F387905F-5D5E-4632-9B9D-5EFFE260B21F}"/>
              </a:ext>
            </a:extLst>
          </p:cNvPr>
          <p:cNvSpPr>
            <a:spLocks noGrp="1" noChangeArrowheads="1"/>
          </p:cNvSpPr>
          <p:nvPr>
            <p:ph type="title" idx="4294967295"/>
          </p:nvPr>
        </p:nvSpPr>
        <p:spPr>
          <a:xfrm>
            <a:off x="0" y="579438"/>
            <a:ext cx="9144000" cy="1190625"/>
          </a:xfrm>
        </p:spPr>
        <p:txBody>
          <a:bodyPr/>
          <a:lstStyle/>
          <a:p>
            <a:pPr eaLnBrk="1" hangingPunct="1"/>
            <a:r>
              <a:rPr lang="en-US" altLang="zh-CN" sz="3600" b="1" dirty="0">
                <a:solidFill>
                  <a:srgbClr val="0000FF"/>
                </a:solidFill>
                <a:latin typeface="Arial" panose="020B0604020202020204" pitchFamily="34" charset="0"/>
              </a:rPr>
              <a:t>1. Newly synthesized fatty acids have mainly two alternative fates in cells</a:t>
            </a:r>
          </a:p>
        </p:txBody>
      </p:sp>
      <p:sp>
        <p:nvSpPr>
          <p:cNvPr id="153603" name="Rectangle 3">
            <a:extLst>
              <a:ext uri="{FF2B5EF4-FFF2-40B4-BE49-F238E27FC236}">
                <a16:creationId xmlns:a16="http://schemas.microsoft.com/office/drawing/2014/main" id="{22AC8368-4D4C-458D-8792-50BD18112F11}"/>
              </a:ext>
            </a:extLst>
          </p:cNvPr>
          <p:cNvSpPr>
            <a:spLocks noGrp="1" noChangeArrowheads="1"/>
          </p:cNvSpPr>
          <p:nvPr>
            <p:ph type="body" idx="4294967295"/>
          </p:nvPr>
        </p:nvSpPr>
        <p:spPr>
          <a:xfrm>
            <a:off x="0" y="2438400"/>
            <a:ext cx="9144000" cy="4114800"/>
          </a:xfrm>
        </p:spPr>
        <p:txBody>
          <a:bodyPr/>
          <a:lstStyle/>
          <a:p>
            <a:pPr eaLnBrk="1" hangingPunct="1"/>
            <a:r>
              <a:rPr lang="en-US" altLang="zh-CN" sz="3600" dirty="0"/>
              <a:t>Fate I: be incorporated into </a:t>
            </a:r>
            <a:r>
              <a:rPr lang="en-US" altLang="zh-CN" sz="3600" dirty="0" err="1"/>
              <a:t>triacylglycerols</a:t>
            </a:r>
            <a:r>
              <a:rPr lang="en-US" altLang="zh-CN" sz="3600" dirty="0"/>
              <a:t> as a form to store metabolic energy in long terms.</a:t>
            </a:r>
          </a:p>
          <a:p>
            <a:pPr eaLnBrk="1" hangingPunct="1"/>
            <a:r>
              <a:rPr lang="en-US" altLang="zh-CN" sz="3600" dirty="0"/>
              <a:t>Fate II: be incorporated into membrane phospholipids (during rapid growth).</a:t>
            </a:r>
          </a:p>
        </p:txBody>
      </p:sp>
    </p:spTree>
    <p:extLst>
      <p:ext uri="{BB962C8B-B14F-4D97-AF65-F5344CB8AC3E}">
        <p14:creationId xmlns:p14="http://schemas.microsoft.com/office/powerpoint/2010/main" val="1002718228"/>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4626" name="Picture 2" descr="&#10;F11-02.gif                                                     0000003ASumanas' Hard Drive            B4EBCDA7:">
            <a:extLst>
              <a:ext uri="{FF2B5EF4-FFF2-40B4-BE49-F238E27FC236}">
                <a16:creationId xmlns:a16="http://schemas.microsoft.com/office/drawing/2014/main" id="{C89D1057-5F2B-4D24-A379-63540B7E0E0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22600" y="254000"/>
            <a:ext cx="3098800" cy="635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84959757"/>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6539AB3E-07DC-429E-3C11-5E107939F93D}"/>
              </a:ext>
            </a:extLst>
          </p:cNvPr>
          <p:cNvPicPr>
            <a:picLocks noChangeAspect="1"/>
          </p:cNvPicPr>
          <p:nvPr/>
        </p:nvPicPr>
        <p:blipFill>
          <a:blip r:embed="rId3"/>
          <a:stretch>
            <a:fillRect/>
          </a:stretch>
        </p:blipFill>
        <p:spPr>
          <a:xfrm>
            <a:off x="1092549" y="0"/>
            <a:ext cx="6958902" cy="6858000"/>
          </a:xfrm>
          <a:prstGeom prst="rect">
            <a:avLst/>
          </a:prstGeom>
        </p:spPr>
      </p:pic>
    </p:spTree>
    <p:extLst>
      <p:ext uri="{BB962C8B-B14F-4D97-AF65-F5344CB8AC3E}">
        <p14:creationId xmlns:p14="http://schemas.microsoft.com/office/powerpoint/2010/main" val="1993136931"/>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6674" name="Picture 2" descr="F11-03.0a.GIF005                                               0000525BSumanas' Hard Drive            B4EBCDA7:">
            <a:extLst>
              <a:ext uri="{FF2B5EF4-FFF2-40B4-BE49-F238E27FC236}">
                <a16:creationId xmlns:a16="http://schemas.microsoft.com/office/drawing/2014/main" id="{D0583EF8-9B68-4B19-B8B9-7C65E43C58E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8800" y="1225550"/>
            <a:ext cx="8026400" cy="440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65218135"/>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5650" name="Picture 1026" descr="F11-03.0b.GIF006                                               0000525BSumanas' Hard Drive            B4EBCDA7:">
            <a:extLst>
              <a:ext uri="{FF2B5EF4-FFF2-40B4-BE49-F238E27FC236}">
                <a16:creationId xmlns:a16="http://schemas.microsoft.com/office/drawing/2014/main" id="{C6B085CB-7F31-418C-B663-05A6A5703F5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3528" y="476672"/>
            <a:ext cx="5029200" cy="543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图片 2">
            <a:extLst>
              <a:ext uri="{FF2B5EF4-FFF2-40B4-BE49-F238E27FC236}">
                <a16:creationId xmlns:a16="http://schemas.microsoft.com/office/drawing/2014/main" id="{0EBCA49D-4559-D515-69B6-36FE895A0572}"/>
              </a:ext>
            </a:extLst>
          </p:cNvPr>
          <p:cNvPicPr>
            <a:picLocks noChangeAspect="1"/>
          </p:cNvPicPr>
          <p:nvPr/>
        </p:nvPicPr>
        <p:blipFill>
          <a:blip r:embed="rId4"/>
          <a:stretch>
            <a:fillRect/>
          </a:stretch>
        </p:blipFill>
        <p:spPr>
          <a:xfrm>
            <a:off x="5652120" y="1628775"/>
            <a:ext cx="5772150" cy="3600450"/>
          </a:xfrm>
          <a:prstGeom prst="rect">
            <a:avLst/>
          </a:prstGeom>
        </p:spPr>
      </p:pic>
    </p:spTree>
    <p:extLst>
      <p:ext uri="{BB962C8B-B14F-4D97-AF65-F5344CB8AC3E}">
        <p14:creationId xmlns:p14="http://schemas.microsoft.com/office/powerpoint/2010/main" val="1139166359"/>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0BC9BAE6-9FCF-99FA-6CC9-56C50BCDD1B2}"/>
              </a:ext>
            </a:extLst>
          </p:cNvPr>
          <p:cNvPicPr>
            <a:picLocks noChangeAspect="1"/>
          </p:cNvPicPr>
          <p:nvPr/>
        </p:nvPicPr>
        <p:blipFill>
          <a:blip r:embed="rId3"/>
          <a:stretch>
            <a:fillRect/>
          </a:stretch>
        </p:blipFill>
        <p:spPr>
          <a:xfrm>
            <a:off x="0" y="69850"/>
            <a:ext cx="9144000" cy="6718300"/>
          </a:xfrm>
          <a:prstGeom prst="rect">
            <a:avLst/>
          </a:prstGeom>
        </p:spPr>
      </p:pic>
    </p:spTree>
    <p:extLst>
      <p:ext uri="{BB962C8B-B14F-4D97-AF65-F5344CB8AC3E}">
        <p14:creationId xmlns:p14="http://schemas.microsoft.com/office/powerpoint/2010/main" val="4060151836"/>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2">
            <a:extLst>
              <a:ext uri="{FF2B5EF4-FFF2-40B4-BE49-F238E27FC236}">
                <a16:creationId xmlns:a16="http://schemas.microsoft.com/office/drawing/2014/main" id="{321DC68C-5754-43C8-8870-434D389EC3BD}"/>
              </a:ext>
            </a:extLst>
          </p:cNvPr>
          <p:cNvSpPr>
            <a:spLocks noGrp="1" noChangeArrowheads="1"/>
          </p:cNvSpPr>
          <p:nvPr>
            <p:ph type="title" idx="4294967295"/>
          </p:nvPr>
        </p:nvSpPr>
        <p:spPr>
          <a:xfrm>
            <a:off x="0" y="585788"/>
            <a:ext cx="9144000" cy="1190625"/>
          </a:xfrm>
        </p:spPr>
        <p:txBody>
          <a:bodyPr/>
          <a:lstStyle/>
          <a:p>
            <a:pPr eaLnBrk="1" hangingPunct="1"/>
            <a:r>
              <a:rPr lang="en-US" altLang="zh-CN" sz="3600" b="1" dirty="0">
                <a:solidFill>
                  <a:srgbClr val="0000FF"/>
                </a:solidFill>
                <a:latin typeface="Arial" panose="020B0604020202020204" pitchFamily="34" charset="0"/>
              </a:rPr>
              <a:t>2. </a:t>
            </a:r>
            <a:r>
              <a:rPr lang="en-US" altLang="zh-CN" sz="3600" b="1" dirty="0" err="1">
                <a:solidFill>
                  <a:srgbClr val="0000FF"/>
                </a:solidFill>
                <a:latin typeface="Arial" panose="020B0604020202020204" pitchFamily="34" charset="0"/>
              </a:rPr>
              <a:t>Triacylglycerols</a:t>
            </a:r>
            <a:r>
              <a:rPr lang="en-US" altLang="zh-CN" sz="3600" b="1" dirty="0">
                <a:solidFill>
                  <a:srgbClr val="0000FF"/>
                </a:solidFill>
                <a:latin typeface="Arial" panose="020B0604020202020204" pitchFamily="34" charset="0"/>
              </a:rPr>
              <a:t> are synthesized from glycerol 3-phosphate and acyl </a:t>
            </a:r>
            <a:r>
              <a:rPr lang="en-US" altLang="zh-CN" sz="3600" b="1" dirty="0" err="1">
                <a:solidFill>
                  <a:srgbClr val="0000FF"/>
                </a:solidFill>
                <a:latin typeface="Arial" panose="020B0604020202020204" pitchFamily="34" charset="0"/>
              </a:rPr>
              <a:t>CoAs</a:t>
            </a:r>
            <a:endParaRPr lang="en-US" altLang="zh-CN" sz="3600" b="1" dirty="0">
              <a:solidFill>
                <a:srgbClr val="0000FF"/>
              </a:solidFill>
              <a:latin typeface="Arial" panose="020B0604020202020204" pitchFamily="34" charset="0"/>
            </a:endParaRPr>
          </a:p>
        </p:txBody>
      </p:sp>
      <p:sp>
        <p:nvSpPr>
          <p:cNvPr id="157699" name="Rectangle 3">
            <a:extLst>
              <a:ext uri="{FF2B5EF4-FFF2-40B4-BE49-F238E27FC236}">
                <a16:creationId xmlns:a16="http://schemas.microsoft.com/office/drawing/2014/main" id="{C8673F21-2473-4711-8AB4-A8BF86D9FAAB}"/>
              </a:ext>
            </a:extLst>
          </p:cNvPr>
          <p:cNvSpPr>
            <a:spLocks noGrp="1" noChangeArrowheads="1"/>
          </p:cNvSpPr>
          <p:nvPr>
            <p:ph type="body" idx="4294967295"/>
          </p:nvPr>
        </p:nvSpPr>
        <p:spPr>
          <a:xfrm>
            <a:off x="0" y="2133600"/>
            <a:ext cx="9144000" cy="4114800"/>
          </a:xfrm>
        </p:spPr>
        <p:txBody>
          <a:bodyPr/>
          <a:lstStyle/>
          <a:p>
            <a:pPr eaLnBrk="1" hangingPunct="1"/>
            <a:r>
              <a:rPr lang="en-US" altLang="zh-CN" b="1" dirty="0">
                <a:solidFill>
                  <a:srgbClr val="FF0000"/>
                </a:solidFill>
              </a:rPr>
              <a:t>L-glycerol 3-phosphate </a:t>
            </a:r>
            <a:r>
              <a:rPr lang="en-US" altLang="zh-CN" dirty="0"/>
              <a:t>is derived from either glycerol or dihydroxyacetone phosphate.</a:t>
            </a:r>
          </a:p>
          <a:p>
            <a:pPr eaLnBrk="1" hangingPunct="1"/>
            <a:r>
              <a:rPr lang="en-US" altLang="zh-CN" b="1" dirty="0">
                <a:solidFill>
                  <a:srgbClr val="FF0000"/>
                </a:solidFill>
              </a:rPr>
              <a:t>Acyl </a:t>
            </a:r>
            <a:r>
              <a:rPr lang="en-US" altLang="zh-CN" b="1" dirty="0" err="1">
                <a:solidFill>
                  <a:srgbClr val="FF0000"/>
                </a:solidFill>
              </a:rPr>
              <a:t>CoAs</a:t>
            </a:r>
            <a:r>
              <a:rPr lang="en-US" altLang="zh-CN" b="1" dirty="0">
                <a:solidFill>
                  <a:srgbClr val="FF0000"/>
                </a:solidFill>
              </a:rPr>
              <a:t> </a:t>
            </a:r>
            <a:r>
              <a:rPr lang="en-US" altLang="zh-CN" dirty="0"/>
              <a:t>are added on to glycerol 3-phosphate to form phosphatidic acid.</a:t>
            </a:r>
          </a:p>
          <a:p>
            <a:pPr eaLnBrk="1" hangingPunct="1"/>
            <a:r>
              <a:rPr lang="en-US" altLang="zh-CN" b="1" dirty="0">
                <a:solidFill>
                  <a:srgbClr val="FF0000"/>
                </a:solidFill>
              </a:rPr>
              <a:t>A phosphatidic acid </a:t>
            </a:r>
            <a:r>
              <a:rPr lang="en-US" altLang="zh-CN" dirty="0"/>
              <a:t>is converted to a triacylglycerol via a </a:t>
            </a:r>
            <a:r>
              <a:rPr lang="en-US" altLang="zh-CN" dirty="0" err="1"/>
              <a:t>dephosphorylation</a:t>
            </a:r>
            <a:r>
              <a:rPr lang="en-US" altLang="zh-CN" dirty="0"/>
              <a:t> reaction (catalyzed by </a:t>
            </a:r>
            <a:r>
              <a:rPr lang="en-US" altLang="zh-CN" b="1" dirty="0">
                <a:solidFill>
                  <a:srgbClr val="FF0000"/>
                </a:solidFill>
              </a:rPr>
              <a:t>phosphatidic acid phosphatase</a:t>
            </a:r>
            <a:r>
              <a:rPr lang="en-US" altLang="zh-CN" dirty="0"/>
              <a:t>) and a acyl transferring reaction.</a:t>
            </a:r>
          </a:p>
        </p:txBody>
      </p:sp>
    </p:spTree>
    <p:extLst>
      <p:ext uri="{BB962C8B-B14F-4D97-AF65-F5344CB8AC3E}">
        <p14:creationId xmlns:p14="http://schemas.microsoft.com/office/powerpoint/2010/main" val="3280730702"/>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8722" name="Picture 2" descr="Fig 21-18.1-top.GIF042                                         0000691BSumanas' Hard Drive            B4EBCDA7:">
            <a:extLst>
              <a:ext uri="{FF2B5EF4-FFF2-40B4-BE49-F238E27FC236}">
                <a16:creationId xmlns:a16="http://schemas.microsoft.com/office/drawing/2014/main" id="{C4452069-6EEB-4FA8-B53D-AD924E0D614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8600" y="762000"/>
            <a:ext cx="8763000" cy="399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80485364"/>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9746" name="Picture 2" descr="Fig 21-18.2-bottom.GIF043                                      0000691BSumanas' Hard Drive            B4EBCDA7:">
            <a:extLst>
              <a:ext uri="{FF2B5EF4-FFF2-40B4-BE49-F238E27FC236}">
                <a16:creationId xmlns:a16="http://schemas.microsoft.com/office/drawing/2014/main" id="{66B46811-55E3-4F00-8259-C28352798E1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81200" y="254000"/>
            <a:ext cx="5181600" cy="635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13107593"/>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0770" name="Picture 2" descr="Fig 21-19.GIF044                                               0000691BSumanas' Hard Drive            B4EBCDA7:">
            <a:extLst>
              <a:ext uri="{FF2B5EF4-FFF2-40B4-BE49-F238E27FC236}">
                <a16:creationId xmlns:a16="http://schemas.microsoft.com/office/drawing/2014/main" id="{EDD21C9E-2FB1-4E61-9D77-8CCD9711784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362200" y="76200"/>
            <a:ext cx="4283075" cy="662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12838057"/>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1794" name="Picture 2">
            <a:extLst>
              <a:ext uri="{FF2B5EF4-FFF2-40B4-BE49-F238E27FC236}">
                <a16:creationId xmlns:a16="http://schemas.microsoft.com/office/drawing/2014/main" id="{F6F7992E-8030-4428-8754-A7B9E7C37C2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l="5695"/>
          <a:stretch>
            <a:fillRect/>
          </a:stretch>
        </p:blipFill>
        <p:spPr bwMode="auto">
          <a:xfrm>
            <a:off x="304800" y="304800"/>
            <a:ext cx="8534400" cy="4037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61795" name="Picture 3">
            <a:extLst>
              <a:ext uri="{FF2B5EF4-FFF2-40B4-BE49-F238E27FC236}">
                <a16:creationId xmlns:a16="http://schemas.microsoft.com/office/drawing/2014/main" id="{A1DF7DD1-D68D-484B-B9F8-9D5A85B55AF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t="8768" b="5754"/>
          <a:stretch>
            <a:fillRect/>
          </a:stretch>
        </p:blipFill>
        <p:spPr bwMode="auto">
          <a:xfrm>
            <a:off x="762000" y="3886200"/>
            <a:ext cx="5105400" cy="297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01269203"/>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Text Box 2">
            <a:extLst>
              <a:ext uri="{FF2B5EF4-FFF2-40B4-BE49-F238E27FC236}">
                <a16:creationId xmlns:a16="http://schemas.microsoft.com/office/drawing/2014/main" id="{D21B24FD-2576-456F-AE65-1F36FCC6618A}"/>
              </a:ext>
            </a:extLst>
          </p:cNvPr>
          <p:cNvSpPr txBox="1">
            <a:spLocks noChangeArrowheads="1"/>
          </p:cNvSpPr>
          <p:nvPr/>
        </p:nvSpPr>
        <p:spPr bwMode="auto">
          <a:xfrm>
            <a:off x="304800" y="381000"/>
            <a:ext cx="85344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3600" b="1" dirty="0">
                <a:solidFill>
                  <a:srgbClr val="0000FF"/>
                </a:solidFill>
                <a:latin typeface="Arial" panose="020B0604020202020204" pitchFamily="34" charset="0"/>
              </a:rPr>
              <a:t>3. Breakdown of </a:t>
            </a:r>
            <a:r>
              <a:rPr lang="en-US" altLang="zh-CN" sz="3600" b="1" dirty="0" err="1">
                <a:solidFill>
                  <a:srgbClr val="0000FF"/>
                </a:solidFill>
                <a:latin typeface="Arial" panose="020B0604020202020204" pitchFamily="34" charset="0"/>
              </a:rPr>
              <a:t>triacylglycerols</a:t>
            </a:r>
            <a:endParaRPr lang="en-US" altLang="zh-CN" sz="3600" b="1" dirty="0">
              <a:solidFill>
                <a:srgbClr val="0000FF"/>
              </a:solidFill>
              <a:latin typeface="Arial" panose="020B0604020202020204" pitchFamily="34" charset="0"/>
            </a:endParaRPr>
          </a:p>
        </p:txBody>
      </p:sp>
      <p:sp>
        <p:nvSpPr>
          <p:cNvPr id="162819" name="Text Box 4">
            <a:extLst>
              <a:ext uri="{FF2B5EF4-FFF2-40B4-BE49-F238E27FC236}">
                <a16:creationId xmlns:a16="http://schemas.microsoft.com/office/drawing/2014/main" id="{18588BF4-5496-4E1B-8477-7EB486BCEA9B}"/>
              </a:ext>
            </a:extLst>
          </p:cNvPr>
          <p:cNvSpPr txBox="1">
            <a:spLocks noChangeArrowheads="1"/>
          </p:cNvSpPr>
          <p:nvPr/>
        </p:nvSpPr>
        <p:spPr bwMode="auto">
          <a:xfrm>
            <a:off x="457200" y="1676400"/>
            <a:ext cx="8382000" cy="4524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3200" dirty="0">
                <a:latin typeface="Arial" panose="020B0604020202020204" pitchFamily="34" charset="0"/>
              </a:rPr>
              <a:t>The fatty acids in </a:t>
            </a:r>
            <a:r>
              <a:rPr lang="en-US" altLang="zh-CN" sz="3200" dirty="0" err="1">
                <a:latin typeface="Arial" panose="020B0604020202020204" pitchFamily="34" charset="0"/>
              </a:rPr>
              <a:t>triacylglycerols</a:t>
            </a:r>
            <a:r>
              <a:rPr lang="en-US" altLang="zh-CN" sz="3200" dirty="0">
                <a:latin typeface="Arial" panose="020B0604020202020204" pitchFamily="34" charset="0"/>
              </a:rPr>
              <a:t> are released from the glycerol backbone by the action of </a:t>
            </a:r>
            <a:r>
              <a:rPr lang="en-US" altLang="zh-CN" sz="3200" b="1" dirty="0">
                <a:solidFill>
                  <a:srgbClr val="FF0000"/>
                </a:solidFill>
                <a:latin typeface="Arial" panose="020B0604020202020204" pitchFamily="34" charset="0"/>
              </a:rPr>
              <a:t>lipases</a:t>
            </a:r>
            <a:r>
              <a:rPr lang="en-US" altLang="zh-CN" sz="3200" dirty="0">
                <a:latin typeface="Arial" panose="020B0604020202020204" pitchFamily="34" charset="0"/>
              </a:rPr>
              <a:t>.</a:t>
            </a:r>
          </a:p>
          <a:p>
            <a:pPr eaLnBrk="1" hangingPunct="1">
              <a:spcBef>
                <a:spcPct val="50000"/>
              </a:spcBef>
            </a:pPr>
            <a:r>
              <a:rPr lang="en-US" altLang="zh-CN" sz="3200" dirty="0">
                <a:latin typeface="Arial" panose="020B0604020202020204" pitchFamily="34" charset="0"/>
              </a:rPr>
              <a:t>The free fatty acids can then degraded by </a:t>
            </a:r>
            <a:r>
              <a:rPr lang="en-US" altLang="zh-CN" sz="3200" dirty="0">
                <a:latin typeface="Arial" panose="020B0604020202020204" pitchFamily="34" charset="0"/>
                <a:sym typeface="Symbol" panose="05050102010706020507" pitchFamily="18" charset="2"/>
              </a:rPr>
              <a:t></a:t>
            </a:r>
            <a:r>
              <a:rPr lang="en-US" altLang="zh-CN" sz="3200" dirty="0">
                <a:latin typeface="Arial" panose="020B0604020202020204" pitchFamily="34" charset="0"/>
              </a:rPr>
              <a:t>–</a:t>
            </a:r>
            <a:r>
              <a:rPr lang="en-US" altLang="zh-CN" sz="3200" dirty="0" err="1">
                <a:latin typeface="Arial" panose="020B0604020202020204" pitchFamily="34" charset="0"/>
              </a:rPr>
              <a:t>oxidatin</a:t>
            </a:r>
            <a:r>
              <a:rPr lang="en-US" altLang="zh-CN" sz="3200" dirty="0">
                <a:latin typeface="Arial" panose="020B0604020202020204" pitchFamily="34" charset="0"/>
              </a:rPr>
              <a:t> to produce energy. </a:t>
            </a:r>
          </a:p>
          <a:p>
            <a:pPr eaLnBrk="1" hangingPunct="1">
              <a:spcBef>
                <a:spcPct val="50000"/>
              </a:spcBef>
            </a:pPr>
            <a:r>
              <a:rPr lang="en-US" altLang="zh-CN" sz="3200" dirty="0">
                <a:latin typeface="Arial" panose="020B0604020202020204" pitchFamily="34" charset="0"/>
              </a:rPr>
              <a:t>The glycerol is converted into </a:t>
            </a:r>
            <a:r>
              <a:rPr lang="en-US" altLang="zh-CN" sz="3200" dirty="0" err="1">
                <a:latin typeface="Arial" panose="020B0604020202020204" pitchFamily="34" charset="0"/>
              </a:rPr>
              <a:t>dihydroxyacetone</a:t>
            </a:r>
            <a:r>
              <a:rPr lang="en-US" altLang="zh-CN" sz="3200" dirty="0">
                <a:latin typeface="Arial" panose="020B0604020202020204" pitchFamily="34" charset="0"/>
              </a:rPr>
              <a:t> phosphate which enters </a:t>
            </a:r>
            <a:r>
              <a:rPr lang="en-US" altLang="zh-CN" sz="3200" dirty="0" err="1">
                <a:latin typeface="Arial" panose="020B0604020202020204" pitchFamily="34" charset="0"/>
              </a:rPr>
              <a:t>glycolysis</a:t>
            </a:r>
            <a:r>
              <a:rPr lang="en-US" altLang="zh-CN" sz="3200" dirty="0">
                <a:latin typeface="Arial" panose="020B0604020202020204" pitchFamily="34" charset="0"/>
              </a:rPr>
              <a:t>.</a:t>
            </a:r>
          </a:p>
        </p:txBody>
      </p:sp>
    </p:spTree>
    <p:extLst>
      <p:ext uri="{BB962C8B-B14F-4D97-AF65-F5344CB8AC3E}">
        <p14:creationId xmlns:p14="http://schemas.microsoft.com/office/powerpoint/2010/main" val="1837147435"/>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42" name="Picture 2" descr="F:\biochemistry\素材庫\breakdown of triacylglycerol.jpg">
            <a:extLst>
              <a:ext uri="{FF2B5EF4-FFF2-40B4-BE49-F238E27FC236}">
                <a16:creationId xmlns:a16="http://schemas.microsoft.com/office/drawing/2014/main" id="{C2A356F2-C4E8-4BA5-8A6E-F736B0767D4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l="7091" t="8516" r="5257" b="7304"/>
          <a:stretch>
            <a:fillRect/>
          </a:stretch>
        </p:blipFill>
        <p:spPr bwMode="auto">
          <a:xfrm>
            <a:off x="2286000" y="0"/>
            <a:ext cx="49784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50192930"/>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4866" name="Picture 2" descr="&#10;F17-04.JPG                                                     00014CF9&#10;ECONOMICS 2.0                  B088F83F:">
            <a:extLst>
              <a:ext uri="{FF2B5EF4-FFF2-40B4-BE49-F238E27FC236}">
                <a16:creationId xmlns:a16="http://schemas.microsoft.com/office/drawing/2014/main" id="{18771DBF-8C7B-4B00-8CF3-CDAF281ACB0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689225" y="152400"/>
            <a:ext cx="3559175" cy="662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09467193"/>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5890" name="Picture 2" descr="F11-13.0.GIF022                                                0000525BSumanas' Hard Drive            B4EBCDA7:">
            <a:extLst>
              <a:ext uri="{FF2B5EF4-FFF2-40B4-BE49-F238E27FC236}">
                <a16:creationId xmlns:a16="http://schemas.microsoft.com/office/drawing/2014/main" id="{43F0A3C4-32F7-4797-9F17-B22C800EE67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8800" y="965200"/>
            <a:ext cx="8026400" cy="492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83094105"/>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2">
            <a:extLst>
              <a:ext uri="{FF2B5EF4-FFF2-40B4-BE49-F238E27FC236}">
                <a16:creationId xmlns:a16="http://schemas.microsoft.com/office/drawing/2014/main" id="{1FB733F9-ACE4-4EA6-9111-78658DA26052}"/>
              </a:ext>
            </a:extLst>
          </p:cNvPr>
          <p:cNvSpPr>
            <a:spLocks noGrp="1" noChangeArrowheads="1"/>
          </p:cNvSpPr>
          <p:nvPr>
            <p:ph type="title" idx="4294967295"/>
          </p:nvPr>
        </p:nvSpPr>
        <p:spPr>
          <a:xfrm>
            <a:off x="0" y="204788"/>
            <a:ext cx="9144000" cy="1190625"/>
          </a:xfrm>
        </p:spPr>
        <p:txBody>
          <a:bodyPr/>
          <a:lstStyle/>
          <a:p>
            <a:pPr eaLnBrk="1" hangingPunct="1"/>
            <a:r>
              <a:rPr lang="en-US" altLang="zh-CN" sz="3600" b="1" dirty="0">
                <a:solidFill>
                  <a:srgbClr val="0000FF"/>
                </a:solidFill>
                <a:latin typeface="Arial" panose="020B0604020202020204" pitchFamily="34" charset="0"/>
              </a:rPr>
              <a:t>4. Insulin stimulates conversion of dietary carbohydrates/proteins into fat</a:t>
            </a:r>
          </a:p>
        </p:txBody>
      </p:sp>
      <p:sp>
        <p:nvSpPr>
          <p:cNvPr id="166915" name="Rectangle 3">
            <a:extLst>
              <a:ext uri="{FF2B5EF4-FFF2-40B4-BE49-F238E27FC236}">
                <a16:creationId xmlns:a16="http://schemas.microsoft.com/office/drawing/2014/main" id="{BB27B280-EE1D-4E12-B29E-64CFDA17F0FE}"/>
              </a:ext>
            </a:extLst>
          </p:cNvPr>
          <p:cNvSpPr>
            <a:spLocks noGrp="1" noChangeArrowheads="1"/>
          </p:cNvSpPr>
          <p:nvPr>
            <p:ph type="body" idx="4294967295"/>
          </p:nvPr>
        </p:nvSpPr>
        <p:spPr>
          <a:xfrm>
            <a:off x="0" y="1828800"/>
            <a:ext cx="9144000" cy="4114800"/>
          </a:xfrm>
        </p:spPr>
        <p:txBody>
          <a:bodyPr/>
          <a:lstStyle/>
          <a:p>
            <a:pPr eaLnBrk="1" hangingPunct="1"/>
            <a:r>
              <a:rPr lang="en-US" altLang="zh-CN" dirty="0"/>
              <a:t>Diabetes patients due to lack of insulin would neither be able to use glucose properly, nor to synthesize fatty acids from carbohydrates and amino acids.</a:t>
            </a:r>
          </a:p>
          <a:p>
            <a:pPr eaLnBrk="1" hangingPunct="1"/>
            <a:r>
              <a:rPr lang="en-US" altLang="zh-CN" dirty="0"/>
              <a:t>They show </a:t>
            </a:r>
            <a:r>
              <a:rPr lang="en-US" altLang="zh-CN" dirty="0">
                <a:solidFill>
                  <a:srgbClr val="FF0000"/>
                </a:solidFill>
              </a:rPr>
              <a:t>increased rates of fatty acid oxidation and </a:t>
            </a:r>
            <a:r>
              <a:rPr lang="en-US" altLang="zh-CN" dirty="0" err="1">
                <a:solidFill>
                  <a:srgbClr val="FF0000"/>
                </a:solidFill>
              </a:rPr>
              <a:t>ketone</a:t>
            </a:r>
            <a:r>
              <a:rPr lang="en-US" altLang="zh-CN" dirty="0">
                <a:solidFill>
                  <a:srgbClr val="FF0000"/>
                </a:solidFill>
              </a:rPr>
              <a:t> body formation, thus losing weight</a:t>
            </a:r>
            <a:r>
              <a:rPr lang="en-US" altLang="zh-CN" dirty="0"/>
              <a:t>. </a:t>
            </a:r>
          </a:p>
        </p:txBody>
      </p:sp>
    </p:spTree>
    <p:extLst>
      <p:ext uri="{BB962C8B-B14F-4D97-AF65-F5344CB8AC3E}">
        <p14:creationId xmlns:p14="http://schemas.microsoft.com/office/powerpoint/2010/main" val="2529304574"/>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Text Box 2">
            <a:extLst>
              <a:ext uri="{FF2B5EF4-FFF2-40B4-BE49-F238E27FC236}">
                <a16:creationId xmlns:a16="http://schemas.microsoft.com/office/drawing/2014/main" id="{2CEBE0FA-7F3C-4EA3-8E00-329050A5C231}"/>
              </a:ext>
            </a:extLst>
          </p:cNvPr>
          <p:cNvSpPr txBox="1">
            <a:spLocks noChangeArrowheads="1"/>
          </p:cNvSpPr>
          <p:nvPr/>
        </p:nvSpPr>
        <p:spPr bwMode="auto">
          <a:xfrm>
            <a:off x="0" y="533400"/>
            <a:ext cx="8839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endParaRPr lang="zh-CN" altLang="zh-CN"/>
          </a:p>
        </p:txBody>
      </p:sp>
      <p:sp>
        <p:nvSpPr>
          <p:cNvPr id="167939" name="Text Box 3">
            <a:extLst>
              <a:ext uri="{FF2B5EF4-FFF2-40B4-BE49-F238E27FC236}">
                <a16:creationId xmlns:a16="http://schemas.microsoft.com/office/drawing/2014/main" id="{F1010F74-E767-4B99-93A6-6001DCB7C451}"/>
              </a:ext>
            </a:extLst>
          </p:cNvPr>
          <p:cNvSpPr txBox="1">
            <a:spLocks noChangeArrowheads="1"/>
          </p:cNvSpPr>
          <p:nvPr/>
        </p:nvSpPr>
        <p:spPr bwMode="auto">
          <a:xfrm>
            <a:off x="228600" y="533400"/>
            <a:ext cx="8305800" cy="552067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b="1" dirty="0">
                <a:latin typeface="楷体_GB2312" pitchFamily="49" charset="-122"/>
                <a:ea typeface="楷体_GB2312" pitchFamily="49" charset="-122"/>
              </a:rPr>
              <a:t>胰岛素对糖代谢的作用，主要是刺激糖原和脂肪酸的合成。</a:t>
            </a:r>
          </a:p>
          <a:p>
            <a:pPr eaLnBrk="1" hangingPunct="1">
              <a:spcBef>
                <a:spcPct val="50000"/>
              </a:spcBef>
            </a:pPr>
            <a:r>
              <a:rPr lang="zh-CN" altLang="en-US" b="1" dirty="0">
                <a:latin typeface="楷体_GB2312" pitchFamily="49" charset="-122"/>
                <a:ea typeface="楷体_GB2312" pitchFamily="49" charset="-122"/>
              </a:rPr>
              <a:t>糖尿病的发生，直接原因是血中胰岛素含量不足。</a:t>
            </a:r>
          </a:p>
          <a:p>
            <a:pPr eaLnBrk="1" hangingPunct="1">
              <a:lnSpc>
                <a:spcPct val="120000"/>
              </a:lnSpc>
              <a:spcBef>
                <a:spcPct val="50000"/>
              </a:spcBef>
            </a:pPr>
            <a:r>
              <a:rPr lang="zh-CN" altLang="en-US" b="1" dirty="0">
                <a:latin typeface="楷体_GB2312" pitchFamily="49" charset="-122"/>
                <a:ea typeface="楷体_GB2312" pitchFamily="49" charset="-122"/>
              </a:rPr>
              <a:t>患者的肝脏往往产生过量的葡萄糖，由于缺少胰岛素，葡萄糖不能正常地进入细胞。又因胰高血糖素的浓度高于胰岛素的浓度，一方面导致肝脏中－</a:t>
            </a:r>
            <a:r>
              <a:rPr lang="en-US" altLang="zh-CN" b="1" dirty="0">
                <a:latin typeface="楷体_GB2312" pitchFamily="49" charset="-122"/>
                <a:ea typeface="楷体_GB2312" pitchFamily="49" charset="-122"/>
              </a:rPr>
              <a:t>FBP</a:t>
            </a:r>
            <a:r>
              <a:rPr lang="zh-CN" altLang="en-US" b="1" dirty="0">
                <a:latin typeface="楷体_GB2312" pitchFamily="49" charset="-122"/>
                <a:ea typeface="楷体_GB2312" pitchFamily="49" charset="-122"/>
              </a:rPr>
              <a:t>的浓度下降，使糖酵解受到抑制，又刺激了葡萄糖异生，另一方面又加速了糖原的降解。这些过程都促使肝脏产生过量的葡萄糖进入血液。糖尿病患者由于糖代谢紊乱进而使脂类代谢和蛋白质代谢都受到损害。</a:t>
            </a:r>
          </a:p>
          <a:p>
            <a:pPr eaLnBrk="1" hangingPunct="1">
              <a:lnSpc>
                <a:spcPct val="120000"/>
              </a:lnSpc>
              <a:spcBef>
                <a:spcPct val="50000"/>
              </a:spcBef>
            </a:pPr>
            <a:r>
              <a:rPr lang="en-US" altLang="zh-CN" b="1" dirty="0">
                <a:latin typeface="楷体_GB2312" pitchFamily="49" charset="-122"/>
                <a:ea typeface="楷体_GB2312" pitchFamily="49" charset="-122"/>
              </a:rPr>
              <a:t>I</a:t>
            </a:r>
            <a:r>
              <a:rPr lang="zh-CN" altLang="en-US" b="1" dirty="0">
                <a:latin typeface="楷体_GB2312" pitchFamily="49" charset="-122"/>
                <a:ea typeface="楷体_GB2312" pitchFamily="49" charset="-122"/>
              </a:rPr>
              <a:t>型</a:t>
            </a:r>
            <a:r>
              <a:rPr lang="en-US" altLang="zh-CN" b="1" dirty="0">
                <a:ea typeface="楷体_GB2312" pitchFamily="49" charset="-122"/>
              </a:rPr>
              <a:t>——</a:t>
            </a:r>
            <a:r>
              <a:rPr lang="en-US" altLang="zh-CN" b="1" dirty="0">
                <a:latin typeface="楷体_GB2312" pitchFamily="49" charset="-122"/>
                <a:ea typeface="楷体_GB2312" pitchFamily="49" charset="-122"/>
              </a:rPr>
              <a:t>insulin dependent</a:t>
            </a:r>
            <a:r>
              <a:rPr lang="en-US" altLang="zh-CN" b="1" dirty="0">
                <a:ea typeface="楷体_GB2312" pitchFamily="49" charset="-122"/>
              </a:rPr>
              <a:t>——</a:t>
            </a:r>
            <a:r>
              <a:rPr lang="zh-CN" altLang="en-US" b="1" dirty="0">
                <a:latin typeface="楷体_GB2312" pitchFamily="49" charset="-122"/>
                <a:ea typeface="楷体_GB2312" pitchFamily="49" charset="-122"/>
              </a:rPr>
              <a:t>儿童</a:t>
            </a:r>
          </a:p>
          <a:p>
            <a:pPr eaLnBrk="1" hangingPunct="1">
              <a:lnSpc>
                <a:spcPct val="120000"/>
              </a:lnSpc>
              <a:spcBef>
                <a:spcPct val="50000"/>
              </a:spcBef>
            </a:pPr>
            <a:r>
              <a:rPr lang="en-US" altLang="zh-CN" b="1" dirty="0">
                <a:latin typeface="楷体_GB2312" pitchFamily="49" charset="-122"/>
                <a:ea typeface="楷体_GB2312" pitchFamily="49" charset="-122"/>
              </a:rPr>
              <a:t>II</a:t>
            </a:r>
            <a:r>
              <a:rPr lang="zh-CN" altLang="en-US" b="1" dirty="0">
                <a:latin typeface="楷体_GB2312" pitchFamily="49" charset="-122"/>
                <a:ea typeface="楷体_GB2312" pitchFamily="49" charset="-122"/>
              </a:rPr>
              <a:t>型</a:t>
            </a:r>
            <a:r>
              <a:rPr lang="en-US" altLang="zh-CN" b="1" dirty="0">
                <a:ea typeface="楷体_GB2312" pitchFamily="49" charset="-122"/>
              </a:rPr>
              <a:t>——</a:t>
            </a:r>
            <a:r>
              <a:rPr lang="en-US" altLang="zh-CN" b="1" dirty="0">
                <a:latin typeface="楷体_GB2312" pitchFamily="49" charset="-122"/>
                <a:ea typeface="楷体_GB2312" pitchFamily="49" charset="-122"/>
              </a:rPr>
              <a:t>noninsulin-dependent</a:t>
            </a:r>
            <a:r>
              <a:rPr lang="en-US" altLang="zh-CN" b="1" dirty="0">
                <a:ea typeface="楷体_GB2312" pitchFamily="49" charset="-122"/>
              </a:rPr>
              <a:t>——</a:t>
            </a:r>
            <a:r>
              <a:rPr lang="zh-CN" altLang="en-US" b="1" dirty="0">
                <a:latin typeface="楷体_GB2312" pitchFamily="49" charset="-122"/>
                <a:ea typeface="楷体_GB2312" pitchFamily="49" charset="-122"/>
              </a:rPr>
              <a:t>成人</a:t>
            </a:r>
          </a:p>
        </p:txBody>
      </p:sp>
    </p:spTree>
    <p:extLst>
      <p:ext uri="{BB962C8B-B14F-4D97-AF65-F5344CB8AC3E}">
        <p14:creationId xmlns:p14="http://schemas.microsoft.com/office/powerpoint/2010/main" val="429082419"/>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AA8BD6C4-926E-4AA8-8ED7-E87E808093AA}"/>
              </a:ext>
            </a:extLst>
          </p:cNvPr>
          <p:cNvPicPr>
            <a:picLocks noChangeAspect="1"/>
          </p:cNvPicPr>
          <p:nvPr/>
        </p:nvPicPr>
        <p:blipFill>
          <a:blip r:embed="rId3"/>
          <a:stretch>
            <a:fillRect/>
          </a:stretch>
        </p:blipFill>
        <p:spPr>
          <a:xfrm>
            <a:off x="0" y="836712"/>
            <a:ext cx="9144000" cy="4596626"/>
          </a:xfrm>
          <a:prstGeom prst="rect">
            <a:avLst/>
          </a:prstGeom>
        </p:spPr>
      </p:pic>
    </p:spTree>
    <p:extLst>
      <p:ext uri="{BB962C8B-B14F-4D97-AF65-F5344CB8AC3E}">
        <p14:creationId xmlns:p14="http://schemas.microsoft.com/office/powerpoint/2010/main" val="2428706687"/>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14F6D821-2E79-43A5-AC46-0771332C44C0}"/>
              </a:ext>
            </a:extLst>
          </p:cNvPr>
          <p:cNvPicPr>
            <a:picLocks noChangeAspect="1"/>
          </p:cNvPicPr>
          <p:nvPr/>
        </p:nvPicPr>
        <p:blipFill>
          <a:blip r:embed="rId3"/>
          <a:stretch>
            <a:fillRect/>
          </a:stretch>
        </p:blipFill>
        <p:spPr>
          <a:xfrm>
            <a:off x="1114185" y="0"/>
            <a:ext cx="6915630" cy="6858000"/>
          </a:xfrm>
          <a:prstGeom prst="rect">
            <a:avLst/>
          </a:prstGeom>
        </p:spPr>
      </p:pic>
    </p:spTree>
    <p:extLst>
      <p:ext uri="{BB962C8B-B14F-4D97-AF65-F5344CB8AC3E}">
        <p14:creationId xmlns:p14="http://schemas.microsoft.com/office/powerpoint/2010/main" val="2136235868"/>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5F6BA70E-AC4D-40BE-B621-712AF46D82B3}"/>
              </a:ext>
            </a:extLst>
          </p:cNvPr>
          <p:cNvPicPr>
            <a:picLocks noChangeAspect="1"/>
          </p:cNvPicPr>
          <p:nvPr/>
        </p:nvPicPr>
        <p:blipFill>
          <a:blip r:embed="rId3"/>
          <a:stretch>
            <a:fillRect/>
          </a:stretch>
        </p:blipFill>
        <p:spPr>
          <a:xfrm>
            <a:off x="900821" y="0"/>
            <a:ext cx="7342357" cy="6858000"/>
          </a:xfrm>
          <a:prstGeom prst="rect">
            <a:avLst/>
          </a:prstGeom>
        </p:spPr>
      </p:pic>
    </p:spTree>
    <p:extLst>
      <p:ext uri="{BB962C8B-B14F-4D97-AF65-F5344CB8AC3E}">
        <p14:creationId xmlns:p14="http://schemas.microsoft.com/office/powerpoint/2010/main" val="180063025"/>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D4FB7BBC-3B3E-4BAD-9C20-62161E7336CC}"/>
              </a:ext>
            </a:extLst>
          </p:cNvPr>
          <p:cNvPicPr>
            <a:picLocks noChangeAspect="1"/>
          </p:cNvPicPr>
          <p:nvPr/>
        </p:nvPicPr>
        <p:blipFill>
          <a:blip r:embed="rId3"/>
          <a:stretch>
            <a:fillRect/>
          </a:stretch>
        </p:blipFill>
        <p:spPr>
          <a:xfrm>
            <a:off x="318765" y="0"/>
            <a:ext cx="8506470" cy="6858000"/>
          </a:xfrm>
          <a:prstGeom prst="rect">
            <a:avLst/>
          </a:prstGeom>
        </p:spPr>
      </p:pic>
    </p:spTree>
    <p:extLst>
      <p:ext uri="{BB962C8B-B14F-4D97-AF65-F5344CB8AC3E}">
        <p14:creationId xmlns:p14="http://schemas.microsoft.com/office/powerpoint/2010/main" val="3815141382"/>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1583DEAB-5A72-496D-BA88-661272FDC8BE}"/>
              </a:ext>
            </a:extLst>
          </p:cNvPr>
          <p:cNvPicPr>
            <a:picLocks noChangeAspect="1"/>
          </p:cNvPicPr>
          <p:nvPr/>
        </p:nvPicPr>
        <p:blipFill>
          <a:blip r:embed="rId3"/>
          <a:stretch>
            <a:fillRect/>
          </a:stretch>
        </p:blipFill>
        <p:spPr>
          <a:xfrm>
            <a:off x="1304621" y="0"/>
            <a:ext cx="6534757" cy="6858000"/>
          </a:xfrm>
          <a:prstGeom prst="rect">
            <a:avLst/>
          </a:prstGeom>
        </p:spPr>
      </p:pic>
    </p:spTree>
    <p:extLst>
      <p:ext uri="{BB962C8B-B14F-4D97-AF65-F5344CB8AC3E}">
        <p14:creationId xmlns:p14="http://schemas.microsoft.com/office/powerpoint/2010/main" val="2339024613"/>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9986" name="Picture 2" descr="F:\biochemistry\素材庫\insulin.jpg">
            <a:extLst>
              <a:ext uri="{FF2B5EF4-FFF2-40B4-BE49-F238E27FC236}">
                <a16:creationId xmlns:a16="http://schemas.microsoft.com/office/drawing/2014/main" id="{927F64B3-C1DB-4838-B408-A5AB56CBD04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l="9616" t="7198"/>
          <a:stretch>
            <a:fillRect/>
          </a:stretch>
        </p:blipFill>
        <p:spPr bwMode="auto">
          <a:xfrm>
            <a:off x="533400" y="53975"/>
            <a:ext cx="8153400" cy="671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06210499"/>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3DFC3423-E345-4802-AB9D-C80D504E2B96}"/>
              </a:ext>
            </a:extLst>
          </p:cNvPr>
          <p:cNvSpPr txBox="1"/>
          <p:nvPr/>
        </p:nvSpPr>
        <p:spPr>
          <a:xfrm>
            <a:off x="3419872" y="2276872"/>
            <a:ext cx="2736304" cy="1754326"/>
          </a:xfrm>
          <a:prstGeom prst="rect">
            <a:avLst/>
          </a:prstGeom>
          <a:noFill/>
        </p:spPr>
        <p:txBody>
          <a:bodyPr wrap="square" rtlCol="0">
            <a:spAutoFit/>
          </a:bodyPr>
          <a:lstStyle/>
          <a:p>
            <a:pPr algn="ctr"/>
            <a:r>
              <a:rPr lang="en-US" altLang="zh-CN" sz="5400" dirty="0"/>
              <a:t>END</a:t>
            </a:r>
          </a:p>
          <a:p>
            <a:pPr algn="ctr"/>
            <a:endParaRPr lang="en-US" altLang="zh-CN" dirty="0"/>
          </a:p>
          <a:p>
            <a:pPr algn="ctr"/>
            <a:r>
              <a:rPr lang="en-US" altLang="zh-CN" sz="3600" dirty="0"/>
              <a:t>Thank you</a:t>
            </a:r>
            <a:endParaRPr lang="zh-CN" altLang="en-US" sz="3600" dirty="0"/>
          </a:p>
        </p:txBody>
      </p:sp>
    </p:spTree>
    <p:extLst>
      <p:ext uri="{BB962C8B-B14F-4D97-AF65-F5344CB8AC3E}">
        <p14:creationId xmlns:p14="http://schemas.microsoft.com/office/powerpoint/2010/main" val="1389139802"/>
      </p:ext>
    </p:extLst>
  </p:cSld>
  <p:clrMapOvr>
    <a:masterClrMapping/>
  </p:clrMapOvr>
</p:sld>
</file>

<file path=ppt/theme/theme1.xml><?xml version="1.0" encoding="utf-8"?>
<a:theme xmlns:a="http://schemas.openxmlformats.org/drawingml/2006/main" name="shand">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shand</Template>
  <TotalTime>8428</TotalTime>
  <Words>3239</Words>
  <Application>Microsoft Office PowerPoint</Application>
  <PresentationFormat>全屏显示(4:3)</PresentationFormat>
  <Paragraphs>373</Paragraphs>
  <Slides>164</Slides>
  <Notes>64</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1</vt:i4>
      </vt:variant>
      <vt:variant>
        <vt:lpstr>幻灯片标题</vt:lpstr>
      </vt:variant>
      <vt:variant>
        <vt:i4>164</vt:i4>
      </vt:variant>
    </vt:vector>
  </HeadingPairs>
  <TitlesOfParts>
    <vt:vector size="177" baseType="lpstr">
      <vt:lpstr>CenturyStd-Bold</vt:lpstr>
      <vt:lpstr>Optima-Bold</vt:lpstr>
      <vt:lpstr>楷体_GB2312</vt:lpstr>
      <vt:lpstr>隶书</vt:lpstr>
      <vt:lpstr>宋体</vt:lpstr>
      <vt:lpstr>Arial</vt:lpstr>
      <vt:lpstr>Arial Black</vt:lpstr>
      <vt:lpstr>Bookman Old Style</vt:lpstr>
      <vt:lpstr>Calibri</vt:lpstr>
      <vt:lpstr>Symbol</vt:lpstr>
      <vt:lpstr>Times New Roman</vt:lpstr>
      <vt:lpstr>shand</vt:lpstr>
      <vt:lpstr>Image</vt:lpstr>
      <vt:lpstr>Section K    Lipid Metabolism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Fatty Acid Breakdown (K2)</vt:lpstr>
      <vt:lpstr>1. Early labeling experiments (1904): fatty acids are degraded by sequential removal of two-carbon units</vt:lpstr>
      <vt:lpstr>PowerPoint 演示文稿</vt:lpstr>
      <vt:lpstr>PowerPoint 演示文稿</vt:lpstr>
      <vt:lpstr>2. Fatty acid oxidation was found to occur in mitochondria </vt:lpstr>
      <vt:lpstr>PowerPoint 演示文稿</vt:lpstr>
      <vt:lpstr>PowerPoint 演示文稿</vt:lpstr>
      <vt:lpstr>3. Fatty acids are activated on the outer membrane of mitochondria</vt:lpstr>
      <vt:lpstr>PowerPoint 演示文稿</vt:lpstr>
      <vt:lpstr>PowerPoint 演示文稿</vt:lpstr>
      <vt:lpstr>PowerPoint 演示文稿</vt:lpstr>
      <vt:lpstr>PowerPoint 演示文稿</vt:lpstr>
      <vt:lpstr>4. Activated (long chain) fatty acids are carried into the matrix by carnitine</vt:lpstr>
      <vt:lpstr>PowerPoint 演示文稿</vt:lpstr>
      <vt:lpstr>PowerPoint 演示文稿</vt:lpstr>
      <vt:lpstr>5. Fatty acyl-CoA is oxidized to acetyl-CoA via multiple rounds of b oxidation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 </vt:lpstr>
      <vt:lpstr> </vt:lpstr>
      <vt:lpstr>PowerPoint 演示文稿</vt:lpstr>
      <vt:lpstr>PowerPoint 演示文稿</vt:lpstr>
      <vt:lpstr>PowerPoint 演示文稿</vt:lpstr>
      <vt:lpstr>6. Oxidation of unsaturated fatty acids requires one or two auxiliary enzymes,  an isomerase and a reductase </vt:lpstr>
      <vt:lpstr>PowerPoint 演示文稿</vt:lpstr>
      <vt:lpstr>PowerPoint 演示文稿</vt:lpstr>
      <vt:lpstr>PowerPoint 演示文稿</vt:lpstr>
      <vt:lpstr>PowerPoint 演示文稿</vt:lpstr>
      <vt:lpstr>PowerPoint 演示文稿</vt:lpstr>
      <vt:lpstr>7. The oxidation of odd-chain fatty acids forms C3 propionyl-CoA</vt:lpstr>
      <vt:lpstr>8. Fatty acid oxidation also occurs in peroxisomes (glyoxysomes)</vt:lpstr>
      <vt:lpstr>PowerPoint 演示文稿</vt:lpstr>
      <vt:lpstr>PowerPoint 演示文稿</vt:lpstr>
      <vt:lpstr>PowerPoint 演示文稿</vt:lpstr>
      <vt:lpstr>9. Acetyl-CoA in liver can be converted to ketone bodies when carbohydrate supply is not optimal</vt:lpstr>
      <vt:lpstr>PowerPoint 演示文稿</vt:lpstr>
      <vt:lpstr>PowerPoint 演示文稿</vt:lpstr>
      <vt:lpstr>PowerPoint 演示文稿</vt:lpstr>
      <vt:lpstr>PowerPoint 演示文稿</vt:lpstr>
      <vt:lpstr>PowerPoint 演示文稿</vt:lpstr>
      <vt:lpstr>10. Ketone bodies are converted back to acetyl-CoA in extrahepatic tissues</vt:lpstr>
      <vt:lpstr>PowerPoint 演示文稿</vt:lpstr>
      <vt:lpstr>Summary</vt:lpstr>
      <vt:lpstr>PowerPoint 演示文稿</vt:lpstr>
      <vt:lpstr>Fatty Acid Synthesis            (K3)</vt:lpstr>
      <vt:lpstr>1. Fatty acid synthesis takes a different pathway from its degradation</vt:lpstr>
      <vt:lpstr>PowerPoint 演示文稿</vt:lpstr>
      <vt:lpstr>PowerPoint 演示文稿</vt:lpstr>
      <vt:lpstr>PowerPoint 演示文稿</vt:lpstr>
      <vt:lpstr>2. The acetyl groups of the mitochondrion are transported into the cytosol in the form of citrate</vt:lpstr>
      <vt:lpstr>PowerPoint 演示文稿</vt:lpstr>
      <vt:lpstr>3. Malonyl-CoA is formed from acetyl-CoA and bicarbonate </vt:lpstr>
      <vt:lpstr>PowerPoint 演示文稿</vt:lpstr>
      <vt:lpstr>PowerPoint 演示文稿</vt:lpstr>
      <vt:lpstr>PowerPoint 演示文稿</vt:lpstr>
      <vt:lpstr>4. The acetyl and malonyl groups are first transferred to two –SH groups of the fatty acid synthase complex</vt:lpstr>
      <vt:lpstr>PowerPoint 演示文稿</vt:lpstr>
      <vt:lpstr>PowerPoint 演示文稿</vt:lpstr>
      <vt:lpstr>The acyl carrier protein (ACP) is very similar to CoA (thus can be regarded as “macro CoA”)</vt:lpstr>
      <vt:lpstr>PowerPoint 演示文稿</vt:lpstr>
      <vt:lpstr>PowerPoint 演示文稿</vt:lpstr>
      <vt:lpstr>PowerPoint 演示文稿</vt:lpstr>
      <vt:lpstr>4. Fatty acids are synthesized by a repeating four-step reaction sequence</vt:lpstr>
      <vt:lpstr>PowerPoint 演示文稿</vt:lpstr>
      <vt:lpstr>Step 2</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5. Palmitate can be further elongated and desaturated in smooth ER</vt:lpstr>
      <vt:lpstr>PowerPoint 演示文稿</vt:lpstr>
      <vt:lpstr>PowerPoint 演示文稿</vt:lpstr>
      <vt:lpstr>PowerPoint 演示文稿</vt:lpstr>
      <vt:lpstr>PowerPoint 演示文稿</vt:lpstr>
      <vt:lpstr>6.  Essential fatty acids</vt:lpstr>
      <vt:lpstr>7. Newly synthesized fatty acids have mainly two alternative fates in cells</vt:lpstr>
      <vt:lpstr>PowerPoint 演示文稿</vt:lpstr>
      <vt:lpstr>PowerPoint 演示文稿</vt:lpstr>
      <vt:lpstr>8. The rate of fatty acid biosynthesis is controlled by acetyl-CoA carboxylase</vt:lpstr>
      <vt:lpstr>PowerPoint 演示文稿</vt:lpstr>
      <vt:lpstr>PowerPoint 演示文稿</vt:lpstr>
      <vt:lpstr>4. Insulin stimulates conversion of dietary carbohydrates/proteins into fat</vt:lpstr>
      <vt:lpstr>Summary</vt:lpstr>
      <vt:lpstr>PowerPoint 演示文稿</vt:lpstr>
      <vt:lpstr>Metabolism of Triacylglycerols   K4 </vt:lpstr>
      <vt:lpstr>1. Newly synthesized fatty acids have mainly two alternative fates in cells</vt:lpstr>
      <vt:lpstr>PowerPoint 演示文稿</vt:lpstr>
      <vt:lpstr>PowerPoint 演示文稿</vt:lpstr>
      <vt:lpstr>PowerPoint 演示文稿</vt:lpstr>
      <vt:lpstr>PowerPoint 演示文稿</vt:lpstr>
      <vt:lpstr>PowerPoint 演示文稿</vt:lpstr>
      <vt:lpstr>2. Triacylglycerols are synthesized from glycerol 3-phosphate and acyl CoAs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4. Insulin stimulates conversion of dietary carbohydrates/proteins into fat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admin</dc:creator>
  <cp:lastModifiedBy>weiyu</cp:lastModifiedBy>
  <cp:revision>179</cp:revision>
  <dcterms:created xsi:type="dcterms:W3CDTF">2014-10-13T11:37:17Z</dcterms:created>
  <dcterms:modified xsi:type="dcterms:W3CDTF">2023-09-03T02:33:16Z</dcterms:modified>
</cp:coreProperties>
</file>