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ink/ink1.xml" ContentType="application/inkml+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 id="2147483857" r:id="rId2"/>
  </p:sldMasterIdLst>
  <p:notesMasterIdLst>
    <p:notesMasterId r:id="rId242"/>
  </p:notesMasterIdLst>
  <p:handoutMasterIdLst>
    <p:handoutMasterId r:id="rId243"/>
  </p:handoutMasterIdLst>
  <p:sldIdLst>
    <p:sldId id="256" r:id="rId3"/>
    <p:sldId id="491" r:id="rId4"/>
    <p:sldId id="526" r:id="rId5"/>
    <p:sldId id="277" r:id="rId6"/>
    <p:sldId id="278" r:id="rId7"/>
    <p:sldId id="279" r:id="rId8"/>
    <p:sldId id="284" r:id="rId9"/>
    <p:sldId id="285" r:id="rId10"/>
    <p:sldId id="289" r:id="rId11"/>
    <p:sldId id="280" r:id="rId12"/>
    <p:sldId id="281" r:id="rId13"/>
    <p:sldId id="282" r:id="rId14"/>
    <p:sldId id="283" r:id="rId15"/>
    <p:sldId id="524" r:id="rId16"/>
    <p:sldId id="523" r:id="rId17"/>
    <p:sldId id="294" r:id="rId18"/>
    <p:sldId id="534" r:id="rId19"/>
    <p:sldId id="295" r:id="rId20"/>
    <p:sldId id="535" r:id="rId21"/>
    <p:sldId id="297" r:id="rId22"/>
    <p:sldId id="298" r:id="rId23"/>
    <p:sldId id="299" r:id="rId24"/>
    <p:sldId id="484" r:id="rId25"/>
    <p:sldId id="530" r:id="rId26"/>
    <p:sldId id="300" r:id="rId27"/>
    <p:sldId id="301" r:id="rId28"/>
    <p:sldId id="314" r:id="rId29"/>
    <p:sldId id="315" r:id="rId30"/>
    <p:sldId id="536" r:id="rId31"/>
    <p:sldId id="302" r:id="rId32"/>
    <p:sldId id="303" r:id="rId33"/>
    <p:sldId id="304" r:id="rId34"/>
    <p:sldId id="305" r:id="rId35"/>
    <p:sldId id="537" r:id="rId36"/>
    <p:sldId id="306" r:id="rId37"/>
    <p:sldId id="307" r:id="rId38"/>
    <p:sldId id="308" r:id="rId39"/>
    <p:sldId id="310" r:id="rId40"/>
    <p:sldId id="311" r:id="rId41"/>
    <p:sldId id="538" r:id="rId42"/>
    <p:sldId id="542" r:id="rId43"/>
    <p:sldId id="539" r:id="rId44"/>
    <p:sldId id="545" r:id="rId45"/>
    <p:sldId id="313" r:id="rId46"/>
    <p:sldId id="546" r:id="rId47"/>
    <p:sldId id="547" r:id="rId48"/>
    <p:sldId id="543" r:id="rId49"/>
    <p:sldId id="544" r:id="rId50"/>
    <p:sldId id="540" r:id="rId51"/>
    <p:sldId id="541" r:id="rId52"/>
    <p:sldId id="316" r:id="rId53"/>
    <p:sldId id="320" r:id="rId54"/>
    <p:sldId id="321" r:id="rId55"/>
    <p:sldId id="322" r:id="rId56"/>
    <p:sldId id="323" r:id="rId57"/>
    <p:sldId id="324" r:id="rId58"/>
    <p:sldId id="487" r:id="rId59"/>
    <p:sldId id="317" r:id="rId60"/>
    <p:sldId id="318" r:id="rId61"/>
    <p:sldId id="319" r:id="rId62"/>
    <p:sldId id="325" r:id="rId63"/>
    <p:sldId id="326" r:id="rId64"/>
    <p:sldId id="327" r:id="rId65"/>
    <p:sldId id="561" r:id="rId66"/>
    <p:sldId id="328" r:id="rId67"/>
    <p:sldId id="329" r:id="rId68"/>
    <p:sldId id="330" r:id="rId69"/>
    <p:sldId id="331" r:id="rId70"/>
    <p:sldId id="332" r:id="rId71"/>
    <p:sldId id="333" r:id="rId72"/>
    <p:sldId id="334" r:id="rId73"/>
    <p:sldId id="562" r:id="rId74"/>
    <p:sldId id="335" r:id="rId75"/>
    <p:sldId id="336" r:id="rId76"/>
    <p:sldId id="337" r:id="rId77"/>
    <p:sldId id="338" r:id="rId78"/>
    <p:sldId id="339" r:id="rId79"/>
    <p:sldId id="340" r:id="rId80"/>
    <p:sldId id="341" r:id="rId81"/>
    <p:sldId id="342" r:id="rId82"/>
    <p:sldId id="343" r:id="rId83"/>
    <p:sldId id="344" r:id="rId84"/>
    <p:sldId id="345" r:id="rId85"/>
    <p:sldId id="346" r:id="rId86"/>
    <p:sldId id="347" r:id="rId87"/>
    <p:sldId id="348" r:id="rId88"/>
    <p:sldId id="349" r:id="rId89"/>
    <p:sldId id="350" r:id="rId90"/>
    <p:sldId id="351" r:id="rId91"/>
    <p:sldId id="352" r:id="rId92"/>
    <p:sldId id="353" r:id="rId93"/>
    <p:sldId id="354" r:id="rId94"/>
    <p:sldId id="355" r:id="rId95"/>
    <p:sldId id="356" r:id="rId96"/>
    <p:sldId id="357" r:id="rId97"/>
    <p:sldId id="358" r:id="rId98"/>
    <p:sldId id="359" r:id="rId99"/>
    <p:sldId id="360" r:id="rId100"/>
    <p:sldId id="361" r:id="rId101"/>
    <p:sldId id="492" r:id="rId102"/>
    <p:sldId id="366" r:id="rId103"/>
    <p:sldId id="365" r:id="rId104"/>
    <p:sldId id="367" r:id="rId105"/>
    <p:sldId id="368" r:id="rId106"/>
    <p:sldId id="369" r:id="rId107"/>
    <p:sldId id="495" r:id="rId108"/>
    <p:sldId id="371" r:id="rId109"/>
    <p:sldId id="372" r:id="rId110"/>
    <p:sldId id="373" r:id="rId111"/>
    <p:sldId id="374" r:id="rId112"/>
    <p:sldId id="375" r:id="rId113"/>
    <p:sldId id="376" r:id="rId114"/>
    <p:sldId id="377" r:id="rId115"/>
    <p:sldId id="378" r:id="rId116"/>
    <p:sldId id="379" r:id="rId117"/>
    <p:sldId id="380" r:id="rId118"/>
    <p:sldId id="382" r:id="rId119"/>
    <p:sldId id="383" r:id="rId120"/>
    <p:sldId id="384" r:id="rId121"/>
    <p:sldId id="385" r:id="rId122"/>
    <p:sldId id="493" r:id="rId123"/>
    <p:sldId id="496" r:id="rId124"/>
    <p:sldId id="494" r:id="rId125"/>
    <p:sldId id="387" r:id="rId126"/>
    <p:sldId id="388" r:id="rId127"/>
    <p:sldId id="389" r:id="rId128"/>
    <p:sldId id="390" r:id="rId129"/>
    <p:sldId id="391" r:id="rId130"/>
    <p:sldId id="392" r:id="rId131"/>
    <p:sldId id="393" r:id="rId132"/>
    <p:sldId id="394" r:id="rId133"/>
    <p:sldId id="395" r:id="rId134"/>
    <p:sldId id="396" r:id="rId135"/>
    <p:sldId id="397" r:id="rId136"/>
    <p:sldId id="398" r:id="rId137"/>
    <p:sldId id="399" r:id="rId138"/>
    <p:sldId id="400" r:id="rId139"/>
    <p:sldId id="401" r:id="rId140"/>
    <p:sldId id="402" r:id="rId141"/>
    <p:sldId id="403" r:id="rId142"/>
    <p:sldId id="404" r:id="rId143"/>
    <p:sldId id="405" r:id="rId144"/>
    <p:sldId id="406" r:id="rId145"/>
    <p:sldId id="407" r:id="rId146"/>
    <p:sldId id="408" r:id="rId147"/>
    <p:sldId id="409" r:id="rId148"/>
    <p:sldId id="410" r:id="rId149"/>
    <p:sldId id="527" r:id="rId150"/>
    <p:sldId id="411" r:id="rId151"/>
    <p:sldId id="412" r:id="rId152"/>
    <p:sldId id="413" r:id="rId153"/>
    <p:sldId id="414" r:id="rId154"/>
    <p:sldId id="415" r:id="rId155"/>
    <p:sldId id="416" r:id="rId156"/>
    <p:sldId id="417" r:id="rId157"/>
    <p:sldId id="418" r:id="rId158"/>
    <p:sldId id="419" r:id="rId159"/>
    <p:sldId id="420" r:id="rId160"/>
    <p:sldId id="421" r:id="rId161"/>
    <p:sldId id="422" r:id="rId162"/>
    <p:sldId id="423" r:id="rId163"/>
    <p:sldId id="424" r:id="rId164"/>
    <p:sldId id="425" r:id="rId165"/>
    <p:sldId id="426" r:id="rId166"/>
    <p:sldId id="559" r:id="rId167"/>
    <p:sldId id="560" r:id="rId168"/>
    <p:sldId id="427" r:id="rId169"/>
    <p:sldId id="428" r:id="rId170"/>
    <p:sldId id="429" r:id="rId171"/>
    <p:sldId id="430" r:id="rId172"/>
    <p:sldId id="431" r:id="rId173"/>
    <p:sldId id="432" r:id="rId174"/>
    <p:sldId id="450" r:id="rId175"/>
    <p:sldId id="451" r:id="rId176"/>
    <p:sldId id="452" r:id="rId177"/>
    <p:sldId id="453" r:id="rId178"/>
    <p:sldId id="503" r:id="rId179"/>
    <p:sldId id="455" r:id="rId180"/>
    <p:sldId id="454" r:id="rId181"/>
    <p:sldId id="456" r:id="rId182"/>
    <p:sldId id="457" r:id="rId183"/>
    <p:sldId id="458" r:id="rId184"/>
    <p:sldId id="459" r:id="rId185"/>
    <p:sldId id="460" r:id="rId186"/>
    <p:sldId id="461" r:id="rId187"/>
    <p:sldId id="500" r:id="rId188"/>
    <p:sldId id="462" r:id="rId189"/>
    <p:sldId id="504" r:id="rId190"/>
    <p:sldId id="506" r:id="rId191"/>
    <p:sldId id="505" r:id="rId192"/>
    <p:sldId id="507" r:id="rId193"/>
    <p:sldId id="508" r:id="rId194"/>
    <p:sldId id="512" r:id="rId195"/>
    <p:sldId id="513" r:id="rId196"/>
    <p:sldId id="514" r:id="rId197"/>
    <p:sldId id="515" r:id="rId198"/>
    <p:sldId id="516" r:id="rId199"/>
    <p:sldId id="517" r:id="rId200"/>
    <p:sldId id="518" r:id="rId201"/>
    <p:sldId id="519" r:id="rId202"/>
    <p:sldId id="520" r:id="rId203"/>
    <p:sldId id="521" r:id="rId204"/>
    <p:sldId id="522" r:id="rId205"/>
    <p:sldId id="463" r:id="rId206"/>
    <p:sldId id="464" r:id="rId207"/>
    <p:sldId id="465" r:id="rId208"/>
    <p:sldId id="552" r:id="rId209"/>
    <p:sldId id="553" r:id="rId210"/>
    <p:sldId id="466" r:id="rId211"/>
    <p:sldId id="467" r:id="rId212"/>
    <p:sldId id="468" r:id="rId213"/>
    <p:sldId id="469" r:id="rId214"/>
    <p:sldId id="470" r:id="rId215"/>
    <p:sldId id="471" r:id="rId216"/>
    <p:sldId id="472" r:id="rId217"/>
    <p:sldId id="473" r:id="rId218"/>
    <p:sldId id="474" r:id="rId219"/>
    <p:sldId id="475" r:id="rId220"/>
    <p:sldId id="476" r:id="rId221"/>
    <p:sldId id="477" r:id="rId222"/>
    <p:sldId id="478" r:id="rId223"/>
    <p:sldId id="479" r:id="rId224"/>
    <p:sldId id="480" r:id="rId225"/>
    <p:sldId id="481" r:id="rId226"/>
    <p:sldId id="482" r:id="rId227"/>
    <p:sldId id="532" r:id="rId228"/>
    <p:sldId id="533" r:id="rId229"/>
    <p:sldId id="549" r:id="rId230"/>
    <p:sldId id="550" r:id="rId231"/>
    <p:sldId id="483" r:id="rId232"/>
    <p:sldId id="276" r:id="rId233"/>
    <p:sldId id="488" r:id="rId234"/>
    <p:sldId id="554" r:id="rId235"/>
    <p:sldId id="555" r:id="rId236"/>
    <p:sldId id="556" r:id="rId237"/>
    <p:sldId id="557" r:id="rId238"/>
    <p:sldId id="558" r:id="rId239"/>
    <p:sldId id="548" r:id="rId240"/>
    <p:sldId id="551" r:id="rId241"/>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CCFF"/>
    <a:srgbClr val="3399FF"/>
    <a:srgbClr val="0000FF"/>
    <a:srgbClr val="600000"/>
    <a:srgbClr val="008000"/>
    <a:srgbClr val="000099"/>
    <a:srgbClr val="F8F8F8"/>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026" autoAdjust="0"/>
  </p:normalViewPr>
  <p:slideViewPr>
    <p:cSldViewPr>
      <p:cViewPr varScale="1">
        <p:scale>
          <a:sx n="78" d="100"/>
          <a:sy n="78" d="100"/>
        </p:scale>
        <p:origin x="730" y="77"/>
      </p:cViewPr>
      <p:guideLst>
        <p:guide orient="horz" pos="2160"/>
        <p:guide pos="2880"/>
      </p:guideLst>
    </p:cSldViewPr>
  </p:slideViewPr>
  <p:notesTextViewPr>
    <p:cViewPr>
      <p:scale>
        <a:sx n="100" d="100"/>
        <a:sy n="100" d="100"/>
      </p:scale>
      <p:origin x="0" y="0"/>
    </p:cViewPr>
  </p:notesTextViewPr>
  <p:notesViewPr>
    <p:cSldViewPr>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70" Type="http://schemas.openxmlformats.org/officeDocument/2006/relationships/slide" Target="slides/slide168.xml"/><Relationship Id="rId191" Type="http://schemas.openxmlformats.org/officeDocument/2006/relationships/slide" Target="slides/slide189.xml"/><Relationship Id="rId205" Type="http://schemas.openxmlformats.org/officeDocument/2006/relationships/slide" Target="slides/slide203.xml"/><Relationship Id="rId226" Type="http://schemas.openxmlformats.org/officeDocument/2006/relationships/slide" Target="slides/slide224.xml"/><Relationship Id="rId247" Type="http://schemas.openxmlformats.org/officeDocument/2006/relationships/tableStyles" Target="tableStyles.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181" Type="http://schemas.openxmlformats.org/officeDocument/2006/relationships/slide" Target="slides/slide179.xml"/><Relationship Id="rId216" Type="http://schemas.openxmlformats.org/officeDocument/2006/relationships/slide" Target="slides/slide214.xml"/><Relationship Id="rId237" Type="http://schemas.openxmlformats.org/officeDocument/2006/relationships/slide" Target="slides/slide235.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71" Type="http://schemas.openxmlformats.org/officeDocument/2006/relationships/slide" Target="slides/slide169.xml"/><Relationship Id="rId192" Type="http://schemas.openxmlformats.org/officeDocument/2006/relationships/slide" Target="slides/slide190.xml"/><Relationship Id="rId206" Type="http://schemas.openxmlformats.org/officeDocument/2006/relationships/slide" Target="slides/slide204.xml"/><Relationship Id="rId227" Type="http://schemas.openxmlformats.org/officeDocument/2006/relationships/slide" Target="slides/slide225.xml"/><Relationship Id="rId12" Type="http://schemas.openxmlformats.org/officeDocument/2006/relationships/slide" Target="slides/slide10.xml"/><Relationship Id="rId33" Type="http://schemas.openxmlformats.org/officeDocument/2006/relationships/slide" Target="slides/slide31.xml"/><Relationship Id="rId108" Type="http://schemas.openxmlformats.org/officeDocument/2006/relationships/slide" Target="slides/slide106.xml"/><Relationship Id="rId129" Type="http://schemas.openxmlformats.org/officeDocument/2006/relationships/slide" Target="slides/slide127.xml"/><Relationship Id="rId54" Type="http://schemas.openxmlformats.org/officeDocument/2006/relationships/slide" Target="slides/slide52.xml"/><Relationship Id="rId75" Type="http://schemas.openxmlformats.org/officeDocument/2006/relationships/slide" Target="slides/slide73.xml"/><Relationship Id="rId96" Type="http://schemas.openxmlformats.org/officeDocument/2006/relationships/slide" Target="slides/slide94.xml"/><Relationship Id="rId140" Type="http://schemas.openxmlformats.org/officeDocument/2006/relationships/slide" Target="slides/slide138.xml"/><Relationship Id="rId161" Type="http://schemas.openxmlformats.org/officeDocument/2006/relationships/slide" Target="slides/slide159.xml"/><Relationship Id="rId182" Type="http://schemas.openxmlformats.org/officeDocument/2006/relationships/slide" Target="slides/slide180.xml"/><Relationship Id="rId217" Type="http://schemas.openxmlformats.org/officeDocument/2006/relationships/slide" Target="slides/slide215.xml"/><Relationship Id="rId6" Type="http://schemas.openxmlformats.org/officeDocument/2006/relationships/slide" Target="slides/slide4.xml"/><Relationship Id="rId238" Type="http://schemas.openxmlformats.org/officeDocument/2006/relationships/slide" Target="slides/slide236.xml"/><Relationship Id="rId23" Type="http://schemas.openxmlformats.org/officeDocument/2006/relationships/slide" Target="slides/slide21.xml"/><Relationship Id="rId119" Type="http://schemas.openxmlformats.org/officeDocument/2006/relationships/slide" Target="slides/slide117.xml"/><Relationship Id="rId44" Type="http://schemas.openxmlformats.org/officeDocument/2006/relationships/slide" Target="slides/slide42.xml"/><Relationship Id="rId65" Type="http://schemas.openxmlformats.org/officeDocument/2006/relationships/slide" Target="slides/slide63.xml"/><Relationship Id="rId86" Type="http://schemas.openxmlformats.org/officeDocument/2006/relationships/slide" Target="slides/slide84.xml"/><Relationship Id="rId130" Type="http://schemas.openxmlformats.org/officeDocument/2006/relationships/slide" Target="slides/slide128.xml"/><Relationship Id="rId151" Type="http://schemas.openxmlformats.org/officeDocument/2006/relationships/slide" Target="slides/slide149.xml"/><Relationship Id="rId172" Type="http://schemas.openxmlformats.org/officeDocument/2006/relationships/slide" Target="slides/slide170.xml"/><Relationship Id="rId193" Type="http://schemas.openxmlformats.org/officeDocument/2006/relationships/slide" Target="slides/slide191.xml"/><Relationship Id="rId207" Type="http://schemas.openxmlformats.org/officeDocument/2006/relationships/slide" Target="slides/slide205.xml"/><Relationship Id="rId228" Type="http://schemas.openxmlformats.org/officeDocument/2006/relationships/slide" Target="slides/slide226.xml"/><Relationship Id="rId13" Type="http://schemas.openxmlformats.org/officeDocument/2006/relationships/slide" Target="slides/slide11.xml"/><Relationship Id="rId109" Type="http://schemas.openxmlformats.org/officeDocument/2006/relationships/slide" Target="slides/slide107.xml"/><Relationship Id="rId34" Type="http://schemas.openxmlformats.org/officeDocument/2006/relationships/slide" Target="slides/slide32.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20" Type="http://schemas.openxmlformats.org/officeDocument/2006/relationships/slide" Target="slides/slide118.xml"/><Relationship Id="rId141" Type="http://schemas.openxmlformats.org/officeDocument/2006/relationships/slide" Target="slides/slide139.xml"/><Relationship Id="rId7" Type="http://schemas.openxmlformats.org/officeDocument/2006/relationships/slide" Target="slides/slide5.xml"/><Relationship Id="rId162" Type="http://schemas.openxmlformats.org/officeDocument/2006/relationships/slide" Target="slides/slide160.xml"/><Relationship Id="rId183" Type="http://schemas.openxmlformats.org/officeDocument/2006/relationships/slide" Target="slides/slide181.xml"/><Relationship Id="rId218" Type="http://schemas.openxmlformats.org/officeDocument/2006/relationships/slide" Target="slides/slide216.xml"/><Relationship Id="rId239" Type="http://schemas.openxmlformats.org/officeDocument/2006/relationships/slide" Target="slides/slide237.xml"/><Relationship Id="rId24" Type="http://schemas.openxmlformats.org/officeDocument/2006/relationships/slide" Target="slides/slide22.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31" Type="http://schemas.openxmlformats.org/officeDocument/2006/relationships/slide" Target="slides/slide129.xml"/><Relationship Id="rId152" Type="http://schemas.openxmlformats.org/officeDocument/2006/relationships/slide" Target="slides/slide150.xml"/><Relationship Id="rId173" Type="http://schemas.openxmlformats.org/officeDocument/2006/relationships/slide" Target="slides/slide171.xml"/><Relationship Id="rId194" Type="http://schemas.openxmlformats.org/officeDocument/2006/relationships/slide" Target="slides/slide192.xml"/><Relationship Id="rId208" Type="http://schemas.openxmlformats.org/officeDocument/2006/relationships/slide" Target="slides/slide206.xml"/><Relationship Id="rId229" Type="http://schemas.openxmlformats.org/officeDocument/2006/relationships/slide" Target="slides/slide227.xml"/><Relationship Id="rId240" Type="http://schemas.openxmlformats.org/officeDocument/2006/relationships/slide" Target="slides/slide238.xml"/><Relationship Id="rId14" Type="http://schemas.openxmlformats.org/officeDocument/2006/relationships/slide" Target="slides/slide12.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8" Type="http://schemas.openxmlformats.org/officeDocument/2006/relationships/slide" Target="slides/slide6.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184" Type="http://schemas.openxmlformats.org/officeDocument/2006/relationships/slide" Target="slides/slide182.xml"/><Relationship Id="rId219" Type="http://schemas.openxmlformats.org/officeDocument/2006/relationships/slide" Target="slides/slide217.xml"/><Relationship Id="rId230" Type="http://schemas.openxmlformats.org/officeDocument/2006/relationships/slide" Target="slides/slide228.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slide" Target="slides/slide172.xml"/><Relationship Id="rId195" Type="http://schemas.openxmlformats.org/officeDocument/2006/relationships/slide" Target="slides/slide193.xml"/><Relationship Id="rId209" Type="http://schemas.openxmlformats.org/officeDocument/2006/relationships/slide" Target="slides/slide207.xml"/><Relationship Id="rId220" Type="http://schemas.openxmlformats.org/officeDocument/2006/relationships/slide" Target="slides/slide218.xml"/><Relationship Id="rId241" Type="http://schemas.openxmlformats.org/officeDocument/2006/relationships/slide" Target="slides/slide239.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slide" Target="slides/slide162.xml"/><Relationship Id="rId169" Type="http://schemas.openxmlformats.org/officeDocument/2006/relationships/slide" Target="slides/slide167.xml"/><Relationship Id="rId185" Type="http://schemas.openxmlformats.org/officeDocument/2006/relationships/slide" Target="slides/slide183.xml"/><Relationship Id="rId4" Type="http://schemas.openxmlformats.org/officeDocument/2006/relationships/slide" Target="slides/slide2.xml"/><Relationship Id="rId9" Type="http://schemas.openxmlformats.org/officeDocument/2006/relationships/slide" Target="slides/slide7.xml"/><Relationship Id="rId180" Type="http://schemas.openxmlformats.org/officeDocument/2006/relationships/slide" Target="slides/slide178.xml"/><Relationship Id="rId210" Type="http://schemas.openxmlformats.org/officeDocument/2006/relationships/slide" Target="slides/slide208.xml"/><Relationship Id="rId215" Type="http://schemas.openxmlformats.org/officeDocument/2006/relationships/slide" Target="slides/slide213.xml"/><Relationship Id="rId236" Type="http://schemas.openxmlformats.org/officeDocument/2006/relationships/slide" Target="slides/slide234.xml"/><Relationship Id="rId26" Type="http://schemas.openxmlformats.org/officeDocument/2006/relationships/slide" Target="slides/slide24.xml"/><Relationship Id="rId231" Type="http://schemas.openxmlformats.org/officeDocument/2006/relationships/slide" Target="slides/slide229.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slide" Target="slides/slide173.xml"/><Relationship Id="rId196" Type="http://schemas.openxmlformats.org/officeDocument/2006/relationships/slide" Target="slides/slide194.xml"/><Relationship Id="rId200" Type="http://schemas.openxmlformats.org/officeDocument/2006/relationships/slide" Target="slides/slide198.xml"/><Relationship Id="rId16" Type="http://schemas.openxmlformats.org/officeDocument/2006/relationships/slide" Target="slides/slide14.xml"/><Relationship Id="rId221" Type="http://schemas.openxmlformats.org/officeDocument/2006/relationships/slide" Target="slides/slide219.xml"/><Relationship Id="rId242" Type="http://schemas.openxmlformats.org/officeDocument/2006/relationships/notesMaster" Target="notesMasters/notesMaster1.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slide" Target="slides/slide163.xml"/><Relationship Id="rId186" Type="http://schemas.openxmlformats.org/officeDocument/2006/relationships/slide" Target="slides/slide184.xml"/><Relationship Id="rId211" Type="http://schemas.openxmlformats.org/officeDocument/2006/relationships/slide" Target="slides/slide209.xml"/><Relationship Id="rId232" Type="http://schemas.openxmlformats.org/officeDocument/2006/relationships/slide" Target="slides/slide230.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 Id="rId176" Type="http://schemas.openxmlformats.org/officeDocument/2006/relationships/slide" Target="slides/slide174.xml"/><Relationship Id="rId197" Type="http://schemas.openxmlformats.org/officeDocument/2006/relationships/slide" Target="slides/slide195.xml"/><Relationship Id="rId201" Type="http://schemas.openxmlformats.org/officeDocument/2006/relationships/slide" Target="slides/slide199.xml"/><Relationship Id="rId222" Type="http://schemas.openxmlformats.org/officeDocument/2006/relationships/slide" Target="slides/slide220.xml"/><Relationship Id="rId243" Type="http://schemas.openxmlformats.org/officeDocument/2006/relationships/handoutMaster" Target="handoutMasters/handoutMaster1.xml"/><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 Id="rId70" Type="http://schemas.openxmlformats.org/officeDocument/2006/relationships/slide" Target="slides/slide68.xml"/><Relationship Id="rId91" Type="http://schemas.openxmlformats.org/officeDocument/2006/relationships/slide" Target="slides/slide89.xml"/><Relationship Id="rId145" Type="http://schemas.openxmlformats.org/officeDocument/2006/relationships/slide" Target="slides/slide143.xml"/><Relationship Id="rId166" Type="http://schemas.openxmlformats.org/officeDocument/2006/relationships/slide" Target="slides/slide164.xml"/><Relationship Id="rId187" Type="http://schemas.openxmlformats.org/officeDocument/2006/relationships/slide" Target="slides/slide185.xml"/><Relationship Id="rId1" Type="http://schemas.openxmlformats.org/officeDocument/2006/relationships/slideMaster" Target="slideMasters/slideMaster1.xml"/><Relationship Id="rId212" Type="http://schemas.openxmlformats.org/officeDocument/2006/relationships/slide" Target="slides/slide210.xml"/><Relationship Id="rId233" Type="http://schemas.openxmlformats.org/officeDocument/2006/relationships/slide" Target="slides/slide23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60" Type="http://schemas.openxmlformats.org/officeDocument/2006/relationships/slide" Target="slides/slide58.xml"/><Relationship Id="rId81" Type="http://schemas.openxmlformats.org/officeDocument/2006/relationships/slide" Target="slides/slide79.xml"/><Relationship Id="rId135" Type="http://schemas.openxmlformats.org/officeDocument/2006/relationships/slide" Target="slides/slide133.xml"/><Relationship Id="rId156" Type="http://schemas.openxmlformats.org/officeDocument/2006/relationships/slide" Target="slides/slide154.xml"/><Relationship Id="rId177" Type="http://schemas.openxmlformats.org/officeDocument/2006/relationships/slide" Target="slides/slide175.xml"/><Relationship Id="rId198" Type="http://schemas.openxmlformats.org/officeDocument/2006/relationships/slide" Target="slides/slide196.xml"/><Relationship Id="rId202" Type="http://schemas.openxmlformats.org/officeDocument/2006/relationships/slide" Target="slides/slide200.xml"/><Relationship Id="rId223" Type="http://schemas.openxmlformats.org/officeDocument/2006/relationships/slide" Target="slides/slide221.xml"/><Relationship Id="rId244" Type="http://schemas.openxmlformats.org/officeDocument/2006/relationships/presProps" Target="presProps.xml"/><Relationship Id="rId18" Type="http://schemas.openxmlformats.org/officeDocument/2006/relationships/slide" Target="slides/slide16.xml"/><Relationship Id="rId39" Type="http://schemas.openxmlformats.org/officeDocument/2006/relationships/slide" Target="slides/slide37.xml"/><Relationship Id="rId50" Type="http://schemas.openxmlformats.org/officeDocument/2006/relationships/slide" Target="slides/slide48.xml"/><Relationship Id="rId104" Type="http://schemas.openxmlformats.org/officeDocument/2006/relationships/slide" Target="slides/slide102.xml"/><Relationship Id="rId125" Type="http://schemas.openxmlformats.org/officeDocument/2006/relationships/slide" Target="slides/slide123.xml"/><Relationship Id="rId146" Type="http://schemas.openxmlformats.org/officeDocument/2006/relationships/slide" Target="slides/slide144.xml"/><Relationship Id="rId167" Type="http://schemas.openxmlformats.org/officeDocument/2006/relationships/slide" Target="slides/slide165.xml"/><Relationship Id="rId188" Type="http://schemas.openxmlformats.org/officeDocument/2006/relationships/slide" Target="slides/slide186.xml"/><Relationship Id="rId71" Type="http://schemas.openxmlformats.org/officeDocument/2006/relationships/slide" Target="slides/slide69.xml"/><Relationship Id="rId92" Type="http://schemas.openxmlformats.org/officeDocument/2006/relationships/slide" Target="slides/slide90.xml"/><Relationship Id="rId213" Type="http://schemas.openxmlformats.org/officeDocument/2006/relationships/slide" Target="slides/slide211.xml"/><Relationship Id="rId234" Type="http://schemas.openxmlformats.org/officeDocument/2006/relationships/slide" Target="slides/slide232.xml"/><Relationship Id="rId2" Type="http://schemas.openxmlformats.org/officeDocument/2006/relationships/slideMaster" Target="slideMasters/slideMaster2.xml"/><Relationship Id="rId29" Type="http://schemas.openxmlformats.org/officeDocument/2006/relationships/slide" Target="slides/slide27.xml"/><Relationship Id="rId40" Type="http://schemas.openxmlformats.org/officeDocument/2006/relationships/slide" Target="slides/slide38.xml"/><Relationship Id="rId115" Type="http://schemas.openxmlformats.org/officeDocument/2006/relationships/slide" Target="slides/slide113.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slide" Target="slides/slide176.xml"/><Relationship Id="rId61" Type="http://schemas.openxmlformats.org/officeDocument/2006/relationships/slide" Target="slides/slide59.xml"/><Relationship Id="rId82" Type="http://schemas.openxmlformats.org/officeDocument/2006/relationships/slide" Target="slides/slide80.xml"/><Relationship Id="rId199" Type="http://schemas.openxmlformats.org/officeDocument/2006/relationships/slide" Target="slides/slide197.xml"/><Relationship Id="rId203" Type="http://schemas.openxmlformats.org/officeDocument/2006/relationships/slide" Target="slides/slide201.xml"/><Relationship Id="rId19" Type="http://schemas.openxmlformats.org/officeDocument/2006/relationships/slide" Target="slides/slide17.xml"/><Relationship Id="rId224" Type="http://schemas.openxmlformats.org/officeDocument/2006/relationships/slide" Target="slides/slide222.xml"/><Relationship Id="rId245" Type="http://schemas.openxmlformats.org/officeDocument/2006/relationships/viewProps" Target="viewProps.xml"/><Relationship Id="rId30" Type="http://schemas.openxmlformats.org/officeDocument/2006/relationships/slide" Target="slides/slide2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189" Type="http://schemas.openxmlformats.org/officeDocument/2006/relationships/slide" Target="slides/slide187.xml"/><Relationship Id="rId3" Type="http://schemas.openxmlformats.org/officeDocument/2006/relationships/slide" Target="slides/slide1.xml"/><Relationship Id="rId214" Type="http://schemas.openxmlformats.org/officeDocument/2006/relationships/slide" Target="slides/slide212.xml"/><Relationship Id="rId235" Type="http://schemas.openxmlformats.org/officeDocument/2006/relationships/slide" Target="slides/slide233.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179" Type="http://schemas.openxmlformats.org/officeDocument/2006/relationships/slide" Target="slides/slide177.xml"/><Relationship Id="rId190" Type="http://schemas.openxmlformats.org/officeDocument/2006/relationships/slide" Target="slides/slide188.xml"/><Relationship Id="rId204" Type="http://schemas.openxmlformats.org/officeDocument/2006/relationships/slide" Target="slides/slide202.xml"/><Relationship Id="rId225" Type="http://schemas.openxmlformats.org/officeDocument/2006/relationships/slide" Target="slides/slide223.xml"/><Relationship Id="rId246" Type="http://schemas.openxmlformats.org/officeDocument/2006/relationships/theme" Target="theme/theme1.xml"/><Relationship Id="rId106" Type="http://schemas.openxmlformats.org/officeDocument/2006/relationships/slide" Target="slides/slide104.xml"/><Relationship Id="rId127" Type="http://schemas.openxmlformats.org/officeDocument/2006/relationships/slide" Target="slides/slide12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5A4EC9AE-754B-49FD-BA16-B62493B54AAE}" type="datetimeFigureOut">
              <a:rPr lang="zh-CN" altLang="en-US"/>
              <a:pPr>
                <a:defRPr/>
              </a:pPr>
              <a:t>2023/12/15</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D4895103-49AF-4E9F-8FAA-AC2C9A984A0F}" type="slidenum">
              <a:rPr lang="zh-CN" altLang="en-US"/>
              <a:pPr>
                <a:defRPr/>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32.10703" units="1/cm"/>
          <inkml:channelProperty channel="Y" name="resolution" value="32.14286" units="1/cm"/>
          <inkml:channelProperty channel="T" name="resolution" value="1" units="1/dev"/>
        </inkml:channelProperties>
      </inkml:inkSource>
      <inkml:timestamp xml:id="ts0" timeString="2018-11-09T00:08:50.20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20355 9807 0,'36'0'141,"-1"-17"-126,35-1-15,1 0 32,35 1-32,0 17 31,17 0-15,-17 0-1,-71 0 1,0 0-1,1-36 1,-19 36 0,1-17-1,17 17 1,1-36 0,-19 36-1,36-17 1,-18 17-1,1 0 1,34 0 0,-17 0 15,-18 0-15,-17 0-16,0 0 15,-1 0 1,1 0-1,17 0 1,-17-18-16,17 18 16,-17 0-1,35 0 1,0 0 0,17 0-1,-34 0 1,34 0-1,1 18 1,-18-1 15,-36 1-31,36-18 16,0 18 0,18-18-1,-19 17 1,1-17-1,-17 0 1,52 0 0,0 0-1,53 0 1,0 0 0,-35 36-1,35-36 1,-17 35-1,-1 0 1,1-17 15,-54-18-15,1 18 0,17-18-1,-17 0 1,17 0-1,18 0 1,-36 0 0,-17 0-1,0 0 1,35 17 0,36 1-1,-36-1 1,-53 1-1,18-18 17,-35 18-17,-1-18 1,1 0 0,0 0-1,-1 0 1,1 0 171,35 0-171,0 0 0,-36 0-16,71 0 15,1 0 1,-36 0-1,17 0 1,-17 0 0,-18 17-1,1-17 1,-1 18 0,0-18-1,-17 0 1,17 0-1,-17 0 17,17 0-17,-88 0 110,0 0-109,-17 0-16,-1 0 16,-70 0-1,-18 0 1,36-53-1,35 35 1,70 18-16,-53-17 31,18 17-15,-17 0 0,-36 0-1,18 0 1,17 17-1,18-17 1,-17 0 0,17 0-1,-35 0 1,-18 0 0,-88 0-1,106-17 1,-18 17-1,-18 0 17,54 0-17,-54 0 1,1 53 0,-18-18-1,35 0 1,0-17-1,18 0-15,53-18 16,-124 0 0,35 0-1,1 0 1,-1 0 0,19 0-1,16 0 1,54 17-1,-35 18 1,17-17 15,-36 0-15,19 17 0,35 0-1,-18-35 1,17 0-1,-16 0 1,-1 0 0,17-17-1,-17-1 1,18 0 0,17 18-1,-17 0 1,18 0-1,-19 0 17,1 0-17,0 18 1,17-18 0,-17 0-1,0 0 1,-1 0-1,19 0 1,-1-18 0,0 18 77,1 0-93,-1 0 16,0 0 15,-17 0-15,18 0 0,-36-17-1,35-1 1,0 18-1,-17-18 1,0 1 0,17-1 15,0 18 31,-17 0-46,35-17-16,-17 17 16,-1-18-16,0 0 31,1 18-15,52 0 140,-17 0-109,17 18-16,-18-18-15,19 0-1,17 18 1,35 34-1,-18-34 1,1 17 0,35 18-1,-53-35 1,17 0 0,-17-1-1,-18-17 1,36 0-1,17 0 1,-17 0 0,-54 0-1,72 0 1,-19 0 0,1-17-1,35-19 1,-1 36-1,-16 0 1,-36-17 0,-1 17-1,-16-18 1,52 0 0,-53 1-1,0 17 1,1-18-1,-1 0 1,-53 18 109,-52-17-125,35-1 16,-18 18-16,0-17 15,-35-19 1,-18 19 0,-53-54-1,88 36 1,36 17-1,0 18 1,0 0 0,-18 0 15,0 0-15,-53 18-1,71-1-15,-1 1 16,-70 17-1,89-35 17,-1 0-32,1 0 15,-1 0 17,0 0-17,54-17 126,34-1-126,1-35-15,-18 36 16,105-72 0,54 19-1,-53-1 1,-36 18 0,-17 18-1,0 17 1,-36 1-1,19 17 1,-1 0 15,-53 0-31,18 0 16,18 0 0,-54 0-1,19 0 1,-1 0-1,35 0 1,-17 0 0,18 0-1,17 0 1,-17-18 0,-19 18-1,19 0 1,0 0 15,-1 0-15,1 18-1,17-18 1,-18 0 0,-34 0-1,34 0 1,-17 0-1,35 0 1,36 0 0,-18 0-1,-36 0 1,1 0 0,52 0-1,-87 0 1,-19 0-1,36 0 1,-35 0 15,17 0-15,18 0 0,0 0-1,17 0 1,1 0-1,-36 0 1,89 0 0,-54 0-1,1 17 1,-1 1 0,-17 0-1,0-1 1,-17-17-1,-19 0 1,18 18 15,-17-18-15,17 0 0,-17 0-1,0 0 1,17 18-1,-17-1 1,-36 18 437,0-17-437,-35 0-16,18-1 15,0 1 1,0 0 0,17-18-1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A8BD7D17-9F94-433F-85A9-A167373EBE7A}" type="datetimeFigureOut">
              <a:rPr lang="zh-CN" altLang="en-US"/>
              <a:pPr>
                <a:defRPr/>
              </a:pPr>
              <a:t>2023/12/15</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37F5F534-2C7B-4B3E-AB7E-5181B2239891}"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bwMode="auto">
          <a:noFill/>
          <a:ln>
            <a:solidFill>
              <a:srgbClr val="000000"/>
            </a:solidFill>
            <a:miter lim="800000"/>
            <a:headEnd/>
            <a:tailEnd/>
          </a:ln>
        </p:spPr>
      </p:sp>
      <p:sp>
        <p:nvSpPr>
          <p:cNvPr id="3379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dirty="0"/>
          </a:p>
        </p:txBody>
      </p:sp>
      <p:sp>
        <p:nvSpPr>
          <p:cNvPr id="4" name="灯片编号占位符 3"/>
          <p:cNvSpPr>
            <a:spLocks noGrp="1"/>
          </p:cNvSpPr>
          <p:nvPr>
            <p:ph type="sldNum" sz="quarter" idx="5"/>
          </p:nvPr>
        </p:nvSpPr>
        <p:spPr/>
        <p:txBody>
          <a:bodyPr/>
          <a:lstStyle/>
          <a:p>
            <a:pPr>
              <a:defRPr/>
            </a:pPr>
            <a:fld id="{0A6A8501-8938-4B94-BC5C-55C939656245}" type="slidenum">
              <a:rPr lang="zh-CN" altLang="en-US" smtClean="0"/>
              <a:pPr>
                <a:defRPr/>
              </a:pPr>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a:t>
            </a:fld>
            <a:endParaRPr lang="zh-CN" altLang="en-US"/>
          </a:p>
        </p:txBody>
      </p:sp>
    </p:spTree>
    <p:extLst>
      <p:ext uri="{BB962C8B-B14F-4D97-AF65-F5344CB8AC3E}">
        <p14:creationId xmlns:p14="http://schemas.microsoft.com/office/powerpoint/2010/main" val="11214603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3</a:t>
            </a:fld>
            <a:endParaRPr lang="zh-CN" altLang="en-US"/>
          </a:p>
        </p:txBody>
      </p:sp>
    </p:spTree>
    <p:extLst>
      <p:ext uri="{BB962C8B-B14F-4D97-AF65-F5344CB8AC3E}">
        <p14:creationId xmlns:p14="http://schemas.microsoft.com/office/powerpoint/2010/main" val="20112651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4</a:t>
            </a:fld>
            <a:endParaRPr lang="zh-CN" altLang="en-US"/>
          </a:p>
        </p:txBody>
      </p:sp>
    </p:spTree>
    <p:extLst>
      <p:ext uri="{BB962C8B-B14F-4D97-AF65-F5344CB8AC3E}">
        <p14:creationId xmlns:p14="http://schemas.microsoft.com/office/powerpoint/2010/main" val="20112651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5</a:t>
            </a:fld>
            <a:endParaRPr lang="zh-CN" altLang="en-US"/>
          </a:p>
        </p:txBody>
      </p:sp>
    </p:spTree>
    <p:extLst>
      <p:ext uri="{BB962C8B-B14F-4D97-AF65-F5344CB8AC3E}">
        <p14:creationId xmlns:p14="http://schemas.microsoft.com/office/powerpoint/2010/main" val="11265200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6</a:t>
            </a:fld>
            <a:endParaRPr lang="zh-CN" altLang="en-US"/>
          </a:p>
        </p:txBody>
      </p:sp>
    </p:spTree>
    <p:extLst>
      <p:ext uri="{BB962C8B-B14F-4D97-AF65-F5344CB8AC3E}">
        <p14:creationId xmlns:p14="http://schemas.microsoft.com/office/powerpoint/2010/main" val="5086550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7</a:t>
            </a:fld>
            <a:endParaRPr lang="zh-CN" altLang="en-US"/>
          </a:p>
        </p:txBody>
      </p:sp>
    </p:spTree>
    <p:extLst>
      <p:ext uri="{BB962C8B-B14F-4D97-AF65-F5344CB8AC3E}">
        <p14:creationId xmlns:p14="http://schemas.microsoft.com/office/powerpoint/2010/main" val="22413453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F4536F5-A8B1-4FB9-A4A0-EF8C30A9D85D}"/>
              </a:ext>
            </a:extLst>
          </p:cNvPr>
          <p:cNvSpPr>
            <a:spLocks noGrp="1" noChangeArrowheads="1"/>
          </p:cNvSpPr>
          <p:nvPr>
            <p:ph type="sldNum" sz="quarter" idx="5"/>
          </p:nvPr>
        </p:nvSpPr>
        <p:spPr>
          <a:ln/>
        </p:spPr>
        <p:txBody>
          <a:bodyPr/>
          <a:lstStyle/>
          <a:p>
            <a:fld id="{C68D7C23-D061-4E20-9C19-1C9E91C60B40}" type="slidenum">
              <a:rPr lang="en-US" altLang="zh-CN"/>
              <a:pPr/>
              <a:t>8</a:t>
            </a:fld>
            <a:endParaRPr lang="en-US" altLang="zh-CN"/>
          </a:p>
        </p:txBody>
      </p:sp>
      <p:sp>
        <p:nvSpPr>
          <p:cNvPr id="219138" name="Rectangle 7">
            <a:extLst>
              <a:ext uri="{FF2B5EF4-FFF2-40B4-BE49-F238E27FC236}">
                <a16:creationId xmlns:a16="http://schemas.microsoft.com/office/drawing/2014/main" id="{8774A12B-FE7F-4E0D-B81A-42B5A8642199}"/>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20000"/>
              </a:spcBef>
            </a:pPr>
            <a:fld id="{1DDC4EC1-4CF5-4D05-B9FE-19FEE3647A57}" type="slidenum">
              <a:rPr lang="en-US" altLang="zh-CN" sz="1200"/>
              <a:pPr algn="r" eaLnBrk="1" hangingPunct="1">
                <a:spcBef>
                  <a:spcPct val="20000"/>
                </a:spcBef>
              </a:pPr>
              <a:t>8</a:t>
            </a:fld>
            <a:endParaRPr lang="en-US" altLang="zh-CN" sz="1200"/>
          </a:p>
        </p:txBody>
      </p:sp>
      <p:sp>
        <p:nvSpPr>
          <p:cNvPr id="219139" name="Rectangle 2">
            <a:extLst>
              <a:ext uri="{FF2B5EF4-FFF2-40B4-BE49-F238E27FC236}">
                <a16:creationId xmlns:a16="http://schemas.microsoft.com/office/drawing/2014/main" id="{02B7478B-7543-417D-A6CC-DDEC11C93594}"/>
              </a:ext>
            </a:extLst>
          </p:cNvPr>
          <p:cNvSpPr>
            <a:spLocks noGrp="1" noRot="1" noChangeAspect="1" noChangeArrowheads="1" noTextEdit="1"/>
          </p:cNvSpPr>
          <p:nvPr>
            <p:ph type="sldImg"/>
          </p:nvPr>
        </p:nvSpPr>
        <p:spPr>
          <a:solidFill>
            <a:srgbClr val="FFFFFF"/>
          </a:solidFill>
          <a:ln/>
        </p:spPr>
      </p:sp>
      <p:sp>
        <p:nvSpPr>
          <p:cNvPr id="219140" name="Rectangle 3">
            <a:extLst>
              <a:ext uri="{FF2B5EF4-FFF2-40B4-BE49-F238E27FC236}">
                <a16:creationId xmlns:a16="http://schemas.microsoft.com/office/drawing/2014/main" id="{A95481E0-72DB-43B4-B958-5E4ED3354B89}"/>
              </a:ext>
            </a:extLst>
          </p:cNvPr>
          <p:cNvSpPr>
            <a:spLocks noGrp="1" noChangeArrowheads="1"/>
          </p:cNvSpPr>
          <p:nvPr>
            <p:ph type="body" idx="1"/>
          </p:nvPr>
        </p:nvSpPr>
        <p:spPr>
          <a:solidFill>
            <a:srgbClr val="FFFFFF"/>
          </a:solidFill>
          <a:ln w="12700">
            <a:solidFill>
              <a:srgbClr val="000000"/>
            </a:solidFill>
            <a:miter lim="800000"/>
            <a:headEnd/>
            <a:tailEnd/>
          </a:ln>
        </p:spPr>
        <p:txBody>
          <a:bodyPr/>
          <a:lstStyle/>
          <a:p>
            <a:endParaRPr lang="zh-CN" altLang="en-US" dirty="0"/>
          </a:p>
        </p:txBody>
      </p:sp>
    </p:spTree>
    <p:extLst>
      <p:ext uri="{BB962C8B-B14F-4D97-AF65-F5344CB8AC3E}">
        <p14:creationId xmlns:p14="http://schemas.microsoft.com/office/powerpoint/2010/main" val="40342161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99A736D-9E63-457F-884C-5F1D7CEA0544}"/>
              </a:ext>
            </a:extLst>
          </p:cNvPr>
          <p:cNvSpPr>
            <a:spLocks noGrp="1" noChangeArrowheads="1"/>
          </p:cNvSpPr>
          <p:nvPr>
            <p:ph type="sldNum" sz="quarter" idx="5"/>
          </p:nvPr>
        </p:nvSpPr>
        <p:spPr>
          <a:ln/>
        </p:spPr>
        <p:txBody>
          <a:bodyPr/>
          <a:lstStyle/>
          <a:p>
            <a:fld id="{634695C0-91E1-4F3D-B878-1BC84E852D63}" type="slidenum">
              <a:rPr lang="en-US" altLang="zh-CN"/>
              <a:pPr/>
              <a:t>9</a:t>
            </a:fld>
            <a:endParaRPr lang="en-US" altLang="zh-CN"/>
          </a:p>
        </p:txBody>
      </p:sp>
      <p:sp>
        <p:nvSpPr>
          <p:cNvPr id="227330" name="Rectangle 7">
            <a:extLst>
              <a:ext uri="{FF2B5EF4-FFF2-40B4-BE49-F238E27FC236}">
                <a16:creationId xmlns:a16="http://schemas.microsoft.com/office/drawing/2014/main" id="{A2791C36-95AE-48E4-93E7-AF807A708E17}"/>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20000"/>
              </a:spcBef>
            </a:pPr>
            <a:fld id="{4884C06C-4069-452C-BDDC-A5B4FE17D201}" type="slidenum">
              <a:rPr lang="en-US" altLang="zh-CN" sz="1200"/>
              <a:pPr algn="r" eaLnBrk="1" hangingPunct="1">
                <a:spcBef>
                  <a:spcPct val="20000"/>
                </a:spcBef>
              </a:pPr>
              <a:t>9</a:t>
            </a:fld>
            <a:endParaRPr lang="en-US" altLang="zh-CN" sz="1200"/>
          </a:p>
        </p:txBody>
      </p:sp>
      <p:sp>
        <p:nvSpPr>
          <p:cNvPr id="227331" name="Rectangle 2">
            <a:extLst>
              <a:ext uri="{FF2B5EF4-FFF2-40B4-BE49-F238E27FC236}">
                <a16:creationId xmlns:a16="http://schemas.microsoft.com/office/drawing/2014/main" id="{78BB5A0C-AEA3-47B9-AFF1-E316810CCAFE}"/>
              </a:ext>
            </a:extLst>
          </p:cNvPr>
          <p:cNvSpPr>
            <a:spLocks noGrp="1" noRot="1" noChangeAspect="1" noChangeArrowheads="1" noTextEdit="1"/>
          </p:cNvSpPr>
          <p:nvPr>
            <p:ph type="sldImg"/>
          </p:nvPr>
        </p:nvSpPr>
        <p:spPr>
          <a:solidFill>
            <a:srgbClr val="FFFFFF"/>
          </a:solidFill>
          <a:ln/>
        </p:spPr>
      </p:sp>
      <p:sp>
        <p:nvSpPr>
          <p:cNvPr id="227332" name="Rectangle 3">
            <a:extLst>
              <a:ext uri="{FF2B5EF4-FFF2-40B4-BE49-F238E27FC236}">
                <a16:creationId xmlns:a16="http://schemas.microsoft.com/office/drawing/2014/main" id="{4F44F317-9686-4483-841D-F9EDBBCDF9E7}"/>
              </a:ext>
            </a:extLst>
          </p:cNvPr>
          <p:cNvSpPr>
            <a:spLocks noGrp="1" noChangeArrowheads="1"/>
          </p:cNvSpPr>
          <p:nvPr>
            <p:ph type="body" idx="1"/>
          </p:nvPr>
        </p:nvSpPr>
        <p:spPr>
          <a:solidFill>
            <a:srgbClr val="FFFFFF"/>
          </a:solidFill>
          <a:ln w="12700">
            <a:solidFill>
              <a:srgbClr val="000000"/>
            </a:solidFill>
            <a:miter lim="800000"/>
            <a:headEnd/>
            <a:tailEnd/>
          </a:ln>
        </p:spPr>
        <p:txBody>
          <a:bodyPr/>
          <a:lstStyle/>
          <a:p>
            <a:endParaRPr lang="en-US" altLang="en-US" dirty="0"/>
          </a:p>
        </p:txBody>
      </p:sp>
    </p:spTree>
    <p:extLst>
      <p:ext uri="{BB962C8B-B14F-4D97-AF65-F5344CB8AC3E}">
        <p14:creationId xmlns:p14="http://schemas.microsoft.com/office/powerpoint/2010/main" val="2754841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10</a:t>
            </a:fld>
            <a:endParaRPr lang="zh-CN" altLang="en-US"/>
          </a:p>
        </p:txBody>
      </p:sp>
    </p:spTree>
    <p:extLst>
      <p:ext uri="{BB962C8B-B14F-4D97-AF65-F5344CB8AC3E}">
        <p14:creationId xmlns:p14="http://schemas.microsoft.com/office/powerpoint/2010/main" val="13637410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11</a:t>
            </a:fld>
            <a:endParaRPr lang="zh-CN" altLang="en-US"/>
          </a:p>
        </p:txBody>
      </p:sp>
    </p:spTree>
    <p:extLst>
      <p:ext uri="{BB962C8B-B14F-4D97-AF65-F5344CB8AC3E}">
        <p14:creationId xmlns:p14="http://schemas.microsoft.com/office/powerpoint/2010/main" val="17490432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12</a:t>
            </a:fld>
            <a:endParaRPr lang="zh-CN" altLang="en-US"/>
          </a:p>
        </p:txBody>
      </p:sp>
    </p:spTree>
    <p:extLst>
      <p:ext uri="{BB962C8B-B14F-4D97-AF65-F5344CB8AC3E}">
        <p14:creationId xmlns:p14="http://schemas.microsoft.com/office/powerpoint/2010/main" val="19634301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13</a:t>
            </a:fld>
            <a:endParaRPr lang="zh-CN" altLang="en-US"/>
          </a:p>
        </p:txBody>
      </p:sp>
    </p:spTree>
    <p:extLst>
      <p:ext uri="{BB962C8B-B14F-4D97-AF65-F5344CB8AC3E}">
        <p14:creationId xmlns:p14="http://schemas.microsoft.com/office/powerpoint/2010/main" val="4524380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D8D7B65-A3FE-437F-B837-B330FE843207}"/>
              </a:ext>
            </a:extLst>
          </p:cNvPr>
          <p:cNvSpPr>
            <a:spLocks noGrp="1" noChangeArrowheads="1"/>
          </p:cNvSpPr>
          <p:nvPr>
            <p:ph type="sldNum" sz="quarter" idx="5"/>
          </p:nvPr>
        </p:nvSpPr>
        <p:spPr>
          <a:ln/>
        </p:spPr>
        <p:txBody>
          <a:bodyPr/>
          <a:lstStyle/>
          <a:p>
            <a:fld id="{8442FDB4-75C8-4437-8846-2EA1D2E71F8A}" type="slidenum">
              <a:rPr lang="en-US" altLang="zh-CN"/>
              <a:pPr/>
              <a:t>14</a:t>
            </a:fld>
            <a:endParaRPr lang="en-US" altLang="zh-CN"/>
          </a:p>
        </p:txBody>
      </p:sp>
      <p:sp>
        <p:nvSpPr>
          <p:cNvPr id="235522" name="Rectangle 7">
            <a:extLst>
              <a:ext uri="{FF2B5EF4-FFF2-40B4-BE49-F238E27FC236}">
                <a16:creationId xmlns:a16="http://schemas.microsoft.com/office/drawing/2014/main" id="{952319EE-8EB8-47EF-B224-1766C97E5550}"/>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20000"/>
              </a:spcBef>
            </a:pPr>
            <a:fld id="{AA8810C4-F858-4FC1-B164-37A28B116F76}" type="slidenum">
              <a:rPr lang="en-US" altLang="zh-CN" sz="1200"/>
              <a:pPr algn="r" eaLnBrk="1" hangingPunct="1">
                <a:spcBef>
                  <a:spcPct val="20000"/>
                </a:spcBef>
              </a:pPr>
              <a:t>14</a:t>
            </a:fld>
            <a:endParaRPr lang="en-US" altLang="zh-CN" sz="1200"/>
          </a:p>
        </p:txBody>
      </p:sp>
      <p:sp>
        <p:nvSpPr>
          <p:cNvPr id="235523" name="Rectangle 2">
            <a:extLst>
              <a:ext uri="{FF2B5EF4-FFF2-40B4-BE49-F238E27FC236}">
                <a16:creationId xmlns:a16="http://schemas.microsoft.com/office/drawing/2014/main" id="{C10D3CAC-B040-4CDD-88ED-2E9E1B8726C8}"/>
              </a:ext>
            </a:extLst>
          </p:cNvPr>
          <p:cNvSpPr>
            <a:spLocks noGrp="1" noRot="1" noChangeAspect="1" noChangeArrowheads="1" noTextEdit="1"/>
          </p:cNvSpPr>
          <p:nvPr>
            <p:ph type="sldImg"/>
          </p:nvPr>
        </p:nvSpPr>
        <p:spPr>
          <a:solidFill>
            <a:srgbClr val="FFFFFF"/>
          </a:solidFill>
          <a:ln/>
        </p:spPr>
      </p:sp>
      <p:sp>
        <p:nvSpPr>
          <p:cNvPr id="235524" name="Rectangle 3">
            <a:extLst>
              <a:ext uri="{FF2B5EF4-FFF2-40B4-BE49-F238E27FC236}">
                <a16:creationId xmlns:a16="http://schemas.microsoft.com/office/drawing/2014/main" id="{A20F82C8-8695-48A0-B967-0BFD8B373926}"/>
              </a:ext>
            </a:extLst>
          </p:cNvPr>
          <p:cNvSpPr>
            <a:spLocks noGrp="1" noChangeArrowheads="1"/>
          </p:cNvSpPr>
          <p:nvPr>
            <p:ph type="body" idx="1"/>
          </p:nvPr>
        </p:nvSpPr>
        <p:spPr>
          <a:solidFill>
            <a:srgbClr val="FFFFFF"/>
          </a:solidFill>
          <a:ln w="12700">
            <a:solidFill>
              <a:srgbClr val="000000"/>
            </a:solidFill>
            <a:miter lim="800000"/>
            <a:headEnd/>
            <a:tailEnd/>
          </a:ln>
        </p:spPr>
        <p:txBody>
          <a:bodyPr/>
          <a:lstStyle/>
          <a:p>
            <a:endParaRPr lang="en-US" altLang="en-US" dirty="0"/>
          </a:p>
        </p:txBody>
      </p:sp>
    </p:spTree>
    <p:extLst>
      <p:ext uri="{BB962C8B-B14F-4D97-AF65-F5344CB8AC3E}">
        <p14:creationId xmlns:p14="http://schemas.microsoft.com/office/powerpoint/2010/main" val="40425921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15</a:t>
            </a:fld>
            <a:endParaRPr lang="zh-CN" altLang="en-US"/>
          </a:p>
        </p:txBody>
      </p:sp>
    </p:spTree>
    <p:extLst>
      <p:ext uri="{BB962C8B-B14F-4D97-AF65-F5344CB8AC3E}">
        <p14:creationId xmlns:p14="http://schemas.microsoft.com/office/powerpoint/2010/main" val="36628870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16</a:t>
            </a:fld>
            <a:endParaRPr lang="zh-CN" altLang="en-US"/>
          </a:p>
        </p:txBody>
      </p:sp>
    </p:spTree>
    <p:extLst>
      <p:ext uri="{BB962C8B-B14F-4D97-AF65-F5344CB8AC3E}">
        <p14:creationId xmlns:p14="http://schemas.microsoft.com/office/powerpoint/2010/main" val="2856266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17</a:t>
            </a:fld>
            <a:endParaRPr lang="zh-CN" altLang="en-US"/>
          </a:p>
        </p:txBody>
      </p:sp>
    </p:spTree>
    <p:extLst>
      <p:ext uri="{BB962C8B-B14F-4D97-AF65-F5344CB8AC3E}">
        <p14:creationId xmlns:p14="http://schemas.microsoft.com/office/powerpoint/2010/main" val="36894263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18</a:t>
            </a:fld>
            <a:endParaRPr lang="zh-CN" altLang="en-US"/>
          </a:p>
        </p:txBody>
      </p:sp>
    </p:spTree>
    <p:extLst>
      <p:ext uri="{BB962C8B-B14F-4D97-AF65-F5344CB8AC3E}">
        <p14:creationId xmlns:p14="http://schemas.microsoft.com/office/powerpoint/2010/main" val="9299045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19</a:t>
            </a:fld>
            <a:endParaRPr lang="zh-CN" altLang="en-US"/>
          </a:p>
        </p:txBody>
      </p:sp>
    </p:spTree>
    <p:extLst>
      <p:ext uri="{BB962C8B-B14F-4D97-AF65-F5344CB8AC3E}">
        <p14:creationId xmlns:p14="http://schemas.microsoft.com/office/powerpoint/2010/main" val="42421021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20</a:t>
            </a:fld>
            <a:endParaRPr lang="zh-CN" altLang="en-US"/>
          </a:p>
        </p:txBody>
      </p:sp>
    </p:spTree>
    <p:extLst>
      <p:ext uri="{BB962C8B-B14F-4D97-AF65-F5344CB8AC3E}">
        <p14:creationId xmlns:p14="http://schemas.microsoft.com/office/powerpoint/2010/main" val="30800151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21</a:t>
            </a:fld>
            <a:endParaRPr lang="zh-CN" altLang="en-US"/>
          </a:p>
        </p:txBody>
      </p:sp>
    </p:spTree>
    <p:extLst>
      <p:ext uri="{BB962C8B-B14F-4D97-AF65-F5344CB8AC3E}">
        <p14:creationId xmlns:p14="http://schemas.microsoft.com/office/powerpoint/2010/main" val="36087629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22</a:t>
            </a:fld>
            <a:endParaRPr lang="zh-CN" altLang="en-US"/>
          </a:p>
        </p:txBody>
      </p:sp>
    </p:spTree>
    <p:extLst>
      <p:ext uri="{BB962C8B-B14F-4D97-AF65-F5344CB8AC3E}">
        <p14:creationId xmlns:p14="http://schemas.microsoft.com/office/powerpoint/2010/main" val="4903062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23</a:t>
            </a:fld>
            <a:endParaRPr lang="zh-CN" altLang="en-US"/>
          </a:p>
        </p:txBody>
      </p:sp>
    </p:spTree>
    <p:extLst>
      <p:ext uri="{BB962C8B-B14F-4D97-AF65-F5344CB8AC3E}">
        <p14:creationId xmlns:p14="http://schemas.microsoft.com/office/powerpoint/2010/main" val="24015566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24</a:t>
            </a:fld>
            <a:endParaRPr lang="zh-CN" altLang="en-US"/>
          </a:p>
        </p:txBody>
      </p:sp>
    </p:spTree>
    <p:extLst>
      <p:ext uri="{BB962C8B-B14F-4D97-AF65-F5344CB8AC3E}">
        <p14:creationId xmlns:p14="http://schemas.microsoft.com/office/powerpoint/2010/main" val="13656128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25</a:t>
            </a:fld>
            <a:endParaRPr lang="zh-CN" altLang="en-US"/>
          </a:p>
        </p:txBody>
      </p:sp>
    </p:spTree>
    <p:extLst>
      <p:ext uri="{BB962C8B-B14F-4D97-AF65-F5344CB8AC3E}">
        <p14:creationId xmlns:p14="http://schemas.microsoft.com/office/powerpoint/2010/main" val="29488943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26</a:t>
            </a:fld>
            <a:endParaRPr lang="zh-CN" altLang="en-US"/>
          </a:p>
        </p:txBody>
      </p:sp>
    </p:spTree>
    <p:extLst>
      <p:ext uri="{BB962C8B-B14F-4D97-AF65-F5344CB8AC3E}">
        <p14:creationId xmlns:p14="http://schemas.microsoft.com/office/powerpoint/2010/main" val="2905037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a:extLst>
              <a:ext uri="{FF2B5EF4-FFF2-40B4-BE49-F238E27FC236}">
                <a16:creationId xmlns:a16="http://schemas.microsoft.com/office/drawing/2014/main" id="{23DC37D2-AD0C-475B-B65E-F297A9C2683F}"/>
              </a:ext>
            </a:extLst>
          </p:cNvPr>
          <p:cNvSpPr>
            <a:spLocks noGrp="1" noRot="1" noChangeAspect="1" noChangeArrowheads="1" noTextEdit="1"/>
          </p:cNvSpPr>
          <p:nvPr>
            <p:ph type="sldImg"/>
          </p:nvPr>
        </p:nvSpPr>
        <p:spPr>
          <a:xfrm>
            <a:off x="1144588" y="685800"/>
            <a:ext cx="4572000" cy="3429000"/>
          </a:xfrm>
          <a:ln/>
        </p:spPr>
      </p:sp>
      <p:sp>
        <p:nvSpPr>
          <p:cNvPr id="142339" name="Rectangle 3">
            <a:extLst>
              <a:ext uri="{FF2B5EF4-FFF2-40B4-BE49-F238E27FC236}">
                <a16:creationId xmlns:a16="http://schemas.microsoft.com/office/drawing/2014/main" id="{D77888C2-B1D2-4E75-96DC-D8F40C6E70FC}"/>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Tree>
    <p:extLst>
      <p:ext uri="{BB962C8B-B14F-4D97-AF65-F5344CB8AC3E}">
        <p14:creationId xmlns:p14="http://schemas.microsoft.com/office/powerpoint/2010/main" val="26292556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30</a:t>
            </a:fld>
            <a:endParaRPr lang="zh-CN" altLang="en-US"/>
          </a:p>
        </p:txBody>
      </p:sp>
    </p:spTree>
    <p:extLst>
      <p:ext uri="{BB962C8B-B14F-4D97-AF65-F5344CB8AC3E}">
        <p14:creationId xmlns:p14="http://schemas.microsoft.com/office/powerpoint/2010/main" val="30830213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31</a:t>
            </a:fld>
            <a:endParaRPr lang="zh-CN" altLang="en-US"/>
          </a:p>
        </p:txBody>
      </p:sp>
    </p:spTree>
    <p:extLst>
      <p:ext uri="{BB962C8B-B14F-4D97-AF65-F5344CB8AC3E}">
        <p14:creationId xmlns:p14="http://schemas.microsoft.com/office/powerpoint/2010/main" val="1192269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32</a:t>
            </a:fld>
            <a:endParaRPr lang="zh-CN" altLang="en-US"/>
          </a:p>
        </p:txBody>
      </p:sp>
    </p:spTree>
    <p:extLst>
      <p:ext uri="{BB962C8B-B14F-4D97-AF65-F5344CB8AC3E}">
        <p14:creationId xmlns:p14="http://schemas.microsoft.com/office/powerpoint/2010/main" val="158769957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33</a:t>
            </a:fld>
            <a:endParaRPr lang="zh-CN" altLang="en-US"/>
          </a:p>
        </p:txBody>
      </p:sp>
    </p:spTree>
    <p:extLst>
      <p:ext uri="{BB962C8B-B14F-4D97-AF65-F5344CB8AC3E}">
        <p14:creationId xmlns:p14="http://schemas.microsoft.com/office/powerpoint/2010/main" val="376505748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34</a:t>
            </a:fld>
            <a:endParaRPr lang="zh-CN" altLang="en-US"/>
          </a:p>
        </p:txBody>
      </p:sp>
    </p:spTree>
    <p:extLst>
      <p:ext uri="{BB962C8B-B14F-4D97-AF65-F5344CB8AC3E}">
        <p14:creationId xmlns:p14="http://schemas.microsoft.com/office/powerpoint/2010/main" val="19203480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35</a:t>
            </a:fld>
            <a:endParaRPr lang="zh-CN" altLang="en-US"/>
          </a:p>
        </p:txBody>
      </p:sp>
    </p:spTree>
    <p:extLst>
      <p:ext uri="{BB962C8B-B14F-4D97-AF65-F5344CB8AC3E}">
        <p14:creationId xmlns:p14="http://schemas.microsoft.com/office/powerpoint/2010/main" val="13616470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36</a:t>
            </a:fld>
            <a:endParaRPr lang="zh-CN" altLang="en-US"/>
          </a:p>
        </p:txBody>
      </p:sp>
    </p:spTree>
    <p:extLst>
      <p:ext uri="{BB962C8B-B14F-4D97-AF65-F5344CB8AC3E}">
        <p14:creationId xmlns:p14="http://schemas.microsoft.com/office/powerpoint/2010/main" val="50896309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37</a:t>
            </a:fld>
            <a:endParaRPr lang="zh-CN" altLang="en-US"/>
          </a:p>
        </p:txBody>
      </p:sp>
    </p:spTree>
    <p:extLst>
      <p:ext uri="{BB962C8B-B14F-4D97-AF65-F5344CB8AC3E}">
        <p14:creationId xmlns:p14="http://schemas.microsoft.com/office/powerpoint/2010/main" val="142941417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38</a:t>
            </a:fld>
            <a:endParaRPr lang="zh-CN" altLang="en-US"/>
          </a:p>
        </p:txBody>
      </p:sp>
    </p:spTree>
    <p:extLst>
      <p:ext uri="{BB962C8B-B14F-4D97-AF65-F5344CB8AC3E}">
        <p14:creationId xmlns:p14="http://schemas.microsoft.com/office/powerpoint/2010/main" val="307658713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40</a:t>
            </a:fld>
            <a:endParaRPr lang="zh-CN" altLang="en-US"/>
          </a:p>
        </p:txBody>
      </p:sp>
    </p:spTree>
    <p:extLst>
      <p:ext uri="{BB962C8B-B14F-4D97-AF65-F5344CB8AC3E}">
        <p14:creationId xmlns:p14="http://schemas.microsoft.com/office/powerpoint/2010/main" val="160649991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41</a:t>
            </a:fld>
            <a:endParaRPr lang="zh-CN" altLang="en-US"/>
          </a:p>
        </p:txBody>
      </p:sp>
    </p:spTree>
    <p:extLst>
      <p:ext uri="{BB962C8B-B14F-4D97-AF65-F5344CB8AC3E}">
        <p14:creationId xmlns:p14="http://schemas.microsoft.com/office/powerpoint/2010/main" val="213569855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42</a:t>
            </a:fld>
            <a:endParaRPr lang="zh-CN" altLang="en-US"/>
          </a:p>
        </p:txBody>
      </p:sp>
    </p:spTree>
    <p:extLst>
      <p:ext uri="{BB962C8B-B14F-4D97-AF65-F5344CB8AC3E}">
        <p14:creationId xmlns:p14="http://schemas.microsoft.com/office/powerpoint/2010/main" val="159797314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algn="l"/>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43</a:t>
            </a:fld>
            <a:endParaRPr lang="zh-CN" altLang="en-US"/>
          </a:p>
        </p:txBody>
      </p:sp>
    </p:spTree>
    <p:extLst>
      <p:ext uri="{BB962C8B-B14F-4D97-AF65-F5344CB8AC3E}">
        <p14:creationId xmlns:p14="http://schemas.microsoft.com/office/powerpoint/2010/main" val="264846686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44</a:t>
            </a:fld>
            <a:endParaRPr lang="zh-CN" altLang="en-US"/>
          </a:p>
        </p:txBody>
      </p:sp>
    </p:spTree>
    <p:extLst>
      <p:ext uri="{BB962C8B-B14F-4D97-AF65-F5344CB8AC3E}">
        <p14:creationId xmlns:p14="http://schemas.microsoft.com/office/powerpoint/2010/main" val="81121215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50</a:t>
            </a:fld>
            <a:endParaRPr lang="zh-CN" altLang="en-US"/>
          </a:p>
        </p:txBody>
      </p:sp>
    </p:spTree>
    <p:extLst>
      <p:ext uri="{BB962C8B-B14F-4D97-AF65-F5344CB8AC3E}">
        <p14:creationId xmlns:p14="http://schemas.microsoft.com/office/powerpoint/2010/main" val="255191757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51</a:t>
            </a:fld>
            <a:endParaRPr lang="zh-CN" altLang="en-US"/>
          </a:p>
        </p:txBody>
      </p:sp>
    </p:spTree>
    <p:extLst>
      <p:ext uri="{BB962C8B-B14F-4D97-AF65-F5344CB8AC3E}">
        <p14:creationId xmlns:p14="http://schemas.microsoft.com/office/powerpoint/2010/main" val="28913859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52</a:t>
            </a:fld>
            <a:endParaRPr lang="zh-CN" altLang="en-US"/>
          </a:p>
        </p:txBody>
      </p:sp>
    </p:spTree>
    <p:extLst>
      <p:ext uri="{BB962C8B-B14F-4D97-AF65-F5344CB8AC3E}">
        <p14:creationId xmlns:p14="http://schemas.microsoft.com/office/powerpoint/2010/main" val="67680796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53</a:t>
            </a:fld>
            <a:endParaRPr lang="zh-CN" altLang="en-US"/>
          </a:p>
        </p:txBody>
      </p:sp>
    </p:spTree>
    <p:extLst>
      <p:ext uri="{BB962C8B-B14F-4D97-AF65-F5344CB8AC3E}">
        <p14:creationId xmlns:p14="http://schemas.microsoft.com/office/powerpoint/2010/main" val="234518385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55</a:t>
            </a:fld>
            <a:endParaRPr lang="zh-CN" altLang="en-US"/>
          </a:p>
        </p:txBody>
      </p:sp>
    </p:spTree>
    <p:extLst>
      <p:ext uri="{BB962C8B-B14F-4D97-AF65-F5344CB8AC3E}">
        <p14:creationId xmlns:p14="http://schemas.microsoft.com/office/powerpoint/2010/main" val="73257251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56</a:t>
            </a:fld>
            <a:endParaRPr lang="zh-CN" altLang="en-US"/>
          </a:p>
        </p:txBody>
      </p:sp>
    </p:spTree>
    <p:extLst>
      <p:ext uri="{BB962C8B-B14F-4D97-AF65-F5344CB8AC3E}">
        <p14:creationId xmlns:p14="http://schemas.microsoft.com/office/powerpoint/2010/main" val="308572367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57</a:t>
            </a:fld>
            <a:endParaRPr lang="zh-CN" altLang="en-US"/>
          </a:p>
        </p:txBody>
      </p:sp>
    </p:spTree>
    <p:extLst>
      <p:ext uri="{BB962C8B-B14F-4D97-AF65-F5344CB8AC3E}">
        <p14:creationId xmlns:p14="http://schemas.microsoft.com/office/powerpoint/2010/main" val="68030679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58</a:t>
            </a:fld>
            <a:endParaRPr lang="zh-CN" altLang="en-US"/>
          </a:p>
        </p:txBody>
      </p:sp>
    </p:spTree>
    <p:extLst>
      <p:ext uri="{BB962C8B-B14F-4D97-AF65-F5344CB8AC3E}">
        <p14:creationId xmlns:p14="http://schemas.microsoft.com/office/powerpoint/2010/main" val="265192882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59</a:t>
            </a:fld>
            <a:endParaRPr lang="zh-CN" altLang="en-US"/>
          </a:p>
        </p:txBody>
      </p:sp>
    </p:spTree>
    <p:extLst>
      <p:ext uri="{BB962C8B-B14F-4D97-AF65-F5344CB8AC3E}">
        <p14:creationId xmlns:p14="http://schemas.microsoft.com/office/powerpoint/2010/main" val="252990090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60</a:t>
            </a:fld>
            <a:endParaRPr lang="zh-CN" altLang="en-US"/>
          </a:p>
        </p:txBody>
      </p:sp>
    </p:spTree>
    <p:extLst>
      <p:ext uri="{BB962C8B-B14F-4D97-AF65-F5344CB8AC3E}">
        <p14:creationId xmlns:p14="http://schemas.microsoft.com/office/powerpoint/2010/main" val="203244968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61</a:t>
            </a:fld>
            <a:endParaRPr lang="zh-CN" altLang="en-US"/>
          </a:p>
        </p:txBody>
      </p:sp>
    </p:spTree>
    <p:extLst>
      <p:ext uri="{BB962C8B-B14F-4D97-AF65-F5344CB8AC3E}">
        <p14:creationId xmlns:p14="http://schemas.microsoft.com/office/powerpoint/2010/main" val="197066341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8657D0F-5D6A-47DA-8134-D08390434F23}"/>
              </a:ext>
            </a:extLst>
          </p:cNvPr>
          <p:cNvSpPr>
            <a:spLocks noGrp="1" noChangeArrowheads="1"/>
          </p:cNvSpPr>
          <p:nvPr>
            <p:ph type="sldNum" sz="quarter" idx="5"/>
          </p:nvPr>
        </p:nvSpPr>
        <p:spPr>
          <a:ln/>
        </p:spPr>
        <p:txBody>
          <a:bodyPr/>
          <a:lstStyle/>
          <a:p>
            <a:fld id="{2A22B1D4-C7A5-4DDF-8309-D416335DCC50}" type="slidenum">
              <a:rPr lang="en-US" altLang="zh-CN"/>
              <a:pPr/>
              <a:t>62</a:t>
            </a:fld>
            <a:endParaRPr lang="en-US" altLang="zh-CN"/>
          </a:p>
        </p:txBody>
      </p:sp>
      <p:sp>
        <p:nvSpPr>
          <p:cNvPr id="176130" name="Rectangle 2">
            <a:extLst>
              <a:ext uri="{FF2B5EF4-FFF2-40B4-BE49-F238E27FC236}">
                <a16:creationId xmlns:a16="http://schemas.microsoft.com/office/drawing/2014/main" id="{D1AE4CA0-8576-4AD0-B6FB-CBC120374A37}"/>
              </a:ext>
            </a:extLst>
          </p:cNvPr>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76131" name="Rectangle 3">
            <a:extLst>
              <a:ext uri="{FF2B5EF4-FFF2-40B4-BE49-F238E27FC236}">
                <a16:creationId xmlns:a16="http://schemas.microsoft.com/office/drawing/2014/main" id="{1D64799C-AE82-4FC7-B5AB-7280FCFEE672}"/>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dirty="0"/>
          </a:p>
        </p:txBody>
      </p:sp>
    </p:spTree>
    <p:extLst>
      <p:ext uri="{BB962C8B-B14F-4D97-AF65-F5344CB8AC3E}">
        <p14:creationId xmlns:p14="http://schemas.microsoft.com/office/powerpoint/2010/main" val="370694252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63</a:t>
            </a:fld>
            <a:endParaRPr lang="zh-CN" altLang="en-US"/>
          </a:p>
        </p:txBody>
      </p:sp>
    </p:spTree>
    <p:extLst>
      <p:ext uri="{BB962C8B-B14F-4D97-AF65-F5344CB8AC3E}">
        <p14:creationId xmlns:p14="http://schemas.microsoft.com/office/powerpoint/2010/main" val="251142986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66</a:t>
            </a:fld>
            <a:endParaRPr lang="zh-CN" altLang="en-US"/>
          </a:p>
        </p:txBody>
      </p:sp>
    </p:spTree>
    <p:extLst>
      <p:ext uri="{BB962C8B-B14F-4D97-AF65-F5344CB8AC3E}">
        <p14:creationId xmlns:p14="http://schemas.microsoft.com/office/powerpoint/2010/main" val="156619823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67</a:t>
            </a:fld>
            <a:endParaRPr lang="zh-CN" altLang="en-US"/>
          </a:p>
        </p:txBody>
      </p:sp>
    </p:spTree>
    <p:extLst>
      <p:ext uri="{BB962C8B-B14F-4D97-AF65-F5344CB8AC3E}">
        <p14:creationId xmlns:p14="http://schemas.microsoft.com/office/powerpoint/2010/main" val="242720735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68</a:t>
            </a:fld>
            <a:endParaRPr lang="zh-CN" altLang="en-US"/>
          </a:p>
        </p:txBody>
      </p:sp>
    </p:spTree>
    <p:extLst>
      <p:ext uri="{BB962C8B-B14F-4D97-AF65-F5344CB8AC3E}">
        <p14:creationId xmlns:p14="http://schemas.microsoft.com/office/powerpoint/2010/main" val="371437734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69</a:t>
            </a:fld>
            <a:endParaRPr lang="zh-CN" altLang="en-US"/>
          </a:p>
        </p:txBody>
      </p:sp>
    </p:spTree>
    <p:extLst>
      <p:ext uri="{BB962C8B-B14F-4D97-AF65-F5344CB8AC3E}">
        <p14:creationId xmlns:p14="http://schemas.microsoft.com/office/powerpoint/2010/main" val="245869210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70</a:t>
            </a:fld>
            <a:endParaRPr lang="zh-CN" altLang="en-US"/>
          </a:p>
        </p:txBody>
      </p:sp>
    </p:spTree>
    <p:extLst>
      <p:ext uri="{BB962C8B-B14F-4D97-AF65-F5344CB8AC3E}">
        <p14:creationId xmlns:p14="http://schemas.microsoft.com/office/powerpoint/2010/main" val="226692025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72</a:t>
            </a:fld>
            <a:endParaRPr lang="zh-CN" altLang="en-US"/>
          </a:p>
        </p:txBody>
      </p:sp>
    </p:spTree>
    <p:extLst>
      <p:ext uri="{BB962C8B-B14F-4D97-AF65-F5344CB8AC3E}">
        <p14:creationId xmlns:p14="http://schemas.microsoft.com/office/powerpoint/2010/main" val="201279957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73</a:t>
            </a:fld>
            <a:endParaRPr lang="zh-CN" altLang="en-US"/>
          </a:p>
        </p:txBody>
      </p:sp>
    </p:spTree>
    <p:extLst>
      <p:ext uri="{BB962C8B-B14F-4D97-AF65-F5344CB8AC3E}">
        <p14:creationId xmlns:p14="http://schemas.microsoft.com/office/powerpoint/2010/main" val="99517029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75</a:t>
            </a:fld>
            <a:endParaRPr lang="zh-CN" altLang="en-US"/>
          </a:p>
        </p:txBody>
      </p:sp>
    </p:spTree>
    <p:extLst>
      <p:ext uri="{BB962C8B-B14F-4D97-AF65-F5344CB8AC3E}">
        <p14:creationId xmlns:p14="http://schemas.microsoft.com/office/powerpoint/2010/main" val="54131281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76</a:t>
            </a:fld>
            <a:endParaRPr lang="zh-CN" altLang="en-US"/>
          </a:p>
        </p:txBody>
      </p:sp>
    </p:spTree>
    <p:extLst>
      <p:ext uri="{BB962C8B-B14F-4D97-AF65-F5344CB8AC3E}">
        <p14:creationId xmlns:p14="http://schemas.microsoft.com/office/powerpoint/2010/main" val="423774033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79</a:t>
            </a:fld>
            <a:endParaRPr lang="zh-CN" altLang="en-US"/>
          </a:p>
        </p:txBody>
      </p:sp>
    </p:spTree>
    <p:extLst>
      <p:ext uri="{BB962C8B-B14F-4D97-AF65-F5344CB8AC3E}">
        <p14:creationId xmlns:p14="http://schemas.microsoft.com/office/powerpoint/2010/main" val="354200421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80</a:t>
            </a:fld>
            <a:endParaRPr lang="zh-CN" altLang="en-US"/>
          </a:p>
        </p:txBody>
      </p:sp>
    </p:spTree>
    <p:extLst>
      <p:ext uri="{BB962C8B-B14F-4D97-AF65-F5344CB8AC3E}">
        <p14:creationId xmlns:p14="http://schemas.microsoft.com/office/powerpoint/2010/main" val="130459018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51E4AA9-F3F6-48A5-A288-2DF55EF68C85}"/>
              </a:ext>
            </a:extLst>
          </p:cNvPr>
          <p:cNvSpPr>
            <a:spLocks noGrp="1" noChangeArrowheads="1"/>
          </p:cNvSpPr>
          <p:nvPr>
            <p:ph type="sldNum" sz="quarter" idx="5"/>
          </p:nvPr>
        </p:nvSpPr>
        <p:spPr>
          <a:ln/>
        </p:spPr>
        <p:txBody>
          <a:bodyPr/>
          <a:lstStyle/>
          <a:p>
            <a:fld id="{1E2FF4C1-3B58-4102-B7DB-FD611E9C8BA5}" type="slidenum">
              <a:rPr lang="en-US" altLang="zh-CN"/>
              <a:pPr/>
              <a:t>83</a:t>
            </a:fld>
            <a:endParaRPr lang="en-US" altLang="zh-CN"/>
          </a:p>
        </p:txBody>
      </p:sp>
      <p:sp>
        <p:nvSpPr>
          <p:cNvPr id="202754" name="Rectangle 2">
            <a:extLst>
              <a:ext uri="{FF2B5EF4-FFF2-40B4-BE49-F238E27FC236}">
                <a16:creationId xmlns:a16="http://schemas.microsoft.com/office/drawing/2014/main" id="{785A08F9-CBF6-4F50-9C82-241C6E203622}"/>
              </a:ext>
            </a:extLst>
          </p:cNvPr>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202755" name="Rectangle 3">
            <a:extLst>
              <a:ext uri="{FF2B5EF4-FFF2-40B4-BE49-F238E27FC236}">
                <a16:creationId xmlns:a16="http://schemas.microsoft.com/office/drawing/2014/main" id="{07D9FA4B-60BA-42BD-AF3B-C0749DAD6DC3}"/>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dirty="0"/>
          </a:p>
        </p:txBody>
      </p:sp>
    </p:spTree>
    <p:extLst>
      <p:ext uri="{BB962C8B-B14F-4D97-AF65-F5344CB8AC3E}">
        <p14:creationId xmlns:p14="http://schemas.microsoft.com/office/powerpoint/2010/main" val="308340666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85</a:t>
            </a:fld>
            <a:endParaRPr lang="zh-CN" altLang="en-US"/>
          </a:p>
        </p:txBody>
      </p:sp>
    </p:spTree>
    <p:extLst>
      <p:ext uri="{BB962C8B-B14F-4D97-AF65-F5344CB8AC3E}">
        <p14:creationId xmlns:p14="http://schemas.microsoft.com/office/powerpoint/2010/main" val="392389576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86</a:t>
            </a:fld>
            <a:endParaRPr lang="zh-CN" altLang="en-US"/>
          </a:p>
        </p:txBody>
      </p:sp>
    </p:spTree>
    <p:extLst>
      <p:ext uri="{BB962C8B-B14F-4D97-AF65-F5344CB8AC3E}">
        <p14:creationId xmlns:p14="http://schemas.microsoft.com/office/powerpoint/2010/main" val="141503710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88</a:t>
            </a:fld>
            <a:endParaRPr lang="zh-CN" altLang="en-US"/>
          </a:p>
        </p:txBody>
      </p:sp>
    </p:spTree>
    <p:extLst>
      <p:ext uri="{BB962C8B-B14F-4D97-AF65-F5344CB8AC3E}">
        <p14:creationId xmlns:p14="http://schemas.microsoft.com/office/powerpoint/2010/main" val="239736836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89</a:t>
            </a:fld>
            <a:endParaRPr lang="zh-CN" altLang="en-US"/>
          </a:p>
        </p:txBody>
      </p:sp>
    </p:spTree>
    <p:extLst>
      <p:ext uri="{BB962C8B-B14F-4D97-AF65-F5344CB8AC3E}">
        <p14:creationId xmlns:p14="http://schemas.microsoft.com/office/powerpoint/2010/main" val="78632107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93</a:t>
            </a:fld>
            <a:endParaRPr lang="zh-CN" altLang="en-US"/>
          </a:p>
        </p:txBody>
      </p:sp>
    </p:spTree>
    <p:extLst>
      <p:ext uri="{BB962C8B-B14F-4D97-AF65-F5344CB8AC3E}">
        <p14:creationId xmlns:p14="http://schemas.microsoft.com/office/powerpoint/2010/main" val="93607106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95</a:t>
            </a:fld>
            <a:endParaRPr lang="zh-CN" altLang="en-US"/>
          </a:p>
        </p:txBody>
      </p:sp>
    </p:spTree>
    <p:extLst>
      <p:ext uri="{BB962C8B-B14F-4D97-AF65-F5344CB8AC3E}">
        <p14:creationId xmlns:p14="http://schemas.microsoft.com/office/powerpoint/2010/main" val="10852995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96</a:t>
            </a:fld>
            <a:endParaRPr lang="zh-CN" altLang="en-US"/>
          </a:p>
        </p:txBody>
      </p:sp>
    </p:spTree>
    <p:extLst>
      <p:ext uri="{BB962C8B-B14F-4D97-AF65-F5344CB8AC3E}">
        <p14:creationId xmlns:p14="http://schemas.microsoft.com/office/powerpoint/2010/main" val="33089487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97</a:t>
            </a:fld>
            <a:endParaRPr lang="zh-CN" altLang="en-US"/>
          </a:p>
        </p:txBody>
      </p:sp>
    </p:spTree>
    <p:extLst>
      <p:ext uri="{BB962C8B-B14F-4D97-AF65-F5344CB8AC3E}">
        <p14:creationId xmlns:p14="http://schemas.microsoft.com/office/powerpoint/2010/main" val="97234608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101</a:t>
            </a:fld>
            <a:endParaRPr lang="zh-CN" altLang="en-US"/>
          </a:p>
        </p:txBody>
      </p:sp>
    </p:spTree>
    <p:extLst>
      <p:ext uri="{BB962C8B-B14F-4D97-AF65-F5344CB8AC3E}">
        <p14:creationId xmlns:p14="http://schemas.microsoft.com/office/powerpoint/2010/main" val="426026105"/>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102</a:t>
            </a:fld>
            <a:endParaRPr lang="zh-CN" altLang="en-US"/>
          </a:p>
        </p:txBody>
      </p:sp>
    </p:spTree>
    <p:extLst>
      <p:ext uri="{BB962C8B-B14F-4D97-AF65-F5344CB8AC3E}">
        <p14:creationId xmlns:p14="http://schemas.microsoft.com/office/powerpoint/2010/main" val="402879332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105</a:t>
            </a:fld>
            <a:endParaRPr lang="zh-CN" altLang="en-US"/>
          </a:p>
        </p:txBody>
      </p:sp>
    </p:spTree>
    <p:extLst>
      <p:ext uri="{BB962C8B-B14F-4D97-AF65-F5344CB8AC3E}">
        <p14:creationId xmlns:p14="http://schemas.microsoft.com/office/powerpoint/2010/main" val="410571383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115</a:t>
            </a:fld>
            <a:endParaRPr lang="zh-CN" altLang="en-US"/>
          </a:p>
        </p:txBody>
      </p:sp>
    </p:spTree>
    <p:extLst>
      <p:ext uri="{BB962C8B-B14F-4D97-AF65-F5344CB8AC3E}">
        <p14:creationId xmlns:p14="http://schemas.microsoft.com/office/powerpoint/2010/main" val="231423922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116</a:t>
            </a:fld>
            <a:endParaRPr lang="zh-CN" altLang="en-US"/>
          </a:p>
        </p:txBody>
      </p:sp>
    </p:spTree>
    <p:extLst>
      <p:ext uri="{BB962C8B-B14F-4D97-AF65-F5344CB8AC3E}">
        <p14:creationId xmlns:p14="http://schemas.microsoft.com/office/powerpoint/2010/main" val="417042736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117</a:t>
            </a:fld>
            <a:endParaRPr lang="zh-CN" altLang="en-US"/>
          </a:p>
        </p:txBody>
      </p:sp>
    </p:spTree>
    <p:extLst>
      <p:ext uri="{BB962C8B-B14F-4D97-AF65-F5344CB8AC3E}">
        <p14:creationId xmlns:p14="http://schemas.microsoft.com/office/powerpoint/2010/main" val="12301782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121</a:t>
            </a:fld>
            <a:endParaRPr lang="zh-CN" altLang="en-US"/>
          </a:p>
        </p:txBody>
      </p:sp>
    </p:spTree>
    <p:extLst>
      <p:ext uri="{BB962C8B-B14F-4D97-AF65-F5344CB8AC3E}">
        <p14:creationId xmlns:p14="http://schemas.microsoft.com/office/powerpoint/2010/main" val="52035049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124</a:t>
            </a:fld>
            <a:endParaRPr lang="zh-CN" altLang="en-US"/>
          </a:p>
        </p:txBody>
      </p:sp>
    </p:spTree>
    <p:extLst>
      <p:ext uri="{BB962C8B-B14F-4D97-AF65-F5344CB8AC3E}">
        <p14:creationId xmlns:p14="http://schemas.microsoft.com/office/powerpoint/2010/main" val="281380104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125</a:t>
            </a:fld>
            <a:endParaRPr lang="zh-CN" altLang="en-US"/>
          </a:p>
        </p:txBody>
      </p:sp>
    </p:spTree>
    <p:extLst>
      <p:ext uri="{BB962C8B-B14F-4D97-AF65-F5344CB8AC3E}">
        <p14:creationId xmlns:p14="http://schemas.microsoft.com/office/powerpoint/2010/main" val="2691591536"/>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129</a:t>
            </a:fld>
            <a:endParaRPr lang="zh-CN" altLang="en-US"/>
          </a:p>
        </p:txBody>
      </p:sp>
    </p:spTree>
    <p:extLst>
      <p:ext uri="{BB962C8B-B14F-4D97-AF65-F5344CB8AC3E}">
        <p14:creationId xmlns:p14="http://schemas.microsoft.com/office/powerpoint/2010/main" val="396560284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130</a:t>
            </a:fld>
            <a:endParaRPr lang="zh-CN" altLang="en-US"/>
          </a:p>
        </p:txBody>
      </p:sp>
    </p:spTree>
    <p:extLst>
      <p:ext uri="{BB962C8B-B14F-4D97-AF65-F5344CB8AC3E}">
        <p14:creationId xmlns:p14="http://schemas.microsoft.com/office/powerpoint/2010/main" val="22551833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132</a:t>
            </a:fld>
            <a:endParaRPr lang="zh-CN" altLang="en-US"/>
          </a:p>
        </p:txBody>
      </p:sp>
    </p:spTree>
    <p:extLst>
      <p:ext uri="{BB962C8B-B14F-4D97-AF65-F5344CB8AC3E}">
        <p14:creationId xmlns:p14="http://schemas.microsoft.com/office/powerpoint/2010/main" val="2356606262"/>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133</a:t>
            </a:fld>
            <a:endParaRPr lang="zh-CN" altLang="en-US"/>
          </a:p>
        </p:txBody>
      </p:sp>
    </p:spTree>
    <p:extLst>
      <p:ext uri="{BB962C8B-B14F-4D97-AF65-F5344CB8AC3E}">
        <p14:creationId xmlns:p14="http://schemas.microsoft.com/office/powerpoint/2010/main" val="2067017448"/>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136</a:t>
            </a:fld>
            <a:endParaRPr lang="zh-CN" altLang="en-US"/>
          </a:p>
        </p:txBody>
      </p:sp>
    </p:spTree>
    <p:extLst>
      <p:ext uri="{BB962C8B-B14F-4D97-AF65-F5344CB8AC3E}">
        <p14:creationId xmlns:p14="http://schemas.microsoft.com/office/powerpoint/2010/main" val="4061931677"/>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139</a:t>
            </a:fld>
            <a:endParaRPr lang="zh-CN" altLang="en-US"/>
          </a:p>
        </p:txBody>
      </p:sp>
    </p:spTree>
    <p:extLst>
      <p:ext uri="{BB962C8B-B14F-4D97-AF65-F5344CB8AC3E}">
        <p14:creationId xmlns:p14="http://schemas.microsoft.com/office/powerpoint/2010/main" val="580780866"/>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143</a:t>
            </a:fld>
            <a:endParaRPr lang="zh-CN" altLang="en-US"/>
          </a:p>
        </p:txBody>
      </p:sp>
    </p:spTree>
    <p:extLst>
      <p:ext uri="{BB962C8B-B14F-4D97-AF65-F5344CB8AC3E}">
        <p14:creationId xmlns:p14="http://schemas.microsoft.com/office/powerpoint/2010/main" val="1397752924"/>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145</a:t>
            </a:fld>
            <a:endParaRPr lang="zh-CN" altLang="en-US"/>
          </a:p>
        </p:txBody>
      </p:sp>
    </p:spTree>
    <p:extLst>
      <p:ext uri="{BB962C8B-B14F-4D97-AF65-F5344CB8AC3E}">
        <p14:creationId xmlns:p14="http://schemas.microsoft.com/office/powerpoint/2010/main" val="2482573605"/>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148</a:t>
            </a:fld>
            <a:endParaRPr lang="zh-CN" altLang="en-US"/>
          </a:p>
        </p:txBody>
      </p:sp>
    </p:spTree>
    <p:extLst>
      <p:ext uri="{BB962C8B-B14F-4D97-AF65-F5344CB8AC3E}">
        <p14:creationId xmlns:p14="http://schemas.microsoft.com/office/powerpoint/2010/main" val="3045553077"/>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149</a:t>
            </a:fld>
            <a:endParaRPr lang="zh-CN" altLang="en-US"/>
          </a:p>
        </p:txBody>
      </p:sp>
    </p:spTree>
    <p:extLst>
      <p:ext uri="{BB962C8B-B14F-4D97-AF65-F5344CB8AC3E}">
        <p14:creationId xmlns:p14="http://schemas.microsoft.com/office/powerpoint/2010/main" val="2282091456"/>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156</a:t>
            </a:fld>
            <a:endParaRPr lang="zh-CN" altLang="en-US"/>
          </a:p>
        </p:txBody>
      </p:sp>
    </p:spTree>
    <p:extLst>
      <p:ext uri="{BB962C8B-B14F-4D97-AF65-F5344CB8AC3E}">
        <p14:creationId xmlns:p14="http://schemas.microsoft.com/office/powerpoint/2010/main" val="2451370910"/>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159</a:t>
            </a:fld>
            <a:endParaRPr lang="zh-CN" altLang="en-US"/>
          </a:p>
        </p:txBody>
      </p:sp>
    </p:spTree>
    <p:extLst>
      <p:ext uri="{BB962C8B-B14F-4D97-AF65-F5344CB8AC3E}">
        <p14:creationId xmlns:p14="http://schemas.microsoft.com/office/powerpoint/2010/main" val="107004126"/>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160</a:t>
            </a:fld>
            <a:endParaRPr lang="zh-CN" altLang="en-US"/>
          </a:p>
        </p:txBody>
      </p:sp>
    </p:spTree>
    <p:extLst>
      <p:ext uri="{BB962C8B-B14F-4D97-AF65-F5344CB8AC3E}">
        <p14:creationId xmlns:p14="http://schemas.microsoft.com/office/powerpoint/2010/main" val="3129489765"/>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162</a:t>
            </a:fld>
            <a:endParaRPr lang="zh-CN" altLang="en-US"/>
          </a:p>
        </p:txBody>
      </p:sp>
    </p:spTree>
    <p:extLst>
      <p:ext uri="{BB962C8B-B14F-4D97-AF65-F5344CB8AC3E}">
        <p14:creationId xmlns:p14="http://schemas.microsoft.com/office/powerpoint/2010/main" val="881769967"/>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163</a:t>
            </a:fld>
            <a:endParaRPr lang="zh-CN" altLang="en-US"/>
          </a:p>
        </p:txBody>
      </p:sp>
    </p:spTree>
    <p:extLst>
      <p:ext uri="{BB962C8B-B14F-4D97-AF65-F5344CB8AC3E}">
        <p14:creationId xmlns:p14="http://schemas.microsoft.com/office/powerpoint/2010/main" val="2371421374"/>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164</a:t>
            </a:fld>
            <a:endParaRPr lang="zh-CN" altLang="en-US"/>
          </a:p>
        </p:txBody>
      </p:sp>
    </p:spTree>
    <p:extLst>
      <p:ext uri="{BB962C8B-B14F-4D97-AF65-F5344CB8AC3E}">
        <p14:creationId xmlns:p14="http://schemas.microsoft.com/office/powerpoint/2010/main" val="2809667073"/>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165</a:t>
            </a:fld>
            <a:endParaRPr lang="zh-CN" altLang="en-US"/>
          </a:p>
        </p:txBody>
      </p:sp>
    </p:spTree>
    <p:extLst>
      <p:ext uri="{BB962C8B-B14F-4D97-AF65-F5344CB8AC3E}">
        <p14:creationId xmlns:p14="http://schemas.microsoft.com/office/powerpoint/2010/main" val="1123126768"/>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168</a:t>
            </a:fld>
            <a:endParaRPr lang="zh-CN" altLang="en-US"/>
          </a:p>
        </p:txBody>
      </p:sp>
    </p:spTree>
    <p:extLst>
      <p:ext uri="{BB962C8B-B14F-4D97-AF65-F5344CB8AC3E}">
        <p14:creationId xmlns:p14="http://schemas.microsoft.com/office/powerpoint/2010/main" val="2793233504"/>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173</a:t>
            </a:fld>
            <a:endParaRPr lang="zh-CN" altLang="en-US"/>
          </a:p>
        </p:txBody>
      </p:sp>
    </p:spTree>
    <p:extLst>
      <p:ext uri="{BB962C8B-B14F-4D97-AF65-F5344CB8AC3E}">
        <p14:creationId xmlns:p14="http://schemas.microsoft.com/office/powerpoint/2010/main" val="2209252003"/>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0" hangingPunct="0">
              <a:lnSpc>
                <a:spcPct val="110000"/>
              </a:lnSpc>
              <a:spcBef>
                <a:spcPct val="50000"/>
              </a:spcBef>
            </a:pPr>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174</a:t>
            </a:fld>
            <a:endParaRPr lang="zh-CN" altLang="en-US"/>
          </a:p>
        </p:txBody>
      </p:sp>
    </p:spTree>
    <p:extLst>
      <p:ext uri="{BB962C8B-B14F-4D97-AF65-F5344CB8AC3E}">
        <p14:creationId xmlns:p14="http://schemas.microsoft.com/office/powerpoint/2010/main" val="3918068157"/>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175</a:t>
            </a:fld>
            <a:endParaRPr lang="zh-CN" altLang="en-US"/>
          </a:p>
        </p:txBody>
      </p:sp>
    </p:spTree>
    <p:extLst>
      <p:ext uri="{BB962C8B-B14F-4D97-AF65-F5344CB8AC3E}">
        <p14:creationId xmlns:p14="http://schemas.microsoft.com/office/powerpoint/2010/main" val="2568274253"/>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177</a:t>
            </a:fld>
            <a:endParaRPr lang="zh-CN" altLang="en-US"/>
          </a:p>
        </p:txBody>
      </p:sp>
    </p:spTree>
    <p:extLst>
      <p:ext uri="{BB962C8B-B14F-4D97-AF65-F5344CB8AC3E}">
        <p14:creationId xmlns:p14="http://schemas.microsoft.com/office/powerpoint/2010/main" val="4025091838"/>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178</a:t>
            </a:fld>
            <a:endParaRPr lang="zh-CN" altLang="en-US"/>
          </a:p>
        </p:txBody>
      </p:sp>
    </p:spTree>
    <p:extLst>
      <p:ext uri="{BB962C8B-B14F-4D97-AF65-F5344CB8AC3E}">
        <p14:creationId xmlns:p14="http://schemas.microsoft.com/office/powerpoint/2010/main" val="331926275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180</a:t>
            </a:fld>
            <a:endParaRPr lang="zh-CN" altLang="en-US"/>
          </a:p>
        </p:txBody>
      </p:sp>
    </p:spTree>
    <p:extLst>
      <p:ext uri="{BB962C8B-B14F-4D97-AF65-F5344CB8AC3E}">
        <p14:creationId xmlns:p14="http://schemas.microsoft.com/office/powerpoint/2010/main" val="1549634784"/>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182</a:t>
            </a:fld>
            <a:endParaRPr lang="zh-CN" altLang="en-US"/>
          </a:p>
        </p:txBody>
      </p:sp>
    </p:spTree>
    <p:extLst>
      <p:ext uri="{BB962C8B-B14F-4D97-AF65-F5344CB8AC3E}">
        <p14:creationId xmlns:p14="http://schemas.microsoft.com/office/powerpoint/2010/main" val="3253959842"/>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183</a:t>
            </a:fld>
            <a:endParaRPr lang="zh-CN" altLang="en-US"/>
          </a:p>
        </p:txBody>
      </p:sp>
    </p:spTree>
    <p:extLst>
      <p:ext uri="{BB962C8B-B14F-4D97-AF65-F5344CB8AC3E}">
        <p14:creationId xmlns:p14="http://schemas.microsoft.com/office/powerpoint/2010/main" val="451959227"/>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184</a:t>
            </a:fld>
            <a:endParaRPr lang="zh-CN" altLang="en-US"/>
          </a:p>
        </p:txBody>
      </p:sp>
    </p:spTree>
    <p:extLst>
      <p:ext uri="{BB962C8B-B14F-4D97-AF65-F5344CB8AC3E}">
        <p14:creationId xmlns:p14="http://schemas.microsoft.com/office/powerpoint/2010/main" val="1257310524"/>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186</a:t>
            </a:fld>
            <a:endParaRPr lang="zh-CN" altLang="en-US"/>
          </a:p>
        </p:txBody>
      </p:sp>
    </p:spTree>
    <p:extLst>
      <p:ext uri="{BB962C8B-B14F-4D97-AF65-F5344CB8AC3E}">
        <p14:creationId xmlns:p14="http://schemas.microsoft.com/office/powerpoint/2010/main" val="3313829489"/>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187</a:t>
            </a:fld>
            <a:endParaRPr lang="zh-CN" altLang="en-US"/>
          </a:p>
        </p:txBody>
      </p:sp>
    </p:spTree>
    <p:extLst>
      <p:ext uri="{BB962C8B-B14F-4D97-AF65-F5344CB8AC3E}">
        <p14:creationId xmlns:p14="http://schemas.microsoft.com/office/powerpoint/2010/main" val="880393275"/>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188</a:t>
            </a:fld>
            <a:endParaRPr lang="zh-CN" altLang="en-US"/>
          </a:p>
        </p:txBody>
      </p:sp>
    </p:spTree>
    <p:extLst>
      <p:ext uri="{BB962C8B-B14F-4D97-AF65-F5344CB8AC3E}">
        <p14:creationId xmlns:p14="http://schemas.microsoft.com/office/powerpoint/2010/main" val="4247339875"/>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189</a:t>
            </a:fld>
            <a:endParaRPr lang="zh-CN" altLang="en-US"/>
          </a:p>
        </p:txBody>
      </p:sp>
    </p:spTree>
    <p:extLst>
      <p:ext uri="{BB962C8B-B14F-4D97-AF65-F5344CB8AC3E}">
        <p14:creationId xmlns:p14="http://schemas.microsoft.com/office/powerpoint/2010/main" val="3583685594"/>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190</a:t>
            </a:fld>
            <a:endParaRPr lang="zh-CN" altLang="en-US"/>
          </a:p>
        </p:txBody>
      </p:sp>
    </p:spTree>
    <p:extLst>
      <p:ext uri="{BB962C8B-B14F-4D97-AF65-F5344CB8AC3E}">
        <p14:creationId xmlns:p14="http://schemas.microsoft.com/office/powerpoint/2010/main" val="1967452513"/>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191</a:t>
            </a:fld>
            <a:endParaRPr lang="zh-CN" altLang="en-US"/>
          </a:p>
        </p:txBody>
      </p:sp>
    </p:spTree>
    <p:extLst>
      <p:ext uri="{BB962C8B-B14F-4D97-AF65-F5344CB8AC3E}">
        <p14:creationId xmlns:p14="http://schemas.microsoft.com/office/powerpoint/2010/main" val="523309046"/>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197</a:t>
            </a:fld>
            <a:endParaRPr lang="zh-CN" altLang="en-US"/>
          </a:p>
        </p:txBody>
      </p:sp>
    </p:spTree>
    <p:extLst>
      <p:ext uri="{BB962C8B-B14F-4D97-AF65-F5344CB8AC3E}">
        <p14:creationId xmlns:p14="http://schemas.microsoft.com/office/powerpoint/2010/main" val="4235496597"/>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198</a:t>
            </a:fld>
            <a:endParaRPr lang="zh-CN" altLang="en-US"/>
          </a:p>
        </p:txBody>
      </p:sp>
    </p:spTree>
    <p:extLst>
      <p:ext uri="{BB962C8B-B14F-4D97-AF65-F5344CB8AC3E}">
        <p14:creationId xmlns:p14="http://schemas.microsoft.com/office/powerpoint/2010/main" val="707646638"/>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204</a:t>
            </a:fld>
            <a:endParaRPr lang="zh-CN" altLang="en-US"/>
          </a:p>
        </p:txBody>
      </p:sp>
    </p:spTree>
    <p:extLst>
      <p:ext uri="{BB962C8B-B14F-4D97-AF65-F5344CB8AC3E}">
        <p14:creationId xmlns:p14="http://schemas.microsoft.com/office/powerpoint/2010/main" val="2376723443"/>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205</a:t>
            </a:fld>
            <a:endParaRPr lang="zh-CN" altLang="en-US"/>
          </a:p>
        </p:txBody>
      </p:sp>
    </p:spTree>
    <p:extLst>
      <p:ext uri="{BB962C8B-B14F-4D97-AF65-F5344CB8AC3E}">
        <p14:creationId xmlns:p14="http://schemas.microsoft.com/office/powerpoint/2010/main" val="1857543227"/>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208</a:t>
            </a:fld>
            <a:endParaRPr lang="zh-CN" altLang="en-US"/>
          </a:p>
        </p:txBody>
      </p:sp>
    </p:spTree>
    <p:extLst>
      <p:ext uri="{BB962C8B-B14F-4D97-AF65-F5344CB8AC3E}">
        <p14:creationId xmlns:p14="http://schemas.microsoft.com/office/powerpoint/2010/main" val="3868297490"/>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209</a:t>
            </a:fld>
            <a:endParaRPr lang="zh-CN" altLang="en-US"/>
          </a:p>
        </p:txBody>
      </p:sp>
    </p:spTree>
    <p:extLst>
      <p:ext uri="{BB962C8B-B14F-4D97-AF65-F5344CB8AC3E}">
        <p14:creationId xmlns:p14="http://schemas.microsoft.com/office/powerpoint/2010/main" val="2811677167"/>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215</a:t>
            </a:fld>
            <a:endParaRPr lang="zh-CN" altLang="en-US"/>
          </a:p>
        </p:txBody>
      </p:sp>
    </p:spTree>
    <p:extLst>
      <p:ext uri="{BB962C8B-B14F-4D97-AF65-F5344CB8AC3E}">
        <p14:creationId xmlns:p14="http://schemas.microsoft.com/office/powerpoint/2010/main" val="41760902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216</a:t>
            </a:fld>
            <a:endParaRPr lang="zh-CN" altLang="en-US"/>
          </a:p>
        </p:txBody>
      </p:sp>
    </p:spTree>
    <p:extLst>
      <p:ext uri="{BB962C8B-B14F-4D97-AF65-F5344CB8AC3E}">
        <p14:creationId xmlns:p14="http://schemas.microsoft.com/office/powerpoint/2010/main" val="862257699"/>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222</a:t>
            </a:fld>
            <a:endParaRPr lang="zh-CN" altLang="en-US"/>
          </a:p>
        </p:txBody>
      </p:sp>
    </p:spTree>
    <p:extLst>
      <p:ext uri="{BB962C8B-B14F-4D97-AF65-F5344CB8AC3E}">
        <p14:creationId xmlns:p14="http://schemas.microsoft.com/office/powerpoint/2010/main" val="556684003"/>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226</a:t>
            </a:fld>
            <a:endParaRPr lang="zh-CN" altLang="en-US"/>
          </a:p>
        </p:txBody>
      </p:sp>
    </p:spTree>
    <p:extLst>
      <p:ext uri="{BB962C8B-B14F-4D97-AF65-F5344CB8AC3E}">
        <p14:creationId xmlns:p14="http://schemas.microsoft.com/office/powerpoint/2010/main" val="969328415"/>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227</a:t>
            </a:fld>
            <a:endParaRPr lang="zh-CN" altLang="en-US"/>
          </a:p>
        </p:txBody>
      </p:sp>
    </p:spTree>
    <p:extLst>
      <p:ext uri="{BB962C8B-B14F-4D97-AF65-F5344CB8AC3E}">
        <p14:creationId xmlns:p14="http://schemas.microsoft.com/office/powerpoint/2010/main" val="2358245599"/>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228</a:t>
            </a:fld>
            <a:endParaRPr lang="zh-CN" altLang="en-US"/>
          </a:p>
        </p:txBody>
      </p:sp>
    </p:spTree>
    <p:extLst>
      <p:ext uri="{BB962C8B-B14F-4D97-AF65-F5344CB8AC3E}">
        <p14:creationId xmlns:p14="http://schemas.microsoft.com/office/powerpoint/2010/main" val="100253991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229</a:t>
            </a:fld>
            <a:endParaRPr lang="zh-CN" altLang="en-US"/>
          </a:p>
        </p:txBody>
      </p:sp>
    </p:spTree>
    <p:extLst>
      <p:ext uri="{BB962C8B-B14F-4D97-AF65-F5344CB8AC3E}">
        <p14:creationId xmlns:p14="http://schemas.microsoft.com/office/powerpoint/2010/main" val="2637511679"/>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233</a:t>
            </a:fld>
            <a:endParaRPr lang="zh-CN" altLang="en-US"/>
          </a:p>
        </p:txBody>
      </p:sp>
    </p:spTree>
    <p:extLst>
      <p:ext uri="{BB962C8B-B14F-4D97-AF65-F5344CB8AC3E}">
        <p14:creationId xmlns:p14="http://schemas.microsoft.com/office/powerpoint/2010/main" val="2434328205"/>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234</a:t>
            </a:fld>
            <a:endParaRPr lang="zh-CN" altLang="en-US"/>
          </a:p>
        </p:txBody>
      </p:sp>
    </p:spTree>
    <p:extLst>
      <p:ext uri="{BB962C8B-B14F-4D97-AF65-F5344CB8AC3E}">
        <p14:creationId xmlns:p14="http://schemas.microsoft.com/office/powerpoint/2010/main" val="412137140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235</a:t>
            </a:fld>
            <a:endParaRPr lang="zh-CN" altLang="en-US"/>
          </a:p>
        </p:txBody>
      </p:sp>
    </p:spTree>
    <p:extLst>
      <p:ext uri="{BB962C8B-B14F-4D97-AF65-F5344CB8AC3E}">
        <p14:creationId xmlns:p14="http://schemas.microsoft.com/office/powerpoint/2010/main" val="2037663055"/>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236</a:t>
            </a:fld>
            <a:endParaRPr lang="zh-CN" altLang="en-US"/>
          </a:p>
        </p:txBody>
      </p:sp>
    </p:spTree>
    <p:extLst>
      <p:ext uri="{BB962C8B-B14F-4D97-AF65-F5344CB8AC3E}">
        <p14:creationId xmlns:p14="http://schemas.microsoft.com/office/powerpoint/2010/main" val="3634127279"/>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237</a:t>
            </a:fld>
            <a:endParaRPr lang="zh-CN" altLang="en-US"/>
          </a:p>
        </p:txBody>
      </p:sp>
    </p:spTree>
    <p:extLst>
      <p:ext uri="{BB962C8B-B14F-4D97-AF65-F5344CB8AC3E}">
        <p14:creationId xmlns:p14="http://schemas.microsoft.com/office/powerpoint/2010/main" val="1011075649"/>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239</a:t>
            </a:fld>
            <a:endParaRPr lang="zh-CN" altLang="en-US"/>
          </a:p>
        </p:txBody>
      </p:sp>
    </p:spTree>
    <p:extLst>
      <p:ext uri="{BB962C8B-B14F-4D97-AF65-F5344CB8AC3E}">
        <p14:creationId xmlns:p14="http://schemas.microsoft.com/office/powerpoint/2010/main" val="65650583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Picture 1" descr="C:\Users\Administrator\AppData\Roaming\Tencent\Users\85060380\QQ\WinTemp\RichOle\3{JSB(G2RI2O{CFOGZRGH23.jpg"/>
          <p:cNvPicPr>
            <a:picLocks noChangeAspect="1" noChangeArrowheads="1"/>
          </p:cNvPicPr>
          <p:nvPr/>
        </p:nvPicPr>
        <p:blipFill rotWithShape="1">
          <a:blip r:embed="rId2" cstate="print"/>
          <a:srcRect r="78850"/>
          <a:stretch/>
        </p:blipFill>
        <p:spPr bwMode="auto">
          <a:xfrm>
            <a:off x="1" y="44624"/>
            <a:ext cx="899591" cy="792088"/>
          </a:xfrm>
          <a:prstGeom prst="rect">
            <a:avLst/>
          </a:prstGeom>
          <a:noFill/>
          <a:ln w="9525">
            <a:noFill/>
            <a:miter lim="800000"/>
            <a:headEnd/>
            <a:tailEnd/>
          </a:ln>
        </p:spPr>
      </p:pic>
      <p:pic>
        <p:nvPicPr>
          <p:cNvPr id="6" name="Picture 2" descr="C:\Users\Administrator\AppData\Roaming\Tencent\Users\85060380\QQ\WinTemp\RichOle\J6JYNSSQRTOD2X}K2W`MNJ7.jpg"/>
          <p:cNvPicPr>
            <a:picLocks noChangeAspect="1" noChangeArrowheads="1"/>
          </p:cNvPicPr>
          <p:nvPr/>
        </p:nvPicPr>
        <p:blipFill>
          <a:blip r:embed="rId3" cstate="print"/>
          <a:srcRect/>
          <a:stretch>
            <a:fillRect/>
          </a:stretch>
        </p:blipFill>
        <p:spPr bwMode="auto">
          <a:xfrm>
            <a:off x="6764751" y="1"/>
            <a:ext cx="1191625" cy="740094"/>
          </a:xfrm>
          <a:prstGeom prst="rect">
            <a:avLst/>
          </a:prstGeom>
          <a:noFill/>
          <a:ln w="9525">
            <a:noFill/>
            <a:miter lim="800000"/>
            <a:headEnd/>
            <a:tailEnd/>
          </a:ln>
        </p:spPr>
      </p:pic>
      <p:pic>
        <p:nvPicPr>
          <p:cNvPr id="7" name="Picture 3" descr="C:\Users\Administrator\AppData\Roaming\Tencent\Users\85060380\QQ\WinTemp\RichOle\GD$GN72[756M7J@}Q112F3M.jpg"/>
          <p:cNvPicPr>
            <a:picLocks noChangeAspect="1" noChangeArrowheads="1"/>
          </p:cNvPicPr>
          <p:nvPr/>
        </p:nvPicPr>
        <p:blipFill>
          <a:blip r:embed="rId4" cstate="print"/>
          <a:srcRect/>
          <a:stretch>
            <a:fillRect/>
          </a:stretch>
        </p:blipFill>
        <p:spPr bwMode="auto">
          <a:xfrm>
            <a:off x="7956376" y="1"/>
            <a:ext cx="1191625" cy="740094"/>
          </a:xfrm>
          <a:prstGeom prst="rect">
            <a:avLst/>
          </a:prstGeom>
          <a:noFill/>
          <a:ln w="9525">
            <a:noFill/>
            <a:miter lim="800000"/>
            <a:headEnd/>
            <a:tailEnd/>
          </a:ln>
        </p:spPr>
      </p:pic>
      <p:pic>
        <p:nvPicPr>
          <p:cNvPr id="8" name="Picture 4" descr="C:\Users\Administrator\AppData\Roaming\Tencent\Users\85060380\QQ\WinTemp\RichOle\{SL304[_K`X~M@`NNZQS~XD.jpg"/>
          <p:cNvPicPr>
            <a:picLocks noChangeAspect="1" noChangeArrowheads="1"/>
          </p:cNvPicPr>
          <p:nvPr/>
        </p:nvPicPr>
        <p:blipFill>
          <a:blip r:embed="rId5" cstate="print"/>
          <a:srcRect/>
          <a:stretch>
            <a:fillRect/>
          </a:stretch>
        </p:blipFill>
        <p:spPr bwMode="auto">
          <a:xfrm>
            <a:off x="4427984" y="0"/>
            <a:ext cx="2350885" cy="740094"/>
          </a:xfrm>
          <a:prstGeom prst="rect">
            <a:avLst/>
          </a:prstGeom>
          <a:noFill/>
          <a:ln w="9525">
            <a:noFill/>
            <a:miter lim="800000"/>
            <a:headEnd/>
            <a:tailEnd/>
          </a:ln>
        </p:spPr>
      </p:pic>
      <p:sp>
        <p:nvSpPr>
          <p:cNvPr id="2" name="标题 1"/>
          <p:cNvSpPr>
            <a:spLocks noGrp="1"/>
          </p:cNvSpPr>
          <p:nvPr>
            <p:ph type="ctrTitle"/>
          </p:nvPr>
        </p:nvSpPr>
        <p:spPr>
          <a:xfrm>
            <a:off x="685800" y="2130425"/>
            <a:ext cx="7772400" cy="1470025"/>
          </a:xfrm>
          <a:prstGeom prst="rect">
            <a:avLst/>
          </a:prstGeom>
        </p:spPr>
        <p:txBody>
          <a:bodyPr/>
          <a:lstStyle>
            <a:lvl1pPr>
              <a:defRPr/>
            </a:lvl1pPr>
          </a:lstStyle>
          <a:p>
            <a:r>
              <a:rPr lang="zh-CN" altLang="en-US" dirty="0"/>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9" name="日期占位符 3"/>
          <p:cNvSpPr>
            <a:spLocks noGrp="1"/>
          </p:cNvSpPr>
          <p:nvPr>
            <p:ph type="dt" sz="half" idx="10"/>
          </p:nvPr>
        </p:nvSpPr>
        <p:spPr/>
        <p:txBody>
          <a:bodyPr/>
          <a:lstStyle>
            <a:lvl1pPr>
              <a:defRPr/>
            </a:lvl1pPr>
          </a:lstStyle>
          <a:p>
            <a:pPr>
              <a:defRPr/>
            </a:pPr>
            <a:fld id="{3169F77C-FFE2-4793-9207-02588634C718}" type="datetimeFigureOut">
              <a:rPr lang="zh-CN" altLang="en-US"/>
              <a:pPr>
                <a:defRPr/>
              </a:pPr>
              <a:t>2023/12/15</a:t>
            </a:fld>
            <a:endParaRPr lang="zh-CN" altLang="en-US"/>
          </a:p>
        </p:txBody>
      </p:sp>
      <p:sp>
        <p:nvSpPr>
          <p:cNvPr id="10" name="页脚占位符 4"/>
          <p:cNvSpPr>
            <a:spLocks noGrp="1"/>
          </p:cNvSpPr>
          <p:nvPr>
            <p:ph type="ftr" sz="quarter" idx="11"/>
          </p:nvPr>
        </p:nvSpPr>
        <p:spPr/>
        <p:txBody>
          <a:bodyPr/>
          <a:lstStyle>
            <a:lvl1pPr>
              <a:defRPr/>
            </a:lvl1pPr>
          </a:lstStyle>
          <a:p>
            <a:pPr>
              <a:defRPr/>
            </a:pPr>
            <a:endParaRPr lang="zh-CN" altLang="en-US"/>
          </a:p>
        </p:txBody>
      </p:sp>
      <p:sp>
        <p:nvSpPr>
          <p:cNvPr id="11" name="灯片编号占位符 5"/>
          <p:cNvSpPr>
            <a:spLocks noGrp="1"/>
          </p:cNvSpPr>
          <p:nvPr>
            <p:ph type="sldNum" sz="quarter" idx="12"/>
          </p:nvPr>
        </p:nvSpPr>
        <p:spPr/>
        <p:txBody>
          <a:bodyPr/>
          <a:lstStyle>
            <a:lvl1pPr>
              <a:defRPr/>
            </a:lvl1pPr>
          </a:lstStyle>
          <a:p>
            <a:pPr>
              <a:defRPr/>
            </a:pPr>
            <a:fld id="{CDC8E333-6AB3-4FDA-8E97-ACA84AEA881D}" type="slidenum">
              <a:rPr lang="zh-CN" altLang="en-US"/>
              <a:pPr>
                <a:defRPr/>
              </a:pPr>
              <a:t>‹#›</a:t>
            </a:fld>
            <a:endParaRPr lang="zh-CN" altLang="en-US"/>
          </a:p>
        </p:txBody>
      </p:sp>
      <p:pic>
        <p:nvPicPr>
          <p:cNvPr id="13" name="图片 12">
            <a:extLst>
              <a:ext uri="{FF2B5EF4-FFF2-40B4-BE49-F238E27FC236}">
                <a16:creationId xmlns:a16="http://schemas.microsoft.com/office/drawing/2014/main" id="{B93D3275-083F-47FB-8AE6-915D3BE6F623}"/>
              </a:ext>
            </a:extLst>
          </p:cNvPr>
          <p:cNvPicPr>
            <a:picLocks noChangeAspect="1"/>
          </p:cNvPicPr>
          <p:nvPr userDrawn="1"/>
        </p:nvPicPr>
        <p:blipFill rotWithShape="1">
          <a:blip r:embed="rId6" cstate="print"/>
          <a:srcRect l="32675" t="11636" r="34167" b="75247"/>
          <a:stretch/>
        </p:blipFill>
        <p:spPr>
          <a:xfrm>
            <a:off x="971600" y="259870"/>
            <a:ext cx="2592288" cy="576842"/>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6" name="Picture 2" descr="C:\Users\Administrator\Desktop\44.jpg"/>
          <p:cNvPicPr>
            <a:picLocks noChangeAspect="1" noChangeArrowheads="1"/>
          </p:cNvPicPr>
          <p:nvPr/>
        </p:nvPicPr>
        <p:blipFill>
          <a:blip r:embed="rId2" cstate="print"/>
          <a:srcRect/>
          <a:stretch>
            <a:fillRect/>
          </a:stretch>
        </p:blipFill>
        <p:spPr bwMode="auto">
          <a:xfrm>
            <a:off x="7429500" y="5948363"/>
            <a:ext cx="1714500" cy="909637"/>
          </a:xfrm>
          <a:prstGeom prst="rect">
            <a:avLst/>
          </a:prstGeom>
          <a:noFill/>
          <a:ln w="9525">
            <a:noFill/>
            <a:miter lim="800000"/>
            <a:headEnd/>
            <a:tailEnd/>
          </a:ln>
        </p:spPr>
      </p:pic>
      <p:sp>
        <p:nvSpPr>
          <p:cNvPr id="7" name="日期占位符 3"/>
          <p:cNvSpPr>
            <a:spLocks noGrp="1"/>
          </p:cNvSpPr>
          <p:nvPr>
            <p:ph type="dt" sz="half" idx="10"/>
          </p:nvPr>
        </p:nvSpPr>
        <p:spPr/>
        <p:txBody>
          <a:bodyPr/>
          <a:lstStyle>
            <a:lvl1pPr>
              <a:defRPr/>
            </a:lvl1pPr>
          </a:lstStyle>
          <a:p>
            <a:pPr>
              <a:defRPr/>
            </a:pPr>
            <a:fld id="{B91F3533-4646-4892-B1D3-08067A86ACDD}" type="datetimeFigureOut">
              <a:rPr lang="zh-CN" altLang="en-US"/>
              <a:pPr>
                <a:defRPr/>
              </a:pPr>
              <a:t>2023/12/15</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F36D17FC-20E3-4805-979B-A7677B8B4C05}" type="slidenum">
              <a:rPr lang="zh-CN" altLang="en-US"/>
              <a:pPr>
                <a:defRPr/>
              </a:pPr>
              <a:t>‹#›</a:t>
            </a:fld>
            <a:endParaRPr lang="zh-CN" altLang="en-US"/>
          </a:p>
        </p:txBody>
      </p:sp>
      <p:pic>
        <p:nvPicPr>
          <p:cNvPr id="10" name="Picture 1" descr="C:\Users\Administrator\AppData\Roaming\Tencent\Users\85060380\QQ\WinTemp\RichOle\3{JSB(G2RI2O{CFOGZRGH23.jpg">
            <a:extLst>
              <a:ext uri="{FF2B5EF4-FFF2-40B4-BE49-F238E27FC236}">
                <a16:creationId xmlns:a16="http://schemas.microsoft.com/office/drawing/2014/main" id="{3270E545-7934-4BFA-B40E-1C355AF290BD}"/>
              </a:ext>
            </a:extLst>
          </p:cNvPr>
          <p:cNvPicPr>
            <a:picLocks noChangeAspect="1" noChangeArrowheads="1"/>
          </p:cNvPicPr>
          <p:nvPr userDrawn="1"/>
        </p:nvPicPr>
        <p:blipFill rotWithShape="1">
          <a:blip r:embed="rId3" cstate="print"/>
          <a:srcRect r="78850"/>
          <a:stretch/>
        </p:blipFill>
        <p:spPr bwMode="auto">
          <a:xfrm>
            <a:off x="1" y="6126164"/>
            <a:ext cx="862263" cy="759220"/>
          </a:xfrm>
          <a:prstGeom prst="rect">
            <a:avLst/>
          </a:prstGeom>
          <a:noFill/>
          <a:ln w="9525">
            <a:noFill/>
            <a:miter lim="800000"/>
            <a:headEnd/>
            <a:tailEnd/>
          </a:ln>
        </p:spPr>
      </p:pic>
      <p:pic>
        <p:nvPicPr>
          <p:cNvPr id="11" name="图片 10">
            <a:extLst>
              <a:ext uri="{FF2B5EF4-FFF2-40B4-BE49-F238E27FC236}">
                <a16:creationId xmlns:a16="http://schemas.microsoft.com/office/drawing/2014/main" id="{9D899D2D-93AD-4325-9F12-9039E226AB1A}"/>
              </a:ext>
            </a:extLst>
          </p:cNvPr>
          <p:cNvPicPr>
            <a:picLocks noChangeAspect="1"/>
          </p:cNvPicPr>
          <p:nvPr userDrawn="1"/>
        </p:nvPicPr>
        <p:blipFill rotWithShape="1">
          <a:blip r:embed="rId4" cstate="print"/>
          <a:srcRect l="32675" t="11636" r="34167" b="75247"/>
          <a:stretch/>
        </p:blipFill>
        <p:spPr>
          <a:xfrm>
            <a:off x="810072" y="6309320"/>
            <a:ext cx="1872208" cy="416609"/>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日期占位符 3"/>
          <p:cNvSpPr>
            <a:spLocks noGrp="1"/>
          </p:cNvSpPr>
          <p:nvPr>
            <p:ph type="dt" sz="half" idx="10"/>
          </p:nvPr>
        </p:nvSpPr>
        <p:spPr/>
        <p:txBody>
          <a:bodyPr/>
          <a:lstStyle>
            <a:lvl1pPr>
              <a:defRPr/>
            </a:lvl1pPr>
          </a:lstStyle>
          <a:p>
            <a:pPr>
              <a:defRPr/>
            </a:pPr>
            <a:fld id="{22A4F1A8-960E-4ED9-9A4F-401EFE12B95D}" type="datetimeFigureOut">
              <a:rPr lang="zh-CN" altLang="en-US"/>
              <a:pPr>
                <a:defRPr/>
              </a:pPr>
              <a:t>2023/12/15</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85FA7321-CB36-4EF0-87BA-C64E2A84FAED}" type="slidenum">
              <a:rPr lang="zh-CN" altLang="en-US"/>
              <a:pPr>
                <a:defRPr/>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8309E1E0-9E63-41E0-8CDD-DF0C8EF81975}" type="datetimeFigureOut">
              <a:rPr lang="zh-CN" altLang="en-US"/>
              <a:pPr>
                <a:defRPr/>
              </a:pPr>
              <a:t>2023/12/15</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961E5839-3D4F-4698-B864-F37BC54DB928}" type="slidenum">
              <a:rPr lang="zh-CN" altLang="en-US"/>
              <a:pPr>
                <a:defRPr/>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垂直排列标题与文本">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F8A791-EB1B-42B4-8A60-BB469EEA92E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A965CB8-50EC-4EF9-A821-ED2D9D42F39B}"/>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C1F5779-1292-4AE9-9466-627EA6A94736}"/>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AD6583C7-DD40-4431-9659-4E1BDA2952F8}"/>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B930C3C7-CB4B-4B58-B4CF-73B7196D3C82}"/>
              </a:ext>
            </a:extLst>
          </p:cNvPr>
          <p:cNvSpPr>
            <a:spLocks noGrp="1"/>
          </p:cNvSpPr>
          <p:nvPr>
            <p:ph type="sldNum" sz="quarter" idx="12"/>
          </p:nvPr>
        </p:nvSpPr>
        <p:spPr/>
        <p:txBody>
          <a:bodyPr/>
          <a:lstStyle>
            <a:lvl1pPr>
              <a:defRPr/>
            </a:lvl1pPr>
          </a:lstStyle>
          <a:p>
            <a:fld id="{A0A23521-B2E4-43DE-B2C4-70F1F1642120}" type="slidenum">
              <a:rPr lang="en-US" altLang="zh-CN"/>
              <a:pPr/>
              <a:t>‹#›</a:t>
            </a:fld>
            <a:endParaRPr lang="en-US" altLang="zh-CN"/>
          </a:p>
        </p:txBody>
      </p:sp>
    </p:spTree>
    <p:extLst>
      <p:ext uri="{BB962C8B-B14F-4D97-AF65-F5344CB8AC3E}">
        <p14:creationId xmlns:p14="http://schemas.microsoft.com/office/powerpoint/2010/main" val="50486484"/>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19810" name="Rectangle 2">
            <a:extLst>
              <a:ext uri="{FF2B5EF4-FFF2-40B4-BE49-F238E27FC236}">
                <a16:creationId xmlns:a16="http://schemas.microsoft.com/office/drawing/2014/main" id="{4D7FD78C-C527-4C6F-81C5-4ABCA7960EE5}"/>
              </a:ext>
            </a:extLst>
          </p:cNvPr>
          <p:cNvSpPr>
            <a:spLocks noGrp="1" noChangeArrowheads="1"/>
          </p:cNvSpPr>
          <p:nvPr>
            <p:ph type="ctrTitle"/>
          </p:nvPr>
        </p:nvSpPr>
        <p:spPr>
          <a:xfrm>
            <a:off x="914400" y="1524000"/>
            <a:ext cx="7623175" cy="1752600"/>
          </a:xfrm>
        </p:spPr>
        <p:txBody>
          <a:bodyPr/>
          <a:lstStyle>
            <a:lvl1pPr>
              <a:defRPr sz="5000"/>
            </a:lvl1pPr>
          </a:lstStyle>
          <a:p>
            <a:pPr lvl="0"/>
            <a:r>
              <a:rPr lang="zh-CN" altLang="en-US" noProof="0"/>
              <a:t>单击此处编辑母版标题样式</a:t>
            </a:r>
          </a:p>
        </p:txBody>
      </p:sp>
      <p:sp>
        <p:nvSpPr>
          <p:cNvPr id="119811" name="Rectangle 3">
            <a:extLst>
              <a:ext uri="{FF2B5EF4-FFF2-40B4-BE49-F238E27FC236}">
                <a16:creationId xmlns:a16="http://schemas.microsoft.com/office/drawing/2014/main" id="{79E7FA96-991A-49F2-90F3-41FEF833D288}"/>
              </a:ext>
            </a:extLst>
          </p:cNvPr>
          <p:cNvSpPr>
            <a:spLocks noGrp="1" noChangeArrowheads="1"/>
          </p:cNvSpPr>
          <p:nvPr>
            <p:ph type="subTitle" idx="1"/>
          </p:nvPr>
        </p:nvSpPr>
        <p:spPr>
          <a:xfrm>
            <a:off x="1981200" y="3962400"/>
            <a:ext cx="6553200" cy="1752600"/>
          </a:xfrm>
        </p:spPr>
        <p:txBody>
          <a:bodyPr/>
          <a:lstStyle>
            <a:lvl1pPr marL="0" indent="0">
              <a:buFont typeface="Wingdings" panose="05000000000000000000" pitchFamily="2" charset="2"/>
              <a:buNone/>
              <a:defRPr sz="2800"/>
            </a:lvl1pPr>
          </a:lstStyle>
          <a:p>
            <a:pPr lvl="0"/>
            <a:r>
              <a:rPr lang="zh-CN" altLang="en-US" noProof="0"/>
              <a:t>单击此处编辑母版副标题样式</a:t>
            </a:r>
          </a:p>
        </p:txBody>
      </p:sp>
      <p:sp>
        <p:nvSpPr>
          <p:cNvPr id="119812" name="Rectangle 4">
            <a:extLst>
              <a:ext uri="{FF2B5EF4-FFF2-40B4-BE49-F238E27FC236}">
                <a16:creationId xmlns:a16="http://schemas.microsoft.com/office/drawing/2014/main" id="{42B18C72-7FA2-4A1A-957D-C3B80C187EE9}"/>
              </a:ext>
            </a:extLst>
          </p:cNvPr>
          <p:cNvSpPr>
            <a:spLocks noGrp="1" noChangeArrowheads="1"/>
          </p:cNvSpPr>
          <p:nvPr>
            <p:ph type="dt" sz="half" idx="2"/>
          </p:nvPr>
        </p:nvSpPr>
        <p:spPr/>
        <p:txBody>
          <a:bodyPr/>
          <a:lstStyle>
            <a:lvl1pPr>
              <a:defRPr/>
            </a:lvl1pPr>
          </a:lstStyle>
          <a:p>
            <a:endParaRPr lang="en-US" altLang="zh-CN"/>
          </a:p>
        </p:txBody>
      </p:sp>
      <p:sp>
        <p:nvSpPr>
          <p:cNvPr id="119813" name="Rectangle 5">
            <a:extLst>
              <a:ext uri="{FF2B5EF4-FFF2-40B4-BE49-F238E27FC236}">
                <a16:creationId xmlns:a16="http://schemas.microsoft.com/office/drawing/2014/main" id="{D5D5DC33-E0BA-47CA-BCF4-19BFFCD18DE3}"/>
              </a:ext>
            </a:extLst>
          </p:cNvPr>
          <p:cNvSpPr>
            <a:spLocks noGrp="1" noChangeArrowheads="1"/>
          </p:cNvSpPr>
          <p:nvPr>
            <p:ph type="ftr" sz="quarter" idx="3"/>
          </p:nvPr>
        </p:nvSpPr>
        <p:spPr>
          <a:xfrm>
            <a:off x="3124200" y="6243638"/>
            <a:ext cx="2895600" cy="457200"/>
          </a:xfrm>
        </p:spPr>
        <p:txBody>
          <a:bodyPr/>
          <a:lstStyle>
            <a:lvl1pPr>
              <a:defRPr/>
            </a:lvl1pPr>
          </a:lstStyle>
          <a:p>
            <a:endParaRPr lang="en-US" altLang="zh-CN"/>
          </a:p>
        </p:txBody>
      </p:sp>
      <p:sp>
        <p:nvSpPr>
          <p:cNvPr id="119814" name="Rectangle 6">
            <a:extLst>
              <a:ext uri="{FF2B5EF4-FFF2-40B4-BE49-F238E27FC236}">
                <a16:creationId xmlns:a16="http://schemas.microsoft.com/office/drawing/2014/main" id="{21C32BAF-A933-4028-8FF3-4116F516FAB3}"/>
              </a:ext>
            </a:extLst>
          </p:cNvPr>
          <p:cNvSpPr>
            <a:spLocks noGrp="1" noChangeArrowheads="1"/>
          </p:cNvSpPr>
          <p:nvPr>
            <p:ph type="sldNum" sz="quarter" idx="4"/>
          </p:nvPr>
        </p:nvSpPr>
        <p:spPr/>
        <p:txBody>
          <a:bodyPr/>
          <a:lstStyle>
            <a:lvl1pPr>
              <a:defRPr/>
            </a:lvl1pPr>
          </a:lstStyle>
          <a:p>
            <a:fld id="{CCC82F30-AA16-4AF7-B5B3-B96C66B9FE99}" type="slidenum">
              <a:rPr lang="en-US" altLang="zh-CN"/>
              <a:pPr/>
              <a:t>‹#›</a:t>
            </a:fld>
            <a:endParaRPr lang="en-US" altLang="zh-CN"/>
          </a:p>
        </p:txBody>
      </p:sp>
      <p:sp>
        <p:nvSpPr>
          <p:cNvPr id="119815" name="Freeform 7">
            <a:extLst>
              <a:ext uri="{FF2B5EF4-FFF2-40B4-BE49-F238E27FC236}">
                <a16:creationId xmlns:a16="http://schemas.microsoft.com/office/drawing/2014/main" id="{88DFB588-E609-47D8-8BB5-398A7C43BC6A}"/>
              </a:ext>
            </a:extLst>
          </p:cNvPr>
          <p:cNvSpPr>
            <a:spLocks noChangeArrowheads="1"/>
          </p:cNvSpPr>
          <p:nvPr/>
        </p:nvSpPr>
        <p:spPr bwMode="auto">
          <a:xfrm>
            <a:off x="539750" y="188913"/>
            <a:ext cx="7924800" cy="914400"/>
          </a:xfrm>
          <a:custGeom>
            <a:avLst/>
            <a:gdLst>
              <a:gd name="T0" fmla="*/ 0 w 1000"/>
              <a:gd name="T1" fmla="*/ 1000 h 1000"/>
              <a:gd name="T2" fmla="*/ 0 w 1000"/>
              <a:gd name="T3" fmla="*/ 0 h 1000"/>
              <a:gd name="T4" fmla="*/ 1000 w 1000"/>
              <a:gd name="T5" fmla="*/ 0 h 1000"/>
            </a:gdLst>
            <a:ahLst/>
            <a:cxnLst>
              <a:cxn ang="0">
                <a:pos x="T0" y="T1"/>
              </a:cxn>
              <a:cxn ang="0">
                <a:pos x="T2" y="T3"/>
              </a:cxn>
              <a:cxn ang="0">
                <a:pos x="T4" y="T5"/>
              </a:cxn>
            </a:cxnLst>
            <a:rect l="0" t="0" r="r" b="b"/>
            <a:pathLst>
              <a:path w="1000" h="1000">
                <a:moveTo>
                  <a:pt x="0" y="1000"/>
                </a:moveTo>
                <a:lnTo>
                  <a:pt x="0" y="0"/>
                </a:lnTo>
                <a:lnTo>
                  <a:pt x="1000" y="0"/>
                </a:lnTo>
              </a:path>
            </a:pathLst>
          </a:custGeom>
          <a:noFill/>
          <a:ln w="25400" cap="flat" cmpd="sng">
            <a:solidFill>
              <a:srgbClr val="0099FF"/>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9816" name="Line 8">
            <a:extLst>
              <a:ext uri="{FF2B5EF4-FFF2-40B4-BE49-F238E27FC236}">
                <a16:creationId xmlns:a16="http://schemas.microsoft.com/office/drawing/2014/main" id="{91201BC4-F60F-4DE4-959A-F04F72250D84}"/>
              </a:ext>
            </a:extLst>
          </p:cNvPr>
          <p:cNvSpPr>
            <a:spLocks noChangeShapeType="1"/>
          </p:cNvSpPr>
          <p:nvPr/>
        </p:nvSpPr>
        <p:spPr bwMode="auto">
          <a:xfrm>
            <a:off x="539750" y="6597650"/>
            <a:ext cx="8135938" cy="0"/>
          </a:xfrm>
          <a:prstGeom prst="line">
            <a:avLst/>
          </a:prstGeom>
          <a:noFill/>
          <a:ln w="19050">
            <a:solidFill>
              <a:srgbClr val="00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3243915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89CDED-7209-4864-8AFB-D456CEF6B97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66150E2-7AEC-495F-8F54-F54B23E7A3DC}"/>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BBD73FFD-BB95-4DDF-AB54-831E6A40EBB3}"/>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31AF4445-16CD-4094-BDB9-4060BA1896CB}"/>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247AA64E-D23A-479F-A0A5-9768FF5FBC06}"/>
              </a:ext>
            </a:extLst>
          </p:cNvPr>
          <p:cNvSpPr>
            <a:spLocks noGrp="1"/>
          </p:cNvSpPr>
          <p:nvPr>
            <p:ph type="sldNum" sz="quarter" idx="12"/>
          </p:nvPr>
        </p:nvSpPr>
        <p:spPr/>
        <p:txBody>
          <a:bodyPr/>
          <a:lstStyle>
            <a:lvl1pPr>
              <a:defRPr/>
            </a:lvl1pPr>
          </a:lstStyle>
          <a:p>
            <a:fld id="{A115E447-1AD0-4D19-8186-5F897A3FCF26}" type="slidenum">
              <a:rPr lang="en-US" altLang="zh-CN"/>
              <a:pPr/>
              <a:t>‹#›</a:t>
            </a:fld>
            <a:endParaRPr lang="en-US" altLang="zh-CN"/>
          </a:p>
        </p:txBody>
      </p:sp>
    </p:spTree>
    <p:extLst>
      <p:ext uri="{BB962C8B-B14F-4D97-AF65-F5344CB8AC3E}">
        <p14:creationId xmlns:p14="http://schemas.microsoft.com/office/powerpoint/2010/main" val="18441997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04A9A3-6530-40E9-BEEC-FFBF20522146}"/>
              </a:ext>
            </a:extLst>
          </p:cNvPr>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09763754-219F-4689-A94B-528C7AB8D4E8}"/>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4" name="日期占位符 3">
            <a:extLst>
              <a:ext uri="{FF2B5EF4-FFF2-40B4-BE49-F238E27FC236}">
                <a16:creationId xmlns:a16="http://schemas.microsoft.com/office/drawing/2014/main" id="{8D4EA28B-AD01-4697-A977-1E7B5001547F}"/>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73C1FE58-50A0-450C-8D36-C36EAB3870C8}"/>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BA7A0C88-62B2-462D-A6F7-ABF44A387EBA}"/>
              </a:ext>
            </a:extLst>
          </p:cNvPr>
          <p:cNvSpPr>
            <a:spLocks noGrp="1"/>
          </p:cNvSpPr>
          <p:nvPr>
            <p:ph type="sldNum" sz="quarter" idx="12"/>
          </p:nvPr>
        </p:nvSpPr>
        <p:spPr/>
        <p:txBody>
          <a:bodyPr/>
          <a:lstStyle>
            <a:lvl1pPr>
              <a:defRPr/>
            </a:lvl1pPr>
          </a:lstStyle>
          <a:p>
            <a:fld id="{2D3D60CB-6C35-4DC6-A5EF-95A311EEA48E}" type="slidenum">
              <a:rPr lang="en-US" altLang="zh-CN"/>
              <a:pPr/>
              <a:t>‹#›</a:t>
            </a:fld>
            <a:endParaRPr lang="en-US" altLang="zh-CN"/>
          </a:p>
        </p:txBody>
      </p:sp>
    </p:spTree>
    <p:extLst>
      <p:ext uri="{BB962C8B-B14F-4D97-AF65-F5344CB8AC3E}">
        <p14:creationId xmlns:p14="http://schemas.microsoft.com/office/powerpoint/2010/main" val="25460009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806AA9-7E56-434E-A1C6-A7B7B2982B7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F1D5820-4596-45E3-8AD0-EE1A29C91145}"/>
              </a:ext>
            </a:extLst>
          </p:cNvPr>
          <p:cNvSpPr>
            <a:spLocks noGrp="1"/>
          </p:cNvSpPr>
          <p:nvPr>
            <p:ph sz="half" idx="1"/>
          </p:nvPr>
        </p:nvSpPr>
        <p:spPr>
          <a:xfrm>
            <a:off x="457200" y="1600200"/>
            <a:ext cx="4038600" cy="4530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B5CEA14B-1D84-48EA-BD99-6F22652AE4CC}"/>
              </a:ext>
            </a:extLst>
          </p:cNvPr>
          <p:cNvSpPr>
            <a:spLocks noGrp="1"/>
          </p:cNvSpPr>
          <p:nvPr>
            <p:ph sz="half" idx="2"/>
          </p:nvPr>
        </p:nvSpPr>
        <p:spPr>
          <a:xfrm>
            <a:off x="4648200" y="1600200"/>
            <a:ext cx="4038600" cy="4530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31213678-9731-462D-962F-71E5F942A9F7}"/>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62DAB837-1C3A-4758-B336-F03F2002D3A7}"/>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11D45008-58F6-4E25-B9A1-4512810A8481}"/>
              </a:ext>
            </a:extLst>
          </p:cNvPr>
          <p:cNvSpPr>
            <a:spLocks noGrp="1"/>
          </p:cNvSpPr>
          <p:nvPr>
            <p:ph type="sldNum" sz="quarter" idx="12"/>
          </p:nvPr>
        </p:nvSpPr>
        <p:spPr/>
        <p:txBody>
          <a:bodyPr/>
          <a:lstStyle>
            <a:lvl1pPr>
              <a:defRPr/>
            </a:lvl1pPr>
          </a:lstStyle>
          <a:p>
            <a:fld id="{206CA449-CF07-445A-8B8F-89ED726766F4}" type="slidenum">
              <a:rPr lang="en-US" altLang="zh-CN"/>
              <a:pPr/>
              <a:t>‹#›</a:t>
            </a:fld>
            <a:endParaRPr lang="en-US" altLang="zh-CN"/>
          </a:p>
        </p:txBody>
      </p:sp>
    </p:spTree>
    <p:extLst>
      <p:ext uri="{BB962C8B-B14F-4D97-AF65-F5344CB8AC3E}">
        <p14:creationId xmlns:p14="http://schemas.microsoft.com/office/powerpoint/2010/main" val="834056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F6C311-C4DF-49F3-AD86-1AA40AB87E57}"/>
              </a:ext>
            </a:extLst>
          </p:cNvPr>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4F8F8B76-0A1B-4E6F-B050-1EB69C9AE1E2}"/>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7EBF6B2E-4EB4-4A4E-B997-071B9B3BE246}"/>
              </a:ext>
            </a:extLst>
          </p:cNvPr>
          <p:cNvSpPr>
            <a:spLocks noGrp="1"/>
          </p:cNvSpPr>
          <p:nvPr>
            <p:ph sz="half" idx="2"/>
          </p:nvPr>
        </p:nvSpPr>
        <p:spPr>
          <a:xfrm>
            <a:off x="630238" y="2505075"/>
            <a:ext cx="386873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3DFAE394-DBE8-4B15-8366-2CB189C96DA5}"/>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CB44044B-C43C-40C1-962B-E5F43B2006AF}"/>
              </a:ext>
            </a:extLst>
          </p:cNvPr>
          <p:cNvSpPr>
            <a:spLocks noGrp="1"/>
          </p:cNvSpPr>
          <p:nvPr>
            <p:ph sz="quarter" idx="4"/>
          </p:nvPr>
        </p:nvSpPr>
        <p:spPr>
          <a:xfrm>
            <a:off x="4629150" y="2505075"/>
            <a:ext cx="38877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D4590425-A9FE-418F-9CA3-2ABB65B74295}"/>
              </a:ext>
            </a:extLst>
          </p:cNvPr>
          <p:cNvSpPr>
            <a:spLocks noGrp="1"/>
          </p:cNvSpPr>
          <p:nvPr>
            <p:ph type="dt" sz="half" idx="10"/>
          </p:nvPr>
        </p:nvSpPr>
        <p:spPr/>
        <p:txBody>
          <a:bodyPr/>
          <a:lstStyle>
            <a:lvl1pPr>
              <a:defRPr/>
            </a:lvl1pPr>
          </a:lstStyle>
          <a:p>
            <a:endParaRPr lang="en-US" altLang="zh-CN"/>
          </a:p>
        </p:txBody>
      </p:sp>
      <p:sp>
        <p:nvSpPr>
          <p:cNvPr id="8" name="页脚占位符 7">
            <a:extLst>
              <a:ext uri="{FF2B5EF4-FFF2-40B4-BE49-F238E27FC236}">
                <a16:creationId xmlns:a16="http://schemas.microsoft.com/office/drawing/2014/main" id="{83210652-0191-426D-8A20-8506DAE80BE1}"/>
              </a:ext>
            </a:extLst>
          </p:cNvPr>
          <p:cNvSpPr>
            <a:spLocks noGrp="1"/>
          </p:cNvSpPr>
          <p:nvPr>
            <p:ph type="ftr" sz="quarter" idx="11"/>
          </p:nvPr>
        </p:nvSpPr>
        <p:spPr/>
        <p:txBody>
          <a:bodyPr/>
          <a:lstStyle>
            <a:lvl1pPr>
              <a:defRPr/>
            </a:lvl1pPr>
          </a:lstStyle>
          <a:p>
            <a:endParaRPr lang="en-US" altLang="zh-CN"/>
          </a:p>
        </p:txBody>
      </p:sp>
      <p:sp>
        <p:nvSpPr>
          <p:cNvPr id="9" name="灯片编号占位符 8">
            <a:extLst>
              <a:ext uri="{FF2B5EF4-FFF2-40B4-BE49-F238E27FC236}">
                <a16:creationId xmlns:a16="http://schemas.microsoft.com/office/drawing/2014/main" id="{8E69DF86-6243-4F32-AE55-7593FA9E7691}"/>
              </a:ext>
            </a:extLst>
          </p:cNvPr>
          <p:cNvSpPr>
            <a:spLocks noGrp="1"/>
          </p:cNvSpPr>
          <p:nvPr>
            <p:ph type="sldNum" sz="quarter" idx="12"/>
          </p:nvPr>
        </p:nvSpPr>
        <p:spPr/>
        <p:txBody>
          <a:bodyPr/>
          <a:lstStyle>
            <a:lvl1pPr>
              <a:defRPr/>
            </a:lvl1pPr>
          </a:lstStyle>
          <a:p>
            <a:fld id="{1C3690FE-F1DF-4B3A-9D3A-BC175D61F710}" type="slidenum">
              <a:rPr lang="en-US" altLang="zh-CN"/>
              <a:pPr/>
              <a:t>‹#›</a:t>
            </a:fld>
            <a:endParaRPr lang="en-US" altLang="zh-CN"/>
          </a:p>
        </p:txBody>
      </p:sp>
    </p:spTree>
    <p:extLst>
      <p:ext uri="{BB962C8B-B14F-4D97-AF65-F5344CB8AC3E}">
        <p14:creationId xmlns:p14="http://schemas.microsoft.com/office/powerpoint/2010/main" val="17401097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6A1B49-D2B1-4003-B429-06744F23860F}"/>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2B818B08-6FE5-4DDF-B16E-1979F065F7E9}"/>
              </a:ext>
            </a:extLst>
          </p:cNvPr>
          <p:cNvSpPr>
            <a:spLocks noGrp="1"/>
          </p:cNvSpPr>
          <p:nvPr>
            <p:ph type="dt" sz="half" idx="10"/>
          </p:nvPr>
        </p:nvSpPr>
        <p:spPr/>
        <p:txBody>
          <a:bodyPr/>
          <a:lstStyle>
            <a:lvl1pPr>
              <a:defRPr/>
            </a:lvl1pPr>
          </a:lstStyle>
          <a:p>
            <a:endParaRPr lang="en-US" altLang="zh-CN"/>
          </a:p>
        </p:txBody>
      </p:sp>
      <p:sp>
        <p:nvSpPr>
          <p:cNvPr id="4" name="页脚占位符 3">
            <a:extLst>
              <a:ext uri="{FF2B5EF4-FFF2-40B4-BE49-F238E27FC236}">
                <a16:creationId xmlns:a16="http://schemas.microsoft.com/office/drawing/2014/main" id="{8CC6D1FF-AD09-4296-9FE0-19A04E382C0B}"/>
              </a:ext>
            </a:extLst>
          </p:cNvPr>
          <p:cNvSpPr>
            <a:spLocks noGrp="1"/>
          </p:cNvSpPr>
          <p:nvPr>
            <p:ph type="ftr" sz="quarter" idx="11"/>
          </p:nvPr>
        </p:nvSpPr>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5A6E9E2A-5C74-4B6D-A1E6-5999D6C246DF}"/>
              </a:ext>
            </a:extLst>
          </p:cNvPr>
          <p:cNvSpPr>
            <a:spLocks noGrp="1"/>
          </p:cNvSpPr>
          <p:nvPr>
            <p:ph type="sldNum" sz="quarter" idx="12"/>
          </p:nvPr>
        </p:nvSpPr>
        <p:spPr/>
        <p:txBody>
          <a:bodyPr/>
          <a:lstStyle>
            <a:lvl1pPr>
              <a:defRPr/>
            </a:lvl1pPr>
          </a:lstStyle>
          <a:p>
            <a:fld id="{8D9EC4D9-B6A2-43B8-99D1-4CBF783A36C5}" type="slidenum">
              <a:rPr lang="en-US" altLang="zh-CN"/>
              <a:pPr/>
              <a:t>‹#›</a:t>
            </a:fld>
            <a:endParaRPr lang="en-US" altLang="zh-CN"/>
          </a:p>
        </p:txBody>
      </p:sp>
    </p:spTree>
    <p:extLst>
      <p:ext uri="{BB962C8B-B14F-4D97-AF65-F5344CB8AC3E}">
        <p14:creationId xmlns:p14="http://schemas.microsoft.com/office/powerpoint/2010/main" val="4957936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99B6B64-8248-4BFF-B9BD-5CD2A3A13481}"/>
              </a:ext>
            </a:extLst>
          </p:cNvPr>
          <p:cNvSpPr>
            <a:spLocks noGrp="1"/>
          </p:cNvSpPr>
          <p:nvPr>
            <p:ph type="dt" sz="half" idx="10"/>
          </p:nvPr>
        </p:nvSpPr>
        <p:spPr/>
        <p:txBody>
          <a:bodyPr/>
          <a:lstStyle>
            <a:lvl1pPr>
              <a:defRPr/>
            </a:lvl1pPr>
          </a:lstStyle>
          <a:p>
            <a:endParaRPr lang="en-US" altLang="zh-CN"/>
          </a:p>
        </p:txBody>
      </p:sp>
      <p:sp>
        <p:nvSpPr>
          <p:cNvPr id="3" name="页脚占位符 2">
            <a:extLst>
              <a:ext uri="{FF2B5EF4-FFF2-40B4-BE49-F238E27FC236}">
                <a16:creationId xmlns:a16="http://schemas.microsoft.com/office/drawing/2014/main" id="{9C05650A-F3EB-472D-B5D4-11D4ED95BF22}"/>
              </a:ext>
            </a:extLst>
          </p:cNvPr>
          <p:cNvSpPr>
            <a:spLocks noGrp="1"/>
          </p:cNvSpPr>
          <p:nvPr>
            <p:ph type="ftr" sz="quarter" idx="11"/>
          </p:nvPr>
        </p:nvSpPr>
        <p:spPr/>
        <p:txBody>
          <a:bodyPr/>
          <a:lstStyle>
            <a:lvl1pPr>
              <a:defRPr/>
            </a:lvl1pPr>
          </a:lstStyle>
          <a:p>
            <a:endParaRPr lang="en-US" altLang="zh-CN"/>
          </a:p>
        </p:txBody>
      </p:sp>
      <p:sp>
        <p:nvSpPr>
          <p:cNvPr id="4" name="灯片编号占位符 3">
            <a:extLst>
              <a:ext uri="{FF2B5EF4-FFF2-40B4-BE49-F238E27FC236}">
                <a16:creationId xmlns:a16="http://schemas.microsoft.com/office/drawing/2014/main" id="{3A6D005A-1731-483B-995A-1ECF13C41D9D}"/>
              </a:ext>
            </a:extLst>
          </p:cNvPr>
          <p:cNvSpPr>
            <a:spLocks noGrp="1"/>
          </p:cNvSpPr>
          <p:nvPr>
            <p:ph type="sldNum" sz="quarter" idx="12"/>
          </p:nvPr>
        </p:nvSpPr>
        <p:spPr/>
        <p:txBody>
          <a:bodyPr/>
          <a:lstStyle>
            <a:lvl1pPr>
              <a:defRPr/>
            </a:lvl1pPr>
          </a:lstStyle>
          <a:p>
            <a:fld id="{71C99A60-210C-4F53-B606-BA0AADEECA4D}" type="slidenum">
              <a:rPr lang="en-US" altLang="zh-CN"/>
              <a:pPr/>
              <a:t>‹#›</a:t>
            </a:fld>
            <a:endParaRPr lang="en-US" altLang="zh-CN"/>
          </a:p>
        </p:txBody>
      </p:sp>
    </p:spTree>
    <p:extLst>
      <p:ext uri="{BB962C8B-B14F-4D97-AF65-F5344CB8AC3E}">
        <p14:creationId xmlns:p14="http://schemas.microsoft.com/office/powerpoint/2010/main" val="277008162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81C31D-437E-4B76-9ED1-414B88FDAD53}"/>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F0A85C6D-D010-4863-A5CB-057D5EC7930B}"/>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7E8B185E-6D9D-4399-943F-7720F18D31A8}"/>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5B1E3A3D-993A-42F0-900E-34439E91E77F}"/>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07AC8F30-B5D8-4BE4-8CFB-566C93117AF3}"/>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1470E703-C806-4161-B19D-E121DF38D9AB}"/>
              </a:ext>
            </a:extLst>
          </p:cNvPr>
          <p:cNvSpPr>
            <a:spLocks noGrp="1"/>
          </p:cNvSpPr>
          <p:nvPr>
            <p:ph type="sldNum" sz="quarter" idx="12"/>
          </p:nvPr>
        </p:nvSpPr>
        <p:spPr/>
        <p:txBody>
          <a:bodyPr/>
          <a:lstStyle>
            <a:lvl1pPr>
              <a:defRPr/>
            </a:lvl1pPr>
          </a:lstStyle>
          <a:p>
            <a:fld id="{1AFA1D74-2F6F-4724-A5F3-781623122186}" type="slidenum">
              <a:rPr lang="en-US" altLang="zh-CN"/>
              <a:pPr/>
              <a:t>‹#›</a:t>
            </a:fld>
            <a:endParaRPr lang="en-US" altLang="zh-CN"/>
          </a:p>
        </p:txBody>
      </p:sp>
    </p:spTree>
    <p:extLst>
      <p:ext uri="{BB962C8B-B14F-4D97-AF65-F5344CB8AC3E}">
        <p14:creationId xmlns:p14="http://schemas.microsoft.com/office/powerpoint/2010/main" val="37566701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E88C38-7565-4EDC-A34A-EEB55A3AF28B}"/>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6D06FCE0-BEEE-4DC9-B4BF-04F1BFE82CB2}"/>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6A991E16-0DAD-4E87-9CB2-F054414BB70F}"/>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A3C62005-A3D7-41E0-A25C-AEA90EA44124}"/>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8A2A75AA-0D49-45AE-832B-ADBF8DAE62BB}"/>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E36EC180-1F1A-45B0-B1DA-2EBA0583B27B}"/>
              </a:ext>
            </a:extLst>
          </p:cNvPr>
          <p:cNvSpPr>
            <a:spLocks noGrp="1"/>
          </p:cNvSpPr>
          <p:nvPr>
            <p:ph type="sldNum" sz="quarter" idx="12"/>
          </p:nvPr>
        </p:nvSpPr>
        <p:spPr/>
        <p:txBody>
          <a:bodyPr/>
          <a:lstStyle>
            <a:lvl1pPr>
              <a:defRPr/>
            </a:lvl1pPr>
          </a:lstStyle>
          <a:p>
            <a:fld id="{46AF3A1F-F38B-453D-8566-733A47201835}" type="slidenum">
              <a:rPr lang="en-US" altLang="zh-CN"/>
              <a:pPr/>
              <a:t>‹#›</a:t>
            </a:fld>
            <a:endParaRPr lang="en-US" altLang="zh-CN"/>
          </a:p>
        </p:txBody>
      </p:sp>
    </p:spTree>
    <p:extLst>
      <p:ext uri="{BB962C8B-B14F-4D97-AF65-F5344CB8AC3E}">
        <p14:creationId xmlns:p14="http://schemas.microsoft.com/office/powerpoint/2010/main" val="37990927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557FF8-FDC6-470F-B29F-047D6BC5FF5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22FB099-D678-4434-9BAE-F607358426F8}"/>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48E272E5-8EA7-48C8-818B-48A0F276AB81}"/>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4D9F3CEB-8E9F-487B-8652-CF370A08BE4F}"/>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0502E3F2-247C-4CFB-BA6D-F4EE7C4A6545}"/>
              </a:ext>
            </a:extLst>
          </p:cNvPr>
          <p:cNvSpPr>
            <a:spLocks noGrp="1"/>
          </p:cNvSpPr>
          <p:nvPr>
            <p:ph type="sldNum" sz="quarter" idx="12"/>
          </p:nvPr>
        </p:nvSpPr>
        <p:spPr/>
        <p:txBody>
          <a:bodyPr/>
          <a:lstStyle>
            <a:lvl1pPr>
              <a:defRPr/>
            </a:lvl1pPr>
          </a:lstStyle>
          <a:p>
            <a:fld id="{1246F394-F71E-4A21-A8BC-8EFCFE69530B}" type="slidenum">
              <a:rPr lang="en-US" altLang="zh-CN"/>
              <a:pPr/>
              <a:t>‹#›</a:t>
            </a:fld>
            <a:endParaRPr lang="en-US" altLang="zh-CN"/>
          </a:p>
        </p:txBody>
      </p:sp>
    </p:spTree>
    <p:extLst>
      <p:ext uri="{BB962C8B-B14F-4D97-AF65-F5344CB8AC3E}">
        <p14:creationId xmlns:p14="http://schemas.microsoft.com/office/powerpoint/2010/main" val="237191451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45FCCBED-C708-43C5-9679-9B692E749D64}"/>
              </a:ext>
            </a:extLst>
          </p:cNvPr>
          <p:cNvSpPr>
            <a:spLocks noGrp="1"/>
          </p:cNvSpPr>
          <p:nvPr>
            <p:ph type="title" orient="vert"/>
          </p:nvPr>
        </p:nvSpPr>
        <p:spPr>
          <a:xfrm>
            <a:off x="6629400" y="277813"/>
            <a:ext cx="2057400" cy="5853112"/>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D9409089-F4BF-44F8-8448-3178AE1EBCB6}"/>
              </a:ext>
            </a:extLst>
          </p:cNvPr>
          <p:cNvSpPr>
            <a:spLocks noGrp="1"/>
          </p:cNvSpPr>
          <p:nvPr>
            <p:ph type="body" orient="vert" idx="1"/>
          </p:nvPr>
        </p:nvSpPr>
        <p:spPr>
          <a:xfrm>
            <a:off x="457200" y="277813"/>
            <a:ext cx="6019800" cy="5853112"/>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AEC4DED9-89A3-4014-ADB0-F7B149CD5B53}"/>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A5A38E4E-63D2-40BB-81AC-2336E562B15D}"/>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F08DFA4A-DAE7-4D4F-99E0-DF7550D085AA}"/>
              </a:ext>
            </a:extLst>
          </p:cNvPr>
          <p:cNvSpPr>
            <a:spLocks noGrp="1"/>
          </p:cNvSpPr>
          <p:nvPr>
            <p:ph type="sldNum" sz="quarter" idx="12"/>
          </p:nvPr>
        </p:nvSpPr>
        <p:spPr/>
        <p:txBody>
          <a:bodyPr/>
          <a:lstStyle>
            <a:lvl1pPr>
              <a:defRPr/>
            </a:lvl1pPr>
          </a:lstStyle>
          <a:p>
            <a:fld id="{1FE642DC-F07C-49B6-A330-6F4F4C76409F}" type="slidenum">
              <a:rPr lang="en-US" altLang="zh-CN"/>
              <a:pPr/>
              <a:t>‹#›</a:t>
            </a:fld>
            <a:endParaRPr lang="en-US" altLang="zh-CN"/>
          </a:p>
        </p:txBody>
      </p:sp>
    </p:spTree>
    <p:extLst>
      <p:ext uri="{BB962C8B-B14F-4D97-AF65-F5344CB8AC3E}">
        <p14:creationId xmlns:p14="http://schemas.microsoft.com/office/powerpoint/2010/main" val="3483045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B11D7156-5C3F-4BEA-93EC-FF328D866D27}" type="datetimeFigureOut">
              <a:rPr lang="zh-CN" altLang="en-US"/>
              <a:pPr>
                <a:defRPr/>
              </a:pPr>
              <a:t>2023/12/15</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defRPr>
            </a:lvl1pPr>
          </a:lstStyle>
          <a:p>
            <a:pPr>
              <a:defRPr/>
            </a:pPr>
            <a:fld id="{9C709816-5D03-481C-A7CB-52B98C3CDEFE}"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853" r:id="rId1"/>
    <p:sldLayoutId id="2147483854" r:id="rId2"/>
    <p:sldLayoutId id="2147483844" r:id="rId3"/>
    <p:sldLayoutId id="2147483845" r:id="rId4"/>
    <p:sldLayoutId id="2147483846" r:id="rId5"/>
    <p:sldLayoutId id="2147483847" r:id="rId6"/>
    <p:sldLayoutId id="2147483848" r:id="rId7"/>
    <p:sldLayoutId id="2147483849" r:id="rId8"/>
    <p:sldLayoutId id="2147483850" r:id="rId9"/>
    <p:sldLayoutId id="2147483851" r:id="rId10"/>
    <p:sldLayoutId id="2147483852" r:id="rId11"/>
    <p:sldLayoutId id="2147483856" r:id="rId12"/>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charset="-122"/>
        </a:defRPr>
      </a:lvl2pPr>
      <a:lvl3pPr algn="ctr" rtl="0" eaLnBrk="0" fontAlgn="base" hangingPunct="0">
        <a:spcBef>
          <a:spcPct val="0"/>
        </a:spcBef>
        <a:spcAft>
          <a:spcPct val="0"/>
        </a:spcAft>
        <a:defRPr sz="4400">
          <a:solidFill>
            <a:schemeClr val="tx1"/>
          </a:solidFill>
          <a:latin typeface="Calibri" pitchFamily="34" charset="0"/>
          <a:ea typeface="宋体" charset="-122"/>
        </a:defRPr>
      </a:lvl3pPr>
      <a:lvl4pPr algn="ctr" rtl="0" eaLnBrk="0" fontAlgn="base" hangingPunct="0">
        <a:spcBef>
          <a:spcPct val="0"/>
        </a:spcBef>
        <a:spcAft>
          <a:spcPct val="0"/>
        </a:spcAft>
        <a:defRPr sz="4400">
          <a:solidFill>
            <a:schemeClr val="tx1"/>
          </a:solidFill>
          <a:latin typeface="Calibri" pitchFamily="34" charset="0"/>
          <a:ea typeface="宋体" charset="-122"/>
        </a:defRPr>
      </a:lvl4pPr>
      <a:lvl5pPr algn="ctr" rtl="0" eaLnBrk="0" fontAlgn="base" hangingPunct="0">
        <a:spcBef>
          <a:spcPct val="0"/>
        </a:spcBef>
        <a:spcAft>
          <a:spcPct val="0"/>
        </a:spcAft>
        <a:defRPr sz="4400">
          <a:solidFill>
            <a:schemeClr val="tx1"/>
          </a:solidFill>
          <a:latin typeface="Calibri" pitchFamily="34" charset="0"/>
          <a:ea typeface="宋体"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8786" name="Rectangle 2">
            <a:extLst>
              <a:ext uri="{FF2B5EF4-FFF2-40B4-BE49-F238E27FC236}">
                <a16:creationId xmlns:a16="http://schemas.microsoft.com/office/drawing/2014/main" id="{639479ED-FEE1-4EAE-9E59-8CB45108FA61}"/>
              </a:ext>
            </a:extLst>
          </p:cNvPr>
          <p:cNvSpPr>
            <a:spLocks noGrp="1" noChangeArrowheads="1"/>
          </p:cNvSpPr>
          <p:nvPr>
            <p:ph type="title"/>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单击此处编辑母版标题样式</a:t>
            </a:r>
          </a:p>
        </p:txBody>
      </p:sp>
      <p:sp>
        <p:nvSpPr>
          <p:cNvPr id="118787" name="Rectangle 3">
            <a:extLst>
              <a:ext uri="{FF2B5EF4-FFF2-40B4-BE49-F238E27FC236}">
                <a16:creationId xmlns:a16="http://schemas.microsoft.com/office/drawing/2014/main" id="{BAF25417-3F6F-483D-8F70-DBF98376E5F3}"/>
              </a:ext>
            </a:extLst>
          </p:cNvPr>
          <p:cNvSpPr>
            <a:spLocks noGrp="1" noChangeArrowheads="1"/>
          </p:cNvSpPr>
          <p:nvPr>
            <p:ph type="body" idx="1"/>
          </p:nvPr>
        </p:nvSpPr>
        <p:spPr bwMode="auto">
          <a:xfrm>
            <a:off x="457200" y="1600200"/>
            <a:ext cx="8229600" cy="453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18788" name="Rectangle 4">
            <a:extLst>
              <a:ext uri="{FF2B5EF4-FFF2-40B4-BE49-F238E27FC236}">
                <a16:creationId xmlns:a16="http://schemas.microsoft.com/office/drawing/2014/main" id="{32BFCB69-460B-4909-89C1-C62C477B3BAA}"/>
              </a:ext>
            </a:extLst>
          </p:cNvPr>
          <p:cNvSpPr>
            <a:spLocks noGrp="1" noChangeArrowheads="1"/>
          </p:cNvSpPr>
          <p:nvPr>
            <p:ph type="dt" sz="half" idx="2"/>
          </p:nvPr>
        </p:nvSpPr>
        <p:spPr bwMode="auto">
          <a:xfrm>
            <a:off x="457200" y="6243638"/>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spcBef>
                <a:spcPct val="0"/>
              </a:spcBef>
              <a:defRPr kumimoji="0" sz="1200" b="0">
                <a:solidFill>
                  <a:schemeClr val="tx1"/>
                </a:solidFill>
                <a:latin typeface="+mj-lt"/>
              </a:defRPr>
            </a:lvl1pPr>
          </a:lstStyle>
          <a:p>
            <a:endParaRPr lang="en-US" altLang="zh-CN"/>
          </a:p>
        </p:txBody>
      </p:sp>
      <p:sp>
        <p:nvSpPr>
          <p:cNvPr id="118789" name="Rectangle 5">
            <a:extLst>
              <a:ext uri="{FF2B5EF4-FFF2-40B4-BE49-F238E27FC236}">
                <a16:creationId xmlns:a16="http://schemas.microsoft.com/office/drawing/2014/main" id="{6374A892-9707-43DE-A702-964A881D964C}"/>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spcBef>
                <a:spcPct val="0"/>
              </a:spcBef>
              <a:defRPr kumimoji="0" sz="1200" b="0">
                <a:solidFill>
                  <a:schemeClr val="tx1"/>
                </a:solidFill>
                <a:latin typeface="+mj-lt"/>
              </a:defRPr>
            </a:lvl1pPr>
          </a:lstStyle>
          <a:p>
            <a:endParaRPr lang="en-US" altLang="zh-CN"/>
          </a:p>
        </p:txBody>
      </p:sp>
      <p:sp>
        <p:nvSpPr>
          <p:cNvPr id="118790" name="Rectangle 6">
            <a:extLst>
              <a:ext uri="{FF2B5EF4-FFF2-40B4-BE49-F238E27FC236}">
                <a16:creationId xmlns:a16="http://schemas.microsoft.com/office/drawing/2014/main" id="{20DE94E6-6112-4FB6-9302-45F98DE7F61F}"/>
              </a:ext>
            </a:extLst>
          </p:cNvPr>
          <p:cNvSpPr>
            <a:spLocks noGrp="1" noChangeArrowheads="1"/>
          </p:cNvSpPr>
          <p:nvPr>
            <p:ph type="sldNum" sz="quarter" idx="4"/>
          </p:nvPr>
        </p:nvSpPr>
        <p:spPr bwMode="auto">
          <a:xfrm>
            <a:off x="6553200" y="6243638"/>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spcBef>
                <a:spcPct val="0"/>
              </a:spcBef>
              <a:defRPr kumimoji="0" sz="1200" b="0">
                <a:solidFill>
                  <a:schemeClr val="tx1"/>
                </a:solidFill>
                <a:latin typeface="+mj-lt"/>
              </a:defRPr>
            </a:lvl1pPr>
          </a:lstStyle>
          <a:p>
            <a:fld id="{CB2C54B5-38F4-413C-95BC-0EC1F75D5B28}" type="slidenum">
              <a:rPr lang="en-US" altLang="zh-CN"/>
              <a:pPr/>
              <a:t>‹#›</a:t>
            </a:fld>
            <a:endParaRPr lang="en-US" altLang="zh-CN"/>
          </a:p>
        </p:txBody>
      </p:sp>
      <p:sp>
        <p:nvSpPr>
          <p:cNvPr id="118791" name="Freeform 7">
            <a:extLst>
              <a:ext uri="{FF2B5EF4-FFF2-40B4-BE49-F238E27FC236}">
                <a16:creationId xmlns:a16="http://schemas.microsoft.com/office/drawing/2014/main" id="{C08CAFEF-1153-4345-BE51-2105EA07C21B}"/>
              </a:ext>
            </a:extLst>
          </p:cNvPr>
          <p:cNvSpPr>
            <a:spLocks noChangeArrowheads="1"/>
          </p:cNvSpPr>
          <p:nvPr/>
        </p:nvSpPr>
        <p:spPr bwMode="auto">
          <a:xfrm>
            <a:off x="381000" y="228600"/>
            <a:ext cx="8229600" cy="609600"/>
          </a:xfrm>
          <a:custGeom>
            <a:avLst/>
            <a:gdLst>
              <a:gd name="T0" fmla="*/ 0 w 1000"/>
              <a:gd name="T1" fmla="*/ 1000 h 1000"/>
              <a:gd name="T2" fmla="*/ 0 w 1000"/>
              <a:gd name="T3" fmla="*/ 0 h 1000"/>
              <a:gd name="T4" fmla="*/ 1000 w 1000"/>
              <a:gd name="T5" fmla="*/ 0 h 1000"/>
            </a:gdLst>
            <a:ahLst/>
            <a:cxnLst>
              <a:cxn ang="0">
                <a:pos x="T0" y="T1"/>
              </a:cxn>
              <a:cxn ang="0">
                <a:pos x="T2" y="T3"/>
              </a:cxn>
              <a:cxn ang="0">
                <a:pos x="T4" y="T5"/>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8792" name="Line 8">
            <a:extLst>
              <a:ext uri="{FF2B5EF4-FFF2-40B4-BE49-F238E27FC236}">
                <a16:creationId xmlns:a16="http://schemas.microsoft.com/office/drawing/2014/main" id="{E5D504A9-BF82-41CD-BAFC-9639D5C7D2DE}"/>
              </a:ext>
            </a:extLst>
          </p:cNvPr>
          <p:cNvSpPr>
            <a:spLocks noChangeShapeType="1"/>
          </p:cNvSpPr>
          <p:nvPr/>
        </p:nvSpPr>
        <p:spPr bwMode="auto">
          <a:xfrm>
            <a:off x="468313" y="6669088"/>
            <a:ext cx="8229600" cy="0"/>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1324081301"/>
      </p:ext>
    </p:extLst>
  </p:cSld>
  <p:clrMap bg1="lt1" tx1="dk1" bg2="lt2" tx2="dk2" accent1="accent1" accent2="accent2" accent3="accent3" accent4="accent4" accent5="accent5" accent6="accent6" hlink="hlink" folHlink="folHlink"/>
  <p:sldLayoutIdLst>
    <p:sldLayoutId id="2147483858" r:id="rId1"/>
    <p:sldLayoutId id="2147483859" r:id="rId2"/>
    <p:sldLayoutId id="2147483860" r:id="rId3"/>
    <p:sldLayoutId id="2147483861" r:id="rId4"/>
    <p:sldLayoutId id="2147483862" r:id="rId5"/>
    <p:sldLayoutId id="2147483863" r:id="rId6"/>
    <p:sldLayoutId id="2147483864" r:id="rId7"/>
    <p:sldLayoutId id="2147483865" r:id="rId8"/>
    <p:sldLayoutId id="2147483866" r:id="rId9"/>
    <p:sldLayoutId id="2147483867" r:id="rId10"/>
    <p:sldLayoutId id="2147483868" r:id="rId11"/>
  </p:sldLayoutIdLst>
  <p:txStyles>
    <p:titleStyle>
      <a:lvl1pPr algn="l" rtl="0" fontAlgn="base">
        <a:spcBef>
          <a:spcPct val="0"/>
        </a:spcBef>
        <a:spcAft>
          <a:spcPct val="0"/>
        </a:spcAft>
        <a:defRPr sz="4200" kern="1200">
          <a:solidFill>
            <a:schemeClr val="tx2"/>
          </a:solidFill>
          <a:latin typeface="+mj-lt"/>
          <a:ea typeface="+mj-ea"/>
          <a:cs typeface="+mj-cs"/>
        </a:defRPr>
      </a:lvl1pPr>
      <a:lvl2pPr algn="l" rtl="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2pPr>
      <a:lvl3pPr algn="l" rtl="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3pPr>
      <a:lvl4pPr algn="l" rtl="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4pPr>
      <a:lvl5pPr algn="l" rtl="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9pPr>
    </p:titleStyle>
    <p:bodyStyle>
      <a:lvl1pPr marL="342900" indent="-342900" algn="l" rtl="0" fontAlgn="base">
        <a:spcBef>
          <a:spcPct val="20000"/>
        </a:spcBef>
        <a:spcAft>
          <a:spcPct val="0"/>
        </a:spcAft>
        <a:buClr>
          <a:schemeClr val="accent1"/>
        </a:buClr>
        <a:buSzPct val="65000"/>
        <a:buFont typeface="Wingdings" panose="05000000000000000000" pitchFamily="2" charset="2"/>
        <a:buChar char="n"/>
        <a:defRPr sz="3000" kern="1200">
          <a:solidFill>
            <a:schemeClr val="tx1"/>
          </a:solidFill>
          <a:latin typeface="+mn-lt"/>
          <a:ea typeface="+mn-ea"/>
          <a:cs typeface="+mn-cs"/>
        </a:defRPr>
      </a:lvl1pPr>
      <a:lvl2pPr marL="669925" indent="-325438" algn="l" rtl="0" fontAlgn="base">
        <a:spcBef>
          <a:spcPct val="20000"/>
        </a:spcBef>
        <a:spcAft>
          <a:spcPct val="0"/>
        </a:spcAft>
        <a:buClr>
          <a:schemeClr val="accent2"/>
        </a:buClr>
        <a:buSzPct val="60000"/>
        <a:buFont typeface="Wingdings" panose="05000000000000000000" pitchFamily="2" charset="2"/>
        <a:buChar char="q"/>
        <a:defRPr sz="2600" kern="1200">
          <a:solidFill>
            <a:schemeClr val="tx1"/>
          </a:solidFill>
          <a:latin typeface="+mn-lt"/>
          <a:ea typeface="+mn-ea"/>
          <a:cs typeface="+mn-cs"/>
        </a:defRPr>
      </a:lvl2pPr>
      <a:lvl3pPr marL="1022350" indent="-350838" algn="l" rtl="0" fontAlgn="base">
        <a:spcBef>
          <a:spcPct val="20000"/>
        </a:spcBef>
        <a:spcAft>
          <a:spcPct val="0"/>
        </a:spcAft>
        <a:buClr>
          <a:schemeClr val="accent1"/>
        </a:buClr>
        <a:buSzPct val="65000"/>
        <a:buFont typeface="Wingdings" panose="05000000000000000000" pitchFamily="2" charset="2"/>
        <a:buChar char="n"/>
        <a:defRPr sz="2200" kern="1200">
          <a:solidFill>
            <a:schemeClr val="tx1"/>
          </a:solidFill>
          <a:latin typeface="+mn-lt"/>
          <a:ea typeface="+mn-ea"/>
          <a:cs typeface="+mn-cs"/>
        </a:defRPr>
      </a:lvl3pPr>
      <a:lvl4pPr marL="1339850" indent="-315913" algn="l" rtl="0" fontAlgn="base">
        <a:spcBef>
          <a:spcPct val="20000"/>
        </a:spcBef>
        <a:spcAft>
          <a:spcPct val="0"/>
        </a:spcAft>
        <a:buClr>
          <a:schemeClr val="accent2"/>
        </a:buClr>
        <a:buSzPct val="70000"/>
        <a:buFont typeface="Wingdings" panose="05000000000000000000" pitchFamily="2" charset="2"/>
        <a:buChar char="q"/>
        <a:defRPr sz="2000" kern="1200">
          <a:solidFill>
            <a:schemeClr val="tx1"/>
          </a:solidFill>
          <a:latin typeface="+mn-lt"/>
          <a:ea typeface="+mn-ea"/>
          <a:cs typeface="+mn-cs"/>
        </a:defRPr>
      </a:lvl4pPr>
      <a:lvl5pPr marL="1681163" indent="-339725" algn="l" rtl="0" fontAlgn="base">
        <a:spcBef>
          <a:spcPct val="20000"/>
        </a:spcBef>
        <a:spcAft>
          <a:spcPct val="0"/>
        </a:spcAft>
        <a:buClr>
          <a:schemeClr val="accent1"/>
        </a:buClr>
        <a:buSzPct val="75000"/>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gdyang@sdau.edu.c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slide" Target="slide9.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slide" Target="slide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3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5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66.jpeg"/></Relationships>
</file>

<file path=ppt/slides/_rels/slide6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79.jpe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84.jpe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86.jpe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87.jpe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88.jpe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89.jpe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90.wmf"/><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91.wmf"/><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92.wmf"/><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93.jpe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94.jpe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jpe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103.jpe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104.jpe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106.jpe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108.jpe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110.jpe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112.jpe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13.png"/><Relationship Id="rId1" Type="http://schemas.openxmlformats.org/officeDocument/2006/relationships/slideLayout" Target="../slideLayouts/slideLayout2.xml"/><Relationship Id="rId4" Type="http://schemas.openxmlformats.org/officeDocument/2006/relationships/image" Target="../media/image97.emf"/></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image" Target="../media/image116.jpe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119.jpe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image" Target="../media/image121.jpe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image" Target="../media/image105.jpe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image" Target="../media/image124.jpe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image" Target="../media/image126.jpeg"/><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image" Target="../media/image130.jpeg"/><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image" Target="../media/image131.jpeg"/><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notesSlide" Target="../notesSlides/notesSlide105.xml"/><Relationship Id="rId1" Type="http://schemas.openxmlformats.org/officeDocument/2006/relationships/slideLayout" Target="../slideLayouts/slideLayout2.xml"/><Relationship Id="rId4" Type="http://schemas.openxmlformats.org/officeDocument/2006/relationships/image" Target="../media/image134.png"/></Relationships>
</file>

<file path=ppt/slides/_rels/slide178.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106.xml"/><Relationship Id="rId1" Type="http://schemas.openxmlformats.org/officeDocument/2006/relationships/slideLayout" Target="../slideLayouts/slideLayout2.xml"/><Relationship Id="rId4" Type="http://schemas.openxmlformats.org/officeDocument/2006/relationships/slide" Target="slide187.xml"/></Relationships>
</file>

<file path=ppt/slides/_rels/slide179.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image" Target="../media/image138.jpeg"/><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3" Type="http://schemas.openxmlformats.org/officeDocument/2006/relationships/image" Target="../media/image139.jpe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3" Type="http://schemas.openxmlformats.org/officeDocument/2006/relationships/image" Target="../media/image140.jpe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3" Type="http://schemas.openxmlformats.org/officeDocument/2006/relationships/image" Target="../media/image141.jpe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3" Type="http://schemas.openxmlformats.org/officeDocument/2006/relationships/slide" Target="slide144.xml"/><Relationship Id="rId2" Type="http://schemas.openxmlformats.org/officeDocument/2006/relationships/notesSlide" Target="../notesSlides/notesSlide111.xml"/><Relationship Id="rId1" Type="http://schemas.openxmlformats.org/officeDocument/2006/relationships/slideLayout" Target="../slideLayouts/slideLayout18.xml"/><Relationship Id="rId6" Type="http://schemas.openxmlformats.org/officeDocument/2006/relationships/slide" Target="slide147.xml"/><Relationship Id="rId5" Type="http://schemas.openxmlformats.org/officeDocument/2006/relationships/slide" Target="slide146.xml"/><Relationship Id="rId4" Type="http://schemas.openxmlformats.org/officeDocument/2006/relationships/slide" Target="slide145.xml"/></Relationships>
</file>

<file path=ppt/slides/_rels/slide187.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112.xml"/><Relationship Id="rId1" Type="http://schemas.openxmlformats.org/officeDocument/2006/relationships/slideLayout" Target="../slideLayouts/slideLayout2.xml"/><Relationship Id="rId4" Type="http://schemas.openxmlformats.org/officeDocument/2006/relationships/image" Target="../media/image143.png"/></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notesSlide" Target="../notesSlides/notesSlide114.xml"/><Relationship Id="rId1" Type="http://schemas.openxmlformats.org/officeDocument/2006/relationships/slideLayout" Target="../slideLayouts/slideLayout2.xml"/><Relationship Id="rId4" Type="http://schemas.microsoft.com/office/2007/relationships/hdphoto" Target="../media/hdphoto1.wdp"/></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image" Target="../media/image145.png"/><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2" Type="http://schemas.openxmlformats.org/officeDocument/2006/relationships/image" Target="../media/image146.png"/><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2" Type="http://schemas.openxmlformats.org/officeDocument/2006/relationships/image" Target="../media/image147.png"/><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2" Type="http://schemas.openxmlformats.org/officeDocument/2006/relationships/image" Target="../media/image148.png"/><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3" Type="http://schemas.openxmlformats.org/officeDocument/2006/relationships/image" Target="../media/image149.jpe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3" Type="http://schemas.openxmlformats.org/officeDocument/2006/relationships/image" Target="../media/image150.jpe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2" Type="http://schemas.openxmlformats.org/officeDocument/2006/relationships/image" Target="../media/image151.png"/><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2" Type="http://schemas.openxmlformats.org/officeDocument/2006/relationships/image" Target="../media/image145.png"/><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2" Type="http://schemas.openxmlformats.org/officeDocument/2006/relationships/image" Target="../media/image152.png"/><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2" Type="http://schemas.openxmlformats.org/officeDocument/2006/relationships/image" Target="../media/image153.jpeg"/><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2" Type="http://schemas.openxmlformats.org/officeDocument/2006/relationships/image" Target="../media/image154.png"/><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2" Type="http://schemas.openxmlformats.org/officeDocument/2006/relationships/image" Target="../media/image156.png"/><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2" Type="http://schemas.openxmlformats.org/officeDocument/2006/relationships/image" Target="../media/image157.png"/><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2" Type="http://schemas.openxmlformats.org/officeDocument/2006/relationships/image" Target="../media/image158.jpeg"/><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2" Type="http://schemas.openxmlformats.org/officeDocument/2006/relationships/image" Target="../media/image159.jpeg"/><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2" Type="http://schemas.openxmlformats.org/officeDocument/2006/relationships/image" Target="../media/image161.png"/><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2" Type="http://schemas.openxmlformats.org/officeDocument/2006/relationships/image" Target="../media/image162.png"/><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2" Type="http://schemas.openxmlformats.org/officeDocument/2006/relationships/image" Target="../media/image163.jpeg"/><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2" Type="http://schemas.openxmlformats.org/officeDocument/2006/relationships/image" Target="../media/image164.jpeg"/><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2" Type="http://schemas.openxmlformats.org/officeDocument/2006/relationships/image" Target="../media/image165.jpeg"/><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44.png"/><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3" Type="http://schemas.openxmlformats.org/officeDocument/2006/relationships/image" Target="../media/image174.png"/><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134.xml"/><Relationship Id="rId1" Type="http://schemas.openxmlformats.org/officeDocument/2006/relationships/slideLayout" Target="../slideLayouts/slideLayout2.xml"/><Relationship Id="rId4" Type="http://schemas.openxmlformats.org/officeDocument/2006/relationships/image" Target="../media/image176.png"/></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3" Type="http://schemas.openxmlformats.org/officeDocument/2006/relationships/image" Target="../media/image177.png"/><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p:cNvSpPr>
            <a:spLocks noGrp="1"/>
          </p:cNvSpPr>
          <p:nvPr>
            <p:ph type="ctrTitle"/>
          </p:nvPr>
        </p:nvSpPr>
        <p:spPr>
          <a:xfrm>
            <a:off x="642938" y="2000250"/>
            <a:ext cx="7772400" cy="1470025"/>
          </a:xfrm>
        </p:spPr>
        <p:txBody>
          <a:bodyPr/>
          <a:lstStyle/>
          <a:p>
            <a:pPr eaLnBrk="1" hangingPunct="1"/>
            <a:r>
              <a:rPr lang="en-US" altLang="zh-CN" sz="4000" b="1" dirty="0">
                <a:solidFill>
                  <a:srgbClr val="C00000"/>
                </a:solidFill>
              </a:rPr>
              <a:t>Section J   </a:t>
            </a:r>
            <a:br>
              <a:rPr lang="en-US" altLang="zh-CN" sz="4000" b="1" dirty="0">
                <a:solidFill>
                  <a:srgbClr val="C00000"/>
                </a:solidFill>
              </a:rPr>
            </a:br>
            <a:r>
              <a:rPr lang="en-US" altLang="zh-CN" sz="4000" b="1" dirty="0">
                <a:solidFill>
                  <a:srgbClr val="C00000"/>
                </a:solidFill>
              </a:rPr>
              <a:t>Carbohydrate metabolism</a:t>
            </a:r>
          </a:p>
        </p:txBody>
      </p:sp>
      <p:sp>
        <p:nvSpPr>
          <p:cNvPr id="4099" name="副标题 2"/>
          <p:cNvSpPr>
            <a:spLocks noGrp="1"/>
          </p:cNvSpPr>
          <p:nvPr>
            <p:ph type="subTitle" idx="1"/>
          </p:nvPr>
        </p:nvSpPr>
        <p:spPr>
          <a:xfrm>
            <a:off x="5143500" y="3714750"/>
            <a:ext cx="3214688" cy="1471613"/>
          </a:xfrm>
        </p:spPr>
        <p:txBody>
          <a:bodyPr/>
          <a:lstStyle/>
          <a:p>
            <a:pPr eaLnBrk="1" hangingPunct="1"/>
            <a:r>
              <a:rPr lang="en-US" altLang="zh-CN" sz="2400" b="1" dirty="0" err="1">
                <a:solidFill>
                  <a:schemeClr val="tx1"/>
                </a:solidFill>
              </a:rPr>
              <a:t>Guodong</a:t>
            </a:r>
            <a:r>
              <a:rPr lang="en-US" altLang="zh-CN" sz="2400" b="1" dirty="0">
                <a:solidFill>
                  <a:schemeClr val="tx1"/>
                </a:solidFill>
              </a:rPr>
              <a:t> Yang</a:t>
            </a:r>
          </a:p>
          <a:p>
            <a:pPr eaLnBrk="1" hangingPunct="1"/>
            <a:r>
              <a:rPr lang="en-US" altLang="zh-CN" sz="1600" b="1" dirty="0">
                <a:solidFill>
                  <a:schemeClr val="tx1"/>
                </a:solidFill>
              </a:rPr>
              <a:t>Biochemistry and Molecular Biology, College of Life Sciences</a:t>
            </a:r>
            <a:br>
              <a:rPr lang="en-US" altLang="zh-CN" sz="1600" b="1" dirty="0">
                <a:solidFill>
                  <a:schemeClr val="tx1"/>
                </a:solidFill>
              </a:rPr>
            </a:br>
            <a:endParaRPr lang="en-US" altLang="zh-CN" sz="1600" b="1" dirty="0">
              <a:solidFill>
                <a:schemeClr val="tx1"/>
              </a:solidFill>
            </a:endParaRPr>
          </a:p>
          <a:p>
            <a:pPr eaLnBrk="1" hangingPunct="1"/>
            <a:r>
              <a:rPr lang="en-US" altLang="zh-CN" sz="1600" b="1" dirty="0">
                <a:solidFill>
                  <a:schemeClr val="tx1"/>
                </a:solidFill>
                <a:hlinkClick r:id="rId3"/>
              </a:rPr>
              <a:t>gdyang@sdau.edu.cn</a:t>
            </a:r>
            <a:endParaRPr lang="en-US" altLang="zh-CN" sz="1600" b="1" dirty="0">
              <a:solidFill>
                <a:schemeClr val="tx1"/>
              </a:solidFill>
            </a:endParaRPr>
          </a:p>
          <a:p>
            <a:pPr eaLnBrk="1" hangingPunct="1"/>
            <a:r>
              <a:rPr lang="en-US" altLang="zh-CN" sz="1600" b="1" dirty="0">
                <a:solidFill>
                  <a:schemeClr val="tx1"/>
                </a:solidFill>
              </a:rPr>
              <a:t>13854808762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6833D880-E7EE-4815-9C09-D28440D9A968}"/>
              </a:ext>
            </a:extLst>
          </p:cNvPr>
          <p:cNvGrpSpPr/>
          <p:nvPr/>
        </p:nvGrpSpPr>
        <p:grpSpPr>
          <a:xfrm>
            <a:off x="539552" y="404665"/>
            <a:ext cx="4033397" cy="2529571"/>
            <a:chOff x="539552" y="404665"/>
            <a:chExt cx="4033397" cy="2529571"/>
          </a:xfrm>
        </p:grpSpPr>
        <p:pic>
          <p:nvPicPr>
            <p:cNvPr id="2" name="图片 1">
              <a:extLst>
                <a:ext uri="{FF2B5EF4-FFF2-40B4-BE49-F238E27FC236}">
                  <a16:creationId xmlns:a16="http://schemas.microsoft.com/office/drawing/2014/main" id="{815670BB-006A-43D4-B642-7E4DA1A05B18}"/>
                </a:ext>
              </a:extLst>
            </p:cNvPr>
            <p:cNvPicPr>
              <a:picLocks noChangeAspect="1"/>
            </p:cNvPicPr>
            <p:nvPr/>
          </p:nvPicPr>
          <p:blipFill>
            <a:blip r:embed="rId3" cstate="print"/>
            <a:stretch>
              <a:fillRect/>
            </a:stretch>
          </p:blipFill>
          <p:spPr>
            <a:xfrm>
              <a:off x="539552" y="404665"/>
              <a:ext cx="4033397" cy="2448272"/>
            </a:xfrm>
            <a:prstGeom prst="rect">
              <a:avLst/>
            </a:prstGeom>
          </p:spPr>
        </p:pic>
        <p:sp>
          <p:nvSpPr>
            <p:cNvPr id="4" name="文本框 3">
              <a:extLst>
                <a:ext uri="{FF2B5EF4-FFF2-40B4-BE49-F238E27FC236}">
                  <a16:creationId xmlns:a16="http://schemas.microsoft.com/office/drawing/2014/main" id="{CB0A4611-86BE-46D0-93D3-BC731D7611B3}"/>
                </a:ext>
              </a:extLst>
            </p:cNvPr>
            <p:cNvSpPr txBox="1"/>
            <p:nvPr/>
          </p:nvSpPr>
          <p:spPr>
            <a:xfrm>
              <a:off x="1835696" y="2564904"/>
              <a:ext cx="936104" cy="369332"/>
            </a:xfrm>
            <a:prstGeom prst="rect">
              <a:avLst/>
            </a:prstGeom>
            <a:noFill/>
          </p:spPr>
          <p:txBody>
            <a:bodyPr wrap="square" rtlCol="0">
              <a:spAutoFit/>
            </a:bodyPr>
            <a:lstStyle/>
            <a:p>
              <a:r>
                <a:rPr lang="zh-CN" altLang="en-US" dirty="0"/>
                <a:t>糖果</a:t>
              </a:r>
            </a:p>
          </p:txBody>
        </p:sp>
      </p:grpSp>
      <p:grpSp>
        <p:nvGrpSpPr>
          <p:cNvPr id="7" name="组合 6">
            <a:extLst>
              <a:ext uri="{FF2B5EF4-FFF2-40B4-BE49-F238E27FC236}">
                <a16:creationId xmlns:a16="http://schemas.microsoft.com/office/drawing/2014/main" id="{EE1E54C5-D85D-46E7-9653-7B9F301C0CF9}"/>
              </a:ext>
            </a:extLst>
          </p:cNvPr>
          <p:cNvGrpSpPr/>
          <p:nvPr/>
        </p:nvGrpSpPr>
        <p:grpSpPr>
          <a:xfrm>
            <a:off x="2987824" y="1052736"/>
            <a:ext cx="4139952" cy="2749618"/>
            <a:chOff x="2987824" y="1052736"/>
            <a:chExt cx="4139952" cy="2749618"/>
          </a:xfrm>
        </p:grpSpPr>
        <p:pic>
          <p:nvPicPr>
            <p:cNvPr id="3" name="图片 2">
              <a:extLst>
                <a:ext uri="{FF2B5EF4-FFF2-40B4-BE49-F238E27FC236}">
                  <a16:creationId xmlns:a16="http://schemas.microsoft.com/office/drawing/2014/main" id="{F2FB0090-59BF-4D62-B3BE-242FBD289470}"/>
                </a:ext>
              </a:extLst>
            </p:cNvPr>
            <p:cNvPicPr>
              <a:picLocks noChangeAspect="1"/>
            </p:cNvPicPr>
            <p:nvPr/>
          </p:nvPicPr>
          <p:blipFill>
            <a:blip r:embed="rId4" cstate="print"/>
            <a:stretch>
              <a:fillRect/>
            </a:stretch>
          </p:blipFill>
          <p:spPr>
            <a:xfrm>
              <a:off x="2987824" y="1052736"/>
              <a:ext cx="4139952" cy="2749618"/>
            </a:xfrm>
            <a:prstGeom prst="rect">
              <a:avLst/>
            </a:prstGeom>
          </p:spPr>
        </p:pic>
        <p:sp>
          <p:nvSpPr>
            <p:cNvPr id="6" name="矩形 5">
              <a:extLst>
                <a:ext uri="{FF2B5EF4-FFF2-40B4-BE49-F238E27FC236}">
                  <a16:creationId xmlns:a16="http://schemas.microsoft.com/office/drawing/2014/main" id="{C1709962-5A58-4CD5-BD4F-C08D624CAA8D}"/>
                </a:ext>
              </a:extLst>
            </p:cNvPr>
            <p:cNvSpPr/>
            <p:nvPr/>
          </p:nvSpPr>
          <p:spPr>
            <a:xfrm>
              <a:off x="6084168" y="3433022"/>
              <a:ext cx="646331" cy="369332"/>
            </a:xfrm>
            <a:prstGeom prst="rect">
              <a:avLst/>
            </a:prstGeom>
          </p:spPr>
          <p:txBody>
            <a:bodyPr wrap="none">
              <a:spAutoFit/>
            </a:bodyPr>
            <a:lstStyle/>
            <a:p>
              <a:r>
                <a:rPr lang="zh-CN" altLang="en-US" dirty="0">
                  <a:solidFill>
                    <a:schemeClr val="bg1"/>
                  </a:solidFill>
                </a:rPr>
                <a:t>淀粉</a:t>
              </a:r>
            </a:p>
          </p:txBody>
        </p:sp>
      </p:grpSp>
      <p:grpSp>
        <p:nvGrpSpPr>
          <p:cNvPr id="12" name="组合 11">
            <a:extLst>
              <a:ext uri="{FF2B5EF4-FFF2-40B4-BE49-F238E27FC236}">
                <a16:creationId xmlns:a16="http://schemas.microsoft.com/office/drawing/2014/main" id="{00CF3600-171E-414B-B29E-3C5AB3E2E041}"/>
              </a:ext>
            </a:extLst>
          </p:cNvPr>
          <p:cNvGrpSpPr/>
          <p:nvPr/>
        </p:nvGrpSpPr>
        <p:grpSpPr>
          <a:xfrm>
            <a:off x="269776" y="2996952"/>
            <a:ext cx="4240583" cy="3728193"/>
            <a:chOff x="269776" y="2996952"/>
            <a:chExt cx="4240583" cy="3728193"/>
          </a:xfrm>
        </p:grpSpPr>
        <p:grpSp>
          <p:nvGrpSpPr>
            <p:cNvPr id="11" name="组合 10">
              <a:extLst>
                <a:ext uri="{FF2B5EF4-FFF2-40B4-BE49-F238E27FC236}">
                  <a16:creationId xmlns:a16="http://schemas.microsoft.com/office/drawing/2014/main" id="{420F7BCD-6009-4A5D-8CBB-2D21CA02FDDD}"/>
                </a:ext>
              </a:extLst>
            </p:cNvPr>
            <p:cNvGrpSpPr/>
            <p:nvPr/>
          </p:nvGrpSpPr>
          <p:grpSpPr>
            <a:xfrm>
              <a:off x="269776" y="2996952"/>
              <a:ext cx="4114743" cy="2736304"/>
              <a:chOff x="269776" y="2996952"/>
              <a:chExt cx="4114743" cy="2736304"/>
            </a:xfrm>
          </p:grpSpPr>
          <p:pic>
            <p:nvPicPr>
              <p:cNvPr id="9" name="图片 8">
                <a:extLst>
                  <a:ext uri="{FF2B5EF4-FFF2-40B4-BE49-F238E27FC236}">
                    <a16:creationId xmlns:a16="http://schemas.microsoft.com/office/drawing/2014/main" id="{AB779549-FA8B-4963-B8B1-61B31A7BD440}"/>
                  </a:ext>
                </a:extLst>
              </p:cNvPr>
              <p:cNvPicPr>
                <a:picLocks noChangeAspect="1"/>
              </p:cNvPicPr>
              <p:nvPr/>
            </p:nvPicPr>
            <p:blipFill>
              <a:blip r:embed="rId5" cstate="print"/>
              <a:stretch>
                <a:fillRect/>
              </a:stretch>
            </p:blipFill>
            <p:spPr>
              <a:xfrm>
                <a:off x="269776" y="2996952"/>
                <a:ext cx="4114743" cy="2736304"/>
              </a:xfrm>
              <a:prstGeom prst="rect">
                <a:avLst/>
              </a:prstGeom>
            </p:spPr>
          </p:pic>
          <p:sp>
            <p:nvSpPr>
              <p:cNvPr id="10" name="矩形 9">
                <a:extLst>
                  <a:ext uri="{FF2B5EF4-FFF2-40B4-BE49-F238E27FC236}">
                    <a16:creationId xmlns:a16="http://schemas.microsoft.com/office/drawing/2014/main" id="{CCE7BDEF-75FF-4898-8171-5C79F9DF198C}"/>
                  </a:ext>
                </a:extLst>
              </p:cNvPr>
              <p:cNvSpPr/>
              <p:nvPr/>
            </p:nvSpPr>
            <p:spPr>
              <a:xfrm>
                <a:off x="319212" y="5229200"/>
                <a:ext cx="877163" cy="369332"/>
              </a:xfrm>
              <a:prstGeom prst="rect">
                <a:avLst/>
              </a:prstGeom>
            </p:spPr>
            <p:txBody>
              <a:bodyPr wrap="none">
                <a:spAutoFit/>
              </a:bodyPr>
              <a:lstStyle/>
              <a:p>
                <a:r>
                  <a:rPr lang="zh-CN" altLang="en-US" dirty="0">
                    <a:solidFill>
                      <a:schemeClr val="bg1"/>
                    </a:solidFill>
                  </a:rPr>
                  <a:t>纤维素</a:t>
                </a:r>
              </a:p>
            </p:txBody>
          </p:sp>
        </p:grpSp>
        <p:pic>
          <p:nvPicPr>
            <p:cNvPr id="8" name="图片 7">
              <a:extLst>
                <a:ext uri="{FF2B5EF4-FFF2-40B4-BE49-F238E27FC236}">
                  <a16:creationId xmlns:a16="http://schemas.microsoft.com/office/drawing/2014/main" id="{9A995523-F8C3-4BC4-B4CD-DB47C82493CD}"/>
                </a:ext>
              </a:extLst>
            </p:cNvPr>
            <p:cNvPicPr>
              <a:picLocks noChangeAspect="1"/>
            </p:cNvPicPr>
            <p:nvPr/>
          </p:nvPicPr>
          <p:blipFill>
            <a:blip r:embed="rId6" cstate="print"/>
            <a:stretch>
              <a:fillRect/>
            </a:stretch>
          </p:blipFill>
          <p:spPr>
            <a:xfrm>
              <a:off x="1810667" y="5413866"/>
              <a:ext cx="2699692" cy="1311279"/>
            </a:xfrm>
            <a:prstGeom prst="rect">
              <a:avLst/>
            </a:prstGeom>
          </p:spPr>
        </p:pic>
      </p:grpSp>
      <p:pic>
        <p:nvPicPr>
          <p:cNvPr id="13" name="图片 12">
            <a:extLst>
              <a:ext uri="{FF2B5EF4-FFF2-40B4-BE49-F238E27FC236}">
                <a16:creationId xmlns:a16="http://schemas.microsoft.com/office/drawing/2014/main" id="{6BEC79EE-1C32-47E6-A9D1-6A994A65F178}"/>
              </a:ext>
            </a:extLst>
          </p:cNvPr>
          <p:cNvPicPr>
            <a:picLocks noChangeAspect="1"/>
          </p:cNvPicPr>
          <p:nvPr/>
        </p:nvPicPr>
        <p:blipFill>
          <a:blip r:embed="rId7" cstate="print"/>
          <a:stretch>
            <a:fillRect/>
          </a:stretch>
        </p:blipFill>
        <p:spPr>
          <a:xfrm>
            <a:off x="4860032" y="3757931"/>
            <a:ext cx="3901234" cy="2588319"/>
          </a:xfrm>
          <a:prstGeom prst="rect">
            <a:avLst/>
          </a:prstGeom>
        </p:spPr>
      </p:pic>
      <p:sp>
        <p:nvSpPr>
          <p:cNvPr id="14" name="矩形 13">
            <a:extLst>
              <a:ext uri="{FF2B5EF4-FFF2-40B4-BE49-F238E27FC236}">
                <a16:creationId xmlns:a16="http://schemas.microsoft.com/office/drawing/2014/main" id="{52CC5072-9253-4BDB-9BEF-E0F7C530396D}"/>
              </a:ext>
            </a:extLst>
          </p:cNvPr>
          <p:cNvSpPr/>
          <p:nvPr/>
        </p:nvSpPr>
        <p:spPr>
          <a:xfrm>
            <a:off x="7740352" y="6016351"/>
            <a:ext cx="877163" cy="369332"/>
          </a:xfrm>
          <a:prstGeom prst="rect">
            <a:avLst/>
          </a:prstGeom>
        </p:spPr>
        <p:txBody>
          <a:bodyPr wrap="none">
            <a:spAutoFit/>
          </a:bodyPr>
          <a:lstStyle/>
          <a:p>
            <a:r>
              <a:rPr lang="zh-CN" altLang="en-US" dirty="0">
                <a:solidFill>
                  <a:schemeClr val="bg1"/>
                </a:solidFill>
              </a:rPr>
              <a:t>几丁质</a:t>
            </a:r>
          </a:p>
        </p:txBody>
      </p:sp>
    </p:spTree>
    <p:extLst>
      <p:ext uri="{BB962C8B-B14F-4D97-AF65-F5344CB8AC3E}">
        <p14:creationId xmlns:p14="http://schemas.microsoft.com/office/powerpoint/2010/main" val="1923052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Text Box 2">
            <a:extLst>
              <a:ext uri="{FF2B5EF4-FFF2-40B4-BE49-F238E27FC236}">
                <a16:creationId xmlns:a16="http://schemas.microsoft.com/office/drawing/2014/main" id="{4DF5B707-F28F-4FD1-93F0-6763BD311CC2}"/>
              </a:ext>
            </a:extLst>
          </p:cNvPr>
          <p:cNvSpPr txBox="1">
            <a:spLocks noChangeArrowheads="1"/>
          </p:cNvSpPr>
          <p:nvPr/>
        </p:nvSpPr>
        <p:spPr bwMode="auto">
          <a:xfrm>
            <a:off x="539552" y="620688"/>
            <a:ext cx="8424936" cy="5062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ts val="600"/>
              </a:spcBef>
            </a:pPr>
            <a:r>
              <a:rPr lang="en-US" altLang="zh-CN" sz="3200" b="1" dirty="0">
                <a:solidFill>
                  <a:srgbClr val="C00000"/>
                </a:solidFill>
              </a:rPr>
              <a:t>J1 Monosaccharides and disaccharides</a:t>
            </a:r>
          </a:p>
          <a:p>
            <a:pPr eaLnBrk="1" hangingPunct="1">
              <a:spcBef>
                <a:spcPts val="600"/>
              </a:spcBef>
            </a:pPr>
            <a:r>
              <a:rPr lang="en-US" altLang="zh-CN" sz="3200" b="1" dirty="0">
                <a:solidFill>
                  <a:srgbClr val="C00000"/>
                </a:solidFill>
              </a:rPr>
              <a:t>J2 Oligosaccharides and polysaccharides</a:t>
            </a:r>
          </a:p>
          <a:p>
            <a:pPr eaLnBrk="1" hangingPunct="1">
              <a:spcBef>
                <a:spcPts val="600"/>
              </a:spcBef>
            </a:pPr>
            <a:r>
              <a:rPr lang="en-US" altLang="zh-CN" sz="3200" b="1" dirty="0">
                <a:solidFill>
                  <a:srgbClr val="C00000"/>
                </a:solidFill>
              </a:rPr>
              <a:t>J3 Glycolysis</a:t>
            </a:r>
          </a:p>
          <a:p>
            <a:pPr eaLnBrk="1" hangingPunct="1">
              <a:spcBef>
                <a:spcPts val="600"/>
              </a:spcBef>
            </a:pPr>
            <a:r>
              <a:rPr lang="en-US" altLang="zh-CN" sz="3200" b="1" dirty="0">
                <a:solidFill>
                  <a:srgbClr val="C00000"/>
                </a:solidFill>
              </a:rPr>
              <a:t>     (EMP: Embden-Meyerhof pathway)</a:t>
            </a:r>
          </a:p>
          <a:p>
            <a:pPr>
              <a:spcBef>
                <a:spcPts val="600"/>
              </a:spcBef>
            </a:pPr>
            <a:r>
              <a:rPr lang="en-US" altLang="zh-CN" sz="3200" b="1" dirty="0">
                <a:solidFill>
                  <a:srgbClr val="C00000"/>
                </a:solidFill>
              </a:rPr>
              <a:t>L1 The Citric Acid Cycle </a:t>
            </a:r>
          </a:p>
          <a:p>
            <a:pPr>
              <a:spcBef>
                <a:spcPts val="600"/>
              </a:spcBef>
            </a:pPr>
            <a:r>
              <a:rPr lang="en-US" altLang="zh-CN" sz="3200" b="1" dirty="0">
                <a:solidFill>
                  <a:srgbClr val="C00000"/>
                </a:solidFill>
              </a:rPr>
              <a:t>      (TCA: tricarboxylic acid cycle)</a:t>
            </a:r>
          </a:p>
          <a:p>
            <a:pPr eaLnBrk="1" hangingPunct="1">
              <a:spcBef>
                <a:spcPts val="600"/>
              </a:spcBef>
            </a:pPr>
            <a:r>
              <a:rPr lang="en-US" altLang="zh-CN" sz="3200" b="1" dirty="0">
                <a:solidFill>
                  <a:srgbClr val="C00000"/>
                </a:solidFill>
              </a:rPr>
              <a:t>J5 Pentose phosphate pathway</a:t>
            </a:r>
          </a:p>
          <a:p>
            <a:pPr eaLnBrk="1" hangingPunct="1">
              <a:spcBef>
                <a:spcPts val="600"/>
              </a:spcBef>
            </a:pPr>
            <a:r>
              <a:rPr lang="en-US" altLang="zh-CN" sz="3200" b="1" dirty="0">
                <a:solidFill>
                  <a:srgbClr val="C00000"/>
                </a:solidFill>
              </a:rPr>
              <a:t>J4 Gluconeogenesis </a:t>
            </a:r>
            <a:br>
              <a:rPr lang="en-US" altLang="zh-CN" sz="3200" b="1" dirty="0">
                <a:solidFill>
                  <a:srgbClr val="C00000"/>
                </a:solidFill>
              </a:rPr>
            </a:br>
            <a:r>
              <a:rPr lang="en-US" altLang="zh-CN" sz="3200" b="1" dirty="0">
                <a:solidFill>
                  <a:srgbClr val="C00000"/>
                </a:solidFill>
              </a:rPr>
              <a:t>J6 Metabolism of glycogen, starch and sucrose</a:t>
            </a:r>
            <a:endParaRPr lang="en-US" altLang="zh-CN" sz="3000" b="1" dirty="0">
              <a:solidFill>
                <a:srgbClr val="C00000"/>
              </a:solidFill>
            </a:endParaRPr>
          </a:p>
        </p:txBody>
      </p:sp>
    </p:spTree>
    <p:extLst>
      <p:ext uri="{BB962C8B-B14F-4D97-AF65-F5344CB8AC3E}">
        <p14:creationId xmlns:p14="http://schemas.microsoft.com/office/powerpoint/2010/main" val="26679575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Text Box 2">
            <a:extLst>
              <a:ext uri="{FF2B5EF4-FFF2-40B4-BE49-F238E27FC236}">
                <a16:creationId xmlns:a16="http://schemas.microsoft.com/office/drawing/2014/main" id="{4DF5B707-F28F-4FD1-93F0-6763BD311CC2}"/>
              </a:ext>
            </a:extLst>
          </p:cNvPr>
          <p:cNvSpPr txBox="1">
            <a:spLocks noChangeArrowheads="1"/>
          </p:cNvSpPr>
          <p:nvPr/>
        </p:nvSpPr>
        <p:spPr bwMode="auto">
          <a:xfrm>
            <a:off x="990600" y="2209800"/>
            <a:ext cx="8153400"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4000" dirty="0">
                <a:solidFill>
                  <a:srgbClr val="C00000"/>
                </a:solidFill>
              </a:rPr>
              <a:t>        J1 </a:t>
            </a:r>
            <a:r>
              <a:rPr lang="en-US" altLang="zh-CN" sz="4000" b="1" dirty="0">
                <a:solidFill>
                  <a:srgbClr val="C00000"/>
                </a:solidFill>
              </a:rPr>
              <a:t>Monosaccharides </a:t>
            </a:r>
          </a:p>
          <a:p>
            <a:pPr eaLnBrk="1" hangingPunct="1">
              <a:spcBef>
                <a:spcPct val="50000"/>
              </a:spcBef>
            </a:pPr>
            <a:r>
              <a:rPr lang="en-US" altLang="zh-CN" sz="4000" b="1" dirty="0">
                <a:solidFill>
                  <a:srgbClr val="C00000"/>
                </a:solidFill>
              </a:rPr>
              <a:t>          and disaccharides</a:t>
            </a:r>
          </a:p>
        </p:txBody>
      </p:sp>
    </p:spTree>
    <p:extLst>
      <p:ext uri="{BB962C8B-B14F-4D97-AF65-F5344CB8AC3E}">
        <p14:creationId xmlns:p14="http://schemas.microsoft.com/office/powerpoint/2010/main" val="11744000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Text Box 2">
            <a:extLst>
              <a:ext uri="{FF2B5EF4-FFF2-40B4-BE49-F238E27FC236}">
                <a16:creationId xmlns:a16="http://schemas.microsoft.com/office/drawing/2014/main" id="{122067F7-A025-4DAA-931B-5D6F487D25A4}"/>
              </a:ext>
            </a:extLst>
          </p:cNvPr>
          <p:cNvSpPr txBox="1">
            <a:spLocks noChangeArrowheads="1"/>
          </p:cNvSpPr>
          <p:nvPr/>
        </p:nvSpPr>
        <p:spPr bwMode="auto">
          <a:xfrm>
            <a:off x="506760" y="332656"/>
            <a:ext cx="8435280"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742950" indent="-742950" algn="ctr" eaLnBrk="1" hangingPunct="1">
              <a:spcBef>
                <a:spcPct val="50000"/>
              </a:spcBef>
              <a:buAutoNum type="arabicPeriod"/>
            </a:pPr>
            <a:r>
              <a:rPr lang="en-US" altLang="zh-CN" sz="4000" b="1" dirty="0">
                <a:solidFill>
                  <a:srgbClr val="0000FF"/>
                </a:solidFill>
              </a:rPr>
              <a:t>Monosaccharide</a:t>
            </a:r>
          </a:p>
          <a:p>
            <a:pPr eaLnBrk="1" hangingPunct="1">
              <a:spcBef>
                <a:spcPct val="50000"/>
              </a:spcBef>
            </a:pPr>
            <a:r>
              <a:rPr lang="en-US" altLang="zh-CN" sz="4000" b="1" dirty="0">
                <a:solidFill>
                  <a:srgbClr val="0000FF"/>
                </a:solidFill>
              </a:rPr>
              <a:t>Aldoses (</a:t>
            </a:r>
            <a:r>
              <a:rPr lang="zh-CN" altLang="en-US" sz="4000" b="1" dirty="0">
                <a:solidFill>
                  <a:srgbClr val="0000FF"/>
                </a:solidFill>
              </a:rPr>
              <a:t>醛糖） </a:t>
            </a:r>
            <a:r>
              <a:rPr lang="en-US" altLang="zh-CN" sz="4000" b="1" dirty="0">
                <a:solidFill>
                  <a:srgbClr val="0000FF"/>
                </a:solidFill>
              </a:rPr>
              <a:t>and ketoses</a:t>
            </a:r>
            <a:r>
              <a:rPr lang="zh-CN" altLang="en-US" sz="4000" b="1" dirty="0">
                <a:solidFill>
                  <a:srgbClr val="0000FF"/>
                </a:solidFill>
              </a:rPr>
              <a:t>（酮糖）</a:t>
            </a:r>
          </a:p>
        </p:txBody>
      </p:sp>
      <p:sp>
        <p:nvSpPr>
          <p:cNvPr id="270339" name="Text Box 3">
            <a:extLst>
              <a:ext uri="{FF2B5EF4-FFF2-40B4-BE49-F238E27FC236}">
                <a16:creationId xmlns:a16="http://schemas.microsoft.com/office/drawing/2014/main" id="{A9855380-BB80-49FA-8987-A8AC02FA80E6}"/>
              </a:ext>
            </a:extLst>
          </p:cNvPr>
          <p:cNvSpPr txBox="1">
            <a:spLocks noChangeArrowheads="1"/>
          </p:cNvSpPr>
          <p:nvPr/>
        </p:nvSpPr>
        <p:spPr bwMode="auto">
          <a:xfrm>
            <a:off x="990600" y="2133600"/>
            <a:ext cx="7467600" cy="272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en-US" altLang="zh-CN" sz="3600" dirty="0"/>
              <a:t>A monosaccharide has the general formula (CH</a:t>
            </a:r>
            <a:r>
              <a:rPr lang="en-US" altLang="zh-CN" sz="3600" baseline="-25000" dirty="0"/>
              <a:t>2</a:t>
            </a:r>
            <a:r>
              <a:rPr lang="en-US" altLang="zh-CN" sz="3600" dirty="0"/>
              <a:t>O)</a:t>
            </a:r>
            <a:r>
              <a:rPr lang="en-US" altLang="zh-CN" sz="3600" baseline="-25000" dirty="0"/>
              <a:t>n </a:t>
            </a:r>
            <a:r>
              <a:rPr lang="en-US" altLang="zh-CN" sz="3600" dirty="0"/>
              <a:t> and contains either an aldehyde group (an aldose) or a ketone group (a ketose).</a:t>
            </a:r>
            <a:endParaRPr lang="en-US" altLang="zh-CN" sz="3600" baseline="-25000" dirty="0"/>
          </a:p>
        </p:txBody>
      </p:sp>
    </p:spTree>
    <p:extLst>
      <p:ext uri="{BB962C8B-B14F-4D97-AF65-F5344CB8AC3E}">
        <p14:creationId xmlns:p14="http://schemas.microsoft.com/office/powerpoint/2010/main" val="30917998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1362" name="Picture 2" descr="F09-01a.GIF002                                                 00005046Sumanas' Hard Drive            B4EBCDA7:">
            <a:extLst>
              <a:ext uri="{FF2B5EF4-FFF2-40B4-BE49-F238E27FC236}">
                <a16:creationId xmlns:a16="http://schemas.microsoft.com/office/drawing/2014/main" id="{E0417223-FC88-466F-B04F-F5228AD7FFD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9600" y="808038"/>
            <a:ext cx="7543800" cy="5745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圆角 1">
            <a:extLst>
              <a:ext uri="{FF2B5EF4-FFF2-40B4-BE49-F238E27FC236}">
                <a16:creationId xmlns:a16="http://schemas.microsoft.com/office/drawing/2014/main" id="{E51523FC-0F78-47B2-82AA-ECD3E876BAAC}"/>
              </a:ext>
            </a:extLst>
          </p:cNvPr>
          <p:cNvSpPr/>
          <p:nvPr/>
        </p:nvSpPr>
        <p:spPr>
          <a:xfrm>
            <a:off x="683568" y="4869160"/>
            <a:ext cx="3312368" cy="1008112"/>
          </a:xfrm>
          <a:prstGeom prst="round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矩形: 圆角 3">
            <a:extLst>
              <a:ext uri="{FF2B5EF4-FFF2-40B4-BE49-F238E27FC236}">
                <a16:creationId xmlns:a16="http://schemas.microsoft.com/office/drawing/2014/main" id="{0BB6B42A-1203-4EE1-B145-254048532446}"/>
              </a:ext>
            </a:extLst>
          </p:cNvPr>
          <p:cNvSpPr/>
          <p:nvPr/>
        </p:nvSpPr>
        <p:spPr>
          <a:xfrm>
            <a:off x="4283968" y="4869160"/>
            <a:ext cx="3869432" cy="1008112"/>
          </a:xfrm>
          <a:prstGeom prst="round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6072466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7090" name="Picture 2" descr="F09-03a.GIF007                                                 00005046Sumanas' Hard Drive            B4EBCDA7:">
            <a:extLst>
              <a:ext uri="{FF2B5EF4-FFF2-40B4-BE49-F238E27FC236}">
                <a16:creationId xmlns:a16="http://schemas.microsoft.com/office/drawing/2014/main" id="{2D29B38A-0C57-4262-B84C-CC7D56BE996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3400" y="1270000"/>
            <a:ext cx="8026400" cy="497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7091" name="Text Box 3">
            <a:extLst>
              <a:ext uri="{FF2B5EF4-FFF2-40B4-BE49-F238E27FC236}">
                <a16:creationId xmlns:a16="http://schemas.microsoft.com/office/drawing/2014/main" id="{39AA1225-CF58-478D-9E11-7368BC5F1E57}"/>
              </a:ext>
            </a:extLst>
          </p:cNvPr>
          <p:cNvSpPr txBox="1">
            <a:spLocks noChangeArrowheads="1"/>
          </p:cNvSpPr>
          <p:nvPr/>
        </p:nvSpPr>
        <p:spPr bwMode="auto">
          <a:xfrm>
            <a:off x="838200" y="304800"/>
            <a:ext cx="556260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4800">
                <a:solidFill>
                  <a:srgbClr val="0000FF"/>
                </a:solidFill>
              </a:rPr>
              <a:t>Aldoses</a:t>
            </a:r>
            <a:r>
              <a:rPr lang="en-US" altLang="zh-CN"/>
              <a:t> </a:t>
            </a:r>
          </a:p>
        </p:txBody>
      </p:sp>
      <p:sp>
        <p:nvSpPr>
          <p:cNvPr id="5" name="Text Box 3">
            <a:extLst>
              <a:ext uri="{FF2B5EF4-FFF2-40B4-BE49-F238E27FC236}">
                <a16:creationId xmlns:a16="http://schemas.microsoft.com/office/drawing/2014/main" id="{FE0D89DA-B4E8-4391-B7CF-690F625E015F}"/>
              </a:ext>
            </a:extLst>
          </p:cNvPr>
          <p:cNvSpPr txBox="1">
            <a:spLocks noChangeArrowheads="1"/>
          </p:cNvSpPr>
          <p:nvPr/>
        </p:nvSpPr>
        <p:spPr bwMode="auto">
          <a:xfrm>
            <a:off x="2123728" y="3302000"/>
            <a:ext cx="20574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400" b="1" dirty="0">
                <a:solidFill>
                  <a:srgbClr val="0000FF"/>
                </a:solidFill>
              </a:rPr>
              <a:t>(</a:t>
            </a:r>
            <a:r>
              <a:rPr lang="zh-CN" altLang="en-US" sz="1400" b="1" dirty="0">
                <a:solidFill>
                  <a:srgbClr val="0000FF"/>
                </a:solidFill>
              </a:rPr>
              <a:t>赤藓糖）</a:t>
            </a:r>
          </a:p>
        </p:txBody>
      </p:sp>
      <p:sp>
        <p:nvSpPr>
          <p:cNvPr id="6" name="Text Box 4">
            <a:extLst>
              <a:ext uri="{FF2B5EF4-FFF2-40B4-BE49-F238E27FC236}">
                <a16:creationId xmlns:a16="http://schemas.microsoft.com/office/drawing/2014/main" id="{9E768CA0-293E-443F-A4B6-FC7C1D2E11DE}"/>
              </a:ext>
            </a:extLst>
          </p:cNvPr>
          <p:cNvSpPr txBox="1">
            <a:spLocks noChangeArrowheads="1"/>
          </p:cNvSpPr>
          <p:nvPr/>
        </p:nvSpPr>
        <p:spPr bwMode="auto">
          <a:xfrm>
            <a:off x="5508104" y="3291633"/>
            <a:ext cx="252028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1400" b="1" dirty="0">
                <a:solidFill>
                  <a:srgbClr val="0000FF"/>
                </a:solidFill>
              </a:rPr>
              <a:t>阿拉伯糖             木糖</a:t>
            </a:r>
          </a:p>
        </p:txBody>
      </p:sp>
      <p:sp>
        <p:nvSpPr>
          <p:cNvPr id="7" name="Text Box 3">
            <a:extLst>
              <a:ext uri="{FF2B5EF4-FFF2-40B4-BE49-F238E27FC236}">
                <a16:creationId xmlns:a16="http://schemas.microsoft.com/office/drawing/2014/main" id="{254CD8E8-77FA-43B1-B11A-B72EC05AFB3E}"/>
              </a:ext>
            </a:extLst>
          </p:cNvPr>
          <p:cNvSpPr txBox="1">
            <a:spLocks noChangeArrowheads="1"/>
          </p:cNvSpPr>
          <p:nvPr/>
        </p:nvSpPr>
        <p:spPr bwMode="auto">
          <a:xfrm>
            <a:off x="2775520" y="5672790"/>
            <a:ext cx="64770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1400" b="1" dirty="0">
                <a:solidFill>
                  <a:srgbClr val="0000FF"/>
                </a:solidFill>
              </a:rPr>
              <a:t>葡萄糖      甘露糖                                                      半乳糖</a:t>
            </a:r>
          </a:p>
        </p:txBody>
      </p:sp>
      <p:sp>
        <p:nvSpPr>
          <p:cNvPr id="8" name="动作按钮: 前进或下一项 7">
            <a:hlinkClick r:id="rId4" action="ppaction://hlinksldjump" highlightClick="1"/>
            <a:extLst>
              <a:ext uri="{FF2B5EF4-FFF2-40B4-BE49-F238E27FC236}">
                <a16:creationId xmlns:a16="http://schemas.microsoft.com/office/drawing/2014/main" id="{CCC7301C-EEF4-4F7D-A738-94377E03921A}"/>
              </a:ext>
            </a:extLst>
          </p:cNvPr>
          <p:cNvSpPr/>
          <p:nvPr/>
        </p:nvSpPr>
        <p:spPr>
          <a:xfrm>
            <a:off x="8316416" y="6381328"/>
            <a:ext cx="360040" cy="288032"/>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10412000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8114" name="Picture 2" descr="F09-03a1.gif                                                   00005ADESumanas' Hard Drive            B4EBCDA7:">
            <a:extLst>
              <a:ext uri="{FF2B5EF4-FFF2-40B4-BE49-F238E27FC236}">
                <a16:creationId xmlns:a16="http://schemas.microsoft.com/office/drawing/2014/main" id="{C0DBF40A-171F-4077-9B0F-5C5CEC2FCCB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39752" y="33469"/>
            <a:ext cx="4318000" cy="635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206896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6306" name="Picture 2" descr="F09-03b.GIF008                                                 00005046Sumanas' Hard Drive            B4EBCDA7:">
            <a:extLst>
              <a:ext uri="{FF2B5EF4-FFF2-40B4-BE49-F238E27FC236}">
                <a16:creationId xmlns:a16="http://schemas.microsoft.com/office/drawing/2014/main" id="{760E391B-B872-4A46-9982-2AAA8137506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5800" y="33338"/>
            <a:ext cx="6934200" cy="659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6307" name="Text Box 3">
            <a:extLst>
              <a:ext uri="{FF2B5EF4-FFF2-40B4-BE49-F238E27FC236}">
                <a16:creationId xmlns:a16="http://schemas.microsoft.com/office/drawing/2014/main" id="{0C4AB982-4845-44D5-B34E-E05A5C3BDAC9}"/>
              </a:ext>
            </a:extLst>
          </p:cNvPr>
          <p:cNvSpPr txBox="1">
            <a:spLocks noChangeArrowheads="1"/>
          </p:cNvSpPr>
          <p:nvPr/>
        </p:nvSpPr>
        <p:spPr bwMode="auto">
          <a:xfrm>
            <a:off x="6660232" y="6096000"/>
            <a:ext cx="19812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4400" dirty="0">
                <a:solidFill>
                  <a:srgbClr val="0000FF"/>
                </a:solidFill>
              </a:rPr>
              <a:t>Ketoses</a:t>
            </a:r>
          </a:p>
        </p:txBody>
      </p:sp>
      <p:sp>
        <p:nvSpPr>
          <p:cNvPr id="2" name="矩形 1">
            <a:extLst>
              <a:ext uri="{FF2B5EF4-FFF2-40B4-BE49-F238E27FC236}">
                <a16:creationId xmlns:a16="http://schemas.microsoft.com/office/drawing/2014/main" id="{E6F63B5D-B93C-4683-9AD4-B15BC46E7C5D}"/>
              </a:ext>
            </a:extLst>
          </p:cNvPr>
          <p:cNvSpPr/>
          <p:nvPr/>
        </p:nvSpPr>
        <p:spPr>
          <a:xfrm>
            <a:off x="5100163" y="2756182"/>
            <a:ext cx="877163" cy="369332"/>
          </a:xfrm>
          <a:prstGeom prst="rect">
            <a:avLst/>
          </a:prstGeom>
        </p:spPr>
        <p:txBody>
          <a:bodyPr wrap="none">
            <a:spAutoFit/>
          </a:bodyPr>
          <a:lstStyle/>
          <a:p>
            <a:r>
              <a:rPr lang="zh-CN" altLang="en-US" dirty="0">
                <a:solidFill>
                  <a:srgbClr val="0000FF"/>
                </a:solidFill>
              </a:rPr>
              <a:t>核酮糖</a:t>
            </a:r>
          </a:p>
        </p:txBody>
      </p:sp>
      <p:sp>
        <p:nvSpPr>
          <p:cNvPr id="3" name="矩形 2">
            <a:extLst>
              <a:ext uri="{FF2B5EF4-FFF2-40B4-BE49-F238E27FC236}">
                <a16:creationId xmlns:a16="http://schemas.microsoft.com/office/drawing/2014/main" id="{A5C3C90F-C368-486F-87BD-B1286065B7CF}"/>
              </a:ext>
            </a:extLst>
          </p:cNvPr>
          <p:cNvSpPr/>
          <p:nvPr/>
        </p:nvSpPr>
        <p:spPr>
          <a:xfrm>
            <a:off x="3226658" y="2756182"/>
            <a:ext cx="1107996" cy="369332"/>
          </a:xfrm>
          <a:prstGeom prst="rect">
            <a:avLst/>
          </a:prstGeom>
        </p:spPr>
        <p:txBody>
          <a:bodyPr wrap="none">
            <a:spAutoFit/>
          </a:bodyPr>
          <a:lstStyle/>
          <a:p>
            <a:r>
              <a:rPr lang="zh-CN" altLang="en-US" dirty="0">
                <a:solidFill>
                  <a:srgbClr val="0000FF"/>
                </a:solidFill>
              </a:rPr>
              <a:t>赤藓酮糖</a:t>
            </a:r>
          </a:p>
        </p:txBody>
      </p:sp>
      <p:sp>
        <p:nvSpPr>
          <p:cNvPr id="4" name="矩形 3">
            <a:extLst>
              <a:ext uri="{FF2B5EF4-FFF2-40B4-BE49-F238E27FC236}">
                <a16:creationId xmlns:a16="http://schemas.microsoft.com/office/drawing/2014/main" id="{39E23678-19ED-409D-8C83-9D15B0086D9B}"/>
              </a:ext>
            </a:extLst>
          </p:cNvPr>
          <p:cNvSpPr/>
          <p:nvPr/>
        </p:nvSpPr>
        <p:spPr>
          <a:xfrm>
            <a:off x="6304253" y="2756182"/>
            <a:ext cx="877163" cy="369332"/>
          </a:xfrm>
          <a:prstGeom prst="rect">
            <a:avLst/>
          </a:prstGeom>
        </p:spPr>
        <p:txBody>
          <a:bodyPr wrap="none">
            <a:spAutoFit/>
          </a:bodyPr>
          <a:lstStyle/>
          <a:p>
            <a:r>
              <a:rPr lang="zh-CN" altLang="en-US" dirty="0">
                <a:solidFill>
                  <a:srgbClr val="0000FF"/>
                </a:solidFill>
              </a:rPr>
              <a:t>木酮糖</a:t>
            </a:r>
          </a:p>
        </p:txBody>
      </p:sp>
      <p:sp>
        <p:nvSpPr>
          <p:cNvPr id="7" name="矩形 6">
            <a:extLst>
              <a:ext uri="{FF2B5EF4-FFF2-40B4-BE49-F238E27FC236}">
                <a16:creationId xmlns:a16="http://schemas.microsoft.com/office/drawing/2014/main" id="{41A705FD-6C56-409F-A4E8-4CEEE7FACAAA}"/>
              </a:ext>
            </a:extLst>
          </p:cNvPr>
          <p:cNvSpPr/>
          <p:nvPr/>
        </p:nvSpPr>
        <p:spPr>
          <a:xfrm>
            <a:off x="1181910" y="2756182"/>
            <a:ext cx="1107996" cy="369332"/>
          </a:xfrm>
          <a:prstGeom prst="rect">
            <a:avLst/>
          </a:prstGeom>
        </p:spPr>
        <p:txBody>
          <a:bodyPr wrap="none">
            <a:spAutoFit/>
          </a:bodyPr>
          <a:lstStyle/>
          <a:p>
            <a:r>
              <a:rPr lang="zh-CN" altLang="en-US" dirty="0">
                <a:solidFill>
                  <a:srgbClr val="0000FF"/>
                </a:solidFill>
              </a:rPr>
              <a:t>二羟丙酮</a:t>
            </a:r>
            <a:endParaRPr lang="en-US" altLang="zh-CN" dirty="0">
              <a:solidFill>
                <a:srgbClr val="0000FF"/>
              </a:solidFill>
            </a:endParaRPr>
          </a:p>
        </p:txBody>
      </p:sp>
      <p:sp>
        <p:nvSpPr>
          <p:cNvPr id="8" name="矩形 7">
            <a:extLst>
              <a:ext uri="{FF2B5EF4-FFF2-40B4-BE49-F238E27FC236}">
                <a16:creationId xmlns:a16="http://schemas.microsoft.com/office/drawing/2014/main" id="{CD72A9E9-A972-4BD6-AB0D-E928F20828AB}"/>
              </a:ext>
            </a:extLst>
          </p:cNvPr>
          <p:cNvSpPr/>
          <p:nvPr/>
        </p:nvSpPr>
        <p:spPr>
          <a:xfrm>
            <a:off x="2915816" y="5761249"/>
            <a:ext cx="646331" cy="369332"/>
          </a:xfrm>
          <a:prstGeom prst="rect">
            <a:avLst/>
          </a:prstGeom>
        </p:spPr>
        <p:txBody>
          <a:bodyPr wrap="none">
            <a:spAutoFit/>
          </a:bodyPr>
          <a:lstStyle/>
          <a:p>
            <a:r>
              <a:rPr lang="zh-CN" altLang="en-US" dirty="0">
                <a:solidFill>
                  <a:srgbClr val="0000FF"/>
                </a:solidFill>
              </a:rPr>
              <a:t>果糖</a:t>
            </a:r>
          </a:p>
        </p:txBody>
      </p:sp>
      <p:sp>
        <p:nvSpPr>
          <p:cNvPr id="9" name="动作按钮: 前进或下一项 8">
            <a:hlinkClick r:id="rId4" action="ppaction://hlinksldjump" highlightClick="1"/>
            <a:extLst>
              <a:ext uri="{FF2B5EF4-FFF2-40B4-BE49-F238E27FC236}">
                <a16:creationId xmlns:a16="http://schemas.microsoft.com/office/drawing/2014/main" id="{88B37311-BC5D-4BB3-931A-9832165E47D0}"/>
              </a:ext>
            </a:extLst>
          </p:cNvPr>
          <p:cNvSpPr/>
          <p:nvPr/>
        </p:nvSpPr>
        <p:spPr>
          <a:xfrm>
            <a:off x="8748464" y="6381328"/>
            <a:ext cx="360040" cy="288032"/>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20899049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Text Box 3">
            <a:extLst>
              <a:ext uri="{FF2B5EF4-FFF2-40B4-BE49-F238E27FC236}">
                <a16:creationId xmlns:a16="http://schemas.microsoft.com/office/drawing/2014/main" id="{673463A4-CB20-4377-A024-AB4E44EB3518}"/>
              </a:ext>
            </a:extLst>
          </p:cNvPr>
          <p:cNvSpPr txBox="1">
            <a:spLocks noChangeArrowheads="1"/>
          </p:cNvSpPr>
          <p:nvPr/>
        </p:nvSpPr>
        <p:spPr bwMode="auto">
          <a:xfrm>
            <a:off x="990600" y="762000"/>
            <a:ext cx="7391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4000" b="1" dirty="0">
                <a:solidFill>
                  <a:srgbClr val="0000FF"/>
                </a:solidFill>
              </a:rPr>
              <a:t>1.1.Stereoisomers</a:t>
            </a:r>
            <a:r>
              <a:rPr lang="en-US" altLang="zh-CN" sz="4000" dirty="0">
                <a:solidFill>
                  <a:srgbClr val="0000FF"/>
                </a:solidFill>
              </a:rPr>
              <a:t> </a:t>
            </a:r>
          </a:p>
        </p:txBody>
      </p:sp>
      <p:sp>
        <p:nvSpPr>
          <p:cNvPr id="272387" name="Text Box 4">
            <a:extLst>
              <a:ext uri="{FF2B5EF4-FFF2-40B4-BE49-F238E27FC236}">
                <a16:creationId xmlns:a16="http://schemas.microsoft.com/office/drawing/2014/main" id="{C4FDAEEF-BE91-4463-B272-B185153825A8}"/>
              </a:ext>
            </a:extLst>
          </p:cNvPr>
          <p:cNvSpPr txBox="1">
            <a:spLocks noChangeArrowheads="1"/>
          </p:cNvSpPr>
          <p:nvPr/>
        </p:nvSpPr>
        <p:spPr bwMode="auto">
          <a:xfrm>
            <a:off x="990600" y="2057400"/>
            <a:ext cx="7467600" cy="228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600" dirty="0"/>
              <a:t>The D and L stereoisomers of sugars refer to the configuration of the asymmetric carbon atom </a:t>
            </a:r>
            <a:r>
              <a:rPr lang="en-US" altLang="zh-CN" sz="3600" b="1" dirty="0">
                <a:solidFill>
                  <a:srgbClr val="FF0000"/>
                </a:solidFill>
              </a:rPr>
              <a:t>furthest </a:t>
            </a:r>
            <a:r>
              <a:rPr lang="en-US" altLang="zh-CN" sz="3600" dirty="0"/>
              <a:t>from the aldehyde or ketone group.</a:t>
            </a:r>
          </a:p>
        </p:txBody>
      </p:sp>
    </p:spTree>
    <p:extLst>
      <p:ext uri="{BB962C8B-B14F-4D97-AF65-F5344CB8AC3E}">
        <p14:creationId xmlns:p14="http://schemas.microsoft.com/office/powerpoint/2010/main" val="24868956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4018" name="Picture 2" descr="F09-02-left.GIF005                                             00005046Sumanas' Hard Drive            B4EBCDA7:">
            <a:extLst>
              <a:ext uri="{FF2B5EF4-FFF2-40B4-BE49-F238E27FC236}">
                <a16:creationId xmlns:a16="http://schemas.microsoft.com/office/drawing/2014/main" id="{1CCDBEEB-C129-4471-90FB-E0AAC696AFD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05000" y="711200"/>
            <a:ext cx="53340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38617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42" name="Picture 2" descr="F09-02-right.GIF006                                            00005046Sumanas' Hard Drive            B4EBCDA7:">
            <a:extLst>
              <a:ext uri="{FF2B5EF4-FFF2-40B4-BE49-F238E27FC236}">
                <a16:creationId xmlns:a16="http://schemas.microsoft.com/office/drawing/2014/main" id="{61E408C3-F600-4134-9949-67C97CE084C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81200" y="711200"/>
            <a:ext cx="51816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806476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6066" name="Picture 2" descr="F09-01b.GIF003                                                 00005046Sumanas' Hard Drive            B4EBCDA7:">
            <a:extLst>
              <a:ext uri="{FF2B5EF4-FFF2-40B4-BE49-F238E27FC236}">
                <a16:creationId xmlns:a16="http://schemas.microsoft.com/office/drawing/2014/main" id="{AEBE2D72-B9AF-40C6-904E-C3EA6E76D23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b="6976"/>
          <a:stretch>
            <a:fillRect/>
          </a:stretch>
        </p:blipFill>
        <p:spPr bwMode="auto">
          <a:xfrm>
            <a:off x="1325563" y="304800"/>
            <a:ext cx="6446837" cy="60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圆角 1">
            <a:extLst>
              <a:ext uri="{FF2B5EF4-FFF2-40B4-BE49-F238E27FC236}">
                <a16:creationId xmlns:a16="http://schemas.microsoft.com/office/drawing/2014/main" id="{CF20298F-53D6-4F26-89A6-A944031FB82D}"/>
              </a:ext>
            </a:extLst>
          </p:cNvPr>
          <p:cNvSpPr/>
          <p:nvPr/>
        </p:nvSpPr>
        <p:spPr>
          <a:xfrm>
            <a:off x="3059832" y="4005064"/>
            <a:ext cx="864096" cy="504056"/>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C00000"/>
              </a:solidFill>
            </a:endParaRPr>
          </a:p>
        </p:txBody>
      </p:sp>
      <p:sp>
        <p:nvSpPr>
          <p:cNvPr id="7" name="矩形: 圆角 6">
            <a:extLst>
              <a:ext uri="{FF2B5EF4-FFF2-40B4-BE49-F238E27FC236}">
                <a16:creationId xmlns:a16="http://schemas.microsoft.com/office/drawing/2014/main" id="{E22F8965-F516-4CCE-AD4D-8DAB1E9BF5EC}"/>
              </a:ext>
            </a:extLst>
          </p:cNvPr>
          <p:cNvSpPr/>
          <p:nvPr/>
        </p:nvSpPr>
        <p:spPr>
          <a:xfrm>
            <a:off x="6804248" y="4005064"/>
            <a:ext cx="864096" cy="504056"/>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C00000"/>
              </a:solidFill>
            </a:endParaRPr>
          </a:p>
        </p:txBody>
      </p:sp>
      <p:sp>
        <p:nvSpPr>
          <p:cNvPr id="8" name="矩形: 圆角 7">
            <a:extLst>
              <a:ext uri="{FF2B5EF4-FFF2-40B4-BE49-F238E27FC236}">
                <a16:creationId xmlns:a16="http://schemas.microsoft.com/office/drawing/2014/main" id="{949D2A22-6E9B-44BD-A1BC-F6F5B3D7FE2D}"/>
              </a:ext>
            </a:extLst>
          </p:cNvPr>
          <p:cNvSpPr/>
          <p:nvPr/>
        </p:nvSpPr>
        <p:spPr>
          <a:xfrm>
            <a:off x="1115616" y="5301208"/>
            <a:ext cx="3312368" cy="1008112"/>
          </a:xfrm>
          <a:prstGeom prst="round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圆角 8">
            <a:extLst>
              <a:ext uri="{FF2B5EF4-FFF2-40B4-BE49-F238E27FC236}">
                <a16:creationId xmlns:a16="http://schemas.microsoft.com/office/drawing/2014/main" id="{D6314185-947C-4E34-8CB5-AE8763C6ED45}"/>
              </a:ext>
            </a:extLst>
          </p:cNvPr>
          <p:cNvSpPr/>
          <p:nvPr/>
        </p:nvSpPr>
        <p:spPr>
          <a:xfrm>
            <a:off x="4644008" y="5301208"/>
            <a:ext cx="3312368" cy="1008112"/>
          </a:xfrm>
          <a:prstGeom prst="round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18731338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4498" name="Picture 2" descr="F09-04.0.GIF009                                                00005046Sumanas' Hard Drive            B4EBCDA7:">
            <a:extLst>
              <a:ext uri="{FF2B5EF4-FFF2-40B4-BE49-F238E27FC236}">
                <a16:creationId xmlns:a16="http://schemas.microsoft.com/office/drawing/2014/main" id="{556D2B85-138A-445A-8BCC-D46A5A3EC15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3568" y="620688"/>
            <a:ext cx="8026400" cy="408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a:extLst>
              <a:ext uri="{FF2B5EF4-FFF2-40B4-BE49-F238E27FC236}">
                <a16:creationId xmlns:a16="http://schemas.microsoft.com/office/drawing/2014/main" id="{381EEFF3-E6B6-B693-D482-7681E439055B}"/>
              </a:ext>
            </a:extLst>
          </p:cNvPr>
          <p:cNvSpPr txBox="1"/>
          <p:nvPr/>
        </p:nvSpPr>
        <p:spPr>
          <a:xfrm>
            <a:off x="827584" y="5085184"/>
            <a:ext cx="7668344" cy="954107"/>
          </a:xfrm>
          <a:prstGeom prst="rect">
            <a:avLst/>
          </a:prstGeom>
          <a:noFill/>
        </p:spPr>
        <p:txBody>
          <a:bodyPr wrap="square">
            <a:spAutoFit/>
          </a:bodyPr>
          <a:lstStyle/>
          <a:p>
            <a:r>
              <a:rPr lang="en-US" altLang="zh-CN" sz="2800" b="0" i="0" dirty="0">
                <a:solidFill>
                  <a:srgbClr val="000000"/>
                </a:solidFill>
                <a:effectLst/>
                <a:latin typeface="TimesNewRomanPSMT"/>
              </a:rPr>
              <a:t>Two sugars that differ only in the configuration around one carbon atom are called </a:t>
            </a:r>
            <a:r>
              <a:rPr lang="en-US" altLang="zh-CN" sz="2800" b="1" dirty="0">
                <a:solidFill>
                  <a:srgbClr val="FF0000"/>
                </a:solidFill>
              </a:rPr>
              <a:t>epimer.</a:t>
            </a:r>
            <a:endParaRPr lang="zh-CN" altLang="en-US" sz="2800" b="1" dirty="0">
              <a:solidFill>
                <a:srgbClr val="FF0000"/>
              </a:solidFill>
            </a:endParaRPr>
          </a:p>
        </p:txBody>
      </p:sp>
    </p:spTree>
    <p:extLst>
      <p:ext uri="{BB962C8B-B14F-4D97-AF65-F5344CB8AC3E}">
        <p14:creationId xmlns:p14="http://schemas.microsoft.com/office/powerpoint/2010/main" val="22063751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8" name="Picture 4" descr="RIBOSE"/>
          <p:cNvPicPr>
            <a:picLocks noGrp="1" noChangeAspect="1" noChangeArrowheads="1"/>
          </p:cNvPicPr>
          <p:nvPr>
            <p:ph sz="half" idx="4294967295"/>
          </p:nvPr>
        </p:nvPicPr>
        <p:blipFill>
          <a:blip r:embed="rId3" cstate="print">
            <a:extLst>
              <a:ext uri="{28A0092B-C50C-407E-A947-70E740481C1C}">
                <a14:useLocalDpi xmlns:a14="http://schemas.microsoft.com/office/drawing/2010/main" val="0"/>
              </a:ext>
            </a:extLst>
          </a:blip>
          <a:srcRect/>
          <a:stretch>
            <a:fillRect/>
          </a:stretch>
        </p:blipFill>
        <p:spPr>
          <a:xfrm>
            <a:off x="4572000" y="1775142"/>
            <a:ext cx="3024336" cy="2708328"/>
          </a:xfrm>
          <a:prstGeom prst="rect">
            <a:avLst/>
          </a:prstGeom>
          <a:noFill/>
        </p:spPr>
      </p:pic>
      <p:sp>
        <p:nvSpPr>
          <p:cNvPr id="16386" name="Rectangle 2"/>
          <p:cNvSpPr>
            <a:spLocks noGrp="1" noChangeArrowheads="1"/>
          </p:cNvSpPr>
          <p:nvPr>
            <p:ph type="title" idx="4294967295"/>
          </p:nvPr>
        </p:nvSpPr>
        <p:spPr>
          <a:xfrm>
            <a:off x="603250" y="116632"/>
            <a:ext cx="8540750" cy="1143000"/>
          </a:xfrm>
          <a:prstGeom prst="rect">
            <a:avLst/>
          </a:prstGeom>
        </p:spPr>
        <p:txBody>
          <a:bodyPr/>
          <a:lstStyle/>
          <a:p>
            <a:pPr eaLnBrk="1" hangingPunct="1"/>
            <a:r>
              <a:rPr lang="en-US" altLang="zh-CN" sz="3600" b="1">
                <a:solidFill>
                  <a:srgbClr val="FF0066"/>
                </a:solidFill>
                <a:latin typeface="Arial" panose="020B0604020202020204" pitchFamily="34" charset="0"/>
              </a:rPr>
              <a:t>Deoxyribose and Ribose</a:t>
            </a:r>
          </a:p>
        </p:txBody>
      </p:sp>
      <p:pic>
        <p:nvPicPr>
          <p:cNvPr id="16387" name="Picture 3" descr="DRIBOSEH"/>
          <p:cNvPicPr>
            <a:picLocks noGrp="1" noChangeAspect="1" noChangeArrowheads="1"/>
          </p:cNvPicPr>
          <p:nvPr>
            <p:ph idx="4294967295"/>
          </p:nvPr>
        </p:nvPicPr>
        <p:blipFill>
          <a:blip r:embed="rId4" cstate="print">
            <a:extLst>
              <a:ext uri="{28A0092B-C50C-407E-A947-70E740481C1C}">
                <a14:useLocalDpi xmlns:a14="http://schemas.microsoft.com/office/drawing/2010/main" val="0"/>
              </a:ext>
            </a:extLst>
          </a:blip>
          <a:stretch>
            <a:fillRect/>
          </a:stretch>
        </p:blipFill>
        <p:spPr>
          <a:xfrm>
            <a:off x="971600" y="1824867"/>
            <a:ext cx="2952328" cy="2671857"/>
          </a:xfrm>
          <a:prstGeom prst="rect">
            <a:avLst/>
          </a:prstGeom>
          <a:noFill/>
        </p:spPr>
      </p:pic>
      <p:sp>
        <p:nvSpPr>
          <p:cNvPr id="3" name="矩形: 圆角 2"/>
          <p:cNvSpPr/>
          <p:nvPr/>
        </p:nvSpPr>
        <p:spPr>
          <a:xfrm>
            <a:off x="683568" y="1628205"/>
            <a:ext cx="1512168" cy="936104"/>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899592" y="1279075"/>
            <a:ext cx="792088" cy="369332"/>
          </a:xfrm>
          <a:prstGeom prst="rect">
            <a:avLst/>
          </a:prstGeom>
          <a:noFill/>
        </p:spPr>
        <p:txBody>
          <a:bodyPr wrap="square" rtlCol="0">
            <a:spAutoFit/>
          </a:bodyPr>
          <a:lstStyle/>
          <a:p>
            <a:r>
              <a:rPr lang="en-US" altLang="zh-CN" dirty="0"/>
              <a:t>D</a:t>
            </a:r>
            <a:r>
              <a:rPr lang="zh-CN" altLang="en-US" dirty="0"/>
              <a:t>型</a:t>
            </a:r>
          </a:p>
        </p:txBody>
      </p:sp>
      <p:sp>
        <p:nvSpPr>
          <p:cNvPr id="9" name="矩形: 圆角 8"/>
          <p:cNvSpPr/>
          <p:nvPr/>
        </p:nvSpPr>
        <p:spPr>
          <a:xfrm>
            <a:off x="3131840" y="1628205"/>
            <a:ext cx="1296144" cy="936104"/>
          </a:xfrm>
          <a:prstGeom prst="roundRect">
            <a:avLst/>
          </a:prstGeom>
          <a:noFill/>
          <a:ln>
            <a:solidFill>
              <a:srgbClr val="008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3383868" y="1279075"/>
            <a:ext cx="792088" cy="369332"/>
          </a:xfrm>
          <a:prstGeom prst="rect">
            <a:avLst/>
          </a:prstGeom>
          <a:noFill/>
        </p:spPr>
        <p:txBody>
          <a:bodyPr wrap="square" rtlCol="0">
            <a:spAutoFit/>
          </a:bodyPr>
          <a:lstStyle/>
          <a:p>
            <a:r>
              <a:rPr lang="en-US" altLang="zh-CN" dirty="0"/>
              <a:t>β</a:t>
            </a:r>
            <a:r>
              <a:rPr lang="zh-CN" altLang="en-US" dirty="0"/>
              <a:t>型</a:t>
            </a:r>
          </a:p>
        </p:txBody>
      </p:sp>
      <p:sp>
        <p:nvSpPr>
          <p:cNvPr id="7" name="文本框 6">
            <a:extLst>
              <a:ext uri="{FF2B5EF4-FFF2-40B4-BE49-F238E27FC236}">
                <a16:creationId xmlns:a16="http://schemas.microsoft.com/office/drawing/2014/main" id="{41DA4B45-B921-97C1-68A8-9FE35AE2EE2B}"/>
              </a:ext>
            </a:extLst>
          </p:cNvPr>
          <p:cNvSpPr txBox="1"/>
          <p:nvPr/>
        </p:nvSpPr>
        <p:spPr>
          <a:xfrm>
            <a:off x="427385" y="4835404"/>
            <a:ext cx="8289230" cy="1323439"/>
          </a:xfrm>
          <a:prstGeom prst="rect">
            <a:avLst/>
          </a:prstGeom>
          <a:noFill/>
        </p:spPr>
        <p:txBody>
          <a:bodyPr wrap="square">
            <a:spAutoFit/>
          </a:bodyPr>
          <a:lstStyle/>
          <a:p>
            <a:r>
              <a:rPr lang="en-US" altLang="zh-CN" sz="2000" b="1" dirty="0"/>
              <a:t>Isomeric forms of monosaccharides that differ only in their configuration about the hemiacetal or hemiketal carbon atom are called </a:t>
            </a:r>
            <a:r>
              <a:rPr lang="en-US" altLang="zh-CN" sz="2000" b="1" dirty="0">
                <a:solidFill>
                  <a:srgbClr val="FF0000"/>
                </a:solidFill>
              </a:rPr>
              <a:t>anomers</a:t>
            </a:r>
            <a:r>
              <a:rPr lang="en-US" altLang="zh-CN" sz="2000" b="1" dirty="0"/>
              <a:t>, and the carbonyl carbon atom is called the </a:t>
            </a:r>
            <a:r>
              <a:rPr lang="en-US" altLang="zh-CN" sz="2000" b="1" dirty="0">
                <a:solidFill>
                  <a:srgbClr val="FF0000"/>
                </a:solidFill>
              </a:rPr>
              <a:t>anomeric carbon</a:t>
            </a:r>
            <a:r>
              <a:rPr lang="en-US" altLang="zh-CN" sz="2000" b="1" dirty="0"/>
              <a:t>.</a:t>
            </a:r>
            <a:endParaRPr lang="zh-CN" altLang="en-US" sz="2000" b="1"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Text Box 2">
            <a:extLst>
              <a:ext uri="{FF2B5EF4-FFF2-40B4-BE49-F238E27FC236}">
                <a16:creationId xmlns:a16="http://schemas.microsoft.com/office/drawing/2014/main" id="{19ACE43F-CA63-4695-99E4-88F1FAC345E8}"/>
              </a:ext>
            </a:extLst>
          </p:cNvPr>
          <p:cNvSpPr txBox="1">
            <a:spLocks noChangeArrowheads="1"/>
          </p:cNvSpPr>
          <p:nvPr/>
        </p:nvSpPr>
        <p:spPr bwMode="auto">
          <a:xfrm>
            <a:off x="1143000" y="609600"/>
            <a:ext cx="6705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4000" b="1" dirty="0">
                <a:solidFill>
                  <a:srgbClr val="0000FF"/>
                </a:solidFill>
              </a:rPr>
              <a:t>1.2 Ring structure</a:t>
            </a:r>
          </a:p>
        </p:txBody>
      </p:sp>
      <p:sp>
        <p:nvSpPr>
          <p:cNvPr id="236547" name="Text Box 3">
            <a:extLst>
              <a:ext uri="{FF2B5EF4-FFF2-40B4-BE49-F238E27FC236}">
                <a16:creationId xmlns:a16="http://schemas.microsoft.com/office/drawing/2014/main" id="{C9DD53C4-2BFE-4828-A2AB-B05019D81617}"/>
              </a:ext>
            </a:extLst>
          </p:cNvPr>
          <p:cNvSpPr txBox="1">
            <a:spLocks noChangeArrowheads="1"/>
          </p:cNvSpPr>
          <p:nvPr/>
        </p:nvSpPr>
        <p:spPr bwMode="auto">
          <a:xfrm>
            <a:off x="621060" y="1988840"/>
            <a:ext cx="7749480" cy="228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600" b="1" dirty="0" err="1">
                <a:solidFill>
                  <a:srgbClr val="FF0000"/>
                </a:solidFill>
              </a:rPr>
              <a:t>Aldotetroses</a:t>
            </a:r>
            <a:r>
              <a:rPr lang="en-US" altLang="zh-CN" sz="3600" b="1" dirty="0">
                <a:solidFill>
                  <a:srgbClr val="FF0000"/>
                </a:solidFill>
              </a:rPr>
              <a:t> and larger sugars </a:t>
            </a:r>
            <a:r>
              <a:rPr lang="en-US" altLang="zh-CN" sz="3600" dirty="0"/>
              <a:t>can cyclized by reaction of the aldehyde or ketone group with a hydroxyl group on another carbon atom of the sugar.</a:t>
            </a:r>
          </a:p>
        </p:txBody>
      </p:sp>
    </p:spTree>
    <p:extLst>
      <p:ext uri="{BB962C8B-B14F-4D97-AF65-F5344CB8AC3E}">
        <p14:creationId xmlns:p14="http://schemas.microsoft.com/office/powerpoint/2010/main" val="20868522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7EEF5A4A-CC5B-9918-A57E-8F803D298F8B}"/>
              </a:ext>
            </a:extLst>
          </p:cNvPr>
          <p:cNvPicPr>
            <a:picLocks noChangeAspect="1"/>
          </p:cNvPicPr>
          <p:nvPr/>
        </p:nvPicPr>
        <p:blipFill>
          <a:blip r:embed="rId3"/>
          <a:stretch>
            <a:fillRect/>
          </a:stretch>
        </p:blipFill>
        <p:spPr>
          <a:xfrm>
            <a:off x="0" y="544076"/>
            <a:ext cx="9144000" cy="4229100"/>
          </a:xfrm>
          <a:prstGeom prst="rect">
            <a:avLst/>
          </a:prstGeom>
        </p:spPr>
      </p:pic>
      <p:sp>
        <p:nvSpPr>
          <p:cNvPr id="4" name="文本框 3">
            <a:extLst>
              <a:ext uri="{FF2B5EF4-FFF2-40B4-BE49-F238E27FC236}">
                <a16:creationId xmlns:a16="http://schemas.microsoft.com/office/drawing/2014/main" id="{53E55126-56B7-361A-6052-FF549729D061}"/>
              </a:ext>
            </a:extLst>
          </p:cNvPr>
          <p:cNvSpPr txBox="1"/>
          <p:nvPr/>
        </p:nvSpPr>
        <p:spPr>
          <a:xfrm>
            <a:off x="953060" y="5373216"/>
            <a:ext cx="7237879" cy="523220"/>
          </a:xfrm>
          <a:prstGeom prst="rect">
            <a:avLst/>
          </a:prstGeom>
          <a:noFill/>
        </p:spPr>
        <p:txBody>
          <a:bodyPr wrap="none" rtlCol="0">
            <a:spAutoFit/>
          </a:bodyPr>
          <a:lstStyle/>
          <a:p>
            <a:r>
              <a:rPr lang="en-US" altLang="zh-CN" sz="2800" b="1" dirty="0"/>
              <a:t>Formation of hemiacetals and hemiketals</a:t>
            </a:r>
            <a:endParaRPr lang="zh-CN" altLang="en-US" sz="2800" b="1" dirty="0"/>
          </a:p>
        </p:txBody>
      </p:sp>
    </p:spTree>
    <p:extLst>
      <p:ext uri="{BB962C8B-B14F-4D97-AF65-F5344CB8AC3E}">
        <p14:creationId xmlns:p14="http://schemas.microsoft.com/office/powerpoint/2010/main" val="26701636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7570" name="Picture 2" descr="&#10;F09-06.GIF012                                                  00005046Sumanas' Hard Drive            B4EBCDA7:">
            <a:extLst>
              <a:ext uri="{FF2B5EF4-FFF2-40B4-BE49-F238E27FC236}">
                <a16:creationId xmlns:a16="http://schemas.microsoft.com/office/drawing/2014/main" id="{C73120E8-FD8D-4248-B5AE-71D11DE8EF5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00200" y="381000"/>
            <a:ext cx="5768975" cy="617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F9C35A2E-7971-457D-9896-7513D9805BD8}"/>
              </a:ext>
            </a:extLst>
          </p:cNvPr>
          <p:cNvSpPr/>
          <p:nvPr/>
        </p:nvSpPr>
        <p:spPr>
          <a:xfrm>
            <a:off x="395536" y="5157192"/>
            <a:ext cx="1338828" cy="646331"/>
          </a:xfrm>
          <a:prstGeom prst="rect">
            <a:avLst/>
          </a:prstGeom>
        </p:spPr>
        <p:txBody>
          <a:bodyPr wrap="none">
            <a:spAutoFit/>
          </a:bodyPr>
          <a:lstStyle/>
          <a:p>
            <a:r>
              <a:rPr lang="zh-CN" altLang="en-US" dirty="0"/>
              <a:t>吡喃（型）</a:t>
            </a:r>
            <a:endParaRPr lang="en-US" altLang="zh-CN" dirty="0"/>
          </a:p>
          <a:p>
            <a:r>
              <a:rPr lang="zh-CN" altLang="en-US" dirty="0"/>
              <a:t>葡萄糖</a:t>
            </a:r>
          </a:p>
        </p:txBody>
      </p:sp>
      <p:sp>
        <p:nvSpPr>
          <p:cNvPr id="6" name="矩形 5">
            <a:extLst>
              <a:ext uri="{FF2B5EF4-FFF2-40B4-BE49-F238E27FC236}">
                <a16:creationId xmlns:a16="http://schemas.microsoft.com/office/drawing/2014/main" id="{D371D924-93EF-4A76-8087-B97957CBFA4D}"/>
              </a:ext>
            </a:extLst>
          </p:cNvPr>
          <p:cNvSpPr/>
          <p:nvPr/>
        </p:nvSpPr>
        <p:spPr>
          <a:xfrm>
            <a:off x="404867" y="5707779"/>
            <a:ext cx="1493912" cy="369332"/>
          </a:xfrm>
          <a:prstGeom prst="rect">
            <a:avLst/>
          </a:prstGeom>
        </p:spPr>
        <p:txBody>
          <a:bodyPr wrap="square">
            <a:spAutoFit/>
          </a:bodyPr>
          <a:lstStyle/>
          <a:p>
            <a:r>
              <a:rPr lang="en-US" altLang="zh-CN" b="1" dirty="0">
                <a:solidFill>
                  <a:srgbClr val="231F20"/>
                </a:solidFill>
                <a:latin typeface="Century-Bold"/>
              </a:rPr>
              <a:t>pyranose</a:t>
            </a:r>
            <a:r>
              <a:rPr lang="en-US" altLang="zh-CN" dirty="0"/>
              <a:t> </a:t>
            </a:r>
            <a:endParaRPr lang="zh-CN" altLang="en-US" dirty="0"/>
          </a:p>
        </p:txBody>
      </p:sp>
      <p:sp>
        <p:nvSpPr>
          <p:cNvPr id="5" name="矩形 4">
            <a:extLst>
              <a:ext uri="{FF2B5EF4-FFF2-40B4-BE49-F238E27FC236}">
                <a16:creationId xmlns:a16="http://schemas.microsoft.com/office/drawing/2014/main" id="{6E3CBBCF-2206-4EBC-B670-A8CEDD3FD99B}"/>
              </a:ext>
            </a:extLst>
          </p:cNvPr>
          <p:cNvSpPr/>
          <p:nvPr/>
        </p:nvSpPr>
        <p:spPr>
          <a:xfrm>
            <a:off x="7543800" y="5233392"/>
            <a:ext cx="1364476" cy="369332"/>
          </a:xfrm>
          <a:prstGeom prst="rect">
            <a:avLst/>
          </a:prstGeom>
        </p:spPr>
        <p:txBody>
          <a:bodyPr wrap="none">
            <a:spAutoFit/>
          </a:bodyPr>
          <a:lstStyle/>
          <a:p>
            <a:r>
              <a:rPr lang="en-US" altLang="zh-CN" dirty="0"/>
              <a:t>hemiacetal </a:t>
            </a:r>
            <a:endParaRPr lang="zh-CN" altLang="en-US" dirty="0"/>
          </a:p>
        </p:txBody>
      </p:sp>
    </p:spTree>
    <p:extLst>
      <p:ext uri="{BB962C8B-B14F-4D97-AF65-F5344CB8AC3E}">
        <p14:creationId xmlns:p14="http://schemas.microsoft.com/office/powerpoint/2010/main" val="27943183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05A72DA8-F265-1A52-9385-E7B60851FD5D}"/>
              </a:ext>
            </a:extLst>
          </p:cNvPr>
          <p:cNvPicPr>
            <a:picLocks noChangeAspect="1"/>
          </p:cNvPicPr>
          <p:nvPr/>
        </p:nvPicPr>
        <p:blipFill>
          <a:blip r:embed="rId3"/>
          <a:stretch>
            <a:fillRect/>
          </a:stretch>
        </p:blipFill>
        <p:spPr>
          <a:xfrm>
            <a:off x="2000250" y="0"/>
            <a:ext cx="5143500" cy="6858000"/>
          </a:xfrm>
          <a:prstGeom prst="rect">
            <a:avLst/>
          </a:prstGeom>
        </p:spPr>
      </p:pic>
      <p:sp>
        <p:nvSpPr>
          <p:cNvPr id="4" name="矩形 3">
            <a:extLst>
              <a:ext uri="{FF2B5EF4-FFF2-40B4-BE49-F238E27FC236}">
                <a16:creationId xmlns:a16="http://schemas.microsoft.com/office/drawing/2014/main" id="{F4B64DF3-BC50-D672-EA5E-1808E78B35F9}"/>
              </a:ext>
            </a:extLst>
          </p:cNvPr>
          <p:cNvSpPr/>
          <p:nvPr/>
        </p:nvSpPr>
        <p:spPr>
          <a:xfrm>
            <a:off x="251520" y="764704"/>
            <a:ext cx="1338828" cy="646331"/>
          </a:xfrm>
          <a:prstGeom prst="rect">
            <a:avLst/>
          </a:prstGeom>
        </p:spPr>
        <p:txBody>
          <a:bodyPr wrap="none">
            <a:spAutoFit/>
          </a:bodyPr>
          <a:lstStyle/>
          <a:p>
            <a:r>
              <a:rPr lang="zh-CN" altLang="en-US" b="1" dirty="0">
                <a:solidFill>
                  <a:srgbClr val="FF0000"/>
                </a:solidFill>
              </a:rPr>
              <a:t>吡喃（型）</a:t>
            </a:r>
            <a:endParaRPr lang="en-US" altLang="zh-CN" b="1" dirty="0">
              <a:solidFill>
                <a:srgbClr val="FF0000"/>
              </a:solidFill>
            </a:endParaRPr>
          </a:p>
          <a:p>
            <a:r>
              <a:rPr lang="zh-CN" altLang="en-US" b="1" dirty="0">
                <a:solidFill>
                  <a:srgbClr val="FF0000"/>
                </a:solidFill>
              </a:rPr>
              <a:t>葡萄糖</a:t>
            </a:r>
          </a:p>
        </p:txBody>
      </p:sp>
      <p:sp>
        <p:nvSpPr>
          <p:cNvPr id="5" name="矩形 4">
            <a:extLst>
              <a:ext uri="{FF2B5EF4-FFF2-40B4-BE49-F238E27FC236}">
                <a16:creationId xmlns:a16="http://schemas.microsoft.com/office/drawing/2014/main" id="{1E6BDD9D-287E-DD79-4C95-97C3A8E5FBCE}"/>
              </a:ext>
            </a:extLst>
          </p:cNvPr>
          <p:cNvSpPr/>
          <p:nvPr/>
        </p:nvSpPr>
        <p:spPr>
          <a:xfrm>
            <a:off x="7380312" y="764704"/>
            <a:ext cx="1338828" cy="646331"/>
          </a:xfrm>
          <a:prstGeom prst="rect">
            <a:avLst/>
          </a:prstGeom>
        </p:spPr>
        <p:txBody>
          <a:bodyPr wrap="none">
            <a:spAutoFit/>
          </a:bodyPr>
          <a:lstStyle/>
          <a:p>
            <a:r>
              <a:rPr lang="zh-CN" altLang="en-US" b="1" dirty="0">
                <a:solidFill>
                  <a:srgbClr val="FF0000"/>
                </a:solidFill>
              </a:rPr>
              <a:t>呋喃（型）</a:t>
            </a:r>
            <a:endParaRPr lang="en-US" altLang="zh-CN" b="1" dirty="0">
              <a:solidFill>
                <a:srgbClr val="FF0000"/>
              </a:solidFill>
            </a:endParaRPr>
          </a:p>
          <a:p>
            <a:r>
              <a:rPr lang="zh-CN" altLang="en-US" b="1" dirty="0">
                <a:solidFill>
                  <a:srgbClr val="FF0000"/>
                </a:solidFill>
              </a:rPr>
              <a:t>果糖</a:t>
            </a:r>
          </a:p>
        </p:txBody>
      </p:sp>
    </p:spTree>
    <p:extLst>
      <p:ext uri="{BB962C8B-B14F-4D97-AF65-F5344CB8AC3E}">
        <p14:creationId xmlns:p14="http://schemas.microsoft.com/office/powerpoint/2010/main" val="23030319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9618" name="Picture 2" descr="F09-08b.GIF015                                                 00005046Sumanas' Hard Drive            B4EBCDA7:">
            <a:extLst>
              <a:ext uri="{FF2B5EF4-FFF2-40B4-BE49-F238E27FC236}">
                <a16:creationId xmlns:a16="http://schemas.microsoft.com/office/drawing/2014/main" id="{625D690C-E6FE-4823-B2C5-56D4251114B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84486" y="1340768"/>
            <a:ext cx="4977546" cy="4475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04A1A2B4-07A2-46CC-AD3A-8E248C7F5E11}"/>
              </a:ext>
            </a:extLst>
          </p:cNvPr>
          <p:cNvSpPr/>
          <p:nvPr/>
        </p:nvSpPr>
        <p:spPr>
          <a:xfrm>
            <a:off x="899592" y="249535"/>
            <a:ext cx="6695008" cy="584775"/>
          </a:xfrm>
          <a:prstGeom prst="rect">
            <a:avLst/>
          </a:prstGeom>
        </p:spPr>
        <p:txBody>
          <a:bodyPr wrap="square">
            <a:spAutoFit/>
          </a:bodyPr>
          <a:lstStyle/>
          <a:p>
            <a:r>
              <a:rPr lang="en-US" altLang="zh-CN" sz="3200" b="1" dirty="0"/>
              <a:t>Chair form of the pyranose ring</a:t>
            </a:r>
            <a:endParaRPr lang="zh-CN" altLang="en-US" sz="3200" b="1" dirty="0"/>
          </a:p>
        </p:txBody>
      </p:sp>
      <p:pic>
        <p:nvPicPr>
          <p:cNvPr id="3" name="图片 2">
            <a:extLst>
              <a:ext uri="{FF2B5EF4-FFF2-40B4-BE49-F238E27FC236}">
                <a16:creationId xmlns:a16="http://schemas.microsoft.com/office/drawing/2014/main" id="{C35671A2-3EFF-E991-8853-4AC8281EEC7D}"/>
              </a:ext>
            </a:extLst>
          </p:cNvPr>
          <p:cNvPicPr>
            <a:picLocks noChangeAspect="1"/>
          </p:cNvPicPr>
          <p:nvPr/>
        </p:nvPicPr>
        <p:blipFill>
          <a:blip r:embed="rId4"/>
          <a:stretch>
            <a:fillRect/>
          </a:stretch>
        </p:blipFill>
        <p:spPr>
          <a:xfrm>
            <a:off x="56361" y="1434075"/>
            <a:ext cx="3728125" cy="4288993"/>
          </a:xfrm>
          <a:prstGeom prst="rect">
            <a:avLst/>
          </a:prstGeom>
        </p:spPr>
      </p:pic>
      <p:sp>
        <p:nvSpPr>
          <p:cNvPr id="5" name="文本框 4">
            <a:extLst>
              <a:ext uri="{FF2B5EF4-FFF2-40B4-BE49-F238E27FC236}">
                <a16:creationId xmlns:a16="http://schemas.microsoft.com/office/drawing/2014/main" id="{97676088-ABC5-C6FF-9F33-FF547CF618B3}"/>
              </a:ext>
            </a:extLst>
          </p:cNvPr>
          <p:cNvSpPr txBox="1"/>
          <p:nvPr/>
        </p:nvSpPr>
        <p:spPr>
          <a:xfrm>
            <a:off x="2290688" y="5834755"/>
            <a:ext cx="5292080" cy="646331"/>
          </a:xfrm>
          <a:prstGeom prst="rect">
            <a:avLst/>
          </a:prstGeom>
          <a:noFill/>
        </p:spPr>
        <p:txBody>
          <a:bodyPr wrap="square">
            <a:spAutoFit/>
          </a:bodyPr>
          <a:lstStyle/>
          <a:p>
            <a:r>
              <a:rPr lang="zh-CN" altLang="en-US" sz="3600" b="1" dirty="0"/>
              <a:t>船式不稳定，椅式稳定</a:t>
            </a:r>
          </a:p>
        </p:txBody>
      </p:sp>
    </p:spTree>
    <p:extLst>
      <p:ext uri="{BB962C8B-B14F-4D97-AF65-F5344CB8AC3E}">
        <p14:creationId xmlns:p14="http://schemas.microsoft.com/office/powerpoint/2010/main" val="15854626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0642" name="Picture 2" descr="F09-10.0a.GIF017                                               00005046Sumanas' Hard Drive            B4EBCDA7:">
            <a:extLst>
              <a:ext uri="{FF2B5EF4-FFF2-40B4-BE49-F238E27FC236}">
                <a16:creationId xmlns:a16="http://schemas.microsoft.com/office/drawing/2014/main" id="{15C66D81-79A6-44AA-89E3-F08329AFBA9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14800" y="228600"/>
            <a:ext cx="4635500" cy="640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0643" name="Text Box 3">
            <a:extLst>
              <a:ext uri="{FF2B5EF4-FFF2-40B4-BE49-F238E27FC236}">
                <a16:creationId xmlns:a16="http://schemas.microsoft.com/office/drawing/2014/main" id="{80808F36-F761-4F26-ABCF-3F2C395B44E2}"/>
              </a:ext>
            </a:extLst>
          </p:cNvPr>
          <p:cNvSpPr txBox="1">
            <a:spLocks noChangeArrowheads="1"/>
          </p:cNvSpPr>
          <p:nvPr/>
        </p:nvSpPr>
        <p:spPr bwMode="auto">
          <a:xfrm>
            <a:off x="393700" y="3429000"/>
            <a:ext cx="335280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dirty="0"/>
              <a:t>A monosaccharide is a reducing sugar.</a:t>
            </a:r>
          </a:p>
        </p:txBody>
      </p:sp>
      <p:sp>
        <p:nvSpPr>
          <p:cNvPr id="4" name="Text Box 2">
            <a:extLst>
              <a:ext uri="{FF2B5EF4-FFF2-40B4-BE49-F238E27FC236}">
                <a16:creationId xmlns:a16="http://schemas.microsoft.com/office/drawing/2014/main" id="{BE9132F5-A643-43FE-9BD7-7035682A2C9E}"/>
              </a:ext>
            </a:extLst>
          </p:cNvPr>
          <p:cNvSpPr txBox="1">
            <a:spLocks noChangeArrowheads="1"/>
          </p:cNvSpPr>
          <p:nvPr/>
        </p:nvSpPr>
        <p:spPr bwMode="auto">
          <a:xfrm>
            <a:off x="323528" y="228600"/>
            <a:ext cx="7391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4000" b="1" dirty="0">
                <a:solidFill>
                  <a:srgbClr val="0000FF"/>
                </a:solidFill>
              </a:rPr>
              <a:t>1.3 Reducing sugar</a:t>
            </a:r>
          </a:p>
        </p:txBody>
      </p:sp>
    </p:spTree>
    <p:extLst>
      <p:ext uri="{BB962C8B-B14F-4D97-AF65-F5344CB8AC3E}">
        <p14:creationId xmlns:p14="http://schemas.microsoft.com/office/powerpoint/2010/main" val="6477124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Text Box 2">
            <a:extLst>
              <a:ext uri="{FF2B5EF4-FFF2-40B4-BE49-F238E27FC236}">
                <a16:creationId xmlns:a16="http://schemas.microsoft.com/office/drawing/2014/main" id="{F8C25F59-0B51-49D3-BF86-82DA1B3E2C79}"/>
              </a:ext>
            </a:extLst>
          </p:cNvPr>
          <p:cNvSpPr txBox="1">
            <a:spLocks noChangeArrowheads="1"/>
          </p:cNvSpPr>
          <p:nvPr/>
        </p:nvSpPr>
        <p:spPr bwMode="auto">
          <a:xfrm>
            <a:off x="990600" y="609600"/>
            <a:ext cx="7391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4000" b="1" dirty="0">
                <a:solidFill>
                  <a:srgbClr val="0000FF"/>
                </a:solidFill>
              </a:rPr>
              <a:t>2. disaccharides</a:t>
            </a:r>
          </a:p>
        </p:txBody>
      </p:sp>
      <p:sp>
        <p:nvSpPr>
          <p:cNvPr id="241667" name="Text Box 3">
            <a:extLst>
              <a:ext uri="{FF2B5EF4-FFF2-40B4-BE49-F238E27FC236}">
                <a16:creationId xmlns:a16="http://schemas.microsoft.com/office/drawing/2014/main" id="{822C3152-CA82-4A15-BF12-FEF16BD992B0}"/>
              </a:ext>
            </a:extLst>
          </p:cNvPr>
          <p:cNvSpPr txBox="1">
            <a:spLocks noChangeArrowheads="1"/>
          </p:cNvSpPr>
          <p:nvPr/>
        </p:nvSpPr>
        <p:spPr bwMode="auto">
          <a:xfrm>
            <a:off x="1295400" y="2057400"/>
            <a:ext cx="6934200"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600" dirty="0"/>
              <a:t>A disaccharide is formed when two monosaccharides become joined by a </a:t>
            </a:r>
            <a:r>
              <a:rPr lang="en-US" altLang="zh-CN" sz="3600" b="1" dirty="0">
                <a:solidFill>
                  <a:srgbClr val="FF0000"/>
                </a:solidFill>
              </a:rPr>
              <a:t>glycosidic bond</a:t>
            </a:r>
            <a:r>
              <a:rPr lang="en-US" altLang="zh-CN" sz="3600" dirty="0"/>
              <a:t>.</a:t>
            </a:r>
          </a:p>
        </p:txBody>
      </p:sp>
    </p:spTree>
    <p:extLst>
      <p:ext uri="{BB962C8B-B14F-4D97-AF65-F5344CB8AC3E}">
        <p14:creationId xmlns:p14="http://schemas.microsoft.com/office/powerpoint/2010/main" val="32580449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8834" name="Picture 2" descr="F09-15a.GIF025                                                 00005046Sumanas' Hard Drive            B4EBCDA7:">
            <a:extLst>
              <a:ext uri="{FF2B5EF4-FFF2-40B4-BE49-F238E27FC236}">
                <a16:creationId xmlns:a16="http://schemas.microsoft.com/office/drawing/2014/main" id="{B1D458CA-0949-456B-AB9B-74788E25061F}"/>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5362" r="51010"/>
          <a:stretch/>
        </p:blipFill>
        <p:spPr bwMode="auto">
          <a:xfrm>
            <a:off x="2372853" y="2275131"/>
            <a:ext cx="3423283" cy="1890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89D6D2A6-1109-4A52-84DB-EF3B66B12B51}"/>
              </a:ext>
            </a:extLst>
          </p:cNvPr>
          <p:cNvSpPr/>
          <p:nvPr/>
        </p:nvSpPr>
        <p:spPr>
          <a:xfrm>
            <a:off x="3274570" y="4077072"/>
            <a:ext cx="1941557" cy="369332"/>
          </a:xfrm>
          <a:prstGeom prst="rect">
            <a:avLst/>
          </a:prstGeom>
        </p:spPr>
        <p:txBody>
          <a:bodyPr wrap="none">
            <a:spAutoFit/>
          </a:bodyPr>
          <a:lstStyle/>
          <a:p>
            <a:r>
              <a:rPr lang="en-US" altLang="zh-CN" b="1" dirty="0">
                <a:solidFill>
                  <a:srgbClr val="FF0000"/>
                </a:solidFill>
              </a:rPr>
              <a:t>glycosidic bond</a:t>
            </a:r>
            <a:endParaRPr lang="zh-CN" altLang="en-US" b="1" dirty="0">
              <a:solidFill>
                <a:srgbClr val="FF0000"/>
              </a:solidFill>
            </a:endParaRPr>
          </a:p>
        </p:txBody>
      </p:sp>
      <p:sp>
        <p:nvSpPr>
          <p:cNvPr id="3" name="文本框 2">
            <a:extLst>
              <a:ext uri="{FF2B5EF4-FFF2-40B4-BE49-F238E27FC236}">
                <a16:creationId xmlns:a16="http://schemas.microsoft.com/office/drawing/2014/main" id="{3B9712AC-E0A0-4494-8A60-892AC4F09DFF}"/>
              </a:ext>
            </a:extLst>
          </p:cNvPr>
          <p:cNvSpPr txBox="1"/>
          <p:nvPr/>
        </p:nvSpPr>
        <p:spPr>
          <a:xfrm>
            <a:off x="467544" y="2708920"/>
            <a:ext cx="1584176" cy="646331"/>
          </a:xfrm>
          <a:prstGeom prst="rect">
            <a:avLst/>
          </a:prstGeom>
          <a:noFill/>
        </p:spPr>
        <p:txBody>
          <a:bodyPr wrap="square" rtlCol="0">
            <a:spAutoFit/>
          </a:bodyPr>
          <a:lstStyle/>
          <a:p>
            <a:pPr algn="r"/>
            <a:r>
              <a:rPr lang="en-US" altLang="zh-CN" dirty="0"/>
              <a:t>Nonreducing</a:t>
            </a:r>
          </a:p>
          <a:p>
            <a:pPr algn="r"/>
            <a:r>
              <a:rPr lang="en-US" altLang="zh-CN" dirty="0"/>
              <a:t>end</a:t>
            </a:r>
            <a:endParaRPr lang="zh-CN" altLang="en-US" dirty="0"/>
          </a:p>
        </p:txBody>
      </p:sp>
      <p:sp>
        <p:nvSpPr>
          <p:cNvPr id="5" name="文本框 4">
            <a:extLst>
              <a:ext uri="{FF2B5EF4-FFF2-40B4-BE49-F238E27FC236}">
                <a16:creationId xmlns:a16="http://schemas.microsoft.com/office/drawing/2014/main" id="{9F383188-EE3E-4DA1-9707-B8C1BAFED77D}"/>
              </a:ext>
            </a:extLst>
          </p:cNvPr>
          <p:cNvSpPr txBox="1"/>
          <p:nvPr/>
        </p:nvSpPr>
        <p:spPr>
          <a:xfrm>
            <a:off x="6080305" y="2755857"/>
            <a:ext cx="1584176" cy="646331"/>
          </a:xfrm>
          <a:prstGeom prst="rect">
            <a:avLst/>
          </a:prstGeom>
          <a:noFill/>
        </p:spPr>
        <p:txBody>
          <a:bodyPr wrap="square" rtlCol="0">
            <a:spAutoFit/>
          </a:bodyPr>
          <a:lstStyle/>
          <a:p>
            <a:pPr algn="r"/>
            <a:r>
              <a:rPr lang="en-US" altLang="zh-CN" dirty="0"/>
              <a:t>Reducing</a:t>
            </a:r>
          </a:p>
          <a:p>
            <a:pPr algn="r"/>
            <a:r>
              <a:rPr lang="en-US" altLang="zh-CN" dirty="0"/>
              <a:t>end</a:t>
            </a:r>
            <a:endParaRPr lang="zh-CN" altLang="en-US" dirty="0"/>
          </a:p>
        </p:txBody>
      </p:sp>
      <p:sp>
        <p:nvSpPr>
          <p:cNvPr id="7" name="文本框 6">
            <a:extLst>
              <a:ext uri="{FF2B5EF4-FFF2-40B4-BE49-F238E27FC236}">
                <a16:creationId xmlns:a16="http://schemas.microsoft.com/office/drawing/2014/main" id="{9A5C3854-6D2C-48FE-9535-9ED10F03E9F8}"/>
              </a:ext>
            </a:extLst>
          </p:cNvPr>
          <p:cNvSpPr txBox="1"/>
          <p:nvPr/>
        </p:nvSpPr>
        <p:spPr>
          <a:xfrm>
            <a:off x="5561057" y="3211522"/>
            <a:ext cx="544805" cy="338554"/>
          </a:xfrm>
          <a:prstGeom prst="rect">
            <a:avLst/>
          </a:prstGeom>
          <a:solidFill>
            <a:schemeClr val="bg1"/>
          </a:solidFill>
        </p:spPr>
        <p:txBody>
          <a:bodyPr wrap="square" rtlCol="0">
            <a:spAutoFit/>
          </a:bodyPr>
          <a:lstStyle/>
          <a:p>
            <a:r>
              <a:rPr lang="en-US" altLang="zh-CN" sz="1600" dirty="0">
                <a:latin typeface="Arial Narrow" panose="020B0606020202030204" pitchFamily="34" charset="0"/>
              </a:rPr>
              <a:t>OH</a:t>
            </a:r>
            <a:endParaRPr lang="zh-CN" altLang="en-US" sz="1600" dirty="0">
              <a:latin typeface="Arial Narrow" panose="020B0606020202030204" pitchFamily="34" charset="0"/>
            </a:endParaRPr>
          </a:p>
        </p:txBody>
      </p:sp>
      <p:sp>
        <p:nvSpPr>
          <p:cNvPr id="8" name="文本框 7">
            <a:extLst>
              <a:ext uri="{FF2B5EF4-FFF2-40B4-BE49-F238E27FC236}">
                <a16:creationId xmlns:a16="http://schemas.microsoft.com/office/drawing/2014/main" id="{88218AE6-603E-4CC4-8979-D3AF8A8D43E0}"/>
              </a:ext>
            </a:extLst>
          </p:cNvPr>
          <p:cNvSpPr txBox="1"/>
          <p:nvPr/>
        </p:nvSpPr>
        <p:spPr>
          <a:xfrm rot="10800000">
            <a:off x="2051720" y="3232911"/>
            <a:ext cx="544805" cy="338554"/>
          </a:xfrm>
          <a:prstGeom prst="rect">
            <a:avLst/>
          </a:prstGeom>
          <a:solidFill>
            <a:schemeClr val="bg1"/>
          </a:solidFill>
        </p:spPr>
        <p:txBody>
          <a:bodyPr wrap="square" rtlCol="0">
            <a:spAutoFit/>
          </a:bodyPr>
          <a:lstStyle/>
          <a:p>
            <a:r>
              <a:rPr lang="en-US" altLang="zh-CN" sz="1600" dirty="0">
                <a:latin typeface="Arial Narrow" panose="020B0606020202030204" pitchFamily="34" charset="0"/>
              </a:rPr>
              <a:t>OH</a:t>
            </a:r>
            <a:endParaRPr lang="zh-CN" altLang="en-US" sz="1600" dirty="0">
              <a:latin typeface="Arial Narrow" panose="020B0606020202030204" pitchFamily="34" charset="0"/>
            </a:endParaRPr>
          </a:p>
        </p:txBody>
      </p:sp>
      <p:sp>
        <p:nvSpPr>
          <p:cNvPr id="4" name="文本框 3">
            <a:extLst>
              <a:ext uri="{FF2B5EF4-FFF2-40B4-BE49-F238E27FC236}">
                <a16:creationId xmlns:a16="http://schemas.microsoft.com/office/drawing/2014/main" id="{25FE5354-4C8A-34CA-92FC-ADCE2A3D2E3A}"/>
              </a:ext>
            </a:extLst>
          </p:cNvPr>
          <p:cNvSpPr txBox="1"/>
          <p:nvPr/>
        </p:nvSpPr>
        <p:spPr>
          <a:xfrm>
            <a:off x="3779912" y="4509120"/>
            <a:ext cx="1313180" cy="2308324"/>
          </a:xfrm>
          <a:prstGeom prst="rect">
            <a:avLst/>
          </a:prstGeom>
          <a:noFill/>
        </p:spPr>
        <p:txBody>
          <a:bodyPr wrap="none" rtlCol="0">
            <a:spAutoFit/>
          </a:bodyPr>
          <a:lstStyle/>
          <a:p>
            <a:r>
              <a:rPr lang="en-US" altLang="zh-CN" dirty="0"/>
              <a:t>1↔1</a:t>
            </a:r>
          </a:p>
          <a:p>
            <a:r>
              <a:rPr lang="en-US" altLang="zh-CN" dirty="0"/>
              <a:t>1↔2</a:t>
            </a:r>
          </a:p>
          <a:p>
            <a:r>
              <a:rPr lang="en-US" altLang="zh-CN" dirty="0"/>
              <a:t>1→3</a:t>
            </a:r>
          </a:p>
          <a:p>
            <a:r>
              <a:rPr lang="en-US" altLang="zh-CN" dirty="0"/>
              <a:t>1→4</a:t>
            </a:r>
          </a:p>
          <a:p>
            <a:r>
              <a:rPr lang="en-US" altLang="zh-CN" dirty="0"/>
              <a:t>1→6 </a:t>
            </a:r>
          </a:p>
          <a:p>
            <a:r>
              <a:rPr lang="en-US" altLang="zh-CN" dirty="0"/>
              <a:t>for glucose</a:t>
            </a:r>
          </a:p>
          <a:p>
            <a:endParaRPr lang="en-US" altLang="zh-CN" dirty="0"/>
          </a:p>
          <a:p>
            <a:endParaRPr lang="zh-CN" altLang="en-US" dirty="0"/>
          </a:p>
        </p:txBody>
      </p:sp>
    </p:spTree>
    <p:extLst>
      <p:ext uri="{BB962C8B-B14F-4D97-AF65-F5344CB8AC3E}">
        <p14:creationId xmlns:p14="http://schemas.microsoft.com/office/powerpoint/2010/main" val="24257608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C337BA3F-28D6-59C2-1AB8-0D65AB31698A}"/>
              </a:ext>
            </a:extLst>
          </p:cNvPr>
          <p:cNvPicPr>
            <a:picLocks noChangeAspect="1"/>
          </p:cNvPicPr>
          <p:nvPr/>
        </p:nvPicPr>
        <p:blipFill>
          <a:blip r:embed="rId3"/>
          <a:stretch>
            <a:fillRect/>
          </a:stretch>
        </p:blipFill>
        <p:spPr>
          <a:xfrm>
            <a:off x="1115616" y="202332"/>
            <a:ext cx="3837214" cy="6453336"/>
          </a:xfrm>
          <a:prstGeom prst="rect">
            <a:avLst/>
          </a:prstGeom>
        </p:spPr>
      </p:pic>
      <p:pic>
        <p:nvPicPr>
          <p:cNvPr id="2" name="图片 1">
            <a:extLst>
              <a:ext uri="{FF2B5EF4-FFF2-40B4-BE49-F238E27FC236}">
                <a16:creationId xmlns:a16="http://schemas.microsoft.com/office/drawing/2014/main" id="{635AA4D5-3B52-E0B4-B174-E235DACEC603}"/>
              </a:ext>
            </a:extLst>
          </p:cNvPr>
          <p:cNvPicPr>
            <a:picLocks noChangeAspect="1"/>
          </p:cNvPicPr>
          <p:nvPr/>
        </p:nvPicPr>
        <p:blipFill rotWithShape="1">
          <a:blip r:embed="rId4"/>
          <a:srcRect b="16667"/>
          <a:stretch/>
        </p:blipFill>
        <p:spPr>
          <a:xfrm>
            <a:off x="5292081" y="2193544"/>
            <a:ext cx="3528392" cy="1883528"/>
          </a:xfrm>
          <a:prstGeom prst="rect">
            <a:avLst/>
          </a:prstGeom>
        </p:spPr>
      </p:pic>
      <p:sp>
        <p:nvSpPr>
          <p:cNvPr id="4" name="文本框 3">
            <a:extLst>
              <a:ext uri="{FF2B5EF4-FFF2-40B4-BE49-F238E27FC236}">
                <a16:creationId xmlns:a16="http://schemas.microsoft.com/office/drawing/2014/main" id="{85A50889-D623-7C1E-BCFF-857F901D0027}"/>
              </a:ext>
            </a:extLst>
          </p:cNvPr>
          <p:cNvSpPr txBox="1"/>
          <p:nvPr/>
        </p:nvSpPr>
        <p:spPr>
          <a:xfrm>
            <a:off x="6660232" y="4221088"/>
            <a:ext cx="2085507" cy="369332"/>
          </a:xfrm>
          <a:prstGeom prst="rect">
            <a:avLst/>
          </a:prstGeom>
          <a:noFill/>
        </p:spPr>
        <p:txBody>
          <a:bodyPr wrap="none" rtlCol="0">
            <a:spAutoFit/>
          </a:bodyPr>
          <a:lstStyle/>
          <a:p>
            <a:r>
              <a:rPr lang="en-US" altLang="zh-CN" b="0" i="0" dirty="0">
                <a:solidFill>
                  <a:srgbClr val="000000"/>
                </a:solidFill>
                <a:effectLst/>
                <a:latin typeface="微软雅黑" panose="020B0503020204020204" pitchFamily="34" charset="-122"/>
                <a:ea typeface="微软雅黑" panose="020B0503020204020204" pitchFamily="34" charset="-122"/>
              </a:rPr>
              <a:t>Maltose (</a:t>
            </a:r>
            <a:r>
              <a:rPr lang="el-GR" altLang="zh-CN" b="0" i="0" dirty="0">
                <a:solidFill>
                  <a:srgbClr val="000000"/>
                </a:solidFill>
                <a:effectLst/>
                <a:latin typeface="微软雅黑" panose="020B0503020204020204" pitchFamily="34" charset="-122"/>
                <a:ea typeface="微软雅黑" panose="020B0503020204020204" pitchFamily="34" charset="-122"/>
              </a:rPr>
              <a:t>α</a:t>
            </a:r>
            <a:r>
              <a:rPr lang="en-US" altLang="zh-CN" b="0" i="0" dirty="0">
                <a:solidFill>
                  <a:srgbClr val="000000"/>
                </a:solidFill>
                <a:effectLst/>
                <a:latin typeface="微软雅黑" panose="020B0503020204020204" pitchFamily="34" charset="-122"/>
                <a:ea typeface="微软雅黑" panose="020B0503020204020204" pitchFamily="34" charset="-122"/>
              </a:rPr>
              <a:t> 1→4) </a:t>
            </a:r>
            <a:endParaRPr lang="zh-CN" altLang="en-US" dirty="0"/>
          </a:p>
        </p:txBody>
      </p:sp>
    </p:spTree>
    <p:extLst>
      <p:ext uri="{BB962C8B-B14F-4D97-AF65-F5344CB8AC3E}">
        <p14:creationId xmlns:p14="http://schemas.microsoft.com/office/powerpoint/2010/main" val="6961418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Text Box 2">
            <a:extLst>
              <a:ext uri="{FF2B5EF4-FFF2-40B4-BE49-F238E27FC236}">
                <a16:creationId xmlns:a16="http://schemas.microsoft.com/office/drawing/2014/main" id="{71428A4A-F060-405A-8A7A-022B46C0CE7F}"/>
              </a:ext>
            </a:extLst>
          </p:cNvPr>
          <p:cNvSpPr txBox="1">
            <a:spLocks noChangeArrowheads="1"/>
          </p:cNvSpPr>
          <p:nvPr/>
        </p:nvSpPr>
        <p:spPr bwMode="auto">
          <a:xfrm>
            <a:off x="1066800" y="914400"/>
            <a:ext cx="6324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4000" b="1" dirty="0">
                <a:solidFill>
                  <a:srgbClr val="0000FF"/>
                </a:solidFill>
              </a:rPr>
              <a:t>3. Sugar derivatives</a:t>
            </a:r>
            <a:r>
              <a:rPr lang="en-US" altLang="zh-CN" dirty="0"/>
              <a:t> </a:t>
            </a:r>
          </a:p>
        </p:txBody>
      </p:sp>
      <p:sp>
        <p:nvSpPr>
          <p:cNvPr id="242691" name="Text Box 3">
            <a:extLst>
              <a:ext uri="{FF2B5EF4-FFF2-40B4-BE49-F238E27FC236}">
                <a16:creationId xmlns:a16="http://schemas.microsoft.com/office/drawing/2014/main" id="{571CB675-7224-48A2-8444-B1F8212DB7E4}"/>
              </a:ext>
            </a:extLst>
          </p:cNvPr>
          <p:cNvSpPr txBox="1">
            <a:spLocks noChangeArrowheads="1"/>
          </p:cNvSpPr>
          <p:nvPr/>
        </p:nvSpPr>
        <p:spPr bwMode="auto">
          <a:xfrm>
            <a:off x="990600" y="1981200"/>
            <a:ext cx="7620000" cy="283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600" dirty="0"/>
              <a:t>The </a:t>
            </a:r>
            <a:r>
              <a:rPr lang="en-US" altLang="zh-CN" sz="3600" dirty="0">
                <a:solidFill>
                  <a:srgbClr val="FF0000"/>
                </a:solidFill>
              </a:rPr>
              <a:t>hydroxyl groups </a:t>
            </a:r>
            <a:r>
              <a:rPr lang="en-US" altLang="zh-CN" sz="3600" dirty="0"/>
              <a:t>of sugars can be </a:t>
            </a:r>
            <a:r>
              <a:rPr lang="en-US" altLang="zh-CN" sz="3600" dirty="0">
                <a:solidFill>
                  <a:srgbClr val="FF0000"/>
                </a:solidFill>
              </a:rPr>
              <a:t>replaced by other groups </a:t>
            </a:r>
            <a:r>
              <a:rPr lang="en-US" altLang="zh-CN" sz="3600" dirty="0"/>
              <a:t>to form a wide range of biologically important molecules including phosphorylated sugars, amino sugars and nucleotides.</a:t>
            </a:r>
          </a:p>
        </p:txBody>
      </p:sp>
    </p:spTree>
    <p:extLst>
      <p:ext uri="{BB962C8B-B14F-4D97-AF65-F5344CB8AC3E}">
        <p14:creationId xmlns:p14="http://schemas.microsoft.com/office/powerpoint/2010/main" val="42350025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3714" name="Picture 2" descr="&#10;F09-09.GIF016                                                  00005046Sumanas' Hard Drive            B4EBCDA7:">
            <a:extLst>
              <a:ext uri="{FF2B5EF4-FFF2-40B4-BE49-F238E27FC236}">
                <a16:creationId xmlns:a16="http://schemas.microsoft.com/office/drawing/2014/main" id="{FDB639CA-8C63-4839-B664-30B248EEA021}"/>
              </a:ext>
            </a:extLst>
          </p:cNvPr>
          <p:cNvPicPr>
            <a:picLocks noChangeAspect="1" noChangeArrowheads="1"/>
          </p:cNvPicPr>
          <p:nvPr/>
        </p:nvPicPr>
        <p:blipFill>
          <a:blip r:embed="rId3" cstate="print">
            <a:lum contrast="12000"/>
            <a:extLst>
              <a:ext uri="{28A0092B-C50C-407E-A947-70E740481C1C}">
                <a14:useLocalDpi xmlns:a14="http://schemas.microsoft.com/office/drawing/2010/main" val="0"/>
              </a:ext>
            </a:extLst>
          </a:blip>
          <a:srcRect/>
          <a:stretch>
            <a:fillRect/>
          </a:stretch>
        </p:blipFill>
        <p:spPr bwMode="auto">
          <a:xfrm>
            <a:off x="736600" y="254000"/>
            <a:ext cx="8026400" cy="635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423977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7026" name="Picture 7" descr="D:\各人文件夹\王晓云\酶学图\NAG copy.jpg">
            <a:extLst>
              <a:ext uri="{FF2B5EF4-FFF2-40B4-BE49-F238E27FC236}">
                <a16:creationId xmlns:a16="http://schemas.microsoft.com/office/drawing/2014/main" id="{A1560A89-2BF7-4C0B-A305-5FB5F34D0DB7}"/>
              </a:ext>
            </a:extLst>
          </p:cNvPr>
          <p:cNvPicPr>
            <a:picLocks noChangeAspect="1" noChangeArrowheads="1"/>
          </p:cNvPicPr>
          <p:nvPr/>
        </p:nvPicPr>
        <p:blipFill rotWithShape="1">
          <a:blip r:embed="rId2" cstate="print">
            <a:lum bright="10000" contrast="-10000"/>
            <a:extLst>
              <a:ext uri="{28A0092B-C50C-407E-A947-70E740481C1C}">
                <a14:useLocalDpi xmlns:a14="http://schemas.microsoft.com/office/drawing/2010/main" val="0"/>
              </a:ext>
            </a:extLst>
          </a:blip>
          <a:srcRect/>
          <a:stretch/>
        </p:blipFill>
        <p:spPr bwMode="auto">
          <a:xfrm>
            <a:off x="1547664" y="404664"/>
            <a:ext cx="6921500" cy="5575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7027" name="矩形 2">
            <a:extLst>
              <a:ext uri="{FF2B5EF4-FFF2-40B4-BE49-F238E27FC236}">
                <a16:creationId xmlns:a16="http://schemas.microsoft.com/office/drawing/2014/main" id="{0D0F38FF-9B2C-483A-BA68-7F1CA7F301EF}"/>
              </a:ext>
            </a:extLst>
          </p:cNvPr>
          <p:cNvSpPr>
            <a:spLocks noChangeArrowheads="1"/>
          </p:cNvSpPr>
          <p:nvPr/>
        </p:nvSpPr>
        <p:spPr bwMode="auto">
          <a:xfrm>
            <a:off x="3300264" y="5968604"/>
            <a:ext cx="3749675" cy="530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20000"/>
              </a:lnSpc>
              <a:spcBef>
                <a:spcPct val="50000"/>
              </a:spcBef>
            </a:pPr>
            <a:r>
              <a:rPr lang="en-US" altLang="zh-CN" b="1" dirty="0">
                <a:ea typeface="华文中宋" panose="02010600040101010101" pitchFamily="2" charset="-122"/>
              </a:rPr>
              <a:t>N—</a:t>
            </a:r>
            <a:r>
              <a:rPr lang="zh-CN" altLang="en-US" b="1" dirty="0">
                <a:ea typeface="华文中宋" panose="02010600040101010101" pitchFamily="2" charset="-122"/>
              </a:rPr>
              <a:t>乙酰氨基葡萄糖   </a:t>
            </a:r>
            <a:r>
              <a:rPr lang="en-US" altLang="zh-CN" b="1" dirty="0">
                <a:ea typeface="华文中宋" panose="02010600040101010101" pitchFamily="2" charset="-122"/>
              </a:rPr>
              <a:t>NAG</a:t>
            </a:r>
          </a:p>
        </p:txBody>
      </p:sp>
    </p:spTree>
    <p:extLst>
      <p:ext uri="{BB962C8B-B14F-4D97-AF65-F5344CB8AC3E}">
        <p14:creationId xmlns:p14="http://schemas.microsoft.com/office/powerpoint/2010/main" val="229217881"/>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8050" name="Picture 2" descr="D:\各人文件夹\王晓云\酶学图\NAM.jpg">
            <a:extLst>
              <a:ext uri="{FF2B5EF4-FFF2-40B4-BE49-F238E27FC236}">
                <a16:creationId xmlns:a16="http://schemas.microsoft.com/office/drawing/2014/main" id="{CF53EFC9-5B58-45A8-8110-A779C4A8C99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3000" y="304800"/>
            <a:ext cx="6921500" cy="588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8051" name="矩形 2">
            <a:extLst>
              <a:ext uri="{FF2B5EF4-FFF2-40B4-BE49-F238E27FC236}">
                <a16:creationId xmlns:a16="http://schemas.microsoft.com/office/drawing/2014/main" id="{079CCB3E-3AA0-4246-AC8C-13B53AACE9EE}"/>
              </a:ext>
            </a:extLst>
          </p:cNvPr>
          <p:cNvSpPr>
            <a:spLocks noChangeArrowheads="1"/>
          </p:cNvSpPr>
          <p:nvPr/>
        </p:nvSpPr>
        <p:spPr bwMode="auto">
          <a:xfrm>
            <a:off x="3043238" y="6172200"/>
            <a:ext cx="3114675" cy="530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20000"/>
              </a:lnSpc>
              <a:spcBef>
                <a:spcPct val="50000"/>
              </a:spcBef>
            </a:pPr>
            <a:r>
              <a:rPr lang="en-US" altLang="zh-CN" b="1">
                <a:ea typeface="华文中宋" panose="02010600040101010101" pitchFamily="2" charset="-122"/>
              </a:rPr>
              <a:t>N—</a:t>
            </a:r>
            <a:r>
              <a:rPr lang="zh-CN" altLang="en-US" b="1">
                <a:ea typeface="华文中宋" panose="02010600040101010101" pitchFamily="2" charset="-122"/>
              </a:rPr>
              <a:t>乙酰胞壁酸  </a:t>
            </a:r>
            <a:r>
              <a:rPr lang="en-US" altLang="zh-CN" b="1">
                <a:ea typeface="华文中宋" panose="02010600040101010101" pitchFamily="2" charset="-122"/>
              </a:rPr>
              <a:t>NAM</a:t>
            </a:r>
          </a:p>
        </p:txBody>
      </p:sp>
    </p:spTree>
    <p:extLst>
      <p:ext uri="{BB962C8B-B14F-4D97-AF65-F5344CB8AC3E}">
        <p14:creationId xmlns:p14="http://schemas.microsoft.com/office/powerpoint/2010/main" val="2571718576"/>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1314" name="Picture 2" descr="1251">
            <a:extLst>
              <a:ext uri="{FF2B5EF4-FFF2-40B4-BE49-F238E27FC236}">
                <a16:creationId xmlns:a16="http://schemas.microsoft.com/office/drawing/2014/main" id="{A699F0E1-01DC-456F-8501-D1D6E7069D8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8600" y="228600"/>
            <a:ext cx="3879850" cy="640080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141315" name="Text Box 3">
            <a:extLst>
              <a:ext uri="{FF2B5EF4-FFF2-40B4-BE49-F238E27FC236}">
                <a16:creationId xmlns:a16="http://schemas.microsoft.com/office/drawing/2014/main" id="{C88DF327-2CAD-4D7D-A205-0AC9BFAD4AB4}"/>
              </a:ext>
            </a:extLst>
          </p:cNvPr>
          <p:cNvSpPr txBox="1">
            <a:spLocks noChangeArrowheads="1"/>
          </p:cNvSpPr>
          <p:nvPr/>
        </p:nvSpPr>
        <p:spPr bwMode="auto">
          <a:xfrm>
            <a:off x="3146425" y="152400"/>
            <a:ext cx="5997575"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kumimoji="0" lang="en-US" altLang="zh-CN" sz="4000" b="1" dirty="0">
                <a:latin typeface="Comic Sans MS" panose="030F0702030302020204" pitchFamily="66" charset="0"/>
              </a:rPr>
              <a:t>Recall: Proteins are Glycosylated in ER and Golgi</a:t>
            </a:r>
          </a:p>
        </p:txBody>
      </p:sp>
      <p:sp>
        <p:nvSpPr>
          <p:cNvPr id="141316" name="Rectangle 4">
            <a:extLst>
              <a:ext uri="{FF2B5EF4-FFF2-40B4-BE49-F238E27FC236}">
                <a16:creationId xmlns:a16="http://schemas.microsoft.com/office/drawing/2014/main" id="{DCC3627A-1794-4BF3-A5E8-8FD98235950B}"/>
              </a:ext>
            </a:extLst>
          </p:cNvPr>
          <p:cNvSpPr>
            <a:spLocks noChangeArrowheads="1"/>
          </p:cNvSpPr>
          <p:nvPr/>
        </p:nvSpPr>
        <p:spPr bwMode="auto">
          <a:xfrm>
            <a:off x="4800600" y="2922588"/>
            <a:ext cx="3541713" cy="2227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0" lang="en-US" altLang="zh-CN" sz="2800" dirty="0"/>
              <a:t>-important for folding</a:t>
            </a:r>
          </a:p>
          <a:p>
            <a:pPr eaLnBrk="0" hangingPunct="0"/>
            <a:endParaRPr kumimoji="0" lang="en-US" altLang="zh-CN" sz="2800" dirty="0"/>
          </a:p>
          <a:p>
            <a:pPr eaLnBrk="0" hangingPunct="0"/>
            <a:r>
              <a:rPr kumimoji="0" lang="en-US" altLang="zh-CN" sz="2800" dirty="0"/>
              <a:t>-important for function</a:t>
            </a:r>
          </a:p>
          <a:p>
            <a:pPr eaLnBrk="0" hangingPunct="0"/>
            <a:endParaRPr kumimoji="0" lang="en-US" altLang="zh-CN" sz="2800" dirty="0"/>
          </a:p>
          <a:p>
            <a:pPr eaLnBrk="0" hangingPunct="0"/>
            <a:r>
              <a:rPr kumimoji="0" lang="en-US" altLang="zh-CN" sz="2800" dirty="0"/>
              <a:t>-important for targeting</a:t>
            </a:r>
          </a:p>
        </p:txBody>
      </p:sp>
      <p:sp>
        <p:nvSpPr>
          <p:cNvPr id="2" name="矩形 1">
            <a:extLst>
              <a:ext uri="{FF2B5EF4-FFF2-40B4-BE49-F238E27FC236}">
                <a16:creationId xmlns:a16="http://schemas.microsoft.com/office/drawing/2014/main" id="{BF215389-75A4-4853-8E50-91816AABDD6F}"/>
              </a:ext>
            </a:extLst>
          </p:cNvPr>
          <p:cNvSpPr/>
          <p:nvPr/>
        </p:nvSpPr>
        <p:spPr>
          <a:xfrm>
            <a:off x="2555776" y="5949280"/>
            <a:ext cx="1800493" cy="369332"/>
          </a:xfrm>
          <a:prstGeom prst="rect">
            <a:avLst/>
          </a:prstGeom>
        </p:spPr>
        <p:txBody>
          <a:bodyPr wrap="none">
            <a:spAutoFit/>
          </a:bodyPr>
          <a:lstStyle/>
          <a:p>
            <a:r>
              <a:rPr lang="zh-CN" altLang="en-US" dirty="0"/>
              <a:t>乙酰氨基葡萄糖</a:t>
            </a:r>
          </a:p>
        </p:txBody>
      </p:sp>
      <p:sp>
        <p:nvSpPr>
          <p:cNvPr id="3" name="矩形 2">
            <a:extLst>
              <a:ext uri="{FF2B5EF4-FFF2-40B4-BE49-F238E27FC236}">
                <a16:creationId xmlns:a16="http://schemas.microsoft.com/office/drawing/2014/main" id="{3C51D704-55D3-4BEA-941B-4685C89510C6}"/>
              </a:ext>
            </a:extLst>
          </p:cNvPr>
          <p:cNvSpPr/>
          <p:nvPr/>
        </p:nvSpPr>
        <p:spPr>
          <a:xfrm>
            <a:off x="2149255" y="2719608"/>
            <a:ext cx="1582484" cy="369332"/>
          </a:xfrm>
          <a:prstGeom prst="rect">
            <a:avLst/>
          </a:prstGeom>
        </p:spPr>
        <p:txBody>
          <a:bodyPr wrap="none">
            <a:spAutoFit/>
          </a:bodyPr>
          <a:lstStyle/>
          <a:p>
            <a:r>
              <a:rPr lang="en-US" altLang="zh-CN" b="1" dirty="0" err="1">
                <a:solidFill>
                  <a:srgbClr val="FF0000"/>
                </a:solidFill>
                <a:latin typeface="Arial Narrow" panose="020B0606020202030204" pitchFamily="34" charset="0"/>
              </a:rPr>
              <a:t>Asn</a:t>
            </a:r>
            <a:r>
              <a:rPr lang="en-US" altLang="zh-CN" b="1" dirty="0">
                <a:solidFill>
                  <a:srgbClr val="FF0000"/>
                </a:solidFill>
                <a:latin typeface="Arial Narrow" panose="020B0606020202030204" pitchFamily="34" charset="0"/>
              </a:rPr>
              <a:t>-[X]-Ser/</a:t>
            </a:r>
            <a:r>
              <a:rPr lang="en-US" altLang="zh-CN" b="1" dirty="0" err="1">
                <a:solidFill>
                  <a:srgbClr val="FF0000"/>
                </a:solidFill>
                <a:latin typeface="Arial Narrow" panose="020B0606020202030204" pitchFamily="34" charset="0"/>
              </a:rPr>
              <a:t>Thr</a:t>
            </a:r>
            <a:endParaRPr lang="zh-CN" altLang="en-US" b="1" dirty="0">
              <a:solidFill>
                <a:srgbClr val="FF0000"/>
              </a:solidFill>
              <a:latin typeface="Arial Narrow" panose="020B0606020202030204" pitchFamily="34" charset="0"/>
            </a:endParaRPr>
          </a:p>
        </p:txBody>
      </p:sp>
    </p:spTree>
    <p:extLst>
      <p:ext uri="{BB962C8B-B14F-4D97-AF65-F5344CB8AC3E}">
        <p14:creationId xmlns:p14="http://schemas.microsoft.com/office/powerpoint/2010/main" val="31779653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Text Box 2">
            <a:extLst>
              <a:ext uri="{FF2B5EF4-FFF2-40B4-BE49-F238E27FC236}">
                <a16:creationId xmlns:a16="http://schemas.microsoft.com/office/drawing/2014/main" id="{D72039FB-C903-4D60-94B7-9644B543064D}"/>
              </a:ext>
            </a:extLst>
          </p:cNvPr>
          <p:cNvSpPr txBox="1">
            <a:spLocks noChangeArrowheads="1"/>
          </p:cNvSpPr>
          <p:nvPr/>
        </p:nvSpPr>
        <p:spPr bwMode="auto">
          <a:xfrm>
            <a:off x="1143000" y="762000"/>
            <a:ext cx="7315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4000" b="1" dirty="0">
                <a:solidFill>
                  <a:srgbClr val="0000FF"/>
                </a:solidFill>
              </a:rPr>
              <a:t>4. nomenclature</a:t>
            </a:r>
          </a:p>
        </p:txBody>
      </p:sp>
      <p:sp>
        <p:nvSpPr>
          <p:cNvPr id="244739" name="Text Box 3">
            <a:extLst>
              <a:ext uri="{FF2B5EF4-FFF2-40B4-BE49-F238E27FC236}">
                <a16:creationId xmlns:a16="http://schemas.microsoft.com/office/drawing/2014/main" id="{EDFD67A4-CDF3-441B-BBCA-A4C3ABF1972E}"/>
              </a:ext>
            </a:extLst>
          </p:cNvPr>
          <p:cNvSpPr txBox="1">
            <a:spLocks noChangeArrowheads="1"/>
          </p:cNvSpPr>
          <p:nvPr/>
        </p:nvSpPr>
        <p:spPr bwMode="auto">
          <a:xfrm>
            <a:off x="1143000" y="1905000"/>
            <a:ext cx="7391400" cy="283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600" dirty="0"/>
              <a:t>The names of simple sugars and sugar derivatives can all be abbreviated.</a:t>
            </a:r>
          </a:p>
          <a:p>
            <a:pPr eaLnBrk="1" hangingPunct="1">
              <a:spcBef>
                <a:spcPct val="50000"/>
              </a:spcBef>
            </a:pPr>
            <a:r>
              <a:rPr lang="en-US" altLang="zh-CN" sz="3600" dirty="0" err="1"/>
              <a:t>Glc</a:t>
            </a:r>
            <a:r>
              <a:rPr lang="en-US" altLang="zh-CN" sz="3600" dirty="0"/>
              <a:t>		glucose</a:t>
            </a:r>
          </a:p>
          <a:p>
            <a:pPr eaLnBrk="1" hangingPunct="1">
              <a:spcBef>
                <a:spcPct val="50000"/>
              </a:spcBef>
            </a:pPr>
            <a:r>
              <a:rPr lang="en-US" altLang="zh-CN" sz="3600" dirty="0" err="1"/>
              <a:t>Fru</a:t>
            </a:r>
            <a:r>
              <a:rPr lang="en-US" altLang="zh-CN" sz="3600" dirty="0"/>
              <a:t>		fructose</a:t>
            </a:r>
          </a:p>
        </p:txBody>
      </p:sp>
    </p:spTree>
    <p:extLst>
      <p:ext uri="{BB962C8B-B14F-4D97-AF65-F5344CB8AC3E}">
        <p14:creationId xmlns:p14="http://schemas.microsoft.com/office/powerpoint/2010/main" val="422739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Text Box 2">
            <a:extLst>
              <a:ext uri="{FF2B5EF4-FFF2-40B4-BE49-F238E27FC236}">
                <a16:creationId xmlns:a16="http://schemas.microsoft.com/office/drawing/2014/main" id="{AEE473C4-00A8-4F9B-BE7B-12F98F62A640}"/>
              </a:ext>
            </a:extLst>
          </p:cNvPr>
          <p:cNvSpPr txBox="1">
            <a:spLocks noChangeArrowheads="1"/>
          </p:cNvSpPr>
          <p:nvPr/>
        </p:nvSpPr>
        <p:spPr bwMode="auto">
          <a:xfrm>
            <a:off x="1043608" y="260648"/>
            <a:ext cx="7239000"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4400" dirty="0">
                <a:solidFill>
                  <a:srgbClr val="C00000"/>
                </a:solidFill>
              </a:rPr>
              <a:t>J2     </a:t>
            </a:r>
            <a:r>
              <a:rPr lang="en-US" altLang="zh-CN" sz="4400" b="1" dirty="0">
                <a:solidFill>
                  <a:srgbClr val="C00000"/>
                </a:solidFill>
              </a:rPr>
              <a:t>Polysaccharides and </a:t>
            </a:r>
          </a:p>
          <a:p>
            <a:pPr eaLnBrk="1" hangingPunct="1">
              <a:spcBef>
                <a:spcPct val="50000"/>
              </a:spcBef>
            </a:pPr>
            <a:r>
              <a:rPr lang="en-US" altLang="zh-CN" sz="4400" b="1" dirty="0">
                <a:solidFill>
                  <a:srgbClr val="C00000"/>
                </a:solidFill>
              </a:rPr>
              <a:t>           oligosaccharides</a:t>
            </a:r>
          </a:p>
        </p:txBody>
      </p:sp>
      <p:sp>
        <p:nvSpPr>
          <p:cNvPr id="245763" name="Text Box 3">
            <a:extLst>
              <a:ext uri="{FF2B5EF4-FFF2-40B4-BE49-F238E27FC236}">
                <a16:creationId xmlns:a16="http://schemas.microsoft.com/office/drawing/2014/main" id="{F1FD7425-5E24-4DAB-8673-E79C8C91D31D}"/>
              </a:ext>
            </a:extLst>
          </p:cNvPr>
          <p:cNvSpPr txBox="1">
            <a:spLocks noChangeArrowheads="1"/>
          </p:cNvSpPr>
          <p:nvPr/>
        </p:nvSpPr>
        <p:spPr bwMode="auto">
          <a:xfrm>
            <a:off x="755576" y="2271613"/>
            <a:ext cx="8077200" cy="374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4000" dirty="0"/>
              <a:t>Long chains of </a:t>
            </a:r>
            <a:r>
              <a:rPr lang="en-US" altLang="zh-CN" sz="4000" dirty="0" err="1"/>
              <a:t>monosacharides</a:t>
            </a:r>
            <a:r>
              <a:rPr lang="en-US" altLang="zh-CN" sz="4000" dirty="0"/>
              <a:t> joined together are collectively called polysaccharides. The major storage polysaccharides are </a:t>
            </a:r>
            <a:r>
              <a:rPr lang="en-US" altLang="zh-CN" sz="4000" b="1" dirty="0">
                <a:solidFill>
                  <a:srgbClr val="0000FF"/>
                </a:solidFill>
              </a:rPr>
              <a:t>glycogen</a:t>
            </a:r>
            <a:r>
              <a:rPr lang="en-US" altLang="zh-CN" sz="4000" dirty="0"/>
              <a:t>, </a:t>
            </a:r>
            <a:r>
              <a:rPr lang="en-US" altLang="zh-CN" sz="4000" b="1" dirty="0">
                <a:solidFill>
                  <a:srgbClr val="0000FF"/>
                </a:solidFill>
              </a:rPr>
              <a:t>starch</a:t>
            </a:r>
            <a:r>
              <a:rPr lang="zh-CN" altLang="en-US" sz="4000" b="1">
                <a:solidFill>
                  <a:srgbClr val="0000FF"/>
                </a:solidFill>
              </a:rPr>
              <a:t>。</a:t>
            </a:r>
            <a:r>
              <a:rPr lang="en-US" altLang="zh-CN" sz="4000" b="1">
                <a:solidFill>
                  <a:srgbClr val="0000FF"/>
                </a:solidFill>
              </a:rPr>
              <a:t> </a:t>
            </a:r>
            <a:r>
              <a:rPr lang="en-US" altLang="zh-CN" sz="4000" dirty="0"/>
              <a:t>and </a:t>
            </a:r>
            <a:r>
              <a:rPr lang="en-US" altLang="zh-CN" sz="4000" b="1" dirty="0">
                <a:solidFill>
                  <a:srgbClr val="0000FF"/>
                </a:solidFill>
              </a:rPr>
              <a:t>dextran</a:t>
            </a:r>
            <a:r>
              <a:rPr lang="en-US" altLang="zh-CN" sz="4000" dirty="0"/>
              <a:t>. </a:t>
            </a:r>
            <a:r>
              <a:rPr lang="en-US" altLang="zh-CN" sz="4000" b="1" dirty="0">
                <a:solidFill>
                  <a:srgbClr val="0000FF"/>
                </a:solidFill>
              </a:rPr>
              <a:t>Cellulose</a:t>
            </a:r>
            <a:r>
              <a:rPr lang="en-US" altLang="zh-CN" sz="4000" dirty="0"/>
              <a:t> is a  structural polysaccharide found in plant cell wall.</a:t>
            </a:r>
          </a:p>
        </p:txBody>
      </p:sp>
    </p:spTree>
    <p:extLst>
      <p:ext uri="{BB962C8B-B14F-4D97-AF65-F5344CB8AC3E}">
        <p14:creationId xmlns:p14="http://schemas.microsoft.com/office/powerpoint/2010/main" val="5404378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Text Box 2">
            <a:extLst>
              <a:ext uri="{FF2B5EF4-FFF2-40B4-BE49-F238E27FC236}">
                <a16:creationId xmlns:a16="http://schemas.microsoft.com/office/drawing/2014/main" id="{0BEF34BF-1697-404F-B593-64EE19BB03BC}"/>
              </a:ext>
            </a:extLst>
          </p:cNvPr>
          <p:cNvSpPr txBox="1">
            <a:spLocks noChangeArrowheads="1"/>
          </p:cNvSpPr>
          <p:nvPr/>
        </p:nvSpPr>
        <p:spPr bwMode="auto">
          <a:xfrm>
            <a:off x="990600" y="1828800"/>
            <a:ext cx="7696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zh-CN"/>
          </a:p>
        </p:txBody>
      </p:sp>
      <p:pic>
        <p:nvPicPr>
          <p:cNvPr id="246787" name="Picture 3" descr="F09-14a.GIF023                                                 00005046Sumanas' Hard Drive            B4EBCDA7:">
            <a:extLst>
              <a:ext uri="{FF2B5EF4-FFF2-40B4-BE49-F238E27FC236}">
                <a16:creationId xmlns:a16="http://schemas.microsoft.com/office/drawing/2014/main" id="{E4B59D28-60A5-487D-8973-4B0B3370F6C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03648" y="723900"/>
            <a:ext cx="61468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椭圆 1">
            <a:extLst>
              <a:ext uri="{FF2B5EF4-FFF2-40B4-BE49-F238E27FC236}">
                <a16:creationId xmlns:a16="http://schemas.microsoft.com/office/drawing/2014/main" id="{46D9B5C1-AC81-8276-7A5A-D75B8BE4A5AE}"/>
              </a:ext>
            </a:extLst>
          </p:cNvPr>
          <p:cNvSpPr/>
          <p:nvPr/>
        </p:nvSpPr>
        <p:spPr>
          <a:xfrm rot="840219">
            <a:off x="2042631" y="1504232"/>
            <a:ext cx="4680520" cy="288032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12775341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7810" name="Picture 2" descr="F09-14b.GIF024                                                 00005046Sumanas' Hard Drive            B4EBCDA7:">
            <a:extLst>
              <a:ext uri="{FF2B5EF4-FFF2-40B4-BE49-F238E27FC236}">
                <a16:creationId xmlns:a16="http://schemas.microsoft.com/office/drawing/2014/main" id="{00DF87E1-EF4E-4DAD-A62D-A326D02F899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68400" y="711200"/>
            <a:ext cx="68072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453971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5A7075FB-67AA-234A-62ED-F3ED552A394C}"/>
              </a:ext>
            </a:extLst>
          </p:cNvPr>
          <p:cNvPicPr>
            <a:picLocks noChangeAspect="1"/>
          </p:cNvPicPr>
          <p:nvPr/>
        </p:nvPicPr>
        <p:blipFill>
          <a:blip r:embed="rId3"/>
          <a:stretch>
            <a:fillRect/>
          </a:stretch>
        </p:blipFill>
        <p:spPr>
          <a:xfrm>
            <a:off x="957237" y="260648"/>
            <a:ext cx="7229526" cy="6165304"/>
          </a:xfrm>
          <a:prstGeom prst="rect">
            <a:avLst/>
          </a:prstGeom>
        </p:spPr>
      </p:pic>
    </p:spTree>
    <p:extLst>
      <p:ext uri="{BB962C8B-B14F-4D97-AF65-F5344CB8AC3E}">
        <p14:creationId xmlns:p14="http://schemas.microsoft.com/office/powerpoint/2010/main" val="33962909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8834" name="Picture 2" descr="F09-15a.GIF025                                                 00005046Sumanas' Hard Drive            B4EBCDA7:">
            <a:extLst>
              <a:ext uri="{FF2B5EF4-FFF2-40B4-BE49-F238E27FC236}">
                <a16:creationId xmlns:a16="http://schemas.microsoft.com/office/drawing/2014/main" id="{B1D458CA-0949-456B-AB9B-74788E25061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000" y="2514600"/>
            <a:ext cx="8890000" cy="165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89D6D2A6-1109-4A52-84DB-EF3B66B12B51}"/>
              </a:ext>
            </a:extLst>
          </p:cNvPr>
          <p:cNvSpPr/>
          <p:nvPr/>
        </p:nvSpPr>
        <p:spPr>
          <a:xfrm>
            <a:off x="2339752" y="4165600"/>
            <a:ext cx="1762021" cy="369332"/>
          </a:xfrm>
          <a:prstGeom prst="rect">
            <a:avLst/>
          </a:prstGeom>
        </p:spPr>
        <p:txBody>
          <a:bodyPr wrap="none">
            <a:spAutoFit/>
          </a:bodyPr>
          <a:lstStyle/>
          <a:p>
            <a:r>
              <a:rPr lang="en-US" altLang="zh-CN" dirty="0"/>
              <a:t>glycosidic bond</a:t>
            </a:r>
            <a:endParaRPr lang="zh-CN" altLang="en-US" dirty="0"/>
          </a:p>
        </p:txBody>
      </p:sp>
    </p:spTree>
    <p:extLst>
      <p:ext uri="{BB962C8B-B14F-4D97-AF65-F5344CB8AC3E}">
        <p14:creationId xmlns:p14="http://schemas.microsoft.com/office/powerpoint/2010/main" val="4589619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9986F91C-175A-D5A6-8285-335B13B61753}"/>
              </a:ext>
            </a:extLst>
          </p:cNvPr>
          <p:cNvPicPr>
            <a:picLocks noChangeAspect="1"/>
          </p:cNvPicPr>
          <p:nvPr/>
        </p:nvPicPr>
        <p:blipFill>
          <a:blip r:embed="rId3"/>
          <a:stretch>
            <a:fillRect/>
          </a:stretch>
        </p:blipFill>
        <p:spPr>
          <a:xfrm>
            <a:off x="0" y="1653592"/>
            <a:ext cx="9144000" cy="5204408"/>
          </a:xfrm>
          <a:prstGeom prst="rect">
            <a:avLst/>
          </a:prstGeom>
        </p:spPr>
      </p:pic>
      <p:sp>
        <p:nvSpPr>
          <p:cNvPr id="3" name="文本框 2">
            <a:extLst>
              <a:ext uri="{FF2B5EF4-FFF2-40B4-BE49-F238E27FC236}">
                <a16:creationId xmlns:a16="http://schemas.microsoft.com/office/drawing/2014/main" id="{6ED86262-AFD3-FE4A-5F89-8A17CB04A9FF}"/>
              </a:ext>
            </a:extLst>
          </p:cNvPr>
          <p:cNvSpPr txBox="1"/>
          <p:nvPr/>
        </p:nvSpPr>
        <p:spPr>
          <a:xfrm>
            <a:off x="1547664" y="332656"/>
            <a:ext cx="6120680" cy="1200329"/>
          </a:xfrm>
          <a:prstGeom prst="rect">
            <a:avLst/>
          </a:prstGeom>
          <a:noFill/>
        </p:spPr>
        <p:txBody>
          <a:bodyPr wrap="square">
            <a:spAutoFit/>
          </a:bodyPr>
          <a:lstStyle/>
          <a:p>
            <a:r>
              <a:rPr lang="en-US" altLang="zh-CN" sz="2400" dirty="0"/>
              <a:t>Starch: amylose, amylopectin in plants</a:t>
            </a:r>
          </a:p>
          <a:p>
            <a:r>
              <a:rPr lang="en-US" altLang="zh-CN" sz="2400" dirty="0"/>
              <a:t>                                 glycogen in animals</a:t>
            </a:r>
          </a:p>
          <a:p>
            <a:endParaRPr lang="zh-CN" altLang="en-US" sz="2400" dirty="0"/>
          </a:p>
        </p:txBody>
      </p:sp>
      <p:sp>
        <p:nvSpPr>
          <p:cNvPr id="2" name="文本框 1">
            <a:extLst>
              <a:ext uri="{FF2B5EF4-FFF2-40B4-BE49-F238E27FC236}">
                <a16:creationId xmlns:a16="http://schemas.microsoft.com/office/drawing/2014/main" id="{99924946-EFA1-0C8B-2E47-B907BCAFE022}"/>
              </a:ext>
            </a:extLst>
          </p:cNvPr>
          <p:cNvSpPr txBox="1"/>
          <p:nvPr/>
        </p:nvSpPr>
        <p:spPr>
          <a:xfrm>
            <a:off x="830961" y="1348319"/>
            <a:ext cx="3068469" cy="400110"/>
          </a:xfrm>
          <a:prstGeom prst="rect">
            <a:avLst/>
          </a:prstGeom>
          <a:noFill/>
        </p:spPr>
        <p:txBody>
          <a:bodyPr wrap="none" rtlCol="0">
            <a:spAutoFit/>
          </a:bodyPr>
          <a:lstStyle/>
          <a:p>
            <a:r>
              <a:rPr lang="el-GR" altLang="zh-CN" sz="2000" dirty="0"/>
              <a:t>α</a:t>
            </a:r>
            <a:r>
              <a:rPr lang="en-US" altLang="zh-CN" sz="2000" dirty="0"/>
              <a:t>-D-glucose as monomer</a:t>
            </a:r>
            <a:endParaRPr lang="zh-CN" altLang="en-US" sz="2000" dirty="0"/>
          </a:p>
        </p:txBody>
      </p:sp>
    </p:spTree>
    <p:extLst>
      <p:ext uri="{BB962C8B-B14F-4D97-AF65-F5344CB8AC3E}">
        <p14:creationId xmlns:p14="http://schemas.microsoft.com/office/powerpoint/2010/main" val="28577178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0882" name="Picture 2" descr="F09-16a.GIF028                                                 00005046Sumanas' Hard Drive            B4EBCDA7:">
            <a:extLst>
              <a:ext uri="{FF2B5EF4-FFF2-40B4-BE49-F238E27FC236}">
                <a16:creationId xmlns:a16="http://schemas.microsoft.com/office/drawing/2014/main" id="{84909513-0C8C-445E-B497-4D4A9758CCB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15616" y="969523"/>
            <a:ext cx="3024336" cy="4202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0D334FAC-1367-4A62-AF13-07A435FE8AEC}"/>
              </a:ext>
            </a:extLst>
          </p:cNvPr>
          <p:cNvSpPr txBox="1"/>
          <p:nvPr/>
        </p:nvSpPr>
        <p:spPr>
          <a:xfrm>
            <a:off x="3064098" y="5888477"/>
            <a:ext cx="1152128" cy="369332"/>
          </a:xfrm>
          <a:prstGeom prst="rect">
            <a:avLst/>
          </a:prstGeom>
          <a:noFill/>
        </p:spPr>
        <p:txBody>
          <a:bodyPr wrap="square" rtlCol="0">
            <a:spAutoFit/>
          </a:bodyPr>
          <a:lstStyle/>
          <a:p>
            <a:r>
              <a:rPr lang="en-US" altLang="zh-CN" dirty="0"/>
              <a:t>starch</a:t>
            </a:r>
            <a:endParaRPr lang="zh-CN" altLang="en-US" dirty="0"/>
          </a:p>
        </p:txBody>
      </p:sp>
      <p:pic>
        <p:nvPicPr>
          <p:cNvPr id="3" name="图片 2">
            <a:extLst>
              <a:ext uri="{FF2B5EF4-FFF2-40B4-BE49-F238E27FC236}">
                <a16:creationId xmlns:a16="http://schemas.microsoft.com/office/drawing/2014/main" id="{DB557019-48E8-6B93-5926-3DCF5CDDDBDA}"/>
              </a:ext>
            </a:extLst>
          </p:cNvPr>
          <p:cNvPicPr>
            <a:picLocks noChangeAspect="1"/>
          </p:cNvPicPr>
          <p:nvPr/>
        </p:nvPicPr>
        <p:blipFill>
          <a:blip r:embed="rId4"/>
          <a:stretch>
            <a:fillRect/>
          </a:stretch>
        </p:blipFill>
        <p:spPr>
          <a:xfrm>
            <a:off x="4139952" y="335440"/>
            <a:ext cx="4145120" cy="4836732"/>
          </a:xfrm>
          <a:prstGeom prst="rect">
            <a:avLst/>
          </a:prstGeom>
        </p:spPr>
      </p:pic>
      <p:pic>
        <p:nvPicPr>
          <p:cNvPr id="4" name="图片 3">
            <a:extLst>
              <a:ext uri="{FF2B5EF4-FFF2-40B4-BE49-F238E27FC236}">
                <a16:creationId xmlns:a16="http://schemas.microsoft.com/office/drawing/2014/main" id="{9DD21D7D-E3D6-D80E-D92F-40E92E774FB8}"/>
              </a:ext>
            </a:extLst>
          </p:cNvPr>
          <p:cNvPicPr>
            <a:picLocks noChangeAspect="1"/>
          </p:cNvPicPr>
          <p:nvPr/>
        </p:nvPicPr>
        <p:blipFill>
          <a:blip r:embed="rId5"/>
          <a:stretch>
            <a:fillRect/>
          </a:stretch>
        </p:blipFill>
        <p:spPr>
          <a:xfrm>
            <a:off x="4427984" y="5270554"/>
            <a:ext cx="4191000" cy="1047750"/>
          </a:xfrm>
          <a:prstGeom prst="rect">
            <a:avLst/>
          </a:prstGeom>
        </p:spPr>
      </p:pic>
    </p:spTree>
    <p:extLst>
      <p:ext uri="{BB962C8B-B14F-4D97-AF65-F5344CB8AC3E}">
        <p14:creationId xmlns:p14="http://schemas.microsoft.com/office/powerpoint/2010/main" val="16410979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2930" name="Picture 2" descr="F09-17a.GIF030                                                 00005046Sumanas' Hard Drive            B4EBCDA7:">
            <a:extLst>
              <a:ext uri="{FF2B5EF4-FFF2-40B4-BE49-F238E27FC236}">
                <a16:creationId xmlns:a16="http://schemas.microsoft.com/office/drawing/2014/main" id="{C2DEF505-9381-4CBF-9465-00BBFC8E20A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8200" y="1295400"/>
            <a:ext cx="8026400"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C4A75CA8-78B6-0682-AE04-62F6E8EBB7C4}"/>
              </a:ext>
            </a:extLst>
          </p:cNvPr>
          <p:cNvSpPr txBox="1"/>
          <p:nvPr/>
        </p:nvSpPr>
        <p:spPr>
          <a:xfrm>
            <a:off x="838200" y="857190"/>
            <a:ext cx="3066865" cy="400110"/>
          </a:xfrm>
          <a:prstGeom prst="rect">
            <a:avLst/>
          </a:prstGeom>
          <a:noFill/>
        </p:spPr>
        <p:txBody>
          <a:bodyPr wrap="none" rtlCol="0">
            <a:spAutoFit/>
          </a:bodyPr>
          <a:lstStyle/>
          <a:p>
            <a:r>
              <a:rPr lang="el-GR" altLang="zh-CN" sz="2000" dirty="0"/>
              <a:t>β</a:t>
            </a:r>
            <a:r>
              <a:rPr lang="en-US" altLang="zh-CN" sz="2000" dirty="0"/>
              <a:t>-D-glucose as monomer</a:t>
            </a:r>
            <a:endParaRPr lang="zh-CN" altLang="en-US" sz="2000" dirty="0"/>
          </a:p>
        </p:txBody>
      </p:sp>
    </p:spTree>
    <p:extLst>
      <p:ext uri="{BB962C8B-B14F-4D97-AF65-F5344CB8AC3E}">
        <p14:creationId xmlns:p14="http://schemas.microsoft.com/office/powerpoint/2010/main" val="25127191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3954" name="Picture 2" descr="F09-17b.GIF031                                                 00005046Sumanas' Hard Drive            B4EBCDA7:">
            <a:extLst>
              <a:ext uri="{FF2B5EF4-FFF2-40B4-BE49-F238E27FC236}">
                <a16:creationId xmlns:a16="http://schemas.microsoft.com/office/drawing/2014/main" id="{0C7D06D0-737D-4643-8AD5-47C111350EB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7584" y="202232"/>
            <a:ext cx="80264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3BB1D31B-FB08-1330-9426-BFD919B19113}"/>
              </a:ext>
            </a:extLst>
          </p:cNvPr>
          <p:cNvSpPr txBox="1"/>
          <p:nvPr/>
        </p:nvSpPr>
        <p:spPr>
          <a:xfrm>
            <a:off x="4017008" y="5661248"/>
            <a:ext cx="1647552" cy="461665"/>
          </a:xfrm>
          <a:prstGeom prst="rect">
            <a:avLst/>
          </a:prstGeom>
          <a:noFill/>
        </p:spPr>
        <p:txBody>
          <a:bodyPr wrap="square" rtlCol="0">
            <a:spAutoFit/>
          </a:bodyPr>
          <a:lstStyle/>
          <a:p>
            <a:r>
              <a:rPr lang="en-US" altLang="zh-CN" sz="2400" b="1" dirty="0"/>
              <a:t>cellulose</a:t>
            </a:r>
            <a:endParaRPr lang="zh-CN" altLang="en-US" sz="2400" b="1" dirty="0"/>
          </a:p>
        </p:txBody>
      </p:sp>
    </p:spTree>
    <p:extLst>
      <p:ext uri="{BB962C8B-B14F-4D97-AF65-F5344CB8AC3E}">
        <p14:creationId xmlns:p14="http://schemas.microsoft.com/office/powerpoint/2010/main" val="20720703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24889A98-9C1D-BD29-B4B2-E2EF94178165}"/>
              </a:ext>
            </a:extLst>
          </p:cNvPr>
          <p:cNvPicPr>
            <a:picLocks noChangeAspect="1"/>
          </p:cNvPicPr>
          <p:nvPr/>
        </p:nvPicPr>
        <p:blipFill>
          <a:blip r:embed="rId3"/>
          <a:stretch>
            <a:fillRect/>
          </a:stretch>
        </p:blipFill>
        <p:spPr>
          <a:xfrm>
            <a:off x="194602" y="11832"/>
            <a:ext cx="4377398" cy="6858000"/>
          </a:xfrm>
          <a:prstGeom prst="rect">
            <a:avLst/>
          </a:prstGeom>
        </p:spPr>
      </p:pic>
      <p:sp>
        <p:nvSpPr>
          <p:cNvPr id="5" name="文本框 4">
            <a:extLst>
              <a:ext uri="{FF2B5EF4-FFF2-40B4-BE49-F238E27FC236}">
                <a16:creationId xmlns:a16="http://schemas.microsoft.com/office/drawing/2014/main" id="{53C607F1-5390-FF6F-E93A-34A8D2D27A57}"/>
              </a:ext>
            </a:extLst>
          </p:cNvPr>
          <p:cNvSpPr txBox="1"/>
          <p:nvPr/>
        </p:nvSpPr>
        <p:spPr>
          <a:xfrm>
            <a:off x="4860032" y="692696"/>
            <a:ext cx="2592288" cy="5262979"/>
          </a:xfrm>
          <a:prstGeom prst="rect">
            <a:avLst/>
          </a:prstGeom>
          <a:noFill/>
        </p:spPr>
        <p:txBody>
          <a:bodyPr wrap="square">
            <a:spAutoFit/>
          </a:bodyPr>
          <a:lstStyle/>
          <a:p>
            <a:r>
              <a:rPr lang="en-US" altLang="zh-CN" sz="2400" dirty="0"/>
              <a:t>Termite</a:t>
            </a:r>
          </a:p>
          <a:p>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r>
              <a:rPr lang="en-US" altLang="zh-CN" sz="2400" b="0" i="1" dirty="0" err="1">
                <a:solidFill>
                  <a:srgbClr val="000000"/>
                </a:solidFill>
                <a:effectLst/>
                <a:latin typeface="TimesNewRomanPS-ItalicMT"/>
              </a:rPr>
              <a:t>Trichonympha</a:t>
            </a:r>
            <a:r>
              <a:rPr lang="en-US" altLang="zh-CN" sz="2400" dirty="0"/>
              <a:t> </a:t>
            </a:r>
            <a:br>
              <a:rPr lang="en-US" altLang="zh-CN" sz="2400" dirty="0"/>
            </a:br>
            <a:endParaRPr lang="en-US" altLang="zh-CN" sz="2400" dirty="0"/>
          </a:p>
          <a:p>
            <a:endParaRPr lang="zh-CN" altLang="en-US" sz="2400" i="1" dirty="0"/>
          </a:p>
        </p:txBody>
      </p:sp>
    </p:spTree>
    <p:extLst>
      <p:ext uri="{BB962C8B-B14F-4D97-AF65-F5344CB8AC3E}">
        <p14:creationId xmlns:p14="http://schemas.microsoft.com/office/powerpoint/2010/main" val="9403910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CA7C0C1B-B5A2-F832-86E6-501C0723496E}"/>
              </a:ext>
            </a:extLst>
          </p:cNvPr>
          <p:cNvPicPr>
            <a:picLocks noChangeAspect="1"/>
          </p:cNvPicPr>
          <p:nvPr/>
        </p:nvPicPr>
        <p:blipFill>
          <a:blip r:embed="rId3"/>
          <a:stretch>
            <a:fillRect/>
          </a:stretch>
        </p:blipFill>
        <p:spPr>
          <a:xfrm>
            <a:off x="0" y="1006231"/>
            <a:ext cx="9144000" cy="4845538"/>
          </a:xfrm>
          <a:prstGeom prst="rect">
            <a:avLst/>
          </a:prstGeom>
        </p:spPr>
      </p:pic>
      <p:sp>
        <p:nvSpPr>
          <p:cNvPr id="2" name="文本框 1">
            <a:extLst>
              <a:ext uri="{FF2B5EF4-FFF2-40B4-BE49-F238E27FC236}">
                <a16:creationId xmlns:a16="http://schemas.microsoft.com/office/drawing/2014/main" id="{78F070B8-A3E3-9E68-E5E4-5CCACF4A2323}"/>
              </a:ext>
            </a:extLst>
          </p:cNvPr>
          <p:cNvSpPr txBox="1"/>
          <p:nvPr/>
        </p:nvSpPr>
        <p:spPr>
          <a:xfrm>
            <a:off x="683568" y="806176"/>
            <a:ext cx="3068469" cy="400110"/>
          </a:xfrm>
          <a:prstGeom prst="rect">
            <a:avLst/>
          </a:prstGeom>
          <a:noFill/>
        </p:spPr>
        <p:txBody>
          <a:bodyPr wrap="none" rtlCol="0">
            <a:spAutoFit/>
          </a:bodyPr>
          <a:lstStyle/>
          <a:p>
            <a:r>
              <a:rPr lang="el-GR" altLang="zh-CN" sz="2000" dirty="0"/>
              <a:t>α</a:t>
            </a:r>
            <a:r>
              <a:rPr lang="en-US" altLang="zh-CN" sz="2000" dirty="0"/>
              <a:t>-D-glucose as monomer</a:t>
            </a:r>
            <a:endParaRPr lang="zh-CN" altLang="en-US" sz="2000" dirty="0"/>
          </a:p>
        </p:txBody>
      </p:sp>
    </p:spTree>
    <p:extLst>
      <p:ext uri="{BB962C8B-B14F-4D97-AF65-F5344CB8AC3E}">
        <p14:creationId xmlns:p14="http://schemas.microsoft.com/office/powerpoint/2010/main" val="41182706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40AB2018-2E68-7F6B-BDAE-F99A851F70AC}"/>
              </a:ext>
            </a:extLst>
          </p:cNvPr>
          <p:cNvPicPr>
            <a:picLocks noChangeAspect="1"/>
          </p:cNvPicPr>
          <p:nvPr/>
        </p:nvPicPr>
        <p:blipFill>
          <a:blip r:embed="rId3"/>
          <a:stretch>
            <a:fillRect/>
          </a:stretch>
        </p:blipFill>
        <p:spPr>
          <a:xfrm>
            <a:off x="0" y="531038"/>
            <a:ext cx="9144000" cy="5795923"/>
          </a:xfrm>
          <a:prstGeom prst="rect">
            <a:avLst/>
          </a:prstGeom>
        </p:spPr>
      </p:pic>
      <p:sp>
        <p:nvSpPr>
          <p:cNvPr id="5" name="文本框 4">
            <a:extLst>
              <a:ext uri="{FF2B5EF4-FFF2-40B4-BE49-F238E27FC236}">
                <a16:creationId xmlns:a16="http://schemas.microsoft.com/office/drawing/2014/main" id="{3F7FF1B7-21A9-E5AE-CBE3-D1E9B003FB83}"/>
              </a:ext>
            </a:extLst>
          </p:cNvPr>
          <p:cNvSpPr txBox="1"/>
          <p:nvPr/>
        </p:nvSpPr>
        <p:spPr>
          <a:xfrm>
            <a:off x="3347864" y="4149080"/>
            <a:ext cx="5328592" cy="1815882"/>
          </a:xfrm>
          <a:prstGeom prst="rect">
            <a:avLst/>
          </a:prstGeom>
          <a:noFill/>
        </p:spPr>
        <p:txBody>
          <a:bodyPr wrap="square">
            <a:spAutoFit/>
          </a:bodyPr>
          <a:lstStyle/>
          <a:p>
            <a:r>
              <a:rPr lang="en-US" altLang="zh-CN" sz="2800" b="1" i="0" dirty="0">
                <a:solidFill>
                  <a:srgbClr val="000000"/>
                </a:solidFill>
                <a:effectLst/>
                <a:latin typeface="TimesNewRomanPS-BoldMT"/>
              </a:rPr>
              <a:t>Chitin</a:t>
            </a:r>
          </a:p>
          <a:p>
            <a:r>
              <a:rPr lang="en-US" altLang="zh-CN" sz="2800" b="0" i="0" dirty="0">
                <a:solidFill>
                  <a:srgbClr val="000000"/>
                </a:solidFill>
                <a:effectLst/>
                <a:latin typeface="TimesNewRomanPSMT"/>
              </a:rPr>
              <a:t>a homopolymer of </a:t>
            </a:r>
            <a:r>
              <a:rPr lang="en-US" altLang="zh-CN" sz="2800" b="0" i="1" dirty="0">
                <a:solidFill>
                  <a:srgbClr val="000000"/>
                </a:solidFill>
                <a:effectLst/>
                <a:latin typeface="TimesNewRomanPS-ItalicMT"/>
              </a:rPr>
              <a:t>N</a:t>
            </a:r>
            <a:r>
              <a:rPr lang="en-US" altLang="zh-CN" sz="2800" b="0" i="0" dirty="0">
                <a:solidFill>
                  <a:srgbClr val="000000"/>
                </a:solidFill>
                <a:effectLst/>
                <a:latin typeface="TimesNewRomanPSMT"/>
              </a:rPr>
              <a:t>-acetyl-D-glucosamine units in (</a:t>
            </a:r>
            <a:r>
              <a:rPr lang="el-GR" altLang="zh-CN" sz="2800" b="0" i="1" dirty="0">
                <a:solidFill>
                  <a:srgbClr val="000000"/>
                </a:solidFill>
                <a:effectLst/>
                <a:latin typeface="TimesNewRomanPS-ItalicMT"/>
              </a:rPr>
              <a:t>β</a:t>
            </a:r>
            <a:r>
              <a:rPr lang="el-GR" altLang="zh-CN" sz="2800" b="0" i="0" dirty="0">
                <a:solidFill>
                  <a:srgbClr val="000000"/>
                </a:solidFill>
                <a:effectLst/>
                <a:latin typeface="TimesNewRomanPSMT"/>
              </a:rPr>
              <a:t>1→4) </a:t>
            </a:r>
            <a:r>
              <a:rPr lang="en-US" altLang="zh-CN" sz="2800" b="0" i="0" dirty="0">
                <a:solidFill>
                  <a:srgbClr val="000000"/>
                </a:solidFill>
                <a:effectLst/>
                <a:latin typeface="TimesNewRomanPSMT"/>
              </a:rPr>
              <a:t>linkage.</a:t>
            </a:r>
            <a:endParaRPr lang="zh-CN" altLang="en-US" sz="2800" dirty="0"/>
          </a:p>
        </p:txBody>
      </p:sp>
      <p:sp>
        <p:nvSpPr>
          <p:cNvPr id="2" name="文本框 1">
            <a:extLst>
              <a:ext uri="{FF2B5EF4-FFF2-40B4-BE49-F238E27FC236}">
                <a16:creationId xmlns:a16="http://schemas.microsoft.com/office/drawing/2014/main" id="{2970FC3E-AD9C-62D7-44E3-DC85C01D216E}"/>
              </a:ext>
            </a:extLst>
          </p:cNvPr>
          <p:cNvSpPr txBox="1"/>
          <p:nvPr/>
        </p:nvSpPr>
        <p:spPr>
          <a:xfrm>
            <a:off x="539552" y="346372"/>
            <a:ext cx="3794629" cy="646331"/>
          </a:xfrm>
          <a:prstGeom prst="rect">
            <a:avLst/>
          </a:prstGeom>
          <a:noFill/>
        </p:spPr>
        <p:txBody>
          <a:bodyPr wrap="none" rtlCol="0">
            <a:spAutoFit/>
          </a:bodyPr>
          <a:lstStyle/>
          <a:p>
            <a:r>
              <a:rPr lang="en-US" altLang="zh-CN" sz="1800" b="0" i="1" dirty="0">
                <a:solidFill>
                  <a:srgbClr val="000000"/>
                </a:solidFill>
                <a:effectLst/>
                <a:latin typeface="TimesNewRomanPS-ItalicMT"/>
              </a:rPr>
              <a:t>N</a:t>
            </a:r>
            <a:r>
              <a:rPr lang="en-US" altLang="zh-CN" sz="1800" b="0" i="0" dirty="0">
                <a:solidFill>
                  <a:srgbClr val="000000"/>
                </a:solidFill>
                <a:effectLst/>
                <a:latin typeface="TimesNewRomanPSMT"/>
              </a:rPr>
              <a:t>-acetyl-D-glucosamine </a:t>
            </a:r>
            <a:r>
              <a:rPr lang="en-US" altLang="zh-CN" sz="1800" dirty="0"/>
              <a:t>as monomer</a:t>
            </a:r>
            <a:endParaRPr lang="en-US" altLang="zh-CN" sz="1800" b="0" i="0" dirty="0">
              <a:solidFill>
                <a:srgbClr val="000000"/>
              </a:solidFill>
              <a:effectLst/>
              <a:latin typeface="TimesNewRomanPSMT"/>
            </a:endParaRPr>
          </a:p>
          <a:p>
            <a:r>
              <a:rPr lang="el-GR" altLang="zh-CN" dirty="0"/>
              <a:t>β</a:t>
            </a:r>
            <a:r>
              <a:rPr lang="en-US" altLang="zh-CN" dirty="0">
                <a:solidFill>
                  <a:srgbClr val="000000"/>
                </a:solidFill>
                <a:latin typeface="TimesNewRomanPSMT"/>
              </a:rPr>
              <a:t>-D-glucose</a:t>
            </a:r>
            <a:endParaRPr lang="zh-CN" altLang="en-US" dirty="0"/>
          </a:p>
        </p:txBody>
      </p:sp>
    </p:spTree>
    <p:extLst>
      <p:ext uri="{BB962C8B-B14F-4D97-AF65-F5344CB8AC3E}">
        <p14:creationId xmlns:p14="http://schemas.microsoft.com/office/powerpoint/2010/main" val="11861416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C2BFE8BC-5ABC-C3F0-E2A0-374ECF720FC2}"/>
              </a:ext>
            </a:extLst>
          </p:cNvPr>
          <p:cNvPicPr>
            <a:picLocks noChangeAspect="1"/>
          </p:cNvPicPr>
          <p:nvPr/>
        </p:nvPicPr>
        <p:blipFill>
          <a:blip r:embed="rId3"/>
          <a:stretch>
            <a:fillRect/>
          </a:stretch>
        </p:blipFill>
        <p:spPr>
          <a:xfrm>
            <a:off x="0" y="1432737"/>
            <a:ext cx="9144000" cy="3992526"/>
          </a:xfrm>
          <a:prstGeom prst="rect">
            <a:avLst/>
          </a:prstGeom>
        </p:spPr>
      </p:pic>
      <p:sp>
        <p:nvSpPr>
          <p:cNvPr id="2" name="文本框 1">
            <a:extLst>
              <a:ext uri="{FF2B5EF4-FFF2-40B4-BE49-F238E27FC236}">
                <a16:creationId xmlns:a16="http://schemas.microsoft.com/office/drawing/2014/main" id="{7F503277-EF60-047B-FB67-66EE1D9061A3}"/>
              </a:ext>
            </a:extLst>
          </p:cNvPr>
          <p:cNvSpPr txBox="1"/>
          <p:nvPr/>
        </p:nvSpPr>
        <p:spPr>
          <a:xfrm>
            <a:off x="539552" y="346372"/>
            <a:ext cx="5852884" cy="369332"/>
          </a:xfrm>
          <a:prstGeom prst="rect">
            <a:avLst/>
          </a:prstGeom>
          <a:noFill/>
        </p:spPr>
        <p:txBody>
          <a:bodyPr wrap="none" rtlCol="0">
            <a:spAutoFit/>
          </a:bodyPr>
          <a:lstStyle/>
          <a:p>
            <a:r>
              <a:rPr lang="el-GR" altLang="zh-CN" sz="1800" b="0" dirty="0">
                <a:solidFill>
                  <a:srgbClr val="000000"/>
                </a:solidFill>
                <a:effectLst/>
                <a:latin typeface="TimesNewRomanPS-ItalicMT"/>
              </a:rPr>
              <a:t>β</a:t>
            </a:r>
            <a:r>
              <a:rPr lang="en-US" altLang="zh-CN" sz="1800" b="0" dirty="0">
                <a:solidFill>
                  <a:srgbClr val="000000"/>
                </a:solidFill>
                <a:effectLst/>
                <a:latin typeface="TimesNewRomanPS-ItalicMT"/>
              </a:rPr>
              <a:t>-D-galactose</a:t>
            </a:r>
            <a:r>
              <a:rPr lang="zh-CN" altLang="en-US" sz="1800" b="0" dirty="0">
                <a:solidFill>
                  <a:srgbClr val="000000"/>
                </a:solidFill>
                <a:effectLst/>
                <a:latin typeface="TimesNewRomanPS-ItalicMT"/>
              </a:rPr>
              <a:t>，</a:t>
            </a:r>
            <a:r>
              <a:rPr lang="el-GR" altLang="zh-CN" sz="1800" b="0" dirty="0">
                <a:solidFill>
                  <a:srgbClr val="000000"/>
                </a:solidFill>
                <a:effectLst/>
                <a:latin typeface="TimesNewRomanPS-ItalicMT"/>
              </a:rPr>
              <a:t> </a:t>
            </a:r>
            <a:r>
              <a:rPr lang="en-US" altLang="zh-CN" sz="1800" b="0" dirty="0">
                <a:solidFill>
                  <a:srgbClr val="000000"/>
                </a:solidFill>
                <a:effectLst/>
                <a:latin typeface="TimesNewRomanPS-ItalicMT"/>
              </a:rPr>
              <a:t>3</a:t>
            </a:r>
            <a:r>
              <a:rPr lang="en-US" altLang="zh-CN" dirty="0">
                <a:solidFill>
                  <a:srgbClr val="000000"/>
                </a:solidFill>
                <a:latin typeface="TimesNewRomanPS-ItalicMT"/>
              </a:rPr>
              <a:t>,6-andydro</a:t>
            </a:r>
            <a:r>
              <a:rPr lang="el-GR" altLang="zh-CN" dirty="0">
                <a:solidFill>
                  <a:srgbClr val="000000"/>
                </a:solidFill>
                <a:latin typeface="TimesNewRomanPS-ItalicMT"/>
              </a:rPr>
              <a:t> α </a:t>
            </a:r>
            <a:r>
              <a:rPr lang="en-US" altLang="zh-CN" sz="1800" b="0" dirty="0">
                <a:solidFill>
                  <a:srgbClr val="000000"/>
                </a:solidFill>
                <a:effectLst/>
                <a:latin typeface="TimesNewRomanPS-ItalicMT"/>
              </a:rPr>
              <a:t>-L-galactose</a:t>
            </a:r>
            <a:r>
              <a:rPr lang="zh-CN" altLang="en-US" sz="1800" b="0" dirty="0">
                <a:solidFill>
                  <a:srgbClr val="000000"/>
                </a:solidFill>
                <a:effectLst/>
                <a:latin typeface="TimesNewRomanPS-ItalicMT"/>
              </a:rPr>
              <a:t>，</a:t>
            </a:r>
            <a:r>
              <a:rPr lang="en-US" altLang="zh-CN" sz="1800" b="0" dirty="0">
                <a:solidFill>
                  <a:srgbClr val="000000"/>
                </a:solidFill>
                <a:effectLst/>
                <a:latin typeface="TimesNewRomanPSMT"/>
              </a:rPr>
              <a:t> </a:t>
            </a:r>
            <a:r>
              <a:rPr lang="en-US" altLang="zh-CN" sz="1800" dirty="0"/>
              <a:t>as monomer</a:t>
            </a:r>
          </a:p>
        </p:txBody>
      </p:sp>
    </p:spTree>
    <p:extLst>
      <p:ext uri="{BB962C8B-B14F-4D97-AF65-F5344CB8AC3E}">
        <p14:creationId xmlns:p14="http://schemas.microsoft.com/office/powerpoint/2010/main" val="30908190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02" name="Picture 2" descr="F09-19.0.GIF033                                                00005046Sumanas' Hard Drive            B4EBCDA7:">
            <a:extLst>
              <a:ext uri="{FF2B5EF4-FFF2-40B4-BE49-F238E27FC236}">
                <a16:creationId xmlns:a16="http://schemas.microsoft.com/office/drawing/2014/main" id="{4F5D617B-4E09-40BC-884B-8B9F1E17E33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47800" y="304800"/>
            <a:ext cx="6324600" cy="632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a:extLst>
              <a:ext uri="{FF2B5EF4-FFF2-40B4-BE49-F238E27FC236}">
                <a16:creationId xmlns:a16="http://schemas.microsoft.com/office/drawing/2014/main" id="{305B4426-41AB-CEF1-6485-58F4A3B16222}"/>
              </a:ext>
            </a:extLst>
          </p:cNvPr>
          <p:cNvSpPr txBox="1"/>
          <p:nvPr/>
        </p:nvSpPr>
        <p:spPr>
          <a:xfrm>
            <a:off x="58316" y="304800"/>
            <a:ext cx="4572000" cy="584775"/>
          </a:xfrm>
          <a:prstGeom prst="rect">
            <a:avLst/>
          </a:prstGeom>
          <a:noFill/>
        </p:spPr>
        <p:txBody>
          <a:bodyPr wrap="square">
            <a:spAutoFit/>
          </a:bodyPr>
          <a:lstStyle/>
          <a:p>
            <a:r>
              <a:rPr lang="en-US" altLang="zh-CN" sz="3200" b="1" dirty="0"/>
              <a:t>peptidoglycan</a:t>
            </a:r>
            <a:endParaRPr lang="zh-CN" altLang="en-US" sz="3200" b="1" dirty="0"/>
          </a:p>
        </p:txBody>
      </p:sp>
    </p:spTree>
    <p:extLst>
      <p:ext uri="{BB962C8B-B14F-4D97-AF65-F5344CB8AC3E}">
        <p14:creationId xmlns:p14="http://schemas.microsoft.com/office/powerpoint/2010/main" val="27886506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7026" name="Picture 7" descr="D:\各人文件夹\王晓云\酶学图\NAG copy.jpg">
            <a:extLst>
              <a:ext uri="{FF2B5EF4-FFF2-40B4-BE49-F238E27FC236}">
                <a16:creationId xmlns:a16="http://schemas.microsoft.com/office/drawing/2014/main" id="{A1560A89-2BF7-4C0B-A305-5FB5F34D0DB7}"/>
              </a:ext>
            </a:extLst>
          </p:cNvPr>
          <p:cNvPicPr>
            <a:picLocks noChangeAspect="1" noChangeArrowheads="1"/>
          </p:cNvPicPr>
          <p:nvPr/>
        </p:nvPicPr>
        <p:blipFill rotWithShape="1">
          <a:blip r:embed="rId2" cstate="print">
            <a:lum bright="10000" contrast="-10000"/>
            <a:extLst>
              <a:ext uri="{28A0092B-C50C-407E-A947-70E740481C1C}">
                <a14:useLocalDpi xmlns:a14="http://schemas.microsoft.com/office/drawing/2010/main" val="0"/>
              </a:ext>
            </a:extLst>
          </a:blip>
          <a:srcRect/>
          <a:stretch/>
        </p:blipFill>
        <p:spPr bwMode="auto">
          <a:xfrm>
            <a:off x="1547664" y="404664"/>
            <a:ext cx="6921500" cy="5575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7027" name="矩形 2">
            <a:extLst>
              <a:ext uri="{FF2B5EF4-FFF2-40B4-BE49-F238E27FC236}">
                <a16:creationId xmlns:a16="http://schemas.microsoft.com/office/drawing/2014/main" id="{0D0F38FF-9B2C-483A-BA68-7F1CA7F301EF}"/>
              </a:ext>
            </a:extLst>
          </p:cNvPr>
          <p:cNvSpPr>
            <a:spLocks noChangeArrowheads="1"/>
          </p:cNvSpPr>
          <p:nvPr/>
        </p:nvSpPr>
        <p:spPr bwMode="auto">
          <a:xfrm>
            <a:off x="3300264" y="5968604"/>
            <a:ext cx="3749675" cy="530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20000"/>
              </a:lnSpc>
              <a:spcBef>
                <a:spcPct val="50000"/>
              </a:spcBef>
            </a:pPr>
            <a:r>
              <a:rPr lang="en-US" altLang="zh-CN" b="1" dirty="0">
                <a:ea typeface="华文中宋" panose="02010600040101010101" pitchFamily="2" charset="-122"/>
              </a:rPr>
              <a:t>N—</a:t>
            </a:r>
            <a:r>
              <a:rPr lang="zh-CN" altLang="en-US" b="1" dirty="0">
                <a:ea typeface="华文中宋" panose="02010600040101010101" pitchFamily="2" charset="-122"/>
              </a:rPr>
              <a:t>乙酰氨基葡萄糖   </a:t>
            </a:r>
            <a:r>
              <a:rPr lang="en-US" altLang="zh-CN" b="1" dirty="0">
                <a:ea typeface="华文中宋" panose="02010600040101010101" pitchFamily="2" charset="-122"/>
              </a:rPr>
              <a:t>NAG</a:t>
            </a:r>
          </a:p>
        </p:txBody>
      </p:sp>
    </p:spTree>
    <p:extLst>
      <p:ext uri="{BB962C8B-B14F-4D97-AF65-F5344CB8AC3E}">
        <p14:creationId xmlns:p14="http://schemas.microsoft.com/office/powerpoint/2010/main" val="4221822610"/>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8050" name="Picture 2" descr="D:\各人文件夹\王晓云\酶学图\NAM.jpg">
            <a:extLst>
              <a:ext uri="{FF2B5EF4-FFF2-40B4-BE49-F238E27FC236}">
                <a16:creationId xmlns:a16="http://schemas.microsoft.com/office/drawing/2014/main" id="{CF53EFC9-5B58-45A8-8110-A779C4A8C99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3000" y="304800"/>
            <a:ext cx="6921500" cy="588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8051" name="矩形 2">
            <a:extLst>
              <a:ext uri="{FF2B5EF4-FFF2-40B4-BE49-F238E27FC236}">
                <a16:creationId xmlns:a16="http://schemas.microsoft.com/office/drawing/2014/main" id="{079CCB3E-3AA0-4246-AC8C-13B53AACE9EE}"/>
              </a:ext>
            </a:extLst>
          </p:cNvPr>
          <p:cNvSpPr>
            <a:spLocks noChangeArrowheads="1"/>
          </p:cNvSpPr>
          <p:nvPr/>
        </p:nvSpPr>
        <p:spPr bwMode="auto">
          <a:xfrm>
            <a:off x="3043238" y="6172200"/>
            <a:ext cx="3114675" cy="530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20000"/>
              </a:lnSpc>
              <a:spcBef>
                <a:spcPct val="50000"/>
              </a:spcBef>
            </a:pPr>
            <a:r>
              <a:rPr lang="en-US" altLang="zh-CN" b="1">
                <a:ea typeface="华文中宋" panose="02010600040101010101" pitchFamily="2" charset="-122"/>
              </a:rPr>
              <a:t>N—</a:t>
            </a:r>
            <a:r>
              <a:rPr lang="zh-CN" altLang="en-US" b="1">
                <a:ea typeface="华文中宋" panose="02010600040101010101" pitchFamily="2" charset="-122"/>
              </a:rPr>
              <a:t>乙酰胞壁酸  </a:t>
            </a:r>
            <a:r>
              <a:rPr lang="en-US" altLang="zh-CN" b="1">
                <a:ea typeface="华文中宋" panose="02010600040101010101" pitchFamily="2" charset="-122"/>
              </a:rPr>
              <a:t>NAM</a:t>
            </a:r>
          </a:p>
        </p:txBody>
      </p:sp>
    </p:spTree>
    <p:extLst>
      <p:ext uri="{BB962C8B-B14F-4D97-AF65-F5344CB8AC3E}">
        <p14:creationId xmlns:p14="http://schemas.microsoft.com/office/powerpoint/2010/main" val="4077321383"/>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274722ED-84A7-F553-A5BC-FA465A000D76}"/>
              </a:ext>
            </a:extLst>
          </p:cNvPr>
          <p:cNvPicPr>
            <a:picLocks noChangeAspect="1"/>
          </p:cNvPicPr>
          <p:nvPr/>
        </p:nvPicPr>
        <p:blipFill rotWithShape="1">
          <a:blip r:embed="rId2"/>
          <a:srcRect b="53150"/>
          <a:stretch/>
        </p:blipFill>
        <p:spPr>
          <a:xfrm>
            <a:off x="1106532" y="332656"/>
            <a:ext cx="6930935" cy="5661248"/>
          </a:xfrm>
          <a:prstGeom prst="rect">
            <a:avLst/>
          </a:prstGeom>
        </p:spPr>
      </p:pic>
    </p:spTree>
    <p:extLst>
      <p:ext uri="{BB962C8B-B14F-4D97-AF65-F5344CB8AC3E}">
        <p14:creationId xmlns:p14="http://schemas.microsoft.com/office/powerpoint/2010/main" val="12041907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1A969CB2-E49D-238A-1251-603610921EF3}"/>
              </a:ext>
            </a:extLst>
          </p:cNvPr>
          <p:cNvPicPr>
            <a:picLocks noChangeAspect="1"/>
          </p:cNvPicPr>
          <p:nvPr/>
        </p:nvPicPr>
        <p:blipFill rotWithShape="1">
          <a:blip r:embed="rId2"/>
          <a:srcRect t="45800"/>
          <a:stretch/>
        </p:blipFill>
        <p:spPr>
          <a:xfrm>
            <a:off x="1378610" y="411403"/>
            <a:ext cx="6386780" cy="6035193"/>
          </a:xfrm>
          <a:prstGeom prst="rect">
            <a:avLst/>
          </a:prstGeom>
        </p:spPr>
      </p:pic>
    </p:spTree>
    <p:extLst>
      <p:ext uri="{BB962C8B-B14F-4D97-AF65-F5344CB8AC3E}">
        <p14:creationId xmlns:p14="http://schemas.microsoft.com/office/powerpoint/2010/main" val="955588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5B7C669D-9693-C718-B1AA-093113AF40CC}"/>
              </a:ext>
            </a:extLst>
          </p:cNvPr>
          <p:cNvPicPr>
            <a:picLocks noChangeAspect="1"/>
          </p:cNvPicPr>
          <p:nvPr/>
        </p:nvPicPr>
        <p:blipFill>
          <a:blip r:embed="rId2"/>
          <a:stretch>
            <a:fillRect/>
          </a:stretch>
        </p:blipFill>
        <p:spPr>
          <a:xfrm>
            <a:off x="-29840" y="1165287"/>
            <a:ext cx="9144000" cy="3775881"/>
          </a:xfrm>
          <a:prstGeom prst="rect">
            <a:avLst/>
          </a:prstGeom>
        </p:spPr>
      </p:pic>
      <p:pic>
        <p:nvPicPr>
          <p:cNvPr id="3" name="图片 2">
            <a:extLst>
              <a:ext uri="{FF2B5EF4-FFF2-40B4-BE49-F238E27FC236}">
                <a16:creationId xmlns:a16="http://schemas.microsoft.com/office/drawing/2014/main" id="{B17E3879-E436-4F09-08BC-F1129CD669A5}"/>
              </a:ext>
            </a:extLst>
          </p:cNvPr>
          <p:cNvPicPr>
            <a:picLocks noChangeAspect="1"/>
          </p:cNvPicPr>
          <p:nvPr/>
        </p:nvPicPr>
        <p:blipFill>
          <a:blip r:embed="rId3"/>
          <a:stretch>
            <a:fillRect/>
          </a:stretch>
        </p:blipFill>
        <p:spPr>
          <a:xfrm>
            <a:off x="-372" y="0"/>
            <a:ext cx="9144000" cy="1446415"/>
          </a:xfrm>
          <a:prstGeom prst="rect">
            <a:avLst/>
          </a:prstGeom>
        </p:spPr>
      </p:pic>
      <p:pic>
        <p:nvPicPr>
          <p:cNvPr id="6" name="图片 5">
            <a:extLst>
              <a:ext uri="{FF2B5EF4-FFF2-40B4-BE49-F238E27FC236}">
                <a16:creationId xmlns:a16="http://schemas.microsoft.com/office/drawing/2014/main" id="{416BA010-5768-CC2A-2656-5D9A2542A411}"/>
              </a:ext>
            </a:extLst>
          </p:cNvPr>
          <p:cNvPicPr>
            <a:picLocks noChangeAspect="1"/>
          </p:cNvPicPr>
          <p:nvPr/>
        </p:nvPicPr>
        <p:blipFill rotWithShape="1">
          <a:blip r:embed="rId4"/>
          <a:srcRect b="81618"/>
          <a:stretch/>
        </p:blipFill>
        <p:spPr>
          <a:xfrm>
            <a:off x="1" y="4976688"/>
            <a:ext cx="9114160" cy="1881312"/>
          </a:xfrm>
          <a:prstGeom prst="rect">
            <a:avLst/>
          </a:prstGeom>
        </p:spPr>
      </p:pic>
    </p:spTree>
    <p:extLst>
      <p:ext uri="{BB962C8B-B14F-4D97-AF65-F5344CB8AC3E}">
        <p14:creationId xmlns:p14="http://schemas.microsoft.com/office/powerpoint/2010/main" val="29767275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00B02F81-B9E2-8526-FF8F-9A643A0284A2}"/>
              </a:ext>
            </a:extLst>
          </p:cNvPr>
          <p:cNvPicPr>
            <a:picLocks noChangeAspect="1"/>
          </p:cNvPicPr>
          <p:nvPr/>
        </p:nvPicPr>
        <p:blipFill rotWithShape="1">
          <a:blip r:embed="rId3"/>
          <a:srcRect t="17850"/>
          <a:stretch/>
        </p:blipFill>
        <p:spPr>
          <a:xfrm>
            <a:off x="0" y="0"/>
            <a:ext cx="9144000" cy="6819492"/>
          </a:xfrm>
          <a:prstGeom prst="rect">
            <a:avLst/>
          </a:prstGeom>
        </p:spPr>
      </p:pic>
    </p:spTree>
    <p:extLst>
      <p:ext uri="{BB962C8B-B14F-4D97-AF65-F5344CB8AC3E}">
        <p14:creationId xmlns:p14="http://schemas.microsoft.com/office/powerpoint/2010/main" val="67736251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1026">
            <a:extLst>
              <a:ext uri="{FF2B5EF4-FFF2-40B4-BE49-F238E27FC236}">
                <a16:creationId xmlns:a16="http://schemas.microsoft.com/office/drawing/2014/main" id="{CAEA63B6-2D85-43AB-A8B5-1CD8C3C54707}"/>
              </a:ext>
            </a:extLst>
          </p:cNvPr>
          <p:cNvSpPr>
            <a:spLocks noGrp="1" noChangeArrowheads="1"/>
          </p:cNvSpPr>
          <p:nvPr>
            <p:ph type="title" idx="4294967295"/>
          </p:nvPr>
        </p:nvSpPr>
        <p:spPr>
          <a:xfrm>
            <a:off x="251520" y="1276380"/>
            <a:ext cx="8153400" cy="1905000"/>
          </a:xfrm>
        </p:spPr>
        <p:txBody>
          <a:bodyPr/>
          <a:lstStyle/>
          <a:p>
            <a:r>
              <a:rPr lang="en-US" altLang="zh-CN" sz="6000" dirty="0">
                <a:solidFill>
                  <a:srgbClr val="C00000"/>
                </a:solidFill>
              </a:rPr>
              <a:t>Carbohydrate metabolism </a:t>
            </a:r>
            <a:br>
              <a:rPr lang="en-US" altLang="zh-CN" sz="6000" dirty="0">
                <a:solidFill>
                  <a:srgbClr val="00FF00"/>
                </a:solidFill>
              </a:rPr>
            </a:br>
            <a:r>
              <a:rPr lang="en-US" altLang="zh-CN" sz="4000" dirty="0">
                <a:solidFill>
                  <a:srgbClr val="C00000"/>
                </a:solidFill>
              </a:rPr>
              <a:t>(Section J3---Glycolysis)</a:t>
            </a:r>
            <a:endParaRPr lang="en-US" altLang="zh-CN" sz="4000" dirty="0">
              <a:solidFill>
                <a:srgbClr val="C00000"/>
              </a:solidFill>
              <a:latin typeface="Arial" panose="020B0604020202020204" pitchFamily="34" charset="0"/>
            </a:endParaRPr>
          </a:p>
        </p:txBody>
      </p:sp>
      <p:sp>
        <p:nvSpPr>
          <p:cNvPr id="82947" name="Text Box 1027">
            <a:extLst>
              <a:ext uri="{FF2B5EF4-FFF2-40B4-BE49-F238E27FC236}">
                <a16:creationId xmlns:a16="http://schemas.microsoft.com/office/drawing/2014/main" id="{D3701F83-5B4E-46D5-AA58-A44DD0CF928A}"/>
              </a:ext>
            </a:extLst>
          </p:cNvPr>
          <p:cNvSpPr txBox="1">
            <a:spLocks noChangeArrowheads="1"/>
          </p:cNvSpPr>
          <p:nvPr/>
        </p:nvSpPr>
        <p:spPr bwMode="auto">
          <a:xfrm>
            <a:off x="533400" y="4011960"/>
            <a:ext cx="83058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200" dirty="0"/>
              <a:t>Glycolysis comes from the Greek </a:t>
            </a:r>
            <a:r>
              <a:rPr lang="en-US" altLang="zh-CN" sz="3200" i="1" dirty="0" err="1"/>
              <a:t>glykys</a:t>
            </a:r>
            <a:r>
              <a:rPr lang="en-US" altLang="zh-CN" sz="3200" dirty="0"/>
              <a:t>, meaning “sweet”, and </a:t>
            </a:r>
            <a:r>
              <a:rPr lang="en-US" altLang="zh-CN" sz="3200" i="1" dirty="0"/>
              <a:t>lysis</a:t>
            </a:r>
            <a:r>
              <a:rPr lang="en-US" altLang="zh-CN" sz="3200" dirty="0"/>
              <a:t>, meaning “splitting”.</a:t>
            </a:r>
          </a:p>
        </p:txBody>
      </p:sp>
    </p:spTree>
    <p:extLst>
      <p:ext uri="{BB962C8B-B14F-4D97-AF65-F5344CB8AC3E}">
        <p14:creationId xmlns:p14="http://schemas.microsoft.com/office/powerpoint/2010/main" val="12525678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76D2E41E-6756-482A-9D42-A99C559C34BD}"/>
              </a:ext>
            </a:extLst>
          </p:cNvPr>
          <p:cNvSpPr>
            <a:spLocks noGrp="1" noChangeArrowheads="1"/>
          </p:cNvSpPr>
          <p:nvPr>
            <p:ph type="title" idx="4294967295"/>
          </p:nvPr>
        </p:nvSpPr>
        <p:spPr>
          <a:xfrm>
            <a:off x="0" y="228600"/>
            <a:ext cx="9144000" cy="1676400"/>
          </a:xfrm>
        </p:spPr>
        <p:txBody>
          <a:bodyPr/>
          <a:lstStyle/>
          <a:p>
            <a:r>
              <a:rPr lang="en-US" altLang="zh-CN" sz="4000" dirty="0">
                <a:solidFill>
                  <a:srgbClr val="C00000"/>
                </a:solidFill>
              </a:rPr>
              <a:t>1. The Development of Biochemistry and the Delineation of Glycolysis</a:t>
            </a:r>
          </a:p>
        </p:txBody>
      </p:sp>
      <p:sp>
        <p:nvSpPr>
          <p:cNvPr id="83971" name="Rectangle 3">
            <a:extLst>
              <a:ext uri="{FF2B5EF4-FFF2-40B4-BE49-F238E27FC236}">
                <a16:creationId xmlns:a16="http://schemas.microsoft.com/office/drawing/2014/main" id="{E93EB636-2ADA-4189-A653-D30F4A701058}"/>
              </a:ext>
            </a:extLst>
          </p:cNvPr>
          <p:cNvSpPr>
            <a:spLocks noGrp="1" noChangeArrowheads="1"/>
          </p:cNvSpPr>
          <p:nvPr>
            <p:ph type="body" idx="4294967295"/>
          </p:nvPr>
        </p:nvSpPr>
        <p:spPr>
          <a:xfrm>
            <a:off x="0" y="1916832"/>
            <a:ext cx="9144000" cy="4114800"/>
          </a:xfrm>
        </p:spPr>
        <p:txBody>
          <a:bodyPr/>
          <a:lstStyle/>
          <a:p>
            <a:r>
              <a:rPr lang="en-US" altLang="zh-CN" dirty="0"/>
              <a:t>1897, </a:t>
            </a:r>
            <a:r>
              <a:rPr lang="en-US" altLang="zh-CN" b="1" dirty="0">
                <a:solidFill>
                  <a:srgbClr val="0070C0"/>
                </a:solidFill>
              </a:rPr>
              <a:t>Eduard Buchner </a:t>
            </a:r>
            <a:r>
              <a:rPr lang="en-US" altLang="zh-CN" dirty="0"/>
              <a:t>(Germany), accidental observation : sucrose was rapidly fermented into alcohol by cell-free yeast extract.</a:t>
            </a:r>
          </a:p>
          <a:p>
            <a:endParaRPr lang="en-US" altLang="zh-CN" dirty="0"/>
          </a:p>
          <a:p>
            <a:r>
              <a:rPr lang="en-US" altLang="zh-CN" dirty="0"/>
              <a:t>The accepted view that fermentation is tied to living cells was shaken and Biochemistry was born: </a:t>
            </a:r>
            <a:r>
              <a:rPr lang="en-US" altLang="zh-CN" i="1" dirty="0"/>
              <a:t>Metabolism became chemistry</a:t>
            </a:r>
            <a:r>
              <a:rPr lang="en-US" altLang="zh-CN" dirty="0"/>
              <a:t>!</a:t>
            </a:r>
          </a:p>
        </p:txBody>
      </p:sp>
    </p:spTree>
    <p:extLst>
      <p:ext uri="{BB962C8B-B14F-4D97-AF65-F5344CB8AC3E}">
        <p14:creationId xmlns:p14="http://schemas.microsoft.com/office/powerpoint/2010/main" val="275240088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7EA77337-EB6E-4FE6-A14D-8DB3569523B0}"/>
              </a:ext>
            </a:extLst>
          </p:cNvPr>
          <p:cNvSpPr>
            <a:spLocks noGrp="1" noChangeArrowheads="1"/>
          </p:cNvSpPr>
          <p:nvPr>
            <p:ph type="title" idx="4294967295"/>
          </p:nvPr>
        </p:nvSpPr>
        <p:spPr>
          <a:xfrm flipV="1">
            <a:off x="1371600" y="-38100"/>
            <a:ext cx="7772400" cy="76200"/>
          </a:xfrm>
        </p:spPr>
        <p:txBody>
          <a:bodyPr/>
          <a:lstStyle/>
          <a:p>
            <a:r>
              <a:rPr lang="en-US" altLang="zh-CN"/>
              <a:t> </a:t>
            </a:r>
          </a:p>
        </p:txBody>
      </p:sp>
      <p:sp>
        <p:nvSpPr>
          <p:cNvPr id="84995" name="Rectangle 3">
            <a:extLst>
              <a:ext uri="{FF2B5EF4-FFF2-40B4-BE49-F238E27FC236}">
                <a16:creationId xmlns:a16="http://schemas.microsoft.com/office/drawing/2014/main" id="{99EAFA49-AFA8-4E89-86BB-01F0BA80CDF7}"/>
              </a:ext>
            </a:extLst>
          </p:cNvPr>
          <p:cNvSpPr>
            <a:spLocks noGrp="1" noChangeArrowheads="1"/>
          </p:cNvSpPr>
          <p:nvPr>
            <p:ph type="body" idx="4294967295"/>
          </p:nvPr>
        </p:nvSpPr>
        <p:spPr>
          <a:xfrm>
            <a:off x="0" y="381000"/>
            <a:ext cx="9144000" cy="3810000"/>
          </a:xfrm>
        </p:spPr>
        <p:txBody>
          <a:bodyPr/>
          <a:lstStyle/>
          <a:p>
            <a:pPr>
              <a:lnSpc>
                <a:spcPct val="90000"/>
              </a:lnSpc>
            </a:pPr>
            <a:r>
              <a:rPr lang="en-US" altLang="zh-CN" dirty="0"/>
              <a:t>1900s, </a:t>
            </a:r>
            <a:r>
              <a:rPr lang="en-US" altLang="zh-CN" dirty="0">
                <a:solidFill>
                  <a:srgbClr val="0070C0"/>
                </a:solidFill>
              </a:rPr>
              <a:t>Arthur Harden </a:t>
            </a:r>
            <a:r>
              <a:rPr lang="en-US" altLang="zh-CN" dirty="0"/>
              <a:t>and </a:t>
            </a:r>
            <a:r>
              <a:rPr lang="en-US" altLang="zh-CN" dirty="0">
                <a:solidFill>
                  <a:srgbClr val="0070C0"/>
                </a:solidFill>
              </a:rPr>
              <a:t>William Young </a:t>
            </a:r>
            <a:r>
              <a:rPr lang="en-US" altLang="zh-CN" dirty="0"/>
              <a:t>separated the yeast juice into two fractions: one heat-labile, nondialyzable enzymes and the other heat-stable, dialyzable </a:t>
            </a:r>
            <a:r>
              <a:rPr lang="en-US" altLang="zh-CN" i="1" dirty="0"/>
              <a:t>cozymase</a:t>
            </a:r>
            <a:r>
              <a:rPr lang="en-US" altLang="zh-CN" dirty="0"/>
              <a:t> (metal ions, ATP, ADP, NAD</a:t>
            </a:r>
            <a:r>
              <a:rPr lang="en-US" altLang="zh-CN" baseline="30000" dirty="0"/>
              <a:t>+</a:t>
            </a:r>
            <a:r>
              <a:rPr lang="en-US" altLang="zh-CN" dirty="0"/>
              <a:t>).</a:t>
            </a:r>
          </a:p>
          <a:p>
            <a:pPr>
              <a:lnSpc>
                <a:spcPct val="90000"/>
              </a:lnSpc>
            </a:pPr>
            <a:r>
              <a:rPr lang="en-US" altLang="zh-CN" dirty="0"/>
              <a:t>1910s-1930s, </a:t>
            </a:r>
            <a:r>
              <a:rPr lang="en-US" altLang="zh-CN" dirty="0">
                <a:solidFill>
                  <a:srgbClr val="0070C0"/>
                </a:solidFill>
              </a:rPr>
              <a:t>Gustav </a:t>
            </a:r>
            <a:r>
              <a:rPr lang="en-US" altLang="zh-CN" dirty="0" err="1">
                <a:solidFill>
                  <a:srgbClr val="0070C0"/>
                </a:solidFill>
              </a:rPr>
              <a:t>Embden</a:t>
            </a:r>
            <a:r>
              <a:rPr lang="en-US" altLang="zh-CN" dirty="0">
                <a:solidFill>
                  <a:srgbClr val="0070C0"/>
                </a:solidFill>
              </a:rPr>
              <a:t> </a:t>
            </a:r>
            <a:r>
              <a:rPr lang="en-US" altLang="zh-CN" dirty="0"/>
              <a:t>and </a:t>
            </a:r>
            <a:r>
              <a:rPr lang="en-US" altLang="zh-CN" dirty="0">
                <a:solidFill>
                  <a:srgbClr val="0070C0"/>
                </a:solidFill>
              </a:rPr>
              <a:t>Otto Meyerhof </a:t>
            </a:r>
            <a:r>
              <a:rPr lang="en-US" altLang="zh-CN" dirty="0"/>
              <a:t>(Germany), studied muscle and its extracts:</a:t>
            </a:r>
          </a:p>
          <a:p>
            <a:pPr lvl="1">
              <a:lnSpc>
                <a:spcPct val="90000"/>
              </a:lnSpc>
              <a:buFontTx/>
              <a:buNone/>
            </a:pPr>
            <a:r>
              <a:rPr lang="en-US" altLang="zh-CN" dirty="0"/>
              <a:t>many reactions of lactic acid (muscle)  and alcohol (yeast) fermentations were the same!</a:t>
            </a:r>
            <a:r>
              <a:rPr lang="en-US" altLang="zh-CN" sz="3000" dirty="0"/>
              <a:t> </a:t>
            </a:r>
          </a:p>
          <a:p>
            <a:pPr lvl="1">
              <a:lnSpc>
                <a:spcPct val="90000"/>
              </a:lnSpc>
              <a:buFontTx/>
              <a:buNone/>
            </a:pPr>
            <a:endParaRPr lang="en-US" altLang="zh-CN" sz="3000" dirty="0"/>
          </a:p>
          <a:p>
            <a:pPr lvl="1">
              <a:lnSpc>
                <a:spcPct val="90000"/>
              </a:lnSpc>
              <a:buFontTx/>
              <a:buNone/>
            </a:pPr>
            <a:endParaRPr lang="en-US" altLang="zh-CN" sz="3000" dirty="0"/>
          </a:p>
        </p:txBody>
      </p:sp>
      <p:sp>
        <p:nvSpPr>
          <p:cNvPr id="84996" name="Rectangle 4">
            <a:extLst>
              <a:ext uri="{FF2B5EF4-FFF2-40B4-BE49-F238E27FC236}">
                <a16:creationId xmlns:a16="http://schemas.microsoft.com/office/drawing/2014/main" id="{2CEEE39A-2D89-46AE-B7CA-BFB8FDE3947E}"/>
              </a:ext>
            </a:extLst>
          </p:cNvPr>
          <p:cNvSpPr>
            <a:spLocks noChangeArrowheads="1"/>
          </p:cNvSpPr>
          <p:nvPr/>
        </p:nvSpPr>
        <p:spPr bwMode="auto">
          <a:xfrm>
            <a:off x="192900" y="4336504"/>
            <a:ext cx="8915400"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Clr>
                <a:schemeClr val="tx2"/>
              </a:buClr>
              <a:buFontTx/>
              <a:buChar char="•"/>
            </a:pPr>
            <a:r>
              <a:rPr lang="en-US" altLang="zh-CN" sz="3600" dirty="0"/>
              <a:t>Glycolysis was also known as </a:t>
            </a:r>
            <a:r>
              <a:rPr lang="en-US" altLang="zh-CN" sz="3600" b="1" i="1" dirty="0" err="1">
                <a:solidFill>
                  <a:srgbClr val="FF0000"/>
                </a:solidFill>
              </a:rPr>
              <a:t>Embden</a:t>
            </a:r>
            <a:r>
              <a:rPr lang="en-US" altLang="zh-CN" sz="3600" b="1" i="1" dirty="0">
                <a:solidFill>
                  <a:srgbClr val="FF0000"/>
                </a:solidFill>
              </a:rPr>
              <a:t>-Meyerhof pathway</a:t>
            </a:r>
            <a:r>
              <a:rPr lang="en-US" altLang="zh-CN" sz="3600" dirty="0">
                <a:solidFill>
                  <a:srgbClr val="FF0000"/>
                </a:solidFill>
              </a:rPr>
              <a:t> </a:t>
            </a:r>
            <a:r>
              <a:rPr lang="en-US" altLang="zh-CN" sz="3600" dirty="0"/>
              <a:t>and was elucidated by the 1940s.</a:t>
            </a:r>
          </a:p>
        </p:txBody>
      </p:sp>
    </p:spTree>
    <p:extLst>
      <p:ext uri="{BB962C8B-B14F-4D97-AF65-F5344CB8AC3E}">
        <p14:creationId xmlns:p14="http://schemas.microsoft.com/office/powerpoint/2010/main" val="181684295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1794" name="Picture 2" descr="buchner">
            <a:extLst>
              <a:ext uri="{FF2B5EF4-FFF2-40B4-BE49-F238E27FC236}">
                <a16:creationId xmlns:a16="http://schemas.microsoft.com/office/drawing/2014/main" id="{753BE63D-4046-4A95-9DAA-1175A5FD03C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95400" y="0"/>
            <a:ext cx="587057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917618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2818" name="Picture 2" descr="harden">
            <a:extLst>
              <a:ext uri="{FF2B5EF4-FFF2-40B4-BE49-F238E27FC236}">
                <a16:creationId xmlns:a16="http://schemas.microsoft.com/office/drawing/2014/main" id="{DB252BD0-1D8E-4F67-A836-E284259FE31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28800" y="0"/>
            <a:ext cx="5516563" cy="6629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141839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42" name="Picture 2" descr="meyerhof">
            <a:extLst>
              <a:ext uri="{FF2B5EF4-FFF2-40B4-BE49-F238E27FC236}">
                <a16:creationId xmlns:a16="http://schemas.microsoft.com/office/drawing/2014/main" id="{EC758974-3658-4A1E-94A6-04FFDC210B1E}"/>
              </a:ext>
            </a:extLst>
          </p:cNvPr>
          <p:cNvPicPr>
            <a:picLocks noChangeAspect="1" noChangeArrowheads="1"/>
          </p:cNvPicPr>
          <p:nvPr/>
        </p:nvPicPr>
        <p:blipFill>
          <a:blip r:embed="rId3" cstate="print">
            <a:lum contrast="12000"/>
            <a:extLst>
              <a:ext uri="{28A0092B-C50C-407E-A947-70E740481C1C}">
                <a14:useLocalDpi xmlns:a14="http://schemas.microsoft.com/office/drawing/2010/main" val="0"/>
              </a:ext>
            </a:extLst>
          </a:blip>
          <a:srcRect/>
          <a:stretch>
            <a:fillRect/>
          </a:stretch>
        </p:blipFill>
        <p:spPr bwMode="auto">
          <a:xfrm>
            <a:off x="1676400" y="0"/>
            <a:ext cx="5330825" cy="655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536170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34911D7A-06F0-4FD5-84C2-088298349B88}"/>
              </a:ext>
            </a:extLst>
          </p:cNvPr>
          <p:cNvPicPr>
            <a:picLocks noChangeAspect="1"/>
          </p:cNvPicPr>
          <p:nvPr/>
        </p:nvPicPr>
        <p:blipFill rotWithShape="1">
          <a:blip r:embed="rId3" cstate="print"/>
          <a:srcRect l="20076" t="12201" r="2750" b="2401"/>
          <a:stretch/>
        </p:blipFill>
        <p:spPr>
          <a:xfrm>
            <a:off x="683568" y="1196752"/>
            <a:ext cx="7519524" cy="4680520"/>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
        <p:nvSpPr>
          <p:cNvPr id="2" name="矩形 1">
            <a:extLst>
              <a:ext uri="{FF2B5EF4-FFF2-40B4-BE49-F238E27FC236}">
                <a16:creationId xmlns:a16="http://schemas.microsoft.com/office/drawing/2014/main" id="{DB8B74B6-BE5B-4C62-A188-A862FA302AB2}"/>
              </a:ext>
            </a:extLst>
          </p:cNvPr>
          <p:cNvSpPr/>
          <p:nvPr/>
        </p:nvSpPr>
        <p:spPr>
          <a:xfrm>
            <a:off x="539552" y="476672"/>
            <a:ext cx="1903085" cy="369332"/>
          </a:xfrm>
          <a:prstGeom prst="rect">
            <a:avLst/>
          </a:prstGeom>
        </p:spPr>
        <p:txBody>
          <a:bodyPr wrap="none">
            <a:spAutoFit/>
          </a:bodyPr>
          <a:lstStyle/>
          <a:p>
            <a:r>
              <a:rPr lang="en-US" altLang="zh-CN" dirty="0">
                <a:solidFill>
                  <a:srgbClr val="0070C0"/>
                </a:solidFill>
              </a:rPr>
              <a:t>Gustav </a:t>
            </a:r>
            <a:r>
              <a:rPr lang="en-US" altLang="zh-CN" dirty="0" err="1">
                <a:solidFill>
                  <a:srgbClr val="0070C0"/>
                </a:solidFill>
              </a:rPr>
              <a:t>Embden</a:t>
            </a:r>
            <a:r>
              <a:rPr lang="en-US" altLang="zh-CN" dirty="0">
                <a:solidFill>
                  <a:srgbClr val="0070C0"/>
                </a:solidFill>
              </a:rPr>
              <a:t> </a:t>
            </a:r>
            <a:endParaRPr lang="zh-CN" altLang="en-US" dirty="0"/>
          </a:p>
        </p:txBody>
      </p:sp>
    </p:spTree>
    <p:extLst>
      <p:ext uri="{BB962C8B-B14F-4D97-AF65-F5344CB8AC3E}">
        <p14:creationId xmlns:p14="http://schemas.microsoft.com/office/powerpoint/2010/main" val="64239040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7874" name="Picture 2">
            <a:extLst>
              <a:ext uri="{FF2B5EF4-FFF2-40B4-BE49-F238E27FC236}">
                <a16:creationId xmlns:a16="http://schemas.microsoft.com/office/drawing/2014/main" id="{F6B6EBC8-2016-412A-AE4F-D521561748C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8200" y="381000"/>
            <a:ext cx="7162800" cy="5988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344259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8898" name="Picture 2">
            <a:extLst>
              <a:ext uri="{FF2B5EF4-FFF2-40B4-BE49-F238E27FC236}">
                <a16:creationId xmlns:a16="http://schemas.microsoft.com/office/drawing/2014/main" id="{32449D8E-40BE-4B21-B973-2CE590C89D2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76400" y="609600"/>
            <a:ext cx="5740400" cy="5435600"/>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a:extLst>
              <a:ext uri="{FF2B5EF4-FFF2-40B4-BE49-F238E27FC236}">
                <a16:creationId xmlns:a16="http://schemas.microsoft.com/office/drawing/2014/main" id="{8B4A1FDB-268E-4057-B7AA-A36A83D073AC}"/>
              </a:ext>
            </a:extLst>
          </p:cNvPr>
          <p:cNvSpPr/>
          <p:nvPr/>
        </p:nvSpPr>
        <p:spPr>
          <a:xfrm>
            <a:off x="6516216" y="2780928"/>
            <a:ext cx="1197764" cy="369332"/>
          </a:xfrm>
          <a:prstGeom prst="rect">
            <a:avLst/>
          </a:prstGeom>
        </p:spPr>
        <p:txBody>
          <a:bodyPr wrap="none">
            <a:spAutoFit/>
          </a:bodyPr>
          <a:lstStyle/>
          <a:p>
            <a:r>
              <a:rPr lang="en-US" altLang="zh-CN" dirty="0"/>
              <a:t>lactic acid</a:t>
            </a:r>
            <a:endParaRPr lang="zh-CN" altLang="en-US" dirty="0"/>
          </a:p>
        </p:txBody>
      </p:sp>
    </p:spTree>
    <p:extLst>
      <p:ext uri="{BB962C8B-B14F-4D97-AF65-F5344CB8AC3E}">
        <p14:creationId xmlns:p14="http://schemas.microsoft.com/office/powerpoint/2010/main" val="336708893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a:extLst>
              <a:ext uri="{FF2B5EF4-FFF2-40B4-BE49-F238E27FC236}">
                <a16:creationId xmlns:a16="http://schemas.microsoft.com/office/drawing/2014/main" id="{51AE517C-C178-41F2-9292-CCC88F216EC1}"/>
              </a:ext>
            </a:extLst>
          </p:cNvPr>
          <p:cNvSpPr>
            <a:spLocks noGrp="1" noChangeArrowheads="1"/>
          </p:cNvSpPr>
          <p:nvPr>
            <p:ph type="title" idx="4294967295"/>
          </p:nvPr>
        </p:nvSpPr>
        <p:spPr>
          <a:xfrm>
            <a:off x="0" y="125760"/>
            <a:ext cx="9144000" cy="1143000"/>
          </a:xfrm>
        </p:spPr>
        <p:txBody>
          <a:bodyPr/>
          <a:lstStyle/>
          <a:p>
            <a:r>
              <a:rPr lang="en-US" altLang="zh-CN">
                <a:solidFill>
                  <a:srgbClr val="C00000"/>
                </a:solidFill>
              </a:rPr>
              <a:t>An overview on D-glucose metabolism</a:t>
            </a:r>
          </a:p>
        </p:txBody>
      </p:sp>
      <p:sp>
        <p:nvSpPr>
          <p:cNvPr id="164867" name="Rectangle 3">
            <a:extLst>
              <a:ext uri="{FF2B5EF4-FFF2-40B4-BE49-F238E27FC236}">
                <a16:creationId xmlns:a16="http://schemas.microsoft.com/office/drawing/2014/main" id="{50D422D3-245E-4D3D-8159-C39755F3B7C3}"/>
              </a:ext>
            </a:extLst>
          </p:cNvPr>
          <p:cNvSpPr>
            <a:spLocks noGrp="1" noChangeArrowheads="1"/>
          </p:cNvSpPr>
          <p:nvPr>
            <p:ph type="body" idx="4294967295"/>
          </p:nvPr>
        </p:nvSpPr>
        <p:spPr>
          <a:xfrm>
            <a:off x="0" y="990600"/>
            <a:ext cx="9144000" cy="5105400"/>
          </a:xfrm>
          <a:solidFill>
            <a:schemeClr val="bg1"/>
          </a:solidFill>
        </p:spPr>
        <p:txBody>
          <a:bodyPr/>
          <a:lstStyle/>
          <a:p>
            <a:pPr>
              <a:lnSpc>
                <a:spcPct val="90000"/>
              </a:lnSpc>
            </a:pPr>
            <a:r>
              <a:rPr lang="en-US" altLang="zh-CN" sz="2800" dirty="0"/>
              <a:t>The major fuel of most organisms, </a:t>
            </a:r>
            <a:r>
              <a:rPr lang="en-US" altLang="zh-CN" sz="2800" i="1" dirty="0">
                <a:sym typeface="Symbol" panose="05050102010706020507" pitchFamily="18" charset="2"/>
              </a:rPr>
              <a:t></a:t>
            </a:r>
            <a:r>
              <a:rPr lang="en-US" altLang="zh-CN" sz="2800" i="1" dirty="0" err="1"/>
              <a:t>G</a:t>
            </a:r>
            <a:r>
              <a:rPr lang="en-US" altLang="zh-CN" sz="2800" i="1" dirty="0" err="1">
                <a:cs typeface="Times New Roman" panose="02020603050405020304" pitchFamily="18" charset="0"/>
              </a:rPr>
              <a:t>'</a:t>
            </a:r>
            <a:r>
              <a:rPr lang="en-US" altLang="zh-CN" sz="2800" i="1" baseline="30000" dirty="0" err="1"/>
              <a:t>o</a:t>
            </a:r>
            <a:r>
              <a:rPr lang="en-US" altLang="zh-CN" sz="2800" dirty="0"/>
              <a:t> = –2840 kJ/mole if completely oxidized to CO</a:t>
            </a:r>
            <a:r>
              <a:rPr lang="en-US" altLang="zh-CN" sz="2800" baseline="-25000" dirty="0"/>
              <a:t>2</a:t>
            </a:r>
            <a:r>
              <a:rPr lang="en-US" altLang="zh-CN" sz="2800" dirty="0"/>
              <a:t> and H</a:t>
            </a:r>
            <a:r>
              <a:rPr lang="en-US" altLang="zh-CN" sz="2800" baseline="-25000" dirty="0"/>
              <a:t>2</a:t>
            </a:r>
            <a:r>
              <a:rPr lang="en-US" altLang="zh-CN" sz="2800" dirty="0"/>
              <a:t>O via the glycolysis pathway, citric acid cycle and oxidative phosphorylation  (generating ATP) .</a:t>
            </a:r>
          </a:p>
          <a:p>
            <a:pPr>
              <a:lnSpc>
                <a:spcPct val="90000"/>
              </a:lnSpc>
            </a:pPr>
            <a:r>
              <a:rPr lang="en-US" altLang="zh-CN" sz="2800" dirty="0"/>
              <a:t>Can also be oxidized to make NADPH and ribose-5-P via the pentose phosphate pathway</a:t>
            </a:r>
            <a:r>
              <a:rPr lang="zh-CN" altLang="en-US" sz="2800" dirty="0"/>
              <a:t>（</a:t>
            </a:r>
            <a:r>
              <a:rPr lang="en-US" altLang="zh-CN" sz="2800" dirty="0"/>
              <a:t>PPP</a:t>
            </a:r>
            <a:r>
              <a:rPr lang="zh-CN" altLang="en-US" sz="2800" dirty="0"/>
              <a:t>）</a:t>
            </a:r>
            <a:r>
              <a:rPr lang="en-US" altLang="zh-CN" sz="2800" dirty="0"/>
              <a:t>.</a:t>
            </a:r>
          </a:p>
          <a:p>
            <a:pPr>
              <a:lnSpc>
                <a:spcPct val="90000"/>
              </a:lnSpc>
            </a:pPr>
            <a:r>
              <a:rPr lang="en-US" altLang="zh-CN" sz="2800" dirty="0"/>
              <a:t>Can be stored in polymer form (glycogen or starch) or be converted to fat for long term storage.</a:t>
            </a:r>
          </a:p>
          <a:p>
            <a:pPr>
              <a:lnSpc>
                <a:spcPct val="90000"/>
              </a:lnSpc>
            </a:pPr>
            <a:r>
              <a:rPr lang="en-US" altLang="zh-CN" sz="2800" dirty="0"/>
              <a:t>Is also a versatile precursor for carbon skeletons of almost all kinds of biomolecules, including amino acids, nucleotides, fatty acids, coenzymes and other metabolic intermediates.</a:t>
            </a:r>
            <a:endParaRPr lang="en-US" altLang="zh-CN" sz="2400" dirty="0"/>
          </a:p>
        </p:txBody>
      </p:sp>
    </p:spTree>
    <p:extLst>
      <p:ext uri="{BB962C8B-B14F-4D97-AF65-F5344CB8AC3E}">
        <p14:creationId xmlns:p14="http://schemas.microsoft.com/office/powerpoint/2010/main" val="269808640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4457989F-2114-4E0C-A278-2225CED5A6E7}"/>
              </a:ext>
            </a:extLst>
          </p:cNvPr>
          <p:cNvSpPr>
            <a:spLocks noGrp="1" noChangeArrowheads="1"/>
          </p:cNvSpPr>
          <p:nvPr>
            <p:ph type="title" idx="4294967295"/>
          </p:nvPr>
        </p:nvSpPr>
        <p:spPr>
          <a:xfrm>
            <a:off x="228600" y="381000"/>
            <a:ext cx="8915400" cy="1143000"/>
          </a:xfrm>
        </p:spPr>
        <p:txBody>
          <a:bodyPr/>
          <a:lstStyle/>
          <a:p>
            <a:r>
              <a:rPr lang="en-US" altLang="zh-CN" dirty="0">
                <a:solidFill>
                  <a:srgbClr val="FF0000"/>
                </a:solidFill>
              </a:rPr>
              <a:t>2. The overall glycolysis  can be divided into two phases</a:t>
            </a:r>
          </a:p>
        </p:txBody>
      </p:sp>
      <p:sp>
        <p:nvSpPr>
          <p:cNvPr id="87043" name="Rectangle 3">
            <a:extLst>
              <a:ext uri="{FF2B5EF4-FFF2-40B4-BE49-F238E27FC236}">
                <a16:creationId xmlns:a16="http://schemas.microsoft.com/office/drawing/2014/main" id="{B3A27E91-3237-4EB1-9730-E6F54CC84FD8}"/>
              </a:ext>
            </a:extLst>
          </p:cNvPr>
          <p:cNvSpPr>
            <a:spLocks noGrp="1" noChangeArrowheads="1"/>
          </p:cNvSpPr>
          <p:nvPr>
            <p:ph type="body" idx="4294967295"/>
          </p:nvPr>
        </p:nvSpPr>
        <p:spPr>
          <a:xfrm>
            <a:off x="442664" y="1981200"/>
            <a:ext cx="8305800" cy="4495800"/>
          </a:xfrm>
        </p:spPr>
        <p:txBody>
          <a:bodyPr/>
          <a:lstStyle/>
          <a:p>
            <a:r>
              <a:rPr lang="en-US" altLang="zh-CN" dirty="0"/>
              <a:t>The hexose is first </a:t>
            </a:r>
            <a:r>
              <a:rPr lang="en-US" altLang="zh-CN" dirty="0" err="1"/>
              <a:t>phossphorylated</a:t>
            </a:r>
            <a:r>
              <a:rPr lang="en-US" altLang="zh-CN" dirty="0"/>
              <a:t> (thus activated) and then cleaved to produce two three-carbon intermediates at </a:t>
            </a:r>
            <a:r>
              <a:rPr lang="en-US" altLang="zh-CN" dirty="0">
                <a:solidFill>
                  <a:srgbClr val="0070C0"/>
                </a:solidFill>
              </a:rPr>
              <a:t>the preparatory phase</a:t>
            </a:r>
            <a:r>
              <a:rPr lang="en-US" altLang="zh-CN" dirty="0"/>
              <a:t>, </a:t>
            </a:r>
            <a:r>
              <a:rPr lang="en-US" altLang="zh-CN" dirty="0">
                <a:solidFill>
                  <a:srgbClr val="FF0000"/>
                </a:solidFill>
              </a:rPr>
              <a:t>consuming ATP</a:t>
            </a:r>
            <a:r>
              <a:rPr lang="en-US" altLang="zh-CN" dirty="0"/>
              <a:t>.</a:t>
            </a:r>
          </a:p>
          <a:p>
            <a:r>
              <a:rPr lang="en-US" altLang="zh-CN" dirty="0"/>
              <a:t>The three-carbon intermediates are then oxidized during </a:t>
            </a:r>
            <a:r>
              <a:rPr lang="en-US" altLang="zh-CN" dirty="0">
                <a:solidFill>
                  <a:srgbClr val="0070C0"/>
                </a:solidFill>
              </a:rPr>
              <a:t>the payoff phase</a:t>
            </a:r>
            <a:r>
              <a:rPr lang="en-US" altLang="zh-CN" dirty="0"/>
              <a:t>, </a:t>
            </a:r>
            <a:r>
              <a:rPr lang="en-US" altLang="zh-CN" dirty="0">
                <a:solidFill>
                  <a:srgbClr val="FF0000"/>
                </a:solidFill>
              </a:rPr>
              <a:t>generating ATP and NADH</a:t>
            </a:r>
            <a:r>
              <a:rPr lang="en-US" altLang="zh-CN" dirty="0"/>
              <a:t>.</a:t>
            </a:r>
          </a:p>
        </p:txBody>
      </p:sp>
    </p:spTree>
    <p:extLst>
      <p:ext uri="{BB962C8B-B14F-4D97-AF65-F5344CB8AC3E}">
        <p14:creationId xmlns:p14="http://schemas.microsoft.com/office/powerpoint/2010/main" val="193144737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5106" name="Picture 2">
            <a:extLst>
              <a:ext uri="{FF2B5EF4-FFF2-40B4-BE49-F238E27FC236}">
                <a16:creationId xmlns:a16="http://schemas.microsoft.com/office/drawing/2014/main" id="{8E9258D9-F256-4112-A46D-8FFD77190E1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8600" y="228600"/>
            <a:ext cx="7670800" cy="6350000"/>
          </a:xfrm>
          <a:prstGeom prst="rect">
            <a:avLst/>
          </a:prstGeom>
          <a:noFill/>
          <a:extLst>
            <a:ext uri="{909E8E84-426E-40DD-AFC4-6F175D3DCCD1}">
              <a14:hiddenFill xmlns:a14="http://schemas.microsoft.com/office/drawing/2010/main">
                <a:solidFill>
                  <a:srgbClr val="FFFFFF"/>
                </a:solidFill>
              </a14:hiddenFill>
            </a:ext>
          </a:extLst>
        </p:spPr>
      </p:pic>
      <p:sp>
        <p:nvSpPr>
          <p:cNvPr id="175107" name="Rectangle 3">
            <a:extLst>
              <a:ext uri="{FF2B5EF4-FFF2-40B4-BE49-F238E27FC236}">
                <a16:creationId xmlns:a16="http://schemas.microsoft.com/office/drawing/2014/main" id="{8D2240E0-CE68-4BD3-BC87-90DC0119078F}"/>
              </a:ext>
            </a:extLst>
          </p:cNvPr>
          <p:cNvSpPr>
            <a:spLocks noChangeArrowheads="1"/>
          </p:cNvSpPr>
          <p:nvPr/>
        </p:nvSpPr>
        <p:spPr bwMode="auto">
          <a:xfrm>
            <a:off x="2514600" y="609600"/>
            <a:ext cx="123348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rPr>
              <a:t>Group</a:t>
            </a:r>
          </a:p>
          <a:p>
            <a:r>
              <a:rPr lang="en-US" altLang="zh-CN" b="1">
                <a:solidFill>
                  <a:srgbClr val="FF0000"/>
                </a:solidFill>
              </a:rPr>
              <a:t>transfer</a:t>
            </a:r>
          </a:p>
        </p:txBody>
      </p:sp>
      <p:sp>
        <p:nvSpPr>
          <p:cNvPr id="175108" name="Rectangle 4">
            <a:extLst>
              <a:ext uri="{FF2B5EF4-FFF2-40B4-BE49-F238E27FC236}">
                <a16:creationId xmlns:a16="http://schemas.microsoft.com/office/drawing/2014/main" id="{ED0BB682-8C23-4734-A576-C506C7E3769F}"/>
              </a:ext>
            </a:extLst>
          </p:cNvPr>
          <p:cNvSpPr>
            <a:spLocks noChangeArrowheads="1"/>
          </p:cNvSpPr>
          <p:nvPr/>
        </p:nvSpPr>
        <p:spPr bwMode="auto">
          <a:xfrm>
            <a:off x="1905000" y="2057400"/>
            <a:ext cx="1978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dirty="0">
                <a:solidFill>
                  <a:srgbClr val="6600FF"/>
                </a:solidFill>
              </a:rPr>
              <a:t>Isomerization</a:t>
            </a:r>
          </a:p>
        </p:txBody>
      </p:sp>
      <p:sp>
        <p:nvSpPr>
          <p:cNvPr id="175109" name="Rectangle 5">
            <a:extLst>
              <a:ext uri="{FF2B5EF4-FFF2-40B4-BE49-F238E27FC236}">
                <a16:creationId xmlns:a16="http://schemas.microsoft.com/office/drawing/2014/main" id="{C1A47084-26C3-42B1-A00A-C3418237E99F}"/>
              </a:ext>
            </a:extLst>
          </p:cNvPr>
          <p:cNvSpPr>
            <a:spLocks noChangeArrowheads="1"/>
          </p:cNvSpPr>
          <p:nvPr/>
        </p:nvSpPr>
        <p:spPr bwMode="auto">
          <a:xfrm>
            <a:off x="2514600" y="2895600"/>
            <a:ext cx="123348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rPr>
              <a:t>Group</a:t>
            </a:r>
          </a:p>
          <a:p>
            <a:r>
              <a:rPr lang="en-US" altLang="zh-CN" b="1">
                <a:solidFill>
                  <a:srgbClr val="FF0000"/>
                </a:solidFill>
              </a:rPr>
              <a:t>transfer</a:t>
            </a:r>
          </a:p>
        </p:txBody>
      </p:sp>
      <p:sp>
        <p:nvSpPr>
          <p:cNvPr id="175110" name="Rectangle 6">
            <a:extLst>
              <a:ext uri="{FF2B5EF4-FFF2-40B4-BE49-F238E27FC236}">
                <a16:creationId xmlns:a16="http://schemas.microsoft.com/office/drawing/2014/main" id="{F29D5424-B79B-4BF4-A757-B8DFD39FFF11}"/>
              </a:ext>
            </a:extLst>
          </p:cNvPr>
          <p:cNvSpPr>
            <a:spLocks noChangeArrowheads="1"/>
          </p:cNvSpPr>
          <p:nvPr/>
        </p:nvSpPr>
        <p:spPr bwMode="auto">
          <a:xfrm>
            <a:off x="1905000" y="4267200"/>
            <a:ext cx="16081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rgbClr val="008000"/>
                </a:solidFill>
              </a:rPr>
              <a:t>cleavage</a:t>
            </a:r>
          </a:p>
        </p:txBody>
      </p:sp>
      <p:sp>
        <p:nvSpPr>
          <p:cNvPr id="175111" name="Rectangle 7">
            <a:extLst>
              <a:ext uri="{FF2B5EF4-FFF2-40B4-BE49-F238E27FC236}">
                <a16:creationId xmlns:a16="http://schemas.microsoft.com/office/drawing/2014/main" id="{1A72A698-BBD5-4AD3-81FC-42A33F8833E9}"/>
              </a:ext>
            </a:extLst>
          </p:cNvPr>
          <p:cNvSpPr>
            <a:spLocks noChangeArrowheads="1"/>
          </p:cNvSpPr>
          <p:nvPr/>
        </p:nvSpPr>
        <p:spPr bwMode="auto">
          <a:xfrm>
            <a:off x="1828800" y="5867400"/>
            <a:ext cx="1978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6600FF"/>
                </a:solidFill>
              </a:rPr>
              <a:t>Isomerization</a:t>
            </a:r>
          </a:p>
        </p:txBody>
      </p:sp>
    </p:spTree>
    <p:extLst>
      <p:ext uri="{BB962C8B-B14F-4D97-AF65-F5344CB8AC3E}">
        <p14:creationId xmlns:p14="http://schemas.microsoft.com/office/powerpoint/2010/main" val="334846111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0772" name="Picture 4" descr="f15-2b">
            <a:extLst>
              <a:ext uri="{FF2B5EF4-FFF2-40B4-BE49-F238E27FC236}">
                <a16:creationId xmlns:a16="http://schemas.microsoft.com/office/drawing/2014/main" id="{C727C29C-BDC4-454F-BF9E-AA1719E4D61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9324528" cy="6659563"/>
          </a:xfrm>
          <a:prstGeom prst="rect">
            <a:avLst/>
          </a:prstGeom>
          <a:noFill/>
          <a:extLst>
            <a:ext uri="{909E8E84-426E-40DD-AFC4-6F175D3DCCD1}">
              <a14:hiddenFill xmlns:a14="http://schemas.microsoft.com/office/drawing/2010/main">
                <a:solidFill>
                  <a:srgbClr val="FFFFFF"/>
                </a:solidFill>
              </a14:hiddenFill>
            </a:ext>
          </a:extLst>
        </p:spPr>
      </p:pic>
      <p:sp>
        <p:nvSpPr>
          <p:cNvPr id="160775" name="Rectangle 7">
            <a:extLst>
              <a:ext uri="{FF2B5EF4-FFF2-40B4-BE49-F238E27FC236}">
                <a16:creationId xmlns:a16="http://schemas.microsoft.com/office/drawing/2014/main" id="{A8EADEB6-06BF-44BC-9DCE-772755E42790}"/>
              </a:ext>
            </a:extLst>
          </p:cNvPr>
          <p:cNvSpPr>
            <a:spLocks noChangeArrowheads="1"/>
          </p:cNvSpPr>
          <p:nvPr/>
        </p:nvSpPr>
        <p:spPr bwMode="auto">
          <a:xfrm>
            <a:off x="2590800" y="1165225"/>
            <a:ext cx="25892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dirty="0">
                <a:solidFill>
                  <a:schemeClr val="folHlink"/>
                </a:solidFill>
              </a:rPr>
              <a:t>  Dehydrogenation</a:t>
            </a:r>
          </a:p>
        </p:txBody>
      </p:sp>
      <p:sp>
        <p:nvSpPr>
          <p:cNvPr id="160776" name="Rectangle 8">
            <a:extLst>
              <a:ext uri="{FF2B5EF4-FFF2-40B4-BE49-F238E27FC236}">
                <a16:creationId xmlns:a16="http://schemas.microsoft.com/office/drawing/2014/main" id="{ED5C0368-F145-457A-85C6-491864E46652}"/>
              </a:ext>
            </a:extLst>
          </p:cNvPr>
          <p:cNvSpPr>
            <a:spLocks noChangeArrowheads="1"/>
          </p:cNvSpPr>
          <p:nvPr/>
        </p:nvSpPr>
        <p:spPr bwMode="auto">
          <a:xfrm>
            <a:off x="2667000" y="2209800"/>
            <a:ext cx="10572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a:solidFill>
                  <a:srgbClr val="FF0000"/>
                </a:solidFill>
              </a:rPr>
              <a:t>Group</a:t>
            </a:r>
          </a:p>
          <a:p>
            <a:r>
              <a:rPr lang="en-US" altLang="zh-CN" sz="2000" b="1">
                <a:solidFill>
                  <a:srgbClr val="FF0000"/>
                </a:solidFill>
              </a:rPr>
              <a:t>transfer</a:t>
            </a:r>
          </a:p>
        </p:txBody>
      </p:sp>
      <p:sp>
        <p:nvSpPr>
          <p:cNvPr id="160777" name="Rectangle 9">
            <a:extLst>
              <a:ext uri="{FF2B5EF4-FFF2-40B4-BE49-F238E27FC236}">
                <a16:creationId xmlns:a16="http://schemas.microsoft.com/office/drawing/2014/main" id="{26D07923-CDA3-4C02-805E-0A5FB421984E}"/>
              </a:ext>
            </a:extLst>
          </p:cNvPr>
          <p:cNvSpPr>
            <a:spLocks noChangeArrowheads="1"/>
          </p:cNvSpPr>
          <p:nvPr/>
        </p:nvSpPr>
        <p:spPr bwMode="auto">
          <a:xfrm>
            <a:off x="1828800" y="3505200"/>
            <a:ext cx="22066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a:solidFill>
                  <a:schemeClr val="accent1"/>
                </a:solidFill>
              </a:rPr>
              <a:t>            Group shift</a:t>
            </a:r>
          </a:p>
        </p:txBody>
      </p:sp>
      <p:sp>
        <p:nvSpPr>
          <p:cNvPr id="160778" name="Rectangle 10">
            <a:extLst>
              <a:ext uri="{FF2B5EF4-FFF2-40B4-BE49-F238E27FC236}">
                <a16:creationId xmlns:a16="http://schemas.microsoft.com/office/drawing/2014/main" id="{7973521D-70D9-47AB-B531-72000B51C018}"/>
              </a:ext>
            </a:extLst>
          </p:cNvPr>
          <p:cNvSpPr>
            <a:spLocks noChangeArrowheads="1"/>
          </p:cNvSpPr>
          <p:nvPr/>
        </p:nvSpPr>
        <p:spPr bwMode="auto">
          <a:xfrm>
            <a:off x="2286000" y="4338638"/>
            <a:ext cx="18065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dirty="0">
                <a:solidFill>
                  <a:srgbClr val="FF33CC"/>
                </a:solidFill>
              </a:rPr>
              <a:t>    Dehydration</a:t>
            </a:r>
          </a:p>
        </p:txBody>
      </p:sp>
      <p:sp>
        <p:nvSpPr>
          <p:cNvPr id="160779" name="Rectangle 11">
            <a:extLst>
              <a:ext uri="{FF2B5EF4-FFF2-40B4-BE49-F238E27FC236}">
                <a16:creationId xmlns:a16="http://schemas.microsoft.com/office/drawing/2014/main" id="{E9969CD6-B4B7-40D3-8078-1505C0AB3D05}"/>
              </a:ext>
            </a:extLst>
          </p:cNvPr>
          <p:cNvSpPr>
            <a:spLocks noChangeArrowheads="1"/>
          </p:cNvSpPr>
          <p:nvPr/>
        </p:nvSpPr>
        <p:spPr bwMode="auto">
          <a:xfrm>
            <a:off x="2667000" y="5257800"/>
            <a:ext cx="10572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a:solidFill>
                  <a:srgbClr val="FF0000"/>
                </a:solidFill>
              </a:rPr>
              <a:t>Group</a:t>
            </a:r>
          </a:p>
          <a:p>
            <a:r>
              <a:rPr lang="en-US" altLang="zh-CN" sz="2000" b="1">
                <a:solidFill>
                  <a:srgbClr val="FF0000"/>
                </a:solidFill>
              </a:rPr>
              <a:t>transfer</a:t>
            </a:r>
          </a:p>
        </p:txBody>
      </p:sp>
      <p:sp>
        <p:nvSpPr>
          <p:cNvPr id="2" name="文本框 1">
            <a:extLst>
              <a:ext uri="{FF2B5EF4-FFF2-40B4-BE49-F238E27FC236}">
                <a16:creationId xmlns:a16="http://schemas.microsoft.com/office/drawing/2014/main" id="{C05DF964-350F-4D59-9873-C2B3AC8B11A0}"/>
              </a:ext>
            </a:extLst>
          </p:cNvPr>
          <p:cNvSpPr txBox="1"/>
          <p:nvPr/>
        </p:nvSpPr>
        <p:spPr>
          <a:xfrm>
            <a:off x="5763130" y="4886209"/>
            <a:ext cx="2088232" cy="307777"/>
          </a:xfrm>
          <a:prstGeom prst="rect">
            <a:avLst/>
          </a:prstGeom>
          <a:noFill/>
        </p:spPr>
        <p:txBody>
          <a:bodyPr wrap="square" rtlCol="0">
            <a:spAutoFit/>
          </a:bodyPr>
          <a:lstStyle/>
          <a:p>
            <a:r>
              <a:rPr lang="en-US" altLang="zh-CN" sz="1400" dirty="0"/>
              <a:t>PEP </a:t>
            </a:r>
            <a:r>
              <a:rPr lang="zh-CN" altLang="en-US" sz="1400" dirty="0"/>
              <a:t>磷酸烯醇式丙酮酸</a:t>
            </a:r>
          </a:p>
        </p:txBody>
      </p:sp>
    </p:spTree>
    <p:extLst>
      <p:ext uri="{BB962C8B-B14F-4D97-AF65-F5344CB8AC3E}">
        <p14:creationId xmlns:p14="http://schemas.microsoft.com/office/powerpoint/2010/main" val="213850708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22839BCE-DA68-9DBE-6244-EA3A7A773CBC}"/>
              </a:ext>
            </a:extLst>
          </p:cNvPr>
          <p:cNvPicPr>
            <a:picLocks noChangeAspect="1"/>
          </p:cNvPicPr>
          <p:nvPr/>
        </p:nvPicPr>
        <p:blipFill>
          <a:blip r:embed="rId2"/>
          <a:stretch>
            <a:fillRect/>
          </a:stretch>
        </p:blipFill>
        <p:spPr>
          <a:xfrm>
            <a:off x="1" y="0"/>
            <a:ext cx="4788024" cy="6858000"/>
          </a:xfrm>
          <a:prstGeom prst="rect">
            <a:avLst/>
          </a:prstGeom>
        </p:spPr>
      </p:pic>
      <p:pic>
        <p:nvPicPr>
          <p:cNvPr id="5" name="图片 4">
            <a:extLst>
              <a:ext uri="{FF2B5EF4-FFF2-40B4-BE49-F238E27FC236}">
                <a16:creationId xmlns:a16="http://schemas.microsoft.com/office/drawing/2014/main" id="{5A247A8B-6E58-7188-6F4E-8E9AE3F5CC96}"/>
              </a:ext>
            </a:extLst>
          </p:cNvPr>
          <p:cNvPicPr>
            <a:picLocks noChangeAspect="1"/>
          </p:cNvPicPr>
          <p:nvPr/>
        </p:nvPicPr>
        <p:blipFill>
          <a:blip r:embed="rId3"/>
          <a:stretch>
            <a:fillRect/>
          </a:stretch>
        </p:blipFill>
        <p:spPr>
          <a:xfrm>
            <a:off x="4572000" y="0"/>
            <a:ext cx="4572000" cy="6741368"/>
          </a:xfrm>
          <a:prstGeom prst="rect">
            <a:avLst/>
          </a:prstGeom>
        </p:spPr>
      </p:pic>
    </p:spTree>
    <p:extLst>
      <p:ext uri="{BB962C8B-B14F-4D97-AF65-F5344CB8AC3E}">
        <p14:creationId xmlns:p14="http://schemas.microsoft.com/office/powerpoint/2010/main" val="257834986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FEC95FA8-872B-49D6-95E2-A5B132DF020A}"/>
              </a:ext>
            </a:extLst>
          </p:cNvPr>
          <p:cNvSpPr>
            <a:spLocks noGrp="1" noChangeArrowheads="1"/>
          </p:cNvSpPr>
          <p:nvPr>
            <p:ph type="title" idx="4294967295"/>
          </p:nvPr>
        </p:nvSpPr>
        <p:spPr>
          <a:xfrm>
            <a:off x="4644008" y="476672"/>
            <a:ext cx="0" cy="0"/>
          </a:xfrm>
        </p:spPr>
        <p:txBody>
          <a:bodyPr/>
          <a:lstStyle/>
          <a:p>
            <a:r>
              <a:rPr lang="en-US" altLang="zh-CN" sz="4000" b="1" dirty="0">
                <a:solidFill>
                  <a:srgbClr val="C00000"/>
                </a:solidFill>
              </a:rPr>
              <a:t>3. Ten enzymes catalyze the </a:t>
            </a:r>
            <a:br>
              <a:rPr lang="en-US" altLang="zh-CN" sz="4000" b="1" dirty="0">
                <a:solidFill>
                  <a:srgbClr val="C00000"/>
                </a:solidFill>
              </a:rPr>
            </a:br>
            <a:r>
              <a:rPr lang="en-US" altLang="zh-CN" sz="4000" b="1" dirty="0">
                <a:solidFill>
                  <a:srgbClr val="C00000"/>
                </a:solidFill>
              </a:rPr>
              <a:t>ten reactions of glycolysis</a:t>
            </a:r>
          </a:p>
        </p:txBody>
      </p:sp>
      <p:sp>
        <p:nvSpPr>
          <p:cNvPr id="91139" name="Rectangle 3">
            <a:extLst>
              <a:ext uri="{FF2B5EF4-FFF2-40B4-BE49-F238E27FC236}">
                <a16:creationId xmlns:a16="http://schemas.microsoft.com/office/drawing/2014/main" id="{3AE7CC9F-982A-415C-AE32-7964BEA871F9}"/>
              </a:ext>
            </a:extLst>
          </p:cNvPr>
          <p:cNvSpPr>
            <a:spLocks noGrp="1" noChangeArrowheads="1"/>
          </p:cNvSpPr>
          <p:nvPr>
            <p:ph type="body" idx="4294967295"/>
          </p:nvPr>
        </p:nvSpPr>
        <p:spPr>
          <a:xfrm>
            <a:off x="0" y="2133600"/>
            <a:ext cx="8839200" cy="4114800"/>
          </a:xfrm>
          <a:solidFill>
            <a:schemeClr val="bg1"/>
          </a:solidFill>
          <a:ln>
            <a:solidFill>
              <a:schemeClr val="bg1"/>
            </a:solidFill>
            <a:miter lim="800000"/>
            <a:headEnd/>
            <a:tailEnd/>
          </a:ln>
        </p:spPr>
        <p:txBody>
          <a:bodyPr/>
          <a:lstStyle/>
          <a:p>
            <a:r>
              <a:rPr lang="en-US" altLang="zh-CN" b="1" dirty="0">
                <a:solidFill>
                  <a:srgbClr val="0070C0"/>
                </a:solidFill>
              </a:rPr>
              <a:t>Hexokinase</a:t>
            </a:r>
            <a:r>
              <a:rPr lang="en-US" altLang="zh-CN" dirty="0"/>
              <a:t> (also </a:t>
            </a:r>
            <a:r>
              <a:rPr lang="en-US" altLang="zh-CN" b="1" dirty="0">
                <a:solidFill>
                  <a:srgbClr val="0070C0"/>
                </a:solidFill>
              </a:rPr>
              <a:t>glucokinase</a:t>
            </a:r>
            <a:r>
              <a:rPr lang="en-US" altLang="zh-CN" dirty="0"/>
              <a:t> in liver) catalyzes the first phosphorylation reaction on the pathway.</a:t>
            </a:r>
          </a:p>
          <a:p>
            <a:endParaRPr lang="en-US" altLang="zh-CN" dirty="0"/>
          </a:p>
          <a:p>
            <a:r>
              <a:rPr lang="en-US" altLang="zh-CN" b="1" dirty="0">
                <a:solidFill>
                  <a:srgbClr val="0070C0"/>
                </a:solidFill>
              </a:rPr>
              <a:t>Phosphohexose isomerase</a:t>
            </a:r>
            <a:r>
              <a:rPr lang="en-US" altLang="zh-CN" dirty="0">
                <a:solidFill>
                  <a:srgbClr val="0070C0"/>
                </a:solidFill>
              </a:rPr>
              <a:t> </a:t>
            </a:r>
            <a:r>
              <a:rPr lang="en-US" altLang="zh-CN" dirty="0"/>
              <a:t>(also called </a:t>
            </a:r>
            <a:r>
              <a:rPr lang="en-US" altLang="zh-CN" dirty="0" err="1"/>
              <a:t>phosphoglucose</a:t>
            </a:r>
            <a:r>
              <a:rPr lang="en-US" altLang="zh-CN" dirty="0"/>
              <a:t> isomerase) catalyzes the isomerization  from glucose 6-P to fructose 6-P, converting an aldose to a ketose.</a:t>
            </a:r>
          </a:p>
        </p:txBody>
      </p:sp>
    </p:spTree>
    <p:extLst>
      <p:ext uri="{BB962C8B-B14F-4D97-AF65-F5344CB8AC3E}">
        <p14:creationId xmlns:p14="http://schemas.microsoft.com/office/powerpoint/2010/main" val="297235359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5346" name="Picture 2">
            <a:extLst>
              <a:ext uri="{FF2B5EF4-FFF2-40B4-BE49-F238E27FC236}">
                <a16:creationId xmlns:a16="http://schemas.microsoft.com/office/drawing/2014/main" id="{16496A12-6718-40B8-A5D1-CA7F52A3701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76200"/>
            <a:ext cx="7086600" cy="3857625"/>
          </a:xfrm>
          <a:prstGeom prst="rect">
            <a:avLst/>
          </a:prstGeom>
          <a:noFill/>
          <a:extLst>
            <a:ext uri="{909E8E84-426E-40DD-AFC4-6F175D3DCCD1}">
              <a14:hiddenFill xmlns:a14="http://schemas.microsoft.com/office/drawing/2010/main">
                <a:solidFill>
                  <a:srgbClr val="FFFFFF"/>
                </a:solidFill>
              </a14:hiddenFill>
            </a:ext>
          </a:extLst>
        </p:spPr>
      </p:pic>
      <p:pic>
        <p:nvPicPr>
          <p:cNvPr id="185347" name="Picture 3" descr="hex1">
            <a:extLst>
              <a:ext uri="{FF2B5EF4-FFF2-40B4-BE49-F238E27FC236}">
                <a16:creationId xmlns:a16="http://schemas.microsoft.com/office/drawing/2014/main" id="{8288A0A1-490D-4C33-9C75-ABB8CE2E6CF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09800" y="3300413"/>
            <a:ext cx="6934200" cy="3557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85348" name="Rectangle 4">
            <a:extLst>
              <a:ext uri="{FF2B5EF4-FFF2-40B4-BE49-F238E27FC236}">
                <a16:creationId xmlns:a16="http://schemas.microsoft.com/office/drawing/2014/main" id="{971B6700-4E30-4580-B289-5F7A26938571}"/>
              </a:ext>
            </a:extLst>
          </p:cNvPr>
          <p:cNvSpPr>
            <a:spLocks noChangeArrowheads="1"/>
          </p:cNvSpPr>
          <p:nvPr/>
        </p:nvSpPr>
        <p:spPr bwMode="auto">
          <a:xfrm>
            <a:off x="4038600" y="3505200"/>
            <a:ext cx="21050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dirty="0">
                <a:solidFill>
                  <a:srgbClr val="990099"/>
                </a:solidFill>
              </a:rPr>
              <a:t>Hexokinase</a:t>
            </a:r>
          </a:p>
        </p:txBody>
      </p:sp>
      <p:sp>
        <p:nvSpPr>
          <p:cNvPr id="185349" name="Rectangle 5">
            <a:extLst>
              <a:ext uri="{FF2B5EF4-FFF2-40B4-BE49-F238E27FC236}">
                <a16:creationId xmlns:a16="http://schemas.microsoft.com/office/drawing/2014/main" id="{E3AE18F2-B241-4B35-B592-8DC36664029E}"/>
              </a:ext>
            </a:extLst>
          </p:cNvPr>
          <p:cNvSpPr>
            <a:spLocks noChangeArrowheads="1"/>
          </p:cNvSpPr>
          <p:nvPr/>
        </p:nvSpPr>
        <p:spPr bwMode="auto">
          <a:xfrm>
            <a:off x="7626350" y="3352800"/>
            <a:ext cx="15176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rgbClr val="3366FF"/>
                </a:solidFill>
              </a:rPr>
              <a:t>Glucose</a:t>
            </a:r>
          </a:p>
        </p:txBody>
      </p:sp>
      <p:sp>
        <p:nvSpPr>
          <p:cNvPr id="185350" name="Line 6">
            <a:extLst>
              <a:ext uri="{FF2B5EF4-FFF2-40B4-BE49-F238E27FC236}">
                <a16:creationId xmlns:a16="http://schemas.microsoft.com/office/drawing/2014/main" id="{14976D4A-35FE-4AC3-A566-69B5FEBE9BDC}"/>
              </a:ext>
            </a:extLst>
          </p:cNvPr>
          <p:cNvSpPr>
            <a:spLocks noChangeShapeType="1"/>
          </p:cNvSpPr>
          <p:nvPr/>
        </p:nvSpPr>
        <p:spPr bwMode="auto">
          <a:xfrm flipH="1">
            <a:off x="7772400" y="3810000"/>
            <a:ext cx="533400" cy="76200"/>
          </a:xfrm>
          <a:prstGeom prst="line">
            <a:avLst/>
          </a:prstGeom>
          <a:noFill/>
          <a:ln w="12700" cap="sq">
            <a:solidFill>
              <a:srgbClr val="0000FF"/>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5351" name="Line 7">
            <a:extLst>
              <a:ext uri="{FF2B5EF4-FFF2-40B4-BE49-F238E27FC236}">
                <a16:creationId xmlns:a16="http://schemas.microsoft.com/office/drawing/2014/main" id="{C082A879-D412-4C06-A9A0-9F20532B6881}"/>
              </a:ext>
            </a:extLst>
          </p:cNvPr>
          <p:cNvSpPr>
            <a:spLocks noChangeShapeType="1"/>
          </p:cNvSpPr>
          <p:nvPr/>
        </p:nvSpPr>
        <p:spPr bwMode="auto">
          <a:xfrm flipH="1">
            <a:off x="5638800" y="4724400"/>
            <a:ext cx="762000" cy="304800"/>
          </a:xfrm>
          <a:prstGeom prst="line">
            <a:avLst/>
          </a:prstGeom>
          <a:noFill/>
          <a:ln w="60325" cap="sq">
            <a:solidFill>
              <a:srgbClr val="008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5352" name="Rectangle 8">
            <a:extLst>
              <a:ext uri="{FF2B5EF4-FFF2-40B4-BE49-F238E27FC236}">
                <a16:creationId xmlns:a16="http://schemas.microsoft.com/office/drawing/2014/main" id="{1BA90D82-4042-480D-984B-014CFD128277}"/>
              </a:ext>
            </a:extLst>
          </p:cNvPr>
          <p:cNvSpPr>
            <a:spLocks noChangeArrowheads="1"/>
          </p:cNvSpPr>
          <p:nvPr/>
        </p:nvSpPr>
        <p:spPr bwMode="auto">
          <a:xfrm>
            <a:off x="5334000" y="4876800"/>
            <a:ext cx="1595438"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rgbClr val="FF0000"/>
                </a:solidFill>
              </a:rPr>
              <a:t>Induced </a:t>
            </a:r>
          </a:p>
          <a:p>
            <a:r>
              <a:rPr lang="en-US" altLang="zh-CN" sz="3200">
                <a:solidFill>
                  <a:srgbClr val="FF0000"/>
                </a:solidFill>
              </a:rPr>
              <a:t>    fit</a:t>
            </a:r>
          </a:p>
        </p:txBody>
      </p:sp>
      <p:sp>
        <p:nvSpPr>
          <p:cNvPr id="185354" name="Rectangle 10">
            <a:extLst>
              <a:ext uri="{FF2B5EF4-FFF2-40B4-BE49-F238E27FC236}">
                <a16:creationId xmlns:a16="http://schemas.microsoft.com/office/drawing/2014/main" id="{E82986A6-BA20-4D72-8914-3EE9C09BADA8}"/>
              </a:ext>
            </a:extLst>
          </p:cNvPr>
          <p:cNvSpPr>
            <a:spLocks noChangeArrowheads="1"/>
          </p:cNvSpPr>
          <p:nvPr/>
        </p:nvSpPr>
        <p:spPr bwMode="auto">
          <a:xfrm>
            <a:off x="2368550" y="1873250"/>
            <a:ext cx="182245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dirty="0">
                <a:solidFill>
                  <a:srgbClr val="008000"/>
                </a:solidFill>
              </a:rPr>
              <a:t>Irreversible</a:t>
            </a:r>
          </a:p>
          <a:p>
            <a:r>
              <a:rPr lang="en-US" altLang="zh-CN" sz="2800" dirty="0">
                <a:solidFill>
                  <a:srgbClr val="008000"/>
                </a:solidFill>
              </a:rPr>
              <a:t>in cells</a:t>
            </a:r>
          </a:p>
        </p:txBody>
      </p:sp>
    </p:spTree>
    <p:extLst>
      <p:ext uri="{BB962C8B-B14F-4D97-AF65-F5344CB8AC3E}">
        <p14:creationId xmlns:p14="http://schemas.microsoft.com/office/powerpoint/2010/main" val="380278236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a:extLst>
              <a:ext uri="{FF2B5EF4-FFF2-40B4-BE49-F238E27FC236}">
                <a16:creationId xmlns:a16="http://schemas.microsoft.com/office/drawing/2014/main" id="{C7E96B77-9224-4C18-B2F1-C0ED3CF4F022}"/>
              </a:ext>
            </a:extLst>
          </p:cNvPr>
          <p:cNvSpPr>
            <a:spLocks noChangeArrowheads="1"/>
          </p:cNvSpPr>
          <p:nvPr/>
        </p:nvSpPr>
        <p:spPr bwMode="auto">
          <a:xfrm>
            <a:off x="3657600" y="3657600"/>
            <a:ext cx="1701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rgbClr val="FF3300"/>
                </a:solidFill>
              </a:rPr>
              <a:t>Reversible</a:t>
            </a:r>
          </a:p>
        </p:txBody>
      </p:sp>
      <p:sp>
        <p:nvSpPr>
          <p:cNvPr id="186371" name="Rectangle 3">
            <a:extLst>
              <a:ext uri="{FF2B5EF4-FFF2-40B4-BE49-F238E27FC236}">
                <a16:creationId xmlns:a16="http://schemas.microsoft.com/office/drawing/2014/main" id="{152D9813-8EC4-4163-83CB-92EE7B97357C}"/>
              </a:ext>
            </a:extLst>
          </p:cNvPr>
          <p:cNvSpPr>
            <a:spLocks noChangeArrowheads="1"/>
          </p:cNvSpPr>
          <p:nvPr/>
        </p:nvSpPr>
        <p:spPr bwMode="auto">
          <a:xfrm>
            <a:off x="762000" y="158750"/>
            <a:ext cx="246574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4000">
                <a:solidFill>
                  <a:srgbClr val="0070C0"/>
                </a:solidFill>
              </a:rPr>
              <a:t>An aldose</a:t>
            </a:r>
          </a:p>
        </p:txBody>
      </p:sp>
      <p:sp>
        <p:nvSpPr>
          <p:cNvPr id="186372" name="Rectangle 4">
            <a:extLst>
              <a:ext uri="{FF2B5EF4-FFF2-40B4-BE49-F238E27FC236}">
                <a16:creationId xmlns:a16="http://schemas.microsoft.com/office/drawing/2014/main" id="{EAF8DED6-5C4D-4BCA-B322-EF608EAC3C6A}"/>
              </a:ext>
            </a:extLst>
          </p:cNvPr>
          <p:cNvSpPr>
            <a:spLocks noChangeArrowheads="1"/>
          </p:cNvSpPr>
          <p:nvPr/>
        </p:nvSpPr>
        <p:spPr bwMode="auto">
          <a:xfrm>
            <a:off x="6553200" y="228600"/>
            <a:ext cx="246574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4000">
                <a:solidFill>
                  <a:srgbClr val="0070C0"/>
                </a:solidFill>
              </a:rPr>
              <a:t>An ketose</a:t>
            </a:r>
          </a:p>
        </p:txBody>
      </p:sp>
      <p:pic>
        <p:nvPicPr>
          <p:cNvPr id="186374" name="Picture 6">
            <a:extLst>
              <a:ext uri="{FF2B5EF4-FFF2-40B4-BE49-F238E27FC236}">
                <a16:creationId xmlns:a16="http://schemas.microsoft.com/office/drawing/2014/main" id="{1B5F9543-ACFA-4671-90D5-6B74025370B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1111250"/>
            <a:ext cx="9144000" cy="3994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832357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1026">
            <a:extLst>
              <a:ext uri="{FF2B5EF4-FFF2-40B4-BE49-F238E27FC236}">
                <a16:creationId xmlns:a16="http://schemas.microsoft.com/office/drawing/2014/main" id="{3002F9AF-BDB9-4022-8497-CFFD46451340}"/>
              </a:ext>
            </a:extLst>
          </p:cNvPr>
          <p:cNvSpPr>
            <a:spLocks noGrp="1" noChangeArrowheads="1"/>
          </p:cNvSpPr>
          <p:nvPr>
            <p:ph type="title" idx="4294967295"/>
          </p:nvPr>
        </p:nvSpPr>
        <p:spPr>
          <a:xfrm flipV="1">
            <a:off x="1219200" y="-38100"/>
            <a:ext cx="7924800" cy="76200"/>
          </a:xfrm>
        </p:spPr>
        <p:txBody>
          <a:bodyPr/>
          <a:lstStyle/>
          <a:p>
            <a:r>
              <a:rPr lang="en-US" altLang="zh-CN"/>
              <a:t> </a:t>
            </a:r>
          </a:p>
        </p:txBody>
      </p:sp>
      <p:sp>
        <p:nvSpPr>
          <p:cNvPr id="95235" name="Rectangle 1027">
            <a:extLst>
              <a:ext uri="{FF2B5EF4-FFF2-40B4-BE49-F238E27FC236}">
                <a16:creationId xmlns:a16="http://schemas.microsoft.com/office/drawing/2014/main" id="{6DDBF591-74A0-4E19-93BE-2929F5BBF452}"/>
              </a:ext>
            </a:extLst>
          </p:cNvPr>
          <p:cNvSpPr>
            <a:spLocks noGrp="1" noChangeArrowheads="1"/>
          </p:cNvSpPr>
          <p:nvPr>
            <p:ph type="body" idx="4294967295"/>
          </p:nvPr>
        </p:nvSpPr>
        <p:spPr>
          <a:xfrm>
            <a:off x="228600" y="990600"/>
            <a:ext cx="8915400" cy="5562600"/>
          </a:xfrm>
        </p:spPr>
        <p:txBody>
          <a:bodyPr/>
          <a:lstStyle/>
          <a:p>
            <a:r>
              <a:rPr lang="en-US" altLang="zh-CN" b="1" dirty="0">
                <a:solidFill>
                  <a:srgbClr val="0070C0"/>
                </a:solidFill>
              </a:rPr>
              <a:t>Phosphofructokinase-1</a:t>
            </a:r>
            <a:r>
              <a:rPr lang="en-US" altLang="zh-CN" dirty="0">
                <a:solidFill>
                  <a:srgbClr val="0070C0"/>
                </a:solidFill>
              </a:rPr>
              <a:t> </a:t>
            </a:r>
            <a:r>
              <a:rPr lang="en-US" altLang="zh-CN" dirty="0"/>
              <a:t>(PFK-1, </a:t>
            </a:r>
            <a:r>
              <a:rPr lang="zh-CN" altLang="en-US" dirty="0">
                <a:latin typeface="华文新魏" panose="02010800040101010101" pitchFamily="2" charset="-122"/>
                <a:ea typeface="华文新魏" panose="02010800040101010101" pitchFamily="2" charset="-122"/>
              </a:rPr>
              <a:t>磷酸果糖激酶</a:t>
            </a:r>
            <a:r>
              <a:rPr lang="en-US" altLang="zh-CN" dirty="0">
                <a:latin typeface="华文新魏" panose="02010800040101010101" pitchFamily="2" charset="-122"/>
                <a:ea typeface="华文新魏" panose="02010800040101010101" pitchFamily="2" charset="-122"/>
              </a:rPr>
              <a:t>-1</a:t>
            </a:r>
            <a:r>
              <a:rPr lang="en-US" altLang="zh-CN" dirty="0"/>
              <a:t>) then catalyzes the second phosphorylation step, converting fructose 6-P to fructose 1,6-bisphosphate; the overall rate of glycolysis is mainly controlled at this step;</a:t>
            </a:r>
            <a:r>
              <a:rPr lang="en-US" altLang="zh-CN" dirty="0">
                <a:solidFill>
                  <a:srgbClr val="0070C0"/>
                </a:solidFill>
              </a:rPr>
              <a:t> </a:t>
            </a:r>
            <a:r>
              <a:rPr lang="en-US" altLang="zh-CN" b="1" dirty="0">
                <a:solidFill>
                  <a:srgbClr val="0070C0"/>
                </a:solidFill>
              </a:rPr>
              <a:t>PFK-1</a:t>
            </a:r>
            <a:r>
              <a:rPr lang="en-US" altLang="zh-CN" dirty="0">
                <a:solidFill>
                  <a:srgbClr val="0070C0"/>
                </a:solidFill>
              </a:rPr>
              <a:t> </a:t>
            </a:r>
            <a:r>
              <a:rPr lang="en-US" altLang="zh-CN" dirty="0"/>
              <a:t>is a highly regulatory enzyme; the plant PFK-1 makes use of </a:t>
            </a:r>
            <a:r>
              <a:rPr lang="en-US" altLang="zh-CN" dirty="0" err="1"/>
              <a:t>PP</a:t>
            </a:r>
            <a:r>
              <a:rPr lang="en-US" altLang="zh-CN" baseline="-25000" dirty="0" err="1"/>
              <a:t>i</a:t>
            </a:r>
            <a:r>
              <a:rPr lang="en-US" altLang="zh-CN" dirty="0"/>
              <a:t>, instead of ATP at this step.</a:t>
            </a:r>
          </a:p>
        </p:txBody>
      </p:sp>
      <p:cxnSp>
        <p:nvCxnSpPr>
          <p:cNvPr id="3" name="直接连接符 2">
            <a:extLst>
              <a:ext uri="{FF2B5EF4-FFF2-40B4-BE49-F238E27FC236}">
                <a16:creationId xmlns:a16="http://schemas.microsoft.com/office/drawing/2014/main" id="{C180F118-1392-4F1F-AF64-90B8186B7F6F}"/>
              </a:ext>
            </a:extLst>
          </p:cNvPr>
          <p:cNvCxnSpPr/>
          <p:nvPr/>
        </p:nvCxnSpPr>
        <p:spPr>
          <a:xfrm>
            <a:off x="3347864" y="2996952"/>
            <a:ext cx="432048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167CF46C-42EA-4F27-A7F7-5721EA9A4ED4}"/>
              </a:ext>
            </a:extLst>
          </p:cNvPr>
          <p:cNvCxnSpPr/>
          <p:nvPr/>
        </p:nvCxnSpPr>
        <p:spPr>
          <a:xfrm>
            <a:off x="827584" y="3501008"/>
            <a:ext cx="432048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737504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7395" name="Picture 1027">
            <a:extLst>
              <a:ext uri="{FF2B5EF4-FFF2-40B4-BE49-F238E27FC236}">
                <a16:creationId xmlns:a16="http://schemas.microsoft.com/office/drawing/2014/main" id="{DA1D1295-A32C-4B42-AEFC-1D44D6A98B4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990600"/>
            <a:ext cx="9144000" cy="27193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696016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Text Box 2050">
            <a:extLst>
              <a:ext uri="{FF2B5EF4-FFF2-40B4-BE49-F238E27FC236}">
                <a16:creationId xmlns:a16="http://schemas.microsoft.com/office/drawing/2014/main" id="{F7E2A528-F85C-456A-9D1A-CB5CA882771E}"/>
              </a:ext>
            </a:extLst>
          </p:cNvPr>
          <p:cNvSpPr txBox="1">
            <a:spLocks noChangeArrowheads="1"/>
          </p:cNvSpPr>
          <p:nvPr/>
        </p:nvSpPr>
        <p:spPr bwMode="auto">
          <a:xfrm>
            <a:off x="228600" y="1447800"/>
            <a:ext cx="8686800" cy="53122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30000"/>
              </a:lnSpc>
              <a:spcBef>
                <a:spcPct val="20000"/>
              </a:spcBef>
              <a:buClr>
                <a:schemeClr val="tx2"/>
              </a:buClr>
              <a:buFontTx/>
              <a:buChar char="•"/>
            </a:pPr>
            <a:r>
              <a:rPr lang="en-US" altLang="zh-CN" sz="3200" b="1" dirty="0">
                <a:solidFill>
                  <a:srgbClr val="0070C0"/>
                </a:solidFill>
              </a:rPr>
              <a:t>Aldolase</a:t>
            </a:r>
            <a:r>
              <a:rPr lang="en-US" altLang="zh-CN" sz="3200" dirty="0"/>
              <a:t> (</a:t>
            </a:r>
            <a:r>
              <a:rPr lang="zh-CN" altLang="en-US" sz="3200" dirty="0">
                <a:ea typeface="华文新魏" panose="02010800040101010101" pitchFamily="2" charset="-122"/>
              </a:rPr>
              <a:t>醛缩酶</a:t>
            </a:r>
            <a:r>
              <a:rPr lang="en-US" altLang="zh-CN" sz="3200" dirty="0"/>
              <a:t>), named for the reverse reaction catalyzes the cleavage (“lysis”) of fructose 1,6-bisphosphate from the middle C-C bond to form two 3-carbon sugars, dihydroxyacetone phosphate and glyceraldehyde 3-phosphate; this is a reversal aldol condensation reaction.</a:t>
            </a:r>
          </a:p>
          <a:p>
            <a:pPr>
              <a:spcBef>
                <a:spcPct val="50000"/>
              </a:spcBef>
            </a:pPr>
            <a:endParaRPr lang="en-US" altLang="zh-CN" sz="3200" dirty="0"/>
          </a:p>
        </p:txBody>
      </p:sp>
      <p:cxnSp>
        <p:nvCxnSpPr>
          <p:cNvPr id="3" name="直接连接符 2">
            <a:extLst>
              <a:ext uri="{FF2B5EF4-FFF2-40B4-BE49-F238E27FC236}">
                <a16:creationId xmlns:a16="http://schemas.microsoft.com/office/drawing/2014/main" id="{A2BA2687-74CF-4E88-B2A9-AADBE84E542C}"/>
              </a:ext>
            </a:extLst>
          </p:cNvPr>
          <p:cNvCxnSpPr/>
          <p:nvPr/>
        </p:nvCxnSpPr>
        <p:spPr>
          <a:xfrm>
            <a:off x="2195736" y="4005064"/>
            <a:ext cx="432048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 name="直接连接符 3">
            <a:extLst>
              <a:ext uri="{FF2B5EF4-FFF2-40B4-BE49-F238E27FC236}">
                <a16:creationId xmlns:a16="http://schemas.microsoft.com/office/drawing/2014/main" id="{580E1D99-1DF5-4768-85BC-B7268260DEBC}"/>
              </a:ext>
            </a:extLst>
          </p:cNvPr>
          <p:cNvCxnSpPr/>
          <p:nvPr/>
        </p:nvCxnSpPr>
        <p:spPr>
          <a:xfrm>
            <a:off x="539552" y="4653136"/>
            <a:ext cx="432048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7B2D5DCE-D48C-4E07-95F7-65327E683EB5}"/>
              </a:ext>
            </a:extLst>
          </p:cNvPr>
          <p:cNvCxnSpPr/>
          <p:nvPr/>
        </p:nvCxnSpPr>
        <p:spPr>
          <a:xfrm>
            <a:off x="346449" y="5373216"/>
            <a:ext cx="432048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840302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8418" name="Picture 1026">
            <a:extLst>
              <a:ext uri="{FF2B5EF4-FFF2-40B4-BE49-F238E27FC236}">
                <a16:creationId xmlns:a16="http://schemas.microsoft.com/office/drawing/2014/main" id="{B584DBCF-BB48-4486-840C-06BFAECCA35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732057"/>
            <a:ext cx="9144000" cy="3124200"/>
          </a:xfrm>
          <a:prstGeom prst="rect">
            <a:avLst/>
          </a:prstGeom>
          <a:noFill/>
          <a:extLst>
            <a:ext uri="{909E8E84-426E-40DD-AFC4-6F175D3DCCD1}">
              <a14:hiddenFill xmlns:a14="http://schemas.microsoft.com/office/drawing/2010/main">
                <a:solidFill>
                  <a:srgbClr val="FFFFFF"/>
                </a:solidFill>
              </a14:hiddenFill>
            </a:ext>
          </a:extLst>
        </p:spPr>
      </p:pic>
      <p:sp>
        <p:nvSpPr>
          <p:cNvPr id="188419" name="Rectangle 1027">
            <a:extLst>
              <a:ext uri="{FF2B5EF4-FFF2-40B4-BE49-F238E27FC236}">
                <a16:creationId xmlns:a16="http://schemas.microsoft.com/office/drawing/2014/main" id="{762D4600-5EE0-41D8-9E0C-FF1A0872E6A6}"/>
              </a:ext>
            </a:extLst>
          </p:cNvPr>
          <p:cNvSpPr>
            <a:spLocks noChangeArrowheads="1"/>
          </p:cNvSpPr>
          <p:nvPr/>
        </p:nvSpPr>
        <p:spPr bwMode="auto">
          <a:xfrm>
            <a:off x="4845050" y="2951257"/>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rPr>
              <a:t>3</a:t>
            </a:r>
          </a:p>
        </p:txBody>
      </p:sp>
      <p:sp>
        <p:nvSpPr>
          <p:cNvPr id="188420" name="Rectangle 1028">
            <a:extLst>
              <a:ext uri="{FF2B5EF4-FFF2-40B4-BE49-F238E27FC236}">
                <a16:creationId xmlns:a16="http://schemas.microsoft.com/office/drawing/2014/main" id="{579627A4-FA72-437F-AAD4-15CC6E01698B}"/>
              </a:ext>
            </a:extLst>
          </p:cNvPr>
          <p:cNvSpPr>
            <a:spLocks noChangeArrowheads="1"/>
          </p:cNvSpPr>
          <p:nvPr/>
        </p:nvSpPr>
        <p:spPr bwMode="auto">
          <a:xfrm>
            <a:off x="4800600" y="2570257"/>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b="1">
                <a:solidFill>
                  <a:srgbClr val="FF0000"/>
                </a:solidFill>
              </a:rPr>
              <a:t> 2</a:t>
            </a:r>
          </a:p>
        </p:txBody>
      </p:sp>
      <p:sp>
        <p:nvSpPr>
          <p:cNvPr id="188421" name="Rectangle 1029">
            <a:extLst>
              <a:ext uri="{FF2B5EF4-FFF2-40B4-BE49-F238E27FC236}">
                <a16:creationId xmlns:a16="http://schemas.microsoft.com/office/drawing/2014/main" id="{64A18B11-A940-4CC8-ADE5-A09892E9699E}"/>
              </a:ext>
            </a:extLst>
          </p:cNvPr>
          <p:cNvSpPr>
            <a:spLocks noChangeArrowheads="1"/>
          </p:cNvSpPr>
          <p:nvPr/>
        </p:nvSpPr>
        <p:spPr bwMode="auto">
          <a:xfrm>
            <a:off x="4845050" y="2113057"/>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rPr>
              <a:t>1</a:t>
            </a:r>
          </a:p>
        </p:txBody>
      </p:sp>
      <p:sp>
        <p:nvSpPr>
          <p:cNvPr id="188422" name="Rectangle 1030">
            <a:extLst>
              <a:ext uri="{FF2B5EF4-FFF2-40B4-BE49-F238E27FC236}">
                <a16:creationId xmlns:a16="http://schemas.microsoft.com/office/drawing/2014/main" id="{B2302AA1-3B4A-4E92-B0C7-DC4560AE9956}"/>
              </a:ext>
            </a:extLst>
          </p:cNvPr>
          <p:cNvSpPr>
            <a:spLocks noChangeArrowheads="1"/>
          </p:cNvSpPr>
          <p:nvPr/>
        </p:nvSpPr>
        <p:spPr bwMode="auto">
          <a:xfrm>
            <a:off x="6978650" y="2113057"/>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rPr>
              <a:t>4</a:t>
            </a:r>
          </a:p>
        </p:txBody>
      </p:sp>
      <p:sp>
        <p:nvSpPr>
          <p:cNvPr id="188423" name="Rectangle 1031">
            <a:extLst>
              <a:ext uri="{FF2B5EF4-FFF2-40B4-BE49-F238E27FC236}">
                <a16:creationId xmlns:a16="http://schemas.microsoft.com/office/drawing/2014/main" id="{EA3DB883-C832-4F15-9ECA-EFB51174CC46}"/>
              </a:ext>
            </a:extLst>
          </p:cNvPr>
          <p:cNvSpPr>
            <a:spLocks noChangeArrowheads="1"/>
          </p:cNvSpPr>
          <p:nvPr/>
        </p:nvSpPr>
        <p:spPr bwMode="auto">
          <a:xfrm>
            <a:off x="6902450" y="2494057"/>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rPr>
              <a:t>5</a:t>
            </a:r>
          </a:p>
        </p:txBody>
      </p:sp>
      <p:sp>
        <p:nvSpPr>
          <p:cNvPr id="188424" name="Rectangle 1032">
            <a:extLst>
              <a:ext uri="{FF2B5EF4-FFF2-40B4-BE49-F238E27FC236}">
                <a16:creationId xmlns:a16="http://schemas.microsoft.com/office/drawing/2014/main" id="{54B8C79E-80C7-4292-BFF5-FD38A3AF0169}"/>
              </a:ext>
            </a:extLst>
          </p:cNvPr>
          <p:cNvSpPr>
            <a:spLocks noChangeArrowheads="1"/>
          </p:cNvSpPr>
          <p:nvPr/>
        </p:nvSpPr>
        <p:spPr bwMode="auto">
          <a:xfrm>
            <a:off x="6978650" y="2875057"/>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rPr>
              <a:t>6</a:t>
            </a:r>
          </a:p>
        </p:txBody>
      </p:sp>
      <p:sp>
        <p:nvSpPr>
          <p:cNvPr id="188426" name="Rectangle 1034">
            <a:extLst>
              <a:ext uri="{FF2B5EF4-FFF2-40B4-BE49-F238E27FC236}">
                <a16:creationId xmlns:a16="http://schemas.microsoft.com/office/drawing/2014/main" id="{3353635D-7437-4642-A515-FC9E0370BD3D}"/>
              </a:ext>
            </a:extLst>
          </p:cNvPr>
          <p:cNvSpPr>
            <a:spLocks noChangeArrowheads="1"/>
          </p:cNvSpPr>
          <p:nvPr/>
        </p:nvSpPr>
        <p:spPr bwMode="auto">
          <a:xfrm>
            <a:off x="3200400" y="4932457"/>
            <a:ext cx="360384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0070C0"/>
                </a:solidFill>
                <a:effectLst>
                  <a:outerShdw blurRad="38100" dist="38100" dir="2700000" algn="tl">
                    <a:srgbClr val="FFFFFF"/>
                  </a:outerShdw>
                </a:effectLst>
              </a:rPr>
              <a:t>The “lysis” step</a:t>
            </a:r>
          </a:p>
        </p:txBody>
      </p:sp>
      <p:sp>
        <p:nvSpPr>
          <p:cNvPr id="188427" name="Rectangle 1035">
            <a:extLst>
              <a:ext uri="{FF2B5EF4-FFF2-40B4-BE49-F238E27FC236}">
                <a16:creationId xmlns:a16="http://schemas.microsoft.com/office/drawing/2014/main" id="{B3B49E55-D349-4460-9138-0AE96282616B}"/>
              </a:ext>
            </a:extLst>
          </p:cNvPr>
          <p:cNvSpPr>
            <a:spLocks noChangeArrowheads="1"/>
          </p:cNvSpPr>
          <p:nvPr/>
        </p:nvSpPr>
        <p:spPr bwMode="auto">
          <a:xfrm>
            <a:off x="6660232" y="1133087"/>
            <a:ext cx="18192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dirty="0">
                <a:solidFill>
                  <a:srgbClr val="FF3300"/>
                </a:solidFill>
              </a:rPr>
              <a:t>An aldehyde</a:t>
            </a:r>
          </a:p>
        </p:txBody>
      </p:sp>
      <p:sp>
        <p:nvSpPr>
          <p:cNvPr id="188428" name="Rectangle 1036">
            <a:extLst>
              <a:ext uri="{FF2B5EF4-FFF2-40B4-BE49-F238E27FC236}">
                <a16:creationId xmlns:a16="http://schemas.microsoft.com/office/drawing/2014/main" id="{10CCDC6B-AEF5-41BE-8EBF-3F1ED177F9BC}"/>
              </a:ext>
            </a:extLst>
          </p:cNvPr>
          <p:cNvSpPr>
            <a:spLocks noChangeArrowheads="1"/>
          </p:cNvSpPr>
          <p:nvPr/>
        </p:nvSpPr>
        <p:spPr bwMode="auto">
          <a:xfrm>
            <a:off x="5002324" y="1122457"/>
            <a:ext cx="13446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dirty="0">
                <a:solidFill>
                  <a:srgbClr val="FF3300"/>
                </a:solidFill>
              </a:rPr>
              <a:t>A ketone</a:t>
            </a:r>
          </a:p>
        </p:txBody>
      </p:sp>
      <p:sp>
        <p:nvSpPr>
          <p:cNvPr id="4" name="文本框 3">
            <a:extLst>
              <a:ext uri="{FF2B5EF4-FFF2-40B4-BE49-F238E27FC236}">
                <a16:creationId xmlns:a16="http://schemas.microsoft.com/office/drawing/2014/main" id="{D7ED5E55-55D7-4835-8DDE-94500077258D}"/>
              </a:ext>
            </a:extLst>
          </p:cNvPr>
          <p:cNvSpPr txBox="1"/>
          <p:nvPr/>
        </p:nvSpPr>
        <p:spPr>
          <a:xfrm rot="16200000">
            <a:off x="1552802" y="2879052"/>
            <a:ext cx="701093" cy="584775"/>
          </a:xfrm>
          <a:prstGeom prst="rect">
            <a:avLst/>
          </a:prstGeom>
          <a:noFill/>
        </p:spPr>
        <p:txBody>
          <a:bodyPr wrap="square" rtlCol="0">
            <a:spAutoFit/>
          </a:bodyPr>
          <a:lstStyle/>
          <a:p>
            <a:r>
              <a:rPr lang="zh-CN" altLang="en-US" sz="3200" dirty="0">
                <a:solidFill>
                  <a:srgbClr val="FF0000"/>
                </a:solidFill>
                <a:latin typeface="Arial Narrow" panose="020B0606020202030204" pitchFamily="34" charset="0"/>
              </a:rPr>
              <a:t>✄</a:t>
            </a:r>
          </a:p>
        </p:txBody>
      </p:sp>
    </p:spTree>
    <p:extLst>
      <p:ext uri="{BB962C8B-B14F-4D97-AF65-F5344CB8AC3E}">
        <p14:creationId xmlns:p14="http://schemas.microsoft.com/office/powerpoint/2010/main" val="60556216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14F2BDF2-F675-7CED-AFC1-95C652DD4474}"/>
              </a:ext>
            </a:extLst>
          </p:cNvPr>
          <p:cNvPicPr>
            <a:picLocks noChangeAspect="1"/>
          </p:cNvPicPr>
          <p:nvPr/>
        </p:nvPicPr>
        <p:blipFill>
          <a:blip r:embed="rId3"/>
          <a:stretch>
            <a:fillRect/>
          </a:stretch>
        </p:blipFill>
        <p:spPr>
          <a:xfrm>
            <a:off x="648037" y="0"/>
            <a:ext cx="7847925" cy="6858000"/>
          </a:xfrm>
          <a:prstGeom prst="rect">
            <a:avLst/>
          </a:prstGeom>
        </p:spPr>
      </p:pic>
    </p:spTree>
    <p:extLst>
      <p:ext uri="{BB962C8B-B14F-4D97-AF65-F5344CB8AC3E}">
        <p14:creationId xmlns:p14="http://schemas.microsoft.com/office/powerpoint/2010/main" val="252114064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Text Box 2">
            <a:extLst>
              <a:ext uri="{FF2B5EF4-FFF2-40B4-BE49-F238E27FC236}">
                <a16:creationId xmlns:a16="http://schemas.microsoft.com/office/drawing/2014/main" id="{DF115D51-4680-4D76-930C-FD181A14644E}"/>
              </a:ext>
            </a:extLst>
          </p:cNvPr>
          <p:cNvSpPr txBox="1">
            <a:spLocks noChangeArrowheads="1"/>
          </p:cNvSpPr>
          <p:nvPr/>
        </p:nvSpPr>
        <p:spPr bwMode="auto">
          <a:xfrm>
            <a:off x="304800" y="2209800"/>
            <a:ext cx="8458200" cy="34624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20000"/>
              </a:lnSpc>
              <a:spcBef>
                <a:spcPct val="20000"/>
              </a:spcBef>
              <a:buClr>
                <a:schemeClr val="tx2"/>
              </a:buClr>
              <a:buFontTx/>
              <a:buChar char="•"/>
            </a:pPr>
            <a:r>
              <a:rPr lang="en-US" altLang="zh-CN" sz="3200" b="1" dirty="0">
                <a:solidFill>
                  <a:srgbClr val="0070C0"/>
                </a:solidFill>
              </a:rPr>
              <a:t>Triose phosphate isomerase</a:t>
            </a:r>
            <a:r>
              <a:rPr lang="en-US" altLang="zh-CN" sz="3200" dirty="0">
                <a:solidFill>
                  <a:srgbClr val="0070C0"/>
                </a:solidFill>
              </a:rPr>
              <a:t> </a:t>
            </a:r>
            <a:r>
              <a:rPr lang="en-US" altLang="zh-CN" sz="3200" dirty="0"/>
              <a:t>converts </a:t>
            </a:r>
            <a:r>
              <a:rPr lang="en-US" altLang="zh-CN" sz="3200" dirty="0" err="1"/>
              <a:t>dihydroacetone</a:t>
            </a:r>
            <a:r>
              <a:rPr lang="en-US" altLang="zh-CN" sz="3200" dirty="0"/>
              <a:t> phosphate to glyceraldehyde 3-phosphate; an intramolecular redox reaction (a hydrogen atom is transferred from C-1 to C-2).</a:t>
            </a:r>
          </a:p>
          <a:p>
            <a:pPr>
              <a:spcBef>
                <a:spcPct val="50000"/>
              </a:spcBef>
            </a:pPr>
            <a:endParaRPr lang="en-US" altLang="zh-CN" dirty="0"/>
          </a:p>
        </p:txBody>
      </p:sp>
    </p:spTree>
    <p:extLst>
      <p:ext uri="{BB962C8B-B14F-4D97-AF65-F5344CB8AC3E}">
        <p14:creationId xmlns:p14="http://schemas.microsoft.com/office/powerpoint/2010/main" val="258944969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050">
            <a:extLst>
              <a:ext uri="{FF2B5EF4-FFF2-40B4-BE49-F238E27FC236}">
                <a16:creationId xmlns:a16="http://schemas.microsoft.com/office/drawing/2014/main" id="{26D1F257-9DB5-41BF-B384-CA91C9E30970}"/>
              </a:ext>
            </a:extLst>
          </p:cNvPr>
          <p:cNvSpPr>
            <a:spLocks noChangeArrowheads="1"/>
          </p:cNvSpPr>
          <p:nvPr/>
        </p:nvSpPr>
        <p:spPr bwMode="auto">
          <a:xfrm>
            <a:off x="762000" y="850428"/>
            <a:ext cx="11378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0070C0"/>
                </a:solidFill>
              </a:rPr>
              <a:t>A ketose</a:t>
            </a:r>
          </a:p>
        </p:txBody>
      </p:sp>
      <p:sp>
        <p:nvSpPr>
          <p:cNvPr id="189443" name="Rectangle 2051">
            <a:extLst>
              <a:ext uri="{FF2B5EF4-FFF2-40B4-BE49-F238E27FC236}">
                <a16:creationId xmlns:a16="http://schemas.microsoft.com/office/drawing/2014/main" id="{470A6D4E-9D90-4A43-8723-20088936A026}"/>
              </a:ext>
            </a:extLst>
          </p:cNvPr>
          <p:cNvSpPr>
            <a:spLocks noChangeArrowheads="1"/>
          </p:cNvSpPr>
          <p:nvPr/>
        </p:nvSpPr>
        <p:spPr bwMode="auto">
          <a:xfrm>
            <a:off x="5410200" y="926628"/>
            <a:ext cx="128753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0070C0"/>
                </a:solidFill>
              </a:rPr>
              <a:t>An aldose</a:t>
            </a:r>
          </a:p>
        </p:txBody>
      </p:sp>
      <p:pic>
        <p:nvPicPr>
          <p:cNvPr id="189445" name="Picture 2053">
            <a:extLst>
              <a:ext uri="{FF2B5EF4-FFF2-40B4-BE49-F238E27FC236}">
                <a16:creationId xmlns:a16="http://schemas.microsoft.com/office/drawing/2014/main" id="{DCB168B8-CB52-43E1-912D-2ECC3AF55E9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1612428"/>
            <a:ext cx="8610600" cy="37607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846065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EDE34A67-F6CC-47EB-8781-13D0C53DD0A5}"/>
              </a:ext>
            </a:extLst>
          </p:cNvPr>
          <p:cNvSpPr>
            <a:spLocks noGrp="1" noChangeArrowheads="1"/>
          </p:cNvSpPr>
          <p:nvPr>
            <p:ph type="title" idx="4294967295"/>
          </p:nvPr>
        </p:nvSpPr>
        <p:spPr>
          <a:xfrm>
            <a:off x="0" y="-76200"/>
            <a:ext cx="8001000" cy="76200"/>
          </a:xfrm>
        </p:spPr>
        <p:txBody>
          <a:bodyPr/>
          <a:lstStyle/>
          <a:p>
            <a:r>
              <a:rPr lang="en-US" altLang="zh-CN"/>
              <a:t> </a:t>
            </a:r>
          </a:p>
        </p:txBody>
      </p:sp>
      <p:sp>
        <p:nvSpPr>
          <p:cNvPr id="98307" name="Rectangle 3">
            <a:extLst>
              <a:ext uri="{FF2B5EF4-FFF2-40B4-BE49-F238E27FC236}">
                <a16:creationId xmlns:a16="http://schemas.microsoft.com/office/drawing/2014/main" id="{B596D37A-27A6-4B11-B76B-72F7CF7E6553}"/>
              </a:ext>
            </a:extLst>
          </p:cNvPr>
          <p:cNvSpPr>
            <a:spLocks noGrp="1" noChangeArrowheads="1"/>
          </p:cNvSpPr>
          <p:nvPr>
            <p:ph type="body" idx="4294967295"/>
          </p:nvPr>
        </p:nvSpPr>
        <p:spPr>
          <a:xfrm>
            <a:off x="0" y="609600"/>
            <a:ext cx="9144000" cy="4876800"/>
          </a:xfrm>
        </p:spPr>
        <p:txBody>
          <a:bodyPr/>
          <a:lstStyle/>
          <a:p>
            <a:r>
              <a:rPr lang="en-US" altLang="zh-CN" sz="3600" b="1" dirty="0">
                <a:solidFill>
                  <a:srgbClr val="0070C0"/>
                </a:solidFill>
              </a:rPr>
              <a:t>Glyceraldehyde 3-phosphate dehydrogenase</a:t>
            </a:r>
            <a:r>
              <a:rPr lang="en-US" altLang="zh-CN" sz="3600" dirty="0">
                <a:solidFill>
                  <a:srgbClr val="0070C0"/>
                </a:solidFill>
              </a:rPr>
              <a:t> </a:t>
            </a:r>
            <a:r>
              <a:rPr lang="en-US" altLang="zh-CN" sz="3500" dirty="0"/>
              <a:t>catalyzes first the oxidation and then the phosphorylation of glyceraldehyde 3-P to form glycerate 1,3-bisphosphate, an </a:t>
            </a:r>
            <a:r>
              <a:rPr lang="en-US" altLang="zh-CN" sz="3500" dirty="0">
                <a:solidFill>
                  <a:srgbClr val="0070C0"/>
                </a:solidFill>
              </a:rPr>
              <a:t>acyl phosphate </a:t>
            </a:r>
            <a:r>
              <a:rPr lang="en-US" altLang="zh-CN" sz="3500" dirty="0">
                <a:latin typeface="隶书" panose="02010509060101010101" pitchFamily="49" charset="-122"/>
                <a:ea typeface="隶书" panose="02010509060101010101" pitchFamily="49" charset="-122"/>
              </a:rPr>
              <a:t>(</a:t>
            </a:r>
            <a:r>
              <a:rPr lang="zh-CN" altLang="en-US" sz="3500" dirty="0">
                <a:latin typeface="隶书" panose="02010509060101010101" pitchFamily="49" charset="-122"/>
                <a:ea typeface="隶书" panose="02010509060101010101" pitchFamily="49" charset="-122"/>
              </a:rPr>
              <a:t>酰基磷酸</a:t>
            </a:r>
            <a:r>
              <a:rPr lang="en-US" altLang="zh-CN" sz="3500" dirty="0">
                <a:latin typeface="隶书" panose="02010509060101010101" pitchFamily="49" charset="-122"/>
                <a:ea typeface="隶书" panose="02010509060101010101" pitchFamily="49" charset="-122"/>
              </a:rPr>
              <a:t>); </a:t>
            </a:r>
            <a:r>
              <a:rPr lang="en-US" altLang="zh-CN" sz="3500" dirty="0"/>
              <a:t>the phosphate group linked to the carboxyl group via a anhydride bond has a high transfer potential. </a:t>
            </a:r>
          </a:p>
        </p:txBody>
      </p:sp>
    </p:spTree>
    <p:extLst>
      <p:ext uri="{BB962C8B-B14F-4D97-AF65-F5344CB8AC3E}">
        <p14:creationId xmlns:p14="http://schemas.microsoft.com/office/powerpoint/2010/main" val="314353566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0466" name="Picture 2">
            <a:extLst>
              <a:ext uri="{FF2B5EF4-FFF2-40B4-BE49-F238E27FC236}">
                <a16:creationId xmlns:a16="http://schemas.microsoft.com/office/drawing/2014/main" id="{2FE4C6B5-CC88-4C45-B282-66EB21097BA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100" y="914400"/>
            <a:ext cx="9144000" cy="3587750"/>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a:extLst>
              <a:ext uri="{FF2B5EF4-FFF2-40B4-BE49-F238E27FC236}">
                <a16:creationId xmlns:a16="http://schemas.microsoft.com/office/drawing/2014/main" id="{D814D640-2ED5-46A0-A7CB-B2B38BE1C86A}"/>
              </a:ext>
            </a:extLst>
          </p:cNvPr>
          <p:cNvSpPr/>
          <p:nvPr/>
        </p:nvSpPr>
        <p:spPr>
          <a:xfrm>
            <a:off x="6084168" y="4797152"/>
            <a:ext cx="3185487" cy="369332"/>
          </a:xfrm>
          <a:prstGeom prst="rect">
            <a:avLst/>
          </a:prstGeom>
        </p:spPr>
        <p:txBody>
          <a:bodyPr wrap="none">
            <a:spAutoFit/>
          </a:bodyPr>
          <a:lstStyle/>
          <a:p>
            <a:r>
              <a:rPr lang="en-US" altLang="zh-CN" dirty="0">
                <a:solidFill>
                  <a:srgbClr val="0070C0"/>
                </a:solidFill>
              </a:rPr>
              <a:t>acyl phosphate </a:t>
            </a:r>
            <a:r>
              <a:rPr lang="en-US" altLang="zh-CN" dirty="0">
                <a:latin typeface="隶书" panose="02010509060101010101" pitchFamily="49" charset="-122"/>
                <a:ea typeface="隶书" panose="02010509060101010101" pitchFamily="49" charset="-122"/>
              </a:rPr>
              <a:t>(</a:t>
            </a:r>
            <a:r>
              <a:rPr lang="zh-CN" altLang="en-US" dirty="0">
                <a:latin typeface="隶书" panose="02010509060101010101" pitchFamily="49" charset="-122"/>
                <a:ea typeface="隶书" panose="02010509060101010101" pitchFamily="49" charset="-122"/>
              </a:rPr>
              <a:t>酰基磷酸</a:t>
            </a:r>
            <a:r>
              <a:rPr lang="en-US" altLang="zh-CN" dirty="0">
                <a:latin typeface="隶书" panose="02010509060101010101" pitchFamily="49" charset="-122"/>
                <a:ea typeface="隶书" panose="02010509060101010101" pitchFamily="49" charset="-122"/>
              </a:rPr>
              <a:t>) </a:t>
            </a:r>
            <a:endParaRPr lang="zh-CN" altLang="en-US" dirty="0"/>
          </a:p>
        </p:txBody>
      </p:sp>
    </p:spTree>
    <p:extLst>
      <p:ext uri="{BB962C8B-B14F-4D97-AF65-F5344CB8AC3E}">
        <p14:creationId xmlns:p14="http://schemas.microsoft.com/office/powerpoint/2010/main" val="296188057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Text Box 1026">
            <a:extLst>
              <a:ext uri="{FF2B5EF4-FFF2-40B4-BE49-F238E27FC236}">
                <a16:creationId xmlns:a16="http://schemas.microsoft.com/office/drawing/2014/main" id="{283DE420-57F4-4EF0-BF0C-96C9944796B1}"/>
              </a:ext>
            </a:extLst>
          </p:cNvPr>
          <p:cNvSpPr txBox="1">
            <a:spLocks noChangeArrowheads="1"/>
          </p:cNvSpPr>
          <p:nvPr/>
        </p:nvSpPr>
        <p:spPr bwMode="auto">
          <a:xfrm>
            <a:off x="228600" y="1828800"/>
            <a:ext cx="8534400" cy="53122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30000"/>
              </a:lnSpc>
              <a:spcBef>
                <a:spcPct val="20000"/>
              </a:spcBef>
              <a:buClr>
                <a:schemeClr val="tx2"/>
              </a:buClr>
              <a:buFontTx/>
              <a:buChar char="•"/>
            </a:pPr>
            <a:r>
              <a:rPr lang="en-US" altLang="zh-CN" sz="3200" b="1" dirty="0">
                <a:solidFill>
                  <a:srgbClr val="0070C0"/>
                </a:solidFill>
              </a:rPr>
              <a:t>The phosphoglycerate kinase</a:t>
            </a:r>
            <a:r>
              <a:rPr lang="en-US" altLang="zh-CN" sz="3200" dirty="0">
                <a:solidFill>
                  <a:srgbClr val="0070C0"/>
                </a:solidFill>
              </a:rPr>
              <a:t> </a:t>
            </a:r>
            <a:r>
              <a:rPr lang="en-US" altLang="zh-CN" sz="3200" dirty="0"/>
              <a:t>catalyzes the direct transfer of the anhydride phosphate in 1,3-BPG </a:t>
            </a:r>
            <a:r>
              <a:rPr lang="zh-CN" altLang="en-US" sz="3200" dirty="0"/>
              <a:t>（</a:t>
            </a:r>
            <a:r>
              <a:rPr lang="en-US" altLang="zh-CN" sz="3200" dirty="0"/>
              <a:t>glycerate 1,3-bisphosphate</a:t>
            </a:r>
            <a:r>
              <a:rPr lang="zh-CN" altLang="en-US" sz="3200" dirty="0"/>
              <a:t>）</a:t>
            </a:r>
            <a:r>
              <a:rPr lang="en-US" altLang="zh-CN" sz="3200" dirty="0"/>
              <a:t> to an ADP to generate an ATP; this is called the </a:t>
            </a:r>
            <a:r>
              <a:rPr lang="en-US" altLang="zh-CN" sz="3200" b="1" dirty="0">
                <a:solidFill>
                  <a:srgbClr val="0070C0"/>
                </a:solidFill>
              </a:rPr>
              <a:t>substrate-level phosphorylation</a:t>
            </a:r>
            <a:r>
              <a:rPr lang="en-US" altLang="zh-CN" sz="3200" dirty="0"/>
              <a:t>; 1,3-BPG is a high energy intermediate that leads to ATP formation.</a:t>
            </a:r>
          </a:p>
          <a:p>
            <a:pPr>
              <a:spcBef>
                <a:spcPct val="50000"/>
              </a:spcBef>
            </a:pPr>
            <a:endParaRPr lang="en-US" altLang="zh-CN" sz="3200" dirty="0"/>
          </a:p>
        </p:txBody>
      </p:sp>
    </p:spTree>
    <p:extLst>
      <p:ext uri="{BB962C8B-B14F-4D97-AF65-F5344CB8AC3E}">
        <p14:creationId xmlns:p14="http://schemas.microsoft.com/office/powerpoint/2010/main" val="174221762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1490" name="Picture 2">
            <a:extLst>
              <a:ext uri="{FF2B5EF4-FFF2-40B4-BE49-F238E27FC236}">
                <a16:creationId xmlns:a16="http://schemas.microsoft.com/office/drawing/2014/main" id="{4739A560-B844-4761-9763-8E458C6E03D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700" y="1309688"/>
            <a:ext cx="9144000" cy="3414712"/>
          </a:xfrm>
          <a:prstGeom prst="rect">
            <a:avLst/>
          </a:prstGeom>
          <a:noFill/>
          <a:extLst>
            <a:ext uri="{909E8E84-426E-40DD-AFC4-6F175D3DCCD1}">
              <a14:hiddenFill xmlns:a14="http://schemas.microsoft.com/office/drawing/2010/main">
                <a:solidFill>
                  <a:srgbClr val="FFFFFF"/>
                </a:solidFill>
              </a14:hiddenFill>
            </a:ext>
          </a:extLst>
        </p:spPr>
      </p:pic>
      <p:sp>
        <p:nvSpPr>
          <p:cNvPr id="191491" name="Rectangle 3">
            <a:extLst>
              <a:ext uri="{FF2B5EF4-FFF2-40B4-BE49-F238E27FC236}">
                <a16:creationId xmlns:a16="http://schemas.microsoft.com/office/drawing/2014/main" id="{3B2AAAE1-66E7-4D91-9059-3C1C53E74524}"/>
              </a:ext>
            </a:extLst>
          </p:cNvPr>
          <p:cNvSpPr>
            <a:spLocks noChangeArrowheads="1"/>
          </p:cNvSpPr>
          <p:nvPr/>
        </p:nvSpPr>
        <p:spPr bwMode="auto">
          <a:xfrm>
            <a:off x="2133600" y="228600"/>
            <a:ext cx="567976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dirty="0">
                <a:solidFill>
                  <a:srgbClr val="0070C0"/>
                </a:solidFill>
              </a:rPr>
              <a:t>Substrate-level phosphorylation</a:t>
            </a:r>
          </a:p>
          <a:p>
            <a:r>
              <a:rPr lang="en-US" altLang="zh-CN" sz="2800" b="1" dirty="0">
                <a:solidFill>
                  <a:srgbClr val="0070C0"/>
                </a:solidFill>
              </a:rPr>
              <a:t>For ATP generation</a:t>
            </a:r>
          </a:p>
        </p:txBody>
      </p:sp>
      <p:sp>
        <p:nvSpPr>
          <p:cNvPr id="191493" name="Rectangle 5">
            <a:extLst>
              <a:ext uri="{FF2B5EF4-FFF2-40B4-BE49-F238E27FC236}">
                <a16:creationId xmlns:a16="http://schemas.microsoft.com/office/drawing/2014/main" id="{FA815D2A-1113-476E-AD98-4DABDC10E933}"/>
              </a:ext>
            </a:extLst>
          </p:cNvPr>
          <p:cNvSpPr>
            <a:spLocks noChangeArrowheads="1"/>
          </p:cNvSpPr>
          <p:nvPr/>
        </p:nvSpPr>
        <p:spPr bwMode="auto">
          <a:xfrm>
            <a:off x="304800" y="5029200"/>
            <a:ext cx="64801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a:t>Enzyme is named for the reverse reaction</a:t>
            </a:r>
          </a:p>
        </p:txBody>
      </p:sp>
      <p:sp>
        <p:nvSpPr>
          <p:cNvPr id="191494" name="Line 6">
            <a:extLst>
              <a:ext uri="{FF2B5EF4-FFF2-40B4-BE49-F238E27FC236}">
                <a16:creationId xmlns:a16="http://schemas.microsoft.com/office/drawing/2014/main" id="{6023402E-BF01-4C96-9493-5262E1A75150}"/>
              </a:ext>
            </a:extLst>
          </p:cNvPr>
          <p:cNvSpPr>
            <a:spLocks noChangeShapeType="1"/>
          </p:cNvSpPr>
          <p:nvPr/>
        </p:nvSpPr>
        <p:spPr bwMode="auto">
          <a:xfrm flipV="1">
            <a:off x="3886200" y="3124200"/>
            <a:ext cx="304800" cy="1828800"/>
          </a:xfrm>
          <a:prstGeom prst="line">
            <a:avLst/>
          </a:prstGeom>
          <a:noFill/>
          <a:ln w="34925" cap="sq">
            <a:solidFill>
              <a:srgbClr val="FF33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16332604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D500A060-5B25-46E6-9718-EA3BF4136E52}"/>
              </a:ext>
            </a:extLst>
          </p:cNvPr>
          <p:cNvSpPr>
            <a:spLocks noGrp="1" noChangeArrowheads="1"/>
          </p:cNvSpPr>
          <p:nvPr>
            <p:ph type="title" idx="4294967295"/>
          </p:nvPr>
        </p:nvSpPr>
        <p:spPr>
          <a:xfrm flipV="1">
            <a:off x="0" y="-76200"/>
            <a:ext cx="7772400" cy="76200"/>
          </a:xfrm>
        </p:spPr>
        <p:txBody>
          <a:bodyPr/>
          <a:lstStyle/>
          <a:p>
            <a:r>
              <a:rPr lang="en-US" altLang="zh-CN"/>
              <a:t> </a:t>
            </a:r>
          </a:p>
        </p:txBody>
      </p:sp>
      <p:sp>
        <p:nvSpPr>
          <p:cNvPr id="102403" name="Rectangle 3">
            <a:extLst>
              <a:ext uri="{FF2B5EF4-FFF2-40B4-BE49-F238E27FC236}">
                <a16:creationId xmlns:a16="http://schemas.microsoft.com/office/drawing/2014/main" id="{BED178C5-4E3D-46BD-A2B6-DF47AFB450FA}"/>
              </a:ext>
            </a:extLst>
          </p:cNvPr>
          <p:cNvSpPr>
            <a:spLocks noGrp="1" noChangeArrowheads="1"/>
          </p:cNvSpPr>
          <p:nvPr>
            <p:ph type="body" idx="4294967295"/>
          </p:nvPr>
        </p:nvSpPr>
        <p:spPr>
          <a:xfrm>
            <a:off x="228600" y="533400"/>
            <a:ext cx="8915400" cy="2057400"/>
          </a:xfrm>
        </p:spPr>
        <p:txBody>
          <a:bodyPr/>
          <a:lstStyle/>
          <a:p>
            <a:r>
              <a:rPr lang="en-US" altLang="zh-CN" dirty="0">
                <a:solidFill>
                  <a:srgbClr val="0070C0"/>
                </a:solidFill>
              </a:rPr>
              <a:t>The phosphoglycerate mutase </a:t>
            </a:r>
            <a:r>
              <a:rPr lang="en-US" altLang="zh-CN" dirty="0"/>
              <a:t>catalyzes the shift of phosphoryl group on 3-phosphoglycerate from C-3 to C-2.</a:t>
            </a:r>
            <a:endParaRPr lang="en-US" altLang="zh-CN" sz="2800" dirty="0"/>
          </a:p>
        </p:txBody>
      </p:sp>
      <p:pic>
        <p:nvPicPr>
          <p:cNvPr id="102406" name="Picture 6">
            <a:extLst>
              <a:ext uri="{FF2B5EF4-FFF2-40B4-BE49-F238E27FC236}">
                <a16:creationId xmlns:a16="http://schemas.microsoft.com/office/drawing/2014/main" id="{E88E127F-C92B-4E30-BE77-98FEA6537A6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2667000"/>
            <a:ext cx="9144000" cy="3703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330721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63" name="Picture 3">
            <a:extLst>
              <a:ext uri="{FF2B5EF4-FFF2-40B4-BE49-F238E27FC236}">
                <a16:creationId xmlns:a16="http://schemas.microsoft.com/office/drawing/2014/main" id="{0345A442-DAF0-4550-86E7-0C44D4400BC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2743200"/>
            <a:ext cx="9144000" cy="3436938"/>
          </a:xfrm>
          <a:prstGeom prst="rect">
            <a:avLst/>
          </a:prstGeom>
          <a:noFill/>
          <a:extLst>
            <a:ext uri="{909E8E84-426E-40DD-AFC4-6F175D3DCCD1}">
              <a14:hiddenFill xmlns:a14="http://schemas.microsoft.com/office/drawing/2010/main">
                <a:solidFill>
                  <a:srgbClr val="FFFFFF"/>
                </a:solidFill>
              </a14:hiddenFill>
            </a:ext>
          </a:extLst>
        </p:spPr>
      </p:pic>
      <p:sp>
        <p:nvSpPr>
          <p:cNvPr id="194564" name="Text Box 4">
            <a:extLst>
              <a:ext uri="{FF2B5EF4-FFF2-40B4-BE49-F238E27FC236}">
                <a16:creationId xmlns:a16="http://schemas.microsoft.com/office/drawing/2014/main" id="{D3FE3134-3F60-4603-BB2B-DA0B763A28EE}"/>
              </a:ext>
            </a:extLst>
          </p:cNvPr>
          <p:cNvSpPr txBox="1">
            <a:spLocks noChangeArrowheads="1"/>
          </p:cNvSpPr>
          <p:nvPr/>
        </p:nvSpPr>
        <p:spPr bwMode="auto">
          <a:xfrm>
            <a:off x="228600" y="381000"/>
            <a:ext cx="85344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200" dirty="0">
                <a:solidFill>
                  <a:srgbClr val="0070C0"/>
                </a:solidFill>
              </a:rPr>
              <a:t>Enolase</a:t>
            </a:r>
            <a:r>
              <a:rPr lang="en-US" altLang="zh-CN" sz="3200" dirty="0"/>
              <a:t> (</a:t>
            </a:r>
            <a:r>
              <a:rPr lang="zh-CN" altLang="en-US" sz="3200" dirty="0">
                <a:ea typeface="隶书" panose="02010509060101010101" pitchFamily="49" charset="-122"/>
              </a:rPr>
              <a:t>烯醇酶</a:t>
            </a:r>
            <a:r>
              <a:rPr lang="en-US" altLang="zh-CN" sz="3200" dirty="0"/>
              <a:t>) catalyzes the elimination of a H</a:t>
            </a:r>
            <a:r>
              <a:rPr lang="en-US" altLang="zh-CN" sz="3200" baseline="-25000" dirty="0"/>
              <a:t>2</a:t>
            </a:r>
            <a:r>
              <a:rPr lang="en-US" altLang="zh-CN" sz="3200" dirty="0"/>
              <a:t>O from 2-phosphoglycerate to generate </a:t>
            </a:r>
            <a:r>
              <a:rPr lang="en-US" altLang="zh-CN" sz="3200" dirty="0">
                <a:solidFill>
                  <a:srgbClr val="FF0000"/>
                </a:solidFill>
              </a:rPr>
              <a:t>phosphoenolpyruvate (PEP).</a:t>
            </a:r>
          </a:p>
        </p:txBody>
      </p:sp>
    </p:spTree>
    <p:extLst>
      <p:ext uri="{BB962C8B-B14F-4D97-AF65-F5344CB8AC3E}">
        <p14:creationId xmlns:p14="http://schemas.microsoft.com/office/powerpoint/2010/main" val="144936348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E563372F-7902-4113-976B-8CF44B89D916}"/>
              </a:ext>
            </a:extLst>
          </p:cNvPr>
          <p:cNvSpPr>
            <a:spLocks noGrp="1" noChangeArrowheads="1"/>
          </p:cNvSpPr>
          <p:nvPr>
            <p:ph type="title" idx="4294967295"/>
          </p:nvPr>
        </p:nvSpPr>
        <p:spPr>
          <a:xfrm>
            <a:off x="0" y="-76200"/>
            <a:ext cx="7772400" cy="76200"/>
          </a:xfrm>
        </p:spPr>
        <p:txBody>
          <a:bodyPr/>
          <a:lstStyle/>
          <a:p>
            <a:r>
              <a:rPr lang="en-US" altLang="zh-CN"/>
              <a:t> </a:t>
            </a:r>
          </a:p>
        </p:txBody>
      </p:sp>
      <p:sp>
        <p:nvSpPr>
          <p:cNvPr id="106499" name="Rectangle 3">
            <a:extLst>
              <a:ext uri="{FF2B5EF4-FFF2-40B4-BE49-F238E27FC236}">
                <a16:creationId xmlns:a16="http://schemas.microsoft.com/office/drawing/2014/main" id="{C9BCB795-18D3-42A0-B1F4-950CF780FB89}"/>
              </a:ext>
            </a:extLst>
          </p:cNvPr>
          <p:cNvSpPr>
            <a:spLocks noGrp="1" noChangeArrowheads="1"/>
          </p:cNvSpPr>
          <p:nvPr>
            <p:ph type="body" idx="4294967295"/>
          </p:nvPr>
        </p:nvSpPr>
        <p:spPr>
          <a:xfrm>
            <a:off x="0" y="1371600"/>
            <a:ext cx="8915400" cy="4724400"/>
          </a:xfrm>
        </p:spPr>
        <p:txBody>
          <a:bodyPr/>
          <a:lstStyle/>
          <a:p>
            <a:endParaRPr lang="en-US" altLang="zh-CN" dirty="0"/>
          </a:p>
          <a:p>
            <a:pPr>
              <a:lnSpc>
                <a:spcPct val="120000"/>
              </a:lnSpc>
            </a:pPr>
            <a:r>
              <a:rPr lang="en-US" altLang="zh-CN" dirty="0"/>
              <a:t> </a:t>
            </a:r>
            <a:r>
              <a:rPr lang="en-US" altLang="zh-CN" b="1" dirty="0">
                <a:solidFill>
                  <a:srgbClr val="0070C0"/>
                </a:solidFill>
              </a:rPr>
              <a:t>The pyruvate kinase</a:t>
            </a:r>
            <a:r>
              <a:rPr lang="en-US" altLang="zh-CN" dirty="0">
                <a:solidFill>
                  <a:srgbClr val="0070C0"/>
                </a:solidFill>
              </a:rPr>
              <a:t> </a:t>
            </a:r>
            <a:r>
              <a:rPr lang="en-US" altLang="zh-CN" dirty="0"/>
              <a:t>(named for the reverse reaction) catalyzes the transfer of the phosphoryl group on PEP to ADP to form another molecule of ATP by “substrate-level phosphorylation”; </a:t>
            </a:r>
            <a:r>
              <a:rPr lang="en-US" altLang="zh-CN" dirty="0" err="1"/>
              <a:t>enolpyruvate</a:t>
            </a:r>
            <a:r>
              <a:rPr lang="en-US" altLang="zh-CN" dirty="0"/>
              <a:t> is formed and is quickly changed to pyruvate (</a:t>
            </a:r>
            <a:r>
              <a:rPr lang="zh-CN" altLang="en-US" dirty="0">
                <a:ea typeface="隶书" panose="02010509060101010101" pitchFamily="49" charset="-122"/>
              </a:rPr>
              <a:t>丙酮酸</a:t>
            </a:r>
            <a:r>
              <a:rPr lang="en-US" altLang="zh-CN" dirty="0"/>
              <a:t>).</a:t>
            </a:r>
          </a:p>
        </p:txBody>
      </p:sp>
      <p:cxnSp>
        <p:nvCxnSpPr>
          <p:cNvPr id="4" name="直接连接符 3">
            <a:extLst>
              <a:ext uri="{FF2B5EF4-FFF2-40B4-BE49-F238E27FC236}">
                <a16:creationId xmlns:a16="http://schemas.microsoft.com/office/drawing/2014/main" id="{CFB8ECB8-4ED9-4AE7-A75D-7F4BD3CD4B53}"/>
              </a:ext>
            </a:extLst>
          </p:cNvPr>
          <p:cNvCxnSpPr>
            <a:cxnSpLocks/>
          </p:cNvCxnSpPr>
          <p:nvPr/>
        </p:nvCxnSpPr>
        <p:spPr>
          <a:xfrm>
            <a:off x="395536" y="4869160"/>
            <a:ext cx="8208912"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B0740C6B-E5A6-449E-952A-97A094FC3783}"/>
              </a:ext>
            </a:extLst>
          </p:cNvPr>
          <p:cNvCxnSpPr>
            <a:cxnSpLocks/>
          </p:cNvCxnSpPr>
          <p:nvPr/>
        </p:nvCxnSpPr>
        <p:spPr>
          <a:xfrm>
            <a:off x="395536" y="5463886"/>
            <a:ext cx="2736304"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797437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5586" name="Picture 2">
            <a:extLst>
              <a:ext uri="{FF2B5EF4-FFF2-40B4-BE49-F238E27FC236}">
                <a16:creationId xmlns:a16="http://schemas.microsoft.com/office/drawing/2014/main" id="{E1D709AB-F25B-4574-A188-595F11688F5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922338"/>
            <a:ext cx="9144000" cy="38782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678129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1730" name="Picture 2">
            <a:extLst>
              <a:ext uri="{FF2B5EF4-FFF2-40B4-BE49-F238E27FC236}">
                <a16:creationId xmlns:a16="http://schemas.microsoft.com/office/drawing/2014/main" id="{C7999827-2584-47DA-A135-D7541177D03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3648" y="219269"/>
            <a:ext cx="7670800" cy="6350000"/>
          </a:xfrm>
          <a:prstGeom prst="rect">
            <a:avLst/>
          </a:prstGeom>
          <a:noFill/>
          <a:extLst>
            <a:ext uri="{909E8E84-426E-40DD-AFC4-6F175D3DCCD1}">
              <a14:hiddenFill xmlns:a14="http://schemas.microsoft.com/office/drawing/2010/main">
                <a:solidFill>
                  <a:srgbClr val="FFFFFF"/>
                </a:solidFill>
              </a14:hiddenFill>
            </a:ext>
          </a:extLst>
        </p:spPr>
      </p:pic>
      <p:sp>
        <p:nvSpPr>
          <p:cNvPr id="201731" name="Rectangle 3">
            <a:extLst>
              <a:ext uri="{FF2B5EF4-FFF2-40B4-BE49-F238E27FC236}">
                <a16:creationId xmlns:a16="http://schemas.microsoft.com/office/drawing/2014/main" id="{E1849DD7-F800-4857-81A6-309320D101A6}"/>
              </a:ext>
            </a:extLst>
          </p:cNvPr>
          <p:cNvSpPr>
            <a:spLocks noChangeArrowheads="1"/>
          </p:cNvSpPr>
          <p:nvPr/>
        </p:nvSpPr>
        <p:spPr bwMode="auto">
          <a:xfrm>
            <a:off x="3219648" y="609600"/>
            <a:ext cx="123348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rPr>
              <a:t>Group</a:t>
            </a:r>
          </a:p>
          <a:p>
            <a:r>
              <a:rPr lang="en-US" altLang="zh-CN" b="1">
                <a:solidFill>
                  <a:srgbClr val="FF0000"/>
                </a:solidFill>
              </a:rPr>
              <a:t>transfer</a:t>
            </a:r>
          </a:p>
        </p:txBody>
      </p:sp>
      <p:sp>
        <p:nvSpPr>
          <p:cNvPr id="201732" name="Rectangle 4">
            <a:extLst>
              <a:ext uri="{FF2B5EF4-FFF2-40B4-BE49-F238E27FC236}">
                <a16:creationId xmlns:a16="http://schemas.microsoft.com/office/drawing/2014/main" id="{F5D3D3F2-77E1-4000-B31F-AB4C681CD98F}"/>
              </a:ext>
            </a:extLst>
          </p:cNvPr>
          <p:cNvSpPr>
            <a:spLocks noChangeArrowheads="1"/>
          </p:cNvSpPr>
          <p:nvPr/>
        </p:nvSpPr>
        <p:spPr bwMode="auto">
          <a:xfrm>
            <a:off x="2610048" y="2057400"/>
            <a:ext cx="1978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6600FF"/>
                </a:solidFill>
              </a:rPr>
              <a:t>Isomerization</a:t>
            </a:r>
          </a:p>
        </p:txBody>
      </p:sp>
      <p:sp>
        <p:nvSpPr>
          <p:cNvPr id="201733" name="Rectangle 5">
            <a:extLst>
              <a:ext uri="{FF2B5EF4-FFF2-40B4-BE49-F238E27FC236}">
                <a16:creationId xmlns:a16="http://schemas.microsoft.com/office/drawing/2014/main" id="{5881F66D-789E-4A5E-87AA-C25E37454933}"/>
              </a:ext>
            </a:extLst>
          </p:cNvPr>
          <p:cNvSpPr>
            <a:spLocks noChangeArrowheads="1"/>
          </p:cNvSpPr>
          <p:nvPr/>
        </p:nvSpPr>
        <p:spPr bwMode="auto">
          <a:xfrm>
            <a:off x="3219648" y="2895600"/>
            <a:ext cx="123348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rPr>
              <a:t>Group</a:t>
            </a:r>
          </a:p>
          <a:p>
            <a:r>
              <a:rPr lang="en-US" altLang="zh-CN" b="1">
                <a:solidFill>
                  <a:srgbClr val="FF0000"/>
                </a:solidFill>
              </a:rPr>
              <a:t>transfer</a:t>
            </a:r>
          </a:p>
        </p:txBody>
      </p:sp>
      <p:sp>
        <p:nvSpPr>
          <p:cNvPr id="201734" name="Rectangle 6">
            <a:extLst>
              <a:ext uri="{FF2B5EF4-FFF2-40B4-BE49-F238E27FC236}">
                <a16:creationId xmlns:a16="http://schemas.microsoft.com/office/drawing/2014/main" id="{B593B515-4E81-4C81-B4F9-BCCA377F9EE9}"/>
              </a:ext>
            </a:extLst>
          </p:cNvPr>
          <p:cNvSpPr>
            <a:spLocks noChangeArrowheads="1"/>
          </p:cNvSpPr>
          <p:nvPr/>
        </p:nvSpPr>
        <p:spPr bwMode="auto">
          <a:xfrm>
            <a:off x="2610048" y="4267200"/>
            <a:ext cx="16081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rgbClr val="008000"/>
                </a:solidFill>
              </a:rPr>
              <a:t>cleavage</a:t>
            </a:r>
          </a:p>
        </p:txBody>
      </p:sp>
      <p:sp>
        <p:nvSpPr>
          <p:cNvPr id="201735" name="Rectangle 7">
            <a:extLst>
              <a:ext uri="{FF2B5EF4-FFF2-40B4-BE49-F238E27FC236}">
                <a16:creationId xmlns:a16="http://schemas.microsoft.com/office/drawing/2014/main" id="{BF33DC1E-7131-4408-987C-5361E99A60B9}"/>
              </a:ext>
            </a:extLst>
          </p:cNvPr>
          <p:cNvSpPr>
            <a:spLocks noChangeArrowheads="1"/>
          </p:cNvSpPr>
          <p:nvPr/>
        </p:nvSpPr>
        <p:spPr bwMode="auto">
          <a:xfrm>
            <a:off x="2533848" y="5867400"/>
            <a:ext cx="1978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6600FF"/>
                </a:solidFill>
              </a:rPr>
              <a:t>Isomerization</a:t>
            </a:r>
          </a:p>
        </p:txBody>
      </p:sp>
      <p:sp>
        <p:nvSpPr>
          <p:cNvPr id="2" name="矩形 1">
            <a:extLst>
              <a:ext uri="{FF2B5EF4-FFF2-40B4-BE49-F238E27FC236}">
                <a16:creationId xmlns:a16="http://schemas.microsoft.com/office/drawing/2014/main" id="{F4E2C163-1F6E-4A7A-BD6E-7CC129D1B9EE}"/>
              </a:ext>
            </a:extLst>
          </p:cNvPr>
          <p:cNvSpPr/>
          <p:nvPr/>
        </p:nvSpPr>
        <p:spPr>
          <a:xfrm>
            <a:off x="332712" y="5445224"/>
            <a:ext cx="3375192" cy="523220"/>
          </a:xfrm>
          <a:prstGeom prst="rect">
            <a:avLst/>
          </a:prstGeom>
        </p:spPr>
        <p:txBody>
          <a:bodyPr wrap="square">
            <a:spAutoFit/>
          </a:bodyPr>
          <a:lstStyle/>
          <a:p>
            <a:pPr>
              <a:spcAft>
                <a:spcPts val="0"/>
              </a:spcAft>
            </a:pPr>
            <a:r>
              <a:rPr lang="en-US" altLang="zh-CN" sz="1400" b="1" kern="100" dirty="0">
                <a:latin typeface="等线" panose="02010600030101010101" pitchFamily="2" charset="-122"/>
                <a:ea typeface="等线" panose="02010600030101010101" pitchFamily="2" charset="-122"/>
                <a:cs typeface="Times New Roman" panose="02020603050405020304" pitchFamily="18" charset="0"/>
              </a:rPr>
              <a:t>Triose phosphate</a:t>
            </a:r>
          </a:p>
          <a:p>
            <a:pPr>
              <a:spcAft>
                <a:spcPts val="0"/>
              </a:spcAft>
            </a:pPr>
            <a:r>
              <a:rPr lang="en-US" altLang="zh-CN" sz="1400" b="1" kern="100" dirty="0">
                <a:latin typeface="等线" panose="02010600030101010101" pitchFamily="2" charset="-122"/>
                <a:ea typeface="等线" panose="02010600030101010101" pitchFamily="2" charset="-122"/>
                <a:cs typeface="Times New Roman" panose="02020603050405020304" pitchFamily="18" charset="0"/>
              </a:rPr>
              <a:t> isomerase</a:t>
            </a:r>
            <a:endParaRPr lang="zh-CN" altLang="zh-CN" sz="14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3" name="矩形 2">
            <a:extLst>
              <a:ext uri="{FF2B5EF4-FFF2-40B4-BE49-F238E27FC236}">
                <a16:creationId xmlns:a16="http://schemas.microsoft.com/office/drawing/2014/main" id="{FBDBE375-D33D-4494-BEEB-42384302E939}"/>
              </a:ext>
            </a:extLst>
          </p:cNvPr>
          <p:cNvSpPr/>
          <p:nvPr/>
        </p:nvSpPr>
        <p:spPr>
          <a:xfrm>
            <a:off x="332712" y="926726"/>
            <a:ext cx="1120820" cy="307777"/>
          </a:xfrm>
          <a:prstGeom prst="rect">
            <a:avLst/>
          </a:prstGeom>
        </p:spPr>
        <p:txBody>
          <a:bodyPr wrap="none">
            <a:spAutoFit/>
          </a:bodyPr>
          <a:lstStyle/>
          <a:p>
            <a:pPr>
              <a:spcAft>
                <a:spcPts val="0"/>
              </a:spcAft>
            </a:pPr>
            <a:r>
              <a:rPr lang="en-US" altLang="zh-CN" sz="1400" b="1" kern="100" dirty="0">
                <a:latin typeface="等线" panose="02010600030101010101" pitchFamily="2" charset="-122"/>
                <a:ea typeface="等线" panose="02010600030101010101" pitchFamily="2" charset="-122"/>
                <a:cs typeface="Times New Roman" panose="02020603050405020304" pitchFamily="18" charset="0"/>
              </a:rPr>
              <a:t>Hexokinase</a:t>
            </a:r>
            <a:endParaRPr lang="zh-CN" altLang="zh-CN" sz="1400" kern="100" dirty="0">
              <a:latin typeface="等线" panose="02010600030101010101" pitchFamily="2" charset="-122"/>
              <a:ea typeface="等线" panose="02010600030101010101" pitchFamily="2" charset="-122"/>
              <a:cs typeface="Times New Roman" panose="02020603050405020304" pitchFamily="18" charset="0"/>
            </a:endParaRPr>
          </a:p>
        </p:txBody>
      </p:sp>
      <p:sp>
        <p:nvSpPr>
          <p:cNvPr id="4" name="矩形 3">
            <a:extLst>
              <a:ext uri="{FF2B5EF4-FFF2-40B4-BE49-F238E27FC236}">
                <a16:creationId xmlns:a16="http://schemas.microsoft.com/office/drawing/2014/main" id="{C904FB05-20CF-4CF1-BA01-51534C7A6749}"/>
              </a:ext>
            </a:extLst>
          </p:cNvPr>
          <p:cNvSpPr/>
          <p:nvPr/>
        </p:nvSpPr>
        <p:spPr>
          <a:xfrm>
            <a:off x="332712" y="1962761"/>
            <a:ext cx="1516762" cy="523220"/>
          </a:xfrm>
          <a:prstGeom prst="rect">
            <a:avLst/>
          </a:prstGeom>
        </p:spPr>
        <p:txBody>
          <a:bodyPr wrap="none">
            <a:spAutoFit/>
          </a:bodyPr>
          <a:lstStyle/>
          <a:p>
            <a:pPr>
              <a:spcAft>
                <a:spcPts val="0"/>
              </a:spcAft>
            </a:pPr>
            <a:r>
              <a:rPr lang="en-US" altLang="zh-CN" sz="1400" b="1" kern="100" dirty="0">
                <a:latin typeface="等线" panose="02010600030101010101" pitchFamily="2" charset="-122"/>
                <a:ea typeface="等线" panose="02010600030101010101" pitchFamily="2" charset="-122"/>
                <a:cs typeface="Times New Roman" panose="02020603050405020304" pitchFamily="18" charset="0"/>
              </a:rPr>
              <a:t>Phosphohexose </a:t>
            </a:r>
          </a:p>
          <a:p>
            <a:pPr>
              <a:spcAft>
                <a:spcPts val="0"/>
              </a:spcAft>
            </a:pPr>
            <a:r>
              <a:rPr lang="en-US" altLang="zh-CN" sz="1400" b="1" kern="100" dirty="0">
                <a:latin typeface="等线" panose="02010600030101010101" pitchFamily="2" charset="-122"/>
                <a:ea typeface="等线" panose="02010600030101010101" pitchFamily="2" charset="-122"/>
                <a:cs typeface="Times New Roman" panose="02020603050405020304" pitchFamily="18" charset="0"/>
              </a:rPr>
              <a:t>isomerase</a:t>
            </a:r>
            <a:endParaRPr lang="zh-CN" altLang="zh-CN" sz="1400" kern="100" dirty="0">
              <a:latin typeface="等线" panose="02010600030101010101" pitchFamily="2" charset="-122"/>
              <a:ea typeface="等线" panose="02010600030101010101" pitchFamily="2" charset="-122"/>
              <a:cs typeface="Times New Roman" panose="02020603050405020304" pitchFamily="18" charset="0"/>
            </a:endParaRPr>
          </a:p>
        </p:txBody>
      </p:sp>
      <p:sp>
        <p:nvSpPr>
          <p:cNvPr id="5" name="矩形 4">
            <a:extLst>
              <a:ext uri="{FF2B5EF4-FFF2-40B4-BE49-F238E27FC236}">
                <a16:creationId xmlns:a16="http://schemas.microsoft.com/office/drawing/2014/main" id="{CBA79D23-4E70-4448-B281-42A4C7B590DF}"/>
              </a:ext>
            </a:extLst>
          </p:cNvPr>
          <p:cNvSpPr/>
          <p:nvPr/>
        </p:nvSpPr>
        <p:spPr>
          <a:xfrm>
            <a:off x="332712" y="3493234"/>
            <a:ext cx="2085827" cy="307777"/>
          </a:xfrm>
          <a:prstGeom prst="rect">
            <a:avLst/>
          </a:prstGeom>
        </p:spPr>
        <p:txBody>
          <a:bodyPr wrap="none">
            <a:spAutoFit/>
          </a:bodyPr>
          <a:lstStyle/>
          <a:p>
            <a:pPr>
              <a:spcAft>
                <a:spcPts val="0"/>
              </a:spcAft>
            </a:pPr>
            <a:r>
              <a:rPr lang="en-US" altLang="zh-CN" sz="1400" b="1" kern="100" dirty="0">
                <a:latin typeface="等线" panose="02010600030101010101" pitchFamily="2" charset="-122"/>
                <a:ea typeface="等线" panose="02010600030101010101" pitchFamily="2" charset="-122"/>
                <a:cs typeface="Times New Roman" panose="02020603050405020304" pitchFamily="18" charset="0"/>
              </a:rPr>
              <a:t>Phosphofructokinase-1</a:t>
            </a:r>
            <a:endParaRPr lang="zh-CN" altLang="zh-CN" sz="1400" kern="100" dirty="0">
              <a:latin typeface="等线" panose="02010600030101010101" pitchFamily="2" charset="-122"/>
              <a:ea typeface="等线" panose="02010600030101010101" pitchFamily="2" charset="-122"/>
              <a:cs typeface="Times New Roman" panose="02020603050405020304" pitchFamily="18" charset="0"/>
            </a:endParaRPr>
          </a:p>
        </p:txBody>
      </p:sp>
      <p:sp>
        <p:nvSpPr>
          <p:cNvPr id="6" name="矩形 5">
            <a:extLst>
              <a:ext uri="{FF2B5EF4-FFF2-40B4-BE49-F238E27FC236}">
                <a16:creationId xmlns:a16="http://schemas.microsoft.com/office/drawing/2014/main" id="{4A35B873-73F9-4E43-B7F7-A36FCBBED18C}"/>
              </a:ext>
            </a:extLst>
          </p:cNvPr>
          <p:cNvSpPr/>
          <p:nvPr/>
        </p:nvSpPr>
        <p:spPr>
          <a:xfrm>
            <a:off x="332712" y="4528522"/>
            <a:ext cx="878767" cy="307777"/>
          </a:xfrm>
          <a:prstGeom prst="rect">
            <a:avLst/>
          </a:prstGeom>
        </p:spPr>
        <p:txBody>
          <a:bodyPr wrap="none">
            <a:spAutoFit/>
          </a:bodyPr>
          <a:lstStyle/>
          <a:p>
            <a:pPr>
              <a:spcAft>
                <a:spcPts val="0"/>
              </a:spcAft>
            </a:pPr>
            <a:r>
              <a:rPr lang="en-US" altLang="zh-CN" sz="1400" b="1" kern="100" dirty="0">
                <a:latin typeface="等线" panose="02010600030101010101" pitchFamily="2" charset="-122"/>
                <a:ea typeface="等线" panose="02010600030101010101" pitchFamily="2" charset="-122"/>
                <a:cs typeface="Times New Roman" panose="02020603050405020304" pitchFamily="18" charset="0"/>
              </a:rPr>
              <a:t>Aldolase</a:t>
            </a:r>
            <a:endParaRPr lang="zh-CN" altLang="zh-CN" sz="1400" kern="100" dirty="0">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38600482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3778" name="Picture 2" descr="f15-2b">
            <a:extLst>
              <a:ext uri="{FF2B5EF4-FFF2-40B4-BE49-F238E27FC236}">
                <a16:creationId xmlns:a16="http://schemas.microsoft.com/office/drawing/2014/main" id="{CDD6E235-2CF1-40F6-9DEE-6BE168B45FD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9592" y="0"/>
            <a:ext cx="8229600" cy="6659563"/>
          </a:xfrm>
          <a:prstGeom prst="rect">
            <a:avLst/>
          </a:prstGeom>
          <a:noFill/>
          <a:extLst>
            <a:ext uri="{909E8E84-426E-40DD-AFC4-6F175D3DCCD1}">
              <a14:hiddenFill xmlns:a14="http://schemas.microsoft.com/office/drawing/2010/main">
                <a:solidFill>
                  <a:srgbClr val="FFFFFF"/>
                </a:solidFill>
              </a14:hiddenFill>
            </a:ext>
          </a:extLst>
        </p:spPr>
      </p:pic>
      <p:sp>
        <p:nvSpPr>
          <p:cNvPr id="203779" name="Rectangle 3">
            <a:extLst>
              <a:ext uri="{FF2B5EF4-FFF2-40B4-BE49-F238E27FC236}">
                <a16:creationId xmlns:a16="http://schemas.microsoft.com/office/drawing/2014/main" id="{0B19C455-C91F-4BE4-A6C1-BBF3506E0DDD}"/>
              </a:ext>
            </a:extLst>
          </p:cNvPr>
          <p:cNvSpPr>
            <a:spLocks noChangeArrowheads="1"/>
          </p:cNvSpPr>
          <p:nvPr/>
        </p:nvSpPr>
        <p:spPr bwMode="auto">
          <a:xfrm>
            <a:off x="3422947" y="1165225"/>
            <a:ext cx="25892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chemeClr val="folHlink"/>
                </a:solidFill>
              </a:rPr>
              <a:t>  Dehydrogenation</a:t>
            </a:r>
          </a:p>
        </p:txBody>
      </p:sp>
      <p:sp>
        <p:nvSpPr>
          <p:cNvPr id="203780" name="Rectangle 4">
            <a:extLst>
              <a:ext uri="{FF2B5EF4-FFF2-40B4-BE49-F238E27FC236}">
                <a16:creationId xmlns:a16="http://schemas.microsoft.com/office/drawing/2014/main" id="{24075DD7-F3BD-48D3-A0C1-0EF93B2EF343}"/>
              </a:ext>
            </a:extLst>
          </p:cNvPr>
          <p:cNvSpPr>
            <a:spLocks noChangeArrowheads="1"/>
          </p:cNvSpPr>
          <p:nvPr/>
        </p:nvSpPr>
        <p:spPr bwMode="auto">
          <a:xfrm>
            <a:off x="3499147" y="2209800"/>
            <a:ext cx="10572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a:solidFill>
                  <a:srgbClr val="FF0000"/>
                </a:solidFill>
              </a:rPr>
              <a:t>Group</a:t>
            </a:r>
          </a:p>
          <a:p>
            <a:r>
              <a:rPr lang="en-US" altLang="zh-CN" sz="2000" b="1">
                <a:solidFill>
                  <a:srgbClr val="FF0000"/>
                </a:solidFill>
              </a:rPr>
              <a:t>transfer</a:t>
            </a:r>
          </a:p>
        </p:txBody>
      </p:sp>
      <p:sp>
        <p:nvSpPr>
          <p:cNvPr id="203781" name="Rectangle 5">
            <a:extLst>
              <a:ext uri="{FF2B5EF4-FFF2-40B4-BE49-F238E27FC236}">
                <a16:creationId xmlns:a16="http://schemas.microsoft.com/office/drawing/2014/main" id="{08C4BB83-FC28-4F25-9A8B-697E569D22B9}"/>
              </a:ext>
            </a:extLst>
          </p:cNvPr>
          <p:cNvSpPr>
            <a:spLocks noChangeArrowheads="1"/>
          </p:cNvSpPr>
          <p:nvPr/>
        </p:nvSpPr>
        <p:spPr bwMode="auto">
          <a:xfrm>
            <a:off x="2660947" y="3505200"/>
            <a:ext cx="22066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a:solidFill>
                  <a:schemeClr val="accent1"/>
                </a:solidFill>
              </a:rPr>
              <a:t>            Group shift</a:t>
            </a:r>
          </a:p>
        </p:txBody>
      </p:sp>
      <p:sp>
        <p:nvSpPr>
          <p:cNvPr id="203782" name="Rectangle 6">
            <a:extLst>
              <a:ext uri="{FF2B5EF4-FFF2-40B4-BE49-F238E27FC236}">
                <a16:creationId xmlns:a16="http://schemas.microsoft.com/office/drawing/2014/main" id="{17DE6485-CE6A-4CE0-8265-BDA711111A03}"/>
              </a:ext>
            </a:extLst>
          </p:cNvPr>
          <p:cNvSpPr>
            <a:spLocks noChangeArrowheads="1"/>
          </p:cNvSpPr>
          <p:nvPr/>
        </p:nvSpPr>
        <p:spPr bwMode="auto">
          <a:xfrm>
            <a:off x="3118147" y="4338638"/>
            <a:ext cx="18065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a:solidFill>
                  <a:srgbClr val="FF33CC"/>
                </a:solidFill>
              </a:rPr>
              <a:t>    Dehydration</a:t>
            </a:r>
          </a:p>
        </p:txBody>
      </p:sp>
      <p:sp>
        <p:nvSpPr>
          <p:cNvPr id="203783" name="Rectangle 7">
            <a:extLst>
              <a:ext uri="{FF2B5EF4-FFF2-40B4-BE49-F238E27FC236}">
                <a16:creationId xmlns:a16="http://schemas.microsoft.com/office/drawing/2014/main" id="{8DEDABE6-2243-4C53-893C-627C12F19FA7}"/>
              </a:ext>
            </a:extLst>
          </p:cNvPr>
          <p:cNvSpPr>
            <a:spLocks noChangeArrowheads="1"/>
          </p:cNvSpPr>
          <p:nvPr/>
        </p:nvSpPr>
        <p:spPr bwMode="auto">
          <a:xfrm>
            <a:off x="3499147" y="5257800"/>
            <a:ext cx="10572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a:solidFill>
                  <a:srgbClr val="FF0000"/>
                </a:solidFill>
              </a:rPr>
              <a:t>Group</a:t>
            </a:r>
          </a:p>
          <a:p>
            <a:r>
              <a:rPr lang="en-US" altLang="zh-CN" sz="2000" b="1">
                <a:solidFill>
                  <a:srgbClr val="FF0000"/>
                </a:solidFill>
              </a:rPr>
              <a:t>transfer</a:t>
            </a:r>
          </a:p>
        </p:txBody>
      </p:sp>
      <p:sp>
        <p:nvSpPr>
          <p:cNvPr id="2" name="矩形 1">
            <a:extLst>
              <a:ext uri="{FF2B5EF4-FFF2-40B4-BE49-F238E27FC236}">
                <a16:creationId xmlns:a16="http://schemas.microsoft.com/office/drawing/2014/main" id="{80445EFC-840C-4250-963D-A378A9D6D4CF}"/>
              </a:ext>
            </a:extLst>
          </p:cNvPr>
          <p:cNvSpPr/>
          <p:nvPr/>
        </p:nvSpPr>
        <p:spPr>
          <a:xfrm>
            <a:off x="-3060848" y="4537075"/>
            <a:ext cx="4572000" cy="307777"/>
          </a:xfrm>
          <a:prstGeom prst="rect">
            <a:avLst/>
          </a:prstGeom>
        </p:spPr>
        <p:txBody>
          <a:bodyPr>
            <a:spAutoFit/>
          </a:bodyPr>
          <a:lstStyle/>
          <a:p>
            <a:pPr algn="just">
              <a:spcAft>
                <a:spcPts val="0"/>
              </a:spcAft>
            </a:pPr>
            <a:endParaRPr lang="zh-CN" altLang="zh-CN" sz="14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矩形 3">
            <a:extLst>
              <a:ext uri="{FF2B5EF4-FFF2-40B4-BE49-F238E27FC236}">
                <a16:creationId xmlns:a16="http://schemas.microsoft.com/office/drawing/2014/main" id="{806D0312-01E6-4B54-B9B2-56094F8B3DF5}"/>
              </a:ext>
            </a:extLst>
          </p:cNvPr>
          <p:cNvSpPr/>
          <p:nvPr/>
        </p:nvSpPr>
        <p:spPr>
          <a:xfrm>
            <a:off x="9475" y="1198493"/>
            <a:ext cx="1682205" cy="646331"/>
          </a:xfrm>
          <a:prstGeom prst="rect">
            <a:avLst/>
          </a:prstGeom>
        </p:spPr>
        <p:txBody>
          <a:bodyPr wrap="square">
            <a:spAutoFit/>
          </a:bodyPr>
          <a:lstStyle/>
          <a:p>
            <a:pPr algn="just">
              <a:spcAft>
                <a:spcPts val="0"/>
              </a:spcAft>
            </a:pPr>
            <a:r>
              <a:rPr lang="en-US" altLang="zh-CN" sz="1200" b="1" kern="100" dirty="0">
                <a:latin typeface="等线" panose="02010600030101010101" pitchFamily="2" charset="-122"/>
                <a:ea typeface="等线" panose="02010600030101010101" pitchFamily="2" charset="-122"/>
                <a:cs typeface="Times New Roman" panose="02020603050405020304" pitchFamily="18" charset="0"/>
              </a:rPr>
              <a:t>Glyceraldehyde </a:t>
            </a:r>
          </a:p>
          <a:p>
            <a:pPr algn="just">
              <a:spcAft>
                <a:spcPts val="0"/>
              </a:spcAft>
            </a:pPr>
            <a:r>
              <a:rPr lang="en-US" altLang="zh-CN" sz="1200" b="1" kern="100" dirty="0">
                <a:latin typeface="等线" panose="02010600030101010101" pitchFamily="2" charset="-122"/>
                <a:ea typeface="等线" panose="02010600030101010101" pitchFamily="2" charset="-122"/>
                <a:cs typeface="Times New Roman" panose="02020603050405020304" pitchFamily="18" charset="0"/>
              </a:rPr>
              <a:t>3-phosphate </a:t>
            </a:r>
          </a:p>
          <a:p>
            <a:pPr algn="just">
              <a:spcAft>
                <a:spcPts val="0"/>
              </a:spcAft>
            </a:pPr>
            <a:r>
              <a:rPr lang="en-US" altLang="zh-CN" sz="1200" b="1" kern="100" dirty="0">
                <a:latin typeface="等线" panose="02010600030101010101" pitchFamily="2" charset="-122"/>
                <a:ea typeface="等线" panose="02010600030101010101" pitchFamily="2" charset="-122"/>
                <a:cs typeface="Times New Roman" panose="02020603050405020304" pitchFamily="18" charset="0"/>
              </a:rPr>
              <a:t>dehydrogenase</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p:txBody>
      </p:sp>
      <p:sp>
        <p:nvSpPr>
          <p:cNvPr id="5" name="矩形 4">
            <a:extLst>
              <a:ext uri="{FF2B5EF4-FFF2-40B4-BE49-F238E27FC236}">
                <a16:creationId xmlns:a16="http://schemas.microsoft.com/office/drawing/2014/main" id="{9ACDAF0F-D75E-4172-A0E4-7BCC7C18D554}"/>
              </a:ext>
            </a:extLst>
          </p:cNvPr>
          <p:cNvSpPr/>
          <p:nvPr/>
        </p:nvSpPr>
        <p:spPr>
          <a:xfrm>
            <a:off x="39643" y="2138580"/>
            <a:ext cx="1439818" cy="461665"/>
          </a:xfrm>
          <a:prstGeom prst="rect">
            <a:avLst/>
          </a:prstGeom>
        </p:spPr>
        <p:txBody>
          <a:bodyPr wrap="none">
            <a:spAutoFit/>
          </a:bodyPr>
          <a:lstStyle/>
          <a:p>
            <a:pPr algn="just">
              <a:spcAft>
                <a:spcPts val="0"/>
              </a:spcAft>
            </a:pPr>
            <a:r>
              <a:rPr lang="en-US" altLang="zh-CN" sz="1200" b="1" kern="100" dirty="0">
                <a:latin typeface="等线" panose="02010600030101010101" pitchFamily="2" charset="-122"/>
                <a:ea typeface="等线" panose="02010600030101010101" pitchFamily="2" charset="-122"/>
                <a:cs typeface="Times New Roman" panose="02020603050405020304" pitchFamily="18" charset="0"/>
              </a:rPr>
              <a:t>phosphoglycerate</a:t>
            </a:r>
          </a:p>
          <a:p>
            <a:pPr algn="just">
              <a:spcAft>
                <a:spcPts val="0"/>
              </a:spcAft>
            </a:pPr>
            <a:r>
              <a:rPr lang="en-US" altLang="zh-CN" sz="1200" b="1" kern="100" dirty="0">
                <a:latin typeface="等线" panose="02010600030101010101" pitchFamily="2" charset="-122"/>
                <a:ea typeface="等线" panose="02010600030101010101" pitchFamily="2" charset="-122"/>
                <a:cs typeface="Times New Roman" panose="02020603050405020304" pitchFamily="18" charset="0"/>
              </a:rPr>
              <a:t> kinase</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p:txBody>
      </p:sp>
      <p:sp>
        <p:nvSpPr>
          <p:cNvPr id="6" name="矩形 5">
            <a:extLst>
              <a:ext uri="{FF2B5EF4-FFF2-40B4-BE49-F238E27FC236}">
                <a16:creationId xmlns:a16="http://schemas.microsoft.com/office/drawing/2014/main" id="{1CF29427-3147-4D93-9249-8521503A0A2F}"/>
              </a:ext>
            </a:extLst>
          </p:cNvPr>
          <p:cNvSpPr/>
          <p:nvPr/>
        </p:nvSpPr>
        <p:spPr>
          <a:xfrm>
            <a:off x="155173" y="3549748"/>
            <a:ext cx="1991251" cy="276999"/>
          </a:xfrm>
          <a:prstGeom prst="rect">
            <a:avLst/>
          </a:prstGeom>
        </p:spPr>
        <p:txBody>
          <a:bodyPr wrap="none">
            <a:spAutoFit/>
          </a:bodyPr>
          <a:lstStyle/>
          <a:p>
            <a:pPr algn="just">
              <a:spcAft>
                <a:spcPts val="0"/>
              </a:spcAft>
            </a:pPr>
            <a:r>
              <a:rPr lang="en-US" altLang="zh-CN" sz="1200" b="1" kern="100" dirty="0">
                <a:latin typeface="等线" panose="02010600030101010101" pitchFamily="2" charset="-122"/>
                <a:ea typeface="等线" panose="02010600030101010101" pitchFamily="2" charset="-122"/>
                <a:cs typeface="Times New Roman" panose="02020603050405020304" pitchFamily="18" charset="0"/>
              </a:rPr>
              <a:t>phosphoglycerate mutase</a:t>
            </a:r>
            <a:endParaRPr lang="zh-CN" altLang="zh-CN" sz="1200" b="1" kern="100" dirty="0">
              <a:latin typeface="等线" panose="02010600030101010101" pitchFamily="2" charset="-122"/>
              <a:ea typeface="等线" panose="02010600030101010101" pitchFamily="2" charset="-122"/>
              <a:cs typeface="Times New Roman" panose="02020603050405020304" pitchFamily="18" charset="0"/>
            </a:endParaRPr>
          </a:p>
        </p:txBody>
      </p:sp>
      <p:sp>
        <p:nvSpPr>
          <p:cNvPr id="7" name="矩形 6">
            <a:extLst>
              <a:ext uri="{FF2B5EF4-FFF2-40B4-BE49-F238E27FC236}">
                <a16:creationId xmlns:a16="http://schemas.microsoft.com/office/drawing/2014/main" id="{5F4458D2-7AAC-41AA-9CF8-E32913913A62}"/>
              </a:ext>
            </a:extLst>
          </p:cNvPr>
          <p:cNvSpPr/>
          <p:nvPr/>
        </p:nvSpPr>
        <p:spPr>
          <a:xfrm>
            <a:off x="737016" y="4570787"/>
            <a:ext cx="801823" cy="307777"/>
          </a:xfrm>
          <a:prstGeom prst="rect">
            <a:avLst/>
          </a:prstGeom>
        </p:spPr>
        <p:txBody>
          <a:bodyPr wrap="none">
            <a:spAutoFit/>
          </a:bodyPr>
          <a:lstStyle/>
          <a:p>
            <a:pPr algn="just">
              <a:spcAft>
                <a:spcPts val="0"/>
              </a:spcAft>
            </a:pPr>
            <a:r>
              <a:rPr lang="en-US" altLang="zh-CN" sz="1400" b="1" kern="100" dirty="0">
                <a:latin typeface="等线" panose="02010600030101010101" pitchFamily="2" charset="-122"/>
                <a:ea typeface="等线" panose="02010600030101010101" pitchFamily="2" charset="-122"/>
                <a:cs typeface="Times New Roman" panose="02020603050405020304" pitchFamily="18" charset="0"/>
              </a:rPr>
              <a:t>Enolase</a:t>
            </a:r>
            <a:endParaRPr lang="zh-CN" altLang="zh-CN" sz="1400" b="1" kern="100" dirty="0">
              <a:latin typeface="等线" panose="02010600030101010101" pitchFamily="2" charset="-122"/>
              <a:ea typeface="等线" panose="02010600030101010101" pitchFamily="2" charset="-122"/>
              <a:cs typeface="Times New Roman" panose="02020603050405020304" pitchFamily="18" charset="0"/>
            </a:endParaRPr>
          </a:p>
        </p:txBody>
      </p:sp>
      <p:sp>
        <p:nvSpPr>
          <p:cNvPr id="8" name="矩形 7">
            <a:extLst>
              <a:ext uri="{FF2B5EF4-FFF2-40B4-BE49-F238E27FC236}">
                <a16:creationId xmlns:a16="http://schemas.microsoft.com/office/drawing/2014/main" id="{D502BF42-2DD0-46A0-A90E-F22567E765E7}"/>
              </a:ext>
            </a:extLst>
          </p:cNvPr>
          <p:cNvSpPr/>
          <p:nvPr/>
        </p:nvSpPr>
        <p:spPr>
          <a:xfrm>
            <a:off x="190232" y="5347027"/>
            <a:ext cx="947695" cy="523220"/>
          </a:xfrm>
          <a:prstGeom prst="rect">
            <a:avLst/>
          </a:prstGeom>
        </p:spPr>
        <p:txBody>
          <a:bodyPr wrap="none">
            <a:spAutoFit/>
          </a:bodyPr>
          <a:lstStyle/>
          <a:p>
            <a:pPr algn="just">
              <a:spcAft>
                <a:spcPts val="0"/>
              </a:spcAft>
            </a:pPr>
            <a:r>
              <a:rPr lang="en-US" altLang="zh-CN" sz="1400" b="1" kern="100" dirty="0">
                <a:latin typeface="等线" panose="02010600030101010101" pitchFamily="2" charset="-122"/>
                <a:ea typeface="等线" panose="02010600030101010101" pitchFamily="2" charset="-122"/>
                <a:cs typeface="Times New Roman" panose="02020603050405020304" pitchFamily="18" charset="0"/>
              </a:rPr>
              <a:t>pyruvate </a:t>
            </a:r>
          </a:p>
          <a:p>
            <a:pPr algn="just">
              <a:spcAft>
                <a:spcPts val="0"/>
              </a:spcAft>
            </a:pPr>
            <a:r>
              <a:rPr lang="en-US" altLang="zh-CN" sz="1400" b="1" kern="100" dirty="0">
                <a:latin typeface="等线" panose="02010600030101010101" pitchFamily="2" charset="-122"/>
                <a:ea typeface="等线" panose="02010600030101010101" pitchFamily="2" charset="-122"/>
                <a:cs typeface="Times New Roman" panose="02020603050405020304" pitchFamily="18" charset="0"/>
              </a:rPr>
              <a:t>kinase</a:t>
            </a:r>
            <a:endParaRPr lang="zh-CN" altLang="zh-CN" sz="1400" kern="100" dirty="0">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79167777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74EDA22A-4E42-4161-BE18-F6BD6E16F66E}"/>
              </a:ext>
            </a:extLst>
          </p:cNvPr>
          <p:cNvSpPr>
            <a:spLocks noGrp="1" noChangeArrowheads="1"/>
          </p:cNvSpPr>
          <p:nvPr>
            <p:ph type="title" idx="4294967295"/>
          </p:nvPr>
        </p:nvSpPr>
        <p:spPr>
          <a:xfrm>
            <a:off x="0" y="-38100"/>
            <a:ext cx="7772400" cy="76200"/>
          </a:xfrm>
        </p:spPr>
        <p:txBody>
          <a:bodyPr/>
          <a:lstStyle/>
          <a:p>
            <a:r>
              <a:rPr lang="en-US" altLang="zh-CN"/>
              <a:t> </a:t>
            </a:r>
          </a:p>
        </p:txBody>
      </p:sp>
      <p:sp>
        <p:nvSpPr>
          <p:cNvPr id="110595" name="Rectangle 3">
            <a:extLst>
              <a:ext uri="{FF2B5EF4-FFF2-40B4-BE49-F238E27FC236}">
                <a16:creationId xmlns:a16="http://schemas.microsoft.com/office/drawing/2014/main" id="{02221600-4B78-4C74-A71E-46F8D81B5F00}"/>
              </a:ext>
            </a:extLst>
          </p:cNvPr>
          <p:cNvSpPr>
            <a:spLocks noGrp="1" noChangeArrowheads="1"/>
          </p:cNvSpPr>
          <p:nvPr>
            <p:ph type="body" idx="4294967295"/>
          </p:nvPr>
        </p:nvSpPr>
        <p:spPr>
          <a:xfrm>
            <a:off x="304800" y="762000"/>
            <a:ext cx="8839200" cy="5181600"/>
          </a:xfrm>
        </p:spPr>
        <p:txBody>
          <a:bodyPr/>
          <a:lstStyle/>
          <a:p>
            <a:r>
              <a:rPr lang="en-US" altLang="zh-CN" sz="3600" dirty="0"/>
              <a:t>A net gain of two ATP, two NADH, two pyruvates are resulted when a glucose molecule is oxidized via the glycolysis pathway:</a:t>
            </a:r>
          </a:p>
          <a:p>
            <a:pPr>
              <a:buFontTx/>
              <a:buNone/>
            </a:pPr>
            <a:r>
              <a:rPr lang="en-US" altLang="zh-CN" sz="3600" dirty="0">
                <a:solidFill>
                  <a:srgbClr val="00FF00"/>
                </a:solidFill>
              </a:rPr>
              <a:t>	</a:t>
            </a:r>
          </a:p>
          <a:p>
            <a:pPr>
              <a:buFontTx/>
              <a:buNone/>
            </a:pPr>
            <a:r>
              <a:rPr lang="en-US" altLang="zh-CN" sz="3600" dirty="0">
                <a:solidFill>
                  <a:srgbClr val="FF0000"/>
                </a:solidFill>
              </a:rPr>
              <a:t>Glucose + 2 ADP + 2P</a:t>
            </a:r>
            <a:r>
              <a:rPr lang="en-US" altLang="zh-CN" sz="3600" baseline="-25000" dirty="0">
                <a:solidFill>
                  <a:srgbClr val="FF0000"/>
                </a:solidFill>
              </a:rPr>
              <a:t>i</a:t>
            </a:r>
            <a:r>
              <a:rPr lang="en-US" altLang="zh-CN" sz="3600" dirty="0">
                <a:solidFill>
                  <a:srgbClr val="FF0000"/>
                </a:solidFill>
              </a:rPr>
              <a:t> + 2NAD</a:t>
            </a:r>
            <a:r>
              <a:rPr lang="en-US" altLang="zh-CN" sz="3600" baseline="30000" dirty="0">
                <a:solidFill>
                  <a:srgbClr val="FF0000"/>
                </a:solidFill>
              </a:rPr>
              <a:t>+</a:t>
            </a:r>
            <a:r>
              <a:rPr lang="en-US" altLang="zh-CN" sz="3600" dirty="0">
                <a:solidFill>
                  <a:srgbClr val="FF0000"/>
                </a:solidFill>
                <a:sym typeface="Symbol" panose="05050102010706020507" pitchFamily="18" charset="2"/>
              </a:rPr>
              <a:t> </a:t>
            </a:r>
          </a:p>
          <a:p>
            <a:pPr>
              <a:buFontTx/>
              <a:buNone/>
            </a:pPr>
            <a:r>
              <a:rPr lang="en-US" altLang="zh-CN" sz="3600" dirty="0">
                <a:solidFill>
                  <a:srgbClr val="FF0000"/>
                </a:solidFill>
                <a:sym typeface="Symbol" panose="05050102010706020507" pitchFamily="18" charset="2"/>
              </a:rPr>
              <a:t>	2 pyruvate + 2ATP + 2H</a:t>
            </a:r>
            <a:r>
              <a:rPr lang="en-US" altLang="zh-CN" sz="3600" baseline="-25000" dirty="0">
                <a:solidFill>
                  <a:srgbClr val="FF0000"/>
                </a:solidFill>
                <a:sym typeface="Symbol" panose="05050102010706020507" pitchFamily="18" charset="2"/>
              </a:rPr>
              <a:t>2</a:t>
            </a:r>
            <a:r>
              <a:rPr lang="en-US" altLang="zh-CN" sz="3600" dirty="0">
                <a:solidFill>
                  <a:srgbClr val="FF0000"/>
                </a:solidFill>
                <a:sym typeface="Symbol" panose="05050102010706020507" pitchFamily="18" charset="2"/>
              </a:rPr>
              <a:t>O + 2NADH + 2H</a:t>
            </a:r>
            <a:r>
              <a:rPr lang="en-US" altLang="zh-CN" sz="3600" baseline="30000" dirty="0">
                <a:solidFill>
                  <a:srgbClr val="FF0000"/>
                </a:solidFill>
                <a:sym typeface="Symbol" panose="05050102010706020507" pitchFamily="18" charset="2"/>
              </a:rPr>
              <a:t>+</a:t>
            </a:r>
          </a:p>
          <a:p>
            <a:endParaRPr lang="en-US" altLang="zh-CN" dirty="0"/>
          </a:p>
        </p:txBody>
      </p:sp>
    </p:spTree>
    <p:extLst>
      <p:ext uri="{BB962C8B-B14F-4D97-AF65-F5344CB8AC3E}">
        <p14:creationId xmlns:p14="http://schemas.microsoft.com/office/powerpoint/2010/main" val="139965104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E203D98B-5C3E-4626-9D17-CC0E6CAE0FCB}"/>
              </a:ext>
            </a:extLst>
          </p:cNvPr>
          <p:cNvSpPr>
            <a:spLocks noGrp="1" noChangeArrowheads="1"/>
          </p:cNvSpPr>
          <p:nvPr>
            <p:ph type="title" idx="4294967295"/>
          </p:nvPr>
        </p:nvSpPr>
        <p:spPr>
          <a:xfrm>
            <a:off x="0" y="838200"/>
            <a:ext cx="9144000" cy="2362200"/>
          </a:xfrm>
        </p:spPr>
        <p:txBody>
          <a:bodyPr/>
          <a:lstStyle/>
          <a:p>
            <a:r>
              <a:rPr lang="en-US" altLang="zh-CN" dirty="0">
                <a:solidFill>
                  <a:srgbClr val="C00000"/>
                </a:solidFill>
              </a:rPr>
              <a:t>4. Fermentation: pyruvate is converted to lactic acid or ethanol under anaerobic conditions</a:t>
            </a:r>
          </a:p>
        </p:txBody>
      </p:sp>
      <p:sp>
        <p:nvSpPr>
          <p:cNvPr id="112645" name="Text Box 5">
            <a:extLst>
              <a:ext uri="{FF2B5EF4-FFF2-40B4-BE49-F238E27FC236}">
                <a16:creationId xmlns:a16="http://schemas.microsoft.com/office/drawing/2014/main" id="{41A0EA43-F9FC-4A7D-B184-94B66BBD2FF4}"/>
              </a:ext>
            </a:extLst>
          </p:cNvPr>
          <p:cNvSpPr txBox="1">
            <a:spLocks noChangeArrowheads="1"/>
          </p:cNvSpPr>
          <p:nvPr/>
        </p:nvSpPr>
        <p:spPr bwMode="auto">
          <a:xfrm>
            <a:off x="304800" y="3962400"/>
            <a:ext cx="84582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200"/>
              <a:t>This occurs to regenerate NAD</a:t>
            </a:r>
            <a:r>
              <a:rPr lang="en-US" altLang="zh-CN" sz="3200" baseline="30000"/>
              <a:t>+</a:t>
            </a:r>
            <a:r>
              <a:rPr lang="en-US" altLang="zh-CN" sz="3200"/>
              <a:t> for the glycolysis pathway to continue when O</a:t>
            </a:r>
            <a:r>
              <a:rPr lang="en-US" altLang="zh-CN" sz="3200" baseline="-25000"/>
              <a:t>2</a:t>
            </a:r>
            <a:r>
              <a:rPr lang="en-US" altLang="zh-CN" sz="3200"/>
              <a:t> lacks.</a:t>
            </a:r>
          </a:p>
        </p:txBody>
      </p:sp>
    </p:spTree>
    <p:extLst>
      <p:ext uri="{BB962C8B-B14F-4D97-AF65-F5344CB8AC3E}">
        <p14:creationId xmlns:p14="http://schemas.microsoft.com/office/powerpoint/2010/main" val="176875484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02" name="Picture 2">
            <a:extLst>
              <a:ext uri="{FF2B5EF4-FFF2-40B4-BE49-F238E27FC236}">
                <a16:creationId xmlns:a16="http://schemas.microsoft.com/office/drawing/2014/main" id="{B699C1FF-E5A4-485D-9644-B778429F767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19200" y="381000"/>
            <a:ext cx="6553200" cy="6205538"/>
          </a:xfrm>
          <a:prstGeom prst="rect">
            <a:avLst/>
          </a:prstGeom>
          <a:noFill/>
          <a:extLst>
            <a:ext uri="{909E8E84-426E-40DD-AFC4-6F175D3DCCD1}">
              <a14:hiddenFill xmlns:a14="http://schemas.microsoft.com/office/drawing/2010/main">
                <a:solidFill>
                  <a:srgbClr val="FFFFFF"/>
                </a:solidFill>
              </a14:hiddenFill>
            </a:ext>
          </a:extLst>
        </p:spPr>
      </p:pic>
      <p:sp>
        <p:nvSpPr>
          <p:cNvPr id="2" name="椭圆 1">
            <a:extLst>
              <a:ext uri="{FF2B5EF4-FFF2-40B4-BE49-F238E27FC236}">
                <a16:creationId xmlns:a16="http://schemas.microsoft.com/office/drawing/2014/main" id="{66F0E130-8B71-45C7-A1DC-EF10C827C094}"/>
              </a:ext>
            </a:extLst>
          </p:cNvPr>
          <p:cNvSpPr/>
          <p:nvPr/>
        </p:nvSpPr>
        <p:spPr>
          <a:xfrm>
            <a:off x="611560" y="1556792"/>
            <a:ext cx="3240360" cy="2592288"/>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sheath </a:t>
            </a:r>
            <a:br>
              <a:rPr lang="en-US" altLang="zh-CN" dirty="0"/>
            </a:br>
            <a:endParaRPr lang="zh-CN" altLang="en-US" dirty="0"/>
          </a:p>
        </p:txBody>
      </p:sp>
      <p:sp>
        <p:nvSpPr>
          <p:cNvPr id="4" name="椭圆 3">
            <a:extLst>
              <a:ext uri="{FF2B5EF4-FFF2-40B4-BE49-F238E27FC236}">
                <a16:creationId xmlns:a16="http://schemas.microsoft.com/office/drawing/2014/main" id="{53F04A0F-3F3D-4ABB-9213-F4E61B9ED00D}"/>
              </a:ext>
            </a:extLst>
          </p:cNvPr>
          <p:cNvSpPr/>
          <p:nvPr/>
        </p:nvSpPr>
        <p:spPr>
          <a:xfrm>
            <a:off x="5241282" y="1628800"/>
            <a:ext cx="2480318" cy="2952328"/>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sheath </a:t>
            </a:r>
            <a:br>
              <a:rPr lang="en-US" altLang="zh-CN" dirty="0"/>
            </a:br>
            <a:endParaRPr lang="zh-CN" altLang="en-US" dirty="0"/>
          </a:p>
        </p:txBody>
      </p:sp>
    </p:spTree>
    <p:extLst>
      <p:ext uri="{BB962C8B-B14F-4D97-AF65-F5344CB8AC3E}">
        <p14:creationId xmlns:p14="http://schemas.microsoft.com/office/powerpoint/2010/main" val="320390996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Text Box 2">
            <a:extLst>
              <a:ext uri="{FF2B5EF4-FFF2-40B4-BE49-F238E27FC236}">
                <a16:creationId xmlns:a16="http://schemas.microsoft.com/office/drawing/2014/main" id="{FFB5597A-4033-4F14-82A2-F061734A65CC}"/>
              </a:ext>
            </a:extLst>
          </p:cNvPr>
          <p:cNvSpPr txBox="1">
            <a:spLocks noChangeArrowheads="1"/>
          </p:cNvSpPr>
          <p:nvPr/>
        </p:nvSpPr>
        <p:spPr bwMode="auto">
          <a:xfrm>
            <a:off x="457200" y="1143000"/>
            <a:ext cx="807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zh-CN" altLang="zh-CN"/>
          </a:p>
        </p:txBody>
      </p:sp>
      <p:sp>
        <p:nvSpPr>
          <p:cNvPr id="205827" name="Rectangle 3">
            <a:extLst>
              <a:ext uri="{FF2B5EF4-FFF2-40B4-BE49-F238E27FC236}">
                <a16:creationId xmlns:a16="http://schemas.microsoft.com/office/drawing/2014/main" id="{9DA4E18B-FAEC-4132-B76D-919AD07979FA}"/>
              </a:ext>
            </a:extLst>
          </p:cNvPr>
          <p:cNvSpPr>
            <a:spLocks noChangeArrowheads="1"/>
          </p:cNvSpPr>
          <p:nvPr/>
        </p:nvSpPr>
        <p:spPr bwMode="auto">
          <a:xfrm>
            <a:off x="220081" y="1143000"/>
            <a:ext cx="8915400" cy="419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20000"/>
              </a:spcBef>
              <a:buClr>
                <a:schemeClr val="tx2"/>
              </a:buClr>
              <a:buFontTx/>
              <a:buChar char="•"/>
            </a:pPr>
            <a:r>
              <a:rPr lang="en-US" altLang="zh-CN" sz="3200" dirty="0">
                <a:solidFill>
                  <a:srgbClr val="0070C0"/>
                </a:solidFill>
              </a:rPr>
              <a:t>Lactic acid fermentation </a:t>
            </a:r>
            <a:r>
              <a:rPr lang="en-US" altLang="zh-CN" sz="3200" dirty="0"/>
              <a:t>(occurring in very active muscle, some bacteria): pyruvate is reduced by NADH, catalyzed by lactate dehydrogenase.</a:t>
            </a:r>
          </a:p>
          <a:p>
            <a:pPr eaLnBrk="1" hangingPunct="1">
              <a:lnSpc>
                <a:spcPct val="130000"/>
              </a:lnSpc>
              <a:spcBef>
                <a:spcPct val="20000"/>
              </a:spcBef>
              <a:buClr>
                <a:schemeClr val="tx2"/>
              </a:buClr>
              <a:buFontTx/>
              <a:buChar char="•"/>
            </a:pPr>
            <a:r>
              <a:rPr lang="en-US" altLang="zh-CN" sz="3200" dirty="0"/>
              <a:t>The lactate produced in muscle can be converted back to glucose by </a:t>
            </a:r>
            <a:r>
              <a:rPr lang="en-US" altLang="zh-CN" sz="3200" dirty="0">
                <a:solidFill>
                  <a:srgbClr val="0070C0"/>
                </a:solidFill>
              </a:rPr>
              <a:t>gluconeogenesis</a:t>
            </a:r>
            <a:r>
              <a:rPr lang="en-US" altLang="zh-CN" sz="3200" dirty="0"/>
              <a:t> in  the liver of vertebrates.</a:t>
            </a:r>
          </a:p>
        </p:txBody>
      </p:sp>
    </p:spTree>
    <p:extLst>
      <p:ext uri="{BB962C8B-B14F-4D97-AF65-F5344CB8AC3E}">
        <p14:creationId xmlns:p14="http://schemas.microsoft.com/office/powerpoint/2010/main" val="265319356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3672" name="Picture 8">
            <a:extLst>
              <a:ext uri="{FF2B5EF4-FFF2-40B4-BE49-F238E27FC236}">
                <a16:creationId xmlns:a16="http://schemas.microsoft.com/office/drawing/2014/main" id="{4B925887-4449-48DE-8058-D78B984E85F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33800" y="228600"/>
            <a:ext cx="5024438" cy="6152728"/>
          </a:xfrm>
          <a:prstGeom prst="rect">
            <a:avLst/>
          </a:prstGeom>
          <a:noFill/>
          <a:extLst>
            <a:ext uri="{909E8E84-426E-40DD-AFC4-6F175D3DCCD1}">
              <a14:hiddenFill xmlns:a14="http://schemas.microsoft.com/office/drawing/2010/main">
                <a:solidFill>
                  <a:srgbClr val="FFFFFF"/>
                </a:solidFill>
              </a14:hiddenFill>
            </a:ext>
          </a:extLst>
        </p:spPr>
      </p:pic>
      <p:sp>
        <p:nvSpPr>
          <p:cNvPr id="113667" name="Rectangle 3">
            <a:extLst>
              <a:ext uri="{FF2B5EF4-FFF2-40B4-BE49-F238E27FC236}">
                <a16:creationId xmlns:a16="http://schemas.microsoft.com/office/drawing/2014/main" id="{56112E31-6FEF-42CA-9755-3DB6177952D1}"/>
              </a:ext>
            </a:extLst>
          </p:cNvPr>
          <p:cNvSpPr>
            <a:spLocks noChangeArrowheads="1"/>
          </p:cNvSpPr>
          <p:nvPr/>
        </p:nvSpPr>
        <p:spPr bwMode="auto">
          <a:xfrm>
            <a:off x="0" y="0"/>
            <a:ext cx="3873176"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dirty="0">
                <a:solidFill>
                  <a:srgbClr val="C00000"/>
                </a:solidFill>
              </a:rPr>
              <a:t>Pyruvate is reduced</a:t>
            </a:r>
          </a:p>
          <a:p>
            <a:r>
              <a:rPr lang="en-US" altLang="zh-CN" sz="3200" dirty="0">
                <a:solidFill>
                  <a:srgbClr val="C00000"/>
                </a:solidFill>
              </a:rPr>
              <a:t>to lactate when O</a:t>
            </a:r>
            <a:r>
              <a:rPr lang="en-US" altLang="zh-CN" sz="3200" baseline="-25000" dirty="0">
                <a:solidFill>
                  <a:srgbClr val="C00000"/>
                </a:solidFill>
              </a:rPr>
              <a:t>2</a:t>
            </a:r>
          </a:p>
          <a:p>
            <a:r>
              <a:rPr lang="en-US" altLang="zh-CN" sz="3200" dirty="0">
                <a:solidFill>
                  <a:srgbClr val="C00000"/>
                </a:solidFill>
              </a:rPr>
              <a:t>lacks in a reaction</a:t>
            </a:r>
          </a:p>
          <a:p>
            <a:r>
              <a:rPr lang="en-US" altLang="zh-CN" sz="3200" dirty="0">
                <a:solidFill>
                  <a:srgbClr val="C00000"/>
                </a:solidFill>
              </a:rPr>
              <a:t>catalyzed by </a:t>
            </a:r>
            <a:r>
              <a:rPr lang="en-US" altLang="zh-CN" sz="3200" b="1" dirty="0">
                <a:solidFill>
                  <a:srgbClr val="0070C0"/>
                </a:solidFill>
              </a:rPr>
              <a:t>lactate</a:t>
            </a:r>
          </a:p>
          <a:p>
            <a:r>
              <a:rPr lang="en-US" altLang="zh-CN" sz="3200" b="1" dirty="0">
                <a:solidFill>
                  <a:srgbClr val="0070C0"/>
                </a:solidFill>
              </a:rPr>
              <a:t>Dehydrogenase.</a:t>
            </a:r>
          </a:p>
          <a:p>
            <a:endParaRPr lang="en-US" altLang="zh-CN" sz="3200" b="1" dirty="0">
              <a:solidFill>
                <a:srgbClr val="00FF00"/>
              </a:solidFill>
            </a:endParaRPr>
          </a:p>
        </p:txBody>
      </p:sp>
      <p:sp>
        <p:nvSpPr>
          <p:cNvPr id="113668" name="Rectangle 4">
            <a:extLst>
              <a:ext uri="{FF2B5EF4-FFF2-40B4-BE49-F238E27FC236}">
                <a16:creationId xmlns:a16="http://schemas.microsoft.com/office/drawing/2014/main" id="{2DBDCC6E-A516-4EF0-B16A-2A054FF18D38}"/>
              </a:ext>
            </a:extLst>
          </p:cNvPr>
          <p:cNvSpPr>
            <a:spLocks noChangeArrowheads="1"/>
          </p:cNvSpPr>
          <p:nvPr/>
        </p:nvSpPr>
        <p:spPr bwMode="auto">
          <a:xfrm>
            <a:off x="457200" y="2640013"/>
            <a:ext cx="18415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zh-CN" sz="3200"/>
          </a:p>
          <a:p>
            <a:endParaRPr lang="en-US" altLang="zh-CN" sz="3200"/>
          </a:p>
        </p:txBody>
      </p:sp>
    </p:spTree>
    <p:extLst>
      <p:ext uri="{BB962C8B-B14F-4D97-AF65-F5344CB8AC3E}">
        <p14:creationId xmlns:p14="http://schemas.microsoft.com/office/powerpoint/2010/main" val="251875928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Text Box 2">
            <a:extLst>
              <a:ext uri="{FF2B5EF4-FFF2-40B4-BE49-F238E27FC236}">
                <a16:creationId xmlns:a16="http://schemas.microsoft.com/office/drawing/2014/main" id="{B15F7F17-D8C0-4CAC-9A66-6ED358F4DEA3}"/>
              </a:ext>
            </a:extLst>
          </p:cNvPr>
          <p:cNvSpPr txBox="1">
            <a:spLocks noChangeArrowheads="1"/>
          </p:cNvSpPr>
          <p:nvPr/>
        </p:nvSpPr>
        <p:spPr bwMode="auto">
          <a:xfrm>
            <a:off x="323528" y="1556792"/>
            <a:ext cx="8610600" cy="3806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30000"/>
              </a:lnSpc>
              <a:spcBef>
                <a:spcPct val="20000"/>
              </a:spcBef>
              <a:buClr>
                <a:schemeClr val="tx2"/>
              </a:buClr>
              <a:buFontTx/>
              <a:buChar char="•"/>
            </a:pPr>
            <a:r>
              <a:rPr lang="en-US" altLang="zh-CN" sz="3200" dirty="0">
                <a:solidFill>
                  <a:srgbClr val="0070C0"/>
                </a:solidFill>
              </a:rPr>
              <a:t>Ethanol fermentation </a:t>
            </a:r>
            <a:r>
              <a:rPr lang="en-US" altLang="zh-CN" sz="3200" dirty="0"/>
              <a:t>(occurring in yeast and other microorganisms): pyruvate is first decarboxylated and then reduced by NADH, catalyzed by pyruvate decarboxylase and alcohol dehydrogenase respectively.</a:t>
            </a:r>
          </a:p>
          <a:p>
            <a:pPr>
              <a:spcBef>
                <a:spcPct val="50000"/>
              </a:spcBef>
            </a:pPr>
            <a:endParaRPr lang="en-US" altLang="zh-CN" dirty="0"/>
          </a:p>
        </p:txBody>
      </p:sp>
    </p:spTree>
    <p:extLst>
      <p:ext uri="{BB962C8B-B14F-4D97-AF65-F5344CB8AC3E}">
        <p14:creationId xmlns:p14="http://schemas.microsoft.com/office/powerpoint/2010/main" val="408801507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4699" name="Picture 11">
            <a:extLst>
              <a:ext uri="{FF2B5EF4-FFF2-40B4-BE49-F238E27FC236}">
                <a16:creationId xmlns:a16="http://schemas.microsoft.com/office/drawing/2014/main" id="{69AA86FD-4899-40E9-871C-87C084AA92C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38600" y="228600"/>
            <a:ext cx="4460875" cy="6629400"/>
          </a:xfrm>
          <a:prstGeom prst="rect">
            <a:avLst/>
          </a:prstGeom>
          <a:noFill/>
          <a:extLst>
            <a:ext uri="{909E8E84-426E-40DD-AFC4-6F175D3DCCD1}">
              <a14:hiddenFill xmlns:a14="http://schemas.microsoft.com/office/drawing/2010/main">
                <a:solidFill>
                  <a:srgbClr val="FFFFFF"/>
                </a:solidFill>
              </a14:hiddenFill>
            </a:ext>
          </a:extLst>
        </p:spPr>
      </p:pic>
      <p:sp>
        <p:nvSpPr>
          <p:cNvPr id="114695" name="Rectangle 7">
            <a:extLst>
              <a:ext uri="{FF2B5EF4-FFF2-40B4-BE49-F238E27FC236}">
                <a16:creationId xmlns:a16="http://schemas.microsoft.com/office/drawing/2014/main" id="{C1CC0364-083A-4D92-89A7-E7EDD290F5F2}"/>
              </a:ext>
            </a:extLst>
          </p:cNvPr>
          <p:cNvSpPr>
            <a:spLocks noChangeArrowheads="1"/>
          </p:cNvSpPr>
          <p:nvPr/>
        </p:nvSpPr>
        <p:spPr bwMode="auto">
          <a:xfrm>
            <a:off x="381000" y="609600"/>
            <a:ext cx="3440365"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b="1">
                <a:solidFill>
                  <a:srgbClr val="C00000"/>
                </a:solidFill>
              </a:rPr>
              <a:t>Pyruvate can be </a:t>
            </a:r>
          </a:p>
          <a:p>
            <a:r>
              <a:rPr lang="en-US" altLang="zh-CN" sz="3200" b="1">
                <a:solidFill>
                  <a:srgbClr val="C00000"/>
                </a:solidFill>
              </a:rPr>
              <a:t>decarboxylated</a:t>
            </a:r>
          </a:p>
          <a:p>
            <a:r>
              <a:rPr lang="en-US" altLang="zh-CN" sz="3200" b="1">
                <a:solidFill>
                  <a:srgbClr val="C00000"/>
                </a:solidFill>
              </a:rPr>
              <a:t>and reduced to </a:t>
            </a:r>
          </a:p>
          <a:p>
            <a:r>
              <a:rPr lang="en-US" altLang="zh-CN" sz="3200" b="1">
                <a:solidFill>
                  <a:srgbClr val="C00000"/>
                </a:solidFill>
              </a:rPr>
              <a:t>form ethanol</a:t>
            </a:r>
          </a:p>
          <a:p>
            <a:r>
              <a:rPr lang="en-US" altLang="zh-CN" sz="3200" b="1">
                <a:solidFill>
                  <a:srgbClr val="C00000"/>
                </a:solidFill>
              </a:rPr>
              <a:t>in some micro-</a:t>
            </a:r>
          </a:p>
          <a:p>
            <a:r>
              <a:rPr lang="en-US" altLang="zh-CN" sz="3200" b="1">
                <a:solidFill>
                  <a:srgbClr val="C00000"/>
                </a:solidFill>
              </a:rPr>
              <a:t>organisms</a:t>
            </a:r>
          </a:p>
        </p:txBody>
      </p:sp>
    </p:spTree>
    <p:extLst>
      <p:ext uri="{BB962C8B-B14F-4D97-AF65-F5344CB8AC3E}">
        <p14:creationId xmlns:p14="http://schemas.microsoft.com/office/powerpoint/2010/main" val="350022570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2">
            <a:extLst>
              <a:ext uri="{FF2B5EF4-FFF2-40B4-BE49-F238E27FC236}">
                <a16:creationId xmlns:a16="http://schemas.microsoft.com/office/drawing/2014/main" id="{7F5B5CE5-2907-445C-980E-5F1055E520F5}"/>
              </a:ext>
            </a:extLst>
          </p:cNvPr>
          <p:cNvSpPr>
            <a:spLocks noChangeArrowheads="1"/>
          </p:cNvSpPr>
          <p:nvPr/>
        </p:nvSpPr>
        <p:spPr bwMode="auto">
          <a:xfrm>
            <a:off x="228600" y="0"/>
            <a:ext cx="54102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b"/>
          <a:lstStyle>
            <a:lvl1pPr>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marL="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4400" dirty="0">
                <a:solidFill>
                  <a:srgbClr val="C00000"/>
                </a:solidFill>
              </a:rPr>
              <a:t>5. Energy yield</a:t>
            </a:r>
          </a:p>
        </p:txBody>
      </p:sp>
      <p:sp>
        <p:nvSpPr>
          <p:cNvPr id="212995" name="Rectangle 3">
            <a:extLst>
              <a:ext uri="{FF2B5EF4-FFF2-40B4-BE49-F238E27FC236}">
                <a16:creationId xmlns:a16="http://schemas.microsoft.com/office/drawing/2014/main" id="{FC3BEAAB-6F77-4E91-ABAC-11B07450194F}"/>
              </a:ext>
            </a:extLst>
          </p:cNvPr>
          <p:cNvSpPr>
            <a:spLocks noChangeArrowheads="1"/>
          </p:cNvSpPr>
          <p:nvPr/>
        </p:nvSpPr>
        <p:spPr bwMode="auto">
          <a:xfrm>
            <a:off x="228600" y="1844824"/>
            <a:ext cx="8915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20000"/>
              </a:spcBef>
              <a:buClr>
                <a:schemeClr val="tx2"/>
              </a:buClr>
              <a:buFontTx/>
              <a:buChar char="•"/>
            </a:pPr>
            <a:r>
              <a:rPr lang="en-US" altLang="zh-CN" sz="3200" dirty="0"/>
              <a:t>Two ATP are used in glycolysis and four ATPs are synthesized for each molecule of glucose so that the net yield is two ATPs per glucose.</a:t>
            </a:r>
          </a:p>
          <a:p>
            <a:pPr eaLnBrk="1" hangingPunct="1">
              <a:lnSpc>
                <a:spcPct val="130000"/>
              </a:lnSpc>
              <a:spcBef>
                <a:spcPct val="20000"/>
              </a:spcBef>
              <a:buClr>
                <a:schemeClr val="tx2"/>
              </a:buClr>
              <a:buFontTx/>
              <a:buChar char="•"/>
            </a:pPr>
            <a:r>
              <a:rPr lang="en-US" altLang="zh-CN" sz="3200" dirty="0"/>
              <a:t>Under aerobic conditions, the two NADH molecules arising from glycolysis also yield energy via oxidative phosphorylation.</a:t>
            </a:r>
          </a:p>
        </p:txBody>
      </p:sp>
      <p:cxnSp>
        <p:nvCxnSpPr>
          <p:cNvPr id="3" name="直接连接符 2">
            <a:extLst>
              <a:ext uri="{FF2B5EF4-FFF2-40B4-BE49-F238E27FC236}">
                <a16:creationId xmlns:a16="http://schemas.microsoft.com/office/drawing/2014/main" id="{E5A72E3E-EAE4-477E-9575-D94B446F02F0}"/>
              </a:ext>
            </a:extLst>
          </p:cNvPr>
          <p:cNvCxnSpPr>
            <a:cxnSpLocks/>
          </p:cNvCxnSpPr>
          <p:nvPr/>
        </p:nvCxnSpPr>
        <p:spPr>
          <a:xfrm>
            <a:off x="3275856" y="3717032"/>
            <a:ext cx="108012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B2856CE0-A46B-406F-9816-67FD061253A5}"/>
              </a:ext>
            </a:extLst>
          </p:cNvPr>
          <p:cNvCxnSpPr>
            <a:cxnSpLocks/>
          </p:cNvCxnSpPr>
          <p:nvPr/>
        </p:nvCxnSpPr>
        <p:spPr>
          <a:xfrm>
            <a:off x="5868144" y="4509120"/>
            <a:ext cx="108012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5145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a:extLst>
              <a:ext uri="{FF2B5EF4-FFF2-40B4-BE49-F238E27FC236}">
                <a16:creationId xmlns:a16="http://schemas.microsoft.com/office/drawing/2014/main" id="{808884A2-3791-4C5E-96A5-FAC13EDBDF32}"/>
              </a:ext>
            </a:extLst>
          </p:cNvPr>
          <p:cNvSpPr>
            <a:spLocks noGrp="1" noChangeArrowheads="1"/>
          </p:cNvSpPr>
          <p:nvPr>
            <p:ph type="title" idx="4294967295"/>
          </p:nvPr>
        </p:nvSpPr>
        <p:spPr>
          <a:xfrm>
            <a:off x="0" y="304800"/>
            <a:ext cx="9144000" cy="1371600"/>
          </a:xfrm>
        </p:spPr>
        <p:txBody>
          <a:bodyPr/>
          <a:lstStyle/>
          <a:p>
            <a:r>
              <a:rPr lang="en-US" altLang="zh-CN" dirty="0">
                <a:solidFill>
                  <a:srgbClr val="C00000"/>
                </a:solidFill>
              </a:rPr>
              <a:t>6. Other hexoses are also oxidized via the glycolysis pathway</a:t>
            </a:r>
          </a:p>
        </p:txBody>
      </p:sp>
      <p:sp>
        <p:nvSpPr>
          <p:cNvPr id="126979" name="Rectangle 3">
            <a:extLst>
              <a:ext uri="{FF2B5EF4-FFF2-40B4-BE49-F238E27FC236}">
                <a16:creationId xmlns:a16="http://schemas.microsoft.com/office/drawing/2014/main" id="{3859799B-9EC8-4BA8-86FA-34748DFFCB29}"/>
              </a:ext>
            </a:extLst>
          </p:cNvPr>
          <p:cNvSpPr>
            <a:spLocks noGrp="1" noChangeArrowheads="1"/>
          </p:cNvSpPr>
          <p:nvPr>
            <p:ph type="body" idx="4294967295"/>
          </p:nvPr>
        </p:nvSpPr>
        <p:spPr>
          <a:xfrm>
            <a:off x="232454" y="1988840"/>
            <a:ext cx="8915400" cy="4114800"/>
          </a:xfrm>
        </p:spPr>
        <p:txBody>
          <a:bodyPr/>
          <a:lstStyle/>
          <a:p>
            <a:pPr>
              <a:lnSpc>
                <a:spcPct val="90000"/>
              </a:lnSpc>
            </a:pPr>
            <a:r>
              <a:rPr lang="en-US" altLang="zh-CN" dirty="0"/>
              <a:t>They are also first primed by phosphorylation (at C-1 or C-6).</a:t>
            </a:r>
          </a:p>
          <a:p>
            <a:pPr>
              <a:lnSpc>
                <a:spcPct val="90000"/>
              </a:lnSpc>
            </a:pPr>
            <a:r>
              <a:rPr lang="en-US" altLang="zh-CN" dirty="0"/>
              <a:t>Fructose is primed and cleaved to form dihydroxyacetone phosphate and glyceraldehyde, which are further converted to glyceraldehyde 3-P.</a:t>
            </a:r>
          </a:p>
          <a:p>
            <a:pPr>
              <a:lnSpc>
                <a:spcPct val="90000"/>
              </a:lnSpc>
            </a:pPr>
            <a:r>
              <a:rPr lang="en-US" altLang="zh-CN" dirty="0"/>
              <a:t>Galactose is first converted to Glc-1-P  via a UDP-galactose intermediate and UDP-glucose intermediate, then to Glc-6-P.</a:t>
            </a:r>
          </a:p>
        </p:txBody>
      </p:sp>
    </p:spTree>
    <p:extLst>
      <p:ext uri="{BB962C8B-B14F-4D97-AF65-F5344CB8AC3E}">
        <p14:creationId xmlns:p14="http://schemas.microsoft.com/office/powerpoint/2010/main" val="428582099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8007" name="Picture 7" descr="未标题-1">
            <a:extLst>
              <a:ext uri="{FF2B5EF4-FFF2-40B4-BE49-F238E27FC236}">
                <a16:creationId xmlns:a16="http://schemas.microsoft.com/office/drawing/2014/main" id="{132427B2-C496-43CB-BC79-638BC69E57F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3000" y="0"/>
            <a:ext cx="8001000" cy="6846888"/>
          </a:xfrm>
          <a:prstGeom prst="rect">
            <a:avLst/>
          </a:prstGeom>
          <a:noFill/>
          <a:extLst>
            <a:ext uri="{909E8E84-426E-40DD-AFC4-6F175D3DCCD1}">
              <a14:hiddenFill xmlns:a14="http://schemas.microsoft.com/office/drawing/2010/main">
                <a:solidFill>
                  <a:srgbClr val="FFFFFF"/>
                </a:solidFill>
              </a14:hiddenFill>
            </a:ext>
          </a:extLst>
        </p:spPr>
      </p:pic>
      <p:sp>
        <p:nvSpPr>
          <p:cNvPr id="128003" name="Line 3">
            <a:extLst>
              <a:ext uri="{FF2B5EF4-FFF2-40B4-BE49-F238E27FC236}">
                <a16:creationId xmlns:a16="http://schemas.microsoft.com/office/drawing/2014/main" id="{10EE4CED-D692-46A2-BD84-90633E815236}"/>
              </a:ext>
            </a:extLst>
          </p:cNvPr>
          <p:cNvSpPr>
            <a:spLocks noChangeShapeType="1"/>
          </p:cNvSpPr>
          <p:nvPr/>
        </p:nvSpPr>
        <p:spPr bwMode="auto">
          <a:xfrm flipH="1">
            <a:off x="6400800" y="4038600"/>
            <a:ext cx="1066800" cy="2133600"/>
          </a:xfrm>
          <a:prstGeom prst="line">
            <a:avLst/>
          </a:prstGeom>
          <a:noFill/>
          <a:ln w="38100" cap="sq">
            <a:solidFill>
              <a:schemeClr val="bg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8005" name="Rectangle 5">
            <a:extLst>
              <a:ext uri="{FF2B5EF4-FFF2-40B4-BE49-F238E27FC236}">
                <a16:creationId xmlns:a16="http://schemas.microsoft.com/office/drawing/2014/main" id="{F55B4848-86A4-4F62-9B1C-4F4A605D6423}"/>
              </a:ext>
            </a:extLst>
          </p:cNvPr>
          <p:cNvSpPr>
            <a:spLocks noChangeArrowheads="1"/>
          </p:cNvSpPr>
          <p:nvPr/>
        </p:nvSpPr>
        <p:spPr bwMode="auto">
          <a:xfrm>
            <a:off x="142875" y="2057400"/>
            <a:ext cx="5061001" cy="954107"/>
          </a:xfrm>
          <a:prstGeom prst="rect">
            <a:avLst/>
          </a:prstGeom>
          <a:solidFill>
            <a:srgbClr val="3366F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dirty="0">
                <a:solidFill>
                  <a:srgbClr val="FFFF00"/>
                </a:solidFill>
              </a:rPr>
              <a:t>One fructose is converted to</a:t>
            </a:r>
          </a:p>
          <a:p>
            <a:r>
              <a:rPr lang="en-US" altLang="zh-CN" sz="2800" b="1" dirty="0">
                <a:solidFill>
                  <a:srgbClr val="FFFF00"/>
                </a:solidFill>
              </a:rPr>
              <a:t>two glyceraldehyde 3-P</a:t>
            </a:r>
          </a:p>
        </p:txBody>
      </p:sp>
    </p:spTree>
    <p:extLst>
      <p:ext uri="{BB962C8B-B14F-4D97-AF65-F5344CB8AC3E}">
        <p14:creationId xmlns:p14="http://schemas.microsoft.com/office/powerpoint/2010/main" val="400416221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6850" name="Picture 2">
            <a:extLst>
              <a:ext uri="{FF2B5EF4-FFF2-40B4-BE49-F238E27FC236}">
                <a16:creationId xmlns:a16="http://schemas.microsoft.com/office/drawing/2014/main" id="{C0F0E6FC-E1C2-4DAD-A230-1D5B986EEFA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1371600"/>
            <a:ext cx="9144000" cy="3992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035211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3" name="Rectangle 3">
            <a:extLst>
              <a:ext uri="{FF2B5EF4-FFF2-40B4-BE49-F238E27FC236}">
                <a16:creationId xmlns:a16="http://schemas.microsoft.com/office/drawing/2014/main" id="{8A54411A-21F7-44A5-A472-D0E9F44173D7}"/>
              </a:ext>
            </a:extLst>
          </p:cNvPr>
          <p:cNvSpPr>
            <a:spLocks noGrp="1" noChangeArrowheads="1"/>
          </p:cNvSpPr>
          <p:nvPr>
            <p:ph type="body" idx="4294967295"/>
          </p:nvPr>
        </p:nvSpPr>
        <p:spPr>
          <a:xfrm>
            <a:off x="-35497" y="1556792"/>
            <a:ext cx="9144000" cy="4114800"/>
          </a:xfrm>
        </p:spPr>
        <p:txBody>
          <a:bodyPr/>
          <a:lstStyle/>
          <a:p>
            <a:r>
              <a:rPr lang="en-US" altLang="zh-CN" b="1" dirty="0">
                <a:solidFill>
                  <a:srgbClr val="0070C0"/>
                </a:solidFill>
              </a:rPr>
              <a:t>Phosphofructokinase-1 (PFK-1)</a:t>
            </a:r>
            <a:r>
              <a:rPr lang="en-US" altLang="zh-CN" dirty="0">
                <a:solidFill>
                  <a:srgbClr val="0070C0"/>
                </a:solidFill>
              </a:rPr>
              <a:t> </a:t>
            </a:r>
            <a:r>
              <a:rPr lang="en-US" altLang="zh-CN" dirty="0"/>
              <a:t>is the main point of regulation for controlling the rate of glycolysis. PFK is allosterically inhibited by ATP, but this inhibition is relieved by AMP. Citrate also inhibits PFK. The build up of F-6-P stimulates the formation of 2,6-FBP that in turn stimulates PFK.</a:t>
            </a:r>
          </a:p>
          <a:p>
            <a:r>
              <a:rPr lang="en-US" altLang="zh-CN" dirty="0">
                <a:solidFill>
                  <a:srgbClr val="0070C0"/>
                </a:solidFill>
              </a:rPr>
              <a:t>Hexokinase</a:t>
            </a:r>
            <a:r>
              <a:rPr lang="en-US" altLang="zh-CN" dirty="0"/>
              <a:t> and </a:t>
            </a:r>
            <a:r>
              <a:rPr lang="en-US" altLang="zh-CN" dirty="0">
                <a:solidFill>
                  <a:srgbClr val="0070C0"/>
                </a:solidFill>
              </a:rPr>
              <a:t>pyruvate kinase </a:t>
            </a:r>
            <a:r>
              <a:rPr lang="en-US" altLang="zh-CN" dirty="0"/>
              <a:t>are additional control sites.</a:t>
            </a:r>
          </a:p>
        </p:txBody>
      </p:sp>
      <p:sp>
        <p:nvSpPr>
          <p:cNvPr id="174084" name="Rectangle 4">
            <a:extLst>
              <a:ext uri="{FF2B5EF4-FFF2-40B4-BE49-F238E27FC236}">
                <a16:creationId xmlns:a16="http://schemas.microsoft.com/office/drawing/2014/main" id="{488AACD2-4256-4660-8AFD-B32C03366601}"/>
              </a:ext>
            </a:extLst>
          </p:cNvPr>
          <p:cNvSpPr>
            <a:spLocks noGrp="1" noChangeArrowheads="1"/>
          </p:cNvSpPr>
          <p:nvPr>
            <p:ph type="title" idx="4294967295"/>
          </p:nvPr>
        </p:nvSpPr>
        <p:spPr>
          <a:xfrm>
            <a:off x="0" y="304800"/>
            <a:ext cx="7543800" cy="1066800"/>
          </a:xfrm>
          <a:noFill/>
          <a:ln/>
        </p:spPr>
        <p:txBody>
          <a:bodyPr/>
          <a:lstStyle/>
          <a:p>
            <a:pPr algn="l"/>
            <a:r>
              <a:rPr lang="en-US" altLang="zh-CN" dirty="0">
                <a:solidFill>
                  <a:srgbClr val="C00000"/>
                </a:solidFill>
              </a:rPr>
              <a:t>6. Regulation of glycolysis</a:t>
            </a:r>
          </a:p>
        </p:txBody>
      </p:sp>
      <p:cxnSp>
        <p:nvCxnSpPr>
          <p:cNvPr id="4" name="直接连接符 3">
            <a:extLst>
              <a:ext uri="{FF2B5EF4-FFF2-40B4-BE49-F238E27FC236}">
                <a16:creationId xmlns:a16="http://schemas.microsoft.com/office/drawing/2014/main" id="{9E142FD1-FF88-478B-BC32-632F868EA5B4}"/>
              </a:ext>
            </a:extLst>
          </p:cNvPr>
          <p:cNvCxnSpPr>
            <a:cxnSpLocks/>
          </p:cNvCxnSpPr>
          <p:nvPr/>
        </p:nvCxnSpPr>
        <p:spPr>
          <a:xfrm>
            <a:off x="3131840" y="3068960"/>
            <a:ext cx="223224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97E7AD98-D802-4232-8CE9-2ADE3F8E2C9A}"/>
              </a:ext>
            </a:extLst>
          </p:cNvPr>
          <p:cNvCxnSpPr>
            <a:cxnSpLocks/>
          </p:cNvCxnSpPr>
          <p:nvPr/>
        </p:nvCxnSpPr>
        <p:spPr>
          <a:xfrm>
            <a:off x="3347864" y="3573016"/>
            <a:ext cx="3528392"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51252C60-4352-4BDF-8977-5414A2E57375}"/>
              </a:ext>
            </a:extLst>
          </p:cNvPr>
          <p:cNvCxnSpPr>
            <a:cxnSpLocks/>
          </p:cNvCxnSpPr>
          <p:nvPr/>
        </p:nvCxnSpPr>
        <p:spPr>
          <a:xfrm>
            <a:off x="6660232" y="3068960"/>
            <a:ext cx="223224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70ABE749-60DC-4E01-B732-703CA1FAD56E}"/>
              </a:ext>
            </a:extLst>
          </p:cNvPr>
          <p:cNvCxnSpPr>
            <a:cxnSpLocks/>
          </p:cNvCxnSpPr>
          <p:nvPr/>
        </p:nvCxnSpPr>
        <p:spPr>
          <a:xfrm>
            <a:off x="395536" y="3573016"/>
            <a:ext cx="223224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437069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1026">
            <a:extLst>
              <a:ext uri="{FF2B5EF4-FFF2-40B4-BE49-F238E27FC236}">
                <a16:creationId xmlns:a16="http://schemas.microsoft.com/office/drawing/2014/main" id="{95B9AB3E-D9E2-4C43-85B6-339EED4222EC}"/>
              </a:ext>
            </a:extLst>
          </p:cNvPr>
          <p:cNvSpPr>
            <a:spLocks noGrp="1" noChangeArrowheads="1"/>
          </p:cNvSpPr>
          <p:nvPr>
            <p:ph type="title" idx="4294967295"/>
          </p:nvPr>
        </p:nvSpPr>
        <p:spPr>
          <a:xfrm>
            <a:off x="29209" y="188640"/>
            <a:ext cx="7772400" cy="1143000"/>
          </a:xfrm>
        </p:spPr>
        <p:txBody>
          <a:bodyPr/>
          <a:lstStyle/>
          <a:p>
            <a:r>
              <a:rPr lang="en-US" altLang="zh-CN" dirty="0"/>
              <a:t>Summary</a:t>
            </a:r>
          </a:p>
        </p:txBody>
      </p:sp>
      <p:sp>
        <p:nvSpPr>
          <p:cNvPr id="171011" name="Rectangle 1027">
            <a:extLst>
              <a:ext uri="{FF2B5EF4-FFF2-40B4-BE49-F238E27FC236}">
                <a16:creationId xmlns:a16="http://schemas.microsoft.com/office/drawing/2014/main" id="{A300FC7C-6738-4F08-8CBD-CB534D69BFFB}"/>
              </a:ext>
            </a:extLst>
          </p:cNvPr>
          <p:cNvSpPr>
            <a:spLocks noGrp="1" noChangeArrowheads="1"/>
          </p:cNvSpPr>
          <p:nvPr>
            <p:ph type="body" idx="4294967295"/>
          </p:nvPr>
        </p:nvSpPr>
        <p:spPr>
          <a:xfrm>
            <a:off x="0" y="1052736"/>
            <a:ext cx="9144000" cy="5410200"/>
          </a:xfrm>
        </p:spPr>
        <p:txBody>
          <a:bodyPr/>
          <a:lstStyle/>
          <a:p>
            <a:pPr>
              <a:lnSpc>
                <a:spcPct val="90000"/>
              </a:lnSpc>
            </a:pPr>
            <a:r>
              <a:rPr lang="en-US" altLang="zh-CN" sz="3600" dirty="0"/>
              <a:t>D-glucose is a commonly used fuel and versatile precursor in almost all organisms.</a:t>
            </a:r>
          </a:p>
          <a:p>
            <a:pPr>
              <a:lnSpc>
                <a:spcPct val="90000"/>
              </a:lnSpc>
            </a:pPr>
            <a:r>
              <a:rPr lang="en-US" altLang="zh-CN" sz="3600" dirty="0"/>
              <a:t>Glucose is first converted into two three-carbon pyruvates via the ten-step glycolysis pathway without directly consuming O</a:t>
            </a:r>
            <a:r>
              <a:rPr lang="en-US" altLang="zh-CN" sz="3600" baseline="-25000" dirty="0"/>
              <a:t>2</a:t>
            </a:r>
            <a:r>
              <a:rPr lang="en-US" altLang="zh-CN" sz="3600" dirty="0"/>
              <a:t> and with a net production of two ATP molecules by substrate-level phosphorylation.</a:t>
            </a:r>
          </a:p>
          <a:p>
            <a:pPr>
              <a:lnSpc>
                <a:spcPct val="90000"/>
              </a:lnSpc>
            </a:pPr>
            <a:r>
              <a:rPr lang="en-US" altLang="zh-CN" sz="3600" dirty="0"/>
              <a:t>Limited amount of energy can be released by oxidizing glucose under anaerobic conditions by fermentation.</a:t>
            </a:r>
            <a:endParaRPr lang="en-US" altLang="zh-CN" sz="2800" dirty="0"/>
          </a:p>
          <a:p>
            <a:pPr>
              <a:lnSpc>
                <a:spcPct val="90000"/>
              </a:lnSpc>
            </a:pPr>
            <a:endParaRPr lang="en-US" altLang="zh-CN" sz="2800" dirty="0"/>
          </a:p>
        </p:txBody>
      </p:sp>
    </p:spTree>
    <p:extLst>
      <p:ext uri="{BB962C8B-B14F-4D97-AF65-F5344CB8AC3E}">
        <p14:creationId xmlns:p14="http://schemas.microsoft.com/office/powerpoint/2010/main" val="220224764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3410" name="Picture 2">
            <a:extLst>
              <a:ext uri="{FF2B5EF4-FFF2-40B4-BE49-F238E27FC236}">
                <a16:creationId xmlns:a16="http://schemas.microsoft.com/office/drawing/2014/main" id="{517C1D30-B8B5-4C1B-B268-01562D88644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19200" y="381000"/>
            <a:ext cx="6553200" cy="620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4759341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4434" name="Picture 1026">
            <a:extLst>
              <a:ext uri="{FF2B5EF4-FFF2-40B4-BE49-F238E27FC236}">
                <a16:creationId xmlns:a16="http://schemas.microsoft.com/office/drawing/2014/main" id="{653C6CB5-C60A-4B2D-BFB6-16B829213FB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10001" t="10001" r="10001" b="10001"/>
          <a:stretch>
            <a:fillRect/>
          </a:stretch>
        </p:blipFill>
        <p:spPr bwMode="auto">
          <a:xfrm>
            <a:off x="533400" y="381000"/>
            <a:ext cx="8229600" cy="617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0783511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5458" name="Picture 2">
            <a:extLst>
              <a:ext uri="{FF2B5EF4-FFF2-40B4-BE49-F238E27FC236}">
                <a16:creationId xmlns:a16="http://schemas.microsoft.com/office/drawing/2014/main" id="{A1CF592F-3519-4C88-8769-3B1AF1F1472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0" y="571500"/>
            <a:ext cx="7620000"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6362183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2">
            <a:extLst>
              <a:ext uri="{FF2B5EF4-FFF2-40B4-BE49-F238E27FC236}">
                <a16:creationId xmlns:a16="http://schemas.microsoft.com/office/drawing/2014/main" id="{6EAA79D5-30A3-462C-A5CC-6EB15360BD66}"/>
              </a:ext>
            </a:extLst>
          </p:cNvPr>
          <p:cNvSpPr>
            <a:spLocks noGrp="1" noChangeArrowheads="1"/>
          </p:cNvSpPr>
          <p:nvPr>
            <p:ph type="ctrTitle" idx="4294967295"/>
          </p:nvPr>
        </p:nvSpPr>
        <p:spPr>
          <a:xfrm>
            <a:off x="0" y="1600200"/>
            <a:ext cx="9144000" cy="1143000"/>
          </a:xfrm>
        </p:spPr>
        <p:txBody>
          <a:bodyPr lIns="91440" tIns="45720" rIns="91440" bIns="45720" anchor="ctr"/>
          <a:lstStyle/>
          <a:p>
            <a:r>
              <a:rPr lang="en-US" altLang="zh-CN" sz="6000" dirty="0">
                <a:solidFill>
                  <a:srgbClr val="C00000"/>
                </a:solidFill>
                <a:latin typeface="Arial" panose="020B0604020202020204" pitchFamily="34" charset="0"/>
                <a:ea typeface="楷体_GB2312" pitchFamily="49" charset="-122"/>
              </a:rPr>
              <a:t>The Citric Acid Cycle  </a:t>
            </a:r>
            <a:r>
              <a:rPr lang="en-US" altLang="zh-CN" sz="4000" dirty="0">
                <a:solidFill>
                  <a:srgbClr val="C00000"/>
                </a:solidFill>
                <a:latin typeface="Arial" panose="020B0604020202020204" pitchFamily="34" charset="0"/>
                <a:ea typeface="楷体_GB2312" pitchFamily="49" charset="-122"/>
              </a:rPr>
              <a:t>(L1)</a:t>
            </a:r>
          </a:p>
        </p:txBody>
      </p:sp>
      <p:sp>
        <p:nvSpPr>
          <p:cNvPr id="279555" name="Rectangle 3">
            <a:extLst>
              <a:ext uri="{FF2B5EF4-FFF2-40B4-BE49-F238E27FC236}">
                <a16:creationId xmlns:a16="http://schemas.microsoft.com/office/drawing/2014/main" id="{73C5146F-F6AA-4E93-8DD1-F95CBA925C44}"/>
              </a:ext>
            </a:extLst>
          </p:cNvPr>
          <p:cNvSpPr>
            <a:spLocks noGrp="1" noChangeArrowheads="1"/>
          </p:cNvSpPr>
          <p:nvPr>
            <p:ph type="subTitle" idx="4294967295"/>
          </p:nvPr>
        </p:nvSpPr>
        <p:spPr>
          <a:xfrm>
            <a:off x="0" y="3068960"/>
            <a:ext cx="8229600" cy="1752600"/>
          </a:xfrm>
        </p:spPr>
        <p:txBody>
          <a:bodyPr lIns="91440" tIns="45720" rIns="91440" bIns="45720"/>
          <a:lstStyle/>
          <a:p>
            <a:pPr marL="0" indent="0" algn="ctr">
              <a:buFontTx/>
              <a:buNone/>
            </a:pPr>
            <a:r>
              <a:rPr lang="en-US" altLang="zh-CN" dirty="0">
                <a:solidFill>
                  <a:srgbClr val="0070C0"/>
                </a:solidFill>
              </a:rPr>
              <a:t>The common pathway leading to complete oxidation of  carbohydrates, fatty acids, and amino acids to CO</a:t>
            </a:r>
            <a:r>
              <a:rPr lang="en-US" altLang="zh-CN" baseline="-25000" dirty="0">
                <a:solidFill>
                  <a:srgbClr val="0070C0"/>
                </a:solidFill>
              </a:rPr>
              <a:t>2</a:t>
            </a:r>
            <a:r>
              <a:rPr lang="en-US" altLang="zh-CN" dirty="0">
                <a:solidFill>
                  <a:srgbClr val="0070C0"/>
                </a:solidFill>
              </a:rPr>
              <a:t>.</a:t>
            </a:r>
          </a:p>
          <a:p>
            <a:pPr marL="0" indent="0" algn="ctr">
              <a:buFontTx/>
              <a:buNone/>
            </a:pPr>
            <a:r>
              <a:rPr lang="en-US" altLang="zh-CN" dirty="0">
                <a:solidFill>
                  <a:srgbClr val="0070C0"/>
                </a:solidFill>
              </a:rPr>
              <a:t>A pathway providing many precursors for biosynthesis</a:t>
            </a:r>
          </a:p>
        </p:txBody>
      </p:sp>
    </p:spTree>
    <p:extLst>
      <p:ext uri="{BB962C8B-B14F-4D97-AF65-F5344CB8AC3E}">
        <p14:creationId xmlns:p14="http://schemas.microsoft.com/office/powerpoint/2010/main" val="309866748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8530" name="Picture 2">
            <a:extLst>
              <a:ext uri="{FF2B5EF4-FFF2-40B4-BE49-F238E27FC236}">
                <a16:creationId xmlns:a16="http://schemas.microsoft.com/office/drawing/2014/main" id="{1EEC23D0-69F9-475D-AE9B-B4315E38F31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10001" t="10001" r="10001" b="10001"/>
          <a:stretch>
            <a:fillRect/>
          </a:stretch>
        </p:blipFill>
        <p:spPr bwMode="auto">
          <a:xfrm>
            <a:off x="381000" y="228600"/>
            <a:ext cx="8534400" cy="640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8456429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0578" name="Picture 4" descr="0106">
            <a:extLst>
              <a:ext uri="{FF2B5EF4-FFF2-40B4-BE49-F238E27FC236}">
                <a16:creationId xmlns:a16="http://schemas.microsoft.com/office/drawing/2014/main" id="{E1E14896-55CA-497B-8734-DAD42126803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3400" y="228600"/>
            <a:ext cx="8382000" cy="628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6474275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1602" name="Picture 5">
            <a:extLst>
              <a:ext uri="{FF2B5EF4-FFF2-40B4-BE49-F238E27FC236}">
                <a16:creationId xmlns:a16="http://schemas.microsoft.com/office/drawing/2014/main" id="{07D4BFB9-D15C-4876-841C-5F791C3C5BD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10217" t="197"/>
          <a:stretch>
            <a:fillRect/>
          </a:stretch>
        </p:blipFill>
        <p:spPr bwMode="auto">
          <a:xfrm>
            <a:off x="1619250" y="333375"/>
            <a:ext cx="5938838" cy="604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0780922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Rectangle 2">
            <a:extLst>
              <a:ext uri="{FF2B5EF4-FFF2-40B4-BE49-F238E27FC236}">
                <a16:creationId xmlns:a16="http://schemas.microsoft.com/office/drawing/2014/main" id="{CC0CC65D-9F42-4A0C-A7AA-D2E0A181FEAA}"/>
              </a:ext>
            </a:extLst>
          </p:cNvPr>
          <p:cNvSpPr>
            <a:spLocks noGrp="1" noChangeArrowheads="1"/>
          </p:cNvSpPr>
          <p:nvPr>
            <p:ph type="title" idx="4294967295"/>
          </p:nvPr>
        </p:nvSpPr>
        <p:spPr>
          <a:xfrm>
            <a:off x="0" y="350838"/>
            <a:ext cx="8686800" cy="1143000"/>
          </a:xfrm>
        </p:spPr>
        <p:txBody>
          <a:bodyPr lIns="91440" tIns="45720" rIns="91440" bIns="45720" anchor="ctr"/>
          <a:lstStyle/>
          <a:p>
            <a:r>
              <a:rPr lang="en-US" altLang="zh-CN" dirty="0">
                <a:solidFill>
                  <a:srgbClr val="C00000"/>
                </a:solidFill>
              </a:rPr>
              <a:t>1. </a:t>
            </a:r>
            <a:r>
              <a:rPr lang="en-US" altLang="zh-CN" b="1" dirty="0">
                <a:solidFill>
                  <a:srgbClr val="C00000"/>
                </a:solidFill>
              </a:rPr>
              <a:t>The cellular respiration can be divided into three stages</a:t>
            </a:r>
          </a:p>
        </p:txBody>
      </p:sp>
      <p:sp>
        <p:nvSpPr>
          <p:cNvPr id="282627" name="Rectangle 3">
            <a:extLst>
              <a:ext uri="{FF2B5EF4-FFF2-40B4-BE49-F238E27FC236}">
                <a16:creationId xmlns:a16="http://schemas.microsoft.com/office/drawing/2014/main" id="{AB81000E-1E38-4877-8274-50212991968B}"/>
              </a:ext>
            </a:extLst>
          </p:cNvPr>
          <p:cNvSpPr>
            <a:spLocks noGrp="1" noChangeArrowheads="1"/>
          </p:cNvSpPr>
          <p:nvPr>
            <p:ph type="body" idx="4294967295"/>
          </p:nvPr>
        </p:nvSpPr>
        <p:spPr>
          <a:xfrm>
            <a:off x="0" y="2133600"/>
            <a:ext cx="9144000" cy="4114800"/>
          </a:xfrm>
        </p:spPr>
        <p:txBody>
          <a:bodyPr lIns="91440" tIns="45720" rIns="91440" bIns="45720"/>
          <a:lstStyle/>
          <a:p>
            <a:r>
              <a:rPr lang="en-US" altLang="zh-CN" sz="2800" b="1" dirty="0">
                <a:solidFill>
                  <a:srgbClr val="C00000"/>
                </a:solidFill>
              </a:rPr>
              <a:t>Stage I</a:t>
            </a:r>
            <a:r>
              <a:rPr lang="en-US" altLang="zh-CN" sz="2800" dirty="0">
                <a:solidFill>
                  <a:srgbClr val="C00000"/>
                </a:solidFill>
              </a:rPr>
              <a:t>   </a:t>
            </a:r>
            <a:r>
              <a:rPr lang="en-US" altLang="zh-CN" sz="2800" b="1" dirty="0">
                <a:solidFill>
                  <a:srgbClr val="FF0000"/>
                </a:solidFill>
              </a:rPr>
              <a:t>All the fuel molecules </a:t>
            </a:r>
            <a:r>
              <a:rPr lang="en-US" altLang="zh-CN" sz="2800" dirty="0"/>
              <a:t>are oxidized to generate a common two-carbon unit, acetyl-CoA.</a:t>
            </a:r>
          </a:p>
          <a:p>
            <a:r>
              <a:rPr lang="en-US" altLang="zh-CN" sz="2800" b="1" dirty="0">
                <a:solidFill>
                  <a:srgbClr val="C00000"/>
                </a:solidFill>
              </a:rPr>
              <a:t>Stage II</a:t>
            </a:r>
            <a:r>
              <a:rPr lang="en-US" altLang="zh-CN" sz="2800" dirty="0">
                <a:solidFill>
                  <a:srgbClr val="C00000"/>
                </a:solidFill>
              </a:rPr>
              <a:t>   </a:t>
            </a:r>
            <a:r>
              <a:rPr lang="en-US" altLang="zh-CN" sz="2800" dirty="0"/>
              <a:t>The acetyl-CoA is completely </a:t>
            </a:r>
            <a:r>
              <a:rPr lang="en-US" altLang="zh-CN" sz="2800" b="1" dirty="0">
                <a:solidFill>
                  <a:srgbClr val="FF0000"/>
                </a:solidFill>
              </a:rPr>
              <a:t>oxidized into CO</a:t>
            </a:r>
            <a:r>
              <a:rPr lang="en-US" altLang="zh-CN" sz="2800" b="1" baseline="-25000" dirty="0">
                <a:solidFill>
                  <a:srgbClr val="FF0000"/>
                </a:solidFill>
              </a:rPr>
              <a:t>2</a:t>
            </a:r>
            <a:r>
              <a:rPr lang="en-US" altLang="zh-CN" sz="2800" b="1" dirty="0">
                <a:solidFill>
                  <a:srgbClr val="FF0000"/>
                </a:solidFill>
              </a:rPr>
              <a:t>,</a:t>
            </a:r>
            <a:r>
              <a:rPr lang="en-US" altLang="zh-CN" sz="2800" dirty="0"/>
              <a:t> with electrons collected </a:t>
            </a:r>
            <a:r>
              <a:rPr lang="en-US" altLang="zh-CN" sz="2800" b="1" dirty="0"/>
              <a:t>by NAD and FAD </a:t>
            </a:r>
            <a:r>
              <a:rPr lang="en-US" altLang="zh-CN" sz="2800" dirty="0"/>
              <a:t>via a cyclic pathway (named as the</a:t>
            </a:r>
            <a:r>
              <a:rPr lang="en-US" altLang="zh-CN" sz="2800" b="1" dirty="0">
                <a:solidFill>
                  <a:srgbClr val="FF0000"/>
                </a:solidFill>
              </a:rPr>
              <a:t> citric acid cycle, Krebs cycle, or tricarboxylic acid cycle</a:t>
            </a:r>
            <a:r>
              <a:rPr lang="zh-CN" altLang="en-US" sz="2800" b="1" dirty="0">
                <a:solidFill>
                  <a:srgbClr val="0000FF"/>
                </a:solidFill>
              </a:rPr>
              <a:t>（</a:t>
            </a:r>
            <a:r>
              <a:rPr lang="en-US" altLang="zh-CN" sz="2800" b="1" dirty="0">
                <a:solidFill>
                  <a:srgbClr val="0000FF"/>
                </a:solidFill>
              </a:rPr>
              <a:t>TCA</a:t>
            </a:r>
            <a:r>
              <a:rPr lang="zh-CN" altLang="en-US" sz="2800" b="1" dirty="0">
                <a:solidFill>
                  <a:srgbClr val="0000FF"/>
                </a:solidFill>
              </a:rPr>
              <a:t>）</a:t>
            </a:r>
            <a:r>
              <a:rPr lang="en-US" altLang="zh-CN" sz="2800" dirty="0"/>
              <a:t>).</a:t>
            </a:r>
          </a:p>
          <a:p>
            <a:r>
              <a:rPr lang="en-US" altLang="zh-CN" sz="2800" b="1" dirty="0">
                <a:solidFill>
                  <a:srgbClr val="C00000"/>
                </a:solidFill>
              </a:rPr>
              <a:t>Stage III</a:t>
            </a:r>
            <a:r>
              <a:rPr lang="en-US" altLang="zh-CN" sz="2800" dirty="0">
                <a:solidFill>
                  <a:srgbClr val="C00000"/>
                </a:solidFill>
              </a:rPr>
              <a:t>  </a:t>
            </a:r>
            <a:r>
              <a:rPr lang="en-US" altLang="zh-CN" sz="2800" dirty="0"/>
              <a:t>Electrons of NADH and FADH</a:t>
            </a:r>
            <a:r>
              <a:rPr lang="en-US" altLang="zh-CN" sz="2800" baseline="-25000" dirty="0"/>
              <a:t>2</a:t>
            </a:r>
            <a:r>
              <a:rPr lang="en-US" altLang="zh-CN" sz="2800" dirty="0"/>
              <a:t> are </a:t>
            </a:r>
            <a:r>
              <a:rPr lang="en-US" altLang="zh-CN" sz="2800" b="1" dirty="0">
                <a:solidFill>
                  <a:srgbClr val="FF0000"/>
                </a:solidFill>
              </a:rPr>
              <a:t>transferred</a:t>
            </a:r>
            <a:r>
              <a:rPr lang="en-US" altLang="zh-CN" sz="2800" dirty="0"/>
              <a:t> to O</a:t>
            </a:r>
            <a:r>
              <a:rPr lang="en-US" altLang="zh-CN" sz="2800" baseline="-25000" dirty="0"/>
              <a:t>2</a:t>
            </a:r>
            <a:r>
              <a:rPr lang="en-US" altLang="zh-CN" sz="2800" dirty="0"/>
              <a:t> via a series carriers, producing H</a:t>
            </a:r>
            <a:r>
              <a:rPr lang="en-US" altLang="zh-CN" sz="2800" baseline="-25000" dirty="0"/>
              <a:t>2</a:t>
            </a:r>
            <a:r>
              <a:rPr lang="en-US" altLang="zh-CN" sz="2800" dirty="0"/>
              <a:t>O and a H</a:t>
            </a:r>
            <a:r>
              <a:rPr lang="en-US" altLang="zh-CN" sz="2800" baseline="30000" dirty="0"/>
              <a:t>+</a:t>
            </a:r>
            <a:r>
              <a:rPr lang="en-US" altLang="zh-CN" sz="2800" dirty="0"/>
              <a:t> gradient, which will promote ATP formation.</a:t>
            </a:r>
          </a:p>
        </p:txBody>
      </p:sp>
    </p:spTree>
    <p:extLst>
      <p:ext uri="{BB962C8B-B14F-4D97-AF65-F5344CB8AC3E}">
        <p14:creationId xmlns:p14="http://schemas.microsoft.com/office/powerpoint/2010/main" val="389469378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3650" name="Picture 2">
            <a:extLst>
              <a:ext uri="{FF2B5EF4-FFF2-40B4-BE49-F238E27FC236}">
                <a16:creationId xmlns:a16="http://schemas.microsoft.com/office/drawing/2014/main" id="{E5A4DC27-88F9-4ECE-8869-FB48DA7AF92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62200" y="0"/>
            <a:ext cx="408200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2487332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4674" name="Picture 5">
            <a:extLst>
              <a:ext uri="{FF2B5EF4-FFF2-40B4-BE49-F238E27FC236}">
                <a16:creationId xmlns:a16="http://schemas.microsoft.com/office/drawing/2014/main" id="{981F52E6-D766-443E-BC57-BE663B67880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1550" y="260350"/>
            <a:ext cx="7561263" cy="638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9155132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5698" name="Picture 4">
            <a:extLst>
              <a:ext uri="{FF2B5EF4-FFF2-40B4-BE49-F238E27FC236}">
                <a16:creationId xmlns:a16="http://schemas.microsoft.com/office/drawing/2014/main" id="{A7C9B268-FEE5-4DBE-BD2E-DCB654C669B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3350" y="0"/>
            <a:ext cx="642778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1119264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22" name="Picture 4">
            <a:extLst>
              <a:ext uri="{FF2B5EF4-FFF2-40B4-BE49-F238E27FC236}">
                <a16:creationId xmlns:a16="http://schemas.microsoft.com/office/drawing/2014/main" id="{0F4225AC-7704-4C6C-A10E-105390AA76B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5288" y="404813"/>
            <a:ext cx="8532812" cy="599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703331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7746" name="Picture 4">
            <a:extLst>
              <a:ext uri="{FF2B5EF4-FFF2-40B4-BE49-F238E27FC236}">
                <a16:creationId xmlns:a16="http://schemas.microsoft.com/office/drawing/2014/main" id="{F723A9E3-170D-41B4-8FA3-2D03002A99F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9750" y="404813"/>
            <a:ext cx="6873875" cy="5929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7747" name="Rectangle 5">
            <a:extLst>
              <a:ext uri="{FF2B5EF4-FFF2-40B4-BE49-F238E27FC236}">
                <a16:creationId xmlns:a16="http://schemas.microsoft.com/office/drawing/2014/main" id="{E835BE06-C01B-4DCC-8FE2-92A1F53C48E0}"/>
              </a:ext>
            </a:extLst>
          </p:cNvPr>
          <p:cNvSpPr>
            <a:spLocks noChangeArrowheads="1"/>
          </p:cNvSpPr>
          <p:nvPr/>
        </p:nvSpPr>
        <p:spPr bwMode="auto">
          <a:xfrm>
            <a:off x="7667625" y="425450"/>
            <a:ext cx="12414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solidFill>
                  <a:srgbClr val="C00000"/>
                </a:solidFill>
              </a:rPr>
              <a:t>Stage I</a:t>
            </a:r>
          </a:p>
        </p:txBody>
      </p:sp>
    </p:spTree>
    <p:extLst>
      <p:ext uri="{BB962C8B-B14F-4D97-AF65-F5344CB8AC3E}">
        <p14:creationId xmlns:p14="http://schemas.microsoft.com/office/powerpoint/2010/main" val="203433760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8770" name="Picture 4">
            <a:extLst>
              <a:ext uri="{FF2B5EF4-FFF2-40B4-BE49-F238E27FC236}">
                <a16:creationId xmlns:a16="http://schemas.microsoft.com/office/drawing/2014/main" id="{7B6D2DDB-BE1E-47F0-9CAE-7F487942B4E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1188" y="620713"/>
            <a:ext cx="6694487" cy="580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8771" name="Rectangle 5">
            <a:extLst>
              <a:ext uri="{FF2B5EF4-FFF2-40B4-BE49-F238E27FC236}">
                <a16:creationId xmlns:a16="http://schemas.microsoft.com/office/drawing/2014/main" id="{36524243-08CE-4E82-9069-5D8FEDF513AD}"/>
              </a:ext>
            </a:extLst>
          </p:cNvPr>
          <p:cNvSpPr>
            <a:spLocks noChangeArrowheads="1"/>
          </p:cNvSpPr>
          <p:nvPr/>
        </p:nvSpPr>
        <p:spPr bwMode="auto">
          <a:xfrm>
            <a:off x="7667625" y="498475"/>
            <a:ext cx="13795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solidFill>
                  <a:srgbClr val="C00000"/>
                </a:solidFill>
              </a:rPr>
              <a:t>Stage II</a:t>
            </a:r>
          </a:p>
        </p:txBody>
      </p:sp>
    </p:spTree>
    <p:extLst>
      <p:ext uri="{BB962C8B-B14F-4D97-AF65-F5344CB8AC3E}">
        <p14:creationId xmlns:p14="http://schemas.microsoft.com/office/powerpoint/2010/main" val="136205963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9794" name="Picture 4">
            <a:extLst>
              <a:ext uri="{FF2B5EF4-FFF2-40B4-BE49-F238E27FC236}">
                <a16:creationId xmlns:a16="http://schemas.microsoft.com/office/drawing/2014/main" id="{1BCB14F9-BF5F-4AAB-B9B1-3DB85D3B3E7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4213" y="260350"/>
            <a:ext cx="6829425" cy="6199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9795" name="Rectangle 5">
            <a:extLst>
              <a:ext uri="{FF2B5EF4-FFF2-40B4-BE49-F238E27FC236}">
                <a16:creationId xmlns:a16="http://schemas.microsoft.com/office/drawing/2014/main" id="{2DFBF351-DEB4-4BA2-8058-225341DEE8B9}"/>
              </a:ext>
            </a:extLst>
          </p:cNvPr>
          <p:cNvSpPr>
            <a:spLocks noChangeArrowheads="1"/>
          </p:cNvSpPr>
          <p:nvPr/>
        </p:nvSpPr>
        <p:spPr bwMode="auto">
          <a:xfrm>
            <a:off x="7626350" y="260350"/>
            <a:ext cx="15176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solidFill>
                  <a:srgbClr val="C00000"/>
                </a:solidFill>
              </a:rPr>
              <a:t>Stage III</a:t>
            </a:r>
          </a:p>
        </p:txBody>
      </p:sp>
    </p:spTree>
    <p:extLst>
      <p:ext uri="{BB962C8B-B14F-4D97-AF65-F5344CB8AC3E}">
        <p14:creationId xmlns:p14="http://schemas.microsoft.com/office/powerpoint/2010/main" val="295437617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0818" name="Picture 2" descr="Krebs">
            <a:extLst>
              <a:ext uri="{FF2B5EF4-FFF2-40B4-BE49-F238E27FC236}">
                <a16:creationId xmlns:a16="http://schemas.microsoft.com/office/drawing/2014/main" id="{EE86335E-456A-4603-996E-E9A061631D51}"/>
              </a:ext>
            </a:extLst>
          </p:cNvPr>
          <p:cNvPicPr>
            <a:picLocks noChangeAspect="1" noChangeArrowheads="1"/>
          </p:cNvPicPr>
          <p:nvPr/>
        </p:nvPicPr>
        <p:blipFill>
          <a:blip r:embed="rId2" cstate="print">
            <a:lum contrast="30000"/>
            <a:extLst>
              <a:ext uri="{28A0092B-C50C-407E-A947-70E740481C1C}">
                <a14:useLocalDpi xmlns:a14="http://schemas.microsoft.com/office/drawing/2010/main" val="0"/>
              </a:ext>
            </a:extLst>
          </a:blip>
          <a:srcRect/>
          <a:stretch>
            <a:fillRect/>
          </a:stretch>
        </p:blipFill>
        <p:spPr bwMode="auto">
          <a:xfrm>
            <a:off x="2362200" y="152400"/>
            <a:ext cx="4276725" cy="655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0075519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1842" name="Picture 3" descr="catabol">
            <a:extLst>
              <a:ext uri="{FF2B5EF4-FFF2-40B4-BE49-F238E27FC236}">
                <a16:creationId xmlns:a16="http://schemas.microsoft.com/office/drawing/2014/main" id="{D57A6E00-5C92-48D1-ACF5-F539D3E2139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71057" y="0"/>
            <a:ext cx="6248400" cy="585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1843" name="Rectangle 4">
            <a:extLst>
              <a:ext uri="{FF2B5EF4-FFF2-40B4-BE49-F238E27FC236}">
                <a16:creationId xmlns:a16="http://schemas.microsoft.com/office/drawing/2014/main" id="{612E1B03-1E8A-4109-A4DD-4D4B600A1C44}"/>
              </a:ext>
            </a:extLst>
          </p:cNvPr>
          <p:cNvSpPr>
            <a:spLocks noChangeArrowheads="1"/>
          </p:cNvSpPr>
          <p:nvPr/>
        </p:nvSpPr>
        <p:spPr bwMode="auto">
          <a:xfrm>
            <a:off x="251520" y="1844824"/>
            <a:ext cx="2840793"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1" dirty="0">
                <a:solidFill>
                  <a:srgbClr val="0070C0"/>
                </a:solidFill>
              </a:rPr>
              <a:t>Mitochondria is the major site for</a:t>
            </a:r>
          </a:p>
          <a:p>
            <a:pPr eaLnBrk="1" hangingPunct="1"/>
            <a:r>
              <a:rPr lang="en-US" altLang="zh-CN" sz="3200" b="1" dirty="0">
                <a:solidFill>
                  <a:srgbClr val="0070C0"/>
                </a:solidFill>
              </a:rPr>
              <a:t>fuel oxidation to generate ATP.</a:t>
            </a:r>
          </a:p>
        </p:txBody>
      </p:sp>
    </p:spTree>
    <p:extLst>
      <p:ext uri="{BB962C8B-B14F-4D97-AF65-F5344CB8AC3E}">
        <p14:creationId xmlns:p14="http://schemas.microsoft.com/office/powerpoint/2010/main" val="397714921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2">
            <a:extLst>
              <a:ext uri="{FF2B5EF4-FFF2-40B4-BE49-F238E27FC236}">
                <a16:creationId xmlns:a16="http://schemas.microsoft.com/office/drawing/2014/main" id="{845861CB-D588-4FCC-BE7D-DF45B832CDB3}"/>
              </a:ext>
            </a:extLst>
          </p:cNvPr>
          <p:cNvSpPr>
            <a:spLocks noGrp="1" noChangeArrowheads="1"/>
          </p:cNvSpPr>
          <p:nvPr>
            <p:ph type="title" idx="4294967295"/>
          </p:nvPr>
        </p:nvSpPr>
        <p:spPr>
          <a:xfrm>
            <a:off x="0" y="350838"/>
            <a:ext cx="8534400" cy="1935162"/>
          </a:xfrm>
        </p:spPr>
        <p:txBody>
          <a:bodyPr lIns="91440" tIns="45720" rIns="91440" bIns="45720" anchor="ctr"/>
          <a:lstStyle/>
          <a:p>
            <a:r>
              <a:rPr lang="en-US" altLang="zh-CN" dirty="0">
                <a:solidFill>
                  <a:srgbClr val="C00000"/>
                </a:solidFill>
              </a:rPr>
              <a:t>2. </a:t>
            </a:r>
            <a:r>
              <a:rPr lang="en-US" altLang="zh-CN" b="1" dirty="0">
                <a:solidFill>
                  <a:srgbClr val="C00000"/>
                </a:solidFill>
              </a:rPr>
              <a:t>Pyruvate is oxidized to acetyl-CoA by the catalysis of pyruvate dehydrogenase complex</a:t>
            </a:r>
          </a:p>
        </p:txBody>
      </p:sp>
      <p:sp>
        <p:nvSpPr>
          <p:cNvPr id="292867" name="Rectangle 3">
            <a:extLst>
              <a:ext uri="{FF2B5EF4-FFF2-40B4-BE49-F238E27FC236}">
                <a16:creationId xmlns:a16="http://schemas.microsoft.com/office/drawing/2014/main" id="{9D6EEBB1-A282-4BE1-A319-232E1BC3731E}"/>
              </a:ext>
            </a:extLst>
          </p:cNvPr>
          <p:cNvSpPr>
            <a:spLocks noGrp="1" noChangeArrowheads="1"/>
          </p:cNvSpPr>
          <p:nvPr>
            <p:ph type="body" idx="4294967295"/>
          </p:nvPr>
        </p:nvSpPr>
        <p:spPr>
          <a:xfrm>
            <a:off x="21907" y="2780928"/>
            <a:ext cx="9144000" cy="2438400"/>
          </a:xfrm>
        </p:spPr>
        <p:txBody>
          <a:bodyPr lIns="91440" tIns="45720" rIns="91440" bIns="45720"/>
          <a:lstStyle/>
          <a:p>
            <a:r>
              <a:rPr lang="en-US" altLang="zh-CN" dirty="0"/>
              <a:t>Pyruvate is first transported into mitochondria via a specific transporter on the inner membrane.</a:t>
            </a:r>
          </a:p>
          <a:p>
            <a:r>
              <a:rPr lang="en-US" altLang="zh-CN" dirty="0"/>
              <a:t>Pyruvate is converted to acetyl-CoA and CO</a:t>
            </a:r>
            <a:r>
              <a:rPr lang="en-US" altLang="zh-CN" baseline="-25000" dirty="0"/>
              <a:t>2</a:t>
            </a:r>
            <a:r>
              <a:rPr lang="en-US" altLang="zh-CN" dirty="0"/>
              <a:t> by oxidative decarboxylation.</a:t>
            </a:r>
          </a:p>
        </p:txBody>
      </p:sp>
    </p:spTree>
    <p:extLst>
      <p:ext uri="{BB962C8B-B14F-4D97-AF65-F5344CB8AC3E}">
        <p14:creationId xmlns:p14="http://schemas.microsoft.com/office/powerpoint/2010/main" val="149091774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Rectangle 2">
            <a:extLst>
              <a:ext uri="{FF2B5EF4-FFF2-40B4-BE49-F238E27FC236}">
                <a16:creationId xmlns:a16="http://schemas.microsoft.com/office/drawing/2014/main" id="{E3E01C4A-70F4-4859-9AF0-00699F8C25E8}"/>
              </a:ext>
            </a:extLst>
          </p:cNvPr>
          <p:cNvSpPr>
            <a:spLocks noChangeArrowheads="1"/>
          </p:cNvSpPr>
          <p:nvPr/>
        </p:nvSpPr>
        <p:spPr bwMode="auto">
          <a:xfrm>
            <a:off x="228600" y="4267200"/>
            <a:ext cx="873442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1" dirty="0">
                <a:solidFill>
                  <a:srgbClr val="C00000"/>
                </a:solidFill>
              </a:rPr>
              <a:t>The oxidative decarboxylation of pyruvate</a:t>
            </a:r>
          </a:p>
          <a:p>
            <a:pPr eaLnBrk="1" hangingPunct="1"/>
            <a:r>
              <a:rPr lang="en-US" altLang="zh-CN" sz="3200" b="1" dirty="0">
                <a:solidFill>
                  <a:srgbClr val="C00000"/>
                </a:solidFill>
              </a:rPr>
              <a:t>in mitochondria: producing acetyl-CoA and CO</a:t>
            </a:r>
            <a:r>
              <a:rPr lang="en-US" altLang="zh-CN" sz="3200" b="1" baseline="-25000" dirty="0">
                <a:solidFill>
                  <a:srgbClr val="C00000"/>
                </a:solidFill>
              </a:rPr>
              <a:t>2</a:t>
            </a:r>
            <a:r>
              <a:rPr lang="en-US" altLang="zh-CN" sz="3200" b="1" dirty="0">
                <a:solidFill>
                  <a:srgbClr val="C00000"/>
                </a:solidFill>
              </a:rPr>
              <a:t>.</a:t>
            </a:r>
          </a:p>
        </p:txBody>
      </p:sp>
      <p:pic>
        <p:nvPicPr>
          <p:cNvPr id="293891" name="Picture 4">
            <a:extLst>
              <a:ext uri="{FF2B5EF4-FFF2-40B4-BE49-F238E27FC236}">
                <a16:creationId xmlns:a16="http://schemas.microsoft.com/office/drawing/2014/main" id="{712309C3-B941-462A-8784-3DEC98EE764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9600" y="609600"/>
            <a:ext cx="8026400"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6247469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Text Box 2">
            <a:extLst>
              <a:ext uri="{FF2B5EF4-FFF2-40B4-BE49-F238E27FC236}">
                <a16:creationId xmlns:a16="http://schemas.microsoft.com/office/drawing/2014/main" id="{082587C2-94EE-4032-936F-FE76906E078C}"/>
              </a:ext>
            </a:extLst>
          </p:cNvPr>
          <p:cNvSpPr txBox="1">
            <a:spLocks noChangeArrowheads="1"/>
          </p:cNvSpPr>
          <p:nvPr/>
        </p:nvSpPr>
        <p:spPr bwMode="auto">
          <a:xfrm>
            <a:off x="152400" y="609600"/>
            <a:ext cx="8686800" cy="481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20000"/>
              </a:spcBef>
              <a:buFontTx/>
              <a:buChar char="•"/>
            </a:pPr>
            <a:r>
              <a:rPr lang="en-US" altLang="zh-CN" sz="3200" dirty="0"/>
              <a:t>The </a:t>
            </a:r>
            <a:r>
              <a:rPr lang="en-US" altLang="zh-CN" sz="3200" b="1" dirty="0">
                <a:solidFill>
                  <a:srgbClr val="0070C0"/>
                </a:solidFill>
              </a:rPr>
              <a:t>pyruvate dehydrogenase complex</a:t>
            </a:r>
            <a:r>
              <a:rPr lang="en-US" altLang="zh-CN" sz="3200" dirty="0">
                <a:solidFill>
                  <a:srgbClr val="0070C0"/>
                </a:solidFill>
              </a:rPr>
              <a:t> </a:t>
            </a:r>
            <a:r>
              <a:rPr lang="en-US" altLang="zh-CN" sz="3200" dirty="0"/>
              <a:t>is a huge multimeric assembly of three kinds of enzymes, having 60 subunits in bacteria and more in mammals.</a:t>
            </a:r>
          </a:p>
          <a:p>
            <a:pPr eaLnBrk="1" hangingPunct="1">
              <a:lnSpc>
                <a:spcPct val="130000"/>
              </a:lnSpc>
              <a:spcBef>
                <a:spcPct val="20000"/>
              </a:spcBef>
              <a:buFontTx/>
              <a:buChar char="•"/>
            </a:pPr>
            <a:r>
              <a:rPr lang="en-US" altLang="zh-CN" sz="3200" dirty="0"/>
              <a:t> </a:t>
            </a:r>
            <a:r>
              <a:rPr lang="en-US" altLang="zh-CN" sz="3200" b="1" dirty="0">
                <a:solidFill>
                  <a:srgbClr val="0070C0"/>
                </a:solidFill>
              </a:rPr>
              <a:t>pyruvate dehydrogenase (E</a:t>
            </a:r>
            <a:r>
              <a:rPr lang="en-US" altLang="zh-CN" sz="3200" b="1" baseline="-25000" dirty="0">
                <a:solidFill>
                  <a:srgbClr val="0070C0"/>
                </a:solidFill>
              </a:rPr>
              <a:t>1</a:t>
            </a:r>
            <a:r>
              <a:rPr lang="en-US" altLang="zh-CN" sz="3200" b="1" dirty="0">
                <a:solidFill>
                  <a:srgbClr val="0070C0"/>
                </a:solidFill>
              </a:rPr>
              <a:t>)</a:t>
            </a:r>
          </a:p>
          <a:p>
            <a:pPr eaLnBrk="1" hangingPunct="1">
              <a:lnSpc>
                <a:spcPct val="130000"/>
              </a:lnSpc>
              <a:spcBef>
                <a:spcPct val="20000"/>
              </a:spcBef>
              <a:buFontTx/>
              <a:buChar char="•"/>
            </a:pPr>
            <a:r>
              <a:rPr lang="en-US" altLang="zh-CN" sz="3200" b="1" dirty="0">
                <a:solidFill>
                  <a:srgbClr val="0070C0"/>
                </a:solidFill>
              </a:rPr>
              <a:t>dihydrolipoyl transacetylase (E</a:t>
            </a:r>
            <a:r>
              <a:rPr lang="en-US" altLang="zh-CN" sz="3200" b="1" baseline="-25000" dirty="0">
                <a:solidFill>
                  <a:srgbClr val="0070C0"/>
                </a:solidFill>
              </a:rPr>
              <a:t>2</a:t>
            </a:r>
            <a:r>
              <a:rPr lang="en-US" altLang="zh-CN" sz="3200" b="1" dirty="0">
                <a:solidFill>
                  <a:srgbClr val="0070C0"/>
                </a:solidFill>
              </a:rPr>
              <a:t>)</a:t>
            </a:r>
          </a:p>
          <a:p>
            <a:pPr eaLnBrk="1" hangingPunct="1">
              <a:lnSpc>
                <a:spcPct val="130000"/>
              </a:lnSpc>
              <a:spcBef>
                <a:spcPct val="20000"/>
              </a:spcBef>
              <a:buFontTx/>
              <a:buChar char="•"/>
            </a:pPr>
            <a:r>
              <a:rPr lang="en-US" altLang="zh-CN" sz="3200" b="1" dirty="0">
                <a:solidFill>
                  <a:srgbClr val="0070C0"/>
                </a:solidFill>
              </a:rPr>
              <a:t>dihydrolipoyl dehydrogenase (E</a:t>
            </a:r>
            <a:r>
              <a:rPr lang="en-US" altLang="zh-CN" sz="3200" b="1" baseline="-25000" dirty="0">
                <a:solidFill>
                  <a:srgbClr val="0070C0"/>
                </a:solidFill>
              </a:rPr>
              <a:t>3</a:t>
            </a:r>
            <a:r>
              <a:rPr lang="en-US" altLang="zh-CN" sz="3200" b="1" dirty="0">
                <a:solidFill>
                  <a:srgbClr val="0070C0"/>
                </a:solidFill>
              </a:rPr>
              <a:t>)</a:t>
            </a:r>
            <a:endParaRPr lang="en-US" altLang="zh-CN" sz="3200" dirty="0">
              <a:solidFill>
                <a:srgbClr val="0070C0"/>
              </a:solidFill>
            </a:endParaRPr>
          </a:p>
        </p:txBody>
      </p:sp>
    </p:spTree>
    <p:extLst>
      <p:ext uri="{BB962C8B-B14F-4D97-AF65-F5344CB8AC3E}">
        <p14:creationId xmlns:p14="http://schemas.microsoft.com/office/powerpoint/2010/main" val="355869234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Text Box 1026">
            <a:extLst>
              <a:ext uri="{FF2B5EF4-FFF2-40B4-BE49-F238E27FC236}">
                <a16:creationId xmlns:a16="http://schemas.microsoft.com/office/drawing/2014/main" id="{8C7BD268-E344-48EB-A440-6AFE28C9C2F5}"/>
              </a:ext>
            </a:extLst>
          </p:cNvPr>
          <p:cNvSpPr txBox="1">
            <a:spLocks noChangeArrowheads="1"/>
          </p:cNvSpPr>
          <p:nvPr/>
        </p:nvSpPr>
        <p:spPr bwMode="auto">
          <a:xfrm>
            <a:off x="451434" y="582540"/>
            <a:ext cx="8001000" cy="6217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600" b="1" dirty="0">
                <a:latin typeface="宋体" panose="02010600030101010101" pitchFamily="2" charset="-122"/>
              </a:rPr>
              <a:t>丙酮酸脱氢酶复合体</a:t>
            </a:r>
          </a:p>
          <a:p>
            <a:pPr eaLnBrk="1" hangingPunct="1">
              <a:spcBef>
                <a:spcPct val="50000"/>
              </a:spcBef>
            </a:pPr>
            <a:r>
              <a:rPr lang="en-US" altLang="zh-CN" sz="3600" dirty="0">
                <a:solidFill>
                  <a:srgbClr val="FF0000"/>
                </a:solidFill>
                <a:latin typeface="隶书" panose="02010509060101010101" pitchFamily="49" charset="-122"/>
                <a:ea typeface="隶书" panose="02010509060101010101" pitchFamily="49" charset="-122"/>
              </a:rPr>
              <a:t>E1: </a:t>
            </a:r>
            <a:r>
              <a:rPr lang="zh-CN" altLang="en-US" sz="3600" dirty="0">
                <a:solidFill>
                  <a:srgbClr val="FF0000"/>
                </a:solidFill>
                <a:latin typeface="隶书" panose="02010509060101010101" pitchFamily="49" charset="-122"/>
                <a:ea typeface="隶书" panose="02010509060101010101" pitchFamily="49" charset="-122"/>
              </a:rPr>
              <a:t>丙酮酸脱氢酶组分</a:t>
            </a:r>
            <a:r>
              <a:rPr lang="zh-CN" altLang="en-US" sz="2000" dirty="0">
                <a:solidFill>
                  <a:srgbClr val="FF0000"/>
                </a:solidFill>
                <a:latin typeface="隶书" panose="02010509060101010101" pitchFamily="49" charset="-122"/>
                <a:ea typeface="隶书" panose="02010509060101010101" pitchFamily="49" charset="-122"/>
              </a:rPr>
              <a:t>（</a:t>
            </a:r>
            <a:r>
              <a:rPr lang="en-US" altLang="zh-CN" sz="2000" b="1" dirty="0">
                <a:solidFill>
                  <a:srgbClr val="0070C0"/>
                </a:solidFill>
              </a:rPr>
              <a:t> pyruvate dehydrogenase </a:t>
            </a:r>
            <a:r>
              <a:rPr lang="zh-CN" altLang="en-US" sz="2000" dirty="0">
                <a:solidFill>
                  <a:srgbClr val="FF0000"/>
                </a:solidFill>
                <a:latin typeface="隶书" panose="02010509060101010101" pitchFamily="49" charset="-122"/>
                <a:ea typeface="隶书" panose="02010509060101010101" pitchFamily="49" charset="-122"/>
              </a:rPr>
              <a:t>）</a:t>
            </a:r>
            <a:endParaRPr lang="zh-CN" altLang="en-US" sz="3600" dirty="0">
              <a:solidFill>
                <a:srgbClr val="FF0000"/>
              </a:solidFill>
              <a:latin typeface="隶书" panose="02010509060101010101" pitchFamily="49" charset="-122"/>
              <a:ea typeface="隶书" panose="02010509060101010101" pitchFamily="49" charset="-122"/>
            </a:endParaRPr>
          </a:p>
          <a:p>
            <a:pPr eaLnBrk="1" hangingPunct="1">
              <a:spcBef>
                <a:spcPct val="50000"/>
              </a:spcBef>
            </a:pPr>
            <a:r>
              <a:rPr lang="en-US" altLang="zh-CN" sz="3600" dirty="0">
                <a:solidFill>
                  <a:srgbClr val="FF0000"/>
                </a:solidFill>
                <a:latin typeface="隶书" panose="02010509060101010101" pitchFamily="49" charset="-122"/>
                <a:ea typeface="隶书" panose="02010509060101010101" pitchFamily="49" charset="-122"/>
              </a:rPr>
              <a:t>E2</a:t>
            </a:r>
            <a:r>
              <a:rPr lang="zh-CN" altLang="en-US" sz="3600" dirty="0">
                <a:solidFill>
                  <a:srgbClr val="FF0000"/>
                </a:solidFill>
                <a:latin typeface="隶书" panose="02010509060101010101" pitchFamily="49" charset="-122"/>
                <a:ea typeface="隶书" panose="02010509060101010101" pitchFamily="49" charset="-122"/>
              </a:rPr>
              <a:t>：二氢硫辛酸转乙酰基酶</a:t>
            </a:r>
            <a:endParaRPr lang="en-US" altLang="zh-CN" sz="3600" dirty="0">
              <a:solidFill>
                <a:srgbClr val="FF0000"/>
              </a:solidFill>
              <a:latin typeface="隶书" panose="02010509060101010101" pitchFamily="49" charset="-122"/>
              <a:ea typeface="隶书" panose="02010509060101010101" pitchFamily="49" charset="-122"/>
            </a:endParaRPr>
          </a:p>
          <a:p>
            <a:pPr eaLnBrk="1" hangingPunct="1">
              <a:spcBef>
                <a:spcPts val="0"/>
              </a:spcBef>
            </a:pPr>
            <a:r>
              <a:rPr lang="zh-CN" altLang="en-US" sz="2000" dirty="0">
                <a:solidFill>
                  <a:srgbClr val="FF0000"/>
                </a:solidFill>
                <a:latin typeface="隶书" panose="02010509060101010101" pitchFamily="49" charset="-122"/>
                <a:ea typeface="隶书" panose="02010509060101010101" pitchFamily="49" charset="-122"/>
              </a:rPr>
              <a:t>     （</a:t>
            </a:r>
            <a:r>
              <a:rPr lang="en-US" altLang="zh-CN" sz="2000" b="1" dirty="0">
                <a:solidFill>
                  <a:srgbClr val="0070C0"/>
                </a:solidFill>
              </a:rPr>
              <a:t> </a:t>
            </a:r>
            <a:r>
              <a:rPr lang="en-US" altLang="zh-CN" sz="2000" b="1" dirty="0" err="1">
                <a:solidFill>
                  <a:srgbClr val="0070C0"/>
                </a:solidFill>
              </a:rPr>
              <a:t>dihydrolipoyl</a:t>
            </a:r>
            <a:r>
              <a:rPr lang="en-US" altLang="zh-CN" sz="2000" b="1" dirty="0">
                <a:solidFill>
                  <a:srgbClr val="0070C0"/>
                </a:solidFill>
              </a:rPr>
              <a:t> transacetylase </a:t>
            </a:r>
            <a:r>
              <a:rPr lang="zh-CN" altLang="en-US" sz="2000" dirty="0">
                <a:solidFill>
                  <a:srgbClr val="FF0000"/>
                </a:solidFill>
                <a:latin typeface="隶书" panose="02010509060101010101" pitchFamily="49" charset="-122"/>
                <a:ea typeface="隶书" panose="02010509060101010101" pitchFamily="49" charset="-122"/>
              </a:rPr>
              <a:t>）</a:t>
            </a:r>
            <a:endParaRPr lang="zh-CN" altLang="en-US" dirty="0">
              <a:solidFill>
                <a:srgbClr val="FF0000"/>
              </a:solidFill>
              <a:latin typeface="隶书" panose="02010509060101010101" pitchFamily="49" charset="-122"/>
              <a:ea typeface="隶书" panose="02010509060101010101" pitchFamily="49" charset="-122"/>
            </a:endParaRPr>
          </a:p>
          <a:p>
            <a:pPr eaLnBrk="1" hangingPunct="1">
              <a:spcBef>
                <a:spcPct val="50000"/>
              </a:spcBef>
            </a:pPr>
            <a:r>
              <a:rPr lang="en-US" altLang="zh-CN" sz="3600" dirty="0">
                <a:solidFill>
                  <a:srgbClr val="FF0000"/>
                </a:solidFill>
                <a:latin typeface="隶书" panose="02010509060101010101" pitchFamily="49" charset="-122"/>
                <a:ea typeface="隶书" panose="02010509060101010101" pitchFamily="49" charset="-122"/>
              </a:rPr>
              <a:t>E3</a:t>
            </a:r>
            <a:r>
              <a:rPr lang="zh-CN" altLang="en-US" sz="3600" dirty="0">
                <a:solidFill>
                  <a:srgbClr val="FF0000"/>
                </a:solidFill>
                <a:latin typeface="隶书" panose="02010509060101010101" pitchFamily="49" charset="-122"/>
                <a:ea typeface="隶书" panose="02010509060101010101" pitchFamily="49" charset="-122"/>
              </a:rPr>
              <a:t>：二氢硫辛酸脱氢酶</a:t>
            </a:r>
            <a:endParaRPr lang="en-US" altLang="zh-CN" sz="3600" dirty="0">
              <a:solidFill>
                <a:srgbClr val="FF0000"/>
              </a:solidFill>
              <a:latin typeface="隶书" panose="02010509060101010101" pitchFamily="49" charset="-122"/>
              <a:ea typeface="隶书" panose="02010509060101010101" pitchFamily="49" charset="-122"/>
            </a:endParaRPr>
          </a:p>
          <a:p>
            <a:pPr eaLnBrk="1" hangingPunct="1">
              <a:spcBef>
                <a:spcPts val="0"/>
              </a:spcBef>
            </a:pPr>
            <a:r>
              <a:rPr lang="en-US" altLang="zh-CN" sz="3600" dirty="0">
                <a:solidFill>
                  <a:srgbClr val="FF0000"/>
                </a:solidFill>
                <a:latin typeface="隶书" panose="02010509060101010101" pitchFamily="49" charset="-122"/>
                <a:ea typeface="隶书" panose="02010509060101010101" pitchFamily="49" charset="-122"/>
              </a:rPr>
              <a:t>   </a:t>
            </a:r>
            <a:r>
              <a:rPr lang="zh-CN" altLang="en-US" sz="2000" dirty="0">
                <a:solidFill>
                  <a:srgbClr val="FF0000"/>
                </a:solidFill>
                <a:latin typeface="隶书" panose="02010509060101010101" pitchFamily="49" charset="-122"/>
                <a:ea typeface="隶书" panose="02010509060101010101" pitchFamily="49" charset="-122"/>
              </a:rPr>
              <a:t>（</a:t>
            </a:r>
            <a:r>
              <a:rPr lang="en-US" altLang="zh-CN" sz="2000" b="1" dirty="0">
                <a:solidFill>
                  <a:srgbClr val="0070C0"/>
                </a:solidFill>
              </a:rPr>
              <a:t> </a:t>
            </a:r>
            <a:r>
              <a:rPr lang="en-US" altLang="zh-CN" sz="2000" b="1" dirty="0" err="1">
                <a:solidFill>
                  <a:srgbClr val="0070C0"/>
                </a:solidFill>
              </a:rPr>
              <a:t>dihydrolipoyl</a:t>
            </a:r>
            <a:r>
              <a:rPr lang="en-US" altLang="zh-CN" sz="2000" b="1" dirty="0">
                <a:solidFill>
                  <a:srgbClr val="0070C0"/>
                </a:solidFill>
              </a:rPr>
              <a:t> dehydrogenase </a:t>
            </a:r>
            <a:r>
              <a:rPr lang="zh-CN" altLang="en-US" sz="2000" dirty="0">
                <a:solidFill>
                  <a:srgbClr val="FF0000"/>
                </a:solidFill>
                <a:latin typeface="隶书" panose="02010509060101010101" pitchFamily="49" charset="-122"/>
                <a:ea typeface="隶书" panose="02010509060101010101" pitchFamily="49" charset="-122"/>
              </a:rPr>
              <a:t>）</a:t>
            </a:r>
            <a:endParaRPr lang="en-US" altLang="zh-CN" sz="2000" dirty="0">
              <a:solidFill>
                <a:srgbClr val="FF0000"/>
              </a:solidFill>
              <a:latin typeface="隶书" panose="02010509060101010101" pitchFamily="49" charset="-122"/>
              <a:ea typeface="隶书" panose="02010509060101010101" pitchFamily="49" charset="-122"/>
            </a:endParaRPr>
          </a:p>
          <a:p>
            <a:r>
              <a:rPr lang="zh-CN" altLang="en-US" sz="3600" dirty="0">
                <a:solidFill>
                  <a:schemeClr val="tx1"/>
                </a:solidFill>
                <a:effectLst>
                  <a:outerShdw blurRad="38100" dist="38100" dir="2700000" algn="tl">
                    <a:srgbClr val="C0C0C0"/>
                  </a:outerShdw>
                </a:effectLst>
              </a:rPr>
              <a:t>辅因子：</a:t>
            </a:r>
            <a:r>
              <a:rPr lang="en-US" altLang="zh-CN" sz="3600" dirty="0">
                <a:solidFill>
                  <a:schemeClr val="tx1"/>
                </a:solidFill>
              </a:rPr>
              <a:t>CoA-SH, NADH,</a:t>
            </a:r>
            <a:r>
              <a:rPr lang="zh-CN" altLang="en-US" sz="3600" dirty="0">
                <a:solidFill>
                  <a:schemeClr val="tx1"/>
                </a:solidFill>
              </a:rPr>
              <a:t>硫辛酸</a:t>
            </a:r>
            <a:endParaRPr lang="zh-CN" altLang="en-US" sz="3600" baseline="30000" dirty="0">
              <a:solidFill>
                <a:schemeClr val="tx1"/>
              </a:solidFill>
            </a:endParaRPr>
          </a:p>
          <a:p>
            <a:r>
              <a:rPr lang="en-US" altLang="zh-CN" sz="3600" b="0" dirty="0">
                <a:solidFill>
                  <a:schemeClr val="tx1"/>
                </a:solidFill>
              </a:rPr>
              <a:t>FAD</a:t>
            </a:r>
            <a:r>
              <a:rPr lang="zh-CN" altLang="en-US" sz="3600" b="0" dirty="0">
                <a:solidFill>
                  <a:schemeClr val="tx1"/>
                </a:solidFill>
              </a:rPr>
              <a:t>，</a:t>
            </a:r>
            <a:r>
              <a:rPr lang="en-US" altLang="zh-CN" sz="3600" b="0" dirty="0">
                <a:solidFill>
                  <a:schemeClr val="tx1"/>
                </a:solidFill>
              </a:rPr>
              <a:t>TPP</a:t>
            </a:r>
            <a:r>
              <a:rPr lang="zh-CN" altLang="en-US" sz="3600" b="0" dirty="0">
                <a:solidFill>
                  <a:schemeClr val="tx1"/>
                </a:solidFill>
              </a:rPr>
              <a:t>，</a:t>
            </a:r>
          </a:p>
          <a:p>
            <a:pPr>
              <a:spcBef>
                <a:spcPct val="0"/>
              </a:spcBef>
            </a:pPr>
            <a:r>
              <a:rPr lang="en-US" altLang="zh-CN" sz="3600" dirty="0">
                <a:solidFill>
                  <a:schemeClr val="tx1"/>
                </a:solidFill>
              </a:rPr>
              <a:t>Mg </a:t>
            </a:r>
            <a:r>
              <a:rPr lang="en-US" altLang="zh-CN" sz="3600" baseline="30000" dirty="0">
                <a:solidFill>
                  <a:schemeClr val="tx1"/>
                </a:solidFill>
              </a:rPr>
              <a:t>2</a:t>
            </a:r>
            <a:r>
              <a:rPr lang="zh-CN" altLang="en-US" sz="3600" baseline="30000" dirty="0">
                <a:solidFill>
                  <a:schemeClr val="tx1"/>
                </a:solidFill>
              </a:rPr>
              <a:t>＋</a:t>
            </a:r>
          </a:p>
          <a:p>
            <a:pPr eaLnBrk="1" hangingPunct="1">
              <a:spcBef>
                <a:spcPts val="0"/>
              </a:spcBef>
            </a:pPr>
            <a:endParaRPr lang="zh-CN" altLang="en-US" sz="3600" dirty="0">
              <a:solidFill>
                <a:srgbClr val="FF0000"/>
              </a:solidFill>
              <a:latin typeface="隶书" panose="02010509060101010101" pitchFamily="49" charset="-122"/>
              <a:ea typeface="隶书" panose="02010509060101010101" pitchFamily="49" charset="-122"/>
            </a:endParaRPr>
          </a:p>
        </p:txBody>
      </p:sp>
      <p:sp>
        <p:nvSpPr>
          <p:cNvPr id="4" name="Text Box 86">
            <a:extLst>
              <a:ext uri="{FF2B5EF4-FFF2-40B4-BE49-F238E27FC236}">
                <a16:creationId xmlns:a16="http://schemas.microsoft.com/office/drawing/2014/main" id="{C63A630C-A6BA-4BC8-AD23-F8388309A655}"/>
              </a:ext>
            </a:extLst>
          </p:cNvPr>
          <p:cNvSpPr txBox="1">
            <a:spLocks noChangeArrowheads="1"/>
          </p:cNvSpPr>
          <p:nvPr/>
        </p:nvSpPr>
        <p:spPr bwMode="auto">
          <a:xfrm>
            <a:off x="3995267" y="4941168"/>
            <a:ext cx="1008062" cy="276999"/>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baseline="30000" dirty="0">
              <a:solidFill>
                <a:schemeClr val="tx1"/>
              </a:solidFill>
            </a:endParaRPr>
          </a:p>
        </p:txBody>
      </p:sp>
      <p:sp>
        <p:nvSpPr>
          <p:cNvPr id="6" name="Text Box 88">
            <a:extLst>
              <a:ext uri="{FF2B5EF4-FFF2-40B4-BE49-F238E27FC236}">
                <a16:creationId xmlns:a16="http://schemas.microsoft.com/office/drawing/2014/main" id="{C191CFEF-C4AE-4E03-8A07-DDF80A896110}"/>
              </a:ext>
            </a:extLst>
          </p:cNvPr>
          <p:cNvSpPr txBox="1">
            <a:spLocks noChangeArrowheads="1"/>
          </p:cNvSpPr>
          <p:nvPr/>
        </p:nvSpPr>
        <p:spPr bwMode="auto">
          <a:xfrm>
            <a:off x="611560" y="4842743"/>
            <a:ext cx="468052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sz="2400" dirty="0">
              <a:solidFill>
                <a:schemeClr val="tx1"/>
              </a:solidFill>
              <a:effectLst>
                <a:outerShdw blurRad="38100" dist="38100" dir="2700000" algn="tl">
                  <a:srgbClr val="C0C0C0"/>
                </a:outerShdw>
              </a:effectLst>
            </a:endParaRPr>
          </a:p>
        </p:txBody>
      </p:sp>
      <p:sp>
        <p:nvSpPr>
          <p:cNvPr id="7" name="Text Box 90">
            <a:extLst>
              <a:ext uri="{FF2B5EF4-FFF2-40B4-BE49-F238E27FC236}">
                <a16:creationId xmlns:a16="http://schemas.microsoft.com/office/drawing/2014/main" id="{F19254D3-23D7-4EA5-A3B0-9EAD58AF28D2}"/>
              </a:ext>
            </a:extLst>
          </p:cNvPr>
          <p:cNvSpPr txBox="1">
            <a:spLocks noChangeArrowheads="1"/>
          </p:cNvSpPr>
          <p:nvPr/>
        </p:nvSpPr>
        <p:spPr bwMode="auto">
          <a:xfrm>
            <a:off x="5652120" y="6275460"/>
            <a:ext cx="30241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sz="2400" b="0" dirty="0">
              <a:solidFill>
                <a:schemeClr val="tx1"/>
              </a:solidFill>
            </a:endParaRPr>
          </a:p>
        </p:txBody>
      </p:sp>
    </p:spTree>
    <p:extLst>
      <p:ext uri="{BB962C8B-B14F-4D97-AF65-F5344CB8AC3E}">
        <p14:creationId xmlns:p14="http://schemas.microsoft.com/office/powerpoint/2010/main" val="4187576556"/>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7986" name="Picture 2" descr="15-5b">
            <a:extLst>
              <a:ext uri="{FF2B5EF4-FFF2-40B4-BE49-F238E27FC236}">
                <a16:creationId xmlns:a16="http://schemas.microsoft.com/office/drawing/2014/main" id="{55E4FC74-183C-414F-A3AB-33090368056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1560" y="980728"/>
            <a:ext cx="3805808" cy="4165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a:extLst>
              <a:ext uri="{FF2B5EF4-FFF2-40B4-BE49-F238E27FC236}">
                <a16:creationId xmlns:a16="http://schemas.microsoft.com/office/drawing/2014/main" id="{0AA99271-9067-4429-9F53-5C68F04E8F6E}"/>
              </a:ext>
            </a:extLst>
          </p:cNvPr>
          <p:cNvPicPr>
            <a:picLocks noChangeAspect="1"/>
          </p:cNvPicPr>
          <p:nvPr/>
        </p:nvPicPr>
        <p:blipFill>
          <a:blip r:embed="rId3" cstate="print"/>
          <a:stretch>
            <a:fillRect/>
          </a:stretch>
        </p:blipFill>
        <p:spPr>
          <a:xfrm>
            <a:off x="4430552" y="973425"/>
            <a:ext cx="4544639" cy="4173119"/>
          </a:xfrm>
          <a:prstGeom prst="rect">
            <a:avLst/>
          </a:prstGeom>
        </p:spPr>
      </p:pic>
    </p:spTree>
    <p:extLst>
      <p:ext uri="{BB962C8B-B14F-4D97-AF65-F5344CB8AC3E}">
        <p14:creationId xmlns:p14="http://schemas.microsoft.com/office/powerpoint/2010/main" val="161119037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9010" name="Picture 2">
            <a:extLst>
              <a:ext uri="{FF2B5EF4-FFF2-40B4-BE49-F238E27FC236}">
                <a16:creationId xmlns:a16="http://schemas.microsoft.com/office/drawing/2014/main" id="{5137CBB5-81D7-4830-A8DA-4AB2BE58F7B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00200" y="304800"/>
            <a:ext cx="58928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6695283"/>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2263F78B-A21D-4D11-BB57-5FA8585650B1}"/>
              </a:ext>
            </a:extLst>
          </p:cNvPr>
          <p:cNvPicPr>
            <a:picLocks noChangeAspect="1"/>
          </p:cNvPicPr>
          <p:nvPr/>
        </p:nvPicPr>
        <p:blipFill>
          <a:blip r:embed="rId3" cstate="print"/>
          <a:stretch>
            <a:fillRect/>
          </a:stretch>
        </p:blipFill>
        <p:spPr>
          <a:xfrm>
            <a:off x="107504" y="260648"/>
            <a:ext cx="8967837" cy="5141560"/>
          </a:xfrm>
          <a:prstGeom prst="rect">
            <a:avLst/>
          </a:prstGeom>
        </p:spPr>
      </p:pic>
      <p:sp>
        <p:nvSpPr>
          <p:cNvPr id="3" name="Rectangle 4">
            <a:extLst>
              <a:ext uri="{FF2B5EF4-FFF2-40B4-BE49-F238E27FC236}">
                <a16:creationId xmlns:a16="http://schemas.microsoft.com/office/drawing/2014/main" id="{2FA88136-A9A0-4265-821F-0C63354A193E}"/>
              </a:ext>
            </a:extLst>
          </p:cNvPr>
          <p:cNvSpPr>
            <a:spLocks noChangeArrowheads="1"/>
          </p:cNvSpPr>
          <p:nvPr/>
        </p:nvSpPr>
        <p:spPr bwMode="auto">
          <a:xfrm>
            <a:off x="11112" y="5435178"/>
            <a:ext cx="9132888" cy="946150"/>
          </a:xfrm>
          <a:prstGeom prst="rect">
            <a:avLst/>
          </a:prstGeom>
          <a:solidFill>
            <a:schemeClr val="bg1"/>
          </a:solidFill>
          <a:ln>
            <a:noFill/>
          </a:ln>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solidFill>
                  <a:srgbClr val="0070C0"/>
                </a:solidFill>
              </a:rPr>
              <a:t>The oxidative decarboxylation of pyruvate is catalyzed by</a:t>
            </a:r>
          </a:p>
          <a:p>
            <a:pPr eaLnBrk="1" hangingPunct="1"/>
            <a:r>
              <a:rPr lang="en-US" altLang="zh-CN" sz="2800" b="1" dirty="0">
                <a:solidFill>
                  <a:srgbClr val="0070C0"/>
                </a:solidFill>
              </a:rPr>
              <a:t>a multienzyme complex: pyruvate dehydrogenase complex.</a:t>
            </a:r>
          </a:p>
        </p:txBody>
      </p:sp>
    </p:spTree>
    <p:extLst>
      <p:ext uri="{BB962C8B-B14F-4D97-AF65-F5344CB8AC3E}">
        <p14:creationId xmlns:p14="http://schemas.microsoft.com/office/powerpoint/2010/main" val="228763236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84FF942C-B217-4893-A996-94310FC51F8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71206" y="1695208"/>
            <a:ext cx="6001588" cy="3467584"/>
          </a:xfrm>
          <a:prstGeom prst="rect">
            <a:avLst/>
          </a:prstGeom>
        </p:spPr>
      </p:pic>
      <p:sp>
        <p:nvSpPr>
          <p:cNvPr id="6" name="矩形 5">
            <a:extLst>
              <a:ext uri="{FF2B5EF4-FFF2-40B4-BE49-F238E27FC236}">
                <a16:creationId xmlns:a16="http://schemas.microsoft.com/office/drawing/2014/main" id="{63B99EE1-8C63-4FBF-AC06-15B636FB0178}"/>
              </a:ext>
            </a:extLst>
          </p:cNvPr>
          <p:cNvSpPr/>
          <p:nvPr/>
        </p:nvSpPr>
        <p:spPr>
          <a:xfrm>
            <a:off x="1115616" y="548680"/>
            <a:ext cx="4572000" cy="646331"/>
          </a:xfrm>
          <a:prstGeom prst="rect">
            <a:avLst/>
          </a:prstGeom>
        </p:spPr>
        <p:txBody>
          <a:bodyPr>
            <a:spAutoFit/>
          </a:bodyPr>
          <a:lstStyle/>
          <a:p>
            <a:r>
              <a:rPr lang="en-US" altLang="zh-CN" dirty="0">
                <a:solidFill>
                  <a:srgbClr val="231F20"/>
                </a:solidFill>
                <a:latin typeface="Century-Light"/>
              </a:rPr>
              <a:t>thiamine pyrophosphate (TPP)</a:t>
            </a:r>
          </a:p>
          <a:p>
            <a:r>
              <a:rPr lang="zh-CN" altLang="en-US" b="1" dirty="0"/>
              <a:t>焦磷酸硫胺素</a:t>
            </a:r>
          </a:p>
        </p:txBody>
      </p:sp>
      <p:sp>
        <p:nvSpPr>
          <p:cNvPr id="7" name="文本框 6">
            <a:extLst>
              <a:ext uri="{FF2B5EF4-FFF2-40B4-BE49-F238E27FC236}">
                <a16:creationId xmlns:a16="http://schemas.microsoft.com/office/drawing/2014/main" id="{EE5FC013-3243-41B6-962F-501FB685E453}"/>
              </a:ext>
            </a:extLst>
          </p:cNvPr>
          <p:cNvSpPr txBox="1"/>
          <p:nvPr/>
        </p:nvSpPr>
        <p:spPr>
          <a:xfrm>
            <a:off x="5868144" y="594846"/>
            <a:ext cx="2016224" cy="646331"/>
          </a:xfrm>
          <a:prstGeom prst="rect">
            <a:avLst/>
          </a:prstGeom>
          <a:noFill/>
        </p:spPr>
        <p:txBody>
          <a:bodyPr wrap="square" rtlCol="0">
            <a:spAutoFit/>
          </a:bodyPr>
          <a:lstStyle/>
          <a:p>
            <a:r>
              <a:rPr lang="en-US" altLang="zh-CN" b="1" dirty="0"/>
              <a:t>Confusing</a:t>
            </a:r>
            <a:r>
              <a:rPr lang="en-US" altLang="zh-CN" dirty="0"/>
              <a:t> with</a:t>
            </a:r>
            <a:br>
              <a:rPr lang="en-US" altLang="zh-CN" dirty="0"/>
            </a:br>
            <a:r>
              <a:rPr lang="en-US" altLang="zh-CN" dirty="0"/>
              <a:t>base T Thymine</a:t>
            </a:r>
            <a:endParaRPr lang="zh-CN" altLang="en-US" dirty="0"/>
          </a:p>
        </p:txBody>
      </p:sp>
    </p:spTree>
    <p:extLst>
      <p:ext uri="{BB962C8B-B14F-4D97-AF65-F5344CB8AC3E}">
        <p14:creationId xmlns:p14="http://schemas.microsoft.com/office/powerpoint/2010/main" val="1317731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20266DD0-BE7B-4C06-8AB4-04E6F2FD89CD}"/>
              </a:ext>
            </a:extLst>
          </p:cNvPr>
          <p:cNvPicPr>
            <a:picLocks noChangeAspect="1"/>
          </p:cNvPicPr>
          <p:nvPr/>
        </p:nvPicPr>
        <p:blipFill>
          <a:blip r:embed="rId2" cstate="print"/>
          <a:stretch>
            <a:fillRect/>
          </a:stretch>
        </p:blipFill>
        <p:spPr>
          <a:xfrm>
            <a:off x="1619672" y="332656"/>
            <a:ext cx="5383715" cy="5029147"/>
          </a:xfrm>
          <a:prstGeom prst="rect">
            <a:avLst/>
          </a:prstGeom>
        </p:spPr>
      </p:pic>
      <p:sp>
        <p:nvSpPr>
          <p:cNvPr id="3" name="矩形 2">
            <a:extLst>
              <a:ext uri="{FF2B5EF4-FFF2-40B4-BE49-F238E27FC236}">
                <a16:creationId xmlns:a16="http://schemas.microsoft.com/office/drawing/2014/main" id="{D6E137CE-0ACB-4198-A59E-8C4BADE2C265}"/>
              </a:ext>
            </a:extLst>
          </p:cNvPr>
          <p:cNvSpPr/>
          <p:nvPr/>
        </p:nvSpPr>
        <p:spPr>
          <a:xfrm>
            <a:off x="1639348" y="5661248"/>
            <a:ext cx="5760640" cy="923330"/>
          </a:xfrm>
          <a:prstGeom prst="rect">
            <a:avLst/>
          </a:prstGeom>
        </p:spPr>
        <p:txBody>
          <a:bodyPr wrap="square">
            <a:spAutoFit/>
          </a:bodyPr>
          <a:lstStyle/>
          <a:p>
            <a:r>
              <a:rPr lang="en-US" altLang="zh-CN" b="1" dirty="0">
                <a:solidFill>
                  <a:srgbClr val="231F20"/>
                </a:solidFill>
                <a:latin typeface="Optima-Bold"/>
              </a:rPr>
              <a:t>Lipoic acid (lipoate) in amide linkage with a Lys residue.</a:t>
            </a:r>
          </a:p>
          <a:p>
            <a:r>
              <a:rPr lang="zh-CN" altLang="en-US" b="1" dirty="0"/>
              <a:t>硫辛酸</a:t>
            </a:r>
            <a:br>
              <a:rPr lang="en-US" altLang="zh-CN" dirty="0"/>
            </a:br>
            <a:endParaRPr lang="zh-CN" altLang="en-US" dirty="0"/>
          </a:p>
        </p:txBody>
      </p:sp>
    </p:spTree>
    <p:extLst>
      <p:ext uri="{BB962C8B-B14F-4D97-AF65-F5344CB8AC3E}">
        <p14:creationId xmlns:p14="http://schemas.microsoft.com/office/powerpoint/2010/main" val="127646031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Rectangle 3">
            <a:extLst>
              <a:ext uri="{FF2B5EF4-FFF2-40B4-BE49-F238E27FC236}">
                <a16:creationId xmlns:a16="http://schemas.microsoft.com/office/drawing/2014/main" id="{AA037EC0-E1E3-4F96-8350-27A07405B595}"/>
              </a:ext>
            </a:extLst>
          </p:cNvPr>
          <p:cNvSpPr>
            <a:spLocks noChangeArrowheads="1"/>
          </p:cNvSpPr>
          <p:nvPr/>
        </p:nvSpPr>
        <p:spPr bwMode="auto">
          <a:xfrm>
            <a:off x="228600" y="4114800"/>
            <a:ext cx="8031163" cy="204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dirty="0"/>
              <a:t>Coenzyme A (CoA-SH): discovered in 1945 by </a:t>
            </a:r>
          </a:p>
          <a:p>
            <a:pPr eaLnBrk="1" hangingPunct="1"/>
            <a:r>
              <a:rPr lang="en-US" altLang="zh-CN" sz="3200" dirty="0"/>
              <a:t>Lipmann, one of the “carrier molecules”, </a:t>
            </a:r>
          </a:p>
          <a:p>
            <a:pPr eaLnBrk="1" hangingPunct="1"/>
            <a:r>
              <a:rPr lang="en-US" altLang="zh-CN" sz="3200" dirty="0"/>
              <a:t>deliver activated acyl groups (with 2-24</a:t>
            </a:r>
          </a:p>
          <a:p>
            <a:pPr eaLnBrk="1" hangingPunct="1"/>
            <a:r>
              <a:rPr lang="en-US" altLang="zh-CN" sz="3200" dirty="0"/>
              <a:t>Carbons) for degradation or biosynthesis.</a:t>
            </a:r>
          </a:p>
        </p:txBody>
      </p:sp>
      <p:pic>
        <p:nvPicPr>
          <p:cNvPr id="301059" name="Picture 4">
            <a:extLst>
              <a:ext uri="{FF2B5EF4-FFF2-40B4-BE49-F238E27FC236}">
                <a16:creationId xmlns:a16="http://schemas.microsoft.com/office/drawing/2014/main" id="{5DA06C1A-3A8A-452D-A4DA-82E85BEBBAD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8600" y="304800"/>
            <a:ext cx="8915400" cy="372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50314331"/>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Rectangle 2">
            <a:extLst>
              <a:ext uri="{FF2B5EF4-FFF2-40B4-BE49-F238E27FC236}">
                <a16:creationId xmlns:a16="http://schemas.microsoft.com/office/drawing/2014/main" id="{D2E65C54-D20B-4E15-BDD9-E48A53E5A680}"/>
              </a:ext>
            </a:extLst>
          </p:cNvPr>
          <p:cNvSpPr>
            <a:spLocks noGrp="1" noChangeArrowheads="1"/>
          </p:cNvSpPr>
          <p:nvPr>
            <p:ph type="title" idx="4294967295"/>
          </p:nvPr>
        </p:nvSpPr>
        <p:spPr>
          <a:xfrm flipV="1">
            <a:off x="0" y="-53975"/>
            <a:ext cx="7772400" cy="106363"/>
          </a:xfrm>
        </p:spPr>
        <p:txBody>
          <a:bodyPr lIns="91440" tIns="45720" rIns="91440" bIns="45720" anchor="ctr"/>
          <a:lstStyle/>
          <a:p>
            <a:r>
              <a:rPr lang="en-US" altLang="zh-CN"/>
              <a:t> </a:t>
            </a:r>
          </a:p>
        </p:txBody>
      </p:sp>
      <p:sp>
        <p:nvSpPr>
          <p:cNvPr id="302083" name="Rectangle 3">
            <a:extLst>
              <a:ext uri="{FF2B5EF4-FFF2-40B4-BE49-F238E27FC236}">
                <a16:creationId xmlns:a16="http://schemas.microsoft.com/office/drawing/2014/main" id="{190756E4-E145-4273-9972-159ADEF68BE9}"/>
              </a:ext>
            </a:extLst>
          </p:cNvPr>
          <p:cNvSpPr>
            <a:spLocks noGrp="1" noChangeArrowheads="1"/>
          </p:cNvSpPr>
          <p:nvPr>
            <p:ph type="body" idx="4294967295"/>
          </p:nvPr>
        </p:nvSpPr>
        <p:spPr>
          <a:xfrm>
            <a:off x="0" y="2132856"/>
            <a:ext cx="9144000" cy="4114800"/>
          </a:xfrm>
        </p:spPr>
        <p:txBody>
          <a:bodyPr lIns="91440" tIns="45720" rIns="91440" bIns="45720"/>
          <a:lstStyle/>
          <a:p>
            <a:pPr>
              <a:lnSpc>
                <a:spcPct val="90000"/>
              </a:lnSpc>
            </a:pPr>
            <a:r>
              <a:rPr lang="en-US" altLang="zh-CN" sz="2800" dirty="0"/>
              <a:t>Hans Krebs proposed the “citric acid cycle” for the complete oxidation of pyruvate in animal tissues in 1937 (he wrongly hypothesized that pyruvate condenses with oxaloacetate in his original proposal).</a:t>
            </a:r>
          </a:p>
          <a:p>
            <a:pPr>
              <a:lnSpc>
                <a:spcPct val="90000"/>
              </a:lnSpc>
            </a:pPr>
            <a:r>
              <a:rPr lang="en-US" altLang="zh-CN" sz="2800" dirty="0"/>
              <a:t>The citric acid cycle was confirmed to be universal in cells by </a:t>
            </a:r>
            <a:r>
              <a:rPr lang="en-US" altLang="zh-CN" sz="2800" i="1" dirty="0"/>
              <a:t>in vitro</a:t>
            </a:r>
            <a:r>
              <a:rPr lang="en-US" altLang="zh-CN" sz="2800" dirty="0"/>
              <a:t> studies with purified enzymes and </a:t>
            </a:r>
            <a:r>
              <a:rPr lang="en-US" altLang="zh-CN" sz="2800" i="1" dirty="0"/>
              <a:t>in vivo</a:t>
            </a:r>
            <a:r>
              <a:rPr lang="en-US" altLang="zh-CN" sz="2800" dirty="0"/>
              <a:t> studies with radio isotopes (“radio isotope tracer experiments”).</a:t>
            </a:r>
          </a:p>
          <a:p>
            <a:pPr>
              <a:lnSpc>
                <a:spcPct val="90000"/>
              </a:lnSpc>
            </a:pPr>
            <a:r>
              <a:rPr lang="en-US" altLang="zh-CN" sz="2800" dirty="0"/>
              <a:t>Krebs was awarded the Nobel prize in medicine in 1953 for revealing the citric acid cycle (thus also called the Krebs cycle).</a:t>
            </a:r>
          </a:p>
        </p:txBody>
      </p:sp>
      <p:sp>
        <p:nvSpPr>
          <p:cNvPr id="302084" name="Rectangle 4">
            <a:extLst>
              <a:ext uri="{FF2B5EF4-FFF2-40B4-BE49-F238E27FC236}">
                <a16:creationId xmlns:a16="http://schemas.microsoft.com/office/drawing/2014/main" id="{8DE88EF8-0899-4C78-8910-4D49DCA240F9}"/>
              </a:ext>
            </a:extLst>
          </p:cNvPr>
          <p:cNvSpPr>
            <a:spLocks noChangeArrowheads="1"/>
          </p:cNvSpPr>
          <p:nvPr/>
        </p:nvSpPr>
        <p:spPr bwMode="auto">
          <a:xfrm>
            <a:off x="0" y="0"/>
            <a:ext cx="9144000" cy="193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4400" dirty="0">
                <a:solidFill>
                  <a:srgbClr val="C00000"/>
                </a:solidFill>
              </a:rPr>
              <a:t>3. The complete oxidation of pyruvate in animal tissues was proposed to undergo via a cyclic pathway</a:t>
            </a:r>
          </a:p>
        </p:txBody>
      </p:sp>
    </p:spTree>
    <p:extLst>
      <p:ext uri="{BB962C8B-B14F-4D97-AF65-F5344CB8AC3E}">
        <p14:creationId xmlns:p14="http://schemas.microsoft.com/office/powerpoint/2010/main" val="98929065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3106" name="Picture 2" descr="krebs">
            <a:extLst>
              <a:ext uri="{FF2B5EF4-FFF2-40B4-BE49-F238E27FC236}">
                <a16:creationId xmlns:a16="http://schemas.microsoft.com/office/drawing/2014/main" id="{E8F90BAD-FA91-4081-91FD-144AA7C3E11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469900"/>
            <a:ext cx="9144000" cy="608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8106710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Rectangle 2">
            <a:extLst>
              <a:ext uri="{FF2B5EF4-FFF2-40B4-BE49-F238E27FC236}">
                <a16:creationId xmlns:a16="http://schemas.microsoft.com/office/drawing/2014/main" id="{E2A6769D-F2F2-4560-B0F9-9B7D9DD38025}"/>
              </a:ext>
            </a:extLst>
          </p:cNvPr>
          <p:cNvSpPr>
            <a:spLocks noGrp="1" noChangeArrowheads="1"/>
          </p:cNvSpPr>
          <p:nvPr>
            <p:ph type="title" idx="4294967295"/>
          </p:nvPr>
        </p:nvSpPr>
        <p:spPr>
          <a:xfrm>
            <a:off x="0" y="609600"/>
            <a:ext cx="8534400" cy="1143000"/>
          </a:xfrm>
        </p:spPr>
        <p:txBody>
          <a:bodyPr lIns="91440" tIns="45720" rIns="91440" bIns="45720" anchor="ctr"/>
          <a:lstStyle/>
          <a:p>
            <a:r>
              <a:rPr lang="en-US" altLang="zh-CN" dirty="0">
                <a:solidFill>
                  <a:srgbClr val="C00000"/>
                </a:solidFill>
              </a:rPr>
              <a:t>4. The acetyl group (carried by CoA) is completely oxidized to CO</a:t>
            </a:r>
            <a:r>
              <a:rPr lang="en-US" altLang="zh-CN" baseline="-25000" dirty="0">
                <a:solidFill>
                  <a:srgbClr val="C00000"/>
                </a:solidFill>
              </a:rPr>
              <a:t>2</a:t>
            </a:r>
            <a:r>
              <a:rPr lang="en-US" altLang="zh-CN" dirty="0">
                <a:solidFill>
                  <a:srgbClr val="C00000"/>
                </a:solidFill>
              </a:rPr>
              <a:t> via the citric acid cycle</a:t>
            </a:r>
          </a:p>
        </p:txBody>
      </p:sp>
      <p:sp>
        <p:nvSpPr>
          <p:cNvPr id="304131" name="Rectangle 3">
            <a:extLst>
              <a:ext uri="{FF2B5EF4-FFF2-40B4-BE49-F238E27FC236}">
                <a16:creationId xmlns:a16="http://schemas.microsoft.com/office/drawing/2014/main" id="{E16590D8-7C4A-4CEA-9FA4-7CFEA31C6D62}"/>
              </a:ext>
            </a:extLst>
          </p:cNvPr>
          <p:cNvSpPr>
            <a:spLocks noGrp="1" noChangeArrowheads="1"/>
          </p:cNvSpPr>
          <p:nvPr>
            <p:ph type="body" idx="4294967295"/>
          </p:nvPr>
        </p:nvSpPr>
        <p:spPr>
          <a:xfrm>
            <a:off x="304800" y="2410544"/>
            <a:ext cx="8839200" cy="4114800"/>
          </a:xfrm>
        </p:spPr>
        <p:txBody>
          <a:bodyPr lIns="91440" tIns="45720" rIns="91440" bIns="45720"/>
          <a:lstStyle/>
          <a:p>
            <a:r>
              <a:rPr lang="en-US" altLang="zh-CN" sz="2800" dirty="0"/>
              <a:t>The 4-carbon oxaloacetate (</a:t>
            </a:r>
            <a:r>
              <a:rPr lang="zh-CN" altLang="en-US" sz="2800" dirty="0">
                <a:ea typeface="隶书" panose="02010509060101010101" pitchFamily="49" charset="-122"/>
              </a:rPr>
              <a:t>草酰乙酸</a:t>
            </a:r>
            <a:r>
              <a:rPr lang="en-US" altLang="zh-CN" sz="2800" dirty="0"/>
              <a:t>) acts as the “carrier” for the oxidation.</a:t>
            </a:r>
          </a:p>
          <a:p>
            <a:r>
              <a:rPr lang="en-US" altLang="zh-CN" sz="2800" dirty="0"/>
              <a:t>The two carbons released as 2 CO</a:t>
            </a:r>
            <a:r>
              <a:rPr lang="en-US" altLang="zh-CN" sz="2800" baseline="-25000" dirty="0"/>
              <a:t>2 </a:t>
            </a:r>
            <a:r>
              <a:rPr lang="en-US" altLang="zh-CN" sz="2800" dirty="0"/>
              <a:t>in the first cycle of oxidation are not from the acetyl-CoA just joined.</a:t>
            </a:r>
          </a:p>
          <a:p>
            <a:r>
              <a:rPr lang="en-US" altLang="zh-CN" sz="2800" dirty="0"/>
              <a:t>The  8 electrons released are collected by three NAD</a:t>
            </a:r>
            <a:r>
              <a:rPr lang="en-US" altLang="zh-CN" sz="2800" baseline="30000" dirty="0"/>
              <a:t>+</a:t>
            </a:r>
            <a:r>
              <a:rPr lang="en-US" altLang="zh-CN" sz="2800" dirty="0"/>
              <a:t> and one FAD.</a:t>
            </a:r>
          </a:p>
          <a:p>
            <a:r>
              <a:rPr lang="en-US" altLang="zh-CN" sz="2800" dirty="0"/>
              <a:t>One molecule of ATP (or </a:t>
            </a:r>
            <a:r>
              <a:rPr lang="en-US" altLang="zh-CN" sz="2800" dirty="0" err="1"/>
              <a:t>GTP</a:t>
            </a:r>
            <a:r>
              <a:rPr lang="en-US" altLang="zh-CN" sz="2800" dirty="0"/>
              <a:t>) is produced per cycle by substrate-level phosphorylation.</a:t>
            </a:r>
          </a:p>
        </p:txBody>
      </p:sp>
    </p:spTree>
    <p:extLst>
      <p:ext uri="{BB962C8B-B14F-4D97-AF65-F5344CB8AC3E}">
        <p14:creationId xmlns:p14="http://schemas.microsoft.com/office/powerpoint/2010/main" val="389342505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5154" name="Picture 2" descr="tca">
            <a:extLst>
              <a:ext uri="{FF2B5EF4-FFF2-40B4-BE49-F238E27FC236}">
                <a16:creationId xmlns:a16="http://schemas.microsoft.com/office/drawing/2014/main" id="{E4FE4D60-6237-4DCB-A508-2B4951337F9B}"/>
              </a:ext>
            </a:extLst>
          </p:cNvPr>
          <p:cNvPicPr>
            <a:picLocks noChangeAspect="1" noChangeArrowheads="1"/>
          </p:cNvPicPr>
          <p:nvPr/>
        </p:nvPicPr>
        <p:blipFill>
          <a:blip r:embed="rId2" cstate="print">
            <a:lum contrast="12000"/>
            <a:extLst>
              <a:ext uri="{28A0092B-C50C-407E-A947-70E740481C1C}">
                <a14:useLocalDpi xmlns:a14="http://schemas.microsoft.com/office/drawing/2010/main" val="0"/>
              </a:ext>
            </a:extLst>
          </a:blip>
          <a:srcRect/>
          <a:stretch>
            <a:fillRect/>
          </a:stretch>
        </p:blipFill>
        <p:spPr bwMode="auto">
          <a:xfrm>
            <a:off x="0" y="0"/>
            <a:ext cx="9144000" cy="669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93648629"/>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6178" name="Picture 10">
            <a:extLst>
              <a:ext uri="{FF2B5EF4-FFF2-40B4-BE49-F238E27FC236}">
                <a16:creationId xmlns:a16="http://schemas.microsoft.com/office/drawing/2014/main" id="{59EF9225-7D51-4DE9-9A49-9CDF40468A7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00" y="0"/>
            <a:ext cx="65944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6179" name="Rectangle 12">
            <a:extLst>
              <a:ext uri="{FF2B5EF4-FFF2-40B4-BE49-F238E27FC236}">
                <a16:creationId xmlns:a16="http://schemas.microsoft.com/office/drawing/2014/main" id="{EE3B18CD-9EA3-414A-941A-368D8C4F6E31}"/>
              </a:ext>
            </a:extLst>
          </p:cNvPr>
          <p:cNvSpPr>
            <a:spLocks noChangeArrowheads="1"/>
          </p:cNvSpPr>
          <p:nvPr/>
        </p:nvSpPr>
        <p:spPr bwMode="auto">
          <a:xfrm>
            <a:off x="7321550" y="0"/>
            <a:ext cx="182245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dirty="0">
                <a:solidFill>
                  <a:srgbClr val="C00000"/>
                </a:solidFill>
              </a:rPr>
              <a:t>The citric</a:t>
            </a:r>
          </a:p>
          <a:p>
            <a:pPr eaLnBrk="1" hangingPunct="1">
              <a:spcBef>
                <a:spcPct val="50000"/>
              </a:spcBef>
            </a:pPr>
            <a:r>
              <a:rPr lang="en-US" altLang="zh-CN" sz="3200" dirty="0">
                <a:solidFill>
                  <a:srgbClr val="C00000"/>
                </a:solidFill>
              </a:rPr>
              <a:t>acid cycle</a:t>
            </a:r>
          </a:p>
        </p:txBody>
      </p:sp>
    </p:spTree>
    <p:extLst>
      <p:ext uri="{BB962C8B-B14F-4D97-AF65-F5344CB8AC3E}">
        <p14:creationId xmlns:p14="http://schemas.microsoft.com/office/powerpoint/2010/main" val="2308314036"/>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2">
            <a:extLst>
              <a:ext uri="{FF2B5EF4-FFF2-40B4-BE49-F238E27FC236}">
                <a16:creationId xmlns:a16="http://schemas.microsoft.com/office/drawing/2014/main" id="{6A84DD55-0129-4519-944F-35380EB40FE1}"/>
              </a:ext>
            </a:extLst>
          </p:cNvPr>
          <p:cNvSpPr>
            <a:spLocks noGrp="1" noChangeArrowheads="1"/>
          </p:cNvSpPr>
          <p:nvPr>
            <p:ph type="title" idx="4294967295"/>
          </p:nvPr>
        </p:nvSpPr>
        <p:spPr>
          <a:xfrm>
            <a:off x="4572000" y="1844824"/>
            <a:ext cx="0" cy="0"/>
          </a:xfrm>
        </p:spPr>
        <p:txBody>
          <a:bodyPr lIns="91440" tIns="45720" rIns="91440" bIns="45720" anchor="ctr"/>
          <a:lstStyle/>
          <a:p>
            <a:endParaRPr lang="en-US" altLang="zh-CN" dirty="0">
              <a:solidFill>
                <a:srgbClr val="C00000"/>
              </a:solidFill>
            </a:endParaRPr>
          </a:p>
        </p:txBody>
      </p:sp>
      <p:sp>
        <p:nvSpPr>
          <p:cNvPr id="307203" name="Rectangle 3">
            <a:extLst>
              <a:ext uri="{FF2B5EF4-FFF2-40B4-BE49-F238E27FC236}">
                <a16:creationId xmlns:a16="http://schemas.microsoft.com/office/drawing/2014/main" id="{4AD715E6-1BD0-4C7E-B076-58498D7B3CEF}"/>
              </a:ext>
            </a:extLst>
          </p:cNvPr>
          <p:cNvSpPr>
            <a:spLocks noGrp="1" noChangeArrowheads="1"/>
          </p:cNvSpPr>
          <p:nvPr>
            <p:ph type="body" idx="4294967295"/>
          </p:nvPr>
        </p:nvSpPr>
        <p:spPr>
          <a:xfrm>
            <a:off x="107504" y="3140968"/>
            <a:ext cx="9144000" cy="2667000"/>
          </a:xfrm>
        </p:spPr>
        <p:txBody>
          <a:bodyPr lIns="91440" tIns="45720" rIns="91440" bIns="45720"/>
          <a:lstStyle/>
          <a:p>
            <a:r>
              <a:rPr lang="en-US" altLang="zh-CN" b="1" dirty="0">
                <a:solidFill>
                  <a:srgbClr val="C00000"/>
                </a:solidFill>
              </a:rPr>
              <a:t>Step 1</a:t>
            </a:r>
          </a:p>
          <a:p>
            <a:r>
              <a:rPr lang="en-US" altLang="zh-CN" b="1" dirty="0">
                <a:solidFill>
                  <a:srgbClr val="C00000"/>
                </a:solidFill>
              </a:rPr>
              <a:t>Citrate (6C) is formed from the irreversible condensation of acetyl CoA (2C) and oxaloacetate (4C) – catalyzed by citrate synthase.</a:t>
            </a:r>
            <a:endParaRPr lang="en-US" altLang="zh-CN" dirty="0">
              <a:solidFill>
                <a:srgbClr val="C00000"/>
              </a:solidFill>
            </a:endParaRPr>
          </a:p>
        </p:txBody>
      </p:sp>
      <p:sp>
        <p:nvSpPr>
          <p:cNvPr id="2" name="文本框 1">
            <a:extLst>
              <a:ext uri="{FF2B5EF4-FFF2-40B4-BE49-F238E27FC236}">
                <a16:creationId xmlns:a16="http://schemas.microsoft.com/office/drawing/2014/main" id="{95EE0A24-2E4D-43A5-97B1-52C691B3F00D}"/>
              </a:ext>
            </a:extLst>
          </p:cNvPr>
          <p:cNvSpPr txBox="1"/>
          <p:nvPr/>
        </p:nvSpPr>
        <p:spPr>
          <a:xfrm>
            <a:off x="1259632" y="1196752"/>
            <a:ext cx="7128792" cy="1200329"/>
          </a:xfrm>
          <a:prstGeom prst="rect">
            <a:avLst/>
          </a:prstGeom>
          <a:noFill/>
        </p:spPr>
        <p:txBody>
          <a:bodyPr wrap="square" rtlCol="0">
            <a:spAutoFit/>
          </a:bodyPr>
          <a:lstStyle/>
          <a:p>
            <a:r>
              <a:rPr lang="en-US" altLang="zh-CN" sz="3600" dirty="0">
                <a:solidFill>
                  <a:srgbClr val="C00000"/>
                </a:solidFill>
              </a:rPr>
              <a:t>5. The citric acid cycle consists </a:t>
            </a:r>
            <a:br>
              <a:rPr lang="en-US" altLang="zh-CN" sz="3600" dirty="0">
                <a:solidFill>
                  <a:srgbClr val="C00000"/>
                </a:solidFill>
              </a:rPr>
            </a:br>
            <a:r>
              <a:rPr lang="en-US" altLang="zh-CN" sz="3600" dirty="0">
                <a:solidFill>
                  <a:srgbClr val="C00000"/>
                </a:solidFill>
              </a:rPr>
              <a:t>of eight successive reactions</a:t>
            </a:r>
            <a:endParaRPr lang="zh-CN" altLang="en-US" sz="3600" dirty="0"/>
          </a:p>
        </p:txBody>
      </p:sp>
    </p:spTree>
    <p:extLst>
      <p:ext uri="{BB962C8B-B14F-4D97-AF65-F5344CB8AC3E}">
        <p14:creationId xmlns:p14="http://schemas.microsoft.com/office/powerpoint/2010/main" val="240385365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226" name="Picture 4">
            <a:extLst>
              <a:ext uri="{FF2B5EF4-FFF2-40B4-BE49-F238E27FC236}">
                <a16:creationId xmlns:a16="http://schemas.microsoft.com/office/drawing/2014/main" id="{DE7490FF-28A7-43CD-8CDE-D2B07B4CDE1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0825" y="692150"/>
            <a:ext cx="8748713" cy="426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379233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9250" name="Picture 2">
            <a:extLst>
              <a:ext uri="{FF2B5EF4-FFF2-40B4-BE49-F238E27FC236}">
                <a16:creationId xmlns:a16="http://schemas.microsoft.com/office/drawing/2014/main" id="{53E68033-6D6F-4D30-9D82-3DA7728FD85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1033463"/>
            <a:ext cx="9067800" cy="3386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61327858"/>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2">
            <a:extLst>
              <a:ext uri="{FF2B5EF4-FFF2-40B4-BE49-F238E27FC236}">
                <a16:creationId xmlns:a16="http://schemas.microsoft.com/office/drawing/2014/main" id="{AAF18094-CEF7-4F8E-A47D-6E2620BF146E}"/>
              </a:ext>
            </a:extLst>
          </p:cNvPr>
          <p:cNvSpPr>
            <a:spLocks noGrp="1" noChangeArrowheads="1"/>
          </p:cNvSpPr>
          <p:nvPr>
            <p:ph type="title" idx="4294967295"/>
          </p:nvPr>
        </p:nvSpPr>
        <p:spPr>
          <a:xfrm flipV="1">
            <a:off x="0" y="0"/>
            <a:ext cx="7772400" cy="106363"/>
          </a:xfrm>
        </p:spPr>
        <p:txBody>
          <a:bodyPr lIns="91440" tIns="45720" rIns="91440" bIns="45720" anchor="ctr"/>
          <a:lstStyle/>
          <a:p>
            <a:r>
              <a:rPr lang="en-US" altLang="zh-CN"/>
              <a:t> </a:t>
            </a:r>
          </a:p>
        </p:txBody>
      </p:sp>
      <p:sp>
        <p:nvSpPr>
          <p:cNvPr id="310275" name="Rectangle 3">
            <a:extLst>
              <a:ext uri="{FF2B5EF4-FFF2-40B4-BE49-F238E27FC236}">
                <a16:creationId xmlns:a16="http://schemas.microsoft.com/office/drawing/2014/main" id="{A998DD6A-EEF7-4067-B762-F1EA271F3219}"/>
              </a:ext>
            </a:extLst>
          </p:cNvPr>
          <p:cNvSpPr>
            <a:spLocks noGrp="1" noChangeArrowheads="1"/>
          </p:cNvSpPr>
          <p:nvPr>
            <p:ph type="body" idx="4294967295"/>
          </p:nvPr>
        </p:nvSpPr>
        <p:spPr>
          <a:xfrm>
            <a:off x="0" y="1143000"/>
            <a:ext cx="9144000" cy="4114800"/>
          </a:xfrm>
        </p:spPr>
        <p:txBody>
          <a:bodyPr lIns="91440" tIns="45720" rIns="91440" bIns="45720"/>
          <a:lstStyle/>
          <a:p>
            <a:r>
              <a:rPr lang="en-US" altLang="zh-CN" b="1" dirty="0">
                <a:solidFill>
                  <a:srgbClr val="C00000"/>
                </a:solidFill>
              </a:rPr>
              <a:t>Step 2</a:t>
            </a:r>
            <a:r>
              <a:rPr lang="en-US" altLang="zh-CN" dirty="0">
                <a:solidFill>
                  <a:srgbClr val="C00000"/>
                </a:solidFill>
              </a:rPr>
              <a:t>  </a:t>
            </a:r>
            <a:r>
              <a:rPr lang="en-US" altLang="zh-CN" dirty="0"/>
              <a:t>Citrate is isomerized into </a:t>
            </a:r>
            <a:r>
              <a:rPr lang="en-US" altLang="zh-CN" dirty="0">
                <a:solidFill>
                  <a:srgbClr val="0070C0"/>
                </a:solidFill>
              </a:rPr>
              <a:t>isocitrate</a:t>
            </a:r>
            <a:r>
              <a:rPr lang="en-US" altLang="zh-CN" dirty="0"/>
              <a:t> via a dehydration step followed by a hydration step; </a:t>
            </a:r>
            <a:r>
              <a:rPr lang="en-US" altLang="zh-CN" i="1" dirty="0"/>
              <a:t>cis</a:t>
            </a:r>
            <a:r>
              <a:rPr lang="en-US" altLang="zh-CN" dirty="0"/>
              <a:t>-aconitate (</a:t>
            </a:r>
            <a:r>
              <a:rPr lang="zh-CN" altLang="en-US" dirty="0">
                <a:ea typeface="华文新魏" panose="02010800040101010101" pitchFamily="2" charset="-122"/>
              </a:rPr>
              <a:t>顺乌头酸</a:t>
            </a:r>
            <a:r>
              <a:rPr lang="en-US" altLang="zh-CN" dirty="0"/>
              <a:t>) is an intermediate during this transformation, thus the catalytic enzyme is named as </a:t>
            </a:r>
            <a:r>
              <a:rPr lang="en-US" altLang="zh-CN" dirty="0">
                <a:solidFill>
                  <a:srgbClr val="0070C0"/>
                </a:solidFill>
              </a:rPr>
              <a:t>aconitase</a:t>
            </a:r>
            <a:r>
              <a:rPr lang="en-US" altLang="zh-CN" dirty="0"/>
              <a:t>.</a:t>
            </a:r>
          </a:p>
        </p:txBody>
      </p:sp>
    </p:spTree>
    <p:extLst>
      <p:ext uri="{BB962C8B-B14F-4D97-AF65-F5344CB8AC3E}">
        <p14:creationId xmlns:p14="http://schemas.microsoft.com/office/powerpoint/2010/main" val="1605751029"/>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1298" name="Picture 4">
            <a:extLst>
              <a:ext uri="{FF2B5EF4-FFF2-40B4-BE49-F238E27FC236}">
                <a16:creationId xmlns:a16="http://schemas.microsoft.com/office/drawing/2014/main" id="{40F9EC0C-4873-4FE6-B005-7692414FFF1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19250" y="115888"/>
            <a:ext cx="4930775" cy="666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74398599"/>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2322" name="Picture 2">
            <a:extLst>
              <a:ext uri="{FF2B5EF4-FFF2-40B4-BE49-F238E27FC236}">
                <a16:creationId xmlns:a16="http://schemas.microsoft.com/office/drawing/2014/main" id="{D003FBFF-539F-4A55-B2A9-7E9A152129C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600" y="1828800"/>
            <a:ext cx="8890000" cy="309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02616710"/>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Text Box 2">
            <a:extLst>
              <a:ext uri="{FF2B5EF4-FFF2-40B4-BE49-F238E27FC236}">
                <a16:creationId xmlns:a16="http://schemas.microsoft.com/office/drawing/2014/main" id="{1A317608-E88C-48CF-A55D-0D3478E50DAB}"/>
              </a:ext>
            </a:extLst>
          </p:cNvPr>
          <p:cNvSpPr txBox="1">
            <a:spLocks noChangeArrowheads="1"/>
          </p:cNvSpPr>
          <p:nvPr/>
        </p:nvSpPr>
        <p:spPr bwMode="auto">
          <a:xfrm>
            <a:off x="304800" y="609600"/>
            <a:ext cx="8534400" cy="2603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buFontTx/>
              <a:buChar char="•"/>
            </a:pPr>
            <a:r>
              <a:rPr lang="en-US" altLang="zh-CN" sz="3200" b="1" dirty="0">
                <a:solidFill>
                  <a:srgbClr val="C00000"/>
                </a:solidFill>
              </a:rPr>
              <a:t>Step 3</a:t>
            </a:r>
            <a:r>
              <a:rPr lang="en-US" altLang="zh-CN" sz="3200" dirty="0">
                <a:solidFill>
                  <a:srgbClr val="C00000"/>
                </a:solidFill>
              </a:rPr>
              <a:t>  </a:t>
            </a:r>
            <a:r>
              <a:rPr lang="en-US" altLang="zh-CN" sz="3200" dirty="0"/>
              <a:t>Isocitrate is </a:t>
            </a:r>
            <a:r>
              <a:rPr lang="en-US" altLang="zh-CN" sz="3200" b="1" dirty="0">
                <a:solidFill>
                  <a:srgbClr val="0000FF"/>
                </a:solidFill>
              </a:rPr>
              <a:t>first oxidized </a:t>
            </a:r>
            <a:r>
              <a:rPr lang="en-US" altLang="zh-CN" sz="3200" dirty="0"/>
              <a:t>and </a:t>
            </a:r>
            <a:r>
              <a:rPr lang="en-US" altLang="zh-CN" sz="3200" b="1" dirty="0">
                <a:solidFill>
                  <a:srgbClr val="0000FF"/>
                </a:solidFill>
              </a:rPr>
              <a:t>then decarboxylated </a:t>
            </a:r>
            <a:r>
              <a:rPr lang="en-US" altLang="zh-CN" sz="3200" dirty="0"/>
              <a:t>to form </a:t>
            </a:r>
            <a:r>
              <a:rPr lang="en-US" altLang="zh-CN" sz="3200" b="1" dirty="0">
                <a:solidFill>
                  <a:srgbClr val="0000FF"/>
                </a:solidFill>
              </a:rPr>
              <a:t>a-ketoglutarate</a:t>
            </a:r>
            <a:r>
              <a:rPr lang="en-US" altLang="zh-CN" sz="3200" dirty="0"/>
              <a:t> (</a:t>
            </a:r>
            <a:r>
              <a:rPr lang="en-US" altLang="zh-CN" sz="3200" dirty="0">
                <a:latin typeface="隶书" panose="02010509060101010101" pitchFamily="49" charset="-122"/>
                <a:ea typeface="隶书" panose="02010509060101010101" pitchFamily="49" charset="-122"/>
                <a:sym typeface="Symbol" panose="05050102010706020507" pitchFamily="18" charset="2"/>
              </a:rPr>
              <a:t></a:t>
            </a:r>
            <a:r>
              <a:rPr lang="en-US" altLang="zh-CN" sz="3200" dirty="0">
                <a:latin typeface="隶书" panose="02010509060101010101" pitchFamily="49" charset="-122"/>
                <a:ea typeface="隶书" panose="02010509060101010101" pitchFamily="49" charset="-122"/>
              </a:rPr>
              <a:t>-</a:t>
            </a:r>
            <a:r>
              <a:rPr lang="zh-CN" altLang="en-US" sz="3200" dirty="0">
                <a:latin typeface="隶书" panose="02010509060101010101" pitchFamily="49" charset="-122"/>
                <a:ea typeface="隶书" panose="02010509060101010101" pitchFamily="49" charset="-122"/>
              </a:rPr>
              <a:t>酮戊二酸</a:t>
            </a:r>
            <a:r>
              <a:rPr lang="en-US" altLang="zh-CN" sz="3200" dirty="0"/>
              <a:t>); two electrons are collected by NAD</a:t>
            </a:r>
            <a:r>
              <a:rPr lang="en-US" altLang="zh-CN" sz="3200" baseline="30000" dirty="0"/>
              <a:t>+</a:t>
            </a:r>
            <a:r>
              <a:rPr lang="en-US" altLang="zh-CN" sz="3200" dirty="0"/>
              <a:t>; The reaction is catalyzed by </a:t>
            </a:r>
            <a:r>
              <a:rPr lang="en-US" altLang="zh-CN" sz="3200" dirty="0">
                <a:solidFill>
                  <a:srgbClr val="0070C0"/>
                </a:solidFill>
              </a:rPr>
              <a:t>isocitrate dehydrogenase</a:t>
            </a:r>
            <a:r>
              <a:rPr lang="en-US" altLang="zh-CN" sz="3200" dirty="0"/>
              <a:t>.</a:t>
            </a:r>
          </a:p>
          <a:p>
            <a:pPr eaLnBrk="1" hangingPunct="1">
              <a:spcBef>
                <a:spcPct val="50000"/>
              </a:spcBef>
            </a:pPr>
            <a:endParaRPr lang="en-US" altLang="zh-CN" sz="3200" dirty="0"/>
          </a:p>
        </p:txBody>
      </p:sp>
    </p:spTree>
    <p:extLst>
      <p:ext uri="{BB962C8B-B14F-4D97-AF65-F5344CB8AC3E}">
        <p14:creationId xmlns:p14="http://schemas.microsoft.com/office/powerpoint/2010/main" val="3748063247"/>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4370" name="Picture 5">
            <a:extLst>
              <a:ext uri="{FF2B5EF4-FFF2-40B4-BE49-F238E27FC236}">
                <a16:creationId xmlns:a16="http://schemas.microsoft.com/office/drawing/2014/main" id="{589DB164-B977-4D5E-B59E-A936E24D592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0825" y="188913"/>
            <a:ext cx="8604250" cy="6408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48924061"/>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5394" name="Picture 1026">
            <a:extLst>
              <a:ext uri="{FF2B5EF4-FFF2-40B4-BE49-F238E27FC236}">
                <a16:creationId xmlns:a16="http://schemas.microsoft.com/office/drawing/2014/main" id="{2FBF634F-2104-4095-BEAC-C55DFA7395F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000" y="228600"/>
            <a:ext cx="8458200" cy="331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5395" name="Rectangle 1027">
            <a:extLst>
              <a:ext uri="{FF2B5EF4-FFF2-40B4-BE49-F238E27FC236}">
                <a16:creationId xmlns:a16="http://schemas.microsoft.com/office/drawing/2014/main" id="{2622AA16-E42D-4488-AE2B-EFA080C6A711}"/>
              </a:ext>
            </a:extLst>
          </p:cNvPr>
          <p:cNvSpPr>
            <a:spLocks noChangeArrowheads="1"/>
          </p:cNvSpPr>
          <p:nvPr/>
        </p:nvSpPr>
        <p:spPr bwMode="auto">
          <a:xfrm>
            <a:off x="0" y="3719513"/>
            <a:ext cx="9005992"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1" dirty="0">
                <a:solidFill>
                  <a:srgbClr val="0070C0"/>
                </a:solidFill>
              </a:rPr>
              <a:t>Isocitrate is converted to </a:t>
            </a:r>
            <a:r>
              <a:rPr lang="en-US" altLang="zh-CN" sz="3200" b="1" dirty="0">
                <a:solidFill>
                  <a:srgbClr val="0070C0"/>
                </a:solidFill>
                <a:latin typeface="Symbol" panose="05050102010706020507" pitchFamily="18" charset="2"/>
              </a:rPr>
              <a:t>a</a:t>
            </a:r>
            <a:r>
              <a:rPr lang="en-US" altLang="zh-CN" sz="3200" b="1" dirty="0">
                <a:solidFill>
                  <a:srgbClr val="0070C0"/>
                </a:solidFill>
              </a:rPr>
              <a:t>-ketoglutarate via an </a:t>
            </a:r>
          </a:p>
          <a:p>
            <a:pPr eaLnBrk="1" hangingPunct="1"/>
            <a:r>
              <a:rPr lang="en-US" altLang="zh-CN" sz="3200" b="1" dirty="0">
                <a:solidFill>
                  <a:srgbClr val="0070C0"/>
                </a:solidFill>
              </a:rPr>
              <a:t>oxidative decarboxylation step, generating NADH </a:t>
            </a:r>
          </a:p>
          <a:p>
            <a:pPr eaLnBrk="1" hangingPunct="1"/>
            <a:r>
              <a:rPr lang="en-US" altLang="zh-CN" sz="3200" b="1" dirty="0">
                <a:solidFill>
                  <a:srgbClr val="0070C0"/>
                </a:solidFill>
              </a:rPr>
              <a:t>CO</a:t>
            </a:r>
            <a:r>
              <a:rPr lang="en-US" altLang="zh-CN" sz="3200" b="1" baseline="-25000" dirty="0">
                <a:solidFill>
                  <a:srgbClr val="0070C0"/>
                </a:solidFill>
              </a:rPr>
              <a:t>2</a:t>
            </a:r>
            <a:r>
              <a:rPr lang="en-US" altLang="zh-CN" sz="3200" b="1" dirty="0">
                <a:solidFill>
                  <a:srgbClr val="0070C0"/>
                </a:solidFill>
              </a:rPr>
              <a:t>.</a:t>
            </a:r>
          </a:p>
        </p:txBody>
      </p:sp>
      <p:sp>
        <p:nvSpPr>
          <p:cNvPr id="315396" name="Rectangle 1028">
            <a:extLst>
              <a:ext uri="{FF2B5EF4-FFF2-40B4-BE49-F238E27FC236}">
                <a16:creationId xmlns:a16="http://schemas.microsoft.com/office/drawing/2014/main" id="{C1A9A757-3D9A-49B4-9BD5-123BC10A16EA}"/>
              </a:ext>
            </a:extLst>
          </p:cNvPr>
          <p:cNvSpPr>
            <a:spLocks noChangeArrowheads="1"/>
          </p:cNvSpPr>
          <p:nvPr/>
        </p:nvSpPr>
        <p:spPr bwMode="auto">
          <a:xfrm>
            <a:off x="3182938" y="2254250"/>
            <a:ext cx="2227262"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i="1">
                <a:solidFill>
                  <a:srgbClr val="0000FF"/>
                </a:solidFill>
              </a:rPr>
              <a:t>The first </a:t>
            </a:r>
          </a:p>
          <a:p>
            <a:pPr eaLnBrk="1" hangingPunct="1"/>
            <a:r>
              <a:rPr lang="en-US" altLang="zh-CN" sz="2800" b="1" i="1">
                <a:solidFill>
                  <a:srgbClr val="0000FF"/>
                </a:solidFill>
              </a:rPr>
              <a:t>oxidation step</a:t>
            </a:r>
          </a:p>
        </p:txBody>
      </p:sp>
      <p:sp>
        <p:nvSpPr>
          <p:cNvPr id="2" name="矩形: 圆角 1">
            <a:extLst>
              <a:ext uri="{FF2B5EF4-FFF2-40B4-BE49-F238E27FC236}">
                <a16:creationId xmlns:a16="http://schemas.microsoft.com/office/drawing/2014/main" id="{81EEA060-79CB-4340-AFA5-DEFE4FBDD937}"/>
              </a:ext>
            </a:extLst>
          </p:cNvPr>
          <p:cNvSpPr/>
          <p:nvPr/>
        </p:nvSpPr>
        <p:spPr>
          <a:xfrm>
            <a:off x="6084168" y="980728"/>
            <a:ext cx="1296144" cy="1368152"/>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380581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Rectangle 3">
            <a:extLst>
              <a:ext uri="{FF2B5EF4-FFF2-40B4-BE49-F238E27FC236}">
                <a16:creationId xmlns:a16="http://schemas.microsoft.com/office/drawing/2014/main" id="{472F026E-7BB1-4C13-AE85-FDCCC7A63935}"/>
              </a:ext>
            </a:extLst>
          </p:cNvPr>
          <p:cNvSpPr>
            <a:spLocks noGrp="1" noChangeArrowheads="1"/>
          </p:cNvSpPr>
          <p:nvPr>
            <p:ph type="body" idx="4294967295"/>
          </p:nvPr>
        </p:nvSpPr>
        <p:spPr>
          <a:xfrm>
            <a:off x="0" y="609600"/>
            <a:ext cx="9144000" cy="4114800"/>
          </a:xfrm>
        </p:spPr>
        <p:txBody>
          <a:bodyPr lIns="91440" tIns="45720" rIns="91440" bIns="45720"/>
          <a:lstStyle/>
          <a:p>
            <a:r>
              <a:rPr lang="en-US" altLang="zh-CN" b="1" dirty="0">
                <a:solidFill>
                  <a:srgbClr val="C00000"/>
                </a:solidFill>
              </a:rPr>
              <a:t>Step 4</a:t>
            </a:r>
            <a:r>
              <a:rPr lang="en-US" altLang="zh-CN" dirty="0">
                <a:solidFill>
                  <a:srgbClr val="C00000"/>
                </a:solidFill>
              </a:rPr>
              <a:t>   </a:t>
            </a:r>
            <a:r>
              <a:rPr lang="en-US" altLang="zh-CN" dirty="0">
                <a:latin typeface="Symbol" panose="05050102010706020507" pitchFamily="18" charset="2"/>
              </a:rPr>
              <a:t>a</a:t>
            </a:r>
            <a:r>
              <a:rPr lang="en-US" altLang="zh-CN" dirty="0"/>
              <a:t>-ketoglutarate undergoes another round of oxidative decarboxylation; </a:t>
            </a:r>
            <a:r>
              <a:rPr lang="en-US" altLang="zh-CN" b="1" dirty="0">
                <a:solidFill>
                  <a:srgbClr val="0000FF"/>
                </a:solidFill>
              </a:rPr>
              <a:t>decarboxylated first</a:t>
            </a:r>
            <a:r>
              <a:rPr lang="en-US" altLang="zh-CN" dirty="0"/>
              <a:t>, </a:t>
            </a:r>
            <a:r>
              <a:rPr lang="en-US" altLang="zh-CN" b="1" dirty="0">
                <a:solidFill>
                  <a:srgbClr val="0000FF"/>
                </a:solidFill>
              </a:rPr>
              <a:t>then oxidized </a:t>
            </a:r>
            <a:r>
              <a:rPr lang="en-US" altLang="zh-CN" dirty="0"/>
              <a:t>to form </a:t>
            </a:r>
            <a:r>
              <a:rPr lang="en-US" altLang="zh-CN" b="1" dirty="0">
                <a:solidFill>
                  <a:srgbClr val="0000FF"/>
                </a:solidFill>
              </a:rPr>
              <a:t>succinyl-CoA</a:t>
            </a:r>
            <a:r>
              <a:rPr lang="en-US" altLang="zh-CN" dirty="0">
                <a:solidFill>
                  <a:srgbClr val="0070C0"/>
                </a:solidFill>
              </a:rPr>
              <a:t> </a:t>
            </a:r>
            <a:r>
              <a:rPr lang="en-US" altLang="zh-CN" dirty="0"/>
              <a:t>(</a:t>
            </a:r>
            <a:r>
              <a:rPr lang="zh-CN" altLang="en-US" dirty="0">
                <a:latin typeface="华文新魏" panose="02010800040101010101" pitchFamily="2" charset="-122"/>
                <a:ea typeface="华文新魏" panose="02010800040101010101" pitchFamily="2" charset="-122"/>
              </a:rPr>
              <a:t>琥珀酰辅酶</a:t>
            </a:r>
            <a:r>
              <a:rPr lang="en-US" altLang="zh-CN" dirty="0">
                <a:latin typeface="华文新魏" panose="02010800040101010101" pitchFamily="2" charset="-122"/>
                <a:ea typeface="华文新魏" panose="02010800040101010101" pitchFamily="2" charset="-122"/>
              </a:rPr>
              <a:t>A</a:t>
            </a:r>
            <a:r>
              <a:rPr lang="en-US" altLang="zh-CN" dirty="0"/>
              <a:t>); The reaction is catalyzed by </a:t>
            </a:r>
            <a:r>
              <a:rPr lang="en-US" altLang="zh-CN" b="1" dirty="0">
                <a:solidFill>
                  <a:srgbClr val="0000FF"/>
                </a:solidFill>
                <a:latin typeface="Symbol" panose="05050102010706020507" pitchFamily="18" charset="2"/>
              </a:rPr>
              <a:t>a</a:t>
            </a:r>
            <a:r>
              <a:rPr lang="en-US" altLang="zh-CN" b="1" dirty="0">
                <a:solidFill>
                  <a:srgbClr val="0000FF"/>
                </a:solidFill>
              </a:rPr>
              <a:t>-ketoglutarate dehydrogenase complex</a:t>
            </a:r>
            <a:r>
              <a:rPr lang="en-US" altLang="zh-CN" dirty="0"/>
              <a:t>; reactions and enzymes closely </a:t>
            </a:r>
            <a:r>
              <a:rPr lang="en-US" altLang="zh-CN" b="1" dirty="0">
                <a:solidFill>
                  <a:srgbClr val="0000FF"/>
                </a:solidFill>
              </a:rPr>
              <a:t>resemble pyruvate dehydrogenase </a:t>
            </a:r>
            <a:r>
              <a:rPr lang="en-US" altLang="zh-CN" dirty="0"/>
              <a:t>complex (with similar E</a:t>
            </a:r>
            <a:r>
              <a:rPr lang="en-US" altLang="zh-CN" baseline="-25000" dirty="0"/>
              <a:t>1</a:t>
            </a:r>
            <a:r>
              <a:rPr lang="en-US" altLang="zh-CN" dirty="0"/>
              <a:t> and E</a:t>
            </a:r>
            <a:r>
              <a:rPr lang="en-US" altLang="zh-CN" baseline="-25000" dirty="0"/>
              <a:t>2</a:t>
            </a:r>
            <a:r>
              <a:rPr lang="en-US" altLang="zh-CN" dirty="0"/>
              <a:t>, identical E</a:t>
            </a:r>
            <a:r>
              <a:rPr lang="en-US" altLang="zh-CN" baseline="-25000" dirty="0"/>
              <a:t>3</a:t>
            </a:r>
            <a:r>
              <a:rPr lang="en-US" altLang="zh-CN" dirty="0"/>
              <a:t>).</a:t>
            </a:r>
          </a:p>
        </p:txBody>
      </p:sp>
      <p:sp>
        <p:nvSpPr>
          <p:cNvPr id="316419" name="Rectangle 2">
            <a:extLst>
              <a:ext uri="{FF2B5EF4-FFF2-40B4-BE49-F238E27FC236}">
                <a16:creationId xmlns:a16="http://schemas.microsoft.com/office/drawing/2014/main" id="{461CDFDB-EBD4-4052-8FAB-DC16C1816246}"/>
              </a:ext>
            </a:extLst>
          </p:cNvPr>
          <p:cNvSpPr>
            <a:spLocks noGrp="1" noChangeArrowheads="1"/>
          </p:cNvSpPr>
          <p:nvPr>
            <p:ph type="title" idx="4294967295"/>
          </p:nvPr>
        </p:nvSpPr>
        <p:spPr>
          <a:xfrm>
            <a:off x="1371600" y="-74613"/>
            <a:ext cx="7772400" cy="74613"/>
          </a:xfrm>
        </p:spPr>
        <p:txBody>
          <a:bodyPr lIns="91440" tIns="45720" rIns="91440" bIns="45720" anchor="ctr"/>
          <a:lstStyle/>
          <a:p>
            <a:r>
              <a:rPr lang="en-US" altLang="zh-CN"/>
              <a:t> </a:t>
            </a:r>
          </a:p>
        </p:txBody>
      </p:sp>
    </p:spTree>
    <p:extLst>
      <p:ext uri="{BB962C8B-B14F-4D97-AF65-F5344CB8AC3E}">
        <p14:creationId xmlns:p14="http://schemas.microsoft.com/office/powerpoint/2010/main" val="4136067922"/>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42" name="Picture 4">
            <a:extLst>
              <a:ext uri="{FF2B5EF4-FFF2-40B4-BE49-F238E27FC236}">
                <a16:creationId xmlns:a16="http://schemas.microsoft.com/office/drawing/2014/main" id="{96F3EBED-E9F8-4595-8C36-0A2611AE88B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1600" y="548680"/>
            <a:ext cx="4419600" cy="54449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43" name="Rectangle 5">
            <a:extLst>
              <a:ext uri="{FF2B5EF4-FFF2-40B4-BE49-F238E27FC236}">
                <a16:creationId xmlns:a16="http://schemas.microsoft.com/office/drawing/2014/main" id="{A93B80C7-35BD-4954-B093-CB3C6CD456E2}"/>
              </a:ext>
            </a:extLst>
          </p:cNvPr>
          <p:cNvSpPr>
            <a:spLocks noChangeArrowheads="1"/>
          </p:cNvSpPr>
          <p:nvPr/>
        </p:nvSpPr>
        <p:spPr bwMode="auto">
          <a:xfrm>
            <a:off x="6372225" y="785813"/>
            <a:ext cx="1123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solidFill>
                  <a:srgbClr val="C00000"/>
                </a:solidFill>
              </a:rPr>
              <a:t>Step 4</a:t>
            </a:r>
          </a:p>
        </p:txBody>
      </p:sp>
    </p:spTree>
    <p:extLst>
      <p:ext uri="{BB962C8B-B14F-4D97-AF65-F5344CB8AC3E}">
        <p14:creationId xmlns:p14="http://schemas.microsoft.com/office/powerpoint/2010/main" val="3255200627"/>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8466" name="Picture 2">
            <a:extLst>
              <a:ext uri="{FF2B5EF4-FFF2-40B4-BE49-F238E27FC236}">
                <a16:creationId xmlns:a16="http://schemas.microsoft.com/office/drawing/2014/main" id="{46638267-3959-4F34-8B17-C30D402B1BB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222250"/>
            <a:ext cx="9144000" cy="358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8467" name="Rectangle 3">
            <a:extLst>
              <a:ext uri="{FF2B5EF4-FFF2-40B4-BE49-F238E27FC236}">
                <a16:creationId xmlns:a16="http://schemas.microsoft.com/office/drawing/2014/main" id="{A75847DF-6981-4D37-9A90-05E569B34674}"/>
              </a:ext>
            </a:extLst>
          </p:cNvPr>
          <p:cNvSpPr>
            <a:spLocks noChangeArrowheads="1"/>
          </p:cNvSpPr>
          <p:nvPr/>
        </p:nvSpPr>
        <p:spPr bwMode="auto">
          <a:xfrm>
            <a:off x="2743200" y="508000"/>
            <a:ext cx="22479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bg2"/>
                </a:solidFill>
              </a:rPr>
              <a:t> TPP       lipoate</a:t>
            </a:r>
          </a:p>
          <a:p>
            <a:pPr eaLnBrk="1" hangingPunct="1"/>
            <a:r>
              <a:rPr lang="en-US" altLang="zh-CN" b="1">
                <a:solidFill>
                  <a:schemeClr val="bg2"/>
                </a:solidFill>
              </a:rPr>
              <a:t>                 FAD</a:t>
            </a:r>
          </a:p>
        </p:txBody>
      </p:sp>
      <p:sp>
        <p:nvSpPr>
          <p:cNvPr id="318468" name="Rectangle 4">
            <a:extLst>
              <a:ext uri="{FF2B5EF4-FFF2-40B4-BE49-F238E27FC236}">
                <a16:creationId xmlns:a16="http://schemas.microsoft.com/office/drawing/2014/main" id="{19A32E10-E7FE-4166-BD13-CF24B120997E}"/>
              </a:ext>
            </a:extLst>
          </p:cNvPr>
          <p:cNvSpPr>
            <a:spLocks noChangeArrowheads="1"/>
          </p:cNvSpPr>
          <p:nvPr/>
        </p:nvSpPr>
        <p:spPr bwMode="auto">
          <a:xfrm>
            <a:off x="4419600" y="1981200"/>
            <a:ext cx="13636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0000FF"/>
                </a:solidFill>
              </a:rPr>
              <a:t>(E</a:t>
            </a:r>
            <a:r>
              <a:rPr lang="en-US" altLang="zh-CN" sz="2000" b="1" baseline="-25000">
                <a:solidFill>
                  <a:srgbClr val="0000FF"/>
                </a:solidFill>
              </a:rPr>
              <a:t>1</a:t>
            </a:r>
            <a:r>
              <a:rPr lang="en-US" altLang="zh-CN" sz="2000" b="1">
                <a:solidFill>
                  <a:srgbClr val="0000FF"/>
                </a:solidFill>
              </a:rPr>
              <a:t>, E</a:t>
            </a:r>
            <a:r>
              <a:rPr lang="en-US" altLang="zh-CN" sz="2000" b="1" baseline="-25000">
                <a:solidFill>
                  <a:srgbClr val="0000FF"/>
                </a:solidFill>
              </a:rPr>
              <a:t>2</a:t>
            </a:r>
            <a:r>
              <a:rPr lang="en-US" altLang="zh-CN" sz="2000" b="1">
                <a:solidFill>
                  <a:srgbClr val="0000FF"/>
                </a:solidFill>
              </a:rPr>
              <a:t>, E</a:t>
            </a:r>
            <a:r>
              <a:rPr lang="en-US" altLang="zh-CN" sz="2000" b="1" baseline="-25000">
                <a:solidFill>
                  <a:srgbClr val="0000FF"/>
                </a:solidFill>
              </a:rPr>
              <a:t>3</a:t>
            </a:r>
            <a:r>
              <a:rPr lang="en-US" altLang="zh-CN" sz="2000" b="1">
                <a:solidFill>
                  <a:srgbClr val="0000FF"/>
                </a:solidFill>
              </a:rPr>
              <a:t>)</a:t>
            </a:r>
          </a:p>
        </p:txBody>
      </p:sp>
      <p:sp>
        <p:nvSpPr>
          <p:cNvPr id="318469" name="Rectangle 5">
            <a:extLst>
              <a:ext uri="{FF2B5EF4-FFF2-40B4-BE49-F238E27FC236}">
                <a16:creationId xmlns:a16="http://schemas.microsoft.com/office/drawing/2014/main" id="{83074C1B-0949-4216-9C89-64B240DBBBD5}"/>
              </a:ext>
            </a:extLst>
          </p:cNvPr>
          <p:cNvSpPr>
            <a:spLocks noChangeArrowheads="1"/>
          </p:cNvSpPr>
          <p:nvPr/>
        </p:nvSpPr>
        <p:spPr bwMode="auto">
          <a:xfrm>
            <a:off x="133350" y="3886200"/>
            <a:ext cx="9010650"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600" b="1" dirty="0">
                <a:solidFill>
                  <a:srgbClr val="0070C0"/>
                </a:solidFill>
              </a:rPr>
              <a:t>The</a:t>
            </a:r>
            <a:r>
              <a:rPr lang="en-US" altLang="zh-CN" sz="3600" b="1" dirty="0">
                <a:solidFill>
                  <a:srgbClr val="0070C0"/>
                </a:solidFill>
                <a:latin typeface="Symbol" panose="05050102010706020507" pitchFamily="18" charset="2"/>
              </a:rPr>
              <a:t> a</a:t>
            </a:r>
            <a:r>
              <a:rPr lang="en-US" altLang="zh-CN" sz="3600" b="1" dirty="0">
                <a:solidFill>
                  <a:srgbClr val="0070C0"/>
                </a:solidFill>
              </a:rPr>
              <a:t>-ketoglutarate dehydrogenase complex </a:t>
            </a:r>
          </a:p>
          <a:p>
            <a:pPr eaLnBrk="1" hangingPunct="1"/>
            <a:r>
              <a:rPr lang="en-US" altLang="zh-CN" sz="3600" b="1" dirty="0">
                <a:solidFill>
                  <a:srgbClr val="0070C0"/>
                </a:solidFill>
              </a:rPr>
              <a:t>closely resembles the pyruvate </a:t>
            </a:r>
            <a:r>
              <a:rPr lang="en-US" altLang="zh-CN" sz="3600" b="1" dirty="0" err="1">
                <a:solidFill>
                  <a:srgbClr val="0070C0"/>
                </a:solidFill>
              </a:rPr>
              <a:t>dehyrogenase</a:t>
            </a:r>
            <a:r>
              <a:rPr lang="en-US" altLang="zh-CN" sz="3600" b="1" dirty="0">
                <a:solidFill>
                  <a:srgbClr val="0070C0"/>
                </a:solidFill>
              </a:rPr>
              <a:t> </a:t>
            </a:r>
          </a:p>
          <a:p>
            <a:pPr eaLnBrk="1" hangingPunct="1"/>
            <a:r>
              <a:rPr lang="en-US" altLang="zh-CN" sz="3600" b="1" dirty="0">
                <a:solidFill>
                  <a:srgbClr val="0070C0"/>
                </a:solidFill>
              </a:rPr>
              <a:t>complex in structure and function.</a:t>
            </a:r>
          </a:p>
        </p:txBody>
      </p:sp>
      <p:sp>
        <p:nvSpPr>
          <p:cNvPr id="318470" name="Rectangle 6">
            <a:extLst>
              <a:ext uri="{FF2B5EF4-FFF2-40B4-BE49-F238E27FC236}">
                <a16:creationId xmlns:a16="http://schemas.microsoft.com/office/drawing/2014/main" id="{6943C2E9-885A-4561-B042-209635876D45}"/>
              </a:ext>
            </a:extLst>
          </p:cNvPr>
          <p:cNvSpPr>
            <a:spLocks noChangeArrowheads="1"/>
          </p:cNvSpPr>
          <p:nvPr/>
        </p:nvSpPr>
        <p:spPr bwMode="auto">
          <a:xfrm>
            <a:off x="2819400" y="2209800"/>
            <a:ext cx="2227263"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i="1" dirty="0">
                <a:solidFill>
                  <a:srgbClr val="0000FF"/>
                </a:solidFill>
              </a:rPr>
              <a:t>The second </a:t>
            </a:r>
          </a:p>
          <a:p>
            <a:pPr eaLnBrk="1" hangingPunct="1"/>
            <a:r>
              <a:rPr lang="en-US" altLang="zh-CN" sz="2800" b="1" i="1" dirty="0">
                <a:solidFill>
                  <a:srgbClr val="0000FF"/>
                </a:solidFill>
              </a:rPr>
              <a:t>oxidation step</a:t>
            </a:r>
          </a:p>
        </p:txBody>
      </p:sp>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32E5F7A9-E0E4-4FD0-9E72-8678A9133D4A}"/>
                  </a:ext>
                </a:extLst>
              </p14:cNvPr>
              <p14:cNvContentPartPr/>
              <p14:nvPr/>
            </p14:nvContentPartPr>
            <p14:xfrm>
              <a:off x="7321680" y="3409920"/>
              <a:ext cx="1822680" cy="279720"/>
            </p14:xfrm>
          </p:contentPart>
        </mc:Choice>
        <mc:Fallback xmlns="">
          <p:pic>
            <p:nvPicPr>
              <p:cNvPr id="2" name="墨迹 1">
                <a:extLst>
                  <a:ext uri="{FF2B5EF4-FFF2-40B4-BE49-F238E27FC236}">
                    <a16:creationId xmlns:a16="http://schemas.microsoft.com/office/drawing/2014/main" id="{32E5F7A9-E0E4-4FD0-9E72-8678A9133D4A}"/>
                  </a:ext>
                </a:extLst>
              </p:cNvPr>
              <p:cNvPicPr/>
              <p:nvPr/>
            </p:nvPicPr>
            <p:blipFill>
              <a:blip r:embed="rId4"/>
              <a:stretch>
                <a:fillRect/>
              </a:stretch>
            </p:blipFill>
            <p:spPr>
              <a:xfrm>
                <a:off x="7305840" y="3346560"/>
                <a:ext cx="1854000" cy="406440"/>
              </a:xfrm>
              <a:prstGeom prst="rect">
                <a:avLst/>
              </a:prstGeom>
            </p:spPr>
          </p:pic>
        </mc:Fallback>
      </mc:AlternateContent>
    </p:spTree>
    <p:extLst>
      <p:ext uri="{BB962C8B-B14F-4D97-AF65-F5344CB8AC3E}">
        <p14:creationId xmlns:p14="http://schemas.microsoft.com/office/powerpoint/2010/main" val="1788138405"/>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Text Box 4">
            <a:extLst>
              <a:ext uri="{FF2B5EF4-FFF2-40B4-BE49-F238E27FC236}">
                <a16:creationId xmlns:a16="http://schemas.microsoft.com/office/drawing/2014/main" id="{DF56CF92-74A4-48A3-8D02-AB6232FC014E}"/>
              </a:ext>
            </a:extLst>
          </p:cNvPr>
          <p:cNvSpPr txBox="1">
            <a:spLocks noChangeArrowheads="1"/>
          </p:cNvSpPr>
          <p:nvPr/>
        </p:nvSpPr>
        <p:spPr bwMode="auto">
          <a:xfrm>
            <a:off x="228600" y="914400"/>
            <a:ext cx="8534400" cy="186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buFontTx/>
              <a:buChar char="•"/>
            </a:pPr>
            <a:r>
              <a:rPr lang="en-US" altLang="zh-CN" sz="3200" b="1" dirty="0">
                <a:solidFill>
                  <a:srgbClr val="C00000"/>
                </a:solidFill>
              </a:rPr>
              <a:t>Step 5</a:t>
            </a:r>
            <a:r>
              <a:rPr lang="en-US" altLang="zh-CN" sz="3200" dirty="0">
                <a:solidFill>
                  <a:srgbClr val="C00000"/>
                </a:solidFill>
              </a:rPr>
              <a:t>  </a:t>
            </a:r>
            <a:r>
              <a:rPr lang="en-US" altLang="zh-CN" sz="3200" dirty="0"/>
              <a:t>Succinyl-CoA is hydrolyzed to </a:t>
            </a:r>
            <a:r>
              <a:rPr lang="en-US" altLang="zh-CN" sz="3200" dirty="0">
                <a:solidFill>
                  <a:srgbClr val="0070C0"/>
                </a:solidFill>
              </a:rPr>
              <a:t>succinate </a:t>
            </a:r>
            <a:r>
              <a:rPr lang="en-US" altLang="zh-CN" sz="3200" dirty="0"/>
              <a:t>(</a:t>
            </a:r>
            <a:r>
              <a:rPr lang="zh-CN" altLang="en-US" sz="3200" dirty="0">
                <a:latin typeface="华文新魏" panose="02010800040101010101" pitchFamily="2" charset="-122"/>
                <a:ea typeface="华文新魏" panose="02010800040101010101" pitchFamily="2" charset="-122"/>
              </a:rPr>
              <a:t>琥珀</a:t>
            </a:r>
            <a:r>
              <a:rPr lang="zh-CN" altLang="en-US" sz="3200" dirty="0">
                <a:ea typeface="华文新魏" panose="02010800040101010101" pitchFamily="2" charset="-122"/>
              </a:rPr>
              <a:t>酸</a:t>
            </a:r>
            <a:r>
              <a:rPr lang="en-US" altLang="zh-CN" sz="3200" dirty="0">
                <a:ea typeface="华文新魏" panose="02010800040101010101" pitchFamily="2" charset="-122"/>
              </a:rPr>
              <a:t>)</a:t>
            </a:r>
            <a:r>
              <a:rPr lang="en-US" altLang="zh-CN" sz="3200" dirty="0"/>
              <a:t>; the free energy is harvested by a GDP or an ADP to form a GTP or an </a:t>
            </a:r>
            <a:r>
              <a:rPr lang="en-US" altLang="zh-CN" sz="3200" dirty="0">
                <a:solidFill>
                  <a:srgbClr val="0070C0"/>
                </a:solidFill>
              </a:rPr>
              <a:t>ATP</a:t>
            </a:r>
            <a:r>
              <a:rPr lang="en-US" altLang="zh-CN" sz="3200" dirty="0"/>
              <a:t> by substrate-level phosphorylation.</a:t>
            </a:r>
          </a:p>
        </p:txBody>
      </p:sp>
    </p:spTree>
    <p:extLst>
      <p:ext uri="{BB962C8B-B14F-4D97-AF65-F5344CB8AC3E}">
        <p14:creationId xmlns:p14="http://schemas.microsoft.com/office/powerpoint/2010/main" val="1794959232"/>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0514" name="Picture 5">
            <a:extLst>
              <a:ext uri="{FF2B5EF4-FFF2-40B4-BE49-F238E27FC236}">
                <a16:creationId xmlns:a16="http://schemas.microsoft.com/office/drawing/2014/main" id="{284F5EDD-C3D0-44E1-99A6-8F81E77A5A5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9750" y="333375"/>
            <a:ext cx="7920038" cy="6253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5271269"/>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1538" name="Picture 2">
            <a:extLst>
              <a:ext uri="{FF2B5EF4-FFF2-40B4-BE49-F238E27FC236}">
                <a16:creationId xmlns:a16="http://schemas.microsoft.com/office/drawing/2014/main" id="{B96AC852-DD1C-4111-9511-E43303D6B34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1219200"/>
            <a:ext cx="8686800" cy="395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5171569"/>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2" name="Rectangle 2">
            <a:extLst>
              <a:ext uri="{FF2B5EF4-FFF2-40B4-BE49-F238E27FC236}">
                <a16:creationId xmlns:a16="http://schemas.microsoft.com/office/drawing/2014/main" id="{06D00D35-0C03-482F-BE83-59024657D5E9}"/>
              </a:ext>
            </a:extLst>
          </p:cNvPr>
          <p:cNvSpPr>
            <a:spLocks noGrp="1" noChangeArrowheads="1"/>
          </p:cNvSpPr>
          <p:nvPr>
            <p:ph type="title" idx="4294967295"/>
          </p:nvPr>
        </p:nvSpPr>
        <p:spPr>
          <a:xfrm flipV="1">
            <a:off x="0" y="-106363"/>
            <a:ext cx="7772400" cy="106363"/>
          </a:xfrm>
        </p:spPr>
        <p:txBody>
          <a:bodyPr lIns="91440" tIns="45720" rIns="91440" bIns="45720" anchor="ctr"/>
          <a:lstStyle/>
          <a:p>
            <a:r>
              <a:rPr lang="en-US" altLang="zh-CN"/>
              <a:t> </a:t>
            </a:r>
          </a:p>
        </p:txBody>
      </p:sp>
      <p:sp>
        <p:nvSpPr>
          <p:cNvPr id="322563" name="Rectangle 3">
            <a:extLst>
              <a:ext uri="{FF2B5EF4-FFF2-40B4-BE49-F238E27FC236}">
                <a16:creationId xmlns:a16="http://schemas.microsoft.com/office/drawing/2014/main" id="{6BADB69A-9A6E-48A3-BD4B-7FFFB6247250}"/>
              </a:ext>
            </a:extLst>
          </p:cNvPr>
          <p:cNvSpPr>
            <a:spLocks noGrp="1" noChangeArrowheads="1"/>
          </p:cNvSpPr>
          <p:nvPr>
            <p:ph type="body" idx="4294967295"/>
          </p:nvPr>
        </p:nvSpPr>
        <p:spPr>
          <a:xfrm>
            <a:off x="304800" y="457200"/>
            <a:ext cx="8839200" cy="4114800"/>
          </a:xfrm>
        </p:spPr>
        <p:txBody>
          <a:bodyPr lIns="91440" tIns="45720" rIns="91440" bIns="45720"/>
          <a:lstStyle/>
          <a:p>
            <a:pPr>
              <a:buFontTx/>
              <a:buNone/>
            </a:pPr>
            <a:r>
              <a:rPr lang="en-US" altLang="zh-CN" sz="1800" dirty="0"/>
              <a:t> </a:t>
            </a:r>
            <a:endParaRPr lang="en-US" altLang="zh-CN" b="1" dirty="0">
              <a:solidFill>
                <a:srgbClr val="FFFF00"/>
              </a:solidFill>
            </a:endParaRPr>
          </a:p>
          <a:p>
            <a:pPr>
              <a:buFontTx/>
              <a:buNone/>
            </a:pPr>
            <a:r>
              <a:rPr lang="en-US" altLang="zh-CN" b="1" dirty="0">
                <a:solidFill>
                  <a:srgbClr val="C00000"/>
                </a:solidFill>
              </a:rPr>
              <a:t>Step 6</a:t>
            </a:r>
            <a:r>
              <a:rPr lang="en-US" altLang="zh-CN" dirty="0">
                <a:solidFill>
                  <a:srgbClr val="C00000"/>
                </a:solidFill>
              </a:rPr>
              <a:t>  </a:t>
            </a:r>
            <a:r>
              <a:rPr lang="en-US" altLang="zh-CN" dirty="0"/>
              <a:t>Succinate is oxidized to </a:t>
            </a:r>
            <a:r>
              <a:rPr lang="en-US" altLang="zh-CN" b="1" dirty="0">
                <a:solidFill>
                  <a:srgbClr val="0000FF"/>
                </a:solidFill>
              </a:rPr>
              <a:t>fumarate</a:t>
            </a:r>
            <a:r>
              <a:rPr lang="en-US" altLang="zh-CN" dirty="0">
                <a:solidFill>
                  <a:srgbClr val="0070C0"/>
                </a:solidFill>
              </a:rPr>
              <a:t> </a:t>
            </a:r>
            <a:r>
              <a:rPr lang="en-US" altLang="zh-CN" dirty="0"/>
              <a:t>(</a:t>
            </a:r>
            <a:r>
              <a:rPr lang="zh-CN" altLang="en-US" dirty="0">
                <a:ea typeface="华文新魏" panose="02010800040101010101" pitchFamily="2" charset="-122"/>
              </a:rPr>
              <a:t>延胡索酸或反丁烯二酸</a:t>
            </a:r>
            <a:r>
              <a:rPr lang="en-US" altLang="zh-CN" dirty="0"/>
              <a:t>); catalyzed by a </a:t>
            </a:r>
            <a:r>
              <a:rPr lang="en-US" altLang="zh-CN" b="1" dirty="0">
                <a:solidFill>
                  <a:srgbClr val="0000FF"/>
                </a:solidFill>
              </a:rPr>
              <a:t>flavoprotein succinate dehydrogenase</a:t>
            </a:r>
            <a:r>
              <a:rPr lang="en-US" altLang="zh-CN" dirty="0"/>
              <a:t> (with a covalently bound FAD); malonate (</a:t>
            </a:r>
            <a:r>
              <a:rPr lang="zh-CN" altLang="en-US" dirty="0">
                <a:ea typeface="华文新魏" panose="02010800040101010101" pitchFamily="2" charset="-122"/>
              </a:rPr>
              <a:t>丙二酸</a:t>
            </a:r>
            <a:r>
              <a:rPr lang="en-US" altLang="zh-CN" dirty="0"/>
              <a:t>) is a strong competitive inhibitor of the enzyme, that will block the whole cycle.</a:t>
            </a:r>
          </a:p>
        </p:txBody>
      </p:sp>
    </p:spTree>
    <p:extLst>
      <p:ext uri="{BB962C8B-B14F-4D97-AF65-F5344CB8AC3E}">
        <p14:creationId xmlns:p14="http://schemas.microsoft.com/office/powerpoint/2010/main" val="2888174404"/>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3586" name="Picture 4">
            <a:extLst>
              <a:ext uri="{FF2B5EF4-FFF2-40B4-BE49-F238E27FC236}">
                <a16:creationId xmlns:a16="http://schemas.microsoft.com/office/drawing/2014/main" id="{F8F5EA36-53FD-4305-8292-8A634C2309E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74750" y="73025"/>
            <a:ext cx="6637338" cy="666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12215382"/>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4610" name="Picture 2">
            <a:extLst>
              <a:ext uri="{FF2B5EF4-FFF2-40B4-BE49-F238E27FC236}">
                <a16:creationId xmlns:a16="http://schemas.microsoft.com/office/drawing/2014/main" id="{1CCAA42A-26FE-47A3-8925-C64A52FC544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914400"/>
            <a:ext cx="8382000" cy="504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4611" name="Rectangle 3">
            <a:extLst>
              <a:ext uri="{FF2B5EF4-FFF2-40B4-BE49-F238E27FC236}">
                <a16:creationId xmlns:a16="http://schemas.microsoft.com/office/drawing/2014/main" id="{64718E11-FB9E-48D6-9816-16B18EB4ABC3}"/>
              </a:ext>
            </a:extLst>
          </p:cNvPr>
          <p:cNvSpPr>
            <a:spLocks noChangeArrowheads="1"/>
          </p:cNvSpPr>
          <p:nvPr/>
        </p:nvSpPr>
        <p:spPr bwMode="auto">
          <a:xfrm>
            <a:off x="2362200" y="267370"/>
            <a:ext cx="46926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600" b="1" i="1" dirty="0">
                <a:solidFill>
                  <a:srgbClr val="C00000"/>
                </a:solidFill>
              </a:rPr>
              <a:t>The third oxidation step</a:t>
            </a:r>
          </a:p>
        </p:txBody>
      </p:sp>
    </p:spTree>
    <p:extLst>
      <p:ext uri="{BB962C8B-B14F-4D97-AF65-F5344CB8AC3E}">
        <p14:creationId xmlns:p14="http://schemas.microsoft.com/office/powerpoint/2010/main" val="230369118"/>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1314" name="Picture 2">
            <a:extLst>
              <a:ext uri="{FF2B5EF4-FFF2-40B4-BE49-F238E27FC236}">
                <a16:creationId xmlns:a16="http://schemas.microsoft.com/office/drawing/2014/main" id="{1FCB0D1B-E025-4428-B78D-970D4C5B6C9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8313" y="692150"/>
            <a:ext cx="8135937" cy="439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1315" name="Text Box 3">
            <a:extLst>
              <a:ext uri="{FF2B5EF4-FFF2-40B4-BE49-F238E27FC236}">
                <a16:creationId xmlns:a16="http://schemas.microsoft.com/office/drawing/2014/main" id="{61B7D44E-5D84-4710-9F14-E4DDBA61B9C6}"/>
              </a:ext>
            </a:extLst>
          </p:cNvPr>
          <p:cNvSpPr txBox="1">
            <a:spLocks noChangeArrowheads="1"/>
          </p:cNvSpPr>
          <p:nvPr/>
        </p:nvSpPr>
        <p:spPr bwMode="auto">
          <a:xfrm>
            <a:off x="611188" y="5445125"/>
            <a:ext cx="82819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i="1" dirty="0">
                <a:latin typeface="Tahoma" panose="020B0604030504040204" pitchFamily="34" charset="0"/>
              </a:rPr>
              <a:t>Inhibition of succinate dehydrogenase by malonate</a:t>
            </a:r>
          </a:p>
        </p:txBody>
      </p:sp>
      <p:sp>
        <p:nvSpPr>
          <p:cNvPr id="2" name="文本框 1">
            <a:extLst>
              <a:ext uri="{FF2B5EF4-FFF2-40B4-BE49-F238E27FC236}">
                <a16:creationId xmlns:a16="http://schemas.microsoft.com/office/drawing/2014/main" id="{EAB1584C-D072-4D37-A71F-30A6D97284A6}"/>
              </a:ext>
            </a:extLst>
          </p:cNvPr>
          <p:cNvSpPr txBox="1"/>
          <p:nvPr/>
        </p:nvSpPr>
        <p:spPr>
          <a:xfrm>
            <a:off x="323528" y="295367"/>
            <a:ext cx="2685351" cy="369332"/>
          </a:xfrm>
          <a:prstGeom prst="rect">
            <a:avLst/>
          </a:prstGeom>
          <a:noFill/>
        </p:spPr>
        <p:txBody>
          <a:bodyPr wrap="none" rtlCol="0">
            <a:spAutoFit/>
          </a:bodyPr>
          <a:lstStyle/>
          <a:p>
            <a:r>
              <a:rPr lang="en-US" altLang="zh-CN" i="1" dirty="0"/>
              <a:t>From Section C Enzyme</a:t>
            </a:r>
            <a:endParaRPr lang="zh-CN" altLang="en-US" i="1"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Rectangle 2">
            <a:extLst>
              <a:ext uri="{FF2B5EF4-FFF2-40B4-BE49-F238E27FC236}">
                <a16:creationId xmlns:a16="http://schemas.microsoft.com/office/drawing/2014/main" id="{0CB41964-D48B-462E-9467-EB03DC48EF47}"/>
              </a:ext>
            </a:extLst>
          </p:cNvPr>
          <p:cNvSpPr>
            <a:spLocks noGrp="1" noChangeArrowheads="1"/>
          </p:cNvSpPr>
          <p:nvPr>
            <p:ph type="title" idx="4294967295"/>
          </p:nvPr>
        </p:nvSpPr>
        <p:spPr>
          <a:xfrm flipV="1">
            <a:off x="0" y="1265238"/>
            <a:ext cx="7772400" cy="106362"/>
          </a:xfrm>
        </p:spPr>
        <p:txBody>
          <a:bodyPr lIns="91440" tIns="45720" rIns="91440" bIns="45720" anchor="ctr"/>
          <a:lstStyle/>
          <a:p>
            <a:r>
              <a:rPr lang="en-US" altLang="zh-CN"/>
              <a:t> </a:t>
            </a:r>
          </a:p>
        </p:txBody>
      </p:sp>
      <p:sp>
        <p:nvSpPr>
          <p:cNvPr id="325635" name="Rectangle 3">
            <a:extLst>
              <a:ext uri="{FF2B5EF4-FFF2-40B4-BE49-F238E27FC236}">
                <a16:creationId xmlns:a16="http://schemas.microsoft.com/office/drawing/2014/main" id="{15734442-20A8-430E-B2FA-DEBA66F2B58A}"/>
              </a:ext>
            </a:extLst>
          </p:cNvPr>
          <p:cNvSpPr>
            <a:spLocks noGrp="1" noChangeArrowheads="1"/>
          </p:cNvSpPr>
          <p:nvPr>
            <p:ph type="body" idx="4294967295"/>
          </p:nvPr>
        </p:nvSpPr>
        <p:spPr>
          <a:xfrm>
            <a:off x="228600" y="685800"/>
            <a:ext cx="8915400" cy="4114800"/>
          </a:xfrm>
        </p:spPr>
        <p:txBody>
          <a:bodyPr lIns="91440" tIns="45720" rIns="91440" bIns="45720"/>
          <a:lstStyle/>
          <a:p>
            <a:pPr>
              <a:buFontTx/>
              <a:buNone/>
            </a:pPr>
            <a:r>
              <a:rPr lang="en-US" altLang="zh-CN" b="1" dirty="0">
                <a:solidFill>
                  <a:srgbClr val="C00000"/>
                </a:solidFill>
              </a:rPr>
              <a:t>Step 7</a:t>
            </a:r>
            <a:r>
              <a:rPr lang="en-US" altLang="zh-CN" dirty="0">
                <a:solidFill>
                  <a:srgbClr val="C00000"/>
                </a:solidFill>
              </a:rPr>
              <a:t>  </a:t>
            </a:r>
            <a:r>
              <a:rPr lang="en-US" altLang="zh-CN" dirty="0"/>
              <a:t>Fumarate is hydrated to </a:t>
            </a:r>
            <a:r>
              <a:rPr lang="en-US" altLang="zh-CN" b="1" dirty="0">
                <a:solidFill>
                  <a:srgbClr val="0000FF"/>
                </a:solidFill>
              </a:rPr>
              <a:t>L-malate</a:t>
            </a:r>
            <a:r>
              <a:rPr lang="en-US" altLang="zh-CN" dirty="0"/>
              <a:t> by the action of </a:t>
            </a:r>
            <a:r>
              <a:rPr lang="en-US" altLang="zh-CN" b="1" dirty="0" err="1">
                <a:solidFill>
                  <a:srgbClr val="0000FF"/>
                </a:solidFill>
              </a:rPr>
              <a:t>fumarase</a:t>
            </a:r>
            <a:r>
              <a:rPr lang="en-US" altLang="zh-CN" dirty="0"/>
              <a:t>; the enzyme is highly stereospecific, only </a:t>
            </a:r>
            <a:r>
              <a:rPr lang="en-US" altLang="zh-CN" b="1" dirty="0">
                <a:solidFill>
                  <a:srgbClr val="0000FF"/>
                </a:solidFill>
              </a:rPr>
              <a:t>act on the</a:t>
            </a:r>
            <a:r>
              <a:rPr lang="en-US" altLang="zh-CN" b="1" i="1" dirty="0">
                <a:solidFill>
                  <a:srgbClr val="0000FF"/>
                </a:solidFill>
              </a:rPr>
              <a:t> trans</a:t>
            </a:r>
            <a:r>
              <a:rPr lang="en-US" altLang="zh-CN" b="1" dirty="0">
                <a:solidFill>
                  <a:srgbClr val="0000FF"/>
                </a:solidFill>
              </a:rPr>
              <a:t> and L isomers</a:t>
            </a:r>
            <a:r>
              <a:rPr lang="en-US" altLang="zh-CN" dirty="0"/>
              <a:t>, not on the </a:t>
            </a:r>
            <a:r>
              <a:rPr lang="en-US" altLang="zh-CN" i="1" dirty="0"/>
              <a:t>cis</a:t>
            </a:r>
            <a:r>
              <a:rPr lang="en-US" altLang="zh-CN" dirty="0"/>
              <a:t> and D isomers .</a:t>
            </a:r>
          </a:p>
          <a:p>
            <a:pPr>
              <a:buFontTx/>
              <a:buNone/>
            </a:pPr>
            <a:endParaRPr lang="en-US" altLang="zh-CN" b="1" dirty="0">
              <a:solidFill>
                <a:srgbClr val="FFFF00"/>
              </a:solidFill>
            </a:endParaRPr>
          </a:p>
        </p:txBody>
      </p:sp>
    </p:spTree>
    <p:extLst>
      <p:ext uri="{BB962C8B-B14F-4D97-AF65-F5344CB8AC3E}">
        <p14:creationId xmlns:p14="http://schemas.microsoft.com/office/powerpoint/2010/main" val="372815468"/>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6658" name="Picture 4">
            <a:extLst>
              <a:ext uri="{FF2B5EF4-FFF2-40B4-BE49-F238E27FC236}">
                <a16:creationId xmlns:a16="http://schemas.microsoft.com/office/drawing/2014/main" id="{F3BE1A99-B8B3-40CE-B864-F7C41B4D29F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71713" y="188913"/>
            <a:ext cx="3813175" cy="652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3DAAC628-4775-422B-957B-A9880E9A3CAC}"/>
              </a:ext>
            </a:extLst>
          </p:cNvPr>
          <p:cNvSpPr txBox="1"/>
          <p:nvPr/>
        </p:nvSpPr>
        <p:spPr>
          <a:xfrm>
            <a:off x="5076056" y="5373216"/>
            <a:ext cx="1851854" cy="369332"/>
          </a:xfrm>
          <a:prstGeom prst="rect">
            <a:avLst/>
          </a:prstGeom>
          <a:noFill/>
        </p:spPr>
        <p:txBody>
          <a:bodyPr wrap="none" rtlCol="0">
            <a:spAutoFit/>
          </a:bodyPr>
          <a:lstStyle/>
          <a:p>
            <a:r>
              <a:rPr lang="en-US" altLang="zh-CN" b="1" dirty="0">
                <a:solidFill>
                  <a:srgbClr val="FF0000"/>
                </a:solidFill>
              </a:rPr>
              <a:t>Trans-fumarate</a:t>
            </a:r>
            <a:endParaRPr lang="zh-CN" altLang="en-US" b="1" dirty="0">
              <a:solidFill>
                <a:srgbClr val="FF0000"/>
              </a:solidFill>
            </a:endParaRPr>
          </a:p>
        </p:txBody>
      </p:sp>
      <p:sp>
        <p:nvSpPr>
          <p:cNvPr id="3" name="文本框 2">
            <a:extLst>
              <a:ext uri="{FF2B5EF4-FFF2-40B4-BE49-F238E27FC236}">
                <a16:creationId xmlns:a16="http://schemas.microsoft.com/office/drawing/2014/main" id="{4DC34C09-89CD-468C-BD16-88F3F6BF1FDB}"/>
              </a:ext>
            </a:extLst>
          </p:cNvPr>
          <p:cNvSpPr txBox="1"/>
          <p:nvPr/>
        </p:nvSpPr>
        <p:spPr>
          <a:xfrm>
            <a:off x="5093463" y="1268760"/>
            <a:ext cx="1133644" cy="369332"/>
          </a:xfrm>
          <a:prstGeom prst="rect">
            <a:avLst/>
          </a:prstGeom>
          <a:noFill/>
        </p:spPr>
        <p:txBody>
          <a:bodyPr wrap="none" rtlCol="0">
            <a:spAutoFit/>
          </a:bodyPr>
          <a:lstStyle/>
          <a:p>
            <a:r>
              <a:rPr lang="en-US" altLang="zh-CN" b="1" dirty="0">
                <a:solidFill>
                  <a:srgbClr val="FF0000"/>
                </a:solidFill>
              </a:rPr>
              <a:t>L-malate</a:t>
            </a:r>
            <a:endParaRPr lang="zh-CN" altLang="en-US" b="1" dirty="0">
              <a:solidFill>
                <a:srgbClr val="FF0000"/>
              </a:solidFill>
            </a:endParaRPr>
          </a:p>
        </p:txBody>
      </p:sp>
    </p:spTree>
    <p:extLst>
      <p:ext uri="{BB962C8B-B14F-4D97-AF65-F5344CB8AC3E}">
        <p14:creationId xmlns:p14="http://schemas.microsoft.com/office/powerpoint/2010/main" val="1150872909"/>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682" name="Picture 2">
            <a:extLst>
              <a:ext uri="{FF2B5EF4-FFF2-40B4-BE49-F238E27FC236}">
                <a16:creationId xmlns:a16="http://schemas.microsoft.com/office/drawing/2014/main" id="{86597244-BB83-4569-8090-AA2EAFDF574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5600" y="431800"/>
            <a:ext cx="8026400" cy="528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a:extLst>
              <a:ext uri="{FF2B5EF4-FFF2-40B4-BE49-F238E27FC236}">
                <a16:creationId xmlns:a16="http://schemas.microsoft.com/office/drawing/2014/main" id="{CF837D2E-9CE2-4EB4-87E9-7345F9BFC862}"/>
              </a:ext>
            </a:extLst>
          </p:cNvPr>
          <p:cNvSpPr txBox="1"/>
          <p:nvPr/>
        </p:nvSpPr>
        <p:spPr>
          <a:xfrm>
            <a:off x="539552" y="4437112"/>
            <a:ext cx="1851854" cy="369332"/>
          </a:xfrm>
          <a:prstGeom prst="rect">
            <a:avLst/>
          </a:prstGeom>
          <a:noFill/>
        </p:spPr>
        <p:txBody>
          <a:bodyPr wrap="none" rtlCol="0">
            <a:spAutoFit/>
          </a:bodyPr>
          <a:lstStyle/>
          <a:p>
            <a:r>
              <a:rPr lang="en-US" altLang="zh-CN" b="1" dirty="0">
                <a:solidFill>
                  <a:srgbClr val="FF0000"/>
                </a:solidFill>
              </a:rPr>
              <a:t>Trans-fumarate</a:t>
            </a:r>
            <a:endParaRPr lang="zh-CN" altLang="en-US" b="1" dirty="0">
              <a:solidFill>
                <a:srgbClr val="FF0000"/>
              </a:solidFill>
            </a:endParaRPr>
          </a:p>
        </p:txBody>
      </p:sp>
    </p:spTree>
    <p:extLst>
      <p:ext uri="{BB962C8B-B14F-4D97-AF65-F5344CB8AC3E}">
        <p14:creationId xmlns:p14="http://schemas.microsoft.com/office/powerpoint/2010/main" val="3565965187"/>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Text Box 2">
            <a:extLst>
              <a:ext uri="{FF2B5EF4-FFF2-40B4-BE49-F238E27FC236}">
                <a16:creationId xmlns:a16="http://schemas.microsoft.com/office/drawing/2014/main" id="{978CCB3E-601F-4CB0-9193-4877A1D94A17}"/>
              </a:ext>
            </a:extLst>
          </p:cNvPr>
          <p:cNvSpPr txBox="1">
            <a:spLocks noChangeArrowheads="1"/>
          </p:cNvSpPr>
          <p:nvPr/>
        </p:nvSpPr>
        <p:spPr bwMode="auto">
          <a:xfrm>
            <a:off x="457200" y="762000"/>
            <a:ext cx="8382000" cy="3173413"/>
          </a:xfrm>
          <a:prstGeom prst="rect">
            <a:avLst/>
          </a:prstGeom>
          <a:noFill/>
          <a:ln w="9525">
            <a:noFill/>
            <a:miter lim="800000"/>
            <a:headEnd/>
            <a:tailEnd/>
          </a:ln>
          <a:effectLst/>
        </p:spPr>
        <p:txBody>
          <a:bodyPr>
            <a:spAutoFit/>
          </a:bodyPr>
          <a:lstStyle/>
          <a:p>
            <a:pPr eaLnBrk="1" hangingPunct="1">
              <a:spcBef>
                <a:spcPct val="20000"/>
              </a:spcBef>
              <a:defRPr/>
            </a:pPr>
            <a:r>
              <a:rPr lang="en-US" altLang="zh-CN" sz="3200" b="1" dirty="0">
                <a:solidFill>
                  <a:srgbClr val="C00000"/>
                </a:solidFill>
                <a:latin typeface="Times New Roman" charset="0"/>
              </a:rPr>
              <a:t>Step 8</a:t>
            </a:r>
            <a:r>
              <a:rPr lang="en-US" altLang="zh-CN" sz="3200" dirty="0">
                <a:solidFill>
                  <a:srgbClr val="C00000"/>
                </a:solidFill>
                <a:latin typeface="Times New Roman" charset="0"/>
              </a:rPr>
              <a:t>  </a:t>
            </a:r>
            <a:r>
              <a:rPr lang="en-US" altLang="zh-CN" sz="3200" b="1" dirty="0">
                <a:solidFill>
                  <a:srgbClr val="0070C0"/>
                </a:solidFill>
                <a:effectLst>
                  <a:outerShdw blurRad="38100" dist="38100" dir="2700000" algn="tl">
                    <a:srgbClr val="000000"/>
                  </a:outerShdw>
                </a:effectLst>
                <a:latin typeface="Times New Roman" charset="0"/>
              </a:rPr>
              <a:t>Oxaloacetate</a:t>
            </a:r>
            <a:r>
              <a:rPr lang="en-US" altLang="zh-CN" sz="3200" dirty="0">
                <a:latin typeface="Times New Roman" charset="0"/>
              </a:rPr>
              <a:t> is regenerated by the oxidation of L-malate; this reaction is catalyzed by </a:t>
            </a:r>
            <a:r>
              <a:rPr lang="en-US" altLang="zh-CN" sz="3200" dirty="0">
                <a:solidFill>
                  <a:srgbClr val="0070C0"/>
                </a:solidFill>
                <a:latin typeface="Times New Roman" charset="0"/>
              </a:rPr>
              <a:t>malate dehydrogenase </a:t>
            </a:r>
            <a:r>
              <a:rPr lang="en-US" altLang="zh-CN" sz="3200" dirty="0">
                <a:latin typeface="Times New Roman" charset="0"/>
              </a:rPr>
              <a:t>with two electrons collected by NAD</a:t>
            </a:r>
            <a:r>
              <a:rPr lang="en-US" altLang="zh-CN" sz="3200" baseline="30000" dirty="0">
                <a:latin typeface="Times New Roman" charset="0"/>
              </a:rPr>
              <a:t>+</a:t>
            </a:r>
            <a:r>
              <a:rPr lang="en-US" altLang="zh-CN" sz="3200" dirty="0">
                <a:latin typeface="Times New Roman" charset="0"/>
              </a:rPr>
              <a:t>.</a:t>
            </a:r>
          </a:p>
          <a:p>
            <a:pPr eaLnBrk="1" hangingPunct="1">
              <a:spcBef>
                <a:spcPct val="20000"/>
              </a:spcBef>
              <a:buFontTx/>
              <a:buChar char="•"/>
              <a:defRPr/>
            </a:pPr>
            <a:endParaRPr lang="en-US" altLang="zh-CN" sz="3200" dirty="0">
              <a:latin typeface="Times New Roman" charset="0"/>
            </a:endParaRPr>
          </a:p>
          <a:p>
            <a:pPr eaLnBrk="1" hangingPunct="1">
              <a:spcBef>
                <a:spcPct val="50000"/>
              </a:spcBef>
              <a:defRPr/>
            </a:pPr>
            <a:endParaRPr lang="en-US" altLang="zh-CN" dirty="0">
              <a:latin typeface="Times New Roman" charset="0"/>
            </a:endParaRPr>
          </a:p>
        </p:txBody>
      </p:sp>
    </p:spTree>
    <p:extLst>
      <p:ext uri="{BB962C8B-B14F-4D97-AF65-F5344CB8AC3E}">
        <p14:creationId xmlns:p14="http://schemas.microsoft.com/office/powerpoint/2010/main" val="3777289934"/>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9730" name="Picture 4">
            <a:extLst>
              <a:ext uri="{FF2B5EF4-FFF2-40B4-BE49-F238E27FC236}">
                <a16:creationId xmlns:a16="http://schemas.microsoft.com/office/drawing/2014/main" id="{5CDA9BDD-AF31-434A-967F-3285C0DC21C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0113" y="188913"/>
            <a:ext cx="8064500" cy="645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54314377"/>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Rectangle 2">
            <a:extLst>
              <a:ext uri="{FF2B5EF4-FFF2-40B4-BE49-F238E27FC236}">
                <a16:creationId xmlns:a16="http://schemas.microsoft.com/office/drawing/2014/main" id="{B6380B5C-6BEB-4FCC-AA8B-7F2FB8A535D7}"/>
              </a:ext>
            </a:extLst>
          </p:cNvPr>
          <p:cNvSpPr>
            <a:spLocks noChangeArrowheads="1"/>
          </p:cNvSpPr>
          <p:nvPr/>
        </p:nvSpPr>
        <p:spPr bwMode="auto">
          <a:xfrm>
            <a:off x="2895600" y="2743200"/>
            <a:ext cx="3367088"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solidFill>
                  <a:srgbClr val="0000FF"/>
                </a:solidFill>
              </a:rPr>
              <a:t>(</a:t>
            </a:r>
            <a:r>
              <a:rPr lang="en-US" altLang="zh-CN" sz="2800" b="1" i="1">
                <a:solidFill>
                  <a:srgbClr val="0000FF"/>
                </a:solidFill>
              </a:rPr>
              <a:t>The fourth oxidation</a:t>
            </a:r>
          </a:p>
          <a:p>
            <a:pPr eaLnBrk="1" hangingPunct="1"/>
            <a:r>
              <a:rPr lang="en-US" altLang="zh-CN" sz="2800" b="1" i="1">
                <a:solidFill>
                  <a:srgbClr val="0000FF"/>
                </a:solidFill>
              </a:rPr>
              <a:t>Step in the cycle</a:t>
            </a:r>
            <a:r>
              <a:rPr lang="en-US" altLang="zh-CN" sz="2800" b="1">
                <a:solidFill>
                  <a:srgbClr val="0000FF"/>
                </a:solidFill>
              </a:rPr>
              <a:t>)</a:t>
            </a:r>
          </a:p>
        </p:txBody>
      </p:sp>
      <p:sp>
        <p:nvSpPr>
          <p:cNvPr id="330755" name="Rectangle 3">
            <a:extLst>
              <a:ext uri="{FF2B5EF4-FFF2-40B4-BE49-F238E27FC236}">
                <a16:creationId xmlns:a16="http://schemas.microsoft.com/office/drawing/2014/main" id="{84CFE53C-911E-46A3-BB4E-1B90211FE207}"/>
              </a:ext>
            </a:extLst>
          </p:cNvPr>
          <p:cNvSpPr>
            <a:spLocks noChangeArrowheads="1"/>
          </p:cNvSpPr>
          <p:nvPr/>
        </p:nvSpPr>
        <p:spPr bwMode="auto">
          <a:xfrm>
            <a:off x="423047" y="4419600"/>
            <a:ext cx="854144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4000" b="1" dirty="0">
                <a:solidFill>
                  <a:srgbClr val="FF0000"/>
                </a:solidFill>
              </a:rPr>
              <a:t>Oxaloacetate is regenerated at the end</a:t>
            </a:r>
          </a:p>
        </p:txBody>
      </p:sp>
      <p:pic>
        <p:nvPicPr>
          <p:cNvPr id="330756" name="Picture 4">
            <a:extLst>
              <a:ext uri="{FF2B5EF4-FFF2-40B4-BE49-F238E27FC236}">
                <a16:creationId xmlns:a16="http://schemas.microsoft.com/office/drawing/2014/main" id="{439BDD49-5CDB-4EAD-92D7-1FFB13EA36E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228600"/>
            <a:ext cx="8026400" cy="370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22331305"/>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1778" name="Picture 4">
            <a:extLst>
              <a:ext uri="{FF2B5EF4-FFF2-40B4-BE49-F238E27FC236}">
                <a16:creationId xmlns:a16="http://schemas.microsoft.com/office/drawing/2014/main" id="{E3BE015C-3F9B-4E18-966C-9D0567F0054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0" y="0"/>
            <a:ext cx="65944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9746516"/>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02" name="Rectangle 2">
            <a:extLst>
              <a:ext uri="{FF2B5EF4-FFF2-40B4-BE49-F238E27FC236}">
                <a16:creationId xmlns:a16="http://schemas.microsoft.com/office/drawing/2014/main" id="{617D8109-7BAF-4604-9902-B76BB7E04857}"/>
              </a:ext>
            </a:extLst>
          </p:cNvPr>
          <p:cNvSpPr>
            <a:spLocks noGrp="1" noChangeArrowheads="1"/>
          </p:cNvSpPr>
          <p:nvPr>
            <p:ph type="title" idx="4294967295"/>
          </p:nvPr>
        </p:nvSpPr>
        <p:spPr>
          <a:xfrm>
            <a:off x="0" y="228600"/>
            <a:ext cx="9144000" cy="1143000"/>
          </a:xfrm>
        </p:spPr>
        <p:txBody>
          <a:bodyPr lIns="91440" tIns="45720" rIns="91440" bIns="45720" anchor="ctr"/>
          <a:lstStyle/>
          <a:p>
            <a:r>
              <a:rPr lang="en-US" altLang="zh-CN" dirty="0">
                <a:solidFill>
                  <a:srgbClr val="C00000"/>
                </a:solidFill>
              </a:rPr>
              <a:t>6. The complete oxidation of one glucose may yield as many as 32 ATP </a:t>
            </a:r>
          </a:p>
        </p:txBody>
      </p:sp>
      <p:sp>
        <p:nvSpPr>
          <p:cNvPr id="332803" name="Rectangle 3">
            <a:extLst>
              <a:ext uri="{FF2B5EF4-FFF2-40B4-BE49-F238E27FC236}">
                <a16:creationId xmlns:a16="http://schemas.microsoft.com/office/drawing/2014/main" id="{D6D12B2A-A751-4A60-9238-50C61C93726E}"/>
              </a:ext>
            </a:extLst>
          </p:cNvPr>
          <p:cNvSpPr>
            <a:spLocks noGrp="1" noChangeArrowheads="1"/>
          </p:cNvSpPr>
          <p:nvPr>
            <p:ph type="body" idx="4294967295"/>
          </p:nvPr>
        </p:nvSpPr>
        <p:spPr>
          <a:xfrm>
            <a:off x="0" y="1905000"/>
            <a:ext cx="9144000" cy="4114800"/>
          </a:xfrm>
        </p:spPr>
        <p:txBody>
          <a:bodyPr lIns="91440" tIns="45720" rIns="91440" bIns="45720"/>
          <a:lstStyle/>
          <a:p>
            <a:r>
              <a:rPr lang="en-US" altLang="zh-CN" dirty="0"/>
              <a:t>All the NADH and FADH</a:t>
            </a:r>
            <a:r>
              <a:rPr lang="en-US" altLang="zh-CN" baseline="-25000" dirty="0"/>
              <a:t>2</a:t>
            </a:r>
            <a:r>
              <a:rPr lang="en-US" altLang="zh-CN" dirty="0"/>
              <a:t> will eventually pass their electrons to O</a:t>
            </a:r>
            <a:r>
              <a:rPr lang="en-US" altLang="zh-CN" baseline="-25000" dirty="0"/>
              <a:t>2</a:t>
            </a:r>
            <a:r>
              <a:rPr lang="en-US" altLang="zh-CN" dirty="0"/>
              <a:t> after being transferred through a series of electron carriers.</a:t>
            </a:r>
          </a:p>
          <a:p>
            <a:r>
              <a:rPr lang="en-US" altLang="zh-CN" dirty="0"/>
              <a:t>The complete oxidation of each NADH molecule leads to the generation of 2.5 ATP, and FADH</a:t>
            </a:r>
            <a:r>
              <a:rPr lang="en-US" altLang="zh-CN" baseline="-25000" dirty="0"/>
              <a:t>2</a:t>
            </a:r>
            <a:r>
              <a:rPr lang="en-US" altLang="zh-CN" dirty="0"/>
              <a:t> of about 1.5 ATP.</a:t>
            </a:r>
          </a:p>
        </p:txBody>
      </p:sp>
    </p:spTree>
    <p:extLst>
      <p:ext uri="{BB962C8B-B14F-4D97-AF65-F5344CB8AC3E}">
        <p14:creationId xmlns:p14="http://schemas.microsoft.com/office/powerpoint/2010/main" val="2440231904"/>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3826" name="Picture 2">
            <a:extLst>
              <a:ext uri="{FF2B5EF4-FFF2-40B4-BE49-F238E27FC236}">
                <a16:creationId xmlns:a16="http://schemas.microsoft.com/office/drawing/2014/main" id="{3DD9AD1D-F10B-483B-A9CD-583CDED61D0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0" y="304800"/>
            <a:ext cx="7315200" cy="611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41244155"/>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0" name="Rectangle 2">
            <a:extLst>
              <a:ext uri="{FF2B5EF4-FFF2-40B4-BE49-F238E27FC236}">
                <a16:creationId xmlns:a16="http://schemas.microsoft.com/office/drawing/2014/main" id="{7B32C2F3-F9BA-4B06-9E4E-989B186026B5}"/>
              </a:ext>
            </a:extLst>
          </p:cNvPr>
          <p:cNvSpPr>
            <a:spLocks noChangeArrowheads="1"/>
          </p:cNvSpPr>
          <p:nvPr/>
        </p:nvSpPr>
        <p:spPr bwMode="auto">
          <a:xfrm>
            <a:off x="914400" y="1878013"/>
            <a:ext cx="1841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zh-CN" sz="3200"/>
          </a:p>
        </p:txBody>
      </p:sp>
      <p:pic>
        <p:nvPicPr>
          <p:cNvPr id="334851" name="Picture 3" descr="ta16-1">
            <a:extLst>
              <a:ext uri="{FF2B5EF4-FFF2-40B4-BE49-F238E27FC236}">
                <a16:creationId xmlns:a16="http://schemas.microsoft.com/office/drawing/2014/main" id="{0747A1D3-B6C3-49AA-A689-EA54B4F4AE7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500063"/>
            <a:ext cx="9144000" cy="574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64579549"/>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Rectangle 2">
            <a:extLst>
              <a:ext uri="{FF2B5EF4-FFF2-40B4-BE49-F238E27FC236}">
                <a16:creationId xmlns:a16="http://schemas.microsoft.com/office/drawing/2014/main" id="{89230F4A-8A53-4B33-AD24-B62E3450DE64}"/>
              </a:ext>
            </a:extLst>
          </p:cNvPr>
          <p:cNvSpPr>
            <a:spLocks noGrp="1" noChangeArrowheads="1"/>
          </p:cNvSpPr>
          <p:nvPr>
            <p:ph type="title" idx="4294967295"/>
          </p:nvPr>
        </p:nvSpPr>
        <p:spPr>
          <a:xfrm>
            <a:off x="533400" y="533400"/>
            <a:ext cx="8610600" cy="1143000"/>
          </a:xfrm>
        </p:spPr>
        <p:txBody>
          <a:bodyPr lIns="91440" tIns="45720" rIns="91440" bIns="45720" anchor="ctr"/>
          <a:lstStyle/>
          <a:p>
            <a:r>
              <a:rPr lang="en-US" altLang="zh-CN" dirty="0">
                <a:solidFill>
                  <a:srgbClr val="C00000"/>
                </a:solidFill>
              </a:rPr>
              <a:t>7. The citric acid intermediates are important sources for biosynthetic precursors </a:t>
            </a:r>
          </a:p>
        </p:txBody>
      </p:sp>
      <p:sp>
        <p:nvSpPr>
          <p:cNvPr id="335875" name="Rectangle 3">
            <a:extLst>
              <a:ext uri="{FF2B5EF4-FFF2-40B4-BE49-F238E27FC236}">
                <a16:creationId xmlns:a16="http://schemas.microsoft.com/office/drawing/2014/main" id="{3842E492-A7EE-4421-89C0-0FE89386E137}"/>
              </a:ext>
            </a:extLst>
          </p:cNvPr>
          <p:cNvSpPr>
            <a:spLocks noGrp="1" noChangeArrowheads="1"/>
          </p:cNvSpPr>
          <p:nvPr>
            <p:ph type="body" idx="4294967295"/>
          </p:nvPr>
        </p:nvSpPr>
        <p:spPr>
          <a:xfrm>
            <a:off x="0" y="2362200"/>
            <a:ext cx="9144000" cy="4114800"/>
          </a:xfrm>
        </p:spPr>
        <p:txBody>
          <a:bodyPr lIns="91440" tIns="45720" rIns="91440" bIns="45720"/>
          <a:lstStyle/>
          <a:p>
            <a:r>
              <a:rPr lang="en-US" altLang="zh-CN" sz="3600" dirty="0"/>
              <a:t>The citric acid cycle is the hub of intermediary metabolism serving both the catabolic and anabolic processes.</a:t>
            </a:r>
          </a:p>
          <a:p>
            <a:r>
              <a:rPr lang="en-US" altLang="zh-CN" sz="3600" dirty="0"/>
              <a:t>It provides precursors for the biosynthesis of glucose, amino acids, nucleotides, fatty acids, sterols, </a:t>
            </a:r>
            <a:r>
              <a:rPr lang="en-US" altLang="zh-CN" sz="3600" dirty="0" err="1"/>
              <a:t>heme</a:t>
            </a:r>
            <a:r>
              <a:rPr lang="en-US" altLang="zh-CN" sz="3600" dirty="0"/>
              <a:t> groups, etc.</a:t>
            </a:r>
          </a:p>
        </p:txBody>
      </p:sp>
    </p:spTree>
    <p:extLst>
      <p:ext uri="{BB962C8B-B14F-4D97-AF65-F5344CB8AC3E}">
        <p14:creationId xmlns:p14="http://schemas.microsoft.com/office/powerpoint/2010/main" val="3187197003"/>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6898" name="Picture 1027">
            <a:extLst>
              <a:ext uri="{FF2B5EF4-FFF2-40B4-BE49-F238E27FC236}">
                <a16:creationId xmlns:a16="http://schemas.microsoft.com/office/drawing/2014/main" id="{1F38041D-D17F-4241-A764-A4DBAEF8BCB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1000" y="19050"/>
            <a:ext cx="8382000" cy="671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09189588"/>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22" name="Picture 3" descr="ta16-2">
            <a:extLst>
              <a:ext uri="{FF2B5EF4-FFF2-40B4-BE49-F238E27FC236}">
                <a16:creationId xmlns:a16="http://schemas.microsoft.com/office/drawing/2014/main" id="{59551E3A-BF13-4F10-B856-C0D7AEFADD1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928813"/>
            <a:ext cx="91440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23" name="TextBox 4">
            <a:extLst>
              <a:ext uri="{FF2B5EF4-FFF2-40B4-BE49-F238E27FC236}">
                <a16:creationId xmlns:a16="http://schemas.microsoft.com/office/drawing/2014/main" id="{51A0B588-D25E-4677-A22F-D0280DFD42AC}"/>
              </a:ext>
            </a:extLst>
          </p:cNvPr>
          <p:cNvSpPr txBox="1">
            <a:spLocks noChangeArrowheads="1"/>
          </p:cNvSpPr>
          <p:nvPr/>
        </p:nvSpPr>
        <p:spPr bwMode="auto">
          <a:xfrm>
            <a:off x="285750" y="642938"/>
            <a:ext cx="88582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b="1" dirty="0">
                <a:solidFill>
                  <a:srgbClr val="C00000"/>
                </a:solidFill>
              </a:rPr>
              <a:t>回补反应： </a:t>
            </a:r>
            <a:r>
              <a:rPr lang="zh-CN" altLang="en-US" sz="3600" dirty="0">
                <a:solidFill>
                  <a:srgbClr val="0070C0"/>
                </a:solidFill>
              </a:rPr>
              <a:t>当中间产物用于其它物质的合成，须补充</a:t>
            </a:r>
            <a:r>
              <a:rPr lang="en-US" altLang="zh-CN" sz="3600" dirty="0">
                <a:solidFill>
                  <a:srgbClr val="0070C0"/>
                </a:solidFill>
              </a:rPr>
              <a:t>OAA</a:t>
            </a:r>
            <a:r>
              <a:rPr lang="zh-CN" altLang="en-US" sz="3600" dirty="0">
                <a:solidFill>
                  <a:srgbClr val="0070C0"/>
                </a:solidFill>
              </a:rPr>
              <a:t>，以使循环继续</a:t>
            </a:r>
          </a:p>
        </p:txBody>
      </p:sp>
    </p:spTree>
    <p:extLst>
      <p:ext uri="{BB962C8B-B14F-4D97-AF65-F5344CB8AC3E}">
        <p14:creationId xmlns:p14="http://schemas.microsoft.com/office/powerpoint/2010/main" val="4165232625"/>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2">
            <a:extLst>
              <a:ext uri="{FF2B5EF4-FFF2-40B4-BE49-F238E27FC236}">
                <a16:creationId xmlns:a16="http://schemas.microsoft.com/office/drawing/2014/main" id="{638BF910-2551-44F5-BCF9-50D8ED73F7D0}"/>
              </a:ext>
            </a:extLst>
          </p:cNvPr>
          <p:cNvSpPr>
            <a:spLocks noGrp="1" noChangeArrowheads="1"/>
          </p:cNvSpPr>
          <p:nvPr>
            <p:ph type="title" idx="4294967295"/>
          </p:nvPr>
        </p:nvSpPr>
        <p:spPr>
          <a:xfrm>
            <a:off x="0" y="381000"/>
            <a:ext cx="9144000" cy="1752600"/>
          </a:xfrm>
        </p:spPr>
        <p:txBody>
          <a:bodyPr lIns="91440" tIns="45720" rIns="91440" bIns="45720" anchor="ctr"/>
          <a:lstStyle/>
          <a:p>
            <a:r>
              <a:rPr lang="en-US" altLang="zh-CN" dirty="0">
                <a:solidFill>
                  <a:srgbClr val="C00000"/>
                </a:solidFill>
              </a:rPr>
              <a:t>8. Net conversion of acetate to carbohydrates is allowed via the glyoxylate cycle </a:t>
            </a:r>
            <a:r>
              <a:rPr lang="en-US" altLang="zh-CN" sz="2400" b="1" dirty="0">
                <a:solidFill>
                  <a:srgbClr val="C00000"/>
                </a:solidFill>
              </a:rPr>
              <a:t>(</a:t>
            </a:r>
            <a:r>
              <a:rPr lang="zh-CN" altLang="en-US" sz="2400" b="1" dirty="0">
                <a:solidFill>
                  <a:srgbClr val="C00000"/>
                </a:solidFill>
              </a:rPr>
              <a:t>乙醛酸循环）</a:t>
            </a:r>
            <a:r>
              <a:rPr lang="zh-CN" altLang="en-US" dirty="0">
                <a:solidFill>
                  <a:srgbClr val="C00000"/>
                </a:solidFill>
              </a:rPr>
              <a:t> </a:t>
            </a:r>
          </a:p>
        </p:txBody>
      </p:sp>
      <p:sp>
        <p:nvSpPr>
          <p:cNvPr id="338947" name="Rectangle 3">
            <a:extLst>
              <a:ext uri="{FF2B5EF4-FFF2-40B4-BE49-F238E27FC236}">
                <a16:creationId xmlns:a16="http://schemas.microsoft.com/office/drawing/2014/main" id="{56B249BA-FB90-4992-AC88-E4507D11AB44}"/>
              </a:ext>
            </a:extLst>
          </p:cNvPr>
          <p:cNvSpPr>
            <a:spLocks noGrp="1" noChangeArrowheads="1"/>
          </p:cNvSpPr>
          <p:nvPr>
            <p:ph type="body" idx="4294967295"/>
          </p:nvPr>
        </p:nvSpPr>
        <p:spPr>
          <a:xfrm>
            <a:off x="0" y="2286000"/>
            <a:ext cx="9144000" cy="4114800"/>
          </a:xfrm>
        </p:spPr>
        <p:txBody>
          <a:bodyPr lIns="91440" tIns="45720" rIns="91440" bIns="45720"/>
          <a:lstStyle/>
          <a:p>
            <a:r>
              <a:rPr lang="en-US" altLang="zh-CN" dirty="0"/>
              <a:t>Net conversion of acetate to four-carbon citric acid cycle intermediates occurs via the glyoxylate cycle, found </a:t>
            </a:r>
            <a:r>
              <a:rPr lang="en-US" altLang="zh-CN" b="1" dirty="0">
                <a:solidFill>
                  <a:srgbClr val="0000FF"/>
                </a:solidFill>
              </a:rPr>
              <a:t>in plants</a:t>
            </a:r>
            <a:r>
              <a:rPr lang="en-US" altLang="zh-CN" dirty="0"/>
              <a:t>, certain invertebrates, and some microorganisms  (including </a:t>
            </a:r>
            <a:r>
              <a:rPr lang="en-US" altLang="zh-CN" i="1" dirty="0"/>
              <a:t>E. coli</a:t>
            </a:r>
            <a:r>
              <a:rPr lang="en-US" altLang="zh-CN" dirty="0"/>
              <a:t> and yeast).</a:t>
            </a:r>
          </a:p>
          <a:p>
            <a:r>
              <a:rPr lang="en-US" altLang="zh-CN" dirty="0"/>
              <a:t>The glyoxylate cycle shares three steps and bypasses the rest, including the two decarboxylation steps, of the citric acid cycle.</a:t>
            </a:r>
          </a:p>
        </p:txBody>
      </p:sp>
    </p:spTree>
    <p:extLst>
      <p:ext uri="{BB962C8B-B14F-4D97-AF65-F5344CB8AC3E}">
        <p14:creationId xmlns:p14="http://schemas.microsoft.com/office/powerpoint/2010/main" val="273383615"/>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0" name="Rectangle 2">
            <a:extLst>
              <a:ext uri="{FF2B5EF4-FFF2-40B4-BE49-F238E27FC236}">
                <a16:creationId xmlns:a16="http://schemas.microsoft.com/office/drawing/2014/main" id="{1B4C7EA8-78BE-46BC-A1B0-0BCC1604AB83}"/>
              </a:ext>
            </a:extLst>
          </p:cNvPr>
          <p:cNvSpPr>
            <a:spLocks noGrp="1" noChangeArrowheads="1"/>
          </p:cNvSpPr>
          <p:nvPr>
            <p:ph type="title" idx="4294967295"/>
          </p:nvPr>
        </p:nvSpPr>
        <p:spPr>
          <a:xfrm flipV="1">
            <a:off x="0" y="-53975"/>
            <a:ext cx="7772400" cy="106363"/>
          </a:xfrm>
        </p:spPr>
        <p:txBody>
          <a:bodyPr lIns="91440" tIns="45720" rIns="91440" bIns="45720" anchor="ctr"/>
          <a:lstStyle/>
          <a:p>
            <a:r>
              <a:rPr lang="en-US" altLang="zh-CN"/>
              <a:t> </a:t>
            </a:r>
          </a:p>
        </p:txBody>
      </p:sp>
      <p:sp>
        <p:nvSpPr>
          <p:cNvPr id="339971" name="Rectangle 3">
            <a:extLst>
              <a:ext uri="{FF2B5EF4-FFF2-40B4-BE49-F238E27FC236}">
                <a16:creationId xmlns:a16="http://schemas.microsoft.com/office/drawing/2014/main" id="{DF0C29DA-3FDC-4B39-B405-3EE097BCEE29}"/>
              </a:ext>
            </a:extLst>
          </p:cNvPr>
          <p:cNvSpPr>
            <a:spLocks noGrp="1" noChangeArrowheads="1"/>
          </p:cNvSpPr>
          <p:nvPr>
            <p:ph type="body" idx="4294967295"/>
          </p:nvPr>
        </p:nvSpPr>
        <p:spPr>
          <a:xfrm>
            <a:off x="0" y="381000"/>
            <a:ext cx="9144000" cy="4114800"/>
          </a:xfrm>
        </p:spPr>
        <p:txBody>
          <a:bodyPr lIns="91440" tIns="45720" rIns="91440" bIns="45720"/>
          <a:lstStyle/>
          <a:p>
            <a:r>
              <a:rPr lang="en-US" altLang="zh-CN" b="1" dirty="0">
                <a:solidFill>
                  <a:srgbClr val="0000FF"/>
                </a:solidFill>
              </a:rPr>
              <a:t>Two acetyl-CoA </a:t>
            </a:r>
            <a:r>
              <a:rPr lang="en-US" altLang="zh-CN" dirty="0"/>
              <a:t>molecules enter each glyoxylate cycle with a net production of </a:t>
            </a:r>
            <a:r>
              <a:rPr lang="en-US" altLang="zh-CN" b="1" dirty="0">
                <a:solidFill>
                  <a:srgbClr val="0000FF"/>
                </a:solidFill>
              </a:rPr>
              <a:t>one succinate</a:t>
            </a:r>
            <a:r>
              <a:rPr lang="en-US" altLang="zh-CN" dirty="0"/>
              <a:t>.</a:t>
            </a:r>
          </a:p>
          <a:p>
            <a:r>
              <a:rPr lang="en-US" altLang="zh-CN" b="1" dirty="0">
                <a:solidFill>
                  <a:srgbClr val="0000FF"/>
                </a:solidFill>
              </a:rPr>
              <a:t>Isocitrate lyase and  malate synthase </a:t>
            </a:r>
            <a:r>
              <a:rPr lang="en-US" altLang="zh-CN" dirty="0"/>
              <a:t>are the two bypassing enzymes, converting isocitrate to malate via the glyoxylate intermediate, releasing a succinate on the way.</a:t>
            </a:r>
          </a:p>
          <a:p>
            <a:endParaRPr lang="en-US" altLang="zh-CN" dirty="0"/>
          </a:p>
        </p:txBody>
      </p:sp>
    </p:spTree>
    <p:extLst>
      <p:ext uri="{BB962C8B-B14F-4D97-AF65-F5344CB8AC3E}">
        <p14:creationId xmlns:p14="http://schemas.microsoft.com/office/powerpoint/2010/main" val="2724067263"/>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0994" name="Picture 6">
            <a:extLst>
              <a:ext uri="{FF2B5EF4-FFF2-40B4-BE49-F238E27FC236}">
                <a16:creationId xmlns:a16="http://schemas.microsoft.com/office/drawing/2014/main" id="{17CE710B-37F7-46C6-B1B2-B645253C025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40113" y="0"/>
            <a:ext cx="5703887"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0995" name="Rectangle 5">
            <a:extLst>
              <a:ext uri="{FF2B5EF4-FFF2-40B4-BE49-F238E27FC236}">
                <a16:creationId xmlns:a16="http://schemas.microsoft.com/office/drawing/2014/main" id="{85653FC1-A109-40F8-8DC6-35CEE122A018}"/>
              </a:ext>
            </a:extLst>
          </p:cNvPr>
          <p:cNvSpPr>
            <a:spLocks noChangeArrowheads="1"/>
          </p:cNvSpPr>
          <p:nvPr/>
        </p:nvSpPr>
        <p:spPr bwMode="auto">
          <a:xfrm>
            <a:off x="0" y="49213"/>
            <a:ext cx="348615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4000" b="1" dirty="0">
                <a:solidFill>
                  <a:srgbClr val="C00000"/>
                </a:solidFill>
              </a:rPr>
              <a:t>The glyoxylate </a:t>
            </a:r>
          </a:p>
          <a:p>
            <a:pPr eaLnBrk="1" hangingPunct="1"/>
            <a:r>
              <a:rPr lang="en-US" altLang="zh-CN" sz="4000" b="1" dirty="0">
                <a:solidFill>
                  <a:srgbClr val="C00000"/>
                </a:solidFill>
              </a:rPr>
              <a:t>cycle</a:t>
            </a:r>
          </a:p>
        </p:txBody>
      </p:sp>
    </p:spTree>
    <p:extLst>
      <p:ext uri="{BB962C8B-B14F-4D97-AF65-F5344CB8AC3E}">
        <p14:creationId xmlns:p14="http://schemas.microsoft.com/office/powerpoint/2010/main" val="3076204321"/>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F8EE9B62-05B3-E978-1805-F1DDA3B05190}"/>
              </a:ext>
            </a:extLst>
          </p:cNvPr>
          <p:cNvPicPr>
            <a:picLocks noChangeAspect="1"/>
          </p:cNvPicPr>
          <p:nvPr/>
        </p:nvPicPr>
        <p:blipFill>
          <a:blip r:embed="rId3"/>
          <a:stretch>
            <a:fillRect/>
          </a:stretch>
        </p:blipFill>
        <p:spPr>
          <a:xfrm>
            <a:off x="1835696" y="908720"/>
            <a:ext cx="5717248" cy="5849888"/>
          </a:xfrm>
          <a:prstGeom prst="rect">
            <a:avLst/>
          </a:prstGeom>
        </p:spPr>
      </p:pic>
      <p:sp>
        <p:nvSpPr>
          <p:cNvPr id="4" name="文本框 3">
            <a:extLst>
              <a:ext uri="{FF2B5EF4-FFF2-40B4-BE49-F238E27FC236}">
                <a16:creationId xmlns:a16="http://schemas.microsoft.com/office/drawing/2014/main" id="{ECCDA41B-4FAE-6B24-1497-4DFD3B4BFE35}"/>
              </a:ext>
            </a:extLst>
          </p:cNvPr>
          <p:cNvSpPr txBox="1"/>
          <p:nvPr/>
        </p:nvSpPr>
        <p:spPr>
          <a:xfrm>
            <a:off x="1259632" y="99392"/>
            <a:ext cx="6182142" cy="646331"/>
          </a:xfrm>
          <a:prstGeom prst="rect">
            <a:avLst/>
          </a:prstGeom>
          <a:noFill/>
        </p:spPr>
        <p:txBody>
          <a:bodyPr wrap="none" rtlCol="0">
            <a:spAutoFit/>
          </a:bodyPr>
          <a:lstStyle/>
          <a:p>
            <a:r>
              <a:rPr lang="en-US" altLang="zh-CN" sz="1800" b="1" i="0" dirty="0">
                <a:solidFill>
                  <a:srgbClr val="000000"/>
                </a:solidFill>
                <a:effectLst/>
                <a:latin typeface="TimesNewRomanPS-BoldMT"/>
              </a:rPr>
              <a:t>Conversion of stored fatty acids to sucrose </a:t>
            </a:r>
          </a:p>
          <a:p>
            <a:r>
              <a:rPr lang="en-US" altLang="zh-CN" b="1" dirty="0">
                <a:solidFill>
                  <a:srgbClr val="000000"/>
                </a:solidFill>
                <a:latin typeface="TimesNewRomanPS-BoldMT"/>
              </a:rPr>
              <a:t>                    </a:t>
            </a:r>
            <a:r>
              <a:rPr lang="en-US" altLang="zh-CN" sz="1800" b="1" i="0" dirty="0">
                <a:solidFill>
                  <a:srgbClr val="000000"/>
                </a:solidFill>
                <a:effectLst/>
                <a:latin typeface="TimesNewRomanPS-BoldMT"/>
              </a:rPr>
              <a:t>in germinating seeds through the glyoxylate cycle</a:t>
            </a:r>
            <a:endParaRPr lang="zh-CN" altLang="en-US" dirty="0"/>
          </a:p>
        </p:txBody>
      </p:sp>
      <p:sp>
        <p:nvSpPr>
          <p:cNvPr id="2" name="文本框 1">
            <a:extLst>
              <a:ext uri="{FF2B5EF4-FFF2-40B4-BE49-F238E27FC236}">
                <a16:creationId xmlns:a16="http://schemas.microsoft.com/office/drawing/2014/main" id="{F016BB68-69C8-B626-7F78-2339264B6291}"/>
              </a:ext>
            </a:extLst>
          </p:cNvPr>
          <p:cNvSpPr txBox="1"/>
          <p:nvPr/>
        </p:nvSpPr>
        <p:spPr>
          <a:xfrm>
            <a:off x="2195736" y="908720"/>
            <a:ext cx="1200970" cy="307777"/>
          </a:xfrm>
          <a:prstGeom prst="rect">
            <a:avLst/>
          </a:prstGeom>
          <a:noFill/>
        </p:spPr>
        <p:txBody>
          <a:bodyPr wrap="none" rtlCol="0">
            <a:spAutoFit/>
          </a:bodyPr>
          <a:lstStyle/>
          <a:p>
            <a:r>
              <a:rPr lang="en-US" altLang="zh-CN" sz="1400" b="1" dirty="0"/>
              <a:t>Peroxisome</a:t>
            </a:r>
            <a:endParaRPr lang="zh-CN" altLang="en-US" sz="1400" b="1" dirty="0"/>
          </a:p>
        </p:txBody>
      </p:sp>
    </p:spTree>
    <p:extLst>
      <p:ext uri="{BB962C8B-B14F-4D97-AF65-F5344CB8AC3E}">
        <p14:creationId xmlns:p14="http://schemas.microsoft.com/office/powerpoint/2010/main" val="1387159816"/>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2835638C-CB33-E1B1-58C3-A79DC1F726FF}"/>
              </a:ext>
            </a:extLst>
          </p:cNvPr>
          <p:cNvPicPr>
            <a:picLocks noChangeAspect="1"/>
          </p:cNvPicPr>
          <p:nvPr/>
        </p:nvPicPr>
        <p:blipFill>
          <a:blip r:embed="rId2"/>
          <a:stretch>
            <a:fillRect/>
          </a:stretch>
        </p:blipFill>
        <p:spPr>
          <a:xfrm>
            <a:off x="677083" y="116632"/>
            <a:ext cx="7789834" cy="6165304"/>
          </a:xfrm>
          <a:prstGeom prst="rect">
            <a:avLst/>
          </a:prstGeom>
        </p:spPr>
      </p:pic>
    </p:spTree>
    <p:extLst>
      <p:ext uri="{BB962C8B-B14F-4D97-AF65-F5344CB8AC3E}">
        <p14:creationId xmlns:p14="http://schemas.microsoft.com/office/powerpoint/2010/main" val="732782102"/>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2018" name="Picture 2" descr="15-15">
            <a:extLst>
              <a:ext uri="{FF2B5EF4-FFF2-40B4-BE49-F238E27FC236}">
                <a16:creationId xmlns:a16="http://schemas.microsoft.com/office/drawing/2014/main" id="{920A6EE4-992F-4940-A942-3DD66FFC624B}"/>
              </a:ext>
            </a:extLst>
          </p:cNvPr>
          <p:cNvPicPr>
            <a:picLocks noChangeAspect="1" noChangeArrowheads="1"/>
          </p:cNvPicPr>
          <p:nvPr/>
        </p:nvPicPr>
        <p:blipFill>
          <a:blip r:embed="rId2" cstate="print">
            <a:lum contrast="18000"/>
            <a:extLst>
              <a:ext uri="{28A0092B-C50C-407E-A947-70E740481C1C}">
                <a14:useLocalDpi xmlns:a14="http://schemas.microsoft.com/office/drawing/2010/main" val="0"/>
              </a:ext>
            </a:extLst>
          </a:blip>
          <a:srcRect/>
          <a:stretch>
            <a:fillRect/>
          </a:stretch>
        </p:blipFill>
        <p:spPr bwMode="auto">
          <a:xfrm>
            <a:off x="1066800" y="0"/>
            <a:ext cx="665956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65053637"/>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1026">
            <a:extLst>
              <a:ext uri="{FF2B5EF4-FFF2-40B4-BE49-F238E27FC236}">
                <a16:creationId xmlns:a16="http://schemas.microsoft.com/office/drawing/2014/main" id="{30A4E4CA-9339-408F-A011-E9D817328196}"/>
              </a:ext>
            </a:extLst>
          </p:cNvPr>
          <p:cNvSpPr>
            <a:spLocks noGrp="1" noChangeArrowheads="1"/>
          </p:cNvSpPr>
          <p:nvPr>
            <p:ph type="title" idx="4294967295"/>
          </p:nvPr>
        </p:nvSpPr>
        <p:spPr>
          <a:xfrm>
            <a:off x="0" y="685800"/>
            <a:ext cx="9144000" cy="1143000"/>
          </a:xfrm>
        </p:spPr>
        <p:txBody>
          <a:bodyPr lIns="91440" tIns="45720" rIns="91440" bIns="45720" anchor="ctr"/>
          <a:lstStyle/>
          <a:p>
            <a:r>
              <a:rPr lang="en-US" altLang="zh-CN" dirty="0">
                <a:solidFill>
                  <a:srgbClr val="C00000"/>
                </a:solidFill>
              </a:rPr>
              <a:t>9. The pyruvate dehydrogenase complex in vertebrates is regulated alloseterically and covalently</a:t>
            </a:r>
          </a:p>
        </p:txBody>
      </p:sp>
      <p:sp>
        <p:nvSpPr>
          <p:cNvPr id="343043" name="Rectangle 1029">
            <a:extLst>
              <a:ext uri="{FF2B5EF4-FFF2-40B4-BE49-F238E27FC236}">
                <a16:creationId xmlns:a16="http://schemas.microsoft.com/office/drawing/2014/main" id="{7B189741-0BA4-4C46-9EE6-C1E5E21AFC99}"/>
              </a:ext>
            </a:extLst>
          </p:cNvPr>
          <p:cNvSpPr>
            <a:spLocks noChangeArrowheads="1"/>
          </p:cNvSpPr>
          <p:nvPr/>
        </p:nvSpPr>
        <p:spPr bwMode="auto">
          <a:xfrm>
            <a:off x="0" y="3200400"/>
            <a:ext cx="9144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4400" dirty="0">
                <a:solidFill>
                  <a:srgbClr val="C00000"/>
                </a:solidFill>
              </a:rPr>
              <a:t>10. The rate of the citric acid cycle is controlled at three exergonic irreversible steps </a:t>
            </a:r>
          </a:p>
        </p:txBody>
      </p:sp>
    </p:spTree>
    <p:extLst>
      <p:ext uri="{BB962C8B-B14F-4D97-AF65-F5344CB8AC3E}">
        <p14:creationId xmlns:p14="http://schemas.microsoft.com/office/powerpoint/2010/main" val="3742704126"/>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4066" name="Picture 5">
            <a:extLst>
              <a:ext uri="{FF2B5EF4-FFF2-40B4-BE49-F238E27FC236}">
                <a16:creationId xmlns:a16="http://schemas.microsoft.com/office/drawing/2014/main" id="{39FC51B5-30C2-4A09-9D1B-F6BD3CDE561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60563" y="0"/>
            <a:ext cx="5126037"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29776622"/>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0" name="Rectangle 3">
            <a:extLst>
              <a:ext uri="{FF2B5EF4-FFF2-40B4-BE49-F238E27FC236}">
                <a16:creationId xmlns:a16="http://schemas.microsoft.com/office/drawing/2014/main" id="{9A4F6BF8-C437-4358-92D2-3899DF1F2AA4}"/>
              </a:ext>
            </a:extLst>
          </p:cNvPr>
          <p:cNvSpPr>
            <a:spLocks noGrp="1" noChangeArrowheads="1"/>
          </p:cNvSpPr>
          <p:nvPr>
            <p:ph type="body" idx="4294967295"/>
          </p:nvPr>
        </p:nvSpPr>
        <p:spPr>
          <a:xfrm>
            <a:off x="0" y="2133600"/>
            <a:ext cx="9144000" cy="4114800"/>
          </a:xfrm>
        </p:spPr>
        <p:txBody>
          <a:bodyPr lIns="91440" tIns="45720" rIns="91440" bIns="45720"/>
          <a:lstStyle/>
          <a:p>
            <a:r>
              <a:rPr lang="en-US" altLang="zh-CN" b="1" dirty="0">
                <a:solidFill>
                  <a:srgbClr val="C00000"/>
                </a:solidFill>
              </a:rPr>
              <a:t>Citrate synthase, isocitrate dehydrogenase </a:t>
            </a:r>
            <a:r>
              <a:rPr lang="en-US" altLang="zh-CN" dirty="0">
                <a:solidFill>
                  <a:srgbClr val="C00000"/>
                </a:solidFill>
              </a:rPr>
              <a:t>and</a:t>
            </a:r>
            <a:r>
              <a:rPr lang="en-US" altLang="zh-CN" b="1" dirty="0">
                <a:solidFill>
                  <a:srgbClr val="C00000"/>
                </a:solidFill>
              </a:rPr>
              <a:t> </a:t>
            </a:r>
            <a:r>
              <a:rPr lang="en-US" altLang="zh-CN" b="1" dirty="0">
                <a:solidFill>
                  <a:srgbClr val="C00000"/>
                </a:solidFill>
                <a:latin typeface="Symbol" panose="05050102010706020507" pitchFamily="18" charset="2"/>
              </a:rPr>
              <a:t>a</a:t>
            </a:r>
            <a:r>
              <a:rPr lang="en-US" altLang="zh-CN" b="1" dirty="0">
                <a:solidFill>
                  <a:srgbClr val="C00000"/>
                </a:solidFill>
              </a:rPr>
              <a:t>-ketoglutarate dehydrogenase;</a:t>
            </a:r>
          </a:p>
          <a:p>
            <a:r>
              <a:rPr lang="en-US" altLang="zh-CN" dirty="0"/>
              <a:t>Inhibited by </a:t>
            </a:r>
            <a:r>
              <a:rPr lang="en-US" altLang="zh-CN" b="1" dirty="0">
                <a:solidFill>
                  <a:srgbClr val="0000FF"/>
                </a:solidFill>
              </a:rPr>
              <a:t>product</a:t>
            </a:r>
            <a:r>
              <a:rPr lang="en-US" altLang="zh-CN" dirty="0"/>
              <a:t> feedback (citrate, succinyl-CoA) and </a:t>
            </a:r>
            <a:r>
              <a:rPr lang="en-US" altLang="zh-CN" b="1" dirty="0">
                <a:solidFill>
                  <a:srgbClr val="0000FF"/>
                </a:solidFill>
              </a:rPr>
              <a:t>high energy charge </a:t>
            </a:r>
            <a:r>
              <a:rPr lang="en-US" altLang="zh-CN" dirty="0"/>
              <a:t>(ATP, NADH);</a:t>
            </a:r>
          </a:p>
          <a:p>
            <a:r>
              <a:rPr lang="en-US" altLang="zh-CN" dirty="0"/>
              <a:t>Activated by a </a:t>
            </a:r>
            <a:r>
              <a:rPr lang="en-US" altLang="zh-CN" b="1" dirty="0">
                <a:solidFill>
                  <a:srgbClr val="0000FF"/>
                </a:solidFill>
              </a:rPr>
              <a:t>low energy charge </a:t>
            </a:r>
            <a:r>
              <a:rPr lang="en-US" altLang="zh-CN" dirty="0"/>
              <a:t>(ADP) or a signal for energy requirement (</a:t>
            </a:r>
            <a:r>
              <a:rPr lang="en-US" altLang="zh-CN" b="1" dirty="0">
                <a:solidFill>
                  <a:srgbClr val="0000FF"/>
                </a:solidFill>
              </a:rPr>
              <a:t>Ca</a:t>
            </a:r>
            <a:r>
              <a:rPr lang="en-US" altLang="zh-CN" b="1" baseline="30000" dirty="0">
                <a:solidFill>
                  <a:srgbClr val="0000FF"/>
                </a:solidFill>
              </a:rPr>
              <a:t>2+</a:t>
            </a:r>
            <a:r>
              <a:rPr lang="en-US" altLang="zh-CN" dirty="0"/>
              <a:t>).</a:t>
            </a:r>
          </a:p>
          <a:p>
            <a:endParaRPr lang="en-US" altLang="zh-CN" dirty="0"/>
          </a:p>
        </p:txBody>
      </p:sp>
    </p:spTree>
    <p:extLst>
      <p:ext uri="{BB962C8B-B14F-4D97-AF65-F5344CB8AC3E}">
        <p14:creationId xmlns:p14="http://schemas.microsoft.com/office/powerpoint/2010/main" val="1162290729"/>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Rectangle 2">
            <a:extLst>
              <a:ext uri="{FF2B5EF4-FFF2-40B4-BE49-F238E27FC236}">
                <a16:creationId xmlns:a16="http://schemas.microsoft.com/office/drawing/2014/main" id="{C1DA0342-0A77-480D-9692-D576C9E352BD}"/>
              </a:ext>
            </a:extLst>
          </p:cNvPr>
          <p:cNvSpPr>
            <a:spLocks noGrp="1" noChangeArrowheads="1"/>
          </p:cNvSpPr>
          <p:nvPr>
            <p:ph type="title" idx="4294967295"/>
          </p:nvPr>
        </p:nvSpPr>
        <p:spPr>
          <a:xfrm>
            <a:off x="0" y="-304800"/>
            <a:ext cx="7772400" cy="1143000"/>
          </a:xfrm>
        </p:spPr>
        <p:txBody>
          <a:bodyPr lIns="91440" tIns="45720" rIns="91440" bIns="45720" anchor="ctr"/>
          <a:lstStyle/>
          <a:p>
            <a:r>
              <a:rPr lang="en-US" altLang="zh-CN"/>
              <a:t>Summary</a:t>
            </a:r>
          </a:p>
        </p:txBody>
      </p:sp>
      <p:sp>
        <p:nvSpPr>
          <p:cNvPr id="346115" name="Rectangle 3">
            <a:extLst>
              <a:ext uri="{FF2B5EF4-FFF2-40B4-BE49-F238E27FC236}">
                <a16:creationId xmlns:a16="http://schemas.microsoft.com/office/drawing/2014/main" id="{3F91C9F2-8376-4823-9B89-BAB7847DD9C0}"/>
              </a:ext>
            </a:extLst>
          </p:cNvPr>
          <p:cNvSpPr>
            <a:spLocks noGrp="1" noChangeArrowheads="1"/>
          </p:cNvSpPr>
          <p:nvPr>
            <p:ph type="body" idx="4294967295"/>
          </p:nvPr>
        </p:nvSpPr>
        <p:spPr>
          <a:xfrm>
            <a:off x="0" y="762000"/>
            <a:ext cx="9144000" cy="6096000"/>
          </a:xfrm>
        </p:spPr>
        <p:txBody>
          <a:bodyPr lIns="91440" tIns="45720" rIns="91440" bIns="45720"/>
          <a:lstStyle/>
          <a:p>
            <a:r>
              <a:rPr lang="en-US" altLang="zh-CN" dirty="0"/>
              <a:t>Pyruvate is converted to acetyl-CoA by the action of pyruvate dehydrogenase complex, a huge enzyme complex.</a:t>
            </a:r>
          </a:p>
          <a:p>
            <a:r>
              <a:rPr lang="en-US" altLang="zh-CN" dirty="0"/>
              <a:t>Acetyl-CoA is converted to 2 CO</a:t>
            </a:r>
            <a:r>
              <a:rPr lang="en-US" altLang="zh-CN" baseline="-25000" dirty="0"/>
              <a:t>2</a:t>
            </a:r>
            <a:r>
              <a:rPr lang="en-US" altLang="zh-CN" dirty="0"/>
              <a:t> via the eight-step citric acid cycle, generating three NADH, one FADH</a:t>
            </a:r>
            <a:r>
              <a:rPr lang="en-US" altLang="zh-CN" baseline="-25000" dirty="0"/>
              <a:t>2</a:t>
            </a:r>
            <a:r>
              <a:rPr lang="en-US" altLang="zh-CN" dirty="0"/>
              <a:t>, and one ATP (by substrate-level </a:t>
            </a:r>
            <a:r>
              <a:rPr lang="en-US" altLang="zh-CN" dirty="0" err="1"/>
              <a:t>phophorylation</a:t>
            </a:r>
            <a:r>
              <a:rPr lang="en-US" altLang="zh-CN" dirty="0"/>
              <a:t>).</a:t>
            </a:r>
          </a:p>
          <a:p>
            <a:r>
              <a:rPr lang="en-US" altLang="zh-CN" dirty="0"/>
              <a:t>Intermediates of citric acid cycle are drawn off to synthesize many other biomolecules, including fatty acids, steroids, amino acids, </a:t>
            </a:r>
            <a:r>
              <a:rPr lang="en-US" altLang="zh-CN" dirty="0" err="1"/>
              <a:t>heme</a:t>
            </a:r>
            <a:r>
              <a:rPr lang="en-US" altLang="zh-CN" dirty="0"/>
              <a:t>, pyrimidines, and glucose.</a:t>
            </a:r>
          </a:p>
        </p:txBody>
      </p:sp>
    </p:spTree>
    <p:extLst>
      <p:ext uri="{BB962C8B-B14F-4D97-AF65-F5344CB8AC3E}">
        <p14:creationId xmlns:p14="http://schemas.microsoft.com/office/powerpoint/2010/main" val="3266435241"/>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Rectangle 3">
            <a:extLst>
              <a:ext uri="{FF2B5EF4-FFF2-40B4-BE49-F238E27FC236}">
                <a16:creationId xmlns:a16="http://schemas.microsoft.com/office/drawing/2014/main" id="{8E5580FD-26E8-4620-B26F-3EA29CC4A5EB}"/>
              </a:ext>
            </a:extLst>
          </p:cNvPr>
          <p:cNvSpPr>
            <a:spLocks noGrp="1" noChangeArrowheads="1"/>
          </p:cNvSpPr>
          <p:nvPr>
            <p:ph type="body" idx="4294967295"/>
          </p:nvPr>
        </p:nvSpPr>
        <p:spPr>
          <a:xfrm>
            <a:off x="0" y="228600"/>
            <a:ext cx="9144000" cy="6324600"/>
          </a:xfrm>
        </p:spPr>
        <p:txBody>
          <a:bodyPr lIns="91440" tIns="45720" rIns="91440" bIns="45720"/>
          <a:lstStyle/>
          <a:p>
            <a:r>
              <a:rPr lang="en-US" altLang="zh-CN" dirty="0"/>
              <a:t>The activity of pyruvate dehydrogenase complex is regulated by allosteric effectors and reversible </a:t>
            </a:r>
            <a:r>
              <a:rPr lang="en-US" altLang="zh-CN" dirty="0" err="1"/>
              <a:t>phosphorylations</a:t>
            </a:r>
            <a:r>
              <a:rPr lang="en-US" altLang="zh-CN" dirty="0"/>
              <a:t>.</a:t>
            </a:r>
          </a:p>
          <a:p>
            <a:r>
              <a:rPr lang="en-US" altLang="zh-CN" dirty="0"/>
              <a:t>Net conversion of fatty acids to glucose can occur in germinating seeds, some invertebrates and some bacteria via the </a:t>
            </a:r>
            <a:r>
              <a:rPr lang="en-US" altLang="zh-CN" dirty="0" err="1"/>
              <a:t>glycoxylate</a:t>
            </a:r>
            <a:r>
              <a:rPr lang="en-US" altLang="zh-CN" dirty="0"/>
              <a:t> cycle, which shares three steps with the citric acid cycle but bypasses the two decarboxylation steps, converting two molecules of acetyl-CoA to one succinate.</a:t>
            </a:r>
          </a:p>
          <a:p>
            <a:r>
              <a:rPr lang="en-US" altLang="zh-CN" dirty="0"/>
              <a:t>Acetyl-CoA is partitioned into the glyoxylate cycle and citric acid cycle via a coordinately regulation of the isocitrate dehydrogenase and isocitrate lyase.</a:t>
            </a:r>
            <a:r>
              <a:rPr lang="en-US" altLang="zh-CN" sz="2800" dirty="0"/>
              <a:t> </a:t>
            </a:r>
          </a:p>
        </p:txBody>
      </p:sp>
    </p:spTree>
    <p:extLst>
      <p:ext uri="{BB962C8B-B14F-4D97-AF65-F5344CB8AC3E}">
        <p14:creationId xmlns:p14="http://schemas.microsoft.com/office/powerpoint/2010/main" val="1665604545"/>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4" name="Rectangle 2">
            <a:extLst>
              <a:ext uri="{FF2B5EF4-FFF2-40B4-BE49-F238E27FC236}">
                <a16:creationId xmlns:a16="http://schemas.microsoft.com/office/drawing/2014/main" id="{8E06CA3B-DBDA-48BE-86D8-5DF33C6D75AF}"/>
              </a:ext>
            </a:extLst>
          </p:cNvPr>
          <p:cNvSpPr>
            <a:spLocks noGrp="1" noChangeArrowheads="1"/>
          </p:cNvSpPr>
          <p:nvPr>
            <p:ph type="title" idx="4294967295"/>
          </p:nvPr>
        </p:nvSpPr>
        <p:spPr>
          <a:xfrm>
            <a:off x="228600" y="892175"/>
            <a:ext cx="8915400" cy="2101850"/>
          </a:xfrm>
        </p:spPr>
        <p:txBody>
          <a:bodyPr/>
          <a:lstStyle/>
          <a:p>
            <a:r>
              <a:rPr lang="en-US" altLang="zh-CN" b="1" dirty="0">
                <a:solidFill>
                  <a:srgbClr val="C00000"/>
                </a:solidFill>
                <a:latin typeface="Times New Roman" panose="02020603050405020304" pitchFamily="18" charset="0"/>
              </a:rPr>
              <a:t>J5</a:t>
            </a:r>
            <a:r>
              <a:rPr lang="en-US" altLang="zh-CN" b="1" dirty="0">
                <a:solidFill>
                  <a:srgbClr val="C00000"/>
                </a:solidFill>
              </a:rPr>
              <a:t>  Pentose phosphate pathway</a:t>
            </a:r>
            <a:r>
              <a:rPr lang="en-US" altLang="zh-CN" dirty="0">
                <a:solidFill>
                  <a:srgbClr val="C00000"/>
                </a:solidFill>
              </a:rPr>
              <a:t> </a:t>
            </a:r>
            <a:br>
              <a:rPr lang="en-US" altLang="zh-CN" dirty="0">
                <a:solidFill>
                  <a:srgbClr val="C00000"/>
                </a:solidFill>
              </a:rPr>
            </a:br>
            <a:r>
              <a:rPr lang="en-US" altLang="zh-CN" dirty="0">
                <a:solidFill>
                  <a:srgbClr val="C00000"/>
                </a:solidFill>
              </a:rPr>
              <a:t>(</a:t>
            </a:r>
            <a:r>
              <a:rPr lang="zh-CN" altLang="en-US" dirty="0">
                <a:solidFill>
                  <a:srgbClr val="C00000"/>
                </a:solidFill>
                <a:ea typeface="隶书" panose="02010509060101010101" pitchFamily="49" charset="-122"/>
              </a:rPr>
              <a:t>戊糖磷酸途径</a:t>
            </a:r>
            <a:r>
              <a:rPr lang="en-US" altLang="zh-CN" dirty="0">
                <a:solidFill>
                  <a:srgbClr val="C00000"/>
                </a:solidFill>
              </a:rPr>
              <a:t>)</a:t>
            </a:r>
          </a:p>
        </p:txBody>
      </p:sp>
      <p:sp>
        <p:nvSpPr>
          <p:cNvPr id="387075" name="Rectangle 3">
            <a:extLst>
              <a:ext uri="{FF2B5EF4-FFF2-40B4-BE49-F238E27FC236}">
                <a16:creationId xmlns:a16="http://schemas.microsoft.com/office/drawing/2014/main" id="{504B153A-4E6B-46AE-94D3-ACA81F376C26}"/>
              </a:ext>
            </a:extLst>
          </p:cNvPr>
          <p:cNvSpPr>
            <a:spLocks noGrp="1" noChangeArrowheads="1"/>
          </p:cNvSpPr>
          <p:nvPr>
            <p:ph type="body" idx="4294967295"/>
          </p:nvPr>
        </p:nvSpPr>
        <p:spPr>
          <a:xfrm>
            <a:off x="2432050" y="3581400"/>
            <a:ext cx="6711950" cy="2514600"/>
          </a:xfrm>
        </p:spPr>
        <p:txBody>
          <a:bodyPr/>
          <a:lstStyle/>
          <a:p>
            <a:r>
              <a:rPr lang="en-US" altLang="zh-CN" b="1"/>
              <a:t>Overview</a:t>
            </a:r>
          </a:p>
          <a:p>
            <a:r>
              <a:rPr lang="en-US" altLang="zh-CN" b="1"/>
              <a:t>Main reactions of the pathway</a:t>
            </a:r>
          </a:p>
          <a:p>
            <a:r>
              <a:rPr lang="en-US" altLang="zh-CN" b="1"/>
              <a:t>Control of the pathway</a:t>
            </a:r>
          </a:p>
        </p:txBody>
      </p:sp>
    </p:spTree>
    <p:extLst>
      <p:ext uri="{BB962C8B-B14F-4D97-AF65-F5344CB8AC3E}">
        <p14:creationId xmlns:p14="http://schemas.microsoft.com/office/powerpoint/2010/main" val="1970502179"/>
      </p:ext>
    </p:extLst>
  </p:cSld>
  <p:clrMapOvr>
    <a:masterClrMapping/>
  </p:clrMapOvr>
  <p:transition/>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098" name="Rectangle 2">
            <a:extLst>
              <a:ext uri="{FF2B5EF4-FFF2-40B4-BE49-F238E27FC236}">
                <a16:creationId xmlns:a16="http://schemas.microsoft.com/office/drawing/2014/main" id="{61A44F11-6D12-4450-A7F2-0CA2D56401B7}"/>
              </a:ext>
            </a:extLst>
          </p:cNvPr>
          <p:cNvSpPr>
            <a:spLocks noGrp="1" noChangeArrowheads="1"/>
          </p:cNvSpPr>
          <p:nvPr>
            <p:ph type="title" idx="4294967295"/>
          </p:nvPr>
        </p:nvSpPr>
        <p:spPr>
          <a:xfrm>
            <a:off x="0" y="254000"/>
            <a:ext cx="9144000" cy="2101850"/>
          </a:xfrm>
        </p:spPr>
        <p:txBody>
          <a:bodyPr/>
          <a:lstStyle/>
          <a:p>
            <a:r>
              <a:rPr lang="en-US" altLang="zh-CN" b="1" dirty="0">
                <a:solidFill>
                  <a:srgbClr val="C00000"/>
                </a:solidFill>
                <a:latin typeface="Times New Roman" panose="02020603050405020304" pitchFamily="18" charset="0"/>
              </a:rPr>
              <a:t>Pentose phosphate pathway converts glucose to specialized products needed by the cells </a:t>
            </a:r>
          </a:p>
        </p:txBody>
      </p:sp>
      <p:sp>
        <p:nvSpPr>
          <p:cNvPr id="388099" name="Rectangle 3">
            <a:extLst>
              <a:ext uri="{FF2B5EF4-FFF2-40B4-BE49-F238E27FC236}">
                <a16:creationId xmlns:a16="http://schemas.microsoft.com/office/drawing/2014/main" id="{5AFB66AD-6F4E-470A-8F18-5CED223431ED}"/>
              </a:ext>
            </a:extLst>
          </p:cNvPr>
          <p:cNvSpPr>
            <a:spLocks noGrp="1" noChangeArrowheads="1"/>
          </p:cNvSpPr>
          <p:nvPr>
            <p:ph type="body" idx="4294967295"/>
          </p:nvPr>
        </p:nvSpPr>
        <p:spPr>
          <a:xfrm>
            <a:off x="228600" y="2514600"/>
            <a:ext cx="8915400" cy="4114800"/>
          </a:xfrm>
        </p:spPr>
        <p:txBody>
          <a:bodyPr/>
          <a:lstStyle/>
          <a:p>
            <a:r>
              <a:rPr lang="en-US" altLang="zh-CN" sz="3100" b="1" dirty="0">
                <a:solidFill>
                  <a:srgbClr val="0070C0"/>
                </a:solidFill>
                <a:latin typeface="Times New Roman" panose="02020603050405020304" pitchFamily="18" charset="0"/>
              </a:rPr>
              <a:t>Glc-6-P</a:t>
            </a:r>
            <a:r>
              <a:rPr lang="en-US" altLang="zh-CN" sz="3100" b="1" dirty="0">
                <a:latin typeface="Times New Roman" panose="02020603050405020304" pitchFamily="18" charset="0"/>
              </a:rPr>
              <a:t> is first dehydrogenated by a NADP</a:t>
            </a:r>
            <a:r>
              <a:rPr lang="en-US" altLang="zh-CN" sz="3100" b="1" baseline="30000" dirty="0">
                <a:latin typeface="Times New Roman" panose="02020603050405020304" pitchFamily="18" charset="0"/>
              </a:rPr>
              <a:t>+</a:t>
            </a:r>
            <a:r>
              <a:rPr lang="en-US" altLang="zh-CN" sz="3100" b="1" dirty="0">
                <a:latin typeface="Times New Roman" panose="02020603050405020304" pitchFamily="18" charset="0"/>
              </a:rPr>
              <a:t>-containing dehydrogenase to form 6-phosphogluconate (</a:t>
            </a:r>
            <a:r>
              <a:rPr lang="en-US" altLang="zh-CN" sz="3100" b="1" dirty="0">
                <a:latin typeface="Times New Roman" panose="02020603050405020304" pitchFamily="18" charset="0"/>
                <a:ea typeface="隶书" panose="02010509060101010101" pitchFamily="49" charset="-122"/>
              </a:rPr>
              <a:t>6-</a:t>
            </a:r>
            <a:r>
              <a:rPr lang="zh-CN" altLang="en-US" sz="3100" b="1" dirty="0">
                <a:latin typeface="Times New Roman" panose="02020603050405020304" pitchFamily="18" charset="0"/>
                <a:ea typeface="隶书" panose="02010509060101010101" pitchFamily="49" charset="-122"/>
              </a:rPr>
              <a:t>磷酸葡萄糖酸</a:t>
            </a:r>
            <a:r>
              <a:rPr lang="en-US" altLang="zh-CN" sz="3100" b="1" dirty="0">
                <a:latin typeface="Times New Roman" panose="02020603050405020304" pitchFamily="18" charset="0"/>
              </a:rPr>
              <a:t>).</a:t>
            </a:r>
          </a:p>
          <a:p>
            <a:r>
              <a:rPr lang="en-US" altLang="zh-CN" sz="3100" b="1" dirty="0">
                <a:latin typeface="Times New Roman" panose="02020603050405020304" pitchFamily="18" charset="0"/>
              </a:rPr>
              <a:t> 6-phosphogluconate then undergoes a </a:t>
            </a:r>
            <a:r>
              <a:rPr lang="en-US" altLang="zh-CN" sz="3100" b="1" dirty="0">
                <a:solidFill>
                  <a:srgbClr val="0070C0"/>
                </a:solidFill>
                <a:latin typeface="Times New Roman" panose="02020603050405020304" pitchFamily="18" charset="0"/>
              </a:rPr>
              <a:t>oxidative decarboxylation</a:t>
            </a:r>
            <a:r>
              <a:rPr lang="en-US" altLang="zh-CN" sz="3100" b="1" dirty="0">
                <a:latin typeface="Times New Roman" panose="02020603050405020304" pitchFamily="18" charset="0"/>
              </a:rPr>
              <a:t> to form D-ribulose 5-P, generating another molecule of NADPH.</a:t>
            </a:r>
          </a:p>
          <a:p>
            <a:r>
              <a:rPr lang="en-US" altLang="zh-CN" sz="3100" b="1" dirty="0">
                <a:latin typeface="Times New Roman" panose="02020603050405020304" pitchFamily="18" charset="0"/>
              </a:rPr>
              <a:t>D-ribulose 5-P is then converted to ribose 5-P.</a:t>
            </a:r>
          </a:p>
        </p:txBody>
      </p:sp>
    </p:spTree>
    <p:extLst>
      <p:ext uri="{BB962C8B-B14F-4D97-AF65-F5344CB8AC3E}">
        <p14:creationId xmlns:p14="http://schemas.microsoft.com/office/powerpoint/2010/main" val="2767577126"/>
      </p:ext>
    </p:extLst>
  </p:cSld>
  <p:clrMapOvr>
    <a:masterClrMapping/>
  </p:clrMapOvr>
  <p:transition/>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2" name="Rectangle 2">
            <a:extLst>
              <a:ext uri="{FF2B5EF4-FFF2-40B4-BE49-F238E27FC236}">
                <a16:creationId xmlns:a16="http://schemas.microsoft.com/office/drawing/2014/main" id="{72E11226-DEBF-4E40-80BE-BC6D22F3F1EE}"/>
              </a:ext>
            </a:extLst>
          </p:cNvPr>
          <p:cNvSpPr>
            <a:spLocks noGrp="1" noChangeArrowheads="1"/>
          </p:cNvSpPr>
          <p:nvPr>
            <p:ph type="title" idx="4294967295"/>
          </p:nvPr>
        </p:nvSpPr>
        <p:spPr>
          <a:xfrm flipV="1">
            <a:off x="0" y="-342900"/>
            <a:ext cx="7772400" cy="762000"/>
          </a:xfrm>
        </p:spPr>
        <p:txBody>
          <a:bodyPr/>
          <a:lstStyle/>
          <a:p>
            <a:r>
              <a:rPr lang="en-US" altLang="zh-CN"/>
              <a:t> </a:t>
            </a:r>
          </a:p>
        </p:txBody>
      </p:sp>
      <p:sp>
        <p:nvSpPr>
          <p:cNvPr id="389123" name="Rectangle 3">
            <a:extLst>
              <a:ext uri="{FF2B5EF4-FFF2-40B4-BE49-F238E27FC236}">
                <a16:creationId xmlns:a16="http://schemas.microsoft.com/office/drawing/2014/main" id="{E27BC25A-6FBE-4C44-9533-C7B01256D4C3}"/>
              </a:ext>
            </a:extLst>
          </p:cNvPr>
          <p:cNvSpPr>
            <a:spLocks noGrp="1" noChangeArrowheads="1"/>
          </p:cNvSpPr>
          <p:nvPr>
            <p:ph type="body" idx="4294967295"/>
          </p:nvPr>
        </p:nvSpPr>
        <p:spPr>
          <a:xfrm>
            <a:off x="228600" y="762000"/>
            <a:ext cx="8915400" cy="5257800"/>
          </a:xfrm>
        </p:spPr>
        <p:txBody>
          <a:bodyPr/>
          <a:lstStyle/>
          <a:p>
            <a:r>
              <a:rPr lang="en-US" altLang="zh-CN" sz="2800" b="1" dirty="0"/>
              <a:t>When NADPH is the primary requirement in the cell, the pentose phosphates are recycled into Glc-6-P via a series of rearrangements of the carbon skeleton, catalyzed by </a:t>
            </a:r>
            <a:r>
              <a:rPr lang="en-US" altLang="zh-CN" sz="2800" b="1" dirty="0" err="1">
                <a:solidFill>
                  <a:srgbClr val="0070C0"/>
                </a:solidFill>
              </a:rPr>
              <a:t>transketolase</a:t>
            </a:r>
            <a:r>
              <a:rPr lang="en-US" altLang="zh-CN" sz="2800" b="1" dirty="0">
                <a:solidFill>
                  <a:srgbClr val="0070C0"/>
                </a:solidFill>
              </a:rPr>
              <a:t> </a:t>
            </a:r>
            <a:r>
              <a:rPr lang="en-US" altLang="zh-CN" sz="2800" b="1" dirty="0"/>
              <a:t>and </a:t>
            </a:r>
            <a:r>
              <a:rPr lang="en-US" altLang="zh-CN" sz="2800" b="1" dirty="0" err="1">
                <a:solidFill>
                  <a:srgbClr val="0070C0"/>
                </a:solidFill>
              </a:rPr>
              <a:t>transaldolase</a:t>
            </a:r>
            <a:r>
              <a:rPr lang="en-US" altLang="zh-CN" sz="2800" b="1" dirty="0"/>
              <a:t> (no cofactor involved).</a:t>
            </a:r>
          </a:p>
          <a:p>
            <a:r>
              <a:rPr lang="en-US" altLang="zh-CN" sz="2800" b="1" dirty="0">
                <a:solidFill>
                  <a:srgbClr val="FF0000"/>
                </a:solidFill>
              </a:rPr>
              <a:t>Six five-carbon sugar </a:t>
            </a:r>
            <a:r>
              <a:rPr lang="en-US" altLang="zh-CN" sz="2800" b="1" dirty="0"/>
              <a:t>phosphates are converted to </a:t>
            </a:r>
            <a:r>
              <a:rPr lang="en-US" altLang="zh-CN" sz="2800" b="1" dirty="0">
                <a:solidFill>
                  <a:srgbClr val="FF0000"/>
                </a:solidFill>
              </a:rPr>
              <a:t>five six-carbon sugar </a:t>
            </a:r>
            <a:r>
              <a:rPr lang="en-US" altLang="zh-CN" sz="2800" b="1" dirty="0"/>
              <a:t>phosphates.</a:t>
            </a:r>
          </a:p>
          <a:p>
            <a:r>
              <a:rPr lang="en-US" altLang="zh-CN" sz="2800" b="1" dirty="0">
                <a:solidFill>
                  <a:srgbClr val="FF0000"/>
                </a:solidFill>
              </a:rPr>
              <a:t>The reverse of this rearrangement</a:t>
            </a:r>
            <a:r>
              <a:rPr lang="en-US" altLang="zh-CN" sz="2800" b="1" dirty="0"/>
              <a:t>, regeneration of six five-carbon sugar phosphate from five six-carbon sugar phosphate occurs in the </a:t>
            </a:r>
            <a:r>
              <a:rPr lang="en-US" altLang="zh-CN" sz="2800" b="1" i="1" dirty="0">
                <a:latin typeface="Times New Roman" panose="02020603050405020304" pitchFamily="18" charset="0"/>
              </a:rPr>
              <a:t>Calvin cycle</a:t>
            </a:r>
            <a:r>
              <a:rPr lang="en-US" altLang="zh-CN" sz="2800" b="1" dirty="0"/>
              <a:t> (for photosynthetic fixation of CO</a:t>
            </a:r>
            <a:r>
              <a:rPr lang="en-US" altLang="zh-CN" sz="2800" b="1" baseline="-25000" dirty="0"/>
              <a:t>2</a:t>
            </a:r>
            <a:r>
              <a:rPr lang="en-US" altLang="zh-CN" sz="2800" b="1" dirty="0"/>
              <a:t> in plants).</a:t>
            </a:r>
          </a:p>
        </p:txBody>
      </p:sp>
    </p:spTree>
    <p:extLst>
      <p:ext uri="{BB962C8B-B14F-4D97-AF65-F5344CB8AC3E}">
        <p14:creationId xmlns:p14="http://schemas.microsoft.com/office/powerpoint/2010/main" val="2951339369"/>
      </p:ext>
    </p:extLst>
  </p:cSld>
  <p:clrMapOvr>
    <a:masterClrMapping/>
  </p:clrMapOvr>
  <p:transition/>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0146" name="Picture 2">
            <a:extLst>
              <a:ext uri="{FF2B5EF4-FFF2-40B4-BE49-F238E27FC236}">
                <a16:creationId xmlns:a16="http://schemas.microsoft.com/office/drawing/2014/main" id="{CF9D2F0B-D258-4E81-B3EA-91F92893E25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10001" t="10001" r="10001" b="10001"/>
          <a:stretch>
            <a:fillRect/>
          </a:stretch>
        </p:blipFill>
        <p:spPr bwMode="auto">
          <a:xfrm>
            <a:off x="609600" y="781050"/>
            <a:ext cx="8001000" cy="600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0147" name="Text Box 3">
            <a:extLst>
              <a:ext uri="{FF2B5EF4-FFF2-40B4-BE49-F238E27FC236}">
                <a16:creationId xmlns:a16="http://schemas.microsoft.com/office/drawing/2014/main" id="{F320239C-DA46-49E5-98BA-F32C0116FF5B}"/>
              </a:ext>
            </a:extLst>
          </p:cNvPr>
          <p:cNvSpPr txBox="1">
            <a:spLocks noChangeArrowheads="1"/>
          </p:cNvSpPr>
          <p:nvPr/>
        </p:nvSpPr>
        <p:spPr bwMode="auto">
          <a:xfrm>
            <a:off x="0" y="0"/>
            <a:ext cx="6858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latin typeface="Arial" panose="020B0604020202020204" pitchFamily="34" charset="0"/>
              </a:rPr>
              <a:t>Stage 1   Oxidative reactions</a:t>
            </a:r>
          </a:p>
        </p:txBody>
      </p:sp>
    </p:spTree>
    <p:extLst>
      <p:ext uri="{BB962C8B-B14F-4D97-AF65-F5344CB8AC3E}">
        <p14:creationId xmlns:p14="http://schemas.microsoft.com/office/powerpoint/2010/main" val="2253380543"/>
      </p:ext>
    </p:extLst>
  </p:cSld>
  <p:clrMapOvr>
    <a:masterClrMapping/>
  </p:clrMapOvr>
  <p:transition/>
</p:sld>
</file>

<file path=ppt/slides/slide1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EAA4CD65-D387-47F5-B4AE-13888966D374}"/>
              </a:ext>
            </a:extLst>
          </p:cNvPr>
          <p:cNvPicPr>
            <a:picLocks noChangeAspect="1"/>
          </p:cNvPicPr>
          <p:nvPr/>
        </p:nvPicPr>
        <p:blipFill rotWithShape="1">
          <a:blip r:embed="rId3" cstate="print"/>
          <a:srcRect b="37001"/>
          <a:stretch/>
        </p:blipFill>
        <p:spPr>
          <a:xfrm>
            <a:off x="730312" y="47191"/>
            <a:ext cx="3312368" cy="5661248"/>
          </a:xfrm>
          <a:prstGeom prst="rect">
            <a:avLst/>
          </a:prstGeom>
        </p:spPr>
      </p:pic>
      <p:pic>
        <p:nvPicPr>
          <p:cNvPr id="3" name="图片 2">
            <a:extLst>
              <a:ext uri="{FF2B5EF4-FFF2-40B4-BE49-F238E27FC236}">
                <a16:creationId xmlns:a16="http://schemas.microsoft.com/office/drawing/2014/main" id="{6C0C8779-E503-4D61-875D-A0B81F7B3FA1}"/>
              </a:ext>
            </a:extLst>
          </p:cNvPr>
          <p:cNvPicPr>
            <a:picLocks noChangeAspect="1"/>
          </p:cNvPicPr>
          <p:nvPr/>
        </p:nvPicPr>
        <p:blipFill rotWithShape="1">
          <a:blip r:embed="rId4" cstate="print"/>
          <a:srcRect t="45150"/>
          <a:stretch/>
        </p:blipFill>
        <p:spPr>
          <a:xfrm>
            <a:off x="4427984" y="165154"/>
            <a:ext cx="3672408" cy="5208062"/>
          </a:xfrm>
          <a:prstGeom prst="rect">
            <a:avLst/>
          </a:prstGeom>
        </p:spPr>
      </p:pic>
      <p:sp>
        <p:nvSpPr>
          <p:cNvPr id="4" name="文本框 3">
            <a:extLst>
              <a:ext uri="{FF2B5EF4-FFF2-40B4-BE49-F238E27FC236}">
                <a16:creationId xmlns:a16="http://schemas.microsoft.com/office/drawing/2014/main" id="{4E560B5F-9E97-48F2-9D7A-63A390ADE60C}"/>
              </a:ext>
            </a:extLst>
          </p:cNvPr>
          <p:cNvSpPr txBox="1"/>
          <p:nvPr/>
        </p:nvSpPr>
        <p:spPr>
          <a:xfrm>
            <a:off x="3160841" y="1412776"/>
            <a:ext cx="496534" cy="369332"/>
          </a:xfrm>
          <a:prstGeom prst="rect">
            <a:avLst/>
          </a:prstGeom>
          <a:noFill/>
        </p:spPr>
        <p:txBody>
          <a:bodyPr wrap="square" rtlCol="0">
            <a:spAutoFit/>
          </a:bodyPr>
          <a:lstStyle/>
          <a:p>
            <a:r>
              <a:rPr lang="zh-CN" altLang="en-US" b="1" dirty="0"/>
              <a:t>①</a:t>
            </a:r>
          </a:p>
        </p:txBody>
      </p:sp>
      <p:sp>
        <p:nvSpPr>
          <p:cNvPr id="5" name="矩形 4">
            <a:extLst>
              <a:ext uri="{FF2B5EF4-FFF2-40B4-BE49-F238E27FC236}">
                <a16:creationId xmlns:a16="http://schemas.microsoft.com/office/drawing/2014/main" id="{5A6875C1-930E-4C2C-8869-58994E5F1FB3}"/>
              </a:ext>
            </a:extLst>
          </p:cNvPr>
          <p:cNvSpPr/>
          <p:nvPr/>
        </p:nvSpPr>
        <p:spPr>
          <a:xfrm>
            <a:off x="3207898" y="3734997"/>
            <a:ext cx="415498" cy="369332"/>
          </a:xfrm>
          <a:prstGeom prst="rect">
            <a:avLst/>
          </a:prstGeom>
        </p:spPr>
        <p:txBody>
          <a:bodyPr wrap="none">
            <a:spAutoFit/>
          </a:bodyPr>
          <a:lstStyle/>
          <a:p>
            <a:r>
              <a:rPr lang="zh-CN" altLang="en-US" b="1" dirty="0"/>
              <a:t>②</a:t>
            </a:r>
          </a:p>
        </p:txBody>
      </p:sp>
      <p:sp>
        <p:nvSpPr>
          <p:cNvPr id="6" name="矩形 5">
            <a:extLst>
              <a:ext uri="{FF2B5EF4-FFF2-40B4-BE49-F238E27FC236}">
                <a16:creationId xmlns:a16="http://schemas.microsoft.com/office/drawing/2014/main" id="{ACA24366-B441-4200-A543-4B5D830360AC}"/>
              </a:ext>
            </a:extLst>
          </p:cNvPr>
          <p:cNvSpPr/>
          <p:nvPr/>
        </p:nvSpPr>
        <p:spPr>
          <a:xfrm>
            <a:off x="7310506" y="1967805"/>
            <a:ext cx="415498" cy="369332"/>
          </a:xfrm>
          <a:prstGeom prst="rect">
            <a:avLst/>
          </a:prstGeom>
        </p:spPr>
        <p:txBody>
          <a:bodyPr wrap="none">
            <a:spAutoFit/>
          </a:bodyPr>
          <a:lstStyle/>
          <a:p>
            <a:r>
              <a:rPr lang="zh-CN" altLang="en-US" b="1" dirty="0"/>
              <a:t>③</a:t>
            </a:r>
          </a:p>
        </p:txBody>
      </p:sp>
      <p:sp>
        <p:nvSpPr>
          <p:cNvPr id="9" name="矩形 8">
            <a:extLst>
              <a:ext uri="{FF2B5EF4-FFF2-40B4-BE49-F238E27FC236}">
                <a16:creationId xmlns:a16="http://schemas.microsoft.com/office/drawing/2014/main" id="{2B405DA4-D96B-4067-A1C3-602CAED16C5E}"/>
              </a:ext>
            </a:extLst>
          </p:cNvPr>
          <p:cNvSpPr/>
          <p:nvPr/>
        </p:nvSpPr>
        <p:spPr>
          <a:xfrm>
            <a:off x="1117322" y="5856702"/>
            <a:ext cx="6983070" cy="954107"/>
          </a:xfrm>
          <a:prstGeom prst="rect">
            <a:avLst/>
          </a:prstGeom>
        </p:spPr>
        <p:txBody>
          <a:bodyPr wrap="square">
            <a:spAutoFit/>
          </a:bodyPr>
          <a:lstStyle/>
          <a:p>
            <a:r>
              <a:rPr lang="en-US" altLang="zh-CN" sz="2000" b="1" dirty="0">
                <a:solidFill>
                  <a:srgbClr val="01589C"/>
                </a:solidFill>
                <a:latin typeface="FranklinGothic-DemiCnd"/>
              </a:rPr>
              <a:t>FIGURE </a:t>
            </a:r>
            <a:r>
              <a:rPr lang="en-US" altLang="zh-CN" b="1" dirty="0">
                <a:solidFill>
                  <a:srgbClr val="231F20"/>
                </a:solidFill>
                <a:latin typeface="Optima-Bold"/>
              </a:rPr>
              <a:t>Oxidative reactions of the pentose phosphate pathway. </a:t>
            </a:r>
          </a:p>
          <a:p>
            <a:r>
              <a:rPr lang="en-US" altLang="zh-CN" dirty="0">
                <a:solidFill>
                  <a:srgbClr val="231F20"/>
                </a:solidFill>
                <a:latin typeface="Optima"/>
              </a:rPr>
              <a:t>The end products are ribose 5-phosphate, CO</a:t>
            </a:r>
            <a:r>
              <a:rPr lang="en-US" altLang="zh-CN" sz="800" dirty="0">
                <a:solidFill>
                  <a:srgbClr val="231F20"/>
                </a:solidFill>
                <a:latin typeface="Optima"/>
              </a:rPr>
              <a:t>2</a:t>
            </a:r>
            <a:r>
              <a:rPr lang="en-US" altLang="zh-CN" dirty="0">
                <a:solidFill>
                  <a:srgbClr val="231F20"/>
                </a:solidFill>
                <a:latin typeface="Optima"/>
              </a:rPr>
              <a:t>, and NADPH.</a:t>
            </a:r>
            <a:r>
              <a:rPr lang="en-US" altLang="zh-CN" dirty="0"/>
              <a:t> </a:t>
            </a:r>
            <a:br>
              <a:rPr lang="en-US" altLang="zh-CN" dirty="0"/>
            </a:br>
            <a:endParaRPr lang="zh-CN" altLang="en-US" dirty="0"/>
          </a:p>
        </p:txBody>
      </p:sp>
      <p:sp>
        <p:nvSpPr>
          <p:cNvPr id="10" name="矩形 9">
            <a:extLst>
              <a:ext uri="{FF2B5EF4-FFF2-40B4-BE49-F238E27FC236}">
                <a16:creationId xmlns:a16="http://schemas.microsoft.com/office/drawing/2014/main" id="{C7EC8700-AC3B-4592-B41E-0F7769B29BCF}"/>
              </a:ext>
            </a:extLst>
          </p:cNvPr>
          <p:cNvSpPr/>
          <p:nvPr/>
        </p:nvSpPr>
        <p:spPr>
          <a:xfrm>
            <a:off x="7251242" y="3770456"/>
            <a:ext cx="417102" cy="369332"/>
          </a:xfrm>
          <a:prstGeom prst="rect">
            <a:avLst/>
          </a:prstGeom>
        </p:spPr>
        <p:txBody>
          <a:bodyPr wrap="none">
            <a:spAutoFit/>
          </a:bodyPr>
          <a:lstStyle/>
          <a:p>
            <a:r>
              <a:rPr lang="zh-CN" altLang="en-US" b="1" dirty="0"/>
              <a:t>④</a:t>
            </a:r>
          </a:p>
        </p:txBody>
      </p:sp>
    </p:spTree>
    <p:extLst>
      <p:ext uri="{BB962C8B-B14F-4D97-AF65-F5344CB8AC3E}">
        <p14:creationId xmlns:p14="http://schemas.microsoft.com/office/powerpoint/2010/main" val="559503594"/>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C9BDFB2F-961E-0F7A-213B-5811AA7136F2}"/>
              </a:ext>
            </a:extLst>
          </p:cNvPr>
          <p:cNvPicPr>
            <a:picLocks noChangeAspect="1"/>
          </p:cNvPicPr>
          <p:nvPr/>
        </p:nvPicPr>
        <p:blipFill>
          <a:blip r:embed="rId3"/>
          <a:stretch>
            <a:fillRect/>
          </a:stretch>
        </p:blipFill>
        <p:spPr>
          <a:xfrm>
            <a:off x="-35496" y="908720"/>
            <a:ext cx="9144000" cy="6516210"/>
          </a:xfrm>
          <a:prstGeom prst="rect">
            <a:avLst/>
          </a:prstGeom>
        </p:spPr>
      </p:pic>
      <p:sp>
        <p:nvSpPr>
          <p:cNvPr id="392195" name="Rectangle 4">
            <a:extLst>
              <a:ext uri="{FF2B5EF4-FFF2-40B4-BE49-F238E27FC236}">
                <a16:creationId xmlns:a16="http://schemas.microsoft.com/office/drawing/2014/main" id="{3B957039-055F-47B1-AC2E-3F9DEC25BC48}"/>
              </a:ext>
            </a:extLst>
          </p:cNvPr>
          <p:cNvSpPr>
            <a:spLocks noChangeArrowheads="1"/>
          </p:cNvSpPr>
          <p:nvPr/>
        </p:nvSpPr>
        <p:spPr bwMode="auto">
          <a:xfrm>
            <a:off x="381000" y="0"/>
            <a:ext cx="8382000" cy="1066800"/>
          </a:xfrm>
          <a:prstGeom prst="rect">
            <a:avLst/>
          </a:prstGeom>
          <a:solidFill>
            <a:schemeClr val="bg1"/>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3200" b="1">
                <a:latin typeface="Arial" panose="020B0604020202020204" pitchFamily="34" charset="0"/>
              </a:rPr>
              <a:t>Stage 2: The regeneration of six-carbon Glucose 6-P from five-carbon Ribose 5-P</a:t>
            </a:r>
          </a:p>
        </p:txBody>
      </p:sp>
      <p:sp>
        <p:nvSpPr>
          <p:cNvPr id="2" name="矩形 1">
            <a:extLst>
              <a:ext uri="{FF2B5EF4-FFF2-40B4-BE49-F238E27FC236}">
                <a16:creationId xmlns:a16="http://schemas.microsoft.com/office/drawing/2014/main" id="{E213EE3C-F75A-4153-A938-AD0E029E875E}"/>
              </a:ext>
            </a:extLst>
          </p:cNvPr>
          <p:cNvSpPr/>
          <p:nvPr/>
        </p:nvSpPr>
        <p:spPr>
          <a:xfrm>
            <a:off x="4533043" y="2376820"/>
            <a:ext cx="1512168" cy="79208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4">
            <a:extLst>
              <a:ext uri="{FF2B5EF4-FFF2-40B4-BE49-F238E27FC236}">
                <a16:creationId xmlns:a16="http://schemas.microsoft.com/office/drawing/2014/main" id="{BA1D1F9F-739C-4688-B2B2-A2D14DEF8278}"/>
              </a:ext>
            </a:extLst>
          </p:cNvPr>
          <p:cNvSpPr/>
          <p:nvPr/>
        </p:nvSpPr>
        <p:spPr>
          <a:xfrm>
            <a:off x="6660232" y="4021925"/>
            <a:ext cx="1512168" cy="79208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5">
            <a:hlinkClick r:id="rId4" action="ppaction://hlinksldjump"/>
            <a:extLst>
              <a:ext uri="{FF2B5EF4-FFF2-40B4-BE49-F238E27FC236}">
                <a16:creationId xmlns:a16="http://schemas.microsoft.com/office/drawing/2014/main" id="{8071E053-D84B-4D3F-9FC1-C2FE0DB2D801}"/>
              </a:ext>
            </a:extLst>
          </p:cNvPr>
          <p:cNvSpPr/>
          <p:nvPr/>
        </p:nvSpPr>
        <p:spPr>
          <a:xfrm>
            <a:off x="6738146" y="2326846"/>
            <a:ext cx="1512168" cy="792088"/>
          </a:xfrm>
          <a:prstGeom prst="rect">
            <a:avLst/>
          </a:prstGeom>
          <a:no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5355003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6" grpId="0" animBg="1"/>
    </p:bld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1170" name="Picture 4" descr="F15-21.0b.GIF048                                               00005B99Sumanas' Hard Drive            B4EBCDA7:">
            <a:extLst>
              <a:ext uri="{FF2B5EF4-FFF2-40B4-BE49-F238E27FC236}">
                <a16:creationId xmlns:a16="http://schemas.microsoft.com/office/drawing/2014/main" id="{ED55ED15-96E6-4F07-8E41-4B2AE7EC0FE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4400" y="180975"/>
            <a:ext cx="6629400" cy="644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1210146"/>
      </p:ext>
    </p:extLst>
  </p:cSld>
  <p:clrMapOvr>
    <a:masterClrMapping/>
  </p:clrMapOvr>
  <p:transition/>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3218" name="Picture 2">
            <a:extLst>
              <a:ext uri="{FF2B5EF4-FFF2-40B4-BE49-F238E27FC236}">
                <a16:creationId xmlns:a16="http://schemas.microsoft.com/office/drawing/2014/main" id="{A0167C9F-EBB6-45B4-BC43-3C295F3803C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10001" t="10001" r="10001" b="10001"/>
          <a:stretch>
            <a:fillRect/>
          </a:stretch>
        </p:blipFill>
        <p:spPr bwMode="auto">
          <a:xfrm>
            <a:off x="762000" y="381000"/>
            <a:ext cx="8001000" cy="600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79879933"/>
      </p:ext>
    </p:extLst>
  </p:cSld>
  <p:clrMapOvr>
    <a:masterClrMapping/>
  </p:clrMapOvr>
  <p:transition/>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4242" name="Picture 2" descr="D:\Biochemistry II 2000 lecture slides\5c6ca.jpg">
            <a:extLst>
              <a:ext uri="{FF2B5EF4-FFF2-40B4-BE49-F238E27FC236}">
                <a16:creationId xmlns:a16="http://schemas.microsoft.com/office/drawing/2014/main" id="{FCAAAA98-E6FC-4774-A155-2AA8A9E196E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9144000" cy="3767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4243" name="Rectangle 3">
            <a:extLst>
              <a:ext uri="{FF2B5EF4-FFF2-40B4-BE49-F238E27FC236}">
                <a16:creationId xmlns:a16="http://schemas.microsoft.com/office/drawing/2014/main" id="{BDDF50D8-F577-4B5D-96BC-97FC17AA9010}"/>
              </a:ext>
            </a:extLst>
          </p:cNvPr>
          <p:cNvSpPr>
            <a:spLocks noChangeArrowheads="1"/>
          </p:cNvSpPr>
          <p:nvPr/>
        </p:nvSpPr>
        <p:spPr bwMode="auto">
          <a:xfrm>
            <a:off x="381000" y="4343400"/>
            <a:ext cx="8234363"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4000" dirty="0">
                <a:solidFill>
                  <a:srgbClr val="0070C0"/>
                </a:solidFill>
              </a:rPr>
              <a:t>Ribulose 5-P is first isomerized to form</a:t>
            </a:r>
          </a:p>
          <a:p>
            <a:r>
              <a:rPr lang="en-US" altLang="zh-CN" sz="4000" dirty="0" err="1">
                <a:solidFill>
                  <a:srgbClr val="0070C0"/>
                </a:solidFill>
              </a:rPr>
              <a:t>xylulose</a:t>
            </a:r>
            <a:r>
              <a:rPr lang="en-US" altLang="zh-CN" sz="4000" dirty="0">
                <a:solidFill>
                  <a:srgbClr val="0070C0"/>
                </a:solidFill>
              </a:rPr>
              <a:t> 5-P to initiate the regeneration</a:t>
            </a:r>
          </a:p>
          <a:p>
            <a:r>
              <a:rPr lang="en-US" altLang="zh-CN" sz="4000" dirty="0">
                <a:solidFill>
                  <a:srgbClr val="0070C0"/>
                </a:solidFill>
              </a:rPr>
              <a:t>of glucose 6-P</a:t>
            </a:r>
            <a:r>
              <a:rPr lang="en-US" altLang="zh-CN" sz="3200" dirty="0">
                <a:solidFill>
                  <a:srgbClr val="0070C0"/>
                </a:solidFill>
              </a:rPr>
              <a:t>.</a:t>
            </a:r>
          </a:p>
        </p:txBody>
      </p:sp>
      <p:sp>
        <p:nvSpPr>
          <p:cNvPr id="394244" name="Rectangle 5">
            <a:extLst>
              <a:ext uri="{FF2B5EF4-FFF2-40B4-BE49-F238E27FC236}">
                <a16:creationId xmlns:a16="http://schemas.microsoft.com/office/drawing/2014/main" id="{85D67E52-8D1B-447D-8037-C64525D017C8}"/>
              </a:ext>
            </a:extLst>
          </p:cNvPr>
          <p:cNvSpPr>
            <a:spLocks noChangeArrowheads="1"/>
          </p:cNvSpPr>
          <p:nvPr/>
        </p:nvSpPr>
        <p:spPr bwMode="auto">
          <a:xfrm>
            <a:off x="1066800" y="3429000"/>
            <a:ext cx="3124200" cy="579438"/>
          </a:xfrm>
          <a:prstGeom prst="rect">
            <a:avLst/>
          </a:prstGeom>
          <a:solidFill>
            <a:schemeClr val="tx2"/>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3200" dirty="0">
                <a:solidFill>
                  <a:srgbClr val="FF0000"/>
                </a:solidFill>
                <a:latin typeface="华文新魏" panose="02010800040101010101" pitchFamily="2" charset="-122"/>
                <a:ea typeface="华文新魏" panose="02010800040101010101" pitchFamily="2" charset="-122"/>
              </a:rPr>
              <a:t>核酮糖 </a:t>
            </a:r>
            <a:r>
              <a:rPr lang="en-US" altLang="zh-CN" sz="3200" dirty="0">
                <a:solidFill>
                  <a:srgbClr val="FF0000"/>
                </a:solidFill>
                <a:latin typeface="华文新魏" panose="02010800040101010101" pitchFamily="2" charset="-122"/>
                <a:ea typeface="华文新魏" panose="02010800040101010101" pitchFamily="2" charset="-122"/>
              </a:rPr>
              <a:t>5-</a:t>
            </a:r>
            <a:r>
              <a:rPr lang="zh-CN" altLang="en-US" sz="3200" dirty="0">
                <a:solidFill>
                  <a:srgbClr val="FF0000"/>
                </a:solidFill>
                <a:latin typeface="华文新魏" panose="02010800040101010101" pitchFamily="2" charset="-122"/>
                <a:ea typeface="华文新魏" panose="02010800040101010101" pitchFamily="2" charset="-122"/>
              </a:rPr>
              <a:t>磷酸</a:t>
            </a:r>
          </a:p>
        </p:txBody>
      </p:sp>
      <p:sp>
        <p:nvSpPr>
          <p:cNvPr id="394245" name="Rectangle 7">
            <a:extLst>
              <a:ext uri="{FF2B5EF4-FFF2-40B4-BE49-F238E27FC236}">
                <a16:creationId xmlns:a16="http://schemas.microsoft.com/office/drawing/2014/main" id="{28DAC05C-5D47-4810-B152-429672B614DB}"/>
              </a:ext>
            </a:extLst>
          </p:cNvPr>
          <p:cNvSpPr>
            <a:spLocks noChangeArrowheads="1"/>
          </p:cNvSpPr>
          <p:nvPr/>
        </p:nvSpPr>
        <p:spPr bwMode="auto">
          <a:xfrm>
            <a:off x="5638800" y="3352800"/>
            <a:ext cx="3124200" cy="579438"/>
          </a:xfrm>
          <a:prstGeom prst="rect">
            <a:avLst/>
          </a:prstGeom>
          <a:solidFill>
            <a:schemeClr val="tx2"/>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3200" dirty="0">
                <a:solidFill>
                  <a:srgbClr val="FF0000"/>
                </a:solidFill>
                <a:latin typeface="华文新魏" panose="02010800040101010101" pitchFamily="2" charset="-122"/>
                <a:ea typeface="华文新魏" panose="02010800040101010101" pitchFamily="2" charset="-122"/>
              </a:rPr>
              <a:t>木酮糖 </a:t>
            </a:r>
            <a:r>
              <a:rPr lang="en-US" altLang="zh-CN" sz="3200" dirty="0">
                <a:solidFill>
                  <a:srgbClr val="FF0000"/>
                </a:solidFill>
                <a:latin typeface="华文新魏" panose="02010800040101010101" pitchFamily="2" charset="-122"/>
                <a:ea typeface="华文新魏" panose="02010800040101010101" pitchFamily="2" charset="-122"/>
              </a:rPr>
              <a:t>5-</a:t>
            </a:r>
            <a:r>
              <a:rPr lang="zh-CN" altLang="en-US" sz="3200" dirty="0">
                <a:solidFill>
                  <a:srgbClr val="FF0000"/>
                </a:solidFill>
                <a:latin typeface="华文新魏" panose="02010800040101010101" pitchFamily="2" charset="-122"/>
                <a:ea typeface="华文新魏" panose="02010800040101010101" pitchFamily="2" charset="-122"/>
              </a:rPr>
              <a:t>磷酸</a:t>
            </a:r>
          </a:p>
        </p:txBody>
      </p:sp>
    </p:spTree>
    <p:extLst>
      <p:ext uri="{BB962C8B-B14F-4D97-AF65-F5344CB8AC3E}">
        <p14:creationId xmlns:p14="http://schemas.microsoft.com/office/powerpoint/2010/main" val="4065263215"/>
      </p:ext>
    </p:extLst>
  </p:cSld>
  <p:clrMapOvr>
    <a:masterClrMapping/>
  </p:clrMapOvr>
  <p:transition/>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5266" name="Picture 13" descr="p-4">
            <a:extLst>
              <a:ext uri="{FF2B5EF4-FFF2-40B4-BE49-F238E27FC236}">
                <a16:creationId xmlns:a16="http://schemas.microsoft.com/office/drawing/2014/main" id="{BAC384EA-8836-4A16-BBF5-CD3D09DFE4EF}"/>
              </a:ext>
            </a:extLst>
          </p:cNvPr>
          <p:cNvPicPr>
            <a:picLocks noChangeAspect="1" noChangeArrowheads="1"/>
          </p:cNvPicPr>
          <p:nvPr/>
        </p:nvPicPr>
        <p:blipFill>
          <a:blip r:embed="rId3" cstate="print">
            <a:lum contrast="18000"/>
            <a:extLst>
              <a:ext uri="{28A0092B-C50C-407E-A947-70E740481C1C}">
                <a14:useLocalDpi xmlns:a14="http://schemas.microsoft.com/office/drawing/2010/main" val="0"/>
              </a:ext>
            </a:extLst>
          </a:blip>
          <a:srcRect/>
          <a:stretch>
            <a:fillRect/>
          </a:stretch>
        </p:blipFill>
        <p:spPr bwMode="auto">
          <a:xfrm>
            <a:off x="76200" y="1752600"/>
            <a:ext cx="8839200" cy="344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5267" name="Rectangle 4">
            <a:extLst>
              <a:ext uri="{FF2B5EF4-FFF2-40B4-BE49-F238E27FC236}">
                <a16:creationId xmlns:a16="http://schemas.microsoft.com/office/drawing/2014/main" id="{9D1EC5A8-F3AF-4AAD-997A-E76A8EA60029}"/>
              </a:ext>
            </a:extLst>
          </p:cNvPr>
          <p:cNvSpPr>
            <a:spLocks noChangeArrowheads="1"/>
          </p:cNvSpPr>
          <p:nvPr/>
        </p:nvSpPr>
        <p:spPr bwMode="auto">
          <a:xfrm>
            <a:off x="389012" y="5161384"/>
            <a:ext cx="150495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a:solidFill>
                  <a:srgbClr val="FF0000"/>
                </a:solidFill>
              </a:rPr>
              <a:t>Donor</a:t>
            </a:r>
          </a:p>
          <a:p>
            <a:r>
              <a:rPr lang="en-US" altLang="zh-CN" sz="2800" b="1">
                <a:solidFill>
                  <a:srgbClr val="FF0000"/>
                </a:solidFill>
              </a:rPr>
              <a:t>(ketose)</a:t>
            </a:r>
          </a:p>
        </p:txBody>
      </p:sp>
      <p:sp>
        <p:nvSpPr>
          <p:cNvPr id="395268" name="Rectangle 5">
            <a:extLst>
              <a:ext uri="{FF2B5EF4-FFF2-40B4-BE49-F238E27FC236}">
                <a16:creationId xmlns:a16="http://schemas.microsoft.com/office/drawing/2014/main" id="{75E2484C-92FB-4B43-A9B4-AA625321200B}"/>
              </a:ext>
            </a:extLst>
          </p:cNvPr>
          <p:cNvSpPr>
            <a:spLocks noChangeArrowheads="1"/>
          </p:cNvSpPr>
          <p:nvPr/>
        </p:nvSpPr>
        <p:spPr bwMode="auto">
          <a:xfrm>
            <a:off x="2294012" y="5085184"/>
            <a:ext cx="14859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a:solidFill>
                  <a:srgbClr val="FF0000"/>
                </a:solidFill>
              </a:rPr>
              <a:t>Acceptor</a:t>
            </a:r>
          </a:p>
          <a:p>
            <a:r>
              <a:rPr lang="en-US" altLang="zh-CN" sz="2800">
                <a:solidFill>
                  <a:srgbClr val="FF0000"/>
                </a:solidFill>
              </a:rPr>
              <a:t>(aldose)</a:t>
            </a:r>
          </a:p>
        </p:txBody>
      </p:sp>
      <p:sp>
        <p:nvSpPr>
          <p:cNvPr id="395269" name="Rectangle 7">
            <a:extLst>
              <a:ext uri="{FF2B5EF4-FFF2-40B4-BE49-F238E27FC236}">
                <a16:creationId xmlns:a16="http://schemas.microsoft.com/office/drawing/2014/main" id="{C5FB8809-0C85-4861-B5B0-6467EAF6F5BF}"/>
              </a:ext>
            </a:extLst>
          </p:cNvPr>
          <p:cNvSpPr>
            <a:spLocks noChangeArrowheads="1"/>
          </p:cNvSpPr>
          <p:nvPr/>
        </p:nvSpPr>
        <p:spPr bwMode="auto">
          <a:xfrm>
            <a:off x="3276600" y="3352800"/>
            <a:ext cx="2546350"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3100" dirty="0">
                <a:solidFill>
                  <a:srgbClr val="3366FF"/>
                </a:solidFill>
              </a:rPr>
              <a:t>（</a:t>
            </a:r>
            <a:r>
              <a:rPr lang="zh-CN" altLang="en-US" sz="3100" dirty="0">
                <a:solidFill>
                  <a:srgbClr val="3366FF"/>
                </a:solidFill>
                <a:ea typeface="隶书" panose="02010509060101010101" pitchFamily="49" charset="-122"/>
              </a:rPr>
              <a:t>转酮醇酶</a:t>
            </a:r>
            <a:r>
              <a:rPr lang="zh-CN" altLang="en-US" sz="3100" dirty="0">
                <a:solidFill>
                  <a:srgbClr val="3366FF"/>
                </a:solidFill>
              </a:rPr>
              <a:t>）</a:t>
            </a:r>
          </a:p>
        </p:txBody>
      </p:sp>
      <p:sp>
        <p:nvSpPr>
          <p:cNvPr id="2" name="矩形 1">
            <a:extLst>
              <a:ext uri="{FF2B5EF4-FFF2-40B4-BE49-F238E27FC236}">
                <a16:creationId xmlns:a16="http://schemas.microsoft.com/office/drawing/2014/main" id="{A0E9BFBD-95BE-40E3-8F9B-A472B6A8F91F}"/>
              </a:ext>
            </a:extLst>
          </p:cNvPr>
          <p:cNvSpPr/>
          <p:nvPr/>
        </p:nvSpPr>
        <p:spPr>
          <a:xfrm>
            <a:off x="6804248" y="5008047"/>
            <a:ext cx="2005677" cy="369332"/>
          </a:xfrm>
          <a:prstGeom prst="rect">
            <a:avLst/>
          </a:prstGeom>
        </p:spPr>
        <p:txBody>
          <a:bodyPr wrap="none">
            <a:spAutoFit/>
          </a:bodyPr>
          <a:lstStyle/>
          <a:p>
            <a:r>
              <a:rPr lang="en-US" altLang="zh-CN" dirty="0"/>
              <a:t>7-</a:t>
            </a:r>
            <a:r>
              <a:rPr lang="zh-CN" altLang="en-US" dirty="0"/>
              <a:t>磷酸景天庚酮糖</a:t>
            </a:r>
          </a:p>
        </p:txBody>
      </p:sp>
    </p:spTree>
    <p:extLst>
      <p:ext uri="{BB962C8B-B14F-4D97-AF65-F5344CB8AC3E}">
        <p14:creationId xmlns:p14="http://schemas.microsoft.com/office/powerpoint/2010/main" val="1500820850"/>
      </p:ext>
    </p:extLst>
  </p:cSld>
  <p:clrMapOvr>
    <a:masterClrMapping/>
  </p:clrMapOvr>
  <p:transition/>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6290" name="Picture 2" descr="D:\Biochemistry II 2000 lecture slides\5c6cc.jpg">
            <a:extLst>
              <a:ext uri="{FF2B5EF4-FFF2-40B4-BE49-F238E27FC236}">
                <a16:creationId xmlns:a16="http://schemas.microsoft.com/office/drawing/2014/main" id="{E0237649-9DE9-4E62-AB6E-30D571F8557E}"/>
              </a:ext>
            </a:extLst>
          </p:cNvPr>
          <p:cNvPicPr>
            <a:picLocks noChangeAspect="1" noChangeArrowheads="1"/>
          </p:cNvPicPr>
          <p:nvPr/>
        </p:nvPicPr>
        <p:blipFill>
          <a:blip r:embed="rId3" cstate="print">
            <a:lum contrast="10000"/>
            <a:extLst>
              <a:ext uri="{28A0092B-C50C-407E-A947-70E740481C1C}">
                <a14:useLocalDpi xmlns:a14="http://schemas.microsoft.com/office/drawing/2010/main" val="0"/>
              </a:ext>
            </a:extLst>
          </a:blip>
          <a:srcRect/>
          <a:stretch>
            <a:fillRect/>
          </a:stretch>
        </p:blipFill>
        <p:spPr bwMode="auto">
          <a:xfrm>
            <a:off x="0" y="1676400"/>
            <a:ext cx="91440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6291" name="Rectangle 8">
            <a:extLst>
              <a:ext uri="{FF2B5EF4-FFF2-40B4-BE49-F238E27FC236}">
                <a16:creationId xmlns:a16="http://schemas.microsoft.com/office/drawing/2014/main" id="{8205E02B-00BD-43D5-A749-FBF3996205F8}"/>
              </a:ext>
            </a:extLst>
          </p:cNvPr>
          <p:cNvSpPr>
            <a:spLocks noChangeArrowheads="1"/>
          </p:cNvSpPr>
          <p:nvPr/>
        </p:nvSpPr>
        <p:spPr bwMode="auto">
          <a:xfrm>
            <a:off x="304800" y="5638800"/>
            <a:ext cx="1905000" cy="457200"/>
          </a:xfrm>
          <a:prstGeom prst="rect">
            <a:avLst/>
          </a:prstGeom>
          <a:solidFill>
            <a:schemeClr val="tx2"/>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a:solidFill>
                  <a:schemeClr val="bg2"/>
                </a:solidFill>
              </a:rPr>
              <a:t>景天庚酮糖</a:t>
            </a:r>
          </a:p>
        </p:txBody>
      </p:sp>
      <p:sp>
        <p:nvSpPr>
          <p:cNvPr id="396292" name="Rectangle 10">
            <a:extLst>
              <a:ext uri="{FF2B5EF4-FFF2-40B4-BE49-F238E27FC236}">
                <a16:creationId xmlns:a16="http://schemas.microsoft.com/office/drawing/2014/main" id="{D51D7666-B800-4F4B-8E7F-59C04E39BD58}"/>
              </a:ext>
            </a:extLst>
          </p:cNvPr>
          <p:cNvSpPr>
            <a:spLocks noChangeArrowheads="1"/>
          </p:cNvSpPr>
          <p:nvPr/>
        </p:nvSpPr>
        <p:spPr bwMode="auto">
          <a:xfrm>
            <a:off x="5486400" y="5638800"/>
            <a:ext cx="1295400" cy="457200"/>
          </a:xfrm>
          <a:prstGeom prst="rect">
            <a:avLst/>
          </a:prstGeom>
          <a:solidFill>
            <a:schemeClr val="tx2"/>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a:solidFill>
                  <a:schemeClr val="bg2"/>
                </a:solidFill>
              </a:rPr>
              <a:t>赤藓糖</a:t>
            </a:r>
          </a:p>
        </p:txBody>
      </p:sp>
      <p:sp>
        <p:nvSpPr>
          <p:cNvPr id="5" name="Rectangle 7">
            <a:extLst>
              <a:ext uri="{FF2B5EF4-FFF2-40B4-BE49-F238E27FC236}">
                <a16:creationId xmlns:a16="http://schemas.microsoft.com/office/drawing/2014/main" id="{1F036115-14CF-4AFA-9E70-54B2AC1BAECE}"/>
              </a:ext>
            </a:extLst>
          </p:cNvPr>
          <p:cNvSpPr>
            <a:spLocks noChangeArrowheads="1"/>
          </p:cNvSpPr>
          <p:nvPr/>
        </p:nvSpPr>
        <p:spPr bwMode="auto">
          <a:xfrm>
            <a:off x="3556337" y="3212976"/>
            <a:ext cx="2031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dirty="0">
                <a:solidFill>
                  <a:srgbClr val="3366FF"/>
                </a:solidFill>
              </a:rPr>
              <a:t>（</a:t>
            </a:r>
            <a:r>
              <a:rPr lang="zh-CN" altLang="en-US" dirty="0">
                <a:solidFill>
                  <a:srgbClr val="3366FF"/>
                </a:solidFill>
                <a:ea typeface="隶书" panose="02010509060101010101" pitchFamily="49" charset="-122"/>
              </a:rPr>
              <a:t>转醛醇酶</a:t>
            </a:r>
            <a:r>
              <a:rPr lang="zh-CN" altLang="en-US" dirty="0">
                <a:solidFill>
                  <a:srgbClr val="3366FF"/>
                </a:solidFill>
              </a:rPr>
              <a:t>）</a:t>
            </a:r>
          </a:p>
        </p:txBody>
      </p:sp>
    </p:spTree>
    <p:extLst>
      <p:ext uri="{BB962C8B-B14F-4D97-AF65-F5344CB8AC3E}">
        <p14:creationId xmlns:p14="http://schemas.microsoft.com/office/powerpoint/2010/main" val="2307703974"/>
      </p:ext>
    </p:extLst>
  </p:cSld>
  <p:clrMapOvr>
    <a:masterClrMapping/>
  </p:clrMapOvr>
  <p:transition/>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7314" name="Picture 2" descr="5c6cd">
            <a:extLst>
              <a:ext uri="{FF2B5EF4-FFF2-40B4-BE49-F238E27FC236}">
                <a16:creationId xmlns:a16="http://schemas.microsoft.com/office/drawing/2014/main" id="{30DE532C-8120-4B2E-9BAC-98CEAD92217D}"/>
              </a:ext>
            </a:extLst>
          </p:cNvPr>
          <p:cNvPicPr>
            <a:picLocks noChangeAspect="1" noChangeArrowheads="1"/>
          </p:cNvPicPr>
          <p:nvPr/>
        </p:nvPicPr>
        <p:blipFill>
          <a:blip r:embed="rId3" cstate="print">
            <a:lum contrast="12000"/>
            <a:extLst>
              <a:ext uri="{28A0092B-C50C-407E-A947-70E740481C1C}">
                <a14:useLocalDpi xmlns:a14="http://schemas.microsoft.com/office/drawing/2010/main" val="0"/>
              </a:ext>
            </a:extLst>
          </a:blip>
          <a:srcRect/>
          <a:stretch>
            <a:fillRect/>
          </a:stretch>
        </p:blipFill>
        <p:spPr bwMode="auto">
          <a:xfrm>
            <a:off x="0" y="1371600"/>
            <a:ext cx="9144000" cy="353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7315" name="Rectangle 6">
            <a:extLst>
              <a:ext uri="{FF2B5EF4-FFF2-40B4-BE49-F238E27FC236}">
                <a16:creationId xmlns:a16="http://schemas.microsoft.com/office/drawing/2014/main" id="{77E4AFC1-5517-4153-8849-482CA664B809}"/>
              </a:ext>
            </a:extLst>
          </p:cNvPr>
          <p:cNvSpPr>
            <a:spLocks noChangeArrowheads="1"/>
          </p:cNvSpPr>
          <p:nvPr/>
        </p:nvSpPr>
        <p:spPr bwMode="auto">
          <a:xfrm>
            <a:off x="3298825" y="3146425"/>
            <a:ext cx="2546350"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3100">
                <a:solidFill>
                  <a:srgbClr val="3366FF"/>
                </a:solidFill>
              </a:rPr>
              <a:t>（</a:t>
            </a:r>
            <a:r>
              <a:rPr lang="zh-CN" altLang="en-US" sz="3100">
                <a:solidFill>
                  <a:srgbClr val="3366FF"/>
                </a:solidFill>
                <a:ea typeface="隶书" panose="02010509060101010101" pitchFamily="49" charset="-122"/>
              </a:rPr>
              <a:t>转酮醇酶</a:t>
            </a:r>
            <a:r>
              <a:rPr lang="zh-CN" altLang="en-US" sz="3100">
                <a:solidFill>
                  <a:srgbClr val="3366FF"/>
                </a:solidFill>
              </a:rPr>
              <a:t>）</a:t>
            </a:r>
          </a:p>
        </p:txBody>
      </p:sp>
    </p:spTree>
    <p:extLst>
      <p:ext uri="{BB962C8B-B14F-4D97-AF65-F5344CB8AC3E}">
        <p14:creationId xmlns:p14="http://schemas.microsoft.com/office/powerpoint/2010/main" val="2322891384"/>
      </p:ext>
    </p:extLst>
  </p:cSld>
  <p:clrMapOvr>
    <a:masterClrMapping/>
  </p:clrMapOvr>
  <p:transition/>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8338" name="Picture 4" descr="F15-21.0b.GIF048                                               00005B99Sumanas' Hard Drive            B4EBCDA7:">
            <a:extLst>
              <a:ext uri="{FF2B5EF4-FFF2-40B4-BE49-F238E27FC236}">
                <a16:creationId xmlns:a16="http://schemas.microsoft.com/office/drawing/2014/main" id="{A438E212-AA31-47C2-A341-1268C9E90FB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4400" y="180975"/>
            <a:ext cx="6629400" cy="644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30919448"/>
      </p:ext>
    </p:extLst>
  </p:cSld>
  <p:clrMapOvr>
    <a:masterClrMapping/>
  </p:clrMapOvr>
  <p:transition/>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a:extLst>
              <a:ext uri="{FF2B5EF4-FFF2-40B4-BE49-F238E27FC236}">
                <a16:creationId xmlns:a16="http://schemas.microsoft.com/office/drawing/2014/main" id="{41439212-CA20-49BF-BD12-153448D74FBB}"/>
              </a:ext>
            </a:extLst>
          </p:cNvPr>
          <p:cNvSpPr>
            <a:spLocks noGrp="1" noChangeArrowheads="1"/>
          </p:cNvSpPr>
          <p:nvPr>
            <p:ph type="title"/>
          </p:nvPr>
        </p:nvSpPr>
        <p:spPr>
          <a:xfrm>
            <a:off x="304800" y="228600"/>
            <a:ext cx="8839200" cy="1143000"/>
          </a:xfrm>
        </p:spPr>
        <p:txBody>
          <a:bodyPr/>
          <a:lstStyle/>
          <a:p>
            <a:r>
              <a:rPr lang="en-US" altLang="zh-CN" sz="3800" b="1" dirty="0">
                <a:solidFill>
                  <a:srgbClr val="0000FF"/>
                </a:solidFill>
                <a:ea typeface="隶书" panose="02010509060101010101" pitchFamily="49" charset="-122"/>
              </a:rPr>
              <a:t>PPP</a:t>
            </a:r>
            <a:r>
              <a:rPr lang="zh-CN" altLang="en-US" sz="3800" b="1" dirty="0">
                <a:solidFill>
                  <a:srgbClr val="0000FF"/>
                </a:solidFill>
                <a:ea typeface="隶书" panose="02010509060101010101" pitchFamily="49" charset="-122"/>
              </a:rPr>
              <a:t>途径的非氧化分子重排阶段（</a:t>
            </a:r>
            <a:r>
              <a:rPr lang="en-US" altLang="zh-CN" sz="3800" b="1" dirty="0">
                <a:solidFill>
                  <a:srgbClr val="0000FF"/>
                </a:solidFill>
                <a:ea typeface="隶书" panose="02010509060101010101" pitchFamily="49" charset="-122"/>
              </a:rPr>
              <a:t>stage2</a:t>
            </a:r>
            <a:r>
              <a:rPr lang="zh-CN" altLang="en-US" sz="3800" b="1" dirty="0">
                <a:solidFill>
                  <a:srgbClr val="0000FF"/>
                </a:solidFill>
                <a:ea typeface="隶书" panose="02010509060101010101" pitchFamily="49" charset="-122"/>
              </a:rPr>
              <a:t>）</a:t>
            </a:r>
          </a:p>
        </p:txBody>
      </p:sp>
      <p:grpSp>
        <p:nvGrpSpPr>
          <p:cNvPr id="208899" name="Group 3">
            <a:extLst>
              <a:ext uri="{FF2B5EF4-FFF2-40B4-BE49-F238E27FC236}">
                <a16:creationId xmlns:a16="http://schemas.microsoft.com/office/drawing/2014/main" id="{F56D75F8-3102-4A5B-A320-8C3A87D951C4}"/>
              </a:ext>
            </a:extLst>
          </p:cNvPr>
          <p:cNvGrpSpPr>
            <a:grpSpLocks/>
          </p:cNvGrpSpPr>
          <p:nvPr/>
        </p:nvGrpSpPr>
        <p:grpSpPr bwMode="auto">
          <a:xfrm>
            <a:off x="4311651" y="5943600"/>
            <a:ext cx="2212974" cy="625475"/>
            <a:chOff x="2620" y="3744"/>
            <a:chExt cx="1406" cy="394"/>
          </a:xfrm>
        </p:grpSpPr>
        <p:sp>
          <p:nvSpPr>
            <p:cNvPr id="208900" name="AutoShape 4">
              <a:extLst>
                <a:ext uri="{FF2B5EF4-FFF2-40B4-BE49-F238E27FC236}">
                  <a16:creationId xmlns:a16="http://schemas.microsoft.com/office/drawing/2014/main" id="{DB4F0453-03FC-4A4E-B15A-2EB433F4939E}"/>
                </a:ext>
              </a:extLst>
            </p:cNvPr>
            <p:cNvSpPr>
              <a:spLocks noChangeArrowheads="1"/>
            </p:cNvSpPr>
            <p:nvPr/>
          </p:nvSpPr>
          <p:spPr bwMode="auto">
            <a:xfrm>
              <a:off x="2620" y="3744"/>
              <a:ext cx="1208" cy="48"/>
            </a:xfrm>
            <a:prstGeom prst="leftArrow">
              <a:avLst>
                <a:gd name="adj1" fmla="val 50000"/>
                <a:gd name="adj2" fmla="val 389943"/>
              </a:avLst>
            </a:prstGeom>
            <a:gradFill rotWithShape="0">
              <a:gsLst>
                <a:gs pos="0">
                  <a:srgbClr val="FFFFFF"/>
                </a:gs>
                <a:gs pos="50000">
                  <a:schemeClr val="accent1"/>
                </a:gs>
                <a:gs pos="100000">
                  <a:srgbClr val="FFFFFF"/>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600" b="1" i="0" u="none" strike="noStrike" kern="1200" cap="none" spc="0" normalizeH="0" baseline="0" noProof="0">
                <a:ln>
                  <a:noFill/>
                </a:ln>
                <a:solidFill>
                  <a:srgbClr val="CC00CC"/>
                </a:solidFill>
                <a:effectLst/>
                <a:uLnTx/>
                <a:uFillTx/>
                <a:latin typeface="Times New Roman" panose="02020603050405020304" pitchFamily="18" charset="0"/>
                <a:ea typeface="宋体" panose="02010600030101010101" pitchFamily="2" charset="-122"/>
                <a:cs typeface="+mn-cs"/>
              </a:endParaRPr>
            </a:p>
          </p:txBody>
        </p:sp>
        <p:sp>
          <p:nvSpPr>
            <p:cNvPr id="208901" name="AutoShape 5">
              <a:extLst>
                <a:ext uri="{FF2B5EF4-FFF2-40B4-BE49-F238E27FC236}">
                  <a16:creationId xmlns:a16="http://schemas.microsoft.com/office/drawing/2014/main" id="{66D7283B-113A-485D-99EF-82348211E7F2}"/>
                </a:ext>
              </a:extLst>
            </p:cNvPr>
            <p:cNvSpPr>
              <a:spLocks noChangeArrowheads="1"/>
            </p:cNvSpPr>
            <p:nvPr/>
          </p:nvSpPr>
          <p:spPr bwMode="auto">
            <a:xfrm flipH="1">
              <a:off x="3105" y="3792"/>
              <a:ext cx="490" cy="153"/>
            </a:xfrm>
            <a:prstGeom prst="curvedDownArrow">
              <a:avLst>
                <a:gd name="adj1" fmla="val 64052"/>
                <a:gd name="adj2" fmla="val 128105"/>
                <a:gd name="adj3" fmla="val 33333"/>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600" b="1" i="0" u="none" strike="noStrike" kern="1200" cap="none" spc="0" normalizeH="0" baseline="0" noProof="0">
                <a:ln>
                  <a:noFill/>
                </a:ln>
                <a:solidFill>
                  <a:srgbClr val="CC00CC"/>
                </a:solidFill>
                <a:effectLst/>
                <a:uLnTx/>
                <a:uFillTx/>
                <a:latin typeface="Times New Roman" panose="02020603050405020304" pitchFamily="18" charset="0"/>
                <a:ea typeface="宋体" panose="02010600030101010101" pitchFamily="2" charset="-122"/>
                <a:cs typeface="+mn-cs"/>
              </a:endParaRPr>
            </a:p>
          </p:txBody>
        </p:sp>
        <p:sp>
          <p:nvSpPr>
            <p:cNvPr id="208902" name="Text Box 6">
              <a:extLst>
                <a:ext uri="{FF2B5EF4-FFF2-40B4-BE49-F238E27FC236}">
                  <a16:creationId xmlns:a16="http://schemas.microsoft.com/office/drawing/2014/main" id="{CE2D6510-2147-47CE-810E-A3AA7C99235C}"/>
                </a:ext>
              </a:extLst>
            </p:cNvPr>
            <p:cNvSpPr txBox="1">
              <a:spLocks noChangeArrowheads="1"/>
            </p:cNvSpPr>
            <p:nvPr/>
          </p:nvSpPr>
          <p:spPr bwMode="auto">
            <a:xfrm>
              <a:off x="3408" y="3888"/>
              <a:ext cx="618" cy="250"/>
            </a:xfrm>
            <a:prstGeom prst="rect">
              <a:avLst/>
            </a:prstGeom>
            <a:noFill/>
            <a:ln>
              <a:noFill/>
            </a:ln>
            <a:effectLst/>
            <a:extLst>
              <a:ext uri="{909E8E84-426E-40DD-AFC4-6F175D3DCCD1}">
                <a14:hiddenFill xmlns:a14="http://schemas.microsoft.com/office/drawing/2010/main">
                  <a:gradFill rotWithShape="0">
                    <a:gsLst>
                      <a:gs pos="0">
                        <a:schemeClr val="accent1"/>
                      </a:gs>
                      <a:gs pos="50000">
                        <a:srgbClr val="FFFFFF"/>
                      </a:gs>
                      <a:gs pos="100000">
                        <a:schemeClr val="accent1"/>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1" lang="en-US" altLang="zh-CN" sz="20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H</a:t>
              </a:r>
              <a:r>
                <a:rPr kumimoji="1" lang="en-US" altLang="zh-CN" sz="2000" b="1" i="0" u="none" strike="noStrike" kern="1200" cap="none" spc="0" normalizeH="0" baseline="-25000" noProof="0">
                  <a:ln>
                    <a:noFill/>
                  </a:ln>
                  <a:solidFill>
                    <a:srgbClr val="000066"/>
                  </a:solidFill>
                  <a:effectLst/>
                  <a:uLnTx/>
                  <a:uFillTx/>
                  <a:latin typeface="Times New Roman" panose="02020603050405020304" pitchFamily="18" charset="0"/>
                  <a:ea typeface="宋体" panose="02010600030101010101" pitchFamily="2" charset="-122"/>
                  <a:cs typeface="+mn-cs"/>
                </a:rPr>
                <a:t>2</a:t>
              </a:r>
              <a:r>
                <a:rPr kumimoji="1" lang="en-US" altLang="zh-CN" sz="20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O</a:t>
              </a:r>
            </a:p>
          </p:txBody>
        </p:sp>
        <p:sp>
          <p:nvSpPr>
            <p:cNvPr id="208903" name="Text Box 7">
              <a:extLst>
                <a:ext uri="{FF2B5EF4-FFF2-40B4-BE49-F238E27FC236}">
                  <a16:creationId xmlns:a16="http://schemas.microsoft.com/office/drawing/2014/main" id="{ED2AFB97-01C8-4198-B8DB-D83FD7D1CDE2}"/>
                </a:ext>
              </a:extLst>
            </p:cNvPr>
            <p:cNvSpPr txBox="1">
              <a:spLocks noChangeArrowheads="1"/>
            </p:cNvSpPr>
            <p:nvPr/>
          </p:nvSpPr>
          <p:spPr bwMode="auto">
            <a:xfrm>
              <a:off x="2790" y="3888"/>
              <a:ext cx="618" cy="250"/>
            </a:xfrm>
            <a:prstGeom prst="rect">
              <a:avLst/>
            </a:prstGeom>
            <a:noFill/>
            <a:ln>
              <a:noFill/>
            </a:ln>
            <a:effectLst/>
            <a:extLst>
              <a:ext uri="{909E8E84-426E-40DD-AFC4-6F175D3DCCD1}">
                <a14:hiddenFill xmlns:a14="http://schemas.microsoft.com/office/drawing/2010/main">
                  <a:gradFill rotWithShape="0">
                    <a:gsLst>
                      <a:gs pos="0">
                        <a:schemeClr val="accent1"/>
                      </a:gs>
                      <a:gs pos="50000">
                        <a:srgbClr val="FFFFFF"/>
                      </a:gs>
                      <a:gs pos="100000">
                        <a:schemeClr val="accent1"/>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1" lang="en-US" altLang="zh-CN" sz="20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Pi</a:t>
              </a:r>
            </a:p>
          </p:txBody>
        </p:sp>
      </p:grpSp>
      <p:sp>
        <p:nvSpPr>
          <p:cNvPr id="208905" name="Text Box 9">
            <a:extLst>
              <a:ext uri="{FF2B5EF4-FFF2-40B4-BE49-F238E27FC236}">
                <a16:creationId xmlns:a16="http://schemas.microsoft.com/office/drawing/2014/main" id="{F03BC647-E75C-421D-8E2C-2F956440C07E}"/>
              </a:ext>
            </a:extLst>
          </p:cNvPr>
          <p:cNvSpPr txBox="1">
            <a:spLocks noChangeArrowheads="1"/>
          </p:cNvSpPr>
          <p:nvPr/>
        </p:nvSpPr>
        <p:spPr bwMode="auto">
          <a:xfrm>
            <a:off x="1979613" y="1052513"/>
            <a:ext cx="2468562" cy="406400"/>
          </a:xfrm>
          <a:prstGeom prst="rect">
            <a:avLst/>
          </a:prstGeom>
          <a:solidFill>
            <a:srgbClr val="FFE8D1"/>
          </a:solidFill>
          <a:ln w="9525">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cs typeface="+mn-cs"/>
              </a:rPr>
              <a:t>6</a:t>
            </a:r>
            <a:r>
              <a:rPr kumimoji="1" lang="en-US" altLang="zh-CN" sz="20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    5-</a:t>
            </a:r>
            <a:r>
              <a:rPr kumimoji="1" lang="zh-CN" altLang="en-US" sz="20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磷酸核酮糖</a:t>
            </a:r>
          </a:p>
        </p:txBody>
      </p:sp>
      <p:sp>
        <p:nvSpPr>
          <p:cNvPr id="208906" name="Text Box 10">
            <a:extLst>
              <a:ext uri="{FF2B5EF4-FFF2-40B4-BE49-F238E27FC236}">
                <a16:creationId xmlns:a16="http://schemas.microsoft.com/office/drawing/2014/main" id="{732A06C4-30FC-4E71-897B-5C5518D171E1}"/>
              </a:ext>
            </a:extLst>
          </p:cNvPr>
          <p:cNvSpPr txBox="1">
            <a:spLocks noChangeArrowheads="1"/>
          </p:cNvSpPr>
          <p:nvPr/>
        </p:nvSpPr>
        <p:spPr bwMode="auto">
          <a:xfrm>
            <a:off x="3467100" y="1979613"/>
            <a:ext cx="2001838" cy="396875"/>
          </a:xfrm>
          <a:prstGeom prst="rect">
            <a:avLst/>
          </a:prstGeom>
          <a:noFill/>
          <a:ln>
            <a:noFill/>
          </a:ln>
          <a:effectLst/>
          <a:extLst>
            <a:ext uri="{909E8E84-426E-40DD-AFC4-6F175D3DCCD1}">
              <a14:hiddenFill xmlns:a14="http://schemas.microsoft.com/office/drawing/2010/main">
                <a:gradFill rotWithShape="0">
                  <a:gsLst>
                    <a:gs pos="0">
                      <a:schemeClr val="accent1"/>
                    </a:gs>
                    <a:gs pos="50000">
                      <a:srgbClr val="FFFFFF"/>
                    </a:gs>
                    <a:gs pos="100000">
                      <a:schemeClr val="accent1"/>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1" i="0" u="none" strike="noStrike" kern="120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cs typeface="+mn-cs"/>
              </a:rPr>
              <a:t>2</a:t>
            </a:r>
            <a:r>
              <a:rPr kumimoji="1" lang="en-US" altLang="zh-CN" sz="20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 </a:t>
            </a:r>
            <a:r>
              <a:rPr kumimoji="1" lang="en-US" altLang="zh-CN" sz="16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5-</a:t>
            </a:r>
            <a:r>
              <a:rPr kumimoji="1" lang="zh-CN" altLang="en-US" sz="16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磷酸木酮糖</a:t>
            </a:r>
            <a:endParaRPr kumimoji="1" lang="zh-CN" altLang="en-US" sz="20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endParaRPr>
          </a:p>
        </p:txBody>
      </p:sp>
      <p:sp>
        <p:nvSpPr>
          <p:cNvPr id="208907" name="Text Box 11">
            <a:extLst>
              <a:ext uri="{FF2B5EF4-FFF2-40B4-BE49-F238E27FC236}">
                <a16:creationId xmlns:a16="http://schemas.microsoft.com/office/drawing/2014/main" id="{F7B505DE-B130-4E18-9BF5-B5C83EC05401}"/>
              </a:ext>
            </a:extLst>
          </p:cNvPr>
          <p:cNvSpPr txBox="1">
            <a:spLocks noChangeArrowheads="1"/>
          </p:cNvSpPr>
          <p:nvPr/>
        </p:nvSpPr>
        <p:spPr bwMode="auto">
          <a:xfrm>
            <a:off x="762000" y="2041525"/>
            <a:ext cx="2171700" cy="396875"/>
          </a:xfrm>
          <a:prstGeom prst="rect">
            <a:avLst/>
          </a:prstGeom>
          <a:noFill/>
          <a:ln>
            <a:noFill/>
          </a:ln>
          <a:effectLst/>
          <a:extLst>
            <a:ext uri="{909E8E84-426E-40DD-AFC4-6F175D3DCCD1}">
              <a14:hiddenFill xmlns:a14="http://schemas.microsoft.com/office/drawing/2010/main">
                <a:gradFill rotWithShape="0">
                  <a:gsLst>
                    <a:gs pos="0">
                      <a:schemeClr val="accent1"/>
                    </a:gs>
                    <a:gs pos="50000">
                      <a:srgbClr val="FFFFFF"/>
                    </a:gs>
                    <a:gs pos="100000">
                      <a:schemeClr val="accent1"/>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cs typeface="+mn-cs"/>
              </a:rPr>
              <a:t>2</a:t>
            </a:r>
          </a:p>
        </p:txBody>
      </p:sp>
      <p:sp>
        <p:nvSpPr>
          <p:cNvPr id="208908" name="Text Box 12">
            <a:extLst>
              <a:ext uri="{FF2B5EF4-FFF2-40B4-BE49-F238E27FC236}">
                <a16:creationId xmlns:a16="http://schemas.microsoft.com/office/drawing/2014/main" id="{002DC984-2F50-4AE4-BB61-05C3BCA09BD0}"/>
              </a:ext>
            </a:extLst>
          </p:cNvPr>
          <p:cNvSpPr txBox="1">
            <a:spLocks noChangeArrowheads="1"/>
          </p:cNvSpPr>
          <p:nvPr/>
        </p:nvSpPr>
        <p:spPr bwMode="auto">
          <a:xfrm>
            <a:off x="762000" y="2909888"/>
            <a:ext cx="1981200" cy="396875"/>
          </a:xfrm>
          <a:prstGeom prst="rect">
            <a:avLst/>
          </a:prstGeom>
          <a:noFill/>
          <a:ln>
            <a:noFill/>
          </a:ln>
          <a:effectLst/>
          <a:extLst>
            <a:ext uri="{909E8E84-426E-40DD-AFC4-6F175D3DCCD1}">
              <a14:hiddenFill xmlns:a14="http://schemas.microsoft.com/office/drawing/2010/main">
                <a:gradFill rotWithShape="0">
                  <a:gsLst>
                    <a:gs pos="0">
                      <a:schemeClr val="accent1"/>
                    </a:gs>
                    <a:gs pos="50000">
                      <a:srgbClr val="FFFFFF"/>
                    </a:gs>
                    <a:gs pos="100000">
                      <a:schemeClr val="accent1"/>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800" b="1" i="0" u="none" strike="noStrike" kern="120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cs typeface="+mn-cs"/>
              </a:rPr>
              <a:t>2</a:t>
            </a:r>
            <a:r>
              <a:rPr kumimoji="1" lang="en-US" altLang="zh-CN" sz="18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3-</a:t>
            </a:r>
            <a:r>
              <a:rPr kumimoji="1" lang="zh-CN" altLang="en-US" sz="20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磷酸甘油醛</a:t>
            </a:r>
          </a:p>
        </p:txBody>
      </p:sp>
      <p:sp>
        <p:nvSpPr>
          <p:cNvPr id="208909" name="Text Box 13">
            <a:extLst>
              <a:ext uri="{FF2B5EF4-FFF2-40B4-BE49-F238E27FC236}">
                <a16:creationId xmlns:a16="http://schemas.microsoft.com/office/drawing/2014/main" id="{829C1082-D514-43C8-AE64-BB9387F34525}"/>
              </a:ext>
            </a:extLst>
          </p:cNvPr>
          <p:cNvSpPr txBox="1">
            <a:spLocks noChangeArrowheads="1"/>
          </p:cNvSpPr>
          <p:nvPr/>
        </p:nvSpPr>
        <p:spPr bwMode="auto">
          <a:xfrm>
            <a:off x="3516313" y="2895600"/>
            <a:ext cx="2655887" cy="396875"/>
          </a:xfrm>
          <a:prstGeom prst="rect">
            <a:avLst/>
          </a:prstGeom>
          <a:noFill/>
          <a:ln>
            <a:noFill/>
          </a:ln>
          <a:effectLst/>
          <a:extLst>
            <a:ext uri="{909E8E84-426E-40DD-AFC4-6F175D3DCCD1}">
              <a14:hiddenFill xmlns:a14="http://schemas.microsoft.com/office/drawing/2010/main">
                <a:gradFill rotWithShape="0">
                  <a:gsLst>
                    <a:gs pos="0">
                      <a:schemeClr val="accent1"/>
                    </a:gs>
                    <a:gs pos="50000">
                      <a:srgbClr val="FFFFFF"/>
                    </a:gs>
                    <a:gs pos="100000">
                      <a:schemeClr val="accent1"/>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800" b="1" i="0" u="none" strike="noStrike" kern="120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cs typeface="+mn-cs"/>
              </a:rPr>
              <a:t>2</a:t>
            </a:r>
            <a:r>
              <a:rPr kumimoji="1" lang="en-US" altLang="zh-CN" sz="18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7-</a:t>
            </a:r>
            <a:r>
              <a:rPr kumimoji="1" lang="zh-CN" altLang="en-US" sz="20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磷酸景天庚酮糖</a:t>
            </a:r>
          </a:p>
        </p:txBody>
      </p:sp>
      <p:sp>
        <p:nvSpPr>
          <p:cNvPr id="208910" name="Text Box 14">
            <a:extLst>
              <a:ext uri="{FF2B5EF4-FFF2-40B4-BE49-F238E27FC236}">
                <a16:creationId xmlns:a16="http://schemas.microsoft.com/office/drawing/2014/main" id="{7AF9E567-BF00-4FB3-9300-B7A27229865F}"/>
              </a:ext>
            </a:extLst>
          </p:cNvPr>
          <p:cNvSpPr txBox="1">
            <a:spLocks noChangeArrowheads="1"/>
          </p:cNvSpPr>
          <p:nvPr/>
        </p:nvSpPr>
        <p:spPr bwMode="auto">
          <a:xfrm>
            <a:off x="3525838" y="3900488"/>
            <a:ext cx="2286000" cy="396875"/>
          </a:xfrm>
          <a:prstGeom prst="rect">
            <a:avLst/>
          </a:prstGeom>
          <a:noFill/>
          <a:ln>
            <a:noFill/>
          </a:ln>
          <a:effectLst/>
          <a:extLst>
            <a:ext uri="{909E8E84-426E-40DD-AFC4-6F175D3DCCD1}">
              <a14:hiddenFill xmlns:a14="http://schemas.microsoft.com/office/drawing/2010/main">
                <a:gradFill rotWithShape="0">
                  <a:gsLst>
                    <a:gs pos="0">
                      <a:schemeClr val="accent1"/>
                    </a:gs>
                    <a:gs pos="50000">
                      <a:srgbClr val="FFFFFF"/>
                    </a:gs>
                    <a:gs pos="100000">
                      <a:schemeClr val="accent1"/>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800" b="1" i="0" u="none" strike="noStrike" kern="120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cs typeface="+mn-cs"/>
              </a:rPr>
              <a:t>2</a:t>
            </a:r>
            <a:r>
              <a:rPr kumimoji="1" lang="en-US" altLang="zh-CN" sz="18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4-</a:t>
            </a:r>
            <a:r>
              <a:rPr kumimoji="1" lang="zh-CN" altLang="en-US" sz="20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磷酸赤藓丁糖</a:t>
            </a:r>
          </a:p>
        </p:txBody>
      </p:sp>
      <p:sp>
        <p:nvSpPr>
          <p:cNvPr id="208911" name="Text Box 15">
            <a:extLst>
              <a:ext uri="{FF2B5EF4-FFF2-40B4-BE49-F238E27FC236}">
                <a16:creationId xmlns:a16="http://schemas.microsoft.com/office/drawing/2014/main" id="{568F171E-482B-434A-A658-A7367471C8DD}"/>
              </a:ext>
            </a:extLst>
          </p:cNvPr>
          <p:cNvSpPr txBox="1">
            <a:spLocks noChangeArrowheads="1"/>
          </p:cNvSpPr>
          <p:nvPr/>
        </p:nvSpPr>
        <p:spPr bwMode="auto">
          <a:xfrm>
            <a:off x="971550" y="3860800"/>
            <a:ext cx="1752600" cy="406400"/>
          </a:xfrm>
          <a:prstGeom prst="rect">
            <a:avLst/>
          </a:prstGeom>
          <a:solidFill>
            <a:srgbClr val="CCFFCC">
              <a:alpha val="50000"/>
            </a:srgbClr>
          </a:solidFill>
          <a:ln w="9525">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000" b="1" i="0" u="none" strike="noStrike" kern="120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cs typeface="+mn-cs"/>
              </a:rPr>
              <a:t>2</a:t>
            </a:r>
            <a:r>
              <a:rPr kumimoji="1" lang="en-US" altLang="zh-CN" sz="20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  6-</a:t>
            </a:r>
            <a:r>
              <a:rPr kumimoji="1" lang="zh-CN" altLang="en-US" sz="20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磷酸果糖</a:t>
            </a:r>
          </a:p>
        </p:txBody>
      </p:sp>
      <p:sp>
        <p:nvSpPr>
          <p:cNvPr id="208912" name="Text Box 16">
            <a:extLst>
              <a:ext uri="{FF2B5EF4-FFF2-40B4-BE49-F238E27FC236}">
                <a16:creationId xmlns:a16="http://schemas.microsoft.com/office/drawing/2014/main" id="{1689F18C-7650-4130-8FDB-816D88CFC7C9}"/>
              </a:ext>
            </a:extLst>
          </p:cNvPr>
          <p:cNvSpPr txBox="1">
            <a:spLocks noChangeArrowheads="1"/>
          </p:cNvSpPr>
          <p:nvPr/>
        </p:nvSpPr>
        <p:spPr bwMode="auto">
          <a:xfrm>
            <a:off x="6524625" y="3900488"/>
            <a:ext cx="2074863" cy="396875"/>
          </a:xfrm>
          <a:prstGeom prst="rect">
            <a:avLst/>
          </a:prstGeom>
          <a:noFill/>
          <a:ln>
            <a:noFill/>
          </a:ln>
          <a:effectLst/>
          <a:extLst>
            <a:ext uri="{909E8E84-426E-40DD-AFC4-6F175D3DCCD1}">
              <a14:hiddenFill xmlns:a14="http://schemas.microsoft.com/office/drawing/2010/main">
                <a:gradFill rotWithShape="0">
                  <a:gsLst>
                    <a:gs pos="0">
                      <a:schemeClr val="accent1"/>
                    </a:gs>
                    <a:gs pos="50000">
                      <a:srgbClr val="FFFFFF"/>
                    </a:gs>
                    <a:gs pos="100000">
                      <a:schemeClr val="accent1"/>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1" i="0" u="none" strike="noStrike" kern="120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cs typeface="+mn-cs"/>
              </a:rPr>
              <a:t>2</a:t>
            </a:r>
            <a:r>
              <a:rPr kumimoji="1" lang="en-US" altLang="zh-CN" sz="20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  5-</a:t>
            </a:r>
            <a:r>
              <a:rPr kumimoji="1" lang="zh-CN" altLang="en-US" sz="20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磷酸木酮糖</a:t>
            </a:r>
          </a:p>
        </p:txBody>
      </p:sp>
      <p:grpSp>
        <p:nvGrpSpPr>
          <p:cNvPr id="208913" name="Group 17">
            <a:extLst>
              <a:ext uri="{FF2B5EF4-FFF2-40B4-BE49-F238E27FC236}">
                <a16:creationId xmlns:a16="http://schemas.microsoft.com/office/drawing/2014/main" id="{808FE859-00BD-40E5-A295-31E66127D967}"/>
              </a:ext>
            </a:extLst>
          </p:cNvPr>
          <p:cNvGrpSpPr>
            <a:grpSpLocks/>
          </p:cNvGrpSpPr>
          <p:nvPr/>
        </p:nvGrpSpPr>
        <p:grpSpPr bwMode="auto">
          <a:xfrm>
            <a:off x="2781300" y="2125663"/>
            <a:ext cx="685800" cy="984250"/>
            <a:chOff x="2544" y="1052"/>
            <a:chExt cx="384" cy="767"/>
          </a:xfrm>
        </p:grpSpPr>
        <p:sp>
          <p:nvSpPr>
            <p:cNvPr id="208914" name="AutoShape 18">
              <a:extLst>
                <a:ext uri="{FF2B5EF4-FFF2-40B4-BE49-F238E27FC236}">
                  <a16:creationId xmlns:a16="http://schemas.microsoft.com/office/drawing/2014/main" id="{DEBB1F62-1A58-4CBB-8AC3-4F2FE55BBF80}"/>
                </a:ext>
              </a:extLst>
            </p:cNvPr>
            <p:cNvSpPr>
              <a:spLocks noChangeArrowheads="1"/>
            </p:cNvSpPr>
            <p:nvPr/>
          </p:nvSpPr>
          <p:spPr bwMode="auto">
            <a:xfrm>
              <a:off x="2544" y="1052"/>
              <a:ext cx="192" cy="763"/>
            </a:xfrm>
            <a:prstGeom prst="curvedLeftArrow">
              <a:avLst>
                <a:gd name="adj1" fmla="val 28333"/>
                <a:gd name="adj2" fmla="val 107812"/>
                <a:gd name="adj3" fmla="val 22398"/>
              </a:avLst>
            </a:prstGeom>
            <a:gradFill rotWithShape="0">
              <a:gsLst>
                <a:gs pos="0">
                  <a:schemeClr val="accent1"/>
                </a:gs>
                <a:gs pos="50000">
                  <a:srgbClr val="FFFFFF"/>
                </a:gs>
                <a:gs pos="100000">
                  <a:schemeClr val="accent1"/>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600" b="1" i="0" u="none" strike="noStrike" kern="1200" cap="none" spc="0" normalizeH="0" baseline="0" noProof="0">
                <a:ln>
                  <a:noFill/>
                </a:ln>
                <a:solidFill>
                  <a:srgbClr val="CC00CC"/>
                </a:solidFill>
                <a:effectLst/>
                <a:uLnTx/>
                <a:uFillTx/>
                <a:latin typeface="Times New Roman" panose="02020603050405020304" pitchFamily="18" charset="0"/>
                <a:ea typeface="宋体" panose="02010600030101010101" pitchFamily="2" charset="-122"/>
                <a:cs typeface="+mn-cs"/>
              </a:endParaRPr>
            </a:p>
          </p:txBody>
        </p:sp>
        <p:sp>
          <p:nvSpPr>
            <p:cNvPr id="208915" name="AutoShape 19">
              <a:extLst>
                <a:ext uri="{FF2B5EF4-FFF2-40B4-BE49-F238E27FC236}">
                  <a16:creationId xmlns:a16="http://schemas.microsoft.com/office/drawing/2014/main" id="{86957348-36BF-48F0-B3F8-EE8966AEB84B}"/>
                </a:ext>
              </a:extLst>
            </p:cNvPr>
            <p:cNvSpPr>
              <a:spLocks noChangeArrowheads="1"/>
            </p:cNvSpPr>
            <p:nvPr/>
          </p:nvSpPr>
          <p:spPr bwMode="auto">
            <a:xfrm flipH="1">
              <a:off x="2736" y="1056"/>
              <a:ext cx="192" cy="763"/>
            </a:xfrm>
            <a:prstGeom prst="curvedLeftArrow">
              <a:avLst>
                <a:gd name="adj1" fmla="val 28333"/>
                <a:gd name="adj2" fmla="val 107812"/>
                <a:gd name="adj3" fmla="val 22398"/>
              </a:avLst>
            </a:prstGeom>
            <a:gradFill rotWithShape="0">
              <a:gsLst>
                <a:gs pos="0">
                  <a:schemeClr val="accent1"/>
                </a:gs>
                <a:gs pos="50000">
                  <a:srgbClr val="FFFFFF"/>
                </a:gs>
                <a:gs pos="100000">
                  <a:schemeClr val="accent1"/>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600" b="1" i="0" u="none" strike="noStrike" kern="1200" cap="none" spc="0" normalizeH="0" baseline="0" noProof="0">
                <a:ln>
                  <a:noFill/>
                </a:ln>
                <a:solidFill>
                  <a:srgbClr val="CC00CC"/>
                </a:solidFill>
                <a:effectLst/>
                <a:uLnTx/>
                <a:uFillTx/>
                <a:latin typeface="Times New Roman" panose="02020603050405020304" pitchFamily="18" charset="0"/>
                <a:ea typeface="宋体" panose="02010600030101010101" pitchFamily="2" charset="-122"/>
                <a:cs typeface="+mn-cs"/>
              </a:endParaRPr>
            </a:p>
          </p:txBody>
        </p:sp>
      </p:grpSp>
      <p:grpSp>
        <p:nvGrpSpPr>
          <p:cNvPr id="208916" name="Group 20">
            <a:extLst>
              <a:ext uri="{FF2B5EF4-FFF2-40B4-BE49-F238E27FC236}">
                <a16:creationId xmlns:a16="http://schemas.microsoft.com/office/drawing/2014/main" id="{CD5000F6-FA89-486A-BEF4-D22E2642E703}"/>
              </a:ext>
            </a:extLst>
          </p:cNvPr>
          <p:cNvGrpSpPr>
            <a:grpSpLocks/>
          </p:cNvGrpSpPr>
          <p:nvPr/>
        </p:nvGrpSpPr>
        <p:grpSpPr bwMode="auto">
          <a:xfrm>
            <a:off x="2781300" y="3162300"/>
            <a:ext cx="685800" cy="989013"/>
            <a:chOff x="2544" y="1052"/>
            <a:chExt cx="384" cy="767"/>
          </a:xfrm>
        </p:grpSpPr>
        <p:sp>
          <p:nvSpPr>
            <p:cNvPr id="208917" name="AutoShape 21">
              <a:extLst>
                <a:ext uri="{FF2B5EF4-FFF2-40B4-BE49-F238E27FC236}">
                  <a16:creationId xmlns:a16="http://schemas.microsoft.com/office/drawing/2014/main" id="{0B4F986C-3B72-4B3F-824B-613424AB54C8}"/>
                </a:ext>
              </a:extLst>
            </p:cNvPr>
            <p:cNvSpPr>
              <a:spLocks noChangeArrowheads="1"/>
            </p:cNvSpPr>
            <p:nvPr/>
          </p:nvSpPr>
          <p:spPr bwMode="auto">
            <a:xfrm>
              <a:off x="2544" y="1052"/>
              <a:ext cx="192" cy="763"/>
            </a:xfrm>
            <a:prstGeom prst="curvedLeftArrow">
              <a:avLst>
                <a:gd name="adj1" fmla="val 28333"/>
                <a:gd name="adj2" fmla="val 107812"/>
                <a:gd name="adj3" fmla="val 22398"/>
              </a:avLst>
            </a:prstGeom>
            <a:gradFill rotWithShape="0">
              <a:gsLst>
                <a:gs pos="0">
                  <a:schemeClr val="accent1"/>
                </a:gs>
                <a:gs pos="50000">
                  <a:srgbClr val="FFFFFF"/>
                </a:gs>
                <a:gs pos="100000">
                  <a:schemeClr val="accent1"/>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600" b="1" i="0" u="none" strike="noStrike" kern="1200" cap="none" spc="0" normalizeH="0" baseline="0" noProof="0">
                <a:ln>
                  <a:noFill/>
                </a:ln>
                <a:solidFill>
                  <a:srgbClr val="CC00CC"/>
                </a:solidFill>
                <a:effectLst/>
                <a:uLnTx/>
                <a:uFillTx/>
                <a:latin typeface="Times New Roman" panose="02020603050405020304" pitchFamily="18" charset="0"/>
                <a:ea typeface="宋体" panose="02010600030101010101" pitchFamily="2" charset="-122"/>
                <a:cs typeface="+mn-cs"/>
              </a:endParaRPr>
            </a:p>
          </p:txBody>
        </p:sp>
        <p:sp>
          <p:nvSpPr>
            <p:cNvPr id="208918" name="AutoShape 22">
              <a:extLst>
                <a:ext uri="{FF2B5EF4-FFF2-40B4-BE49-F238E27FC236}">
                  <a16:creationId xmlns:a16="http://schemas.microsoft.com/office/drawing/2014/main" id="{F8171BF8-F2B2-4645-AD8D-314DF8BE4006}"/>
                </a:ext>
              </a:extLst>
            </p:cNvPr>
            <p:cNvSpPr>
              <a:spLocks noChangeArrowheads="1"/>
            </p:cNvSpPr>
            <p:nvPr/>
          </p:nvSpPr>
          <p:spPr bwMode="auto">
            <a:xfrm flipH="1">
              <a:off x="2736" y="1056"/>
              <a:ext cx="192" cy="763"/>
            </a:xfrm>
            <a:prstGeom prst="curvedLeftArrow">
              <a:avLst>
                <a:gd name="adj1" fmla="val 28333"/>
                <a:gd name="adj2" fmla="val 107812"/>
                <a:gd name="adj3" fmla="val 22398"/>
              </a:avLst>
            </a:prstGeom>
            <a:gradFill rotWithShape="0">
              <a:gsLst>
                <a:gs pos="0">
                  <a:schemeClr val="accent1"/>
                </a:gs>
                <a:gs pos="50000">
                  <a:srgbClr val="FFFFFF"/>
                </a:gs>
                <a:gs pos="100000">
                  <a:schemeClr val="accent1"/>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600" b="1" i="0" u="none" strike="noStrike" kern="1200" cap="none" spc="0" normalizeH="0" baseline="0" noProof="0">
                <a:ln>
                  <a:noFill/>
                </a:ln>
                <a:solidFill>
                  <a:srgbClr val="CC00CC"/>
                </a:solidFill>
                <a:effectLst/>
                <a:uLnTx/>
                <a:uFillTx/>
                <a:latin typeface="Times New Roman" panose="02020603050405020304" pitchFamily="18" charset="0"/>
                <a:ea typeface="宋体" panose="02010600030101010101" pitchFamily="2" charset="-122"/>
                <a:cs typeface="+mn-cs"/>
              </a:endParaRPr>
            </a:p>
          </p:txBody>
        </p:sp>
      </p:grpSp>
      <p:sp>
        <p:nvSpPr>
          <p:cNvPr id="208919" name="Line 23">
            <a:extLst>
              <a:ext uri="{FF2B5EF4-FFF2-40B4-BE49-F238E27FC236}">
                <a16:creationId xmlns:a16="http://schemas.microsoft.com/office/drawing/2014/main" id="{1C211469-07C1-4DE7-9A21-209A68A544AD}"/>
              </a:ext>
            </a:extLst>
          </p:cNvPr>
          <p:cNvSpPr>
            <a:spLocks noChangeShapeType="1"/>
          </p:cNvSpPr>
          <p:nvPr/>
        </p:nvSpPr>
        <p:spPr bwMode="auto">
          <a:xfrm flipH="1">
            <a:off x="2019300" y="1519238"/>
            <a:ext cx="819150" cy="53657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600" b="1" i="0" u="none" strike="noStrike" kern="1200" cap="none" spc="0" normalizeH="0" baseline="0" noProof="0">
              <a:ln>
                <a:noFill/>
              </a:ln>
              <a:solidFill>
                <a:srgbClr val="CC00CC"/>
              </a:solidFill>
              <a:effectLst/>
              <a:uLnTx/>
              <a:uFillTx/>
              <a:latin typeface="Times New Roman" panose="02020603050405020304" pitchFamily="18" charset="0"/>
              <a:ea typeface="宋体" panose="02010600030101010101" pitchFamily="2" charset="-122"/>
              <a:cs typeface="+mn-cs"/>
            </a:endParaRPr>
          </a:p>
        </p:txBody>
      </p:sp>
      <p:sp>
        <p:nvSpPr>
          <p:cNvPr id="208920" name="Line 24">
            <a:extLst>
              <a:ext uri="{FF2B5EF4-FFF2-40B4-BE49-F238E27FC236}">
                <a16:creationId xmlns:a16="http://schemas.microsoft.com/office/drawing/2014/main" id="{E65CC49C-4C6E-4985-AD87-87B4F3B9661D}"/>
              </a:ext>
            </a:extLst>
          </p:cNvPr>
          <p:cNvSpPr>
            <a:spLocks noChangeShapeType="1"/>
          </p:cNvSpPr>
          <p:nvPr/>
        </p:nvSpPr>
        <p:spPr bwMode="auto">
          <a:xfrm>
            <a:off x="3525838" y="1519238"/>
            <a:ext cx="785812" cy="4699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600" b="1" i="0" u="none" strike="noStrike" kern="1200" cap="none" spc="0" normalizeH="0" baseline="0" noProof="0">
              <a:ln>
                <a:noFill/>
              </a:ln>
              <a:solidFill>
                <a:srgbClr val="CC00CC"/>
              </a:solidFill>
              <a:effectLst/>
              <a:uLnTx/>
              <a:uFillTx/>
              <a:latin typeface="Times New Roman" panose="02020603050405020304" pitchFamily="18" charset="0"/>
              <a:ea typeface="宋体" panose="02010600030101010101" pitchFamily="2" charset="-122"/>
              <a:cs typeface="+mn-cs"/>
            </a:endParaRPr>
          </a:p>
        </p:txBody>
      </p:sp>
      <p:grpSp>
        <p:nvGrpSpPr>
          <p:cNvPr id="208952" name="Group 56">
            <a:extLst>
              <a:ext uri="{FF2B5EF4-FFF2-40B4-BE49-F238E27FC236}">
                <a16:creationId xmlns:a16="http://schemas.microsoft.com/office/drawing/2014/main" id="{8E2C56AE-3C1D-45F4-83C9-825299906044}"/>
              </a:ext>
            </a:extLst>
          </p:cNvPr>
          <p:cNvGrpSpPr>
            <a:grpSpLocks/>
          </p:cNvGrpSpPr>
          <p:nvPr/>
        </p:nvGrpSpPr>
        <p:grpSpPr bwMode="auto">
          <a:xfrm>
            <a:off x="3954463" y="1760538"/>
            <a:ext cx="4814887" cy="2316162"/>
            <a:chOff x="2491" y="1109"/>
            <a:chExt cx="3033" cy="1459"/>
          </a:xfrm>
        </p:grpSpPr>
        <p:sp>
          <p:nvSpPr>
            <p:cNvPr id="208922" name="Line 26">
              <a:extLst>
                <a:ext uri="{FF2B5EF4-FFF2-40B4-BE49-F238E27FC236}">
                  <a16:creationId xmlns:a16="http://schemas.microsoft.com/office/drawing/2014/main" id="{87302371-E15C-4119-AAE0-AB73FEC63D6F}"/>
                </a:ext>
              </a:extLst>
            </p:cNvPr>
            <p:cNvSpPr>
              <a:spLocks noChangeShapeType="1"/>
            </p:cNvSpPr>
            <p:nvPr/>
          </p:nvSpPr>
          <p:spPr bwMode="auto">
            <a:xfrm>
              <a:off x="2491" y="1109"/>
              <a:ext cx="3020" cy="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600" b="1" i="0" u="none" strike="noStrike" kern="1200" cap="none" spc="0" normalizeH="0" baseline="0" noProof="0">
                <a:ln>
                  <a:noFill/>
                </a:ln>
                <a:solidFill>
                  <a:srgbClr val="CC00CC"/>
                </a:solidFill>
                <a:effectLst/>
                <a:uLnTx/>
                <a:uFillTx/>
                <a:latin typeface="Times New Roman" panose="02020603050405020304" pitchFamily="18" charset="0"/>
                <a:ea typeface="宋体" panose="02010600030101010101" pitchFamily="2" charset="-122"/>
                <a:cs typeface="+mn-cs"/>
              </a:endParaRPr>
            </a:p>
          </p:txBody>
        </p:sp>
        <p:sp>
          <p:nvSpPr>
            <p:cNvPr id="208923" name="Line 27">
              <a:extLst>
                <a:ext uri="{FF2B5EF4-FFF2-40B4-BE49-F238E27FC236}">
                  <a16:creationId xmlns:a16="http://schemas.microsoft.com/office/drawing/2014/main" id="{0D6A1776-31C2-4162-8480-28D518DD7259}"/>
                </a:ext>
              </a:extLst>
            </p:cNvPr>
            <p:cNvSpPr>
              <a:spLocks noChangeShapeType="1"/>
            </p:cNvSpPr>
            <p:nvPr/>
          </p:nvSpPr>
          <p:spPr bwMode="auto">
            <a:xfrm>
              <a:off x="5511" y="1117"/>
              <a:ext cx="0" cy="145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600" b="1" i="0" u="none" strike="noStrike" kern="1200" cap="none" spc="0" normalizeH="0" baseline="0" noProof="0">
                <a:ln>
                  <a:noFill/>
                </a:ln>
                <a:solidFill>
                  <a:srgbClr val="CC00CC"/>
                </a:solidFill>
                <a:effectLst/>
                <a:uLnTx/>
                <a:uFillTx/>
                <a:latin typeface="Times New Roman" panose="02020603050405020304" pitchFamily="18" charset="0"/>
                <a:ea typeface="宋体" panose="02010600030101010101" pitchFamily="2" charset="-122"/>
                <a:cs typeface="+mn-cs"/>
              </a:endParaRPr>
            </a:p>
          </p:txBody>
        </p:sp>
        <p:sp>
          <p:nvSpPr>
            <p:cNvPr id="208924" name="Line 28">
              <a:extLst>
                <a:ext uri="{FF2B5EF4-FFF2-40B4-BE49-F238E27FC236}">
                  <a16:creationId xmlns:a16="http://schemas.microsoft.com/office/drawing/2014/main" id="{DBBF9412-DA0D-4AA6-9D73-0F24A2F90DBD}"/>
                </a:ext>
              </a:extLst>
            </p:cNvPr>
            <p:cNvSpPr>
              <a:spLocks noChangeShapeType="1"/>
            </p:cNvSpPr>
            <p:nvPr/>
          </p:nvSpPr>
          <p:spPr bwMode="auto">
            <a:xfrm flipH="1">
              <a:off x="5309" y="2540"/>
              <a:ext cx="215"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600" b="1" i="0" u="none" strike="noStrike" kern="1200" cap="none" spc="0" normalizeH="0" baseline="0" noProof="0">
                <a:ln>
                  <a:noFill/>
                </a:ln>
                <a:solidFill>
                  <a:srgbClr val="CC00CC"/>
                </a:solidFill>
                <a:effectLst/>
                <a:uLnTx/>
                <a:uFillTx/>
                <a:latin typeface="Times New Roman" panose="02020603050405020304" pitchFamily="18" charset="0"/>
                <a:ea typeface="宋体" panose="02010600030101010101" pitchFamily="2" charset="-122"/>
                <a:cs typeface="+mn-cs"/>
              </a:endParaRPr>
            </a:p>
          </p:txBody>
        </p:sp>
      </p:grpSp>
      <p:grpSp>
        <p:nvGrpSpPr>
          <p:cNvPr id="208925" name="Group 29">
            <a:extLst>
              <a:ext uri="{FF2B5EF4-FFF2-40B4-BE49-F238E27FC236}">
                <a16:creationId xmlns:a16="http://schemas.microsoft.com/office/drawing/2014/main" id="{892EC08F-15EE-4F7E-897E-66035A5B4394}"/>
              </a:ext>
            </a:extLst>
          </p:cNvPr>
          <p:cNvGrpSpPr>
            <a:grpSpLocks/>
          </p:cNvGrpSpPr>
          <p:nvPr/>
        </p:nvGrpSpPr>
        <p:grpSpPr bwMode="auto">
          <a:xfrm>
            <a:off x="5791200" y="4114800"/>
            <a:ext cx="685800" cy="989013"/>
            <a:chOff x="2544" y="1052"/>
            <a:chExt cx="384" cy="767"/>
          </a:xfrm>
        </p:grpSpPr>
        <p:sp>
          <p:nvSpPr>
            <p:cNvPr id="208926" name="AutoShape 30">
              <a:extLst>
                <a:ext uri="{FF2B5EF4-FFF2-40B4-BE49-F238E27FC236}">
                  <a16:creationId xmlns:a16="http://schemas.microsoft.com/office/drawing/2014/main" id="{FDCEBCAA-045F-4D1F-BBCD-30D5D79BFCF7}"/>
                </a:ext>
              </a:extLst>
            </p:cNvPr>
            <p:cNvSpPr>
              <a:spLocks noChangeArrowheads="1"/>
            </p:cNvSpPr>
            <p:nvPr/>
          </p:nvSpPr>
          <p:spPr bwMode="auto">
            <a:xfrm>
              <a:off x="2544" y="1052"/>
              <a:ext cx="192" cy="763"/>
            </a:xfrm>
            <a:prstGeom prst="curvedLeftArrow">
              <a:avLst>
                <a:gd name="adj1" fmla="val 28333"/>
                <a:gd name="adj2" fmla="val 107812"/>
                <a:gd name="adj3" fmla="val 22398"/>
              </a:avLst>
            </a:prstGeom>
            <a:gradFill rotWithShape="0">
              <a:gsLst>
                <a:gs pos="0">
                  <a:schemeClr val="accent1"/>
                </a:gs>
                <a:gs pos="50000">
                  <a:srgbClr val="FFFFFF"/>
                </a:gs>
                <a:gs pos="100000">
                  <a:schemeClr val="accent1"/>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600" b="1" i="0" u="none" strike="noStrike" kern="1200" cap="none" spc="0" normalizeH="0" baseline="0" noProof="0">
                <a:ln>
                  <a:noFill/>
                </a:ln>
                <a:solidFill>
                  <a:srgbClr val="CC00CC"/>
                </a:solidFill>
                <a:effectLst/>
                <a:uLnTx/>
                <a:uFillTx/>
                <a:latin typeface="Times New Roman" panose="02020603050405020304" pitchFamily="18" charset="0"/>
                <a:ea typeface="宋体" panose="02010600030101010101" pitchFamily="2" charset="-122"/>
                <a:cs typeface="+mn-cs"/>
              </a:endParaRPr>
            </a:p>
          </p:txBody>
        </p:sp>
        <p:sp>
          <p:nvSpPr>
            <p:cNvPr id="208927" name="AutoShape 31">
              <a:extLst>
                <a:ext uri="{FF2B5EF4-FFF2-40B4-BE49-F238E27FC236}">
                  <a16:creationId xmlns:a16="http://schemas.microsoft.com/office/drawing/2014/main" id="{B3DD9C1D-0CEB-4B0D-932E-46D54A20DC32}"/>
                </a:ext>
              </a:extLst>
            </p:cNvPr>
            <p:cNvSpPr>
              <a:spLocks noChangeArrowheads="1"/>
            </p:cNvSpPr>
            <p:nvPr/>
          </p:nvSpPr>
          <p:spPr bwMode="auto">
            <a:xfrm flipH="1">
              <a:off x="2736" y="1056"/>
              <a:ext cx="192" cy="763"/>
            </a:xfrm>
            <a:prstGeom prst="curvedLeftArrow">
              <a:avLst>
                <a:gd name="adj1" fmla="val 28333"/>
                <a:gd name="adj2" fmla="val 107812"/>
                <a:gd name="adj3" fmla="val 22398"/>
              </a:avLst>
            </a:prstGeom>
            <a:gradFill rotWithShape="0">
              <a:gsLst>
                <a:gs pos="0">
                  <a:schemeClr val="accent1"/>
                </a:gs>
                <a:gs pos="50000">
                  <a:srgbClr val="FFFFFF"/>
                </a:gs>
                <a:gs pos="100000">
                  <a:schemeClr val="accent1"/>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600" b="1" i="0" u="none" strike="noStrike" kern="1200" cap="none" spc="0" normalizeH="0" baseline="0" noProof="0">
                <a:ln>
                  <a:noFill/>
                </a:ln>
                <a:solidFill>
                  <a:srgbClr val="CC00CC"/>
                </a:solidFill>
                <a:effectLst/>
                <a:uLnTx/>
                <a:uFillTx/>
                <a:latin typeface="Times New Roman" panose="02020603050405020304" pitchFamily="18" charset="0"/>
                <a:ea typeface="宋体" panose="02010600030101010101" pitchFamily="2" charset="-122"/>
                <a:cs typeface="+mn-cs"/>
              </a:endParaRPr>
            </a:p>
          </p:txBody>
        </p:sp>
      </p:grpSp>
      <p:sp>
        <p:nvSpPr>
          <p:cNvPr id="208928" name="Text Box 32">
            <a:extLst>
              <a:ext uri="{FF2B5EF4-FFF2-40B4-BE49-F238E27FC236}">
                <a16:creationId xmlns:a16="http://schemas.microsoft.com/office/drawing/2014/main" id="{88B858BB-E683-4C0C-BF42-C2A6E798C1F8}"/>
              </a:ext>
            </a:extLst>
          </p:cNvPr>
          <p:cNvSpPr txBox="1">
            <a:spLocks noChangeArrowheads="1"/>
          </p:cNvSpPr>
          <p:nvPr/>
        </p:nvSpPr>
        <p:spPr bwMode="auto">
          <a:xfrm>
            <a:off x="6619875" y="4860925"/>
            <a:ext cx="2038350" cy="396875"/>
          </a:xfrm>
          <a:prstGeom prst="rect">
            <a:avLst/>
          </a:prstGeom>
          <a:noFill/>
          <a:ln>
            <a:noFill/>
          </a:ln>
          <a:effectLst/>
          <a:extLst>
            <a:ext uri="{909E8E84-426E-40DD-AFC4-6F175D3DCCD1}">
              <a14:hiddenFill xmlns:a14="http://schemas.microsoft.com/office/drawing/2010/main">
                <a:gradFill rotWithShape="0">
                  <a:gsLst>
                    <a:gs pos="0">
                      <a:schemeClr val="accent1"/>
                    </a:gs>
                    <a:gs pos="50000">
                      <a:srgbClr val="FFFFFF"/>
                    </a:gs>
                    <a:gs pos="100000">
                      <a:schemeClr val="accent1"/>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1" i="0" u="none" strike="noStrike" kern="120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cs typeface="+mn-cs"/>
              </a:rPr>
              <a:t>2</a:t>
            </a:r>
            <a:r>
              <a:rPr kumimoji="1" lang="en-US" altLang="zh-CN" sz="20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   3-</a:t>
            </a:r>
            <a:r>
              <a:rPr kumimoji="1" lang="zh-CN" altLang="en-US" sz="20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磷酸甘油醛</a:t>
            </a:r>
          </a:p>
        </p:txBody>
      </p:sp>
      <p:sp>
        <p:nvSpPr>
          <p:cNvPr id="208929" name="Text Box 33">
            <a:extLst>
              <a:ext uri="{FF2B5EF4-FFF2-40B4-BE49-F238E27FC236}">
                <a16:creationId xmlns:a16="http://schemas.microsoft.com/office/drawing/2014/main" id="{D7C3CB45-ED9B-4EB2-BC25-96FC6D57EA16}"/>
              </a:ext>
            </a:extLst>
          </p:cNvPr>
          <p:cNvSpPr txBox="1">
            <a:spLocks noChangeArrowheads="1"/>
          </p:cNvSpPr>
          <p:nvPr/>
        </p:nvSpPr>
        <p:spPr bwMode="auto">
          <a:xfrm>
            <a:off x="3846513" y="4927600"/>
            <a:ext cx="1868487" cy="406400"/>
          </a:xfrm>
          <a:prstGeom prst="rect">
            <a:avLst/>
          </a:prstGeom>
          <a:solidFill>
            <a:srgbClr val="CCFFCC">
              <a:alpha val="50000"/>
            </a:srgbClr>
          </a:solidFill>
          <a:ln w="9525">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000" b="1" i="0" u="none" strike="noStrike" kern="120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cs typeface="+mn-cs"/>
              </a:rPr>
              <a:t>2</a:t>
            </a:r>
            <a:r>
              <a:rPr kumimoji="1" lang="en-US" altLang="zh-CN" sz="20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 6-</a:t>
            </a:r>
            <a:r>
              <a:rPr kumimoji="1" lang="zh-CN" altLang="en-US" sz="20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磷酸果糖</a:t>
            </a:r>
          </a:p>
        </p:txBody>
      </p:sp>
      <p:sp>
        <p:nvSpPr>
          <p:cNvPr id="208930" name="AutoShape 34">
            <a:extLst>
              <a:ext uri="{FF2B5EF4-FFF2-40B4-BE49-F238E27FC236}">
                <a16:creationId xmlns:a16="http://schemas.microsoft.com/office/drawing/2014/main" id="{44469773-B26C-4069-A842-589E7B01D240}"/>
              </a:ext>
            </a:extLst>
          </p:cNvPr>
          <p:cNvSpPr>
            <a:spLocks noChangeArrowheads="1"/>
          </p:cNvSpPr>
          <p:nvPr/>
        </p:nvSpPr>
        <p:spPr bwMode="auto">
          <a:xfrm>
            <a:off x="7286625" y="5241925"/>
            <a:ext cx="104775" cy="625475"/>
          </a:xfrm>
          <a:prstGeom prst="downArrow">
            <a:avLst>
              <a:gd name="adj1" fmla="val 50000"/>
              <a:gd name="adj2" fmla="val 149242"/>
            </a:avLst>
          </a:prstGeom>
          <a:gradFill rotWithShape="0">
            <a:gsLst>
              <a:gs pos="0">
                <a:srgbClr val="FFFFFF"/>
              </a:gs>
              <a:gs pos="50000">
                <a:schemeClr val="accent1"/>
              </a:gs>
              <a:gs pos="100000">
                <a:srgbClr val="FFFFFF"/>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600" b="1" i="0" u="none" strike="noStrike" kern="1200" cap="none" spc="0" normalizeH="0" baseline="0" noProof="0">
              <a:ln>
                <a:noFill/>
              </a:ln>
              <a:solidFill>
                <a:srgbClr val="CC00CC"/>
              </a:solidFill>
              <a:effectLst/>
              <a:uLnTx/>
              <a:uFillTx/>
              <a:latin typeface="Times New Roman" panose="02020603050405020304" pitchFamily="18" charset="0"/>
              <a:ea typeface="宋体" panose="02010600030101010101" pitchFamily="2" charset="-122"/>
              <a:cs typeface="+mn-cs"/>
            </a:endParaRPr>
          </a:p>
        </p:txBody>
      </p:sp>
      <p:sp>
        <p:nvSpPr>
          <p:cNvPr id="208931" name="Text Box 35">
            <a:extLst>
              <a:ext uri="{FF2B5EF4-FFF2-40B4-BE49-F238E27FC236}">
                <a16:creationId xmlns:a16="http://schemas.microsoft.com/office/drawing/2014/main" id="{EB036C99-8AD7-4C32-A8FD-FEAF35A7ED80}"/>
              </a:ext>
            </a:extLst>
          </p:cNvPr>
          <p:cNvSpPr txBox="1">
            <a:spLocks noChangeArrowheads="1"/>
          </p:cNvSpPr>
          <p:nvPr/>
        </p:nvSpPr>
        <p:spPr bwMode="auto">
          <a:xfrm>
            <a:off x="6486525" y="5791200"/>
            <a:ext cx="2478088" cy="396875"/>
          </a:xfrm>
          <a:prstGeom prst="rect">
            <a:avLst/>
          </a:prstGeom>
          <a:noFill/>
          <a:ln>
            <a:noFill/>
          </a:ln>
          <a:effectLst/>
          <a:extLst>
            <a:ext uri="{909E8E84-426E-40DD-AFC4-6F175D3DCCD1}">
              <a14:hiddenFill xmlns:a14="http://schemas.microsoft.com/office/drawing/2010/main">
                <a:gradFill rotWithShape="0">
                  <a:gsLst>
                    <a:gs pos="0">
                      <a:schemeClr val="accent1"/>
                    </a:gs>
                    <a:gs pos="50000">
                      <a:srgbClr val="FFFFFF"/>
                    </a:gs>
                    <a:gs pos="100000">
                      <a:schemeClr val="accent1"/>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0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1, 6-</a:t>
            </a:r>
            <a:r>
              <a:rPr kumimoji="1" lang="zh-CN" altLang="en-US" sz="20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二磷酸果糖</a:t>
            </a:r>
          </a:p>
        </p:txBody>
      </p:sp>
      <p:sp>
        <p:nvSpPr>
          <p:cNvPr id="208932" name="Text Box 36">
            <a:extLst>
              <a:ext uri="{FF2B5EF4-FFF2-40B4-BE49-F238E27FC236}">
                <a16:creationId xmlns:a16="http://schemas.microsoft.com/office/drawing/2014/main" id="{8FBA76CB-9D5D-4CE8-8D69-CC3C9645AF6E}"/>
              </a:ext>
            </a:extLst>
          </p:cNvPr>
          <p:cNvSpPr txBox="1">
            <a:spLocks noChangeArrowheads="1"/>
          </p:cNvSpPr>
          <p:nvPr/>
        </p:nvSpPr>
        <p:spPr bwMode="auto">
          <a:xfrm>
            <a:off x="2247900" y="5842000"/>
            <a:ext cx="1927225" cy="406400"/>
          </a:xfrm>
          <a:prstGeom prst="rect">
            <a:avLst/>
          </a:prstGeom>
          <a:solidFill>
            <a:srgbClr val="CCFFCC">
              <a:alpha val="50000"/>
            </a:srgbClr>
          </a:solidFill>
          <a:ln w="9525">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0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 6-</a:t>
            </a:r>
            <a:r>
              <a:rPr kumimoji="1" lang="zh-CN" altLang="en-US" sz="20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磷酸果糖</a:t>
            </a:r>
          </a:p>
        </p:txBody>
      </p:sp>
      <p:sp>
        <p:nvSpPr>
          <p:cNvPr id="208933" name="Text Box 37">
            <a:extLst>
              <a:ext uri="{FF2B5EF4-FFF2-40B4-BE49-F238E27FC236}">
                <a16:creationId xmlns:a16="http://schemas.microsoft.com/office/drawing/2014/main" id="{C11EEBC1-408B-4FD1-9B43-0817A7D03CE7}"/>
              </a:ext>
            </a:extLst>
          </p:cNvPr>
          <p:cNvSpPr txBox="1">
            <a:spLocks noChangeArrowheads="1"/>
          </p:cNvSpPr>
          <p:nvPr/>
        </p:nvSpPr>
        <p:spPr bwMode="auto">
          <a:xfrm>
            <a:off x="3108325" y="3429000"/>
            <a:ext cx="17510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18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转醛醇酶</a:t>
            </a:r>
            <a:r>
              <a:rPr kumimoji="1" lang="en-US" altLang="zh-CN" sz="18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 3C</a:t>
            </a:r>
          </a:p>
        </p:txBody>
      </p:sp>
      <p:sp>
        <p:nvSpPr>
          <p:cNvPr id="208935" name="Text Box 39">
            <a:extLst>
              <a:ext uri="{FF2B5EF4-FFF2-40B4-BE49-F238E27FC236}">
                <a16:creationId xmlns:a16="http://schemas.microsoft.com/office/drawing/2014/main" id="{1A1E3B65-06AC-4A24-A7C7-451F05CE9EB0}"/>
              </a:ext>
            </a:extLst>
          </p:cNvPr>
          <p:cNvSpPr txBox="1">
            <a:spLocks noChangeArrowheads="1"/>
          </p:cNvSpPr>
          <p:nvPr/>
        </p:nvSpPr>
        <p:spPr bwMode="auto">
          <a:xfrm>
            <a:off x="2632075" y="1519238"/>
            <a:ext cx="1095375" cy="366712"/>
          </a:xfrm>
          <a:prstGeom prst="rect">
            <a:avLst/>
          </a:prstGeom>
          <a:noFill/>
          <a:ln>
            <a:noFill/>
          </a:ln>
          <a:effectLst/>
          <a:extLst>
            <a:ext uri="{909E8E84-426E-40DD-AFC4-6F175D3DCCD1}">
              <a14:hiddenFill xmlns:a14="http://schemas.microsoft.com/office/drawing/2010/main">
                <a:gradFill rotWithShape="0">
                  <a:gsLst>
                    <a:gs pos="0">
                      <a:schemeClr val="accent1"/>
                    </a:gs>
                    <a:gs pos="50000">
                      <a:srgbClr val="FFFFFF"/>
                    </a:gs>
                    <a:gs pos="100000">
                      <a:schemeClr val="accent1"/>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1" lang="zh-CN" altLang="en-US" sz="18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hlinkClick r:id="rId3" action="ppaction://hlinksldjump"/>
              </a:rPr>
              <a:t>异构酶</a:t>
            </a:r>
            <a:endParaRPr kumimoji="1" lang="zh-CN" altLang="en-US" sz="18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endParaRPr>
          </a:p>
        </p:txBody>
      </p:sp>
      <p:sp>
        <p:nvSpPr>
          <p:cNvPr id="208936" name="Text Box 40">
            <a:extLst>
              <a:ext uri="{FF2B5EF4-FFF2-40B4-BE49-F238E27FC236}">
                <a16:creationId xmlns:a16="http://schemas.microsoft.com/office/drawing/2014/main" id="{8ACDA6DE-FDBB-46F4-A9AE-BD6D22FCEE3B}"/>
              </a:ext>
            </a:extLst>
          </p:cNvPr>
          <p:cNvSpPr txBox="1">
            <a:spLocks noChangeArrowheads="1"/>
          </p:cNvSpPr>
          <p:nvPr/>
        </p:nvSpPr>
        <p:spPr bwMode="auto">
          <a:xfrm>
            <a:off x="3124200" y="2376488"/>
            <a:ext cx="17351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18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hlinkClick r:id="rId4" action="ppaction://hlinksldjump"/>
              </a:rPr>
              <a:t>转酮醇酶</a:t>
            </a:r>
            <a:r>
              <a:rPr kumimoji="1" lang="zh-CN" altLang="en-US" sz="18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a:t>
            </a:r>
            <a:r>
              <a:rPr kumimoji="1" lang="en-US" altLang="zh-CN" sz="1800" b="1" i="0" u="none" strike="noStrike" kern="1200" cap="none" spc="0" normalizeH="0" baseline="0" noProof="0">
                <a:ln>
                  <a:noFill/>
                </a:ln>
                <a:solidFill>
                  <a:srgbClr val="000066"/>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2C</a:t>
            </a:r>
            <a:r>
              <a:rPr kumimoji="1" lang="en-US" altLang="zh-CN" sz="18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 </a:t>
            </a:r>
          </a:p>
        </p:txBody>
      </p:sp>
      <p:sp>
        <p:nvSpPr>
          <p:cNvPr id="208937" name="Text Box 41">
            <a:extLst>
              <a:ext uri="{FF2B5EF4-FFF2-40B4-BE49-F238E27FC236}">
                <a16:creationId xmlns:a16="http://schemas.microsoft.com/office/drawing/2014/main" id="{530F20D5-2EAD-41A5-AB49-594EDE8C4F4E}"/>
              </a:ext>
            </a:extLst>
          </p:cNvPr>
          <p:cNvSpPr txBox="1">
            <a:spLocks noChangeArrowheads="1"/>
          </p:cNvSpPr>
          <p:nvPr/>
        </p:nvSpPr>
        <p:spPr bwMode="auto">
          <a:xfrm>
            <a:off x="6096000" y="4357688"/>
            <a:ext cx="193198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18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hlinkClick r:id="rId5" action="ppaction://hlinksldjump"/>
              </a:rPr>
              <a:t>转酮醇酶</a:t>
            </a:r>
            <a:r>
              <a:rPr kumimoji="1" lang="zh-CN" altLang="en-US" sz="18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 </a:t>
            </a:r>
            <a:r>
              <a:rPr kumimoji="1" lang="en-US" altLang="zh-CN" sz="1800" b="1" i="0" u="none" strike="noStrike" kern="1200" cap="none" spc="0" normalizeH="0" baseline="0" noProof="0">
                <a:ln>
                  <a:noFill/>
                </a:ln>
                <a:solidFill>
                  <a:srgbClr val="000066"/>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2C</a:t>
            </a:r>
          </a:p>
        </p:txBody>
      </p:sp>
      <p:sp>
        <p:nvSpPr>
          <p:cNvPr id="208938" name="Text Box 42">
            <a:extLst>
              <a:ext uri="{FF2B5EF4-FFF2-40B4-BE49-F238E27FC236}">
                <a16:creationId xmlns:a16="http://schemas.microsoft.com/office/drawing/2014/main" id="{CB19B476-A6E1-4949-A0BA-89BC3D513B22}"/>
              </a:ext>
            </a:extLst>
          </p:cNvPr>
          <p:cNvSpPr txBox="1">
            <a:spLocks noChangeArrowheads="1"/>
          </p:cNvSpPr>
          <p:nvPr/>
        </p:nvSpPr>
        <p:spPr bwMode="auto">
          <a:xfrm>
            <a:off x="7465640" y="5334000"/>
            <a:ext cx="1066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18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hlinkClick r:id="rId6" action="ppaction://hlinksldjump"/>
              </a:rPr>
              <a:t>醛缩酶</a:t>
            </a:r>
            <a:endParaRPr kumimoji="1" lang="zh-CN" altLang="en-US" sz="18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endParaRPr>
          </a:p>
        </p:txBody>
      </p:sp>
      <p:sp>
        <p:nvSpPr>
          <p:cNvPr id="208939" name="AutoShape 43">
            <a:extLst>
              <a:ext uri="{FF2B5EF4-FFF2-40B4-BE49-F238E27FC236}">
                <a16:creationId xmlns:a16="http://schemas.microsoft.com/office/drawing/2014/main" id="{E28D18DD-479B-43EB-8DB7-3E4A50F250F1}"/>
              </a:ext>
            </a:extLst>
          </p:cNvPr>
          <p:cNvSpPr>
            <a:spLocks/>
          </p:cNvSpPr>
          <p:nvPr/>
        </p:nvSpPr>
        <p:spPr bwMode="auto">
          <a:xfrm>
            <a:off x="685800" y="1066800"/>
            <a:ext cx="152400" cy="819150"/>
          </a:xfrm>
          <a:prstGeom prst="leftBrace">
            <a:avLst>
              <a:gd name="adj1" fmla="val 44792"/>
              <a:gd name="adj2" fmla="val 50000"/>
            </a:avLst>
          </a:prstGeom>
          <a:noFill/>
          <a:ln w="19050">
            <a:solidFill>
              <a:srgbClr val="990099"/>
            </a:solidFill>
            <a:round/>
            <a:headEnd/>
            <a:tailEnd/>
          </a:ln>
          <a:effectLst/>
          <a:extLst>
            <a:ext uri="{909E8E84-426E-40DD-AFC4-6F175D3DCCD1}">
              <a14:hiddenFill xmlns:a14="http://schemas.microsoft.com/office/drawing/2010/main">
                <a:gradFill rotWithShape="0">
                  <a:gsLst>
                    <a:gs pos="0">
                      <a:schemeClr val="accent1"/>
                    </a:gs>
                    <a:gs pos="50000">
                      <a:srgbClr val="FFFFFF"/>
                    </a:gs>
                    <a:gs pos="100000">
                      <a:schemeClr val="accent1"/>
                    </a:gs>
                  </a:gsLst>
                  <a:lin ang="540000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600" b="1" i="0" u="none" strike="noStrike" kern="1200" cap="none" spc="0" normalizeH="0" baseline="0" noProof="0">
              <a:ln>
                <a:noFill/>
              </a:ln>
              <a:solidFill>
                <a:srgbClr val="CC00CC"/>
              </a:solidFill>
              <a:effectLst/>
              <a:uLnTx/>
              <a:uFillTx/>
              <a:latin typeface="Times New Roman" panose="02020603050405020304" pitchFamily="18" charset="0"/>
              <a:ea typeface="宋体" panose="02010600030101010101" pitchFamily="2" charset="-122"/>
              <a:cs typeface="+mn-cs"/>
            </a:endParaRPr>
          </a:p>
        </p:txBody>
      </p:sp>
      <p:sp>
        <p:nvSpPr>
          <p:cNvPr id="208940" name="AutoShape 44">
            <a:extLst>
              <a:ext uri="{FF2B5EF4-FFF2-40B4-BE49-F238E27FC236}">
                <a16:creationId xmlns:a16="http://schemas.microsoft.com/office/drawing/2014/main" id="{45FC6984-B26D-4939-9FB4-F7946AA4309F}"/>
              </a:ext>
            </a:extLst>
          </p:cNvPr>
          <p:cNvSpPr>
            <a:spLocks/>
          </p:cNvSpPr>
          <p:nvPr/>
        </p:nvSpPr>
        <p:spPr bwMode="auto">
          <a:xfrm>
            <a:off x="685800" y="2286000"/>
            <a:ext cx="152400" cy="1746250"/>
          </a:xfrm>
          <a:prstGeom prst="leftBrace">
            <a:avLst>
              <a:gd name="adj1" fmla="val 95486"/>
              <a:gd name="adj2" fmla="val 50000"/>
            </a:avLst>
          </a:prstGeom>
          <a:noFill/>
          <a:ln w="19050">
            <a:solidFill>
              <a:srgbClr val="990099"/>
            </a:solidFill>
            <a:round/>
            <a:headEnd/>
            <a:tailEnd/>
          </a:ln>
          <a:effectLst/>
          <a:extLst>
            <a:ext uri="{909E8E84-426E-40DD-AFC4-6F175D3DCCD1}">
              <a14:hiddenFill xmlns:a14="http://schemas.microsoft.com/office/drawing/2010/main">
                <a:gradFill rotWithShape="0">
                  <a:gsLst>
                    <a:gs pos="0">
                      <a:schemeClr val="accent1"/>
                    </a:gs>
                    <a:gs pos="50000">
                      <a:srgbClr val="FFFFFF"/>
                    </a:gs>
                    <a:gs pos="100000">
                      <a:schemeClr val="accent1"/>
                    </a:gs>
                  </a:gsLst>
                  <a:lin ang="540000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600" b="1" i="0" u="none" strike="noStrike" kern="1200" cap="none" spc="0" normalizeH="0" baseline="0" noProof="0">
              <a:ln>
                <a:noFill/>
              </a:ln>
              <a:solidFill>
                <a:srgbClr val="CC00CC"/>
              </a:solidFill>
              <a:effectLst/>
              <a:uLnTx/>
              <a:uFillTx/>
              <a:latin typeface="Times New Roman" panose="02020603050405020304" pitchFamily="18" charset="0"/>
              <a:ea typeface="宋体" panose="02010600030101010101" pitchFamily="2" charset="-122"/>
              <a:cs typeface="+mn-cs"/>
            </a:endParaRPr>
          </a:p>
        </p:txBody>
      </p:sp>
      <p:sp>
        <p:nvSpPr>
          <p:cNvPr id="208941" name="AutoShape 45">
            <a:extLst>
              <a:ext uri="{FF2B5EF4-FFF2-40B4-BE49-F238E27FC236}">
                <a16:creationId xmlns:a16="http://schemas.microsoft.com/office/drawing/2014/main" id="{54D0A0DF-4279-45F5-B397-9C029F7FBE2B}"/>
              </a:ext>
            </a:extLst>
          </p:cNvPr>
          <p:cNvSpPr>
            <a:spLocks/>
          </p:cNvSpPr>
          <p:nvPr/>
        </p:nvSpPr>
        <p:spPr bwMode="auto">
          <a:xfrm>
            <a:off x="685800" y="4441825"/>
            <a:ext cx="152400" cy="1746250"/>
          </a:xfrm>
          <a:prstGeom prst="leftBrace">
            <a:avLst>
              <a:gd name="adj1" fmla="val 95486"/>
              <a:gd name="adj2" fmla="val 50000"/>
            </a:avLst>
          </a:prstGeom>
          <a:noFill/>
          <a:ln w="19050">
            <a:solidFill>
              <a:srgbClr val="990099"/>
            </a:solidFill>
            <a:round/>
            <a:headEnd/>
            <a:tailEnd/>
          </a:ln>
          <a:effectLst/>
          <a:extLst>
            <a:ext uri="{909E8E84-426E-40DD-AFC4-6F175D3DCCD1}">
              <a14:hiddenFill xmlns:a14="http://schemas.microsoft.com/office/drawing/2010/main">
                <a:gradFill rotWithShape="0">
                  <a:gsLst>
                    <a:gs pos="0">
                      <a:schemeClr val="accent1"/>
                    </a:gs>
                    <a:gs pos="50000">
                      <a:srgbClr val="FFFFFF"/>
                    </a:gs>
                    <a:gs pos="100000">
                      <a:schemeClr val="accent1"/>
                    </a:gs>
                  </a:gsLst>
                  <a:lin ang="540000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600" b="1" i="0" u="none" strike="noStrike" kern="1200" cap="none" spc="0" normalizeH="0" baseline="0" noProof="0">
              <a:ln>
                <a:noFill/>
              </a:ln>
              <a:solidFill>
                <a:srgbClr val="CC00CC"/>
              </a:solidFill>
              <a:effectLst/>
              <a:uLnTx/>
              <a:uFillTx/>
              <a:latin typeface="Times New Roman" panose="02020603050405020304" pitchFamily="18" charset="0"/>
              <a:ea typeface="宋体" panose="02010600030101010101" pitchFamily="2" charset="-122"/>
              <a:cs typeface="+mn-cs"/>
            </a:endParaRPr>
          </a:p>
        </p:txBody>
      </p:sp>
      <p:sp>
        <p:nvSpPr>
          <p:cNvPr id="208942" name="Text Box 46">
            <a:hlinkClick r:id="rId3" action="ppaction://hlinksldjump"/>
            <a:extLst>
              <a:ext uri="{FF2B5EF4-FFF2-40B4-BE49-F238E27FC236}">
                <a16:creationId xmlns:a16="http://schemas.microsoft.com/office/drawing/2014/main" id="{8C19420E-1491-4E3F-83AC-11789CB6191C}"/>
              </a:ext>
            </a:extLst>
          </p:cNvPr>
          <p:cNvSpPr txBox="1">
            <a:spLocks noChangeArrowheads="1"/>
          </p:cNvSpPr>
          <p:nvPr/>
        </p:nvSpPr>
        <p:spPr bwMode="auto">
          <a:xfrm>
            <a:off x="304800" y="1019175"/>
            <a:ext cx="450850" cy="915988"/>
          </a:xfrm>
          <a:prstGeom prst="rect">
            <a:avLst/>
          </a:prstGeom>
          <a:noFill/>
          <a:ln>
            <a:noFill/>
          </a:ln>
          <a:effectLst/>
          <a:extLst>
            <a:ext uri="{909E8E84-426E-40DD-AFC4-6F175D3DCCD1}">
              <a14:hiddenFill xmlns:a14="http://schemas.microsoft.com/office/drawing/2010/main">
                <a:gradFill rotWithShape="0">
                  <a:gsLst>
                    <a:gs pos="0">
                      <a:schemeClr val="accent1"/>
                    </a:gs>
                    <a:gs pos="50000">
                      <a:srgbClr val="FFFFFF"/>
                    </a:gs>
                    <a:gs pos="100000">
                      <a:schemeClr val="accent1"/>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1" lang="zh-CN" altLang="en-US" sz="18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阶段一</a:t>
            </a:r>
          </a:p>
        </p:txBody>
      </p:sp>
      <p:sp>
        <p:nvSpPr>
          <p:cNvPr id="208943" name="Text Box 47">
            <a:hlinkClick r:id="rId4" action="ppaction://hlinksldjump"/>
            <a:extLst>
              <a:ext uri="{FF2B5EF4-FFF2-40B4-BE49-F238E27FC236}">
                <a16:creationId xmlns:a16="http://schemas.microsoft.com/office/drawing/2014/main" id="{3B2712B8-80FC-4D3A-B50A-D6BEEE223A63}"/>
              </a:ext>
            </a:extLst>
          </p:cNvPr>
          <p:cNvSpPr txBox="1">
            <a:spLocks noChangeArrowheads="1"/>
          </p:cNvSpPr>
          <p:nvPr/>
        </p:nvSpPr>
        <p:spPr bwMode="auto">
          <a:xfrm>
            <a:off x="334963" y="2587625"/>
            <a:ext cx="409575" cy="915988"/>
          </a:xfrm>
          <a:prstGeom prst="rect">
            <a:avLst/>
          </a:prstGeom>
          <a:noFill/>
          <a:ln>
            <a:noFill/>
          </a:ln>
          <a:effectLst/>
          <a:extLst>
            <a:ext uri="{909E8E84-426E-40DD-AFC4-6F175D3DCCD1}">
              <a14:hiddenFill xmlns:a14="http://schemas.microsoft.com/office/drawing/2010/main">
                <a:gradFill rotWithShape="0">
                  <a:gsLst>
                    <a:gs pos="0">
                      <a:schemeClr val="accent1"/>
                    </a:gs>
                    <a:gs pos="50000">
                      <a:srgbClr val="FFFFFF"/>
                    </a:gs>
                    <a:gs pos="100000">
                      <a:schemeClr val="accent1"/>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1" lang="zh-CN" altLang="en-US" sz="18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阶段二</a:t>
            </a:r>
          </a:p>
        </p:txBody>
      </p:sp>
      <p:sp>
        <p:nvSpPr>
          <p:cNvPr id="208944" name="Text Box 48">
            <a:hlinkClick r:id="rId6" action="ppaction://hlinksldjump"/>
            <a:extLst>
              <a:ext uri="{FF2B5EF4-FFF2-40B4-BE49-F238E27FC236}">
                <a16:creationId xmlns:a16="http://schemas.microsoft.com/office/drawing/2014/main" id="{6E21D800-E8E5-4B8C-8619-5A951209D887}"/>
              </a:ext>
            </a:extLst>
          </p:cNvPr>
          <p:cNvSpPr txBox="1">
            <a:spLocks noChangeArrowheads="1"/>
          </p:cNvSpPr>
          <p:nvPr/>
        </p:nvSpPr>
        <p:spPr bwMode="auto">
          <a:xfrm>
            <a:off x="276225" y="4676775"/>
            <a:ext cx="409575" cy="915988"/>
          </a:xfrm>
          <a:prstGeom prst="rect">
            <a:avLst/>
          </a:prstGeom>
          <a:noFill/>
          <a:ln>
            <a:noFill/>
          </a:ln>
          <a:effectLst/>
          <a:extLst>
            <a:ext uri="{909E8E84-426E-40DD-AFC4-6F175D3DCCD1}">
              <a14:hiddenFill xmlns:a14="http://schemas.microsoft.com/office/drawing/2010/main">
                <a:gradFill rotWithShape="0">
                  <a:gsLst>
                    <a:gs pos="0">
                      <a:schemeClr val="accent1"/>
                    </a:gs>
                    <a:gs pos="50000">
                      <a:srgbClr val="FFFFFF"/>
                    </a:gs>
                    <a:gs pos="100000">
                      <a:schemeClr val="accent1"/>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1" lang="zh-CN" altLang="en-US" sz="18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阶段三</a:t>
            </a:r>
          </a:p>
        </p:txBody>
      </p:sp>
      <p:sp>
        <p:nvSpPr>
          <p:cNvPr id="208945" name="Rectangle 49">
            <a:extLst>
              <a:ext uri="{FF2B5EF4-FFF2-40B4-BE49-F238E27FC236}">
                <a16:creationId xmlns:a16="http://schemas.microsoft.com/office/drawing/2014/main" id="{D294C9B7-7BA3-4F01-9B98-1A7312B43036}"/>
              </a:ext>
            </a:extLst>
          </p:cNvPr>
          <p:cNvSpPr>
            <a:spLocks noChangeArrowheads="1"/>
          </p:cNvSpPr>
          <p:nvPr/>
        </p:nvSpPr>
        <p:spPr bwMode="auto">
          <a:xfrm>
            <a:off x="1476375" y="2060575"/>
            <a:ext cx="1173163" cy="336550"/>
          </a:xfrm>
          <a:prstGeom prst="rect">
            <a:avLst/>
          </a:prstGeom>
          <a:noFill/>
          <a:ln>
            <a:noFill/>
          </a:ln>
          <a:effectLst/>
          <a:extLst>
            <a:ext uri="{909E8E84-426E-40DD-AFC4-6F175D3DCCD1}">
              <a14:hiddenFill xmlns:a14="http://schemas.microsoft.com/office/drawing/2010/main">
                <a:gradFill rotWithShape="0">
                  <a:gsLst>
                    <a:gs pos="0">
                      <a:schemeClr val="accent1"/>
                    </a:gs>
                    <a:gs pos="50000">
                      <a:srgbClr val="FFFFFF"/>
                    </a:gs>
                    <a:gs pos="100000">
                      <a:schemeClr val="accent1"/>
                    </a:gs>
                  </a:gsLst>
                  <a:lin ang="5400000" scaled="1"/>
                </a:gra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6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5-</a:t>
            </a:r>
            <a:r>
              <a:rPr kumimoji="1" lang="zh-CN" altLang="en-US" sz="16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磷酸核糖</a:t>
            </a:r>
          </a:p>
        </p:txBody>
      </p:sp>
      <p:sp>
        <p:nvSpPr>
          <p:cNvPr id="208946" name="Line 50">
            <a:extLst>
              <a:ext uri="{FF2B5EF4-FFF2-40B4-BE49-F238E27FC236}">
                <a16:creationId xmlns:a16="http://schemas.microsoft.com/office/drawing/2014/main" id="{D4BAACEB-D7FC-43B2-BBBA-70267444D362}"/>
              </a:ext>
            </a:extLst>
          </p:cNvPr>
          <p:cNvSpPr>
            <a:spLocks noChangeShapeType="1"/>
          </p:cNvSpPr>
          <p:nvPr/>
        </p:nvSpPr>
        <p:spPr bwMode="auto">
          <a:xfrm>
            <a:off x="1619250" y="4292600"/>
            <a:ext cx="0" cy="5762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600" b="1" i="0" u="none" strike="noStrike" kern="1200" cap="none" spc="0" normalizeH="0" baseline="0" noProof="0">
              <a:ln>
                <a:noFill/>
              </a:ln>
              <a:solidFill>
                <a:srgbClr val="CC00CC"/>
              </a:solidFill>
              <a:effectLst/>
              <a:uLnTx/>
              <a:uFillTx/>
              <a:latin typeface="Times New Roman" panose="02020603050405020304" pitchFamily="18" charset="0"/>
              <a:ea typeface="宋体" panose="02010600030101010101" pitchFamily="2" charset="-122"/>
              <a:cs typeface="+mn-cs"/>
            </a:endParaRPr>
          </a:p>
        </p:txBody>
      </p:sp>
      <p:sp>
        <p:nvSpPr>
          <p:cNvPr id="208947" name="Line 51">
            <a:extLst>
              <a:ext uri="{FF2B5EF4-FFF2-40B4-BE49-F238E27FC236}">
                <a16:creationId xmlns:a16="http://schemas.microsoft.com/office/drawing/2014/main" id="{99E12BC4-3899-492E-9F49-4F14EA502908}"/>
              </a:ext>
            </a:extLst>
          </p:cNvPr>
          <p:cNvSpPr>
            <a:spLocks noChangeShapeType="1"/>
          </p:cNvSpPr>
          <p:nvPr/>
        </p:nvSpPr>
        <p:spPr bwMode="auto">
          <a:xfrm flipH="1">
            <a:off x="2843213" y="5084763"/>
            <a:ext cx="9366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600" b="1" i="0" u="none" strike="noStrike" kern="1200" cap="none" spc="0" normalizeH="0" baseline="0" noProof="0">
              <a:ln>
                <a:noFill/>
              </a:ln>
              <a:solidFill>
                <a:srgbClr val="CC00CC"/>
              </a:solidFill>
              <a:effectLst/>
              <a:uLnTx/>
              <a:uFillTx/>
              <a:latin typeface="Times New Roman" panose="02020603050405020304" pitchFamily="18" charset="0"/>
              <a:ea typeface="宋体" panose="02010600030101010101" pitchFamily="2" charset="-122"/>
              <a:cs typeface="+mn-cs"/>
            </a:endParaRPr>
          </a:p>
        </p:txBody>
      </p:sp>
      <p:sp>
        <p:nvSpPr>
          <p:cNvPr id="208948" name="Line 52">
            <a:extLst>
              <a:ext uri="{FF2B5EF4-FFF2-40B4-BE49-F238E27FC236}">
                <a16:creationId xmlns:a16="http://schemas.microsoft.com/office/drawing/2014/main" id="{B2B1E876-F439-4426-9BD1-8DA36E546BCA}"/>
              </a:ext>
            </a:extLst>
          </p:cNvPr>
          <p:cNvSpPr>
            <a:spLocks noChangeShapeType="1"/>
          </p:cNvSpPr>
          <p:nvPr/>
        </p:nvSpPr>
        <p:spPr bwMode="auto">
          <a:xfrm flipH="1" flipV="1">
            <a:off x="1763713" y="5445125"/>
            <a:ext cx="647700" cy="3603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600" b="1" i="0" u="none" strike="noStrike" kern="1200" cap="none" spc="0" normalizeH="0" baseline="0" noProof="0">
              <a:ln>
                <a:noFill/>
              </a:ln>
              <a:solidFill>
                <a:srgbClr val="CC00CC"/>
              </a:solidFill>
              <a:effectLst/>
              <a:uLnTx/>
              <a:uFillTx/>
              <a:latin typeface="Times New Roman" panose="02020603050405020304" pitchFamily="18" charset="0"/>
              <a:ea typeface="宋体" panose="02010600030101010101" pitchFamily="2" charset="-122"/>
              <a:cs typeface="+mn-cs"/>
            </a:endParaRPr>
          </a:p>
        </p:txBody>
      </p:sp>
      <p:sp>
        <p:nvSpPr>
          <p:cNvPr id="208949" name="Text Box 53">
            <a:extLst>
              <a:ext uri="{FF2B5EF4-FFF2-40B4-BE49-F238E27FC236}">
                <a16:creationId xmlns:a16="http://schemas.microsoft.com/office/drawing/2014/main" id="{1B2723AF-54EB-4F96-9C48-856129E86352}"/>
              </a:ext>
            </a:extLst>
          </p:cNvPr>
          <p:cNvSpPr txBox="1">
            <a:spLocks noChangeArrowheads="1"/>
          </p:cNvSpPr>
          <p:nvPr/>
        </p:nvSpPr>
        <p:spPr bwMode="auto">
          <a:xfrm>
            <a:off x="1116013" y="4941888"/>
            <a:ext cx="1655762" cy="346075"/>
          </a:xfrm>
          <a:prstGeom prst="rect">
            <a:avLst/>
          </a:prstGeom>
          <a:solidFill>
            <a:schemeClr val="folHlink"/>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600" b="1" i="0" u="none" strike="noStrike" kern="120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cs typeface="+mn-cs"/>
              </a:rPr>
              <a:t>5</a:t>
            </a:r>
            <a:r>
              <a:rPr kumimoji="1" lang="en-US" altLang="zh-CN" sz="16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  6-</a:t>
            </a:r>
            <a:r>
              <a:rPr kumimoji="1" lang="zh-CN" altLang="en-US" sz="16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磷酸葡萄糖</a:t>
            </a:r>
          </a:p>
        </p:txBody>
      </p:sp>
      <p:sp>
        <p:nvSpPr>
          <p:cNvPr id="52" name="AutoShape 34">
            <a:extLst>
              <a:ext uri="{FF2B5EF4-FFF2-40B4-BE49-F238E27FC236}">
                <a16:creationId xmlns:a16="http://schemas.microsoft.com/office/drawing/2014/main" id="{108504DF-45E6-4C92-A96E-0DB5F3A27444}"/>
              </a:ext>
            </a:extLst>
          </p:cNvPr>
          <p:cNvSpPr>
            <a:spLocks noChangeArrowheads="1"/>
          </p:cNvSpPr>
          <p:nvPr/>
        </p:nvSpPr>
        <p:spPr bwMode="auto">
          <a:xfrm rot="10800000">
            <a:off x="7401701" y="5203847"/>
            <a:ext cx="104775" cy="625475"/>
          </a:xfrm>
          <a:prstGeom prst="downArrow">
            <a:avLst>
              <a:gd name="adj1" fmla="val 50000"/>
              <a:gd name="adj2" fmla="val 149242"/>
            </a:avLst>
          </a:prstGeom>
          <a:gradFill rotWithShape="0">
            <a:gsLst>
              <a:gs pos="0">
                <a:srgbClr val="FFFFFF"/>
              </a:gs>
              <a:gs pos="50000">
                <a:schemeClr val="accent1"/>
              </a:gs>
              <a:gs pos="100000">
                <a:srgbClr val="FFFFFF"/>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600" b="1" i="0" u="none" strike="noStrike" kern="1200" cap="none" spc="0" normalizeH="0" baseline="0" noProof="0">
              <a:ln>
                <a:noFill/>
              </a:ln>
              <a:solidFill>
                <a:srgbClr val="CC00CC"/>
              </a:solidFill>
              <a:effectLst/>
              <a:uLnTx/>
              <a:uFillTx/>
              <a:latin typeface="Times New Roman" panose="02020603050405020304" pitchFamily="18" charset="0"/>
              <a:ea typeface="宋体" panose="02010600030101010101" pitchFamily="2" charset="-122"/>
              <a:cs typeface="+mn-cs"/>
            </a:endParaRPr>
          </a:p>
        </p:txBody>
      </p:sp>
      <p:sp>
        <p:nvSpPr>
          <p:cNvPr id="3" name="左大括号 2">
            <a:extLst>
              <a:ext uri="{FF2B5EF4-FFF2-40B4-BE49-F238E27FC236}">
                <a16:creationId xmlns:a16="http://schemas.microsoft.com/office/drawing/2014/main" id="{BA902C2A-4569-4A18-B1F4-E1965BD37885}"/>
              </a:ext>
            </a:extLst>
          </p:cNvPr>
          <p:cNvSpPr/>
          <p:nvPr/>
        </p:nvSpPr>
        <p:spPr bwMode="auto">
          <a:xfrm>
            <a:off x="6334124" y="5174615"/>
            <a:ext cx="392429" cy="789459"/>
          </a:xfrm>
          <a:prstGeom prst="leftBrace">
            <a:avLst>
              <a:gd name="adj1" fmla="val 8333"/>
              <a:gd name="adj2" fmla="val 80729"/>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gradFill rotWithShape="0">
                  <a:gsLst>
                    <a:gs pos="0">
                      <a:schemeClr val="accent1"/>
                    </a:gs>
                    <a:gs pos="50000">
                      <a:srgbClr val="FFFFFF"/>
                    </a:gs>
                    <a:gs pos="100000">
                      <a:schemeClr val="accent1"/>
                    </a:gs>
                  </a:gsLst>
                  <a:lin ang="540000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1" lang="zh-CN" altLang="en-US" sz="1600" b="1" i="0" u="none" strike="noStrike" cap="none" normalizeH="0" baseline="0">
              <a:ln>
                <a:noFill/>
              </a:ln>
              <a:solidFill>
                <a:srgbClr val="CC00CC"/>
              </a:solidFill>
              <a:effectLst/>
              <a:latin typeface="Times New Roman" panose="02020603050405020304" pitchFamily="18" charset="0"/>
              <a:ea typeface="宋体" panose="02010600030101010101" pitchFamily="2" charset="-122"/>
            </a:endParaRPr>
          </a:p>
        </p:txBody>
      </p:sp>
      <p:sp>
        <p:nvSpPr>
          <p:cNvPr id="2" name="文本框 1">
            <a:extLst>
              <a:ext uri="{FF2B5EF4-FFF2-40B4-BE49-F238E27FC236}">
                <a16:creationId xmlns:a16="http://schemas.microsoft.com/office/drawing/2014/main" id="{4D42FC3B-748B-5D5B-F2AF-7EE9E53FDDCA}"/>
              </a:ext>
            </a:extLst>
          </p:cNvPr>
          <p:cNvSpPr txBox="1"/>
          <p:nvPr/>
        </p:nvSpPr>
        <p:spPr>
          <a:xfrm>
            <a:off x="5420053" y="825539"/>
            <a:ext cx="3544560" cy="1200329"/>
          </a:xfrm>
          <a:prstGeom prst="rect">
            <a:avLst/>
          </a:prstGeom>
          <a:noFill/>
        </p:spPr>
        <p:txBody>
          <a:bodyPr wrap="none" rtlCol="0">
            <a:spAutoFit/>
          </a:bodyPr>
          <a:lstStyle/>
          <a:p>
            <a:r>
              <a:rPr lang="zh-CN" altLang="en-US" dirty="0"/>
              <a:t>阶段一：异构化</a:t>
            </a:r>
            <a:endParaRPr lang="en-US" altLang="zh-CN" dirty="0"/>
          </a:p>
          <a:p>
            <a:r>
              <a:rPr lang="zh-CN" altLang="en-US" dirty="0"/>
              <a:t>阶段二：转酮醇、转醛醇</a:t>
            </a:r>
            <a:endParaRPr lang="en-US" altLang="zh-CN" dirty="0"/>
          </a:p>
          <a:p>
            <a:r>
              <a:rPr lang="zh-CN" altLang="en-US" dirty="0"/>
              <a:t>阶段三：异构化形成</a:t>
            </a:r>
            <a:r>
              <a:rPr lang="en-US" altLang="zh-CN" dirty="0"/>
              <a:t>6</a:t>
            </a:r>
            <a:r>
              <a:rPr lang="zh-CN" altLang="en-US" dirty="0"/>
              <a:t>磷酸葡萄糖</a:t>
            </a:r>
          </a:p>
          <a:p>
            <a:endParaRPr lang="zh-CN" altLang="en-US" dirty="0"/>
          </a:p>
        </p:txBody>
      </p:sp>
    </p:spTree>
    <p:extLst>
      <p:ext uri="{BB962C8B-B14F-4D97-AF65-F5344CB8AC3E}">
        <p14:creationId xmlns:p14="http://schemas.microsoft.com/office/powerpoint/2010/main" val="2491078494"/>
      </p:ext>
    </p:extLst>
  </p:cSld>
  <p:clrMapOvr>
    <a:masterClrMapping/>
  </p:clrMapOvr>
  <p:transition/>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62" name="Picture 2">
            <a:extLst>
              <a:ext uri="{FF2B5EF4-FFF2-40B4-BE49-F238E27FC236}">
                <a16:creationId xmlns:a16="http://schemas.microsoft.com/office/drawing/2014/main" id="{56879CD5-A579-4C17-951E-7EC9E704D0B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10001" t="10001" r="10001" b="10001"/>
          <a:stretch>
            <a:fillRect/>
          </a:stretch>
        </p:blipFill>
        <p:spPr bwMode="auto">
          <a:xfrm>
            <a:off x="533400" y="533400"/>
            <a:ext cx="7848600" cy="588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a:extLst>
              <a:ext uri="{FF2B5EF4-FFF2-40B4-BE49-F238E27FC236}">
                <a16:creationId xmlns:a16="http://schemas.microsoft.com/office/drawing/2014/main" id="{656C59E0-7F17-4264-A3AE-446304F94CB3}"/>
              </a:ext>
            </a:extLst>
          </p:cNvPr>
          <p:cNvPicPr>
            <a:picLocks noChangeAspect="1"/>
          </p:cNvPicPr>
          <p:nvPr/>
        </p:nvPicPr>
        <p:blipFill rotWithShape="1">
          <a:blip r:embed="rId4" cstate="print"/>
          <a:srcRect l="5324" t="17788" r="5139" b="71094"/>
          <a:stretch/>
        </p:blipFill>
        <p:spPr>
          <a:xfrm>
            <a:off x="1038703" y="4941168"/>
            <a:ext cx="6837993" cy="490193"/>
          </a:xfrm>
          <a:prstGeom prst="rect">
            <a:avLst/>
          </a:prstGeom>
        </p:spPr>
      </p:pic>
      <p:sp>
        <p:nvSpPr>
          <p:cNvPr id="2" name="文本框 1">
            <a:extLst>
              <a:ext uri="{FF2B5EF4-FFF2-40B4-BE49-F238E27FC236}">
                <a16:creationId xmlns:a16="http://schemas.microsoft.com/office/drawing/2014/main" id="{EBA2B995-EC47-811D-3EAD-E146D7DB54E3}"/>
              </a:ext>
            </a:extLst>
          </p:cNvPr>
          <p:cNvSpPr txBox="1"/>
          <p:nvPr/>
        </p:nvSpPr>
        <p:spPr>
          <a:xfrm>
            <a:off x="1073428" y="3719589"/>
            <a:ext cx="6837992" cy="430887"/>
          </a:xfrm>
          <a:prstGeom prst="rect">
            <a:avLst/>
          </a:prstGeom>
          <a:solidFill>
            <a:srgbClr val="99CCFF"/>
          </a:solidFill>
        </p:spPr>
        <p:txBody>
          <a:bodyPr wrap="square" rtlCol="0">
            <a:spAutoFit/>
          </a:bodyPr>
          <a:lstStyle/>
          <a:p>
            <a:pPr marL="285750" indent="-285750">
              <a:buFont typeface="Wingdings" panose="05000000000000000000" pitchFamily="2" charset="2"/>
              <a:buChar char="l"/>
            </a:pPr>
            <a:r>
              <a:rPr lang="en-US" altLang="zh-CN" sz="2200" b="0" i="0" dirty="0">
                <a:solidFill>
                  <a:srgbClr val="000000"/>
                </a:solidFill>
                <a:effectLst/>
                <a:latin typeface="TimesNewRomanPSMT"/>
              </a:rPr>
              <a:t>Counter the damaging effects of oxygen radicals</a:t>
            </a:r>
            <a:endParaRPr lang="zh-CN" altLang="en-US" sz="2200" dirty="0"/>
          </a:p>
        </p:txBody>
      </p:sp>
    </p:spTree>
    <p:extLst>
      <p:ext uri="{BB962C8B-B14F-4D97-AF65-F5344CB8AC3E}">
        <p14:creationId xmlns:p14="http://schemas.microsoft.com/office/powerpoint/2010/main" val="418113162"/>
      </p:ext>
    </p:extLst>
  </p:cSld>
  <p:clrMapOvr>
    <a:masterClrMapping/>
  </p:clrMapOvr>
  <p:transition/>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2" name="Rectangle 2">
            <a:extLst>
              <a:ext uri="{FF2B5EF4-FFF2-40B4-BE49-F238E27FC236}">
                <a16:creationId xmlns:a16="http://schemas.microsoft.com/office/drawing/2014/main" id="{003EB2D5-C7A5-429D-8087-71F4F5E9A988}"/>
              </a:ext>
            </a:extLst>
          </p:cNvPr>
          <p:cNvSpPr>
            <a:spLocks noGrp="1" noChangeArrowheads="1"/>
          </p:cNvSpPr>
          <p:nvPr>
            <p:ph type="ctrTitle" idx="4294967295"/>
          </p:nvPr>
        </p:nvSpPr>
        <p:spPr>
          <a:xfrm>
            <a:off x="0" y="1135063"/>
            <a:ext cx="9144000" cy="1463675"/>
          </a:xfrm>
          <a:prstGeom prst="rect">
            <a:avLst/>
          </a:prstGeom>
        </p:spPr>
        <p:txBody>
          <a:bodyPr anchor="ctr"/>
          <a:lstStyle/>
          <a:p>
            <a:r>
              <a:rPr lang="en-US" altLang="zh-CN" sz="5400" b="1" dirty="0">
                <a:solidFill>
                  <a:srgbClr val="C00000"/>
                </a:solidFill>
              </a:rPr>
              <a:t>Gluconeogenesis </a:t>
            </a:r>
            <a:br>
              <a:rPr lang="en-US" altLang="zh-CN" sz="5400" b="1" dirty="0">
                <a:solidFill>
                  <a:srgbClr val="C00000"/>
                </a:solidFill>
              </a:rPr>
            </a:br>
            <a:r>
              <a:rPr lang="en-US" altLang="zh-CN" sz="3600" b="1" dirty="0">
                <a:solidFill>
                  <a:srgbClr val="C00000"/>
                </a:solidFill>
              </a:rPr>
              <a:t>(J4)</a:t>
            </a:r>
          </a:p>
        </p:txBody>
      </p:sp>
      <p:sp>
        <p:nvSpPr>
          <p:cNvPr id="348163" name="Rectangle 3">
            <a:extLst>
              <a:ext uri="{FF2B5EF4-FFF2-40B4-BE49-F238E27FC236}">
                <a16:creationId xmlns:a16="http://schemas.microsoft.com/office/drawing/2014/main" id="{3BBEBE56-384D-4A01-9D27-C3C8F1C8BDB1}"/>
              </a:ext>
            </a:extLst>
          </p:cNvPr>
          <p:cNvSpPr>
            <a:spLocks noGrp="1" noChangeArrowheads="1"/>
          </p:cNvSpPr>
          <p:nvPr>
            <p:ph type="subTitle" idx="4294967295"/>
          </p:nvPr>
        </p:nvSpPr>
        <p:spPr>
          <a:xfrm>
            <a:off x="0" y="4191000"/>
            <a:ext cx="9144000" cy="2133600"/>
          </a:xfrm>
          <a:prstGeom prst="rect">
            <a:avLst/>
          </a:prstGeom>
          <a:noFill/>
          <a:extLst>
            <a:ext uri="{909E8E84-426E-40DD-AFC4-6F175D3DCCD1}">
              <a14:hiddenFill xmlns:a14="http://schemas.microsoft.com/office/drawing/2010/main">
                <a:solidFill>
                  <a:schemeClr val="bg1"/>
                </a:solidFill>
              </a14:hiddenFill>
            </a:ext>
          </a:extLst>
        </p:spPr>
        <p:txBody>
          <a:bodyPr/>
          <a:lstStyle/>
          <a:p>
            <a:pPr algn="l"/>
            <a:r>
              <a:rPr lang="en-US" altLang="zh-CN" sz="3200" b="1" dirty="0">
                <a:solidFill>
                  <a:srgbClr val="0070C0"/>
                </a:solidFill>
              </a:rPr>
              <a:t>  Gluconeogenesis: The universal pathway for 	synthesis of glucose.</a:t>
            </a:r>
          </a:p>
          <a:p>
            <a:pPr algn="l"/>
            <a:endParaRPr lang="en-US" altLang="zh-CN" sz="3200" b="1" dirty="0">
              <a:solidFill>
                <a:srgbClr val="0070C0"/>
              </a:solidFill>
            </a:endParaRPr>
          </a:p>
        </p:txBody>
      </p:sp>
    </p:spTree>
    <p:extLst>
      <p:ext uri="{BB962C8B-B14F-4D97-AF65-F5344CB8AC3E}">
        <p14:creationId xmlns:p14="http://schemas.microsoft.com/office/powerpoint/2010/main" val="4140142755"/>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DC1B89ED-3823-40A2-BFDB-A635F58F8E72}"/>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11200"/>
                    </a14:imgEffect>
                  </a14:imgLayer>
                </a14:imgProps>
              </a:ext>
            </a:extLst>
          </a:blip>
          <a:stretch>
            <a:fillRect/>
          </a:stretch>
        </p:blipFill>
        <p:spPr>
          <a:xfrm>
            <a:off x="1989306" y="0"/>
            <a:ext cx="5165387" cy="6858000"/>
          </a:xfrm>
          <a:prstGeom prst="rect">
            <a:avLst/>
          </a:prstGeom>
        </p:spPr>
      </p:pic>
      <p:sp>
        <p:nvSpPr>
          <p:cNvPr id="3" name="矩形: 圆角 2">
            <a:extLst>
              <a:ext uri="{FF2B5EF4-FFF2-40B4-BE49-F238E27FC236}">
                <a16:creationId xmlns:a16="http://schemas.microsoft.com/office/drawing/2014/main" id="{297B03C5-7721-48EC-9529-72FF02EFCC3D}"/>
              </a:ext>
            </a:extLst>
          </p:cNvPr>
          <p:cNvSpPr/>
          <p:nvPr/>
        </p:nvSpPr>
        <p:spPr>
          <a:xfrm>
            <a:off x="3419872" y="1412776"/>
            <a:ext cx="2304256" cy="576064"/>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81247814"/>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Rectangle 2">
            <a:extLst>
              <a:ext uri="{FF2B5EF4-FFF2-40B4-BE49-F238E27FC236}">
                <a16:creationId xmlns:a16="http://schemas.microsoft.com/office/drawing/2014/main" id="{51993FC5-E573-49BF-9679-192065E3197C}"/>
              </a:ext>
            </a:extLst>
          </p:cNvPr>
          <p:cNvSpPr>
            <a:spLocks noGrp="1" noChangeArrowheads="1"/>
          </p:cNvSpPr>
          <p:nvPr>
            <p:ph type="title" idx="4294967295"/>
          </p:nvPr>
        </p:nvSpPr>
        <p:spPr>
          <a:xfrm>
            <a:off x="0" y="304800"/>
            <a:ext cx="9144000" cy="2041525"/>
          </a:xfrm>
          <a:solidFill>
            <a:srgbClr val="333399"/>
          </a:solidFill>
        </p:spPr>
        <p:txBody>
          <a:bodyPr/>
          <a:lstStyle/>
          <a:p>
            <a:r>
              <a:rPr lang="en-US" altLang="zh-CN" b="1" dirty="0">
                <a:solidFill>
                  <a:srgbClr val="C00000"/>
                </a:solidFill>
              </a:rPr>
              <a:t>1. </a:t>
            </a:r>
            <a:r>
              <a:rPr lang="en-US" altLang="zh-CN" sz="4000" b="1" dirty="0">
                <a:solidFill>
                  <a:srgbClr val="C00000"/>
                </a:solidFill>
              </a:rPr>
              <a:t>Carbohydrates are synthesized from simple precursors via gluconeogenesis</a:t>
            </a:r>
            <a:r>
              <a:rPr lang="en-US" altLang="zh-CN" dirty="0">
                <a:solidFill>
                  <a:srgbClr val="C00000"/>
                </a:solidFill>
              </a:rPr>
              <a:t> </a:t>
            </a:r>
          </a:p>
        </p:txBody>
      </p:sp>
      <p:sp>
        <p:nvSpPr>
          <p:cNvPr id="349187" name="Rectangle 3">
            <a:extLst>
              <a:ext uri="{FF2B5EF4-FFF2-40B4-BE49-F238E27FC236}">
                <a16:creationId xmlns:a16="http://schemas.microsoft.com/office/drawing/2014/main" id="{BC5A83DA-390C-4E12-9DA6-8604CB573CBB}"/>
              </a:ext>
            </a:extLst>
          </p:cNvPr>
          <p:cNvSpPr>
            <a:spLocks noGrp="1" noChangeArrowheads="1"/>
          </p:cNvSpPr>
          <p:nvPr>
            <p:ph type="body" idx="4294967295"/>
          </p:nvPr>
        </p:nvSpPr>
        <p:spPr>
          <a:xfrm>
            <a:off x="0" y="2743200"/>
            <a:ext cx="9144000" cy="4114800"/>
          </a:xfrm>
        </p:spPr>
        <p:txBody>
          <a:bodyPr/>
          <a:lstStyle/>
          <a:p>
            <a:r>
              <a:rPr lang="en-US" altLang="zh-CN" sz="2800" dirty="0"/>
              <a:t>A few three-carbon compounds (including lactate, pyruvate, glycerol, and 3-phosphoglycerate) serve as the major precursors for carbohydrate (glucose) biosynthesis, or gluconeogenesis.</a:t>
            </a:r>
          </a:p>
          <a:p>
            <a:r>
              <a:rPr lang="en-US" altLang="zh-CN" sz="2800" dirty="0"/>
              <a:t>The reactions of gluconeogenesis are essentially the same in different organisms.</a:t>
            </a:r>
          </a:p>
          <a:p>
            <a:r>
              <a:rPr lang="en-US" altLang="zh-CN" sz="2800" dirty="0"/>
              <a:t>The conversion of pyruvate to glucose is the central pathway in gluconeogenesis.</a:t>
            </a:r>
          </a:p>
        </p:txBody>
      </p:sp>
    </p:spTree>
    <p:extLst>
      <p:ext uri="{BB962C8B-B14F-4D97-AF65-F5344CB8AC3E}">
        <p14:creationId xmlns:p14="http://schemas.microsoft.com/office/powerpoint/2010/main" val="2346365934"/>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Rectangle 2">
            <a:extLst>
              <a:ext uri="{FF2B5EF4-FFF2-40B4-BE49-F238E27FC236}">
                <a16:creationId xmlns:a16="http://schemas.microsoft.com/office/drawing/2014/main" id="{84483343-0EB7-4F6E-9879-ABAEE20D21B2}"/>
              </a:ext>
            </a:extLst>
          </p:cNvPr>
          <p:cNvSpPr>
            <a:spLocks noGrp="1" noChangeArrowheads="1"/>
          </p:cNvSpPr>
          <p:nvPr>
            <p:ph type="title" idx="4294967295"/>
          </p:nvPr>
        </p:nvSpPr>
        <p:spPr>
          <a:xfrm>
            <a:off x="0" y="76200"/>
            <a:ext cx="9144000" cy="2590800"/>
          </a:xfrm>
          <a:solidFill>
            <a:srgbClr val="333399"/>
          </a:solidFill>
        </p:spPr>
        <p:txBody>
          <a:bodyPr/>
          <a:lstStyle/>
          <a:p>
            <a:r>
              <a:rPr lang="en-US" altLang="zh-CN" dirty="0">
                <a:solidFill>
                  <a:srgbClr val="C00000"/>
                </a:solidFill>
              </a:rPr>
              <a:t>2. </a:t>
            </a:r>
            <a:r>
              <a:rPr lang="en-US" altLang="zh-CN" sz="4000" b="1" dirty="0">
                <a:solidFill>
                  <a:srgbClr val="C00000"/>
                </a:solidFill>
              </a:rPr>
              <a:t>The opposing pathways of glycolysis and gluconeogenesis have 3 reactions different and 7 reactions in common</a:t>
            </a:r>
          </a:p>
        </p:txBody>
      </p:sp>
      <p:sp>
        <p:nvSpPr>
          <p:cNvPr id="351235" name="Rectangle 3">
            <a:extLst>
              <a:ext uri="{FF2B5EF4-FFF2-40B4-BE49-F238E27FC236}">
                <a16:creationId xmlns:a16="http://schemas.microsoft.com/office/drawing/2014/main" id="{CD652911-AB73-4009-874C-A82721DC954A}"/>
              </a:ext>
            </a:extLst>
          </p:cNvPr>
          <p:cNvSpPr>
            <a:spLocks noGrp="1" noChangeArrowheads="1"/>
          </p:cNvSpPr>
          <p:nvPr>
            <p:ph type="body" idx="4294967295"/>
          </p:nvPr>
        </p:nvSpPr>
        <p:spPr>
          <a:xfrm>
            <a:off x="0" y="3352800"/>
            <a:ext cx="9144000" cy="4114800"/>
          </a:xfrm>
        </p:spPr>
        <p:txBody>
          <a:bodyPr/>
          <a:lstStyle/>
          <a:p>
            <a:r>
              <a:rPr lang="en-US" altLang="zh-CN" sz="3600"/>
              <a:t>The reversible reactions between pyruvate and glucose are shared by gluconeogenesis and glycolysis, but the irreversible reactions are different (“bypassed” in gluconeogenesis).</a:t>
            </a:r>
          </a:p>
        </p:txBody>
      </p:sp>
    </p:spTree>
    <p:extLst>
      <p:ext uri="{BB962C8B-B14F-4D97-AF65-F5344CB8AC3E}">
        <p14:creationId xmlns:p14="http://schemas.microsoft.com/office/powerpoint/2010/main" val="3914858031"/>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2258" name="Picture 2">
            <a:extLst>
              <a:ext uri="{FF2B5EF4-FFF2-40B4-BE49-F238E27FC236}">
                <a16:creationId xmlns:a16="http://schemas.microsoft.com/office/drawing/2014/main" id="{0689C06F-6A76-4328-AE8C-E173CC0C557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10001" t="10001" r="10001" b="10001"/>
          <a:stretch>
            <a:fillRect/>
          </a:stretch>
        </p:blipFill>
        <p:spPr bwMode="auto">
          <a:xfrm>
            <a:off x="609600" y="381000"/>
            <a:ext cx="7924800" cy="594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框 2">
            <a:extLst>
              <a:ext uri="{FF2B5EF4-FFF2-40B4-BE49-F238E27FC236}">
                <a16:creationId xmlns:a16="http://schemas.microsoft.com/office/drawing/2014/main" id="{B3916649-CD1C-43E6-8092-100832F1CA72}"/>
              </a:ext>
            </a:extLst>
          </p:cNvPr>
          <p:cNvSpPr txBox="1"/>
          <p:nvPr/>
        </p:nvSpPr>
        <p:spPr>
          <a:xfrm>
            <a:off x="5652120" y="3284984"/>
            <a:ext cx="576064" cy="369332"/>
          </a:xfrm>
          <a:prstGeom prst="rect">
            <a:avLst/>
          </a:prstGeom>
          <a:noFill/>
        </p:spPr>
        <p:txBody>
          <a:bodyPr wrap="square" rtlCol="0">
            <a:spAutoFit/>
          </a:bodyPr>
          <a:lstStyle/>
          <a:p>
            <a:endParaRPr lang="zh-CN" altLang="en-US" dirty="0"/>
          </a:p>
        </p:txBody>
      </p:sp>
    </p:spTree>
    <p:extLst>
      <p:ext uri="{BB962C8B-B14F-4D97-AF65-F5344CB8AC3E}">
        <p14:creationId xmlns:p14="http://schemas.microsoft.com/office/powerpoint/2010/main" val="1578013895"/>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354" name="Rectangle 2">
            <a:extLst>
              <a:ext uri="{FF2B5EF4-FFF2-40B4-BE49-F238E27FC236}">
                <a16:creationId xmlns:a16="http://schemas.microsoft.com/office/drawing/2014/main" id="{6892538C-D5D2-4217-8A55-3A7CD8EE477E}"/>
              </a:ext>
            </a:extLst>
          </p:cNvPr>
          <p:cNvSpPr>
            <a:spLocks noGrp="1" noChangeArrowheads="1"/>
          </p:cNvSpPr>
          <p:nvPr>
            <p:ph type="title" idx="4294967295"/>
          </p:nvPr>
        </p:nvSpPr>
        <p:spPr>
          <a:xfrm>
            <a:off x="0" y="1066800"/>
            <a:ext cx="9144000" cy="1981200"/>
          </a:xfrm>
        </p:spPr>
        <p:txBody>
          <a:bodyPr/>
          <a:lstStyle/>
          <a:p>
            <a:r>
              <a:rPr lang="en-US" altLang="zh-CN" dirty="0">
                <a:solidFill>
                  <a:srgbClr val="C00000"/>
                </a:solidFill>
              </a:rPr>
              <a:t>3. </a:t>
            </a:r>
            <a:r>
              <a:rPr lang="en-US" altLang="zh-CN" sz="4000" b="1" dirty="0">
                <a:solidFill>
                  <a:srgbClr val="C00000"/>
                </a:solidFill>
              </a:rPr>
              <a:t>Pyruvate  is converted to </a:t>
            </a:r>
            <a:r>
              <a:rPr lang="en-US" altLang="zh-CN" sz="4000" b="1" dirty="0" err="1">
                <a:solidFill>
                  <a:srgbClr val="C00000"/>
                </a:solidFill>
              </a:rPr>
              <a:t>phosphoenoylpyruvate</a:t>
            </a:r>
            <a:r>
              <a:rPr lang="en-US" altLang="zh-CN" sz="4000" b="1" dirty="0">
                <a:solidFill>
                  <a:srgbClr val="C00000"/>
                </a:solidFill>
              </a:rPr>
              <a:t> (PEP) via two  Exergonic Reactions</a:t>
            </a:r>
          </a:p>
        </p:txBody>
      </p:sp>
    </p:spTree>
    <p:extLst>
      <p:ext uri="{BB962C8B-B14F-4D97-AF65-F5344CB8AC3E}">
        <p14:creationId xmlns:p14="http://schemas.microsoft.com/office/powerpoint/2010/main" val="1109328607"/>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7378" name="Picture 2">
            <a:extLst>
              <a:ext uri="{FF2B5EF4-FFF2-40B4-BE49-F238E27FC236}">
                <a16:creationId xmlns:a16="http://schemas.microsoft.com/office/drawing/2014/main" id="{C24E919D-9F56-4477-8737-024747C983B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3400" y="381000"/>
            <a:ext cx="8001000" cy="62150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9454021"/>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02" name="Picture 2">
            <a:extLst>
              <a:ext uri="{FF2B5EF4-FFF2-40B4-BE49-F238E27FC236}">
                <a16:creationId xmlns:a16="http://schemas.microsoft.com/office/drawing/2014/main" id="{C22B8A61-49FF-4B65-B578-3CF09CE7861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10001" t="10001" r="10001" b="10001"/>
          <a:stretch>
            <a:fillRect/>
          </a:stretch>
        </p:blipFill>
        <p:spPr bwMode="auto">
          <a:xfrm>
            <a:off x="533400" y="228600"/>
            <a:ext cx="8153400" cy="6115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46487973"/>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9426" name="Picture 2">
            <a:extLst>
              <a:ext uri="{FF2B5EF4-FFF2-40B4-BE49-F238E27FC236}">
                <a16:creationId xmlns:a16="http://schemas.microsoft.com/office/drawing/2014/main" id="{09C9590A-029D-447D-8B03-4BF38794E93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98575" y="228600"/>
            <a:ext cx="4949825" cy="6324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3877810"/>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0" name="Rectangle 2">
            <a:extLst>
              <a:ext uri="{FF2B5EF4-FFF2-40B4-BE49-F238E27FC236}">
                <a16:creationId xmlns:a16="http://schemas.microsoft.com/office/drawing/2014/main" id="{3509BAFB-1DBA-493F-ADC5-917600BEB3F3}"/>
              </a:ext>
            </a:extLst>
          </p:cNvPr>
          <p:cNvSpPr>
            <a:spLocks noGrp="1" noChangeArrowheads="1"/>
          </p:cNvSpPr>
          <p:nvPr>
            <p:ph type="title" idx="4294967295"/>
          </p:nvPr>
        </p:nvSpPr>
        <p:spPr>
          <a:xfrm>
            <a:off x="0" y="76200"/>
            <a:ext cx="9144000" cy="2590800"/>
          </a:xfrm>
        </p:spPr>
        <p:txBody>
          <a:bodyPr/>
          <a:lstStyle/>
          <a:p>
            <a:r>
              <a:rPr lang="en-US" altLang="zh-CN" dirty="0">
                <a:solidFill>
                  <a:srgbClr val="C00000"/>
                </a:solidFill>
              </a:rPr>
              <a:t>4. </a:t>
            </a:r>
            <a:r>
              <a:rPr lang="en-US" altLang="zh-CN" sz="4000" b="1" dirty="0">
                <a:solidFill>
                  <a:srgbClr val="C00000"/>
                </a:solidFill>
              </a:rPr>
              <a:t>Conversion of fructose 1,6-bisphosphate to fructose 6-phosphate is the second bypassing step</a:t>
            </a:r>
          </a:p>
        </p:txBody>
      </p:sp>
      <p:sp>
        <p:nvSpPr>
          <p:cNvPr id="360451" name="Rectangle 3">
            <a:extLst>
              <a:ext uri="{FF2B5EF4-FFF2-40B4-BE49-F238E27FC236}">
                <a16:creationId xmlns:a16="http://schemas.microsoft.com/office/drawing/2014/main" id="{1A49AC2B-71C9-434C-9906-BF922F317B9A}"/>
              </a:ext>
            </a:extLst>
          </p:cNvPr>
          <p:cNvSpPr>
            <a:spLocks noGrp="1" noChangeArrowheads="1"/>
          </p:cNvSpPr>
          <p:nvPr>
            <p:ph type="body" idx="4294967295"/>
          </p:nvPr>
        </p:nvSpPr>
        <p:spPr>
          <a:xfrm>
            <a:off x="0" y="3048000"/>
            <a:ext cx="9144000" cy="3048000"/>
          </a:xfrm>
        </p:spPr>
        <p:txBody>
          <a:bodyPr/>
          <a:lstStyle/>
          <a:p>
            <a:r>
              <a:rPr lang="en-US" altLang="zh-CN" dirty="0"/>
              <a:t>The reaction is catalyzed by Mg </a:t>
            </a:r>
            <a:r>
              <a:rPr lang="en-US" altLang="zh-CN" baseline="30000" dirty="0"/>
              <a:t>2+</a:t>
            </a:r>
            <a:r>
              <a:rPr lang="en-US" altLang="zh-CN" dirty="0"/>
              <a:t> -dependent fructose 1,6-bisphosphatase (instead of phosphofructokiase-1).</a:t>
            </a:r>
          </a:p>
        </p:txBody>
      </p:sp>
      <p:pic>
        <p:nvPicPr>
          <p:cNvPr id="360452" name="Picture 4" descr="fru6p">
            <a:extLst>
              <a:ext uri="{FF2B5EF4-FFF2-40B4-BE49-F238E27FC236}">
                <a16:creationId xmlns:a16="http://schemas.microsoft.com/office/drawing/2014/main" id="{BB8C0CF0-9563-452C-A2BF-DBA7D7222082}"/>
              </a:ext>
            </a:extLst>
          </p:cNvPr>
          <p:cNvPicPr>
            <a:picLocks noChangeAspect="1" noChangeArrowheads="1"/>
          </p:cNvPicPr>
          <p:nvPr/>
        </p:nvPicPr>
        <p:blipFill>
          <a:blip r:embed="rId3" cstate="print">
            <a:lum contrast="18000"/>
            <a:extLst>
              <a:ext uri="{28A0092B-C50C-407E-A947-70E740481C1C}">
                <a14:useLocalDpi xmlns:a14="http://schemas.microsoft.com/office/drawing/2010/main" val="0"/>
              </a:ext>
            </a:extLst>
          </a:blip>
          <a:srcRect/>
          <a:stretch>
            <a:fillRect/>
          </a:stretch>
        </p:blipFill>
        <p:spPr bwMode="auto">
          <a:xfrm>
            <a:off x="0" y="4946650"/>
            <a:ext cx="8915400" cy="1073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0577551"/>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Rectangle 2">
            <a:extLst>
              <a:ext uri="{FF2B5EF4-FFF2-40B4-BE49-F238E27FC236}">
                <a16:creationId xmlns:a16="http://schemas.microsoft.com/office/drawing/2014/main" id="{8CCCA680-A95D-4891-9B3E-B6AA30FACFAB}"/>
              </a:ext>
            </a:extLst>
          </p:cNvPr>
          <p:cNvSpPr>
            <a:spLocks noGrp="1" noChangeArrowheads="1"/>
          </p:cNvSpPr>
          <p:nvPr>
            <p:ph type="title" idx="4294967295"/>
          </p:nvPr>
        </p:nvSpPr>
        <p:spPr>
          <a:xfrm>
            <a:off x="0" y="-76200"/>
            <a:ext cx="9144000" cy="1981200"/>
          </a:xfrm>
        </p:spPr>
        <p:txBody>
          <a:bodyPr/>
          <a:lstStyle/>
          <a:p>
            <a:r>
              <a:rPr lang="en-US" altLang="zh-CN" dirty="0">
                <a:solidFill>
                  <a:srgbClr val="C00000"/>
                </a:solidFill>
              </a:rPr>
              <a:t>5. </a:t>
            </a:r>
            <a:r>
              <a:rPr lang="en-US" altLang="zh-CN" sz="4000" b="1" dirty="0">
                <a:solidFill>
                  <a:srgbClr val="C00000"/>
                </a:solidFill>
              </a:rPr>
              <a:t>The conversion of glucose 6-phosphate to glucose is the last bypassing step</a:t>
            </a:r>
          </a:p>
        </p:txBody>
      </p:sp>
      <p:sp>
        <p:nvSpPr>
          <p:cNvPr id="362499" name="Rectangle 3">
            <a:extLst>
              <a:ext uri="{FF2B5EF4-FFF2-40B4-BE49-F238E27FC236}">
                <a16:creationId xmlns:a16="http://schemas.microsoft.com/office/drawing/2014/main" id="{5BF146A0-FBA1-4321-8348-C1A377AB37BF}"/>
              </a:ext>
            </a:extLst>
          </p:cNvPr>
          <p:cNvSpPr>
            <a:spLocks noGrp="1" noChangeArrowheads="1"/>
          </p:cNvSpPr>
          <p:nvPr>
            <p:ph type="body" idx="4294967295"/>
          </p:nvPr>
        </p:nvSpPr>
        <p:spPr>
          <a:xfrm>
            <a:off x="228600" y="2209800"/>
            <a:ext cx="8915400" cy="1752600"/>
          </a:xfrm>
        </p:spPr>
        <p:txBody>
          <a:bodyPr/>
          <a:lstStyle/>
          <a:p>
            <a:r>
              <a:rPr lang="en-US" altLang="zh-CN"/>
              <a:t>The reaction is catalyzed by glucose 6-phosphatase (instead of hexokiase).</a:t>
            </a:r>
          </a:p>
        </p:txBody>
      </p:sp>
      <p:pic>
        <p:nvPicPr>
          <p:cNvPr id="362500" name="Picture 4" descr="glucose">
            <a:extLst>
              <a:ext uri="{FF2B5EF4-FFF2-40B4-BE49-F238E27FC236}">
                <a16:creationId xmlns:a16="http://schemas.microsoft.com/office/drawing/2014/main" id="{09457B08-F456-422F-89FB-1C91163AF0F7}"/>
              </a:ext>
            </a:extLst>
          </p:cNvPr>
          <p:cNvPicPr>
            <a:picLocks noChangeAspect="1" noChangeArrowheads="1"/>
          </p:cNvPicPr>
          <p:nvPr/>
        </p:nvPicPr>
        <p:blipFill>
          <a:blip r:embed="rId3" cstate="print">
            <a:lum contrast="24000"/>
            <a:extLst>
              <a:ext uri="{28A0092B-C50C-407E-A947-70E740481C1C}">
                <a14:useLocalDpi xmlns:a14="http://schemas.microsoft.com/office/drawing/2010/main" val="0"/>
              </a:ext>
            </a:extLst>
          </a:blip>
          <a:srcRect/>
          <a:stretch>
            <a:fillRect/>
          </a:stretch>
        </p:blipFill>
        <p:spPr bwMode="auto">
          <a:xfrm>
            <a:off x="438472" y="4267200"/>
            <a:ext cx="8382000" cy="708025"/>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4767497"/>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1474" name="Picture 2">
            <a:extLst>
              <a:ext uri="{FF2B5EF4-FFF2-40B4-BE49-F238E27FC236}">
                <a16:creationId xmlns:a16="http://schemas.microsoft.com/office/drawing/2014/main" id="{CF133BFD-C6F5-4188-A839-DA4C1BDDB5C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10001" t="10001" r="10001" b="10001"/>
          <a:stretch>
            <a:fillRect/>
          </a:stretch>
        </p:blipFill>
        <p:spPr bwMode="auto">
          <a:xfrm>
            <a:off x="762000" y="304800"/>
            <a:ext cx="7772400" cy="582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07281407"/>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2258" name="Picture 2">
            <a:extLst>
              <a:ext uri="{FF2B5EF4-FFF2-40B4-BE49-F238E27FC236}">
                <a16:creationId xmlns:a16="http://schemas.microsoft.com/office/drawing/2014/main" id="{0689C06F-6A76-4328-AE8C-E173CC0C557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10001" t="10001" r="10001" b="10001"/>
          <a:stretch>
            <a:fillRect/>
          </a:stretch>
        </p:blipFill>
        <p:spPr bwMode="auto">
          <a:xfrm>
            <a:off x="609600" y="381000"/>
            <a:ext cx="7924800" cy="594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06627394"/>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72896A0D-D361-4A97-959E-DF5EB09B6F9E}"/>
              </a:ext>
            </a:extLst>
          </p:cNvPr>
          <p:cNvPicPr>
            <a:picLocks noChangeAspect="1"/>
          </p:cNvPicPr>
          <p:nvPr/>
        </p:nvPicPr>
        <p:blipFill>
          <a:blip r:embed="rId2" cstate="print"/>
          <a:stretch>
            <a:fillRect/>
          </a:stretch>
        </p:blipFill>
        <p:spPr>
          <a:xfrm>
            <a:off x="305780" y="2780928"/>
            <a:ext cx="8532440" cy="1069904"/>
          </a:xfrm>
          <a:prstGeom prst="rect">
            <a:avLst/>
          </a:prstGeom>
        </p:spPr>
      </p:pic>
      <p:sp>
        <p:nvSpPr>
          <p:cNvPr id="3" name="矩形 2">
            <a:extLst>
              <a:ext uri="{FF2B5EF4-FFF2-40B4-BE49-F238E27FC236}">
                <a16:creationId xmlns:a16="http://schemas.microsoft.com/office/drawing/2014/main" id="{A1D38912-B5B1-42AD-A243-599F51B54ECD}"/>
              </a:ext>
            </a:extLst>
          </p:cNvPr>
          <p:cNvSpPr/>
          <p:nvPr/>
        </p:nvSpPr>
        <p:spPr>
          <a:xfrm>
            <a:off x="7884368" y="3315880"/>
            <a:ext cx="1080120" cy="53495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2108208599"/>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2" name="Rectangle 2">
            <a:extLst>
              <a:ext uri="{FF2B5EF4-FFF2-40B4-BE49-F238E27FC236}">
                <a16:creationId xmlns:a16="http://schemas.microsoft.com/office/drawing/2014/main" id="{C59C0396-5170-49FA-810A-F03E3E723AA8}"/>
              </a:ext>
            </a:extLst>
          </p:cNvPr>
          <p:cNvSpPr>
            <a:spLocks noGrp="1" noChangeArrowheads="1"/>
          </p:cNvSpPr>
          <p:nvPr>
            <p:ph type="title" idx="4294967295"/>
          </p:nvPr>
        </p:nvSpPr>
        <p:spPr>
          <a:xfrm>
            <a:off x="0" y="288925"/>
            <a:ext cx="9144000" cy="1920875"/>
          </a:xfrm>
        </p:spPr>
        <p:txBody>
          <a:bodyPr/>
          <a:lstStyle/>
          <a:p>
            <a:r>
              <a:rPr lang="en-US" altLang="zh-CN" sz="4000" b="1" dirty="0">
                <a:solidFill>
                  <a:srgbClr val="C00000"/>
                </a:solidFill>
              </a:rPr>
              <a:t>6. More energy is consumed in gluconeogenesis than produced in glycolysis</a:t>
            </a:r>
          </a:p>
        </p:txBody>
      </p:sp>
      <p:sp>
        <p:nvSpPr>
          <p:cNvPr id="363523" name="Rectangle 3">
            <a:extLst>
              <a:ext uri="{FF2B5EF4-FFF2-40B4-BE49-F238E27FC236}">
                <a16:creationId xmlns:a16="http://schemas.microsoft.com/office/drawing/2014/main" id="{55F44A90-D77C-43CE-8443-B2035E9EBD00}"/>
              </a:ext>
            </a:extLst>
          </p:cNvPr>
          <p:cNvSpPr>
            <a:spLocks noGrp="1" noChangeArrowheads="1"/>
          </p:cNvSpPr>
          <p:nvPr>
            <p:ph type="body" idx="4294967295"/>
          </p:nvPr>
        </p:nvSpPr>
        <p:spPr>
          <a:xfrm>
            <a:off x="0" y="2362200"/>
            <a:ext cx="9144000" cy="4114800"/>
          </a:xfrm>
        </p:spPr>
        <p:txBody>
          <a:bodyPr/>
          <a:lstStyle/>
          <a:p>
            <a:r>
              <a:rPr lang="en-US" altLang="zh-CN" dirty="0"/>
              <a:t>Six high-energy phosphate groups are required when two  molecules of pyruvates are converted to one glucose via gluconeogenesis pathway.</a:t>
            </a:r>
          </a:p>
          <a:p>
            <a:r>
              <a:rPr lang="en-US" altLang="zh-CN" dirty="0"/>
              <a:t>Two molecules of ATP are produced when one glucose molecule is converted to two pyruvate molecules via glycolysis pathway.</a:t>
            </a:r>
          </a:p>
          <a:p>
            <a:pPr>
              <a:buFontTx/>
              <a:buNone/>
            </a:pPr>
            <a:endParaRPr lang="en-US" altLang="zh-CN" dirty="0"/>
          </a:p>
        </p:txBody>
      </p:sp>
    </p:spTree>
    <p:extLst>
      <p:ext uri="{BB962C8B-B14F-4D97-AF65-F5344CB8AC3E}">
        <p14:creationId xmlns:p14="http://schemas.microsoft.com/office/powerpoint/2010/main" val="2646466777"/>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546" name="Rectangle 2">
            <a:extLst>
              <a:ext uri="{FF2B5EF4-FFF2-40B4-BE49-F238E27FC236}">
                <a16:creationId xmlns:a16="http://schemas.microsoft.com/office/drawing/2014/main" id="{3FFC1369-B6E2-4940-B891-E7313BF5E0D7}"/>
              </a:ext>
            </a:extLst>
          </p:cNvPr>
          <p:cNvSpPr>
            <a:spLocks noGrp="1" noChangeArrowheads="1"/>
          </p:cNvSpPr>
          <p:nvPr>
            <p:ph type="title" idx="4294967295"/>
          </p:nvPr>
        </p:nvSpPr>
        <p:spPr>
          <a:xfrm>
            <a:off x="0" y="190500"/>
            <a:ext cx="7772400" cy="762000"/>
          </a:xfrm>
        </p:spPr>
        <p:txBody>
          <a:bodyPr/>
          <a:lstStyle/>
          <a:p>
            <a:r>
              <a:rPr lang="en-US" altLang="zh-CN"/>
              <a:t>Summary</a:t>
            </a:r>
          </a:p>
        </p:txBody>
      </p:sp>
      <p:sp>
        <p:nvSpPr>
          <p:cNvPr id="364547" name="Rectangle 3">
            <a:extLst>
              <a:ext uri="{FF2B5EF4-FFF2-40B4-BE49-F238E27FC236}">
                <a16:creationId xmlns:a16="http://schemas.microsoft.com/office/drawing/2014/main" id="{359BF192-95B6-4A58-A722-121952023EE3}"/>
              </a:ext>
            </a:extLst>
          </p:cNvPr>
          <p:cNvSpPr>
            <a:spLocks noGrp="1" noChangeArrowheads="1"/>
          </p:cNvSpPr>
          <p:nvPr>
            <p:ph type="body" idx="4294967295"/>
          </p:nvPr>
        </p:nvSpPr>
        <p:spPr>
          <a:xfrm>
            <a:off x="0" y="1066800"/>
            <a:ext cx="8839200" cy="5638800"/>
          </a:xfrm>
          <a:solidFill>
            <a:schemeClr val="bg1"/>
          </a:solidFill>
        </p:spPr>
        <p:txBody>
          <a:bodyPr/>
          <a:lstStyle/>
          <a:p>
            <a:pPr>
              <a:lnSpc>
                <a:spcPct val="110000"/>
              </a:lnSpc>
            </a:pPr>
            <a:r>
              <a:rPr lang="en-US" altLang="zh-CN" sz="2800" dirty="0"/>
              <a:t>Gluconeogenesis, the synthesis of glucose from 3-carbon compounds (mainly pyruvate) is highly conserved in all organisms.</a:t>
            </a:r>
          </a:p>
          <a:p>
            <a:pPr>
              <a:lnSpc>
                <a:spcPct val="110000"/>
              </a:lnSpc>
            </a:pPr>
            <a:r>
              <a:rPr lang="en-US" altLang="zh-CN" sz="2800" dirty="0"/>
              <a:t>Gluconeogenesis shares most of the reactions occurring in glycolysis, but bypassing the three irreversible reactions (using different enzymes).</a:t>
            </a:r>
          </a:p>
          <a:p>
            <a:pPr>
              <a:lnSpc>
                <a:spcPct val="110000"/>
              </a:lnSpc>
            </a:pPr>
            <a:r>
              <a:rPr lang="en-US" altLang="zh-CN" sz="2800" dirty="0"/>
              <a:t>Gluconeogenesis consumes more energy than glycolysis releases.</a:t>
            </a:r>
          </a:p>
        </p:txBody>
      </p:sp>
    </p:spTree>
    <p:extLst>
      <p:ext uri="{BB962C8B-B14F-4D97-AF65-F5344CB8AC3E}">
        <p14:creationId xmlns:p14="http://schemas.microsoft.com/office/powerpoint/2010/main" val="4237378341"/>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Text Box 2">
            <a:extLst>
              <a:ext uri="{FF2B5EF4-FFF2-40B4-BE49-F238E27FC236}">
                <a16:creationId xmlns:a16="http://schemas.microsoft.com/office/drawing/2014/main" id="{699940C5-FB99-41D5-B27E-F4816C426045}"/>
              </a:ext>
            </a:extLst>
          </p:cNvPr>
          <p:cNvSpPr txBox="1">
            <a:spLocks noChangeArrowheads="1"/>
          </p:cNvSpPr>
          <p:nvPr/>
        </p:nvSpPr>
        <p:spPr bwMode="auto">
          <a:xfrm>
            <a:off x="323528" y="548680"/>
            <a:ext cx="8153400" cy="22826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zh-CN" sz="5400" dirty="0">
                <a:solidFill>
                  <a:srgbClr val="C00000"/>
                </a:solidFill>
                <a:latin typeface="Arial" panose="020B0604020202020204" pitchFamily="34" charset="0"/>
              </a:rPr>
              <a:t>J 6  Polysaccharide</a:t>
            </a:r>
          </a:p>
          <a:p>
            <a:pPr eaLnBrk="1" hangingPunct="1">
              <a:lnSpc>
                <a:spcPts val="5300"/>
              </a:lnSpc>
              <a:spcBef>
                <a:spcPts val="0"/>
              </a:spcBef>
            </a:pPr>
            <a:r>
              <a:rPr lang="en-US" altLang="zh-CN" sz="5400" dirty="0">
                <a:solidFill>
                  <a:srgbClr val="C00000"/>
                </a:solidFill>
                <a:latin typeface="Arial" panose="020B0604020202020204" pitchFamily="34" charset="0"/>
              </a:rPr>
              <a:t>                   Metabolism</a:t>
            </a:r>
          </a:p>
          <a:p>
            <a:pPr algn="ctr" eaLnBrk="1" hangingPunct="1">
              <a:lnSpc>
                <a:spcPts val="5300"/>
              </a:lnSpc>
              <a:spcBef>
                <a:spcPts val="0"/>
              </a:spcBef>
            </a:pPr>
            <a:r>
              <a:rPr lang="zh-CN" altLang="en-US" sz="3600" dirty="0">
                <a:solidFill>
                  <a:srgbClr val="C00000"/>
                </a:solidFill>
                <a:latin typeface="Arial" panose="020B0604020202020204" pitchFamily="34" charset="0"/>
              </a:rPr>
              <a:t>（</a:t>
            </a:r>
            <a:r>
              <a:rPr lang="en-US" altLang="zh-CN" sz="3600" dirty="0">
                <a:solidFill>
                  <a:srgbClr val="C00000"/>
                </a:solidFill>
                <a:latin typeface="Arial" panose="020B0604020202020204" pitchFamily="34" charset="0"/>
              </a:rPr>
              <a:t>catabolism, anabolism</a:t>
            </a:r>
            <a:r>
              <a:rPr lang="zh-CN" altLang="en-US" sz="3600" dirty="0">
                <a:solidFill>
                  <a:srgbClr val="C00000"/>
                </a:solidFill>
                <a:latin typeface="Arial" panose="020B0604020202020204" pitchFamily="34" charset="0"/>
              </a:rPr>
              <a:t>）</a:t>
            </a:r>
            <a:endParaRPr lang="en-US" altLang="zh-CN" sz="3600" dirty="0">
              <a:solidFill>
                <a:srgbClr val="C00000"/>
              </a:solidFill>
              <a:latin typeface="Arial" panose="020B0604020202020204" pitchFamily="34" charset="0"/>
            </a:endParaRPr>
          </a:p>
        </p:txBody>
      </p:sp>
      <p:sp>
        <p:nvSpPr>
          <p:cNvPr id="400387" name="Text Box 3">
            <a:extLst>
              <a:ext uri="{FF2B5EF4-FFF2-40B4-BE49-F238E27FC236}">
                <a16:creationId xmlns:a16="http://schemas.microsoft.com/office/drawing/2014/main" id="{380ACFC5-8D2F-4F07-849A-F8AED615963C}"/>
              </a:ext>
            </a:extLst>
          </p:cNvPr>
          <p:cNvSpPr txBox="1">
            <a:spLocks noChangeArrowheads="1"/>
          </p:cNvSpPr>
          <p:nvPr/>
        </p:nvSpPr>
        <p:spPr bwMode="auto">
          <a:xfrm>
            <a:off x="762000" y="2971800"/>
            <a:ext cx="7848600"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zh-CN" sz="4800" dirty="0">
                <a:latin typeface="Arial" panose="020B0604020202020204" pitchFamily="34" charset="0"/>
              </a:rPr>
              <a:t>Glycogen  Starch  Sucrose</a:t>
            </a:r>
          </a:p>
        </p:txBody>
      </p:sp>
    </p:spTree>
    <p:extLst>
      <p:ext uri="{BB962C8B-B14F-4D97-AF65-F5344CB8AC3E}">
        <p14:creationId xmlns:p14="http://schemas.microsoft.com/office/powerpoint/2010/main" val="465532230"/>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10" name="Rectangle 2">
            <a:extLst>
              <a:ext uri="{FF2B5EF4-FFF2-40B4-BE49-F238E27FC236}">
                <a16:creationId xmlns:a16="http://schemas.microsoft.com/office/drawing/2014/main" id="{67CD66EE-FD51-4324-B211-66EB2F93231C}"/>
              </a:ext>
            </a:extLst>
          </p:cNvPr>
          <p:cNvSpPr>
            <a:spLocks noGrp="1" noChangeArrowheads="1"/>
          </p:cNvSpPr>
          <p:nvPr>
            <p:ph type="title" idx="4294967295"/>
          </p:nvPr>
        </p:nvSpPr>
        <p:spPr>
          <a:xfrm>
            <a:off x="0" y="533400"/>
            <a:ext cx="9144000" cy="1676400"/>
          </a:xfrm>
        </p:spPr>
        <p:txBody>
          <a:bodyPr/>
          <a:lstStyle/>
          <a:p>
            <a:r>
              <a:rPr lang="en-US" altLang="zh-CN" dirty="0">
                <a:solidFill>
                  <a:srgbClr val="C00000"/>
                </a:solidFill>
              </a:rPr>
              <a:t>1. Glycogen in cells is first converted to Glc-1-P for oxidative degradation</a:t>
            </a:r>
          </a:p>
        </p:txBody>
      </p:sp>
      <p:sp>
        <p:nvSpPr>
          <p:cNvPr id="401411" name="Rectangle 3">
            <a:extLst>
              <a:ext uri="{FF2B5EF4-FFF2-40B4-BE49-F238E27FC236}">
                <a16:creationId xmlns:a16="http://schemas.microsoft.com/office/drawing/2014/main" id="{D81CE65E-5A0F-4418-B7F6-4226FE6A3D59}"/>
              </a:ext>
            </a:extLst>
          </p:cNvPr>
          <p:cNvSpPr>
            <a:spLocks noGrp="1" noChangeArrowheads="1"/>
          </p:cNvSpPr>
          <p:nvPr>
            <p:ph type="body" idx="4294967295"/>
          </p:nvPr>
        </p:nvSpPr>
        <p:spPr>
          <a:xfrm>
            <a:off x="0" y="3200400"/>
            <a:ext cx="9144000" cy="2743200"/>
          </a:xfrm>
        </p:spPr>
        <p:txBody>
          <a:bodyPr/>
          <a:lstStyle/>
          <a:p>
            <a:r>
              <a:rPr lang="en-US" altLang="zh-CN" sz="3600" dirty="0"/>
              <a:t>The glucose unit at the nonreducing terminal of glycogen is removed as </a:t>
            </a:r>
            <a:r>
              <a:rPr lang="en-US" altLang="zh-CN" sz="3600" b="1" dirty="0">
                <a:solidFill>
                  <a:srgbClr val="FF0000"/>
                </a:solidFill>
              </a:rPr>
              <a:t>Glc-1-P</a:t>
            </a:r>
            <a:r>
              <a:rPr lang="en-US" altLang="zh-CN" sz="3600" dirty="0"/>
              <a:t> via phosphorolysis: The (</a:t>
            </a:r>
            <a:r>
              <a:rPr lang="en-US" altLang="zh-CN" sz="3600" dirty="0">
                <a:latin typeface="Symbol" panose="05050102010706020507" pitchFamily="18" charset="2"/>
              </a:rPr>
              <a:t>a</a:t>
            </a:r>
            <a:r>
              <a:rPr lang="en-US" altLang="zh-CN" sz="3600" dirty="0"/>
              <a:t>1    4) glycosidic bond is attacked by an inorganic phosphate).</a:t>
            </a:r>
          </a:p>
        </p:txBody>
      </p:sp>
      <p:sp>
        <p:nvSpPr>
          <p:cNvPr id="401412" name="Line 4">
            <a:extLst>
              <a:ext uri="{FF2B5EF4-FFF2-40B4-BE49-F238E27FC236}">
                <a16:creationId xmlns:a16="http://schemas.microsoft.com/office/drawing/2014/main" id="{D9C48E5D-A82F-4222-BB29-35D023BEE9B6}"/>
              </a:ext>
            </a:extLst>
          </p:cNvPr>
          <p:cNvSpPr>
            <a:spLocks noChangeShapeType="1"/>
          </p:cNvSpPr>
          <p:nvPr/>
        </p:nvSpPr>
        <p:spPr bwMode="auto">
          <a:xfrm>
            <a:off x="4953000" y="4648200"/>
            <a:ext cx="381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Tree>
    <p:extLst>
      <p:ext uri="{BB962C8B-B14F-4D97-AF65-F5344CB8AC3E}">
        <p14:creationId xmlns:p14="http://schemas.microsoft.com/office/powerpoint/2010/main" val="2259236115"/>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2434" name="Picture 2" descr="1">
            <a:extLst>
              <a:ext uri="{FF2B5EF4-FFF2-40B4-BE49-F238E27FC236}">
                <a16:creationId xmlns:a16="http://schemas.microsoft.com/office/drawing/2014/main" id="{72895506-6BE1-4E70-966A-52F0836FAB0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143000"/>
            <a:ext cx="9144000" cy="2733675"/>
          </a:xfrm>
          <a:prstGeom prst="rect">
            <a:avLst/>
          </a:prstGeom>
          <a:noFill/>
          <a:extLst>
            <a:ext uri="{909E8E84-426E-40DD-AFC4-6F175D3DCCD1}">
              <a14:hiddenFill xmlns:a14="http://schemas.microsoft.com/office/drawing/2010/main">
                <a:solidFill>
                  <a:srgbClr val="FFFFFF"/>
                </a:solidFill>
              </a14:hiddenFill>
            </a:ext>
          </a:extLst>
        </p:spPr>
      </p:pic>
      <p:sp>
        <p:nvSpPr>
          <p:cNvPr id="402435" name="Rectangle 3">
            <a:extLst>
              <a:ext uri="{FF2B5EF4-FFF2-40B4-BE49-F238E27FC236}">
                <a16:creationId xmlns:a16="http://schemas.microsoft.com/office/drawing/2014/main" id="{1FEB88B8-5ECC-4EB6-BBEA-6AB76DCAF71A}"/>
              </a:ext>
            </a:extLst>
          </p:cNvPr>
          <p:cNvSpPr>
            <a:spLocks noChangeArrowheads="1"/>
          </p:cNvSpPr>
          <p:nvPr/>
        </p:nvSpPr>
        <p:spPr bwMode="auto">
          <a:xfrm>
            <a:off x="3124200" y="1143000"/>
            <a:ext cx="14255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a:solidFill>
                  <a:srgbClr val="6600FF"/>
                </a:solidFill>
              </a:rPr>
              <a:t>No ATP </a:t>
            </a:r>
          </a:p>
          <a:p>
            <a:r>
              <a:rPr lang="en-US" altLang="zh-CN" sz="2000" b="1">
                <a:solidFill>
                  <a:srgbClr val="6600FF"/>
                </a:solidFill>
              </a:rPr>
              <a:t>Consumed!</a:t>
            </a:r>
          </a:p>
        </p:txBody>
      </p:sp>
    </p:spTree>
    <p:extLst>
      <p:ext uri="{BB962C8B-B14F-4D97-AF65-F5344CB8AC3E}">
        <p14:creationId xmlns:p14="http://schemas.microsoft.com/office/powerpoint/2010/main" val="1599418859"/>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0F4B88CA-A0AF-7FAF-6DE3-18C191A1FE89}"/>
              </a:ext>
            </a:extLst>
          </p:cNvPr>
          <p:cNvPicPr>
            <a:picLocks noChangeAspect="1"/>
          </p:cNvPicPr>
          <p:nvPr/>
        </p:nvPicPr>
        <p:blipFill>
          <a:blip r:embed="rId2"/>
          <a:stretch>
            <a:fillRect/>
          </a:stretch>
        </p:blipFill>
        <p:spPr>
          <a:xfrm>
            <a:off x="0" y="155196"/>
            <a:ext cx="9144000" cy="6547607"/>
          </a:xfrm>
          <a:prstGeom prst="rect">
            <a:avLst/>
          </a:prstGeom>
        </p:spPr>
      </p:pic>
    </p:spTree>
    <p:extLst>
      <p:ext uri="{BB962C8B-B14F-4D97-AF65-F5344CB8AC3E}">
        <p14:creationId xmlns:p14="http://schemas.microsoft.com/office/powerpoint/2010/main" val="1497705958"/>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536F7779-9780-F1B2-9ED9-987DC6A43FEB}"/>
              </a:ext>
            </a:extLst>
          </p:cNvPr>
          <p:cNvPicPr>
            <a:picLocks noChangeAspect="1"/>
          </p:cNvPicPr>
          <p:nvPr/>
        </p:nvPicPr>
        <p:blipFill>
          <a:blip r:embed="rId3"/>
          <a:stretch>
            <a:fillRect/>
          </a:stretch>
        </p:blipFill>
        <p:spPr>
          <a:xfrm>
            <a:off x="3275856" y="-4416"/>
            <a:ext cx="5616623" cy="6858000"/>
          </a:xfrm>
          <a:prstGeom prst="rect">
            <a:avLst/>
          </a:prstGeom>
        </p:spPr>
      </p:pic>
      <p:sp>
        <p:nvSpPr>
          <p:cNvPr id="5" name="文本框 4">
            <a:extLst>
              <a:ext uri="{FF2B5EF4-FFF2-40B4-BE49-F238E27FC236}">
                <a16:creationId xmlns:a16="http://schemas.microsoft.com/office/drawing/2014/main" id="{76BBADE1-1196-3A00-C7F2-9BEC00B6919A}"/>
              </a:ext>
            </a:extLst>
          </p:cNvPr>
          <p:cNvSpPr txBox="1"/>
          <p:nvPr/>
        </p:nvSpPr>
        <p:spPr>
          <a:xfrm>
            <a:off x="-9561" y="404664"/>
            <a:ext cx="3501441" cy="1631216"/>
          </a:xfrm>
          <a:prstGeom prst="rect">
            <a:avLst/>
          </a:prstGeom>
          <a:noFill/>
        </p:spPr>
        <p:txBody>
          <a:bodyPr wrap="square">
            <a:spAutoFit/>
          </a:bodyPr>
          <a:lstStyle/>
          <a:p>
            <a:r>
              <a:rPr lang="en-US" altLang="zh-CN" sz="2000" b="1" dirty="0"/>
              <a:t>Glycogen breakdown near an (α1→6) branch point. </a:t>
            </a:r>
          </a:p>
          <a:p>
            <a:endParaRPr lang="en-US" altLang="zh-CN" b="1" dirty="0"/>
          </a:p>
          <a:p>
            <a:r>
              <a:rPr lang="en-US" altLang="zh-CN" sz="2400" dirty="0"/>
              <a:t> </a:t>
            </a:r>
            <a:br>
              <a:rPr lang="en-US" altLang="zh-CN" dirty="0"/>
            </a:br>
            <a:endParaRPr lang="zh-CN" altLang="en-US" b="1" dirty="0"/>
          </a:p>
        </p:txBody>
      </p:sp>
      <p:sp>
        <p:nvSpPr>
          <p:cNvPr id="4" name="文本框 3">
            <a:extLst>
              <a:ext uri="{FF2B5EF4-FFF2-40B4-BE49-F238E27FC236}">
                <a16:creationId xmlns:a16="http://schemas.microsoft.com/office/drawing/2014/main" id="{AB487887-931F-98A9-4C45-E674AF1D0377}"/>
              </a:ext>
            </a:extLst>
          </p:cNvPr>
          <p:cNvSpPr txBox="1"/>
          <p:nvPr/>
        </p:nvSpPr>
        <p:spPr>
          <a:xfrm>
            <a:off x="1115616" y="4175790"/>
            <a:ext cx="2664296" cy="646331"/>
          </a:xfrm>
          <a:prstGeom prst="rect">
            <a:avLst/>
          </a:prstGeom>
          <a:noFill/>
        </p:spPr>
        <p:txBody>
          <a:bodyPr wrap="square">
            <a:spAutoFit/>
          </a:bodyPr>
          <a:lstStyle/>
          <a:p>
            <a:r>
              <a:rPr lang="en-US" altLang="zh-CN" sz="1800" b="1" i="0" dirty="0">
                <a:solidFill>
                  <a:srgbClr val="000000"/>
                </a:solidFill>
                <a:effectLst/>
                <a:latin typeface="TimesNewRomanPSMT"/>
              </a:rPr>
              <a:t>a bifunctional </a:t>
            </a:r>
          </a:p>
          <a:p>
            <a:r>
              <a:rPr lang="en-US" altLang="zh-CN" sz="1800" b="1" i="0" dirty="0">
                <a:solidFill>
                  <a:srgbClr val="000000"/>
                </a:solidFill>
                <a:effectLst/>
                <a:latin typeface="TimesNewRomanPSMT"/>
              </a:rPr>
              <a:t>debranching enzyme</a:t>
            </a:r>
            <a:endParaRPr lang="zh-CN" altLang="en-US" b="1" dirty="0"/>
          </a:p>
        </p:txBody>
      </p:sp>
      <p:cxnSp>
        <p:nvCxnSpPr>
          <p:cNvPr id="7" name="直接箭头连接符 6">
            <a:extLst>
              <a:ext uri="{FF2B5EF4-FFF2-40B4-BE49-F238E27FC236}">
                <a16:creationId xmlns:a16="http://schemas.microsoft.com/office/drawing/2014/main" id="{1EA25475-E04D-648E-0B54-9B385ABCAFB3}"/>
              </a:ext>
            </a:extLst>
          </p:cNvPr>
          <p:cNvCxnSpPr/>
          <p:nvPr/>
        </p:nvCxnSpPr>
        <p:spPr>
          <a:xfrm flipV="1">
            <a:off x="2987824" y="3861048"/>
            <a:ext cx="1368152" cy="4320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0788EF0A-210F-0BDF-EAD7-655F648657F6}"/>
              </a:ext>
            </a:extLst>
          </p:cNvPr>
          <p:cNvCxnSpPr>
            <a:cxnSpLocks/>
          </p:cNvCxnSpPr>
          <p:nvPr/>
        </p:nvCxnSpPr>
        <p:spPr>
          <a:xfrm>
            <a:off x="2987824" y="4799085"/>
            <a:ext cx="1512168" cy="4904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93183396"/>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8" name="Rectangle 2">
            <a:extLst>
              <a:ext uri="{FF2B5EF4-FFF2-40B4-BE49-F238E27FC236}">
                <a16:creationId xmlns:a16="http://schemas.microsoft.com/office/drawing/2014/main" id="{31AD50F4-C495-489C-8115-5125A180796A}"/>
              </a:ext>
            </a:extLst>
          </p:cNvPr>
          <p:cNvSpPr>
            <a:spLocks noGrp="1" noChangeArrowheads="1"/>
          </p:cNvSpPr>
          <p:nvPr>
            <p:ph type="title" idx="4294967295"/>
          </p:nvPr>
        </p:nvSpPr>
        <p:spPr>
          <a:xfrm>
            <a:off x="0" y="228600"/>
            <a:ext cx="9144000" cy="1905000"/>
          </a:xfrm>
        </p:spPr>
        <p:txBody>
          <a:bodyPr/>
          <a:lstStyle/>
          <a:p>
            <a:r>
              <a:rPr lang="en-US" altLang="zh-CN" dirty="0">
                <a:solidFill>
                  <a:srgbClr val="C00000"/>
                </a:solidFill>
              </a:rPr>
              <a:t>2. Dietary poly- and disaccharides are hydrolyzed to monosaccharides in the digestive system</a:t>
            </a:r>
          </a:p>
        </p:txBody>
      </p:sp>
      <p:sp>
        <p:nvSpPr>
          <p:cNvPr id="403459" name="Rectangle 3">
            <a:extLst>
              <a:ext uri="{FF2B5EF4-FFF2-40B4-BE49-F238E27FC236}">
                <a16:creationId xmlns:a16="http://schemas.microsoft.com/office/drawing/2014/main" id="{767391DC-F6D4-4990-9E3A-EB448E704524}"/>
              </a:ext>
            </a:extLst>
          </p:cNvPr>
          <p:cNvSpPr>
            <a:spLocks noGrp="1" noChangeArrowheads="1"/>
          </p:cNvSpPr>
          <p:nvPr>
            <p:ph type="body" idx="4294967295"/>
          </p:nvPr>
        </p:nvSpPr>
        <p:spPr>
          <a:xfrm>
            <a:off x="0" y="2514600"/>
            <a:ext cx="9144000" cy="4114800"/>
          </a:xfrm>
        </p:spPr>
        <p:txBody>
          <a:bodyPr/>
          <a:lstStyle/>
          <a:p>
            <a:r>
              <a:rPr lang="en-US" altLang="zh-CN" sz="3600" dirty="0"/>
              <a:t>Salivary </a:t>
            </a:r>
            <a:r>
              <a:rPr lang="en-US" altLang="zh-CN" sz="3600" dirty="0">
                <a:solidFill>
                  <a:srgbClr val="0070C0"/>
                </a:solidFill>
                <a:latin typeface="Symbol" panose="05050102010706020507" pitchFamily="18" charset="2"/>
              </a:rPr>
              <a:t>a</a:t>
            </a:r>
            <a:r>
              <a:rPr lang="en-US" altLang="zh-CN" sz="3600" dirty="0">
                <a:solidFill>
                  <a:srgbClr val="0070C0"/>
                </a:solidFill>
              </a:rPr>
              <a:t>-amylase </a:t>
            </a:r>
            <a:r>
              <a:rPr lang="en-US" altLang="zh-CN" sz="3600" dirty="0"/>
              <a:t>(</a:t>
            </a:r>
            <a:r>
              <a:rPr lang="en-US" altLang="zh-CN" sz="3600" dirty="0">
                <a:latin typeface="Symbol" panose="05050102010706020507" pitchFamily="18" charset="2"/>
              </a:rPr>
              <a:t>a</a:t>
            </a:r>
            <a:r>
              <a:rPr lang="en-US" altLang="zh-CN" sz="3600" dirty="0"/>
              <a:t>-</a:t>
            </a:r>
            <a:r>
              <a:rPr lang="zh-CN" altLang="en-US" sz="3600" dirty="0">
                <a:ea typeface="隶书" panose="02010509060101010101" pitchFamily="49" charset="-122"/>
              </a:rPr>
              <a:t>淀粉酶</a:t>
            </a:r>
            <a:r>
              <a:rPr lang="en-US" altLang="zh-CN" sz="3600" dirty="0"/>
              <a:t>) in the mouth hydrolyzes starch (glycogen) into short polysaccharides or </a:t>
            </a:r>
            <a:r>
              <a:rPr lang="en-US" altLang="zh-CN" sz="3600" dirty="0" err="1"/>
              <a:t>oligosacchrides</a:t>
            </a:r>
            <a:r>
              <a:rPr lang="en-US" altLang="zh-CN" sz="3600" dirty="0"/>
              <a:t>.</a:t>
            </a:r>
          </a:p>
          <a:p>
            <a:r>
              <a:rPr lang="en-US" altLang="zh-CN" sz="3600" dirty="0"/>
              <a:t>Specific enzymes (e.g., lactase, </a:t>
            </a:r>
            <a:r>
              <a:rPr lang="en-US" altLang="zh-CN" sz="3600" dirty="0">
                <a:solidFill>
                  <a:srgbClr val="FF0000"/>
                </a:solidFill>
              </a:rPr>
              <a:t>sucrase</a:t>
            </a:r>
            <a:r>
              <a:rPr lang="en-US" altLang="zh-CN" sz="3600" dirty="0"/>
              <a:t>, </a:t>
            </a:r>
            <a:r>
              <a:rPr lang="en-US" altLang="zh-CN" sz="3600" dirty="0" err="1"/>
              <a:t>maltase,etc</a:t>
            </a:r>
            <a:r>
              <a:rPr lang="en-US" altLang="zh-CN" sz="3600" dirty="0"/>
              <a:t>.) finally hydrolyze all disaccharides into monosaccharides.</a:t>
            </a:r>
          </a:p>
        </p:txBody>
      </p:sp>
    </p:spTree>
    <p:extLst>
      <p:ext uri="{BB962C8B-B14F-4D97-AF65-F5344CB8AC3E}">
        <p14:creationId xmlns:p14="http://schemas.microsoft.com/office/powerpoint/2010/main" val="378094767"/>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2" name="Text Box 2">
            <a:extLst>
              <a:ext uri="{FF2B5EF4-FFF2-40B4-BE49-F238E27FC236}">
                <a16:creationId xmlns:a16="http://schemas.microsoft.com/office/drawing/2014/main" id="{0FD94968-6BE4-4117-BA79-756811C0A117}"/>
              </a:ext>
            </a:extLst>
          </p:cNvPr>
          <p:cNvSpPr txBox="1">
            <a:spLocks noChangeArrowheads="1"/>
          </p:cNvSpPr>
          <p:nvPr/>
        </p:nvSpPr>
        <p:spPr bwMode="auto">
          <a:xfrm>
            <a:off x="304800" y="228600"/>
            <a:ext cx="8229600"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pPr>
            <a:r>
              <a:rPr lang="en-US" altLang="zh-CN" sz="4400" dirty="0">
                <a:solidFill>
                  <a:srgbClr val="C00000"/>
                </a:solidFill>
              </a:rPr>
              <a:t>3.</a:t>
            </a:r>
            <a:r>
              <a:rPr lang="en-US" altLang="zh-CN" sz="4000" b="1" dirty="0">
                <a:solidFill>
                  <a:srgbClr val="C00000"/>
                </a:solidFill>
              </a:rPr>
              <a:t> </a:t>
            </a:r>
            <a:r>
              <a:rPr lang="en-US" altLang="zh-CN" sz="4400" dirty="0">
                <a:solidFill>
                  <a:srgbClr val="C00000"/>
                </a:solidFill>
              </a:rPr>
              <a:t>Biosynthesis of glycogen, starch, and sucrose</a:t>
            </a:r>
          </a:p>
        </p:txBody>
      </p:sp>
      <p:sp>
        <p:nvSpPr>
          <p:cNvPr id="404483" name="Text Box 3">
            <a:extLst>
              <a:ext uri="{FF2B5EF4-FFF2-40B4-BE49-F238E27FC236}">
                <a16:creationId xmlns:a16="http://schemas.microsoft.com/office/drawing/2014/main" id="{286CB306-D201-4766-B0B7-80DE23D2A518}"/>
              </a:ext>
            </a:extLst>
          </p:cNvPr>
          <p:cNvSpPr txBox="1">
            <a:spLocks noChangeArrowheads="1"/>
          </p:cNvSpPr>
          <p:nvPr/>
        </p:nvSpPr>
        <p:spPr bwMode="auto">
          <a:xfrm>
            <a:off x="381000" y="2057400"/>
            <a:ext cx="8763000" cy="4371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buFontTx/>
              <a:buChar char="•"/>
            </a:pPr>
            <a:r>
              <a:rPr lang="en-US" altLang="zh-CN" sz="3600" dirty="0">
                <a:latin typeface="Arial" panose="020B0604020202020204" pitchFamily="34" charset="0"/>
              </a:rPr>
              <a:t>Hexoses are converted to sugar nucleotides before being polymerized</a:t>
            </a:r>
          </a:p>
          <a:p>
            <a:pPr eaLnBrk="1" hangingPunct="1">
              <a:lnSpc>
                <a:spcPct val="90000"/>
              </a:lnSpc>
              <a:spcBef>
                <a:spcPct val="20000"/>
              </a:spcBef>
              <a:buSzPct val="85000"/>
              <a:buFontTx/>
              <a:buBlip>
                <a:blip r:embed="rId2"/>
              </a:buBlip>
            </a:pPr>
            <a:r>
              <a:rPr lang="en-US" altLang="zh-CN" sz="3600" dirty="0">
                <a:latin typeface="Arial" panose="020B0604020202020204" pitchFamily="34" charset="0"/>
              </a:rPr>
              <a:t>Hexose nucleotides are common precursors for carbohydrate transformation and polymerization!</a:t>
            </a:r>
          </a:p>
          <a:p>
            <a:pPr eaLnBrk="1" hangingPunct="1">
              <a:lnSpc>
                <a:spcPct val="90000"/>
              </a:lnSpc>
              <a:spcBef>
                <a:spcPct val="20000"/>
              </a:spcBef>
              <a:buSzPct val="85000"/>
              <a:buFontTx/>
              <a:buBlip>
                <a:blip r:embed="rId2"/>
              </a:buBlip>
            </a:pPr>
            <a:r>
              <a:rPr lang="en-US" altLang="zh-CN" sz="3600" dirty="0">
                <a:latin typeface="Arial" panose="020B0604020202020204" pitchFamily="34" charset="0"/>
              </a:rPr>
              <a:t>A hexose nucleotides is formed via a condensation reaction occurring between a NTP and a hexose 1-phosphate.</a:t>
            </a:r>
          </a:p>
        </p:txBody>
      </p:sp>
    </p:spTree>
    <p:extLst>
      <p:ext uri="{BB962C8B-B14F-4D97-AF65-F5344CB8AC3E}">
        <p14:creationId xmlns:p14="http://schemas.microsoft.com/office/powerpoint/2010/main" val="2478632010"/>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5506" name="Picture 2">
            <a:extLst>
              <a:ext uri="{FF2B5EF4-FFF2-40B4-BE49-F238E27FC236}">
                <a16:creationId xmlns:a16="http://schemas.microsoft.com/office/drawing/2014/main" id="{6AAD93BF-C6C1-48A9-867F-2035E64A79B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52600" y="127000"/>
            <a:ext cx="5334000" cy="5235575"/>
          </a:xfrm>
          <a:prstGeom prst="rect">
            <a:avLst/>
          </a:prstGeom>
          <a:noFill/>
          <a:extLst>
            <a:ext uri="{909E8E84-426E-40DD-AFC4-6F175D3DCCD1}">
              <a14:hiddenFill xmlns:a14="http://schemas.microsoft.com/office/drawing/2010/main">
                <a:solidFill>
                  <a:srgbClr val="FFFFFF"/>
                </a:solidFill>
              </a14:hiddenFill>
            </a:ext>
          </a:extLst>
        </p:spPr>
      </p:pic>
      <p:sp>
        <p:nvSpPr>
          <p:cNvPr id="405507" name="Rectangle 3">
            <a:extLst>
              <a:ext uri="{FF2B5EF4-FFF2-40B4-BE49-F238E27FC236}">
                <a16:creationId xmlns:a16="http://schemas.microsoft.com/office/drawing/2014/main" id="{E7B568D2-824F-4B5D-98EF-56D191C99842}"/>
              </a:ext>
            </a:extLst>
          </p:cNvPr>
          <p:cNvSpPr>
            <a:spLocks noChangeArrowheads="1"/>
          </p:cNvSpPr>
          <p:nvPr/>
        </p:nvSpPr>
        <p:spPr bwMode="auto">
          <a:xfrm>
            <a:off x="211561" y="5229200"/>
            <a:ext cx="8915400" cy="103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altLang="zh-CN" sz="3100" dirty="0">
                <a:solidFill>
                  <a:srgbClr val="0070C0"/>
                </a:solidFill>
                <a:latin typeface="Arial" panose="020B0604020202020204" pitchFamily="34" charset="0"/>
              </a:rPr>
              <a:t>Sugar nucleotides were found to be the </a:t>
            </a:r>
            <a:r>
              <a:rPr lang="en-US" altLang="zh-CN" sz="3000" dirty="0">
                <a:solidFill>
                  <a:srgbClr val="0070C0"/>
                </a:solidFill>
                <a:latin typeface="Arial" panose="020B0604020202020204" pitchFamily="34" charset="0"/>
              </a:rPr>
              <a:t>activated </a:t>
            </a:r>
            <a:r>
              <a:rPr lang="en-US" altLang="zh-CN" sz="3100" dirty="0">
                <a:solidFill>
                  <a:srgbClr val="0070C0"/>
                </a:solidFill>
                <a:latin typeface="Arial" panose="020B0604020202020204" pitchFamily="34" charset="0"/>
              </a:rPr>
              <a:t>forms of sugars participating in biosynthesis.</a:t>
            </a:r>
          </a:p>
        </p:txBody>
      </p:sp>
    </p:spTree>
    <p:extLst>
      <p:ext uri="{BB962C8B-B14F-4D97-AF65-F5344CB8AC3E}">
        <p14:creationId xmlns:p14="http://schemas.microsoft.com/office/powerpoint/2010/main" val="2636611858"/>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6530" name="Picture 2" descr="2">
            <a:extLst>
              <a:ext uri="{FF2B5EF4-FFF2-40B4-BE49-F238E27FC236}">
                <a16:creationId xmlns:a16="http://schemas.microsoft.com/office/drawing/2014/main" id="{A6E3DB6E-7EDA-47D8-81B5-74D3341E30B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4400" y="130175"/>
            <a:ext cx="7696200" cy="6584950"/>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41682DD1-EA82-FFC4-45D6-7A306D8D07A4}"/>
              </a:ext>
            </a:extLst>
          </p:cNvPr>
          <p:cNvSpPr txBox="1"/>
          <p:nvPr/>
        </p:nvSpPr>
        <p:spPr>
          <a:xfrm>
            <a:off x="323528" y="1412776"/>
            <a:ext cx="1512168" cy="338554"/>
          </a:xfrm>
          <a:prstGeom prst="rect">
            <a:avLst/>
          </a:prstGeom>
          <a:noFill/>
        </p:spPr>
        <p:txBody>
          <a:bodyPr wrap="square">
            <a:spAutoFit/>
          </a:bodyPr>
          <a:lstStyle/>
          <a:p>
            <a:r>
              <a:rPr lang="en-US" altLang="zh-CN" sz="1600" dirty="0"/>
              <a:t>Glucose-1-P</a:t>
            </a:r>
            <a:endParaRPr lang="zh-CN" altLang="en-US" sz="1600" dirty="0"/>
          </a:p>
        </p:txBody>
      </p:sp>
    </p:spTree>
    <p:extLst>
      <p:ext uri="{BB962C8B-B14F-4D97-AF65-F5344CB8AC3E}">
        <p14:creationId xmlns:p14="http://schemas.microsoft.com/office/powerpoint/2010/main" val="4177405326"/>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554" name="Rectangle 2">
            <a:extLst>
              <a:ext uri="{FF2B5EF4-FFF2-40B4-BE49-F238E27FC236}">
                <a16:creationId xmlns:a16="http://schemas.microsoft.com/office/drawing/2014/main" id="{DA401751-3D27-4DC6-8C02-EBFD40473960}"/>
              </a:ext>
            </a:extLst>
          </p:cNvPr>
          <p:cNvSpPr>
            <a:spLocks noChangeArrowheads="1"/>
          </p:cNvSpPr>
          <p:nvPr/>
        </p:nvSpPr>
        <p:spPr bwMode="auto">
          <a:xfrm>
            <a:off x="228600" y="762000"/>
            <a:ext cx="8915400" cy="2289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buFontTx/>
              <a:buChar char="•"/>
            </a:pPr>
            <a:r>
              <a:rPr lang="en-US" altLang="zh-CN" sz="3600" dirty="0">
                <a:latin typeface="Arial" panose="020B0604020202020204" pitchFamily="34" charset="0"/>
              </a:rPr>
              <a:t>A sugar nucleotide is formed through a</a:t>
            </a:r>
          </a:p>
          <a:p>
            <a:pPr eaLnBrk="1" hangingPunct="1"/>
            <a:r>
              <a:rPr lang="en-US" altLang="zh-CN" sz="3600" dirty="0">
                <a:latin typeface="Arial" panose="020B0604020202020204" pitchFamily="34" charset="0"/>
              </a:rPr>
              <a:t>condensation reaction between a NTP</a:t>
            </a:r>
          </a:p>
          <a:p>
            <a:pPr eaLnBrk="1" hangingPunct="1"/>
            <a:r>
              <a:rPr lang="en-US" altLang="zh-CN" sz="3600" dirty="0">
                <a:latin typeface="Arial" panose="020B0604020202020204" pitchFamily="34" charset="0"/>
              </a:rPr>
              <a:t>and a sugar phosphate.</a:t>
            </a:r>
          </a:p>
          <a:p>
            <a:pPr eaLnBrk="1" hangingPunct="1"/>
            <a:endParaRPr lang="en-US" altLang="zh-CN" sz="3600" dirty="0">
              <a:latin typeface="Arial" panose="020B0604020202020204" pitchFamily="34" charset="0"/>
            </a:endParaRPr>
          </a:p>
        </p:txBody>
      </p:sp>
      <p:sp>
        <p:nvSpPr>
          <p:cNvPr id="407555" name="Text Box 3">
            <a:extLst>
              <a:ext uri="{FF2B5EF4-FFF2-40B4-BE49-F238E27FC236}">
                <a16:creationId xmlns:a16="http://schemas.microsoft.com/office/drawing/2014/main" id="{CE9E5F83-8F1A-4B11-A764-5682A3EF0C23}"/>
              </a:ext>
            </a:extLst>
          </p:cNvPr>
          <p:cNvSpPr txBox="1">
            <a:spLocks noChangeArrowheads="1"/>
          </p:cNvSpPr>
          <p:nvPr/>
        </p:nvSpPr>
        <p:spPr bwMode="auto">
          <a:xfrm>
            <a:off x="0" y="3124200"/>
            <a:ext cx="9144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zh-CN" sz="3600" dirty="0">
                <a:latin typeface="Arial" panose="020B0604020202020204" pitchFamily="34" charset="0"/>
              </a:rPr>
              <a:t>Glucose-1-P + UTP      UDP-glucose  +  </a:t>
            </a:r>
            <a:r>
              <a:rPr lang="en-US" altLang="zh-CN" sz="3600" dirty="0" err="1">
                <a:latin typeface="Arial" panose="020B0604020202020204" pitchFamily="34" charset="0"/>
              </a:rPr>
              <a:t>PPi</a:t>
            </a:r>
            <a:endParaRPr lang="en-US" altLang="zh-CN" sz="3600" dirty="0">
              <a:latin typeface="Arial" panose="020B0604020202020204" pitchFamily="34" charset="0"/>
            </a:endParaRPr>
          </a:p>
        </p:txBody>
      </p:sp>
      <p:sp>
        <p:nvSpPr>
          <p:cNvPr id="407556" name="Line 4">
            <a:extLst>
              <a:ext uri="{FF2B5EF4-FFF2-40B4-BE49-F238E27FC236}">
                <a16:creationId xmlns:a16="http://schemas.microsoft.com/office/drawing/2014/main" id="{8B5EF440-7329-4815-AD4B-3E6547E97040}"/>
              </a:ext>
            </a:extLst>
          </p:cNvPr>
          <p:cNvSpPr>
            <a:spLocks noChangeShapeType="1"/>
          </p:cNvSpPr>
          <p:nvPr/>
        </p:nvSpPr>
        <p:spPr bwMode="auto">
          <a:xfrm>
            <a:off x="4114800" y="3429000"/>
            <a:ext cx="609600" cy="0"/>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Tree>
    <p:extLst>
      <p:ext uri="{BB962C8B-B14F-4D97-AF65-F5344CB8AC3E}">
        <p14:creationId xmlns:p14="http://schemas.microsoft.com/office/powerpoint/2010/main" val="202557875"/>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8578" name="Picture 2" descr="leloir">
            <a:extLst>
              <a:ext uri="{FF2B5EF4-FFF2-40B4-BE49-F238E27FC236}">
                <a16:creationId xmlns:a16="http://schemas.microsoft.com/office/drawing/2014/main" id="{BA3E5515-3998-4C55-81B9-9AD77CAB066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9144000" cy="68595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9969600"/>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2" name="Rectangle 2">
            <a:extLst>
              <a:ext uri="{FF2B5EF4-FFF2-40B4-BE49-F238E27FC236}">
                <a16:creationId xmlns:a16="http://schemas.microsoft.com/office/drawing/2014/main" id="{381C4193-A54C-4EA9-925D-FED369FCCFA8}"/>
              </a:ext>
            </a:extLst>
          </p:cNvPr>
          <p:cNvSpPr>
            <a:spLocks noGrp="1" noChangeArrowheads="1"/>
          </p:cNvSpPr>
          <p:nvPr>
            <p:ph type="title" idx="4294967295"/>
          </p:nvPr>
        </p:nvSpPr>
        <p:spPr>
          <a:xfrm>
            <a:off x="0" y="457200"/>
            <a:ext cx="9144000" cy="1311275"/>
          </a:xfrm>
        </p:spPr>
        <p:txBody>
          <a:bodyPr/>
          <a:lstStyle/>
          <a:p>
            <a:r>
              <a:rPr lang="en-US" altLang="zh-CN" sz="4000" b="1" dirty="0">
                <a:solidFill>
                  <a:srgbClr val="C00000"/>
                </a:solidFill>
              </a:rPr>
              <a:t>Glycogen is synthesized using UDP-glucose</a:t>
            </a:r>
          </a:p>
        </p:txBody>
      </p:sp>
      <p:sp>
        <p:nvSpPr>
          <p:cNvPr id="409603" name="Rectangle 3">
            <a:extLst>
              <a:ext uri="{FF2B5EF4-FFF2-40B4-BE49-F238E27FC236}">
                <a16:creationId xmlns:a16="http://schemas.microsoft.com/office/drawing/2014/main" id="{8EDAF685-F239-451C-A0EC-AC8E6235DD59}"/>
              </a:ext>
            </a:extLst>
          </p:cNvPr>
          <p:cNvSpPr>
            <a:spLocks noGrp="1" noChangeArrowheads="1"/>
          </p:cNvSpPr>
          <p:nvPr>
            <p:ph type="body" idx="4294967295"/>
          </p:nvPr>
        </p:nvSpPr>
        <p:spPr>
          <a:xfrm>
            <a:off x="0" y="2286000"/>
            <a:ext cx="9144000" cy="4114800"/>
          </a:xfrm>
        </p:spPr>
        <p:txBody>
          <a:bodyPr/>
          <a:lstStyle/>
          <a:p>
            <a:r>
              <a:rPr lang="en-US" altLang="zh-CN" sz="3600" dirty="0">
                <a:latin typeface="Arial" panose="020B0604020202020204" pitchFamily="34" charset="0"/>
              </a:rPr>
              <a:t>The glucose residue of UDP-Glucose is transferred to the nonreducing end of a primer or glycogen branch (of at least 4 glucose residues) to make a new a-1,4 glycosidic bond in a reaction catalyzed by </a:t>
            </a:r>
            <a:r>
              <a:rPr lang="en-US" altLang="zh-CN" sz="3600" dirty="0">
                <a:solidFill>
                  <a:srgbClr val="0070C0"/>
                </a:solidFill>
                <a:latin typeface="Arial" panose="020B0604020202020204" pitchFamily="34" charset="0"/>
              </a:rPr>
              <a:t>glycogen synthase</a:t>
            </a:r>
            <a:r>
              <a:rPr lang="en-US" altLang="zh-CN" sz="3600" dirty="0">
                <a:latin typeface="Arial" panose="020B0604020202020204" pitchFamily="34" charset="0"/>
              </a:rPr>
              <a:t>.</a:t>
            </a:r>
          </a:p>
        </p:txBody>
      </p:sp>
    </p:spTree>
    <p:extLst>
      <p:ext uri="{BB962C8B-B14F-4D97-AF65-F5344CB8AC3E}">
        <p14:creationId xmlns:p14="http://schemas.microsoft.com/office/powerpoint/2010/main" val="1487386834"/>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626" name="Picture 2">
            <a:extLst>
              <a:ext uri="{FF2B5EF4-FFF2-40B4-BE49-F238E27FC236}">
                <a16:creationId xmlns:a16="http://schemas.microsoft.com/office/drawing/2014/main" id="{25C0D149-A4BF-4062-88FC-1B391E92E32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8800" y="711200"/>
            <a:ext cx="8026400" cy="5435600"/>
          </a:xfrm>
          <a:prstGeom prst="rect">
            <a:avLst/>
          </a:prstGeom>
          <a:noFill/>
          <a:extLst>
            <a:ext uri="{909E8E84-426E-40DD-AFC4-6F175D3DCCD1}">
              <a14:hiddenFill xmlns:a14="http://schemas.microsoft.com/office/drawing/2010/main">
                <a:solidFill>
                  <a:srgbClr val="FFFFFF"/>
                </a:solidFill>
              </a14:hiddenFill>
            </a:ext>
          </a:extLst>
        </p:spPr>
      </p:pic>
      <p:cxnSp>
        <p:nvCxnSpPr>
          <p:cNvPr id="3" name="直接连接符 2">
            <a:extLst>
              <a:ext uri="{FF2B5EF4-FFF2-40B4-BE49-F238E27FC236}">
                <a16:creationId xmlns:a16="http://schemas.microsoft.com/office/drawing/2014/main" id="{98100141-601C-46EF-895E-A3A0A9F8AFC5}"/>
              </a:ext>
            </a:extLst>
          </p:cNvPr>
          <p:cNvCxnSpPr/>
          <p:nvPr/>
        </p:nvCxnSpPr>
        <p:spPr>
          <a:xfrm>
            <a:off x="5364088" y="2204864"/>
            <a:ext cx="2952328"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33B6BB7F-90FA-440B-927C-AA170D239F01}"/>
              </a:ext>
            </a:extLst>
          </p:cNvPr>
          <p:cNvSpPr txBox="1"/>
          <p:nvPr/>
        </p:nvSpPr>
        <p:spPr>
          <a:xfrm>
            <a:off x="6300192" y="1843715"/>
            <a:ext cx="1080120" cy="369332"/>
          </a:xfrm>
          <a:prstGeom prst="rect">
            <a:avLst/>
          </a:prstGeom>
          <a:noFill/>
        </p:spPr>
        <p:txBody>
          <a:bodyPr wrap="square" rtlCol="0">
            <a:spAutoFit/>
          </a:bodyPr>
          <a:lstStyle/>
          <a:p>
            <a:r>
              <a:rPr lang="en-US" altLang="zh-CN" dirty="0"/>
              <a:t>primer</a:t>
            </a:r>
            <a:endParaRPr lang="zh-CN" altLang="en-US" dirty="0"/>
          </a:p>
        </p:txBody>
      </p:sp>
    </p:spTree>
    <p:extLst>
      <p:ext uri="{BB962C8B-B14F-4D97-AF65-F5344CB8AC3E}">
        <p14:creationId xmlns:p14="http://schemas.microsoft.com/office/powerpoint/2010/main" val="3335428888"/>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50" name="Rectangle 2">
            <a:extLst>
              <a:ext uri="{FF2B5EF4-FFF2-40B4-BE49-F238E27FC236}">
                <a16:creationId xmlns:a16="http://schemas.microsoft.com/office/drawing/2014/main" id="{25FF7388-596C-4D62-892B-1EEDA5B55196}"/>
              </a:ext>
            </a:extLst>
          </p:cNvPr>
          <p:cNvSpPr>
            <a:spLocks noGrp="1" noChangeArrowheads="1"/>
          </p:cNvSpPr>
          <p:nvPr>
            <p:ph type="body" idx="4294967295"/>
          </p:nvPr>
        </p:nvSpPr>
        <p:spPr>
          <a:xfrm>
            <a:off x="228600" y="914400"/>
            <a:ext cx="8915400" cy="4114800"/>
          </a:xfrm>
        </p:spPr>
        <p:txBody>
          <a:bodyPr/>
          <a:lstStyle/>
          <a:p>
            <a:r>
              <a:rPr lang="en-US" altLang="zh-CN" sz="3600" dirty="0">
                <a:latin typeface="Arial" panose="020B0604020202020204" pitchFamily="34" charset="0"/>
              </a:rPr>
              <a:t>The formation of (a1</a:t>
            </a:r>
            <a:r>
              <a:rPr lang="en-US" altLang="zh-CN" sz="3600" dirty="0">
                <a:latin typeface="Arial" panose="020B0604020202020204" pitchFamily="34" charset="0"/>
                <a:sym typeface="Symbol" panose="05050102010706020507" pitchFamily="18" charset="2"/>
              </a:rPr>
              <a:t></a:t>
            </a:r>
            <a:r>
              <a:rPr lang="en-US" altLang="zh-CN" sz="3600" dirty="0">
                <a:latin typeface="Arial" panose="020B0604020202020204" pitchFamily="34" charset="0"/>
              </a:rPr>
              <a:t>6) branches of glycogen is catalyzed by glycosyl-(4</a:t>
            </a:r>
            <a:r>
              <a:rPr lang="en-US" altLang="zh-CN" sz="3600" dirty="0">
                <a:latin typeface="Arial" panose="020B0604020202020204" pitchFamily="34" charset="0"/>
                <a:sym typeface="Symbol" panose="05050102010706020507" pitchFamily="18" charset="2"/>
              </a:rPr>
              <a:t></a:t>
            </a:r>
            <a:r>
              <a:rPr lang="en-US" altLang="zh-CN" sz="3600" dirty="0">
                <a:latin typeface="Arial" panose="020B0604020202020204" pitchFamily="34" charset="0"/>
              </a:rPr>
              <a:t>6)-transferase: a terminal fragment of 6-7 residues is transferred from a branch having at least 11 residues to the C-6 hydroxyl group at a more interior position of the same or another glycogen chain.</a:t>
            </a:r>
          </a:p>
        </p:txBody>
      </p:sp>
    </p:spTree>
    <p:extLst>
      <p:ext uri="{BB962C8B-B14F-4D97-AF65-F5344CB8AC3E}">
        <p14:creationId xmlns:p14="http://schemas.microsoft.com/office/powerpoint/2010/main" val="2232882400"/>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2674" name="Picture 2">
            <a:extLst>
              <a:ext uri="{FF2B5EF4-FFF2-40B4-BE49-F238E27FC236}">
                <a16:creationId xmlns:a16="http://schemas.microsoft.com/office/drawing/2014/main" id="{E213AC7A-E468-4975-BA01-E6C8D6A01EE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600" y="762000"/>
            <a:ext cx="8890000" cy="2730500"/>
          </a:xfrm>
          <a:prstGeom prst="rect">
            <a:avLst/>
          </a:prstGeom>
          <a:noFill/>
          <a:extLst>
            <a:ext uri="{909E8E84-426E-40DD-AFC4-6F175D3DCCD1}">
              <a14:hiddenFill xmlns:a14="http://schemas.microsoft.com/office/drawing/2010/main">
                <a:solidFill>
                  <a:srgbClr val="FFFFFF"/>
                </a:solidFill>
              </a14:hiddenFill>
            </a:ext>
          </a:extLst>
        </p:spPr>
      </p:pic>
      <p:sp>
        <p:nvSpPr>
          <p:cNvPr id="412675" name="Rectangle 3">
            <a:extLst>
              <a:ext uri="{FF2B5EF4-FFF2-40B4-BE49-F238E27FC236}">
                <a16:creationId xmlns:a16="http://schemas.microsoft.com/office/drawing/2014/main" id="{6292212D-A6EE-4790-B418-457C8CA528BA}"/>
              </a:ext>
            </a:extLst>
          </p:cNvPr>
          <p:cNvSpPr>
            <a:spLocks noChangeArrowheads="1"/>
          </p:cNvSpPr>
          <p:nvPr/>
        </p:nvSpPr>
        <p:spPr bwMode="auto">
          <a:xfrm>
            <a:off x="304800" y="3657600"/>
            <a:ext cx="8153400"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altLang="zh-CN" sz="3200" b="1" dirty="0">
                <a:solidFill>
                  <a:srgbClr val="0070C0"/>
                </a:solidFill>
              </a:rPr>
              <a:t>A branching enzyme </a:t>
            </a:r>
            <a:r>
              <a:rPr lang="en-US" altLang="zh-CN" sz="3200" b="1" dirty="0"/>
              <a:t>catalyzes the</a:t>
            </a:r>
          </a:p>
          <a:p>
            <a:pPr eaLnBrk="1" hangingPunct="1"/>
            <a:r>
              <a:rPr lang="en-US" altLang="zh-CN" sz="3200" b="1" dirty="0"/>
              <a:t>transferring of a short stretch of </a:t>
            </a:r>
            <a:r>
              <a:rPr lang="en-US" altLang="zh-CN" sz="3200" b="1" dirty="0" err="1"/>
              <a:t>Glc</a:t>
            </a:r>
            <a:endParaRPr lang="en-US" altLang="zh-CN" sz="3200" b="1" dirty="0"/>
          </a:p>
          <a:p>
            <a:pPr eaLnBrk="1" hangingPunct="1"/>
            <a:r>
              <a:rPr lang="en-US" altLang="zh-CN" sz="3200" b="1" dirty="0"/>
              <a:t>residues from one nonreducing end</a:t>
            </a:r>
          </a:p>
          <a:p>
            <a:pPr eaLnBrk="1" hangingPunct="1"/>
            <a:r>
              <a:rPr lang="en-US" altLang="zh-CN" sz="3200" b="1" dirty="0"/>
              <a:t>to the interior of the glycogen to make </a:t>
            </a:r>
          </a:p>
          <a:p>
            <a:pPr eaLnBrk="1" hangingPunct="1"/>
            <a:r>
              <a:rPr lang="en-US" altLang="zh-CN" sz="3200" b="1" dirty="0"/>
              <a:t>an </a:t>
            </a:r>
            <a:r>
              <a:rPr lang="en-US" altLang="zh-CN" sz="3200" b="1" dirty="0">
                <a:latin typeface="Symbol" panose="05050102010706020507" pitchFamily="18" charset="2"/>
              </a:rPr>
              <a:t>a</a:t>
            </a:r>
            <a:r>
              <a:rPr lang="en-US" altLang="zh-CN" sz="3200" b="1" dirty="0"/>
              <a:t>1</a:t>
            </a:r>
            <a:r>
              <a:rPr lang="en-US" altLang="zh-CN" sz="3200" dirty="0">
                <a:sym typeface="Symbol" panose="05050102010706020507" pitchFamily="18" charset="2"/>
              </a:rPr>
              <a:t></a:t>
            </a:r>
            <a:r>
              <a:rPr lang="en-US" altLang="zh-CN" sz="3200" b="1" dirty="0"/>
              <a:t>6 linkage (thus a branch).</a:t>
            </a:r>
          </a:p>
        </p:txBody>
      </p:sp>
      <p:sp>
        <p:nvSpPr>
          <p:cNvPr id="2" name="文本框 1">
            <a:extLst>
              <a:ext uri="{FF2B5EF4-FFF2-40B4-BE49-F238E27FC236}">
                <a16:creationId xmlns:a16="http://schemas.microsoft.com/office/drawing/2014/main" id="{4553D50D-2CCD-4957-BB5A-C09B45115BB7}"/>
              </a:ext>
            </a:extLst>
          </p:cNvPr>
          <p:cNvSpPr txBox="1"/>
          <p:nvPr/>
        </p:nvSpPr>
        <p:spPr>
          <a:xfrm>
            <a:off x="3203848" y="897248"/>
            <a:ext cx="648072" cy="369332"/>
          </a:xfrm>
          <a:prstGeom prst="rect">
            <a:avLst/>
          </a:prstGeom>
          <a:noFill/>
        </p:spPr>
        <p:txBody>
          <a:bodyPr wrap="square" rtlCol="0">
            <a:spAutoFit/>
          </a:bodyPr>
          <a:lstStyle/>
          <a:p>
            <a:r>
              <a:rPr lang="en-US" altLang="zh-CN" dirty="0"/>
              <a:t>6-7</a:t>
            </a:r>
            <a:endParaRPr lang="zh-CN" altLang="en-US" dirty="0"/>
          </a:p>
        </p:txBody>
      </p:sp>
      <p:sp>
        <p:nvSpPr>
          <p:cNvPr id="4" name="文本框 3">
            <a:extLst>
              <a:ext uri="{FF2B5EF4-FFF2-40B4-BE49-F238E27FC236}">
                <a16:creationId xmlns:a16="http://schemas.microsoft.com/office/drawing/2014/main" id="{23AD8A3B-D930-484E-8E6A-D95245E024D8}"/>
              </a:ext>
            </a:extLst>
          </p:cNvPr>
          <p:cNvSpPr txBox="1"/>
          <p:nvPr/>
        </p:nvSpPr>
        <p:spPr>
          <a:xfrm>
            <a:off x="5148064" y="269318"/>
            <a:ext cx="1512168" cy="369332"/>
          </a:xfrm>
          <a:prstGeom prst="rect">
            <a:avLst/>
          </a:prstGeom>
          <a:noFill/>
        </p:spPr>
        <p:txBody>
          <a:bodyPr wrap="square" rtlCol="0">
            <a:spAutoFit/>
          </a:bodyPr>
          <a:lstStyle/>
          <a:p>
            <a:r>
              <a:rPr lang="en-US" altLang="zh-CN" dirty="0"/>
              <a:t>11&lt;</a:t>
            </a:r>
            <a:endParaRPr lang="zh-CN" altLang="en-US" dirty="0"/>
          </a:p>
        </p:txBody>
      </p:sp>
      <p:sp>
        <p:nvSpPr>
          <p:cNvPr id="5" name="右大括号 4">
            <a:extLst>
              <a:ext uri="{FF2B5EF4-FFF2-40B4-BE49-F238E27FC236}">
                <a16:creationId xmlns:a16="http://schemas.microsoft.com/office/drawing/2014/main" id="{87533837-1943-47CC-B531-CC7166A0D989}"/>
              </a:ext>
            </a:extLst>
          </p:cNvPr>
          <p:cNvSpPr/>
          <p:nvPr/>
        </p:nvSpPr>
        <p:spPr>
          <a:xfrm rot="16200000">
            <a:off x="5252031" y="-1355485"/>
            <a:ext cx="368134" cy="4176464"/>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8" name="直接连接符 7">
            <a:extLst>
              <a:ext uri="{FF2B5EF4-FFF2-40B4-BE49-F238E27FC236}">
                <a16:creationId xmlns:a16="http://schemas.microsoft.com/office/drawing/2014/main" id="{0D0CFE19-8FAF-4C0B-A4C6-E2FC8223092D}"/>
              </a:ext>
            </a:extLst>
          </p:cNvPr>
          <p:cNvCxnSpPr>
            <a:cxnSpLocks/>
          </p:cNvCxnSpPr>
          <p:nvPr/>
        </p:nvCxnSpPr>
        <p:spPr>
          <a:xfrm>
            <a:off x="304800" y="1196752"/>
            <a:ext cx="4555232" cy="0"/>
          </a:xfrm>
          <a:prstGeom prst="line">
            <a:avLst/>
          </a:prstGeom>
          <a:ln w="28575">
            <a:solidFill>
              <a:srgbClr val="C00000"/>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117327144"/>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3698" name="Picture 2">
            <a:extLst>
              <a:ext uri="{FF2B5EF4-FFF2-40B4-BE49-F238E27FC236}">
                <a16:creationId xmlns:a16="http://schemas.microsoft.com/office/drawing/2014/main" id="{ED424EB6-4A31-4EC3-9ED3-73A90485A41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10001" t="10001" r="10001" b="10001"/>
          <a:stretch>
            <a:fillRect/>
          </a:stretch>
        </p:blipFill>
        <p:spPr bwMode="auto">
          <a:xfrm>
            <a:off x="685800" y="457200"/>
            <a:ext cx="7924800" cy="594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70147022"/>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722" name="Rectangle 2">
            <a:extLst>
              <a:ext uri="{FF2B5EF4-FFF2-40B4-BE49-F238E27FC236}">
                <a16:creationId xmlns:a16="http://schemas.microsoft.com/office/drawing/2014/main" id="{92147276-5645-4472-8432-E3FB3731D269}"/>
              </a:ext>
            </a:extLst>
          </p:cNvPr>
          <p:cNvSpPr>
            <a:spLocks noGrp="1" noChangeArrowheads="1"/>
          </p:cNvSpPr>
          <p:nvPr>
            <p:ph type="title" idx="4294967295"/>
          </p:nvPr>
        </p:nvSpPr>
        <p:spPr>
          <a:xfrm>
            <a:off x="0" y="304800"/>
            <a:ext cx="9144000" cy="1371600"/>
          </a:xfrm>
        </p:spPr>
        <p:txBody>
          <a:bodyPr/>
          <a:lstStyle/>
          <a:p>
            <a:r>
              <a:rPr lang="en-US" altLang="zh-CN" sz="4000" b="1" dirty="0">
                <a:solidFill>
                  <a:srgbClr val="C00000"/>
                </a:solidFill>
              </a:rPr>
              <a:t>Starch</a:t>
            </a:r>
            <a:r>
              <a:rPr lang="en-US" altLang="zh-CN" sz="4000" b="1" dirty="0">
                <a:solidFill>
                  <a:srgbClr val="FFFF00"/>
                </a:solidFill>
              </a:rPr>
              <a:t> </a:t>
            </a:r>
            <a:r>
              <a:rPr lang="en-US" altLang="zh-CN" sz="4000" b="1" dirty="0">
                <a:solidFill>
                  <a:srgbClr val="C00000"/>
                </a:solidFill>
              </a:rPr>
              <a:t>synthesis in chloroplast stroma is similar to glycogen synthesis</a:t>
            </a:r>
            <a:r>
              <a:rPr lang="en-US" altLang="zh-CN" dirty="0">
                <a:solidFill>
                  <a:srgbClr val="C00000"/>
                </a:solidFill>
              </a:rPr>
              <a:t> </a:t>
            </a:r>
          </a:p>
        </p:txBody>
      </p:sp>
      <p:sp>
        <p:nvSpPr>
          <p:cNvPr id="414723" name="Rectangle 3">
            <a:extLst>
              <a:ext uri="{FF2B5EF4-FFF2-40B4-BE49-F238E27FC236}">
                <a16:creationId xmlns:a16="http://schemas.microsoft.com/office/drawing/2014/main" id="{72A69590-6DEE-4A8E-9A50-B56CDA9324DF}"/>
              </a:ext>
            </a:extLst>
          </p:cNvPr>
          <p:cNvSpPr>
            <a:spLocks noGrp="1" noChangeArrowheads="1"/>
          </p:cNvSpPr>
          <p:nvPr>
            <p:ph type="body" idx="4294967295"/>
          </p:nvPr>
        </p:nvSpPr>
        <p:spPr>
          <a:xfrm>
            <a:off x="0" y="1905000"/>
            <a:ext cx="9144000" cy="4114800"/>
          </a:xfrm>
        </p:spPr>
        <p:txBody>
          <a:bodyPr/>
          <a:lstStyle/>
          <a:p>
            <a:r>
              <a:rPr lang="en-US" altLang="zh-CN" dirty="0">
                <a:latin typeface="Arial" panose="020B0604020202020204" pitchFamily="34" charset="0"/>
              </a:rPr>
              <a:t>But ADP-glucose is used as the precursor.</a:t>
            </a:r>
          </a:p>
          <a:p>
            <a:r>
              <a:rPr lang="en-US" altLang="zh-CN" dirty="0">
                <a:solidFill>
                  <a:srgbClr val="0070C0"/>
                </a:solidFill>
                <a:latin typeface="Arial" panose="020B0604020202020204" pitchFamily="34" charset="0"/>
              </a:rPr>
              <a:t>Starch synthase </a:t>
            </a:r>
            <a:r>
              <a:rPr lang="en-US" altLang="zh-CN" dirty="0">
                <a:latin typeface="Arial" panose="020B0604020202020204" pitchFamily="34" charset="0"/>
              </a:rPr>
              <a:t>also transfers the glucose unit to the nonreducing end of a preexisting primer (form amylose </a:t>
            </a:r>
            <a:r>
              <a:rPr lang="zh-CN" altLang="en-US" b="1" dirty="0">
                <a:solidFill>
                  <a:srgbClr val="0070C0"/>
                </a:solidFill>
                <a:latin typeface="Arial" panose="020B0604020202020204" pitchFamily="34" charset="0"/>
              </a:rPr>
              <a:t>直链淀粉</a:t>
            </a:r>
            <a:r>
              <a:rPr lang="en-US" altLang="zh-CN" dirty="0">
                <a:latin typeface="Arial" panose="020B0604020202020204" pitchFamily="34" charset="0"/>
              </a:rPr>
              <a:t>)</a:t>
            </a:r>
          </a:p>
          <a:p>
            <a:r>
              <a:rPr lang="en-US" altLang="zh-CN" dirty="0">
                <a:latin typeface="Arial" panose="020B0604020202020204" pitchFamily="34" charset="0"/>
              </a:rPr>
              <a:t>Branches in amylopectin (</a:t>
            </a:r>
            <a:r>
              <a:rPr lang="zh-CN" altLang="en-US" b="1" dirty="0">
                <a:solidFill>
                  <a:srgbClr val="0070C0"/>
                </a:solidFill>
                <a:latin typeface="Arial" panose="020B0604020202020204" pitchFamily="34" charset="0"/>
              </a:rPr>
              <a:t>支链淀粉</a:t>
            </a:r>
            <a:r>
              <a:rPr lang="en-US" altLang="zh-CN" dirty="0">
                <a:latin typeface="Arial" panose="020B0604020202020204" pitchFamily="34" charset="0"/>
              </a:rPr>
              <a:t>) are synthesized using a similar </a:t>
            </a:r>
            <a:r>
              <a:rPr lang="en-US" altLang="zh-CN" dirty="0">
                <a:solidFill>
                  <a:srgbClr val="0070C0"/>
                </a:solidFill>
                <a:latin typeface="Arial" panose="020B0604020202020204" pitchFamily="34" charset="0"/>
              </a:rPr>
              <a:t>branching enzyme</a:t>
            </a:r>
            <a:r>
              <a:rPr lang="en-US" altLang="zh-CN" dirty="0">
                <a:latin typeface="Arial" panose="020B0604020202020204" pitchFamily="34" charset="0"/>
              </a:rPr>
              <a:t>.</a:t>
            </a:r>
          </a:p>
        </p:txBody>
      </p:sp>
    </p:spTree>
    <p:extLst>
      <p:ext uri="{BB962C8B-B14F-4D97-AF65-F5344CB8AC3E}">
        <p14:creationId xmlns:p14="http://schemas.microsoft.com/office/powerpoint/2010/main" val="1991464475"/>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746" name="Line 2">
            <a:extLst>
              <a:ext uri="{FF2B5EF4-FFF2-40B4-BE49-F238E27FC236}">
                <a16:creationId xmlns:a16="http://schemas.microsoft.com/office/drawing/2014/main" id="{183AC976-8CA8-4330-B5A9-3158472D852D}"/>
              </a:ext>
            </a:extLst>
          </p:cNvPr>
          <p:cNvSpPr>
            <a:spLocks noChangeShapeType="1"/>
          </p:cNvSpPr>
          <p:nvPr/>
        </p:nvSpPr>
        <p:spPr bwMode="auto">
          <a:xfrm>
            <a:off x="3581400" y="4572000"/>
            <a:ext cx="0" cy="838200"/>
          </a:xfrm>
          <a:prstGeom prst="line">
            <a:avLst/>
          </a:prstGeom>
          <a:noFill/>
          <a:ln w="34925">
            <a:solidFill>
              <a:srgbClr val="00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pic>
        <p:nvPicPr>
          <p:cNvPr id="415747" name="Picture 3">
            <a:extLst>
              <a:ext uri="{FF2B5EF4-FFF2-40B4-BE49-F238E27FC236}">
                <a16:creationId xmlns:a16="http://schemas.microsoft.com/office/drawing/2014/main" id="{CD740B9E-2315-4CB9-ACE3-DD586B97505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0600" y="304800"/>
            <a:ext cx="6705600" cy="6402388"/>
          </a:xfrm>
          <a:prstGeom prst="rect">
            <a:avLst/>
          </a:prstGeom>
          <a:noFill/>
          <a:extLst>
            <a:ext uri="{909E8E84-426E-40DD-AFC4-6F175D3DCCD1}">
              <a14:hiddenFill xmlns:a14="http://schemas.microsoft.com/office/drawing/2010/main">
                <a:solidFill>
                  <a:srgbClr val="FFFFFF"/>
                </a:solidFill>
              </a14:hiddenFill>
            </a:ext>
          </a:extLst>
        </p:spPr>
      </p:pic>
      <p:cxnSp>
        <p:nvCxnSpPr>
          <p:cNvPr id="4" name="直接连接符 3">
            <a:extLst>
              <a:ext uri="{FF2B5EF4-FFF2-40B4-BE49-F238E27FC236}">
                <a16:creationId xmlns:a16="http://schemas.microsoft.com/office/drawing/2014/main" id="{9F5B92F8-0841-43B8-8893-C7DE7C6B5F8A}"/>
              </a:ext>
            </a:extLst>
          </p:cNvPr>
          <p:cNvCxnSpPr/>
          <p:nvPr/>
        </p:nvCxnSpPr>
        <p:spPr>
          <a:xfrm>
            <a:off x="4788024" y="2988769"/>
            <a:ext cx="2952328"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A66430D6-0EBE-4F59-8A8A-76BB72D8E530}"/>
              </a:ext>
            </a:extLst>
          </p:cNvPr>
          <p:cNvSpPr txBox="1"/>
          <p:nvPr/>
        </p:nvSpPr>
        <p:spPr>
          <a:xfrm>
            <a:off x="5724128" y="2627620"/>
            <a:ext cx="1080120" cy="369332"/>
          </a:xfrm>
          <a:prstGeom prst="rect">
            <a:avLst/>
          </a:prstGeom>
          <a:noFill/>
        </p:spPr>
        <p:txBody>
          <a:bodyPr wrap="square" rtlCol="0">
            <a:spAutoFit/>
          </a:bodyPr>
          <a:lstStyle/>
          <a:p>
            <a:r>
              <a:rPr lang="en-US" altLang="zh-CN" dirty="0"/>
              <a:t>primer</a:t>
            </a:r>
            <a:endParaRPr lang="zh-CN" altLang="en-US" dirty="0"/>
          </a:p>
        </p:txBody>
      </p:sp>
    </p:spTree>
    <p:extLst>
      <p:ext uri="{BB962C8B-B14F-4D97-AF65-F5344CB8AC3E}">
        <p14:creationId xmlns:p14="http://schemas.microsoft.com/office/powerpoint/2010/main" val="1478914224"/>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770" name="Rectangle 2">
            <a:extLst>
              <a:ext uri="{FF2B5EF4-FFF2-40B4-BE49-F238E27FC236}">
                <a16:creationId xmlns:a16="http://schemas.microsoft.com/office/drawing/2014/main" id="{9F283B70-FE39-4E3E-B1E5-8D788954E821}"/>
              </a:ext>
            </a:extLst>
          </p:cNvPr>
          <p:cNvSpPr>
            <a:spLocks noGrp="1" noChangeArrowheads="1"/>
          </p:cNvSpPr>
          <p:nvPr>
            <p:ph type="title" idx="4294967295"/>
          </p:nvPr>
        </p:nvSpPr>
        <p:spPr>
          <a:xfrm>
            <a:off x="0" y="533400"/>
            <a:ext cx="9144000" cy="1920875"/>
          </a:xfrm>
        </p:spPr>
        <p:txBody>
          <a:bodyPr/>
          <a:lstStyle/>
          <a:p>
            <a:r>
              <a:rPr lang="en-US" altLang="zh-CN" sz="4000" b="1" dirty="0">
                <a:solidFill>
                  <a:srgbClr val="C00000"/>
                </a:solidFill>
              </a:rPr>
              <a:t>Sucrose is synthesized from UDP-glucose and fructose 6-phosphate in the cytosol of plant cells</a:t>
            </a:r>
          </a:p>
        </p:txBody>
      </p:sp>
      <p:sp>
        <p:nvSpPr>
          <p:cNvPr id="416771" name="Rectangle 3">
            <a:extLst>
              <a:ext uri="{FF2B5EF4-FFF2-40B4-BE49-F238E27FC236}">
                <a16:creationId xmlns:a16="http://schemas.microsoft.com/office/drawing/2014/main" id="{3748D903-8B0C-4231-8663-09F0916BF4C5}"/>
              </a:ext>
            </a:extLst>
          </p:cNvPr>
          <p:cNvSpPr>
            <a:spLocks noGrp="1" noChangeArrowheads="1"/>
          </p:cNvSpPr>
          <p:nvPr>
            <p:ph type="body" idx="4294967295"/>
          </p:nvPr>
        </p:nvSpPr>
        <p:spPr>
          <a:xfrm>
            <a:off x="0" y="3200400"/>
            <a:ext cx="9144000" cy="2590800"/>
          </a:xfrm>
        </p:spPr>
        <p:txBody>
          <a:bodyPr/>
          <a:lstStyle/>
          <a:p>
            <a:r>
              <a:rPr lang="en-US" altLang="zh-CN" dirty="0">
                <a:latin typeface="Arial" panose="020B0604020202020204" pitchFamily="34" charset="0"/>
              </a:rPr>
              <a:t>Sucrose 6-phosphate is first synthesized by the catalysis of </a:t>
            </a:r>
            <a:r>
              <a:rPr lang="en-US" altLang="zh-CN" dirty="0">
                <a:solidFill>
                  <a:srgbClr val="0070C0"/>
                </a:solidFill>
                <a:latin typeface="Arial" panose="020B0604020202020204" pitchFamily="34" charset="0"/>
              </a:rPr>
              <a:t>sucrose 6-phosphate synthase</a:t>
            </a:r>
            <a:r>
              <a:rPr lang="en-US" altLang="zh-CN" dirty="0">
                <a:latin typeface="Arial" panose="020B0604020202020204" pitchFamily="34" charset="0"/>
              </a:rPr>
              <a:t>.</a:t>
            </a:r>
          </a:p>
          <a:p>
            <a:r>
              <a:rPr lang="en-US" altLang="zh-CN" dirty="0">
                <a:latin typeface="Arial" panose="020B0604020202020204" pitchFamily="34" charset="0"/>
              </a:rPr>
              <a:t>The phosphate is then removed in a reaction catalyzed by sucrose 6-phosphate phosphatase.</a:t>
            </a:r>
          </a:p>
        </p:txBody>
      </p:sp>
    </p:spTree>
    <p:extLst>
      <p:ext uri="{BB962C8B-B14F-4D97-AF65-F5344CB8AC3E}">
        <p14:creationId xmlns:p14="http://schemas.microsoft.com/office/powerpoint/2010/main" val="2154897451"/>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7794" name="Picture 2" descr="f20-17">
            <a:extLst>
              <a:ext uri="{FF2B5EF4-FFF2-40B4-BE49-F238E27FC236}">
                <a16:creationId xmlns:a16="http://schemas.microsoft.com/office/drawing/2014/main" id="{256B5BC7-758D-4EA0-9E3F-40978276F79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4937125" cy="6858000"/>
          </a:xfrm>
          <a:prstGeom prst="rect">
            <a:avLst/>
          </a:prstGeom>
          <a:noFill/>
          <a:extLst>
            <a:ext uri="{909E8E84-426E-40DD-AFC4-6F175D3DCCD1}">
              <a14:hiddenFill xmlns:a14="http://schemas.microsoft.com/office/drawing/2010/main">
                <a:solidFill>
                  <a:srgbClr val="FFFFFF"/>
                </a:solidFill>
              </a14:hiddenFill>
            </a:ext>
          </a:extLst>
        </p:spPr>
      </p:pic>
      <p:sp>
        <p:nvSpPr>
          <p:cNvPr id="417795" name="Rectangle 3">
            <a:extLst>
              <a:ext uri="{FF2B5EF4-FFF2-40B4-BE49-F238E27FC236}">
                <a16:creationId xmlns:a16="http://schemas.microsoft.com/office/drawing/2014/main" id="{9060BA12-434F-4F5B-96E5-6A7C3D23091E}"/>
              </a:ext>
            </a:extLst>
          </p:cNvPr>
          <p:cNvSpPr>
            <a:spLocks noChangeArrowheads="1"/>
          </p:cNvSpPr>
          <p:nvPr/>
        </p:nvSpPr>
        <p:spPr bwMode="auto">
          <a:xfrm>
            <a:off x="5029200" y="228600"/>
            <a:ext cx="3549370"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4000" b="1" dirty="0">
                <a:solidFill>
                  <a:srgbClr val="C00000"/>
                </a:solidFill>
              </a:rPr>
              <a:t>Sucrose is </a:t>
            </a:r>
          </a:p>
          <a:p>
            <a:pPr eaLnBrk="1" hangingPunct="1"/>
            <a:r>
              <a:rPr lang="en-US" altLang="zh-CN" sz="4000" b="1" dirty="0">
                <a:solidFill>
                  <a:srgbClr val="C00000"/>
                </a:solidFill>
              </a:rPr>
              <a:t>synthesized</a:t>
            </a:r>
          </a:p>
          <a:p>
            <a:pPr eaLnBrk="1" hangingPunct="1"/>
            <a:r>
              <a:rPr lang="en-US" altLang="zh-CN" sz="4000" b="1" dirty="0">
                <a:solidFill>
                  <a:srgbClr val="C00000"/>
                </a:solidFill>
              </a:rPr>
              <a:t>from UDP-</a:t>
            </a:r>
            <a:r>
              <a:rPr lang="en-US" altLang="zh-CN" sz="4000" b="1" dirty="0" err="1">
                <a:solidFill>
                  <a:srgbClr val="C00000"/>
                </a:solidFill>
              </a:rPr>
              <a:t>Glc</a:t>
            </a:r>
            <a:endParaRPr lang="en-US" altLang="zh-CN" sz="4000" b="1" dirty="0">
              <a:solidFill>
                <a:srgbClr val="C00000"/>
              </a:solidFill>
            </a:endParaRPr>
          </a:p>
          <a:p>
            <a:pPr eaLnBrk="1" hangingPunct="1"/>
            <a:r>
              <a:rPr lang="en-US" altLang="zh-CN" sz="4000" b="1" dirty="0">
                <a:solidFill>
                  <a:srgbClr val="C00000"/>
                </a:solidFill>
              </a:rPr>
              <a:t>and </a:t>
            </a:r>
            <a:r>
              <a:rPr lang="en-US" altLang="zh-CN" sz="4000" b="1" dirty="0" err="1">
                <a:solidFill>
                  <a:srgbClr val="C00000"/>
                </a:solidFill>
              </a:rPr>
              <a:t>Fru</a:t>
            </a:r>
            <a:r>
              <a:rPr lang="en-US" altLang="zh-CN" sz="4000" b="1" dirty="0">
                <a:solidFill>
                  <a:srgbClr val="C00000"/>
                </a:solidFill>
              </a:rPr>
              <a:t> 6-P</a:t>
            </a:r>
          </a:p>
        </p:txBody>
      </p:sp>
    </p:spTree>
    <p:extLst>
      <p:ext uri="{BB962C8B-B14F-4D97-AF65-F5344CB8AC3E}">
        <p14:creationId xmlns:p14="http://schemas.microsoft.com/office/powerpoint/2010/main" val="2078891427"/>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8" name="Rectangle 2">
            <a:extLst>
              <a:ext uri="{FF2B5EF4-FFF2-40B4-BE49-F238E27FC236}">
                <a16:creationId xmlns:a16="http://schemas.microsoft.com/office/drawing/2014/main" id="{DE46A566-4F60-4647-A1FC-4D88F64BAAC5}"/>
              </a:ext>
            </a:extLst>
          </p:cNvPr>
          <p:cNvSpPr>
            <a:spLocks noGrp="1" noChangeArrowheads="1"/>
          </p:cNvSpPr>
          <p:nvPr>
            <p:ph type="title" idx="4294967295"/>
          </p:nvPr>
        </p:nvSpPr>
        <p:spPr>
          <a:xfrm>
            <a:off x="0" y="1858963"/>
            <a:ext cx="9144000" cy="1311275"/>
          </a:xfrm>
        </p:spPr>
        <p:txBody>
          <a:bodyPr/>
          <a:lstStyle/>
          <a:p>
            <a:r>
              <a:rPr lang="en-US" altLang="zh-CN" sz="4000" b="1" dirty="0">
                <a:solidFill>
                  <a:srgbClr val="C00000"/>
                </a:solidFill>
              </a:rPr>
              <a:t>Carbohydrates can be synthesized from CO</a:t>
            </a:r>
            <a:r>
              <a:rPr lang="en-US" altLang="zh-CN" sz="4000" b="1" baseline="-25000" dirty="0">
                <a:solidFill>
                  <a:srgbClr val="C00000"/>
                </a:solidFill>
              </a:rPr>
              <a:t>2</a:t>
            </a:r>
            <a:r>
              <a:rPr lang="en-US" altLang="zh-CN" sz="4000" b="1" dirty="0">
                <a:solidFill>
                  <a:srgbClr val="C00000"/>
                </a:solidFill>
              </a:rPr>
              <a:t> in photosynthetic organisms</a:t>
            </a:r>
          </a:p>
        </p:txBody>
      </p:sp>
    </p:spTree>
    <p:extLst>
      <p:ext uri="{BB962C8B-B14F-4D97-AF65-F5344CB8AC3E}">
        <p14:creationId xmlns:p14="http://schemas.microsoft.com/office/powerpoint/2010/main" val="95704007"/>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42" name="Picture 2" descr="calvin">
            <a:extLst>
              <a:ext uri="{FF2B5EF4-FFF2-40B4-BE49-F238E27FC236}">
                <a16:creationId xmlns:a16="http://schemas.microsoft.com/office/drawing/2014/main" id="{FF70D003-E051-49C9-93C1-0AD64E3DA9F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9144000" cy="6473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7613681"/>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810D2CA2-3CE9-7156-4DB8-077F26671B36}"/>
              </a:ext>
            </a:extLst>
          </p:cNvPr>
          <p:cNvPicPr>
            <a:picLocks noChangeAspect="1"/>
          </p:cNvPicPr>
          <p:nvPr/>
        </p:nvPicPr>
        <p:blipFill>
          <a:blip r:embed="rId3"/>
          <a:stretch>
            <a:fillRect/>
          </a:stretch>
        </p:blipFill>
        <p:spPr>
          <a:xfrm>
            <a:off x="1043608" y="813039"/>
            <a:ext cx="6735760" cy="5574291"/>
          </a:xfrm>
          <a:prstGeom prst="rect">
            <a:avLst/>
          </a:prstGeom>
        </p:spPr>
      </p:pic>
      <p:sp>
        <p:nvSpPr>
          <p:cNvPr id="5" name="文本框 4">
            <a:extLst>
              <a:ext uri="{FF2B5EF4-FFF2-40B4-BE49-F238E27FC236}">
                <a16:creationId xmlns:a16="http://schemas.microsoft.com/office/drawing/2014/main" id="{AB7890EB-136F-D0EF-44D6-AB6B433E45E5}"/>
              </a:ext>
            </a:extLst>
          </p:cNvPr>
          <p:cNvSpPr txBox="1"/>
          <p:nvPr/>
        </p:nvSpPr>
        <p:spPr>
          <a:xfrm>
            <a:off x="443305" y="70560"/>
            <a:ext cx="8257389" cy="400110"/>
          </a:xfrm>
          <a:prstGeom prst="rect">
            <a:avLst/>
          </a:prstGeom>
          <a:noFill/>
        </p:spPr>
        <p:txBody>
          <a:bodyPr wrap="none" rtlCol="0">
            <a:spAutoFit/>
          </a:bodyPr>
          <a:lstStyle/>
          <a:p>
            <a:r>
              <a:rPr lang="en-US" altLang="zh-CN" sz="2000" b="1" dirty="0"/>
              <a:t>The three stages of CO2 assimilation in photosynthetic organisms</a:t>
            </a:r>
            <a:endParaRPr lang="zh-CN" altLang="en-US" sz="2000" b="1" dirty="0"/>
          </a:p>
        </p:txBody>
      </p:sp>
      <p:sp>
        <p:nvSpPr>
          <p:cNvPr id="2" name="椭圆 1">
            <a:extLst>
              <a:ext uri="{FF2B5EF4-FFF2-40B4-BE49-F238E27FC236}">
                <a16:creationId xmlns:a16="http://schemas.microsoft.com/office/drawing/2014/main" id="{A351CE9C-054D-13CB-DD69-5C69B7C5D559}"/>
              </a:ext>
            </a:extLst>
          </p:cNvPr>
          <p:cNvSpPr/>
          <p:nvPr/>
        </p:nvSpPr>
        <p:spPr>
          <a:xfrm>
            <a:off x="2195736" y="2628076"/>
            <a:ext cx="2088232" cy="194421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3459059271"/>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4B5EF92B-D512-8385-D57F-F6C3C21BE023}"/>
              </a:ext>
            </a:extLst>
          </p:cNvPr>
          <p:cNvPicPr>
            <a:picLocks noChangeAspect="1"/>
          </p:cNvPicPr>
          <p:nvPr/>
        </p:nvPicPr>
        <p:blipFill>
          <a:blip r:embed="rId3"/>
          <a:stretch>
            <a:fillRect/>
          </a:stretch>
        </p:blipFill>
        <p:spPr>
          <a:xfrm>
            <a:off x="872872" y="620688"/>
            <a:ext cx="7398256" cy="6101311"/>
          </a:xfrm>
          <a:prstGeom prst="rect">
            <a:avLst/>
          </a:prstGeom>
        </p:spPr>
      </p:pic>
      <p:sp>
        <p:nvSpPr>
          <p:cNvPr id="5" name="文本框 4">
            <a:extLst>
              <a:ext uri="{FF2B5EF4-FFF2-40B4-BE49-F238E27FC236}">
                <a16:creationId xmlns:a16="http://schemas.microsoft.com/office/drawing/2014/main" id="{0964A2FB-F7FF-1371-E449-5D2029F9969D}"/>
              </a:ext>
            </a:extLst>
          </p:cNvPr>
          <p:cNvSpPr txBox="1"/>
          <p:nvPr/>
        </p:nvSpPr>
        <p:spPr>
          <a:xfrm>
            <a:off x="1547664" y="136001"/>
            <a:ext cx="6264696" cy="461665"/>
          </a:xfrm>
          <a:prstGeom prst="rect">
            <a:avLst/>
          </a:prstGeom>
          <a:noFill/>
        </p:spPr>
        <p:txBody>
          <a:bodyPr wrap="square">
            <a:spAutoFit/>
          </a:bodyPr>
          <a:lstStyle/>
          <a:p>
            <a:r>
              <a:rPr lang="en-US" altLang="zh-CN" sz="2400" b="1" dirty="0"/>
              <a:t>Second stage of CO</a:t>
            </a:r>
            <a:r>
              <a:rPr lang="en-US" altLang="zh-CN" sz="2400" b="1" baseline="-25000" dirty="0"/>
              <a:t>2</a:t>
            </a:r>
            <a:r>
              <a:rPr lang="en-US" altLang="zh-CN" sz="2400" b="1" dirty="0"/>
              <a:t> assimilation. </a:t>
            </a:r>
            <a:endParaRPr lang="zh-CN" altLang="en-US" sz="2400" b="1" dirty="0"/>
          </a:p>
        </p:txBody>
      </p:sp>
      <p:sp>
        <p:nvSpPr>
          <p:cNvPr id="2" name="椭圆 1">
            <a:extLst>
              <a:ext uri="{FF2B5EF4-FFF2-40B4-BE49-F238E27FC236}">
                <a16:creationId xmlns:a16="http://schemas.microsoft.com/office/drawing/2014/main" id="{24FEF4B8-0FE4-FE49-970A-7D33105750E1}"/>
              </a:ext>
            </a:extLst>
          </p:cNvPr>
          <p:cNvSpPr/>
          <p:nvPr/>
        </p:nvSpPr>
        <p:spPr>
          <a:xfrm>
            <a:off x="5364088" y="2454300"/>
            <a:ext cx="1728192" cy="100811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3503529880"/>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9961A01B-4006-3361-C229-1CEB2AE15629}"/>
              </a:ext>
            </a:extLst>
          </p:cNvPr>
          <p:cNvPicPr>
            <a:picLocks noChangeAspect="1"/>
          </p:cNvPicPr>
          <p:nvPr/>
        </p:nvPicPr>
        <p:blipFill>
          <a:blip r:embed="rId3"/>
          <a:stretch>
            <a:fillRect/>
          </a:stretch>
        </p:blipFill>
        <p:spPr>
          <a:xfrm>
            <a:off x="1363385" y="0"/>
            <a:ext cx="6417229" cy="6858000"/>
          </a:xfrm>
          <a:prstGeom prst="rect">
            <a:avLst/>
          </a:prstGeom>
        </p:spPr>
      </p:pic>
      <p:sp>
        <p:nvSpPr>
          <p:cNvPr id="5" name="文本框 4">
            <a:extLst>
              <a:ext uri="{FF2B5EF4-FFF2-40B4-BE49-F238E27FC236}">
                <a16:creationId xmlns:a16="http://schemas.microsoft.com/office/drawing/2014/main" id="{53341B77-CA07-5EB2-8C45-93B847EB14AE}"/>
              </a:ext>
            </a:extLst>
          </p:cNvPr>
          <p:cNvSpPr txBox="1"/>
          <p:nvPr/>
        </p:nvSpPr>
        <p:spPr>
          <a:xfrm>
            <a:off x="5865657" y="260648"/>
            <a:ext cx="3829914" cy="830997"/>
          </a:xfrm>
          <a:prstGeom prst="rect">
            <a:avLst/>
          </a:prstGeom>
          <a:noFill/>
        </p:spPr>
        <p:txBody>
          <a:bodyPr wrap="square">
            <a:spAutoFit/>
          </a:bodyPr>
          <a:lstStyle/>
          <a:p>
            <a:r>
              <a:rPr lang="en-US" altLang="zh-CN" sz="2400" b="1" dirty="0"/>
              <a:t>Third stage </a:t>
            </a:r>
          </a:p>
          <a:p>
            <a:r>
              <a:rPr lang="en-US" altLang="zh-CN" sz="2400" b="1" dirty="0"/>
              <a:t>of CO</a:t>
            </a:r>
            <a:r>
              <a:rPr lang="en-US" altLang="zh-CN" sz="2400" b="1" baseline="-25000" dirty="0"/>
              <a:t>2</a:t>
            </a:r>
            <a:r>
              <a:rPr lang="en-US" altLang="zh-CN" sz="2400" b="1" dirty="0"/>
              <a:t> assimilation</a:t>
            </a:r>
            <a:endParaRPr lang="zh-CN" altLang="en-US" sz="2400" b="1" dirty="0"/>
          </a:p>
        </p:txBody>
      </p:sp>
      <p:sp>
        <p:nvSpPr>
          <p:cNvPr id="2" name="矩形: 圆角 1">
            <a:extLst>
              <a:ext uri="{FF2B5EF4-FFF2-40B4-BE49-F238E27FC236}">
                <a16:creationId xmlns:a16="http://schemas.microsoft.com/office/drawing/2014/main" id="{D61D824C-B54B-A49E-5F9F-634F507BD521}"/>
              </a:ext>
            </a:extLst>
          </p:cNvPr>
          <p:cNvSpPr/>
          <p:nvPr/>
        </p:nvSpPr>
        <p:spPr>
          <a:xfrm>
            <a:off x="3563888" y="764704"/>
            <a:ext cx="1584176" cy="432048"/>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15395253"/>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18175639-D94E-8421-ABF9-4437D01B5C09}"/>
              </a:ext>
            </a:extLst>
          </p:cNvPr>
          <p:cNvPicPr>
            <a:picLocks noChangeAspect="1"/>
          </p:cNvPicPr>
          <p:nvPr/>
        </p:nvPicPr>
        <p:blipFill>
          <a:blip r:embed="rId3"/>
          <a:stretch>
            <a:fillRect/>
          </a:stretch>
        </p:blipFill>
        <p:spPr>
          <a:xfrm>
            <a:off x="1173616" y="0"/>
            <a:ext cx="6796768" cy="6858000"/>
          </a:xfrm>
          <a:prstGeom prst="rect">
            <a:avLst/>
          </a:prstGeom>
        </p:spPr>
      </p:pic>
    </p:spTree>
    <p:extLst>
      <p:ext uri="{BB962C8B-B14F-4D97-AF65-F5344CB8AC3E}">
        <p14:creationId xmlns:p14="http://schemas.microsoft.com/office/powerpoint/2010/main" val="3147723222"/>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C4C93C82-7655-40B2-AD86-5E023BB4D312}"/>
              </a:ext>
            </a:extLst>
          </p:cNvPr>
          <p:cNvPicPr>
            <a:picLocks noChangeAspect="1"/>
          </p:cNvPicPr>
          <p:nvPr/>
        </p:nvPicPr>
        <p:blipFill>
          <a:blip r:embed="rId2" cstate="print">
            <a:extLst>
              <a:ext uri="{BEBA8EAE-BF5A-486C-A8C5-ECC9F3942E4B}">
                <a14:imgProps xmlns:a14="http://schemas.microsoft.com/office/drawing/2010/main">
                  <a14:imgLayer r:embed="rId3">
                    <a14:imgEffect>
                      <a14:colorTemperature colorTemp="11200"/>
                    </a14:imgEffect>
                  </a14:imgLayer>
                </a14:imgProps>
              </a:ext>
            </a:extLst>
          </a:blip>
          <a:stretch>
            <a:fillRect/>
          </a:stretch>
        </p:blipFill>
        <p:spPr>
          <a:xfrm>
            <a:off x="1989306" y="0"/>
            <a:ext cx="5165387" cy="6858000"/>
          </a:xfrm>
          <a:prstGeom prst="rect">
            <a:avLst/>
          </a:prstGeom>
        </p:spPr>
      </p:pic>
    </p:spTree>
    <p:extLst>
      <p:ext uri="{BB962C8B-B14F-4D97-AF65-F5344CB8AC3E}">
        <p14:creationId xmlns:p14="http://schemas.microsoft.com/office/powerpoint/2010/main" val="3258198955"/>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3DFC3423-E345-4802-AB9D-C80D504E2B96}"/>
              </a:ext>
            </a:extLst>
          </p:cNvPr>
          <p:cNvSpPr txBox="1"/>
          <p:nvPr/>
        </p:nvSpPr>
        <p:spPr>
          <a:xfrm>
            <a:off x="3419872" y="2276872"/>
            <a:ext cx="2736304" cy="1754326"/>
          </a:xfrm>
          <a:prstGeom prst="rect">
            <a:avLst/>
          </a:prstGeom>
          <a:noFill/>
        </p:spPr>
        <p:txBody>
          <a:bodyPr wrap="square" rtlCol="0">
            <a:spAutoFit/>
          </a:bodyPr>
          <a:lstStyle/>
          <a:p>
            <a:pPr algn="ctr"/>
            <a:r>
              <a:rPr lang="en-US" altLang="zh-CN" sz="5400" dirty="0"/>
              <a:t>END</a:t>
            </a:r>
          </a:p>
          <a:p>
            <a:pPr algn="ctr"/>
            <a:endParaRPr lang="en-US" altLang="zh-CN" dirty="0"/>
          </a:p>
          <a:p>
            <a:pPr algn="ctr"/>
            <a:r>
              <a:rPr lang="en-US" altLang="zh-CN" sz="3600" dirty="0"/>
              <a:t>Thank you</a:t>
            </a:r>
            <a:endParaRPr lang="zh-CN" altLang="en-US" sz="3600" dirty="0"/>
          </a:p>
        </p:txBody>
      </p:sp>
    </p:spTree>
    <p:extLst>
      <p:ext uri="{BB962C8B-B14F-4D97-AF65-F5344CB8AC3E}">
        <p14:creationId xmlns:p14="http://schemas.microsoft.com/office/powerpoint/2010/main" val="1389139802"/>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89BF6D09-4715-45A2-BD21-0F0AEDB66BFD}"/>
              </a:ext>
            </a:extLst>
          </p:cNvPr>
          <p:cNvPicPr>
            <a:picLocks noChangeAspect="1"/>
          </p:cNvPicPr>
          <p:nvPr/>
        </p:nvPicPr>
        <p:blipFill rotWithShape="1">
          <a:blip r:embed="rId2" cstate="print"/>
          <a:srcRect l="7456" t="12201" r="26375" b="8000"/>
          <a:stretch/>
        </p:blipFill>
        <p:spPr>
          <a:xfrm>
            <a:off x="323527" y="260648"/>
            <a:ext cx="8491949" cy="5760640"/>
          </a:xfrm>
          <a:prstGeom prst="rect">
            <a:avLst/>
          </a:prstGeom>
        </p:spPr>
      </p:pic>
    </p:spTree>
    <p:extLst>
      <p:ext uri="{BB962C8B-B14F-4D97-AF65-F5344CB8AC3E}">
        <p14:creationId xmlns:p14="http://schemas.microsoft.com/office/powerpoint/2010/main" val="3179115531"/>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DE4A70E2-A304-D6DE-3C06-1BFC9C96655F}"/>
              </a:ext>
            </a:extLst>
          </p:cNvPr>
          <p:cNvPicPr>
            <a:picLocks noChangeAspect="1"/>
          </p:cNvPicPr>
          <p:nvPr/>
        </p:nvPicPr>
        <p:blipFill>
          <a:blip r:embed="rId3"/>
          <a:stretch>
            <a:fillRect/>
          </a:stretch>
        </p:blipFill>
        <p:spPr>
          <a:xfrm>
            <a:off x="1619672" y="629980"/>
            <a:ext cx="6245239" cy="6093296"/>
          </a:xfrm>
          <a:prstGeom prst="rect">
            <a:avLst/>
          </a:prstGeom>
        </p:spPr>
      </p:pic>
      <p:sp>
        <p:nvSpPr>
          <p:cNvPr id="4" name="文本框 3">
            <a:extLst>
              <a:ext uri="{FF2B5EF4-FFF2-40B4-BE49-F238E27FC236}">
                <a16:creationId xmlns:a16="http://schemas.microsoft.com/office/drawing/2014/main" id="{4D9199AD-A28C-E4BA-03B5-8C9C039994F3}"/>
              </a:ext>
            </a:extLst>
          </p:cNvPr>
          <p:cNvSpPr txBox="1"/>
          <p:nvPr/>
        </p:nvSpPr>
        <p:spPr>
          <a:xfrm>
            <a:off x="1259632" y="243504"/>
            <a:ext cx="5904656" cy="369332"/>
          </a:xfrm>
          <a:prstGeom prst="rect">
            <a:avLst/>
          </a:prstGeom>
          <a:noFill/>
        </p:spPr>
        <p:txBody>
          <a:bodyPr wrap="square">
            <a:spAutoFit/>
          </a:bodyPr>
          <a:lstStyle/>
          <a:p>
            <a:r>
              <a:rPr lang="en-US" altLang="zh-CN" dirty="0"/>
              <a:t>Integration of photosystems I and II in chloroplasts</a:t>
            </a:r>
            <a:endParaRPr lang="zh-CN" altLang="en-US" dirty="0"/>
          </a:p>
        </p:txBody>
      </p:sp>
    </p:spTree>
    <p:extLst>
      <p:ext uri="{BB962C8B-B14F-4D97-AF65-F5344CB8AC3E}">
        <p14:creationId xmlns:p14="http://schemas.microsoft.com/office/powerpoint/2010/main" val="2747980628"/>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EB0707F9-1FBE-E2BF-9686-A98FDFB27213}"/>
              </a:ext>
            </a:extLst>
          </p:cNvPr>
          <p:cNvPicPr>
            <a:picLocks noChangeAspect="1"/>
          </p:cNvPicPr>
          <p:nvPr/>
        </p:nvPicPr>
        <p:blipFill>
          <a:blip r:embed="rId3"/>
          <a:stretch>
            <a:fillRect/>
          </a:stretch>
        </p:blipFill>
        <p:spPr>
          <a:xfrm>
            <a:off x="755576" y="928931"/>
            <a:ext cx="8123907" cy="5929069"/>
          </a:xfrm>
          <a:prstGeom prst="rect">
            <a:avLst/>
          </a:prstGeom>
        </p:spPr>
      </p:pic>
      <p:sp>
        <p:nvSpPr>
          <p:cNvPr id="4" name="文本框 3">
            <a:extLst>
              <a:ext uri="{FF2B5EF4-FFF2-40B4-BE49-F238E27FC236}">
                <a16:creationId xmlns:a16="http://schemas.microsoft.com/office/drawing/2014/main" id="{DE78C8EC-A374-92CD-CE27-BA935F17A6D6}"/>
              </a:ext>
            </a:extLst>
          </p:cNvPr>
          <p:cNvSpPr txBox="1"/>
          <p:nvPr/>
        </p:nvSpPr>
        <p:spPr>
          <a:xfrm>
            <a:off x="1295636" y="260648"/>
            <a:ext cx="6552728" cy="369332"/>
          </a:xfrm>
          <a:prstGeom prst="rect">
            <a:avLst/>
          </a:prstGeom>
          <a:noFill/>
        </p:spPr>
        <p:txBody>
          <a:bodyPr wrap="square">
            <a:spAutoFit/>
          </a:bodyPr>
          <a:lstStyle/>
          <a:p>
            <a:r>
              <a:rPr lang="en-US" altLang="zh-CN" b="1" dirty="0"/>
              <a:t>Proton and electron circuits during photophosphorylation. </a:t>
            </a:r>
            <a:endParaRPr lang="zh-CN" altLang="en-US" b="1" dirty="0"/>
          </a:p>
        </p:txBody>
      </p:sp>
    </p:spTree>
    <p:extLst>
      <p:ext uri="{BB962C8B-B14F-4D97-AF65-F5344CB8AC3E}">
        <p14:creationId xmlns:p14="http://schemas.microsoft.com/office/powerpoint/2010/main" val="3731994621"/>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8AE68918-5ECD-CA9E-DD07-26F4A00AD45B}"/>
              </a:ext>
            </a:extLst>
          </p:cNvPr>
          <p:cNvPicPr>
            <a:picLocks noChangeAspect="1"/>
          </p:cNvPicPr>
          <p:nvPr/>
        </p:nvPicPr>
        <p:blipFill>
          <a:blip r:embed="rId3"/>
          <a:stretch>
            <a:fillRect/>
          </a:stretch>
        </p:blipFill>
        <p:spPr>
          <a:xfrm>
            <a:off x="0" y="760537"/>
            <a:ext cx="9144000" cy="5336926"/>
          </a:xfrm>
          <a:prstGeom prst="rect">
            <a:avLst/>
          </a:prstGeom>
        </p:spPr>
      </p:pic>
      <p:sp>
        <p:nvSpPr>
          <p:cNvPr id="4" name="文本框 3">
            <a:extLst>
              <a:ext uri="{FF2B5EF4-FFF2-40B4-BE49-F238E27FC236}">
                <a16:creationId xmlns:a16="http://schemas.microsoft.com/office/drawing/2014/main" id="{7A19714F-3A92-EBEC-CFCF-0AAB811CCFB4}"/>
              </a:ext>
            </a:extLst>
          </p:cNvPr>
          <p:cNvSpPr txBox="1"/>
          <p:nvPr/>
        </p:nvSpPr>
        <p:spPr>
          <a:xfrm>
            <a:off x="827584" y="188640"/>
            <a:ext cx="7992888" cy="369332"/>
          </a:xfrm>
          <a:prstGeom prst="rect">
            <a:avLst/>
          </a:prstGeom>
          <a:noFill/>
        </p:spPr>
        <p:txBody>
          <a:bodyPr wrap="square">
            <a:spAutoFit/>
          </a:bodyPr>
          <a:lstStyle/>
          <a:p>
            <a:r>
              <a:rPr lang="en-US" altLang="zh-CN" b="1" dirty="0">
                <a:solidFill>
                  <a:srgbClr val="FF0000"/>
                </a:solidFill>
              </a:rPr>
              <a:t>Orientation of ATP synthase is fixed relative to the proton gradient</a:t>
            </a:r>
            <a:endParaRPr lang="zh-CN" altLang="en-US" b="1" dirty="0">
              <a:solidFill>
                <a:srgbClr val="FF0000"/>
              </a:solidFill>
            </a:endParaRPr>
          </a:p>
        </p:txBody>
      </p:sp>
    </p:spTree>
    <p:extLst>
      <p:ext uri="{BB962C8B-B14F-4D97-AF65-F5344CB8AC3E}">
        <p14:creationId xmlns:p14="http://schemas.microsoft.com/office/powerpoint/2010/main" val="2976327558"/>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227C5E2A-4456-9B52-C947-C13FD13B579E}"/>
              </a:ext>
            </a:extLst>
          </p:cNvPr>
          <p:cNvPicPr>
            <a:picLocks noChangeAspect="1"/>
          </p:cNvPicPr>
          <p:nvPr/>
        </p:nvPicPr>
        <p:blipFill>
          <a:blip r:embed="rId3"/>
          <a:stretch>
            <a:fillRect/>
          </a:stretch>
        </p:blipFill>
        <p:spPr>
          <a:xfrm>
            <a:off x="0" y="1899334"/>
            <a:ext cx="9144000" cy="3059331"/>
          </a:xfrm>
          <a:prstGeom prst="rect">
            <a:avLst/>
          </a:prstGeom>
        </p:spPr>
      </p:pic>
      <p:sp>
        <p:nvSpPr>
          <p:cNvPr id="4" name="文本框 3">
            <a:extLst>
              <a:ext uri="{FF2B5EF4-FFF2-40B4-BE49-F238E27FC236}">
                <a16:creationId xmlns:a16="http://schemas.microsoft.com/office/drawing/2014/main" id="{2231594D-348D-5FD6-219E-D86332F10AF4}"/>
              </a:ext>
            </a:extLst>
          </p:cNvPr>
          <p:cNvSpPr txBox="1"/>
          <p:nvPr/>
        </p:nvSpPr>
        <p:spPr>
          <a:xfrm>
            <a:off x="1835696" y="5229200"/>
            <a:ext cx="6192688" cy="369332"/>
          </a:xfrm>
          <a:prstGeom prst="rect">
            <a:avLst/>
          </a:prstGeom>
          <a:noFill/>
        </p:spPr>
        <p:txBody>
          <a:bodyPr wrap="square">
            <a:spAutoFit/>
          </a:bodyPr>
          <a:lstStyle/>
          <a:p>
            <a:r>
              <a:rPr lang="en-US" altLang="zh-CN" dirty="0">
                <a:solidFill>
                  <a:srgbClr val="FF0000"/>
                </a:solidFill>
              </a:rPr>
              <a:t>Light activation of several enzymes of the Calvin cycle</a:t>
            </a:r>
            <a:endParaRPr lang="zh-CN" altLang="en-US" dirty="0">
              <a:solidFill>
                <a:srgbClr val="FF0000"/>
              </a:solidFill>
            </a:endParaRPr>
          </a:p>
        </p:txBody>
      </p:sp>
    </p:spTree>
    <p:extLst>
      <p:ext uri="{BB962C8B-B14F-4D97-AF65-F5344CB8AC3E}">
        <p14:creationId xmlns:p14="http://schemas.microsoft.com/office/powerpoint/2010/main" val="2853247580"/>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545CA315-81E0-C523-4E34-E651FCE783AD}"/>
              </a:ext>
            </a:extLst>
          </p:cNvPr>
          <p:cNvPicPr>
            <a:picLocks noChangeAspect="1"/>
          </p:cNvPicPr>
          <p:nvPr/>
        </p:nvPicPr>
        <p:blipFill>
          <a:blip r:embed="rId3"/>
          <a:stretch>
            <a:fillRect/>
          </a:stretch>
        </p:blipFill>
        <p:spPr>
          <a:xfrm>
            <a:off x="3535513" y="-9526"/>
            <a:ext cx="5601316" cy="6858000"/>
          </a:xfrm>
          <a:prstGeom prst="rect">
            <a:avLst/>
          </a:prstGeom>
        </p:spPr>
      </p:pic>
      <p:pic>
        <p:nvPicPr>
          <p:cNvPr id="5" name="图片 4">
            <a:extLst>
              <a:ext uri="{FF2B5EF4-FFF2-40B4-BE49-F238E27FC236}">
                <a16:creationId xmlns:a16="http://schemas.microsoft.com/office/drawing/2014/main" id="{B23E115A-A55E-D289-EF97-1432C279B452}"/>
              </a:ext>
            </a:extLst>
          </p:cNvPr>
          <p:cNvPicPr>
            <a:picLocks noChangeAspect="1"/>
          </p:cNvPicPr>
          <p:nvPr/>
        </p:nvPicPr>
        <p:blipFill>
          <a:blip r:embed="rId4"/>
          <a:stretch>
            <a:fillRect/>
          </a:stretch>
        </p:blipFill>
        <p:spPr>
          <a:xfrm>
            <a:off x="34040" y="33277"/>
            <a:ext cx="3458384" cy="1944216"/>
          </a:xfrm>
          <a:prstGeom prst="rect">
            <a:avLst/>
          </a:prstGeom>
        </p:spPr>
      </p:pic>
      <p:sp>
        <p:nvSpPr>
          <p:cNvPr id="4" name="文本框 3">
            <a:extLst>
              <a:ext uri="{FF2B5EF4-FFF2-40B4-BE49-F238E27FC236}">
                <a16:creationId xmlns:a16="http://schemas.microsoft.com/office/drawing/2014/main" id="{DF20544B-FF31-DE92-4627-1752E734DFC5}"/>
              </a:ext>
            </a:extLst>
          </p:cNvPr>
          <p:cNvSpPr txBox="1"/>
          <p:nvPr/>
        </p:nvSpPr>
        <p:spPr>
          <a:xfrm>
            <a:off x="251520" y="3645024"/>
            <a:ext cx="4572000" cy="646331"/>
          </a:xfrm>
          <a:prstGeom prst="rect">
            <a:avLst/>
          </a:prstGeom>
          <a:noFill/>
        </p:spPr>
        <p:txBody>
          <a:bodyPr wrap="square">
            <a:spAutoFit/>
          </a:bodyPr>
          <a:lstStyle/>
          <a:p>
            <a:r>
              <a:rPr lang="en-US" altLang="zh-CN" b="1" dirty="0">
                <a:solidFill>
                  <a:srgbClr val="FF0000"/>
                </a:solidFill>
              </a:rPr>
              <a:t>Carbon assimilation in</a:t>
            </a:r>
          </a:p>
          <a:p>
            <a:r>
              <a:rPr lang="en-US" altLang="zh-CN" b="1" dirty="0">
                <a:solidFill>
                  <a:srgbClr val="FF0000"/>
                </a:solidFill>
              </a:rPr>
              <a:t> C4 plants. </a:t>
            </a:r>
            <a:endParaRPr lang="zh-CN" altLang="en-US" b="1" dirty="0">
              <a:solidFill>
                <a:srgbClr val="FF0000"/>
              </a:solidFill>
            </a:endParaRPr>
          </a:p>
        </p:txBody>
      </p:sp>
    </p:spTree>
    <p:extLst>
      <p:ext uri="{BB962C8B-B14F-4D97-AF65-F5344CB8AC3E}">
        <p14:creationId xmlns:p14="http://schemas.microsoft.com/office/powerpoint/2010/main" val="1104862887"/>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6ED53CC-98B5-7FD7-E894-8204515BC5C9}"/>
              </a:ext>
            </a:extLst>
          </p:cNvPr>
          <p:cNvSpPr txBox="1"/>
          <p:nvPr/>
        </p:nvSpPr>
        <p:spPr>
          <a:xfrm>
            <a:off x="539552" y="332656"/>
            <a:ext cx="7776864" cy="369332"/>
          </a:xfrm>
          <a:prstGeom prst="rect">
            <a:avLst/>
          </a:prstGeom>
          <a:noFill/>
        </p:spPr>
        <p:txBody>
          <a:bodyPr wrap="square">
            <a:spAutoFit/>
          </a:bodyPr>
          <a:lstStyle/>
          <a:p>
            <a:r>
              <a:rPr lang="en-US" altLang="zh-CN" b="1" dirty="0"/>
              <a:t>Photorespiration Results from Rubisco’s Oxygenase Activity</a:t>
            </a:r>
            <a:endParaRPr lang="zh-CN" altLang="en-US" b="1" dirty="0"/>
          </a:p>
        </p:txBody>
      </p:sp>
      <p:sp>
        <p:nvSpPr>
          <p:cNvPr id="4" name="文本框 3">
            <a:extLst>
              <a:ext uri="{FF2B5EF4-FFF2-40B4-BE49-F238E27FC236}">
                <a16:creationId xmlns:a16="http://schemas.microsoft.com/office/drawing/2014/main" id="{53B7D5EB-1155-2FE7-AB30-A64569BA0E4D}"/>
              </a:ext>
            </a:extLst>
          </p:cNvPr>
          <p:cNvSpPr txBox="1"/>
          <p:nvPr/>
        </p:nvSpPr>
        <p:spPr>
          <a:xfrm>
            <a:off x="179512" y="980728"/>
            <a:ext cx="8784976" cy="1477328"/>
          </a:xfrm>
          <a:prstGeom prst="rect">
            <a:avLst/>
          </a:prstGeom>
          <a:noFill/>
        </p:spPr>
        <p:txBody>
          <a:bodyPr wrap="square" rtlCol="0">
            <a:spAutoFit/>
          </a:bodyPr>
          <a:lstStyle/>
          <a:p>
            <a:r>
              <a:rPr lang="en-US" altLang="zh-CN" sz="1800" b="0" i="0" dirty="0">
                <a:solidFill>
                  <a:srgbClr val="000000"/>
                </a:solidFill>
                <a:effectLst/>
                <a:latin typeface="TimesNewRomanPSMT"/>
              </a:rPr>
              <a:t>Rubisco is not absolutely specific for CO</a:t>
            </a:r>
            <a:r>
              <a:rPr lang="en-US" altLang="zh-CN" sz="1800" b="0" i="0" baseline="-25000" dirty="0">
                <a:solidFill>
                  <a:srgbClr val="000000"/>
                </a:solidFill>
                <a:effectLst/>
                <a:latin typeface="TimesNewRomanPSMT"/>
              </a:rPr>
              <a:t>2</a:t>
            </a:r>
            <a:r>
              <a:rPr lang="en-US" altLang="zh-CN" sz="1800" b="0" i="0" dirty="0">
                <a:solidFill>
                  <a:srgbClr val="000000"/>
                </a:solidFill>
                <a:effectLst/>
                <a:latin typeface="TimesNewRomanPSMT"/>
              </a:rPr>
              <a:t> as a substrate. Molecular oxygen (O</a:t>
            </a:r>
            <a:r>
              <a:rPr lang="en-US" altLang="zh-CN" sz="1800" b="0" i="0" baseline="-25000" dirty="0">
                <a:solidFill>
                  <a:srgbClr val="000000"/>
                </a:solidFill>
                <a:effectLst/>
                <a:latin typeface="TimesNewRomanPSMT"/>
              </a:rPr>
              <a:t>2</a:t>
            </a:r>
            <a:r>
              <a:rPr lang="en-US" altLang="zh-CN" sz="1800" b="0" i="0" dirty="0">
                <a:solidFill>
                  <a:srgbClr val="000000"/>
                </a:solidFill>
                <a:effectLst/>
                <a:latin typeface="TimesNewRomanPSMT"/>
              </a:rPr>
              <a:t>) competes with CO</a:t>
            </a:r>
            <a:r>
              <a:rPr lang="en-US" altLang="zh-CN" sz="1800" b="0" i="0" baseline="-25000" dirty="0">
                <a:solidFill>
                  <a:srgbClr val="000000"/>
                </a:solidFill>
                <a:effectLst/>
                <a:latin typeface="TimesNewRomanPSMT"/>
              </a:rPr>
              <a:t>2 </a:t>
            </a:r>
            <a:r>
              <a:rPr lang="en-US" altLang="zh-CN" sz="1800" b="0" i="0" dirty="0">
                <a:solidFill>
                  <a:srgbClr val="000000"/>
                </a:solidFill>
                <a:effectLst/>
                <a:latin typeface="TimesNewRomanPSMT"/>
              </a:rPr>
              <a:t>at the active site, and about once in every three or four turnovers, rubisco catalyzes the condensation of O</a:t>
            </a:r>
            <a:r>
              <a:rPr lang="en-US" altLang="zh-CN" sz="1800" b="0" i="0" baseline="-25000" dirty="0">
                <a:solidFill>
                  <a:srgbClr val="000000"/>
                </a:solidFill>
                <a:effectLst/>
                <a:latin typeface="TimesNewRomanPSMT"/>
              </a:rPr>
              <a:t>2</a:t>
            </a:r>
            <a:r>
              <a:rPr lang="en-US" altLang="zh-CN" sz="1800" b="0" i="0" dirty="0">
                <a:solidFill>
                  <a:srgbClr val="000000"/>
                </a:solidFill>
                <a:effectLst/>
                <a:latin typeface="TimesNewRomanPSMT"/>
              </a:rPr>
              <a:t> with ribulose 1,5-bisphosphate to form 3-phosphoglycerate and </a:t>
            </a:r>
            <a:r>
              <a:rPr lang="en-US" altLang="zh-CN" sz="1800" b="1" i="0" dirty="0">
                <a:solidFill>
                  <a:srgbClr val="000000"/>
                </a:solidFill>
                <a:effectLst/>
                <a:latin typeface="TimesNewRomanPS-BoldMT"/>
              </a:rPr>
              <a:t>2-phosphoglycolate </a:t>
            </a:r>
            <a:r>
              <a:rPr lang="en-US" altLang="zh-CN" sz="1800" b="1" i="0" dirty="0">
                <a:solidFill>
                  <a:srgbClr val="0076A3"/>
                </a:solidFill>
                <a:effectLst/>
                <a:latin typeface="TimesNewRomanPS-BoldMT"/>
              </a:rPr>
              <a:t>(Fig. 20- 47)</a:t>
            </a:r>
            <a:r>
              <a:rPr lang="en-US" altLang="zh-CN" sz="1800" b="0" i="0" dirty="0">
                <a:solidFill>
                  <a:srgbClr val="000000"/>
                </a:solidFill>
                <a:effectLst/>
                <a:latin typeface="TimesNewRomanPSMT"/>
              </a:rPr>
              <a:t>, a metabolically useless product.</a:t>
            </a:r>
            <a:r>
              <a:rPr lang="en-US" altLang="zh-CN" dirty="0"/>
              <a:t> </a:t>
            </a:r>
            <a:br>
              <a:rPr lang="en-US" altLang="zh-CN" dirty="0"/>
            </a:br>
            <a:endParaRPr lang="zh-CN" altLang="en-US" dirty="0"/>
          </a:p>
        </p:txBody>
      </p:sp>
    </p:spTree>
    <p:extLst>
      <p:ext uri="{BB962C8B-B14F-4D97-AF65-F5344CB8AC3E}">
        <p14:creationId xmlns:p14="http://schemas.microsoft.com/office/powerpoint/2010/main" val="809815358"/>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0648003A-E1C8-8C61-78C6-C10D8A134EE5}"/>
              </a:ext>
            </a:extLst>
          </p:cNvPr>
          <p:cNvPicPr>
            <a:picLocks noChangeAspect="1"/>
          </p:cNvPicPr>
          <p:nvPr/>
        </p:nvPicPr>
        <p:blipFill>
          <a:blip r:embed="rId3"/>
          <a:stretch>
            <a:fillRect/>
          </a:stretch>
        </p:blipFill>
        <p:spPr>
          <a:xfrm>
            <a:off x="2620933" y="0"/>
            <a:ext cx="3902134" cy="6858000"/>
          </a:xfrm>
          <a:prstGeom prst="rect">
            <a:avLst/>
          </a:prstGeom>
        </p:spPr>
      </p:pic>
      <p:sp>
        <p:nvSpPr>
          <p:cNvPr id="5" name="文本框 4">
            <a:extLst>
              <a:ext uri="{FF2B5EF4-FFF2-40B4-BE49-F238E27FC236}">
                <a16:creationId xmlns:a16="http://schemas.microsoft.com/office/drawing/2014/main" id="{260E8381-AC8D-073A-6A94-5811D97E13BD}"/>
              </a:ext>
            </a:extLst>
          </p:cNvPr>
          <p:cNvSpPr txBox="1"/>
          <p:nvPr/>
        </p:nvSpPr>
        <p:spPr>
          <a:xfrm>
            <a:off x="17061" y="2348880"/>
            <a:ext cx="4572000" cy="369332"/>
          </a:xfrm>
          <a:prstGeom prst="rect">
            <a:avLst/>
          </a:prstGeom>
          <a:noFill/>
        </p:spPr>
        <p:txBody>
          <a:bodyPr wrap="square">
            <a:spAutoFit/>
          </a:bodyPr>
          <a:lstStyle/>
          <a:p>
            <a:r>
              <a:rPr lang="en-US" altLang="zh-CN" sz="1800" b="1" i="0" dirty="0">
                <a:solidFill>
                  <a:srgbClr val="000000"/>
                </a:solidFill>
                <a:effectLst/>
                <a:latin typeface="TimesNewRomanPS-BoldMT"/>
              </a:rPr>
              <a:t>Glycolate pathway</a:t>
            </a:r>
            <a:endParaRPr lang="zh-CN" altLang="en-US" dirty="0"/>
          </a:p>
        </p:txBody>
      </p:sp>
    </p:spTree>
    <p:extLst>
      <p:ext uri="{BB962C8B-B14F-4D97-AF65-F5344CB8AC3E}">
        <p14:creationId xmlns:p14="http://schemas.microsoft.com/office/powerpoint/2010/main" val="3568484466"/>
      </p:ext>
    </p:extLst>
  </p:cSld>
  <p:clrMapOvr>
    <a:masterClrMapping/>
  </p:clrMapOvr>
</p:sld>
</file>

<file path=ppt/theme/theme1.xml><?xml version="1.0" encoding="utf-8"?>
<a:theme xmlns:a="http://schemas.openxmlformats.org/drawingml/2006/main" name="shan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Garamond"/>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gradFill rotWithShape="0">
                <a:gsLst>
                  <a:gs pos="0">
                    <a:schemeClr val="accent1"/>
                  </a:gs>
                  <a:gs pos="50000">
                    <a:srgbClr val="FFFFFF"/>
                  </a:gs>
                  <a:gs pos="100000">
                    <a:schemeClr val="accent1"/>
                  </a:gs>
                </a:gsLst>
                <a:lin ang="5400000" scaled="1"/>
              </a:gra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1" lang="zh-CN" altLang="en-US" sz="1600" b="1" i="0" u="none" strike="noStrike" cap="none" normalizeH="0" baseline="0" smtClean="0">
            <a:ln>
              <a:noFill/>
            </a:ln>
            <a:solidFill>
              <a:srgbClr val="CC00CC"/>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gradFill rotWithShape="0">
                <a:gsLst>
                  <a:gs pos="0">
                    <a:schemeClr val="accent1"/>
                  </a:gs>
                  <a:gs pos="50000">
                    <a:srgbClr val="FFFFFF"/>
                  </a:gs>
                  <a:gs pos="100000">
                    <a:schemeClr val="accent1"/>
                  </a:gs>
                </a:gsLst>
                <a:lin ang="5400000" scaled="1"/>
              </a:gra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1" lang="zh-CN" altLang="en-US" sz="1600" b="1" i="0" u="none" strike="noStrike" cap="none" normalizeH="0" baseline="0" smtClean="0">
            <a:ln>
              <a:noFill/>
            </a:ln>
            <a:solidFill>
              <a:srgbClr val="CC00CC"/>
            </a:solidFill>
            <a:effectLst/>
            <a:latin typeface="Times New Roman" panose="02020603050405020304" pitchFamily="18" charset="0"/>
            <a:ea typeface="宋体" panose="02010600030101010101" pitchFamily="2" charset="-122"/>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shand</Template>
  <TotalTime>0</TotalTime>
  <Words>4679</Words>
  <Application>Microsoft Office PowerPoint</Application>
  <PresentationFormat>全屏显示(4:3)</PresentationFormat>
  <Paragraphs>672</Paragraphs>
  <Slides>239</Slides>
  <Notes>135</Notes>
  <HiddenSlides>0</HiddenSlides>
  <MMClips>0</MMClips>
  <ScaleCrop>false</ScaleCrop>
  <HeadingPairs>
    <vt:vector size="6" baseType="variant">
      <vt:variant>
        <vt:lpstr>已用的字体</vt:lpstr>
      </vt:variant>
      <vt:variant>
        <vt:i4>22</vt:i4>
      </vt:variant>
      <vt:variant>
        <vt:lpstr>主题</vt:lpstr>
      </vt:variant>
      <vt:variant>
        <vt:i4>2</vt:i4>
      </vt:variant>
      <vt:variant>
        <vt:lpstr>幻灯片标题</vt:lpstr>
      </vt:variant>
      <vt:variant>
        <vt:i4>239</vt:i4>
      </vt:variant>
    </vt:vector>
  </HeadingPairs>
  <TitlesOfParts>
    <vt:vector size="263" baseType="lpstr">
      <vt:lpstr>Century-Bold</vt:lpstr>
      <vt:lpstr>Century-Light</vt:lpstr>
      <vt:lpstr>FranklinGothic-DemiCnd</vt:lpstr>
      <vt:lpstr>Optima</vt:lpstr>
      <vt:lpstr>Optima-Bold</vt:lpstr>
      <vt:lpstr>TimesNewRomanPS-BoldMT</vt:lpstr>
      <vt:lpstr>TimesNewRomanPS-ItalicMT</vt:lpstr>
      <vt:lpstr>TimesNewRomanPSMT</vt:lpstr>
      <vt:lpstr>等线</vt:lpstr>
      <vt:lpstr>华文新魏</vt:lpstr>
      <vt:lpstr>隶书</vt:lpstr>
      <vt:lpstr>宋体</vt:lpstr>
      <vt:lpstr>微软雅黑</vt:lpstr>
      <vt:lpstr>Arial</vt:lpstr>
      <vt:lpstr>Arial Narrow</vt:lpstr>
      <vt:lpstr>Calibri</vt:lpstr>
      <vt:lpstr>Comic Sans MS</vt:lpstr>
      <vt:lpstr>Garamond</vt:lpstr>
      <vt:lpstr>Symbol</vt:lpstr>
      <vt:lpstr>Tahoma</vt:lpstr>
      <vt:lpstr>Times New Roman</vt:lpstr>
      <vt:lpstr>Wingdings</vt:lpstr>
      <vt:lpstr>shand</vt:lpstr>
      <vt:lpstr>Edge</vt:lpstr>
      <vt:lpstr>Section J    Carbohydrate metabolism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Deoxyribose and Ribose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Carbohydrate metabolism  (Section J3---Glycolysis)</vt:lpstr>
      <vt:lpstr>1. The Development of Biochemistry and the Delineation of Glycolysis</vt:lpstr>
      <vt:lpstr> </vt:lpstr>
      <vt:lpstr>PowerPoint 演示文稿</vt:lpstr>
      <vt:lpstr>PowerPoint 演示文稿</vt:lpstr>
      <vt:lpstr>PowerPoint 演示文稿</vt:lpstr>
      <vt:lpstr>PowerPoint 演示文稿</vt:lpstr>
      <vt:lpstr>PowerPoint 演示文稿</vt:lpstr>
      <vt:lpstr>PowerPoint 演示文稿</vt:lpstr>
      <vt:lpstr>An overview on D-glucose metabolism</vt:lpstr>
      <vt:lpstr>2. The overall glycolysis  can be divided into two phases</vt:lpstr>
      <vt:lpstr>PowerPoint 演示文稿</vt:lpstr>
      <vt:lpstr>PowerPoint 演示文稿</vt:lpstr>
      <vt:lpstr>PowerPoint 演示文稿</vt:lpstr>
      <vt:lpstr>3. Ten enzymes catalyze the  ten reactions of glycolysis</vt:lpstr>
      <vt:lpstr>PowerPoint 演示文稿</vt:lpstr>
      <vt:lpstr>PowerPoint 演示文稿</vt:lpstr>
      <vt:lpstr> </vt:lpstr>
      <vt:lpstr>PowerPoint 演示文稿</vt:lpstr>
      <vt:lpstr>PowerPoint 演示文稿</vt:lpstr>
      <vt:lpstr>PowerPoint 演示文稿</vt:lpstr>
      <vt:lpstr>PowerPoint 演示文稿</vt:lpstr>
      <vt:lpstr>PowerPoint 演示文稿</vt:lpstr>
      <vt:lpstr>PowerPoint 演示文稿</vt:lpstr>
      <vt:lpstr> </vt:lpstr>
      <vt:lpstr>PowerPoint 演示文稿</vt:lpstr>
      <vt:lpstr>PowerPoint 演示文稿</vt:lpstr>
      <vt:lpstr>PowerPoint 演示文稿</vt:lpstr>
      <vt:lpstr> </vt:lpstr>
      <vt:lpstr>PowerPoint 演示文稿</vt:lpstr>
      <vt:lpstr> </vt:lpstr>
      <vt:lpstr>PowerPoint 演示文稿</vt:lpstr>
      <vt:lpstr>PowerPoint 演示文稿</vt:lpstr>
      <vt:lpstr>PowerPoint 演示文稿</vt:lpstr>
      <vt:lpstr> </vt:lpstr>
      <vt:lpstr>4. Fermentation: pyruvate is converted to lactic acid or ethanol under anaerobic conditions</vt:lpstr>
      <vt:lpstr>PowerPoint 演示文稿</vt:lpstr>
      <vt:lpstr>PowerPoint 演示文稿</vt:lpstr>
      <vt:lpstr>PowerPoint 演示文稿</vt:lpstr>
      <vt:lpstr>PowerPoint 演示文稿</vt:lpstr>
      <vt:lpstr>PowerPoint 演示文稿</vt:lpstr>
      <vt:lpstr>PowerPoint 演示文稿</vt:lpstr>
      <vt:lpstr>6. Other hexoses are also oxidized via the glycolysis pathway</vt:lpstr>
      <vt:lpstr>PowerPoint 演示文稿</vt:lpstr>
      <vt:lpstr>PowerPoint 演示文稿</vt:lpstr>
      <vt:lpstr>6. Regulation of glycolysis</vt:lpstr>
      <vt:lpstr>Summary</vt:lpstr>
      <vt:lpstr>PowerPoint 演示文稿</vt:lpstr>
      <vt:lpstr>PowerPoint 演示文稿</vt:lpstr>
      <vt:lpstr>PowerPoint 演示文稿</vt:lpstr>
      <vt:lpstr>The Citric Acid Cycle  (L1)</vt:lpstr>
      <vt:lpstr>PowerPoint 演示文稿</vt:lpstr>
      <vt:lpstr>PowerPoint 演示文稿</vt:lpstr>
      <vt:lpstr>PowerPoint 演示文稿</vt:lpstr>
      <vt:lpstr>1. The cellular respiration can be divided into three stages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 Pyruvate is oxidized to acetyl-CoA by the catalysis of pyruvate dehydrogenase complex</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vt:lpstr>
      <vt:lpstr>PowerPoint 演示文稿</vt:lpstr>
      <vt:lpstr>4. The acetyl group (carried by CoA) is completely oxidized to CO2 via the citric acid cycle</vt:lpstr>
      <vt:lpstr>PowerPoint 演示文稿</vt:lpstr>
      <vt:lpstr>PowerPoint 演示文稿</vt:lpstr>
      <vt:lpstr>PowerPoint 演示文稿</vt:lpstr>
      <vt:lpstr>PowerPoint 演示文稿</vt:lpstr>
      <vt:lpstr>PowerPoint 演示文稿</vt:lpstr>
      <vt:lpstr> </vt:lpstr>
      <vt:lpstr>PowerPoint 演示文稿</vt:lpstr>
      <vt:lpstr>PowerPoint 演示文稿</vt:lpstr>
      <vt:lpstr>PowerPoint 演示文稿</vt:lpstr>
      <vt:lpstr>PowerPoint 演示文稿</vt:lpstr>
      <vt:lpstr>PowerPoint 演示文稿</vt:lpstr>
      <vt:lpstr> </vt:lpstr>
      <vt:lpstr>PowerPoint 演示文稿</vt:lpstr>
      <vt:lpstr>PowerPoint 演示文稿</vt:lpstr>
      <vt:lpstr>PowerPoint 演示文稿</vt:lpstr>
      <vt:lpstr>PowerPoint 演示文稿</vt:lpstr>
      <vt:lpstr>PowerPoint 演示文稿</vt:lpstr>
      <vt:lpstr> </vt:lpstr>
      <vt:lpstr>PowerPoint 演示文稿</vt:lpstr>
      <vt:lpstr>PowerPoint 演示文稿</vt:lpstr>
      <vt:lpstr>PowerPoint 演示文稿</vt:lpstr>
      <vt:lpstr> </vt:lpstr>
      <vt:lpstr>PowerPoint 演示文稿</vt:lpstr>
      <vt:lpstr>PowerPoint 演示文稿</vt:lpstr>
      <vt:lpstr>PowerPoint 演示文稿</vt:lpstr>
      <vt:lpstr>PowerPoint 演示文稿</vt:lpstr>
      <vt:lpstr>PowerPoint 演示文稿</vt:lpstr>
      <vt:lpstr>PowerPoint 演示文稿</vt:lpstr>
      <vt:lpstr>6. The complete oxidation of one glucose may yield as many as 32 ATP </vt:lpstr>
      <vt:lpstr>PowerPoint 演示文稿</vt:lpstr>
      <vt:lpstr>PowerPoint 演示文稿</vt:lpstr>
      <vt:lpstr>7. The citric acid intermediates are important sources for biosynthetic precursors </vt:lpstr>
      <vt:lpstr>PowerPoint 演示文稿</vt:lpstr>
      <vt:lpstr>PowerPoint 演示文稿</vt:lpstr>
      <vt:lpstr>8. Net conversion of acetate to carbohydrates is allowed via the glyoxylate cycle (乙醛酸循环） </vt:lpstr>
      <vt:lpstr> </vt:lpstr>
      <vt:lpstr>PowerPoint 演示文稿</vt:lpstr>
      <vt:lpstr>PowerPoint 演示文稿</vt:lpstr>
      <vt:lpstr>PowerPoint 演示文稿</vt:lpstr>
      <vt:lpstr>PowerPoint 演示文稿</vt:lpstr>
      <vt:lpstr>9. The pyruvate dehydrogenase complex in vertebrates is regulated alloseterically and covalently</vt:lpstr>
      <vt:lpstr>PowerPoint 演示文稿</vt:lpstr>
      <vt:lpstr>PowerPoint 演示文稿</vt:lpstr>
      <vt:lpstr>Summary</vt:lpstr>
      <vt:lpstr>PowerPoint 演示文稿</vt:lpstr>
      <vt:lpstr>J5  Pentose phosphate pathway  (戊糖磷酸途径)</vt:lpstr>
      <vt:lpstr>Pentose phosphate pathway converts glucose to specialized products needed by the cells </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PPP途径的非氧化分子重排阶段（stage2）</vt:lpstr>
      <vt:lpstr>PowerPoint 演示文稿</vt:lpstr>
      <vt:lpstr>Gluconeogenesis  (J4)</vt:lpstr>
      <vt:lpstr>PowerPoint 演示文稿</vt:lpstr>
      <vt:lpstr>1. Carbohydrates are synthesized from simple precursors via gluconeogenesis </vt:lpstr>
      <vt:lpstr>2. The opposing pathways of glycolysis and gluconeogenesis have 3 reactions different and 7 reactions in common</vt:lpstr>
      <vt:lpstr>PowerPoint 演示文稿</vt:lpstr>
      <vt:lpstr>3. Pyruvate  is converted to phosphoenoylpyruvate (PEP) via two  Exergonic Reactions</vt:lpstr>
      <vt:lpstr>PowerPoint 演示文稿</vt:lpstr>
      <vt:lpstr>PowerPoint 演示文稿</vt:lpstr>
      <vt:lpstr>PowerPoint 演示文稿</vt:lpstr>
      <vt:lpstr>4. Conversion of fructose 1,6-bisphosphate to fructose 6-phosphate is the second bypassing step</vt:lpstr>
      <vt:lpstr>5. The conversion of glucose 6-phosphate to glucose is the last bypassing step</vt:lpstr>
      <vt:lpstr>PowerPoint 演示文稿</vt:lpstr>
      <vt:lpstr>PowerPoint 演示文稿</vt:lpstr>
      <vt:lpstr>PowerPoint 演示文稿</vt:lpstr>
      <vt:lpstr>6. More energy is consumed in gluconeogenesis than produced in glycolysis</vt:lpstr>
      <vt:lpstr>Summary</vt:lpstr>
      <vt:lpstr>PowerPoint 演示文稿</vt:lpstr>
      <vt:lpstr>1. Glycogen in cells is first converted to Glc-1-P for oxidative degradation</vt:lpstr>
      <vt:lpstr>PowerPoint 演示文稿</vt:lpstr>
      <vt:lpstr>PowerPoint 演示文稿</vt:lpstr>
      <vt:lpstr>PowerPoint 演示文稿</vt:lpstr>
      <vt:lpstr>2. Dietary poly- and disaccharides are hydrolyzed to monosaccharides in the digestive system</vt:lpstr>
      <vt:lpstr>PowerPoint 演示文稿</vt:lpstr>
      <vt:lpstr>PowerPoint 演示文稿</vt:lpstr>
      <vt:lpstr>PowerPoint 演示文稿</vt:lpstr>
      <vt:lpstr>PowerPoint 演示文稿</vt:lpstr>
      <vt:lpstr>PowerPoint 演示文稿</vt:lpstr>
      <vt:lpstr>Glycogen is synthesized using UDP-glucose</vt:lpstr>
      <vt:lpstr>PowerPoint 演示文稿</vt:lpstr>
      <vt:lpstr>PowerPoint 演示文稿</vt:lpstr>
      <vt:lpstr>PowerPoint 演示文稿</vt:lpstr>
      <vt:lpstr>PowerPoint 演示文稿</vt:lpstr>
      <vt:lpstr>Starch synthesis in chloroplast stroma is similar to glycogen synthesis </vt:lpstr>
      <vt:lpstr>PowerPoint 演示文稿</vt:lpstr>
      <vt:lpstr>Sucrose is synthesized from UDP-glucose and fructose 6-phosphate in the cytosol of plant cells</vt:lpstr>
      <vt:lpstr>PowerPoint 演示文稿</vt:lpstr>
      <vt:lpstr>Carbohydrates can be synthesized from CO2 in photosynthetic organisms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2023-11-07T06:44:35Z</dcterms:created>
  <dcterms:modified xsi:type="dcterms:W3CDTF">2023-12-15T12:32:02Z</dcterms:modified>
</cp:coreProperties>
</file>