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7"/>
  </p:notesMasterIdLst>
  <p:handoutMasterIdLst>
    <p:handoutMasterId r:id="rId68"/>
  </p:handoutMasterIdLst>
  <p:sldIdLst>
    <p:sldId id="268" r:id="rId2"/>
    <p:sldId id="269" r:id="rId3"/>
    <p:sldId id="270" r:id="rId4"/>
    <p:sldId id="327" r:id="rId5"/>
    <p:sldId id="272" r:id="rId6"/>
    <p:sldId id="273" r:id="rId7"/>
    <p:sldId id="274" r:id="rId8"/>
    <p:sldId id="275" r:id="rId9"/>
    <p:sldId id="276" r:id="rId10"/>
    <p:sldId id="277" r:id="rId11"/>
    <p:sldId id="278" r:id="rId12"/>
    <p:sldId id="279" r:id="rId13"/>
    <p:sldId id="280" r:id="rId14"/>
    <p:sldId id="281" r:id="rId15"/>
    <p:sldId id="282" r:id="rId16"/>
    <p:sldId id="283" r:id="rId17"/>
    <p:sldId id="284" r:id="rId18"/>
    <p:sldId id="285" r:id="rId19"/>
    <p:sldId id="286" r:id="rId20"/>
    <p:sldId id="329" r:id="rId21"/>
    <p:sldId id="287" r:id="rId22"/>
    <p:sldId id="289" r:id="rId23"/>
    <p:sldId id="290" r:id="rId24"/>
    <p:sldId id="291" r:id="rId25"/>
    <p:sldId id="292" r:id="rId26"/>
    <p:sldId id="293" r:id="rId27"/>
    <p:sldId id="294" r:id="rId28"/>
    <p:sldId id="295" r:id="rId29"/>
    <p:sldId id="296" r:id="rId30"/>
    <p:sldId id="297" r:id="rId31"/>
    <p:sldId id="298" r:id="rId32"/>
    <p:sldId id="299" r:id="rId33"/>
    <p:sldId id="300" r:id="rId34"/>
    <p:sldId id="301" r:id="rId35"/>
    <p:sldId id="302" r:id="rId36"/>
    <p:sldId id="303" r:id="rId37"/>
    <p:sldId id="304" r:id="rId38"/>
    <p:sldId id="305" r:id="rId39"/>
    <p:sldId id="306" r:id="rId40"/>
    <p:sldId id="307" r:id="rId41"/>
    <p:sldId id="308" r:id="rId42"/>
    <p:sldId id="309" r:id="rId43"/>
    <p:sldId id="310" r:id="rId44"/>
    <p:sldId id="332" r:id="rId45"/>
    <p:sldId id="311" r:id="rId46"/>
    <p:sldId id="312" r:id="rId47"/>
    <p:sldId id="313" r:id="rId48"/>
    <p:sldId id="314" r:id="rId49"/>
    <p:sldId id="315" r:id="rId50"/>
    <p:sldId id="316" r:id="rId51"/>
    <p:sldId id="317" r:id="rId52"/>
    <p:sldId id="318" r:id="rId53"/>
    <p:sldId id="319" r:id="rId54"/>
    <p:sldId id="320" r:id="rId55"/>
    <p:sldId id="321" r:id="rId56"/>
    <p:sldId id="322" r:id="rId57"/>
    <p:sldId id="323" r:id="rId58"/>
    <p:sldId id="324" r:id="rId59"/>
    <p:sldId id="325" r:id="rId60"/>
    <p:sldId id="326" r:id="rId61"/>
    <p:sldId id="328" r:id="rId62"/>
    <p:sldId id="335" r:id="rId63"/>
    <p:sldId id="330" r:id="rId64"/>
    <p:sldId id="333" r:id="rId65"/>
    <p:sldId id="334" r:id="rId66"/>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66"/>
    <a:srgbClr val="008000"/>
    <a:srgbClr val="000099"/>
    <a:srgbClr val="F8F8F8"/>
    <a:srgbClr val="99CCFF"/>
    <a:srgbClr val="33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721" autoAdjust="0"/>
    <p:restoredTop sz="85119" autoAdjust="0"/>
  </p:normalViewPr>
  <p:slideViewPr>
    <p:cSldViewPr>
      <p:cViewPr varScale="1">
        <p:scale>
          <a:sx n="70" d="100"/>
          <a:sy n="70" d="100"/>
        </p:scale>
        <p:origin x="1411" y="48"/>
      </p:cViewPr>
      <p:guideLst>
        <p:guide orient="horz" pos="2160"/>
        <p:guide pos="2880"/>
      </p:guideLst>
    </p:cSldViewPr>
  </p:slideViewPr>
  <p:notesTextViewPr>
    <p:cViewPr>
      <p:scale>
        <a:sx n="100" d="100"/>
        <a:sy n="100" d="100"/>
      </p:scale>
      <p:origin x="0" y="0"/>
    </p:cViewPr>
  </p:notesTextViewPr>
  <p:notesViewPr>
    <p:cSldViewPr>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defRPr>
            </a:lvl1pPr>
          </a:lstStyle>
          <a:p>
            <a:pPr>
              <a:defRPr/>
            </a:pPr>
            <a:fld id="{5A4EC9AE-754B-49FD-BA16-B62493B54AAE}" type="datetimeFigureOut">
              <a:rPr lang="zh-CN" altLang="en-US"/>
              <a:pPr>
                <a:defRPr/>
              </a:pPr>
              <a:t>2023/9/3</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defRPr>
            </a:lvl1pPr>
          </a:lstStyle>
          <a:p>
            <a:pPr>
              <a:defRPr/>
            </a:pPr>
            <a:fld id="{D4895103-49AF-4E9F-8FAA-AC2C9A984A0F}" type="slidenum">
              <a:rPr lang="zh-CN" altLang="en-US"/>
              <a:pPr>
                <a:defRPr/>
              </a:pPr>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defRPr>
            </a:lvl1pPr>
          </a:lstStyle>
          <a:p>
            <a:pPr>
              <a:defRPr/>
            </a:pPr>
            <a:fld id="{A8BD7D17-9F94-433F-85A9-A167373EBE7A}" type="datetimeFigureOut">
              <a:rPr lang="zh-CN" altLang="en-US"/>
              <a:pPr>
                <a:defRPr/>
              </a:pPr>
              <a:t>2023/9/3</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defRPr>
            </a:lvl1pPr>
          </a:lstStyle>
          <a:p>
            <a:pPr>
              <a:defRPr/>
            </a:pPr>
            <a:fld id="{37F5F534-2C7B-4B3E-AB7E-5181B2239891}"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3</a:t>
            </a:fld>
            <a:endParaRPr lang="zh-CN" altLang="en-US"/>
          </a:p>
        </p:txBody>
      </p:sp>
    </p:spTree>
    <p:extLst>
      <p:ext uri="{BB962C8B-B14F-4D97-AF65-F5344CB8AC3E}">
        <p14:creationId xmlns:p14="http://schemas.microsoft.com/office/powerpoint/2010/main" val="2736248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4</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6</a:t>
            </a:fld>
            <a:endParaRPr lang="zh-CN" altLang="en-US"/>
          </a:p>
        </p:txBody>
      </p:sp>
    </p:spTree>
    <p:extLst>
      <p:ext uri="{BB962C8B-B14F-4D97-AF65-F5344CB8AC3E}">
        <p14:creationId xmlns:p14="http://schemas.microsoft.com/office/powerpoint/2010/main" val="39364171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7</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6C15097-21AB-476C-A1E3-B9B39DDD8636}" type="slidenum">
              <a:rPr lang="en-US" altLang="zh-CN"/>
              <a:pPr/>
              <a:t>9</a:t>
            </a:fld>
            <a:endParaRPr lang="en-US" altLang="zh-CN"/>
          </a:p>
        </p:txBody>
      </p:sp>
      <p:sp>
        <p:nvSpPr>
          <p:cNvPr id="41986" name="Rectangle 2"/>
          <p:cNvSpPr>
            <a:spLocks noGrp="1" noRot="1" noChangeAspect="1" noChangeArrowheads="1" noTextEdit="1"/>
          </p:cNvSpPr>
          <p:nvPr>
            <p:ph type="sldImg"/>
          </p:nvPr>
        </p:nvSpPr>
        <p:spPr>
          <a:ln/>
        </p:spPr>
      </p:sp>
      <p:sp>
        <p:nvSpPr>
          <p:cNvPr id="41987" name="Rectangle 3"/>
          <p:cNvSpPr>
            <a:spLocks noGrp="1" noChangeArrowheads="1"/>
          </p:cNvSpPr>
          <p:nvPr>
            <p:ph type="body" idx="1"/>
          </p:nvPr>
        </p:nvSpPr>
        <p:spPr>
          <a:xfrm>
            <a:off x="914400" y="4343400"/>
            <a:ext cx="5029200" cy="4114800"/>
          </a:xfrm>
        </p:spPr>
        <p:txBody>
          <a:bodyPr/>
          <a:lstStyle/>
          <a:p>
            <a:endParaRPr lang="en-US"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6FBA550-C00E-4DB7-8E9B-D79188347A5F}" type="slidenum">
              <a:rPr lang="en-US" altLang="zh-CN"/>
              <a:pPr/>
              <a:t>10</a:t>
            </a:fld>
            <a:endParaRPr lang="en-US" altLang="zh-CN"/>
          </a:p>
        </p:txBody>
      </p:sp>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xfrm>
            <a:off x="914400" y="4343400"/>
            <a:ext cx="5029200" cy="4114800"/>
          </a:xfrm>
        </p:spPr>
        <p:txBody>
          <a:bodyP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D777518-4872-4297-A87F-73E258661F7A}" type="slidenum">
              <a:rPr lang="en-US" altLang="zh-CN"/>
              <a:pPr/>
              <a:t>11</a:t>
            </a:fld>
            <a:endParaRPr lang="en-US" altLang="zh-CN"/>
          </a:p>
        </p:txBody>
      </p:sp>
      <p:sp>
        <p:nvSpPr>
          <p:cNvPr id="46082" name="Rectangle 2"/>
          <p:cNvSpPr>
            <a:spLocks noGrp="1" noRot="1" noChangeAspect="1" noChangeArrowheads="1" noTextEdit="1"/>
          </p:cNvSpPr>
          <p:nvPr>
            <p:ph type="sldImg"/>
          </p:nvPr>
        </p:nvSpPr>
        <p:spPr>
          <a:ln/>
        </p:spPr>
      </p:sp>
      <p:sp>
        <p:nvSpPr>
          <p:cNvPr id="46083" name="Rectangle 3"/>
          <p:cNvSpPr>
            <a:spLocks noGrp="1" noChangeArrowheads="1"/>
          </p:cNvSpPr>
          <p:nvPr>
            <p:ph type="body" idx="1"/>
          </p:nvPr>
        </p:nvSpPr>
        <p:spPr>
          <a:xfrm>
            <a:off x="914400" y="4343400"/>
            <a:ext cx="5029200" cy="4114800"/>
          </a:xfrm>
        </p:spPr>
        <p:txBody>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38EF45A-6D84-4824-BE3D-23D3170EDDCF}" type="slidenum">
              <a:rPr lang="en-US" altLang="zh-CN"/>
              <a:pPr/>
              <a:t>12</a:t>
            </a:fld>
            <a:endParaRPr lang="en-US" altLang="zh-CN"/>
          </a:p>
        </p:txBody>
      </p:sp>
      <p:sp>
        <p:nvSpPr>
          <p:cNvPr id="48130" name="Rectangle 2"/>
          <p:cNvSpPr>
            <a:spLocks noGrp="1" noRot="1" noChangeAspect="1" noChangeArrowheads="1" noTextEdit="1"/>
          </p:cNvSpPr>
          <p:nvPr>
            <p:ph type="sldImg"/>
          </p:nvPr>
        </p:nvSpPr>
        <p:spPr>
          <a:ln/>
        </p:spPr>
      </p:sp>
      <p:sp>
        <p:nvSpPr>
          <p:cNvPr id="48131" name="Rectangle 3"/>
          <p:cNvSpPr>
            <a:spLocks noGrp="1" noChangeArrowheads="1"/>
          </p:cNvSpPr>
          <p:nvPr>
            <p:ph type="body" idx="1"/>
          </p:nvPr>
        </p:nvSpPr>
        <p:spPr>
          <a:xfrm>
            <a:off x="914400" y="4343400"/>
            <a:ext cx="5029200" cy="4114800"/>
          </a:xfrm>
        </p:spPr>
        <p:txBody>
          <a:bodyP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D4D522F-EC95-462C-B8C4-3A27C879AE40}" type="slidenum">
              <a:rPr lang="en-US" altLang="zh-CN"/>
              <a:pPr/>
              <a:t>13</a:t>
            </a:fld>
            <a:endParaRPr lang="en-US" altLang="zh-CN"/>
          </a:p>
        </p:txBody>
      </p:sp>
      <p:sp>
        <p:nvSpPr>
          <p:cNvPr id="50178" name="Rectangle 2"/>
          <p:cNvSpPr>
            <a:spLocks noGrp="1" noRot="1" noChangeAspect="1" noChangeArrowheads="1" noTextEdit="1"/>
          </p:cNvSpPr>
          <p:nvPr>
            <p:ph type="sldImg"/>
          </p:nvPr>
        </p:nvSpPr>
        <p:spPr>
          <a:ln/>
        </p:spPr>
      </p:sp>
      <p:sp>
        <p:nvSpPr>
          <p:cNvPr id="50179" name="Rectangle 3"/>
          <p:cNvSpPr>
            <a:spLocks noGrp="1" noChangeArrowheads="1"/>
          </p:cNvSpPr>
          <p:nvPr>
            <p:ph type="body" idx="1"/>
          </p:nvPr>
        </p:nvSpPr>
        <p:spPr>
          <a:xfrm>
            <a:off x="914400" y="4343400"/>
            <a:ext cx="5029200" cy="4114800"/>
          </a:xfrm>
        </p:spPr>
        <p:txBody>
          <a:bodyPr/>
          <a:lstStyle/>
          <a:p>
            <a:endParaRPr lang="en-US"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75E63E1-9AC4-48C9-8896-003634E469EE}" type="slidenum">
              <a:rPr lang="en-US" altLang="zh-CN"/>
              <a:pPr/>
              <a:t>14</a:t>
            </a:fld>
            <a:endParaRPr lang="en-US" altLang="zh-CN"/>
          </a:p>
        </p:txBody>
      </p:sp>
      <p:sp>
        <p:nvSpPr>
          <p:cNvPr id="52226" name="Rectangle 2"/>
          <p:cNvSpPr>
            <a:spLocks noGrp="1" noRot="1" noChangeAspect="1" noChangeArrowheads="1" noTextEdit="1"/>
          </p:cNvSpPr>
          <p:nvPr>
            <p:ph type="sldImg"/>
          </p:nvPr>
        </p:nvSpPr>
        <p:spPr>
          <a:ln/>
        </p:spPr>
      </p:sp>
      <p:sp>
        <p:nvSpPr>
          <p:cNvPr id="52227" name="Rectangle 3"/>
          <p:cNvSpPr>
            <a:spLocks noGrp="1" noChangeArrowheads="1"/>
          </p:cNvSpPr>
          <p:nvPr>
            <p:ph type="body" idx="1"/>
          </p:nvPr>
        </p:nvSpPr>
        <p:spPr>
          <a:xfrm>
            <a:off x="914400" y="4343400"/>
            <a:ext cx="5029200" cy="4114800"/>
          </a:xfrm>
        </p:spPr>
        <p:txBody>
          <a:bodyP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E89F86E-3EDE-474C-B13C-191FF83D3011}" type="slidenum">
              <a:rPr lang="en-US" altLang="zh-CN"/>
              <a:pPr/>
              <a:t>15</a:t>
            </a:fld>
            <a:endParaRPr lang="en-US" altLang="zh-CN"/>
          </a:p>
        </p:txBody>
      </p:sp>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xfrm>
            <a:off x="914400" y="4343400"/>
            <a:ext cx="5029200" cy="4114800"/>
          </a:xfrm>
        </p:spPr>
        <p:txBody>
          <a:bodyP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054F3A2-B497-48A8-9233-C5582DDB66E9}" type="slidenum">
              <a:rPr lang="en-US" altLang="zh-CN"/>
              <a:pPr/>
              <a:t>16</a:t>
            </a:fld>
            <a:endParaRPr lang="en-US" altLang="zh-CN"/>
          </a:p>
        </p:txBody>
      </p:sp>
      <p:sp>
        <p:nvSpPr>
          <p:cNvPr id="56322" name="Rectangle 2"/>
          <p:cNvSpPr>
            <a:spLocks noGrp="1" noRot="1" noChangeAspect="1" noChangeArrowheads="1" noTextEdit="1"/>
          </p:cNvSpPr>
          <p:nvPr>
            <p:ph type="sldImg"/>
          </p:nvPr>
        </p:nvSpPr>
        <p:spPr>
          <a:ln/>
        </p:spPr>
      </p:sp>
      <p:sp>
        <p:nvSpPr>
          <p:cNvPr id="56323" name="Rectangle 3"/>
          <p:cNvSpPr>
            <a:spLocks noGrp="1" noChangeArrowheads="1"/>
          </p:cNvSpPr>
          <p:nvPr>
            <p:ph type="body" idx="1"/>
          </p:nvPr>
        </p:nvSpPr>
        <p:spPr>
          <a:xfrm>
            <a:off x="914400" y="4343400"/>
            <a:ext cx="5029200" cy="4114800"/>
          </a:xfrm>
        </p:spPr>
        <p:txBody>
          <a:bodyP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0AC0A77-F27F-4E75-AB42-3BD5D74F7A14}" type="slidenum">
              <a:rPr lang="en-US" altLang="zh-CN"/>
              <a:pPr/>
              <a:t>17</a:t>
            </a:fld>
            <a:endParaRPr lang="en-US" altLang="zh-CN"/>
          </a:p>
        </p:txBody>
      </p:sp>
      <p:sp>
        <p:nvSpPr>
          <p:cNvPr id="58370" name="Rectangle 2"/>
          <p:cNvSpPr>
            <a:spLocks noGrp="1" noRot="1" noChangeAspect="1" noChangeArrowheads="1" noTextEdit="1"/>
          </p:cNvSpPr>
          <p:nvPr>
            <p:ph type="sldImg"/>
          </p:nvPr>
        </p:nvSpPr>
        <p:spPr>
          <a:ln/>
        </p:spPr>
      </p:sp>
      <p:sp>
        <p:nvSpPr>
          <p:cNvPr id="58371" name="Rectangle 3"/>
          <p:cNvSpPr>
            <a:spLocks noGrp="1" noChangeArrowheads="1"/>
          </p:cNvSpPr>
          <p:nvPr>
            <p:ph type="body" idx="1"/>
          </p:nvPr>
        </p:nvSpPr>
        <p:spPr>
          <a:xfrm>
            <a:off x="914400" y="4343400"/>
            <a:ext cx="5029200" cy="4114800"/>
          </a:xfrm>
        </p:spPr>
        <p:txBody>
          <a:bodyP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E75E4BA-274B-4429-8B72-C06B41F15D22}" type="slidenum">
              <a:rPr lang="en-US" altLang="zh-CN"/>
              <a:pPr/>
              <a:t>18</a:t>
            </a:fld>
            <a:endParaRPr lang="en-US" altLang="zh-CN"/>
          </a:p>
        </p:txBody>
      </p:sp>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xfrm>
            <a:off x="914400" y="4343400"/>
            <a:ext cx="5029200" cy="4114800"/>
          </a:xfrm>
        </p:spPr>
        <p:txBody>
          <a:bodyP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B095DBA-5B90-4083-9CCD-B99AD4255222}" type="slidenum">
              <a:rPr lang="en-US" altLang="zh-CN"/>
              <a:pPr/>
              <a:t>19</a:t>
            </a:fld>
            <a:endParaRPr lang="en-US" altLang="zh-CN"/>
          </a:p>
        </p:txBody>
      </p:sp>
      <p:sp>
        <p:nvSpPr>
          <p:cNvPr id="62466" name="Rectangle 2"/>
          <p:cNvSpPr>
            <a:spLocks noGrp="1" noRot="1" noChangeAspect="1" noChangeArrowheads="1" noTextEdit="1"/>
          </p:cNvSpPr>
          <p:nvPr>
            <p:ph type="sldImg"/>
          </p:nvPr>
        </p:nvSpPr>
        <p:spPr>
          <a:ln/>
        </p:spPr>
      </p:sp>
      <p:sp>
        <p:nvSpPr>
          <p:cNvPr id="62467" name="Rectangle 3"/>
          <p:cNvSpPr>
            <a:spLocks noGrp="1" noChangeArrowheads="1"/>
          </p:cNvSpPr>
          <p:nvPr>
            <p:ph type="body" idx="1"/>
          </p:nvPr>
        </p:nvSpPr>
        <p:spPr>
          <a:xfrm>
            <a:off x="914400" y="4343400"/>
            <a:ext cx="5029200" cy="4114800"/>
          </a:xfrm>
        </p:spPr>
        <p:txBody>
          <a:bodyPr/>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20</a:t>
            </a:fld>
            <a:endParaRPr lang="zh-CN" altLang="en-US"/>
          </a:p>
        </p:txBody>
      </p:sp>
    </p:spTree>
    <p:extLst>
      <p:ext uri="{BB962C8B-B14F-4D97-AF65-F5344CB8AC3E}">
        <p14:creationId xmlns:p14="http://schemas.microsoft.com/office/powerpoint/2010/main" val="2736248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4A56A1C-E58F-44F8-B76B-775A1298E2D2}" type="slidenum">
              <a:rPr lang="en-US" altLang="zh-CN"/>
              <a:pPr/>
              <a:t>21</a:t>
            </a:fld>
            <a:endParaRPr lang="en-US" altLang="zh-CN"/>
          </a:p>
        </p:txBody>
      </p:sp>
      <p:sp>
        <p:nvSpPr>
          <p:cNvPr id="64514" name="Rectangle 2"/>
          <p:cNvSpPr>
            <a:spLocks noGrp="1" noRot="1" noChangeAspect="1" noChangeArrowheads="1" noTextEdit="1"/>
          </p:cNvSpPr>
          <p:nvPr>
            <p:ph type="sldImg"/>
          </p:nvPr>
        </p:nvSpPr>
        <p:spPr>
          <a:ln/>
        </p:spPr>
      </p:sp>
      <p:sp>
        <p:nvSpPr>
          <p:cNvPr id="64515" name="Rectangle 3"/>
          <p:cNvSpPr>
            <a:spLocks noGrp="1" noChangeArrowheads="1"/>
          </p:cNvSpPr>
          <p:nvPr>
            <p:ph type="body" idx="1"/>
          </p:nvPr>
        </p:nvSpPr>
        <p:spPr>
          <a:xfrm>
            <a:off x="914400" y="4343400"/>
            <a:ext cx="5029200" cy="4114800"/>
          </a:xfrm>
        </p:spPr>
        <p:txBody>
          <a:bodyPr/>
          <a:lstStyle/>
          <a:p>
            <a:endParaRPr lang="en-US"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976350-A3C8-4019-B214-68AAB0C57251}" type="slidenum">
              <a:rPr lang="en-US" altLang="zh-CN"/>
              <a:pPr/>
              <a:t>22</a:t>
            </a:fld>
            <a:endParaRPr lang="en-US" altLang="zh-CN"/>
          </a:p>
        </p:txBody>
      </p:sp>
      <p:sp>
        <p:nvSpPr>
          <p:cNvPr id="66562" name="Rectangle 2"/>
          <p:cNvSpPr>
            <a:spLocks noGrp="1" noRot="1" noChangeAspect="1" noChangeArrowheads="1" noTextEdit="1"/>
          </p:cNvSpPr>
          <p:nvPr>
            <p:ph type="sldImg"/>
          </p:nvPr>
        </p:nvSpPr>
        <p:spPr>
          <a:ln/>
        </p:spPr>
      </p:sp>
      <p:sp>
        <p:nvSpPr>
          <p:cNvPr id="66563" name="Rectangle 3"/>
          <p:cNvSpPr>
            <a:spLocks noGrp="1" noChangeArrowheads="1"/>
          </p:cNvSpPr>
          <p:nvPr>
            <p:ph type="body" idx="1"/>
          </p:nvPr>
        </p:nvSpPr>
        <p:spPr>
          <a:xfrm>
            <a:off x="914400" y="4343400"/>
            <a:ext cx="5029200" cy="4114800"/>
          </a:xfrm>
        </p:spPr>
        <p:txBody>
          <a:bodyP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0B08F29-B42F-4F77-B4AF-2905BFB55BB2}" type="slidenum">
              <a:rPr lang="en-US" altLang="zh-CN"/>
              <a:pPr/>
              <a:t>23</a:t>
            </a:fld>
            <a:endParaRPr lang="en-US" altLang="zh-CN"/>
          </a:p>
        </p:txBody>
      </p:sp>
      <p:sp>
        <p:nvSpPr>
          <p:cNvPr id="68610" name="Rectangle 2"/>
          <p:cNvSpPr>
            <a:spLocks noGrp="1" noRot="1" noChangeAspect="1" noChangeArrowheads="1" noTextEdit="1"/>
          </p:cNvSpPr>
          <p:nvPr>
            <p:ph type="sldImg"/>
          </p:nvPr>
        </p:nvSpPr>
        <p:spPr>
          <a:ln/>
        </p:spPr>
      </p:sp>
      <p:sp>
        <p:nvSpPr>
          <p:cNvPr id="68611" name="Rectangle 3"/>
          <p:cNvSpPr>
            <a:spLocks noGrp="1" noChangeArrowheads="1"/>
          </p:cNvSpPr>
          <p:nvPr>
            <p:ph type="body" idx="1"/>
          </p:nvPr>
        </p:nvSpPr>
        <p:spPr>
          <a:xfrm>
            <a:off x="914400" y="4343400"/>
            <a:ext cx="5029200" cy="4114800"/>
          </a:xfrm>
        </p:spPr>
        <p:txBody>
          <a:bodyPr/>
          <a:lstStyle/>
          <a:p>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EA78116-5C6D-4129-8337-D817B9D4D190}" type="slidenum">
              <a:rPr lang="en-US" altLang="zh-CN"/>
              <a:pPr/>
              <a:t>24</a:t>
            </a:fld>
            <a:endParaRPr lang="en-US" altLang="zh-CN"/>
          </a:p>
        </p:txBody>
      </p:sp>
      <p:sp>
        <p:nvSpPr>
          <p:cNvPr id="70658" name="Rectangle 2"/>
          <p:cNvSpPr>
            <a:spLocks noGrp="1" noRot="1" noChangeAspect="1" noChangeArrowheads="1" noTextEdit="1"/>
          </p:cNvSpPr>
          <p:nvPr>
            <p:ph type="sldImg"/>
          </p:nvPr>
        </p:nvSpPr>
        <p:spPr>
          <a:ln/>
        </p:spPr>
      </p:sp>
      <p:sp>
        <p:nvSpPr>
          <p:cNvPr id="70659" name="Rectangle 3"/>
          <p:cNvSpPr>
            <a:spLocks noGrp="1" noChangeArrowheads="1"/>
          </p:cNvSpPr>
          <p:nvPr>
            <p:ph type="body" idx="1"/>
          </p:nvPr>
        </p:nvSpPr>
        <p:spPr>
          <a:xfrm>
            <a:off x="914400" y="4343400"/>
            <a:ext cx="5029200" cy="4114800"/>
          </a:xfrm>
        </p:spPr>
        <p:txBody>
          <a:bodyPr/>
          <a:lstStyle/>
          <a:p>
            <a:endParaRPr lang="en-US" altLang="en-US" sz="1600"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9452AAE-8BB6-4BDA-8EF9-D9C69E12BD4A}" type="slidenum">
              <a:rPr lang="en-US" altLang="zh-CN"/>
              <a:pPr/>
              <a:t>25</a:t>
            </a:fld>
            <a:endParaRPr lang="en-US" altLang="zh-CN"/>
          </a:p>
        </p:txBody>
      </p:sp>
      <p:sp>
        <p:nvSpPr>
          <p:cNvPr id="72706" name="Rectangle 2"/>
          <p:cNvSpPr>
            <a:spLocks noGrp="1" noRot="1" noChangeAspect="1" noChangeArrowheads="1" noTextEdit="1"/>
          </p:cNvSpPr>
          <p:nvPr>
            <p:ph type="sldImg"/>
          </p:nvPr>
        </p:nvSpPr>
        <p:spPr>
          <a:ln/>
        </p:spPr>
      </p:sp>
      <p:sp>
        <p:nvSpPr>
          <p:cNvPr id="72707" name="Rectangle 3"/>
          <p:cNvSpPr>
            <a:spLocks noGrp="1" noChangeArrowheads="1"/>
          </p:cNvSpPr>
          <p:nvPr>
            <p:ph type="body" idx="1"/>
          </p:nvPr>
        </p:nvSpPr>
        <p:spPr>
          <a:xfrm>
            <a:off x="914400" y="4343400"/>
            <a:ext cx="5029200" cy="4114800"/>
          </a:xfrm>
        </p:spPr>
        <p:txBody>
          <a:bodyPr/>
          <a:lstStyle/>
          <a:p>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29</a:t>
            </a:fld>
            <a:endParaRPr lang="zh-CN" altLang="en-US"/>
          </a:p>
        </p:txBody>
      </p:sp>
    </p:spTree>
    <p:extLst>
      <p:ext uri="{BB962C8B-B14F-4D97-AF65-F5344CB8AC3E}">
        <p14:creationId xmlns:p14="http://schemas.microsoft.com/office/powerpoint/2010/main" val="23991116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36</a:t>
            </a:fld>
            <a:endParaRPr lang="zh-CN" altLang="en-US"/>
          </a:p>
        </p:txBody>
      </p:sp>
    </p:spTree>
    <p:extLst>
      <p:ext uri="{BB962C8B-B14F-4D97-AF65-F5344CB8AC3E}">
        <p14:creationId xmlns:p14="http://schemas.microsoft.com/office/powerpoint/2010/main" val="14143342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45</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47</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57</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59</a:t>
            </a:fld>
            <a:endParaRPr lang="zh-CN" altLang="en-US"/>
          </a:p>
        </p:txBody>
      </p:sp>
    </p:spTree>
    <p:extLst>
      <p:ext uri="{BB962C8B-B14F-4D97-AF65-F5344CB8AC3E}">
        <p14:creationId xmlns:p14="http://schemas.microsoft.com/office/powerpoint/2010/main" val="383239578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63</a:t>
            </a:fld>
            <a:endParaRPr lang="zh-CN" altLang="en-US"/>
          </a:p>
        </p:txBody>
      </p:sp>
    </p:spTree>
    <p:extLst>
      <p:ext uri="{BB962C8B-B14F-4D97-AF65-F5344CB8AC3E}">
        <p14:creationId xmlns:p14="http://schemas.microsoft.com/office/powerpoint/2010/main" val="272241203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64</a:t>
            </a:fld>
            <a:endParaRPr lang="zh-CN" altLang="en-US"/>
          </a:p>
        </p:txBody>
      </p:sp>
    </p:spTree>
    <p:extLst>
      <p:ext uri="{BB962C8B-B14F-4D97-AF65-F5344CB8AC3E}">
        <p14:creationId xmlns:p14="http://schemas.microsoft.com/office/powerpoint/2010/main" val="276989951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Picture 1" descr="C:\Users\Administrator\AppData\Roaming\Tencent\Users\85060380\QQ\WinTemp\RichOle\3{JSB(G2RI2O{CFOGZRGH23.jpg"/>
          <p:cNvPicPr>
            <a:picLocks noChangeAspect="1" noChangeArrowheads="1"/>
          </p:cNvPicPr>
          <p:nvPr/>
        </p:nvPicPr>
        <p:blipFill rotWithShape="1">
          <a:blip r:embed="rId2" cstate="print"/>
          <a:srcRect r="78850"/>
          <a:stretch/>
        </p:blipFill>
        <p:spPr bwMode="auto">
          <a:xfrm>
            <a:off x="1" y="44624"/>
            <a:ext cx="899591" cy="792088"/>
          </a:xfrm>
          <a:prstGeom prst="rect">
            <a:avLst/>
          </a:prstGeom>
          <a:noFill/>
          <a:ln w="9525">
            <a:noFill/>
            <a:miter lim="800000"/>
            <a:headEnd/>
            <a:tailEnd/>
          </a:ln>
        </p:spPr>
      </p:pic>
      <p:pic>
        <p:nvPicPr>
          <p:cNvPr id="6" name="Picture 2" descr="C:\Users\Administrator\AppData\Roaming\Tencent\Users\85060380\QQ\WinTemp\RichOle\J6JYNSSQRTOD2X}K2W`MNJ7.jpg"/>
          <p:cNvPicPr>
            <a:picLocks noChangeAspect="1" noChangeArrowheads="1"/>
          </p:cNvPicPr>
          <p:nvPr/>
        </p:nvPicPr>
        <p:blipFill>
          <a:blip r:embed="rId3" cstate="print"/>
          <a:srcRect/>
          <a:stretch>
            <a:fillRect/>
          </a:stretch>
        </p:blipFill>
        <p:spPr bwMode="auto">
          <a:xfrm>
            <a:off x="6764751" y="1"/>
            <a:ext cx="1191625" cy="740094"/>
          </a:xfrm>
          <a:prstGeom prst="rect">
            <a:avLst/>
          </a:prstGeom>
          <a:noFill/>
          <a:ln w="9525">
            <a:noFill/>
            <a:miter lim="800000"/>
            <a:headEnd/>
            <a:tailEnd/>
          </a:ln>
        </p:spPr>
      </p:pic>
      <p:pic>
        <p:nvPicPr>
          <p:cNvPr id="7" name="Picture 3" descr="C:\Users\Administrator\AppData\Roaming\Tencent\Users\85060380\QQ\WinTemp\RichOle\GD$GN72[756M7J@}Q112F3M.jpg"/>
          <p:cNvPicPr>
            <a:picLocks noChangeAspect="1" noChangeArrowheads="1"/>
          </p:cNvPicPr>
          <p:nvPr/>
        </p:nvPicPr>
        <p:blipFill>
          <a:blip r:embed="rId4" cstate="print"/>
          <a:srcRect/>
          <a:stretch>
            <a:fillRect/>
          </a:stretch>
        </p:blipFill>
        <p:spPr bwMode="auto">
          <a:xfrm>
            <a:off x="7956376" y="1"/>
            <a:ext cx="1191625" cy="740094"/>
          </a:xfrm>
          <a:prstGeom prst="rect">
            <a:avLst/>
          </a:prstGeom>
          <a:noFill/>
          <a:ln w="9525">
            <a:noFill/>
            <a:miter lim="800000"/>
            <a:headEnd/>
            <a:tailEnd/>
          </a:ln>
        </p:spPr>
      </p:pic>
      <p:pic>
        <p:nvPicPr>
          <p:cNvPr id="8" name="Picture 4" descr="C:\Users\Administrator\AppData\Roaming\Tencent\Users\85060380\QQ\WinTemp\RichOle\{SL304[_K`X~M@`NNZQS~XD.jpg"/>
          <p:cNvPicPr>
            <a:picLocks noChangeAspect="1" noChangeArrowheads="1"/>
          </p:cNvPicPr>
          <p:nvPr/>
        </p:nvPicPr>
        <p:blipFill>
          <a:blip r:embed="rId5" cstate="print"/>
          <a:srcRect/>
          <a:stretch>
            <a:fillRect/>
          </a:stretch>
        </p:blipFill>
        <p:spPr bwMode="auto">
          <a:xfrm>
            <a:off x="4427984" y="0"/>
            <a:ext cx="2350885" cy="740094"/>
          </a:xfrm>
          <a:prstGeom prst="rect">
            <a:avLst/>
          </a:prstGeom>
          <a:noFill/>
          <a:ln w="9525">
            <a:noFill/>
            <a:miter lim="800000"/>
            <a:headEnd/>
            <a:tailEnd/>
          </a:ln>
        </p:spPr>
      </p:pic>
      <p:sp>
        <p:nvSpPr>
          <p:cNvPr id="2" name="标题 1"/>
          <p:cNvSpPr>
            <a:spLocks noGrp="1"/>
          </p:cNvSpPr>
          <p:nvPr>
            <p:ph type="ctrTitle"/>
          </p:nvPr>
        </p:nvSpPr>
        <p:spPr>
          <a:xfrm>
            <a:off x="685800" y="2130425"/>
            <a:ext cx="7772400" cy="1470025"/>
          </a:xfrm>
        </p:spPr>
        <p:txBody>
          <a:bodyPr/>
          <a:lstStyle>
            <a:lvl1pPr>
              <a:defRPr/>
            </a:lvl1pPr>
          </a:lstStyle>
          <a:p>
            <a:r>
              <a:rPr lang="zh-CN" altLang="en-US" dirty="0"/>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9" name="日期占位符 3"/>
          <p:cNvSpPr>
            <a:spLocks noGrp="1"/>
          </p:cNvSpPr>
          <p:nvPr>
            <p:ph type="dt" sz="half" idx="10"/>
          </p:nvPr>
        </p:nvSpPr>
        <p:spPr/>
        <p:txBody>
          <a:bodyPr/>
          <a:lstStyle>
            <a:lvl1pPr>
              <a:defRPr/>
            </a:lvl1pPr>
          </a:lstStyle>
          <a:p>
            <a:pPr>
              <a:defRPr/>
            </a:pPr>
            <a:fld id="{3169F77C-FFE2-4793-9207-02588634C718}" type="datetimeFigureOut">
              <a:rPr lang="zh-CN" altLang="en-US"/>
              <a:pPr>
                <a:defRPr/>
              </a:pPr>
              <a:t>2023/9/3</a:t>
            </a:fld>
            <a:endParaRPr lang="zh-CN" altLang="en-US"/>
          </a:p>
        </p:txBody>
      </p:sp>
      <p:sp>
        <p:nvSpPr>
          <p:cNvPr id="10" name="页脚占位符 4"/>
          <p:cNvSpPr>
            <a:spLocks noGrp="1"/>
          </p:cNvSpPr>
          <p:nvPr>
            <p:ph type="ftr" sz="quarter" idx="11"/>
          </p:nvPr>
        </p:nvSpPr>
        <p:spPr/>
        <p:txBody>
          <a:bodyPr/>
          <a:lstStyle>
            <a:lvl1pPr>
              <a:defRPr/>
            </a:lvl1pPr>
          </a:lstStyle>
          <a:p>
            <a:pPr>
              <a:defRPr/>
            </a:pPr>
            <a:endParaRPr lang="zh-CN" altLang="en-US"/>
          </a:p>
        </p:txBody>
      </p:sp>
      <p:sp>
        <p:nvSpPr>
          <p:cNvPr id="11" name="灯片编号占位符 5"/>
          <p:cNvSpPr>
            <a:spLocks noGrp="1"/>
          </p:cNvSpPr>
          <p:nvPr>
            <p:ph type="sldNum" sz="quarter" idx="12"/>
          </p:nvPr>
        </p:nvSpPr>
        <p:spPr/>
        <p:txBody>
          <a:bodyPr/>
          <a:lstStyle>
            <a:lvl1pPr>
              <a:defRPr/>
            </a:lvl1pPr>
          </a:lstStyle>
          <a:p>
            <a:pPr>
              <a:defRPr/>
            </a:pPr>
            <a:fld id="{CDC8E333-6AB3-4FDA-8E97-ACA84AEA881D}" type="slidenum">
              <a:rPr lang="zh-CN" altLang="en-US"/>
              <a:pPr>
                <a:defRPr/>
              </a:pPr>
              <a:t>‹#›</a:t>
            </a:fld>
            <a:endParaRPr lang="zh-CN" altLang="en-US"/>
          </a:p>
        </p:txBody>
      </p:sp>
      <p:pic>
        <p:nvPicPr>
          <p:cNvPr id="13" name="图片 12">
            <a:extLst>
              <a:ext uri="{FF2B5EF4-FFF2-40B4-BE49-F238E27FC236}">
                <a16:creationId xmlns:a16="http://schemas.microsoft.com/office/drawing/2014/main" id="{B93D3275-083F-47FB-8AE6-915D3BE6F623}"/>
              </a:ext>
            </a:extLst>
          </p:cNvPr>
          <p:cNvPicPr>
            <a:picLocks noChangeAspect="1"/>
          </p:cNvPicPr>
          <p:nvPr userDrawn="1"/>
        </p:nvPicPr>
        <p:blipFill rotWithShape="1">
          <a:blip r:embed="rId6" cstate="print"/>
          <a:srcRect l="32675" t="11636" r="34167" b="75247"/>
          <a:stretch/>
        </p:blipFill>
        <p:spPr>
          <a:xfrm>
            <a:off x="971600" y="259870"/>
            <a:ext cx="2592288" cy="576842"/>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6" name="Picture 2" descr="C:\Users\Administrator\Desktop\44.jpg"/>
          <p:cNvPicPr>
            <a:picLocks noChangeAspect="1" noChangeArrowheads="1"/>
          </p:cNvPicPr>
          <p:nvPr/>
        </p:nvPicPr>
        <p:blipFill>
          <a:blip r:embed="rId2" cstate="print"/>
          <a:srcRect/>
          <a:stretch>
            <a:fillRect/>
          </a:stretch>
        </p:blipFill>
        <p:spPr bwMode="auto">
          <a:xfrm>
            <a:off x="7429500" y="5948363"/>
            <a:ext cx="1714500" cy="909637"/>
          </a:xfrm>
          <a:prstGeom prst="rect">
            <a:avLst/>
          </a:prstGeom>
          <a:noFill/>
          <a:ln w="9525">
            <a:noFill/>
            <a:miter lim="800000"/>
            <a:headEnd/>
            <a:tailEnd/>
          </a:ln>
        </p:spPr>
      </p:pic>
      <p:sp>
        <p:nvSpPr>
          <p:cNvPr id="2" name="标题 1"/>
          <p:cNvSpPr>
            <a:spLocks noGrp="1"/>
          </p:cNvSpPr>
          <p:nvPr>
            <p:ph type="title"/>
          </p:nvPr>
        </p:nvSpPr>
        <p:spPr/>
        <p:txBody>
          <a:bodyPr/>
          <a:lstStyle/>
          <a:p>
            <a:r>
              <a:rPr lang="zh-CN" altLang="en-US" dirty="0"/>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B91F3533-4646-4892-B1D3-08067A86ACDD}" type="datetimeFigureOut">
              <a:rPr lang="zh-CN" altLang="en-US"/>
              <a:pPr>
                <a:defRPr/>
              </a:pPr>
              <a:t>2023/9/3</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F36D17FC-20E3-4805-979B-A7677B8B4C05}" type="slidenum">
              <a:rPr lang="zh-CN" altLang="en-US"/>
              <a:pPr>
                <a:defRPr/>
              </a:pPr>
              <a:t>‹#›</a:t>
            </a:fld>
            <a:endParaRPr lang="zh-CN" altLang="en-US"/>
          </a:p>
        </p:txBody>
      </p:sp>
      <p:pic>
        <p:nvPicPr>
          <p:cNvPr id="10" name="Picture 1" descr="C:\Users\Administrator\AppData\Roaming\Tencent\Users\85060380\QQ\WinTemp\RichOle\3{JSB(G2RI2O{CFOGZRGH23.jpg">
            <a:extLst>
              <a:ext uri="{FF2B5EF4-FFF2-40B4-BE49-F238E27FC236}">
                <a16:creationId xmlns:a16="http://schemas.microsoft.com/office/drawing/2014/main" id="{3270E545-7934-4BFA-B40E-1C355AF290BD}"/>
              </a:ext>
            </a:extLst>
          </p:cNvPr>
          <p:cNvPicPr>
            <a:picLocks noChangeAspect="1" noChangeArrowheads="1"/>
          </p:cNvPicPr>
          <p:nvPr userDrawn="1"/>
        </p:nvPicPr>
        <p:blipFill rotWithShape="1">
          <a:blip r:embed="rId3" cstate="print"/>
          <a:srcRect r="78850"/>
          <a:stretch/>
        </p:blipFill>
        <p:spPr bwMode="auto">
          <a:xfrm>
            <a:off x="1" y="6126164"/>
            <a:ext cx="862263" cy="759220"/>
          </a:xfrm>
          <a:prstGeom prst="rect">
            <a:avLst/>
          </a:prstGeom>
          <a:noFill/>
          <a:ln w="9525">
            <a:noFill/>
            <a:miter lim="800000"/>
            <a:headEnd/>
            <a:tailEnd/>
          </a:ln>
        </p:spPr>
      </p:pic>
      <p:pic>
        <p:nvPicPr>
          <p:cNvPr id="11" name="图片 10">
            <a:extLst>
              <a:ext uri="{FF2B5EF4-FFF2-40B4-BE49-F238E27FC236}">
                <a16:creationId xmlns:a16="http://schemas.microsoft.com/office/drawing/2014/main" id="{9D899D2D-93AD-4325-9F12-9039E226AB1A}"/>
              </a:ext>
            </a:extLst>
          </p:cNvPr>
          <p:cNvPicPr>
            <a:picLocks noChangeAspect="1"/>
          </p:cNvPicPr>
          <p:nvPr userDrawn="1"/>
        </p:nvPicPr>
        <p:blipFill rotWithShape="1">
          <a:blip r:embed="rId4" cstate="print"/>
          <a:srcRect l="32675" t="11636" r="34167" b="75247"/>
          <a:stretch/>
        </p:blipFill>
        <p:spPr>
          <a:xfrm>
            <a:off x="810072" y="6309320"/>
            <a:ext cx="1872208" cy="416609"/>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2AD29482-33CF-481B-96A0-139B86FAC950}" type="datetimeFigureOut">
              <a:rPr lang="zh-CN" altLang="en-US"/>
              <a:pPr>
                <a:defRPr/>
              </a:pPr>
              <a:t>2023/9/3</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385CAA0F-046B-4F95-895B-81CD4A6F9754}" type="slidenum">
              <a:rPr lang="zh-CN" altLang="en-US"/>
              <a:pPr>
                <a:defRPr/>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739708D0-9777-46E5-8CD2-243B8DBC2E7E}" type="datetimeFigureOut">
              <a:rPr lang="zh-CN" altLang="en-US"/>
              <a:pPr>
                <a:defRPr/>
              </a:pPr>
              <a:t>2023/9/3</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688200FF-9D1B-4EDF-84DB-F86000551396}" type="slidenum">
              <a:rPr lang="zh-CN" altLang="en-US"/>
              <a:pPr>
                <a:defRPr/>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A3895C0A-1844-48A2-990B-042EBB1C5E5D}" type="datetimeFigureOut">
              <a:rPr lang="zh-CN" altLang="en-US"/>
              <a:pPr>
                <a:defRPr/>
              </a:pPr>
              <a:t>2023/9/3</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631865BB-9052-4115-90F0-13EE3E4ED9A2}" type="slidenum">
              <a:rPr lang="zh-CN" altLang="en-US"/>
              <a:pPr>
                <a:defRPr/>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22A4F1A8-960E-4ED9-9A4F-401EFE12B95D}" type="datetimeFigureOut">
              <a:rPr lang="zh-CN" altLang="en-US"/>
              <a:pPr>
                <a:defRPr/>
              </a:pPr>
              <a:t>2023/9/3</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85FA7321-CB36-4EF0-87BA-C64E2A84FAED}" type="slidenum">
              <a:rPr lang="zh-CN" altLang="en-US"/>
              <a:pPr>
                <a:defRPr/>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8309E1E0-9E63-41E0-8CDD-DF0C8EF81975}" type="datetimeFigureOut">
              <a:rPr lang="zh-CN" altLang="en-US"/>
              <a:pPr>
                <a:defRPr/>
              </a:pPr>
              <a:t>2023/9/3</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961E5839-3D4F-4698-B864-F37BC54DB928}" type="slidenum">
              <a:rPr lang="zh-CN" altLang="en-US"/>
              <a:pPr>
                <a:defRPr/>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8BE0510E-738A-4BCF-A997-3F9844EB6F00}" type="datetimeFigureOut">
              <a:rPr lang="zh-CN" altLang="en-US"/>
              <a:pPr>
                <a:defRPr/>
              </a:pPr>
              <a:t>2023/9/3</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D0BBB1ED-864B-4BBB-A169-7623F6B49B6C}" type="slidenum">
              <a:rPr lang="zh-CN" altLang="en-US"/>
              <a:pPr>
                <a:defRPr/>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E4B2317B-E539-4449-A4E4-953D83123880}" type="datetimeFigureOut">
              <a:rPr lang="zh-CN" altLang="en-US"/>
              <a:pPr>
                <a:defRPr/>
              </a:pPr>
              <a:t>2023/9/3</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A473C950-90C1-4BA5-A0E0-DE52BA876111}" type="slidenum">
              <a:rPr lang="zh-CN" altLang="en-US"/>
              <a:pPr>
                <a:defRPr/>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A5D1DBE6-D526-4889-9558-7CE646AEAB4F}" type="datetimeFigureOut">
              <a:rPr lang="zh-CN" altLang="en-US"/>
              <a:pPr>
                <a:defRPr/>
              </a:pPr>
              <a:t>2023/9/3</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5052D626-89B4-4965-9172-80E6946FF058}" type="slidenum">
              <a:rPr lang="zh-CN" altLang="en-US"/>
              <a:pPr>
                <a:defRPr/>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98125ED1-746E-4220-8D3F-8230166A076B}" type="datetimeFigureOut">
              <a:rPr lang="zh-CN" altLang="en-US"/>
              <a:pPr>
                <a:defRPr/>
              </a:pPr>
              <a:t>2023/9/3</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0481450B-1AE2-4423-BCAB-59BF187F138D}" type="slidenum">
              <a:rPr lang="zh-CN" altLang="en-US"/>
              <a:pPr>
                <a:defRPr/>
              </a:pPr>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pic>
        <p:nvPicPr>
          <p:cNvPr id="6" name="Picture 2" descr="C:\Users\Administrator\Desktop\44.jpg"/>
          <p:cNvPicPr>
            <a:picLocks noChangeAspect="1" noChangeArrowheads="1"/>
          </p:cNvPicPr>
          <p:nvPr/>
        </p:nvPicPr>
        <p:blipFill>
          <a:blip r:embed="rId2" cstate="print"/>
          <a:srcRect/>
          <a:stretch>
            <a:fillRect/>
          </a:stretch>
        </p:blipFill>
        <p:spPr bwMode="auto">
          <a:xfrm>
            <a:off x="7429500" y="5948363"/>
            <a:ext cx="1714500" cy="909637"/>
          </a:xfrm>
          <a:prstGeom prst="rect">
            <a:avLst/>
          </a:prstGeom>
          <a:noFill/>
          <a:ln w="9525">
            <a:noFill/>
            <a:miter lim="800000"/>
            <a:headEnd/>
            <a:tailEnd/>
          </a:ln>
        </p:spPr>
      </p:pic>
      <p:sp>
        <p:nvSpPr>
          <p:cNvPr id="7" name="日期占位符 3"/>
          <p:cNvSpPr>
            <a:spLocks noGrp="1"/>
          </p:cNvSpPr>
          <p:nvPr>
            <p:ph type="dt" sz="half" idx="10"/>
          </p:nvPr>
        </p:nvSpPr>
        <p:spPr/>
        <p:txBody>
          <a:bodyPr/>
          <a:lstStyle>
            <a:lvl1pPr>
              <a:defRPr/>
            </a:lvl1pPr>
          </a:lstStyle>
          <a:p>
            <a:pPr>
              <a:defRPr/>
            </a:pPr>
            <a:fld id="{B91F3533-4646-4892-B1D3-08067A86ACDD}" type="datetimeFigureOut">
              <a:rPr lang="zh-CN" altLang="en-US"/>
              <a:pPr>
                <a:defRPr/>
              </a:pPr>
              <a:t>2023/9/3</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F36D17FC-20E3-4805-979B-A7677B8B4C05}" type="slidenum">
              <a:rPr lang="zh-CN" altLang="en-US"/>
              <a:pPr>
                <a:defRPr/>
              </a:pPr>
              <a:t>‹#›</a:t>
            </a:fld>
            <a:endParaRPr lang="zh-CN" altLang="en-US"/>
          </a:p>
        </p:txBody>
      </p:sp>
      <p:pic>
        <p:nvPicPr>
          <p:cNvPr id="10" name="Picture 1" descr="C:\Users\Administrator\AppData\Roaming\Tencent\Users\85060380\QQ\WinTemp\RichOle\3{JSB(G2RI2O{CFOGZRGH23.jpg">
            <a:extLst>
              <a:ext uri="{FF2B5EF4-FFF2-40B4-BE49-F238E27FC236}">
                <a16:creationId xmlns:a16="http://schemas.microsoft.com/office/drawing/2014/main" id="{3270E545-7934-4BFA-B40E-1C355AF290BD}"/>
              </a:ext>
            </a:extLst>
          </p:cNvPr>
          <p:cNvPicPr>
            <a:picLocks noChangeAspect="1" noChangeArrowheads="1"/>
          </p:cNvPicPr>
          <p:nvPr userDrawn="1"/>
        </p:nvPicPr>
        <p:blipFill rotWithShape="1">
          <a:blip r:embed="rId3" cstate="print"/>
          <a:srcRect r="78850"/>
          <a:stretch/>
        </p:blipFill>
        <p:spPr bwMode="auto">
          <a:xfrm>
            <a:off x="1" y="6126164"/>
            <a:ext cx="862263" cy="759220"/>
          </a:xfrm>
          <a:prstGeom prst="rect">
            <a:avLst/>
          </a:prstGeom>
          <a:noFill/>
          <a:ln w="9525">
            <a:noFill/>
            <a:miter lim="800000"/>
            <a:headEnd/>
            <a:tailEnd/>
          </a:ln>
        </p:spPr>
      </p:pic>
      <p:pic>
        <p:nvPicPr>
          <p:cNvPr id="11" name="图片 10">
            <a:extLst>
              <a:ext uri="{FF2B5EF4-FFF2-40B4-BE49-F238E27FC236}">
                <a16:creationId xmlns:a16="http://schemas.microsoft.com/office/drawing/2014/main" id="{9D899D2D-93AD-4325-9F12-9039E226AB1A}"/>
              </a:ext>
            </a:extLst>
          </p:cNvPr>
          <p:cNvPicPr>
            <a:picLocks noChangeAspect="1"/>
          </p:cNvPicPr>
          <p:nvPr userDrawn="1"/>
        </p:nvPicPr>
        <p:blipFill rotWithShape="1">
          <a:blip r:embed="rId4" cstate="print"/>
          <a:srcRect l="32675" t="11636" r="34167" b="75247"/>
          <a:stretch/>
        </p:blipFill>
        <p:spPr>
          <a:xfrm>
            <a:off x="810072" y="6309320"/>
            <a:ext cx="1872208" cy="416609"/>
          </a:xfrm>
          <a:prstGeom prst="rect">
            <a:avLst/>
          </a:prstGeom>
        </p:spPr>
      </p:pic>
    </p:spTree>
    <p:extLst>
      <p:ext uri="{BB962C8B-B14F-4D97-AF65-F5344CB8AC3E}">
        <p14:creationId xmlns:p14="http://schemas.microsoft.com/office/powerpoint/2010/main" val="35023270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defRPr>
            </a:lvl1pPr>
          </a:lstStyle>
          <a:p>
            <a:pPr>
              <a:defRPr/>
            </a:pPr>
            <a:fld id="{B11D7156-5C3F-4BEA-93EC-FF328D866D27}" type="datetimeFigureOut">
              <a:rPr lang="zh-CN" altLang="en-US"/>
              <a:pPr>
                <a:defRPr/>
              </a:pPr>
              <a:t>2023/9/3</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defRPr>
            </a:lvl1pPr>
          </a:lstStyle>
          <a:p>
            <a:pPr>
              <a:defRPr/>
            </a:pPr>
            <a:fld id="{9C709816-5D03-481C-A7CB-52B98C3CDEFE}"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3853" r:id="rId1"/>
    <p:sldLayoutId id="2147483854" r:id="rId2"/>
    <p:sldLayoutId id="2147483844" r:id="rId3"/>
    <p:sldLayoutId id="2147483845" r:id="rId4"/>
    <p:sldLayoutId id="2147483846" r:id="rId5"/>
    <p:sldLayoutId id="2147483847" r:id="rId6"/>
    <p:sldLayoutId id="2147483848" r:id="rId7"/>
    <p:sldLayoutId id="2147483849" r:id="rId8"/>
    <p:sldLayoutId id="2147483850" r:id="rId9"/>
    <p:sldLayoutId id="2147483851" r:id="rId10"/>
    <p:sldLayoutId id="2147483852" r:id="rId11"/>
    <p:sldLayoutId id="2147483855" r:id="rId12"/>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charset="-122"/>
        </a:defRPr>
      </a:lvl2pPr>
      <a:lvl3pPr algn="ctr" rtl="0" eaLnBrk="0" fontAlgn="base" hangingPunct="0">
        <a:spcBef>
          <a:spcPct val="0"/>
        </a:spcBef>
        <a:spcAft>
          <a:spcPct val="0"/>
        </a:spcAft>
        <a:defRPr sz="4400">
          <a:solidFill>
            <a:schemeClr val="tx1"/>
          </a:solidFill>
          <a:latin typeface="Calibri" pitchFamily="34" charset="0"/>
          <a:ea typeface="宋体" charset="-122"/>
        </a:defRPr>
      </a:lvl3pPr>
      <a:lvl4pPr algn="ctr" rtl="0" eaLnBrk="0" fontAlgn="base" hangingPunct="0">
        <a:spcBef>
          <a:spcPct val="0"/>
        </a:spcBef>
        <a:spcAft>
          <a:spcPct val="0"/>
        </a:spcAft>
        <a:defRPr sz="4400">
          <a:solidFill>
            <a:schemeClr val="tx1"/>
          </a:solidFill>
          <a:latin typeface="Calibri" pitchFamily="34" charset="0"/>
          <a:ea typeface="宋体" charset="-122"/>
        </a:defRPr>
      </a:lvl4pPr>
      <a:lvl5pPr algn="ctr" rtl="0" eaLnBrk="0" fontAlgn="base" hangingPunct="0">
        <a:spcBef>
          <a:spcPct val="0"/>
        </a:spcBef>
        <a:spcAft>
          <a:spcPct val="0"/>
        </a:spcAft>
        <a:defRPr sz="4400">
          <a:solidFill>
            <a:schemeClr val="tx1"/>
          </a:solidFill>
          <a:latin typeface="Calibri" pitchFamily="34" charset="0"/>
          <a:ea typeface="宋体" charset="-122"/>
        </a:defRPr>
      </a:lvl5pPr>
      <a:lvl6pPr marL="457200" algn="ctr" rtl="0" fontAlgn="base">
        <a:spcBef>
          <a:spcPct val="0"/>
        </a:spcBef>
        <a:spcAft>
          <a:spcPct val="0"/>
        </a:spcAft>
        <a:defRPr sz="4400">
          <a:solidFill>
            <a:schemeClr val="tx1"/>
          </a:solidFill>
          <a:latin typeface="Calibri" pitchFamily="34" charset="0"/>
          <a:ea typeface="宋体" charset="-122"/>
        </a:defRPr>
      </a:lvl6pPr>
      <a:lvl7pPr marL="914400" algn="ctr" rtl="0" fontAlgn="base">
        <a:spcBef>
          <a:spcPct val="0"/>
        </a:spcBef>
        <a:spcAft>
          <a:spcPct val="0"/>
        </a:spcAft>
        <a:defRPr sz="4400">
          <a:solidFill>
            <a:schemeClr val="tx1"/>
          </a:solidFill>
          <a:latin typeface="Calibri" pitchFamily="34" charset="0"/>
          <a:ea typeface="宋体" charset="-122"/>
        </a:defRPr>
      </a:lvl7pPr>
      <a:lvl8pPr marL="1371600" algn="ctr" rtl="0" fontAlgn="base">
        <a:spcBef>
          <a:spcPct val="0"/>
        </a:spcBef>
        <a:spcAft>
          <a:spcPct val="0"/>
        </a:spcAft>
        <a:defRPr sz="4400">
          <a:solidFill>
            <a:schemeClr val="tx1"/>
          </a:solidFill>
          <a:latin typeface="Calibri" pitchFamily="34" charset="0"/>
          <a:ea typeface="宋体" charset="-122"/>
        </a:defRPr>
      </a:lvl8pPr>
      <a:lvl9pPr marL="1828800" algn="ctr" rtl="0" fontAlgn="base">
        <a:spcBef>
          <a:spcPct val="0"/>
        </a:spcBef>
        <a:spcAft>
          <a:spcPct val="0"/>
        </a:spcAft>
        <a:defRPr sz="4400">
          <a:solidFill>
            <a:schemeClr val="tx1"/>
          </a:solidFill>
          <a:latin typeface="Calibri" pitchFamily="34" charset="0"/>
          <a:ea typeface="宋体" charset="-122"/>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gdyang@sdau.edu.c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11.jpeg"/></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3.jpeg"/></Relationships>
</file>

<file path=ppt/slides/_rels/slide8.xml.rels><?xml version="1.0" encoding="UTF-8" standalone="yes"?>
<Relationships xmlns="http://schemas.openxmlformats.org/package/2006/relationships"><Relationship Id="rId2" Type="http://schemas.openxmlformats.org/officeDocument/2006/relationships/slide" Target="slide2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slide" Target="slide29.xml"/><Relationship Id="rId4" Type="http://schemas.openxmlformats.org/officeDocument/2006/relationships/slide" Target="slide21.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slide" Target="slide23.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slide" Target="slide57.xml"/><Relationship Id="rId2" Type="http://schemas.openxmlformats.org/officeDocument/2006/relationships/slide" Target="slide59.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oleObject" Target="../embeddings/oleObject1.bin"/><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27.xml"/><Relationship Id="rId1" Type="http://schemas.openxmlformats.org/officeDocument/2006/relationships/slideLayout" Target="../slideLayouts/slideLayout7.xml"/><Relationship Id="rId5" Type="http://schemas.openxmlformats.org/officeDocument/2006/relationships/image" Target="../media/image44.png"/><Relationship Id="rId4" Type="http://schemas.openxmlformats.org/officeDocument/2006/relationships/image" Target="../media/image43.jpeg"/></Relationships>
</file>

<file path=ppt/slides/_rels/slide60.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p:txBody>
          <a:bodyPr/>
          <a:lstStyle/>
          <a:p>
            <a:r>
              <a:rPr lang="en-US" altLang="zh-CN" b="1" dirty="0">
                <a:solidFill>
                  <a:srgbClr val="CC3300"/>
                </a:solidFill>
              </a:rPr>
              <a:t>Section N</a:t>
            </a:r>
            <a:br>
              <a:rPr lang="en-US" altLang="zh-CN" b="1" dirty="0">
                <a:solidFill>
                  <a:srgbClr val="CC3300"/>
                </a:solidFill>
              </a:rPr>
            </a:br>
            <a:r>
              <a:rPr lang="en-US" altLang="zh-CN" b="1" dirty="0">
                <a:solidFill>
                  <a:srgbClr val="CC3300"/>
                </a:solidFill>
              </a:rPr>
              <a:t>Nucleotide Metabolism</a:t>
            </a:r>
          </a:p>
        </p:txBody>
      </p:sp>
      <p:sp>
        <p:nvSpPr>
          <p:cNvPr id="3" name="副标题 2"/>
          <p:cNvSpPr>
            <a:spLocks noGrp="1"/>
          </p:cNvSpPr>
          <p:nvPr>
            <p:ph type="subTitle" idx="1"/>
          </p:nvPr>
        </p:nvSpPr>
        <p:spPr>
          <a:xfrm>
            <a:off x="5143500" y="3714750"/>
            <a:ext cx="3214688" cy="1471613"/>
          </a:xfrm>
        </p:spPr>
        <p:txBody>
          <a:bodyPr/>
          <a:lstStyle/>
          <a:p>
            <a:pPr eaLnBrk="1" hangingPunct="1"/>
            <a:r>
              <a:rPr lang="en-US" altLang="zh-CN" sz="2400" b="1" dirty="0" err="1">
                <a:solidFill>
                  <a:schemeClr val="tx1"/>
                </a:solidFill>
              </a:rPr>
              <a:t>Guodong</a:t>
            </a:r>
            <a:r>
              <a:rPr lang="en-US" altLang="zh-CN" sz="2400" b="1" dirty="0">
                <a:solidFill>
                  <a:schemeClr val="tx1"/>
                </a:solidFill>
              </a:rPr>
              <a:t> Yang</a:t>
            </a:r>
          </a:p>
          <a:p>
            <a:pPr eaLnBrk="1" hangingPunct="1"/>
            <a:r>
              <a:rPr lang="en-US" altLang="zh-CN" sz="1600" b="1" dirty="0">
                <a:solidFill>
                  <a:schemeClr val="tx1"/>
                </a:solidFill>
              </a:rPr>
              <a:t>Biochemistry and Molecular Biology, College of Life Sciences</a:t>
            </a:r>
            <a:br>
              <a:rPr lang="en-US" altLang="zh-CN" sz="1600" b="1" dirty="0">
                <a:solidFill>
                  <a:schemeClr val="tx1"/>
                </a:solidFill>
              </a:rPr>
            </a:br>
            <a:endParaRPr lang="en-US" altLang="zh-CN" sz="1600" b="1" dirty="0">
              <a:solidFill>
                <a:schemeClr val="tx1"/>
              </a:solidFill>
            </a:endParaRPr>
          </a:p>
          <a:p>
            <a:pPr eaLnBrk="1" hangingPunct="1"/>
            <a:r>
              <a:rPr lang="en-US" altLang="zh-CN" sz="1600" b="1" dirty="0">
                <a:solidFill>
                  <a:schemeClr val="tx1"/>
                </a:solidFill>
                <a:hlinkClick r:id="rId2"/>
              </a:rPr>
              <a:t>gdyang@sdau.edu.cn</a:t>
            </a:r>
            <a:endParaRPr lang="en-US" altLang="zh-CN" sz="1600" b="1" dirty="0">
              <a:solidFill>
                <a:schemeClr val="tx1"/>
              </a:solidFill>
            </a:endParaRPr>
          </a:p>
          <a:p>
            <a:pPr eaLnBrk="1" hangingPunct="1"/>
            <a:r>
              <a:rPr lang="en-US" altLang="zh-CN" sz="1600" b="1" dirty="0">
                <a:solidFill>
                  <a:schemeClr val="tx1"/>
                </a:solidFill>
              </a:rPr>
              <a:t>13854808762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0" y="2780928"/>
            <a:ext cx="9144000" cy="1143000"/>
          </a:xfrm>
        </p:spPr>
        <p:txBody>
          <a:bodyPr/>
          <a:lstStyle/>
          <a:p>
            <a:r>
              <a:rPr lang="en-US" altLang="zh-CN" b="1" dirty="0">
                <a:solidFill>
                  <a:srgbClr val="0000FF"/>
                </a:solidFill>
              </a:rPr>
              <a:t>Radioisotope tracer experiments revealed the origins of the atoms in the </a:t>
            </a:r>
            <a:r>
              <a:rPr lang="en-US" altLang="zh-CN" b="1" dirty="0" err="1">
                <a:solidFill>
                  <a:srgbClr val="0000FF"/>
                </a:solidFill>
              </a:rPr>
              <a:t>purine</a:t>
            </a:r>
            <a:r>
              <a:rPr lang="en-US" altLang="zh-CN" b="1" dirty="0">
                <a:solidFill>
                  <a:srgbClr val="0000FF"/>
                </a:solidFill>
              </a:rPr>
              <a:t> and </a:t>
            </a:r>
            <a:r>
              <a:rPr lang="en-US" altLang="zh-CN" b="1" dirty="0" err="1">
                <a:solidFill>
                  <a:srgbClr val="0000FF"/>
                </a:solidFill>
              </a:rPr>
              <a:t>pyrimidine</a:t>
            </a:r>
            <a:r>
              <a:rPr lang="en-US" altLang="zh-CN" b="1" dirty="0">
                <a:solidFill>
                  <a:srgbClr val="0000FF"/>
                </a:solidFill>
              </a:rPr>
              <a:t> rings</a:t>
            </a:r>
          </a:p>
        </p:txBody>
      </p:sp>
    </p:spTree>
  </p:cSld>
  <p:clrMapOvr>
    <a:masterClrMapping/>
  </p:clrMapOvr>
  <p:transition spd="slow" advClick="0">
    <p:blinds dir="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f22-30"/>
          <p:cNvPicPr>
            <a:picLocks noChangeAspect="1" noChangeArrowheads="1"/>
          </p:cNvPicPr>
          <p:nvPr/>
        </p:nvPicPr>
        <p:blipFill>
          <a:blip r:embed="rId3" cstate="print">
            <a:lum contrast="18000"/>
          </a:blip>
          <a:srcRect/>
          <a:stretch>
            <a:fillRect/>
          </a:stretch>
        </p:blipFill>
        <p:spPr bwMode="auto">
          <a:xfrm>
            <a:off x="0" y="0"/>
            <a:ext cx="9144000" cy="6858000"/>
          </a:xfrm>
          <a:prstGeom prst="rect">
            <a:avLst/>
          </a:prstGeom>
          <a:noFill/>
        </p:spPr>
      </p:pic>
      <p:sp>
        <p:nvSpPr>
          <p:cNvPr id="6147" name="Rectangle 3"/>
          <p:cNvSpPr>
            <a:spLocks noChangeArrowheads="1"/>
          </p:cNvSpPr>
          <p:nvPr/>
        </p:nvSpPr>
        <p:spPr bwMode="auto">
          <a:xfrm>
            <a:off x="0" y="2254250"/>
            <a:ext cx="2587625" cy="1552575"/>
          </a:xfrm>
          <a:prstGeom prst="rect">
            <a:avLst/>
          </a:prstGeom>
          <a:noFill/>
          <a:ln w="12700" cap="sq">
            <a:noFill/>
            <a:miter lim="800000"/>
            <a:headEnd type="none" w="sm" len="sm"/>
            <a:tailEnd type="none" w="sm" len="sm"/>
          </a:ln>
          <a:effectLst/>
        </p:spPr>
        <p:txBody>
          <a:bodyPr wrap="none">
            <a:spAutoFit/>
          </a:bodyPr>
          <a:lstStyle/>
          <a:p>
            <a:r>
              <a:rPr kumimoji="1" lang="en-US" altLang="zh-CN" sz="2400" b="1">
                <a:solidFill>
                  <a:schemeClr val="hlink"/>
                </a:solidFill>
                <a:latin typeface="Times New Roman" pitchFamily="18" charset="0"/>
              </a:rPr>
              <a:t>origins of the ring </a:t>
            </a:r>
          </a:p>
          <a:p>
            <a:r>
              <a:rPr kumimoji="1" lang="en-US" altLang="zh-CN" sz="2400" b="1">
                <a:solidFill>
                  <a:schemeClr val="hlink"/>
                </a:solidFill>
                <a:latin typeface="Times New Roman" pitchFamily="18" charset="0"/>
              </a:rPr>
              <a:t>atoms of purines</a:t>
            </a:r>
          </a:p>
          <a:p>
            <a:r>
              <a:rPr kumimoji="1" lang="en-US" altLang="zh-CN" sz="2400">
                <a:solidFill>
                  <a:schemeClr val="hlink"/>
                </a:solidFill>
                <a:latin typeface="Times New Roman" pitchFamily="18" charset="0"/>
              </a:rPr>
              <a:t>(</a:t>
            </a:r>
            <a:r>
              <a:rPr kumimoji="1" lang="en-US" altLang="zh-CN" sz="2400" i="1">
                <a:solidFill>
                  <a:schemeClr val="hlink"/>
                </a:solidFill>
                <a:latin typeface="Times New Roman" pitchFamily="18" charset="0"/>
              </a:rPr>
              <a:t>numbered is the </a:t>
            </a:r>
          </a:p>
          <a:p>
            <a:r>
              <a:rPr kumimoji="1" lang="en-US" altLang="zh-CN" sz="2400" i="1">
                <a:solidFill>
                  <a:schemeClr val="hlink"/>
                </a:solidFill>
                <a:latin typeface="Times New Roman" pitchFamily="18" charset="0"/>
              </a:rPr>
              <a:t>order of addition</a:t>
            </a:r>
            <a:r>
              <a:rPr kumimoji="1" lang="en-US" altLang="zh-CN" sz="2400">
                <a:solidFill>
                  <a:schemeClr val="hlink"/>
                </a:solidFill>
                <a:latin typeface="Times New Roman" pitchFamily="18" charset="0"/>
              </a:rPr>
              <a:t>)</a:t>
            </a:r>
          </a:p>
        </p:txBody>
      </p:sp>
      <p:sp>
        <p:nvSpPr>
          <p:cNvPr id="6148" name="Line 4"/>
          <p:cNvSpPr>
            <a:spLocks noChangeShapeType="1"/>
          </p:cNvSpPr>
          <p:nvPr/>
        </p:nvSpPr>
        <p:spPr bwMode="auto">
          <a:xfrm>
            <a:off x="5638800" y="3962400"/>
            <a:ext cx="609600" cy="685800"/>
          </a:xfrm>
          <a:prstGeom prst="line">
            <a:avLst/>
          </a:prstGeom>
          <a:noFill/>
          <a:ln w="9525">
            <a:solidFill>
              <a:schemeClr val="tx1"/>
            </a:solidFill>
            <a:miter lim="800000"/>
            <a:headEnd/>
            <a:tailEnd/>
          </a:ln>
          <a:effectLst/>
        </p:spPr>
        <p:txBody>
          <a:bodyPr wrap="none"/>
          <a:lstStyle/>
          <a:p>
            <a:endParaRPr lang="zh-CN" altLang="en-US" dirty="0">
              <a:latin typeface="Times New Roman" panose="02020603050405020304" pitchFamily="18" charset="0"/>
            </a:endParaRPr>
          </a:p>
        </p:txBody>
      </p:sp>
      <p:sp>
        <p:nvSpPr>
          <p:cNvPr id="6149" name="Rectangle 5"/>
          <p:cNvSpPr>
            <a:spLocks noChangeArrowheads="1"/>
          </p:cNvSpPr>
          <p:nvPr/>
        </p:nvSpPr>
        <p:spPr bwMode="auto">
          <a:xfrm>
            <a:off x="6248400" y="4495800"/>
            <a:ext cx="1970088" cy="549275"/>
          </a:xfrm>
          <a:prstGeom prst="rect">
            <a:avLst/>
          </a:prstGeom>
          <a:noFill/>
          <a:ln w="9525">
            <a:noFill/>
            <a:miter lim="800000"/>
            <a:headEnd/>
            <a:tailEnd/>
          </a:ln>
          <a:effectLst/>
        </p:spPr>
        <p:txBody>
          <a:bodyPr wrap="none">
            <a:spAutoFit/>
          </a:bodyPr>
          <a:lstStyle/>
          <a:p>
            <a:r>
              <a:rPr kumimoji="1" lang="en-US" altLang="zh-CN" sz="3000" dirty="0">
                <a:latin typeface="Tahoma" pitchFamily="34" charset="0"/>
              </a:rPr>
              <a:t>Ribose 5-P</a:t>
            </a:r>
          </a:p>
        </p:txBody>
      </p:sp>
      <p:sp>
        <p:nvSpPr>
          <p:cNvPr id="6150" name="Rectangle 6"/>
          <p:cNvSpPr>
            <a:spLocks noChangeArrowheads="1"/>
          </p:cNvSpPr>
          <p:nvPr/>
        </p:nvSpPr>
        <p:spPr bwMode="auto">
          <a:xfrm>
            <a:off x="5257800" y="3249613"/>
            <a:ext cx="346075" cy="396875"/>
          </a:xfrm>
          <a:prstGeom prst="rect">
            <a:avLst/>
          </a:prstGeom>
          <a:noFill/>
          <a:ln w="9525">
            <a:noFill/>
            <a:miter lim="800000"/>
            <a:headEnd/>
            <a:tailEnd/>
          </a:ln>
          <a:effectLst/>
        </p:spPr>
        <p:txBody>
          <a:bodyPr wrap="none">
            <a:spAutoFit/>
          </a:bodyPr>
          <a:lstStyle/>
          <a:p>
            <a:r>
              <a:rPr kumimoji="1" lang="en-US" altLang="zh-CN" sz="2000" b="1">
                <a:solidFill>
                  <a:srgbClr val="FF0000"/>
                </a:solidFill>
                <a:latin typeface="Tahoma" pitchFamily="34" charset="0"/>
              </a:rPr>
              <a:t>1</a:t>
            </a:r>
          </a:p>
        </p:txBody>
      </p:sp>
      <p:sp>
        <p:nvSpPr>
          <p:cNvPr id="6151" name="Rectangle 7"/>
          <p:cNvSpPr>
            <a:spLocks noChangeArrowheads="1"/>
          </p:cNvSpPr>
          <p:nvPr/>
        </p:nvSpPr>
        <p:spPr bwMode="auto">
          <a:xfrm>
            <a:off x="4800600" y="2743200"/>
            <a:ext cx="346075" cy="396875"/>
          </a:xfrm>
          <a:prstGeom prst="rect">
            <a:avLst/>
          </a:prstGeom>
          <a:noFill/>
          <a:ln w="9525">
            <a:noFill/>
            <a:miter lim="800000"/>
            <a:headEnd/>
            <a:tailEnd/>
          </a:ln>
          <a:effectLst/>
        </p:spPr>
        <p:txBody>
          <a:bodyPr wrap="none">
            <a:spAutoFit/>
          </a:bodyPr>
          <a:lstStyle/>
          <a:p>
            <a:r>
              <a:rPr kumimoji="1" lang="en-US" altLang="zh-CN" sz="2000" b="1">
                <a:solidFill>
                  <a:srgbClr val="FF0000"/>
                </a:solidFill>
                <a:latin typeface="Tahoma" pitchFamily="34" charset="0"/>
              </a:rPr>
              <a:t>2</a:t>
            </a:r>
          </a:p>
        </p:txBody>
      </p:sp>
      <p:sp>
        <p:nvSpPr>
          <p:cNvPr id="6152" name="Rectangle 8"/>
          <p:cNvSpPr>
            <a:spLocks noChangeArrowheads="1"/>
          </p:cNvSpPr>
          <p:nvPr/>
        </p:nvSpPr>
        <p:spPr bwMode="auto">
          <a:xfrm>
            <a:off x="5943600" y="2743200"/>
            <a:ext cx="346075" cy="396875"/>
          </a:xfrm>
          <a:prstGeom prst="rect">
            <a:avLst/>
          </a:prstGeom>
          <a:noFill/>
          <a:ln w="9525">
            <a:noFill/>
            <a:miter lim="800000"/>
            <a:headEnd/>
            <a:tailEnd/>
          </a:ln>
          <a:effectLst/>
        </p:spPr>
        <p:txBody>
          <a:bodyPr wrap="none">
            <a:spAutoFit/>
          </a:bodyPr>
          <a:lstStyle/>
          <a:p>
            <a:r>
              <a:rPr kumimoji="1" lang="en-US" altLang="zh-CN" sz="2000" b="1">
                <a:solidFill>
                  <a:srgbClr val="FF0000"/>
                </a:solidFill>
                <a:latin typeface="Tahoma" pitchFamily="34" charset="0"/>
              </a:rPr>
              <a:t>3</a:t>
            </a:r>
          </a:p>
        </p:txBody>
      </p:sp>
      <p:sp>
        <p:nvSpPr>
          <p:cNvPr id="6153" name="Rectangle 9"/>
          <p:cNvSpPr>
            <a:spLocks noChangeArrowheads="1"/>
          </p:cNvSpPr>
          <p:nvPr/>
        </p:nvSpPr>
        <p:spPr bwMode="auto">
          <a:xfrm>
            <a:off x="3962400" y="4038600"/>
            <a:ext cx="346075" cy="396875"/>
          </a:xfrm>
          <a:prstGeom prst="rect">
            <a:avLst/>
          </a:prstGeom>
          <a:noFill/>
          <a:ln w="9525">
            <a:noFill/>
            <a:miter lim="800000"/>
            <a:headEnd/>
            <a:tailEnd/>
          </a:ln>
          <a:effectLst/>
        </p:spPr>
        <p:txBody>
          <a:bodyPr wrap="none">
            <a:spAutoFit/>
          </a:bodyPr>
          <a:lstStyle/>
          <a:p>
            <a:r>
              <a:rPr kumimoji="1" lang="en-US" altLang="zh-CN" sz="2000" b="1">
                <a:solidFill>
                  <a:srgbClr val="FF0000"/>
                </a:solidFill>
                <a:latin typeface="Tahoma" pitchFamily="34" charset="0"/>
              </a:rPr>
              <a:t>4</a:t>
            </a:r>
          </a:p>
        </p:txBody>
      </p:sp>
      <p:sp>
        <p:nvSpPr>
          <p:cNvPr id="6154" name="Rectangle 10"/>
          <p:cNvSpPr>
            <a:spLocks noChangeArrowheads="1"/>
          </p:cNvSpPr>
          <p:nvPr/>
        </p:nvSpPr>
        <p:spPr bwMode="auto">
          <a:xfrm>
            <a:off x="4191000" y="1905000"/>
            <a:ext cx="346075" cy="396875"/>
          </a:xfrm>
          <a:prstGeom prst="rect">
            <a:avLst/>
          </a:prstGeom>
          <a:noFill/>
          <a:ln w="9525">
            <a:noFill/>
            <a:miter lim="800000"/>
            <a:headEnd/>
            <a:tailEnd/>
          </a:ln>
          <a:effectLst/>
        </p:spPr>
        <p:txBody>
          <a:bodyPr wrap="none">
            <a:spAutoFit/>
          </a:bodyPr>
          <a:lstStyle/>
          <a:p>
            <a:r>
              <a:rPr kumimoji="1" lang="en-US" altLang="zh-CN" sz="2000" b="1">
                <a:solidFill>
                  <a:srgbClr val="FF0000"/>
                </a:solidFill>
                <a:latin typeface="Tahoma" pitchFamily="34" charset="0"/>
              </a:rPr>
              <a:t>5</a:t>
            </a:r>
          </a:p>
        </p:txBody>
      </p:sp>
      <p:sp>
        <p:nvSpPr>
          <p:cNvPr id="6155" name="Rectangle 11"/>
          <p:cNvSpPr>
            <a:spLocks noChangeArrowheads="1"/>
          </p:cNvSpPr>
          <p:nvPr/>
        </p:nvSpPr>
        <p:spPr bwMode="auto">
          <a:xfrm>
            <a:off x="3276600" y="2133600"/>
            <a:ext cx="346075" cy="396875"/>
          </a:xfrm>
          <a:prstGeom prst="rect">
            <a:avLst/>
          </a:prstGeom>
          <a:noFill/>
          <a:ln w="9525">
            <a:noFill/>
            <a:miter lim="800000"/>
            <a:headEnd/>
            <a:tailEnd/>
          </a:ln>
          <a:effectLst/>
        </p:spPr>
        <p:txBody>
          <a:bodyPr wrap="none">
            <a:spAutoFit/>
          </a:bodyPr>
          <a:lstStyle/>
          <a:p>
            <a:r>
              <a:rPr kumimoji="1" lang="en-US" altLang="zh-CN" sz="2000" b="1">
                <a:solidFill>
                  <a:srgbClr val="FF0000"/>
                </a:solidFill>
                <a:latin typeface="Tahoma" pitchFamily="34" charset="0"/>
              </a:rPr>
              <a:t>6</a:t>
            </a:r>
          </a:p>
        </p:txBody>
      </p:sp>
      <p:sp>
        <p:nvSpPr>
          <p:cNvPr id="6156" name="Rectangle 12"/>
          <p:cNvSpPr>
            <a:spLocks noChangeArrowheads="1"/>
          </p:cNvSpPr>
          <p:nvPr/>
        </p:nvSpPr>
        <p:spPr bwMode="auto">
          <a:xfrm>
            <a:off x="3581400" y="3124200"/>
            <a:ext cx="346075" cy="396875"/>
          </a:xfrm>
          <a:prstGeom prst="rect">
            <a:avLst/>
          </a:prstGeom>
          <a:noFill/>
          <a:ln w="9525">
            <a:noFill/>
            <a:miter lim="800000"/>
            <a:headEnd/>
            <a:tailEnd/>
          </a:ln>
          <a:effectLst/>
        </p:spPr>
        <p:txBody>
          <a:bodyPr wrap="none">
            <a:spAutoFit/>
          </a:bodyPr>
          <a:lstStyle/>
          <a:p>
            <a:r>
              <a:rPr kumimoji="1" lang="en-US" altLang="zh-CN" sz="2000" b="1">
                <a:solidFill>
                  <a:srgbClr val="FF0000"/>
                </a:solidFill>
                <a:latin typeface="Tahoma" pitchFamily="34" charset="0"/>
              </a:rPr>
              <a:t>7</a:t>
            </a:r>
          </a:p>
        </p:txBody>
      </p:sp>
      <p:sp>
        <p:nvSpPr>
          <p:cNvPr id="13" name="矩形 12"/>
          <p:cNvSpPr/>
          <p:nvPr/>
        </p:nvSpPr>
        <p:spPr>
          <a:xfrm>
            <a:off x="6357950" y="5286388"/>
            <a:ext cx="2593980" cy="461665"/>
          </a:xfrm>
          <a:prstGeom prst="rect">
            <a:avLst/>
          </a:prstGeom>
        </p:spPr>
        <p:txBody>
          <a:bodyPr wrap="none">
            <a:spAutoFit/>
          </a:bodyPr>
          <a:lstStyle/>
          <a:p>
            <a:r>
              <a:rPr lang="en-US" sz="2400" b="1" i="1" dirty="0">
                <a:latin typeface="Times New Roman" pitchFamily="18" charset="0"/>
                <a:cs typeface="Times New Roman" pitchFamily="18" charset="0"/>
              </a:rPr>
              <a:t>imidazole </a:t>
            </a:r>
            <a:r>
              <a:rPr lang="en-US" altLang="zh-CN" sz="2400" b="1" i="1" dirty="0">
                <a:latin typeface="Times New Roman" pitchFamily="18" charset="0"/>
                <a:cs typeface="Times New Roman" pitchFamily="18" charset="0"/>
              </a:rPr>
              <a:t>ring first</a:t>
            </a:r>
            <a:endParaRPr lang="zh-CN" altLang="en-US" sz="2400" dirty="0">
              <a:latin typeface="Times New Roman" pitchFamily="18" charset="0"/>
              <a:cs typeface="Times New Roman" pitchFamily="18" charset="0"/>
            </a:endParaRPr>
          </a:p>
        </p:txBody>
      </p:sp>
    </p:spTree>
  </p:cSld>
  <p:clrMapOvr>
    <a:masterClrMapping/>
  </p:clrMapOvr>
  <p:transition spd="slow" advClick="0">
    <p:blinds dir="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C323316E-8CCA-4832-860E-9A1FE67FE5FF}"/>
              </a:ext>
            </a:extLst>
          </p:cNvPr>
          <p:cNvPicPr>
            <a:picLocks noChangeAspect="1"/>
          </p:cNvPicPr>
          <p:nvPr/>
        </p:nvPicPr>
        <p:blipFill>
          <a:blip r:embed="rId3" cstate="print"/>
          <a:stretch>
            <a:fillRect/>
          </a:stretch>
        </p:blipFill>
        <p:spPr>
          <a:xfrm>
            <a:off x="2404895" y="1196752"/>
            <a:ext cx="3688189" cy="3799056"/>
          </a:xfrm>
          <a:prstGeom prst="rect">
            <a:avLst/>
          </a:prstGeom>
        </p:spPr>
      </p:pic>
      <p:sp>
        <p:nvSpPr>
          <p:cNvPr id="6" name="文本框 5">
            <a:extLst>
              <a:ext uri="{FF2B5EF4-FFF2-40B4-BE49-F238E27FC236}">
                <a16:creationId xmlns:a16="http://schemas.microsoft.com/office/drawing/2014/main" id="{31C6B18F-2141-4921-A5DD-09A8F4B67AE1}"/>
              </a:ext>
            </a:extLst>
          </p:cNvPr>
          <p:cNvSpPr txBox="1"/>
          <p:nvPr/>
        </p:nvSpPr>
        <p:spPr>
          <a:xfrm>
            <a:off x="1979712" y="827420"/>
            <a:ext cx="2592288" cy="369332"/>
          </a:xfrm>
          <a:prstGeom prst="rect">
            <a:avLst/>
          </a:prstGeom>
          <a:noFill/>
        </p:spPr>
        <p:txBody>
          <a:bodyPr wrap="square" rtlCol="0">
            <a:spAutoFit/>
          </a:bodyPr>
          <a:lstStyle/>
          <a:p>
            <a:r>
              <a:rPr lang="en-US" altLang="zh-CN" dirty="0">
                <a:latin typeface="Times New Roman" panose="02020603050405020304" pitchFamily="18" charset="0"/>
              </a:rPr>
              <a:t>Carbamoyl phosphate</a:t>
            </a:r>
            <a:endParaRPr lang="zh-CN" altLang="en-US" dirty="0">
              <a:latin typeface="Times New Roman" panose="02020603050405020304" pitchFamily="18" charset="0"/>
            </a:endParaRPr>
          </a:p>
        </p:txBody>
      </p:sp>
      <p:sp>
        <p:nvSpPr>
          <p:cNvPr id="7" name="文本框 6">
            <a:extLst>
              <a:ext uri="{FF2B5EF4-FFF2-40B4-BE49-F238E27FC236}">
                <a16:creationId xmlns:a16="http://schemas.microsoft.com/office/drawing/2014/main" id="{342CF211-2C7B-4E93-BC7C-0703C74B3766}"/>
              </a:ext>
            </a:extLst>
          </p:cNvPr>
          <p:cNvSpPr txBox="1"/>
          <p:nvPr/>
        </p:nvSpPr>
        <p:spPr>
          <a:xfrm>
            <a:off x="4932040" y="868070"/>
            <a:ext cx="1161044" cy="369332"/>
          </a:xfrm>
          <a:prstGeom prst="rect">
            <a:avLst/>
          </a:prstGeom>
          <a:noFill/>
        </p:spPr>
        <p:txBody>
          <a:bodyPr wrap="square" rtlCol="0">
            <a:spAutoFit/>
          </a:bodyPr>
          <a:lstStyle/>
          <a:p>
            <a:r>
              <a:rPr lang="en-US" altLang="zh-CN" dirty="0">
                <a:latin typeface="Times New Roman" panose="02020603050405020304" pitchFamily="18" charset="0"/>
              </a:rPr>
              <a:t>Aspartate</a:t>
            </a:r>
            <a:endParaRPr lang="zh-CN" altLang="en-US" dirty="0">
              <a:latin typeface="Times New Roman" panose="02020603050405020304" pitchFamily="18" charset="0"/>
            </a:endParaRPr>
          </a:p>
        </p:txBody>
      </p:sp>
      <p:cxnSp>
        <p:nvCxnSpPr>
          <p:cNvPr id="9" name="直接连接符 8">
            <a:extLst>
              <a:ext uri="{FF2B5EF4-FFF2-40B4-BE49-F238E27FC236}">
                <a16:creationId xmlns:a16="http://schemas.microsoft.com/office/drawing/2014/main" id="{FBEB633F-384C-47CB-BFBB-E2F30B208E16}"/>
              </a:ext>
            </a:extLst>
          </p:cNvPr>
          <p:cNvCxnSpPr>
            <a:cxnSpLocks/>
          </p:cNvCxnSpPr>
          <p:nvPr/>
        </p:nvCxnSpPr>
        <p:spPr>
          <a:xfrm flipV="1">
            <a:off x="2267744" y="3140968"/>
            <a:ext cx="1152128" cy="350748"/>
          </a:xfrm>
          <a:prstGeom prst="line">
            <a:avLst/>
          </a:prstGeom>
        </p:spPr>
        <p:style>
          <a:lnRef idx="1">
            <a:schemeClr val="accent1"/>
          </a:lnRef>
          <a:fillRef idx="0">
            <a:schemeClr val="accent1"/>
          </a:fillRef>
          <a:effectRef idx="0">
            <a:schemeClr val="accent1"/>
          </a:effectRef>
          <a:fontRef idx="minor">
            <a:schemeClr val="tx1"/>
          </a:fontRef>
        </p:style>
      </p:cxnSp>
      <p:grpSp>
        <p:nvGrpSpPr>
          <p:cNvPr id="13" name="组合 12">
            <a:extLst>
              <a:ext uri="{FF2B5EF4-FFF2-40B4-BE49-F238E27FC236}">
                <a16:creationId xmlns:a16="http://schemas.microsoft.com/office/drawing/2014/main" id="{033B0C0E-D1C0-426C-B26C-8794D77F8640}"/>
              </a:ext>
            </a:extLst>
          </p:cNvPr>
          <p:cNvGrpSpPr/>
          <p:nvPr/>
        </p:nvGrpSpPr>
        <p:grpSpPr>
          <a:xfrm>
            <a:off x="1331640" y="3292784"/>
            <a:ext cx="1008112" cy="496256"/>
            <a:chOff x="1259632" y="3158060"/>
            <a:chExt cx="1008112" cy="496256"/>
          </a:xfrm>
        </p:grpSpPr>
        <p:sp>
          <p:nvSpPr>
            <p:cNvPr id="11" name="文本框 10">
              <a:extLst>
                <a:ext uri="{FF2B5EF4-FFF2-40B4-BE49-F238E27FC236}">
                  <a16:creationId xmlns:a16="http://schemas.microsoft.com/office/drawing/2014/main" id="{A0C51348-B83E-4317-B126-37E2C619126D}"/>
                </a:ext>
              </a:extLst>
            </p:cNvPr>
            <p:cNvSpPr txBox="1"/>
            <p:nvPr/>
          </p:nvSpPr>
          <p:spPr>
            <a:xfrm>
              <a:off x="1259632" y="3284984"/>
              <a:ext cx="1008112" cy="369332"/>
            </a:xfrm>
            <a:prstGeom prst="rect">
              <a:avLst/>
            </a:prstGeom>
            <a:noFill/>
          </p:spPr>
          <p:txBody>
            <a:bodyPr wrap="square" rtlCol="0">
              <a:spAutoFit/>
            </a:bodyPr>
            <a:lstStyle/>
            <a:p>
              <a:r>
                <a:rPr lang="en-US" altLang="zh-CN" dirty="0">
                  <a:latin typeface="Times New Roman" panose="02020603050405020304" pitchFamily="18" charset="0"/>
                </a:rPr>
                <a:t>HCO</a:t>
              </a:r>
              <a:r>
                <a:rPr lang="en-US" altLang="zh-CN" sz="1200" dirty="0">
                  <a:latin typeface="Times New Roman" panose="02020603050405020304" pitchFamily="18" charset="0"/>
                </a:rPr>
                <a:t>3</a:t>
              </a:r>
              <a:endParaRPr lang="zh-CN" altLang="en-US" dirty="0">
                <a:latin typeface="Times New Roman" panose="02020603050405020304" pitchFamily="18" charset="0"/>
              </a:endParaRPr>
            </a:p>
          </p:txBody>
        </p:sp>
        <p:sp>
          <p:nvSpPr>
            <p:cNvPr id="12" name="文本框 11">
              <a:extLst>
                <a:ext uri="{FF2B5EF4-FFF2-40B4-BE49-F238E27FC236}">
                  <a16:creationId xmlns:a16="http://schemas.microsoft.com/office/drawing/2014/main" id="{F37A52D9-3D5E-43E7-A8EE-05D043DAE4D4}"/>
                </a:ext>
              </a:extLst>
            </p:cNvPr>
            <p:cNvSpPr txBox="1"/>
            <p:nvPr/>
          </p:nvSpPr>
          <p:spPr>
            <a:xfrm>
              <a:off x="1835696" y="3158060"/>
              <a:ext cx="216024" cy="369332"/>
            </a:xfrm>
            <a:prstGeom prst="rect">
              <a:avLst/>
            </a:prstGeom>
            <a:noFill/>
          </p:spPr>
          <p:txBody>
            <a:bodyPr wrap="square" rtlCol="0">
              <a:spAutoFit/>
            </a:bodyPr>
            <a:lstStyle/>
            <a:p>
              <a:r>
                <a:rPr lang="en-US" altLang="zh-CN" dirty="0">
                  <a:latin typeface="Times New Roman" panose="02020603050405020304" pitchFamily="18" charset="0"/>
                </a:rPr>
                <a:t>-</a:t>
              </a:r>
              <a:endParaRPr lang="zh-CN" altLang="en-US" dirty="0">
                <a:latin typeface="Times New Roman" panose="02020603050405020304" pitchFamily="18" charset="0"/>
              </a:endParaRPr>
            </a:p>
          </p:txBody>
        </p:sp>
      </p:grpSp>
      <p:sp>
        <p:nvSpPr>
          <p:cNvPr id="15" name="Rectangle 8">
            <a:extLst>
              <a:ext uri="{FF2B5EF4-FFF2-40B4-BE49-F238E27FC236}">
                <a16:creationId xmlns:a16="http://schemas.microsoft.com/office/drawing/2014/main" id="{1A7BDD73-BF55-444C-A3FD-064010ED4D4C}"/>
              </a:ext>
            </a:extLst>
          </p:cNvPr>
          <p:cNvSpPr>
            <a:spLocks noChangeArrowheads="1"/>
          </p:cNvSpPr>
          <p:nvPr/>
        </p:nvSpPr>
        <p:spPr bwMode="auto">
          <a:xfrm>
            <a:off x="109537" y="5181272"/>
            <a:ext cx="9034463" cy="1066800"/>
          </a:xfrm>
          <a:prstGeom prst="rect">
            <a:avLst/>
          </a:prstGeom>
          <a:solidFill>
            <a:schemeClr val="bg1"/>
          </a:solidFill>
          <a:ln w="12700" cap="sq">
            <a:noFill/>
            <a:miter lim="800000"/>
            <a:headEnd type="none" w="sm" len="sm"/>
            <a:tailEnd type="none" w="sm" len="sm"/>
          </a:ln>
          <a:effectLst/>
        </p:spPr>
        <p:txBody>
          <a:bodyPr wrap="none">
            <a:spAutoFit/>
          </a:bodyPr>
          <a:lstStyle/>
          <a:p>
            <a:r>
              <a:rPr kumimoji="1" lang="en-US" altLang="zh-CN" sz="3200" b="1" dirty="0">
                <a:solidFill>
                  <a:srgbClr val="000066"/>
                </a:solidFill>
                <a:latin typeface="Times New Roman" pitchFamily="18" charset="0"/>
              </a:rPr>
              <a:t>The atoms of the </a:t>
            </a:r>
            <a:r>
              <a:rPr kumimoji="1" lang="en-US" altLang="zh-CN" sz="3200" b="1" dirty="0" err="1">
                <a:solidFill>
                  <a:srgbClr val="000066"/>
                </a:solidFill>
                <a:latin typeface="Times New Roman" pitchFamily="18" charset="0"/>
              </a:rPr>
              <a:t>pyrimidine</a:t>
            </a:r>
            <a:r>
              <a:rPr kumimoji="1" lang="en-US" altLang="zh-CN" sz="3200" b="1" dirty="0">
                <a:solidFill>
                  <a:srgbClr val="000066"/>
                </a:solidFill>
                <a:latin typeface="Times New Roman" pitchFamily="18" charset="0"/>
              </a:rPr>
              <a:t> rings were revealed to</a:t>
            </a:r>
          </a:p>
          <a:p>
            <a:r>
              <a:rPr kumimoji="1" lang="en-US" altLang="zh-CN" sz="3200" b="1" dirty="0">
                <a:solidFill>
                  <a:srgbClr val="000066"/>
                </a:solidFill>
                <a:latin typeface="Times New Roman" pitchFamily="18" charset="0"/>
              </a:rPr>
              <a:t>be derived from HCO</a:t>
            </a:r>
            <a:r>
              <a:rPr kumimoji="1" lang="en-US" altLang="zh-CN" sz="3200" b="1" baseline="-25000" dirty="0">
                <a:solidFill>
                  <a:srgbClr val="000066"/>
                </a:solidFill>
                <a:latin typeface="Times New Roman" pitchFamily="18" charset="0"/>
              </a:rPr>
              <a:t>3</a:t>
            </a:r>
            <a:r>
              <a:rPr kumimoji="1" lang="en-US" altLang="zh-CN" sz="3200" b="1" baseline="30000" dirty="0">
                <a:solidFill>
                  <a:srgbClr val="000066"/>
                </a:solidFill>
                <a:latin typeface="Times New Roman" pitchFamily="18" charset="0"/>
              </a:rPr>
              <a:t>-</a:t>
            </a:r>
            <a:r>
              <a:rPr kumimoji="1" lang="en-US" altLang="zh-CN" sz="3200" b="1" dirty="0">
                <a:solidFill>
                  <a:srgbClr val="000066"/>
                </a:solidFill>
                <a:latin typeface="Times New Roman" pitchFamily="18" charset="0"/>
              </a:rPr>
              <a:t>, </a:t>
            </a:r>
            <a:r>
              <a:rPr kumimoji="1" lang="en-US" altLang="zh-CN" sz="3200" b="1" dirty="0" err="1">
                <a:solidFill>
                  <a:srgbClr val="000066"/>
                </a:solidFill>
                <a:latin typeface="Times New Roman" pitchFamily="18" charset="0"/>
              </a:rPr>
              <a:t>Gln</a:t>
            </a:r>
            <a:r>
              <a:rPr kumimoji="1" lang="en-US" altLang="zh-CN" sz="3200" b="1" dirty="0">
                <a:solidFill>
                  <a:srgbClr val="000066"/>
                </a:solidFill>
                <a:latin typeface="Times New Roman" pitchFamily="18" charset="0"/>
              </a:rPr>
              <a:t> and Asp.</a:t>
            </a:r>
          </a:p>
        </p:txBody>
      </p:sp>
    </p:spTree>
    <p:extLst>
      <p:ext uri="{BB962C8B-B14F-4D97-AF65-F5344CB8AC3E}">
        <p14:creationId xmlns:p14="http://schemas.microsoft.com/office/powerpoint/2010/main" val="3250461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79388" y="3048000"/>
            <a:ext cx="8785225" cy="1143000"/>
          </a:xfrm>
        </p:spPr>
        <p:txBody>
          <a:bodyPr/>
          <a:lstStyle/>
          <a:p>
            <a:r>
              <a:rPr lang="en-US" altLang="zh-CN" b="1" i="1">
                <a:solidFill>
                  <a:srgbClr val="0000FF"/>
                </a:solidFill>
              </a:rPr>
              <a:t>De novo</a:t>
            </a:r>
            <a:r>
              <a:rPr lang="en-US" altLang="zh-CN" b="1">
                <a:solidFill>
                  <a:srgbClr val="0000FF"/>
                </a:solidFill>
              </a:rPr>
              <a:t> purine nucleotide synthesis: the base assembles on the ribose phosphate; IMP is first nucleotide synthesized.</a:t>
            </a:r>
          </a:p>
        </p:txBody>
      </p:sp>
    </p:spTree>
  </p:cSld>
  <p:clrMapOvr>
    <a:masterClrMapping/>
  </p:clrMapOvr>
  <p:transition spd="slow" advClick="0">
    <p:blinds dir="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f22-31"/>
          <p:cNvPicPr>
            <a:picLocks noChangeAspect="1" noChangeArrowheads="1"/>
          </p:cNvPicPr>
          <p:nvPr/>
        </p:nvPicPr>
        <p:blipFill>
          <a:blip r:embed="rId3" cstate="print"/>
          <a:srcRect/>
          <a:stretch>
            <a:fillRect/>
          </a:stretch>
        </p:blipFill>
        <p:spPr bwMode="auto">
          <a:xfrm>
            <a:off x="0" y="0"/>
            <a:ext cx="4953000" cy="6858000"/>
          </a:xfrm>
          <a:prstGeom prst="rect">
            <a:avLst/>
          </a:prstGeom>
          <a:noFill/>
        </p:spPr>
      </p:pic>
      <p:pic>
        <p:nvPicPr>
          <p:cNvPr id="9219" name="Picture 3" descr="f22-31b"/>
          <p:cNvPicPr>
            <a:picLocks noChangeAspect="1" noChangeArrowheads="1"/>
          </p:cNvPicPr>
          <p:nvPr/>
        </p:nvPicPr>
        <p:blipFill>
          <a:blip r:embed="rId4" cstate="print"/>
          <a:srcRect/>
          <a:stretch>
            <a:fillRect/>
          </a:stretch>
        </p:blipFill>
        <p:spPr bwMode="auto">
          <a:xfrm>
            <a:off x="4876800" y="685800"/>
            <a:ext cx="4267200" cy="6172200"/>
          </a:xfrm>
          <a:prstGeom prst="rect">
            <a:avLst/>
          </a:prstGeom>
          <a:noFill/>
        </p:spPr>
      </p:pic>
      <p:sp>
        <p:nvSpPr>
          <p:cNvPr id="9220" name="Rectangle 4"/>
          <p:cNvSpPr>
            <a:spLocks noChangeArrowheads="1"/>
          </p:cNvSpPr>
          <p:nvPr/>
        </p:nvSpPr>
        <p:spPr bwMode="auto">
          <a:xfrm>
            <a:off x="2895600" y="25329"/>
            <a:ext cx="6068888" cy="1295400"/>
          </a:xfrm>
          <a:prstGeom prst="rect">
            <a:avLst/>
          </a:prstGeom>
          <a:solidFill>
            <a:schemeClr val="accent1"/>
          </a:solidFill>
          <a:ln w="12700" cap="sq">
            <a:solidFill>
              <a:schemeClr val="tx1"/>
            </a:solidFill>
            <a:miter lim="800000"/>
            <a:headEnd type="none" w="sm" len="sm"/>
            <a:tailEnd type="none" w="sm" len="sm"/>
          </a:ln>
          <a:effectLst/>
        </p:spPr>
        <p:txBody>
          <a:bodyPr wrap="none" anchor="ctr"/>
          <a:lstStyle/>
          <a:p>
            <a:pPr algn="ctr"/>
            <a:endParaRPr lang="zh-CN" altLang="zh-CN" dirty="0">
              <a:solidFill>
                <a:srgbClr val="CC3300"/>
              </a:solidFill>
              <a:latin typeface="Times New Roman" panose="02020603050405020304" pitchFamily="18" charset="0"/>
            </a:endParaRPr>
          </a:p>
        </p:txBody>
      </p:sp>
      <p:sp>
        <p:nvSpPr>
          <p:cNvPr id="9221" name="Rectangle 5"/>
          <p:cNvSpPr>
            <a:spLocks noChangeArrowheads="1"/>
          </p:cNvSpPr>
          <p:nvPr/>
        </p:nvSpPr>
        <p:spPr bwMode="auto">
          <a:xfrm>
            <a:off x="2895601" y="228600"/>
            <a:ext cx="6248399" cy="954107"/>
          </a:xfrm>
          <a:prstGeom prst="rect">
            <a:avLst/>
          </a:prstGeom>
          <a:noFill/>
          <a:ln w="12700" cap="sq">
            <a:noFill/>
            <a:miter lim="800000"/>
            <a:headEnd type="none" w="sm" len="sm"/>
            <a:tailEnd type="none" w="sm" len="sm"/>
          </a:ln>
          <a:effectLst/>
        </p:spPr>
        <p:txBody>
          <a:bodyPr wrap="square">
            <a:spAutoFit/>
          </a:bodyPr>
          <a:lstStyle/>
          <a:p>
            <a:r>
              <a:rPr kumimoji="1" lang="en-US" altLang="zh-CN" sz="2800" b="1" dirty="0">
                <a:solidFill>
                  <a:srgbClr val="C00000"/>
                </a:solidFill>
                <a:latin typeface="Times New Roman" pitchFamily="18" charset="0"/>
              </a:rPr>
              <a:t>The purine ring is built up one or three </a:t>
            </a:r>
          </a:p>
          <a:p>
            <a:r>
              <a:rPr kumimoji="1" lang="en-US" altLang="zh-CN" sz="2800" b="1" dirty="0">
                <a:solidFill>
                  <a:srgbClr val="C00000"/>
                </a:solidFill>
                <a:latin typeface="Times New Roman" pitchFamily="18" charset="0"/>
              </a:rPr>
              <a:t>atoms at a time on ribose 5-P</a:t>
            </a:r>
          </a:p>
        </p:txBody>
      </p:sp>
      <p:sp>
        <p:nvSpPr>
          <p:cNvPr id="9222" name="Rectangle 6"/>
          <p:cNvSpPr>
            <a:spLocks noChangeArrowheads="1"/>
          </p:cNvSpPr>
          <p:nvPr/>
        </p:nvSpPr>
        <p:spPr bwMode="auto">
          <a:xfrm>
            <a:off x="2286000" y="3500438"/>
            <a:ext cx="1089025" cy="336550"/>
          </a:xfrm>
          <a:prstGeom prst="rect">
            <a:avLst/>
          </a:prstGeom>
          <a:noFill/>
          <a:ln w="9525">
            <a:noFill/>
            <a:miter lim="800000"/>
            <a:headEnd/>
            <a:tailEnd/>
          </a:ln>
          <a:effectLst/>
        </p:spPr>
        <p:txBody>
          <a:bodyPr wrap="none">
            <a:spAutoFit/>
          </a:bodyPr>
          <a:lstStyle/>
          <a:p>
            <a:r>
              <a:rPr kumimoji="1" lang="en-US" altLang="zh-CN" sz="1600" b="1">
                <a:solidFill>
                  <a:schemeClr val="hlink"/>
                </a:solidFill>
                <a:latin typeface="Times New Roman" pitchFamily="18" charset="0"/>
              </a:rPr>
              <a:t>(Unstable)</a:t>
            </a:r>
          </a:p>
        </p:txBody>
      </p:sp>
      <p:sp>
        <p:nvSpPr>
          <p:cNvPr id="9223" name="Rectangle 7"/>
          <p:cNvSpPr>
            <a:spLocks noChangeArrowheads="1"/>
          </p:cNvSpPr>
          <p:nvPr/>
        </p:nvSpPr>
        <p:spPr bwMode="auto">
          <a:xfrm>
            <a:off x="2895600" y="2284413"/>
            <a:ext cx="1530350" cy="641350"/>
          </a:xfrm>
          <a:prstGeom prst="rect">
            <a:avLst/>
          </a:prstGeom>
          <a:noFill/>
          <a:ln w="9525">
            <a:noFill/>
            <a:miter lim="800000"/>
            <a:headEnd/>
            <a:tailEnd/>
          </a:ln>
          <a:effectLst/>
        </p:spPr>
        <p:txBody>
          <a:bodyPr wrap="none">
            <a:spAutoFit/>
          </a:bodyPr>
          <a:lstStyle/>
          <a:p>
            <a:r>
              <a:rPr kumimoji="1" lang="en-US" altLang="zh-CN" b="1" dirty="0">
                <a:solidFill>
                  <a:schemeClr val="hlink"/>
                </a:solidFill>
                <a:latin typeface="Tahoma" pitchFamily="34" charset="0"/>
              </a:rPr>
              <a:t>Committing</a:t>
            </a:r>
          </a:p>
          <a:p>
            <a:r>
              <a:rPr kumimoji="1" lang="en-US" altLang="zh-CN" b="1" dirty="0">
                <a:solidFill>
                  <a:schemeClr val="hlink"/>
                </a:solidFill>
                <a:latin typeface="Tahoma" pitchFamily="34" charset="0"/>
              </a:rPr>
              <a:t>step </a:t>
            </a:r>
          </a:p>
        </p:txBody>
      </p:sp>
      <p:sp>
        <p:nvSpPr>
          <p:cNvPr id="9224" name="Rectangle 8"/>
          <p:cNvSpPr>
            <a:spLocks noChangeArrowheads="1"/>
          </p:cNvSpPr>
          <p:nvPr/>
        </p:nvSpPr>
        <p:spPr bwMode="auto">
          <a:xfrm>
            <a:off x="2743200" y="3886200"/>
            <a:ext cx="1684338" cy="915988"/>
          </a:xfrm>
          <a:prstGeom prst="rect">
            <a:avLst/>
          </a:prstGeom>
          <a:noFill/>
          <a:ln w="9525">
            <a:noFill/>
            <a:miter lim="800000"/>
            <a:headEnd/>
            <a:tailEnd/>
          </a:ln>
          <a:effectLst/>
        </p:spPr>
        <p:txBody>
          <a:bodyPr wrap="none">
            <a:spAutoFit/>
          </a:bodyPr>
          <a:lstStyle/>
          <a:p>
            <a:r>
              <a:rPr kumimoji="1" lang="en-US" altLang="zh-CN" b="1" i="1">
                <a:solidFill>
                  <a:srgbClr val="0000FF"/>
                </a:solidFill>
                <a:latin typeface="Tahoma" pitchFamily="34" charset="0"/>
              </a:rPr>
              <a:t>1, 3, 5 are </a:t>
            </a:r>
          </a:p>
          <a:p>
            <a:r>
              <a:rPr kumimoji="1" lang="en-US" altLang="zh-CN" b="1" i="1">
                <a:solidFill>
                  <a:srgbClr val="0000FF"/>
                </a:solidFill>
                <a:latin typeface="Tahoma" pitchFamily="34" charset="0"/>
              </a:rPr>
              <a:t>catalyzed by </a:t>
            </a:r>
          </a:p>
          <a:p>
            <a:r>
              <a:rPr kumimoji="1" lang="en-US" altLang="zh-CN" b="1" i="1">
                <a:solidFill>
                  <a:srgbClr val="0000FF"/>
                </a:solidFill>
                <a:latin typeface="Tahoma" pitchFamily="34" charset="0"/>
              </a:rPr>
              <a:t>one protein!</a:t>
            </a:r>
          </a:p>
        </p:txBody>
      </p:sp>
      <p:sp>
        <p:nvSpPr>
          <p:cNvPr id="9" name="圆角矩形 8"/>
          <p:cNvSpPr/>
          <p:nvPr/>
        </p:nvSpPr>
        <p:spPr>
          <a:xfrm>
            <a:off x="2571736" y="1142984"/>
            <a:ext cx="2286016" cy="1142984"/>
          </a:xfrm>
          <a:prstGeom prst="roundRect">
            <a:avLst/>
          </a:prstGeom>
          <a:noFill/>
          <a:ln>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10" name="圆角矩形 9"/>
          <p:cNvSpPr/>
          <p:nvPr/>
        </p:nvSpPr>
        <p:spPr>
          <a:xfrm>
            <a:off x="5072066" y="5715016"/>
            <a:ext cx="4071934" cy="1142984"/>
          </a:xfrm>
          <a:prstGeom prst="roundRect">
            <a:avLst/>
          </a:prstGeom>
          <a:noFill/>
          <a:ln>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Tree>
  </p:cSld>
  <p:clrMapOvr>
    <a:masterClrMapping/>
  </p:clrMapOvr>
  <p:transition spd="slow" advClick="0">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linds(horizontal)">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f22-31c"/>
          <p:cNvPicPr>
            <a:picLocks noChangeAspect="1" noChangeArrowheads="1"/>
          </p:cNvPicPr>
          <p:nvPr/>
        </p:nvPicPr>
        <p:blipFill>
          <a:blip r:embed="rId3" cstate="print"/>
          <a:srcRect b="7291"/>
          <a:stretch>
            <a:fillRect/>
          </a:stretch>
        </p:blipFill>
        <p:spPr bwMode="auto">
          <a:xfrm>
            <a:off x="0" y="0"/>
            <a:ext cx="3733800" cy="6500834"/>
          </a:xfrm>
          <a:prstGeom prst="rect">
            <a:avLst/>
          </a:prstGeom>
          <a:noFill/>
        </p:spPr>
      </p:pic>
      <p:pic>
        <p:nvPicPr>
          <p:cNvPr id="10243" name="Picture 3" descr="f22-31d"/>
          <p:cNvPicPr>
            <a:picLocks noChangeAspect="1" noChangeArrowheads="1"/>
          </p:cNvPicPr>
          <p:nvPr/>
        </p:nvPicPr>
        <p:blipFill>
          <a:blip r:embed="rId4" cstate="print"/>
          <a:srcRect/>
          <a:stretch>
            <a:fillRect/>
          </a:stretch>
        </p:blipFill>
        <p:spPr bwMode="auto">
          <a:xfrm>
            <a:off x="3657600" y="0"/>
            <a:ext cx="5486400" cy="6858000"/>
          </a:xfrm>
          <a:prstGeom prst="rect">
            <a:avLst/>
          </a:prstGeom>
          <a:noFill/>
        </p:spPr>
      </p:pic>
      <p:sp>
        <p:nvSpPr>
          <p:cNvPr id="10244" name="Rectangle 4"/>
          <p:cNvSpPr>
            <a:spLocks noChangeArrowheads="1"/>
          </p:cNvSpPr>
          <p:nvPr/>
        </p:nvSpPr>
        <p:spPr bwMode="auto">
          <a:xfrm>
            <a:off x="6477000" y="3733800"/>
            <a:ext cx="2667000" cy="2209800"/>
          </a:xfrm>
          <a:prstGeom prst="rect">
            <a:avLst/>
          </a:prstGeom>
          <a:solidFill>
            <a:schemeClr val="accent1"/>
          </a:solidFill>
          <a:ln w="12700" cap="sq">
            <a:solidFill>
              <a:schemeClr val="tx1"/>
            </a:solidFill>
            <a:miter lim="800000"/>
            <a:headEnd type="none" w="sm" len="sm"/>
            <a:tailEnd type="none" w="sm" len="sm"/>
          </a:ln>
          <a:effectLst/>
        </p:spPr>
        <p:txBody>
          <a:bodyPr wrap="none" anchor="ctr"/>
          <a:lstStyle/>
          <a:p>
            <a:endParaRPr lang="zh-CN" altLang="en-US" dirty="0">
              <a:latin typeface="Times New Roman" panose="02020603050405020304" pitchFamily="18" charset="0"/>
            </a:endParaRPr>
          </a:p>
        </p:txBody>
      </p:sp>
      <p:sp>
        <p:nvSpPr>
          <p:cNvPr id="10245" name="Rectangle 5"/>
          <p:cNvSpPr>
            <a:spLocks noChangeArrowheads="1"/>
          </p:cNvSpPr>
          <p:nvPr/>
        </p:nvSpPr>
        <p:spPr bwMode="auto">
          <a:xfrm>
            <a:off x="6540500" y="3733800"/>
            <a:ext cx="2603500" cy="2227263"/>
          </a:xfrm>
          <a:prstGeom prst="rect">
            <a:avLst/>
          </a:prstGeom>
          <a:noFill/>
          <a:ln w="12700" cap="sq">
            <a:noFill/>
            <a:miter lim="800000"/>
            <a:headEnd type="none" w="sm" len="sm"/>
            <a:tailEnd type="none" w="sm" len="sm"/>
          </a:ln>
          <a:effectLst/>
        </p:spPr>
        <p:txBody>
          <a:bodyPr wrap="none">
            <a:spAutoFit/>
          </a:bodyPr>
          <a:lstStyle/>
          <a:p>
            <a:r>
              <a:rPr kumimoji="1" lang="en-US" altLang="zh-CN" sz="2800" b="1">
                <a:latin typeface="Times New Roman" pitchFamily="18" charset="0"/>
              </a:rPr>
              <a:t>IMP is first</a:t>
            </a:r>
          </a:p>
          <a:p>
            <a:r>
              <a:rPr kumimoji="1" lang="en-US" altLang="zh-CN" sz="2800" b="1">
                <a:latin typeface="Times New Roman" pitchFamily="18" charset="0"/>
              </a:rPr>
              <a:t>formed before</a:t>
            </a:r>
          </a:p>
          <a:p>
            <a:r>
              <a:rPr kumimoji="1" lang="en-US" altLang="zh-CN" sz="2800" b="1">
                <a:latin typeface="Times New Roman" pitchFamily="18" charset="0"/>
              </a:rPr>
              <a:t>being converted</a:t>
            </a:r>
          </a:p>
          <a:p>
            <a:r>
              <a:rPr kumimoji="1" lang="en-US" altLang="zh-CN" sz="2800" b="1">
                <a:latin typeface="Times New Roman" pitchFamily="18" charset="0"/>
              </a:rPr>
              <a:t>to AMP and</a:t>
            </a:r>
          </a:p>
          <a:p>
            <a:r>
              <a:rPr kumimoji="1" lang="en-US" altLang="zh-CN" sz="2800" b="1">
                <a:latin typeface="Times New Roman" pitchFamily="18" charset="0"/>
              </a:rPr>
              <a:t>GMP.</a:t>
            </a:r>
          </a:p>
        </p:txBody>
      </p:sp>
      <p:sp>
        <p:nvSpPr>
          <p:cNvPr id="10246" name="Rectangle 6"/>
          <p:cNvSpPr>
            <a:spLocks noChangeArrowheads="1"/>
          </p:cNvSpPr>
          <p:nvPr/>
        </p:nvSpPr>
        <p:spPr bwMode="auto">
          <a:xfrm>
            <a:off x="1524000" y="304800"/>
            <a:ext cx="1555750" cy="641350"/>
          </a:xfrm>
          <a:prstGeom prst="rect">
            <a:avLst/>
          </a:prstGeom>
          <a:noFill/>
          <a:ln w="9525">
            <a:noFill/>
            <a:miter lim="800000"/>
            <a:headEnd/>
            <a:tailEnd/>
          </a:ln>
          <a:effectLst/>
        </p:spPr>
        <p:txBody>
          <a:bodyPr wrap="none">
            <a:spAutoFit/>
          </a:bodyPr>
          <a:lstStyle/>
          <a:p>
            <a:r>
              <a:rPr kumimoji="1" lang="en-US" altLang="zh-CN" b="1">
                <a:solidFill>
                  <a:srgbClr val="0000FF"/>
                </a:solidFill>
                <a:latin typeface="Tahoma" pitchFamily="34" charset="0"/>
              </a:rPr>
              <a:t>Biotin is </a:t>
            </a:r>
          </a:p>
          <a:p>
            <a:r>
              <a:rPr kumimoji="1" lang="en-US" altLang="zh-CN" b="1">
                <a:solidFill>
                  <a:srgbClr val="0000FF"/>
                </a:solidFill>
                <a:latin typeface="Tahoma" pitchFamily="34" charset="0"/>
              </a:rPr>
              <a:t>not needed!</a:t>
            </a:r>
          </a:p>
        </p:txBody>
      </p:sp>
      <p:sp>
        <p:nvSpPr>
          <p:cNvPr id="10247" name="Rectangle 7"/>
          <p:cNvSpPr>
            <a:spLocks noChangeArrowheads="1"/>
          </p:cNvSpPr>
          <p:nvPr/>
        </p:nvSpPr>
        <p:spPr bwMode="auto">
          <a:xfrm>
            <a:off x="1447800" y="1676400"/>
            <a:ext cx="2430463" cy="825500"/>
          </a:xfrm>
          <a:prstGeom prst="rect">
            <a:avLst/>
          </a:prstGeom>
          <a:noFill/>
          <a:ln w="9525">
            <a:noFill/>
            <a:miter lim="800000"/>
            <a:headEnd/>
            <a:tailEnd/>
          </a:ln>
          <a:effectLst/>
        </p:spPr>
        <p:txBody>
          <a:bodyPr wrap="none">
            <a:spAutoFit/>
          </a:bodyPr>
          <a:lstStyle/>
          <a:p>
            <a:r>
              <a:rPr kumimoji="1" lang="en-US" altLang="zh-CN" sz="1600" b="1">
                <a:solidFill>
                  <a:srgbClr val="0000FF"/>
                </a:solidFill>
                <a:latin typeface="Tahoma" pitchFamily="34" charset="0"/>
              </a:rPr>
              <a:t>7 and 8 are  catalyzed</a:t>
            </a:r>
          </a:p>
          <a:p>
            <a:r>
              <a:rPr kumimoji="1" lang="en-US" altLang="zh-CN" sz="1600" b="1">
                <a:solidFill>
                  <a:srgbClr val="0000FF"/>
                </a:solidFill>
                <a:latin typeface="Tahoma" pitchFamily="34" charset="0"/>
              </a:rPr>
              <a:t>by one bifunctional</a:t>
            </a:r>
          </a:p>
          <a:p>
            <a:r>
              <a:rPr kumimoji="1" lang="en-US" altLang="zh-CN" sz="1600" b="1">
                <a:solidFill>
                  <a:srgbClr val="0000FF"/>
                </a:solidFill>
                <a:latin typeface="Tahoma" pitchFamily="34" charset="0"/>
              </a:rPr>
              <a:t>enzyme</a:t>
            </a:r>
          </a:p>
        </p:txBody>
      </p:sp>
      <p:sp>
        <p:nvSpPr>
          <p:cNvPr id="10248" name="Rectangle 8"/>
          <p:cNvSpPr>
            <a:spLocks noChangeArrowheads="1"/>
          </p:cNvSpPr>
          <p:nvPr/>
        </p:nvSpPr>
        <p:spPr bwMode="auto">
          <a:xfrm>
            <a:off x="6207125" y="1905000"/>
            <a:ext cx="2936875" cy="581025"/>
          </a:xfrm>
          <a:prstGeom prst="rect">
            <a:avLst/>
          </a:prstGeom>
          <a:noFill/>
          <a:ln w="9525">
            <a:noFill/>
            <a:miter lim="800000"/>
            <a:headEnd/>
            <a:tailEnd/>
          </a:ln>
          <a:effectLst/>
        </p:spPr>
        <p:txBody>
          <a:bodyPr wrap="none">
            <a:spAutoFit/>
          </a:bodyPr>
          <a:lstStyle/>
          <a:p>
            <a:r>
              <a:rPr kumimoji="1" lang="en-US" altLang="zh-CN" sz="1600" b="1">
                <a:solidFill>
                  <a:srgbClr val="0000FF"/>
                </a:solidFill>
                <a:latin typeface="Tahoma" pitchFamily="34" charset="0"/>
              </a:rPr>
              <a:t>10 and 11 are catalyzed by</a:t>
            </a:r>
          </a:p>
          <a:p>
            <a:r>
              <a:rPr kumimoji="1" lang="en-US" altLang="zh-CN" sz="1600" b="1">
                <a:solidFill>
                  <a:srgbClr val="0000FF"/>
                </a:solidFill>
                <a:latin typeface="Tahoma" pitchFamily="34" charset="0"/>
              </a:rPr>
              <a:t>one bifunctional enzyme</a:t>
            </a:r>
          </a:p>
        </p:txBody>
      </p:sp>
      <p:sp>
        <p:nvSpPr>
          <p:cNvPr id="10249" name="Line 9"/>
          <p:cNvSpPr>
            <a:spLocks noChangeShapeType="1"/>
          </p:cNvSpPr>
          <p:nvPr/>
        </p:nvSpPr>
        <p:spPr bwMode="auto">
          <a:xfrm flipH="1">
            <a:off x="5791200" y="304800"/>
            <a:ext cx="533400" cy="228600"/>
          </a:xfrm>
          <a:prstGeom prst="line">
            <a:avLst/>
          </a:prstGeom>
          <a:noFill/>
          <a:ln w="9525">
            <a:solidFill>
              <a:schemeClr val="tx1"/>
            </a:solidFill>
            <a:miter lim="800000"/>
            <a:headEnd/>
            <a:tailEnd type="triangle" w="med" len="med"/>
          </a:ln>
          <a:effectLst/>
        </p:spPr>
        <p:txBody>
          <a:bodyPr wrap="none"/>
          <a:lstStyle/>
          <a:p>
            <a:endParaRPr lang="zh-CN" altLang="en-US" dirty="0">
              <a:latin typeface="Times New Roman" panose="02020603050405020304" pitchFamily="18" charset="0"/>
            </a:endParaRPr>
          </a:p>
        </p:txBody>
      </p:sp>
      <p:sp>
        <p:nvSpPr>
          <p:cNvPr id="10250" name="Rectangle 10"/>
          <p:cNvSpPr>
            <a:spLocks noChangeArrowheads="1"/>
          </p:cNvSpPr>
          <p:nvPr/>
        </p:nvSpPr>
        <p:spPr bwMode="auto">
          <a:xfrm>
            <a:off x="6400800" y="0"/>
            <a:ext cx="2184400" cy="641350"/>
          </a:xfrm>
          <a:prstGeom prst="rect">
            <a:avLst/>
          </a:prstGeom>
          <a:noFill/>
          <a:ln w="9525">
            <a:noFill/>
            <a:miter lim="800000"/>
            <a:headEnd/>
            <a:tailEnd/>
          </a:ln>
          <a:effectLst/>
        </p:spPr>
        <p:txBody>
          <a:bodyPr wrap="none">
            <a:spAutoFit/>
          </a:bodyPr>
          <a:lstStyle/>
          <a:p>
            <a:r>
              <a:rPr kumimoji="1" lang="en-US" altLang="zh-CN" b="1">
                <a:solidFill>
                  <a:srgbClr val="0000FF"/>
                </a:solidFill>
                <a:latin typeface="Tahoma" pitchFamily="34" charset="0"/>
              </a:rPr>
              <a:t>By-product of His</a:t>
            </a:r>
          </a:p>
          <a:p>
            <a:r>
              <a:rPr kumimoji="1" lang="en-US" altLang="zh-CN" b="1">
                <a:solidFill>
                  <a:srgbClr val="0000FF"/>
                </a:solidFill>
                <a:latin typeface="Tahoma" pitchFamily="34" charset="0"/>
              </a:rPr>
              <a:t>biosynthesis</a:t>
            </a:r>
          </a:p>
        </p:txBody>
      </p:sp>
      <p:sp>
        <p:nvSpPr>
          <p:cNvPr id="12" name="圆角矩形 11"/>
          <p:cNvSpPr/>
          <p:nvPr/>
        </p:nvSpPr>
        <p:spPr>
          <a:xfrm>
            <a:off x="3857620" y="4071942"/>
            <a:ext cx="2714644" cy="2786058"/>
          </a:xfrm>
          <a:prstGeom prst="roundRect">
            <a:avLst/>
          </a:prstGeom>
          <a:noFill/>
          <a:ln>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Tree>
  </p:cSld>
  <p:clrMapOvr>
    <a:masterClrMapping/>
  </p:clrMapOvr>
  <p:transition spd="slow" advClick="0">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linds(horizontal)">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0" y="2286000"/>
            <a:ext cx="9144000" cy="1143000"/>
          </a:xfrm>
        </p:spPr>
        <p:txBody>
          <a:bodyPr/>
          <a:lstStyle/>
          <a:p>
            <a:r>
              <a:rPr lang="en-US" altLang="zh-CN" b="1" i="1" dirty="0">
                <a:solidFill>
                  <a:srgbClr val="0000FF"/>
                </a:solidFill>
              </a:rPr>
              <a:t>De novo</a:t>
            </a:r>
            <a:r>
              <a:rPr lang="en-US" altLang="zh-CN" b="1" dirty="0">
                <a:solidFill>
                  <a:srgbClr val="0000FF"/>
                </a:solidFill>
              </a:rPr>
              <a:t> </a:t>
            </a:r>
            <a:r>
              <a:rPr lang="en-US" altLang="zh-CN" b="1" dirty="0">
                <a:solidFill>
                  <a:srgbClr val="FF0000"/>
                </a:solidFill>
              </a:rPr>
              <a:t>purine nucleotide</a:t>
            </a:r>
            <a:r>
              <a:rPr lang="en-US" altLang="zh-CN" b="1" dirty="0">
                <a:solidFill>
                  <a:srgbClr val="0000FF"/>
                </a:solidFill>
              </a:rPr>
              <a:t> synthesis: AMP and GMP are derived from </a:t>
            </a:r>
            <a:r>
              <a:rPr lang="en-US" altLang="zh-CN" b="1" dirty="0">
                <a:solidFill>
                  <a:srgbClr val="FF0000"/>
                </a:solidFill>
              </a:rPr>
              <a:t>IMP</a:t>
            </a:r>
            <a:r>
              <a:rPr lang="en-US" altLang="zh-CN" b="1" dirty="0">
                <a:solidFill>
                  <a:srgbClr val="0000FF"/>
                </a:solidFill>
              </a:rPr>
              <a:t>.</a:t>
            </a:r>
          </a:p>
        </p:txBody>
      </p:sp>
      <p:sp>
        <p:nvSpPr>
          <p:cNvPr id="3" name="文本框 2">
            <a:hlinkClick r:id="rId2" action="ppaction://hlinksldjump"/>
            <a:extLst>
              <a:ext uri="{FF2B5EF4-FFF2-40B4-BE49-F238E27FC236}">
                <a16:creationId xmlns:a16="http://schemas.microsoft.com/office/drawing/2014/main" id="{6213A434-94F6-492C-984E-55999B24252A}"/>
              </a:ext>
            </a:extLst>
          </p:cNvPr>
          <p:cNvSpPr txBox="1"/>
          <p:nvPr/>
        </p:nvSpPr>
        <p:spPr>
          <a:xfrm>
            <a:off x="7740352" y="6488668"/>
            <a:ext cx="936104" cy="369332"/>
          </a:xfrm>
          <a:prstGeom prst="rect">
            <a:avLst/>
          </a:prstGeom>
          <a:noFill/>
        </p:spPr>
        <p:txBody>
          <a:bodyPr wrap="square" rtlCol="0">
            <a:spAutoFit/>
          </a:bodyPr>
          <a:lstStyle/>
          <a:p>
            <a:r>
              <a:rPr lang="en-US" altLang="zh-CN" dirty="0"/>
              <a:t>Next</a:t>
            </a:r>
            <a:endParaRPr lang="zh-CN" altLang="en-US" dirty="0"/>
          </a:p>
        </p:txBody>
      </p:sp>
    </p:spTree>
  </p:cSld>
  <p:clrMapOvr>
    <a:masterClrMapping/>
  </p:clrMapOvr>
  <p:transition spd="slow" advClick="0">
    <p:blinds dir="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p:cNvPicPr>
            <a:picLocks noChangeAspect="1" noChangeArrowheads="1"/>
          </p:cNvPicPr>
          <p:nvPr/>
        </p:nvPicPr>
        <p:blipFill>
          <a:blip r:embed="rId3" cstate="print"/>
          <a:srcRect/>
          <a:stretch>
            <a:fillRect/>
          </a:stretch>
        </p:blipFill>
        <p:spPr bwMode="auto">
          <a:xfrm>
            <a:off x="1143000" y="685800"/>
            <a:ext cx="6856413" cy="5432425"/>
          </a:xfrm>
          <a:prstGeom prst="rect">
            <a:avLst/>
          </a:prstGeom>
          <a:noFill/>
        </p:spPr>
      </p:pic>
      <p:sp>
        <p:nvSpPr>
          <p:cNvPr id="3" name="圆角矩形 2"/>
          <p:cNvSpPr/>
          <p:nvPr/>
        </p:nvSpPr>
        <p:spPr>
          <a:xfrm>
            <a:off x="4572000" y="1928802"/>
            <a:ext cx="3786214" cy="785818"/>
          </a:xfrm>
          <a:prstGeom prst="roundRect">
            <a:avLst/>
          </a:prstGeom>
          <a:noFill/>
          <a:ln>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2"/>
          <p:cNvPicPr>
            <a:picLocks noChangeAspect="1" noChangeArrowheads="1"/>
          </p:cNvPicPr>
          <p:nvPr/>
        </p:nvPicPr>
        <p:blipFill>
          <a:blip r:embed="rId3" cstate="print"/>
          <a:srcRect/>
          <a:stretch>
            <a:fillRect/>
          </a:stretch>
        </p:blipFill>
        <p:spPr bwMode="auto">
          <a:xfrm>
            <a:off x="1752600" y="609600"/>
            <a:ext cx="5840413" cy="5435600"/>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8" name="Picture 2"/>
          <p:cNvPicPr>
            <a:picLocks noChangeAspect="1" noChangeArrowheads="1"/>
          </p:cNvPicPr>
          <p:nvPr/>
        </p:nvPicPr>
        <p:blipFill>
          <a:blip r:embed="rId3" cstate="print"/>
          <a:srcRect/>
          <a:stretch>
            <a:fillRect/>
          </a:stretch>
        </p:blipFill>
        <p:spPr bwMode="auto">
          <a:xfrm>
            <a:off x="1752600" y="609600"/>
            <a:ext cx="5429250" cy="5429250"/>
          </a:xfrm>
          <a:prstGeom prst="rect">
            <a:avLst/>
          </a:prstGeom>
          <a:noFill/>
        </p:spPr>
      </p:pic>
      <p:sp>
        <p:nvSpPr>
          <p:cNvPr id="3" name="圆角矩形 2"/>
          <p:cNvSpPr/>
          <p:nvPr/>
        </p:nvSpPr>
        <p:spPr>
          <a:xfrm>
            <a:off x="3000364" y="2643182"/>
            <a:ext cx="4071934" cy="1142984"/>
          </a:xfrm>
          <a:prstGeom prst="roundRect">
            <a:avLst/>
          </a:prstGeom>
          <a:noFill/>
          <a:ln>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2"/>
          <p:cNvPicPr>
            <a:picLocks noChangeAspect="1" noChangeArrowheads="1"/>
          </p:cNvPicPr>
          <p:nvPr/>
        </p:nvPicPr>
        <p:blipFill>
          <a:blip r:embed="rId3" cstate="print"/>
          <a:srcRect/>
          <a:stretch>
            <a:fillRect/>
          </a:stretch>
        </p:blipFill>
        <p:spPr bwMode="auto">
          <a:xfrm>
            <a:off x="2209800" y="685800"/>
            <a:ext cx="4670425" cy="5432425"/>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4" name="Picture 2"/>
          <p:cNvPicPr>
            <a:picLocks noChangeAspect="1" noChangeArrowheads="1"/>
          </p:cNvPicPr>
          <p:nvPr/>
        </p:nvPicPr>
        <p:blipFill>
          <a:blip r:embed="rId3" cstate="print"/>
          <a:srcRect/>
          <a:stretch>
            <a:fillRect/>
          </a:stretch>
        </p:blipFill>
        <p:spPr bwMode="auto">
          <a:xfrm>
            <a:off x="1828800" y="609600"/>
            <a:ext cx="5484813" cy="5434013"/>
          </a:xfrm>
          <a:prstGeom prst="rect">
            <a:avLst/>
          </a:prstGeom>
          <a:noFill/>
        </p:spPr>
      </p:pic>
      <p:cxnSp>
        <p:nvCxnSpPr>
          <p:cNvPr id="4" name="直接连接符 3"/>
          <p:cNvCxnSpPr/>
          <p:nvPr/>
        </p:nvCxnSpPr>
        <p:spPr>
          <a:xfrm>
            <a:off x="5476631" y="4952510"/>
            <a:ext cx="1643074" cy="1588"/>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02" name="Picture 2"/>
          <p:cNvPicPr>
            <a:picLocks noChangeAspect="1" noChangeArrowheads="1"/>
          </p:cNvPicPr>
          <p:nvPr/>
        </p:nvPicPr>
        <p:blipFill>
          <a:blip r:embed="rId3" cstate="print"/>
          <a:srcRect/>
          <a:stretch>
            <a:fillRect/>
          </a:stretch>
        </p:blipFill>
        <p:spPr bwMode="auto">
          <a:xfrm>
            <a:off x="533400" y="1219200"/>
            <a:ext cx="8026400" cy="4673600"/>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0" name="Picture 2"/>
          <p:cNvPicPr>
            <a:picLocks noChangeAspect="1" noChangeArrowheads="1"/>
          </p:cNvPicPr>
          <p:nvPr/>
        </p:nvPicPr>
        <p:blipFill>
          <a:blip r:embed="rId3" cstate="print"/>
          <a:srcRect/>
          <a:stretch>
            <a:fillRect/>
          </a:stretch>
        </p:blipFill>
        <p:spPr bwMode="auto">
          <a:xfrm>
            <a:off x="762000" y="685800"/>
            <a:ext cx="7513638" cy="5430838"/>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98" name="Picture 2"/>
          <p:cNvPicPr>
            <a:picLocks noChangeAspect="1" noChangeArrowheads="1"/>
          </p:cNvPicPr>
          <p:nvPr/>
        </p:nvPicPr>
        <p:blipFill>
          <a:blip r:embed="rId3" cstate="print"/>
          <a:srcRect/>
          <a:stretch>
            <a:fillRect/>
          </a:stretch>
        </p:blipFill>
        <p:spPr bwMode="auto">
          <a:xfrm>
            <a:off x="1371600" y="685800"/>
            <a:ext cx="6499225" cy="5434013"/>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6" name="Picture 2"/>
          <p:cNvPicPr>
            <a:picLocks noChangeAspect="1" noChangeArrowheads="1"/>
          </p:cNvPicPr>
          <p:nvPr/>
        </p:nvPicPr>
        <p:blipFill>
          <a:blip r:embed="rId3" cstate="print"/>
          <a:srcRect/>
          <a:stretch>
            <a:fillRect/>
          </a:stretch>
        </p:blipFill>
        <p:spPr bwMode="auto">
          <a:xfrm>
            <a:off x="1016000" y="711200"/>
            <a:ext cx="7112000" cy="5435600"/>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394" name="Picture 2"/>
          <p:cNvPicPr>
            <a:picLocks noChangeAspect="1" noChangeArrowheads="1"/>
          </p:cNvPicPr>
          <p:nvPr/>
        </p:nvPicPr>
        <p:blipFill>
          <a:blip r:embed="rId3" cstate="print"/>
          <a:srcRect/>
          <a:stretch>
            <a:fillRect/>
          </a:stretch>
        </p:blipFill>
        <p:spPr bwMode="auto">
          <a:xfrm>
            <a:off x="839788" y="609600"/>
            <a:ext cx="7313612" cy="5434013"/>
          </a:xfrm>
          <a:prstGeom prst="rect">
            <a:avLst/>
          </a:prstGeom>
          <a:no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42" name="Picture 2"/>
          <p:cNvPicPr>
            <a:picLocks noChangeAspect="1" noChangeArrowheads="1"/>
          </p:cNvPicPr>
          <p:nvPr/>
        </p:nvPicPr>
        <p:blipFill>
          <a:blip r:embed="rId3" cstate="print"/>
          <a:srcRect/>
          <a:stretch>
            <a:fillRect/>
          </a:stretch>
        </p:blipFill>
        <p:spPr bwMode="auto">
          <a:xfrm>
            <a:off x="1295400" y="685800"/>
            <a:ext cx="6343650" cy="5430838"/>
          </a:xfrm>
          <a:prstGeom prst="rect">
            <a:avLst/>
          </a:prstGeom>
          <a:no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f22-30"/>
          <p:cNvPicPr>
            <a:picLocks noChangeAspect="1" noChangeArrowheads="1"/>
          </p:cNvPicPr>
          <p:nvPr/>
        </p:nvPicPr>
        <p:blipFill>
          <a:blip r:embed="rId3" cstate="print">
            <a:lum contrast="18000"/>
          </a:blip>
          <a:srcRect/>
          <a:stretch>
            <a:fillRect/>
          </a:stretch>
        </p:blipFill>
        <p:spPr bwMode="auto">
          <a:xfrm>
            <a:off x="0" y="0"/>
            <a:ext cx="9144000" cy="6858000"/>
          </a:xfrm>
          <a:prstGeom prst="rect">
            <a:avLst/>
          </a:prstGeom>
          <a:noFill/>
        </p:spPr>
      </p:pic>
      <p:sp>
        <p:nvSpPr>
          <p:cNvPr id="6147" name="Rectangle 3"/>
          <p:cNvSpPr>
            <a:spLocks noChangeArrowheads="1"/>
          </p:cNvSpPr>
          <p:nvPr/>
        </p:nvSpPr>
        <p:spPr bwMode="auto">
          <a:xfrm>
            <a:off x="0" y="2254250"/>
            <a:ext cx="2587625" cy="1552575"/>
          </a:xfrm>
          <a:prstGeom prst="rect">
            <a:avLst/>
          </a:prstGeom>
          <a:noFill/>
          <a:ln w="12700" cap="sq">
            <a:noFill/>
            <a:miter lim="800000"/>
            <a:headEnd type="none" w="sm" len="sm"/>
            <a:tailEnd type="none" w="sm" len="sm"/>
          </a:ln>
          <a:effectLst/>
        </p:spPr>
        <p:txBody>
          <a:bodyPr wrap="none">
            <a:spAutoFit/>
          </a:bodyPr>
          <a:lstStyle/>
          <a:p>
            <a:r>
              <a:rPr kumimoji="1" lang="en-US" altLang="zh-CN" sz="2400" b="1">
                <a:solidFill>
                  <a:schemeClr val="hlink"/>
                </a:solidFill>
                <a:latin typeface="Times New Roman" pitchFamily="18" charset="0"/>
              </a:rPr>
              <a:t>origins of the ring </a:t>
            </a:r>
          </a:p>
          <a:p>
            <a:r>
              <a:rPr kumimoji="1" lang="en-US" altLang="zh-CN" sz="2400" b="1">
                <a:solidFill>
                  <a:schemeClr val="hlink"/>
                </a:solidFill>
                <a:latin typeface="Times New Roman" pitchFamily="18" charset="0"/>
              </a:rPr>
              <a:t>atoms of purines</a:t>
            </a:r>
          </a:p>
          <a:p>
            <a:r>
              <a:rPr kumimoji="1" lang="en-US" altLang="zh-CN" sz="2400">
                <a:solidFill>
                  <a:schemeClr val="hlink"/>
                </a:solidFill>
                <a:latin typeface="Times New Roman" pitchFamily="18" charset="0"/>
              </a:rPr>
              <a:t>(</a:t>
            </a:r>
            <a:r>
              <a:rPr kumimoji="1" lang="en-US" altLang="zh-CN" sz="2400" i="1">
                <a:solidFill>
                  <a:schemeClr val="hlink"/>
                </a:solidFill>
                <a:latin typeface="Times New Roman" pitchFamily="18" charset="0"/>
              </a:rPr>
              <a:t>numbered is the </a:t>
            </a:r>
          </a:p>
          <a:p>
            <a:r>
              <a:rPr kumimoji="1" lang="en-US" altLang="zh-CN" sz="2400" i="1">
                <a:solidFill>
                  <a:schemeClr val="hlink"/>
                </a:solidFill>
                <a:latin typeface="Times New Roman" pitchFamily="18" charset="0"/>
              </a:rPr>
              <a:t>order of addition</a:t>
            </a:r>
            <a:r>
              <a:rPr kumimoji="1" lang="en-US" altLang="zh-CN" sz="2400">
                <a:solidFill>
                  <a:schemeClr val="hlink"/>
                </a:solidFill>
                <a:latin typeface="Times New Roman" pitchFamily="18" charset="0"/>
              </a:rPr>
              <a:t>)</a:t>
            </a:r>
          </a:p>
        </p:txBody>
      </p:sp>
      <p:sp>
        <p:nvSpPr>
          <p:cNvPr id="6148" name="Line 4"/>
          <p:cNvSpPr>
            <a:spLocks noChangeShapeType="1"/>
          </p:cNvSpPr>
          <p:nvPr/>
        </p:nvSpPr>
        <p:spPr bwMode="auto">
          <a:xfrm>
            <a:off x="5638800" y="3962400"/>
            <a:ext cx="609600" cy="685800"/>
          </a:xfrm>
          <a:prstGeom prst="line">
            <a:avLst/>
          </a:prstGeom>
          <a:noFill/>
          <a:ln w="9525">
            <a:solidFill>
              <a:schemeClr val="tx1"/>
            </a:solidFill>
            <a:miter lim="800000"/>
            <a:headEnd/>
            <a:tailEnd/>
          </a:ln>
          <a:effectLst/>
        </p:spPr>
        <p:txBody>
          <a:bodyPr wrap="none"/>
          <a:lstStyle/>
          <a:p>
            <a:endParaRPr lang="zh-CN" altLang="en-US" dirty="0">
              <a:latin typeface="Times New Roman" panose="02020603050405020304" pitchFamily="18" charset="0"/>
            </a:endParaRPr>
          </a:p>
        </p:txBody>
      </p:sp>
      <p:sp>
        <p:nvSpPr>
          <p:cNvPr id="6149" name="Rectangle 5"/>
          <p:cNvSpPr>
            <a:spLocks noChangeArrowheads="1"/>
          </p:cNvSpPr>
          <p:nvPr/>
        </p:nvSpPr>
        <p:spPr bwMode="auto">
          <a:xfrm>
            <a:off x="6248400" y="4495800"/>
            <a:ext cx="1970088" cy="549275"/>
          </a:xfrm>
          <a:prstGeom prst="rect">
            <a:avLst/>
          </a:prstGeom>
          <a:noFill/>
          <a:ln w="9525">
            <a:noFill/>
            <a:miter lim="800000"/>
            <a:headEnd/>
            <a:tailEnd/>
          </a:ln>
          <a:effectLst/>
        </p:spPr>
        <p:txBody>
          <a:bodyPr wrap="none">
            <a:spAutoFit/>
          </a:bodyPr>
          <a:lstStyle/>
          <a:p>
            <a:r>
              <a:rPr kumimoji="1" lang="en-US" altLang="zh-CN" sz="3000" dirty="0">
                <a:latin typeface="Tahoma" pitchFamily="34" charset="0"/>
              </a:rPr>
              <a:t>Ribose 5-P</a:t>
            </a:r>
          </a:p>
        </p:txBody>
      </p:sp>
      <p:sp>
        <p:nvSpPr>
          <p:cNvPr id="6150" name="Rectangle 6"/>
          <p:cNvSpPr>
            <a:spLocks noChangeArrowheads="1"/>
          </p:cNvSpPr>
          <p:nvPr/>
        </p:nvSpPr>
        <p:spPr bwMode="auto">
          <a:xfrm>
            <a:off x="5257800" y="3249613"/>
            <a:ext cx="346075" cy="396875"/>
          </a:xfrm>
          <a:prstGeom prst="rect">
            <a:avLst/>
          </a:prstGeom>
          <a:noFill/>
          <a:ln w="9525">
            <a:noFill/>
            <a:miter lim="800000"/>
            <a:headEnd/>
            <a:tailEnd/>
          </a:ln>
          <a:effectLst/>
        </p:spPr>
        <p:txBody>
          <a:bodyPr wrap="none">
            <a:spAutoFit/>
          </a:bodyPr>
          <a:lstStyle/>
          <a:p>
            <a:r>
              <a:rPr kumimoji="1" lang="en-US" altLang="zh-CN" sz="2000" b="1">
                <a:solidFill>
                  <a:srgbClr val="FF0000"/>
                </a:solidFill>
                <a:latin typeface="Tahoma" pitchFamily="34" charset="0"/>
              </a:rPr>
              <a:t>1</a:t>
            </a:r>
          </a:p>
        </p:txBody>
      </p:sp>
      <p:sp>
        <p:nvSpPr>
          <p:cNvPr id="6151" name="Rectangle 7"/>
          <p:cNvSpPr>
            <a:spLocks noChangeArrowheads="1"/>
          </p:cNvSpPr>
          <p:nvPr/>
        </p:nvSpPr>
        <p:spPr bwMode="auto">
          <a:xfrm>
            <a:off x="4800600" y="2743200"/>
            <a:ext cx="346075" cy="396875"/>
          </a:xfrm>
          <a:prstGeom prst="rect">
            <a:avLst/>
          </a:prstGeom>
          <a:noFill/>
          <a:ln w="9525">
            <a:noFill/>
            <a:miter lim="800000"/>
            <a:headEnd/>
            <a:tailEnd/>
          </a:ln>
          <a:effectLst/>
        </p:spPr>
        <p:txBody>
          <a:bodyPr wrap="none">
            <a:spAutoFit/>
          </a:bodyPr>
          <a:lstStyle/>
          <a:p>
            <a:r>
              <a:rPr kumimoji="1" lang="en-US" altLang="zh-CN" sz="2000" b="1">
                <a:solidFill>
                  <a:srgbClr val="FF0000"/>
                </a:solidFill>
                <a:latin typeface="Tahoma" pitchFamily="34" charset="0"/>
              </a:rPr>
              <a:t>2</a:t>
            </a:r>
          </a:p>
        </p:txBody>
      </p:sp>
      <p:sp>
        <p:nvSpPr>
          <p:cNvPr id="6152" name="Rectangle 8"/>
          <p:cNvSpPr>
            <a:spLocks noChangeArrowheads="1"/>
          </p:cNvSpPr>
          <p:nvPr/>
        </p:nvSpPr>
        <p:spPr bwMode="auto">
          <a:xfrm>
            <a:off x="5943600" y="2743200"/>
            <a:ext cx="346075" cy="396875"/>
          </a:xfrm>
          <a:prstGeom prst="rect">
            <a:avLst/>
          </a:prstGeom>
          <a:noFill/>
          <a:ln w="9525">
            <a:noFill/>
            <a:miter lim="800000"/>
            <a:headEnd/>
            <a:tailEnd/>
          </a:ln>
          <a:effectLst/>
        </p:spPr>
        <p:txBody>
          <a:bodyPr wrap="none">
            <a:spAutoFit/>
          </a:bodyPr>
          <a:lstStyle/>
          <a:p>
            <a:r>
              <a:rPr kumimoji="1" lang="en-US" altLang="zh-CN" sz="2000" b="1">
                <a:solidFill>
                  <a:srgbClr val="FF0000"/>
                </a:solidFill>
                <a:latin typeface="Tahoma" pitchFamily="34" charset="0"/>
              </a:rPr>
              <a:t>3</a:t>
            </a:r>
          </a:p>
        </p:txBody>
      </p:sp>
      <p:sp>
        <p:nvSpPr>
          <p:cNvPr id="6153" name="Rectangle 9"/>
          <p:cNvSpPr>
            <a:spLocks noChangeArrowheads="1"/>
          </p:cNvSpPr>
          <p:nvPr/>
        </p:nvSpPr>
        <p:spPr bwMode="auto">
          <a:xfrm>
            <a:off x="3962400" y="4038600"/>
            <a:ext cx="346075" cy="396875"/>
          </a:xfrm>
          <a:prstGeom prst="rect">
            <a:avLst/>
          </a:prstGeom>
          <a:noFill/>
          <a:ln w="9525">
            <a:noFill/>
            <a:miter lim="800000"/>
            <a:headEnd/>
            <a:tailEnd/>
          </a:ln>
          <a:effectLst/>
        </p:spPr>
        <p:txBody>
          <a:bodyPr wrap="none">
            <a:spAutoFit/>
          </a:bodyPr>
          <a:lstStyle/>
          <a:p>
            <a:r>
              <a:rPr kumimoji="1" lang="en-US" altLang="zh-CN" sz="2000" b="1">
                <a:solidFill>
                  <a:srgbClr val="FF0000"/>
                </a:solidFill>
                <a:latin typeface="Tahoma" pitchFamily="34" charset="0"/>
              </a:rPr>
              <a:t>4</a:t>
            </a:r>
          </a:p>
        </p:txBody>
      </p:sp>
      <p:sp>
        <p:nvSpPr>
          <p:cNvPr id="6154" name="Rectangle 10"/>
          <p:cNvSpPr>
            <a:spLocks noChangeArrowheads="1"/>
          </p:cNvSpPr>
          <p:nvPr/>
        </p:nvSpPr>
        <p:spPr bwMode="auto">
          <a:xfrm>
            <a:off x="4191000" y="1905000"/>
            <a:ext cx="346075" cy="396875"/>
          </a:xfrm>
          <a:prstGeom prst="rect">
            <a:avLst/>
          </a:prstGeom>
          <a:noFill/>
          <a:ln w="9525">
            <a:noFill/>
            <a:miter lim="800000"/>
            <a:headEnd/>
            <a:tailEnd/>
          </a:ln>
          <a:effectLst/>
        </p:spPr>
        <p:txBody>
          <a:bodyPr wrap="none">
            <a:spAutoFit/>
          </a:bodyPr>
          <a:lstStyle/>
          <a:p>
            <a:r>
              <a:rPr kumimoji="1" lang="en-US" altLang="zh-CN" sz="2000" b="1">
                <a:solidFill>
                  <a:srgbClr val="FF0000"/>
                </a:solidFill>
                <a:latin typeface="Tahoma" pitchFamily="34" charset="0"/>
              </a:rPr>
              <a:t>5</a:t>
            </a:r>
          </a:p>
        </p:txBody>
      </p:sp>
      <p:sp>
        <p:nvSpPr>
          <p:cNvPr id="6155" name="Rectangle 11"/>
          <p:cNvSpPr>
            <a:spLocks noChangeArrowheads="1"/>
          </p:cNvSpPr>
          <p:nvPr/>
        </p:nvSpPr>
        <p:spPr bwMode="auto">
          <a:xfrm>
            <a:off x="3276600" y="2133600"/>
            <a:ext cx="346075" cy="396875"/>
          </a:xfrm>
          <a:prstGeom prst="rect">
            <a:avLst/>
          </a:prstGeom>
          <a:noFill/>
          <a:ln w="9525">
            <a:noFill/>
            <a:miter lim="800000"/>
            <a:headEnd/>
            <a:tailEnd/>
          </a:ln>
          <a:effectLst/>
        </p:spPr>
        <p:txBody>
          <a:bodyPr wrap="none">
            <a:spAutoFit/>
          </a:bodyPr>
          <a:lstStyle/>
          <a:p>
            <a:r>
              <a:rPr kumimoji="1" lang="en-US" altLang="zh-CN" sz="2000" b="1">
                <a:solidFill>
                  <a:srgbClr val="FF0000"/>
                </a:solidFill>
                <a:latin typeface="Tahoma" pitchFamily="34" charset="0"/>
              </a:rPr>
              <a:t>6</a:t>
            </a:r>
          </a:p>
        </p:txBody>
      </p:sp>
      <p:sp>
        <p:nvSpPr>
          <p:cNvPr id="6156" name="Rectangle 12"/>
          <p:cNvSpPr>
            <a:spLocks noChangeArrowheads="1"/>
          </p:cNvSpPr>
          <p:nvPr/>
        </p:nvSpPr>
        <p:spPr bwMode="auto">
          <a:xfrm>
            <a:off x="3581400" y="3124200"/>
            <a:ext cx="346075" cy="396875"/>
          </a:xfrm>
          <a:prstGeom prst="rect">
            <a:avLst/>
          </a:prstGeom>
          <a:noFill/>
          <a:ln w="9525">
            <a:noFill/>
            <a:miter lim="800000"/>
            <a:headEnd/>
            <a:tailEnd/>
          </a:ln>
          <a:effectLst/>
        </p:spPr>
        <p:txBody>
          <a:bodyPr wrap="none">
            <a:spAutoFit/>
          </a:bodyPr>
          <a:lstStyle/>
          <a:p>
            <a:r>
              <a:rPr kumimoji="1" lang="en-US" altLang="zh-CN" sz="2000" b="1">
                <a:solidFill>
                  <a:srgbClr val="FF0000"/>
                </a:solidFill>
                <a:latin typeface="Tahoma" pitchFamily="34" charset="0"/>
              </a:rPr>
              <a:t>7</a:t>
            </a:r>
          </a:p>
        </p:txBody>
      </p:sp>
    </p:spTree>
  </p:cSld>
  <p:clrMapOvr>
    <a:masterClrMapping/>
  </p:clrMapOvr>
  <p:transition spd="slow" advClick="0">
    <p:blinds dir="ver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490" name="Picture 2"/>
          <p:cNvPicPr>
            <a:picLocks noGrp="1" noChangeAspect="1" noChangeArrowheads="1"/>
          </p:cNvPicPr>
          <p:nvPr>
            <p:ph idx="4294967295"/>
          </p:nvPr>
        </p:nvPicPr>
        <p:blipFill>
          <a:blip r:embed="rId3" cstate="print"/>
          <a:srcRect/>
          <a:stretch>
            <a:fillRect/>
          </a:stretch>
        </p:blipFill>
        <p:spPr>
          <a:xfrm>
            <a:off x="0" y="987425"/>
            <a:ext cx="9144000" cy="4883150"/>
          </a:xfrm>
        </p:spPr>
      </p:pic>
      <p:sp>
        <p:nvSpPr>
          <p:cNvPr id="3" name="文本框 2">
            <a:hlinkClick r:id="rId4" action="ppaction://hlinksldjump"/>
            <a:extLst>
              <a:ext uri="{FF2B5EF4-FFF2-40B4-BE49-F238E27FC236}">
                <a16:creationId xmlns:a16="http://schemas.microsoft.com/office/drawing/2014/main" id="{1AC58042-E58D-4647-9185-44F6DEBB9C33}"/>
              </a:ext>
            </a:extLst>
          </p:cNvPr>
          <p:cNvSpPr txBox="1"/>
          <p:nvPr/>
        </p:nvSpPr>
        <p:spPr>
          <a:xfrm>
            <a:off x="7740352" y="6488668"/>
            <a:ext cx="936104" cy="369332"/>
          </a:xfrm>
          <a:prstGeom prst="rect">
            <a:avLst/>
          </a:prstGeom>
          <a:noFill/>
        </p:spPr>
        <p:txBody>
          <a:bodyPr wrap="square" rtlCol="0">
            <a:spAutoFit/>
          </a:bodyPr>
          <a:lstStyle/>
          <a:p>
            <a:r>
              <a:rPr lang="en-US" altLang="zh-CN" dirty="0">
                <a:hlinkClick r:id="rId5" action="ppaction://hlinksldjump"/>
              </a:rPr>
              <a:t>Next</a:t>
            </a:r>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538" name="Picture 2"/>
          <p:cNvPicPr>
            <a:picLocks noChangeAspect="1" noChangeArrowheads="1"/>
          </p:cNvPicPr>
          <p:nvPr/>
        </p:nvPicPr>
        <p:blipFill>
          <a:blip r:embed="rId3" cstate="print"/>
          <a:srcRect/>
          <a:stretch>
            <a:fillRect/>
          </a:stretch>
        </p:blipFill>
        <p:spPr bwMode="auto">
          <a:xfrm>
            <a:off x="533400" y="1219200"/>
            <a:ext cx="8026400" cy="4495800"/>
          </a:xfrm>
          <a:prstGeom prst="rect">
            <a:avLst/>
          </a:prstGeom>
          <a:noFill/>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586" name="Picture 2"/>
          <p:cNvPicPr>
            <a:picLocks noChangeAspect="1" noChangeArrowheads="1"/>
          </p:cNvPicPr>
          <p:nvPr/>
        </p:nvPicPr>
        <p:blipFill>
          <a:blip r:embed="rId3" cstate="print"/>
          <a:srcRect/>
          <a:stretch>
            <a:fillRect/>
          </a:stretch>
        </p:blipFill>
        <p:spPr bwMode="auto">
          <a:xfrm>
            <a:off x="558800" y="1397000"/>
            <a:ext cx="8026400" cy="4064000"/>
          </a:xfrm>
          <a:prstGeom prst="rect">
            <a:avLst/>
          </a:prstGeom>
          <a:noFill/>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4" name="Picture 2"/>
          <p:cNvPicPr>
            <a:picLocks noChangeAspect="1" noChangeArrowheads="1"/>
          </p:cNvPicPr>
          <p:nvPr/>
        </p:nvPicPr>
        <p:blipFill>
          <a:blip r:embed="rId3" cstate="print"/>
          <a:srcRect/>
          <a:stretch>
            <a:fillRect/>
          </a:stretch>
        </p:blipFill>
        <p:spPr bwMode="auto">
          <a:xfrm>
            <a:off x="685800" y="685800"/>
            <a:ext cx="7824788" cy="5437188"/>
          </a:xfrm>
          <a:prstGeom prst="rect">
            <a:avLst/>
          </a:prstGeom>
          <a:noFill/>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682" name="Picture 2"/>
          <p:cNvPicPr>
            <a:picLocks noChangeAspect="1" noChangeArrowheads="1"/>
          </p:cNvPicPr>
          <p:nvPr/>
        </p:nvPicPr>
        <p:blipFill>
          <a:blip r:embed="rId3" cstate="print"/>
          <a:srcRect/>
          <a:stretch>
            <a:fillRect/>
          </a:stretch>
        </p:blipFill>
        <p:spPr bwMode="auto">
          <a:xfrm>
            <a:off x="533400" y="2286000"/>
            <a:ext cx="8026400" cy="2592388"/>
          </a:xfrm>
          <a:prstGeom prst="rect">
            <a:avLst/>
          </a:prstGeom>
          <a:noFill/>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descr="f22-32"/>
          <p:cNvPicPr>
            <a:picLocks noChangeAspect="1" noChangeArrowheads="1"/>
          </p:cNvPicPr>
          <p:nvPr/>
        </p:nvPicPr>
        <p:blipFill>
          <a:blip r:embed="rId2" cstate="print"/>
          <a:srcRect/>
          <a:stretch>
            <a:fillRect/>
          </a:stretch>
        </p:blipFill>
        <p:spPr bwMode="auto">
          <a:xfrm>
            <a:off x="0" y="0"/>
            <a:ext cx="9144000" cy="6629400"/>
          </a:xfrm>
          <a:prstGeom prst="rect">
            <a:avLst/>
          </a:prstGeom>
          <a:noFill/>
        </p:spPr>
      </p:pic>
      <p:sp>
        <p:nvSpPr>
          <p:cNvPr id="12291" name="Rectangle 3"/>
          <p:cNvSpPr>
            <a:spLocks noChangeArrowheads="1"/>
          </p:cNvSpPr>
          <p:nvPr/>
        </p:nvSpPr>
        <p:spPr bwMode="auto">
          <a:xfrm>
            <a:off x="250825" y="1125538"/>
            <a:ext cx="1617663" cy="457200"/>
          </a:xfrm>
          <a:prstGeom prst="rect">
            <a:avLst/>
          </a:prstGeom>
          <a:noFill/>
          <a:ln w="9525">
            <a:noFill/>
            <a:miter lim="800000"/>
            <a:headEnd/>
            <a:tailEnd/>
          </a:ln>
          <a:effectLst/>
        </p:spPr>
        <p:txBody>
          <a:bodyPr wrap="none">
            <a:spAutoFit/>
          </a:bodyPr>
          <a:lstStyle/>
          <a:p>
            <a:r>
              <a:rPr kumimoji="1" lang="en-US" altLang="zh-CN" sz="1200" b="1" i="1">
                <a:solidFill>
                  <a:srgbClr val="FF0000"/>
                </a:solidFill>
                <a:latin typeface="Tahoma" pitchFamily="34" charset="0"/>
              </a:rPr>
              <a:t>Similar to a step in</a:t>
            </a:r>
          </a:p>
          <a:p>
            <a:r>
              <a:rPr kumimoji="1" lang="en-US" altLang="zh-CN" sz="1200" b="1" i="1">
                <a:solidFill>
                  <a:srgbClr val="FF0000"/>
                </a:solidFill>
                <a:latin typeface="Tahoma" pitchFamily="34" charset="0"/>
              </a:rPr>
              <a:t>the urea cycle</a:t>
            </a:r>
          </a:p>
        </p:txBody>
      </p:sp>
      <p:sp>
        <p:nvSpPr>
          <p:cNvPr id="12292" name="Oval 4"/>
          <p:cNvSpPr>
            <a:spLocks noChangeArrowheads="1"/>
          </p:cNvSpPr>
          <p:nvPr/>
        </p:nvSpPr>
        <p:spPr bwMode="auto">
          <a:xfrm>
            <a:off x="1908175" y="1989138"/>
            <a:ext cx="1655763" cy="792162"/>
          </a:xfrm>
          <a:prstGeom prst="ellipse">
            <a:avLst/>
          </a:prstGeom>
          <a:solidFill>
            <a:schemeClr val="accent1"/>
          </a:solidFill>
          <a:ln w="9525">
            <a:solidFill>
              <a:schemeClr val="tx1"/>
            </a:solidFill>
            <a:miter lim="800000"/>
            <a:headEnd/>
            <a:tailEnd/>
          </a:ln>
          <a:effectLst/>
        </p:spPr>
        <p:txBody>
          <a:bodyPr wrap="none" anchor="ctr"/>
          <a:lstStyle/>
          <a:p>
            <a:endParaRPr lang="zh-CN" altLang="en-US" dirty="0">
              <a:latin typeface="Times New Roman" panose="02020603050405020304" pitchFamily="18" charset="0"/>
            </a:endParaRPr>
          </a:p>
        </p:txBody>
      </p:sp>
      <p:sp>
        <p:nvSpPr>
          <p:cNvPr id="12293" name="Rectangle 5"/>
          <p:cNvSpPr>
            <a:spLocks noChangeArrowheads="1"/>
          </p:cNvSpPr>
          <p:nvPr/>
        </p:nvSpPr>
        <p:spPr bwMode="auto">
          <a:xfrm>
            <a:off x="1835150" y="2060575"/>
            <a:ext cx="1752600" cy="517525"/>
          </a:xfrm>
          <a:prstGeom prst="rect">
            <a:avLst/>
          </a:prstGeom>
          <a:noFill/>
          <a:ln w="9525">
            <a:noFill/>
            <a:miter lim="800000"/>
            <a:headEnd/>
            <a:tailEnd/>
          </a:ln>
          <a:effectLst/>
        </p:spPr>
        <p:txBody>
          <a:bodyPr wrap="none">
            <a:spAutoFit/>
          </a:bodyPr>
          <a:lstStyle/>
          <a:p>
            <a:pPr algn="ctr"/>
            <a:r>
              <a:rPr kumimoji="1" lang="en-US" altLang="zh-CN" sz="1400" b="1">
                <a:solidFill>
                  <a:srgbClr val="0000CC"/>
                </a:solidFill>
                <a:latin typeface="Tahoma" pitchFamily="34" charset="0"/>
              </a:rPr>
              <a:t>Adenylosuccinate</a:t>
            </a:r>
          </a:p>
          <a:p>
            <a:pPr algn="ctr"/>
            <a:r>
              <a:rPr kumimoji="1" lang="en-US" altLang="zh-CN" sz="1400" b="1">
                <a:solidFill>
                  <a:srgbClr val="0000CC"/>
                </a:solidFill>
                <a:latin typeface="Tahoma" pitchFamily="34" charset="0"/>
              </a:rPr>
              <a:t>synthetase</a:t>
            </a:r>
            <a:r>
              <a:rPr kumimoji="1" lang="en-US" altLang="zh-CN" sz="1400">
                <a:solidFill>
                  <a:srgbClr val="0000CC"/>
                </a:solidFill>
                <a:latin typeface="Tahoma" pitchFamily="34" charset="0"/>
              </a:rPr>
              <a:t> </a:t>
            </a:r>
          </a:p>
        </p:txBody>
      </p:sp>
      <p:sp>
        <p:nvSpPr>
          <p:cNvPr id="12294" name="Oval 6"/>
          <p:cNvSpPr>
            <a:spLocks noChangeArrowheads="1"/>
          </p:cNvSpPr>
          <p:nvPr/>
        </p:nvSpPr>
        <p:spPr bwMode="auto">
          <a:xfrm>
            <a:off x="395288" y="4365625"/>
            <a:ext cx="2232025" cy="792163"/>
          </a:xfrm>
          <a:prstGeom prst="ellipse">
            <a:avLst/>
          </a:prstGeom>
          <a:solidFill>
            <a:schemeClr val="accent1"/>
          </a:solidFill>
          <a:ln w="9525">
            <a:solidFill>
              <a:schemeClr val="tx1"/>
            </a:solidFill>
            <a:miter lim="800000"/>
            <a:headEnd/>
            <a:tailEnd/>
          </a:ln>
          <a:effectLst/>
        </p:spPr>
        <p:txBody>
          <a:bodyPr wrap="none" anchor="ctr"/>
          <a:lstStyle/>
          <a:p>
            <a:endParaRPr lang="zh-CN" altLang="en-US" dirty="0">
              <a:latin typeface="Times New Roman" panose="02020603050405020304" pitchFamily="18" charset="0"/>
            </a:endParaRPr>
          </a:p>
        </p:txBody>
      </p:sp>
      <p:sp>
        <p:nvSpPr>
          <p:cNvPr id="12295" name="Rectangle 7"/>
          <p:cNvSpPr>
            <a:spLocks noChangeArrowheads="1"/>
          </p:cNvSpPr>
          <p:nvPr/>
        </p:nvSpPr>
        <p:spPr bwMode="auto">
          <a:xfrm>
            <a:off x="539750" y="4581525"/>
            <a:ext cx="1966913" cy="304800"/>
          </a:xfrm>
          <a:prstGeom prst="rect">
            <a:avLst/>
          </a:prstGeom>
          <a:noFill/>
          <a:ln w="9525">
            <a:noFill/>
            <a:miter lim="800000"/>
            <a:headEnd/>
            <a:tailEnd/>
          </a:ln>
          <a:effectLst/>
        </p:spPr>
        <p:txBody>
          <a:bodyPr wrap="none">
            <a:spAutoFit/>
          </a:bodyPr>
          <a:lstStyle/>
          <a:p>
            <a:r>
              <a:rPr kumimoji="1" lang="en-US" altLang="zh-CN" sz="1400" b="1">
                <a:solidFill>
                  <a:srgbClr val="0000CC"/>
                </a:solidFill>
                <a:latin typeface="Tahoma" pitchFamily="34" charset="0"/>
              </a:rPr>
              <a:t>IMP dehydrogenase</a:t>
            </a:r>
          </a:p>
        </p:txBody>
      </p:sp>
      <p:sp>
        <p:nvSpPr>
          <p:cNvPr id="12296" name="Oval 8"/>
          <p:cNvSpPr>
            <a:spLocks noChangeArrowheads="1"/>
          </p:cNvSpPr>
          <p:nvPr/>
        </p:nvSpPr>
        <p:spPr bwMode="auto">
          <a:xfrm>
            <a:off x="5148263" y="5084763"/>
            <a:ext cx="2087562" cy="865187"/>
          </a:xfrm>
          <a:prstGeom prst="ellipse">
            <a:avLst/>
          </a:prstGeom>
          <a:solidFill>
            <a:schemeClr val="accent1"/>
          </a:solidFill>
          <a:ln w="9525">
            <a:solidFill>
              <a:schemeClr val="tx1"/>
            </a:solidFill>
            <a:miter lim="800000"/>
            <a:headEnd/>
            <a:tailEnd/>
          </a:ln>
          <a:effectLst/>
        </p:spPr>
        <p:txBody>
          <a:bodyPr wrap="none" anchor="ctr"/>
          <a:lstStyle/>
          <a:p>
            <a:endParaRPr lang="zh-CN" altLang="en-US" dirty="0">
              <a:latin typeface="Times New Roman" panose="02020603050405020304" pitchFamily="18" charset="0"/>
            </a:endParaRPr>
          </a:p>
        </p:txBody>
      </p:sp>
      <p:sp>
        <p:nvSpPr>
          <p:cNvPr id="12297" name="Rectangle 9"/>
          <p:cNvSpPr>
            <a:spLocks noChangeArrowheads="1"/>
          </p:cNvSpPr>
          <p:nvPr/>
        </p:nvSpPr>
        <p:spPr bwMode="auto">
          <a:xfrm>
            <a:off x="5292725" y="5157788"/>
            <a:ext cx="1757363" cy="517525"/>
          </a:xfrm>
          <a:prstGeom prst="rect">
            <a:avLst/>
          </a:prstGeom>
          <a:noFill/>
          <a:ln w="9525">
            <a:noFill/>
            <a:miter lim="800000"/>
            <a:headEnd/>
            <a:tailEnd/>
          </a:ln>
          <a:effectLst/>
        </p:spPr>
        <p:txBody>
          <a:bodyPr wrap="none">
            <a:spAutoFit/>
          </a:bodyPr>
          <a:lstStyle/>
          <a:p>
            <a:pPr algn="ctr"/>
            <a:r>
              <a:rPr kumimoji="1" lang="en-US" altLang="zh-CN" sz="1400" b="1" dirty="0">
                <a:solidFill>
                  <a:srgbClr val="0000CC"/>
                </a:solidFill>
                <a:latin typeface="Tahoma" pitchFamily="34" charset="0"/>
              </a:rPr>
              <a:t>XMP-</a:t>
            </a:r>
            <a:r>
              <a:rPr kumimoji="1" lang="en-US" altLang="zh-CN" sz="1400" b="1" dirty="0" err="1">
                <a:solidFill>
                  <a:srgbClr val="0000CC"/>
                </a:solidFill>
                <a:latin typeface="Tahoma" pitchFamily="34" charset="0"/>
              </a:rPr>
              <a:t>Gln</a:t>
            </a:r>
            <a:endParaRPr kumimoji="1" lang="en-US" altLang="zh-CN" sz="1400" b="1" dirty="0">
              <a:solidFill>
                <a:srgbClr val="0000CC"/>
              </a:solidFill>
              <a:latin typeface="Tahoma" pitchFamily="34" charset="0"/>
            </a:endParaRPr>
          </a:p>
          <a:p>
            <a:pPr algn="ctr"/>
            <a:r>
              <a:rPr kumimoji="1" lang="en-US" altLang="zh-CN" sz="1400" b="1" dirty="0" err="1">
                <a:solidFill>
                  <a:srgbClr val="0000CC"/>
                </a:solidFill>
                <a:latin typeface="Tahoma" pitchFamily="34" charset="0"/>
              </a:rPr>
              <a:t>amidotransferase</a:t>
            </a:r>
            <a:endParaRPr kumimoji="1" lang="en-US" altLang="zh-CN" sz="1400" b="1" dirty="0">
              <a:solidFill>
                <a:srgbClr val="0000CC"/>
              </a:solidFill>
              <a:latin typeface="Tahoma" pitchFamily="34" charset="0"/>
            </a:endParaRPr>
          </a:p>
        </p:txBody>
      </p:sp>
    </p:spTree>
  </p:cSld>
  <p:clrMapOvr>
    <a:masterClrMapping/>
  </p:clrMapOvr>
  <p:transition spd="slow" advClick="0">
    <p:blinds dir="ver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179388" y="1052736"/>
            <a:ext cx="8785225" cy="3590702"/>
          </a:xfrm>
        </p:spPr>
        <p:txBody>
          <a:bodyPr/>
          <a:lstStyle/>
          <a:p>
            <a:r>
              <a:rPr lang="en-US" altLang="zh-CN" b="1" dirty="0">
                <a:solidFill>
                  <a:srgbClr val="0000FF"/>
                </a:solidFill>
              </a:rPr>
              <a:t>The biosynthesis of AMP and GMP is regulated mainly by sequential feedback inhibition (</a:t>
            </a:r>
            <a:r>
              <a:rPr lang="en-US" altLang="zh-CN" b="1" i="1" dirty="0">
                <a:solidFill>
                  <a:srgbClr val="0000FF"/>
                </a:solidFill>
              </a:rPr>
              <a:t>no covalent regulation</a:t>
            </a:r>
            <a:r>
              <a:rPr lang="en-US" altLang="zh-CN" b="1" dirty="0">
                <a:solidFill>
                  <a:srgbClr val="0000FF"/>
                </a:solidFill>
              </a:rPr>
              <a:t>)</a:t>
            </a:r>
          </a:p>
        </p:txBody>
      </p:sp>
    </p:spTree>
  </p:cSld>
  <p:clrMapOvr>
    <a:masterClrMapping/>
  </p:clrMapOvr>
  <p:transition spd="slow" advClick="0">
    <p:blinds dir="ver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descr="f22-33"/>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4340" name="Rectangle 4"/>
          <p:cNvSpPr>
            <a:spLocks noChangeArrowheads="1"/>
          </p:cNvSpPr>
          <p:nvPr/>
        </p:nvSpPr>
        <p:spPr bwMode="auto">
          <a:xfrm>
            <a:off x="1116013" y="1844675"/>
            <a:ext cx="4572000" cy="366713"/>
          </a:xfrm>
          <a:prstGeom prst="rect">
            <a:avLst/>
          </a:prstGeom>
          <a:noFill/>
          <a:ln w="9525">
            <a:noFill/>
            <a:miter lim="800000"/>
            <a:headEnd/>
            <a:tailEnd/>
          </a:ln>
          <a:effectLst/>
        </p:spPr>
        <p:txBody>
          <a:bodyPr>
            <a:spAutoFit/>
          </a:bodyPr>
          <a:lstStyle/>
          <a:p>
            <a:pPr>
              <a:spcBef>
                <a:spcPct val="50000"/>
              </a:spcBef>
            </a:pPr>
            <a:r>
              <a:rPr kumimoji="1" lang="en-US" altLang="zh-CN" sz="1400" b="1">
                <a:solidFill>
                  <a:schemeClr val="hlink"/>
                </a:solidFill>
                <a:latin typeface="Tahoma" pitchFamily="34" charset="0"/>
              </a:rPr>
              <a:t>The committing step</a:t>
            </a:r>
            <a:r>
              <a:rPr kumimoji="1" lang="en-US" altLang="zh-CN" b="1">
                <a:solidFill>
                  <a:schemeClr val="hlink"/>
                </a:solidFill>
                <a:latin typeface="Tahoma" pitchFamily="34" charset="0"/>
              </a:rPr>
              <a:t> </a:t>
            </a:r>
          </a:p>
        </p:txBody>
      </p:sp>
    </p:spTree>
  </p:cSld>
  <p:clrMapOvr>
    <a:masterClrMapping/>
  </p:clrMapOvr>
  <p:transition spd="slow" advClick="0">
    <p:blinds dir="ver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0" y="2286000"/>
            <a:ext cx="9144000" cy="1143000"/>
          </a:xfrm>
        </p:spPr>
        <p:txBody>
          <a:bodyPr/>
          <a:lstStyle/>
          <a:p>
            <a:r>
              <a:rPr lang="en-US" altLang="zh-CN" b="1" dirty="0">
                <a:solidFill>
                  <a:srgbClr val="0000FF"/>
                </a:solidFill>
              </a:rPr>
              <a:t>The </a:t>
            </a:r>
            <a:r>
              <a:rPr lang="en-US" altLang="zh-CN" b="1" i="1" dirty="0">
                <a:solidFill>
                  <a:srgbClr val="0000FF"/>
                </a:solidFill>
              </a:rPr>
              <a:t>de novo</a:t>
            </a:r>
            <a:r>
              <a:rPr lang="en-US" altLang="zh-CN" b="1" dirty="0">
                <a:solidFill>
                  <a:srgbClr val="0000FF"/>
                </a:solidFill>
              </a:rPr>
              <a:t> biosynthesis of </a:t>
            </a:r>
            <a:r>
              <a:rPr lang="en-US" altLang="zh-CN" b="1" dirty="0">
                <a:solidFill>
                  <a:srgbClr val="FF0000"/>
                </a:solidFill>
              </a:rPr>
              <a:t>pyrimidine nucleotides</a:t>
            </a:r>
            <a:r>
              <a:rPr lang="en-US" altLang="zh-CN" b="1" dirty="0">
                <a:solidFill>
                  <a:srgbClr val="0000FF"/>
                </a:solidFill>
              </a:rPr>
              <a:t>: the base ring (as </a:t>
            </a:r>
            <a:r>
              <a:rPr lang="en-US" altLang="zh-CN" b="1" dirty="0">
                <a:solidFill>
                  <a:srgbClr val="FF0000"/>
                </a:solidFill>
              </a:rPr>
              <a:t>orotate</a:t>
            </a:r>
            <a:r>
              <a:rPr lang="en-US" altLang="zh-CN" b="1" dirty="0">
                <a:solidFill>
                  <a:srgbClr val="0000FF"/>
                </a:solidFill>
              </a:rPr>
              <a:t>) is first assembled before being attached to the phosphoribosyl group to form orotidylate</a:t>
            </a:r>
          </a:p>
        </p:txBody>
      </p:sp>
    </p:spTree>
  </p:cSld>
  <p:clrMapOvr>
    <a:masterClrMapping/>
  </p:clrMapOvr>
  <p:transition spd="slow" advClick="0">
    <p:blinds dir="ver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852" name="Picture 4" descr="14-6"/>
          <p:cNvPicPr>
            <a:picLocks noChangeAspect="1" noChangeArrowheads="1"/>
          </p:cNvPicPr>
          <p:nvPr/>
        </p:nvPicPr>
        <p:blipFill>
          <a:blip r:embed="rId2" cstate="print">
            <a:extLst>
              <a:ext uri="{BEBA8EAE-BF5A-486C-A8C5-ECC9F3942E4B}">
                <a14:imgProps xmlns:a14="http://schemas.microsoft.com/office/drawing/2010/main">
                  <a14:imgLayer r:embed="rId3">
                    <a14:imgEffect>
                      <a14:saturation sat="400000"/>
                    </a14:imgEffect>
                  </a14:imgLayer>
                </a14:imgProps>
              </a:ext>
            </a:extLst>
          </a:blip>
          <a:srcRect/>
          <a:stretch>
            <a:fillRect/>
          </a:stretch>
        </p:blipFill>
        <p:spPr bwMode="auto">
          <a:xfrm>
            <a:off x="1475656" y="1988840"/>
            <a:ext cx="5953125" cy="183832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876" name="Picture 4" descr="14-7"/>
          <p:cNvPicPr>
            <a:picLocks noChangeAspect="1" noChangeArrowheads="1"/>
          </p:cNvPicPr>
          <p:nvPr/>
        </p:nvPicPr>
        <p:blipFill>
          <a:blip r:embed="rId2" cstate="print"/>
          <a:srcRect r="43243" b="58449"/>
          <a:stretch>
            <a:fillRect/>
          </a:stretch>
        </p:blipFill>
        <p:spPr bwMode="auto">
          <a:xfrm>
            <a:off x="1905000" y="533400"/>
            <a:ext cx="4800600" cy="5715000"/>
          </a:xfrm>
          <a:prstGeom prst="rect">
            <a:avLst/>
          </a:prstGeom>
          <a:noFill/>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900" name="Picture 4" descr="14-7"/>
          <p:cNvPicPr>
            <a:picLocks noChangeAspect="1" noChangeArrowheads="1"/>
          </p:cNvPicPr>
          <p:nvPr/>
        </p:nvPicPr>
        <p:blipFill>
          <a:blip r:embed="rId2" cstate="print"/>
          <a:srcRect t="30470" r="43243" b="26871"/>
          <a:stretch>
            <a:fillRect/>
          </a:stretch>
        </p:blipFill>
        <p:spPr bwMode="auto">
          <a:xfrm>
            <a:off x="1676400" y="381000"/>
            <a:ext cx="4800600" cy="5867400"/>
          </a:xfrm>
          <a:prstGeom prst="rect">
            <a:avLst/>
          </a:prstGeom>
          <a:noFill/>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25" name="Picture 5" descr="14-7"/>
          <p:cNvPicPr>
            <a:picLocks noChangeAspect="1" noChangeArrowheads="1"/>
          </p:cNvPicPr>
          <p:nvPr/>
        </p:nvPicPr>
        <p:blipFill>
          <a:blip r:embed="rId2" cstate="print"/>
          <a:srcRect t="39890"/>
          <a:stretch>
            <a:fillRect/>
          </a:stretch>
        </p:blipFill>
        <p:spPr bwMode="auto">
          <a:xfrm>
            <a:off x="1143000" y="0"/>
            <a:ext cx="6858000" cy="6702425"/>
          </a:xfrm>
          <a:prstGeom prst="rect">
            <a:avLst/>
          </a:prstGeom>
          <a:noFill/>
        </p:spPr>
      </p:pic>
      <p:sp>
        <p:nvSpPr>
          <p:cNvPr id="4" name="文本框 3">
            <a:extLst>
              <a:ext uri="{FF2B5EF4-FFF2-40B4-BE49-F238E27FC236}">
                <a16:creationId xmlns:a16="http://schemas.microsoft.com/office/drawing/2014/main" id="{D69D449A-4C95-48C7-BF57-ED10475BBC2E}"/>
              </a:ext>
            </a:extLst>
          </p:cNvPr>
          <p:cNvSpPr txBox="1"/>
          <p:nvPr/>
        </p:nvSpPr>
        <p:spPr>
          <a:xfrm>
            <a:off x="6722368" y="6333093"/>
            <a:ext cx="1277888" cy="369332"/>
          </a:xfrm>
          <a:prstGeom prst="rect">
            <a:avLst/>
          </a:prstGeom>
          <a:noFill/>
        </p:spPr>
        <p:txBody>
          <a:bodyPr wrap="square">
            <a:spAutoFit/>
          </a:bodyPr>
          <a:lstStyle/>
          <a:p>
            <a:r>
              <a:rPr lang="en-US" altLang="zh-CN" dirty="0"/>
              <a:t>orotate</a:t>
            </a:r>
            <a:endParaRPr lang="zh-CN"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948" name="Picture 4" descr="14-7"/>
          <p:cNvPicPr>
            <a:picLocks noChangeAspect="1" noChangeArrowheads="1"/>
          </p:cNvPicPr>
          <p:nvPr/>
        </p:nvPicPr>
        <p:blipFill rotWithShape="1">
          <a:blip r:embed="rId2" cstate="print">
            <a:lum bright="-12000" contrast="24000"/>
          </a:blip>
          <a:srcRect l="55464" b="27979"/>
          <a:stretch/>
        </p:blipFill>
        <p:spPr bwMode="auto">
          <a:xfrm>
            <a:off x="2555776" y="0"/>
            <a:ext cx="3456384" cy="6858000"/>
          </a:xfrm>
          <a:prstGeom prst="rect">
            <a:avLst/>
          </a:prstGeom>
          <a:noFill/>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descr="f22-34"/>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6387" name="Line 3"/>
          <p:cNvSpPr>
            <a:spLocks noChangeShapeType="1"/>
          </p:cNvSpPr>
          <p:nvPr/>
        </p:nvSpPr>
        <p:spPr bwMode="auto">
          <a:xfrm flipV="1">
            <a:off x="6588125" y="1773238"/>
            <a:ext cx="228600" cy="381000"/>
          </a:xfrm>
          <a:prstGeom prst="line">
            <a:avLst/>
          </a:prstGeom>
          <a:noFill/>
          <a:ln w="9525">
            <a:solidFill>
              <a:schemeClr val="hlink"/>
            </a:solidFill>
            <a:miter lim="800000"/>
            <a:headEnd/>
            <a:tailEnd type="triangle" w="med" len="med"/>
          </a:ln>
          <a:effectLst/>
        </p:spPr>
        <p:txBody>
          <a:bodyPr wrap="none"/>
          <a:lstStyle/>
          <a:p>
            <a:endParaRPr lang="zh-CN" altLang="en-US" dirty="0">
              <a:latin typeface="Times New Roman" panose="02020603050405020304" pitchFamily="18" charset="0"/>
            </a:endParaRPr>
          </a:p>
        </p:txBody>
      </p:sp>
      <p:sp>
        <p:nvSpPr>
          <p:cNvPr id="16388" name="Rectangle 4"/>
          <p:cNvSpPr>
            <a:spLocks noChangeArrowheads="1"/>
          </p:cNvSpPr>
          <p:nvPr/>
        </p:nvSpPr>
        <p:spPr bwMode="auto">
          <a:xfrm>
            <a:off x="5364163" y="2205038"/>
            <a:ext cx="2190750" cy="336550"/>
          </a:xfrm>
          <a:prstGeom prst="rect">
            <a:avLst/>
          </a:prstGeom>
          <a:noFill/>
          <a:ln w="9525">
            <a:noFill/>
            <a:miter lim="800000"/>
            <a:headEnd/>
            <a:tailEnd/>
          </a:ln>
          <a:effectLst/>
        </p:spPr>
        <p:txBody>
          <a:bodyPr wrap="none">
            <a:spAutoFit/>
          </a:bodyPr>
          <a:lstStyle/>
          <a:p>
            <a:r>
              <a:rPr kumimoji="1" lang="en-US" altLang="zh-CN" sz="1600" b="1">
                <a:solidFill>
                  <a:schemeClr val="hlink"/>
                </a:solidFill>
                <a:latin typeface="Tahoma" pitchFamily="34" charset="0"/>
              </a:rPr>
              <a:t>Newly formed bond</a:t>
            </a:r>
          </a:p>
        </p:txBody>
      </p:sp>
      <p:sp>
        <p:nvSpPr>
          <p:cNvPr id="16389" name="Rectangle 5"/>
          <p:cNvSpPr>
            <a:spLocks noChangeArrowheads="1"/>
          </p:cNvSpPr>
          <p:nvPr/>
        </p:nvSpPr>
        <p:spPr bwMode="auto">
          <a:xfrm>
            <a:off x="1476375" y="0"/>
            <a:ext cx="1235075" cy="517525"/>
          </a:xfrm>
          <a:prstGeom prst="rect">
            <a:avLst/>
          </a:prstGeom>
          <a:noFill/>
          <a:ln w="9525">
            <a:noFill/>
            <a:miter lim="800000"/>
            <a:headEnd/>
            <a:tailEnd/>
          </a:ln>
          <a:effectLst/>
        </p:spPr>
        <p:txBody>
          <a:bodyPr wrap="none">
            <a:spAutoFit/>
          </a:bodyPr>
          <a:lstStyle/>
          <a:p>
            <a:pPr algn="ctr"/>
            <a:r>
              <a:rPr kumimoji="1" lang="en-US" altLang="zh-CN" sz="1400" b="1">
                <a:solidFill>
                  <a:schemeClr val="hlink"/>
                </a:solidFill>
                <a:latin typeface="Tahoma" pitchFamily="34" charset="0"/>
              </a:rPr>
              <a:t>Committing</a:t>
            </a:r>
          </a:p>
          <a:p>
            <a:pPr algn="ctr"/>
            <a:r>
              <a:rPr kumimoji="1" lang="en-US" altLang="zh-CN" sz="1400" b="1">
                <a:solidFill>
                  <a:schemeClr val="hlink"/>
                </a:solidFill>
                <a:latin typeface="Tahoma" pitchFamily="34" charset="0"/>
              </a:rPr>
              <a:t>step</a:t>
            </a:r>
          </a:p>
        </p:txBody>
      </p:sp>
      <p:sp>
        <p:nvSpPr>
          <p:cNvPr id="16390" name="Rectangle 6"/>
          <p:cNvSpPr>
            <a:spLocks noChangeArrowheads="1"/>
          </p:cNvSpPr>
          <p:nvPr/>
        </p:nvSpPr>
        <p:spPr bwMode="auto">
          <a:xfrm>
            <a:off x="5715000" y="1746250"/>
            <a:ext cx="184150" cy="336550"/>
          </a:xfrm>
          <a:prstGeom prst="rect">
            <a:avLst/>
          </a:prstGeom>
          <a:noFill/>
          <a:ln w="9525">
            <a:noFill/>
            <a:miter lim="800000"/>
            <a:headEnd/>
            <a:tailEnd/>
          </a:ln>
          <a:effectLst/>
        </p:spPr>
        <p:txBody>
          <a:bodyPr wrap="none">
            <a:spAutoFit/>
          </a:bodyPr>
          <a:lstStyle/>
          <a:p>
            <a:endParaRPr kumimoji="1" lang="zh-CN" altLang="zh-CN" sz="1600" b="1">
              <a:solidFill>
                <a:schemeClr val="hlink"/>
              </a:solidFill>
              <a:latin typeface="Tahoma" pitchFamily="34" charset="0"/>
            </a:endParaRPr>
          </a:p>
        </p:txBody>
      </p:sp>
      <p:sp>
        <p:nvSpPr>
          <p:cNvPr id="16391" name="Rectangle 7"/>
          <p:cNvSpPr>
            <a:spLocks noChangeArrowheads="1"/>
          </p:cNvSpPr>
          <p:nvPr/>
        </p:nvSpPr>
        <p:spPr bwMode="auto">
          <a:xfrm>
            <a:off x="7772400" y="404813"/>
            <a:ext cx="1371600" cy="641350"/>
          </a:xfrm>
          <a:prstGeom prst="rect">
            <a:avLst/>
          </a:prstGeom>
          <a:noFill/>
          <a:ln w="9525">
            <a:noFill/>
            <a:miter lim="800000"/>
            <a:headEnd/>
            <a:tailEnd/>
          </a:ln>
          <a:effectLst/>
        </p:spPr>
        <p:txBody>
          <a:bodyPr>
            <a:spAutoFit/>
          </a:bodyPr>
          <a:lstStyle/>
          <a:p>
            <a:r>
              <a:rPr kumimoji="1" lang="en-US" altLang="zh-CN" b="1">
                <a:solidFill>
                  <a:srgbClr val="0000FF"/>
                </a:solidFill>
                <a:latin typeface="Tahoma" pitchFamily="34" charset="0"/>
              </a:rPr>
              <a:t>Gln, HCO</a:t>
            </a:r>
            <a:r>
              <a:rPr kumimoji="1" lang="en-US" altLang="zh-CN" b="1" baseline="-25000">
                <a:solidFill>
                  <a:srgbClr val="0000FF"/>
                </a:solidFill>
                <a:latin typeface="Tahoma" pitchFamily="34" charset="0"/>
              </a:rPr>
              <a:t>3</a:t>
            </a:r>
            <a:r>
              <a:rPr kumimoji="1" lang="en-US" altLang="zh-CN" b="1" baseline="30000">
                <a:solidFill>
                  <a:srgbClr val="0000FF"/>
                </a:solidFill>
                <a:latin typeface="Tahoma" pitchFamily="34" charset="0"/>
              </a:rPr>
              <a:t>-</a:t>
            </a:r>
          </a:p>
          <a:p>
            <a:r>
              <a:rPr kumimoji="1" lang="en-US" altLang="zh-CN" b="1">
                <a:solidFill>
                  <a:srgbClr val="0000FF"/>
                </a:solidFill>
                <a:latin typeface="Tahoma" pitchFamily="34" charset="0"/>
              </a:rPr>
              <a:t>ATP</a:t>
            </a:r>
          </a:p>
        </p:txBody>
      </p:sp>
      <p:sp>
        <p:nvSpPr>
          <p:cNvPr id="16392" name="AutoShape 8"/>
          <p:cNvSpPr>
            <a:spLocks noChangeArrowheads="1"/>
          </p:cNvSpPr>
          <p:nvPr/>
        </p:nvSpPr>
        <p:spPr bwMode="auto">
          <a:xfrm>
            <a:off x="6011863" y="692150"/>
            <a:ext cx="1728787" cy="73025"/>
          </a:xfrm>
          <a:prstGeom prst="leftArrow">
            <a:avLst>
              <a:gd name="adj1" fmla="val 50000"/>
              <a:gd name="adj2" fmla="val 591848"/>
            </a:avLst>
          </a:prstGeom>
          <a:solidFill>
            <a:schemeClr val="accent1"/>
          </a:solidFill>
          <a:ln w="9525">
            <a:solidFill>
              <a:schemeClr val="tx1"/>
            </a:solidFill>
            <a:miter lim="800000"/>
            <a:headEnd/>
            <a:tailEnd/>
          </a:ln>
          <a:effectLst/>
        </p:spPr>
        <p:txBody>
          <a:bodyPr wrap="none" anchor="ctr"/>
          <a:lstStyle/>
          <a:p>
            <a:endParaRPr lang="zh-CN" altLang="en-US" dirty="0">
              <a:latin typeface="Times New Roman" panose="02020603050405020304" pitchFamily="18" charset="0"/>
            </a:endParaRPr>
          </a:p>
        </p:txBody>
      </p:sp>
      <p:sp>
        <p:nvSpPr>
          <p:cNvPr id="16393" name="Rectangle 9"/>
          <p:cNvSpPr>
            <a:spLocks noChangeArrowheads="1"/>
          </p:cNvSpPr>
          <p:nvPr/>
        </p:nvSpPr>
        <p:spPr bwMode="auto">
          <a:xfrm>
            <a:off x="6011863" y="188913"/>
            <a:ext cx="1871662" cy="457200"/>
          </a:xfrm>
          <a:prstGeom prst="rect">
            <a:avLst/>
          </a:prstGeom>
          <a:noFill/>
          <a:ln w="9525">
            <a:noFill/>
            <a:miter lim="800000"/>
            <a:headEnd/>
            <a:tailEnd/>
          </a:ln>
          <a:effectLst/>
        </p:spPr>
        <p:txBody>
          <a:bodyPr wrap="none">
            <a:spAutoFit/>
          </a:bodyPr>
          <a:lstStyle/>
          <a:p>
            <a:pPr algn="ctr"/>
            <a:r>
              <a:rPr kumimoji="1" lang="en-US" altLang="zh-CN" sz="1200" b="1">
                <a:solidFill>
                  <a:srgbClr val="339933"/>
                </a:solidFill>
                <a:latin typeface="Tahoma" pitchFamily="34" charset="0"/>
              </a:rPr>
              <a:t>carbamoyl phosphate </a:t>
            </a:r>
          </a:p>
          <a:p>
            <a:pPr algn="ctr"/>
            <a:r>
              <a:rPr kumimoji="1" lang="en-US" altLang="zh-CN" sz="1200" b="1">
                <a:solidFill>
                  <a:srgbClr val="339933"/>
                </a:solidFill>
                <a:latin typeface="Tahoma" pitchFamily="34" charset="0"/>
              </a:rPr>
              <a:t>synthetase II</a:t>
            </a:r>
          </a:p>
        </p:txBody>
      </p:sp>
      <p:sp>
        <p:nvSpPr>
          <p:cNvPr id="16394" name="Oval 10"/>
          <p:cNvSpPr>
            <a:spLocks noChangeArrowheads="1"/>
          </p:cNvSpPr>
          <p:nvPr/>
        </p:nvSpPr>
        <p:spPr bwMode="auto">
          <a:xfrm>
            <a:off x="684213" y="620713"/>
            <a:ext cx="2663825" cy="863600"/>
          </a:xfrm>
          <a:prstGeom prst="ellipse">
            <a:avLst/>
          </a:prstGeom>
          <a:solidFill>
            <a:schemeClr val="accent1"/>
          </a:solidFill>
          <a:ln w="9525">
            <a:solidFill>
              <a:schemeClr val="tx1"/>
            </a:solidFill>
            <a:miter lim="800000"/>
            <a:headEnd/>
            <a:tailEnd/>
          </a:ln>
          <a:effectLst/>
        </p:spPr>
        <p:txBody>
          <a:bodyPr wrap="none" anchor="ctr"/>
          <a:lstStyle/>
          <a:p>
            <a:endParaRPr lang="zh-CN" altLang="en-US" dirty="0">
              <a:latin typeface="Times New Roman" panose="02020603050405020304" pitchFamily="18" charset="0"/>
            </a:endParaRPr>
          </a:p>
        </p:txBody>
      </p:sp>
      <p:sp>
        <p:nvSpPr>
          <p:cNvPr id="16395" name="Rectangle 11"/>
          <p:cNvSpPr>
            <a:spLocks noChangeArrowheads="1"/>
          </p:cNvSpPr>
          <p:nvPr/>
        </p:nvSpPr>
        <p:spPr bwMode="auto">
          <a:xfrm>
            <a:off x="827088" y="765175"/>
            <a:ext cx="2624137" cy="581025"/>
          </a:xfrm>
          <a:prstGeom prst="rect">
            <a:avLst/>
          </a:prstGeom>
          <a:noFill/>
          <a:ln w="9525">
            <a:noFill/>
            <a:miter lim="800000"/>
            <a:headEnd/>
            <a:tailEnd/>
          </a:ln>
          <a:effectLst/>
        </p:spPr>
        <p:txBody>
          <a:bodyPr wrap="none">
            <a:spAutoFit/>
          </a:bodyPr>
          <a:lstStyle/>
          <a:p>
            <a:pPr algn="ctr"/>
            <a:r>
              <a:rPr kumimoji="1" lang="en-US" altLang="zh-CN" sz="1600" b="1">
                <a:solidFill>
                  <a:srgbClr val="0000FF"/>
                </a:solidFill>
                <a:latin typeface="Tahoma" pitchFamily="34" charset="0"/>
              </a:rPr>
              <a:t>Asp transcarbamoylase </a:t>
            </a:r>
          </a:p>
          <a:p>
            <a:pPr algn="ctr"/>
            <a:r>
              <a:rPr kumimoji="1" lang="en-US" altLang="zh-CN" sz="1600" b="1">
                <a:solidFill>
                  <a:srgbClr val="0000FF"/>
                </a:solidFill>
                <a:latin typeface="Tahoma" pitchFamily="34" charset="0"/>
              </a:rPr>
              <a:t>(ATCase)</a:t>
            </a:r>
          </a:p>
        </p:txBody>
      </p:sp>
      <p:sp>
        <p:nvSpPr>
          <p:cNvPr id="16398" name="Text Box 14"/>
          <p:cNvSpPr txBox="1">
            <a:spLocks noChangeArrowheads="1"/>
          </p:cNvSpPr>
          <p:nvPr/>
        </p:nvSpPr>
        <p:spPr bwMode="auto">
          <a:xfrm>
            <a:off x="4114800" y="4419600"/>
            <a:ext cx="1295400" cy="366713"/>
          </a:xfrm>
          <a:prstGeom prst="rect">
            <a:avLst/>
          </a:prstGeom>
          <a:noFill/>
          <a:ln w="9525">
            <a:noFill/>
            <a:miter lim="800000"/>
            <a:headEnd/>
            <a:tailEnd/>
          </a:ln>
          <a:effectLst/>
        </p:spPr>
        <p:txBody>
          <a:bodyPr>
            <a:spAutoFit/>
          </a:bodyPr>
          <a:lstStyle/>
          <a:p>
            <a:pPr>
              <a:spcBef>
                <a:spcPct val="50000"/>
              </a:spcBef>
            </a:pPr>
            <a:r>
              <a:rPr lang="zh-CN" altLang="en-US" b="1" dirty="0">
                <a:solidFill>
                  <a:srgbClr val="CC3300"/>
                </a:solidFill>
                <a:latin typeface="Times New Roman" panose="02020603050405020304" pitchFamily="18" charset="0"/>
              </a:rPr>
              <a:t>乳清酸</a:t>
            </a:r>
          </a:p>
        </p:txBody>
      </p:sp>
      <p:sp>
        <p:nvSpPr>
          <p:cNvPr id="16399" name="Text Box 15"/>
          <p:cNvSpPr txBox="1">
            <a:spLocks noChangeArrowheads="1"/>
          </p:cNvSpPr>
          <p:nvPr/>
        </p:nvSpPr>
        <p:spPr bwMode="auto">
          <a:xfrm>
            <a:off x="3886200" y="6324600"/>
            <a:ext cx="1447800" cy="366713"/>
          </a:xfrm>
          <a:prstGeom prst="rect">
            <a:avLst/>
          </a:prstGeom>
          <a:noFill/>
          <a:ln w="9525">
            <a:noFill/>
            <a:miter lim="800000"/>
            <a:headEnd/>
            <a:tailEnd/>
          </a:ln>
          <a:effectLst/>
        </p:spPr>
        <p:txBody>
          <a:bodyPr>
            <a:spAutoFit/>
          </a:bodyPr>
          <a:lstStyle/>
          <a:p>
            <a:pPr>
              <a:spcBef>
                <a:spcPct val="50000"/>
              </a:spcBef>
            </a:pPr>
            <a:r>
              <a:rPr lang="zh-CN" altLang="en-US" b="1" dirty="0">
                <a:solidFill>
                  <a:srgbClr val="CC3300"/>
                </a:solidFill>
                <a:latin typeface="Times New Roman" panose="02020603050405020304" pitchFamily="18" charset="0"/>
              </a:rPr>
              <a:t>乳清苷酸</a:t>
            </a:r>
          </a:p>
        </p:txBody>
      </p:sp>
    </p:spTree>
  </p:cSld>
  <p:clrMapOvr>
    <a:masterClrMapping/>
  </p:clrMapOvr>
  <p:transition spd="slow" advClick="0">
    <p:blinds dir="vert"/>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684213" y="1700808"/>
            <a:ext cx="7793037" cy="3015655"/>
          </a:xfrm>
        </p:spPr>
        <p:txBody>
          <a:bodyPr/>
          <a:lstStyle/>
          <a:p>
            <a:r>
              <a:rPr lang="en-US" altLang="zh-CN" b="1" dirty="0">
                <a:solidFill>
                  <a:srgbClr val="FF0000"/>
                </a:solidFill>
              </a:rPr>
              <a:t>UTP</a:t>
            </a:r>
            <a:r>
              <a:rPr lang="en-US" altLang="zh-CN" b="1" dirty="0">
                <a:solidFill>
                  <a:srgbClr val="0000FF"/>
                </a:solidFill>
              </a:rPr>
              <a:t> and </a:t>
            </a:r>
            <a:r>
              <a:rPr lang="en-US" altLang="zh-CN" b="1" dirty="0">
                <a:solidFill>
                  <a:srgbClr val="FF0000"/>
                </a:solidFill>
              </a:rPr>
              <a:t>CTP</a:t>
            </a:r>
            <a:r>
              <a:rPr lang="en-US" altLang="zh-CN" b="1" dirty="0">
                <a:solidFill>
                  <a:srgbClr val="0000FF"/>
                </a:solidFill>
              </a:rPr>
              <a:t> are then derived from </a:t>
            </a:r>
            <a:r>
              <a:rPr lang="en-US" altLang="zh-CN" b="1" dirty="0">
                <a:solidFill>
                  <a:srgbClr val="FF0000"/>
                </a:solidFill>
              </a:rPr>
              <a:t>orotidylate</a:t>
            </a:r>
            <a:r>
              <a:rPr lang="en-US" altLang="zh-CN" b="1" dirty="0">
                <a:solidFill>
                  <a:srgbClr val="0000FF"/>
                </a:solidFill>
              </a:rPr>
              <a:t> </a:t>
            </a:r>
            <a:r>
              <a:rPr lang="en-US" altLang="zh-CN" b="1" i="1" dirty="0">
                <a:solidFill>
                  <a:srgbClr val="0000FF"/>
                </a:solidFill>
              </a:rPr>
              <a:t>via</a:t>
            </a:r>
            <a:r>
              <a:rPr lang="en-US" altLang="zh-CN" b="1" dirty="0">
                <a:solidFill>
                  <a:srgbClr val="0000FF"/>
                </a:solidFill>
              </a:rPr>
              <a:t> decarboxylation and amination reactions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descr="f22-34b"/>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8435" name="Rectangle 3"/>
          <p:cNvSpPr>
            <a:spLocks noChangeArrowheads="1"/>
          </p:cNvSpPr>
          <p:nvPr/>
        </p:nvSpPr>
        <p:spPr bwMode="auto">
          <a:xfrm>
            <a:off x="2987675" y="1484313"/>
            <a:ext cx="1414463" cy="274637"/>
          </a:xfrm>
          <a:prstGeom prst="rect">
            <a:avLst/>
          </a:prstGeom>
          <a:noFill/>
          <a:ln w="9525">
            <a:noFill/>
            <a:miter lim="800000"/>
            <a:headEnd/>
            <a:tailEnd/>
          </a:ln>
          <a:effectLst/>
        </p:spPr>
        <p:txBody>
          <a:bodyPr wrap="none">
            <a:spAutoFit/>
          </a:bodyPr>
          <a:lstStyle/>
          <a:p>
            <a:r>
              <a:rPr kumimoji="1" lang="en-US" altLang="zh-CN" sz="1200" b="1">
                <a:solidFill>
                  <a:schemeClr val="hlink"/>
                </a:solidFill>
                <a:latin typeface="Tahoma" pitchFamily="34" charset="0"/>
              </a:rPr>
              <a:t>decarboxylation</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228600" y="1916832"/>
            <a:ext cx="8785225" cy="2578968"/>
          </a:xfrm>
        </p:spPr>
        <p:txBody>
          <a:bodyPr/>
          <a:lstStyle/>
          <a:p>
            <a:r>
              <a:rPr lang="en-US" altLang="zh-CN" b="1" dirty="0">
                <a:solidFill>
                  <a:srgbClr val="0000FF"/>
                </a:solidFill>
              </a:rPr>
              <a:t>All </a:t>
            </a:r>
            <a:r>
              <a:rPr lang="en-US" altLang="zh-CN" b="1" dirty="0" err="1">
                <a:solidFill>
                  <a:srgbClr val="FF0000"/>
                </a:solidFill>
              </a:rPr>
              <a:t>dNDPs</a:t>
            </a:r>
            <a:r>
              <a:rPr lang="en-US" altLang="zh-CN" b="1" dirty="0">
                <a:solidFill>
                  <a:srgbClr val="0000FF"/>
                </a:solidFill>
              </a:rPr>
              <a:t> are derived from </a:t>
            </a:r>
            <a:r>
              <a:rPr lang="en-US" altLang="zh-CN" b="1" dirty="0">
                <a:solidFill>
                  <a:srgbClr val="FF0000"/>
                </a:solidFill>
              </a:rPr>
              <a:t>NDPs</a:t>
            </a:r>
            <a:r>
              <a:rPr lang="en-US" altLang="zh-CN" b="1" dirty="0">
                <a:solidFill>
                  <a:srgbClr val="0000FF"/>
                </a:solidFill>
              </a:rPr>
              <a:t> via the catalysis of a common </a:t>
            </a:r>
            <a:r>
              <a:rPr lang="en-US" altLang="zh-CN" b="1" dirty="0">
                <a:solidFill>
                  <a:srgbClr val="FF0000"/>
                </a:solidFill>
              </a:rPr>
              <a:t>ribonucleotide reductase</a:t>
            </a:r>
            <a:r>
              <a:rPr lang="en-US" altLang="zh-CN" b="1" dirty="0">
                <a:solidFill>
                  <a:srgbClr val="0000FF"/>
                </a:solidFill>
              </a:rPr>
              <a:t>.</a:t>
            </a:r>
            <a:r>
              <a:rPr lang="en-US" altLang="zh-CN" sz="4000" b="1" dirty="0">
                <a:solidFill>
                  <a:schemeClr val="hlink"/>
                </a:solidFill>
              </a:rPr>
              <a:t> </a:t>
            </a:r>
          </a:p>
        </p:txBody>
      </p:sp>
    </p:spTree>
  </p:cSld>
  <p:clrMapOvr>
    <a:masterClrMapping/>
  </p:clrMapOvr>
  <p:transition spd="slow" advClick="0">
    <p:blinds dir="vert"/>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descr="f22-37"/>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25603" name="Rectangle 3"/>
          <p:cNvSpPr>
            <a:spLocks noChangeArrowheads="1"/>
          </p:cNvSpPr>
          <p:nvPr/>
        </p:nvSpPr>
        <p:spPr bwMode="auto">
          <a:xfrm>
            <a:off x="2716213" y="0"/>
            <a:ext cx="3611562" cy="581025"/>
          </a:xfrm>
          <a:prstGeom prst="rect">
            <a:avLst/>
          </a:prstGeom>
          <a:noFill/>
          <a:ln w="9525">
            <a:noFill/>
            <a:miter lim="800000"/>
            <a:headEnd/>
            <a:tailEnd/>
          </a:ln>
          <a:effectLst/>
        </p:spPr>
        <p:txBody>
          <a:bodyPr wrap="none">
            <a:spAutoFit/>
          </a:bodyPr>
          <a:lstStyle/>
          <a:p>
            <a:pPr algn="ctr"/>
            <a:r>
              <a:rPr kumimoji="1" lang="en-US" altLang="zh-CN" sz="1600" b="1">
                <a:solidFill>
                  <a:srgbClr val="0000FF"/>
                </a:solidFill>
                <a:latin typeface="Times New Roman" pitchFamily="18" charset="0"/>
              </a:rPr>
              <a:t>Electrons for </a:t>
            </a:r>
            <a:r>
              <a:rPr kumimoji="1" lang="en-US" altLang="zh-CN" sz="1600" b="1">
                <a:solidFill>
                  <a:srgbClr val="FF0000"/>
                </a:solidFill>
                <a:latin typeface="Times New Roman" pitchFamily="18" charset="0"/>
              </a:rPr>
              <a:t>ribonucleotide reductase</a:t>
            </a:r>
            <a:r>
              <a:rPr kumimoji="1" lang="en-US" altLang="zh-CN" sz="1600" b="1">
                <a:solidFill>
                  <a:srgbClr val="0000FF"/>
                </a:solidFill>
                <a:latin typeface="Times New Roman" pitchFamily="18" charset="0"/>
              </a:rPr>
              <a:t> </a:t>
            </a:r>
          </a:p>
          <a:p>
            <a:pPr algn="ctr"/>
            <a:r>
              <a:rPr kumimoji="1" lang="en-US" altLang="zh-CN" sz="1600" b="1">
                <a:solidFill>
                  <a:srgbClr val="0000FF"/>
                </a:solidFill>
                <a:latin typeface="Times New Roman" pitchFamily="18" charset="0"/>
              </a:rPr>
              <a:t>catalysis ultimately come from NADPH</a:t>
            </a:r>
          </a:p>
        </p:txBody>
      </p:sp>
    </p:spTree>
  </p:cSld>
  <p:clrMapOvr>
    <a:masterClrMapping/>
  </p:clrMapOvr>
  <p:transition spd="slow" advClick="0">
    <p:blinds dir="vert"/>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108520" y="2286000"/>
            <a:ext cx="9144000" cy="1143000"/>
          </a:xfrm>
        </p:spPr>
        <p:txBody>
          <a:bodyPr/>
          <a:lstStyle/>
          <a:p>
            <a:r>
              <a:rPr lang="en-US" altLang="zh-CN" b="1" dirty="0">
                <a:solidFill>
                  <a:srgbClr val="FF0000"/>
                </a:solidFill>
              </a:rPr>
              <a:t>dTMP</a:t>
            </a:r>
            <a:r>
              <a:rPr lang="en-US" altLang="zh-CN" b="1" dirty="0">
                <a:solidFill>
                  <a:srgbClr val="0000FF"/>
                </a:solidFill>
              </a:rPr>
              <a:t> is synthesized by the methylation of </a:t>
            </a:r>
            <a:r>
              <a:rPr lang="en-US" altLang="zh-CN" b="1" dirty="0" err="1">
                <a:solidFill>
                  <a:srgbClr val="FF0000"/>
                </a:solidFill>
              </a:rPr>
              <a:t>dUMP</a:t>
            </a:r>
            <a:endParaRPr lang="en-US" altLang="zh-CN" b="1" dirty="0">
              <a:solidFill>
                <a:srgbClr val="FF0000"/>
              </a:solidFill>
            </a:endParaRPr>
          </a:p>
        </p:txBody>
      </p:sp>
    </p:spTree>
  </p:cSld>
  <p:clrMapOvr>
    <a:masterClrMapping/>
  </p:clrMapOvr>
  <p:transition spd="slow" advClick="0">
    <p:blinds dir="vert"/>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descr="f22-42"/>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29699" name="Rectangle 3"/>
          <p:cNvSpPr>
            <a:spLocks noChangeArrowheads="1"/>
          </p:cNvSpPr>
          <p:nvPr/>
        </p:nvSpPr>
        <p:spPr bwMode="auto">
          <a:xfrm>
            <a:off x="7550150" y="1495425"/>
            <a:ext cx="1454150" cy="641350"/>
          </a:xfrm>
          <a:prstGeom prst="rect">
            <a:avLst/>
          </a:prstGeom>
          <a:noFill/>
          <a:ln w="9525">
            <a:noFill/>
            <a:miter lim="800000"/>
            <a:headEnd/>
            <a:tailEnd/>
          </a:ln>
          <a:effectLst/>
        </p:spPr>
        <p:txBody>
          <a:bodyPr wrap="none">
            <a:spAutoFit/>
          </a:bodyPr>
          <a:lstStyle/>
          <a:p>
            <a:r>
              <a:rPr kumimoji="1" lang="en-US" altLang="zh-CN" sz="3600" b="1">
                <a:solidFill>
                  <a:schemeClr val="hlink"/>
                </a:solidFill>
                <a:latin typeface="Times New Roman" pitchFamily="18" charset="0"/>
              </a:rPr>
              <a:t>dTMP</a:t>
            </a:r>
          </a:p>
        </p:txBody>
      </p:sp>
      <p:sp>
        <p:nvSpPr>
          <p:cNvPr id="29700" name="Rectangle 4"/>
          <p:cNvSpPr>
            <a:spLocks noChangeArrowheads="1"/>
          </p:cNvSpPr>
          <p:nvPr/>
        </p:nvSpPr>
        <p:spPr bwMode="auto">
          <a:xfrm>
            <a:off x="0" y="1447800"/>
            <a:ext cx="1479550" cy="641350"/>
          </a:xfrm>
          <a:prstGeom prst="rect">
            <a:avLst/>
          </a:prstGeom>
          <a:noFill/>
          <a:ln w="9525">
            <a:noFill/>
            <a:miter lim="800000"/>
            <a:headEnd/>
            <a:tailEnd/>
          </a:ln>
          <a:effectLst/>
        </p:spPr>
        <p:txBody>
          <a:bodyPr wrap="none">
            <a:spAutoFit/>
          </a:bodyPr>
          <a:lstStyle/>
          <a:p>
            <a:r>
              <a:rPr kumimoji="1" lang="en-US" altLang="zh-CN" sz="3600" b="1">
                <a:solidFill>
                  <a:schemeClr val="hlink"/>
                </a:solidFill>
                <a:latin typeface="Times New Roman" pitchFamily="18" charset="0"/>
              </a:rPr>
              <a:t>dUMP</a:t>
            </a:r>
          </a:p>
        </p:txBody>
      </p:sp>
      <p:sp>
        <p:nvSpPr>
          <p:cNvPr id="29701" name="Rectangle 5"/>
          <p:cNvSpPr>
            <a:spLocks noChangeArrowheads="1"/>
          </p:cNvSpPr>
          <p:nvPr/>
        </p:nvSpPr>
        <p:spPr bwMode="auto">
          <a:xfrm>
            <a:off x="2843213" y="4221163"/>
            <a:ext cx="2235200" cy="517525"/>
          </a:xfrm>
          <a:prstGeom prst="rect">
            <a:avLst/>
          </a:prstGeom>
          <a:noFill/>
          <a:ln w="9525">
            <a:noFill/>
            <a:miter lim="800000"/>
            <a:headEnd/>
            <a:tailEnd/>
          </a:ln>
          <a:effectLst/>
        </p:spPr>
        <p:txBody>
          <a:bodyPr wrap="none">
            <a:spAutoFit/>
          </a:bodyPr>
          <a:lstStyle/>
          <a:p>
            <a:r>
              <a:rPr kumimoji="1" lang="en-US" altLang="zh-CN" sz="1400" b="1">
                <a:solidFill>
                  <a:srgbClr val="FF0000"/>
                </a:solidFill>
                <a:latin typeface="Tahoma" pitchFamily="34" charset="0"/>
              </a:rPr>
              <a:t>(donors of one-carbon </a:t>
            </a:r>
          </a:p>
          <a:p>
            <a:r>
              <a:rPr kumimoji="1" lang="en-US" altLang="zh-CN" sz="1400" b="1">
                <a:solidFill>
                  <a:srgbClr val="FF0000"/>
                </a:solidFill>
                <a:latin typeface="Tahoma" pitchFamily="34" charset="0"/>
              </a:rPr>
              <a:t>units &amp; electrons)</a:t>
            </a:r>
          </a:p>
        </p:txBody>
      </p:sp>
      <p:sp>
        <p:nvSpPr>
          <p:cNvPr id="29702" name="Oval 6"/>
          <p:cNvSpPr>
            <a:spLocks noChangeArrowheads="1"/>
          </p:cNvSpPr>
          <p:nvPr/>
        </p:nvSpPr>
        <p:spPr bwMode="auto">
          <a:xfrm>
            <a:off x="3419475" y="1628775"/>
            <a:ext cx="1800225" cy="720725"/>
          </a:xfrm>
          <a:prstGeom prst="ellipse">
            <a:avLst/>
          </a:prstGeom>
          <a:solidFill>
            <a:schemeClr val="accent1"/>
          </a:solidFill>
          <a:ln w="9525">
            <a:solidFill>
              <a:schemeClr val="tx1"/>
            </a:solidFill>
            <a:miter lim="800000"/>
            <a:headEnd/>
            <a:tailEnd/>
          </a:ln>
          <a:effectLst/>
        </p:spPr>
        <p:txBody>
          <a:bodyPr wrap="none" anchor="ctr"/>
          <a:lstStyle/>
          <a:p>
            <a:endParaRPr lang="zh-CN" altLang="en-US" dirty="0">
              <a:latin typeface="Times New Roman" panose="02020603050405020304" pitchFamily="18" charset="0"/>
            </a:endParaRPr>
          </a:p>
        </p:txBody>
      </p:sp>
      <p:sp>
        <p:nvSpPr>
          <p:cNvPr id="29703" name="Rectangle 7"/>
          <p:cNvSpPr>
            <a:spLocks noChangeArrowheads="1"/>
          </p:cNvSpPr>
          <p:nvPr/>
        </p:nvSpPr>
        <p:spPr bwMode="auto">
          <a:xfrm>
            <a:off x="3492500" y="1700213"/>
            <a:ext cx="1600200" cy="641350"/>
          </a:xfrm>
          <a:prstGeom prst="rect">
            <a:avLst/>
          </a:prstGeom>
          <a:noFill/>
          <a:ln w="9525">
            <a:noFill/>
            <a:miter lim="800000"/>
            <a:headEnd/>
            <a:tailEnd/>
          </a:ln>
          <a:effectLst/>
        </p:spPr>
        <p:txBody>
          <a:bodyPr wrap="none">
            <a:spAutoFit/>
          </a:bodyPr>
          <a:lstStyle/>
          <a:p>
            <a:pPr algn="ctr"/>
            <a:r>
              <a:rPr kumimoji="1" lang="en-US" altLang="zh-CN" b="1">
                <a:solidFill>
                  <a:srgbClr val="0000FF"/>
                </a:solidFill>
                <a:latin typeface="Tahoma" pitchFamily="34" charset="0"/>
              </a:rPr>
              <a:t>Thymidylate</a:t>
            </a:r>
          </a:p>
          <a:p>
            <a:pPr algn="ctr"/>
            <a:r>
              <a:rPr kumimoji="1" lang="en-US" altLang="zh-CN" b="1">
                <a:solidFill>
                  <a:srgbClr val="0000FF"/>
                </a:solidFill>
                <a:latin typeface="Tahoma" pitchFamily="34" charset="0"/>
              </a:rPr>
              <a:t>synthase</a:t>
            </a:r>
          </a:p>
        </p:txBody>
      </p:sp>
    </p:spTree>
  </p:cSld>
  <p:clrMapOvr>
    <a:masterClrMapping/>
  </p:clrMapOvr>
  <p:transition spd="slow" advClick="0">
    <p:blinds dir="vert"/>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2" descr="f22-41"/>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0723" name="Rectangle 3"/>
          <p:cNvSpPr>
            <a:spLocks noChangeArrowheads="1"/>
          </p:cNvSpPr>
          <p:nvPr/>
        </p:nvSpPr>
        <p:spPr bwMode="auto">
          <a:xfrm>
            <a:off x="-76200" y="4868863"/>
            <a:ext cx="5375275" cy="1554162"/>
          </a:xfrm>
          <a:prstGeom prst="rect">
            <a:avLst/>
          </a:prstGeom>
          <a:noFill/>
          <a:ln w="9525">
            <a:noFill/>
            <a:miter lim="800000"/>
            <a:headEnd/>
            <a:tailEnd/>
          </a:ln>
          <a:effectLst/>
        </p:spPr>
        <p:txBody>
          <a:bodyPr wrap="none">
            <a:spAutoFit/>
          </a:bodyPr>
          <a:lstStyle/>
          <a:p>
            <a:pPr algn="ctr"/>
            <a:r>
              <a:rPr kumimoji="1" lang="en-US" altLang="zh-CN" sz="3200" b="1">
                <a:solidFill>
                  <a:srgbClr val="FF0000"/>
                </a:solidFill>
                <a:latin typeface="Times New Roman" pitchFamily="18" charset="0"/>
              </a:rPr>
              <a:t>dUMP is derived from dUTP,</a:t>
            </a:r>
          </a:p>
          <a:p>
            <a:pPr algn="ctr"/>
            <a:r>
              <a:rPr kumimoji="1" lang="en-US" altLang="zh-CN" sz="3200" b="1">
                <a:solidFill>
                  <a:srgbClr val="FF0000"/>
                </a:solidFill>
                <a:latin typeface="Times New Roman" pitchFamily="18" charset="0"/>
              </a:rPr>
              <a:t>which is in turn derived from </a:t>
            </a:r>
          </a:p>
          <a:p>
            <a:pPr algn="ctr"/>
            <a:r>
              <a:rPr kumimoji="1" lang="en-US" altLang="zh-CN" sz="3200" b="1">
                <a:solidFill>
                  <a:srgbClr val="FF0000"/>
                </a:solidFill>
                <a:latin typeface="Times New Roman" pitchFamily="18" charset="0"/>
              </a:rPr>
              <a:t>dCTP or dUDP.</a:t>
            </a:r>
          </a:p>
        </p:txBody>
      </p:sp>
    </p:spTree>
  </p:cSld>
  <p:clrMapOvr>
    <a:masterClrMapping/>
  </p:clrMapOvr>
  <p:transition spd="slow" advClick="0">
    <p:blinds dir="vert"/>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2667000" y="1033463"/>
            <a:ext cx="5362575" cy="5203825"/>
            <a:chOff x="1680" y="480"/>
            <a:chExt cx="3378" cy="3278"/>
          </a:xfrm>
        </p:grpSpPr>
        <p:sp>
          <p:nvSpPr>
            <p:cNvPr id="102403" name="Text Box 3"/>
            <p:cNvSpPr txBox="1">
              <a:spLocks noChangeArrowheads="1"/>
            </p:cNvSpPr>
            <p:nvPr/>
          </p:nvSpPr>
          <p:spPr bwMode="auto">
            <a:xfrm>
              <a:off x="1680" y="480"/>
              <a:ext cx="2580" cy="3278"/>
            </a:xfrm>
            <a:prstGeom prst="rect">
              <a:avLst/>
            </a:prstGeom>
            <a:noFill/>
            <a:ln w="9525">
              <a:noFill/>
              <a:miter lim="800000"/>
              <a:headEnd/>
              <a:tailEnd/>
            </a:ln>
            <a:effectLst/>
          </p:spPr>
          <p:txBody>
            <a:bodyPr wrap="none" anchor="ctr">
              <a:spAutoFit/>
            </a:bodyPr>
            <a:lstStyle/>
            <a:p>
              <a:pPr eaLnBrk="0" hangingPunct="0"/>
              <a:r>
                <a:rPr lang="en-US" altLang="zh-CN" sz="2400" b="1">
                  <a:solidFill>
                    <a:srgbClr val="000066"/>
                  </a:solidFill>
                  <a:latin typeface="Times New Roman" pitchFamily="18" charset="0"/>
                </a:rPr>
                <a:t>UMP</a:t>
              </a:r>
            </a:p>
            <a:p>
              <a:pPr eaLnBrk="0" hangingPunct="0"/>
              <a:endParaRPr lang="en-US" altLang="zh-CN" sz="2400" b="1">
                <a:solidFill>
                  <a:srgbClr val="000066"/>
                </a:solidFill>
                <a:latin typeface="Times New Roman" pitchFamily="18" charset="0"/>
              </a:endParaRPr>
            </a:p>
            <a:p>
              <a:pPr eaLnBrk="0" hangingPunct="0"/>
              <a:endParaRPr lang="en-US" altLang="zh-CN" sz="2400" b="1">
                <a:solidFill>
                  <a:srgbClr val="000066"/>
                </a:solidFill>
                <a:latin typeface="Times New Roman" pitchFamily="18" charset="0"/>
              </a:endParaRPr>
            </a:p>
            <a:p>
              <a:pPr eaLnBrk="0" hangingPunct="0"/>
              <a:endParaRPr lang="en-US" altLang="zh-CN" sz="2400" b="1">
                <a:solidFill>
                  <a:srgbClr val="000066"/>
                </a:solidFill>
                <a:latin typeface="Times New Roman" pitchFamily="18" charset="0"/>
              </a:endParaRPr>
            </a:p>
            <a:p>
              <a:pPr eaLnBrk="0" hangingPunct="0"/>
              <a:r>
                <a:rPr lang="en-US" altLang="zh-CN" sz="2400" b="1">
                  <a:solidFill>
                    <a:srgbClr val="000066"/>
                  </a:solidFill>
                  <a:latin typeface="Times New Roman" pitchFamily="18" charset="0"/>
                </a:rPr>
                <a:t>UDP                                dUDP</a:t>
              </a:r>
            </a:p>
            <a:p>
              <a:pPr eaLnBrk="0" hangingPunct="0"/>
              <a:endParaRPr lang="en-US" altLang="zh-CN" sz="2400" b="1">
                <a:solidFill>
                  <a:srgbClr val="000066"/>
                </a:solidFill>
                <a:latin typeface="Times New Roman" pitchFamily="18" charset="0"/>
              </a:endParaRPr>
            </a:p>
            <a:p>
              <a:pPr eaLnBrk="0" hangingPunct="0"/>
              <a:endParaRPr lang="en-US" altLang="zh-CN" sz="2400" b="1">
                <a:solidFill>
                  <a:srgbClr val="000066"/>
                </a:solidFill>
                <a:latin typeface="Times New Roman" pitchFamily="18" charset="0"/>
              </a:endParaRPr>
            </a:p>
            <a:p>
              <a:pPr eaLnBrk="0" hangingPunct="0"/>
              <a:endParaRPr lang="en-US" altLang="zh-CN" sz="2400" b="1">
                <a:solidFill>
                  <a:srgbClr val="000066"/>
                </a:solidFill>
                <a:latin typeface="Times New Roman" pitchFamily="18" charset="0"/>
              </a:endParaRPr>
            </a:p>
            <a:p>
              <a:pPr eaLnBrk="0" hangingPunct="0"/>
              <a:r>
                <a:rPr lang="en-US" altLang="zh-CN" sz="2400" b="1">
                  <a:solidFill>
                    <a:srgbClr val="000066"/>
                  </a:solidFill>
                  <a:latin typeface="Times New Roman" pitchFamily="18" charset="0"/>
                </a:rPr>
                <a:t>UTP                                dUMP</a:t>
              </a:r>
            </a:p>
            <a:p>
              <a:pPr eaLnBrk="0" hangingPunct="0"/>
              <a:endParaRPr lang="en-US" altLang="zh-CN" sz="2400" b="1">
                <a:solidFill>
                  <a:srgbClr val="000066"/>
                </a:solidFill>
                <a:latin typeface="Times New Roman" pitchFamily="18" charset="0"/>
              </a:endParaRPr>
            </a:p>
            <a:p>
              <a:pPr eaLnBrk="0" hangingPunct="0"/>
              <a:endParaRPr lang="en-US" altLang="zh-CN" sz="2400" b="1">
                <a:solidFill>
                  <a:srgbClr val="000066"/>
                </a:solidFill>
                <a:latin typeface="Times New Roman" pitchFamily="18" charset="0"/>
              </a:endParaRPr>
            </a:p>
            <a:p>
              <a:pPr eaLnBrk="0" hangingPunct="0"/>
              <a:endParaRPr lang="en-US" altLang="zh-CN" sz="2400" b="1">
                <a:solidFill>
                  <a:srgbClr val="000066"/>
                </a:solidFill>
                <a:latin typeface="Times New Roman" pitchFamily="18" charset="0"/>
              </a:endParaRPr>
            </a:p>
            <a:p>
              <a:pPr eaLnBrk="0" hangingPunct="0"/>
              <a:r>
                <a:rPr lang="en-US" altLang="zh-CN" sz="2400" b="1">
                  <a:solidFill>
                    <a:srgbClr val="000066"/>
                  </a:solidFill>
                  <a:latin typeface="Times New Roman" pitchFamily="18" charset="0"/>
                </a:rPr>
                <a:t>CTP                                dTMP</a:t>
              </a:r>
            </a:p>
            <a:p>
              <a:pPr eaLnBrk="0" hangingPunct="0"/>
              <a:endParaRPr lang="en-US" altLang="zh-CN" sz="2400" b="1">
                <a:solidFill>
                  <a:srgbClr val="000066"/>
                </a:solidFill>
                <a:latin typeface="Times New Roman" pitchFamily="18" charset="0"/>
              </a:endParaRPr>
            </a:p>
          </p:txBody>
        </p:sp>
        <p:sp>
          <p:nvSpPr>
            <p:cNvPr id="102404" name="Line 4"/>
            <p:cNvSpPr>
              <a:spLocks noChangeShapeType="1"/>
            </p:cNvSpPr>
            <p:nvPr/>
          </p:nvSpPr>
          <p:spPr bwMode="auto">
            <a:xfrm>
              <a:off x="1920" y="720"/>
              <a:ext cx="0" cy="720"/>
            </a:xfrm>
            <a:prstGeom prst="line">
              <a:avLst/>
            </a:prstGeom>
            <a:noFill/>
            <a:ln w="38100">
              <a:solidFill>
                <a:schemeClr val="accent1"/>
              </a:solidFill>
              <a:round/>
              <a:headEnd/>
              <a:tailEnd type="triangle" w="med" len="med"/>
            </a:ln>
            <a:effectLst/>
          </p:spPr>
          <p:txBody>
            <a:bodyPr wrap="none" anchor="ctr"/>
            <a:lstStyle/>
            <a:p>
              <a:endParaRPr lang="zh-CN" altLang="en-US" dirty="0">
                <a:latin typeface="Times New Roman" panose="02020603050405020304" pitchFamily="18" charset="0"/>
              </a:endParaRPr>
            </a:p>
          </p:txBody>
        </p:sp>
        <p:sp>
          <p:nvSpPr>
            <p:cNvPr id="102405" name="Line 5"/>
            <p:cNvSpPr>
              <a:spLocks noChangeShapeType="1"/>
            </p:cNvSpPr>
            <p:nvPr/>
          </p:nvSpPr>
          <p:spPr bwMode="auto">
            <a:xfrm>
              <a:off x="1920" y="1632"/>
              <a:ext cx="0" cy="720"/>
            </a:xfrm>
            <a:prstGeom prst="line">
              <a:avLst/>
            </a:prstGeom>
            <a:noFill/>
            <a:ln w="38100">
              <a:solidFill>
                <a:schemeClr val="accent1"/>
              </a:solidFill>
              <a:round/>
              <a:headEnd/>
              <a:tailEnd type="triangle" w="med" len="med"/>
            </a:ln>
            <a:effectLst/>
          </p:spPr>
          <p:txBody>
            <a:bodyPr wrap="none" anchor="ctr"/>
            <a:lstStyle/>
            <a:p>
              <a:endParaRPr lang="zh-CN" altLang="en-US" dirty="0">
                <a:latin typeface="Times New Roman" panose="02020603050405020304" pitchFamily="18" charset="0"/>
              </a:endParaRPr>
            </a:p>
          </p:txBody>
        </p:sp>
        <p:sp>
          <p:nvSpPr>
            <p:cNvPr id="102406" name="Line 6"/>
            <p:cNvSpPr>
              <a:spLocks noChangeShapeType="1"/>
            </p:cNvSpPr>
            <p:nvPr/>
          </p:nvSpPr>
          <p:spPr bwMode="auto">
            <a:xfrm>
              <a:off x="1920" y="2544"/>
              <a:ext cx="0" cy="720"/>
            </a:xfrm>
            <a:prstGeom prst="line">
              <a:avLst/>
            </a:prstGeom>
            <a:noFill/>
            <a:ln w="38100">
              <a:solidFill>
                <a:schemeClr val="accent1"/>
              </a:solidFill>
              <a:round/>
              <a:headEnd/>
              <a:tailEnd type="triangle" w="med" len="med"/>
            </a:ln>
            <a:effectLst/>
          </p:spPr>
          <p:txBody>
            <a:bodyPr wrap="none" anchor="ctr"/>
            <a:lstStyle/>
            <a:p>
              <a:endParaRPr lang="zh-CN" altLang="en-US" dirty="0">
                <a:latin typeface="Times New Roman" panose="02020603050405020304" pitchFamily="18" charset="0"/>
              </a:endParaRPr>
            </a:p>
          </p:txBody>
        </p:sp>
        <p:sp>
          <p:nvSpPr>
            <p:cNvPr id="102407" name="Line 7"/>
            <p:cNvSpPr>
              <a:spLocks noChangeShapeType="1"/>
            </p:cNvSpPr>
            <p:nvPr/>
          </p:nvSpPr>
          <p:spPr bwMode="auto">
            <a:xfrm>
              <a:off x="2160" y="1536"/>
              <a:ext cx="1488" cy="0"/>
            </a:xfrm>
            <a:prstGeom prst="line">
              <a:avLst/>
            </a:prstGeom>
            <a:noFill/>
            <a:ln w="38100">
              <a:solidFill>
                <a:schemeClr val="accent1"/>
              </a:solidFill>
              <a:round/>
              <a:headEnd/>
              <a:tailEnd type="triangle" w="med" len="med"/>
            </a:ln>
            <a:effectLst/>
          </p:spPr>
          <p:txBody>
            <a:bodyPr wrap="none" anchor="ctr"/>
            <a:lstStyle/>
            <a:p>
              <a:endParaRPr lang="zh-CN" altLang="en-US" dirty="0">
                <a:latin typeface="Times New Roman" panose="02020603050405020304" pitchFamily="18" charset="0"/>
              </a:endParaRPr>
            </a:p>
          </p:txBody>
        </p:sp>
        <p:sp>
          <p:nvSpPr>
            <p:cNvPr id="102408" name="Line 8"/>
            <p:cNvSpPr>
              <a:spLocks noChangeShapeType="1"/>
            </p:cNvSpPr>
            <p:nvPr/>
          </p:nvSpPr>
          <p:spPr bwMode="auto">
            <a:xfrm>
              <a:off x="3840" y="1632"/>
              <a:ext cx="0" cy="720"/>
            </a:xfrm>
            <a:prstGeom prst="line">
              <a:avLst/>
            </a:prstGeom>
            <a:noFill/>
            <a:ln w="38100">
              <a:solidFill>
                <a:schemeClr val="accent1"/>
              </a:solidFill>
              <a:round/>
              <a:headEnd/>
              <a:tailEnd type="triangle" w="med" len="med"/>
            </a:ln>
            <a:effectLst/>
          </p:spPr>
          <p:txBody>
            <a:bodyPr wrap="none" anchor="ctr"/>
            <a:lstStyle/>
            <a:p>
              <a:endParaRPr lang="zh-CN" altLang="en-US" dirty="0">
                <a:latin typeface="Times New Roman" panose="02020603050405020304" pitchFamily="18" charset="0"/>
              </a:endParaRPr>
            </a:p>
          </p:txBody>
        </p:sp>
        <p:sp>
          <p:nvSpPr>
            <p:cNvPr id="102409" name="Line 9"/>
            <p:cNvSpPr>
              <a:spLocks noChangeShapeType="1"/>
            </p:cNvSpPr>
            <p:nvPr/>
          </p:nvSpPr>
          <p:spPr bwMode="auto">
            <a:xfrm>
              <a:off x="3840" y="2544"/>
              <a:ext cx="0" cy="768"/>
            </a:xfrm>
            <a:prstGeom prst="line">
              <a:avLst/>
            </a:prstGeom>
            <a:noFill/>
            <a:ln w="38100">
              <a:solidFill>
                <a:schemeClr val="accent1"/>
              </a:solidFill>
              <a:round/>
              <a:headEnd/>
              <a:tailEnd type="triangle" w="med" len="med"/>
            </a:ln>
            <a:effectLst/>
          </p:spPr>
          <p:txBody>
            <a:bodyPr wrap="none" anchor="ctr"/>
            <a:lstStyle/>
            <a:p>
              <a:endParaRPr lang="zh-CN" altLang="en-US" dirty="0">
                <a:latin typeface="Times New Roman" panose="02020603050405020304" pitchFamily="18" charset="0"/>
              </a:endParaRPr>
            </a:p>
          </p:txBody>
        </p:sp>
        <p:sp>
          <p:nvSpPr>
            <p:cNvPr id="102410" name="Text Box 10"/>
            <p:cNvSpPr txBox="1">
              <a:spLocks noChangeArrowheads="1"/>
            </p:cNvSpPr>
            <p:nvPr/>
          </p:nvSpPr>
          <p:spPr bwMode="auto">
            <a:xfrm>
              <a:off x="2497" y="1200"/>
              <a:ext cx="695" cy="288"/>
            </a:xfrm>
            <a:prstGeom prst="rect">
              <a:avLst/>
            </a:prstGeom>
            <a:noFill/>
            <a:ln w="9525">
              <a:noFill/>
              <a:miter lim="800000"/>
              <a:headEnd/>
              <a:tailEnd/>
            </a:ln>
            <a:effectLst/>
          </p:spPr>
          <p:txBody>
            <a:bodyPr wrap="none" anchor="ctr">
              <a:spAutoFit/>
            </a:bodyPr>
            <a:lstStyle/>
            <a:p>
              <a:pPr algn="ctr" eaLnBrk="0" hangingPunct="0"/>
              <a:r>
                <a:rPr lang="zh-CN" altLang="en-US" sz="2400" b="1">
                  <a:solidFill>
                    <a:srgbClr val="FF3300"/>
                  </a:solidFill>
                  <a:latin typeface="Times New Roman" pitchFamily="18" charset="0"/>
                </a:rPr>
                <a:t>还原酶</a:t>
              </a:r>
            </a:p>
          </p:txBody>
        </p:sp>
        <p:sp>
          <p:nvSpPr>
            <p:cNvPr id="102411" name="Text Box 11"/>
            <p:cNvSpPr txBox="1">
              <a:spLocks noChangeArrowheads="1"/>
            </p:cNvSpPr>
            <p:nvPr/>
          </p:nvSpPr>
          <p:spPr bwMode="auto">
            <a:xfrm>
              <a:off x="3937" y="2736"/>
              <a:ext cx="1121" cy="288"/>
            </a:xfrm>
            <a:prstGeom prst="rect">
              <a:avLst/>
            </a:prstGeom>
            <a:noFill/>
            <a:ln w="9525">
              <a:noFill/>
              <a:miter lim="800000"/>
              <a:headEnd/>
              <a:tailEnd/>
            </a:ln>
            <a:effectLst/>
          </p:spPr>
          <p:txBody>
            <a:bodyPr wrap="none" anchor="ctr">
              <a:spAutoFit/>
            </a:bodyPr>
            <a:lstStyle/>
            <a:p>
              <a:pPr algn="ctr" eaLnBrk="0" hangingPunct="0"/>
              <a:r>
                <a:rPr lang="en-US" altLang="zh-CN" sz="2400" b="1">
                  <a:solidFill>
                    <a:srgbClr val="FF3300"/>
                  </a:solidFill>
                  <a:latin typeface="Times New Roman" pitchFamily="18" charset="0"/>
                </a:rPr>
                <a:t>TMP</a:t>
              </a:r>
              <a:r>
                <a:rPr lang="zh-CN" altLang="en-US" sz="2400" b="1">
                  <a:solidFill>
                    <a:srgbClr val="FF3300"/>
                  </a:solidFill>
                  <a:latin typeface="Times New Roman" pitchFamily="18" charset="0"/>
                </a:rPr>
                <a:t>合成酶</a:t>
              </a:r>
            </a:p>
          </p:txBody>
        </p:sp>
      </p:grpSp>
      <p:sp>
        <p:nvSpPr>
          <p:cNvPr id="102412" name="Text Box 12"/>
          <p:cNvSpPr txBox="1">
            <a:spLocks noChangeArrowheads="1"/>
          </p:cNvSpPr>
          <p:nvPr/>
        </p:nvSpPr>
        <p:spPr bwMode="auto">
          <a:xfrm>
            <a:off x="2268538" y="1828800"/>
            <a:ext cx="720725" cy="915988"/>
          </a:xfrm>
          <a:prstGeom prst="rect">
            <a:avLst/>
          </a:prstGeom>
          <a:noFill/>
          <a:ln w="9525">
            <a:noFill/>
            <a:miter lim="800000"/>
            <a:headEnd/>
            <a:tailEnd/>
          </a:ln>
          <a:effectLst/>
        </p:spPr>
        <p:txBody>
          <a:bodyPr>
            <a:spAutoFit/>
          </a:bodyPr>
          <a:lstStyle/>
          <a:p>
            <a:pPr>
              <a:spcBef>
                <a:spcPct val="50000"/>
              </a:spcBef>
            </a:pPr>
            <a:r>
              <a:rPr kumimoji="1" lang="zh-CN" altLang="en-US" b="1" dirty="0">
                <a:solidFill>
                  <a:srgbClr val="FF3300"/>
                </a:solidFill>
                <a:latin typeface="Times New Roman" panose="02020603050405020304" pitchFamily="18" charset="0"/>
              </a:rPr>
              <a:t>尿苷酸激酶</a:t>
            </a:r>
            <a:endParaRPr lang="zh-CN" altLang="en-US" dirty="0">
              <a:latin typeface="Times New Roman" panose="02020603050405020304" pitchFamily="18" charset="0"/>
            </a:endParaRPr>
          </a:p>
        </p:txBody>
      </p:sp>
      <p:sp>
        <p:nvSpPr>
          <p:cNvPr id="102413" name="Text Box 13"/>
          <p:cNvSpPr txBox="1">
            <a:spLocks noChangeArrowheads="1"/>
          </p:cNvSpPr>
          <p:nvPr/>
        </p:nvSpPr>
        <p:spPr bwMode="auto">
          <a:xfrm>
            <a:off x="2268538" y="3124200"/>
            <a:ext cx="720725" cy="1190625"/>
          </a:xfrm>
          <a:prstGeom prst="rect">
            <a:avLst/>
          </a:prstGeom>
          <a:noFill/>
          <a:ln w="9525">
            <a:noFill/>
            <a:miter lim="800000"/>
            <a:headEnd/>
            <a:tailEnd/>
          </a:ln>
          <a:effectLst/>
        </p:spPr>
        <p:txBody>
          <a:bodyPr>
            <a:spAutoFit/>
          </a:bodyPr>
          <a:lstStyle/>
          <a:p>
            <a:r>
              <a:rPr kumimoji="1" lang="zh-CN" altLang="en-US" b="1" dirty="0">
                <a:solidFill>
                  <a:srgbClr val="FF3300"/>
                </a:solidFill>
                <a:latin typeface="Times New Roman" panose="02020603050405020304" pitchFamily="18" charset="0"/>
              </a:rPr>
              <a:t>二磷酸核</a:t>
            </a:r>
          </a:p>
          <a:p>
            <a:r>
              <a:rPr kumimoji="1" lang="zh-CN" altLang="en-US" b="1" dirty="0">
                <a:solidFill>
                  <a:srgbClr val="FF3300"/>
                </a:solidFill>
                <a:latin typeface="Times New Roman" panose="02020603050405020304" pitchFamily="18" charset="0"/>
              </a:rPr>
              <a:t>苷激酶</a:t>
            </a:r>
          </a:p>
        </p:txBody>
      </p:sp>
      <p:sp>
        <p:nvSpPr>
          <p:cNvPr id="102414" name="Text Box 14"/>
          <p:cNvSpPr txBox="1">
            <a:spLocks noChangeArrowheads="1"/>
          </p:cNvSpPr>
          <p:nvPr/>
        </p:nvSpPr>
        <p:spPr bwMode="auto">
          <a:xfrm>
            <a:off x="1042988" y="4637088"/>
            <a:ext cx="1981200" cy="457200"/>
          </a:xfrm>
          <a:prstGeom prst="rect">
            <a:avLst/>
          </a:prstGeom>
          <a:noFill/>
          <a:ln w="9525">
            <a:noFill/>
            <a:miter lim="800000"/>
            <a:headEnd/>
            <a:tailEnd/>
          </a:ln>
        </p:spPr>
        <p:txBody>
          <a:bodyPr>
            <a:spAutoFit/>
          </a:bodyPr>
          <a:lstStyle/>
          <a:p>
            <a:pPr>
              <a:spcBef>
                <a:spcPct val="50000"/>
              </a:spcBef>
            </a:pPr>
            <a:r>
              <a:rPr kumimoji="1" lang="en-US" altLang="zh-CN" sz="2400" b="1">
                <a:solidFill>
                  <a:srgbClr val="000066"/>
                </a:solidFill>
                <a:latin typeface="Times New Roman" pitchFamily="18" charset="0"/>
                <a:ea typeface="隶书" pitchFamily="49" charset="-122"/>
              </a:rPr>
              <a:t>CTP</a:t>
            </a:r>
            <a:r>
              <a:rPr kumimoji="1" lang="zh-CN" altLang="en-US" sz="2400" b="1">
                <a:solidFill>
                  <a:srgbClr val="000066"/>
                </a:solidFill>
                <a:latin typeface="Times New Roman" pitchFamily="18" charset="0"/>
                <a:ea typeface="隶书" pitchFamily="49" charset="-122"/>
              </a:rPr>
              <a:t>合成酶</a:t>
            </a:r>
          </a:p>
        </p:txBody>
      </p:sp>
      <p:sp>
        <p:nvSpPr>
          <p:cNvPr id="102415" name="Text Box 15"/>
          <p:cNvSpPr txBox="1">
            <a:spLocks noChangeArrowheads="1"/>
          </p:cNvSpPr>
          <p:nvPr/>
        </p:nvSpPr>
        <p:spPr bwMode="auto">
          <a:xfrm>
            <a:off x="250825" y="260350"/>
            <a:ext cx="4826000" cy="519113"/>
          </a:xfrm>
          <a:prstGeom prst="rect">
            <a:avLst/>
          </a:prstGeom>
          <a:solidFill>
            <a:srgbClr val="FFFFCC"/>
          </a:solidFill>
          <a:ln w="9525">
            <a:noFill/>
            <a:miter lim="800000"/>
            <a:headEnd/>
            <a:tailEnd/>
          </a:ln>
        </p:spPr>
        <p:txBody>
          <a:bodyPr>
            <a:spAutoFit/>
          </a:bodyPr>
          <a:lstStyle/>
          <a:p>
            <a:pPr>
              <a:spcBef>
                <a:spcPct val="50000"/>
              </a:spcBef>
            </a:pPr>
            <a:r>
              <a:rPr kumimoji="1" lang="en-US" altLang="zh-CN" sz="2800" b="1">
                <a:solidFill>
                  <a:srgbClr val="990000"/>
                </a:solidFill>
                <a:effectLst>
                  <a:outerShdw blurRad="38100" dist="38100" dir="2700000" algn="tl">
                    <a:srgbClr val="000000"/>
                  </a:outerShdw>
                </a:effectLst>
                <a:latin typeface="Times New Roman" pitchFamily="18" charset="0"/>
                <a:ea typeface="隶书" pitchFamily="49" charset="-122"/>
              </a:rPr>
              <a:t>UMP</a:t>
            </a:r>
            <a:r>
              <a:rPr kumimoji="1" lang="zh-CN" altLang="en-US" sz="2800" b="1">
                <a:solidFill>
                  <a:srgbClr val="990000"/>
                </a:solidFill>
                <a:effectLst>
                  <a:outerShdw blurRad="38100" dist="38100" dir="2700000" algn="tl">
                    <a:srgbClr val="000000"/>
                  </a:outerShdw>
                </a:effectLst>
                <a:latin typeface="Times New Roman" pitchFamily="18" charset="0"/>
                <a:ea typeface="隶书" pitchFamily="49" charset="-122"/>
              </a:rPr>
              <a:t>转变为</a:t>
            </a:r>
            <a:r>
              <a:rPr kumimoji="1" lang="en-US" altLang="zh-CN" sz="2800" b="1">
                <a:solidFill>
                  <a:srgbClr val="990000"/>
                </a:solidFill>
                <a:effectLst>
                  <a:outerShdw blurRad="38100" dist="38100" dir="2700000" algn="tl">
                    <a:srgbClr val="000000"/>
                  </a:outerShdw>
                </a:effectLst>
                <a:latin typeface="Times New Roman" pitchFamily="18" charset="0"/>
                <a:ea typeface="隶书" pitchFamily="49" charset="-122"/>
              </a:rPr>
              <a:t>CTP</a:t>
            </a:r>
            <a:r>
              <a:rPr kumimoji="1" lang="zh-CN" altLang="en-US" sz="2800" b="1">
                <a:solidFill>
                  <a:srgbClr val="990000"/>
                </a:solidFill>
                <a:effectLst>
                  <a:outerShdw blurRad="38100" dist="38100" dir="2700000" algn="tl">
                    <a:srgbClr val="000000"/>
                  </a:outerShdw>
                </a:effectLst>
                <a:latin typeface="Times New Roman" pitchFamily="18" charset="0"/>
                <a:ea typeface="隶书" pitchFamily="49" charset="-122"/>
              </a:rPr>
              <a:t>和</a:t>
            </a:r>
            <a:r>
              <a:rPr kumimoji="1" lang="en-US" altLang="zh-CN" sz="2800" b="1">
                <a:solidFill>
                  <a:srgbClr val="990000"/>
                </a:solidFill>
                <a:effectLst>
                  <a:outerShdw blurRad="38100" dist="38100" dir="2700000" algn="tl">
                    <a:srgbClr val="000000"/>
                  </a:outerShdw>
                </a:effectLst>
                <a:latin typeface="Times New Roman" pitchFamily="18" charset="0"/>
                <a:ea typeface="隶书" pitchFamily="49" charset="-122"/>
              </a:rPr>
              <a:t>dTMP</a:t>
            </a:r>
          </a:p>
        </p:txBody>
      </p:sp>
      <p:sp>
        <p:nvSpPr>
          <p:cNvPr id="102416" name="Text Box 16"/>
          <p:cNvSpPr txBox="1">
            <a:spLocks noChangeArrowheads="1"/>
          </p:cNvSpPr>
          <p:nvPr/>
        </p:nvSpPr>
        <p:spPr bwMode="auto">
          <a:xfrm>
            <a:off x="3059113" y="4508500"/>
            <a:ext cx="1225550" cy="779463"/>
          </a:xfrm>
          <a:prstGeom prst="rect">
            <a:avLst/>
          </a:prstGeom>
          <a:noFill/>
          <a:ln w="9525">
            <a:noFill/>
            <a:miter lim="800000"/>
            <a:headEnd/>
            <a:tailEnd/>
          </a:ln>
          <a:effectLst/>
        </p:spPr>
        <p:txBody>
          <a:bodyPr>
            <a:spAutoFit/>
          </a:bodyPr>
          <a:lstStyle/>
          <a:p>
            <a:pPr>
              <a:spcBef>
                <a:spcPct val="50000"/>
              </a:spcBef>
            </a:pPr>
            <a:r>
              <a:rPr lang="en-US" altLang="zh-CN" dirty="0">
                <a:latin typeface="Times New Roman" panose="02020603050405020304" pitchFamily="18" charset="0"/>
              </a:rPr>
              <a:t>NH3(</a:t>
            </a:r>
            <a:r>
              <a:rPr lang="en-US" altLang="zh-CN" dirty="0" err="1">
                <a:latin typeface="Times New Roman" panose="02020603050405020304" pitchFamily="18" charset="0"/>
              </a:rPr>
              <a:t>Gln</a:t>
            </a:r>
            <a:r>
              <a:rPr lang="en-US" altLang="zh-CN" dirty="0">
                <a:latin typeface="Times New Roman" panose="02020603050405020304" pitchFamily="18" charset="0"/>
              </a:rPr>
              <a:t>)</a:t>
            </a:r>
          </a:p>
          <a:p>
            <a:pPr>
              <a:spcBef>
                <a:spcPct val="50000"/>
              </a:spcBef>
            </a:pPr>
            <a:r>
              <a:rPr lang="en-US" altLang="zh-CN" dirty="0">
                <a:latin typeface="Times New Roman" panose="02020603050405020304" pitchFamily="18" charset="0"/>
              </a:rPr>
              <a:t>ATP</a:t>
            </a: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46AD2BF-B8E3-4A53-8531-9A33AB0581B3}"/>
              </a:ext>
            </a:extLst>
          </p:cNvPr>
          <p:cNvSpPr txBox="1"/>
          <p:nvPr/>
        </p:nvSpPr>
        <p:spPr>
          <a:xfrm>
            <a:off x="617231" y="620688"/>
            <a:ext cx="7909538" cy="4678204"/>
          </a:xfrm>
          <a:prstGeom prst="rect">
            <a:avLst/>
          </a:prstGeom>
          <a:noFill/>
        </p:spPr>
        <p:txBody>
          <a:bodyPr wrap="none" rtlCol="0">
            <a:spAutoFit/>
          </a:bodyPr>
          <a:lstStyle/>
          <a:p>
            <a:r>
              <a:rPr lang="en-US" altLang="zh-CN" sz="2800" b="1" dirty="0">
                <a:solidFill>
                  <a:srgbClr val="FF0000"/>
                </a:solidFill>
              </a:rPr>
              <a:t>Biosynthesis Nucleotide</a:t>
            </a:r>
          </a:p>
          <a:p>
            <a:endParaRPr lang="en-US" altLang="zh-CN" sz="2400" dirty="0"/>
          </a:p>
          <a:p>
            <a:r>
              <a:rPr lang="en-US" altLang="zh-CN" sz="2400" dirty="0"/>
              <a:t>IMP (Inosinate</a:t>
            </a:r>
            <a:r>
              <a:rPr lang="zh-CN" altLang="en-US" sz="2400" dirty="0"/>
              <a:t>肌苷酸、次黄嘌呤核苷酸</a:t>
            </a:r>
            <a:r>
              <a:rPr lang="en-US" altLang="zh-CN" sz="2400" dirty="0"/>
              <a:t>) ------</a:t>
            </a:r>
            <a:r>
              <a:rPr lang="en-US" altLang="zh-CN" sz="2400" b="1" dirty="0">
                <a:solidFill>
                  <a:schemeClr val="tx2"/>
                </a:solidFill>
              </a:rPr>
              <a:t>AMP</a:t>
            </a:r>
            <a:r>
              <a:rPr lang="en-US" altLang="zh-CN" sz="2400" dirty="0"/>
              <a:t>, </a:t>
            </a:r>
            <a:r>
              <a:rPr lang="en-US" altLang="zh-CN" sz="2400" b="1" dirty="0">
                <a:solidFill>
                  <a:schemeClr val="tx2"/>
                </a:solidFill>
              </a:rPr>
              <a:t>GMP</a:t>
            </a:r>
          </a:p>
          <a:p>
            <a:endParaRPr lang="en-US" altLang="zh-CN" sz="2000" dirty="0"/>
          </a:p>
          <a:p>
            <a:r>
              <a:rPr lang="en-US" altLang="zh-CN" sz="2000" dirty="0"/>
              <a:t>O (orotate</a:t>
            </a:r>
            <a:r>
              <a:rPr lang="zh-CN" altLang="en-US" sz="2000" dirty="0"/>
              <a:t>乳清酸）</a:t>
            </a:r>
            <a:r>
              <a:rPr lang="en-US" altLang="zh-CN" sz="2000" dirty="0"/>
              <a:t>------OMP(</a:t>
            </a:r>
            <a:r>
              <a:rPr lang="zh-CN" altLang="en-US" sz="2000" dirty="0"/>
              <a:t>乳清苷酸</a:t>
            </a:r>
            <a:r>
              <a:rPr lang="en-US" altLang="zh-CN" sz="2000" dirty="0"/>
              <a:t>)-------</a:t>
            </a:r>
            <a:r>
              <a:rPr lang="en-US" altLang="zh-CN" sz="2400" b="1" dirty="0">
                <a:solidFill>
                  <a:schemeClr val="tx2"/>
                </a:solidFill>
              </a:rPr>
              <a:t>UMP</a:t>
            </a:r>
            <a:r>
              <a:rPr lang="en-US" altLang="zh-CN" sz="2000" dirty="0"/>
              <a:t>----UTP------</a:t>
            </a:r>
            <a:r>
              <a:rPr lang="en-US" altLang="zh-CN" sz="2400" b="1" dirty="0">
                <a:solidFill>
                  <a:schemeClr val="tx2"/>
                </a:solidFill>
              </a:rPr>
              <a:t>CTP</a:t>
            </a:r>
          </a:p>
          <a:p>
            <a:endParaRPr lang="en-US" altLang="zh-CN" dirty="0"/>
          </a:p>
          <a:p>
            <a:r>
              <a:rPr lang="en-US" altLang="zh-CN" sz="2800" b="1" dirty="0">
                <a:solidFill>
                  <a:srgbClr val="FF0000"/>
                </a:solidFill>
              </a:rPr>
              <a:t>Biosynthesis Deoxynucleotide</a:t>
            </a:r>
          </a:p>
          <a:p>
            <a:endParaRPr lang="en-US" altLang="zh-CN" dirty="0"/>
          </a:p>
          <a:p>
            <a:r>
              <a:rPr lang="en-US" altLang="zh-CN" sz="2400" dirty="0"/>
              <a:t>ADP-----</a:t>
            </a:r>
            <a:r>
              <a:rPr lang="en-US" altLang="zh-CN" sz="2400" b="1" dirty="0" err="1">
                <a:solidFill>
                  <a:schemeClr val="tx2"/>
                </a:solidFill>
              </a:rPr>
              <a:t>dADP</a:t>
            </a:r>
            <a:endParaRPr lang="en-US" altLang="zh-CN" sz="2400" b="1" dirty="0">
              <a:solidFill>
                <a:schemeClr val="tx2"/>
              </a:solidFill>
            </a:endParaRPr>
          </a:p>
          <a:p>
            <a:r>
              <a:rPr lang="en-US" altLang="zh-CN" sz="2400" dirty="0"/>
              <a:t>GDP----</a:t>
            </a:r>
            <a:r>
              <a:rPr lang="en-US" altLang="zh-CN" sz="2400" b="1" dirty="0" err="1">
                <a:solidFill>
                  <a:schemeClr val="tx2"/>
                </a:solidFill>
              </a:rPr>
              <a:t>dGDP</a:t>
            </a:r>
            <a:endParaRPr lang="en-US" altLang="zh-CN" sz="2400" b="1" dirty="0">
              <a:solidFill>
                <a:schemeClr val="tx2"/>
              </a:solidFill>
            </a:endParaRPr>
          </a:p>
          <a:p>
            <a:r>
              <a:rPr lang="en-US" altLang="zh-CN" sz="2400" dirty="0"/>
              <a:t>CDP-----</a:t>
            </a:r>
            <a:r>
              <a:rPr lang="en-US" altLang="zh-CN" sz="2400" b="1" dirty="0" err="1">
                <a:solidFill>
                  <a:schemeClr val="tx2"/>
                </a:solidFill>
              </a:rPr>
              <a:t>dCDP</a:t>
            </a:r>
            <a:endParaRPr lang="zh-CN" altLang="en-US" sz="2400" b="1" dirty="0">
              <a:solidFill>
                <a:schemeClr val="tx2"/>
              </a:solidFill>
            </a:endParaRPr>
          </a:p>
          <a:p>
            <a:endParaRPr lang="en-US" altLang="zh-CN" dirty="0"/>
          </a:p>
          <a:p>
            <a:r>
              <a:rPr lang="en-US" altLang="zh-CN" sz="2400" dirty="0"/>
              <a:t>UDP----</a:t>
            </a:r>
            <a:r>
              <a:rPr lang="en-US" altLang="zh-CN" sz="2400" dirty="0" err="1"/>
              <a:t>dUDP</a:t>
            </a:r>
            <a:r>
              <a:rPr lang="en-US" altLang="zh-CN" sz="2400" dirty="0"/>
              <a:t>----</a:t>
            </a:r>
            <a:r>
              <a:rPr lang="en-US" altLang="zh-CN" sz="2400" dirty="0" err="1"/>
              <a:t>dUMP</a:t>
            </a:r>
            <a:r>
              <a:rPr lang="en-US" altLang="zh-CN" sz="2400" dirty="0"/>
              <a:t>----</a:t>
            </a:r>
            <a:r>
              <a:rPr lang="en-US" altLang="zh-CN" sz="2400" b="1" dirty="0">
                <a:solidFill>
                  <a:schemeClr val="tx2"/>
                </a:solidFill>
              </a:rPr>
              <a:t>dTMP</a:t>
            </a:r>
          </a:p>
        </p:txBody>
      </p:sp>
    </p:spTree>
    <p:extLst>
      <p:ext uri="{BB962C8B-B14F-4D97-AF65-F5344CB8AC3E}">
        <p14:creationId xmlns:p14="http://schemas.microsoft.com/office/powerpoint/2010/main" val="203111212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a:xfrm>
            <a:off x="0" y="2132856"/>
            <a:ext cx="9144000" cy="1524744"/>
          </a:xfrm>
        </p:spPr>
        <p:txBody>
          <a:bodyPr/>
          <a:lstStyle/>
          <a:p>
            <a:r>
              <a:rPr lang="en-US" altLang="zh-CN" b="1" dirty="0">
                <a:solidFill>
                  <a:srgbClr val="0000FF"/>
                </a:solidFill>
              </a:rPr>
              <a:t>Purine and pyrimidine bases can be reconverted to nucleotides via the </a:t>
            </a:r>
            <a:r>
              <a:rPr lang="en-US" altLang="zh-CN" b="1" dirty="0">
                <a:solidFill>
                  <a:srgbClr val="FF0000"/>
                </a:solidFill>
              </a:rPr>
              <a:t>salvage pathway</a:t>
            </a:r>
          </a:p>
        </p:txBody>
      </p:sp>
    </p:spTree>
  </p:cSld>
  <p:clrMapOvr>
    <a:masterClrMapping/>
  </p:clrMapOvr>
  <p:transition spd="slow" advClick="0">
    <p:blinds dir="vert"/>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9330" name="Picture 2" descr="salvage pathway to reutilize purine and pyrimidines"/>
          <p:cNvPicPr>
            <a:picLocks noChangeAspect="1" noChangeArrowheads="1"/>
          </p:cNvPicPr>
          <p:nvPr/>
        </p:nvPicPr>
        <p:blipFill>
          <a:blip r:embed="rId2" cstate="print"/>
          <a:srcRect/>
          <a:stretch>
            <a:fillRect/>
          </a:stretch>
        </p:blipFill>
        <p:spPr bwMode="auto">
          <a:xfrm>
            <a:off x="0" y="0"/>
            <a:ext cx="9144000" cy="6819900"/>
          </a:xfrm>
          <a:prstGeom prst="rect">
            <a:avLst/>
          </a:prstGeom>
          <a:noFill/>
        </p:spPr>
      </p:pic>
      <p:sp>
        <p:nvSpPr>
          <p:cNvPr id="99331" name="Oval 3"/>
          <p:cNvSpPr>
            <a:spLocks noChangeArrowheads="1"/>
          </p:cNvSpPr>
          <p:nvPr/>
        </p:nvSpPr>
        <p:spPr bwMode="auto">
          <a:xfrm>
            <a:off x="4716463" y="3644900"/>
            <a:ext cx="3240087" cy="1152525"/>
          </a:xfrm>
          <a:prstGeom prst="ellipse">
            <a:avLst/>
          </a:prstGeom>
          <a:solidFill>
            <a:schemeClr val="accent1"/>
          </a:solidFill>
          <a:ln w="9525">
            <a:solidFill>
              <a:schemeClr val="tx1"/>
            </a:solidFill>
            <a:miter lim="800000"/>
            <a:headEnd/>
            <a:tailEnd/>
          </a:ln>
          <a:effectLst/>
        </p:spPr>
        <p:txBody>
          <a:bodyPr wrap="none" anchor="ctr"/>
          <a:lstStyle/>
          <a:p>
            <a:endParaRPr lang="zh-CN" altLang="en-US" dirty="0">
              <a:latin typeface="Times New Roman" panose="02020603050405020304" pitchFamily="18" charset="0"/>
            </a:endParaRPr>
          </a:p>
        </p:txBody>
      </p:sp>
      <p:sp>
        <p:nvSpPr>
          <p:cNvPr id="99332" name="Rectangle 4"/>
          <p:cNvSpPr>
            <a:spLocks noChangeArrowheads="1"/>
          </p:cNvSpPr>
          <p:nvPr/>
        </p:nvSpPr>
        <p:spPr bwMode="auto">
          <a:xfrm>
            <a:off x="4716463" y="3887788"/>
            <a:ext cx="3230562" cy="517525"/>
          </a:xfrm>
          <a:prstGeom prst="rect">
            <a:avLst/>
          </a:prstGeom>
          <a:noFill/>
          <a:ln w="9525">
            <a:noFill/>
            <a:miter lim="800000"/>
            <a:headEnd/>
            <a:tailEnd/>
          </a:ln>
          <a:effectLst/>
        </p:spPr>
        <p:txBody>
          <a:bodyPr wrap="none">
            <a:spAutoFit/>
          </a:bodyPr>
          <a:lstStyle/>
          <a:p>
            <a:r>
              <a:rPr kumimoji="1" lang="en-US" altLang="zh-CN" sz="1400" b="1">
                <a:solidFill>
                  <a:srgbClr val="0000FF"/>
                </a:solidFill>
                <a:latin typeface="Tahoma" pitchFamily="34" charset="0"/>
              </a:rPr>
              <a:t>Adenine or hypoxanthine-guanine</a:t>
            </a:r>
          </a:p>
          <a:p>
            <a:r>
              <a:rPr kumimoji="1" lang="en-US" altLang="zh-CN" sz="1400" b="1">
                <a:solidFill>
                  <a:srgbClr val="0000FF"/>
                </a:solidFill>
                <a:latin typeface="Tahoma" pitchFamily="34" charset="0"/>
              </a:rPr>
              <a:t>phosphoribosyltransferases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a:xfrm>
            <a:off x="684213" y="260350"/>
            <a:ext cx="7772400" cy="1143000"/>
          </a:xfrm>
          <a:noFill/>
          <a:ln/>
        </p:spPr>
        <p:txBody>
          <a:bodyPr/>
          <a:lstStyle/>
          <a:p>
            <a:r>
              <a:rPr kumimoji="1" lang="zh-CN" altLang="en-US" sz="4000" b="1">
                <a:solidFill>
                  <a:srgbClr val="000066"/>
                </a:solidFill>
                <a:effectLst>
                  <a:outerShdw blurRad="38100" dist="38100" dir="2700000" algn="tl">
                    <a:srgbClr val="C0C0C0"/>
                  </a:outerShdw>
                </a:effectLst>
              </a:rPr>
              <a:t>核酸的酶促降解</a:t>
            </a:r>
          </a:p>
        </p:txBody>
      </p:sp>
      <p:sp>
        <p:nvSpPr>
          <p:cNvPr id="84995" name="Line 3"/>
          <p:cNvSpPr>
            <a:spLocks noChangeShapeType="1"/>
          </p:cNvSpPr>
          <p:nvPr/>
        </p:nvSpPr>
        <p:spPr bwMode="auto">
          <a:xfrm>
            <a:off x="900113" y="1268413"/>
            <a:ext cx="7239000" cy="0"/>
          </a:xfrm>
          <a:prstGeom prst="line">
            <a:avLst/>
          </a:prstGeom>
          <a:noFill/>
          <a:ln w="9525">
            <a:solidFill>
              <a:srgbClr val="00FF00"/>
            </a:solidFill>
            <a:round/>
            <a:headEnd/>
            <a:tailEnd/>
          </a:ln>
          <a:effectLst/>
          <a:scene3d>
            <a:camera prst="legacyObliqueTopRight"/>
            <a:lightRig rig="legacyFlat3" dir="b"/>
          </a:scene3d>
          <a:sp3d extrusionH="163500" prstMaterial="legacyMatte">
            <a:bevelT w="13500" h="13500" prst="angle"/>
            <a:bevelB w="13500" h="13500" prst="angle"/>
            <a:extrusionClr>
              <a:srgbClr val="00FF00"/>
            </a:extrusionClr>
          </a:sp3d>
        </p:spPr>
        <p:txBody>
          <a:bodyPr wrap="none" anchor="ctr">
            <a:flatTx/>
          </a:bodyPr>
          <a:lstStyle/>
          <a:p>
            <a:endParaRPr lang="zh-CN" altLang="en-US" dirty="0">
              <a:latin typeface="Times New Roman" panose="02020603050405020304" pitchFamily="18" charset="0"/>
            </a:endParaRPr>
          </a:p>
        </p:txBody>
      </p:sp>
      <p:grpSp>
        <p:nvGrpSpPr>
          <p:cNvPr id="2" name="Group 4"/>
          <p:cNvGrpSpPr>
            <a:grpSpLocks/>
          </p:cNvGrpSpPr>
          <p:nvPr/>
        </p:nvGrpSpPr>
        <p:grpSpPr bwMode="auto">
          <a:xfrm>
            <a:off x="395288" y="2767013"/>
            <a:ext cx="8451850" cy="1814512"/>
            <a:chOff x="288" y="1008"/>
            <a:chExt cx="5324" cy="1143"/>
          </a:xfrm>
        </p:grpSpPr>
        <p:sp>
          <p:nvSpPr>
            <p:cNvPr id="84997" name="Text Box 5"/>
            <p:cNvSpPr txBox="1">
              <a:spLocks noChangeArrowheads="1"/>
            </p:cNvSpPr>
            <p:nvPr/>
          </p:nvSpPr>
          <p:spPr bwMode="auto">
            <a:xfrm>
              <a:off x="288" y="1008"/>
              <a:ext cx="5324" cy="640"/>
            </a:xfrm>
            <a:prstGeom prst="rect">
              <a:avLst/>
            </a:prstGeom>
            <a:noFill/>
            <a:ln w="9525">
              <a:noFill/>
              <a:miter lim="800000"/>
              <a:headEnd/>
              <a:tailEnd/>
            </a:ln>
          </p:spPr>
          <p:txBody>
            <a:bodyPr>
              <a:spAutoFit/>
            </a:bodyPr>
            <a:lstStyle/>
            <a:p>
              <a:pPr algn="just" eaLnBrk="0" hangingPunct="0">
                <a:lnSpc>
                  <a:spcPct val="136000"/>
                </a:lnSpc>
              </a:pPr>
              <a:r>
                <a:rPr kumimoji="1" lang="en-US" altLang="zh-CN" sz="2400" dirty="0">
                  <a:solidFill>
                    <a:srgbClr val="000066"/>
                  </a:solidFill>
                  <a:latin typeface="Times New Roman" pitchFamily="18" charset="0"/>
                </a:rPr>
                <a:t>             </a:t>
              </a:r>
              <a:r>
                <a:rPr kumimoji="1" lang="zh-CN" altLang="en-US" sz="2400" b="1" dirty="0">
                  <a:solidFill>
                    <a:srgbClr val="000066"/>
                  </a:solidFill>
                  <a:latin typeface="Times New Roman" pitchFamily="18" charset="0"/>
                  <a:ea typeface="隶书" pitchFamily="49" charset="-122"/>
                </a:rPr>
                <a:t>核酸酶             核苷酸酶          核苷酸磷酸化酶</a:t>
              </a:r>
            </a:p>
            <a:p>
              <a:pPr algn="just" eaLnBrk="0" hangingPunct="0"/>
              <a:r>
                <a:rPr kumimoji="1" lang="zh-CN" altLang="en-US" sz="2400" b="1" dirty="0">
                  <a:solidFill>
                    <a:srgbClr val="000066"/>
                  </a:solidFill>
                  <a:latin typeface="Times New Roman" pitchFamily="18" charset="0"/>
                  <a:ea typeface="隶书" pitchFamily="49" charset="-122"/>
                </a:rPr>
                <a:t>    </a:t>
              </a:r>
              <a:r>
                <a:rPr kumimoji="1" lang="zh-CN" altLang="en-US" sz="2800" b="1" dirty="0">
                  <a:solidFill>
                    <a:srgbClr val="000066"/>
                  </a:solidFill>
                  <a:latin typeface="Times New Roman" pitchFamily="18" charset="0"/>
                  <a:ea typeface="隶书" pitchFamily="49" charset="-122"/>
                </a:rPr>
                <a:t>核酸         核苷酸              核苷                   碱基</a:t>
              </a:r>
              <a:r>
                <a:rPr kumimoji="1" lang="en-US" altLang="zh-CN" sz="2800" b="1" dirty="0">
                  <a:solidFill>
                    <a:srgbClr val="000066"/>
                  </a:solidFill>
                  <a:latin typeface="Times New Roman" pitchFamily="18" charset="0"/>
                  <a:ea typeface="隶书" pitchFamily="49" charset="-122"/>
                </a:rPr>
                <a:t>+</a:t>
              </a:r>
              <a:r>
                <a:rPr kumimoji="1" lang="zh-CN" altLang="en-US" sz="2800" b="1" dirty="0">
                  <a:solidFill>
                    <a:srgbClr val="000066"/>
                  </a:solidFill>
                  <a:latin typeface="Times New Roman" pitchFamily="18" charset="0"/>
                  <a:ea typeface="隶书" pitchFamily="49" charset="-122"/>
                </a:rPr>
                <a:t>戊糖</a:t>
              </a:r>
              <a:endParaRPr kumimoji="1" lang="zh-CN" altLang="en-US" sz="2800" dirty="0">
                <a:solidFill>
                  <a:srgbClr val="000066"/>
                </a:solidFill>
                <a:latin typeface="Times New Roman" pitchFamily="18" charset="0"/>
              </a:endParaRPr>
            </a:p>
          </p:txBody>
        </p:sp>
        <p:sp>
          <p:nvSpPr>
            <p:cNvPr id="84998" name="Line 6"/>
            <p:cNvSpPr>
              <a:spLocks noChangeShapeType="1"/>
            </p:cNvSpPr>
            <p:nvPr/>
          </p:nvSpPr>
          <p:spPr bwMode="auto">
            <a:xfrm>
              <a:off x="1008" y="1488"/>
              <a:ext cx="432" cy="0"/>
            </a:xfrm>
            <a:prstGeom prst="line">
              <a:avLst/>
            </a:prstGeom>
            <a:noFill/>
            <a:ln w="38100">
              <a:solidFill>
                <a:srgbClr val="990000"/>
              </a:solidFill>
              <a:round/>
              <a:headEnd/>
              <a:tailEnd type="triangle" w="med" len="med"/>
            </a:ln>
          </p:spPr>
          <p:txBody>
            <a:bodyPr wrap="none" anchor="ctr"/>
            <a:lstStyle/>
            <a:p>
              <a:endParaRPr lang="zh-CN" altLang="en-US" dirty="0">
                <a:latin typeface="Times New Roman" panose="02020603050405020304" pitchFamily="18" charset="0"/>
              </a:endParaRPr>
            </a:p>
          </p:txBody>
        </p:sp>
        <p:sp>
          <p:nvSpPr>
            <p:cNvPr id="84999" name="Line 7"/>
            <p:cNvSpPr>
              <a:spLocks noChangeShapeType="1"/>
            </p:cNvSpPr>
            <p:nvPr/>
          </p:nvSpPr>
          <p:spPr bwMode="auto">
            <a:xfrm>
              <a:off x="2256" y="1488"/>
              <a:ext cx="624" cy="0"/>
            </a:xfrm>
            <a:prstGeom prst="line">
              <a:avLst/>
            </a:prstGeom>
            <a:noFill/>
            <a:ln w="38100">
              <a:solidFill>
                <a:srgbClr val="990000"/>
              </a:solidFill>
              <a:round/>
              <a:headEnd/>
              <a:tailEnd type="triangle" w="med" len="med"/>
            </a:ln>
          </p:spPr>
          <p:txBody>
            <a:bodyPr wrap="none" anchor="ctr"/>
            <a:lstStyle/>
            <a:p>
              <a:endParaRPr lang="zh-CN" altLang="en-US" dirty="0">
                <a:latin typeface="Times New Roman" panose="02020603050405020304" pitchFamily="18" charset="0"/>
              </a:endParaRPr>
            </a:p>
          </p:txBody>
        </p:sp>
        <p:sp>
          <p:nvSpPr>
            <p:cNvPr id="85000" name="Line 8"/>
            <p:cNvSpPr>
              <a:spLocks noChangeShapeType="1"/>
            </p:cNvSpPr>
            <p:nvPr/>
          </p:nvSpPr>
          <p:spPr bwMode="auto">
            <a:xfrm>
              <a:off x="3504" y="1488"/>
              <a:ext cx="912" cy="0"/>
            </a:xfrm>
            <a:prstGeom prst="line">
              <a:avLst/>
            </a:prstGeom>
            <a:noFill/>
            <a:ln w="38100">
              <a:solidFill>
                <a:srgbClr val="990000"/>
              </a:solidFill>
              <a:round/>
              <a:headEnd/>
              <a:tailEnd type="triangle" w="med" len="med"/>
            </a:ln>
          </p:spPr>
          <p:txBody>
            <a:bodyPr wrap="none" anchor="ctr"/>
            <a:lstStyle/>
            <a:p>
              <a:endParaRPr lang="zh-CN" altLang="en-US" dirty="0">
                <a:latin typeface="Times New Roman" panose="02020603050405020304" pitchFamily="18" charset="0"/>
              </a:endParaRPr>
            </a:p>
          </p:txBody>
        </p:sp>
        <p:sp>
          <p:nvSpPr>
            <p:cNvPr id="85001" name="Text Box 9"/>
            <p:cNvSpPr txBox="1">
              <a:spLocks noChangeArrowheads="1"/>
            </p:cNvSpPr>
            <p:nvPr/>
          </p:nvSpPr>
          <p:spPr bwMode="auto">
            <a:xfrm>
              <a:off x="2544" y="1824"/>
              <a:ext cx="768" cy="327"/>
            </a:xfrm>
            <a:prstGeom prst="rect">
              <a:avLst/>
            </a:prstGeom>
            <a:noFill/>
            <a:ln w="9525">
              <a:noFill/>
              <a:miter lim="800000"/>
              <a:headEnd/>
              <a:tailEnd/>
            </a:ln>
            <a:effectLst/>
          </p:spPr>
          <p:txBody>
            <a:bodyPr>
              <a:spAutoFit/>
            </a:bodyPr>
            <a:lstStyle/>
            <a:p>
              <a:pPr eaLnBrk="0" hangingPunct="0">
                <a:spcBef>
                  <a:spcPct val="50000"/>
                </a:spcBef>
              </a:pPr>
              <a:r>
                <a:rPr kumimoji="1" lang="zh-CN" altLang="en-US" sz="2800" b="1">
                  <a:latin typeface="Times New Roman" pitchFamily="18" charset="0"/>
                  <a:ea typeface="隶书" pitchFamily="49" charset="-122"/>
                </a:rPr>
                <a:t>磷酸</a:t>
              </a:r>
            </a:p>
          </p:txBody>
        </p:sp>
        <p:sp>
          <p:nvSpPr>
            <p:cNvPr id="85002" name="Line 10"/>
            <p:cNvSpPr>
              <a:spLocks noChangeShapeType="1"/>
            </p:cNvSpPr>
            <p:nvPr/>
          </p:nvSpPr>
          <p:spPr bwMode="auto">
            <a:xfrm>
              <a:off x="2544" y="1536"/>
              <a:ext cx="288" cy="384"/>
            </a:xfrm>
            <a:prstGeom prst="line">
              <a:avLst/>
            </a:prstGeom>
            <a:noFill/>
            <a:ln w="19050">
              <a:solidFill>
                <a:srgbClr val="990000"/>
              </a:solidFill>
              <a:round/>
              <a:headEnd/>
              <a:tailEnd type="triangle" w="med" len="med"/>
            </a:ln>
            <a:effectLst/>
          </p:spPr>
          <p:txBody>
            <a:bodyPr/>
            <a:lstStyle/>
            <a:p>
              <a:endParaRPr lang="zh-CN" altLang="en-US" dirty="0">
                <a:latin typeface="Times New Roman" panose="02020603050405020304" pitchFamily="18" charset="0"/>
              </a:endParaRPr>
            </a:p>
          </p:txBody>
        </p:sp>
      </p:grpSp>
      <p:sp>
        <p:nvSpPr>
          <p:cNvPr id="11" name="文本框 10">
            <a:hlinkClick r:id="rId3" action="ppaction://hlinksldjump"/>
            <a:extLst>
              <a:ext uri="{FF2B5EF4-FFF2-40B4-BE49-F238E27FC236}">
                <a16:creationId xmlns:a16="http://schemas.microsoft.com/office/drawing/2014/main" id="{5CD35046-2875-4AA0-826B-37FA0C57B920}"/>
              </a:ext>
            </a:extLst>
          </p:cNvPr>
          <p:cNvSpPr txBox="1"/>
          <p:nvPr/>
        </p:nvSpPr>
        <p:spPr>
          <a:xfrm>
            <a:off x="7740352" y="6488668"/>
            <a:ext cx="936104" cy="369332"/>
          </a:xfrm>
          <a:prstGeom prst="rect">
            <a:avLst/>
          </a:prstGeom>
          <a:noFill/>
        </p:spPr>
        <p:txBody>
          <a:bodyPr wrap="square" rtlCol="0">
            <a:spAutoFit/>
          </a:bodyPr>
          <a:lstStyle/>
          <a:p>
            <a:r>
              <a:rPr lang="en-US" altLang="zh-CN" dirty="0"/>
              <a:t>Next</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a:xfrm>
            <a:off x="611188" y="404813"/>
            <a:ext cx="7772400" cy="431800"/>
          </a:xfrm>
          <a:noFill/>
          <a:ln/>
        </p:spPr>
        <p:txBody>
          <a:bodyPr/>
          <a:lstStyle/>
          <a:p>
            <a:r>
              <a:rPr lang="zh-CN" altLang="en-US" b="1">
                <a:solidFill>
                  <a:srgbClr val="000066"/>
                </a:solidFill>
                <a:effectLst>
                  <a:outerShdw blurRad="38100" dist="38100" dir="2700000" algn="tl">
                    <a:srgbClr val="C0C0C0"/>
                  </a:outerShdw>
                </a:effectLst>
                <a:ea typeface="隶书" pitchFamily="49" charset="-122"/>
              </a:rPr>
              <a:t>核     酸     酶</a:t>
            </a:r>
            <a:endParaRPr lang="zh-CN" altLang="en-US" sz="7200" b="1">
              <a:solidFill>
                <a:srgbClr val="000066"/>
              </a:solidFill>
              <a:effectLst>
                <a:outerShdw blurRad="38100" dist="38100" dir="2700000" algn="tl">
                  <a:srgbClr val="C0C0C0"/>
                </a:outerShdw>
              </a:effectLst>
              <a:ea typeface="隶书" pitchFamily="49" charset="-122"/>
            </a:endParaRPr>
          </a:p>
        </p:txBody>
      </p:sp>
      <p:sp>
        <p:nvSpPr>
          <p:cNvPr id="86019" name="Text Box 3"/>
          <p:cNvSpPr txBox="1">
            <a:spLocks noChangeArrowheads="1"/>
          </p:cNvSpPr>
          <p:nvPr/>
        </p:nvSpPr>
        <p:spPr bwMode="auto">
          <a:xfrm>
            <a:off x="1219200" y="1447800"/>
            <a:ext cx="4648200" cy="579438"/>
          </a:xfrm>
          <a:prstGeom prst="rect">
            <a:avLst/>
          </a:prstGeom>
          <a:noFill/>
          <a:ln w="9525">
            <a:noFill/>
            <a:miter lim="800000"/>
            <a:headEnd/>
            <a:tailEnd/>
          </a:ln>
        </p:spPr>
        <p:txBody>
          <a:bodyPr>
            <a:spAutoFit/>
          </a:bodyPr>
          <a:lstStyle/>
          <a:p>
            <a:pPr>
              <a:spcBef>
                <a:spcPct val="50000"/>
              </a:spcBef>
            </a:pPr>
            <a:r>
              <a:rPr kumimoji="1" lang="en-US" altLang="zh-CN" sz="3200">
                <a:solidFill>
                  <a:srgbClr val="000066"/>
                </a:solidFill>
                <a:effectLst>
                  <a:outerShdw blurRad="38100" dist="38100" dir="2700000" algn="tl">
                    <a:srgbClr val="C0C0C0"/>
                  </a:outerShdw>
                </a:effectLst>
                <a:latin typeface="隶书" pitchFamily="49" charset="-122"/>
                <a:ea typeface="隶书" pitchFamily="49" charset="-122"/>
              </a:rPr>
              <a:t>1</a:t>
            </a:r>
            <a:r>
              <a:rPr kumimoji="1" lang="zh-CN" altLang="en-US" sz="3200">
                <a:solidFill>
                  <a:srgbClr val="000066"/>
                </a:solidFill>
                <a:effectLst>
                  <a:outerShdw blurRad="38100" dist="38100" dir="2700000" algn="tl">
                    <a:srgbClr val="C0C0C0"/>
                  </a:outerShdw>
                </a:effectLst>
                <a:latin typeface="隶书" pitchFamily="49" charset="-122"/>
                <a:ea typeface="隶书" pitchFamily="49" charset="-122"/>
              </a:rPr>
              <a:t>、核酸酶的分类</a:t>
            </a:r>
            <a:endParaRPr kumimoji="1" lang="zh-CN" altLang="en-US" sz="3200">
              <a:solidFill>
                <a:srgbClr val="000066"/>
              </a:solidFill>
              <a:effectLst>
                <a:outerShdw blurRad="38100" dist="38100" dir="2700000" algn="tl">
                  <a:srgbClr val="C0C0C0"/>
                </a:outerShdw>
              </a:effectLst>
              <a:latin typeface="Times New Roman" pitchFamily="18" charset="0"/>
            </a:endParaRPr>
          </a:p>
        </p:txBody>
      </p:sp>
      <p:sp>
        <p:nvSpPr>
          <p:cNvPr id="86020" name="Text Box 4"/>
          <p:cNvSpPr txBox="1">
            <a:spLocks noChangeArrowheads="1"/>
          </p:cNvSpPr>
          <p:nvPr/>
        </p:nvSpPr>
        <p:spPr bwMode="auto">
          <a:xfrm>
            <a:off x="1184275" y="2557463"/>
            <a:ext cx="3235325" cy="946150"/>
          </a:xfrm>
          <a:prstGeom prst="rect">
            <a:avLst/>
          </a:prstGeom>
          <a:noFill/>
          <a:ln w="9525">
            <a:noFill/>
            <a:miter lim="800000"/>
            <a:headEnd/>
            <a:tailEnd/>
          </a:ln>
        </p:spPr>
        <p:txBody>
          <a:bodyPr>
            <a:spAutoFit/>
          </a:bodyPr>
          <a:lstStyle/>
          <a:p>
            <a:pPr algn="ctr">
              <a:spcBef>
                <a:spcPct val="50000"/>
              </a:spcBef>
            </a:pPr>
            <a:r>
              <a:rPr kumimoji="1" lang="zh-CN" altLang="en-US" sz="2800">
                <a:solidFill>
                  <a:srgbClr val="000066"/>
                </a:solidFill>
                <a:effectLst>
                  <a:outerShdw blurRad="38100" dist="38100" dir="2700000" algn="tl">
                    <a:srgbClr val="C0C0C0"/>
                  </a:outerShdw>
                </a:effectLst>
                <a:latin typeface="隶书" pitchFamily="49" charset="-122"/>
                <a:ea typeface="隶书" pitchFamily="49" charset="-122"/>
              </a:rPr>
              <a:t>（</a:t>
            </a:r>
            <a:r>
              <a:rPr kumimoji="1" lang="en-US" altLang="zh-CN" sz="2800">
                <a:solidFill>
                  <a:srgbClr val="000066"/>
                </a:solidFill>
                <a:effectLst>
                  <a:outerShdw blurRad="38100" dist="38100" dir="2700000" algn="tl">
                    <a:srgbClr val="C0C0C0"/>
                  </a:outerShdw>
                </a:effectLst>
                <a:latin typeface="隶书" pitchFamily="49" charset="-122"/>
                <a:ea typeface="隶书" pitchFamily="49" charset="-122"/>
              </a:rPr>
              <a:t>1</a:t>
            </a:r>
            <a:r>
              <a:rPr kumimoji="1" lang="zh-CN" altLang="en-US" sz="2800">
                <a:solidFill>
                  <a:srgbClr val="000066"/>
                </a:solidFill>
                <a:effectLst>
                  <a:outerShdw blurRad="38100" dist="38100" dir="2700000" algn="tl">
                    <a:srgbClr val="C0C0C0"/>
                  </a:outerShdw>
                </a:effectLst>
                <a:latin typeface="隶书" pitchFamily="49" charset="-122"/>
                <a:ea typeface="隶书" pitchFamily="49" charset="-122"/>
              </a:rPr>
              <a:t>）根据对底物的                  专一性分为</a:t>
            </a:r>
          </a:p>
        </p:txBody>
      </p:sp>
      <p:sp>
        <p:nvSpPr>
          <p:cNvPr id="86021" name="Text Box 5"/>
          <p:cNvSpPr txBox="1">
            <a:spLocks noChangeArrowheads="1"/>
          </p:cNvSpPr>
          <p:nvPr/>
        </p:nvSpPr>
        <p:spPr bwMode="auto">
          <a:xfrm>
            <a:off x="1171575" y="4419600"/>
            <a:ext cx="5000625" cy="519113"/>
          </a:xfrm>
          <a:prstGeom prst="rect">
            <a:avLst/>
          </a:prstGeom>
          <a:noFill/>
          <a:ln w="9525">
            <a:noFill/>
            <a:miter lim="800000"/>
            <a:headEnd/>
            <a:tailEnd/>
          </a:ln>
        </p:spPr>
        <p:txBody>
          <a:bodyPr>
            <a:spAutoFit/>
          </a:bodyPr>
          <a:lstStyle/>
          <a:p>
            <a:pPr>
              <a:spcBef>
                <a:spcPct val="50000"/>
              </a:spcBef>
            </a:pPr>
            <a:r>
              <a:rPr kumimoji="1" lang="zh-CN" altLang="en-US" sz="2800">
                <a:solidFill>
                  <a:srgbClr val="000066"/>
                </a:solidFill>
                <a:effectLst>
                  <a:outerShdw blurRad="38100" dist="38100" dir="2700000" algn="tl">
                    <a:srgbClr val="C0C0C0"/>
                  </a:outerShdw>
                </a:effectLst>
                <a:latin typeface="隶书" pitchFamily="49" charset="-122"/>
                <a:ea typeface="隶书" pitchFamily="49" charset="-122"/>
              </a:rPr>
              <a:t>（</a:t>
            </a:r>
            <a:r>
              <a:rPr kumimoji="1" lang="en-US" altLang="zh-CN" sz="2800">
                <a:solidFill>
                  <a:srgbClr val="000066"/>
                </a:solidFill>
                <a:effectLst>
                  <a:outerShdw blurRad="38100" dist="38100" dir="2700000" algn="tl">
                    <a:srgbClr val="C0C0C0"/>
                  </a:outerShdw>
                </a:effectLst>
                <a:latin typeface="隶书" pitchFamily="49" charset="-122"/>
                <a:ea typeface="隶书" pitchFamily="49" charset="-122"/>
              </a:rPr>
              <a:t>2</a:t>
            </a:r>
            <a:r>
              <a:rPr kumimoji="1" lang="zh-CN" altLang="en-US" sz="2800">
                <a:solidFill>
                  <a:srgbClr val="000066"/>
                </a:solidFill>
                <a:effectLst>
                  <a:outerShdw blurRad="38100" dist="38100" dir="2700000" algn="tl">
                    <a:srgbClr val="C0C0C0"/>
                  </a:outerShdw>
                </a:effectLst>
                <a:latin typeface="隶书" pitchFamily="49" charset="-122"/>
                <a:ea typeface="隶书" pitchFamily="49" charset="-122"/>
              </a:rPr>
              <a:t>）根据切割位点分为</a:t>
            </a:r>
            <a:endParaRPr kumimoji="1" lang="zh-CN" altLang="en-US" sz="2800">
              <a:solidFill>
                <a:srgbClr val="000066"/>
              </a:solidFill>
              <a:effectLst>
                <a:outerShdw blurRad="38100" dist="38100" dir="2700000" algn="tl">
                  <a:srgbClr val="C0C0C0"/>
                </a:outerShdw>
              </a:effectLst>
              <a:latin typeface="Times New Roman" pitchFamily="18" charset="0"/>
            </a:endParaRPr>
          </a:p>
        </p:txBody>
      </p:sp>
      <p:sp>
        <p:nvSpPr>
          <p:cNvPr id="86022" name="Line 6"/>
          <p:cNvSpPr>
            <a:spLocks noChangeShapeType="1"/>
          </p:cNvSpPr>
          <p:nvPr/>
        </p:nvSpPr>
        <p:spPr bwMode="auto">
          <a:xfrm>
            <a:off x="838200" y="1143000"/>
            <a:ext cx="7467600" cy="0"/>
          </a:xfrm>
          <a:prstGeom prst="line">
            <a:avLst/>
          </a:prstGeom>
          <a:noFill/>
          <a:ln w="9525">
            <a:solidFill>
              <a:srgbClr val="CCFFFF"/>
            </a:solidFill>
            <a:round/>
            <a:headEnd/>
            <a:tailEnd/>
          </a:ln>
          <a:effectLst/>
          <a:scene3d>
            <a:camera prst="legacyObliqueTopRight"/>
            <a:lightRig rig="legacyFlat3" dir="b"/>
          </a:scene3d>
          <a:sp3d extrusionH="430200" prstMaterial="legacyMatte">
            <a:bevelT w="13500" h="13500" prst="angle"/>
            <a:bevelB w="13500" h="13500" prst="angle"/>
            <a:extrusionClr>
              <a:srgbClr val="CCFFFF"/>
            </a:extrusionClr>
          </a:sp3d>
        </p:spPr>
        <p:txBody>
          <a:bodyPr wrap="none" anchor="ctr">
            <a:flatTx/>
          </a:bodyPr>
          <a:lstStyle/>
          <a:p>
            <a:endParaRPr lang="zh-CN" altLang="en-US" dirty="0">
              <a:latin typeface="Times New Roman" panose="02020603050405020304" pitchFamily="18" charset="0"/>
            </a:endParaRPr>
          </a:p>
        </p:txBody>
      </p:sp>
      <p:grpSp>
        <p:nvGrpSpPr>
          <p:cNvPr id="2" name="Group 7"/>
          <p:cNvGrpSpPr>
            <a:grpSpLocks/>
          </p:cNvGrpSpPr>
          <p:nvPr/>
        </p:nvGrpSpPr>
        <p:grpSpPr bwMode="auto">
          <a:xfrm>
            <a:off x="4495800" y="2133600"/>
            <a:ext cx="4191000" cy="1752600"/>
            <a:chOff x="2736" y="1344"/>
            <a:chExt cx="2640" cy="1104"/>
          </a:xfrm>
        </p:grpSpPr>
        <p:sp>
          <p:nvSpPr>
            <p:cNvPr id="86024" name="Text Box 8"/>
            <p:cNvSpPr txBox="1">
              <a:spLocks noChangeArrowheads="1"/>
            </p:cNvSpPr>
            <p:nvPr/>
          </p:nvSpPr>
          <p:spPr bwMode="auto">
            <a:xfrm>
              <a:off x="2806" y="1344"/>
              <a:ext cx="2064" cy="327"/>
            </a:xfrm>
            <a:prstGeom prst="rect">
              <a:avLst/>
            </a:prstGeom>
            <a:noFill/>
            <a:ln w="9525">
              <a:noFill/>
              <a:miter lim="800000"/>
              <a:headEnd/>
              <a:tailEnd/>
            </a:ln>
          </p:spPr>
          <p:txBody>
            <a:bodyPr>
              <a:spAutoFit/>
            </a:bodyPr>
            <a:lstStyle/>
            <a:p>
              <a:pPr>
                <a:spcBef>
                  <a:spcPct val="50000"/>
                </a:spcBef>
              </a:pPr>
              <a:r>
                <a:rPr kumimoji="1" lang="zh-CN" altLang="en-US" sz="2800">
                  <a:solidFill>
                    <a:srgbClr val="000066"/>
                  </a:solidFill>
                  <a:effectLst>
                    <a:outerShdw blurRad="38100" dist="38100" dir="2700000" algn="tl">
                      <a:srgbClr val="C0C0C0"/>
                    </a:outerShdw>
                  </a:effectLst>
                  <a:latin typeface="隶书" pitchFamily="49" charset="-122"/>
                  <a:ea typeface="隶书" pitchFamily="49" charset="-122"/>
                </a:rPr>
                <a:t>核糖核酸酶</a:t>
              </a:r>
              <a:r>
                <a:rPr kumimoji="1" lang="en-US" altLang="zh-CN" sz="2800">
                  <a:solidFill>
                    <a:srgbClr val="000066"/>
                  </a:solidFill>
                  <a:effectLst>
                    <a:outerShdw blurRad="38100" dist="38100" dir="2700000" algn="tl">
                      <a:srgbClr val="C0C0C0"/>
                    </a:outerShdw>
                  </a:effectLst>
                  <a:latin typeface="隶书" pitchFamily="49" charset="-122"/>
                  <a:ea typeface="隶书" pitchFamily="49" charset="-122"/>
                </a:rPr>
                <a:t>(RNase)</a:t>
              </a:r>
            </a:p>
          </p:txBody>
        </p:sp>
        <p:sp>
          <p:nvSpPr>
            <p:cNvPr id="86025" name="Text Box 9"/>
            <p:cNvSpPr txBox="1">
              <a:spLocks noChangeArrowheads="1"/>
            </p:cNvSpPr>
            <p:nvPr/>
          </p:nvSpPr>
          <p:spPr bwMode="auto">
            <a:xfrm>
              <a:off x="2832" y="1468"/>
              <a:ext cx="2544" cy="596"/>
            </a:xfrm>
            <a:prstGeom prst="rect">
              <a:avLst/>
            </a:prstGeom>
            <a:noFill/>
            <a:ln w="9525">
              <a:noFill/>
              <a:miter lim="800000"/>
              <a:headEnd/>
              <a:tailEnd/>
            </a:ln>
          </p:spPr>
          <p:txBody>
            <a:bodyPr>
              <a:spAutoFit/>
            </a:bodyPr>
            <a:lstStyle/>
            <a:p>
              <a:pPr eaLnBrk="0" hangingPunct="0">
                <a:lnSpc>
                  <a:spcPct val="200000"/>
                </a:lnSpc>
              </a:pPr>
              <a:r>
                <a:rPr kumimoji="1" lang="zh-CN" altLang="en-US" sz="2800">
                  <a:solidFill>
                    <a:srgbClr val="000066"/>
                  </a:solidFill>
                  <a:effectLst>
                    <a:outerShdw blurRad="38100" dist="38100" dir="2700000" algn="tl">
                      <a:srgbClr val="C0C0C0"/>
                    </a:outerShdw>
                  </a:effectLst>
                  <a:latin typeface="隶书" pitchFamily="49" charset="-122"/>
                  <a:ea typeface="隶书" pitchFamily="49" charset="-122"/>
                </a:rPr>
                <a:t>脱氧核糖核酸酶</a:t>
              </a:r>
              <a:r>
                <a:rPr kumimoji="1" lang="en-US" altLang="zh-CN" sz="2800">
                  <a:solidFill>
                    <a:srgbClr val="000066"/>
                  </a:solidFill>
                  <a:effectLst>
                    <a:outerShdw blurRad="38100" dist="38100" dir="2700000" algn="tl">
                      <a:srgbClr val="C0C0C0"/>
                    </a:outerShdw>
                  </a:effectLst>
                  <a:latin typeface="隶书" pitchFamily="49" charset="-122"/>
                  <a:ea typeface="隶书" pitchFamily="49" charset="-122"/>
                </a:rPr>
                <a:t>(DNase)</a:t>
              </a:r>
            </a:p>
          </p:txBody>
        </p:sp>
        <p:sp>
          <p:nvSpPr>
            <p:cNvPr id="86026" name="Text Box 10"/>
            <p:cNvSpPr txBox="1">
              <a:spLocks noChangeArrowheads="1"/>
            </p:cNvSpPr>
            <p:nvPr/>
          </p:nvSpPr>
          <p:spPr bwMode="auto">
            <a:xfrm>
              <a:off x="2832" y="1852"/>
              <a:ext cx="2064" cy="596"/>
            </a:xfrm>
            <a:prstGeom prst="rect">
              <a:avLst/>
            </a:prstGeom>
            <a:noFill/>
            <a:ln w="9525">
              <a:noFill/>
              <a:miter lim="800000"/>
              <a:headEnd/>
              <a:tailEnd/>
            </a:ln>
          </p:spPr>
          <p:txBody>
            <a:bodyPr>
              <a:spAutoFit/>
            </a:bodyPr>
            <a:lstStyle/>
            <a:p>
              <a:pPr eaLnBrk="0" hangingPunct="0">
                <a:lnSpc>
                  <a:spcPct val="200000"/>
                </a:lnSpc>
              </a:pPr>
              <a:r>
                <a:rPr kumimoji="1" lang="zh-CN" altLang="en-US" sz="2800">
                  <a:solidFill>
                    <a:srgbClr val="000066"/>
                  </a:solidFill>
                  <a:effectLst>
                    <a:outerShdw blurRad="38100" dist="38100" dir="2700000" algn="tl">
                      <a:srgbClr val="C0C0C0"/>
                    </a:outerShdw>
                  </a:effectLst>
                  <a:latin typeface="隶书" pitchFamily="49" charset="-122"/>
                  <a:ea typeface="隶书" pitchFamily="49" charset="-122"/>
                </a:rPr>
                <a:t>非特异性核酸酶</a:t>
              </a:r>
            </a:p>
          </p:txBody>
        </p:sp>
        <p:sp>
          <p:nvSpPr>
            <p:cNvPr id="86027" name="AutoShape 11"/>
            <p:cNvSpPr>
              <a:spLocks/>
            </p:cNvSpPr>
            <p:nvPr/>
          </p:nvSpPr>
          <p:spPr bwMode="auto">
            <a:xfrm>
              <a:off x="2736" y="1631"/>
              <a:ext cx="96" cy="576"/>
            </a:xfrm>
            <a:prstGeom prst="leftBrace">
              <a:avLst>
                <a:gd name="adj1" fmla="val 50000"/>
                <a:gd name="adj2" fmla="val 50000"/>
              </a:avLst>
            </a:prstGeom>
            <a:noFill/>
            <a:ln w="9525">
              <a:solidFill>
                <a:srgbClr val="990000"/>
              </a:solidFill>
              <a:round/>
              <a:headEnd/>
              <a:tailEnd/>
            </a:ln>
            <a:effectLst/>
            <a:scene3d>
              <a:camera prst="legacyObliqueTopRight"/>
              <a:lightRig rig="legacyFlat3" dir="b"/>
            </a:scene3d>
            <a:sp3d extrusionH="163500" prstMaterial="legacyMatte">
              <a:bevelT w="13500" h="13500" prst="angle"/>
              <a:bevelB w="13500" h="13500" prst="angle"/>
              <a:extrusionClr>
                <a:srgbClr val="990000"/>
              </a:extrusionClr>
            </a:sp3d>
          </p:spPr>
          <p:txBody>
            <a:bodyPr wrap="none" anchor="ctr">
              <a:flatTx/>
            </a:bodyPr>
            <a:lstStyle/>
            <a:p>
              <a:endParaRPr lang="zh-CN" altLang="en-US" dirty="0">
                <a:latin typeface="Times New Roman" panose="02020603050405020304" pitchFamily="18" charset="0"/>
              </a:endParaRPr>
            </a:p>
          </p:txBody>
        </p:sp>
      </p:grpSp>
      <p:sp>
        <p:nvSpPr>
          <p:cNvPr id="86028" name="Text Box 12"/>
          <p:cNvSpPr txBox="1">
            <a:spLocks noChangeArrowheads="1"/>
          </p:cNvSpPr>
          <p:nvPr/>
        </p:nvSpPr>
        <p:spPr bwMode="auto">
          <a:xfrm>
            <a:off x="5292725" y="3846513"/>
            <a:ext cx="3276600" cy="519112"/>
          </a:xfrm>
          <a:prstGeom prst="rect">
            <a:avLst/>
          </a:prstGeom>
          <a:noFill/>
          <a:ln w="9525">
            <a:noFill/>
            <a:miter lim="800000"/>
            <a:headEnd/>
            <a:tailEnd/>
          </a:ln>
        </p:spPr>
        <p:txBody>
          <a:bodyPr>
            <a:spAutoFit/>
          </a:bodyPr>
          <a:lstStyle/>
          <a:p>
            <a:pPr eaLnBrk="0" hangingPunct="0"/>
            <a:r>
              <a:rPr kumimoji="1" lang="zh-CN" altLang="en-US" sz="2800">
                <a:solidFill>
                  <a:srgbClr val="000066"/>
                </a:solidFill>
                <a:effectLst>
                  <a:outerShdw blurRad="38100" dist="38100" dir="2700000" algn="tl">
                    <a:srgbClr val="C0C0C0"/>
                  </a:outerShdw>
                </a:effectLst>
                <a:latin typeface="Times New Roman" pitchFamily="18" charset="0"/>
                <a:ea typeface="隶书" pitchFamily="49" charset="-122"/>
              </a:rPr>
              <a:t>核酸内切酶</a:t>
            </a:r>
            <a:endParaRPr kumimoji="1" lang="zh-CN" altLang="en-US" sz="2800">
              <a:solidFill>
                <a:srgbClr val="000066"/>
              </a:solidFill>
              <a:effectLst>
                <a:outerShdw blurRad="38100" dist="38100" dir="2700000" algn="tl">
                  <a:srgbClr val="C0C0C0"/>
                </a:outerShdw>
              </a:effectLst>
              <a:latin typeface="Times New Roman" pitchFamily="18" charset="0"/>
            </a:endParaRPr>
          </a:p>
        </p:txBody>
      </p:sp>
      <p:sp>
        <p:nvSpPr>
          <p:cNvPr id="86029" name="Text Box 13"/>
          <p:cNvSpPr txBox="1">
            <a:spLocks noChangeArrowheads="1"/>
          </p:cNvSpPr>
          <p:nvPr/>
        </p:nvSpPr>
        <p:spPr bwMode="auto">
          <a:xfrm>
            <a:off x="5292725" y="4408488"/>
            <a:ext cx="2514600" cy="519112"/>
          </a:xfrm>
          <a:prstGeom prst="rect">
            <a:avLst/>
          </a:prstGeom>
          <a:noFill/>
          <a:ln w="9525">
            <a:noFill/>
            <a:miter lim="800000"/>
            <a:headEnd/>
            <a:tailEnd/>
          </a:ln>
        </p:spPr>
        <p:txBody>
          <a:bodyPr>
            <a:spAutoFit/>
          </a:bodyPr>
          <a:lstStyle/>
          <a:p>
            <a:pPr eaLnBrk="0" hangingPunct="0"/>
            <a:r>
              <a:rPr kumimoji="1" lang="zh-CN" altLang="en-US" sz="2800">
                <a:solidFill>
                  <a:srgbClr val="000066"/>
                </a:solidFill>
                <a:effectLst>
                  <a:outerShdw blurRad="38100" dist="38100" dir="2700000" algn="tl">
                    <a:srgbClr val="C0C0C0"/>
                  </a:outerShdw>
                </a:effectLst>
                <a:latin typeface="Times New Roman" pitchFamily="18" charset="0"/>
                <a:ea typeface="隶书" pitchFamily="49" charset="-122"/>
              </a:rPr>
              <a:t>核酸外切酶</a:t>
            </a:r>
            <a:endParaRPr kumimoji="1" lang="zh-CN" altLang="en-US" sz="2800">
              <a:solidFill>
                <a:srgbClr val="000066"/>
              </a:solidFill>
              <a:effectLst>
                <a:outerShdw blurRad="38100" dist="38100" dir="2700000" algn="tl">
                  <a:srgbClr val="C0C0C0"/>
                </a:outerShdw>
              </a:effectLst>
              <a:latin typeface="Times New Roman" pitchFamily="18" charset="0"/>
            </a:endParaRPr>
          </a:p>
        </p:txBody>
      </p:sp>
      <p:sp>
        <p:nvSpPr>
          <p:cNvPr id="86030" name="AutoShape 14"/>
          <p:cNvSpPr>
            <a:spLocks/>
          </p:cNvSpPr>
          <p:nvPr/>
        </p:nvSpPr>
        <p:spPr bwMode="auto">
          <a:xfrm>
            <a:off x="5219700" y="4135438"/>
            <a:ext cx="69850" cy="1287462"/>
          </a:xfrm>
          <a:prstGeom prst="leftBrace">
            <a:avLst>
              <a:gd name="adj1" fmla="val 153598"/>
              <a:gd name="adj2" fmla="val 50000"/>
            </a:avLst>
          </a:prstGeom>
          <a:noFill/>
          <a:ln w="9525">
            <a:solidFill>
              <a:srgbClr val="990000"/>
            </a:solidFill>
            <a:round/>
            <a:headEnd/>
            <a:tailEnd/>
          </a:ln>
          <a:effectLst/>
          <a:scene3d>
            <a:camera prst="legacyObliqueTopRight"/>
            <a:lightRig rig="legacyFlat3" dir="b"/>
          </a:scene3d>
          <a:sp3d extrusionH="163500" prstMaterial="legacyMatte">
            <a:bevelT w="13500" h="13500" prst="angle"/>
            <a:bevelB w="13500" h="13500" prst="angle"/>
            <a:extrusionClr>
              <a:srgbClr val="990000"/>
            </a:extrusionClr>
          </a:sp3d>
        </p:spPr>
        <p:txBody>
          <a:bodyPr wrap="none" anchor="ctr">
            <a:flatTx/>
          </a:bodyPr>
          <a:lstStyle/>
          <a:p>
            <a:endParaRPr lang="zh-CN" altLang="en-US" dirty="0">
              <a:latin typeface="Times New Roman" panose="02020603050405020304" pitchFamily="18" charset="0"/>
            </a:endParaRPr>
          </a:p>
        </p:txBody>
      </p:sp>
      <p:sp>
        <p:nvSpPr>
          <p:cNvPr id="86031" name="Text Box 15"/>
          <p:cNvSpPr txBox="1">
            <a:spLocks noChangeArrowheads="1"/>
          </p:cNvSpPr>
          <p:nvPr/>
        </p:nvSpPr>
        <p:spPr bwMode="auto">
          <a:xfrm>
            <a:off x="5292725" y="5070475"/>
            <a:ext cx="3600450" cy="519113"/>
          </a:xfrm>
          <a:prstGeom prst="rect">
            <a:avLst/>
          </a:prstGeom>
          <a:noFill/>
          <a:ln w="9525">
            <a:noFill/>
            <a:miter lim="800000"/>
            <a:headEnd/>
            <a:tailEnd/>
          </a:ln>
        </p:spPr>
        <p:txBody>
          <a:bodyPr>
            <a:spAutoFit/>
          </a:bodyPr>
          <a:lstStyle/>
          <a:p>
            <a:pPr eaLnBrk="0" hangingPunct="0"/>
            <a:r>
              <a:rPr kumimoji="1" lang="zh-CN" altLang="en-US" sz="2800">
                <a:solidFill>
                  <a:srgbClr val="000066"/>
                </a:solidFill>
                <a:effectLst>
                  <a:outerShdw blurRad="38100" dist="38100" dir="2700000" algn="tl">
                    <a:srgbClr val="C0C0C0"/>
                  </a:outerShdw>
                </a:effectLst>
                <a:latin typeface="Times New Roman" pitchFamily="18" charset="0"/>
                <a:ea typeface="隶书" pitchFamily="49" charset="-122"/>
              </a:rPr>
              <a:t>核酸内切兼外切酶</a:t>
            </a:r>
            <a:endParaRPr kumimoji="1" lang="zh-CN" altLang="en-US" sz="2800">
              <a:solidFill>
                <a:srgbClr val="000066"/>
              </a:solidFill>
              <a:effectLst>
                <a:outerShdw blurRad="38100" dist="38100" dir="2700000" algn="tl">
                  <a:srgbClr val="C0C0C0"/>
                </a:outerShdw>
              </a:effectLst>
              <a:latin typeface="Times New Roman"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6019"/>
                                        </p:tgtEl>
                                        <p:attrNameLst>
                                          <p:attrName>style.visibility</p:attrName>
                                        </p:attrNameLst>
                                      </p:cBhvr>
                                      <p:to>
                                        <p:strVal val="visible"/>
                                      </p:to>
                                    </p:set>
                                    <p:animEffect transition="in" filter="blinds(horizontal)">
                                      <p:cBhvr>
                                        <p:cTn id="7" dur="500"/>
                                        <p:tgtEl>
                                          <p:spTgt spid="86019"/>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86020"/>
                                        </p:tgtEl>
                                        <p:attrNameLst>
                                          <p:attrName>style.visibility</p:attrName>
                                        </p:attrNameLst>
                                      </p:cBhvr>
                                      <p:to>
                                        <p:strVal val="visible"/>
                                      </p:to>
                                    </p:set>
                                    <p:animEffect transition="in" filter="box(in)">
                                      <p:cBhvr>
                                        <p:cTn id="12" dur="500"/>
                                        <p:tgtEl>
                                          <p:spTgt spid="86020"/>
                                        </p:tgtEl>
                                      </p:cBhvr>
                                    </p:animEffect>
                                  </p:childTnLst>
                                </p:cTn>
                              </p:par>
                            </p:childTnLst>
                          </p:cTn>
                        </p:par>
                        <p:par>
                          <p:cTn id="13" fill="hold">
                            <p:stCondLst>
                              <p:cond delay="500"/>
                            </p:stCondLst>
                            <p:childTnLst>
                              <p:par>
                                <p:cTn id="14" presetID="3" presetClass="entr" presetSubtype="10" fill="hold" nodeType="afterEffect">
                                  <p:stCondLst>
                                    <p:cond delay="3000"/>
                                  </p:stCondLst>
                                  <p:childTnLst>
                                    <p:set>
                                      <p:cBhvr>
                                        <p:cTn id="15" dur="1" fill="hold">
                                          <p:stCondLst>
                                            <p:cond delay="0"/>
                                          </p:stCondLst>
                                        </p:cTn>
                                        <p:tgtEl>
                                          <p:spTgt spid="2"/>
                                        </p:tgtEl>
                                        <p:attrNameLst>
                                          <p:attrName>style.visibility</p:attrName>
                                        </p:attrNameLst>
                                      </p:cBhvr>
                                      <p:to>
                                        <p:strVal val="visible"/>
                                      </p:to>
                                    </p:set>
                                    <p:animEffect transition="in" filter="blinds(horizontal)">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86021"/>
                                        </p:tgtEl>
                                        <p:attrNameLst>
                                          <p:attrName>style.visibility</p:attrName>
                                        </p:attrNameLst>
                                      </p:cBhvr>
                                      <p:to>
                                        <p:strVal val="visible"/>
                                      </p:to>
                                    </p:set>
                                    <p:animEffect transition="in" filter="dissolve">
                                      <p:cBhvr>
                                        <p:cTn id="21" dur="500"/>
                                        <p:tgtEl>
                                          <p:spTgt spid="86021"/>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86030"/>
                                        </p:tgtEl>
                                        <p:attrNameLst>
                                          <p:attrName>style.visibility</p:attrName>
                                        </p:attrNameLst>
                                      </p:cBhvr>
                                      <p:to>
                                        <p:strVal val="visible"/>
                                      </p:to>
                                    </p:set>
                                    <p:animEffect transition="in" filter="blinds(horizontal)">
                                      <p:cBhvr>
                                        <p:cTn id="26" dur="500"/>
                                        <p:tgtEl>
                                          <p:spTgt spid="86030"/>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86028"/>
                                        </p:tgtEl>
                                        <p:attrNameLst>
                                          <p:attrName>style.visibility</p:attrName>
                                        </p:attrNameLst>
                                      </p:cBhvr>
                                      <p:to>
                                        <p:strVal val="visible"/>
                                      </p:to>
                                    </p:set>
                                    <p:animEffect transition="in" filter="blinds(horizontal)">
                                      <p:cBhvr>
                                        <p:cTn id="29" dur="500"/>
                                        <p:tgtEl>
                                          <p:spTgt spid="86028"/>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86029"/>
                                        </p:tgtEl>
                                        <p:attrNameLst>
                                          <p:attrName>style.visibility</p:attrName>
                                        </p:attrNameLst>
                                      </p:cBhvr>
                                      <p:to>
                                        <p:strVal val="visible"/>
                                      </p:to>
                                    </p:set>
                                    <p:animEffect transition="in" filter="blinds(horizontal)">
                                      <p:cBhvr>
                                        <p:cTn id="32" dur="500"/>
                                        <p:tgtEl>
                                          <p:spTgt spid="86029"/>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86031"/>
                                        </p:tgtEl>
                                        <p:attrNameLst>
                                          <p:attrName>style.visibility</p:attrName>
                                        </p:attrNameLst>
                                      </p:cBhvr>
                                      <p:to>
                                        <p:strVal val="visible"/>
                                      </p:to>
                                    </p:set>
                                    <p:animEffect transition="in" filter="blinds(horizontal)">
                                      <p:cBhvr>
                                        <p:cTn id="35" dur="500"/>
                                        <p:tgtEl>
                                          <p:spTgt spid="860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19" grpId="0" autoUpdateAnimBg="0"/>
      <p:bldP spid="86020" grpId="0" autoUpdateAnimBg="0"/>
      <p:bldP spid="86021" grpId="0" autoUpdateAnimBg="0"/>
      <p:bldP spid="86028" grpId="0"/>
      <p:bldP spid="86029" grpId="0"/>
      <p:bldP spid="86030" grpId="0" animBg="1"/>
      <p:bldP spid="86031"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a:xfrm>
            <a:off x="755650" y="333375"/>
            <a:ext cx="7772400" cy="1143000"/>
          </a:xfrm>
          <a:noFill/>
          <a:ln/>
        </p:spPr>
        <p:txBody>
          <a:bodyPr/>
          <a:lstStyle/>
          <a:p>
            <a:r>
              <a:rPr lang="en-US" altLang="zh-CN" sz="3600" b="1">
                <a:solidFill>
                  <a:srgbClr val="990000"/>
                </a:solidFill>
                <a:ea typeface="隶书" pitchFamily="49" charset="-122"/>
              </a:rPr>
              <a:t>1</a:t>
            </a:r>
            <a:r>
              <a:rPr lang="zh-CN" altLang="en-US" sz="3600" b="1">
                <a:solidFill>
                  <a:srgbClr val="990000"/>
                </a:solidFill>
                <a:ea typeface="隶书" pitchFamily="49" charset="-122"/>
              </a:rPr>
              <a:t>、外切核酸酶对核酸的水解位点</a:t>
            </a:r>
            <a:endParaRPr lang="zh-CN" altLang="en-US" sz="3600">
              <a:solidFill>
                <a:srgbClr val="990000"/>
              </a:solidFill>
            </a:endParaRPr>
          </a:p>
        </p:txBody>
      </p:sp>
      <p:sp>
        <p:nvSpPr>
          <p:cNvPr id="87043" name="Line 3"/>
          <p:cNvSpPr>
            <a:spLocks noChangeShapeType="1"/>
          </p:cNvSpPr>
          <p:nvPr/>
        </p:nvSpPr>
        <p:spPr bwMode="auto">
          <a:xfrm>
            <a:off x="1524000" y="2009775"/>
            <a:ext cx="0" cy="1295400"/>
          </a:xfrm>
          <a:prstGeom prst="line">
            <a:avLst/>
          </a:prstGeom>
          <a:noFill/>
          <a:ln w="25400">
            <a:solidFill>
              <a:srgbClr val="333399"/>
            </a:solidFill>
            <a:round/>
            <a:headEnd/>
            <a:tailEnd/>
          </a:ln>
          <a:effectLst/>
        </p:spPr>
        <p:txBody>
          <a:bodyPr/>
          <a:lstStyle/>
          <a:p>
            <a:endParaRPr lang="zh-CN" altLang="en-US" dirty="0">
              <a:latin typeface="Times New Roman" panose="02020603050405020304" pitchFamily="18" charset="0"/>
            </a:endParaRPr>
          </a:p>
        </p:txBody>
      </p:sp>
      <p:sp>
        <p:nvSpPr>
          <p:cNvPr id="87044" name="Text Box 4"/>
          <p:cNvSpPr txBox="1">
            <a:spLocks noChangeArrowheads="1"/>
          </p:cNvSpPr>
          <p:nvPr/>
        </p:nvSpPr>
        <p:spPr bwMode="auto">
          <a:xfrm>
            <a:off x="457200" y="2619375"/>
            <a:ext cx="685800" cy="396875"/>
          </a:xfrm>
          <a:prstGeom prst="rect">
            <a:avLst/>
          </a:prstGeom>
          <a:noFill/>
          <a:ln w="9525">
            <a:noFill/>
            <a:miter lim="800000"/>
            <a:headEnd/>
            <a:tailEnd/>
          </a:ln>
          <a:effectLst/>
        </p:spPr>
        <p:txBody>
          <a:bodyPr>
            <a:spAutoFit/>
          </a:bodyPr>
          <a:lstStyle/>
          <a:p>
            <a:pPr eaLnBrk="0" hangingPunct="0">
              <a:spcBef>
                <a:spcPct val="50000"/>
              </a:spcBef>
            </a:pPr>
            <a:r>
              <a:rPr lang="en-US" altLang="zh-CN" sz="2000" b="1">
                <a:solidFill>
                  <a:srgbClr val="CC0000"/>
                </a:solidFill>
                <a:latin typeface="Times New Roman" pitchFamily="18" charset="0"/>
                <a:cs typeface="Times New Roman" pitchFamily="18" charset="0"/>
              </a:rPr>
              <a:t>5´</a:t>
            </a:r>
            <a:endParaRPr lang="en-US" altLang="zh-CN" sz="1600" b="1">
              <a:solidFill>
                <a:srgbClr val="CC0000"/>
              </a:solidFill>
              <a:latin typeface="Times New Roman" pitchFamily="18" charset="0"/>
              <a:cs typeface="Times New Roman" pitchFamily="18" charset="0"/>
            </a:endParaRPr>
          </a:p>
        </p:txBody>
      </p:sp>
      <p:sp>
        <p:nvSpPr>
          <p:cNvPr id="87045" name="Line 5"/>
          <p:cNvSpPr>
            <a:spLocks noChangeShapeType="1"/>
          </p:cNvSpPr>
          <p:nvPr/>
        </p:nvSpPr>
        <p:spPr bwMode="auto">
          <a:xfrm>
            <a:off x="1524000" y="2543175"/>
            <a:ext cx="228600" cy="228600"/>
          </a:xfrm>
          <a:prstGeom prst="line">
            <a:avLst/>
          </a:prstGeom>
          <a:noFill/>
          <a:ln w="19050">
            <a:solidFill>
              <a:schemeClr val="tx1"/>
            </a:solidFill>
            <a:round/>
            <a:headEnd/>
            <a:tailEnd/>
          </a:ln>
          <a:effectLst/>
        </p:spPr>
        <p:txBody>
          <a:bodyPr/>
          <a:lstStyle/>
          <a:p>
            <a:endParaRPr lang="zh-CN" altLang="en-US" dirty="0">
              <a:latin typeface="Times New Roman" panose="02020603050405020304" pitchFamily="18" charset="0"/>
            </a:endParaRPr>
          </a:p>
        </p:txBody>
      </p:sp>
      <p:sp>
        <p:nvSpPr>
          <p:cNvPr id="87046" name="Line 6"/>
          <p:cNvSpPr>
            <a:spLocks noChangeShapeType="1"/>
          </p:cNvSpPr>
          <p:nvPr/>
        </p:nvSpPr>
        <p:spPr bwMode="auto">
          <a:xfrm>
            <a:off x="2057400" y="3000375"/>
            <a:ext cx="304800" cy="304800"/>
          </a:xfrm>
          <a:prstGeom prst="line">
            <a:avLst/>
          </a:prstGeom>
          <a:noFill/>
          <a:ln w="19050">
            <a:solidFill>
              <a:schemeClr val="tx1"/>
            </a:solidFill>
            <a:round/>
            <a:headEnd/>
            <a:tailEnd/>
          </a:ln>
          <a:effectLst/>
        </p:spPr>
        <p:txBody>
          <a:bodyPr/>
          <a:lstStyle/>
          <a:p>
            <a:endParaRPr lang="zh-CN" altLang="en-US" dirty="0">
              <a:latin typeface="Times New Roman" panose="02020603050405020304" pitchFamily="18" charset="0"/>
            </a:endParaRPr>
          </a:p>
        </p:txBody>
      </p:sp>
      <p:grpSp>
        <p:nvGrpSpPr>
          <p:cNvPr id="2" name="Group 7"/>
          <p:cNvGrpSpPr>
            <a:grpSpLocks/>
          </p:cNvGrpSpPr>
          <p:nvPr/>
        </p:nvGrpSpPr>
        <p:grpSpPr bwMode="auto">
          <a:xfrm>
            <a:off x="1676400" y="2619375"/>
            <a:ext cx="533400" cy="457200"/>
            <a:chOff x="3264" y="2784"/>
            <a:chExt cx="336" cy="288"/>
          </a:xfrm>
        </p:grpSpPr>
        <p:sp>
          <p:nvSpPr>
            <p:cNvPr id="87048" name="Oval 8"/>
            <p:cNvSpPr>
              <a:spLocks noChangeArrowheads="1"/>
            </p:cNvSpPr>
            <p:nvPr/>
          </p:nvSpPr>
          <p:spPr bwMode="auto">
            <a:xfrm>
              <a:off x="3312" y="2880"/>
              <a:ext cx="192" cy="192"/>
            </a:xfrm>
            <a:prstGeom prst="ellipse">
              <a:avLst/>
            </a:prstGeom>
            <a:solidFill>
              <a:srgbClr val="99CCFF"/>
            </a:solidFill>
            <a:ln w="22225">
              <a:solidFill>
                <a:schemeClr val="tx1"/>
              </a:solidFill>
              <a:round/>
              <a:headEnd/>
              <a:tailEnd/>
            </a:ln>
            <a:effectLst/>
          </p:spPr>
          <p:txBody>
            <a:bodyPr wrap="none" anchor="ctr"/>
            <a:lstStyle/>
            <a:p>
              <a:endParaRPr lang="zh-CN" altLang="en-US" dirty="0">
                <a:latin typeface="Times New Roman" panose="02020603050405020304" pitchFamily="18" charset="0"/>
              </a:endParaRPr>
            </a:p>
          </p:txBody>
        </p:sp>
        <p:sp>
          <p:nvSpPr>
            <p:cNvPr id="87049" name="Text Box 9"/>
            <p:cNvSpPr txBox="1">
              <a:spLocks noChangeArrowheads="1"/>
            </p:cNvSpPr>
            <p:nvPr/>
          </p:nvSpPr>
          <p:spPr bwMode="auto">
            <a:xfrm>
              <a:off x="3264" y="2784"/>
              <a:ext cx="336" cy="288"/>
            </a:xfrm>
            <a:prstGeom prst="rect">
              <a:avLst/>
            </a:prstGeom>
            <a:noFill/>
            <a:ln w="9525">
              <a:noFill/>
              <a:miter lim="800000"/>
              <a:headEnd/>
              <a:tailEnd/>
            </a:ln>
            <a:effectLst/>
          </p:spPr>
          <p:txBody>
            <a:bodyPr>
              <a:spAutoFit/>
            </a:bodyPr>
            <a:lstStyle/>
            <a:p>
              <a:pPr eaLnBrk="0" hangingPunct="0">
                <a:spcBef>
                  <a:spcPct val="50000"/>
                </a:spcBef>
              </a:pPr>
              <a:r>
                <a:rPr lang="en-US" altLang="zh-CN" sz="2400">
                  <a:latin typeface="Times New Roman" pitchFamily="18" charset="0"/>
                  <a:ea typeface="方正舒体" pitchFamily="2" charset="-122"/>
                </a:rPr>
                <a:t> </a:t>
              </a:r>
              <a:r>
                <a:rPr lang="en-US" altLang="zh-CN" b="1">
                  <a:solidFill>
                    <a:schemeClr val="accent2"/>
                  </a:solidFill>
                  <a:latin typeface="Times New Roman" pitchFamily="18" charset="0"/>
                  <a:ea typeface="方正舒体" pitchFamily="2" charset="-122"/>
                </a:rPr>
                <a:t>p</a:t>
              </a:r>
            </a:p>
          </p:txBody>
        </p:sp>
      </p:grpSp>
      <p:sp>
        <p:nvSpPr>
          <p:cNvPr id="87050" name="Line 10"/>
          <p:cNvSpPr>
            <a:spLocks noChangeShapeType="1"/>
          </p:cNvSpPr>
          <p:nvPr/>
        </p:nvSpPr>
        <p:spPr bwMode="auto">
          <a:xfrm>
            <a:off x="2362200" y="2009775"/>
            <a:ext cx="0" cy="1295400"/>
          </a:xfrm>
          <a:prstGeom prst="line">
            <a:avLst/>
          </a:prstGeom>
          <a:noFill/>
          <a:ln w="25400">
            <a:solidFill>
              <a:srgbClr val="333399"/>
            </a:solidFill>
            <a:round/>
            <a:headEnd/>
            <a:tailEnd/>
          </a:ln>
          <a:effectLst/>
        </p:spPr>
        <p:txBody>
          <a:bodyPr/>
          <a:lstStyle/>
          <a:p>
            <a:endParaRPr lang="zh-CN" altLang="en-US" dirty="0">
              <a:latin typeface="Times New Roman" panose="02020603050405020304" pitchFamily="18" charset="0"/>
            </a:endParaRPr>
          </a:p>
        </p:txBody>
      </p:sp>
      <p:sp>
        <p:nvSpPr>
          <p:cNvPr id="87051" name="Line 11"/>
          <p:cNvSpPr>
            <a:spLocks noChangeShapeType="1"/>
          </p:cNvSpPr>
          <p:nvPr/>
        </p:nvSpPr>
        <p:spPr bwMode="auto">
          <a:xfrm>
            <a:off x="2362200" y="2543175"/>
            <a:ext cx="228600" cy="228600"/>
          </a:xfrm>
          <a:prstGeom prst="line">
            <a:avLst/>
          </a:prstGeom>
          <a:noFill/>
          <a:ln w="19050">
            <a:solidFill>
              <a:schemeClr val="tx1"/>
            </a:solidFill>
            <a:round/>
            <a:headEnd/>
            <a:tailEnd/>
          </a:ln>
          <a:effectLst/>
        </p:spPr>
        <p:txBody>
          <a:bodyPr/>
          <a:lstStyle/>
          <a:p>
            <a:endParaRPr lang="zh-CN" altLang="en-US" dirty="0">
              <a:latin typeface="Times New Roman" panose="02020603050405020304" pitchFamily="18" charset="0"/>
            </a:endParaRPr>
          </a:p>
        </p:txBody>
      </p:sp>
      <p:sp>
        <p:nvSpPr>
          <p:cNvPr id="87052" name="Line 12"/>
          <p:cNvSpPr>
            <a:spLocks noChangeShapeType="1"/>
          </p:cNvSpPr>
          <p:nvPr/>
        </p:nvSpPr>
        <p:spPr bwMode="auto">
          <a:xfrm>
            <a:off x="2895600" y="3000375"/>
            <a:ext cx="304800" cy="304800"/>
          </a:xfrm>
          <a:prstGeom prst="line">
            <a:avLst/>
          </a:prstGeom>
          <a:noFill/>
          <a:ln w="19050">
            <a:solidFill>
              <a:schemeClr val="tx1"/>
            </a:solidFill>
            <a:round/>
            <a:headEnd/>
            <a:tailEnd/>
          </a:ln>
          <a:effectLst/>
        </p:spPr>
        <p:txBody>
          <a:bodyPr/>
          <a:lstStyle/>
          <a:p>
            <a:endParaRPr lang="zh-CN" altLang="en-US" dirty="0">
              <a:latin typeface="Times New Roman" panose="02020603050405020304" pitchFamily="18" charset="0"/>
            </a:endParaRPr>
          </a:p>
        </p:txBody>
      </p:sp>
      <p:grpSp>
        <p:nvGrpSpPr>
          <p:cNvPr id="3" name="Group 13"/>
          <p:cNvGrpSpPr>
            <a:grpSpLocks/>
          </p:cNvGrpSpPr>
          <p:nvPr/>
        </p:nvGrpSpPr>
        <p:grpSpPr bwMode="auto">
          <a:xfrm>
            <a:off x="2514600" y="2619375"/>
            <a:ext cx="533400" cy="457200"/>
            <a:chOff x="3264" y="2784"/>
            <a:chExt cx="336" cy="288"/>
          </a:xfrm>
        </p:grpSpPr>
        <p:sp>
          <p:nvSpPr>
            <p:cNvPr id="87054" name="Oval 14"/>
            <p:cNvSpPr>
              <a:spLocks noChangeArrowheads="1"/>
            </p:cNvSpPr>
            <p:nvPr/>
          </p:nvSpPr>
          <p:spPr bwMode="auto">
            <a:xfrm>
              <a:off x="3312" y="2880"/>
              <a:ext cx="192" cy="192"/>
            </a:xfrm>
            <a:prstGeom prst="ellipse">
              <a:avLst/>
            </a:prstGeom>
            <a:solidFill>
              <a:srgbClr val="99CCFF"/>
            </a:solidFill>
            <a:ln w="22225">
              <a:solidFill>
                <a:schemeClr val="tx1"/>
              </a:solidFill>
              <a:round/>
              <a:headEnd/>
              <a:tailEnd/>
            </a:ln>
            <a:effectLst/>
          </p:spPr>
          <p:txBody>
            <a:bodyPr wrap="none" anchor="ctr"/>
            <a:lstStyle/>
            <a:p>
              <a:endParaRPr lang="zh-CN" altLang="en-US" dirty="0">
                <a:latin typeface="Times New Roman" panose="02020603050405020304" pitchFamily="18" charset="0"/>
              </a:endParaRPr>
            </a:p>
          </p:txBody>
        </p:sp>
        <p:sp>
          <p:nvSpPr>
            <p:cNvPr id="87055" name="Text Box 15"/>
            <p:cNvSpPr txBox="1">
              <a:spLocks noChangeArrowheads="1"/>
            </p:cNvSpPr>
            <p:nvPr/>
          </p:nvSpPr>
          <p:spPr bwMode="auto">
            <a:xfrm>
              <a:off x="3264" y="2784"/>
              <a:ext cx="336" cy="288"/>
            </a:xfrm>
            <a:prstGeom prst="rect">
              <a:avLst/>
            </a:prstGeom>
            <a:noFill/>
            <a:ln w="9525">
              <a:noFill/>
              <a:miter lim="800000"/>
              <a:headEnd/>
              <a:tailEnd/>
            </a:ln>
            <a:effectLst/>
          </p:spPr>
          <p:txBody>
            <a:bodyPr>
              <a:spAutoFit/>
            </a:bodyPr>
            <a:lstStyle/>
            <a:p>
              <a:pPr eaLnBrk="0" hangingPunct="0">
                <a:spcBef>
                  <a:spcPct val="50000"/>
                </a:spcBef>
              </a:pPr>
              <a:r>
                <a:rPr lang="en-US" altLang="zh-CN" sz="2400">
                  <a:latin typeface="Times New Roman" pitchFamily="18" charset="0"/>
                  <a:ea typeface="方正舒体" pitchFamily="2" charset="-122"/>
                </a:rPr>
                <a:t> </a:t>
              </a:r>
              <a:r>
                <a:rPr lang="en-US" altLang="zh-CN" b="1">
                  <a:solidFill>
                    <a:schemeClr val="accent2"/>
                  </a:solidFill>
                  <a:latin typeface="Times New Roman" pitchFamily="18" charset="0"/>
                  <a:ea typeface="方正舒体" pitchFamily="2" charset="-122"/>
                </a:rPr>
                <a:t>p</a:t>
              </a:r>
            </a:p>
          </p:txBody>
        </p:sp>
      </p:grpSp>
      <p:sp>
        <p:nvSpPr>
          <p:cNvPr id="87056" name="Line 16"/>
          <p:cNvSpPr>
            <a:spLocks noChangeShapeType="1"/>
          </p:cNvSpPr>
          <p:nvPr/>
        </p:nvSpPr>
        <p:spPr bwMode="auto">
          <a:xfrm>
            <a:off x="4038600" y="2009775"/>
            <a:ext cx="0" cy="1295400"/>
          </a:xfrm>
          <a:prstGeom prst="line">
            <a:avLst/>
          </a:prstGeom>
          <a:noFill/>
          <a:ln w="25400">
            <a:solidFill>
              <a:srgbClr val="333399"/>
            </a:solidFill>
            <a:round/>
            <a:headEnd/>
            <a:tailEnd/>
          </a:ln>
          <a:effectLst/>
        </p:spPr>
        <p:txBody>
          <a:bodyPr/>
          <a:lstStyle/>
          <a:p>
            <a:endParaRPr lang="zh-CN" altLang="en-US" dirty="0">
              <a:latin typeface="Times New Roman" panose="02020603050405020304" pitchFamily="18" charset="0"/>
            </a:endParaRPr>
          </a:p>
        </p:txBody>
      </p:sp>
      <p:sp>
        <p:nvSpPr>
          <p:cNvPr id="87057" name="Line 17"/>
          <p:cNvSpPr>
            <a:spLocks noChangeShapeType="1"/>
          </p:cNvSpPr>
          <p:nvPr/>
        </p:nvSpPr>
        <p:spPr bwMode="auto">
          <a:xfrm>
            <a:off x="4038600" y="2543175"/>
            <a:ext cx="228600" cy="228600"/>
          </a:xfrm>
          <a:prstGeom prst="line">
            <a:avLst/>
          </a:prstGeom>
          <a:noFill/>
          <a:ln w="19050">
            <a:solidFill>
              <a:schemeClr val="tx1"/>
            </a:solidFill>
            <a:round/>
            <a:headEnd/>
            <a:tailEnd/>
          </a:ln>
          <a:effectLst/>
        </p:spPr>
        <p:txBody>
          <a:bodyPr/>
          <a:lstStyle/>
          <a:p>
            <a:endParaRPr lang="zh-CN" altLang="en-US" dirty="0">
              <a:latin typeface="Times New Roman" panose="02020603050405020304" pitchFamily="18" charset="0"/>
            </a:endParaRPr>
          </a:p>
        </p:txBody>
      </p:sp>
      <p:grpSp>
        <p:nvGrpSpPr>
          <p:cNvPr id="4" name="Group 18"/>
          <p:cNvGrpSpPr>
            <a:grpSpLocks/>
          </p:cNvGrpSpPr>
          <p:nvPr/>
        </p:nvGrpSpPr>
        <p:grpSpPr bwMode="auto">
          <a:xfrm>
            <a:off x="838200" y="2619375"/>
            <a:ext cx="533400" cy="457200"/>
            <a:chOff x="3264" y="2784"/>
            <a:chExt cx="336" cy="288"/>
          </a:xfrm>
        </p:grpSpPr>
        <p:sp>
          <p:nvSpPr>
            <p:cNvPr id="87059" name="Oval 19"/>
            <p:cNvSpPr>
              <a:spLocks noChangeArrowheads="1"/>
            </p:cNvSpPr>
            <p:nvPr/>
          </p:nvSpPr>
          <p:spPr bwMode="auto">
            <a:xfrm>
              <a:off x="3312" y="2880"/>
              <a:ext cx="192" cy="192"/>
            </a:xfrm>
            <a:prstGeom prst="ellipse">
              <a:avLst/>
            </a:prstGeom>
            <a:solidFill>
              <a:srgbClr val="99CCFF"/>
            </a:solidFill>
            <a:ln w="22225">
              <a:solidFill>
                <a:schemeClr val="tx1"/>
              </a:solidFill>
              <a:round/>
              <a:headEnd/>
              <a:tailEnd/>
            </a:ln>
            <a:effectLst/>
          </p:spPr>
          <p:txBody>
            <a:bodyPr wrap="none" anchor="ctr"/>
            <a:lstStyle/>
            <a:p>
              <a:endParaRPr lang="zh-CN" altLang="en-US" dirty="0">
                <a:latin typeface="Times New Roman" panose="02020603050405020304" pitchFamily="18" charset="0"/>
              </a:endParaRPr>
            </a:p>
          </p:txBody>
        </p:sp>
        <p:sp>
          <p:nvSpPr>
            <p:cNvPr id="87060" name="Text Box 20"/>
            <p:cNvSpPr txBox="1">
              <a:spLocks noChangeArrowheads="1"/>
            </p:cNvSpPr>
            <p:nvPr/>
          </p:nvSpPr>
          <p:spPr bwMode="auto">
            <a:xfrm>
              <a:off x="3264" y="2784"/>
              <a:ext cx="336" cy="288"/>
            </a:xfrm>
            <a:prstGeom prst="rect">
              <a:avLst/>
            </a:prstGeom>
            <a:noFill/>
            <a:ln w="9525">
              <a:noFill/>
              <a:miter lim="800000"/>
              <a:headEnd/>
              <a:tailEnd/>
            </a:ln>
            <a:effectLst/>
          </p:spPr>
          <p:txBody>
            <a:bodyPr>
              <a:spAutoFit/>
            </a:bodyPr>
            <a:lstStyle/>
            <a:p>
              <a:pPr eaLnBrk="0" hangingPunct="0">
                <a:spcBef>
                  <a:spcPct val="50000"/>
                </a:spcBef>
              </a:pPr>
              <a:r>
                <a:rPr lang="en-US" altLang="zh-CN" sz="2400">
                  <a:latin typeface="Times New Roman" pitchFamily="18" charset="0"/>
                  <a:ea typeface="方正舒体" pitchFamily="2" charset="-122"/>
                </a:rPr>
                <a:t> </a:t>
              </a:r>
              <a:r>
                <a:rPr lang="en-US" altLang="zh-CN" b="1">
                  <a:solidFill>
                    <a:schemeClr val="accent2"/>
                  </a:solidFill>
                  <a:latin typeface="Times New Roman" pitchFamily="18" charset="0"/>
                  <a:ea typeface="方正舒体" pitchFamily="2" charset="-122"/>
                </a:rPr>
                <a:t>p</a:t>
              </a:r>
            </a:p>
          </p:txBody>
        </p:sp>
      </p:grpSp>
      <p:sp>
        <p:nvSpPr>
          <p:cNvPr id="87061" name="Line 21"/>
          <p:cNvSpPr>
            <a:spLocks noChangeShapeType="1"/>
          </p:cNvSpPr>
          <p:nvPr/>
        </p:nvSpPr>
        <p:spPr bwMode="auto">
          <a:xfrm>
            <a:off x="3200400" y="2009775"/>
            <a:ext cx="0" cy="1295400"/>
          </a:xfrm>
          <a:prstGeom prst="line">
            <a:avLst/>
          </a:prstGeom>
          <a:noFill/>
          <a:ln w="25400">
            <a:solidFill>
              <a:srgbClr val="333399"/>
            </a:solidFill>
            <a:round/>
            <a:headEnd/>
            <a:tailEnd/>
          </a:ln>
          <a:effectLst/>
        </p:spPr>
        <p:txBody>
          <a:bodyPr/>
          <a:lstStyle/>
          <a:p>
            <a:endParaRPr lang="zh-CN" altLang="en-US" dirty="0">
              <a:latin typeface="Times New Roman" panose="02020603050405020304" pitchFamily="18" charset="0"/>
            </a:endParaRPr>
          </a:p>
        </p:txBody>
      </p:sp>
      <p:sp>
        <p:nvSpPr>
          <p:cNvPr id="87062" name="Line 22"/>
          <p:cNvSpPr>
            <a:spLocks noChangeShapeType="1"/>
          </p:cNvSpPr>
          <p:nvPr/>
        </p:nvSpPr>
        <p:spPr bwMode="auto">
          <a:xfrm>
            <a:off x="3200400" y="2543175"/>
            <a:ext cx="228600" cy="228600"/>
          </a:xfrm>
          <a:prstGeom prst="line">
            <a:avLst/>
          </a:prstGeom>
          <a:noFill/>
          <a:ln w="19050">
            <a:solidFill>
              <a:schemeClr val="tx1"/>
            </a:solidFill>
            <a:round/>
            <a:headEnd/>
            <a:tailEnd/>
          </a:ln>
          <a:effectLst/>
        </p:spPr>
        <p:txBody>
          <a:bodyPr/>
          <a:lstStyle/>
          <a:p>
            <a:endParaRPr lang="zh-CN" altLang="en-US" dirty="0">
              <a:latin typeface="Times New Roman" panose="02020603050405020304" pitchFamily="18" charset="0"/>
            </a:endParaRPr>
          </a:p>
        </p:txBody>
      </p:sp>
      <p:sp>
        <p:nvSpPr>
          <p:cNvPr id="87063" name="Line 23"/>
          <p:cNvSpPr>
            <a:spLocks noChangeShapeType="1"/>
          </p:cNvSpPr>
          <p:nvPr/>
        </p:nvSpPr>
        <p:spPr bwMode="auto">
          <a:xfrm>
            <a:off x="3733800" y="3000375"/>
            <a:ext cx="304800" cy="304800"/>
          </a:xfrm>
          <a:prstGeom prst="line">
            <a:avLst/>
          </a:prstGeom>
          <a:noFill/>
          <a:ln w="19050">
            <a:solidFill>
              <a:schemeClr val="tx1"/>
            </a:solidFill>
            <a:round/>
            <a:headEnd/>
            <a:tailEnd/>
          </a:ln>
          <a:effectLst/>
        </p:spPr>
        <p:txBody>
          <a:bodyPr/>
          <a:lstStyle/>
          <a:p>
            <a:endParaRPr lang="zh-CN" altLang="en-US" dirty="0">
              <a:latin typeface="Times New Roman" panose="02020603050405020304" pitchFamily="18" charset="0"/>
            </a:endParaRPr>
          </a:p>
        </p:txBody>
      </p:sp>
      <p:grpSp>
        <p:nvGrpSpPr>
          <p:cNvPr id="5" name="Group 24"/>
          <p:cNvGrpSpPr>
            <a:grpSpLocks/>
          </p:cNvGrpSpPr>
          <p:nvPr/>
        </p:nvGrpSpPr>
        <p:grpSpPr bwMode="auto">
          <a:xfrm>
            <a:off x="3352800" y="2619375"/>
            <a:ext cx="533400" cy="457200"/>
            <a:chOff x="3264" y="2784"/>
            <a:chExt cx="336" cy="288"/>
          </a:xfrm>
        </p:grpSpPr>
        <p:sp>
          <p:nvSpPr>
            <p:cNvPr id="87065" name="Oval 25"/>
            <p:cNvSpPr>
              <a:spLocks noChangeArrowheads="1"/>
            </p:cNvSpPr>
            <p:nvPr/>
          </p:nvSpPr>
          <p:spPr bwMode="auto">
            <a:xfrm>
              <a:off x="3312" y="2880"/>
              <a:ext cx="192" cy="192"/>
            </a:xfrm>
            <a:prstGeom prst="ellipse">
              <a:avLst/>
            </a:prstGeom>
            <a:solidFill>
              <a:srgbClr val="99CCFF"/>
            </a:solidFill>
            <a:ln w="22225">
              <a:solidFill>
                <a:schemeClr val="tx1"/>
              </a:solidFill>
              <a:round/>
              <a:headEnd/>
              <a:tailEnd/>
            </a:ln>
            <a:effectLst/>
          </p:spPr>
          <p:txBody>
            <a:bodyPr wrap="none" anchor="ctr"/>
            <a:lstStyle/>
            <a:p>
              <a:endParaRPr lang="zh-CN" altLang="en-US" dirty="0">
                <a:latin typeface="Times New Roman" panose="02020603050405020304" pitchFamily="18" charset="0"/>
              </a:endParaRPr>
            </a:p>
          </p:txBody>
        </p:sp>
        <p:sp>
          <p:nvSpPr>
            <p:cNvPr id="87066" name="Text Box 26"/>
            <p:cNvSpPr txBox="1">
              <a:spLocks noChangeArrowheads="1"/>
            </p:cNvSpPr>
            <p:nvPr/>
          </p:nvSpPr>
          <p:spPr bwMode="auto">
            <a:xfrm>
              <a:off x="3264" y="2784"/>
              <a:ext cx="336" cy="288"/>
            </a:xfrm>
            <a:prstGeom prst="rect">
              <a:avLst/>
            </a:prstGeom>
            <a:noFill/>
            <a:ln w="9525">
              <a:noFill/>
              <a:miter lim="800000"/>
              <a:headEnd/>
              <a:tailEnd/>
            </a:ln>
            <a:effectLst/>
          </p:spPr>
          <p:txBody>
            <a:bodyPr>
              <a:spAutoFit/>
            </a:bodyPr>
            <a:lstStyle/>
            <a:p>
              <a:pPr eaLnBrk="0" hangingPunct="0">
                <a:spcBef>
                  <a:spcPct val="50000"/>
                </a:spcBef>
              </a:pPr>
              <a:r>
                <a:rPr lang="en-US" altLang="zh-CN" sz="2400">
                  <a:latin typeface="Times New Roman" pitchFamily="18" charset="0"/>
                  <a:ea typeface="方正舒体" pitchFamily="2" charset="-122"/>
                </a:rPr>
                <a:t> </a:t>
              </a:r>
              <a:r>
                <a:rPr lang="en-US" altLang="zh-CN" b="1">
                  <a:solidFill>
                    <a:schemeClr val="accent2"/>
                  </a:solidFill>
                  <a:latin typeface="Times New Roman" pitchFamily="18" charset="0"/>
                  <a:ea typeface="方正舒体" pitchFamily="2" charset="-122"/>
                </a:rPr>
                <a:t>p</a:t>
              </a:r>
            </a:p>
          </p:txBody>
        </p:sp>
      </p:grpSp>
      <p:sp>
        <p:nvSpPr>
          <p:cNvPr id="87067" name="Line 27"/>
          <p:cNvSpPr>
            <a:spLocks noChangeShapeType="1"/>
          </p:cNvSpPr>
          <p:nvPr/>
        </p:nvSpPr>
        <p:spPr bwMode="auto">
          <a:xfrm flipH="1" flipV="1">
            <a:off x="1219200" y="3000375"/>
            <a:ext cx="304800" cy="304800"/>
          </a:xfrm>
          <a:prstGeom prst="line">
            <a:avLst/>
          </a:prstGeom>
          <a:noFill/>
          <a:ln w="19050">
            <a:solidFill>
              <a:schemeClr val="tx1"/>
            </a:solidFill>
            <a:round/>
            <a:headEnd/>
            <a:tailEnd/>
          </a:ln>
          <a:effectLst/>
        </p:spPr>
        <p:txBody>
          <a:bodyPr/>
          <a:lstStyle/>
          <a:p>
            <a:endParaRPr lang="zh-CN" altLang="en-US" dirty="0">
              <a:latin typeface="Times New Roman" panose="02020603050405020304" pitchFamily="18" charset="0"/>
            </a:endParaRPr>
          </a:p>
        </p:txBody>
      </p:sp>
      <p:sp>
        <p:nvSpPr>
          <p:cNvPr id="87068" name="Text Box 28"/>
          <p:cNvSpPr txBox="1">
            <a:spLocks noChangeArrowheads="1"/>
          </p:cNvSpPr>
          <p:nvPr/>
        </p:nvSpPr>
        <p:spPr bwMode="auto">
          <a:xfrm>
            <a:off x="7696200" y="2771775"/>
            <a:ext cx="609600" cy="366713"/>
          </a:xfrm>
          <a:prstGeom prst="rect">
            <a:avLst/>
          </a:prstGeom>
          <a:noFill/>
          <a:ln w="9525">
            <a:noFill/>
            <a:miter lim="800000"/>
            <a:headEnd/>
            <a:tailEnd/>
          </a:ln>
          <a:effectLst/>
        </p:spPr>
        <p:txBody>
          <a:bodyPr>
            <a:spAutoFit/>
          </a:bodyPr>
          <a:lstStyle/>
          <a:p>
            <a:pPr eaLnBrk="0" hangingPunct="0">
              <a:spcBef>
                <a:spcPct val="50000"/>
              </a:spcBef>
            </a:pPr>
            <a:r>
              <a:rPr lang="en-US" altLang="zh-CN" b="1">
                <a:solidFill>
                  <a:srgbClr val="320BF5"/>
                </a:solidFill>
                <a:latin typeface="Times New Roman" pitchFamily="18" charset="0"/>
                <a:ea typeface="方正舒体" pitchFamily="2" charset="-122"/>
              </a:rPr>
              <a:t>OH</a:t>
            </a:r>
          </a:p>
        </p:txBody>
      </p:sp>
      <p:sp>
        <p:nvSpPr>
          <p:cNvPr id="87069" name="Text Box 29"/>
          <p:cNvSpPr txBox="1">
            <a:spLocks noChangeArrowheads="1"/>
          </p:cNvSpPr>
          <p:nvPr/>
        </p:nvSpPr>
        <p:spPr bwMode="auto">
          <a:xfrm>
            <a:off x="1295400" y="1628775"/>
            <a:ext cx="533400" cy="457200"/>
          </a:xfrm>
          <a:prstGeom prst="rect">
            <a:avLst/>
          </a:prstGeom>
          <a:noFill/>
          <a:ln w="9525">
            <a:noFill/>
            <a:miter lim="800000"/>
            <a:headEnd/>
            <a:tailEnd/>
          </a:ln>
          <a:effectLst/>
        </p:spPr>
        <p:txBody>
          <a:bodyPr>
            <a:spAutoFit/>
          </a:bodyPr>
          <a:lstStyle/>
          <a:p>
            <a:pPr eaLnBrk="0" hangingPunct="0">
              <a:spcBef>
                <a:spcPct val="50000"/>
              </a:spcBef>
            </a:pPr>
            <a:r>
              <a:rPr lang="en-US" altLang="zh-CN" sz="2400" b="1">
                <a:solidFill>
                  <a:srgbClr val="E50D31"/>
                </a:solidFill>
                <a:latin typeface="Times New Roman" pitchFamily="18" charset="0"/>
                <a:ea typeface="方正舒体" pitchFamily="2" charset="-122"/>
              </a:rPr>
              <a:t>B</a:t>
            </a:r>
          </a:p>
        </p:txBody>
      </p:sp>
      <p:grpSp>
        <p:nvGrpSpPr>
          <p:cNvPr id="6" name="Group 30"/>
          <p:cNvGrpSpPr>
            <a:grpSpLocks/>
          </p:cNvGrpSpPr>
          <p:nvPr/>
        </p:nvGrpSpPr>
        <p:grpSpPr bwMode="auto">
          <a:xfrm>
            <a:off x="4572000" y="2009775"/>
            <a:ext cx="1143000" cy="1295400"/>
            <a:chOff x="3072" y="768"/>
            <a:chExt cx="720" cy="816"/>
          </a:xfrm>
        </p:grpSpPr>
        <p:sp>
          <p:nvSpPr>
            <p:cNvPr id="87071" name="Line 31"/>
            <p:cNvSpPr>
              <a:spLocks noChangeShapeType="1"/>
            </p:cNvSpPr>
            <p:nvPr/>
          </p:nvSpPr>
          <p:spPr bwMode="auto">
            <a:xfrm>
              <a:off x="3264" y="768"/>
              <a:ext cx="0" cy="816"/>
            </a:xfrm>
            <a:prstGeom prst="line">
              <a:avLst/>
            </a:prstGeom>
            <a:noFill/>
            <a:ln w="25400">
              <a:solidFill>
                <a:srgbClr val="333399"/>
              </a:solidFill>
              <a:round/>
              <a:headEnd/>
              <a:tailEnd/>
            </a:ln>
            <a:effectLst/>
          </p:spPr>
          <p:txBody>
            <a:bodyPr/>
            <a:lstStyle/>
            <a:p>
              <a:endParaRPr lang="zh-CN" altLang="en-US" dirty="0">
                <a:latin typeface="Times New Roman" panose="02020603050405020304" pitchFamily="18" charset="0"/>
              </a:endParaRPr>
            </a:p>
          </p:txBody>
        </p:sp>
        <p:sp>
          <p:nvSpPr>
            <p:cNvPr id="87072" name="Text Box 32"/>
            <p:cNvSpPr txBox="1">
              <a:spLocks noChangeArrowheads="1"/>
            </p:cNvSpPr>
            <p:nvPr/>
          </p:nvSpPr>
          <p:spPr bwMode="auto">
            <a:xfrm>
              <a:off x="3072" y="1008"/>
              <a:ext cx="240" cy="192"/>
            </a:xfrm>
            <a:prstGeom prst="rect">
              <a:avLst/>
            </a:prstGeom>
            <a:noFill/>
            <a:ln w="9525">
              <a:noFill/>
              <a:miter lim="800000"/>
              <a:headEnd/>
              <a:tailEnd/>
            </a:ln>
            <a:effectLst/>
          </p:spPr>
          <p:txBody>
            <a:bodyPr>
              <a:spAutoFit/>
            </a:bodyPr>
            <a:lstStyle/>
            <a:p>
              <a:pPr eaLnBrk="0" hangingPunct="0">
                <a:spcBef>
                  <a:spcPct val="50000"/>
                </a:spcBef>
              </a:pPr>
              <a:endParaRPr lang="zh-CN" altLang="zh-CN" sz="1400" b="1">
                <a:solidFill>
                  <a:schemeClr val="accent2"/>
                </a:solidFill>
                <a:latin typeface="Times New Roman" pitchFamily="18" charset="0"/>
                <a:cs typeface="Times New Roman" pitchFamily="18" charset="0"/>
              </a:endParaRPr>
            </a:p>
          </p:txBody>
        </p:sp>
        <p:sp>
          <p:nvSpPr>
            <p:cNvPr id="87073" name="Line 33"/>
            <p:cNvSpPr>
              <a:spLocks noChangeShapeType="1"/>
            </p:cNvSpPr>
            <p:nvPr/>
          </p:nvSpPr>
          <p:spPr bwMode="auto">
            <a:xfrm>
              <a:off x="3264" y="1104"/>
              <a:ext cx="144" cy="144"/>
            </a:xfrm>
            <a:prstGeom prst="line">
              <a:avLst/>
            </a:prstGeom>
            <a:noFill/>
            <a:ln w="19050">
              <a:solidFill>
                <a:schemeClr val="tx1"/>
              </a:solidFill>
              <a:round/>
              <a:headEnd/>
              <a:tailEnd/>
            </a:ln>
            <a:effectLst/>
          </p:spPr>
          <p:txBody>
            <a:bodyPr/>
            <a:lstStyle/>
            <a:p>
              <a:endParaRPr lang="zh-CN" altLang="en-US" dirty="0">
                <a:latin typeface="Times New Roman" panose="02020603050405020304" pitchFamily="18" charset="0"/>
              </a:endParaRPr>
            </a:p>
          </p:txBody>
        </p:sp>
        <p:sp>
          <p:nvSpPr>
            <p:cNvPr id="87074" name="Line 34"/>
            <p:cNvSpPr>
              <a:spLocks noChangeShapeType="1"/>
            </p:cNvSpPr>
            <p:nvPr/>
          </p:nvSpPr>
          <p:spPr bwMode="auto">
            <a:xfrm>
              <a:off x="3600" y="1392"/>
              <a:ext cx="192" cy="192"/>
            </a:xfrm>
            <a:prstGeom prst="line">
              <a:avLst/>
            </a:prstGeom>
            <a:noFill/>
            <a:ln w="19050">
              <a:solidFill>
                <a:schemeClr val="tx1"/>
              </a:solidFill>
              <a:round/>
              <a:headEnd/>
              <a:tailEnd/>
            </a:ln>
            <a:effectLst/>
          </p:spPr>
          <p:txBody>
            <a:bodyPr/>
            <a:lstStyle/>
            <a:p>
              <a:endParaRPr lang="zh-CN" altLang="en-US" dirty="0">
                <a:latin typeface="Times New Roman" panose="02020603050405020304" pitchFamily="18" charset="0"/>
              </a:endParaRPr>
            </a:p>
          </p:txBody>
        </p:sp>
        <p:grpSp>
          <p:nvGrpSpPr>
            <p:cNvPr id="7" name="Group 35"/>
            <p:cNvGrpSpPr>
              <a:grpSpLocks/>
            </p:cNvGrpSpPr>
            <p:nvPr/>
          </p:nvGrpSpPr>
          <p:grpSpPr bwMode="auto">
            <a:xfrm>
              <a:off x="3360" y="1152"/>
              <a:ext cx="336" cy="288"/>
              <a:chOff x="3264" y="2784"/>
              <a:chExt cx="336" cy="288"/>
            </a:xfrm>
          </p:grpSpPr>
          <p:sp>
            <p:nvSpPr>
              <p:cNvPr id="87076" name="Oval 36"/>
              <p:cNvSpPr>
                <a:spLocks noChangeArrowheads="1"/>
              </p:cNvSpPr>
              <p:nvPr/>
            </p:nvSpPr>
            <p:spPr bwMode="auto">
              <a:xfrm>
                <a:off x="3312" y="2880"/>
                <a:ext cx="192" cy="192"/>
              </a:xfrm>
              <a:prstGeom prst="ellipse">
                <a:avLst/>
              </a:prstGeom>
              <a:solidFill>
                <a:srgbClr val="99CCFF"/>
              </a:solidFill>
              <a:ln w="22225">
                <a:solidFill>
                  <a:schemeClr val="tx1"/>
                </a:solidFill>
                <a:round/>
                <a:headEnd/>
                <a:tailEnd/>
              </a:ln>
              <a:effectLst/>
            </p:spPr>
            <p:txBody>
              <a:bodyPr wrap="none" anchor="ctr"/>
              <a:lstStyle/>
              <a:p>
                <a:endParaRPr lang="zh-CN" altLang="en-US" dirty="0">
                  <a:latin typeface="Times New Roman" panose="02020603050405020304" pitchFamily="18" charset="0"/>
                </a:endParaRPr>
              </a:p>
            </p:txBody>
          </p:sp>
          <p:sp>
            <p:nvSpPr>
              <p:cNvPr id="87077" name="Text Box 37"/>
              <p:cNvSpPr txBox="1">
                <a:spLocks noChangeArrowheads="1"/>
              </p:cNvSpPr>
              <p:nvPr/>
            </p:nvSpPr>
            <p:spPr bwMode="auto">
              <a:xfrm>
                <a:off x="3264" y="2784"/>
                <a:ext cx="336" cy="288"/>
              </a:xfrm>
              <a:prstGeom prst="rect">
                <a:avLst/>
              </a:prstGeom>
              <a:noFill/>
              <a:ln w="9525">
                <a:noFill/>
                <a:miter lim="800000"/>
                <a:headEnd/>
                <a:tailEnd/>
              </a:ln>
              <a:effectLst/>
            </p:spPr>
            <p:txBody>
              <a:bodyPr>
                <a:spAutoFit/>
              </a:bodyPr>
              <a:lstStyle/>
              <a:p>
                <a:pPr eaLnBrk="0" hangingPunct="0">
                  <a:spcBef>
                    <a:spcPct val="50000"/>
                  </a:spcBef>
                </a:pPr>
                <a:r>
                  <a:rPr lang="en-US" altLang="zh-CN" sz="2400">
                    <a:latin typeface="Times New Roman" pitchFamily="18" charset="0"/>
                    <a:ea typeface="方正舒体" pitchFamily="2" charset="-122"/>
                  </a:rPr>
                  <a:t> </a:t>
                </a:r>
                <a:r>
                  <a:rPr lang="en-US" altLang="zh-CN" b="1">
                    <a:solidFill>
                      <a:schemeClr val="accent2"/>
                    </a:solidFill>
                    <a:latin typeface="Times New Roman" pitchFamily="18" charset="0"/>
                    <a:ea typeface="方正舒体" pitchFamily="2" charset="-122"/>
                  </a:rPr>
                  <a:t>p</a:t>
                </a:r>
              </a:p>
            </p:txBody>
          </p:sp>
        </p:grpSp>
      </p:grpSp>
      <p:sp>
        <p:nvSpPr>
          <p:cNvPr id="87078" name="Line 38"/>
          <p:cNvSpPr>
            <a:spLocks noChangeShapeType="1"/>
          </p:cNvSpPr>
          <p:nvPr/>
        </p:nvSpPr>
        <p:spPr bwMode="auto">
          <a:xfrm>
            <a:off x="5715000" y="2009775"/>
            <a:ext cx="0" cy="1295400"/>
          </a:xfrm>
          <a:prstGeom prst="line">
            <a:avLst/>
          </a:prstGeom>
          <a:noFill/>
          <a:ln w="25400">
            <a:solidFill>
              <a:srgbClr val="333399"/>
            </a:solidFill>
            <a:round/>
            <a:headEnd/>
            <a:tailEnd/>
          </a:ln>
          <a:effectLst/>
        </p:spPr>
        <p:txBody>
          <a:bodyPr/>
          <a:lstStyle/>
          <a:p>
            <a:endParaRPr lang="zh-CN" altLang="en-US" dirty="0">
              <a:latin typeface="Times New Roman" panose="02020603050405020304" pitchFamily="18" charset="0"/>
            </a:endParaRPr>
          </a:p>
        </p:txBody>
      </p:sp>
      <p:sp>
        <p:nvSpPr>
          <p:cNvPr id="87079" name="Line 39"/>
          <p:cNvSpPr>
            <a:spLocks noChangeShapeType="1"/>
          </p:cNvSpPr>
          <p:nvPr/>
        </p:nvSpPr>
        <p:spPr bwMode="auto">
          <a:xfrm>
            <a:off x="5715000" y="2543175"/>
            <a:ext cx="228600" cy="228600"/>
          </a:xfrm>
          <a:prstGeom prst="line">
            <a:avLst/>
          </a:prstGeom>
          <a:noFill/>
          <a:ln w="19050">
            <a:solidFill>
              <a:schemeClr val="tx1"/>
            </a:solidFill>
            <a:round/>
            <a:headEnd/>
            <a:tailEnd/>
          </a:ln>
          <a:effectLst/>
        </p:spPr>
        <p:txBody>
          <a:bodyPr/>
          <a:lstStyle/>
          <a:p>
            <a:endParaRPr lang="zh-CN" altLang="en-US" dirty="0">
              <a:latin typeface="Times New Roman" panose="02020603050405020304" pitchFamily="18" charset="0"/>
            </a:endParaRPr>
          </a:p>
        </p:txBody>
      </p:sp>
      <p:sp>
        <p:nvSpPr>
          <p:cNvPr id="87080" name="Line 40"/>
          <p:cNvSpPr>
            <a:spLocks noChangeShapeType="1"/>
          </p:cNvSpPr>
          <p:nvPr/>
        </p:nvSpPr>
        <p:spPr bwMode="auto">
          <a:xfrm>
            <a:off x="6248400" y="3000375"/>
            <a:ext cx="304800" cy="304800"/>
          </a:xfrm>
          <a:prstGeom prst="line">
            <a:avLst/>
          </a:prstGeom>
          <a:noFill/>
          <a:ln w="19050">
            <a:solidFill>
              <a:schemeClr val="tx1"/>
            </a:solidFill>
            <a:round/>
            <a:headEnd/>
            <a:tailEnd/>
          </a:ln>
          <a:effectLst/>
        </p:spPr>
        <p:txBody>
          <a:bodyPr/>
          <a:lstStyle/>
          <a:p>
            <a:endParaRPr lang="zh-CN" altLang="en-US" dirty="0">
              <a:latin typeface="Times New Roman" panose="02020603050405020304" pitchFamily="18" charset="0"/>
            </a:endParaRPr>
          </a:p>
        </p:txBody>
      </p:sp>
      <p:grpSp>
        <p:nvGrpSpPr>
          <p:cNvPr id="8" name="Group 41"/>
          <p:cNvGrpSpPr>
            <a:grpSpLocks/>
          </p:cNvGrpSpPr>
          <p:nvPr/>
        </p:nvGrpSpPr>
        <p:grpSpPr bwMode="auto">
          <a:xfrm>
            <a:off x="5867400" y="2619375"/>
            <a:ext cx="533400" cy="457200"/>
            <a:chOff x="3264" y="2784"/>
            <a:chExt cx="336" cy="288"/>
          </a:xfrm>
        </p:grpSpPr>
        <p:sp>
          <p:nvSpPr>
            <p:cNvPr id="87082" name="Oval 42"/>
            <p:cNvSpPr>
              <a:spLocks noChangeArrowheads="1"/>
            </p:cNvSpPr>
            <p:nvPr/>
          </p:nvSpPr>
          <p:spPr bwMode="auto">
            <a:xfrm>
              <a:off x="3312" y="2880"/>
              <a:ext cx="192" cy="192"/>
            </a:xfrm>
            <a:prstGeom prst="ellipse">
              <a:avLst/>
            </a:prstGeom>
            <a:solidFill>
              <a:srgbClr val="99CCFF"/>
            </a:solidFill>
            <a:ln w="22225">
              <a:solidFill>
                <a:schemeClr val="tx1"/>
              </a:solidFill>
              <a:round/>
              <a:headEnd/>
              <a:tailEnd/>
            </a:ln>
            <a:effectLst/>
          </p:spPr>
          <p:txBody>
            <a:bodyPr wrap="none" anchor="ctr"/>
            <a:lstStyle/>
            <a:p>
              <a:endParaRPr lang="zh-CN" altLang="en-US" dirty="0">
                <a:latin typeface="Times New Roman" panose="02020603050405020304" pitchFamily="18" charset="0"/>
              </a:endParaRPr>
            </a:p>
          </p:txBody>
        </p:sp>
        <p:sp>
          <p:nvSpPr>
            <p:cNvPr id="87083" name="Text Box 43"/>
            <p:cNvSpPr txBox="1">
              <a:spLocks noChangeArrowheads="1"/>
            </p:cNvSpPr>
            <p:nvPr/>
          </p:nvSpPr>
          <p:spPr bwMode="auto">
            <a:xfrm>
              <a:off x="3264" y="2784"/>
              <a:ext cx="336" cy="288"/>
            </a:xfrm>
            <a:prstGeom prst="rect">
              <a:avLst/>
            </a:prstGeom>
            <a:noFill/>
            <a:ln w="9525">
              <a:noFill/>
              <a:miter lim="800000"/>
              <a:headEnd/>
              <a:tailEnd/>
            </a:ln>
            <a:effectLst/>
          </p:spPr>
          <p:txBody>
            <a:bodyPr>
              <a:spAutoFit/>
            </a:bodyPr>
            <a:lstStyle/>
            <a:p>
              <a:pPr eaLnBrk="0" hangingPunct="0">
                <a:spcBef>
                  <a:spcPct val="50000"/>
                </a:spcBef>
              </a:pPr>
              <a:r>
                <a:rPr lang="en-US" altLang="zh-CN" sz="2400">
                  <a:latin typeface="Times New Roman" pitchFamily="18" charset="0"/>
                  <a:ea typeface="方正舒体" pitchFamily="2" charset="-122"/>
                </a:rPr>
                <a:t> </a:t>
              </a:r>
              <a:r>
                <a:rPr lang="en-US" altLang="zh-CN" b="1">
                  <a:solidFill>
                    <a:schemeClr val="accent2"/>
                  </a:solidFill>
                  <a:latin typeface="Times New Roman" pitchFamily="18" charset="0"/>
                  <a:ea typeface="方正舒体" pitchFamily="2" charset="-122"/>
                </a:rPr>
                <a:t>p</a:t>
              </a:r>
            </a:p>
          </p:txBody>
        </p:sp>
      </p:grpSp>
      <p:sp>
        <p:nvSpPr>
          <p:cNvPr id="87084" name="Line 44"/>
          <p:cNvSpPr>
            <a:spLocks noChangeShapeType="1"/>
          </p:cNvSpPr>
          <p:nvPr/>
        </p:nvSpPr>
        <p:spPr bwMode="auto">
          <a:xfrm>
            <a:off x="7391400" y="2009775"/>
            <a:ext cx="0" cy="1295400"/>
          </a:xfrm>
          <a:prstGeom prst="line">
            <a:avLst/>
          </a:prstGeom>
          <a:noFill/>
          <a:ln w="25400">
            <a:solidFill>
              <a:srgbClr val="333399"/>
            </a:solidFill>
            <a:round/>
            <a:headEnd/>
            <a:tailEnd/>
          </a:ln>
          <a:effectLst/>
        </p:spPr>
        <p:txBody>
          <a:bodyPr/>
          <a:lstStyle/>
          <a:p>
            <a:endParaRPr lang="zh-CN" altLang="en-US" dirty="0">
              <a:latin typeface="Times New Roman" panose="02020603050405020304" pitchFamily="18" charset="0"/>
            </a:endParaRPr>
          </a:p>
        </p:txBody>
      </p:sp>
      <p:sp>
        <p:nvSpPr>
          <p:cNvPr id="87085" name="Line 45"/>
          <p:cNvSpPr>
            <a:spLocks noChangeShapeType="1"/>
          </p:cNvSpPr>
          <p:nvPr/>
        </p:nvSpPr>
        <p:spPr bwMode="auto">
          <a:xfrm>
            <a:off x="7391400" y="2543175"/>
            <a:ext cx="228600" cy="228600"/>
          </a:xfrm>
          <a:prstGeom prst="line">
            <a:avLst/>
          </a:prstGeom>
          <a:noFill/>
          <a:ln w="19050">
            <a:solidFill>
              <a:schemeClr val="tx1"/>
            </a:solidFill>
            <a:round/>
            <a:headEnd/>
            <a:tailEnd/>
          </a:ln>
          <a:effectLst/>
        </p:spPr>
        <p:txBody>
          <a:bodyPr/>
          <a:lstStyle/>
          <a:p>
            <a:endParaRPr lang="zh-CN" altLang="en-US" dirty="0">
              <a:latin typeface="Times New Roman" panose="02020603050405020304" pitchFamily="18" charset="0"/>
            </a:endParaRPr>
          </a:p>
        </p:txBody>
      </p:sp>
      <p:sp>
        <p:nvSpPr>
          <p:cNvPr id="87086" name="Line 46"/>
          <p:cNvSpPr>
            <a:spLocks noChangeShapeType="1"/>
          </p:cNvSpPr>
          <p:nvPr/>
        </p:nvSpPr>
        <p:spPr bwMode="auto">
          <a:xfrm>
            <a:off x="6553200" y="2009775"/>
            <a:ext cx="0" cy="1295400"/>
          </a:xfrm>
          <a:prstGeom prst="line">
            <a:avLst/>
          </a:prstGeom>
          <a:noFill/>
          <a:ln w="25400">
            <a:solidFill>
              <a:srgbClr val="333399"/>
            </a:solidFill>
            <a:round/>
            <a:headEnd/>
            <a:tailEnd/>
          </a:ln>
          <a:effectLst/>
        </p:spPr>
        <p:txBody>
          <a:bodyPr/>
          <a:lstStyle/>
          <a:p>
            <a:endParaRPr lang="zh-CN" altLang="en-US" dirty="0">
              <a:latin typeface="Times New Roman" panose="02020603050405020304" pitchFamily="18" charset="0"/>
            </a:endParaRPr>
          </a:p>
        </p:txBody>
      </p:sp>
      <p:sp>
        <p:nvSpPr>
          <p:cNvPr id="87087" name="Line 47"/>
          <p:cNvSpPr>
            <a:spLocks noChangeShapeType="1"/>
          </p:cNvSpPr>
          <p:nvPr/>
        </p:nvSpPr>
        <p:spPr bwMode="auto">
          <a:xfrm>
            <a:off x="6553200" y="2543175"/>
            <a:ext cx="228600" cy="228600"/>
          </a:xfrm>
          <a:prstGeom prst="line">
            <a:avLst/>
          </a:prstGeom>
          <a:noFill/>
          <a:ln w="19050">
            <a:solidFill>
              <a:schemeClr val="tx1"/>
            </a:solidFill>
            <a:round/>
            <a:headEnd/>
            <a:tailEnd/>
          </a:ln>
          <a:effectLst/>
        </p:spPr>
        <p:txBody>
          <a:bodyPr/>
          <a:lstStyle/>
          <a:p>
            <a:endParaRPr lang="zh-CN" altLang="en-US" dirty="0">
              <a:latin typeface="Times New Roman" panose="02020603050405020304" pitchFamily="18" charset="0"/>
            </a:endParaRPr>
          </a:p>
        </p:txBody>
      </p:sp>
      <p:sp>
        <p:nvSpPr>
          <p:cNvPr id="87088" name="Line 48"/>
          <p:cNvSpPr>
            <a:spLocks noChangeShapeType="1"/>
          </p:cNvSpPr>
          <p:nvPr/>
        </p:nvSpPr>
        <p:spPr bwMode="auto">
          <a:xfrm>
            <a:off x="7086600" y="3000375"/>
            <a:ext cx="304800" cy="304800"/>
          </a:xfrm>
          <a:prstGeom prst="line">
            <a:avLst/>
          </a:prstGeom>
          <a:noFill/>
          <a:ln w="19050">
            <a:solidFill>
              <a:schemeClr val="tx1"/>
            </a:solidFill>
            <a:round/>
            <a:headEnd/>
            <a:tailEnd/>
          </a:ln>
          <a:effectLst/>
        </p:spPr>
        <p:txBody>
          <a:bodyPr/>
          <a:lstStyle/>
          <a:p>
            <a:endParaRPr lang="zh-CN" altLang="en-US" dirty="0">
              <a:latin typeface="Times New Roman" panose="02020603050405020304" pitchFamily="18" charset="0"/>
            </a:endParaRPr>
          </a:p>
        </p:txBody>
      </p:sp>
      <p:grpSp>
        <p:nvGrpSpPr>
          <p:cNvPr id="9" name="Group 49"/>
          <p:cNvGrpSpPr>
            <a:grpSpLocks/>
          </p:cNvGrpSpPr>
          <p:nvPr/>
        </p:nvGrpSpPr>
        <p:grpSpPr bwMode="auto">
          <a:xfrm>
            <a:off x="6705600" y="2619375"/>
            <a:ext cx="533400" cy="457200"/>
            <a:chOff x="3264" y="2784"/>
            <a:chExt cx="336" cy="288"/>
          </a:xfrm>
        </p:grpSpPr>
        <p:sp>
          <p:nvSpPr>
            <p:cNvPr id="87090" name="Oval 50"/>
            <p:cNvSpPr>
              <a:spLocks noChangeArrowheads="1"/>
            </p:cNvSpPr>
            <p:nvPr/>
          </p:nvSpPr>
          <p:spPr bwMode="auto">
            <a:xfrm>
              <a:off x="3312" y="2880"/>
              <a:ext cx="192" cy="192"/>
            </a:xfrm>
            <a:prstGeom prst="ellipse">
              <a:avLst/>
            </a:prstGeom>
            <a:solidFill>
              <a:srgbClr val="99CCFF"/>
            </a:solidFill>
            <a:ln w="22225">
              <a:solidFill>
                <a:schemeClr val="tx1"/>
              </a:solidFill>
              <a:round/>
              <a:headEnd/>
              <a:tailEnd/>
            </a:ln>
            <a:effectLst/>
          </p:spPr>
          <p:txBody>
            <a:bodyPr wrap="none" anchor="ctr"/>
            <a:lstStyle/>
            <a:p>
              <a:endParaRPr lang="zh-CN" altLang="en-US" dirty="0">
                <a:latin typeface="Times New Roman" panose="02020603050405020304" pitchFamily="18" charset="0"/>
              </a:endParaRPr>
            </a:p>
          </p:txBody>
        </p:sp>
        <p:sp>
          <p:nvSpPr>
            <p:cNvPr id="87091" name="Text Box 51"/>
            <p:cNvSpPr txBox="1">
              <a:spLocks noChangeArrowheads="1"/>
            </p:cNvSpPr>
            <p:nvPr/>
          </p:nvSpPr>
          <p:spPr bwMode="auto">
            <a:xfrm>
              <a:off x="3264" y="2784"/>
              <a:ext cx="336" cy="288"/>
            </a:xfrm>
            <a:prstGeom prst="rect">
              <a:avLst/>
            </a:prstGeom>
            <a:noFill/>
            <a:ln w="9525">
              <a:noFill/>
              <a:miter lim="800000"/>
              <a:headEnd/>
              <a:tailEnd/>
            </a:ln>
            <a:effectLst/>
          </p:spPr>
          <p:txBody>
            <a:bodyPr>
              <a:spAutoFit/>
            </a:bodyPr>
            <a:lstStyle/>
            <a:p>
              <a:pPr eaLnBrk="0" hangingPunct="0">
                <a:spcBef>
                  <a:spcPct val="50000"/>
                </a:spcBef>
              </a:pPr>
              <a:r>
                <a:rPr lang="en-US" altLang="zh-CN" sz="2400">
                  <a:latin typeface="Times New Roman" pitchFamily="18" charset="0"/>
                  <a:ea typeface="方正舒体" pitchFamily="2" charset="-122"/>
                </a:rPr>
                <a:t> </a:t>
              </a:r>
              <a:r>
                <a:rPr lang="en-US" altLang="zh-CN" b="1">
                  <a:solidFill>
                    <a:schemeClr val="accent2"/>
                  </a:solidFill>
                  <a:latin typeface="Times New Roman" pitchFamily="18" charset="0"/>
                  <a:ea typeface="方正舒体" pitchFamily="2" charset="-122"/>
                </a:rPr>
                <a:t>p</a:t>
              </a:r>
            </a:p>
          </p:txBody>
        </p:sp>
      </p:grpSp>
      <p:sp>
        <p:nvSpPr>
          <p:cNvPr id="87092" name="Line 52"/>
          <p:cNvSpPr>
            <a:spLocks noChangeShapeType="1"/>
          </p:cNvSpPr>
          <p:nvPr/>
        </p:nvSpPr>
        <p:spPr bwMode="auto">
          <a:xfrm flipH="1" flipV="1">
            <a:off x="4495800" y="2924175"/>
            <a:ext cx="381000" cy="381000"/>
          </a:xfrm>
          <a:prstGeom prst="line">
            <a:avLst/>
          </a:prstGeom>
          <a:noFill/>
          <a:ln w="19050">
            <a:solidFill>
              <a:schemeClr val="tx1"/>
            </a:solidFill>
            <a:round/>
            <a:headEnd/>
            <a:tailEnd/>
          </a:ln>
          <a:effectLst/>
        </p:spPr>
        <p:txBody>
          <a:bodyPr/>
          <a:lstStyle/>
          <a:p>
            <a:endParaRPr lang="zh-CN" altLang="en-US" dirty="0">
              <a:latin typeface="Times New Roman" panose="02020603050405020304" pitchFamily="18" charset="0"/>
            </a:endParaRPr>
          </a:p>
        </p:txBody>
      </p:sp>
      <p:grpSp>
        <p:nvGrpSpPr>
          <p:cNvPr id="10" name="Group 53"/>
          <p:cNvGrpSpPr>
            <a:grpSpLocks/>
          </p:cNvGrpSpPr>
          <p:nvPr/>
        </p:nvGrpSpPr>
        <p:grpSpPr bwMode="auto">
          <a:xfrm>
            <a:off x="4191000" y="2543175"/>
            <a:ext cx="533400" cy="457200"/>
            <a:chOff x="3264" y="2784"/>
            <a:chExt cx="336" cy="288"/>
          </a:xfrm>
        </p:grpSpPr>
        <p:sp>
          <p:nvSpPr>
            <p:cNvPr id="87094" name="Oval 54"/>
            <p:cNvSpPr>
              <a:spLocks noChangeArrowheads="1"/>
            </p:cNvSpPr>
            <p:nvPr/>
          </p:nvSpPr>
          <p:spPr bwMode="auto">
            <a:xfrm>
              <a:off x="3312" y="2880"/>
              <a:ext cx="192" cy="192"/>
            </a:xfrm>
            <a:prstGeom prst="ellipse">
              <a:avLst/>
            </a:prstGeom>
            <a:solidFill>
              <a:srgbClr val="99CCFF"/>
            </a:solidFill>
            <a:ln w="22225">
              <a:solidFill>
                <a:schemeClr val="tx1"/>
              </a:solidFill>
              <a:round/>
              <a:headEnd/>
              <a:tailEnd/>
            </a:ln>
            <a:effectLst/>
          </p:spPr>
          <p:txBody>
            <a:bodyPr wrap="none" anchor="ctr"/>
            <a:lstStyle/>
            <a:p>
              <a:endParaRPr lang="zh-CN" altLang="en-US" dirty="0">
                <a:latin typeface="Times New Roman" panose="02020603050405020304" pitchFamily="18" charset="0"/>
              </a:endParaRPr>
            </a:p>
          </p:txBody>
        </p:sp>
        <p:sp>
          <p:nvSpPr>
            <p:cNvPr id="87095" name="Text Box 55"/>
            <p:cNvSpPr txBox="1">
              <a:spLocks noChangeArrowheads="1"/>
            </p:cNvSpPr>
            <p:nvPr/>
          </p:nvSpPr>
          <p:spPr bwMode="auto">
            <a:xfrm>
              <a:off x="3264" y="2784"/>
              <a:ext cx="336" cy="288"/>
            </a:xfrm>
            <a:prstGeom prst="rect">
              <a:avLst/>
            </a:prstGeom>
            <a:noFill/>
            <a:ln w="9525">
              <a:noFill/>
              <a:miter lim="800000"/>
              <a:headEnd/>
              <a:tailEnd/>
            </a:ln>
            <a:effectLst/>
          </p:spPr>
          <p:txBody>
            <a:bodyPr>
              <a:spAutoFit/>
            </a:bodyPr>
            <a:lstStyle/>
            <a:p>
              <a:pPr eaLnBrk="0" hangingPunct="0">
                <a:spcBef>
                  <a:spcPct val="50000"/>
                </a:spcBef>
              </a:pPr>
              <a:r>
                <a:rPr lang="en-US" altLang="zh-CN" sz="2400">
                  <a:latin typeface="Times New Roman" pitchFamily="18" charset="0"/>
                  <a:ea typeface="方正舒体" pitchFamily="2" charset="-122"/>
                </a:rPr>
                <a:t> </a:t>
              </a:r>
              <a:r>
                <a:rPr lang="en-US" altLang="zh-CN" b="1">
                  <a:solidFill>
                    <a:schemeClr val="accent2"/>
                  </a:solidFill>
                  <a:latin typeface="Times New Roman" pitchFamily="18" charset="0"/>
                  <a:ea typeface="方正舒体" pitchFamily="2" charset="-122"/>
                </a:rPr>
                <a:t>p</a:t>
              </a:r>
            </a:p>
          </p:txBody>
        </p:sp>
      </p:grpSp>
      <p:sp>
        <p:nvSpPr>
          <p:cNvPr id="87096" name="Text Box 56"/>
          <p:cNvSpPr txBox="1">
            <a:spLocks noChangeArrowheads="1"/>
          </p:cNvSpPr>
          <p:nvPr/>
        </p:nvSpPr>
        <p:spPr bwMode="auto">
          <a:xfrm>
            <a:off x="8229600" y="2771775"/>
            <a:ext cx="457200" cy="396875"/>
          </a:xfrm>
          <a:prstGeom prst="rect">
            <a:avLst/>
          </a:prstGeom>
          <a:noFill/>
          <a:ln w="9525">
            <a:noFill/>
            <a:miter lim="800000"/>
            <a:headEnd/>
            <a:tailEnd/>
          </a:ln>
          <a:effectLst/>
        </p:spPr>
        <p:txBody>
          <a:bodyPr>
            <a:spAutoFit/>
          </a:bodyPr>
          <a:lstStyle/>
          <a:p>
            <a:pPr eaLnBrk="0" hangingPunct="0">
              <a:spcBef>
                <a:spcPct val="50000"/>
              </a:spcBef>
            </a:pPr>
            <a:r>
              <a:rPr lang="en-US" altLang="zh-CN" sz="2000" b="1">
                <a:solidFill>
                  <a:srgbClr val="CC0000"/>
                </a:solidFill>
                <a:latin typeface="Times New Roman" pitchFamily="18" charset="0"/>
                <a:cs typeface="Times New Roman" pitchFamily="18" charset="0"/>
              </a:rPr>
              <a:t>3´</a:t>
            </a:r>
            <a:endParaRPr lang="en-US" altLang="zh-CN" sz="1600" b="1">
              <a:latin typeface="Times New Roman" pitchFamily="18" charset="0"/>
              <a:cs typeface="Times New Roman" pitchFamily="18" charset="0"/>
            </a:endParaRPr>
          </a:p>
        </p:txBody>
      </p:sp>
      <p:sp>
        <p:nvSpPr>
          <p:cNvPr id="87097" name="Text Box 57"/>
          <p:cNvSpPr txBox="1">
            <a:spLocks noChangeArrowheads="1"/>
          </p:cNvSpPr>
          <p:nvPr/>
        </p:nvSpPr>
        <p:spPr bwMode="auto">
          <a:xfrm>
            <a:off x="2133600" y="1628775"/>
            <a:ext cx="533400" cy="457200"/>
          </a:xfrm>
          <a:prstGeom prst="rect">
            <a:avLst/>
          </a:prstGeom>
          <a:noFill/>
          <a:ln w="9525">
            <a:noFill/>
            <a:miter lim="800000"/>
            <a:headEnd/>
            <a:tailEnd/>
          </a:ln>
          <a:effectLst/>
        </p:spPr>
        <p:txBody>
          <a:bodyPr>
            <a:spAutoFit/>
          </a:bodyPr>
          <a:lstStyle/>
          <a:p>
            <a:pPr eaLnBrk="0" hangingPunct="0">
              <a:spcBef>
                <a:spcPct val="50000"/>
              </a:spcBef>
            </a:pPr>
            <a:r>
              <a:rPr lang="en-US" altLang="zh-CN" sz="2400" b="1">
                <a:solidFill>
                  <a:srgbClr val="E50D31"/>
                </a:solidFill>
                <a:latin typeface="Times New Roman" pitchFamily="18" charset="0"/>
                <a:ea typeface="方正舒体" pitchFamily="2" charset="-122"/>
              </a:rPr>
              <a:t>B</a:t>
            </a:r>
          </a:p>
        </p:txBody>
      </p:sp>
      <p:sp>
        <p:nvSpPr>
          <p:cNvPr id="87098" name="Text Box 58"/>
          <p:cNvSpPr txBox="1">
            <a:spLocks noChangeArrowheads="1"/>
          </p:cNvSpPr>
          <p:nvPr/>
        </p:nvSpPr>
        <p:spPr bwMode="auto">
          <a:xfrm>
            <a:off x="2971800" y="1628775"/>
            <a:ext cx="533400" cy="457200"/>
          </a:xfrm>
          <a:prstGeom prst="rect">
            <a:avLst/>
          </a:prstGeom>
          <a:noFill/>
          <a:ln w="9525">
            <a:noFill/>
            <a:miter lim="800000"/>
            <a:headEnd/>
            <a:tailEnd/>
          </a:ln>
          <a:effectLst/>
        </p:spPr>
        <p:txBody>
          <a:bodyPr>
            <a:spAutoFit/>
          </a:bodyPr>
          <a:lstStyle/>
          <a:p>
            <a:pPr eaLnBrk="0" hangingPunct="0">
              <a:spcBef>
                <a:spcPct val="50000"/>
              </a:spcBef>
            </a:pPr>
            <a:r>
              <a:rPr lang="en-US" altLang="zh-CN" sz="2400" b="1">
                <a:solidFill>
                  <a:srgbClr val="E50D31"/>
                </a:solidFill>
                <a:latin typeface="Times New Roman" pitchFamily="18" charset="0"/>
                <a:ea typeface="方正舒体" pitchFamily="2" charset="-122"/>
              </a:rPr>
              <a:t>B</a:t>
            </a:r>
          </a:p>
        </p:txBody>
      </p:sp>
      <p:sp>
        <p:nvSpPr>
          <p:cNvPr id="87099" name="Text Box 59"/>
          <p:cNvSpPr txBox="1">
            <a:spLocks noChangeArrowheads="1"/>
          </p:cNvSpPr>
          <p:nvPr/>
        </p:nvSpPr>
        <p:spPr bwMode="auto">
          <a:xfrm>
            <a:off x="3810000" y="1628775"/>
            <a:ext cx="533400" cy="457200"/>
          </a:xfrm>
          <a:prstGeom prst="rect">
            <a:avLst/>
          </a:prstGeom>
          <a:noFill/>
          <a:ln w="9525">
            <a:noFill/>
            <a:miter lim="800000"/>
            <a:headEnd/>
            <a:tailEnd/>
          </a:ln>
          <a:effectLst/>
        </p:spPr>
        <p:txBody>
          <a:bodyPr>
            <a:spAutoFit/>
          </a:bodyPr>
          <a:lstStyle/>
          <a:p>
            <a:pPr eaLnBrk="0" hangingPunct="0">
              <a:spcBef>
                <a:spcPct val="50000"/>
              </a:spcBef>
            </a:pPr>
            <a:r>
              <a:rPr lang="en-US" altLang="zh-CN" sz="2400" b="1">
                <a:solidFill>
                  <a:srgbClr val="E50D31"/>
                </a:solidFill>
                <a:latin typeface="Times New Roman" pitchFamily="18" charset="0"/>
                <a:ea typeface="方正舒体" pitchFamily="2" charset="-122"/>
              </a:rPr>
              <a:t>B</a:t>
            </a:r>
          </a:p>
        </p:txBody>
      </p:sp>
      <p:sp>
        <p:nvSpPr>
          <p:cNvPr id="87100" name="Text Box 60"/>
          <p:cNvSpPr txBox="1">
            <a:spLocks noChangeArrowheads="1"/>
          </p:cNvSpPr>
          <p:nvPr/>
        </p:nvSpPr>
        <p:spPr bwMode="auto">
          <a:xfrm>
            <a:off x="4648200" y="1628775"/>
            <a:ext cx="533400" cy="457200"/>
          </a:xfrm>
          <a:prstGeom prst="rect">
            <a:avLst/>
          </a:prstGeom>
          <a:noFill/>
          <a:ln w="9525">
            <a:noFill/>
            <a:miter lim="800000"/>
            <a:headEnd/>
            <a:tailEnd/>
          </a:ln>
          <a:effectLst/>
        </p:spPr>
        <p:txBody>
          <a:bodyPr>
            <a:spAutoFit/>
          </a:bodyPr>
          <a:lstStyle/>
          <a:p>
            <a:pPr eaLnBrk="0" hangingPunct="0">
              <a:spcBef>
                <a:spcPct val="50000"/>
              </a:spcBef>
            </a:pPr>
            <a:r>
              <a:rPr lang="en-US" altLang="zh-CN" sz="2400" b="1">
                <a:solidFill>
                  <a:srgbClr val="E50D31"/>
                </a:solidFill>
                <a:latin typeface="Times New Roman" pitchFamily="18" charset="0"/>
                <a:ea typeface="方正舒体" pitchFamily="2" charset="-122"/>
              </a:rPr>
              <a:t>B</a:t>
            </a:r>
          </a:p>
        </p:txBody>
      </p:sp>
      <p:sp>
        <p:nvSpPr>
          <p:cNvPr id="87101" name="Text Box 61"/>
          <p:cNvSpPr txBox="1">
            <a:spLocks noChangeArrowheads="1"/>
          </p:cNvSpPr>
          <p:nvPr/>
        </p:nvSpPr>
        <p:spPr bwMode="auto">
          <a:xfrm>
            <a:off x="5486400" y="1628775"/>
            <a:ext cx="533400" cy="457200"/>
          </a:xfrm>
          <a:prstGeom prst="rect">
            <a:avLst/>
          </a:prstGeom>
          <a:noFill/>
          <a:ln w="9525">
            <a:noFill/>
            <a:miter lim="800000"/>
            <a:headEnd/>
            <a:tailEnd/>
          </a:ln>
          <a:effectLst/>
        </p:spPr>
        <p:txBody>
          <a:bodyPr>
            <a:spAutoFit/>
          </a:bodyPr>
          <a:lstStyle/>
          <a:p>
            <a:pPr eaLnBrk="0" hangingPunct="0">
              <a:spcBef>
                <a:spcPct val="50000"/>
              </a:spcBef>
            </a:pPr>
            <a:r>
              <a:rPr lang="en-US" altLang="zh-CN" sz="2400" b="1">
                <a:solidFill>
                  <a:srgbClr val="E50D31"/>
                </a:solidFill>
                <a:latin typeface="Times New Roman" pitchFamily="18" charset="0"/>
                <a:ea typeface="方正舒体" pitchFamily="2" charset="-122"/>
              </a:rPr>
              <a:t>B</a:t>
            </a:r>
          </a:p>
        </p:txBody>
      </p:sp>
      <p:sp>
        <p:nvSpPr>
          <p:cNvPr id="87102" name="Text Box 62"/>
          <p:cNvSpPr txBox="1">
            <a:spLocks noChangeArrowheads="1"/>
          </p:cNvSpPr>
          <p:nvPr/>
        </p:nvSpPr>
        <p:spPr bwMode="auto">
          <a:xfrm>
            <a:off x="6324600" y="1628775"/>
            <a:ext cx="533400" cy="457200"/>
          </a:xfrm>
          <a:prstGeom prst="rect">
            <a:avLst/>
          </a:prstGeom>
          <a:noFill/>
          <a:ln w="9525">
            <a:noFill/>
            <a:miter lim="800000"/>
            <a:headEnd/>
            <a:tailEnd/>
          </a:ln>
          <a:effectLst/>
        </p:spPr>
        <p:txBody>
          <a:bodyPr>
            <a:spAutoFit/>
          </a:bodyPr>
          <a:lstStyle/>
          <a:p>
            <a:pPr eaLnBrk="0" hangingPunct="0">
              <a:spcBef>
                <a:spcPct val="50000"/>
              </a:spcBef>
            </a:pPr>
            <a:r>
              <a:rPr lang="en-US" altLang="zh-CN" sz="2400" b="1">
                <a:solidFill>
                  <a:srgbClr val="E50D31"/>
                </a:solidFill>
                <a:latin typeface="Times New Roman" pitchFamily="18" charset="0"/>
                <a:ea typeface="方正舒体" pitchFamily="2" charset="-122"/>
              </a:rPr>
              <a:t>B</a:t>
            </a:r>
          </a:p>
        </p:txBody>
      </p:sp>
      <p:sp>
        <p:nvSpPr>
          <p:cNvPr id="87103" name="Text Box 63"/>
          <p:cNvSpPr txBox="1">
            <a:spLocks noChangeArrowheads="1"/>
          </p:cNvSpPr>
          <p:nvPr/>
        </p:nvSpPr>
        <p:spPr bwMode="auto">
          <a:xfrm>
            <a:off x="7162800" y="1628775"/>
            <a:ext cx="533400" cy="457200"/>
          </a:xfrm>
          <a:prstGeom prst="rect">
            <a:avLst/>
          </a:prstGeom>
          <a:noFill/>
          <a:ln w="9525">
            <a:noFill/>
            <a:miter lim="800000"/>
            <a:headEnd/>
            <a:tailEnd/>
          </a:ln>
          <a:effectLst/>
        </p:spPr>
        <p:txBody>
          <a:bodyPr>
            <a:spAutoFit/>
          </a:bodyPr>
          <a:lstStyle/>
          <a:p>
            <a:pPr eaLnBrk="0" hangingPunct="0">
              <a:spcBef>
                <a:spcPct val="50000"/>
              </a:spcBef>
            </a:pPr>
            <a:r>
              <a:rPr lang="en-US" altLang="zh-CN" sz="2400" b="1">
                <a:solidFill>
                  <a:srgbClr val="E50D31"/>
                </a:solidFill>
                <a:latin typeface="Times New Roman" pitchFamily="18" charset="0"/>
                <a:ea typeface="方正舒体" pitchFamily="2" charset="-122"/>
              </a:rPr>
              <a:t>B</a:t>
            </a:r>
          </a:p>
        </p:txBody>
      </p:sp>
      <p:sp>
        <p:nvSpPr>
          <p:cNvPr id="87104" name="Text Box 64"/>
          <p:cNvSpPr txBox="1">
            <a:spLocks noChangeArrowheads="1"/>
          </p:cNvSpPr>
          <p:nvPr/>
        </p:nvSpPr>
        <p:spPr bwMode="auto">
          <a:xfrm>
            <a:off x="1066800" y="4143375"/>
            <a:ext cx="2362200" cy="741363"/>
          </a:xfrm>
          <a:prstGeom prst="rect">
            <a:avLst/>
          </a:prstGeom>
          <a:solidFill>
            <a:srgbClr val="FFFFCC"/>
          </a:solidFill>
          <a:ln w="9525">
            <a:solidFill>
              <a:srgbClr val="FFFFCC"/>
            </a:solidFill>
            <a:miter lim="800000"/>
            <a:headEnd/>
            <a:tailEnd/>
          </a:ln>
          <a:effectLst/>
        </p:spPr>
        <p:txBody>
          <a:bodyPr>
            <a:spAutoFit/>
          </a:bodyPr>
          <a:lstStyle/>
          <a:p>
            <a:pPr eaLnBrk="0" hangingPunct="0">
              <a:spcBef>
                <a:spcPct val="50000"/>
              </a:spcBef>
            </a:pPr>
            <a:r>
              <a:rPr kumimoji="1" lang="zh-CN" altLang="en-US" sz="2400" b="1">
                <a:solidFill>
                  <a:schemeClr val="accent2"/>
                </a:solidFill>
                <a:effectLst>
                  <a:outerShdw blurRad="38100" dist="38100" dir="2700000" algn="tl">
                    <a:srgbClr val="000000"/>
                  </a:outerShdw>
                </a:effectLst>
                <a:latin typeface="楷体_GB2312" pitchFamily="49" charset="-122"/>
                <a:ea typeface="楷体_GB2312" pitchFamily="49" charset="-122"/>
              </a:rPr>
              <a:t>牛脾磷酸二酯酶</a:t>
            </a:r>
            <a:r>
              <a:rPr kumimoji="1" lang="zh-CN" altLang="en-US" b="1">
                <a:solidFill>
                  <a:schemeClr val="accent2"/>
                </a:solidFill>
                <a:effectLst>
                  <a:outerShdw blurRad="38100" dist="38100" dir="2700000" algn="tl">
                    <a:srgbClr val="000000"/>
                  </a:outerShdw>
                </a:effectLst>
                <a:latin typeface="楷体_GB2312" pitchFamily="49" charset="-122"/>
                <a:ea typeface="楷体_GB2312" pitchFamily="49" charset="-122"/>
              </a:rPr>
              <a:t>（ </a:t>
            </a:r>
            <a:r>
              <a:rPr lang="en-US" altLang="zh-CN" b="1">
                <a:solidFill>
                  <a:srgbClr val="CC0000"/>
                </a:solidFill>
                <a:effectLst>
                  <a:outerShdw blurRad="38100" dist="38100" dir="2700000" algn="tl">
                    <a:srgbClr val="000000"/>
                  </a:outerShdw>
                </a:effectLst>
                <a:latin typeface="楷体_GB2312" pitchFamily="49" charset="-122"/>
                <a:ea typeface="楷体_GB2312" pitchFamily="49" charset="-122"/>
              </a:rPr>
              <a:t>5´</a:t>
            </a:r>
            <a:r>
              <a:rPr kumimoji="1" lang="zh-CN" altLang="en-US" b="1">
                <a:solidFill>
                  <a:schemeClr val="accent2"/>
                </a:solidFill>
                <a:effectLst>
                  <a:outerShdw blurRad="38100" dist="38100" dir="2700000" algn="tl">
                    <a:srgbClr val="000000"/>
                  </a:outerShdw>
                </a:effectLst>
                <a:latin typeface="楷体_GB2312" pitchFamily="49" charset="-122"/>
                <a:ea typeface="楷体_GB2312" pitchFamily="49" charset="-122"/>
              </a:rPr>
              <a:t>端外切</a:t>
            </a:r>
            <a:r>
              <a:rPr kumimoji="1" lang="en-US" altLang="zh-CN" b="1">
                <a:solidFill>
                  <a:srgbClr val="CC0000"/>
                </a:solidFill>
                <a:effectLst>
                  <a:outerShdw blurRad="38100" dist="38100" dir="2700000" algn="tl">
                    <a:srgbClr val="000000"/>
                  </a:outerShdw>
                </a:effectLst>
                <a:latin typeface="楷体_GB2312" pitchFamily="49" charset="-122"/>
                <a:ea typeface="楷体_GB2312" pitchFamily="49" charset="-122"/>
              </a:rPr>
              <a:t>5  3</a:t>
            </a:r>
            <a:r>
              <a:rPr kumimoji="1" lang="zh-CN" altLang="en-US" b="1">
                <a:solidFill>
                  <a:schemeClr val="accent2"/>
                </a:solidFill>
                <a:effectLst>
                  <a:outerShdw blurRad="38100" dist="38100" dir="2700000" algn="tl">
                    <a:srgbClr val="000000"/>
                  </a:outerShdw>
                </a:effectLst>
                <a:latin typeface="楷体_GB2312" pitchFamily="49" charset="-122"/>
                <a:ea typeface="楷体_GB2312" pitchFamily="49" charset="-122"/>
              </a:rPr>
              <a:t>）</a:t>
            </a:r>
          </a:p>
        </p:txBody>
      </p:sp>
      <p:sp>
        <p:nvSpPr>
          <p:cNvPr id="87105" name="Text Box 65"/>
          <p:cNvSpPr txBox="1">
            <a:spLocks noChangeArrowheads="1"/>
          </p:cNvSpPr>
          <p:nvPr/>
        </p:nvSpPr>
        <p:spPr bwMode="auto">
          <a:xfrm>
            <a:off x="5715000" y="4143375"/>
            <a:ext cx="2438400" cy="741363"/>
          </a:xfrm>
          <a:prstGeom prst="rect">
            <a:avLst/>
          </a:prstGeom>
          <a:solidFill>
            <a:srgbClr val="FFFFCC"/>
          </a:solidFill>
          <a:ln w="9525">
            <a:solidFill>
              <a:srgbClr val="FF00FF"/>
            </a:solidFill>
            <a:miter lim="800000"/>
            <a:headEnd/>
            <a:tailEnd/>
          </a:ln>
          <a:effectLst/>
        </p:spPr>
        <p:txBody>
          <a:bodyPr>
            <a:spAutoFit/>
          </a:bodyPr>
          <a:lstStyle/>
          <a:p>
            <a:pPr eaLnBrk="0" hangingPunct="0">
              <a:spcBef>
                <a:spcPct val="50000"/>
              </a:spcBef>
            </a:pPr>
            <a:r>
              <a:rPr kumimoji="1" lang="zh-CN" altLang="en-US" sz="2400" b="1">
                <a:solidFill>
                  <a:schemeClr val="accent2"/>
                </a:solidFill>
                <a:effectLst>
                  <a:outerShdw blurRad="38100" dist="38100" dir="2700000" algn="tl">
                    <a:srgbClr val="000000"/>
                  </a:outerShdw>
                </a:effectLst>
                <a:latin typeface="楷体_GB2312" pitchFamily="49" charset="-122"/>
                <a:ea typeface="楷体_GB2312" pitchFamily="49" charset="-122"/>
              </a:rPr>
              <a:t>蛇毒磷酸二酯酶</a:t>
            </a:r>
            <a:r>
              <a:rPr kumimoji="1" lang="zh-CN" altLang="en-US" b="1">
                <a:solidFill>
                  <a:schemeClr val="accent2"/>
                </a:solidFill>
                <a:effectLst>
                  <a:outerShdw blurRad="38100" dist="38100" dir="2700000" algn="tl">
                    <a:srgbClr val="000000"/>
                  </a:outerShdw>
                </a:effectLst>
                <a:latin typeface="楷体_GB2312" pitchFamily="49" charset="-122"/>
                <a:ea typeface="楷体_GB2312" pitchFamily="49" charset="-122"/>
              </a:rPr>
              <a:t>（ </a:t>
            </a:r>
            <a:r>
              <a:rPr lang="en-US" altLang="zh-CN" b="1">
                <a:solidFill>
                  <a:srgbClr val="CC0000"/>
                </a:solidFill>
                <a:effectLst>
                  <a:outerShdw blurRad="38100" dist="38100" dir="2700000" algn="tl">
                    <a:srgbClr val="000000"/>
                  </a:outerShdw>
                </a:effectLst>
                <a:latin typeface="楷体_GB2312" pitchFamily="49" charset="-122"/>
                <a:ea typeface="楷体_GB2312" pitchFamily="49" charset="-122"/>
              </a:rPr>
              <a:t>3´</a:t>
            </a:r>
            <a:r>
              <a:rPr kumimoji="1" lang="zh-CN" altLang="en-US" b="1">
                <a:solidFill>
                  <a:schemeClr val="accent2"/>
                </a:solidFill>
                <a:effectLst>
                  <a:outerShdw blurRad="38100" dist="38100" dir="2700000" algn="tl">
                    <a:srgbClr val="000000"/>
                  </a:outerShdw>
                </a:effectLst>
                <a:latin typeface="楷体_GB2312" pitchFamily="49" charset="-122"/>
                <a:ea typeface="楷体_GB2312" pitchFamily="49" charset="-122"/>
              </a:rPr>
              <a:t>端外切</a:t>
            </a:r>
            <a:r>
              <a:rPr kumimoji="1" lang="en-US" altLang="zh-CN" b="1">
                <a:solidFill>
                  <a:srgbClr val="CC0000"/>
                </a:solidFill>
                <a:effectLst>
                  <a:outerShdw blurRad="38100" dist="38100" dir="2700000" algn="tl">
                    <a:srgbClr val="000000"/>
                  </a:outerShdw>
                </a:effectLst>
                <a:latin typeface="楷体_GB2312" pitchFamily="49" charset="-122"/>
                <a:ea typeface="楷体_GB2312" pitchFamily="49" charset="-122"/>
              </a:rPr>
              <a:t>3</a:t>
            </a:r>
            <a:r>
              <a:rPr kumimoji="1" lang="en-US" altLang="zh-CN" b="1">
                <a:solidFill>
                  <a:schemeClr val="accent2"/>
                </a:solidFill>
                <a:effectLst>
                  <a:outerShdw blurRad="38100" dist="38100" dir="2700000" algn="tl">
                    <a:srgbClr val="000000"/>
                  </a:outerShdw>
                </a:effectLst>
                <a:latin typeface="楷体_GB2312" pitchFamily="49" charset="-122"/>
                <a:ea typeface="楷体_GB2312" pitchFamily="49" charset="-122"/>
              </a:rPr>
              <a:t>  </a:t>
            </a:r>
            <a:r>
              <a:rPr kumimoji="1" lang="en-US" altLang="zh-CN" b="1">
                <a:solidFill>
                  <a:srgbClr val="CC0000"/>
                </a:solidFill>
                <a:effectLst>
                  <a:outerShdw blurRad="38100" dist="38100" dir="2700000" algn="tl">
                    <a:srgbClr val="000000"/>
                  </a:outerShdw>
                </a:effectLst>
                <a:latin typeface="楷体_GB2312" pitchFamily="49" charset="-122"/>
                <a:ea typeface="楷体_GB2312" pitchFamily="49" charset="-122"/>
              </a:rPr>
              <a:t>5</a:t>
            </a:r>
            <a:r>
              <a:rPr kumimoji="1" lang="zh-CN" altLang="en-US" b="1">
                <a:solidFill>
                  <a:schemeClr val="accent2"/>
                </a:solidFill>
                <a:effectLst>
                  <a:outerShdw blurRad="38100" dist="38100" dir="2700000" algn="tl">
                    <a:srgbClr val="000000"/>
                  </a:outerShdw>
                </a:effectLst>
                <a:latin typeface="楷体_GB2312" pitchFamily="49" charset="-122"/>
                <a:ea typeface="楷体_GB2312" pitchFamily="49" charset="-122"/>
              </a:rPr>
              <a:t>）</a:t>
            </a:r>
          </a:p>
        </p:txBody>
      </p:sp>
      <p:sp>
        <p:nvSpPr>
          <p:cNvPr id="87106" name="Line 66"/>
          <p:cNvSpPr>
            <a:spLocks noChangeShapeType="1"/>
          </p:cNvSpPr>
          <p:nvPr/>
        </p:nvSpPr>
        <p:spPr bwMode="auto">
          <a:xfrm flipV="1">
            <a:off x="2133600" y="3228975"/>
            <a:ext cx="0" cy="838200"/>
          </a:xfrm>
          <a:prstGeom prst="line">
            <a:avLst/>
          </a:prstGeom>
          <a:noFill/>
          <a:ln w="28575">
            <a:solidFill>
              <a:schemeClr val="tx1"/>
            </a:solidFill>
            <a:round/>
            <a:headEnd/>
            <a:tailEnd type="triangle" w="med" len="med"/>
          </a:ln>
          <a:effectLst/>
        </p:spPr>
        <p:txBody>
          <a:bodyPr/>
          <a:lstStyle/>
          <a:p>
            <a:endParaRPr lang="zh-CN" altLang="en-US" dirty="0">
              <a:latin typeface="Times New Roman" panose="02020603050405020304" pitchFamily="18" charset="0"/>
            </a:endParaRPr>
          </a:p>
        </p:txBody>
      </p:sp>
      <p:sp>
        <p:nvSpPr>
          <p:cNvPr id="87107" name="Line 67"/>
          <p:cNvSpPr>
            <a:spLocks noChangeShapeType="1"/>
          </p:cNvSpPr>
          <p:nvPr/>
        </p:nvSpPr>
        <p:spPr bwMode="auto">
          <a:xfrm flipV="1">
            <a:off x="6705600" y="3228975"/>
            <a:ext cx="0" cy="838200"/>
          </a:xfrm>
          <a:prstGeom prst="line">
            <a:avLst/>
          </a:prstGeom>
          <a:noFill/>
          <a:ln w="28575">
            <a:solidFill>
              <a:schemeClr val="tx1"/>
            </a:solidFill>
            <a:round/>
            <a:headEnd/>
            <a:tailEnd type="triangle" w="med" len="med"/>
          </a:ln>
          <a:effectLst/>
        </p:spPr>
        <p:txBody>
          <a:bodyPr/>
          <a:lstStyle/>
          <a:p>
            <a:endParaRPr lang="zh-CN" altLang="en-US" dirty="0">
              <a:latin typeface="Times New Roman" panose="02020603050405020304" pitchFamily="18" charset="0"/>
            </a:endParaRPr>
          </a:p>
        </p:txBody>
      </p:sp>
      <p:sp>
        <p:nvSpPr>
          <p:cNvPr id="87108" name="Line 68"/>
          <p:cNvSpPr>
            <a:spLocks noChangeShapeType="1"/>
          </p:cNvSpPr>
          <p:nvPr/>
        </p:nvSpPr>
        <p:spPr bwMode="auto">
          <a:xfrm>
            <a:off x="7235825" y="4724400"/>
            <a:ext cx="144463" cy="0"/>
          </a:xfrm>
          <a:prstGeom prst="line">
            <a:avLst/>
          </a:prstGeom>
          <a:noFill/>
          <a:ln w="9525">
            <a:solidFill>
              <a:schemeClr val="tx1"/>
            </a:solidFill>
            <a:round/>
            <a:headEnd/>
            <a:tailEnd type="triangle" w="med" len="med"/>
          </a:ln>
          <a:effectLst/>
        </p:spPr>
        <p:txBody>
          <a:bodyPr/>
          <a:lstStyle/>
          <a:p>
            <a:endParaRPr lang="zh-CN" altLang="en-US" dirty="0">
              <a:latin typeface="Times New Roman" panose="02020603050405020304" pitchFamily="18" charset="0"/>
            </a:endParaRPr>
          </a:p>
        </p:txBody>
      </p:sp>
      <p:sp>
        <p:nvSpPr>
          <p:cNvPr id="87109" name="Line 69"/>
          <p:cNvSpPr>
            <a:spLocks noChangeShapeType="1"/>
          </p:cNvSpPr>
          <p:nvPr/>
        </p:nvSpPr>
        <p:spPr bwMode="auto">
          <a:xfrm>
            <a:off x="2601913" y="4711700"/>
            <a:ext cx="144462" cy="0"/>
          </a:xfrm>
          <a:prstGeom prst="line">
            <a:avLst/>
          </a:prstGeom>
          <a:noFill/>
          <a:ln w="9525">
            <a:solidFill>
              <a:schemeClr val="tx1"/>
            </a:solidFill>
            <a:round/>
            <a:headEnd/>
            <a:tailEnd type="triangle" w="med" len="med"/>
          </a:ln>
          <a:effectLst/>
        </p:spPr>
        <p:txBody>
          <a:bodyPr/>
          <a:lstStyle/>
          <a:p>
            <a:endParaRPr lang="zh-CN" altLang="en-US" dirty="0">
              <a:latin typeface="Times New Roman" panose="02020603050405020304" pitchFamily="18" charset="0"/>
            </a:endParaRPr>
          </a:p>
        </p:txBody>
      </p:sp>
      <p:sp>
        <p:nvSpPr>
          <p:cNvPr id="87110" name="Text Box 70"/>
          <p:cNvSpPr txBox="1">
            <a:spLocks noChangeArrowheads="1"/>
          </p:cNvSpPr>
          <p:nvPr/>
        </p:nvSpPr>
        <p:spPr bwMode="auto">
          <a:xfrm>
            <a:off x="1908175" y="5373688"/>
            <a:ext cx="5400675" cy="457200"/>
          </a:xfrm>
          <a:prstGeom prst="rect">
            <a:avLst/>
          </a:prstGeom>
          <a:solidFill>
            <a:srgbClr val="FFFFCC"/>
          </a:solidFill>
          <a:ln w="9525">
            <a:noFill/>
            <a:miter lim="800000"/>
            <a:headEnd/>
            <a:tailEnd/>
          </a:ln>
          <a:effectLst/>
        </p:spPr>
        <p:txBody>
          <a:bodyPr>
            <a:spAutoFit/>
          </a:bodyPr>
          <a:lstStyle/>
          <a:p>
            <a:pPr>
              <a:spcBef>
                <a:spcPct val="50000"/>
              </a:spcBef>
            </a:pPr>
            <a:r>
              <a:rPr lang="zh-CN" altLang="en-US" sz="2400" b="1" dirty="0">
                <a:solidFill>
                  <a:srgbClr val="990000"/>
                </a:solidFill>
                <a:effectLst>
                  <a:outerShdw blurRad="38100" dist="38100" dir="2700000" algn="tl">
                    <a:srgbClr val="000000"/>
                  </a:outerShdw>
                </a:effectLst>
                <a:latin typeface="Times New Roman" panose="02020603050405020304" pitchFamily="18" charset="0"/>
              </a:rPr>
              <a:t>非特异性核酸酶，作用于</a:t>
            </a:r>
            <a:r>
              <a:rPr lang="en-US" altLang="zh-CN" sz="2400" b="1" dirty="0">
                <a:solidFill>
                  <a:srgbClr val="990000"/>
                </a:solidFill>
                <a:effectLst>
                  <a:outerShdw blurRad="38100" dist="38100" dir="2700000" algn="tl">
                    <a:srgbClr val="000000"/>
                  </a:outerShdw>
                </a:effectLst>
                <a:latin typeface="Times New Roman" panose="02020603050405020304" pitchFamily="18" charset="0"/>
              </a:rPr>
              <a:t>DNA</a:t>
            </a:r>
            <a:r>
              <a:rPr lang="zh-CN" altLang="en-US" sz="2400" b="1" dirty="0">
                <a:solidFill>
                  <a:srgbClr val="990000"/>
                </a:solidFill>
                <a:effectLst>
                  <a:outerShdw blurRad="38100" dist="38100" dir="2700000" algn="tl">
                    <a:srgbClr val="000000"/>
                  </a:outerShdw>
                </a:effectLst>
                <a:latin typeface="Times New Roman" panose="02020603050405020304" pitchFamily="18" charset="0"/>
              </a:rPr>
              <a:t>、</a:t>
            </a:r>
            <a:r>
              <a:rPr lang="en-US" altLang="zh-CN" sz="2400" b="1" dirty="0">
                <a:solidFill>
                  <a:srgbClr val="990000"/>
                </a:solidFill>
                <a:effectLst>
                  <a:outerShdw blurRad="38100" dist="38100" dir="2700000" algn="tl">
                    <a:srgbClr val="000000"/>
                  </a:outerShdw>
                </a:effectLst>
                <a:latin typeface="Times New Roman" panose="02020603050405020304" pitchFamily="18" charset="0"/>
              </a:rPr>
              <a:t>RNA</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7107"/>
                                        </p:tgtEl>
                                        <p:attrNameLst>
                                          <p:attrName>style.visibility</p:attrName>
                                        </p:attrNameLst>
                                      </p:cBhvr>
                                      <p:to>
                                        <p:strVal val="visible"/>
                                      </p:to>
                                    </p:set>
                                    <p:animEffect transition="in" filter="fade">
                                      <p:cBhvr>
                                        <p:cTn id="7" dur="1000"/>
                                        <p:tgtEl>
                                          <p:spTgt spid="87107"/>
                                        </p:tgtEl>
                                      </p:cBhvr>
                                    </p:animEffect>
                                    <p:anim calcmode="lin" valueType="num">
                                      <p:cBhvr>
                                        <p:cTn id="8" dur="1000" fill="hold"/>
                                        <p:tgtEl>
                                          <p:spTgt spid="87107"/>
                                        </p:tgtEl>
                                        <p:attrNameLst>
                                          <p:attrName>ppt_x</p:attrName>
                                        </p:attrNameLst>
                                      </p:cBhvr>
                                      <p:tavLst>
                                        <p:tav tm="0">
                                          <p:val>
                                            <p:strVal val="#ppt_x"/>
                                          </p:val>
                                        </p:tav>
                                        <p:tav tm="100000">
                                          <p:val>
                                            <p:strVal val="#ppt_x"/>
                                          </p:val>
                                        </p:tav>
                                      </p:tavLst>
                                    </p:anim>
                                    <p:anim calcmode="lin" valueType="num">
                                      <p:cBhvr>
                                        <p:cTn id="9" dur="1000" fill="hold"/>
                                        <p:tgtEl>
                                          <p:spTgt spid="8710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7105"/>
                                        </p:tgtEl>
                                        <p:attrNameLst>
                                          <p:attrName>style.visibility</p:attrName>
                                        </p:attrNameLst>
                                      </p:cBhvr>
                                      <p:to>
                                        <p:strVal val="visible"/>
                                      </p:to>
                                    </p:set>
                                    <p:animEffect transition="in" filter="fade">
                                      <p:cBhvr>
                                        <p:cTn id="12" dur="1000"/>
                                        <p:tgtEl>
                                          <p:spTgt spid="87105"/>
                                        </p:tgtEl>
                                      </p:cBhvr>
                                    </p:animEffect>
                                    <p:anim calcmode="lin" valueType="num">
                                      <p:cBhvr>
                                        <p:cTn id="13" dur="1000" fill="hold"/>
                                        <p:tgtEl>
                                          <p:spTgt spid="87105"/>
                                        </p:tgtEl>
                                        <p:attrNameLst>
                                          <p:attrName>ppt_x</p:attrName>
                                        </p:attrNameLst>
                                      </p:cBhvr>
                                      <p:tavLst>
                                        <p:tav tm="0">
                                          <p:val>
                                            <p:strVal val="#ppt_x"/>
                                          </p:val>
                                        </p:tav>
                                        <p:tav tm="100000">
                                          <p:val>
                                            <p:strVal val="#ppt_x"/>
                                          </p:val>
                                        </p:tav>
                                      </p:tavLst>
                                    </p:anim>
                                    <p:anim calcmode="lin" valueType="num">
                                      <p:cBhvr>
                                        <p:cTn id="14" dur="1000" fill="hold"/>
                                        <p:tgtEl>
                                          <p:spTgt spid="8710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87106"/>
                                        </p:tgtEl>
                                        <p:attrNameLst>
                                          <p:attrName>style.visibility</p:attrName>
                                        </p:attrNameLst>
                                      </p:cBhvr>
                                      <p:to>
                                        <p:strVal val="visible"/>
                                      </p:to>
                                    </p:set>
                                    <p:animEffect transition="in" filter="fade">
                                      <p:cBhvr>
                                        <p:cTn id="19" dur="1000"/>
                                        <p:tgtEl>
                                          <p:spTgt spid="87106"/>
                                        </p:tgtEl>
                                      </p:cBhvr>
                                    </p:animEffect>
                                    <p:anim calcmode="lin" valueType="num">
                                      <p:cBhvr>
                                        <p:cTn id="20" dur="1000" fill="hold"/>
                                        <p:tgtEl>
                                          <p:spTgt spid="87106"/>
                                        </p:tgtEl>
                                        <p:attrNameLst>
                                          <p:attrName>ppt_x</p:attrName>
                                        </p:attrNameLst>
                                      </p:cBhvr>
                                      <p:tavLst>
                                        <p:tav tm="0">
                                          <p:val>
                                            <p:strVal val="#ppt_x"/>
                                          </p:val>
                                        </p:tav>
                                        <p:tav tm="100000">
                                          <p:val>
                                            <p:strVal val="#ppt_x"/>
                                          </p:val>
                                        </p:tav>
                                      </p:tavLst>
                                    </p:anim>
                                    <p:anim calcmode="lin" valueType="num">
                                      <p:cBhvr>
                                        <p:cTn id="21" dur="1000" fill="hold"/>
                                        <p:tgtEl>
                                          <p:spTgt spid="87106"/>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87104"/>
                                        </p:tgtEl>
                                        <p:attrNameLst>
                                          <p:attrName>style.visibility</p:attrName>
                                        </p:attrNameLst>
                                      </p:cBhvr>
                                      <p:to>
                                        <p:strVal val="visible"/>
                                      </p:to>
                                    </p:set>
                                    <p:animEffect transition="in" filter="fade">
                                      <p:cBhvr>
                                        <p:cTn id="24" dur="1000"/>
                                        <p:tgtEl>
                                          <p:spTgt spid="87104"/>
                                        </p:tgtEl>
                                      </p:cBhvr>
                                    </p:animEffect>
                                    <p:anim calcmode="lin" valueType="num">
                                      <p:cBhvr>
                                        <p:cTn id="25" dur="1000" fill="hold"/>
                                        <p:tgtEl>
                                          <p:spTgt spid="87104"/>
                                        </p:tgtEl>
                                        <p:attrNameLst>
                                          <p:attrName>ppt_x</p:attrName>
                                        </p:attrNameLst>
                                      </p:cBhvr>
                                      <p:tavLst>
                                        <p:tav tm="0">
                                          <p:val>
                                            <p:strVal val="#ppt_x"/>
                                          </p:val>
                                        </p:tav>
                                        <p:tav tm="100000">
                                          <p:val>
                                            <p:strVal val="#ppt_x"/>
                                          </p:val>
                                        </p:tav>
                                      </p:tavLst>
                                    </p:anim>
                                    <p:anim calcmode="lin" valueType="num">
                                      <p:cBhvr>
                                        <p:cTn id="26" dur="1000" fill="hold"/>
                                        <p:tgtEl>
                                          <p:spTgt spid="87104"/>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7" presetClass="entr" presetSubtype="0" fill="hold" grpId="0" nodeType="clickEffect">
                                  <p:stCondLst>
                                    <p:cond delay="0"/>
                                  </p:stCondLst>
                                  <p:childTnLst>
                                    <p:set>
                                      <p:cBhvr>
                                        <p:cTn id="30" dur="1" fill="hold">
                                          <p:stCondLst>
                                            <p:cond delay="0"/>
                                          </p:stCondLst>
                                        </p:cTn>
                                        <p:tgtEl>
                                          <p:spTgt spid="87110"/>
                                        </p:tgtEl>
                                        <p:attrNameLst>
                                          <p:attrName>style.visibility</p:attrName>
                                        </p:attrNameLst>
                                      </p:cBhvr>
                                      <p:to>
                                        <p:strVal val="visible"/>
                                      </p:to>
                                    </p:set>
                                    <p:animEffect transition="in" filter="fade">
                                      <p:cBhvr>
                                        <p:cTn id="31" dur="1000"/>
                                        <p:tgtEl>
                                          <p:spTgt spid="87110"/>
                                        </p:tgtEl>
                                      </p:cBhvr>
                                    </p:animEffect>
                                    <p:anim calcmode="lin" valueType="num">
                                      <p:cBhvr>
                                        <p:cTn id="32" dur="1000" fill="hold"/>
                                        <p:tgtEl>
                                          <p:spTgt spid="87110"/>
                                        </p:tgtEl>
                                        <p:attrNameLst>
                                          <p:attrName>ppt_x</p:attrName>
                                        </p:attrNameLst>
                                      </p:cBhvr>
                                      <p:tavLst>
                                        <p:tav tm="0">
                                          <p:val>
                                            <p:strVal val="#ppt_x"/>
                                          </p:val>
                                        </p:tav>
                                        <p:tav tm="100000">
                                          <p:val>
                                            <p:strVal val="#ppt_x"/>
                                          </p:val>
                                        </p:tav>
                                      </p:tavLst>
                                    </p:anim>
                                    <p:anim calcmode="lin" valueType="num">
                                      <p:cBhvr>
                                        <p:cTn id="33" dur="1000" fill="hold"/>
                                        <p:tgtEl>
                                          <p:spTgt spid="871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104" grpId="0" animBg="1"/>
      <p:bldP spid="87105" grpId="0" animBg="1"/>
      <p:bldP spid="87106" grpId="0" animBg="1"/>
      <p:bldP spid="87107" grpId="0" animBg="1"/>
      <p:bldP spid="87110"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a:xfrm>
            <a:off x="684213" y="260350"/>
            <a:ext cx="7772400" cy="1143000"/>
          </a:xfrm>
          <a:noFill/>
          <a:ln/>
        </p:spPr>
        <p:txBody>
          <a:bodyPr/>
          <a:lstStyle/>
          <a:p>
            <a:r>
              <a:rPr lang="en-US" altLang="zh-CN" sz="3200" b="1">
                <a:solidFill>
                  <a:srgbClr val="0000CC"/>
                </a:solidFill>
              </a:rPr>
              <a:t>2</a:t>
            </a:r>
            <a:r>
              <a:rPr lang="zh-CN" altLang="en-US" sz="3200" b="1">
                <a:solidFill>
                  <a:srgbClr val="0000CC"/>
                </a:solidFill>
              </a:rPr>
              <a:t>、内切核酸酶对</a:t>
            </a:r>
            <a:r>
              <a:rPr lang="en-US" altLang="zh-CN" sz="3200" b="1">
                <a:solidFill>
                  <a:srgbClr val="0000CC"/>
                </a:solidFill>
              </a:rPr>
              <a:t>RNA</a:t>
            </a:r>
            <a:r>
              <a:rPr lang="zh-CN" altLang="en-US" sz="3200" b="1">
                <a:solidFill>
                  <a:srgbClr val="0000CC"/>
                </a:solidFill>
              </a:rPr>
              <a:t>的水解位点示意图</a:t>
            </a:r>
            <a:endParaRPr lang="zh-CN" altLang="en-US" sz="3200" b="1">
              <a:solidFill>
                <a:schemeClr val="accent2"/>
              </a:solidFill>
            </a:endParaRPr>
          </a:p>
        </p:txBody>
      </p:sp>
      <p:grpSp>
        <p:nvGrpSpPr>
          <p:cNvPr id="2" name="Group 3"/>
          <p:cNvGrpSpPr>
            <a:grpSpLocks/>
          </p:cNvGrpSpPr>
          <p:nvPr/>
        </p:nvGrpSpPr>
        <p:grpSpPr bwMode="auto">
          <a:xfrm>
            <a:off x="152400" y="1412875"/>
            <a:ext cx="8991600" cy="1981200"/>
            <a:chOff x="0" y="1200"/>
            <a:chExt cx="5664" cy="1248"/>
          </a:xfrm>
        </p:grpSpPr>
        <p:sp>
          <p:nvSpPr>
            <p:cNvPr id="88068" name="Line 4"/>
            <p:cNvSpPr>
              <a:spLocks noChangeShapeType="1"/>
            </p:cNvSpPr>
            <p:nvPr/>
          </p:nvSpPr>
          <p:spPr bwMode="auto">
            <a:xfrm>
              <a:off x="432" y="1536"/>
              <a:ext cx="0" cy="816"/>
            </a:xfrm>
            <a:prstGeom prst="line">
              <a:avLst/>
            </a:prstGeom>
            <a:noFill/>
            <a:ln w="25400">
              <a:solidFill>
                <a:srgbClr val="333399"/>
              </a:solidFill>
              <a:round/>
              <a:headEnd/>
              <a:tailEnd/>
            </a:ln>
            <a:effectLst/>
          </p:spPr>
          <p:txBody>
            <a:bodyPr/>
            <a:lstStyle/>
            <a:p>
              <a:endParaRPr lang="zh-CN" altLang="en-US" dirty="0">
                <a:latin typeface="Times New Roman" panose="02020603050405020304" pitchFamily="18" charset="0"/>
              </a:endParaRPr>
            </a:p>
          </p:txBody>
        </p:sp>
        <p:sp>
          <p:nvSpPr>
            <p:cNvPr id="88069" name="Text Box 5"/>
            <p:cNvSpPr txBox="1">
              <a:spLocks noChangeArrowheads="1"/>
            </p:cNvSpPr>
            <p:nvPr/>
          </p:nvSpPr>
          <p:spPr bwMode="auto">
            <a:xfrm>
              <a:off x="0" y="2256"/>
              <a:ext cx="240" cy="192"/>
            </a:xfrm>
            <a:prstGeom prst="rect">
              <a:avLst/>
            </a:prstGeom>
            <a:noFill/>
            <a:ln w="9525">
              <a:noFill/>
              <a:miter lim="800000"/>
              <a:headEnd/>
              <a:tailEnd/>
            </a:ln>
            <a:effectLst/>
          </p:spPr>
          <p:txBody>
            <a:bodyPr>
              <a:spAutoFit/>
            </a:bodyPr>
            <a:lstStyle/>
            <a:p>
              <a:pPr eaLnBrk="0" hangingPunct="0">
                <a:spcBef>
                  <a:spcPct val="50000"/>
                </a:spcBef>
              </a:pPr>
              <a:r>
                <a:rPr lang="en-US" altLang="zh-CN" sz="1400" b="1">
                  <a:solidFill>
                    <a:schemeClr val="accent2"/>
                  </a:solidFill>
                  <a:latin typeface="Times New Roman" pitchFamily="18" charset="0"/>
                  <a:ea typeface="方正舒体" pitchFamily="2" charset="-122"/>
                </a:rPr>
                <a:t>5</a:t>
              </a:r>
              <a:r>
                <a:rPr lang="en-US" altLang="zh-CN" sz="1400" b="1">
                  <a:solidFill>
                    <a:schemeClr val="accent2"/>
                  </a:solidFill>
                  <a:latin typeface="Times New Roman" pitchFamily="18" charset="0"/>
                  <a:cs typeface="Times New Roman" pitchFamily="18" charset="0"/>
                </a:rPr>
                <a:t>´</a:t>
              </a:r>
            </a:p>
          </p:txBody>
        </p:sp>
        <p:sp>
          <p:nvSpPr>
            <p:cNvPr id="88070" name="Line 6"/>
            <p:cNvSpPr>
              <a:spLocks noChangeShapeType="1"/>
            </p:cNvSpPr>
            <p:nvPr/>
          </p:nvSpPr>
          <p:spPr bwMode="auto">
            <a:xfrm>
              <a:off x="432" y="1872"/>
              <a:ext cx="144" cy="144"/>
            </a:xfrm>
            <a:prstGeom prst="line">
              <a:avLst/>
            </a:prstGeom>
            <a:noFill/>
            <a:ln w="19050">
              <a:solidFill>
                <a:schemeClr val="tx1"/>
              </a:solidFill>
              <a:round/>
              <a:headEnd/>
              <a:tailEnd/>
            </a:ln>
            <a:effectLst/>
          </p:spPr>
          <p:txBody>
            <a:bodyPr/>
            <a:lstStyle/>
            <a:p>
              <a:endParaRPr lang="zh-CN" altLang="en-US" dirty="0">
                <a:latin typeface="Times New Roman" panose="02020603050405020304" pitchFamily="18" charset="0"/>
              </a:endParaRPr>
            </a:p>
          </p:txBody>
        </p:sp>
        <p:sp>
          <p:nvSpPr>
            <p:cNvPr id="88071" name="Line 7"/>
            <p:cNvSpPr>
              <a:spLocks noChangeShapeType="1"/>
            </p:cNvSpPr>
            <p:nvPr/>
          </p:nvSpPr>
          <p:spPr bwMode="auto">
            <a:xfrm>
              <a:off x="768" y="2160"/>
              <a:ext cx="192" cy="192"/>
            </a:xfrm>
            <a:prstGeom prst="line">
              <a:avLst/>
            </a:prstGeom>
            <a:noFill/>
            <a:ln w="19050">
              <a:solidFill>
                <a:schemeClr val="tx1"/>
              </a:solidFill>
              <a:round/>
              <a:headEnd/>
              <a:tailEnd/>
            </a:ln>
            <a:effectLst/>
          </p:spPr>
          <p:txBody>
            <a:bodyPr/>
            <a:lstStyle/>
            <a:p>
              <a:endParaRPr lang="zh-CN" altLang="en-US" dirty="0">
                <a:latin typeface="Times New Roman" panose="02020603050405020304" pitchFamily="18" charset="0"/>
              </a:endParaRPr>
            </a:p>
          </p:txBody>
        </p:sp>
        <p:grpSp>
          <p:nvGrpSpPr>
            <p:cNvPr id="3" name="Group 8"/>
            <p:cNvGrpSpPr>
              <a:grpSpLocks/>
            </p:cNvGrpSpPr>
            <p:nvPr/>
          </p:nvGrpSpPr>
          <p:grpSpPr bwMode="auto">
            <a:xfrm>
              <a:off x="528" y="1920"/>
              <a:ext cx="336" cy="288"/>
              <a:chOff x="3264" y="2784"/>
              <a:chExt cx="336" cy="288"/>
            </a:xfrm>
          </p:grpSpPr>
          <p:sp>
            <p:nvSpPr>
              <p:cNvPr id="88073" name="Oval 9"/>
              <p:cNvSpPr>
                <a:spLocks noChangeArrowheads="1"/>
              </p:cNvSpPr>
              <p:nvPr/>
            </p:nvSpPr>
            <p:spPr bwMode="auto">
              <a:xfrm>
                <a:off x="3312" y="2880"/>
                <a:ext cx="192" cy="192"/>
              </a:xfrm>
              <a:prstGeom prst="ellipse">
                <a:avLst/>
              </a:prstGeom>
              <a:solidFill>
                <a:srgbClr val="99CCFF"/>
              </a:solidFill>
              <a:ln w="22225">
                <a:solidFill>
                  <a:schemeClr val="tx1"/>
                </a:solidFill>
                <a:round/>
                <a:headEnd/>
                <a:tailEnd/>
              </a:ln>
              <a:effectLst/>
            </p:spPr>
            <p:txBody>
              <a:bodyPr wrap="none" anchor="ctr"/>
              <a:lstStyle/>
              <a:p>
                <a:endParaRPr lang="zh-CN" altLang="en-US" dirty="0">
                  <a:latin typeface="Times New Roman" panose="02020603050405020304" pitchFamily="18" charset="0"/>
                </a:endParaRPr>
              </a:p>
            </p:txBody>
          </p:sp>
          <p:sp>
            <p:nvSpPr>
              <p:cNvPr id="88074" name="Text Box 10"/>
              <p:cNvSpPr txBox="1">
                <a:spLocks noChangeArrowheads="1"/>
              </p:cNvSpPr>
              <p:nvPr/>
            </p:nvSpPr>
            <p:spPr bwMode="auto">
              <a:xfrm>
                <a:off x="3264" y="2784"/>
                <a:ext cx="336" cy="288"/>
              </a:xfrm>
              <a:prstGeom prst="rect">
                <a:avLst/>
              </a:prstGeom>
              <a:noFill/>
              <a:ln w="9525">
                <a:noFill/>
                <a:miter lim="800000"/>
                <a:headEnd/>
                <a:tailEnd/>
              </a:ln>
              <a:effectLst/>
            </p:spPr>
            <p:txBody>
              <a:bodyPr>
                <a:spAutoFit/>
              </a:bodyPr>
              <a:lstStyle/>
              <a:p>
                <a:pPr eaLnBrk="0" hangingPunct="0">
                  <a:spcBef>
                    <a:spcPct val="50000"/>
                  </a:spcBef>
                </a:pPr>
                <a:r>
                  <a:rPr lang="en-US" altLang="zh-CN" sz="2400">
                    <a:latin typeface="Times New Roman" pitchFamily="18" charset="0"/>
                    <a:ea typeface="方正舒体" pitchFamily="2" charset="-122"/>
                  </a:rPr>
                  <a:t> </a:t>
                </a:r>
                <a:r>
                  <a:rPr lang="en-US" altLang="zh-CN" b="1">
                    <a:solidFill>
                      <a:schemeClr val="accent2"/>
                    </a:solidFill>
                    <a:latin typeface="Times New Roman" pitchFamily="18" charset="0"/>
                    <a:ea typeface="方正舒体" pitchFamily="2" charset="-122"/>
                  </a:rPr>
                  <a:t>p</a:t>
                </a:r>
              </a:p>
            </p:txBody>
          </p:sp>
        </p:grpSp>
        <p:sp>
          <p:nvSpPr>
            <p:cNvPr id="88075" name="Line 11"/>
            <p:cNvSpPr>
              <a:spLocks noChangeShapeType="1"/>
            </p:cNvSpPr>
            <p:nvPr/>
          </p:nvSpPr>
          <p:spPr bwMode="auto">
            <a:xfrm>
              <a:off x="960" y="1536"/>
              <a:ext cx="0" cy="816"/>
            </a:xfrm>
            <a:prstGeom prst="line">
              <a:avLst/>
            </a:prstGeom>
            <a:noFill/>
            <a:ln w="25400">
              <a:solidFill>
                <a:srgbClr val="333399"/>
              </a:solidFill>
              <a:round/>
              <a:headEnd/>
              <a:tailEnd/>
            </a:ln>
            <a:effectLst/>
          </p:spPr>
          <p:txBody>
            <a:bodyPr/>
            <a:lstStyle/>
            <a:p>
              <a:endParaRPr lang="zh-CN" altLang="en-US" dirty="0">
                <a:latin typeface="Times New Roman" panose="02020603050405020304" pitchFamily="18" charset="0"/>
              </a:endParaRPr>
            </a:p>
          </p:txBody>
        </p:sp>
        <p:sp>
          <p:nvSpPr>
            <p:cNvPr id="88076" name="Line 12"/>
            <p:cNvSpPr>
              <a:spLocks noChangeShapeType="1"/>
            </p:cNvSpPr>
            <p:nvPr/>
          </p:nvSpPr>
          <p:spPr bwMode="auto">
            <a:xfrm>
              <a:off x="960" y="1872"/>
              <a:ext cx="144" cy="144"/>
            </a:xfrm>
            <a:prstGeom prst="line">
              <a:avLst/>
            </a:prstGeom>
            <a:noFill/>
            <a:ln w="19050">
              <a:solidFill>
                <a:schemeClr val="tx1"/>
              </a:solidFill>
              <a:round/>
              <a:headEnd/>
              <a:tailEnd/>
            </a:ln>
            <a:effectLst/>
          </p:spPr>
          <p:txBody>
            <a:bodyPr/>
            <a:lstStyle/>
            <a:p>
              <a:endParaRPr lang="zh-CN" altLang="en-US" dirty="0">
                <a:latin typeface="Times New Roman" panose="02020603050405020304" pitchFamily="18" charset="0"/>
              </a:endParaRPr>
            </a:p>
          </p:txBody>
        </p:sp>
        <p:sp>
          <p:nvSpPr>
            <p:cNvPr id="88077" name="Line 13"/>
            <p:cNvSpPr>
              <a:spLocks noChangeShapeType="1"/>
            </p:cNvSpPr>
            <p:nvPr/>
          </p:nvSpPr>
          <p:spPr bwMode="auto">
            <a:xfrm>
              <a:off x="1296" y="2160"/>
              <a:ext cx="192" cy="192"/>
            </a:xfrm>
            <a:prstGeom prst="line">
              <a:avLst/>
            </a:prstGeom>
            <a:noFill/>
            <a:ln w="19050">
              <a:solidFill>
                <a:schemeClr val="tx1"/>
              </a:solidFill>
              <a:round/>
              <a:headEnd/>
              <a:tailEnd/>
            </a:ln>
            <a:effectLst/>
          </p:spPr>
          <p:txBody>
            <a:bodyPr/>
            <a:lstStyle/>
            <a:p>
              <a:endParaRPr lang="zh-CN" altLang="en-US" dirty="0">
                <a:latin typeface="Times New Roman" panose="02020603050405020304" pitchFamily="18" charset="0"/>
              </a:endParaRPr>
            </a:p>
          </p:txBody>
        </p:sp>
        <p:grpSp>
          <p:nvGrpSpPr>
            <p:cNvPr id="4" name="Group 14"/>
            <p:cNvGrpSpPr>
              <a:grpSpLocks/>
            </p:cNvGrpSpPr>
            <p:nvPr/>
          </p:nvGrpSpPr>
          <p:grpSpPr bwMode="auto">
            <a:xfrm>
              <a:off x="1056" y="1920"/>
              <a:ext cx="336" cy="288"/>
              <a:chOff x="3264" y="2784"/>
              <a:chExt cx="336" cy="288"/>
            </a:xfrm>
          </p:grpSpPr>
          <p:sp>
            <p:nvSpPr>
              <p:cNvPr id="88079" name="Oval 15"/>
              <p:cNvSpPr>
                <a:spLocks noChangeArrowheads="1"/>
              </p:cNvSpPr>
              <p:nvPr/>
            </p:nvSpPr>
            <p:spPr bwMode="auto">
              <a:xfrm>
                <a:off x="3312" y="2880"/>
                <a:ext cx="192" cy="192"/>
              </a:xfrm>
              <a:prstGeom prst="ellipse">
                <a:avLst/>
              </a:prstGeom>
              <a:solidFill>
                <a:srgbClr val="99CCFF"/>
              </a:solidFill>
              <a:ln w="22225">
                <a:solidFill>
                  <a:schemeClr val="tx1"/>
                </a:solidFill>
                <a:round/>
                <a:headEnd/>
                <a:tailEnd/>
              </a:ln>
              <a:effectLst/>
            </p:spPr>
            <p:txBody>
              <a:bodyPr wrap="none" anchor="ctr"/>
              <a:lstStyle/>
              <a:p>
                <a:endParaRPr lang="zh-CN" altLang="en-US" dirty="0">
                  <a:latin typeface="Times New Roman" panose="02020603050405020304" pitchFamily="18" charset="0"/>
                </a:endParaRPr>
              </a:p>
            </p:txBody>
          </p:sp>
          <p:sp>
            <p:nvSpPr>
              <p:cNvPr id="88080" name="Text Box 16"/>
              <p:cNvSpPr txBox="1">
                <a:spLocks noChangeArrowheads="1"/>
              </p:cNvSpPr>
              <p:nvPr/>
            </p:nvSpPr>
            <p:spPr bwMode="auto">
              <a:xfrm>
                <a:off x="3264" y="2784"/>
                <a:ext cx="336" cy="288"/>
              </a:xfrm>
              <a:prstGeom prst="rect">
                <a:avLst/>
              </a:prstGeom>
              <a:noFill/>
              <a:ln w="9525">
                <a:noFill/>
                <a:miter lim="800000"/>
                <a:headEnd/>
                <a:tailEnd/>
              </a:ln>
              <a:effectLst/>
            </p:spPr>
            <p:txBody>
              <a:bodyPr>
                <a:spAutoFit/>
              </a:bodyPr>
              <a:lstStyle/>
              <a:p>
                <a:pPr eaLnBrk="0" hangingPunct="0">
                  <a:spcBef>
                    <a:spcPct val="50000"/>
                  </a:spcBef>
                </a:pPr>
                <a:r>
                  <a:rPr lang="en-US" altLang="zh-CN" sz="2400">
                    <a:latin typeface="Times New Roman" pitchFamily="18" charset="0"/>
                    <a:ea typeface="方正舒体" pitchFamily="2" charset="-122"/>
                  </a:rPr>
                  <a:t> </a:t>
                </a:r>
                <a:r>
                  <a:rPr lang="en-US" altLang="zh-CN" b="1">
                    <a:solidFill>
                      <a:schemeClr val="accent2"/>
                    </a:solidFill>
                    <a:latin typeface="Times New Roman" pitchFamily="18" charset="0"/>
                    <a:ea typeface="方正舒体" pitchFamily="2" charset="-122"/>
                  </a:rPr>
                  <a:t>p</a:t>
                </a:r>
              </a:p>
            </p:txBody>
          </p:sp>
        </p:grpSp>
        <p:sp>
          <p:nvSpPr>
            <p:cNvPr id="88081" name="Line 17"/>
            <p:cNvSpPr>
              <a:spLocks noChangeShapeType="1"/>
            </p:cNvSpPr>
            <p:nvPr/>
          </p:nvSpPr>
          <p:spPr bwMode="auto">
            <a:xfrm>
              <a:off x="2016" y="1536"/>
              <a:ext cx="0" cy="816"/>
            </a:xfrm>
            <a:prstGeom prst="line">
              <a:avLst/>
            </a:prstGeom>
            <a:noFill/>
            <a:ln w="25400">
              <a:solidFill>
                <a:srgbClr val="333399"/>
              </a:solidFill>
              <a:round/>
              <a:headEnd/>
              <a:tailEnd/>
            </a:ln>
            <a:effectLst/>
          </p:spPr>
          <p:txBody>
            <a:bodyPr/>
            <a:lstStyle/>
            <a:p>
              <a:endParaRPr lang="zh-CN" altLang="en-US" dirty="0">
                <a:latin typeface="Times New Roman" panose="02020603050405020304" pitchFamily="18" charset="0"/>
              </a:endParaRPr>
            </a:p>
          </p:txBody>
        </p:sp>
        <p:sp>
          <p:nvSpPr>
            <p:cNvPr id="88082" name="Line 18"/>
            <p:cNvSpPr>
              <a:spLocks noChangeShapeType="1"/>
            </p:cNvSpPr>
            <p:nvPr/>
          </p:nvSpPr>
          <p:spPr bwMode="auto">
            <a:xfrm>
              <a:off x="2016" y="1872"/>
              <a:ext cx="144" cy="144"/>
            </a:xfrm>
            <a:prstGeom prst="line">
              <a:avLst/>
            </a:prstGeom>
            <a:noFill/>
            <a:ln w="19050">
              <a:solidFill>
                <a:schemeClr val="tx1"/>
              </a:solidFill>
              <a:round/>
              <a:headEnd/>
              <a:tailEnd/>
            </a:ln>
            <a:effectLst/>
          </p:spPr>
          <p:txBody>
            <a:bodyPr/>
            <a:lstStyle/>
            <a:p>
              <a:endParaRPr lang="zh-CN" altLang="en-US" dirty="0">
                <a:latin typeface="Times New Roman" panose="02020603050405020304" pitchFamily="18" charset="0"/>
              </a:endParaRPr>
            </a:p>
          </p:txBody>
        </p:sp>
        <p:grpSp>
          <p:nvGrpSpPr>
            <p:cNvPr id="5" name="Group 19"/>
            <p:cNvGrpSpPr>
              <a:grpSpLocks/>
            </p:cNvGrpSpPr>
            <p:nvPr/>
          </p:nvGrpSpPr>
          <p:grpSpPr bwMode="auto">
            <a:xfrm>
              <a:off x="0" y="1920"/>
              <a:ext cx="336" cy="288"/>
              <a:chOff x="3264" y="2784"/>
              <a:chExt cx="336" cy="288"/>
            </a:xfrm>
          </p:grpSpPr>
          <p:sp>
            <p:nvSpPr>
              <p:cNvPr id="88084" name="Oval 20"/>
              <p:cNvSpPr>
                <a:spLocks noChangeArrowheads="1"/>
              </p:cNvSpPr>
              <p:nvPr/>
            </p:nvSpPr>
            <p:spPr bwMode="auto">
              <a:xfrm>
                <a:off x="3312" y="2880"/>
                <a:ext cx="192" cy="192"/>
              </a:xfrm>
              <a:prstGeom prst="ellipse">
                <a:avLst/>
              </a:prstGeom>
              <a:solidFill>
                <a:srgbClr val="99CCFF"/>
              </a:solidFill>
              <a:ln w="22225">
                <a:solidFill>
                  <a:schemeClr val="tx1"/>
                </a:solidFill>
                <a:round/>
                <a:headEnd/>
                <a:tailEnd/>
              </a:ln>
              <a:effectLst/>
            </p:spPr>
            <p:txBody>
              <a:bodyPr wrap="none" anchor="ctr"/>
              <a:lstStyle/>
              <a:p>
                <a:endParaRPr lang="zh-CN" altLang="en-US" dirty="0">
                  <a:latin typeface="Times New Roman" panose="02020603050405020304" pitchFamily="18" charset="0"/>
                </a:endParaRPr>
              </a:p>
            </p:txBody>
          </p:sp>
          <p:sp>
            <p:nvSpPr>
              <p:cNvPr id="88085" name="Text Box 21"/>
              <p:cNvSpPr txBox="1">
                <a:spLocks noChangeArrowheads="1"/>
              </p:cNvSpPr>
              <p:nvPr/>
            </p:nvSpPr>
            <p:spPr bwMode="auto">
              <a:xfrm>
                <a:off x="3264" y="2784"/>
                <a:ext cx="336" cy="288"/>
              </a:xfrm>
              <a:prstGeom prst="rect">
                <a:avLst/>
              </a:prstGeom>
              <a:noFill/>
              <a:ln w="9525">
                <a:noFill/>
                <a:miter lim="800000"/>
                <a:headEnd/>
                <a:tailEnd/>
              </a:ln>
              <a:effectLst/>
            </p:spPr>
            <p:txBody>
              <a:bodyPr>
                <a:spAutoFit/>
              </a:bodyPr>
              <a:lstStyle/>
              <a:p>
                <a:pPr eaLnBrk="0" hangingPunct="0">
                  <a:spcBef>
                    <a:spcPct val="50000"/>
                  </a:spcBef>
                </a:pPr>
                <a:r>
                  <a:rPr lang="en-US" altLang="zh-CN" sz="2400">
                    <a:latin typeface="Times New Roman" pitchFamily="18" charset="0"/>
                    <a:ea typeface="方正舒体" pitchFamily="2" charset="-122"/>
                  </a:rPr>
                  <a:t> </a:t>
                </a:r>
                <a:r>
                  <a:rPr lang="en-US" altLang="zh-CN" b="1">
                    <a:solidFill>
                      <a:schemeClr val="accent2"/>
                    </a:solidFill>
                    <a:latin typeface="Times New Roman" pitchFamily="18" charset="0"/>
                    <a:ea typeface="方正舒体" pitchFamily="2" charset="-122"/>
                  </a:rPr>
                  <a:t>p</a:t>
                </a:r>
              </a:p>
            </p:txBody>
          </p:sp>
        </p:grpSp>
        <p:sp>
          <p:nvSpPr>
            <p:cNvPr id="88086" name="Line 22"/>
            <p:cNvSpPr>
              <a:spLocks noChangeShapeType="1"/>
            </p:cNvSpPr>
            <p:nvPr/>
          </p:nvSpPr>
          <p:spPr bwMode="auto">
            <a:xfrm>
              <a:off x="1488" y="1536"/>
              <a:ext cx="0" cy="816"/>
            </a:xfrm>
            <a:prstGeom prst="line">
              <a:avLst/>
            </a:prstGeom>
            <a:noFill/>
            <a:ln w="25400">
              <a:solidFill>
                <a:srgbClr val="333399"/>
              </a:solidFill>
              <a:round/>
              <a:headEnd/>
              <a:tailEnd/>
            </a:ln>
            <a:effectLst/>
          </p:spPr>
          <p:txBody>
            <a:bodyPr/>
            <a:lstStyle/>
            <a:p>
              <a:endParaRPr lang="zh-CN" altLang="en-US" dirty="0">
                <a:latin typeface="Times New Roman" panose="02020603050405020304" pitchFamily="18" charset="0"/>
              </a:endParaRPr>
            </a:p>
          </p:txBody>
        </p:sp>
        <p:sp>
          <p:nvSpPr>
            <p:cNvPr id="88087" name="Line 23"/>
            <p:cNvSpPr>
              <a:spLocks noChangeShapeType="1"/>
            </p:cNvSpPr>
            <p:nvPr/>
          </p:nvSpPr>
          <p:spPr bwMode="auto">
            <a:xfrm>
              <a:off x="1488" y="1872"/>
              <a:ext cx="144" cy="144"/>
            </a:xfrm>
            <a:prstGeom prst="line">
              <a:avLst/>
            </a:prstGeom>
            <a:noFill/>
            <a:ln w="19050">
              <a:solidFill>
                <a:schemeClr val="tx1"/>
              </a:solidFill>
              <a:round/>
              <a:headEnd/>
              <a:tailEnd/>
            </a:ln>
            <a:effectLst/>
          </p:spPr>
          <p:txBody>
            <a:bodyPr/>
            <a:lstStyle/>
            <a:p>
              <a:endParaRPr lang="zh-CN" altLang="en-US" dirty="0">
                <a:latin typeface="Times New Roman" panose="02020603050405020304" pitchFamily="18" charset="0"/>
              </a:endParaRPr>
            </a:p>
          </p:txBody>
        </p:sp>
        <p:sp>
          <p:nvSpPr>
            <p:cNvPr id="88088" name="Line 24"/>
            <p:cNvSpPr>
              <a:spLocks noChangeShapeType="1"/>
            </p:cNvSpPr>
            <p:nvPr/>
          </p:nvSpPr>
          <p:spPr bwMode="auto">
            <a:xfrm>
              <a:off x="1824" y="2160"/>
              <a:ext cx="192" cy="192"/>
            </a:xfrm>
            <a:prstGeom prst="line">
              <a:avLst/>
            </a:prstGeom>
            <a:noFill/>
            <a:ln w="19050">
              <a:solidFill>
                <a:schemeClr val="tx1"/>
              </a:solidFill>
              <a:round/>
              <a:headEnd/>
              <a:tailEnd/>
            </a:ln>
            <a:effectLst/>
          </p:spPr>
          <p:txBody>
            <a:bodyPr/>
            <a:lstStyle/>
            <a:p>
              <a:endParaRPr lang="zh-CN" altLang="en-US" dirty="0">
                <a:latin typeface="Times New Roman" panose="02020603050405020304" pitchFamily="18" charset="0"/>
              </a:endParaRPr>
            </a:p>
          </p:txBody>
        </p:sp>
        <p:grpSp>
          <p:nvGrpSpPr>
            <p:cNvPr id="6" name="Group 25"/>
            <p:cNvGrpSpPr>
              <a:grpSpLocks/>
            </p:cNvGrpSpPr>
            <p:nvPr/>
          </p:nvGrpSpPr>
          <p:grpSpPr bwMode="auto">
            <a:xfrm>
              <a:off x="1584" y="1920"/>
              <a:ext cx="336" cy="288"/>
              <a:chOff x="3264" y="2784"/>
              <a:chExt cx="336" cy="288"/>
            </a:xfrm>
          </p:grpSpPr>
          <p:sp>
            <p:nvSpPr>
              <p:cNvPr id="88090" name="Oval 26"/>
              <p:cNvSpPr>
                <a:spLocks noChangeArrowheads="1"/>
              </p:cNvSpPr>
              <p:nvPr/>
            </p:nvSpPr>
            <p:spPr bwMode="auto">
              <a:xfrm>
                <a:off x="3312" y="2880"/>
                <a:ext cx="192" cy="192"/>
              </a:xfrm>
              <a:prstGeom prst="ellipse">
                <a:avLst/>
              </a:prstGeom>
              <a:solidFill>
                <a:srgbClr val="99CCFF"/>
              </a:solidFill>
              <a:ln w="22225">
                <a:solidFill>
                  <a:schemeClr val="tx1"/>
                </a:solidFill>
                <a:round/>
                <a:headEnd/>
                <a:tailEnd/>
              </a:ln>
              <a:effectLst/>
            </p:spPr>
            <p:txBody>
              <a:bodyPr wrap="none" anchor="ctr"/>
              <a:lstStyle/>
              <a:p>
                <a:endParaRPr lang="zh-CN" altLang="en-US" dirty="0">
                  <a:latin typeface="Times New Roman" panose="02020603050405020304" pitchFamily="18" charset="0"/>
                </a:endParaRPr>
              </a:p>
            </p:txBody>
          </p:sp>
          <p:sp>
            <p:nvSpPr>
              <p:cNvPr id="88091" name="Text Box 27"/>
              <p:cNvSpPr txBox="1">
                <a:spLocks noChangeArrowheads="1"/>
              </p:cNvSpPr>
              <p:nvPr/>
            </p:nvSpPr>
            <p:spPr bwMode="auto">
              <a:xfrm>
                <a:off x="3264" y="2784"/>
                <a:ext cx="336" cy="288"/>
              </a:xfrm>
              <a:prstGeom prst="rect">
                <a:avLst/>
              </a:prstGeom>
              <a:noFill/>
              <a:ln w="9525">
                <a:noFill/>
                <a:miter lim="800000"/>
                <a:headEnd/>
                <a:tailEnd/>
              </a:ln>
              <a:effectLst/>
            </p:spPr>
            <p:txBody>
              <a:bodyPr>
                <a:spAutoFit/>
              </a:bodyPr>
              <a:lstStyle/>
              <a:p>
                <a:pPr eaLnBrk="0" hangingPunct="0">
                  <a:spcBef>
                    <a:spcPct val="50000"/>
                  </a:spcBef>
                </a:pPr>
                <a:r>
                  <a:rPr lang="en-US" altLang="zh-CN" sz="2400">
                    <a:latin typeface="Times New Roman" pitchFamily="18" charset="0"/>
                    <a:ea typeface="方正舒体" pitchFamily="2" charset="-122"/>
                  </a:rPr>
                  <a:t> </a:t>
                </a:r>
                <a:r>
                  <a:rPr lang="en-US" altLang="zh-CN" b="1">
                    <a:solidFill>
                      <a:schemeClr val="accent2"/>
                    </a:solidFill>
                    <a:latin typeface="Times New Roman" pitchFamily="18" charset="0"/>
                    <a:ea typeface="方正舒体" pitchFamily="2" charset="-122"/>
                  </a:rPr>
                  <a:t>p</a:t>
                </a:r>
              </a:p>
            </p:txBody>
          </p:sp>
        </p:grpSp>
        <p:sp>
          <p:nvSpPr>
            <p:cNvPr id="88092" name="Line 28"/>
            <p:cNvSpPr>
              <a:spLocks noChangeShapeType="1"/>
            </p:cNvSpPr>
            <p:nvPr/>
          </p:nvSpPr>
          <p:spPr bwMode="auto">
            <a:xfrm flipH="1" flipV="1">
              <a:off x="240" y="2160"/>
              <a:ext cx="192" cy="192"/>
            </a:xfrm>
            <a:prstGeom prst="line">
              <a:avLst/>
            </a:prstGeom>
            <a:noFill/>
            <a:ln w="19050">
              <a:solidFill>
                <a:schemeClr val="tx1"/>
              </a:solidFill>
              <a:round/>
              <a:headEnd/>
              <a:tailEnd/>
            </a:ln>
            <a:effectLst/>
          </p:spPr>
          <p:txBody>
            <a:bodyPr/>
            <a:lstStyle/>
            <a:p>
              <a:endParaRPr lang="zh-CN" altLang="en-US" dirty="0">
                <a:latin typeface="Times New Roman" panose="02020603050405020304" pitchFamily="18" charset="0"/>
              </a:endParaRPr>
            </a:p>
          </p:txBody>
        </p:sp>
        <p:sp>
          <p:nvSpPr>
            <p:cNvPr id="88093" name="Text Box 29"/>
            <p:cNvSpPr txBox="1">
              <a:spLocks noChangeArrowheads="1"/>
            </p:cNvSpPr>
            <p:nvPr/>
          </p:nvSpPr>
          <p:spPr bwMode="auto">
            <a:xfrm>
              <a:off x="5232" y="1968"/>
              <a:ext cx="384" cy="231"/>
            </a:xfrm>
            <a:prstGeom prst="rect">
              <a:avLst/>
            </a:prstGeom>
            <a:noFill/>
            <a:ln w="9525">
              <a:noFill/>
              <a:miter lim="800000"/>
              <a:headEnd/>
              <a:tailEnd/>
            </a:ln>
            <a:effectLst/>
          </p:spPr>
          <p:txBody>
            <a:bodyPr>
              <a:spAutoFit/>
            </a:bodyPr>
            <a:lstStyle/>
            <a:p>
              <a:pPr eaLnBrk="0" hangingPunct="0">
                <a:spcBef>
                  <a:spcPct val="50000"/>
                </a:spcBef>
              </a:pPr>
              <a:r>
                <a:rPr lang="en-US" altLang="zh-CN" b="1">
                  <a:solidFill>
                    <a:srgbClr val="320BF5"/>
                  </a:solidFill>
                  <a:latin typeface="Times New Roman" pitchFamily="18" charset="0"/>
                  <a:ea typeface="方正舒体" pitchFamily="2" charset="-122"/>
                </a:rPr>
                <a:t>OH</a:t>
              </a:r>
            </a:p>
          </p:txBody>
        </p:sp>
        <p:sp>
          <p:nvSpPr>
            <p:cNvPr id="88094" name="Text Box 30"/>
            <p:cNvSpPr txBox="1">
              <a:spLocks noChangeArrowheads="1"/>
            </p:cNvSpPr>
            <p:nvPr/>
          </p:nvSpPr>
          <p:spPr bwMode="auto">
            <a:xfrm>
              <a:off x="336" y="1248"/>
              <a:ext cx="336" cy="288"/>
            </a:xfrm>
            <a:prstGeom prst="rect">
              <a:avLst/>
            </a:prstGeom>
            <a:noFill/>
            <a:ln w="9525">
              <a:noFill/>
              <a:miter lim="800000"/>
              <a:headEnd/>
              <a:tailEnd/>
            </a:ln>
            <a:effectLst/>
          </p:spPr>
          <p:txBody>
            <a:bodyPr>
              <a:spAutoFit/>
            </a:bodyPr>
            <a:lstStyle/>
            <a:p>
              <a:pPr eaLnBrk="0" hangingPunct="0">
                <a:spcBef>
                  <a:spcPct val="50000"/>
                </a:spcBef>
              </a:pPr>
              <a:r>
                <a:rPr lang="en-US" altLang="zh-CN" sz="2400" b="1">
                  <a:solidFill>
                    <a:srgbClr val="E50D31"/>
                  </a:solidFill>
                  <a:latin typeface="Times New Roman" pitchFamily="18" charset="0"/>
                  <a:ea typeface="方正舒体" pitchFamily="2" charset="-122"/>
                </a:rPr>
                <a:t>Py</a:t>
              </a:r>
            </a:p>
          </p:txBody>
        </p:sp>
        <p:sp>
          <p:nvSpPr>
            <p:cNvPr id="88095" name="Text Box 31"/>
            <p:cNvSpPr txBox="1">
              <a:spLocks noChangeArrowheads="1"/>
            </p:cNvSpPr>
            <p:nvPr/>
          </p:nvSpPr>
          <p:spPr bwMode="auto">
            <a:xfrm>
              <a:off x="816" y="1248"/>
              <a:ext cx="480" cy="288"/>
            </a:xfrm>
            <a:prstGeom prst="rect">
              <a:avLst/>
            </a:prstGeom>
            <a:noFill/>
            <a:ln w="9525">
              <a:noFill/>
              <a:miter lim="800000"/>
              <a:headEnd/>
              <a:tailEnd/>
            </a:ln>
            <a:effectLst/>
          </p:spPr>
          <p:txBody>
            <a:bodyPr>
              <a:spAutoFit/>
            </a:bodyPr>
            <a:lstStyle/>
            <a:p>
              <a:pPr eaLnBrk="0" hangingPunct="0">
                <a:spcBef>
                  <a:spcPct val="50000"/>
                </a:spcBef>
              </a:pPr>
              <a:r>
                <a:rPr lang="en-US" altLang="zh-CN" sz="2400" b="1">
                  <a:solidFill>
                    <a:srgbClr val="E50D31"/>
                  </a:solidFill>
                  <a:latin typeface="Times New Roman" pitchFamily="18" charset="0"/>
                  <a:ea typeface="方正舒体" pitchFamily="2" charset="-122"/>
                </a:rPr>
                <a:t>Pu</a:t>
              </a:r>
            </a:p>
          </p:txBody>
        </p:sp>
        <p:sp>
          <p:nvSpPr>
            <p:cNvPr id="88096" name="Text Box 32"/>
            <p:cNvSpPr txBox="1">
              <a:spLocks noChangeArrowheads="1"/>
            </p:cNvSpPr>
            <p:nvPr/>
          </p:nvSpPr>
          <p:spPr bwMode="auto">
            <a:xfrm>
              <a:off x="1344" y="1248"/>
              <a:ext cx="432" cy="288"/>
            </a:xfrm>
            <a:prstGeom prst="rect">
              <a:avLst/>
            </a:prstGeom>
            <a:noFill/>
            <a:ln w="9525">
              <a:noFill/>
              <a:miter lim="800000"/>
              <a:headEnd/>
              <a:tailEnd/>
            </a:ln>
            <a:effectLst/>
          </p:spPr>
          <p:txBody>
            <a:bodyPr>
              <a:spAutoFit/>
            </a:bodyPr>
            <a:lstStyle/>
            <a:p>
              <a:pPr eaLnBrk="0" hangingPunct="0">
                <a:spcBef>
                  <a:spcPct val="50000"/>
                </a:spcBef>
              </a:pPr>
              <a:r>
                <a:rPr lang="en-US" altLang="zh-CN" sz="2400" b="1">
                  <a:solidFill>
                    <a:srgbClr val="E50D31"/>
                  </a:solidFill>
                  <a:latin typeface="Times New Roman" pitchFamily="18" charset="0"/>
                  <a:ea typeface="方正舒体" pitchFamily="2" charset="-122"/>
                </a:rPr>
                <a:t>Py</a:t>
              </a:r>
            </a:p>
          </p:txBody>
        </p:sp>
        <p:sp>
          <p:nvSpPr>
            <p:cNvPr id="88097" name="Text Box 33"/>
            <p:cNvSpPr txBox="1">
              <a:spLocks noChangeArrowheads="1"/>
            </p:cNvSpPr>
            <p:nvPr/>
          </p:nvSpPr>
          <p:spPr bwMode="auto">
            <a:xfrm>
              <a:off x="1872" y="1248"/>
              <a:ext cx="432" cy="288"/>
            </a:xfrm>
            <a:prstGeom prst="rect">
              <a:avLst/>
            </a:prstGeom>
            <a:noFill/>
            <a:ln w="9525">
              <a:noFill/>
              <a:miter lim="800000"/>
              <a:headEnd/>
              <a:tailEnd/>
            </a:ln>
            <a:effectLst/>
          </p:spPr>
          <p:txBody>
            <a:bodyPr>
              <a:spAutoFit/>
            </a:bodyPr>
            <a:lstStyle/>
            <a:p>
              <a:pPr eaLnBrk="0" hangingPunct="0">
                <a:spcBef>
                  <a:spcPct val="50000"/>
                </a:spcBef>
              </a:pPr>
              <a:r>
                <a:rPr lang="en-US" altLang="zh-CN" sz="2400" b="1">
                  <a:solidFill>
                    <a:srgbClr val="E50D31"/>
                  </a:solidFill>
                  <a:latin typeface="Times New Roman" pitchFamily="18" charset="0"/>
                  <a:ea typeface="方正舒体" pitchFamily="2" charset="-122"/>
                </a:rPr>
                <a:t>Py</a:t>
              </a:r>
            </a:p>
          </p:txBody>
        </p:sp>
        <p:sp>
          <p:nvSpPr>
            <p:cNvPr id="88098" name="Text Box 34"/>
            <p:cNvSpPr txBox="1">
              <a:spLocks noChangeArrowheads="1"/>
            </p:cNvSpPr>
            <p:nvPr/>
          </p:nvSpPr>
          <p:spPr bwMode="auto">
            <a:xfrm>
              <a:off x="432" y="1488"/>
              <a:ext cx="240" cy="192"/>
            </a:xfrm>
            <a:prstGeom prst="rect">
              <a:avLst/>
            </a:prstGeom>
            <a:noFill/>
            <a:ln w="9525">
              <a:noFill/>
              <a:miter lim="800000"/>
              <a:headEnd/>
              <a:tailEnd/>
            </a:ln>
            <a:effectLst/>
          </p:spPr>
          <p:txBody>
            <a:bodyPr>
              <a:spAutoFit/>
            </a:bodyPr>
            <a:lstStyle/>
            <a:p>
              <a:pPr eaLnBrk="0" hangingPunct="0">
                <a:spcBef>
                  <a:spcPct val="50000"/>
                </a:spcBef>
              </a:pPr>
              <a:r>
                <a:rPr lang="en-US" altLang="zh-CN" sz="1400" b="1">
                  <a:solidFill>
                    <a:schemeClr val="accent2"/>
                  </a:solidFill>
                  <a:latin typeface="Times New Roman" pitchFamily="18" charset="0"/>
                  <a:ea typeface="方正舒体" pitchFamily="2" charset="-122"/>
                </a:rPr>
                <a:t>1</a:t>
              </a:r>
              <a:r>
                <a:rPr lang="en-US" altLang="zh-CN" sz="1400" b="1">
                  <a:solidFill>
                    <a:schemeClr val="accent2"/>
                  </a:solidFill>
                  <a:latin typeface="Times New Roman" pitchFamily="18" charset="0"/>
                  <a:cs typeface="Times New Roman" pitchFamily="18" charset="0"/>
                </a:rPr>
                <a:t>´</a:t>
              </a:r>
            </a:p>
          </p:txBody>
        </p:sp>
        <p:grpSp>
          <p:nvGrpSpPr>
            <p:cNvPr id="7" name="Group 35"/>
            <p:cNvGrpSpPr>
              <a:grpSpLocks/>
            </p:cNvGrpSpPr>
            <p:nvPr/>
          </p:nvGrpSpPr>
          <p:grpSpPr bwMode="auto">
            <a:xfrm>
              <a:off x="2352" y="1536"/>
              <a:ext cx="720" cy="816"/>
              <a:chOff x="3072" y="768"/>
              <a:chExt cx="720" cy="816"/>
            </a:xfrm>
          </p:grpSpPr>
          <p:sp>
            <p:nvSpPr>
              <p:cNvPr id="88100" name="Line 36"/>
              <p:cNvSpPr>
                <a:spLocks noChangeShapeType="1"/>
              </p:cNvSpPr>
              <p:nvPr/>
            </p:nvSpPr>
            <p:spPr bwMode="auto">
              <a:xfrm>
                <a:off x="3264" y="768"/>
                <a:ext cx="0" cy="816"/>
              </a:xfrm>
              <a:prstGeom prst="line">
                <a:avLst/>
              </a:prstGeom>
              <a:noFill/>
              <a:ln w="25400">
                <a:solidFill>
                  <a:srgbClr val="333399"/>
                </a:solidFill>
                <a:round/>
                <a:headEnd/>
                <a:tailEnd/>
              </a:ln>
              <a:effectLst/>
            </p:spPr>
            <p:txBody>
              <a:bodyPr/>
              <a:lstStyle/>
              <a:p>
                <a:endParaRPr lang="zh-CN" altLang="en-US" dirty="0">
                  <a:latin typeface="Times New Roman" panose="02020603050405020304" pitchFamily="18" charset="0"/>
                </a:endParaRPr>
              </a:p>
            </p:txBody>
          </p:sp>
          <p:sp>
            <p:nvSpPr>
              <p:cNvPr id="88101" name="Text Box 37"/>
              <p:cNvSpPr txBox="1">
                <a:spLocks noChangeArrowheads="1"/>
              </p:cNvSpPr>
              <p:nvPr/>
            </p:nvSpPr>
            <p:spPr bwMode="auto">
              <a:xfrm>
                <a:off x="3072" y="1008"/>
                <a:ext cx="240" cy="192"/>
              </a:xfrm>
              <a:prstGeom prst="rect">
                <a:avLst/>
              </a:prstGeom>
              <a:noFill/>
              <a:ln w="9525">
                <a:noFill/>
                <a:miter lim="800000"/>
                <a:headEnd/>
                <a:tailEnd/>
              </a:ln>
              <a:effectLst/>
            </p:spPr>
            <p:txBody>
              <a:bodyPr>
                <a:spAutoFit/>
              </a:bodyPr>
              <a:lstStyle/>
              <a:p>
                <a:pPr eaLnBrk="0" hangingPunct="0">
                  <a:spcBef>
                    <a:spcPct val="50000"/>
                  </a:spcBef>
                </a:pPr>
                <a:endParaRPr lang="zh-CN" altLang="zh-CN" sz="1400" b="1">
                  <a:solidFill>
                    <a:schemeClr val="accent2"/>
                  </a:solidFill>
                  <a:latin typeface="Times New Roman" pitchFamily="18" charset="0"/>
                  <a:cs typeface="Times New Roman" pitchFamily="18" charset="0"/>
                </a:endParaRPr>
              </a:p>
            </p:txBody>
          </p:sp>
          <p:sp>
            <p:nvSpPr>
              <p:cNvPr id="88102" name="Line 38"/>
              <p:cNvSpPr>
                <a:spLocks noChangeShapeType="1"/>
              </p:cNvSpPr>
              <p:nvPr/>
            </p:nvSpPr>
            <p:spPr bwMode="auto">
              <a:xfrm>
                <a:off x="3264" y="1104"/>
                <a:ext cx="144" cy="144"/>
              </a:xfrm>
              <a:prstGeom prst="line">
                <a:avLst/>
              </a:prstGeom>
              <a:noFill/>
              <a:ln w="19050">
                <a:solidFill>
                  <a:schemeClr val="tx1"/>
                </a:solidFill>
                <a:round/>
                <a:headEnd/>
                <a:tailEnd/>
              </a:ln>
              <a:effectLst/>
            </p:spPr>
            <p:txBody>
              <a:bodyPr/>
              <a:lstStyle/>
              <a:p>
                <a:endParaRPr lang="zh-CN" altLang="en-US" dirty="0">
                  <a:latin typeface="Times New Roman" panose="02020603050405020304" pitchFamily="18" charset="0"/>
                </a:endParaRPr>
              </a:p>
            </p:txBody>
          </p:sp>
          <p:sp>
            <p:nvSpPr>
              <p:cNvPr id="88103" name="Line 39"/>
              <p:cNvSpPr>
                <a:spLocks noChangeShapeType="1"/>
              </p:cNvSpPr>
              <p:nvPr/>
            </p:nvSpPr>
            <p:spPr bwMode="auto">
              <a:xfrm>
                <a:off x="3600" y="1392"/>
                <a:ext cx="192" cy="192"/>
              </a:xfrm>
              <a:prstGeom prst="line">
                <a:avLst/>
              </a:prstGeom>
              <a:noFill/>
              <a:ln w="19050">
                <a:solidFill>
                  <a:schemeClr val="tx1"/>
                </a:solidFill>
                <a:round/>
                <a:headEnd/>
                <a:tailEnd/>
              </a:ln>
              <a:effectLst/>
            </p:spPr>
            <p:txBody>
              <a:bodyPr/>
              <a:lstStyle/>
              <a:p>
                <a:endParaRPr lang="zh-CN" altLang="en-US" dirty="0">
                  <a:latin typeface="Times New Roman" panose="02020603050405020304" pitchFamily="18" charset="0"/>
                </a:endParaRPr>
              </a:p>
            </p:txBody>
          </p:sp>
          <p:grpSp>
            <p:nvGrpSpPr>
              <p:cNvPr id="8" name="Group 40"/>
              <p:cNvGrpSpPr>
                <a:grpSpLocks/>
              </p:cNvGrpSpPr>
              <p:nvPr/>
            </p:nvGrpSpPr>
            <p:grpSpPr bwMode="auto">
              <a:xfrm>
                <a:off x="3360" y="1152"/>
                <a:ext cx="336" cy="288"/>
                <a:chOff x="3264" y="2784"/>
                <a:chExt cx="336" cy="288"/>
              </a:xfrm>
            </p:grpSpPr>
            <p:sp>
              <p:nvSpPr>
                <p:cNvPr id="88105" name="Oval 41"/>
                <p:cNvSpPr>
                  <a:spLocks noChangeArrowheads="1"/>
                </p:cNvSpPr>
                <p:nvPr/>
              </p:nvSpPr>
              <p:spPr bwMode="auto">
                <a:xfrm>
                  <a:off x="3312" y="2880"/>
                  <a:ext cx="192" cy="192"/>
                </a:xfrm>
                <a:prstGeom prst="ellipse">
                  <a:avLst/>
                </a:prstGeom>
                <a:solidFill>
                  <a:srgbClr val="99CCFF"/>
                </a:solidFill>
                <a:ln w="22225">
                  <a:solidFill>
                    <a:schemeClr val="tx1"/>
                  </a:solidFill>
                  <a:round/>
                  <a:headEnd/>
                  <a:tailEnd/>
                </a:ln>
                <a:effectLst/>
              </p:spPr>
              <p:txBody>
                <a:bodyPr wrap="none" anchor="ctr"/>
                <a:lstStyle/>
                <a:p>
                  <a:endParaRPr lang="zh-CN" altLang="en-US" dirty="0">
                    <a:latin typeface="Times New Roman" panose="02020603050405020304" pitchFamily="18" charset="0"/>
                  </a:endParaRPr>
                </a:p>
              </p:txBody>
            </p:sp>
            <p:sp>
              <p:nvSpPr>
                <p:cNvPr id="88106" name="Text Box 42"/>
                <p:cNvSpPr txBox="1">
                  <a:spLocks noChangeArrowheads="1"/>
                </p:cNvSpPr>
                <p:nvPr/>
              </p:nvSpPr>
              <p:spPr bwMode="auto">
                <a:xfrm>
                  <a:off x="3264" y="2784"/>
                  <a:ext cx="336" cy="288"/>
                </a:xfrm>
                <a:prstGeom prst="rect">
                  <a:avLst/>
                </a:prstGeom>
                <a:noFill/>
                <a:ln w="9525">
                  <a:noFill/>
                  <a:miter lim="800000"/>
                  <a:headEnd/>
                  <a:tailEnd/>
                </a:ln>
                <a:effectLst/>
              </p:spPr>
              <p:txBody>
                <a:bodyPr>
                  <a:spAutoFit/>
                </a:bodyPr>
                <a:lstStyle/>
                <a:p>
                  <a:pPr eaLnBrk="0" hangingPunct="0">
                    <a:spcBef>
                      <a:spcPct val="50000"/>
                    </a:spcBef>
                  </a:pPr>
                  <a:r>
                    <a:rPr lang="en-US" altLang="zh-CN" sz="2400">
                      <a:latin typeface="Times New Roman" pitchFamily="18" charset="0"/>
                      <a:ea typeface="方正舒体" pitchFamily="2" charset="-122"/>
                    </a:rPr>
                    <a:t> </a:t>
                  </a:r>
                  <a:r>
                    <a:rPr lang="en-US" altLang="zh-CN" b="1">
                      <a:solidFill>
                        <a:schemeClr val="accent2"/>
                      </a:solidFill>
                      <a:latin typeface="Times New Roman" pitchFamily="18" charset="0"/>
                      <a:ea typeface="方正舒体" pitchFamily="2" charset="-122"/>
                    </a:rPr>
                    <a:t>p</a:t>
                  </a:r>
                </a:p>
              </p:txBody>
            </p:sp>
          </p:grpSp>
        </p:grpSp>
        <p:sp>
          <p:nvSpPr>
            <p:cNvPr id="88107" name="Line 43"/>
            <p:cNvSpPr>
              <a:spLocks noChangeShapeType="1"/>
            </p:cNvSpPr>
            <p:nvPr/>
          </p:nvSpPr>
          <p:spPr bwMode="auto">
            <a:xfrm>
              <a:off x="3072" y="1536"/>
              <a:ext cx="0" cy="816"/>
            </a:xfrm>
            <a:prstGeom prst="line">
              <a:avLst/>
            </a:prstGeom>
            <a:noFill/>
            <a:ln w="25400">
              <a:solidFill>
                <a:srgbClr val="333399"/>
              </a:solidFill>
              <a:round/>
              <a:headEnd/>
              <a:tailEnd/>
            </a:ln>
            <a:effectLst/>
          </p:spPr>
          <p:txBody>
            <a:bodyPr/>
            <a:lstStyle/>
            <a:p>
              <a:endParaRPr lang="zh-CN" altLang="en-US" dirty="0">
                <a:latin typeface="Times New Roman" panose="02020603050405020304" pitchFamily="18" charset="0"/>
              </a:endParaRPr>
            </a:p>
          </p:txBody>
        </p:sp>
        <p:sp>
          <p:nvSpPr>
            <p:cNvPr id="88108" name="Line 44"/>
            <p:cNvSpPr>
              <a:spLocks noChangeShapeType="1"/>
            </p:cNvSpPr>
            <p:nvPr/>
          </p:nvSpPr>
          <p:spPr bwMode="auto">
            <a:xfrm>
              <a:off x="3072" y="1872"/>
              <a:ext cx="144" cy="144"/>
            </a:xfrm>
            <a:prstGeom prst="line">
              <a:avLst/>
            </a:prstGeom>
            <a:noFill/>
            <a:ln w="19050">
              <a:solidFill>
                <a:schemeClr val="tx1"/>
              </a:solidFill>
              <a:round/>
              <a:headEnd/>
              <a:tailEnd/>
            </a:ln>
            <a:effectLst/>
          </p:spPr>
          <p:txBody>
            <a:bodyPr/>
            <a:lstStyle/>
            <a:p>
              <a:endParaRPr lang="zh-CN" altLang="en-US" dirty="0">
                <a:latin typeface="Times New Roman" panose="02020603050405020304" pitchFamily="18" charset="0"/>
              </a:endParaRPr>
            </a:p>
          </p:txBody>
        </p:sp>
        <p:sp>
          <p:nvSpPr>
            <p:cNvPr id="88109" name="Line 45"/>
            <p:cNvSpPr>
              <a:spLocks noChangeShapeType="1"/>
            </p:cNvSpPr>
            <p:nvPr/>
          </p:nvSpPr>
          <p:spPr bwMode="auto">
            <a:xfrm>
              <a:off x="3408" y="2160"/>
              <a:ext cx="192" cy="192"/>
            </a:xfrm>
            <a:prstGeom prst="line">
              <a:avLst/>
            </a:prstGeom>
            <a:noFill/>
            <a:ln w="19050">
              <a:solidFill>
                <a:schemeClr val="tx1"/>
              </a:solidFill>
              <a:round/>
              <a:headEnd/>
              <a:tailEnd/>
            </a:ln>
            <a:effectLst/>
          </p:spPr>
          <p:txBody>
            <a:bodyPr/>
            <a:lstStyle/>
            <a:p>
              <a:endParaRPr lang="zh-CN" altLang="en-US" dirty="0">
                <a:latin typeface="Times New Roman" panose="02020603050405020304" pitchFamily="18" charset="0"/>
              </a:endParaRPr>
            </a:p>
          </p:txBody>
        </p:sp>
        <p:grpSp>
          <p:nvGrpSpPr>
            <p:cNvPr id="9" name="Group 46"/>
            <p:cNvGrpSpPr>
              <a:grpSpLocks/>
            </p:cNvGrpSpPr>
            <p:nvPr/>
          </p:nvGrpSpPr>
          <p:grpSpPr bwMode="auto">
            <a:xfrm>
              <a:off x="3168" y="1920"/>
              <a:ext cx="336" cy="288"/>
              <a:chOff x="3264" y="2784"/>
              <a:chExt cx="336" cy="288"/>
            </a:xfrm>
          </p:grpSpPr>
          <p:sp>
            <p:nvSpPr>
              <p:cNvPr id="88111" name="Oval 47"/>
              <p:cNvSpPr>
                <a:spLocks noChangeArrowheads="1"/>
              </p:cNvSpPr>
              <p:nvPr/>
            </p:nvSpPr>
            <p:spPr bwMode="auto">
              <a:xfrm>
                <a:off x="3312" y="2880"/>
                <a:ext cx="192" cy="192"/>
              </a:xfrm>
              <a:prstGeom prst="ellipse">
                <a:avLst/>
              </a:prstGeom>
              <a:solidFill>
                <a:srgbClr val="99CCFF"/>
              </a:solidFill>
              <a:ln w="22225">
                <a:solidFill>
                  <a:schemeClr val="tx1"/>
                </a:solidFill>
                <a:round/>
                <a:headEnd/>
                <a:tailEnd/>
              </a:ln>
              <a:effectLst/>
            </p:spPr>
            <p:txBody>
              <a:bodyPr wrap="none" anchor="ctr"/>
              <a:lstStyle/>
              <a:p>
                <a:endParaRPr lang="zh-CN" altLang="en-US" dirty="0">
                  <a:latin typeface="Times New Roman" panose="02020603050405020304" pitchFamily="18" charset="0"/>
                </a:endParaRPr>
              </a:p>
            </p:txBody>
          </p:sp>
          <p:sp>
            <p:nvSpPr>
              <p:cNvPr id="88112" name="Text Box 48"/>
              <p:cNvSpPr txBox="1">
                <a:spLocks noChangeArrowheads="1"/>
              </p:cNvSpPr>
              <p:nvPr/>
            </p:nvSpPr>
            <p:spPr bwMode="auto">
              <a:xfrm>
                <a:off x="3264" y="2784"/>
                <a:ext cx="336" cy="288"/>
              </a:xfrm>
              <a:prstGeom prst="rect">
                <a:avLst/>
              </a:prstGeom>
              <a:noFill/>
              <a:ln w="9525">
                <a:noFill/>
                <a:miter lim="800000"/>
                <a:headEnd/>
                <a:tailEnd/>
              </a:ln>
              <a:effectLst/>
            </p:spPr>
            <p:txBody>
              <a:bodyPr>
                <a:spAutoFit/>
              </a:bodyPr>
              <a:lstStyle/>
              <a:p>
                <a:pPr eaLnBrk="0" hangingPunct="0">
                  <a:spcBef>
                    <a:spcPct val="50000"/>
                  </a:spcBef>
                </a:pPr>
                <a:r>
                  <a:rPr lang="en-US" altLang="zh-CN" sz="2400">
                    <a:latin typeface="Times New Roman" pitchFamily="18" charset="0"/>
                    <a:ea typeface="方正舒体" pitchFamily="2" charset="-122"/>
                  </a:rPr>
                  <a:t> </a:t>
                </a:r>
                <a:r>
                  <a:rPr lang="en-US" altLang="zh-CN" b="1">
                    <a:solidFill>
                      <a:schemeClr val="accent2"/>
                    </a:solidFill>
                    <a:latin typeface="Times New Roman" pitchFamily="18" charset="0"/>
                    <a:ea typeface="方正舒体" pitchFamily="2" charset="-122"/>
                  </a:rPr>
                  <a:t>p</a:t>
                </a:r>
              </a:p>
            </p:txBody>
          </p:sp>
        </p:grpSp>
        <p:sp>
          <p:nvSpPr>
            <p:cNvPr id="88113" name="Line 49"/>
            <p:cNvSpPr>
              <a:spLocks noChangeShapeType="1"/>
            </p:cNvSpPr>
            <p:nvPr/>
          </p:nvSpPr>
          <p:spPr bwMode="auto">
            <a:xfrm>
              <a:off x="4128" y="1536"/>
              <a:ext cx="0" cy="816"/>
            </a:xfrm>
            <a:prstGeom prst="line">
              <a:avLst/>
            </a:prstGeom>
            <a:noFill/>
            <a:ln w="25400">
              <a:solidFill>
                <a:srgbClr val="333399"/>
              </a:solidFill>
              <a:round/>
              <a:headEnd/>
              <a:tailEnd/>
            </a:ln>
            <a:effectLst/>
          </p:spPr>
          <p:txBody>
            <a:bodyPr/>
            <a:lstStyle/>
            <a:p>
              <a:endParaRPr lang="zh-CN" altLang="en-US" dirty="0">
                <a:latin typeface="Times New Roman" panose="02020603050405020304" pitchFamily="18" charset="0"/>
              </a:endParaRPr>
            </a:p>
          </p:txBody>
        </p:sp>
        <p:sp>
          <p:nvSpPr>
            <p:cNvPr id="88114" name="Line 50"/>
            <p:cNvSpPr>
              <a:spLocks noChangeShapeType="1"/>
            </p:cNvSpPr>
            <p:nvPr/>
          </p:nvSpPr>
          <p:spPr bwMode="auto">
            <a:xfrm>
              <a:off x="4128" y="1872"/>
              <a:ext cx="144" cy="144"/>
            </a:xfrm>
            <a:prstGeom prst="line">
              <a:avLst/>
            </a:prstGeom>
            <a:noFill/>
            <a:ln w="19050">
              <a:solidFill>
                <a:schemeClr val="tx1"/>
              </a:solidFill>
              <a:round/>
              <a:headEnd/>
              <a:tailEnd/>
            </a:ln>
            <a:effectLst/>
          </p:spPr>
          <p:txBody>
            <a:bodyPr/>
            <a:lstStyle/>
            <a:p>
              <a:endParaRPr lang="zh-CN" altLang="en-US" dirty="0">
                <a:latin typeface="Times New Roman" panose="02020603050405020304" pitchFamily="18" charset="0"/>
              </a:endParaRPr>
            </a:p>
          </p:txBody>
        </p:sp>
        <p:sp>
          <p:nvSpPr>
            <p:cNvPr id="88115" name="Line 51"/>
            <p:cNvSpPr>
              <a:spLocks noChangeShapeType="1"/>
            </p:cNvSpPr>
            <p:nvPr/>
          </p:nvSpPr>
          <p:spPr bwMode="auto">
            <a:xfrm>
              <a:off x="3600" y="1536"/>
              <a:ext cx="0" cy="816"/>
            </a:xfrm>
            <a:prstGeom prst="line">
              <a:avLst/>
            </a:prstGeom>
            <a:noFill/>
            <a:ln w="25400">
              <a:solidFill>
                <a:srgbClr val="333399"/>
              </a:solidFill>
              <a:round/>
              <a:headEnd/>
              <a:tailEnd/>
            </a:ln>
            <a:effectLst/>
          </p:spPr>
          <p:txBody>
            <a:bodyPr/>
            <a:lstStyle/>
            <a:p>
              <a:endParaRPr lang="zh-CN" altLang="en-US" dirty="0">
                <a:latin typeface="Times New Roman" panose="02020603050405020304" pitchFamily="18" charset="0"/>
              </a:endParaRPr>
            </a:p>
          </p:txBody>
        </p:sp>
        <p:sp>
          <p:nvSpPr>
            <p:cNvPr id="88116" name="Line 52"/>
            <p:cNvSpPr>
              <a:spLocks noChangeShapeType="1"/>
            </p:cNvSpPr>
            <p:nvPr/>
          </p:nvSpPr>
          <p:spPr bwMode="auto">
            <a:xfrm>
              <a:off x="3600" y="1872"/>
              <a:ext cx="144" cy="144"/>
            </a:xfrm>
            <a:prstGeom prst="line">
              <a:avLst/>
            </a:prstGeom>
            <a:noFill/>
            <a:ln w="19050">
              <a:solidFill>
                <a:schemeClr val="tx1"/>
              </a:solidFill>
              <a:round/>
              <a:headEnd/>
              <a:tailEnd/>
            </a:ln>
            <a:effectLst/>
          </p:spPr>
          <p:txBody>
            <a:bodyPr/>
            <a:lstStyle/>
            <a:p>
              <a:endParaRPr lang="zh-CN" altLang="en-US" dirty="0">
                <a:latin typeface="Times New Roman" panose="02020603050405020304" pitchFamily="18" charset="0"/>
              </a:endParaRPr>
            </a:p>
          </p:txBody>
        </p:sp>
        <p:sp>
          <p:nvSpPr>
            <p:cNvPr id="88117" name="Line 53"/>
            <p:cNvSpPr>
              <a:spLocks noChangeShapeType="1"/>
            </p:cNvSpPr>
            <p:nvPr/>
          </p:nvSpPr>
          <p:spPr bwMode="auto">
            <a:xfrm>
              <a:off x="3936" y="2160"/>
              <a:ext cx="192" cy="192"/>
            </a:xfrm>
            <a:prstGeom prst="line">
              <a:avLst/>
            </a:prstGeom>
            <a:noFill/>
            <a:ln w="19050">
              <a:solidFill>
                <a:schemeClr val="tx1"/>
              </a:solidFill>
              <a:round/>
              <a:headEnd/>
              <a:tailEnd/>
            </a:ln>
            <a:effectLst/>
          </p:spPr>
          <p:txBody>
            <a:bodyPr/>
            <a:lstStyle/>
            <a:p>
              <a:endParaRPr lang="zh-CN" altLang="en-US" dirty="0">
                <a:latin typeface="Times New Roman" panose="02020603050405020304" pitchFamily="18" charset="0"/>
              </a:endParaRPr>
            </a:p>
          </p:txBody>
        </p:sp>
        <p:grpSp>
          <p:nvGrpSpPr>
            <p:cNvPr id="10" name="Group 54"/>
            <p:cNvGrpSpPr>
              <a:grpSpLocks/>
            </p:cNvGrpSpPr>
            <p:nvPr/>
          </p:nvGrpSpPr>
          <p:grpSpPr bwMode="auto">
            <a:xfrm>
              <a:off x="3696" y="1920"/>
              <a:ext cx="336" cy="288"/>
              <a:chOff x="3264" y="2784"/>
              <a:chExt cx="336" cy="288"/>
            </a:xfrm>
          </p:grpSpPr>
          <p:sp>
            <p:nvSpPr>
              <p:cNvPr id="88119" name="Oval 55"/>
              <p:cNvSpPr>
                <a:spLocks noChangeArrowheads="1"/>
              </p:cNvSpPr>
              <p:nvPr/>
            </p:nvSpPr>
            <p:spPr bwMode="auto">
              <a:xfrm>
                <a:off x="3312" y="2880"/>
                <a:ext cx="192" cy="192"/>
              </a:xfrm>
              <a:prstGeom prst="ellipse">
                <a:avLst/>
              </a:prstGeom>
              <a:solidFill>
                <a:srgbClr val="99CCFF"/>
              </a:solidFill>
              <a:ln w="22225">
                <a:solidFill>
                  <a:schemeClr val="tx1"/>
                </a:solidFill>
                <a:round/>
                <a:headEnd/>
                <a:tailEnd/>
              </a:ln>
              <a:effectLst/>
            </p:spPr>
            <p:txBody>
              <a:bodyPr wrap="none" anchor="ctr"/>
              <a:lstStyle/>
              <a:p>
                <a:endParaRPr lang="zh-CN" altLang="en-US" dirty="0">
                  <a:latin typeface="Times New Roman" panose="02020603050405020304" pitchFamily="18" charset="0"/>
                </a:endParaRPr>
              </a:p>
            </p:txBody>
          </p:sp>
          <p:sp>
            <p:nvSpPr>
              <p:cNvPr id="88120" name="Text Box 56"/>
              <p:cNvSpPr txBox="1">
                <a:spLocks noChangeArrowheads="1"/>
              </p:cNvSpPr>
              <p:nvPr/>
            </p:nvSpPr>
            <p:spPr bwMode="auto">
              <a:xfrm>
                <a:off x="3264" y="2784"/>
                <a:ext cx="336" cy="288"/>
              </a:xfrm>
              <a:prstGeom prst="rect">
                <a:avLst/>
              </a:prstGeom>
              <a:noFill/>
              <a:ln w="9525">
                <a:noFill/>
                <a:miter lim="800000"/>
                <a:headEnd/>
                <a:tailEnd/>
              </a:ln>
              <a:effectLst/>
            </p:spPr>
            <p:txBody>
              <a:bodyPr>
                <a:spAutoFit/>
              </a:bodyPr>
              <a:lstStyle/>
              <a:p>
                <a:pPr eaLnBrk="0" hangingPunct="0">
                  <a:spcBef>
                    <a:spcPct val="50000"/>
                  </a:spcBef>
                </a:pPr>
                <a:r>
                  <a:rPr lang="en-US" altLang="zh-CN" sz="2400">
                    <a:latin typeface="Times New Roman" pitchFamily="18" charset="0"/>
                    <a:ea typeface="方正舒体" pitchFamily="2" charset="-122"/>
                  </a:rPr>
                  <a:t> </a:t>
                </a:r>
                <a:r>
                  <a:rPr lang="en-US" altLang="zh-CN" b="1">
                    <a:solidFill>
                      <a:schemeClr val="accent2"/>
                    </a:solidFill>
                    <a:latin typeface="Times New Roman" pitchFamily="18" charset="0"/>
                    <a:ea typeface="方正舒体" pitchFamily="2" charset="-122"/>
                  </a:rPr>
                  <a:t>p</a:t>
                </a:r>
              </a:p>
            </p:txBody>
          </p:sp>
        </p:grpSp>
        <p:sp>
          <p:nvSpPr>
            <p:cNvPr id="88121" name="Line 57"/>
            <p:cNvSpPr>
              <a:spLocks noChangeShapeType="1"/>
            </p:cNvSpPr>
            <p:nvPr/>
          </p:nvSpPr>
          <p:spPr bwMode="auto">
            <a:xfrm flipH="1" flipV="1">
              <a:off x="2304" y="2112"/>
              <a:ext cx="240" cy="240"/>
            </a:xfrm>
            <a:prstGeom prst="line">
              <a:avLst/>
            </a:prstGeom>
            <a:noFill/>
            <a:ln w="19050">
              <a:solidFill>
                <a:schemeClr val="tx1"/>
              </a:solidFill>
              <a:round/>
              <a:headEnd/>
              <a:tailEnd/>
            </a:ln>
            <a:effectLst/>
          </p:spPr>
          <p:txBody>
            <a:bodyPr/>
            <a:lstStyle/>
            <a:p>
              <a:endParaRPr lang="zh-CN" altLang="en-US" dirty="0">
                <a:latin typeface="Times New Roman" panose="02020603050405020304" pitchFamily="18" charset="0"/>
              </a:endParaRPr>
            </a:p>
          </p:txBody>
        </p:sp>
        <p:sp>
          <p:nvSpPr>
            <p:cNvPr id="88122" name="Text Box 58"/>
            <p:cNvSpPr txBox="1">
              <a:spLocks noChangeArrowheads="1"/>
            </p:cNvSpPr>
            <p:nvPr/>
          </p:nvSpPr>
          <p:spPr bwMode="auto">
            <a:xfrm>
              <a:off x="2448" y="1248"/>
              <a:ext cx="240" cy="288"/>
            </a:xfrm>
            <a:prstGeom prst="rect">
              <a:avLst/>
            </a:prstGeom>
            <a:noFill/>
            <a:ln w="9525">
              <a:noFill/>
              <a:miter lim="800000"/>
              <a:headEnd/>
              <a:tailEnd/>
            </a:ln>
            <a:effectLst/>
          </p:spPr>
          <p:txBody>
            <a:bodyPr>
              <a:spAutoFit/>
            </a:bodyPr>
            <a:lstStyle/>
            <a:p>
              <a:pPr eaLnBrk="0" hangingPunct="0">
                <a:spcBef>
                  <a:spcPct val="50000"/>
                </a:spcBef>
              </a:pPr>
              <a:r>
                <a:rPr lang="en-US" altLang="zh-CN" sz="2400" b="1">
                  <a:solidFill>
                    <a:srgbClr val="E50D31"/>
                  </a:solidFill>
                  <a:latin typeface="Times New Roman" pitchFamily="18" charset="0"/>
                  <a:ea typeface="方正舒体" pitchFamily="2" charset="-122"/>
                </a:rPr>
                <a:t>G</a:t>
              </a:r>
            </a:p>
          </p:txBody>
        </p:sp>
        <p:sp>
          <p:nvSpPr>
            <p:cNvPr id="88123" name="Text Box 59"/>
            <p:cNvSpPr txBox="1">
              <a:spLocks noChangeArrowheads="1"/>
            </p:cNvSpPr>
            <p:nvPr/>
          </p:nvSpPr>
          <p:spPr bwMode="auto">
            <a:xfrm>
              <a:off x="2928" y="1248"/>
              <a:ext cx="240" cy="288"/>
            </a:xfrm>
            <a:prstGeom prst="rect">
              <a:avLst/>
            </a:prstGeom>
            <a:noFill/>
            <a:ln w="9525">
              <a:noFill/>
              <a:miter lim="800000"/>
              <a:headEnd/>
              <a:tailEnd/>
            </a:ln>
            <a:effectLst/>
          </p:spPr>
          <p:txBody>
            <a:bodyPr>
              <a:spAutoFit/>
            </a:bodyPr>
            <a:lstStyle/>
            <a:p>
              <a:pPr eaLnBrk="0" hangingPunct="0">
                <a:spcBef>
                  <a:spcPct val="50000"/>
                </a:spcBef>
              </a:pPr>
              <a:r>
                <a:rPr lang="en-US" altLang="zh-CN" sz="2400" b="1">
                  <a:solidFill>
                    <a:srgbClr val="E50D31"/>
                  </a:solidFill>
                  <a:latin typeface="Times New Roman" pitchFamily="18" charset="0"/>
                  <a:ea typeface="方正舒体" pitchFamily="2" charset="-122"/>
                </a:rPr>
                <a:t>A</a:t>
              </a:r>
            </a:p>
          </p:txBody>
        </p:sp>
        <p:sp>
          <p:nvSpPr>
            <p:cNvPr id="88124" name="Text Box 60"/>
            <p:cNvSpPr txBox="1">
              <a:spLocks noChangeArrowheads="1"/>
            </p:cNvSpPr>
            <p:nvPr/>
          </p:nvSpPr>
          <p:spPr bwMode="auto">
            <a:xfrm>
              <a:off x="3456" y="1248"/>
              <a:ext cx="240" cy="288"/>
            </a:xfrm>
            <a:prstGeom prst="rect">
              <a:avLst/>
            </a:prstGeom>
            <a:noFill/>
            <a:ln w="9525">
              <a:noFill/>
              <a:miter lim="800000"/>
              <a:headEnd/>
              <a:tailEnd/>
            </a:ln>
            <a:effectLst/>
          </p:spPr>
          <p:txBody>
            <a:bodyPr>
              <a:spAutoFit/>
            </a:bodyPr>
            <a:lstStyle/>
            <a:p>
              <a:pPr eaLnBrk="0" hangingPunct="0">
                <a:spcBef>
                  <a:spcPct val="50000"/>
                </a:spcBef>
              </a:pPr>
              <a:r>
                <a:rPr lang="en-US" altLang="zh-CN" sz="2400" b="1">
                  <a:solidFill>
                    <a:srgbClr val="E50D31"/>
                  </a:solidFill>
                  <a:latin typeface="Times New Roman" pitchFamily="18" charset="0"/>
                  <a:ea typeface="方正舒体" pitchFamily="2" charset="-122"/>
                </a:rPr>
                <a:t>C</a:t>
              </a:r>
            </a:p>
          </p:txBody>
        </p:sp>
        <p:sp>
          <p:nvSpPr>
            <p:cNvPr id="88125" name="Text Box 61"/>
            <p:cNvSpPr txBox="1">
              <a:spLocks noChangeArrowheads="1"/>
            </p:cNvSpPr>
            <p:nvPr/>
          </p:nvSpPr>
          <p:spPr bwMode="auto">
            <a:xfrm>
              <a:off x="3984" y="1248"/>
              <a:ext cx="240" cy="288"/>
            </a:xfrm>
            <a:prstGeom prst="rect">
              <a:avLst/>
            </a:prstGeom>
            <a:noFill/>
            <a:ln w="9525">
              <a:noFill/>
              <a:miter lim="800000"/>
              <a:headEnd/>
              <a:tailEnd/>
            </a:ln>
            <a:effectLst/>
          </p:spPr>
          <p:txBody>
            <a:bodyPr>
              <a:spAutoFit/>
            </a:bodyPr>
            <a:lstStyle/>
            <a:p>
              <a:pPr eaLnBrk="0" hangingPunct="0">
                <a:spcBef>
                  <a:spcPct val="50000"/>
                </a:spcBef>
              </a:pPr>
              <a:r>
                <a:rPr lang="en-US" altLang="zh-CN" sz="2400" b="1">
                  <a:solidFill>
                    <a:srgbClr val="E50D31"/>
                  </a:solidFill>
                  <a:latin typeface="Times New Roman" pitchFamily="18" charset="0"/>
                  <a:ea typeface="方正舒体" pitchFamily="2" charset="-122"/>
                </a:rPr>
                <a:t>U</a:t>
              </a:r>
            </a:p>
          </p:txBody>
        </p:sp>
        <p:sp>
          <p:nvSpPr>
            <p:cNvPr id="88126" name="Text Box 62"/>
            <p:cNvSpPr txBox="1">
              <a:spLocks noChangeArrowheads="1"/>
            </p:cNvSpPr>
            <p:nvPr/>
          </p:nvSpPr>
          <p:spPr bwMode="auto">
            <a:xfrm>
              <a:off x="2544" y="1488"/>
              <a:ext cx="240" cy="192"/>
            </a:xfrm>
            <a:prstGeom prst="rect">
              <a:avLst/>
            </a:prstGeom>
            <a:noFill/>
            <a:ln w="9525">
              <a:noFill/>
              <a:miter lim="800000"/>
              <a:headEnd/>
              <a:tailEnd/>
            </a:ln>
            <a:effectLst/>
          </p:spPr>
          <p:txBody>
            <a:bodyPr>
              <a:spAutoFit/>
            </a:bodyPr>
            <a:lstStyle/>
            <a:p>
              <a:pPr eaLnBrk="0" hangingPunct="0">
                <a:spcBef>
                  <a:spcPct val="50000"/>
                </a:spcBef>
              </a:pPr>
              <a:endParaRPr lang="zh-CN" altLang="zh-CN" sz="1400" b="1">
                <a:solidFill>
                  <a:schemeClr val="accent2"/>
                </a:solidFill>
                <a:latin typeface="Times New Roman" pitchFamily="18" charset="0"/>
                <a:cs typeface="Times New Roman" pitchFamily="18" charset="0"/>
              </a:endParaRPr>
            </a:p>
          </p:txBody>
        </p:sp>
        <p:grpSp>
          <p:nvGrpSpPr>
            <p:cNvPr id="11" name="Group 63"/>
            <p:cNvGrpSpPr>
              <a:grpSpLocks/>
            </p:cNvGrpSpPr>
            <p:nvPr/>
          </p:nvGrpSpPr>
          <p:grpSpPr bwMode="auto">
            <a:xfrm>
              <a:off x="2112" y="1872"/>
              <a:ext cx="336" cy="288"/>
              <a:chOff x="3264" y="2784"/>
              <a:chExt cx="336" cy="288"/>
            </a:xfrm>
          </p:grpSpPr>
          <p:sp>
            <p:nvSpPr>
              <p:cNvPr id="88128" name="Oval 64"/>
              <p:cNvSpPr>
                <a:spLocks noChangeArrowheads="1"/>
              </p:cNvSpPr>
              <p:nvPr/>
            </p:nvSpPr>
            <p:spPr bwMode="auto">
              <a:xfrm>
                <a:off x="3312" y="2880"/>
                <a:ext cx="192" cy="192"/>
              </a:xfrm>
              <a:prstGeom prst="ellipse">
                <a:avLst/>
              </a:prstGeom>
              <a:solidFill>
                <a:srgbClr val="99CCFF"/>
              </a:solidFill>
              <a:ln w="22225">
                <a:solidFill>
                  <a:schemeClr val="tx1"/>
                </a:solidFill>
                <a:round/>
                <a:headEnd/>
                <a:tailEnd/>
              </a:ln>
              <a:effectLst/>
            </p:spPr>
            <p:txBody>
              <a:bodyPr wrap="none" anchor="ctr"/>
              <a:lstStyle/>
              <a:p>
                <a:endParaRPr lang="zh-CN" altLang="en-US" dirty="0">
                  <a:latin typeface="Times New Roman" panose="02020603050405020304" pitchFamily="18" charset="0"/>
                </a:endParaRPr>
              </a:p>
            </p:txBody>
          </p:sp>
          <p:sp>
            <p:nvSpPr>
              <p:cNvPr id="88129" name="Text Box 65"/>
              <p:cNvSpPr txBox="1">
                <a:spLocks noChangeArrowheads="1"/>
              </p:cNvSpPr>
              <p:nvPr/>
            </p:nvSpPr>
            <p:spPr bwMode="auto">
              <a:xfrm>
                <a:off x="3264" y="2784"/>
                <a:ext cx="336" cy="288"/>
              </a:xfrm>
              <a:prstGeom prst="rect">
                <a:avLst/>
              </a:prstGeom>
              <a:noFill/>
              <a:ln w="9525">
                <a:noFill/>
                <a:miter lim="800000"/>
                <a:headEnd/>
                <a:tailEnd/>
              </a:ln>
              <a:effectLst/>
            </p:spPr>
            <p:txBody>
              <a:bodyPr>
                <a:spAutoFit/>
              </a:bodyPr>
              <a:lstStyle/>
              <a:p>
                <a:pPr eaLnBrk="0" hangingPunct="0">
                  <a:spcBef>
                    <a:spcPct val="50000"/>
                  </a:spcBef>
                </a:pPr>
                <a:r>
                  <a:rPr lang="en-US" altLang="zh-CN" sz="2400">
                    <a:latin typeface="Times New Roman" pitchFamily="18" charset="0"/>
                    <a:ea typeface="方正舒体" pitchFamily="2" charset="-122"/>
                  </a:rPr>
                  <a:t> </a:t>
                </a:r>
                <a:r>
                  <a:rPr lang="en-US" altLang="zh-CN" b="1">
                    <a:solidFill>
                      <a:schemeClr val="accent2"/>
                    </a:solidFill>
                    <a:latin typeface="Times New Roman" pitchFamily="18" charset="0"/>
                    <a:ea typeface="方正舒体" pitchFamily="2" charset="-122"/>
                  </a:rPr>
                  <a:t>p</a:t>
                </a:r>
              </a:p>
            </p:txBody>
          </p:sp>
        </p:grpSp>
        <p:sp>
          <p:nvSpPr>
            <p:cNvPr id="88130" name="Line 66"/>
            <p:cNvSpPr>
              <a:spLocks noChangeShapeType="1"/>
            </p:cNvSpPr>
            <p:nvPr/>
          </p:nvSpPr>
          <p:spPr bwMode="auto">
            <a:xfrm>
              <a:off x="4464" y="2112"/>
              <a:ext cx="192" cy="192"/>
            </a:xfrm>
            <a:prstGeom prst="line">
              <a:avLst/>
            </a:prstGeom>
            <a:noFill/>
            <a:ln w="19050">
              <a:solidFill>
                <a:schemeClr val="tx1"/>
              </a:solidFill>
              <a:round/>
              <a:headEnd/>
              <a:tailEnd/>
            </a:ln>
            <a:effectLst/>
          </p:spPr>
          <p:txBody>
            <a:bodyPr/>
            <a:lstStyle/>
            <a:p>
              <a:endParaRPr lang="zh-CN" altLang="en-US" dirty="0">
                <a:latin typeface="Times New Roman" panose="02020603050405020304" pitchFamily="18" charset="0"/>
              </a:endParaRPr>
            </a:p>
          </p:txBody>
        </p:sp>
        <p:grpSp>
          <p:nvGrpSpPr>
            <p:cNvPr id="12" name="Group 67"/>
            <p:cNvGrpSpPr>
              <a:grpSpLocks/>
            </p:cNvGrpSpPr>
            <p:nvPr/>
          </p:nvGrpSpPr>
          <p:grpSpPr bwMode="auto">
            <a:xfrm>
              <a:off x="4224" y="1872"/>
              <a:ext cx="336" cy="288"/>
              <a:chOff x="3264" y="2784"/>
              <a:chExt cx="336" cy="288"/>
            </a:xfrm>
          </p:grpSpPr>
          <p:sp>
            <p:nvSpPr>
              <p:cNvPr id="88132" name="Oval 68"/>
              <p:cNvSpPr>
                <a:spLocks noChangeArrowheads="1"/>
              </p:cNvSpPr>
              <p:nvPr/>
            </p:nvSpPr>
            <p:spPr bwMode="auto">
              <a:xfrm>
                <a:off x="3312" y="2880"/>
                <a:ext cx="192" cy="192"/>
              </a:xfrm>
              <a:prstGeom prst="ellipse">
                <a:avLst/>
              </a:prstGeom>
              <a:solidFill>
                <a:srgbClr val="99CCFF"/>
              </a:solidFill>
              <a:ln w="22225">
                <a:solidFill>
                  <a:schemeClr val="tx1"/>
                </a:solidFill>
                <a:round/>
                <a:headEnd/>
                <a:tailEnd/>
              </a:ln>
              <a:effectLst/>
            </p:spPr>
            <p:txBody>
              <a:bodyPr wrap="none" anchor="ctr"/>
              <a:lstStyle/>
              <a:p>
                <a:endParaRPr lang="zh-CN" altLang="en-US" dirty="0">
                  <a:latin typeface="Times New Roman" panose="02020603050405020304" pitchFamily="18" charset="0"/>
                </a:endParaRPr>
              </a:p>
            </p:txBody>
          </p:sp>
          <p:sp>
            <p:nvSpPr>
              <p:cNvPr id="88133" name="Text Box 69"/>
              <p:cNvSpPr txBox="1">
                <a:spLocks noChangeArrowheads="1"/>
              </p:cNvSpPr>
              <p:nvPr/>
            </p:nvSpPr>
            <p:spPr bwMode="auto">
              <a:xfrm>
                <a:off x="3264" y="2784"/>
                <a:ext cx="336" cy="288"/>
              </a:xfrm>
              <a:prstGeom prst="rect">
                <a:avLst/>
              </a:prstGeom>
              <a:noFill/>
              <a:ln w="9525">
                <a:noFill/>
                <a:miter lim="800000"/>
                <a:headEnd/>
                <a:tailEnd/>
              </a:ln>
              <a:effectLst/>
            </p:spPr>
            <p:txBody>
              <a:bodyPr>
                <a:spAutoFit/>
              </a:bodyPr>
              <a:lstStyle/>
              <a:p>
                <a:pPr eaLnBrk="0" hangingPunct="0">
                  <a:spcBef>
                    <a:spcPct val="50000"/>
                  </a:spcBef>
                </a:pPr>
                <a:r>
                  <a:rPr lang="en-US" altLang="zh-CN" sz="2400">
                    <a:latin typeface="Times New Roman" pitchFamily="18" charset="0"/>
                    <a:ea typeface="方正舒体" pitchFamily="2" charset="-122"/>
                  </a:rPr>
                  <a:t> </a:t>
                </a:r>
                <a:r>
                  <a:rPr lang="en-US" altLang="zh-CN" b="1">
                    <a:solidFill>
                      <a:schemeClr val="accent2"/>
                    </a:solidFill>
                    <a:latin typeface="Times New Roman" pitchFamily="18" charset="0"/>
                    <a:ea typeface="方正舒体" pitchFamily="2" charset="-122"/>
                  </a:rPr>
                  <a:t>p</a:t>
                </a:r>
              </a:p>
            </p:txBody>
          </p:sp>
        </p:grpSp>
        <p:sp>
          <p:nvSpPr>
            <p:cNvPr id="88134" name="Line 70"/>
            <p:cNvSpPr>
              <a:spLocks noChangeShapeType="1"/>
            </p:cNvSpPr>
            <p:nvPr/>
          </p:nvSpPr>
          <p:spPr bwMode="auto">
            <a:xfrm>
              <a:off x="5184" y="1488"/>
              <a:ext cx="0" cy="816"/>
            </a:xfrm>
            <a:prstGeom prst="line">
              <a:avLst/>
            </a:prstGeom>
            <a:noFill/>
            <a:ln w="25400">
              <a:solidFill>
                <a:srgbClr val="333399"/>
              </a:solidFill>
              <a:round/>
              <a:headEnd/>
              <a:tailEnd/>
            </a:ln>
            <a:effectLst/>
          </p:spPr>
          <p:txBody>
            <a:bodyPr/>
            <a:lstStyle/>
            <a:p>
              <a:endParaRPr lang="zh-CN" altLang="en-US" dirty="0">
                <a:latin typeface="Times New Roman" panose="02020603050405020304" pitchFamily="18" charset="0"/>
              </a:endParaRPr>
            </a:p>
          </p:txBody>
        </p:sp>
        <p:sp>
          <p:nvSpPr>
            <p:cNvPr id="88135" name="Line 71"/>
            <p:cNvSpPr>
              <a:spLocks noChangeShapeType="1"/>
            </p:cNvSpPr>
            <p:nvPr/>
          </p:nvSpPr>
          <p:spPr bwMode="auto">
            <a:xfrm>
              <a:off x="5184" y="1824"/>
              <a:ext cx="144" cy="144"/>
            </a:xfrm>
            <a:prstGeom prst="line">
              <a:avLst/>
            </a:prstGeom>
            <a:noFill/>
            <a:ln w="19050">
              <a:solidFill>
                <a:schemeClr val="tx1"/>
              </a:solidFill>
              <a:round/>
              <a:headEnd/>
              <a:tailEnd/>
            </a:ln>
            <a:effectLst/>
          </p:spPr>
          <p:txBody>
            <a:bodyPr/>
            <a:lstStyle/>
            <a:p>
              <a:endParaRPr lang="zh-CN" altLang="en-US" dirty="0">
                <a:latin typeface="Times New Roman" panose="02020603050405020304" pitchFamily="18" charset="0"/>
              </a:endParaRPr>
            </a:p>
          </p:txBody>
        </p:sp>
        <p:sp>
          <p:nvSpPr>
            <p:cNvPr id="88136" name="Line 72"/>
            <p:cNvSpPr>
              <a:spLocks noChangeShapeType="1"/>
            </p:cNvSpPr>
            <p:nvPr/>
          </p:nvSpPr>
          <p:spPr bwMode="auto">
            <a:xfrm>
              <a:off x="4656" y="1488"/>
              <a:ext cx="0" cy="816"/>
            </a:xfrm>
            <a:prstGeom prst="line">
              <a:avLst/>
            </a:prstGeom>
            <a:noFill/>
            <a:ln w="25400">
              <a:solidFill>
                <a:srgbClr val="333399"/>
              </a:solidFill>
              <a:round/>
              <a:headEnd/>
              <a:tailEnd/>
            </a:ln>
            <a:effectLst/>
          </p:spPr>
          <p:txBody>
            <a:bodyPr/>
            <a:lstStyle/>
            <a:p>
              <a:endParaRPr lang="zh-CN" altLang="en-US" dirty="0">
                <a:latin typeface="Times New Roman" panose="02020603050405020304" pitchFamily="18" charset="0"/>
              </a:endParaRPr>
            </a:p>
          </p:txBody>
        </p:sp>
        <p:sp>
          <p:nvSpPr>
            <p:cNvPr id="88137" name="Line 73"/>
            <p:cNvSpPr>
              <a:spLocks noChangeShapeType="1"/>
            </p:cNvSpPr>
            <p:nvPr/>
          </p:nvSpPr>
          <p:spPr bwMode="auto">
            <a:xfrm>
              <a:off x="4656" y="1824"/>
              <a:ext cx="144" cy="144"/>
            </a:xfrm>
            <a:prstGeom prst="line">
              <a:avLst/>
            </a:prstGeom>
            <a:noFill/>
            <a:ln w="19050">
              <a:solidFill>
                <a:schemeClr val="tx1"/>
              </a:solidFill>
              <a:round/>
              <a:headEnd/>
              <a:tailEnd/>
            </a:ln>
            <a:effectLst/>
          </p:spPr>
          <p:txBody>
            <a:bodyPr/>
            <a:lstStyle/>
            <a:p>
              <a:endParaRPr lang="zh-CN" altLang="en-US" dirty="0">
                <a:latin typeface="Times New Roman" panose="02020603050405020304" pitchFamily="18" charset="0"/>
              </a:endParaRPr>
            </a:p>
          </p:txBody>
        </p:sp>
        <p:sp>
          <p:nvSpPr>
            <p:cNvPr id="88138" name="Line 74"/>
            <p:cNvSpPr>
              <a:spLocks noChangeShapeType="1"/>
            </p:cNvSpPr>
            <p:nvPr/>
          </p:nvSpPr>
          <p:spPr bwMode="auto">
            <a:xfrm>
              <a:off x="4992" y="2112"/>
              <a:ext cx="192" cy="192"/>
            </a:xfrm>
            <a:prstGeom prst="line">
              <a:avLst/>
            </a:prstGeom>
            <a:noFill/>
            <a:ln w="19050">
              <a:solidFill>
                <a:schemeClr val="tx1"/>
              </a:solidFill>
              <a:round/>
              <a:headEnd/>
              <a:tailEnd/>
            </a:ln>
            <a:effectLst/>
          </p:spPr>
          <p:txBody>
            <a:bodyPr/>
            <a:lstStyle/>
            <a:p>
              <a:endParaRPr lang="zh-CN" altLang="en-US" dirty="0">
                <a:latin typeface="Times New Roman" panose="02020603050405020304" pitchFamily="18" charset="0"/>
              </a:endParaRPr>
            </a:p>
          </p:txBody>
        </p:sp>
        <p:grpSp>
          <p:nvGrpSpPr>
            <p:cNvPr id="13" name="Group 75"/>
            <p:cNvGrpSpPr>
              <a:grpSpLocks/>
            </p:cNvGrpSpPr>
            <p:nvPr/>
          </p:nvGrpSpPr>
          <p:grpSpPr bwMode="auto">
            <a:xfrm>
              <a:off x="4752" y="1872"/>
              <a:ext cx="336" cy="288"/>
              <a:chOff x="3264" y="2784"/>
              <a:chExt cx="336" cy="288"/>
            </a:xfrm>
          </p:grpSpPr>
          <p:sp>
            <p:nvSpPr>
              <p:cNvPr id="88140" name="Oval 76"/>
              <p:cNvSpPr>
                <a:spLocks noChangeArrowheads="1"/>
              </p:cNvSpPr>
              <p:nvPr/>
            </p:nvSpPr>
            <p:spPr bwMode="auto">
              <a:xfrm>
                <a:off x="3312" y="2880"/>
                <a:ext cx="192" cy="192"/>
              </a:xfrm>
              <a:prstGeom prst="ellipse">
                <a:avLst/>
              </a:prstGeom>
              <a:solidFill>
                <a:srgbClr val="99CCFF"/>
              </a:solidFill>
              <a:ln w="22225">
                <a:solidFill>
                  <a:schemeClr val="tx1"/>
                </a:solidFill>
                <a:round/>
                <a:headEnd/>
                <a:tailEnd/>
              </a:ln>
              <a:effectLst/>
            </p:spPr>
            <p:txBody>
              <a:bodyPr wrap="none" anchor="ctr"/>
              <a:lstStyle/>
              <a:p>
                <a:endParaRPr lang="zh-CN" altLang="en-US" dirty="0">
                  <a:latin typeface="Times New Roman" panose="02020603050405020304" pitchFamily="18" charset="0"/>
                </a:endParaRPr>
              </a:p>
            </p:txBody>
          </p:sp>
          <p:sp>
            <p:nvSpPr>
              <p:cNvPr id="88141" name="Text Box 77"/>
              <p:cNvSpPr txBox="1">
                <a:spLocks noChangeArrowheads="1"/>
              </p:cNvSpPr>
              <p:nvPr/>
            </p:nvSpPr>
            <p:spPr bwMode="auto">
              <a:xfrm>
                <a:off x="3264" y="2784"/>
                <a:ext cx="336" cy="288"/>
              </a:xfrm>
              <a:prstGeom prst="rect">
                <a:avLst/>
              </a:prstGeom>
              <a:noFill/>
              <a:ln w="9525">
                <a:noFill/>
                <a:miter lim="800000"/>
                <a:headEnd/>
                <a:tailEnd/>
              </a:ln>
              <a:effectLst/>
            </p:spPr>
            <p:txBody>
              <a:bodyPr>
                <a:spAutoFit/>
              </a:bodyPr>
              <a:lstStyle/>
              <a:p>
                <a:pPr eaLnBrk="0" hangingPunct="0">
                  <a:spcBef>
                    <a:spcPct val="50000"/>
                  </a:spcBef>
                </a:pPr>
                <a:r>
                  <a:rPr lang="en-US" altLang="zh-CN" sz="2400">
                    <a:latin typeface="Times New Roman" pitchFamily="18" charset="0"/>
                    <a:ea typeface="方正舒体" pitchFamily="2" charset="-122"/>
                  </a:rPr>
                  <a:t> </a:t>
                </a:r>
                <a:r>
                  <a:rPr lang="en-US" altLang="zh-CN" b="1">
                    <a:solidFill>
                      <a:schemeClr val="accent2"/>
                    </a:solidFill>
                    <a:latin typeface="Times New Roman" pitchFamily="18" charset="0"/>
                    <a:ea typeface="方正舒体" pitchFamily="2" charset="-122"/>
                  </a:rPr>
                  <a:t>p</a:t>
                </a:r>
              </a:p>
            </p:txBody>
          </p:sp>
        </p:grpSp>
        <p:sp>
          <p:nvSpPr>
            <p:cNvPr id="88142" name="Text Box 78"/>
            <p:cNvSpPr txBox="1">
              <a:spLocks noChangeArrowheads="1"/>
            </p:cNvSpPr>
            <p:nvPr/>
          </p:nvSpPr>
          <p:spPr bwMode="auto">
            <a:xfrm>
              <a:off x="4512" y="1200"/>
              <a:ext cx="240" cy="288"/>
            </a:xfrm>
            <a:prstGeom prst="rect">
              <a:avLst/>
            </a:prstGeom>
            <a:noFill/>
            <a:ln w="9525">
              <a:noFill/>
              <a:miter lim="800000"/>
              <a:headEnd/>
              <a:tailEnd/>
            </a:ln>
            <a:effectLst/>
          </p:spPr>
          <p:txBody>
            <a:bodyPr>
              <a:spAutoFit/>
            </a:bodyPr>
            <a:lstStyle/>
            <a:p>
              <a:pPr eaLnBrk="0" hangingPunct="0">
                <a:spcBef>
                  <a:spcPct val="50000"/>
                </a:spcBef>
              </a:pPr>
              <a:r>
                <a:rPr lang="en-US" altLang="zh-CN" sz="2400" b="1">
                  <a:solidFill>
                    <a:srgbClr val="E50D31"/>
                  </a:solidFill>
                  <a:latin typeface="Times New Roman" pitchFamily="18" charset="0"/>
                  <a:ea typeface="方正舒体" pitchFamily="2" charset="-122"/>
                </a:rPr>
                <a:t>G</a:t>
              </a:r>
            </a:p>
          </p:txBody>
        </p:sp>
        <p:sp>
          <p:nvSpPr>
            <p:cNvPr id="88143" name="Text Box 79"/>
            <p:cNvSpPr txBox="1">
              <a:spLocks noChangeArrowheads="1"/>
            </p:cNvSpPr>
            <p:nvPr/>
          </p:nvSpPr>
          <p:spPr bwMode="auto">
            <a:xfrm>
              <a:off x="5040" y="1200"/>
              <a:ext cx="240" cy="288"/>
            </a:xfrm>
            <a:prstGeom prst="rect">
              <a:avLst/>
            </a:prstGeom>
            <a:noFill/>
            <a:ln w="9525">
              <a:noFill/>
              <a:miter lim="800000"/>
              <a:headEnd/>
              <a:tailEnd/>
            </a:ln>
            <a:effectLst/>
          </p:spPr>
          <p:txBody>
            <a:bodyPr>
              <a:spAutoFit/>
            </a:bodyPr>
            <a:lstStyle/>
            <a:p>
              <a:pPr eaLnBrk="0" hangingPunct="0">
                <a:spcBef>
                  <a:spcPct val="50000"/>
                </a:spcBef>
              </a:pPr>
              <a:r>
                <a:rPr lang="en-US" altLang="zh-CN" sz="2400" b="1">
                  <a:solidFill>
                    <a:srgbClr val="E50D31"/>
                  </a:solidFill>
                  <a:latin typeface="Times New Roman" pitchFamily="18" charset="0"/>
                  <a:ea typeface="方正舒体" pitchFamily="2" charset="-122"/>
                </a:rPr>
                <a:t>A</a:t>
              </a:r>
            </a:p>
          </p:txBody>
        </p:sp>
        <p:sp>
          <p:nvSpPr>
            <p:cNvPr id="88144" name="Text Box 80"/>
            <p:cNvSpPr txBox="1">
              <a:spLocks noChangeArrowheads="1"/>
            </p:cNvSpPr>
            <p:nvPr/>
          </p:nvSpPr>
          <p:spPr bwMode="auto">
            <a:xfrm>
              <a:off x="5424" y="2208"/>
              <a:ext cx="240" cy="192"/>
            </a:xfrm>
            <a:prstGeom prst="rect">
              <a:avLst/>
            </a:prstGeom>
            <a:noFill/>
            <a:ln w="9525">
              <a:noFill/>
              <a:miter lim="800000"/>
              <a:headEnd/>
              <a:tailEnd/>
            </a:ln>
            <a:effectLst/>
          </p:spPr>
          <p:txBody>
            <a:bodyPr>
              <a:spAutoFit/>
            </a:bodyPr>
            <a:lstStyle/>
            <a:p>
              <a:pPr eaLnBrk="0" hangingPunct="0">
                <a:spcBef>
                  <a:spcPct val="50000"/>
                </a:spcBef>
              </a:pPr>
              <a:r>
                <a:rPr lang="en-US" altLang="zh-CN" sz="1400" b="1">
                  <a:solidFill>
                    <a:schemeClr val="accent2"/>
                  </a:solidFill>
                  <a:latin typeface="Times New Roman" pitchFamily="18" charset="0"/>
                  <a:ea typeface="方正舒体" pitchFamily="2" charset="-122"/>
                </a:rPr>
                <a:t>3</a:t>
              </a:r>
              <a:r>
                <a:rPr lang="en-US" altLang="zh-CN" sz="1400" b="1">
                  <a:solidFill>
                    <a:schemeClr val="accent2"/>
                  </a:solidFill>
                  <a:latin typeface="Times New Roman" pitchFamily="18" charset="0"/>
                  <a:cs typeface="Times New Roman" pitchFamily="18" charset="0"/>
                </a:rPr>
                <a:t>´</a:t>
              </a:r>
            </a:p>
          </p:txBody>
        </p:sp>
      </p:grpSp>
      <p:sp>
        <p:nvSpPr>
          <p:cNvPr id="88145" name="Text Box 81"/>
          <p:cNvSpPr txBox="1">
            <a:spLocks noChangeArrowheads="1"/>
          </p:cNvSpPr>
          <p:nvPr/>
        </p:nvSpPr>
        <p:spPr bwMode="auto">
          <a:xfrm>
            <a:off x="381000" y="4003675"/>
            <a:ext cx="1600200" cy="457200"/>
          </a:xfrm>
          <a:prstGeom prst="rect">
            <a:avLst/>
          </a:prstGeom>
          <a:noFill/>
          <a:ln w="9525">
            <a:noFill/>
            <a:miter lim="800000"/>
            <a:headEnd/>
            <a:tailEnd/>
          </a:ln>
          <a:effectLst/>
        </p:spPr>
        <p:txBody>
          <a:bodyPr>
            <a:spAutoFit/>
          </a:bodyPr>
          <a:lstStyle/>
          <a:p>
            <a:pPr eaLnBrk="0" hangingPunct="0">
              <a:spcBef>
                <a:spcPct val="50000"/>
              </a:spcBef>
            </a:pPr>
            <a:r>
              <a:rPr kumimoji="1" lang="en-US" altLang="zh-CN" sz="2400" b="1">
                <a:solidFill>
                  <a:srgbClr val="990000"/>
                </a:solidFill>
                <a:latin typeface="Times New Roman" pitchFamily="18" charset="0"/>
              </a:rPr>
              <a:t>RNase I</a:t>
            </a:r>
          </a:p>
        </p:txBody>
      </p:sp>
      <p:sp>
        <p:nvSpPr>
          <p:cNvPr id="88146" name="Text Box 82"/>
          <p:cNvSpPr txBox="1">
            <a:spLocks noChangeArrowheads="1"/>
          </p:cNvSpPr>
          <p:nvPr/>
        </p:nvSpPr>
        <p:spPr bwMode="auto">
          <a:xfrm>
            <a:off x="2286000" y="4003675"/>
            <a:ext cx="1600200" cy="457200"/>
          </a:xfrm>
          <a:prstGeom prst="rect">
            <a:avLst/>
          </a:prstGeom>
          <a:noFill/>
          <a:ln w="9525">
            <a:noFill/>
            <a:miter lim="800000"/>
            <a:headEnd/>
            <a:tailEnd/>
          </a:ln>
          <a:effectLst/>
        </p:spPr>
        <p:txBody>
          <a:bodyPr>
            <a:spAutoFit/>
          </a:bodyPr>
          <a:lstStyle/>
          <a:p>
            <a:pPr eaLnBrk="0" hangingPunct="0">
              <a:spcBef>
                <a:spcPct val="50000"/>
              </a:spcBef>
            </a:pPr>
            <a:r>
              <a:rPr kumimoji="1" lang="en-US" altLang="zh-CN" sz="2400" b="1">
                <a:solidFill>
                  <a:srgbClr val="990000"/>
                </a:solidFill>
                <a:latin typeface="Times New Roman" pitchFamily="18" charset="0"/>
              </a:rPr>
              <a:t>RNase I</a:t>
            </a:r>
          </a:p>
        </p:txBody>
      </p:sp>
      <p:sp>
        <p:nvSpPr>
          <p:cNvPr id="88147" name="Text Box 83"/>
          <p:cNvSpPr txBox="1">
            <a:spLocks noChangeArrowheads="1"/>
          </p:cNvSpPr>
          <p:nvPr/>
        </p:nvSpPr>
        <p:spPr bwMode="auto">
          <a:xfrm>
            <a:off x="4114800" y="4003675"/>
            <a:ext cx="1465263" cy="457200"/>
          </a:xfrm>
          <a:prstGeom prst="rect">
            <a:avLst/>
          </a:prstGeom>
          <a:solidFill>
            <a:srgbClr val="CC0000"/>
          </a:solidFill>
          <a:ln w="9525">
            <a:noFill/>
            <a:miter lim="800000"/>
            <a:headEnd/>
            <a:tailEnd/>
          </a:ln>
          <a:effectLst/>
        </p:spPr>
        <p:txBody>
          <a:bodyPr>
            <a:spAutoFit/>
          </a:bodyPr>
          <a:lstStyle/>
          <a:p>
            <a:pPr eaLnBrk="0" hangingPunct="0">
              <a:spcBef>
                <a:spcPct val="50000"/>
              </a:spcBef>
            </a:pPr>
            <a:r>
              <a:rPr kumimoji="1" lang="en-US" altLang="zh-CN" sz="2400" b="1">
                <a:solidFill>
                  <a:srgbClr val="00FF00"/>
                </a:solidFill>
                <a:latin typeface="Times New Roman" pitchFamily="18" charset="0"/>
              </a:rPr>
              <a:t>RNase T</a:t>
            </a:r>
            <a:r>
              <a:rPr kumimoji="1" lang="en-US" altLang="zh-CN" sz="2400" b="1" baseline="-25000">
                <a:solidFill>
                  <a:srgbClr val="00FF00"/>
                </a:solidFill>
                <a:latin typeface="Times New Roman" pitchFamily="18" charset="0"/>
              </a:rPr>
              <a:t>1</a:t>
            </a:r>
          </a:p>
        </p:txBody>
      </p:sp>
      <p:sp>
        <p:nvSpPr>
          <p:cNvPr id="88148" name="Text Box 84"/>
          <p:cNvSpPr txBox="1">
            <a:spLocks noChangeArrowheads="1"/>
          </p:cNvSpPr>
          <p:nvPr/>
        </p:nvSpPr>
        <p:spPr bwMode="auto">
          <a:xfrm>
            <a:off x="7391400" y="3927475"/>
            <a:ext cx="1501775" cy="457200"/>
          </a:xfrm>
          <a:prstGeom prst="rect">
            <a:avLst/>
          </a:prstGeom>
          <a:solidFill>
            <a:srgbClr val="CC0000"/>
          </a:solidFill>
          <a:ln w="9525">
            <a:noFill/>
            <a:miter lim="800000"/>
            <a:headEnd/>
            <a:tailEnd/>
          </a:ln>
          <a:effectLst/>
        </p:spPr>
        <p:txBody>
          <a:bodyPr>
            <a:spAutoFit/>
          </a:bodyPr>
          <a:lstStyle/>
          <a:p>
            <a:pPr eaLnBrk="0" hangingPunct="0">
              <a:spcBef>
                <a:spcPct val="50000"/>
              </a:spcBef>
            </a:pPr>
            <a:r>
              <a:rPr kumimoji="1" lang="en-US" altLang="zh-CN" sz="2400" b="1">
                <a:solidFill>
                  <a:srgbClr val="00FF00"/>
                </a:solidFill>
                <a:latin typeface="Times New Roman" pitchFamily="18" charset="0"/>
              </a:rPr>
              <a:t>RNase T</a:t>
            </a:r>
            <a:r>
              <a:rPr kumimoji="1" lang="en-US" altLang="zh-CN" sz="2400" b="1" baseline="-25000">
                <a:solidFill>
                  <a:srgbClr val="00FF00"/>
                </a:solidFill>
                <a:latin typeface="Times New Roman" pitchFamily="18" charset="0"/>
              </a:rPr>
              <a:t>1</a:t>
            </a:r>
          </a:p>
        </p:txBody>
      </p:sp>
      <p:sp>
        <p:nvSpPr>
          <p:cNvPr id="88149" name="Line 85"/>
          <p:cNvSpPr>
            <a:spLocks noChangeShapeType="1"/>
          </p:cNvSpPr>
          <p:nvPr/>
        </p:nvSpPr>
        <p:spPr bwMode="auto">
          <a:xfrm flipV="1">
            <a:off x="1371600" y="3317875"/>
            <a:ext cx="0" cy="762000"/>
          </a:xfrm>
          <a:prstGeom prst="line">
            <a:avLst/>
          </a:prstGeom>
          <a:noFill/>
          <a:ln w="28575">
            <a:solidFill>
              <a:srgbClr val="009900"/>
            </a:solidFill>
            <a:round/>
            <a:headEnd/>
            <a:tailEnd type="triangle" w="med" len="med"/>
          </a:ln>
          <a:effectLst/>
        </p:spPr>
        <p:txBody>
          <a:bodyPr/>
          <a:lstStyle/>
          <a:p>
            <a:endParaRPr lang="zh-CN" altLang="en-US" dirty="0">
              <a:latin typeface="Times New Roman" panose="02020603050405020304" pitchFamily="18" charset="0"/>
            </a:endParaRPr>
          </a:p>
        </p:txBody>
      </p:sp>
      <p:sp>
        <p:nvSpPr>
          <p:cNvPr id="88150" name="Line 86"/>
          <p:cNvSpPr>
            <a:spLocks noChangeShapeType="1"/>
          </p:cNvSpPr>
          <p:nvPr/>
        </p:nvSpPr>
        <p:spPr bwMode="auto">
          <a:xfrm flipV="1">
            <a:off x="3124200" y="3317875"/>
            <a:ext cx="0" cy="762000"/>
          </a:xfrm>
          <a:prstGeom prst="line">
            <a:avLst/>
          </a:prstGeom>
          <a:noFill/>
          <a:ln w="28575">
            <a:solidFill>
              <a:srgbClr val="009900"/>
            </a:solidFill>
            <a:round/>
            <a:headEnd/>
            <a:tailEnd type="triangle" w="med" len="med"/>
          </a:ln>
          <a:effectLst/>
        </p:spPr>
        <p:txBody>
          <a:bodyPr/>
          <a:lstStyle/>
          <a:p>
            <a:endParaRPr lang="zh-CN" altLang="en-US" dirty="0">
              <a:latin typeface="Times New Roman" panose="02020603050405020304" pitchFamily="18" charset="0"/>
            </a:endParaRPr>
          </a:p>
        </p:txBody>
      </p:sp>
      <p:sp>
        <p:nvSpPr>
          <p:cNvPr id="88151" name="Line 87"/>
          <p:cNvSpPr>
            <a:spLocks noChangeShapeType="1"/>
          </p:cNvSpPr>
          <p:nvPr/>
        </p:nvSpPr>
        <p:spPr bwMode="auto">
          <a:xfrm flipV="1">
            <a:off x="4800600" y="3317875"/>
            <a:ext cx="0" cy="762000"/>
          </a:xfrm>
          <a:prstGeom prst="line">
            <a:avLst/>
          </a:prstGeom>
          <a:noFill/>
          <a:ln w="28575">
            <a:solidFill>
              <a:srgbClr val="009900"/>
            </a:solidFill>
            <a:round/>
            <a:headEnd/>
            <a:tailEnd type="triangle" w="med" len="med"/>
          </a:ln>
          <a:effectLst/>
        </p:spPr>
        <p:txBody>
          <a:bodyPr/>
          <a:lstStyle/>
          <a:p>
            <a:endParaRPr lang="zh-CN" altLang="en-US" dirty="0">
              <a:latin typeface="Times New Roman" panose="02020603050405020304" pitchFamily="18" charset="0"/>
            </a:endParaRPr>
          </a:p>
        </p:txBody>
      </p:sp>
      <p:sp>
        <p:nvSpPr>
          <p:cNvPr id="88152" name="Line 88"/>
          <p:cNvSpPr>
            <a:spLocks noChangeShapeType="1"/>
          </p:cNvSpPr>
          <p:nvPr/>
        </p:nvSpPr>
        <p:spPr bwMode="auto">
          <a:xfrm flipV="1">
            <a:off x="8077200" y="3165475"/>
            <a:ext cx="0" cy="762000"/>
          </a:xfrm>
          <a:prstGeom prst="line">
            <a:avLst/>
          </a:prstGeom>
          <a:noFill/>
          <a:ln w="28575">
            <a:solidFill>
              <a:srgbClr val="009900"/>
            </a:solidFill>
            <a:round/>
            <a:headEnd/>
            <a:tailEnd type="triangle" w="med" len="med"/>
          </a:ln>
          <a:effectLst/>
        </p:spPr>
        <p:txBody>
          <a:bodyPr/>
          <a:lstStyle/>
          <a:p>
            <a:endParaRPr lang="zh-CN" altLang="en-US" dirty="0">
              <a:latin typeface="Times New Roman" panose="02020603050405020304" pitchFamily="18" charset="0"/>
            </a:endParaRPr>
          </a:p>
        </p:txBody>
      </p:sp>
      <p:sp>
        <p:nvSpPr>
          <p:cNvPr id="88153" name="Text Box 89"/>
          <p:cNvSpPr txBox="1">
            <a:spLocks noChangeArrowheads="1"/>
          </p:cNvSpPr>
          <p:nvPr/>
        </p:nvSpPr>
        <p:spPr bwMode="auto">
          <a:xfrm>
            <a:off x="2286000" y="5146675"/>
            <a:ext cx="4724400" cy="457200"/>
          </a:xfrm>
          <a:prstGeom prst="rect">
            <a:avLst/>
          </a:prstGeom>
          <a:noFill/>
          <a:ln w="9525">
            <a:noFill/>
            <a:miter lim="800000"/>
            <a:headEnd/>
            <a:tailEnd/>
          </a:ln>
          <a:effectLst/>
        </p:spPr>
        <p:txBody>
          <a:bodyPr>
            <a:spAutoFit/>
          </a:bodyPr>
          <a:lstStyle/>
          <a:p>
            <a:pPr algn="ctr" eaLnBrk="0" hangingPunct="0">
              <a:spcBef>
                <a:spcPct val="50000"/>
              </a:spcBef>
            </a:pPr>
            <a:r>
              <a:rPr lang="en-US" altLang="zh-CN" sz="2400" b="1">
                <a:solidFill>
                  <a:srgbClr val="0000FF"/>
                </a:solidFill>
                <a:latin typeface="Times New Roman" pitchFamily="18" charset="0"/>
                <a:ea typeface="方正舒体" pitchFamily="2" charset="-122"/>
              </a:rPr>
              <a:t>Pu </a:t>
            </a:r>
            <a:r>
              <a:rPr lang="zh-CN" altLang="en-US" sz="2400" b="1">
                <a:solidFill>
                  <a:srgbClr val="0000FF"/>
                </a:solidFill>
                <a:latin typeface="Times New Roman" pitchFamily="18" charset="0"/>
                <a:ea typeface="方正舒体" pitchFamily="2" charset="-122"/>
              </a:rPr>
              <a:t>：嘌呤             </a:t>
            </a:r>
            <a:r>
              <a:rPr lang="en-US" altLang="zh-CN" sz="2400" b="1">
                <a:solidFill>
                  <a:srgbClr val="0000FF"/>
                </a:solidFill>
                <a:latin typeface="Times New Roman" pitchFamily="18" charset="0"/>
                <a:ea typeface="方正舒体" pitchFamily="2" charset="-122"/>
              </a:rPr>
              <a:t>Py</a:t>
            </a:r>
            <a:r>
              <a:rPr lang="zh-CN" altLang="en-US" sz="2400" b="1">
                <a:solidFill>
                  <a:srgbClr val="0000FF"/>
                </a:solidFill>
                <a:latin typeface="Times New Roman" pitchFamily="18" charset="0"/>
                <a:ea typeface="方正舒体" pitchFamily="2" charset="-122"/>
              </a:rPr>
              <a:t>：嘧啶</a:t>
            </a:r>
            <a:endParaRPr lang="zh-CN" altLang="en-US" sz="2400" b="1">
              <a:solidFill>
                <a:schemeClr val="accent2"/>
              </a:solidFill>
              <a:latin typeface="Times New Roman" pitchFamily="18" charset="0"/>
              <a:ea typeface="方正舒体" pitchFamily="2" charset="-122"/>
            </a:endParaRPr>
          </a:p>
        </p:txBody>
      </p:sp>
      <p:sp>
        <p:nvSpPr>
          <p:cNvPr id="88154" name="Rectangle 90"/>
          <p:cNvSpPr>
            <a:spLocks noChangeArrowheads="1"/>
          </p:cNvSpPr>
          <p:nvPr/>
        </p:nvSpPr>
        <p:spPr bwMode="auto">
          <a:xfrm>
            <a:off x="611188" y="4660900"/>
            <a:ext cx="1346844" cy="369332"/>
          </a:xfrm>
          <a:prstGeom prst="rect">
            <a:avLst/>
          </a:prstGeom>
          <a:noFill/>
          <a:ln w="9525">
            <a:noFill/>
            <a:miter lim="800000"/>
            <a:headEnd/>
            <a:tailEnd/>
          </a:ln>
          <a:effectLst/>
        </p:spPr>
        <p:txBody>
          <a:bodyPr wrap="none">
            <a:spAutoFit/>
          </a:bodyPr>
          <a:lstStyle/>
          <a:p>
            <a:r>
              <a:rPr lang="zh-CN" altLang="en-US" b="1" dirty="0">
                <a:solidFill>
                  <a:schemeClr val="accent2"/>
                </a:solidFill>
                <a:latin typeface="Times New Roman" panose="02020603050405020304" pitchFamily="18" charset="0"/>
              </a:rPr>
              <a:t>牛胰核酸酶</a:t>
            </a:r>
          </a:p>
        </p:txBody>
      </p:sp>
      <p:sp>
        <p:nvSpPr>
          <p:cNvPr id="88155" name="Rectangle 91"/>
          <p:cNvSpPr>
            <a:spLocks noChangeArrowheads="1"/>
          </p:cNvSpPr>
          <p:nvPr/>
        </p:nvSpPr>
        <p:spPr bwMode="auto">
          <a:xfrm>
            <a:off x="5724525" y="4516438"/>
            <a:ext cx="1346844" cy="369332"/>
          </a:xfrm>
          <a:prstGeom prst="rect">
            <a:avLst/>
          </a:prstGeom>
          <a:solidFill>
            <a:srgbClr val="CC0000"/>
          </a:solidFill>
          <a:ln w="9525">
            <a:noFill/>
            <a:miter lim="800000"/>
            <a:headEnd/>
            <a:tailEnd/>
          </a:ln>
          <a:effectLst/>
        </p:spPr>
        <p:txBody>
          <a:bodyPr wrap="none">
            <a:spAutoFit/>
          </a:bodyPr>
          <a:lstStyle/>
          <a:p>
            <a:r>
              <a:rPr lang="zh-CN" altLang="en-US" b="1" dirty="0">
                <a:solidFill>
                  <a:srgbClr val="00FF00"/>
                </a:solidFill>
                <a:latin typeface="Times New Roman" panose="02020603050405020304" pitchFamily="18" charset="0"/>
              </a:rPr>
              <a:t>曲霉核酸酶</a:t>
            </a:r>
          </a:p>
        </p:txBody>
      </p:sp>
      <p:sp>
        <p:nvSpPr>
          <p:cNvPr id="88156" name="Text Box 92"/>
          <p:cNvSpPr txBox="1">
            <a:spLocks noChangeArrowheads="1"/>
          </p:cNvSpPr>
          <p:nvPr/>
        </p:nvSpPr>
        <p:spPr bwMode="auto">
          <a:xfrm>
            <a:off x="1476375" y="5949950"/>
            <a:ext cx="5327650" cy="457200"/>
          </a:xfrm>
          <a:prstGeom prst="rect">
            <a:avLst/>
          </a:prstGeom>
          <a:solidFill>
            <a:srgbClr val="FFFFCC"/>
          </a:solidFill>
          <a:ln w="9525">
            <a:noFill/>
            <a:miter lim="800000"/>
            <a:headEnd/>
            <a:tailEnd/>
          </a:ln>
          <a:effectLst/>
        </p:spPr>
        <p:txBody>
          <a:bodyPr>
            <a:spAutoFit/>
          </a:bodyPr>
          <a:lstStyle/>
          <a:p>
            <a:pPr>
              <a:spcBef>
                <a:spcPct val="50000"/>
              </a:spcBef>
            </a:pPr>
            <a:r>
              <a:rPr lang="zh-CN" altLang="en-US" sz="2400" b="1" dirty="0">
                <a:solidFill>
                  <a:srgbClr val="990000"/>
                </a:solidFill>
                <a:effectLst>
                  <a:outerShdw blurRad="38100" dist="38100" dir="2700000" algn="tl">
                    <a:srgbClr val="000000"/>
                  </a:outerShdw>
                </a:effectLst>
                <a:latin typeface="Times New Roman" panose="02020603050405020304" pitchFamily="18" charset="0"/>
              </a:rPr>
              <a:t>特异性核酸酶，只作用于</a:t>
            </a:r>
            <a:r>
              <a:rPr lang="en-US" altLang="zh-CN" sz="2400" b="1" dirty="0">
                <a:solidFill>
                  <a:srgbClr val="990000"/>
                </a:solidFill>
                <a:effectLst>
                  <a:outerShdw blurRad="38100" dist="38100" dir="2700000" algn="tl">
                    <a:srgbClr val="000000"/>
                  </a:outerShdw>
                </a:effectLst>
                <a:latin typeface="Times New Roman" panose="02020603050405020304" pitchFamily="18" charset="0"/>
              </a:rPr>
              <a:t>RNA</a:t>
            </a:r>
            <a:r>
              <a:rPr lang="zh-CN" altLang="en-US" sz="2400" b="1" dirty="0">
                <a:solidFill>
                  <a:srgbClr val="990000"/>
                </a:solidFill>
                <a:effectLst>
                  <a:outerShdw blurRad="38100" dist="38100" dir="2700000" algn="tl">
                    <a:srgbClr val="000000"/>
                  </a:outerShdw>
                </a:effectLst>
                <a:latin typeface="Times New Roman" panose="02020603050405020304" pitchFamily="18" charset="0"/>
              </a:rPr>
              <a:t>或</a:t>
            </a:r>
            <a:r>
              <a:rPr lang="en-US" altLang="zh-CN" sz="2400" b="1" dirty="0">
                <a:solidFill>
                  <a:srgbClr val="990000"/>
                </a:solidFill>
                <a:effectLst>
                  <a:outerShdw blurRad="38100" dist="38100" dir="2700000" algn="tl">
                    <a:srgbClr val="000000"/>
                  </a:outerShdw>
                </a:effectLst>
                <a:latin typeface="Times New Roman" panose="02020603050405020304" pitchFamily="18" charset="0"/>
              </a:rPr>
              <a:t>DNA</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8154"/>
                                        </p:tgtEl>
                                        <p:attrNameLst>
                                          <p:attrName>style.visibility</p:attrName>
                                        </p:attrNameLst>
                                      </p:cBhvr>
                                      <p:to>
                                        <p:strVal val="visible"/>
                                      </p:to>
                                    </p:set>
                                    <p:animEffect transition="in" filter="fade">
                                      <p:cBhvr>
                                        <p:cTn id="7" dur="1000"/>
                                        <p:tgtEl>
                                          <p:spTgt spid="88154"/>
                                        </p:tgtEl>
                                      </p:cBhvr>
                                    </p:animEffect>
                                    <p:anim calcmode="lin" valueType="num">
                                      <p:cBhvr>
                                        <p:cTn id="8" dur="1000" fill="hold"/>
                                        <p:tgtEl>
                                          <p:spTgt spid="88154"/>
                                        </p:tgtEl>
                                        <p:attrNameLst>
                                          <p:attrName>ppt_x</p:attrName>
                                        </p:attrNameLst>
                                      </p:cBhvr>
                                      <p:tavLst>
                                        <p:tav tm="0">
                                          <p:val>
                                            <p:strVal val="#ppt_x"/>
                                          </p:val>
                                        </p:tav>
                                        <p:tav tm="100000">
                                          <p:val>
                                            <p:strVal val="#ppt_x"/>
                                          </p:val>
                                        </p:tav>
                                      </p:tavLst>
                                    </p:anim>
                                    <p:anim calcmode="lin" valueType="num">
                                      <p:cBhvr>
                                        <p:cTn id="9" dur="1000" fill="hold"/>
                                        <p:tgtEl>
                                          <p:spTgt spid="8815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8145"/>
                                        </p:tgtEl>
                                        <p:attrNameLst>
                                          <p:attrName>style.visibility</p:attrName>
                                        </p:attrNameLst>
                                      </p:cBhvr>
                                      <p:to>
                                        <p:strVal val="visible"/>
                                      </p:to>
                                    </p:set>
                                    <p:animEffect transition="in" filter="fade">
                                      <p:cBhvr>
                                        <p:cTn id="12" dur="1000"/>
                                        <p:tgtEl>
                                          <p:spTgt spid="88145"/>
                                        </p:tgtEl>
                                      </p:cBhvr>
                                    </p:animEffect>
                                    <p:anim calcmode="lin" valueType="num">
                                      <p:cBhvr>
                                        <p:cTn id="13" dur="1000" fill="hold"/>
                                        <p:tgtEl>
                                          <p:spTgt spid="88145"/>
                                        </p:tgtEl>
                                        <p:attrNameLst>
                                          <p:attrName>ppt_x</p:attrName>
                                        </p:attrNameLst>
                                      </p:cBhvr>
                                      <p:tavLst>
                                        <p:tav tm="0">
                                          <p:val>
                                            <p:strVal val="#ppt_x"/>
                                          </p:val>
                                        </p:tav>
                                        <p:tav tm="100000">
                                          <p:val>
                                            <p:strVal val="#ppt_x"/>
                                          </p:val>
                                        </p:tav>
                                      </p:tavLst>
                                    </p:anim>
                                    <p:anim calcmode="lin" valueType="num">
                                      <p:cBhvr>
                                        <p:cTn id="14" dur="1000" fill="hold"/>
                                        <p:tgtEl>
                                          <p:spTgt spid="88145"/>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88146"/>
                                        </p:tgtEl>
                                        <p:attrNameLst>
                                          <p:attrName>style.visibility</p:attrName>
                                        </p:attrNameLst>
                                      </p:cBhvr>
                                      <p:to>
                                        <p:strVal val="visible"/>
                                      </p:to>
                                    </p:set>
                                    <p:animEffect transition="in" filter="fade">
                                      <p:cBhvr>
                                        <p:cTn id="17" dur="1000"/>
                                        <p:tgtEl>
                                          <p:spTgt spid="88146"/>
                                        </p:tgtEl>
                                      </p:cBhvr>
                                    </p:animEffect>
                                    <p:anim calcmode="lin" valueType="num">
                                      <p:cBhvr>
                                        <p:cTn id="18" dur="1000" fill="hold"/>
                                        <p:tgtEl>
                                          <p:spTgt spid="88146"/>
                                        </p:tgtEl>
                                        <p:attrNameLst>
                                          <p:attrName>ppt_x</p:attrName>
                                        </p:attrNameLst>
                                      </p:cBhvr>
                                      <p:tavLst>
                                        <p:tav tm="0">
                                          <p:val>
                                            <p:strVal val="#ppt_x"/>
                                          </p:val>
                                        </p:tav>
                                        <p:tav tm="100000">
                                          <p:val>
                                            <p:strVal val="#ppt_x"/>
                                          </p:val>
                                        </p:tav>
                                      </p:tavLst>
                                    </p:anim>
                                    <p:anim calcmode="lin" valueType="num">
                                      <p:cBhvr>
                                        <p:cTn id="19" dur="1000" fill="hold"/>
                                        <p:tgtEl>
                                          <p:spTgt spid="88146"/>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88150"/>
                                        </p:tgtEl>
                                        <p:attrNameLst>
                                          <p:attrName>style.visibility</p:attrName>
                                        </p:attrNameLst>
                                      </p:cBhvr>
                                      <p:to>
                                        <p:strVal val="visible"/>
                                      </p:to>
                                    </p:set>
                                    <p:animEffect transition="in" filter="fade">
                                      <p:cBhvr>
                                        <p:cTn id="22" dur="1000"/>
                                        <p:tgtEl>
                                          <p:spTgt spid="88150"/>
                                        </p:tgtEl>
                                      </p:cBhvr>
                                    </p:animEffect>
                                    <p:anim calcmode="lin" valueType="num">
                                      <p:cBhvr>
                                        <p:cTn id="23" dur="1000" fill="hold"/>
                                        <p:tgtEl>
                                          <p:spTgt spid="88150"/>
                                        </p:tgtEl>
                                        <p:attrNameLst>
                                          <p:attrName>ppt_x</p:attrName>
                                        </p:attrNameLst>
                                      </p:cBhvr>
                                      <p:tavLst>
                                        <p:tav tm="0">
                                          <p:val>
                                            <p:strVal val="#ppt_x"/>
                                          </p:val>
                                        </p:tav>
                                        <p:tav tm="100000">
                                          <p:val>
                                            <p:strVal val="#ppt_x"/>
                                          </p:val>
                                        </p:tav>
                                      </p:tavLst>
                                    </p:anim>
                                    <p:anim calcmode="lin" valueType="num">
                                      <p:cBhvr>
                                        <p:cTn id="24" dur="1000" fill="hold"/>
                                        <p:tgtEl>
                                          <p:spTgt spid="88150"/>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88149"/>
                                        </p:tgtEl>
                                        <p:attrNameLst>
                                          <p:attrName>style.visibility</p:attrName>
                                        </p:attrNameLst>
                                      </p:cBhvr>
                                      <p:to>
                                        <p:strVal val="visible"/>
                                      </p:to>
                                    </p:set>
                                    <p:animEffect transition="in" filter="fade">
                                      <p:cBhvr>
                                        <p:cTn id="27" dur="1000"/>
                                        <p:tgtEl>
                                          <p:spTgt spid="88149"/>
                                        </p:tgtEl>
                                      </p:cBhvr>
                                    </p:animEffect>
                                    <p:anim calcmode="lin" valueType="num">
                                      <p:cBhvr>
                                        <p:cTn id="28" dur="1000" fill="hold"/>
                                        <p:tgtEl>
                                          <p:spTgt spid="88149"/>
                                        </p:tgtEl>
                                        <p:attrNameLst>
                                          <p:attrName>ppt_x</p:attrName>
                                        </p:attrNameLst>
                                      </p:cBhvr>
                                      <p:tavLst>
                                        <p:tav tm="0">
                                          <p:val>
                                            <p:strVal val="#ppt_x"/>
                                          </p:val>
                                        </p:tav>
                                        <p:tav tm="100000">
                                          <p:val>
                                            <p:strVal val="#ppt_x"/>
                                          </p:val>
                                        </p:tav>
                                      </p:tavLst>
                                    </p:anim>
                                    <p:anim calcmode="lin" valueType="num">
                                      <p:cBhvr>
                                        <p:cTn id="29" dur="1000" fill="hold"/>
                                        <p:tgtEl>
                                          <p:spTgt spid="88149"/>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88155"/>
                                        </p:tgtEl>
                                        <p:attrNameLst>
                                          <p:attrName>style.visibility</p:attrName>
                                        </p:attrNameLst>
                                      </p:cBhvr>
                                      <p:to>
                                        <p:strVal val="visible"/>
                                      </p:to>
                                    </p:set>
                                    <p:animEffect transition="in" filter="fade">
                                      <p:cBhvr>
                                        <p:cTn id="34" dur="1000"/>
                                        <p:tgtEl>
                                          <p:spTgt spid="88155"/>
                                        </p:tgtEl>
                                      </p:cBhvr>
                                    </p:animEffect>
                                    <p:anim calcmode="lin" valueType="num">
                                      <p:cBhvr>
                                        <p:cTn id="35" dur="1000" fill="hold"/>
                                        <p:tgtEl>
                                          <p:spTgt spid="88155"/>
                                        </p:tgtEl>
                                        <p:attrNameLst>
                                          <p:attrName>ppt_x</p:attrName>
                                        </p:attrNameLst>
                                      </p:cBhvr>
                                      <p:tavLst>
                                        <p:tav tm="0">
                                          <p:val>
                                            <p:strVal val="#ppt_x"/>
                                          </p:val>
                                        </p:tav>
                                        <p:tav tm="100000">
                                          <p:val>
                                            <p:strVal val="#ppt_x"/>
                                          </p:val>
                                        </p:tav>
                                      </p:tavLst>
                                    </p:anim>
                                    <p:anim calcmode="lin" valueType="num">
                                      <p:cBhvr>
                                        <p:cTn id="36" dur="1000" fill="hold"/>
                                        <p:tgtEl>
                                          <p:spTgt spid="88155"/>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88147"/>
                                        </p:tgtEl>
                                        <p:attrNameLst>
                                          <p:attrName>style.visibility</p:attrName>
                                        </p:attrNameLst>
                                      </p:cBhvr>
                                      <p:to>
                                        <p:strVal val="visible"/>
                                      </p:to>
                                    </p:set>
                                    <p:animEffect transition="in" filter="fade">
                                      <p:cBhvr>
                                        <p:cTn id="39" dur="1000"/>
                                        <p:tgtEl>
                                          <p:spTgt spid="88147"/>
                                        </p:tgtEl>
                                      </p:cBhvr>
                                    </p:animEffect>
                                    <p:anim calcmode="lin" valueType="num">
                                      <p:cBhvr>
                                        <p:cTn id="40" dur="1000" fill="hold"/>
                                        <p:tgtEl>
                                          <p:spTgt spid="88147"/>
                                        </p:tgtEl>
                                        <p:attrNameLst>
                                          <p:attrName>ppt_x</p:attrName>
                                        </p:attrNameLst>
                                      </p:cBhvr>
                                      <p:tavLst>
                                        <p:tav tm="0">
                                          <p:val>
                                            <p:strVal val="#ppt_x"/>
                                          </p:val>
                                        </p:tav>
                                        <p:tav tm="100000">
                                          <p:val>
                                            <p:strVal val="#ppt_x"/>
                                          </p:val>
                                        </p:tav>
                                      </p:tavLst>
                                    </p:anim>
                                    <p:anim calcmode="lin" valueType="num">
                                      <p:cBhvr>
                                        <p:cTn id="41" dur="1000" fill="hold"/>
                                        <p:tgtEl>
                                          <p:spTgt spid="88147"/>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88151"/>
                                        </p:tgtEl>
                                        <p:attrNameLst>
                                          <p:attrName>style.visibility</p:attrName>
                                        </p:attrNameLst>
                                      </p:cBhvr>
                                      <p:to>
                                        <p:strVal val="visible"/>
                                      </p:to>
                                    </p:set>
                                    <p:animEffect transition="in" filter="fade">
                                      <p:cBhvr>
                                        <p:cTn id="44" dur="1000"/>
                                        <p:tgtEl>
                                          <p:spTgt spid="88151"/>
                                        </p:tgtEl>
                                      </p:cBhvr>
                                    </p:animEffect>
                                    <p:anim calcmode="lin" valueType="num">
                                      <p:cBhvr>
                                        <p:cTn id="45" dur="1000" fill="hold"/>
                                        <p:tgtEl>
                                          <p:spTgt spid="88151"/>
                                        </p:tgtEl>
                                        <p:attrNameLst>
                                          <p:attrName>ppt_x</p:attrName>
                                        </p:attrNameLst>
                                      </p:cBhvr>
                                      <p:tavLst>
                                        <p:tav tm="0">
                                          <p:val>
                                            <p:strVal val="#ppt_x"/>
                                          </p:val>
                                        </p:tav>
                                        <p:tav tm="100000">
                                          <p:val>
                                            <p:strVal val="#ppt_x"/>
                                          </p:val>
                                        </p:tav>
                                      </p:tavLst>
                                    </p:anim>
                                    <p:anim calcmode="lin" valueType="num">
                                      <p:cBhvr>
                                        <p:cTn id="46" dur="1000" fill="hold"/>
                                        <p:tgtEl>
                                          <p:spTgt spid="88151"/>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88148"/>
                                        </p:tgtEl>
                                        <p:attrNameLst>
                                          <p:attrName>style.visibility</p:attrName>
                                        </p:attrNameLst>
                                      </p:cBhvr>
                                      <p:to>
                                        <p:strVal val="visible"/>
                                      </p:to>
                                    </p:set>
                                    <p:animEffect transition="in" filter="fade">
                                      <p:cBhvr>
                                        <p:cTn id="49" dur="1000"/>
                                        <p:tgtEl>
                                          <p:spTgt spid="88148"/>
                                        </p:tgtEl>
                                      </p:cBhvr>
                                    </p:animEffect>
                                    <p:anim calcmode="lin" valueType="num">
                                      <p:cBhvr>
                                        <p:cTn id="50" dur="1000" fill="hold"/>
                                        <p:tgtEl>
                                          <p:spTgt spid="88148"/>
                                        </p:tgtEl>
                                        <p:attrNameLst>
                                          <p:attrName>ppt_x</p:attrName>
                                        </p:attrNameLst>
                                      </p:cBhvr>
                                      <p:tavLst>
                                        <p:tav tm="0">
                                          <p:val>
                                            <p:strVal val="#ppt_x"/>
                                          </p:val>
                                        </p:tav>
                                        <p:tav tm="100000">
                                          <p:val>
                                            <p:strVal val="#ppt_x"/>
                                          </p:val>
                                        </p:tav>
                                      </p:tavLst>
                                    </p:anim>
                                    <p:anim calcmode="lin" valueType="num">
                                      <p:cBhvr>
                                        <p:cTn id="51" dur="1000" fill="hold"/>
                                        <p:tgtEl>
                                          <p:spTgt spid="88148"/>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88152"/>
                                        </p:tgtEl>
                                        <p:attrNameLst>
                                          <p:attrName>style.visibility</p:attrName>
                                        </p:attrNameLst>
                                      </p:cBhvr>
                                      <p:to>
                                        <p:strVal val="visible"/>
                                      </p:to>
                                    </p:set>
                                    <p:animEffect transition="in" filter="fade">
                                      <p:cBhvr>
                                        <p:cTn id="54" dur="1000"/>
                                        <p:tgtEl>
                                          <p:spTgt spid="88152"/>
                                        </p:tgtEl>
                                      </p:cBhvr>
                                    </p:animEffect>
                                    <p:anim calcmode="lin" valueType="num">
                                      <p:cBhvr>
                                        <p:cTn id="55" dur="1000" fill="hold"/>
                                        <p:tgtEl>
                                          <p:spTgt spid="88152"/>
                                        </p:tgtEl>
                                        <p:attrNameLst>
                                          <p:attrName>ppt_x</p:attrName>
                                        </p:attrNameLst>
                                      </p:cBhvr>
                                      <p:tavLst>
                                        <p:tav tm="0">
                                          <p:val>
                                            <p:strVal val="#ppt_x"/>
                                          </p:val>
                                        </p:tav>
                                        <p:tav tm="100000">
                                          <p:val>
                                            <p:strVal val="#ppt_x"/>
                                          </p:val>
                                        </p:tav>
                                      </p:tavLst>
                                    </p:anim>
                                    <p:anim calcmode="lin" valueType="num">
                                      <p:cBhvr>
                                        <p:cTn id="56" dur="1000" fill="hold"/>
                                        <p:tgtEl>
                                          <p:spTgt spid="88152"/>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7" presetClass="entr" presetSubtype="0" fill="hold" grpId="0" nodeType="clickEffect">
                                  <p:stCondLst>
                                    <p:cond delay="0"/>
                                  </p:stCondLst>
                                  <p:childTnLst>
                                    <p:set>
                                      <p:cBhvr>
                                        <p:cTn id="60" dur="1" fill="hold">
                                          <p:stCondLst>
                                            <p:cond delay="0"/>
                                          </p:stCondLst>
                                        </p:cTn>
                                        <p:tgtEl>
                                          <p:spTgt spid="88156"/>
                                        </p:tgtEl>
                                        <p:attrNameLst>
                                          <p:attrName>style.visibility</p:attrName>
                                        </p:attrNameLst>
                                      </p:cBhvr>
                                      <p:to>
                                        <p:strVal val="visible"/>
                                      </p:to>
                                    </p:set>
                                    <p:animEffect transition="in" filter="fade">
                                      <p:cBhvr>
                                        <p:cTn id="61" dur="1000"/>
                                        <p:tgtEl>
                                          <p:spTgt spid="88156"/>
                                        </p:tgtEl>
                                      </p:cBhvr>
                                    </p:animEffect>
                                    <p:anim calcmode="lin" valueType="num">
                                      <p:cBhvr>
                                        <p:cTn id="62" dur="1000" fill="hold"/>
                                        <p:tgtEl>
                                          <p:spTgt spid="88156"/>
                                        </p:tgtEl>
                                        <p:attrNameLst>
                                          <p:attrName>ppt_x</p:attrName>
                                        </p:attrNameLst>
                                      </p:cBhvr>
                                      <p:tavLst>
                                        <p:tav tm="0">
                                          <p:val>
                                            <p:strVal val="#ppt_x"/>
                                          </p:val>
                                        </p:tav>
                                        <p:tav tm="100000">
                                          <p:val>
                                            <p:strVal val="#ppt_x"/>
                                          </p:val>
                                        </p:tav>
                                      </p:tavLst>
                                    </p:anim>
                                    <p:anim calcmode="lin" valueType="num">
                                      <p:cBhvr>
                                        <p:cTn id="63" dur="1000" fill="hold"/>
                                        <p:tgtEl>
                                          <p:spTgt spid="8815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145" grpId="0"/>
      <p:bldP spid="88146" grpId="0"/>
      <p:bldP spid="88147" grpId="0" animBg="1"/>
      <p:bldP spid="88148" grpId="0" animBg="1"/>
      <p:bldP spid="88149" grpId="0" animBg="1"/>
      <p:bldP spid="88150" grpId="0" animBg="1"/>
      <p:bldP spid="88151" grpId="0" animBg="1"/>
      <p:bldP spid="88152" grpId="0" animBg="1"/>
      <p:bldP spid="88154" grpId="0"/>
      <p:bldP spid="88155" grpId="0" animBg="1"/>
      <p:bldP spid="88156"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a:xfrm>
            <a:off x="684213" y="260350"/>
            <a:ext cx="7772400" cy="1143000"/>
          </a:xfrm>
          <a:noFill/>
          <a:ln/>
        </p:spPr>
        <p:txBody>
          <a:bodyPr/>
          <a:lstStyle/>
          <a:p>
            <a:r>
              <a:rPr lang="en-US" altLang="zh-CN" b="1">
                <a:solidFill>
                  <a:srgbClr val="000066"/>
                </a:solidFill>
                <a:effectLst>
                  <a:outerShdw blurRad="38100" dist="38100" dir="2700000" algn="tl">
                    <a:srgbClr val="C0C0C0"/>
                  </a:outerShdw>
                </a:effectLst>
                <a:ea typeface="隶书" pitchFamily="49" charset="-122"/>
              </a:rPr>
              <a:t>3</a:t>
            </a:r>
            <a:r>
              <a:rPr lang="zh-CN" altLang="en-US" b="1">
                <a:solidFill>
                  <a:srgbClr val="000066"/>
                </a:solidFill>
                <a:effectLst>
                  <a:outerShdw blurRad="38100" dist="38100" dir="2700000" algn="tl">
                    <a:srgbClr val="C0C0C0"/>
                  </a:outerShdw>
                </a:effectLst>
                <a:ea typeface="隶书" pitchFamily="49" charset="-122"/>
              </a:rPr>
              <a:t>、脱氧核糖核酸酶</a:t>
            </a:r>
          </a:p>
        </p:txBody>
      </p:sp>
      <p:sp>
        <p:nvSpPr>
          <p:cNvPr id="89091" name="Line 3"/>
          <p:cNvSpPr>
            <a:spLocks noChangeShapeType="1"/>
          </p:cNvSpPr>
          <p:nvPr/>
        </p:nvSpPr>
        <p:spPr bwMode="auto">
          <a:xfrm>
            <a:off x="755650" y="1260475"/>
            <a:ext cx="7696200" cy="0"/>
          </a:xfrm>
          <a:prstGeom prst="line">
            <a:avLst/>
          </a:prstGeom>
          <a:noFill/>
          <a:ln w="9525">
            <a:solidFill>
              <a:srgbClr val="00FF00"/>
            </a:solidFill>
            <a:round/>
            <a:headEnd/>
            <a:tailEnd/>
          </a:ln>
          <a:effectLst/>
          <a:scene3d>
            <a:camera prst="legacyObliqueTopRight"/>
            <a:lightRig rig="legacyFlat3" dir="b"/>
          </a:scene3d>
          <a:sp3d extrusionH="100000" prstMaterial="legacyMatte">
            <a:bevelT w="13500" h="13500" prst="angle"/>
            <a:bevelB w="13500" h="13500" prst="angle"/>
            <a:extrusionClr>
              <a:srgbClr val="00FF00"/>
            </a:extrusionClr>
          </a:sp3d>
        </p:spPr>
        <p:txBody>
          <a:bodyPr wrap="none" anchor="ctr">
            <a:flatTx/>
          </a:bodyPr>
          <a:lstStyle/>
          <a:p>
            <a:endParaRPr lang="zh-CN" altLang="en-US" dirty="0">
              <a:latin typeface="Times New Roman" panose="02020603050405020304" pitchFamily="18" charset="0"/>
            </a:endParaRPr>
          </a:p>
        </p:txBody>
      </p:sp>
      <p:sp>
        <p:nvSpPr>
          <p:cNvPr id="89092" name="Line 4"/>
          <p:cNvSpPr>
            <a:spLocks noChangeShapeType="1"/>
          </p:cNvSpPr>
          <p:nvPr/>
        </p:nvSpPr>
        <p:spPr bwMode="auto">
          <a:xfrm>
            <a:off x="1524000" y="2714625"/>
            <a:ext cx="0" cy="1295400"/>
          </a:xfrm>
          <a:prstGeom prst="line">
            <a:avLst/>
          </a:prstGeom>
          <a:noFill/>
          <a:ln w="25400">
            <a:solidFill>
              <a:srgbClr val="333399"/>
            </a:solidFill>
            <a:round/>
            <a:headEnd/>
            <a:tailEnd/>
          </a:ln>
          <a:effectLst/>
        </p:spPr>
        <p:txBody>
          <a:bodyPr/>
          <a:lstStyle/>
          <a:p>
            <a:endParaRPr lang="zh-CN" altLang="en-US" dirty="0">
              <a:latin typeface="Times New Roman" panose="02020603050405020304" pitchFamily="18" charset="0"/>
            </a:endParaRPr>
          </a:p>
        </p:txBody>
      </p:sp>
      <p:sp>
        <p:nvSpPr>
          <p:cNvPr id="89093" name="Text Box 5"/>
          <p:cNvSpPr txBox="1">
            <a:spLocks noChangeArrowheads="1"/>
          </p:cNvSpPr>
          <p:nvPr/>
        </p:nvSpPr>
        <p:spPr bwMode="auto">
          <a:xfrm>
            <a:off x="457200" y="3324225"/>
            <a:ext cx="685800" cy="396875"/>
          </a:xfrm>
          <a:prstGeom prst="rect">
            <a:avLst/>
          </a:prstGeom>
          <a:noFill/>
          <a:ln w="9525">
            <a:noFill/>
            <a:miter lim="800000"/>
            <a:headEnd/>
            <a:tailEnd/>
          </a:ln>
          <a:effectLst/>
        </p:spPr>
        <p:txBody>
          <a:bodyPr>
            <a:spAutoFit/>
          </a:bodyPr>
          <a:lstStyle/>
          <a:p>
            <a:pPr eaLnBrk="0" hangingPunct="0">
              <a:spcBef>
                <a:spcPct val="50000"/>
              </a:spcBef>
            </a:pPr>
            <a:r>
              <a:rPr lang="en-US" altLang="zh-CN" sz="2000" b="1">
                <a:solidFill>
                  <a:srgbClr val="CC0000"/>
                </a:solidFill>
                <a:latin typeface="Times New Roman" pitchFamily="18" charset="0"/>
                <a:cs typeface="Times New Roman" pitchFamily="18" charset="0"/>
              </a:rPr>
              <a:t>5´</a:t>
            </a:r>
            <a:endParaRPr lang="en-US" altLang="zh-CN" sz="1600" b="1">
              <a:solidFill>
                <a:srgbClr val="CC0000"/>
              </a:solidFill>
              <a:latin typeface="Times New Roman" pitchFamily="18" charset="0"/>
              <a:cs typeface="Times New Roman" pitchFamily="18" charset="0"/>
            </a:endParaRPr>
          </a:p>
        </p:txBody>
      </p:sp>
      <p:sp>
        <p:nvSpPr>
          <p:cNvPr id="89094" name="Line 6"/>
          <p:cNvSpPr>
            <a:spLocks noChangeShapeType="1"/>
          </p:cNvSpPr>
          <p:nvPr/>
        </p:nvSpPr>
        <p:spPr bwMode="auto">
          <a:xfrm>
            <a:off x="1524000" y="3248025"/>
            <a:ext cx="228600" cy="228600"/>
          </a:xfrm>
          <a:prstGeom prst="line">
            <a:avLst/>
          </a:prstGeom>
          <a:noFill/>
          <a:ln w="19050">
            <a:solidFill>
              <a:schemeClr val="tx1"/>
            </a:solidFill>
            <a:round/>
            <a:headEnd/>
            <a:tailEnd/>
          </a:ln>
          <a:effectLst/>
        </p:spPr>
        <p:txBody>
          <a:bodyPr/>
          <a:lstStyle/>
          <a:p>
            <a:endParaRPr lang="zh-CN" altLang="en-US" dirty="0">
              <a:latin typeface="Times New Roman" panose="02020603050405020304" pitchFamily="18" charset="0"/>
            </a:endParaRPr>
          </a:p>
        </p:txBody>
      </p:sp>
      <p:sp>
        <p:nvSpPr>
          <p:cNvPr id="89095" name="Line 7"/>
          <p:cNvSpPr>
            <a:spLocks noChangeShapeType="1"/>
          </p:cNvSpPr>
          <p:nvPr/>
        </p:nvSpPr>
        <p:spPr bwMode="auto">
          <a:xfrm>
            <a:off x="2057400" y="3705225"/>
            <a:ext cx="304800" cy="304800"/>
          </a:xfrm>
          <a:prstGeom prst="line">
            <a:avLst/>
          </a:prstGeom>
          <a:noFill/>
          <a:ln w="19050">
            <a:solidFill>
              <a:schemeClr val="tx1"/>
            </a:solidFill>
            <a:round/>
            <a:headEnd/>
            <a:tailEnd/>
          </a:ln>
          <a:effectLst/>
        </p:spPr>
        <p:txBody>
          <a:bodyPr/>
          <a:lstStyle/>
          <a:p>
            <a:endParaRPr lang="zh-CN" altLang="en-US" dirty="0">
              <a:latin typeface="Times New Roman" panose="02020603050405020304" pitchFamily="18" charset="0"/>
            </a:endParaRPr>
          </a:p>
        </p:txBody>
      </p:sp>
      <p:grpSp>
        <p:nvGrpSpPr>
          <p:cNvPr id="2" name="Group 8"/>
          <p:cNvGrpSpPr>
            <a:grpSpLocks/>
          </p:cNvGrpSpPr>
          <p:nvPr/>
        </p:nvGrpSpPr>
        <p:grpSpPr bwMode="auto">
          <a:xfrm>
            <a:off x="1676400" y="3324225"/>
            <a:ext cx="533400" cy="457200"/>
            <a:chOff x="3264" y="2784"/>
            <a:chExt cx="336" cy="288"/>
          </a:xfrm>
        </p:grpSpPr>
        <p:sp>
          <p:nvSpPr>
            <p:cNvPr id="89097" name="Oval 9"/>
            <p:cNvSpPr>
              <a:spLocks noChangeArrowheads="1"/>
            </p:cNvSpPr>
            <p:nvPr/>
          </p:nvSpPr>
          <p:spPr bwMode="auto">
            <a:xfrm>
              <a:off x="3312" y="2880"/>
              <a:ext cx="192" cy="192"/>
            </a:xfrm>
            <a:prstGeom prst="ellipse">
              <a:avLst/>
            </a:prstGeom>
            <a:solidFill>
              <a:srgbClr val="99CCFF"/>
            </a:solidFill>
            <a:ln w="22225">
              <a:solidFill>
                <a:schemeClr val="tx1"/>
              </a:solidFill>
              <a:round/>
              <a:headEnd/>
              <a:tailEnd/>
            </a:ln>
            <a:effectLst/>
          </p:spPr>
          <p:txBody>
            <a:bodyPr wrap="none" anchor="ctr"/>
            <a:lstStyle/>
            <a:p>
              <a:endParaRPr lang="zh-CN" altLang="en-US" dirty="0">
                <a:latin typeface="Times New Roman" panose="02020603050405020304" pitchFamily="18" charset="0"/>
              </a:endParaRPr>
            </a:p>
          </p:txBody>
        </p:sp>
        <p:sp>
          <p:nvSpPr>
            <p:cNvPr id="89098" name="Text Box 10"/>
            <p:cNvSpPr txBox="1">
              <a:spLocks noChangeArrowheads="1"/>
            </p:cNvSpPr>
            <p:nvPr/>
          </p:nvSpPr>
          <p:spPr bwMode="auto">
            <a:xfrm>
              <a:off x="3264" y="2784"/>
              <a:ext cx="336" cy="288"/>
            </a:xfrm>
            <a:prstGeom prst="rect">
              <a:avLst/>
            </a:prstGeom>
            <a:noFill/>
            <a:ln w="9525">
              <a:noFill/>
              <a:miter lim="800000"/>
              <a:headEnd/>
              <a:tailEnd/>
            </a:ln>
            <a:effectLst/>
          </p:spPr>
          <p:txBody>
            <a:bodyPr>
              <a:spAutoFit/>
            </a:bodyPr>
            <a:lstStyle/>
            <a:p>
              <a:pPr eaLnBrk="0" hangingPunct="0">
                <a:spcBef>
                  <a:spcPct val="50000"/>
                </a:spcBef>
              </a:pPr>
              <a:r>
                <a:rPr lang="en-US" altLang="zh-CN" sz="2400">
                  <a:latin typeface="Times New Roman" pitchFamily="18" charset="0"/>
                  <a:ea typeface="方正舒体" pitchFamily="2" charset="-122"/>
                </a:rPr>
                <a:t> </a:t>
              </a:r>
              <a:r>
                <a:rPr lang="en-US" altLang="zh-CN" b="1">
                  <a:solidFill>
                    <a:schemeClr val="accent2"/>
                  </a:solidFill>
                  <a:latin typeface="Times New Roman" pitchFamily="18" charset="0"/>
                  <a:ea typeface="方正舒体" pitchFamily="2" charset="-122"/>
                </a:rPr>
                <a:t>p</a:t>
              </a:r>
            </a:p>
          </p:txBody>
        </p:sp>
      </p:grpSp>
      <p:sp>
        <p:nvSpPr>
          <p:cNvPr id="89099" name="Line 11"/>
          <p:cNvSpPr>
            <a:spLocks noChangeShapeType="1"/>
          </p:cNvSpPr>
          <p:nvPr/>
        </p:nvSpPr>
        <p:spPr bwMode="auto">
          <a:xfrm>
            <a:off x="2362200" y="2714625"/>
            <a:ext cx="0" cy="1295400"/>
          </a:xfrm>
          <a:prstGeom prst="line">
            <a:avLst/>
          </a:prstGeom>
          <a:noFill/>
          <a:ln w="25400">
            <a:solidFill>
              <a:srgbClr val="333399"/>
            </a:solidFill>
            <a:round/>
            <a:headEnd/>
            <a:tailEnd/>
          </a:ln>
          <a:effectLst/>
        </p:spPr>
        <p:txBody>
          <a:bodyPr/>
          <a:lstStyle/>
          <a:p>
            <a:endParaRPr lang="zh-CN" altLang="en-US" dirty="0">
              <a:latin typeface="Times New Roman" panose="02020603050405020304" pitchFamily="18" charset="0"/>
            </a:endParaRPr>
          </a:p>
        </p:txBody>
      </p:sp>
      <p:sp>
        <p:nvSpPr>
          <p:cNvPr id="89100" name="Line 12"/>
          <p:cNvSpPr>
            <a:spLocks noChangeShapeType="1"/>
          </p:cNvSpPr>
          <p:nvPr/>
        </p:nvSpPr>
        <p:spPr bwMode="auto">
          <a:xfrm>
            <a:off x="2362200" y="3248025"/>
            <a:ext cx="228600" cy="228600"/>
          </a:xfrm>
          <a:prstGeom prst="line">
            <a:avLst/>
          </a:prstGeom>
          <a:noFill/>
          <a:ln w="19050">
            <a:solidFill>
              <a:schemeClr val="tx1"/>
            </a:solidFill>
            <a:round/>
            <a:headEnd/>
            <a:tailEnd/>
          </a:ln>
          <a:effectLst/>
        </p:spPr>
        <p:txBody>
          <a:bodyPr/>
          <a:lstStyle/>
          <a:p>
            <a:endParaRPr lang="zh-CN" altLang="en-US" dirty="0">
              <a:latin typeface="Times New Roman" panose="02020603050405020304" pitchFamily="18" charset="0"/>
            </a:endParaRPr>
          </a:p>
        </p:txBody>
      </p:sp>
      <p:sp>
        <p:nvSpPr>
          <p:cNvPr id="89101" name="Line 13"/>
          <p:cNvSpPr>
            <a:spLocks noChangeShapeType="1"/>
          </p:cNvSpPr>
          <p:nvPr/>
        </p:nvSpPr>
        <p:spPr bwMode="auto">
          <a:xfrm>
            <a:off x="2895600" y="3705225"/>
            <a:ext cx="304800" cy="304800"/>
          </a:xfrm>
          <a:prstGeom prst="line">
            <a:avLst/>
          </a:prstGeom>
          <a:noFill/>
          <a:ln w="19050">
            <a:solidFill>
              <a:schemeClr val="tx1"/>
            </a:solidFill>
            <a:round/>
            <a:headEnd/>
            <a:tailEnd/>
          </a:ln>
          <a:effectLst/>
        </p:spPr>
        <p:txBody>
          <a:bodyPr/>
          <a:lstStyle/>
          <a:p>
            <a:endParaRPr lang="zh-CN" altLang="en-US" dirty="0">
              <a:latin typeface="Times New Roman" panose="02020603050405020304" pitchFamily="18" charset="0"/>
            </a:endParaRPr>
          </a:p>
        </p:txBody>
      </p:sp>
      <p:grpSp>
        <p:nvGrpSpPr>
          <p:cNvPr id="3" name="Group 14"/>
          <p:cNvGrpSpPr>
            <a:grpSpLocks/>
          </p:cNvGrpSpPr>
          <p:nvPr/>
        </p:nvGrpSpPr>
        <p:grpSpPr bwMode="auto">
          <a:xfrm>
            <a:off x="2514600" y="3324225"/>
            <a:ext cx="533400" cy="457200"/>
            <a:chOff x="3264" y="2784"/>
            <a:chExt cx="336" cy="288"/>
          </a:xfrm>
        </p:grpSpPr>
        <p:sp>
          <p:nvSpPr>
            <p:cNvPr id="89103" name="Oval 15"/>
            <p:cNvSpPr>
              <a:spLocks noChangeArrowheads="1"/>
            </p:cNvSpPr>
            <p:nvPr/>
          </p:nvSpPr>
          <p:spPr bwMode="auto">
            <a:xfrm>
              <a:off x="3312" y="2880"/>
              <a:ext cx="192" cy="192"/>
            </a:xfrm>
            <a:prstGeom prst="ellipse">
              <a:avLst/>
            </a:prstGeom>
            <a:solidFill>
              <a:srgbClr val="99CCFF"/>
            </a:solidFill>
            <a:ln w="22225">
              <a:solidFill>
                <a:schemeClr val="tx1"/>
              </a:solidFill>
              <a:round/>
              <a:headEnd/>
              <a:tailEnd/>
            </a:ln>
            <a:effectLst/>
          </p:spPr>
          <p:txBody>
            <a:bodyPr wrap="none" anchor="ctr"/>
            <a:lstStyle/>
            <a:p>
              <a:endParaRPr lang="zh-CN" altLang="en-US" dirty="0">
                <a:latin typeface="Times New Roman" panose="02020603050405020304" pitchFamily="18" charset="0"/>
              </a:endParaRPr>
            </a:p>
          </p:txBody>
        </p:sp>
        <p:sp>
          <p:nvSpPr>
            <p:cNvPr id="89104" name="Text Box 16"/>
            <p:cNvSpPr txBox="1">
              <a:spLocks noChangeArrowheads="1"/>
            </p:cNvSpPr>
            <p:nvPr/>
          </p:nvSpPr>
          <p:spPr bwMode="auto">
            <a:xfrm>
              <a:off x="3264" y="2784"/>
              <a:ext cx="336" cy="288"/>
            </a:xfrm>
            <a:prstGeom prst="rect">
              <a:avLst/>
            </a:prstGeom>
            <a:noFill/>
            <a:ln w="9525">
              <a:noFill/>
              <a:miter lim="800000"/>
              <a:headEnd/>
              <a:tailEnd/>
            </a:ln>
            <a:effectLst/>
          </p:spPr>
          <p:txBody>
            <a:bodyPr>
              <a:spAutoFit/>
            </a:bodyPr>
            <a:lstStyle/>
            <a:p>
              <a:pPr eaLnBrk="0" hangingPunct="0">
                <a:spcBef>
                  <a:spcPct val="50000"/>
                </a:spcBef>
              </a:pPr>
              <a:r>
                <a:rPr lang="en-US" altLang="zh-CN" sz="2400">
                  <a:latin typeface="Times New Roman" pitchFamily="18" charset="0"/>
                  <a:ea typeface="方正舒体" pitchFamily="2" charset="-122"/>
                </a:rPr>
                <a:t> </a:t>
              </a:r>
              <a:r>
                <a:rPr lang="en-US" altLang="zh-CN" b="1">
                  <a:solidFill>
                    <a:schemeClr val="accent2"/>
                  </a:solidFill>
                  <a:latin typeface="Times New Roman" pitchFamily="18" charset="0"/>
                  <a:ea typeface="方正舒体" pitchFamily="2" charset="-122"/>
                </a:rPr>
                <a:t>p</a:t>
              </a:r>
            </a:p>
          </p:txBody>
        </p:sp>
      </p:grpSp>
      <p:sp>
        <p:nvSpPr>
          <p:cNvPr id="89105" name="Line 17"/>
          <p:cNvSpPr>
            <a:spLocks noChangeShapeType="1"/>
          </p:cNvSpPr>
          <p:nvPr/>
        </p:nvSpPr>
        <p:spPr bwMode="auto">
          <a:xfrm>
            <a:off x="4038600" y="2714625"/>
            <a:ext cx="0" cy="1295400"/>
          </a:xfrm>
          <a:prstGeom prst="line">
            <a:avLst/>
          </a:prstGeom>
          <a:noFill/>
          <a:ln w="25400">
            <a:solidFill>
              <a:srgbClr val="333399"/>
            </a:solidFill>
            <a:round/>
            <a:headEnd/>
            <a:tailEnd/>
          </a:ln>
          <a:effectLst/>
        </p:spPr>
        <p:txBody>
          <a:bodyPr/>
          <a:lstStyle/>
          <a:p>
            <a:endParaRPr lang="zh-CN" altLang="en-US" dirty="0">
              <a:latin typeface="Times New Roman" panose="02020603050405020304" pitchFamily="18" charset="0"/>
            </a:endParaRPr>
          </a:p>
        </p:txBody>
      </p:sp>
      <p:sp>
        <p:nvSpPr>
          <p:cNvPr id="89106" name="Line 18"/>
          <p:cNvSpPr>
            <a:spLocks noChangeShapeType="1"/>
          </p:cNvSpPr>
          <p:nvPr/>
        </p:nvSpPr>
        <p:spPr bwMode="auto">
          <a:xfrm>
            <a:off x="4038600" y="3248025"/>
            <a:ext cx="228600" cy="228600"/>
          </a:xfrm>
          <a:prstGeom prst="line">
            <a:avLst/>
          </a:prstGeom>
          <a:noFill/>
          <a:ln w="19050">
            <a:solidFill>
              <a:schemeClr val="tx1"/>
            </a:solidFill>
            <a:round/>
            <a:headEnd/>
            <a:tailEnd/>
          </a:ln>
          <a:effectLst/>
        </p:spPr>
        <p:txBody>
          <a:bodyPr/>
          <a:lstStyle/>
          <a:p>
            <a:endParaRPr lang="zh-CN" altLang="en-US" dirty="0">
              <a:latin typeface="Times New Roman" panose="02020603050405020304" pitchFamily="18" charset="0"/>
            </a:endParaRPr>
          </a:p>
        </p:txBody>
      </p:sp>
      <p:grpSp>
        <p:nvGrpSpPr>
          <p:cNvPr id="4" name="Group 19"/>
          <p:cNvGrpSpPr>
            <a:grpSpLocks/>
          </p:cNvGrpSpPr>
          <p:nvPr/>
        </p:nvGrpSpPr>
        <p:grpSpPr bwMode="auto">
          <a:xfrm>
            <a:off x="838200" y="3324225"/>
            <a:ext cx="533400" cy="457200"/>
            <a:chOff x="3264" y="2784"/>
            <a:chExt cx="336" cy="288"/>
          </a:xfrm>
        </p:grpSpPr>
        <p:sp>
          <p:nvSpPr>
            <p:cNvPr id="89108" name="Oval 20"/>
            <p:cNvSpPr>
              <a:spLocks noChangeArrowheads="1"/>
            </p:cNvSpPr>
            <p:nvPr/>
          </p:nvSpPr>
          <p:spPr bwMode="auto">
            <a:xfrm>
              <a:off x="3312" y="2880"/>
              <a:ext cx="192" cy="192"/>
            </a:xfrm>
            <a:prstGeom prst="ellipse">
              <a:avLst/>
            </a:prstGeom>
            <a:solidFill>
              <a:srgbClr val="99CCFF"/>
            </a:solidFill>
            <a:ln w="22225">
              <a:solidFill>
                <a:schemeClr val="tx1"/>
              </a:solidFill>
              <a:round/>
              <a:headEnd/>
              <a:tailEnd/>
            </a:ln>
            <a:effectLst/>
          </p:spPr>
          <p:txBody>
            <a:bodyPr wrap="none" anchor="ctr"/>
            <a:lstStyle/>
            <a:p>
              <a:endParaRPr lang="zh-CN" altLang="en-US" dirty="0">
                <a:latin typeface="Times New Roman" panose="02020603050405020304" pitchFamily="18" charset="0"/>
              </a:endParaRPr>
            </a:p>
          </p:txBody>
        </p:sp>
        <p:sp>
          <p:nvSpPr>
            <p:cNvPr id="89109" name="Text Box 21"/>
            <p:cNvSpPr txBox="1">
              <a:spLocks noChangeArrowheads="1"/>
            </p:cNvSpPr>
            <p:nvPr/>
          </p:nvSpPr>
          <p:spPr bwMode="auto">
            <a:xfrm>
              <a:off x="3264" y="2784"/>
              <a:ext cx="336" cy="288"/>
            </a:xfrm>
            <a:prstGeom prst="rect">
              <a:avLst/>
            </a:prstGeom>
            <a:noFill/>
            <a:ln w="9525">
              <a:noFill/>
              <a:miter lim="800000"/>
              <a:headEnd/>
              <a:tailEnd/>
            </a:ln>
            <a:effectLst/>
          </p:spPr>
          <p:txBody>
            <a:bodyPr>
              <a:spAutoFit/>
            </a:bodyPr>
            <a:lstStyle/>
            <a:p>
              <a:pPr eaLnBrk="0" hangingPunct="0">
                <a:spcBef>
                  <a:spcPct val="50000"/>
                </a:spcBef>
              </a:pPr>
              <a:r>
                <a:rPr lang="en-US" altLang="zh-CN" sz="2400">
                  <a:latin typeface="Times New Roman" pitchFamily="18" charset="0"/>
                  <a:ea typeface="方正舒体" pitchFamily="2" charset="-122"/>
                </a:rPr>
                <a:t> </a:t>
              </a:r>
              <a:r>
                <a:rPr lang="en-US" altLang="zh-CN" b="1">
                  <a:solidFill>
                    <a:schemeClr val="accent2"/>
                  </a:solidFill>
                  <a:latin typeface="Times New Roman" pitchFamily="18" charset="0"/>
                  <a:ea typeface="方正舒体" pitchFamily="2" charset="-122"/>
                </a:rPr>
                <a:t>p</a:t>
              </a:r>
            </a:p>
          </p:txBody>
        </p:sp>
      </p:grpSp>
      <p:sp>
        <p:nvSpPr>
          <p:cNvPr id="89110" name="Line 22"/>
          <p:cNvSpPr>
            <a:spLocks noChangeShapeType="1"/>
          </p:cNvSpPr>
          <p:nvPr/>
        </p:nvSpPr>
        <p:spPr bwMode="auto">
          <a:xfrm>
            <a:off x="3200400" y="2714625"/>
            <a:ext cx="0" cy="1295400"/>
          </a:xfrm>
          <a:prstGeom prst="line">
            <a:avLst/>
          </a:prstGeom>
          <a:noFill/>
          <a:ln w="25400">
            <a:solidFill>
              <a:srgbClr val="333399"/>
            </a:solidFill>
            <a:round/>
            <a:headEnd/>
            <a:tailEnd/>
          </a:ln>
          <a:effectLst/>
        </p:spPr>
        <p:txBody>
          <a:bodyPr/>
          <a:lstStyle/>
          <a:p>
            <a:endParaRPr lang="zh-CN" altLang="en-US" dirty="0">
              <a:latin typeface="Times New Roman" panose="02020603050405020304" pitchFamily="18" charset="0"/>
            </a:endParaRPr>
          </a:p>
        </p:txBody>
      </p:sp>
      <p:sp>
        <p:nvSpPr>
          <p:cNvPr id="89111" name="Line 23"/>
          <p:cNvSpPr>
            <a:spLocks noChangeShapeType="1"/>
          </p:cNvSpPr>
          <p:nvPr/>
        </p:nvSpPr>
        <p:spPr bwMode="auto">
          <a:xfrm>
            <a:off x="3200400" y="3248025"/>
            <a:ext cx="228600" cy="228600"/>
          </a:xfrm>
          <a:prstGeom prst="line">
            <a:avLst/>
          </a:prstGeom>
          <a:noFill/>
          <a:ln w="19050">
            <a:solidFill>
              <a:schemeClr val="tx1"/>
            </a:solidFill>
            <a:round/>
            <a:headEnd/>
            <a:tailEnd/>
          </a:ln>
          <a:effectLst/>
        </p:spPr>
        <p:txBody>
          <a:bodyPr/>
          <a:lstStyle/>
          <a:p>
            <a:endParaRPr lang="zh-CN" altLang="en-US" dirty="0">
              <a:latin typeface="Times New Roman" panose="02020603050405020304" pitchFamily="18" charset="0"/>
            </a:endParaRPr>
          </a:p>
        </p:txBody>
      </p:sp>
      <p:sp>
        <p:nvSpPr>
          <p:cNvPr id="89112" name="Line 24"/>
          <p:cNvSpPr>
            <a:spLocks noChangeShapeType="1"/>
          </p:cNvSpPr>
          <p:nvPr/>
        </p:nvSpPr>
        <p:spPr bwMode="auto">
          <a:xfrm>
            <a:off x="3733800" y="3705225"/>
            <a:ext cx="304800" cy="304800"/>
          </a:xfrm>
          <a:prstGeom prst="line">
            <a:avLst/>
          </a:prstGeom>
          <a:noFill/>
          <a:ln w="19050">
            <a:solidFill>
              <a:schemeClr val="tx1"/>
            </a:solidFill>
            <a:round/>
            <a:headEnd/>
            <a:tailEnd/>
          </a:ln>
          <a:effectLst/>
        </p:spPr>
        <p:txBody>
          <a:bodyPr/>
          <a:lstStyle/>
          <a:p>
            <a:endParaRPr lang="zh-CN" altLang="en-US" dirty="0">
              <a:latin typeface="Times New Roman" panose="02020603050405020304" pitchFamily="18" charset="0"/>
            </a:endParaRPr>
          </a:p>
        </p:txBody>
      </p:sp>
      <p:grpSp>
        <p:nvGrpSpPr>
          <p:cNvPr id="5" name="Group 25"/>
          <p:cNvGrpSpPr>
            <a:grpSpLocks/>
          </p:cNvGrpSpPr>
          <p:nvPr/>
        </p:nvGrpSpPr>
        <p:grpSpPr bwMode="auto">
          <a:xfrm>
            <a:off x="3352800" y="3324225"/>
            <a:ext cx="533400" cy="457200"/>
            <a:chOff x="3264" y="2784"/>
            <a:chExt cx="336" cy="288"/>
          </a:xfrm>
        </p:grpSpPr>
        <p:sp>
          <p:nvSpPr>
            <p:cNvPr id="89114" name="Oval 26"/>
            <p:cNvSpPr>
              <a:spLocks noChangeArrowheads="1"/>
            </p:cNvSpPr>
            <p:nvPr/>
          </p:nvSpPr>
          <p:spPr bwMode="auto">
            <a:xfrm>
              <a:off x="3312" y="2880"/>
              <a:ext cx="192" cy="192"/>
            </a:xfrm>
            <a:prstGeom prst="ellipse">
              <a:avLst/>
            </a:prstGeom>
            <a:solidFill>
              <a:srgbClr val="99CCFF"/>
            </a:solidFill>
            <a:ln w="22225">
              <a:solidFill>
                <a:schemeClr val="tx1"/>
              </a:solidFill>
              <a:round/>
              <a:headEnd/>
              <a:tailEnd/>
            </a:ln>
            <a:effectLst/>
          </p:spPr>
          <p:txBody>
            <a:bodyPr wrap="none" anchor="ctr"/>
            <a:lstStyle/>
            <a:p>
              <a:endParaRPr lang="zh-CN" altLang="en-US" dirty="0">
                <a:latin typeface="Times New Roman" panose="02020603050405020304" pitchFamily="18" charset="0"/>
              </a:endParaRPr>
            </a:p>
          </p:txBody>
        </p:sp>
        <p:sp>
          <p:nvSpPr>
            <p:cNvPr id="89115" name="Text Box 27"/>
            <p:cNvSpPr txBox="1">
              <a:spLocks noChangeArrowheads="1"/>
            </p:cNvSpPr>
            <p:nvPr/>
          </p:nvSpPr>
          <p:spPr bwMode="auto">
            <a:xfrm>
              <a:off x="3264" y="2784"/>
              <a:ext cx="336" cy="288"/>
            </a:xfrm>
            <a:prstGeom prst="rect">
              <a:avLst/>
            </a:prstGeom>
            <a:noFill/>
            <a:ln w="9525">
              <a:noFill/>
              <a:miter lim="800000"/>
              <a:headEnd/>
              <a:tailEnd/>
            </a:ln>
            <a:effectLst/>
          </p:spPr>
          <p:txBody>
            <a:bodyPr>
              <a:spAutoFit/>
            </a:bodyPr>
            <a:lstStyle/>
            <a:p>
              <a:pPr eaLnBrk="0" hangingPunct="0">
                <a:spcBef>
                  <a:spcPct val="50000"/>
                </a:spcBef>
              </a:pPr>
              <a:r>
                <a:rPr lang="en-US" altLang="zh-CN" sz="2400">
                  <a:latin typeface="Times New Roman" pitchFamily="18" charset="0"/>
                  <a:ea typeface="方正舒体" pitchFamily="2" charset="-122"/>
                </a:rPr>
                <a:t> </a:t>
              </a:r>
              <a:r>
                <a:rPr lang="en-US" altLang="zh-CN" b="1">
                  <a:solidFill>
                    <a:schemeClr val="accent2"/>
                  </a:solidFill>
                  <a:latin typeface="Times New Roman" pitchFamily="18" charset="0"/>
                  <a:ea typeface="方正舒体" pitchFamily="2" charset="-122"/>
                </a:rPr>
                <a:t>p</a:t>
              </a:r>
            </a:p>
          </p:txBody>
        </p:sp>
      </p:grpSp>
      <p:sp>
        <p:nvSpPr>
          <p:cNvPr id="89116" name="Line 28"/>
          <p:cNvSpPr>
            <a:spLocks noChangeShapeType="1"/>
          </p:cNvSpPr>
          <p:nvPr/>
        </p:nvSpPr>
        <p:spPr bwMode="auto">
          <a:xfrm flipH="1" flipV="1">
            <a:off x="1219200" y="3705225"/>
            <a:ext cx="304800" cy="304800"/>
          </a:xfrm>
          <a:prstGeom prst="line">
            <a:avLst/>
          </a:prstGeom>
          <a:noFill/>
          <a:ln w="19050">
            <a:solidFill>
              <a:schemeClr val="tx1"/>
            </a:solidFill>
            <a:round/>
            <a:headEnd/>
            <a:tailEnd/>
          </a:ln>
          <a:effectLst/>
        </p:spPr>
        <p:txBody>
          <a:bodyPr/>
          <a:lstStyle/>
          <a:p>
            <a:endParaRPr lang="zh-CN" altLang="en-US" dirty="0">
              <a:latin typeface="Times New Roman" panose="02020603050405020304" pitchFamily="18" charset="0"/>
            </a:endParaRPr>
          </a:p>
        </p:txBody>
      </p:sp>
      <p:sp>
        <p:nvSpPr>
          <p:cNvPr id="89117" name="Text Box 29"/>
          <p:cNvSpPr txBox="1">
            <a:spLocks noChangeArrowheads="1"/>
          </p:cNvSpPr>
          <p:nvPr/>
        </p:nvSpPr>
        <p:spPr bwMode="auto">
          <a:xfrm>
            <a:off x="7696200" y="3476625"/>
            <a:ext cx="609600" cy="366713"/>
          </a:xfrm>
          <a:prstGeom prst="rect">
            <a:avLst/>
          </a:prstGeom>
          <a:noFill/>
          <a:ln w="9525">
            <a:noFill/>
            <a:miter lim="800000"/>
            <a:headEnd/>
            <a:tailEnd/>
          </a:ln>
          <a:effectLst/>
        </p:spPr>
        <p:txBody>
          <a:bodyPr>
            <a:spAutoFit/>
          </a:bodyPr>
          <a:lstStyle/>
          <a:p>
            <a:pPr eaLnBrk="0" hangingPunct="0">
              <a:spcBef>
                <a:spcPct val="50000"/>
              </a:spcBef>
            </a:pPr>
            <a:r>
              <a:rPr lang="en-US" altLang="zh-CN" b="1">
                <a:solidFill>
                  <a:srgbClr val="320BF5"/>
                </a:solidFill>
                <a:latin typeface="Times New Roman" pitchFamily="18" charset="0"/>
                <a:ea typeface="方正舒体" pitchFamily="2" charset="-122"/>
              </a:rPr>
              <a:t>OH</a:t>
            </a:r>
          </a:p>
        </p:txBody>
      </p:sp>
      <p:sp>
        <p:nvSpPr>
          <p:cNvPr id="89118" name="Text Box 30"/>
          <p:cNvSpPr txBox="1">
            <a:spLocks noChangeArrowheads="1"/>
          </p:cNvSpPr>
          <p:nvPr/>
        </p:nvSpPr>
        <p:spPr bwMode="auto">
          <a:xfrm>
            <a:off x="1295400" y="2333625"/>
            <a:ext cx="533400" cy="457200"/>
          </a:xfrm>
          <a:prstGeom prst="rect">
            <a:avLst/>
          </a:prstGeom>
          <a:noFill/>
          <a:ln w="9525">
            <a:noFill/>
            <a:miter lim="800000"/>
            <a:headEnd/>
            <a:tailEnd/>
          </a:ln>
          <a:effectLst/>
        </p:spPr>
        <p:txBody>
          <a:bodyPr>
            <a:spAutoFit/>
          </a:bodyPr>
          <a:lstStyle/>
          <a:p>
            <a:pPr eaLnBrk="0" hangingPunct="0">
              <a:spcBef>
                <a:spcPct val="50000"/>
              </a:spcBef>
            </a:pPr>
            <a:r>
              <a:rPr lang="en-US" altLang="zh-CN" sz="2400" b="1">
                <a:solidFill>
                  <a:srgbClr val="E50D31"/>
                </a:solidFill>
                <a:latin typeface="Times New Roman" pitchFamily="18" charset="0"/>
                <a:ea typeface="方正舒体" pitchFamily="2" charset="-122"/>
              </a:rPr>
              <a:t>B</a:t>
            </a:r>
          </a:p>
        </p:txBody>
      </p:sp>
      <p:grpSp>
        <p:nvGrpSpPr>
          <p:cNvPr id="6" name="Group 31"/>
          <p:cNvGrpSpPr>
            <a:grpSpLocks/>
          </p:cNvGrpSpPr>
          <p:nvPr/>
        </p:nvGrpSpPr>
        <p:grpSpPr bwMode="auto">
          <a:xfrm>
            <a:off x="4572000" y="2714625"/>
            <a:ext cx="1143000" cy="1295400"/>
            <a:chOff x="3072" y="768"/>
            <a:chExt cx="720" cy="816"/>
          </a:xfrm>
        </p:grpSpPr>
        <p:sp>
          <p:nvSpPr>
            <p:cNvPr id="89120" name="Line 32"/>
            <p:cNvSpPr>
              <a:spLocks noChangeShapeType="1"/>
            </p:cNvSpPr>
            <p:nvPr/>
          </p:nvSpPr>
          <p:spPr bwMode="auto">
            <a:xfrm>
              <a:off x="3264" y="768"/>
              <a:ext cx="0" cy="816"/>
            </a:xfrm>
            <a:prstGeom prst="line">
              <a:avLst/>
            </a:prstGeom>
            <a:noFill/>
            <a:ln w="25400">
              <a:solidFill>
                <a:srgbClr val="333399"/>
              </a:solidFill>
              <a:round/>
              <a:headEnd/>
              <a:tailEnd/>
            </a:ln>
            <a:effectLst/>
          </p:spPr>
          <p:txBody>
            <a:bodyPr/>
            <a:lstStyle/>
            <a:p>
              <a:endParaRPr lang="zh-CN" altLang="en-US" dirty="0">
                <a:latin typeface="Times New Roman" panose="02020603050405020304" pitchFamily="18" charset="0"/>
              </a:endParaRPr>
            </a:p>
          </p:txBody>
        </p:sp>
        <p:sp>
          <p:nvSpPr>
            <p:cNvPr id="89121" name="Text Box 33"/>
            <p:cNvSpPr txBox="1">
              <a:spLocks noChangeArrowheads="1"/>
            </p:cNvSpPr>
            <p:nvPr/>
          </p:nvSpPr>
          <p:spPr bwMode="auto">
            <a:xfrm>
              <a:off x="3072" y="1008"/>
              <a:ext cx="240" cy="192"/>
            </a:xfrm>
            <a:prstGeom prst="rect">
              <a:avLst/>
            </a:prstGeom>
            <a:noFill/>
            <a:ln w="9525">
              <a:noFill/>
              <a:miter lim="800000"/>
              <a:headEnd/>
              <a:tailEnd/>
            </a:ln>
            <a:effectLst/>
          </p:spPr>
          <p:txBody>
            <a:bodyPr>
              <a:spAutoFit/>
            </a:bodyPr>
            <a:lstStyle/>
            <a:p>
              <a:pPr eaLnBrk="0" hangingPunct="0">
                <a:spcBef>
                  <a:spcPct val="50000"/>
                </a:spcBef>
              </a:pPr>
              <a:endParaRPr lang="zh-CN" altLang="zh-CN" sz="1400" b="1">
                <a:solidFill>
                  <a:schemeClr val="accent2"/>
                </a:solidFill>
                <a:latin typeface="Times New Roman" pitchFamily="18" charset="0"/>
                <a:cs typeface="Times New Roman" pitchFamily="18" charset="0"/>
              </a:endParaRPr>
            </a:p>
          </p:txBody>
        </p:sp>
        <p:sp>
          <p:nvSpPr>
            <p:cNvPr id="89122" name="Line 34"/>
            <p:cNvSpPr>
              <a:spLocks noChangeShapeType="1"/>
            </p:cNvSpPr>
            <p:nvPr/>
          </p:nvSpPr>
          <p:spPr bwMode="auto">
            <a:xfrm>
              <a:off x="3264" y="1104"/>
              <a:ext cx="144" cy="144"/>
            </a:xfrm>
            <a:prstGeom prst="line">
              <a:avLst/>
            </a:prstGeom>
            <a:noFill/>
            <a:ln w="19050">
              <a:solidFill>
                <a:schemeClr val="tx1"/>
              </a:solidFill>
              <a:round/>
              <a:headEnd/>
              <a:tailEnd/>
            </a:ln>
            <a:effectLst/>
          </p:spPr>
          <p:txBody>
            <a:bodyPr/>
            <a:lstStyle/>
            <a:p>
              <a:endParaRPr lang="zh-CN" altLang="en-US" dirty="0">
                <a:latin typeface="Times New Roman" panose="02020603050405020304" pitchFamily="18" charset="0"/>
              </a:endParaRPr>
            </a:p>
          </p:txBody>
        </p:sp>
        <p:sp>
          <p:nvSpPr>
            <p:cNvPr id="89123" name="Line 35"/>
            <p:cNvSpPr>
              <a:spLocks noChangeShapeType="1"/>
            </p:cNvSpPr>
            <p:nvPr/>
          </p:nvSpPr>
          <p:spPr bwMode="auto">
            <a:xfrm>
              <a:off x="3600" y="1392"/>
              <a:ext cx="192" cy="192"/>
            </a:xfrm>
            <a:prstGeom prst="line">
              <a:avLst/>
            </a:prstGeom>
            <a:noFill/>
            <a:ln w="19050">
              <a:solidFill>
                <a:schemeClr val="tx1"/>
              </a:solidFill>
              <a:round/>
              <a:headEnd/>
              <a:tailEnd/>
            </a:ln>
            <a:effectLst/>
          </p:spPr>
          <p:txBody>
            <a:bodyPr/>
            <a:lstStyle/>
            <a:p>
              <a:endParaRPr lang="zh-CN" altLang="en-US" dirty="0">
                <a:latin typeface="Times New Roman" panose="02020603050405020304" pitchFamily="18" charset="0"/>
              </a:endParaRPr>
            </a:p>
          </p:txBody>
        </p:sp>
        <p:grpSp>
          <p:nvGrpSpPr>
            <p:cNvPr id="7" name="Group 36"/>
            <p:cNvGrpSpPr>
              <a:grpSpLocks/>
            </p:cNvGrpSpPr>
            <p:nvPr/>
          </p:nvGrpSpPr>
          <p:grpSpPr bwMode="auto">
            <a:xfrm>
              <a:off x="3360" y="1152"/>
              <a:ext cx="336" cy="288"/>
              <a:chOff x="3264" y="2784"/>
              <a:chExt cx="336" cy="288"/>
            </a:xfrm>
          </p:grpSpPr>
          <p:sp>
            <p:nvSpPr>
              <p:cNvPr id="89125" name="Oval 37"/>
              <p:cNvSpPr>
                <a:spLocks noChangeArrowheads="1"/>
              </p:cNvSpPr>
              <p:nvPr/>
            </p:nvSpPr>
            <p:spPr bwMode="auto">
              <a:xfrm>
                <a:off x="3312" y="2880"/>
                <a:ext cx="192" cy="192"/>
              </a:xfrm>
              <a:prstGeom prst="ellipse">
                <a:avLst/>
              </a:prstGeom>
              <a:solidFill>
                <a:srgbClr val="99CCFF"/>
              </a:solidFill>
              <a:ln w="22225">
                <a:solidFill>
                  <a:schemeClr val="tx1"/>
                </a:solidFill>
                <a:round/>
                <a:headEnd/>
                <a:tailEnd/>
              </a:ln>
              <a:effectLst/>
            </p:spPr>
            <p:txBody>
              <a:bodyPr wrap="none" anchor="ctr"/>
              <a:lstStyle/>
              <a:p>
                <a:endParaRPr lang="zh-CN" altLang="en-US" dirty="0">
                  <a:latin typeface="Times New Roman" panose="02020603050405020304" pitchFamily="18" charset="0"/>
                </a:endParaRPr>
              </a:p>
            </p:txBody>
          </p:sp>
          <p:sp>
            <p:nvSpPr>
              <p:cNvPr id="89126" name="Text Box 38"/>
              <p:cNvSpPr txBox="1">
                <a:spLocks noChangeArrowheads="1"/>
              </p:cNvSpPr>
              <p:nvPr/>
            </p:nvSpPr>
            <p:spPr bwMode="auto">
              <a:xfrm>
                <a:off x="3264" y="2784"/>
                <a:ext cx="336" cy="288"/>
              </a:xfrm>
              <a:prstGeom prst="rect">
                <a:avLst/>
              </a:prstGeom>
              <a:noFill/>
              <a:ln w="9525">
                <a:noFill/>
                <a:miter lim="800000"/>
                <a:headEnd/>
                <a:tailEnd/>
              </a:ln>
              <a:effectLst/>
            </p:spPr>
            <p:txBody>
              <a:bodyPr>
                <a:spAutoFit/>
              </a:bodyPr>
              <a:lstStyle/>
              <a:p>
                <a:pPr eaLnBrk="0" hangingPunct="0">
                  <a:spcBef>
                    <a:spcPct val="50000"/>
                  </a:spcBef>
                </a:pPr>
                <a:r>
                  <a:rPr lang="en-US" altLang="zh-CN" sz="2400">
                    <a:latin typeface="Times New Roman" pitchFamily="18" charset="0"/>
                    <a:ea typeface="方正舒体" pitchFamily="2" charset="-122"/>
                  </a:rPr>
                  <a:t> </a:t>
                </a:r>
                <a:r>
                  <a:rPr lang="en-US" altLang="zh-CN" b="1">
                    <a:solidFill>
                      <a:schemeClr val="accent2"/>
                    </a:solidFill>
                    <a:latin typeface="Times New Roman" pitchFamily="18" charset="0"/>
                    <a:ea typeface="方正舒体" pitchFamily="2" charset="-122"/>
                  </a:rPr>
                  <a:t>p</a:t>
                </a:r>
              </a:p>
            </p:txBody>
          </p:sp>
        </p:grpSp>
      </p:grpSp>
      <p:sp>
        <p:nvSpPr>
          <p:cNvPr id="89127" name="Line 39"/>
          <p:cNvSpPr>
            <a:spLocks noChangeShapeType="1"/>
          </p:cNvSpPr>
          <p:nvPr/>
        </p:nvSpPr>
        <p:spPr bwMode="auto">
          <a:xfrm>
            <a:off x="5715000" y="2714625"/>
            <a:ext cx="0" cy="1295400"/>
          </a:xfrm>
          <a:prstGeom prst="line">
            <a:avLst/>
          </a:prstGeom>
          <a:noFill/>
          <a:ln w="25400">
            <a:solidFill>
              <a:srgbClr val="333399"/>
            </a:solidFill>
            <a:round/>
            <a:headEnd/>
            <a:tailEnd/>
          </a:ln>
          <a:effectLst/>
        </p:spPr>
        <p:txBody>
          <a:bodyPr/>
          <a:lstStyle/>
          <a:p>
            <a:endParaRPr lang="zh-CN" altLang="en-US" dirty="0">
              <a:latin typeface="Times New Roman" panose="02020603050405020304" pitchFamily="18" charset="0"/>
            </a:endParaRPr>
          </a:p>
        </p:txBody>
      </p:sp>
      <p:sp>
        <p:nvSpPr>
          <p:cNvPr id="89128" name="Line 40"/>
          <p:cNvSpPr>
            <a:spLocks noChangeShapeType="1"/>
          </p:cNvSpPr>
          <p:nvPr/>
        </p:nvSpPr>
        <p:spPr bwMode="auto">
          <a:xfrm>
            <a:off x="5715000" y="3248025"/>
            <a:ext cx="228600" cy="228600"/>
          </a:xfrm>
          <a:prstGeom prst="line">
            <a:avLst/>
          </a:prstGeom>
          <a:noFill/>
          <a:ln w="19050">
            <a:solidFill>
              <a:schemeClr val="tx1"/>
            </a:solidFill>
            <a:round/>
            <a:headEnd/>
            <a:tailEnd/>
          </a:ln>
          <a:effectLst/>
        </p:spPr>
        <p:txBody>
          <a:bodyPr/>
          <a:lstStyle/>
          <a:p>
            <a:endParaRPr lang="zh-CN" altLang="en-US" dirty="0">
              <a:latin typeface="Times New Roman" panose="02020603050405020304" pitchFamily="18" charset="0"/>
            </a:endParaRPr>
          </a:p>
        </p:txBody>
      </p:sp>
      <p:sp>
        <p:nvSpPr>
          <p:cNvPr id="89129" name="Line 41"/>
          <p:cNvSpPr>
            <a:spLocks noChangeShapeType="1"/>
          </p:cNvSpPr>
          <p:nvPr/>
        </p:nvSpPr>
        <p:spPr bwMode="auto">
          <a:xfrm>
            <a:off x="6248400" y="3705225"/>
            <a:ext cx="304800" cy="304800"/>
          </a:xfrm>
          <a:prstGeom prst="line">
            <a:avLst/>
          </a:prstGeom>
          <a:noFill/>
          <a:ln w="19050">
            <a:solidFill>
              <a:schemeClr val="tx1"/>
            </a:solidFill>
            <a:round/>
            <a:headEnd/>
            <a:tailEnd/>
          </a:ln>
          <a:effectLst/>
        </p:spPr>
        <p:txBody>
          <a:bodyPr/>
          <a:lstStyle/>
          <a:p>
            <a:endParaRPr lang="zh-CN" altLang="en-US" dirty="0">
              <a:latin typeface="Times New Roman" panose="02020603050405020304" pitchFamily="18" charset="0"/>
            </a:endParaRPr>
          </a:p>
        </p:txBody>
      </p:sp>
      <p:grpSp>
        <p:nvGrpSpPr>
          <p:cNvPr id="8" name="Group 42"/>
          <p:cNvGrpSpPr>
            <a:grpSpLocks/>
          </p:cNvGrpSpPr>
          <p:nvPr/>
        </p:nvGrpSpPr>
        <p:grpSpPr bwMode="auto">
          <a:xfrm>
            <a:off x="5867400" y="3324225"/>
            <a:ext cx="533400" cy="457200"/>
            <a:chOff x="3264" y="2784"/>
            <a:chExt cx="336" cy="288"/>
          </a:xfrm>
        </p:grpSpPr>
        <p:sp>
          <p:nvSpPr>
            <p:cNvPr id="89131" name="Oval 43"/>
            <p:cNvSpPr>
              <a:spLocks noChangeArrowheads="1"/>
            </p:cNvSpPr>
            <p:nvPr/>
          </p:nvSpPr>
          <p:spPr bwMode="auto">
            <a:xfrm>
              <a:off x="3312" y="2880"/>
              <a:ext cx="192" cy="192"/>
            </a:xfrm>
            <a:prstGeom prst="ellipse">
              <a:avLst/>
            </a:prstGeom>
            <a:solidFill>
              <a:srgbClr val="99CCFF"/>
            </a:solidFill>
            <a:ln w="22225">
              <a:solidFill>
                <a:schemeClr val="tx1"/>
              </a:solidFill>
              <a:round/>
              <a:headEnd/>
              <a:tailEnd/>
            </a:ln>
            <a:effectLst/>
          </p:spPr>
          <p:txBody>
            <a:bodyPr wrap="none" anchor="ctr"/>
            <a:lstStyle/>
            <a:p>
              <a:endParaRPr lang="zh-CN" altLang="en-US" dirty="0">
                <a:latin typeface="Times New Roman" panose="02020603050405020304" pitchFamily="18" charset="0"/>
              </a:endParaRPr>
            </a:p>
          </p:txBody>
        </p:sp>
        <p:sp>
          <p:nvSpPr>
            <p:cNvPr id="89132" name="Text Box 44"/>
            <p:cNvSpPr txBox="1">
              <a:spLocks noChangeArrowheads="1"/>
            </p:cNvSpPr>
            <p:nvPr/>
          </p:nvSpPr>
          <p:spPr bwMode="auto">
            <a:xfrm>
              <a:off x="3264" y="2784"/>
              <a:ext cx="336" cy="288"/>
            </a:xfrm>
            <a:prstGeom prst="rect">
              <a:avLst/>
            </a:prstGeom>
            <a:noFill/>
            <a:ln w="9525">
              <a:noFill/>
              <a:miter lim="800000"/>
              <a:headEnd/>
              <a:tailEnd/>
            </a:ln>
            <a:effectLst/>
          </p:spPr>
          <p:txBody>
            <a:bodyPr>
              <a:spAutoFit/>
            </a:bodyPr>
            <a:lstStyle/>
            <a:p>
              <a:pPr eaLnBrk="0" hangingPunct="0">
                <a:spcBef>
                  <a:spcPct val="50000"/>
                </a:spcBef>
              </a:pPr>
              <a:r>
                <a:rPr lang="en-US" altLang="zh-CN" sz="2400">
                  <a:latin typeface="Times New Roman" pitchFamily="18" charset="0"/>
                  <a:ea typeface="方正舒体" pitchFamily="2" charset="-122"/>
                </a:rPr>
                <a:t> </a:t>
              </a:r>
              <a:r>
                <a:rPr lang="en-US" altLang="zh-CN" b="1">
                  <a:solidFill>
                    <a:schemeClr val="accent2"/>
                  </a:solidFill>
                  <a:latin typeface="Times New Roman" pitchFamily="18" charset="0"/>
                  <a:ea typeface="方正舒体" pitchFamily="2" charset="-122"/>
                </a:rPr>
                <a:t>p</a:t>
              </a:r>
            </a:p>
          </p:txBody>
        </p:sp>
      </p:grpSp>
      <p:sp>
        <p:nvSpPr>
          <p:cNvPr id="89133" name="Line 45"/>
          <p:cNvSpPr>
            <a:spLocks noChangeShapeType="1"/>
          </p:cNvSpPr>
          <p:nvPr/>
        </p:nvSpPr>
        <p:spPr bwMode="auto">
          <a:xfrm>
            <a:off x="7391400" y="2714625"/>
            <a:ext cx="0" cy="1295400"/>
          </a:xfrm>
          <a:prstGeom prst="line">
            <a:avLst/>
          </a:prstGeom>
          <a:noFill/>
          <a:ln w="25400">
            <a:solidFill>
              <a:srgbClr val="333399"/>
            </a:solidFill>
            <a:round/>
            <a:headEnd/>
            <a:tailEnd/>
          </a:ln>
          <a:effectLst/>
        </p:spPr>
        <p:txBody>
          <a:bodyPr/>
          <a:lstStyle/>
          <a:p>
            <a:endParaRPr lang="zh-CN" altLang="en-US" dirty="0">
              <a:latin typeface="Times New Roman" panose="02020603050405020304" pitchFamily="18" charset="0"/>
            </a:endParaRPr>
          </a:p>
        </p:txBody>
      </p:sp>
      <p:sp>
        <p:nvSpPr>
          <p:cNvPr id="89134" name="Line 46"/>
          <p:cNvSpPr>
            <a:spLocks noChangeShapeType="1"/>
          </p:cNvSpPr>
          <p:nvPr/>
        </p:nvSpPr>
        <p:spPr bwMode="auto">
          <a:xfrm>
            <a:off x="7391400" y="3248025"/>
            <a:ext cx="228600" cy="228600"/>
          </a:xfrm>
          <a:prstGeom prst="line">
            <a:avLst/>
          </a:prstGeom>
          <a:noFill/>
          <a:ln w="19050">
            <a:solidFill>
              <a:schemeClr val="tx1"/>
            </a:solidFill>
            <a:round/>
            <a:headEnd/>
            <a:tailEnd/>
          </a:ln>
          <a:effectLst/>
        </p:spPr>
        <p:txBody>
          <a:bodyPr/>
          <a:lstStyle/>
          <a:p>
            <a:endParaRPr lang="zh-CN" altLang="en-US" dirty="0">
              <a:latin typeface="Times New Roman" panose="02020603050405020304" pitchFamily="18" charset="0"/>
            </a:endParaRPr>
          </a:p>
        </p:txBody>
      </p:sp>
      <p:sp>
        <p:nvSpPr>
          <p:cNvPr id="89135" name="Line 47"/>
          <p:cNvSpPr>
            <a:spLocks noChangeShapeType="1"/>
          </p:cNvSpPr>
          <p:nvPr/>
        </p:nvSpPr>
        <p:spPr bwMode="auto">
          <a:xfrm>
            <a:off x="6553200" y="2714625"/>
            <a:ext cx="0" cy="1295400"/>
          </a:xfrm>
          <a:prstGeom prst="line">
            <a:avLst/>
          </a:prstGeom>
          <a:noFill/>
          <a:ln w="25400">
            <a:solidFill>
              <a:srgbClr val="333399"/>
            </a:solidFill>
            <a:round/>
            <a:headEnd/>
            <a:tailEnd/>
          </a:ln>
          <a:effectLst/>
        </p:spPr>
        <p:txBody>
          <a:bodyPr/>
          <a:lstStyle/>
          <a:p>
            <a:endParaRPr lang="zh-CN" altLang="en-US" dirty="0">
              <a:latin typeface="Times New Roman" panose="02020603050405020304" pitchFamily="18" charset="0"/>
            </a:endParaRPr>
          </a:p>
        </p:txBody>
      </p:sp>
      <p:sp>
        <p:nvSpPr>
          <p:cNvPr id="89136" name="Line 48"/>
          <p:cNvSpPr>
            <a:spLocks noChangeShapeType="1"/>
          </p:cNvSpPr>
          <p:nvPr/>
        </p:nvSpPr>
        <p:spPr bwMode="auto">
          <a:xfrm>
            <a:off x="6553200" y="3248025"/>
            <a:ext cx="228600" cy="228600"/>
          </a:xfrm>
          <a:prstGeom prst="line">
            <a:avLst/>
          </a:prstGeom>
          <a:noFill/>
          <a:ln w="19050">
            <a:solidFill>
              <a:schemeClr val="tx1"/>
            </a:solidFill>
            <a:round/>
            <a:headEnd/>
            <a:tailEnd/>
          </a:ln>
          <a:effectLst/>
        </p:spPr>
        <p:txBody>
          <a:bodyPr/>
          <a:lstStyle/>
          <a:p>
            <a:endParaRPr lang="zh-CN" altLang="en-US" dirty="0">
              <a:latin typeface="Times New Roman" panose="02020603050405020304" pitchFamily="18" charset="0"/>
            </a:endParaRPr>
          </a:p>
        </p:txBody>
      </p:sp>
      <p:sp>
        <p:nvSpPr>
          <p:cNvPr id="89137" name="Line 49"/>
          <p:cNvSpPr>
            <a:spLocks noChangeShapeType="1"/>
          </p:cNvSpPr>
          <p:nvPr/>
        </p:nvSpPr>
        <p:spPr bwMode="auto">
          <a:xfrm>
            <a:off x="7086600" y="3705225"/>
            <a:ext cx="304800" cy="304800"/>
          </a:xfrm>
          <a:prstGeom prst="line">
            <a:avLst/>
          </a:prstGeom>
          <a:noFill/>
          <a:ln w="19050">
            <a:solidFill>
              <a:schemeClr val="tx1"/>
            </a:solidFill>
            <a:round/>
            <a:headEnd/>
            <a:tailEnd/>
          </a:ln>
          <a:effectLst/>
        </p:spPr>
        <p:txBody>
          <a:bodyPr/>
          <a:lstStyle/>
          <a:p>
            <a:endParaRPr lang="zh-CN" altLang="en-US" dirty="0">
              <a:latin typeface="Times New Roman" panose="02020603050405020304" pitchFamily="18" charset="0"/>
            </a:endParaRPr>
          </a:p>
        </p:txBody>
      </p:sp>
      <p:grpSp>
        <p:nvGrpSpPr>
          <p:cNvPr id="9" name="Group 50"/>
          <p:cNvGrpSpPr>
            <a:grpSpLocks/>
          </p:cNvGrpSpPr>
          <p:nvPr/>
        </p:nvGrpSpPr>
        <p:grpSpPr bwMode="auto">
          <a:xfrm>
            <a:off x="6705600" y="3324225"/>
            <a:ext cx="533400" cy="457200"/>
            <a:chOff x="3264" y="2784"/>
            <a:chExt cx="336" cy="288"/>
          </a:xfrm>
        </p:grpSpPr>
        <p:sp>
          <p:nvSpPr>
            <p:cNvPr id="89139" name="Oval 51"/>
            <p:cNvSpPr>
              <a:spLocks noChangeArrowheads="1"/>
            </p:cNvSpPr>
            <p:nvPr/>
          </p:nvSpPr>
          <p:spPr bwMode="auto">
            <a:xfrm>
              <a:off x="3312" y="2880"/>
              <a:ext cx="192" cy="192"/>
            </a:xfrm>
            <a:prstGeom prst="ellipse">
              <a:avLst/>
            </a:prstGeom>
            <a:solidFill>
              <a:srgbClr val="99CCFF"/>
            </a:solidFill>
            <a:ln w="22225">
              <a:solidFill>
                <a:schemeClr val="tx1"/>
              </a:solidFill>
              <a:round/>
              <a:headEnd/>
              <a:tailEnd/>
            </a:ln>
            <a:effectLst/>
          </p:spPr>
          <p:txBody>
            <a:bodyPr wrap="none" anchor="ctr"/>
            <a:lstStyle/>
            <a:p>
              <a:endParaRPr lang="zh-CN" altLang="en-US" dirty="0">
                <a:latin typeface="Times New Roman" panose="02020603050405020304" pitchFamily="18" charset="0"/>
              </a:endParaRPr>
            </a:p>
          </p:txBody>
        </p:sp>
        <p:sp>
          <p:nvSpPr>
            <p:cNvPr id="89140" name="Text Box 52"/>
            <p:cNvSpPr txBox="1">
              <a:spLocks noChangeArrowheads="1"/>
            </p:cNvSpPr>
            <p:nvPr/>
          </p:nvSpPr>
          <p:spPr bwMode="auto">
            <a:xfrm>
              <a:off x="3264" y="2784"/>
              <a:ext cx="336" cy="288"/>
            </a:xfrm>
            <a:prstGeom prst="rect">
              <a:avLst/>
            </a:prstGeom>
            <a:noFill/>
            <a:ln w="9525">
              <a:noFill/>
              <a:miter lim="800000"/>
              <a:headEnd/>
              <a:tailEnd/>
            </a:ln>
            <a:effectLst/>
          </p:spPr>
          <p:txBody>
            <a:bodyPr>
              <a:spAutoFit/>
            </a:bodyPr>
            <a:lstStyle/>
            <a:p>
              <a:pPr eaLnBrk="0" hangingPunct="0">
                <a:spcBef>
                  <a:spcPct val="50000"/>
                </a:spcBef>
              </a:pPr>
              <a:r>
                <a:rPr lang="en-US" altLang="zh-CN" sz="2400">
                  <a:latin typeface="Times New Roman" pitchFamily="18" charset="0"/>
                  <a:ea typeface="方正舒体" pitchFamily="2" charset="-122"/>
                </a:rPr>
                <a:t> </a:t>
              </a:r>
              <a:r>
                <a:rPr lang="en-US" altLang="zh-CN" b="1">
                  <a:solidFill>
                    <a:schemeClr val="accent2"/>
                  </a:solidFill>
                  <a:latin typeface="Times New Roman" pitchFamily="18" charset="0"/>
                  <a:ea typeface="方正舒体" pitchFamily="2" charset="-122"/>
                </a:rPr>
                <a:t>p</a:t>
              </a:r>
            </a:p>
          </p:txBody>
        </p:sp>
      </p:grpSp>
      <p:sp>
        <p:nvSpPr>
          <p:cNvPr id="89141" name="Line 53"/>
          <p:cNvSpPr>
            <a:spLocks noChangeShapeType="1"/>
          </p:cNvSpPr>
          <p:nvPr/>
        </p:nvSpPr>
        <p:spPr bwMode="auto">
          <a:xfrm flipH="1" flipV="1">
            <a:off x="4495800" y="3629025"/>
            <a:ext cx="381000" cy="381000"/>
          </a:xfrm>
          <a:prstGeom prst="line">
            <a:avLst/>
          </a:prstGeom>
          <a:noFill/>
          <a:ln w="19050">
            <a:solidFill>
              <a:schemeClr val="tx1"/>
            </a:solidFill>
            <a:round/>
            <a:headEnd/>
            <a:tailEnd/>
          </a:ln>
          <a:effectLst/>
        </p:spPr>
        <p:txBody>
          <a:bodyPr/>
          <a:lstStyle/>
          <a:p>
            <a:endParaRPr lang="zh-CN" altLang="en-US" dirty="0">
              <a:latin typeface="Times New Roman" panose="02020603050405020304" pitchFamily="18" charset="0"/>
            </a:endParaRPr>
          </a:p>
        </p:txBody>
      </p:sp>
      <p:grpSp>
        <p:nvGrpSpPr>
          <p:cNvPr id="10" name="Group 54"/>
          <p:cNvGrpSpPr>
            <a:grpSpLocks/>
          </p:cNvGrpSpPr>
          <p:nvPr/>
        </p:nvGrpSpPr>
        <p:grpSpPr bwMode="auto">
          <a:xfrm>
            <a:off x="4191000" y="3248025"/>
            <a:ext cx="533400" cy="457200"/>
            <a:chOff x="3264" y="2784"/>
            <a:chExt cx="336" cy="288"/>
          </a:xfrm>
        </p:grpSpPr>
        <p:sp>
          <p:nvSpPr>
            <p:cNvPr id="89143" name="Oval 55"/>
            <p:cNvSpPr>
              <a:spLocks noChangeArrowheads="1"/>
            </p:cNvSpPr>
            <p:nvPr/>
          </p:nvSpPr>
          <p:spPr bwMode="auto">
            <a:xfrm>
              <a:off x="3312" y="2880"/>
              <a:ext cx="192" cy="192"/>
            </a:xfrm>
            <a:prstGeom prst="ellipse">
              <a:avLst/>
            </a:prstGeom>
            <a:solidFill>
              <a:srgbClr val="99CCFF"/>
            </a:solidFill>
            <a:ln w="22225">
              <a:solidFill>
                <a:schemeClr val="tx1"/>
              </a:solidFill>
              <a:round/>
              <a:headEnd/>
              <a:tailEnd/>
            </a:ln>
            <a:effectLst/>
          </p:spPr>
          <p:txBody>
            <a:bodyPr wrap="none" anchor="ctr"/>
            <a:lstStyle/>
            <a:p>
              <a:endParaRPr lang="zh-CN" altLang="en-US" dirty="0">
                <a:latin typeface="Times New Roman" panose="02020603050405020304" pitchFamily="18" charset="0"/>
              </a:endParaRPr>
            </a:p>
          </p:txBody>
        </p:sp>
        <p:sp>
          <p:nvSpPr>
            <p:cNvPr id="89144" name="Text Box 56"/>
            <p:cNvSpPr txBox="1">
              <a:spLocks noChangeArrowheads="1"/>
            </p:cNvSpPr>
            <p:nvPr/>
          </p:nvSpPr>
          <p:spPr bwMode="auto">
            <a:xfrm>
              <a:off x="3264" y="2784"/>
              <a:ext cx="336" cy="288"/>
            </a:xfrm>
            <a:prstGeom prst="rect">
              <a:avLst/>
            </a:prstGeom>
            <a:noFill/>
            <a:ln w="9525">
              <a:noFill/>
              <a:miter lim="800000"/>
              <a:headEnd/>
              <a:tailEnd/>
            </a:ln>
            <a:effectLst/>
          </p:spPr>
          <p:txBody>
            <a:bodyPr>
              <a:spAutoFit/>
            </a:bodyPr>
            <a:lstStyle/>
            <a:p>
              <a:pPr eaLnBrk="0" hangingPunct="0">
                <a:spcBef>
                  <a:spcPct val="50000"/>
                </a:spcBef>
              </a:pPr>
              <a:r>
                <a:rPr lang="en-US" altLang="zh-CN" sz="2400">
                  <a:latin typeface="Times New Roman" pitchFamily="18" charset="0"/>
                  <a:ea typeface="方正舒体" pitchFamily="2" charset="-122"/>
                </a:rPr>
                <a:t> </a:t>
              </a:r>
              <a:r>
                <a:rPr lang="en-US" altLang="zh-CN" b="1">
                  <a:solidFill>
                    <a:schemeClr val="accent2"/>
                  </a:solidFill>
                  <a:latin typeface="Times New Roman" pitchFamily="18" charset="0"/>
                  <a:ea typeface="方正舒体" pitchFamily="2" charset="-122"/>
                </a:rPr>
                <a:t>p</a:t>
              </a:r>
            </a:p>
          </p:txBody>
        </p:sp>
      </p:grpSp>
      <p:sp>
        <p:nvSpPr>
          <p:cNvPr id="89145" name="Text Box 57"/>
          <p:cNvSpPr txBox="1">
            <a:spLocks noChangeArrowheads="1"/>
          </p:cNvSpPr>
          <p:nvPr/>
        </p:nvSpPr>
        <p:spPr bwMode="auto">
          <a:xfrm>
            <a:off x="8229600" y="3476625"/>
            <a:ext cx="457200" cy="396875"/>
          </a:xfrm>
          <a:prstGeom prst="rect">
            <a:avLst/>
          </a:prstGeom>
          <a:noFill/>
          <a:ln w="9525">
            <a:noFill/>
            <a:miter lim="800000"/>
            <a:headEnd/>
            <a:tailEnd/>
          </a:ln>
          <a:effectLst/>
        </p:spPr>
        <p:txBody>
          <a:bodyPr>
            <a:spAutoFit/>
          </a:bodyPr>
          <a:lstStyle/>
          <a:p>
            <a:pPr eaLnBrk="0" hangingPunct="0">
              <a:spcBef>
                <a:spcPct val="50000"/>
              </a:spcBef>
            </a:pPr>
            <a:r>
              <a:rPr lang="en-US" altLang="zh-CN" sz="2000" b="1">
                <a:solidFill>
                  <a:srgbClr val="CC0000"/>
                </a:solidFill>
                <a:latin typeface="Times New Roman" pitchFamily="18" charset="0"/>
                <a:cs typeface="Times New Roman" pitchFamily="18" charset="0"/>
              </a:rPr>
              <a:t>3´</a:t>
            </a:r>
            <a:endParaRPr lang="en-US" altLang="zh-CN" sz="1600" b="1">
              <a:latin typeface="Times New Roman" pitchFamily="18" charset="0"/>
              <a:cs typeface="Times New Roman" pitchFamily="18" charset="0"/>
            </a:endParaRPr>
          </a:p>
        </p:txBody>
      </p:sp>
      <p:sp>
        <p:nvSpPr>
          <p:cNvPr id="89146" name="Text Box 58"/>
          <p:cNvSpPr txBox="1">
            <a:spLocks noChangeArrowheads="1"/>
          </p:cNvSpPr>
          <p:nvPr/>
        </p:nvSpPr>
        <p:spPr bwMode="auto">
          <a:xfrm>
            <a:off x="2133600" y="2333625"/>
            <a:ext cx="533400" cy="457200"/>
          </a:xfrm>
          <a:prstGeom prst="rect">
            <a:avLst/>
          </a:prstGeom>
          <a:noFill/>
          <a:ln w="9525">
            <a:noFill/>
            <a:miter lim="800000"/>
            <a:headEnd/>
            <a:tailEnd/>
          </a:ln>
          <a:effectLst/>
        </p:spPr>
        <p:txBody>
          <a:bodyPr>
            <a:spAutoFit/>
          </a:bodyPr>
          <a:lstStyle/>
          <a:p>
            <a:pPr eaLnBrk="0" hangingPunct="0">
              <a:spcBef>
                <a:spcPct val="50000"/>
              </a:spcBef>
            </a:pPr>
            <a:r>
              <a:rPr lang="en-US" altLang="zh-CN" sz="2400" b="1">
                <a:solidFill>
                  <a:srgbClr val="E50D31"/>
                </a:solidFill>
                <a:latin typeface="Times New Roman" pitchFamily="18" charset="0"/>
                <a:ea typeface="方正舒体" pitchFamily="2" charset="-122"/>
              </a:rPr>
              <a:t>B</a:t>
            </a:r>
          </a:p>
        </p:txBody>
      </p:sp>
      <p:sp>
        <p:nvSpPr>
          <p:cNvPr id="89147" name="Text Box 59"/>
          <p:cNvSpPr txBox="1">
            <a:spLocks noChangeArrowheads="1"/>
          </p:cNvSpPr>
          <p:nvPr/>
        </p:nvSpPr>
        <p:spPr bwMode="auto">
          <a:xfrm>
            <a:off x="2971800" y="2333625"/>
            <a:ext cx="533400" cy="457200"/>
          </a:xfrm>
          <a:prstGeom prst="rect">
            <a:avLst/>
          </a:prstGeom>
          <a:noFill/>
          <a:ln w="9525">
            <a:noFill/>
            <a:miter lim="800000"/>
            <a:headEnd/>
            <a:tailEnd/>
          </a:ln>
          <a:effectLst/>
        </p:spPr>
        <p:txBody>
          <a:bodyPr>
            <a:spAutoFit/>
          </a:bodyPr>
          <a:lstStyle/>
          <a:p>
            <a:pPr eaLnBrk="0" hangingPunct="0">
              <a:spcBef>
                <a:spcPct val="50000"/>
              </a:spcBef>
            </a:pPr>
            <a:r>
              <a:rPr lang="en-US" altLang="zh-CN" sz="2400" b="1">
                <a:solidFill>
                  <a:srgbClr val="E50D31"/>
                </a:solidFill>
                <a:latin typeface="Times New Roman" pitchFamily="18" charset="0"/>
                <a:ea typeface="方正舒体" pitchFamily="2" charset="-122"/>
              </a:rPr>
              <a:t>B</a:t>
            </a:r>
          </a:p>
        </p:txBody>
      </p:sp>
      <p:sp>
        <p:nvSpPr>
          <p:cNvPr id="89148" name="Text Box 60"/>
          <p:cNvSpPr txBox="1">
            <a:spLocks noChangeArrowheads="1"/>
          </p:cNvSpPr>
          <p:nvPr/>
        </p:nvSpPr>
        <p:spPr bwMode="auto">
          <a:xfrm>
            <a:off x="3810000" y="2333625"/>
            <a:ext cx="533400" cy="457200"/>
          </a:xfrm>
          <a:prstGeom prst="rect">
            <a:avLst/>
          </a:prstGeom>
          <a:noFill/>
          <a:ln w="9525">
            <a:noFill/>
            <a:miter lim="800000"/>
            <a:headEnd/>
            <a:tailEnd/>
          </a:ln>
          <a:effectLst/>
        </p:spPr>
        <p:txBody>
          <a:bodyPr>
            <a:spAutoFit/>
          </a:bodyPr>
          <a:lstStyle/>
          <a:p>
            <a:pPr eaLnBrk="0" hangingPunct="0">
              <a:spcBef>
                <a:spcPct val="50000"/>
              </a:spcBef>
            </a:pPr>
            <a:r>
              <a:rPr lang="en-US" altLang="zh-CN" sz="2400" b="1">
                <a:solidFill>
                  <a:srgbClr val="E50D31"/>
                </a:solidFill>
                <a:latin typeface="Times New Roman" pitchFamily="18" charset="0"/>
                <a:ea typeface="方正舒体" pitchFamily="2" charset="-122"/>
              </a:rPr>
              <a:t>B</a:t>
            </a:r>
          </a:p>
        </p:txBody>
      </p:sp>
      <p:sp>
        <p:nvSpPr>
          <p:cNvPr id="89149" name="Text Box 61"/>
          <p:cNvSpPr txBox="1">
            <a:spLocks noChangeArrowheads="1"/>
          </p:cNvSpPr>
          <p:nvPr/>
        </p:nvSpPr>
        <p:spPr bwMode="auto">
          <a:xfrm>
            <a:off x="4648200" y="2333625"/>
            <a:ext cx="533400" cy="457200"/>
          </a:xfrm>
          <a:prstGeom prst="rect">
            <a:avLst/>
          </a:prstGeom>
          <a:noFill/>
          <a:ln w="9525">
            <a:noFill/>
            <a:miter lim="800000"/>
            <a:headEnd/>
            <a:tailEnd/>
          </a:ln>
          <a:effectLst/>
        </p:spPr>
        <p:txBody>
          <a:bodyPr>
            <a:spAutoFit/>
          </a:bodyPr>
          <a:lstStyle/>
          <a:p>
            <a:pPr eaLnBrk="0" hangingPunct="0">
              <a:spcBef>
                <a:spcPct val="50000"/>
              </a:spcBef>
            </a:pPr>
            <a:r>
              <a:rPr lang="en-US" altLang="zh-CN" sz="2400" b="1">
                <a:solidFill>
                  <a:srgbClr val="E50D31"/>
                </a:solidFill>
                <a:latin typeface="Times New Roman" pitchFamily="18" charset="0"/>
                <a:ea typeface="方正舒体" pitchFamily="2" charset="-122"/>
              </a:rPr>
              <a:t>B</a:t>
            </a:r>
          </a:p>
        </p:txBody>
      </p:sp>
      <p:sp>
        <p:nvSpPr>
          <p:cNvPr id="89150" name="Text Box 62"/>
          <p:cNvSpPr txBox="1">
            <a:spLocks noChangeArrowheads="1"/>
          </p:cNvSpPr>
          <p:nvPr/>
        </p:nvSpPr>
        <p:spPr bwMode="auto">
          <a:xfrm>
            <a:off x="5486400" y="2333625"/>
            <a:ext cx="533400" cy="457200"/>
          </a:xfrm>
          <a:prstGeom prst="rect">
            <a:avLst/>
          </a:prstGeom>
          <a:noFill/>
          <a:ln w="9525">
            <a:noFill/>
            <a:miter lim="800000"/>
            <a:headEnd/>
            <a:tailEnd/>
          </a:ln>
          <a:effectLst/>
        </p:spPr>
        <p:txBody>
          <a:bodyPr>
            <a:spAutoFit/>
          </a:bodyPr>
          <a:lstStyle/>
          <a:p>
            <a:pPr eaLnBrk="0" hangingPunct="0">
              <a:spcBef>
                <a:spcPct val="50000"/>
              </a:spcBef>
            </a:pPr>
            <a:r>
              <a:rPr lang="en-US" altLang="zh-CN" sz="2400" b="1">
                <a:solidFill>
                  <a:srgbClr val="E50D31"/>
                </a:solidFill>
                <a:latin typeface="Times New Roman" pitchFamily="18" charset="0"/>
                <a:ea typeface="方正舒体" pitchFamily="2" charset="-122"/>
              </a:rPr>
              <a:t>B</a:t>
            </a:r>
          </a:p>
        </p:txBody>
      </p:sp>
      <p:sp>
        <p:nvSpPr>
          <p:cNvPr id="89151" name="Text Box 63"/>
          <p:cNvSpPr txBox="1">
            <a:spLocks noChangeArrowheads="1"/>
          </p:cNvSpPr>
          <p:nvPr/>
        </p:nvSpPr>
        <p:spPr bwMode="auto">
          <a:xfrm>
            <a:off x="6324600" y="2333625"/>
            <a:ext cx="533400" cy="457200"/>
          </a:xfrm>
          <a:prstGeom prst="rect">
            <a:avLst/>
          </a:prstGeom>
          <a:noFill/>
          <a:ln w="9525">
            <a:noFill/>
            <a:miter lim="800000"/>
            <a:headEnd/>
            <a:tailEnd/>
          </a:ln>
          <a:effectLst/>
        </p:spPr>
        <p:txBody>
          <a:bodyPr>
            <a:spAutoFit/>
          </a:bodyPr>
          <a:lstStyle/>
          <a:p>
            <a:pPr eaLnBrk="0" hangingPunct="0">
              <a:spcBef>
                <a:spcPct val="50000"/>
              </a:spcBef>
            </a:pPr>
            <a:r>
              <a:rPr lang="en-US" altLang="zh-CN" sz="2400" b="1">
                <a:solidFill>
                  <a:srgbClr val="E50D31"/>
                </a:solidFill>
                <a:latin typeface="Times New Roman" pitchFamily="18" charset="0"/>
                <a:ea typeface="方正舒体" pitchFamily="2" charset="-122"/>
              </a:rPr>
              <a:t>B</a:t>
            </a:r>
          </a:p>
        </p:txBody>
      </p:sp>
      <p:sp>
        <p:nvSpPr>
          <p:cNvPr id="89152" name="Text Box 64"/>
          <p:cNvSpPr txBox="1">
            <a:spLocks noChangeArrowheads="1"/>
          </p:cNvSpPr>
          <p:nvPr/>
        </p:nvSpPr>
        <p:spPr bwMode="auto">
          <a:xfrm>
            <a:off x="7162800" y="2333625"/>
            <a:ext cx="533400" cy="457200"/>
          </a:xfrm>
          <a:prstGeom prst="rect">
            <a:avLst/>
          </a:prstGeom>
          <a:noFill/>
          <a:ln w="9525">
            <a:noFill/>
            <a:miter lim="800000"/>
            <a:headEnd/>
            <a:tailEnd/>
          </a:ln>
          <a:effectLst/>
        </p:spPr>
        <p:txBody>
          <a:bodyPr>
            <a:spAutoFit/>
          </a:bodyPr>
          <a:lstStyle/>
          <a:p>
            <a:pPr eaLnBrk="0" hangingPunct="0">
              <a:spcBef>
                <a:spcPct val="50000"/>
              </a:spcBef>
            </a:pPr>
            <a:r>
              <a:rPr lang="en-US" altLang="zh-CN" sz="2400" b="1">
                <a:solidFill>
                  <a:srgbClr val="E50D31"/>
                </a:solidFill>
                <a:latin typeface="Times New Roman" pitchFamily="18" charset="0"/>
                <a:ea typeface="方正舒体" pitchFamily="2" charset="-122"/>
              </a:rPr>
              <a:t>B</a:t>
            </a:r>
          </a:p>
        </p:txBody>
      </p:sp>
      <p:sp>
        <p:nvSpPr>
          <p:cNvPr id="89153" name="Text Box 65"/>
          <p:cNvSpPr txBox="1">
            <a:spLocks noChangeArrowheads="1"/>
          </p:cNvSpPr>
          <p:nvPr/>
        </p:nvSpPr>
        <p:spPr bwMode="auto">
          <a:xfrm>
            <a:off x="971550" y="4868863"/>
            <a:ext cx="3000375" cy="831850"/>
          </a:xfrm>
          <a:prstGeom prst="rect">
            <a:avLst/>
          </a:prstGeom>
          <a:solidFill>
            <a:srgbClr val="FFFFCC"/>
          </a:solidFill>
          <a:ln w="9525">
            <a:solidFill>
              <a:srgbClr val="FFFFCC"/>
            </a:solidFill>
            <a:miter lim="800000"/>
            <a:headEnd/>
            <a:tailEnd/>
          </a:ln>
          <a:effectLst/>
        </p:spPr>
        <p:txBody>
          <a:bodyPr>
            <a:spAutoFit/>
          </a:bodyPr>
          <a:lstStyle/>
          <a:p>
            <a:pPr eaLnBrk="0" hangingPunct="0">
              <a:spcBef>
                <a:spcPct val="50000"/>
              </a:spcBef>
            </a:pPr>
            <a:r>
              <a:rPr kumimoji="1" lang="zh-CN" altLang="en-US" sz="2400" b="1" dirty="0">
                <a:solidFill>
                  <a:schemeClr val="accent2"/>
                </a:solidFill>
                <a:effectLst>
                  <a:outerShdw blurRad="38100" dist="38100" dir="2700000" algn="tl">
                    <a:srgbClr val="000000"/>
                  </a:outerShdw>
                </a:effectLst>
                <a:latin typeface="Times New Roman" panose="02020603050405020304" pitchFamily="18" charset="0"/>
              </a:rPr>
              <a:t>牛脾脱氧核糖核酸酶（</a:t>
            </a:r>
            <a:r>
              <a:rPr kumimoji="1" lang="en-US" altLang="zh-CN" sz="2400" b="1" dirty="0">
                <a:solidFill>
                  <a:schemeClr val="accent2"/>
                </a:solidFill>
                <a:effectLst>
                  <a:outerShdw blurRad="38100" dist="38100" dir="2700000" algn="tl">
                    <a:srgbClr val="000000"/>
                  </a:outerShdw>
                </a:effectLst>
                <a:latin typeface="Times New Roman" panose="02020603050405020304" pitchFamily="18" charset="0"/>
              </a:rPr>
              <a:t>DNase II</a:t>
            </a:r>
            <a:r>
              <a:rPr kumimoji="1" lang="zh-CN" altLang="en-US" sz="2400" b="1" dirty="0">
                <a:solidFill>
                  <a:schemeClr val="accent2"/>
                </a:solidFill>
                <a:effectLst>
                  <a:outerShdw blurRad="38100" dist="38100" dir="2700000" algn="tl">
                    <a:srgbClr val="000000"/>
                  </a:outerShdw>
                </a:effectLst>
                <a:latin typeface="Times New Roman" panose="02020603050405020304" pitchFamily="18" charset="0"/>
              </a:rPr>
              <a:t>）</a:t>
            </a:r>
          </a:p>
        </p:txBody>
      </p:sp>
      <p:sp>
        <p:nvSpPr>
          <p:cNvPr id="89154" name="Text Box 66"/>
          <p:cNvSpPr txBox="1">
            <a:spLocks noChangeArrowheads="1"/>
          </p:cNvSpPr>
          <p:nvPr/>
        </p:nvSpPr>
        <p:spPr bwMode="auto">
          <a:xfrm>
            <a:off x="5715000" y="4848225"/>
            <a:ext cx="3033713" cy="831850"/>
          </a:xfrm>
          <a:prstGeom prst="rect">
            <a:avLst/>
          </a:prstGeom>
          <a:solidFill>
            <a:srgbClr val="FFFFCC"/>
          </a:solidFill>
          <a:ln w="9525">
            <a:solidFill>
              <a:srgbClr val="FF00FF"/>
            </a:solidFill>
            <a:miter lim="800000"/>
            <a:headEnd/>
            <a:tailEnd/>
          </a:ln>
          <a:effectLst/>
        </p:spPr>
        <p:txBody>
          <a:bodyPr>
            <a:spAutoFit/>
          </a:bodyPr>
          <a:lstStyle/>
          <a:p>
            <a:pPr eaLnBrk="0" hangingPunct="0">
              <a:spcBef>
                <a:spcPct val="50000"/>
              </a:spcBef>
            </a:pPr>
            <a:r>
              <a:rPr kumimoji="1" lang="zh-CN" altLang="en-US" sz="2400" b="1" dirty="0">
                <a:solidFill>
                  <a:schemeClr val="accent2"/>
                </a:solidFill>
                <a:effectLst>
                  <a:outerShdw blurRad="38100" dist="38100" dir="2700000" algn="tl">
                    <a:srgbClr val="000000"/>
                  </a:outerShdw>
                </a:effectLst>
                <a:latin typeface="Times New Roman" panose="02020603050405020304" pitchFamily="18" charset="0"/>
              </a:rPr>
              <a:t>牛胰脱氧核糖核酸酶（</a:t>
            </a:r>
            <a:r>
              <a:rPr kumimoji="1" lang="en-US" altLang="zh-CN" sz="2400" b="1" dirty="0">
                <a:solidFill>
                  <a:schemeClr val="accent2"/>
                </a:solidFill>
                <a:effectLst>
                  <a:outerShdw blurRad="38100" dist="38100" dir="2700000" algn="tl">
                    <a:srgbClr val="000000"/>
                  </a:outerShdw>
                </a:effectLst>
                <a:latin typeface="Times New Roman" panose="02020603050405020304" pitchFamily="18" charset="0"/>
              </a:rPr>
              <a:t>DNase I</a:t>
            </a:r>
            <a:r>
              <a:rPr kumimoji="1" lang="zh-CN" altLang="en-US" sz="2400" b="1" dirty="0">
                <a:solidFill>
                  <a:schemeClr val="accent2"/>
                </a:solidFill>
                <a:effectLst>
                  <a:outerShdw blurRad="38100" dist="38100" dir="2700000" algn="tl">
                    <a:srgbClr val="000000"/>
                  </a:outerShdw>
                </a:effectLst>
                <a:latin typeface="Times New Roman" panose="02020603050405020304" pitchFamily="18" charset="0"/>
              </a:rPr>
              <a:t>）</a:t>
            </a:r>
            <a:endParaRPr kumimoji="1" lang="zh-CN" altLang="en-US" sz="3200" b="1" dirty="0">
              <a:solidFill>
                <a:schemeClr val="accent2"/>
              </a:solidFill>
              <a:effectLst>
                <a:outerShdw blurRad="38100" dist="38100" dir="2700000" algn="tl">
                  <a:srgbClr val="000000"/>
                </a:outerShdw>
              </a:effectLst>
              <a:latin typeface="Times New Roman" panose="02020603050405020304" pitchFamily="18" charset="0"/>
            </a:endParaRPr>
          </a:p>
        </p:txBody>
      </p:sp>
      <p:sp>
        <p:nvSpPr>
          <p:cNvPr id="89155" name="Line 67"/>
          <p:cNvSpPr>
            <a:spLocks noChangeShapeType="1"/>
          </p:cNvSpPr>
          <p:nvPr/>
        </p:nvSpPr>
        <p:spPr bwMode="auto">
          <a:xfrm flipV="1">
            <a:off x="2133600" y="3933825"/>
            <a:ext cx="0" cy="838200"/>
          </a:xfrm>
          <a:prstGeom prst="line">
            <a:avLst/>
          </a:prstGeom>
          <a:noFill/>
          <a:ln w="28575">
            <a:solidFill>
              <a:schemeClr val="tx1"/>
            </a:solidFill>
            <a:round/>
            <a:headEnd/>
            <a:tailEnd type="triangle" w="med" len="med"/>
          </a:ln>
          <a:effectLst/>
        </p:spPr>
        <p:txBody>
          <a:bodyPr/>
          <a:lstStyle/>
          <a:p>
            <a:endParaRPr lang="zh-CN" altLang="en-US" dirty="0">
              <a:latin typeface="Times New Roman" panose="02020603050405020304" pitchFamily="18" charset="0"/>
            </a:endParaRPr>
          </a:p>
        </p:txBody>
      </p:sp>
      <p:sp>
        <p:nvSpPr>
          <p:cNvPr id="89156" name="Line 68"/>
          <p:cNvSpPr>
            <a:spLocks noChangeShapeType="1"/>
          </p:cNvSpPr>
          <p:nvPr/>
        </p:nvSpPr>
        <p:spPr bwMode="auto">
          <a:xfrm flipV="1">
            <a:off x="6705600" y="3933825"/>
            <a:ext cx="0" cy="838200"/>
          </a:xfrm>
          <a:prstGeom prst="line">
            <a:avLst/>
          </a:prstGeom>
          <a:noFill/>
          <a:ln w="28575">
            <a:solidFill>
              <a:schemeClr val="tx1"/>
            </a:solidFill>
            <a:round/>
            <a:headEnd/>
            <a:tailEnd type="triangle" w="med" len="med"/>
          </a:ln>
          <a:effectLst/>
        </p:spPr>
        <p:txBody>
          <a:bodyPr/>
          <a:lstStyle/>
          <a:p>
            <a:endParaRPr lang="zh-CN" altLang="en-US" dirty="0">
              <a:latin typeface="Times New Roman" panose="02020603050405020304" pitchFamily="18" charset="0"/>
            </a:endParaRPr>
          </a:p>
        </p:txBody>
      </p:sp>
      <p:sp>
        <p:nvSpPr>
          <p:cNvPr id="89157" name="Text Box 69"/>
          <p:cNvSpPr txBox="1">
            <a:spLocks noChangeArrowheads="1"/>
          </p:cNvSpPr>
          <p:nvPr/>
        </p:nvSpPr>
        <p:spPr bwMode="auto">
          <a:xfrm>
            <a:off x="1547813" y="1557338"/>
            <a:ext cx="4464050" cy="457200"/>
          </a:xfrm>
          <a:prstGeom prst="rect">
            <a:avLst/>
          </a:prstGeom>
          <a:solidFill>
            <a:srgbClr val="FFFFCC"/>
          </a:solidFill>
          <a:ln w="9525">
            <a:noFill/>
            <a:miter lim="800000"/>
            <a:headEnd/>
            <a:tailEnd/>
          </a:ln>
          <a:effectLst/>
        </p:spPr>
        <p:txBody>
          <a:bodyPr>
            <a:spAutoFit/>
          </a:bodyPr>
          <a:lstStyle/>
          <a:p>
            <a:pPr>
              <a:spcBef>
                <a:spcPct val="50000"/>
              </a:spcBef>
            </a:pPr>
            <a:r>
              <a:rPr lang="zh-CN" altLang="en-US" sz="2400" b="1" dirty="0">
                <a:solidFill>
                  <a:srgbClr val="990000"/>
                </a:solidFill>
                <a:effectLst>
                  <a:outerShdw blurRad="38100" dist="38100" dir="2700000" algn="tl">
                    <a:srgbClr val="000000"/>
                  </a:outerShdw>
                </a:effectLst>
                <a:latin typeface="Times New Roman" panose="02020603050405020304" pitchFamily="18" charset="0"/>
              </a:rPr>
              <a:t>特异性核酸酶，只作用于</a:t>
            </a:r>
            <a:r>
              <a:rPr lang="en-US" altLang="zh-CN" sz="2400" b="1" dirty="0">
                <a:solidFill>
                  <a:srgbClr val="990000"/>
                </a:solidFill>
                <a:effectLst>
                  <a:outerShdw blurRad="38100" dist="38100" dir="2700000" algn="tl">
                    <a:srgbClr val="000000"/>
                  </a:outerShdw>
                </a:effectLst>
                <a:latin typeface="Times New Roman" panose="02020603050405020304" pitchFamily="18" charset="0"/>
              </a:rPr>
              <a:t>DNA</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89157"/>
                                        </p:tgtEl>
                                        <p:attrNameLst>
                                          <p:attrName>style.visibility</p:attrName>
                                        </p:attrNameLst>
                                      </p:cBhvr>
                                      <p:to>
                                        <p:strVal val="visible"/>
                                      </p:to>
                                    </p:set>
                                    <p:animEffect transition="in" filter="fade">
                                      <p:cBhvr>
                                        <p:cTn id="7" dur="1000"/>
                                        <p:tgtEl>
                                          <p:spTgt spid="89157"/>
                                        </p:tgtEl>
                                      </p:cBhvr>
                                    </p:animEffect>
                                    <p:anim calcmode="lin" valueType="num">
                                      <p:cBhvr>
                                        <p:cTn id="8" dur="1000" fill="hold"/>
                                        <p:tgtEl>
                                          <p:spTgt spid="89157"/>
                                        </p:tgtEl>
                                        <p:attrNameLst>
                                          <p:attrName>ppt_x</p:attrName>
                                        </p:attrNameLst>
                                      </p:cBhvr>
                                      <p:tavLst>
                                        <p:tav tm="0">
                                          <p:val>
                                            <p:strVal val="#ppt_x"/>
                                          </p:val>
                                        </p:tav>
                                        <p:tav tm="100000">
                                          <p:val>
                                            <p:strVal val="#ppt_x"/>
                                          </p:val>
                                        </p:tav>
                                      </p:tavLst>
                                    </p:anim>
                                    <p:anim calcmode="lin" valueType="num">
                                      <p:cBhvr>
                                        <p:cTn id="9" dur="1000" fill="hold"/>
                                        <p:tgtEl>
                                          <p:spTgt spid="8915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9156"/>
                                        </p:tgtEl>
                                        <p:attrNameLst>
                                          <p:attrName>style.visibility</p:attrName>
                                        </p:attrNameLst>
                                      </p:cBhvr>
                                      <p:to>
                                        <p:strVal val="visible"/>
                                      </p:to>
                                    </p:set>
                                    <p:animEffect transition="in" filter="fade">
                                      <p:cBhvr>
                                        <p:cTn id="14" dur="1000"/>
                                        <p:tgtEl>
                                          <p:spTgt spid="89156"/>
                                        </p:tgtEl>
                                      </p:cBhvr>
                                    </p:animEffect>
                                    <p:anim calcmode="lin" valueType="num">
                                      <p:cBhvr>
                                        <p:cTn id="15" dur="1000" fill="hold"/>
                                        <p:tgtEl>
                                          <p:spTgt spid="89156"/>
                                        </p:tgtEl>
                                        <p:attrNameLst>
                                          <p:attrName>ppt_x</p:attrName>
                                        </p:attrNameLst>
                                      </p:cBhvr>
                                      <p:tavLst>
                                        <p:tav tm="0">
                                          <p:val>
                                            <p:strVal val="#ppt_x"/>
                                          </p:val>
                                        </p:tav>
                                        <p:tav tm="100000">
                                          <p:val>
                                            <p:strVal val="#ppt_x"/>
                                          </p:val>
                                        </p:tav>
                                      </p:tavLst>
                                    </p:anim>
                                    <p:anim calcmode="lin" valueType="num">
                                      <p:cBhvr>
                                        <p:cTn id="16" dur="1000" fill="hold"/>
                                        <p:tgtEl>
                                          <p:spTgt spid="89156"/>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89154"/>
                                        </p:tgtEl>
                                        <p:attrNameLst>
                                          <p:attrName>style.visibility</p:attrName>
                                        </p:attrNameLst>
                                      </p:cBhvr>
                                      <p:to>
                                        <p:strVal val="visible"/>
                                      </p:to>
                                    </p:set>
                                    <p:animEffect transition="in" filter="fade">
                                      <p:cBhvr>
                                        <p:cTn id="19" dur="1000"/>
                                        <p:tgtEl>
                                          <p:spTgt spid="89154"/>
                                        </p:tgtEl>
                                      </p:cBhvr>
                                    </p:animEffect>
                                    <p:anim calcmode="lin" valueType="num">
                                      <p:cBhvr>
                                        <p:cTn id="20" dur="1000" fill="hold"/>
                                        <p:tgtEl>
                                          <p:spTgt spid="89154"/>
                                        </p:tgtEl>
                                        <p:attrNameLst>
                                          <p:attrName>ppt_x</p:attrName>
                                        </p:attrNameLst>
                                      </p:cBhvr>
                                      <p:tavLst>
                                        <p:tav tm="0">
                                          <p:val>
                                            <p:strVal val="#ppt_x"/>
                                          </p:val>
                                        </p:tav>
                                        <p:tav tm="100000">
                                          <p:val>
                                            <p:strVal val="#ppt_x"/>
                                          </p:val>
                                        </p:tav>
                                      </p:tavLst>
                                    </p:anim>
                                    <p:anim calcmode="lin" valueType="num">
                                      <p:cBhvr>
                                        <p:cTn id="21" dur="1000" fill="hold"/>
                                        <p:tgtEl>
                                          <p:spTgt spid="89154"/>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89155"/>
                                        </p:tgtEl>
                                        <p:attrNameLst>
                                          <p:attrName>style.visibility</p:attrName>
                                        </p:attrNameLst>
                                      </p:cBhvr>
                                      <p:to>
                                        <p:strVal val="visible"/>
                                      </p:to>
                                    </p:set>
                                    <p:animEffect transition="in" filter="fade">
                                      <p:cBhvr>
                                        <p:cTn id="26" dur="1000"/>
                                        <p:tgtEl>
                                          <p:spTgt spid="89155"/>
                                        </p:tgtEl>
                                      </p:cBhvr>
                                    </p:animEffect>
                                    <p:anim calcmode="lin" valueType="num">
                                      <p:cBhvr>
                                        <p:cTn id="27" dur="1000" fill="hold"/>
                                        <p:tgtEl>
                                          <p:spTgt spid="89155"/>
                                        </p:tgtEl>
                                        <p:attrNameLst>
                                          <p:attrName>ppt_x</p:attrName>
                                        </p:attrNameLst>
                                      </p:cBhvr>
                                      <p:tavLst>
                                        <p:tav tm="0">
                                          <p:val>
                                            <p:strVal val="#ppt_x"/>
                                          </p:val>
                                        </p:tav>
                                        <p:tav tm="100000">
                                          <p:val>
                                            <p:strVal val="#ppt_x"/>
                                          </p:val>
                                        </p:tav>
                                      </p:tavLst>
                                    </p:anim>
                                    <p:anim calcmode="lin" valueType="num">
                                      <p:cBhvr>
                                        <p:cTn id="28" dur="1000" fill="hold"/>
                                        <p:tgtEl>
                                          <p:spTgt spid="89155"/>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89153"/>
                                        </p:tgtEl>
                                        <p:attrNameLst>
                                          <p:attrName>style.visibility</p:attrName>
                                        </p:attrNameLst>
                                      </p:cBhvr>
                                      <p:to>
                                        <p:strVal val="visible"/>
                                      </p:to>
                                    </p:set>
                                    <p:animEffect transition="in" filter="fade">
                                      <p:cBhvr>
                                        <p:cTn id="31" dur="1000"/>
                                        <p:tgtEl>
                                          <p:spTgt spid="89153"/>
                                        </p:tgtEl>
                                      </p:cBhvr>
                                    </p:animEffect>
                                    <p:anim calcmode="lin" valueType="num">
                                      <p:cBhvr>
                                        <p:cTn id="32" dur="1000" fill="hold"/>
                                        <p:tgtEl>
                                          <p:spTgt spid="89153"/>
                                        </p:tgtEl>
                                        <p:attrNameLst>
                                          <p:attrName>ppt_x</p:attrName>
                                        </p:attrNameLst>
                                      </p:cBhvr>
                                      <p:tavLst>
                                        <p:tav tm="0">
                                          <p:val>
                                            <p:strVal val="#ppt_x"/>
                                          </p:val>
                                        </p:tav>
                                        <p:tav tm="100000">
                                          <p:val>
                                            <p:strVal val="#ppt_x"/>
                                          </p:val>
                                        </p:tav>
                                      </p:tavLst>
                                    </p:anim>
                                    <p:anim calcmode="lin" valueType="num">
                                      <p:cBhvr>
                                        <p:cTn id="33" dur="1000" fill="hold"/>
                                        <p:tgtEl>
                                          <p:spTgt spid="8915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153" grpId="0" animBg="1"/>
      <p:bldP spid="89154" grpId="0" animBg="1"/>
      <p:bldP spid="89155" grpId="0" animBg="1"/>
      <p:bldP spid="89156" grpId="0" animBg="1"/>
      <p:bldP spid="89157"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ext Box 2"/>
          <p:cNvSpPr txBox="1">
            <a:spLocks noChangeArrowheads="1"/>
          </p:cNvSpPr>
          <p:nvPr/>
        </p:nvSpPr>
        <p:spPr bwMode="auto">
          <a:xfrm>
            <a:off x="1116013" y="1557338"/>
            <a:ext cx="7272337" cy="2830512"/>
          </a:xfrm>
          <a:prstGeom prst="rect">
            <a:avLst/>
          </a:prstGeom>
          <a:noFill/>
          <a:ln w="9525">
            <a:noFill/>
            <a:miter lim="800000"/>
            <a:headEnd/>
            <a:tailEnd/>
          </a:ln>
          <a:effectLst/>
        </p:spPr>
        <p:txBody>
          <a:bodyPr>
            <a:spAutoFit/>
          </a:bodyPr>
          <a:lstStyle/>
          <a:p>
            <a:pPr>
              <a:lnSpc>
                <a:spcPct val="150000"/>
              </a:lnSpc>
              <a:spcBef>
                <a:spcPct val="50000"/>
              </a:spcBef>
            </a:pPr>
            <a:r>
              <a:rPr kumimoji="1" lang="en-US" altLang="zh-CN" sz="2400" b="1" dirty="0">
                <a:solidFill>
                  <a:srgbClr val="000066"/>
                </a:solidFill>
                <a:effectLst>
                  <a:outerShdw blurRad="38100" dist="38100" dir="2700000" algn="tl">
                    <a:srgbClr val="C0C0C0"/>
                  </a:outerShdw>
                </a:effectLst>
                <a:latin typeface="宋体" charset="-122"/>
              </a:rPr>
              <a:t>    </a:t>
            </a:r>
            <a:r>
              <a:rPr kumimoji="1" lang="zh-CN" altLang="en-US" sz="2400" b="1" dirty="0">
                <a:solidFill>
                  <a:srgbClr val="000066"/>
                </a:solidFill>
                <a:effectLst>
                  <a:outerShdw blurRad="38100" dist="38100" dir="2700000" algn="tl">
                    <a:srgbClr val="C0C0C0"/>
                  </a:outerShdw>
                </a:effectLst>
                <a:latin typeface="宋体" charset="-122"/>
              </a:rPr>
              <a:t>原核生物中存在着一类能识别外源</a:t>
            </a:r>
            <a:r>
              <a:rPr kumimoji="1" lang="en-US" altLang="zh-CN" sz="2400" b="1" dirty="0">
                <a:solidFill>
                  <a:srgbClr val="000066"/>
                </a:solidFill>
                <a:effectLst>
                  <a:outerShdw blurRad="38100" dist="38100" dir="2700000" algn="tl">
                    <a:srgbClr val="C0C0C0"/>
                  </a:outerShdw>
                </a:effectLst>
                <a:latin typeface="宋体" charset="-122"/>
              </a:rPr>
              <a:t>DNA</a:t>
            </a:r>
            <a:r>
              <a:rPr kumimoji="1" lang="zh-CN" altLang="en-US" sz="2400" b="1" dirty="0">
                <a:solidFill>
                  <a:srgbClr val="000066"/>
                </a:solidFill>
                <a:effectLst>
                  <a:outerShdw blurRad="38100" dist="38100" dir="2700000" algn="tl">
                    <a:srgbClr val="C0C0C0"/>
                  </a:outerShdw>
                </a:effectLst>
                <a:latin typeface="宋体" charset="-122"/>
              </a:rPr>
              <a:t>双螺旋中</a:t>
            </a:r>
            <a:r>
              <a:rPr kumimoji="1" lang="en-US" altLang="zh-CN" sz="2400" b="1" dirty="0">
                <a:solidFill>
                  <a:srgbClr val="990000"/>
                </a:solidFill>
                <a:effectLst>
                  <a:outerShdw blurRad="38100" dist="38100" dir="2700000" algn="tl">
                    <a:srgbClr val="C0C0C0"/>
                  </a:outerShdw>
                </a:effectLst>
                <a:latin typeface="宋体" charset="-122"/>
              </a:rPr>
              <a:t>4-8</a:t>
            </a:r>
            <a:r>
              <a:rPr kumimoji="1" lang="zh-CN" altLang="en-US" sz="2400" b="1" dirty="0">
                <a:solidFill>
                  <a:srgbClr val="990000"/>
                </a:solidFill>
                <a:effectLst>
                  <a:outerShdw blurRad="38100" dist="38100" dir="2700000" algn="tl">
                    <a:srgbClr val="C0C0C0"/>
                  </a:outerShdw>
                </a:effectLst>
                <a:latin typeface="宋体" charset="-122"/>
              </a:rPr>
              <a:t>个碱基对</a:t>
            </a:r>
            <a:r>
              <a:rPr kumimoji="1" lang="zh-CN" altLang="en-US" sz="2400" b="1" dirty="0">
                <a:solidFill>
                  <a:srgbClr val="000066"/>
                </a:solidFill>
                <a:effectLst>
                  <a:outerShdw blurRad="38100" dist="38100" dir="2700000" algn="tl">
                    <a:srgbClr val="C0C0C0"/>
                  </a:outerShdw>
                </a:effectLst>
                <a:latin typeface="宋体" charset="-122"/>
              </a:rPr>
              <a:t>所组成的特异的序列，并在此序列的某位点水解</a:t>
            </a:r>
            <a:r>
              <a:rPr kumimoji="1" lang="en-US" altLang="zh-CN" sz="2400" b="1" dirty="0">
                <a:solidFill>
                  <a:srgbClr val="000066"/>
                </a:solidFill>
                <a:effectLst>
                  <a:outerShdw blurRad="38100" dist="38100" dir="2700000" algn="tl">
                    <a:srgbClr val="C0C0C0"/>
                  </a:outerShdw>
                </a:effectLst>
                <a:latin typeface="宋体" charset="-122"/>
              </a:rPr>
              <a:t>DNA</a:t>
            </a:r>
            <a:r>
              <a:rPr kumimoji="1" lang="zh-CN" altLang="en-US" sz="2400" b="1" dirty="0">
                <a:solidFill>
                  <a:srgbClr val="000066"/>
                </a:solidFill>
                <a:effectLst>
                  <a:outerShdw blurRad="38100" dist="38100" dir="2700000" algn="tl">
                    <a:srgbClr val="C0C0C0"/>
                  </a:outerShdw>
                </a:effectLst>
                <a:latin typeface="宋体" charset="-122"/>
              </a:rPr>
              <a:t>双螺旋链，产生粘性末端或平齐末端，这类酶称为</a:t>
            </a:r>
            <a:r>
              <a:rPr kumimoji="1" lang="zh-CN" altLang="en-US" sz="2400" b="1" dirty="0">
                <a:solidFill>
                  <a:srgbClr val="CC3300"/>
                </a:solidFill>
                <a:effectLst>
                  <a:outerShdw blurRad="38100" dist="38100" dir="2700000" algn="tl">
                    <a:srgbClr val="C0C0C0"/>
                  </a:outerShdw>
                </a:effectLst>
                <a:latin typeface="宋体" charset="-122"/>
              </a:rPr>
              <a:t>限制性内切酶</a:t>
            </a:r>
            <a:r>
              <a:rPr kumimoji="1" lang="zh-CN" altLang="en-US" sz="2400" b="1" dirty="0">
                <a:solidFill>
                  <a:srgbClr val="000066"/>
                </a:solidFill>
                <a:effectLst>
                  <a:outerShdw blurRad="38100" dist="38100" dir="2700000" algn="tl">
                    <a:srgbClr val="C0C0C0"/>
                  </a:outerShdw>
                </a:effectLst>
                <a:latin typeface="宋体" charset="-122"/>
              </a:rPr>
              <a:t>（</a:t>
            </a:r>
            <a:r>
              <a:rPr kumimoji="1" lang="en-US" altLang="zh-CN" sz="2400" b="1" dirty="0">
                <a:solidFill>
                  <a:srgbClr val="000066"/>
                </a:solidFill>
                <a:effectLst>
                  <a:outerShdw blurRad="38100" dist="38100" dir="2700000" algn="tl">
                    <a:srgbClr val="C0C0C0"/>
                  </a:outerShdw>
                </a:effectLst>
                <a:latin typeface="宋体" charset="-122"/>
              </a:rPr>
              <a:t>restriction endonuclease</a:t>
            </a:r>
            <a:r>
              <a:rPr kumimoji="1" lang="zh-CN" altLang="en-US" sz="2400" b="1" dirty="0">
                <a:solidFill>
                  <a:srgbClr val="000066"/>
                </a:solidFill>
                <a:effectLst>
                  <a:outerShdw blurRad="38100" dist="38100" dir="2700000" algn="tl">
                    <a:srgbClr val="C0C0C0"/>
                  </a:outerShdw>
                </a:effectLst>
                <a:latin typeface="宋体" charset="-122"/>
              </a:rPr>
              <a:t>）。</a:t>
            </a:r>
          </a:p>
        </p:txBody>
      </p:sp>
      <p:sp>
        <p:nvSpPr>
          <p:cNvPr id="90115" name="Rectangle 3"/>
          <p:cNvSpPr>
            <a:spLocks noGrp="1" noChangeArrowheads="1"/>
          </p:cNvSpPr>
          <p:nvPr>
            <p:ph type="title"/>
          </p:nvPr>
        </p:nvSpPr>
        <p:spPr>
          <a:xfrm>
            <a:off x="539750" y="260350"/>
            <a:ext cx="7772400" cy="1143000"/>
          </a:xfrm>
          <a:noFill/>
          <a:ln/>
        </p:spPr>
        <p:txBody>
          <a:bodyPr/>
          <a:lstStyle/>
          <a:p>
            <a:r>
              <a:rPr lang="zh-CN" altLang="en-US" b="1">
                <a:effectLst>
                  <a:outerShdw blurRad="38100" dist="38100" dir="2700000" algn="tl">
                    <a:srgbClr val="C0C0C0"/>
                  </a:outerShdw>
                </a:effectLst>
              </a:rPr>
              <a:t>限制性内切酶</a:t>
            </a:r>
          </a:p>
        </p:txBody>
      </p:sp>
      <p:sp>
        <p:nvSpPr>
          <p:cNvPr id="90116" name="Line 4"/>
          <p:cNvSpPr>
            <a:spLocks noChangeShapeType="1"/>
          </p:cNvSpPr>
          <p:nvPr/>
        </p:nvSpPr>
        <p:spPr bwMode="auto">
          <a:xfrm>
            <a:off x="755650" y="1260475"/>
            <a:ext cx="7696200" cy="0"/>
          </a:xfrm>
          <a:prstGeom prst="line">
            <a:avLst/>
          </a:prstGeom>
          <a:noFill/>
          <a:ln w="9525">
            <a:solidFill>
              <a:srgbClr val="00FF00"/>
            </a:solidFill>
            <a:round/>
            <a:headEnd/>
            <a:tailEnd/>
          </a:ln>
          <a:effectLst/>
          <a:scene3d>
            <a:camera prst="legacyObliqueTopRight"/>
            <a:lightRig rig="legacyFlat3" dir="b"/>
          </a:scene3d>
          <a:sp3d extrusionH="100000" prstMaterial="legacyMatte">
            <a:bevelT w="13500" h="13500" prst="angle"/>
            <a:bevelB w="13500" h="13500" prst="angle"/>
            <a:extrusionClr>
              <a:srgbClr val="00FF00"/>
            </a:extrusionClr>
          </a:sp3d>
        </p:spPr>
        <p:txBody>
          <a:bodyPr wrap="none" anchor="ctr">
            <a:flatTx/>
          </a:bodyPr>
          <a:lstStyle/>
          <a:p>
            <a:endParaRPr lang="zh-CN" altLang="en-US" dirty="0">
              <a:latin typeface="Times New Roman" panose="02020603050405020304" pitchFamily="18" charset="0"/>
            </a:endParaRPr>
          </a:p>
        </p:txBody>
      </p:sp>
      <p:sp>
        <p:nvSpPr>
          <p:cNvPr id="90117" name="Rectangle 5"/>
          <p:cNvSpPr>
            <a:spLocks noChangeArrowheads="1"/>
          </p:cNvSpPr>
          <p:nvPr/>
        </p:nvSpPr>
        <p:spPr bwMode="auto">
          <a:xfrm>
            <a:off x="1116013" y="4437063"/>
            <a:ext cx="7127875" cy="1130246"/>
          </a:xfrm>
          <a:prstGeom prst="rect">
            <a:avLst/>
          </a:prstGeom>
          <a:noFill/>
          <a:ln w="9525">
            <a:noFill/>
            <a:miter lim="800000"/>
            <a:headEnd/>
            <a:tailEnd/>
          </a:ln>
          <a:effectLst/>
        </p:spPr>
        <p:txBody>
          <a:bodyPr>
            <a:spAutoFit/>
          </a:bodyPr>
          <a:lstStyle/>
          <a:p>
            <a:pPr>
              <a:lnSpc>
                <a:spcPct val="150000"/>
              </a:lnSpc>
              <a:spcBef>
                <a:spcPct val="50000"/>
              </a:spcBef>
            </a:pPr>
            <a:r>
              <a:rPr kumimoji="1" lang="zh-CN" altLang="en-US" sz="2400" b="1" dirty="0">
                <a:solidFill>
                  <a:srgbClr val="000066"/>
                </a:solidFill>
                <a:effectLst>
                  <a:outerShdw blurRad="38100" dist="38100" dir="2700000" algn="tl">
                    <a:srgbClr val="C0C0C0"/>
                  </a:outerShdw>
                </a:effectLst>
                <a:latin typeface="Times New Roman" panose="02020603050405020304" pitchFamily="18" charset="0"/>
              </a:rPr>
              <a:t>具有很强的专一性， 有特异的识别位点，通常具有二重旋转对称性的</a:t>
            </a:r>
            <a:r>
              <a:rPr kumimoji="1" lang="zh-CN" altLang="en-US" sz="2400" b="1" dirty="0">
                <a:solidFill>
                  <a:srgbClr val="990000"/>
                </a:solidFill>
                <a:effectLst>
                  <a:outerShdw blurRad="38100" dist="38100" dir="2700000" algn="tl">
                    <a:srgbClr val="C0C0C0"/>
                  </a:outerShdw>
                </a:effectLst>
                <a:latin typeface="Times New Roman" panose="02020603050405020304" pitchFamily="18" charset="0"/>
                <a:hlinkClick r:id="rId2" action="ppaction://hlinksldjump"/>
              </a:rPr>
              <a:t>回文序列</a:t>
            </a:r>
            <a:r>
              <a:rPr kumimoji="1" lang="zh-CN" altLang="en-US" sz="2400" b="1" dirty="0">
                <a:solidFill>
                  <a:srgbClr val="990000"/>
                </a:solidFill>
                <a:effectLst>
                  <a:outerShdw blurRad="38100" dist="38100" dir="2700000" algn="tl">
                    <a:srgbClr val="C0C0C0"/>
                  </a:outerShdw>
                </a:effectLst>
                <a:latin typeface="Times New Roman" panose="02020603050405020304" pitchFamily="18" charset="0"/>
              </a:rPr>
              <a:t> </a:t>
            </a:r>
            <a:r>
              <a:rPr kumimoji="1" lang="en-US" altLang="zh-CN" sz="2400" b="1" dirty="0">
                <a:effectLst>
                  <a:outerShdw blurRad="38100" dist="38100" dir="2700000" algn="tl">
                    <a:srgbClr val="C0C0C0"/>
                  </a:outerShdw>
                </a:effectLst>
                <a:latin typeface="Times New Roman" panose="02020603050405020304" pitchFamily="18" charset="0"/>
              </a:rPr>
              <a:t>(</a:t>
            </a:r>
            <a:r>
              <a:rPr lang="en-US" sz="2400" dirty="0" err="1">
                <a:latin typeface="Times New Roman" panose="02020603050405020304" pitchFamily="18" charset="0"/>
              </a:rPr>
              <a:t>palindromic</a:t>
            </a:r>
            <a:r>
              <a:rPr lang="en-US" sz="2400" dirty="0">
                <a:latin typeface="Times New Roman" panose="02020603050405020304" pitchFamily="18" charset="0"/>
              </a:rPr>
              <a:t> sequence )</a:t>
            </a:r>
            <a:endParaRPr kumimoji="1" lang="zh-CN" altLang="en-US" sz="2400" b="1" dirty="0">
              <a:solidFill>
                <a:srgbClr val="990000"/>
              </a:solidFill>
              <a:effectLst>
                <a:outerShdw blurRad="38100" dist="38100" dir="2700000" algn="tl">
                  <a:srgbClr val="C0C0C0"/>
                </a:outerShdw>
              </a:effectLst>
              <a:latin typeface="Times New Roman" panose="02020603050405020304" pitchFamily="18" charset="0"/>
            </a:endParaRP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1138" name="Picture 2" descr="4"/>
          <p:cNvPicPr>
            <a:picLocks noChangeAspect="1" noChangeArrowheads="1"/>
          </p:cNvPicPr>
          <p:nvPr/>
        </p:nvPicPr>
        <p:blipFill>
          <a:blip r:embed="rId2" cstate="print"/>
          <a:srcRect l="3250" t="2524" r="3822" b="47746"/>
          <a:stretch>
            <a:fillRect/>
          </a:stretch>
        </p:blipFill>
        <p:spPr bwMode="auto">
          <a:xfrm>
            <a:off x="179388" y="981075"/>
            <a:ext cx="8640762" cy="4884738"/>
          </a:xfrm>
          <a:prstGeom prst="rect">
            <a:avLst/>
          </a:prstGeom>
          <a:noFill/>
        </p:spPr>
      </p:pic>
      <p:cxnSp>
        <p:nvCxnSpPr>
          <p:cNvPr id="3" name="直接连接符 2">
            <a:extLst>
              <a:ext uri="{FF2B5EF4-FFF2-40B4-BE49-F238E27FC236}">
                <a16:creationId xmlns:a16="http://schemas.microsoft.com/office/drawing/2014/main" id="{6A694D11-8406-A77F-2049-F1A9EB290B96}"/>
              </a:ext>
            </a:extLst>
          </p:cNvPr>
          <p:cNvCxnSpPr>
            <a:cxnSpLocks/>
          </p:cNvCxnSpPr>
          <p:nvPr/>
        </p:nvCxnSpPr>
        <p:spPr>
          <a:xfrm>
            <a:off x="2411760" y="1412776"/>
            <a:ext cx="1008112" cy="0"/>
          </a:xfrm>
          <a:prstGeom prst="line">
            <a:avLst/>
          </a:prstGeom>
          <a:ln w="28575">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5" name="直接连接符 4">
            <a:extLst>
              <a:ext uri="{FF2B5EF4-FFF2-40B4-BE49-F238E27FC236}">
                <a16:creationId xmlns:a16="http://schemas.microsoft.com/office/drawing/2014/main" id="{4E0A4560-A4AE-3E1F-06D9-2C8E49F64BB2}"/>
              </a:ext>
            </a:extLst>
          </p:cNvPr>
          <p:cNvCxnSpPr>
            <a:cxnSpLocks/>
          </p:cNvCxnSpPr>
          <p:nvPr/>
        </p:nvCxnSpPr>
        <p:spPr>
          <a:xfrm>
            <a:off x="2483768" y="4077072"/>
            <a:ext cx="1008112" cy="0"/>
          </a:xfrm>
          <a:prstGeom prst="line">
            <a:avLst/>
          </a:prstGeom>
          <a:ln w="28575">
            <a:solidFill>
              <a:srgbClr val="FF0000"/>
            </a:solidFill>
          </a:ln>
        </p:spPr>
        <p:style>
          <a:lnRef idx="1">
            <a:schemeClr val="accent2"/>
          </a:lnRef>
          <a:fillRef idx="0">
            <a:schemeClr val="accent2"/>
          </a:fillRef>
          <a:effectRef idx="0">
            <a:schemeClr val="accent2"/>
          </a:effectRef>
          <a:fontRef idx="minor">
            <a:schemeClr val="tx1"/>
          </a:fontRef>
        </p:style>
      </p:cxn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a:xfrm>
            <a:off x="900113" y="333375"/>
            <a:ext cx="7772400" cy="1143000"/>
          </a:xfrm>
          <a:noFill/>
          <a:ln/>
        </p:spPr>
        <p:txBody>
          <a:bodyPr/>
          <a:lstStyle/>
          <a:p>
            <a:r>
              <a:rPr lang="zh-CN" altLang="en-US" sz="4000" b="1">
                <a:solidFill>
                  <a:schemeClr val="accent2"/>
                </a:solidFill>
                <a:effectLst>
                  <a:outerShdw blurRad="38100" dist="38100" dir="2700000" algn="tl">
                    <a:srgbClr val="C0C0C0"/>
                  </a:outerShdw>
                </a:effectLst>
                <a:ea typeface="隶书" pitchFamily="49" charset="-122"/>
              </a:rPr>
              <a:t>核苷酸分解代谢</a:t>
            </a:r>
            <a:endParaRPr lang="zh-CN" altLang="en-US" sz="6600" b="1">
              <a:solidFill>
                <a:schemeClr val="accent2"/>
              </a:solidFill>
              <a:effectLst>
                <a:outerShdw blurRad="38100" dist="38100" dir="2700000" algn="tl">
                  <a:srgbClr val="C0C0C0"/>
                </a:outerShdw>
              </a:effectLst>
              <a:ea typeface="隶书" pitchFamily="49" charset="-122"/>
            </a:endParaRPr>
          </a:p>
        </p:txBody>
      </p:sp>
      <p:sp>
        <p:nvSpPr>
          <p:cNvPr id="92163" name="Text Box 3"/>
          <p:cNvSpPr txBox="1">
            <a:spLocks noChangeArrowheads="1"/>
          </p:cNvSpPr>
          <p:nvPr/>
        </p:nvSpPr>
        <p:spPr bwMode="auto">
          <a:xfrm>
            <a:off x="2438400" y="5149850"/>
            <a:ext cx="4694238" cy="641350"/>
          </a:xfrm>
          <a:prstGeom prst="rect">
            <a:avLst/>
          </a:prstGeom>
          <a:noFill/>
          <a:ln w="9525">
            <a:noFill/>
            <a:miter lim="800000"/>
            <a:headEnd/>
            <a:tailEnd/>
          </a:ln>
        </p:spPr>
        <p:txBody>
          <a:bodyPr>
            <a:spAutoFit/>
          </a:bodyPr>
          <a:lstStyle/>
          <a:p>
            <a:pPr algn="just" eaLnBrk="0" hangingPunct="0"/>
            <a:r>
              <a:rPr kumimoji="1" lang="en-US" altLang="zh-CN" sz="3600" b="1">
                <a:solidFill>
                  <a:schemeClr val="hlink"/>
                </a:solidFill>
                <a:effectLst>
                  <a:outerShdw blurRad="38100" dist="38100" dir="2700000" algn="tl">
                    <a:srgbClr val="C0C0C0"/>
                  </a:outerShdw>
                </a:effectLst>
                <a:latin typeface="Times New Roman" pitchFamily="18" charset="0"/>
                <a:ea typeface="隶书" pitchFamily="49" charset="-122"/>
              </a:rPr>
              <a:t>2</a:t>
            </a:r>
            <a:r>
              <a:rPr kumimoji="1" lang="zh-CN" altLang="en-US" sz="3600" b="1">
                <a:solidFill>
                  <a:schemeClr val="hlink"/>
                </a:solidFill>
                <a:effectLst>
                  <a:outerShdw blurRad="38100" dist="38100" dir="2700000" algn="tl">
                    <a:srgbClr val="C0C0C0"/>
                  </a:outerShdw>
                </a:effectLst>
                <a:latin typeface="Times New Roman" pitchFamily="18" charset="0"/>
                <a:ea typeface="隶书" pitchFamily="49" charset="-122"/>
              </a:rPr>
              <a:t>、</a:t>
            </a:r>
            <a:r>
              <a:rPr kumimoji="1" lang="zh-CN" altLang="en-US" sz="3600" b="1">
                <a:solidFill>
                  <a:srgbClr val="0000FF"/>
                </a:solidFill>
                <a:effectLst>
                  <a:outerShdw blurRad="38100" dist="38100" dir="2700000" algn="tl">
                    <a:srgbClr val="C0C0C0"/>
                  </a:outerShdw>
                </a:effectLst>
                <a:latin typeface="Times New Roman" pitchFamily="18" charset="0"/>
                <a:ea typeface="隶书" pitchFamily="49" charset="-122"/>
                <a:hlinkClick r:id="rId2" action="ppaction://hlinksldjump"/>
              </a:rPr>
              <a:t>嘧啶的降解</a:t>
            </a:r>
            <a:endParaRPr kumimoji="1" lang="zh-CN" altLang="en-US" sz="3600" b="1">
              <a:solidFill>
                <a:srgbClr val="0000FF"/>
              </a:solidFill>
              <a:effectLst>
                <a:outerShdw blurRad="38100" dist="38100" dir="2700000" algn="tl">
                  <a:srgbClr val="C0C0C0"/>
                </a:outerShdw>
              </a:effectLst>
              <a:latin typeface="Times New Roman" pitchFamily="18" charset="0"/>
              <a:ea typeface="隶书" pitchFamily="49" charset="-122"/>
            </a:endParaRPr>
          </a:p>
        </p:txBody>
      </p:sp>
      <p:sp>
        <p:nvSpPr>
          <p:cNvPr id="92164" name="Line 4"/>
          <p:cNvSpPr>
            <a:spLocks noChangeShapeType="1"/>
          </p:cNvSpPr>
          <p:nvPr/>
        </p:nvSpPr>
        <p:spPr bwMode="auto">
          <a:xfrm>
            <a:off x="838200" y="1524000"/>
            <a:ext cx="7467600" cy="0"/>
          </a:xfrm>
          <a:prstGeom prst="line">
            <a:avLst/>
          </a:prstGeom>
          <a:noFill/>
          <a:ln w="9525">
            <a:solidFill>
              <a:srgbClr val="00FF00"/>
            </a:solidFill>
            <a:round/>
            <a:headEnd/>
            <a:tailEnd/>
          </a:ln>
          <a:effectLst/>
          <a:scene3d>
            <a:camera prst="legacyObliqueTopRight"/>
            <a:lightRig rig="legacyFlat3" dir="b"/>
          </a:scene3d>
          <a:sp3d extrusionH="430200" prstMaterial="legacyMatte">
            <a:bevelT w="13500" h="13500" prst="angle"/>
            <a:bevelB w="13500" h="13500" prst="angle"/>
            <a:extrusionClr>
              <a:srgbClr val="00FF00"/>
            </a:extrusionClr>
          </a:sp3d>
        </p:spPr>
        <p:txBody>
          <a:bodyPr wrap="none" anchor="ctr">
            <a:flatTx/>
          </a:bodyPr>
          <a:lstStyle/>
          <a:p>
            <a:endParaRPr lang="zh-CN" altLang="en-US" dirty="0">
              <a:latin typeface="Times New Roman" panose="02020603050405020304" pitchFamily="18" charset="0"/>
            </a:endParaRPr>
          </a:p>
        </p:txBody>
      </p:sp>
      <p:sp>
        <p:nvSpPr>
          <p:cNvPr id="92165" name="Text Box 5"/>
          <p:cNvSpPr txBox="1">
            <a:spLocks noChangeArrowheads="1"/>
          </p:cNvSpPr>
          <p:nvPr/>
        </p:nvSpPr>
        <p:spPr bwMode="auto">
          <a:xfrm>
            <a:off x="2484438" y="3716338"/>
            <a:ext cx="4724400" cy="1190625"/>
          </a:xfrm>
          <a:prstGeom prst="rect">
            <a:avLst/>
          </a:prstGeom>
          <a:noFill/>
          <a:ln w="9525">
            <a:noFill/>
            <a:miter lim="800000"/>
            <a:headEnd/>
            <a:tailEnd/>
          </a:ln>
        </p:spPr>
        <p:txBody>
          <a:bodyPr>
            <a:spAutoFit/>
          </a:bodyPr>
          <a:lstStyle/>
          <a:p>
            <a:pPr eaLnBrk="0" hangingPunct="0">
              <a:lnSpc>
                <a:spcPct val="200000"/>
              </a:lnSpc>
            </a:pPr>
            <a:r>
              <a:rPr kumimoji="1" lang="en-US" altLang="zh-CN" sz="3600" b="1">
                <a:solidFill>
                  <a:schemeClr val="hlink"/>
                </a:solidFill>
                <a:effectLst>
                  <a:outerShdw blurRad="38100" dist="38100" dir="2700000" algn="tl">
                    <a:srgbClr val="C0C0C0"/>
                  </a:outerShdw>
                </a:effectLst>
                <a:latin typeface="Times New Roman" pitchFamily="18" charset="0"/>
                <a:ea typeface="隶书" pitchFamily="49" charset="-122"/>
              </a:rPr>
              <a:t>1</a:t>
            </a:r>
            <a:r>
              <a:rPr kumimoji="1" lang="zh-CN" altLang="en-US" sz="3600" b="1">
                <a:solidFill>
                  <a:schemeClr val="hlink"/>
                </a:solidFill>
                <a:effectLst>
                  <a:outerShdw blurRad="38100" dist="38100" dir="2700000" algn="tl">
                    <a:srgbClr val="C0C0C0"/>
                  </a:outerShdw>
                </a:effectLst>
                <a:latin typeface="Times New Roman" pitchFamily="18" charset="0"/>
                <a:ea typeface="隶书" pitchFamily="49" charset="-122"/>
              </a:rPr>
              <a:t>、</a:t>
            </a:r>
            <a:r>
              <a:rPr kumimoji="1" lang="zh-CN" altLang="en-US" sz="3600" b="1">
                <a:solidFill>
                  <a:srgbClr val="0000FF"/>
                </a:solidFill>
                <a:effectLst>
                  <a:outerShdw blurRad="38100" dist="38100" dir="2700000" algn="tl">
                    <a:srgbClr val="C0C0C0"/>
                  </a:outerShdw>
                </a:effectLst>
                <a:latin typeface="Times New Roman" pitchFamily="18" charset="0"/>
                <a:ea typeface="隶书" pitchFamily="49" charset="-122"/>
                <a:hlinkClick r:id="rId3" action="ppaction://hlinksldjump"/>
              </a:rPr>
              <a:t>嘌呤的降解</a:t>
            </a:r>
            <a:endParaRPr kumimoji="1" lang="zh-CN" altLang="en-US" sz="3600">
              <a:solidFill>
                <a:srgbClr val="000066"/>
              </a:solidFill>
              <a:latin typeface="Times New Roman" pitchFamily="18" charset="0"/>
              <a:hlinkClick r:id="rId3" action="ppaction://hlinksldjump"/>
            </a:endParaRPr>
          </a:p>
        </p:txBody>
      </p:sp>
      <p:sp>
        <p:nvSpPr>
          <p:cNvPr id="92166" name="Text Box 6"/>
          <p:cNvSpPr txBox="1">
            <a:spLocks noChangeArrowheads="1"/>
          </p:cNvSpPr>
          <p:nvPr/>
        </p:nvSpPr>
        <p:spPr bwMode="auto">
          <a:xfrm>
            <a:off x="685800" y="1766888"/>
            <a:ext cx="8153400" cy="1016000"/>
          </a:xfrm>
          <a:prstGeom prst="rect">
            <a:avLst/>
          </a:prstGeom>
          <a:noFill/>
          <a:ln w="9525">
            <a:noFill/>
            <a:miter lim="800000"/>
            <a:headEnd/>
            <a:tailEnd/>
          </a:ln>
        </p:spPr>
        <p:txBody>
          <a:bodyPr>
            <a:spAutoFit/>
          </a:bodyPr>
          <a:lstStyle/>
          <a:p>
            <a:pPr algn="just" eaLnBrk="0" hangingPunct="0">
              <a:lnSpc>
                <a:spcPct val="136000"/>
              </a:lnSpc>
            </a:pPr>
            <a:r>
              <a:rPr kumimoji="1" lang="en-US" altLang="zh-CN" sz="2400" b="1">
                <a:solidFill>
                  <a:srgbClr val="FF99FF"/>
                </a:solidFill>
                <a:latin typeface="Times New Roman" pitchFamily="18" charset="0"/>
                <a:ea typeface="隶书" pitchFamily="49" charset="-122"/>
              </a:rPr>
              <a:t>              </a:t>
            </a:r>
            <a:r>
              <a:rPr kumimoji="1" lang="zh-CN" altLang="en-US" sz="2400" b="1">
                <a:solidFill>
                  <a:srgbClr val="CC0000"/>
                </a:solidFill>
                <a:latin typeface="Times New Roman" pitchFamily="18" charset="0"/>
                <a:ea typeface="隶书" pitchFamily="49" charset="-122"/>
              </a:rPr>
              <a:t>核苷酸酶         核苷磷酸化酶（</a:t>
            </a:r>
            <a:r>
              <a:rPr kumimoji="1" lang="en-US" altLang="zh-CN" sz="2400" b="1">
                <a:solidFill>
                  <a:srgbClr val="CC0000"/>
                </a:solidFill>
                <a:latin typeface="Times New Roman" pitchFamily="18" charset="0"/>
                <a:ea typeface="隶书" pitchFamily="49" charset="-122"/>
              </a:rPr>
              <a:t>DNA</a:t>
            </a:r>
            <a:r>
              <a:rPr kumimoji="1" lang="zh-CN" altLang="en-US" sz="2400" b="1">
                <a:solidFill>
                  <a:srgbClr val="CC0000"/>
                </a:solidFill>
                <a:latin typeface="Times New Roman" pitchFamily="18" charset="0"/>
                <a:ea typeface="隶书" pitchFamily="49" charset="-122"/>
              </a:rPr>
              <a:t>、</a:t>
            </a:r>
            <a:r>
              <a:rPr kumimoji="1" lang="en-US" altLang="zh-CN" sz="2400" b="1">
                <a:solidFill>
                  <a:srgbClr val="CC0000"/>
                </a:solidFill>
                <a:latin typeface="Times New Roman" pitchFamily="18" charset="0"/>
                <a:ea typeface="隶书" pitchFamily="49" charset="-122"/>
              </a:rPr>
              <a:t>RNA</a:t>
            </a:r>
            <a:r>
              <a:rPr kumimoji="1" lang="zh-CN" altLang="en-US" sz="2400" b="1">
                <a:solidFill>
                  <a:srgbClr val="CC0000"/>
                </a:solidFill>
                <a:latin typeface="Times New Roman" pitchFamily="18" charset="0"/>
                <a:ea typeface="隶书" pitchFamily="49" charset="-122"/>
              </a:rPr>
              <a:t>）</a:t>
            </a:r>
          </a:p>
          <a:p>
            <a:pPr algn="just" eaLnBrk="0" hangingPunct="0"/>
            <a:r>
              <a:rPr kumimoji="1" lang="zh-CN" altLang="en-US" sz="2800" b="1">
                <a:solidFill>
                  <a:srgbClr val="000066"/>
                </a:solidFill>
                <a:latin typeface="Times New Roman" pitchFamily="18" charset="0"/>
                <a:ea typeface="隶书" pitchFamily="49" charset="-122"/>
              </a:rPr>
              <a:t>核苷酸             核苷                碱基</a:t>
            </a:r>
            <a:r>
              <a:rPr kumimoji="1" lang="en-US" altLang="zh-CN" sz="2800" b="1">
                <a:solidFill>
                  <a:srgbClr val="000066"/>
                </a:solidFill>
                <a:latin typeface="Times New Roman" pitchFamily="18" charset="0"/>
                <a:ea typeface="隶书" pitchFamily="49" charset="-122"/>
              </a:rPr>
              <a:t>+</a:t>
            </a:r>
            <a:r>
              <a:rPr kumimoji="1" lang="zh-CN" altLang="en-US" sz="2800" b="1">
                <a:solidFill>
                  <a:srgbClr val="000066"/>
                </a:solidFill>
                <a:latin typeface="Times New Roman" pitchFamily="18" charset="0"/>
                <a:ea typeface="隶书" pitchFamily="49" charset="-122"/>
              </a:rPr>
              <a:t>戊糖－</a:t>
            </a:r>
            <a:r>
              <a:rPr kumimoji="1" lang="en-US" altLang="zh-CN" sz="2800" b="1">
                <a:solidFill>
                  <a:srgbClr val="000066"/>
                </a:solidFill>
                <a:latin typeface="Times New Roman" pitchFamily="18" charset="0"/>
                <a:ea typeface="隶书" pitchFamily="49" charset="-122"/>
              </a:rPr>
              <a:t>1</a:t>
            </a:r>
            <a:r>
              <a:rPr kumimoji="1" lang="zh-CN" altLang="en-US" sz="2800" b="1">
                <a:solidFill>
                  <a:srgbClr val="000066"/>
                </a:solidFill>
                <a:latin typeface="Times New Roman" pitchFamily="18" charset="0"/>
                <a:ea typeface="隶书" pitchFamily="49" charset="-122"/>
              </a:rPr>
              <a:t>－磷酸</a:t>
            </a:r>
          </a:p>
        </p:txBody>
      </p:sp>
      <p:sp>
        <p:nvSpPr>
          <p:cNvPr id="92167" name="Line 7"/>
          <p:cNvSpPr>
            <a:spLocks noChangeShapeType="1"/>
          </p:cNvSpPr>
          <p:nvPr/>
        </p:nvSpPr>
        <p:spPr bwMode="auto">
          <a:xfrm>
            <a:off x="1981200" y="2528888"/>
            <a:ext cx="990600" cy="0"/>
          </a:xfrm>
          <a:prstGeom prst="line">
            <a:avLst/>
          </a:prstGeom>
          <a:noFill/>
          <a:ln w="28575">
            <a:solidFill>
              <a:srgbClr val="990000"/>
            </a:solidFill>
            <a:round/>
            <a:headEnd/>
            <a:tailEnd type="triangle" w="med" len="med"/>
          </a:ln>
        </p:spPr>
        <p:txBody>
          <a:bodyPr wrap="none" anchor="ctr"/>
          <a:lstStyle/>
          <a:p>
            <a:endParaRPr lang="zh-CN" altLang="en-US" dirty="0">
              <a:latin typeface="Times New Roman" panose="02020603050405020304" pitchFamily="18" charset="0"/>
            </a:endParaRPr>
          </a:p>
        </p:txBody>
      </p:sp>
      <p:sp>
        <p:nvSpPr>
          <p:cNvPr id="92168" name="Line 8"/>
          <p:cNvSpPr>
            <a:spLocks noChangeShapeType="1"/>
          </p:cNvSpPr>
          <p:nvPr/>
        </p:nvSpPr>
        <p:spPr bwMode="auto">
          <a:xfrm flipV="1">
            <a:off x="3962400" y="2528888"/>
            <a:ext cx="1114425" cy="0"/>
          </a:xfrm>
          <a:prstGeom prst="line">
            <a:avLst/>
          </a:prstGeom>
          <a:noFill/>
          <a:ln w="28575">
            <a:solidFill>
              <a:srgbClr val="990000"/>
            </a:solidFill>
            <a:round/>
            <a:headEnd type="triangle" w="med" len="med"/>
            <a:tailEnd type="triangle" w="med" len="med"/>
          </a:ln>
        </p:spPr>
        <p:txBody>
          <a:bodyPr wrap="none" anchor="ctr"/>
          <a:lstStyle/>
          <a:p>
            <a:endParaRPr lang="zh-CN" altLang="en-US" dirty="0">
              <a:latin typeface="Times New Roman" panose="02020603050405020304" pitchFamily="18" charset="0"/>
            </a:endParaRPr>
          </a:p>
        </p:txBody>
      </p:sp>
      <p:sp>
        <p:nvSpPr>
          <p:cNvPr id="92169" name="Text Box 9"/>
          <p:cNvSpPr txBox="1">
            <a:spLocks noChangeArrowheads="1"/>
          </p:cNvSpPr>
          <p:nvPr/>
        </p:nvSpPr>
        <p:spPr bwMode="auto">
          <a:xfrm>
            <a:off x="2286000" y="3062288"/>
            <a:ext cx="1219200" cy="519112"/>
          </a:xfrm>
          <a:prstGeom prst="rect">
            <a:avLst/>
          </a:prstGeom>
          <a:noFill/>
          <a:ln w="9525">
            <a:noFill/>
            <a:miter lim="800000"/>
            <a:headEnd/>
            <a:tailEnd/>
          </a:ln>
          <a:effectLst/>
        </p:spPr>
        <p:txBody>
          <a:bodyPr>
            <a:spAutoFit/>
          </a:bodyPr>
          <a:lstStyle/>
          <a:p>
            <a:pPr eaLnBrk="0" hangingPunct="0">
              <a:spcBef>
                <a:spcPct val="50000"/>
              </a:spcBef>
            </a:pPr>
            <a:r>
              <a:rPr kumimoji="1" lang="zh-CN" altLang="en-US" sz="2800" b="1">
                <a:solidFill>
                  <a:srgbClr val="000066"/>
                </a:solidFill>
                <a:latin typeface="Times New Roman" pitchFamily="18" charset="0"/>
                <a:ea typeface="隶书" pitchFamily="49" charset="-122"/>
              </a:rPr>
              <a:t>磷酸</a:t>
            </a:r>
          </a:p>
        </p:txBody>
      </p:sp>
      <p:sp>
        <p:nvSpPr>
          <p:cNvPr id="92170" name="Line 10"/>
          <p:cNvSpPr>
            <a:spLocks noChangeShapeType="1"/>
          </p:cNvSpPr>
          <p:nvPr/>
        </p:nvSpPr>
        <p:spPr bwMode="auto">
          <a:xfrm>
            <a:off x="2286000" y="2605088"/>
            <a:ext cx="457200" cy="609600"/>
          </a:xfrm>
          <a:prstGeom prst="line">
            <a:avLst/>
          </a:prstGeom>
          <a:noFill/>
          <a:ln w="19050">
            <a:solidFill>
              <a:srgbClr val="990000"/>
            </a:solidFill>
            <a:round/>
            <a:headEnd/>
            <a:tailEnd type="triangle" w="med" len="med"/>
          </a:ln>
          <a:effectLst/>
        </p:spPr>
        <p:txBody>
          <a:bodyPr/>
          <a:lstStyle/>
          <a:p>
            <a:endParaRPr lang="zh-CN" altLang="en-US" dirty="0">
              <a:latin typeface="Times New Roman" panose="02020603050405020304" pitchFamily="18" charset="0"/>
            </a:endParaRPr>
          </a:p>
        </p:txBody>
      </p:sp>
      <p:sp>
        <p:nvSpPr>
          <p:cNvPr id="92171" name="Text Box 11"/>
          <p:cNvSpPr txBox="1">
            <a:spLocks noChangeArrowheads="1"/>
          </p:cNvSpPr>
          <p:nvPr/>
        </p:nvSpPr>
        <p:spPr bwMode="auto">
          <a:xfrm>
            <a:off x="3348038" y="2867025"/>
            <a:ext cx="3455987" cy="457200"/>
          </a:xfrm>
          <a:prstGeom prst="rect">
            <a:avLst/>
          </a:prstGeom>
          <a:noFill/>
          <a:ln w="9525">
            <a:noFill/>
            <a:miter lim="800000"/>
            <a:headEnd/>
            <a:tailEnd/>
          </a:ln>
          <a:effectLst/>
        </p:spPr>
        <p:txBody>
          <a:bodyPr>
            <a:spAutoFit/>
          </a:bodyPr>
          <a:lstStyle/>
          <a:p>
            <a:r>
              <a:rPr lang="zh-CN" altLang="en-US" b="1" dirty="0">
                <a:solidFill>
                  <a:srgbClr val="990000"/>
                </a:solidFill>
                <a:latin typeface="Times New Roman" panose="02020603050405020304" pitchFamily="18" charset="0"/>
              </a:rPr>
              <a:t>核苷水解酶</a:t>
            </a:r>
            <a:r>
              <a:rPr lang="zh-CN" altLang="en-US" b="1" dirty="0">
                <a:solidFill>
                  <a:srgbClr val="000066"/>
                </a:solidFill>
                <a:latin typeface="Times New Roman" panose="02020603050405020304" pitchFamily="18" charset="0"/>
              </a:rPr>
              <a:t>      </a:t>
            </a:r>
            <a:r>
              <a:rPr kumimoji="1" lang="zh-CN" altLang="en-US" sz="2400" b="1" dirty="0">
                <a:solidFill>
                  <a:srgbClr val="000066"/>
                </a:solidFill>
                <a:latin typeface="Times New Roman" panose="02020603050405020304" pitchFamily="18" charset="0"/>
              </a:rPr>
              <a:t>碱基</a:t>
            </a:r>
            <a:r>
              <a:rPr kumimoji="1" lang="en-US" altLang="zh-CN" sz="2400" b="1" dirty="0">
                <a:solidFill>
                  <a:srgbClr val="000066"/>
                </a:solidFill>
                <a:latin typeface="Times New Roman" panose="02020603050405020304" pitchFamily="18" charset="0"/>
              </a:rPr>
              <a:t>+</a:t>
            </a:r>
            <a:r>
              <a:rPr kumimoji="1" lang="zh-CN" altLang="en-US" sz="2400" b="1" dirty="0">
                <a:solidFill>
                  <a:srgbClr val="000066"/>
                </a:solidFill>
                <a:latin typeface="Times New Roman" panose="02020603050405020304" pitchFamily="18" charset="0"/>
              </a:rPr>
              <a:t>戊糖</a:t>
            </a:r>
            <a:r>
              <a:rPr kumimoji="1" lang="zh-CN" altLang="en-US" b="1" dirty="0">
                <a:solidFill>
                  <a:srgbClr val="000066"/>
                </a:solidFill>
                <a:latin typeface="Times New Roman" panose="02020603050405020304" pitchFamily="18" charset="0"/>
              </a:rPr>
              <a:t>             </a:t>
            </a:r>
          </a:p>
        </p:txBody>
      </p:sp>
      <p:sp>
        <p:nvSpPr>
          <p:cNvPr id="92172" name="Line 12"/>
          <p:cNvSpPr>
            <a:spLocks noChangeShapeType="1"/>
          </p:cNvSpPr>
          <p:nvPr/>
        </p:nvSpPr>
        <p:spPr bwMode="auto">
          <a:xfrm>
            <a:off x="3995738" y="2708275"/>
            <a:ext cx="792162" cy="288925"/>
          </a:xfrm>
          <a:prstGeom prst="line">
            <a:avLst/>
          </a:prstGeom>
          <a:noFill/>
          <a:ln w="28575">
            <a:solidFill>
              <a:srgbClr val="990000"/>
            </a:solidFill>
            <a:round/>
            <a:headEnd/>
            <a:tailEnd type="triangle" w="med" len="med"/>
          </a:ln>
        </p:spPr>
        <p:txBody>
          <a:bodyPr wrap="none" anchor="ctr"/>
          <a:lstStyle/>
          <a:p>
            <a:endParaRPr lang="zh-CN" altLang="en-US" dirty="0">
              <a:latin typeface="Times New Roman" panose="02020603050405020304" pitchFamily="18" charset="0"/>
            </a:endParaRPr>
          </a:p>
        </p:txBody>
      </p:sp>
      <p:sp>
        <p:nvSpPr>
          <p:cNvPr id="92173" name="Text Box 13"/>
          <p:cNvSpPr txBox="1">
            <a:spLocks noChangeArrowheads="1"/>
          </p:cNvSpPr>
          <p:nvPr/>
        </p:nvSpPr>
        <p:spPr bwMode="auto">
          <a:xfrm>
            <a:off x="3708400" y="3284538"/>
            <a:ext cx="666750" cy="366712"/>
          </a:xfrm>
          <a:prstGeom prst="rect">
            <a:avLst/>
          </a:prstGeom>
          <a:noFill/>
          <a:ln w="9525">
            <a:noFill/>
            <a:miter lim="800000"/>
            <a:headEnd/>
            <a:tailEnd/>
          </a:ln>
          <a:effectLst/>
        </p:spPr>
        <p:txBody>
          <a:bodyPr wrap="none">
            <a:spAutoFit/>
          </a:bodyPr>
          <a:lstStyle/>
          <a:p>
            <a:r>
              <a:rPr lang="en-US" altLang="zh-CN" dirty="0">
                <a:solidFill>
                  <a:srgbClr val="990000"/>
                </a:solidFill>
                <a:latin typeface="Times New Roman" panose="02020603050405020304" pitchFamily="18" charset="0"/>
              </a:rPr>
              <a:t>RNA</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grpId="0" nodeType="afterEffect">
                                  <p:stCondLst>
                                    <p:cond delay="0"/>
                                  </p:stCondLst>
                                  <p:childTnLst>
                                    <p:set>
                                      <p:cBhvr>
                                        <p:cTn id="6" dur="1" fill="hold">
                                          <p:stCondLst>
                                            <p:cond delay="0"/>
                                          </p:stCondLst>
                                        </p:cTn>
                                        <p:tgtEl>
                                          <p:spTgt spid="92164"/>
                                        </p:tgtEl>
                                        <p:attrNameLst>
                                          <p:attrName>style.visibility</p:attrName>
                                        </p:attrNameLst>
                                      </p:cBhvr>
                                      <p:to>
                                        <p:strVal val="visible"/>
                                      </p:to>
                                    </p:set>
                                    <p:animEffect transition="in" filter="strips(downLeft)">
                                      <p:cBhvr>
                                        <p:cTn id="7" dur="500"/>
                                        <p:tgtEl>
                                          <p:spTgt spid="92164"/>
                                        </p:tgtEl>
                                      </p:cBhvr>
                                    </p:animEffect>
                                  </p:childTnLst>
                                </p:cTn>
                              </p:par>
                            </p:childTnLst>
                          </p:cTn>
                        </p:par>
                        <p:par>
                          <p:cTn id="8" fill="hold">
                            <p:stCondLst>
                              <p:cond delay="500"/>
                            </p:stCondLst>
                            <p:childTnLst>
                              <p:par>
                                <p:cTn id="9" presetID="24" presetClass="entr" presetSubtype="0" fill="hold" grpId="0" nodeType="afterEffect">
                                  <p:stCondLst>
                                    <p:cond delay="1000"/>
                                  </p:stCondLst>
                                  <p:childTnLst>
                                    <p:set>
                                      <p:cBhvr>
                                        <p:cTn id="10" dur="1" fill="hold">
                                          <p:stCondLst>
                                            <p:cond delay="499"/>
                                          </p:stCondLst>
                                        </p:cTn>
                                        <p:tgtEl>
                                          <p:spTgt spid="92165"/>
                                        </p:tgtEl>
                                        <p:attrNameLst>
                                          <p:attrName>style.visibility</p:attrName>
                                        </p:attrNameLst>
                                      </p:cBhvr>
                                      <p:to>
                                        <p:strVal val="visible"/>
                                      </p:to>
                                    </p:set>
                                    <p:anim to="" calcmode="lin" valueType="num">
                                      <p:cBhvr>
                                        <p:cTn id="11" dur="1" fill="hold"/>
                                        <p:tgtEl>
                                          <p:spTgt spid="92165"/>
                                        </p:tgtEl>
                                        <p:attrNameLst>
                                          <p:attrName/>
                                        </p:attrNameLst>
                                      </p:cBhvr>
                                    </p:anim>
                                  </p:childTnLst>
                                </p:cTn>
                              </p:par>
                            </p:childTnLst>
                          </p:cTn>
                        </p:par>
                        <p:par>
                          <p:cTn id="12" fill="hold">
                            <p:stCondLst>
                              <p:cond delay="2000"/>
                            </p:stCondLst>
                            <p:childTnLst>
                              <p:par>
                                <p:cTn id="13" presetID="24" presetClass="entr" presetSubtype="0" fill="hold" grpId="0" nodeType="afterEffect">
                                  <p:stCondLst>
                                    <p:cond delay="1000"/>
                                  </p:stCondLst>
                                  <p:childTnLst>
                                    <p:set>
                                      <p:cBhvr>
                                        <p:cTn id="14" dur="1" fill="hold">
                                          <p:stCondLst>
                                            <p:cond delay="499"/>
                                          </p:stCondLst>
                                        </p:cTn>
                                        <p:tgtEl>
                                          <p:spTgt spid="92163"/>
                                        </p:tgtEl>
                                        <p:attrNameLst>
                                          <p:attrName>style.visibility</p:attrName>
                                        </p:attrNameLst>
                                      </p:cBhvr>
                                      <p:to>
                                        <p:strVal val="visible"/>
                                      </p:to>
                                    </p:set>
                                    <p:anim to="" calcmode="lin" valueType="num">
                                      <p:cBhvr>
                                        <p:cTn id="15" dur="1" fill="hold"/>
                                        <p:tgtEl>
                                          <p:spTgt spid="92163"/>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3" grpId="0" autoUpdateAnimBg="0"/>
      <p:bldP spid="92164" grpId="0" animBg="1"/>
      <p:bldP spid="92165" grpId="0"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body" idx="1"/>
          </p:nvPr>
        </p:nvSpPr>
        <p:spPr>
          <a:xfrm>
            <a:off x="468313" y="1989138"/>
            <a:ext cx="8229600" cy="4525962"/>
          </a:xfrm>
        </p:spPr>
        <p:txBody>
          <a:bodyPr/>
          <a:lstStyle/>
          <a:p>
            <a:r>
              <a:rPr lang="zh-CN" altLang="en-US" sz="2800" b="1" dirty="0">
                <a:solidFill>
                  <a:srgbClr val="000066"/>
                </a:solidFill>
                <a:effectLst>
                  <a:outerShdw blurRad="38100" dist="38100" dir="2700000" algn="tl">
                    <a:srgbClr val="C0C0C0"/>
                  </a:outerShdw>
                </a:effectLst>
              </a:rPr>
              <a:t>腺嘌呤和鸟嘌呤要经过脱氨氧化转变为黄嘌呤再进行降解</a:t>
            </a:r>
          </a:p>
          <a:p>
            <a:r>
              <a:rPr lang="zh-CN" altLang="en-US" sz="2800" b="1" dirty="0">
                <a:solidFill>
                  <a:srgbClr val="000066"/>
                </a:solidFill>
                <a:effectLst>
                  <a:outerShdw blurRad="38100" dist="38100" dir="2700000" algn="tl">
                    <a:srgbClr val="C0C0C0"/>
                  </a:outerShdw>
                </a:effectLst>
              </a:rPr>
              <a:t>不同生物分解嘌呤的酶系不一样</a:t>
            </a:r>
          </a:p>
          <a:p>
            <a:r>
              <a:rPr lang="zh-CN" altLang="en-US" sz="2800" b="1" u="sng" dirty="0">
                <a:solidFill>
                  <a:srgbClr val="000066"/>
                </a:solidFill>
                <a:effectLst>
                  <a:outerShdw blurRad="38100" dist="38100" dir="2700000" algn="tl">
                    <a:srgbClr val="C0C0C0"/>
                  </a:outerShdw>
                </a:effectLst>
              </a:rPr>
              <a:t>生物进化程度愈高，分解嘌呤的能力愈差</a:t>
            </a:r>
          </a:p>
        </p:txBody>
      </p:sp>
      <p:sp>
        <p:nvSpPr>
          <p:cNvPr id="93187" name="Rectangle 3"/>
          <p:cNvSpPr>
            <a:spLocks noGrp="1" noChangeArrowheads="1"/>
          </p:cNvSpPr>
          <p:nvPr>
            <p:ph type="title"/>
          </p:nvPr>
        </p:nvSpPr>
        <p:spPr>
          <a:xfrm>
            <a:off x="611188" y="260350"/>
            <a:ext cx="4330700" cy="993775"/>
          </a:xfrm>
          <a:solidFill>
            <a:srgbClr val="FFFFCC"/>
          </a:solidFill>
          <a:ln/>
        </p:spPr>
        <p:txBody>
          <a:bodyPr/>
          <a:lstStyle/>
          <a:p>
            <a:r>
              <a:rPr lang="zh-CN" altLang="en-US" b="1">
                <a:solidFill>
                  <a:srgbClr val="000066"/>
                </a:solidFill>
              </a:rPr>
              <a:t>嘌呤的分解</a:t>
            </a: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ChangeArrowheads="1"/>
          </p:cNvSpPr>
          <p:nvPr/>
        </p:nvSpPr>
        <p:spPr bwMode="auto">
          <a:xfrm>
            <a:off x="965200" y="6680200"/>
            <a:ext cx="184150" cy="366713"/>
          </a:xfrm>
          <a:prstGeom prst="rect">
            <a:avLst/>
          </a:prstGeom>
          <a:noFill/>
          <a:ln w="9525">
            <a:noFill/>
            <a:miter lim="800000"/>
            <a:headEnd/>
            <a:tailEnd/>
          </a:ln>
          <a:effectLst/>
        </p:spPr>
        <p:txBody>
          <a:bodyPr wrap="none">
            <a:spAutoFit/>
          </a:bodyPr>
          <a:lstStyle/>
          <a:p>
            <a:pPr>
              <a:spcBef>
                <a:spcPct val="50000"/>
              </a:spcBef>
            </a:pPr>
            <a:endParaRPr lang="zh-CN" altLang="zh-CN" b="1" dirty="0">
              <a:solidFill>
                <a:srgbClr val="000066"/>
              </a:solidFill>
              <a:latin typeface="Times New Roman" panose="02020603050405020304" pitchFamily="18" charset="0"/>
            </a:endParaRPr>
          </a:p>
        </p:txBody>
      </p:sp>
      <p:graphicFrame>
        <p:nvGraphicFramePr>
          <p:cNvPr id="94211" name="Object 3"/>
          <p:cNvGraphicFramePr>
            <a:graphicFrameLocks noChangeAspect="1"/>
          </p:cNvGraphicFramePr>
          <p:nvPr/>
        </p:nvGraphicFramePr>
        <p:xfrm>
          <a:off x="1927225" y="0"/>
          <a:ext cx="5954713" cy="6165850"/>
        </p:xfrm>
        <a:graphic>
          <a:graphicData uri="http://schemas.openxmlformats.org/presentationml/2006/ole">
            <mc:AlternateContent xmlns:mc="http://schemas.openxmlformats.org/markup-compatibility/2006">
              <mc:Choice xmlns:v="urn:schemas-microsoft-com:vml" Requires="v">
                <p:oleObj name="Image" r:id="rId2" imgW="20789269" imgH="23940699" progId="">
                  <p:embed/>
                </p:oleObj>
              </mc:Choice>
              <mc:Fallback>
                <p:oleObj name="Image" r:id="rId2" imgW="20789269" imgH="23940699" progId="">
                  <p:embed/>
                  <p:pic>
                    <p:nvPicPr>
                      <p:cNvPr id="0" name="Picture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7225" y="0"/>
                        <a:ext cx="5954713" cy="6165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4212" name="Text Box 4"/>
          <p:cNvSpPr txBox="1">
            <a:spLocks noChangeArrowheads="1"/>
          </p:cNvSpPr>
          <p:nvPr/>
        </p:nvSpPr>
        <p:spPr bwMode="auto">
          <a:xfrm>
            <a:off x="6804025" y="5229225"/>
            <a:ext cx="1366838" cy="376238"/>
          </a:xfrm>
          <a:prstGeom prst="rect">
            <a:avLst/>
          </a:prstGeom>
          <a:noFill/>
          <a:ln w="9525">
            <a:solidFill>
              <a:srgbClr val="990000"/>
            </a:solidFill>
            <a:miter lim="800000"/>
            <a:headEnd/>
            <a:tailEnd/>
          </a:ln>
          <a:effectLst/>
        </p:spPr>
        <p:txBody>
          <a:bodyPr>
            <a:spAutoFit/>
          </a:bodyPr>
          <a:lstStyle/>
          <a:p>
            <a:pPr>
              <a:spcBef>
                <a:spcPct val="50000"/>
              </a:spcBef>
            </a:pPr>
            <a:r>
              <a:rPr lang="zh-CN" altLang="en-US" b="1" dirty="0">
                <a:solidFill>
                  <a:srgbClr val="000066"/>
                </a:solidFill>
                <a:latin typeface="Times New Roman" panose="02020603050405020304" pitchFamily="18" charset="0"/>
              </a:rPr>
              <a:t>人、猿、鸟</a:t>
            </a:r>
          </a:p>
        </p:txBody>
      </p:sp>
      <p:sp>
        <p:nvSpPr>
          <p:cNvPr id="94213" name="Text Box 5"/>
          <p:cNvSpPr txBox="1">
            <a:spLocks noChangeArrowheads="1"/>
          </p:cNvSpPr>
          <p:nvPr/>
        </p:nvSpPr>
        <p:spPr bwMode="auto">
          <a:xfrm>
            <a:off x="1187450" y="5229225"/>
            <a:ext cx="1871663" cy="346075"/>
          </a:xfrm>
          <a:prstGeom prst="rect">
            <a:avLst/>
          </a:prstGeom>
          <a:noFill/>
          <a:ln w="9525">
            <a:solidFill>
              <a:srgbClr val="990000"/>
            </a:solidFill>
            <a:miter lim="800000"/>
            <a:headEnd/>
            <a:tailEnd/>
          </a:ln>
          <a:effectLst/>
        </p:spPr>
        <p:txBody>
          <a:bodyPr>
            <a:spAutoFit/>
          </a:bodyPr>
          <a:lstStyle/>
          <a:p>
            <a:pPr>
              <a:spcBef>
                <a:spcPct val="50000"/>
              </a:spcBef>
            </a:pPr>
            <a:r>
              <a:rPr lang="zh-CN" altLang="en-US" sz="1600" b="1" dirty="0">
                <a:solidFill>
                  <a:srgbClr val="000066"/>
                </a:solidFill>
                <a:latin typeface="Times New Roman" panose="02020603050405020304" pitchFamily="18" charset="0"/>
              </a:rPr>
              <a:t>非灵长类哺乳动物</a:t>
            </a:r>
          </a:p>
        </p:txBody>
      </p:sp>
      <p:sp>
        <p:nvSpPr>
          <p:cNvPr id="94214" name="Text Box 6"/>
          <p:cNvSpPr txBox="1">
            <a:spLocks noChangeArrowheads="1"/>
          </p:cNvSpPr>
          <p:nvPr/>
        </p:nvSpPr>
        <p:spPr bwMode="auto">
          <a:xfrm>
            <a:off x="1979613" y="6021388"/>
            <a:ext cx="936625" cy="346075"/>
          </a:xfrm>
          <a:prstGeom prst="rect">
            <a:avLst/>
          </a:prstGeom>
          <a:noFill/>
          <a:ln w="9525">
            <a:solidFill>
              <a:srgbClr val="990000"/>
            </a:solidFill>
            <a:miter lim="800000"/>
            <a:headEnd/>
            <a:tailEnd/>
          </a:ln>
          <a:effectLst/>
        </p:spPr>
        <p:txBody>
          <a:bodyPr>
            <a:spAutoFit/>
          </a:bodyPr>
          <a:lstStyle/>
          <a:p>
            <a:pPr>
              <a:spcBef>
                <a:spcPct val="50000"/>
              </a:spcBef>
            </a:pPr>
            <a:r>
              <a:rPr lang="zh-CN" altLang="en-US" sz="1600" b="1" dirty="0">
                <a:solidFill>
                  <a:srgbClr val="000066"/>
                </a:solidFill>
                <a:latin typeface="Times New Roman" panose="02020603050405020304" pitchFamily="18" charset="0"/>
              </a:rPr>
              <a:t>硬骨鱼</a:t>
            </a:r>
          </a:p>
        </p:txBody>
      </p:sp>
      <p:sp>
        <p:nvSpPr>
          <p:cNvPr id="94215" name="Text Box 7"/>
          <p:cNvSpPr txBox="1">
            <a:spLocks noChangeArrowheads="1"/>
          </p:cNvSpPr>
          <p:nvPr/>
        </p:nvSpPr>
        <p:spPr bwMode="auto">
          <a:xfrm>
            <a:off x="2914650" y="6021388"/>
            <a:ext cx="936625" cy="366712"/>
          </a:xfrm>
          <a:prstGeom prst="rect">
            <a:avLst/>
          </a:prstGeom>
          <a:noFill/>
          <a:ln w="9525">
            <a:noFill/>
            <a:miter lim="800000"/>
            <a:headEnd/>
            <a:tailEnd/>
          </a:ln>
          <a:effectLst/>
        </p:spPr>
        <p:txBody>
          <a:bodyPr>
            <a:spAutoFit/>
          </a:bodyPr>
          <a:lstStyle/>
          <a:p>
            <a:pPr>
              <a:spcBef>
                <a:spcPct val="50000"/>
              </a:spcBef>
            </a:pPr>
            <a:r>
              <a:rPr lang="zh-CN" altLang="en-US" b="1" dirty="0">
                <a:solidFill>
                  <a:srgbClr val="000066"/>
                </a:solidFill>
                <a:latin typeface="Times New Roman" panose="02020603050405020304" pitchFamily="18" charset="0"/>
              </a:rPr>
              <a:t>尿囊酸</a:t>
            </a:r>
          </a:p>
        </p:txBody>
      </p:sp>
      <p:sp>
        <p:nvSpPr>
          <p:cNvPr id="94216" name="Text Box 8"/>
          <p:cNvSpPr txBox="1">
            <a:spLocks noChangeArrowheads="1"/>
          </p:cNvSpPr>
          <p:nvPr/>
        </p:nvSpPr>
        <p:spPr bwMode="auto">
          <a:xfrm>
            <a:off x="3779838" y="6396038"/>
            <a:ext cx="1439862" cy="346075"/>
          </a:xfrm>
          <a:prstGeom prst="rect">
            <a:avLst/>
          </a:prstGeom>
          <a:noFill/>
          <a:ln w="9525">
            <a:solidFill>
              <a:srgbClr val="990000"/>
            </a:solidFill>
            <a:miter lim="800000"/>
            <a:headEnd/>
            <a:tailEnd/>
          </a:ln>
          <a:effectLst/>
        </p:spPr>
        <p:txBody>
          <a:bodyPr>
            <a:spAutoFit/>
          </a:bodyPr>
          <a:lstStyle/>
          <a:p>
            <a:pPr>
              <a:spcBef>
                <a:spcPct val="50000"/>
              </a:spcBef>
            </a:pPr>
            <a:r>
              <a:rPr lang="zh-CN" altLang="en-US" sz="1600" b="1" dirty="0">
                <a:solidFill>
                  <a:srgbClr val="000066"/>
                </a:solidFill>
                <a:latin typeface="Times New Roman" panose="02020603050405020304" pitchFamily="18" charset="0"/>
              </a:rPr>
              <a:t>鱼类、两栖类</a:t>
            </a:r>
          </a:p>
        </p:txBody>
      </p:sp>
      <p:sp>
        <p:nvSpPr>
          <p:cNvPr id="94217" name="Line 9"/>
          <p:cNvSpPr>
            <a:spLocks noChangeShapeType="1"/>
          </p:cNvSpPr>
          <p:nvPr/>
        </p:nvSpPr>
        <p:spPr bwMode="auto">
          <a:xfrm flipV="1">
            <a:off x="3706813" y="6165850"/>
            <a:ext cx="865187" cy="71438"/>
          </a:xfrm>
          <a:prstGeom prst="line">
            <a:avLst/>
          </a:prstGeom>
          <a:noFill/>
          <a:ln w="9525">
            <a:solidFill>
              <a:schemeClr val="tx1"/>
            </a:solidFill>
            <a:round/>
            <a:headEnd/>
            <a:tailEnd type="triangle" w="med" len="med"/>
          </a:ln>
          <a:effectLst/>
        </p:spPr>
        <p:txBody>
          <a:bodyPr/>
          <a:lstStyle/>
          <a:p>
            <a:endParaRPr lang="zh-CN" altLang="en-US" dirty="0">
              <a:latin typeface="Times New Roman" panose="02020603050405020304" pitchFamily="18" charset="0"/>
            </a:endParaRPr>
          </a:p>
        </p:txBody>
      </p:sp>
      <p:sp>
        <p:nvSpPr>
          <p:cNvPr id="94218" name="Text Box 10"/>
          <p:cNvSpPr txBox="1">
            <a:spLocks noChangeArrowheads="1"/>
          </p:cNvSpPr>
          <p:nvPr/>
        </p:nvSpPr>
        <p:spPr bwMode="auto">
          <a:xfrm>
            <a:off x="4572000" y="5661025"/>
            <a:ext cx="1008063" cy="641350"/>
          </a:xfrm>
          <a:prstGeom prst="rect">
            <a:avLst/>
          </a:prstGeom>
          <a:noFill/>
          <a:ln w="9525">
            <a:noFill/>
            <a:miter lim="800000"/>
            <a:headEnd/>
            <a:tailEnd/>
          </a:ln>
          <a:effectLst/>
        </p:spPr>
        <p:txBody>
          <a:bodyPr>
            <a:spAutoFit/>
          </a:bodyPr>
          <a:lstStyle/>
          <a:p>
            <a:r>
              <a:rPr lang="zh-CN" altLang="en-US" dirty="0">
                <a:latin typeface="Times New Roman" panose="02020603050405020304" pitchFamily="18" charset="0"/>
              </a:rPr>
              <a:t>尿素</a:t>
            </a:r>
          </a:p>
          <a:p>
            <a:r>
              <a:rPr lang="zh-CN" altLang="en-US" dirty="0">
                <a:latin typeface="Times New Roman" panose="02020603050405020304" pitchFamily="18" charset="0"/>
              </a:rPr>
              <a:t>乙醛酸</a:t>
            </a:r>
          </a:p>
        </p:txBody>
      </p:sp>
      <p:sp>
        <p:nvSpPr>
          <p:cNvPr id="94219" name="Line 11"/>
          <p:cNvSpPr>
            <a:spLocks noChangeShapeType="1"/>
          </p:cNvSpPr>
          <p:nvPr/>
        </p:nvSpPr>
        <p:spPr bwMode="auto">
          <a:xfrm>
            <a:off x="5219700" y="6092825"/>
            <a:ext cx="504825" cy="0"/>
          </a:xfrm>
          <a:prstGeom prst="line">
            <a:avLst/>
          </a:prstGeom>
          <a:noFill/>
          <a:ln w="9525">
            <a:solidFill>
              <a:schemeClr val="tx1"/>
            </a:solidFill>
            <a:round/>
            <a:headEnd/>
            <a:tailEnd type="triangle" w="med" len="med"/>
          </a:ln>
          <a:effectLst/>
        </p:spPr>
        <p:txBody>
          <a:bodyPr/>
          <a:lstStyle/>
          <a:p>
            <a:endParaRPr lang="zh-CN" altLang="en-US" dirty="0">
              <a:latin typeface="Times New Roman" panose="02020603050405020304" pitchFamily="18" charset="0"/>
            </a:endParaRPr>
          </a:p>
        </p:txBody>
      </p:sp>
      <p:sp>
        <p:nvSpPr>
          <p:cNvPr id="94220" name="Text Box 12"/>
          <p:cNvSpPr txBox="1">
            <a:spLocks noChangeArrowheads="1"/>
          </p:cNvSpPr>
          <p:nvPr/>
        </p:nvSpPr>
        <p:spPr bwMode="auto">
          <a:xfrm>
            <a:off x="5722938" y="5805488"/>
            <a:ext cx="719137" cy="641350"/>
          </a:xfrm>
          <a:prstGeom prst="rect">
            <a:avLst/>
          </a:prstGeom>
          <a:noFill/>
          <a:ln w="9525">
            <a:noFill/>
            <a:miter lim="800000"/>
            <a:headEnd/>
            <a:tailEnd/>
          </a:ln>
          <a:effectLst/>
        </p:spPr>
        <p:txBody>
          <a:bodyPr>
            <a:spAutoFit/>
          </a:bodyPr>
          <a:lstStyle/>
          <a:p>
            <a:r>
              <a:rPr lang="en-US" altLang="zh-CN" dirty="0">
                <a:latin typeface="Times New Roman" panose="02020603050405020304" pitchFamily="18" charset="0"/>
              </a:rPr>
              <a:t>CO</a:t>
            </a:r>
            <a:r>
              <a:rPr lang="en-US" altLang="zh-CN" baseline="-25000" dirty="0">
                <a:latin typeface="Times New Roman" panose="02020603050405020304" pitchFamily="18" charset="0"/>
              </a:rPr>
              <a:t>2</a:t>
            </a:r>
          </a:p>
          <a:p>
            <a:r>
              <a:rPr lang="en-US" altLang="zh-CN" dirty="0">
                <a:latin typeface="Times New Roman" panose="02020603050405020304" pitchFamily="18" charset="0"/>
              </a:rPr>
              <a:t>NH</a:t>
            </a:r>
            <a:r>
              <a:rPr lang="en-US" altLang="zh-CN" baseline="-25000" dirty="0">
                <a:latin typeface="Times New Roman" panose="02020603050405020304" pitchFamily="18" charset="0"/>
              </a:rPr>
              <a:t>3</a:t>
            </a:r>
          </a:p>
        </p:txBody>
      </p:sp>
      <p:sp>
        <p:nvSpPr>
          <p:cNvPr id="94221" name="Text Box 13"/>
          <p:cNvSpPr txBox="1">
            <a:spLocks noChangeArrowheads="1"/>
          </p:cNvSpPr>
          <p:nvPr/>
        </p:nvSpPr>
        <p:spPr bwMode="auto">
          <a:xfrm>
            <a:off x="5724525" y="6453188"/>
            <a:ext cx="1873250" cy="346075"/>
          </a:xfrm>
          <a:prstGeom prst="rect">
            <a:avLst/>
          </a:prstGeom>
          <a:noFill/>
          <a:ln w="9525">
            <a:solidFill>
              <a:srgbClr val="990000"/>
            </a:solidFill>
            <a:miter lim="800000"/>
            <a:headEnd/>
            <a:tailEnd/>
          </a:ln>
          <a:effectLst/>
        </p:spPr>
        <p:txBody>
          <a:bodyPr>
            <a:spAutoFit/>
          </a:bodyPr>
          <a:lstStyle/>
          <a:p>
            <a:pPr>
              <a:spcBef>
                <a:spcPct val="50000"/>
              </a:spcBef>
            </a:pPr>
            <a:r>
              <a:rPr lang="zh-CN" altLang="en-US" sz="1600" b="1" dirty="0">
                <a:solidFill>
                  <a:srgbClr val="000066"/>
                </a:solidFill>
                <a:latin typeface="Times New Roman" panose="02020603050405020304" pitchFamily="18" charset="0"/>
              </a:rPr>
              <a:t>低等无脊椎动物</a:t>
            </a: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1378" name="Picture 2" descr="fi22p7catabolism of purine nucleotides"/>
          <p:cNvPicPr>
            <a:picLocks noChangeAspect="1" noChangeArrowheads="1"/>
          </p:cNvPicPr>
          <p:nvPr/>
        </p:nvPicPr>
        <p:blipFill>
          <a:blip r:embed="rId3" cstate="print"/>
          <a:srcRect/>
          <a:stretch>
            <a:fillRect/>
          </a:stretch>
        </p:blipFill>
        <p:spPr bwMode="auto">
          <a:xfrm>
            <a:off x="0" y="0"/>
            <a:ext cx="9144000" cy="6858000"/>
          </a:xfrm>
          <a:prstGeom prst="rect">
            <a:avLst/>
          </a:prstGeom>
          <a:noFill/>
        </p:spPr>
      </p:pic>
      <p:pic>
        <p:nvPicPr>
          <p:cNvPr id="101379" name="Picture 3" descr="fi22p7"/>
          <p:cNvPicPr>
            <a:picLocks noChangeAspect="1" noChangeArrowheads="1"/>
          </p:cNvPicPr>
          <p:nvPr/>
        </p:nvPicPr>
        <p:blipFill>
          <a:blip r:embed="rId3" cstate="print"/>
          <a:srcRect/>
          <a:stretch>
            <a:fillRect/>
          </a:stretch>
        </p:blipFill>
        <p:spPr bwMode="auto">
          <a:xfrm>
            <a:off x="0" y="0"/>
            <a:ext cx="9144000" cy="6858000"/>
          </a:xfrm>
          <a:prstGeom prst="rect">
            <a:avLst/>
          </a:prstGeom>
          <a:noFill/>
        </p:spPr>
      </p:pic>
      <p:sp>
        <p:nvSpPr>
          <p:cNvPr id="101380" name="Oval 4"/>
          <p:cNvSpPr>
            <a:spLocks noChangeArrowheads="1"/>
          </p:cNvSpPr>
          <p:nvPr/>
        </p:nvSpPr>
        <p:spPr bwMode="auto">
          <a:xfrm>
            <a:off x="1331913" y="3716338"/>
            <a:ext cx="1584325" cy="649287"/>
          </a:xfrm>
          <a:prstGeom prst="ellipse">
            <a:avLst/>
          </a:prstGeom>
          <a:solidFill>
            <a:schemeClr val="accent1"/>
          </a:solidFill>
          <a:ln w="9525">
            <a:solidFill>
              <a:schemeClr val="tx1"/>
            </a:solidFill>
            <a:miter lim="800000"/>
            <a:headEnd/>
            <a:tailEnd/>
          </a:ln>
          <a:effectLst/>
        </p:spPr>
        <p:txBody>
          <a:bodyPr wrap="none" anchor="ctr"/>
          <a:lstStyle/>
          <a:p>
            <a:endParaRPr lang="zh-CN" altLang="en-US" dirty="0">
              <a:latin typeface="Times New Roman" panose="02020603050405020304" pitchFamily="18" charset="0"/>
            </a:endParaRPr>
          </a:p>
        </p:txBody>
      </p:sp>
      <p:sp>
        <p:nvSpPr>
          <p:cNvPr id="101381" name="Rectangle 5"/>
          <p:cNvSpPr>
            <a:spLocks noChangeArrowheads="1"/>
          </p:cNvSpPr>
          <p:nvPr/>
        </p:nvSpPr>
        <p:spPr bwMode="auto">
          <a:xfrm>
            <a:off x="1403350" y="3789363"/>
            <a:ext cx="1535113" cy="457200"/>
          </a:xfrm>
          <a:prstGeom prst="rect">
            <a:avLst/>
          </a:prstGeom>
          <a:noFill/>
          <a:ln w="9525">
            <a:noFill/>
            <a:miter lim="800000"/>
            <a:headEnd/>
            <a:tailEnd/>
          </a:ln>
          <a:effectLst/>
        </p:spPr>
        <p:txBody>
          <a:bodyPr wrap="none">
            <a:spAutoFit/>
          </a:bodyPr>
          <a:lstStyle/>
          <a:p>
            <a:r>
              <a:rPr kumimoji="1" lang="en-US" altLang="zh-CN" sz="1200" b="1">
                <a:solidFill>
                  <a:srgbClr val="0000FF"/>
                </a:solidFill>
                <a:latin typeface="Tahoma" pitchFamily="34" charset="0"/>
              </a:rPr>
              <a:t>purine nucleoside</a:t>
            </a:r>
          </a:p>
          <a:p>
            <a:r>
              <a:rPr kumimoji="1" lang="en-US" altLang="zh-CN" sz="1200" b="1">
                <a:solidFill>
                  <a:srgbClr val="0000FF"/>
                </a:solidFill>
                <a:latin typeface="Tahoma" pitchFamily="34" charset="0"/>
              </a:rPr>
              <a:t> phosphorylase</a:t>
            </a:r>
          </a:p>
        </p:txBody>
      </p:sp>
      <p:sp>
        <p:nvSpPr>
          <p:cNvPr id="101382" name="Oval 6"/>
          <p:cNvSpPr>
            <a:spLocks noChangeArrowheads="1"/>
          </p:cNvSpPr>
          <p:nvPr/>
        </p:nvSpPr>
        <p:spPr bwMode="auto">
          <a:xfrm>
            <a:off x="4067175" y="2133600"/>
            <a:ext cx="1512888" cy="719138"/>
          </a:xfrm>
          <a:prstGeom prst="ellipse">
            <a:avLst/>
          </a:prstGeom>
          <a:solidFill>
            <a:schemeClr val="accent1"/>
          </a:solidFill>
          <a:ln w="9525">
            <a:solidFill>
              <a:schemeClr val="tx1"/>
            </a:solidFill>
            <a:miter lim="800000"/>
            <a:headEnd/>
            <a:tailEnd/>
          </a:ln>
          <a:effectLst/>
        </p:spPr>
        <p:txBody>
          <a:bodyPr wrap="none" anchor="ctr"/>
          <a:lstStyle/>
          <a:p>
            <a:endParaRPr lang="zh-CN" altLang="en-US" dirty="0">
              <a:latin typeface="Times New Roman" panose="02020603050405020304" pitchFamily="18" charset="0"/>
            </a:endParaRPr>
          </a:p>
        </p:txBody>
      </p:sp>
      <p:sp>
        <p:nvSpPr>
          <p:cNvPr id="101383" name="Rectangle 7"/>
          <p:cNvSpPr>
            <a:spLocks noChangeArrowheads="1"/>
          </p:cNvSpPr>
          <p:nvPr/>
        </p:nvSpPr>
        <p:spPr bwMode="auto">
          <a:xfrm>
            <a:off x="4067175" y="2205038"/>
            <a:ext cx="4572000" cy="457200"/>
          </a:xfrm>
          <a:prstGeom prst="rect">
            <a:avLst/>
          </a:prstGeom>
          <a:noFill/>
          <a:ln w="9525">
            <a:noFill/>
            <a:miter lim="800000"/>
            <a:headEnd/>
            <a:tailEnd/>
          </a:ln>
          <a:effectLst/>
        </p:spPr>
        <p:txBody>
          <a:bodyPr>
            <a:spAutoFit/>
          </a:bodyPr>
          <a:lstStyle/>
          <a:p>
            <a:r>
              <a:rPr kumimoji="1" lang="en-US" altLang="zh-CN" sz="1200" b="1">
                <a:solidFill>
                  <a:srgbClr val="0000FF"/>
                </a:solidFill>
                <a:latin typeface="Tahoma" pitchFamily="34" charset="0"/>
              </a:rPr>
              <a:t>purine nucleoside</a:t>
            </a:r>
          </a:p>
          <a:p>
            <a:r>
              <a:rPr kumimoji="1" lang="en-US" altLang="zh-CN" sz="1200" b="1">
                <a:solidFill>
                  <a:srgbClr val="0000FF"/>
                </a:solidFill>
                <a:latin typeface="Tahoma" pitchFamily="34" charset="0"/>
              </a:rPr>
              <a:t> phosphorylase</a:t>
            </a:r>
          </a:p>
        </p:txBody>
      </p:sp>
      <p:sp>
        <p:nvSpPr>
          <p:cNvPr id="101384" name="Oval 8"/>
          <p:cNvSpPr>
            <a:spLocks noChangeArrowheads="1"/>
          </p:cNvSpPr>
          <p:nvPr/>
        </p:nvSpPr>
        <p:spPr bwMode="auto">
          <a:xfrm>
            <a:off x="3635375" y="5661025"/>
            <a:ext cx="1081088" cy="647700"/>
          </a:xfrm>
          <a:prstGeom prst="ellipse">
            <a:avLst/>
          </a:prstGeom>
          <a:solidFill>
            <a:schemeClr val="accent1"/>
          </a:solidFill>
          <a:ln w="9525">
            <a:solidFill>
              <a:schemeClr val="tx1"/>
            </a:solidFill>
            <a:miter lim="800000"/>
            <a:headEnd/>
            <a:tailEnd/>
          </a:ln>
          <a:effectLst/>
        </p:spPr>
        <p:txBody>
          <a:bodyPr wrap="none" anchor="ctr"/>
          <a:lstStyle/>
          <a:p>
            <a:endParaRPr lang="zh-CN" altLang="en-US" dirty="0">
              <a:latin typeface="Times New Roman" panose="02020603050405020304" pitchFamily="18" charset="0"/>
            </a:endParaRPr>
          </a:p>
        </p:txBody>
      </p:sp>
      <p:sp>
        <p:nvSpPr>
          <p:cNvPr id="101385" name="Oval 9"/>
          <p:cNvSpPr>
            <a:spLocks noChangeArrowheads="1"/>
          </p:cNvSpPr>
          <p:nvPr/>
        </p:nvSpPr>
        <p:spPr bwMode="auto">
          <a:xfrm>
            <a:off x="6300788" y="5661025"/>
            <a:ext cx="1081087" cy="647700"/>
          </a:xfrm>
          <a:prstGeom prst="ellipse">
            <a:avLst/>
          </a:prstGeom>
          <a:solidFill>
            <a:schemeClr val="accent1"/>
          </a:solidFill>
          <a:ln w="9525">
            <a:solidFill>
              <a:schemeClr val="tx1"/>
            </a:solidFill>
            <a:miter lim="800000"/>
            <a:headEnd/>
            <a:tailEnd/>
          </a:ln>
          <a:effectLst/>
        </p:spPr>
        <p:txBody>
          <a:bodyPr wrap="none" anchor="ctr"/>
          <a:lstStyle/>
          <a:p>
            <a:endParaRPr lang="zh-CN" altLang="en-US" dirty="0">
              <a:latin typeface="Times New Roman" panose="02020603050405020304" pitchFamily="18" charset="0"/>
            </a:endParaRPr>
          </a:p>
        </p:txBody>
      </p:sp>
      <p:sp>
        <p:nvSpPr>
          <p:cNvPr id="101386" name="Rectangle 10"/>
          <p:cNvSpPr>
            <a:spLocks noChangeArrowheads="1"/>
          </p:cNvSpPr>
          <p:nvPr/>
        </p:nvSpPr>
        <p:spPr bwMode="auto">
          <a:xfrm>
            <a:off x="3635375" y="5661025"/>
            <a:ext cx="1163638" cy="581025"/>
          </a:xfrm>
          <a:prstGeom prst="rect">
            <a:avLst/>
          </a:prstGeom>
          <a:noFill/>
          <a:ln w="9525">
            <a:noFill/>
            <a:miter lim="800000"/>
            <a:headEnd/>
            <a:tailEnd/>
          </a:ln>
          <a:effectLst/>
        </p:spPr>
        <p:txBody>
          <a:bodyPr wrap="none">
            <a:spAutoFit/>
          </a:bodyPr>
          <a:lstStyle/>
          <a:p>
            <a:pPr algn="ctr"/>
            <a:r>
              <a:rPr kumimoji="1" lang="en-US" altLang="zh-CN" sz="1600" b="1">
                <a:solidFill>
                  <a:srgbClr val="FF0000"/>
                </a:solidFill>
                <a:latin typeface="Tahoma" pitchFamily="34" charset="0"/>
              </a:rPr>
              <a:t>Xanthine </a:t>
            </a:r>
          </a:p>
          <a:p>
            <a:pPr algn="ctr"/>
            <a:r>
              <a:rPr kumimoji="1" lang="en-US" altLang="zh-CN" sz="1600" b="1">
                <a:solidFill>
                  <a:srgbClr val="FF0000"/>
                </a:solidFill>
                <a:latin typeface="Tahoma" pitchFamily="34" charset="0"/>
              </a:rPr>
              <a:t>oxidase</a:t>
            </a:r>
          </a:p>
        </p:txBody>
      </p:sp>
      <p:sp>
        <p:nvSpPr>
          <p:cNvPr id="101387" name="Rectangle 11"/>
          <p:cNvSpPr>
            <a:spLocks noChangeArrowheads="1"/>
          </p:cNvSpPr>
          <p:nvPr/>
        </p:nvSpPr>
        <p:spPr bwMode="auto">
          <a:xfrm>
            <a:off x="6300788" y="5661025"/>
            <a:ext cx="1103312" cy="581025"/>
          </a:xfrm>
          <a:prstGeom prst="rect">
            <a:avLst/>
          </a:prstGeom>
          <a:noFill/>
          <a:ln w="9525">
            <a:noFill/>
            <a:miter lim="800000"/>
            <a:headEnd/>
            <a:tailEnd/>
          </a:ln>
          <a:effectLst/>
        </p:spPr>
        <p:txBody>
          <a:bodyPr wrap="none">
            <a:spAutoFit/>
          </a:bodyPr>
          <a:lstStyle/>
          <a:p>
            <a:pPr algn="ctr"/>
            <a:r>
              <a:rPr kumimoji="1" lang="en-US" altLang="zh-CN" sz="1600" b="1">
                <a:solidFill>
                  <a:srgbClr val="FF0000"/>
                </a:solidFill>
                <a:latin typeface="Tahoma" pitchFamily="34" charset="0"/>
              </a:rPr>
              <a:t>Xanthine</a:t>
            </a:r>
          </a:p>
          <a:p>
            <a:pPr algn="ctr"/>
            <a:r>
              <a:rPr kumimoji="1" lang="en-US" altLang="zh-CN" sz="1600" b="1">
                <a:solidFill>
                  <a:srgbClr val="FF0000"/>
                </a:solidFill>
                <a:latin typeface="Tahoma" pitchFamily="34" charset="0"/>
              </a:rPr>
              <a:t>oxidase</a:t>
            </a:r>
          </a:p>
        </p:txBody>
      </p:sp>
      <p:sp>
        <p:nvSpPr>
          <p:cNvPr id="101388" name="Oval 12"/>
          <p:cNvSpPr>
            <a:spLocks noChangeArrowheads="1"/>
          </p:cNvSpPr>
          <p:nvPr/>
        </p:nvSpPr>
        <p:spPr bwMode="auto">
          <a:xfrm>
            <a:off x="1476375" y="765175"/>
            <a:ext cx="1439863" cy="431800"/>
          </a:xfrm>
          <a:prstGeom prst="ellipse">
            <a:avLst/>
          </a:prstGeom>
          <a:solidFill>
            <a:schemeClr val="accent1"/>
          </a:solidFill>
          <a:ln w="9525">
            <a:solidFill>
              <a:schemeClr val="tx1"/>
            </a:solidFill>
            <a:miter lim="800000"/>
            <a:headEnd/>
            <a:tailEnd/>
          </a:ln>
          <a:effectLst/>
        </p:spPr>
        <p:txBody>
          <a:bodyPr wrap="none" anchor="ctr"/>
          <a:lstStyle/>
          <a:p>
            <a:endParaRPr lang="zh-CN" altLang="en-US" dirty="0">
              <a:latin typeface="Times New Roman" panose="02020603050405020304" pitchFamily="18" charset="0"/>
            </a:endParaRPr>
          </a:p>
        </p:txBody>
      </p:sp>
      <p:sp>
        <p:nvSpPr>
          <p:cNvPr id="101389" name="Oval 13"/>
          <p:cNvSpPr>
            <a:spLocks noChangeArrowheads="1"/>
          </p:cNvSpPr>
          <p:nvPr/>
        </p:nvSpPr>
        <p:spPr bwMode="auto">
          <a:xfrm>
            <a:off x="4067175" y="765175"/>
            <a:ext cx="1441450" cy="431800"/>
          </a:xfrm>
          <a:prstGeom prst="ellipse">
            <a:avLst/>
          </a:prstGeom>
          <a:solidFill>
            <a:schemeClr val="accent1"/>
          </a:solidFill>
          <a:ln w="9525">
            <a:solidFill>
              <a:schemeClr val="tx1"/>
            </a:solidFill>
            <a:miter lim="800000"/>
            <a:headEnd/>
            <a:tailEnd/>
          </a:ln>
          <a:effectLst/>
        </p:spPr>
        <p:txBody>
          <a:bodyPr wrap="none" anchor="ctr"/>
          <a:lstStyle/>
          <a:p>
            <a:endParaRPr lang="zh-CN" altLang="en-US" dirty="0">
              <a:latin typeface="Times New Roman" panose="02020603050405020304" pitchFamily="18" charset="0"/>
            </a:endParaRPr>
          </a:p>
        </p:txBody>
      </p:sp>
      <p:sp>
        <p:nvSpPr>
          <p:cNvPr id="101390" name="Rectangle 14"/>
          <p:cNvSpPr>
            <a:spLocks noChangeArrowheads="1"/>
          </p:cNvSpPr>
          <p:nvPr/>
        </p:nvSpPr>
        <p:spPr bwMode="auto">
          <a:xfrm>
            <a:off x="1619250" y="811213"/>
            <a:ext cx="1320800" cy="304800"/>
          </a:xfrm>
          <a:prstGeom prst="rect">
            <a:avLst/>
          </a:prstGeom>
          <a:noFill/>
          <a:ln w="9525">
            <a:noFill/>
            <a:miter lim="800000"/>
            <a:headEnd/>
            <a:tailEnd/>
          </a:ln>
          <a:effectLst/>
        </p:spPr>
        <p:txBody>
          <a:bodyPr wrap="none">
            <a:spAutoFit/>
          </a:bodyPr>
          <a:lstStyle/>
          <a:p>
            <a:r>
              <a:rPr kumimoji="1" lang="en-US" altLang="zh-CN" sz="1400" b="1">
                <a:solidFill>
                  <a:srgbClr val="0000FF"/>
                </a:solidFill>
                <a:latin typeface="Tahoma" pitchFamily="34" charset="0"/>
              </a:rPr>
              <a:t>nucleotidase</a:t>
            </a:r>
          </a:p>
        </p:txBody>
      </p:sp>
      <p:sp>
        <p:nvSpPr>
          <p:cNvPr id="101391" name="Rectangle 15"/>
          <p:cNvSpPr>
            <a:spLocks noChangeArrowheads="1"/>
          </p:cNvSpPr>
          <p:nvPr/>
        </p:nvSpPr>
        <p:spPr bwMode="auto">
          <a:xfrm>
            <a:off x="4140200" y="836613"/>
            <a:ext cx="1320800" cy="304800"/>
          </a:xfrm>
          <a:prstGeom prst="rect">
            <a:avLst/>
          </a:prstGeom>
          <a:noFill/>
          <a:ln w="9525">
            <a:noFill/>
            <a:miter lim="800000"/>
            <a:headEnd/>
            <a:tailEnd/>
          </a:ln>
          <a:effectLst/>
        </p:spPr>
        <p:txBody>
          <a:bodyPr wrap="none">
            <a:spAutoFit/>
          </a:bodyPr>
          <a:lstStyle/>
          <a:p>
            <a:r>
              <a:rPr kumimoji="1" lang="en-US" altLang="zh-CN" sz="1400" b="1">
                <a:solidFill>
                  <a:srgbClr val="0000FF"/>
                </a:solidFill>
                <a:latin typeface="Tahoma" pitchFamily="34" charset="0"/>
              </a:rPr>
              <a:t>nucleotidase</a:t>
            </a:r>
          </a:p>
        </p:txBody>
      </p:sp>
      <p:sp>
        <p:nvSpPr>
          <p:cNvPr id="101392" name="Oval 16"/>
          <p:cNvSpPr>
            <a:spLocks noChangeArrowheads="1"/>
          </p:cNvSpPr>
          <p:nvPr/>
        </p:nvSpPr>
        <p:spPr bwMode="auto">
          <a:xfrm>
            <a:off x="1979613" y="2060575"/>
            <a:ext cx="863600" cy="863600"/>
          </a:xfrm>
          <a:prstGeom prst="ellipse">
            <a:avLst/>
          </a:prstGeom>
          <a:solidFill>
            <a:schemeClr val="accent1"/>
          </a:solidFill>
          <a:ln w="9525">
            <a:solidFill>
              <a:schemeClr val="tx1"/>
            </a:solidFill>
            <a:miter lim="800000"/>
            <a:headEnd/>
            <a:tailEnd/>
          </a:ln>
          <a:effectLst/>
        </p:spPr>
        <p:txBody>
          <a:bodyPr wrap="none" anchor="ctr"/>
          <a:lstStyle/>
          <a:p>
            <a:endParaRPr lang="zh-CN" altLang="en-US" dirty="0">
              <a:latin typeface="Times New Roman" panose="02020603050405020304" pitchFamily="18" charset="0"/>
            </a:endParaRPr>
          </a:p>
        </p:txBody>
      </p:sp>
      <p:sp>
        <p:nvSpPr>
          <p:cNvPr id="101393" name="Oval 17"/>
          <p:cNvSpPr>
            <a:spLocks noChangeArrowheads="1"/>
          </p:cNvSpPr>
          <p:nvPr/>
        </p:nvSpPr>
        <p:spPr bwMode="auto">
          <a:xfrm>
            <a:off x="4643438" y="3573463"/>
            <a:ext cx="863600" cy="863600"/>
          </a:xfrm>
          <a:prstGeom prst="ellipse">
            <a:avLst/>
          </a:prstGeom>
          <a:solidFill>
            <a:schemeClr val="accent1"/>
          </a:solidFill>
          <a:ln w="9525">
            <a:solidFill>
              <a:schemeClr val="tx1"/>
            </a:solidFill>
            <a:miter lim="800000"/>
            <a:headEnd/>
            <a:tailEnd/>
          </a:ln>
          <a:effectLst/>
        </p:spPr>
        <p:txBody>
          <a:bodyPr wrap="none" anchor="ctr"/>
          <a:lstStyle/>
          <a:p>
            <a:endParaRPr lang="zh-CN" altLang="en-US" dirty="0">
              <a:latin typeface="Times New Roman" panose="02020603050405020304" pitchFamily="18" charset="0"/>
            </a:endParaRPr>
          </a:p>
        </p:txBody>
      </p:sp>
      <p:sp>
        <p:nvSpPr>
          <p:cNvPr id="101394" name="Rectangle 18"/>
          <p:cNvSpPr>
            <a:spLocks noChangeArrowheads="1"/>
          </p:cNvSpPr>
          <p:nvPr/>
        </p:nvSpPr>
        <p:spPr bwMode="auto">
          <a:xfrm>
            <a:off x="1908175" y="2205038"/>
            <a:ext cx="1028700" cy="639762"/>
          </a:xfrm>
          <a:prstGeom prst="rect">
            <a:avLst/>
          </a:prstGeom>
          <a:noFill/>
          <a:ln w="9525">
            <a:noFill/>
            <a:miter lim="800000"/>
            <a:headEnd/>
            <a:tailEnd/>
          </a:ln>
          <a:effectLst/>
        </p:spPr>
        <p:txBody>
          <a:bodyPr wrap="none">
            <a:spAutoFit/>
          </a:bodyPr>
          <a:lstStyle/>
          <a:p>
            <a:pPr algn="ctr"/>
            <a:r>
              <a:rPr kumimoji="1" lang="en-US" altLang="zh-CN" sz="1200" b="1">
                <a:solidFill>
                  <a:srgbClr val="0000FF"/>
                </a:solidFill>
                <a:latin typeface="Tahoma" pitchFamily="34" charset="0"/>
              </a:rPr>
              <a:t>Adenosine</a:t>
            </a:r>
          </a:p>
          <a:p>
            <a:pPr algn="ctr"/>
            <a:r>
              <a:rPr kumimoji="1" lang="en-US" altLang="zh-CN" sz="1200" b="1">
                <a:solidFill>
                  <a:srgbClr val="0000FF"/>
                </a:solidFill>
                <a:latin typeface="Tahoma" pitchFamily="34" charset="0"/>
              </a:rPr>
              <a:t>Deaminase</a:t>
            </a:r>
          </a:p>
          <a:p>
            <a:pPr algn="ctr"/>
            <a:r>
              <a:rPr kumimoji="1" lang="en-US" altLang="zh-CN" sz="1200" b="1">
                <a:solidFill>
                  <a:srgbClr val="0000FF"/>
                </a:solidFill>
                <a:latin typeface="Tahoma" pitchFamily="34" charset="0"/>
              </a:rPr>
              <a:t>ADA)</a:t>
            </a:r>
          </a:p>
        </p:txBody>
      </p:sp>
      <p:sp>
        <p:nvSpPr>
          <p:cNvPr id="101395" name="Rectangle 19"/>
          <p:cNvSpPr>
            <a:spLocks noChangeArrowheads="1"/>
          </p:cNvSpPr>
          <p:nvPr/>
        </p:nvSpPr>
        <p:spPr bwMode="auto">
          <a:xfrm>
            <a:off x="4572000" y="3716338"/>
            <a:ext cx="1008063" cy="457200"/>
          </a:xfrm>
          <a:prstGeom prst="rect">
            <a:avLst/>
          </a:prstGeom>
          <a:noFill/>
          <a:ln w="9525">
            <a:noFill/>
            <a:miter lim="800000"/>
            <a:headEnd/>
            <a:tailEnd/>
          </a:ln>
          <a:effectLst/>
        </p:spPr>
        <p:txBody>
          <a:bodyPr wrap="none">
            <a:spAutoFit/>
          </a:bodyPr>
          <a:lstStyle/>
          <a:p>
            <a:pPr algn="ctr"/>
            <a:r>
              <a:rPr kumimoji="1" lang="en-US" altLang="zh-CN" sz="1200" b="1">
                <a:solidFill>
                  <a:srgbClr val="0000FF"/>
                </a:solidFill>
                <a:latin typeface="Tahoma" pitchFamily="34" charset="0"/>
              </a:rPr>
              <a:t>guanine</a:t>
            </a:r>
          </a:p>
          <a:p>
            <a:pPr algn="ctr"/>
            <a:r>
              <a:rPr kumimoji="1" lang="en-US" altLang="zh-CN" sz="1200" b="1">
                <a:solidFill>
                  <a:srgbClr val="0000FF"/>
                </a:solidFill>
                <a:latin typeface="Tahoma" pitchFamily="34" charset="0"/>
              </a:rPr>
              <a:t>deaminase</a:t>
            </a:r>
          </a:p>
        </p:txBody>
      </p:sp>
      <p:sp>
        <p:nvSpPr>
          <p:cNvPr id="101396" name="Rectangle 20"/>
          <p:cNvSpPr>
            <a:spLocks noChangeArrowheads="1"/>
          </p:cNvSpPr>
          <p:nvPr/>
        </p:nvSpPr>
        <p:spPr bwMode="auto">
          <a:xfrm>
            <a:off x="971550" y="0"/>
            <a:ext cx="1601788" cy="304800"/>
          </a:xfrm>
          <a:prstGeom prst="rect">
            <a:avLst/>
          </a:prstGeom>
          <a:noFill/>
          <a:ln w="9525">
            <a:noFill/>
            <a:miter lim="800000"/>
            <a:headEnd/>
            <a:tailEnd/>
          </a:ln>
          <a:effectLst/>
        </p:spPr>
        <p:txBody>
          <a:bodyPr wrap="none">
            <a:spAutoFit/>
          </a:bodyPr>
          <a:lstStyle/>
          <a:p>
            <a:r>
              <a:rPr kumimoji="1" lang="en-US" altLang="zh-CN" sz="1400" b="1">
                <a:solidFill>
                  <a:srgbClr val="0000FF"/>
                </a:solidFill>
                <a:latin typeface="Tahoma" pitchFamily="34" charset="0"/>
              </a:rPr>
              <a:t>AMP deaminase</a:t>
            </a:r>
          </a:p>
        </p:txBody>
      </p:sp>
      <p:sp>
        <p:nvSpPr>
          <p:cNvPr id="101397" name="Rectangle 21"/>
          <p:cNvSpPr>
            <a:spLocks noChangeArrowheads="1"/>
          </p:cNvSpPr>
          <p:nvPr/>
        </p:nvSpPr>
        <p:spPr bwMode="auto">
          <a:xfrm>
            <a:off x="6810375" y="2924175"/>
            <a:ext cx="2333625" cy="1739900"/>
          </a:xfrm>
          <a:prstGeom prst="rect">
            <a:avLst/>
          </a:prstGeom>
          <a:noFill/>
          <a:ln w="9525">
            <a:noFill/>
            <a:miter lim="800000"/>
            <a:headEnd/>
            <a:tailEnd/>
          </a:ln>
          <a:effectLst/>
        </p:spPr>
        <p:txBody>
          <a:bodyPr wrap="none">
            <a:spAutoFit/>
          </a:bodyPr>
          <a:lstStyle/>
          <a:p>
            <a:r>
              <a:rPr kumimoji="1" lang="en-US" altLang="zh-CN" b="1">
                <a:solidFill>
                  <a:srgbClr val="0000FF"/>
                </a:solidFill>
                <a:latin typeface="Tahoma" pitchFamily="34" charset="0"/>
              </a:rPr>
              <a:t>Overproduction of</a:t>
            </a:r>
          </a:p>
          <a:p>
            <a:r>
              <a:rPr kumimoji="1" lang="en-US" altLang="zh-CN" b="1">
                <a:solidFill>
                  <a:srgbClr val="0000FF"/>
                </a:solidFill>
                <a:latin typeface="Tahoma" pitchFamily="34" charset="0"/>
              </a:rPr>
              <a:t> uric acid, which </a:t>
            </a:r>
          </a:p>
          <a:p>
            <a:r>
              <a:rPr kumimoji="1" lang="en-US" altLang="zh-CN" b="1">
                <a:solidFill>
                  <a:srgbClr val="0000FF"/>
                </a:solidFill>
                <a:latin typeface="Tahoma" pitchFamily="34" charset="0"/>
              </a:rPr>
              <a:t>will accumulate </a:t>
            </a:r>
          </a:p>
          <a:p>
            <a:r>
              <a:rPr kumimoji="1" lang="en-US" altLang="zh-CN" b="1">
                <a:solidFill>
                  <a:srgbClr val="0000FF"/>
                </a:solidFill>
                <a:latin typeface="Tahoma" pitchFamily="34" charset="0"/>
              </a:rPr>
              <a:t>in the joints, was</a:t>
            </a:r>
          </a:p>
          <a:p>
            <a:r>
              <a:rPr kumimoji="1" lang="en-US" altLang="zh-CN" b="1">
                <a:solidFill>
                  <a:srgbClr val="0000FF"/>
                </a:solidFill>
                <a:latin typeface="Tahoma" pitchFamily="34" charset="0"/>
              </a:rPr>
              <a:t> revealed to cause </a:t>
            </a:r>
          </a:p>
          <a:p>
            <a:r>
              <a:rPr kumimoji="1" lang="en-US" altLang="zh-CN" b="1">
                <a:solidFill>
                  <a:srgbClr val="0000FF"/>
                </a:solidFill>
                <a:latin typeface="Tahoma" pitchFamily="34" charset="0"/>
              </a:rPr>
              <a:t>gout (</a:t>
            </a:r>
            <a:r>
              <a:rPr kumimoji="1" lang="zh-CN" altLang="en-US" b="1">
                <a:solidFill>
                  <a:srgbClr val="0000FF"/>
                </a:solidFill>
                <a:latin typeface="Tahoma" pitchFamily="34" charset="0"/>
              </a:rPr>
              <a:t>痛风</a:t>
            </a:r>
            <a:r>
              <a:rPr kumimoji="1" lang="en-US" altLang="zh-CN" b="1">
                <a:solidFill>
                  <a:srgbClr val="0000FF"/>
                </a:solidFill>
                <a:latin typeface="Tahoma" pitchFamily="34" charset="0"/>
              </a:rPr>
              <a:t>).</a:t>
            </a:r>
          </a:p>
        </p:txBody>
      </p:sp>
      <p:sp>
        <p:nvSpPr>
          <p:cNvPr id="101398" name="Rectangle 22"/>
          <p:cNvSpPr>
            <a:spLocks noChangeArrowheads="1"/>
          </p:cNvSpPr>
          <p:nvPr/>
        </p:nvSpPr>
        <p:spPr bwMode="auto">
          <a:xfrm>
            <a:off x="6588125" y="0"/>
            <a:ext cx="2555875" cy="981075"/>
          </a:xfrm>
          <a:prstGeom prst="rect">
            <a:avLst/>
          </a:prstGeom>
          <a:solidFill>
            <a:schemeClr val="accent1"/>
          </a:solidFill>
          <a:ln w="9525">
            <a:solidFill>
              <a:schemeClr val="tx1"/>
            </a:solidFill>
            <a:miter lim="800000"/>
            <a:headEnd/>
            <a:tailEnd/>
          </a:ln>
          <a:effectLst/>
        </p:spPr>
        <p:txBody>
          <a:bodyPr wrap="none" anchor="ctr"/>
          <a:lstStyle/>
          <a:p>
            <a:endParaRPr lang="zh-CN" altLang="en-US" dirty="0">
              <a:latin typeface="Times New Roman" panose="02020603050405020304" pitchFamily="18" charset="0"/>
            </a:endParaRPr>
          </a:p>
        </p:txBody>
      </p:sp>
      <p:sp>
        <p:nvSpPr>
          <p:cNvPr id="101399" name="Rectangle 23"/>
          <p:cNvSpPr>
            <a:spLocks noChangeArrowheads="1"/>
          </p:cNvSpPr>
          <p:nvPr/>
        </p:nvSpPr>
        <p:spPr bwMode="auto">
          <a:xfrm>
            <a:off x="6478588" y="0"/>
            <a:ext cx="2665412" cy="915988"/>
          </a:xfrm>
          <a:prstGeom prst="rect">
            <a:avLst/>
          </a:prstGeom>
          <a:noFill/>
          <a:ln w="9525">
            <a:noFill/>
            <a:miter lim="800000"/>
            <a:headEnd/>
            <a:tailEnd/>
          </a:ln>
          <a:effectLst/>
        </p:spPr>
        <p:txBody>
          <a:bodyPr>
            <a:spAutoFit/>
          </a:bodyPr>
          <a:lstStyle/>
          <a:p>
            <a:pPr algn="ctr"/>
            <a:r>
              <a:rPr kumimoji="1" lang="en-US" altLang="zh-CN" b="1">
                <a:solidFill>
                  <a:srgbClr val="FF0000"/>
                </a:solidFill>
                <a:latin typeface="Tahoma" pitchFamily="34" charset="0"/>
              </a:rPr>
              <a:t>Oxidation of GMP</a:t>
            </a:r>
          </a:p>
          <a:p>
            <a:pPr algn="ctr"/>
            <a:r>
              <a:rPr kumimoji="1" lang="en-US" altLang="zh-CN" b="1">
                <a:solidFill>
                  <a:srgbClr val="FF0000"/>
                </a:solidFill>
                <a:latin typeface="Tahoma" pitchFamily="34" charset="0"/>
              </a:rPr>
              <a:t>and AMP to produce </a:t>
            </a:r>
          </a:p>
          <a:p>
            <a:pPr algn="ctr"/>
            <a:r>
              <a:rPr kumimoji="1" lang="en-US" altLang="zh-CN" b="1">
                <a:solidFill>
                  <a:srgbClr val="FF0000"/>
                </a:solidFill>
                <a:latin typeface="Tahoma" pitchFamily="34" charset="0"/>
              </a:rPr>
              <a:t>uric acid</a:t>
            </a:r>
          </a:p>
        </p:txBody>
      </p:sp>
      <p:sp>
        <p:nvSpPr>
          <p:cNvPr id="101400" name="Rectangle 24"/>
          <p:cNvSpPr>
            <a:spLocks noChangeArrowheads="1"/>
          </p:cNvSpPr>
          <p:nvPr/>
        </p:nvSpPr>
        <p:spPr bwMode="auto">
          <a:xfrm>
            <a:off x="0" y="5111750"/>
            <a:ext cx="2132013" cy="1314450"/>
          </a:xfrm>
          <a:prstGeom prst="rect">
            <a:avLst/>
          </a:prstGeom>
          <a:noFill/>
          <a:ln w="9525">
            <a:noFill/>
            <a:miter lim="800000"/>
            <a:headEnd/>
            <a:tailEnd/>
          </a:ln>
          <a:effectLst/>
        </p:spPr>
        <p:txBody>
          <a:bodyPr wrap="none">
            <a:spAutoFit/>
          </a:bodyPr>
          <a:lstStyle/>
          <a:p>
            <a:r>
              <a:rPr kumimoji="1" lang="en-US" altLang="zh-CN" sz="1600" b="1" dirty="0">
                <a:solidFill>
                  <a:srgbClr val="0000FF"/>
                </a:solidFill>
                <a:latin typeface="Tahoma" pitchFamily="34" charset="0"/>
              </a:rPr>
              <a:t>The deficiency of</a:t>
            </a:r>
          </a:p>
          <a:p>
            <a:r>
              <a:rPr kumimoji="1" lang="en-US" altLang="zh-CN" sz="1600" b="1" dirty="0">
                <a:solidFill>
                  <a:srgbClr val="0000FF"/>
                </a:solidFill>
                <a:latin typeface="Tahoma" pitchFamily="34" charset="0"/>
              </a:rPr>
              <a:t>ADA will cause</a:t>
            </a:r>
          </a:p>
          <a:p>
            <a:r>
              <a:rPr kumimoji="1" lang="en-US" altLang="zh-CN" sz="1600" b="1" dirty="0">
                <a:solidFill>
                  <a:srgbClr val="0000FF"/>
                </a:solidFill>
                <a:latin typeface="Tahoma" pitchFamily="34" charset="0"/>
              </a:rPr>
              <a:t>severe combined</a:t>
            </a:r>
          </a:p>
          <a:p>
            <a:r>
              <a:rPr kumimoji="1" lang="en-US" altLang="zh-CN" sz="1600" b="1" dirty="0" err="1">
                <a:solidFill>
                  <a:srgbClr val="0000FF"/>
                </a:solidFill>
                <a:latin typeface="Tahoma" pitchFamily="34" charset="0"/>
              </a:rPr>
              <a:t>immunodefficiency</a:t>
            </a:r>
            <a:endParaRPr kumimoji="1" lang="en-US" altLang="zh-CN" sz="1600" b="1" dirty="0">
              <a:solidFill>
                <a:srgbClr val="0000FF"/>
              </a:solidFill>
              <a:latin typeface="Tahoma" pitchFamily="34" charset="0"/>
            </a:endParaRPr>
          </a:p>
          <a:p>
            <a:r>
              <a:rPr kumimoji="1" lang="en-US" altLang="zh-CN" sz="1600" b="1" dirty="0">
                <a:solidFill>
                  <a:srgbClr val="0000FF"/>
                </a:solidFill>
                <a:latin typeface="Tahoma" pitchFamily="34" charset="0"/>
              </a:rPr>
              <a:t>(SCID) in human.</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a:xfrm>
            <a:off x="179388" y="2132856"/>
            <a:ext cx="8640762" cy="2583607"/>
          </a:xfrm>
        </p:spPr>
        <p:txBody>
          <a:bodyPr/>
          <a:lstStyle/>
          <a:p>
            <a:r>
              <a:rPr lang="en-US" altLang="zh-CN" b="1" dirty="0">
                <a:solidFill>
                  <a:srgbClr val="FF0000"/>
                </a:solidFill>
              </a:rPr>
              <a:t>Uric acid</a:t>
            </a:r>
            <a:r>
              <a:rPr lang="en-US" altLang="zh-CN" b="1" dirty="0">
                <a:solidFill>
                  <a:srgbClr val="0000FF"/>
                </a:solidFill>
              </a:rPr>
              <a:t> is the excreted end product of </a:t>
            </a:r>
            <a:r>
              <a:rPr lang="en-US" altLang="zh-CN" b="1" dirty="0">
                <a:solidFill>
                  <a:srgbClr val="FF0000"/>
                </a:solidFill>
              </a:rPr>
              <a:t>purine nucleotide</a:t>
            </a:r>
            <a:r>
              <a:rPr lang="en-US" altLang="zh-CN" b="1" dirty="0">
                <a:solidFill>
                  <a:srgbClr val="0000FF"/>
                </a:solidFill>
              </a:rPr>
              <a:t> catabolism in humans and many other animals.</a:t>
            </a:r>
          </a:p>
        </p:txBody>
      </p:sp>
    </p:spTree>
  </p:cSld>
  <p:clrMapOvr>
    <a:masterClrMapping/>
  </p:clrMapOvr>
  <p:transition spd="slow" advClick="0">
    <p:blinds dir="vert"/>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ext Box 2"/>
          <p:cNvSpPr txBox="1">
            <a:spLocks noChangeArrowheads="1"/>
          </p:cNvSpPr>
          <p:nvPr/>
        </p:nvSpPr>
        <p:spPr bwMode="auto">
          <a:xfrm>
            <a:off x="971550" y="549275"/>
            <a:ext cx="6477000" cy="1569660"/>
          </a:xfrm>
          <a:prstGeom prst="rect">
            <a:avLst/>
          </a:prstGeom>
          <a:noFill/>
          <a:ln w="9525">
            <a:noFill/>
            <a:miter lim="800000"/>
            <a:headEnd/>
            <a:tailEnd/>
          </a:ln>
          <a:effectLst/>
        </p:spPr>
        <p:txBody>
          <a:bodyPr>
            <a:spAutoFit/>
          </a:bodyPr>
          <a:lstStyle/>
          <a:p>
            <a:pPr algn="just">
              <a:spcBef>
                <a:spcPct val="50000"/>
              </a:spcBef>
              <a:buFont typeface="Wingdings" pitchFamily="2" charset="2"/>
              <a:buChar char="Ø"/>
            </a:pPr>
            <a:r>
              <a:rPr kumimoji="1" lang="zh-CN" altLang="en-US" sz="2400" dirty="0">
                <a:latin typeface="Times New Roman" pitchFamily="18" charset="0"/>
              </a:rPr>
              <a:t>关键酶：黄嘌呤氧化酶</a:t>
            </a:r>
          </a:p>
          <a:p>
            <a:pPr algn="just">
              <a:spcBef>
                <a:spcPct val="50000"/>
              </a:spcBef>
              <a:buFont typeface="Wingdings" pitchFamily="2" charset="2"/>
              <a:buChar char="Ø"/>
            </a:pPr>
            <a:r>
              <a:rPr kumimoji="1" lang="zh-CN" altLang="en-US" sz="2400" dirty="0">
                <a:latin typeface="Times New Roman" pitchFamily="18" charset="0"/>
              </a:rPr>
              <a:t>抑制剂－别嘌呤醇 </a:t>
            </a:r>
          </a:p>
          <a:p>
            <a:pPr algn="just">
              <a:spcBef>
                <a:spcPct val="50000"/>
              </a:spcBef>
              <a:buFont typeface="Wingdings" pitchFamily="2" charset="2"/>
              <a:buChar char="Ø"/>
            </a:pPr>
            <a:r>
              <a:rPr kumimoji="1" lang="zh-CN" altLang="en-US" dirty="0">
                <a:latin typeface="Times New Roman" panose="02020603050405020304" pitchFamily="18" charset="0"/>
              </a:rPr>
              <a:t> </a:t>
            </a:r>
            <a:r>
              <a:rPr kumimoji="1" lang="zh-CN" altLang="en-US" sz="2400" dirty="0">
                <a:latin typeface="Times New Roman" pitchFamily="18" charset="0"/>
              </a:rPr>
              <a:t>最终产物：尿酸</a:t>
            </a:r>
          </a:p>
        </p:txBody>
      </p:sp>
      <p:sp>
        <p:nvSpPr>
          <p:cNvPr id="95235" name="Text Box 3"/>
          <p:cNvSpPr txBox="1">
            <a:spLocks noChangeArrowheads="1"/>
          </p:cNvSpPr>
          <p:nvPr/>
        </p:nvSpPr>
        <p:spPr bwMode="auto">
          <a:xfrm>
            <a:off x="46038" y="3284984"/>
            <a:ext cx="693737" cy="457200"/>
          </a:xfrm>
          <a:prstGeom prst="rect">
            <a:avLst/>
          </a:prstGeom>
          <a:noFill/>
          <a:ln w="9525">
            <a:noFill/>
            <a:miter lim="800000"/>
            <a:headEnd/>
            <a:tailEnd/>
          </a:ln>
          <a:effectLst/>
        </p:spPr>
        <p:txBody>
          <a:bodyPr wrap="none">
            <a:spAutoFit/>
          </a:bodyPr>
          <a:lstStyle/>
          <a:p>
            <a:pPr algn="just">
              <a:spcBef>
                <a:spcPct val="50000"/>
              </a:spcBef>
              <a:buFont typeface="Wingdings" pitchFamily="2" charset="2"/>
              <a:buChar char="Ø"/>
            </a:pPr>
            <a:endParaRPr kumimoji="1" lang="zh-CN" altLang="zh-CN" sz="2400">
              <a:latin typeface="Times New Roman" pitchFamily="18" charset="0"/>
            </a:endParaRPr>
          </a:p>
        </p:txBody>
      </p:sp>
      <p:pic>
        <p:nvPicPr>
          <p:cNvPr id="95236" name="Picture 4" descr="PINKP">
            <a:hlinkClick r:id="rId3" action="ppaction://hlinksldjump"/>
          </p:cNvPr>
          <p:cNvPicPr>
            <a:picLocks noChangeAspect="1" noChangeArrowheads="1"/>
          </p:cNvPicPr>
          <p:nvPr/>
        </p:nvPicPr>
        <p:blipFill>
          <a:blip r:embed="rId4" cstate="print"/>
          <a:srcRect/>
          <a:stretch>
            <a:fillRect/>
          </a:stretch>
        </p:blipFill>
        <p:spPr bwMode="auto">
          <a:xfrm>
            <a:off x="395288" y="2781300"/>
            <a:ext cx="365125" cy="365125"/>
          </a:xfrm>
          <a:prstGeom prst="rect">
            <a:avLst/>
          </a:prstGeom>
          <a:noFill/>
        </p:spPr>
      </p:pic>
      <p:sp>
        <p:nvSpPr>
          <p:cNvPr id="95237" name="Text Box 5"/>
          <p:cNvSpPr txBox="1">
            <a:spLocks noChangeArrowheads="1"/>
          </p:cNvSpPr>
          <p:nvPr/>
        </p:nvSpPr>
        <p:spPr bwMode="auto">
          <a:xfrm>
            <a:off x="755650" y="2565400"/>
            <a:ext cx="6583363" cy="1187450"/>
          </a:xfrm>
          <a:prstGeom prst="rect">
            <a:avLst/>
          </a:prstGeom>
          <a:noFill/>
          <a:ln w="9525">
            <a:noFill/>
            <a:miter lim="800000"/>
            <a:headEnd/>
            <a:tailEnd/>
          </a:ln>
          <a:effectLst/>
        </p:spPr>
        <p:txBody>
          <a:bodyPr wrap="none" anchor="ctr">
            <a:spAutoFit/>
          </a:bodyPr>
          <a:lstStyle/>
          <a:p>
            <a:pPr eaLnBrk="0" hangingPunct="0"/>
            <a:r>
              <a:rPr lang="zh-CN" altLang="en-US" sz="2400" b="1" dirty="0">
                <a:solidFill>
                  <a:srgbClr val="000066"/>
                </a:solidFill>
                <a:latin typeface="Times New Roman" pitchFamily="18" charset="0"/>
              </a:rPr>
              <a:t>正常人：血尿酸   </a:t>
            </a:r>
            <a:r>
              <a:rPr lang="en-US" altLang="zh-CN" sz="2400" b="1" dirty="0">
                <a:solidFill>
                  <a:srgbClr val="000066"/>
                </a:solidFill>
                <a:latin typeface="Times New Roman" pitchFamily="18" charset="0"/>
              </a:rPr>
              <a:t>119-357 </a:t>
            </a:r>
            <a:r>
              <a:rPr lang="en-US" altLang="zh-CN" sz="2000" b="1" dirty="0" err="1">
                <a:solidFill>
                  <a:srgbClr val="000066"/>
                </a:solidFill>
                <a:latin typeface="宋体" charset="-122"/>
              </a:rPr>
              <a:t>μ</a:t>
            </a:r>
            <a:r>
              <a:rPr lang="en-US" altLang="zh-CN" sz="2400" b="1" dirty="0" err="1">
                <a:solidFill>
                  <a:srgbClr val="000066"/>
                </a:solidFill>
                <a:latin typeface="Times New Roman" pitchFamily="18" charset="0"/>
              </a:rPr>
              <a:t>mol</a:t>
            </a:r>
            <a:r>
              <a:rPr lang="en-US" altLang="zh-CN" sz="2400" b="1" dirty="0">
                <a:solidFill>
                  <a:srgbClr val="000066"/>
                </a:solidFill>
                <a:latin typeface="Times New Roman" pitchFamily="18" charset="0"/>
              </a:rPr>
              <a:t>/L </a:t>
            </a:r>
            <a:r>
              <a:rPr lang="zh-CN" altLang="en-US" sz="2400" b="1" dirty="0">
                <a:solidFill>
                  <a:srgbClr val="000066"/>
                </a:solidFill>
                <a:latin typeface="Times New Roman" pitchFamily="18" charset="0"/>
              </a:rPr>
              <a:t>（</a:t>
            </a:r>
            <a:r>
              <a:rPr lang="en-US" altLang="zh-CN" sz="2400" b="1" dirty="0">
                <a:solidFill>
                  <a:srgbClr val="000066"/>
                </a:solidFill>
                <a:latin typeface="Times New Roman" pitchFamily="18" charset="0"/>
              </a:rPr>
              <a:t>2-6 mg/dl</a:t>
            </a:r>
            <a:r>
              <a:rPr lang="zh-CN" altLang="en-US" sz="2400" b="1" dirty="0">
                <a:solidFill>
                  <a:srgbClr val="000066"/>
                </a:solidFill>
                <a:latin typeface="Times New Roman" pitchFamily="18" charset="0"/>
              </a:rPr>
              <a:t>）</a:t>
            </a:r>
          </a:p>
          <a:p>
            <a:pPr eaLnBrk="0" hangingPunct="0"/>
            <a:r>
              <a:rPr lang="zh-CN" altLang="en-US" sz="2400" b="1" dirty="0">
                <a:solidFill>
                  <a:srgbClr val="000066"/>
                </a:solidFill>
                <a:latin typeface="Times New Roman" pitchFamily="18" charset="0"/>
              </a:rPr>
              <a:t>                          男   </a:t>
            </a:r>
            <a:r>
              <a:rPr lang="en-US" altLang="zh-CN" sz="2400" b="1" dirty="0">
                <a:solidFill>
                  <a:srgbClr val="000066"/>
                </a:solidFill>
                <a:latin typeface="Times New Roman" pitchFamily="18" charset="0"/>
              </a:rPr>
              <a:t>267.7 </a:t>
            </a:r>
            <a:r>
              <a:rPr lang="en-US" altLang="zh-CN" sz="2000" b="1" dirty="0" err="1">
                <a:solidFill>
                  <a:srgbClr val="000066"/>
                </a:solidFill>
                <a:latin typeface="宋体" charset="-122"/>
              </a:rPr>
              <a:t>μ</a:t>
            </a:r>
            <a:r>
              <a:rPr lang="en-US" altLang="zh-CN" sz="2400" b="1" dirty="0" err="1">
                <a:solidFill>
                  <a:srgbClr val="000066"/>
                </a:solidFill>
                <a:latin typeface="Times New Roman" pitchFamily="18" charset="0"/>
              </a:rPr>
              <a:t>mol</a:t>
            </a:r>
            <a:r>
              <a:rPr lang="en-US" altLang="zh-CN" sz="2400" b="1" dirty="0">
                <a:solidFill>
                  <a:srgbClr val="000066"/>
                </a:solidFill>
                <a:latin typeface="Times New Roman" pitchFamily="18" charset="0"/>
              </a:rPr>
              <a:t>/L </a:t>
            </a:r>
            <a:r>
              <a:rPr lang="zh-CN" altLang="en-US" sz="2400" b="1" dirty="0">
                <a:solidFill>
                  <a:srgbClr val="000066"/>
                </a:solidFill>
                <a:latin typeface="Times New Roman" pitchFamily="18" charset="0"/>
              </a:rPr>
              <a:t>（</a:t>
            </a:r>
            <a:r>
              <a:rPr lang="en-US" altLang="zh-CN" sz="2400" b="1" dirty="0">
                <a:solidFill>
                  <a:srgbClr val="000066"/>
                </a:solidFill>
                <a:latin typeface="Times New Roman" pitchFamily="18" charset="0"/>
              </a:rPr>
              <a:t>4.5 mg/dl</a:t>
            </a:r>
            <a:r>
              <a:rPr lang="zh-CN" altLang="en-US" sz="2400" b="1" dirty="0">
                <a:solidFill>
                  <a:srgbClr val="000066"/>
                </a:solidFill>
                <a:latin typeface="Times New Roman" pitchFamily="18" charset="0"/>
              </a:rPr>
              <a:t>）</a:t>
            </a:r>
          </a:p>
          <a:p>
            <a:pPr eaLnBrk="0" hangingPunct="0"/>
            <a:r>
              <a:rPr lang="zh-CN" altLang="en-US" sz="2400" b="1" dirty="0">
                <a:solidFill>
                  <a:srgbClr val="000066"/>
                </a:solidFill>
                <a:latin typeface="Times New Roman" pitchFamily="18" charset="0"/>
              </a:rPr>
              <a:t>                         女   </a:t>
            </a:r>
            <a:r>
              <a:rPr lang="en-US" altLang="zh-CN" sz="2400" b="1" dirty="0">
                <a:solidFill>
                  <a:srgbClr val="000066"/>
                </a:solidFill>
                <a:latin typeface="Times New Roman" pitchFamily="18" charset="0"/>
              </a:rPr>
              <a:t>208.2 </a:t>
            </a:r>
            <a:r>
              <a:rPr lang="en-US" altLang="zh-CN" sz="2000" b="1" dirty="0" err="1">
                <a:solidFill>
                  <a:srgbClr val="000066"/>
                </a:solidFill>
                <a:latin typeface="宋体" charset="-122"/>
              </a:rPr>
              <a:t>μ</a:t>
            </a:r>
            <a:r>
              <a:rPr lang="en-US" altLang="zh-CN" sz="2400" b="1" dirty="0" err="1">
                <a:solidFill>
                  <a:srgbClr val="000066"/>
                </a:solidFill>
                <a:latin typeface="Times New Roman" pitchFamily="18" charset="0"/>
              </a:rPr>
              <a:t>mol</a:t>
            </a:r>
            <a:r>
              <a:rPr lang="en-US" altLang="zh-CN" sz="2400" b="1" dirty="0">
                <a:solidFill>
                  <a:srgbClr val="000066"/>
                </a:solidFill>
                <a:latin typeface="Times New Roman" pitchFamily="18" charset="0"/>
              </a:rPr>
              <a:t>/L </a:t>
            </a:r>
            <a:r>
              <a:rPr lang="zh-CN" altLang="en-US" sz="2400" b="1" dirty="0">
                <a:solidFill>
                  <a:srgbClr val="000066"/>
                </a:solidFill>
                <a:latin typeface="Times New Roman" pitchFamily="18" charset="0"/>
              </a:rPr>
              <a:t>（</a:t>
            </a:r>
            <a:r>
              <a:rPr lang="en-US" altLang="zh-CN" sz="2400" b="1" dirty="0">
                <a:solidFill>
                  <a:srgbClr val="000066"/>
                </a:solidFill>
                <a:latin typeface="Times New Roman" pitchFamily="18" charset="0"/>
              </a:rPr>
              <a:t>3.5 mg/dl</a:t>
            </a:r>
            <a:r>
              <a:rPr lang="zh-CN" altLang="en-US" sz="2400" b="1" dirty="0">
                <a:solidFill>
                  <a:srgbClr val="000066"/>
                </a:solidFill>
                <a:latin typeface="Times New Roman" pitchFamily="18" charset="0"/>
              </a:rPr>
              <a:t>）</a:t>
            </a:r>
          </a:p>
        </p:txBody>
      </p:sp>
      <p:sp>
        <p:nvSpPr>
          <p:cNvPr id="95238" name="Text Box 6"/>
          <p:cNvSpPr txBox="1">
            <a:spLocks noChangeArrowheads="1"/>
          </p:cNvSpPr>
          <p:nvPr/>
        </p:nvSpPr>
        <p:spPr bwMode="auto">
          <a:xfrm>
            <a:off x="2098675" y="3683446"/>
            <a:ext cx="2476500" cy="2647950"/>
          </a:xfrm>
          <a:prstGeom prst="rect">
            <a:avLst/>
          </a:prstGeom>
          <a:noFill/>
          <a:ln w="9525">
            <a:noFill/>
            <a:miter lim="800000"/>
            <a:headEnd/>
            <a:tailEnd/>
          </a:ln>
          <a:effectLst/>
        </p:spPr>
        <p:txBody>
          <a:bodyPr wrap="none" anchor="ctr">
            <a:spAutoFit/>
          </a:bodyPr>
          <a:lstStyle/>
          <a:p>
            <a:pPr eaLnBrk="0" hangingPunct="0"/>
            <a:r>
              <a:rPr lang="zh-CN" altLang="en-US" sz="2400" b="1" dirty="0">
                <a:solidFill>
                  <a:srgbClr val="000066"/>
                </a:solidFill>
                <a:latin typeface="Times New Roman" pitchFamily="18" charset="0"/>
              </a:rPr>
              <a:t>血尿酸  </a:t>
            </a:r>
            <a:r>
              <a:rPr lang="en-US" altLang="zh-CN" sz="2400" b="1" dirty="0">
                <a:solidFill>
                  <a:srgbClr val="000066"/>
                </a:solidFill>
                <a:latin typeface="Times New Roman" pitchFamily="18" charset="0"/>
              </a:rPr>
              <a:t>&gt; 8 mg/dl</a:t>
            </a:r>
          </a:p>
          <a:p>
            <a:pPr eaLnBrk="0" hangingPunct="0"/>
            <a:endParaRPr lang="en-US" altLang="zh-CN" sz="2400" b="1" dirty="0">
              <a:solidFill>
                <a:srgbClr val="000066"/>
              </a:solidFill>
              <a:latin typeface="Times New Roman" pitchFamily="18" charset="0"/>
            </a:endParaRPr>
          </a:p>
          <a:p>
            <a:pPr eaLnBrk="0" hangingPunct="0"/>
            <a:r>
              <a:rPr lang="zh-CN" altLang="en-US" sz="2400" b="1" dirty="0">
                <a:solidFill>
                  <a:srgbClr val="000066"/>
                </a:solidFill>
                <a:latin typeface="Times New Roman" pitchFamily="18" charset="0"/>
              </a:rPr>
              <a:t>结晶 </a:t>
            </a:r>
          </a:p>
          <a:p>
            <a:pPr eaLnBrk="0" hangingPunct="0"/>
            <a:endParaRPr lang="zh-CN" altLang="en-US" sz="2400" b="1" dirty="0">
              <a:solidFill>
                <a:srgbClr val="000066"/>
              </a:solidFill>
              <a:latin typeface="Times New Roman" pitchFamily="18" charset="0"/>
            </a:endParaRPr>
          </a:p>
          <a:p>
            <a:pPr eaLnBrk="0" hangingPunct="0"/>
            <a:r>
              <a:rPr lang="zh-CN" altLang="en-US" sz="2400" b="1" dirty="0">
                <a:solidFill>
                  <a:srgbClr val="000066"/>
                </a:solidFill>
                <a:latin typeface="Times New Roman" pitchFamily="18" charset="0"/>
              </a:rPr>
              <a:t>沉积组织</a:t>
            </a:r>
          </a:p>
          <a:p>
            <a:pPr eaLnBrk="0" hangingPunct="0"/>
            <a:endParaRPr lang="zh-CN" altLang="en-US" sz="2400" b="1" dirty="0">
              <a:solidFill>
                <a:srgbClr val="000066"/>
              </a:solidFill>
              <a:latin typeface="Times New Roman" pitchFamily="18" charset="0"/>
            </a:endParaRPr>
          </a:p>
          <a:p>
            <a:pPr eaLnBrk="0" hangingPunct="0"/>
            <a:r>
              <a:rPr lang="zh-CN" altLang="en-US" sz="2400" b="1" dirty="0">
                <a:solidFill>
                  <a:srgbClr val="000066"/>
                </a:solidFill>
                <a:latin typeface="Times New Roman" pitchFamily="18" charset="0"/>
              </a:rPr>
              <a:t>痛风（</a:t>
            </a:r>
            <a:r>
              <a:rPr lang="en-US" altLang="zh-CN" sz="2400" b="1" dirty="0">
                <a:solidFill>
                  <a:srgbClr val="000066"/>
                </a:solidFill>
                <a:latin typeface="Times New Roman" pitchFamily="18" charset="0"/>
              </a:rPr>
              <a:t>gout</a:t>
            </a:r>
            <a:r>
              <a:rPr lang="zh-CN" altLang="en-US" sz="2400" b="1" dirty="0">
                <a:solidFill>
                  <a:srgbClr val="000066"/>
                </a:solidFill>
                <a:latin typeface="Times New Roman" pitchFamily="18" charset="0"/>
              </a:rPr>
              <a:t>）</a:t>
            </a:r>
          </a:p>
        </p:txBody>
      </p:sp>
      <p:sp>
        <p:nvSpPr>
          <p:cNvPr id="95239" name="Line 7"/>
          <p:cNvSpPr>
            <a:spLocks noChangeShapeType="1"/>
          </p:cNvSpPr>
          <p:nvPr/>
        </p:nvSpPr>
        <p:spPr bwMode="auto">
          <a:xfrm>
            <a:off x="2479675" y="4064446"/>
            <a:ext cx="0" cy="457200"/>
          </a:xfrm>
          <a:prstGeom prst="line">
            <a:avLst/>
          </a:prstGeom>
          <a:noFill/>
          <a:ln w="38100">
            <a:solidFill>
              <a:schemeClr val="accent1"/>
            </a:solidFill>
            <a:round/>
            <a:headEnd/>
            <a:tailEnd type="triangle" w="med" len="med"/>
          </a:ln>
          <a:effectLst/>
        </p:spPr>
        <p:txBody>
          <a:bodyPr wrap="none" anchor="ctr"/>
          <a:lstStyle/>
          <a:p>
            <a:endParaRPr lang="zh-CN" altLang="en-US" dirty="0">
              <a:latin typeface="Times New Roman" panose="02020603050405020304" pitchFamily="18" charset="0"/>
            </a:endParaRPr>
          </a:p>
        </p:txBody>
      </p:sp>
      <p:sp>
        <p:nvSpPr>
          <p:cNvPr id="95240" name="Line 8"/>
          <p:cNvSpPr>
            <a:spLocks noChangeShapeType="1"/>
          </p:cNvSpPr>
          <p:nvPr/>
        </p:nvSpPr>
        <p:spPr bwMode="auto">
          <a:xfrm>
            <a:off x="2479675" y="4750246"/>
            <a:ext cx="0" cy="457200"/>
          </a:xfrm>
          <a:prstGeom prst="line">
            <a:avLst/>
          </a:prstGeom>
          <a:noFill/>
          <a:ln w="38100">
            <a:solidFill>
              <a:schemeClr val="accent1"/>
            </a:solidFill>
            <a:round/>
            <a:headEnd/>
            <a:tailEnd type="triangle" w="med" len="med"/>
          </a:ln>
          <a:effectLst/>
        </p:spPr>
        <p:txBody>
          <a:bodyPr wrap="none" anchor="ctr"/>
          <a:lstStyle/>
          <a:p>
            <a:endParaRPr lang="zh-CN" altLang="en-US" dirty="0">
              <a:latin typeface="Times New Roman" panose="02020603050405020304" pitchFamily="18" charset="0"/>
            </a:endParaRPr>
          </a:p>
        </p:txBody>
      </p:sp>
      <p:sp>
        <p:nvSpPr>
          <p:cNvPr id="95241" name="Line 9"/>
          <p:cNvSpPr>
            <a:spLocks noChangeShapeType="1"/>
          </p:cNvSpPr>
          <p:nvPr/>
        </p:nvSpPr>
        <p:spPr bwMode="auto">
          <a:xfrm>
            <a:off x="2479675" y="5512246"/>
            <a:ext cx="0" cy="457200"/>
          </a:xfrm>
          <a:prstGeom prst="line">
            <a:avLst/>
          </a:prstGeom>
          <a:noFill/>
          <a:ln w="38100">
            <a:solidFill>
              <a:schemeClr val="accent1"/>
            </a:solidFill>
            <a:round/>
            <a:headEnd/>
            <a:tailEnd type="triangle" w="med" len="med"/>
          </a:ln>
          <a:effectLst/>
        </p:spPr>
        <p:txBody>
          <a:bodyPr wrap="none" anchor="ctr"/>
          <a:lstStyle/>
          <a:p>
            <a:endParaRPr lang="zh-CN" altLang="en-US" dirty="0">
              <a:latin typeface="Times New Roman" panose="02020603050405020304" pitchFamily="18" charset="0"/>
            </a:endParaRPr>
          </a:p>
        </p:txBody>
      </p:sp>
      <p:pic>
        <p:nvPicPr>
          <p:cNvPr id="2050" name="Picture 2" descr="https://gss2.bdstatic.com/-fo3dSag_xI4khGkpoWK1HF6hhy/baike/c0%3Dbaike116%2C5%2C5%2C116%2C38/sign=d5263b0a9f45d688b70fbaf6c5ab167b/0e2442a7d933c895c7986a42dc1373f082020020.jpg">
            <a:extLst>
              <a:ext uri="{FF2B5EF4-FFF2-40B4-BE49-F238E27FC236}">
                <a16:creationId xmlns:a16="http://schemas.microsoft.com/office/drawing/2014/main" id="{C798FC64-C7B7-4612-82D4-7F5B45712170}"/>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716016" y="3873437"/>
            <a:ext cx="2952912" cy="203336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95237"/>
                                        </p:tgtEl>
                                        <p:attrNameLst>
                                          <p:attrName>style.visibility</p:attrName>
                                        </p:attrNameLst>
                                      </p:cBhvr>
                                      <p:to>
                                        <p:strVal val="visible"/>
                                      </p:to>
                                    </p:set>
                                    <p:animEffect transition="in" filter="fade">
                                      <p:cBhvr>
                                        <p:cTn id="7" dur="1000"/>
                                        <p:tgtEl>
                                          <p:spTgt spid="95237"/>
                                        </p:tgtEl>
                                      </p:cBhvr>
                                    </p:animEffect>
                                    <p:anim calcmode="lin" valueType="num">
                                      <p:cBhvr>
                                        <p:cTn id="8" dur="1000" fill="hold"/>
                                        <p:tgtEl>
                                          <p:spTgt spid="95237"/>
                                        </p:tgtEl>
                                        <p:attrNameLst>
                                          <p:attrName>ppt_x</p:attrName>
                                        </p:attrNameLst>
                                      </p:cBhvr>
                                      <p:tavLst>
                                        <p:tav tm="0">
                                          <p:val>
                                            <p:strVal val="#ppt_x"/>
                                          </p:val>
                                        </p:tav>
                                        <p:tav tm="100000">
                                          <p:val>
                                            <p:strVal val="#ppt_x"/>
                                          </p:val>
                                        </p:tav>
                                      </p:tavLst>
                                    </p:anim>
                                    <p:anim calcmode="lin" valueType="num">
                                      <p:cBhvr>
                                        <p:cTn id="9" dur="1000" fill="hold"/>
                                        <p:tgtEl>
                                          <p:spTgt spid="9523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499"/>
                                          </p:stCondLst>
                                        </p:cTn>
                                        <p:tgtEl>
                                          <p:spTgt spid="95238"/>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2050"/>
                                        </p:tgtEl>
                                        <p:attrNameLst>
                                          <p:attrName>style.visibility</p:attrName>
                                        </p:attrNameLst>
                                      </p:cBhvr>
                                      <p:to>
                                        <p:strVal val="visible"/>
                                      </p:to>
                                    </p:set>
                                  </p:childTnLst>
                                </p:cTn>
                              </p:par>
                            </p:childTnLst>
                          </p:cTn>
                        </p:par>
                        <p:par>
                          <p:cTn id="18" fill="hold">
                            <p:stCondLst>
                              <p:cond delay="0"/>
                            </p:stCondLst>
                            <p:childTnLst>
                              <p:par>
                                <p:cTn id="19" presetID="1" presetClass="entr" presetSubtype="0" fill="hold" grpId="0" nodeType="afterEffect">
                                  <p:stCondLst>
                                    <p:cond delay="0"/>
                                  </p:stCondLst>
                                  <p:childTnLst>
                                    <p:set>
                                      <p:cBhvr>
                                        <p:cTn id="20" dur="1" fill="hold">
                                          <p:stCondLst>
                                            <p:cond delay="499"/>
                                          </p:stCondLst>
                                        </p:cTn>
                                        <p:tgtEl>
                                          <p:spTgt spid="95239"/>
                                        </p:tgtEl>
                                        <p:attrNameLst>
                                          <p:attrName>style.visibility</p:attrName>
                                        </p:attrNameLst>
                                      </p:cBhvr>
                                      <p:to>
                                        <p:strVal val="visible"/>
                                      </p:to>
                                    </p:set>
                                  </p:childTnLst>
                                </p:cTn>
                              </p:par>
                            </p:childTnLst>
                          </p:cTn>
                        </p:par>
                        <p:par>
                          <p:cTn id="21" fill="hold">
                            <p:stCondLst>
                              <p:cond delay="500"/>
                            </p:stCondLst>
                            <p:childTnLst>
                              <p:par>
                                <p:cTn id="22" presetID="1" presetClass="entr" presetSubtype="0" fill="hold" grpId="0" nodeType="afterEffect">
                                  <p:stCondLst>
                                    <p:cond delay="0"/>
                                  </p:stCondLst>
                                  <p:childTnLst>
                                    <p:set>
                                      <p:cBhvr>
                                        <p:cTn id="23" dur="1" fill="hold">
                                          <p:stCondLst>
                                            <p:cond delay="499"/>
                                          </p:stCondLst>
                                        </p:cTn>
                                        <p:tgtEl>
                                          <p:spTgt spid="95240"/>
                                        </p:tgtEl>
                                        <p:attrNameLst>
                                          <p:attrName>style.visibility</p:attrName>
                                        </p:attrNameLst>
                                      </p:cBhvr>
                                      <p:to>
                                        <p:strVal val="visible"/>
                                      </p:to>
                                    </p:set>
                                  </p:childTnLst>
                                </p:cTn>
                              </p:par>
                            </p:childTnLst>
                          </p:cTn>
                        </p:par>
                        <p:par>
                          <p:cTn id="24" fill="hold">
                            <p:stCondLst>
                              <p:cond delay="1000"/>
                            </p:stCondLst>
                            <p:childTnLst>
                              <p:par>
                                <p:cTn id="25" presetID="1" presetClass="entr" presetSubtype="0" fill="hold" grpId="0" nodeType="afterEffect">
                                  <p:stCondLst>
                                    <p:cond delay="0"/>
                                  </p:stCondLst>
                                  <p:childTnLst>
                                    <p:set>
                                      <p:cBhvr>
                                        <p:cTn id="26" dur="1" fill="hold">
                                          <p:stCondLst>
                                            <p:cond delay="499"/>
                                          </p:stCondLst>
                                        </p:cTn>
                                        <p:tgtEl>
                                          <p:spTgt spid="952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37" grpId="0"/>
      <p:bldP spid="95238" grpId="0" autoUpdateAnimBg="0"/>
      <p:bldP spid="95239" grpId="0" animBg="1"/>
      <p:bldP spid="95240" grpId="0" animBg="1"/>
      <p:bldP spid="95241"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a:xfrm>
            <a:off x="304800" y="1981200"/>
            <a:ext cx="685800" cy="1143000"/>
          </a:xfrm>
          <a:noFill/>
          <a:ln/>
        </p:spPr>
        <p:txBody>
          <a:bodyPr/>
          <a:lstStyle/>
          <a:p>
            <a:r>
              <a:rPr lang="zh-CN" altLang="en-US" sz="3600" b="1">
                <a:solidFill>
                  <a:srgbClr val="CC0000"/>
                </a:solidFill>
              </a:rPr>
              <a:t>嘧啶的分解</a:t>
            </a:r>
            <a:endParaRPr lang="zh-CN" altLang="en-US"/>
          </a:p>
        </p:txBody>
      </p:sp>
      <p:pic>
        <p:nvPicPr>
          <p:cNvPr id="97283" name="Picture 3" descr="033"/>
          <p:cNvPicPr>
            <a:picLocks noChangeAspect="1" noChangeArrowheads="1"/>
          </p:cNvPicPr>
          <p:nvPr/>
        </p:nvPicPr>
        <p:blipFill>
          <a:blip r:embed="rId2" cstate="print"/>
          <a:srcRect/>
          <a:stretch>
            <a:fillRect/>
          </a:stretch>
        </p:blipFill>
        <p:spPr bwMode="auto">
          <a:xfrm>
            <a:off x="1049338" y="0"/>
            <a:ext cx="8018462" cy="6858000"/>
          </a:xfrm>
          <a:prstGeom prst="rect">
            <a:avLst/>
          </a:prstGeom>
          <a:noFill/>
        </p:spPr>
      </p:pic>
      <p:sp>
        <p:nvSpPr>
          <p:cNvPr id="97284" name="Rectangle 4"/>
          <p:cNvSpPr>
            <a:spLocks noChangeArrowheads="1"/>
          </p:cNvSpPr>
          <p:nvPr/>
        </p:nvSpPr>
        <p:spPr bwMode="auto">
          <a:xfrm>
            <a:off x="3487738" y="6324600"/>
            <a:ext cx="2590800" cy="533400"/>
          </a:xfrm>
          <a:prstGeom prst="rect">
            <a:avLst/>
          </a:prstGeom>
          <a:solidFill>
            <a:schemeClr val="bg1"/>
          </a:solidFill>
          <a:ln w="9525">
            <a:solidFill>
              <a:schemeClr val="bg1"/>
            </a:solidFill>
            <a:miter lim="800000"/>
            <a:headEnd/>
            <a:tailEnd/>
          </a:ln>
          <a:effectLst/>
        </p:spPr>
        <p:txBody>
          <a:bodyPr wrap="none" anchor="ctr"/>
          <a:lstStyle/>
          <a:p>
            <a:endParaRPr lang="zh-CN" altLang="en-US" dirty="0">
              <a:latin typeface="Times New Roman" panose="02020603050405020304" pitchFamily="18" charset="0"/>
            </a:endParaRPr>
          </a:p>
        </p:txBody>
      </p:sp>
      <p:sp>
        <p:nvSpPr>
          <p:cNvPr id="97285" name="Text Box 5"/>
          <p:cNvSpPr txBox="1">
            <a:spLocks noChangeArrowheads="1"/>
          </p:cNvSpPr>
          <p:nvPr/>
        </p:nvSpPr>
        <p:spPr bwMode="auto">
          <a:xfrm>
            <a:off x="3563938" y="1196975"/>
            <a:ext cx="936625" cy="366713"/>
          </a:xfrm>
          <a:prstGeom prst="rect">
            <a:avLst/>
          </a:prstGeom>
          <a:solidFill>
            <a:srgbClr val="FFFFCC"/>
          </a:solidFill>
          <a:ln w="9525">
            <a:noFill/>
            <a:miter lim="800000"/>
            <a:headEnd/>
            <a:tailEnd/>
          </a:ln>
          <a:effectLst/>
        </p:spPr>
        <p:txBody>
          <a:bodyPr>
            <a:spAutoFit/>
          </a:bodyPr>
          <a:lstStyle/>
          <a:p>
            <a:pPr>
              <a:spcBef>
                <a:spcPct val="50000"/>
              </a:spcBef>
            </a:pPr>
            <a:r>
              <a:rPr lang="zh-CN" altLang="en-US" b="1" dirty="0">
                <a:solidFill>
                  <a:srgbClr val="990000"/>
                </a:solidFill>
                <a:latin typeface="Times New Roman" panose="02020603050405020304" pitchFamily="18" charset="0"/>
              </a:rPr>
              <a:t>脱氨基</a:t>
            </a:r>
          </a:p>
        </p:txBody>
      </p:sp>
      <p:sp>
        <p:nvSpPr>
          <p:cNvPr id="97286" name="Text Box 6"/>
          <p:cNvSpPr txBox="1">
            <a:spLocks noChangeArrowheads="1"/>
          </p:cNvSpPr>
          <p:nvPr/>
        </p:nvSpPr>
        <p:spPr bwMode="auto">
          <a:xfrm>
            <a:off x="4356100" y="1844675"/>
            <a:ext cx="985838" cy="1158875"/>
          </a:xfrm>
          <a:prstGeom prst="rect">
            <a:avLst/>
          </a:prstGeom>
          <a:solidFill>
            <a:srgbClr val="FFFFCC"/>
          </a:solidFill>
          <a:ln w="9525">
            <a:noFill/>
            <a:miter lim="800000"/>
            <a:headEnd/>
            <a:tailEnd/>
          </a:ln>
          <a:effectLst/>
        </p:spPr>
        <p:txBody>
          <a:bodyPr>
            <a:spAutoFit/>
          </a:bodyPr>
          <a:lstStyle/>
          <a:p>
            <a:pPr>
              <a:spcBef>
                <a:spcPct val="50000"/>
              </a:spcBef>
            </a:pPr>
            <a:r>
              <a:rPr lang="zh-CN" altLang="en-US" sz="2000" b="1" dirty="0">
                <a:solidFill>
                  <a:srgbClr val="990000"/>
                </a:solidFill>
                <a:latin typeface="Times New Roman" panose="02020603050405020304" pitchFamily="18" charset="0"/>
              </a:rPr>
              <a:t>还原</a:t>
            </a:r>
          </a:p>
          <a:p>
            <a:pPr>
              <a:spcBef>
                <a:spcPct val="50000"/>
              </a:spcBef>
            </a:pPr>
            <a:r>
              <a:rPr lang="zh-CN" altLang="en-US" sz="2000" b="1" dirty="0">
                <a:solidFill>
                  <a:srgbClr val="990000"/>
                </a:solidFill>
                <a:latin typeface="Times New Roman" panose="02020603050405020304" pitchFamily="18" charset="0"/>
              </a:rPr>
              <a:t>打破环内双键</a:t>
            </a:r>
          </a:p>
        </p:txBody>
      </p:sp>
      <p:sp>
        <p:nvSpPr>
          <p:cNvPr id="97287" name="Text Box 7"/>
          <p:cNvSpPr txBox="1">
            <a:spLocks noChangeArrowheads="1"/>
          </p:cNvSpPr>
          <p:nvPr/>
        </p:nvSpPr>
        <p:spPr bwMode="auto">
          <a:xfrm>
            <a:off x="3995738" y="3573463"/>
            <a:ext cx="985837" cy="854075"/>
          </a:xfrm>
          <a:prstGeom prst="rect">
            <a:avLst/>
          </a:prstGeom>
          <a:solidFill>
            <a:srgbClr val="FFFFCC"/>
          </a:solidFill>
          <a:ln w="9525">
            <a:noFill/>
            <a:miter lim="800000"/>
            <a:headEnd/>
            <a:tailEnd/>
          </a:ln>
          <a:effectLst/>
        </p:spPr>
        <p:txBody>
          <a:bodyPr>
            <a:spAutoFit/>
          </a:bodyPr>
          <a:lstStyle/>
          <a:p>
            <a:pPr>
              <a:spcBef>
                <a:spcPct val="50000"/>
              </a:spcBef>
            </a:pPr>
            <a:r>
              <a:rPr lang="zh-CN" altLang="en-US" sz="2000" b="1" dirty="0">
                <a:solidFill>
                  <a:srgbClr val="990000"/>
                </a:solidFill>
                <a:latin typeface="Times New Roman" panose="02020603050405020304" pitchFamily="18" charset="0"/>
              </a:rPr>
              <a:t>水解</a:t>
            </a:r>
          </a:p>
          <a:p>
            <a:pPr>
              <a:spcBef>
                <a:spcPct val="50000"/>
              </a:spcBef>
            </a:pPr>
            <a:r>
              <a:rPr lang="zh-CN" altLang="en-US" sz="2000" b="1" dirty="0">
                <a:solidFill>
                  <a:srgbClr val="990000"/>
                </a:solidFill>
                <a:latin typeface="Times New Roman" panose="02020603050405020304" pitchFamily="18" charset="0"/>
              </a:rPr>
              <a:t>开环</a:t>
            </a:r>
          </a:p>
        </p:txBody>
      </p:sp>
      <p:sp>
        <p:nvSpPr>
          <p:cNvPr id="97288" name="Text Box 8"/>
          <p:cNvSpPr txBox="1">
            <a:spLocks noChangeArrowheads="1"/>
          </p:cNvSpPr>
          <p:nvPr/>
        </p:nvSpPr>
        <p:spPr bwMode="auto">
          <a:xfrm>
            <a:off x="4356100" y="4724400"/>
            <a:ext cx="985838" cy="396875"/>
          </a:xfrm>
          <a:prstGeom prst="rect">
            <a:avLst/>
          </a:prstGeom>
          <a:solidFill>
            <a:srgbClr val="FFFFCC"/>
          </a:solidFill>
          <a:ln w="9525">
            <a:noFill/>
            <a:miter lim="800000"/>
            <a:headEnd/>
            <a:tailEnd/>
          </a:ln>
          <a:effectLst/>
        </p:spPr>
        <p:txBody>
          <a:bodyPr>
            <a:spAutoFit/>
          </a:bodyPr>
          <a:lstStyle/>
          <a:p>
            <a:pPr>
              <a:spcBef>
                <a:spcPct val="50000"/>
              </a:spcBef>
            </a:pPr>
            <a:r>
              <a:rPr lang="zh-CN" altLang="en-US" sz="2000" b="1" dirty="0">
                <a:solidFill>
                  <a:srgbClr val="990000"/>
                </a:solidFill>
                <a:latin typeface="Times New Roman" panose="02020603050405020304" pitchFamily="18" charset="0"/>
              </a:rPr>
              <a:t>再水解</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97285"/>
                                        </p:tgtEl>
                                        <p:attrNameLst>
                                          <p:attrName>style.visibility</p:attrName>
                                        </p:attrNameLst>
                                      </p:cBhvr>
                                      <p:to>
                                        <p:strVal val="visible"/>
                                      </p:to>
                                    </p:set>
                                    <p:animEffect transition="in" filter="fade">
                                      <p:cBhvr>
                                        <p:cTn id="7" dur="1000"/>
                                        <p:tgtEl>
                                          <p:spTgt spid="97285"/>
                                        </p:tgtEl>
                                      </p:cBhvr>
                                    </p:animEffect>
                                    <p:anim calcmode="lin" valueType="num">
                                      <p:cBhvr>
                                        <p:cTn id="8" dur="1000" fill="hold"/>
                                        <p:tgtEl>
                                          <p:spTgt spid="97285"/>
                                        </p:tgtEl>
                                        <p:attrNameLst>
                                          <p:attrName>ppt_x</p:attrName>
                                        </p:attrNameLst>
                                      </p:cBhvr>
                                      <p:tavLst>
                                        <p:tav tm="0">
                                          <p:val>
                                            <p:strVal val="#ppt_x"/>
                                          </p:val>
                                        </p:tav>
                                        <p:tav tm="100000">
                                          <p:val>
                                            <p:strVal val="#ppt_x"/>
                                          </p:val>
                                        </p:tav>
                                      </p:tavLst>
                                    </p:anim>
                                    <p:anim calcmode="lin" valueType="num">
                                      <p:cBhvr>
                                        <p:cTn id="9" dur="1000" fill="hold"/>
                                        <p:tgtEl>
                                          <p:spTgt spid="9728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grpId="0" nodeType="clickEffect">
                                  <p:stCondLst>
                                    <p:cond delay="0"/>
                                  </p:stCondLst>
                                  <p:childTnLst>
                                    <p:set>
                                      <p:cBhvr>
                                        <p:cTn id="13" dur="1" fill="hold">
                                          <p:stCondLst>
                                            <p:cond delay="0"/>
                                          </p:stCondLst>
                                        </p:cTn>
                                        <p:tgtEl>
                                          <p:spTgt spid="97286"/>
                                        </p:tgtEl>
                                        <p:attrNameLst>
                                          <p:attrName>style.visibility</p:attrName>
                                        </p:attrNameLst>
                                      </p:cBhvr>
                                      <p:to>
                                        <p:strVal val="visible"/>
                                      </p:to>
                                    </p:set>
                                    <p:animEffect transition="in" filter="fade">
                                      <p:cBhvr>
                                        <p:cTn id="14" dur="1000"/>
                                        <p:tgtEl>
                                          <p:spTgt spid="97286"/>
                                        </p:tgtEl>
                                      </p:cBhvr>
                                    </p:animEffect>
                                    <p:anim calcmode="lin" valueType="num">
                                      <p:cBhvr>
                                        <p:cTn id="15" dur="1000" fill="hold"/>
                                        <p:tgtEl>
                                          <p:spTgt spid="97286"/>
                                        </p:tgtEl>
                                        <p:attrNameLst>
                                          <p:attrName>ppt_x</p:attrName>
                                        </p:attrNameLst>
                                      </p:cBhvr>
                                      <p:tavLst>
                                        <p:tav tm="0">
                                          <p:val>
                                            <p:strVal val="#ppt_x"/>
                                          </p:val>
                                        </p:tav>
                                        <p:tav tm="100000">
                                          <p:val>
                                            <p:strVal val="#ppt_x"/>
                                          </p:val>
                                        </p:tav>
                                      </p:tavLst>
                                    </p:anim>
                                    <p:anim calcmode="lin" valueType="num">
                                      <p:cBhvr>
                                        <p:cTn id="16" dur="1000" fill="hold"/>
                                        <p:tgtEl>
                                          <p:spTgt spid="9728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7" presetClass="entr" presetSubtype="0" fill="hold" grpId="0" nodeType="clickEffect">
                                  <p:stCondLst>
                                    <p:cond delay="0"/>
                                  </p:stCondLst>
                                  <p:childTnLst>
                                    <p:set>
                                      <p:cBhvr>
                                        <p:cTn id="20" dur="1" fill="hold">
                                          <p:stCondLst>
                                            <p:cond delay="0"/>
                                          </p:stCondLst>
                                        </p:cTn>
                                        <p:tgtEl>
                                          <p:spTgt spid="97287"/>
                                        </p:tgtEl>
                                        <p:attrNameLst>
                                          <p:attrName>style.visibility</p:attrName>
                                        </p:attrNameLst>
                                      </p:cBhvr>
                                      <p:to>
                                        <p:strVal val="visible"/>
                                      </p:to>
                                    </p:set>
                                    <p:animEffect transition="in" filter="fade">
                                      <p:cBhvr>
                                        <p:cTn id="21" dur="1000"/>
                                        <p:tgtEl>
                                          <p:spTgt spid="97287"/>
                                        </p:tgtEl>
                                      </p:cBhvr>
                                    </p:animEffect>
                                    <p:anim calcmode="lin" valueType="num">
                                      <p:cBhvr>
                                        <p:cTn id="22" dur="1000" fill="hold"/>
                                        <p:tgtEl>
                                          <p:spTgt spid="97287"/>
                                        </p:tgtEl>
                                        <p:attrNameLst>
                                          <p:attrName>ppt_x</p:attrName>
                                        </p:attrNameLst>
                                      </p:cBhvr>
                                      <p:tavLst>
                                        <p:tav tm="0">
                                          <p:val>
                                            <p:strVal val="#ppt_x"/>
                                          </p:val>
                                        </p:tav>
                                        <p:tav tm="100000">
                                          <p:val>
                                            <p:strVal val="#ppt_x"/>
                                          </p:val>
                                        </p:tav>
                                      </p:tavLst>
                                    </p:anim>
                                    <p:anim calcmode="lin" valueType="num">
                                      <p:cBhvr>
                                        <p:cTn id="23" dur="1000" fill="hold"/>
                                        <p:tgtEl>
                                          <p:spTgt spid="97287"/>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7" presetClass="entr" presetSubtype="0" fill="hold" grpId="0" nodeType="clickEffect">
                                  <p:stCondLst>
                                    <p:cond delay="0"/>
                                  </p:stCondLst>
                                  <p:childTnLst>
                                    <p:set>
                                      <p:cBhvr>
                                        <p:cTn id="27" dur="1" fill="hold">
                                          <p:stCondLst>
                                            <p:cond delay="0"/>
                                          </p:stCondLst>
                                        </p:cTn>
                                        <p:tgtEl>
                                          <p:spTgt spid="97288"/>
                                        </p:tgtEl>
                                        <p:attrNameLst>
                                          <p:attrName>style.visibility</p:attrName>
                                        </p:attrNameLst>
                                      </p:cBhvr>
                                      <p:to>
                                        <p:strVal val="visible"/>
                                      </p:to>
                                    </p:set>
                                    <p:animEffect transition="in" filter="fade">
                                      <p:cBhvr>
                                        <p:cTn id="28" dur="1000"/>
                                        <p:tgtEl>
                                          <p:spTgt spid="97288"/>
                                        </p:tgtEl>
                                      </p:cBhvr>
                                    </p:animEffect>
                                    <p:anim calcmode="lin" valueType="num">
                                      <p:cBhvr>
                                        <p:cTn id="29" dur="1000" fill="hold"/>
                                        <p:tgtEl>
                                          <p:spTgt spid="97288"/>
                                        </p:tgtEl>
                                        <p:attrNameLst>
                                          <p:attrName>ppt_x</p:attrName>
                                        </p:attrNameLst>
                                      </p:cBhvr>
                                      <p:tavLst>
                                        <p:tav tm="0">
                                          <p:val>
                                            <p:strVal val="#ppt_x"/>
                                          </p:val>
                                        </p:tav>
                                        <p:tav tm="100000">
                                          <p:val>
                                            <p:strVal val="#ppt_x"/>
                                          </p:val>
                                        </p:tav>
                                      </p:tavLst>
                                    </p:anim>
                                    <p:anim calcmode="lin" valueType="num">
                                      <p:cBhvr>
                                        <p:cTn id="30" dur="1000" fill="hold"/>
                                        <p:tgtEl>
                                          <p:spTgt spid="9728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5" grpId="0" animBg="1"/>
      <p:bldP spid="97286" grpId="0" animBg="1"/>
      <p:bldP spid="97287" grpId="0" animBg="1"/>
      <p:bldP spid="97288"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3DFC3423-E345-4802-AB9D-C80D504E2B96}"/>
              </a:ext>
            </a:extLst>
          </p:cNvPr>
          <p:cNvSpPr txBox="1"/>
          <p:nvPr/>
        </p:nvSpPr>
        <p:spPr>
          <a:xfrm>
            <a:off x="3419872" y="2276872"/>
            <a:ext cx="2736304" cy="1754326"/>
          </a:xfrm>
          <a:prstGeom prst="rect">
            <a:avLst/>
          </a:prstGeom>
          <a:noFill/>
        </p:spPr>
        <p:txBody>
          <a:bodyPr wrap="square" rtlCol="0">
            <a:spAutoFit/>
          </a:bodyPr>
          <a:lstStyle/>
          <a:p>
            <a:pPr algn="ctr"/>
            <a:r>
              <a:rPr lang="en-US" altLang="zh-CN" sz="5400" dirty="0">
                <a:latin typeface="Times New Roman" panose="02020603050405020304" pitchFamily="18" charset="0"/>
              </a:rPr>
              <a:t>END</a:t>
            </a:r>
          </a:p>
          <a:p>
            <a:pPr algn="ctr"/>
            <a:endParaRPr lang="en-US" altLang="zh-CN" dirty="0">
              <a:latin typeface="Times New Roman" panose="02020603050405020304" pitchFamily="18" charset="0"/>
            </a:endParaRPr>
          </a:p>
          <a:p>
            <a:pPr algn="ctr"/>
            <a:r>
              <a:rPr lang="en-US" altLang="zh-CN" sz="3600" dirty="0">
                <a:latin typeface="Times New Roman" panose="02020603050405020304" pitchFamily="18" charset="0"/>
              </a:rPr>
              <a:t>Thank you</a:t>
            </a:r>
            <a:endParaRPr lang="zh-CN" altLang="en-US" sz="3600" dirty="0">
              <a:latin typeface="Times New Roman" panose="02020603050405020304" pitchFamily="18" charset="0"/>
            </a:endParaRPr>
          </a:p>
        </p:txBody>
      </p:sp>
    </p:spTree>
    <p:extLst>
      <p:ext uri="{BB962C8B-B14F-4D97-AF65-F5344CB8AC3E}">
        <p14:creationId xmlns:p14="http://schemas.microsoft.com/office/powerpoint/2010/main" val="138913980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40540B2F-2926-4113-8B3E-403500787ABB}"/>
              </a:ext>
            </a:extLst>
          </p:cNvPr>
          <p:cNvPicPr>
            <a:picLocks noChangeAspect="1"/>
          </p:cNvPicPr>
          <p:nvPr/>
        </p:nvPicPr>
        <p:blipFill>
          <a:blip r:embed="rId2"/>
          <a:stretch>
            <a:fillRect/>
          </a:stretch>
        </p:blipFill>
        <p:spPr>
          <a:xfrm>
            <a:off x="0" y="647121"/>
            <a:ext cx="9144000" cy="5563757"/>
          </a:xfrm>
          <a:prstGeom prst="rect">
            <a:avLst/>
          </a:prstGeom>
        </p:spPr>
      </p:pic>
    </p:spTree>
    <p:extLst>
      <p:ext uri="{BB962C8B-B14F-4D97-AF65-F5344CB8AC3E}">
        <p14:creationId xmlns:p14="http://schemas.microsoft.com/office/powerpoint/2010/main" val="119376903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24394029-F2B3-4202-8360-D443394BE61E}"/>
              </a:ext>
            </a:extLst>
          </p:cNvPr>
          <p:cNvSpPr txBox="1"/>
          <p:nvPr/>
        </p:nvSpPr>
        <p:spPr>
          <a:xfrm>
            <a:off x="395536" y="260648"/>
            <a:ext cx="8568952" cy="6309356"/>
          </a:xfrm>
          <a:prstGeom prst="rect">
            <a:avLst/>
          </a:prstGeom>
          <a:noFill/>
        </p:spPr>
        <p:txBody>
          <a:bodyPr wrap="square">
            <a:spAutoFit/>
          </a:bodyPr>
          <a:lstStyle/>
          <a:p>
            <a:pPr>
              <a:lnSpc>
                <a:spcPct val="150000"/>
              </a:lnSpc>
            </a:pPr>
            <a:r>
              <a:rPr lang="en-US" altLang="zh-CN" sz="3600" b="1" dirty="0"/>
              <a:t>Science</a:t>
            </a:r>
            <a:r>
              <a:rPr lang="en-US" altLang="zh-CN" sz="2400" dirty="0"/>
              <a:t> </a:t>
            </a:r>
            <a:r>
              <a:rPr lang="en-US" altLang="zh-CN" sz="2800" dirty="0"/>
              <a:t>is both a way of thinking about the natural world and the sum of the information and theory that result from such thinking</a:t>
            </a:r>
            <a:r>
              <a:rPr lang="en-US" altLang="zh-CN" sz="2400" dirty="0"/>
              <a:t>.</a:t>
            </a:r>
          </a:p>
          <a:p>
            <a:pPr>
              <a:lnSpc>
                <a:spcPct val="150000"/>
              </a:lnSpc>
            </a:pPr>
            <a:endParaRPr lang="en-US" altLang="zh-CN" sz="1800" b="0" i="0" dirty="0">
              <a:solidFill>
                <a:srgbClr val="000000"/>
              </a:solidFill>
              <a:effectLst/>
              <a:latin typeface="TimesNewRomanPSMT"/>
            </a:endParaRPr>
          </a:p>
          <a:p>
            <a:pPr>
              <a:lnSpc>
                <a:spcPct val="150000"/>
              </a:lnSpc>
            </a:pPr>
            <a:r>
              <a:rPr lang="en-US" altLang="zh-CN" sz="2800" b="0" i="0" dirty="0">
                <a:solidFill>
                  <a:srgbClr val="000000"/>
                </a:solidFill>
                <a:effectLst/>
                <a:latin typeface="TimesNewRomanPSMT"/>
              </a:rPr>
              <a:t>The power and success of science flow directly from its reliance on </a:t>
            </a:r>
            <a:r>
              <a:rPr lang="en-US" altLang="zh-CN" sz="2800" b="0" i="0" u="sng" dirty="0">
                <a:solidFill>
                  <a:srgbClr val="000000"/>
                </a:solidFill>
                <a:effectLst>
                  <a:outerShdw blurRad="38100" dist="38100" dir="2700000" algn="tl">
                    <a:srgbClr val="000000">
                      <a:alpha val="43137"/>
                    </a:srgbClr>
                  </a:outerShdw>
                </a:effectLst>
                <a:latin typeface="TimesNewRomanPSMT"/>
              </a:rPr>
              <a:t>ideas that can be tested</a:t>
            </a:r>
            <a:r>
              <a:rPr lang="en-US" altLang="zh-CN" sz="2800" b="0" i="0" dirty="0">
                <a:solidFill>
                  <a:srgbClr val="000000"/>
                </a:solidFill>
                <a:effectLst/>
                <a:latin typeface="TimesNewRomanPSMT"/>
              </a:rPr>
              <a:t>: information on natural phenomena that can be observed, measured, and reproduced and theories that have predictive value. </a:t>
            </a:r>
            <a:br>
              <a:rPr lang="en-US" altLang="zh-CN" sz="5400" dirty="0"/>
            </a:br>
            <a:endParaRPr lang="en-US" altLang="zh-CN" sz="5400" dirty="0"/>
          </a:p>
        </p:txBody>
      </p:sp>
    </p:spTree>
    <p:extLst>
      <p:ext uri="{BB962C8B-B14F-4D97-AF65-F5344CB8AC3E}">
        <p14:creationId xmlns:p14="http://schemas.microsoft.com/office/powerpoint/2010/main" val="375742124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24394029-F2B3-4202-8360-D443394BE61E}"/>
              </a:ext>
            </a:extLst>
          </p:cNvPr>
          <p:cNvSpPr txBox="1"/>
          <p:nvPr/>
        </p:nvSpPr>
        <p:spPr>
          <a:xfrm>
            <a:off x="287524" y="458956"/>
            <a:ext cx="8568952" cy="5016758"/>
          </a:xfrm>
          <a:prstGeom prst="rect">
            <a:avLst/>
          </a:prstGeom>
          <a:noFill/>
        </p:spPr>
        <p:txBody>
          <a:bodyPr wrap="square">
            <a:spAutoFit/>
          </a:bodyPr>
          <a:lstStyle/>
          <a:p>
            <a:r>
              <a:rPr lang="en-US" altLang="zh-CN" sz="3600" b="1" i="0" dirty="0">
                <a:solidFill>
                  <a:srgbClr val="242021"/>
                </a:solidFill>
                <a:effectLst/>
                <a:latin typeface="CenturyStd-Bold"/>
              </a:rPr>
              <a:t>Scientists</a:t>
            </a:r>
            <a:r>
              <a:rPr lang="en-US" altLang="zh-CN" sz="3200" b="1" i="0" dirty="0">
                <a:solidFill>
                  <a:srgbClr val="242021"/>
                </a:solidFill>
                <a:effectLst/>
                <a:latin typeface="CenturyStd-Bold"/>
              </a:rPr>
              <a:t> </a:t>
            </a:r>
            <a:r>
              <a:rPr lang="en-US" altLang="zh-CN" sz="2800" b="0" i="0" dirty="0">
                <a:solidFill>
                  <a:srgbClr val="242021"/>
                </a:solidFill>
                <a:effectLst/>
                <a:latin typeface="CenturyStd-Light"/>
              </a:rPr>
              <a:t>are individuals who </a:t>
            </a:r>
            <a:r>
              <a:rPr lang="en-US" altLang="zh-CN" sz="2800" b="0" i="0" u="sng" dirty="0">
                <a:solidFill>
                  <a:srgbClr val="242021"/>
                </a:solidFill>
                <a:effectLst>
                  <a:outerShdw blurRad="38100" dist="38100" dir="2700000" algn="tl">
                    <a:srgbClr val="000000">
                      <a:alpha val="43137"/>
                    </a:srgbClr>
                  </a:outerShdw>
                </a:effectLst>
                <a:latin typeface="CenturyStd-Light"/>
              </a:rPr>
              <a:t>rigorously </a:t>
            </a:r>
            <a:r>
              <a:rPr lang="en-US" altLang="zh-CN" sz="2800" b="0" i="0" dirty="0">
                <a:solidFill>
                  <a:srgbClr val="242021"/>
                </a:solidFill>
                <a:effectLst/>
                <a:latin typeface="CenturyStd-Light"/>
              </a:rPr>
              <a:t>apply</a:t>
            </a:r>
            <a:br>
              <a:rPr lang="en-US" altLang="zh-CN" sz="2800" b="0" i="0" dirty="0">
                <a:solidFill>
                  <a:srgbClr val="242021"/>
                </a:solidFill>
                <a:effectLst/>
                <a:latin typeface="CenturyStd-Light"/>
              </a:rPr>
            </a:br>
            <a:r>
              <a:rPr lang="en-US" altLang="zh-CN" sz="2800" b="0" i="0" dirty="0">
                <a:solidFill>
                  <a:srgbClr val="242021"/>
                </a:solidFill>
                <a:effectLst/>
                <a:latin typeface="CenturyStd-Light"/>
              </a:rPr>
              <a:t>the scientific method to understand the natural world.</a:t>
            </a:r>
            <a:r>
              <a:rPr lang="en-US" altLang="zh-CN" sz="3600" dirty="0"/>
              <a:t> </a:t>
            </a:r>
          </a:p>
          <a:p>
            <a:endParaRPr lang="en-US" altLang="zh-CN" sz="1800" b="0" i="0" dirty="0">
              <a:solidFill>
                <a:srgbClr val="000000"/>
              </a:solidFill>
              <a:effectLst/>
              <a:latin typeface="TimesNewRomanPSMT"/>
            </a:endParaRPr>
          </a:p>
          <a:p>
            <a:endParaRPr lang="en-US" altLang="zh-CN" dirty="0">
              <a:solidFill>
                <a:srgbClr val="000000"/>
              </a:solidFill>
              <a:latin typeface="TimesNewRomanPSMT"/>
            </a:endParaRPr>
          </a:p>
          <a:p>
            <a:pPr>
              <a:lnSpc>
                <a:spcPct val="150000"/>
              </a:lnSpc>
            </a:pPr>
            <a:r>
              <a:rPr lang="en-US" altLang="zh-CN" sz="2400" b="1" i="0" u="sng" dirty="0">
                <a:solidFill>
                  <a:srgbClr val="000000"/>
                </a:solidFill>
                <a:effectLst>
                  <a:outerShdw blurRad="38100" dist="38100" dir="2700000" algn="tl">
                    <a:srgbClr val="000000">
                      <a:alpha val="43137"/>
                    </a:srgbClr>
                  </a:outerShdw>
                </a:effectLst>
                <a:latin typeface="TimesNewRomanPSMT"/>
              </a:rPr>
              <a:t>Merely having an advanced degre</a:t>
            </a:r>
            <a:r>
              <a:rPr lang="en-US" altLang="zh-CN" sz="2400" b="0" i="0" u="sng" dirty="0">
                <a:solidFill>
                  <a:srgbClr val="000000"/>
                </a:solidFill>
                <a:effectLst>
                  <a:outerShdw blurRad="38100" dist="38100" dir="2700000" algn="tl">
                    <a:srgbClr val="000000">
                      <a:alpha val="43137"/>
                    </a:srgbClr>
                  </a:outerShdw>
                </a:effectLst>
                <a:latin typeface="TimesNewRomanPSMT"/>
              </a:rPr>
              <a:t>e </a:t>
            </a:r>
            <a:r>
              <a:rPr lang="en-US" altLang="zh-CN" sz="2400" b="0" i="0" dirty="0">
                <a:solidFill>
                  <a:srgbClr val="000000"/>
                </a:solidFill>
                <a:effectLst/>
                <a:latin typeface="TimesNewRomanPSMT"/>
              </a:rPr>
              <a:t>in a scientific discipline does not make one a scientist, nor does the lack of such a degree prevent one from making important scientific contributions. </a:t>
            </a:r>
          </a:p>
          <a:p>
            <a:pPr>
              <a:spcBef>
                <a:spcPts val="2400"/>
              </a:spcBef>
            </a:pPr>
            <a:r>
              <a:rPr lang="en-US" altLang="zh-CN" sz="2400" b="0" i="0" dirty="0">
                <a:solidFill>
                  <a:srgbClr val="000000"/>
                </a:solidFill>
                <a:effectLst/>
                <a:latin typeface="TimesNewRomanPSMT"/>
              </a:rPr>
              <a:t>A scientist must be willing to </a:t>
            </a:r>
            <a:r>
              <a:rPr lang="en-US" altLang="zh-CN" sz="2400" b="1" i="0" u="sng" dirty="0">
                <a:solidFill>
                  <a:srgbClr val="000000"/>
                </a:solidFill>
                <a:effectLst>
                  <a:outerShdw blurRad="38100" dist="38100" dir="2700000" algn="tl">
                    <a:srgbClr val="000000">
                      <a:alpha val="43137"/>
                    </a:srgbClr>
                  </a:outerShdw>
                </a:effectLst>
                <a:latin typeface="TimesNewRomanPSMT"/>
              </a:rPr>
              <a:t>challenge any idea when new findings demand it.</a:t>
            </a:r>
            <a:r>
              <a:rPr lang="en-US" altLang="zh-CN" sz="6000" b="1" u="sng" dirty="0">
                <a:effectLst>
                  <a:outerShdw blurRad="38100" dist="38100" dir="2700000" algn="tl">
                    <a:srgbClr val="000000">
                      <a:alpha val="43137"/>
                    </a:srgbClr>
                  </a:outerShdw>
                </a:effectLst>
              </a:rPr>
              <a:t> </a:t>
            </a:r>
          </a:p>
        </p:txBody>
      </p:sp>
    </p:spTree>
    <p:extLst>
      <p:ext uri="{BB962C8B-B14F-4D97-AF65-F5344CB8AC3E}">
        <p14:creationId xmlns:p14="http://schemas.microsoft.com/office/powerpoint/2010/main" val="426810941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24394029-F2B3-4202-8360-D443394BE61E}"/>
              </a:ext>
            </a:extLst>
          </p:cNvPr>
          <p:cNvSpPr txBox="1"/>
          <p:nvPr/>
        </p:nvSpPr>
        <p:spPr>
          <a:xfrm>
            <a:off x="395536" y="260648"/>
            <a:ext cx="8496944" cy="6555641"/>
          </a:xfrm>
          <a:prstGeom prst="rect">
            <a:avLst/>
          </a:prstGeom>
          <a:noFill/>
        </p:spPr>
        <p:txBody>
          <a:bodyPr wrap="square">
            <a:spAutoFit/>
          </a:bodyPr>
          <a:lstStyle/>
          <a:p>
            <a:r>
              <a:rPr lang="en-US" altLang="zh-CN" sz="2800" b="0" i="0" dirty="0">
                <a:solidFill>
                  <a:srgbClr val="242021"/>
                </a:solidFill>
                <a:effectLst/>
                <a:latin typeface="CenturyStd-Light"/>
              </a:rPr>
              <a:t>The</a:t>
            </a:r>
            <a:r>
              <a:rPr lang="en-US" altLang="zh-CN" sz="2400" b="0" i="0" dirty="0">
                <a:solidFill>
                  <a:srgbClr val="242021"/>
                </a:solidFill>
                <a:effectLst/>
                <a:latin typeface="CenturyStd-Light"/>
              </a:rPr>
              <a:t> </a:t>
            </a:r>
            <a:r>
              <a:rPr lang="en-US" altLang="zh-CN" sz="3600" b="1" i="0" dirty="0">
                <a:solidFill>
                  <a:srgbClr val="242021"/>
                </a:solidFill>
                <a:effectLst/>
                <a:latin typeface="CenturyStd-Bold"/>
              </a:rPr>
              <a:t>scientific method </a:t>
            </a:r>
            <a:r>
              <a:rPr lang="en-US" altLang="zh-CN" sz="2800" b="0" i="0" dirty="0">
                <a:solidFill>
                  <a:srgbClr val="242021"/>
                </a:solidFill>
                <a:effectLst/>
                <a:latin typeface="CenturyStd-Light"/>
              </a:rPr>
              <a:t>is actually a collection of paths, all of which may lead to scientific discovery. </a:t>
            </a:r>
          </a:p>
          <a:p>
            <a:endParaRPr lang="en-US" altLang="zh-CN" sz="2800" dirty="0">
              <a:solidFill>
                <a:srgbClr val="242021"/>
              </a:solidFill>
              <a:latin typeface="CenturyStd-Light"/>
            </a:endParaRPr>
          </a:p>
          <a:p>
            <a:r>
              <a:rPr lang="en-US" altLang="zh-CN" sz="2800" b="0" i="0" dirty="0">
                <a:solidFill>
                  <a:srgbClr val="242021"/>
                </a:solidFill>
                <a:effectLst/>
                <a:latin typeface="CenturyStd-Light"/>
              </a:rPr>
              <a:t>In the </a:t>
            </a:r>
            <a:r>
              <a:rPr lang="en-US" altLang="zh-CN" sz="2800" b="1" i="1" u="sng" dirty="0">
                <a:solidFill>
                  <a:srgbClr val="000000"/>
                </a:solidFill>
                <a:effectLst>
                  <a:outerShdw blurRad="38100" dist="38100" dir="2700000" algn="tl">
                    <a:srgbClr val="000000">
                      <a:alpha val="43137"/>
                    </a:srgbClr>
                  </a:outerShdw>
                </a:effectLst>
                <a:latin typeface="TimesNewRomanPS-ItalicMT"/>
              </a:rPr>
              <a:t>hypothesis and experiment </a:t>
            </a:r>
            <a:r>
              <a:rPr lang="en-US" altLang="zh-CN" sz="2800" b="0" i="0" dirty="0">
                <a:solidFill>
                  <a:srgbClr val="242021"/>
                </a:solidFill>
                <a:effectLst/>
                <a:latin typeface="CenturyStd-Light"/>
              </a:rPr>
              <a:t>path, a scientist poses a hypothesis, then subjects it to experimental test.</a:t>
            </a:r>
            <a:r>
              <a:rPr lang="en-US" altLang="zh-CN" sz="3600" dirty="0"/>
              <a:t> </a:t>
            </a:r>
          </a:p>
          <a:p>
            <a:endParaRPr lang="en-US" altLang="zh-CN" sz="3600" dirty="0"/>
          </a:p>
          <a:p>
            <a:r>
              <a:rPr lang="en-US" altLang="zh-CN" sz="2800" b="0" i="0" dirty="0">
                <a:solidFill>
                  <a:srgbClr val="000000"/>
                </a:solidFill>
                <a:effectLst/>
                <a:latin typeface="TimesNewRomanPSMT"/>
              </a:rPr>
              <a:t>An analog of hypothesis and experiment is </a:t>
            </a:r>
            <a:r>
              <a:rPr lang="en-US" altLang="zh-CN" sz="2800" b="1" i="1" u="sng" dirty="0">
                <a:solidFill>
                  <a:srgbClr val="000000"/>
                </a:solidFill>
                <a:effectLst>
                  <a:outerShdw blurRad="38100" dist="38100" dir="2700000" algn="tl">
                    <a:srgbClr val="000000">
                      <a:alpha val="43137"/>
                    </a:srgbClr>
                  </a:outerShdw>
                </a:effectLst>
                <a:latin typeface="TimesNewRomanPS-ItalicMT"/>
              </a:rPr>
              <a:t>hypothesis and deduction</a:t>
            </a:r>
            <a:r>
              <a:rPr lang="en-US" altLang="zh-CN" sz="2800" b="1" i="0" u="sng" dirty="0">
                <a:solidFill>
                  <a:srgbClr val="000000"/>
                </a:solidFill>
                <a:effectLst>
                  <a:outerShdw blurRad="38100" dist="38100" dir="2700000" algn="tl">
                    <a:srgbClr val="000000">
                      <a:alpha val="43137"/>
                    </a:srgbClr>
                  </a:outerShdw>
                </a:effectLst>
                <a:latin typeface="TimesNewRomanPSMT"/>
              </a:rPr>
              <a:t>. </a:t>
            </a:r>
          </a:p>
          <a:p>
            <a:r>
              <a:rPr lang="en-US" altLang="zh-CN" sz="2400" b="0" i="0" dirty="0">
                <a:solidFill>
                  <a:srgbClr val="000000"/>
                </a:solidFill>
                <a:effectLst/>
                <a:latin typeface="TimesNewRomanPSMT"/>
              </a:rPr>
              <a:t>Crick reasoned that there must be an adaptor molecule that facilitated translation of the information in messenger RNA into protein. This adaptor hypothesis led to the discovery of transfer RNA by </a:t>
            </a:r>
            <a:r>
              <a:rPr lang="en-US" altLang="zh-CN" sz="2400" b="0" i="0" dirty="0" err="1">
                <a:solidFill>
                  <a:srgbClr val="000000"/>
                </a:solidFill>
                <a:effectLst/>
                <a:latin typeface="TimesNewRomanPSMT"/>
              </a:rPr>
              <a:t>Mahlon</a:t>
            </a:r>
            <a:r>
              <a:rPr lang="en-US" altLang="zh-CN" sz="2400" b="0" i="0" dirty="0">
                <a:solidFill>
                  <a:srgbClr val="000000"/>
                </a:solidFill>
                <a:effectLst/>
                <a:latin typeface="TimesNewRomanPSMT"/>
              </a:rPr>
              <a:t> Hoagland and Paul </a:t>
            </a:r>
            <a:r>
              <a:rPr lang="en-US" altLang="zh-CN" sz="2400" b="0" i="0" dirty="0" err="1">
                <a:solidFill>
                  <a:srgbClr val="000000"/>
                </a:solidFill>
                <a:effectLst/>
                <a:latin typeface="TimesNewRomanPSMT"/>
              </a:rPr>
              <a:t>Zamecnik</a:t>
            </a:r>
            <a:r>
              <a:rPr lang="en-US" altLang="zh-CN" sz="2400" b="0" i="0" dirty="0">
                <a:solidFill>
                  <a:srgbClr val="000000"/>
                </a:solidFill>
                <a:effectLst/>
                <a:latin typeface="TimesNewRomanPSMT"/>
              </a:rPr>
              <a:t>.</a:t>
            </a:r>
            <a:r>
              <a:rPr lang="en-US" altLang="zh-CN" sz="2400" dirty="0"/>
              <a:t> </a:t>
            </a:r>
            <a:br>
              <a:rPr lang="en-US" altLang="zh-CN" sz="2400" dirty="0"/>
            </a:br>
            <a:br>
              <a:rPr lang="en-US" altLang="zh-CN" sz="2800" dirty="0"/>
            </a:br>
            <a:br>
              <a:rPr lang="en-US" altLang="zh-CN" sz="2400" dirty="0"/>
            </a:br>
            <a:endParaRPr lang="zh-CN" altLang="en-US" sz="2400" dirty="0"/>
          </a:p>
        </p:txBody>
      </p:sp>
    </p:spTree>
    <p:extLst>
      <p:ext uri="{BB962C8B-B14F-4D97-AF65-F5344CB8AC3E}">
        <p14:creationId xmlns:p14="http://schemas.microsoft.com/office/powerpoint/2010/main" val="2245812725"/>
      </p:ext>
    </p:extLst>
  </p:cSld>
  <p:clrMapOvr>
    <a:masterClrMapping/>
  </p:clrMapOvr>
</p:sld>
</file>

<file path=ppt/theme/theme1.xml><?xml version="1.0" encoding="utf-8"?>
<a:theme xmlns:a="http://schemas.openxmlformats.org/drawingml/2006/main" name="shan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shand</Template>
  <TotalTime>1143</TotalTime>
  <Words>1317</Words>
  <Application>Microsoft Office PowerPoint</Application>
  <PresentationFormat>全屏显示(4:3)</PresentationFormat>
  <Paragraphs>354</Paragraphs>
  <Slides>65</Slides>
  <Notes>29</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1</vt:i4>
      </vt:variant>
      <vt:variant>
        <vt:lpstr>幻灯片标题</vt:lpstr>
      </vt:variant>
      <vt:variant>
        <vt:i4>65</vt:i4>
      </vt:variant>
    </vt:vector>
  </HeadingPairs>
  <TitlesOfParts>
    <vt:vector size="79" baseType="lpstr">
      <vt:lpstr>CenturyStd-Bold</vt:lpstr>
      <vt:lpstr>CenturyStd-Light</vt:lpstr>
      <vt:lpstr>TimesNewRomanPS-ItalicMT</vt:lpstr>
      <vt:lpstr>TimesNewRomanPSMT</vt:lpstr>
      <vt:lpstr>楷体_GB2312</vt:lpstr>
      <vt:lpstr>隶书</vt:lpstr>
      <vt:lpstr>宋体</vt:lpstr>
      <vt:lpstr>Arial</vt:lpstr>
      <vt:lpstr>Calibri</vt:lpstr>
      <vt:lpstr>Tahoma</vt:lpstr>
      <vt:lpstr>Times New Roman</vt:lpstr>
      <vt:lpstr>Wingdings</vt:lpstr>
      <vt:lpstr>shand</vt:lpstr>
      <vt:lpstr>Image</vt:lpstr>
      <vt:lpstr>Section N Nucleotide Metabolism</vt:lpstr>
      <vt:lpstr>Radioisotope tracer experiments revealed the origins of the atoms in the purine and pyrimidine rings</vt:lpstr>
      <vt:lpstr>PowerPoint 演示文稿</vt:lpstr>
      <vt:lpstr>PowerPoint 演示文稿</vt:lpstr>
      <vt:lpstr>De novo purine nucleotide synthesis: the base assembles on the ribose phosphate; IMP is first nucleotide synthesized.</vt:lpstr>
      <vt:lpstr>PowerPoint 演示文稿</vt:lpstr>
      <vt:lpstr>PowerPoint 演示文稿</vt:lpstr>
      <vt:lpstr>De novo purine nucleotide synthesis: AMP and GMP are derived from IMP.</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The biosynthesis of AMP and GMP is regulated mainly by sequential feedback inhibition (no covalent regulation)</vt:lpstr>
      <vt:lpstr>PowerPoint 演示文稿</vt:lpstr>
      <vt:lpstr>The de novo biosynthesis of pyrimidine nucleotides: the base ring (as orotate) is first assembled before being attached to the phosphoribosyl group to form orotidylate</vt:lpstr>
      <vt:lpstr>PowerPoint 演示文稿</vt:lpstr>
      <vt:lpstr>PowerPoint 演示文稿</vt:lpstr>
      <vt:lpstr>PowerPoint 演示文稿</vt:lpstr>
      <vt:lpstr>PowerPoint 演示文稿</vt:lpstr>
      <vt:lpstr>PowerPoint 演示文稿</vt:lpstr>
      <vt:lpstr>PowerPoint 演示文稿</vt:lpstr>
      <vt:lpstr>UTP and CTP are then derived from orotidylate via decarboxylation and amination reactions</vt:lpstr>
      <vt:lpstr>PowerPoint 演示文稿</vt:lpstr>
      <vt:lpstr>All dNDPs are derived from NDPs via the catalysis of a common ribonucleotide reductase. </vt:lpstr>
      <vt:lpstr>PowerPoint 演示文稿</vt:lpstr>
      <vt:lpstr>dTMP is synthesized by the methylation of dUMP</vt:lpstr>
      <vt:lpstr>PowerPoint 演示文稿</vt:lpstr>
      <vt:lpstr>PowerPoint 演示文稿</vt:lpstr>
      <vt:lpstr>PowerPoint 演示文稿</vt:lpstr>
      <vt:lpstr>PowerPoint 演示文稿</vt:lpstr>
      <vt:lpstr>Purine and pyrimidine bases can be reconverted to nucleotides via the salvage pathway</vt:lpstr>
      <vt:lpstr>PowerPoint 演示文稿</vt:lpstr>
      <vt:lpstr>核酸的酶促降解</vt:lpstr>
      <vt:lpstr>核     酸     酶</vt:lpstr>
      <vt:lpstr>1、外切核酸酶对核酸的水解位点</vt:lpstr>
      <vt:lpstr>2、内切核酸酶对RNA的水解位点示意图</vt:lpstr>
      <vt:lpstr>3、脱氧核糖核酸酶</vt:lpstr>
      <vt:lpstr>限制性内切酶</vt:lpstr>
      <vt:lpstr>PowerPoint 演示文稿</vt:lpstr>
      <vt:lpstr>核苷酸分解代谢</vt:lpstr>
      <vt:lpstr>嘌呤的分解</vt:lpstr>
      <vt:lpstr>PowerPoint 演示文稿</vt:lpstr>
      <vt:lpstr>PowerPoint 演示文稿</vt:lpstr>
      <vt:lpstr>Uric acid is the excreted end product of purine nucleotide catabolism in humans and many other animals.</vt:lpstr>
      <vt:lpstr>PowerPoint 演示文稿</vt:lpstr>
      <vt:lpstr>嘧啶的分解</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admin</dc:creator>
  <cp:lastModifiedBy>weiyu</cp:lastModifiedBy>
  <cp:revision>72</cp:revision>
  <dcterms:created xsi:type="dcterms:W3CDTF">2014-10-13T11:37:17Z</dcterms:created>
  <dcterms:modified xsi:type="dcterms:W3CDTF">2023-09-03T02:32:03Z</dcterms:modified>
</cp:coreProperties>
</file>