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7"/>
  </p:notesMasterIdLst>
  <p:handoutMasterIdLst>
    <p:handoutMasterId r:id="rId198"/>
  </p:handoutMasterIdLst>
  <p:sldIdLst>
    <p:sldId id="256" r:id="rId2"/>
    <p:sldId id="268" r:id="rId3"/>
    <p:sldId id="273" r:id="rId4"/>
    <p:sldId id="269" r:id="rId5"/>
    <p:sldId id="266" r:id="rId6"/>
    <p:sldId id="267" r:id="rId7"/>
    <p:sldId id="277" r:id="rId8"/>
    <p:sldId id="466" r:id="rId9"/>
    <p:sldId id="499" r:id="rId10"/>
    <p:sldId id="467" r:id="rId11"/>
    <p:sldId id="468" r:id="rId12"/>
    <p:sldId id="279" r:id="rId13"/>
    <p:sldId id="280" r:id="rId14"/>
    <p:sldId id="469" r:id="rId15"/>
    <p:sldId id="281" r:id="rId16"/>
    <p:sldId id="284" r:id="rId17"/>
    <p:sldId id="282" r:id="rId18"/>
    <p:sldId id="283" r:id="rId19"/>
    <p:sldId id="285" r:id="rId20"/>
    <p:sldId id="286" r:id="rId21"/>
    <p:sldId id="287" r:id="rId22"/>
    <p:sldId id="288" r:id="rId23"/>
    <p:sldId id="289" r:id="rId24"/>
    <p:sldId id="290" r:id="rId25"/>
    <p:sldId id="291" r:id="rId26"/>
    <p:sldId id="292" r:id="rId27"/>
    <p:sldId id="293" r:id="rId28"/>
    <p:sldId id="294" r:id="rId29"/>
    <p:sldId id="295" r:id="rId30"/>
    <p:sldId id="297" r:id="rId31"/>
    <p:sldId id="298" r:id="rId32"/>
    <p:sldId id="299" r:id="rId33"/>
    <p:sldId id="300" r:id="rId34"/>
    <p:sldId id="301" r:id="rId35"/>
    <p:sldId id="296" r:id="rId36"/>
    <p:sldId id="503" r:id="rId37"/>
    <p:sldId id="304" r:id="rId38"/>
    <p:sldId id="305" r:id="rId39"/>
    <p:sldId id="306" r:id="rId40"/>
    <p:sldId id="307" r:id="rId41"/>
    <p:sldId id="308" r:id="rId42"/>
    <p:sldId id="309" r:id="rId43"/>
    <p:sldId id="310" r:id="rId44"/>
    <p:sldId id="312" r:id="rId45"/>
    <p:sldId id="313" r:id="rId46"/>
    <p:sldId id="314" r:id="rId47"/>
    <p:sldId id="315" r:id="rId48"/>
    <p:sldId id="316" r:id="rId49"/>
    <p:sldId id="317" r:id="rId50"/>
    <p:sldId id="494" r:id="rId51"/>
    <p:sldId id="319" r:id="rId52"/>
    <p:sldId id="320" r:id="rId53"/>
    <p:sldId id="321" r:id="rId54"/>
    <p:sldId id="322" r:id="rId55"/>
    <p:sldId id="471" r:id="rId56"/>
    <p:sldId id="323" r:id="rId57"/>
    <p:sldId id="500" r:id="rId58"/>
    <p:sldId id="324" r:id="rId59"/>
    <p:sldId id="325" r:id="rId60"/>
    <p:sldId id="326" r:id="rId61"/>
    <p:sldId id="327" r:id="rId62"/>
    <p:sldId id="328" r:id="rId63"/>
    <p:sldId id="329" r:id="rId64"/>
    <p:sldId id="330" r:id="rId65"/>
    <p:sldId id="331" r:id="rId66"/>
    <p:sldId id="332" r:id="rId67"/>
    <p:sldId id="333" r:id="rId68"/>
    <p:sldId id="334" r:id="rId69"/>
    <p:sldId id="501" r:id="rId70"/>
    <p:sldId id="502" r:id="rId71"/>
    <p:sldId id="335" r:id="rId72"/>
    <p:sldId id="336" r:id="rId73"/>
    <p:sldId id="337" r:id="rId74"/>
    <p:sldId id="338" r:id="rId75"/>
    <p:sldId id="345" r:id="rId76"/>
    <p:sldId id="346" r:id="rId77"/>
    <p:sldId id="347" r:id="rId78"/>
    <p:sldId id="343" r:id="rId79"/>
    <p:sldId id="349" r:id="rId80"/>
    <p:sldId id="498" r:id="rId81"/>
    <p:sldId id="348" r:id="rId82"/>
    <p:sldId id="350" r:id="rId83"/>
    <p:sldId id="351" r:id="rId84"/>
    <p:sldId id="352" r:id="rId85"/>
    <p:sldId id="353" r:id="rId86"/>
    <p:sldId id="354" r:id="rId87"/>
    <p:sldId id="355" r:id="rId88"/>
    <p:sldId id="356" r:id="rId89"/>
    <p:sldId id="357" r:id="rId90"/>
    <p:sldId id="358" r:id="rId91"/>
    <p:sldId id="302" r:id="rId92"/>
    <p:sldId id="359" r:id="rId93"/>
    <p:sldId id="362" r:id="rId94"/>
    <p:sldId id="360" r:id="rId95"/>
    <p:sldId id="361" r:id="rId96"/>
    <p:sldId id="365" r:id="rId97"/>
    <p:sldId id="367" r:id="rId98"/>
    <p:sldId id="368" r:id="rId99"/>
    <p:sldId id="363" r:id="rId100"/>
    <p:sldId id="369" r:id="rId101"/>
    <p:sldId id="370" r:id="rId102"/>
    <p:sldId id="371" r:id="rId103"/>
    <p:sldId id="372" r:id="rId104"/>
    <p:sldId id="373" r:id="rId105"/>
    <p:sldId id="375" r:id="rId106"/>
    <p:sldId id="507" r:id="rId107"/>
    <p:sldId id="376" r:id="rId108"/>
    <p:sldId id="377" r:id="rId109"/>
    <p:sldId id="378" r:id="rId110"/>
    <p:sldId id="381" r:id="rId111"/>
    <p:sldId id="383" r:id="rId112"/>
    <p:sldId id="379" r:id="rId113"/>
    <p:sldId id="508" r:id="rId114"/>
    <p:sldId id="384" r:id="rId115"/>
    <p:sldId id="385" r:id="rId116"/>
    <p:sldId id="386" r:id="rId117"/>
    <p:sldId id="387" r:id="rId118"/>
    <p:sldId id="388" r:id="rId119"/>
    <p:sldId id="390" r:id="rId120"/>
    <p:sldId id="391" r:id="rId121"/>
    <p:sldId id="389" r:id="rId122"/>
    <p:sldId id="392" r:id="rId123"/>
    <p:sldId id="393" r:id="rId124"/>
    <p:sldId id="394" r:id="rId125"/>
    <p:sldId id="395" r:id="rId126"/>
    <p:sldId id="396" r:id="rId127"/>
    <p:sldId id="397" r:id="rId128"/>
    <p:sldId id="398" r:id="rId129"/>
    <p:sldId id="505" r:id="rId130"/>
    <p:sldId id="511" r:id="rId131"/>
    <p:sldId id="506" r:id="rId132"/>
    <p:sldId id="399" r:id="rId133"/>
    <p:sldId id="400" r:id="rId134"/>
    <p:sldId id="401" r:id="rId135"/>
    <p:sldId id="402" r:id="rId136"/>
    <p:sldId id="403" r:id="rId137"/>
    <p:sldId id="504" r:id="rId138"/>
    <p:sldId id="406" r:id="rId139"/>
    <p:sldId id="407" r:id="rId140"/>
    <p:sldId id="410" r:id="rId141"/>
    <p:sldId id="411" r:id="rId142"/>
    <p:sldId id="412" r:id="rId143"/>
    <p:sldId id="413" r:id="rId144"/>
    <p:sldId id="414" r:id="rId145"/>
    <p:sldId id="416" r:id="rId146"/>
    <p:sldId id="417" r:id="rId147"/>
    <p:sldId id="418" r:id="rId148"/>
    <p:sldId id="419" r:id="rId149"/>
    <p:sldId id="420" r:id="rId150"/>
    <p:sldId id="421" r:id="rId151"/>
    <p:sldId id="422" r:id="rId152"/>
    <p:sldId id="495" r:id="rId153"/>
    <p:sldId id="424" r:id="rId154"/>
    <p:sldId id="425" r:id="rId155"/>
    <p:sldId id="426" r:id="rId156"/>
    <p:sldId id="427" r:id="rId157"/>
    <p:sldId id="428" r:id="rId158"/>
    <p:sldId id="429" r:id="rId159"/>
    <p:sldId id="430" r:id="rId160"/>
    <p:sldId id="431" r:id="rId161"/>
    <p:sldId id="432" r:id="rId162"/>
    <p:sldId id="433" r:id="rId163"/>
    <p:sldId id="470" r:id="rId164"/>
    <p:sldId id="434" r:id="rId165"/>
    <p:sldId id="435" r:id="rId166"/>
    <p:sldId id="440" r:id="rId167"/>
    <p:sldId id="438" r:id="rId168"/>
    <p:sldId id="436" r:id="rId169"/>
    <p:sldId id="437" r:id="rId170"/>
    <p:sldId id="439" r:id="rId171"/>
    <p:sldId id="441" r:id="rId172"/>
    <p:sldId id="442" r:id="rId173"/>
    <p:sldId id="493" r:id="rId174"/>
    <p:sldId id="443" r:id="rId175"/>
    <p:sldId id="444" r:id="rId176"/>
    <p:sldId id="445" r:id="rId177"/>
    <p:sldId id="446" r:id="rId178"/>
    <p:sldId id="447" r:id="rId179"/>
    <p:sldId id="449" r:id="rId180"/>
    <p:sldId id="450" r:id="rId181"/>
    <p:sldId id="451" r:id="rId182"/>
    <p:sldId id="452" r:id="rId183"/>
    <p:sldId id="453" r:id="rId184"/>
    <p:sldId id="454" r:id="rId185"/>
    <p:sldId id="455" r:id="rId186"/>
    <p:sldId id="456" r:id="rId187"/>
    <p:sldId id="457" r:id="rId188"/>
    <p:sldId id="458" r:id="rId189"/>
    <p:sldId id="459" r:id="rId190"/>
    <p:sldId id="460" r:id="rId191"/>
    <p:sldId id="496" r:id="rId192"/>
    <p:sldId id="462" r:id="rId193"/>
    <p:sldId id="463" r:id="rId194"/>
    <p:sldId id="276" r:id="rId195"/>
    <p:sldId id="497" r:id="rId196"/>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FF"/>
    <a:srgbClr val="008000"/>
    <a:srgbClr val="600000"/>
    <a:srgbClr val="000099"/>
    <a:srgbClr val="F8F8F8"/>
    <a:srgbClr val="99CCFF"/>
    <a:srgbClr val="3399FF"/>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5264" autoAdjust="0"/>
  </p:normalViewPr>
  <p:slideViewPr>
    <p:cSldViewPr>
      <p:cViewPr varScale="1">
        <p:scale>
          <a:sx n="54" d="100"/>
          <a:sy n="54" d="100"/>
        </p:scale>
        <p:origin x="996" y="78"/>
      </p:cViewPr>
      <p:guideLst>
        <p:guide orient="horz" pos="2160"/>
        <p:guide pos="2880"/>
      </p:guideLst>
    </p:cSldViewPr>
  </p:slideViewPr>
  <p:notesTextViewPr>
    <p:cViewPr>
      <p:scale>
        <a:sx n="100" d="100"/>
        <a:sy n="100" d="100"/>
      </p:scale>
      <p:origin x="0" y="0"/>
    </p:cViewPr>
  </p:notesTextViewPr>
  <p:notesViewPr>
    <p:cSldViewPr>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190" Type="http://schemas.openxmlformats.org/officeDocument/2006/relationships/slide" Target="slides/slide189.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viewProps" Target="viewProps.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notesMaster" Target="notesMasters/notesMaster1.xml"/><Relationship Id="rId201" Type="http://schemas.openxmlformats.org/officeDocument/2006/relationships/theme" Target="theme/theme1.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handoutMaster" Target="handoutMasters/handoutMaster1.xml"/><Relationship Id="rId202" Type="http://schemas.openxmlformats.org/officeDocument/2006/relationships/tableStyles" Target="tableStyles.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8.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defRPr>
            </a:lvl1pPr>
          </a:lstStyle>
          <a:p>
            <a:pPr>
              <a:defRPr/>
            </a:pPr>
            <a:fld id="{5A4EC9AE-754B-49FD-BA16-B62493B54AAE}" type="datetimeFigureOut">
              <a:rPr lang="zh-CN" altLang="en-US"/>
              <a:t>2023/10/16</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defRPr>
            </a:lvl1pPr>
          </a:lstStyle>
          <a:p>
            <a:pPr>
              <a:defRPr/>
            </a:pPr>
            <a:fld id="{D4895103-49AF-4E9F-8FAA-AC2C9A984A0F}" type="slidenum">
              <a:rPr lang="zh-CN" altLang="en-US"/>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defRPr>
            </a:lvl1pPr>
          </a:lstStyle>
          <a:p>
            <a:pPr>
              <a:defRPr/>
            </a:pPr>
            <a:fld id="{A8BD7D17-9F94-433F-85A9-A167373EBE7A}" type="datetimeFigureOut">
              <a:rPr lang="zh-CN" altLang="en-US"/>
              <a:t>2023/10/16</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defRPr>
            </a:lvl1pPr>
          </a:lstStyle>
          <a:p>
            <a:pPr>
              <a:defRPr/>
            </a:pPr>
            <a:fld id="{37F5F534-2C7B-4B3E-AB7E-5181B2239891}" type="slidenum">
              <a:rPr lang="zh-CN" altLang="en-US"/>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幻灯片图像占位符 1"/>
          <p:cNvSpPr>
            <a:spLocks noGrp="1" noRot="1" noChangeAspect="1" noTextEdit="1"/>
          </p:cNvSpPr>
          <p:nvPr>
            <p:ph type="sldImg"/>
          </p:nvPr>
        </p:nvSpPr>
        <p:spPr bwMode="auto">
          <a:noFill/>
          <a:ln>
            <a:solidFill>
              <a:srgbClr val="000000"/>
            </a:solidFill>
            <a:miter lim="800000"/>
          </a:ln>
        </p:spPr>
      </p:sp>
      <p:sp>
        <p:nvSpPr>
          <p:cNvPr id="33795" name="备注占位符 2"/>
          <p:cNvSpPr>
            <a:spLocks noGrp="1"/>
          </p:cNvSpPr>
          <p:nvPr>
            <p:ph type="body" idx="1"/>
          </p:nvPr>
        </p:nvSpPr>
        <p:spPr bwMode="auto">
          <a:noFill/>
        </p:spPr>
        <p:txBody>
          <a:bodyPr wrap="square" numCol="1" anchor="t" anchorCtr="0" compatLnSpc="1"/>
          <a:lstStyle/>
          <a:p>
            <a:endParaRPr lang="zh-CN" altLang="en-US" dirty="0"/>
          </a:p>
        </p:txBody>
      </p:sp>
      <p:sp>
        <p:nvSpPr>
          <p:cNvPr id="4" name="灯片编号占位符 3"/>
          <p:cNvSpPr>
            <a:spLocks noGrp="1"/>
          </p:cNvSpPr>
          <p:nvPr>
            <p:ph type="sldNum" sz="quarter" idx="5"/>
          </p:nvPr>
        </p:nvSpPr>
        <p:spPr/>
        <p:txBody>
          <a:bodyPr/>
          <a:lstStyle/>
          <a:p>
            <a:pPr>
              <a:defRPr/>
            </a:pPr>
            <a:fld id="{0A6A8501-8938-4B94-BC5C-55C939656245}"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t>5</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t>15</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t>16</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t>21</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t>22</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93FFBDA9-6F94-4550-B2FD-976E3821A722}" type="slidenum">
              <a:rPr lang="en-US" altLang="zh-CN"/>
              <a:t>23</a:t>
            </a:fld>
            <a:endParaRPr lang="en-US" altLang="zh-CN"/>
          </a:p>
        </p:txBody>
      </p:sp>
      <p:sp>
        <p:nvSpPr>
          <p:cNvPr id="24579" name="Rectangle 2"/>
          <p:cNvSpPr>
            <a:spLocks noGrp="1" noRot="1" noChangeAspect="1" noChangeArrowheads="1" noTextEdit="1"/>
          </p:cNvSpPr>
          <p:nvPr>
            <p:ph type="sldImg"/>
          </p:nvPr>
        </p:nvSpPr>
        <p:spPr>
          <a:solidFill>
            <a:srgbClr val="FFFFFF"/>
          </a:solidFill>
        </p:spPr>
      </p:sp>
      <p:sp>
        <p:nvSpPr>
          <p:cNvPr id="24580"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zh-CN" altLang="zh-CN" dirty="0">
              <a:ea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DFA66B86-B411-4662-8700-B3A859FDAE3D}" type="slidenum">
              <a:rPr lang="en-US" altLang="zh-CN"/>
              <a:t>26</a:t>
            </a:fld>
            <a:endParaRPr lang="en-US" altLang="zh-CN"/>
          </a:p>
        </p:txBody>
      </p:sp>
      <p:sp>
        <p:nvSpPr>
          <p:cNvPr id="28675" name="Rectangle 2"/>
          <p:cNvSpPr>
            <a:spLocks noGrp="1" noRot="1" noChangeAspect="1" noChangeArrowheads="1" noTextEdit="1"/>
          </p:cNvSpPr>
          <p:nvPr>
            <p:ph type="sldImg"/>
          </p:nvPr>
        </p:nvSpPr>
        <p:spPr/>
      </p:sp>
      <p:sp>
        <p:nvSpPr>
          <p:cNvPr id="2867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16FD3C5B-E6F2-47F4-80C9-975C6EBE3DCA}" type="slidenum">
              <a:rPr lang="en-US" altLang="zh-CN"/>
              <a:t>27</a:t>
            </a:fld>
            <a:endParaRPr lang="en-US" altLang="zh-CN"/>
          </a:p>
        </p:txBody>
      </p:sp>
      <p:sp>
        <p:nvSpPr>
          <p:cNvPr id="30723" name="Rectangle 2"/>
          <p:cNvSpPr>
            <a:spLocks noGrp="1" noRot="1" noChangeAspect="1" noChangeArrowheads="1" noTextEdit="1"/>
          </p:cNvSpPr>
          <p:nvPr>
            <p:ph type="sldImg"/>
          </p:nvPr>
        </p:nvSpPr>
        <p:spPr/>
      </p:sp>
      <p:sp>
        <p:nvSpPr>
          <p:cNvPr id="3072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400CF435-1773-485F-84AA-6FD28FA5CD40}" type="slidenum">
              <a:rPr lang="en-US" altLang="zh-CN"/>
              <a:t>28</a:t>
            </a:fld>
            <a:endParaRPr lang="en-US" altLang="zh-CN"/>
          </a:p>
        </p:txBody>
      </p:sp>
      <p:sp>
        <p:nvSpPr>
          <p:cNvPr id="32771" name="Rectangle 2"/>
          <p:cNvSpPr>
            <a:spLocks noGrp="1" noRot="1" noChangeAspect="1" noChangeArrowheads="1" noTextEdit="1"/>
          </p:cNvSpPr>
          <p:nvPr>
            <p:ph type="sldImg"/>
          </p:nvPr>
        </p:nvSpPr>
        <p:spPr/>
      </p:sp>
      <p:sp>
        <p:nvSpPr>
          <p:cNvPr id="3277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F576D3C3-3361-484B-A02C-97D528AF28C5}" type="slidenum">
              <a:rPr lang="en-US" altLang="zh-CN"/>
              <a:t>29</a:t>
            </a:fld>
            <a:endParaRPr lang="en-US" altLang="zh-CN"/>
          </a:p>
        </p:txBody>
      </p:sp>
      <p:sp>
        <p:nvSpPr>
          <p:cNvPr id="34819" name="Rectangle 2"/>
          <p:cNvSpPr>
            <a:spLocks noGrp="1" noRot="1" noChangeAspect="1" noChangeArrowheads="1" noTextEdit="1"/>
          </p:cNvSpPr>
          <p:nvPr>
            <p:ph type="sldImg"/>
          </p:nvPr>
        </p:nvSpPr>
        <p:spPr/>
      </p:sp>
      <p:sp>
        <p:nvSpPr>
          <p:cNvPr id="3482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73631FE7-3C12-40D6-A27B-49AD4F722C05}" type="slidenum">
              <a:rPr lang="en-US" altLang="zh-CN"/>
              <a:t>30</a:t>
            </a:fld>
            <a:endParaRPr lang="en-US" altLang="zh-CN"/>
          </a:p>
        </p:txBody>
      </p:sp>
      <p:sp>
        <p:nvSpPr>
          <p:cNvPr id="38915" name="Rectangle 2"/>
          <p:cNvSpPr>
            <a:spLocks noGrp="1" noRot="1" noChangeAspect="1" noChangeArrowheads="1" noTextEdit="1"/>
          </p:cNvSpPr>
          <p:nvPr>
            <p:ph type="sldImg"/>
          </p:nvPr>
        </p:nvSpPr>
        <p:spPr/>
      </p:sp>
      <p:sp>
        <p:nvSpPr>
          <p:cNvPr id="3891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B77A4BA9-8687-4CE5-9E31-4B7C2D2C628A}" type="slidenum">
              <a:rPr lang="en-US" altLang="zh-CN"/>
              <a:t>31</a:t>
            </a:fld>
            <a:endParaRPr lang="en-US" altLang="zh-CN"/>
          </a:p>
        </p:txBody>
      </p:sp>
      <p:sp>
        <p:nvSpPr>
          <p:cNvPr id="40963" name="Rectangle 2"/>
          <p:cNvSpPr>
            <a:spLocks noGrp="1" noRot="1" noChangeAspect="1" noChangeArrowheads="1" noTextEdit="1"/>
          </p:cNvSpPr>
          <p:nvPr>
            <p:ph type="sldImg"/>
          </p:nvPr>
        </p:nvSpPr>
        <p:spPr/>
      </p:sp>
      <p:sp>
        <p:nvSpPr>
          <p:cNvPr id="409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C544DDD9-6860-48F7-AB39-2E562449B5AC}" type="slidenum">
              <a:rPr lang="en-US" altLang="zh-CN"/>
              <a:t>32</a:t>
            </a:fld>
            <a:endParaRPr lang="en-US" altLang="zh-CN"/>
          </a:p>
        </p:txBody>
      </p:sp>
      <p:sp>
        <p:nvSpPr>
          <p:cNvPr id="43011" name="Rectangle 2"/>
          <p:cNvSpPr>
            <a:spLocks noGrp="1" noRot="1" noChangeAspect="1" noChangeArrowheads="1" noTextEdit="1"/>
          </p:cNvSpPr>
          <p:nvPr>
            <p:ph type="sldImg"/>
          </p:nvPr>
        </p:nvSpPr>
        <p:spPr/>
      </p:sp>
      <p:sp>
        <p:nvSpPr>
          <p:cNvPr id="4301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9B45D7F1-E915-401F-AD5A-3EAADC8214A1}" type="slidenum">
              <a:rPr lang="en-US" altLang="zh-CN"/>
              <a:t>33</a:t>
            </a:fld>
            <a:endParaRPr lang="en-US" altLang="zh-CN"/>
          </a:p>
        </p:txBody>
      </p:sp>
      <p:sp>
        <p:nvSpPr>
          <p:cNvPr id="45059" name="Rectangle 2"/>
          <p:cNvSpPr>
            <a:spLocks noGrp="1" noRot="1" noChangeAspect="1" noChangeArrowheads="1" noTextEdit="1"/>
          </p:cNvSpPr>
          <p:nvPr>
            <p:ph type="sldImg"/>
          </p:nvPr>
        </p:nvSpPr>
        <p:spPr/>
      </p:sp>
      <p:sp>
        <p:nvSpPr>
          <p:cNvPr id="450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5FC0583D-2A7B-482E-AF71-4965D5869F3F}" type="slidenum">
              <a:rPr lang="en-US" altLang="zh-CN"/>
              <a:t>34</a:t>
            </a:fld>
            <a:endParaRPr lang="en-US" altLang="zh-CN"/>
          </a:p>
        </p:txBody>
      </p:sp>
      <p:sp>
        <p:nvSpPr>
          <p:cNvPr id="47107" name="Rectangle 2"/>
          <p:cNvSpPr>
            <a:spLocks noGrp="1" noRot="1" noChangeAspect="1" noChangeArrowheads="1" noTextEdit="1"/>
          </p:cNvSpPr>
          <p:nvPr>
            <p:ph type="sldImg"/>
          </p:nvPr>
        </p:nvSpPr>
        <p:spPr/>
      </p:sp>
      <p:sp>
        <p:nvSpPr>
          <p:cNvPr id="4710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9A54CF03-5A35-4D4B-9719-F00BEEC326E8}" type="slidenum">
              <a:rPr lang="en-US" altLang="zh-CN"/>
              <a:t>35</a:t>
            </a:fld>
            <a:endParaRPr lang="en-US" altLang="zh-CN"/>
          </a:p>
        </p:txBody>
      </p:sp>
      <p:sp>
        <p:nvSpPr>
          <p:cNvPr id="36867" name="Rectangle 2"/>
          <p:cNvSpPr>
            <a:spLocks noGrp="1" noRot="1" noChangeAspect="1" noChangeArrowheads="1" noTextEdit="1"/>
          </p:cNvSpPr>
          <p:nvPr>
            <p:ph type="sldImg"/>
          </p:nvPr>
        </p:nvSpPr>
        <p:spPr/>
      </p:sp>
      <p:sp>
        <p:nvSpPr>
          <p:cNvPr id="368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t>37</a:t>
            </a:fld>
            <a:endParaRPr lang="zh-CN" altLang="en-US"/>
          </a:p>
        </p:txBody>
      </p:sp>
    </p:spTree>
    <p:extLst>
      <p:ext uri="{BB962C8B-B14F-4D97-AF65-F5344CB8AC3E}">
        <p14:creationId xmlns:p14="http://schemas.microsoft.com/office/powerpoint/2010/main" val="814157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t>40</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9B45D7F1-E915-401F-AD5A-3EAADC8214A1}" type="slidenum">
              <a:rPr lang="en-US" altLang="zh-CN"/>
              <a:t>50</a:t>
            </a:fld>
            <a:endParaRPr lang="en-US" altLang="zh-CN"/>
          </a:p>
        </p:txBody>
      </p:sp>
      <p:sp>
        <p:nvSpPr>
          <p:cNvPr id="45059" name="Rectangle 2"/>
          <p:cNvSpPr>
            <a:spLocks noGrp="1" noRot="1" noChangeAspect="1" noChangeArrowheads="1" noTextEdit="1"/>
          </p:cNvSpPr>
          <p:nvPr>
            <p:ph type="sldImg"/>
          </p:nvPr>
        </p:nvSpPr>
        <p:spPr/>
      </p:sp>
      <p:sp>
        <p:nvSpPr>
          <p:cNvPr id="450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5D204E23-0F2F-4F58-8BA2-75ECF9021BD0}" type="slidenum">
              <a:rPr lang="en-US" altLang="zh-CN"/>
              <a:t>52</a:t>
            </a:fld>
            <a:endParaRPr lang="en-US" altLang="zh-CN"/>
          </a:p>
        </p:txBody>
      </p:sp>
      <p:sp>
        <p:nvSpPr>
          <p:cNvPr id="70659" name="Rectangle 2"/>
          <p:cNvSpPr>
            <a:spLocks noGrp="1" noRot="1" noChangeAspect="1" noChangeArrowheads="1" noTextEdit="1"/>
          </p:cNvSpPr>
          <p:nvPr>
            <p:ph type="sldImg"/>
          </p:nvPr>
        </p:nvSpPr>
        <p:spPr/>
      </p:sp>
      <p:sp>
        <p:nvSpPr>
          <p:cNvPr id="706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t>54</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t>57</a:t>
            </a:fld>
            <a:endParaRPr lang="zh-CN" altLang="en-US"/>
          </a:p>
        </p:txBody>
      </p:sp>
    </p:spTree>
    <p:extLst>
      <p:ext uri="{BB962C8B-B14F-4D97-AF65-F5344CB8AC3E}">
        <p14:creationId xmlns:p14="http://schemas.microsoft.com/office/powerpoint/2010/main" val="212862848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6DF66C53-A3BC-4D09-80AF-C978A157BBE2}" type="slidenum">
              <a:rPr lang="en-US" altLang="zh-CN"/>
              <a:t>58</a:t>
            </a:fld>
            <a:endParaRPr lang="en-US" altLang="zh-CN"/>
          </a:p>
        </p:txBody>
      </p:sp>
      <p:sp>
        <p:nvSpPr>
          <p:cNvPr id="75779" name="Rectangle 2"/>
          <p:cNvSpPr>
            <a:spLocks noGrp="1" noRot="1" noChangeAspect="1" noChangeArrowheads="1" noTextEdit="1"/>
          </p:cNvSpPr>
          <p:nvPr>
            <p:ph type="sldImg"/>
          </p:nvPr>
        </p:nvSpPr>
        <p:spPr/>
      </p:sp>
      <p:sp>
        <p:nvSpPr>
          <p:cNvPr id="7578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endParaRPr lang="zh-CN" altLang="zh-CN"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F88A1474-2379-4764-A44D-2D4BA69D43CB}" type="slidenum">
              <a:rPr lang="en-US" altLang="zh-CN"/>
              <a:t>59</a:t>
            </a:fld>
            <a:endParaRPr lang="en-US" altLang="zh-CN"/>
          </a:p>
        </p:txBody>
      </p:sp>
      <p:sp>
        <p:nvSpPr>
          <p:cNvPr id="77827" name="Rectangle 2"/>
          <p:cNvSpPr>
            <a:spLocks noGrp="1" noRot="1" noChangeAspect="1" noChangeArrowheads="1" noTextEdit="1"/>
          </p:cNvSpPr>
          <p:nvPr>
            <p:ph type="sldImg"/>
          </p:nvPr>
        </p:nvSpPr>
        <p:spPr/>
      </p:sp>
      <p:sp>
        <p:nvSpPr>
          <p:cNvPr id="7782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CA292594-1F84-4273-97E9-CDFC77A2334E}" type="slidenum">
              <a:rPr lang="en-US" altLang="zh-CN"/>
              <a:t>60</a:t>
            </a:fld>
            <a:endParaRPr lang="en-US" altLang="zh-CN"/>
          </a:p>
        </p:txBody>
      </p:sp>
      <p:sp>
        <p:nvSpPr>
          <p:cNvPr id="79875" name="Rectangle 2"/>
          <p:cNvSpPr>
            <a:spLocks noGrp="1" noRot="1" noChangeAspect="1" noChangeArrowheads="1" noTextEdit="1"/>
          </p:cNvSpPr>
          <p:nvPr>
            <p:ph type="sldImg"/>
          </p:nvPr>
        </p:nvSpPr>
        <p:spPr/>
      </p:sp>
      <p:sp>
        <p:nvSpPr>
          <p:cNvPr id="7987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ea typeface="宋体" panose="02010600030101010101" pitchFamily="2" charset="-122"/>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87967B42-D047-4448-B1AD-0A02E7A26260}" type="slidenum">
              <a:rPr lang="en-US" altLang="zh-CN"/>
              <a:t>61</a:t>
            </a:fld>
            <a:endParaRPr lang="en-US" altLang="zh-CN"/>
          </a:p>
        </p:txBody>
      </p:sp>
      <p:sp>
        <p:nvSpPr>
          <p:cNvPr id="81923" name="Rectangle 2"/>
          <p:cNvSpPr>
            <a:spLocks noGrp="1" noRot="1" noChangeAspect="1" noChangeArrowheads="1" noTextEdit="1"/>
          </p:cNvSpPr>
          <p:nvPr>
            <p:ph type="sldImg"/>
          </p:nvPr>
        </p:nvSpPr>
        <p:spPr/>
      </p:sp>
      <p:sp>
        <p:nvSpPr>
          <p:cNvPr id="8192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00213710-CFAC-4A9B-8E37-2F4F6AB8A5D1}" type="slidenum">
              <a:rPr lang="en-US" altLang="zh-CN"/>
              <a:t>62</a:t>
            </a:fld>
            <a:endParaRPr lang="en-US" altLang="zh-CN"/>
          </a:p>
        </p:txBody>
      </p:sp>
      <p:sp>
        <p:nvSpPr>
          <p:cNvPr id="83971" name="Rectangle 2"/>
          <p:cNvSpPr>
            <a:spLocks noGrp="1" noRot="1" noChangeAspect="1" noChangeArrowheads="1" noTextEdit="1"/>
          </p:cNvSpPr>
          <p:nvPr>
            <p:ph type="sldImg"/>
          </p:nvPr>
        </p:nvSpPr>
        <p:spPr/>
      </p:sp>
      <p:sp>
        <p:nvSpPr>
          <p:cNvPr id="8397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t>63</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t>64</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t>66</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CDADA807-E3F2-496D-A03D-7718FAAE03D9}" type="slidenum">
              <a:rPr lang="en-US" altLang="zh-CN"/>
              <a:t>67</a:t>
            </a:fld>
            <a:endParaRPr lang="en-US" altLang="zh-CN"/>
          </a:p>
        </p:txBody>
      </p:sp>
      <p:sp>
        <p:nvSpPr>
          <p:cNvPr id="90115" name="Rectangle 2"/>
          <p:cNvSpPr>
            <a:spLocks noGrp="1" noRot="1" noChangeAspect="1" noChangeArrowheads="1" noTextEdit="1"/>
          </p:cNvSpPr>
          <p:nvPr>
            <p:ph type="sldImg"/>
          </p:nvPr>
        </p:nvSpPr>
        <p:spPr/>
      </p:sp>
      <p:sp>
        <p:nvSpPr>
          <p:cNvPr id="9011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ea typeface="宋体" panose="02010600030101010101" pitchFamily="2" charset="-122"/>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t>68</a:t>
            </a:fld>
            <a:endParaRPr lang="zh-CN" altLang="en-US"/>
          </a:p>
        </p:txBody>
      </p:sp>
    </p:spTree>
    <p:extLst>
      <p:ext uri="{BB962C8B-B14F-4D97-AF65-F5344CB8AC3E}">
        <p14:creationId xmlns:p14="http://schemas.microsoft.com/office/powerpoint/2010/main" val="218327197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t>69</a:t>
            </a:fld>
            <a:endParaRPr lang="zh-CN" altLang="en-US"/>
          </a:p>
        </p:txBody>
      </p:sp>
    </p:spTree>
    <p:extLst>
      <p:ext uri="{BB962C8B-B14F-4D97-AF65-F5344CB8AC3E}">
        <p14:creationId xmlns:p14="http://schemas.microsoft.com/office/powerpoint/2010/main" val="39776551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t>70</a:t>
            </a:fld>
            <a:endParaRPr lang="zh-CN" altLang="en-US"/>
          </a:p>
        </p:txBody>
      </p:sp>
    </p:spTree>
    <p:extLst>
      <p:ext uri="{BB962C8B-B14F-4D97-AF65-F5344CB8AC3E}">
        <p14:creationId xmlns:p14="http://schemas.microsoft.com/office/powerpoint/2010/main" val="349730825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BB214801-9436-48DC-A6CE-C4B5510E7A9F}" type="slidenum">
              <a:rPr lang="en-US" altLang="zh-CN"/>
              <a:t>73</a:t>
            </a:fld>
            <a:endParaRPr lang="en-US" altLang="zh-CN"/>
          </a:p>
        </p:txBody>
      </p:sp>
      <p:sp>
        <p:nvSpPr>
          <p:cNvPr id="95235" name="Rectangle 2"/>
          <p:cNvSpPr>
            <a:spLocks noGrp="1" noRot="1" noChangeAspect="1" noChangeArrowheads="1" noTextEdit="1"/>
          </p:cNvSpPr>
          <p:nvPr>
            <p:ph type="sldImg"/>
          </p:nvPr>
        </p:nvSpPr>
        <p:spPr/>
      </p:sp>
      <p:sp>
        <p:nvSpPr>
          <p:cNvPr id="9523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ea typeface="宋体" panose="02010600030101010101" pitchFamily="2" charset="-122"/>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0650BD8C-2E0A-469B-97BE-DBB318D42790}" type="slidenum">
              <a:rPr lang="en-US" altLang="zh-CN"/>
              <a:t>74</a:t>
            </a:fld>
            <a:endParaRPr lang="en-US" altLang="zh-CN"/>
          </a:p>
        </p:txBody>
      </p:sp>
      <p:sp>
        <p:nvSpPr>
          <p:cNvPr id="97283" name="Rectangle 2"/>
          <p:cNvSpPr>
            <a:spLocks noGrp="1" noRot="1" noChangeAspect="1" noChangeArrowheads="1" noTextEdit="1"/>
          </p:cNvSpPr>
          <p:nvPr>
            <p:ph type="sldImg"/>
          </p:nvPr>
        </p:nvSpPr>
        <p:spPr/>
      </p:sp>
      <p:sp>
        <p:nvSpPr>
          <p:cNvPr id="9728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87F3EF2C-4A83-49EA-9EBD-727E43B59A2F}" type="slidenum">
              <a:rPr lang="en-US" altLang="zh-CN"/>
              <a:t>78</a:t>
            </a:fld>
            <a:endParaRPr lang="en-US" altLang="zh-CN"/>
          </a:p>
        </p:txBody>
      </p:sp>
      <p:sp>
        <p:nvSpPr>
          <p:cNvPr id="106499" name="Rectangle 2"/>
          <p:cNvSpPr>
            <a:spLocks noGrp="1" noRot="1" noChangeAspect="1" noChangeArrowheads="1" noTextEdit="1"/>
          </p:cNvSpPr>
          <p:nvPr>
            <p:ph type="sldImg"/>
          </p:nvPr>
        </p:nvSpPr>
        <p:spPr/>
      </p:sp>
      <p:sp>
        <p:nvSpPr>
          <p:cNvPr id="10650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0650BD8C-2E0A-469B-97BE-DBB318D42790}" type="slidenum">
              <a:rPr lang="en-US" altLang="zh-CN"/>
              <a:t>80</a:t>
            </a:fld>
            <a:endParaRPr lang="en-US" altLang="zh-CN"/>
          </a:p>
        </p:txBody>
      </p:sp>
      <p:sp>
        <p:nvSpPr>
          <p:cNvPr id="97283" name="Rectangle 2"/>
          <p:cNvSpPr>
            <a:spLocks noGrp="1" noRot="1" noChangeAspect="1" noChangeArrowheads="1" noTextEdit="1"/>
          </p:cNvSpPr>
          <p:nvPr>
            <p:ph type="sldImg"/>
          </p:nvPr>
        </p:nvSpPr>
        <p:spPr/>
      </p:sp>
      <p:sp>
        <p:nvSpPr>
          <p:cNvPr id="9728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89851493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t>84</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BFAE991E-FD99-4740-880D-AA9F62450F0F}" type="slidenum">
              <a:rPr lang="en-US" altLang="zh-CN"/>
              <a:t>85</a:t>
            </a:fld>
            <a:endParaRPr lang="en-US" altLang="zh-CN"/>
          </a:p>
        </p:txBody>
      </p:sp>
      <p:sp>
        <p:nvSpPr>
          <p:cNvPr id="118787" name="Rectangle 2"/>
          <p:cNvSpPr>
            <a:spLocks noGrp="1" noRot="1" noChangeAspect="1" noChangeArrowheads="1" noTextEdit="1"/>
          </p:cNvSpPr>
          <p:nvPr>
            <p:ph type="sldImg"/>
          </p:nvPr>
        </p:nvSpPr>
        <p:spPr/>
      </p:sp>
      <p:sp>
        <p:nvSpPr>
          <p:cNvPr id="11878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t>88</a:t>
            </a:fld>
            <a:endParaRPr lang="zh-CN" altLang="en-US"/>
          </a:p>
        </p:txBody>
      </p:sp>
    </p:spTree>
    <p:extLst>
      <p:ext uri="{BB962C8B-B14F-4D97-AF65-F5344CB8AC3E}">
        <p14:creationId xmlns:p14="http://schemas.microsoft.com/office/powerpoint/2010/main" val="292938205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77E9B81F-0839-4EF9-92FB-A4312B845534}" type="slidenum">
              <a:rPr lang="en-US" altLang="zh-CN"/>
              <a:t>89</a:t>
            </a:fld>
            <a:endParaRPr lang="en-US" altLang="zh-CN"/>
          </a:p>
        </p:txBody>
      </p:sp>
      <p:sp>
        <p:nvSpPr>
          <p:cNvPr id="123907" name="Rectangle 2"/>
          <p:cNvSpPr>
            <a:spLocks noGrp="1" noRot="1" noChangeAspect="1" noChangeArrowheads="1" noTextEdit="1"/>
          </p:cNvSpPr>
          <p:nvPr>
            <p:ph type="sldImg"/>
          </p:nvPr>
        </p:nvSpPr>
        <p:spPr/>
      </p:sp>
      <p:sp>
        <p:nvSpPr>
          <p:cNvPr id="12390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t>90</a:t>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726A79F7-E1FB-487B-92FB-AAA1A406951C}" type="slidenum">
              <a:rPr lang="en-US" altLang="zh-CN"/>
              <a:t>91</a:t>
            </a:fld>
            <a:endParaRPr lang="en-US" altLang="zh-CN"/>
          </a:p>
        </p:txBody>
      </p:sp>
      <p:sp>
        <p:nvSpPr>
          <p:cNvPr id="49155" name="Rectangle 2"/>
          <p:cNvSpPr>
            <a:spLocks noGrp="1" noRot="1" noChangeAspect="1" noChangeArrowheads="1" noTextEdit="1"/>
          </p:cNvSpPr>
          <p:nvPr>
            <p:ph type="sldImg"/>
          </p:nvPr>
        </p:nvSpPr>
        <p:spPr/>
      </p:sp>
      <p:sp>
        <p:nvSpPr>
          <p:cNvPr id="4915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F84217EE-5EBE-4089-B40B-9E8F2E30A10C}" type="slidenum">
              <a:rPr lang="en-US" altLang="zh-CN"/>
              <a:t>92</a:t>
            </a:fld>
            <a:endParaRPr lang="en-US" altLang="zh-CN"/>
          </a:p>
        </p:txBody>
      </p:sp>
      <p:sp>
        <p:nvSpPr>
          <p:cNvPr id="126979" name="Rectangle 2"/>
          <p:cNvSpPr>
            <a:spLocks noGrp="1" noRot="1" noChangeAspect="1" noChangeArrowheads="1" noTextEdit="1"/>
          </p:cNvSpPr>
          <p:nvPr>
            <p:ph type="sldImg"/>
          </p:nvPr>
        </p:nvSpPr>
        <p:spPr/>
      </p:sp>
      <p:sp>
        <p:nvSpPr>
          <p:cNvPr id="12698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t>93</a:t>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0424A2F6-466A-46F8-BCAC-5FFE5B4D9F02}" type="slidenum">
              <a:rPr lang="en-US" altLang="zh-CN"/>
              <a:t>94</a:t>
            </a:fld>
            <a:endParaRPr lang="en-US" altLang="zh-CN"/>
          </a:p>
        </p:txBody>
      </p:sp>
      <p:sp>
        <p:nvSpPr>
          <p:cNvPr id="129027" name="Rectangle 2"/>
          <p:cNvSpPr>
            <a:spLocks noGrp="1" noRot="1" noChangeAspect="1" noChangeArrowheads="1" noTextEdit="1"/>
          </p:cNvSpPr>
          <p:nvPr>
            <p:ph type="sldImg"/>
          </p:nvPr>
        </p:nvSpPr>
        <p:spPr/>
      </p:sp>
      <p:sp>
        <p:nvSpPr>
          <p:cNvPr id="12902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0104E90E-79D6-44DC-BA80-E470FDFC8BA1}" type="slidenum">
              <a:rPr lang="en-US" altLang="zh-CN"/>
              <a:t>95</a:t>
            </a:fld>
            <a:endParaRPr lang="en-US" altLang="zh-CN"/>
          </a:p>
        </p:txBody>
      </p:sp>
      <p:sp>
        <p:nvSpPr>
          <p:cNvPr id="131075" name="Rectangle 2"/>
          <p:cNvSpPr>
            <a:spLocks noGrp="1" noRot="1" noChangeAspect="1" noChangeArrowheads="1" noTextEdit="1"/>
          </p:cNvSpPr>
          <p:nvPr>
            <p:ph type="sldImg"/>
          </p:nvPr>
        </p:nvSpPr>
        <p:spPr/>
      </p:sp>
      <p:sp>
        <p:nvSpPr>
          <p:cNvPr id="13107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t>99</a:t>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51213D7D-501A-4C3F-B69E-A2C07E2F415E}" type="slidenum">
              <a:rPr lang="en-US" altLang="zh-CN"/>
              <a:t>100</a:t>
            </a:fld>
            <a:endParaRPr lang="en-US" altLang="zh-CN"/>
          </a:p>
        </p:txBody>
      </p:sp>
      <p:sp>
        <p:nvSpPr>
          <p:cNvPr id="142339" name="Rectangle 2"/>
          <p:cNvSpPr>
            <a:spLocks noGrp="1" noRot="1" noChangeAspect="1" noChangeArrowheads="1" noTextEdit="1"/>
          </p:cNvSpPr>
          <p:nvPr>
            <p:ph type="sldImg"/>
          </p:nvPr>
        </p:nvSpPr>
        <p:spPr/>
      </p:sp>
      <p:sp>
        <p:nvSpPr>
          <p:cNvPr id="14234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D1CECE33-DC34-4CCB-B79C-A3F7931F12AE}" type="slidenum">
              <a:rPr lang="en-US" altLang="zh-CN"/>
              <a:t>102</a:t>
            </a:fld>
            <a:endParaRPr lang="en-US" altLang="zh-CN"/>
          </a:p>
        </p:txBody>
      </p:sp>
      <p:sp>
        <p:nvSpPr>
          <p:cNvPr id="145411" name="Rectangle 2"/>
          <p:cNvSpPr>
            <a:spLocks noGrp="1" noRot="1" noChangeAspect="1" noChangeArrowheads="1" noTextEdit="1"/>
          </p:cNvSpPr>
          <p:nvPr>
            <p:ph type="sldImg"/>
          </p:nvPr>
        </p:nvSpPr>
        <p:spPr/>
      </p:sp>
      <p:sp>
        <p:nvSpPr>
          <p:cNvPr id="14541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ea typeface="宋体" panose="02010600030101010101" pitchFamily="2" charset="-122"/>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t>105</a:t>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t>107</a:t>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t>109</a:t>
            </a:fld>
            <a:endParaRPr lang="zh-CN" altLang="en-US"/>
          </a:p>
        </p:txBody>
      </p:sp>
    </p:spTree>
    <p:extLst>
      <p:ext uri="{BB962C8B-B14F-4D97-AF65-F5344CB8AC3E}">
        <p14:creationId xmlns:p14="http://schemas.microsoft.com/office/powerpoint/2010/main" val="414606958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t>110</a:t>
            </a:fld>
            <a:endParaRPr lang="zh-CN" altLang="en-US"/>
          </a:p>
        </p:txBody>
      </p:sp>
    </p:spTree>
    <p:extLst>
      <p:ext uri="{BB962C8B-B14F-4D97-AF65-F5344CB8AC3E}">
        <p14:creationId xmlns:p14="http://schemas.microsoft.com/office/powerpoint/2010/main" val="49136108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t>114</a:t>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t>115</a:t>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p:cNvSpPr>
            <a:spLocks noGrp="1" noRot="1" noChangeAspect="1" noChangeArrowheads="1" noTextEdit="1"/>
          </p:cNvSpPr>
          <p:nvPr>
            <p:ph type="sldImg"/>
          </p:nvPr>
        </p:nvSpPr>
        <p:spPr/>
      </p:sp>
      <p:sp>
        <p:nvSpPr>
          <p:cNvPr id="16486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宋体" panose="02010600030101010101" pitchFamily="2" charset="-122"/>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t>125</a:t>
            </a:fld>
            <a:endParaRPr lang="zh-CN" altLang="en-US"/>
          </a:p>
        </p:txBody>
      </p:sp>
    </p:spTree>
    <p:extLst>
      <p:ext uri="{BB962C8B-B14F-4D97-AF65-F5344CB8AC3E}">
        <p14:creationId xmlns:p14="http://schemas.microsoft.com/office/powerpoint/2010/main" val="209539560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t>127</a:t>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t>128</a:t>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t>131</a:t>
            </a:fld>
            <a:endParaRPr lang="zh-CN" altLang="en-US"/>
          </a:p>
        </p:txBody>
      </p:sp>
    </p:spTree>
    <p:extLst>
      <p:ext uri="{BB962C8B-B14F-4D97-AF65-F5344CB8AC3E}">
        <p14:creationId xmlns:p14="http://schemas.microsoft.com/office/powerpoint/2010/main" val="314029830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t>132</a:t>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t>134</a:t>
            </a:fld>
            <a:endParaRPr lang="zh-CN" altLang="en-US"/>
          </a:p>
        </p:txBody>
      </p:sp>
    </p:spTree>
    <p:extLst>
      <p:ext uri="{BB962C8B-B14F-4D97-AF65-F5344CB8AC3E}">
        <p14:creationId xmlns:p14="http://schemas.microsoft.com/office/powerpoint/2010/main" val="312139843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t>137</a:t>
            </a:fld>
            <a:endParaRPr lang="zh-CN" altLang="en-US"/>
          </a:p>
        </p:txBody>
      </p:sp>
    </p:spTree>
    <p:extLst>
      <p:ext uri="{BB962C8B-B14F-4D97-AF65-F5344CB8AC3E}">
        <p14:creationId xmlns:p14="http://schemas.microsoft.com/office/powerpoint/2010/main" val="268235433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t>138</a:t>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t>139</a:t>
            </a:fld>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BE90E1D1-94F7-4932-8D25-31E8B021EE32}" type="slidenum">
              <a:rPr lang="en-US" altLang="zh-CN"/>
              <a:t>140</a:t>
            </a:fld>
            <a:endParaRPr lang="en-US" altLang="zh-CN"/>
          </a:p>
        </p:txBody>
      </p:sp>
      <p:sp>
        <p:nvSpPr>
          <p:cNvPr id="188419" name="Rectangle 2"/>
          <p:cNvSpPr>
            <a:spLocks noGrp="1" noRot="1" noChangeAspect="1" noChangeArrowheads="1" noTextEdit="1"/>
          </p:cNvSpPr>
          <p:nvPr>
            <p:ph type="sldImg"/>
          </p:nvPr>
        </p:nvSpPr>
        <p:spPr/>
      </p:sp>
      <p:sp>
        <p:nvSpPr>
          <p:cNvPr id="18842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ea typeface="宋体" panose="02010600030101010101" pitchFamily="2" charset="-122"/>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9E85BE1E-8D7F-41DC-8CEE-D2447F5E0521}" type="slidenum">
              <a:rPr lang="en-US" altLang="zh-CN"/>
              <a:t>141</a:t>
            </a:fld>
            <a:endParaRPr lang="en-US" altLang="zh-CN"/>
          </a:p>
        </p:txBody>
      </p:sp>
      <p:sp>
        <p:nvSpPr>
          <p:cNvPr id="190467" name="Rectangle 2"/>
          <p:cNvSpPr>
            <a:spLocks noGrp="1" noRot="1" noChangeAspect="1" noChangeArrowheads="1" noTextEdit="1"/>
          </p:cNvSpPr>
          <p:nvPr>
            <p:ph type="sldImg"/>
          </p:nvPr>
        </p:nvSpPr>
        <p:spPr/>
      </p:sp>
      <p:sp>
        <p:nvSpPr>
          <p:cNvPr id="1904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ea typeface="宋体" panose="02010600030101010101" pitchFamily="2" charset="-122"/>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B25AD830-E5CD-47E6-B89C-62C79D3FA46B}" type="slidenum">
              <a:rPr lang="en-US" altLang="zh-CN"/>
              <a:t>142</a:t>
            </a:fld>
            <a:endParaRPr lang="en-US" altLang="zh-CN"/>
          </a:p>
        </p:txBody>
      </p:sp>
      <p:sp>
        <p:nvSpPr>
          <p:cNvPr id="192515" name="Rectangle 2"/>
          <p:cNvSpPr>
            <a:spLocks noGrp="1" noRot="1" noChangeAspect="1" noChangeArrowheads="1" noTextEdit="1"/>
          </p:cNvSpPr>
          <p:nvPr>
            <p:ph type="sldImg"/>
          </p:nvPr>
        </p:nvSpPr>
        <p:spPr/>
      </p:sp>
      <p:sp>
        <p:nvSpPr>
          <p:cNvPr id="19251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ea typeface="宋体" panose="02010600030101010101" pitchFamily="2" charset="-122"/>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BD7BE4E6-BC6C-46EC-AB70-7E79FE608DFE}" type="slidenum">
              <a:rPr lang="en-US" altLang="zh-CN"/>
              <a:t>143</a:t>
            </a:fld>
            <a:endParaRPr lang="en-US" altLang="zh-CN"/>
          </a:p>
        </p:txBody>
      </p:sp>
      <p:sp>
        <p:nvSpPr>
          <p:cNvPr id="194563" name="Rectangle 2"/>
          <p:cNvSpPr>
            <a:spLocks noGrp="1" noRot="1" noChangeAspect="1" noChangeArrowheads="1" noTextEdit="1"/>
          </p:cNvSpPr>
          <p:nvPr>
            <p:ph type="sldImg"/>
          </p:nvPr>
        </p:nvSpPr>
        <p:spPr/>
      </p:sp>
      <p:sp>
        <p:nvSpPr>
          <p:cNvPr id="1945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89C8D749-CBE0-4005-A4F3-A0267A6BD21E}" type="slidenum">
              <a:rPr lang="en-US" altLang="zh-CN"/>
              <a:t>144</a:t>
            </a:fld>
            <a:endParaRPr lang="en-US" altLang="zh-CN"/>
          </a:p>
        </p:txBody>
      </p:sp>
      <p:sp>
        <p:nvSpPr>
          <p:cNvPr id="196611" name="Rectangle 2"/>
          <p:cNvSpPr>
            <a:spLocks noGrp="1" noRot="1" noChangeAspect="1" noChangeArrowheads="1" noTextEdit="1"/>
          </p:cNvSpPr>
          <p:nvPr>
            <p:ph type="sldImg"/>
          </p:nvPr>
        </p:nvSpPr>
        <p:spPr/>
      </p:sp>
      <p:sp>
        <p:nvSpPr>
          <p:cNvPr id="19661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ea typeface="宋体" panose="02010600030101010101" pitchFamily="2" charset="-122"/>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35737A2B-5E3D-4605-A771-BE8AAE5B85ED}" type="slidenum">
              <a:rPr lang="en-US" altLang="zh-CN"/>
              <a:t>145</a:t>
            </a:fld>
            <a:endParaRPr lang="en-US" altLang="zh-CN"/>
          </a:p>
        </p:txBody>
      </p:sp>
      <p:sp>
        <p:nvSpPr>
          <p:cNvPr id="200707" name="Rectangle 2"/>
          <p:cNvSpPr>
            <a:spLocks noGrp="1" noRot="1" noChangeAspect="1" noChangeArrowheads="1" noTextEdit="1"/>
          </p:cNvSpPr>
          <p:nvPr>
            <p:ph type="sldImg"/>
          </p:nvPr>
        </p:nvSpPr>
        <p:spPr/>
      </p:sp>
      <p:sp>
        <p:nvSpPr>
          <p:cNvPr id="20070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ea typeface="宋体" panose="02010600030101010101" pitchFamily="2" charset="-122"/>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t>148</a:t>
            </a:fld>
            <a:endParaRPr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t>149</a:t>
            </a:fld>
            <a:endParaRPr lang="zh-CN"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t>150</a:t>
            </a:fld>
            <a:endParaRPr lang="zh-CN" alt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t>154</a:t>
            </a:fld>
            <a:endParaRPr lang="zh-CN" alt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t>155</a:t>
            </a:fld>
            <a:endParaRPr lang="zh-CN" alt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pt-BR" altLang="zh-CN"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t>157</a:t>
            </a:fld>
            <a:endParaRPr lang="zh-CN" alt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t>159</a:t>
            </a:fld>
            <a:endParaRPr lang="zh-CN" alt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t>162</a:t>
            </a:fld>
            <a:endParaRPr lang="zh-CN" alt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t>163</a:t>
            </a:fld>
            <a:endParaRPr lang="zh-CN" alt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t>164</a:t>
            </a:fld>
            <a:endParaRPr lang="zh-CN" alt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t>165</a:t>
            </a:fld>
            <a:endParaRPr lang="zh-CN" alt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t>166</a:t>
            </a:fld>
            <a:endParaRPr lang="zh-CN" altLang="en-US"/>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t>170</a:t>
            </a:fld>
            <a:endParaRPr lang="zh-CN" alt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t>172</a:t>
            </a:fld>
            <a:endParaRPr lang="zh-CN" altLang="en-US"/>
          </a:p>
        </p:txBody>
      </p:sp>
    </p:spTree>
    <p:extLst>
      <p:ext uri="{BB962C8B-B14F-4D97-AF65-F5344CB8AC3E}">
        <p14:creationId xmlns:p14="http://schemas.microsoft.com/office/powerpoint/2010/main" val="3291806305"/>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t>173</a:t>
            </a:fld>
            <a:endParaRPr lang="zh-CN" altLang="en-US"/>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t>175</a:t>
            </a:fld>
            <a:endParaRPr lang="zh-CN" altLang="en-US"/>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t>177</a:t>
            </a:fld>
            <a:endParaRPr lang="zh-CN" altLang="en-US"/>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t>178</a:t>
            </a:fld>
            <a:endParaRPr lang="zh-CN" altLang="en-US"/>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t>179</a:t>
            </a:fld>
            <a:endParaRPr lang="zh-CN" altLang="en-US"/>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t>180</a:t>
            </a:fld>
            <a:endParaRPr lang="zh-CN" altLang="en-US"/>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t>184</a:t>
            </a:fld>
            <a:endParaRPr lang="zh-CN" altLang="en-US"/>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7F5F534-2C7B-4B3E-AB7E-5181B2239891}" type="slidenum">
              <a:rPr lang="zh-CN" altLang="en-US" smtClean="0"/>
              <a:t>185</a:t>
            </a:fld>
            <a:endParaRPr lang="zh-CN" altLang="en-US"/>
          </a:p>
        </p:txBody>
      </p:sp>
    </p:spTree>
    <p:extLst>
      <p:ext uri="{BB962C8B-B14F-4D97-AF65-F5344CB8AC3E}">
        <p14:creationId xmlns:p14="http://schemas.microsoft.com/office/powerpoint/2010/main" val="1184611290"/>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t>187</a:t>
            </a:fld>
            <a:endParaRPr lang="zh-CN" altLang="en-US"/>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t>188</a:t>
            </a:fld>
            <a:endParaRPr lang="zh-CN" altLang="en-US"/>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7F5F534-2C7B-4B3E-AB7E-5181B2239891}" type="slidenum">
              <a:rPr lang="zh-CN" altLang="en-US" smtClean="0"/>
              <a:t>192</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4" name="Picture 1" descr="C:\Users\Administrator\AppData\Roaming\Tencent\Users\85060380\QQ\WinTemp\RichOle\3{JSB(G2RI2O{CFOGZRGH23.jpg"/>
          <p:cNvPicPr>
            <a:picLocks noChangeAspect="1" noChangeArrowheads="1"/>
          </p:cNvPicPr>
          <p:nvPr/>
        </p:nvPicPr>
        <p:blipFill rotWithShape="1">
          <a:blip r:embed="rId2" cstate="print"/>
          <a:srcRect r="78850"/>
          <a:stretch>
            <a:fillRect/>
          </a:stretch>
        </p:blipFill>
        <p:spPr bwMode="auto">
          <a:xfrm>
            <a:off x="1" y="44624"/>
            <a:ext cx="899591" cy="792088"/>
          </a:xfrm>
          <a:prstGeom prst="rect">
            <a:avLst/>
          </a:prstGeom>
          <a:noFill/>
          <a:ln w="9525">
            <a:noFill/>
            <a:miter lim="800000"/>
            <a:headEnd/>
            <a:tailEnd/>
          </a:ln>
        </p:spPr>
      </p:pic>
      <p:pic>
        <p:nvPicPr>
          <p:cNvPr id="6" name="Picture 2" descr="C:\Users\Administrator\AppData\Roaming\Tencent\Users\85060380\QQ\WinTemp\RichOle\J6JYNSSQRTOD2X}K2W`MNJ7.jpg"/>
          <p:cNvPicPr>
            <a:picLocks noChangeAspect="1" noChangeArrowheads="1"/>
          </p:cNvPicPr>
          <p:nvPr/>
        </p:nvPicPr>
        <p:blipFill>
          <a:blip r:embed="rId3" cstate="print"/>
          <a:srcRect/>
          <a:stretch>
            <a:fillRect/>
          </a:stretch>
        </p:blipFill>
        <p:spPr bwMode="auto">
          <a:xfrm>
            <a:off x="6764751" y="1"/>
            <a:ext cx="1191625" cy="740094"/>
          </a:xfrm>
          <a:prstGeom prst="rect">
            <a:avLst/>
          </a:prstGeom>
          <a:noFill/>
          <a:ln w="9525">
            <a:noFill/>
            <a:miter lim="800000"/>
            <a:headEnd/>
            <a:tailEnd/>
          </a:ln>
        </p:spPr>
      </p:pic>
      <p:pic>
        <p:nvPicPr>
          <p:cNvPr id="7" name="Picture 3" descr="C:\Users\Administrator\AppData\Roaming\Tencent\Users\85060380\QQ\WinTemp\RichOle\GD$GN72[756M7J@}Q112F3M.jpg"/>
          <p:cNvPicPr>
            <a:picLocks noChangeAspect="1" noChangeArrowheads="1"/>
          </p:cNvPicPr>
          <p:nvPr/>
        </p:nvPicPr>
        <p:blipFill>
          <a:blip r:embed="rId4" cstate="print"/>
          <a:srcRect/>
          <a:stretch>
            <a:fillRect/>
          </a:stretch>
        </p:blipFill>
        <p:spPr bwMode="auto">
          <a:xfrm>
            <a:off x="7956376" y="1"/>
            <a:ext cx="1191625" cy="740094"/>
          </a:xfrm>
          <a:prstGeom prst="rect">
            <a:avLst/>
          </a:prstGeom>
          <a:noFill/>
          <a:ln w="9525">
            <a:noFill/>
            <a:miter lim="800000"/>
            <a:headEnd/>
            <a:tailEnd/>
          </a:ln>
        </p:spPr>
      </p:pic>
      <p:pic>
        <p:nvPicPr>
          <p:cNvPr id="8" name="Picture 4" descr="C:\Users\Administrator\AppData\Roaming\Tencent\Users\85060380\QQ\WinTemp\RichOle\{SL304[_K`X~M@`NNZQS~XD.jpg"/>
          <p:cNvPicPr>
            <a:picLocks noChangeAspect="1" noChangeArrowheads="1"/>
          </p:cNvPicPr>
          <p:nvPr/>
        </p:nvPicPr>
        <p:blipFill>
          <a:blip r:embed="rId5" cstate="print"/>
          <a:srcRect/>
          <a:stretch>
            <a:fillRect/>
          </a:stretch>
        </p:blipFill>
        <p:spPr bwMode="auto">
          <a:xfrm>
            <a:off x="4427984" y="0"/>
            <a:ext cx="2350885" cy="740094"/>
          </a:xfrm>
          <a:prstGeom prst="rect">
            <a:avLst/>
          </a:prstGeom>
          <a:noFill/>
          <a:ln w="9525">
            <a:noFill/>
            <a:miter lim="800000"/>
            <a:headEnd/>
            <a:tailEnd/>
          </a:ln>
        </p:spPr>
      </p:pic>
      <p:sp>
        <p:nvSpPr>
          <p:cNvPr id="2" name="标题 1"/>
          <p:cNvSpPr>
            <a:spLocks noGrp="1"/>
          </p:cNvSpPr>
          <p:nvPr>
            <p:ph type="ctrTitle"/>
          </p:nvPr>
        </p:nvSpPr>
        <p:spPr>
          <a:xfrm>
            <a:off x="685800" y="2130425"/>
            <a:ext cx="7772400" cy="1470025"/>
          </a:xfrm>
          <a:prstGeom prst="rect">
            <a:avLst/>
          </a:prstGeom>
        </p:spPr>
        <p:txBody>
          <a:bodyPr/>
          <a:lstStyle>
            <a:lvl1pPr>
              <a:defRPr/>
            </a:lvl1pPr>
          </a:lstStyle>
          <a:p>
            <a:r>
              <a:rPr lang="zh-CN" altLang="en-US" dirty="0"/>
              <a:t>单击此处编辑母版标题样式</a:t>
            </a:r>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9" name="日期占位符 3"/>
          <p:cNvSpPr>
            <a:spLocks noGrp="1"/>
          </p:cNvSpPr>
          <p:nvPr>
            <p:ph type="dt" sz="half" idx="10"/>
          </p:nvPr>
        </p:nvSpPr>
        <p:spPr/>
        <p:txBody>
          <a:bodyPr/>
          <a:lstStyle>
            <a:lvl1pPr>
              <a:defRPr/>
            </a:lvl1pPr>
          </a:lstStyle>
          <a:p>
            <a:pPr>
              <a:defRPr/>
            </a:pPr>
            <a:fld id="{3169F77C-FFE2-4793-9207-02588634C718}" type="datetimeFigureOut">
              <a:rPr lang="zh-CN" altLang="en-US"/>
              <a:t>2023/10/16</a:t>
            </a:fld>
            <a:endParaRPr lang="zh-CN" altLang="en-US"/>
          </a:p>
        </p:txBody>
      </p:sp>
      <p:sp>
        <p:nvSpPr>
          <p:cNvPr id="10" name="页脚占位符 4"/>
          <p:cNvSpPr>
            <a:spLocks noGrp="1"/>
          </p:cNvSpPr>
          <p:nvPr>
            <p:ph type="ftr" sz="quarter" idx="11"/>
          </p:nvPr>
        </p:nvSpPr>
        <p:spPr/>
        <p:txBody>
          <a:bodyPr/>
          <a:lstStyle>
            <a:lvl1pPr>
              <a:defRPr/>
            </a:lvl1pPr>
          </a:lstStyle>
          <a:p>
            <a:pPr>
              <a:defRPr/>
            </a:pPr>
            <a:endParaRPr lang="zh-CN" altLang="en-US"/>
          </a:p>
        </p:txBody>
      </p:sp>
      <p:sp>
        <p:nvSpPr>
          <p:cNvPr id="11" name="灯片编号占位符 5"/>
          <p:cNvSpPr>
            <a:spLocks noGrp="1"/>
          </p:cNvSpPr>
          <p:nvPr>
            <p:ph type="sldNum" sz="quarter" idx="12"/>
          </p:nvPr>
        </p:nvSpPr>
        <p:spPr/>
        <p:txBody>
          <a:bodyPr/>
          <a:lstStyle>
            <a:lvl1pPr>
              <a:defRPr/>
            </a:lvl1pPr>
          </a:lstStyle>
          <a:p>
            <a:pPr>
              <a:defRPr/>
            </a:pPr>
            <a:fld id="{CDC8E333-6AB3-4FDA-8E97-ACA84AEA881D}" type="slidenum">
              <a:rPr lang="zh-CN" altLang="en-US"/>
              <a:t>‹#›</a:t>
            </a:fld>
            <a:endParaRPr lang="zh-CN" altLang="en-US"/>
          </a:p>
        </p:txBody>
      </p:sp>
      <p:pic>
        <p:nvPicPr>
          <p:cNvPr id="13" name="图片 12"/>
          <p:cNvPicPr>
            <a:picLocks noChangeAspect="1"/>
          </p:cNvPicPr>
          <p:nvPr userDrawn="1"/>
        </p:nvPicPr>
        <p:blipFill rotWithShape="1">
          <a:blip r:embed="rId6" cstate="print"/>
          <a:srcRect l="32675" t="11636" r="34167" b="75247"/>
          <a:stretch>
            <a:fillRect/>
          </a:stretch>
        </p:blipFill>
        <p:spPr>
          <a:xfrm>
            <a:off x="971600" y="259870"/>
            <a:ext cx="2592288" cy="576842"/>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6" name="Picture 2" descr="C:\Users\Administrator\Desktop\44.jpg"/>
          <p:cNvPicPr>
            <a:picLocks noChangeAspect="1" noChangeArrowheads="1"/>
          </p:cNvPicPr>
          <p:nvPr/>
        </p:nvPicPr>
        <p:blipFill>
          <a:blip r:embed="rId2" cstate="print"/>
          <a:srcRect/>
          <a:stretch>
            <a:fillRect/>
          </a:stretch>
        </p:blipFill>
        <p:spPr bwMode="auto">
          <a:xfrm>
            <a:off x="7429500" y="5948363"/>
            <a:ext cx="1714500" cy="909637"/>
          </a:xfrm>
          <a:prstGeom prst="rect">
            <a:avLst/>
          </a:prstGeom>
          <a:noFill/>
          <a:ln w="9525">
            <a:noFill/>
            <a:miter lim="800000"/>
            <a:headEnd/>
            <a:tailEnd/>
          </a:ln>
        </p:spPr>
      </p:pic>
      <p:sp>
        <p:nvSpPr>
          <p:cNvPr id="7" name="日期占位符 3"/>
          <p:cNvSpPr>
            <a:spLocks noGrp="1"/>
          </p:cNvSpPr>
          <p:nvPr>
            <p:ph type="dt" sz="half" idx="10"/>
          </p:nvPr>
        </p:nvSpPr>
        <p:spPr/>
        <p:txBody>
          <a:bodyPr/>
          <a:lstStyle>
            <a:lvl1pPr>
              <a:defRPr/>
            </a:lvl1pPr>
          </a:lstStyle>
          <a:p>
            <a:pPr>
              <a:defRPr/>
            </a:pPr>
            <a:fld id="{B91F3533-4646-4892-B1D3-08067A86ACDD}" type="datetimeFigureOut">
              <a:rPr lang="zh-CN" altLang="en-US"/>
              <a:t>2023/10/16</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F36D17FC-20E3-4805-979B-A7677B8B4C05}" type="slidenum">
              <a:rPr lang="zh-CN" altLang="en-US"/>
              <a:t>‹#›</a:t>
            </a:fld>
            <a:endParaRPr lang="zh-CN" altLang="en-US"/>
          </a:p>
        </p:txBody>
      </p:sp>
      <p:pic>
        <p:nvPicPr>
          <p:cNvPr id="10" name="Picture 1" descr="C:\Users\Administrator\AppData\Roaming\Tencent\Users\85060380\QQ\WinTemp\RichOle\3{JSB(G2RI2O{CFOGZRGH23.jpg"/>
          <p:cNvPicPr>
            <a:picLocks noChangeAspect="1" noChangeArrowheads="1"/>
          </p:cNvPicPr>
          <p:nvPr userDrawn="1"/>
        </p:nvPicPr>
        <p:blipFill rotWithShape="1">
          <a:blip r:embed="rId3" cstate="print"/>
          <a:srcRect r="78850"/>
          <a:stretch>
            <a:fillRect/>
          </a:stretch>
        </p:blipFill>
        <p:spPr bwMode="auto">
          <a:xfrm>
            <a:off x="1" y="6126164"/>
            <a:ext cx="862263" cy="759220"/>
          </a:xfrm>
          <a:prstGeom prst="rect">
            <a:avLst/>
          </a:prstGeom>
          <a:noFill/>
          <a:ln w="9525">
            <a:noFill/>
            <a:miter lim="800000"/>
            <a:headEnd/>
            <a:tailEnd/>
          </a:ln>
        </p:spPr>
      </p:pic>
      <p:pic>
        <p:nvPicPr>
          <p:cNvPr id="11" name="图片 10"/>
          <p:cNvPicPr>
            <a:picLocks noChangeAspect="1"/>
          </p:cNvPicPr>
          <p:nvPr userDrawn="1"/>
        </p:nvPicPr>
        <p:blipFill rotWithShape="1">
          <a:blip r:embed="rId4" cstate="print"/>
          <a:srcRect l="32675" t="11636" r="34167" b="75247"/>
          <a:stretch>
            <a:fillRect/>
          </a:stretch>
        </p:blipFill>
        <p:spPr>
          <a:xfrm>
            <a:off x="810072" y="6309320"/>
            <a:ext cx="1872208" cy="416609"/>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3" name="日期占位符 3"/>
          <p:cNvSpPr>
            <a:spLocks noGrp="1"/>
          </p:cNvSpPr>
          <p:nvPr>
            <p:ph type="dt" sz="half" idx="10"/>
          </p:nvPr>
        </p:nvSpPr>
        <p:spPr/>
        <p:txBody>
          <a:bodyPr/>
          <a:lstStyle>
            <a:lvl1pPr>
              <a:defRPr/>
            </a:lvl1pPr>
          </a:lstStyle>
          <a:p>
            <a:pPr>
              <a:defRPr/>
            </a:pPr>
            <a:fld id="{22A4F1A8-960E-4ED9-9A4F-401EFE12B95D}" type="datetimeFigureOut">
              <a:rPr lang="zh-CN" altLang="en-US"/>
              <a:t>2023/10/16</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85FA7321-CB36-4EF0-87BA-C64E2A84FAED}" type="slidenum">
              <a:rPr lang="zh-CN" altLang="en-US"/>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8309E1E0-9E63-41E0-8CDD-DF0C8EF81975}" type="datetimeFigureOut">
              <a:rPr lang="zh-CN" altLang="en-US"/>
              <a:t>2023/10/16</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961E5839-3D4F-4698-B864-F37BC54DB928}" type="slidenum">
              <a:rPr lang="zh-CN" altLang="en-US"/>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竖排文字">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垂直排列标题与文本">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defRPr>
            </a:lvl1pPr>
          </a:lstStyle>
          <a:p>
            <a:pPr>
              <a:defRPr/>
            </a:pPr>
            <a:fld id="{B11D7156-5C3F-4BEA-93EC-FF328D866D27}" type="datetimeFigureOut">
              <a:rPr lang="zh-CN" altLang="en-US"/>
              <a:t>2023/10/16</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defRPr>
            </a:lvl1pPr>
          </a:lstStyle>
          <a:p>
            <a:pPr>
              <a:defRPr/>
            </a:pPr>
            <a:fld id="{9C709816-5D03-481C-A7CB-52B98C3CDEFE}" type="slidenum">
              <a:rPr lang="zh-CN" altLang="en-US"/>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gdyang@sdau.edu.cn"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6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44.jpe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55.jpeg"/></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55.xml"/><Relationship Id="rId1" Type="http://schemas.openxmlformats.org/officeDocument/2006/relationships/slideLayout" Target="../slideLayouts/slideLayout2.xml"/><Relationship Id="rId5" Type="http://schemas.openxmlformats.org/officeDocument/2006/relationships/image" Target="../media/image69.png"/><Relationship Id="rId4" Type="http://schemas.openxmlformats.org/officeDocument/2006/relationships/image" Target="../media/image68.png"/></Relationships>
</file>

<file path=ppt/slides/_rels/slide110.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56.xml"/><Relationship Id="rId1" Type="http://schemas.openxmlformats.org/officeDocument/2006/relationships/slideLayout" Target="../slideLayouts/slideLayout2.xml"/><Relationship Id="rId4" Type="http://schemas.openxmlformats.org/officeDocument/2006/relationships/image" Target="../media/image71.png"/></Relationships>
</file>

<file path=ppt/slides/_rels/slide111.xml.rels><?xml version="1.0" encoding="UTF-8" standalone="yes"?>
<Relationships xmlns="http://schemas.openxmlformats.org/package/2006/relationships"><Relationship Id="rId2" Type="http://schemas.openxmlformats.org/officeDocument/2006/relationships/image" Target="../media/image72.jpe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76.jpe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80.jpe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83.jpe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84.jpe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62.xml"/><Relationship Id="rId1" Type="http://schemas.openxmlformats.org/officeDocument/2006/relationships/slideLayout" Target="../slideLayouts/slideLayout2.xml"/><Relationship Id="rId4" Type="http://schemas.openxmlformats.org/officeDocument/2006/relationships/image" Target="../media/image86.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88.png"/><Relationship Id="rId5" Type="http://schemas.openxmlformats.org/officeDocument/2006/relationships/oleObject" Target="../embeddings/oleObject1.bin"/><Relationship Id="rId4" Type="http://schemas.openxmlformats.org/officeDocument/2006/relationships/image" Target="../media/image89.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68.xml"/><Relationship Id="rId1" Type="http://schemas.openxmlformats.org/officeDocument/2006/relationships/slideLayout" Target="../slideLayouts/slideLayout2.xml"/><Relationship Id="rId5" Type="http://schemas.openxmlformats.org/officeDocument/2006/relationships/image" Target="../media/image96.jpeg"/><Relationship Id="rId4" Type="http://schemas.openxmlformats.org/officeDocument/2006/relationships/image" Target="../media/image95.png"/></Relationships>
</file>

<file path=ppt/slides/_rels/slide140.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image" Target="../media/image103.jpeg"/><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image" Target="../media/image104.jpeg"/><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image" Target="../media/image106.jpeg"/><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openxmlformats.org/officeDocument/2006/relationships/image" Target="../media/image107.jpeg"/><Relationship Id="rId2" Type="http://schemas.openxmlformats.org/officeDocument/2006/relationships/notesSlide" Target="../notesSlides/notesSlide78.xml"/><Relationship Id="rId1" Type="http://schemas.openxmlformats.org/officeDocument/2006/relationships/slideLayout" Target="../slideLayouts/slideLayout2.xml"/><Relationship Id="rId4" Type="http://schemas.openxmlformats.org/officeDocument/2006/relationships/image" Target="../media/image108.jpeg"/></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3" Type="http://schemas.openxmlformats.org/officeDocument/2006/relationships/image" Target="../media/image110.jpe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image" Target="../media/image112.jpeg"/><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3" Type="http://schemas.openxmlformats.org/officeDocument/2006/relationships/image" Target="../media/image113.jpe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3" Type="http://schemas.openxmlformats.org/officeDocument/2006/relationships/image" Target="../media/image114.jpe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2" Type="http://schemas.openxmlformats.org/officeDocument/2006/relationships/image" Target="../media/image115.jpeg"/><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3" Type="http://schemas.openxmlformats.org/officeDocument/2006/relationships/image" Target="../media/image116.jpe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3" Type="http://schemas.openxmlformats.org/officeDocument/2006/relationships/image" Target="../media/image118.jpe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89.xml"/><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2" Type="http://schemas.openxmlformats.org/officeDocument/2006/relationships/image" Target="../media/image120.jpeg"/><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3" Type="http://schemas.openxmlformats.org/officeDocument/2006/relationships/image" Target="../media/image121.jpe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3" Type="http://schemas.openxmlformats.org/officeDocument/2006/relationships/image" Target="../media/image122.jpeg"/><Relationship Id="rId2" Type="http://schemas.openxmlformats.org/officeDocument/2006/relationships/notesSlide" Target="../notesSlides/notesSlide92.xml"/><Relationship Id="rId1" Type="http://schemas.openxmlformats.org/officeDocument/2006/relationships/slideLayout" Target="../slideLayouts/slideLayout2.xml"/><Relationship Id="rId4" Type="http://schemas.openxmlformats.org/officeDocument/2006/relationships/image" Target="../media/image123.jpeg"/></Relationships>
</file>

<file path=ppt/slides/_rels/slide179.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2" Type="http://schemas.openxmlformats.org/officeDocument/2006/relationships/image" Target="../media/image125.png"/><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2" Type="http://schemas.openxmlformats.org/officeDocument/2006/relationships/image" Target="../media/image126.png"/><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2" Type="http://schemas.openxmlformats.org/officeDocument/2006/relationships/image" Target="../media/image127.png"/><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2" Type="http://schemas.openxmlformats.org/officeDocument/2006/relationships/image" Target="../media/image116.jpeg"/><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2" Type="http://schemas.openxmlformats.org/officeDocument/2006/relationships/image" Target="../media/image131.png"/><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2" Type="http://schemas.openxmlformats.org/officeDocument/2006/relationships/image" Target="../media/image131.png"/><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2" Type="http://schemas.openxmlformats.org/officeDocument/2006/relationships/image" Target="../media/image132.png"/><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标题 1"/>
          <p:cNvSpPr>
            <a:spLocks noGrp="1"/>
          </p:cNvSpPr>
          <p:nvPr>
            <p:ph type="ctrTitle"/>
          </p:nvPr>
        </p:nvSpPr>
        <p:spPr>
          <a:xfrm>
            <a:off x="642938" y="2000250"/>
            <a:ext cx="7772400" cy="1470025"/>
          </a:xfrm>
        </p:spPr>
        <p:txBody>
          <a:bodyPr/>
          <a:lstStyle/>
          <a:p>
            <a:pPr eaLnBrk="1" hangingPunct="1"/>
            <a:r>
              <a:rPr lang="en-US" altLang="zh-CN" sz="4000" b="1" dirty="0"/>
              <a:t>Section F   </a:t>
            </a:r>
            <a:br>
              <a:rPr lang="en-US" altLang="zh-CN" sz="4000" b="1" dirty="0"/>
            </a:br>
            <a:r>
              <a:rPr lang="en-US" altLang="zh-CN" sz="4000" b="1" dirty="0"/>
              <a:t>DNA structure and replication</a:t>
            </a:r>
            <a:endParaRPr lang="zh-CN" altLang="en-US" sz="4000" b="1" dirty="0"/>
          </a:p>
        </p:txBody>
      </p:sp>
      <p:sp>
        <p:nvSpPr>
          <p:cNvPr id="4099" name="副标题 2"/>
          <p:cNvSpPr>
            <a:spLocks noGrp="1"/>
          </p:cNvSpPr>
          <p:nvPr>
            <p:ph type="subTitle" idx="1"/>
          </p:nvPr>
        </p:nvSpPr>
        <p:spPr>
          <a:xfrm>
            <a:off x="5143500" y="3714750"/>
            <a:ext cx="3214688" cy="1471613"/>
          </a:xfrm>
        </p:spPr>
        <p:txBody>
          <a:bodyPr/>
          <a:lstStyle/>
          <a:p>
            <a:pPr eaLnBrk="1" hangingPunct="1"/>
            <a:r>
              <a:rPr lang="en-US" altLang="zh-CN" sz="2400" b="1" dirty="0" err="1">
                <a:solidFill>
                  <a:schemeClr val="tx1"/>
                </a:solidFill>
              </a:rPr>
              <a:t>Guodong</a:t>
            </a:r>
            <a:r>
              <a:rPr lang="en-US" altLang="zh-CN" sz="2400" b="1" dirty="0">
                <a:solidFill>
                  <a:schemeClr val="tx1"/>
                </a:solidFill>
              </a:rPr>
              <a:t> Yang</a:t>
            </a:r>
          </a:p>
          <a:p>
            <a:pPr eaLnBrk="1" hangingPunct="1"/>
            <a:r>
              <a:rPr lang="en-US" altLang="zh-CN" sz="1600" b="1" dirty="0">
                <a:solidFill>
                  <a:schemeClr val="tx1"/>
                </a:solidFill>
              </a:rPr>
              <a:t>Biochemistry and Molecular Biology, College of Life Sciences</a:t>
            </a:r>
            <a:br>
              <a:rPr lang="en-US" altLang="zh-CN" sz="1600" b="1" dirty="0">
                <a:solidFill>
                  <a:schemeClr val="tx1"/>
                </a:solidFill>
              </a:rPr>
            </a:br>
            <a:endParaRPr lang="en-US" altLang="zh-CN" sz="1600" b="1" dirty="0">
              <a:solidFill>
                <a:schemeClr val="tx1"/>
              </a:solidFill>
            </a:endParaRPr>
          </a:p>
          <a:p>
            <a:pPr eaLnBrk="1" hangingPunct="1"/>
            <a:r>
              <a:rPr lang="en-US" altLang="zh-CN" sz="1600" b="1" dirty="0">
                <a:solidFill>
                  <a:schemeClr val="tx1"/>
                </a:solidFill>
                <a:hlinkClick r:id="rId3"/>
              </a:rPr>
              <a:t>gdyang@sdau.edu.cn</a:t>
            </a:r>
            <a:endParaRPr lang="en-US" altLang="zh-CN" sz="1600" b="1" dirty="0">
              <a:solidFill>
                <a:schemeClr val="tx1"/>
              </a:solidFill>
            </a:endParaRPr>
          </a:p>
          <a:p>
            <a:pPr eaLnBrk="1" hangingPunct="1"/>
            <a:r>
              <a:rPr lang="en-US" altLang="zh-CN" sz="1600" b="1" dirty="0">
                <a:solidFill>
                  <a:schemeClr val="tx1"/>
                </a:solidFill>
              </a:rPr>
              <a:t>13854808762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457200" y="274638"/>
            <a:ext cx="8229600" cy="1143000"/>
          </a:xfrm>
          <a:prstGeom prst="rect">
            <a:avLst/>
          </a:prstGeom>
        </p:spPr>
        <p:txBody>
          <a:bodyPr/>
          <a:lstStyle/>
          <a:p>
            <a:endParaRPr lang="zh-CN" altLang="en-US"/>
          </a:p>
        </p:txBody>
      </p:sp>
      <p:sp>
        <p:nvSpPr>
          <p:cNvPr id="3" name="内容占位符 2"/>
          <p:cNvSpPr>
            <a:spLocks noGrp="1"/>
          </p:cNvSpPr>
          <p:nvPr>
            <p:ph idx="4294967295"/>
          </p:nvPr>
        </p:nvSpPr>
        <p:spPr>
          <a:xfrm>
            <a:off x="457200" y="1600200"/>
            <a:ext cx="8229600" cy="4525963"/>
          </a:xfrm>
          <a:prstGeom prst="rect">
            <a:avLst/>
          </a:prstGeom>
        </p:spPr>
        <p:txBody>
          <a:bodyPr/>
          <a:lstStyle/>
          <a:p>
            <a:endParaRPr lang="zh-CN" altLang="en-US" dirty="0"/>
          </a:p>
        </p:txBody>
      </p:sp>
      <p:pic>
        <p:nvPicPr>
          <p:cNvPr id="4" name="Picture 4" descr="15-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0113" y="188913"/>
            <a:ext cx="6408191" cy="57515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5"/>
          <p:cNvSpPr txBox="1">
            <a:spLocks noChangeArrowheads="1"/>
          </p:cNvSpPr>
          <p:nvPr/>
        </p:nvSpPr>
        <p:spPr bwMode="auto">
          <a:xfrm>
            <a:off x="539552" y="4503777"/>
            <a:ext cx="3380738"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FontTx/>
              <a:buNone/>
            </a:pPr>
            <a:r>
              <a:rPr lang="en-US" altLang="zh-CN" sz="2400" b="1" dirty="0">
                <a:solidFill>
                  <a:srgbClr val="CC00FF"/>
                </a:solidFill>
              </a:rPr>
              <a:t>Genetic Central Dogma</a:t>
            </a:r>
          </a:p>
          <a:p>
            <a:pPr algn="ctr" eaLnBrk="1" hangingPunct="1">
              <a:spcBef>
                <a:spcPct val="50000"/>
              </a:spcBef>
              <a:buFontTx/>
              <a:buNone/>
            </a:pPr>
            <a:r>
              <a:rPr lang="zh-CN" altLang="en-US" sz="2400" b="1" dirty="0">
                <a:solidFill>
                  <a:srgbClr val="CC00FF"/>
                </a:solidFill>
              </a:rPr>
              <a:t>中心法则</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49033-10-01 copy"/>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03648" y="265510"/>
            <a:ext cx="5904954" cy="5660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075"/>
          <p:cNvPicPr>
            <a:picLocks noChangeAspect="1" noChangeArrowheads="1"/>
          </p:cNvPicPr>
          <p:nvPr/>
        </p:nvPicPr>
        <p:blipFill>
          <a:blip r:embed="rId2" cstate="print">
            <a:extLst>
              <a:ext uri="{28A0092B-C50C-407E-A947-70E740481C1C}">
                <a14:useLocalDpi xmlns:a14="http://schemas.microsoft.com/office/drawing/2010/main" val="0"/>
              </a:ext>
            </a:extLst>
          </a:blip>
          <a:srcRect l="9000" t="9000" r="9000" b="9000"/>
          <a:stretch>
            <a:fillRect/>
          </a:stretch>
        </p:blipFill>
        <p:spPr bwMode="auto">
          <a:xfrm>
            <a:off x="755576" y="404664"/>
            <a:ext cx="7418784" cy="556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p:cNvSpPr>
          <p:nvPr>
            <p:ph type="title" idx="4294967295"/>
          </p:nvPr>
        </p:nvSpPr>
        <p:spPr>
          <a:xfrm>
            <a:off x="0" y="274638"/>
            <a:ext cx="8229600" cy="1143000"/>
          </a:xfrm>
          <a:prstGeom prst="rect">
            <a:avLst/>
          </a:prstGeom>
        </p:spPr>
        <p:txBody>
          <a:bodyPr/>
          <a:lstStyle/>
          <a:p>
            <a:r>
              <a:rPr lang="en-US" altLang="zh-CN" sz="3600" b="1" dirty="0"/>
              <a:t>Section F DNA structure and replication</a:t>
            </a:r>
            <a:endParaRPr lang="zh-CN" altLang="en-US" sz="3600" b="1" dirty="0"/>
          </a:p>
        </p:txBody>
      </p:sp>
      <p:sp>
        <p:nvSpPr>
          <p:cNvPr id="52227" name="Rectangle 3"/>
          <p:cNvSpPr>
            <a:spLocks noGrp="1"/>
          </p:cNvSpPr>
          <p:nvPr>
            <p:ph type="body" idx="4294967295"/>
          </p:nvPr>
        </p:nvSpPr>
        <p:spPr>
          <a:xfrm>
            <a:off x="878904" y="1600200"/>
            <a:ext cx="8229600" cy="4525963"/>
          </a:xfrm>
          <a:prstGeom prst="rect">
            <a:avLst/>
          </a:prstGeom>
        </p:spPr>
        <p:txBody>
          <a:bodyPr/>
          <a:lstStyle/>
          <a:p>
            <a:r>
              <a:rPr lang="en-US" altLang="zh-CN" b="1" dirty="0"/>
              <a:t>F1    DNA (RNA) structure</a:t>
            </a:r>
          </a:p>
          <a:p>
            <a:r>
              <a:rPr lang="en-US" altLang="zh-CN" b="1" dirty="0"/>
              <a:t>F2   Chromosomes</a:t>
            </a:r>
          </a:p>
          <a:p>
            <a:r>
              <a:rPr lang="en-US" altLang="zh-CN" b="1" dirty="0"/>
              <a:t>F3   DNA replication in bacteria</a:t>
            </a:r>
          </a:p>
          <a:p>
            <a:r>
              <a:rPr lang="en-US" altLang="zh-CN" b="1" dirty="0"/>
              <a:t>F4   DNA replication in eukaryote</a:t>
            </a:r>
          </a:p>
          <a:p>
            <a:endParaRPr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p:cNvSpPr>
          <p:nvPr>
            <p:ph type="title" idx="4294967295"/>
          </p:nvPr>
        </p:nvSpPr>
        <p:spPr>
          <a:xfrm>
            <a:off x="0" y="2133600"/>
            <a:ext cx="8229600" cy="1143000"/>
          </a:xfrm>
          <a:prstGeom prst="rect">
            <a:avLst/>
          </a:prstGeom>
        </p:spPr>
        <p:txBody>
          <a:bodyPr/>
          <a:lstStyle/>
          <a:p>
            <a:pPr eaLnBrk="1" hangingPunct="1">
              <a:spcBef>
                <a:spcPct val="50000"/>
              </a:spcBef>
            </a:pPr>
            <a:r>
              <a:rPr lang="en-US" altLang="zh-CN" b="1" dirty="0"/>
              <a:t>Section F1 and G1</a:t>
            </a:r>
            <a:br>
              <a:rPr lang="en-US" altLang="zh-CN" b="1" dirty="0"/>
            </a:br>
            <a:r>
              <a:rPr lang="en-US" altLang="zh-CN" b="1" dirty="0"/>
              <a:t> DNA (RNA) structure</a:t>
            </a:r>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p:cNvSpPr txBox="1">
            <a:spLocks noChangeArrowheads="1"/>
          </p:cNvSpPr>
          <p:nvPr/>
        </p:nvSpPr>
        <p:spPr bwMode="auto">
          <a:xfrm>
            <a:off x="381000" y="404813"/>
            <a:ext cx="87630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75000"/>
              </a:lnSpc>
              <a:spcBef>
                <a:spcPct val="50000"/>
              </a:spcBef>
              <a:buFontTx/>
              <a:buNone/>
            </a:pPr>
            <a:r>
              <a:rPr lang="en-US" altLang="zh-CN" b="1" dirty="0">
                <a:solidFill>
                  <a:srgbClr val="FF0066"/>
                </a:solidFill>
              </a:rPr>
              <a:t>1. The nucleic acids, deoxyribonucleic acid (DNA) and ribonucleic acid (RNA), are polymers of nucleotide units.</a:t>
            </a:r>
            <a:endParaRPr lang="en-US" altLang="zh-CN" sz="2400" dirty="0"/>
          </a:p>
        </p:txBody>
      </p:sp>
      <p:sp>
        <p:nvSpPr>
          <p:cNvPr id="8195" name="Text Box 3"/>
          <p:cNvSpPr txBox="1">
            <a:spLocks noChangeArrowheads="1"/>
          </p:cNvSpPr>
          <p:nvPr/>
        </p:nvSpPr>
        <p:spPr bwMode="auto">
          <a:xfrm>
            <a:off x="228600" y="1806575"/>
            <a:ext cx="8610600" cy="41796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15000"/>
              </a:spcBef>
              <a:buFontTx/>
              <a:buNone/>
            </a:pPr>
            <a:r>
              <a:rPr lang="en-US" altLang="zh-CN" b="1" dirty="0"/>
              <a:t>1.1 DNA consists of </a:t>
            </a:r>
            <a:r>
              <a:rPr lang="en-US" altLang="zh-CN" b="1" dirty="0">
                <a:solidFill>
                  <a:srgbClr val="FF0000"/>
                </a:solidFill>
              </a:rPr>
              <a:t>four</a:t>
            </a:r>
            <a:r>
              <a:rPr lang="en-US" altLang="zh-CN" b="1" dirty="0"/>
              <a:t> </a:t>
            </a:r>
            <a:r>
              <a:rPr lang="en-US" altLang="zh-CN" b="1" dirty="0">
                <a:solidFill>
                  <a:srgbClr val="FF0000"/>
                </a:solidFill>
              </a:rPr>
              <a:t>kinds of deoxyribonucleotide</a:t>
            </a:r>
            <a:r>
              <a:rPr lang="en-US" altLang="zh-CN" b="1" dirty="0"/>
              <a:t> units linked together through covalent bonds</a:t>
            </a:r>
          </a:p>
          <a:p>
            <a:pPr eaLnBrk="1" hangingPunct="1">
              <a:spcBef>
                <a:spcPct val="15000"/>
              </a:spcBef>
              <a:buFontTx/>
              <a:buNone/>
            </a:pPr>
            <a:r>
              <a:rPr lang="en-US" altLang="zh-CN" b="1" dirty="0"/>
              <a:t>	1.1.1 Each nucleotide unit is made of a </a:t>
            </a:r>
            <a:r>
              <a:rPr lang="en-US" altLang="zh-CN" b="1" dirty="0">
                <a:solidFill>
                  <a:srgbClr val="FF0000"/>
                </a:solidFill>
              </a:rPr>
              <a:t>nitrogenous</a:t>
            </a:r>
            <a:r>
              <a:rPr lang="en-US" altLang="zh-CN" b="1" dirty="0"/>
              <a:t> </a:t>
            </a:r>
            <a:r>
              <a:rPr lang="en-US" altLang="zh-CN" b="1" dirty="0">
                <a:solidFill>
                  <a:srgbClr val="FF0000"/>
                </a:solidFill>
              </a:rPr>
              <a:t>base</a:t>
            </a:r>
            <a:r>
              <a:rPr lang="en-US" altLang="zh-CN" b="1" dirty="0"/>
              <a:t> (the various part in the four different deoxyribonucleotides), a </a:t>
            </a:r>
            <a:r>
              <a:rPr lang="en-US" altLang="zh-CN" b="1" dirty="0">
                <a:solidFill>
                  <a:srgbClr val="FF0000"/>
                </a:solidFill>
              </a:rPr>
              <a:t>pentose</a:t>
            </a:r>
            <a:r>
              <a:rPr lang="en-US" altLang="zh-CN" b="1" dirty="0"/>
              <a:t> sugar, and a </a:t>
            </a:r>
            <a:r>
              <a:rPr lang="en-US" altLang="zh-CN" b="1" dirty="0">
                <a:solidFill>
                  <a:srgbClr val="FF0000"/>
                </a:solidFill>
              </a:rPr>
              <a:t>phosphate</a:t>
            </a:r>
            <a:r>
              <a:rPr lang="en-US" altLang="zh-CN" b="1" dirty="0"/>
              <a:t> group.</a:t>
            </a:r>
          </a:p>
          <a:p>
            <a:pPr eaLnBrk="1" hangingPunct="1">
              <a:spcBef>
                <a:spcPct val="15000"/>
              </a:spcBef>
              <a:buFontTx/>
              <a:buNone/>
            </a:pPr>
            <a:r>
              <a:rPr lang="en-US" altLang="zh-CN" b="1" dirty="0"/>
              <a:t>	</a:t>
            </a:r>
            <a:endParaRPr lang="en-US" altLang="zh-CN"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8800" y="1041400"/>
            <a:ext cx="8026400" cy="477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文本框 3">
            <a:extLst>
              <a:ext uri="{FF2B5EF4-FFF2-40B4-BE49-F238E27FC236}">
                <a16:creationId xmlns:a16="http://schemas.microsoft.com/office/drawing/2014/main" id="{DE2C8601-E700-47FD-89CA-6BE22C59F68C}"/>
              </a:ext>
            </a:extLst>
          </p:cNvPr>
          <p:cNvSpPr txBox="1"/>
          <p:nvPr/>
        </p:nvSpPr>
        <p:spPr>
          <a:xfrm>
            <a:off x="3563888" y="5830657"/>
            <a:ext cx="4572000" cy="369332"/>
          </a:xfrm>
          <a:prstGeom prst="rect">
            <a:avLst/>
          </a:prstGeom>
          <a:noFill/>
        </p:spPr>
        <p:txBody>
          <a:bodyPr wrap="square">
            <a:spAutoFit/>
          </a:bodyPr>
          <a:lstStyle/>
          <a:p>
            <a:r>
              <a:rPr lang="en-US" altLang="zh-CN" dirty="0"/>
              <a:t>ribonucleotide</a:t>
            </a:r>
            <a:endParaRPr lang="zh-CN" altLang="en-US" dirty="0"/>
          </a:p>
        </p:txBody>
      </p:sp>
      <p:sp>
        <p:nvSpPr>
          <p:cNvPr id="2" name="文本框 1">
            <a:extLst>
              <a:ext uri="{FF2B5EF4-FFF2-40B4-BE49-F238E27FC236}">
                <a16:creationId xmlns:a16="http://schemas.microsoft.com/office/drawing/2014/main" id="{3ABA9485-11B9-53B6-549B-99142525320C}"/>
              </a:ext>
            </a:extLst>
          </p:cNvPr>
          <p:cNvSpPr txBox="1"/>
          <p:nvPr/>
        </p:nvSpPr>
        <p:spPr>
          <a:xfrm>
            <a:off x="827584" y="6199989"/>
            <a:ext cx="1633781" cy="369332"/>
          </a:xfrm>
          <a:prstGeom prst="rect">
            <a:avLst/>
          </a:prstGeom>
          <a:noFill/>
        </p:spPr>
        <p:txBody>
          <a:bodyPr wrap="none" rtlCol="0">
            <a:spAutoFit/>
          </a:bodyPr>
          <a:lstStyle/>
          <a:p>
            <a:r>
              <a:rPr lang="en-US" altLang="zh-CN" b="1" dirty="0">
                <a:solidFill>
                  <a:srgbClr val="FF0066"/>
                </a:solidFill>
              </a:rPr>
              <a:t>nucleic acids</a:t>
            </a:r>
            <a:endParaRPr lang="zh-CN" altLang="en-US" dirty="0"/>
          </a:p>
        </p:txBody>
      </p:sp>
      <p:grpSp>
        <p:nvGrpSpPr>
          <p:cNvPr id="6" name="组合 5">
            <a:extLst>
              <a:ext uri="{FF2B5EF4-FFF2-40B4-BE49-F238E27FC236}">
                <a16:creationId xmlns:a16="http://schemas.microsoft.com/office/drawing/2014/main" id="{3D9A91D5-0627-ACA3-4222-3BD5FB31211A}"/>
              </a:ext>
            </a:extLst>
          </p:cNvPr>
          <p:cNvGrpSpPr/>
          <p:nvPr/>
        </p:nvGrpSpPr>
        <p:grpSpPr>
          <a:xfrm>
            <a:off x="3779912" y="332656"/>
            <a:ext cx="4805288" cy="5256584"/>
            <a:chOff x="3779912" y="332656"/>
            <a:chExt cx="4805288" cy="5256584"/>
          </a:xfrm>
        </p:grpSpPr>
        <p:sp>
          <p:nvSpPr>
            <p:cNvPr id="3" name="矩形: 圆角 2">
              <a:extLst>
                <a:ext uri="{FF2B5EF4-FFF2-40B4-BE49-F238E27FC236}">
                  <a16:creationId xmlns:a16="http://schemas.microsoft.com/office/drawing/2014/main" id="{888A7332-001A-E275-42C9-F37CB7F1D2C4}"/>
                </a:ext>
              </a:extLst>
            </p:cNvPr>
            <p:cNvSpPr/>
            <p:nvPr/>
          </p:nvSpPr>
          <p:spPr>
            <a:xfrm>
              <a:off x="3779912" y="332656"/>
              <a:ext cx="4805288" cy="5256584"/>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ACCB0553-AC4A-DEA3-0516-46E60CCD6544}"/>
                </a:ext>
              </a:extLst>
            </p:cNvPr>
            <p:cNvSpPr txBox="1"/>
            <p:nvPr/>
          </p:nvSpPr>
          <p:spPr>
            <a:xfrm>
              <a:off x="3995936" y="672068"/>
              <a:ext cx="1390124" cy="369332"/>
            </a:xfrm>
            <a:prstGeom prst="rect">
              <a:avLst/>
            </a:prstGeom>
            <a:noFill/>
          </p:spPr>
          <p:txBody>
            <a:bodyPr wrap="none" rtlCol="0">
              <a:spAutoFit/>
            </a:bodyPr>
            <a:lstStyle/>
            <a:p>
              <a:r>
                <a:rPr lang="en-US" altLang="zh-CN" b="1" dirty="0"/>
                <a:t>nucleoside</a:t>
              </a:r>
              <a:endParaRPr lang="zh-CN" altLang="en-US"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8800" y="1041400"/>
            <a:ext cx="8026400" cy="477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文本框 3">
            <a:extLst>
              <a:ext uri="{FF2B5EF4-FFF2-40B4-BE49-F238E27FC236}">
                <a16:creationId xmlns:a16="http://schemas.microsoft.com/office/drawing/2014/main" id="{DE2C8601-E700-47FD-89CA-6BE22C59F68C}"/>
              </a:ext>
            </a:extLst>
          </p:cNvPr>
          <p:cNvSpPr txBox="1"/>
          <p:nvPr/>
        </p:nvSpPr>
        <p:spPr>
          <a:xfrm>
            <a:off x="3563888" y="5830657"/>
            <a:ext cx="4572000" cy="369332"/>
          </a:xfrm>
          <a:prstGeom prst="rect">
            <a:avLst/>
          </a:prstGeom>
          <a:noFill/>
        </p:spPr>
        <p:txBody>
          <a:bodyPr wrap="square">
            <a:spAutoFit/>
          </a:bodyPr>
          <a:lstStyle/>
          <a:p>
            <a:r>
              <a:rPr lang="en-US" altLang="zh-CN" dirty="0"/>
              <a:t>deoxyribonucleotide</a:t>
            </a:r>
            <a:endParaRPr lang="zh-CN" altLang="en-US" dirty="0"/>
          </a:p>
        </p:txBody>
      </p:sp>
      <p:sp>
        <p:nvSpPr>
          <p:cNvPr id="2" name="矩形: 圆角 1">
            <a:extLst>
              <a:ext uri="{FF2B5EF4-FFF2-40B4-BE49-F238E27FC236}">
                <a16:creationId xmlns:a16="http://schemas.microsoft.com/office/drawing/2014/main" id="{9816119A-5A46-47FC-9586-93183C7E7F71}"/>
              </a:ext>
            </a:extLst>
          </p:cNvPr>
          <p:cNvSpPr/>
          <p:nvPr/>
        </p:nvSpPr>
        <p:spPr>
          <a:xfrm>
            <a:off x="5796136" y="4869160"/>
            <a:ext cx="792088" cy="360040"/>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solidFill>
                  <a:srgbClr val="FF00FF"/>
                </a:solidFill>
              </a:rPr>
              <a:t>H</a:t>
            </a:r>
            <a:endParaRPr lang="zh-CN" altLang="en-US" sz="3200" dirty="0">
              <a:solidFill>
                <a:srgbClr val="FF00FF"/>
              </a:solidFill>
            </a:endParaRPr>
          </a:p>
        </p:txBody>
      </p:sp>
      <p:sp>
        <p:nvSpPr>
          <p:cNvPr id="3" name="文本框 2">
            <a:extLst>
              <a:ext uri="{FF2B5EF4-FFF2-40B4-BE49-F238E27FC236}">
                <a16:creationId xmlns:a16="http://schemas.microsoft.com/office/drawing/2014/main" id="{2C73FAE3-703B-462C-80E2-4C605AE2D718}"/>
              </a:ext>
            </a:extLst>
          </p:cNvPr>
          <p:cNvSpPr txBox="1"/>
          <p:nvPr/>
        </p:nvSpPr>
        <p:spPr>
          <a:xfrm>
            <a:off x="7164288" y="3789040"/>
            <a:ext cx="1728192" cy="369332"/>
          </a:xfrm>
          <a:prstGeom prst="rect">
            <a:avLst/>
          </a:prstGeom>
          <a:solidFill>
            <a:schemeClr val="bg1"/>
          </a:solidFill>
        </p:spPr>
        <p:txBody>
          <a:bodyPr wrap="square" rtlCol="0">
            <a:spAutoFit/>
          </a:bodyPr>
          <a:lstStyle/>
          <a:p>
            <a:r>
              <a:rPr lang="en-US" altLang="zh-CN" dirty="0" err="1"/>
              <a:t>Deoxypentose</a:t>
            </a:r>
            <a:endParaRPr lang="zh-CN" altLang="en-US" dirty="0"/>
          </a:p>
        </p:txBody>
      </p:sp>
    </p:spTree>
    <p:extLst>
      <p:ext uri="{BB962C8B-B14F-4D97-AF65-F5344CB8AC3E}">
        <p14:creationId xmlns:p14="http://schemas.microsoft.com/office/powerpoint/2010/main" val="34780708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p:cNvSpPr txBox="1">
            <a:spLocks noChangeArrowheads="1"/>
          </p:cNvSpPr>
          <p:nvPr/>
        </p:nvSpPr>
        <p:spPr bwMode="auto">
          <a:xfrm>
            <a:off x="533400" y="606425"/>
            <a:ext cx="8305800" cy="396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15000"/>
              </a:spcBef>
              <a:buFontTx/>
              <a:buNone/>
            </a:pPr>
            <a:r>
              <a:rPr lang="en-US" altLang="zh-CN" b="1" dirty="0"/>
              <a:t>	1.1.2 The nitrogenous base can be adenine (</a:t>
            </a:r>
            <a:r>
              <a:rPr lang="en-US" altLang="zh-CN" b="1" dirty="0">
                <a:solidFill>
                  <a:srgbClr val="FF0000"/>
                </a:solidFill>
              </a:rPr>
              <a:t>A</a:t>
            </a:r>
            <a:r>
              <a:rPr lang="en-US" altLang="zh-CN" b="1" dirty="0"/>
              <a:t>), guanine (</a:t>
            </a:r>
            <a:r>
              <a:rPr lang="en-US" altLang="zh-CN" b="1" dirty="0">
                <a:solidFill>
                  <a:srgbClr val="FF0000"/>
                </a:solidFill>
              </a:rPr>
              <a:t>G</a:t>
            </a:r>
            <a:r>
              <a:rPr lang="en-US" altLang="zh-CN" b="1" dirty="0"/>
              <a:t>), cytosine (</a:t>
            </a:r>
            <a:r>
              <a:rPr lang="en-US" altLang="zh-CN" b="1" dirty="0">
                <a:solidFill>
                  <a:srgbClr val="FF0000"/>
                </a:solidFill>
              </a:rPr>
              <a:t>C</a:t>
            </a:r>
            <a:r>
              <a:rPr lang="en-US" altLang="zh-CN" b="1" dirty="0"/>
              <a:t>), or thymine (</a:t>
            </a:r>
            <a:r>
              <a:rPr lang="en-US" altLang="zh-CN" b="1" dirty="0">
                <a:solidFill>
                  <a:srgbClr val="FF0000"/>
                </a:solidFill>
              </a:rPr>
              <a:t>T</a:t>
            </a:r>
            <a:r>
              <a:rPr lang="en-US" altLang="zh-CN" b="1" dirty="0"/>
              <a:t>) (uracil (</a:t>
            </a:r>
            <a:r>
              <a:rPr lang="en-US" altLang="zh-CN" b="1" dirty="0">
                <a:solidFill>
                  <a:srgbClr val="0070C0"/>
                </a:solidFill>
              </a:rPr>
              <a:t>U</a:t>
            </a:r>
            <a:r>
              <a:rPr lang="en-US" altLang="zh-CN" b="1" dirty="0"/>
              <a:t>) in RNA).</a:t>
            </a:r>
          </a:p>
          <a:p>
            <a:pPr eaLnBrk="1" hangingPunct="1">
              <a:lnSpc>
                <a:spcPct val="130000"/>
              </a:lnSpc>
              <a:spcBef>
                <a:spcPct val="15000"/>
              </a:spcBef>
              <a:buFontTx/>
              <a:buNone/>
            </a:pPr>
            <a:r>
              <a:rPr lang="en-US" altLang="zh-CN" b="1" dirty="0"/>
              <a:t>	1.1.3 The nitrogenous bases are derivatives of two parent compounds, </a:t>
            </a:r>
            <a:r>
              <a:rPr lang="en-US" altLang="zh-CN" b="1" dirty="0">
                <a:solidFill>
                  <a:srgbClr val="FF0000"/>
                </a:solidFill>
              </a:rPr>
              <a:t>pyrimidine</a:t>
            </a:r>
            <a:r>
              <a:rPr lang="en-US" altLang="zh-CN" b="1" dirty="0"/>
              <a:t> </a:t>
            </a:r>
            <a:r>
              <a:rPr lang="zh-CN" altLang="en-US" b="1" dirty="0">
                <a:solidFill>
                  <a:srgbClr val="FF0000"/>
                </a:solidFill>
              </a:rPr>
              <a:t>（嘧啶）</a:t>
            </a:r>
            <a:r>
              <a:rPr lang="en-US" altLang="zh-CN" b="1" dirty="0"/>
              <a:t>and </a:t>
            </a:r>
            <a:r>
              <a:rPr lang="en-US" altLang="zh-CN" b="1" dirty="0">
                <a:solidFill>
                  <a:srgbClr val="FF0000"/>
                </a:solidFill>
              </a:rPr>
              <a:t>purine</a:t>
            </a:r>
            <a:r>
              <a:rPr lang="zh-CN" altLang="en-US" b="1" dirty="0">
                <a:solidFill>
                  <a:srgbClr val="FF0000"/>
                </a:solidFill>
              </a:rPr>
              <a:t>（嘌呤）</a:t>
            </a:r>
            <a:r>
              <a:rPr lang="en-US" altLang="zh-CN" b="1" dirty="0"/>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2"/>
          <p:cNvSpPr txBox="1">
            <a:spLocks noChangeArrowheads="1"/>
          </p:cNvSpPr>
          <p:nvPr/>
        </p:nvSpPr>
        <p:spPr bwMode="auto">
          <a:xfrm>
            <a:off x="152400" y="560388"/>
            <a:ext cx="8763000"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buFontTx/>
              <a:buNone/>
            </a:pPr>
            <a:r>
              <a:rPr lang="en-US" altLang="zh-CN" sz="2400"/>
              <a:t>	</a:t>
            </a:r>
            <a:r>
              <a:rPr lang="en-US" altLang="zh-CN" b="1"/>
              <a:t>1.1.4 The carbon and nitrogen atoms in the purine and pyrimidine rings are numbered. </a:t>
            </a:r>
          </a:p>
          <a:p>
            <a:pPr eaLnBrk="1" hangingPunct="1">
              <a:lnSpc>
                <a:spcPct val="80000"/>
              </a:lnSpc>
              <a:buFontTx/>
              <a:buNone/>
            </a:pPr>
            <a:r>
              <a:rPr lang="en-US" altLang="zh-CN" b="1"/>
              <a:t>	</a:t>
            </a:r>
            <a:endParaRPr lang="en-US" altLang="zh-CN" sz="2800" b="1"/>
          </a:p>
        </p:txBody>
      </p:sp>
      <p:pic>
        <p:nvPicPr>
          <p:cNvPr id="11267"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l="52690" b="11891"/>
          <a:stretch>
            <a:fillRect/>
          </a:stretch>
        </p:blipFill>
        <p:spPr bwMode="auto">
          <a:xfrm>
            <a:off x="611188" y="1874838"/>
            <a:ext cx="3797300" cy="369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8"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r="65164" b="11189"/>
          <a:stretch>
            <a:fillRect/>
          </a:stretch>
        </p:blipFill>
        <p:spPr bwMode="auto">
          <a:xfrm>
            <a:off x="5364163" y="1844675"/>
            <a:ext cx="2795587" cy="3722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4" descr="49033-10-04 copy"/>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0" y="1557338"/>
            <a:ext cx="7620000" cy="374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2" name="组合 21"/>
          <p:cNvGrpSpPr/>
          <p:nvPr/>
        </p:nvGrpSpPr>
        <p:grpSpPr>
          <a:xfrm>
            <a:off x="1068826" y="2359604"/>
            <a:ext cx="7245364" cy="1209258"/>
            <a:chOff x="1068826" y="2359604"/>
            <a:chExt cx="7245364" cy="1209258"/>
          </a:xfrm>
        </p:grpSpPr>
        <p:grpSp>
          <p:nvGrpSpPr>
            <p:cNvPr id="3" name="组合 2"/>
            <p:cNvGrpSpPr/>
            <p:nvPr/>
          </p:nvGrpSpPr>
          <p:grpSpPr>
            <a:xfrm>
              <a:off x="1068826" y="2359604"/>
              <a:ext cx="2164705" cy="1166636"/>
              <a:chOff x="1068826" y="2359604"/>
              <a:chExt cx="2164705" cy="1166636"/>
            </a:xfrm>
          </p:grpSpPr>
          <p:sp>
            <p:nvSpPr>
              <p:cNvPr id="2" name="文本框 1"/>
              <p:cNvSpPr txBox="1"/>
              <p:nvPr/>
            </p:nvSpPr>
            <p:spPr>
              <a:xfrm>
                <a:off x="1068826" y="2590925"/>
                <a:ext cx="432048" cy="369332"/>
              </a:xfrm>
              <a:prstGeom prst="rect">
                <a:avLst/>
              </a:prstGeom>
              <a:noFill/>
            </p:spPr>
            <p:txBody>
              <a:bodyPr wrap="square" rtlCol="0">
                <a:spAutoFit/>
              </a:bodyPr>
              <a:lstStyle/>
              <a:p>
                <a:r>
                  <a:rPr lang="en-US" altLang="zh-CN" dirty="0">
                    <a:solidFill>
                      <a:srgbClr val="FF0000"/>
                    </a:solidFill>
                  </a:rPr>
                  <a:t>1</a:t>
                </a:r>
                <a:endParaRPr lang="zh-CN" altLang="en-US" dirty="0">
                  <a:solidFill>
                    <a:srgbClr val="FF0000"/>
                  </a:solidFill>
                </a:endParaRPr>
              </a:p>
            </p:txBody>
          </p:sp>
          <p:sp>
            <p:nvSpPr>
              <p:cNvPr id="4" name="文本框 3"/>
              <p:cNvSpPr txBox="1"/>
              <p:nvPr/>
            </p:nvSpPr>
            <p:spPr>
              <a:xfrm>
                <a:off x="1097495" y="2957095"/>
                <a:ext cx="432048" cy="369332"/>
              </a:xfrm>
              <a:prstGeom prst="rect">
                <a:avLst/>
              </a:prstGeom>
              <a:noFill/>
            </p:spPr>
            <p:txBody>
              <a:bodyPr wrap="square" rtlCol="0">
                <a:spAutoFit/>
              </a:bodyPr>
              <a:lstStyle/>
              <a:p>
                <a:r>
                  <a:rPr lang="en-US" altLang="zh-CN" dirty="0">
                    <a:solidFill>
                      <a:srgbClr val="FF0000"/>
                    </a:solidFill>
                  </a:rPr>
                  <a:t>2</a:t>
                </a:r>
                <a:endParaRPr lang="zh-CN" altLang="en-US" dirty="0">
                  <a:solidFill>
                    <a:srgbClr val="FF0000"/>
                  </a:solidFill>
                </a:endParaRPr>
              </a:p>
            </p:txBody>
          </p:sp>
          <p:sp>
            <p:nvSpPr>
              <p:cNvPr id="5" name="文本框 4"/>
              <p:cNvSpPr txBox="1"/>
              <p:nvPr/>
            </p:nvSpPr>
            <p:spPr>
              <a:xfrm>
                <a:off x="1482212" y="3156908"/>
                <a:ext cx="432048" cy="369332"/>
              </a:xfrm>
              <a:prstGeom prst="rect">
                <a:avLst/>
              </a:prstGeom>
              <a:noFill/>
            </p:spPr>
            <p:txBody>
              <a:bodyPr wrap="square" rtlCol="0">
                <a:spAutoFit/>
              </a:bodyPr>
              <a:lstStyle/>
              <a:p>
                <a:r>
                  <a:rPr lang="en-US" altLang="zh-CN" dirty="0">
                    <a:solidFill>
                      <a:srgbClr val="FF0000"/>
                    </a:solidFill>
                  </a:rPr>
                  <a:t>3</a:t>
                </a:r>
                <a:endParaRPr lang="zh-CN" altLang="en-US" dirty="0">
                  <a:solidFill>
                    <a:srgbClr val="FF0000"/>
                  </a:solidFill>
                </a:endParaRPr>
              </a:p>
            </p:txBody>
          </p:sp>
          <p:sp>
            <p:nvSpPr>
              <p:cNvPr id="6" name="文本框 5"/>
              <p:cNvSpPr txBox="1"/>
              <p:nvPr/>
            </p:nvSpPr>
            <p:spPr>
              <a:xfrm>
                <a:off x="1917035" y="3006322"/>
                <a:ext cx="432048" cy="369332"/>
              </a:xfrm>
              <a:prstGeom prst="rect">
                <a:avLst/>
              </a:prstGeom>
              <a:noFill/>
            </p:spPr>
            <p:txBody>
              <a:bodyPr wrap="square" rtlCol="0">
                <a:spAutoFit/>
              </a:bodyPr>
              <a:lstStyle/>
              <a:p>
                <a:r>
                  <a:rPr lang="en-US" altLang="zh-CN" dirty="0">
                    <a:solidFill>
                      <a:srgbClr val="FF0000"/>
                    </a:solidFill>
                  </a:rPr>
                  <a:t>4</a:t>
                </a:r>
                <a:endParaRPr lang="zh-CN" altLang="en-US" dirty="0">
                  <a:solidFill>
                    <a:srgbClr val="FF0000"/>
                  </a:solidFill>
                </a:endParaRPr>
              </a:p>
            </p:txBody>
          </p:sp>
          <p:sp>
            <p:nvSpPr>
              <p:cNvPr id="7" name="文本框 6"/>
              <p:cNvSpPr txBox="1"/>
              <p:nvPr/>
            </p:nvSpPr>
            <p:spPr>
              <a:xfrm>
                <a:off x="1902024" y="2536948"/>
                <a:ext cx="432048" cy="369332"/>
              </a:xfrm>
              <a:prstGeom prst="rect">
                <a:avLst/>
              </a:prstGeom>
              <a:noFill/>
            </p:spPr>
            <p:txBody>
              <a:bodyPr wrap="square" rtlCol="0">
                <a:spAutoFit/>
              </a:bodyPr>
              <a:lstStyle/>
              <a:p>
                <a:r>
                  <a:rPr lang="en-US" altLang="zh-CN" dirty="0">
                    <a:solidFill>
                      <a:srgbClr val="FF0000"/>
                    </a:solidFill>
                  </a:rPr>
                  <a:t>5</a:t>
                </a:r>
                <a:endParaRPr lang="zh-CN" altLang="en-US" dirty="0">
                  <a:solidFill>
                    <a:srgbClr val="FF0000"/>
                  </a:solidFill>
                </a:endParaRPr>
              </a:p>
            </p:txBody>
          </p:sp>
          <p:sp>
            <p:nvSpPr>
              <p:cNvPr id="8" name="文本框 7"/>
              <p:cNvSpPr txBox="1"/>
              <p:nvPr/>
            </p:nvSpPr>
            <p:spPr>
              <a:xfrm>
                <a:off x="1479170" y="2359604"/>
                <a:ext cx="432048" cy="369332"/>
              </a:xfrm>
              <a:prstGeom prst="rect">
                <a:avLst/>
              </a:prstGeom>
              <a:noFill/>
            </p:spPr>
            <p:txBody>
              <a:bodyPr wrap="square" rtlCol="0">
                <a:spAutoFit/>
              </a:bodyPr>
              <a:lstStyle/>
              <a:p>
                <a:r>
                  <a:rPr lang="en-US" altLang="zh-CN" dirty="0">
                    <a:solidFill>
                      <a:srgbClr val="FF0000"/>
                    </a:solidFill>
                  </a:rPr>
                  <a:t>6</a:t>
                </a:r>
                <a:endParaRPr lang="zh-CN" altLang="en-US" dirty="0">
                  <a:solidFill>
                    <a:srgbClr val="FF0000"/>
                  </a:solidFill>
                </a:endParaRPr>
              </a:p>
            </p:txBody>
          </p:sp>
          <p:sp>
            <p:nvSpPr>
              <p:cNvPr id="9" name="文本框 8"/>
              <p:cNvSpPr txBox="1"/>
              <p:nvPr/>
            </p:nvSpPr>
            <p:spPr>
              <a:xfrm>
                <a:off x="2540902" y="2524575"/>
                <a:ext cx="432048" cy="369332"/>
              </a:xfrm>
              <a:prstGeom prst="rect">
                <a:avLst/>
              </a:prstGeom>
              <a:noFill/>
            </p:spPr>
            <p:txBody>
              <a:bodyPr wrap="square" rtlCol="0">
                <a:spAutoFit/>
              </a:bodyPr>
              <a:lstStyle/>
              <a:p>
                <a:r>
                  <a:rPr lang="en-US" altLang="zh-CN" dirty="0">
                    <a:solidFill>
                      <a:srgbClr val="FF0000"/>
                    </a:solidFill>
                  </a:rPr>
                  <a:t>7</a:t>
                </a:r>
                <a:endParaRPr lang="zh-CN" altLang="en-US" dirty="0">
                  <a:solidFill>
                    <a:srgbClr val="FF0000"/>
                  </a:solidFill>
                </a:endParaRPr>
              </a:p>
            </p:txBody>
          </p:sp>
          <p:sp>
            <p:nvSpPr>
              <p:cNvPr id="10" name="文本框 9"/>
              <p:cNvSpPr txBox="1"/>
              <p:nvPr/>
            </p:nvSpPr>
            <p:spPr>
              <a:xfrm>
                <a:off x="2801483" y="2849604"/>
                <a:ext cx="432048" cy="369332"/>
              </a:xfrm>
              <a:prstGeom prst="rect">
                <a:avLst/>
              </a:prstGeom>
              <a:noFill/>
            </p:spPr>
            <p:txBody>
              <a:bodyPr wrap="square" rtlCol="0">
                <a:spAutoFit/>
              </a:bodyPr>
              <a:lstStyle/>
              <a:p>
                <a:r>
                  <a:rPr lang="en-US" altLang="zh-CN" dirty="0">
                    <a:solidFill>
                      <a:srgbClr val="FF0000"/>
                    </a:solidFill>
                  </a:rPr>
                  <a:t>8</a:t>
                </a:r>
                <a:endParaRPr lang="zh-CN" altLang="en-US" dirty="0">
                  <a:solidFill>
                    <a:srgbClr val="FF0000"/>
                  </a:solidFill>
                </a:endParaRPr>
              </a:p>
            </p:txBody>
          </p:sp>
          <p:sp>
            <p:nvSpPr>
              <p:cNvPr id="11" name="文本框 10"/>
              <p:cNvSpPr txBox="1"/>
              <p:nvPr/>
            </p:nvSpPr>
            <p:spPr>
              <a:xfrm>
                <a:off x="2585459" y="3059668"/>
                <a:ext cx="432048" cy="369332"/>
              </a:xfrm>
              <a:prstGeom prst="rect">
                <a:avLst/>
              </a:prstGeom>
              <a:noFill/>
            </p:spPr>
            <p:txBody>
              <a:bodyPr wrap="square" rtlCol="0">
                <a:spAutoFit/>
              </a:bodyPr>
              <a:lstStyle/>
              <a:p>
                <a:r>
                  <a:rPr lang="en-US" altLang="zh-CN" dirty="0">
                    <a:solidFill>
                      <a:srgbClr val="FF0000"/>
                    </a:solidFill>
                  </a:rPr>
                  <a:t>9</a:t>
                </a:r>
                <a:endParaRPr lang="zh-CN" altLang="en-US" dirty="0">
                  <a:solidFill>
                    <a:srgbClr val="FF0000"/>
                  </a:solidFill>
                </a:endParaRPr>
              </a:p>
            </p:txBody>
          </p:sp>
        </p:grpSp>
        <p:grpSp>
          <p:nvGrpSpPr>
            <p:cNvPr id="21" name="组合 20"/>
            <p:cNvGrpSpPr/>
            <p:nvPr/>
          </p:nvGrpSpPr>
          <p:grpSpPr>
            <a:xfrm>
              <a:off x="6149485" y="2402226"/>
              <a:ext cx="2164705" cy="1166636"/>
              <a:chOff x="6149485" y="2402226"/>
              <a:chExt cx="2164705" cy="1166636"/>
            </a:xfrm>
          </p:grpSpPr>
          <p:sp>
            <p:nvSpPr>
              <p:cNvPr id="12" name="文本框 11"/>
              <p:cNvSpPr txBox="1"/>
              <p:nvPr/>
            </p:nvSpPr>
            <p:spPr>
              <a:xfrm>
                <a:off x="6149485" y="2633547"/>
                <a:ext cx="432048" cy="369332"/>
              </a:xfrm>
              <a:prstGeom prst="rect">
                <a:avLst/>
              </a:prstGeom>
              <a:noFill/>
            </p:spPr>
            <p:txBody>
              <a:bodyPr wrap="square" rtlCol="0">
                <a:spAutoFit/>
              </a:bodyPr>
              <a:lstStyle/>
              <a:p>
                <a:r>
                  <a:rPr lang="en-US" altLang="zh-CN" dirty="0">
                    <a:solidFill>
                      <a:srgbClr val="FF0000"/>
                    </a:solidFill>
                  </a:rPr>
                  <a:t>1</a:t>
                </a:r>
                <a:endParaRPr lang="zh-CN" altLang="en-US" dirty="0">
                  <a:solidFill>
                    <a:srgbClr val="FF0000"/>
                  </a:solidFill>
                </a:endParaRPr>
              </a:p>
            </p:txBody>
          </p:sp>
          <p:sp>
            <p:nvSpPr>
              <p:cNvPr id="13" name="文本框 12"/>
              <p:cNvSpPr txBox="1"/>
              <p:nvPr/>
            </p:nvSpPr>
            <p:spPr>
              <a:xfrm>
                <a:off x="6178154" y="2999717"/>
                <a:ext cx="432048" cy="369332"/>
              </a:xfrm>
              <a:prstGeom prst="rect">
                <a:avLst/>
              </a:prstGeom>
              <a:noFill/>
            </p:spPr>
            <p:txBody>
              <a:bodyPr wrap="square" rtlCol="0">
                <a:spAutoFit/>
              </a:bodyPr>
              <a:lstStyle/>
              <a:p>
                <a:r>
                  <a:rPr lang="en-US" altLang="zh-CN" dirty="0">
                    <a:solidFill>
                      <a:srgbClr val="FF0000"/>
                    </a:solidFill>
                  </a:rPr>
                  <a:t>2</a:t>
                </a:r>
                <a:endParaRPr lang="zh-CN" altLang="en-US" dirty="0">
                  <a:solidFill>
                    <a:srgbClr val="FF0000"/>
                  </a:solidFill>
                </a:endParaRPr>
              </a:p>
            </p:txBody>
          </p:sp>
          <p:sp>
            <p:nvSpPr>
              <p:cNvPr id="14" name="文本框 13"/>
              <p:cNvSpPr txBox="1"/>
              <p:nvPr/>
            </p:nvSpPr>
            <p:spPr>
              <a:xfrm>
                <a:off x="6562871" y="3199530"/>
                <a:ext cx="432048" cy="369332"/>
              </a:xfrm>
              <a:prstGeom prst="rect">
                <a:avLst/>
              </a:prstGeom>
              <a:noFill/>
            </p:spPr>
            <p:txBody>
              <a:bodyPr wrap="square" rtlCol="0">
                <a:spAutoFit/>
              </a:bodyPr>
              <a:lstStyle/>
              <a:p>
                <a:r>
                  <a:rPr lang="en-US" altLang="zh-CN" dirty="0">
                    <a:solidFill>
                      <a:srgbClr val="FF0000"/>
                    </a:solidFill>
                  </a:rPr>
                  <a:t>3</a:t>
                </a:r>
                <a:endParaRPr lang="zh-CN" altLang="en-US" dirty="0">
                  <a:solidFill>
                    <a:srgbClr val="FF0000"/>
                  </a:solidFill>
                </a:endParaRPr>
              </a:p>
            </p:txBody>
          </p:sp>
          <p:sp>
            <p:nvSpPr>
              <p:cNvPr id="15" name="文本框 14"/>
              <p:cNvSpPr txBox="1"/>
              <p:nvPr/>
            </p:nvSpPr>
            <p:spPr>
              <a:xfrm>
                <a:off x="6997694" y="3048944"/>
                <a:ext cx="432048" cy="369332"/>
              </a:xfrm>
              <a:prstGeom prst="rect">
                <a:avLst/>
              </a:prstGeom>
              <a:noFill/>
            </p:spPr>
            <p:txBody>
              <a:bodyPr wrap="square" rtlCol="0">
                <a:spAutoFit/>
              </a:bodyPr>
              <a:lstStyle/>
              <a:p>
                <a:r>
                  <a:rPr lang="en-US" altLang="zh-CN" dirty="0">
                    <a:solidFill>
                      <a:srgbClr val="FF0000"/>
                    </a:solidFill>
                  </a:rPr>
                  <a:t>4</a:t>
                </a:r>
                <a:endParaRPr lang="zh-CN" altLang="en-US" dirty="0">
                  <a:solidFill>
                    <a:srgbClr val="FF0000"/>
                  </a:solidFill>
                </a:endParaRPr>
              </a:p>
            </p:txBody>
          </p:sp>
          <p:sp>
            <p:nvSpPr>
              <p:cNvPr id="16" name="文本框 15"/>
              <p:cNvSpPr txBox="1"/>
              <p:nvPr/>
            </p:nvSpPr>
            <p:spPr>
              <a:xfrm>
                <a:off x="6982683" y="2579570"/>
                <a:ext cx="432048" cy="369332"/>
              </a:xfrm>
              <a:prstGeom prst="rect">
                <a:avLst/>
              </a:prstGeom>
              <a:noFill/>
            </p:spPr>
            <p:txBody>
              <a:bodyPr wrap="square" rtlCol="0">
                <a:spAutoFit/>
              </a:bodyPr>
              <a:lstStyle/>
              <a:p>
                <a:r>
                  <a:rPr lang="en-US" altLang="zh-CN" dirty="0">
                    <a:solidFill>
                      <a:srgbClr val="FF0000"/>
                    </a:solidFill>
                  </a:rPr>
                  <a:t>5</a:t>
                </a:r>
                <a:endParaRPr lang="zh-CN" altLang="en-US" dirty="0">
                  <a:solidFill>
                    <a:srgbClr val="FF0000"/>
                  </a:solidFill>
                </a:endParaRPr>
              </a:p>
            </p:txBody>
          </p:sp>
          <p:sp>
            <p:nvSpPr>
              <p:cNvPr id="17" name="文本框 16"/>
              <p:cNvSpPr txBox="1"/>
              <p:nvPr/>
            </p:nvSpPr>
            <p:spPr>
              <a:xfrm>
                <a:off x="6559829" y="2402226"/>
                <a:ext cx="432048" cy="369332"/>
              </a:xfrm>
              <a:prstGeom prst="rect">
                <a:avLst/>
              </a:prstGeom>
              <a:noFill/>
            </p:spPr>
            <p:txBody>
              <a:bodyPr wrap="square" rtlCol="0">
                <a:spAutoFit/>
              </a:bodyPr>
              <a:lstStyle/>
              <a:p>
                <a:r>
                  <a:rPr lang="en-US" altLang="zh-CN" dirty="0">
                    <a:solidFill>
                      <a:srgbClr val="FF0000"/>
                    </a:solidFill>
                  </a:rPr>
                  <a:t>6</a:t>
                </a:r>
                <a:endParaRPr lang="zh-CN" altLang="en-US" dirty="0">
                  <a:solidFill>
                    <a:srgbClr val="FF0000"/>
                  </a:solidFill>
                </a:endParaRPr>
              </a:p>
            </p:txBody>
          </p:sp>
          <p:sp>
            <p:nvSpPr>
              <p:cNvPr id="18" name="文本框 17"/>
              <p:cNvSpPr txBox="1"/>
              <p:nvPr/>
            </p:nvSpPr>
            <p:spPr>
              <a:xfrm>
                <a:off x="7621561" y="2567197"/>
                <a:ext cx="432048" cy="369332"/>
              </a:xfrm>
              <a:prstGeom prst="rect">
                <a:avLst/>
              </a:prstGeom>
              <a:noFill/>
            </p:spPr>
            <p:txBody>
              <a:bodyPr wrap="square" rtlCol="0">
                <a:spAutoFit/>
              </a:bodyPr>
              <a:lstStyle/>
              <a:p>
                <a:r>
                  <a:rPr lang="en-US" altLang="zh-CN" dirty="0">
                    <a:solidFill>
                      <a:srgbClr val="FF0000"/>
                    </a:solidFill>
                  </a:rPr>
                  <a:t>7</a:t>
                </a:r>
                <a:endParaRPr lang="zh-CN" altLang="en-US" dirty="0">
                  <a:solidFill>
                    <a:srgbClr val="FF0000"/>
                  </a:solidFill>
                </a:endParaRPr>
              </a:p>
            </p:txBody>
          </p:sp>
          <p:sp>
            <p:nvSpPr>
              <p:cNvPr id="19" name="文本框 18"/>
              <p:cNvSpPr txBox="1"/>
              <p:nvPr/>
            </p:nvSpPr>
            <p:spPr>
              <a:xfrm>
                <a:off x="7882142" y="2892226"/>
                <a:ext cx="432048" cy="369332"/>
              </a:xfrm>
              <a:prstGeom prst="rect">
                <a:avLst/>
              </a:prstGeom>
              <a:noFill/>
            </p:spPr>
            <p:txBody>
              <a:bodyPr wrap="square" rtlCol="0">
                <a:spAutoFit/>
              </a:bodyPr>
              <a:lstStyle/>
              <a:p>
                <a:r>
                  <a:rPr lang="en-US" altLang="zh-CN" dirty="0">
                    <a:solidFill>
                      <a:srgbClr val="FF0000"/>
                    </a:solidFill>
                  </a:rPr>
                  <a:t>8</a:t>
                </a:r>
                <a:endParaRPr lang="zh-CN" altLang="en-US" dirty="0">
                  <a:solidFill>
                    <a:srgbClr val="FF0000"/>
                  </a:solidFill>
                </a:endParaRPr>
              </a:p>
            </p:txBody>
          </p:sp>
          <p:sp>
            <p:nvSpPr>
              <p:cNvPr id="20" name="文本框 19"/>
              <p:cNvSpPr txBox="1"/>
              <p:nvPr/>
            </p:nvSpPr>
            <p:spPr>
              <a:xfrm>
                <a:off x="7666118" y="3102290"/>
                <a:ext cx="432048" cy="369332"/>
              </a:xfrm>
              <a:prstGeom prst="rect">
                <a:avLst/>
              </a:prstGeom>
              <a:noFill/>
            </p:spPr>
            <p:txBody>
              <a:bodyPr wrap="square" rtlCol="0">
                <a:spAutoFit/>
              </a:bodyPr>
              <a:lstStyle/>
              <a:p>
                <a:r>
                  <a:rPr lang="en-US" altLang="zh-CN" dirty="0">
                    <a:solidFill>
                      <a:srgbClr val="FF0000"/>
                    </a:solidFill>
                  </a:rPr>
                  <a:t>9</a:t>
                </a:r>
                <a:endParaRPr lang="zh-CN" altLang="en-US" dirty="0">
                  <a:solidFill>
                    <a:srgbClr val="FF0000"/>
                  </a:solidFill>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4" descr="49033-10-03 copy"/>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0" y="1743075"/>
            <a:ext cx="7620000" cy="337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组合 1"/>
          <p:cNvGrpSpPr/>
          <p:nvPr/>
        </p:nvGrpSpPr>
        <p:grpSpPr>
          <a:xfrm>
            <a:off x="1228129" y="2348880"/>
            <a:ext cx="6466038" cy="977547"/>
            <a:chOff x="1228129" y="2348880"/>
            <a:chExt cx="6466038" cy="977547"/>
          </a:xfrm>
        </p:grpSpPr>
        <p:sp>
          <p:nvSpPr>
            <p:cNvPr id="4" name="文本框 3"/>
            <p:cNvSpPr txBox="1"/>
            <p:nvPr/>
          </p:nvSpPr>
          <p:spPr>
            <a:xfrm>
              <a:off x="1536370" y="2957095"/>
              <a:ext cx="432048" cy="369332"/>
            </a:xfrm>
            <a:prstGeom prst="rect">
              <a:avLst/>
            </a:prstGeom>
            <a:noFill/>
          </p:spPr>
          <p:txBody>
            <a:bodyPr wrap="square" rtlCol="0">
              <a:spAutoFit/>
            </a:bodyPr>
            <a:lstStyle/>
            <a:p>
              <a:r>
                <a:rPr lang="en-US" altLang="zh-CN" dirty="0">
                  <a:solidFill>
                    <a:srgbClr val="FF0000"/>
                  </a:solidFill>
                </a:rPr>
                <a:t>1</a:t>
              </a:r>
              <a:endParaRPr lang="zh-CN" altLang="en-US" dirty="0">
                <a:solidFill>
                  <a:srgbClr val="FF0000"/>
                </a:solidFill>
              </a:endParaRPr>
            </a:p>
          </p:txBody>
        </p:sp>
        <p:sp>
          <p:nvSpPr>
            <p:cNvPr id="5" name="文本框 4"/>
            <p:cNvSpPr txBox="1"/>
            <p:nvPr/>
          </p:nvSpPr>
          <p:spPr>
            <a:xfrm>
              <a:off x="1228129" y="2863785"/>
              <a:ext cx="432048" cy="369332"/>
            </a:xfrm>
            <a:prstGeom prst="rect">
              <a:avLst/>
            </a:prstGeom>
            <a:noFill/>
          </p:spPr>
          <p:txBody>
            <a:bodyPr wrap="square" rtlCol="0">
              <a:spAutoFit/>
            </a:bodyPr>
            <a:lstStyle/>
            <a:p>
              <a:r>
                <a:rPr lang="en-US" altLang="zh-CN" dirty="0">
                  <a:solidFill>
                    <a:srgbClr val="FF0000"/>
                  </a:solidFill>
                </a:rPr>
                <a:t>2</a:t>
              </a:r>
              <a:endParaRPr lang="zh-CN" altLang="en-US" dirty="0">
                <a:solidFill>
                  <a:srgbClr val="FF0000"/>
                </a:solidFill>
              </a:endParaRPr>
            </a:p>
          </p:txBody>
        </p:sp>
        <p:sp>
          <p:nvSpPr>
            <p:cNvPr id="6" name="文本框 5"/>
            <p:cNvSpPr txBox="1"/>
            <p:nvPr/>
          </p:nvSpPr>
          <p:spPr>
            <a:xfrm>
              <a:off x="1261861" y="2515631"/>
              <a:ext cx="432048" cy="369332"/>
            </a:xfrm>
            <a:prstGeom prst="rect">
              <a:avLst/>
            </a:prstGeom>
            <a:noFill/>
          </p:spPr>
          <p:txBody>
            <a:bodyPr wrap="square" rtlCol="0">
              <a:spAutoFit/>
            </a:bodyPr>
            <a:lstStyle/>
            <a:p>
              <a:r>
                <a:rPr lang="en-US" altLang="zh-CN" dirty="0">
                  <a:solidFill>
                    <a:srgbClr val="FF0000"/>
                  </a:solidFill>
                </a:rPr>
                <a:t>3</a:t>
              </a:r>
              <a:endParaRPr lang="zh-CN" altLang="en-US" dirty="0">
                <a:solidFill>
                  <a:srgbClr val="FF0000"/>
                </a:solidFill>
              </a:endParaRPr>
            </a:p>
          </p:txBody>
        </p:sp>
        <p:sp>
          <p:nvSpPr>
            <p:cNvPr id="7" name="文本框 6"/>
            <p:cNvSpPr txBox="1"/>
            <p:nvPr/>
          </p:nvSpPr>
          <p:spPr>
            <a:xfrm>
              <a:off x="1562940" y="2352282"/>
              <a:ext cx="432048" cy="369332"/>
            </a:xfrm>
            <a:prstGeom prst="rect">
              <a:avLst/>
            </a:prstGeom>
            <a:noFill/>
          </p:spPr>
          <p:txBody>
            <a:bodyPr wrap="square" rtlCol="0">
              <a:spAutoFit/>
            </a:bodyPr>
            <a:lstStyle/>
            <a:p>
              <a:r>
                <a:rPr lang="en-US" altLang="zh-CN" dirty="0">
                  <a:solidFill>
                    <a:srgbClr val="FF0000"/>
                  </a:solidFill>
                </a:rPr>
                <a:t>4</a:t>
              </a:r>
              <a:endParaRPr lang="zh-CN" altLang="en-US" dirty="0">
                <a:solidFill>
                  <a:srgbClr val="FF0000"/>
                </a:solidFill>
              </a:endParaRPr>
            </a:p>
          </p:txBody>
        </p:sp>
        <p:sp>
          <p:nvSpPr>
            <p:cNvPr id="8" name="文本框 7"/>
            <p:cNvSpPr txBox="1"/>
            <p:nvPr/>
          </p:nvSpPr>
          <p:spPr>
            <a:xfrm>
              <a:off x="1836707" y="2508955"/>
              <a:ext cx="432048" cy="369332"/>
            </a:xfrm>
            <a:prstGeom prst="rect">
              <a:avLst/>
            </a:prstGeom>
            <a:noFill/>
          </p:spPr>
          <p:txBody>
            <a:bodyPr wrap="square" rtlCol="0">
              <a:spAutoFit/>
            </a:bodyPr>
            <a:lstStyle/>
            <a:p>
              <a:r>
                <a:rPr lang="en-US" altLang="zh-CN" dirty="0">
                  <a:solidFill>
                    <a:srgbClr val="FF0000"/>
                  </a:solidFill>
                </a:rPr>
                <a:t>5</a:t>
              </a:r>
              <a:endParaRPr lang="zh-CN" altLang="en-US" dirty="0">
                <a:solidFill>
                  <a:srgbClr val="FF0000"/>
                </a:solidFill>
              </a:endParaRPr>
            </a:p>
          </p:txBody>
        </p:sp>
        <p:sp>
          <p:nvSpPr>
            <p:cNvPr id="9" name="文本框 8"/>
            <p:cNvSpPr txBox="1"/>
            <p:nvPr/>
          </p:nvSpPr>
          <p:spPr>
            <a:xfrm>
              <a:off x="1874031" y="2875632"/>
              <a:ext cx="432048" cy="369332"/>
            </a:xfrm>
            <a:prstGeom prst="rect">
              <a:avLst/>
            </a:prstGeom>
            <a:noFill/>
          </p:spPr>
          <p:txBody>
            <a:bodyPr wrap="square" rtlCol="0">
              <a:spAutoFit/>
            </a:bodyPr>
            <a:lstStyle/>
            <a:p>
              <a:r>
                <a:rPr lang="en-US" altLang="zh-CN" dirty="0">
                  <a:solidFill>
                    <a:srgbClr val="FF0000"/>
                  </a:solidFill>
                </a:rPr>
                <a:t>6</a:t>
              </a:r>
              <a:endParaRPr lang="zh-CN" altLang="en-US" dirty="0">
                <a:solidFill>
                  <a:srgbClr val="FF0000"/>
                </a:solidFill>
              </a:endParaRPr>
            </a:p>
          </p:txBody>
        </p:sp>
        <p:sp>
          <p:nvSpPr>
            <p:cNvPr id="13" name="文本框 12"/>
            <p:cNvSpPr txBox="1"/>
            <p:nvPr/>
          </p:nvSpPr>
          <p:spPr>
            <a:xfrm>
              <a:off x="4234339" y="2953693"/>
              <a:ext cx="432048" cy="369332"/>
            </a:xfrm>
            <a:prstGeom prst="rect">
              <a:avLst/>
            </a:prstGeom>
            <a:noFill/>
          </p:spPr>
          <p:txBody>
            <a:bodyPr wrap="square" rtlCol="0">
              <a:spAutoFit/>
            </a:bodyPr>
            <a:lstStyle/>
            <a:p>
              <a:r>
                <a:rPr lang="en-US" altLang="zh-CN" dirty="0">
                  <a:solidFill>
                    <a:schemeClr val="tx2">
                      <a:lumMod val="75000"/>
                    </a:schemeClr>
                  </a:solidFill>
                </a:rPr>
                <a:t>1</a:t>
              </a:r>
              <a:endParaRPr lang="zh-CN" altLang="en-US" dirty="0">
                <a:solidFill>
                  <a:schemeClr val="tx2">
                    <a:lumMod val="75000"/>
                  </a:schemeClr>
                </a:solidFill>
              </a:endParaRPr>
            </a:p>
          </p:txBody>
        </p:sp>
        <p:sp>
          <p:nvSpPr>
            <p:cNvPr id="14" name="文本框 13"/>
            <p:cNvSpPr txBox="1"/>
            <p:nvPr/>
          </p:nvSpPr>
          <p:spPr>
            <a:xfrm>
              <a:off x="3926098" y="2860383"/>
              <a:ext cx="432048" cy="369332"/>
            </a:xfrm>
            <a:prstGeom prst="rect">
              <a:avLst/>
            </a:prstGeom>
            <a:noFill/>
          </p:spPr>
          <p:txBody>
            <a:bodyPr wrap="square" rtlCol="0">
              <a:spAutoFit/>
            </a:bodyPr>
            <a:lstStyle/>
            <a:p>
              <a:r>
                <a:rPr lang="en-US" altLang="zh-CN" dirty="0">
                  <a:solidFill>
                    <a:schemeClr val="tx2">
                      <a:lumMod val="75000"/>
                    </a:schemeClr>
                  </a:solidFill>
                </a:rPr>
                <a:t>2</a:t>
              </a:r>
              <a:endParaRPr lang="zh-CN" altLang="en-US" dirty="0">
                <a:solidFill>
                  <a:schemeClr val="tx2">
                    <a:lumMod val="75000"/>
                  </a:schemeClr>
                </a:solidFill>
              </a:endParaRPr>
            </a:p>
          </p:txBody>
        </p:sp>
        <p:sp>
          <p:nvSpPr>
            <p:cNvPr id="15" name="文本框 14"/>
            <p:cNvSpPr txBox="1"/>
            <p:nvPr/>
          </p:nvSpPr>
          <p:spPr>
            <a:xfrm>
              <a:off x="3959830" y="2512229"/>
              <a:ext cx="432048" cy="369332"/>
            </a:xfrm>
            <a:prstGeom prst="rect">
              <a:avLst/>
            </a:prstGeom>
            <a:noFill/>
          </p:spPr>
          <p:txBody>
            <a:bodyPr wrap="square" rtlCol="0">
              <a:spAutoFit/>
            </a:bodyPr>
            <a:lstStyle/>
            <a:p>
              <a:r>
                <a:rPr lang="en-US" altLang="zh-CN" dirty="0">
                  <a:solidFill>
                    <a:schemeClr val="tx2">
                      <a:lumMod val="75000"/>
                    </a:schemeClr>
                  </a:solidFill>
                </a:rPr>
                <a:t>3</a:t>
              </a:r>
              <a:endParaRPr lang="zh-CN" altLang="en-US" dirty="0">
                <a:solidFill>
                  <a:schemeClr val="tx2">
                    <a:lumMod val="75000"/>
                  </a:schemeClr>
                </a:solidFill>
              </a:endParaRPr>
            </a:p>
          </p:txBody>
        </p:sp>
        <p:sp>
          <p:nvSpPr>
            <p:cNvPr id="16" name="文本框 15"/>
            <p:cNvSpPr txBox="1"/>
            <p:nvPr/>
          </p:nvSpPr>
          <p:spPr>
            <a:xfrm>
              <a:off x="4260909" y="2348880"/>
              <a:ext cx="432048" cy="369332"/>
            </a:xfrm>
            <a:prstGeom prst="rect">
              <a:avLst/>
            </a:prstGeom>
            <a:noFill/>
          </p:spPr>
          <p:txBody>
            <a:bodyPr wrap="square" rtlCol="0">
              <a:spAutoFit/>
            </a:bodyPr>
            <a:lstStyle/>
            <a:p>
              <a:r>
                <a:rPr lang="en-US" altLang="zh-CN" dirty="0">
                  <a:solidFill>
                    <a:schemeClr val="tx2">
                      <a:lumMod val="75000"/>
                    </a:schemeClr>
                  </a:solidFill>
                </a:rPr>
                <a:t>4</a:t>
              </a:r>
              <a:endParaRPr lang="zh-CN" altLang="en-US" dirty="0">
                <a:solidFill>
                  <a:schemeClr val="tx2">
                    <a:lumMod val="75000"/>
                  </a:schemeClr>
                </a:solidFill>
              </a:endParaRPr>
            </a:p>
          </p:txBody>
        </p:sp>
        <p:sp>
          <p:nvSpPr>
            <p:cNvPr id="17" name="文本框 16"/>
            <p:cNvSpPr txBox="1"/>
            <p:nvPr/>
          </p:nvSpPr>
          <p:spPr>
            <a:xfrm>
              <a:off x="4534676" y="2505553"/>
              <a:ext cx="432048" cy="369332"/>
            </a:xfrm>
            <a:prstGeom prst="rect">
              <a:avLst/>
            </a:prstGeom>
            <a:noFill/>
          </p:spPr>
          <p:txBody>
            <a:bodyPr wrap="square" rtlCol="0">
              <a:spAutoFit/>
            </a:bodyPr>
            <a:lstStyle/>
            <a:p>
              <a:r>
                <a:rPr lang="en-US" altLang="zh-CN" dirty="0">
                  <a:solidFill>
                    <a:schemeClr val="tx2">
                      <a:lumMod val="75000"/>
                    </a:schemeClr>
                  </a:solidFill>
                </a:rPr>
                <a:t>5</a:t>
              </a:r>
              <a:endParaRPr lang="zh-CN" altLang="en-US" dirty="0">
                <a:solidFill>
                  <a:schemeClr val="tx2">
                    <a:lumMod val="75000"/>
                  </a:schemeClr>
                </a:solidFill>
              </a:endParaRPr>
            </a:p>
          </p:txBody>
        </p:sp>
        <p:sp>
          <p:nvSpPr>
            <p:cNvPr id="18" name="文本框 17"/>
            <p:cNvSpPr txBox="1"/>
            <p:nvPr/>
          </p:nvSpPr>
          <p:spPr>
            <a:xfrm>
              <a:off x="4572000" y="2872230"/>
              <a:ext cx="432048" cy="369332"/>
            </a:xfrm>
            <a:prstGeom prst="rect">
              <a:avLst/>
            </a:prstGeom>
            <a:noFill/>
          </p:spPr>
          <p:txBody>
            <a:bodyPr wrap="square" rtlCol="0">
              <a:spAutoFit/>
            </a:bodyPr>
            <a:lstStyle/>
            <a:p>
              <a:r>
                <a:rPr lang="en-US" altLang="zh-CN" dirty="0">
                  <a:solidFill>
                    <a:schemeClr val="tx2">
                      <a:lumMod val="75000"/>
                    </a:schemeClr>
                  </a:solidFill>
                </a:rPr>
                <a:t>6</a:t>
              </a:r>
              <a:endParaRPr lang="zh-CN" altLang="en-US" dirty="0">
                <a:solidFill>
                  <a:schemeClr val="tx2">
                    <a:lumMod val="75000"/>
                  </a:schemeClr>
                </a:solidFill>
              </a:endParaRPr>
            </a:p>
          </p:txBody>
        </p:sp>
        <p:sp>
          <p:nvSpPr>
            <p:cNvPr id="19" name="文本框 18"/>
            <p:cNvSpPr txBox="1"/>
            <p:nvPr/>
          </p:nvSpPr>
          <p:spPr>
            <a:xfrm>
              <a:off x="6924458" y="2953693"/>
              <a:ext cx="432048" cy="369332"/>
            </a:xfrm>
            <a:prstGeom prst="rect">
              <a:avLst/>
            </a:prstGeom>
            <a:noFill/>
          </p:spPr>
          <p:txBody>
            <a:bodyPr wrap="square" rtlCol="0">
              <a:spAutoFit/>
            </a:bodyPr>
            <a:lstStyle/>
            <a:p>
              <a:r>
                <a:rPr lang="en-US" altLang="zh-CN" dirty="0">
                  <a:solidFill>
                    <a:schemeClr val="tx2">
                      <a:lumMod val="75000"/>
                    </a:schemeClr>
                  </a:solidFill>
                </a:rPr>
                <a:t>1</a:t>
              </a:r>
              <a:endParaRPr lang="zh-CN" altLang="en-US" dirty="0">
                <a:solidFill>
                  <a:schemeClr val="tx2">
                    <a:lumMod val="75000"/>
                  </a:schemeClr>
                </a:solidFill>
              </a:endParaRPr>
            </a:p>
          </p:txBody>
        </p:sp>
        <p:sp>
          <p:nvSpPr>
            <p:cNvPr id="20" name="文本框 19"/>
            <p:cNvSpPr txBox="1"/>
            <p:nvPr/>
          </p:nvSpPr>
          <p:spPr>
            <a:xfrm>
              <a:off x="6616217" y="2860383"/>
              <a:ext cx="432048" cy="369332"/>
            </a:xfrm>
            <a:prstGeom prst="rect">
              <a:avLst/>
            </a:prstGeom>
            <a:noFill/>
          </p:spPr>
          <p:txBody>
            <a:bodyPr wrap="square" rtlCol="0">
              <a:spAutoFit/>
            </a:bodyPr>
            <a:lstStyle/>
            <a:p>
              <a:r>
                <a:rPr lang="en-US" altLang="zh-CN" dirty="0">
                  <a:solidFill>
                    <a:schemeClr val="tx2">
                      <a:lumMod val="75000"/>
                    </a:schemeClr>
                  </a:solidFill>
                </a:rPr>
                <a:t>2</a:t>
              </a:r>
              <a:endParaRPr lang="zh-CN" altLang="en-US" dirty="0">
                <a:solidFill>
                  <a:schemeClr val="tx2">
                    <a:lumMod val="75000"/>
                  </a:schemeClr>
                </a:solidFill>
              </a:endParaRPr>
            </a:p>
          </p:txBody>
        </p:sp>
        <p:sp>
          <p:nvSpPr>
            <p:cNvPr id="21" name="文本框 20"/>
            <p:cNvSpPr txBox="1"/>
            <p:nvPr/>
          </p:nvSpPr>
          <p:spPr>
            <a:xfrm>
              <a:off x="6649949" y="2512229"/>
              <a:ext cx="432048" cy="369332"/>
            </a:xfrm>
            <a:prstGeom prst="rect">
              <a:avLst/>
            </a:prstGeom>
            <a:noFill/>
          </p:spPr>
          <p:txBody>
            <a:bodyPr wrap="square" rtlCol="0">
              <a:spAutoFit/>
            </a:bodyPr>
            <a:lstStyle/>
            <a:p>
              <a:r>
                <a:rPr lang="en-US" altLang="zh-CN" dirty="0">
                  <a:solidFill>
                    <a:schemeClr val="tx2">
                      <a:lumMod val="75000"/>
                    </a:schemeClr>
                  </a:solidFill>
                </a:rPr>
                <a:t>3</a:t>
              </a:r>
              <a:endParaRPr lang="zh-CN" altLang="en-US" dirty="0">
                <a:solidFill>
                  <a:schemeClr val="tx2">
                    <a:lumMod val="75000"/>
                  </a:schemeClr>
                </a:solidFill>
              </a:endParaRPr>
            </a:p>
          </p:txBody>
        </p:sp>
        <p:sp>
          <p:nvSpPr>
            <p:cNvPr id="22" name="文本框 21"/>
            <p:cNvSpPr txBox="1"/>
            <p:nvPr/>
          </p:nvSpPr>
          <p:spPr>
            <a:xfrm>
              <a:off x="6951028" y="2348880"/>
              <a:ext cx="432048" cy="369332"/>
            </a:xfrm>
            <a:prstGeom prst="rect">
              <a:avLst/>
            </a:prstGeom>
            <a:noFill/>
          </p:spPr>
          <p:txBody>
            <a:bodyPr wrap="square" rtlCol="0">
              <a:spAutoFit/>
            </a:bodyPr>
            <a:lstStyle/>
            <a:p>
              <a:r>
                <a:rPr lang="en-US" altLang="zh-CN" dirty="0">
                  <a:solidFill>
                    <a:schemeClr val="tx2">
                      <a:lumMod val="75000"/>
                    </a:schemeClr>
                  </a:solidFill>
                </a:rPr>
                <a:t>4</a:t>
              </a:r>
              <a:endParaRPr lang="zh-CN" altLang="en-US" dirty="0">
                <a:solidFill>
                  <a:schemeClr val="tx2">
                    <a:lumMod val="75000"/>
                  </a:schemeClr>
                </a:solidFill>
              </a:endParaRPr>
            </a:p>
          </p:txBody>
        </p:sp>
        <p:sp>
          <p:nvSpPr>
            <p:cNvPr id="23" name="文本框 22"/>
            <p:cNvSpPr txBox="1"/>
            <p:nvPr/>
          </p:nvSpPr>
          <p:spPr>
            <a:xfrm>
              <a:off x="7224795" y="2505553"/>
              <a:ext cx="432048" cy="369332"/>
            </a:xfrm>
            <a:prstGeom prst="rect">
              <a:avLst/>
            </a:prstGeom>
            <a:noFill/>
          </p:spPr>
          <p:txBody>
            <a:bodyPr wrap="square" rtlCol="0">
              <a:spAutoFit/>
            </a:bodyPr>
            <a:lstStyle/>
            <a:p>
              <a:r>
                <a:rPr lang="en-US" altLang="zh-CN" dirty="0">
                  <a:solidFill>
                    <a:schemeClr val="tx2">
                      <a:lumMod val="75000"/>
                    </a:schemeClr>
                  </a:solidFill>
                </a:rPr>
                <a:t>5</a:t>
              </a:r>
              <a:endParaRPr lang="zh-CN" altLang="en-US" dirty="0">
                <a:solidFill>
                  <a:schemeClr val="tx2">
                    <a:lumMod val="75000"/>
                  </a:schemeClr>
                </a:solidFill>
              </a:endParaRPr>
            </a:p>
          </p:txBody>
        </p:sp>
        <p:sp>
          <p:nvSpPr>
            <p:cNvPr id="24" name="文本框 23"/>
            <p:cNvSpPr txBox="1"/>
            <p:nvPr/>
          </p:nvSpPr>
          <p:spPr>
            <a:xfrm>
              <a:off x="7262119" y="2872230"/>
              <a:ext cx="432048" cy="369332"/>
            </a:xfrm>
            <a:prstGeom prst="rect">
              <a:avLst/>
            </a:prstGeom>
            <a:noFill/>
          </p:spPr>
          <p:txBody>
            <a:bodyPr wrap="square" rtlCol="0">
              <a:spAutoFit/>
            </a:bodyPr>
            <a:lstStyle/>
            <a:p>
              <a:r>
                <a:rPr lang="en-US" altLang="zh-CN" dirty="0">
                  <a:solidFill>
                    <a:schemeClr val="tx2">
                      <a:lumMod val="75000"/>
                    </a:schemeClr>
                  </a:solidFill>
                </a:rPr>
                <a:t>6</a:t>
              </a:r>
              <a:endParaRPr lang="zh-CN" altLang="en-US" dirty="0">
                <a:solidFill>
                  <a:schemeClr val="tx2">
                    <a:lumMod val="75000"/>
                  </a:schemeClr>
                </a:solidFill>
              </a:endParaRPr>
            </a:p>
          </p:txBody>
        </p:sp>
      </p:grpSp>
      <p:sp>
        <p:nvSpPr>
          <p:cNvPr id="3" name="文本框 2"/>
          <p:cNvSpPr txBox="1"/>
          <p:nvPr/>
        </p:nvSpPr>
        <p:spPr>
          <a:xfrm>
            <a:off x="6493510" y="5224780"/>
            <a:ext cx="2540000" cy="368300"/>
          </a:xfrm>
          <a:prstGeom prst="rect">
            <a:avLst/>
          </a:prstGeom>
          <a:noFill/>
        </p:spPr>
        <p:txBody>
          <a:bodyPr wrap="square" rtlCol="0" anchor="t">
            <a:spAutoFit/>
          </a:bodyPr>
          <a:lstStyle/>
          <a:p>
            <a:r>
              <a:rPr lang="zh-CN" altLang="en-US"/>
              <a:t>胸腺嘧啶</a:t>
            </a:r>
          </a:p>
        </p:txBody>
      </p:sp>
      <p:sp>
        <p:nvSpPr>
          <p:cNvPr id="10" name="文本框 9"/>
          <p:cNvSpPr txBox="1"/>
          <p:nvPr/>
        </p:nvSpPr>
        <p:spPr>
          <a:xfrm>
            <a:off x="3953510" y="5224780"/>
            <a:ext cx="2540000" cy="368300"/>
          </a:xfrm>
          <a:prstGeom prst="rect">
            <a:avLst/>
          </a:prstGeom>
          <a:noFill/>
        </p:spPr>
        <p:txBody>
          <a:bodyPr wrap="square" rtlCol="0" anchor="t">
            <a:spAutoFit/>
          </a:bodyPr>
          <a:lstStyle/>
          <a:p>
            <a:r>
              <a:rPr lang="zh-CN" altLang="en-US"/>
              <a:t>脲嘧啶</a:t>
            </a:r>
          </a:p>
        </p:txBody>
      </p:sp>
      <p:sp>
        <p:nvSpPr>
          <p:cNvPr id="11" name="文本框 10"/>
          <p:cNvSpPr txBox="1"/>
          <p:nvPr/>
        </p:nvSpPr>
        <p:spPr>
          <a:xfrm>
            <a:off x="1117600" y="5224780"/>
            <a:ext cx="2540000" cy="368300"/>
          </a:xfrm>
          <a:prstGeom prst="rect">
            <a:avLst/>
          </a:prstGeom>
          <a:noFill/>
        </p:spPr>
        <p:txBody>
          <a:bodyPr wrap="square" rtlCol="0" anchor="t">
            <a:spAutoFit/>
          </a:bodyPr>
          <a:lstStyle/>
          <a:p>
            <a:r>
              <a:rPr lang="zh-CN" altLang="en-US"/>
              <a:t>胞嘧啶</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19200" y="304800"/>
            <a:ext cx="6310313" cy="640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4"/>
          <p:cNvSpPr txBox="1">
            <a:spLocks noChangeArrowheads="1"/>
          </p:cNvSpPr>
          <p:nvPr/>
        </p:nvSpPr>
        <p:spPr bwMode="auto">
          <a:xfrm>
            <a:off x="609600" y="609600"/>
            <a:ext cx="8077200" cy="5472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b="1" dirty="0"/>
              <a:t>         1.1.5 The </a:t>
            </a:r>
            <a:r>
              <a:rPr lang="en-US" altLang="zh-CN" b="1" dirty="0">
                <a:solidFill>
                  <a:srgbClr val="FF0000"/>
                </a:solidFill>
              </a:rPr>
              <a:t>pentose</a:t>
            </a:r>
            <a:r>
              <a:rPr lang="en-US" altLang="zh-CN" b="1" dirty="0"/>
              <a:t> in a deoxyribonucleotide is a </a:t>
            </a:r>
            <a:r>
              <a:rPr lang="en-US" altLang="zh-CN" b="1" dirty="0">
                <a:solidFill>
                  <a:srgbClr val="FF0000"/>
                </a:solidFill>
              </a:rPr>
              <a:t>deoxyribose</a:t>
            </a:r>
            <a:r>
              <a:rPr lang="en-US" altLang="zh-CN" b="1" dirty="0"/>
              <a:t>, which lacks an oxygen atom at the 2’-position that is present in </a:t>
            </a:r>
            <a:r>
              <a:rPr lang="en-US" altLang="zh-CN" b="1" dirty="0">
                <a:solidFill>
                  <a:srgbClr val="FF0000"/>
                </a:solidFill>
              </a:rPr>
              <a:t>ribose</a:t>
            </a:r>
            <a:r>
              <a:rPr lang="en-US" altLang="zh-CN" b="1" dirty="0"/>
              <a:t>, the parent compound. </a:t>
            </a:r>
          </a:p>
          <a:p>
            <a:pPr eaLnBrk="1" hangingPunct="1">
              <a:buFontTx/>
              <a:buNone/>
            </a:pPr>
            <a:endParaRPr lang="en-US" altLang="zh-CN" b="1" dirty="0"/>
          </a:p>
          <a:p>
            <a:pPr eaLnBrk="1" hangingPunct="1">
              <a:lnSpc>
                <a:spcPct val="80000"/>
              </a:lnSpc>
              <a:buFontTx/>
              <a:buNone/>
            </a:pPr>
            <a:r>
              <a:rPr lang="en-US" altLang="zh-CN" b="1" dirty="0"/>
              <a:t>	1.1.6 The deoxyribose is in its </a:t>
            </a:r>
            <a:r>
              <a:rPr lang="en-US" altLang="zh-CN" b="1" dirty="0">
                <a:solidFill>
                  <a:srgbClr val="FF0000"/>
                </a:solidFill>
                <a:latin typeface="Symbol" panose="05050102010706020507" pitchFamily="18" charset="2"/>
              </a:rPr>
              <a:t>b</a:t>
            </a:r>
            <a:r>
              <a:rPr lang="en-US" altLang="zh-CN" b="1" dirty="0">
                <a:solidFill>
                  <a:srgbClr val="FF0000"/>
                </a:solidFill>
              </a:rPr>
              <a:t>-furanose</a:t>
            </a:r>
            <a:r>
              <a:rPr lang="en-US" altLang="zh-CN" b="1" dirty="0"/>
              <a:t> form (a closed five-member ring).</a:t>
            </a:r>
          </a:p>
          <a:p>
            <a:pPr eaLnBrk="1" hangingPunct="1">
              <a:lnSpc>
                <a:spcPct val="80000"/>
              </a:lnSpc>
              <a:buFontTx/>
              <a:buNone/>
            </a:pPr>
            <a:r>
              <a:rPr lang="en-US" altLang="zh-CN" b="1" dirty="0"/>
              <a:t>	</a:t>
            </a:r>
          </a:p>
          <a:p>
            <a:pPr eaLnBrk="1" hangingPunct="1">
              <a:lnSpc>
                <a:spcPct val="80000"/>
              </a:lnSpc>
              <a:buFontTx/>
              <a:buNone/>
            </a:pPr>
            <a:r>
              <a:rPr lang="en-US" altLang="zh-CN" b="1" dirty="0"/>
              <a:t>         1.1.7 Only </a:t>
            </a:r>
            <a:r>
              <a:rPr lang="en-US" altLang="zh-CN" b="1" dirty="0">
                <a:solidFill>
                  <a:srgbClr val="FF0000"/>
                </a:solidFill>
              </a:rPr>
              <a:t>D-deoxyribose</a:t>
            </a:r>
            <a:r>
              <a:rPr lang="en-US" altLang="zh-CN" b="1" dirty="0"/>
              <a:t> is found in DNA. </a:t>
            </a:r>
            <a:endParaRPr lang="en-US" altLang="zh-CN" sz="2800" b="1" dirty="0"/>
          </a:p>
          <a:p>
            <a:pPr eaLnBrk="1" hangingPunct="1">
              <a:spcBef>
                <a:spcPct val="50000"/>
              </a:spcBef>
              <a:buFontTx/>
              <a:buNone/>
            </a:pPr>
            <a:endParaRPr lang="en-US" altLang="zh-CN"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41400" y="711200"/>
            <a:ext cx="70612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5850255" y="5716905"/>
            <a:ext cx="1123315" cy="368300"/>
          </a:xfrm>
          <a:prstGeom prst="rect">
            <a:avLst/>
          </a:prstGeom>
          <a:noFill/>
        </p:spPr>
        <p:txBody>
          <a:bodyPr wrap="square" rtlCol="0">
            <a:spAutoFit/>
          </a:bodyPr>
          <a:lstStyle/>
          <a:p>
            <a:r>
              <a:rPr lang="zh-CN" altLang="en-US"/>
              <a:t>呋喃糖</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8" name="Picture 4" descr="RIBOSE"/>
          <p:cNvPicPr>
            <a:picLocks noGrp="1" noChangeAspect="1" noChangeArrowheads="1"/>
          </p:cNvPicPr>
          <p:nvPr>
            <p:ph sz="half" idx="4294967295"/>
          </p:nvPr>
        </p:nvPicPr>
        <p:blipFill>
          <a:blip r:embed="rId2" cstate="print">
            <a:extLst>
              <a:ext uri="{28A0092B-C50C-407E-A947-70E740481C1C}">
                <a14:useLocalDpi xmlns:a14="http://schemas.microsoft.com/office/drawing/2010/main" val="0"/>
              </a:ext>
            </a:extLst>
          </a:blip>
          <a:srcRect/>
          <a:stretch>
            <a:fillRect/>
          </a:stretch>
        </p:blipFill>
        <p:spPr>
          <a:xfrm>
            <a:off x="4572000" y="2207785"/>
            <a:ext cx="3024336" cy="2708328"/>
          </a:xfrm>
          <a:prstGeom prst="rect">
            <a:avLst/>
          </a:prstGeom>
          <a:noFill/>
        </p:spPr>
      </p:pic>
      <p:sp>
        <p:nvSpPr>
          <p:cNvPr id="16386" name="Rectangle 2"/>
          <p:cNvSpPr>
            <a:spLocks noGrp="1" noChangeArrowheads="1"/>
          </p:cNvSpPr>
          <p:nvPr>
            <p:ph type="title" idx="4294967295"/>
          </p:nvPr>
        </p:nvSpPr>
        <p:spPr>
          <a:xfrm>
            <a:off x="603250" y="549275"/>
            <a:ext cx="8540750" cy="1143000"/>
          </a:xfrm>
          <a:prstGeom prst="rect">
            <a:avLst/>
          </a:prstGeom>
        </p:spPr>
        <p:txBody>
          <a:bodyPr/>
          <a:lstStyle/>
          <a:p>
            <a:pPr eaLnBrk="1" hangingPunct="1"/>
            <a:r>
              <a:rPr lang="en-US" altLang="zh-CN" sz="3600" b="1">
                <a:solidFill>
                  <a:srgbClr val="FF0066"/>
                </a:solidFill>
                <a:latin typeface="Arial" panose="020B0604020202020204" pitchFamily="34" charset="0"/>
              </a:rPr>
              <a:t>Deoxyribose and Ribose</a:t>
            </a:r>
          </a:p>
        </p:txBody>
      </p:sp>
      <p:pic>
        <p:nvPicPr>
          <p:cNvPr id="16387" name="Picture 3" descr="DRIBOSEH"/>
          <p:cNvPicPr>
            <a:picLocks noGrp="1" noChangeAspect="1" noChangeArrowheads="1"/>
          </p:cNvPicPr>
          <p:nvPr>
            <p:ph idx="4294967295"/>
          </p:nvPr>
        </p:nvPicPr>
        <p:blipFill>
          <a:blip r:embed="rId3" cstate="print">
            <a:extLst>
              <a:ext uri="{28A0092B-C50C-407E-A947-70E740481C1C}">
                <a14:useLocalDpi xmlns:a14="http://schemas.microsoft.com/office/drawing/2010/main" val="0"/>
              </a:ext>
            </a:extLst>
          </a:blip>
          <a:stretch>
            <a:fillRect/>
          </a:stretch>
        </p:blipFill>
        <p:spPr>
          <a:xfrm>
            <a:off x="971600" y="2257510"/>
            <a:ext cx="2952328" cy="2671857"/>
          </a:xfrm>
          <a:prstGeom prst="rect">
            <a:avLst/>
          </a:prstGeom>
          <a:noFill/>
        </p:spPr>
      </p:pic>
      <p:sp>
        <p:nvSpPr>
          <p:cNvPr id="2" name="矩形: 圆角 1"/>
          <p:cNvSpPr/>
          <p:nvPr/>
        </p:nvSpPr>
        <p:spPr>
          <a:xfrm>
            <a:off x="2987824" y="3933056"/>
            <a:ext cx="504056" cy="576064"/>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矩形: 圆角 5"/>
          <p:cNvSpPr/>
          <p:nvPr/>
        </p:nvSpPr>
        <p:spPr>
          <a:xfrm>
            <a:off x="6732240" y="3933056"/>
            <a:ext cx="504056" cy="576064"/>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矩形: 圆角 2"/>
          <p:cNvSpPr/>
          <p:nvPr/>
        </p:nvSpPr>
        <p:spPr>
          <a:xfrm>
            <a:off x="683568" y="2060848"/>
            <a:ext cx="1512168" cy="936104"/>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899592" y="1711718"/>
            <a:ext cx="792088" cy="369332"/>
          </a:xfrm>
          <a:prstGeom prst="rect">
            <a:avLst/>
          </a:prstGeom>
          <a:noFill/>
        </p:spPr>
        <p:txBody>
          <a:bodyPr wrap="square" rtlCol="0">
            <a:spAutoFit/>
          </a:bodyPr>
          <a:lstStyle/>
          <a:p>
            <a:r>
              <a:rPr lang="en-US" altLang="zh-CN" dirty="0"/>
              <a:t>D</a:t>
            </a:r>
            <a:r>
              <a:rPr lang="zh-CN" altLang="en-US" dirty="0"/>
              <a:t>型</a:t>
            </a:r>
          </a:p>
        </p:txBody>
      </p:sp>
      <p:sp>
        <p:nvSpPr>
          <p:cNvPr id="9" name="矩形: 圆角 8"/>
          <p:cNvSpPr/>
          <p:nvPr/>
        </p:nvSpPr>
        <p:spPr>
          <a:xfrm>
            <a:off x="3131840" y="2060848"/>
            <a:ext cx="1296144" cy="936104"/>
          </a:xfrm>
          <a:prstGeom prst="roundRect">
            <a:avLst/>
          </a:prstGeom>
          <a:noFill/>
          <a:ln>
            <a:solidFill>
              <a:srgbClr val="008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3383868" y="1711718"/>
            <a:ext cx="792088" cy="369332"/>
          </a:xfrm>
          <a:prstGeom prst="rect">
            <a:avLst/>
          </a:prstGeom>
          <a:noFill/>
        </p:spPr>
        <p:txBody>
          <a:bodyPr wrap="square" rtlCol="0">
            <a:spAutoFit/>
          </a:bodyPr>
          <a:lstStyle/>
          <a:p>
            <a:r>
              <a:rPr lang="en-US" altLang="zh-CN" dirty="0"/>
              <a:t>β</a:t>
            </a:r>
            <a:r>
              <a:rPr lang="zh-CN" altLang="en-US" dirty="0"/>
              <a:t>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noChangeArrowheads="1"/>
          </p:cNvSpPr>
          <p:nvPr>
            <p:ph type="title" idx="4294967295"/>
          </p:nvPr>
        </p:nvSpPr>
        <p:spPr>
          <a:xfrm>
            <a:off x="0" y="609600"/>
            <a:ext cx="7772400" cy="1143000"/>
          </a:xfrm>
          <a:prstGeom prst="rect">
            <a:avLst/>
          </a:prstGeom>
        </p:spPr>
        <p:txBody>
          <a:bodyPr/>
          <a:lstStyle/>
          <a:p>
            <a:r>
              <a:rPr lang="en-US" altLang="zh-CN" sz="2800" dirty="0"/>
              <a:t>The atoms in the 5-carbon sugar  are also numbered.</a:t>
            </a:r>
            <a:endParaRPr lang="zh-CN" altLang="en-US" sz="2800" dirty="0"/>
          </a:p>
        </p:txBody>
      </p:sp>
      <p:pic>
        <p:nvPicPr>
          <p:cNvPr id="17413" name="Picture 2" descr="L:\whole\image\10\49033-10-09 copy.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3350" y="1557338"/>
            <a:ext cx="8902700" cy="327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 name="组合 2"/>
          <p:cNvGrpSpPr/>
          <p:nvPr/>
        </p:nvGrpSpPr>
        <p:grpSpPr>
          <a:xfrm>
            <a:off x="918254" y="2214195"/>
            <a:ext cx="7839541" cy="2232209"/>
            <a:chOff x="918254" y="2214195"/>
            <a:chExt cx="7839541" cy="2232209"/>
          </a:xfrm>
        </p:grpSpPr>
        <p:sp>
          <p:nvSpPr>
            <p:cNvPr id="2" name="文本框 1"/>
            <p:cNvSpPr txBox="1"/>
            <p:nvPr/>
          </p:nvSpPr>
          <p:spPr>
            <a:xfrm>
              <a:off x="924945" y="2216874"/>
              <a:ext cx="432048" cy="369332"/>
            </a:xfrm>
            <a:prstGeom prst="rect">
              <a:avLst/>
            </a:prstGeom>
            <a:noFill/>
          </p:spPr>
          <p:txBody>
            <a:bodyPr wrap="square" rtlCol="0">
              <a:spAutoFit/>
            </a:bodyPr>
            <a:lstStyle/>
            <a:p>
              <a:r>
                <a:rPr lang="zh-CN" altLang="en-US" dirty="0">
                  <a:solidFill>
                    <a:srgbClr val="C00000"/>
                  </a:solidFill>
                </a:rPr>
                <a:t>’</a:t>
              </a:r>
            </a:p>
          </p:txBody>
        </p:sp>
        <p:sp>
          <p:nvSpPr>
            <p:cNvPr id="6" name="文本框 5"/>
            <p:cNvSpPr txBox="1"/>
            <p:nvPr/>
          </p:nvSpPr>
          <p:spPr>
            <a:xfrm>
              <a:off x="927585" y="2646282"/>
              <a:ext cx="432048" cy="369332"/>
            </a:xfrm>
            <a:prstGeom prst="rect">
              <a:avLst/>
            </a:prstGeom>
            <a:noFill/>
          </p:spPr>
          <p:txBody>
            <a:bodyPr wrap="square" rtlCol="0">
              <a:spAutoFit/>
            </a:bodyPr>
            <a:lstStyle/>
            <a:p>
              <a:r>
                <a:rPr lang="zh-CN" altLang="en-US" dirty="0">
                  <a:solidFill>
                    <a:srgbClr val="C00000"/>
                  </a:solidFill>
                </a:rPr>
                <a:t>’</a:t>
              </a:r>
            </a:p>
          </p:txBody>
        </p:sp>
        <p:sp>
          <p:nvSpPr>
            <p:cNvPr id="7" name="文本框 6"/>
            <p:cNvSpPr txBox="1"/>
            <p:nvPr/>
          </p:nvSpPr>
          <p:spPr>
            <a:xfrm>
              <a:off x="924945" y="3113014"/>
              <a:ext cx="432048" cy="369332"/>
            </a:xfrm>
            <a:prstGeom prst="rect">
              <a:avLst/>
            </a:prstGeom>
            <a:noFill/>
          </p:spPr>
          <p:txBody>
            <a:bodyPr wrap="square" rtlCol="0">
              <a:spAutoFit/>
            </a:bodyPr>
            <a:lstStyle/>
            <a:p>
              <a:r>
                <a:rPr lang="zh-CN" altLang="en-US" dirty="0">
                  <a:solidFill>
                    <a:srgbClr val="C00000"/>
                  </a:solidFill>
                </a:rPr>
                <a:t>’</a:t>
              </a:r>
            </a:p>
          </p:txBody>
        </p:sp>
        <p:sp>
          <p:nvSpPr>
            <p:cNvPr id="8" name="文本框 7"/>
            <p:cNvSpPr txBox="1"/>
            <p:nvPr/>
          </p:nvSpPr>
          <p:spPr>
            <a:xfrm>
              <a:off x="918254" y="3601048"/>
              <a:ext cx="432048" cy="369332"/>
            </a:xfrm>
            <a:prstGeom prst="rect">
              <a:avLst/>
            </a:prstGeom>
            <a:noFill/>
          </p:spPr>
          <p:txBody>
            <a:bodyPr wrap="square" rtlCol="0">
              <a:spAutoFit/>
            </a:bodyPr>
            <a:lstStyle/>
            <a:p>
              <a:r>
                <a:rPr lang="zh-CN" altLang="en-US" dirty="0">
                  <a:solidFill>
                    <a:srgbClr val="C00000"/>
                  </a:solidFill>
                </a:rPr>
                <a:t>’</a:t>
              </a:r>
            </a:p>
          </p:txBody>
        </p:sp>
        <p:sp>
          <p:nvSpPr>
            <p:cNvPr id="9" name="文本框 8"/>
            <p:cNvSpPr txBox="1"/>
            <p:nvPr/>
          </p:nvSpPr>
          <p:spPr>
            <a:xfrm>
              <a:off x="934276" y="4067780"/>
              <a:ext cx="432048" cy="369332"/>
            </a:xfrm>
            <a:prstGeom prst="rect">
              <a:avLst/>
            </a:prstGeom>
            <a:noFill/>
          </p:spPr>
          <p:txBody>
            <a:bodyPr wrap="square" rtlCol="0">
              <a:spAutoFit/>
            </a:bodyPr>
            <a:lstStyle/>
            <a:p>
              <a:r>
                <a:rPr lang="zh-CN" altLang="en-US" dirty="0">
                  <a:solidFill>
                    <a:srgbClr val="C00000"/>
                  </a:solidFill>
                </a:rPr>
                <a:t>’</a:t>
              </a:r>
            </a:p>
          </p:txBody>
        </p:sp>
        <p:sp>
          <p:nvSpPr>
            <p:cNvPr id="10" name="文本框 9"/>
            <p:cNvSpPr txBox="1"/>
            <p:nvPr/>
          </p:nvSpPr>
          <p:spPr>
            <a:xfrm>
              <a:off x="2455775" y="2267541"/>
              <a:ext cx="432048" cy="369332"/>
            </a:xfrm>
            <a:prstGeom prst="rect">
              <a:avLst/>
            </a:prstGeom>
            <a:noFill/>
          </p:spPr>
          <p:txBody>
            <a:bodyPr wrap="square" rtlCol="0">
              <a:spAutoFit/>
            </a:bodyPr>
            <a:lstStyle/>
            <a:p>
              <a:r>
                <a:rPr lang="zh-CN" altLang="en-US" dirty="0">
                  <a:solidFill>
                    <a:srgbClr val="C00000"/>
                  </a:solidFill>
                </a:rPr>
                <a:t>’</a:t>
              </a:r>
            </a:p>
          </p:txBody>
        </p:sp>
        <p:sp>
          <p:nvSpPr>
            <p:cNvPr id="11" name="文本框 10"/>
            <p:cNvSpPr txBox="1"/>
            <p:nvPr/>
          </p:nvSpPr>
          <p:spPr>
            <a:xfrm>
              <a:off x="2339752" y="2915652"/>
              <a:ext cx="432048" cy="369332"/>
            </a:xfrm>
            <a:prstGeom prst="rect">
              <a:avLst/>
            </a:prstGeom>
            <a:noFill/>
          </p:spPr>
          <p:txBody>
            <a:bodyPr wrap="square" rtlCol="0">
              <a:spAutoFit/>
            </a:bodyPr>
            <a:lstStyle/>
            <a:p>
              <a:r>
                <a:rPr lang="zh-CN" altLang="en-US" dirty="0">
                  <a:solidFill>
                    <a:srgbClr val="C00000"/>
                  </a:solidFill>
                </a:rPr>
                <a:t>’</a:t>
              </a:r>
            </a:p>
          </p:txBody>
        </p:sp>
        <p:sp>
          <p:nvSpPr>
            <p:cNvPr id="12" name="文本框 11"/>
            <p:cNvSpPr txBox="1"/>
            <p:nvPr/>
          </p:nvSpPr>
          <p:spPr>
            <a:xfrm>
              <a:off x="2906485" y="3347700"/>
              <a:ext cx="432048" cy="369332"/>
            </a:xfrm>
            <a:prstGeom prst="rect">
              <a:avLst/>
            </a:prstGeom>
            <a:noFill/>
          </p:spPr>
          <p:txBody>
            <a:bodyPr wrap="square" rtlCol="0">
              <a:spAutoFit/>
            </a:bodyPr>
            <a:lstStyle/>
            <a:p>
              <a:r>
                <a:rPr lang="zh-CN" altLang="en-US" dirty="0">
                  <a:solidFill>
                    <a:srgbClr val="C00000"/>
                  </a:solidFill>
                </a:rPr>
                <a:t>’</a:t>
              </a:r>
            </a:p>
          </p:txBody>
        </p:sp>
        <p:sp>
          <p:nvSpPr>
            <p:cNvPr id="13" name="文本框 12"/>
            <p:cNvSpPr txBox="1"/>
            <p:nvPr/>
          </p:nvSpPr>
          <p:spPr>
            <a:xfrm>
              <a:off x="3394519" y="3347700"/>
              <a:ext cx="432048" cy="369332"/>
            </a:xfrm>
            <a:prstGeom prst="rect">
              <a:avLst/>
            </a:prstGeom>
            <a:noFill/>
          </p:spPr>
          <p:txBody>
            <a:bodyPr wrap="square" rtlCol="0">
              <a:spAutoFit/>
            </a:bodyPr>
            <a:lstStyle/>
            <a:p>
              <a:r>
                <a:rPr lang="zh-CN" altLang="en-US" dirty="0">
                  <a:solidFill>
                    <a:srgbClr val="C00000"/>
                  </a:solidFill>
                </a:rPr>
                <a:t>’</a:t>
              </a:r>
            </a:p>
          </p:txBody>
        </p:sp>
        <p:sp>
          <p:nvSpPr>
            <p:cNvPr id="14" name="文本框 13"/>
            <p:cNvSpPr txBox="1"/>
            <p:nvPr/>
          </p:nvSpPr>
          <p:spPr>
            <a:xfrm>
              <a:off x="3735897" y="2924944"/>
              <a:ext cx="432048" cy="369332"/>
            </a:xfrm>
            <a:prstGeom prst="rect">
              <a:avLst/>
            </a:prstGeom>
            <a:noFill/>
          </p:spPr>
          <p:txBody>
            <a:bodyPr wrap="square" rtlCol="0">
              <a:spAutoFit/>
            </a:bodyPr>
            <a:lstStyle/>
            <a:p>
              <a:r>
                <a:rPr lang="zh-CN" altLang="en-US" dirty="0">
                  <a:solidFill>
                    <a:srgbClr val="C00000"/>
                  </a:solidFill>
                </a:rPr>
                <a:t>’</a:t>
              </a:r>
            </a:p>
          </p:txBody>
        </p:sp>
        <p:sp>
          <p:nvSpPr>
            <p:cNvPr id="15" name="文本框 14"/>
            <p:cNvSpPr txBox="1"/>
            <p:nvPr/>
          </p:nvSpPr>
          <p:spPr>
            <a:xfrm>
              <a:off x="5264087" y="2214195"/>
              <a:ext cx="432048" cy="369332"/>
            </a:xfrm>
            <a:prstGeom prst="rect">
              <a:avLst/>
            </a:prstGeom>
            <a:noFill/>
          </p:spPr>
          <p:txBody>
            <a:bodyPr wrap="square" rtlCol="0">
              <a:spAutoFit/>
            </a:bodyPr>
            <a:lstStyle/>
            <a:p>
              <a:r>
                <a:rPr lang="zh-CN" altLang="en-US" dirty="0">
                  <a:solidFill>
                    <a:srgbClr val="C00000"/>
                  </a:solidFill>
                </a:rPr>
                <a:t>’</a:t>
              </a:r>
            </a:p>
          </p:txBody>
        </p:sp>
        <p:sp>
          <p:nvSpPr>
            <p:cNvPr id="16" name="文本框 15"/>
            <p:cNvSpPr txBox="1"/>
            <p:nvPr/>
          </p:nvSpPr>
          <p:spPr>
            <a:xfrm>
              <a:off x="5282749" y="2655613"/>
              <a:ext cx="432048" cy="369332"/>
            </a:xfrm>
            <a:prstGeom prst="rect">
              <a:avLst/>
            </a:prstGeom>
            <a:noFill/>
          </p:spPr>
          <p:txBody>
            <a:bodyPr wrap="square" rtlCol="0">
              <a:spAutoFit/>
            </a:bodyPr>
            <a:lstStyle/>
            <a:p>
              <a:r>
                <a:rPr lang="zh-CN" altLang="en-US" dirty="0">
                  <a:solidFill>
                    <a:srgbClr val="C00000"/>
                  </a:solidFill>
                </a:rPr>
                <a:t>’</a:t>
              </a:r>
            </a:p>
          </p:txBody>
        </p:sp>
        <p:sp>
          <p:nvSpPr>
            <p:cNvPr id="17" name="文本框 16"/>
            <p:cNvSpPr txBox="1"/>
            <p:nvPr/>
          </p:nvSpPr>
          <p:spPr>
            <a:xfrm>
              <a:off x="5273418" y="3113014"/>
              <a:ext cx="432048" cy="369332"/>
            </a:xfrm>
            <a:prstGeom prst="rect">
              <a:avLst/>
            </a:prstGeom>
            <a:noFill/>
          </p:spPr>
          <p:txBody>
            <a:bodyPr wrap="square" rtlCol="0">
              <a:spAutoFit/>
            </a:bodyPr>
            <a:lstStyle/>
            <a:p>
              <a:r>
                <a:rPr lang="zh-CN" altLang="en-US" dirty="0">
                  <a:solidFill>
                    <a:srgbClr val="C00000"/>
                  </a:solidFill>
                </a:rPr>
                <a:t>’</a:t>
              </a:r>
            </a:p>
          </p:txBody>
        </p:sp>
        <p:sp>
          <p:nvSpPr>
            <p:cNvPr id="18" name="文本框 17"/>
            <p:cNvSpPr txBox="1"/>
            <p:nvPr/>
          </p:nvSpPr>
          <p:spPr>
            <a:xfrm>
              <a:off x="5266727" y="3598408"/>
              <a:ext cx="432048" cy="369332"/>
            </a:xfrm>
            <a:prstGeom prst="rect">
              <a:avLst/>
            </a:prstGeom>
            <a:noFill/>
          </p:spPr>
          <p:txBody>
            <a:bodyPr wrap="square" rtlCol="0">
              <a:spAutoFit/>
            </a:bodyPr>
            <a:lstStyle/>
            <a:p>
              <a:r>
                <a:rPr lang="zh-CN" altLang="en-US" dirty="0">
                  <a:solidFill>
                    <a:srgbClr val="C00000"/>
                  </a:solidFill>
                </a:rPr>
                <a:t>’</a:t>
              </a:r>
            </a:p>
          </p:txBody>
        </p:sp>
        <p:sp>
          <p:nvSpPr>
            <p:cNvPr id="19" name="文本框 18"/>
            <p:cNvSpPr txBox="1"/>
            <p:nvPr/>
          </p:nvSpPr>
          <p:spPr>
            <a:xfrm>
              <a:off x="5273418" y="4077072"/>
              <a:ext cx="432048" cy="369332"/>
            </a:xfrm>
            <a:prstGeom prst="rect">
              <a:avLst/>
            </a:prstGeom>
            <a:noFill/>
          </p:spPr>
          <p:txBody>
            <a:bodyPr wrap="square" rtlCol="0">
              <a:spAutoFit/>
            </a:bodyPr>
            <a:lstStyle/>
            <a:p>
              <a:r>
                <a:rPr lang="zh-CN" altLang="en-US" dirty="0">
                  <a:solidFill>
                    <a:srgbClr val="C00000"/>
                  </a:solidFill>
                </a:rPr>
                <a:t>’</a:t>
              </a:r>
            </a:p>
          </p:txBody>
        </p:sp>
        <p:sp>
          <p:nvSpPr>
            <p:cNvPr id="20" name="文本框 19"/>
            <p:cNvSpPr txBox="1"/>
            <p:nvPr/>
          </p:nvSpPr>
          <p:spPr>
            <a:xfrm>
              <a:off x="7045625" y="2242188"/>
              <a:ext cx="432048" cy="369332"/>
            </a:xfrm>
            <a:prstGeom prst="rect">
              <a:avLst/>
            </a:prstGeom>
            <a:noFill/>
          </p:spPr>
          <p:txBody>
            <a:bodyPr wrap="square" rtlCol="0">
              <a:spAutoFit/>
            </a:bodyPr>
            <a:lstStyle/>
            <a:p>
              <a:r>
                <a:rPr lang="zh-CN" altLang="en-US" dirty="0">
                  <a:solidFill>
                    <a:srgbClr val="C00000"/>
                  </a:solidFill>
                </a:rPr>
                <a:t>’</a:t>
              </a:r>
            </a:p>
          </p:txBody>
        </p:sp>
        <p:sp>
          <p:nvSpPr>
            <p:cNvPr id="21" name="文本框 20"/>
            <p:cNvSpPr txBox="1"/>
            <p:nvPr/>
          </p:nvSpPr>
          <p:spPr>
            <a:xfrm>
              <a:off x="6929602" y="2908922"/>
              <a:ext cx="432048" cy="369332"/>
            </a:xfrm>
            <a:prstGeom prst="rect">
              <a:avLst/>
            </a:prstGeom>
            <a:noFill/>
          </p:spPr>
          <p:txBody>
            <a:bodyPr wrap="square" rtlCol="0">
              <a:spAutoFit/>
            </a:bodyPr>
            <a:lstStyle/>
            <a:p>
              <a:r>
                <a:rPr lang="zh-CN" altLang="en-US" dirty="0">
                  <a:solidFill>
                    <a:srgbClr val="C00000"/>
                  </a:solidFill>
                </a:rPr>
                <a:t>’</a:t>
              </a:r>
            </a:p>
          </p:txBody>
        </p:sp>
        <p:sp>
          <p:nvSpPr>
            <p:cNvPr id="22" name="文本框 21"/>
            <p:cNvSpPr txBox="1"/>
            <p:nvPr/>
          </p:nvSpPr>
          <p:spPr>
            <a:xfrm>
              <a:off x="8325747" y="2906321"/>
              <a:ext cx="432048" cy="369332"/>
            </a:xfrm>
            <a:prstGeom prst="rect">
              <a:avLst/>
            </a:prstGeom>
            <a:noFill/>
          </p:spPr>
          <p:txBody>
            <a:bodyPr wrap="square" rtlCol="0">
              <a:spAutoFit/>
            </a:bodyPr>
            <a:lstStyle/>
            <a:p>
              <a:r>
                <a:rPr lang="zh-CN" altLang="en-US" dirty="0">
                  <a:solidFill>
                    <a:srgbClr val="C00000"/>
                  </a:solidFill>
                </a:rPr>
                <a:t>’</a:t>
              </a:r>
            </a:p>
          </p:txBody>
        </p:sp>
        <p:sp>
          <p:nvSpPr>
            <p:cNvPr id="23" name="文本框 22"/>
            <p:cNvSpPr txBox="1"/>
            <p:nvPr/>
          </p:nvSpPr>
          <p:spPr>
            <a:xfrm>
              <a:off x="7452320" y="3347700"/>
              <a:ext cx="432048" cy="369332"/>
            </a:xfrm>
            <a:prstGeom prst="rect">
              <a:avLst/>
            </a:prstGeom>
            <a:noFill/>
          </p:spPr>
          <p:txBody>
            <a:bodyPr wrap="square" rtlCol="0">
              <a:spAutoFit/>
            </a:bodyPr>
            <a:lstStyle/>
            <a:p>
              <a:r>
                <a:rPr lang="zh-CN" altLang="en-US" dirty="0">
                  <a:solidFill>
                    <a:srgbClr val="C00000"/>
                  </a:solidFill>
                </a:rPr>
                <a:t>’</a:t>
              </a:r>
            </a:p>
          </p:txBody>
        </p:sp>
        <p:sp>
          <p:nvSpPr>
            <p:cNvPr id="24" name="文本框 23"/>
            <p:cNvSpPr txBox="1"/>
            <p:nvPr/>
          </p:nvSpPr>
          <p:spPr>
            <a:xfrm>
              <a:off x="7975038" y="3319707"/>
              <a:ext cx="432048" cy="369332"/>
            </a:xfrm>
            <a:prstGeom prst="rect">
              <a:avLst/>
            </a:prstGeom>
            <a:noFill/>
          </p:spPr>
          <p:txBody>
            <a:bodyPr wrap="square" rtlCol="0">
              <a:spAutoFit/>
            </a:bodyPr>
            <a:lstStyle/>
            <a:p>
              <a:r>
                <a:rPr lang="zh-CN" altLang="en-US" dirty="0">
                  <a:solidFill>
                    <a:srgbClr val="C00000"/>
                  </a:solidFill>
                </a:rPr>
                <a:t>’</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80">
                                          <p:stCondLst>
                                            <p:cond delay="0"/>
                                          </p:stCondLst>
                                        </p:cTn>
                                        <p:tgtEl>
                                          <p:spTgt spid="3"/>
                                        </p:tgtEl>
                                      </p:cBhvr>
                                    </p:animEffect>
                                    <p:anim calcmode="lin" valueType="num">
                                      <p:cBhvr>
                                        <p:cTn id="8"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gtEl>
                                      </p:cBhvr>
                                      <p:to x="100000" y="60000"/>
                                    </p:animScale>
                                    <p:animScale>
                                      <p:cBhvr>
                                        <p:cTn id="14" dur="166" decel="50000">
                                          <p:stCondLst>
                                            <p:cond delay="676"/>
                                          </p:stCondLst>
                                        </p:cTn>
                                        <p:tgtEl>
                                          <p:spTgt spid="3"/>
                                        </p:tgtEl>
                                      </p:cBhvr>
                                      <p:to x="100000" y="100000"/>
                                    </p:animScale>
                                    <p:animScale>
                                      <p:cBhvr>
                                        <p:cTn id="15" dur="26">
                                          <p:stCondLst>
                                            <p:cond delay="1312"/>
                                          </p:stCondLst>
                                        </p:cTn>
                                        <p:tgtEl>
                                          <p:spTgt spid="3"/>
                                        </p:tgtEl>
                                      </p:cBhvr>
                                      <p:to x="100000" y="80000"/>
                                    </p:animScale>
                                    <p:animScale>
                                      <p:cBhvr>
                                        <p:cTn id="16" dur="166" decel="50000">
                                          <p:stCondLst>
                                            <p:cond delay="1338"/>
                                          </p:stCondLst>
                                        </p:cTn>
                                        <p:tgtEl>
                                          <p:spTgt spid="3"/>
                                        </p:tgtEl>
                                      </p:cBhvr>
                                      <p:to x="100000" y="100000"/>
                                    </p:animScale>
                                    <p:animScale>
                                      <p:cBhvr>
                                        <p:cTn id="17" dur="26">
                                          <p:stCondLst>
                                            <p:cond delay="1642"/>
                                          </p:stCondLst>
                                        </p:cTn>
                                        <p:tgtEl>
                                          <p:spTgt spid="3"/>
                                        </p:tgtEl>
                                      </p:cBhvr>
                                      <p:to x="100000" y="90000"/>
                                    </p:animScale>
                                    <p:animScale>
                                      <p:cBhvr>
                                        <p:cTn id="18" dur="166" decel="50000">
                                          <p:stCondLst>
                                            <p:cond delay="1668"/>
                                          </p:stCondLst>
                                        </p:cTn>
                                        <p:tgtEl>
                                          <p:spTgt spid="3"/>
                                        </p:tgtEl>
                                      </p:cBhvr>
                                      <p:to x="100000" y="100000"/>
                                    </p:animScale>
                                    <p:animScale>
                                      <p:cBhvr>
                                        <p:cTn id="19" dur="26">
                                          <p:stCondLst>
                                            <p:cond delay="1808"/>
                                          </p:stCondLst>
                                        </p:cTn>
                                        <p:tgtEl>
                                          <p:spTgt spid="3"/>
                                        </p:tgtEl>
                                      </p:cBhvr>
                                      <p:to x="100000" y="95000"/>
                                    </p:animScale>
                                    <p:animScale>
                                      <p:cBhvr>
                                        <p:cTn id="20" dur="166" decel="50000">
                                          <p:stCondLst>
                                            <p:cond delay="1834"/>
                                          </p:stCondLst>
                                        </p:cTn>
                                        <p:tgtEl>
                                          <p:spTgt spid="3"/>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2"/>
          <p:cNvSpPr txBox="1">
            <a:spLocks noChangeArrowheads="1"/>
          </p:cNvSpPr>
          <p:nvPr/>
        </p:nvSpPr>
        <p:spPr bwMode="auto">
          <a:xfrm>
            <a:off x="304800" y="1341438"/>
            <a:ext cx="8839200"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30000"/>
              </a:spcBef>
              <a:buFontTx/>
              <a:buNone/>
            </a:pPr>
            <a:r>
              <a:rPr lang="en-US" altLang="zh-CN" sz="2400" dirty="0"/>
              <a:t>	</a:t>
            </a:r>
            <a:r>
              <a:rPr lang="en-US" altLang="zh-CN" b="1" dirty="0"/>
              <a:t>1.1.8 Each pyrimidine is covalently linked (through a </a:t>
            </a:r>
            <a:r>
              <a:rPr lang="en-US" altLang="zh-CN" b="1" dirty="0">
                <a:solidFill>
                  <a:srgbClr val="FF0000"/>
                </a:solidFill>
              </a:rPr>
              <a:t>N-</a:t>
            </a:r>
            <a:r>
              <a:rPr lang="en-US" altLang="zh-CN" b="1" dirty="0" err="1">
                <a:solidFill>
                  <a:srgbClr val="FF0000"/>
                </a:solidFill>
              </a:rPr>
              <a:t>glycosidic</a:t>
            </a:r>
            <a:r>
              <a:rPr lang="en-US" altLang="zh-CN" b="1" dirty="0">
                <a:solidFill>
                  <a:srgbClr val="FF0000"/>
                </a:solidFill>
              </a:rPr>
              <a:t> bond</a:t>
            </a:r>
            <a:r>
              <a:rPr lang="en-US" altLang="zh-CN" b="1" dirty="0"/>
              <a:t>) to the </a:t>
            </a:r>
            <a:r>
              <a:rPr lang="en-US" altLang="zh-CN" b="1" dirty="0">
                <a:solidFill>
                  <a:srgbClr val="FF0000"/>
                </a:solidFill>
              </a:rPr>
              <a:t>1’ carbon </a:t>
            </a:r>
            <a:r>
              <a:rPr lang="en-US" altLang="zh-CN" b="1" dirty="0"/>
              <a:t>of the deoxyribose at </a:t>
            </a:r>
            <a:r>
              <a:rPr lang="en-US" altLang="zh-CN" b="1" dirty="0">
                <a:solidFill>
                  <a:srgbClr val="FF0000"/>
                </a:solidFill>
              </a:rPr>
              <a:t>N-1 of the pyrimidine</a:t>
            </a:r>
            <a:r>
              <a:rPr lang="en-US" altLang="zh-CN" b="1" dirty="0"/>
              <a:t>, and each purine is covalently linked to the 1’ carbon of the deoxyribose at </a:t>
            </a:r>
            <a:r>
              <a:rPr lang="en-US" altLang="zh-CN" b="1" dirty="0">
                <a:solidFill>
                  <a:srgbClr val="FF0000"/>
                </a:solidFill>
              </a:rPr>
              <a:t>N-9 of the purine</a:t>
            </a:r>
            <a:r>
              <a:rPr lang="en-US" altLang="zh-CN" b="1" dirty="0"/>
              <a:t>.	</a:t>
            </a:r>
            <a:endParaRPr lang="en-US" altLang="zh-CN"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7000" y="1714500"/>
            <a:ext cx="8890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2123728" y="3087622"/>
            <a:ext cx="432048" cy="276999"/>
          </a:xfrm>
          <a:prstGeom prst="rect">
            <a:avLst/>
          </a:prstGeom>
          <a:noFill/>
        </p:spPr>
        <p:txBody>
          <a:bodyPr wrap="square" rtlCol="0">
            <a:spAutoFit/>
          </a:bodyPr>
          <a:lstStyle/>
          <a:p>
            <a:r>
              <a:rPr lang="en-US" altLang="zh-CN" sz="1200" b="1" dirty="0">
                <a:solidFill>
                  <a:srgbClr val="FF0000"/>
                </a:solidFill>
              </a:rPr>
              <a:t>1</a:t>
            </a:r>
            <a:r>
              <a:rPr lang="zh-CN" altLang="en-US" sz="1200" b="1" dirty="0">
                <a:solidFill>
                  <a:srgbClr val="FF0000"/>
                </a:solidFill>
              </a:rPr>
              <a:t>’</a:t>
            </a:r>
          </a:p>
        </p:txBody>
      </p:sp>
      <p:sp>
        <p:nvSpPr>
          <p:cNvPr id="4" name="文本框 3"/>
          <p:cNvSpPr txBox="1"/>
          <p:nvPr/>
        </p:nvSpPr>
        <p:spPr>
          <a:xfrm>
            <a:off x="4139952" y="3087622"/>
            <a:ext cx="432048" cy="276999"/>
          </a:xfrm>
          <a:prstGeom prst="rect">
            <a:avLst/>
          </a:prstGeom>
          <a:noFill/>
        </p:spPr>
        <p:txBody>
          <a:bodyPr wrap="square" rtlCol="0">
            <a:spAutoFit/>
          </a:bodyPr>
          <a:lstStyle/>
          <a:p>
            <a:r>
              <a:rPr lang="en-US" altLang="zh-CN" sz="1200" b="1" dirty="0">
                <a:solidFill>
                  <a:srgbClr val="FF0000"/>
                </a:solidFill>
              </a:rPr>
              <a:t>1</a:t>
            </a:r>
            <a:r>
              <a:rPr lang="zh-CN" altLang="en-US" sz="1200" b="1" dirty="0">
                <a:solidFill>
                  <a:srgbClr val="FF0000"/>
                </a:solidFill>
              </a:rPr>
              <a:t>’</a:t>
            </a:r>
          </a:p>
        </p:txBody>
      </p:sp>
      <p:sp>
        <p:nvSpPr>
          <p:cNvPr id="5" name="文本框 4"/>
          <p:cNvSpPr txBox="1"/>
          <p:nvPr/>
        </p:nvSpPr>
        <p:spPr>
          <a:xfrm>
            <a:off x="6228184" y="3087622"/>
            <a:ext cx="432048" cy="276999"/>
          </a:xfrm>
          <a:prstGeom prst="rect">
            <a:avLst/>
          </a:prstGeom>
          <a:noFill/>
        </p:spPr>
        <p:txBody>
          <a:bodyPr wrap="square" rtlCol="0">
            <a:spAutoFit/>
          </a:bodyPr>
          <a:lstStyle/>
          <a:p>
            <a:r>
              <a:rPr lang="en-US" altLang="zh-CN" sz="1200" b="1" dirty="0">
                <a:solidFill>
                  <a:srgbClr val="FF0000"/>
                </a:solidFill>
              </a:rPr>
              <a:t>1</a:t>
            </a:r>
            <a:r>
              <a:rPr lang="zh-CN" altLang="en-US" sz="1200" b="1" dirty="0">
                <a:solidFill>
                  <a:srgbClr val="FF0000"/>
                </a:solidFill>
              </a:rPr>
              <a:t>’</a:t>
            </a:r>
          </a:p>
        </p:txBody>
      </p:sp>
      <p:sp>
        <p:nvSpPr>
          <p:cNvPr id="6" name="文本框 5"/>
          <p:cNvSpPr txBox="1"/>
          <p:nvPr/>
        </p:nvSpPr>
        <p:spPr>
          <a:xfrm>
            <a:off x="8584142" y="3094682"/>
            <a:ext cx="432048" cy="276999"/>
          </a:xfrm>
          <a:prstGeom prst="rect">
            <a:avLst/>
          </a:prstGeom>
          <a:noFill/>
        </p:spPr>
        <p:txBody>
          <a:bodyPr wrap="square" rtlCol="0">
            <a:spAutoFit/>
          </a:bodyPr>
          <a:lstStyle/>
          <a:p>
            <a:r>
              <a:rPr lang="en-US" altLang="zh-CN" sz="1200" b="1" dirty="0">
                <a:solidFill>
                  <a:srgbClr val="FF0000"/>
                </a:solidFill>
              </a:rPr>
              <a:t>1</a:t>
            </a:r>
            <a:r>
              <a:rPr lang="zh-CN" altLang="en-US" sz="1200" b="1" dirty="0">
                <a:solidFill>
                  <a:srgbClr val="FF0000"/>
                </a:solidFill>
              </a:rPr>
              <a:t>’</a:t>
            </a:r>
          </a:p>
        </p:txBody>
      </p:sp>
      <p:sp>
        <p:nvSpPr>
          <p:cNvPr id="7" name="文本框 6"/>
          <p:cNvSpPr txBox="1"/>
          <p:nvPr/>
        </p:nvSpPr>
        <p:spPr>
          <a:xfrm>
            <a:off x="2138941" y="2427579"/>
            <a:ext cx="432048" cy="276999"/>
          </a:xfrm>
          <a:prstGeom prst="rect">
            <a:avLst/>
          </a:prstGeom>
          <a:noFill/>
        </p:spPr>
        <p:txBody>
          <a:bodyPr wrap="square" rtlCol="0">
            <a:spAutoFit/>
          </a:bodyPr>
          <a:lstStyle/>
          <a:p>
            <a:r>
              <a:rPr lang="en-US" altLang="zh-CN" sz="1200" b="1" dirty="0">
                <a:solidFill>
                  <a:srgbClr val="FF0000"/>
                </a:solidFill>
              </a:rPr>
              <a:t>9</a:t>
            </a:r>
            <a:endParaRPr lang="zh-CN" altLang="en-US" sz="1200" b="1" dirty="0">
              <a:solidFill>
                <a:srgbClr val="FF0000"/>
              </a:solidFill>
            </a:endParaRPr>
          </a:p>
        </p:txBody>
      </p:sp>
      <p:sp>
        <p:nvSpPr>
          <p:cNvPr id="10" name="文本框 9"/>
          <p:cNvSpPr txBox="1"/>
          <p:nvPr/>
        </p:nvSpPr>
        <p:spPr>
          <a:xfrm>
            <a:off x="4202629" y="2418248"/>
            <a:ext cx="432048" cy="276999"/>
          </a:xfrm>
          <a:prstGeom prst="rect">
            <a:avLst/>
          </a:prstGeom>
          <a:noFill/>
        </p:spPr>
        <p:txBody>
          <a:bodyPr wrap="square" rtlCol="0">
            <a:spAutoFit/>
          </a:bodyPr>
          <a:lstStyle/>
          <a:p>
            <a:r>
              <a:rPr lang="en-US" altLang="zh-CN" sz="1200" b="1" dirty="0">
                <a:solidFill>
                  <a:srgbClr val="FF0000"/>
                </a:solidFill>
              </a:rPr>
              <a:t>9</a:t>
            </a:r>
            <a:endParaRPr lang="zh-CN" altLang="en-US" sz="1200" b="1" dirty="0">
              <a:solidFill>
                <a:srgbClr val="FF0000"/>
              </a:solidFill>
            </a:endParaRPr>
          </a:p>
        </p:txBody>
      </p:sp>
      <p:sp>
        <p:nvSpPr>
          <p:cNvPr id="11" name="文本框 10"/>
          <p:cNvSpPr txBox="1"/>
          <p:nvPr/>
        </p:nvSpPr>
        <p:spPr>
          <a:xfrm>
            <a:off x="6290861" y="2427739"/>
            <a:ext cx="432048" cy="276999"/>
          </a:xfrm>
          <a:prstGeom prst="rect">
            <a:avLst/>
          </a:prstGeom>
          <a:noFill/>
        </p:spPr>
        <p:txBody>
          <a:bodyPr wrap="square" rtlCol="0">
            <a:spAutoFit/>
          </a:bodyPr>
          <a:lstStyle/>
          <a:p>
            <a:r>
              <a:rPr lang="en-US" altLang="zh-CN" sz="1200" b="1" dirty="0">
                <a:solidFill>
                  <a:srgbClr val="FF0000"/>
                </a:solidFill>
              </a:rPr>
              <a:t>1</a:t>
            </a:r>
            <a:endParaRPr lang="zh-CN" altLang="en-US" sz="1200" b="1" dirty="0">
              <a:solidFill>
                <a:srgbClr val="FF0000"/>
              </a:solidFill>
            </a:endParaRPr>
          </a:p>
        </p:txBody>
      </p:sp>
      <p:sp>
        <p:nvSpPr>
          <p:cNvPr id="12" name="文本框 11"/>
          <p:cNvSpPr txBox="1"/>
          <p:nvPr/>
        </p:nvSpPr>
        <p:spPr>
          <a:xfrm>
            <a:off x="8676456" y="2420888"/>
            <a:ext cx="432048" cy="276999"/>
          </a:xfrm>
          <a:prstGeom prst="rect">
            <a:avLst/>
          </a:prstGeom>
          <a:noFill/>
        </p:spPr>
        <p:txBody>
          <a:bodyPr wrap="square" rtlCol="0">
            <a:spAutoFit/>
          </a:bodyPr>
          <a:lstStyle/>
          <a:p>
            <a:r>
              <a:rPr lang="en-US" altLang="zh-CN" sz="1200" b="1" dirty="0">
                <a:solidFill>
                  <a:srgbClr val="FF0000"/>
                </a:solidFill>
              </a:rPr>
              <a:t>1</a:t>
            </a:r>
            <a:endParaRPr lang="zh-CN" altLang="en-US" sz="1200" b="1" dirty="0">
              <a:solidFill>
                <a:srgbClr val="FF0000"/>
              </a:solidFill>
            </a:endParaRPr>
          </a:p>
        </p:txBody>
      </p:sp>
      <p:sp>
        <p:nvSpPr>
          <p:cNvPr id="3" name="文本框 2"/>
          <p:cNvSpPr txBox="1"/>
          <p:nvPr/>
        </p:nvSpPr>
        <p:spPr>
          <a:xfrm>
            <a:off x="3423920" y="5541010"/>
            <a:ext cx="2296160" cy="368300"/>
          </a:xfrm>
          <a:prstGeom prst="rect">
            <a:avLst/>
          </a:prstGeom>
          <a:noFill/>
        </p:spPr>
        <p:txBody>
          <a:bodyPr wrap="none" rtlCol="0" anchor="t">
            <a:spAutoFit/>
          </a:bodyPr>
          <a:lstStyle/>
          <a:p>
            <a:r>
              <a:rPr lang="en-US" altLang="zh-CN" b="1" dirty="0">
                <a:solidFill>
                  <a:srgbClr val="FF0000"/>
                </a:solidFill>
                <a:sym typeface="+mn-ea"/>
              </a:rPr>
              <a:t>nucleoside</a:t>
            </a:r>
            <a:r>
              <a:rPr lang="zh-CN" altLang="en-US" b="1" dirty="0">
                <a:solidFill>
                  <a:srgbClr val="FF0000"/>
                </a:solidFill>
                <a:sym typeface="+mn-ea"/>
              </a:rPr>
              <a:t>（核苷）</a:t>
            </a:r>
            <a:endParaRPr lang="zh-CN"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2050"/>
          <p:cNvSpPr txBox="1">
            <a:spLocks noChangeArrowheads="1"/>
          </p:cNvSpPr>
          <p:nvPr/>
        </p:nvSpPr>
        <p:spPr bwMode="auto">
          <a:xfrm>
            <a:off x="228600" y="228600"/>
            <a:ext cx="8915400" cy="6321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b="1" dirty="0"/>
              <a:t>	1.1.9 The phosphate group is esterified to the -OH group on the 5’ carbon of the deoxyribose ring.</a:t>
            </a:r>
          </a:p>
          <a:p>
            <a:pPr eaLnBrk="1" hangingPunct="1">
              <a:buFontTx/>
              <a:buNone/>
            </a:pPr>
            <a:r>
              <a:rPr lang="en-US" altLang="zh-CN" b="1" dirty="0"/>
              <a:t>	1.1.10 A nucleotide lacking the phosphate part is called a </a:t>
            </a:r>
            <a:r>
              <a:rPr lang="en-US" altLang="zh-CN" b="1" dirty="0">
                <a:solidFill>
                  <a:srgbClr val="FF0000"/>
                </a:solidFill>
              </a:rPr>
              <a:t>nucleoside</a:t>
            </a:r>
            <a:r>
              <a:rPr lang="zh-CN" altLang="en-US" b="1" dirty="0">
                <a:solidFill>
                  <a:srgbClr val="FF0000"/>
                </a:solidFill>
              </a:rPr>
              <a:t>（核苷）</a:t>
            </a:r>
            <a:r>
              <a:rPr lang="en-US" altLang="zh-CN" b="1" dirty="0"/>
              <a:t>.</a:t>
            </a:r>
          </a:p>
          <a:p>
            <a:pPr eaLnBrk="1" hangingPunct="1">
              <a:buFontTx/>
              <a:buNone/>
            </a:pPr>
            <a:r>
              <a:rPr lang="en-US" altLang="zh-CN" b="1" dirty="0"/>
              <a:t>	1.1.11 The four nucleoside units in DNA are called </a:t>
            </a:r>
            <a:r>
              <a:rPr lang="en-US" altLang="zh-CN" b="1" dirty="0">
                <a:solidFill>
                  <a:srgbClr val="FF0066"/>
                </a:solidFill>
              </a:rPr>
              <a:t>deoxyadenosine, </a:t>
            </a:r>
            <a:r>
              <a:rPr lang="en-US" altLang="zh-CN" b="1" dirty="0" err="1">
                <a:solidFill>
                  <a:srgbClr val="FF0066"/>
                </a:solidFill>
              </a:rPr>
              <a:t>deoxyguanosine</a:t>
            </a:r>
            <a:r>
              <a:rPr lang="en-US" altLang="zh-CN" b="1" dirty="0">
                <a:solidFill>
                  <a:srgbClr val="FF0066"/>
                </a:solidFill>
              </a:rPr>
              <a:t>, deoxythymidine, and deoxycytidine</a:t>
            </a:r>
            <a:r>
              <a:rPr lang="en-US" altLang="zh-CN" b="1" dirty="0"/>
              <a:t>.</a:t>
            </a:r>
          </a:p>
          <a:p>
            <a:pPr eaLnBrk="1" hangingPunct="1">
              <a:spcBef>
                <a:spcPct val="15000"/>
              </a:spcBef>
              <a:buFontTx/>
              <a:buNone/>
            </a:pPr>
            <a:r>
              <a:rPr lang="en-US" altLang="zh-CN" b="1" dirty="0"/>
              <a:t>	1.1.12 The nitrogenous base can be </a:t>
            </a:r>
            <a:r>
              <a:rPr lang="en-US" altLang="zh-CN" b="1" dirty="0">
                <a:solidFill>
                  <a:srgbClr val="FF0066"/>
                </a:solidFill>
              </a:rPr>
              <a:t>adenine (A), guanine (G), cyt</a:t>
            </a:r>
            <a:r>
              <a:rPr lang="en-US" altLang="zh-CN" b="1" u="sng" dirty="0">
                <a:solidFill>
                  <a:srgbClr val="FF0066"/>
                </a:solidFill>
              </a:rPr>
              <a:t>os</a:t>
            </a:r>
            <a:r>
              <a:rPr lang="en-US" altLang="zh-CN" b="1" dirty="0">
                <a:solidFill>
                  <a:srgbClr val="FF0066"/>
                </a:solidFill>
              </a:rPr>
              <a:t>ine (C), or thymine (T) (uracil (U) in RNA).</a:t>
            </a:r>
          </a:p>
          <a:p>
            <a:pPr eaLnBrk="1" hangingPunct="1">
              <a:lnSpc>
                <a:spcPct val="80000"/>
              </a:lnSpc>
              <a:spcBef>
                <a:spcPct val="30000"/>
              </a:spcBef>
              <a:buFontTx/>
              <a:buNone/>
            </a:pPr>
            <a:endParaRPr lang="en-US" altLang="zh-CN" b="1"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2"/>
          <p:cNvSpPr txBox="1">
            <a:spLocks noChangeArrowheads="1"/>
          </p:cNvSpPr>
          <p:nvPr/>
        </p:nvSpPr>
        <p:spPr bwMode="auto">
          <a:xfrm>
            <a:off x="251520" y="436363"/>
            <a:ext cx="8839200" cy="5656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30000"/>
              </a:spcBef>
              <a:buFontTx/>
              <a:buNone/>
            </a:pPr>
            <a:r>
              <a:rPr lang="en-US" altLang="zh-CN" sz="2400" dirty="0"/>
              <a:t>	</a:t>
            </a:r>
            <a:r>
              <a:rPr lang="en-US" altLang="zh-CN" b="1" dirty="0"/>
              <a:t>1.1.13 The four </a:t>
            </a:r>
            <a:r>
              <a:rPr lang="en-US" altLang="zh-CN" b="1" dirty="0">
                <a:solidFill>
                  <a:srgbClr val="FF0066"/>
                </a:solidFill>
              </a:rPr>
              <a:t>nucleotide</a:t>
            </a:r>
            <a:r>
              <a:rPr lang="en-US" altLang="zh-CN" b="1" dirty="0"/>
              <a:t> units in DNA are called deoxyadenosine 5’-monophosphate (</a:t>
            </a:r>
            <a:r>
              <a:rPr lang="en-US" altLang="zh-CN" b="1" dirty="0" err="1"/>
              <a:t>dAMP</a:t>
            </a:r>
            <a:r>
              <a:rPr lang="en-US" altLang="zh-CN" b="1" dirty="0"/>
              <a:t>, or </a:t>
            </a:r>
            <a:r>
              <a:rPr lang="en-US" altLang="zh-CN" b="1" dirty="0" err="1">
                <a:solidFill>
                  <a:srgbClr val="FF0066"/>
                </a:solidFill>
              </a:rPr>
              <a:t>deoxyadenylate</a:t>
            </a:r>
            <a:r>
              <a:rPr lang="en-US" altLang="zh-CN" b="1" dirty="0"/>
              <a:t>), </a:t>
            </a:r>
            <a:r>
              <a:rPr lang="en-US" altLang="zh-CN" b="1" dirty="0" err="1"/>
              <a:t>deoxyguanosine</a:t>
            </a:r>
            <a:r>
              <a:rPr lang="en-US" altLang="zh-CN" b="1" dirty="0"/>
              <a:t> 5’-monophosphate (</a:t>
            </a:r>
            <a:r>
              <a:rPr lang="en-US" altLang="zh-CN" b="1" dirty="0" err="1"/>
              <a:t>dGMP</a:t>
            </a:r>
            <a:r>
              <a:rPr lang="en-US" altLang="zh-CN" b="1" dirty="0"/>
              <a:t>, or </a:t>
            </a:r>
            <a:r>
              <a:rPr lang="en-US" altLang="zh-CN" b="1" dirty="0" err="1">
                <a:solidFill>
                  <a:srgbClr val="FF0066"/>
                </a:solidFill>
              </a:rPr>
              <a:t>deoxyguanylate</a:t>
            </a:r>
            <a:r>
              <a:rPr lang="en-US" altLang="zh-CN" b="1" dirty="0"/>
              <a:t>), deoxythymidine 5’-monophosphate (dTMP, or </a:t>
            </a:r>
            <a:r>
              <a:rPr lang="en-US" altLang="zh-CN" b="1" dirty="0" err="1">
                <a:solidFill>
                  <a:srgbClr val="FF0066"/>
                </a:solidFill>
              </a:rPr>
              <a:t>deoxythymidylate</a:t>
            </a:r>
            <a:r>
              <a:rPr lang="en-US" altLang="zh-CN" b="1" dirty="0"/>
              <a:t>), and deoxycytidine 5’-monophosphate (</a:t>
            </a:r>
            <a:r>
              <a:rPr lang="en-US" altLang="zh-CN" b="1" dirty="0" err="1"/>
              <a:t>dCMP</a:t>
            </a:r>
            <a:r>
              <a:rPr lang="en-US" altLang="zh-CN" b="1" dirty="0"/>
              <a:t>, or </a:t>
            </a:r>
            <a:r>
              <a:rPr lang="en-US" altLang="zh-CN" b="1" dirty="0">
                <a:solidFill>
                  <a:srgbClr val="FF0066"/>
                </a:solidFill>
              </a:rPr>
              <a:t>deoxycytidylate</a:t>
            </a:r>
            <a:r>
              <a:rPr lang="en-US" altLang="zh-CN" b="1" dirty="0"/>
              <a:t>).</a:t>
            </a:r>
          </a:p>
          <a:p>
            <a:pPr eaLnBrk="1" hangingPunct="1">
              <a:spcBef>
                <a:spcPct val="30000"/>
              </a:spcBef>
              <a:buFontTx/>
              <a:buNone/>
            </a:pPr>
            <a:r>
              <a:rPr lang="en-US" altLang="zh-CN" b="1" dirty="0"/>
              <a:t>         1.1.14 In DNA the nucleotides are covalently joined together by </a:t>
            </a:r>
            <a:r>
              <a:rPr lang="en-US" altLang="zh-CN" b="1" dirty="0">
                <a:solidFill>
                  <a:srgbClr val="FF0000"/>
                </a:solidFill>
              </a:rPr>
              <a:t>3’,5’-phosphodiester </a:t>
            </a:r>
            <a:r>
              <a:rPr lang="en-US" altLang="zh-CN" b="1" dirty="0"/>
              <a:t>bonds to form a </a:t>
            </a:r>
            <a:r>
              <a:rPr lang="en-US" altLang="zh-CN" b="1" dirty="0" err="1"/>
              <a:t>repetive</a:t>
            </a:r>
            <a:r>
              <a:rPr lang="en-US" altLang="zh-CN" b="1" dirty="0"/>
              <a:t> sugar-</a:t>
            </a:r>
            <a:r>
              <a:rPr lang="en-US" altLang="zh-CN" b="1" dirty="0" err="1"/>
              <a:t>phoshate</a:t>
            </a:r>
            <a:r>
              <a:rPr lang="en-US" altLang="zh-CN" b="1" dirty="0"/>
              <a:t> chain which is the backbone to which the bases are attached.</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1026"/>
          <p:cNvPicPr>
            <a:picLocks noChangeAspect="1" noChangeArrowheads="1"/>
          </p:cNvPicPr>
          <p:nvPr/>
        </p:nvPicPr>
        <p:blipFill>
          <a:blip r:embed="rId3" cstate="print">
            <a:lum bright="-54000" contrast="72000"/>
            <a:extLst>
              <a:ext uri="{28A0092B-C50C-407E-A947-70E740481C1C}">
                <a14:useLocalDpi xmlns:a14="http://schemas.microsoft.com/office/drawing/2010/main" val="0"/>
              </a:ext>
            </a:extLst>
          </a:blip>
          <a:srcRect/>
          <a:stretch>
            <a:fillRect/>
          </a:stretch>
        </p:blipFill>
        <p:spPr bwMode="auto">
          <a:xfrm>
            <a:off x="3231728" y="76200"/>
            <a:ext cx="4292600" cy="635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983700" y="1268760"/>
            <a:ext cx="2940228" cy="307777"/>
          </a:xfrm>
          <a:prstGeom prst="rect">
            <a:avLst/>
          </a:prstGeom>
        </p:spPr>
        <p:txBody>
          <a:bodyPr wrap="none">
            <a:spAutoFit/>
          </a:bodyPr>
          <a:lstStyle/>
          <a:p>
            <a:r>
              <a:rPr kumimoji="1" lang="en-US" altLang="zh-CN" sz="1400" b="1" dirty="0">
                <a:solidFill>
                  <a:srgbClr val="FF0000"/>
                </a:solidFill>
              </a:rPr>
              <a:t>3</a:t>
            </a:r>
            <a:r>
              <a:rPr kumimoji="1" lang="zh-CN" altLang="en-US" sz="1400" b="1" dirty="0">
                <a:solidFill>
                  <a:srgbClr val="FF0000"/>
                </a:solidFill>
              </a:rPr>
              <a:t>’ </a:t>
            </a:r>
            <a:r>
              <a:rPr kumimoji="1" lang="en-US" altLang="zh-CN" sz="1400" b="1" dirty="0">
                <a:solidFill>
                  <a:srgbClr val="FF0000"/>
                </a:solidFill>
              </a:rPr>
              <a:t>hydroxyl group (3</a:t>
            </a:r>
            <a:r>
              <a:rPr kumimoji="1" lang="zh-CN" altLang="en-US" sz="1400" b="1" dirty="0">
                <a:solidFill>
                  <a:srgbClr val="FF0000"/>
                </a:solidFill>
              </a:rPr>
              <a:t>’</a:t>
            </a:r>
            <a:r>
              <a:rPr kumimoji="1" lang="en-US" altLang="zh-CN" sz="1400" b="1" dirty="0">
                <a:solidFill>
                  <a:srgbClr val="FF0000"/>
                </a:solidFill>
              </a:rPr>
              <a:t>-OH </a:t>
            </a:r>
            <a:r>
              <a:rPr kumimoji="1" lang="zh-CN" altLang="en-US" sz="1400" b="1" dirty="0">
                <a:solidFill>
                  <a:srgbClr val="FF0000"/>
                </a:solidFill>
              </a:rPr>
              <a:t>基）</a:t>
            </a:r>
            <a:endParaRPr lang="zh-CN" altLang="en-US" sz="1400" b="1" dirty="0"/>
          </a:p>
        </p:txBody>
      </p:sp>
      <p:sp>
        <p:nvSpPr>
          <p:cNvPr id="3" name="矩形 2"/>
          <p:cNvSpPr/>
          <p:nvPr/>
        </p:nvSpPr>
        <p:spPr>
          <a:xfrm>
            <a:off x="1807897" y="2132856"/>
            <a:ext cx="1972015" cy="307777"/>
          </a:xfrm>
          <a:prstGeom prst="rect">
            <a:avLst/>
          </a:prstGeom>
        </p:spPr>
        <p:txBody>
          <a:bodyPr wrap="none">
            <a:spAutoFit/>
          </a:bodyPr>
          <a:lstStyle/>
          <a:p>
            <a:r>
              <a:rPr kumimoji="1" lang="en-US" altLang="zh-CN" sz="1400" b="1" dirty="0">
                <a:solidFill>
                  <a:srgbClr val="FF0000"/>
                </a:solidFill>
              </a:rPr>
              <a:t>5</a:t>
            </a:r>
            <a:r>
              <a:rPr kumimoji="1" lang="zh-CN" altLang="en-US" sz="1400" b="1" dirty="0">
                <a:solidFill>
                  <a:srgbClr val="FF0000"/>
                </a:solidFill>
              </a:rPr>
              <a:t>’</a:t>
            </a:r>
            <a:r>
              <a:rPr kumimoji="1" lang="en-US" altLang="zh-CN" sz="1400" b="1" dirty="0">
                <a:solidFill>
                  <a:srgbClr val="FF0000"/>
                </a:solidFill>
              </a:rPr>
              <a:t>phosphate group</a:t>
            </a:r>
            <a:r>
              <a:rPr kumimoji="1" lang="en-US" altLang="zh-CN" sz="1400" b="1" dirty="0">
                <a:solidFill>
                  <a:srgbClr val="000066"/>
                </a:solidFill>
              </a:rPr>
              <a:t> </a:t>
            </a:r>
            <a:endParaRPr lang="zh-CN" altLang="en-US" sz="1400" b="1" dirty="0"/>
          </a:p>
        </p:txBody>
      </p:sp>
      <p:sp>
        <p:nvSpPr>
          <p:cNvPr id="4" name="矩形 3"/>
          <p:cNvSpPr/>
          <p:nvPr/>
        </p:nvSpPr>
        <p:spPr>
          <a:xfrm>
            <a:off x="1149760" y="1628800"/>
            <a:ext cx="1915909" cy="369332"/>
          </a:xfrm>
          <a:prstGeom prst="rect">
            <a:avLst/>
          </a:prstGeom>
        </p:spPr>
        <p:txBody>
          <a:bodyPr wrap="none">
            <a:spAutoFit/>
          </a:bodyPr>
          <a:lstStyle/>
          <a:p>
            <a:r>
              <a:rPr lang="en-US" altLang="zh-CN" b="1" dirty="0"/>
              <a:t>phosphodiester</a:t>
            </a:r>
            <a:endParaRPr lang="zh-CN" altLang="en-US" dirty="0"/>
          </a:p>
        </p:txBody>
      </p:sp>
      <p:cxnSp>
        <p:nvCxnSpPr>
          <p:cNvPr id="7" name="直接箭头连接符 6"/>
          <p:cNvCxnSpPr/>
          <p:nvPr/>
        </p:nvCxnSpPr>
        <p:spPr>
          <a:xfrm>
            <a:off x="3491880" y="2924944"/>
            <a:ext cx="0" cy="216024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3090554" y="2852936"/>
            <a:ext cx="545342" cy="369332"/>
          </a:xfrm>
          <a:prstGeom prst="rect">
            <a:avLst/>
          </a:prstGeom>
        </p:spPr>
        <p:txBody>
          <a:bodyPr wrap="square">
            <a:spAutoFit/>
          </a:bodyPr>
          <a:lstStyle/>
          <a:p>
            <a:r>
              <a:rPr kumimoji="1" lang="en-US" altLang="zh-CN" b="1" dirty="0">
                <a:solidFill>
                  <a:srgbClr val="FF0000"/>
                </a:solidFill>
              </a:rPr>
              <a:t>5</a:t>
            </a:r>
            <a:r>
              <a:rPr kumimoji="1" lang="zh-CN" altLang="en-US" b="1" dirty="0">
                <a:solidFill>
                  <a:srgbClr val="FF0000"/>
                </a:solidFill>
              </a:rPr>
              <a:t>’</a:t>
            </a:r>
            <a:endParaRPr lang="zh-CN" altLang="en-US" dirty="0"/>
          </a:p>
        </p:txBody>
      </p:sp>
      <p:sp>
        <p:nvSpPr>
          <p:cNvPr id="9" name="矩形 8"/>
          <p:cNvSpPr/>
          <p:nvPr/>
        </p:nvSpPr>
        <p:spPr>
          <a:xfrm>
            <a:off x="3131840" y="4797152"/>
            <a:ext cx="545342" cy="369332"/>
          </a:xfrm>
          <a:prstGeom prst="rect">
            <a:avLst/>
          </a:prstGeom>
        </p:spPr>
        <p:txBody>
          <a:bodyPr wrap="none">
            <a:spAutoFit/>
          </a:bodyPr>
          <a:lstStyle/>
          <a:p>
            <a:r>
              <a:rPr kumimoji="1" lang="en-US" altLang="zh-CN" b="1" dirty="0">
                <a:solidFill>
                  <a:srgbClr val="FF0000"/>
                </a:solidFill>
              </a:rPr>
              <a:t>3</a:t>
            </a:r>
            <a:r>
              <a:rPr kumimoji="1" lang="zh-CN" altLang="en-US" b="1" dirty="0">
                <a:solidFill>
                  <a:srgbClr val="FF0000"/>
                </a:solidFill>
              </a:rPr>
              <a:t>’</a:t>
            </a:r>
            <a:endParaRPr lang="zh-CN"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2"/>
          <p:cNvSpPr txBox="1">
            <a:spLocks noChangeArrowheads="1"/>
          </p:cNvSpPr>
          <p:nvPr/>
        </p:nvSpPr>
        <p:spPr bwMode="auto">
          <a:xfrm>
            <a:off x="152400" y="908050"/>
            <a:ext cx="8991600" cy="404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30000"/>
              </a:spcBef>
              <a:buFontTx/>
              <a:buNone/>
            </a:pPr>
            <a:r>
              <a:rPr lang="en-US" altLang="zh-CN" b="1" dirty="0"/>
              <a:t>1.2 RNA also consists of four different kinds of ribonucleotides.</a:t>
            </a:r>
          </a:p>
          <a:p>
            <a:pPr eaLnBrk="1" hangingPunct="1">
              <a:lnSpc>
                <a:spcPct val="80000"/>
              </a:lnSpc>
              <a:spcBef>
                <a:spcPct val="30000"/>
              </a:spcBef>
              <a:buFontTx/>
              <a:buNone/>
            </a:pPr>
            <a:r>
              <a:rPr lang="en-US" altLang="zh-CN" b="1" dirty="0"/>
              <a:t>	1.2.1 Each ribonucleotide unit is also made of three parts: a nitrogenous base, a pentose, and a phosphate group.</a:t>
            </a:r>
          </a:p>
          <a:p>
            <a:pPr eaLnBrk="1" hangingPunct="1">
              <a:lnSpc>
                <a:spcPct val="80000"/>
              </a:lnSpc>
              <a:spcBef>
                <a:spcPct val="30000"/>
              </a:spcBef>
              <a:buFontTx/>
              <a:buNone/>
            </a:pPr>
            <a:r>
              <a:rPr lang="en-US" altLang="zh-CN" b="1" dirty="0"/>
              <a:t>	1.2.2 The base part is adenine, guanine, cytosine or </a:t>
            </a:r>
            <a:r>
              <a:rPr lang="en-US" altLang="zh-CN" b="1" dirty="0">
                <a:solidFill>
                  <a:srgbClr val="FF0066"/>
                </a:solidFill>
              </a:rPr>
              <a:t>uracil</a:t>
            </a:r>
            <a:r>
              <a:rPr lang="en-US" altLang="zh-CN" b="1" dirty="0"/>
              <a:t>.</a:t>
            </a:r>
          </a:p>
          <a:p>
            <a:pPr eaLnBrk="1" hangingPunct="1">
              <a:lnSpc>
                <a:spcPct val="80000"/>
              </a:lnSpc>
              <a:spcBef>
                <a:spcPct val="30000"/>
              </a:spcBef>
              <a:buFontTx/>
              <a:buNone/>
            </a:pPr>
            <a:r>
              <a:rPr lang="en-US" altLang="zh-CN" b="1" dirty="0"/>
              <a:t>	1.2.3 Uracil exists only in RNA, and thymine only in DNA.</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ext Box 2"/>
          <p:cNvSpPr txBox="1">
            <a:spLocks noChangeArrowheads="1"/>
          </p:cNvSpPr>
          <p:nvPr/>
        </p:nvSpPr>
        <p:spPr bwMode="auto">
          <a:xfrm>
            <a:off x="0" y="574675"/>
            <a:ext cx="9144000" cy="5706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400" dirty="0"/>
              <a:t>	</a:t>
            </a:r>
            <a:r>
              <a:rPr lang="en-US" altLang="zh-CN" b="1" dirty="0"/>
              <a:t>1.2.4 The pentose part is a </a:t>
            </a:r>
            <a:r>
              <a:rPr lang="en-US" altLang="zh-CN" b="1" dirty="0">
                <a:solidFill>
                  <a:srgbClr val="FF0000"/>
                </a:solidFill>
              </a:rPr>
              <a:t>ribose</a:t>
            </a:r>
            <a:r>
              <a:rPr lang="en-US" altLang="zh-CN" b="1" dirty="0"/>
              <a:t> (without being deoxygenated at the 2’ position) in its </a:t>
            </a:r>
            <a:r>
              <a:rPr lang="en-US" altLang="zh-CN" b="1" dirty="0">
                <a:latin typeface="Symbol" panose="05050102010706020507" pitchFamily="18" charset="2"/>
              </a:rPr>
              <a:t>b</a:t>
            </a:r>
            <a:r>
              <a:rPr lang="en-US" altLang="zh-CN" b="1" dirty="0"/>
              <a:t>-furanose form (as deoxyribose in deoxyribonucleotides).</a:t>
            </a:r>
          </a:p>
          <a:p>
            <a:pPr eaLnBrk="1" hangingPunct="1">
              <a:buFontTx/>
              <a:buNone/>
            </a:pPr>
            <a:r>
              <a:rPr lang="en-US" altLang="zh-CN" b="1" dirty="0"/>
              <a:t>	1.2.5 The bases and the phosphate group are covalently linked to the ribose ring in the same ways as in deoxyribonucleotides.</a:t>
            </a:r>
          </a:p>
          <a:p>
            <a:pPr eaLnBrk="1" hangingPunct="1">
              <a:buFontTx/>
              <a:buNone/>
            </a:pPr>
            <a:r>
              <a:rPr lang="en-US" altLang="zh-CN" b="1" dirty="0"/>
              <a:t>	1.2.6 The four nucleoside units in RNA are called adenosine, guanosine, cytidine, and uridine (</a:t>
            </a:r>
            <a:r>
              <a:rPr lang="en-US" altLang="zh-CN" b="1" dirty="0">
                <a:solidFill>
                  <a:srgbClr val="FF0000"/>
                </a:solidFill>
              </a:rPr>
              <a:t>without deoxy- suffix</a:t>
            </a:r>
            <a:r>
              <a:rPr lang="en-US" altLang="zh-CN" b="1" dirty="0"/>
              <a:t>); and the nucleotide units are AMP, GMP, CMP, and UMP.</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8800" y="1041400"/>
            <a:ext cx="8026400" cy="477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8800" y="1333500"/>
            <a:ext cx="8026400" cy="419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92300" y="711200"/>
            <a:ext cx="53594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41400" y="711200"/>
            <a:ext cx="70612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7000" y="914400"/>
            <a:ext cx="8890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7000" y="1270000"/>
            <a:ext cx="8890000" cy="322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7000" y="1295400"/>
            <a:ext cx="8890000"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25700" y="76200"/>
            <a:ext cx="4292600" cy="635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251520" y="2636912"/>
            <a:ext cx="1915909" cy="369332"/>
          </a:xfrm>
          <a:prstGeom prst="rect">
            <a:avLst/>
          </a:prstGeom>
        </p:spPr>
        <p:txBody>
          <a:bodyPr wrap="none">
            <a:spAutoFit/>
          </a:bodyPr>
          <a:lstStyle/>
          <a:p>
            <a:r>
              <a:rPr lang="en-US" altLang="zh-CN" b="1" dirty="0"/>
              <a:t>phosphodiester</a:t>
            </a:r>
            <a:endParaRPr lang="zh-CN"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17600" y="381000"/>
            <a:ext cx="7112000" cy="559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b="21407"/>
          <a:stretch>
            <a:fillRect/>
          </a:stretch>
        </p:blipFill>
        <p:spPr bwMode="auto">
          <a:xfrm>
            <a:off x="468313" y="620713"/>
            <a:ext cx="8208962" cy="489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39C7BA7A-78E9-18E1-0069-BF52BC9212B0}"/>
              </a:ext>
            </a:extLst>
          </p:cNvPr>
          <p:cNvSpPr txBox="1"/>
          <p:nvPr/>
        </p:nvSpPr>
        <p:spPr>
          <a:xfrm>
            <a:off x="467544" y="117693"/>
            <a:ext cx="8280920" cy="6740307"/>
          </a:xfrm>
          <a:prstGeom prst="rect">
            <a:avLst/>
          </a:prstGeom>
          <a:noFill/>
        </p:spPr>
        <p:txBody>
          <a:bodyPr wrap="square">
            <a:spAutoFit/>
          </a:bodyPr>
          <a:lstStyle/>
          <a:p>
            <a:r>
              <a:rPr lang="en-US" altLang="zh-CN" sz="1600" b="1" dirty="0"/>
              <a:t>nucleic acids</a:t>
            </a:r>
          </a:p>
          <a:p>
            <a:r>
              <a:rPr lang="en-US" altLang="zh-CN" sz="1600" b="1" dirty="0"/>
              <a:t>deoxyribonucleic acid (DNA) </a:t>
            </a:r>
          </a:p>
          <a:p>
            <a:r>
              <a:rPr lang="en-US" altLang="zh-CN" sz="1600" b="1" dirty="0"/>
              <a:t>ribonucleic acid (RNA)</a:t>
            </a:r>
          </a:p>
          <a:p>
            <a:endParaRPr lang="en-US" altLang="zh-CN" sz="1600" b="1" dirty="0"/>
          </a:p>
          <a:p>
            <a:r>
              <a:rPr lang="en-US" altLang="zh-CN" sz="1600" b="1" dirty="0"/>
              <a:t>nucleotide , ribonucleotide, deoxyribonucleotide</a:t>
            </a:r>
          </a:p>
          <a:p>
            <a:endParaRPr lang="en-US" altLang="zh-CN" sz="1600" b="1" dirty="0"/>
          </a:p>
          <a:p>
            <a:r>
              <a:rPr lang="en-US" altLang="zh-CN" sz="1600" b="1" dirty="0"/>
              <a:t>nitrogenous base, ribose, phosphate</a:t>
            </a:r>
          </a:p>
          <a:p>
            <a:endParaRPr lang="en-US" altLang="zh-CN" sz="1600" b="1" dirty="0"/>
          </a:p>
          <a:p>
            <a:r>
              <a:rPr lang="en-US" altLang="zh-CN" sz="1600" b="1" dirty="0"/>
              <a:t>ribose: pentose sugar/ribose/deoxyribose; </a:t>
            </a:r>
            <a:r>
              <a:rPr lang="el-GR" altLang="zh-CN" sz="1600" b="1" dirty="0"/>
              <a:t>β-</a:t>
            </a:r>
            <a:r>
              <a:rPr lang="en-US" altLang="zh-CN" sz="1600" b="1" dirty="0"/>
              <a:t>D-ribose; </a:t>
            </a:r>
            <a:r>
              <a:rPr lang="el-GR" altLang="zh-CN" sz="1600" b="1" dirty="0"/>
              <a:t>β-</a:t>
            </a:r>
            <a:r>
              <a:rPr lang="en-US" altLang="zh-CN" sz="1600" b="1" dirty="0"/>
              <a:t>D-furanose, </a:t>
            </a:r>
            <a:r>
              <a:rPr lang="el-GR" altLang="zh-CN" sz="1600" b="1" dirty="0"/>
              <a:t>β-</a:t>
            </a:r>
            <a:r>
              <a:rPr lang="en-US" altLang="zh-CN" sz="1600" b="1" dirty="0"/>
              <a:t>D-</a:t>
            </a:r>
            <a:r>
              <a:rPr lang="en-US" altLang="zh-CN" sz="1600" b="1" dirty="0" err="1"/>
              <a:t>ribofuranose</a:t>
            </a:r>
            <a:endParaRPr lang="en-US" altLang="zh-CN" sz="1600" b="1" dirty="0"/>
          </a:p>
          <a:p>
            <a:r>
              <a:rPr lang="el-GR" altLang="zh-CN" sz="1600" b="1" dirty="0"/>
              <a:t>β-</a:t>
            </a:r>
            <a:r>
              <a:rPr lang="en-US" altLang="zh-CN" sz="1600" b="1" dirty="0"/>
              <a:t>D-2-deoxyribofuranose</a:t>
            </a:r>
          </a:p>
          <a:p>
            <a:r>
              <a:rPr lang="en-US" altLang="zh-CN" sz="1600" b="1" dirty="0"/>
              <a:t>nitrogenous base: adenine (A), guanine (G), cytosine (C), or thymine (T), uracil (U) .</a:t>
            </a:r>
          </a:p>
          <a:p>
            <a:r>
              <a:rPr lang="en-US" altLang="zh-CN" sz="1600" b="1" dirty="0"/>
              <a:t>	               pyrimidine, purine</a:t>
            </a:r>
          </a:p>
          <a:p>
            <a:endParaRPr lang="en-US" altLang="zh-CN" sz="1600" b="1" dirty="0"/>
          </a:p>
          <a:p>
            <a:r>
              <a:rPr lang="en-US" altLang="zh-CN" sz="1600" b="1" dirty="0"/>
              <a:t>N-glycosidic bond:</a:t>
            </a:r>
          </a:p>
          <a:p>
            <a:r>
              <a:rPr lang="en-US" altLang="zh-CN" sz="1600" b="1" dirty="0"/>
              <a:t> 1’ carbon of the deoxyribose is covalently linked N-1 of the pyrimidine,</a:t>
            </a:r>
          </a:p>
          <a:p>
            <a:r>
              <a:rPr lang="en-US" altLang="zh-CN" sz="1600" b="1" dirty="0"/>
              <a:t> 1’ carbon of the deoxyribose is covalently linked N-9 of the purine</a:t>
            </a:r>
          </a:p>
          <a:p>
            <a:endParaRPr lang="en-US" altLang="zh-CN" sz="1600" b="1" dirty="0"/>
          </a:p>
          <a:p>
            <a:r>
              <a:rPr lang="en-US" altLang="zh-CN" sz="1600" b="1" dirty="0"/>
              <a:t>Nucleoside:</a:t>
            </a:r>
          </a:p>
          <a:p>
            <a:r>
              <a:rPr lang="en-US" altLang="zh-CN" sz="1600" b="1" dirty="0"/>
              <a:t>deoxyadenosine, deoxyguanosine, deoxythymidine, and deoxycytidine</a:t>
            </a:r>
          </a:p>
          <a:p>
            <a:r>
              <a:rPr lang="en-US" altLang="zh-CN" sz="1600" b="1" dirty="0"/>
              <a:t>adenosine, guanosine, uridine, and cytidine</a:t>
            </a:r>
          </a:p>
          <a:p>
            <a:endParaRPr lang="en-US" altLang="zh-CN" sz="1600" b="1" dirty="0"/>
          </a:p>
          <a:p>
            <a:r>
              <a:rPr lang="en-US" altLang="zh-CN" sz="1600" b="1" dirty="0"/>
              <a:t>3’,5’-phosphodiester</a:t>
            </a:r>
          </a:p>
          <a:p>
            <a:r>
              <a:rPr lang="en-US" altLang="zh-CN" sz="1600" b="1" dirty="0"/>
              <a:t>Nucleotide:</a:t>
            </a:r>
          </a:p>
          <a:p>
            <a:r>
              <a:rPr lang="en-US" altLang="zh-CN" sz="1600" b="1" dirty="0" err="1"/>
              <a:t>deoxyadenylate</a:t>
            </a:r>
            <a:r>
              <a:rPr lang="en-US" altLang="zh-CN" sz="1600" b="1" dirty="0"/>
              <a:t>  </a:t>
            </a:r>
            <a:r>
              <a:rPr lang="en-US" altLang="zh-CN" sz="1600" b="1" dirty="0" err="1"/>
              <a:t>deoxyguanylate</a:t>
            </a:r>
            <a:r>
              <a:rPr lang="en-US" altLang="zh-CN" sz="1600" b="1" dirty="0"/>
              <a:t>   deoxycytidylate    </a:t>
            </a:r>
            <a:r>
              <a:rPr lang="en-US" altLang="zh-CN" sz="1600" b="1" dirty="0" err="1"/>
              <a:t>deoxythymidylate</a:t>
            </a:r>
            <a:endParaRPr lang="en-US" altLang="zh-CN" sz="1600" b="1" dirty="0"/>
          </a:p>
          <a:p>
            <a:r>
              <a:rPr lang="en-US" altLang="zh-CN" sz="1600" b="1" dirty="0"/>
              <a:t>Adenylate        guanylate        </a:t>
            </a:r>
            <a:r>
              <a:rPr lang="en-US" altLang="zh-CN" sz="1600" b="1" dirty="0" err="1"/>
              <a:t>cytidylate</a:t>
            </a:r>
            <a:r>
              <a:rPr lang="en-US" altLang="zh-CN" sz="1600" b="1" dirty="0"/>
              <a:t>          uridylate</a:t>
            </a:r>
          </a:p>
        </p:txBody>
      </p:sp>
    </p:spTree>
    <p:extLst>
      <p:ext uri="{BB962C8B-B14F-4D97-AF65-F5344CB8AC3E}">
        <p14:creationId xmlns:p14="http://schemas.microsoft.com/office/powerpoint/2010/main" val="25176513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ext Box 2"/>
          <p:cNvSpPr txBox="1">
            <a:spLocks noChangeArrowheads="1"/>
          </p:cNvSpPr>
          <p:nvPr/>
        </p:nvSpPr>
        <p:spPr bwMode="auto">
          <a:xfrm>
            <a:off x="304800" y="920750"/>
            <a:ext cx="8839200" cy="3889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30000"/>
              </a:spcBef>
              <a:buFontTx/>
              <a:buNone/>
            </a:pPr>
            <a:r>
              <a:rPr lang="en-US" altLang="zh-CN" b="1"/>
              <a:t>1.3 DNA stores genetic information.</a:t>
            </a:r>
          </a:p>
          <a:p>
            <a:pPr eaLnBrk="1" hangingPunct="1">
              <a:lnSpc>
                <a:spcPct val="120000"/>
              </a:lnSpc>
              <a:spcBef>
                <a:spcPct val="30000"/>
              </a:spcBef>
              <a:buFontTx/>
              <a:buNone/>
            </a:pPr>
            <a:r>
              <a:rPr lang="en-US" altLang="zh-CN" b="1"/>
              <a:t>	1.3.1 The amino acid sequence of every protein and the nucleotide sequence of every RNA molecule in a cell are all specified by the nucleotide sequence of that cell’s DNA molecule.</a:t>
            </a:r>
          </a:p>
          <a:p>
            <a:pPr eaLnBrk="1" hangingPunct="1">
              <a:lnSpc>
                <a:spcPct val="120000"/>
              </a:lnSpc>
              <a:spcBef>
                <a:spcPct val="30000"/>
              </a:spcBef>
              <a:buFontTx/>
              <a:buNone/>
            </a:pPr>
            <a:r>
              <a:rPr lang="en-US" altLang="zh-CN" b="1"/>
              <a:t>	</a:t>
            </a:r>
            <a:endParaRPr lang="en-US" altLang="zh-CN" sz="2800" b="1"/>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ext Box 4098"/>
          <p:cNvSpPr txBox="1">
            <a:spLocks noChangeArrowheads="1"/>
          </p:cNvSpPr>
          <p:nvPr/>
        </p:nvSpPr>
        <p:spPr bwMode="auto">
          <a:xfrm>
            <a:off x="228600" y="693738"/>
            <a:ext cx="8763000" cy="3687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30000"/>
              </a:spcBef>
              <a:buFontTx/>
              <a:buNone/>
            </a:pPr>
            <a:r>
              <a:rPr lang="en-US" altLang="zh-CN" b="1" dirty="0"/>
              <a:t>	1.3.2 A segment of DNA that contains the information required for the synthesis of a functional protein or RNA is referred as a </a:t>
            </a:r>
            <a:r>
              <a:rPr lang="en-US" altLang="zh-CN" b="1" dirty="0">
                <a:solidFill>
                  <a:srgbClr val="FF0000"/>
                </a:solidFill>
              </a:rPr>
              <a:t>gene</a:t>
            </a:r>
            <a:r>
              <a:rPr lang="en-US" altLang="zh-CN" b="1" dirty="0"/>
              <a:t>.</a:t>
            </a:r>
          </a:p>
          <a:p>
            <a:pPr eaLnBrk="1" hangingPunct="1">
              <a:spcBef>
                <a:spcPct val="30000"/>
              </a:spcBef>
              <a:buFontTx/>
              <a:buNone/>
            </a:pPr>
            <a:r>
              <a:rPr lang="en-US" altLang="zh-CN" b="1" dirty="0"/>
              <a:t>	1.3.3 DNA is large </a:t>
            </a:r>
            <a:r>
              <a:rPr lang="en-US" altLang="zh-CN" b="1" dirty="0">
                <a:solidFill>
                  <a:srgbClr val="FF0000"/>
                </a:solidFill>
              </a:rPr>
              <a:t>biomacromolecule</a:t>
            </a:r>
            <a:r>
              <a:rPr lang="en-US" altLang="zh-CN" b="1" dirty="0"/>
              <a:t>. In bacteria, all the genetic information is stored in a single DNA molecule; in a eukaryotic cell each chromosome contains one single DNA molecule.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ext Box 2"/>
          <p:cNvSpPr txBox="1">
            <a:spLocks noChangeArrowheads="1"/>
          </p:cNvSpPr>
          <p:nvPr/>
        </p:nvSpPr>
        <p:spPr bwMode="auto">
          <a:xfrm>
            <a:off x="152400" y="655638"/>
            <a:ext cx="8839200" cy="5213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buFontTx/>
              <a:buNone/>
            </a:pPr>
            <a:r>
              <a:rPr lang="en-US" altLang="zh-CN" b="1" dirty="0"/>
              <a:t>1.4 RNA can be divided into </a:t>
            </a:r>
            <a:r>
              <a:rPr lang="en-US" altLang="zh-CN" b="1" dirty="0">
                <a:solidFill>
                  <a:srgbClr val="FF0000"/>
                </a:solidFill>
              </a:rPr>
              <a:t>several classes </a:t>
            </a:r>
            <a:r>
              <a:rPr lang="en-US" altLang="zh-CN" b="1" dirty="0"/>
              <a:t>of different functions.</a:t>
            </a:r>
          </a:p>
          <a:p>
            <a:pPr eaLnBrk="1" hangingPunct="1">
              <a:lnSpc>
                <a:spcPct val="80000"/>
              </a:lnSpc>
              <a:buFontTx/>
              <a:buNone/>
            </a:pPr>
            <a:r>
              <a:rPr lang="en-US" altLang="zh-CN" b="1" dirty="0"/>
              <a:t>	1.4.1 Ribosomal RNAs (</a:t>
            </a:r>
            <a:r>
              <a:rPr lang="en-US" altLang="zh-CN" b="1" dirty="0">
                <a:solidFill>
                  <a:srgbClr val="FF0000"/>
                </a:solidFill>
              </a:rPr>
              <a:t>rRNA</a:t>
            </a:r>
            <a:r>
              <a:rPr lang="en-US" altLang="zh-CN" b="1" dirty="0"/>
              <a:t>) are structural components of ribosomes (the protein synthesis machine in cells).</a:t>
            </a:r>
          </a:p>
          <a:p>
            <a:pPr eaLnBrk="1" hangingPunct="1">
              <a:buFontTx/>
              <a:buNone/>
            </a:pPr>
            <a:r>
              <a:rPr lang="en-US" altLang="zh-CN" b="1" dirty="0"/>
              <a:t>	1.4.2 Messenger RNA (</a:t>
            </a:r>
            <a:r>
              <a:rPr lang="en-US" altLang="zh-CN" b="1" dirty="0">
                <a:solidFill>
                  <a:srgbClr val="FF0000"/>
                </a:solidFill>
              </a:rPr>
              <a:t>mRNA</a:t>
            </a:r>
            <a:r>
              <a:rPr lang="en-US" altLang="zh-CN" b="1" dirty="0"/>
              <a:t>) are copies of DNA (synthesized by DNA transcription), that carry the information of </a:t>
            </a:r>
            <a:r>
              <a:rPr lang="en-US" altLang="zh-CN" b="1" dirty="0">
                <a:solidFill>
                  <a:srgbClr val="FF0000"/>
                </a:solidFill>
              </a:rPr>
              <a:t>one or a few genes </a:t>
            </a:r>
            <a:r>
              <a:rPr lang="en-US" altLang="zh-CN" b="1" dirty="0"/>
              <a:t>to the ribosomes, where the corresponding protein(s) is(are) synthesized.</a:t>
            </a:r>
          </a:p>
          <a:p>
            <a:pPr eaLnBrk="1" hangingPunct="1">
              <a:lnSpc>
                <a:spcPct val="80000"/>
              </a:lnSpc>
              <a:buFontTx/>
              <a:buNone/>
            </a:pPr>
            <a:r>
              <a:rPr lang="en-US" altLang="zh-CN" b="1" dirty="0"/>
              <a:t>	</a:t>
            </a:r>
            <a:endParaRPr lang="en-US" altLang="zh-CN"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ext Box 2"/>
          <p:cNvSpPr txBox="1">
            <a:spLocks noChangeArrowheads="1"/>
          </p:cNvSpPr>
          <p:nvPr/>
        </p:nvSpPr>
        <p:spPr bwMode="auto">
          <a:xfrm>
            <a:off x="304800" y="635000"/>
            <a:ext cx="8534400" cy="558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30000"/>
              </a:spcBef>
              <a:buFontTx/>
              <a:buNone/>
            </a:pPr>
            <a:r>
              <a:rPr lang="en-US" altLang="zh-CN" sz="2400" dirty="0"/>
              <a:t>	 </a:t>
            </a:r>
            <a:r>
              <a:rPr lang="en-US" altLang="zh-CN" b="1" dirty="0"/>
              <a:t>1.4.3 Transfer RNA (</a:t>
            </a:r>
            <a:r>
              <a:rPr lang="en-US" altLang="zh-CN" b="1" dirty="0">
                <a:solidFill>
                  <a:srgbClr val="FF0000"/>
                </a:solidFill>
              </a:rPr>
              <a:t>tRNA</a:t>
            </a:r>
            <a:r>
              <a:rPr lang="en-US" altLang="zh-CN" b="1" dirty="0"/>
              <a:t>) are adapter molecules that faithfully translate the information in a mRNA molecule into the specific amino acid sequences in a polypeptide chain.</a:t>
            </a:r>
            <a:r>
              <a:rPr lang="en-US" altLang="zh-CN" dirty="0"/>
              <a:t> </a:t>
            </a:r>
          </a:p>
          <a:p>
            <a:pPr eaLnBrk="1" hangingPunct="1">
              <a:spcBef>
                <a:spcPct val="30000"/>
              </a:spcBef>
              <a:buFontTx/>
              <a:buNone/>
            </a:pPr>
            <a:r>
              <a:rPr lang="en-US" altLang="zh-CN" dirty="0"/>
              <a:t>	</a:t>
            </a:r>
            <a:r>
              <a:rPr lang="en-US" altLang="zh-CN" b="1" dirty="0"/>
              <a:t>1.4.4 Some RNA molecules, named as </a:t>
            </a:r>
            <a:r>
              <a:rPr lang="en-US" altLang="zh-CN" b="1" dirty="0">
                <a:solidFill>
                  <a:srgbClr val="FF0000"/>
                </a:solidFill>
              </a:rPr>
              <a:t>Ribozymes</a:t>
            </a:r>
            <a:r>
              <a:rPr lang="en-US" altLang="zh-CN" b="1" dirty="0"/>
              <a:t>, have catalytic activities functioning in the processing (cleavage) of precursor RNA molecules (Thomas Cech and Sidney Altman won the Nobel Prize in Chemistry in 1989 for discovering ribozymes).</a:t>
            </a:r>
          </a:p>
          <a:p>
            <a:pPr eaLnBrk="1" hangingPunct="1">
              <a:lnSpc>
                <a:spcPct val="80000"/>
              </a:lnSpc>
              <a:spcBef>
                <a:spcPct val="30000"/>
              </a:spcBef>
              <a:buFontTx/>
              <a:buNone/>
            </a:pPr>
            <a:endParaRPr lang="en-US" altLang="zh-CN" sz="2800" b="1"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ext Box 2"/>
          <p:cNvSpPr txBox="1">
            <a:spLocks noChangeArrowheads="1"/>
          </p:cNvSpPr>
          <p:nvPr/>
        </p:nvSpPr>
        <p:spPr bwMode="auto">
          <a:xfrm>
            <a:off x="0" y="228600"/>
            <a:ext cx="9144000" cy="5488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buFontTx/>
              <a:buNone/>
            </a:pPr>
            <a:r>
              <a:rPr lang="en-US" altLang="zh-CN" b="1" dirty="0"/>
              <a:t>1.5 Nucleotides have roles </a:t>
            </a:r>
            <a:r>
              <a:rPr lang="en-US" altLang="zh-CN" b="1" dirty="0">
                <a:solidFill>
                  <a:srgbClr val="FF0000"/>
                </a:solidFill>
              </a:rPr>
              <a:t>other than being monomeric units of nucleic acids</a:t>
            </a:r>
            <a:r>
              <a:rPr lang="en-US" altLang="zh-CN" b="1" dirty="0"/>
              <a:t>.</a:t>
            </a:r>
          </a:p>
          <a:p>
            <a:pPr eaLnBrk="1" hangingPunct="1">
              <a:lnSpc>
                <a:spcPct val="120000"/>
              </a:lnSpc>
              <a:buFontTx/>
              <a:buNone/>
            </a:pPr>
            <a:r>
              <a:rPr lang="en-US" altLang="zh-CN" b="1" dirty="0"/>
              <a:t>	1.5.1 Nucleoside triphosphates are used as source of </a:t>
            </a:r>
            <a:r>
              <a:rPr lang="en-US" altLang="zh-CN" b="1" dirty="0">
                <a:solidFill>
                  <a:srgbClr val="FF0000"/>
                </a:solidFill>
              </a:rPr>
              <a:t>chemical energy </a:t>
            </a:r>
            <a:r>
              <a:rPr lang="en-US" altLang="zh-CN" b="1" dirty="0"/>
              <a:t>to drive a wide variety of biochemical reactions.</a:t>
            </a:r>
            <a:r>
              <a:rPr lang="en-US" altLang="zh-CN" dirty="0"/>
              <a:t> </a:t>
            </a:r>
          </a:p>
          <a:p>
            <a:pPr eaLnBrk="1" hangingPunct="1">
              <a:lnSpc>
                <a:spcPct val="120000"/>
              </a:lnSpc>
              <a:buFontTx/>
              <a:buNone/>
            </a:pPr>
            <a:r>
              <a:rPr lang="en-US" altLang="zh-CN" dirty="0"/>
              <a:t>	</a:t>
            </a:r>
            <a:r>
              <a:rPr lang="en-US" altLang="zh-CN" b="1" dirty="0"/>
              <a:t>1.5.2 </a:t>
            </a:r>
            <a:r>
              <a:rPr lang="en-US" altLang="zh-CN" b="1" dirty="0">
                <a:solidFill>
                  <a:srgbClr val="FF0000"/>
                </a:solidFill>
              </a:rPr>
              <a:t>ATP is the “energy currency</a:t>
            </a:r>
            <a:r>
              <a:rPr lang="en-US" altLang="zh-CN" b="1" dirty="0"/>
              <a:t>” in cells (UTP, GTP, and CTP are also used in specific reactions as energy sources)</a:t>
            </a:r>
          </a:p>
          <a:p>
            <a:pPr eaLnBrk="1" hangingPunct="1">
              <a:lnSpc>
                <a:spcPct val="75000"/>
              </a:lnSpc>
              <a:buFontTx/>
              <a:buNone/>
            </a:pPr>
            <a:r>
              <a:rPr lang="en-US" altLang="zh-CN" b="1" dirty="0"/>
              <a:t>	</a:t>
            </a:r>
            <a:endParaRPr lang="en-US" altLang="zh-CN" sz="2800" b="1"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ext Box 1026"/>
          <p:cNvSpPr txBox="1">
            <a:spLocks noChangeArrowheads="1"/>
          </p:cNvSpPr>
          <p:nvPr/>
        </p:nvSpPr>
        <p:spPr bwMode="auto">
          <a:xfrm>
            <a:off x="381000" y="928688"/>
            <a:ext cx="8229600" cy="310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buFontTx/>
              <a:buNone/>
            </a:pPr>
            <a:r>
              <a:rPr lang="en-US" altLang="zh-CN" b="1" dirty="0"/>
              <a:t>	1.5.3 Adenosine diphosphate (</a:t>
            </a:r>
            <a:r>
              <a:rPr lang="en-US" altLang="zh-CN" b="1" dirty="0">
                <a:solidFill>
                  <a:srgbClr val="FF0000"/>
                </a:solidFill>
              </a:rPr>
              <a:t>ADP</a:t>
            </a:r>
            <a:r>
              <a:rPr lang="en-US" altLang="zh-CN" b="1" dirty="0"/>
              <a:t>) is part of many </a:t>
            </a:r>
            <a:r>
              <a:rPr lang="en-US" altLang="zh-CN" b="1" dirty="0">
                <a:solidFill>
                  <a:srgbClr val="FF0000"/>
                </a:solidFill>
              </a:rPr>
              <a:t>coenzymes</a:t>
            </a:r>
            <a:r>
              <a:rPr lang="en-US" altLang="zh-CN" b="1" dirty="0"/>
              <a:t>, e.g., coenzyme A, nicotinamide adenine dinucleotide (NAD</a:t>
            </a:r>
            <a:r>
              <a:rPr lang="en-US" altLang="zh-CN" b="1" baseline="30000" dirty="0"/>
              <a:t>+</a:t>
            </a:r>
            <a:r>
              <a:rPr lang="en-US" altLang="zh-CN" b="1" dirty="0"/>
              <a:t>), flavin adenine dinucleotide (FAD).</a:t>
            </a:r>
          </a:p>
          <a:p>
            <a:pPr eaLnBrk="1" hangingPunct="1">
              <a:lnSpc>
                <a:spcPct val="120000"/>
              </a:lnSpc>
              <a:buFontTx/>
              <a:buNone/>
            </a:pPr>
            <a:r>
              <a:rPr lang="en-US" altLang="zh-CN" b="1" dirty="0"/>
              <a:t>	</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370" name="Picture 4" descr="003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03648" y="620688"/>
            <a:ext cx="6984776" cy="5238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42" name="Picture 102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85800"/>
            <a:ext cx="9144000" cy="358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3491880" y="2452246"/>
            <a:ext cx="1584176" cy="369332"/>
          </a:xfrm>
          <a:prstGeom prst="rect">
            <a:avLst/>
          </a:prstGeom>
          <a:noFill/>
        </p:spPr>
        <p:txBody>
          <a:bodyPr wrap="square" rtlCol="0">
            <a:spAutoFit/>
          </a:bodyPr>
          <a:lstStyle/>
          <a:p>
            <a:r>
              <a:rPr lang="zh-CN" altLang="en-US" dirty="0"/>
              <a:t>泛酸</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466"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27783" y="548680"/>
            <a:ext cx="4198681" cy="5616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490"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43200" y="381000"/>
            <a:ext cx="3070225" cy="586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ext Box 4"/>
          <p:cNvSpPr txBox="1">
            <a:spLocks noChangeArrowheads="1"/>
          </p:cNvSpPr>
          <p:nvPr/>
        </p:nvSpPr>
        <p:spPr bwMode="auto">
          <a:xfrm>
            <a:off x="533400" y="1066800"/>
            <a:ext cx="8001000" cy="3600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buFontTx/>
              <a:buNone/>
            </a:pPr>
            <a:r>
              <a:rPr lang="en-US" altLang="zh-CN" b="1" dirty="0"/>
              <a:t>1.5.4 Adenosine 3’,5’-cyclic monophosphate (</a:t>
            </a:r>
            <a:r>
              <a:rPr lang="en-US" altLang="zh-CN" b="1" dirty="0">
                <a:solidFill>
                  <a:srgbClr val="FF0000"/>
                </a:solidFill>
              </a:rPr>
              <a:t>cAMP</a:t>
            </a:r>
            <a:r>
              <a:rPr lang="en-US" altLang="zh-CN" b="1" dirty="0"/>
              <a:t>), guanosine 3’,5’-cyclic monophosphate (</a:t>
            </a:r>
            <a:r>
              <a:rPr lang="en-US" altLang="zh-CN" b="1" dirty="0">
                <a:solidFill>
                  <a:srgbClr val="FF0000"/>
                </a:solidFill>
              </a:rPr>
              <a:t>cGMP</a:t>
            </a:r>
            <a:r>
              <a:rPr lang="en-US" altLang="zh-CN" b="1" dirty="0"/>
              <a:t>) function as </a:t>
            </a:r>
            <a:r>
              <a:rPr lang="en-US" altLang="zh-CN" b="1" dirty="0">
                <a:solidFill>
                  <a:srgbClr val="FF0000"/>
                </a:solidFill>
              </a:rPr>
              <a:t>secondary messengers </a:t>
            </a:r>
            <a:r>
              <a:rPr lang="en-US" altLang="zh-CN" b="1" dirty="0"/>
              <a:t>in cell signal transductions.</a:t>
            </a:r>
          </a:p>
          <a:p>
            <a:pPr eaLnBrk="1" hangingPunct="1">
              <a:spcBef>
                <a:spcPct val="50000"/>
              </a:spcBef>
              <a:buFontTx/>
              <a:buNone/>
            </a:pPr>
            <a:endParaRPr lang="en-US" altLang="zh-CN" sz="2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538"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7550" y="711200"/>
            <a:ext cx="77089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ext Box 2"/>
          <p:cNvSpPr txBox="1">
            <a:spLocks noChangeArrowheads="1"/>
          </p:cNvSpPr>
          <p:nvPr/>
        </p:nvSpPr>
        <p:spPr bwMode="auto">
          <a:xfrm>
            <a:off x="228600" y="228600"/>
            <a:ext cx="8686800" cy="155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15000"/>
              </a:spcBef>
              <a:buFontTx/>
              <a:buNone/>
            </a:pPr>
            <a:r>
              <a:rPr lang="en-US" altLang="zh-CN" b="1">
                <a:solidFill>
                  <a:srgbClr val="FF0066"/>
                </a:solidFill>
              </a:rPr>
              <a:t>2. Phosphodiester bonds link successive nucleotides in nucleic acids (in both DNA and RNA)</a:t>
            </a:r>
            <a:endParaRPr lang="en-US" altLang="zh-CN" sz="2400"/>
          </a:p>
        </p:txBody>
      </p:sp>
      <p:sp>
        <p:nvSpPr>
          <p:cNvPr id="66563" name="Text Box 3"/>
          <p:cNvSpPr txBox="1">
            <a:spLocks noChangeArrowheads="1"/>
          </p:cNvSpPr>
          <p:nvPr/>
        </p:nvSpPr>
        <p:spPr bwMode="auto">
          <a:xfrm>
            <a:off x="228600" y="2097088"/>
            <a:ext cx="8915400" cy="3687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15000"/>
              </a:spcBef>
              <a:buFontTx/>
              <a:buNone/>
            </a:pPr>
            <a:r>
              <a:rPr lang="en-US" altLang="zh-CN" b="1" dirty="0"/>
              <a:t>2.1 The 3’-hydroxyl group of one nucleotide is joined to the 5’-phosphate group of the next nucleotide by a </a:t>
            </a:r>
            <a:r>
              <a:rPr lang="en-US" altLang="zh-CN" b="1" dirty="0">
                <a:solidFill>
                  <a:srgbClr val="FF0000"/>
                </a:solidFill>
              </a:rPr>
              <a:t>phosphodiester bridge</a:t>
            </a:r>
            <a:r>
              <a:rPr lang="en-US" altLang="zh-CN" b="1" dirty="0"/>
              <a:t>.</a:t>
            </a:r>
          </a:p>
          <a:p>
            <a:pPr eaLnBrk="1" hangingPunct="1">
              <a:spcBef>
                <a:spcPct val="15000"/>
              </a:spcBef>
              <a:buFontTx/>
              <a:buNone/>
            </a:pPr>
            <a:r>
              <a:rPr lang="en-US" altLang="zh-CN" b="1" dirty="0"/>
              <a:t>	2.1.1 The covalent backbones of nucleic acids consist of alternating phosphate and pentose (</a:t>
            </a:r>
            <a:r>
              <a:rPr lang="en-US" altLang="zh-CN" b="1" dirty="0">
                <a:latin typeface="Symbol" panose="05050102010706020507" pitchFamily="18" charset="2"/>
              </a:rPr>
              <a:t>b</a:t>
            </a:r>
            <a:r>
              <a:rPr lang="en-US" altLang="zh-CN" b="1" dirty="0"/>
              <a:t>-D-deoxyribose in DNA, </a:t>
            </a:r>
            <a:r>
              <a:rPr lang="en-US" altLang="zh-CN" b="1" dirty="0">
                <a:latin typeface="Symbol" panose="05050102010706020507" pitchFamily="18" charset="2"/>
              </a:rPr>
              <a:t>b</a:t>
            </a:r>
            <a:r>
              <a:rPr lang="en-US" altLang="zh-CN" b="1" dirty="0"/>
              <a:t>-D-ribose in RNA) residues.</a:t>
            </a:r>
          </a:p>
          <a:p>
            <a:pPr eaLnBrk="1" hangingPunct="1">
              <a:spcBef>
                <a:spcPct val="15000"/>
              </a:spcBef>
              <a:buFontTx/>
              <a:buNone/>
            </a:pPr>
            <a:r>
              <a:rPr lang="en-US" altLang="zh-CN" b="1" dirty="0"/>
              <a:t>	</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25700" y="76200"/>
            <a:ext cx="4292600" cy="635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251520" y="2636912"/>
            <a:ext cx="1915909" cy="369332"/>
          </a:xfrm>
          <a:prstGeom prst="rect">
            <a:avLst/>
          </a:prstGeom>
        </p:spPr>
        <p:txBody>
          <a:bodyPr wrap="none">
            <a:spAutoFit/>
          </a:bodyPr>
          <a:lstStyle/>
          <a:p>
            <a:r>
              <a:rPr lang="en-US" altLang="zh-CN" b="1" dirty="0"/>
              <a:t>phosphodiester</a:t>
            </a:r>
            <a:endParaRPr lang="zh-CN" alt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610" name="Picture 102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60688" y="152400"/>
            <a:ext cx="2373312" cy="655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ext Box 2"/>
          <p:cNvSpPr txBox="1">
            <a:spLocks noChangeArrowheads="1"/>
          </p:cNvSpPr>
          <p:nvPr/>
        </p:nvSpPr>
        <p:spPr bwMode="auto">
          <a:xfrm>
            <a:off x="152400" y="228601"/>
            <a:ext cx="8740080" cy="54817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25000"/>
              </a:spcBef>
              <a:buFontTx/>
              <a:buNone/>
            </a:pPr>
            <a:r>
              <a:rPr lang="en-US" altLang="zh-CN" sz="2800" dirty="0"/>
              <a:t>	</a:t>
            </a:r>
            <a:r>
              <a:rPr lang="en-US" altLang="zh-CN" sz="2800" b="1" dirty="0"/>
              <a:t>2.1.2 The characteristic bases can be regarded as </a:t>
            </a:r>
            <a:r>
              <a:rPr lang="en-US" altLang="zh-CN" sz="2800" b="1" dirty="0">
                <a:solidFill>
                  <a:srgbClr val="FF0000"/>
                </a:solidFill>
              </a:rPr>
              <a:t>side groups </a:t>
            </a:r>
            <a:r>
              <a:rPr lang="en-US" altLang="zh-CN" sz="2800" b="1" dirty="0"/>
              <a:t>attaching to the backbone at regular intervals (</a:t>
            </a:r>
            <a:r>
              <a:rPr lang="en-US" altLang="zh-CN" sz="2800" b="1" dirty="0">
                <a:solidFill>
                  <a:srgbClr val="FF0000"/>
                </a:solidFill>
              </a:rPr>
              <a:t>similar to the R groups on a peptide chains</a:t>
            </a:r>
            <a:r>
              <a:rPr lang="en-US" altLang="zh-CN" sz="2800" b="1" dirty="0"/>
              <a:t>).</a:t>
            </a:r>
          </a:p>
          <a:p>
            <a:pPr eaLnBrk="1" hangingPunct="1">
              <a:spcBef>
                <a:spcPct val="25000"/>
              </a:spcBef>
              <a:buFontTx/>
              <a:buNone/>
            </a:pPr>
            <a:r>
              <a:rPr lang="en-US" altLang="zh-CN" sz="2800" b="1" dirty="0"/>
              <a:t>	2.1.3 Each DNA and RNA strands have a specific polarity with a </a:t>
            </a:r>
            <a:r>
              <a:rPr lang="en-US" altLang="zh-CN" sz="2800" b="1" dirty="0">
                <a:solidFill>
                  <a:srgbClr val="FF0000"/>
                </a:solidFill>
              </a:rPr>
              <a:t>distinct 5’ end </a:t>
            </a:r>
            <a:r>
              <a:rPr lang="en-US" altLang="zh-CN" sz="2800" b="1" dirty="0"/>
              <a:t>(the end lacking a nucleotide at the 5’ position) and a </a:t>
            </a:r>
            <a:r>
              <a:rPr lang="en-US" altLang="zh-CN" sz="2800" b="1" dirty="0">
                <a:solidFill>
                  <a:srgbClr val="FF0000"/>
                </a:solidFill>
              </a:rPr>
              <a:t>3’ end </a:t>
            </a:r>
            <a:r>
              <a:rPr lang="en-US" altLang="zh-CN" sz="2800" b="1" dirty="0"/>
              <a:t>(the end lacking a nucleotide at the 3’ position). 5’-pCpGpT-3’-OH</a:t>
            </a:r>
          </a:p>
          <a:p>
            <a:pPr eaLnBrk="1" hangingPunct="1">
              <a:spcBef>
                <a:spcPct val="25000"/>
              </a:spcBef>
              <a:buFontTx/>
              <a:buNone/>
            </a:pPr>
            <a:r>
              <a:rPr lang="en-US" altLang="zh-CN" sz="2800" b="1" dirty="0"/>
              <a:t>	2.1.4 The base sequence of a DNA or RNA molecule is always written with the </a:t>
            </a:r>
            <a:r>
              <a:rPr lang="en-US" altLang="zh-CN" sz="2800" b="1" dirty="0">
                <a:solidFill>
                  <a:srgbClr val="FF0000"/>
                </a:solidFill>
              </a:rPr>
              <a:t>5’ end on the left and 3’ end on the right </a:t>
            </a:r>
            <a:r>
              <a:rPr lang="en-US" altLang="zh-CN" sz="2800" b="1" dirty="0"/>
              <a:t>by convention.</a:t>
            </a:r>
          </a:p>
          <a:p>
            <a:pPr eaLnBrk="1" hangingPunct="1">
              <a:lnSpc>
                <a:spcPct val="75000"/>
              </a:lnSpc>
              <a:spcBef>
                <a:spcPct val="25000"/>
              </a:spcBef>
              <a:buFontTx/>
              <a:buNone/>
            </a:pPr>
            <a:r>
              <a:rPr lang="en-US" altLang="zh-CN" sz="2800" b="1" dirty="0"/>
              <a:t>	</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682" name="Picture 102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4800" y="1727200"/>
            <a:ext cx="7003504" cy="2216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683" name="Text Box 1029"/>
          <p:cNvSpPr txBox="1">
            <a:spLocks noChangeArrowheads="1"/>
          </p:cNvSpPr>
          <p:nvPr/>
        </p:nvSpPr>
        <p:spPr bwMode="auto">
          <a:xfrm>
            <a:off x="2339752" y="3965150"/>
            <a:ext cx="4806280"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dirty="0" err="1"/>
              <a:t>pA</a:t>
            </a:r>
            <a:r>
              <a:rPr lang="en-US" altLang="zh-CN" dirty="0"/>
              <a:t>-C-G-T-A</a:t>
            </a:r>
            <a:r>
              <a:rPr lang="en-US" altLang="zh-CN" baseline="-25000" dirty="0"/>
              <a:t>OH</a:t>
            </a:r>
          </a:p>
          <a:p>
            <a:pPr eaLnBrk="1" hangingPunct="1">
              <a:spcBef>
                <a:spcPct val="50000"/>
              </a:spcBef>
              <a:buFontTx/>
              <a:buNone/>
            </a:pPr>
            <a:r>
              <a:rPr lang="en-US" altLang="zh-CN" dirty="0" err="1"/>
              <a:t>pApCpGpTpA</a:t>
            </a:r>
            <a:endParaRPr lang="en-US" altLang="zh-CN" dirty="0"/>
          </a:p>
          <a:p>
            <a:pPr eaLnBrk="1" hangingPunct="1">
              <a:spcBef>
                <a:spcPct val="50000"/>
              </a:spcBef>
              <a:buFontTx/>
              <a:buNone/>
            </a:pPr>
            <a:r>
              <a:rPr lang="en-US" altLang="zh-CN" dirty="0"/>
              <a:t>ACGTA</a:t>
            </a:r>
          </a:p>
        </p:txBody>
      </p:sp>
      <p:sp>
        <p:nvSpPr>
          <p:cNvPr id="71684" name="Text Box 1031"/>
          <p:cNvSpPr txBox="1">
            <a:spLocks noChangeArrowheads="1"/>
          </p:cNvSpPr>
          <p:nvPr/>
        </p:nvSpPr>
        <p:spPr bwMode="auto">
          <a:xfrm>
            <a:off x="0" y="152400"/>
            <a:ext cx="9144000" cy="155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25000"/>
              </a:spcBef>
              <a:buFontTx/>
              <a:buNone/>
            </a:pPr>
            <a:r>
              <a:rPr lang="en-US" altLang="zh-CN" b="1"/>
              <a:t>	2.1.5 The nucleotide sequences of short segment of nucleic acids can be represented in different ways. </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ext Box 3076"/>
          <p:cNvSpPr txBox="1">
            <a:spLocks noChangeArrowheads="1"/>
          </p:cNvSpPr>
          <p:nvPr/>
        </p:nvSpPr>
        <p:spPr bwMode="auto">
          <a:xfrm>
            <a:off x="381000" y="762000"/>
            <a:ext cx="8458200" cy="4905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25000"/>
              </a:spcBef>
              <a:buFontTx/>
              <a:buNone/>
            </a:pPr>
            <a:r>
              <a:rPr lang="en-US" altLang="zh-CN" b="1" dirty="0"/>
              <a:t>          2.1.6 An </a:t>
            </a:r>
            <a:r>
              <a:rPr lang="en-US" altLang="zh-CN" b="1" dirty="0">
                <a:solidFill>
                  <a:srgbClr val="FF0000"/>
                </a:solidFill>
              </a:rPr>
              <a:t>oligonucleotide</a:t>
            </a:r>
            <a:r>
              <a:rPr lang="en-US" altLang="zh-CN" b="1" dirty="0"/>
              <a:t> refers to nucleic acids shorter than about 50 nucleotides.</a:t>
            </a:r>
          </a:p>
          <a:p>
            <a:pPr eaLnBrk="1" hangingPunct="1">
              <a:lnSpc>
                <a:spcPct val="120000"/>
              </a:lnSpc>
              <a:spcBef>
                <a:spcPct val="25000"/>
              </a:spcBef>
              <a:buFontTx/>
              <a:buNone/>
            </a:pPr>
            <a:r>
              <a:rPr lang="en-US" altLang="zh-CN" b="1" dirty="0"/>
              <a:t>	2.1.7 The backbones of both DNA and RNA are </a:t>
            </a:r>
            <a:r>
              <a:rPr lang="en-US" altLang="zh-CN" b="1" dirty="0">
                <a:solidFill>
                  <a:srgbClr val="FF0000"/>
                </a:solidFill>
              </a:rPr>
              <a:t>hydrophilic, having negative charges at physiological pH</a:t>
            </a:r>
            <a:r>
              <a:rPr lang="en-US" altLang="zh-CN" b="1" dirty="0"/>
              <a:t>, that are generally neutralized </a:t>
            </a:r>
            <a:r>
              <a:rPr lang="en-US" altLang="zh-CN" b="1" dirty="0">
                <a:solidFill>
                  <a:srgbClr val="FF0000"/>
                </a:solidFill>
              </a:rPr>
              <a:t>by positively charged proteins, metal ions, and polyamines </a:t>
            </a:r>
            <a:r>
              <a:rPr lang="en-US" altLang="zh-CN" b="1" dirty="0"/>
              <a:t>in cells.</a:t>
            </a:r>
          </a:p>
          <a:p>
            <a:pPr eaLnBrk="1" hangingPunct="1">
              <a:spcBef>
                <a:spcPct val="50000"/>
              </a:spcBef>
              <a:buFontTx/>
              <a:buNone/>
            </a:pPr>
            <a:endParaRPr lang="en-US" altLang="zh-CN" sz="24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610" name="Picture 102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60688" y="152400"/>
            <a:ext cx="2373312" cy="655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ext Box 2"/>
          <p:cNvSpPr txBox="1">
            <a:spLocks noChangeArrowheads="1"/>
          </p:cNvSpPr>
          <p:nvPr/>
        </p:nvSpPr>
        <p:spPr bwMode="auto">
          <a:xfrm>
            <a:off x="228600" y="381000"/>
            <a:ext cx="8686800" cy="87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spcBef>
                <a:spcPct val="50000"/>
              </a:spcBef>
              <a:buFontTx/>
              <a:buNone/>
            </a:pPr>
            <a:r>
              <a:rPr lang="en-US" altLang="zh-CN" b="1">
                <a:solidFill>
                  <a:srgbClr val="FF0066"/>
                </a:solidFill>
              </a:rPr>
              <a:t>3. DNA was found to be the molecule storing the genetic information.</a:t>
            </a:r>
            <a:endParaRPr lang="en-US" altLang="zh-CN" sz="2400"/>
          </a:p>
        </p:txBody>
      </p:sp>
      <p:sp>
        <p:nvSpPr>
          <p:cNvPr id="73731" name="Text Box 5"/>
          <p:cNvSpPr txBox="1">
            <a:spLocks noChangeArrowheads="1"/>
          </p:cNvSpPr>
          <p:nvPr/>
        </p:nvSpPr>
        <p:spPr bwMode="auto">
          <a:xfrm>
            <a:off x="457200" y="1447800"/>
            <a:ext cx="8153400" cy="3293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b="1" dirty="0"/>
              <a:t>The biochemical investigation of DNA began with Friedrich Miescher in 1868.</a:t>
            </a:r>
          </a:p>
          <a:p>
            <a:pPr eaLnBrk="1" hangingPunct="1">
              <a:spcBef>
                <a:spcPct val="50000"/>
              </a:spcBef>
              <a:buFontTx/>
              <a:buNone/>
            </a:pPr>
            <a:r>
              <a:rPr lang="en-US" altLang="zh-CN" b="1" dirty="0"/>
              <a:t>The </a:t>
            </a:r>
            <a:r>
              <a:rPr lang="en-US" altLang="zh-CN" b="1" dirty="0">
                <a:solidFill>
                  <a:srgbClr val="FF0000"/>
                </a:solidFill>
              </a:rPr>
              <a:t>first direct evidence </a:t>
            </a:r>
            <a:r>
              <a:rPr lang="en-US" altLang="zh-CN" b="1" dirty="0"/>
              <a:t>that DNA is the bearer of genetic information came in 1944 through a discovery made by Oswald T. Avery et al.</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5770F967-57C0-4DE7-AB6B-F637A828221F}"/>
              </a:ext>
            </a:extLst>
          </p:cNvPr>
          <p:cNvGrpSpPr/>
          <p:nvPr/>
        </p:nvGrpSpPr>
        <p:grpSpPr>
          <a:xfrm>
            <a:off x="1187624" y="620688"/>
            <a:ext cx="6984776" cy="5058562"/>
            <a:chOff x="683568" y="323778"/>
            <a:chExt cx="6984776" cy="5058562"/>
          </a:xfrm>
        </p:grpSpPr>
        <p:pic>
          <p:nvPicPr>
            <p:cNvPr id="2" name="图片 1">
              <a:extLst>
                <a:ext uri="{FF2B5EF4-FFF2-40B4-BE49-F238E27FC236}">
                  <a16:creationId xmlns:a16="http://schemas.microsoft.com/office/drawing/2014/main" id="{296EA35A-F5EA-43FC-AB74-1BBC040471FE}"/>
                </a:ext>
              </a:extLst>
            </p:cNvPr>
            <p:cNvPicPr>
              <a:picLocks noChangeAspect="1"/>
            </p:cNvPicPr>
            <p:nvPr/>
          </p:nvPicPr>
          <p:blipFill>
            <a:blip r:embed="rId3"/>
            <a:stretch>
              <a:fillRect/>
            </a:stretch>
          </p:blipFill>
          <p:spPr>
            <a:xfrm>
              <a:off x="683568" y="323778"/>
              <a:ext cx="6984776" cy="5058562"/>
            </a:xfrm>
            <a:prstGeom prst="rect">
              <a:avLst/>
            </a:prstGeom>
          </p:spPr>
        </p:pic>
        <p:sp>
          <p:nvSpPr>
            <p:cNvPr id="3" name="矩形: 圆角 2">
              <a:extLst>
                <a:ext uri="{FF2B5EF4-FFF2-40B4-BE49-F238E27FC236}">
                  <a16:creationId xmlns:a16="http://schemas.microsoft.com/office/drawing/2014/main" id="{301E4A69-3015-4A86-BF6B-81D4F2DACEA3}"/>
                </a:ext>
              </a:extLst>
            </p:cNvPr>
            <p:cNvSpPr/>
            <p:nvPr/>
          </p:nvSpPr>
          <p:spPr>
            <a:xfrm>
              <a:off x="867134" y="326130"/>
              <a:ext cx="4680936" cy="70885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Tree>
    <p:extLst>
      <p:ext uri="{BB962C8B-B14F-4D97-AF65-F5344CB8AC3E}">
        <p14:creationId xmlns:p14="http://schemas.microsoft.com/office/powerpoint/2010/main" val="273847460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75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8800" y="1066800"/>
            <a:ext cx="80264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80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8800" y="1066800"/>
            <a:ext cx="80264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85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8800" y="927100"/>
            <a:ext cx="8026400" cy="500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89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41400" y="711200"/>
            <a:ext cx="70612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94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00150" y="774700"/>
            <a:ext cx="6743700" cy="530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ext Box 1026"/>
          <p:cNvSpPr txBox="1">
            <a:spLocks noChangeArrowheads="1"/>
          </p:cNvSpPr>
          <p:nvPr/>
        </p:nvSpPr>
        <p:spPr bwMode="auto">
          <a:xfrm>
            <a:off x="228600" y="685800"/>
            <a:ext cx="8534400" cy="315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30000"/>
              </a:spcBef>
              <a:buFontTx/>
              <a:buNone/>
            </a:pPr>
            <a:r>
              <a:rPr lang="en-US" altLang="zh-CN" b="1" dirty="0"/>
              <a:t>3.1 Avery and his colleagues discovered that a </a:t>
            </a:r>
            <a:r>
              <a:rPr lang="en-US" altLang="zh-CN" b="1" dirty="0">
                <a:solidFill>
                  <a:srgbClr val="FF0000"/>
                </a:solidFill>
              </a:rPr>
              <a:t>nonvirulent R form </a:t>
            </a:r>
            <a:r>
              <a:rPr lang="en-US" altLang="zh-CN" b="1" dirty="0"/>
              <a:t>of </a:t>
            </a:r>
            <a:r>
              <a:rPr lang="en-US" altLang="zh-CN" b="1" dirty="0">
                <a:solidFill>
                  <a:srgbClr val="FF0000"/>
                </a:solidFill>
              </a:rPr>
              <a:t>pneumococcus</a:t>
            </a:r>
            <a:r>
              <a:rPr lang="en-US" altLang="zh-CN" b="1" dirty="0"/>
              <a:t> bacterium (with rough colonies) can be transformed into the virulent S form (of smooth colonies).</a:t>
            </a:r>
          </a:p>
          <a:p>
            <a:pPr eaLnBrk="1" hangingPunct="1">
              <a:lnSpc>
                <a:spcPct val="120000"/>
              </a:lnSpc>
              <a:spcBef>
                <a:spcPct val="30000"/>
              </a:spcBef>
              <a:buFontTx/>
              <a:buNone/>
            </a:pPr>
            <a:r>
              <a:rPr lang="en-US" altLang="zh-CN" b="1" dirty="0"/>
              <a:t>	</a:t>
            </a:r>
            <a:endParaRPr lang="en-US" altLang="zh-CN" sz="24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ext Box 1026"/>
          <p:cNvSpPr txBox="1">
            <a:spLocks noChangeArrowheads="1"/>
          </p:cNvSpPr>
          <p:nvPr/>
        </p:nvSpPr>
        <p:spPr bwMode="auto">
          <a:xfrm>
            <a:off x="304800" y="228600"/>
            <a:ext cx="8686800" cy="54009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Bef>
                <a:spcPct val="15000"/>
              </a:spcBef>
              <a:buFontTx/>
              <a:buNone/>
            </a:pPr>
            <a:r>
              <a:rPr lang="en-US" altLang="zh-CN" sz="2800" b="1" dirty="0"/>
              <a:t>3.2 DNA was found to carry the genetic information for virulence in the pneumococci transformation experiment.</a:t>
            </a:r>
          </a:p>
          <a:p>
            <a:pPr eaLnBrk="1" hangingPunct="1">
              <a:lnSpc>
                <a:spcPct val="110000"/>
              </a:lnSpc>
              <a:spcBef>
                <a:spcPct val="15000"/>
              </a:spcBef>
              <a:buFontTx/>
              <a:buNone/>
            </a:pPr>
            <a:r>
              <a:rPr lang="en-US" altLang="zh-CN" sz="2800" b="1" dirty="0"/>
              <a:t>	3.2.1 </a:t>
            </a:r>
            <a:r>
              <a:rPr lang="en-US" altLang="zh-CN" sz="2800" b="1" dirty="0">
                <a:solidFill>
                  <a:srgbClr val="FF0000"/>
                </a:solidFill>
              </a:rPr>
              <a:t>Addition of DNA extracted </a:t>
            </a:r>
            <a:r>
              <a:rPr lang="en-US" altLang="zh-CN" sz="2800" b="1" dirty="0"/>
              <a:t>from the heat-killed S form pneumococci (with protein removed as completely as possible) into live nonvirulent R form bacteria transformed the R form into a virulent S form permanently.</a:t>
            </a:r>
            <a:r>
              <a:rPr lang="en-US" altLang="zh-CN" sz="2800" dirty="0"/>
              <a:t> 	</a:t>
            </a:r>
          </a:p>
          <a:p>
            <a:pPr eaLnBrk="1" hangingPunct="1">
              <a:lnSpc>
                <a:spcPct val="110000"/>
              </a:lnSpc>
              <a:spcBef>
                <a:spcPct val="15000"/>
              </a:spcBef>
              <a:buFontTx/>
              <a:buNone/>
            </a:pPr>
            <a:r>
              <a:rPr lang="en-US" altLang="zh-CN" sz="2800" dirty="0"/>
              <a:t>         </a:t>
            </a:r>
            <a:r>
              <a:rPr lang="en-US" altLang="zh-CN" sz="2800" b="1" dirty="0"/>
              <a:t>3.2.2 </a:t>
            </a:r>
            <a:r>
              <a:rPr lang="en-US" altLang="zh-CN" sz="2800" b="1" dirty="0">
                <a:solidFill>
                  <a:srgbClr val="FF0000"/>
                </a:solidFill>
              </a:rPr>
              <a:t>Treatment with proteolytic enzymes</a:t>
            </a:r>
            <a:r>
              <a:rPr lang="en-US" altLang="zh-CN" sz="2800" b="1" dirty="0"/>
              <a:t> (trypsin, chymotrypsin) did not have any effect on the transformation activity.	</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ext Box 1026"/>
          <p:cNvSpPr txBox="1">
            <a:spLocks noChangeArrowheads="1"/>
          </p:cNvSpPr>
          <p:nvPr/>
        </p:nvSpPr>
        <p:spPr bwMode="auto">
          <a:xfrm>
            <a:off x="107950" y="819150"/>
            <a:ext cx="9144000" cy="51644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15000"/>
              </a:spcBef>
              <a:buFontTx/>
              <a:buNone/>
            </a:pPr>
            <a:r>
              <a:rPr lang="en-US" altLang="zh-CN" b="1" dirty="0"/>
              <a:t>         3.2.3 Treatment with </a:t>
            </a:r>
            <a:r>
              <a:rPr lang="en-US" altLang="zh-CN" b="1" dirty="0">
                <a:solidFill>
                  <a:srgbClr val="FF0000"/>
                </a:solidFill>
              </a:rPr>
              <a:t>ribonuclease</a:t>
            </a:r>
            <a:r>
              <a:rPr lang="en-US" altLang="zh-CN" b="1" dirty="0"/>
              <a:t> (known to digest RNA) had no effect on the transformation activity.</a:t>
            </a:r>
          </a:p>
          <a:p>
            <a:pPr eaLnBrk="1" hangingPunct="1">
              <a:spcBef>
                <a:spcPct val="15000"/>
              </a:spcBef>
              <a:buFontTx/>
              <a:buNone/>
            </a:pPr>
            <a:r>
              <a:rPr lang="en-US" altLang="zh-CN" b="1" dirty="0"/>
              <a:t>	3.2.4 Treatment with </a:t>
            </a:r>
            <a:r>
              <a:rPr lang="en-US" altLang="zh-CN" b="1" dirty="0">
                <a:solidFill>
                  <a:srgbClr val="FF0000"/>
                </a:solidFill>
              </a:rPr>
              <a:t>deoxyribonuclease </a:t>
            </a:r>
            <a:r>
              <a:rPr lang="en-US" altLang="zh-CN" b="1" dirty="0"/>
              <a:t>(known to digest DNA) destroyed the transformation activity.</a:t>
            </a:r>
          </a:p>
          <a:p>
            <a:pPr eaLnBrk="1" hangingPunct="1">
              <a:spcBef>
                <a:spcPct val="15000"/>
              </a:spcBef>
              <a:buFontTx/>
              <a:buNone/>
            </a:pPr>
            <a:r>
              <a:rPr lang="en-US" altLang="zh-CN" b="1" dirty="0"/>
              <a:t>	3.2.5 </a:t>
            </a:r>
            <a:r>
              <a:rPr lang="en-US" altLang="zh-CN" b="1" dirty="0">
                <a:solidFill>
                  <a:srgbClr val="FF0000"/>
                </a:solidFill>
              </a:rPr>
              <a:t>Chromosomal proteins </a:t>
            </a:r>
            <a:r>
              <a:rPr lang="en-US" altLang="zh-CN" b="1" dirty="0"/>
              <a:t>were assumed to carry the genetic information (with DNA playing a secondary role) until Avery, MacLeod, McCarty performed these experiments in 1944.</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ext Box 2"/>
          <p:cNvSpPr txBox="1">
            <a:spLocks noChangeArrowheads="1"/>
          </p:cNvSpPr>
          <p:nvPr/>
        </p:nvSpPr>
        <p:spPr bwMode="auto">
          <a:xfrm>
            <a:off x="381000" y="228600"/>
            <a:ext cx="8763000" cy="6149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FontTx/>
              <a:buNone/>
            </a:pPr>
            <a:r>
              <a:rPr lang="en-US" altLang="zh-CN" b="1" dirty="0"/>
              <a:t>3.3 Further support for the genetic role of DNA came from the studies of </a:t>
            </a:r>
            <a:r>
              <a:rPr lang="en-US" altLang="zh-CN" b="1" dirty="0">
                <a:solidFill>
                  <a:srgbClr val="FF0000"/>
                </a:solidFill>
              </a:rPr>
              <a:t>T2 bacteriophage </a:t>
            </a:r>
            <a:r>
              <a:rPr lang="en-US" altLang="zh-CN" b="1" dirty="0"/>
              <a:t>(a bacterial virus) that infects E.coli.</a:t>
            </a:r>
          </a:p>
          <a:p>
            <a:pPr eaLnBrk="1" hangingPunct="1">
              <a:lnSpc>
                <a:spcPct val="90000"/>
              </a:lnSpc>
              <a:buFontTx/>
              <a:buNone/>
            </a:pPr>
            <a:r>
              <a:rPr lang="en-US" altLang="zh-CN" b="1" dirty="0"/>
              <a:t>	3.3.1 The T2 bacteriophage consists of a core of DNA surrounded by a protein coat.</a:t>
            </a:r>
          </a:p>
          <a:p>
            <a:pPr eaLnBrk="1" hangingPunct="1">
              <a:lnSpc>
                <a:spcPct val="90000"/>
              </a:lnSpc>
              <a:buFontTx/>
              <a:buNone/>
            </a:pPr>
            <a:r>
              <a:rPr lang="en-US" altLang="zh-CN" b="1" dirty="0"/>
              <a:t>	3.3.2 Alfred Hershey and Martha Chase demonstrated that at infection only </a:t>
            </a:r>
            <a:r>
              <a:rPr lang="en-US" altLang="zh-CN" b="1" dirty="0">
                <a:solidFill>
                  <a:srgbClr val="FF0000"/>
                </a:solidFill>
              </a:rPr>
              <a:t>DNA (labeled with radioisotope </a:t>
            </a:r>
            <a:r>
              <a:rPr lang="en-US" altLang="zh-CN" b="1" baseline="30000" dirty="0">
                <a:solidFill>
                  <a:srgbClr val="FF0000"/>
                </a:solidFill>
              </a:rPr>
              <a:t>32</a:t>
            </a:r>
            <a:r>
              <a:rPr lang="en-US" altLang="zh-CN" b="1" dirty="0">
                <a:solidFill>
                  <a:srgbClr val="FF0000"/>
                </a:solidFill>
              </a:rPr>
              <a:t>P</a:t>
            </a:r>
            <a:r>
              <a:rPr lang="en-US" altLang="zh-CN" b="1" dirty="0"/>
              <a:t>) entered E.coli cells, </a:t>
            </a:r>
            <a:r>
              <a:rPr lang="en-US" altLang="zh-CN" b="1" dirty="0">
                <a:solidFill>
                  <a:srgbClr val="FF0000"/>
                </a:solidFill>
              </a:rPr>
              <a:t>proteins (labeled with </a:t>
            </a:r>
            <a:r>
              <a:rPr lang="en-US" altLang="zh-CN" b="1" baseline="30000" dirty="0">
                <a:solidFill>
                  <a:srgbClr val="FF0000"/>
                </a:solidFill>
              </a:rPr>
              <a:t>35</a:t>
            </a:r>
            <a:r>
              <a:rPr lang="en-US" altLang="zh-CN" b="1" dirty="0">
                <a:solidFill>
                  <a:srgbClr val="FF0000"/>
                </a:solidFill>
              </a:rPr>
              <a:t>S</a:t>
            </a:r>
            <a:r>
              <a:rPr lang="en-US" altLang="zh-CN" b="1" dirty="0"/>
              <a:t>) did not enter the host cells (1952).</a:t>
            </a:r>
          </a:p>
          <a:p>
            <a:pPr eaLnBrk="1" hangingPunct="1">
              <a:lnSpc>
                <a:spcPct val="90000"/>
              </a:lnSpc>
              <a:buFontTx/>
              <a:buNone/>
            </a:pPr>
            <a:r>
              <a:rPr lang="en-US" altLang="zh-CN" b="1" dirty="0"/>
              <a:t>	3.3.3 DNA provided the genetic information for bacteriophage replication within the E.coli cells.</a:t>
            </a:r>
            <a:endParaRPr lang="en-US" altLang="zh-CN" sz="24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909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55950" y="254000"/>
            <a:ext cx="2832100" cy="635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圆角 1"/>
          <p:cNvSpPr/>
          <p:nvPr/>
        </p:nvSpPr>
        <p:spPr>
          <a:xfrm>
            <a:off x="2843808" y="5517232"/>
            <a:ext cx="3384376" cy="1086768"/>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41" name="Text Box 2055"/>
          <p:cNvSpPr txBox="1">
            <a:spLocks noChangeArrowheads="1"/>
          </p:cNvSpPr>
          <p:nvPr/>
        </p:nvSpPr>
        <p:spPr bwMode="auto">
          <a:xfrm>
            <a:off x="250825" y="188913"/>
            <a:ext cx="80010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b="1">
                <a:solidFill>
                  <a:srgbClr val="FF0066"/>
                </a:solidFill>
              </a:rPr>
              <a:t>4. DNA molecules are double helices.</a:t>
            </a:r>
            <a:endParaRPr lang="en-US" altLang="zh-CN" b="1"/>
          </a:p>
        </p:txBody>
      </p:sp>
      <p:pic>
        <p:nvPicPr>
          <p:cNvPr id="2050" name="Picture 2">
            <a:extLst>
              <a:ext uri="{FF2B5EF4-FFF2-40B4-BE49-F238E27FC236}">
                <a16:creationId xmlns:a16="http://schemas.microsoft.com/office/drawing/2014/main" id="{707F707E-3119-4AAE-975C-ACC974511F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528" y="942670"/>
            <a:ext cx="6094809" cy="4972660"/>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a:extLst>
              <a:ext uri="{FF2B5EF4-FFF2-40B4-BE49-F238E27FC236}">
                <a16:creationId xmlns:a16="http://schemas.microsoft.com/office/drawing/2014/main" id="{F8C8B7E7-D03A-4B46-AEA7-2CC57BFB270A}"/>
              </a:ext>
            </a:extLst>
          </p:cNvPr>
          <p:cNvPicPr>
            <a:picLocks noChangeAspect="1"/>
          </p:cNvPicPr>
          <p:nvPr/>
        </p:nvPicPr>
        <p:blipFill rotWithShape="1">
          <a:blip r:embed="rId4"/>
          <a:srcRect b="4170"/>
          <a:stretch/>
        </p:blipFill>
        <p:spPr>
          <a:xfrm>
            <a:off x="6418337" y="2060848"/>
            <a:ext cx="2023641" cy="2360343"/>
          </a:xfrm>
          <a:prstGeom prst="rect">
            <a:avLst/>
          </a:prstGeom>
        </p:spPr>
      </p:pic>
      <p:sp>
        <p:nvSpPr>
          <p:cNvPr id="3" name="文本框 2">
            <a:extLst>
              <a:ext uri="{FF2B5EF4-FFF2-40B4-BE49-F238E27FC236}">
                <a16:creationId xmlns:a16="http://schemas.microsoft.com/office/drawing/2014/main" id="{181442BC-DFC5-4E75-9BB6-B9356E5B5A90}"/>
              </a:ext>
            </a:extLst>
          </p:cNvPr>
          <p:cNvSpPr txBox="1"/>
          <p:nvPr/>
        </p:nvSpPr>
        <p:spPr>
          <a:xfrm>
            <a:off x="6474773" y="4798928"/>
            <a:ext cx="1967205" cy="369332"/>
          </a:xfrm>
          <a:prstGeom prst="rect">
            <a:avLst/>
          </a:prstGeom>
          <a:noFill/>
        </p:spPr>
        <p:txBody>
          <a:bodyPr wrap="none" rtlCol="0">
            <a:spAutoFit/>
          </a:bodyPr>
          <a:lstStyle/>
          <a:p>
            <a:r>
              <a:rPr lang="en-US" altLang="zh-CN" dirty="0"/>
              <a:t>Rosalind Franklin</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7576FE8A-B4AB-43BA-9073-DD2764CFBAE2}"/>
              </a:ext>
            </a:extLst>
          </p:cNvPr>
          <p:cNvPicPr>
            <a:picLocks noChangeAspect="1"/>
          </p:cNvPicPr>
          <p:nvPr/>
        </p:nvPicPr>
        <p:blipFill>
          <a:blip r:embed="rId3"/>
          <a:stretch>
            <a:fillRect/>
          </a:stretch>
        </p:blipFill>
        <p:spPr>
          <a:xfrm>
            <a:off x="2123728" y="1412776"/>
            <a:ext cx="4737687" cy="3241285"/>
          </a:xfrm>
          <a:prstGeom prst="rect">
            <a:avLst/>
          </a:prstGeom>
        </p:spPr>
      </p:pic>
    </p:spTree>
    <p:extLst>
      <p:ext uri="{BB962C8B-B14F-4D97-AF65-F5344CB8AC3E}">
        <p14:creationId xmlns:p14="http://schemas.microsoft.com/office/powerpoint/2010/main" val="395994022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6C5B9C9F-B0F3-4125-984C-66257EFBAA0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3926"/>
          <a:stretch/>
        </p:blipFill>
        <p:spPr bwMode="auto">
          <a:xfrm>
            <a:off x="467544" y="548680"/>
            <a:ext cx="3343275" cy="4392488"/>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a:extLst>
              <a:ext uri="{FF2B5EF4-FFF2-40B4-BE49-F238E27FC236}">
                <a16:creationId xmlns:a16="http://schemas.microsoft.com/office/drawing/2014/main" id="{9524C748-91A4-4A18-8F7B-976C6BA32D64}"/>
              </a:ext>
            </a:extLst>
          </p:cNvPr>
          <p:cNvSpPr txBox="1"/>
          <p:nvPr/>
        </p:nvSpPr>
        <p:spPr>
          <a:xfrm>
            <a:off x="1635125" y="5157192"/>
            <a:ext cx="1008112" cy="369332"/>
          </a:xfrm>
          <a:prstGeom prst="rect">
            <a:avLst/>
          </a:prstGeom>
          <a:noFill/>
        </p:spPr>
        <p:txBody>
          <a:bodyPr wrap="square">
            <a:spAutoFit/>
          </a:bodyPr>
          <a:lstStyle/>
          <a:p>
            <a:r>
              <a:rPr lang="zh-CN" altLang="en-US" b="0" i="0" dirty="0">
                <a:solidFill>
                  <a:srgbClr val="333333"/>
                </a:solidFill>
                <a:effectLst/>
                <a:latin typeface="arial" panose="020B0604020202020204" pitchFamily="34" charset="0"/>
              </a:rPr>
              <a:t>米歇尔</a:t>
            </a:r>
            <a:endParaRPr lang="zh-CN" altLang="en-US" dirty="0"/>
          </a:p>
        </p:txBody>
      </p:sp>
      <p:pic>
        <p:nvPicPr>
          <p:cNvPr id="3076" name="Picture 4">
            <a:extLst>
              <a:ext uri="{FF2B5EF4-FFF2-40B4-BE49-F238E27FC236}">
                <a16:creationId xmlns:a16="http://schemas.microsoft.com/office/drawing/2014/main" id="{60AFAA70-433B-4DEF-8396-38F6CE26B09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4867"/>
          <a:stretch/>
        </p:blipFill>
        <p:spPr bwMode="auto">
          <a:xfrm>
            <a:off x="4139952" y="548680"/>
            <a:ext cx="3606570" cy="4392488"/>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a:extLst>
              <a:ext uri="{FF2B5EF4-FFF2-40B4-BE49-F238E27FC236}">
                <a16:creationId xmlns:a16="http://schemas.microsoft.com/office/drawing/2014/main" id="{17E9E92C-A949-4E93-9D4F-8E20DDD7A361}"/>
              </a:ext>
            </a:extLst>
          </p:cNvPr>
          <p:cNvSpPr txBox="1"/>
          <p:nvPr/>
        </p:nvSpPr>
        <p:spPr>
          <a:xfrm>
            <a:off x="5076056" y="5151369"/>
            <a:ext cx="2072781" cy="369332"/>
          </a:xfrm>
          <a:prstGeom prst="rect">
            <a:avLst/>
          </a:prstGeom>
          <a:noFill/>
        </p:spPr>
        <p:txBody>
          <a:bodyPr wrap="square">
            <a:spAutoFit/>
          </a:bodyPr>
          <a:lstStyle/>
          <a:p>
            <a:r>
              <a:rPr lang="en-US" altLang="zh-CN" dirty="0"/>
              <a:t>Erwin Chargaff</a:t>
            </a:r>
            <a:endParaRPr lang="zh-CN" altLang="en-US" dirty="0"/>
          </a:p>
        </p:txBody>
      </p:sp>
    </p:spTree>
    <p:extLst>
      <p:ext uri="{BB962C8B-B14F-4D97-AF65-F5344CB8AC3E}">
        <p14:creationId xmlns:p14="http://schemas.microsoft.com/office/powerpoint/2010/main" val="242422393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ext Box 2"/>
          <p:cNvSpPr txBox="1">
            <a:spLocks noChangeArrowheads="1"/>
          </p:cNvSpPr>
          <p:nvPr/>
        </p:nvSpPr>
        <p:spPr bwMode="auto">
          <a:xfrm>
            <a:off x="304800" y="228600"/>
            <a:ext cx="8686800" cy="567386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30000"/>
              </a:spcBef>
              <a:buFontTx/>
              <a:buNone/>
            </a:pPr>
            <a:r>
              <a:rPr lang="en-US" altLang="zh-CN" sz="3100" b="1" dirty="0"/>
              <a:t>  Watson and Crick proposed a double helix model based mainly on </a:t>
            </a:r>
            <a:r>
              <a:rPr lang="en-US" altLang="zh-CN" sz="3100" b="1" dirty="0">
                <a:solidFill>
                  <a:srgbClr val="FF0000"/>
                </a:solidFill>
              </a:rPr>
              <a:t>three main pieces of evidence</a:t>
            </a:r>
            <a:r>
              <a:rPr lang="en-US" altLang="zh-CN" sz="3100" b="1" dirty="0"/>
              <a:t>.</a:t>
            </a:r>
          </a:p>
          <a:p>
            <a:pPr eaLnBrk="1" hangingPunct="1">
              <a:spcBef>
                <a:spcPct val="30000"/>
              </a:spcBef>
              <a:buFontTx/>
              <a:buNone/>
            </a:pPr>
            <a:r>
              <a:rPr lang="en-US" altLang="zh-CN" sz="3100" b="1" dirty="0"/>
              <a:t>	</a:t>
            </a:r>
            <a:r>
              <a:rPr lang="en-US" altLang="zh-CN" sz="3100" b="1" dirty="0">
                <a:solidFill>
                  <a:srgbClr val="FF0066"/>
                </a:solidFill>
              </a:rPr>
              <a:t>A)</a:t>
            </a:r>
            <a:r>
              <a:rPr lang="en-US" altLang="zh-CN" sz="3100" b="1" dirty="0"/>
              <a:t> the fact that the DNA molecule is composed of bases, </a:t>
            </a:r>
            <a:r>
              <a:rPr lang="en-US" altLang="zh-CN" sz="3100" b="1" dirty="0" err="1"/>
              <a:t>deoxyriboses</a:t>
            </a:r>
            <a:r>
              <a:rPr lang="en-US" altLang="zh-CN" sz="3100" b="1" dirty="0"/>
              <a:t>, and phosphate groups linked together as a polydeoxyribonucleotide.</a:t>
            </a:r>
          </a:p>
          <a:p>
            <a:pPr eaLnBrk="1" hangingPunct="1">
              <a:lnSpc>
                <a:spcPct val="80000"/>
              </a:lnSpc>
              <a:spcBef>
                <a:spcPct val="30000"/>
              </a:spcBef>
              <a:buFontTx/>
              <a:buNone/>
            </a:pPr>
            <a:r>
              <a:rPr lang="en-US" altLang="zh-CN" sz="3100" b="1" dirty="0"/>
              <a:t>	</a:t>
            </a:r>
            <a:r>
              <a:rPr lang="en-US" altLang="zh-CN" sz="3100" b="1" dirty="0">
                <a:solidFill>
                  <a:srgbClr val="FF0066"/>
                </a:solidFill>
              </a:rPr>
              <a:t>B)</a:t>
            </a:r>
            <a:r>
              <a:rPr lang="en-US" altLang="zh-CN" sz="3100" b="1" dirty="0"/>
              <a:t> X-ray diffraction pattern of DNA fibers, suggesting a helical structure with two distinctive regularities of 3.4 and 34 Angstroms along the axis of the molecule.</a:t>
            </a:r>
          </a:p>
          <a:p>
            <a:pPr eaLnBrk="1" hangingPunct="1">
              <a:lnSpc>
                <a:spcPct val="80000"/>
              </a:lnSpc>
              <a:spcBef>
                <a:spcPct val="30000"/>
              </a:spcBef>
              <a:buFontTx/>
              <a:buNone/>
            </a:pPr>
            <a:r>
              <a:rPr lang="en-US" altLang="zh-CN" sz="3100" b="1" dirty="0"/>
              <a:t>	</a:t>
            </a:r>
            <a:r>
              <a:rPr lang="en-US" altLang="zh-CN" sz="3100" b="1" dirty="0">
                <a:solidFill>
                  <a:srgbClr val="FF0066"/>
                </a:solidFill>
              </a:rPr>
              <a:t>C)</a:t>
            </a:r>
            <a:r>
              <a:rPr lang="en-US" altLang="zh-CN" sz="3100" b="1" dirty="0"/>
              <a:t> Chargaff’s discovery on the quantitative relationships between the bases (A=T, G=C).	</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Text Box 3"/>
          <p:cNvSpPr txBox="1">
            <a:spLocks noChangeArrowheads="1"/>
          </p:cNvSpPr>
          <p:nvPr/>
        </p:nvSpPr>
        <p:spPr bwMode="auto">
          <a:xfrm>
            <a:off x="1187450" y="764704"/>
            <a:ext cx="49688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b="1" dirty="0">
                <a:latin typeface="华文中宋" panose="02010600040101010101" pitchFamily="2" charset="-122"/>
                <a:ea typeface="华文中宋" panose="02010600040101010101" pitchFamily="2" charset="-122"/>
              </a:rPr>
              <a:t>DNA</a:t>
            </a:r>
            <a:r>
              <a:rPr lang="zh-CN" altLang="en-US" b="1" dirty="0">
                <a:latin typeface="华文中宋" panose="02010600040101010101" pitchFamily="2" charset="-122"/>
                <a:ea typeface="华文中宋" panose="02010600040101010101" pitchFamily="2" charset="-122"/>
              </a:rPr>
              <a:t>的碱基组成</a:t>
            </a:r>
          </a:p>
        </p:txBody>
      </p:sp>
      <p:sp>
        <p:nvSpPr>
          <p:cNvPr id="93187" name="Text Box 4"/>
          <p:cNvSpPr txBox="1">
            <a:spLocks noChangeArrowheads="1"/>
          </p:cNvSpPr>
          <p:nvPr/>
        </p:nvSpPr>
        <p:spPr bwMode="auto">
          <a:xfrm>
            <a:off x="755650" y="1556867"/>
            <a:ext cx="7920038" cy="436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b="1" dirty="0">
                <a:latin typeface="华文中宋" panose="02010600040101010101" pitchFamily="2" charset="-122"/>
                <a:ea typeface="华文中宋" panose="02010600040101010101" pitchFamily="2" charset="-122"/>
              </a:rPr>
              <a:t>Chargaff</a:t>
            </a:r>
            <a:r>
              <a:rPr lang="zh-CN" altLang="en-US" sz="2800" b="1" dirty="0">
                <a:latin typeface="华文中宋" panose="02010600040101010101" pitchFamily="2" charset="-122"/>
                <a:ea typeface="华文中宋" panose="02010600040101010101" pitchFamily="2" charset="-122"/>
              </a:rPr>
              <a:t>规则：</a:t>
            </a:r>
          </a:p>
          <a:p>
            <a:pPr eaLnBrk="1" hangingPunct="1">
              <a:spcBef>
                <a:spcPct val="50000"/>
              </a:spcBef>
            </a:pPr>
            <a:r>
              <a:rPr lang="zh-CN" altLang="en-US" sz="2800" b="1" dirty="0">
                <a:latin typeface="华文中宋" panose="02010600040101010101" pitchFamily="2" charset="-122"/>
                <a:ea typeface="华文中宋" panose="02010600040101010101" pitchFamily="2" charset="-122"/>
              </a:rPr>
              <a:t>一种生物的所以体细胞的</a:t>
            </a:r>
            <a:r>
              <a:rPr lang="en-US" altLang="zh-CN" sz="2800" b="1" dirty="0">
                <a:latin typeface="华文中宋" panose="02010600040101010101" pitchFamily="2" charset="-122"/>
                <a:ea typeface="华文中宋" panose="02010600040101010101" pitchFamily="2" charset="-122"/>
              </a:rPr>
              <a:t>DNA</a:t>
            </a:r>
            <a:r>
              <a:rPr lang="zh-CN" altLang="en-US" sz="2800" b="1" dirty="0">
                <a:latin typeface="华文中宋" panose="02010600040101010101" pitchFamily="2" charset="-122"/>
                <a:ea typeface="华文中宋" panose="02010600040101010101" pitchFamily="2" charset="-122"/>
              </a:rPr>
              <a:t>碱基组成均相同</a:t>
            </a:r>
          </a:p>
          <a:p>
            <a:pPr eaLnBrk="1" hangingPunct="1">
              <a:spcBef>
                <a:spcPct val="50000"/>
              </a:spcBef>
            </a:pPr>
            <a:r>
              <a:rPr lang="zh-CN" altLang="en-US" sz="2800" b="1" dirty="0">
                <a:latin typeface="华文中宋" panose="02010600040101010101" pitchFamily="2" charset="-122"/>
                <a:ea typeface="华文中宋" panose="02010600040101010101" pitchFamily="2" charset="-122"/>
              </a:rPr>
              <a:t>不同生物碱基组成差异大，可用不对称比率表示</a:t>
            </a:r>
          </a:p>
          <a:p>
            <a:pPr eaLnBrk="1" hangingPunct="1">
              <a:spcBef>
                <a:spcPct val="50000"/>
              </a:spcBef>
              <a:buFontTx/>
              <a:buNone/>
            </a:pPr>
            <a:r>
              <a:rPr lang="zh-CN" altLang="en-US" sz="2800" b="1" dirty="0">
                <a:latin typeface="华文中宋" panose="02010600040101010101" pitchFamily="2" charset="-122"/>
                <a:ea typeface="华文中宋" panose="02010600040101010101" pitchFamily="2" charset="-122"/>
              </a:rPr>
              <a:t>    （</a:t>
            </a:r>
            <a:r>
              <a:rPr lang="en-US" altLang="zh-CN" sz="2800" b="1" dirty="0">
                <a:latin typeface="华文中宋" panose="02010600040101010101" pitchFamily="2" charset="-122"/>
                <a:ea typeface="华文中宋" panose="02010600040101010101" pitchFamily="2" charset="-122"/>
              </a:rPr>
              <a:t>A</a:t>
            </a:r>
            <a:r>
              <a:rPr lang="zh-CN" altLang="en-US" sz="2800" b="1" dirty="0">
                <a:latin typeface="华文中宋" panose="02010600040101010101" pitchFamily="2" charset="-122"/>
                <a:ea typeface="华文中宋" panose="02010600040101010101" pitchFamily="2" charset="-122"/>
              </a:rPr>
              <a:t>＋</a:t>
            </a:r>
            <a:r>
              <a:rPr lang="en-US" altLang="zh-CN" sz="2800" b="1" dirty="0">
                <a:latin typeface="华文中宋" panose="02010600040101010101" pitchFamily="2" charset="-122"/>
                <a:ea typeface="华文中宋" panose="02010600040101010101" pitchFamily="2" charset="-122"/>
              </a:rPr>
              <a:t>T</a:t>
            </a:r>
            <a:r>
              <a:rPr lang="zh-CN" altLang="en-US" sz="2800" b="1" dirty="0">
                <a:latin typeface="华文中宋" panose="02010600040101010101" pitchFamily="2" charset="-122"/>
                <a:ea typeface="华文中宋" panose="02010600040101010101" pitchFamily="2" charset="-122"/>
              </a:rPr>
              <a:t>）</a:t>
            </a:r>
            <a:r>
              <a:rPr lang="en-US" altLang="zh-CN" sz="2800" b="1" dirty="0">
                <a:latin typeface="华文中宋" panose="02010600040101010101" pitchFamily="2" charset="-122"/>
                <a:ea typeface="华文中宋" panose="02010600040101010101" pitchFamily="2" charset="-122"/>
              </a:rPr>
              <a:t>/(G+C)</a:t>
            </a:r>
          </a:p>
          <a:p>
            <a:pPr eaLnBrk="1" hangingPunct="1">
              <a:spcBef>
                <a:spcPct val="50000"/>
              </a:spcBef>
            </a:pPr>
            <a:r>
              <a:rPr lang="zh-CN" altLang="en-US" sz="2800" b="1" dirty="0">
                <a:latin typeface="华文中宋" panose="02010600040101010101" pitchFamily="2" charset="-122"/>
                <a:ea typeface="华文中宋" panose="02010600040101010101" pitchFamily="2" charset="-122"/>
              </a:rPr>
              <a:t>亲缘近的生物，其碱基组成相似</a:t>
            </a:r>
          </a:p>
          <a:p>
            <a:pPr eaLnBrk="1" hangingPunct="1">
              <a:spcBef>
                <a:spcPct val="50000"/>
              </a:spcBef>
            </a:pPr>
            <a:r>
              <a:rPr lang="zh-CN" altLang="en-US" sz="2800" b="1" dirty="0">
                <a:latin typeface="华文中宋" panose="02010600040101010101" pitchFamily="2" charset="-122"/>
                <a:ea typeface="华文中宋" panose="02010600040101010101" pitchFamily="2" charset="-122"/>
              </a:rPr>
              <a:t>同一生物内，</a:t>
            </a:r>
            <a:r>
              <a:rPr lang="en-US" altLang="zh-CN" sz="2800" b="1" dirty="0">
                <a:latin typeface="华文中宋" panose="02010600040101010101" pitchFamily="2" charset="-122"/>
                <a:ea typeface="华文中宋" panose="02010600040101010101" pitchFamily="2" charset="-122"/>
              </a:rPr>
              <a:t>DNA</a:t>
            </a:r>
            <a:r>
              <a:rPr lang="zh-CN" altLang="en-US" sz="2800" b="1" dirty="0">
                <a:latin typeface="华文中宋" panose="02010600040101010101" pitchFamily="2" charset="-122"/>
                <a:ea typeface="华文中宋" panose="02010600040101010101" pitchFamily="2" charset="-122"/>
              </a:rPr>
              <a:t>分子组成 </a:t>
            </a:r>
            <a:r>
              <a:rPr lang="en-US" altLang="zh-CN" sz="2800" b="1" dirty="0">
                <a:latin typeface="华文中宋" panose="02010600040101010101" pitchFamily="2" charset="-122"/>
                <a:ea typeface="华文中宋" panose="02010600040101010101" pitchFamily="2" charset="-122"/>
              </a:rPr>
              <a:t>A=T  G=C</a:t>
            </a:r>
          </a:p>
          <a:p>
            <a:pPr eaLnBrk="1" hangingPunct="1">
              <a:spcBef>
                <a:spcPct val="50000"/>
              </a:spcBef>
            </a:pPr>
            <a:r>
              <a:rPr lang="zh-CN" altLang="en-US" sz="2800" b="1" dirty="0">
                <a:latin typeface="华文中宋" panose="02010600040101010101" pitchFamily="2" charset="-122"/>
                <a:ea typeface="华文中宋" panose="02010600040101010101" pitchFamily="2" charset="-122"/>
              </a:rPr>
              <a:t>同一生物的</a:t>
            </a:r>
            <a:r>
              <a:rPr lang="en-US" altLang="zh-CN" sz="2800" b="1" dirty="0">
                <a:latin typeface="华文中宋" panose="02010600040101010101" pitchFamily="2" charset="-122"/>
                <a:ea typeface="华文中宋" panose="02010600040101010101" pitchFamily="2" charset="-122"/>
              </a:rPr>
              <a:t>DNA</a:t>
            </a:r>
            <a:r>
              <a:rPr lang="zh-CN" altLang="en-US" sz="2800" b="1" dirty="0">
                <a:latin typeface="华文中宋" panose="02010600040101010101" pitchFamily="2" charset="-122"/>
                <a:ea typeface="华文中宋" panose="02010600040101010101" pitchFamily="2" charset="-122"/>
              </a:rPr>
              <a:t>分子 </a:t>
            </a:r>
            <a:r>
              <a:rPr lang="en-US" altLang="zh-CN" sz="2800" b="1" dirty="0">
                <a:latin typeface="华文中宋" panose="02010600040101010101" pitchFamily="2" charset="-122"/>
                <a:ea typeface="华文中宋" panose="02010600040101010101" pitchFamily="2" charset="-122"/>
              </a:rPr>
              <a:t>Pu=</a:t>
            </a:r>
            <a:r>
              <a:rPr lang="en-US" altLang="zh-CN" sz="2800" b="1" dirty="0" err="1">
                <a:latin typeface="华文中宋" panose="02010600040101010101" pitchFamily="2" charset="-122"/>
                <a:ea typeface="华文中宋" panose="02010600040101010101" pitchFamily="2" charset="-122"/>
              </a:rPr>
              <a:t>Py</a:t>
            </a:r>
            <a:endParaRPr lang="en-US" altLang="zh-CN" sz="2800" b="1" dirty="0">
              <a:latin typeface="华文中宋" panose="02010600040101010101" pitchFamily="2" charset="-122"/>
              <a:ea typeface="华文中宋" panose="02010600040101010101" pitchFamily="2" charset="-122"/>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421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15616" y="764704"/>
            <a:ext cx="7037536" cy="4676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625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70000" y="711200"/>
            <a:ext cx="66040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6259" name="Text Box 3"/>
          <p:cNvSpPr txBox="1">
            <a:spLocks noChangeArrowheads="1"/>
          </p:cNvSpPr>
          <p:nvPr/>
        </p:nvSpPr>
        <p:spPr bwMode="auto">
          <a:xfrm>
            <a:off x="3886200" y="3276600"/>
            <a:ext cx="304800" cy="304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34</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9572" name="Picture 1028"/>
          <p:cNvPicPr>
            <a:picLocks noChangeAspect="1" noChangeArrowheads="1"/>
          </p:cNvPicPr>
          <p:nvPr/>
        </p:nvPicPr>
        <p:blipFill>
          <a:blip r:embed="rId2" cstate="print">
            <a:extLst>
              <a:ext uri="{28A0092B-C50C-407E-A947-70E740481C1C}">
                <a14:useLocalDpi xmlns:a14="http://schemas.microsoft.com/office/drawing/2010/main" val="0"/>
              </a:ext>
            </a:extLst>
          </a:blip>
          <a:srcRect l="9462" t="9445" r="9427" b="8658"/>
          <a:stretch>
            <a:fillRect/>
          </a:stretch>
        </p:blipFill>
        <p:spPr bwMode="auto">
          <a:xfrm>
            <a:off x="683568" y="260648"/>
            <a:ext cx="7632079" cy="5779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0596" name="Picture 1028"/>
          <p:cNvPicPr>
            <a:picLocks noChangeAspect="1" noChangeArrowheads="1"/>
          </p:cNvPicPr>
          <p:nvPr/>
        </p:nvPicPr>
        <p:blipFill>
          <a:blip r:embed="rId2" cstate="print">
            <a:extLst>
              <a:ext uri="{28A0092B-C50C-407E-A947-70E740481C1C}">
                <a14:useLocalDpi xmlns:a14="http://schemas.microsoft.com/office/drawing/2010/main" val="0"/>
              </a:ext>
            </a:extLst>
          </a:blip>
          <a:srcRect l="9045" t="9052" r="9843" b="9052"/>
          <a:stretch>
            <a:fillRect/>
          </a:stretch>
        </p:blipFill>
        <p:spPr bwMode="auto">
          <a:xfrm>
            <a:off x="395288" y="260350"/>
            <a:ext cx="8137525" cy="616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1620" name="Picture 102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3400" y="304800"/>
            <a:ext cx="8305800" cy="622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5474" name="Picture 102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87750" y="711200"/>
            <a:ext cx="19685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Text Box 2"/>
          <p:cNvSpPr txBox="1">
            <a:spLocks noChangeArrowheads="1"/>
          </p:cNvSpPr>
          <p:nvPr/>
        </p:nvSpPr>
        <p:spPr bwMode="auto">
          <a:xfrm>
            <a:off x="304800" y="228600"/>
            <a:ext cx="8686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30000"/>
              </a:spcBef>
              <a:buFontTx/>
              <a:buNone/>
            </a:pPr>
            <a:r>
              <a:rPr lang="en-US" altLang="zh-CN" b="1" dirty="0"/>
              <a:t>4.1 </a:t>
            </a:r>
            <a:r>
              <a:rPr lang="en-US" altLang="zh-CN" b="1" dirty="0">
                <a:solidFill>
                  <a:srgbClr val="FF0000"/>
                </a:solidFill>
              </a:rPr>
              <a:t>DNA double helix</a:t>
            </a:r>
            <a:r>
              <a:rPr lang="en-US" altLang="zh-CN" b="1" dirty="0"/>
              <a:t>		</a:t>
            </a:r>
            <a:endParaRPr lang="en-US" altLang="zh-CN" sz="2400" dirty="0"/>
          </a:p>
        </p:txBody>
      </p:sp>
      <p:sp>
        <p:nvSpPr>
          <p:cNvPr id="113667" name="Text Box 3"/>
          <p:cNvSpPr txBox="1">
            <a:spLocks noChangeArrowheads="1"/>
          </p:cNvSpPr>
          <p:nvPr/>
        </p:nvSpPr>
        <p:spPr bwMode="auto">
          <a:xfrm>
            <a:off x="152400" y="908720"/>
            <a:ext cx="8991600" cy="47890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30000"/>
              </a:spcBef>
              <a:buFontTx/>
              <a:buNone/>
            </a:pPr>
            <a:r>
              <a:rPr lang="en-US" altLang="zh-CN" sz="2800" dirty="0"/>
              <a:t>	</a:t>
            </a:r>
            <a:r>
              <a:rPr lang="en-US" altLang="zh-CN" sz="2800" b="1" dirty="0"/>
              <a:t>4.1.1 The DNA molecule is a </a:t>
            </a:r>
            <a:r>
              <a:rPr lang="en-US" altLang="zh-CN" sz="2800" b="1" dirty="0">
                <a:solidFill>
                  <a:srgbClr val="FF0000"/>
                </a:solidFill>
              </a:rPr>
              <a:t>right-handed</a:t>
            </a:r>
            <a:r>
              <a:rPr lang="en-US" altLang="zh-CN" sz="2800" b="1" dirty="0"/>
              <a:t> double helix containing two </a:t>
            </a:r>
            <a:r>
              <a:rPr lang="en-US" altLang="zh-CN" sz="2800" b="1" dirty="0">
                <a:solidFill>
                  <a:srgbClr val="FF0000"/>
                </a:solidFill>
              </a:rPr>
              <a:t>antiparallel </a:t>
            </a:r>
            <a:r>
              <a:rPr lang="en-US" altLang="zh-CN" sz="2800" b="1" dirty="0"/>
              <a:t>strands.</a:t>
            </a:r>
          </a:p>
          <a:p>
            <a:pPr eaLnBrk="1" hangingPunct="1">
              <a:spcBef>
                <a:spcPct val="30000"/>
              </a:spcBef>
              <a:buFontTx/>
              <a:buNone/>
            </a:pPr>
            <a:r>
              <a:rPr lang="en-US" altLang="zh-CN" sz="2800" b="1" dirty="0"/>
              <a:t>	4.1.2 The phosphate-deoxyribose backbones are on the </a:t>
            </a:r>
            <a:r>
              <a:rPr lang="en-US" altLang="zh-CN" sz="2800" b="1" dirty="0">
                <a:solidFill>
                  <a:srgbClr val="FF0000"/>
                </a:solidFill>
              </a:rPr>
              <a:t>outside</a:t>
            </a:r>
            <a:r>
              <a:rPr lang="en-US" altLang="zh-CN" sz="2800" b="1" dirty="0"/>
              <a:t> of the helix, whereas the purine and pyrimidine bases are stacked </a:t>
            </a:r>
            <a:r>
              <a:rPr lang="en-US" altLang="zh-CN" sz="2800" b="1" dirty="0">
                <a:solidFill>
                  <a:srgbClr val="FF0000"/>
                </a:solidFill>
              </a:rPr>
              <a:t>inside</a:t>
            </a:r>
            <a:r>
              <a:rPr lang="en-US" altLang="zh-CN" sz="2800" b="1" dirty="0"/>
              <a:t>. </a:t>
            </a:r>
          </a:p>
          <a:p>
            <a:pPr eaLnBrk="1" hangingPunct="1">
              <a:spcBef>
                <a:spcPct val="30000"/>
              </a:spcBef>
              <a:buFontTx/>
              <a:buNone/>
            </a:pPr>
            <a:r>
              <a:rPr lang="en-US" altLang="zh-CN" sz="2800" b="1" dirty="0"/>
              <a:t>	4.1.3 The two antiparallel chains are </a:t>
            </a:r>
            <a:r>
              <a:rPr lang="en-US" altLang="zh-CN" sz="2800" b="1" dirty="0">
                <a:solidFill>
                  <a:srgbClr val="FF0000"/>
                </a:solidFill>
              </a:rPr>
              <a:t>complementary</a:t>
            </a:r>
            <a:r>
              <a:rPr lang="en-US" altLang="zh-CN" sz="2800" b="1" dirty="0"/>
              <a:t> to each other through </a:t>
            </a:r>
            <a:r>
              <a:rPr lang="en-US" altLang="zh-CN" sz="2800" b="1" dirty="0">
                <a:solidFill>
                  <a:srgbClr val="FF0000"/>
                </a:solidFill>
              </a:rPr>
              <a:t>hydrogen bonds </a:t>
            </a:r>
            <a:r>
              <a:rPr lang="en-US" altLang="zh-CN" sz="2800" b="1" dirty="0"/>
              <a:t>between pairs of bases</a:t>
            </a:r>
            <a:r>
              <a:rPr lang="zh-CN" altLang="en-US" sz="2800" b="1" dirty="0"/>
              <a:t>（</a:t>
            </a:r>
            <a:r>
              <a:rPr lang="en-US" altLang="zh-CN" sz="2800" b="1" dirty="0"/>
              <a:t>A=T, G=C</a:t>
            </a:r>
            <a:r>
              <a:rPr lang="zh-CN" altLang="en-US" sz="2800" b="1" dirty="0"/>
              <a:t>）</a:t>
            </a:r>
            <a:r>
              <a:rPr lang="en-US" altLang="zh-CN" sz="2800" b="1" dirty="0"/>
              <a:t>. </a:t>
            </a:r>
          </a:p>
          <a:p>
            <a:pPr eaLnBrk="1" hangingPunct="1">
              <a:spcBef>
                <a:spcPct val="30000"/>
              </a:spcBef>
              <a:buFontTx/>
              <a:buNone/>
            </a:pPr>
            <a:r>
              <a:rPr lang="en-US" altLang="zh-CN" sz="2800" b="1" dirty="0"/>
              <a:t>         4.1.4 The </a:t>
            </a:r>
            <a:r>
              <a:rPr lang="en-US" altLang="zh-CN" sz="2800" b="1" dirty="0">
                <a:solidFill>
                  <a:srgbClr val="FF0000"/>
                </a:solidFill>
              </a:rPr>
              <a:t>base-stacking interactions </a:t>
            </a:r>
            <a:r>
              <a:rPr lang="en-US" altLang="zh-CN" sz="2800" b="1" dirty="0"/>
              <a:t>make a major nonspecific contribution to the stability of the duplex.            </a:t>
            </a:r>
          </a:p>
        </p:txBody>
      </p:sp>
      <p:cxnSp>
        <p:nvCxnSpPr>
          <p:cNvPr id="3" name="直接连接符 2">
            <a:extLst>
              <a:ext uri="{FF2B5EF4-FFF2-40B4-BE49-F238E27FC236}">
                <a16:creationId xmlns:a16="http://schemas.microsoft.com/office/drawing/2014/main" id="{3FDEDEDA-7982-4186-8DC8-FE2BB0BF4351}"/>
              </a:ext>
            </a:extLst>
          </p:cNvPr>
          <p:cNvCxnSpPr>
            <a:cxnSpLocks/>
          </p:cNvCxnSpPr>
          <p:nvPr/>
        </p:nvCxnSpPr>
        <p:spPr>
          <a:xfrm>
            <a:off x="5112552" y="4310852"/>
            <a:ext cx="18840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625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70000" y="711200"/>
            <a:ext cx="66040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6259" name="Text Box 3"/>
          <p:cNvSpPr txBox="1">
            <a:spLocks noChangeArrowheads="1"/>
          </p:cNvSpPr>
          <p:nvPr/>
        </p:nvSpPr>
        <p:spPr bwMode="auto">
          <a:xfrm>
            <a:off x="3886200" y="3276600"/>
            <a:ext cx="304800" cy="304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000" b="1"/>
              <a:t>34</a:t>
            </a:r>
          </a:p>
        </p:txBody>
      </p:sp>
      <p:sp>
        <p:nvSpPr>
          <p:cNvPr id="2" name="文本框 1">
            <a:extLst>
              <a:ext uri="{FF2B5EF4-FFF2-40B4-BE49-F238E27FC236}">
                <a16:creationId xmlns:a16="http://schemas.microsoft.com/office/drawing/2014/main" id="{5984E41E-3953-4074-A3C4-1F8F6CF1B136}"/>
              </a:ext>
            </a:extLst>
          </p:cNvPr>
          <p:cNvSpPr txBox="1"/>
          <p:nvPr/>
        </p:nvSpPr>
        <p:spPr>
          <a:xfrm>
            <a:off x="1619672" y="249535"/>
            <a:ext cx="6152453" cy="461665"/>
          </a:xfrm>
          <a:prstGeom prst="rect">
            <a:avLst/>
          </a:prstGeom>
          <a:noFill/>
        </p:spPr>
        <p:txBody>
          <a:bodyPr wrap="none" rtlCol="0">
            <a:spAutoFit/>
          </a:bodyPr>
          <a:lstStyle/>
          <a:p>
            <a:r>
              <a:rPr lang="en-US" altLang="zh-CN" sz="2400" b="1" dirty="0"/>
              <a:t>Detailed information of DNA double helix</a:t>
            </a:r>
            <a:endParaRPr lang="zh-CN" altLang="en-US" sz="2400" b="1" dirty="0"/>
          </a:p>
        </p:txBody>
      </p:sp>
    </p:spTree>
    <p:extLst>
      <p:ext uri="{BB962C8B-B14F-4D97-AF65-F5344CB8AC3E}">
        <p14:creationId xmlns:p14="http://schemas.microsoft.com/office/powerpoint/2010/main" val="185267666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44" name="Picture 1028"/>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9417" t="9416" r="9465" b="9192"/>
          <a:stretch>
            <a:fillRect/>
          </a:stretch>
        </p:blipFill>
        <p:spPr bwMode="auto">
          <a:xfrm>
            <a:off x="1115616" y="836712"/>
            <a:ext cx="6984776" cy="5256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Text Box 2"/>
          <p:cNvSpPr txBox="1">
            <a:spLocks noChangeArrowheads="1"/>
          </p:cNvSpPr>
          <p:nvPr/>
        </p:nvSpPr>
        <p:spPr bwMode="auto">
          <a:xfrm>
            <a:off x="228600" y="304800"/>
            <a:ext cx="8915400"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800" b="1" dirty="0"/>
              <a:t>4.2 The double-helical model of DNA immediately suggested a mechanism for the replication of DNA.</a:t>
            </a:r>
          </a:p>
        </p:txBody>
      </p:sp>
      <p:pic>
        <p:nvPicPr>
          <p:cNvPr id="114691"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15816" y="1324896"/>
            <a:ext cx="2544688" cy="4840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Text Box 2"/>
          <p:cNvSpPr txBox="1">
            <a:spLocks noChangeArrowheads="1"/>
          </p:cNvSpPr>
          <p:nvPr/>
        </p:nvSpPr>
        <p:spPr bwMode="auto">
          <a:xfrm>
            <a:off x="304800" y="228600"/>
            <a:ext cx="8686800" cy="5706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b="1" dirty="0"/>
              <a:t>4.3 DNA can occur in different structural forms.</a:t>
            </a:r>
          </a:p>
          <a:p>
            <a:pPr eaLnBrk="1" hangingPunct="1">
              <a:buFontTx/>
              <a:buNone/>
            </a:pPr>
            <a:r>
              <a:rPr lang="en-US" altLang="zh-CN" b="1" dirty="0"/>
              <a:t>	4.3.1 DNA is remarkably </a:t>
            </a:r>
            <a:r>
              <a:rPr lang="en-US" altLang="zh-CN" b="1" dirty="0">
                <a:solidFill>
                  <a:srgbClr val="FF0000"/>
                </a:solidFill>
              </a:rPr>
              <a:t>flexible molecule </a:t>
            </a:r>
            <a:r>
              <a:rPr lang="en-US" altLang="zh-CN" b="1" dirty="0"/>
              <a:t>with many rotatable bonds (thermal fluctuations producing bending, stretching, and unpairing).</a:t>
            </a:r>
          </a:p>
          <a:p>
            <a:pPr eaLnBrk="1" hangingPunct="1">
              <a:buFontTx/>
              <a:buNone/>
            </a:pPr>
            <a:r>
              <a:rPr lang="en-US" altLang="zh-CN" b="1" dirty="0"/>
              <a:t>	4.3.2 The duplex structure proposed by Watson and Crick is referred as the </a:t>
            </a:r>
            <a:r>
              <a:rPr lang="en-US" altLang="zh-CN" b="1" dirty="0">
                <a:solidFill>
                  <a:srgbClr val="FF0000"/>
                </a:solidFill>
              </a:rPr>
              <a:t>B-form DNA</a:t>
            </a:r>
            <a:r>
              <a:rPr lang="en-US" altLang="zh-CN" b="1" dirty="0"/>
              <a:t>, and is found to be </a:t>
            </a:r>
            <a:r>
              <a:rPr lang="en-US" altLang="zh-CN" b="1" dirty="0">
                <a:solidFill>
                  <a:srgbClr val="FF0000"/>
                </a:solidFill>
              </a:rPr>
              <a:t>the most stable structure </a:t>
            </a:r>
            <a:r>
              <a:rPr lang="en-US" altLang="zh-CN" b="1" dirty="0"/>
              <a:t>for a random nucleotide sequence under physiological conditions. Thus it is the </a:t>
            </a:r>
            <a:r>
              <a:rPr lang="en-US" altLang="zh-CN" b="1" dirty="0">
                <a:solidFill>
                  <a:srgbClr val="FF0000"/>
                </a:solidFill>
              </a:rPr>
              <a:t>standard structure </a:t>
            </a:r>
            <a:r>
              <a:rPr lang="en-US" altLang="zh-CN" b="1" dirty="0"/>
              <a:t>for DNA molecules.</a:t>
            </a:r>
          </a:p>
          <a:p>
            <a:pPr eaLnBrk="1" hangingPunct="1">
              <a:lnSpc>
                <a:spcPct val="80000"/>
              </a:lnSpc>
              <a:buFontTx/>
              <a:buNone/>
            </a:pPr>
            <a:r>
              <a:rPr lang="en-US" altLang="zh-CN" b="1" dirty="0"/>
              <a:t>	</a:t>
            </a:r>
            <a:endParaRPr lang="en-US" altLang="zh-CN" sz="24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Text Box 2"/>
          <p:cNvSpPr txBox="1">
            <a:spLocks noChangeArrowheads="1"/>
          </p:cNvSpPr>
          <p:nvPr/>
        </p:nvSpPr>
        <p:spPr bwMode="auto">
          <a:xfrm>
            <a:off x="228600" y="419100"/>
            <a:ext cx="8763000" cy="46020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400" dirty="0"/>
              <a:t>	 </a:t>
            </a:r>
            <a:r>
              <a:rPr lang="en-US" altLang="zh-CN" b="1" dirty="0"/>
              <a:t>4.3.3 At reduced humidity the DNA molecule will take the </a:t>
            </a:r>
            <a:r>
              <a:rPr lang="en-US" altLang="zh-CN" b="1" dirty="0">
                <a:solidFill>
                  <a:srgbClr val="FF0000"/>
                </a:solidFill>
              </a:rPr>
              <a:t>A-form</a:t>
            </a:r>
            <a:r>
              <a:rPr lang="en-US" altLang="zh-CN" b="1" dirty="0"/>
              <a:t>: it is still a right-handed duplex made up of antiparallel strands held together by Watson-Crick base pairing.</a:t>
            </a:r>
            <a:r>
              <a:rPr lang="en-US" altLang="zh-CN" dirty="0"/>
              <a:t> </a:t>
            </a:r>
          </a:p>
          <a:p>
            <a:pPr eaLnBrk="1" hangingPunct="1">
              <a:buFontTx/>
              <a:buNone/>
            </a:pPr>
            <a:r>
              <a:rPr lang="en-US" altLang="zh-CN" dirty="0"/>
              <a:t>	</a:t>
            </a:r>
            <a:r>
              <a:rPr lang="en-US" altLang="zh-CN" b="1" dirty="0"/>
              <a:t>4.3.4 The </a:t>
            </a:r>
            <a:r>
              <a:rPr lang="en-US" altLang="zh-CN" b="1" dirty="0">
                <a:solidFill>
                  <a:srgbClr val="FF0000"/>
                </a:solidFill>
              </a:rPr>
              <a:t>A-form helix is wider and shorter than the B-form helix</a:t>
            </a:r>
            <a:r>
              <a:rPr lang="en-US" altLang="zh-CN" b="1" dirty="0"/>
              <a:t>. The plane of the base pairs in A-DNA is </a:t>
            </a:r>
            <a:r>
              <a:rPr lang="en-US" altLang="zh-CN" b="1" dirty="0">
                <a:solidFill>
                  <a:srgbClr val="FF0000"/>
                </a:solidFill>
              </a:rPr>
              <a:t>tilted about 20</a:t>
            </a:r>
            <a:r>
              <a:rPr lang="en-US" altLang="zh-CN" b="1" dirty="0">
                <a:solidFill>
                  <a:srgbClr val="FF0000"/>
                </a:solidFill>
                <a:sym typeface="Symbol" panose="05050102010706020507" pitchFamily="18" charset="2"/>
              </a:rPr>
              <a:t> </a:t>
            </a:r>
            <a:r>
              <a:rPr lang="en-US" altLang="zh-CN" b="1" dirty="0">
                <a:sym typeface="Symbol" panose="05050102010706020507" pitchFamily="18" charset="2"/>
              </a:rPr>
              <a:t>with respect to the helix axis.</a:t>
            </a:r>
            <a:endParaRPr lang="en-US" altLang="zh-CN" b="1" dirty="0"/>
          </a:p>
          <a:p>
            <a:pPr eaLnBrk="1" hangingPunct="1">
              <a:lnSpc>
                <a:spcPct val="75000"/>
              </a:lnSpc>
              <a:buFontTx/>
              <a:buNone/>
            </a:pPr>
            <a:r>
              <a:rPr lang="en-US" altLang="zh-CN" b="1" dirty="0"/>
              <a:t>	</a:t>
            </a:r>
            <a:endParaRPr lang="en-US" altLang="zh-CN" sz="2800" b="1"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776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79500" y="-1539552"/>
            <a:ext cx="6384999" cy="8231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Text Box 2050"/>
          <p:cNvSpPr txBox="1">
            <a:spLocks noChangeArrowheads="1"/>
          </p:cNvSpPr>
          <p:nvPr/>
        </p:nvSpPr>
        <p:spPr bwMode="auto">
          <a:xfrm>
            <a:off x="0" y="609600"/>
            <a:ext cx="9144000" cy="2653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b="1" dirty="0"/>
              <a:t>	4.3.5 The </a:t>
            </a:r>
            <a:r>
              <a:rPr lang="en-US" altLang="zh-CN" b="1" dirty="0">
                <a:solidFill>
                  <a:srgbClr val="FF0000"/>
                </a:solidFill>
              </a:rPr>
              <a:t>Z-form DNA </a:t>
            </a:r>
            <a:r>
              <a:rPr lang="en-US" altLang="zh-CN" b="1" dirty="0"/>
              <a:t>is a </a:t>
            </a:r>
            <a:r>
              <a:rPr lang="en-US" altLang="zh-CN" b="1" dirty="0">
                <a:solidFill>
                  <a:srgbClr val="FF0000"/>
                </a:solidFill>
              </a:rPr>
              <a:t>left-handed</a:t>
            </a:r>
            <a:r>
              <a:rPr lang="en-US" altLang="zh-CN" b="1" dirty="0"/>
              <a:t> double helix in which backbone </a:t>
            </a:r>
            <a:r>
              <a:rPr lang="en-US" altLang="zh-CN" b="1" dirty="0">
                <a:solidFill>
                  <a:srgbClr val="FF0000"/>
                </a:solidFill>
              </a:rPr>
              <a:t>phosphates zigzag</a:t>
            </a:r>
            <a:r>
              <a:rPr lang="en-US" altLang="zh-CN" b="1" dirty="0"/>
              <a:t>.</a:t>
            </a:r>
          </a:p>
          <a:p>
            <a:pPr eaLnBrk="1" hangingPunct="1">
              <a:buFontTx/>
              <a:buNone/>
            </a:pPr>
            <a:r>
              <a:rPr lang="en-US" altLang="zh-CN" b="1" dirty="0"/>
              <a:t>	4.3.6 The biological roles of Z-DNA is uncertain (may play roles in gene expression and genetic recombination).</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Text Box 2"/>
          <p:cNvSpPr txBox="1">
            <a:spLocks noChangeArrowheads="1"/>
          </p:cNvSpPr>
          <p:nvPr/>
        </p:nvSpPr>
        <p:spPr bwMode="auto">
          <a:xfrm>
            <a:off x="228600" y="228600"/>
            <a:ext cx="8686800" cy="155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b="1">
                <a:solidFill>
                  <a:srgbClr val="FF0066"/>
                </a:solidFill>
              </a:rPr>
              <a:t>5. RNA molecules do not form simple, regular secondary structure but many form complex and unique three dimensional structures. (G1)</a:t>
            </a:r>
            <a:endParaRPr lang="en-US" altLang="zh-CN" sz="2400"/>
          </a:p>
        </p:txBody>
      </p:sp>
      <p:sp>
        <p:nvSpPr>
          <p:cNvPr id="120835" name="Text Box 3"/>
          <p:cNvSpPr txBox="1">
            <a:spLocks noChangeArrowheads="1"/>
          </p:cNvSpPr>
          <p:nvPr/>
        </p:nvSpPr>
        <p:spPr bwMode="auto">
          <a:xfrm>
            <a:off x="304800" y="2043113"/>
            <a:ext cx="8610600" cy="379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800" b="1" dirty="0"/>
              <a:t>5.1 Single strand RNA tends to take </a:t>
            </a:r>
            <a:r>
              <a:rPr lang="en-US" altLang="zh-CN" sz="2800" b="1" dirty="0">
                <a:solidFill>
                  <a:srgbClr val="FF0000"/>
                </a:solidFill>
              </a:rPr>
              <a:t>right-handed </a:t>
            </a:r>
            <a:r>
              <a:rPr lang="en-US" altLang="zh-CN" sz="2800" b="1" dirty="0"/>
              <a:t>helical conformation.</a:t>
            </a:r>
          </a:p>
          <a:p>
            <a:pPr eaLnBrk="1" hangingPunct="1">
              <a:buFontTx/>
              <a:buNone/>
            </a:pPr>
            <a:r>
              <a:rPr lang="en-US" altLang="zh-CN" sz="2800" b="1" dirty="0"/>
              <a:t>5. 2 </a:t>
            </a:r>
            <a:r>
              <a:rPr lang="en-US" altLang="zh-CN" sz="2800" b="1" dirty="0">
                <a:solidFill>
                  <a:srgbClr val="FF0000"/>
                </a:solidFill>
              </a:rPr>
              <a:t>Self-complementary sequences </a:t>
            </a:r>
            <a:r>
              <a:rPr lang="en-US" altLang="zh-CN" sz="2800" b="1" dirty="0"/>
              <a:t>on a RNA molecule lead to specific structures.</a:t>
            </a:r>
          </a:p>
          <a:p>
            <a:pPr eaLnBrk="1" hangingPunct="1">
              <a:buFontTx/>
              <a:buNone/>
            </a:pPr>
            <a:r>
              <a:rPr lang="en-US" altLang="zh-CN" sz="2800" b="1" dirty="0"/>
              <a:t>5. 3 The standard base-pairing rules are followed (i.e., </a:t>
            </a:r>
            <a:r>
              <a:rPr lang="en-US" altLang="zh-CN" sz="2800" b="1" dirty="0">
                <a:solidFill>
                  <a:srgbClr val="FF0000"/>
                </a:solidFill>
              </a:rPr>
              <a:t>A with U, G with C</a:t>
            </a:r>
            <a:r>
              <a:rPr lang="en-US" altLang="zh-CN" sz="2800" b="1" dirty="0"/>
              <a:t>).</a:t>
            </a:r>
          </a:p>
          <a:p>
            <a:pPr eaLnBrk="1" hangingPunct="1">
              <a:buFontTx/>
              <a:buNone/>
            </a:pPr>
            <a:r>
              <a:rPr lang="en-US" altLang="zh-CN" sz="2800" b="1" dirty="0"/>
              <a:t>5.4 </a:t>
            </a:r>
            <a:r>
              <a:rPr lang="en-US" altLang="zh-CN" sz="2800" b="1" dirty="0" err="1">
                <a:solidFill>
                  <a:srgbClr val="FF0000"/>
                </a:solidFill>
              </a:rPr>
              <a:t>Intrastrand</a:t>
            </a:r>
            <a:r>
              <a:rPr lang="en-US" altLang="zh-CN" sz="2800" b="1" dirty="0">
                <a:solidFill>
                  <a:srgbClr val="FF0000"/>
                </a:solidFill>
              </a:rPr>
              <a:t> base pairing </a:t>
            </a:r>
            <a:r>
              <a:rPr lang="en-US" altLang="zh-CN" sz="2800" b="1" dirty="0"/>
              <a:t>makes structures including internal loops, and hairpins (helical).</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Text Box 2"/>
          <p:cNvSpPr txBox="1">
            <a:spLocks noChangeArrowheads="1"/>
          </p:cNvSpPr>
          <p:nvPr/>
        </p:nvSpPr>
        <p:spPr bwMode="auto">
          <a:xfrm>
            <a:off x="304800" y="228600"/>
            <a:ext cx="8839200" cy="77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40000"/>
              </a:lnSpc>
              <a:buFontTx/>
              <a:buNone/>
            </a:pPr>
            <a:r>
              <a:rPr lang="en-US" altLang="zh-CN" sz="2400"/>
              <a:t>	</a:t>
            </a:r>
            <a:r>
              <a:rPr lang="en-US" altLang="zh-CN" b="1"/>
              <a:t>	</a:t>
            </a:r>
          </a:p>
        </p:txBody>
      </p:sp>
      <p:pic>
        <p:nvPicPr>
          <p:cNvPr id="121859"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3400" y="1773238"/>
            <a:ext cx="8026400" cy="397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88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75656" y="2708920"/>
            <a:ext cx="6309072" cy="2967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p:cNvPicPr>
            <a:picLocks noChangeAspect="1"/>
          </p:cNvPicPr>
          <p:nvPr/>
        </p:nvPicPr>
        <p:blipFill rotWithShape="1">
          <a:blip r:embed="rId4" cstate="print">
            <a:extLst>
              <a:ext uri="{28A0092B-C50C-407E-A947-70E740481C1C}">
                <a14:useLocalDpi xmlns:a14="http://schemas.microsoft.com/office/drawing/2010/main" val="0"/>
              </a:ext>
            </a:extLst>
          </a:blip>
          <a:srcRect l="26782" t="6407" r="4139" b="13511"/>
          <a:stretch>
            <a:fillRect/>
          </a:stretch>
        </p:blipFill>
        <p:spPr>
          <a:xfrm rot="1309265">
            <a:off x="3478064" y="692697"/>
            <a:ext cx="2174056" cy="1800200"/>
          </a:xfrm>
          <a:prstGeom prst="rect">
            <a:avLst/>
          </a:prstGeom>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Text Box 2"/>
          <p:cNvSpPr txBox="1">
            <a:spLocks noChangeArrowheads="1"/>
          </p:cNvSpPr>
          <p:nvPr/>
        </p:nvSpPr>
        <p:spPr bwMode="auto">
          <a:xfrm>
            <a:off x="304800" y="228600"/>
            <a:ext cx="86106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b="1" dirty="0">
                <a:solidFill>
                  <a:srgbClr val="FF0066"/>
                </a:solidFill>
              </a:rPr>
              <a:t>6. Duplex DNA and RNA molecules can be denatured and renatured.</a:t>
            </a:r>
            <a:endParaRPr lang="en-US" altLang="zh-CN" sz="2400" dirty="0"/>
          </a:p>
        </p:txBody>
      </p:sp>
      <p:sp>
        <p:nvSpPr>
          <p:cNvPr id="124931" name="Text Box 3"/>
          <p:cNvSpPr txBox="1">
            <a:spLocks noChangeArrowheads="1"/>
          </p:cNvSpPr>
          <p:nvPr/>
        </p:nvSpPr>
        <p:spPr bwMode="auto">
          <a:xfrm>
            <a:off x="323850" y="1700213"/>
            <a:ext cx="8820150" cy="2800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25000"/>
              </a:spcBef>
              <a:buFontTx/>
              <a:buNone/>
            </a:pPr>
            <a:r>
              <a:rPr lang="en-US" altLang="zh-CN" b="1" dirty="0"/>
              <a:t>6.1 Denaturation</a:t>
            </a:r>
          </a:p>
          <a:p>
            <a:pPr eaLnBrk="1" hangingPunct="1">
              <a:spcBef>
                <a:spcPct val="25000"/>
              </a:spcBef>
              <a:buFontTx/>
              <a:buNone/>
            </a:pPr>
            <a:r>
              <a:rPr lang="en-US" altLang="zh-CN" b="1" dirty="0"/>
              <a:t>	6.1.1 </a:t>
            </a:r>
            <a:r>
              <a:rPr lang="en-US" altLang="zh-CN" b="1" dirty="0">
                <a:solidFill>
                  <a:srgbClr val="FF0000"/>
                </a:solidFill>
              </a:rPr>
              <a:t>Viscosity</a:t>
            </a:r>
            <a:r>
              <a:rPr lang="en-US" altLang="zh-CN" b="1" dirty="0"/>
              <a:t> decreases sharply.</a:t>
            </a:r>
          </a:p>
          <a:p>
            <a:pPr eaLnBrk="1" hangingPunct="1">
              <a:spcBef>
                <a:spcPct val="25000"/>
              </a:spcBef>
              <a:buFontTx/>
              <a:buNone/>
            </a:pPr>
            <a:r>
              <a:rPr lang="en-US" altLang="zh-CN" b="1" dirty="0"/>
              <a:t>	6.1.2 UV absorption at 260 nm increases significantly, an effect called </a:t>
            </a:r>
            <a:r>
              <a:rPr lang="en-US" altLang="zh-CN" b="1" dirty="0" err="1"/>
              <a:t>hyperchromism</a:t>
            </a:r>
            <a:r>
              <a:rPr lang="en-US" altLang="zh-CN" b="1" dirty="0"/>
              <a:t> or </a:t>
            </a:r>
            <a:r>
              <a:rPr lang="en-US" altLang="zh-CN" b="1" dirty="0">
                <a:solidFill>
                  <a:srgbClr val="FF0000"/>
                </a:solidFill>
              </a:rPr>
              <a:t>hyperchromic effect </a:t>
            </a:r>
            <a:r>
              <a:rPr lang="en-US" altLang="zh-CN" b="1" dirty="0"/>
              <a:t>(</a:t>
            </a:r>
            <a:r>
              <a:rPr lang="zh-CN" altLang="en-US" b="1" dirty="0"/>
              <a:t>增色效应</a:t>
            </a:r>
            <a:r>
              <a:rPr lang="en-US" altLang="zh-CN" b="1" dirty="0"/>
              <a:t>). 	</a:t>
            </a:r>
            <a:endParaRPr lang="en-US" altLang="zh-CN" sz="2400" dirty="0"/>
          </a:p>
        </p:txBody>
      </p:sp>
      <p:sp>
        <p:nvSpPr>
          <p:cNvPr id="124932" name="Text Box 4"/>
          <p:cNvSpPr txBox="1">
            <a:spLocks noChangeArrowheads="1"/>
          </p:cNvSpPr>
          <p:nvPr/>
        </p:nvSpPr>
        <p:spPr bwMode="auto">
          <a:xfrm>
            <a:off x="310868" y="4878388"/>
            <a:ext cx="88201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b="1" dirty="0"/>
              <a:t>DNA </a:t>
            </a:r>
            <a:r>
              <a:rPr lang="zh-CN" altLang="en-US" b="1" dirty="0"/>
              <a:t>复性</a:t>
            </a:r>
            <a:r>
              <a:rPr lang="en-US" altLang="zh-CN" b="1" dirty="0"/>
              <a:t>——</a:t>
            </a:r>
            <a:r>
              <a:rPr lang="zh-CN" altLang="en-US" b="1" dirty="0"/>
              <a:t>减色效应（</a:t>
            </a:r>
            <a:r>
              <a:rPr lang="en-US" altLang="zh-CN" b="1" dirty="0">
                <a:solidFill>
                  <a:srgbClr val="FF0000"/>
                </a:solidFill>
              </a:rPr>
              <a:t>hypochromic effect</a:t>
            </a:r>
            <a:r>
              <a:rPr lang="zh-CN" altLang="en-US" b="1" dirty="0"/>
              <a:t>）</a:t>
            </a:r>
            <a:r>
              <a:rPr lang="zh-CN" altLang="en-US" sz="2400" dirty="0"/>
              <a:t> </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0" name="Picture 102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8800" y="1816100"/>
            <a:ext cx="8026400" cy="322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1475656" y="836712"/>
            <a:ext cx="5760640" cy="584775"/>
          </a:xfrm>
          <a:prstGeom prst="rect">
            <a:avLst/>
          </a:prstGeom>
          <a:noFill/>
          <a:ln>
            <a:noFill/>
          </a:ln>
        </p:spPr>
        <p:txBody>
          <a:bodyPr wrap="square" rtlCol="0">
            <a:spAutoFit/>
          </a:bodyPr>
          <a:lstStyle/>
          <a:p>
            <a:r>
              <a:rPr lang="zh-CN" altLang="en-US" sz="3200" dirty="0"/>
              <a:t>核酸、核苷酸的紫外吸收性质</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5954" name="Picture 102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86000" y="152400"/>
            <a:ext cx="4608513" cy="655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BA781C97-6D49-408F-9ED6-33CD6F041A37}"/>
              </a:ext>
            </a:extLst>
          </p:cNvPr>
          <p:cNvSpPr/>
          <p:nvPr/>
        </p:nvSpPr>
        <p:spPr>
          <a:xfrm>
            <a:off x="2915816" y="1340768"/>
            <a:ext cx="1005403" cy="369332"/>
          </a:xfrm>
          <a:prstGeom prst="rect">
            <a:avLst/>
          </a:prstGeom>
        </p:spPr>
        <p:txBody>
          <a:bodyPr wrap="none">
            <a:spAutoFit/>
          </a:bodyPr>
          <a:lstStyle/>
          <a:p>
            <a:r>
              <a:rPr lang="en-US" altLang="zh-CN" b="1" dirty="0">
                <a:solidFill>
                  <a:srgbClr val="FF0066"/>
                </a:solidFill>
              </a:rPr>
              <a:t>melting</a:t>
            </a:r>
            <a:endParaRPr lang="zh-CN" altLang="en-US" dirty="0"/>
          </a:p>
        </p:txBody>
      </p:sp>
      <p:sp>
        <p:nvSpPr>
          <p:cNvPr id="4" name="矩形 3">
            <a:extLst>
              <a:ext uri="{FF2B5EF4-FFF2-40B4-BE49-F238E27FC236}">
                <a16:creationId xmlns:a16="http://schemas.microsoft.com/office/drawing/2014/main" id="{4BCE70A7-0506-4B9A-A2E9-8A01DC2B6395}"/>
              </a:ext>
            </a:extLst>
          </p:cNvPr>
          <p:cNvSpPr/>
          <p:nvPr/>
        </p:nvSpPr>
        <p:spPr>
          <a:xfrm>
            <a:off x="4860032" y="836712"/>
            <a:ext cx="1531188" cy="369332"/>
          </a:xfrm>
          <a:prstGeom prst="rect">
            <a:avLst/>
          </a:prstGeom>
        </p:spPr>
        <p:txBody>
          <a:bodyPr wrap="none">
            <a:spAutoFit/>
          </a:bodyPr>
          <a:lstStyle/>
          <a:p>
            <a:r>
              <a:rPr lang="en-US" altLang="zh-CN" b="1" dirty="0">
                <a:solidFill>
                  <a:srgbClr val="FF0066"/>
                </a:solidFill>
              </a:rPr>
              <a:t>renaturation</a:t>
            </a:r>
            <a:endParaRPr lang="zh-CN" altLang="en-US"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Text Box 2"/>
          <p:cNvSpPr txBox="1">
            <a:spLocks noChangeArrowheads="1"/>
          </p:cNvSpPr>
          <p:nvPr/>
        </p:nvSpPr>
        <p:spPr bwMode="auto">
          <a:xfrm>
            <a:off x="228600" y="228600"/>
            <a:ext cx="8763000" cy="35148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2400" dirty="0"/>
              <a:t>	 </a:t>
            </a:r>
            <a:r>
              <a:rPr lang="en-US" altLang="zh-CN" b="1" dirty="0"/>
              <a:t>6.1.3 The unwinding (i.e., denaturation) of the double helix is called </a:t>
            </a:r>
            <a:r>
              <a:rPr lang="en-US" altLang="zh-CN" b="1" dirty="0">
                <a:solidFill>
                  <a:srgbClr val="FF0066"/>
                </a:solidFill>
              </a:rPr>
              <a:t>melting</a:t>
            </a:r>
            <a:r>
              <a:rPr lang="en-US" altLang="zh-CN" b="1" dirty="0"/>
              <a:t>.</a:t>
            </a:r>
            <a:endParaRPr lang="en-US" altLang="zh-CN" dirty="0"/>
          </a:p>
          <a:p>
            <a:pPr eaLnBrk="1" hangingPunct="1">
              <a:buFontTx/>
              <a:buNone/>
            </a:pPr>
            <a:r>
              <a:rPr lang="en-US" altLang="zh-CN" dirty="0"/>
              <a:t>	</a:t>
            </a:r>
            <a:r>
              <a:rPr lang="en-US" altLang="zh-CN" b="1" dirty="0"/>
              <a:t>6.1.4 Each species of DNA has a characteristic </a:t>
            </a:r>
            <a:r>
              <a:rPr lang="en-US" altLang="zh-CN" b="1" dirty="0">
                <a:solidFill>
                  <a:srgbClr val="FF0066"/>
                </a:solidFill>
              </a:rPr>
              <a:t>melting temperature (Tm or tm)</a:t>
            </a:r>
            <a:r>
              <a:rPr lang="en-US" altLang="zh-CN" b="1" dirty="0"/>
              <a:t> at which half of the duplex chain is separated. </a:t>
            </a:r>
            <a:r>
              <a:rPr lang="en-US" altLang="zh-CN" sz="2400" b="1" dirty="0"/>
              <a:t>(</a:t>
            </a:r>
            <a:r>
              <a:rPr lang="en-US" altLang="zh-CN" sz="2400" b="1" i="0" dirty="0">
                <a:solidFill>
                  <a:srgbClr val="242021"/>
                </a:solidFill>
                <a:effectLst/>
                <a:latin typeface="Whitney-Light"/>
              </a:rPr>
              <a:t>The</a:t>
            </a:r>
            <a:br>
              <a:rPr lang="en-US" altLang="zh-CN" sz="2400" b="1" i="0" dirty="0">
                <a:solidFill>
                  <a:srgbClr val="242021"/>
                </a:solidFill>
                <a:effectLst/>
                <a:latin typeface="Whitney-Light"/>
              </a:rPr>
            </a:br>
            <a:r>
              <a:rPr lang="en-US" altLang="zh-CN" sz="2400" b="1" i="0" dirty="0">
                <a:solidFill>
                  <a:srgbClr val="242021"/>
                </a:solidFill>
                <a:effectLst/>
                <a:latin typeface="Whitney-Light"/>
              </a:rPr>
              <a:t>midpoint of the temperature range over which denaturation occurs is called the melting temperature, or </a:t>
            </a:r>
            <a:r>
              <a:rPr lang="en-US" altLang="zh-CN" sz="2400" b="1" i="1" dirty="0">
                <a:solidFill>
                  <a:srgbClr val="242021"/>
                </a:solidFill>
                <a:effectLst/>
                <a:latin typeface="Whitney-LightItalic"/>
              </a:rPr>
              <a:t>T</a:t>
            </a:r>
            <a:r>
              <a:rPr lang="en-US" altLang="zh-CN" sz="2400" b="1" i="0" dirty="0">
                <a:solidFill>
                  <a:srgbClr val="242021"/>
                </a:solidFill>
                <a:effectLst/>
                <a:latin typeface="Whitney-Light"/>
              </a:rPr>
              <a:t>m.</a:t>
            </a:r>
            <a:r>
              <a:rPr lang="en-US" altLang="zh-CN" sz="2400" b="1" dirty="0"/>
              <a:t> )</a:t>
            </a:r>
            <a:r>
              <a:rPr lang="en-US" altLang="zh-CN" b="1" dirty="0"/>
              <a:t>	</a:t>
            </a:r>
            <a:endParaRPr lang="en-US" altLang="zh-CN" sz="2800" b="1" dirty="0"/>
          </a:p>
        </p:txBody>
      </p:sp>
      <p:sp>
        <p:nvSpPr>
          <p:cNvPr id="132099" name="Text Box 3"/>
          <p:cNvSpPr txBox="1">
            <a:spLocks noChangeArrowheads="1"/>
          </p:cNvSpPr>
          <p:nvPr/>
        </p:nvSpPr>
        <p:spPr bwMode="auto">
          <a:xfrm>
            <a:off x="228600" y="3789040"/>
            <a:ext cx="9144000" cy="2613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b="1" dirty="0"/>
              <a:t>	6.1.5 Tm has an approximate </a:t>
            </a:r>
            <a:r>
              <a:rPr lang="en-US" altLang="zh-CN" b="1" dirty="0">
                <a:solidFill>
                  <a:srgbClr val="FF0000"/>
                </a:solidFill>
              </a:rPr>
              <a:t>linear relationship</a:t>
            </a:r>
            <a:r>
              <a:rPr lang="en-US" altLang="zh-CN" b="1" dirty="0"/>
              <a:t> with (G+C)%).</a:t>
            </a:r>
          </a:p>
          <a:p>
            <a:pPr eaLnBrk="1" hangingPunct="1">
              <a:buFontTx/>
              <a:buNone/>
            </a:pPr>
            <a:r>
              <a:rPr lang="en-US" altLang="zh-CN" b="1" dirty="0"/>
              <a:t>	6.1.6 DNA segments rich in AT base pairs are melted first (at lower temperatures).</a:t>
            </a:r>
          </a:p>
          <a:p>
            <a:pPr eaLnBrk="1" hangingPunct="1">
              <a:lnSpc>
                <a:spcPct val="70000"/>
              </a:lnSpc>
              <a:buFontTx/>
              <a:buNone/>
            </a:pPr>
            <a:endParaRPr lang="en-US" altLang="zh-CN" b="1"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800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17700" y="711200"/>
            <a:ext cx="53086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005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17700" y="711200"/>
            <a:ext cx="53086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6194" name="Picture 2" descr="49033-11-14 copy"/>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8600" y="609600"/>
            <a:ext cx="8229600" cy="550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9266" name="Picture 2" descr="49033-11-15 copy"/>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62125" y="571500"/>
            <a:ext cx="5619750"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ChangeArrowheads="1"/>
          </p:cNvSpPr>
          <p:nvPr>
            <p:ph type="title" idx="4294967295"/>
          </p:nvPr>
        </p:nvSpPr>
        <p:spPr>
          <a:xfrm>
            <a:off x="0" y="609600"/>
            <a:ext cx="7772400" cy="1143000"/>
          </a:xfrm>
          <a:prstGeom prst="rect">
            <a:avLst/>
          </a:prstGeom>
        </p:spPr>
        <p:txBody>
          <a:bodyPr/>
          <a:lstStyle/>
          <a:p>
            <a:pPr eaLnBrk="1" hangingPunct="1"/>
            <a:r>
              <a:rPr lang="en-US" altLang="zh-CN" sz="3200" b="1"/>
              <a:t>DNA</a:t>
            </a:r>
            <a:r>
              <a:rPr lang="zh-CN" altLang="en-US" sz="3200" b="1"/>
              <a:t>的</a:t>
            </a:r>
            <a:r>
              <a:rPr lang="en-US" altLang="zh-CN" sz="3200" b="1"/>
              <a:t>Tm</a:t>
            </a:r>
            <a:r>
              <a:rPr lang="zh-CN" altLang="en-US" sz="3200" b="1"/>
              <a:t>值与下列因素有关</a:t>
            </a:r>
          </a:p>
        </p:txBody>
      </p:sp>
      <p:sp>
        <p:nvSpPr>
          <p:cNvPr id="140291" name="Rectangle 3"/>
          <p:cNvSpPr>
            <a:spLocks noGrp="1" noChangeArrowheads="1"/>
          </p:cNvSpPr>
          <p:nvPr>
            <p:ph idx="4294967295"/>
          </p:nvPr>
        </p:nvSpPr>
        <p:spPr>
          <a:xfrm>
            <a:off x="1403648" y="1752600"/>
            <a:ext cx="4343400" cy="3886200"/>
          </a:xfrm>
          <a:prstGeom prst="rect">
            <a:avLst/>
          </a:prstGeom>
        </p:spPr>
        <p:txBody>
          <a:bodyPr/>
          <a:lstStyle/>
          <a:p>
            <a:pPr eaLnBrk="1" hangingPunct="1"/>
            <a:r>
              <a:rPr lang="en-US" altLang="zh-CN" b="1" dirty="0"/>
              <a:t>DNA</a:t>
            </a:r>
            <a:r>
              <a:rPr lang="zh-CN" altLang="en-US" b="1" dirty="0"/>
              <a:t>的均一性</a:t>
            </a:r>
          </a:p>
          <a:p>
            <a:pPr eaLnBrk="1" hangingPunct="1"/>
            <a:r>
              <a:rPr lang="en-US" altLang="zh-CN" b="1" dirty="0"/>
              <a:t>G-C</a:t>
            </a:r>
            <a:r>
              <a:rPr lang="zh-CN" altLang="en-US" b="1" dirty="0"/>
              <a:t>含量</a:t>
            </a:r>
          </a:p>
          <a:p>
            <a:pPr eaLnBrk="1" hangingPunct="1"/>
            <a:r>
              <a:rPr lang="zh-CN" altLang="en-US" b="1" dirty="0"/>
              <a:t>介质的离子强度</a:t>
            </a:r>
          </a:p>
          <a:p>
            <a:pPr eaLnBrk="1" hangingPunct="1"/>
            <a:endParaRPr lang="en-US" altLang="zh-CN" b="1"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Text Box 2"/>
          <p:cNvSpPr txBox="1">
            <a:spLocks noChangeArrowheads="1"/>
          </p:cNvSpPr>
          <p:nvPr/>
        </p:nvSpPr>
        <p:spPr bwMode="auto">
          <a:xfrm>
            <a:off x="228600" y="228600"/>
            <a:ext cx="8763000" cy="5447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3000" b="1" dirty="0"/>
              <a:t>6.2 When the temperature or pH is returned to the biological range, the two separated complementary strands will spontaneously rewind (</a:t>
            </a:r>
            <a:r>
              <a:rPr lang="en-US" altLang="zh-CN" sz="3000" b="1" dirty="0">
                <a:solidFill>
                  <a:srgbClr val="FF0000"/>
                </a:solidFill>
              </a:rPr>
              <a:t>renature</a:t>
            </a:r>
            <a:r>
              <a:rPr lang="en-US" altLang="zh-CN" sz="3000" b="1" dirty="0"/>
              <a:t>) to form a duplex structure.</a:t>
            </a:r>
          </a:p>
          <a:p>
            <a:pPr eaLnBrk="1" hangingPunct="1">
              <a:buFontTx/>
              <a:buNone/>
            </a:pPr>
            <a:r>
              <a:rPr lang="en-US" altLang="zh-CN" sz="3000" b="1" dirty="0"/>
              <a:t>	6.2.1 This </a:t>
            </a:r>
            <a:r>
              <a:rPr lang="en-US" altLang="zh-CN" sz="3000" b="1" dirty="0">
                <a:solidFill>
                  <a:srgbClr val="FF0000"/>
                </a:solidFill>
              </a:rPr>
              <a:t>renaturation</a:t>
            </a:r>
            <a:r>
              <a:rPr lang="en-US" altLang="zh-CN" sz="3000" b="1" dirty="0"/>
              <a:t> process is called </a:t>
            </a:r>
            <a:r>
              <a:rPr lang="en-US" altLang="zh-CN" sz="3000" b="1" dirty="0">
                <a:solidFill>
                  <a:srgbClr val="FF0000"/>
                </a:solidFill>
              </a:rPr>
              <a:t>annealing</a:t>
            </a:r>
            <a:r>
              <a:rPr lang="en-US" altLang="zh-CN" sz="3000" b="1" dirty="0"/>
              <a:t>.</a:t>
            </a:r>
            <a:r>
              <a:rPr lang="en-US" altLang="zh-CN" sz="3000" dirty="0"/>
              <a:t> </a:t>
            </a:r>
          </a:p>
          <a:p>
            <a:pPr eaLnBrk="1" hangingPunct="1">
              <a:buFontTx/>
              <a:buNone/>
            </a:pPr>
            <a:r>
              <a:rPr lang="en-US" altLang="zh-CN" sz="3000" dirty="0"/>
              <a:t>	</a:t>
            </a:r>
            <a:r>
              <a:rPr lang="en-US" altLang="zh-CN" sz="3000" b="1" dirty="0"/>
              <a:t>6.2.2 Annealing can occur between </a:t>
            </a:r>
            <a:r>
              <a:rPr lang="en-US" altLang="zh-CN" sz="3000" b="1" dirty="0">
                <a:solidFill>
                  <a:srgbClr val="FF0000"/>
                </a:solidFill>
              </a:rPr>
              <a:t>complementary DNA, RNA, or DNA-RNA hybrids</a:t>
            </a:r>
            <a:r>
              <a:rPr lang="en-US" altLang="zh-CN" sz="3000" b="1" dirty="0"/>
              <a:t>.</a:t>
            </a:r>
          </a:p>
          <a:p>
            <a:pPr eaLnBrk="1" hangingPunct="1">
              <a:buFontTx/>
              <a:buNone/>
            </a:pPr>
            <a:r>
              <a:rPr lang="en-US" altLang="zh-CN" sz="3000" b="1" dirty="0"/>
              <a:t>         6.2.3 This </a:t>
            </a:r>
            <a:r>
              <a:rPr lang="en-US" altLang="zh-CN" sz="3000" b="1" dirty="0">
                <a:solidFill>
                  <a:srgbClr val="FF0000"/>
                </a:solidFill>
              </a:rPr>
              <a:t>hybridization</a:t>
            </a:r>
            <a:r>
              <a:rPr lang="en-US" altLang="zh-CN" sz="3000" b="1" dirty="0"/>
              <a:t> principle is widely used in detecting existence of specific DNA or RNA species in cells.	</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131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76500" y="711200"/>
            <a:ext cx="41910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1315" name="Rectangle 3"/>
          <p:cNvSpPr>
            <a:spLocks noChangeArrowheads="1"/>
          </p:cNvSpPr>
          <p:nvPr/>
        </p:nvSpPr>
        <p:spPr bwMode="auto">
          <a:xfrm>
            <a:off x="6858000" y="304800"/>
            <a:ext cx="20193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zh-CN" altLang="en-US" sz="3600" b="1">
                <a:latin typeface="Arial" panose="020B0604020202020204" pitchFamily="34" charset="0"/>
              </a:rPr>
              <a:t>分子杂交</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62" name="Picture 2" descr="49033-11-18 copy"/>
          <p:cNvPicPr>
            <a:picLocks noChangeAspect="1" noChangeArrowheads="1"/>
          </p:cNvPicPr>
          <p:nvPr/>
        </p:nvPicPr>
        <p:blipFill>
          <a:blip r:embed="rId2" cstate="print">
            <a:lum contrast="12000"/>
            <a:extLst>
              <a:ext uri="{28A0092B-C50C-407E-A947-70E740481C1C}">
                <a14:useLocalDpi xmlns:a14="http://schemas.microsoft.com/office/drawing/2010/main" val="0"/>
              </a:ext>
            </a:extLst>
          </a:blip>
          <a:srcRect/>
          <a:stretch>
            <a:fillRect/>
          </a:stretch>
        </p:blipFill>
        <p:spPr bwMode="auto">
          <a:xfrm>
            <a:off x="2538413" y="571500"/>
            <a:ext cx="4067175"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438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2800" y="711200"/>
            <a:ext cx="75184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6434" name="Group 2"/>
          <p:cNvGrpSpPr/>
          <p:nvPr/>
        </p:nvGrpSpPr>
        <p:grpSpPr bwMode="auto">
          <a:xfrm>
            <a:off x="5589588" y="1944688"/>
            <a:ext cx="2705100" cy="1062037"/>
            <a:chOff x="1997" y="1264"/>
            <a:chExt cx="1704" cy="669"/>
          </a:xfrm>
        </p:grpSpPr>
        <p:sp>
          <p:nvSpPr>
            <p:cNvPr id="147205" name="Rectangle 3"/>
            <p:cNvSpPr>
              <a:spLocks noChangeAspect="1" noChangeArrowheads="1"/>
            </p:cNvSpPr>
            <p:nvPr/>
          </p:nvSpPr>
          <p:spPr bwMode="auto">
            <a:xfrm>
              <a:off x="3276" y="1734"/>
              <a:ext cx="379" cy="135"/>
            </a:xfrm>
            <a:prstGeom prst="rect">
              <a:avLst/>
            </a:prstGeom>
            <a:solidFill>
              <a:srgbClr val="EAEAEA"/>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206" name="Rectangle 4"/>
            <p:cNvSpPr>
              <a:spLocks noChangeAspect="1" noChangeArrowheads="1"/>
            </p:cNvSpPr>
            <p:nvPr/>
          </p:nvSpPr>
          <p:spPr bwMode="auto">
            <a:xfrm>
              <a:off x="2057" y="1722"/>
              <a:ext cx="325" cy="136"/>
            </a:xfrm>
            <a:prstGeom prst="rect">
              <a:avLst/>
            </a:prstGeom>
            <a:solidFill>
              <a:srgbClr val="EAEAEA"/>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207" name="Freeform 5"/>
            <p:cNvSpPr>
              <a:spLocks noChangeAspect="1"/>
            </p:cNvSpPr>
            <p:nvPr/>
          </p:nvSpPr>
          <p:spPr bwMode="auto">
            <a:xfrm>
              <a:off x="1997" y="1641"/>
              <a:ext cx="1704" cy="292"/>
            </a:xfrm>
            <a:custGeom>
              <a:avLst/>
              <a:gdLst>
                <a:gd name="T0" fmla="*/ 0 w 3396"/>
                <a:gd name="T1" fmla="*/ 0 h 582"/>
                <a:gd name="T2" fmla="*/ 1 w 3396"/>
                <a:gd name="T3" fmla="*/ 37 h 582"/>
                <a:gd name="T4" fmla="*/ 56 w 3396"/>
                <a:gd name="T5" fmla="*/ 37 h 582"/>
                <a:gd name="T6" fmla="*/ 56 w 3396"/>
                <a:gd name="T7" fmla="*/ 17 h 582"/>
                <a:gd name="T8" fmla="*/ 154 w 3396"/>
                <a:gd name="T9" fmla="*/ 17 h 582"/>
                <a:gd name="T10" fmla="*/ 154 w 3396"/>
                <a:gd name="T11" fmla="*/ 36 h 582"/>
                <a:gd name="T12" fmla="*/ 215 w 3396"/>
                <a:gd name="T13" fmla="*/ 36 h 582"/>
                <a:gd name="T14" fmla="*/ 215 w 3396"/>
                <a:gd name="T15" fmla="*/ 1 h 582"/>
                <a:gd name="T16" fmla="*/ 207 w 3396"/>
                <a:gd name="T17" fmla="*/ 1 h 582"/>
                <a:gd name="T18" fmla="*/ 207 w 3396"/>
                <a:gd name="T19" fmla="*/ 28 h 582"/>
                <a:gd name="T20" fmla="*/ 162 w 3396"/>
                <a:gd name="T21" fmla="*/ 29 h 582"/>
                <a:gd name="T22" fmla="*/ 162 w 3396"/>
                <a:gd name="T23" fmla="*/ 8 h 582"/>
                <a:gd name="T24" fmla="*/ 48 w 3396"/>
                <a:gd name="T25" fmla="*/ 8 h 582"/>
                <a:gd name="T26" fmla="*/ 48 w 3396"/>
                <a:gd name="T27" fmla="*/ 27 h 582"/>
                <a:gd name="T28" fmla="*/ 10 w 3396"/>
                <a:gd name="T29" fmla="*/ 27 h 582"/>
                <a:gd name="T30" fmla="*/ 9 w 3396"/>
                <a:gd name="T31" fmla="*/ 0 h 582"/>
                <a:gd name="T32" fmla="*/ 0 w 3396"/>
                <a:gd name="T33" fmla="*/ 0 h 58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396"/>
                <a:gd name="T52" fmla="*/ 0 h 582"/>
                <a:gd name="T53" fmla="*/ 3396 w 3396"/>
                <a:gd name="T54" fmla="*/ 582 h 58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396" h="582">
                  <a:moveTo>
                    <a:pt x="0" y="0"/>
                  </a:moveTo>
                  <a:lnTo>
                    <a:pt x="12" y="582"/>
                  </a:lnTo>
                  <a:lnTo>
                    <a:pt x="882" y="582"/>
                  </a:lnTo>
                  <a:lnTo>
                    <a:pt x="882" y="270"/>
                  </a:lnTo>
                  <a:lnTo>
                    <a:pt x="2424" y="270"/>
                  </a:lnTo>
                  <a:lnTo>
                    <a:pt x="2424" y="564"/>
                  </a:lnTo>
                  <a:lnTo>
                    <a:pt x="3390" y="564"/>
                  </a:lnTo>
                  <a:lnTo>
                    <a:pt x="3396" y="6"/>
                  </a:lnTo>
                  <a:lnTo>
                    <a:pt x="3270" y="6"/>
                  </a:lnTo>
                  <a:lnTo>
                    <a:pt x="3270" y="444"/>
                  </a:lnTo>
                  <a:lnTo>
                    <a:pt x="2556" y="450"/>
                  </a:lnTo>
                  <a:lnTo>
                    <a:pt x="2556" y="120"/>
                  </a:lnTo>
                  <a:lnTo>
                    <a:pt x="756" y="126"/>
                  </a:lnTo>
                  <a:lnTo>
                    <a:pt x="756" y="426"/>
                  </a:lnTo>
                  <a:lnTo>
                    <a:pt x="150" y="426"/>
                  </a:lnTo>
                  <a:lnTo>
                    <a:pt x="144" y="0"/>
                  </a:lnTo>
                  <a:lnTo>
                    <a:pt x="0" y="0"/>
                  </a:lnTo>
                  <a:close/>
                </a:path>
              </a:pathLst>
            </a:custGeom>
            <a:solidFill>
              <a:srgbClr val="4D4D4D"/>
            </a:solidFill>
            <a:ln w="6350">
              <a:solidFill>
                <a:schemeClr val="bg2"/>
              </a:solidFill>
              <a:round/>
            </a:ln>
          </p:spPr>
          <p:txBody>
            <a:bodyPr wrap="none" anchor="ctr"/>
            <a:lstStyle/>
            <a:p>
              <a:endParaRPr lang="zh-CN" altLang="en-US"/>
            </a:p>
          </p:txBody>
        </p:sp>
        <p:grpSp>
          <p:nvGrpSpPr>
            <p:cNvPr id="147208" name="Group 6"/>
            <p:cNvGrpSpPr>
              <a:grpSpLocks noChangeAspect="1"/>
            </p:cNvGrpSpPr>
            <p:nvPr/>
          </p:nvGrpSpPr>
          <p:grpSpPr bwMode="auto">
            <a:xfrm>
              <a:off x="3405" y="1755"/>
              <a:ext cx="203" cy="26"/>
              <a:chOff x="251" y="1182"/>
              <a:chExt cx="1050" cy="135"/>
            </a:xfrm>
          </p:grpSpPr>
          <p:grpSp>
            <p:nvGrpSpPr>
              <p:cNvPr id="147366" name="Group 7"/>
              <p:cNvGrpSpPr>
                <a:grpSpLocks noChangeAspect="1"/>
              </p:cNvGrpSpPr>
              <p:nvPr/>
            </p:nvGrpSpPr>
            <p:grpSpPr bwMode="auto">
              <a:xfrm>
                <a:off x="251" y="1185"/>
                <a:ext cx="110" cy="132"/>
                <a:chOff x="906" y="2412"/>
                <a:chExt cx="552" cy="660"/>
              </a:xfrm>
            </p:grpSpPr>
            <p:sp>
              <p:nvSpPr>
                <p:cNvPr id="147380" name="Freeform 8"/>
                <p:cNvSpPr>
                  <a:spLocks noChangeAspect="1"/>
                </p:cNvSpPr>
                <p:nvPr/>
              </p:nvSpPr>
              <p:spPr bwMode="auto">
                <a:xfrm>
                  <a:off x="906" y="2418"/>
                  <a:ext cx="552" cy="1"/>
                </a:xfrm>
                <a:custGeom>
                  <a:avLst/>
                  <a:gdLst>
                    <a:gd name="T0" fmla="*/ 0 w 552"/>
                    <a:gd name="T1" fmla="*/ 0 h 1"/>
                    <a:gd name="T2" fmla="*/ 552 w 552"/>
                    <a:gd name="T3" fmla="*/ 0 h 1"/>
                    <a:gd name="T4" fmla="*/ 0 60000 65536"/>
                    <a:gd name="T5" fmla="*/ 0 60000 65536"/>
                    <a:gd name="T6" fmla="*/ 0 w 552"/>
                    <a:gd name="T7" fmla="*/ 0 h 1"/>
                    <a:gd name="T8" fmla="*/ 552 w 552"/>
                    <a:gd name="T9" fmla="*/ 1 h 1"/>
                  </a:gdLst>
                  <a:ahLst/>
                  <a:cxnLst>
                    <a:cxn ang="T4">
                      <a:pos x="T0" y="T1"/>
                    </a:cxn>
                    <a:cxn ang="T5">
                      <a:pos x="T2" y="T3"/>
                    </a:cxn>
                  </a:cxnLst>
                  <a:rect l="T6" t="T7" r="T8" b="T9"/>
                  <a:pathLst>
                    <a:path w="552" h="1">
                      <a:moveTo>
                        <a:pt x="0" y="0"/>
                      </a:moveTo>
                      <a:cubicBezTo>
                        <a:pt x="230" y="0"/>
                        <a:pt x="461" y="0"/>
                        <a:pt x="552" y="0"/>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381" name="Freeform 9"/>
                <p:cNvSpPr>
                  <a:spLocks noChangeAspect="1"/>
                </p:cNvSpPr>
                <p:nvPr/>
              </p:nvSpPr>
              <p:spPr bwMode="auto">
                <a:xfrm>
                  <a:off x="1176" y="2412"/>
                  <a:ext cx="1" cy="660"/>
                </a:xfrm>
                <a:custGeom>
                  <a:avLst/>
                  <a:gdLst>
                    <a:gd name="T0" fmla="*/ 0 w 1"/>
                    <a:gd name="T1" fmla="*/ 0 h 660"/>
                    <a:gd name="T2" fmla="*/ 0 w 1"/>
                    <a:gd name="T3" fmla="*/ 660 h 660"/>
                    <a:gd name="T4" fmla="*/ 0 60000 65536"/>
                    <a:gd name="T5" fmla="*/ 0 60000 65536"/>
                    <a:gd name="T6" fmla="*/ 0 w 1"/>
                    <a:gd name="T7" fmla="*/ 0 h 660"/>
                    <a:gd name="T8" fmla="*/ 1 w 1"/>
                    <a:gd name="T9" fmla="*/ 660 h 660"/>
                  </a:gdLst>
                  <a:ahLst/>
                  <a:cxnLst>
                    <a:cxn ang="T4">
                      <a:pos x="T0" y="T1"/>
                    </a:cxn>
                    <a:cxn ang="T5">
                      <a:pos x="T2" y="T3"/>
                    </a:cxn>
                  </a:cxnLst>
                  <a:rect l="T6" t="T7" r="T8" b="T9"/>
                  <a:pathLst>
                    <a:path w="1" h="660">
                      <a:moveTo>
                        <a:pt x="0" y="0"/>
                      </a:moveTo>
                      <a:cubicBezTo>
                        <a:pt x="0" y="275"/>
                        <a:pt x="0" y="550"/>
                        <a:pt x="0" y="660"/>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47367" name="Freeform 10"/>
              <p:cNvSpPr>
                <a:spLocks noChangeAspect="1"/>
              </p:cNvSpPr>
              <p:nvPr/>
            </p:nvSpPr>
            <p:spPr bwMode="auto">
              <a:xfrm>
                <a:off x="403" y="1182"/>
                <a:ext cx="98" cy="135"/>
              </a:xfrm>
              <a:custGeom>
                <a:avLst/>
                <a:gdLst>
                  <a:gd name="T0" fmla="*/ 0 w 468"/>
                  <a:gd name="T1" fmla="*/ 1 h 642"/>
                  <a:gd name="T2" fmla="*/ 0 w 468"/>
                  <a:gd name="T3" fmla="*/ 0 h 642"/>
                  <a:gd name="T4" fmla="*/ 0 w 468"/>
                  <a:gd name="T5" fmla="*/ 0 h 642"/>
                  <a:gd name="T6" fmla="*/ 1 w 468"/>
                  <a:gd name="T7" fmla="*/ 0 h 642"/>
                  <a:gd name="T8" fmla="*/ 1 w 468"/>
                  <a:gd name="T9" fmla="*/ 0 h 642"/>
                  <a:gd name="T10" fmla="*/ 0 w 468"/>
                  <a:gd name="T11" fmla="*/ 1 h 642"/>
                  <a:gd name="T12" fmla="*/ 0 w 468"/>
                  <a:gd name="T13" fmla="*/ 1 h 642"/>
                  <a:gd name="T14" fmla="*/ 0 w 468"/>
                  <a:gd name="T15" fmla="*/ 1 h 642"/>
                  <a:gd name="T16" fmla="*/ 1 w 468"/>
                  <a:gd name="T17" fmla="*/ 1 h 6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68"/>
                  <a:gd name="T28" fmla="*/ 0 h 642"/>
                  <a:gd name="T29" fmla="*/ 468 w 468"/>
                  <a:gd name="T30" fmla="*/ 642 h 64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68" h="642">
                    <a:moveTo>
                      <a:pt x="6" y="636"/>
                    </a:moveTo>
                    <a:lnTo>
                      <a:pt x="0" y="0"/>
                    </a:lnTo>
                    <a:lnTo>
                      <a:pt x="234" y="0"/>
                    </a:lnTo>
                    <a:cubicBezTo>
                      <a:pt x="303" y="11"/>
                      <a:pt x="386" y="26"/>
                      <a:pt x="414" y="66"/>
                    </a:cubicBezTo>
                    <a:cubicBezTo>
                      <a:pt x="442" y="106"/>
                      <a:pt x="436" y="200"/>
                      <a:pt x="402" y="240"/>
                    </a:cubicBezTo>
                    <a:cubicBezTo>
                      <a:pt x="368" y="280"/>
                      <a:pt x="277" y="295"/>
                      <a:pt x="210" y="306"/>
                    </a:cubicBezTo>
                    <a:lnTo>
                      <a:pt x="0" y="306"/>
                    </a:lnTo>
                    <a:lnTo>
                      <a:pt x="216" y="312"/>
                    </a:lnTo>
                    <a:cubicBezTo>
                      <a:pt x="294" y="368"/>
                      <a:pt x="426" y="587"/>
                      <a:pt x="468" y="642"/>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7368" name="Group 11"/>
              <p:cNvGrpSpPr>
                <a:grpSpLocks noChangeAspect="1"/>
              </p:cNvGrpSpPr>
              <p:nvPr/>
            </p:nvGrpSpPr>
            <p:grpSpPr bwMode="auto">
              <a:xfrm>
                <a:off x="544" y="1190"/>
                <a:ext cx="99" cy="127"/>
                <a:chOff x="263" y="1301"/>
                <a:chExt cx="540" cy="690"/>
              </a:xfrm>
            </p:grpSpPr>
            <p:sp>
              <p:nvSpPr>
                <p:cNvPr id="147378" name="Freeform 12"/>
                <p:cNvSpPr>
                  <a:spLocks noChangeAspect="1"/>
                </p:cNvSpPr>
                <p:nvPr/>
              </p:nvSpPr>
              <p:spPr bwMode="auto">
                <a:xfrm>
                  <a:off x="263" y="1301"/>
                  <a:ext cx="540" cy="690"/>
                </a:xfrm>
                <a:custGeom>
                  <a:avLst/>
                  <a:gdLst>
                    <a:gd name="T0" fmla="*/ 0 w 540"/>
                    <a:gd name="T1" fmla="*/ 690 h 690"/>
                    <a:gd name="T2" fmla="*/ 264 w 540"/>
                    <a:gd name="T3" fmla="*/ 0 h 690"/>
                    <a:gd name="T4" fmla="*/ 540 w 540"/>
                    <a:gd name="T5" fmla="*/ 678 h 690"/>
                    <a:gd name="T6" fmla="*/ 0 60000 65536"/>
                    <a:gd name="T7" fmla="*/ 0 60000 65536"/>
                    <a:gd name="T8" fmla="*/ 0 60000 65536"/>
                    <a:gd name="T9" fmla="*/ 0 w 540"/>
                    <a:gd name="T10" fmla="*/ 0 h 690"/>
                    <a:gd name="T11" fmla="*/ 540 w 540"/>
                    <a:gd name="T12" fmla="*/ 690 h 690"/>
                  </a:gdLst>
                  <a:ahLst/>
                  <a:cxnLst>
                    <a:cxn ang="T6">
                      <a:pos x="T0" y="T1"/>
                    </a:cxn>
                    <a:cxn ang="T7">
                      <a:pos x="T2" y="T3"/>
                    </a:cxn>
                    <a:cxn ang="T8">
                      <a:pos x="T4" y="T5"/>
                    </a:cxn>
                  </a:cxnLst>
                  <a:rect l="T9" t="T10" r="T11" b="T12"/>
                  <a:pathLst>
                    <a:path w="540" h="690">
                      <a:moveTo>
                        <a:pt x="0" y="690"/>
                      </a:moveTo>
                      <a:lnTo>
                        <a:pt x="264" y="0"/>
                      </a:lnTo>
                      <a:lnTo>
                        <a:pt x="540" y="678"/>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379" name="Line 13"/>
                <p:cNvSpPr>
                  <a:spLocks noChangeAspect="1" noChangeShapeType="1"/>
                </p:cNvSpPr>
                <p:nvPr/>
              </p:nvSpPr>
              <p:spPr bwMode="auto">
                <a:xfrm>
                  <a:off x="359" y="1727"/>
                  <a:ext cx="336" cy="0"/>
                </a:xfrm>
                <a:prstGeom prst="line">
                  <a:avLst/>
                </a:prstGeom>
                <a:noFill/>
                <a:ln w="63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47369" name="Freeform 14"/>
              <p:cNvSpPr>
                <a:spLocks noChangeAspect="1"/>
              </p:cNvSpPr>
              <p:nvPr/>
            </p:nvSpPr>
            <p:spPr bwMode="auto">
              <a:xfrm>
                <a:off x="686" y="1187"/>
                <a:ext cx="81" cy="130"/>
              </a:xfrm>
              <a:custGeom>
                <a:avLst/>
                <a:gdLst>
                  <a:gd name="T0" fmla="*/ 0 w 426"/>
                  <a:gd name="T1" fmla="*/ 1 h 684"/>
                  <a:gd name="T2" fmla="*/ 0 w 426"/>
                  <a:gd name="T3" fmla="*/ 0 h 684"/>
                  <a:gd name="T4" fmla="*/ 1 w 426"/>
                  <a:gd name="T5" fmla="*/ 1 h 684"/>
                  <a:gd name="T6" fmla="*/ 1 w 426"/>
                  <a:gd name="T7" fmla="*/ 0 h 684"/>
                  <a:gd name="T8" fmla="*/ 0 60000 65536"/>
                  <a:gd name="T9" fmla="*/ 0 60000 65536"/>
                  <a:gd name="T10" fmla="*/ 0 60000 65536"/>
                  <a:gd name="T11" fmla="*/ 0 60000 65536"/>
                  <a:gd name="T12" fmla="*/ 0 w 426"/>
                  <a:gd name="T13" fmla="*/ 0 h 684"/>
                  <a:gd name="T14" fmla="*/ 426 w 426"/>
                  <a:gd name="T15" fmla="*/ 684 h 684"/>
                </a:gdLst>
                <a:ahLst/>
                <a:cxnLst>
                  <a:cxn ang="T8">
                    <a:pos x="T0" y="T1"/>
                  </a:cxn>
                  <a:cxn ang="T9">
                    <a:pos x="T2" y="T3"/>
                  </a:cxn>
                  <a:cxn ang="T10">
                    <a:pos x="T4" y="T5"/>
                  </a:cxn>
                  <a:cxn ang="T11">
                    <a:pos x="T6" y="T7"/>
                  </a:cxn>
                </a:cxnLst>
                <a:rect l="T12" t="T13" r="T14" b="T15"/>
                <a:pathLst>
                  <a:path w="426" h="684">
                    <a:moveTo>
                      <a:pt x="0" y="684"/>
                    </a:moveTo>
                    <a:lnTo>
                      <a:pt x="0" y="6"/>
                    </a:lnTo>
                    <a:lnTo>
                      <a:pt x="426" y="672"/>
                    </a:lnTo>
                    <a:lnTo>
                      <a:pt x="426" y="0"/>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370" name="Freeform 15"/>
              <p:cNvSpPr>
                <a:spLocks noChangeAspect="1"/>
              </p:cNvSpPr>
              <p:nvPr/>
            </p:nvSpPr>
            <p:spPr bwMode="auto">
              <a:xfrm>
                <a:off x="809" y="1184"/>
                <a:ext cx="98" cy="133"/>
              </a:xfrm>
              <a:custGeom>
                <a:avLst/>
                <a:gdLst>
                  <a:gd name="T0" fmla="*/ 1 w 464"/>
                  <a:gd name="T1" fmla="*/ 0 h 632"/>
                  <a:gd name="T2" fmla="*/ 1 w 464"/>
                  <a:gd name="T3" fmla="*/ 0 h 632"/>
                  <a:gd name="T4" fmla="*/ 0 w 464"/>
                  <a:gd name="T5" fmla="*/ 0 h 632"/>
                  <a:gd name="T6" fmla="*/ 0 w 464"/>
                  <a:gd name="T7" fmla="*/ 0 h 632"/>
                  <a:gd name="T8" fmla="*/ 0 w 464"/>
                  <a:gd name="T9" fmla="*/ 1 h 632"/>
                  <a:gd name="T10" fmla="*/ 1 w 464"/>
                  <a:gd name="T11" fmla="*/ 1 h 632"/>
                  <a:gd name="T12" fmla="*/ 1 w 464"/>
                  <a:gd name="T13" fmla="*/ 1 h 632"/>
                  <a:gd name="T14" fmla="*/ 0 w 464"/>
                  <a:gd name="T15" fmla="*/ 1 h 632"/>
                  <a:gd name="T16" fmla="*/ 0 w 464"/>
                  <a:gd name="T17" fmla="*/ 1 h 632"/>
                  <a:gd name="T18" fmla="*/ 0 w 464"/>
                  <a:gd name="T19" fmla="*/ 1 h 63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64"/>
                  <a:gd name="T31" fmla="*/ 0 h 632"/>
                  <a:gd name="T32" fmla="*/ 464 w 464"/>
                  <a:gd name="T33" fmla="*/ 632 h 63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64" h="632">
                    <a:moveTo>
                      <a:pt x="414" y="178"/>
                    </a:moveTo>
                    <a:cubicBezTo>
                      <a:pt x="403" y="157"/>
                      <a:pt x="387" y="80"/>
                      <a:pt x="348" y="52"/>
                    </a:cubicBezTo>
                    <a:cubicBezTo>
                      <a:pt x="309" y="24"/>
                      <a:pt x="233" y="0"/>
                      <a:pt x="180" y="10"/>
                    </a:cubicBezTo>
                    <a:cubicBezTo>
                      <a:pt x="127" y="20"/>
                      <a:pt x="47" y="69"/>
                      <a:pt x="30" y="112"/>
                    </a:cubicBezTo>
                    <a:cubicBezTo>
                      <a:pt x="13" y="155"/>
                      <a:pt x="15" y="223"/>
                      <a:pt x="78" y="268"/>
                    </a:cubicBezTo>
                    <a:cubicBezTo>
                      <a:pt x="141" y="313"/>
                      <a:pt x="352" y="333"/>
                      <a:pt x="408" y="382"/>
                    </a:cubicBezTo>
                    <a:cubicBezTo>
                      <a:pt x="464" y="431"/>
                      <a:pt x="440" y="521"/>
                      <a:pt x="414" y="562"/>
                    </a:cubicBezTo>
                    <a:cubicBezTo>
                      <a:pt x="388" y="603"/>
                      <a:pt x="311" y="624"/>
                      <a:pt x="252" y="628"/>
                    </a:cubicBezTo>
                    <a:cubicBezTo>
                      <a:pt x="193" y="632"/>
                      <a:pt x="102" y="615"/>
                      <a:pt x="60" y="586"/>
                    </a:cubicBezTo>
                    <a:cubicBezTo>
                      <a:pt x="18" y="557"/>
                      <a:pt x="12" y="481"/>
                      <a:pt x="0" y="454"/>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7371" name="Group 16"/>
              <p:cNvGrpSpPr>
                <a:grpSpLocks noChangeAspect="1"/>
              </p:cNvGrpSpPr>
              <p:nvPr/>
            </p:nvGrpSpPr>
            <p:grpSpPr bwMode="auto">
              <a:xfrm>
                <a:off x="950" y="1190"/>
                <a:ext cx="80" cy="127"/>
                <a:chOff x="3653" y="1343"/>
                <a:chExt cx="384" cy="612"/>
              </a:xfrm>
            </p:grpSpPr>
            <p:sp>
              <p:nvSpPr>
                <p:cNvPr id="147376" name="Freeform 17"/>
                <p:cNvSpPr>
                  <a:spLocks noChangeAspect="1"/>
                </p:cNvSpPr>
                <p:nvPr/>
              </p:nvSpPr>
              <p:spPr bwMode="auto">
                <a:xfrm>
                  <a:off x="3653" y="1343"/>
                  <a:ext cx="384" cy="612"/>
                </a:xfrm>
                <a:custGeom>
                  <a:avLst/>
                  <a:gdLst>
                    <a:gd name="T0" fmla="*/ 384 w 384"/>
                    <a:gd name="T1" fmla="*/ 0 h 612"/>
                    <a:gd name="T2" fmla="*/ 0 w 384"/>
                    <a:gd name="T3" fmla="*/ 0 h 612"/>
                    <a:gd name="T4" fmla="*/ 0 w 384"/>
                    <a:gd name="T5" fmla="*/ 612 h 612"/>
                    <a:gd name="T6" fmla="*/ 0 60000 65536"/>
                    <a:gd name="T7" fmla="*/ 0 60000 65536"/>
                    <a:gd name="T8" fmla="*/ 0 60000 65536"/>
                    <a:gd name="T9" fmla="*/ 0 w 384"/>
                    <a:gd name="T10" fmla="*/ 0 h 612"/>
                    <a:gd name="T11" fmla="*/ 384 w 384"/>
                    <a:gd name="T12" fmla="*/ 612 h 612"/>
                  </a:gdLst>
                  <a:ahLst/>
                  <a:cxnLst>
                    <a:cxn ang="T6">
                      <a:pos x="T0" y="T1"/>
                    </a:cxn>
                    <a:cxn ang="T7">
                      <a:pos x="T2" y="T3"/>
                    </a:cxn>
                    <a:cxn ang="T8">
                      <a:pos x="T4" y="T5"/>
                    </a:cxn>
                  </a:cxnLst>
                  <a:rect l="T9" t="T10" r="T11" b="T12"/>
                  <a:pathLst>
                    <a:path w="384" h="612">
                      <a:moveTo>
                        <a:pt x="384" y="0"/>
                      </a:moveTo>
                      <a:lnTo>
                        <a:pt x="0" y="0"/>
                      </a:lnTo>
                      <a:lnTo>
                        <a:pt x="0" y="612"/>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377" name="Line 18"/>
                <p:cNvSpPr>
                  <a:spLocks noChangeAspect="1" noChangeShapeType="1"/>
                </p:cNvSpPr>
                <p:nvPr/>
              </p:nvSpPr>
              <p:spPr bwMode="auto">
                <a:xfrm flipH="1">
                  <a:off x="3653" y="1637"/>
                  <a:ext cx="324" cy="0"/>
                </a:xfrm>
                <a:prstGeom prst="line">
                  <a:avLst/>
                </a:prstGeom>
                <a:noFill/>
                <a:ln w="63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47372" name="Group 19"/>
              <p:cNvGrpSpPr>
                <a:grpSpLocks noChangeAspect="1"/>
              </p:cNvGrpSpPr>
              <p:nvPr/>
            </p:nvGrpSpPr>
            <p:grpSpPr bwMode="auto">
              <a:xfrm>
                <a:off x="1073" y="1190"/>
                <a:ext cx="87" cy="127"/>
                <a:chOff x="3017" y="1343"/>
                <a:chExt cx="420" cy="612"/>
              </a:xfrm>
            </p:grpSpPr>
            <p:sp>
              <p:nvSpPr>
                <p:cNvPr id="147374" name="Freeform 20"/>
                <p:cNvSpPr>
                  <a:spLocks noChangeAspect="1"/>
                </p:cNvSpPr>
                <p:nvPr/>
              </p:nvSpPr>
              <p:spPr bwMode="auto">
                <a:xfrm>
                  <a:off x="3017" y="1343"/>
                  <a:ext cx="420" cy="612"/>
                </a:xfrm>
                <a:custGeom>
                  <a:avLst/>
                  <a:gdLst>
                    <a:gd name="T0" fmla="*/ 420 w 420"/>
                    <a:gd name="T1" fmla="*/ 606 h 612"/>
                    <a:gd name="T2" fmla="*/ 0 w 420"/>
                    <a:gd name="T3" fmla="*/ 612 h 612"/>
                    <a:gd name="T4" fmla="*/ 6 w 420"/>
                    <a:gd name="T5" fmla="*/ 0 h 612"/>
                    <a:gd name="T6" fmla="*/ 402 w 420"/>
                    <a:gd name="T7" fmla="*/ 0 h 612"/>
                    <a:gd name="T8" fmla="*/ 0 60000 65536"/>
                    <a:gd name="T9" fmla="*/ 0 60000 65536"/>
                    <a:gd name="T10" fmla="*/ 0 60000 65536"/>
                    <a:gd name="T11" fmla="*/ 0 60000 65536"/>
                    <a:gd name="T12" fmla="*/ 0 w 420"/>
                    <a:gd name="T13" fmla="*/ 0 h 612"/>
                    <a:gd name="T14" fmla="*/ 420 w 420"/>
                    <a:gd name="T15" fmla="*/ 612 h 612"/>
                  </a:gdLst>
                  <a:ahLst/>
                  <a:cxnLst>
                    <a:cxn ang="T8">
                      <a:pos x="T0" y="T1"/>
                    </a:cxn>
                    <a:cxn ang="T9">
                      <a:pos x="T2" y="T3"/>
                    </a:cxn>
                    <a:cxn ang="T10">
                      <a:pos x="T4" y="T5"/>
                    </a:cxn>
                    <a:cxn ang="T11">
                      <a:pos x="T6" y="T7"/>
                    </a:cxn>
                  </a:cxnLst>
                  <a:rect l="T12" t="T13" r="T14" b="T15"/>
                  <a:pathLst>
                    <a:path w="420" h="612">
                      <a:moveTo>
                        <a:pt x="420" y="606"/>
                      </a:moveTo>
                      <a:lnTo>
                        <a:pt x="0" y="612"/>
                      </a:lnTo>
                      <a:lnTo>
                        <a:pt x="6" y="0"/>
                      </a:lnTo>
                      <a:lnTo>
                        <a:pt x="402" y="0"/>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375" name="Line 21"/>
                <p:cNvSpPr>
                  <a:spLocks noChangeAspect="1" noChangeShapeType="1"/>
                </p:cNvSpPr>
                <p:nvPr/>
              </p:nvSpPr>
              <p:spPr bwMode="auto">
                <a:xfrm>
                  <a:off x="3017" y="1637"/>
                  <a:ext cx="378" cy="0"/>
                </a:xfrm>
                <a:prstGeom prst="line">
                  <a:avLst/>
                </a:prstGeom>
                <a:noFill/>
                <a:ln w="63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47373" name="Freeform 22"/>
              <p:cNvSpPr>
                <a:spLocks noChangeAspect="1"/>
              </p:cNvSpPr>
              <p:nvPr/>
            </p:nvSpPr>
            <p:spPr bwMode="auto">
              <a:xfrm>
                <a:off x="1203" y="1182"/>
                <a:ext cx="98" cy="135"/>
              </a:xfrm>
              <a:custGeom>
                <a:avLst/>
                <a:gdLst>
                  <a:gd name="T0" fmla="*/ 0 w 468"/>
                  <a:gd name="T1" fmla="*/ 1 h 642"/>
                  <a:gd name="T2" fmla="*/ 0 w 468"/>
                  <a:gd name="T3" fmla="*/ 0 h 642"/>
                  <a:gd name="T4" fmla="*/ 0 w 468"/>
                  <a:gd name="T5" fmla="*/ 0 h 642"/>
                  <a:gd name="T6" fmla="*/ 1 w 468"/>
                  <a:gd name="T7" fmla="*/ 0 h 642"/>
                  <a:gd name="T8" fmla="*/ 1 w 468"/>
                  <a:gd name="T9" fmla="*/ 0 h 642"/>
                  <a:gd name="T10" fmla="*/ 0 w 468"/>
                  <a:gd name="T11" fmla="*/ 1 h 642"/>
                  <a:gd name="T12" fmla="*/ 0 w 468"/>
                  <a:gd name="T13" fmla="*/ 1 h 642"/>
                  <a:gd name="T14" fmla="*/ 0 w 468"/>
                  <a:gd name="T15" fmla="*/ 1 h 642"/>
                  <a:gd name="T16" fmla="*/ 1 w 468"/>
                  <a:gd name="T17" fmla="*/ 1 h 6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68"/>
                  <a:gd name="T28" fmla="*/ 0 h 642"/>
                  <a:gd name="T29" fmla="*/ 468 w 468"/>
                  <a:gd name="T30" fmla="*/ 642 h 64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68" h="642">
                    <a:moveTo>
                      <a:pt x="6" y="636"/>
                    </a:moveTo>
                    <a:lnTo>
                      <a:pt x="0" y="0"/>
                    </a:lnTo>
                    <a:lnTo>
                      <a:pt x="234" y="0"/>
                    </a:lnTo>
                    <a:cubicBezTo>
                      <a:pt x="303" y="11"/>
                      <a:pt x="386" y="26"/>
                      <a:pt x="414" y="66"/>
                    </a:cubicBezTo>
                    <a:cubicBezTo>
                      <a:pt x="442" y="106"/>
                      <a:pt x="436" y="200"/>
                      <a:pt x="402" y="240"/>
                    </a:cubicBezTo>
                    <a:cubicBezTo>
                      <a:pt x="368" y="280"/>
                      <a:pt x="277" y="295"/>
                      <a:pt x="210" y="306"/>
                    </a:cubicBezTo>
                    <a:lnTo>
                      <a:pt x="0" y="306"/>
                    </a:lnTo>
                    <a:lnTo>
                      <a:pt x="216" y="312"/>
                    </a:lnTo>
                    <a:cubicBezTo>
                      <a:pt x="294" y="368"/>
                      <a:pt x="426" y="587"/>
                      <a:pt x="468" y="642"/>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147209" name="Group 23"/>
            <p:cNvGrpSpPr>
              <a:grpSpLocks noChangeAspect="1"/>
            </p:cNvGrpSpPr>
            <p:nvPr/>
          </p:nvGrpSpPr>
          <p:grpSpPr bwMode="auto">
            <a:xfrm>
              <a:off x="3439" y="1808"/>
              <a:ext cx="144" cy="26"/>
              <a:chOff x="168" y="32"/>
              <a:chExt cx="748" cy="135"/>
            </a:xfrm>
          </p:grpSpPr>
          <p:sp>
            <p:nvSpPr>
              <p:cNvPr id="147354" name="Freeform 24"/>
              <p:cNvSpPr>
                <a:spLocks noChangeAspect="1"/>
              </p:cNvSpPr>
              <p:nvPr/>
            </p:nvSpPr>
            <p:spPr bwMode="auto">
              <a:xfrm>
                <a:off x="168" y="40"/>
                <a:ext cx="92" cy="127"/>
              </a:xfrm>
              <a:custGeom>
                <a:avLst/>
                <a:gdLst>
                  <a:gd name="T0" fmla="*/ 0 w 442"/>
                  <a:gd name="T1" fmla="*/ 0 h 612"/>
                  <a:gd name="T2" fmla="*/ 0 w 442"/>
                  <a:gd name="T3" fmla="*/ 1 h 612"/>
                  <a:gd name="T4" fmla="*/ 0 w 442"/>
                  <a:gd name="T5" fmla="*/ 1 h 612"/>
                  <a:gd name="T6" fmla="*/ 1 w 442"/>
                  <a:gd name="T7" fmla="*/ 1 h 612"/>
                  <a:gd name="T8" fmla="*/ 1 w 442"/>
                  <a:gd name="T9" fmla="*/ 1 h 612"/>
                  <a:gd name="T10" fmla="*/ 0 w 442"/>
                  <a:gd name="T11" fmla="*/ 1 h 612"/>
                  <a:gd name="T12" fmla="*/ 0 w 442"/>
                  <a:gd name="T13" fmla="*/ 0 h 612"/>
                  <a:gd name="T14" fmla="*/ 0 w 442"/>
                  <a:gd name="T15" fmla="*/ 0 h 612"/>
                  <a:gd name="T16" fmla="*/ 1 w 442"/>
                  <a:gd name="T17" fmla="*/ 0 h 612"/>
                  <a:gd name="T18" fmla="*/ 1 w 442"/>
                  <a:gd name="T19" fmla="*/ 0 h 612"/>
                  <a:gd name="T20" fmla="*/ 0 w 442"/>
                  <a:gd name="T21" fmla="*/ 0 h 612"/>
                  <a:gd name="T22" fmla="*/ 0 w 442"/>
                  <a:gd name="T23" fmla="*/ 0 h 61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42"/>
                  <a:gd name="T37" fmla="*/ 0 h 612"/>
                  <a:gd name="T38" fmla="*/ 442 w 442"/>
                  <a:gd name="T39" fmla="*/ 612 h 61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42" h="612">
                    <a:moveTo>
                      <a:pt x="0" y="0"/>
                    </a:moveTo>
                    <a:lnTo>
                      <a:pt x="0" y="612"/>
                    </a:lnTo>
                    <a:lnTo>
                      <a:pt x="288" y="612"/>
                    </a:lnTo>
                    <a:cubicBezTo>
                      <a:pt x="356" y="602"/>
                      <a:pt x="386" y="589"/>
                      <a:pt x="408" y="552"/>
                    </a:cubicBezTo>
                    <a:cubicBezTo>
                      <a:pt x="430" y="515"/>
                      <a:pt x="442" y="433"/>
                      <a:pt x="420" y="390"/>
                    </a:cubicBezTo>
                    <a:cubicBezTo>
                      <a:pt x="398" y="347"/>
                      <a:pt x="346" y="311"/>
                      <a:pt x="276" y="294"/>
                    </a:cubicBezTo>
                    <a:lnTo>
                      <a:pt x="0" y="288"/>
                    </a:lnTo>
                    <a:lnTo>
                      <a:pt x="288" y="288"/>
                    </a:lnTo>
                    <a:cubicBezTo>
                      <a:pt x="355" y="269"/>
                      <a:pt x="387" y="213"/>
                      <a:pt x="402" y="174"/>
                    </a:cubicBezTo>
                    <a:cubicBezTo>
                      <a:pt x="417" y="135"/>
                      <a:pt x="403" y="83"/>
                      <a:pt x="378" y="54"/>
                    </a:cubicBezTo>
                    <a:cubicBezTo>
                      <a:pt x="353" y="25"/>
                      <a:pt x="315" y="9"/>
                      <a:pt x="252" y="0"/>
                    </a:cubicBezTo>
                    <a:lnTo>
                      <a:pt x="0" y="0"/>
                    </a:lnTo>
                    <a:close/>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355" name="Freeform 25"/>
              <p:cNvSpPr>
                <a:spLocks noChangeAspect="1"/>
              </p:cNvSpPr>
              <p:nvPr/>
            </p:nvSpPr>
            <p:spPr bwMode="auto">
              <a:xfrm>
                <a:off x="303" y="43"/>
                <a:ext cx="92" cy="124"/>
              </a:xfrm>
              <a:custGeom>
                <a:avLst/>
                <a:gdLst>
                  <a:gd name="T0" fmla="*/ 3 w 285"/>
                  <a:gd name="T1" fmla="*/ 0 h 383"/>
                  <a:gd name="T2" fmla="*/ 3 w 285"/>
                  <a:gd name="T3" fmla="*/ 2 h 383"/>
                  <a:gd name="T4" fmla="*/ 3 w 285"/>
                  <a:gd name="T5" fmla="*/ 4 h 383"/>
                  <a:gd name="T6" fmla="*/ 2 w 285"/>
                  <a:gd name="T7" fmla="*/ 4 h 383"/>
                  <a:gd name="T8" fmla="*/ 0 w 285"/>
                  <a:gd name="T9" fmla="*/ 4 h 383"/>
                  <a:gd name="T10" fmla="*/ 0 w 285"/>
                  <a:gd name="T11" fmla="*/ 2 h 383"/>
                  <a:gd name="T12" fmla="*/ 0 w 285"/>
                  <a:gd name="T13" fmla="*/ 0 h 383"/>
                  <a:gd name="T14" fmla="*/ 0 60000 65536"/>
                  <a:gd name="T15" fmla="*/ 0 60000 65536"/>
                  <a:gd name="T16" fmla="*/ 0 60000 65536"/>
                  <a:gd name="T17" fmla="*/ 0 60000 65536"/>
                  <a:gd name="T18" fmla="*/ 0 60000 65536"/>
                  <a:gd name="T19" fmla="*/ 0 60000 65536"/>
                  <a:gd name="T20" fmla="*/ 0 60000 65536"/>
                  <a:gd name="T21" fmla="*/ 0 w 285"/>
                  <a:gd name="T22" fmla="*/ 0 h 383"/>
                  <a:gd name="T23" fmla="*/ 285 w 285"/>
                  <a:gd name="T24" fmla="*/ 383 h 38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85" h="383">
                    <a:moveTo>
                      <a:pt x="283" y="3"/>
                    </a:moveTo>
                    <a:cubicBezTo>
                      <a:pt x="283" y="37"/>
                      <a:pt x="285" y="147"/>
                      <a:pt x="279" y="203"/>
                    </a:cubicBezTo>
                    <a:cubicBezTo>
                      <a:pt x="273" y="259"/>
                      <a:pt x="272" y="309"/>
                      <a:pt x="247" y="339"/>
                    </a:cubicBezTo>
                    <a:cubicBezTo>
                      <a:pt x="222" y="369"/>
                      <a:pt x="167" y="383"/>
                      <a:pt x="130" y="382"/>
                    </a:cubicBezTo>
                    <a:cubicBezTo>
                      <a:pt x="93" y="381"/>
                      <a:pt x="48" y="356"/>
                      <a:pt x="27" y="330"/>
                    </a:cubicBezTo>
                    <a:cubicBezTo>
                      <a:pt x="6" y="303"/>
                      <a:pt x="8" y="276"/>
                      <a:pt x="4" y="221"/>
                    </a:cubicBezTo>
                    <a:cubicBezTo>
                      <a:pt x="0" y="167"/>
                      <a:pt x="4" y="37"/>
                      <a:pt x="4" y="0"/>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7356" name="Group 26"/>
              <p:cNvGrpSpPr>
                <a:grpSpLocks noChangeAspect="1"/>
              </p:cNvGrpSpPr>
              <p:nvPr/>
            </p:nvGrpSpPr>
            <p:grpSpPr bwMode="auto">
              <a:xfrm>
                <a:off x="563" y="40"/>
                <a:ext cx="80" cy="127"/>
                <a:chOff x="3653" y="1343"/>
                <a:chExt cx="384" cy="612"/>
              </a:xfrm>
            </p:grpSpPr>
            <p:sp>
              <p:nvSpPr>
                <p:cNvPr id="147364" name="Freeform 27"/>
                <p:cNvSpPr>
                  <a:spLocks noChangeAspect="1"/>
                </p:cNvSpPr>
                <p:nvPr/>
              </p:nvSpPr>
              <p:spPr bwMode="auto">
                <a:xfrm>
                  <a:off x="3653" y="1343"/>
                  <a:ext cx="384" cy="612"/>
                </a:xfrm>
                <a:custGeom>
                  <a:avLst/>
                  <a:gdLst>
                    <a:gd name="T0" fmla="*/ 384 w 384"/>
                    <a:gd name="T1" fmla="*/ 0 h 612"/>
                    <a:gd name="T2" fmla="*/ 0 w 384"/>
                    <a:gd name="T3" fmla="*/ 0 h 612"/>
                    <a:gd name="T4" fmla="*/ 0 w 384"/>
                    <a:gd name="T5" fmla="*/ 612 h 612"/>
                    <a:gd name="T6" fmla="*/ 0 60000 65536"/>
                    <a:gd name="T7" fmla="*/ 0 60000 65536"/>
                    <a:gd name="T8" fmla="*/ 0 60000 65536"/>
                    <a:gd name="T9" fmla="*/ 0 w 384"/>
                    <a:gd name="T10" fmla="*/ 0 h 612"/>
                    <a:gd name="T11" fmla="*/ 384 w 384"/>
                    <a:gd name="T12" fmla="*/ 612 h 612"/>
                  </a:gdLst>
                  <a:ahLst/>
                  <a:cxnLst>
                    <a:cxn ang="T6">
                      <a:pos x="T0" y="T1"/>
                    </a:cxn>
                    <a:cxn ang="T7">
                      <a:pos x="T2" y="T3"/>
                    </a:cxn>
                    <a:cxn ang="T8">
                      <a:pos x="T4" y="T5"/>
                    </a:cxn>
                  </a:cxnLst>
                  <a:rect l="T9" t="T10" r="T11" b="T12"/>
                  <a:pathLst>
                    <a:path w="384" h="612">
                      <a:moveTo>
                        <a:pt x="384" y="0"/>
                      </a:moveTo>
                      <a:lnTo>
                        <a:pt x="0" y="0"/>
                      </a:lnTo>
                      <a:lnTo>
                        <a:pt x="0" y="612"/>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365" name="Line 28"/>
                <p:cNvSpPr>
                  <a:spLocks noChangeAspect="1" noChangeShapeType="1"/>
                </p:cNvSpPr>
                <p:nvPr/>
              </p:nvSpPr>
              <p:spPr bwMode="auto">
                <a:xfrm flipH="1">
                  <a:off x="3653" y="1637"/>
                  <a:ext cx="324" cy="0"/>
                </a:xfrm>
                <a:prstGeom prst="line">
                  <a:avLst/>
                </a:prstGeom>
                <a:noFill/>
                <a:ln w="63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47357" name="Group 29"/>
              <p:cNvGrpSpPr>
                <a:grpSpLocks noChangeAspect="1"/>
              </p:cNvGrpSpPr>
              <p:nvPr/>
            </p:nvGrpSpPr>
            <p:grpSpPr bwMode="auto">
              <a:xfrm>
                <a:off x="439" y="40"/>
                <a:ext cx="80" cy="127"/>
                <a:chOff x="3653" y="1343"/>
                <a:chExt cx="384" cy="612"/>
              </a:xfrm>
            </p:grpSpPr>
            <p:sp>
              <p:nvSpPr>
                <p:cNvPr id="147362" name="Freeform 30"/>
                <p:cNvSpPr>
                  <a:spLocks noChangeAspect="1"/>
                </p:cNvSpPr>
                <p:nvPr/>
              </p:nvSpPr>
              <p:spPr bwMode="auto">
                <a:xfrm>
                  <a:off x="3653" y="1343"/>
                  <a:ext cx="384" cy="612"/>
                </a:xfrm>
                <a:custGeom>
                  <a:avLst/>
                  <a:gdLst>
                    <a:gd name="T0" fmla="*/ 384 w 384"/>
                    <a:gd name="T1" fmla="*/ 0 h 612"/>
                    <a:gd name="T2" fmla="*/ 0 w 384"/>
                    <a:gd name="T3" fmla="*/ 0 h 612"/>
                    <a:gd name="T4" fmla="*/ 0 w 384"/>
                    <a:gd name="T5" fmla="*/ 612 h 612"/>
                    <a:gd name="T6" fmla="*/ 0 60000 65536"/>
                    <a:gd name="T7" fmla="*/ 0 60000 65536"/>
                    <a:gd name="T8" fmla="*/ 0 60000 65536"/>
                    <a:gd name="T9" fmla="*/ 0 w 384"/>
                    <a:gd name="T10" fmla="*/ 0 h 612"/>
                    <a:gd name="T11" fmla="*/ 384 w 384"/>
                    <a:gd name="T12" fmla="*/ 612 h 612"/>
                  </a:gdLst>
                  <a:ahLst/>
                  <a:cxnLst>
                    <a:cxn ang="T6">
                      <a:pos x="T0" y="T1"/>
                    </a:cxn>
                    <a:cxn ang="T7">
                      <a:pos x="T2" y="T3"/>
                    </a:cxn>
                    <a:cxn ang="T8">
                      <a:pos x="T4" y="T5"/>
                    </a:cxn>
                  </a:cxnLst>
                  <a:rect l="T9" t="T10" r="T11" b="T12"/>
                  <a:pathLst>
                    <a:path w="384" h="612">
                      <a:moveTo>
                        <a:pt x="384" y="0"/>
                      </a:moveTo>
                      <a:lnTo>
                        <a:pt x="0" y="0"/>
                      </a:lnTo>
                      <a:lnTo>
                        <a:pt x="0" y="612"/>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363" name="Line 31"/>
                <p:cNvSpPr>
                  <a:spLocks noChangeAspect="1" noChangeShapeType="1"/>
                </p:cNvSpPr>
                <p:nvPr/>
              </p:nvSpPr>
              <p:spPr bwMode="auto">
                <a:xfrm flipH="1">
                  <a:off x="3653" y="1637"/>
                  <a:ext cx="324" cy="0"/>
                </a:xfrm>
                <a:prstGeom prst="line">
                  <a:avLst/>
                </a:prstGeom>
                <a:noFill/>
                <a:ln w="63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47358" name="Group 32"/>
              <p:cNvGrpSpPr>
                <a:grpSpLocks noChangeAspect="1"/>
              </p:cNvGrpSpPr>
              <p:nvPr/>
            </p:nvGrpSpPr>
            <p:grpSpPr bwMode="auto">
              <a:xfrm>
                <a:off x="687" y="40"/>
                <a:ext cx="87" cy="127"/>
                <a:chOff x="3017" y="1343"/>
                <a:chExt cx="420" cy="612"/>
              </a:xfrm>
            </p:grpSpPr>
            <p:sp>
              <p:nvSpPr>
                <p:cNvPr id="147360" name="Freeform 33"/>
                <p:cNvSpPr>
                  <a:spLocks noChangeAspect="1"/>
                </p:cNvSpPr>
                <p:nvPr/>
              </p:nvSpPr>
              <p:spPr bwMode="auto">
                <a:xfrm>
                  <a:off x="3017" y="1343"/>
                  <a:ext cx="420" cy="612"/>
                </a:xfrm>
                <a:custGeom>
                  <a:avLst/>
                  <a:gdLst>
                    <a:gd name="T0" fmla="*/ 420 w 420"/>
                    <a:gd name="T1" fmla="*/ 606 h 612"/>
                    <a:gd name="T2" fmla="*/ 0 w 420"/>
                    <a:gd name="T3" fmla="*/ 612 h 612"/>
                    <a:gd name="T4" fmla="*/ 6 w 420"/>
                    <a:gd name="T5" fmla="*/ 0 h 612"/>
                    <a:gd name="T6" fmla="*/ 402 w 420"/>
                    <a:gd name="T7" fmla="*/ 0 h 612"/>
                    <a:gd name="T8" fmla="*/ 0 60000 65536"/>
                    <a:gd name="T9" fmla="*/ 0 60000 65536"/>
                    <a:gd name="T10" fmla="*/ 0 60000 65536"/>
                    <a:gd name="T11" fmla="*/ 0 60000 65536"/>
                    <a:gd name="T12" fmla="*/ 0 w 420"/>
                    <a:gd name="T13" fmla="*/ 0 h 612"/>
                    <a:gd name="T14" fmla="*/ 420 w 420"/>
                    <a:gd name="T15" fmla="*/ 612 h 612"/>
                  </a:gdLst>
                  <a:ahLst/>
                  <a:cxnLst>
                    <a:cxn ang="T8">
                      <a:pos x="T0" y="T1"/>
                    </a:cxn>
                    <a:cxn ang="T9">
                      <a:pos x="T2" y="T3"/>
                    </a:cxn>
                    <a:cxn ang="T10">
                      <a:pos x="T4" y="T5"/>
                    </a:cxn>
                    <a:cxn ang="T11">
                      <a:pos x="T6" y="T7"/>
                    </a:cxn>
                  </a:cxnLst>
                  <a:rect l="T12" t="T13" r="T14" b="T15"/>
                  <a:pathLst>
                    <a:path w="420" h="612">
                      <a:moveTo>
                        <a:pt x="420" y="606"/>
                      </a:moveTo>
                      <a:lnTo>
                        <a:pt x="0" y="612"/>
                      </a:lnTo>
                      <a:lnTo>
                        <a:pt x="6" y="0"/>
                      </a:lnTo>
                      <a:lnTo>
                        <a:pt x="402" y="0"/>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361" name="Line 34"/>
                <p:cNvSpPr>
                  <a:spLocks noChangeAspect="1" noChangeShapeType="1"/>
                </p:cNvSpPr>
                <p:nvPr/>
              </p:nvSpPr>
              <p:spPr bwMode="auto">
                <a:xfrm>
                  <a:off x="3017" y="1637"/>
                  <a:ext cx="378" cy="0"/>
                </a:xfrm>
                <a:prstGeom prst="line">
                  <a:avLst/>
                </a:prstGeom>
                <a:noFill/>
                <a:ln w="63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47359" name="Freeform 35"/>
              <p:cNvSpPr>
                <a:spLocks noChangeAspect="1"/>
              </p:cNvSpPr>
              <p:nvPr/>
            </p:nvSpPr>
            <p:spPr bwMode="auto">
              <a:xfrm>
                <a:off x="818" y="32"/>
                <a:ext cx="98" cy="135"/>
              </a:xfrm>
              <a:custGeom>
                <a:avLst/>
                <a:gdLst>
                  <a:gd name="T0" fmla="*/ 0 w 468"/>
                  <a:gd name="T1" fmla="*/ 1 h 642"/>
                  <a:gd name="T2" fmla="*/ 0 w 468"/>
                  <a:gd name="T3" fmla="*/ 0 h 642"/>
                  <a:gd name="T4" fmla="*/ 0 w 468"/>
                  <a:gd name="T5" fmla="*/ 0 h 642"/>
                  <a:gd name="T6" fmla="*/ 1 w 468"/>
                  <a:gd name="T7" fmla="*/ 0 h 642"/>
                  <a:gd name="T8" fmla="*/ 1 w 468"/>
                  <a:gd name="T9" fmla="*/ 0 h 642"/>
                  <a:gd name="T10" fmla="*/ 0 w 468"/>
                  <a:gd name="T11" fmla="*/ 1 h 642"/>
                  <a:gd name="T12" fmla="*/ 0 w 468"/>
                  <a:gd name="T13" fmla="*/ 1 h 642"/>
                  <a:gd name="T14" fmla="*/ 0 w 468"/>
                  <a:gd name="T15" fmla="*/ 1 h 642"/>
                  <a:gd name="T16" fmla="*/ 1 w 468"/>
                  <a:gd name="T17" fmla="*/ 1 h 6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68"/>
                  <a:gd name="T28" fmla="*/ 0 h 642"/>
                  <a:gd name="T29" fmla="*/ 468 w 468"/>
                  <a:gd name="T30" fmla="*/ 642 h 64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68" h="642">
                    <a:moveTo>
                      <a:pt x="6" y="636"/>
                    </a:moveTo>
                    <a:lnTo>
                      <a:pt x="0" y="0"/>
                    </a:lnTo>
                    <a:lnTo>
                      <a:pt x="234" y="0"/>
                    </a:lnTo>
                    <a:cubicBezTo>
                      <a:pt x="303" y="11"/>
                      <a:pt x="386" y="26"/>
                      <a:pt x="414" y="66"/>
                    </a:cubicBezTo>
                    <a:cubicBezTo>
                      <a:pt x="442" y="106"/>
                      <a:pt x="436" y="200"/>
                      <a:pt x="402" y="240"/>
                    </a:cubicBezTo>
                    <a:cubicBezTo>
                      <a:pt x="368" y="280"/>
                      <a:pt x="277" y="295"/>
                      <a:pt x="210" y="306"/>
                    </a:cubicBezTo>
                    <a:lnTo>
                      <a:pt x="0" y="306"/>
                    </a:lnTo>
                    <a:lnTo>
                      <a:pt x="216" y="312"/>
                    </a:lnTo>
                    <a:cubicBezTo>
                      <a:pt x="294" y="368"/>
                      <a:pt x="426" y="587"/>
                      <a:pt x="468" y="642"/>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47210" name="Freeform 36"/>
            <p:cNvSpPr>
              <a:spLocks noChangeAspect="1"/>
            </p:cNvSpPr>
            <p:nvPr/>
          </p:nvSpPr>
          <p:spPr bwMode="auto">
            <a:xfrm>
              <a:off x="2235" y="1683"/>
              <a:ext cx="1201" cy="169"/>
            </a:xfrm>
            <a:custGeom>
              <a:avLst/>
              <a:gdLst>
                <a:gd name="T0" fmla="*/ 0 w 2394"/>
                <a:gd name="T1" fmla="*/ 20 h 337"/>
                <a:gd name="T2" fmla="*/ 12 w 2394"/>
                <a:gd name="T3" fmla="*/ 16 h 337"/>
                <a:gd name="T4" fmla="*/ 15 w 2394"/>
                <a:gd name="T5" fmla="*/ 4 h 337"/>
                <a:gd name="T6" fmla="*/ 18 w 2394"/>
                <a:gd name="T7" fmla="*/ 1 h 337"/>
                <a:gd name="T8" fmla="*/ 25 w 2394"/>
                <a:gd name="T9" fmla="*/ 1 h 337"/>
                <a:gd name="T10" fmla="*/ 131 w 2394"/>
                <a:gd name="T11" fmla="*/ 1 h 337"/>
                <a:gd name="T12" fmla="*/ 133 w 2394"/>
                <a:gd name="T13" fmla="*/ 1 h 337"/>
                <a:gd name="T14" fmla="*/ 133 w 2394"/>
                <a:gd name="T15" fmla="*/ 4 h 337"/>
                <a:gd name="T16" fmla="*/ 138 w 2394"/>
                <a:gd name="T17" fmla="*/ 17 h 337"/>
                <a:gd name="T18" fmla="*/ 152 w 2394"/>
                <a:gd name="T19" fmla="*/ 22 h 33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394"/>
                <a:gd name="T31" fmla="*/ 0 h 337"/>
                <a:gd name="T32" fmla="*/ 2394 w 2394"/>
                <a:gd name="T33" fmla="*/ 337 h 33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394" h="337">
                  <a:moveTo>
                    <a:pt x="0" y="307"/>
                  </a:moveTo>
                  <a:cubicBezTo>
                    <a:pt x="30" y="298"/>
                    <a:pt x="141" y="294"/>
                    <a:pt x="180" y="253"/>
                  </a:cubicBezTo>
                  <a:cubicBezTo>
                    <a:pt x="219" y="212"/>
                    <a:pt x="217" y="102"/>
                    <a:pt x="234" y="61"/>
                  </a:cubicBezTo>
                  <a:cubicBezTo>
                    <a:pt x="251" y="20"/>
                    <a:pt x="257" y="16"/>
                    <a:pt x="282" y="7"/>
                  </a:cubicBezTo>
                  <a:lnTo>
                    <a:pt x="384" y="7"/>
                  </a:lnTo>
                  <a:cubicBezTo>
                    <a:pt x="682" y="6"/>
                    <a:pt x="1783" y="0"/>
                    <a:pt x="2070" y="1"/>
                  </a:cubicBezTo>
                  <a:lnTo>
                    <a:pt x="2106" y="13"/>
                  </a:lnTo>
                  <a:lnTo>
                    <a:pt x="2106" y="61"/>
                  </a:lnTo>
                  <a:cubicBezTo>
                    <a:pt x="2118" y="102"/>
                    <a:pt x="2130" y="213"/>
                    <a:pt x="2178" y="259"/>
                  </a:cubicBezTo>
                  <a:cubicBezTo>
                    <a:pt x="2226" y="305"/>
                    <a:pt x="2349" y="321"/>
                    <a:pt x="2394" y="337"/>
                  </a:cubicBezTo>
                </a:path>
              </a:pathLst>
            </a:custGeom>
            <a:noFill/>
            <a:ln w="38100">
              <a:solidFill>
                <a:srgbClr val="96969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47211" name="Freeform 37"/>
            <p:cNvSpPr>
              <a:spLocks noChangeAspect="1"/>
            </p:cNvSpPr>
            <p:nvPr/>
          </p:nvSpPr>
          <p:spPr bwMode="auto">
            <a:xfrm>
              <a:off x="2367" y="1554"/>
              <a:ext cx="910" cy="123"/>
            </a:xfrm>
            <a:custGeom>
              <a:avLst/>
              <a:gdLst>
                <a:gd name="T0" fmla="*/ 0 w 1812"/>
                <a:gd name="T1" fmla="*/ 0 h 246"/>
                <a:gd name="T2" fmla="*/ 0 w 1812"/>
                <a:gd name="T3" fmla="*/ 16 h 246"/>
                <a:gd name="T4" fmla="*/ 116 w 1812"/>
                <a:gd name="T5" fmla="*/ 16 h 246"/>
                <a:gd name="T6" fmla="*/ 116 w 1812"/>
                <a:gd name="T7" fmla="*/ 1 h 246"/>
                <a:gd name="T8" fmla="*/ 0 w 1812"/>
                <a:gd name="T9" fmla="*/ 0 h 246"/>
                <a:gd name="T10" fmla="*/ 0 60000 65536"/>
                <a:gd name="T11" fmla="*/ 0 60000 65536"/>
                <a:gd name="T12" fmla="*/ 0 60000 65536"/>
                <a:gd name="T13" fmla="*/ 0 60000 65536"/>
                <a:gd name="T14" fmla="*/ 0 60000 65536"/>
                <a:gd name="T15" fmla="*/ 0 w 1812"/>
                <a:gd name="T16" fmla="*/ 0 h 246"/>
                <a:gd name="T17" fmla="*/ 1812 w 1812"/>
                <a:gd name="T18" fmla="*/ 246 h 246"/>
              </a:gdLst>
              <a:ahLst/>
              <a:cxnLst>
                <a:cxn ang="T10">
                  <a:pos x="T0" y="T1"/>
                </a:cxn>
                <a:cxn ang="T11">
                  <a:pos x="T2" y="T3"/>
                </a:cxn>
                <a:cxn ang="T12">
                  <a:pos x="T4" y="T5"/>
                </a:cxn>
                <a:cxn ang="T13">
                  <a:pos x="T6" y="T7"/>
                </a:cxn>
                <a:cxn ang="T14">
                  <a:pos x="T8" y="T9"/>
                </a:cxn>
              </a:cxnLst>
              <a:rect l="T15" t="T16" r="T17" b="T18"/>
              <a:pathLst>
                <a:path w="1812" h="246">
                  <a:moveTo>
                    <a:pt x="0" y="0"/>
                  </a:moveTo>
                  <a:lnTo>
                    <a:pt x="0" y="246"/>
                  </a:lnTo>
                  <a:lnTo>
                    <a:pt x="1812" y="246"/>
                  </a:lnTo>
                  <a:lnTo>
                    <a:pt x="1812" y="6"/>
                  </a:lnTo>
                  <a:lnTo>
                    <a:pt x="0" y="0"/>
                  </a:lnTo>
                  <a:close/>
                </a:path>
              </a:pathLst>
            </a:custGeom>
            <a:solidFill>
              <a:srgbClr val="DDDDDD"/>
            </a:solidFill>
            <a:ln w="6350">
              <a:solidFill>
                <a:srgbClr val="C0C0C0"/>
              </a:solidFill>
              <a:round/>
            </a:ln>
          </p:spPr>
          <p:txBody>
            <a:bodyPr wrap="none" anchor="ctr"/>
            <a:lstStyle/>
            <a:p>
              <a:endParaRPr lang="zh-CN" altLang="en-US"/>
            </a:p>
          </p:txBody>
        </p:sp>
        <p:sp>
          <p:nvSpPr>
            <p:cNvPr id="147212" name="Line 38"/>
            <p:cNvSpPr>
              <a:spLocks noChangeAspect="1" noChangeShapeType="1"/>
            </p:cNvSpPr>
            <p:nvPr/>
          </p:nvSpPr>
          <p:spPr bwMode="auto">
            <a:xfrm>
              <a:off x="2367" y="1536"/>
              <a:ext cx="906" cy="0"/>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213" name="Line 39"/>
            <p:cNvSpPr>
              <a:spLocks noChangeAspect="1" noChangeShapeType="1"/>
            </p:cNvSpPr>
            <p:nvPr/>
          </p:nvSpPr>
          <p:spPr bwMode="auto">
            <a:xfrm>
              <a:off x="2367" y="1466"/>
              <a:ext cx="906" cy="0"/>
            </a:xfrm>
            <a:prstGeom prst="line">
              <a:avLst/>
            </a:prstGeom>
            <a:noFill/>
            <a:ln w="28575">
              <a:solidFill>
                <a:srgbClr val="969696"/>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214" name="Line 40"/>
            <p:cNvSpPr>
              <a:spLocks noChangeAspect="1" noChangeShapeType="1"/>
            </p:cNvSpPr>
            <p:nvPr/>
          </p:nvSpPr>
          <p:spPr bwMode="auto">
            <a:xfrm>
              <a:off x="2367" y="1489"/>
              <a:ext cx="906" cy="0"/>
            </a:xfrm>
            <a:prstGeom prst="line">
              <a:avLst/>
            </a:prstGeom>
            <a:noFill/>
            <a:ln w="28575">
              <a:solidFill>
                <a:srgbClr val="969696"/>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215" name="Line 41"/>
            <p:cNvSpPr>
              <a:spLocks noChangeAspect="1" noChangeShapeType="1"/>
            </p:cNvSpPr>
            <p:nvPr/>
          </p:nvSpPr>
          <p:spPr bwMode="auto">
            <a:xfrm>
              <a:off x="2367" y="1512"/>
              <a:ext cx="906" cy="0"/>
            </a:xfrm>
            <a:prstGeom prst="line">
              <a:avLst/>
            </a:prstGeom>
            <a:noFill/>
            <a:ln w="28575">
              <a:solidFill>
                <a:srgbClr val="969696"/>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216" name="Line 42"/>
            <p:cNvSpPr>
              <a:spLocks noChangeAspect="1" noChangeShapeType="1"/>
            </p:cNvSpPr>
            <p:nvPr/>
          </p:nvSpPr>
          <p:spPr bwMode="auto">
            <a:xfrm flipV="1">
              <a:off x="2322" y="1298"/>
              <a:ext cx="0" cy="377"/>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47217" name="Group 43"/>
            <p:cNvGrpSpPr>
              <a:grpSpLocks noChangeAspect="1"/>
            </p:cNvGrpSpPr>
            <p:nvPr/>
          </p:nvGrpSpPr>
          <p:grpSpPr bwMode="auto">
            <a:xfrm>
              <a:off x="2089" y="1376"/>
              <a:ext cx="217" cy="46"/>
              <a:chOff x="386" y="618"/>
              <a:chExt cx="860" cy="184"/>
            </a:xfrm>
          </p:grpSpPr>
          <p:sp>
            <p:nvSpPr>
              <p:cNvPr id="147339" name="Freeform 44"/>
              <p:cNvSpPr>
                <a:spLocks noChangeAspect="1"/>
              </p:cNvSpPr>
              <p:nvPr/>
            </p:nvSpPr>
            <p:spPr bwMode="auto">
              <a:xfrm>
                <a:off x="386" y="627"/>
                <a:ext cx="102" cy="127"/>
              </a:xfrm>
              <a:custGeom>
                <a:avLst/>
                <a:gdLst>
                  <a:gd name="T0" fmla="*/ 1 w 524"/>
                  <a:gd name="T1" fmla="*/ 0 h 653"/>
                  <a:gd name="T2" fmla="*/ 1 w 524"/>
                  <a:gd name="T3" fmla="*/ 0 h 653"/>
                  <a:gd name="T4" fmla="*/ 0 w 524"/>
                  <a:gd name="T5" fmla="*/ 0 h 653"/>
                  <a:gd name="T6" fmla="*/ 0 w 524"/>
                  <a:gd name="T7" fmla="*/ 0 h 653"/>
                  <a:gd name="T8" fmla="*/ 0 w 524"/>
                  <a:gd name="T9" fmla="*/ 1 h 653"/>
                  <a:gd name="T10" fmla="*/ 0 w 524"/>
                  <a:gd name="T11" fmla="*/ 1 h 653"/>
                  <a:gd name="T12" fmla="*/ 1 w 524"/>
                  <a:gd name="T13" fmla="*/ 1 h 653"/>
                  <a:gd name="T14" fmla="*/ 1 w 524"/>
                  <a:gd name="T15" fmla="*/ 1 h 653"/>
                  <a:gd name="T16" fmla="*/ 1 w 524"/>
                  <a:gd name="T17" fmla="*/ 1 h 65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24"/>
                  <a:gd name="T28" fmla="*/ 0 h 653"/>
                  <a:gd name="T29" fmla="*/ 524 w 524"/>
                  <a:gd name="T30" fmla="*/ 653 h 65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24" h="653">
                    <a:moveTo>
                      <a:pt x="506" y="171"/>
                    </a:moveTo>
                    <a:cubicBezTo>
                      <a:pt x="489" y="150"/>
                      <a:pt x="456" y="70"/>
                      <a:pt x="404" y="45"/>
                    </a:cubicBezTo>
                    <a:cubicBezTo>
                      <a:pt x="352" y="20"/>
                      <a:pt x="256" y="0"/>
                      <a:pt x="194" y="21"/>
                    </a:cubicBezTo>
                    <a:cubicBezTo>
                      <a:pt x="132" y="42"/>
                      <a:pt x="62" y="102"/>
                      <a:pt x="32" y="171"/>
                    </a:cubicBezTo>
                    <a:cubicBezTo>
                      <a:pt x="2" y="240"/>
                      <a:pt x="0" y="363"/>
                      <a:pt x="14" y="435"/>
                    </a:cubicBezTo>
                    <a:cubicBezTo>
                      <a:pt x="28" y="507"/>
                      <a:pt x="62" y="568"/>
                      <a:pt x="116" y="603"/>
                    </a:cubicBezTo>
                    <a:cubicBezTo>
                      <a:pt x="170" y="638"/>
                      <a:pt x="277" y="653"/>
                      <a:pt x="338" y="645"/>
                    </a:cubicBezTo>
                    <a:cubicBezTo>
                      <a:pt x="399" y="637"/>
                      <a:pt x="451" y="586"/>
                      <a:pt x="482" y="555"/>
                    </a:cubicBezTo>
                    <a:cubicBezTo>
                      <a:pt x="513" y="524"/>
                      <a:pt x="515" y="479"/>
                      <a:pt x="524" y="459"/>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340" name="Freeform 45"/>
              <p:cNvSpPr>
                <a:spLocks noChangeAspect="1"/>
              </p:cNvSpPr>
              <p:nvPr/>
            </p:nvSpPr>
            <p:spPr bwMode="auto">
              <a:xfrm>
                <a:off x="530" y="654"/>
                <a:ext cx="77" cy="100"/>
              </a:xfrm>
              <a:custGeom>
                <a:avLst/>
                <a:gdLst>
                  <a:gd name="T0" fmla="*/ 0 w 387"/>
                  <a:gd name="T1" fmla="*/ 0 h 501"/>
                  <a:gd name="T2" fmla="*/ 0 w 387"/>
                  <a:gd name="T3" fmla="*/ 0 h 501"/>
                  <a:gd name="T4" fmla="*/ 0 w 387"/>
                  <a:gd name="T5" fmla="*/ 0 h 501"/>
                  <a:gd name="T6" fmla="*/ 0 w 387"/>
                  <a:gd name="T7" fmla="*/ 0 h 501"/>
                  <a:gd name="T8" fmla="*/ 1 w 387"/>
                  <a:gd name="T9" fmla="*/ 0 h 501"/>
                  <a:gd name="T10" fmla="*/ 1 w 387"/>
                  <a:gd name="T11" fmla="*/ 1 h 501"/>
                  <a:gd name="T12" fmla="*/ 1 w 387"/>
                  <a:gd name="T13" fmla="*/ 1 h 501"/>
                  <a:gd name="T14" fmla="*/ 1 w 387"/>
                  <a:gd name="T15" fmla="*/ 1 h 501"/>
                  <a:gd name="T16" fmla="*/ 1 w 387"/>
                  <a:gd name="T17" fmla="*/ 1 h 501"/>
                  <a:gd name="T18" fmla="*/ 1 w 387"/>
                  <a:gd name="T19" fmla="*/ 1 h 501"/>
                  <a:gd name="T20" fmla="*/ 0 w 387"/>
                  <a:gd name="T21" fmla="*/ 1 h 501"/>
                  <a:gd name="T22" fmla="*/ 0 w 387"/>
                  <a:gd name="T23" fmla="*/ 1 h 501"/>
                  <a:gd name="T24" fmla="*/ 0 w 387"/>
                  <a:gd name="T25" fmla="*/ 1 h 501"/>
                  <a:gd name="T26" fmla="*/ 0 w 387"/>
                  <a:gd name="T27" fmla="*/ 1 h 501"/>
                  <a:gd name="T28" fmla="*/ 0 w 387"/>
                  <a:gd name="T29" fmla="*/ 0 h 501"/>
                  <a:gd name="T30" fmla="*/ 0 w 387"/>
                  <a:gd name="T31" fmla="*/ 0 h 501"/>
                  <a:gd name="T32" fmla="*/ 0 w 387"/>
                  <a:gd name="T33" fmla="*/ 0 h 501"/>
                  <a:gd name="T34" fmla="*/ 1 w 387"/>
                  <a:gd name="T35" fmla="*/ 0 h 50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87"/>
                  <a:gd name="T55" fmla="*/ 0 h 501"/>
                  <a:gd name="T56" fmla="*/ 387 w 387"/>
                  <a:gd name="T57" fmla="*/ 501 h 50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87" h="501">
                    <a:moveTo>
                      <a:pt x="10" y="134"/>
                    </a:moveTo>
                    <a:cubicBezTo>
                      <a:pt x="18" y="122"/>
                      <a:pt x="37" y="81"/>
                      <a:pt x="56" y="61"/>
                    </a:cubicBezTo>
                    <a:cubicBezTo>
                      <a:pt x="75" y="41"/>
                      <a:pt x="92" y="24"/>
                      <a:pt x="125" y="16"/>
                    </a:cubicBezTo>
                    <a:cubicBezTo>
                      <a:pt x="158" y="8"/>
                      <a:pt x="221" y="0"/>
                      <a:pt x="257" y="10"/>
                    </a:cubicBezTo>
                    <a:cubicBezTo>
                      <a:pt x="293" y="20"/>
                      <a:pt x="327" y="26"/>
                      <a:pt x="344" y="79"/>
                    </a:cubicBezTo>
                    <a:cubicBezTo>
                      <a:pt x="361" y="132"/>
                      <a:pt x="360" y="284"/>
                      <a:pt x="362" y="330"/>
                    </a:cubicBezTo>
                    <a:cubicBezTo>
                      <a:pt x="364" y="376"/>
                      <a:pt x="349" y="326"/>
                      <a:pt x="353" y="353"/>
                    </a:cubicBezTo>
                    <a:cubicBezTo>
                      <a:pt x="357" y="380"/>
                      <a:pt x="383" y="479"/>
                      <a:pt x="385" y="490"/>
                    </a:cubicBezTo>
                    <a:cubicBezTo>
                      <a:pt x="387" y="501"/>
                      <a:pt x="371" y="439"/>
                      <a:pt x="367" y="417"/>
                    </a:cubicBezTo>
                    <a:cubicBezTo>
                      <a:pt x="363" y="395"/>
                      <a:pt x="373" y="352"/>
                      <a:pt x="358" y="358"/>
                    </a:cubicBezTo>
                    <a:cubicBezTo>
                      <a:pt x="343" y="364"/>
                      <a:pt x="313" y="432"/>
                      <a:pt x="275" y="454"/>
                    </a:cubicBezTo>
                    <a:cubicBezTo>
                      <a:pt x="237" y="476"/>
                      <a:pt x="170" y="491"/>
                      <a:pt x="129" y="490"/>
                    </a:cubicBezTo>
                    <a:cubicBezTo>
                      <a:pt x="88" y="489"/>
                      <a:pt x="50" y="465"/>
                      <a:pt x="29" y="445"/>
                    </a:cubicBezTo>
                    <a:cubicBezTo>
                      <a:pt x="8" y="425"/>
                      <a:pt x="0" y="393"/>
                      <a:pt x="1" y="367"/>
                    </a:cubicBezTo>
                    <a:cubicBezTo>
                      <a:pt x="2" y="341"/>
                      <a:pt x="13" y="309"/>
                      <a:pt x="33" y="289"/>
                    </a:cubicBezTo>
                    <a:cubicBezTo>
                      <a:pt x="53" y="269"/>
                      <a:pt x="87" y="260"/>
                      <a:pt x="120" y="249"/>
                    </a:cubicBezTo>
                    <a:cubicBezTo>
                      <a:pt x="153" y="238"/>
                      <a:pt x="195" y="230"/>
                      <a:pt x="234" y="221"/>
                    </a:cubicBezTo>
                    <a:cubicBezTo>
                      <a:pt x="273" y="212"/>
                      <a:pt x="328" y="199"/>
                      <a:pt x="353" y="193"/>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341" name="Freeform 46"/>
              <p:cNvSpPr>
                <a:spLocks noChangeAspect="1"/>
              </p:cNvSpPr>
              <p:nvPr/>
            </p:nvSpPr>
            <p:spPr bwMode="auto">
              <a:xfrm flipH="1" flipV="1">
                <a:off x="655" y="657"/>
                <a:ext cx="80" cy="145"/>
              </a:xfrm>
              <a:custGeom>
                <a:avLst/>
                <a:gdLst>
                  <a:gd name="T0" fmla="*/ 1 w 401"/>
                  <a:gd name="T1" fmla="*/ 0 h 727"/>
                  <a:gd name="T2" fmla="*/ 1 w 401"/>
                  <a:gd name="T3" fmla="*/ 0 h 727"/>
                  <a:gd name="T4" fmla="*/ 1 w 401"/>
                  <a:gd name="T5" fmla="*/ 1 h 727"/>
                  <a:gd name="T6" fmla="*/ 1 w 401"/>
                  <a:gd name="T7" fmla="*/ 1 h 727"/>
                  <a:gd name="T8" fmla="*/ 0 w 401"/>
                  <a:gd name="T9" fmla="*/ 1 h 727"/>
                  <a:gd name="T10" fmla="*/ 0 w 401"/>
                  <a:gd name="T11" fmla="*/ 1 h 727"/>
                  <a:gd name="T12" fmla="*/ 0 w 401"/>
                  <a:gd name="T13" fmla="*/ 1 h 727"/>
                  <a:gd name="T14" fmla="*/ 0 w 401"/>
                  <a:gd name="T15" fmla="*/ 1 h 727"/>
                  <a:gd name="T16" fmla="*/ 0 w 401"/>
                  <a:gd name="T17" fmla="*/ 0 h 727"/>
                  <a:gd name="T18" fmla="*/ 0 w 401"/>
                  <a:gd name="T19" fmla="*/ 0 h 727"/>
                  <a:gd name="T20" fmla="*/ 1 w 401"/>
                  <a:gd name="T21" fmla="*/ 1 h 727"/>
                  <a:gd name="T22" fmla="*/ 1 w 401"/>
                  <a:gd name="T23" fmla="*/ 1 h 727"/>
                  <a:gd name="T24" fmla="*/ 1 w 401"/>
                  <a:gd name="T25" fmla="*/ 1 h 72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01"/>
                  <a:gd name="T40" fmla="*/ 0 h 727"/>
                  <a:gd name="T41" fmla="*/ 401 w 401"/>
                  <a:gd name="T42" fmla="*/ 727 h 72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01" h="727">
                    <a:moveTo>
                      <a:pt x="382" y="0"/>
                    </a:moveTo>
                    <a:cubicBezTo>
                      <a:pt x="382" y="30"/>
                      <a:pt x="382" y="124"/>
                      <a:pt x="382" y="179"/>
                    </a:cubicBezTo>
                    <a:cubicBezTo>
                      <a:pt x="382" y="234"/>
                      <a:pt x="382" y="269"/>
                      <a:pt x="382" y="330"/>
                    </a:cubicBezTo>
                    <a:cubicBezTo>
                      <a:pt x="382" y="391"/>
                      <a:pt x="401" y="485"/>
                      <a:pt x="382" y="544"/>
                    </a:cubicBezTo>
                    <a:cubicBezTo>
                      <a:pt x="363" y="603"/>
                      <a:pt x="313" y="660"/>
                      <a:pt x="267" y="682"/>
                    </a:cubicBezTo>
                    <a:cubicBezTo>
                      <a:pt x="221" y="704"/>
                      <a:pt x="146" y="703"/>
                      <a:pt x="103" y="677"/>
                    </a:cubicBezTo>
                    <a:cubicBezTo>
                      <a:pt x="60" y="651"/>
                      <a:pt x="22" y="585"/>
                      <a:pt x="11" y="526"/>
                    </a:cubicBezTo>
                    <a:cubicBezTo>
                      <a:pt x="0" y="467"/>
                      <a:pt x="18" y="369"/>
                      <a:pt x="39" y="320"/>
                    </a:cubicBezTo>
                    <a:cubicBezTo>
                      <a:pt x="60" y="271"/>
                      <a:pt x="99" y="245"/>
                      <a:pt x="139" y="234"/>
                    </a:cubicBezTo>
                    <a:cubicBezTo>
                      <a:pt x="179" y="223"/>
                      <a:pt x="242" y="237"/>
                      <a:pt x="281" y="256"/>
                    </a:cubicBezTo>
                    <a:cubicBezTo>
                      <a:pt x="320" y="275"/>
                      <a:pt x="355" y="305"/>
                      <a:pt x="372" y="348"/>
                    </a:cubicBezTo>
                    <a:cubicBezTo>
                      <a:pt x="389" y="391"/>
                      <a:pt x="382" y="449"/>
                      <a:pt x="386" y="512"/>
                    </a:cubicBezTo>
                    <a:cubicBezTo>
                      <a:pt x="390" y="575"/>
                      <a:pt x="393" y="682"/>
                      <a:pt x="395" y="727"/>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7342" name="Group 47"/>
              <p:cNvGrpSpPr>
                <a:grpSpLocks noChangeAspect="1"/>
              </p:cNvGrpSpPr>
              <p:nvPr/>
            </p:nvGrpSpPr>
            <p:grpSpPr bwMode="auto">
              <a:xfrm>
                <a:off x="783" y="618"/>
                <a:ext cx="11" cy="136"/>
                <a:chOff x="1434" y="1286"/>
                <a:chExt cx="56" cy="679"/>
              </a:xfrm>
            </p:grpSpPr>
            <p:sp>
              <p:nvSpPr>
                <p:cNvPr id="147352" name="Freeform 48"/>
                <p:cNvSpPr>
                  <a:spLocks noChangeAspect="1"/>
                </p:cNvSpPr>
                <p:nvPr/>
              </p:nvSpPr>
              <p:spPr bwMode="auto">
                <a:xfrm>
                  <a:off x="1459" y="1459"/>
                  <a:ext cx="1" cy="506"/>
                </a:xfrm>
                <a:custGeom>
                  <a:avLst/>
                  <a:gdLst>
                    <a:gd name="T0" fmla="*/ 0 w 1"/>
                    <a:gd name="T1" fmla="*/ 0 h 506"/>
                    <a:gd name="T2" fmla="*/ 0 w 1"/>
                    <a:gd name="T3" fmla="*/ 506 h 506"/>
                    <a:gd name="T4" fmla="*/ 0 60000 65536"/>
                    <a:gd name="T5" fmla="*/ 0 60000 65536"/>
                    <a:gd name="T6" fmla="*/ 0 w 1"/>
                    <a:gd name="T7" fmla="*/ 0 h 506"/>
                    <a:gd name="T8" fmla="*/ 1 w 1"/>
                    <a:gd name="T9" fmla="*/ 506 h 506"/>
                  </a:gdLst>
                  <a:ahLst/>
                  <a:cxnLst>
                    <a:cxn ang="T4">
                      <a:pos x="T0" y="T1"/>
                    </a:cxn>
                    <a:cxn ang="T5">
                      <a:pos x="T2" y="T3"/>
                    </a:cxn>
                  </a:cxnLst>
                  <a:rect l="T6" t="T7" r="T8" b="T9"/>
                  <a:pathLst>
                    <a:path w="1" h="506">
                      <a:moveTo>
                        <a:pt x="0" y="0"/>
                      </a:moveTo>
                      <a:cubicBezTo>
                        <a:pt x="0" y="211"/>
                        <a:pt x="0" y="422"/>
                        <a:pt x="0" y="506"/>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353" name="Oval 49"/>
                <p:cNvSpPr>
                  <a:spLocks noChangeAspect="1" noChangeArrowheads="1"/>
                </p:cNvSpPr>
                <p:nvPr/>
              </p:nvSpPr>
              <p:spPr bwMode="auto">
                <a:xfrm>
                  <a:off x="1434" y="1286"/>
                  <a:ext cx="56" cy="56"/>
                </a:xfrm>
                <a:prstGeom prst="ellipse">
                  <a:avLst/>
                </a:prstGeom>
                <a:solidFill>
                  <a:schemeClr val="tx1"/>
                </a:solidFill>
                <a:ln w="6350">
                  <a:solidFill>
                    <a:schemeClr val="tx1"/>
                  </a:solidFill>
                  <a:rou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sp>
            <p:nvSpPr>
              <p:cNvPr id="147343" name="Line 50"/>
              <p:cNvSpPr>
                <a:spLocks noChangeAspect="1" noChangeShapeType="1"/>
              </p:cNvSpPr>
              <p:nvPr/>
            </p:nvSpPr>
            <p:spPr bwMode="auto">
              <a:xfrm>
                <a:off x="848" y="618"/>
                <a:ext cx="1" cy="136"/>
              </a:xfrm>
              <a:prstGeom prst="line">
                <a:avLst/>
              </a:prstGeom>
              <a:noFill/>
              <a:ln w="63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344" name="Line 51"/>
              <p:cNvSpPr>
                <a:spLocks noChangeAspect="1" noChangeShapeType="1"/>
              </p:cNvSpPr>
              <p:nvPr/>
            </p:nvSpPr>
            <p:spPr bwMode="auto">
              <a:xfrm>
                <a:off x="903" y="618"/>
                <a:ext cx="1" cy="136"/>
              </a:xfrm>
              <a:prstGeom prst="line">
                <a:avLst/>
              </a:prstGeom>
              <a:noFill/>
              <a:ln w="63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345" name="Freeform 52"/>
              <p:cNvSpPr>
                <a:spLocks noChangeAspect="1"/>
              </p:cNvSpPr>
              <p:nvPr/>
            </p:nvSpPr>
            <p:spPr bwMode="auto">
              <a:xfrm>
                <a:off x="958" y="654"/>
                <a:ext cx="77" cy="100"/>
              </a:xfrm>
              <a:custGeom>
                <a:avLst/>
                <a:gdLst>
                  <a:gd name="T0" fmla="*/ 0 w 387"/>
                  <a:gd name="T1" fmla="*/ 0 h 501"/>
                  <a:gd name="T2" fmla="*/ 0 w 387"/>
                  <a:gd name="T3" fmla="*/ 0 h 501"/>
                  <a:gd name="T4" fmla="*/ 0 w 387"/>
                  <a:gd name="T5" fmla="*/ 0 h 501"/>
                  <a:gd name="T6" fmla="*/ 0 w 387"/>
                  <a:gd name="T7" fmla="*/ 0 h 501"/>
                  <a:gd name="T8" fmla="*/ 1 w 387"/>
                  <a:gd name="T9" fmla="*/ 0 h 501"/>
                  <a:gd name="T10" fmla="*/ 1 w 387"/>
                  <a:gd name="T11" fmla="*/ 1 h 501"/>
                  <a:gd name="T12" fmla="*/ 1 w 387"/>
                  <a:gd name="T13" fmla="*/ 1 h 501"/>
                  <a:gd name="T14" fmla="*/ 1 w 387"/>
                  <a:gd name="T15" fmla="*/ 1 h 501"/>
                  <a:gd name="T16" fmla="*/ 1 w 387"/>
                  <a:gd name="T17" fmla="*/ 1 h 501"/>
                  <a:gd name="T18" fmla="*/ 1 w 387"/>
                  <a:gd name="T19" fmla="*/ 1 h 501"/>
                  <a:gd name="T20" fmla="*/ 0 w 387"/>
                  <a:gd name="T21" fmla="*/ 1 h 501"/>
                  <a:gd name="T22" fmla="*/ 0 w 387"/>
                  <a:gd name="T23" fmla="*/ 1 h 501"/>
                  <a:gd name="T24" fmla="*/ 0 w 387"/>
                  <a:gd name="T25" fmla="*/ 1 h 501"/>
                  <a:gd name="T26" fmla="*/ 0 w 387"/>
                  <a:gd name="T27" fmla="*/ 1 h 501"/>
                  <a:gd name="T28" fmla="*/ 0 w 387"/>
                  <a:gd name="T29" fmla="*/ 0 h 501"/>
                  <a:gd name="T30" fmla="*/ 0 w 387"/>
                  <a:gd name="T31" fmla="*/ 0 h 501"/>
                  <a:gd name="T32" fmla="*/ 0 w 387"/>
                  <a:gd name="T33" fmla="*/ 0 h 501"/>
                  <a:gd name="T34" fmla="*/ 1 w 387"/>
                  <a:gd name="T35" fmla="*/ 0 h 50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87"/>
                  <a:gd name="T55" fmla="*/ 0 h 501"/>
                  <a:gd name="T56" fmla="*/ 387 w 387"/>
                  <a:gd name="T57" fmla="*/ 501 h 50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87" h="501">
                    <a:moveTo>
                      <a:pt x="10" y="134"/>
                    </a:moveTo>
                    <a:cubicBezTo>
                      <a:pt x="18" y="122"/>
                      <a:pt x="37" y="81"/>
                      <a:pt x="56" y="61"/>
                    </a:cubicBezTo>
                    <a:cubicBezTo>
                      <a:pt x="75" y="41"/>
                      <a:pt x="92" y="24"/>
                      <a:pt x="125" y="16"/>
                    </a:cubicBezTo>
                    <a:cubicBezTo>
                      <a:pt x="158" y="8"/>
                      <a:pt x="221" y="0"/>
                      <a:pt x="257" y="10"/>
                    </a:cubicBezTo>
                    <a:cubicBezTo>
                      <a:pt x="293" y="20"/>
                      <a:pt x="327" y="26"/>
                      <a:pt x="344" y="79"/>
                    </a:cubicBezTo>
                    <a:cubicBezTo>
                      <a:pt x="361" y="132"/>
                      <a:pt x="360" y="284"/>
                      <a:pt x="362" y="330"/>
                    </a:cubicBezTo>
                    <a:cubicBezTo>
                      <a:pt x="364" y="376"/>
                      <a:pt x="349" y="326"/>
                      <a:pt x="353" y="353"/>
                    </a:cubicBezTo>
                    <a:cubicBezTo>
                      <a:pt x="357" y="380"/>
                      <a:pt x="383" y="479"/>
                      <a:pt x="385" y="490"/>
                    </a:cubicBezTo>
                    <a:cubicBezTo>
                      <a:pt x="387" y="501"/>
                      <a:pt x="371" y="439"/>
                      <a:pt x="367" y="417"/>
                    </a:cubicBezTo>
                    <a:cubicBezTo>
                      <a:pt x="363" y="395"/>
                      <a:pt x="373" y="352"/>
                      <a:pt x="358" y="358"/>
                    </a:cubicBezTo>
                    <a:cubicBezTo>
                      <a:pt x="343" y="364"/>
                      <a:pt x="313" y="432"/>
                      <a:pt x="275" y="454"/>
                    </a:cubicBezTo>
                    <a:cubicBezTo>
                      <a:pt x="237" y="476"/>
                      <a:pt x="170" y="491"/>
                      <a:pt x="129" y="490"/>
                    </a:cubicBezTo>
                    <a:cubicBezTo>
                      <a:pt x="88" y="489"/>
                      <a:pt x="50" y="465"/>
                      <a:pt x="29" y="445"/>
                    </a:cubicBezTo>
                    <a:cubicBezTo>
                      <a:pt x="8" y="425"/>
                      <a:pt x="0" y="393"/>
                      <a:pt x="1" y="367"/>
                    </a:cubicBezTo>
                    <a:cubicBezTo>
                      <a:pt x="2" y="341"/>
                      <a:pt x="13" y="309"/>
                      <a:pt x="33" y="289"/>
                    </a:cubicBezTo>
                    <a:cubicBezTo>
                      <a:pt x="53" y="269"/>
                      <a:pt x="87" y="260"/>
                      <a:pt x="120" y="249"/>
                    </a:cubicBezTo>
                    <a:cubicBezTo>
                      <a:pt x="153" y="238"/>
                      <a:pt x="195" y="230"/>
                      <a:pt x="234" y="221"/>
                    </a:cubicBezTo>
                    <a:cubicBezTo>
                      <a:pt x="273" y="212"/>
                      <a:pt x="328" y="199"/>
                      <a:pt x="353" y="193"/>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7346" name="Group 53"/>
              <p:cNvGrpSpPr>
                <a:grpSpLocks noChangeAspect="1"/>
              </p:cNvGrpSpPr>
              <p:nvPr/>
            </p:nvGrpSpPr>
            <p:grpSpPr bwMode="auto">
              <a:xfrm>
                <a:off x="1089" y="651"/>
                <a:ext cx="46" cy="103"/>
                <a:chOff x="2808" y="1818"/>
                <a:chExt cx="228" cy="516"/>
              </a:xfrm>
            </p:grpSpPr>
            <p:sp>
              <p:nvSpPr>
                <p:cNvPr id="147350" name="Freeform 54"/>
                <p:cNvSpPr>
                  <a:spLocks noChangeAspect="1"/>
                </p:cNvSpPr>
                <p:nvPr/>
              </p:nvSpPr>
              <p:spPr bwMode="auto">
                <a:xfrm>
                  <a:off x="2808" y="1818"/>
                  <a:ext cx="1" cy="516"/>
                </a:xfrm>
                <a:custGeom>
                  <a:avLst/>
                  <a:gdLst>
                    <a:gd name="T0" fmla="*/ 0 w 1"/>
                    <a:gd name="T1" fmla="*/ 0 h 516"/>
                    <a:gd name="T2" fmla="*/ 0 w 1"/>
                    <a:gd name="T3" fmla="*/ 516 h 516"/>
                    <a:gd name="T4" fmla="*/ 0 60000 65536"/>
                    <a:gd name="T5" fmla="*/ 0 60000 65536"/>
                    <a:gd name="T6" fmla="*/ 0 w 1"/>
                    <a:gd name="T7" fmla="*/ 0 h 516"/>
                    <a:gd name="T8" fmla="*/ 1 w 1"/>
                    <a:gd name="T9" fmla="*/ 516 h 516"/>
                  </a:gdLst>
                  <a:ahLst/>
                  <a:cxnLst>
                    <a:cxn ang="T4">
                      <a:pos x="T0" y="T1"/>
                    </a:cxn>
                    <a:cxn ang="T5">
                      <a:pos x="T2" y="T3"/>
                    </a:cxn>
                  </a:cxnLst>
                  <a:rect l="T6" t="T7" r="T8" b="T9"/>
                  <a:pathLst>
                    <a:path w="1" h="516">
                      <a:moveTo>
                        <a:pt x="0" y="0"/>
                      </a:moveTo>
                      <a:cubicBezTo>
                        <a:pt x="0" y="0"/>
                        <a:pt x="0" y="258"/>
                        <a:pt x="0" y="516"/>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351" name="Freeform 55"/>
                <p:cNvSpPr>
                  <a:spLocks noChangeAspect="1"/>
                </p:cNvSpPr>
                <p:nvPr/>
              </p:nvSpPr>
              <p:spPr bwMode="auto">
                <a:xfrm>
                  <a:off x="2808" y="1830"/>
                  <a:ext cx="228" cy="198"/>
                </a:xfrm>
                <a:custGeom>
                  <a:avLst/>
                  <a:gdLst>
                    <a:gd name="T0" fmla="*/ 228 w 228"/>
                    <a:gd name="T1" fmla="*/ 54 h 198"/>
                    <a:gd name="T2" fmla="*/ 138 w 228"/>
                    <a:gd name="T3" fmla="*/ 24 h 198"/>
                    <a:gd name="T4" fmla="*/ 0 w 228"/>
                    <a:gd name="T5" fmla="*/ 198 h 198"/>
                    <a:gd name="T6" fmla="*/ 0 60000 65536"/>
                    <a:gd name="T7" fmla="*/ 0 60000 65536"/>
                    <a:gd name="T8" fmla="*/ 0 60000 65536"/>
                    <a:gd name="T9" fmla="*/ 0 w 228"/>
                    <a:gd name="T10" fmla="*/ 0 h 198"/>
                    <a:gd name="T11" fmla="*/ 228 w 228"/>
                    <a:gd name="T12" fmla="*/ 198 h 198"/>
                  </a:gdLst>
                  <a:ahLst/>
                  <a:cxnLst>
                    <a:cxn ang="T6">
                      <a:pos x="T0" y="T1"/>
                    </a:cxn>
                    <a:cxn ang="T7">
                      <a:pos x="T2" y="T3"/>
                    </a:cxn>
                    <a:cxn ang="T8">
                      <a:pos x="T4" y="T5"/>
                    </a:cxn>
                  </a:cxnLst>
                  <a:rect l="T9" t="T10" r="T11" b="T12"/>
                  <a:pathLst>
                    <a:path w="228" h="198">
                      <a:moveTo>
                        <a:pt x="228" y="54"/>
                      </a:moveTo>
                      <a:cubicBezTo>
                        <a:pt x="202" y="27"/>
                        <a:pt x="176" y="0"/>
                        <a:pt x="138" y="24"/>
                      </a:cubicBezTo>
                      <a:cubicBezTo>
                        <a:pt x="100" y="48"/>
                        <a:pt x="50" y="123"/>
                        <a:pt x="0" y="198"/>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147347" name="Group 56"/>
              <p:cNvGrpSpPr>
                <a:grpSpLocks noChangeAspect="1"/>
              </p:cNvGrpSpPr>
              <p:nvPr/>
            </p:nvGrpSpPr>
            <p:grpSpPr bwMode="auto">
              <a:xfrm>
                <a:off x="1171" y="652"/>
                <a:ext cx="75" cy="136"/>
                <a:chOff x="2778" y="1746"/>
                <a:chExt cx="384" cy="701"/>
              </a:xfrm>
            </p:grpSpPr>
            <p:sp>
              <p:nvSpPr>
                <p:cNvPr id="147348" name="Freeform 57"/>
                <p:cNvSpPr>
                  <a:spLocks noChangeAspect="1"/>
                </p:cNvSpPr>
                <p:nvPr/>
              </p:nvSpPr>
              <p:spPr bwMode="auto">
                <a:xfrm>
                  <a:off x="2778" y="1746"/>
                  <a:ext cx="384" cy="701"/>
                </a:xfrm>
                <a:custGeom>
                  <a:avLst/>
                  <a:gdLst>
                    <a:gd name="T0" fmla="*/ 384 w 384"/>
                    <a:gd name="T1" fmla="*/ 0 h 701"/>
                    <a:gd name="T2" fmla="*/ 168 w 384"/>
                    <a:gd name="T3" fmla="*/ 594 h 701"/>
                    <a:gd name="T4" fmla="*/ 0 w 384"/>
                    <a:gd name="T5" fmla="*/ 642 h 701"/>
                    <a:gd name="T6" fmla="*/ 0 60000 65536"/>
                    <a:gd name="T7" fmla="*/ 0 60000 65536"/>
                    <a:gd name="T8" fmla="*/ 0 60000 65536"/>
                    <a:gd name="T9" fmla="*/ 0 w 384"/>
                    <a:gd name="T10" fmla="*/ 0 h 701"/>
                    <a:gd name="T11" fmla="*/ 384 w 384"/>
                    <a:gd name="T12" fmla="*/ 701 h 701"/>
                  </a:gdLst>
                  <a:ahLst/>
                  <a:cxnLst>
                    <a:cxn ang="T6">
                      <a:pos x="T0" y="T1"/>
                    </a:cxn>
                    <a:cxn ang="T7">
                      <a:pos x="T2" y="T3"/>
                    </a:cxn>
                    <a:cxn ang="T8">
                      <a:pos x="T4" y="T5"/>
                    </a:cxn>
                  </a:cxnLst>
                  <a:rect l="T9" t="T10" r="T11" b="T12"/>
                  <a:pathLst>
                    <a:path w="384" h="701">
                      <a:moveTo>
                        <a:pt x="384" y="0"/>
                      </a:moveTo>
                      <a:cubicBezTo>
                        <a:pt x="308" y="243"/>
                        <a:pt x="232" y="487"/>
                        <a:pt x="168" y="594"/>
                      </a:cubicBezTo>
                      <a:cubicBezTo>
                        <a:pt x="104" y="701"/>
                        <a:pt x="52" y="671"/>
                        <a:pt x="0" y="642"/>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349" name="Freeform 58"/>
                <p:cNvSpPr>
                  <a:spLocks noChangeAspect="1"/>
                </p:cNvSpPr>
                <p:nvPr/>
              </p:nvSpPr>
              <p:spPr bwMode="auto">
                <a:xfrm>
                  <a:off x="2802" y="1752"/>
                  <a:ext cx="180" cy="504"/>
                </a:xfrm>
                <a:custGeom>
                  <a:avLst/>
                  <a:gdLst>
                    <a:gd name="T0" fmla="*/ 0 w 180"/>
                    <a:gd name="T1" fmla="*/ 0 h 504"/>
                    <a:gd name="T2" fmla="*/ 180 w 180"/>
                    <a:gd name="T3" fmla="*/ 504 h 504"/>
                    <a:gd name="T4" fmla="*/ 0 60000 65536"/>
                    <a:gd name="T5" fmla="*/ 0 60000 65536"/>
                    <a:gd name="T6" fmla="*/ 0 w 180"/>
                    <a:gd name="T7" fmla="*/ 0 h 504"/>
                    <a:gd name="T8" fmla="*/ 180 w 180"/>
                    <a:gd name="T9" fmla="*/ 504 h 504"/>
                  </a:gdLst>
                  <a:ahLst/>
                  <a:cxnLst>
                    <a:cxn ang="T4">
                      <a:pos x="T0" y="T1"/>
                    </a:cxn>
                    <a:cxn ang="T5">
                      <a:pos x="T2" y="T3"/>
                    </a:cxn>
                  </a:cxnLst>
                  <a:rect l="T6" t="T7" r="T8" b="T9"/>
                  <a:pathLst>
                    <a:path w="180" h="504">
                      <a:moveTo>
                        <a:pt x="0" y="0"/>
                      </a:moveTo>
                      <a:cubicBezTo>
                        <a:pt x="0" y="0"/>
                        <a:pt x="90" y="252"/>
                        <a:pt x="180" y="504"/>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grpSp>
          <p:nvGrpSpPr>
            <p:cNvPr id="147218" name="Group 59"/>
            <p:cNvGrpSpPr>
              <a:grpSpLocks noChangeAspect="1"/>
            </p:cNvGrpSpPr>
            <p:nvPr/>
          </p:nvGrpSpPr>
          <p:grpSpPr bwMode="auto">
            <a:xfrm>
              <a:off x="2089" y="1426"/>
              <a:ext cx="118" cy="34"/>
              <a:chOff x="1491" y="621"/>
              <a:chExt cx="481" cy="141"/>
            </a:xfrm>
          </p:grpSpPr>
          <p:grpSp>
            <p:nvGrpSpPr>
              <p:cNvPr id="147330" name="Group 60"/>
              <p:cNvGrpSpPr>
                <a:grpSpLocks noChangeAspect="1"/>
              </p:cNvGrpSpPr>
              <p:nvPr/>
            </p:nvGrpSpPr>
            <p:grpSpPr bwMode="auto">
              <a:xfrm>
                <a:off x="1491" y="621"/>
                <a:ext cx="58" cy="141"/>
                <a:chOff x="4422" y="1823"/>
                <a:chExt cx="291" cy="705"/>
              </a:xfrm>
            </p:grpSpPr>
            <p:sp>
              <p:nvSpPr>
                <p:cNvPr id="147337" name="Freeform 61"/>
                <p:cNvSpPr>
                  <a:spLocks noChangeAspect="1"/>
                </p:cNvSpPr>
                <p:nvPr/>
              </p:nvSpPr>
              <p:spPr bwMode="auto">
                <a:xfrm>
                  <a:off x="4525" y="1823"/>
                  <a:ext cx="188" cy="705"/>
                </a:xfrm>
                <a:custGeom>
                  <a:avLst/>
                  <a:gdLst>
                    <a:gd name="T0" fmla="*/ 19 w 188"/>
                    <a:gd name="T1" fmla="*/ 705 h 705"/>
                    <a:gd name="T2" fmla="*/ 28 w 188"/>
                    <a:gd name="T3" fmla="*/ 111 h 705"/>
                    <a:gd name="T4" fmla="*/ 188 w 188"/>
                    <a:gd name="T5" fmla="*/ 42 h 705"/>
                    <a:gd name="T6" fmla="*/ 0 60000 65536"/>
                    <a:gd name="T7" fmla="*/ 0 60000 65536"/>
                    <a:gd name="T8" fmla="*/ 0 60000 65536"/>
                    <a:gd name="T9" fmla="*/ 0 w 188"/>
                    <a:gd name="T10" fmla="*/ 0 h 705"/>
                    <a:gd name="T11" fmla="*/ 188 w 188"/>
                    <a:gd name="T12" fmla="*/ 705 h 705"/>
                  </a:gdLst>
                  <a:ahLst/>
                  <a:cxnLst>
                    <a:cxn ang="T6">
                      <a:pos x="T0" y="T1"/>
                    </a:cxn>
                    <a:cxn ang="T7">
                      <a:pos x="T2" y="T3"/>
                    </a:cxn>
                    <a:cxn ang="T8">
                      <a:pos x="T4" y="T5"/>
                    </a:cxn>
                  </a:cxnLst>
                  <a:rect l="T9" t="T10" r="T11" b="T12"/>
                  <a:pathLst>
                    <a:path w="188" h="705">
                      <a:moveTo>
                        <a:pt x="19" y="705"/>
                      </a:moveTo>
                      <a:cubicBezTo>
                        <a:pt x="20" y="606"/>
                        <a:pt x="0" y="222"/>
                        <a:pt x="28" y="111"/>
                      </a:cubicBezTo>
                      <a:cubicBezTo>
                        <a:pt x="56" y="0"/>
                        <a:pt x="155" y="56"/>
                        <a:pt x="188" y="42"/>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338" name="Line 62"/>
                <p:cNvSpPr>
                  <a:spLocks noChangeAspect="1" noChangeShapeType="1"/>
                </p:cNvSpPr>
                <p:nvPr/>
              </p:nvSpPr>
              <p:spPr bwMode="auto">
                <a:xfrm>
                  <a:off x="4422" y="2047"/>
                  <a:ext cx="250" cy="0"/>
                </a:xfrm>
                <a:prstGeom prst="line">
                  <a:avLst/>
                </a:prstGeom>
                <a:noFill/>
                <a:ln w="63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47331" name="Freeform 63"/>
              <p:cNvSpPr>
                <a:spLocks noChangeAspect="1"/>
              </p:cNvSpPr>
              <p:nvPr/>
            </p:nvSpPr>
            <p:spPr bwMode="auto">
              <a:xfrm>
                <a:off x="1572" y="669"/>
                <a:ext cx="81" cy="93"/>
              </a:xfrm>
              <a:custGeom>
                <a:avLst/>
                <a:gdLst>
                  <a:gd name="T0" fmla="*/ 0 w 402"/>
                  <a:gd name="T1" fmla="*/ 0 h 464"/>
                  <a:gd name="T2" fmla="*/ 0 w 402"/>
                  <a:gd name="T3" fmla="*/ 0 h 464"/>
                  <a:gd name="T4" fmla="*/ 0 w 402"/>
                  <a:gd name="T5" fmla="*/ 0 h 464"/>
                  <a:gd name="T6" fmla="*/ 0 w 402"/>
                  <a:gd name="T7" fmla="*/ 0 h 464"/>
                  <a:gd name="T8" fmla="*/ 0 w 402"/>
                  <a:gd name="T9" fmla="*/ 1 h 464"/>
                  <a:gd name="T10" fmla="*/ 0 w 402"/>
                  <a:gd name="T11" fmla="*/ 1 h 464"/>
                  <a:gd name="T12" fmla="*/ 0 w 402"/>
                  <a:gd name="T13" fmla="*/ 1 h 464"/>
                  <a:gd name="T14" fmla="*/ 1 w 402"/>
                  <a:gd name="T15" fmla="*/ 0 h 464"/>
                  <a:gd name="T16" fmla="*/ 1 w 402"/>
                  <a:gd name="T17" fmla="*/ 0 h 464"/>
                  <a:gd name="T18" fmla="*/ 1 w 402"/>
                  <a:gd name="T19" fmla="*/ 0 h 464"/>
                  <a:gd name="T20" fmla="*/ 0 w 402"/>
                  <a:gd name="T21" fmla="*/ 0 h 46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02"/>
                  <a:gd name="T34" fmla="*/ 0 h 464"/>
                  <a:gd name="T35" fmla="*/ 402 w 402"/>
                  <a:gd name="T36" fmla="*/ 464 h 46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02" h="464">
                    <a:moveTo>
                      <a:pt x="192" y="0"/>
                    </a:moveTo>
                    <a:cubicBezTo>
                      <a:pt x="176" y="4"/>
                      <a:pt x="120" y="2"/>
                      <a:pt x="90" y="26"/>
                    </a:cubicBezTo>
                    <a:cubicBezTo>
                      <a:pt x="60" y="50"/>
                      <a:pt x="26" y="101"/>
                      <a:pt x="13" y="147"/>
                    </a:cubicBezTo>
                    <a:cubicBezTo>
                      <a:pt x="0" y="193"/>
                      <a:pt x="3" y="258"/>
                      <a:pt x="13" y="301"/>
                    </a:cubicBezTo>
                    <a:cubicBezTo>
                      <a:pt x="23" y="344"/>
                      <a:pt x="44" y="377"/>
                      <a:pt x="71" y="403"/>
                    </a:cubicBezTo>
                    <a:cubicBezTo>
                      <a:pt x="98" y="429"/>
                      <a:pt x="140" y="458"/>
                      <a:pt x="179" y="461"/>
                    </a:cubicBezTo>
                    <a:cubicBezTo>
                      <a:pt x="218" y="464"/>
                      <a:pt x="273" y="448"/>
                      <a:pt x="307" y="422"/>
                    </a:cubicBezTo>
                    <a:cubicBezTo>
                      <a:pt x="341" y="396"/>
                      <a:pt x="370" y="351"/>
                      <a:pt x="384" y="307"/>
                    </a:cubicBezTo>
                    <a:cubicBezTo>
                      <a:pt x="398" y="263"/>
                      <a:pt x="402" y="205"/>
                      <a:pt x="391" y="160"/>
                    </a:cubicBezTo>
                    <a:cubicBezTo>
                      <a:pt x="380" y="115"/>
                      <a:pt x="352" y="65"/>
                      <a:pt x="320" y="38"/>
                    </a:cubicBezTo>
                    <a:cubicBezTo>
                      <a:pt x="288" y="11"/>
                      <a:pt x="224" y="8"/>
                      <a:pt x="199" y="0"/>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7332" name="Group 64"/>
              <p:cNvGrpSpPr>
                <a:grpSpLocks noChangeAspect="1"/>
              </p:cNvGrpSpPr>
              <p:nvPr/>
            </p:nvGrpSpPr>
            <p:grpSpPr bwMode="auto">
              <a:xfrm>
                <a:off x="1695" y="659"/>
                <a:ext cx="46" cy="103"/>
                <a:chOff x="2808" y="1818"/>
                <a:chExt cx="228" cy="516"/>
              </a:xfrm>
            </p:grpSpPr>
            <p:sp>
              <p:nvSpPr>
                <p:cNvPr id="147335" name="Freeform 65"/>
                <p:cNvSpPr>
                  <a:spLocks noChangeAspect="1"/>
                </p:cNvSpPr>
                <p:nvPr/>
              </p:nvSpPr>
              <p:spPr bwMode="auto">
                <a:xfrm>
                  <a:off x="2808" y="1818"/>
                  <a:ext cx="1" cy="516"/>
                </a:xfrm>
                <a:custGeom>
                  <a:avLst/>
                  <a:gdLst>
                    <a:gd name="T0" fmla="*/ 0 w 1"/>
                    <a:gd name="T1" fmla="*/ 0 h 516"/>
                    <a:gd name="T2" fmla="*/ 0 w 1"/>
                    <a:gd name="T3" fmla="*/ 516 h 516"/>
                    <a:gd name="T4" fmla="*/ 0 60000 65536"/>
                    <a:gd name="T5" fmla="*/ 0 60000 65536"/>
                    <a:gd name="T6" fmla="*/ 0 w 1"/>
                    <a:gd name="T7" fmla="*/ 0 h 516"/>
                    <a:gd name="T8" fmla="*/ 1 w 1"/>
                    <a:gd name="T9" fmla="*/ 516 h 516"/>
                  </a:gdLst>
                  <a:ahLst/>
                  <a:cxnLst>
                    <a:cxn ang="T4">
                      <a:pos x="T0" y="T1"/>
                    </a:cxn>
                    <a:cxn ang="T5">
                      <a:pos x="T2" y="T3"/>
                    </a:cxn>
                  </a:cxnLst>
                  <a:rect l="T6" t="T7" r="T8" b="T9"/>
                  <a:pathLst>
                    <a:path w="1" h="516">
                      <a:moveTo>
                        <a:pt x="0" y="0"/>
                      </a:moveTo>
                      <a:cubicBezTo>
                        <a:pt x="0" y="0"/>
                        <a:pt x="0" y="258"/>
                        <a:pt x="0" y="516"/>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336" name="Freeform 66"/>
                <p:cNvSpPr>
                  <a:spLocks noChangeAspect="1"/>
                </p:cNvSpPr>
                <p:nvPr/>
              </p:nvSpPr>
              <p:spPr bwMode="auto">
                <a:xfrm>
                  <a:off x="2808" y="1830"/>
                  <a:ext cx="228" cy="198"/>
                </a:xfrm>
                <a:custGeom>
                  <a:avLst/>
                  <a:gdLst>
                    <a:gd name="T0" fmla="*/ 228 w 228"/>
                    <a:gd name="T1" fmla="*/ 54 h 198"/>
                    <a:gd name="T2" fmla="*/ 138 w 228"/>
                    <a:gd name="T3" fmla="*/ 24 h 198"/>
                    <a:gd name="T4" fmla="*/ 0 w 228"/>
                    <a:gd name="T5" fmla="*/ 198 h 198"/>
                    <a:gd name="T6" fmla="*/ 0 60000 65536"/>
                    <a:gd name="T7" fmla="*/ 0 60000 65536"/>
                    <a:gd name="T8" fmla="*/ 0 60000 65536"/>
                    <a:gd name="T9" fmla="*/ 0 w 228"/>
                    <a:gd name="T10" fmla="*/ 0 h 198"/>
                    <a:gd name="T11" fmla="*/ 228 w 228"/>
                    <a:gd name="T12" fmla="*/ 198 h 198"/>
                  </a:gdLst>
                  <a:ahLst/>
                  <a:cxnLst>
                    <a:cxn ang="T6">
                      <a:pos x="T0" y="T1"/>
                    </a:cxn>
                    <a:cxn ang="T7">
                      <a:pos x="T2" y="T3"/>
                    </a:cxn>
                    <a:cxn ang="T8">
                      <a:pos x="T4" y="T5"/>
                    </a:cxn>
                  </a:cxnLst>
                  <a:rect l="T9" t="T10" r="T11" b="T12"/>
                  <a:pathLst>
                    <a:path w="228" h="198">
                      <a:moveTo>
                        <a:pt x="228" y="54"/>
                      </a:moveTo>
                      <a:cubicBezTo>
                        <a:pt x="202" y="27"/>
                        <a:pt x="176" y="0"/>
                        <a:pt x="138" y="24"/>
                      </a:cubicBezTo>
                      <a:cubicBezTo>
                        <a:pt x="100" y="48"/>
                        <a:pt x="50" y="123"/>
                        <a:pt x="0" y="198"/>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47333" name="Freeform 67"/>
              <p:cNvSpPr>
                <a:spLocks noChangeAspect="1"/>
              </p:cNvSpPr>
              <p:nvPr/>
            </p:nvSpPr>
            <p:spPr bwMode="auto">
              <a:xfrm>
                <a:off x="1782" y="665"/>
                <a:ext cx="74" cy="97"/>
              </a:xfrm>
              <a:custGeom>
                <a:avLst/>
                <a:gdLst>
                  <a:gd name="T0" fmla="*/ 1 w 372"/>
                  <a:gd name="T1" fmla="*/ 1 h 487"/>
                  <a:gd name="T2" fmla="*/ 1 w 372"/>
                  <a:gd name="T3" fmla="*/ 1 h 487"/>
                  <a:gd name="T4" fmla="*/ 0 w 372"/>
                  <a:gd name="T5" fmla="*/ 1 h 487"/>
                  <a:gd name="T6" fmla="*/ 0 w 372"/>
                  <a:gd name="T7" fmla="*/ 1 h 487"/>
                  <a:gd name="T8" fmla="*/ 0 w 372"/>
                  <a:gd name="T9" fmla="*/ 1 h 487"/>
                  <a:gd name="T10" fmla="*/ 0 w 372"/>
                  <a:gd name="T11" fmla="*/ 0 h 487"/>
                  <a:gd name="T12" fmla="*/ 0 w 372"/>
                  <a:gd name="T13" fmla="*/ 0 h 487"/>
                  <a:gd name="T14" fmla="*/ 0 w 372"/>
                  <a:gd name="T15" fmla="*/ 0 h 487"/>
                  <a:gd name="T16" fmla="*/ 0 w 372"/>
                  <a:gd name="T17" fmla="*/ 0 h 487"/>
                  <a:gd name="T18" fmla="*/ 1 w 372"/>
                  <a:gd name="T19" fmla="*/ 0 h 487"/>
                  <a:gd name="T20" fmla="*/ 1 w 372"/>
                  <a:gd name="T21" fmla="*/ 0 h 48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72"/>
                  <a:gd name="T34" fmla="*/ 0 h 487"/>
                  <a:gd name="T35" fmla="*/ 372 w 372"/>
                  <a:gd name="T36" fmla="*/ 487 h 48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72" h="487">
                    <a:moveTo>
                      <a:pt x="372" y="316"/>
                    </a:moveTo>
                    <a:cubicBezTo>
                      <a:pt x="365" y="332"/>
                      <a:pt x="357" y="388"/>
                      <a:pt x="337" y="414"/>
                    </a:cubicBezTo>
                    <a:cubicBezTo>
                      <a:pt x="317" y="440"/>
                      <a:pt x="284" y="463"/>
                      <a:pt x="252" y="473"/>
                    </a:cubicBezTo>
                    <a:cubicBezTo>
                      <a:pt x="220" y="483"/>
                      <a:pt x="180" y="487"/>
                      <a:pt x="147" y="477"/>
                    </a:cubicBezTo>
                    <a:cubicBezTo>
                      <a:pt x="114" y="467"/>
                      <a:pt x="75" y="443"/>
                      <a:pt x="52" y="412"/>
                    </a:cubicBezTo>
                    <a:cubicBezTo>
                      <a:pt x="29" y="381"/>
                      <a:pt x="12" y="340"/>
                      <a:pt x="6" y="294"/>
                    </a:cubicBezTo>
                    <a:cubicBezTo>
                      <a:pt x="0" y="248"/>
                      <a:pt x="1" y="181"/>
                      <a:pt x="15" y="138"/>
                    </a:cubicBezTo>
                    <a:cubicBezTo>
                      <a:pt x="29" y="95"/>
                      <a:pt x="60" y="57"/>
                      <a:pt x="92" y="34"/>
                    </a:cubicBezTo>
                    <a:cubicBezTo>
                      <a:pt x="124" y="11"/>
                      <a:pt x="169" y="0"/>
                      <a:pt x="206" y="2"/>
                    </a:cubicBezTo>
                    <a:cubicBezTo>
                      <a:pt x="243" y="4"/>
                      <a:pt x="290" y="26"/>
                      <a:pt x="316" y="48"/>
                    </a:cubicBezTo>
                    <a:cubicBezTo>
                      <a:pt x="342" y="70"/>
                      <a:pt x="353" y="116"/>
                      <a:pt x="362" y="134"/>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334" name="Freeform 68"/>
              <p:cNvSpPr>
                <a:spLocks noChangeAspect="1"/>
              </p:cNvSpPr>
              <p:nvPr/>
            </p:nvSpPr>
            <p:spPr bwMode="auto">
              <a:xfrm>
                <a:off x="1898" y="669"/>
                <a:ext cx="74" cy="93"/>
              </a:xfrm>
              <a:custGeom>
                <a:avLst/>
                <a:gdLst>
                  <a:gd name="T0" fmla="*/ 1 w 368"/>
                  <a:gd name="T1" fmla="*/ 1 h 465"/>
                  <a:gd name="T2" fmla="*/ 0 w 368"/>
                  <a:gd name="T3" fmla="*/ 1 h 465"/>
                  <a:gd name="T4" fmla="*/ 0 w 368"/>
                  <a:gd name="T5" fmla="*/ 1 h 465"/>
                  <a:gd name="T6" fmla="*/ 0 w 368"/>
                  <a:gd name="T7" fmla="*/ 1 h 465"/>
                  <a:gd name="T8" fmla="*/ 0 w 368"/>
                  <a:gd name="T9" fmla="*/ 0 h 465"/>
                  <a:gd name="T10" fmla="*/ 0 w 368"/>
                  <a:gd name="T11" fmla="*/ 0 h 465"/>
                  <a:gd name="T12" fmla="*/ 0 w 368"/>
                  <a:gd name="T13" fmla="*/ 0 h 465"/>
                  <a:gd name="T14" fmla="*/ 1 w 368"/>
                  <a:gd name="T15" fmla="*/ 0 h 465"/>
                  <a:gd name="T16" fmla="*/ 1 w 368"/>
                  <a:gd name="T17" fmla="*/ 0 h 465"/>
                  <a:gd name="T18" fmla="*/ 0 w 368"/>
                  <a:gd name="T19" fmla="*/ 0 h 46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68"/>
                  <a:gd name="T31" fmla="*/ 0 h 465"/>
                  <a:gd name="T32" fmla="*/ 368 w 368"/>
                  <a:gd name="T33" fmla="*/ 465 h 46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68" h="465">
                    <a:moveTo>
                      <a:pt x="350" y="344"/>
                    </a:moveTo>
                    <a:cubicBezTo>
                      <a:pt x="334" y="362"/>
                      <a:pt x="288" y="429"/>
                      <a:pt x="248" y="446"/>
                    </a:cubicBezTo>
                    <a:cubicBezTo>
                      <a:pt x="208" y="463"/>
                      <a:pt x="148" y="465"/>
                      <a:pt x="110" y="446"/>
                    </a:cubicBezTo>
                    <a:cubicBezTo>
                      <a:pt x="72" y="427"/>
                      <a:pt x="35" y="386"/>
                      <a:pt x="20" y="332"/>
                    </a:cubicBezTo>
                    <a:cubicBezTo>
                      <a:pt x="5" y="278"/>
                      <a:pt x="0" y="175"/>
                      <a:pt x="20" y="122"/>
                    </a:cubicBezTo>
                    <a:cubicBezTo>
                      <a:pt x="40" y="69"/>
                      <a:pt x="96" y="28"/>
                      <a:pt x="140" y="14"/>
                    </a:cubicBezTo>
                    <a:cubicBezTo>
                      <a:pt x="184" y="0"/>
                      <a:pt x="248" y="19"/>
                      <a:pt x="284" y="38"/>
                    </a:cubicBezTo>
                    <a:cubicBezTo>
                      <a:pt x="320" y="57"/>
                      <a:pt x="342" y="97"/>
                      <a:pt x="356" y="128"/>
                    </a:cubicBezTo>
                    <a:lnTo>
                      <a:pt x="368" y="224"/>
                    </a:lnTo>
                    <a:lnTo>
                      <a:pt x="8" y="224"/>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147219" name="Group 69"/>
            <p:cNvGrpSpPr>
              <a:grpSpLocks noChangeAspect="1"/>
            </p:cNvGrpSpPr>
            <p:nvPr/>
          </p:nvGrpSpPr>
          <p:grpSpPr bwMode="auto">
            <a:xfrm>
              <a:off x="2411" y="1591"/>
              <a:ext cx="93" cy="34"/>
              <a:chOff x="1492" y="1562"/>
              <a:chExt cx="185" cy="68"/>
            </a:xfrm>
          </p:grpSpPr>
          <p:sp>
            <p:nvSpPr>
              <p:cNvPr id="147325" name="Freeform 70"/>
              <p:cNvSpPr>
                <a:spLocks noChangeAspect="1"/>
              </p:cNvSpPr>
              <p:nvPr/>
            </p:nvSpPr>
            <p:spPr bwMode="auto">
              <a:xfrm>
                <a:off x="1492" y="1565"/>
                <a:ext cx="57" cy="65"/>
              </a:xfrm>
              <a:custGeom>
                <a:avLst/>
                <a:gdLst>
                  <a:gd name="T0" fmla="*/ 0 w 562"/>
                  <a:gd name="T1" fmla="*/ 0 h 641"/>
                  <a:gd name="T2" fmla="*/ 0 w 562"/>
                  <a:gd name="T3" fmla="*/ 0 h 641"/>
                  <a:gd name="T4" fmla="*/ 0 w 562"/>
                  <a:gd name="T5" fmla="*/ 0 h 641"/>
                  <a:gd name="T6" fmla="*/ 0 w 562"/>
                  <a:gd name="T7" fmla="*/ 0 h 641"/>
                  <a:gd name="T8" fmla="*/ 0 w 562"/>
                  <a:gd name="T9" fmla="*/ 0 h 641"/>
                  <a:gd name="T10" fmla="*/ 0 w 562"/>
                  <a:gd name="T11" fmla="*/ 0 h 641"/>
                  <a:gd name="T12" fmla="*/ 0 w 562"/>
                  <a:gd name="T13" fmla="*/ 0 h 641"/>
                  <a:gd name="T14" fmla="*/ 0 w 562"/>
                  <a:gd name="T15" fmla="*/ 0 h 641"/>
                  <a:gd name="T16" fmla="*/ 0 w 562"/>
                  <a:gd name="T17" fmla="*/ 0 h 641"/>
                  <a:gd name="T18" fmla="*/ 0 w 562"/>
                  <a:gd name="T19" fmla="*/ 0 h 641"/>
                  <a:gd name="T20" fmla="*/ 0 w 562"/>
                  <a:gd name="T21" fmla="*/ 0 h 64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62"/>
                  <a:gd name="T34" fmla="*/ 0 h 641"/>
                  <a:gd name="T35" fmla="*/ 562 w 562"/>
                  <a:gd name="T36" fmla="*/ 641 h 64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62" h="641">
                    <a:moveTo>
                      <a:pt x="550" y="166"/>
                    </a:moveTo>
                    <a:cubicBezTo>
                      <a:pt x="538" y="147"/>
                      <a:pt x="519" y="79"/>
                      <a:pt x="478" y="52"/>
                    </a:cubicBezTo>
                    <a:cubicBezTo>
                      <a:pt x="437" y="25"/>
                      <a:pt x="367" y="0"/>
                      <a:pt x="304" y="4"/>
                    </a:cubicBezTo>
                    <a:cubicBezTo>
                      <a:pt x="241" y="8"/>
                      <a:pt x="149" y="28"/>
                      <a:pt x="100" y="76"/>
                    </a:cubicBezTo>
                    <a:cubicBezTo>
                      <a:pt x="51" y="124"/>
                      <a:pt x="20" y="222"/>
                      <a:pt x="10" y="292"/>
                    </a:cubicBezTo>
                    <a:cubicBezTo>
                      <a:pt x="0" y="362"/>
                      <a:pt x="10" y="442"/>
                      <a:pt x="40" y="496"/>
                    </a:cubicBezTo>
                    <a:cubicBezTo>
                      <a:pt x="70" y="550"/>
                      <a:pt x="126" y="594"/>
                      <a:pt x="190" y="616"/>
                    </a:cubicBezTo>
                    <a:cubicBezTo>
                      <a:pt x="254" y="638"/>
                      <a:pt x="362" y="641"/>
                      <a:pt x="424" y="628"/>
                    </a:cubicBezTo>
                    <a:cubicBezTo>
                      <a:pt x="486" y="615"/>
                      <a:pt x="540" y="584"/>
                      <a:pt x="562" y="538"/>
                    </a:cubicBezTo>
                    <a:lnTo>
                      <a:pt x="556" y="352"/>
                    </a:lnTo>
                    <a:lnTo>
                      <a:pt x="322" y="352"/>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7326" name="Group 71"/>
              <p:cNvGrpSpPr>
                <a:grpSpLocks noChangeAspect="1"/>
              </p:cNvGrpSpPr>
              <p:nvPr/>
            </p:nvGrpSpPr>
            <p:grpSpPr bwMode="auto">
              <a:xfrm>
                <a:off x="1568" y="1565"/>
                <a:ext cx="45" cy="65"/>
                <a:chOff x="3017" y="1343"/>
                <a:chExt cx="420" cy="612"/>
              </a:xfrm>
            </p:grpSpPr>
            <p:sp>
              <p:nvSpPr>
                <p:cNvPr id="147328" name="Freeform 72"/>
                <p:cNvSpPr>
                  <a:spLocks noChangeAspect="1"/>
                </p:cNvSpPr>
                <p:nvPr/>
              </p:nvSpPr>
              <p:spPr bwMode="auto">
                <a:xfrm>
                  <a:off x="3017" y="1343"/>
                  <a:ext cx="420" cy="612"/>
                </a:xfrm>
                <a:custGeom>
                  <a:avLst/>
                  <a:gdLst>
                    <a:gd name="T0" fmla="*/ 420 w 420"/>
                    <a:gd name="T1" fmla="*/ 606 h 612"/>
                    <a:gd name="T2" fmla="*/ 0 w 420"/>
                    <a:gd name="T3" fmla="*/ 612 h 612"/>
                    <a:gd name="T4" fmla="*/ 6 w 420"/>
                    <a:gd name="T5" fmla="*/ 0 h 612"/>
                    <a:gd name="T6" fmla="*/ 402 w 420"/>
                    <a:gd name="T7" fmla="*/ 0 h 612"/>
                    <a:gd name="T8" fmla="*/ 0 60000 65536"/>
                    <a:gd name="T9" fmla="*/ 0 60000 65536"/>
                    <a:gd name="T10" fmla="*/ 0 60000 65536"/>
                    <a:gd name="T11" fmla="*/ 0 60000 65536"/>
                    <a:gd name="T12" fmla="*/ 0 w 420"/>
                    <a:gd name="T13" fmla="*/ 0 h 612"/>
                    <a:gd name="T14" fmla="*/ 420 w 420"/>
                    <a:gd name="T15" fmla="*/ 612 h 612"/>
                  </a:gdLst>
                  <a:ahLst/>
                  <a:cxnLst>
                    <a:cxn ang="T8">
                      <a:pos x="T0" y="T1"/>
                    </a:cxn>
                    <a:cxn ang="T9">
                      <a:pos x="T2" y="T3"/>
                    </a:cxn>
                    <a:cxn ang="T10">
                      <a:pos x="T4" y="T5"/>
                    </a:cxn>
                    <a:cxn ang="T11">
                      <a:pos x="T6" y="T7"/>
                    </a:cxn>
                  </a:cxnLst>
                  <a:rect l="T12" t="T13" r="T14" b="T15"/>
                  <a:pathLst>
                    <a:path w="420" h="612">
                      <a:moveTo>
                        <a:pt x="420" y="606"/>
                      </a:moveTo>
                      <a:lnTo>
                        <a:pt x="0" y="612"/>
                      </a:lnTo>
                      <a:lnTo>
                        <a:pt x="6" y="0"/>
                      </a:lnTo>
                      <a:lnTo>
                        <a:pt x="402" y="0"/>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329" name="Line 73"/>
                <p:cNvSpPr>
                  <a:spLocks noChangeAspect="1" noChangeShapeType="1"/>
                </p:cNvSpPr>
                <p:nvPr/>
              </p:nvSpPr>
              <p:spPr bwMode="auto">
                <a:xfrm>
                  <a:off x="3017" y="1637"/>
                  <a:ext cx="378" cy="0"/>
                </a:xfrm>
                <a:prstGeom prst="line">
                  <a:avLst/>
                </a:prstGeom>
                <a:noFill/>
                <a:ln w="63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47327" name="Freeform 74"/>
              <p:cNvSpPr>
                <a:spLocks noChangeAspect="1"/>
              </p:cNvSpPr>
              <p:nvPr/>
            </p:nvSpPr>
            <p:spPr bwMode="auto">
              <a:xfrm>
                <a:off x="1633" y="1562"/>
                <a:ext cx="44" cy="68"/>
              </a:xfrm>
              <a:custGeom>
                <a:avLst/>
                <a:gdLst>
                  <a:gd name="T0" fmla="*/ 0 w 420"/>
                  <a:gd name="T1" fmla="*/ 0 h 654"/>
                  <a:gd name="T2" fmla="*/ 0 w 420"/>
                  <a:gd name="T3" fmla="*/ 0 h 654"/>
                  <a:gd name="T4" fmla="*/ 0 w 420"/>
                  <a:gd name="T5" fmla="*/ 0 h 654"/>
                  <a:gd name="T6" fmla="*/ 0 60000 65536"/>
                  <a:gd name="T7" fmla="*/ 0 60000 65536"/>
                  <a:gd name="T8" fmla="*/ 0 60000 65536"/>
                  <a:gd name="T9" fmla="*/ 0 w 420"/>
                  <a:gd name="T10" fmla="*/ 0 h 654"/>
                  <a:gd name="T11" fmla="*/ 420 w 420"/>
                  <a:gd name="T12" fmla="*/ 654 h 654"/>
                </a:gdLst>
                <a:ahLst/>
                <a:cxnLst>
                  <a:cxn ang="T6">
                    <a:pos x="T0" y="T1"/>
                  </a:cxn>
                  <a:cxn ang="T7">
                    <a:pos x="T2" y="T3"/>
                  </a:cxn>
                  <a:cxn ang="T8">
                    <a:pos x="T4" y="T5"/>
                  </a:cxn>
                </a:cxnLst>
                <a:rect l="T9" t="T10" r="T11" b="T12"/>
                <a:pathLst>
                  <a:path w="420" h="654">
                    <a:moveTo>
                      <a:pt x="0" y="0"/>
                    </a:moveTo>
                    <a:lnTo>
                      <a:pt x="0" y="654"/>
                    </a:lnTo>
                    <a:lnTo>
                      <a:pt x="420" y="654"/>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47220" name="Line 75"/>
            <p:cNvSpPr>
              <a:spLocks noChangeAspect="1" noChangeShapeType="1"/>
            </p:cNvSpPr>
            <p:nvPr/>
          </p:nvSpPr>
          <p:spPr bwMode="auto">
            <a:xfrm>
              <a:off x="2370" y="1448"/>
              <a:ext cx="903" cy="0"/>
            </a:xfrm>
            <a:prstGeom prst="line">
              <a:avLst/>
            </a:prstGeom>
            <a:noFill/>
            <a:ln w="12700">
              <a:solidFill>
                <a:srgbClr val="9966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221" name="Line 76"/>
            <p:cNvSpPr>
              <a:spLocks noChangeAspect="1" noChangeShapeType="1"/>
            </p:cNvSpPr>
            <p:nvPr/>
          </p:nvSpPr>
          <p:spPr bwMode="auto">
            <a:xfrm>
              <a:off x="2370" y="1264"/>
              <a:ext cx="903" cy="0"/>
            </a:xfrm>
            <a:prstGeom prst="line">
              <a:avLst/>
            </a:prstGeom>
            <a:noFill/>
            <a:ln w="12700">
              <a:solidFill>
                <a:srgbClr val="9966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222" name="Line 77"/>
            <p:cNvSpPr>
              <a:spLocks noChangeAspect="1" noChangeShapeType="1"/>
            </p:cNvSpPr>
            <p:nvPr/>
          </p:nvSpPr>
          <p:spPr bwMode="auto">
            <a:xfrm>
              <a:off x="2370" y="1295"/>
              <a:ext cx="903" cy="0"/>
            </a:xfrm>
            <a:prstGeom prst="line">
              <a:avLst/>
            </a:prstGeom>
            <a:noFill/>
            <a:ln w="12700">
              <a:solidFill>
                <a:srgbClr val="9966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223" name="Line 78"/>
            <p:cNvSpPr>
              <a:spLocks noChangeAspect="1" noChangeShapeType="1"/>
            </p:cNvSpPr>
            <p:nvPr/>
          </p:nvSpPr>
          <p:spPr bwMode="auto">
            <a:xfrm>
              <a:off x="2370" y="1356"/>
              <a:ext cx="903" cy="0"/>
            </a:xfrm>
            <a:prstGeom prst="line">
              <a:avLst/>
            </a:prstGeom>
            <a:noFill/>
            <a:ln w="12700">
              <a:solidFill>
                <a:srgbClr val="9966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224" name="Line 79"/>
            <p:cNvSpPr>
              <a:spLocks noChangeAspect="1" noChangeShapeType="1"/>
            </p:cNvSpPr>
            <p:nvPr/>
          </p:nvSpPr>
          <p:spPr bwMode="auto">
            <a:xfrm>
              <a:off x="2370" y="1417"/>
              <a:ext cx="903" cy="0"/>
            </a:xfrm>
            <a:prstGeom prst="line">
              <a:avLst/>
            </a:prstGeom>
            <a:noFill/>
            <a:ln w="12700">
              <a:solidFill>
                <a:srgbClr val="9966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225" name="Line 80"/>
            <p:cNvSpPr>
              <a:spLocks noChangeAspect="1" noChangeShapeType="1"/>
            </p:cNvSpPr>
            <p:nvPr/>
          </p:nvSpPr>
          <p:spPr bwMode="auto">
            <a:xfrm>
              <a:off x="2370" y="1310"/>
              <a:ext cx="903" cy="0"/>
            </a:xfrm>
            <a:prstGeom prst="line">
              <a:avLst/>
            </a:prstGeom>
            <a:noFill/>
            <a:ln w="12700">
              <a:solidFill>
                <a:srgbClr val="9966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226" name="Line 81"/>
            <p:cNvSpPr>
              <a:spLocks noChangeAspect="1" noChangeShapeType="1"/>
            </p:cNvSpPr>
            <p:nvPr/>
          </p:nvSpPr>
          <p:spPr bwMode="auto">
            <a:xfrm>
              <a:off x="2370" y="1371"/>
              <a:ext cx="903" cy="0"/>
            </a:xfrm>
            <a:prstGeom prst="line">
              <a:avLst/>
            </a:prstGeom>
            <a:noFill/>
            <a:ln w="12700">
              <a:solidFill>
                <a:srgbClr val="9966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227" name="Line 82"/>
            <p:cNvSpPr>
              <a:spLocks noChangeAspect="1" noChangeShapeType="1"/>
            </p:cNvSpPr>
            <p:nvPr/>
          </p:nvSpPr>
          <p:spPr bwMode="auto">
            <a:xfrm>
              <a:off x="2370" y="1433"/>
              <a:ext cx="903" cy="0"/>
            </a:xfrm>
            <a:prstGeom prst="line">
              <a:avLst/>
            </a:prstGeom>
            <a:noFill/>
            <a:ln w="12700">
              <a:solidFill>
                <a:srgbClr val="9966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228" name="Line 83"/>
            <p:cNvSpPr>
              <a:spLocks noChangeAspect="1" noChangeShapeType="1"/>
            </p:cNvSpPr>
            <p:nvPr/>
          </p:nvSpPr>
          <p:spPr bwMode="auto">
            <a:xfrm>
              <a:off x="2370" y="1402"/>
              <a:ext cx="903" cy="0"/>
            </a:xfrm>
            <a:prstGeom prst="line">
              <a:avLst/>
            </a:prstGeom>
            <a:noFill/>
            <a:ln w="12700">
              <a:solidFill>
                <a:srgbClr val="9966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229" name="Line 84"/>
            <p:cNvSpPr>
              <a:spLocks noChangeAspect="1" noChangeShapeType="1"/>
            </p:cNvSpPr>
            <p:nvPr/>
          </p:nvSpPr>
          <p:spPr bwMode="auto">
            <a:xfrm>
              <a:off x="2370" y="1279"/>
              <a:ext cx="903" cy="0"/>
            </a:xfrm>
            <a:prstGeom prst="line">
              <a:avLst/>
            </a:prstGeom>
            <a:noFill/>
            <a:ln w="12700">
              <a:solidFill>
                <a:srgbClr val="9966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230" name="Line 85"/>
            <p:cNvSpPr>
              <a:spLocks noChangeAspect="1" noChangeShapeType="1"/>
            </p:cNvSpPr>
            <p:nvPr/>
          </p:nvSpPr>
          <p:spPr bwMode="auto">
            <a:xfrm>
              <a:off x="2370" y="1325"/>
              <a:ext cx="903" cy="0"/>
            </a:xfrm>
            <a:prstGeom prst="line">
              <a:avLst/>
            </a:prstGeom>
            <a:noFill/>
            <a:ln w="12700">
              <a:solidFill>
                <a:srgbClr val="9966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231" name="Line 86"/>
            <p:cNvSpPr>
              <a:spLocks noChangeAspect="1" noChangeShapeType="1"/>
            </p:cNvSpPr>
            <p:nvPr/>
          </p:nvSpPr>
          <p:spPr bwMode="auto">
            <a:xfrm>
              <a:off x="2370" y="1386"/>
              <a:ext cx="903" cy="0"/>
            </a:xfrm>
            <a:prstGeom prst="line">
              <a:avLst/>
            </a:prstGeom>
            <a:noFill/>
            <a:ln w="12700">
              <a:solidFill>
                <a:srgbClr val="9966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232" name="Line 87"/>
            <p:cNvSpPr>
              <a:spLocks noChangeAspect="1" noChangeShapeType="1"/>
            </p:cNvSpPr>
            <p:nvPr/>
          </p:nvSpPr>
          <p:spPr bwMode="auto">
            <a:xfrm>
              <a:off x="2370" y="1340"/>
              <a:ext cx="903" cy="0"/>
            </a:xfrm>
            <a:prstGeom prst="line">
              <a:avLst/>
            </a:prstGeom>
            <a:noFill/>
            <a:ln w="12700">
              <a:solidFill>
                <a:srgbClr val="9966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233" name="AutoShape 88"/>
            <p:cNvSpPr>
              <a:spLocks noChangeAspect="1"/>
            </p:cNvSpPr>
            <p:nvPr/>
          </p:nvSpPr>
          <p:spPr bwMode="auto">
            <a:xfrm>
              <a:off x="3276" y="1265"/>
              <a:ext cx="28" cy="183"/>
            </a:xfrm>
            <a:prstGeom prst="rightBracket">
              <a:avLst>
                <a:gd name="adj" fmla="val 54464"/>
              </a:avLst>
            </a:prstGeom>
            <a:noFill/>
            <a:ln w="1270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234" name="AutoShape 89"/>
            <p:cNvSpPr>
              <a:spLocks noChangeAspect="1"/>
            </p:cNvSpPr>
            <p:nvPr/>
          </p:nvSpPr>
          <p:spPr bwMode="auto">
            <a:xfrm>
              <a:off x="3278" y="1460"/>
              <a:ext cx="28" cy="57"/>
            </a:xfrm>
            <a:prstGeom prst="rightBracket">
              <a:avLst>
                <a:gd name="adj" fmla="val 16964"/>
              </a:avLst>
            </a:prstGeom>
            <a:noFill/>
            <a:ln w="1270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235" name="Line 90"/>
            <p:cNvSpPr>
              <a:spLocks noChangeAspect="1" noChangeShapeType="1"/>
            </p:cNvSpPr>
            <p:nvPr/>
          </p:nvSpPr>
          <p:spPr bwMode="auto">
            <a:xfrm flipH="1" flipV="1">
              <a:off x="3280" y="1545"/>
              <a:ext cx="90" cy="93"/>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47236" name="Group 91"/>
            <p:cNvGrpSpPr>
              <a:grpSpLocks noChangeAspect="1"/>
            </p:cNvGrpSpPr>
            <p:nvPr/>
          </p:nvGrpSpPr>
          <p:grpSpPr bwMode="auto">
            <a:xfrm>
              <a:off x="2106" y="1599"/>
              <a:ext cx="133" cy="34"/>
              <a:chOff x="1387" y="2767"/>
              <a:chExt cx="530" cy="136"/>
            </a:xfrm>
          </p:grpSpPr>
          <p:grpSp>
            <p:nvGrpSpPr>
              <p:cNvPr id="147311" name="Group 92"/>
              <p:cNvGrpSpPr>
                <a:grpSpLocks noChangeAspect="1"/>
              </p:cNvGrpSpPr>
              <p:nvPr/>
            </p:nvGrpSpPr>
            <p:grpSpPr bwMode="auto">
              <a:xfrm>
                <a:off x="1387" y="2776"/>
                <a:ext cx="80" cy="127"/>
                <a:chOff x="3653" y="1343"/>
                <a:chExt cx="384" cy="612"/>
              </a:xfrm>
            </p:grpSpPr>
            <p:sp>
              <p:nvSpPr>
                <p:cNvPr id="147323" name="Freeform 93"/>
                <p:cNvSpPr>
                  <a:spLocks noChangeAspect="1"/>
                </p:cNvSpPr>
                <p:nvPr/>
              </p:nvSpPr>
              <p:spPr bwMode="auto">
                <a:xfrm>
                  <a:off x="3653" y="1343"/>
                  <a:ext cx="384" cy="612"/>
                </a:xfrm>
                <a:custGeom>
                  <a:avLst/>
                  <a:gdLst>
                    <a:gd name="T0" fmla="*/ 384 w 384"/>
                    <a:gd name="T1" fmla="*/ 0 h 612"/>
                    <a:gd name="T2" fmla="*/ 0 w 384"/>
                    <a:gd name="T3" fmla="*/ 0 h 612"/>
                    <a:gd name="T4" fmla="*/ 0 w 384"/>
                    <a:gd name="T5" fmla="*/ 612 h 612"/>
                    <a:gd name="T6" fmla="*/ 0 60000 65536"/>
                    <a:gd name="T7" fmla="*/ 0 60000 65536"/>
                    <a:gd name="T8" fmla="*/ 0 60000 65536"/>
                    <a:gd name="T9" fmla="*/ 0 w 384"/>
                    <a:gd name="T10" fmla="*/ 0 h 612"/>
                    <a:gd name="T11" fmla="*/ 384 w 384"/>
                    <a:gd name="T12" fmla="*/ 612 h 612"/>
                  </a:gdLst>
                  <a:ahLst/>
                  <a:cxnLst>
                    <a:cxn ang="T6">
                      <a:pos x="T0" y="T1"/>
                    </a:cxn>
                    <a:cxn ang="T7">
                      <a:pos x="T2" y="T3"/>
                    </a:cxn>
                    <a:cxn ang="T8">
                      <a:pos x="T4" y="T5"/>
                    </a:cxn>
                  </a:cxnLst>
                  <a:rect l="T9" t="T10" r="T11" b="T12"/>
                  <a:pathLst>
                    <a:path w="384" h="612">
                      <a:moveTo>
                        <a:pt x="384" y="0"/>
                      </a:moveTo>
                      <a:lnTo>
                        <a:pt x="0" y="0"/>
                      </a:lnTo>
                      <a:lnTo>
                        <a:pt x="0" y="612"/>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324" name="Line 94"/>
                <p:cNvSpPr>
                  <a:spLocks noChangeAspect="1" noChangeShapeType="1"/>
                </p:cNvSpPr>
                <p:nvPr/>
              </p:nvSpPr>
              <p:spPr bwMode="auto">
                <a:xfrm flipH="1">
                  <a:off x="3653" y="1637"/>
                  <a:ext cx="324" cy="0"/>
                </a:xfrm>
                <a:prstGeom prst="line">
                  <a:avLst/>
                </a:prstGeom>
                <a:noFill/>
                <a:ln w="63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47312" name="Group 95"/>
              <p:cNvGrpSpPr>
                <a:grpSpLocks noChangeAspect="1"/>
              </p:cNvGrpSpPr>
              <p:nvPr/>
            </p:nvGrpSpPr>
            <p:grpSpPr bwMode="auto">
              <a:xfrm>
                <a:off x="1518" y="2767"/>
                <a:ext cx="11" cy="136"/>
                <a:chOff x="1434" y="1286"/>
                <a:chExt cx="56" cy="679"/>
              </a:xfrm>
            </p:grpSpPr>
            <p:sp>
              <p:nvSpPr>
                <p:cNvPr id="147321" name="Freeform 96"/>
                <p:cNvSpPr>
                  <a:spLocks noChangeAspect="1"/>
                </p:cNvSpPr>
                <p:nvPr/>
              </p:nvSpPr>
              <p:spPr bwMode="auto">
                <a:xfrm>
                  <a:off x="1459" y="1459"/>
                  <a:ext cx="1" cy="506"/>
                </a:xfrm>
                <a:custGeom>
                  <a:avLst/>
                  <a:gdLst>
                    <a:gd name="T0" fmla="*/ 0 w 1"/>
                    <a:gd name="T1" fmla="*/ 0 h 506"/>
                    <a:gd name="T2" fmla="*/ 0 w 1"/>
                    <a:gd name="T3" fmla="*/ 506 h 506"/>
                    <a:gd name="T4" fmla="*/ 0 60000 65536"/>
                    <a:gd name="T5" fmla="*/ 0 60000 65536"/>
                    <a:gd name="T6" fmla="*/ 0 w 1"/>
                    <a:gd name="T7" fmla="*/ 0 h 506"/>
                    <a:gd name="T8" fmla="*/ 1 w 1"/>
                    <a:gd name="T9" fmla="*/ 506 h 506"/>
                  </a:gdLst>
                  <a:ahLst/>
                  <a:cxnLst>
                    <a:cxn ang="T4">
                      <a:pos x="T0" y="T1"/>
                    </a:cxn>
                    <a:cxn ang="T5">
                      <a:pos x="T2" y="T3"/>
                    </a:cxn>
                  </a:cxnLst>
                  <a:rect l="T6" t="T7" r="T8" b="T9"/>
                  <a:pathLst>
                    <a:path w="1" h="506">
                      <a:moveTo>
                        <a:pt x="0" y="0"/>
                      </a:moveTo>
                      <a:cubicBezTo>
                        <a:pt x="0" y="211"/>
                        <a:pt x="0" y="422"/>
                        <a:pt x="0" y="506"/>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322" name="Oval 97"/>
                <p:cNvSpPr>
                  <a:spLocks noChangeAspect="1" noChangeArrowheads="1"/>
                </p:cNvSpPr>
                <p:nvPr/>
              </p:nvSpPr>
              <p:spPr bwMode="auto">
                <a:xfrm>
                  <a:off x="1434" y="1286"/>
                  <a:ext cx="56" cy="56"/>
                </a:xfrm>
                <a:prstGeom prst="ellipse">
                  <a:avLst/>
                </a:prstGeom>
                <a:solidFill>
                  <a:schemeClr val="tx1"/>
                </a:solidFill>
                <a:ln w="6350">
                  <a:solidFill>
                    <a:schemeClr val="tx1"/>
                  </a:solidFill>
                  <a:rou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sp>
            <p:nvSpPr>
              <p:cNvPr id="147313" name="Line 98"/>
              <p:cNvSpPr>
                <a:spLocks noChangeAspect="1" noChangeShapeType="1"/>
              </p:cNvSpPr>
              <p:nvPr/>
            </p:nvSpPr>
            <p:spPr bwMode="auto">
              <a:xfrm>
                <a:off x="1590" y="2767"/>
                <a:ext cx="1" cy="136"/>
              </a:xfrm>
              <a:prstGeom prst="line">
                <a:avLst/>
              </a:prstGeom>
              <a:noFill/>
              <a:ln w="63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147314" name="Group 99"/>
              <p:cNvGrpSpPr>
                <a:grpSpLocks noChangeAspect="1"/>
              </p:cNvGrpSpPr>
              <p:nvPr/>
            </p:nvGrpSpPr>
            <p:grpSpPr bwMode="auto">
              <a:xfrm>
                <a:off x="1645" y="2776"/>
                <a:ext cx="58" cy="127"/>
                <a:chOff x="3612" y="1686"/>
                <a:chExt cx="288" cy="634"/>
              </a:xfrm>
            </p:grpSpPr>
            <p:sp>
              <p:nvSpPr>
                <p:cNvPr id="147319" name="Freeform 100"/>
                <p:cNvSpPr>
                  <a:spLocks noChangeAspect="1"/>
                </p:cNvSpPr>
                <p:nvPr/>
              </p:nvSpPr>
              <p:spPr bwMode="auto">
                <a:xfrm>
                  <a:off x="3738" y="1686"/>
                  <a:ext cx="162" cy="634"/>
                </a:xfrm>
                <a:custGeom>
                  <a:avLst/>
                  <a:gdLst>
                    <a:gd name="T0" fmla="*/ 0 w 162"/>
                    <a:gd name="T1" fmla="*/ 0 h 634"/>
                    <a:gd name="T2" fmla="*/ 0 w 162"/>
                    <a:gd name="T3" fmla="*/ 534 h 634"/>
                    <a:gd name="T4" fmla="*/ 162 w 162"/>
                    <a:gd name="T5" fmla="*/ 600 h 634"/>
                    <a:gd name="T6" fmla="*/ 0 60000 65536"/>
                    <a:gd name="T7" fmla="*/ 0 60000 65536"/>
                    <a:gd name="T8" fmla="*/ 0 60000 65536"/>
                    <a:gd name="T9" fmla="*/ 0 w 162"/>
                    <a:gd name="T10" fmla="*/ 0 h 634"/>
                    <a:gd name="T11" fmla="*/ 162 w 162"/>
                    <a:gd name="T12" fmla="*/ 634 h 634"/>
                  </a:gdLst>
                  <a:ahLst/>
                  <a:cxnLst>
                    <a:cxn ang="T6">
                      <a:pos x="T0" y="T1"/>
                    </a:cxn>
                    <a:cxn ang="T7">
                      <a:pos x="T2" y="T3"/>
                    </a:cxn>
                    <a:cxn ang="T8">
                      <a:pos x="T4" y="T5"/>
                    </a:cxn>
                  </a:cxnLst>
                  <a:rect l="T9" t="T10" r="T11" b="T12"/>
                  <a:pathLst>
                    <a:path w="162" h="634">
                      <a:moveTo>
                        <a:pt x="0" y="0"/>
                      </a:moveTo>
                      <a:lnTo>
                        <a:pt x="0" y="534"/>
                      </a:lnTo>
                      <a:cubicBezTo>
                        <a:pt x="27" y="634"/>
                        <a:pt x="94" y="617"/>
                        <a:pt x="162" y="600"/>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320" name="Freeform 101"/>
                <p:cNvSpPr>
                  <a:spLocks noChangeAspect="1"/>
                </p:cNvSpPr>
                <p:nvPr/>
              </p:nvSpPr>
              <p:spPr bwMode="auto">
                <a:xfrm>
                  <a:off x="3612" y="1872"/>
                  <a:ext cx="276" cy="1"/>
                </a:xfrm>
                <a:custGeom>
                  <a:avLst/>
                  <a:gdLst>
                    <a:gd name="T0" fmla="*/ 0 w 276"/>
                    <a:gd name="T1" fmla="*/ 0 h 1"/>
                    <a:gd name="T2" fmla="*/ 276 w 276"/>
                    <a:gd name="T3" fmla="*/ 0 h 1"/>
                    <a:gd name="T4" fmla="*/ 0 60000 65536"/>
                    <a:gd name="T5" fmla="*/ 0 60000 65536"/>
                    <a:gd name="T6" fmla="*/ 0 w 276"/>
                    <a:gd name="T7" fmla="*/ 0 h 1"/>
                    <a:gd name="T8" fmla="*/ 276 w 276"/>
                    <a:gd name="T9" fmla="*/ 1 h 1"/>
                  </a:gdLst>
                  <a:ahLst/>
                  <a:cxnLst>
                    <a:cxn ang="T4">
                      <a:pos x="T0" y="T1"/>
                    </a:cxn>
                    <a:cxn ang="T5">
                      <a:pos x="T2" y="T3"/>
                    </a:cxn>
                  </a:cxnLst>
                  <a:rect l="T6" t="T7" r="T8" b="T9"/>
                  <a:pathLst>
                    <a:path w="276" h="1">
                      <a:moveTo>
                        <a:pt x="0" y="0"/>
                      </a:moveTo>
                      <a:cubicBezTo>
                        <a:pt x="0" y="0"/>
                        <a:pt x="138" y="0"/>
                        <a:pt x="276" y="0"/>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47315" name="Freeform 102"/>
              <p:cNvSpPr>
                <a:spLocks noChangeAspect="1"/>
              </p:cNvSpPr>
              <p:nvPr/>
            </p:nvSpPr>
            <p:spPr bwMode="auto">
              <a:xfrm>
                <a:off x="1741" y="2810"/>
                <a:ext cx="74" cy="93"/>
              </a:xfrm>
              <a:custGeom>
                <a:avLst/>
                <a:gdLst>
                  <a:gd name="T0" fmla="*/ 1 w 368"/>
                  <a:gd name="T1" fmla="*/ 1 h 465"/>
                  <a:gd name="T2" fmla="*/ 0 w 368"/>
                  <a:gd name="T3" fmla="*/ 1 h 465"/>
                  <a:gd name="T4" fmla="*/ 0 w 368"/>
                  <a:gd name="T5" fmla="*/ 1 h 465"/>
                  <a:gd name="T6" fmla="*/ 0 w 368"/>
                  <a:gd name="T7" fmla="*/ 1 h 465"/>
                  <a:gd name="T8" fmla="*/ 0 w 368"/>
                  <a:gd name="T9" fmla="*/ 0 h 465"/>
                  <a:gd name="T10" fmla="*/ 0 w 368"/>
                  <a:gd name="T11" fmla="*/ 0 h 465"/>
                  <a:gd name="T12" fmla="*/ 0 w 368"/>
                  <a:gd name="T13" fmla="*/ 0 h 465"/>
                  <a:gd name="T14" fmla="*/ 1 w 368"/>
                  <a:gd name="T15" fmla="*/ 0 h 465"/>
                  <a:gd name="T16" fmla="*/ 1 w 368"/>
                  <a:gd name="T17" fmla="*/ 0 h 465"/>
                  <a:gd name="T18" fmla="*/ 0 w 368"/>
                  <a:gd name="T19" fmla="*/ 0 h 46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68"/>
                  <a:gd name="T31" fmla="*/ 0 h 465"/>
                  <a:gd name="T32" fmla="*/ 368 w 368"/>
                  <a:gd name="T33" fmla="*/ 465 h 46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68" h="465">
                    <a:moveTo>
                      <a:pt x="350" y="344"/>
                    </a:moveTo>
                    <a:cubicBezTo>
                      <a:pt x="334" y="362"/>
                      <a:pt x="288" y="429"/>
                      <a:pt x="248" y="446"/>
                    </a:cubicBezTo>
                    <a:cubicBezTo>
                      <a:pt x="208" y="463"/>
                      <a:pt x="148" y="465"/>
                      <a:pt x="110" y="446"/>
                    </a:cubicBezTo>
                    <a:cubicBezTo>
                      <a:pt x="72" y="427"/>
                      <a:pt x="35" y="386"/>
                      <a:pt x="20" y="332"/>
                    </a:cubicBezTo>
                    <a:cubicBezTo>
                      <a:pt x="5" y="278"/>
                      <a:pt x="0" y="175"/>
                      <a:pt x="20" y="122"/>
                    </a:cubicBezTo>
                    <a:cubicBezTo>
                      <a:pt x="40" y="69"/>
                      <a:pt x="96" y="28"/>
                      <a:pt x="140" y="14"/>
                    </a:cubicBezTo>
                    <a:cubicBezTo>
                      <a:pt x="184" y="0"/>
                      <a:pt x="248" y="19"/>
                      <a:pt x="284" y="38"/>
                    </a:cubicBezTo>
                    <a:cubicBezTo>
                      <a:pt x="320" y="57"/>
                      <a:pt x="342" y="97"/>
                      <a:pt x="356" y="128"/>
                    </a:cubicBezTo>
                    <a:lnTo>
                      <a:pt x="368" y="224"/>
                    </a:lnTo>
                    <a:lnTo>
                      <a:pt x="8" y="224"/>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7316" name="Group 103"/>
              <p:cNvGrpSpPr>
                <a:grpSpLocks noChangeAspect="1"/>
              </p:cNvGrpSpPr>
              <p:nvPr/>
            </p:nvGrpSpPr>
            <p:grpSpPr bwMode="auto">
              <a:xfrm>
                <a:off x="1871" y="2800"/>
                <a:ext cx="46" cy="103"/>
                <a:chOff x="2808" y="1818"/>
                <a:chExt cx="228" cy="516"/>
              </a:xfrm>
            </p:grpSpPr>
            <p:sp>
              <p:nvSpPr>
                <p:cNvPr id="147317" name="Freeform 104"/>
                <p:cNvSpPr>
                  <a:spLocks noChangeAspect="1"/>
                </p:cNvSpPr>
                <p:nvPr/>
              </p:nvSpPr>
              <p:spPr bwMode="auto">
                <a:xfrm>
                  <a:off x="2808" y="1818"/>
                  <a:ext cx="1" cy="516"/>
                </a:xfrm>
                <a:custGeom>
                  <a:avLst/>
                  <a:gdLst>
                    <a:gd name="T0" fmla="*/ 0 w 1"/>
                    <a:gd name="T1" fmla="*/ 0 h 516"/>
                    <a:gd name="T2" fmla="*/ 0 w 1"/>
                    <a:gd name="T3" fmla="*/ 516 h 516"/>
                    <a:gd name="T4" fmla="*/ 0 60000 65536"/>
                    <a:gd name="T5" fmla="*/ 0 60000 65536"/>
                    <a:gd name="T6" fmla="*/ 0 w 1"/>
                    <a:gd name="T7" fmla="*/ 0 h 516"/>
                    <a:gd name="T8" fmla="*/ 1 w 1"/>
                    <a:gd name="T9" fmla="*/ 516 h 516"/>
                  </a:gdLst>
                  <a:ahLst/>
                  <a:cxnLst>
                    <a:cxn ang="T4">
                      <a:pos x="T0" y="T1"/>
                    </a:cxn>
                    <a:cxn ang="T5">
                      <a:pos x="T2" y="T3"/>
                    </a:cxn>
                  </a:cxnLst>
                  <a:rect l="T6" t="T7" r="T8" b="T9"/>
                  <a:pathLst>
                    <a:path w="1" h="516">
                      <a:moveTo>
                        <a:pt x="0" y="0"/>
                      </a:moveTo>
                      <a:cubicBezTo>
                        <a:pt x="0" y="0"/>
                        <a:pt x="0" y="258"/>
                        <a:pt x="0" y="516"/>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318" name="Freeform 105"/>
                <p:cNvSpPr>
                  <a:spLocks noChangeAspect="1"/>
                </p:cNvSpPr>
                <p:nvPr/>
              </p:nvSpPr>
              <p:spPr bwMode="auto">
                <a:xfrm>
                  <a:off x="2808" y="1830"/>
                  <a:ext cx="228" cy="198"/>
                </a:xfrm>
                <a:custGeom>
                  <a:avLst/>
                  <a:gdLst>
                    <a:gd name="T0" fmla="*/ 228 w 228"/>
                    <a:gd name="T1" fmla="*/ 54 h 198"/>
                    <a:gd name="T2" fmla="*/ 138 w 228"/>
                    <a:gd name="T3" fmla="*/ 24 h 198"/>
                    <a:gd name="T4" fmla="*/ 0 w 228"/>
                    <a:gd name="T5" fmla="*/ 198 h 198"/>
                    <a:gd name="T6" fmla="*/ 0 60000 65536"/>
                    <a:gd name="T7" fmla="*/ 0 60000 65536"/>
                    <a:gd name="T8" fmla="*/ 0 60000 65536"/>
                    <a:gd name="T9" fmla="*/ 0 w 228"/>
                    <a:gd name="T10" fmla="*/ 0 h 198"/>
                    <a:gd name="T11" fmla="*/ 228 w 228"/>
                    <a:gd name="T12" fmla="*/ 198 h 198"/>
                  </a:gdLst>
                  <a:ahLst/>
                  <a:cxnLst>
                    <a:cxn ang="T6">
                      <a:pos x="T0" y="T1"/>
                    </a:cxn>
                    <a:cxn ang="T7">
                      <a:pos x="T2" y="T3"/>
                    </a:cxn>
                    <a:cxn ang="T8">
                      <a:pos x="T4" y="T5"/>
                    </a:cxn>
                  </a:cxnLst>
                  <a:rect l="T9" t="T10" r="T11" b="T12"/>
                  <a:pathLst>
                    <a:path w="228" h="198">
                      <a:moveTo>
                        <a:pt x="228" y="54"/>
                      </a:moveTo>
                      <a:cubicBezTo>
                        <a:pt x="202" y="27"/>
                        <a:pt x="176" y="0"/>
                        <a:pt x="138" y="24"/>
                      </a:cubicBezTo>
                      <a:cubicBezTo>
                        <a:pt x="100" y="48"/>
                        <a:pt x="50" y="123"/>
                        <a:pt x="0" y="198"/>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grpSp>
          <p:nvGrpSpPr>
            <p:cNvPr id="147237" name="Group 106"/>
            <p:cNvGrpSpPr>
              <a:grpSpLocks noChangeAspect="1"/>
            </p:cNvGrpSpPr>
            <p:nvPr/>
          </p:nvGrpSpPr>
          <p:grpSpPr bwMode="auto">
            <a:xfrm>
              <a:off x="2106" y="1657"/>
              <a:ext cx="131" cy="37"/>
              <a:chOff x="2092" y="2798"/>
              <a:chExt cx="522" cy="145"/>
            </a:xfrm>
          </p:grpSpPr>
          <p:sp>
            <p:nvSpPr>
              <p:cNvPr id="147304" name="Freeform 107"/>
              <p:cNvSpPr>
                <a:spLocks noChangeAspect="1"/>
              </p:cNvSpPr>
              <p:nvPr/>
            </p:nvSpPr>
            <p:spPr bwMode="auto">
              <a:xfrm flipH="1" flipV="1">
                <a:off x="2092" y="2798"/>
                <a:ext cx="80" cy="145"/>
              </a:xfrm>
              <a:custGeom>
                <a:avLst/>
                <a:gdLst>
                  <a:gd name="T0" fmla="*/ 1 w 401"/>
                  <a:gd name="T1" fmla="*/ 0 h 727"/>
                  <a:gd name="T2" fmla="*/ 1 w 401"/>
                  <a:gd name="T3" fmla="*/ 0 h 727"/>
                  <a:gd name="T4" fmla="*/ 1 w 401"/>
                  <a:gd name="T5" fmla="*/ 1 h 727"/>
                  <a:gd name="T6" fmla="*/ 1 w 401"/>
                  <a:gd name="T7" fmla="*/ 1 h 727"/>
                  <a:gd name="T8" fmla="*/ 0 w 401"/>
                  <a:gd name="T9" fmla="*/ 1 h 727"/>
                  <a:gd name="T10" fmla="*/ 0 w 401"/>
                  <a:gd name="T11" fmla="*/ 1 h 727"/>
                  <a:gd name="T12" fmla="*/ 0 w 401"/>
                  <a:gd name="T13" fmla="*/ 1 h 727"/>
                  <a:gd name="T14" fmla="*/ 0 w 401"/>
                  <a:gd name="T15" fmla="*/ 1 h 727"/>
                  <a:gd name="T16" fmla="*/ 0 w 401"/>
                  <a:gd name="T17" fmla="*/ 0 h 727"/>
                  <a:gd name="T18" fmla="*/ 0 w 401"/>
                  <a:gd name="T19" fmla="*/ 0 h 727"/>
                  <a:gd name="T20" fmla="*/ 1 w 401"/>
                  <a:gd name="T21" fmla="*/ 1 h 727"/>
                  <a:gd name="T22" fmla="*/ 1 w 401"/>
                  <a:gd name="T23" fmla="*/ 1 h 727"/>
                  <a:gd name="T24" fmla="*/ 1 w 401"/>
                  <a:gd name="T25" fmla="*/ 1 h 72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01"/>
                  <a:gd name="T40" fmla="*/ 0 h 727"/>
                  <a:gd name="T41" fmla="*/ 401 w 401"/>
                  <a:gd name="T42" fmla="*/ 727 h 72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01" h="727">
                    <a:moveTo>
                      <a:pt x="382" y="0"/>
                    </a:moveTo>
                    <a:cubicBezTo>
                      <a:pt x="382" y="30"/>
                      <a:pt x="382" y="124"/>
                      <a:pt x="382" y="179"/>
                    </a:cubicBezTo>
                    <a:cubicBezTo>
                      <a:pt x="382" y="234"/>
                      <a:pt x="382" y="269"/>
                      <a:pt x="382" y="330"/>
                    </a:cubicBezTo>
                    <a:cubicBezTo>
                      <a:pt x="382" y="391"/>
                      <a:pt x="401" y="485"/>
                      <a:pt x="382" y="544"/>
                    </a:cubicBezTo>
                    <a:cubicBezTo>
                      <a:pt x="363" y="603"/>
                      <a:pt x="313" y="660"/>
                      <a:pt x="267" y="682"/>
                    </a:cubicBezTo>
                    <a:cubicBezTo>
                      <a:pt x="221" y="704"/>
                      <a:pt x="146" y="703"/>
                      <a:pt x="103" y="677"/>
                    </a:cubicBezTo>
                    <a:cubicBezTo>
                      <a:pt x="60" y="651"/>
                      <a:pt x="22" y="585"/>
                      <a:pt x="11" y="526"/>
                    </a:cubicBezTo>
                    <a:cubicBezTo>
                      <a:pt x="0" y="467"/>
                      <a:pt x="18" y="369"/>
                      <a:pt x="39" y="320"/>
                    </a:cubicBezTo>
                    <a:cubicBezTo>
                      <a:pt x="60" y="271"/>
                      <a:pt x="99" y="245"/>
                      <a:pt x="139" y="234"/>
                    </a:cubicBezTo>
                    <a:cubicBezTo>
                      <a:pt x="179" y="223"/>
                      <a:pt x="242" y="237"/>
                      <a:pt x="281" y="256"/>
                    </a:cubicBezTo>
                    <a:cubicBezTo>
                      <a:pt x="320" y="275"/>
                      <a:pt x="355" y="305"/>
                      <a:pt x="372" y="348"/>
                    </a:cubicBezTo>
                    <a:cubicBezTo>
                      <a:pt x="389" y="391"/>
                      <a:pt x="382" y="449"/>
                      <a:pt x="386" y="512"/>
                    </a:cubicBezTo>
                    <a:cubicBezTo>
                      <a:pt x="390" y="575"/>
                      <a:pt x="393" y="682"/>
                      <a:pt x="395" y="727"/>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305" name="Freeform 108"/>
              <p:cNvSpPr>
                <a:spLocks noChangeAspect="1"/>
              </p:cNvSpPr>
              <p:nvPr/>
            </p:nvSpPr>
            <p:spPr bwMode="auto">
              <a:xfrm>
                <a:off x="2203" y="2798"/>
                <a:ext cx="77" cy="100"/>
              </a:xfrm>
              <a:custGeom>
                <a:avLst/>
                <a:gdLst>
                  <a:gd name="T0" fmla="*/ 0 w 387"/>
                  <a:gd name="T1" fmla="*/ 0 h 501"/>
                  <a:gd name="T2" fmla="*/ 0 w 387"/>
                  <a:gd name="T3" fmla="*/ 0 h 501"/>
                  <a:gd name="T4" fmla="*/ 0 w 387"/>
                  <a:gd name="T5" fmla="*/ 0 h 501"/>
                  <a:gd name="T6" fmla="*/ 0 w 387"/>
                  <a:gd name="T7" fmla="*/ 0 h 501"/>
                  <a:gd name="T8" fmla="*/ 1 w 387"/>
                  <a:gd name="T9" fmla="*/ 0 h 501"/>
                  <a:gd name="T10" fmla="*/ 1 w 387"/>
                  <a:gd name="T11" fmla="*/ 1 h 501"/>
                  <a:gd name="T12" fmla="*/ 1 w 387"/>
                  <a:gd name="T13" fmla="*/ 1 h 501"/>
                  <a:gd name="T14" fmla="*/ 1 w 387"/>
                  <a:gd name="T15" fmla="*/ 1 h 501"/>
                  <a:gd name="T16" fmla="*/ 1 w 387"/>
                  <a:gd name="T17" fmla="*/ 1 h 501"/>
                  <a:gd name="T18" fmla="*/ 1 w 387"/>
                  <a:gd name="T19" fmla="*/ 1 h 501"/>
                  <a:gd name="T20" fmla="*/ 0 w 387"/>
                  <a:gd name="T21" fmla="*/ 1 h 501"/>
                  <a:gd name="T22" fmla="*/ 0 w 387"/>
                  <a:gd name="T23" fmla="*/ 1 h 501"/>
                  <a:gd name="T24" fmla="*/ 0 w 387"/>
                  <a:gd name="T25" fmla="*/ 1 h 501"/>
                  <a:gd name="T26" fmla="*/ 0 w 387"/>
                  <a:gd name="T27" fmla="*/ 1 h 501"/>
                  <a:gd name="T28" fmla="*/ 0 w 387"/>
                  <a:gd name="T29" fmla="*/ 0 h 501"/>
                  <a:gd name="T30" fmla="*/ 0 w 387"/>
                  <a:gd name="T31" fmla="*/ 0 h 501"/>
                  <a:gd name="T32" fmla="*/ 0 w 387"/>
                  <a:gd name="T33" fmla="*/ 0 h 501"/>
                  <a:gd name="T34" fmla="*/ 1 w 387"/>
                  <a:gd name="T35" fmla="*/ 0 h 50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87"/>
                  <a:gd name="T55" fmla="*/ 0 h 501"/>
                  <a:gd name="T56" fmla="*/ 387 w 387"/>
                  <a:gd name="T57" fmla="*/ 501 h 50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87" h="501">
                    <a:moveTo>
                      <a:pt x="10" y="134"/>
                    </a:moveTo>
                    <a:cubicBezTo>
                      <a:pt x="18" y="122"/>
                      <a:pt x="37" y="81"/>
                      <a:pt x="56" y="61"/>
                    </a:cubicBezTo>
                    <a:cubicBezTo>
                      <a:pt x="75" y="41"/>
                      <a:pt x="92" y="24"/>
                      <a:pt x="125" y="16"/>
                    </a:cubicBezTo>
                    <a:cubicBezTo>
                      <a:pt x="158" y="8"/>
                      <a:pt x="221" y="0"/>
                      <a:pt x="257" y="10"/>
                    </a:cubicBezTo>
                    <a:cubicBezTo>
                      <a:pt x="293" y="20"/>
                      <a:pt x="327" y="26"/>
                      <a:pt x="344" y="79"/>
                    </a:cubicBezTo>
                    <a:cubicBezTo>
                      <a:pt x="361" y="132"/>
                      <a:pt x="360" y="284"/>
                      <a:pt x="362" y="330"/>
                    </a:cubicBezTo>
                    <a:cubicBezTo>
                      <a:pt x="364" y="376"/>
                      <a:pt x="349" y="326"/>
                      <a:pt x="353" y="353"/>
                    </a:cubicBezTo>
                    <a:cubicBezTo>
                      <a:pt x="357" y="380"/>
                      <a:pt x="383" y="479"/>
                      <a:pt x="385" y="490"/>
                    </a:cubicBezTo>
                    <a:cubicBezTo>
                      <a:pt x="387" y="501"/>
                      <a:pt x="371" y="439"/>
                      <a:pt x="367" y="417"/>
                    </a:cubicBezTo>
                    <a:cubicBezTo>
                      <a:pt x="363" y="395"/>
                      <a:pt x="373" y="352"/>
                      <a:pt x="358" y="358"/>
                    </a:cubicBezTo>
                    <a:cubicBezTo>
                      <a:pt x="343" y="364"/>
                      <a:pt x="313" y="432"/>
                      <a:pt x="275" y="454"/>
                    </a:cubicBezTo>
                    <a:cubicBezTo>
                      <a:pt x="237" y="476"/>
                      <a:pt x="170" y="491"/>
                      <a:pt x="129" y="490"/>
                    </a:cubicBezTo>
                    <a:cubicBezTo>
                      <a:pt x="88" y="489"/>
                      <a:pt x="50" y="465"/>
                      <a:pt x="29" y="445"/>
                    </a:cubicBezTo>
                    <a:cubicBezTo>
                      <a:pt x="8" y="425"/>
                      <a:pt x="0" y="393"/>
                      <a:pt x="1" y="367"/>
                    </a:cubicBezTo>
                    <a:cubicBezTo>
                      <a:pt x="2" y="341"/>
                      <a:pt x="13" y="309"/>
                      <a:pt x="33" y="289"/>
                    </a:cubicBezTo>
                    <a:cubicBezTo>
                      <a:pt x="53" y="269"/>
                      <a:pt x="87" y="260"/>
                      <a:pt x="120" y="249"/>
                    </a:cubicBezTo>
                    <a:cubicBezTo>
                      <a:pt x="153" y="238"/>
                      <a:pt x="195" y="230"/>
                      <a:pt x="234" y="221"/>
                    </a:cubicBezTo>
                    <a:cubicBezTo>
                      <a:pt x="273" y="212"/>
                      <a:pt x="328" y="199"/>
                      <a:pt x="353" y="193"/>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306" name="Freeform 109"/>
              <p:cNvSpPr>
                <a:spLocks noChangeAspect="1"/>
              </p:cNvSpPr>
              <p:nvPr/>
            </p:nvSpPr>
            <p:spPr bwMode="auto">
              <a:xfrm flipH="1" flipV="1">
                <a:off x="2323" y="2798"/>
                <a:ext cx="80" cy="145"/>
              </a:xfrm>
              <a:custGeom>
                <a:avLst/>
                <a:gdLst>
                  <a:gd name="T0" fmla="*/ 1 w 401"/>
                  <a:gd name="T1" fmla="*/ 0 h 727"/>
                  <a:gd name="T2" fmla="*/ 1 w 401"/>
                  <a:gd name="T3" fmla="*/ 0 h 727"/>
                  <a:gd name="T4" fmla="*/ 1 w 401"/>
                  <a:gd name="T5" fmla="*/ 1 h 727"/>
                  <a:gd name="T6" fmla="*/ 1 w 401"/>
                  <a:gd name="T7" fmla="*/ 1 h 727"/>
                  <a:gd name="T8" fmla="*/ 0 w 401"/>
                  <a:gd name="T9" fmla="*/ 1 h 727"/>
                  <a:gd name="T10" fmla="*/ 0 w 401"/>
                  <a:gd name="T11" fmla="*/ 1 h 727"/>
                  <a:gd name="T12" fmla="*/ 0 w 401"/>
                  <a:gd name="T13" fmla="*/ 1 h 727"/>
                  <a:gd name="T14" fmla="*/ 0 w 401"/>
                  <a:gd name="T15" fmla="*/ 1 h 727"/>
                  <a:gd name="T16" fmla="*/ 0 w 401"/>
                  <a:gd name="T17" fmla="*/ 0 h 727"/>
                  <a:gd name="T18" fmla="*/ 0 w 401"/>
                  <a:gd name="T19" fmla="*/ 0 h 727"/>
                  <a:gd name="T20" fmla="*/ 1 w 401"/>
                  <a:gd name="T21" fmla="*/ 1 h 727"/>
                  <a:gd name="T22" fmla="*/ 1 w 401"/>
                  <a:gd name="T23" fmla="*/ 1 h 727"/>
                  <a:gd name="T24" fmla="*/ 1 w 401"/>
                  <a:gd name="T25" fmla="*/ 1 h 72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01"/>
                  <a:gd name="T40" fmla="*/ 0 h 727"/>
                  <a:gd name="T41" fmla="*/ 401 w 401"/>
                  <a:gd name="T42" fmla="*/ 727 h 72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01" h="727">
                    <a:moveTo>
                      <a:pt x="382" y="0"/>
                    </a:moveTo>
                    <a:cubicBezTo>
                      <a:pt x="382" y="30"/>
                      <a:pt x="382" y="124"/>
                      <a:pt x="382" y="179"/>
                    </a:cubicBezTo>
                    <a:cubicBezTo>
                      <a:pt x="382" y="234"/>
                      <a:pt x="382" y="269"/>
                      <a:pt x="382" y="330"/>
                    </a:cubicBezTo>
                    <a:cubicBezTo>
                      <a:pt x="382" y="391"/>
                      <a:pt x="401" y="485"/>
                      <a:pt x="382" y="544"/>
                    </a:cubicBezTo>
                    <a:cubicBezTo>
                      <a:pt x="363" y="603"/>
                      <a:pt x="313" y="660"/>
                      <a:pt x="267" y="682"/>
                    </a:cubicBezTo>
                    <a:cubicBezTo>
                      <a:pt x="221" y="704"/>
                      <a:pt x="146" y="703"/>
                      <a:pt x="103" y="677"/>
                    </a:cubicBezTo>
                    <a:cubicBezTo>
                      <a:pt x="60" y="651"/>
                      <a:pt x="22" y="585"/>
                      <a:pt x="11" y="526"/>
                    </a:cubicBezTo>
                    <a:cubicBezTo>
                      <a:pt x="0" y="467"/>
                      <a:pt x="18" y="369"/>
                      <a:pt x="39" y="320"/>
                    </a:cubicBezTo>
                    <a:cubicBezTo>
                      <a:pt x="60" y="271"/>
                      <a:pt x="99" y="245"/>
                      <a:pt x="139" y="234"/>
                    </a:cubicBezTo>
                    <a:cubicBezTo>
                      <a:pt x="179" y="223"/>
                      <a:pt x="242" y="237"/>
                      <a:pt x="281" y="256"/>
                    </a:cubicBezTo>
                    <a:cubicBezTo>
                      <a:pt x="320" y="275"/>
                      <a:pt x="355" y="305"/>
                      <a:pt x="372" y="348"/>
                    </a:cubicBezTo>
                    <a:cubicBezTo>
                      <a:pt x="389" y="391"/>
                      <a:pt x="382" y="449"/>
                      <a:pt x="386" y="512"/>
                    </a:cubicBezTo>
                    <a:cubicBezTo>
                      <a:pt x="390" y="575"/>
                      <a:pt x="393" y="682"/>
                      <a:pt x="395" y="727"/>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307" name="Freeform 110"/>
              <p:cNvSpPr>
                <a:spLocks noChangeAspect="1"/>
              </p:cNvSpPr>
              <p:nvPr/>
            </p:nvSpPr>
            <p:spPr bwMode="auto">
              <a:xfrm>
                <a:off x="2438" y="2798"/>
                <a:ext cx="74" cy="93"/>
              </a:xfrm>
              <a:custGeom>
                <a:avLst/>
                <a:gdLst>
                  <a:gd name="T0" fmla="*/ 1 w 368"/>
                  <a:gd name="T1" fmla="*/ 1 h 465"/>
                  <a:gd name="T2" fmla="*/ 0 w 368"/>
                  <a:gd name="T3" fmla="*/ 1 h 465"/>
                  <a:gd name="T4" fmla="*/ 0 w 368"/>
                  <a:gd name="T5" fmla="*/ 1 h 465"/>
                  <a:gd name="T6" fmla="*/ 0 w 368"/>
                  <a:gd name="T7" fmla="*/ 1 h 465"/>
                  <a:gd name="T8" fmla="*/ 0 w 368"/>
                  <a:gd name="T9" fmla="*/ 0 h 465"/>
                  <a:gd name="T10" fmla="*/ 0 w 368"/>
                  <a:gd name="T11" fmla="*/ 0 h 465"/>
                  <a:gd name="T12" fmla="*/ 0 w 368"/>
                  <a:gd name="T13" fmla="*/ 0 h 465"/>
                  <a:gd name="T14" fmla="*/ 1 w 368"/>
                  <a:gd name="T15" fmla="*/ 0 h 465"/>
                  <a:gd name="T16" fmla="*/ 1 w 368"/>
                  <a:gd name="T17" fmla="*/ 0 h 465"/>
                  <a:gd name="T18" fmla="*/ 0 w 368"/>
                  <a:gd name="T19" fmla="*/ 0 h 46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68"/>
                  <a:gd name="T31" fmla="*/ 0 h 465"/>
                  <a:gd name="T32" fmla="*/ 368 w 368"/>
                  <a:gd name="T33" fmla="*/ 465 h 46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68" h="465">
                    <a:moveTo>
                      <a:pt x="350" y="344"/>
                    </a:moveTo>
                    <a:cubicBezTo>
                      <a:pt x="334" y="362"/>
                      <a:pt x="288" y="429"/>
                      <a:pt x="248" y="446"/>
                    </a:cubicBezTo>
                    <a:cubicBezTo>
                      <a:pt x="208" y="463"/>
                      <a:pt x="148" y="465"/>
                      <a:pt x="110" y="446"/>
                    </a:cubicBezTo>
                    <a:cubicBezTo>
                      <a:pt x="72" y="427"/>
                      <a:pt x="35" y="386"/>
                      <a:pt x="20" y="332"/>
                    </a:cubicBezTo>
                    <a:cubicBezTo>
                      <a:pt x="5" y="278"/>
                      <a:pt x="0" y="175"/>
                      <a:pt x="20" y="122"/>
                    </a:cubicBezTo>
                    <a:cubicBezTo>
                      <a:pt x="40" y="69"/>
                      <a:pt x="96" y="28"/>
                      <a:pt x="140" y="14"/>
                    </a:cubicBezTo>
                    <a:cubicBezTo>
                      <a:pt x="184" y="0"/>
                      <a:pt x="248" y="19"/>
                      <a:pt x="284" y="38"/>
                    </a:cubicBezTo>
                    <a:cubicBezTo>
                      <a:pt x="320" y="57"/>
                      <a:pt x="342" y="97"/>
                      <a:pt x="356" y="128"/>
                    </a:cubicBezTo>
                    <a:lnTo>
                      <a:pt x="368" y="224"/>
                    </a:lnTo>
                    <a:lnTo>
                      <a:pt x="8" y="224"/>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7308" name="Group 111"/>
              <p:cNvGrpSpPr>
                <a:grpSpLocks noChangeAspect="1"/>
              </p:cNvGrpSpPr>
              <p:nvPr/>
            </p:nvGrpSpPr>
            <p:grpSpPr bwMode="auto">
              <a:xfrm>
                <a:off x="2568" y="2798"/>
                <a:ext cx="46" cy="103"/>
                <a:chOff x="2808" y="1818"/>
                <a:chExt cx="228" cy="516"/>
              </a:xfrm>
            </p:grpSpPr>
            <p:sp>
              <p:nvSpPr>
                <p:cNvPr id="147309" name="Freeform 112"/>
                <p:cNvSpPr>
                  <a:spLocks noChangeAspect="1"/>
                </p:cNvSpPr>
                <p:nvPr/>
              </p:nvSpPr>
              <p:spPr bwMode="auto">
                <a:xfrm>
                  <a:off x="2808" y="1818"/>
                  <a:ext cx="1" cy="516"/>
                </a:xfrm>
                <a:custGeom>
                  <a:avLst/>
                  <a:gdLst>
                    <a:gd name="T0" fmla="*/ 0 w 1"/>
                    <a:gd name="T1" fmla="*/ 0 h 516"/>
                    <a:gd name="T2" fmla="*/ 0 w 1"/>
                    <a:gd name="T3" fmla="*/ 516 h 516"/>
                    <a:gd name="T4" fmla="*/ 0 60000 65536"/>
                    <a:gd name="T5" fmla="*/ 0 60000 65536"/>
                    <a:gd name="T6" fmla="*/ 0 w 1"/>
                    <a:gd name="T7" fmla="*/ 0 h 516"/>
                    <a:gd name="T8" fmla="*/ 1 w 1"/>
                    <a:gd name="T9" fmla="*/ 516 h 516"/>
                  </a:gdLst>
                  <a:ahLst/>
                  <a:cxnLst>
                    <a:cxn ang="T4">
                      <a:pos x="T0" y="T1"/>
                    </a:cxn>
                    <a:cxn ang="T5">
                      <a:pos x="T2" y="T3"/>
                    </a:cxn>
                  </a:cxnLst>
                  <a:rect l="T6" t="T7" r="T8" b="T9"/>
                  <a:pathLst>
                    <a:path w="1" h="516">
                      <a:moveTo>
                        <a:pt x="0" y="0"/>
                      </a:moveTo>
                      <a:cubicBezTo>
                        <a:pt x="0" y="0"/>
                        <a:pt x="0" y="258"/>
                        <a:pt x="0" y="516"/>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310" name="Freeform 113"/>
                <p:cNvSpPr>
                  <a:spLocks noChangeAspect="1"/>
                </p:cNvSpPr>
                <p:nvPr/>
              </p:nvSpPr>
              <p:spPr bwMode="auto">
                <a:xfrm>
                  <a:off x="2808" y="1830"/>
                  <a:ext cx="228" cy="198"/>
                </a:xfrm>
                <a:custGeom>
                  <a:avLst/>
                  <a:gdLst>
                    <a:gd name="T0" fmla="*/ 228 w 228"/>
                    <a:gd name="T1" fmla="*/ 54 h 198"/>
                    <a:gd name="T2" fmla="*/ 138 w 228"/>
                    <a:gd name="T3" fmla="*/ 24 h 198"/>
                    <a:gd name="T4" fmla="*/ 0 w 228"/>
                    <a:gd name="T5" fmla="*/ 198 h 198"/>
                    <a:gd name="T6" fmla="*/ 0 60000 65536"/>
                    <a:gd name="T7" fmla="*/ 0 60000 65536"/>
                    <a:gd name="T8" fmla="*/ 0 60000 65536"/>
                    <a:gd name="T9" fmla="*/ 0 w 228"/>
                    <a:gd name="T10" fmla="*/ 0 h 198"/>
                    <a:gd name="T11" fmla="*/ 228 w 228"/>
                    <a:gd name="T12" fmla="*/ 198 h 198"/>
                  </a:gdLst>
                  <a:ahLst/>
                  <a:cxnLst>
                    <a:cxn ang="T6">
                      <a:pos x="T0" y="T1"/>
                    </a:cxn>
                    <a:cxn ang="T7">
                      <a:pos x="T2" y="T3"/>
                    </a:cxn>
                    <a:cxn ang="T8">
                      <a:pos x="T4" y="T5"/>
                    </a:cxn>
                  </a:cxnLst>
                  <a:rect l="T9" t="T10" r="T11" b="T12"/>
                  <a:pathLst>
                    <a:path w="228" h="198">
                      <a:moveTo>
                        <a:pt x="228" y="54"/>
                      </a:moveTo>
                      <a:cubicBezTo>
                        <a:pt x="202" y="27"/>
                        <a:pt x="176" y="0"/>
                        <a:pt x="138" y="24"/>
                      </a:cubicBezTo>
                      <a:cubicBezTo>
                        <a:pt x="100" y="48"/>
                        <a:pt x="50" y="123"/>
                        <a:pt x="0" y="198"/>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grpSp>
          <p:nvGrpSpPr>
            <p:cNvPr id="147238" name="Group 114"/>
            <p:cNvGrpSpPr>
              <a:grpSpLocks noChangeAspect="1"/>
            </p:cNvGrpSpPr>
            <p:nvPr/>
          </p:nvGrpSpPr>
          <p:grpSpPr bwMode="auto">
            <a:xfrm>
              <a:off x="3387" y="1599"/>
              <a:ext cx="118" cy="44"/>
              <a:chOff x="2891" y="2802"/>
              <a:chExt cx="467" cy="176"/>
            </a:xfrm>
          </p:grpSpPr>
          <p:sp>
            <p:nvSpPr>
              <p:cNvPr id="147297" name="Freeform 115"/>
              <p:cNvSpPr>
                <a:spLocks noChangeAspect="1"/>
              </p:cNvSpPr>
              <p:nvPr/>
            </p:nvSpPr>
            <p:spPr bwMode="auto">
              <a:xfrm>
                <a:off x="2891" y="2808"/>
                <a:ext cx="81" cy="130"/>
              </a:xfrm>
              <a:custGeom>
                <a:avLst/>
                <a:gdLst>
                  <a:gd name="T0" fmla="*/ 0 w 426"/>
                  <a:gd name="T1" fmla="*/ 1 h 684"/>
                  <a:gd name="T2" fmla="*/ 0 w 426"/>
                  <a:gd name="T3" fmla="*/ 0 h 684"/>
                  <a:gd name="T4" fmla="*/ 1 w 426"/>
                  <a:gd name="T5" fmla="*/ 1 h 684"/>
                  <a:gd name="T6" fmla="*/ 1 w 426"/>
                  <a:gd name="T7" fmla="*/ 0 h 684"/>
                  <a:gd name="T8" fmla="*/ 0 60000 65536"/>
                  <a:gd name="T9" fmla="*/ 0 60000 65536"/>
                  <a:gd name="T10" fmla="*/ 0 60000 65536"/>
                  <a:gd name="T11" fmla="*/ 0 60000 65536"/>
                  <a:gd name="T12" fmla="*/ 0 w 426"/>
                  <a:gd name="T13" fmla="*/ 0 h 684"/>
                  <a:gd name="T14" fmla="*/ 426 w 426"/>
                  <a:gd name="T15" fmla="*/ 684 h 684"/>
                </a:gdLst>
                <a:ahLst/>
                <a:cxnLst>
                  <a:cxn ang="T8">
                    <a:pos x="T0" y="T1"/>
                  </a:cxn>
                  <a:cxn ang="T9">
                    <a:pos x="T2" y="T3"/>
                  </a:cxn>
                  <a:cxn ang="T10">
                    <a:pos x="T4" y="T5"/>
                  </a:cxn>
                  <a:cxn ang="T11">
                    <a:pos x="T6" y="T7"/>
                  </a:cxn>
                </a:cxnLst>
                <a:rect l="T12" t="T13" r="T14" b="T15"/>
                <a:pathLst>
                  <a:path w="426" h="684">
                    <a:moveTo>
                      <a:pt x="0" y="684"/>
                    </a:moveTo>
                    <a:lnTo>
                      <a:pt x="0" y="6"/>
                    </a:lnTo>
                    <a:lnTo>
                      <a:pt x="426" y="672"/>
                    </a:lnTo>
                    <a:lnTo>
                      <a:pt x="426" y="0"/>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7298" name="Group 116"/>
              <p:cNvGrpSpPr>
                <a:grpSpLocks noChangeAspect="1"/>
              </p:cNvGrpSpPr>
              <p:nvPr/>
            </p:nvGrpSpPr>
            <p:grpSpPr bwMode="auto">
              <a:xfrm>
                <a:off x="3018" y="2842"/>
                <a:ext cx="75" cy="136"/>
                <a:chOff x="2778" y="1746"/>
                <a:chExt cx="384" cy="701"/>
              </a:xfrm>
            </p:grpSpPr>
            <p:sp>
              <p:nvSpPr>
                <p:cNvPr id="147302" name="Freeform 117"/>
                <p:cNvSpPr>
                  <a:spLocks noChangeAspect="1"/>
                </p:cNvSpPr>
                <p:nvPr/>
              </p:nvSpPr>
              <p:spPr bwMode="auto">
                <a:xfrm>
                  <a:off x="2778" y="1746"/>
                  <a:ext cx="384" cy="701"/>
                </a:xfrm>
                <a:custGeom>
                  <a:avLst/>
                  <a:gdLst>
                    <a:gd name="T0" fmla="*/ 384 w 384"/>
                    <a:gd name="T1" fmla="*/ 0 h 701"/>
                    <a:gd name="T2" fmla="*/ 168 w 384"/>
                    <a:gd name="T3" fmla="*/ 594 h 701"/>
                    <a:gd name="T4" fmla="*/ 0 w 384"/>
                    <a:gd name="T5" fmla="*/ 642 h 701"/>
                    <a:gd name="T6" fmla="*/ 0 60000 65536"/>
                    <a:gd name="T7" fmla="*/ 0 60000 65536"/>
                    <a:gd name="T8" fmla="*/ 0 60000 65536"/>
                    <a:gd name="T9" fmla="*/ 0 w 384"/>
                    <a:gd name="T10" fmla="*/ 0 h 701"/>
                    <a:gd name="T11" fmla="*/ 384 w 384"/>
                    <a:gd name="T12" fmla="*/ 701 h 701"/>
                  </a:gdLst>
                  <a:ahLst/>
                  <a:cxnLst>
                    <a:cxn ang="T6">
                      <a:pos x="T0" y="T1"/>
                    </a:cxn>
                    <a:cxn ang="T7">
                      <a:pos x="T2" y="T3"/>
                    </a:cxn>
                    <a:cxn ang="T8">
                      <a:pos x="T4" y="T5"/>
                    </a:cxn>
                  </a:cxnLst>
                  <a:rect l="T9" t="T10" r="T11" b="T12"/>
                  <a:pathLst>
                    <a:path w="384" h="701">
                      <a:moveTo>
                        <a:pt x="384" y="0"/>
                      </a:moveTo>
                      <a:cubicBezTo>
                        <a:pt x="308" y="243"/>
                        <a:pt x="232" y="487"/>
                        <a:pt x="168" y="594"/>
                      </a:cubicBezTo>
                      <a:cubicBezTo>
                        <a:pt x="104" y="701"/>
                        <a:pt x="52" y="671"/>
                        <a:pt x="0" y="642"/>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303" name="Freeform 118"/>
                <p:cNvSpPr>
                  <a:spLocks noChangeAspect="1"/>
                </p:cNvSpPr>
                <p:nvPr/>
              </p:nvSpPr>
              <p:spPr bwMode="auto">
                <a:xfrm>
                  <a:off x="2802" y="1752"/>
                  <a:ext cx="180" cy="504"/>
                </a:xfrm>
                <a:custGeom>
                  <a:avLst/>
                  <a:gdLst>
                    <a:gd name="T0" fmla="*/ 0 w 180"/>
                    <a:gd name="T1" fmla="*/ 0 h 504"/>
                    <a:gd name="T2" fmla="*/ 180 w 180"/>
                    <a:gd name="T3" fmla="*/ 504 h 504"/>
                    <a:gd name="T4" fmla="*/ 0 60000 65536"/>
                    <a:gd name="T5" fmla="*/ 0 60000 65536"/>
                    <a:gd name="T6" fmla="*/ 0 w 180"/>
                    <a:gd name="T7" fmla="*/ 0 h 504"/>
                    <a:gd name="T8" fmla="*/ 180 w 180"/>
                    <a:gd name="T9" fmla="*/ 504 h 504"/>
                  </a:gdLst>
                  <a:ahLst/>
                  <a:cxnLst>
                    <a:cxn ang="T4">
                      <a:pos x="T0" y="T1"/>
                    </a:cxn>
                    <a:cxn ang="T5">
                      <a:pos x="T2" y="T3"/>
                    </a:cxn>
                  </a:cxnLst>
                  <a:rect l="T6" t="T7" r="T8" b="T9"/>
                  <a:pathLst>
                    <a:path w="180" h="504">
                      <a:moveTo>
                        <a:pt x="0" y="0"/>
                      </a:moveTo>
                      <a:cubicBezTo>
                        <a:pt x="0" y="0"/>
                        <a:pt x="90" y="252"/>
                        <a:pt x="180" y="504"/>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47299" name="Line 119"/>
              <p:cNvSpPr>
                <a:spLocks noChangeAspect="1" noChangeShapeType="1"/>
              </p:cNvSpPr>
              <p:nvPr/>
            </p:nvSpPr>
            <p:spPr bwMode="auto">
              <a:xfrm>
                <a:off x="3134" y="2802"/>
                <a:ext cx="1" cy="136"/>
              </a:xfrm>
              <a:prstGeom prst="line">
                <a:avLst/>
              </a:prstGeom>
              <a:noFill/>
              <a:ln w="63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300" name="Freeform 120"/>
              <p:cNvSpPr>
                <a:spLocks noChangeAspect="1"/>
              </p:cNvSpPr>
              <p:nvPr/>
            </p:nvSpPr>
            <p:spPr bwMode="auto">
              <a:xfrm>
                <a:off x="3176" y="2845"/>
                <a:ext cx="81" cy="93"/>
              </a:xfrm>
              <a:custGeom>
                <a:avLst/>
                <a:gdLst>
                  <a:gd name="T0" fmla="*/ 0 w 402"/>
                  <a:gd name="T1" fmla="*/ 0 h 464"/>
                  <a:gd name="T2" fmla="*/ 0 w 402"/>
                  <a:gd name="T3" fmla="*/ 0 h 464"/>
                  <a:gd name="T4" fmla="*/ 0 w 402"/>
                  <a:gd name="T5" fmla="*/ 0 h 464"/>
                  <a:gd name="T6" fmla="*/ 0 w 402"/>
                  <a:gd name="T7" fmla="*/ 0 h 464"/>
                  <a:gd name="T8" fmla="*/ 0 w 402"/>
                  <a:gd name="T9" fmla="*/ 1 h 464"/>
                  <a:gd name="T10" fmla="*/ 0 w 402"/>
                  <a:gd name="T11" fmla="*/ 1 h 464"/>
                  <a:gd name="T12" fmla="*/ 0 w 402"/>
                  <a:gd name="T13" fmla="*/ 1 h 464"/>
                  <a:gd name="T14" fmla="*/ 1 w 402"/>
                  <a:gd name="T15" fmla="*/ 0 h 464"/>
                  <a:gd name="T16" fmla="*/ 1 w 402"/>
                  <a:gd name="T17" fmla="*/ 0 h 464"/>
                  <a:gd name="T18" fmla="*/ 1 w 402"/>
                  <a:gd name="T19" fmla="*/ 0 h 464"/>
                  <a:gd name="T20" fmla="*/ 0 w 402"/>
                  <a:gd name="T21" fmla="*/ 0 h 46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02"/>
                  <a:gd name="T34" fmla="*/ 0 h 464"/>
                  <a:gd name="T35" fmla="*/ 402 w 402"/>
                  <a:gd name="T36" fmla="*/ 464 h 46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02" h="464">
                    <a:moveTo>
                      <a:pt x="192" y="0"/>
                    </a:moveTo>
                    <a:cubicBezTo>
                      <a:pt x="176" y="4"/>
                      <a:pt x="120" y="2"/>
                      <a:pt x="90" y="26"/>
                    </a:cubicBezTo>
                    <a:cubicBezTo>
                      <a:pt x="60" y="50"/>
                      <a:pt x="26" y="101"/>
                      <a:pt x="13" y="147"/>
                    </a:cubicBezTo>
                    <a:cubicBezTo>
                      <a:pt x="0" y="193"/>
                      <a:pt x="3" y="258"/>
                      <a:pt x="13" y="301"/>
                    </a:cubicBezTo>
                    <a:cubicBezTo>
                      <a:pt x="23" y="344"/>
                      <a:pt x="44" y="377"/>
                      <a:pt x="71" y="403"/>
                    </a:cubicBezTo>
                    <a:cubicBezTo>
                      <a:pt x="98" y="429"/>
                      <a:pt x="140" y="458"/>
                      <a:pt x="179" y="461"/>
                    </a:cubicBezTo>
                    <a:cubicBezTo>
                      <a:pt x="218" y="464"/>
                      <a:pt x="273" y="448"/>
                      <a:pt x="307" y="422"/>
                    </a:cubicBezTo>
                    <a:cubicBezTo>
                      <a:pt x="341" y="396"/>
                      <a:pt x="370" y="351"/>
                      <a:pt x="384" y="307"/>
                    </a:cubicBezTo>
                    <a:cubicBezTo>
                      <a:pt x="398" y="263"/>
                      <a:pt x="402" y="205"/>
                      <a:pt x="391" y="160"/>
                    </a:cubicBezTo>
                    <a:cubicBezTo>
                      <a:pt x="380" y="115"/>
                      <a:pt x="352" y="65"/>
                      <a:pt x="320" y="38"/>
                    </a:cubicBezTo>
                    <a:cubicBezTo>
                      <a:pt x="288" y="11"/>
                      <a:pt x="224" y="8"/>
                      <a:pt x="199" y="0"/>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301" name="Freeform 121"/>
              <p:cNvSpPr>
                <a:spLocks noChangeAspect="1"/>
              </p:cNvSpPr>
              <p:nvPr/>
            </p:nvSpPr>
            <p:spPr bwMode="auto">
              <a:xfrm>
                <a:off x="3287" y="2835"/>
                <a:ext cx="71" cy="103"/>
              </a:xfrm>
              <a:custGeom>
                <a:avLst/>
                <a:gdLst>
                  <a:gd name="T0" fmla="*/ 0 w 356"/>
                  <a:gd name="T1" fmla="*/ 0 h 514"/>
                  <a:gd name="T2" fmla="*/ 0 w 356"/>
                  <a:gd name="T3" fmla="*/ 1 h 514"/>
                  <a:gd name="T4" fmla="*/ 0 w 356"/>
                  <a:gd name="T5" fmla="*/ 0 h 514"/>
                  <a:gd name="T6" fmla="*/ 0 w 356"/>
                  <a:gd name="T7" fmla="*/ 0 h 514"/>
                  <a:gd name="T8" fmla="*/ 0 w 356"/>
                  <a:gd name="T9" fmla="*/ 0 h 514"/>
                  <a:gd name="T10" fmla="*/ 1 w 356"/>
                  <a:gd name="T11" fmla="*/ 0 h 514"/>
                  <a:gd name="T12" fmla="*/ 1 w 356"/>
                  <a:gd name="T13" fmla="*/ 0 h 514"/>
                  <a:gd name="T14" fmla="*/ 1 w 356"/>
                  <a:gd name="T15" fmla="*/ 1 h 514"/>
                  <a:gd name="T16" fmla="*/ 0 60000 65536"/>
                  <a:gd name="T17" fmla="*/ 0 60000 65536"/>
                  <a:gd name="T18" fmla="*/ 0 60000 65536"/>
                  <a:gd name="T19" fmla="*/ 0 60000 65536"/>
                  <a:gd name="T20" fmla="*/ 0 60000 65536"/>
                  <a:gd name="T21" fmla="*/ 0 60000 65536"/>
                  <a:gd name="T22" fmla="*/ 0 60000 65536"/>
                  <a:gd name="T23" fmla="*/ 0 60000 65536"/>
                  <a:gd name="T24" fmla="*/ 0 w 356"/>
                  <a:gd name="T25" fmla="*/ 0 h 514"/>
                  <a:gd name="T26" fmla="*/ 356 w 356"/>
                  <a:gd name="T27" fmla="*/ 514 h 5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56" h="514">
                    <a:moveTo>
                      <a:pt x="11" y="0"/>
                    </a:moveTo>
                    <a:cubicBezTo>
                      <a:pt x="11" y="79"/>
                      <a:pt x="10" y="430"/>
                      <a:pt x="10" y="472"/>
                    </a:cubicBezTo>
                    <a:cubicBezTo>
                      <a:pt x="10" y="514"/>
                      <a:pt x="0" y="313"/>
                      <a:pt x="11" y="250"/>
                    </a:cubicBezTo>
                    <a:cubicBezTo>
                      <a:pt x="22" y="187"/>
                      <a:pt x="48" y="128"/>
                      <a:pt x="79" y="91"/>
                    </a:cubicBezTo>
                    <a:cubicBezTo>
                      <a:pt x="110" y="54"/>
                      <a:pt x="154" y="30"/>
                      <a:pt x="195" y="30"/>
                    </a:cubicBezTo>
                    <a:cubicBezTo>
                      <a:pt x="236" y="30"/>
                      <a:pt x="297" y="61"/>
                      <a:pt x="323" y="94"/>
                    </a:cubicBezTo>
                    <a:cubicBezTo>
                      <a:pt x="349" y="127"/>
                      <a:pt x="346" y="160"/>
                      <a:pt x="351" y="227"/>
                    </a:cubicBezTo>
                    <a:cubicBezTo>
                      <a:pt x="356" y="294"/>
                      <a:pt x="351" y="454"/>
                      <a:pt x="351" y="499"/>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147239" name="Group 122"/>
            <p:cNvGrpSpPr>
              <a:grpSpLocks noChangeAspect="1"/>
            </p:cNvGrpSpPr>
            <p:nvPr/>
          </p:nvGrpSpPr>
          <p:grpSpPr bwMode="auto">
            <a:xfrm>
              <a:off x="3387" y="1645"/>
              <a:ext cx="239" cy="37"/>
              <a:chOff x="3565" y="2757"/>
              <a:chExt cx="949" cy="145"/>
            </a:xfrm>
          </p:grpSpPr>
          <p:grpSp>
            <p:nvGrpSpPr>
              <p:cNvPr id="147283" name="Group 123"/>
              <p:cNvGrpSpPr>
                <a:grpSpLocks noChangeAspect="1"/>
              </p:cNvGrpSpPr>
              <p:nvPr/>
            </p:nvGrpSpPr>
            <p:grpSpPr bwMode="auto">
              <a:xfrm>
                <a:off x="3565" y="2800"/>
                <a:ext cx="119" cy="102"/>
                <a:chOff x="1587" y="3362"/>
                <a:chExt cx="119" cy="102"/>
              </a:xfrm>
            </p:grpSpPr>
            <p:sp>
              <p:nvSpPr>
                <p:cNvPr id="147295" name="Freeform 124"/>
                <p:cNvSpPr>
                  <a:spLocks noChangeAspect="1"/>
                </p:cNvSpPr>
                <p:nvPr/>
              </p:nvSpPr>
              <p:spPr bwMode="auto">
                <a:xfrm>
                  <a:off x="1646" y="3367"/>
                  <a:ext cx="60" cy="91"/>
                </a:xfrm>
                <a:custGeom>
                  <a:avLst/>
                  <a:gdLst>
                    <a:gd name="T0" fmla="*/ 0 w 302"/>
                    <a:gd name="T1" fmla="*/ 1 h 456"/>
                    <a:gd name="T2" fmla="*/ 0 w 302"/>
                    <a:gd name="T3" fmla="*/ 0 h 456"/>
                    <a:gd name="T4" fmla="*/ 0 w 302"/>
                    <a:gd name="T5" fmla="*/ 0 h 456"/>
                    <a:gd name="T6" fmla="*/ 0 w 302"/>
                    <a:gd name="T7" fmla="*/ 0 h 456"/>
                    <a:gd name="T8" fmla="*/ 0 w 302"/>
                    <a:gd name="T9" fmla="*/ 0 h 456"/>
                    <a:gd name="T10" fmla="*/ 0 w 302"/>
                    <a:gd name="T11" fmla="*/ 0 h 456"/>
                    <a:gd name="T12" fmla="*/ 0 w 302"/>
                    <a:gd name="T13" fmla="*/ 1 h 456"/>
                    <a:gd name="T14" fmla="*/ 0 60000 65536"/>
                    <a:gd name="T15" fmla="*/ 0 60000 65536"/>
                    <a:gd name="T16" fmla="*/ 0 60000 65536"/>
                    <a:gd name="T17" fmla="*/ 0 60000 65536"/>
                    <a:gd name="T18" fmla="*/ 0 60000 65536"/>
                    <a:gd name="T19" fmla="*/ 0 60000 65536"/>
                    <a:gd name="T20" fmla="*/ 0 60000 65536"/>
                    <a:gd name="T21" fmla="*/ 0 w 302"/>
                    <a:gd name="T22" fmla="*/ 0 h 456"/>
                    <a:gd name="T23" fmla="*/ 302 w 302"/>
                    <a:gd name="T24" fmla="*/ 456 h 4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2" h="456">
                      <a:moveTo>
                        <a:pt x="298" y="456"/>
                      </a:moveTo>
                      <a:cubicBezTo>
                        <a:pt x="297" y="410"/>
                        <a:pt x="302" y="255"/>
                        <a:pt x="298" y="187"/>
                      </a:cubicBezTo>
                      <a:cubicBezTo>
                        <a:pt x="294" y="119"/>
                        <a:pt x="295" y="77"/>
                        <a:pt x="272" y="46"/>
                      </a:cubicBezTo>
                      <a:cubicBezTo>
                        <a:pt x="249" y="15"/>
                        <a:pt x="192" y="0"/>
                        <a:pt x="157" y="1"/>
                      </a:cubicBezTo>
                      <a:cubicBezTo>
                        <a:pt x="122" y="2"/>
                        <a:pt x="85" y="20"/>
                        <a:pt x="61" y="53"/>
                      </a:cubicBezTo>
                      <a:cubicBezTo>
                        <a:pt x="37" y="86"/>
                        <a:pt x="20" y="134"/>
                        <a:pt x="10" y="200"/>
                      </a:cubicBezTo>
                      <a:cubicBezTo>
                        <a:pt x="0" y="266"/>
                        <a:pt x="4" y="397"/>
                        <a:pt x="3" y="449"/>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296" name="Freeform 125"/>
                <p:cNvSpPr>
                  <a:spLocks noChangeAspect="1"/>
                </p:cNvSpPr>
                <p:nvPr/>
              </p:nvSpPr>
              <p:spPr bwMode="auto">
                <a:xfrm>
                  <a:off x="1587" y="3362"/>
                  <a:ext cx="62" cy="102"/>
                </a:xfrm>
                <a:custGeom>
                  <a:avLst/>
                  <a:gdLst>
                    <a:gd name="T0" fmla="*/ 0 w 309"/>
                    <a:gd name="T1" fmla="*/ 0 h 510"/>
                    <a:gd name="T2" fmla="*/ 0 w 309"/>
                    <a:gd name="T3" fmla="*/ 1 h 510"/>
                    <a:gd name="T4" fmla="*/ 0 w 309"/>
                    <a:gd name="T5" fmla="*/ 0 h 510"/>
                    <a:gd name="T6" fmla="*/ 0 w 309"/>
                    <a:gd name="T7" fmla="*/ 0 h 510"/>
                    <a:gd name="T8" fmla="*/ 0 w 309"/>
                    <a:gd name="T9" fmla="*/ 0 h 510"/>
                    <a:gd name="T10" fmla="*/ 0 w 309"/>
                    <a:gd name="T11" fmla="*/ 0 h 510"/>
                    <a:gd name="T12" fmla="*/ 0 w 309"/>
                    <a:gd name="T13" fmla="*/ 0 h 510"/>
                    <a:gd name="T14" fmla="*/ 0 w 309"/>
                    <a:gd name="T15" fmla="*/ 1 h 510"/>
                    <a:gd name="T16" fmla="*/ 0 60000 65536"/>
                    <a:gd name="T17" fmla="*/ 0 60000 65536"/>
                    <a:gd name="T18" fmla="*/ 0 60000 65536"/>
                    <a:gd name="T19" fmla="*/ 0 60000 65536"/>
                    <a:gd name="T20" fmla="*/ 0 60000 65536"/>
                    <a:gd name="T21" fmla="*/ 0 60000 65536"/>
                    <a:gd name="T22" fmla="*/ 0 60000 65536"/>
                    <a:gd name="T23" fmla="*/ 0 60000 65536"/>
                    <a:gd name="T24" fmla="*/ 0 w 309"/>
                    <a:gd name="T25" fmla="*/ 0 h 510"/>
                    <a:gd name="T26" fmla="*/ 309 w 309"/>
                    <a:gd name="T27" fmla="*/ 510 h 51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09" h="510">
                      <a:moveTo>
                        <a:pt x="12" y="0"/>
                      </a:moveTo>
                      <a:cubicBezTo>
                        <a:pt x="12" y="78"/>
                        <a:pt x="10" y="426"/>
                        <a:pt x="10" y="468"/>
                      </a:cubicBezTo>
                      <a:cubicBezTo>
                        <a:pt x="10" y="510"/>
                        <a:pt x="0" y="313"/>
                        <a:pt x="12" y="250"/>
                      </a:cubicBezTo>
                      <a:cubicBezTo>
                        <a:pt x="24" y="187"/>
                        <a:pt x="49" y="128"/>
                        <a:pt x="80" y="91"/>
                      </a:cubicBezTo>
                      <a:cubicBezTo>
                        <a:pt x="111" y="54"/>
                        <a:pt x="161" y="30"/>
                        <a:pt x="196" y="30"/>
                      </a:cubicBezTo>
                      <a:cubicBezTo>
                        <a:pt x="231" y="30"/>
                        <a:pt x="273" y="59"/>
                        <a:pt x="291" y="94"/>
                      </a:cubicBezTo>
                      <a:cubicBezTo>
                        <a:pt x="309" y="129"/>
                        <a:pt x="302" y="176"/>
                        <a:pt x="304" y="241"/>
                      </a:cubicBezTo>
                      <a:cubicBezTo>
                        <a:pt x="306" y="306"/>
                        <a:pt x="304" y="434"/>
                        <a:pt x="304" y="484"/>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47284" name="Freeform 126"/>
              <p:cNvSpPr>
                <a:spLocks noChangeAspect="1"/>
              </p:cNvSpPr>
              <p:nvPr/>
            </p:nvSpPr>
            <p:spPr bwMode="auto">
              <a:xfrm>
                <a:off x="3719" y="2809"/>
                <a:ext cx="74" cy="93"/>
              </a:xfrm>
              <a:custGeom>
                <a:avLst/>
                <a:gdLst>
                  <a:gd name="T0" fmla="*/ 1 w 368"/>
                  <a:gd name="T1" fmla="*/ 1 h 465"/>
                  <a:gd name="T2" fmla="*/ 0 w 368"/>
                  <a:gd name="T3" fmla="*/ 1 h 465"/>
                  <a:gd name="T4" fmla="*/ 0 w 368"/>
                  <a:gd name="T5" fmla="*/ 1 h 465"/>
                  <a:gd name="T6" fmla="*/ 0 w 368"/>
                  <a:gd name="T7" fmla="*/ 1 h 465"/>
                  <a:gd name="T8" fmla="*/ 0 w 368"/>
                  <a:gd name="T9" fmla="*/ 0 h 465"/>
                  <a:gd name="T10" fmla="*/ 0 w 368"/>
                  <a:gd name="T11" fmla="*/ 0 h 465"/>
                  <a:gd name="T12" fmla="*/ 0 w 368"/>
                  <a:gd name="T13" fmla="*/ 0 h 465"/>
                  <a:gd name="T14" fmla="*/ 1 w 368"/>
                  <a:gd name="T15" fmla="*/ 0 h 465"/>
                  <a:gd name="T16" fmla="*/ 1 w 368"/>
                  <a:gd name="T17" fmla="*/ 0 h 465"/>
                  <a:gd name="T18" fmla="*/ 0 w 368"/>
                  <a:gd name="T19" fmla="*/ 0 h 46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68"/>
                  <a:gd name="T31" fmla="*/ 0 h 465"/>
                  <a:gd name="T32" fmla="*/ 368 w 368"/>
                  <a:gd name="T33" fmla="*/ 465 h 46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68" h="465">
                    <a:moveTo>
                      <a:pt x="350" y="344"/>
                    </a:moveTo>
                    <a:cubicBezTo>
                      <a:pt x="334" y="362"/>
                      <a:pt x="288" y="429"/>
                      <a:pt x="248" y="446"/>
                    </a:cubicBezTo>
                    <a:cubicBezTo>
                      <a:pt x="208" y="463"/>
                      <a:pt x="148" y="465"/>
                      <a:pt x="110" y="446"/>
                    </a:cubicBezTo>
                    <a:cubicBezTo>
                      <a:pt x="72" y="427"/>
                      <a:pt x="35" y="386"/>
                      <a:pt x="20" y="332"/>
                    </a:cubicBezTo>
                    <a:cubicBezTo>
                      <a:pt x="5" y="278"/>
                      <a:pt x="0" y="175"/>
                      <a:pt x="20" y="122"/>
                    </a:cubicBezTo>
                    <a:cubicBezTo>
                      <a:pt x="40" y="69"/>
                      <a:pt x="96" y="28"/>
                      <a:pt x="140" y="14"/>
                    </a:cubicBezTo>
                    <a:cubicBezTo>
                      <a:pt x="184" y="0"/>
                      <a:pt x="248" y="19"/>
                      <a:pt x="284" y="38"/>
                    </a:cubicBezTo>
                    <a:cubicBezTo>
                      <a:pt x="320" y="57"/>
                      <a:pt x="342" y="97"/>
                      <a:pt x="356" y="128"/>
                    </a:cubicBezTo>
                    <a:lnTo>
                      <a:pt x="368" y="224"/>
                    </a:lnTo>
                    <a:lnTo>
                      <a:pt x="8" y="224"/>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7285" name="Group 127"/>
              <p:cNvGrpSpPr>
                <a:grpSpLocks noChangeAspect="1"/>
              </p:cNvGrpSpPr>
              <p:nvPr/>
            </p:nvGrpSpPr>
            <p:grpSpPr bwMode="auto">
              <a:xfrm>
                <a:off x="3828" y="2800"/>
                <a:ext cx="119" cy="102"/>
                <a:chOff x="1587" y="3362"/>
                <a:chExt cx="119" cy="102"/>
              </a:xfrm>
            </p:grpSpPr>
            <p:sp>
              <p:nvSpPr>
                <p:cNvPr id="147293" name="Freeform 128"/>
                <p:cNvSpPr>
                  <a:spLocks noChangeAspect="1"/>
                </p:cNvSpPr>
                <p:nvPr/>
              </p:nvSpPr>
              <p:spPr bwMode="auto">
                <a:xfrm>
                  <a:off x="1646" y="3367"/>
                  <a:ext cx="60" cy="91"/>
                </a:xfrm>
                <a:custGeom>
                  <a:avLst/>
                  <a:gdLst>
                    <a:gd name="T0" fmla="*/ 0 w 302"/>
                    <a:gd name="T1" fmla="*/ 1 h 456"/>
                    <a:gd name="T2" fmla="*/ 0 w 302"/>
                    <a:gd name="T3" fmla="*/ 0 h 456"/>
                    <a:gd name="T4" fmla="*/ 0 w 302"/>
                    <a:gd name="T5" fmla="*/ 0 h 456"/>
                    <a:gd name="T6" fmla="*/ 0 w 302"/>
                    <a:gd name="T7" fmla="*/ 0 h 456"/>
                    <a:gd name="T8" fmla="*/ 0 w 302"/>
                    <a:gd name="T9" fmla="*/ 0 h 456"/>
                    <a:gd name="T10" fmla="*/ 0 w 302"/>
                    <a:gd name="T11" fmla="*/ 0 h 456"/>
                    <a:gd name="T12" fmla="*/ 0 w 302"/>
                    <a:gd name="T13" fmla="*/ 1 h 456"/>
                    <a:gd name="T14" fmla="*/ 0 60000 65536"/>
                    <a:gd name="T15" fmla="*/ 0 60000 65536"/>
                    <a:gd name="T16" fmla="*/ 0 60000 65536"/>
                    <a:gd name="T17" fmla="*/ 0 60000 65536"/>
                    <a:gd name="T18" fmla="*/ 0 60000 65536"/>
                    <a:gd name="T19" fmla="*/ 0 60000 65536"/>
                    <a:gd name="T20" fmla="*/ 0 60000 65536"/>
                    <a:gd name="T21" fmla="*/ 0 w 302"/>
                    <a:gd name="T22" fmla="*/ 0 h 456"/>
                    <a:gd name="T23" fmla="*/ 302 w 302"/>
                    <a:gd name="T24" fmla="*/ 456 h 4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2" h="456">
                      <a:moveTo>
                        <a:pt x="298" y="456"/>
                      </a:moveTo>
                      <a:cubicBezTo>
                        <a:pt x="297" y="410"/>
                        <a:pt x="302" y="255"/>
                        <a:pt x="298" y="187"/>
                      </a:cubicBezTo>
                      <a:cubicBezTo>
                        <a:pt x="294" y="119"/>
                        <a:pt x="295" y="77"/>
                        <a:pt x="272" y="46"/>
                      </a:cubicBezTo>
                      <a:cubicBezTo>
                        <a:pt x="249" y="15"/>
                        <a:pt x="192" y="0"/>
                        <a:pt x="157" y="1"/>
                      </a:cubicBezTo>
                      <a:cubicBezTo>
                        <a:pt x="122" y="2"/>
                        <a:pt x="85" y="20"/>
                        <a:pt x="61" y="53"/>
                      </a:cubicBezTo>
                      <a:cubicBezTo>
                        <a:pt x="37" y="86"/>
                        <a:pt x="20" y="134"/>
                        <a:pt x="10" y="200"/>
                      </a:cubicBezTo>
                      <a:cubicBezTo>
                        <a:pt x="0" y="266"/>
                        <a:pt x="4" y="397"/>
                        <a:pt x="3" y="449"/>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294" name="Freeform 129"/>
                <p:cNvSpPr>
                  <a:spLocks noChangeAspect="1"/>
                </p:cNvSpPr>
                <p:nvPr/>
              </p:nvSpPr>
              <p:spPr bwMode="auto">
                <a:xfrm>
                  <a:off x="1587" y="3362"/>
                  <a:ext cx="62" cy="102"/>
                </a:xfrm>
                <a:custGeom>
                  <a:avLst/>
                  <a:gdLst>
                    <a:gd name="T0" fmla="*/ 0 w 309"/>
                    <a:gd name="T1" fmla="*/ 0 h 510"/>
                    <a:gd name="T2" fmla="*/ 0 w 309"/>
                    <a:gd name="T3" fmla="*/ 1 h 510"/>
                    <a:gd name="T4" fmla="*/ 0 w 309"/>
                    <a:gd name="T5" fmla="*/ 0 h 510"/>
                    <a:gd name="T6" fmla="*/ 0 w 309"/>
                    <a:gd name="T7" fmla="*/ 0 h 510"/>
                    <a:gd name="T8" fmla="*/ 0 w 309"/>
                    <a:gd name="T9" fmla="*/ 0 h 510"/>
                    <a:gd name="T10" fmla="*/ 0 w 309"/>
                    <a:gd name="T11" fmla="*/ 0 h 510"/>
                    <a:gd name="T12" fmla="*/ 0 w 309"/>
                    <a:gd name="T13" fmla="*/ 0 h 510"/>
                    <a:gd name="T14" fmla="*/ 0 w 309"/>
                    <a:gd name="T15" fmla="*/ 1 h 510"/>
                    <a:gd name="T16" fmla="*/ 0 60000 65536"/>
                    <a:gd name="T17" fmla="*/ 0 60000 65536"/>
                    <a:gd name="T18" fmla="*/ 0 60000 65536"/>
                    <a:gd name="T19" fmla="*/ 0 60000 65536"/>
                    <a:gd name="T20" fmla="*/ 0 60000 65536"/>
                    <a:gd name="T21" fmla="*/ 0 60000 65536"/>
                    <a:gd name="T22" fmla="*/ 0 60000 65536"/>
                    <a:gd name="T23" fmla="*/ 0 60000 65536"/>
                    <a:gd name="T24" fmla="*/ 0 w 309"/>
                    <a:gd name="T25" fmla="*/ 0 h 510"/>
                    <a:gd name="T26" fmla="*/ 309 w 309"/>
                    <a:gd name="T27" fmla="*/ 510 h 51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09" h="510">
                      <a:moveTo>
                        <a:pt x="12" y="0"/>
                      </a:moveTo>
                      <a:cubicBezTo>
                        <a:pt x="12" y="78"/>
                        <a:pt x="10" y="426"/>
                        <a:pt x="10" y="468"/>
                      </a:cubicBezTo>
                      <a:cubicBezTo>
                        <a:pt x="10" y="510"/>
                        <a:pt x="0" y="313"/>
                        <a:pt x="12" y="250"/>
                      </a:cubicBezTo>
                      <a:cubicBezTo>
                        <a:pt x="24" y="187"/>
                        <a:pt x="49" y="128"/>
                        <a:pt x="80" y="91"/>
                      </a:cubicBezTo>
                      <a:cubicBezTo>
                        <a:pt x="111" y="54"/>
                        <a:pt x="161" y="30"/>
                        <a:pt x="196" y="30"/>
                      </a:cubicBezTo>
                      <a:cubicBezTo>
                        <a:pt x="231" y="30"/>
                        <a:pt x="273" y="59"/>
                        <a:pt x="291" y="94"/>
                      </a:cubicBezTo>
                      <a:cubicBezTo>
                        <a:pt x="309" y="129"/>
                        <a:pt x="302" y="176"/>
                        <a:pt x="304" y="241"/>
                      </a:cubicBezTo>
                      <a:cubicBezTo>
                        <a:pt x="306" y="306"/>
                        <a:pt x="304" y="434"/>
                        <a:pt x="304" y="484"/>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47286" name="Freeform 130"/>
              <p:cNvSpPr>
                <a:spLocks noChangeAspect="1"/>
              </p:cNvSpPr>
              <p:nvPr/>
            </p:nvSpPr>
            <p:spPr bwMode="auto">
              <a:xfrm flipH="1">
                <a:off x="3988" y="2757"/>
                <a:ext cx="80" cy="145"/>
              </a:xfrm>
              <a:custGeom>
                <a:avLst/>
                <a:gdLst>
                  <a:gd name="T0" fmla="*/ 1 w 401"/>
                  <a:gd name="T1" fmla="*/ 0 h 727"/>
                  <a:gd name="T2" fmla="*/ 1 w 401"/>
                  <a:gd name="T3" fmla="*/ 0 h 727"/>
                  <a:gd name="T4" fmla="*/ 1 w 401"/>
                  <a:gd name="T5" fmla="*/ 1 h 727"/>
                  <a:gd name="T6" fmla="*/ 1 w 401"/>
                  <a:gd name="T7" fmla="*/ 1 h 727"/>
                  <a:gd name="T8" fmla="*/ 0 w 401"/>
                  <a:gd name="T9" fmla="*/ 1 h 727"/>
                  <a:gd name="T10" fmla="*/ 0 w 401"/>
                  <a:gd name="T11" fmla="*/ 1 h 727"/>
                  <a:gd name="T12" fmla="*/ 0 w 401"/>
                  <a:gd name="T13" fmla="*/ 1 h 727"/>
                  <a:gd name="T14" fmla="*/ 0 w 401"/>
                  <a:gd name="T15" fmla="*/ 1 h 727"/>
                  <a:gd name="T16" fmla="*/ 0 w 401"/>
                  <a:gd name="T17" fmla="*/ 0 h 727"/>
                  <a:gd name="T18" fmla="*/ 0 w 401"/>
                  <a:gd name="T19" fmla="*/ 0 h 727"/>
                  <a:gd name="T20" fmla="*/ 1 w 401"/>
                  <a:gd name="T21" fmla="*/ 1 h 727"/>
                  <a:gd name="T22" fmla="*/ 1 w 401"/>
                  <a:gd name="T23" fmla="*/ 1 h 727"/>
                  <a:gd name="T24" fmla="*/ 1 w 401"/>
                  <a:gd name="T25" fmla="*/ 1 h 72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01"/>
                  <a:gd name="T40" fmla="*/ 0 h 727"/>
                  <a:gd name="T41" fmla="*/ 401 w 401"/>
                  <a:gd name="T42" fmla="*/ 727 h 72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01" h="727">
                    <a:moveTo>
                      <a:pt x="382" y="0"/>
                    </a:moveTo>
                    <a:cubicBezTo>
                      <a:pt x="382" y="30"/>
                      <a:pt x="382" y="124"/>
                      <a:pt x="382" y="179"/>
                    </a:cubicBezTo>
                    <a:cubicBezTo>
                      <a:pt x="382" y="234"/>
                      <a:pt x="382" y="269"/>
                      <a:pt x="382" y="330"/>
                    </a:cubicBezTo>
                    <a:cubicBezTo>
                      <a:pt x="382" y="391"/>
                      <a:pt x="401" y="485"/>
                      <a:pt x="382" y="544"/>
                    </a:cubicBezTo>
                    <a:cubicBezTo>
                      <a:pt x="363" y="603"/>
                      <a:pt x="313" y="660"/>
                      <a:pt x="267" y="682"/>
                    </a:cubicBezTo>
                    <a:cubicBezTo>
                      <a:pt x="221" y="704"/>
                      <a:pt x="146" y="703"/>
                      <a:pt x="103" y="677"/>
                    </a:cubicBezTo>
                    <a:cubicBezTo>
                      <a:pt x="60" y="651"/>
                      <a:pt x="22" y="585"/>
                      <a:pt x="11" y="526"/>
                    </a:cubicBezTo>
                    <a:cubicBezTo>
                      <a:pt x="0" y="467"/>
                      <a:pt x="18" y="369"/>
                      <a:pt x="39" y="320"/>
                    </a:cubicBezTo>
                    <a:cubicBezTo>
                      <a:pt x="60" y="271"/>
                      <a:pt x="99" y="245"/>
                      <a:pt x="139" y="234"/>
                    </a:cubicBezTo>
                    <a:cubicBezTo>
                      <a:pt x="179" y="223"/>
                      <a:pt x="242" y="237"/>
                      <a:pt x="281" y="256"/>
                    </a:cubicBezTo>
                    <a:cubicBezTo>
                      <a:pt x="320" y="275"/>
                      <a:pt x="355" y="305"/>
                      <a:pt x="372" y="348"/>
                    </a:cubicBezTo>
                    <a:cubicBezTo>
                      <a:pt x="389" y="391"/>
                      <a:pt x="382" y="449"/>
                      <a:pt x="386" y="512"/>
                    </a:cubicBezTo>
                    <a:cubicBezTo>
                      <a:pt x="390" y="575"/>
                      <a:pt x="393" y="682"/>
                      <a:pt x="395" y="727"/>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7287" name="Group 131"/>
              <p:cNvGrpSpPr>
                <a:grpSpLocks noChangeAspect="1"/>
              </p:cNvGrpSpPr>
              <p:nvPr/>
            </p:nvGrpSpPr>
            <p:grpSpPr bwMode="auto">
              <a:xfrm>
                <a:off x="4116" y="2799"/>
                <a:ext cx="46" cy="103"/>
                <a:chOff x="2808" y="1818"/>
                <a:chExt cx="228" cy="516"/>
              </a:xfrm>
            </p:grpSpPr>
            <p:sp>
              <p:nvSpPr>
                <p:cNvPr id="147291" name="Freeform 132"/>
                <p:cNvSpPr>
                  <a:spLocks noChangeAspect="1"/>
                </p:cNvSpPr>
                <p:nvPr/>
              </p:nvSpPr>
              <p:spPr bwMode="auto">
                <a:xfrm>
                  <a:off x="2808" y="1818"/>
                  <a:ext cx="1" cy="516"/>
                </a:xfrm>
                <a:custGeom>
                  <a:avLst/>
                  <a:gdLst>
                    <a:gd name="T0" fmla="*/ 0 w 1"/>
                    <a:gd name="T1" fmla="*/ 0 h 516"/>
                    <a:gd name="T2" fmla="*/ 0 w 1"/>
                    <a:gd name="T3" fmla="*/ 516 h 516"/>
                    <a:gd name="T4" fmla="*/ 0 60000 65536"/>
                    <a:gd name="T5" fmla="*/ 0 60000 65536"/>
                    <a:gd name="T6" fmla="*/ 0 w 1"/>
                    <a:gd name="T7" fmla="*/ 0 h 516"/>
                    <a:gd name="T8" fmla="*/ 1 w 1"/>
                    <a:gd name="T9" fmla="*/ 516 h 516"/>
                  </a:gdLst>
                  <a:ahLst/>
                  <a:cxnLst>
                    <a:cxn ang="T4">
                      <a:pos x="T0" y="T1"/>
                    </a:cxn>
                    <a:cxn ang="T5">
                      <a:pos x="T2" y="T3"/>
                    </a:cxn>
                  </a:cxnLst>
                  <a:rect l="T6" t="T7" r="T8" b="T9"/>
                  <a:pathLst>
                    <a:path w="1" h="516">
                      <a:moveTo>
                        <a:pt x="0" y="0"/>
                      </a:moveTo>
                      <a:cubicBezTo>
                        <a:pt x="0" y="0"/>
                        <a:pt x="0" y="258"/>
                        <a:pt x="0" y="516"/>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292" name="Freeform 133"/>
                <p:cNvSpPr>
                  <a:spLocks noChangeAspect="1"/>
                </p:cNvSpPr>
                <p:nvPr/>
              </p:nvSpPr>
              <p:spPr bwMode="auto">
                <a:xfrm>
                  <a:off x="2808" y="1830"/>
                  <a:ext cx="228" cy="198"/>
                </a:xfrm>
                <a:custGeom>
                  <a:avLst/>
                  <a:gdLst>
                    <a:gd name="T0" fmla="*/ 228 w 228"/>
                    <a:gd name="T1" fmla="*/ 54 h 198"/>
                    <a:gd name="T2" fmla="*/ 138 w 228"/>
                    <a:gd name="T3" fmla="*/ 24 h 198"/>
                    <a:gd name="T4" fmla="*/ 0 w 228"/>
                    <a:gd name="T5" fmla="*/ 198 h 198"/>
                    <a:gd name="T6" fmla="*/ 0 60000 65536"/>
                    <a:gd name="T7" fmla="*/ 0 60000 65536"/>
                    <a:gd name="T8" fmla="*/ 0 60000 65536"/>
                    <a:gd name="T9" fmla="*/ 0 w 228"/>
                    <a:gd name="T10" fmla="*/ 0 h 198"/>
                    <a:gd name="T11" fmla="*/ 228 w 228"/>
                    <a:gd name="T12" fmla="*/ 198 h 198"/>
                  </a:gdLst>
                  <a:ahLst/>
                  <a:cxnLst>
                    <a:cxn ang="T6">
                      <a:pos x="T0" y="T1"/>
                    </a:cxn>
                    <a:cxn ang="T7">
                      <a:pos x="T2" y="T3"/>
                    </a:cxn>
                    <a:cxn ang="T8">
                      <a:pos x="T4" y="T5"/>
                    </a:cxn>
                  </a:cxnLst>
                  <a:rect l="T9" t="T10" r="T11" b="T12"/>
                  <a:pathLst>
                    <a:path w="228" h="198">
                      <a:moveTo>
                        <a:pt x="228" y="54"/>
                      </a:moveTo>
                      <a:cubicBezTo>
                        <a:pt x="202" y="27"/>
                        <a:pt x="176" y="0"/>
                        <a:pt x="138" y="24"/>
                      </a:cubicBezTo>
                      <a:cubicBezTo>
                        <a:pt x="100" y="48"/>
                        <a:pt x="50" y="123"/>
                        <a:pt x="0" y="198"/>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47288" name="Freeform 134"/>
              <p:cNvSpPr>
                <a:spLocks noChangeAspect="1"/>
              </p:cNvSpPr>
              <p:nvPr/>
            </p:nvSpPr>
            <p:spPr bwMode="auto">
              <a:xfrm>
                <a:off x="4197" y="2802"/>
                <a:ext cx="77" cy="100"/>
              </a:xfrm>
              <a:custGeom>
                <a:avLst/>
                <a:gdLst>
                  <a:gd name="T0" fmla="*/ 0 w 387"/>
                  <a:gd name="T1" fmla="*/ 0 h 501"/>
                  <a:gd name="T2" fmla="*/ 0 w 387"/>
                  <a:gd name="T3" fmla="*/ 0 h 501"/>
                  <a:gd name="T4" fmla="*/ 0 w 387"/>
                  <a:gd name="T5" fmla="*/ 0 h 501"/>
                  <a:gd name="T6" fmla="*/ 0 w 387"/>
                  <a:gd name="T7" fmla="*/ 0 h 501"/>
                  <a:gd name="T8" fmla="*/ 1 w 387"/>
                  <a:gd name="T9" fmla="*/ 0 h 501"/>
                  <a:gd name="T10" fmla="*/ 1 w 387"/>
                  <a:gd name="T11" fmla="*/ 1 h 501"/>
                  <a:gd name="T12" fmla="*/ 1 w 387"/>
                  <a:gd name="T13" fmla="*/ 1 h 501"/>
                  <a:gd name="T14" fmla="*/ 1 w 387"/>
                  <a:gd name="T15" fmla="*/ 1 h 501"/>
                  <a:gd name="T16" fmla="*/ 1 w 387"/>
                  <a:gd name="T17" fmla="*/ 1 h 501"/>
                  <a:gd name="T18" fmla="*/ 1 w 387"/>
                  <a:gd name="T19" fmla="*/ 1 h 501"/>
                  <a:gd name="T20" fmla="*/ 0 w 387"/>
                  <a:gd name="T21" fmla="*/ 1 h 501"/>
                  <a:gd name="T22" fmla="*/ 0 w 387"/>
                  <a:gd name="T23" fmla="*/ 1 h 501"/>
                  <a:gd name="T24" fmla="*/ 0 w 387"/>
                  <a:gd name="T25" fmla="*/ 1 h 501"/>
                  <a:gd name="T26" fmla="*/ 0 w 387"/>
                  <a:gd name="T27" fmla="*/ 1 h 501"/>
                  <a:gd name="T28" fmla="*/ 0 w 387"/>
                  <a:gd name="T29" fmla="*/ 0 h 501"/>
                  <a:gd name="T30" fmla="*/ 0 w 387"/>
                  <a:gd name="T31" fmla="*/ 0 h 501"/>
                  <a:gd name="T32" fmla="*/ 0 w 387"/>
                  <a:gd name="T33" fmla="*/ 0 h 501"/>
                  <a:gd name="T34" fmla="*/ 1 w 387"/>
                  <a:gd name="T35" fmla="*/ 0 h 50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87"/>
                  <a:gd name="T55" fmla="*/ 0 h 501"/>
                  <a:gd name="T56" fmla="*/ 387 w 387"/>
                  <a:gd name="T57" fmla="*/ 501 h 50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87" h="501">
                    <a:moveTo>
                      <a:pt x="10" y="134"/>
                    </a:moveTo>
                    <a:cubicBezTo>
                      <a:pt x="18" y="122"/>
                      <a:pt x="37" y="81"/>
                      <a:pt x="56" y="61"/>
                    </a:cubicBezTo>
                    <a:cubicBezTo>
                      <a:pt x="75" y="41"/>
                      <a:pt x="92" y="24"/>
                      <a:pt x="125" y="16"/>
                    </a:cubicBezTo>
                    <a:cubicBezTo>
                      <a:pt x="158" y="8"/>
                      <a:pt x="221" y="0"/>
                      <a:pt x="257" y="10"/>
                    </a:cubicBezTo>
                    <a:cubicBezTo>
                      <a:pt x="293" y="20"/>
                      <a:pt x="327" y="26"/>
                      <a:pt x="344" y="79"/>
                    </a:cubicBezTo>
                    <a:cubicBezTo>
                      <a:pt x="361" y="132"/>
                      <a:pt x="360" y="284"/>
                      <a:pt x="362" y="330"/>
                    </a:cubicBezTo>
                    <a:cubicBezTo>
                      <a:pt x="364" y="376"/>
                      <a:pt x="349" y="326"/>
                      <a:pt x="353" y="353"/>
                    </a:cubicBezTo>
                    <a:cubicBezTo>
                      <a:pt x="357" y="380"/>
                      <a:pt x="383" y="479"/>
                      <a:pt x="385" y="490"/>
                    </a:cubicBezTo>
                    <a:cubicBezTo>
                      <a:pt x="387" y="501"/>
                      <a:pt x="371" y="439"/>
                      <a:pt x="367" y="417"/>
                    </a:cubicBezTo>
                    <a:cubicBezTo>
                      <a:pt x="363" y="395"/>
                      <a:pt x="373" y="352"/>
                      <a:pt x="358" y="358"/>
                    </a:cubicBezTo>
                    <a:cubicBezTo>
                      <a:pt x="343" y="364"/>
                      <a:pt x="313" y="432"/>
                      <a:pt x="275" y="454"/>
                    </a:cubicBezTo>
                    <a:cubicBezTo>
                      <a:pt x="237" y="476"/>
                      <a:pt x="170" y="491"/>
                      <a:pt x="129" y="490"/>
                    </a:cubicBezTo>
                    <a:cubicBezTo>
                      <a:pt x="88" y="489"/>
                      <a:pt x="50" y="465"/>
                      <a:pt x="29" y="445"/>
                    </a:cubicBezTo>
                    <a:cubicBezTo>
                      <a:pt x="8" y="425"/>
                      <a:pt x="0" y="393"/>
                      <a:pt x="1" y="367"/>
                    </a:cubicBezTo>
                    <a:cubicBezTo>
                      <a:pt x="2" y="341"/>
                      <a:pt x="13" y="309"/>
                      <a:pt x="33" y="289"/>
                    </a:cubicBezTo>
                    <a:cubicBezTo>
                      <a:pt x="53" y="269"/>
                      <a:pt x="87" y="260"/>
                      <a:pt x="120" y="249"/>
                    </a:cubicBezTo>
                    <a:cubicBezTo>
                      <a:pt x="153" y="238"/>
                      <a:pt x="195" y="230"/>
                      <a:pt x="234" y="221"/>
                    </a:cubicBezTo>
                    <a:cubicBezTo>
                      <a:pt x="273" y="212"/>
                      <a:pt x="328" y="199"/>
                      <a:pt x="353" y="193"/>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289" name="Freeform 135"/>
              <p:cNvSpPr>
                <a:spLocks noChangeAspect="1"/>
              </p:cNvSpPr>
              <p:nvPr/>
            </p:nvSpPr>
            <p:spPr bwMode="auto">
              <a:xfrm>
                <a:off x="4321" y="2799"/>
                <a:ext cx="71" cy="103"/>
              </a:xfrm>
              <a:custGeom>
                <a:avLst/>
                <a:gdLst>
                  <a:gd name="T0" fmla="*/ 0 w 356"/>
                  <a:gd name="T1" fmla="*/ 0 h 514"/>
                  <a:gd name="T2" fmla="*/ 0 w 356"/>
                  <a:gd name="T3" fmla="*/ 1 h 514"/>
                  <a:gd name="T4" fmla="*/ 0 w 356"/>
                  <a:gd name="T5" fmla="*/ 0 h 514"/>
                  <a:gd name="T6" fmla="*/ 0 w 356"/>
                  <a:gd name="T7" fmla="*/ 0 h 514"/>
                  <a:gd name="T8" fmla="*/ 0 w 356"/>
                  <a:gd name="T9" fmla="*/ 0 h 514"/>
                  <a:gd name="T10" fmla="*/ 1 w 356"/>
                  <a:gd name="T11" fmla="*/ 0 h 514"/>
                  <a:gd name="T12" fmla="*/ 1 w 356"/>
                  <a:gd name="T13" fmla="*/ 0 h 514"/>
                  <a:gd name="T14" fmla="*/ 1 w 356"/>
                  <a:gd name="T15" fmla="*/ 1 h 514"/>
                  <a:gd name="T16" fmla="*/ 0 60000 65536"/>
                  <a:gd name="T17" fmla="*/ 0 60000 65536"/>
                  <a:gd name="T18" fmla="*/ 0 60000 65536"/>
                  <a:gd name="T19" fmla="*/ 0 60000 65536"/>
                  <a:gd name="T20" fmla="*/ 0 60000 65536"/>
                  <a:gd name="T21" fmla="*/ 0 60000 65536"/>
                  <a:gd name="T22" fmla="*/ 0 60000 65536"/>
                  <a:gd name="T23" fmla="*/ 0 60000 65536"/>
                  <a:gd name="T24" fmla="*/ 0 w 356"/>
                  <a:gd name="T25" fmla="*/ 0 h 514"/>
                  <a:gd name="T26" fmla="*/ 356 w 356"/>
                  <a:gd name="T27" fmla="*/ 514 h 5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56" h="514">
                    <a:moveTo>
                      <a:pt x="11" y="0"/>
                    </a:moveTo>
                    <a:cubicBezTo>
                      <a:pt x="11" y="79"/>
                      <a:pt x="10" y="430"/>
                      <a:pt x="10" y="472"/>
                    </a:cubicBezTo>
                    <a:cubicBezTo>
                      <a:pt x="10" y="514"/>
                      <a:pt x="0" y="313"/>
                      <a:pt x="11" y="250"/>
                    </a:cubicBezTo>
                    <a:cubicBezTo>
                      <a:pt x="22" y="187"/>
                      <a:pt x="48" y="128"/>
                      <a:pt x="79" y="91"/>
                    </a:cubicBezTo>
                    <a:cubicBezTo>
                      <a:pt x="110" y="54"/>
                      <a:pt x="154" y="30"/>
                      <a:pt x="195" y="30"/>
                    </a:cubicBezTo>
                    <a:cubicBezTo>
                      <a:pt x="236" y="30"/>
                      <a:pt x="297" y="61"/>
                      <a:pt x="323" y="94"/>
                    </a:cubicBezTo>
                    <a:cubicBezTo>
                      <a:pt x="349" y="127"/>
                      <a:pt x="346" y="160"/>
                      <a:pt x="351" y="227"/>
                    </a:cubicBezTo>
                    <a:cubicBezTo>
                      <a:pt x="356" y="294"/>
                      <a:pt x="351" y="454"/>
                      <a:pt x="351" y="499"/>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290" name="Freeform 136"/>
              <p:cNvSpPr>
                <a:spLocks noChangeAspect="1"/>
              </p:cNvSpPr>
              <p:nvPr/>
            </p:nvSpPr>
            <p:spPr bwMode="auto">
              <a:xfrm>
                <a:off x="4440" y="2809"/>
                <a:ext cx="74" cy="93"/>
              </a:xfrm>
              <a:custGeom>
                <a:avLst/>
                <a:gdLst>
                  <a:gd name="T0" fmla="*/ 1 w 368"/>
                  <a:gd name="T1" fmla="*/ 1 h 465"/>
                  <a:gd name="T2" fmla="*/ 0 w 368"/>
                  <a:gd name="T3" fmla="*/ 1 h 465"/>
                  <a:gd name="T4" fmla="*/ 0 w 368"/>
                  <a:gd name="T5" fmla="*/ 1 h 465"/>
                  <a:gd name="T6" fmla="*/ 0 w 368"/>
                  <a:gd name="T7" fmla="*/ 1 h 465"/>
                  <a:gd name="T8" fmla="*/ 0 w 368"/>
                  <a:gd name="T9" fmla="*/ 0 h 465"/>
                  <a:gd name="T10" fmla="*/ 0 w 368"/>
                  <a:gd name="T11" fmla="*/ 0 h 465"/>
                  <a:gd name="T12" fmla="*/ 0 w 368"/>
                  <a:gd name="T13" fmla="*/ 0 h 465"/>
                  <a:gd name="T14" fmla="*/ 1 w 368"/>
                  <a:gd name="T15" fmla="*/ 0 h 465"/>
                  <a:gd name="T16" fmla="*/ 1 w 368"/>
                  <a:gd name="T17" fmla="*/ 0 h 465"/>
                  <a:gd name="T18" fmla="*/ 0 w 368"/>
                  <a:gd name="T19" fmla="*/ 0 h 46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68"/>
                  <a:gd name="T31" fmla="*/ 0 h 465"/>
                  <a:gd name="T32" fmla="*/ 368 w 368"/>
                  <a:gd name="T33" fmla="*/ 465 h 46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68" h="465">
                    <a:moveTo>
                      <a:pt x="350" y="344"/>
                    </a:moveTo>
                    <a:cubicBezTo>
                      <a:pt x="334" y="362"/>
                      <a:pt x="288" y="429"/>
                      <a:pt x="248" y="446"/>
                    </a:cubicBezTo>
                    <a:cubicBezTo>
                      <a:pt x="208" y="463"/>
                      <a:pt x="148" y="465"/>
                      <a:pt x="110" y="446"/>
                    </a:cubicBezTo>
                    <a:cubicBezTo>
                      <a:pt x="72" y="427"/>
                      <a:pt x="35" y="386"/>
                      <a:pt x="20" y="332"/>
                    </a:cubicBezTo>
                    <a:cubicBezTo>
                      <a:pt x="5" y="278"/>
                      <a:pt x="0" y="175"/>
                      <a:pt x="20" y="122"/>
                    </a:cubicBezTo>
                    <a:cubicBezTo>
                      <a:pt x="40" y="69"/>
                      <a:pt x="96" y="28"/>
                      <a:pt x="140" y="14"/>
                    </a:cubicBezTo>
                    <a:cubicBezTo>
                      <a:pt x="184" y="0"/>
                      <a:pt x="248" y="19"/>
                      <a:pt x="284" y="38"/>
                    </a:cubicBezTo>
                    <a:cubicBezTo>
                      <a:pt x="320" y="57"/>
                      <a:pt x="342" y="97"/>
                      <a:pt x="356" y="128"/>
                    </a:cubicBezTo>
                    <a:lnTo>
                      <a:pt x="368" y="224"/>
                    </a:lnTo>
                    <a:lnTo>
                      <a:pt x="8" y="224"/>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47240" name="Line 137"/>
            <p:cNvSpPr>
              <a:spLocks noChangeAspect="1" noChangeShapeType="1"/>
            </p:cNvSpPr>
            <p:nvPr/>
          </p:nvSpPr>
          <p:spPr bwMode="auto">
            <a:xfrm>
              <a:off x="2250" y="1686"/>
              <a:ext cx="93" cy="48"/>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241" name="Line 138"/>
            <p:cNvSpPr>
              <a:spLocks noChangeAspect="1" noChangeShapeType="1"/>
            </p:cNvSpPr>
            <p:nvPr/>
          </p:nvSpPr>
          <p:spPr bwMode="auto">
            <a:xfrm flipH="1">
              <a:off x="3319" y="1469"/>
              <a:ext cx="105" cy="12"/>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242" name="Line 139"/>
            <p:cNvSpPr>
              <a:spLocks noChangeAspect="1" noChangeShapeType="1"/>
            </p:cNvSpPr>
            <p:nvPr/>
          </p:nvSpPr>
          <p:spPr bwMode="auto">
            <a:xfrm flipH="1">
              <a:off x="3319" y="1325"/>
              <a:ext cx="99" cy="0"/>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47243" name="Group 140"/>
            <p:cNvGrpSpPr>
              <a:grpSpLocks noChangeAspect="1"/>
            </p:cNvGrpSpPr>
            <p:nvPr/>
          </p:nvGrpSpPr>
          <p:grpSpPr bwMode="auto">
            <a:xfrm>
              <a:off x="3454" y="1424"/>
              <a:ext cx="133" cy="34"/>
              <a:chOff x="1387" y="2767"/>
              <a:chExt cx="530" cy="136"/>
            </a:xfrm>
          </p:grpSpPr>
          <p:grpSp>
            <p:nvGrpSpPr>
              <p:cNvPr id="147269" name="Group 141"/>
              <p:cNvGrpSpPr>
                <a:grpSpLocks noChangeAspect="1"/>
              </p:cNvGrpSpPr>
              <p:nvPr/>
            </p:nvGrpSpPr>
            <p:grpSpPr bwMode="auto">
              <a:xfrm>
                <a:off x="1387" y="2776"/>
                <a:ext cx="80" cy="127"/>
                <a:chOff x="3653" y="1343"/>
                <a:chExt cx="384" cy="612"/>
              </a:xfrm>
            </p:grpSpPr>
            <p:sp>
              <p:nvSpPr>
                <p:cNvPr id="147281" name="Freeform 142"/>
                <p:cNvSpPr>
                  <a:spLocks noChangeAspect="1"/>
                </p:cNvSpPr>
                <p:nvPr/>
              </p:nvSpPr>
              <p:spPr bwMode="auto">
                <a:xfrm>
                  <a:off x="3653" y="1343"/>
                  <a:ext cx="384" cy="612"/>
                </a:xfrm>
                <a:custGeom>
                  <a:avLst/>
                  <a:gdLst>
                    <a:gd name="T0" fmla="*/ 384 w 384"/>
                    <a:gd name="T1" fmla="*/ 0 h 612"/>
                    <a:gd name="T2" fmla="*/ 0 w 384"/>
                    <a:gd name="T3" fmla="*/ 0 h 612"/>
                    <a:gd name="T4" fmla="*/ 0 w 384"/>
                    <a:gd name="T5" fmla="*/ 612 h 612"/>
                    <a:gd name="T6" fmla="*/ 0 60000 65536"/>
                    <a:gd name="T7" fmla="*/ 0 60000 65536"/>
                    <a:gd name="T8" fmla="*/ 0 60000 65536"/>
                    <a:gd name="T9" fmla="*/ 0 w 384"/>
                    <a:gd name="T10" fmla="*/ 0 h 612"/>
                    <a:gd name="T11" fmla="*/ 384 w 384"/>
                    <a:gd name="T12" fmla="*/ 612 h 612"/>
                  </a:gdLst>
                  <a:ahLst/>
                  <a:cxnLst>
                    <a:cxn ang="T6">
                      <a:pos x="T0" y="T1"/>
                    </a:cxn>
                    <a:cxn ang="T7">
                      <a:pos x="T2" y="T3"/>
                    </a:cxn>
                    <a:cxn ang="T8">
                      <a:pos x="T4" y="T5"/>
                    </a:cxn>
                  </a:cxnLst>
                  <a:rect l="T9" t="T10" r="T11" b="T12"/>
                  <a:pathLst>
                    <a:path w="384" h="612">
                      <a:moveTo>
                        <a:pt x="384" y="0"/>
                      </a:moveTo>
                      <a:lnTo>
                        <a:pt x="0" y="0"/>
                      </a:lnTo>
                      <a:lnTo>
                        <a:pt x="0" y="612"/>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282" name="Line 143"/>
                <p:cNvSpPr>
                  <a:spLocks noChangeAspect="1" noChangeShapeType="1"/>
                </p:cNvSpPr>
                <p:nvPr/>
              </p:nvSpPr>
              <p:spPr bwMode="auto">
                <a:xfrm flipH="1">
                  <a:off x="3653" y="1637"/>
                  <a:ext cx="324" cy="0"/>
                </a:xfrm>
                <a:prstGeom prst="line">
                  <a:avLst/>
                </a:prstGeom>
                <a:noFill/>
                <a:ln w="63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47270" name="Group 144"/>
              <p:cNvGrpSpPr>
                <a:grpSpLocks noChangeAspect="1"/>
              </p:cNvGrpSpPr>
              <p:nvPr/>
            </p:nvGrpSpPr>
            <p:grpSpPr bwMode="auto">
              <a:xfrm>
                <a:off x="1518" y="2767"/>
                <a:ext cx="11" cy="136"/>
                <a:chOff x="1434" y="1286"/>
                <a:chExt cx="56" cy="679"/>
              </a:xfrm>
            </p:grpSpPr>
            <p:sp>
              <p:nvSpPr>
                <p:cNvPr id="147279" name="Freeform 145"/>
                <p:cNvSpPr>
                  <a:spLocks noChangeAspect="1"/>
                </p:cNvSpPr>
                <p:nvPr/>
              </p:nvSpPr>
              <p:spPr bwMode="auto">
                <a:xfrm>
                  <a:off x="1459" y="1459"/>
                  <a:ext cx="1" cy="506"/>
                </a:xfrm>
                <a:custGeom>
                  <a:avLst/>
                  <a:gdLst>
                    <a:gd name="T0" fmla="*/ 0 w 1"/>
                    <a:gd name="T1" fmla="*/ 0 h 506"/>
                    <a:gd name="T2" fmla="*/ 0 w 1"/>
                    <a:gd name="T3" fmla="*/ 506 h 506"/>
                    <a:gd name="T4" fmla="*/ 0 60000 65536"/>
                    <a:gd name="T5" fmla="*/ 0 60000 65536"/>
                    <a:gd name="T6" fmla="*/ 0 w 1"/>
                    <a:gd name="T7" fmla="*/ 0 h 506"/>
                    <a:gd name="T8" fmla="*/ 1 w 1"/>
                    <a:gd name="T9" fmla="*/ 506 h 506"/>
                  </a:gdLst>
                  <a:ahLst/>
                  <a:cxnLst>
                    <a:cxn ang="T4">
                      <a:pos x="T0" y="T1"/>
                    </a:cxn>
                    <a:cxn ang="T5">
                      <a:pos x="T2" y="T3"/>
                    </a:cxn>
                  </a:cxnLst>
                  <a:rect l="T6" t="T7" r="T8" b="T9"/>
                  <a:pathLst>
                    <a:path w="1" h="506">
                      <a:moveTo>
                        <a:pt x="0" y="0"/>
                      </a:moveTo>
                      <a:cubicBezTo>
                        <a:pt x="0" y="211"/>
                        <a:pt x="0" y="422"/>
                        <a:pt x="0" y="506"/>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280" name="Oval 146"/>
                <p:cNvSpPr>
                  <a:spLocks noChangeAspect="1" noChangeArrowheads="1"/>
                </p:cNvSpPr>
                <p:nvPr/>
              </p:nvSpPr>
              <p:spPr bwMode="auto">
                <a:xfrm>
                  <a:off x="1434" y="1286"/>
                  <a:ext cx="56" cy="56"/>
                </a:xfrm>
                <a:prstGeom prst="ellipse">
                  <a:avLst/>
                </a:prstGeom>
                <a:solidFill>
                  <a:schemeClr val="tx1"/>
                </a:solidFill>
                <a:ln w="6350">
                  <a:solidFill>
                    <a:schemeClr val="tx1"/>
                  </a:solidFill>
                  <a:rou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sp>
            <p:nvSpPr>
              <p:cNvPr id="147271" name="Line 147"/>
              <p:cNvSpPr>
                <a:spLocks noChangeAspect="1" noChangeShapeType="1"/>
              </p:cNvSpPr>
              <p:nvPr/>
            </p:nvSpPr>
            <p:spPr bwMode="auto">
              <a:xfrm>
                <a:off x="1590" y="2767"/>
                <a:ext cx="1" cy="136"/>
              </a:xfrm>
              <a:prstGeom prst="line">
                <a:avLst/>
              </a:prstGeom>
              <a:noFill/>
              <a:ln w="63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147272" name="Group 148"/>
              <p:cNvGrpSpPr>
                <a:grpSpLocks noChangeAspect="1"/>
              </p:cNvGrpSpPr>
              <p:nvPr/>
            </p:nvGrpSpPr>
            <p:grpSpPr bwMode="auto">
              <a:xfrm>
                <a:off x="1645" y="2776"/>
                <a:ext cx="58" cy="127"/>
                <a:chOff x="3612" y="1686"/>
                <a:chExt cx="288" cy="634"/>
              </a:xfrm>
            </p:grpSpPr>
            <p:sp>
              <p:nvSpPr>
                <p:cNvPr id="147277" name="Freeform 149"/>
                <p:cNvSpPr>
                  <a:spLocks noChangeAspect="1"/>
                </p:cNvSpPr>
                <p:nvPr/>
              </p:nvSpPr>
              <p:spPr bwMode="auto">
                <a:xfrm>
                  <a:off x="3738" y="1686"/>
                  <a:ext cx="162" cy="634"/>
                </a:xfrm>
                <a:custGeom>
                  <a:avLst/>
                  <a:gdLst>
                    <a:gd name="T0" fmla="*/ 0 w 162"/>
                    <a:gd name="T1" fmla="*/ 0 h 634"/>
                    <a:gd name="T2" fmla="*/ 0 w 162"/>
                    <a:gd name="T3" fmla="*/ 534 h 634"/>
                    <a:gd name="T4" fmla="*/ 162 w 162"/>
                    <a:gd name="T5" fmla="*/ 600 h 634"/>
                    <a:gd name="T6" fmla="*/ 0 60000 65536"/>
                    <a:gd name="T7" fmla="*/ 0 60000 65536"/>
                    <a:gd name="T8" fmla="*/ 0 60000 65536"/>
                    <a:gd name="T9" fmla="*/ 0 w 162"/>
                    <a:gd name="T10" fmla="*/ 0 h 634"/>
                    <a:gd name="T11" fmla="*/ 162 w 162"/>
                    <a:gd name="T12" fmla="*/ 634 h 634"/>
                  </a:gdLst>
                  <a:ahLst/>
                  <a:cxnLst>
                    <a:cxn ang="T6">
                      <a:pos x="T0" y="T1"/>
                    </a:cxn>
                    <a:cxn ang="T7">
                      <a:pos x="T2" y="T3"/>
                    </a:cxn>
                    <a:cxn ang="T8">
                      <a:pos x="T4" y="T5"/>
                    </a:cxn>
                  </a:cxnLst>
                  <a:rect l="T9" t="T10" r="T11" b="T12"/>
                  <a:pathLst>
                    <a:path w="162" h="634">
                      <a:moveTo>
                        <a:pt x="0" y="0"/>
                      </a:moveTo>
                      <a:lnTo>
                        <a:pt x="0" y="534"/>
                      </a:lnTo>
                      <a:cubicBezTo>
                        <a:pt x="27" y="634"/>
                        <a:pt x="94" y="617"/>
                        <a:pt x="162" y="600"/>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278" name="Freeform 150"/>
                <p:cNvSpPr>
                  <a:spLocks noChangeAspect="1"/>
                </p:cNvSpPr>
                <p:nvPr/>
              </p:nvSpPr>
              <p:spPr bwMode="auto">
                <a:xfrm>
                  <a:off x="3612" y="1872"/>
                  <a:ext cx="276" cy="1"/>
                </a:xfrm>
                <a:custGeom>
                  <a:avLst/>
                  <a:gdLst>
                    <a:gd name="T0" fmla="*/ 0 w 276"/>
                    <a:gd name="T1" fmla="*/ 0 h 1"/>
                    <a:gd name="T2" fmla="*/ 276 w 276"/>
                    <a:gd name="T3" fmla="*/ 0 h 1"/>
                    <a:gd name="T4" fmla="*/ 0 60000 65536"/>
                    <a:gd name="T5" fmla="*/ 0 60000 65536"/>
                    <a:gd name="T6" fmla="*/ 0 w 276"/>
                    <a:gd name="T7" fmla="*/ 0 h 1"/>
                    <a:gd name="T8" fmla="*/ 276 w 276"/>
                    <a:gd name="T9" fmla="*/ 1 h 1"/>
                  </a:gdLst>
                  <a:ahLst/>
                  <a:cxnLst>
                    <a:cxn ang="T4">
                      <a:pos x="T0" y="T1"/>
                    </a:cxn>
                    <a:cxn ang="T5">
                      <a:pos x="T2" y="T3"/>
                    </a:cxn>
                  </a:cxnLst>
                  <a:rect l="T6" t="T7" r="T8" b="T9"/>
                  <a:pathLst>
                    <a:path w="276" h="1">
                      <a:moveTo>
                        <a:pt x="0" y="0"/>
                      </a:moveTo>
                      <a:cubicBezTo>
                        <a:pt x="0" y="0"/>
                        <a:pt x="138" y="0"/>
                        <a:pt x="276" y="0"/>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47273" name="Freeform 151"/>
              <p:cNvSpPr>
                <a:spLocks noChangeAspect="1"/>
              </p:cNvSpPr>
              <p:nvPr/>
            </p:nvSpPr>
            <p:spPr bwMode="auto">
              <a:xfrm>
                <a:off x="1741" y="2810"/>
                <a:ext cx="74" cy="93"/>
              </a:xfrm>
              <a:custGeom>
                <a:avLst/>
                <a:gdLst>
                  <a:gd name="T0" fmla="*/ 1 w 368"/>
                  <a:gd name="T1" fmla="*/ 1 h 465"/>
                  <a:gd name="T2" fmla="*/ 0 w 368"/>
                  <a:gd name="T3" fmla="*/ 1 h 465"/>
                  <a:gd name="T4" fmla="*/ 0 w 368"/>
                  <a:gd name="T5" fmla="*/ 1 h 465"/>
                  <a:gd name="T6" fmla="*/ 0 w 368"/>
                  <a:gd name="T7" fmla="*/ 1 h 465"/>
                  <a:gd name="T8" fmla="*/ 0 w 368"/>
                  <a:gd name="T9" fmla="*/ 0 h 465"/>
                  <a:gd name="T10" fmla="*/ 0 w 368"/>
                  <a:gd name="T11" fmla="*/ 0 h 465"/>
                  <a:gd name="T12" fmla="*/ 0 w 368"/>
                  <a:gd name="T13" fmla="*/ 0 h 465"/>
                  <a:gd name="T14" fmla="*/ 1 w 368"/>
                  <a:gd name="T15" fmla="*/ 0 h 465"/>
                  <a:gd name="T16" fmla="*/ 1 w 368"/>
                  <a:gd name="T17" fmla="*/ 0 h 465"/>
                  <a:gd name="T18" fmla="*/ 0 w 368"/>
                  <a:gd name="T19" fmla="*/ 0 h 46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68"/>
                  <a:gd name="T31" fmla="*/ 0 h 465"/>
                  <a:gd name="T32" fmla="*/ 368 w 368"/>
                  <a:gd name="T33" fmla="*/ 465 h 46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68" h="465">
                    <a:moveTo>
                      <a:pt x="350" y="344"/>
                    </a:moveTo>
                    <a:cubicBezTo>
                      <a:pt x="334" y="362"/>
                      <a:pt x="288" y="429"/>
                      <a:pt x="248" y="446"/>
                    </a:cubicBezTo>
                    <a:cubicBezTo>
                      <a:pt x="208" y="463"/>
                      <a:pt x="148" y="465"/>
                      <a:pt x="110" y="446"/>
                    </a:cubicBezTo>
                    <a:cubicBezTo>
                      <a:pt x="72" y="427"/>
                      <a:pt x="35" y="386"/>
                      <a:pt x="20" y="332"/>
                    </a:cubicBezTo>
                    <a:cubicBezTo>
                      <a:pt x="5" y="278"/>
                      <a:pt x="0" y="175"/>
                      <a:pt x="20" y="122"/>
                    </a:cubicBezTo>
                    <a:cubicBezTo>
                      <a:pt x="40" y="69"/>
                      <a:pt x="96" y="28"/>
                      <a:pt x="140" y="14"/>
                    </a:cubicBezTo>
                    <a:cubicBezTo>
                      <a:pt x="184" y="0"/>
                      <a:pt x="248" y="19"/>
                      <a:pt x="284" y="38"/>
                    </a:cubicBezTo>
                    <a:cubicBezTo>
                      <a:pt x="320" y="57"/>
                      <a:pt x="342" y="97"/>
                      <a:pt x="356" y="128"/>
                    </a:cubicBezTo>
                    <a:lnTo>
                      <a:pt x="368" y="224"/>
                    </a:lnTo>
                    <a:lnTo>
                      <a:pt x="8" y="224"/>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7274" name="Group 152"/>
              <p:cNvGrpSpPr>
                <a:grpSpLocks noChangeAspect="1"/>
              </p:cNvGrpSpPr>
              <p:nvPr/>
            </p:nvGrpSpPr>
            <p:grpSpPr bwMode="auto">
              <a:xfrm>
                <a:off x="1871" y="2800"/>
                <a:ext cx="46" cy="103"/>
                <a:chOff x="2808" y="1818"/>
                <a:chExt cx="228" cy="516"/>
              </a:xfrm>
            </p:grpSpPr>
            <p:sp>
              <p:nvSpPr>
                <p:cNvPr id="147275" name="Freeform 153"/>
                <p:cNvSpPr>
                  <a:spLocks noChangeAspect="1"/>
                </p:cNvSpPr>
                <p:nvPr/>
              </p:nvSpPr>
              <p:spPr bwMode="auto">
                <a:xfrm>
                  <a:off x="2808" y="1818"/>
                  <a:ext cx="1" cy="516"/>
                </a:xfrm>
                <a:custGeom>
                  <a:avLst/>
                  <a:gdLst>
                    <a:gd name="T0" fmla="*/ 0 w 1"/>
                    <a:gd name="T1" fmla="*/ 0 h 516"/>
                    <a:gd name="T2" fmla="*/ 0 w 1"/>
                    <a:gd name="T3" fmla="*/ 516 h 516"/>
                    <a:gd name="T4" fmla="*/ 0 60000 65536"/>
                    <a:gd name="T5" fmla="*/ 0 60000 65536"/>
                    <a:gd name="T6" fmla="*/ 0 w 1"/>
                    <a:gd name="T7" fmla="*/ 0 h 516"/>
                    <a:gd name="T8" fmla="*/ 1 w 1"/>
                    <a:gd name="T9" fmla="*/ 516 h 516"/>
                  </a:gdLst>
                  <a:ahLst/>
                  <a:cxnLst>
                    <a:cxn ang="T4">
                      <a:pos x="T0" y="T1"/>
                    </a:cxn>
                    <a:cxn ang="T5">
                      <a:pos x="T2" y="T3"/>
                    </a:cxn>
                  </a:cxnLst>
                  <a:rect l="T6" t="T7" r="T8" b="T9"/>
                  <a:pathLst>
                    <a:path w="1" h="516">
                      <a:moveTo>
                        <a:pt x="0" y="0"/>
                      </a:moveTo>
                      <a:cubicBezTo>
                        <a:pt x="0" y="0"/>
                        <a:pt x="0" y="258"/>
                        <a:pt x="0" y="516"/>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276" name="Freeform 154"/>
                <p:cNvSpPr>
                  <a:spLocks noChangeAspect="1"/>
                </p:cNvSpPr>
                <p:nvPr/>
              </p:nvSpPr>
              <p:spPr bwMode="auto">
                <a:xfrm>
                  <a:off x="2808" y="1830"/>
                  <a:ext cx="228" cy="198"/>
                </a:xfrm>
                <a:custGeom>
                  <a:avLst/>
                  <a:gdLst>
                    <a:gd name="T0" fmla="*/ 228 w 228"/>
                    <a:gd name="T1" fmla="*/ 54 h 198"/>
                    <a:gd name="T2" fmla="*/ 138 w 228"/>
                    <a:gd name="T3" fmla="*/ 24 h 198"/>
                    <a:gd name="T4" fmla="*/ 0 w 228"/>
                    <a:gd name="T5" fmla="*/ 198 h 198"/>
                    <a:gd name="T6" fmla="*/ 0 60000 65536"/>
                    <a:gd name="T7" fmla="*/ 0 60000 65536"/>
                    <a:gd name="T8" fmla="*/ 0 60000 65536"/>
                    <a:gd name="T9" fmla="*/ 0 w 228"/>
                    <a:gd name="T10" fmla="*/ 0 h 198"/>
                    <a:gd name="T11" fmla="*/ 228 w 228"/>
                    <a:gd name="T12" fmla="*/ 198 h 198"/>
                  </a:gdLst>
                  <a:ahLst/>
                  <a:cxnLst>
                    <a:cxn ang="T6">
                      <a:pos x="T0" y="T1"/>
                    </a:cxn>
                    <a:cxn ang="T7">
                      <a:pos x="T2" y="T3"/>
                    </a:cxn>
                    <a:cxn ang="T8">
                      <a:pos x="T4" y="T5"/>
                    </a:cxn>
                  </a:cxnLst>
                  <a:rect l="T9" t="T10" r="T11" b="T12"/>
                  <a:pathLst>
                    <a:path w="228" h="198">
                      <a:moveTo>
                        <a:pt x="228" y="54"/>
                      </a:moveTo>
                      <a:cubicBezTo>
                        <a:pt x="202" y="27"/>
                        <a:pt x="176" y="0"/>
                        <a:pt x="138" y="24"/>
                      </a:cubicBezTo>
                      <a:cubicBezTo>
                        <a:pt x="100" y="48"/>
                        <a:pt x="50" y="123"/>
                        <a:pt x="0" y="198"/>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grpSp>
          <p:nvGrpSpPr>
            <p:cNvPr id="147244" name="Group 155"/>
            <p:cNvGrpSpPr>
              <a:grpSpLocks noChangeAspect="1"/>
            </p:cNvGrpSpPr>
            <p:nvPr/>
          </p:nvGrpSpPr>
          <p:grpSpPr bwMode="auto">
            <a:xfrm>
              <a:off x="3454" y="1482"/>
              <a:ext cx="131" cy="36"/>
              <a:chOff x="2092" y="2798"/>
              <a:chExt cx="522" cy="145"/>
            </a:xfrm>
          </p:grpSpPr>
          <p:sp>
            <p:nvSpPr>
              <p:cNvPr id="147262" name="Freeform 156"/>
              <p:cNvSpPr>
                <a:spLocks noChangeAspect="1"/>
              </p:cNvSpPr>
              <p:nvPr/>
            </p:nvSpPr>
            <p:spPr bwMode="auto">
              <a:xfrm flipH="1" flipV="1">
                <a:off x="2092" y="2798"/>
                <a:ext cx="80" cy="145"/>
              </a:xfrm>
              <a:custGeom>
                <a:avLst/>
                <a:gdLst>
                  <a:gd name="T0" fmla="*/ 1 w 401"/>
                  <a:gd name="T1" fmla="*/ 0 h 727"/>
                  <a:gd name="T2" fmla="*/ 1 w 401"/>
                  <a:gd name="T3" fmla="*/ 0 h 727"/>
                  <a:gd name="T4" fmla="*/ 1 w 401"/>
                  <a:gd name="T5" fmla="*/ 1 h 727"/>
                  <a:gd name="T6" fmla="*/ 1 w 401"/>
                  <a:gd name="T7" fmla="*/ 1 h 727"/>
                  <a:gd name="T8" fmla="*/ 0 w 401"/>
                  <a:gd name="T9" fmla="*/ 1 h 727"/>
                  <a:gd name="T10" fmla="*/ 0 w 401"/>
                  <a:gd name="T11" fmla="*/ 1 h 727"/>
                  <a:gd name="T12" fmla="*/ 0 w 401"/>
                  <a:gd name="T13" fmla="*/ 1 h 727"/>
                  <a:gd name="T14" fmla="*/ 0 w 401"/>
                  <a:gd name="T15" fmla="*/ 1 h 727"/>
                  <a:gd name="T16" fmla="*/ 0 w 401"/>
                  <a:gd name="T17" fmla="*/ 0 h 727"/>
                  <a:gd name="T18" fmla="*/ 0 w 401"/>
                  <a:gd name="T19" fmla="*/ 0 h 727"/>
                  <a:gd name="T20" fmla="*/ 1 w 401"/>
                  <a:gd name="T21" fmla="*/ 1 h 727"/>
                  <a:gd name="T22" fmla="*/ 1 w 401"/>
                  <a:gd name="T23" fmla="*/ 1 h 727"/>
                  <a:gd name="T24" fmla="*/ 1 w 401"/>
                  <a:gd name="T25" fmla="*/ 1 h 72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01"/>
                  <a:gd name="T40" fmla="*/ 0 h 727"/>
                  <a:gd name="T41" fmla="*/ 401 w 401"/>
                  <a:gd name="T42" fmla="*/ 727 h 72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01" h="727">
                    <a:moveTo>
                      <a:pt x="382" y="0"/>
                    </a:moveTo>
                    <a:cubicBezTo>
                      <a:pt x="382" y="30"/>
                      <a:pt x="382" y="124"/>
                      <a:pt x="382" y="179"/>
                    </a:cubicBezTo>
                    <a:cubicBezTo>
                      <a:pt x="382" y="234"/>
                      <a:pt x="382" y="269"/>
                      <a:pt x="382" y="330"/>
                    </a:cubicBezTo>
                    <a:cubicBezTo>
                      <a:pt x="382" y="391"/>
                      <a:pt x="401" y="485"/>
                      <a:pt x="382" y="544"/>
                    </a:cubicBezTo>
                    <a:cubicBezTo>
                      <a:pt x="363" y="603"/>
                      <a:pt x="313" y="660"/>
                      <a:pt x="267" y="682"/>
                    </a:cubicBezTo>
                    <a:cubicBezTo>
                      <a:pt x="221" y="704"/>
                      <a:pt x="146" y="703"/>
                      <a:pt x="103" y="677"/>
                    </a:cubicBezTo>
                    <a:cubicBezTo>
                      <a:pt x="60" y="651"/>
                      <a:pt x="22" y="585"/>
                      <a:pt x="11" y="526"/>
                    </a:cubicBezTo>
                    <a:cubicBezTo>
                      <a:pt x="0" y="467"/>
                      <a:pt x="18" y="369"/>
                      <a:pt x="39" y="320"/>
                    </a:cubicBezTo>
                    <a:cubicBezTo>
                      <a:pt x="60" y="271"/>
                      <a:pt x="99" y="245"/>
                      <a:pt x="139" y="234"/>
                    </a:cubicBezTo>
                    <a:cubicBezTo>
                      <a:pt x="179" y="223"/>
                      <a:pt x="242" y="237"/>
                      <a:pt x="281" y="256"/>
                    </a:cubicBezTo>
                    <a:cubicBezTo>
                      <a:pt x="320" y="275"/>
                      <a:pt x="355" y="305"/>
                      <a:pt x="372" y="348"/>
                    </a:cubicBezTo>
                    <a:cubicBezTo>
                      <a:pt x="389" y="391"/>
                      <a:pt x="382" y="449"/>
                      <a:pt x="386" y="512"/>
                    </a:cubicBezTo>
                    <a:cubicBezTo>
                      <a:pt x="390" y="575"/>
                      <a:pt x="393" y="682"/>
                      <a:pt x="395" y="727"/>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263" name="Freeform 157"/>
              <p:cNvSpPr>
                <a:spLocks noChangeAspect="1"/>
              </p:cNvSpPr>
              <p:nvPr/>
            </p:nvSpPr>
            <p:spPr bwMode="auto">
              <a:xfrm>
                <a:off x="2203" y="2798"/>
                <a:ext cx="77" cy="100"/>
              </a:xfrm>
              <a:custGeom>
                <a:avLst/>
                <a:gdLst>
                  <a:gd name="T0" fmla="*/ 0 w 387"/>
                  <a:gd name="T1" fmla="*/ 0 h 501"/>
                  <a:gd name="T2" fmla="*/ 0 w 387"/>
                  <a:gd name="T3" fmla="*/ 0 h 501"/>
                  <a:gd name="T4" fmla="*/ 0 w 387"/>
                  <a:gd name="T5" fmla="*/ 0 h 501"/>
                  <a:gd name="T6" fmla="*/ 0 w 387"/>
                  <a:gd name="T7" fmla="*/ 0 h 501"/>
                  <a:gd name="T8" fmla="*/ 1 w 387"/>
                  <a:gd name="T9" fmla="*/ 0 h 501"/>
                  <a:gd name="T10" fmla="*/ 1 w 387"/>
                  <a:gd name="T11" fmla="*/ 1 h 501"/>
                  <a:gd name="T12" fmla="*/ 1 w 387"/>
                  <a:gd name="T13" fmla="*/ 1 h 501"/>
                  <a:gd name="T14" fmla="*/ 1 w 387"/>
                  <a:gd name="T15" fmla="*/ 1 h 501"/>
                  <a:gd name="T16" fmla="*/ 1 w 387"/>
                  <a:gd name="T17" fmla="*/ 1 h 501"/>
                  <a:gd name="T18" fmla="*/ 1 w 387"/>
                  <a:gd name="T19" fmla="*/ 1 h 501"/>
                  <a:gd name="T20" fmla="*/ 0 w 387"/>
                  <a:gd name="T21" fmla="*/ 1 h 501"/>
                  <a:gd name="T22" fmla="*/ 0 w 387"/>
                  <a:gd name="T23" fmla="*/ 1 h 501"/>
                  <a:gd name="T24" fmla="*/ 0 w 387"/>
                  <a:gd name="T25" fmla="*/ 1 h 501"/>
                  <a:gd name="T26" fmla="*/ 0 w 387"/>
                  <a:gd name="T27" fmla="*/ 1 h 501"/>
                  <a:gd name="T28" fmla="*/ 0 w 387"/>
                  <a:gd name="T29" fmla="*/ 0 h 501"/>
                  <a:gd name="T30" fmla="*/ 0 w 387"/>
                  <a:gd name="T31" fmla="*/ 0 h 501"/>
                  <a:gd name="T32" fmla="*/ 0 w 387"/>
                  <a:gd name="T33" fmla="*/ 0 h 501"/>
                  <a:gd name="T34" fmla="*/ 1 w 387"/>
                  <a:gd name="T35" fmla="*/ 0 h 50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87"/>
                  <a:gd name="T55" fmla="*/ 0 h 501"/>
                  <a:gd name="T56" fmla="*/ 387 w 387"/>
                  <a:gd name="T57" fmla="*/ 501 h 50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87" h="501">
                    <a:moveTo>
                      <a:pt x="10" y="134"/>
                    </a:moveTo>
                    <a:cubicBezTo>
                      <a:pt x="18" y="122"/>
                      <a:pt x="37" y="81"/>
                      <a:pt x="56" y="61"/>
                    </a:cubicBezTo>
                    <a:cubicBezTo>
                      <a:pt x="75" y="41"/>
                      <a:pt x="92" y="24"/>
                      <a:pt x="125" y="16"/>
                    </a:cubicBezTo>
                    <a:cubicBezTo>
                      <a:pt x="158" y="8"/>
                      <a:pt x="221" y="0"/>
                      <a:pt x="257" y="10"/>
                    </a:cubicBezTo>
                    <a:cubicBezTo>
                      <a:pt x="293" y="20"/>
                      <a:pt x="327" y="26"/>
                      <a:pt x="344" y="79"/>
                    </a:cubicBezTo>
                    <a:cubicBezTo>
                      <a:pt x="361" y="132"/>
                      <a:pt x="360" y="284"/>
                      <a:pt x="362" y="330"/>
                    </a:cubicBezTo>
                    <a:cubicBezTo>
                      <a:pt x="364" y="376"/>
                      <a:pt x="349" y="326"/>
                      <a:pt x="353" y="353"/>
                    </a:cubicBezTo>
                    <a:cubicBezTo>
                      <a:pt x="357" y="380"/>
                      <a:pt x="383" y="479"/>
                      <a:pt x="385" y="490"/>
                    </a:cubicBezTo>
                    <a:cubicBezTo>
                      <a:pt x="387" y="501"/>
                      <a:pt x="371" y="439"/>
                      <a:pt x="367" y="417"/>
                    </a:cubicBezTo>
                    <a:cubicBezTo>
                      <a:pt x="363" y="395"/>
                      <a:pt x="373" y="352"/>
                      <a:pt x="358" y="358"/>
                    </a:cubicBezTo>
                    <a:cubicBezTo>
                      <a:pt x="343" y="364"/>
                      <a:pt x="313" y="432"/>
                      <a:pt x="275" y="454"/>
                    </a:cubicBezTo>
                    <a:cubicBezTo>
                      <a:pt x="237" y="476"/>
                      <a:pt x="170" y="491"/>
                      <a:pt x="129" y="490"/>
                    </a:cubicBezTo>
                    <a:cubicBezTo>
                      <a:pt x="88" y="489"/>
                      <a:pt x="50" y="465"/>
                      <a:pt x="29" y="445"/>
                    </a:cubicBezTo>
                    <a:cubicBezTo>
                      <a:pt x="8" y="425"/>
                      <a:pt x="0" y="393"/>
                      <a:pt x="1" y="367"/>
                    </a:cubicBezTo>
                    <a:cubicBezTo>
                      <a:pt x="2" y="341"/>
                      <a:pt x="13" y="309"/>
                      <a:pt x="33" y="289"/>
                    </a:cubicBezTo>
                    <a:cubicBezTo>
                      <a:pt x="53" y="269"/>
                      <a:pt x="87" y="260"/>
                      <a:pt x="120" y="249"/>
                    </a:cubicBezTo>
                    <a:cubicBezTo>
                      <a:pt x="153" y="238"/>
                      <a:pt x="195" y="230"/>
                      <a:pt x="234" y="221"/>
                    </a:cubicBezTo>
                    <a:cubicBezTo>
                      <a:pt x="273" y="212"/>
                      <a:pt x="328" y="199"/>
                      <a:pt x="353" y="193"/>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264" name="Freeform 158"/>
              <p:cNvSpPr>
                <a:spLocks noChangeAspect="1"/>
              </p:cNvSpPr>
              <p:nvPr/>
            </p:nvSpPr>
            <p:spPr bwMode="auto">
              <a:xfrm flipH="1" flipV="1">
                <a:off x="2323" y="2798"/>
                <a:ext cx="80" cy="145"/>
              </a:xfrm>
              <a:custGeom>
                <a:avLst/>
                <a:gdLst>
                  <a:gd name="T0" fmla="*/ 1 w 401"/>
                  <a:gd name="T1" fmla="*/ 0 h 727"/>
                  <a:gd name="T2" fmla="*/ 1 w 401"/>
                  <a:gd name="T3" fmla="*/ 0 h 727"/>
                  <a:gd name="T4" fmla="*/ 1 w 401"/>
                  <a:gd name="T5" fmla="*/ 1 h 727"/>
                  <a:gd name="T6" fmla="*/ 1 w 401"/>
                  <a:gd name="T7" fmla="*/ 1 h 727"/>
                  <a:gd name="T8" fmla="*/ 0 w 401"/>
                  <a:gd name="T9" fmla="*/ 1 h 727"/>
                  <a:gd name="T10" fmla="*/ 0 w 401"/>
                  <a:gd name="T11" fmla="*/ 1 h 727"/>
                  <a:gd name="T12" fmla="*/ 0 w 401"/>
                  <a:gd name="T13" fmla="*/ 1 h 727"/>
                  <a:gd name="T14" fmla="*/ 0 w 401"/>
                  <a:gd name="T15" fmla="*/ 1 h 727"/>
                  <a:gd name="T16" fmla="*/ 0 w 401"/>
                  <a:gd name="T17" fmla="*/ 0 h 727"/>
                  <a:gd name="T18" fmla="*/ 0 w 401"/>
                  <a:gd name="T19" fmla="*/ 0 h 727"/>
                  <a:gd name="T20" fmla="*/ 1 w 401"/>
                  <a:gd name="T21" fmla="*/ 1 h 727"/>
                  <a:gd name="T22" fmla="*/ 1 w 401"/>
                  <a:gd name="T23" fmla="*/ 1 h 727"/>
                  <a:gd name="T24" fmla="*/ 1 w 401"/>
                  <a:gd name="T25" fmla="*/ 1 h 72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01"/>
                  <a:gd name="T40" fmla="*/ 0 h 727"/>
                  <a:gd name="T41" fmla="*/ 401 w 401"/>
                  <a:gd name="T42" fmla="*/ 727 h 72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01" h="727">
                    <a:moveTo>
                      <a:pt x="382" y="0"/>
                    </a:moveTo>
                    <a:cubicBezTo>
                      <a:pt x="382" y="30"/>
                      <a:pt x="382" y="124"/>
                      <a:pt x="382" y="179"/>
                    </a:cubicBezTo>
                    <a:cubicBezTo>
                      <a:pt x="382" y="234"/>
                      <a:pt x="382" y="269"/>
                      <a:pt x="382" y="330"/>
                    </a:cubicBezTo>
                    <a:cubicBezTo>
                      <a:pt x="382" y="391"/>
                      <a:pt x="401" y="485"/>
                      <a:pt x="382" y="544"/>
                    </a:cubicBezTo>
                    <a:cubicBezTo>
                      <a:pt x="363" y="603"/>
                      <a:pt x="313" y="660"/>
                      <a:pt x="267" y="682"/>
                    </a:cubicBezTo>
                    <a:cubicBezTo>
                      <a:pt x="221" y="704"/>
                      <a:pt x="146" y="703"/>
                      <a:pt x="103" y="677"/>
                    </a:cubicBezTo>
                    <a:cubicBezTo>
                      <a:pt x="60" y="651"/>
                      <a:pt x="22" y="585"/>
                      <a:pt x="11" y="526"/>
                    </a:cubicBezTo>
                    <a:cubicBezTo>
                      <a:pt x="0" y="467"/>
                      <a:pt x="18" y="369"/>
                      <a:pt x="39" y="320"/>
                    </a:cubicBezTo>
                    <a:cubicBezTo>
                      <a:pt x="60" y="271"/>
                      <a:pt x="99" y="245"/>
                      <a:pt x="139" y="234"/>
                    </a:cubicBezTo>
                    <a:cubicBezTo>
                      <a:pt x="179" y="223"/>
                      <a:pt x="242" y="237"/>
                      <a:pt x="281" y="256"/>
                    </a:cubicBezTo>
                    <a:cubicBezTo>
                      <a:pt x="320" y="275"/>
                      <a:pt x="355" y="305"/>
                      <a:pt x="372" y="348"/>
                    </a:cubicBezTo>
                    <a:cubicBezTo>
                      <a:pt x="389" y="391"/>
                      <a:pt x="382" y="449"/>
                      <a:pt x="386" y="512"/>
                    </a:cubicBezTo>
                    <a:cubicBezTo>
                      <a:pt x="390" y="575"/>
                      <a:pt x="393" y="682"/>
                      <a:pt x="395" y="727"/>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265" name="Freeform 159"/>
              <p:cNvSpPr>
                <a:spLocks noChangeAspect="1"/>
              </p:cNvSpPr>
              <p:nvPr/>
            </p:nvSpPr>
            <p:spPr bwMode="auto">
              <a:xfrm>
                <a:off x="2438" y="2798"/>
                <a:ext cx="74" cy="93"/>
              </a:xfrm>
              <a:custGeom>
                <a:avLst/>
                <a:gdLst>
                  <a:gd name="T0" fmla="*/ 1 w 368"/>
                  <a:gd name="T1" fmla="*/ 1 h 465"/>
                  <a:gd name="T2" fmla="*/ 0 w 368"/>
                  <a:gd name="T3" fmla="*/ 1 h 465"/>
                  <a:gd name="T4" fmla="*/ 0 w 368"/>
                  <a:gd name="T5" fmla="*/ 1 h 465"/>
                  <a:gd name="T6" fmla="*/ 0 w 368"/>
                  <a:gd name="T7" fmla="*/ 1 h 465"/>
                  <a:gd name="T8" fmla="*/ 0 w 368"/>
                  <a:gd name="T9" fmla="*/ 0 h 465"/>
                  <a:gd name="T10" fmla="*/ 0 w 368"/>
                  <a:gd name="T11" fmla="*/ 0 h 465"/>
                  <a:gd name="T12" fmla="*/ 0 w 368"/>
                  <a:gd name="T13" fmla="*/ 0 h 465"/>
                  <a:gd name="T14" fmla="*/ 1 w 368"/>
                  <a:gd name="T15" fmla="*/ 0 h 465"/>
                  <a:gd name="T16" fmla="*/ 1 w 368"/>
                  <a:gd name="T17" fmla="*/ 0 h 465"/>
                  <a:gd name="T18" fmla="*/ 0 w 368"/>
                  <a:gd name="T19" fmla="*/ 0 h 46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68"/>
                  <a:gd name="T31" fmla="*/ 0 h 465"/>
                  <a:gd name="T32" fmla="*/ 368 w 368"/>
                  <a:gd name="T33" fmla="*/ 465 h 46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68" h="465">
                    <a:moveTo>
                      <a:pt x="350" y="344"/>
                    </a:moveTo>
                    <a:cubicBezTo>
                      <a:pt x="334" y="362"/>
                      <a:pt x="288" y="429"/>
                      <a:pt x="248" y="446"/>
                    </a:cubicBezTo>
                    <a:cubicBezTo>
                      <a:pt x="208" y="463"/>
                      <a:pt x="148" y="465"/>
                      <a:pt x="110" y="446"/>
                    </a:cubicBezTo>
                    <a:cubicBezTo>
                      <a:pt x="72" y="427"/>
                      <a:pt x="35" y="386"/>
                      <a:pt x="20" y="332"/>
                    </a:cubicBezTo>
                    <a:cubicBezTo>
                      <a:pt x="5" y="278"/>
                      <a:pt x="0" y="175"/>
                      <a:pt x="20" y="122"/>
                    </a:cubicBezTo>
                    <a:cubicBezTo>
                      <a:pt x="40" y="69"/>
                      <a:pt x="96" y="28"/>
                      <a:pt x="140" y="14"/>
                    </a:cubicBezTo>
                    <a:cubicBezTo>
                      <a:pt x="184" y="0"/>
                      <a:pt x="248" y="19"/>
                      <a:pt x="284" y="38"/>
                    </a:cubicBezTo>
                    <a:cubicBezTo>
                      <a:pt x="320" y="57"/>
                      <a:pt x="342" y="97"/>
                      <a:pt x="356" y="128"/>
                    </a:cubicBezTo>
                    <a:lnTo>
                      <a:pt x="368" y="224"/>
                    </a:lnTo>
                    <a:lnTo>
                      <a:pt x="8" y="224"/>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7266" name="Group 160"/>
              <p:cNvGrpSpPr>
                <a:grpSpLocks noChangeAspect="1"/>
              </p:cNvGrpSpPr>
              <p:nvPr/>
            </p:nvGrpSpPr>
            <p:grpSpPr bwMode="auto">
              <a:xfrm>
                <a:off x="2568" y="2798"/>
                <a:ext cx="46" cy="103"/>
                <a:chOff x="2808" y="1818"/>
                <a:chExt cx="228" cy="516"/>
              </a:xfrm>
            </p:grpSpPr>
            <p:sp>
              <p:nvSpPr>
                <p:cNvPr id="147267" name="Freeform 161"/>
                <p:cNvSpPr>
                  <a:spLocks noChangeAspect="1"/>
                </p:cNvSpPr>
                <p:nvPr/>
              </p:nvSpPr>
              <p:spPr bwMode="auto">
                <a:xfrm>
                  <a:off x="2808" y="1818"/>
                  <a:ext cx="1" cy="516"/>
                </a:xfrm>
                <a:custGeom>
                  <a:avLst/>
                  <a:gdLst>
                    <a:gd name="T0" fmla="*/ 0 w 1"/>
                    <a:gd name="T1" fmla="*/ 0 h 516"/>
                    <a:gd name="T2" fmla="*/ 0 w 1"/>
                    <a:gd name="T3" fmla="*/ 516 h 516"/>
                    <a:gd name="T4" fmla="*/ 0 60000 65536"/>
                    <a:gd name="T5" fmla="*/ 0 60000 65536"/>
                    <a:gd name="T6" fmla="*/ 0 w 1"/>
                    <a:gd name="T7" fmla="*/ 0 h 516"/>
                    <a:gd name="T8" fmla="*/ 1 w 1"/>
                    <a:gd name="T9" fmla="*/ 516 h 516"/>
                  </a:gdLst>
                  <a:ahLst/>
                  <a:cxnLst>
                    <a:cxn ang="T4">
                      <a:pos x="T0" y="T1"/>
                    </a:cxn>
                    <a:cxn ang="T5">
                      <a:pos x="T2" y="T3"/>
                    </a:cxn>
                  </a:cxnLst>
                  <a:rect l="T6" t="T7" r="T8" b="T9"/>
                  <a:pathLst>
                    <a:path w="1" h="516">
                      <a:moveTo>
                        <a:pt x="0" y="0"/>
                      </a:moveTo>
                      <a:cubicBezTo>
                        <a:pt x="0" y="0"/>
                        <a:pt x="0" y="258"/>
                        <a:pt x="0" y="516"/>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268" name="Freeform 162"/>
                <p:cNvSpPr>
                  <a:spLocks noChangeAspect="1"/>
                </p:cNvSpPr>
                <p:nvPr/>
              </p:nvSpPr>
              <p:spPr bwMode="auto">
                <a:xfrm>
                  <a:off x="2808" y="1830"/>
                  <a:ext cx="228" cy="198"/>
                </a:xfrm>
                <a:custGeom>
                  <a:avLst/>
                  <a:gdLst>
                    <a:gd name="T0" fmla="*/ 228 w 228"/>
                    <a:gd name="T1" fmla="*/ 54 h 198"/>
                    <a:gd name="T2" fmla="*/ 138 w 228"/>
                    <a:gd name="T3" fmla="*/ 24 h 198"/>
                    <a:gd name="T4" fmla="*/ 0 w 228"/>
                    <a:gd name="T5" fmla="*/ 198 h 198"/>
                    <a:gd name="T6" fmla="*/ 0 60000 65536"/>
                    <a:gd name="T7" fmla="*/ 0 60000 65536"/>
                    <a:gd name="T8" fmla="*/ 0 60000 65536"/>
                    <a:gd name="T9" fmla="*/ 0 w 228"/>
                    <a:gd name="T10" fmla="*/ 0 h 198"/>
                    <a:gd name="T11" fmla="*/ 228 w 228"/>
                    <a:gd name="T12" fmla="*/ 198 h 198"/>
                  </a:gdLst>
                  <a:ahLst/>
                  <a:cxnLst>
                    <a:cxn ang="T6">
                      <a:pos x="T0" y="T1"/>
                    </a:cxn>
                    <a:cxn ang="T7">
                      <a:pos x="T2" y="T3"/>
                    </a:cxn>
                    <a:cxn ang="T8">
                      <a:pos x="T4" y="T5"/>
                    </a:cxn>
                  </a:cxnLst>
                  <a:rect l="T9" t="T10" r="T11" b="T12"/>
                  <a:pathLst>
                    <a:path w="228" h="198">
                      <a:moveTo>
                        <a:pt x="228" y="54"/>
                      </a:moveTo>
                      <a:cubicBezTo>
                        <a:pt x="202" y="27"/>
                        <a:pt x="176" y="0"/>
                        <a:pt x="138" y="24"/>
                      </a:cubicBezTo>
                      <a:cubicBezTo>
                        <a:pt x="100" y="48"/>
                        <a:pt x="50" y="123"/>
                        <a:pt x="0" y="198"/>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grpSp>
          <p:nvGrpSpPr>
            <p:cNvPr id="147245" name="Group 163"/>
            <p:cNvGrpSpPr>
              <a:grpSpLocks noChangeAspect="1"/>
            </p:cNvGrpSpPr>
            <p:nvPr/>
          </p:nvGrpSpPr>
          <p:grpSpPr bwMode="auto">
            <a:xfrm>
              <a:off x="3442" y="1269"/>
              <a:ext cx="132" cy="47"/>
              <a:chOff x="2034" y="2498"/>
              <a:chExt cx="525" cy="188"/>
            </a:xfrm>
          </p:grpSpPr>
          <p:sp>
            <p:nvSpPr>
              <p:cNvPr id="147255" name="Freeform 164"/>
              <p:cNvSpPr>
                <a:spLocks noChangeAspect="1"/>
              </p:cNvSpPr>
              <p:nvPr/>
            </p:nvSpPr>
            <p:spPr bwMode="auto">
              <a:xfrm>
                <a:off x="2148" y="2541"/>
                <a:ext cx="77" cy="100"/>
              </a:xfrm>
              <a:custGeom>
                <a:avLst/>
                <a:gdLst>
                  <a:gd name="T0" fmla="*/ 0 w 387"/>
                  <a:gd name="T1" fmla="*/ 0 h 501"/>
                  <a:gd name="T2" fmla="*/ 0 w 387"/>
                  <a:gd name="T3" fmla="*/ 0 h 501"/>
                  <a:gd name="T4" fmla="*/ 0 w 387"/>
                  <a:gd name="T5" fmla="*/ 0 h 501"/>
                  <a:gd name="T6" fmla="*/ 0 w 387"/>
                  <a:gd name="T7" fmla="*/ 0 h 501"/>
                  <a:gd name="T8" fmla="*/ 1 w 387"/>
                  <a:gd name="T9" fmla="*/ 0 h 501"/>
                  <a:gd name="T10" fmla="*/ 1 w 387"/>
                  <a:gd name="T11" fmla="*/ 1 h 501"/>
                  <a:gd name="T12" fmla="*/ 1 w 387"/>
                  <a:gd name="T13" fmla="*/ 1 h 501"/>
                  <a:gd name="T14" fmla="*/ 1 w 387"/>
                  <a:gd name="T15" fmla="*/ 1 h 501"/>
                  <a:gd name="T16" fmla="*/ 1 w 387"/>
                  <a:gd name="T17" fmla="*/ 1 h 501"/>
                  <a:gd name="T18" fmla="*/ 1 w 387"/>
                  <a:gd name="T19" fmla="*/ 1 h 501"/>
                  <a:gd name="T20" fmla="*/ 0 w 387"/>
                  <a:gd name="T21" fmla="*/ 1 h 501"/>
                  <a:gd name="T22" fmla="*/ 0 w 387"/>
                  <a:gd name="T23" fmla="*/ 1 h 501"/>
                  <a:gd name="T24" fmla="*/ 0 w 387"/>
                  <a:gd name="T25" fmla="*/ 1 h 501"/>
                  <a:gd name="T26" fmla="*/ 0 w 387"/>
                  <a:gd name="T27" fmla="*/ 1 h 501"/>
                  <a:gd name="T28" fmla="*/ 0 w 387"/>
                  <a:gd name="T29" fmla="*/ 0 h 501"/>
                  <a:gd name="T30" fmla="*/ 0 w 387"/>
                  <a:gd name="T31" fmla="*/ 0 h 501"/>
                  <a:gd name="T32" fmla="*/ 0 w 387"/>
                  <a:gd name="T33" fmla="*/ 0 h 501"/>
                  <a:gd name="T34" fmla="*/ 1 w 387"/>
                  <a:gd name="T35" fmla="*/ 0 h 50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87"/>
                  <a:gd name="T55" fmla="*/ 0 h 501"/>
                  <a:gd name="T56" fmla="*/ 387 w 387"/>
                  <a:gd name="T57" fmla="*/ 501 h 50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87" h="501">
                    <a:moveTo>
                      <a:pt x="10" y="134"/>
                    </a:moveTo>
                    <a:cubicBezTo>
                      <a:pt x="18" y="122"/>
                      <a:pt x="37" y="81"/>
                      <a:pt x="56" y="61"/>
                    </a:cubicBezTo>
                    <a:cubicBezTo>
                      <a:pt x="75" y="41"/>
                      <a:pt x="92" y="24"/>
                      <a:pt x="125" y="16"/>
                    </a:cubicBezTo>
                    <a:cubicBezTo>
                      <a:pt x="158" y="8"/>
                      <a:pt x="221" y="0"/>
                      <a:pt x="257" y="10"/>
                    </a:cubicBezTo>
                    <a:cubicBezTo>
                      <a:pt x="293" y="20"/>
                      <a:pt x="327" y="26"/>
                      <a:pt x="344" y="79"/>
                    </a:cubicBezTo>
                    <a:cubicBezTo>
                      <a:pt x="361" y="132"/>
                      <a:pt x="360" y="284"/>
                      <a:pt x="362" y="330"/>
                    </a:cubicBezTo>
                    <a:cubicBezTo>
                      <a:pt x="364" y="376"/>
                      <a:pt x="349" y="326"/>
                      <a:pt x="353" y="353"/>
                    </a:cubicBezTo>
                    <a:cubicBezTo>
                      <a:pt x="357" y="380"/>
                      <a:pt x="383" y="479"/>
                      <a:pt x="385" y="490"/>
                    </a:cubicBezTo>
                    <a:cubicBezTo>
                      <a:pt x="387" y="501"/>
                      <a:pt x="371" y="439"/>
                      <a:pt x="367" y="417"/>
                    </a:cubicBezTo>
                    <a:cubicBezTo>
                      <a:pt x="363" y="395"/>
                      <a:pt x="373" y="352"/>
                      <a:pt x="358" y="358"/>
                    </a:cubicBezTo>
                    <a:cubicBezTo>
                      <a:pt x="343" y="364"/>
                      <a:pt x="313" y="432"/>
                      <a:pt x="275" y="454"/>
                    </a:cubicBezTo>
                    <a:cubicBezTo>
                      <a:pt x="237" y="476"/>
                      <a:pt x="170" y="491"/>
                      <a:pt x="129" y="490"/>
                    </a:cubicBezTo>
                    <a:cubicBezTo>
                      <a:pt x="88" y="489"/>
                      <a:pt x="50" y="465"/>
                      <a:pt x="29" y="445"/>
                    </a:cubicBezTo>
                    <a:cubicBezTo>
                      <a:pt x="8" y="425"/>
                      <a:pt x="0" y="393"/>
                      <a:pt x="1" y="367"/>
                    </a:cubicBezTo>
                    <a:cubicBezTo>
                      <a:pt x="2" y="341"/>
                      <a:pt x="13" y="309"/>
                      <a:pt x="33" y="289"/>
                    </a:cubicBezTo>
                    <a:cubicBezTo>
                      <a:pt x="53" y="269"/>
                      <a:pt x="87" y="260"/>
                      <a:pt x="120" y="249"/>
                    </a:cubicBezTo>
                    <a:cubicBezTo>
                      <a:pt x="153" y="238"/>
                      <a:pt x="195" y="230"/>
                      <a:pt x="234" y="221"/>
                    </a:cubicBezTo>
                    <a:cubicBezTo>
                      <a:pt x="273" y="212"/>
                      <a:pt x="328" y="199"/>
                      <a:pt x="353" y="193"/>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256" name="Freeform 165"/>
              <p:cNvSpPr>
                <a:spLocks noChangeAspect="1"/>
              </p:cNvSpPr>
              <p:nvPr/>
            </p:nvSpPr>
            <p:spPr bwMode="auto">
              <a:xfrm flipH="1" flipV="1">
                <a:off x="2268" y="2541"/>
                <a:ext cx="80" cy="145"/>
              </a:xfrm>
              <a:custGeom>
                <a:avLst/>
                <a:gdLst>
                  <a:gd name="T0" fmla="*/ 1 w 401"/>
                  <a:gd name="T1" fmla="*/ 0 h 727"/>
                  <a:gd name="T2" fmla="*/ 1 w 401"/>
                  <a:gd name="T3" fmla="*/ 0 h 727"/>
                  <a:gd name="T4" fmla="*/ 1 w 401"/>
                  <a:gd name="T5" fmla="*/ 1 h 727"/>
                  <a:gd name="T6" fmla="*/ 1 w 401"/>
                  <a:gd name="T7" fmla="*/ 1 h 727"/>
                  <a:gd name="T8" fmla="*/ 0 w 401"/>
                  <a:gd name="T9" fmla="*/ 1 h 727"/>
                  <a:gd name="T10" fmla="*/ 0 w 401"/>
                  <a:gd name="T11" fmla="*/ 1 h 727"/>
                  <a:gd name="T12" fmla="*/ 0 w 401"/>
                  <a:gd name="T13" fmla="*/ 1 h 727"/>
                  <a:gd name="T14" fmla="*/ 0 w 401"/>
                  <a:gd name="T15" fmla="*/ 1 h 727"/>
                  <a:gd name="T16" fmla="*/ 0 w 401"/>
                  <a:gd name="T17" fmla="*/ 0 h 727"/>
                  <a:gd name="T18" fmla="*/ 0 w 401"/>
                  <a:gd name="T19" fmla="*/ 0 h 727"/>
                  <a:gd name="T20" fmla="*/ 1 w 401"/>
                  <a:gd name="T21" fmla="*/ 1 h 727"/>
                  <a:gd name="T22" fmla="*/ 1 w 401"/>
                  <a:gd name="T23" fmla="*/ 1 h 727"/>
                  <a:gd name="T24" fmla="*/ 1 w 401"/>
                  <a:gd name="T25" fmla="*/ 1 h 72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01"/>
                  <a:gd name="T40" fmla="*/ 0 h 727"/>
                  <a:gd name="T41" fmla="*/ 401 w 401"/>
                  <a:gd name="T42" fmla="*/ 727 h 72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01" h="727">
                    <a:moveTo>
                      <a:pt x="382" y="0"/>
                    </a:moveTo>
                    <a:cubicBezTo>
                      <a:pt x="382" y="30"/>
                      <a:pt x="382" y="124"/>
                      <a:pt x="382" y="179"/>
                    </a:cubicBezTo>
                    <a:cubicBezTo>
                      <a:pt x="382" y="234"/>
                      <a:pt x="382" y="269"/>
                      <a:pt x="382" y="330"/>
                    </a:cubicBezTo>
                    <a:cubicBezTo>
                      <a:pt x="382" y="391"/>
                      <a:pt x="401" y="485"/>
                      <a:pt x="382" y="544"/>
                    </a:cubicBezTo>
                    <a:cubicBezTo>
                      <a:pt x="363" y="603"/>
                      <a:pt x="313" y="660"/>
                      <a:pt x="267" y="682"/>
                    </a:cubicBezTo>
                    <a:cubicBezTo>
                      <a:pt x="221" y="704"/>
                      <a:pt x="146" y="703"/>
                      <a:pt x="103" y="677"/>
                    </a:cubicBezTo>
                    <a:cubicBezTo>
                      <a:pt x="60" y="651"/>
                      <a:pt x="22" y="585"/>
                      <a:pt x="11" y="526"/>
                    </a:cubicBezTo>
                    <a:cubicBezTo>
                      <a:pt x="0" y="467"/>
                      <a:pt x="18" y="369"/>
                      <a:pt x="39" y="320"/>
                    </a:cubicBezTo>
                    <a:cubicBezTo>
                      <a:pt x="60" y="271"/>
                      <a:pt x="99" y="245"/>
                      <a:pt x="139" y="234"/>
                    </a:cubicBezTo>
                    <a:cubicBezTo>
                      <a:pt x="179" y="223"/>
                      <a:pt x="242" y="237"/>
                      <a:pt x="281" y="256"/>
                    </a:cubicBezTo>
                    <a:cubicBezTo>
                      <a:pt x="320" y="275"/>
                      <a:pt x="355" y="305"/>
                      <a:pt x="372" y="348"/>
                    </a:cubicBezTo>
                    <a:cubicBezTo>
                      <a:pt x="389" y="391"/>
                      <a:pt x="382" y="449"/>
                      <a:pt x="386" y="512"/>
                    </a:cubicBezTo>
                    <a:cubicBezTo>
                      <a:pt x="390" y="575"/>
                      <a:pt x="393" y="682"/>
                      <a:pt x="395" y="727"/>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257" name="Freeform 166"/>
              <p:cNvSpPr>
                <a:spLocks noChangeAspect="1"/>
              </p:cNvSpPr>
              <p:nvPr/>
            </p:nvSpPr>
            <p:spPr bwMode="auto">
              <a:xfrm>
                <a:off x="2383" y="2541"/>
                <a:ext cx="74" cy="93"/>
              </a:xfrm>
              <a:custGeom>
                <a:avLst/>
                <a:gdLst>
                  <a:gd name="T0" fmla="*/ 1 w 368"/>
                  <a:gd name="T1" fmla="*/ 1 h 465"/>
                  <a:gd name="T2" fmla="*/ 0 w 368"/>
                  <a:gd name="T3" fmla="*/ 1 h 465"/>
                  <a:gd name="T4" fmla="*/ 0 w 368"/>
                  <a:gd name="T5" fmla="*/ 1 h 465"/>
                  <a:gd name="T6" fmla="*/ 0 w 368"/>
                  <a:gd name="T7" fmla="*/ 1 h 465"/>
                  <a:gd name="T8" fmla="*/ 0 w 368"/>
                  <a:gd name="T9" fmla="*/ 0 h 465"/>
                  <a:gd name="T10" fmla="*/ 0 w 368"/>
                  <a:gd name="T11" fmla="*/ 0 h 465"/>
                  <a:gd name="T12" fmla="*/ 0 w 368"/>
                  <a:gd name="T13" fmla="*/ 0 h 465"/>
                  <a:gd name="T14" fmla="*/ 1 w 368"/>
                  <a:gd name="T15" fmla="*/ 0 h 465"/>
                  <a:gd name="T16" fmla="*/ 1 w 368"/>
                  <a:gd name="T17" fmla="*/ 0 h 465"/>
                  <a:gd name="T18" fmla="*/ 0 w 368"/>
                  <a:gd name="T19" fmla="*/ 0 h 46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68"/>
                  <a:gd name="T31" fmla="*/ 0 h 465"/>
                  <a:gd name="T32" fmla="*/ 368 w 368"/>
                  <a:gd name="T33" fmla="*/ 465 h 46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68" h="465">
                    <a:moveTo>
                      <a:pt x="350" y="344"/>
                    </a:moveTo>
                    <a:cubicBezTo>
                      <a:pt x="334" y="362"/>
                      <a:pt x="288" y="429"/>
                      <a:pt x="248" y="446"/>
                    </a:cubicBezTo>
                    <a:cubicBezTo>
                      <a:pt x="208" y="463"/>
                      <a:pt x="148" y="465"/>
                      <a:pt x="110" y="446"/>
                    </a:cubicBezTo>
                    <a:cubicBezTo>
                      <a:pt x="72" y="427"/>
                      <a:pt x="35" y="386"/>
                      <a:pt x="20" y="332"/>
                    </a:cubicBezTo>
                    <a:cubicBezTo>
                      <a:pt x="5" y="278"/>
                      <a:pt x="0" y="175"/>
                      <a:pt x="20" y="122"/>
                    </a:cubicBezTo>
                    <a:cubicBezTo>
                      <a:pt x="40" y="69"/>
                      <a:pt x="96" y="28"/>
                      <a:pt x="140" y="14"/>
                    </a:cubicBezTo>
                    <a:cubicBezTo>
                      <a:pt x="184" y="0"/>
                      <a:pt x="248" y="19"/>
                      <a:pt x="284" y="38"/>
                    </a:cubicBezTo>
                    <a:cubicBezTo>
                      <a:pt x="320" y="57"/>
                      <a:pt x="342" y="97"/>
                      <a:pt x="356" y="128"/>
                    </a:cubicBezTo>
                    <a:lnTo>
                      <a:pt x="368" y="224"/>
                    </a:lnTo>
                    <a:lnTo>
                      <a:pt x="8" y="224"/>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7258" name="Group 167"/>
              <p:cNvGrpSpPr>
                <a:grpSpLocks noChangeAspect="1"/>
              </p:cNvGrpSpPr>
              <p:nvPr/>
            </p:nvGrpSpPr>
            <p:grpSpPr bwMode="auto">
              <a:xfrm>
                <a:off x="2513" y="2541"/>
                <a:ext cx="46" cy="103"/>
                <a:chOff x="2808" y="1818"/>
                <a:chExt cx="228" cy="516"/>
              </a:xfrm>
            </p:grpSpPr>
            <p:sp>
              <p:nvSpPr>
                <p:cNvPr id="147260" name="Freeform 168"/>
                <p:cNvSpPr>
                  <a:spLocks noChangeAspect="1"/>
                </p:cNvSpPr>
                <p:nvPr/>
              </p:nvSpPr>
              <p:spPr bwMode="auto">
                <a:xfrm>
                  <a:off x="2808" y="1818"/>
                  <a:ext cx="1" cy="516"/>
                </a:xfrm>
                <a:custGeom>
                  <a:avLst/>
                  <a:gdLst>
                    <a:gd name="T0" fmla="*/ 0 w 1"/>
                    <a:gd name="T1" fmla="*/ 0 h 516"/>
                    <a:gd name="T2" fmla="*/ 0 w 1"/>
                    <a:gd name="T3" fmla="*/ 516 h 516"/>
                    <a:gd name="T4" fmla="*/ 0 60000 65536"/>
                    <a:gd name="T5" fmla="*/ 0 60000 65536"/>
                    <a:gd name="T6" fmla="*/ 0 w 1"/>
                    <a:gd name="T7" fmla="*/ 0 h 516"/>
                    <a:gd name="T8" fmla="*/ 1 w 1"/>
                    <a:gd name="T9" fmla="*/ 516 h 516"/>
                  </a:gdLst>
                  <a:ahLst/>
                  <a:cxnLst>
                    <a:cxn ang="T4">
                      <a:pos x="T0" y="T1"/>
                    </a:cxn>
                    <a:cxn ang="T5">
                      <a:pos x="T2" y="T3"/>
                    </a:cxn>
                  </a:cxnLst>
                  <a:rect l="T6" t="T7" r="T8" b="T9"/>
                  <a:pathLst>
                    <a:path w="1" h="516">
                      <a:moveTo>
                        <a:pt x="0" y="0"/>
                      </a:moveTo>
                      <a:cubicBezTo>
                        <a:pt x="0" y="0"/>
                        <a:pt x="0" y="258"/>
                        <a:pt x="0" y="516"/>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261" name="Freeform 169"/>
                <p:cNvSpPr>
                  <a:spLocks noChangeAspect="1"/>
                </p:cNvSpPr>
                <p:nvPr/>
              </p:nvSpPr>
              <p:spPr bwMode="auto">
                <a:xfrm>
                  <a:off x="2808" y="1830"/>
                  <a:ext cx="228" cy="198"/>
                </a:xfrm>
                <a:custGeom>
                  <a:avLst/>
                  <a:gdLst>
                    <a:gd name="T0" fmla="*/ 228 w 228"/>
                    <a:gd name="T1" fmla="*/ 54 h 198"/>
                    <a:gd name="T2" fmla="*/ 138 w 228"/>
                    <a:gd name="T3" fmla="*/ 24 h 198"/>
                    <a:gd name="T4" fmla="*/ 0 w 228"/>
                    <a:gd name="T5" fmla="*/ 198 h 198"/>
                    <a:gd name="T6" fmla="*/ 0 60000 65536"/>
                    <a:gd name="T7" fmla="*/ 0 60000 65536"/>
                    <a:gd name="T8" fmla="*/ 0 60000 65536"/>
                    <a:gd name="T9" fmla="*/ 0 w 228"/>
                    <a:gd name="T10" fmla="*/ 0 h 198"/>
                    <a:gd name="T11" fmla="*/ 228 w 228"/>
                    <a:gd name="T12" fmla="*/ 198 h 198"/>
                  </a:gdLst>
                  <a:ahLst/>
                  <a:cxnLst>
                    <a:cxn ang="T6">
                      <a:pos x="T0" y="T1"/>
                    </a:cxn>
                    <a:cxn ang="T7">
                      <a:pos x="T2" y="T3"/>
                    </a:cxn>
                    <a:cxn ang="T8">
                      <a:pos x="T4" y="T5"/>
                    </a:cxn>
                  </a:cxnLst>
                  <a:rect l="T9" t="T10" r="T11" b="T12"/>
                  <a:pathLst>
                    <a:path w="228" h="198">
                      <a:moveTo>
                        <a:pt x="228" y="54"/>
                      </a:moveTo>
                      <a:cubicBezTo>
                        <a:pt x="202" y="27"/>
                        <a:pt x="176" y="0"/>
                        <a:pt x="138" y="24"/>
                      </a:cubicBezTo>
                      <a:cubicBezTo>
                        <a:pt x="100" y="48"/>
                        <a:pt x="50" y="123"/>
                        <a:pt x="0" y="198"/>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47259" name="Freeform 170"/>
              <p:cNvSpPr>
                <a:spLocks noChangeAspect="1"/>
              </p:cNvSpPr>
              <p:nvPr/>
            </p:nvSpPr>
            <p:spPr bwMode="auto">
              <a:xfrm>
                <a:off x="2034" y="2498"/>
                <a:ext cx="81" cy="132"/>
              </a:xfrm>
              <a:custGeom>
                <a:avLst/>
                <a:gdLst>
                  <a:gd name="T0" fmla="*/ 0 w 407"/>
                  <a:gd name="T1" fmla="*/ 1 h 666"/>
                  <a:gd name="T2" fmla="*/ 0 w 407"/>
                  <a:gd name="T3" fmla="*/ 0 h 666"/>
                  <a:gd name="T4" fmla="*/ 0 w 407"/>
                  <a:gd name="T5" fmla="*/ 0 h 666"/>
                  <a:gd name="T6" fmla="*/ 1 w 407"/>
                  <a:gd name="T7" fmla="*/ 0 h 666"/>
                  <a:gd name="T8" fmla="*/ 1 w 407"/>
                  <a:gd name="T9" fmla="*/ 0 h 666"/>
                  <a:gd name="T10" fmla="*/ 0 w 407"/>
                  <a:gd name="T11" fmla="*/ 1 h 666"/>
                  <a:gd name="T12" fmla="*/ 0 w 407"/>
                  <a:gd name="T13" fmla="*/ 1 h 666"/>
                  <a:gd name="T14" fmla="*/ 0 60000 65536"/>
                  <a:gd name="T15" fmla="*/ 0 60000 65536"/>
                  <a:gd name="T16" fmla="*/ 0 60000 65536"/>
                  <a:gd name="T17" fmla="*/ 0 60000 65536"/>
                  <a:gd name="T18" fmla="*/ 0 60000 65536"/>
                  <a:gd name="T19" fmla="*/ 0 60000 65536"/>
                  <a:gd name="T20" fmla="*/ 0 60000 65536"/>
                  <a:gd name="T21" fmla="*/ 0 w 407"/>
                  <a:gd name="T22" fmla="*/ 0 h 666"/>
                  <a:gd name="T23" fmla="*/ 407 w 407"/>
                  <a:gd name="T24" fmla="*/ 666 h 6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07" h="666">
                    <a:moveTo>
                      <a:pt x="0" y="666"/>
                    </a:moveTo>
                    <a:lnTo>
                      <a:pt x="0" y="0"/>
                    </a:lnTo>
                    <a:lnTo>
                      <a:pt x="246" y="0"/>
                    </a:lnTo>
                    <a:cubicBezTo>
                      <a:pt x="309" y="13"/>
                      <a:pt x="355" y="37"/>
                      <a:pt x="378" y="78"/>
                    </a:cubicBezTo>
                    <a:cubicBezTo>
                      <a:pt x="401" y="119"/>
                      <a:pt x="407" y="201"/>
                      <a:pt x="384" y="246"/>
                    </a:cubicBezTo>
                    <a:cubicBezTo>
                      <a:pt x="361" y="291"/>
                      <a:pt x="304" y="331"/>
                      <a:pt x="240" y="348"/>
                    </a:cubicBezTo>
                    <a:lnTo>
                      <a:pt x="0" y="348"/>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147246" name="Group 171"/>
            <p:cNvGrpSpPr>
              <a:grpSpLocks noChangeAspect="1"/>
            </p:cNvGrpSpPr>
            <p:nvPr/>
          </p:nvGrpSpPr>
          <p:grpSpPr bwMode="auto">
            <a:xfrm>
              <a:off x="3438" y="1321"/>
              <a:ext cx="150" cy="34"/>
              <a:chOff x="2734" y="2495"/>
              <a:chExt cx="597" cy="136"/>
            </a:xfrm>
          </p:grpSpPr>
          <p:grpSp>
            <p:nvGrpSpPr>
              <p:cNvPr id="147247" name="Group 172"/>
              <p:cNvGrpSpPr>
                <a:grpSpLocks noChangeAspect="1"/>
              </p:cNvGrpSpPr>
              <p:nvPr/>
            </p:nvGrpSpPr>
            <p:grpSpPr bwMode="auto">
              <a:xfrm>
                <a:off x="2734" y="2504"/>
                <a:ext cx="58" cy="127"/>
                <a:chOff x="3612" y="1686"/>
                <a:chExt cx="288" cy="634"/>
              </a:xfrm>
            </p:grpSpPr>
            <p:sp>
              <p:nvSpPr>
                <p:cNvPr id="147253" name="Freeform 173"/>
                <p:cNvSpPr>
                  <a:spLocks noChangeAspect="1"/>
                </p:cNvSpPr>
                <p:nvPr/>
              </p:nvSpPr>
              <p:spPr bwMode="auto">
                <a:xfrm>
                  <a:off x="3738" y="1686"/>
                  <a:ext cx="162" cy="634"/>
                </a:xfrm>
                <a:custGeom>
                  <a:avLst/>
                  <a:gdLst>
                    <a:gd name="T0" fmla="*/ 0 w 162"/>
                    <a:gd name="T1" fmla="*/ 0 h 634"/>
                    <a:gd name="T2" fmla="*/ 0 w 162"/>
                    <a:gd name="T3" fmla="*/ 534 h 634"/>
                    <a:gd name="T4" fmla="*/ 162 w 162"/>
                    <a:gd name="T5" fmla="*/ 600 h 634"/>
                    <a:gd name="T6" fmla="*/ 0 60000 65536"/>
                    <a:gd name="T7" fmla="*/ 0 60000 65536"/>
                    <a:gd name="T8" fmla="*/ 0 60000 65536"/>
                    <a:gd name="T9" fmla="*/ 0 w 162"/>
                    <a:gd name="T10" fmla="*/ 0 h 634"/>
                    <a:gd name="T11" fmla="*/ 162 w 162"/>
                    <a:gd name="T12" fmla="*/ 634 h 634"/>
                  </a:gdLst>
                  <a:ahLst/>
                  <a:cxnLst>
                    <a:cxn ang="T6">
                      <a:pos x="T0" y="T1"/>
                    </a:cxn>
                    <a:cxn ang="T7">
                      <a:pos x="T2" y="T3"/>
                    </a:cxn>
                    <a:cxn ang="T8">
                      <a:pos x="T4" y="T5"/>
                    </a:cxn>
                  </a:cxnLst>
                  <a:rect l="T9" t="T10" r="T11" b="T12"/>
                  <a:pathLst>
                    <a:path w="162" h="634">
                      <a:moveTo>
                        <a:pt x="0" y="0"/>
                      </a:moveTo>
                      <a:lnTo>
                        <a:pt x="0" y="534"/>
                      </a:lnTo>
                      <a:cubicBezTo>
                        <a:pt x="27" y="634"/>
                        <a:pt x="94" y="617"/>
                        <a:pt x="162" y="600"/>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254" name="Freeform 174"/>
                <p:cNvSpPr>
                  <a:spLocks noChangeAspect="1"/>
                </p:cNvSpPr>
                <p:nvPr/>
              </p:nvSpPr>
              <p:spPr bwMode="auto">
                <a:xfrm>
                  <a:off x="3612" y="1872"/>
                  <a:ext cx="276" cy="1"/>
                </a:xfrm>
                <a:custGeom>
                  <a:avLst/>
                  <a:gdLst>
                    <a:gd name="T0" fmla="*/ 0 w 276"/>
                    <a:gd name="T1" fmla="*/ 0 h 1"/>
                    <a:gd name="T2" fmla="*/ 276 w 276"/>
                    <a:gd name="T3" fmla="*/ 0 h 1"/>
                    <a:gd name="T4" fmla="*/ 0 60000 65536"/>
                    <a:gd name="T5" fmla="*/ 0 60000 65536"/>
                    <a:gd name="T6" fmla="*/ 0 w 276"/>
                    <a:gd name="T7" fmla="*/ 0 h 1"/>
                    <a:gd name="T8" fmla="*/ 276 w 276"/>
                    <a:gd name="T9" fmla="*/ 1 h 1"/>
                  </a:gdLst>
                  <a:ahLst/>
                  <a:cxnLst>
                    <a:cxn ang="T4">
                      <a:pos x="T0" y="T1"/>
                    </a:cxn>
                    <a:cxn ang="T5">
                      <a:pos x="T2" y="T3"/>
                    </a:cxn>
                  </a:cxnLst>
                  <a:rect l="T6" t="T7" r="T8" b="T9"/>
                  <a:pathLst>
                    <a:path w="276" h="1">
                      <a:moveTo>
                        <a:pt x="0" y="0"/>
                      </a:moveTo>
                      <a:cubicBezTo>
                        <a:pt x="0" y="0"/>
                        <a:pt x="138" y="0"/>
                        <a:pt x="276" y="0"/>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47248" name="Freeform 175"/>
              <p:cNvSpPr>
                <a:spLocks noChangeAspect="1"/>
              </p:cNvSpPr>
              <p:nvPr/>
            </p:nvSpPr>
            <p:spPr bwMode="auto">
              <a:xfrm>
                <a:off x="2832" y="2538"/>
                <a:ext cx="81" cy="93"/>
              </a:xfrm>
              <a:custGeom>
                <a:avLst/>
                <a:gdLst>
                  <a:gd name="T0" fmla="*/ 0 w 402"/>
                  <a:gd name="T1" fmla="*/ 0 h 464"/>
                  <a:gd name="T2" fmla="*/ 0 w 402"/>
                  <a:gd name="T3" fmla="*/ 0 h 464"/>
                  <a:gd name="T4" fmla="*/ 0 w 402"/>
                  <a:gd name="T5" fmla="*/ 0 h 464"/>
                  <a:gd name="T6" fmla="*/ 0 w 402"/>
                  <a:gd name="T7" fmla="*/ 0 h 464"/>
                  <a:gd name="T8" fmla="*/ 0 w 402"/>
                  <a:gd name="T9" fmla="*/ 1 h 464"/>
                  <a:gd name="T10" fmla="*/ 0 w 402"/>
                  <a:gd name="T11" fmla="*/ 1 h 464"/>
                  <a:gd name="T12" fmla="*/ 0 w 402"/>
                  <a:gd name="T13" fmla="*/ 1 h 464"/>
                  <a:gd name="T14" fmla="*/ 1 w 402"/>
                  <a:gd name="T15" fmla="*/ 0 h 464"/>
                  <a:gd name="T16" fmla="*/ 1 w 402"/>
                  <a:gd name="T17" fmla="*/ 0 h 464"/>
                  <a:gd name="T18" fmla="*/ 1 w 402"/>
                  <a:gd name="T19" fmla="*/ 0 h 464"/>
                  <a:gd name="T20" fmla="*/ 0 w 402"/>
                  <a:gd name="T21" fmla="*/ 0 h 46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02"/>
                  <a:gd name="T34" fmla="*/ 0 h 464"/>
                  <a:gd name="T35" fmla="*/ 402 w 402"/>
                  <a:gd name="T36" fmla="*/ 464 h 46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02" h="464">
                    <a:moveTo>
                      <a:pt x="192" y="0"/>
                    </a:moveTo>
                    <a:cubicBezTo>
                      <a:pt x="176" y="4"/>
                      <a:pt x="120" y="2"/>
                      <a:pt x="90" y="26"/>
                    </a:cubicBezTo>
                    <a:cubicBezTo>
                      <a:pt x="60" y="50"/>
                      <a:pt x="26" y="101"/>
                      <a:pt x="13" y="147"/>
                    </a:cubicBezTo>
                    <a:cubicBezTo>
                      <a:pt x="0" y="193"/>
                      <a:pt x="3" y="258"/>
                      <a:pt x="13" y="301"/>
                    </a:cubicBezTo>
                    <a:cubicBezTo>
                      <a:pt x="23" y="344"/>
                      <a:pt x="44" y="377"/>
                      <a:pt x="71" y="403"/>
                    </a:cubicBezTo>
                    <a:cubicBezTo>
                      <a:pt x="98" y="429"/>
                      <a:pt x="140" y="458"/>
                      <a:pt x="179" y="461"/>
                    </a:cubicBezTo>
                    <a:cubicBezTo>
                      <a:pt x="218" y="464"/>
                      <a:pt x="273" y="448"/>
                      <a:pt x="307" y="422"/>
                    </a:cubicBezTo>
                    <a:cubicBezTo>
                      <a:pt x="341" y="396"/>
                      <a:pt x="370" y="351"/>
                      <a:pt x="384" y="307"/>
                    </a:cubicBezTo>
                    <a:cubicBezTo>
                      <a:pt x="398" y="263"/>
                      <a:pt x="402" y="205"/>
                      <a:pt x="391" y="160"/>
                    </a:cubicBezTo>
                    <a:cubicBezTo>
                      <a:pt x="380" y="115"/>
                      <a:pt x="352" y="65"/>
                      <a:pt x="320" y="38"/>
                    </a:cubicBezTo>
                    <a:cubicBezTo>
                      <a:pt x="288" y="11"/>
                      <a:pt x="224" y="8"/>
                      <a:pt x="199" y="0"/>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249" name="Freeform 176"/>
              <p:cNvSpPr>
                <a:spLocks noChangeAspect="1"/>
              </p:cNvSpPr>
              <p:nvPr/>
            </p:nvSpPr>
            <p:spPr bwMode="auto">
              <a:xfrm>
                <a:off x="2945" y="2536"/>
                <a:ext cx="121" cy="95"/>
              </a:xfrm>
              <a:custGeom>
                <a:avLst/>
                <a:gdLst>
                  <a:gd name="T0" fmla="*/ 0 w 618"/>
                  <a:gd name="T1" fmla="*/ 0 h 498"/>
                  <a:gd name="T2" fmla="*/ 0 w 618"/>
                  <a:gd name="T3" fmla="*/ 1 h 498"/>
                  <a:gd name="T4" fmla="*/ 0 w 618"/>
                  <a:gd name="T5" fmla="*/ 0 h 498"/>
                  <a:gd name="T6" fmla="*/ 1 w 618"/>
                  <a:gd name="T7" fmla="*/ 1 h 498"/>
                  <a:gd name="T8" fmla="*/ 1 w 618"/>
                  <a:gd name="T9" fmla="*/ 0 h 498"/>
                  <a:gd name="T10" fmla="*/ 0 60000 65536"/>
                  <a:gd name="T11" fmla="*/ 0 60000 65536"/>
                  <a:gd name="T12" fmla="*/ 0 60000 65536"/>
                  <a:gd name="T13" fmla="*/ 0 60000 65536"/>
                  <a:gd name="T14" fmla="*/ 0 60000 65536"/>
                  <a:gd name="T15" fmla="*/ 0 w 618"/>
                  <a:gd name="T16" fmla="*/ 0 h 498"/>
                  <a:gd name="T17" fmla="*/ 618 w 618"/>
                  <a:gd name="T18" fmla="*/ 498 h 498"/>
                </a:gdLst>
                <a:ahLst/>
                <a:cxnLst>
                  <a:cxn ang="T10">
                    <a:pos x="T0" y="T1"/>
                  </a:cxn>
                  <a:cxn ang="T11">
                    <a:pos x="T2" y="T3"/>
                  </a:cxn>
                  <a:cxn ang="T12">
                    <a:pos x="T4" y="T5"/>
                  </a:cxn>
                  <a:cxn ang="T13">
                    <a:pos x="T6" y="T7"/>
                  </a:cxn>
                  <a:cxn ang="T14">
                    <a:pos x="T8" y="T9"/>
                  </a:cxn>
                </a:cxnLst>
                <a:rect l="T15" t="T16" r="T17" b="T18"/>
                <a:pathLst>
                  <a:path w="618" h="498">
                    <a:moveTo>
                      <a:pt x="0" y="0"/>
                    </a:moveTo>
                    <a:lnTo>
                      <a:pt x="150" y="498"/>
                    </a:lnTo>
                    <a:lnTo>
                      <a:pt x="306" y="12"/>
                    </a:lnTo>
                    <a:lnTo>
                      <a:pt x="462" y="498"/>
                    </a:lnTo>
                    <a:lnTo>
                      <a:pt x="618" y="0"/>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250" name="Freeform 177"/>
              <p:cNvSpPr>
                <a:spLocks noChangeAspect="1"/>
              </p:cNvSpPr>
              <p:nvPr/>
            </p:nvSpPr>
            <p:spPr bwMode="auto">
              <a:xfrm>
                <a:off x="3106" y="2538"/>
                <a:ext cx="74" cy="93"/>
              </a:xfrm>
              <a:custGeom>
                <a:avLst/>
                <a:gdLst>
                  <a:gd name="T0" fmla="*/ 1 w 368"/>
                  <a:gd name="T1" fmla="*/ 1 h 465"/>
                  <a:gd name="T2" fmla="*/ 0 w 368"/>
                  <a:gd name="T3" fmla="*/ 1 h 465"/>
                  <a:gd name="T4" fmla="*/ 0 w 368"/>
                  <a:gd name="T5" fmla="*/ 1 h 465"/>
                  <a:gd name="T6" fmla="*/ 0 w 368"/>
                  <a:gd name="T7" fmla="*/ 1 h 465"/>
                  <a:gd name="T8" fmla="*/ 0 w 368"/>
                  <a:gd name="T9" fmla="*/ 0 h 465"/>
                  <a:gd name="T10" fmla="*/ 0 w 368"/>
                  <a:gd name="T11" fmla="*/ 0 h 465"/>
                  <a:gd name="T12" fmla="*/ 0 w 368"/>
                  <a:gd name="T13" fmla="*/ 0 h 465"/>
                  <a:gd name="T14" fmla="*/ 1 w 368"/>
                  <a:gd name="T15" fmla="*/ 0 h 465"/>
                  <a:gd name="T16" fmla="*/ 1 w 368"/>
                  <a:gd name="T17" fmla="*/ 0 h 465"/>
                  <a:gd name="T18" fmla="*/ 0 w 368"/>
                  <a:gd name="T19" fmla="*/ 0 h 46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68"/>
                  <a:gd name="T31" fmla="*/ 0 h 465"/>
                  <a:gd name="T32" fmla="*/ 368 w 368"/>
                  <a:gd name="T33" fmla="*/ 465 h 46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68" h="465">
                    <a:moveTo>
                      <a:pt x="350" y="344"/>
                    </a:moveTo>
                    <a:cubicBezTo>
                      <a:pt x="334" y="362"/>
                      <a:pt x="288" y="429"/>
                      <a:pt x="248" y="446"/>
                    </a:cubicBezTo>
                    <a:cubicBezTo>
                      <a:pt x="208" y="463"/>
                      <a:pt x="148" y="465"/>
                      <a:pt x="110" y="446"/>
                    </a:cubicBezTo>
                    <a:cubicBezTo>
                      <a:pt x="72" y="427"/>
                      <a:pt x="35" y="386"/>
                      <a:pt x="20" y="332"/>
                    </a:cubicBezTo>
                    <a:cubicBezTo>
                      <a:pt x="5" y="278"/>
                      <a:pt x="0" y="175"/>
                      <a:pt x="20" y="122"/>
                    </a:cubicBezTo>
                    <a:cubicBezTo>
                      <a:pt x="40" y="69"/>
                      <a:pt x="96" y="28"/>
                      <a:pt x="140" y="14"/>
                    </a:cubicBezTo>
                    <a:cubicBezTo>
                      <a:pt x="184" y="0"/>
                      <a:pt x="248" y="19"/>
                      <a:pt x="284" y="38"/>
                    </a:cubicBezTo>
                    <a:cubicBezTo>
                      <a:pt x="320" y="57"/>
                      <a:pt x="342" y="97"/>
                      <a:pt x="356" y="128"/>
                    </a:cubicBezTo>
                    <a:lnTo>
                      <a:pt x="368" y="224"/>
                    </a:lnTo>
                    <a:lnTo>
                      <a:pt x="8" y="224"/>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251" name="Line 178"/>
              <p:cNvSpPr>
                <a:spLocks noChangeAspect="1" noChangeShapeType="1"/>
              </p:cNvSpPr>
              <p:nvPr/>
            </p:nvSpPr>
            <p:spPr bwMode="auto">
              <a:xfrm>
                <a:off x="3220" y="2495"/>
                <a:ext cx="1" cy="136"/>
              </a:xfrm>
              <a:prstGeom prst="line">
                <a:avLst/>
              </a:prstGeom>
              <a:noFill/>
              <a:ln w="63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252" name="Freeform 179"/>
              <p:cNvSpPr>
                <a:spLocks noChangeAspect="1"/>
              </p:cNvSpPr>
              <p:nvPr/>
            </p:nvSpPr>
            <p:spPr bwMode="auto">
              <a:xfrm>
                <a:off x="3261" y="2537"/>
                <a:ext cx="70" cy="94"/>
              </a:xfrm>
              <a:custGeom>
                <a:avLst/>
                <a:gdLst>
                  <a:gd name="T0" fmla="*/ 0 w 348"/>
                  <a:gd name="T1" fmla="*/ 0 h 454"/>
                  <a:gd name="T2" fmla="*/ 0 w 348"/>
                  <a:gd name="T3" fmla="*/ 0 h 454"/>
                  <a:gd name="T4" fmla="*/ 0 w 348"/>
                  <a:gd name="T5" fmla="*/ 0 h 454"/>
                  <a:gd name="T6" fmla="*/ 0 w 348"/>
                  <a:gd name="T7" fmla="*/ 0 h 454"/>
                  <a:gd name="T8" fmla="*/ 0 w 348"/>
                  <a:gd name="T9" fmla="*/ 0 h 454"/>
                  <a:gd name="T10" fmla="*/ 0 w 348"/>
                  <a:gd name="T11" fmla="*/ 1 h 454"/>
                  <a:gd name="T12" fmla="*/ 0 w 348"/>
                  <a:gd name="T13" fmla="*/ 1 h 454"/>
                  <a:gd name="T14" fmla="*/ 0 w 348"/>
                  <a:gd name="T15" fmla="*/ 1 h 454"/>
                  <a:gd name="T16" fmla="*/ 0 60000 65536"/>
                  <a:gd name="T17" fmla="*/ 0 60000 65536"/>
                  <a:gd name="T18" fmla="*/ 0 60000 65536"/>
                  <a:gd name="T19" fmla="*/ 0 60000 65536"/>
                  <a:gd name="T20" fmla="*/ 0 60000 65536"/>
                  <a:gd name="T21" fmla="*/ 0 60000 65536"/>
                  <a:gd name="T22" fmla="*/ 0 60000 65536"/>
                  <a:gd name="T23" fmla="*/ 0 60000 65536"/>
                  <a:gd name="T24" fmla="*/ 0 w 348"/>
                  <a:gd name="T25" fmla="*/ 0 h 454"/>
                  <a:gd name="T26" fmla="*/ 348 w 348"/>
                  <a:gd name="T27" fmla="*/ 454 h 45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48" h="454">
                    <a:moveTo>
                      <a:pt x="307" y="95"/>
                    </a:moveTo>
                    <a:cubicBezTo>
                      <a:pt x="296" y="82"/>
                      <a:pt x="284" y="28"/>
                      <a:pt x="241" y="17"/>
                    </a:cubicBezTo>
                    <a:cubicBezTo>
                      <a:pt x="198" y="6"/>
                      <a:pt x="82" y="0"/>
                      <a:pt x="49" y="29"/>
                    </a:cubicBezTo>
                    <a:cubicBezTo>
                      <a:pt x="16" y="58"/>
                      <a:pt x="0" y="148"/>
                      <a:pt x="43" y="191"/>
                    </a:cubicBezTo>
                    <a:cubicBezTo>
                      <a:pt x="86" y="234"/>
                      <a:pt x="266" y="248"/>
                      <a:pt x="307" y="287"/>
                    </a:cubicBezTo>
                    <a:cubicBezTo>
                      <a:pt x="348" y="326"/>
                      <a:pt x="325" y="399"/>
                      <a:pt x="289" y="425"/>
                    </a:cubicBezTo>
                    <a:cubicBezTo>
                      <a:pt x="253" y="451"/>
                      <a:pt x="138" y="454"/>
                      <a:pt x="91" y="443"/>
                    </a:cubicBezTo>
                    <a:cubicBezTo>
                      <a:pt x="44" y="432"/>
                      <a:pt x="24" y="376"/>
                      <a:pt x="7" y="359"/>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sp>
        <p:nvSpPr>
          <p:cNvPr id="146435" name="Text Box 180"/>
          <p:cNvSpPr txBox="1">
            <a:spLocks noChangeArrowheads="1"/>
          </p:cNvSpPr>
          <p:nvPr/>
        </p:nvSpPr>
        <p:spPr bwMode="auto">
          <a:xfrm>
            <a:off x="231775" y="173038"/>
            <a:ext cx="1835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sz="2000" b="1">
                <a:latin typeface="Arial" panose="020B0604020202020204" pitchFamily="34" charset="0"/>
              </a:rPr>
              <a:t>Southern blot</a:t>
            </a:r>
          </a:p>
        </p:txBody>
      </p:sp>
      <p:grpSp>
        <p:nvGrpSpPr>
          <p:cNvPr id="146436" name="Group 181"/>
          <p:cNvGrpSpPr>
            <a:grpSpLocks noChangeAspect="1"/>
          </p:cNvGrpSpPr>
          <p:nvPr/>
        </p:nvGrpSpPr>
        <p:grpSpPr bwMode="auto">
          <a:xfrm>
            <a:off x="2114550" y="2132013"/>
            <a:ext cx="2751138" cy="903287"/>
            <a:chOff x="756" y="1409"/>
            <a:chExt cx="1440" cy="473"/>
          </a:xfrm>
        </p:grpSpPr>
        <p:sp>
          <p:nvSpPr>
            <p:cNvPr id="147160" name="Freeform 182"/>
            <p:cNvSpPr>
              <a:spLocks noChangeAspect="1"/>
            </p:cNvSpPr>
            <p:nvPr/>
          </p:nvSpPr>
          <p:spPr bwMode="auto">
            <a:xfrm>
              <a:off x="853" y="1551"/>
              <a:ext cx="1247" cy="273"/>
            </a:xfrm>
            <a:custGeom>
              <a:avLst/>
              <a:gdLst>
                <a:gd name="T0" fmla="*/ 0 w 3102"/>
                <a:gd name="T1" fmla="*/ 0 h 678"/>
                <a:gd name="T2" fmla="*/ 0 w 3102"/>
                <a:gd name="T3" fmla="*/ 17 h 678"/>
                <a:gd name="T4" fmla="*/ 15 w 3102"/>
                <a:gd name="T5" fmla="*/ 17 h 678"/>
                <a:gd name="T6" fmla="*/ 16 w 3102"/>
                <a:gd name="T7" fmla="*/ 9 h 678"/>
                <a:gd name="T8" fmla="*/ 63 w 3102"/>
                <a:gd name="T9" fmla="*/ 9 h 678"/>
                <a:gd name="T10" fmla="*/ 63 w 3102"/>
                <a:gd name="T11" fmla="*/ 18 h 678"/>
                <a:gd name="T12" fmla="*/ 81 w 3102"/>
                <a:gd name="T13" fmla="*/ 17 h 678"/>
                <a:gd name="T14" fmla="*/ 81 w 3102"/>
                <a:gd name="T15" fmla="*/ 0 h 678"/>
                <a:gd name="T16" fmla="*/ 0 w 3102"/>
                <a:gd name="T17" fmla="*/ 0 h 67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02"/>
                <a:gd name="T28" fmla="*/ 0 h 678"/>
                <a:gd name="T29" fmla="*/ 3102 w 3102"/>
                <a:gd name="T30" fmla="*/ 678 h 67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02" h="678">
                  <a:moveTo>
                    <a:pt x="0" y="0"/>
                  </a:moveTo>
                  <a:lnTo>
                    <a:pt x="0" y="660"/>
                  </a:lnTo>
                  <a:lnTo>
                    <a:pt x="588" y="654"/>
                  </a:lnTo>
                  <a:lnTo>
                    <a:pt x="594" y="354"/>
                  </a:lnTo>
                  <a:lnTo>
                    <a:pt x="2400" y="354"/>
                  </a:lnTo>
                  <a:lnTo>
                    <a:pt x="2400" y="678"/>
                  </a:lnTo>
                  <a:lnTo>
                    <a:pt x="3102" y="666"/>
                  </a:lnTo>
                  <a:lnTo>
                    <a:pt x="3090" y="0"/>
                  </a:lnTo>
                  <a:lnTo>
                    <a:pt x="0" y="0"/>
                  </a:lnTo>
                  <a:close/>
                </a:path>
              </a:pathLst>
            </a:custGeom>
            <a:solidFill>
              <a:srgbClr val="EAEAEA"/>
            </a:solidFill>
            <a:ln>
              <a:noFill/>
            </a:ln>
            <a:extLst>
              <a:ext uri="{91240B29-F687-4F45-9708-019B960494DF}">
                <a14:hiddenLine xmlns:a14="http://schemas.microsoft.com/office/drawing/2010/main" w="28575">
                  <a:solidFill>
                    <a:srgbClr val="000000"/>
                  </a:solidFill>
                  <a:round/>
                </a14:hiddenLine>
              </a:ext>
            </a:extLst>
          </p:spPr>
          <p:txBody>
            <a:bodyPr wrap="none" anchor="ctr"/>
            <a:lstStyle/>
            <a:p>
              <a:endParaRPr lang="zh-CN" altLang="en-US"/>
            </a:p>
          </p:txBody>
        </p:sp>
        <p:sp>
          <p:nvSpPr>
            <p:cNvPr id="147161" name="Freeform 183"/>
            <p:cNvSpPr>
              <a:spLocks noChangeAspect="1"/>
            </p:cNvSpPr>
            <p:nvPr/>
          </p:nvSpPr>
          <p:spPr bwMode="auto">
            <a:xfrm>
              <a:off x="792" y="1484"/>
              <a:ext cx="1359" cy="398"/>
            </a:xfrm>
            <a:custGeom>
              <a:avLst/>
              <a:gdLst>
                <a:gd name="T0" fmla="*/ 0 w 3378"/>
                <a:gd name="T1" fmla="*/ 0 h 990"/>
                <a:gd name="T2" fmla="*/ 0 w 3378"/>
                <a:gd name="T3" fmla="*/ 26 h 990"/>
                <a:gd name="T4" fmla="*/ 23 w 3378"/>
                <a:gd name="T5" fmla="*/ 26 h 990"/>
                <a:gd name="T6" fmla="*/ 23 w 3378"/>
                <a:gd name="T7" fmla="*/ 18 h 990"/>
                <a:gd name="T8" fmla="*/ 63 w 3378"/>
                <a:gd name="T9" fmla="*/ 18 h 990"/>
                <a:gd name="T10" fmla="*/ 63 w 3378"/>
                <a:gd name="T11" fmla="*/ 25 h 990"/>
                <a:gd name="T12" fmla="*/ 89 w 3378"/>
                <a:gd name="T13" fmla="*/ 25 h 990"/>
                <a:gd name="T14" fmla="*/ 89 w 3378"/>
                <a:gd name="T15" fmla="*/ 0 h 990"/>
                <a:gd name="T16" fmla="*/ 85 w 3378"/>
                <a:gd name="T17" fmla="*/ 0 h 990"/>
                <a:gd name="T18" fmla="*/ 85 w 3378"/>
                <a:gd name="T19" fmla="*/ 22 h 990"/>
                <a:gd name="T20" fmla="*/ 67 w 3378"/>
                <a:gd name="T21" fmla="*/ 23 h 990"/>
                <a:gd name="T22" fmla="*/ 67 w 3378"/>
                <a:gd name="T23" fmla="*/ 14 h 990"/>
                <a:gd name="T24" fmla="*/ 19 w 3378"/>
                <a:gd name="T25" fmla="*/ 14 h 990"/>
                <a:gd name="T26" fmla="*/ 19 w 3378"/>
                <a:gd name="T27" fmla="*/ 22 h 990"/>
                <a:gd name="T28" fmla="*/ 4 w 3378"/>
                <a:gd name="T29" fmla="*/ 22 h 990"/>
                <a:gd name="T30" fmla="*/ 4 w 3378"/>
                <a:gd name="T31" fmla="*/ 0 h 990"/>
                <a:gd name="T32" fmla="*/ 0 w 3378"/>
                <a:gd name="T33" fmla="*/ 0 h 99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378"/>
                <a:gd name="T52" fmla="*/ 0 h 990"/>
                <a:gd name="T53" fmla="*/ 3378 w 3378"/>
                <a:gd name="T54" fmla="*/ 990 h 99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378" h="990">
                  <a:moveTo>
                    <a:pt x="0" y="0"/>
                  </a:moveTo>
                  <a:lnTo>
                    <a:pt x="0" y="990"/>
                  </a:lnTo>
                  <a:lnTo>
                    <a:pt x="870" y="990"/>
                  </a:lnTo>
                  <a:lnTo>
                    <a:pt x="870" y="678"/>
                  </a:lnTo>
                  <a:lnTo>
                    <a:pt x="2412" y="678"/>
                  </a:lnTo>
                  <a:lnTo>
                    <a:pt x="2412" y="972"/>
                  </a:lnTo>
                  <a:lnTo>
                    <a:pt x="3378" y="972"/>
                  </a:lnTo>
                  <a:lnTo>
                    <a:pt x="3378" y="0"/>
                  </a:lnTo>
                  <a:lnTo>
                    <a:pt x="3258" y="0"/>
                  </a:lnTo>
                  <a:lnTo>
                    <a:pt x="3258" y="852"/>
                  </a:lnTo>
                  <a:lnTo>
                    <a:pt x="2544" y="858"/>
                  </a:lnTo>
                  <a:lnTo>
                    <a:pt x="2544" y="528"/>
                  </a:lnTo>
                  <a:lnTo>
                    <a:pt x="744" y="534"/>
                  </a:lnTo>
                  <a:lnTo>
                    <a:pt x="744" y="834"/>
                  </a:lnTo>
                  <a:lnTo>
                    <a:pt x="138" y="834"/>
                  </a:lnTo>
                  <a:lnTo>
                    <a:pt x="138" y="0"/>
                  </a:lnTo>
                  <a:lnTo>
                    <a:pt x="0" y="0"/>
                  </a:lnTo>
                  <a:close/>
                </a:path>
              </a:pathLst>
            </a:custGeom>
            <a:solidFill>
              <a:srgbClr val="4D4D4D"/>
            </a:solidFill>
            <a:ln w="12700">
              <a:solidFill>
                <a:schemeClr val="bg2"/>
              </a:solidFill>
              <a:round/>
            </a:ln>
          </p:spPr>
          <p:txBody>
            <a:bodyPr wrap="none" anchor="ctr"/>
            <a:lstStyle/>
            <a:p>
              <a:endParaRPr lang="zh-CN" altLang="en-US"/>
            </a:p>
          </p:txBody>
        </p:sp>
        <p:sp>
          <p:nvSpPr>
            <p:cNvPr id="147162" name="Freeform 184"/>
            <p:cNvSpPr>
              <a:spLocks noChangeAspect="1"/>
            </p:cNvSpPr>
            <p:nvPr/>
          </p:nvSpPr>
          <p:spPr bwMode="auto">
            <a:xfrm>
              <a:off x="1089" y="1592"/>
              <a:ext cx="729" cy="99"/>
            </a:xfrm>
            <a:custGeom>
              <a:avLst/>
              <a:gdLst>
                <a:gd name="T0" fmla="*/ 0 w 1812"/>
                <a:gd name="T1" fmla="*/ 0 h 246"/>
                <a:gd name="T2" fmla="*/ 0 w 1812"/>
                <a:gd name="T3" fmla="*/ 6 h 246"/>
                <a:gd name="T4" fmla="*/ 47 w 1812"/>
                <a:gd name="T5" fmla="*/ 6 h 246"/>
                <a:gd name="T6" fmla="*/ 47 w 1812"/>
                <a:gd name="T7" fmla="*/ 0 h 246"/>
                <a:gd name="T8" fmla="*/ 0 w 1812"/>
                <a:gd name="T9" fmla="*/ 0 h 246"/>
                <a:gd name="T10" fmla="*/ 0 60000 65536"/>
                <a:gd name="T11" fmla="*/ 0 60000 65536"/>
                <a:gd name="T12" fmla="*/ 0 60000 65536"/>
                <a:gd name="T13" fmla="*/ 0 60000 65536"/>
                <a:gd name="T14" fmla="*/ 0 60000 65536"/>
                <a:gd name="T15" fmla="*/ 0 w 1812"/>
                <a:gd name="T16" fmla="*/ 0 h 246"/>
                <a:gd name="T17" fmla="*/ 1812 w 1812"/>
                <a:gd name="T18" fmla="*/ 246 h 246"/>
              </a:gdLst>
              <a:ahLst/>
              <a:cxnLst>
                <a:cxn ang="T10">
                  <a:pos x="T0" y="T1"/>
                </a:cxn>
                <a:cxn ang="T11">
                  <a:pos x="T2" y="T3"/>
                </a:cxn>
                <a:cxn ang="T12">
                  <a:pos x="T4" y="T5"/>
                </a:cxn>
                <a:cxn ang="T13">
                  <a:pos x="T6" y="T7"/>
                </a:cxn>
                <a:cxn ang="T14">
                  <a:pos x="T8" y="T9"/>
                </a:cxn>
              </a:cxnLst>
              <a:rect l="T15" t="T16" r="T17" b="T18"/>
              <a:pathLst>
                <a:path w="1812" h="246">
                  <a:moveTo>
                    <a:pt x="0" y="0"/>
                  </a:moveTo>
                  <a:lnTo>
                    <a:pt x="0" y="246"/>
                  </a:lnTo>
                  <a:lnTo>
                    <a:pt x="1812" y="246"/>
                  </a:lnTo>
                  <a:lnTo>
                    <a:pt x="1812" y="6"/>
                  </a:lnTo>
                  <a:lnTo>
                    <a:pt x="0" y="0"/>
                  </a:lnTo>
                  <a:close/>
                </a:path>
              </a:pathLst>
            </a:custGeom>
            <a:gradFill rotWithShape="1">
              <a:gsLst>
                <a:gs pos="0">
                  <a:srgbClr val="D9EDEF"/>
                </a:gs>
                <a:gs pos="100000">
                  <a:srgbClr val="CFE2E4"/>
                </a:gs>
              </a:gsLst>
              <a:lin ang="5400000" scaled="1"/>
            </a:gradFill>
            <a:ln w="19050">
              <a:solidFill>
                <a:srgbClr val="DDDDDD"/>
              </a:solidFill>
              <a:round/>
            </a:ln>
          </p:spPr>
          <p:txBody>
            <a:bodyPr wrap="none" anchor="ctr"/>
            <a:lstStyle/>
            <a:p>
              <a:endParaRPr lang="zh-CN" altLang="en-US"/>
            </a:p>
          </p:txBody>
        </p:sp>
        <p:sp>
          <p:nvSpPr>
            <p:cNvPr id="147163" name="Rectangle 185"/>
            <p:cNvSpPr>
              <a:spLocks noChangeAspect="1" noChangeArrowheads="1"/>
            </p:cNvSpPr>
            <p:nvPr/>
          </p:nvSpPr>
          <p:spPr bwMode="auto">
            <a:xfrm>
              <a:off x="1140" y="1595"/>
              <a:ext cx="22" cy="84"/>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164" name="Rectangle 186"/>
            <p:cNvSpPr>
              <a:spLocks noChangeAspect="1" noChangeArrowheads="1"/>
            </p:cNvSpPr>
            <p:nvPr/>
          </p:nvSpPr>
          <p:spPr bwMode="auto">
            <a:xfrm>
              <a:off x="1139" y="1621"/>
              <a:ext cx="23" cy="63"/>
            </a:xfrm>
            <a:prstGeom prst="rect">
              <a:avLst/>
            </a:prstGeom>
            <a:solidFill>
              <a:srgbClr val="0000FF"/>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165" name="Line 187"/>
            <p:cNvSpPr>
              <a:spLocks noChangeAspect="1" noChangeShapeType="1"/>
            </p:cNvSpPr>
            <p:nvPr/>
          </p:nvSpPr>
          <p:spPr bwMode="auto">
            <a:xfrm flipV="1">
              <a:off x="1190" y="1643"/>
              <a:ext cx="280" cy="0"/>
            </a:xfrm>
            <a:prstGeom prst="line">
              <a:avLst/>
            </a:prstGeom>
            <a:noFill/>
            <a:ln w="381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166" name="Freeform 188"/>
            <p:cNvSpPr>
              <a:spLocks noChangeAspect="1"/>
            </p:cNvSpPr>
            <p:nvPr/>
          </p:nvSpPr>
          <p:spPr bwMode="auto">
            <a:xfrm>
              <a:off x="756" y="1467"/>
              <a:ext cx="116" cy="323"/>
            </a:xfrm>
            <a:custGeom>
              <a:avLst/>
              <a:gdLst>
                <a:gd name="T0" fmla="*/ 8 w 288"/>
                <a:gd name="T1" fmla="*/ 21 h 804"/>
                <a:gd name="T2" fmla="*/ 8 w 288"/>
                <a:gd name="T3" fmla="*/ 0 h 804"/>
                <a:gd name="T4" fmla="*/ 0 w 288"/>
                <a:gd name="T5" fmla="*/ 0 h 804"/>
                <a:gd name="T6" fmla="*/ 0 60000 65536"/>
                <a:gd name="T7" fmla="*/ 0 60000 65536"/>
                <a:gd name="T8" fmla="*/ 0 60000 65536"/>
                <a:gd name="T9" fmla="*/ 0 w 288"/>
                <a:gd name="T10" fmla="*/ 0 h 804"/>
                <a:gd name="T11" fmla="*/ 288 w 288"/>
                <a:gd name="T12" fmla="*/ 804 h 804"/>
              </a:gdLst>
              <a:ahLst/>
              <a:cxnLst>
                <a:cxn ang="T6">
                  <a:pos x="T0" y="T1"/>
                </a:cxn>
                <a:cxn ang="T7">
                  <a:pos x="T2" y="T3"/>
                </a:cxn>
                <a:cxn ang="T8">
                  <a:pos x="T4" y="T5"/>
                </a:cxn>
              </a:cxnLst>
              <a:rect l="T9" t="T10" r="T11" b="T12"/>
              <a:pathLst>
                <a:path w="288" h="804">
                  <a:moveTo>
                    <a:pt x="288" y="804"/>
                  </a:moveTo>
                  <a:lnTo>
                    <a:pt x="288" y="0"/>
                  </a:lnTo>
                  <a:lnTo>
                    <a:pt x="0" y="0"/>
                  </a:lnTo>
                </a:path>
              </a:pathLst>
            </a:custGeom>
            <a:noFill/>
            <a:ln w="19050">
              <a:solidFill>
                <a:srgbClr val="00FF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47167" name="Freeform 189"/>
            <p:cNvSpPr>
              <a:spLocks noChangeAspect="1"/>
            </p:cNvSpPr>
            <p:nvPr/>
          </p:nvSpPr>
          <p:spPr bwMode="auto">
            <a:xfrm flipH="1">
              <a:off x="2080" y="1467"/>
              <a:ext cx="116" cy="323"/>
            </a:xfrm>
            <a:custGeom>
              <a:avLst/>
              <a:gdLst>
                <a:gd name="T0" fmla="*/ 8 w 288"/>
                <a:gd name="T1" fmla="*/ 21 h 804"/>
                <a:gd name="T2" fmla="*/ 8 w 288"/>
                <a:gd name="T3" fmla="*/ 0 h 804"/>
                <a:gd name="T4" fmla="*/ 0 w 288"/>
                <a:gd name="T5" fmla="*/ 0 h 804"/>
                <a:gd name="T6" fmla="*/ 0 60000 65536"/>
                <a:gd name="T7" fmla="*/ 0 60000 65536"/>
                <a:gd name="T8" fmla="*/ 0 60000 65536"/>
                <a:gd name="T9" fmla="*/ 0 w 288"/>
                <a:gd name="T10" fmla="*/ 0 h 804"/>
                <a:gd name="T11" fmla="*/ 288 w 288"/>
                <a:gd name="T12" fmla="*/ 804 h 804"/>
              </a:gdLst>
              <a:ahLst/>
              <a:cxnLst>
                <a:cxn ang="T6">
                  <a:pos x="T0" y="T1"/>
                </a:cxn>
                <a:cxn ang="T7">
                  <a:pos x="T2" y="T3"/>
                </a:cxn>
                <a:cxn ang="T8">
                  <a:pos x="T4" y="T5"/>
                </a:cxn>
              </a:cxnLst>
              <a:rect l="T9" t="T10" r="T11" b="T12"/>
              <a:pathLst>
                <a:path w="288" h="804">
                  <a:moveTo>
                    <a:pt x="288" y="804"/>
                  </a:moveTo>
                  <a:lnTo>
                    <a:pt x="288" y="0"/>
                  </a:lnTo>
                  <a:lnTo>
                    <a:pt x="0" y="0"/>
                  </a:lnTo>
                </a:path>
              </a:pathLst>
            </a:custGeom>
            <a:noFill/>
            <a:ln w="19050">
              <a:solidFill>
                <a:srgbClr val="00FF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47168" name="Oval 190"/>
            <p:cNvSpPr>
              <a:spLocks noChangeAspect="1" noChangeArrowheads="1"/>
            </p:cNvSpPr>
            <p:nvPr/>
          </p:nvSpPr>
          <p:spPr bwMode="auto">
            <a:xfrm>
              <a:off x="2102" y="1409"/>
              <a:ext cx="51" cy="51"/>
            </a:xfrm>
            <a:prstGeom prst="ellipse">
              <a:avLst/>
            </a:prstGeom>
            <a:noFill/>
            <a:ln w="12700" algn="ctr">
              <a:solidFill>
                <a:srgbClr val="00FF00"/>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169" name="Line 191"/>
            <p:cNvSpPr>
              <a:spLocks noChangeAspect="1" noChangeShapeType="1"/>
            </p:cNvSpPr>
            <p:nvPr/>
          </p:nvSpPr>
          <p:spPr bwMode="auto">
            <a:xfrm>
              <a:off x="2129" y="1416"/>
              <a:ext cx="0" cy="36"/>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170" name="Line 192"/>
            <p:cNvSpPr>
              <a:spLocks noChangeAspect="1" noChangeShapeType="1"/>
            </p:cNvSpPr>
            <p:nvPr/>
          </p:nvSpPr>
          <p:spPr bwMode="auto">
            <a:xfrm rot="5400000">
              <a:off x="2128" y="1416"/>
              <a:ext cx="0" cy="36"/>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171" name="Line 193"/>
            <p:cNvSpPr>
              <a:spLocks noChangeAspect="1" noChangeShapeType="1"/>
            </p:cNvSpPr>
            <p:nvPr/>
          </p:nvSpPr>
          <p:spPr bwMode="auto">
            <a:xfrm rot="5400000">
              <a:off x="816" y="1423"/>
              <a:ext cx="0" cy="36"/>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172" name="Oval 194"/>
            <p:cNvSpPr>
              <a:spLocks noChangeAspect="1" noChangeArrowheads="1"/>
            </p:cNvSpPr>
            <p:nvPr/>
          </p:nvSpPr>
          <p:spPr bwMode="auto">
            <a:xfrm>
              <a:off x="789" y="1416"/>
              <a:ext cx="51" cy="51"/>
            </a:xfrm>
            <a:prstGeom prst="ellipse">
              <a:avLst/>
            </a:prstGeom>
            <a:noFill/>
            <a:ln w="12700" algn="ctr">
              <a:solidFill>
                <a:srgbClr val="00FF00"/>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nvGrpSpPr>
            <p:cNvPr id="147173" name="Group 195"/>
            <p:cNvGrpSpPr>
              <a:grpSpLocks noChangeAspect="1"/>
            </p:cNvGrpSpPr>
            <p:nvPr/>
          </p:nvGrpSpPr>
          <p:grpSpPr bwMode="auto">
            <a:xfrm>
              <a:off x="898" y="1576"/>
              <a:ext cx="156" cy="28"/>
              <a:chOff x="1176" y="572"/>
              <a:chExt cx="748" cy="135"/>
            </a:xfrm>
          </p:grpSpPr>
          <p:sp>
            <p:nvSpPr>
              <p:cNvPr id="147193" name="Freeform 196"/>
              <p:cNvSpPr>
                <a:spLocks noChangeAspect="1"/>
              </p:cNvSpPr>
              <p:nvPr/>
            </p:nvSpPr>
            <p:spPr bwMode="auto">
              <a:xfrm>
                <a:off x="1176" y="580"/>
                <a:ext cx="92" cy="127"/>
              </a:xfrm>
              <a:custGeom>
                <a:avLst/>
                <a:gdLst>
                  <a:gd name="T0" fmla="*/ 0 w 442"/>
                  <a:gd name="T1" fmla="*/ 0 h 612"/>
                  <a:gd name="T2" fmla="*/ 0 w 442"/>
                  <a:gd name="T3" fmla="*/ 1 h 612"/>
                  <a:gd name="T4" fmla="*/ 0 w 442"/>
                  <a:gd name="T5" fmla="*/ 1 h 612"/>
                  <a:gd name="T6" fmla="*/ 1 w 442"/>
                  <a:gd name="T7" fmla="*/ 1 h 612"/>
                  <a:gd name="T8" fmla="*/ 1 w 442"/>
                  <a:gd name="T9" fmla="*/ 1 h 612"/>
                  <a:gd name="T10" fmla="*/ 0 w 442"/>
                  <a:gd name="T11" fmla="*/ 1 h 612"/>
                  <a:gd name="T12" fmla="*/ 0 w 442"/>
                  <a:gd name="T13" fmla="*/ 0 h 612"/>
                  <a:gd name="T14" fmla="*/ 0 w 442"/>
                  <a:gd name="T15" fmla="*/ 0 h 612"/>
                  <a:gd name="T16" fmla="*/ 1 w 442"/>
                  <a:gd name="T17" fmla="*/ 0 h 612"/>
                  <a:gd name="T18" fmla="*/ 1 w 442"/>
                  <a:gd name="T19" fmla="*/ 0 h 612"/>
                  <a:gd name="T20" fmla="*/ 0 w 442"/>
                  <a:gd name="T21" fmla="*/ 0 h 612"/>
                  <a:gd name="T22" fmla="*/ 0 w 442"/>
                  <a:gd name="T23" fmla="*/ 0 h 61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42"/>
                  <a:gd name="T37" fmla="*/ 0 h 612"/>
                  <a:gd name="T38" fmla="*/ 442 w 442"/>
                  <a:gd name="T39" fmla="*/ 612 h 61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42" h="612">
                    <a:moveTo>
                      <a:pt x="0" y="0"/>
                    </a:moveTo>
                    <a:lnTo>
                      <a:pt x="0" y="612"/>
                    </a:lnTo>
                    <a:lnTo>
                      <a:pt x="288" y="612"/>
                    </a:lnTo>
                    <a:cubicBezTo>
                      <a:pt x="356" y="602"/>
                      <a:pt x="386" y="589"/>
                      <a:pt x="408" y="552"/>
                    </a:cubicBezTo>
                    <a:cubicBezTo>
                      <a:pt x="430" y="515"/>
                      <a:pt x="442" y="433"/>
                      <a:pt x="420" y="390"/>
                    </a:cubicBezTo>
                    <a:cubicBezTo>
                      <a:pt x="398" y="347"/>
                      <a:pt x="346" y="311"/>
                      <a:pt x="276" y="294"/>
                    </a:cubicBezTo>
                    <a:lnTo>
                      <a:pt x="0" y="288"/>
                    </a:lnTo>
                    <a:lnTo>
                      <a:pt x="288" y="288"/>
                    </a:lnTo>
                    <a:cubicBezTo>
                      <a:pt x="355" y="269"/>
                      <a:pt x="387" y="213"/>
                      <a:pt x="402" y="174"/>
                    </a:cubicBezTo>
                    <a:cubicBezTo>
                      <a:pt x="417" y="135"/>
                      <a:pt x="403" y="83"/>
                      <a:pt x="378" y="54"/>
                    </a:cubicBezTo>
                    <a:cubicBezTo>
                      <a:pt x="353" y="25"/>
                      <a:pt x="315" y="9"/>
                      <a:pt x="252" y="0"/>
                    </a:cubicBezTo>
                    <a:lnTo>
                      <a:pt x="0" y="0"/>
                    </a:lnTo>
                    <a:close/>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194" name="Freeform 197"/>
              <p:cNvSpPr>
                <a:spLocks noChangeAspect="1"/>
              </p:cNvSpPr>
              <p:nvPr/>
            </p:nvSpPr>
            <p:spPr bwMode="auto">
              <a:xfrm>
                <a:off x="1311" y="583"/>
                <a:ext cx="92" cy="124"/>
              </a:xfrm>
              <a:custGeom>
                <a:avLst/>
                <a:gdLst>
                  <a:gd name="T0" fmla="*/ 3 w 285"/>
                  <a:gd name="T1" fmla="*/ 0 h 383"/>
                  <a:gd name="T2" fmla="*/ 3 w 285"/>
                  <a:gd name="T3" fmla="*/ 2 h 383"/>
                  <a:gd name="T4" fmla="*/ 3 w 285"/>
                  <a:gd name="T5" fmla="*/ 4 h 383"/>
                  <a:gd name="T6" fmla="*/ 2 w 285"/>
                  <a:gd name="T7" fmla="*/ 4 h 383"/>
                  <a:gd name="T8" fmla="*/ 0 w 285"/>
                  <a:gd name="T9" fmla="*/ 4 h 383"/>
                  <a:gd name="T10" fmla="*/ 0 w 285"/>
                  <a:gd name="T11" fmla="*/ 2 h 383"/>
                  <a:gd name="T12" fmla="*/ 0 w 285"/>
                  <a:gd name="T13" fmla="*/ 0 h 383"/>
                  <a:gd name="T14" fmla="*/ 0 60000 65536"/>
                  <a:gd name="T15" fmla="*/ 0 60000 65536"/>
                  <a:gd name="T16" fmla="*/ 0 60000 65536"/>
                  <a:gd name="T17" fmla="*/ 0 60000 65536"/>
                  <a:gd name="T18" fmla="*/ 0 60000 65536"/>
                  <a:gd name="T19" fmla="*/ 0 60000 65536"/>
                  <a:gd name="T20" fmla="*/ 0 60000 65536"/>
                  <a:gd name="T21" fmla="*/ 0 w 285"/>
                  <a:gd name="T22" fmla="*/ 0 h 383"/>
                  <a:gd name="T23" fmla="*/ 285 w 285"/>
                  <a:gd name="T24" fmla="*/ 383 h 38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85" h="383">
                    <a:moveTo>
                      <a:pt x="283" y="3"/>
                    </a:moveTo>
                    <a:cubicBezTo>
                      <a:pt x="283" y="37"/>
                      <a:pt x="285" y="147"/>
                      <a:pt x="279" y="203"/>
                    </a:cubicBezTo>
                    <a:cubicBezTo>
                      <a:pt x="273" y="259"/>
                      <a:pt x="272" y="309"/>
                      <a:pt x="247" y="339"/>
                    </a:cubicBezTo>
                    <a:cubicBezTo>
                      <a:pt x="222" y="369"/>
                      <a:pt x="167" y="383"/>
                      <a:pt x="130" y="382"/>
                    </a:cubicBezTo>
                    <a:cubicBezTo>
                      <a:pt x="93" y="381"/>
                      <a:pt x="48" y="356"/>
                      <a:pt x="27" y="330"/>
                    </a:cubicBezTo>
                    <a:cubicBezTo>
                      <a:pt x="6" y="303"/>
                      <a:pt x="8" y="276"/>
                      <a:pt x="4" y="221"/>
                    </a:cubicBezTo>
                    <a:cubicBezTo>
                      <a:pt x="0" y="167"/>
                      <a:pt x="4" y="37"/>
                      <a:pt x="4" y="0"/>
                    </a:cubicBez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7195" name="Group 198"/>
              <p:cNvGrpSpPr>
                <a:grpSpLocks noChangeAspect="1"/>
              </p:cNvGrpSpPr>
              <p:nvPr/>
            </p:nvGrpSpPr>
            <p:grpSpPr bwMode="auto">
              <a:xfrm>
                <a:off x="1571" y="580"/>
                <a:ext cx="80" cy="127"/>
                <a:chOff x="3653" y="1343"/>
                <a:chExt cx="384" cy="612"/>
              </a:xfrm>
            </p:grpSpPr>
            <p:sp>
              <p:nvSpPr>
                <p:cNvPr id="147203" name="Freeform 199"/>
                <p:cNvSpPr>
                  <a:spLocks noChangeAspect="1"/>
                </p:cNvSpPr>
                <p:nvPr/>
              </p:nvSpPr>
              <p:spPr bwMode="auto">
                <a:xfrm>
                  <a:off x="3653" y="1343"/>
                  <a:ext cx="384" cy="612"/>
                </a:xfrm>
                <a:custGeom>
                  <a:avLst/>
                  <a:gdLst>
                    <a:gd name="T0" fmla="*/ 384 w 384"/>
                    <a:gd name="T1" fmla="*/ 0 h 612"/>
                    <a:gd name="T2" fmla="*/ 0 w 384"/>
                    <a:gd name="T3" fmla="*/ 0 h 612"/>
                    <a:gd name="T4" fmla="*/ 0 w 384"/>
                    <a:gd name="T5" fmla="*/ 612 h 612"/>
                    <a:gd name="T6" fmla="*/ 0 60000 65536"/>
                    <a:gd name="T7" fmla="*/ 0 60000 65536"/>
                    <a:gd name="T8" fmla="*/ 0 60000 65536"/>
                    <a:gd name="T9" fmla="*/ 0 w 384"/>
                    <a:gd name="T10" fmla="*/ 0 h 612"/>
                    <a:gd name="T11" fmla="*/ 384 w 384"/>
                    <a:gd name="T12" fmla="*/ 612 h 612"/>
                  </a:gdLst>
                  <a:ahLst/>
                  <a:cxnLst>
                    <a:cxn ang="T6">
                      <a:pos x="T0" y="T1"/>
                    </a:cxn>
                    <a:cxn ang="T7">
                      <a:pos x="T2" y="T3"/>
                    </a:cxn>
                    <a:cxn ang="T8">
                      <a:pos x="T4" y="T5"/>
                    </a:cxn>
                  </a:cxnLst>
                  <a:rect l="T9" t="T10" r="T11" b="T12"/>
                  <a:pathLst>
                    <a:path w="384" h="612">
                      <a:moveTo>
                        <a:pt x="384" y="0"/>
                      </a:moveTo>
                      <a:lnTo>
                        <a:pt x="0" y="0"/>
                      </a:lnTo>
                      <a:lnTo>
                        <a:pt x="0" y="612"/>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204" name="Line 200"/>
                <p:cNvSpPr>
                  <a:spLocks noChangeAspect="1" noChangeShapeType="1"/>
                </p:cNvSpPr>
                <p:nvPr/>
              </p:nvSpPr>
              <p:spPr bwMode="auto">
                <a:xfrm flipH="1">
                  <a:off x="3653" y="1637"/>
                  <a:ext cx="32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47196" name="Group 201"/>
              <p:cNvGrpSpPr>
                <a:grpSpLocks noChangeAspect="1"/>
              </p:cNvGrpSpPr>
              <p:nvPr/>
            </p:nvGrpSpPr>
            <p:grpSpPr bwMode="auto">
              <a:xfrm>
                <a:off x="1447" y="580"/>
                <a:ext cx="80" cy="127"/>
                <a:chOff x="3653" y="1343"/>
                <a:chExt cx="384" cy="612"/>
              </a:xfrm>
            </p:grpSpPr>
            <p:sp>
              <p:nvSpPr>
                <p:cNvPr id="147201" name="Freeform 202"/>
                <p:cNvSpPr>
                  <a:spLocks noChangeAspect="1"/>
                </p:cNvSpPr>
                <p:nvPr/>
              </p:nvSpPr>
              <p:spPr bwMode="auto">
                <a:xfrm>
                  <a:off x="3653" y="1343"/>
                  <a:ext cx="384" cy="612"/>
                </a:xfrm>
                <a:custGeom>
                  <a:avLst/>
                  <a:gdLst>
                    <a:gd name="T0" fmla="*/ 384 w 384"/>
                    <a:gd name="T1" fmla="*/ 0 h 612"/>
                    <a:gd name="T2" fmla="*/ 0 w 384"/>
                    <a:gd name="T3" fmla="*/ 0 h 612"/>
                    <a:gd name="T4" fmla="*/ 0 w 384"/>
                    <a:gd name="T5" fmla="*/ 612 h 612"/>
                    <a:gd name="T6" fmla="*/ 0 60000 65536"/>
                    <a:gd name="T7" fmla="*/ 0 60000 65536"/>
                    <a:gd name="T8" fmla="*/ 0 60000 65536"/>
                    <a:gd name="T9" fmla="*/ 0 w 384"/>
                    <a:gd name="T10" fmla="*/ 0 h 612"/>
                    <a:gd name="T11" fmla="*/ 384 w 384"/>
                    <a:gd name="T12" fmla="*/ 612 h 612"/>
                  </a:gdLst>
                  <a:ahLst/>
                  <a:cxnLst>
                    <a:cxn ang="T6">
                      <a:pos x="T0" y="T1"/>
                    </a:cxn>
                    <a:cxn ang="T7">
                      <a:pos x="T2" y="T3"/>
                    </a:cxn>
                    <a:cxn ang="T8">
                      <a:pos x="T4" y="T5"/>
                    </a:cxn>
                  </a:cxnLst>
                  <a:rect l="T9" t="T10" r="T11" b="T12"/>
                  <a:pathLst>
                    <a:path w="384" h="612">
                      <a:moveTo>
                        <a:pt x="384" y="0"/>
                      </a:moveTo>
                      <a:lnTo>
                        <a:pt x="0" y="0"/>
                      </a:lnTo>
                      <a:lnTo>
                        <a:pt x="0" y="612"/>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202" name="Line 203"/>
                <p:cNvSpPr>
                  <a:spLocks noChangeAspect="1" noChangeShapeType="1"/>
                </p:cNvSpPr>
                <p:nvPr/>
              </p:nvSpPr>
              <p:spPr bwMode="auto">
                <a:xfrm flipH="1">
                  <a:off x="3653" y="1637"/>
                  <a:ext cx="32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47197" name="Group 204"/>
              <p:cNvGrpSpPr>
                <a:grpSpLocks noChangeAspect="1"/>
              </p:cNvGrpSpPr>
              <p:nvPr/>
            </p:nvGrpSpPr>
            <p:grpSpPr bwMode="auto">
              <a:xfrm>
                <a:off x="1695" y="580"/>
                <a:ext cx="87" cy="127"/>
                <a:chOff x="3017" y="1343"/>
                <a:chExt cx="420" cy="612"/>
              </a:xfrm>
            </p:grpSpPr>
            <p:sp>
              <p:nvSpPr>
                <p:cNvPr id="147199" name="Freeform 205"/>
                <p:cNvSpPr>
                  <a:spLocks noChangeAspect="1"/>
                </p:cNvSpPr>
                <p:nvPr/>
              </p:nvSpPr>
              <p:spPr bwMode="auto">
                <a:xfrm>
                  <a:off x="3017" y="1343"/>
                  <a:ext cx="420" cy="612"/>
                </a:xfrm>
                <a:custGeom>
                  <a:avLst/>
                  <a:gdLst>
                    <a:gd name="T0" fmla="*/ 420 w 420"/>
                    <a:gd name="T1" fmla="*/ 606 h 612"/>
                    <a:gd name="T2" fmla="*/ 0 w 420"/>
                    <a:gd name="T3" fmla="*/ 612 h 612"/>
                    <a:gd name="T4" fmla="*/ 6 w 420"/>
                    <a:gd name="T5" fmla="*/ 0 h 612"/>
                    <a:gd name="T6" fmla="*/ 402 w 420"/>
                    <a:gd name="T7" fmla="*/ 0 h 612"/>
                    <a:gd name="T8" fmla="*/ 0 60000 65536"/>
                    <a:gd name="T9" fmla="*/ 0 60000 65536"/>
                    <a:gd name="T10" fmla="*/ 0 60000 65536"/>
                    <a:gd name="T11" fmla="*/ 0 60000 65536"/>
                    <a:gd name="T12" fmla="*/ 0 w 420"/>
                    <a:gd name="T13" fmla="*/ 0 h 612"/>
                    <a:gd name="T14" fmla="*/ 420 w 420"/>
                    <a:gd name="T15" fmla="*/ 612 h 612"/>
                  </a:gdLst>
                  <a:ahLst/>
                  <a:cxnLst>
                    <a:cxn ang="T8">
                      <a:pos x="T0" y="T1"/>
                    </a:cxn>
                    <a:cxn ang="T9">
                      <a:pos x="T2" y="T3"/>
                    </a:cxn>
                    <a:cxn ang="T10">
                      <a:pos x="T4" y="T5"/>
                    </a:cxn>
                    <a:cxn ang="T11">
                      <a:pos x="T6" y="T7"/>
                    </a:cxn>
                  </a:cxnLst>
                  <a:rect l="T12" t="T13" r="T14" b="T15"/>
                  <a:pathLst>
                    <a:path w="420" h="612">
                      <a:moveTo>
                        <a:pt x="420" y="606"/>
                      </a:moveTo>
                      <a:lnTo>
                        <a:pt x="0" y="612"/>
                      </a:lnTo>
                      <a:lnTo>
                        <a:pt x="6" y="0"/>
                      </a:lnTo>
                      <a:lnTo>
                        <a:pt x="402" y="0"/>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200" name="Line 206"/>
                <p:cNvSpPr>
                  <a:spLocks noChangeAspect="1" noChangeShapeType="1"/>
                </p:cNvSpPr>
                <p:nvPr/>
              </p:nvSpPr>
              <p:spPr bwMode="auto">
                <a:xfrm>
                  <a:off x="3017" y="1637"/>
                  <a:ext cx="37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47198" name="Freeform 207"/>
              <p:cNvSpPr>
                <a:spLocks noChangeAspect="1"/>
              </p:cNvSpPr>
              <p:nvPr/>
            </p:nvSpPr>
            <p:spPr bwMode="auto">
              <a:xfrm>
                <a:off x="1826" y="572"/>
                <a:ext cx="98" cy="135"/>
              </a:xfrm>
              <a:custGeom>
                <a:avLst/>
                <a:gdLst>
                  <a:gd name="T0" fmla="*/ 0 w 468"/>
                  <a:gd name="T1" fmla="*/ 1 h 642"/>
                  <a:gd name="T2" fmla="*/ 0 w 468"/>
                  <a:gd name="T3" fmla="*/ 0 h 642"/>
                  <a:gd name="T4" fmla="*/ 0 w 468"/>
                  <a:gd name="T5" fmla="*/ 0 h 642"/>
                  <a:gd name="T6" fmla="*/ 1 w 468"/>
                  <a:gd name="T7" fmla="*/ 0 h 642"/>
                  <a:gd name="T8" fmla="*/ 1 w 468"/>
                  <a:gd name="T9" fmla="*/ 0 h 642"/>
                  <a:gd name="T10" fmla="*/ 0 w 468"/>
                  <a:gd name="T11" fmla="*/ 1 h 642"/>
                  <a:gd name="T12" fmla="*/ 0 w 468"/>
                  <a:gd name="T13" fmla="*/ 1 h 642"/>
                  <a:gd name="T14" fmla="*/ 0 w 468"/>
                  <a:gd name="T15" fmla="*/ 1 h 642"/>
                  <a:gd name="T16" fmla="*/ 1 w 468"/>
                  <a:gd name="T17" fmla="*/ 1 h 6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68"/>
                  <a:gd name="T28" fmla="*/ 0 h 642"/>
                  <a:gd name="T29" fmla="*/ 468 w 468"/>
                  <a:gd name="T30" fmla="*/ 642 h 64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68" h="642">
                    <a:moveTo>
                      <a:pt x="6" y="636"/>
                    </a:moveTo>
                    <a:lnTo>
                      <a:pt x="0" y="0"/>
                    </a:lnTo>
                    <a:lnTo>
                      <a:pt x="234" y="0"/>
                    </a:lnTo>
                    <a:cubicBezTo>
                      <a:pt x="303" y="11"/>
                      <a:pt x="386" y="26"/>
                      <a:pt x="414" y="66"/>
                    </a:cubicBezTo>
                    <a:cubicBezTo>
                      <a:pt x="442" y="106"/>
                      <a:pt x="436" y="200"/>
                      <a:pt x="402" y="240"/>
                    </a:cubicBezTo>
                    <a:cubicBezTo>
                      <a:pt x="368" y="280"/>
                      <a:pt x="277" y="295"/>
                      <a:pt x="210" y="306"/>
                    </a:cubicBezTo>
                    <a:lnTo>
                      <a:pt x="0" y="306"/>
                    </a:lnTo>
                    <a:lnTo>
                      <a:pt x="216" y="312"/>
                    </a:lnTo>
                    <a:cubicBezTo>
                      <a:pt x="294" y="368"/>
                      <a:pt x="426" y="587"/>
                      <a:pt x="468" y="642"/>
                    </a:cubicBez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147174" name="Group 208"/>
            <p:cNvGrpSpPr>
              <a:grpSpLocks noChangeAspect="1"/>
            </p:cNvGrpSpPr>
            <p:nvPr/>
          </p:nvGrpSpPr>
          <p:grpSpPr bwMode="auto">
            <a:xfrm>
              <a:off x="1501" y="1646"/>
              <a:ext cx="306" cy="28"/>
              <a:chOff x="1133" y="211"/>
              <a:chExt cx="1487" cy="135"/>
            </a:xfrm>
          </p:grpSpPr>
          <p:grpSp>
            <p:nvGrpSpPr>
              <p:cNvPr id="147175" name="Group 209"/>
              <p:cNvGrpSpPr>
                <a:grpSpLocks noChangeAspect="1"/>
              </p:cNvGrpSpPr>
              <p:nvPr/>
            </p:nvGrpSpPr>
            <p:grpSpPr bwMode="auto">
              <a:xfrm>
                <a:off x="1133" y="219"/>
                <a:ext cx="99" cy="127"/>
                <a:chOff x="263" y="1301"/>
                <a:chExt cx="540" cy="690"/>
              </a:xfrm>
            </p:grpSpPr>
            <p:sp>
              <p:nvSpPr>
                <p:cNvPr id="147191" name="Freeform 210"/>
                <p:cNvSpPr>
                  <a:spLocks noChangeAspect="1"/>
                </p:cNvSpPr>
                <p:nvPr/>
              </p:nvSpPr>
              <p:spPr bwMode="auto">
                <a:xfrm>
                  <a:off x="263" y="1301"/>
                  <a:ext cx="540" cy="690"/>
                </a:xfrm>
                <a:custGeom>
                  <a:avLst/>
                  <a:gdLst>
                    <a:gd name="T0" fmla="*/ 0 w 540"/>
                    <a:gd name="T1" fmla="*/ 690 h 690"/>
                    <a:gd name="T2" fmla="*/ 264 w 540"/>
                    <a:gd name="T3" fmla="*/ 0 h 690"/>
                    <a:gd name="T4" fmla="*/ 540 w 540"/>
                    <a:gd name="T5" fmla="*/ 678 h 690"/>
                    <a:gd name="T6" fmla="*/ 0 60000 65536"/>
                    <a:gd name="T7" fmla="*/ 0 60000 65536"/>
                    <a:gd name="T8" fmla="*/ 0 60000 65536"/>
                    <a:gd name="T9" fmla="*/ 0 w 540"/>
                    <a:gd name="T10" fmla="*/ 0 h 690"/>
                    <a:gd name="T11" fmla="*/ 540 w 540"/>
                    <a:gd name="T12" fmla="*/ 690 h 690"/>
                  </a:gdLst>
                  <a:ahLst/>
                  <a:cxnLst>
                    <a:cxn ang="T6">
                      <a:pos x="T0" y="T1"/>
                    </a:cxn>
                    <a:cxn ang="T7">
                      <a:pos x="T2" y="T3"/>
                    </a:cxn>
                    <a:cxn ang="T8">
                      <a:pos x="T4" y="T5"/>
                    </a:cxn>
                  </a:cxnLst>
                  <a:rect l="T9" t="T10" r="T11" b="T12"/>
                  <a:pathLst>
                    <a:path w="540" h="690">
                      <a:moveTo>
                        <a:pt x="0" y="690"/>
                      </a:moveTo>
                      <a:lnTo>
                        <a:pt x="264" y="0"/>
                      </a:lnTo>
                      <a:lnTo>
                        <a:pt x="540" y="678"/>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192" name="Line 211"/>
                <p:cNvSpPr>
                  <a:spLocks noChangeAspect="1" noChangeShapeType="1"/>
                </p:cNvSpPr>
                <p:nvPr/>
              </p:nvSpPr>
              <p:spPr bwMode="auto">
                <a:xfrm>
                  <a:off x="359" y="1727"/>
                  <a:ext cx="336"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47176" name="Freeform 212"/>
              <p:cNvSpPr>
                <a:spLocks noChangeAspect="1"/>
              </p:cNvSpPr>
              <p:nvPr/>
            </p:nvSpPr>
            <p:spPr bwMode="auto">
              <a:xfrm>
                <a:off x="1273" y="219"/>
                <a:ext cx="111" cy="127"/>
              </a:xfrm>
              <a:custGeom>
                <a:avLst/>
                <a:gdLst>
                  <a:gd name="T0" fmla="*/ 1 w 562"/>
                  <a:gd name="T1" fmla="*/ 0 h 641"/>
                  <a:gd name="T2" fmla="*/ 1 w 562"/>
                  <a:gd name="T3" fmla="*/ 0 h 641"/>
                  <a:gd name="T4" fmla="*/ 0 w 562"/>
                  <a:gd name="T5" fmla="*/ 0 h 641"/>
                  <a:gd name="T6" fmla="*/ 0 w 562"/>
                  <a:gd name="T7" fmla="*/ 0 h 641"/>
                  <a:gd name="T8" fmla="*/ 0 w 562"/>
                  <a:gd name="T9" fmla="*/ 0 h 641"/>
                  <a:gd name="T10" fmla="*/ 0 w 562"/>
                  <a:gd name="T11" fmla="*/ 1 h 641"/>
                  <a:gd name="T12" fmla="*/ 0 w 562"/>
                  <a:gd name="T13" fmla="*/ 1 h 641"/>
                  <a:gd name="T14" fmla="*/ 1 w 562"/>
                  <a:gd name="T15" fmla="*/ 1 h 641"/>
                  <a:gd name="T16" fmla="*/ 1 w 562"/>
                  <a:gd name="T17" fmla="*/ 1 h 641"/>
                  <a:gd name="T18" fmla="*/ 1 w 562"/>
                  <a:gd name="T19" fmla="*/ 1 h 641"/>
                  <a:gd name="T20" fmla="*/ 1 w 562"/>
                  <a:gd name="T21" fmla="*/ 1 h 64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62"/>
                  <a:gd name="T34" fmla="*/ 0 h 641"/>
                  <a:gd name="T35" fmla="*/ 562 w 562"/>
                  <a:gd name="T36" fmla="*/ 641 h 64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62" h="641">
                    <a:moveTo>
                      <a:pt x="550" y="166"/>
                    </a:moveTo>
                    <a:cubicBezTo>
                      <a:pt x="538" y="147"/>
                      <a:pt x="519" y="79"/>
                      <a:pt x="478" y="52"/>
                    </a:cubicBezTo>
                    <a:cubicBezTo>
                      <a:pt x="437" y="25"/>
                      <a:pt x="367" y="0"/>
                      <a:pt x="304" y="4"/>
                    </a:cubicBezTo>
                    <a:cubicBezTo>
                      <a:pt x="241" y="8"/>
                      <a:pt x="149" y="28"/>
                      <a:pt x="100" y="76"/>
                    </a:cubicBezTo>
                    <a:cubicBezTo>
                      <a:pt x="51" y="124"/>
                      <a:pt x="20" y="222"/>
                      <a:pt x="10" y="292"/>
                    </a:cubicBezTo>
                    <a:cubicBezTo>
                      <a:pt x="0" y="362"/>
                      <a:pt x="10" y="442"/>
                      <a:pt x="40" y="496"/>
                    </a:cubicBezTo>
                    <a:cubicBezTo>
                      <a:pt x="70" y="550"/>
                      <a:pt x="126" y="594"/>
                      <a:pt x="190" y="616"/>
                    </a:cubicBezTo>
                    <a:cubicBezTo>
                      <a:pt x="254" y="638"/>
                      <a:pt x="362" y="641"/>
                      <a:pt x="424" y="628"/>
                    </a:cubicBezTo>
                    <a:cubicBezTo>
                      <a:pt x="486" y="615"/>
                      <a:pt x="540" y="584"/>
                      <a:pt x="562" y="538"/>
                    </a:cubicBezTo>
                    <a:lnTo>
                      <a:pt x="556" y="352"/>
                    </a:lnTo>
                    <a:lnTo>
                      <a:pt x="322" y="352"/>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7177" name="Group 213"/>
              <p:cNvGrpSpPr>
                <a:grpSpLocks noChangeAspect="1"/>
              </p:cNvGrpSpPr>
              <p:nvPr/>
            </p:nvGrpSpPr>
            <p:grpSpPr bwMode="auto">
              <a:xfrm>
                <a:off x="1426" y="219"/>
                <a:ext cx="99" cy="127"/>
                <a:chOff x="263" y="1301"/>
                <a:chExt cx="540" cy="690"/>
              </a:xfrm>
            </p:grpSpPr>
            <p:sp>
              <p:nvSpPr>
                <p:cNvPr id="147189" name="Freeform 214"/>
                <p:cNvSpPr>
                  <a:spLocks noChangeAspect="1"/>
                </p:cNvSpPr>
                <p:nvPr/>
              </p:nvSpPr>
              <p:spPr bwMode="auto">
                <a:xfrm>
                  <a:off x="263" y="1301"/>
                  <a:ext cx="540" cy="690"/>
                </a:xfrm>
                <a:custGeom>
                  <a:avLst/>
                  <a:gdLst>
                    <a:gd name="T0" fmla="*/ 0 w 540"/>
                    <a:gd name="T1" fmla="*/ 690 h 690"/>
                    <a:gd name="T2" fmla="*/ 264 w 540"/>
                    <a:gd name="T3" fmla="*/ 0 h 690"/>
                    <a:gd name="T4" fmla="*/ 540 w 540"/>
                    <a:gd name="T5" fmla="*/ 678 h 690"/>
                    <a:gd name="T6" fmla="*/ 0 60000 65536"/>
                    <a:gd name="T7" fmla="*/ 0 60000 65536"/>
                    <a:gd name="T8" fmla="*/ 0 60000 65536"/>
                    <a:gd name="T9" fmla="*/ 0 w 540"/>
                    <a:gd name="T10" fmla="*/ 0 h 690"/>
                    <a:gd name="T11" fmla="*/ 540 w 540"/>
                    <a:gd name="T12" fmla="*/ 690 h 690"/>
                  </a:gdLst>
                  <a:ahLst/>
                  <a:cxnLst>
                    <a:cxn ang="T6">
                      <a:pos x="T0" y="T1"/>
                    </a:cxn>
                    <a:cxn ang="T7">
                      <a:pos x="T2" y="T3"/>
                    </a:cxn>
                    <a:cxn ang="T8">
                      <a:pos x="T4" y="T5"/>
                    </a:cxn>
                  </a:cxnLst>
                  <a:rect l="T9" t="T10" r="T11" b="T12"/>
                  <a:pathLst>
                    <a:path w="540" h="690">
                      <a:moveTo>
                        <a:pt x="0" y="690"/>
                      </a:moveTo>
                      <a:lnTo>
                        <a:pt x="264" y="0"/>
                      </a:lnTo>
                      <a:lnTo>
                        <a:pt x="540" y="678"/>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190" name="Line 215"/>
                <p:cNvSpPr>
                  <a:spLocks noChangeAspect="1" noChangeShapeType="1"/>
                </p:cNvSpPr>
                <p:nvPr/>
              </p:nvSpPr>
              <p:spPr bwMode="auto">
                <a:xfrm>
                  <a:off x="359" y="1727"/>
                  <a:ext cx="336"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47178" name="Freeform 216"/>
              <p:cNvSpPr>
                <a:spLocks noChangeAspect="1"/>
              </p:cNvSpPr>
              <p:nvPr/>
            </p:nvSpPr>
            <p:spPr bwMode="auto">
              <a:xfrm>
                <a:off x="1567" y="211"/>
                <a:ext cx="98" cy="135"/>
              </a:xfrm>
              <a:custGeom>
                <a:avLst/>
                <a:gdLst>
                  <a:gd name="T0" fmla="*/ 0 w 468"/>
                  <a:gd name="T1" fmla="*/ 1 h 642"/>
                  <a:gd name="T2" fmla="*/ 0 w 468"/>
                  <a:gd name="T3" fmla="*/ 0 h 642"/>
                  <a:gd name="T4" fmla="*/ 0 w 468"/>
                  <a:gd name="T5" fmla="*/ 0 h 642"/>
                  <a:gd name="T6" fmla="*/ 1 w 468"/>
                  <a:gd name="T7" fmla="*/ 0 h 642"/>
                  <a:gd name="T8" fmla="*/ 1 w 468"/>
                  <a:gd name="T9" fmla="*/ 0 h 642"/>
                  <a:gd name="T10" fmla="*/ 0 w 468"/>
                  <a:gd name="T11" fmla="*/ 1 h 642"/>
                  <a:gd name="T12" fmla="*/ 0 w 468"/>
                  <a:gd name="T13" fmla="*/ 1 h 642"/>
                  <a:gd name="T14" fmla="*/ 0 w 468"/>
                  <a:gd name="T15" fmla="*/ 1 h 642"/>
                  <a:gd name="T16" fmla="*/ 1 w 468"/>
                  <a:gd name="T17" fmla="*/ 1 h 6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68"/>
                  <a:gd name="T28" fmla="*/ 0 h 642"/>
                  <a:gd name="T29" fmla="*/ 468 w 468"/>
                  <a:gd name="T30" fmla="*/ 642 h 64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68" h="642">
                    <a:moveTo>
                      <a:pt x="6" y="636"/>
                    </a:moveTo>
                    <a:lnTo>
                      <a:pt x="0" y="0"/>
                    </a:lnTo>
                    <a:lnTo>
                      <a:pt x="234" y="0"/>
                    </a:lnTo>
                    <a:cubicBezTo>
                      <a:pt x="303" y="11"/>
                      <a:pt x="386" y="26"/>
                      <a:pt x="414" y="66"/>
                    </a:cubicBezTo>
                    <a:cubicBezTo>
                      <a:pt x="442" y="106"/>
                      <a:pt x="436" y="200"/>
                      <a:pt x="402" y="240"/>
                    </a:cubicBezTo>
                    <a:cubicBezTo>
                      <a:pt x="368" y="280"/>
                      <a:pt x="277" y="295"/>
                      <a:pt x="210" y="306"/>
                    </a:cubicBezTo>
                    <a:lnTo>
                      <a:pt x="0" y="306"/>
                    </a:lnTo>
                    <a:lnTo>
                      <a:pt x="216" y="312"/>
                    </a:lnTo>
                    <a:cubicBezTo>
                      <a:pt x="294" y="368"/>
                      <a:pt x="426" y="587"/>
                      <a:pt x="468" y="642"/>
                    </a:cubicBez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179" name="Freeform 217"/>
              <p:cNvSpPr>
                <a:spLocks noChangeAspect="1"/>
              </p:cNvSpPr>
              <p:nvPr/>
            </p:nvSpPr>
            <p:spPr bwMode="auto">
              <a:xfrm>
                <a:off x="1706" y="215"/>
                <a:ext cx="109" cy="131"/>
              </a:xfrm>
              <a:custGeom>
                <a:avLst/>
                <a:gdLst>
                  <a:gd name="T0" fmla="*/ 0 w 551"/>
                  <a:gd name="T1" fmla="*/ 0 h 660"/>
                  <a:gd name="T2" fmla="*/ 0 w 551"/>
                  <a:gd name="T3" fmla="*/ 0 h 660"/>
                  <a:gd name="T4" fmla="*/ 0 w 551"/>
                  <a:gd name="T5" fmla="*/ 1 h 660"/>
                  <a:gd name="T6" fmla="*/ 0 w 551"/>
                  <a:gd name="T7" fmla="*/ 1 h 660"/>
                  <a:gd name="T8" fmla="*/ 1 w 551"/>
                  <a:gd name="T9" fmla="*/ 1 h 660"/>
                  <a:gd name="T10" fmla="*/ 1 w 551"/>
                  <a:gd name="T11" fmla="*/ 1 h 660"/>
                  <a:gd name="T12" fmla="*/ 1 w 551"/>
                  <a:gd name="T13" fmla="*/ 0 h 660"/>
                  <a:gd name="T14" fmla="*/ 1 w 551"/>
                  <a:gd name="T15" fmla="*/ 0 h 660"/>
                  <a:gd name="T16" fmla="*/ 0 w 551"/>
                  <a:gd name="T17" fmla="*/ 0 h 66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51"/>
                  <a:gd name="T28" fmla="*/ 0 h 660"/>
                  <a:gd name="T29" fmla="*/ 551 w 551"/>
                  <a:gd name="T30" fmla="*/ 660 h 66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51" h="660">
                    <a:moveTo>
                      <a:pt x="166" y="26"/>
                    </a:moveTo>
                    <a:cubicBezTo>
                      <a:pt x="110" y="58"/>
                      <a:pt x="44" y="142"/>
                      <a:pt x="22" y="218"/>
                    </a:cubicBezTo>
                    <a:cubicBezTo>
                      <a:pt x="0" y="294"/>
                      <a:pt x="9" y="413"/>
                      <a:pt x="34" y="482"/>
                    </a:cubicBezTo>
                    <a:cubicBezTo>
                      <a:pt x="59" y="551"/>
                      <a:pt x="116" y="607"/>
                      <a:pt x="172" y="632"/>
                    </a:cubicBezTo>
                    <a:cubicBezTo>
                      <a:pt x="228" y="657"/>
                      <a:pt x="311" y="660"/>
                      <a:pt x="370" y="632"/>
                    </a:cubicBezTo>
                    <a:cubicBezTo>
                      <a:pt x="429" y="604"/>
                      <a:pt x="501" y="539"/>
                      <a:pt x="526" y="464"/>
                    </a:cubicBezTo>
                    <a:cubicBezTo>
                      <a:pt x="551" y="389"/>
                      <a:pt x="547" y="255"/>
                      <a:pt x="520" y="182"/>
                    </a:cubicBezTo>
                    <a:cubicBezTo>
                      <a:pt x="493" y="109"/>
                      <a:pt x="423" y="52"/>
                      <a:pt x="364" y="26"/>
                    </a:cubicBezTo>
                    <a:cubicBezTo>
                      <a:pt x="305" y="0"/>
                      <a:pt x="207" y="26"/>
                      <a:pt x="166" y="26"/>
                    </a:cubicBezTo>
                    <a:close/>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180" name="Freeform 218"/>
              <p:cNvSpPr>
                <a:spLocks noChangeAspect="1"/>
              </p:cNvSpPr>
              <p:nvPr/>
            </p:nvSpPr>
            <p:spPr bwMode="auto">
              <a:xfrm>
                <a:off x="1857" y="213"/>
                <a:ext cx="98" cy="133"/>
              </a:xfrm>
              <a:custGeom>
                <a:avLst/>
                <a:gdLst>
                  <a:gd name="T0" fmla="*/ 1 w 464"/>
                  <a:gd name="T1" fmla="*/ 0 h 632"/>
                  <a:gd name="T2" fmla="*/ 1 w 464"/>
                  <a:gd name="T3" fmla="*/ 0 h 632"/>
                  <a:gd name="T4" fmla="*/ 0 w 464"/>
                  <a:gd name="T5" fmla="*/ 0 h 632"/>
                  <a:gd name="T6" fmla="*/ 0 w 464"/>
                  <a:gd name="T7" fmla="*/ 0 h 632"/>
                  <a:gd name="T8" fmla="*/ 0 w 464"/>
                  <a:gd name="T9" fmla="*/ 1 h 632"/>
                  <a:gd name="T10" fmla="*/ 1 w 464"/>
                  <a:gd name="T11" fmla="*/ 1 h 632"/>
                  <a:gd name="T12" fmla="*/ 1 w 464"/>
                  <a:gd name="T13" fmla="*/ 1 h 632"/>
                  <a:gd name="T14" fmla="*/ 0 w 464"/>
                  <a:gd name="T15" fmla="*/ 1 h 632"/>
                  <a:gd name="T16" fmla="*/ 0 w 464"/>
                  <a:gd name="T17" fmla="*/ 1 h 632"/>
                  <a:gd name="T18" fmla="*/ 0 w 464"/>
                  <a:gd name="T19" fmla="*/ 1 h 63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64"/>
                  <a:gd name="T31" fmla="*/ 0 h 632"/>
                  <a:gd name="T32" fmla="*/ 464 w 464"/>
                  <a:gd name="T33" fmla="*/ 632 h 63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64" h="632">
                    <a:moveTo>
                      <a:pt x="414" y="178"/>
                    </a:moveTo>
                    <a:cubicBezTo>
                      <a:pt x="403" y="157"/>
                      <a:pt x="387" y="80"/>
                      <a:pt x="348" y="52"/>
                    </a:cubicBezTo>
                    <a:cubicBezTo>
                      <a:pt x="309" y="24"/>
                      <a:pt x="233" y="0"/>
                      <a:pt x="180" y="10"/>
                    </a:cubicBezTo>
                    <a:cubicBezTo>
                      <a:pt x="127" y="20"/>
                      <a:pt x="47" y="69"/>
                      <a:pt x="30" y="112"/>
                    </a:cubicBezTo>
                    <a:cubicBezTo>
                      <a:pt x="13" y="155"/>
                      <a:pt x="15" y="223"/>
                      <a:pt x="78" y="268"/>
                    </a:cubicBezTo>
                    <a:cubicBezTo>
                      <a:pt x="141" y="313"/>
                      <a:pt x="352" y="333"/>
                      <a:pt x="408" y="382"/>
                    </a:cubicBezTo>
                    <a:cubicBezTo>
                      <a:pt x="464" y="431"/>
                      <a:pt x="440" y="521"/>
                      <a:pt x="414" y="562"/>
                    </a:cubicBezTo>
                    <a:cubicBezTo>
                      <a:pt x="388" y="603"/>
                      <a:pt x="311" y="624"/>
                      <a:pt x="252" y="628"/>
                    </a:cubicBezTo>
                    <a:cubicBezTo>
                      <a:pt x="193" y="632"/>
                      <a:pt x="102" y="615"/>
                      <a:pt x="60" y="586"/>
                    </a:cubicBezTo>
                    <a:cubicBezTo>
                      <a:pt x="18" y="557"/>
                      <a:pt x="12" y="481"/>
                      <a:pt x="0" y="454"/>
                    </a:cubicBez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7181" name="Group 219"/>
              <p:cNvGrpSpPr>
                <a:grpSpLocks noChangeAspect="1"/>
              </p:cNvGrpSpPr>
              <p:nvPr/>
            </p:nvGrpSpPr>
            <p:grpSpPr bwMode="auto">
              <a:xfrm>
                <a:off x="1997" y="219"/>
                <a:ext cx="87" cy="127"/>
                <a:chOff x="3017" y="1343"/>
                <a:chExt cx="420" cy="612"/>
              </a:xfrm>
            </p:grpSpPr>
            <p:sp>
              <p:nvSpPr>
                <p:cNvPr id="147187" name="Freeform 220"/>
                <p:cNvSpPr>
                  <a:spLocks noChangeAspect="1"/>
                </p:cNvSpPr>
                <p:nvPr/>
              </p:nvSpPr>
              <p:spPr bwMode="auto">
                <a:xfrm>
                  <a:off x="3017" y="1343"/>
                  <a:ext cx="420" cy="612"/>
                </a:xfrm>
                <a:custGeom>
                  <a:avLst/>
                  <a:gdLst>
                    <a:gd name="T0" fmla="*/ 420 w 420"/>
                    <a:gd name="T1" fmla="*/ 606 h 612"/>
                    <a:gd name="T2" fmla="*/ 0 w 420"/>
                    <a:gd name="T3" fmla="*/ 612 h 612"/>
                    <a:gd name="T4" fmla="*/ 6 w 420"/>
                    <a:gd name="T5" fmla="*/ 0 h 612"/>
                    <a:gd name="T6" fmla="*/ 402 w 420"/>
                    <a:gd name="T7" fmla="*/ 0 h 612"/>
                    <a:gd name="T8" fmla="*/ 0 60000 65536"/>
                    <a:gd name="T9" fmla="*/ 0 60000 65536"/>
                    <a:gd name="T10" fmla="*/ 0 60000 65536"/>
                    <a:gd name="T11" fmla="*/ 0 60000 65536"/>
                    <a:gd name="T12" fmla="*/ 0 w 420"/>
                    <a:gd name="T13" fmla="*/ 0 h 612"/>
                    <a:gd name="T14" fmla="*/ 420 w 420"/>
                    <a:gd name="T15" fmla="*/ 612 h 612"/>
                  </a:gdLst>
                  <a:ahLst/>
                  <a:cxnLst>
                    <a:cxn ang="T8">
                      <a:pos x="T0" y="T1"/>
                    </a:cxn>
                    <a:cxn ang="T9">
                      <a:pos x="T2" y="T3"/>
                    </a:cxn>
                    <a:cxn ang="T10">
                      <a:pos x="T4" y="T5"/>
                    </a:cxn>
                    <a:cxn ang="T11">
                      <a:pos x="T6" y="T7"/>
                    </a:cxn>
                  </a:cxnLst>
                  <a:rect l="T12" t="T13" r="T14" b="T15"/>
                  <a:pathLst>
                    <a:path w="420" h="612">
                      <a:moveTo>
                        <a:pt x="420" y="606"/>
                      </a:moveTo>
                      <a:lnTo>
                        <a:pt x="0" y="612"/>
                      </a:lnTo>
                      <a:lnTo>
                        <a:pt x="6" y="0"/>
                      </a:lnTo>
                      <a:lnTo>
                        <a:pt x="402" y="0"/>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188" name="Line 221"/>
                <p:cNvSpPr>
                  <a:spLocks noChangeAspect="1" noChangeShapeType="1"/>
                </p:cNvSpPr>
                <p:nvPr/>
              </p:nvSpPr>
              <p:spPr bwMode="auto">
                <a:xfrm>
                  <a:off x="3017" y="1637"/>
                  <a:ext cx="37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47182" name="Freeform 222"/>
              <p:cNvSpPr>
                <a:spLocks noChangeAspect="1"/>
              </p:cNvSpPr>
              <p:nvPr/>
            </p:nvSpPr>
            <p:spPr bwMode="auto">
              <a:xfrm>
                <a:off x="2259" y="219"/>
                <a:ext cx="111" cy="127"/>
              </a:xfrm>
              <a:custGeom>
                <a:avLst/>
                <a:gdLst>
                  <a:gd name="T0" fmla="*/ 1 w 562"/>
                  <a:gd name="T1" fmla="*/ 0 h 641"/>
                  <a:gd name="T2" fmla="*/ 1 w 562"/>
                  <a:gd name="T3" fmla="*/ 0 h 641"/>
                  <a:gd name="T4" fmla="*/ 0 w 562"/>
                  <a:gd name="T5" fmla="*/ 0 h 641"/>
                  <a:gd name="T6" fmla="*/ 0 w 562"/>
                  <a:gd name="T7" fmla="*/ 0 h 641"/>
                  <a:gd name="T8" fmla="*/ 0 w 562"/>
                  <a:gd name="T9" fmla="*/ 0 h 641"/>
                  <a:gd name="T10" fmla="*/ 0 w 562"/>
                  <a:gd name="T11" fmla="*/ 1 h 641"/>
                  <a:gd name="T12" fmla="*/ 0 w 562"/>
                  <a:gd name="T13" fmla="*/ 1 h 641"/>
                  <a:gd name="T14" fmla="*/ 1 w 562"/>
                  <a:gd name="T15" fmla="*/ 1 h 641"/>
                  <a:gd name="T16" fmla="*/ 1 w 562"/>
                  <a:gd name="T17" fmla="*/ 1 h 641"/>
                  <a:gd name="T18" fmla="*/ 1 w 562"/>
                  <a:gd name="T19" fmla="*/ 1 h 641"/>
                  <a:gd name="T20" fmla="*/ 1 w 562"/>
                  <a:gd name="T21" fmla="*/ 1 h 64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62"/>
                  <a:gd name="T34" fmla="*/ 0 h 641"/>
                  <a:gd name="T35" fmla="*/ 562 w 562"/>
                  <a:gd name="T36" fmla="*/ 641 h 64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62" h="641">
                    <a:moveTo>
                      <a:pt x="550" y="166"/>
                    </a:moveTo>
                    <a:cubicBezTo>
                      <a:pt x="538" y="147"/>
                      <a:pt x="519" y="79"/>
                      <a:pt x="478" y="52"/>
                    </a:cubicBezTo>
                    <a:cubicBezTo>
                      <a:pt x="437" y="25"/>
                      <a:pt x="367" y="0"/>
                      <a:pt x="304" y="4"/>
                    </a:cubicBezTo>
                    <a:cubicBezTo>
                      <a:pt x="241" y="8"/>
                      <a:pt x="149" y="28"/>
                      <a:pt x="100" y="76"/>
                    </a:cubicBezTo>
                    <a:cubicBezTo>
                      <a:pt x="51" y="124"/>
                      <a:pt x="20" y="222"/>
                      <a:pt x="10" y="292"/>
                    </a:cubicBezTo>
                    <a:cubicBezTo>
                      <a:pt x="0" y="362"/>
                      <a:pt x="10" y="442"/>
                      <a:pt x="40" y="496"/>
                    </a:cubicBezTo>
                    <a:cubicBezTo>
                      <a:pt x="70" y="550"/>
                      <a:pt x="126" y="594"/>
                      <a:pt x="190" y="616"/>
                    </a:cubicBezTo>
                    <a:cubicBezTo>
                      <a:pt x="254" y="638"/>
                      <a:pt x="362" y="641"/>
                      <a:pt x="424" y="628"/>
                    </a:cubicBezTo>
                    <a:cubicBezTo>
                      <a:pt x="486" y="615"/>
                      <a:pt x="540" y="584"/>
                      <a:pt x="562" y="538"/>
                    </a:cubicBezTo>
                    <a:lnTo>
                      <a:pt x="556" y="352"/>
                    </a:lnTo>
                    <a:lnTo>
                      <a:pt x="322" y="352"/>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7183" name="Group 223"/>
              <p:cNvGrpSpPr>
                <a:grpSpLocks noChangeAspect="1"/>
              </p:cNvGrpSpPr>
              <p:nvPr/>
            </p:nvGrpSpPr>
            <p:grpSpPr bwMode="auto">
              <a:xfrm>
                <a:off x="2407" y="219"/>
                <a:ext cx="87" cy="127"/>
                <a:chOff x="3017" y="1343"/>
                <a:chExt cx="420" cy="612"/>
              </a:xfrm>
            </p:grpSpPr>
            <p:sp>
              <p:nvSpPr>
                <p:cNvPr id="147185" name="Freeform 224"/>
                <p:cNvSpPr>
                  <a:spLocks noChangeAspect="1"/>
                </p:cNvSpPr>
                <p:nvPr/>
              </p:nvSpPr>
              <p:spPr bwMode="auto">
                <a:xfrm>
                  <a:off x="3017" y="1343"/>
                  <a:ext cx="420" cy="612"/>
                </a:xfrm>
                <a:custGeom>
                  <a:avLst/>
                  <a:gdLst>
                    <a:gd name="T0" fmla="*/ 420 w 420"/>
                    <a:gd name="T1" fmla="*/ 606 h 612"/>
                    <a:gd name="T2" fmla="*/ 0 w 420"/>
                    <a:gd name="T3" fmla="*/ 612 h 612"/>
                    <a:gd name="T4" fmla="*/ 6 w 420"/>
                    <a:gd name="T5" fmla="*/ 0 h 612"/>
                    <a:gd name="T6" fmla="*/ 402 w 420"/>
                    <a:gd name="T7" fmla="*/ 0 h 612"/>
                    <a:gd name="T8" fmla="*/ 0 60000 65536"/>
                    <a:gd name="T9" fmla="*/ 0 60000 65536"/>
                    <a:gd name="T10" fmla="*/ 0 60000 65536"/>
                    <a:gd name="T11" fmla="*/ 0 60000 65536"/>
                    <a:gd name="T12" fmla="*/ 0 w 420"/>
                    <a:gd name="T13" fmla="*/ 0 h 612"/>
                    <a:gd name="T14" fmla="*/ 420 w 420"/>
                    <a:gd name="T15" fmla="*/ 612 h 612"/>
                  </a:gdLst>
                  <a:ahLst/>
                  <a:cxnLst>
                    <a:cxn ang="T8">
                      <a:pos x="T0" y="T1"/>
                    </a:cxn>
                    <a:cxn ang="T9">
                      <a:pos x="T2" y="T3"/>
                    </a:cxn>
                    <a:cxn ang="T10">
                      <a:pos x="T4" y="T5"/>
                    </a:cxn>
                    <a:cxn ang="T11">
                      <a:pos x="T6" y="T7"/>
                    </a:cxn>
                  </a:cxnLst>
                  <a:rect l="T12" t="T13" r="T14" b="T15"/>
                  <a:pathLst>
                    <a:path w="420" h="612">
                      <a:moveTo>
                        <a:pt x="420" y="606"/>
                      </a:moveTo>
                      <a:lnTo>
                        <a:pt x="0" y="612"/>
                      </a:lnTo>
                      <a:lnTo>
                        <a:pt x="6" y="0"/>
                      </a:lnTo>
                      <a:lnTo>
                        <a:pt x="402" y="0"/>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186" name="Line 225"/>
                <p:cNvSpPr>
                  <a:spLocks noChangeAspect="1" noChangeShapeType="1"/>
                </p:cNvSpPr>
                <p:nvPr/>
              </p:nvSpPr>
              <p:spPr bwMode="auto">
                <a:xfrm>
                  <a:off x="3017" y="1637"/>
                  <a:ext cx="37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47184" name="Freeform 226"/>
              <p:cNvSpPr>
                <a:spLocks noChangeAspect="1"/>
              </p:cNvSpPr>
              <p:nvPr/>
            </p:nvSpPr>
            <p:spPr bwMode="auto">
              <a:xfrm>
                <a:off x="2534" y="212"/>
                <a:ext cx="86" cy="134"/>
              </a:xfrm>
              <a:custGeom>
                <a:avLst/>
                <a:gdLst>
                  <a:gd name="T0" fmla="*/ 0 w 420"/>
                  <a:gd name="T1" fmla="*/ 0 h 654"/>
                  <a:gd name="T2" fmla="*/ 0 w 420"/>
                  <a:gd name="T3" fmla="*/ 1 h 654"/>
                  <a:gd name="T4" fmla="*/ 1 w 420"/>
                  <a:gd name="T5" fmla="*/ 1 h 654"/>
                  <a:gd name="T6" fmla="*/ 0 60000 65536"/>
                  <a:gd name="T7" fmla="*/ 0 60000 65536"/>
                  <a:gd name="T8" fmla="*/ 0 60000 65536"/>
                  <a:gd name="T9" fmla="*/ 0 w 420"/>
                  <a:gd name="T10" fmla="*/ 0 h 654"/>
                  <a:gd name="T11" fmla="*/ 420 w 420"/>
                  <a:gd name="T12" fmla="*/ 654 h 654"/>
                </a:gdLst>
                <a:ahLst/>
                <a:cxnLst>
                  <a:cxn ang="T6">
                    <a:pos x="T0" y="T1"/>
                  </a:cxn>
                  <a:cxn ang="T7">
                    <a:pos x="T2" y="T3"/>
                  </a:cxn>
                  <a:cxn ang="T8">
                    <a:pos x="T4" y="T5"/>
                  </a:cxn>
                </a:cxnLst>
                <a:rect l="T9" t="T10" r="T11" b="T12"/>
                <a:pathLst>
                  <a:path w="420" h="654">
                    <a:moveTo>
                      <a:pt x="0" y="0"/>
                    </a:moveTo>
                    <a:lnTo>
                      <a:pt x="0" y="654"/>
                    </a:lnTo>
                    <a:lnTo>
                      <a:pt x="420" y="654"/>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grpSp>
        <p:nvGrpSpPr>
          <p:cNvPr id="146437" name="Group 227"/>
          <p:cNvGrpSpPr>
            <a:grpSpLocks noChangeAspect="1"/>
          </p:cNvGrpSpPr>
          <p:nvPr/>
        </p:nvGrpSpPr>
        <p:grpSpPr bwMode="auto">
          <a:xfrm>
            <a:off x="838200" y="1427163"/>
            <a:ext cx="209550" cy="901700"/>
            <a:chOff x="3500" y="1992"/>
            <a:chExt cx="173" cy="745"/>
          </a:xfrm>
        </p:grpSpPr>
        <p:sp>
          <p:nvSpPr>
            <p:cNvPr id="147153" name="Rectangle 228"/>
            <p:cNvSpPr>
              <a:spLocks noChangeAspect="1" noChangeArrowheads="1"/>
            </p:cNvSpPr>
            <p:nvPr/>
          </p:nvSpPr>
          <p:spPr bwMode="auto">
            <a:xfrm>
              <a:off x="3572" y="2183"/>
              <a:ext cx="35" cy="128"/>
            </a:xfrm>
            <a:prstGeom prst="rect">
              <a:avLst/>
            </a:prstGeom>
            <a:solidFill>
              <a:schemeClr val="bg2"/>
            </a:solidFill>
            <a:ln w="12700">
              <a:solidFill>
                <a:srgbClr val="4D4D4D"/>
              </a:solidFill>
              <a:miter lim="800000"/>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154" name="Freeform 229"/>
            <p:cNvSpPr>
              <a:spLocks noChangeAspect="1"/>
            </p:cNvSpPr>
            <p:nvPr/>
          </p:nvSpPr>
          <p:spPr bwMode="auto">
            <a:xfrm>
              <a:off x="3509" y="1992"/>
              <a:ext cx="164" cy="215"/>
            </a:xfrm>
            <a:custGeom>
              <a:avLst/>
              <a:gdLst>
                <a:gd name="T0" fmla="*/ 1 w 661"/>
                <a:gd name="T1" fmla="*/ 3 h 869"/>
                <a:gd name="T2" fmla="*/ 0 w 661"/>
                <a:gd name="T3" fmla="*/ 2 h 869"/>
                <a:gd name="T4" fmla="*/ 0 w 661"/>
                <a:gd name="T5" fmla="*/ 1 h 869"/>
                <a:gd name="T6" fmla="*/ 1 w 661"/>
                <a:gd name="T7" fmla="*/ 0 h 869"/>
                <a:gd name="T8" fmla="*/ 2 w 661"/>
                <a:gd name="T9" fmla="*/ 0 h 869"/>
                <a:gd name="T10" fmla="*/ 2 w 661"/>
                <a:gd name="T11" fmla="*/ 1 h 869"/>
                <a:gd name="T12" fmla="*/ 2 w 661"/>
                <a:gd name="T13" fmla="*/ 2 h 869"/>
                <a:gd name="T14" fmla="*/ 2 w 661"/>
                <a:gd name="T15" fmla="*/ 3 h 869"/>
                <a:gd name="T16" fmla="*/ 1 w 661"/>
                <a:gd name="T17" fmla="*/ 3 h 86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61"/>
                <a:gd name="T28" fmla="*/ 0 h 869"/>
                <a:gd name="T29" fmla="*/ 661 w 661"/>
                <a:gd name="T30" fmla="*/ 869 h 86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61" h="869">
                  <a:moveTo>
                    <a:pt x="173" y="847"/>
                  </a:moveTo>
                  <a:cubicBezTo>
                    <a:pt x="98" y="820"/>
                    <a:pt x="46" y="777"/>
                    <a:pt x="23" y="679"/>
                  </a:cubicBezTo>
                  <a:cubicBezTo>
                    <a:pt x="0" y="581"/>
                    <a:pt x="4" y="365"/>
                    <a:pt x="35" y="259"/>
                  </a:cubicBezTo>
                  <a:cubicBezTo>
                    <a:pt x="66" y="153"/>
                    <a:pt x="138" y="78"/>
                    <a:pt x="209" y="41"/>
                  </a:cubicBezTo>
                  <a:cubicBezTo>
                    <a:pt x="280" y="4"/>
                    <a:pt x="391" y="0"/>
                    <a:pt x="461" y="37"/>
                  </a:cubicBezTo>
                  <a:cubicBezTo>
                    <a:pt x="531" y="74"/>
                    <a:pt x="600" y="158"/>
                    <a:pt x="629" y="265"/>
                  </a:cubicBezTo>
                  <a:cubicBezTo>
                    <a:pt x="658" y="372"/>
                    <a:pt x="661" y="583"/>
                    <a:pt x="635" y="679"/>
                  </a:cubicBezTo>
                  <a:cubicBezTo>
                    <a:pt x="609" y="775"/>
                    <a:pt x="550" y="813"/>
                    <a:pt x="473" y="841"/>
                  </a:cubicBezTo>
                  <a:cubicBezTo>
                    <a:pt x="396" y="869"/>
                    <a:pt x="235" y="846"/>
                    <a:pt x="173" y="847"/>
                  </a:cubicBezTo>
                  <a:close/>
                </a:path>
              </a:pathLst>
            </a:custGeom>
            <a:solidFill>
              <a:srgbClr val="C0C0C0"/>
            </a:solidFill>
            <a:ln w="12700">
              <a:solidFill>
                <a:schemeClr val="bg2"/>
              </a:solidFill>
              <a:round/>
            </a:ln>
          </p:spPr>
          <p:txBody>
            <a:bodyPr/>
            <a:lstStyle/>
            <a:p>
              <a:endParaRPr lang="zh-CN" altLang="en-US"/>
            </a:p>
          </p:txBody>
        </p:sp>
        <p:sp>
          <p:nvSpPr>
            <p:cNvPr id="147155" name="Oval 230"/>
            <p:cNvSpPr>
              <a:spLocks noChangeAspect="1" noChangeArrowheads="1"/>
            </p:cNvSpPr>
            <p:nvPr/>
          </p:nvSpPr>
          <p:spPr bwMode="auto">
            <a:xfrm>
              <a:off x="3501" y="2248"/>
              <a:ext cx="168" cy="24"/>
            </a:xfrm>
            <a:prstGeom prst="ellipse">
              <a:avLst/>
            </a:prstGeom>
            <a:solidFill>
              <a:schemeClr val="bg1"/>
            </a:solidFill>
            <a:ln w="3175">
              <a:solidFill>
                <a:schemeClr val="tx1"/>
              </a:solidFill>
              <a:rou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156" name="Freeform 231"/>
            <p:cNvSpPr>
              <a:spLocks noChangeAspect="1"/>
            </p:cNvSpPr>
            <p:nvPr/>
          </p:nvSpPr>
          <p:spPr bwMode="auto">
            <a:xfrm>
              <a:off x="3515" y="2256"/>
              <a:ext cx="141" cy="481"/>
            </a:xfrm>
            <a:custGeom>
              <a:avLst/>
              <a:gdLst>
                <a:gd name="T0" fmla="*/ 0 w 570"/>
                <a:gd name="T1" fmla="*/ 0 h 1941"/>
                <a:gd name="T2" fmla="*/ 0 w 570"/>
                <a:gd name="T3" fmla="*/ 4 h 1941"/>
                <a:gd name="T4" fmla="*/ 1 w 570"/>
                <a:gd name="T5" fmla="*/ 7 h 1941"/>
                <a:gd name="T6" fmla="*/ 1 w 570"/>
                <a:gd name="T7" fmla="*/ 7 h 1941"/>
                <a:gd name="T8" fmla="*/ 2 w 570"/>
                <a:gd name="T9" fmla="*/ 4 h 1941"/>
                <a:gd name="T10" fmla="*/ 2 w 570"/>
                <a:gd name="T11" fmla="*/ 0 h 1941"/>
                <a:gd name="T12" fmla="*/ 0 w 570"/>
                <a:gd name="T13" fmla="*/ 0 h 1941"/>
                <a:gd name="T14" fmla="*/ 0 60000 65536"/>
                <a:gd name="T15" fmla="*/ 0 60000 65536"/>
                <a:gd name="T16" fmla="*/ 0 60000 65536"/>
                <a:gd name="T17" fmla="*/ 0 60000 65536"/>
                <a:gd name="T18" fmla="*/ 0 60000 65536"/>
                <a:gd name="T19" fmla="*/ 0 60000 65536"/>
                <a:gd name="T20" fmla="*/ 0 60000 65536"/>
                <a:gd name="T21" fmla="*/ 0 w 570"/>
                <a:gd name="T22" fmla="*/ 0 h 1941"/>
                <a:gd name="T23" fmla="*/ 570 w 570"/>
                <a:gd name="T24" fmla="*/ 1941 h 19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0" h="1941">
                  <a:moveTo>
                    <a:pt x="0" y="0"/>
                  </a:moveTo>
                  <a:lnTo>
                    <a:pt x="0" y="1135"/>
                  </a:lnTo>
                  <a:lnTo>
                    <a:pt x="222" y="1825"/>
                  </a:lnTo>
                  <a:cubicBezTo>
                    <a:pt x="281" y="1940"/>
                    <a:pt x="295" y="1941"/>
                    <a:pt x="353" y="1825"/>
                  </a:cubicBezTo>
                  <a:lnTo>
                    <a:pt x="570" y="1129"/>
                  </a:lnTo>
                  <a:lnTo>
                    <a:pt x="570" y="11"/>
                  </a:lnTo>
                  <a:lnTo>
                    <a:pt x="0" y="0"/>
                  </a:lnTo>
                  <a:close/>
                </a:path>
              </a:pathLst>
            </a:custGeom>
            <a:gradFill rotWithShape="1">
              <a:gsLst>
                <a:gs pos="0">
                  <a:srgbClr val="C0C0C0"/>
                </a:gs>
                <a:gs pos="50000">
                  <a:srgbClr val="FFFFFF"/>
                </a:gs>
                <a:gs pos="100000">
                  <a:srgbClr val="C0C0C0"/>
                </a:gs>
              </a:gsLst>
              <a:lin ang="0" scaled="1"/>
            </a:gradFill>
            <a:ln w="9525">
              <a:solidFill>
                <a:schemeClr val="bg2"/>
              </a:solidFill>
              <a:round/>
            </a:ln>
          </p:spPr>
          <p:txBody>
            <a:bodyPr/>
            <a:lstStyle/>
            <a:p>
              <a:endParaRPr lang="zh-CN" altLang="en-US"/>
            </a:p>
          </p:txBody>
        </p:sp>
        <p:sp>
          <p:nvSpPr>
            <p:cNvPr id="147157" name="Oval 232"/>
            <p:cNvSpPr>
              <a:spLocks noChangeAspect="1" noChangeArrowheads="1"/>
            </p:cNvSpPr>
            <p:nvPr/>
          </p:nvSpPr>
          <p:spPr bwMode="auto">
            <a:xfrm>
              <a:off x="3514" y="2249"/>
              <a:ext cx="143" cy="16"/>
            </a:xfrm>
            <a:prstGeom prst="ellipse">
              <a:avLst/>
            </a:prstGeom>
            <a:gradFill rotWithShape="1">
              <a:gsLst>
                <a:gs pos="0">
                  <a:schemeClr val="bg1"/>
                </a:gs>
                <a:gs pos="100000">
                  <a:schemeClr val="bg2"/>
                </a:gs>
              </a:gsLst>
              <a:lin ang="5400000" scaled="1"/>
            </a:gradFill>
            <a:ln w="9525">
              <a:solidFill>
                <a:schemeClr val="bg2"/>
              </a:solidFill>
              <a:rou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158" name="Freeform 233"/>
            <p:cNvSpPr>
              <a:spLocks noChangeAspect="1"/>
            </p:cNvSpPr>
            <p:nvPr/>
          </p:nvSpPr>
          <p:spPr bwMode="auto">
            <a:xfrm>
              <a:off x="3500" y="2260"/>
              <a:ext cx="170" cy="23"/>
            </a:xfrm>
            <a:custGeom>
              <a:avLst/>
              <a:gdLst>
                <a:gd name="T0" fmla="*/ 0 w 685"/>
                <a:gd name="T1" fmla="*/ 0 h 93"/>
                <a:gd name="T2" fmla="*/ 0 w 685"/>
                <a:gd name="T3" fmla="*/ 0 h 93"/>
                <a:gd name="T4" fmla="*/ 0 w 685"/>
                <a:gd name="T5" fmla="*/ 0 h 93"/>
                <a:gd name="T6" fmla="*/ 1 w 685"/>
                <a:gd name="T7" fmla="*/ 0 h 93"/>
                <a:gd name="T8" fmla="*/ 2 w 685"/>
                <a:gd name="T9" fmla="*/ 0 h 93"/>
                <a:gd name="T10" fmla="*/ 2 w 685"/>
                <a:gd name="T11" fmla="*/ 0 h 93"/>
                <a:gd name="T12" fmla="*/ 2 w 685"/>
                <a:gd name="T13" fmla="*/ 0 h 93"/>
                <a:gd name="T14" fmla="*/ 2 w 685"/>
                <a:gd name="T15" fmla="*/ 0 h 93"/>
                <a:gd name="T16" fmla="*/ 2 w 685"/>
                <a:gd name="T17" fmla="*/ 0 h 93"/>
                <a:gd name="T18" fmla="*/ 1 w 685"/>
                <a:gd name="T19" fmla="*/ 0 h 93"/>
                <a:gd name="T20" fmla="*/ 1 w 685"/>
                <a:gd name="T21" fmla="*/ 0 h 93"/>
                <a:gd name="T22" fmla="*/ 0 w 685"/>
                <a:gd name="T23" fmla="*/ 0 h 93"/>
                <a:gd name="T24" fmla="*/ 0 w 685"/>
                <a:gd name="T25" fmla="*/ 0 h 9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85"/>
                <a:gd name="T40" fmla="*/ 0 h 93"/>
                <a:gd name="T41" fmla="*/ 685 w 685"/>
                <a:gd name="T42" fmla="*/ 93 h 9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85" h="93">
                  <a:moveTo>
                    <a:pt x="1" y="6"/>
                  </a:moveTo>
                  <a:lnTo>
                    <a:pt x="3" y="50"/>
                  </a:lnTo>
                  <a:cubicBezTo>
                    <a:pt x="26" y="63"/>
                    <a:pt x="77" y="77"/>
                    <a:pt x="139" y="84"/>
                  </a:cubicBezTo>
                  <a:cubicBezTo>
                    <a:pt x="201" y="91"/>
                    <a:pt x="299" y="93"/>
                    <a:pt x="375" y="92"/>
                  </a:cubicBezTo>
                  <a:cubicBezTo>
                    <a:pt x="451" y="91"/>
                    <a:pt x="545" y="84"/>
                    <a:pt x="597" y="76"/>
                  </a:cubicBezTo>
                  <a:cubicBezTo>
                    <a:pt x="649" y="68"/>
                    <a:pt x="670" y="56"/>
                    <a:pt x="685" y="44"/>
                  </a:cubicBezTo>
                  <a:lnTo>
                    <a:pt x="685" y="4"/>
                  </a:lnTo>
                  <a:cubicBezTo>
                    <a:pt x="681" y="0"/>
                    <a:pt x="682" y="14"/>
                    <a:pt x="659" y="20"/>
                  </a:cubicBezTo>
                  <a:cubicBezTo>
                    <a:pt x="636" y="26"/>
                    <a:pt x="595" y="37"/>
                    <a:pt x="549" y="42"/>
                  </a:cubicBezTo>
                  <a:cubicBezTo>
                    <a:pt x="503" y="47"/>
                    <a:pt x="443" y="51"/>
                    <a:pt x="385" y="52"/>
                  </a:cubicBezTo>
                  <a:cubicBezTo>
                    <a:pt x="327" y="53"/>
                    <a:pt x="258" y="53"/>
                    <a:pt x="199" y="48"/>
                  </a:cubicBezTo>
                  <a:cubicBezTo>
                    <a:pt x="140" y="43"/>
                    <a:pt x="66" y="31"/>
                    <a:pt x="33" y="24"/>
                  </a:cubicBezTo>
                  <a:cubicBezTo>
                    <a:pt x="0" y="17"/>
                    <a:pt x="8" y="10"/>
                    <a:pt x="1" y="6"/>
                  </a:cubicBezTo>
                  <a:close/>
                </a:path>
              </a:pathLst>
            </a:custGeom>
            <a:solidFill>
              <a:schemeClr val="bg1"/>
            </a:solidFill>
            <a:ln w="3175">
              <a:solidFill>
                <a:schemeClr val="tx1"/>
              </a:solidFill>
              <a:round/>
            </a:ln>
          </p:spPr>
          <p:txBody>
            <a:bodyPr/>
            <a:lstStyle/>
            <a:p>
              <a:endParaRPr lang="zh-CN" altLang="en-US"/>
            </a:p>
          </p:txBody>
        </p:sp>
        <p:sp>
          <p:nvSpPr>
            <p:cNvPr id="147159" name="Oval 234"/>
            <p:cNvSpPr>
              <a:spLocks noChangeAspect="1" noChangeArrowheads="1"/>
            </p:cNvSpPr>
            <p:nvPr/>
          </p:nvSpPr>
          <p:spPr bwMode="auto">
            <a:xfrm>
              <a:off x="3526" y="2042"/>
              <a:ext cx="130" cy="117"/>
            </a:xfrm>
            <a:prstGeom prst="ellipse">
              <a:avLst/>
            </a:prstGeom>
            <a:solidFill>
              <a:schemeClr val="bg1"/>
            </a:solidFill>
            <a:ln w="28575">
              <a:solidFill>
                <a:schemeClr val="bg2"/>
              </a:solidFill>
              <a:rou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sp>
        <p:nvSpPr>
          <p:cNvPr id="146438" name="Freeform 235"/>
          <p:cNvSpPr/>
          <p:nvPr/>
        </p:nvSpPr>
        <p:spPr bwMode="auto">
          <a:xfrm>
            <a:off x="1143000" y="1781175"/>
            <a:ext cx="1666875" cy="581025"/>
          </a:xfrm>
          <a:custGeom>
            <a:avLst/>
            <a:gdLst>
              <a:gd name="T0" fmla="*/ 0 w 1050"/>
              <a:gd name="T1" fmla="*/ 2147483646 h 366"/>
              <a:gd name="T2" fmla="*/ 2147483646 w 1050"/>
              <a:gd name="T3" fmla="*/ 2147483646 h 366"/>
              <a:gd name="T4" fmla="*/ 2147483646 w 1050"/>
              <a:gd name="T5" fmla="*/ 2147483646 h 366"/>
              <a:gd name="T6" fmla="*/ 0 60000 65536"/>
              <a:gd name="T7" fmla="*/ 0 60000 65536"/>
              <a:gd name="T8" fmla="*/ 0 60000 65536"/>
              <a:gd name="T9" fmla="*/ 0 w 1050"/>
              <a:gd name="T10" fmla="*/ 0 h 366"/>
              <a:gd name="T11" fmla="*/ 1050 w 1050"/>
              <a:gd name="T12" fmla="*/ 366 h 366"/>
            </a:gdLst>
            <a:ahLst/>
            <a:cxnLst>
              <a:cxn ang="T6">
                <a:pos x="T0" y="T1"/>
              </a:cxn>
              <a:cxn ang="T7">
                <a:pos x="T2" y="T3"/>
              </a:cxn>
              <a:cxn ang="T8">
                <a:pos x="T4" y="T5"/>
              </a:cxn>
            </a:cxnLst>
            <a:rect l="T9" t="T10" r="T11" b="T12"/>
            <a:pathLst>
              <a:path w="1050" h="366">
                <a:moveTo>
                  <a:pt x="0" y="6"/>
                </a:moveTo>
                <a:cubicBezTo>
                  <a:pt x="111" y="14"/>
                  <a:pt x="491" y="0"/>
                  <a:pt x="666" y="60"/>
                </a:cubicBezTo>
                <a:cubicBezTo>
                  <a:pt x="841" y="120"/>
                  <a:pt x="941" y="213"/>
                  <a:pt x="1050" y="366"/>
                </a:cubicBezTo>
              </a:path>
            </a:pathLst>
          </a:custGeom>
          <a:noFill/>
          <a:ln w="28575">
            <a:solidFill>
              <a:srgbClr val="FF0000"/>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46439" name="Freeform 236"/>
          <p:cNvSpPr/>
          <p:nvPr/>
        </p:nvSpPr>
        <p:spPr bwMode="auto">
          <a:xfrm>
            <a:off x="4181475" y="1538288"/>
            <a:ext cx="2085975" cy="795337"/>
          </a:xfrm>
          <a:custGeom>
            <a:avLst/>
            <a:gdLst>
              <a:gd name="T0" fmla="*/ 0 w 1314"/>
              <a:gd name="T1" fmla="*/ 2147483646 h 501"/>
              <a:gd name="T2" fmla="*/ 2147483646 w 1314"/>
              <a:gd name="T3" fmla="*/ 2147483646 h 501"/>
              <a:gd name="T4" fmla="*/ 2147483646 w 1314"/>
              <a:gd name="T5" fmla="*/ 2147483646 h 501"/>
              <a:gd name="T6" fmla="*/ 0 60000 65536"/>
              <a:gd name="T7" fmla="*/ 0 60000 65536"/>
              <a:gd name="T8" fmla="*/ 0 60000 65536"/>
              <a:gd name="T9" fmla="*/ 0 w 1314"/>
              <a:gd name="T10" fmla="*/ 0 h 501"/>
              <a:gd name="T11" fmla="*/ 1314 w 1314"/>
              <a:gd name="T12" fmla="*/ 501 h 501"/>
            </a:gdLst>
            <a:ahLst/>
            <a:cxnLst>
              <a:cxn ang="T6">
                <a:pos x="T0" y="T1"/>
              </a:cxn>
              <a:cxn ang="T7">
                <a:pos x="T2" y="T3"/>
              </a:cxn>
              <a:cxn ang="T8">
                <a:pos x="T4" y="T5"/>
              </a:cxn>
            </a:cxnLst>
            <a:rect l="T9" t="T10" r="T11" b="T12"/>
            <a:pathLst>
              <a:path w="1314" h="501">
                <a:moveTo>
                  <a:pt x="0" y="501"/>
                </a:moveTo>
                <a:cubicBezTo>
                  <a:pt x="265" y="301"/>
                  <a:pt x="531" y="102"/>
                  <a:pt x="750" y="51"/>
                </a:cubicBezTo>
                <a:cubicBezTo>
                  <a:pt x="969" y="0"/>
                  <a:pt x="1141" y="97"/>
                  <a:pt x="1314" y="195"/>
                </a:cubicBezTo>
              </a:path>
            </a:pathLst>
          </a:custGeom>
          <a:noFill/>
          <a:ln w="28575">
            <a:solidFill>
              <a:srgbClr val="FF0000"/>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46440" name="Text Box 237"/>
          <p:cNvSpPr txBox="1">
            <a:spLocks noChangeArrowheads="1"/>
          </p:cNvSpPr>
          <p:nvPr/>
        </p:nvSpPr>
        <p:spPr bwMode="auto">
          <a:xfrm>
            <a:off x="384175" y="763588"/>
            <a:ext cx="267652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sz="1400" b="1">
                <a:solidFill>
                  <a:srgbClr val="009900"/>
                </a:solidFill>
                <a:latin typeface="Arial" panose="020B0604020202020204" pitchFamily="34" charset="0"/>
              </a:rPr>
              <a:t>1. Digest DNA with restriction</a:t>
            </a:r>
            <a:br>
              <a:rPr kumimoji="0" lang="en-US" altLang="zh-CN" sz="1400" b="1">
                <a:solidFill>
                  <a:srgbClr val="009900"/>
                </a:solidFill>
                <a:latin typeface="Arial" panose="020B0604020202020204" pitchFamily="34" charset="0"/>
              </a:rPr>
            </a:br>
            <a:r>
              <a:rPr kumimoji="0" lang="en-US" altLang="zh-CN" sz="1400" b="1">
                <a:solidFill>
                  <a:srgbClr val="009900"/>
                </a:solidFill>
                <a:latin typeface="Arial" panose="020B0604020202020204" pitchFamily="34" charset="0"/>
              </a:rPr>
              <a:t>    enzymes</a:t>
            </a:r>
          </a:p>
        </p:txBody>
      </p:sp>
      <p:sp>
        <p:nvSpPr>
          <p:cNvPr id="146441" name="Text Box 238"/>
          <p:cNvSpPr txBox="1">
            <a:spLocks noChangeArrowheads="1"/>
          </p:cNvSpPr>
          <p:nvPr/>
        </p:nvSpPr>
        <p:spPr bwMode="auto">
          <a:xfrm>
            <a:off x="2679700" y="1363663"/>
            <a:ext cx="2036763"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sz="1400" b="1">
                <a:solidFill>
                  <a:srgbClr val="009900"/>
                </a:solidFill>
                <a:latin typeface="Arial" panose="020B0604020202020204" pitchFamily="34" charset="0"/>
              </a:rPr>
              <a:t>2. Separate fragments</a:t>
            </a:r>
            <a:br>
              <a:rPr kumimoji="0" lang="en-US" altLang="zh-CN" sz="1400" b="1">
                <a:solidFill>
                  <a:srgbClr val="009900"/>
                </a:solidFill>
                <a:latin typeface="Arial" panose="020B0604020202020204" pitchFamily="34" charset="0"/>
              </a:rPr>
            </a:br>
            <a:r>
              <a:rPr kumimoji="0" lang="en-US" altLang="zh-CN" sz="1400" b="1">
                <a:solidFill>
                  <a:srgbClr val="009900"/>
                </a:solidFill>
                <a:latin typeface="Arial" panose="020B0604020202020204" pitchFamily="34" charset="0"/>
              </a:rPr>
              <a:t>    on agarose gel</a:t>
            </a:r>
          </a:p>
        </p:txBody>
      </p:sp>
      <p:sp>
        <p:nvSpPr>
          <p:cNvPr id="146442" name="Text Box 239"/>
          <p:cNvSpPr txBox="1">
            <a:spLocks noChangeArrowheads="1"/>
          </p:cNvSpPr>
          <p:nvPr/>
        </p:nvSpPr>
        <p:spPr bwMode="auto">
          <a:xfrm>
            <a:off x="6051550" y="763588"/>
            <a:ext cx="2716213"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sz="1400" b="1">
                <a:solidFill>
                  <a:srgbClr val="009900"/>
                </a:solidFill>
                <a:latin typeface="Arial" panose="020B0604020202020204" pitchFamily="34" charset="0"/>
              </a:rPr>
              <a:t>3a. Transfer separated DNA</a:t>
            </a:r>
            <a:br>
              <a:rPr kumimoji="0" lang="en-US" altLang="zh-CN" sz="1400" b="1">
                <a:solidFill>
                  <a:srgbClr val="009900"/>
                </a:solidFill>
                <a:latin typeface="Arial" panose="020B0604020202020204" pitchFamily="34" charset="0"/>
              </a:rPr>
            </a:br>
            <a:r>
              <a:rPr kumimoji="0" lang="en-US" altLang="zh-CN" sz="1400" b="1">
                <a:solidFill>
                  <a:srgbClr val="009900"/>
                </a:solidFill>
                <a:latin typeface="Arial" panose="020B0604020202020204" pitchFamily="34" charset="0"/>
              </a:rPr>
              <a:t>      onto membrane for further</a:t>
            </a:r>
            <a:br>
              <a:rPr kumimoji="0" lang="en-US" altLang="zh-CN" sz="1400" b="1">
                <a:solidFill>
                  <a:srgbClr val="009900"/>
                </a:solidFill>
                <a:latin typeface="Arial" panose="020B0604020202020204" pitchFamily="34" charset="0"/>
              </a:rPr>
            </a:br>
            <a:r>
              <a:rPr kumimoji="0" lang="en-US" altLang="zh-CN" sz="1400" b="1">
                <a:solidFill>
                  <a:srgbClr val="009900"/>
                </a:solidFill>
                <a:latin typeface="Arial" panose="020B0604020202020204" pitchFamily="34" charset="0"/>
              </a:rPr>
              <a:t>      analysis</a:t>
            </a:r>
          </a:p>
        </p:txBody>
      </p:sp>
      <p:grpSp>
        <p:nvGrpSpPr>
          <p:cNvPr id="146443" name="Group 240"/>
          <p:cNvGrpSpPr>
            <a:grpSpLocks noChangeAspect="1"/>
          </p:cNvGrpSpPr>
          <p:nvPr/>
        </p:nvGrpSpPr>
        <p:grpSpPr bwMode="auto">
          <a:xfrm>
            <a:off x="5910263" y="4270375"/>
            <a:ext cx="209550" cy="901700"/>
            <a:chOff x="3500" y="1992"/>
            <a:chExt cx="173" cy="745"/>
          </a:xfrm>
        </p:grpSpPr>
        <p:sp>
          <p:nvSpPr>
            <p:cNvPr id="147146" name="Rectangle 241"/>
            <p:cNvSpPr>
              <a:spLocks noChangeAspect="1" noChangeArrowheads="1"/>
            </p:cNvSpPr>
            <p:nvPr/>
          </p:nvSpPr>
          <p:spPr bwMode="auto">
            <a:xfrm>
              <a:off x="3572" y="2183"/>
              <a:ext cx="35" cy="128"/>
            </a:xfrm>
            <a:prstGeom prst="rect">
              <a:avLst/>
            </a:prstGeom>
            <a:solidFill>
              <a:schemeClr val="bg2"/>
            </a:solidFill>
            <a:ln w="12700">
              <a:solidFill>
                <a:srgbClr val="4D4D4D"/>
              </a:solidFill>
              <a:miter lim="800000"/>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147" name="Freeform 242"/>
            <p:cNvSpPr>
              <a:spLocks noChangeAspect="1"/>
            </p:cNvSpPr>
            <p:nvPr/>
          </p:nvSpPr>
          <p:spPr bwMode="auto">
            <a:xfrm>
              <a:off x="3509" y="1992"/>
              <a:ext cx="164" cy="215"/>
            </a:xfrm>
            <a:custGeom>
              <a:avLst/>
              <a:gdLst>
                <a:gd name="T0" fmla="*/ 1 w 661"/>
                <a:gd name="T1" fmla="*/ 3 h 869"/>
                <a:gd name="T2" fmla="*/ 0 w 661"/>
                <a:gd name="T3" fmla="*/ 2 h 869"/>
                <a:gd name="T4" fmla="*/ 0 w 661"/>
                <a:gd name="T5" fmla="*/ 1 h 869"/>
                <a:gd name="T6" fmla="*/ 1 w 661"/>
                <a:gd name="T7" fmla="*/ 0 h 869"/>
                <a:gd name="T8" fmla="*/ 2 w 661"/>
                <a:gd name="T9" fmla="*/ 0 h 869"/>
                <a:gd name="T10" fmla="*/ 2 w 661"/>
                <a:gd name="T11" fmla="*/ 1 h 869"/>
                <a:gd name="T12" fmla="*/ 2 w 661"/>
                <a:gd name="T13" fmla="*/ 2 h 869"/>
                <a:gd name="T14" fmla="*/ 2 w 661"/>
                <a:gd name="T15" fmla="*/ 3 h 869"/>
                <a:gd name="T16" fmla="*/ 1 w 661"/>
                <a:gd name="T17" fmla="*/ 3 h 86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61"/>
                <a:gd name="T28" fmla="*/ 0 h 869"/>
                <a:gd name="T29" fmla="*/ 661 w 661"/>
                <a:gd name="T30" fmla="*/ 869 h 86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61" h="869">
                  <a:moveTo>
                    <a:pt x="173" y="847"/>
                  </a:moveTo>
                  <a:cubicBezTo>
                    <a:pt x="98" y="820"/>
                    <a:pt x="46" y="777"/>
                    <a:pt x="23" y="679"/>
                  </a:cubicBezTo>
                  <a:cubicBezTo>
                    <a:pt x="0" y="581"/>
                    <a:pt x="4" y="365"/>
                    <a:pt x="35" y="259"/>
                  </a:cubicBezTo>
                  <a:cubicBezTo>
                    <a:pt x="66" y="153"/>
                    <a:pt x="138" y="78"/>
                    <a:pt x="209" y="41"/>
                  </a:cubicBezTo>
                  <a:cubicBezTo>
                    <a:pt x="280" y="4"/>
                    <a:pt x="391" y="0"/>
                    <a:pt x="461" y="37"/>
                  </a:cubicBezTo>
                  <a:cubicBezTo>
                    <a:pt x="531" y="74"/>
                    <a:pt x="600" y="158"/>
                    <a:pt x="629" y="265"/>
                  </a:cubicBezTo>
                  <a:cubicBezTo>
                    <a:pt x="658" y="372"/>
                    <a:pt x="661" y="583"/>
                    <a:pt x="635" y="679"/>
                  </a:cubicBezTo>
                  <a:cubicBezTo>
                    <a:pt x="609" y="775"/>
                    <a:pt x="550" y="813"/>
                    <a:pt x="473" y="841"/>
                  </a:cubicBezTo>
                  <a:cubicBezTo>
                    <a:pt x="396" y="869"/>
                    <a:pt x="235" y="846"/>
                    <a:pt x="173" y="847"/>
                  </a:cubicBezTo>
                  <a:close/>
                </a:path>
              </a:pathLst>
            </a:custGeom>
            <a:solidFill>
              <a:srgbClr val="C0C0C0"/>
            </a:solidFill>
            <a:ln w="12700">
              <a:solidFill>
                <a:schemeClr val="bg2"/>
              </a:solidFill>
              <a:round/>
            </a:ln>
          </p:spPr>
          <p:txBody>
            <a:bodyPr/>
            <a:lstStyle/>
            <a:p>
              <a:endParaRPr lang="zh-CN" altLang="en-US"/>
            </a:p>
          </p:txBody>
        </p:sp>
        <p:sp>
          <p:nvSpPr>
            <p:cNvPr id="147148" name="Oval 243"/>
            <p:cNvSpPr>
              <a:spLocks noChangeAspect="1" noChangeArrowheads="1"/>
            </p:cNvSpPr>
            <p:nvPr/>
          </p:nvSpPr>
          <p:spPr bwMode="auto">
            <a:xfrm>
              <a:off x="3501" y="2248"/>
              <a:ext cx="168" cy="24"/>
            </a:xfrm>
            <a:prstGeom prst="ellipse">
              <a:avLst/>
            </a:prstGeom>
            <a:solidFill>
              <a:schemeClr val="bg1"/>
            </a:solidFill>
            <a:ln w="3175">
              <a:solidFill>
                <a:schemeClr val="tx1"/>
              </a:solidFill>
              <a:rou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149" name="Freeform 244"/>
            <p:cNvSpPr>
              <a:spLocks noChangeAspect="1"/>
            </p:cNvSpPr>
            <p:nvPr/>
          </p:nvSpPr>
          <p:spPr bwMode="auto">
            <a:xfrm>
              <a:off x="3515" y="2256"/>
              <a:ext cx="141" cy="481"/>
            </a:xfrm>
            <a:custGeom>
              <a:avLst/>
              <a:gdLst>
                <a:gd name="T0" fmla="*/ 0 w 570"/>
                <a:gd name="T1" fmla="*/ 0 h 1941"/>
                <a:gd name="T2" fmla="*/ 0 w 570"/>
                <a:gd name="T3" fmla="*/ 4 h 1941"/>
                <a:gd name="T4" fmla="*/ 1 w 570"/>
                <a:gd name="T5" fmla="*/ 7 h 1941"/>
                <a:gd name="T6" fmla="*/ 1 w 570"/>
                <a:gd name="T7" fmla="*/ 7 h 1941"/>
                <a:gd name="T8" fmla="*/ 2 w 570"/>
                <a:gd name="T9" fmla="*/ 4 h 1941"/>
                <a:gd name="T10" fmla="*/ 2 w 570"/>
                <a:gd name="T11" fmla="*/ 0 h 1941"/>
                <a:gd name="T12" fmla="*/ 0 w 570"/>
                <a:gd name="T13" fmla="*/ 0 h 1941"/>
                <a:gd name="T14" fmla="*/ 0 60000 65536"/>
                <a:gd name="T15" fmla="*/ 0 60000 65536"/>
                <a:gd name="T16" fmla="*/ 0 60000 65536"/>
                <a:gd name="T17" fmla="*/ 0 60000 65536"/>
                <a:gd name="T18" fmla="*/ 0 60000 65536"/>
                <a:gd name="T19" fmla="*/ 0 60000 65536"/>
                <a:gd name="T20" fmla="*/ 0 60000 65536"/>
                <a:gd name="T21" fmla="*/ 0 w 570"/>
                <a:gd name="T22" fmla="*/ 0 h 1941"/>
                <a:gd name="T23" fmla="*/ 570 w 570"/>
                <a:gd name="T24" fmla="*/ 1941 h 19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0" h="1941">
                  <a:moveTo>
                    <a:pt x="0" y="0"/>
                  </a:moveTo>
                  <a:lnTo>
                    <a:pt x="0" y="1135"/>
                  </a:lnTo>
                  <a:lnTo>
                    <a:pt x="222" y="1825"/>
                  </a:lnTo>
                  <a:cubicBezTo>
                    <a:pt x="281" y="1940"/>
                    <a:pt x="295" y="1941"/>
                    <a:pt x="353" y="1825"/>
                  </a:cubicBezTo>
                  <a:lnTo>
                    <a:pt x="570" y="1129"/>
                  </a:lnTo>
                  <a:lnTo>
                    <a:pt x="570" y="11"/>
                  </a:lnTo>
                  <a:lnTo>
                    <a:pt x="0" y="0"/>
                  </a:lnTo>
                  <a:close/>
                </a:path>
              </a:pathLst>
            </a:custGeom>
            <a:gradFill rotWithShape="1">
              <a:gsLst>
                <a:gs pos="0">
                  <a:srgbClr val="C0C0C0"/>
                </a:gs>
                <a:gs pos="50000">
                  <a:srgbClr val="FFFFFF"/>
                </a:gs>
                <a:gs pos="100000">
                  <a:srgbClr val="C0C0C0"/>
                </a:gs>
              </a:gsLst>
              <a:lin ang="0" scaled="1"/>
            </a:gradFill>
            <a:ln w="9525">
              <a:solidFill>
                <a:schemeClr val="bg2"/>
              </a:solidFill>
              <a:round/>
            </a:ln>
          </p:spPr>
          <p:txBody>
            <a:bodyPr/>
            <a:lstStyle/>
            <a:p>
              <a:endParaRPr lang="zh-CN" altLang="en-US"/>
            </a:p>
          </p:txBody>
        </p:sp>
        <p:sp>
          <p:nvSpPr>
            <p:cNvPr id="147150" name="Oval 245"/>
            <p:cNvSpPr>
              <a:spLocks noChangeAspect="1" noChangeArrowheads="1"/>
            </p:cNvSpPr>
            <p:nvPr/>
          </p:nvSpPr>
          <p:spPr bwMode="auto">
            <a:xfrm>
              <a:off x="3514" y="2249"/>
              <a:ext cx="143" cy="16"/>
            </a:xfrm>
            <a:prstGeom prst="ellipse">
              <a:avLst/>
            </a:prstGeom>
            <a:gradFill rotWithShape="1">
              <a:gsLst>
                <a:gs pos="0">
                  <a:schemeClr val="bg1"/>
                </a:gs>
                <a:gs pos="100000">
                  <a:schemeClr val="bg2"/>
                </a:gs>
              </a:gsLst>
              <a:lin ang="5400000" scaled="1"/>
            </a:gradFill>
            <a:ln w="9525">
              <a:solidFill>
                <a:schemeClr val="bg2"/>
              </a:solidFill>
              <a:rou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151" name="Freeform 246"/>
            <p:cNvSpPr>
              <a:spLocks noChangeAspect="1"/>
            </p:cNvSpPr>
            <p:nvPr/>
          </p:nvSpPr>
          <p:spPr bwMode="auto">
            <a:xfrm>
              <a:off x="3500" y="2260"/>
              <a:ext cx="170" cy="23"/>
            </a:xfrm>
            <a:custGeom>
              <a:avLst/>
              <a:gdLst>
                <a:gd name="T0" fmla="*/ 0 w 685"/>
                <a:gd name="T1" fmla="*/ 0 h 93"/>
                <a:gd name="T2" fmla="*/ 0 w 685"/>
                <a:gd name="T3" fmla="*/ 0 h 93"/>
                <a:gd name="T4" fmla="*/ 0 w 685"/>
                <a:gd name="T5" fmla="*/ 0 h 93"/>
                <a:gd name="T6" fmla="*/ 1 w 685"/>
                <a:gd name="T7" fmla="*/ 0 h 93"/>
                <a:gd name="T8" fmla="*/ 2 w 685"/>
                <a:gd name="T9" fmla="*/ 0 h 93"/>
                <a:gd name="T10" fmla="*/ 2 w 685"/>
                <a:gd name="T11" fmla="*/ 0 h 93"/>
                <a:gd name="T12" fmla="*/ 2 w 685"/>
                <a:gd name="T13" fmla="*/ 0 h 93"/>
                <a:gd name="T14" fmla="*/ 2 w 685"/>
                <a:gd name="T15" fmla="*/ 0 h 93"/>
                <a:gd name="T16" fmla="*/ 2 w 685"/>
                <a:gd name="T17" fmla="*/ 0 h 93"/>
                <a:gd name="T18" fmla="*/ 1 w 685"/>
                <a:gd name="T19" fmla="*/ 0 h 93"/>
                <a:gd name="T20" fmla="*/ 1 w 685"/>
                <a:gd name="T21" fmla="*/ 0 h 93"/>
                <a:gd name="T22" fmla="*/ 0 w 685"/>
                <a:gd name="T23" fmla="*/ 0 h 93"/>
                <a:gd name="T24" fmla="*/ 0 w 685"/>
                <a:gd name="T25" fmla="*/ 0 h 9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85"/>
                <a:gd name="T40" fmla="*/ 0 h 93"/>
                <a:gd name="T41" fmla="*/ 685 w 685"/>
                <a:gd name="T42" fmla="*/ 93 h 9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85" h="93">
                  <a:moveTo>
                    <a:pt x="1" y="6"/>
                  </a:moveTo>
                  <a:lnTo>
                    <a:pt x="3" y="50"/>
                  </a:lnTo>
                  <a:cubicBezTo>
                    <a:pt x="26" y="63"/>
                    <a:pt x="77" y="77"/>
                    <a:pt x="139" y="84"/>
                  </a:cubicBezTo>
                  <a:cubicBezTo>
                    <a:pt x="201" y="91"/>
                    <a:pt x="299" y="93"/>
                    <a:pt x="375" y="92"/>
                  </a:cubicBezTo>
                  <a:cubicBezTo>
                    <a:pt x="451" y="91"/>
                    <a:pt x="545" y="84"/>
                    <a:pt x="597" y="76"/>
                  </a:cubicBezTo>
                  <a:cubicBezTo>
                    <a:pt x="649" y="68"/>
                    <a:pt x="670" y="56"/>
                    <a:pt x="685" y="44"/>
                  </a:cubicBezTo>
                  <a:lnTo>
                    <a:pt x="685" y="4"/>
                  </a:lnTo>
                  <a:cubicBezTo>
                    <a:pt x="681" y="0"/>
                    <a:pt x="682" y="14"/>
                    <a:pt x="659" y="20"/>
                  </a:cubicBezTo>
                  <a:cubicBezTo>
                    <a:pt x="636" y="26"/>
                    <a:pt x="595" y="37"/>
                    <a:pt x="549" y="42"/>
                  </a:cubicBezTo>
                  <a:cubicBezTo>
                    <a:pt x="503" y="47"/>
                    <a:pt x="443" y="51"/>
                    <a:pt x="385" y="52"/>
                  </a:cubicBezTo>
                  <a:cubicBezTo>
                    <a:pt x="327" y="53"/>
                    <a:pt x="258" y="53"/>
                    <a:pt x="199" y="48"/>
                  </a:cubicBezTo>
                  <a:cubicBezTo>
                    <a:pt x="140" y="43"/>
                    <a:pt x="66" y="31"/>
                    <a:pt x="33" y="24"/>
                  </a:cubicBezTo>
                  <a:cubicBezTo>
                    <a:pt x="0" y="17"/>
                    <a:pt x="8" y="10"/>
                    <a:pt x="1" y="6"/>
                  </a:cubicBezTo>
                  <a:close/>
                </a:path>
              </a:pathLst>
            </a:custGeom>
            <a:solidFill>
              <a:schemeClr val="bg1"/>
            </a:solidFill>
            <a:ln w="3175">
              <a:solidFill>
                <a:schemeClr val="tx1"/>
              </a:solidFill>
              <a:round/>
            </a:ln>
          </p:spPr>
          <p:txBody>
            <a:bodyPr/>
            <a:lstStyle/>
            <a:p>
              <a:endParaRPr lang="zh-CN" altLang="en-US"/>
            </a:p>
          </p:txBody>
        </p:sp>
        <p:sp>
          <p:nvSpPr>
            <p:cNvPr id="147152" name="Oval 247"/>
            <p:cNvSpPr>
              <a:spLocks noChangeAspect="1" noChangeArrowheads="1"/>
            </p:cNvSpPr>
            <p:nvPr/>
          </p:nvSpPr>
          <p:spPr bwMode="auto">
            <a:xfrm>
              <a:off x="3526" y="2042"/>
              <a:ext cx="130" cy="117"/>
            </a:xfrm>
            <a:prstGeom prst="ellipse">
              <a:avLst/>
            </a:prstGeom>
            <a:solidFill>
              <a:schemeClr val="bg1"/>
            </a:solidFill>
            <a:ln w="28575">
              <a:solidFill>
                <a:schemeClr val="bg2"/>
              </a:solidFill>
              <a:rou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sp>
        <p:nvSpPr>
          <p:cNvPr id="146444" name="Text Box 248"/>
          <p:cNvSpPr txBox="1">
            <a:spLocks noChangeArrowheads="1"/>
          </p:cNvSpPr>
          <p:nvPr/>
        </p:nvSpPr>
        <p:spPr bwMode="auto">
          <a:xfrm>
            <a:off x="6470650" y="3354388"/>
            <a:ext cx="2122488"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sz="1400" b="1">
                <a:solidFill>
                  <a:srgbClr val="009900"/>
                </a:solidFill>
                <a:latin typeface="Arial" panose="020B0604020202020204" pitchFamily="34" charset="0"/>
              </a:rPr>
              <a:t>3b. Synthesize labeled </a:t>
            </a:r>
            <a:br>
              <a:rPr kumimoji="0" lang="en-US" altLang="zh-CN" sz="1400" b="1">
                <a:solidFill>
                  <a:srgbClr val="009900"/>
                </a:solidFill>
                <a:latin typeface="Arial" panose="020B0604020202020204" pitchFamily="34" charset="0"/>
              </a:rPr>
            </a:br>
            <a:r>
              <a:rPr kumimoji="0" lang="en-US" altLang="zh-CN" sz="1400" b="1">
                <a:solidFill>
                  <a:srgbClr val="009900"/>
                </a:solidFill>
                <a:latin typeface="Arial" panose="020B0604020202020204" pitchFamily="34" charset="0"/>
              </a:rPr>
              <a:t>       cDNA probe</a:t>
            </a:r>
          </a:p>
        </p:txBody>
      </p:sp>
      <p:grpSp>
        <p:nvGrpSpPr>
          <p:cNvPr id="146445" name="Group 249"/>
          <p:cNvGrpSpPr>
            <a:grpSpLocks noChangeAspect="1"/>
          </p:cNvGrpSpPr>
          <p:nvPr/>
        </p:nvGrpSpPr>
        <p:grpSpPr bwMode="auto">
          <a:xfrm>
            <a:off x="6738938" y="3971925"/>
            <a:ext cx="1855787" cy="109538"/>
            <a:chOff x="95" y="2136"/>
            <a:chExt cx="2246" cy="133"/>
          </a:xfrm>
        </p:grpSpPr>
        <p:sp>
          <p:nvSpPr>
            <p:cNvPr id="146931" name="Freeform 250"/>
            <p:cNvSpPr>
              <a:spLocks noChangeAspect="1"/>
            </p:cNvSpPr>
            <p:nvPr/>
          </p:nvSpPr>
          <p:spPr bwMode="auto">
            <a:xfrm>
              <a:off x="368" y="2136"/>
              <a:ext cx="142"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932" name="Freeform 251"/>
            <p:cNvSpPr>
              <a:spLocks noChangeAspect="1"/>
            </p:cNvSpPr>
            <p:nvPr/>
          </p:nvSpPr>
          <p:spPr bwMode="auto">
            <a:xfrm>
              <a:off x="289" y="2136"/>
              <a:ext cx="142"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933" name="Freeform 252"/>
            <p:cNvSpPr>
              <a:spLocks noChangeAspect="1"/>
            </p:cNvSpPr>
            <p:nvPr/>
          </p:nvSpPr>
          <p:spPr bwMode="auto">
            <a:xfrm>
              <a:off x="640"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934" name="Freeform 253"/>
            <p:cNvSpPr>
              <a:spLocks noChangeAspect="1"/>
            </p:cNvSpPr>
            <p:nvPr/>
          </p:nvSpPr>
          <p:spPr bwMode="auto">
            <a:xfrm>
              <a:off x="561"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935" name="Freeform 254"/>
            <p:cNvSpPr>
              <a:spLocks noChangeAspect="1"/>
            </p:cNvSpPr>
            <p:nvPr/>
          </p:nvSpPr>
          <p:spPr bwMode="auto">
            <a:xfrm>
              <a:off x="913"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936" name="Freeform 255"/>
            <p:cNvSpPr>
              <a:spLocks noChangeAspect="1"/>
            </p:cNvSpPr>
            <p:nvPr/>
          </p:nvSpPr>
          <p:spPr bwMode="auto">
            <a:xfrm>
              <a:off x="834"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937" name="Freeform 256"/>
            <p:cNvSpPr>
              <a:spLocks noChangeAspect="1"/>
            </p:cNvSpPr>
            <p:nvPr/>
          </p:nvSpPr>
          <p:spPr bwMode="auto">
            <a:xfrm>
              <a:off x="1187"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938" name="Freeform 257"/>
            <p:cNvSpPr>
              <a:spLocks noChangeAspect="1"/>
            </p:cNvSpPr>
            <p:nvPr/>
          </p:nvSpPr>
          <p:spPr bwMode="auto">
            <a:xfrm>
              <a:off x="1106"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939" name="Freeform 258"/>
            <p:cNvSpPr>
              <a:spLocks noChangeAspect="1"/>
            </p:cNvSpPr>
            <p:nvPr/>
          </p:nvSpPr>
          <p:spPr bwMode="auto">
            <a:xfrm>
              <a:off x="1460" y="2136"/>
              <a:ext cx="142"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940" name="Freeform 259"/>
            <p:cNvSpPr>
              <a:spLocks noChangeAspect="1"/>
            </p:cNvSpPr>
            <p:nvPr/>
          </p:nvSpPr>
          <p:spPr bwMode="auto">
            <a:xfrm>
              <a:off x="1381" y="2136"/>
              <a:ext cx="142"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941" name="Freeform 260"/>
            <p:cNvSpPr>
              <a:spLocks noChangeAspect="1"/>
            </p:cNvSpPr>
            <p:nvPr/>
          </p:nvSpPr>
          <p:spPr bwMode="auto">
            <a:xfrm>
              <a:off x="1732"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942" name="Freeform 261"/>
            <p:cNvSpPr>
              <a:spLocks noChangeAspect="1"/>
            </p:cNvSpPr>
            <p:nvPr/>
          </p:nvSpPr>
          <p:spPr bwMode="auto">
            <a:xfrm>
              <a:off x="1653"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943" name="Freeform 262"/>
            <p:cNvSpPr>
              <a:spLocks noChangeAspect="1"/>
            </p:cNvSpPr>
            <p:nvPr/>
          </p:nvSpPr>
          <p:spPr bwMode="auto">
            <a:xfrm>
              <a:off x="2005"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944" name="Freeform 263"/>
            <p:cNvSpPr>
              <a:spLocks noChangeAspect="1"/>
            </p:cNvSpPr>
            <p:nvPr/>
          </p:nvSpPr>
          <p:spPr bwMode="auto">
            <a:xfrm>
              <a:off x="1926"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945" name="Freeform 264"/>
            <p:cNvSpPr>
              <a:spLocks noChangeAspect="1"/>
            </p:cNvSpPr>
            <p:nvPr/>
          </p:nvSpPr>
          <p:spPr bwMode="auto">
            <a:xfrm>
              <a:off x="95"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146946" name="Group 265"/>
            <p:cNvGrpSpPr>
              <a:grpSpLocks noChangeAspect="1"/>
            </p:cNvGrpSpPr>
            <p:nvPr/>
          </p:nvGrpSpPr>
          <p:grpSpPr bwMode="auto">
            <a:xfrm>
              <a:off x="229" y="2137"/>
              <a:ext cx="11" cy="86"/>
              <a:chOff x="1015" y="2428"/>
              <a:chExt cx="46" cy="372"/>
            </a:xfrm>
          </p:grpSpPr>
          <p:sp>
            <p:nvSpPr>
              <p:cNvPr id="147144" name="AutoShape 266"/>
              <p:cNvSpPr>
                <a:spLocks noChangeAspect="1" noChangeArrowheads="1"/>
              </p:cNvSpPr>
              <p:nvPr/>
            </p:nvSpPr>
            <p:spPr bwMode="auto">
              <a:xfrm>
                <a:off x="1015" y="2428"/>
                <a:ext cx="46" cy="189"/>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145" name="AutoShape 267"/>
              <p:cNvSpPr>
                <a:spLocks noChangeAspect="1" noChangeArrowheads="1"/>
              </p:cNvSpPr>
              <p:nvPr/>
            </p:nvSpPr>
            <p:spPr bwMode="auto">
              <a:xfrm>
                <a:off x="1015" y="2611"/>
                <a:ext cx="46" cy="189"/>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47" name="Group 268"/>
            <p:cNvGrpSpPr>
              <a:grpSpLocks noChangeAspect="1"/>
            </p:cNvGrpSpPr>
            <p:nvPr/>
          </p:nvGrpSpPr>
          <p:grpSpPr bwMode="auto">
            <a:xfrm>
              <a:off x="394" y="2153"/>
              <a:ext cx="10" cy="104"/>
              <a:chOff x="1790" y="2461"/>
              <a:chExt cx="40" cy="447"/>
            </a:xfrm>
          </p:grpSpPr>
          <p:sp>
            <p:nvSpPr>
              <p:cNvPr id="147142" name="AutoShape 269"/>
              <p:cNvSpPr>
                <a:spLocks noChangeAspect="1" noChangeArrowheads="1"/>
              </p:cNvSpPr>
              <p:nvPr/>
            </p:nvSpPr>
            <p:spPr bwMode="auto">
              <a:xfrm>
                <a:off x="1790" y="2461"/>
                <a:ext cx="40" cy="223"/>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143" name="AutoShape 270"/>
              <p:cNvSpPr>
                <a:spLocks noChangeAspect="1" noChangeArrowheads="1"/>
              </p:cNvSpPr>
              <p:nvPr/>
            </p:nvSpPr>
            <p:spPr bwMode="auto">
              <a:xfrm>
                <a:off x="1790" y="2684"/>
                <a:ext cx="40" cy="22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48" name="Group 271"/>
            <p:cNvGrpSpPr>
              <a:grpSpLocks noChangeAspect="1"/>
            </p:cNvGrpSpPr>
            <p:nvPr/>
          </p:nvGrpSpPr>
          <p:grpSpPr bwMode="auto">
            <a:xfrm>
              <a:off x="260" y="2150"/>
              <a:ext cx="9" cy="107"/>
              <a:chOff x="1151" y="2490"/>
              <a:chExt cx="40" cy="455"/>
            </a:xfrm>
          </p:grpSpPr>
          <p:sp>
            <p:nvSpPr>
              <p:cNvPr id="147140" name="AutoShape 272"/>
              <p:cNvSpPr>
                <a:spLocks noChangeAspect="1" noChangeArrowheads="1"/>
              </p:cNvSpPr>
              <p:nvPr/>
            </p:nvSpPr>
            <p:spPr bwMode="auto">
              <a:xfrm>
                <a:off x="1151" y="2716"/>
                <a:ext cx="40" cy="229"/>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141" name="AutoShape 273"/>
              <p:cNvSpPr>
                <a:spLocks noChangeAspect="1" noChangeArrowheads="1"/>
              </p:cNvSpPr>
              <p:nvPr/>
            </p:nvSpPr>
            <p:spPr bwMode="auto">
              <a:xfrm>
                <a:off x="1151" y="2490"/>
                <a:ext cx="40" cy="22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49" name="Group 274"/>
            <p:cNvGrpSpPr>
              <a:grpSpLocks noChangeAspect="1"/>
            </p:cNvGrpSpPr>
            <p:nvPr/>
          </p:nvGrpSpPr>
          <p:grpSpPr bwMode="auto">
            <a:xfrm>
              <a:off x="425" y="2140"/>
              <a:ext cx="9" cy="76"/>
              <a:chOff x="1914" y="2425"/>
              <a:chExt cx="40" cy="326"/>
            </a:xfrm>
          </p:grpSpPr>
          <p:sp>
            <p:nvSpPr>
              <p:cNvPr id="147138" name="AutoShape 275"/>
              <p:cNvSpPr>
                <a:spLocks noChangeAspect="1" noChangeArrowheads="1"/>
              </p:cNvSpPr>
              <p:nvPr/>
            </p:nvSpPr>
            <p:spPr bwMode="auto">
              <a:xfrm>
                <a:off x="1914" y="2425"/>
                <a:ext cx="40" cy="163"/>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139" name="AutoShape 276"/>
              <p:cNvSpPr>
                <a:spLocks noChangeAspect="1" noChangeArrowheads="1"/>
              </p:cNvSpPr>
              <p:nvPr/>
            </p:nvSpPr>
            <p:spPr bwMode="auto">
              <a:xfrm>
                <a:off x="1914" y="2588"/>
                <a:ext cx="40" cy="163"/>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50" name="Group 277"/>
            <p:cNvGrpSpPr>
              <a:grpSpLocks noChangeAspect="1"/>
            </p:cNvGrpSpPr>
            <p:nvPr/>
          </p:nvGrpSpPr>
          <p:grpSpPr bwMode="auto">
            <a:xfrm>
              <a:off x="290" y="2187"/>
              <a:ext cx="9" cy="78"/>
              <a:chOff x="1284" y="2652"/>
              <a:chExt cx="40" cy="337"/>
            </a:xfrm>
          </p:grpSpPr>
          <p:sp>
            <p:nvSpPr>
              <p:cNvPr id="147136" name="AutoShape 278"/>
              <p:cNvSpPr>
                <a:spLocks noChangeAspect="1" noChangeArrowheads="1"/>
              </p:cNvSpPr>
              <p:nvPr/>
            </p:nvSpPr>
            <p:spPr bwMode="auto">
              <a:xfrm>
                <a:off x="1284" y="2821"/>
                <a:ext cx="40" cy="16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137" name="AutoShape 279"/>
              <p:cNvSpPr>
                <a:spLocks noChangeAspect="1" noChangeArrowheads="1"/>
              </p:cNvSpPr>
              <p:nvPr/>
            </p:nvSpPr>
            <p:spPr bwMode="auto">
              <a:xfrm>
                <a:off x="1284" y="2652"/>
                <a:ext cx="40" cy="168"/>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51" name="Group 280"/>
            <p:cNvGrpSpPr>
              <a:grpSpLocks noChangeAspect="1"/>
            </p:cNvGrpSpPr>
            <p:nvPr/>
          </p:nvGrpSpPr>
          <p:grpSpPr bwMode="auto">
            <a:xfrm>
              <a:off x="364" y="2184"/>
              <a:ext cx="9" cy="83"/>
              <a:chOff x="1658" y="2628"/>
              <a:chExt cx="40" cy="355"/>
            </a:xfrm>
          </p:grpSpPr>
          <p:sp>
            <p:nvSpPr>
              <p:cNvPr id="147134" name="AutoShape 281"/>
              <p:cNvSpPr>
                <a:spLocks noChangeAspect="1" noChangeArrowheads="1"/>
              </p:cNvSpPr>
              <p:nvPr/>
            </p:nvSpPr>
            <p:spPr bwMode="auto">
              <a:xfrm>
                <a:off x="1658" y="2628"/>
                <a:ext cx="40" cy="178"/>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135" name="AutoShape 282"/>
              <p:cNvSpPr>
                <a:spLocks noChangeAspect="1" noChangeArrowheads="1"/>
              </p:cNvSpPr>
              <p:nvPr/>
            </p:nvSpPr>
            <p:spPr bwMode="auto">
              <a:xfrm>
                <a:off x="1658" y="2805"/>
                <a:ext cx="40" cy="178"/>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52" name="Group 283"/>
            <p:cNvGrpSpPr>
              <a:grpSpLocks noChangeAspect="1"/>
            </p:cNvGrpSpPr>
            <p:nvPr/>
          </p:nvGrpSpPr>
          <p:grpSpPr bwMode="auto">
            <a:xfrm>
              <a:off x="334" y="2228"/>
              <a:ext cx="9" cy="29"/>
              <a:chOff x="1516" y="2835"/>
              <a:chExt cx="42" cy="123"/>
            </a:xfrm>
          </p:grpSpPr>
          <p:sp>
            <p:nvSpPr>
              <p:cNvPr id="147132" name="AutoShape 284"/>
              <p:cNvSpPr>
                <a:spLocks noChangeAspect="1" noChangeArrowheads="1"/>
              </p:cNvSpPr>
              <p:nvPr/>
            </p:nvSpPr>
            <p:spPr bwMode="auto">
              <a:xfrm>
                <a:off x="1516" y="2897"/>
                <a:ext cx="42" cy="61"/>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133" name="AutoShape 285"/>
              <p:cNvSpPr>
                <a:spLocks noChangeAspect="1" noChangeArrowheads="1"/>
              </p:cNvSpPr>
              <p:nvPr/>
            </p:nvSpPr>
            <p:spPr bwMode="auto">
              <a:xfrm>
                <a:off x="1516" y="2835"/>
                <a:ext cx="42" cy="62"/>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53" name="Group 286"/>
            <p:cNvGrpSpPr>
              <a:grpSpLocks noChangeAspect="1"/>
            </p:cNvGrpSpPr>
            <p:nvPr/>
          </p:nvGrpSpPr>
          <p:grpSpPr bwMode="auto">
            <a:xfrm>
              <a:off x="522" y="2144"/>
              <a:ext cx="9" cy="103"/>
              <a:chOff x="2195" y="2463"/>
              <a:chExt cx="40" cy="442"/>
            </a:xfrm>
          </p:grpSpPr>
          <p:sp>
            <p:nvSpPr>
              <p:cNvPr id="147130" name="AutoShape 287"/>
              <p:cNvSpPr>
                <a:spLocks noChangeAspect="1" noChangeArrowheads="1"/>
              </p:cNvSpPr>
              <p:nvPr/>
            </p:nvSpPr>
            <p:spPr bwMode="auto">
              <a:xfrm>
                <a:off x="2195" y="2684"/>
                <a:ext cx="40" cy="221"/>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131" name="AutoShape 288"/>
              <p:cNvSpPr>
                <a:spLocks noChangeAspect="1" noChangeArrowheads="1"/>
              </p:cNvSpPr>
              <p:nvPr/>
            </p:nvSpPr>
            <p:spPr bwMode="auto">
              <a:xfrm>
                <a:off x="2195" y="2463"/>
                <a:ext cx="40" cy="221"/>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54" name="Group 289"/>
            <p:cNvGrpSpPr>
              <a:grpSpLocks noChangeAspect="1"/>
            </p:cNvGrpSpPr>
            <p:nvPr/>
          </p:nvGrpSpPr>
          <p:grpSpPr bwMode="auto">
            <a:xfrm>
              <a:off x="554" y="2177"/>
              <a:ext cx="10" cy="90"/>
              <a:chOff x="2329" y="2599"/>
              <a:chExt cx="43" cy="386"/>
            </a:xfrm>
          </p:grpSpPr>
          <p:sp>
            <p:nvSpPr>
              <p:cNvPr id="147128" name="AutoShape 290"/>
              <p:cNvSpPr>
                <a:spLocks noChangeAspect="1" noChangeArrowheads="1"/>
              </p:cNvSpPr>
              <p:nvPr/>
            </p:nvSpPr>
            <p:spPr bwMode="auto">
              <a:xfrm>
                <a:off x="2329" y="2791"/>
                <a:ext cx="43" cy="19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129" name="AutoShape 291"/>
              <p:cNvSpPr>
                <a:spLocks noChangeAspect="1" noChangeArrowheads="1"/>
              </p:cNvSpPr>
              <p:nvPr/>
            </p:nvSpPr>
            <p:spPr bwMode="auto">
              <a:xfrm>
                <a:off x="2329" y="2599"/>
                <a:ext cx="43" cy="19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55" name="Group 292"/>
            <p:cNvGrpSpPr>
              <a:grpSpLocks noChangeAspect="1"/>
            </p:cNvGrpSpPr>
            <p:nvPr/>
          </p:nvGrpSpPr>
          <p:grpSpPr bwMode="auto">
            <a:xfrm>
              <a:off x="450" y="2143"/>
              <a:ext cx="10" cy="38"/>
              <a:chOff x="2478" y="2807"/>
              <a:chExt cx="43" cy="178"/>
            </a:xfrm>
          </p:grpSpPr>
          <p:sp>
            <p:nvSpPr>
              <p:cNvPr id="147126" name="AutoShape 293"/>
              <p:cNvSpPr>
                <a:spLocks noChangeAspect="1" noChangeArrowheads="1"/>
              </p:cNvSpPr>
              <p:nvPr/>
            </p:nvSpPr>
            <p:spPr bwMode="auto">
              <a:xfrm>
                <a:off x="2478" y="2807"/>
                <a:ext cx="43" cy="89"/>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127" name="AutoShape 294"/>
              <p:cNvSpPr>
                <a:spLocks noChangeAspect="1" noChangeArrowheads="1"/>
              </p:cNvSpPr>
              <p:nvPr/>
            </p:nvSpPr>
            <p:spPr bwMode="auto">
              <a:xfrm>
                <a:off x="2478" y="2896"/>
                <a:ext cx="43" cy="8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56" name="Group 295"/>
            <p:cNvGrpSpPr>
              <a:grpSpLocks noChangeAspect="1"/>
            </p:cNvGrpSpPr>
            <p:nvPr/>
          </p:nvGrpSpPr>
          <p:grpSpPr bwMode="auto">
            <a:xfrm>
              <a:off x="490" y="2140"/>
              <a:ext cx="10" cy="63"/>
              <a:chOff x="2065" y="2441"/>
              <a:chExt cx="40" cy="272"/>
            </a:xfrm>
          </p:grpSpPr>
          <p:sp>
            <p:nvSpPr>
              <p:cNvPr id="147124" name="AutoShape 296"/>
              <p:cNvSpPr>
                <a:spLocks noChangeAspect="1" noChangeArrowheads="1"/>
              </p:cNvSpPr>
              <p:nvPr/>
            </p:nvSpPr>
            <p:spPr bwMode="auto">
              <a:xfrm>
                <a:off x="2065" y="2576"/>
                <a:ext cx="40" cy="13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125" name="AutoShape 297"/>
              <p:cNvSpPr>
                <a:spLocks noChangeAspect="1" noChangeArrowheads="1"/>
              </p:cNvSpPr>
              <p:nvPr/>
            </p:nvSpPr>
            <p:spPr bwMode="auto">
              <a:xfrm>
                <a:off x="2065" y="2441"/>
                <a:ext cx="40" cy="13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57" name="Group 298"/>
            <p:cNvGrpSpPr>
              <a:grpSpLocks noChangeAspect="1"/>
            </p:cNvGrpSpPr>
            <p:nvPr/>
          </p:nvGrpSpPr>
          <p:grpSpPr bwMode="auto">
            <a:xfrm>
              <a:off x="585" y="2222"/>
              <a:ext cx="10" cy="38"/>
              <a:chOff x="2478" y="2807"/>
              <a:chExt cx="43" cy="178"/>
            </a:xfrm>
          </p:grpSpPr>
          <p:sp>
            <p:nvSpPr>
              <p:cNvPr id="147122" name="AutoShape 299"/>
              <p:cNvSpPr>
                <a:spLocks noChangeAspect="1" noChangeArrowheads="1"/>
              </p:cNvSpPr>
              <p:nvPr/>
            </p:nvSpPr>
            <p:spPr bwMode="auto">
              <a:xfrm>
                <a:off x="2478" y="2807"/>
                <a:ext cx="43" cy="89"/>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123" name="AutoShape 300"/>
              <p:cNvSpPr>
                <a:spLocks noChangeAspect="1" noChangeArrowheads="1"/>
              </p:cNvSpPr>
              <p:nvPr/>
            </p:nvSpPr>
            <p:spPr bwMode="auto">
              <a:xfrm>
                <a:off x="2478" y="2896"/>
                <a:ext cx="43" cy="8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58" name="Group 301"/>
            <p:cNvGrpSpPr>
              <a:grpSpLocks noChangeAspect="1"/>
            </p:cNvGrpSpPr>
            <p:nvPr/>
          </p:nvGrpSpPr>
          <p:grpSpPr bwMode="auto">
            <a:xfrm>
              <a:off x="713" y="2140"/>
              <a:ext cx="10" cy="52"/>
              <a:chOff x="3094" y="2443"/>
              <a:chExt cx="40" cy="183"/>
            </a:xfrm>
          </p:grpSpPr>
          <p:sp>
            <p:nvSpPr>
              <p:cNvPr id="147120" name="AutoShape 302"/>
              <p:cNvSpPr>
                <a:spLocks noChangeAspect="1" noChangeArrowheads="1"/>
              </p:cNvSpPr>
              <p:nvPr/>
            </p:nvSpPr>
            <p:spPr bwMode="auto">
              <a:xfrm flipV="1">
                <a:off x="3094" y="2443"/>
                <a:ext cx="40" cy="92"/>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121" name="AutoShape 303"/>
              <p:cNvSpPr>
                <a:spLocks noChangeAspect="1" noChangeArrowheads="1"/>
              </p:cNvSpPr>
              <p:nvPr/>
            </p:nvSpPr>
            <p:spPr bwMode="auto">
              <a:xfrm flipV="1">
                <a:off x="3094" y="2534"/>
                <a:ext cx="40" cy="92"/>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59" name="Group 304"/>
            <p:cNvGrpSpPr>
              <a:grpSpLocks noChangeAspect="1"/>
            </p:cNvGrpSpPr>
            <p:nvPr/>
          </p:nvGrpSpPr>
          <p:grpSpPr bwMode="auto">
            <a:xfrm>
              <a:off x="686" y="2140"/>
              <a:ext cx="11" cy="96"/>
              <a:chOff x="2978" y="2432"/>
              <a:chExt cx="46" cy="375"/>
            </a:xfrm>
          </p:grpSpPr>
          <p:sp>
            <p:nvSpPr>
              <p:cNvPr id="147118" name="AutoShape 305"/>
              <p:cNvSpPr>
                <a:spLocks noChangeAspect="1" noChangeArrowheads="1"/>
              </p:cNvSpPr>
              <p:nvPr/>
            </p:nvSpPr>
            <p:spPr bwMode="auto">
              <a:xfrm>
                <a:off x="2978" y="2619"/>
                <a:ext cx="46" cy="188"/>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119" name="AutoShape 306"/>
              <p:cNvSpPr>
                <a:spLocks noChangeAspect="1" noChangeArrowheads="1"/>
              </p:cNvSpPr>
              <p:nvPr/>
            </p:nvSpPr>
            <p:spPr bwMode="auto">
              <a:xfrm>
                <a:off x="2978" y="2432"/>
                <a:ext cx="46" cy="188"/>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60" name="Group 307"/>
            <p:cNvGrpSpPr>
              <a:grpSpLocks noChangeAspect="1"/>
            </p:cNvGrpSpPr>
            <p:nvPr/>
          </p:nvGrpSpPr>
          <p:grpSpPr bwMode="auto">
            <a:xfrm>
              <a:off x="655" y="2160"/>
              <a:ext cx="10" cy="102"/>
              <a:chOff x="2832" y="2516"/>
              <a:chExt cx="43" cy="436"/>
            </a:xfrm>
          </p:grpSpPr>
          <p:sp>
            <p:nvSpPr>
              <p:cNvPr id="147116" name="AutoShape 308"/>
              <p:cNvSpPr>
                <a:spLocks noChangeAspect="1" noChangeArrowheads="1"/>
              </p:cNvSpPr>
              <p:nvPr/>
            </p:nvSpPr>
            <p:spPr bwMode="auto">
              <a:xfrm flipV="1">
                <a:off x="2832" y="2516"/>
                <a:ext cx="43" cy="21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117" name="AutoShape 309"/>
              <p:cNvSpPr>
                <a:spLocks noChangeAspect="1" noChangeArrowheads="1"/>
              </p:cNvSpPr>
              <p:nvPr/>
            </p:nvSpPr>
            <p:spPr bwMode="auto">
              <a:xfrm flipV="1">
                <a:off x="2832" y="2734"/>
                <a:ext cx="43" cy="218"/>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61" name="Group 310"/>
            <p:cNvGrpSpPr>
              <a:grpSpLocks noChangeAspect="1"/>
            </p:cNvGrpSpPr>
            <p:nvPr/>
          </p:nvGrpSpPr>
          <p:grpSpPr bwMode="auto">
            <a:xfrm>
              <a:off x="622" y="2213"/>
              <a:ext cx="9" cy="51"/>
              <a:chOff x="2668" y="2761"/>
              <a:chExt cx="40" cy="217"/>
            </a:xfrm>
          </p:grpSpPr>
          <p:sp>
            <p:nvSpPr>
              <p:cNvPr id="147114" name="AutoShape 311"/>
              <p:cNvSpPr>
                <a:spLocks noChangeAspect="1" noChangeArrowheads="1"/>
              </p:cNvSpPr>
              <p:nvPr/>
            </p:nvSpPr>
            <p:spPr bwMode="auto">
              <a:xfrm>
                <a:off x="2668" y="2870"/>
                <a:ext cx="40" cy="10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115" name="AutoShape 312"/>
              <p:cNvSpPr>
                <a:spLocks noChangeAspect="1" noChangeArrowheads="1"/>
              </p:cNvSpPr>
              <p:nvPr/>
            </p:nvSpPr>
            <p:spPr bwMode="auto">
              <a:xfrm>
                <a:off x="2668" y="2761"/>
                <a:ext cx="40" cy="108"/>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62" name="Group 313"/>
            <p:cNvGrpSpPr>
              <a:grpSpLocks noChangeAspect="1"/>
            </p:cNvGrpSpPr>
            <p:nvPr/>
          </p:nvGrpSpPr>
          <p:grpSpPr bwMode="auto">
            <a:xfrm flipV="1">
              <a:off x="818" y="2163"/>
              <a:ext cx="10" cy="103"/>
              <a:chOff x="3217" y="3037"/>
              <a:chExt cx="46" cy="372"/>
            </a:xfrm>
          </p:grpSpPr>
          <p:sp>
            <p:nvSpPr>
              <p:cNvPr id="147112" name="AutoShape 314"/>
              <p:cNvSpPr>
                <a:spLocks noChangeAspect="1" noChangeArrowheads="1"/>
              </p:cNvSpPr>
              <p:nvPr/>
            </p:nvSpPr>
            <p:spPr bwMode="auto">
              <a:xfrm>
                <a:off x="3217" y="3037"/>
                <a:ext cx="46" cy="189"/>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113" name="AutoShape 315"/>
              <p:cNvSpPr>
                <a:spLocks noChangeAspect="1" noChangeArrowheads="1"/>
              </p:cNvSpPr>
              <p:nvPr/>
            </p:nvSpPr>
            <p:spPr bwMode="auto">
              <a:xfrm>
                <a:off x="3217" y="3220"/>
                <a:ext cx="46" cy="189"/>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63" name="Group 316"/>
            <p:cNvGrpSpPr>
              <a:grpSpLocks noChangeAspect="1"/>
            </p:cNvGrpSpPr>
            <p:nvPr/>
          </p:nvGrpSpPr>
          <p:grpSpPr bwMode="auto">
            <a:xfrm>
              <a:off x="785" y="2137"/>
              <a:ext cx="11" cy="102"/>
              <a:chOff x="3353" y="3099"/>
              <a:chExt cx="40" cy="455"/>
            </a:xfrm>
          </p:grpSpPr>
          <p:sp>
            <p:nvSpPr>
              <p:cNvPr id="147110" name="AutoShape 317"/>
              <p:cNvSpPr>
                <a:spLocks noChangeAspect="1" noChangeArrowheads="1"/>
              </p:cNvSpPr>
              <p:nvPr/>
            </p:nvSpPr>
            <p:spPr bwMode="auto">
              <a:xfrm>
                <a:off x="3353" y="3325"/>
                <a:ext cx="40" cy="229"/>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111" name="AutoShape 318"/>
              <p:cNvSpPr>
                <a:spLocks noChangeAspect="1" noChangeArrowheads="1"/>
              </p:cNvSpPr>
              <p:nvPr/>
            </p:nvSpPr>
            <p:spPr bwMode="auto">
              <a:xfrm>
                <a:off x="3353" y="3099"/>
                <a:ext cx="40" cy="22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64" name="Group 319"/>
            <p:cNvGrpSpPr>
              <a:grpSpLocks noChangeAspect="1"/>
            </p:cNvGrpSpPr>
            <p:nvPr/>
          </p:nvGrpSpPr>
          <p:grpSpPr bwMode="auto">
            <a:xfrm>
              <a:off x="757" y="2139"/>
              <a:ext cx="11" cy="61"/>
              <a:chOff x="3486" y="3261"/>
              <a:chExt cx="40" cy="337"/>
            </a:xfrm>
          </p:grpSpPr>
          <p:sp>
            <p:nvSpPr>
              <p:cNvPr id="147108" name="AutoShape 320"/>
              <p:cNvSpPr>
                <a:spLocks noChangeAspect="1" noChangeArrowheads="1"/>
              </p:cNvSpPr>
              <p:nvPr/>
            </p:nvSpPr>
            <p:spPr bwMode="auto">
              <a:xfrm>
                <a:off x="3486" y="3430"/>
                <a:ext cx="40" cy="16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109" name="AutoShape 321"/>
              <p:cNvSpPr>
                <a:spLocks noChangeAspect="1" noChangeArrowheads="1"/>
              </p:cNvSpPr>
              <p:nvPr/>
            </p:nvSpPr>
            <p:spPr bwMode="auto">
              <a:xfrm>
                <a:off x="3486" y="3261"/>
                <a:ext cx="40" cy="168"/>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65" name="Group 322"/>
            <p:cNvGrpSpPr>
              <a:grpSpLocks noChangeAspect="1"/>
            </p:cNvGrpSpPr>
            <p:nvPr/>
          </p:nvGrpSpPr>
          <p:grpSpPr bwMode="auto">
            <a:xfrm>
              <a:off x="953" y="2143"/>
              <a:ext cx="9" cy="104"/>
              <a:chOff x="2195" y="2463"/>
              <a:chExt cx="40" cy="442"/>
            </a:xfrm>
          </p:grpSpPr>
          <p:sp>
            <p:nvSpPr>
              <p:cNvPr id="147106" name="AutoShape 323"/>
              <p:cNvSpPr>
                <a:spLocks noChangeAspect="1" noChangeArrowheads="1"/>
              </p:cNvSpPr>
              <p:nvPr/>
            </p:nvSpPr>
            <p:spPr bwMode="auto">
              <a:xfrm>
                <a:off x="2195" y="2684"/>
                <a:ext cx="40" cy="221"/>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107" name="AutoShape 324"/>
              <p:cNvSpPr>
                <a:spLocks noChangeAspect="1" noChangeArrowheads="1"/>
              </p:cNvSpPr>
              <p:nvPr/>
            </p:nvSpPr>
            <p:spPr bwMode="auto">
              <a:xfrm>
                <a:off x="2195" y="2463"/>
                <a:ext cx="40" cy="221"/>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66" name="Group 325"/>
            <p:cNvGrpSpPr>
              <a:grpSpLocks noChangeAspect="1"/>
            </p:cNvGrpSpPr>
            <p:nvPr/>
          </p:nvGrpSpPr>
          <p:grpSpPr bwMode="auto">
            <a:xfrm>
              <a:off x="916" y="2176"/>
              <a:ext cx="10" cy="91"/>
              <a:chOff x="2329" y="2599"/>
              <a:chExt cx="43" cy="386"/>
            </a:xfrm>
          </p:grpSpPr>
          <p:sp>
            <p:nvSpPr>
              <p:cNvPr id="147104" name="AutoShape 326"/>
              <p:cNvSpPr>
                <a:spLocks noChangeAspect="1" noChangeArrowheads="1"/>
              </p:cNvSpPr>
              <p:nvPr/>
            </p:nvSpPr>
            <p:spPr bwMode="auto">
              <a:xfrm>
                <a:off x="2329" y="2791"/>
                <a:ext cx="43" cy="19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105" name="AutoShape 327"/>
              <p:cNvSpPr>
                <a:spLocks noChangeAspect="1" noChangeArrowheads="1"/>
              </p:cNvSpPr>
              <p:nvPr/>
            </p:nvSpPr>
            <p:spPr bwMode="auto">
              <a:xfrm>
                <a:off x="2329" y="2599"/>
                <a:ext cx="43" cy="19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67" name="Group 328"/>
            <p:cNvGrpSpPr>
              <a:grpSpLocks noChangeAspect="1"/>
            </p:cNvGrpSpPr>
            <p:nvPr/>
          </p:nvGrpSpPr>
          <p:grpSpPr bwMode="auto">
            <a:xfrm>
              <a:off x="846" y="2201"/>
              <a:ext cx="10" cy="63"/>
              <a:chOff x="2065" y="2441"/>
              <a:chExt cx="40" cy="272"/>
            </a:xfrm>
          </p:grpSpPr>
          <p:sp>
            <p:nvSpPr>
              <p:cNvPr id="147102" name="AutoShape 329"/>
              <p:cNvSpPr>
                <a:spLocks noChangeAspect="1" noChangeArrowheads="1"/>
              </p:cNvSpPr>
              <p:nvPr/>
            </p:nvSpPr>
            <p:spPr bwMode="auto">
              <a:xfrm>
                <a:off x="2065" y="2576"/>
                <a:ext cx="40" cy="13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103" name="AutoShape 330"/>
              <p:cNvSpPr>
                <a:spLocks noChangeAspect="1" noChangeArrowheads="1"/>
              </p:cNvSpPr>
              <p:nvPr/>
            </p:nvSpPr>
            <p:spPr bwMode="auto">
              <a:xfrm>
                <a:off x="2065" y="2441"/>
                <a:ext cx="40" cy="13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68" name="Group 331"/>
            <p:cNvGrpSpPr>
              <a:grpSpLocks noChangeAspect="1"/>
            </p:cNvGrpSpPr>
            <p:nvPr/>
          </p:nvGrpSpPr>
          <p:grpSpPr bwMode="auto">
            <a:xfrm flipV="1">
              <a:off x="888" y="2218"/>
              <a:ext cx="11" cy="42"/>
              <a:chOff x="2815" y="1923"/>
              <a:chExt cx="40" cy="217"/>
            </a:xfrm>
          </p:grpSpPr>
          <p:sp>
            <p:nvSpPr>
              <p:cNvPr id="147100" name="AutoShape 332"/>
              <p:cNvSpPr>
                <a:spLocks noChangeAspect="1" noChangeArrowheads="1"/>
              </p:cNvSpPr>
              <p:nvPr/>
            </p:nvSpPr>
            <p:spPr bwMode="auto">
              <a:xfrm>
                <a:off x="2815" y="2032"/>
                <a:ext cx="40" cy="10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101" name="AutoShape 333"/>
              <p:cNvSpPr>
                <a:spLocks noChangeAspect="1" noChangeArrowheads="1"/>
              </p:cNvSpPr>
              <p:nvPr/>
            </p:nvSpPr>
            <p:spPr bwMode="auto">
              <a:xfrm>
                <a:off x="2815" y="1923"/>
                <a:ext cx="40" cy="108"/>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69" name="Group 334"/>
            <p:cNvGrpSpPr>
              <a:grpSpLocks noChangeAspect="1"/>
            </p:cNvGrpSpPr>
            <p:nvPr/>
          </p:nvGrpSpPr>
          <p:grpSpPr bwMode="auto">
            <a:xfrm>
              <a:off x="981" y="2139"/>
              <a:ext cx="11" cy="64"/>
              <a:chOff x="2329" y="2599"/>
              <a:chExt cx="43" cy="386"/>
            </a:xfrm>
          </p:grpSpPr>
          <p:sp>
            <p:nvSpPr>
              <p:cNvPr id="147098" name="AutoShape 335"/>
              <p:cNvSpPr>
                <a:spLocks noChangeAspect="1" noChangeArrowheads="1"/>
              </p:cNvSpPr>
              <p:nvPr/>
            </p:nvSpPr>
            <p:spPr bwMode="auto">
              <a:xfrm>
                <a:off x="2329" y="2791"/>
                <a:ext cx="43" cy="19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099" name="AutoShape 336"/>
              <p:cNvSpPr>
                <a:spLocks noChangeAspect="1" noChangeArrowheads="1"/>
              </p:cNvSpPr>
              <p:nvPr/>
            </p:nvSpPr>
            <p:spPr bwMode="auto">
              <a:xfrm>
                <a:off x="2329" y="2599"/>
                <a:ext cx="43" cy="19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70" name="Group 337"/>
            <p:cNvGrpSpPr>
              <a:grpSpLocks noChangeAspect="1"/>
            </p:cNvGrpSpPr>
            <p:nvPr/>
          </p:nvGrpSpPr>
          <p:grpSpPr bwMode="auto">
            <a:xfrm>
              <a:off x="1019" y="2144"/>
              <a:ext cx="10" cy="38"/>
              <a:chOff x="2478" y="2807"/>
              <a:chExt cx="43" cy="178"/>
            </a:xfrm>
          </p:grpSpPr>
          <p:sp>
            <p:nvSpPr>
              <p:cNvPr id="147096" name="AutoShape 338"/>
              <p:cNvSpPr>
                <a:spLocks noChangeAspect="1" noChangeArrowheads="1"/>
              </p:cNvSpPr>
              <p:nvPr/>
            </p:nvSpPr>
            <p:spPr bwMode="auto">
              <a:xfrm>
                <a:off x="2478" y="2807"/>
                <a:ext cx="43" cy="89"/>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097" name="AutoShape 339"/>
              <p:cNvSpPr>
                <a:spLocks noChangeAspect="1" noChangeArrowheads="1"/>
              </p:cNvSpPr>
              <p:nvPr/>
            </p:nvSpPr>
            <p:spPr bwMode="auto">
              <a:xfrm>
                <a:off x="2478" y="2896"/>
                <a:ext cx="43" cy="8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71" name="Group 340"/>
            <p:cNvGrpSpPr>
              <a:grpSpLocks noChangeAspect="1"/>
            </p:cNvGrpSpPr>
            <p:nvPr/>
          </p:nvGrpSpPr>
          <p:grpSpPr bwMode="auto">
            <a:xfrm>
              <a:off x="1080" y="2154"/>
              <a:ext cx="10" cy="104"/>
              <a:chOff x="2195" y="2463"/>
              <a:chExt cx="40" cy="442"/>
            </a:xfrm>
          </p:grpSpPr>
          <p:sp>
            <p:nvSpPr>
              <p:cNvPr id="147094" name="AutoShape 341"/>
              <p:cNvSpPr>
                <a:spLocks noChangeAspect="1" noChangeArrowheads="1"/>
              </p:cNvSpPr>
              <p:nvPr/>
            </p:nvSpPr>
            <p:spPr bwMode="auto">
              <a:xfrm>
                <a:off x="2195" y="2684"/>
                <a:ext cx="40" cy="221"/>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095" name="AutoShape 342"/>
              <p:cNvSpPr>
                <a:spLocks noChangeAspect="1" noChangeArrowheads="1"/>
              </p:cNvSpPr>
              <p:nvPr/>
            </p:nvSpPr>
            <p:spPr bwMode="auto">
              <a:xfrm>
                <a:off x="2195" y="2463"/>
                <a:ext cx="40" cy="221"/>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72" name="Group 343"/>
            <p:cNvGrpSpPr>
              <a:grpSpLocks noChangeAspect="1"/>
            </p:cNvGrpSpPr>
            <p:nvPr/>
          </p:nvGrpSpPr>
          <p:grpSpPr bwMode="auto">
            <a:xfrm>
              <a:off x="1112" y="2192"/>
              <a:ext cx="10" cy="74"/>
              <a:chOff x="2329" y="2599"/>
              <a:chExt cx="43" cy="386"/>
            </a:xfrm>
          </p:grpSpPr>
          <p:sp>
            <p:nvSpPr>
              <p:cNvPr id="147092" name="AutoShape 344"/>
              <p:cNvSpPr>
                <a:spLocks noChangeAspect="1" noChangeArrowheads="1"/>
              </p:cNvSpPr>
              <p:nvPr/>
            </p:nvSpPr>
            <p:spPr bwMode="auto">
              <a:xfrm>
                <a:off x="2329" y="2791"/>
                <a:ext cx="43" cy="19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093" name="AutoShape 345"/>
              <p:cNvSpPr>
                <a:spLocks noChangeAspect="1" noChangeArrowheads="1"/>
              </p:cNvSpPr>
              <p:nvPr/>
            </p:nvSpPr>
            <p:spPr bwMode="auto">
              <a:xfrm>
                <a:off x="2329" y="2599"/>
                <a:ext cx="43" cy="19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73" name="Group 346"/>
            <p:cNvGrpSpPr>
              <a:grpSpLocks noChangeAspect="1"/>
            </p:cNvGrpSpPr>
            <p:nvPr/>
          </p:nvGrpSpPr>
          <p:grpSpPr bwMode="auto">
            <a:xfrm>
              <a:off x="1049" y="2140"/>
              <a:ext cx="10" cy="79"/>
              <a:chOff x="2065" y="2441"/>
              <a:chExt cx="40" cy="272"/>
            </a:xfrm>
          </p:grpSpPr>
          <p:sp>
            <p:nvSpPr>
              <p:cNvPr id="147090" name="AutoShape 347"/>
              <p:cNvSpPr>
                <a:spLocks noChangeAspect="1" noChangeArrowheads="1"/>
              </p:cNvSpPr>
              <p:nvPr/>
            </p:nvSpPr>
            <p:spPr bwMode="auto">
              <a:xfrm>
                <a:off x="2065" y="2576"/>
                <a:ext cx="40" cy="13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091" name="AutoShape 348"/>
              <p:cNvSpPr>
                <a:spLocks noChangeAspect="1" noChangeArrowheads="1"/>
              </p:cNvSpPr>
              <p:nvPr/>
            </p:nvSpPr>
            <p:spPr bwMode="auto">
              <a:xfrm>
                <a:off x="2065" y="2441"/>
                <a:ext cx="40" cy="13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sp>
          <p:nvSpPr>
            <p:cNvPr id="146974" name="Freeform 349"/>
            <p:cNvSpPr>
              <a:spLocks noChangeAspect="1"/>
            </p:cNvSpPr>
            <p:nvPr/>
          </p:nvSpPr>
          <p:spPr bwMode="auto">
            <a:xfrm>
              <a:off x="2198"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146975" name="Group 350"/>
            <p:cNvGrpSpPr>
              <a:grpSpLocks noChangeAspect="1"/>
            </p:cNvGrpSpPr>
            <p:nvPr/>
          </p:nvGrpSpPr>
          <p:grpSpPr bwMode="auto">
            <a:xfrm>
              <a:off x="1321" y="2137"/>
              <a:ext cx="11" cy="86"/>
              <a:chOff x="1015" y="2428"/>
              <a:chExt cx="46" cy="372"/>
            </a:xfrm>
          </p:grpSpPr>
          <p:sp>
            <p:nvSpPr>
              <p:cNvPr id="147088" name="AutoShape 351"/>
              <p:cNvSpPr>
                <a:spLocks noChangeAspect="1" noChangeArrowheads="1"/>
              </p:cNvSpPr>
              <p:nvPr/>
            </p:nvSpPr>
            <p:spPr bwMode="auto">
              <a:xfrm>
                <a:off x="1015" y="2428"/>
                <a:ext cx="46" cy="189"/>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089" name="AutoShape 352"/>
              <p:cNvSpPr>
                <a:spLocks noChangeAspect="1" noChangeArrowheads="1"/>
              </p:cNvSpPr>
              <p:nvPr/>
            </p:nvSpPr>
            <p:spPr bwMode="auto">
              <a:xfrm>
                <a:off x="1015" y="2611"/>
                <a:ext cx="46" cy="189"/>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76" name="Group 353"/>
            <p:cNvGrpSpPr>
              <a:grpSpLocks noChangeAspect="1"/>
            </p:cNvGrpSpPr>
            <p:nvPr/>
          </p:nvGrpSpPr>
          <p:grpSpPr bwMode="auto">
            <a:xfrm>
              <a:off x="1488" y="2147"/>
              <a:ext cx="10" cy="104"/>
              <a:chOff x="1790" y="2461"/>
              <a:chExt cx="40" cy="447"/>
            </a:xfrm>
          </p:grpSpPr>
          <p:sp>
            <p:nvSpPr>
              <p:cNvPr id="147086" name="AutoShape 354"/>
              <p:cNvSpPr>
                <a:spLocks noChangeAspect="1" noChangeArrowheads="1"/>
              </p:cNvSpPr>
              <p:nvPr/>
            </p:nvSpPr>
            <p:spPr bwMode="auto">
              <a:xfrm>
                <a:off x="1790" y="2461"/>
                <a:ext cx="40" cy="223"/>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087" name="AutoShape 355"/>
              <p:cNvSpPr>
                <a:spLocks noChangeAspect="1" noChangeArrowheads="1"/>
              </p:cNvSpPr>
              <p:nvPr/>
            </p:nvSpPr>
            <p:spPr bwMode="auto">
              <a:xfrm>
                <a:off x="1790" y="2684"/>
                <a:ext cx="40" cy="22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77" name="Group 356"/>
            <p:cNvGrpSpPr>
              <a:grpSpLocks noChangeAspect="1"/>
            </p:cNvGrpSpPr>
            <p:nvPr/>
          </p:nvGrpSpPr>
          <p:grpSpPr bwMode="auto">
            <a:xfrm>
              <a:off x="1352" y="2150"/>
              <a:ext cx="10" cy="107"/>
              <a:chOff x="1151" y="2490"/>
              <a:chExt cx="40" cy="455"/>
            </a:xfrm>
          </p:grpSpPr>
          <p:sp>
            <p:nvSpPr>
              <p:cNvPr id="147084" name="AutoShape 357"/>
              <p:cNvSpPr>
                <a:spLocks noChangeAspect="1" noChangeArrowheads="1"/>
              </p:cNvSpPr>
              <p:nvPr/>
            </p:nvSpPr>
            <p:spPr bwMode="auto">
              <a:xfrm>
                <a:off x="1151" y="2716"/>
                <a:ext cx="40" cy="229"/>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085" name="AutoShape 358"/>
              <p:cNvSpPr>
                <a:spLocks noChangeAspect="1" noChangeArrowheads="1"/>
              </p:cNvSpPr>
              <p:nvPr/>
            </p:nvSpPr>
            <p:spPr bwMode="auto">
              <a:xfrm>
                <a:off x="1151" y="2490"/>
                <a:ext cx="40" cy="22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78" name="Group 359"/>
            <p:cNvGrpSpPr>
              <a:grpSpLocks noChangeAspect="1"/>
            </p:cNvGrpSpPr>
            <p:nvPr/>
          </p:nvGrpSpPr>
          <p:grpSpPr bwMode="auto">
            <a:xfrm>
              <a:off x="1519" y="2138"/>
              <a:ext cx="9" cy="76"/>
              <a:chOff x="1914" y="2425"/>
              <a:chExt cx="40" cy="326"/>
            </a:xfrm>
          </p:grpSpPr>
          <p:sp>
            <p:nvSpPr>
              <p:cNvPr id="147082" name="AutoShape 360"/>
              <p:cNvSpPr>
                <a:spLocks noChangeAspect="1" noChangeArrowheads="1"/>
              </p:cNvSpPr>
              <p:nvPr/>
            </p:nvSpPr>
            <p:spPr bwMode="auto">
              <a:xfrm>
                <a:off x="1914" y="2425"/>
                <a:ext cx="40" cy="163"/>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083" name="AutoShape 361"/>
              <p:cNvSpPr>
                <a:spLocks noChangeAspect="1" noChangeArrowheads="1"/>
              </p:cNvSpPr>
              <p:nvPr/>
            </p:nvSpPr>
            <p:spPr bwMode="auto">
              <a:xfrm>
                <a:off x="1914" y="2588"/>
                <a:ext cx="40" cy="163"/>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79" name="Group 362"/>
            <p:cNvGrpSpPr>
              <a:grpSpLocks noChangeAspect="1"/>
            </p:cNvGrpSpPr>
            <p:nvPr/>
          </p:nvGrpSpPr>
          <p:grpSpPr bwMode="auto">
            <a:xfrm>
              <a:off x="1382" y="2187"/>
              <a:ext cx="9" cy="78"/>
              <a:chOff x="1284" y="2652"/>
              <a:chExt cx="40" cy="337"/>
            </a:xfrm>
          </p:grpSpPr>
          <p:sp>
            <p:nvSpPr>
              <p:cNvPr id="147080" name="AutoShape 363"/>
              <p:cNvSpPr>
                <a:spLocks noChangeAspect="1" noChangeArrowheads="1"/>
              </p:cNvSpPr>
              <p:nvPr/>
            </p:nvSpPr>
            <p:spPr bwMode="auto">
              <a:xfrm>
                <a:off x="1284" y="2821"/>
                <a:ext cx="40" cy="16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081" name="AutoShape 364"/>
              <p:cNvSpPr>
                <a:spLocks noChangeAspect="1" noChangeArrowheads="1"/>
              </p:cNvSpPr>
              <p:nvPr/>
            </p:nvSpPr>
            <p:spPr bwMode="auto">
              <a:xfrm>
                <a:off x="1284" y="2652"/>
                <a:ext cx="40" cy="168"/>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80" name="Group 365"/>
            <p:cNvGrpSpPr>
              <a:grpSpLocks noChangeAspect="1"/>
            </p:cNvGrpSpPr>
            <p:nvPr/>
          </p:nvGrpSpPr>
          <p:grpSpPr bwMode="auto">
            <a:xfrm>
              <a:off x="1458" y="2184"/>
              <a:ext cx="9" cy="83"/>
              <a:chOff x="1658" y="2628"/>
              <a:chExt cx="40" cy="355"/>
            </a:xfrm>
          </p:grpSpPr>
          <p:sp>
            <p:nvSpPr>
              <p:cNvPr id="147078" name="AutoShape 366"/>
              <p:cNvSpPr>
                <a:spLocks noChangeAspect="1" noChangeArrowheads="1"/>
              </p:cNvSpPr>
              <p:nvPr/>
            </p:nvSpPr>
            <p:spPr bwMode="auto">
              <a:xfrm>
                <a:off x="1658" y="2628"/>
                <a:ext cx="40" cy="178"/>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079" name="AutoShape 367"/>
              <p:cNvSpPr>
                <a:spLocks noChangeAspect="1" noChangeArrowheads="1"/>
              </p:cNvSpPr>
              <p:nvPr/>
            </p:nvSpPr>
            <p:spPr bwMode="auto">
              <a:xfrm>
                <a:off x="1658" y="2805"/>
                <a:ext cx="40" cy="178"/>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81" name="Group 368"/>
            <p:cNvGrpSpPr>
              <a:grpSpLocks noChangeAspect="1"/>
            </p:cNvGrpSpPr>
            <p:nvPr/>
          </p:nvGrpSpPr>
          <p:grpSpPr bwMode="auto">
            <a:xfrm>
              <a:off x="1426" y="2228"/>
              <a:ext cx="9" cy="29"/>
              <a:chOff x="1516" y="2835"/>
              <a:chExt cx="42" cy="123"/>
            </a:xfrm>
          </p:grpSpPr>
          <p:sp>
            <p:nvSpPr>
              <p:cNvPr id="147076" name="AutoShape 369"/>
              <p:cNvSpPr>
                <a:spLocks noChangeAspect="1" noChangeArrowheads="1"/>
              </p:cNvSpPr>
              <p:nvPr/>
            </p:nvSpPr>
            <p:spPr bwMode="auto">
              <a:xfrm>
                <a:off x="1516" y="2897"/>
                <a:ext cx="42" cy="61"/>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077" name="AutoShape 370"/>
              <p:cNvSpPr>
                <a:spLocks noChangeAspect="1" noChangeArrowheads="1"/>
              </p:cNvSpPr>
              <p:nvPr/>
            </p:nvSpPr>
            <p:spPr bwMode="auto">
              <a:xfrm>
                <a:off x="1516" y="2835"/>
                <a:ext cx="42" cy="62"/>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82" name="Group 371"/>
            <p:cNvGrpSpPr>
              <a:grpSpLocks noChangeAspect="1"/>
            </p:cNvGrpSpPr>
            <p:nvPr/>
          </p:nvGrpSpPr>
          <p:grpSpPr bwMode="auto">
            <a:xfrm>
              <a:off x="1614" y="2144"/>
              <a:ext cx="9" cy="103"/>
              <a:chOff x="2195" y="2463"/>
              <a:chExt cx="40" cy="442"/>
            </a:xfrm>
          </p:grpSpPr>
          <p:sp>
            <p:nvSpPr>
              <p:cNvPr id="147074" name="AutoShape 372"/>
              <p:cNvSpPr>
                <a:spLocks noChangeAspect="1" noChangeArrowheads="1"/>
              </p:cNvSpPr>
              <p:nvPr/>
            </p:nvSpPr>
            <p:spPr bwMode="auto">
              <a:xfrm>
                <a:off x="2195" y="2684"/>
                <a:ext cx="40" cy="221"/>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075" name="AutoShape 373"/>
              <p:cNvSpPr>
                <a:spLocks noChangeAspect="1" noChangeArrowheads="1"/>
              </p:cNvSpPr>
              <p:nvPr/>
            </p:nvSpPr>
            <p:spPr bwMode="auto">
              <a:xfrm>
                <a:off x="2195" y="2463"/>
                <a:ext cx="40" cy="221"/>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83" name="Group 374"/>
            <p:cNvGrpSpPr>
              <a:grpSpLocks noChangeAspect="1"/>
            </p:cNvGrpSpPr>
            <p:nvPr/>
          </p:nvGrpSpPr>
          <p:grpSpPr bwMode="auto">
            <a:xfrm>
              <a:off x="1646" y="2177"/>
              <a:ext cx="10" cy="90"/>
              <a:chOff x="2329" y="2599"/>
              <a:chExt cx="43" cy="386"/>
            </a:xfrm>
          </p:grpSpPr>
          <p:sp>
            <p:nvSpPr>
              <p:cNvPr id="147072" name="AutoShape 375"/>
              <p:cNvSpPr>
                <a:spLocks noChangeAspect="1" noChangeArrowheads="1"/>
              </p:cNvSpPr>
              <p:nvPr/>
            </p:nvSpPr>
            <p:spPr bwMode="auto">
              <a:xfrm>
                <a:off x="2329" y="2791"/>
                <a:ext cx="43" cy="19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073" name="AutoShape 376"/>
              <p:cNvSpPr>
                <a:spLocks noChangeAspect="1" noChangeArrowheads="1"/>
              </p:cNvSpPr>
              <p:nvPr/>
            </p:nvSpPr>
            <p:spPr bwMode="auto">
              <a:xfrm>
                <a:off x="2329" y="2599"/>
                <a:ext cx="43" cy="19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84" name="Group 377"/>
            <p:cNvGrpSpPr>
              <a:grpSpLocks noChangeAspect="1"/>
            </p:cNvGrpSpPr>
            <p:nvPr/>
          </p:nvGrpSpPr>
          <p:grpSpPr bwMode="auto">
            <a:xfrm>
              <a:off x="1546" y="2145"/>
              <a:ext cx="10" cy="38"/>
              <a:chOff x="2478" y="2807"/>
              <a:chExt cx="43" cy="178"/>
            </a:xfrm>
          </p:grpSpPr>
          <p:sp>
            <p:nvSpPr>
              <p:cNvPr id="147070" name="AutoShape 378"/>
              <p:cNvSpPr>
                <a:spLocks noChangeAspect="1" noChangeArrowheads="1"/>
              </p:cNvSpPr>
              <p:nvPr/>
            </p:nvSpPr>
            <p:spPr bwMode="auto">
              <a:xfrm>
                <a:off x="2478" y="2807"/>
                <a:ext cx="43" cy="89"/>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071" name="AutoShape 379"/>
              <p:cNvSpPr>
                <a:spLocks noChangeAspect="1" noChangeArrowheads="1"/>
              </p:cNvSpPr>
              <p:nvPr/>
            </p:nvSpPr>
            <p:spPr bwMode="auto">
              <a:xfrm>
                <a:off x="2478" y="2896"/>
                <a:ext cx="43" cy="8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85" name="Group 380"/>
            <p:cNvGrpSpPr>
              <a:grpSpLocks noChangeAspect="1"/>
            </p:cNvGrpSpPr>
            <p:nvPr/>
          </p:nvGrpSpPr>
          <p:grpSpPr bwMode="auto">
            <a:xfrm>
              <a:off x="1583" y="2140"/>
              <a:ext cx="9" cy="63"/>
              <a:chOff x="2065" y="2441"/>
              <a:chExt cx="40" cy="272"/>
            </a:xfrm>
          </p:grpSpPr>
          <p:sp>
            <p:nvSpPr>
              <p:cNvPr id="147068" name="AutoShape 381"/>
              <p:cNvSpPr>
                <a:spLocks noChangeAspect="1" noChangeArrowheads="1"/>
              </p:cNvSpPr>
              <p:nvPr/>
            </p:nvSpPr>
            <p:spPr bwMode="auto">
              <a:xfrm>
                <a:off x="2065" y="2576"/>
                <a:ext cx="40" cy="13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069" name="AutoShape 382"/>
              <p:cNvSpPr>
                <a:spLocks noChangeAspect="1" noChangeArrowheads="1"/>
              </p:cNvSpPr>
              <p:nvPr/>
            </p:nvSpPr>
            <p:spPr bwMode="auto">
              <a:xfrm>
                <a:off x="2065" y="2441"/>
                <a:ext cx="40" cy="13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86" name="Group 383"/>
            <p:cNvGrpSpPr>
              <a:grpSpLocks noChangeAspect="1"/>
            </p:cNvGrpSpPr>
            <p:nvPr/>
          </p:nvGrpSpPr>
          <p:grpSpPr bwMode="auto">
            <a:xfrm>
              <a:off x="1677" y="2222"/>
              <a:ext cx="10" cy="38"/>
              <a:chOff x="2478" y="2807"/>
              <a:chExt cx="43" cy="178"/>
            </a:xfrm>
          </p:grpSpPr>
          <p:sp>
            <p:nvSpPr>
              <p:cNvPr id="147066" name="AutoShape 384"/>
              <p:cNvSpPr>
                <a:spLocks noChangeAspect="1" noChangeArrowheads="1"/>
              </p:cNvSpPr>
              <p:nvPr/>
            </p:nvSpPr>
            <p:spPr bwMode="auto">
              <a:xfrm>
                <a:off x="2478" y="2807"/>
                <a:ext cx="43" cy="89"/>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067" name="AutoShape 385"/>
              <p:cNvSpPr>
                <a:spLocks noChangeAspect="1" noChangeArrowheads="1"/>
              </p:cNvSpPr>
              <p:nvPr/>
            </p:nvSpPr>
            <p:spPr bwMode="auto">
              <a:xfrm>
                <a:off x="2478" y="2896"/>
                <a:ext cx="43" cy="8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87" name="Group 386"/>
            <p:cNvGrpSpPr>
              <a:grpSpLocks noChangeAspect="1"/>
            </p:cNvGrpSpPr>
            <p:nvPr/>
          </p:nvGrpSpPr>
          <p:grpSpPr bwMode="auto">
            <a:xfrm>
              <a:off x="1805" y="2140"/>
              <a:ext cx="10" cy="52"/>
              <a:chOff x="3094" y="2443"/>
              <a:chExt cx="40" cy="183"/>
            </a:xfrm>
          </p:grpSpPr>
          <p:sp>
            <p:nvSpPr>
              <p:cNvPr id="147064" name="AutoShape 387"/>
              <p:cNvSpPr>
                <a:spLocks noChangeAspect="1" noChangeArrowheads="1"/>
              </p:cNvSpPr>
              <p:nvPr/>
            </p:nvSpPr>
            <p:spPr bwMode="auto">
              <a:xfrm flipV="1">
                <a:off x="3094" y="2443"/>
                <a:ext cx="40" cy="92"/>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065" name="AutoShape 388"/>
              <p:cNvSpPr>
                <a:spLocks noChangeAspect="1" noChangeArrowheads="1"/>
              </p:cNvSpPr>
              <p:nvPr/>
            </p:nvSpPr>
            <p:spPr bwMode="auto">
              <a:xfrm flipV="1">
                <a:off x="3094" y="2534"/>
                <a:ext cx="40" cy="92"/>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88" name="Group 389"/>
            <p:cNvGrpSpPr>
              <a:grpSpLocks noChangeAspect="1"/>
            </p:cNvGrpSpPr>
            <p:nvPr/>
          </p:nvGrpSpPr>
          <p:grpSpPr bwMode="auto">
            <a:xfrm>
              <a:off x="1778" y="2140"/>
              <a:ext cx="11" cy="96"/>
              <a:chOff x="2978" y="2432"/>
              <a:chExt cx="46" cy="375"/>
            </a:xfrm>
          </p:grpSpPr>
          <p:sp>
            <p:nvSpPr>
              <p:cNvPr id="147062" name="AutoShape 390"/>
              <p:cNvSpPr>
                <a:spLocks noChangeAspect="1" noChangeArrowheads="1"/>
              </p:cNvSpPr>
              <p:nvPr/>
            </p:nvSpPr>
            <p:spPr bwMode="auto">
              <a:xfrm>
                <a:off x="2978" y="2619"/>
                <a:ext cx="46" cy="188"/>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063" name="AutoShape 391"/>
              <p:cNvSpPr>
                <a:spLocks noChangeAspect="1" noChangeArrowheads="1"/>
              </p:cNvSpPr>
              <p:nvPr/>
            </p:nvSpPr>
            <p:spPr bwMode="auto">
              <a:xfrm>
                <a:off x="2978" y="2432"/>
                <a:ext cx="46" cy="188"/>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89" name="Group 392"/>
            <p:cNvGrpSpPr>
              <a:grpSpLocks noChangeAspect="1"/>
            </p:cNvGrpSpPr>
            <p:nvPr/>
          </p:nvGrpSpPr>
          <p:grpSpPr bwMode="auto">
            <a:xfrm>
              <a:off x="1747" y="2160"/>
              <a:ext cx="10" cy="102"/>
              <a:chOff x="2832" y="2516"/>
              <a:chExt cx="43" cy="436"/>
            </a:xfrm>
          </p:grpSpPr>
          <p:sp>
            <p:nvSpPr>
              <p:cNvPr id="147060" name="AutoShape 393"/>
              <p:cNvSpPr>
                <a:spLocks noChangeAspect="1" noChangeArrowheads="1"/>
              </p:cNvSpPr>
              <p:nvPr/>
            </p:nvSpPr>
            <p:spPr bwMode="auto">
              <a:xfrm flipV="1">
                <a:off x="2832" y="2516"/>
                <a:ext cx="43" cy="21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061" name="AutoShape 394"/>
              <p:cNvSpPr>
                <a:spLocks noChangeAspect="1" noChangeArrowheads="1"/>
              </p:cNvSpPr>
              <p:nvPr/>
            </p:nvSpPr>
            <p:spPr bwMode="auto">
              <a:xfrm flipV="1">
                <a:off x="2832" y="2734"/>
                <a:ext cx="43" cy="218"/>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90" name="Group 395"/>
            <p:cNvGrpSpPr>
              <a:grpSpLocks noChangeAspect="1"/>
            </p:cNvGrpSpPr>
            <p:nvPr/>
          </p:nvGrpSpPr>
          <p:grpSpPr bwMode="auto">
            <a:xfrm>
              <a:off x="1716" y="2213"/>
              <a:ext cx="9" cy="51"/>
              <a:chOff x="2668" y="2761"/>
              <a:chExt cx="40" cy="217"/>
            </a:xfrm>
          </p:grpSpPr>
          <p:sp>
            <p:nvSpPr>
              <p:cNvPr id="147058" name="AutoShape 396"/>
              <p:cNvSpPr>
                <a:spLocks noChangeAspect="1" noChangeArrowheads="1"/>
              </p:cNvSpPr>
              <p:nvPr/>
            </p:nvSpPr>
            <p:spPr bwMode="auto">
              <a:xfrm>
                <a:off x="2668" y="2870"/>
                <a:ext cx="40" cy="10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059" name="AutoShape 397"/>
              <p:cNvSpPr>
                <a:spLocks noChangeAspect="1" noChangeArrowheads="1"/>
              </p:cNvSpPr>
              <p:nvPr/>
            </p:nvSpPr>
            <p:spPr bwMode="auto">
              <a:xfrm>
                <a:off x="2668" y="2761"/>
                <a:ext cx="40" cy="108"/>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91" name="Group 398"/>
            <p:cNvGrpSpPr>
              <a:grpSpLocks noChangeAspect="1"/>
            </p:cNvGrpSpPr>
            <p:nvPr/>
          </p:nvGrpSpPr>
          <p:grpSpPr bwMode="auto">
            <a:xfrm flipV="1">
              <a:off x="1910" y="2163"/>
              <a:ext cx="10" cy="103"/>
              <a:chOff x="3217" y="3037"/>
              <a:chExt cx="46" cy="372"/>
            </a:xfrm>
          </p:grpSpPr>
          <p:sp>
            <p:nvSpPr>
              <p:cNvPr id="147056" name="AutoShape 399"/>
              <p:cNvSpPr>
                <a:spLocks noChangeAspect="1" noChangeArrowheads="1"/>
              </p:cNvSpPr>
              <p:nvPr/>
            </p:nvSpPr>
            <p:spPr bwMode="auto">
              <a:xfrm>
                <a:off x="3217" y="3037"/>
                <a:ext cx="46" cy="189"/>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057" name="AutoShape 400"/>
              <p:cNvSpPr>
                <a:spLocks noChangeAspect="1" noChangeArrowheads="1"/>
              </p:cNvSpPr>
              <p:nvPr/>
            </p:nvSpPr>
            <p:spPr bwMode="auto">
              <a:xfrm>
                <a:off x="3217" y="3220"/>
                <a:ext cx="46" cy="189"/>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92" name="Group 401"/>
            <p:cNvGrpSpPr>
              <a:grpSpLocks noChangeAspect="1"/>
            </p:cNvGrpSpPr>
            <p:nvPr/>
          </p:nvGrpSpPr>
          <p:grpSpPr bwMode="auto">
            <a:xfrm>
              <a:off x="1877" y="2137"/>
              <a:ext cx="11" cy="102"/>
              <a:chOff x="3353" y="3099"/>
              <a:chExt cx="40" cy="455"/>
            </a:xfrm>
          </p:grpSpPr>
          <p:sp>
            <p:nvSpPr>
              <p:cNvPr id="147054" name="AutoShape 402"/>
              <p:cNvSpPr>
                <a:spLocks noChangeAspect="1" noChangeArrowheads="1"/>
              </p:cNvSpPr>
              <p:nvPr/>
            </p:nvSpPr>
            <p:spPr bwMode="auto">
              <a:xfrm>
                <a:off x="3353" y="3325"/>
                <a:ext cx="40" cy="229"/>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055" name="AutoShape 403"/>
              <p:cNvSpPr>
                <a:spLocks noChangeAspect="1" noChangeArrowheads="1"/>
              </p:cNvSpPr>
              <p:nvPr/>
            </p:nvSpPr>
            <p:spPr bwMode="auto">
              <a:xfrm>
                <a:off x="3353" y="3099"/>
                <a:ext cx="40" cy="22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93" name="Group 404"/>
            <p:cNvGrpSpPr>
              <a:grpSpLocks noChangeAspect="1"/>
            </p:cNvGrpSpPr>
            <p:nvPr/>
          </p:nvGrpSpPr>
          <p:grpSpPr bwMode="auto">
            <a:xfrm>
              <a:off x="1849" y="2139"/>
              <a:ext cx="11" cy="61"/>
              <a:chOff x="3486" y="3261"/>
              <a:chExt cx="40" cy="337"/>
            </a:xfrm>
          </p:grpSpPr>
          <p:sp>
            <p:nvSpPr>
              <p:cNvPr id="147052" name="AutoShape 405"/>
              <p:cNvSpPr>
                <a:spLocks noChangeAspect="1" noChangeArrowheads="1"/>
              </p:cNvSpPr>
              <p:nvPr/>
            </p:nvSpPr>
            <p:spPr bwMode="auto">
              <a:xfrm>
                <a:off x="3486" y="3430"/>
                <a:ext cx="40" cy="16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053" name="AutoShape 406"/>
              <p:cNvSpPr>
                <a:spLocks noChangeAspect="1" noChangeArrowheads="1"/>
              </p:cNvSpPr>
              <p:nvPr/>
            </p:nvSpPr>
            <p:spPr bwMode="auto">
              <a:xfrm>
                <a:off x="3486" y="3261"/>
                <a:ext cx="40" cy="168"/>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94" name="Group 407"/>
            <p:cNvGrpSpPr>
              <a:grpSpLocks noChangeAspect="1"/>
            </p:cNvGrpSpPr>
            <p:nvPr/>
          </p:nvGrpSpPr>
          <p:grpSpPr bwMode="auto">
            <a:xfrm>
              <a:off x="2043" y="2143"/>
              <a:ext cx="9" cy="104"/>
              <a:chOff x="2195" y="2463"/>
              <a:chExt cx="40" cy="442"/>
            </a:xfrm>
          </p:grpSpPr>
          <p:sp>
            <p:nvSpPr>
              <p:cNvPr id="147050" name="AutoShape 408"/>
              <p:cNvSpPr>
                <a:spLocks noChangeAspect="1" noChangeArrowheads="1"/>
              </p:cNvSpPr>
              <p:nvPr/>
            </p:nvSpPr>
            <p:spPr bwMode="auto">
              <a:xfrm>
                <a:off x="2195" y="2684"/>
                <a:ext cx="40" cy="221"/>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051" name="AutoShape 409"/>
              <p:cNvSpPr>
                <a:spLocks noChangeAspect="1" noChangeArrowheads="1"/>
              </p:cNvSpPr>
              <p:nvPr/>
            </p:nvSpPr>
            <p:spPr bwMode="auto">
              <a:xfrm>
                <a:off x="2195" y="2463"/>
                <a:ext cx="40" cy="221"/>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95" name="Group 410"/>
            <p:cNvGrpSpPr>
              <a:grpSpLocks noChangeAspect="1"/>
            </p:cNvGrpSpPr>
            <p:nvPr/>
          </p:nvGrpSpPr>
          <p:grpSpPr bwMode="auto">
            <a:xfrm>
              <a:off x="2008" y="2176"/>
              <a:ext cx="10" cy="91"/>
              <a:chOff x="2329" y="2599"/>
              <a:chExt cx="43" cy="386"/>
            </a:xfrm>
          </p:grpSpPr>
          <p:sp>
            <p:nvSpPr>
              <p:cNvPr id="147048" name="AutoShape 411"/>
              <p:cNvSpPr>
                <a:spLocks noChangeAspect="1" noChangeArrowheads="1"/>
              </p:cNvSpPr>
              <p:nvPr/>
            </p:nvSpPr>
            <p:spPr bwMode="auto">
              <a:xfrm>
                <a:off x="2329" y="2791"/>
                <a:ext cx="43" cy="19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049" name="AutoShape 412"/>
              <p:cNvSpPr>
                <a:spLocks noChangeAspect="1" noChangeArrowheads="1"/>
              </p:cNvSpPr>
              <p:nvPr/>
            </p:nvSpPr>
            <p:spPr bwMode="auto">
              <a:xfrm>
                <a:off x="2329" y="2599"/>
                <a:ext cx="43" cy="19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96" name="Group 413"/>
            <p:cNvGrpSpPr>
              <a:grpSpLocks noChangeAspect="1"/>
            </p:cNvGrpSpPr>
            <p:nvPr/>
          </p:nvGrpSpPr>
          <p:grpSpPr bwMode="auto">
            <a:xfrm>
              <a:off x="1938" y="2201"/>
              <a:ext cx="10" cy="63"/>
              <a:chOff x="2065" y="2441"/>
              <a:chExt cx="40" cy="272"/>
            </a:xfrm>
          </p:grpSpPr>
          <p:sp>
            <p:nvSpPr>
              <p:cNvPr id="147046" name="AutoShape 414"/>
              <p:cNvSpPr>
                <a:spLocks noChangeAspect="1" noChangeArrowheads="1"/>
              </p:cNvSpPr>
              <p:nvPr/>
            </p:nvSpPr>
            <p:spPr bwMode="auto">
              <a:xfrm>
                <a:off x="2065" y="2576"/>
                <a:ext cx="40" cy="13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047" name="AutoShape 415"/>
              <p:cNvSpPr>
                <a:spLocks noChangeAspect="1" noChangeArrowheads="1"/>
              </p:cNvSpPr>
              <p:nvPr/>
            </p:nvSpPr>
            <p:spPr bwMode="auto">
              <a:xfrm>
                <a:off x="2065" y="2441"/>
                <a:ext cx="40" cy="13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97" name="Group 416"/>
            <p:cNvGrpSpPr>
              <a:grpSpLocks noChangeAspect="1"/>
            </p:cNvGrpSpPr>
            <p:nvPr/>
          </p:nvGrpSpPr>
          <p:grpSpPr bwMode="auto">
            <a:xfrm flipV="1">
              <a:off x="1978" y="2218"/>
              <a:ext cx="11" cy="42"/>
              <a:chOff x="2815" y="1923"/>
              <a:chExt cx="40" cy="217"/>
            </a:xfrm>
          </p:grpSpPr>
          <p:sp>
            <p:nvSpPr>
              <p:cNvPr id="147044" name="AutoShape 417"/>
              <p:cNvSpPr>
                <a:spLocks noChangeAspect="1" noChangeArrowheads="1"/>
              </p:cNvSpPr>
              <p:nvPr/>
            </p:nvSpPr>
            <p:spPr bwMode="auto">
              <a:xfrm>
                <a:off x="2815" y="2032"/>
                <a:ext cx="40" cy="10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045" name="AutoShape 418"/>
              <p:cNvSpPr>
                <a:spLocks noChangeAspect="1" noChangeArrowheads="1"/>
              </p:cNvSpPr>
              <p:nvPr/>
            </p:nvSpPr>
            <p:spPr bwMode="auto">
              <a:xfrm>
                <a:off x="2815" y="1923"/>
                <a:ext cx="40" cy="108"/>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98" name="Group 419"/>
            <p:cNvGrpSpPr>
              <a:grpSpLocks noChangeAspect="1"/>
            </p:cNvGrpSpPr>
            <p:nvPr/>
          </p:nvGrpSpPr>
          <p:grpSpPr bwMode="auto">
            <a:xfrm>
              <a:off x="2073" y="2139"/>
              <a:ext cx="11" cy="64"/>
              <a:chOff x="2329" y="2599"/>
              <a:chExt cx="43" cy="386"/>
            </a:xfrm>
          </p:grpSpPr>
          <p:sp>
            <p:nvSpPr>
              <p:cNvPr id="147042" name="AutoShape 420"/>
              <p:cNvSpPr>
                <a:spLocks noChangeAspect="1" noChangeArrowheads="1"/>
              </p:cNvSpPr>
              <p:nvPr/>
            </p:nvSpPr>
            <p:spPr bwMode="auto">
              <a:xfrm>
                <a:off x="2329" y="2791"/>
                <a:ext cx="43" cy="19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043" name="AutoShape 421"/>
              <p:cNvSpPr>
                <a:spLocks noChangeAspect="1" noChangeArrowheads="1"/>
              </p:cNvSpPr>
              <p:nvPr/>
            </p:nvSpPr>
            <p:spPr bwMode="auto">
              <a:xfrm>
                <a:off x="2329" y="2599"/>
                <a:ext cx="43" cy="19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999" name="Group 422"/>
            <p:cNvGrpSpPr>
              <a:grpSpLocks noChangeAspect="1"/>
            </p:cNvGrpSpPr>
            <p:nvPr/>
          </p:nvGrpSpPr>
          <p:grpSpPr bwMode="auto">
            <a:xfrm>
              <a:off x="2111" y="2144"/>
              <a:ext cx="10" cy="38"/>
              <a:chOff x="2478" y="2807"/>
              <a:chExt cx="43" cy="178"/>
            </a:xfrm>
          </p:grpSpPr>
          <p:sp>
            <p:nvSpPr>
              <p:cNvPr id="147040" name="AutoShape 423"/>
              <p:cNvSpPr>
                <a:spLocks noChangeAspect="1" noChangeArrowheads="1"/>
              </p:cNvSpPr>
              <p:nvPr/>
            </p:nvSpPr>
            <p:spPr bwMode="auto">
              <a:xfrm>
                <a:off x="2478" y="2807"/>
                <a:ext cx="43" cy="89"/>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041" name="AutoShape 424"/>
              <p:cNvSpPr>
                <a:spLocks noChangeAspect="1" noChangeArrowheads="1"/>
              </p:cNvSpPr>
              <p:nvPr/>
            </p:nvSpPr>
            <p:spPr bwMode="auto">
              <a:xfrm>
                <a:off x="2478" y="2896"/>
                <a:ext cx="43" cy="8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7000" name="Group 425"/>
            <p:cNvGrpSpPr>
              <a:grpSpLocks noChangeAspect="1"/>
            </p:cNvGrpSpPr>
            <p:nvPr/>
          </p:nvGrpSpPr>
          <p:grpSpPr bwMode="auto">
            <a:xfrm>
              <a:off x="2172" y="2154"/>
              <a:ext cx="10" cy="104"/>
              <a:chOff x="2195" y="2463"/>
              <a:chExt cx="40" cy="442"/>
            </a:xfrm>
          </p:grpSpPr>
          <p:sp>
            <p:nvSpPr>
              <p:cNvPr id="147038" name="AutoShape 426"/>
              <p:cNvSpPr>
                <a:spLocks noChangeAspect="1" noChangeArrowheads="1"/>
              </p:cNvSpPr>
              <p:nvPr/>
            </p:nvSpPr>
            <p:spPr bwMode="auto">
              <a:xfrm>
                <a:off x="2195" y="2684"/>
                <a:ext cx="40" cy="221"/>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039" name="AutoShape 427"/>
              <p:cNvSpPr>
                <a:spLocks noChangeAspect="1" noChangeArrowheads="1"/>
              </p:cNvSpPr>
              <p:nvPr/>
            </p:nvSpPr>
            <p:spPr bwMode="auto">
              <a:xfrm>
                <a:off x="2195" y="2463"/>
                <a:ext cx="40" cy="221"/>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7001" name="Group 428"/>
            <p:cNvGrpSpPr>
              <a:grpSpLocks noChangeAspect="1"/>
            </p:cNvGrpSpPr>
            <p:nvPr/>
          </p:nvGrpSpPr>
          <p:grpSpPr bwMode="auto">
            <a:xfrm>
              <a:off x="2204" y="2192"/>
              <a:ext cx="10" cy="74"/>
              <a:chOff x="2329" y="2599"/>
              <a:chExt cx="43" cy="386"/>
            </a:xfrm>
          </p:grpSpPr>
          <p:sp>
            <p:nvSpPr>
              <p:cNvPr id="147036" name="AutoShape 429"/>
              <p:cNvSpPr>
                <a:spLocks noChangeAspect="1" noChangeArrowheads="1"/>
              </p:cNvSpPr>
              <p:nvPr/>
            </p:nvSpPr>
            <p:spPr bwMode="auto">
              <a:xfrm>
                <a:off x="2329" y="2791"/>
                <a:ext cx="43" cy="19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037" name="AutoShape 430"/>
              <p:cNvSpPr>
                <a:spLocks noChangeAspect="1" noChangeArrowheads="1"/>
              </p:cNvSpPr>
              <p:nvPr/>
            </p:nvSpPr>
            <p:spPr bwMode="auto">
              <a:xfrm>
                <a:off x="2329" y="2599"/>
                <a:ext cx="43" cy="19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7002" name="Group 431"/>
            <p:cNvGrpSpPr>
              <a:grpSpLocks noChangeAspect="1"/>
            </p:cNvGrpSpPr>
            <p:nvPr/>
          </p:nvGrpSpPr>
          <p:grpSpPr bwMode="auto">
            <a:xfrm>
              <a:off x="2141" y="2140"/>
              <a:ext cx="10" cy="79"/>
              <a:chOff x="2065" y="2441"/>
              <a:chExt cx="40" cy="272"/>
            </a:xfrm>
          </p:grpSpPr>
          <p:sp>
            <p:nvSpPr>
              <p:cNvPr id="147034" name="AutoShape 432"/>
              <p:cNvSpPr>
                <a:spLocks noChangeAspect="1" noChangeArrowheads="1"/>
              </p:cNvSpPr>
              <p:nvPr/>
            </p:nvSpPr>
            <p:spPr bwMode="auto">
              <a:xfrm>
                <a:off x="2065" y="2576"/>
                <a:ext cx="40" cy="13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035" name="AutoShape 433"/>
              <p:cNvSpPr>
                <a:spLocks noChangeAspect="1" noChangeArrowheads="1"/>
              </p:cNvSpPr>
              <p:nvPr/>
            </p:nvSpPr>
            <p:spPr bwMode="auto">
              <a:xfrm>
                <a:off x="2065" y="2441"/>
                <a:ext cx="40" cy="13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7003" name="Group 434"/>
            <p:cNvGrpSpPr>
              <a:grpSpLocks noChangeAspect="1"/>
            </p:cNvGrpSpPr>
            <p:nvPr/>
          </p:nvGrpSpPr>
          <p:grpSpPr bwMode="auto">
            <a:xfrm>
              <a:off x="1217" y="2147"/>
              <a:ext cx="9" cy="104"/>
              <a:chOff x="1790" y="2461"/>
              <a:chExt cx="40" cy="447"/>
            </a:xfrm>
          </p:grpSpPr>
          <p:sp>
            <p:nvSpPr>
              <p:cNvPr id="147032" name="AutoShape 435"/>
              <p:cNvSpPr>
                <a:spLocks noChangeAspect="1" noChangeArrowheads="1"/>
              </p:cNvSpPr>
              <p:nvPr/>
            </p:nvSpPr>
            <p:spPr bwMode="auto">
              <a:xfrm>
                <a:off x="1790" y="2461"/>
                <a:ext cx="40" cy="223"/>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033" name="AutoShape 436"/>
              <p:cNvSpPr>
                <a:spLocks noChangeAspect="1" noChangeArrowheads="1"/>
              </p:cNvSpPr>
              <p:nvPr/>
            </p:nvSpPr>
            <p:spPr bwMode="auto">
              <a:xfrm>
                <a:off x="1790" y="2684"/>
                <a:ext cx="40" cy="22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7004" name="Group 437"/>
            <p:cNvGrpSpPr>
              <a:grpSpLocks noChangeAspect="1"/>
            </p:cNvGrpSpPr>
            <p:nvPr/>
          </p:nvGrpSpPr>
          <p:grpSpPr bwMode="auto">
            <a:xfrm>
              <a:off x="1247" y="2138"/>
              <a:ext cx="9" cy="76"/>
              <a:chOff x="1914" y="2425"/>
              <a:chExt cx="40" cy="326"/>
            </a:xfrm>
          </p:grpSpPr>
          <p:sp>
            <p:nvSpPr>
              <p:cNvPr id="147030" name="AutoShape 438"/>
              <p:cNvSpPr>
                <a:spLocks noChangeAspect="1" noChangeArrowheads="1"/>
              </p:cNvSpPr>
              <p:nvPr/>
            </p:nvSpPr>
            <p:spPr bwMode="auto">
              <a:xfrm>
                <a:off x="1914" y="2425"/>
                <a:ext cx="40" cy="163"/>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031" name="AutoShape 439"/>
              <p:cNvSpPr>
                <a:spLocks noChangeAspect="1" noChangeArrowheads="1"/>
              </p:cNvSpPr>
              <p:nvPr/>
            </p:nvSpPr>
            <p:spPr bwMode="auto">
              <a:xfrm>
                <a:off x="1914" y="2588"/>
                <a:ext cx="40" cy="163"/>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7005" name="Group 440"/>
            <p:cNvGrpSpPr>
              <a:grpSpLocks noChangeAspect="1"/>
            </p:cNvGrpSpPr>
            <p:nvPr/>
          </p:nvGrpSpPr>
          <p:grpSpPr bwMode="auto">
            <a:xfrm>
              <a:off x="1184" y="2184"/>
              <a:ext cx="10" cy="83"/>
              <a:chOff x="1658" y="2628"/>
              <a:chExt cx="40" cy="355"/>
            </a:xfrm>
          </p:grpSpPr>
          <p:sp>
            <p:nvSpPr>
              <p:cNvPr id="147028" name="AutoShape 441"/>
              <p:cNvSpPr>
                <a:spLocks noChangeAspect="1" noChangeArrowheads="1"/>
              </p:cNvSpPr>
              <p:nvPr/>
            </p:nvSpPr>
            <p:spPr bwMode="auto">
              <a:xfrm>
                <a:off x="1658" y="2628"/>
                <a:ext cx="40" cy="178"/>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029" name="AutoShape 442"/>
              <p:cNvSpPr>
                <a:spLocks noChangeAspect="1" noChangeArrowheads="1"/>
              </p:cNvSpPr>
              <p:nvPr/>
            </p:nvSpPr>
            <p:spPr bwMode="auto">
              <a:xfrm>
                <a:off x="1658" y="2805"/>
                <a:ext cx="40" cy="178"/>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7006" name="Group 443"/>
            <p:cNvGrpSpPr>
              <a:grpSpLocks noChangeAspect="1"/>
            </p:cNvGrpSpPr>
            <p:nvPr/>
          </p:nvGrpSpPr>
          <p:grpSpPr bwMode="auto">
            <a:xfrm>
              <a:off x="1151" y="2227"/>
              <a:ext cx="10" cy="29"/>
              <a:chOff x="1516" y="2835"/>
              <a:chExt cx="42" cy="123"/>
            </a:xfrm>
          </p:grpSpPr>
          <p:sp>
            <p:nvSpPr>
              <p:cNvPr id="147026" name="AutoShape 444"/>
              <p:cNvSpPr>
                <a:spLocks noChangeAspect="1" noChangeArrowheads="1"/>
              </p:cNvSpPr>
              <p:nvPr/>
            </p:nvSpPr>
            <p:spPr bwMode="auto">
              <a:xfrm>
                <a:off x="1516" y="2897"/>
                <a:ext cx="42" cy="61"/>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027" name="AutoShape 445"/>
              <p:cNvSpPr>
                <a:spLocks noChangeAspect="1" noChangeArrowheads="1"/>
              </p:cNvSpPr>
              <p:nvPr/>
            </p:nvSpPr>
            <p:spPr bwMode="auto">
              <a:xfrm>
                <a:off x="1516" y="2835"/>
                <a:ext cx="42" cy="62"/>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7007" name="Group 446"/>
            <p:cNvGrpSpPr>
              <a:grpSpLocks noChangeAspect="1"/>
            </p:cNvGrpSpPr>
            <p:nvPr/>
          </p:nvGrpSpPr>
          <p:grpSpPr bwMode="auto">
            <a:xfrm flipV="1">
              <a:off x="1270" y="2143"/>
              <a:ext cx="10" cy="37"/>
              <a:chOff x="2478" y="2807"/>
              <a:chExt cx="43" cy="178"/>
            </a:xfrm>
          </p:grpSpPr>
          <p:sp>
            <p:nvSpPr>
              <p:cNvPr id="147024" name="AutoShape 447"/>
              <p:cNvSpPr>
                <a:spLocks noChangeAspect="1" noChangeArrowheads="1"/>
              </p:cNvSpPr>
              <p:nvPr/>
            </p:nvSpPr>
            <p:spPr bwMode="auto">
              <a:xfrm>
                <a:off x="2478" y="2807"/>
                <a:ext cx="43" cy="89"/>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025" name="AutoShape 448"/>
              <p:cNvSpPr>
                <a:spLocks noChangeAspect="1" noChangeArrowheads="1"/>
              </p:cNvSpPr>
              <p:nvPr/>
            </p:nvSpPr>
            <p:spPr bwMode="auto">
              <a:xfrm flipV="1">
                <a:off x="2478" y="2896"/>
                <a:ext cx="43" cy="8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sp>
          <p:nvSpPr>
            <p:cNvPr id="147008" name="Freeform 449"/>
            <p:cNvSpPr>
              <a:spLocks noChangeAspect="1"/>
            </p:cNvSpPr>
            <p:nvPr/>
          </p:nvSpPr>
          <p:spPr bwMode="auto">
            <a:xfrm flipH="1">
              <a:off x="2141"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009" name="Freeform 450"/>
            <p:cNvSpPr>
              <a:spLocks noChangeAspect="1"/>
            </p:cNvSpPr>
            <p:nvPr/>
          </p:nvSpPr>
          <p:spPr bwMode="auto">
            <a:xfrm flipH="1">
              <a:off x="2062"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010" name="Freeform 451"/>
            <p:cNvSpPr>
              <a:spLocks noChangeAspect="1"/>
            </p:cNvSpPr>
            <p:nvPr/>
          </p:nvSpPr>
          <p:spPr bwMode="auto">
            <a:xfrm flipH="1">
              <a:off x="1868"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011" name="Freeform 452"/>
            <p:cNvSpPr>
              <a:spLocks noChangeAspect="1"/>
            </p:cNvSpPr>
            <p:nvPr/>
          </p:nvSpPr>
          <p:spPr bwMode="auto">
            <a:xfrm flipH="1">
              <a:off x="1789"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012" name="Freeform 453"/>
            <p:cNvSpPr>
              <a:spLocks noChangeAspect="1"/>
            </p:cNvSpPr>
            <p:nvPr/>
          </p:nvSpPr>
          <p:spPr bwMode="auto">
            <a:xfrm flipH="1">
              <a:off x="1596"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013" name="Freeform 454"/>
            <p:cNvSpPr>
              <a:spLocks noChangeAspect="1"/>
            </p:cNvSpPr>
            <p:nvPr/>
          </p:nvSpPr>
          <p:spPr bwMode="auto">
            <a:xfrm flipH="1">
              <a:off x="1517"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014" name="Freeform 455"/>
            <p:cNvSpPr>
              <a:spLocks noChangeAspect="1"/>
            </p:cNvSpPr>
            <p:nvPr/>
          </p:nvSpPr>
          <p:spPr bwMode="auto">
            <a:xfrm flipH="1">
              <a:off x="1324" y="2136"/>
              <a:ext cx="142"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015" name="Freeform 456"/>
            <p:cNvSpPr>
              <a:spLocks noChangeAspect="1"/>
            </p:cNvSpPr>
            <p:nvPr/>
          </p:nvSpPr>
          <p:spPr bwMode="auto">
            <a:xfrm flipH="1">
              <a:off x="1245" y="2136"/>
              <a:ext cx="142"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016" name="Freeform 457"/>
            <p:cNvSpPr>
              <a:spLocks noChangeAspect="1"/>
            </p:cNvSpPr>
            <p:nvPr/>
          </p:nvSpPr>
          <p:spPr bwMode="auto">
            <a:xfrm flipH="1">
              <a:off x="1049"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017" name="Freeform 458"/>
            <p:cNvSpPr>
              <a:spLocks noChangeAspect="1"/>
            </p:cNvSpPr>
            <p:nvPr/>
          </p:nvSpPr>
          <p:spPr bwMode="auto">
            <a:xfrm flipH="1">
              <a:off x="970"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018" name="Freeform 459"/>
            <p:cNvSpPr>
              <a:spLocks noChangeAspect="1"/>
            </p:cNvSpPr>
            <p:nvPr/>
          </p:nvSpPr>
          <p:spPr bwMode="auto">
            <a:xfrm flipH="1">
              <a:off x="776"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019" name="Freeform 460"/>
            <p:cNvSpPr>
              <a:spLocks noChangeAspect="1"/>
            </p:cNvSpPr>
            <p:nvPr/>
          </p:nvSpPr>
          <p:spPr bwMode="auto">
            <a:xfrm flipH="1">
              <a:off x="697"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020" name="Freeform 461"/>
            <p:cNvSpPr>
              <a:spLocks noChangeAspect="1"/>
            </p:cNvSpPr>
            <p:nvPr/>
          </p:nvSpPr>
          <p:spPr bwMode="auto">
            <a:xfrm flipH="1">
              <a:off x="504"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021" name="Freeform 462"/>
            <p:cNvSpPr>
              <a:spLocks noChangeAspect="1"/>
            </p:cNvSpPr>
            <p:nvPr/>
          </p:nvSpPr>
          <p:spPr bwMode="auto">
            <a:xfrm flipH="1">
              <a:off x="425"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022" name="Freeform 463"/>
            <p:cNvSpPr>
              <a:spLocks noChangeAspect="1"/>
            </p:cNvSpPr>
            <p:nvPr/>
          </p:nvSpPr>
          <p:spPr bwMode="auto">
            <a:xfrm flipH="1">
              <a:off x="232" y="2136"/>
              <a:ext cx="142"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023" name="Freeform 464"/>
            <p:cNvSpPr>
              <a:spLocks noChangeAspect="1"/>
            </p:cNvSpPr>
            <p:nvPr/>
          </p:nvSpPr>
          <p:spPr bwMode="auto">
            <a:xfrm flipH="1">
              <a:off x="153" y="2136"/>
              <a:ext cx="142"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146446" name="Group 465"/>
          <p:cNvGrpSpPr/>
          <p:nvPr/>
        </p:nvGrpSpPr>
        <p:grpSpPr bwMode="auto">
          <a:xfrm>
            <a:off x="6656388" y="4662488"/>
            <a:ext cx="1887537" cy="169862"/>
            <a:chOff x="4193" y="3273"/>
            <a:chExt cx="1189" cy="107"/>
          </a:xfrm>
        </p:grpSpPr>
        <p:grpSp>
          <p:nvGrpSpPr>
            <p:cNvPr id="146844" name="Group 466"/>
            <p:cNvGrpSpPr/>
            <p:nvPr/>
          </p:nvGrpSpPr>
          <p:grpSpPr bwMode="auto">
            <a:xfrm>
              <a:off x="4243" y="3311"/>
              <a:ext cx="1139" cy="69"/>
              <a:chOff x="4274" y="3423"/>
              <a:chExt cx="1139" cy="69"/>
            </a:xfrm>
          </p:grpSpPr>
          <p:sp>
            <p:nvSpPr>
              <p:cNvPr id="146848" name="Freeform 467"/>
              <p:cNvSpPr>
                <a:spLocks noChangeAspect="1"/>
              </p:cNvSpPr>
              <p:nvPr/>
            </p:nvSpPr>
            <p:spPr bwMode="auto">
              <a:xfrm>
                <a:off x="4345" y="342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849" name="Freeform 468"/>
              <p:cNvSpPr>
                <a:spLocks noChangeAspect="1"/>
              </p:cNvSpPr>
              <p:nvPr/>
            </p:nvSpPr>
            <p:spPr bwMode="auto">
              <a:xfrm>
                <a:off x="4487" y="342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850" name="Freeform 469"/>
              <p:cNvSpPr>
                <a:spLocks noChangeAspect="1"/>
              </p:cNvSpPr>
              <p:nvPr/>
            </p:nvSpPr>
            <p:spPr bwMode="auto">
              <a:xfrm>
                <a:off x="4629" y="342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851" name="Freeform 470"/>
              <p:cNvSpPr>
                <a:spLocks noChangeAspect="1"/>
              </p:cNvSpPr>
              <p:nvPr/>
            </p:nvSpPr>
            <p:spPr bwMode="auto">
              <a:xfrm>
                <a:off x="4770" y="3423"/>
                <a:ext cx="75"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852" name="Freeform 471"/>
              <p:cNvSpPr>
                <a:spLocks noChangeAspect="1"/>
              </p:cNvSpPr>
              <p:nvPr/>
            </p:nvSpPr>
            <p:spPr bwMode="auto">
              <a:xfrm>
                <a:off x="4913" y="342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853" name="Freeform 472"/>
              <p:cNvSpPr>
                <a:spLocks noChangeAspect="1"/>
              </p:cNvSpPr>
              <p:nvPr/>
            </p:nvSpPr>
            <p:spPr bwMode="auto">
              <a:xfrm>
                <a:off x="5055" y="342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854" name="Freeform 473"/>
              <p:cNvSpPr>
                <a:spLocks noChangeAspect="1"/>
              </p:cNvSpPr>
              <p:nvPr/>
            </p:nvSpPr>
            <p:spPr bwMode="auto">
              <a:xfrm>
                <a:off x="5197" y="342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855" name="AutoShape 474"/>
              <p:cNvSpPr>
                <a:spLocks noChangeAspect="1" noChangeArrowheads="1"/>
              </p:cNvSpPr>
              <p:nvPr/>
            </p:nvSpPr>
            <p:spPr bwMode="auto">
              <a:xfrm>
                <a:off x="4314" y="3446"/>
                <a:ext cx="5" cy="22"/>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56" name="AutoShape 475"/>
              <p:cNvSpPr>
                <a:spLocks noChangeAspect="1" noChangeArrowheads="1"/>
              </p:cNvSpPr>
              <p:nvPr/>
            </p:nvSpPr>
            <p:spPr bwMode="auto">
              <a:xfrm>
                <a:off x="4400" y="3432"/>
                <a:ext cx="5" cy="2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57" name="AutoShape 476"/>
              <p:cNvSpPr>
                <a:spLocks noChangeAspect="1" noChangeArrowheads="1"/>
              </p:cNvSpPr>
              <p:nvPr/>
            </p:nvSpPr>
            <p:spPr bwMode="auto">
              <a:xfrm>
                <a:off x="4330" y="3458"/>
                <a:ext cx="5" cy="28"/>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58" name="AutoShape 477"/>
              <p:cNvSpPr>
                <a:spLocks noChangeAspect="1" noChangeArrowheads="1"/>
              </p:cNvSpPr>
              <p:nvPr/>
            </p:nvSpPr>
            <p:spPr bwMode="auto">
              <a:xfrm>
                <a:off x="4416" y="3425"/>
                <a:ext cx="4" cy="2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59" name="AutoShape 478"/>
              <p:cNvSpPr>
                <a:spLocks noChangeAspect="1" noChangeArrowheads="1"/>
              </p:cNvSpPr>
              <p:nvPr/>
            </p:nvSpPr>
            <p:spPr bwMode="auto">
              <a:xfrm>
                <a:off x="4345" y="3470"/>
                <a:ext cx="5" cy="2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60" name="AutoShape 479"/>
              <p:cNvSpPr>
                <a:spLocks noChangeAspect="1" noChangeArrowheads="1"/>
              </p:cNvSpPr>
              <p:nvPr/>
            </p:nvSpPr>
            <p:spPr bwMode="auto">
              <a:xfrm>
                <a:off x="4384" y="3448"/>
                <a:ext cx="5" cy="22"/>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61" name="AutoShape 480"/>
              <p:cNvSpPr>
                <a:spLocks noChangeAspect="1" noChangeArrowheads="1"/>
              </p:cNvSpPr>
              <p:nvPr/>
            </p:nvSpPr>
            <p:spPr bwMode="auto">
              <a:xfrm>
                <a:off x="4368" y="3479"/>
                <a:ext cx="5" cy="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62" name="AutoShape 481"/>
              <p:cNvSpPr>
                <a:spLocks noChangeAspect="1" noChangeArrowheads="1"/>
              </p:cNvSpPr>
              <p:nvPr/>
            </p:nvSpPr>
            <p:spPr bwMode="auto">
              <a:xfrm>
                <a:off x="4368" y="3471"/>
                <a:ext cx="5" cy="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63" name="AutoShape 482"/>
              <p:cNvSpPr>
                <a:spLocks noChangeAspect="1" noChangeArrowheads="1"/>
              </p:cNvSpPr>
              <p:nvPr/>
            </p:nvSpPr>
            <p:spPr bwMode="auto">
              <a:xfrm>
                <a:off x="4466" y="3454"/>
                <a:ext cx="5"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64" name="AutoShape 483"/>
              <p:cNvSpPr>
                <a:spLocks noChangeAspect="1" noChangeArrowheads="1"/>
              </p:cNvSpPr>
              <p:nvPr/>
            </p:nvSpPr>
            <p:spPr bwMode="auto">
              <a:xfrm>
                <a:off x="4483" y="3467"/>
                <a:ext cx="5" cy="2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65" name="AutoShape 484"/>
              <p:cNvSpPr>
                <a:spLocks noChangeAspect="1" noChangeArrowheads="1"/>
              </p:cNvSpPr>
              <p:nvPr/>
            </p:nvSpPr>
            <p:spPr bwMode="auto">
              <a:xfrm>
                <a:off x="4429" y="3427"/>
                <a:ext cx="5" cy="10"/>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66" name="AutoShape 485"/>
              <p:cNvSpPr>
                <a:spLocks noChangeAspect="1" noChangeArrowheads="1"/>
              </p:cNvSpPr>
              <p:nvPr/>
            </p:nvSpPr>
            <p:spPr bwMode="auto">
              <a:xfrm>
                <a:off x="4429" y="3437"/>
                <a:ext cx="5" cy="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67" name="AutoShape 486"/>
              <p:cNvSpPr>
                <a:spLocks noChangeAspect="1" noChangeArrowheads="1"/>
              </p:cNvSpPr>
              <p:nvPr/>
            </p:nvSpPr>
            <p:spPr bwMode="auto">
              <a:xfrm>
                <a:off x="4450" y="3441"/>
                <a:ext cx="5" cy="1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68" name="AutoShape 487"/>
              <p:cNvSpPr>
                <a:spLocks noChangeAspect="1" noChangeArrowheads="1"/>
              </p:cNvSpPr>
              <p:nvPr/>
            </p:nvSpPr>
            <p:spPr bwMode="auto">
              <a:xfrm>
                <a:off x="4499" y="3478"/>
                <a:ext cx="5" cy="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69" name="AutoShape 488"/>
              <p:cNvSpPr>
                <a:spLocks noChangeAspect="1" noChangeArrowheads="1"/>
              </p:cNvSpPr>
              <p:nvPr/>
            </p:nvSpPr>
            <p:spPr bwMode="auto">
              <a:xfrm flipV="1">
                <a:off x="4566" y="3425"/>
                <a:ext cx="5" cy="1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70" name="AutoShape 489"/>
              <p:cNvSpPr>
                <a:spLocks noChangeAspect="1" noChangeArrowheads="1"/>
              </p:cNvSpPr>
              <p:nvPr/>
            </p:nvSpPr>
            <p:spPr bwMode="auto">
              <a:xfrm>
                <a:off x="4552" y="3425"/>
                <a:ext cx="5" cy="25"/>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71" name="AutoShape 490"/>
              <p:cNvSpPr>
                <a:spLocks noChangeAspect="1" noChangeArrowheads="1"/>
              </p:cNvSpPr>
              <p:nvPr/>
            </p:nvSpPr>
            <p:spPr bwMode="auto">
              <a:xfrm flipV="1">
                <a:off x="4535" y="3435"/>
                <a:ext cx="6"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72" name="AutoShape 491"/>
              <p:cNvSpPr>
                <a:spLocks noChangeAspect="1" noChangeArrowheads="1"/>
              </p:cNvSpPr>
              <p:nvPr/>
            </p:nvSpPr>
            <p:spPr bwMode="auto">
              <a:xfrm>
                <a:off x="4518" y="3463"/>
                <a:ext cx="5" cy="13"/>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73" name="AutoShape 492"/>
              <p:cNvSpPr>
                <a:spLocks noChangeAspect="1" noChangeArrowheads="1"/>
              </p:cNvSpPr>
              <p:nvPr/>
            </p:nvSpPr>
            <p:spPr bwMode="auto">
              <a:xfrm flipV="1">
                <a:off x="4620" y="3463"/>
                <a:ext cx="6"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74" name="AutoShape 493"/>
              <p:cNvSpPr>
                <a:spLocks noChangeAspect="1" noChangeArrowheads="1"/>
              </p:cNvSpPr>
              <p:nvPr/>
            </p:nvSpPr>
            <p:spPr bwMode="auto">
              <a:xfrm>
                <a:off x="4603" y="3450"/>
                <a:ext cx="6" cy="26"/>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75" name="AutoShape 494"/>
              <p:cNvSpPr>
                <a:spLocks noChangeAspect="1" noChangeArrowheads="1"/>
              </p:cNvSpPr>
              <p:nvPr/>
            </p:nvSpPr>
            <p:spPr bwMode="auto">
              <a:xfrm>
                <a:off x="4589" y="3441"/>
                <a:ext cx="5" cy="15"/>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76" name="AutoShape 495"/>
              <p:cNvSpPr>
                <a:spLocks noChangeAspect="1" noChangeArrowheads="1"/>
              </p:cNvSpPr>
              <p:nvPr/>
            </p:nvSpPr>
            <p:spPr bwMode="auto">
              <a:xfrm>
                <a:off x="4691" y="3427"/>
                <a:ext cx="4" cy="2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77" name="AutoShape 496"/>
              <p:cNvSpPr>
                <a:spLocks noChangeAspect="1" noChangeArrowheads="1"/>
              </p:cNvSpPr>
              <p:nvPr/>
            </p:nvSpPr>
            <p:spPr bwMode="auto">
              <a:xfrm>
                <a:off x="4671" y="3444"/>
                <a:ext cx="6" cy="2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78" name="AutoShape 497"/>
              <p:cNvSpPr>
                <a:spLocks noChangeAspect="1" noChangeArrowheads="1"/>
              </p:cNvSpPr>
              <p:nvPr/>
            </p:nvSpPr>
            <p:spPr bwMode="auto">
              <a:xfrm>
                <a:off x="4635" y="3473"/>
                <a:ext cx="5" cy="16"/>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79" name="AutoShape 498"/>
              <p:cNvSpPr>
                <a:spLocks noChangeAspect="1" noChangeArrowheads="1"/>
              </p:cNvSpPr>
              <p:nvPr/>
            </p:nvSpPr>
            <p:spPr bwMode="auto">
              <a:xfrm flipV="1">
                <a:off x="4657" y="3466"/>
                <a:ext cx="5" cy="1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80" name="AutoShape 499"/>
              <p:cNvSpPr>
                <a:spLocks noChangeAspect="1" noChangeArrowheads="1"/>
              </p:cNvSpPr>
              <p:nvPr/>
            </p:nvSpPr>
            <p:spPr bwMode="auto">
              <a:xfrm>
                <a:off x="4705" y="3425"/>
                <a:ext cx="6" cy="1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81" name="AutoShape 500"/>
              <p:cNvSpPr>
                <a:spLocks noChangeAspect="1" noChangeArrowheads="1"/>
              </p:cNvSpPr>
              <p:nvPr/>
            </p:nvSpPr>
            <p:spPr bwMode="auto">
              <a:xfrm>
                <a:off x="4725" y="3427"/>
                <a:ext cx="5" cy="10"/>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82" name="AutoShape 501"/>
              <p:cNvSpPr>
                <a:spLocks noChangeAspect="1" noChangeArrowheads="1"/>
              </p:cNvSpPr>
              <p:nvPr/>
            </p:nvSpPr>
            <p:spPr bwMode="auto">
              <a:xfrm>
                <a:off x="4725" y="3437"/>
                <a:ext cx="5" cy="10"/>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83" name="AutoShape 502"/>
              <p:cNvSpPr>
                <a:spLocks noChangeAspect="1" noChangeArrowheads="1"/>
              </p:cNvSpPr>
              <p:nvPr/>
            </p:nvSpPr>
            <p:spPr bwMode="auto">
              <a:xfrm>
                <a:off x="4757" y="3459"/>
                <a:ext cx="5"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84" name="AutoShape 503"/>
              <p:cNvSpPr>
                <a:spLocks noChangeAspect="1" noChangeArrowheads="1"/>
              </p:cNvSpPr>
              <p:nvPr/>
            </p:nvSpPr>
            <p:spPr bwMode="auto">
              <a:xfrm>
                <a:off x="4773" y="3471"/>
                <a:ext cx="6" cy="19"/>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85" name="AutoShape 504"/>
              <p:cNvSpPr>
                <a:spLocks noChangeAspect="1" noChangeArrowheads="1"/>
              </p:cNvSpPr>
              <p:nvPr/>
            </p:nvSpPr>
            <p:spPr bwMode="auto">
              <a:xfrm>
                <a:off x="4741" y="3445"/>
                <a:ext cx="5" cy="21"/>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86" name="Freeform 505"/>
              <p:cNvSpPr>
                <a:spLocks noChangeAspect="1"/>
              </p:cNvSpPr>
              <p:nvPr/>
            </p:nvSpPr>
            <p:spPr bwMode="auto">
              <a:xfrm>
                <a:off x="5339" y="342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887" name="AutoShape 506"/>
              <p:cNvSpPr>
                <a:spLocks noChangeAspect="1" noChangeArrowheads="1"/>
              </p:cNvSpPr>
              <p:nvPr/>
            </p:nvSpPr>
            <p:spPr bwMode="auto">
              <a:xfrm>
                <a:off x="4882" y="3446"/>
                <a:ext cx="6" cy="22"/>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88" name="AutoShape 507"/>
              <p:cNvSpPr>
                <a:spLocks noChangeAspect="1" noChangeArrowheads="1"/>
              </p:cNvSpPr>
              <p:nvPr/>
            </p:nvSpPr>
            <p:spPr bwMode="auto">
              <a:xfrm>
                <a:off x="4969" y="3429"/>
                <a:ext cx="5" cy="2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89" name="AutoShape 508"/>
              <p:cNvSpPr>
                <a:spLocks noChangeAspect="1" noChangeArrowheads="1"/>
              </p:cNvSpPr>
              <p:nvPr/>
            </p:nvSpPr>
            <p:spPr bwMode="auto">
              <a:xfrm>
                <a:off x="4898" y="3458"/>
                <a:ext cx="5" cy="28"/>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90" name="AutoShape 509"/>
              <p:cNvSpPr>
                <a:spLocks noChangeAspect="1" noChangeArrowheads="1"/>
              </p:cNvSpPr>
              <p:nvPr/>
            </p:nvSpPr>
            <p:spPr bwMode="auto">
              <a:xfrm>
                <a:off x="4985" y="3424"/>
                <a:ext cx="5" cy="2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91" name="AutoShape 510"/>
              <p:cNvSpPr>
                <a:spLocks noChangeAspect="1" noChangeArrowheads="1"/>
              </p:cNvSpPr>
              <p:nvPr/>
            </p:nvSpPr>
            <p:spPr bwMode="auto">
              <a:xfrm>
                <a:off x="4914" y="3470"/>
                <a:ext cx="5" cy="2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92" name="AutoShape 511"/>
              <p:cNvSpPr>
                <a:spLocks noChangeAspect="1" noChangeArrowheads="1"/>
              </p:cNvSpPr>
              <p:nvPr/>
            </p:nvSpPr>
            <p:spPr bwMode="auto">
              <a:xfrm>
                <a:off x="4953" y="3448"/>
                <a:ext cx="5" cy="22"/>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93" name="AutoShape 512"/>
              <p:cNvSpPr>
                <a:spLocks noChangeAspect="1" noChangeArrowheads="1"/>
              </p:cNvSpPr>
              <p:nvPr/>
            </p:nvSpPr>
            <p:spPr bwMode="auto">
              <a:xfrm>
                <a:off x="4937" y="3479"/>
                <a:ext cx="4" cy="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94" name="AutoShape 513"/>
              <p:cNvSpPr>
                <a:spLocks noChangeAspect="1" noChangeArrowheads="1"/>
              </p:cNvSpPr>
              <p:nvPr/>
            </p:nvSpPr>
            <p:spPr bwMode="auto">
              <a:xfrm>
                <a:off x="4937" y="3471"/>
                <a:ext cx="4" cy="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95" name="AutoShape 514"/>
              <p:cNvSpPr>
                <a:spLocks noChangeAspect="1" noChangeArrowheads="1"/>
              </p:cNvSpPr>
              <p:nvPr/>
            </p:nvSpPr>
            <p:spPr bwMode="auto">
              <a:xfrm>
                <a:off x="5035" y="3454"/>
                <a:ext cx="4"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96" name="AutoShape 515"/>
              <p:cNvSpPr>
                <a:spLocks noChangeAspect="1" noChangeArrowheads="1"/>
              </p:cNvSpPr>
              <p:nvPr/>
            </p:nvSpPr>
            <p:spPr bwMode="auto">
              <a:xfrm>
                <a:off x="5051" y="3467"/>
                <a:ext cx="5" cy="2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97" name="AutoShape 516"/>
              <p:cNvSpPr>
                <a:spLocks noChangeAspect="1" noChangeArrowheads="1"/>
              </p:cNvSpPr>
              <p:nvPr/>
            </p:nvSpPr>
            <p:spPr bwMode="auto">
              <a:xfrm>
                <a:off x="4999" y="3428"/>
                <a:ext cx="5" cy="10"/>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98" name="AutoShape 517"/>
              <p:cNvSpPr>
                <a:spLocks noChangeAspect="1" noChangeArrowheads="1"/>
              </p:cNvSpPr>
              <p:nvPr/>
            </p:nvSpPr>
            <p:spPr bwMode="auto">
              <a:xfrm>
                <a:off x="5018" y="3441"/>
                <a:ext cx="5" cy="1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99" name="AutoShape 518"/>
              <p:cNvSpPr>
                <a:spLocks noChangeAspect="1" noChangeArrowheads="1"/>
              </p:cNvSpPr>
              <p:nvPr/>
            </p:nvSpPr>
            <p:spPr bwMode="auto">
              <a:xfrm>
                <a:off x="5067" y="3478"/>
                <a:ext cx="6" cy="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900" name="AutoShape 519"/>
              <p:cNvSpPr>
                <a:spLocks noChangeAspect="1" noChangeArrowheads="1"/>
              </p:cNvSpPr>
              <p:nvPr/>
            </p:nvSpPr>
            <p:spPr bwMode="auto">
              <a:xfrm flipV="1">
                <a:off x="5134" y="3425"/>
                <a:ext cx="5" cy="1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901" name="AutoShape 520"/>
              <p:cNvSpPr>
                <a:spLocks noChangeAspect="1" noChangeArrowheads="1"/>
              </p:cNvSpPr>
              <p:nvPr/>
            </p:nvSpPr>
            <p:spPr bwMode="auto">
              <a:xfrm>
                <a:off x="5120" y="3425"/>
                <a:ext cx="6" cy="25"/>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902" name="AutoShape 521"/>
              <p:cNvSpPr>
                <a:spLocks noChangeAspect="1" noChangeArrowheads="1"/>
              </p:cNvSpPr>
              <p:nvPr/>
            </p:nvSpPr>
            <p:spPr bwMode="auto">
              <a:xfrm flipV="1">
                <a:off x="5104" y="3435"/>
                <a:ext cx="5"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903" name="AutoShape 522"/>
              <p:cNvSpPr>
                <a:spLocks noChangeAspect="1" noChangeArrowheads="1"/>
              </p:cNvSpPr>
              <p:nvPr/>
            </p:nvSpPr>
            <p:spPr bwMode="auto">
              <a:xfrm>
                <a:off x="5088" y="3463"/>
                <a:ext cx="4" cy="13"/>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904" name="AutoShape 523"/>
              <p:cNvSpPr>
                <a:spLocks noChangeAspect="1" noChangeArrowheads="1"/>
              </p:cNvSpPr>
              <p:nvPr/>
            </p:nvSpPr>
            <p:spPr bwMode="auto">
              <a:xfrm flipV="1">
                <a:off x="5189" y="3463"/>
                <a:ext cx="5"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905" name="AutoShape 524"/>
              <p:cNvSpPr>
                <a:spLocks noChangeAspect="1" noChangeArrowheads="1"/>
              </p:cNvSpPr>
              <p:nvPr/>
            </p:nvSpPr>
            <p:spPr bwMode="auto">
              <a:xfrm>
                <a:off x="5171" y="3450"/>
                <a:ext cx="6" cy="26"/>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906" name="AutoShape 525"/>
              <p:cNvSpPr>
                <a:spLocks noChangeAspect="1" noChangeArrowheads="1"/>
              </p:cNvSpPr>
              <p:nvPr/>
            </p:nvSpPr>
            <p:spPr bwMode="auto">
              <a:xfrm>
                <a:off x="5157" y="3441"/>
                <a:ext cx="6" cy="15"/>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907" name="AutoShape 526"/>
              <p:cNvSpPr>
                <a:spLocks noChangeAspect="1" noChangeArrowheads="1"/>
              </p:cNvSpPr>
              <p:nvPr/>
            </p:nvSpPr>
            <p:spPr bwMode="auto">
              <a:xfrm>
                <a:off x="5258" y="3427"/>
                <a:ext cx="5" cy="2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908" name="AutoShape 527"/>
              <p:cNvSpPr>
                <a:spLocks noChangeAspect="1" noChangeArrowheads="1"/>
              </p:cNvSpPr>
              <p:nvPr/>
            </p:nvSpPr>
            <p:spPr bwMode="auto">
              <a:xfrm>
                <a:off x="5240" y="3444"/>
                <a:ext cx="5" cy="2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909" name="AutoShape 528"/>
              <p:cNvSpPr>
                <a:spLocks noChangeAspect="1" noChangeArrowheads="1"/>
              </p:cNvSpPr>
              <p:nvPr/>
            </p:nvSpPr>
            <p:spPr bwMode="auto">
              <a:xfrm>
                <a:off x="5203" y="3473"/>
                <a:ext cx="5" cy="16"/>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910" name="AutoShape 529"/>
              <p:cNvSpPr>
                <a:spLocks noChangeAspect="1" noChangeArrowheads="1"/>
              </p:cNvSpPr>
              <p:nvPr/>
            </p:nvSpPr>
            <p:spPr bwMode="auto">
              <a:xfrm flipV="1">
                <a:off x="5224" y="3466"/>
                <a:ext cx="6" cy="1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911" name="AutoShape 530"/>
              <p:cNvSpPr>
                <a:spLocks noChangeAspect="1" noChangeArrowheads="1"/>
              </p:cNvSpPr>
              <p:nvPr/>
            </p:nvSpPr>
            <p:spPr bwMode="auto">
              <a:xfrm>
                <a:off x="5274" y="3425"/>
                <a:ext cx="5" cy="1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912" name="AutoShape 531"/>
              <p:cNvSpPr>
                <a:spLocks noChangeAspect="1" noChangeArrowheads="1"/>
              </p:cNvSpPr>
              <p:nvPr/>
            </p:nvSpPr>
            <p:spPr bwMode="auto">
              <a:xfrm>
                <a:off x="5293" y="3427"/>
                <a:ext cx="5" cy="10"/>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913" name="AutoShape 532"/>
              <p:cNvSpPr>
                <a:spLocks noChangeAspect="1" noChangeArrowheads="1"/>
              </p:cNvSpPr>
              <p:nvPr/>
            </p:nvSpPr>
            <p:spPr bwMode="auto">
              <a:xfrm>
                <a:off x="5293" y="3437"/>
                <a:ext cx="5" cy="10"/>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914" name="AutoShape 533"/>
              <p:cNvSpPr>
                <a:spLocks noChangeAspect="1" noChangeArrowheads="1"/>
              </p:cNvSpPr>
              <p:nvPr/>
            </p:nvSpPr>
            <p:spPr bwMode="auto">
              <a:xfrm>
                <a:off x="5325" y="3459"/>
                <a:ext cx="5"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915" name="AutoShape 534"/>
              <p:cNvSpPr>
                <a:spLocks noChangeAspect="1" noChangeArrowheads="1"/>
              </p:cNvSpPr>
              <p:nvPr/>
            </p:nvSpPr>
            <p:spPr bwMode="auto">
              <a:xfrm>
                <a:off x="5342" y="3471"/>
                <a:ext cx="5" cy="19"/>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916" name="AutoShape 535"/>
              <p:cNvSpPr>
                <a:spLocks noChangeAspect="1" noChangeArrowheads="1"/>
              </p:cNvSpPr>
              <p:nvPr/>
            </p:nvSpPr>
            <p:spPr bwMode="auto">
              <a:xfrm>
                <a:off x="5309" y="3445"/>
                <a:ext cx="5" cy="21"/>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917" name="AutoShape 536"/>
              <p:cNvSpPr>
                <a:spLocks noChangeAspect="1" noChangeArrowheads="1"/>
              </p:cNvSpPr>
              <p:nvPr/>
            </p:nvSpPr>
            <p:spPr bwMode="auto">
              <a:xfrm>
                <a:off x="4828" y="3429"/>
                <a:ext cx="5" cy="2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918" name="AutoShape 537"/>
              <p:cNvSpPr>
                <a:spLocks noChangeAspect="1" noChangeArrowheads="1"/>
              </p:cNvSpPr>
              <p:nvPr/>
            </p:nvSpPr>
            <p:spPr bwMode="auto">
              <a:xfrm>
                <a:off x="4844" y="3424"/>
                <a:ext cx="4" cy="2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919" name="AutoShape 538"/>
              <p:cNvSpPr>
                <a:spLocks noChangeAspect="1" noChangeArrowheads="1"/>
              </p:cNvSpPr>
              <p:nvPr/>
            </p:nvSpPr>
            <p:spPr bwMode="auto">
              <a:xfrm>
                <a:off x="4811" y="3448"/>
                <a:ext cx="5" cy="22"/>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920" name="AutoShape 539"/>
              <p:cNvSpPr>
                <a:spLocks noChangeAspect="1" noChangeArrowheads="1"/>
              </p:cNvSpPr>
              <p:nvPr/>
            </p:nvSpPr>
            <p:spPr bwMode="auto">
              <a:xfrm>
                <a:off x="4794" y="3478"/>
                <a:ext cx="5" cy="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921" name="AutoShape 540"/>
              <p:cNvSpPr>
                <a:spLocks noChangeAspect="1" noChangeArrowheads="1"/>
              </p:cNvSpPr>
              <p:nvPr/>
            </p:nvSpPr>
            <p:spPr bwMode="auto">
              <a:xfrm>
                <a:off x="4794" y="3470"/>
                <a:ext cx="5" cy="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922" name="AutoShape 541"/>
              <p:cNvSpPr>
                <a:spLocks noChangeAspect="1" noChangeArrowheads="1"/>
              </p:cNvSpPr>
              <p:nvPr/>
            </p:nvSpPr>
            <p:spPr bwMode="auto">
              <a:xfrm>
                <a:off x="4856" y="3427"/>
                <a:ext cx="5" cy="10"/>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923" name="Freeform 542"/>
              <p:cNvSpPr>
                <a:spLocks noChangeAspect="1"/>
              </p:cNvSpPr>
              <p:nvPr/>
            </p:nvSpPr>
            <p:spPr bwMode="auto">
              <a:xfrm flipH="1">
                <a:off x="5268" y="342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924" name="Freeform 543"/>
              <p:cNvSpPr>
                <a:spLocks noChangeAspect="1"/>
              </p:cNvSpPr>
              <p:nvPr/>
            </p:nvSpPr>
            <p:spPr bwMode="auto">
              <a:xfrm flipH="1">
                <a:off x="5126" y="342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925" name="Freeform 544"/>
              <p:cNvSpPr>
                <a:spLocks noChangeAspect="1"/>
              </p:cNvSpPr>
              <p:nvPr/>
            </p:nvSpPr>
            <p:spPr bwMode="auto">
              <a:xfrm flipH="1">
                <a:off x="4984" y="3423"/>
                <a:ext cx="75"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926" name="Freeform 545"/>
              <p:cNvSpPr>
                <a:spLocks noChangeAspect="1"/>
              </p:cNvSpPr>
              <p:nvPr/>
            </p:nvSpPr>
            <p:spPr bwMode="auto">
              <a:xfrm flipH="1">
                <a:off x="4843" y="3423"/>
                <a:ext cx="73"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927" name="Freeform 546"/>
              <p:cNvSpPr>
                <a:spLocks noChangeAspect="1"/>
              </p:cNvSpPr>
              <p:nvPr/>
            </p:nvSpPr>
            <p:spPr bwMode="auto">
              <a:xfrm flipH="1">
                <a:off x="4699" y="3423"/>
                <a:ext cx="75"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928" name="Freeform 547"/>
              <p:cNvSpPr>
                <a:spLocks noChangeAspect="1"/>
              </p:cNvSpPr>
              <p:nvPr/>
            </p:nvSpPr>
            <p:spPr bwMode="auto">
              <a:xfrm flipH="1">
                <a:off x="4557" y="3423"/>
                <a:ext cx="75"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929" name="Freeform 548"/>
              <p:cNvSpPr>
                <a:spLocks noChangeAspect="1"/>
              </p:cNvSpPr>
              <p:nvPr/>
            </p:nvSpPr>
            <p:spPr bwMode="auto">
              <a:xfrm flipH="1">
                <a:off x="4416" y="342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930" name="Freeform 549"/>
              <p:cNvSpPr>
                <a:spLocks noChangeAspect="1"/>
              </p:cNvSpPr>
              <p:nvPr/>
            </p:nvSpPr>
            <p:spPr bwMode="auto">
              <a:xfrm flipH="1">
                <a:off x="4274" y="342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146845" name="Group 550"/>
            <p:cNvGrpSpPr>
              <a:grpSpLocks noChangeAspect="1"/>
            </p:cNvGrpSpPr>
            <p:nvPr/>
          </p:nvGrpSpPr>
          <p:grpSpPr bwMode="auto">
            <a:xfrm>
              <a:off x="4193" y="3273"/>
              <a:ext cx="54" cy="71"/>
              <a:chOff x="3743" y="2439"/>
              <a:chExt cx="164" cy="216"/>
            </a:xfrm>
          </p:grpSpPr>
          <p:sp>
            <p:nvSpPr>
              <p:cNvPr id="146846" name="Freeform 551"/>
              <p:cNvSpPr>
                <a:spLocks noChangeAspect="1"/>
              </p:cNvSpPr>
              <p:nvPr/>
            </p:nvSpPr>
            <p:spPr bwMode="auto">
              <a:xfrm>
                <a:off x="3743" y="2465"/>
                <a:ext cx="117" cy="190"/>
              </a:xfrm>
              <a:custGeom>
                <a:avLst/>
                <a:gdLst>
                  <a:gd name="T0" fmla="*/ 3 w 387"/>
                  <a:gd name="T1" fmla="*/ 0 h 625"/>
                  <a:gd name="T2" fmla="*/ 1 w 387"/>
                  <a:gd name="T3" fmla="*/ 0 h 625"/>
                  <a:gd name="T4" fmla="*/ 0 w 387"/>
                  <a:gd name="T5" fmla="*/ 2 h 625"/>
                  <a:gd name="T6" fmla="*/ 1 w 387"/>
                  <a:gd name="T7" fmla="*/ 2 h 625"/>
                  <a:gd name="T8" fmla="*/ 2 w 387"/>
                  <a:gd name="T9" fmla="*/ 2 h 625"/>
                  <a:gd name="T10" fmla="*/ 3 w 387"/>
                  <a:gd name="T11" fmla="*/ 2 h 625"/>
                  <a:gd name="T12" fmla="*/ 3 w 387"/>
                  <a:gd name="T13" fmla="*/ 4 h 625"/>
                  <a:gd name="T14" fmla="*/ 3 w 387"/>
                  <a:gd name="T15" fmla="*/ 5 h 625"/>
                  <a:gd name="T16" fmla="*/ 2 w 387"/>
                  <a:gd name="T17" fmla="*/ 5 h 625"/>
                  <a:gd name="T18" fmla="*/ 1 w 387"/>
                  <a:gd name="T19" fmla="*/ 5 h 625"/>
                  <a:gd name="T20" fmla="*/ 0 w 387"/>
                  <a:gd name="T21" fmla="*/ 4 h 62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87"/>
                  <a:gd name="T34" fmla="*/ 0 h 625"/>
                  <a:gd name="T35" fmla="*/ 387 w 387"/>
                  <a:gd name="T36" fmla="*/ 625 h 62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87" h="625">
                    <a:moveTo>
                      <a:pt x="387" y="7"/>
                    </a:moveTo>
                    <a:lnTo>
                      <a:pt x="86" y="0"/>
                    </a:lnTo>
                    <a:lnTo>
                      <a:pt x="28" y="295"/>
                    </a:lnTo>
                    <a:cubicBezTo>
                      <a:pt x="31" y="337"/>
                      <a:pt x="71" y="261"/>
                      <a:pt x="105" y="250"/>
                    </a:cubicBezTo>
                    <a:cubicBezTo>
                      <a:pt x="139" y="239"/>
                      <a:pt x="194" y="225"/>
                      <a:pt x="233" y="231"/>
                    </a:cubicBezTo>
                    <a:cubicBezTo>
                      <a:pt x="272" y="237"/>
                      <a:pt x="315" y="255"/>
                      <a:pt x="340" y="288"/>
                    </a:cubicBezTo>
                    <a:cubicBezTo>
                      <a:pt x="365" y="321"/>
                      <a:pt x="382" y="385"/>
                      <a:pt x="380" y="429"/>
                    </a:cubicBezTo>
                    <a:cubicBezTo>
                      <a:pt x="378" y="473"/>
                      <a:pt x="358" y="519"/>
                      <a:pt x="327" y="551"/>
                    </a:cubicBezTo>
                    <a:cubicBezTo>
                      <a:pt x="296" y="583"/>
                      <a:pt x="237" y="617"/>
                      <a:pt x="192" y="621"/>
                    </a:cubicBezTo>
                    <a:cubicBezTo>
                      <a:pt x="147" y="625"/>
                      <a:pt x="90" y="600"/>
                      <a:pt x="58" y="576"/>
                    </a:cubicBezTo>
                    <a:cubicBezTo>
                      <a:pt x="26" y="552"/>
                      <a:pt x="12" y="495"/>
                      <a:pt x="0" y="474"/>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6847" name="AutoShape 552"/>
              <p:cNvSpPr>
                <a:spLocks noChangeAspect="1" noChangeArrowheads="1"/>
              </p:cNvSpPr>
              <p:nvPr/>
            </p:nvSpPr>
            <p:spPr bwMode="auto">
              <a:xfrm flipV="1">
                <a:off x="3889" y="2439"/>
                <a:ext cx="18" cy="51"/>
              </a:xfrm>
              <a:prstGeom prst="triangle">
                <a:avLst>
                  <a:gd name="adj" fmla="val 50000"/>
                </a:avLst>
              </a:prstGeom>
              <a:solidFill>
                <a:schemeClr val="tx1"/>
              </a:solidFill>
              <a:ln w="6350">
                <a:solidFill>
                  <a:schemeClr val="tx1"/>
                </a:solidFill>
                <a:miter lim="800000"/>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grpSp>
        <p:nvGrpSpPr>
          <p:cNvPr id="146447" name="Group 553"/>
          <p:cNvGrpSpPr/>
          <p:nvPr/>
        </p:nvGrpSpPr>
        <p:grpSpPr bwMode="auto">
          <a:xfrm>
            <a:off x="6900863" y="4552950"/>
            <a:ext cx="1897062" cy="144463"/>
            <a:chOff x="4347" y="2868"/>
            <a:chExt cx="1195" cy="91"/>
          </a:xfrm>
        </p:grpSpPr>
        <p:grpSp>
          <p:nvGrpSpPr>
            <p:cNvPr id="146756" name="Group 554"/>
            <p:cNvGrpSpPr/>
            <p:nvPr/>
          </p:nvGrpSpPr>
          <p:grpSpPr bwMode="auto">
            <a:xfrm>
              <a:off x="4347" y="2868"/>
              <a:ext cx="1139" cy="69"/>
              <a:chOff x="4267" y="3168"/>
              <a:chExt cx="1139" cy="69"/>
            </a:xfrm>
          </p:grpSpPr>
          <p:sp>
            <p:nvSpPr>
              <p:cNvPr id="146760" name="Freeform 555"/>
              <p:cNvSpPr>
                <a:spLocks noChangeAspect="1"/>
              </p:cNvSpPr>
              <p:nvPr/>
            </p:nvSpPr>
            <p:spPr bwMode="auto">
              <a:xfrm>
                <a:off x="4409" y="316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761" name="Freeform 556"/>
              <p:cNvSpPr>
                <a:spLocks noChangeAspect="1"/>
              </p:cNvSpPr>
              <p:nvPr/>
            </p:nvSpPr>
            <p:spPr bwMode="auto">
              <a:xfrm>
                <a:off x="4551" y="316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762" name="Freeform 557"/>
              <p:cNvSpPr>
                <a:spLocks noChangeAspect="1"/>
              </p:cNvSpPr>
              <p:nvPr/>
            </p:nvSpPr>
            <p:spPr bwMode="auto">
              <a:xfrm>
                <a:off x="4693" y="316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763" name="Freeform 558"/>
              <p:cNvSpPr>
                <a:spLocks noChangeAspect="1"/>
              </p:cNvSpPr>
              <p:nvPr/>
            </p:nvSpPr>
            <p:spPr bwMode="auto">
              <a:xfrm>
                <a:off x="4835" y="3168"/>
                <a:ext cx="75"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764" name="Freeform 559"/>
              <p:cNvSpPr>
                <a:spLocks noChangeAspect="1"/>
              </p:cNvSpPr>
              <p:nvPr/>
            </p:nvSpPr>
            <p:spPr bwMode="auto">
              <a:xfrm>
                <a:off x="4977" y="316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765" name="Freeform 560"/>
              <p:cNvSpPr>
                <a:spLocks noChangeAspect="1"/>
              </p:cNvSpPr>
              <p:nvPr/>
            </p:nvSpPr>
            <p:spPr bwMode="auto">
              <a:xfrm>
                <a:off x="5119" y="316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766" name="Freeform 561"/>
              <p:cNvSpPr>
                <a:spLocks noChangeAspect="1"/>
              </p:cNvSpPr>
              <p:nvPr/>
            </p:nvSpPr>
            <p:spPr bwMode="auto">
              <a:xfrm>
                <a:off x="5261" y="3168"/>
                <a:ext cx="75"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767" name="Freeform 562"/>
              <p:cNvSpPr>
                <a:spLocks noChangeAspect="1"/>
              </p:cNvSpPr>
              <p:nvPr/>
            </p:nvSpPr>
            <p:spPr bwMode="auto">
              <a:xfrm>
                <a:off x="4267" y="316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768" name="AutoShape 563"/>
              <p:cNvSpPr>
                <a:spLocks noChangeAspect="1" noChangeArrowheads="1"/>
              </p:cNvSpPr>
              <p:nvPr/>
            </p:nvSpPr>
            <p:spPr bwMode="auto">
              <a:xfrm>
                <a:off x="4337" y="3169"/>
                <a:ext cx="5" cy="22"/>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769" name="AutoShape 564"/>
              <p:cNvSpPr>
                <a:spLocks noChangeAspect="1" noChangeArrowheads="1"/>
              </p:cNvSpPr>
              <p:nvPr/>
            </p:nvSpPr>
            <p:spPr bwMode="auto">
              <a:xfrm>
                <a:off x="4423" y="3204"/>
                <a:ext cx="5" cy="2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770" name="AutoShape 565"/>
              <p:cNvSpPr>
                <a:spLocks noChangeAspect="1" noChangeArrowheads="1"/>
              </p:cNvSpPr>
              <p:nvPr/>
            </p:nvSpPr>
            <p:spPr bwMode="auto">
              <a:xfrm>
                <a:off x="4353" y="3175"/>
                <a:ext cx="5" cy="28"/>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771" name="AutoShape 566"/>
              <p:cNvSpPr>
                <a:spLocks noChangeAspect="1" noChangeArrowheads="1"/>
              </p:cNvSpPr>
              <p:nvPr/>
            </p:nvSpPr>
            <p:spPr bwMode="auto">
              <a:xfrm>
                <a:off x="4439" y="3170"/>
                <a:ext cx="4" cy="2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772" name="AutoShape 567"/>
              <p:cNvSpPr>
                <a:spLocks noChangeAspect="1" noChangeArrowheads="1"/>
              </p:cNvSpPr>
              <p:nvPr/>
            </p:nvSpPr>
            <p:spPr bwMode="auto">
              <a:xfrm>
                <a:off x="4439" y="3190"/>
                <a:ext cx="4" cy="20"/>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773" name="AutoShape 568"/>
              <p:cNvSpPr>
                <a:spLocks noChangeAspect="1" noChangeArrowheads="1"/>
              </p:cNvSpPr>
              <p:nvPr/>
            </p:nvSpPr>
            <p:spPr bwMode="auto">
              <a:xfrm>
                <a:off x="4368" y="3194"/>
                <a:ext cx="5" cy="20"/>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774" name="AutoShape 569"/>
              <p:cNvSpPr>
                <a:spLocks noChangeAspect="1" noChangeArrowheads="1"/>
              </p:cNvSpPr>
              <p:nvPr/>
            </p:nvSpPr>
            <p:spPr bwMode="auto">
              <a:xfrm>
                <a:off x="4407" y="3214"/>
                <a:ext cx="5" cy="22"/>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775" name="AutoShape 570"/>
              <p:cNvSpPr>
                <a:spLocks noChangeAspect="1" noChangeArrowheads="1"/>
              </p:cNvSpPr>
              <p:nvPr/>
            </p:nvSpPr>
            <p:spPr bwMode="auto">
              <a:xfrm>
                <a:off x="4391" y="3224"/>
                <a:ext cx="5" cy="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776" name="AutoShape 571"/>
              <p:cNvSpPr>
                <a:spLocks noChangeAspect="1" noChangeArrowheads="1"/>
              </p:cNvSpPr>
              <p:nvPr/>
            </p:nvSpPr>
            <p:spPr bwMode="auto">
              <a:xfrm>
                <a:off x="4391" y="3216"/>
                <a:ext cx="5" cy="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777" name="AutoShape 572"/>
              <p:cNvSpPr>
                <a:spLocks noChangeAspect="1" noChangeArrowheads="1"/>
              </p:cNvSpPr>
              <p:nvPr/>
            </p:nvSpPr>
            <p:spPr bwMode="auto">
              <a:xfrm>
                <a:off x="4489" y="3172"/>
                <a:ext cx="5" cy="2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778" name="AutoShape 573"/>
              <p:cNvSpPr>
                <a:spLocks noChangeAspect="1" noChangeArrowheads="1"/>
              </p:cNvSpPr>
              <p:nvPr/>
            </p:nvSpPr>
            <p:spPr bwMode="auto">
              <a:xfrm>
                <a:off x="4506" y="3189"/>
                <a:ext cx="5" cy="2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779" name="AutoShape 574"/>
              <p:cNvSpPr>
                <a:spLocks noChangeAspect="1" noChangeArrowheads="1"/>
              </p:cNvSpPr>
              <p:nvPr/>
            </p:nvSpPr>
            <p:spPr bwMode="auto">
              <a:xfrm>
                <a:off x="4452" y="3182"/>
                <a:ext cx="5" cy="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780" name="AutoShape 575"/>
              <p:cNvSpPr>
                <a:spLocks noChangeAspect="1" noChangeArrowheads="1"/>
              </p:cNvSpPr>
              <p:nvPr/>
            </p:nvSpPr>
            <p:spPr bwMode="auto">
              <a:xfrm>
                <a:off x="4473" y="3170"/>
                <a:ext cx="5" cy="1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781" name="AutoShape 576"/>
              <p:cNvSpPr>
                <a:spLocks noChangeAspect="1" noChangeArrowheads="1"/>
              </p:cNvSpPr>
              <p:nvPr/>
            </p:nvSpPr>
            <p:spPr bwMode="auto">
              <a:xfrm>
                <a:off x="4522" y="3213"/>
                <a:ext cx="5" cy="10"/>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782" name="AutoShape 577"/>
              <p:cNvSpPr>
                <a:spLocks noChangeAspect="1" noChangeArrowheads="1"/>
              </p:cNvSpPr>
              <p:nvPr/>
            </p:nvSpPr>
            <p:spPr bwMode="auto">
              <a:xfrm>
                <a:off x="4522" y="3223"/>
                <a:ext cx="5" cy="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783" name="AutoShape 578"/>
              <p:cNvSpPr>
                <a:spLocks noChangeAspect="1" noChangeArrowheads="1"/>
              </p:cNvSpPr>
              <p:nvPr/>
            </p:nvSpPr>
            <p:spPr bwMode="auto">
              <a:xfrm flipV="1">
                <a:off x="4589" y="3183"/>
                <a:ext cx="5" cy="1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784" name="AutoShape 579"/>
              <p:cNvSpPr>
                <a:spLocks noChangeAspect="1" noChangeArrowheads="1"/>
              </p:cNvSpPr>
              <p:nvPr/>
            </p:nvSpPr>
            <p:spPr bwMode="auto">
              <a:xfrm>
                <a:off x="4575" y="3195"/>
                <a:ext cx="5" cy="25"/>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785" name="AutoShape 580"/>
              <p:cNvSpPr>
                <a:spLocks noChangeAspect="1" noChangeArrowheads="1"/>
              </p:cNvSpPr>
              <p:nvPr/>
            </p:nvSpPr>
            <p:spPr bwMode="auto">
              <a:xfrm flipV="1">
                <a:off x="4558" y="3207"/>
                <a:ext cx="6" cy="26"/>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786" name="AutoShape 581"/>
              <p:cNvSpPr>
                <a:spLocks noChangeAspect="1" noChangeArrowheads="1"/>
              </p:cNvSpPr>
              <p:nvPr/>
            </p:nvSpPr>
            <p:spPr bwMode="auto">
              <a:xfrm>
                <a:off x="4541" y="3221"/>
                <a:ext cx="5" cy="13"/>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787" name="AutoShape 582"/>
              <p:cNvSpPr>
                <a:spLocks noChangeAspect="1" noChangeArrowheads="1"/>
              </p:cNvSpPr>
              <p:nvPr/>
            </p:nvSpPr>
            <p:spPr bwMode="auto">
              <a:xfrm flipV="1">
                <a:off x="4643" y="3182"/>
                <a:ext cx="6" cy="2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788" name="AutoShape 583"/>
              <p:cNvSpPr>
                <a:spLocks noChangeAspect="1" noChangeArrowheads="1"/>
              </p:cNvSpPr>
              <p:nvPr/>
            </p:nvSpPr>
            <p:spPr bwMode="auto">
              <a:xfrm>
                <a:off x="4626" y="3169"/>
                <a:ext cx="6" cy="26"/>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789" name="AutoShape 584"/>
              <p:cNvSpPr>
                <a:spLocks noChangeAspect="1" noChangeArrowheads="1"/>
              </p:cNvSpPr>
              <p:nvPr/>
            </p:nvSpPr>
            <p:spPr bwMode="auto">
              <a:xfrm>
                <a:off x="4612" y="3170"/>
                <a:ext cx="5" cy="15"/>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790" name="AutoShape 585"/>
              <p:cNvSpPr>
                <a:spLocks noChangeAspect="1" noChangeArrowheads="1"/>
              </p:cNvSpPr>
              <p:nvPr/>
            </p:nvSpPr>
            <p:spPr bwMode="auto">
              <a:xfrm>
                <a:off x="4714" y="3199"/>
                <a:ext cx="4"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791" name="AutoShape 586"/>
              <p:cNvSpPr>
                <a:spLocks noChangeAspect="1" noChangeArrowheads="1"/>
              </p:cNvSpPr>
              <p:nvPr/>
            </p:nvSpPr>
            <p:spPr bwMode="auto">
              <a:xfrm>
                <a:off x="4694" y="3212"/>
                <a:ext cx="6" cy="2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792" name="AutoShape 587"/>
              <p:cNvSpPr>
                <a:spLocks noChangeAspect="1" noChangeArrowheads="1"/>
              </p:cNvSpPr>
              <p:nvPr/>
            </p:nvSpPr>
            <p:spPr bwMode="auto">
              <a:xfrm>
                <a:off x="4658" y="3202"/>
                <a:ext cx="5" cy="16"/>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793" name="AutoShape 588"/>
              <p:cNvSpPr>
                <a:spLocks noChangeAspect="1" noChangeArrowheads="1"/>
              </p:cNvSpPr>
              <p:nvPr/>
            </p:nvSpPr>
            <p:spPr bwMode="auto">
              <a:xfrm flipV="1">
                <a:off x="4680" y="3211"/>
                <a:ext cx="5" cy="1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794" name="AutoShape 589"/>
              <p:cNvSpPr>
                <a:spLocks noChangeAspect="1" noChangeArrowheads="1"/>
              </p:cNvSpPr>
              <p:nvPr/>
            </p:nvSpPr>
            <p:spPr bwMode="auto">
              <a:xfrm flipV="1">
                <a:off x="4680" y="3222"/>
                <a:ext cx="5" cy="10"/>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795" name="AutoShape 590"/>
              <p:cNvSpPr>
                <a:spLocks noChangeAspect="1" noChangeArrowheads="1"/>
              </p:cNvSpPr>
              <p:nvPr/>
            </p:nvSpPr>
            <p:spPr bwMode="auto">
              <a:xfrm>
                <a:off x="4728" y="3186"/>
                <a:ext cx="6" cy="1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796" name="AutoShape 591"/>
              <p:cNvSpPr>
                <a:spLocks noChangeAspect="1" noChangeArrowheads="1"/>
              </p:cNvSpPr>
              <p:nvPr/>
            </p:nvSpPr>
            <p:spPr bwMode="auto">
              <a:xfrm>
                <a:off x="4748" y="3172"/>
                <a:ext cx="5" cy="10"/>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797" name="AutoShape 592"/>
              <p:cNvSpPr>
                <a:spLocks noChangeAspect="1" noChangeArrowheads="1"/>
              </p:cNvSpPr>
              <p:nvPr/>
            </p:nvSpPr>
            <p:spPr bwMode="auto">
              <a:xfrm>
                <a:off x="4780" y="3177"/>
                <a:ext cx="5" cy="2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798" name="AutoShape 593"/>
              <p:cNvSpPr>
                <a:spLocks noChangeAspect="1" noChangeArrowheads="1"/>
              </p:cNvSpPr>
              <p:nvPr/>
            </p:nvSpPr>
            <p:spPr bwMode="auto">
              <a:xfrm>
                <a:off x="4796" y="3197"/>
                <a:ext cx="6" cy="1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799" name="AutoShape 594"/>
              <p:cNvSpPr>
                <a:spLocks noChangeAspect="1" noChangeArrowheads="1"/>
              </p:cNvSpPr>
              <p:nvPr/>
            </p:nvSpPr>
            <p:spPr bwMode="auto">
              <a:xfrm>
                <a:off x="4764" y="3170"/>
                <a:ext cx="5" cy="21"/>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00" name="AutoShape 595"/>
              <p:cNvSpPr>
                <a:spLocks noChangeAspect="1" noChangeArrowheads="1"/>
              </p:cNvSpPr>
              <p:nvPr/>
            </p:nvSpPr>
            <p:spPr bwMode="auto">
              <a:xfrm>
                <a:off x="4905" y="3169"/>
                <a:ext cx="6" cy="22"/>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01" name="AutoShape 596"/>
              <p:cNvSpPr>
                <a:spLocks noChangeAspect="1" noChangeArrowheads="1"/>
              </p:cNvSpPr>
              <p:nvPr/>
            </p:nvSpPr>
            <p:spPr bwMode="auto">
              <a:xfrm>
                <a:off x="4992" y="3201"/>
                <a:ext cx="5" cy="2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02" name="AutoShape 597"/>
              <p:cNvSpPr>
                <a:spLocks noChangeAspect="1" noChangeArrowheads="1"/>
              </p:cNvSpPr>
              <p:nvPr/>
            </p:nvSpPr>
            <p:spPr bwMode="auto">
              <a:xfrm>
                <a:off x="4921" y="3175"/>
                <a:ext cx="5" cy="28"/>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03" name="AutoShape 598"/>
              <p:cNvSpPr>
                <a:spLocks noChangeAspect="1" noChangeArrowheads="1"/>
              </p:cNvSpPr>
              <p:nvPr/>
            </p:nvSpPr>
            <p:spPr bwMode="auto">
              <a:xfrm>
                <a:off x="5008" y="3189"/>
                <a:ext cx="5" cy="19"/>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04" name="AutoShape 599"/>
              <p:cNvSpPr>
                <a:spLocks noChangeAspect="1" noChangeArrowheads="1"/>
              </p:cNvSpPr>
              <p:nvPr/>
            </p:nvSpPr>
            <p:spPr bwMode="auto">
              <a:xfrm>
                <a:off x="4937" y="3194"/>
                <a:ext cx="5" cy="20"/>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05" name="AutoShape 600"/>
              <p:cNvSpPr>
                <a:spLocks noChangeAspect="1" noChangeArrowheads="1"/>
              </p:cNvSpPr>
              <p:nvPr/>
            </p:nvSpPr>
            <p:spPr bwMode="auto">
              <a:xfrm>
                <a:off x="4976" y="3214"/>
                <a:ext cx="5" cy="22"/>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06" name="AutoShape 601"/>
              <p:cNvSpPr>
                <a:spLocks noChangeAspect="1" noChangeArrowheads="1"/>
              </p:cNvSpPr>
              <p:nvPr/>
            </p:nvSpPr>
            <p:spPr bwMode="auto">
              <a:xfrm>
                <a:off x="4960" y="3224"/>
                <a:ext cx="4" cy="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07" name="AutoShape 602"/>
              <p:cNvSpPr>
                <a:spLocks noChangeAspect="1" noChangeArrowheads="1"/>
              </p:cNvSpPr>
              <p:nvPr/>
            </p:nvSpPr>
            <p:spPr bwMode="auto">
              <a:xfrm>
                <a:off x="4960" y="3216"/>
                <a:ext cx="4" cy="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08" name="AutoShape 603"/>
              <p:cNvSpPr>
                <a:spLocks noChangeAspect="1" noChangeArrowheads="1"/>
              </p:cNvSpPr>
              <p:nvPr/>
            </p:nvSpPr>
            <p:spPr bwMode="auto">
              <a:xfrm>
                <a:off x="5058" y="3172"/>
                <a:ext cx="4" cy="2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09" name="AutoShape 604"/>
              <p:cNvSpPr>
                <a:spLocks noChangeAspect="1" noChangeArrowheads="1"/>
              </p:cNvSpPr>
              <p:nvPr/>
            </p:nvSpPr>
            <p:spPr bwMode="auto">
              <a:xfrm>
                <a:off x="5074" y="3189"/>
                <a:ext cx="5" cy="2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10" name="AutoShape 605"/>
              <p:cNvSpPr>
                <a:spLocks noChangeAspect="1" noChangeArrowheads="1"/>
              </p:cNvSpPr>
              <p:nvPr/>
            </p:nvSpPr>
            <p:spPr bwMode="auto">
              <a:xfrm>
                <a:off x="5022" y="3183"/>
                <a:ext cx="5" cy="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11" name="AutoShape 606"/>
              <p:cNvSpPr>
                <a:spLocks noChangeAspect="1" noChangeArrowheads="1"/>
              </p:cNvSpPr>
              <p:nvPr/>
            </p:nvSpPr>
            <p:spPr bwMode="auto">
              <a:xfrm>
                <a:off x="5041" y="3170"/>
                <a:ext cx="5" cy="1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12" name="AutoShape 607"/>
              <p:cNvSpPr>
                <a:spLocks noChangeAspect="1" noChangeArrowheads="1"/>
              </p:cNvSpPr>
              <p:nvPr/>
            </p:nvSpPr>
            <p:spPr bwMode="auto">
              <a:xfrm>
                <a:off x="5090" y="3213"/>
                <a:ext cx="6" cy="10"/>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13" name="AutoShape 608"/>
              <p:cNvSpPr>
                <a:spLocks noChangeAspect="1" noChangeArrowheads="1"/>
              </p:cNvSpPr>
              <p:nvPr/>
            </p:nvSpPr>
            <p:spPr bwMode="auto">
              <a:xfrm flipV="1">
                <a:off x="5157" y="3183"/>
                <a:ext cx="5" cy="1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14" name="AutoShape 609"/>
              <p:cNvSpPr>
                <a:spLocks noChangeAspect="1" noChangeArrowheads="1"/>
              </p:cNvSpPr>
              <p:nvPr/>
            </p:nvSpPr>
            <p:spPr bwMode="auto">
              <a:xfrm>
                <a:off x="5143" y="3195"/>
                <a:ext cx="6" cy="25"/>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15" name="AutoShape 610"/>
              <p:cNvSpPr>
                <a:spLocks noChangeAspect="1" noChangeArrowheads="1"/>
              </p:cNvSpPr>
              <p:nvPr/>
            </p:nvSpPr>
            <p:spPr bwMode="auto">
              <a:xfrm flipV="1">
                <a:off x="5127" y="3207"/>
                <a:ext cx="5" cy="26"/>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16" name="AutoShape 611"/>
              <p:cNvSpPr>
                <a:spLocks noChangeAspect="1" noChangeArrowheads="1"/>
              </p:cNvSpPr>
              <p:nvPr/>
            </p:nvSpPr>
            <p:spPr bwMode="auto">
              <a:xfrm>
                <a:off x="5111" y="3221"/>
                <a:ext cx="4" cy="13"/>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17" name="AutoShape 612"/>
              <p:cNvSpPr>
                <a:spLocks noChangeAspect="1" noChangeArrowheads="1"/>
              </p:cNvSpPr>
              <p:nvPr/>
            </p:nvSpPr>
            <p:spPr bwMode="auto">
              <a:xfrm flipV="1">
                <a:off x="5212" y="3182"/>
                <a:ext cx="5" cy="2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18" name="AutoShape 613"/>
              <p:cNvSpPr>
                <a:spLocks noChangeAspect="1" noChangeArrowheads="1"/>
              </p:cNvSpPr>
              <p:nvPr/>
            </p:nvSpPr>
            <p:spPr bwMode="auto">
              <a:xfrm>
                <a:off x="5194" y="3169"/>
                <a:ext cx="6" cy="26"/>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19" name="AutoShape 614"/>
              <p:cNvSpPr>
                <a:spLocks noChangeAspect="1" noChangeArrowheads="1"/>
              </p:cNvSpPr>
              <p:nvPr/>
            </p:nvSpPr>
            <p:spPr bwMode="auto">
              <a:xfrm>
                <a:off x="5180" y="3170"/>
                <a:ext cx="6" cy="15"/>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20" name="AutoShape 615"/>
              <p:cNvSpPr>
                <a:spLocks noChangeAspect="1" noChangeArrowheads="1"/>
              </p:cNvSpPr>
              <p:nvPr/>
            </p:nvSpPr>
            <p:spPr bwMode="auto">
              <a:xfrm>
                <a:off x="5281" y="3199"/>
                <a:ext cx="5"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21" name="AutoShape 616"/>
              <p:cNvSpPr>
                <a:spLocks noChangeAspect="1" noChangeArrowheads="1"/>
              </p:cNvSpPr>
              <p:nvPr/>
            </p:nvSpPr>
            <p:spPr bwMode="auto">
              <a:xfrm>
                <a:off x="5263" y="3212"/>
                <a:ext cx="5" cy="2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22" name="AutoShape 617"/>
              <p:cNvSpPr>
                <a:spLocks noChangeAspect="1" noChangeArrowheads="1"/>
              </p:cNvSpPr>
              <p:nvPr/>
            </p:nvSpPr>
            <p:spPr bwMode="auto">
              <a:xfrm>
                <a:off x="5226" y="3202"/>
                <a:ext cx="5" cy="16"/>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23" name="AutoShape 618"/>
              <p:cNvSpPr>
                <a:spLocks noChangeAspect="1" noChangeArrowheads="1"/>
              </p:cNvSpPr>
              <p:nvPr/>
            </p:nvSpPr>
            <p:spPr bwMode="auto">
              <a:xfrm flipV="1">
                <a:off x="5247" y="3211"/>
                <a:ext cx="6" cy="1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24" name="AutoShape 619"/>
              <p:cNvSpPr>
                <a:spLocks noChangeAspect="1" noChangeArrowheads="1"/>
              </p:cNvSpPr>
              <p:nvPr/>
            </p:nvSpPr>
            <p:spPr bwMode="auto">
              <a:xfrm flipV="1">
                <a:off x="5247" y="3222"/>
                <a:ext cx="6" cy="10"/>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25" name="AutoShape 620"/>
              <p:cNvSpPr>
                <a:spLocks noChangeAspect="1" noChangeArrowheads="1"/>
              </p:cNvSpPr>
              <p:nvPr/>
            </p:nvSpPr>
            <p:spPr bwMode="auto">
              <a:xfrm>
                <a:off x="5297" y="3186"/>
                <a:ext cx="5" cy="1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26" name="AutoShape 621"/>
              <p:cNvSpPr>
                <a:spLocks noChangeAspect="1" noChangeArrowheads="1"/>
              </p:cNvSpPr>
              <p:nvPr/>
            </p:nvSpPr>
            <p:spPr bwMode="auto">
              <a:xfrm>
                <a:off x="5316" y="3172"/>
                <a:ext cx="5" cy="10"/>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27" name="AutoShape 622"/>
              <p:cNvSpPr>
                <a:spLocks noChangeAspect="1" noChangeArrowheads="1"/>
              </p:cNvSpPr>
              <p:nvPr/>
            </p:nvSpPr>
            <p:spPr bwMode="auto">
              <a:xfrm>
                <a:off x="5348" y="3177"/>
                <a:ext cx="5" cy="2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28" name="AutoShape 623"/>
              <p:cNvSpPr>
                <a:spLocks noChangeAspect="1" noChangeArrowheads="1"/>
              </p:cNvSpPr>
              <p:nvPr/>
            </p:nvSpPr>
            <p:spPr bwMode="auto">
              <a:xfrm>
                <a:off x="5365" y="3197"/>
                <a:ext cx="5" cy="1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29" name="AutoShape 624"/>
              <p:cNvSpPr>
                <a:spLocks noChangeAspect="1" noChangeArrowheads="1"/>
              </p:cNvSpPr>
              <p:nvPr/>
            </p:nvSpPr>
            <p:spPr bwMode="auto">
              <a:xfrm>
                <a:off x="5332" y="3170"/>
                <a:ext cx="5" cy="21"/>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30" name="AutoShape 625"/>
              <p:cNvSpPr>
                <a:spLocks noChangeAspect="1" noChangeArrowheads="1"/>
              </p:cNvSpPr>
              <p:nvPr/>
            </p:nvSpPr>
            <p:spPr bwMode="auto">
              <a:xfrm>
                <a:off x="4851" y="3201"/>
                <a:ext cx="5" cy="2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31" name="AutoShape 626"/>
              <p:cNvSpPr>
                <a:spLocks noChangeAspect="1" noChangeArrowheads="1"/>
              </p:cNvSpPr>
              <p:nvPr/>
            </p:nvSpPr>
            <p:spPr bwMode="auto">
              <a:xfrm>
                <a:off x="4867" y="3189"/>
                <a:ext cx="4" cy="19"/>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32" name="AutoShape 627"/>
              <p:cNvSpPr>
                <a:spLocks noChangeAspect="1" noChangeArrowheads="1"/>
              </p:cNvSpPr>
              <p:nvPr/>
            </p:nvSpPr>
            <p:spPr bwMode="auto">
              <a:xfrm>
                <a:off x="4834" y="3214"/>
                <a:ext cx="5" cy="22"/>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33" name="AutoShape 628"/>
              <p:cNvSpPr>
                <a:spLocks noChangeAspect="1" noChangeArrowheads="1"/>
              </p:cNvSpPr>
              <p:nvPr/>
            </p:nvSpPr>
            <p:spPr bwMode="auto">
              <a:xfrm>
                <a:off x="4817" y="3223"/>
                <a:ext cx="5" cy="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34" name="AutoShape 629"/>
              <p:cNvSpPr>
                <a:spLocks noChangeAspect="1" noChangeArrowheads="1"/>
              </p:cNvSpPr>
              <p:nvPr/>
            </p:nvSpPr>
            <p:spPr bwMode="auto">
              <a:xfrm>
                <a:off x="4817" y="3215"/>
                <a:ext cx="5" cy="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35" name="AutoShape 630"/>
              <p:cNvSpPr>
                <a:spLocks noChangeAspect="1" noChangeArrowheads="1"/>
              </p:cNvSpPr>
              <p:nvPr/>
            </p:nvSpPr>
            <p:spPr bwMode="auto">
              <a:xfrm flipV="1">
                <a:off x="4879" y="3182"/>
                <a:ext cx="5" cy="9"/>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836" name="Freeform 631"/>
              <p:cNvSpPr>
                <a:spLocks noChangeAspect="1"/>
              </p:cNvSpPr>
              <p:nvPr/>
            </p:nvSpPr>
            <p:spPr bwMode="auto">
              <a:xfrm flipH="1">
                <a:off x="5332" y="316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837" name="Freeform 632"/>
              <p:cNvSpPr>
                <a:spLocks noChangeAspect="1"/>
              </p:cNvSpPr>
              <p:nvPr/>
            </p:nvSpPr>
            <p:spPr bwMode="auto">
              <a:xfrm flipH="1">
                <a:off x="5190" y="316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838" name="Freeform 633"/>
              <p:cNvSpPr>
                <a:spLocks noChangeAspect="1"/>
              </p:cNvSpPr>
              <p:nvPr/>
            </p:nvSpPr>
            <p:spPr bwMode="auto">
              <a:xfrm flipH="1">
                <a:off x="5048" y="3168"/>
                <a:ext cx="75"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839" name="Freeform 634"/>
              <p:cNvSpPr>
                <a:spLocks noChangeAspect="1"/>
              </p:cNvSpPr>
              <p:nvPr/>
            </p:nvSpPr>
            <p:spPr bwMode="auto">
              <a:xfrm flipH="1">
                <a:off x="4907" y="316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840" name="Freeform 635"/>
              <p:cNvSpPr>
                <a:spLocks noChangeAspect="1"/>
              </p:cNvSpPr>
              <p:nvPr/>
            </p:nvSpPr>
            <p:spPr bwMode="auto">
              <a:xfrm flipH="1">
                <a:off x="4764" y="316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841" name="Freeform 636"/>
              <p:cNvSpPr>
                <a:spLocks noChangeAspect="1"/>
              </p:cNvSpPr>
              <p:nvPr/>
            </p:nvSpPr>
            <p:spPr bwMode="auto">
              <a:xfrm flipH="1">
                <a:off x="4621" y="3168"/>
                <a:ext cx="75"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842" name="Freeform 637"/>
              <p:cNvSpPr>
                <a:spLocks noChangeAspect="1"/>
              </p:cNvSpPr>
              <p:nvPr/>
            </p:nvSpPr>
            <p:spPr bwMode="auto">
              <a:xfrm flipH="1">
                <a:off x="4480" y="316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843" name="Freeform 638"/>
              <p:cNvSpPr>
                <a:spLocks noChangeAspect="1"/>
              </p:cNvSpPr>
              <p:nvPr/>
            </p:nvSpPr>
            <p:spPr bwMode="auto">
              <a:xfrm flipH="1">
                <a:off x="4338" y="316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146757" name="Group 639"/>
            <p:cNvGrpSpPr>
              <a:grpSpLocks noChangeAspect="1"/>
            </p:cNvGrpSpPr>
            <p:nvPr/>
          </p:nvGrpSpPr>
          <p:grpSpPr bwMode="auto">
            <a:xfrm>
              <a:off x="5488" y="2888"/>
              <a:ext cx="54" cy="71"/>
              <a:chOff x="3743" y="2439"/>
              <a:chExt cx="164" cy="216"/>
            </a:xfrm>
          </p:grpSpPr>
          <p:sp>
            <p:nvSpPr>
              <p:cNvPr id="146758" name="Freeform 640"/>
              <p:cNvSpPr>
                <a:spLocks noChangeAspect="1"/>
              </p:cNvSpPr>
              <p:nvPr/>
            </p:nvSpPr>
            <p:spPr bwMode="auto">
              <a:xfrm>
                <a:off x="3743" y="2465"/>
                <a:ext cx="117" cy="190"/>
              </a:xfrm>
              <a:custGeom>
                <a:avLst/>
                <a:gdLst>
                  <a:gd name="T0" fmla="*/ 3 w 387"/>
                  <a:gd name="T1" fmla="*/ 0 h 625"/>
                  <a:gd name="T2" fmla="*/ 1 w 387"/>
                  <a:gd name="T3" fmla="*/ 0 h 625"/>
                  <a:gd name="T4" fmla="*/ 0 w 387"/>
                  <a:gd name="T5" fmla="*/ 2 h 625"/>
                  <a:gd name="T6" fmla="*/ 1 w 387"/>
                  <a:gd name="T7" fmla="*/ 2 h 625"/>
                  <a:gd name="T8" fmla="*/ 2 w 387"/>
                  <a:gd name="T9" fmla="*/ 2 h 625"/>
                  <a:gd name="T10" fmla="*/ 3 w 387"/>
                  <a:gd name="T11" fmla="*/ 2 h 625"/>
                  <a:gd name="T12" fmla="*/ 3 w 387"/>
                  <a:gd name="T13" fmla="*/ 4 h 625"/>
                  <a:gd name="T14" fmla="*/ 3 w 387"/>
                  <a:gd name="T15" fmla="*/ 5 h 625"/>
                  <a:gd name="T16" fmla="*/ 2 w 387"/>
                  <a:gd name="T17" fmla="*/ 5 h 625"/>
                  <a:gd name="T18" fmla="*/ 1 w 387"/>
                  <a:gd name="T19" fmla="*/ 5 h 625"/>
                  <a:gd name="T20" fmla="*/ 0 w 387"/>
                  <a:gd name="T21" fmla="*/ 4 h 62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87"/>
                  <a:gd name="T34" fmla="*/ 0 h 625"/>
                  <a:gd name="T35" fmla="*/ 387 w 387"/>
                  <a:gd name="T36" fmla="*/ 625 h 62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87" h="625">
                    <a:moveTo>
                      <a:pt x="387" y="7"/>
                    </a:moveTo>
                    <a:lnTo>
                      <a:pt x="86" y="0"/>
                    </a:lnTo>
                    <a:lnTo>
                      <a:pt x="28" y="295"/>
                    </a:lnTo>
                    <a:cubicBezTo>
                      <a:pt x="31" y="337"/>
                      <a:pt x="71" y="261"/>
                      <a:pt x="105" y="250"/>
                    </a:cubicBezTo>
                    <a:cubicBezTo>
                      <a:pt x="139" y="239"/>
                      <a:pt x="194" y="225"/>
                      <a:pt x="233" y="231"/>
                    </a:cubicBezTo>
                    <a:cubicBezTo>
                      <a:pt x="272" y="237"/>
                      <a:pt x="315" y="255"/>
                      <a:pt x="340" y="288"/>
                    </a:cubicBezTo>
                    <a:cubicBezTo>
                      <a:pt x="365" y="321"/>
                      <a:pt x="382" y="385"/>
                      <a:pt x="380" y="429"/>
                    </a:cubicBezTo>
                    <a:cubicBezTo>
                      <a:pt x="378" y="473"/>
                      <a:pt x="358" y="519"/>
                      <a:pt x="327" y="551"/>
                    </a:cubicBezTo>
                    <a:cubicBezTo>
                      <a:pt x="296" y="583"/>
                      <a:pt x="237" y="617"/>
                      <a:pt x="192" y="621"/>
                    </a:cubicBezTo>
                    <a:cubicBezTo>
                      <a:pt x="147" y="625"/>
                      <a:pt x="90" y="600"/>
                      <a:pt x="58" y="576"/>
                    </a:cubicBezTo>
                    <a:cubicBezTo>
                      <a:pt x="26" y="552"/>
                      <a:pt x="12" y="495"/>
                      <a:pt x="0" y="474"/>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6759" name="AutoShape 641"/>
              <p:cNvSpPr>
                <a:spLocks noChangeAspect="1" noChangeArrowheads="1"/>
              </p:cNvSpPr>
              <p:nvPr/>
            </p:nvSpPr>
            <p:spPr bwMode="auto">
              <a:xfrm flipV="1">
                <a:off x="3889" y="2439"/>
                <a:ext cx="18" cy="51"/>
              </a:xfrm>
              <a:prstGeom prst="triangle">
                <a:avLst>
                  <a:gd name="adj" fmla="val 50000"/>
                </a:avLst>
              </a:prstGeom>
              <a:solidFill>
                <a:schemeClr val="tx1"/>
              </a:solidFill>
              <a:ln w="6350">
                <a:solidFill>
                  <a:schemeClr val="tx1"/>
                </a:solidFill>
                <a:miter lim="800000"/>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sp>
        <p:nvSpPr>
          <p:cNvPr id="146448" name="Line 642"/>
          <p:cNvSpPr>
            <a:spLocks noChangeShapeType="1"/>
          </p:cNvSpPr>
          <p:nvPr/>
        </p:nvSpPr>
        <p:spPr bwMode="auto">
          <a:xfrm flipV="1">
            <a:off x="6229350" y="3943350"/>
            <a:ext cx="523875" cy="6477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6449" name="Line 643"/>
          <p:cNvSpPr>
            <a:spLocks noChangeShapeType="1"/>
          </p:cNvSpPr>
          <p:nvPr/>
        </p:nvSpPr>
        <p:spPr bwMode="auto">
          <a:xfrm>
            <a:off x="6229350" y="4686300"/>
            <a:ext cx="466725" cy="1762125"/>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6450" name="Line 644"/>
          <p:cNvSpPr>
            <a:spLocks noChangeShapeType="1"/>
          </p:cNvSpPr>
          <p:nvPr/>
        </p:nvSpPr>
        <p:spPr bwMode="auto">
          <a:xfrm>
            <a:off x="7448550" y="4143375"/>
            <a:ext cx="0" cy="371475"/>
          </a:xfrm>
          <a:prstGeom prst="line">
            <a:avLst/>
          </a:prstGeom>
          <a:noFill/>
          <a:ln w="28575">
            <a:solidFill>
              <a:srgbClr val="0099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6451" name="Line 645"/>
          <p:cNvSpPr>
            <a:spLocks noChangeShapeType="1"/>
          </p:cNvSpPr>
          <p:nvPr/>
        </p:nvSpPr>
        <p:spPr bwMode="auto">
          <a:xfrm>
            <a:off x="7446963" y="4941888"/>
            <a:ext cx="9525" cy="790575"/>
          </a:xfrm>
          <a:prstGeom prst="line">
            <a:avLst/>
          </a:prstGeom>
          <a:noFill/>
          <a:ln w="28575">
            <a:solidFill>
              <a:srgbClr val="0099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6452" name="Text Box 646"/>
          <p:cNvSpPr txBox="1">
            <a:spLocks noChangeArrowheads="1"/>
          </p:cNvSpPr>
          <p:nvPr/>
        </p:nvSpPr>
        <p:spPr bwMode="auto">
          <a:xfrm>
            <a:off x="7561263" y="4125913"/>
            <a:ext cx="7334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kumimoji="0" lang="en-US" altLang="zh-CN" sz="1000" b="1">
                <a:latin typeface="Arial" panose="020B0604020202020204" pitchFamily="34" charset="0"/>
              </a:rPr>
              <a:t>Denature</a:t>
            </a:r>
            <a:br>
              <a:rPr kumimoji="0" lang="en-US" altLang="zh-CN" sz="1000" b="1">
                <a:latin typeface="Arial" panose="020B0604020202020204" pitchFamily="34" charset="0"/>
              </a:rPr>
            </a:br>
            <a:r>
              <a:rPr kumimoji="0" lang="en-US" altLang="zh-CN" sz="1000" b="1">
                <a:latin typeface="Arial" panose="020B0604020202020204" pitchFamily="34" charset="0"/>
              </a:rPr>
              <a:t>DNA</a:t>
            </a:r>
          </a:p>
        </p:txBody>
      </p:sp>
      <p:sp>
        <p:nvSpPr>
          <p:cNvPr id="146453" name="Text Box 647"/>
          <p:cNvSpPr txBox="1">
            <a:spLocks noChangeArrowheads="1"/>
          </p:cNvSpPr>
          <p:nvPr/>
        </p:nvSpPr>
        <p:spPr bwMode="auto">
          <a:xfrm>
            <a:off x="7575550" y="4868863"/>
            <a:ext cx="1238250"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sz="1000" b="1">
                <a:latin typeface="Arial" panose="020B0604020202020204" pitchFamily="34" charset="0"/>
              </a:rPr>
              <a:t>Add Klenow</a:t>
            </a:r>
            <a:br>
              <a:rPr kumimoji="0" lang="en-US" altLang="zh-CN" sz="1000" b="1">
                <a:latin typeface="Arial" panose="020B0604020202020204" pitchFamily="34" charset="0"/>
              </a:rPr>
            </a:br>
            <a:r>
              <a:rPr kumimoji="0" lang="en-US" altLang="zh-CN" sz="1000" b="1">
                <a:latin typeface="Arial" panose="020B0604020202020204" pitchFamily="34" charset="0"/>
              </a:rPr>
              <a:t>DNA Polymerase,</a:t>
            </a:r>
            <a:br>
              <a:rPr kumimoji="0" lang="en-US" altLang="zh-CN" sz="1000" b="1">
                <a:latin typeface="Arial" panose="020B0604020202020204" pitchFamily="34" charset="0"/>
              </a:rPr>
            </a:br>
            <a:r>
              <a:rPr kumimoji="0" lang="en-US" altLang="zh-CN" sz="1000" b="1">
                <a:latin typeface="Arial" panose="020B0604020202020204" pitchFamily="34" charset="0"/>
              </a:rPr>
              <a:t>random primers</a:t>
            </a:r>
            <a:br>
              <a:rPr kumimoji="0" lang="en-US" altLang="zh-CN" sz="1000" b="1">
                <a:latin typeface="Arial" panose="020B0604020202020204" pitchFamily="34" charset="0"/>
              </a:rPr>
            </a:br>
            <a:r>
              <a:rPr kumimoji="0" lang="en-US" altLang="zh-CN" sz="1000" b="1">
                <a:latin typeface="Arial" panose="020B0604020202020204" pitchFamily="34" charset="0"/>
              </a:rPr>
              <a:t>and labeled </a:t>
            </a:r>
            <a:br>
              <a:rPr kumimoji="0" lang="en-US" altLang="zh-CN" sz="1000" b="1">
                <a:latin typeface="Arial" panose="020B0604020202020204" pitchFamily="34" charset="0"/>
              </a:rPr>
            </a:br>
            <a:r>
              <a:rPr kumimoji="0" lang="en-US" altLang="zh-CN" sz="1000" b="1">
                <a:latin typeface="Arial" panose="020B0604020202020204" pitchFamily="34" charset="0"/>
              </a:rPr>
              <a:t>nucleotides</a:t>
            </a:r>
          </a:p>
        </p:txBody>
      </p:sp>
      <p:sp>
        <p:nvSpPr>
          <p:cNvPr id="146454" name="Text Box 648"/>
          <p:cNvSpPr txBox="1">
            <a:spLocks noChangeArrowheads="1"/>
          </p:cNvSpPr>
          <p:nvPr/>
        </p:nvSpPr>
        <p:spPr bwMode="auto">
          <a:xfrm>
            <a:off x="3144838" y="4057650"/>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zh-CN" sz="1400" b="1">
              <a:solidFill>
                <a:srgbClr val="009900"/>
              </a:solidFill>
              <a:latin typeface="Arial" panose="020B0604020202020204" pitchFamily="34" charset="0"/>
            </a:endParaRPr>
          </a:p>
        </p:txBody>
      </p:sp>
      <p:sp>
        <p:nvSpPr>
          <p:cNvPr id="146455" name="Text Box 649"/>
          <p:cNvSpPr txBox="1">
            <a:spLocks noChangeArrowheads="1"/>
          </p:cNvSpPr>
          <p:nvPr/>
        </p:nvSpPr>
        <p:spPr bwMode="auto">
          <a:xfrm>
            <a:off x="3114675" y="3636963"/>
            <a:ext cx="2538413"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sz="1400" b="1">
                <a:solidFill>
                  <a:srgbClr val="009900"/>
                </a:solidFill>
                <a:latin typeface="Arial" panose="020B0604020202020204" pitchFamily="34" charset="0"/>
              </a:rPr>
              <a:t>4. Hybridize denatured</a:t>
            </a:r>
            <a:br>
              <a:rPr kumimoji="0" lang="en-US" altLang="zh-CN" sz="1400" b="1">
                <a:solidFill>
                  <a:srgbClr val="009900"/>
                </a:solidFill>
                <a:latin typeface="Arial" panose="020B0604020202020204" pitchFamily="34" charset="0"/>
              </a:rPr>
            </a:br>
            <a:r>
              <a:rPr kumimoji="0" lang="en-US" altLang="zh-CN" sz="1400" b="1">
                <a:solidFill>
                  <a:srgbClr val="009900"/>
                </a:solidFill>
                <a:latin typeface="Arial" panose="020B0604020202020204" pitchFamily="34" charset="0"/>
              </a:rPr>
              <a:t>    probe with the membrane</a:t>
            </a:r>
          </a:p>
        </p:txBody>
      </p:sp>
      <p:grpSp>
        <p:nvGrpSpPr>
          <p:cNvPr id="146456" name="Group 650"/>
          <p:cNvGrpSpPr/>
          <p:nvPr/>
        </p:nvGrpSpPr>
        <p:grpSpPr bwMode="auto">
          <a:xfrm>
            <a:off x="3619500" y="5006975"/>
            <a:ext cx="1563688" cy="457200"/>
            <a:chOff x="2280" y="3154"/>
            <a:chExt cx="985" cy="288"/>
          </a:xfrm>
        </p:grpSpPr>
        <p:sp>
          <p:nvSpPr>
            <p:cNvPr id="146754" name="Rectangle 651"/>
            <p:cNvSpPr>
              <a:spLocks noChangeArrowheads="1"/>
            </p:cNvSpPr>
            <p:nvPr/>
          </p:nvSpPr>
          <p:spPr bwMode="auto">
            <a:xfrm>
              <a:off x="2310" y="3366"/>
              <a:ext cx="936" cy="48"/>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755" name="Freeform 652"/>
            <p:cNvSpPr>
              <a:spLocks noChangeAspect="1"/>
            </p:cNvSpPr>
            <p:nvPr/>
          </p:nvSpPr>
          <p:spPr bwMode="auto">
            <a:xfrm>
              <a:off x="2280" y="3154"/>
              <a:ext cx="985" cy="288"/>
            </a:xfrm>
            <a:custGeom>
              <a:avLst/>
              <a:gdLst>
                <a:gd name="T0" fmla="*/ 0 w 1636"/>
                <a:gd name="T1" fmla="*/ 0 h 479"/>
                <a:gd name="T2" fmla="*/ 0 w 1636"/>
                <a:gd name="T3" fmla="*/ 63 h 479"/>
                <a:gd name="T4" fmla="*/ 55 w 1636"/>
                <a:gd name="T5" fmla="*/ 63 h 479"/>
                <a:gd name="T6" fmla="*/ 154 w 1636"/>
                <a:gd name="T7" fmla="*/ 61 h 479"/>
                <a:gd name="T8" fmla="*/ 215 w 1636"/>
                <a:gd name="T9" fmla="*/ 61 h 479"/>
                <a:gd name="T10" fmla="*/ 215 w 1636"/>
                <a:gd name="T11" fmla="*/ 0 h 479"/>
                <a:gd name="T12" fmla="*/ 207 w 1636"/>
                <a:gd name="T13" fmla="*/ 0 h 479"/>
                <a:gd name="T14" fmla="*/ 207 w 1636"/>
                <a:gd name="T15" fmla="*/ 51 h 479"/>
                <a:gd name="T16" fmla="*/ 8 w 1636"/>
                <a:gd name="T17" fmla="*/ 53 h 479"/>
                <a:gd name="T18" fmla="*/ 8 w 1636"/>
                <a:gd name="T19" fmla="*/ 0 h 479"/>
                <a:gd name="T20" fmla="*/ 0 w 1636"/>
                <a:gd name="T21" fmla="*/ 0 h 47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636"/>
                <a:gd name="T34" fmla="*/ 0 h 479"/>
                <a:gd name="T35" fmla="*/ 1636 w 1636"/>
                <a:gd name="T36" fmla="*/ 479 h 47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636" h="479">
                  <a:moveTo>
                    <a:pt x="0" y="0"/>
                  </a:moveTo>
                  <a:lnTo>
                    <a:pt x="0" y="479"/>
                  </a:lnTo>
                  <a:lnTo>
                    <a:pt x="421" y="479"/>
                  </a:lnTo>
                  <a:lnTo>
                    <a:pt x="1168" y="470"/>
                  </a:lnTo>
                  <a:lnTo>
                    <a:pt x="1636" y="470"/>
                  </a:lnTo>
                  <a:lnTo>
                    <a:pt x="1636" y="0"/>
                  </a:lnTo>
                  <a:lnTo>
                    <a:pt x="1578" y="0"/>
                  </a:lnTo>
                  <a:lnTo>
                    <a:pt x="1575" y="395"/>
                  </a:lnTo>
                  <a:lnTo>
                    <a:pt x="67" y="404"/>
                  </a:lnTo>
                  <a:lnTo>
                    <a:pt x="67" y="0"/>
                  </a:lnTo>
                  <a:lnTo>
                    <a:pt x="0" y="0"/>
                  </a:lnTo>
                  <a:close/>
                </a:path>
              </a:pathLst>
            </a:custGeom>
            <a:solidFill>
              <a:srgbClr val="4D4D4D"/>
            </a:solidFill>
            <a:ln w="12700">
              <a:solidFill>
                <a:schemeClr val="bg2"/>
              </a:solidFill>
              <a:round/>
            </a:ln>
          </p:spPr>
          <p:txBody>
            <a:bodyPr wrap="none" anchor="ctr"/>
            <a:lstStyle/>
            <a:p>
              <a:endParaRPr lang="zh-CN" altLang="en-US"/>
            </a:p>
          </p:txBody>
        </p:sp>
      </p:grpSp>
      <p:sp>
        <p:nvSpPr>
          <p:cNvPr id="146457" name="Freeform 653"/>
          <p:cNvSpPr/>
          <p:nvPr/>
        </p:nvSpPr>
        <p:spPr bwMode="auto">
          <a:xfrm>
            <a:off x="4362450" y="2943225"/>
            <a:ext cx="2095500" cy="2133600"/>
          </a:xfrm>
          <a:custGeom>
            <a:avLst/>
            <a:gdLst>
              <a:gd name="T0" fmla="*/ 2147483646 w 1320"/>
              <a:gd name="T1" fmla="*/ 0 h 1344"/>
              <a:gd name="T2" fmla="*/ 2147483646 w 1320"/>
              <a:gd name="T3" fmla="*/ 2147483646 h 1344"/>
              <a:gd name="T4" fmla="*/ 0 w 1320"/>
              <a:gd name="T5" fmla="*/ 2147483646 h 1344"/>
              <a:gd name="T6" fmla="*/ 0 60000 65536"/>
              <a:gd name="T7" fmla="*/ 0 60000 65536"/>
              <a:gd name="T8" fmla="*/ 0 60000 65536"/>
              <a:gd name="T9" fmla="*/ 0 w 1320"/>
              <a:gd name="T10" fmla="*/ 0 h 1344"/>
              <a:gd name="T11" fmla="*/ 1320 w 1320"/>
              <a:gd name="T12" fmla="*/ 1344 h 1344"/>
            </a:gdLst>
            <a:ahLst/>
            <a:cxnLst>
              <a:cxn ang="T6">
                <a:pos x="T0" y="T1"/>
              </a:cxn>
              <a:cxn ang="T7">
                <a:pos x="T2" y="T3"/>
              </a:cxn>
              <a:cxn ang="T8">
                <a:pos x="T4" y="T5"/>
              </a:cxn>
            </a:cxnLst>
            <a:rect l="T9" t="T10" r="T11" b="T12"/>
            <a:pathLst>
              <a:path w="1320" h="1344">
                <a:moveTo>
                  <a:pt x="1320" y="0"/>
                </a:moveTo>
                <a:cubicBezTo>
                  <a:pt x="1226" y="126"/>
                  <a:pt x="976" y="532"/>
                  <a:pt x="756" y="756"/>
                </a:cubicBezTo>
                <a:cubicBezTo>
                  <a:pt x="536" y="980"/>
                  <a:pt x="158" y="1222"/>
                  <a:pt x="0" y="1344"/>
                </a:cubicBezTo>
              </a:path>
            </a:pathLst>
          </a:custGeom>
          <a:noFill/>
          <a:ln w="28575">
            <a:solidFill>
              <a:srgbClr val="FF0000"/>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46458" name="Freeform 654"/>
          <p:cNvSpPr/>
          <p:nvPr/>
        </p:nvSpPr>
        <p:spPr bwMode="auto">
          <a:xfrm>
            <a:off x="4410075" y="4552950"/>
            <a:ext cx="1438275" cy="581025"/>
          </a:xfrm>
          <a:custGeom>
            <a:avLst/>
            <a:gdLst>
              <a:gd name="T0" fmla="*/ 2147483646 w 906"/>
              <a:gd name="T1" fmla="*/ 0 h 366"/>
              <a:gd name="T2" fmla="*/ 2147483646 w 906"/>
              <a:gd name="T3" fmla="*/ 2147483646 h 366"/>
              <a:gd name="T4" fmla="*/ 0 w 906"/>
              <a:gd name="T5" fmla="*/ 2147483646 h 366"/>
              <a:gd name="T6" fmla="*/ 0 60000 65536"/>
              <a:gd name="T7" fmla="*/ 0 60000 65536"/>
              <a:gd name="T8" fmla="*/ 0 60000 65536"/>
              <a:gd name="T9" fmla="*/ 0 w 906"/>
              <a:gd name="T10" fmla="*/ 0 h 366"/>
              <a:gd name="T11" fmla="*/ 906 w 906"/>
              <a:gd name="T12" fmla="*/ 366 h 366"/>
            </a:gdLst>
            <a:ahLst/>
            <a:cxnLst>
              <a:cxn ang="T6">
                <a:pos x="T0" y="T1"/>
              </a:cxn>
              <a:cxn ang="T7">
                <a:pos x="T2" y="T3"/>
              </a:cxn>
              <a:cxn ang="T8">
                <a:pos x="T4" y="T5"/>
              </a:cxn>
            </a:cxnLst>
            <a:rect l="T9" t="T10" r="T11" b="T12"/>
            <a:pathLst>
              <a:path w="906" h="366">
                <a:moveTo>
                  <a:pt x="906" y="0"/>
                </a:moveTo>
                <a:cubicBezTo>
                  <a:pt x="783" y="2"/>
                  <a:pt x="661" y="5"/>
                  <a:pt x="510" y="66"/>
                </a:cubicBezTo>
                <a:cubicBezTo>
                  <a:pt x="359" y="127"/>
                  <a:pt x="179" y="246"/>
                  <a:pt x="0" y="366"/>
                </a:cubicBezTo>
              </a:path>
            </a:pathLst>
          </a:custGeom>
          <a:noFill/>
          <a:ln w="28575">
            <a:solidFill>
              <a:srgbClr val="FF0000"/>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46459" name="Line 655"/>
          <p:cNvSpPr>
            <a:spLocks noChangeShapeType="1"/>
          </p:cNvSpPr>
          <p:nvPr/>
        </p:nvSpPr>
        <p:spPr bwMode="auto">
          <a:xfrm flipH="1">
            <a:off x="2914650" y="5334000"/>
            <a:ext cx="514350" cy="0"/>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6460" name="Text Box 656"/>
          <p:cNvSpPr txBox="1">
            <a:spLocks noChangeArrowheads="1"/>
          </p:cNvSpPr>
          <p:nvPr/>
        </p:nvSpPr>
        <p:spPr bwMode="auto">
          <a:xfrm>
            <a:off x="431800" y="3668713"/>
            <a:ext cx="2436813"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sz="1400" b="1">
                <a:solidFill>
                  <a:srgbClr val="009900"/>
                </a:solidFill>
                <a:latin typeface="Arial" panose="020B0604020202020204" pitchFamily="34" charset="0"/>
              </a:rPr>
              <a:t>5. Wash the membrane </a:t>
            </a:r>
            <a:br>
              <a:rPr kumimoji="0" lang="en-US" altLang="zh-CN" sz="1400" b="1">
                <a:solidFill>
                  <a:srgbClr val="009900"/>
                </a:solidFill>
                <a:latin typeface="Arial" panose="020B0604020202020204" pitchFamily="34" charset="0"/>
              </a:rPr>
            </a:br>
            <a:r>
              <a:rPr kumimoji="0" lang="en-US" altLang="zh-CN" sz="1400" b="1">
                <a:solidFill>
                  <a:srgbClr val="009900"/>
                </a:solidFill>
                <a:latin typeface="Arial" panose="020B0604020202020204" pitchFamily="34" charset="0"/>
              </a:rPr>
              <a:t>    and expose with the film</a:t>
            </a:r>
          </a:p>
        </p:txBody>
      </p:sp>
      <p:grpSp>
        <p:nvGrpSpPr>
          <p:cNvPr id="146461" name="Group 657"/>
          <p:cNvGrpSpPr/>
          <p:nvPr/>
        </p:nvGrpSpPr>
        <p:grpSpPr bwMode="auto">
          <a:xfrm>
            <a:off x="768350" y="4348163"/>
            <a:ext cx="1828800" cy="1919287"/>
            <a:chOff x="4168" y="2139"/>
            <a:chExt cx="1152" cy="1209"/>
          </a:xfrm>
        </p:grpSpPr>
        <p:sp>
          <p:nvSpPr>
            <p:cNvPr id="146703" name="Rectangle 658"/>
            <p:cNvSpPr>
              <a:spLocks noChangeArrowheads="1"/>
            </p:cNvSpPr>
            <p:nvPr/>
          </p:nvSpPr>
          <p:spPr bwMode="auto">
            <a:xfrm>
              <a:off x="4168" y="2139"/>
              <a:ext cx="1152" cy="1209"/>
            </a:xfrm>
            <a:prstGeom prst="rect">
              <a:avLst/>
            </a:prstGeom>
            <a:solidFill>
              <a:srgbClr val="A3D5D9"/>
            </a:solidFill>
            <a:ln w="9525">
              <a:solidFill>
                <a:schemeClr val="tx1"/>
              </a:solidFill>
              <a:miter lim="800000"/>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nvGrpSpPr>
            <p:cNvPr id="146704" name="Group 659"/>
            <p:cNvGrpSpPr/>
            <p:nvPr/>
          </p:nvGrpSpPr>
          <p:grpSpPr bwMode="auto">
            <a:xfrm>
              <a:off x="4620" y="2755"/>
              <a:ext cx="196" cy="65"/>
              <a:chOff x="2130" y="3040"/>
              <a:chExt cx="196" cy="65"/>
            </a:xfrm>
          </p:grpSpPr>
          <p:sp>
            <p:nvSpPr>
              <p:cNvPr id="146752" name="Oval 660"/>
              <p:cNvSpPr>
                <a:spLocks noChangeArrowheads="1"/>
              </p:cNvSpPr>
              <p:nvPr/>
            </p:nvSpPr>
            <p:spPr bwMode="auto">
              <a:xfrm>
                <a:off x="2141" y="3077"/>
                <a:ext cx="174" cy="27"/>
              </a:xfrm>
              <a:prstGeom prst="ellipse">
                <a:avLst/>
              </a:prstGeom>
              <a:gradFill rotWithShape="1">
                <a:gsLst>
                  <a:gs pos="0">
                    <a:schemeClr val="bg1"/>
                  </a:gs>
                  <a:gs pos="100000">
                    <a:srgbClr val="4D4D4D"/>
                  </a:gs>
                </a:gsLst>
                <a:path path="shape">
                  <a:fillToRect l="50000" t="50000" r="50000" b="50000"/>
                </a:path>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753" name="Freeform 661"/>
              <p:cNvSpPr/>
              <p:nvPr/>
            </p:nvSpPr>
            <p:spPr bwMode="auto">
              <a:xfrm>
                <a:off x="2130" y="3040"/>
                <a:ext cx="196" cy="65"/>
              </a:xfrm>
              <a:custGeom>
                <a:avLst/>
                <a:gdLst>
                  <a:gd name="T0" fmla="*/ 5 w 196"/>
                  <a:gd name="T1" fmla="*/ 11 h 65"/>
                  <a:gd name="T2" fmla="*/ 14 w 196"/>
                  <a:gd name="T3" fmla="*/ 53 h 65"/>
                  <a:gd name="T4" fmla="*/ 91 w 196"/>
                  <a:gd name="T5" fmla="*/ 63 h 65"/>
                  <a:gd name="T6" fmla="*/ 180 w 196"/>
                  <a:gd name="T7" fmla="*/ 55 h 65"/>
                  <a:gd name="T8" fmla="*/ 185 w 196"/>
                  <a:gd name="T9" fmla="*/ 5 h 65"/>
                  <a:gd name="T10" fmla="*/ 167 w 196"/>
                  <a:gd name="T11" fmla="*/ 25 h 65"/>
                  <a:gd name="T12" fmla="*/ 27 w 196"/>
                  <a:gd name="T13" fmla="*/ 23 h 65"/>
                  <a:gd name="T14" fmla="*/ 5 w 196"/>
                  <a:gd name="T15" fmla="*/ 11 h 65"/>
                  <a:gd name="T16" fmla="*/ 0 60000 65536"/>
                  <a:gd name="T17" fmla="*/ 0 60000 65536"/>
                  <a:gd name="T18" fmla="*/ 0 60000 65536"/>
                  <a:gd name="T19" fmla="*/ 0 60000 65536"/>
                  <a:gd name="T20" fmla="*/ 0 60000 65536"/>
                  <a:gd name="T21" fmla="*/ 0 60000 65536"/>
                  <a:gd name="T22" fmla="*/ 0 60000 65536"/>
                  <a:gd name="T23" fmla="*/ 0 60000 65536"/>
                  <a:gd name="T24" fmla="*/ 0 w 196"/>
                  <a:gd name="T25" fmla="*/ 0 h 65"/>
                  <a:gd name="T26" fmla="*/ 196 w 196"/>
                  <a:gd name="T27" fmla="*/ 65 h 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6" h="65">
                    <a:moveTo>
                      <a:pt x="5" y="11"/>
                    </a:moveTo>
                    <a:cubicBezTo>
                      <a:pt x="3" y="16"/>
                      <a:pt x="0" y="44"/>
                      <a:pt x="14" y="53"/>
                    </a:cubicBezTo>
                    <a:cubicBezTo>
                      <a:pt x="28" y="62"/>
                      <a:pt x="63" y="63"/>
                      <a:pt x="91" y="63"/>
                    </a:cubicBezTo>
                    <a:cubicBezTo>
                      <a:pt x="119" y="63"/>
                      <a:pt x="164" y="65"/>
                      <a:pt x="180" y="55"/>
                    </a:cubicBezTo>
                    <a:cubicBezTo>
                      <a:pt x="196" y="45"/>
                      <a:pt x="187" y="10"/>
                      <a:pt x="185" y="5"/>
                    </a:cubicBezTo>
                    <a:cubicBezTo>
                      <a:pt x="183" y="0"/>
                      <a:pt x="193" y="22"/>
                      <a:pt x="167" y="25"/>
                    </a:cubicBezTo>
                    <a:cubicBezTo>
                      <a:pt x="141" y="28"/>
                      <a:pt x="54" y="25"/>
                      <a:pt x="27" y="23"/>
                    </a:cubicBezTo>
                    <a:cubicBezTo>
                      <a:pt x="0" y="21"/>
                      <a:pt x="7" y="6"/>
                      <a:pt x="5" y="11"/>
                    </a:cubicBezTo>
                    <a:close/>
                  </a:path>
                </a:pathLst>
              </a:custGeom>
              <a:gradFill rotWithShape="1">
                <a:gsLst>
                  <a:gs pos="0">
                    <a:schemeClr val="tx1">
                      <a:alpha val="50000"/>
                    </a:schemeClr>
                  </a:gs>
                  <a:gs pos="100000">
                    <a:schemeClr val="bg2"/>
                  </a:gs>
                </a:gsLst>
                <a:lin ang="54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p>
                <a:endParaRPr lang="zh-CN" altLang="en-US"/>
              </a:p>
            </p:txBody>
          </p:sp>
        </p:grpSp>
        <p:grpSp>
          <p:nvGrpSpPr>
            <p:cNvPr id="146705" name="Group 662"/>
            <p:cNvGrpSpPr/>
            <p:nvPr/>
          </p:nvGrpSpPr>
          <p:grpSpPr bwMode="auto">
            <a:xfrm>
              <a:off x="4200" y="2694"/>
              <a:ext cx="196" cy="66"/>
              <a:chOff x="2380" y="3087"/>
              <a:chExt cx="196" cy="66"/>
            </a:xfrm>
          </p:grpSpPr>
          <p:sp>
            <p:nvSpPr>
              <p:cNvPr id="146750" name="Freeform 663"/>
              <p:cNvSpPr/>
              <p:nvPr/>
            </p:nvSpPr>
            <p:spPr bwMode="auto">
              <a:xfrm>
                <a:off x="2380" y="3087"/>
                <a:ext cx="196" cy="65"/>
              </a:xfrm>
              <a:custGeom>
                <a:avLst/>
                <a:gdLst>
                  <a:gd name="T0" fmla="*/ 5 w 196"/>
                  <a:gd name="T1" fmla="*/ 11 h 65"/>
                  <a:gd name="T2" fmla="*/ 14 w 196"/>
                  <a:gd name="T3" fmla="*/ 53 h 65"/>
                  <a:gd name="T4" fmla="*/ 91 w 196"/>
                  <a:gd name="T5" fmla="*/ 63 h 65"/>
                  <a:gd name="T6" fmla="*/ 180 w 196"/>
                  <a:gd name="T7" fmla="*/ 55 h 65"/>
                  <a:gd name="T8" fmla="*/ 185 w 196"/>
                  <a:gd name="T9" fmla="*/ 5 h 65"/>
                  <a:gd name="T10" fmla="*/ 167 w 196"/>
                  <a:gd name="T11" fmla="*/ 25 h 65"/>
                  <a:gd name="T12" fmla="*/ 27 w 196"/>
                  <a:gd name="T13" fmla="*/ 23 h 65"/>
                  <a:gd name="T14" fmla="*/ 5 w 196"/>
                  <a:gd name="T15" fmla="*/ 11 h 65"/>
                  <a:gd name="T16" fmla="*/ 0 60000 65536"/>
                  <a:gd name="T17" fmla="*/ 0 60000 65536"/>
                  <a:gd name="T18" fmla="*/ 0 60000 65536"/>
                  <a:gd name="T19" fmla="*/ 0 60000 65536"/>
                  <a:gd name="T20" fmla="*/ 0 60000 65536"/>
                  <a:gd name="T21" fmla="*/ 0 60000 65536"/>
                  <a:gd name="T22" fmla="*/ 0 60000 65536"/>
                  <a:gd name="T23" fmla="*/ 0 60000 65536"/>
                  <a:gd name="T24" fmla="*/ 0 w 196"/>
                  <a:gd name="T25" fmla="*/ 0 h 65"/>
                  <a:gd name="T26" fmla="*/ 196 w 196"/>
                  <a:gd name="T27" fmla="*/ 65 h 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6" h="65">
                    <a:moveTo>
                      <a:pt x="5" y="11"/>
                    </a:moveTo>
                    <a:cubicBezTo>
                      <a:pt x="3" y="16"/>
                      <a:pt x="0" y="44"/>
                      <a:pt x="14" y="53"/>
                    </a:cubicBezTo>
                    <a:cubicBezTo>
                      <a:pt x="28" y="62"/>
                      <a:pt x="63" y="63"/>
                      <a:pt x="91" y="63"/>
                    </a:cubicBezTo>
                    <a:cubicBezTo>
                      <a:pt x="119" y="63"/>
                      <a:pt x="164" y="65"/>
                      <a:pt x="180" y="55"/>
                    </a:cubicBezTo>
                    <a:cubicBezTo>
                      <a:pt x="196" y="45"/>
                      <a:pt x="187" y="10"/>
                      <a:pt x="185" y="5"/>
                    </a:cubicBezTo>
                    <a:cubicBezTo>
                      <a:pt x="183" y="0"/>
                      <a:pt x="193" y="22"/>
                      <a:pt x="167" y="25"/>
                    </a:cubicBezTo>
                    <a:cubicBezTo>
                      <a:pt x="141" y="28"/>
                      <a:pt x="54" y="25"/>
                      <a:pt x="27" y="23"/>
                    </a:cubicBezTo>
                    <a:cubicBezTo>
                      <a:pt x="0" y="21"/>
                      <a:pt x="7" y="6"/>
                      <a:pt x="5" y="11"/>
                    </a:cubicBezTo>
                    <a:close/>
                  </a:path>
                </a:pathLst>
              </a:custGeom>
              <a:gradFill rotWithShape="1">
                <a:gsLst>
                  <a:gs pos="0">
                    <a:schemeClr val="tx1">
                      <a:alpha val="20000"/>
                    </a:schemeClr>
                  </a:gs>
                  <a:gs pos="100000">
                    <a:schemeClr val="bg2">
                      <a:alpha val="50000"/>
                    </a:schemeClr>
                  </a:gs>
                </a:gsLst>
                <a:lin ang="54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p>
                <a:endParaRPr lang="zh-CN" altLang="en-US"/>
              </a:p>
            </p:txBody>
          </p:sp>
          <p:sp>
            <p:nvSpPr>
              <p:cNvPr id="146751" name="Oval 664"/>
              <p:cNvSpPr>
                <a:spLocks noChangeArrowheads="1"/>
              </p:cNvSpPr>
              <p:nvPr/>
            </p:nvSpPr>
            <p:spPr bwMode="auto">
              <a:xfrm flipH="1">
                <a:off x="2393" y="3123"/>
                <a:ext cx="174" cy="30"/>
              </a:xfrm>
              <a:prstGeom prst="ellipse">
                <a:avLst/>
              </a:prstGeom>
              <a:gradFill rotWithShape="1">
                <a:gsLst>
                  <a:gs pos="0">
                    <a:schemeClr val="tx2">
                      <a:alpha val="7999"/>
                    </a:schemeClr>
                  </a:gs>
                  <a:gs pos="100000">
                    <a:srgbClr val="4D4D4D"/>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706" name="Group 665"/>
            <p:cNvGrpSpPr/>
            <p:nvPr/>
          </p:nvGrpSpPr>
          <p:grpSpPr bwMode="auto">
            <a:xfrm>
              <a:off x="4407" y="2631"/>
              <a:ext cx="196" cy="65"/>
              <a:chOff x="2564" y="2752"/>
              <a:chExt cx="196" cy="65"/>
            </a:xfrm>
          </p:grpSpPr>
          <p:sp>
            <p:nvSpPr>
              <p:cNvPr id="146748" name="Freeform 666"/>
              <p:cNvSpPr/>
              <p:nvPr/>
            </p:nvSpPr>
            <p:spPr bwMode="auto">
              <a:xfrm>
                <a:off x="2564" y="2752"/>
                <a:ext cx="196" cy="65"/>
              </a:xfrm>
              <a:custGeom>
                <a:avLst/>
                <a:gdLst>
                  <a:gd name="T0" fmla="*/ 5 w 196"/>
                  <a:gd name="T1" fmla="*/ 11 h 65"/>
                  <a:gd name="T2" fmla="*/ 14 w 196"/>
                  <a:gd name="T3" fmla="*/ 53 h 65"/>
                  <a:gd name="T4" fmla="*/ 91 w 196"/>
                  <a:gd name="T5" fmla="*/ 63 h 65"/>
                  <a:gd name="T6" fmla="*/ 180 w 196"/>
                  <a:gd name="T7" fmla="*/ 55 h 65"/>
                  <a:gd name="T8" fmla="*/ 185 w 196"/>
                  <a:gd name="T9" fmla="*/ 5 h 65"/>
                  <a:gd name="T10" fmla="*/ 167 w 196"/>
                  <a:gd name="T11" fmla="*/ 25 h 65"/>
                  <a:gd name="T12" fmla="*/ 27 w 196"/>
                  <a:gd name="T13" fmla="*/ 23 h 65"/>
                  <a:gd name="T14" fmla="*/ 5 w 196"/>
                  <a:gd name="T15" fmla="*/ 11 h 65"/>
                  <a:gd name="T16" fmla="*/ 0 60000 65536"/>
                  <a:gd name="T17" fmla="*/ 0 60000 65536"/>
                  <a:gd name="T18" fmla="*/ 0 60000 65536"/>
                  <a:gd name="T19" fmla="*/ 0 60000 65536"/>
                  <a:gd name="T20" fmla="*/ 0 60000 65536"/>
                  <a:gd name="T21" fmla="*/ 0 60000 65536"/>
                  <a:gd name="T22" fmla="*/ 0 60000 65536"/>
                  <a:gd name="T23" fmla="*/ 0 60000 65536"/>
                  <a:gd name="T24" fmla="*/ 0 w 196"/>
                  <a:gd name="T25" fmla="*/ 0 h 65"/>
                  <a:gd name="T26" fmla="*/ 196 w 196"/>
                  <a:gd name="T27" fmla="*/ 65 h 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6" h="65">
                    <a:moveTo>
                      <a:pt x="5" y="11"/>
                    </a:moveTo>
                    <a:cubicBezTo>
                      <a:pt x="3" y="16"/>
                      <a:pt x="0" y="44"/>
                      <a:pt x="14" y="53"/>
                    </a:cubicBezTo>
                    <a:cubicBezTo>
                      <a:pt x="28" y="62"/>
                      <a:pt x="63" y="63"/>
                      <a:pt x="91" y="63"/>
                    </a:cubicBezTo>
                    <a:cubicBezTo>
                      <a:pt x="119" y="63"/>
                      <a:pt x="164" y="65"/>
                      <a:pt x="180" y="55"/>
                    </a:cubicBezTo>
                    <a:cubicBezTo>
                      <a:pt x="196" y="45"/>
                      <a:pt x="187" y="10"/>
                      <a:pt x="185" y="5"/>
                    </a:cubicBezTo>
                    <a:cubicBezTo>
                      <a:pt x="183" y="0"/>
                      <a:pt x="193" y="22"/>
                      <a:pt x="167" y="25"/>
                    </a:cubicBezTo>
                    <a:cubicBezTo>
                      <a:pt x="141" y="28"/>
                      <a:pt x="54" y="25"/>
                      <a:pt x="27" y="23"/>
                    </a:cubicBezTo>
                    <a:cubicBezTo>
                      <a:pt x="0" y="21"/>
                      <a:pt x="7" y="6"/>
                      <a:pt x="5" y="11"/>
                    </a:cubicBezTo>
                    <a:close/>
                  </a:path>
                </a:pathLst>
              </a:custGeom>
              <a:gradFill rotWithShape="1">
                <a:gsLst>
                  <a:gs pos="0">
                    <a:schemeClr val="bg2"/>
                  </a:gs>
                  <a:gs pos="100000">
                    <a:schemeClr val="tx1">
                      <a:alpha val="50000"/>
                    </a:schemeClr>
                  </a:gs>
                </a:gsLst>
                <a:path path="rect">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p>
                <a:endParaRPr lang="zh-CN" altLang="en-US"/>
              </a:p>
            </p:txBody>
          </p:sp>
          <p:sp>
            <p:nvSpPr>
              <p:cNvPr id="146749" name="Oval 667"/>
              <p:cNvSpPr>
                <a:spLocks noChangeArrowheads="1"/>
              </p:cNvSpPr>
              <p:nvPr/>
            </p:nvSpPr>
            <p:spPr bwMode="auto">
              <a:xfrm flipH="1">
                <a:off x="2574" y="2774"/>
                <a:ext cx="174" cy="42"/>
              </a:xfrm>
              <a:prstGeom prst="ellipse">
                <a:avLst/>
              </a:prstGeom>
              <a:gradFill rotWithShape="1">
                <a:gsLst>
                  <a:gs pos="0">
                    <a:srgbClr val="292929">
                      <a:alpha val="98000"/>
                    </a:srgbClr>
                  </a:gs>
                  <a:gs pos="100000">
                    <a:schemeClr val="tx2">
                      <a:alpha val="1999"/>
                    </a:schemeClr>
                  </a:gs>
                </a:gsLst>
                <a:path path="shape">
                  <a:fillToRect l="50000" t="50000" r="50000" b="50000"/>
                </a:path>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6707" name="Group 668"/>
            <p:cNvGrpSpPr/>
            <p:nvPr/>
          </p:nvGrpSpPr>
          <p:grpSpPr bwMode="auto">
            <a:xfrm>
              <a:off x="4845" y="2884"/>
              <a:ext cx="196" cy="65"/>
              <a:chOff x="2124" y="2860"/>
              <a:chExt cx="196" cy="65"/>
            </a:xfrm>
          </p:grpSpPr>
          <p:sp>
            <p:nvSpPr>
              <p:cNvPr id="146746" name="Oval 669"/>
              <p:cNvSpPr>
                <a:spLocks noChangeArrowheads="1"/>
              </p:cNvSpPr>
              <p:nvPr/>
            </p:nvSpPr>
            <p:spPr bwMode="auto">
              <a:xfrm>
                <a:off x="2135" y="2895"/>
                <a:ext cx="174" cy="27"/>
              </a:xfrm>
              <a:prstGeom prst="ellipse">
                <a:avLst/>
              </a:prstGeom>
              <a:gradFill rotWithShape="1">
                <a:gsLst>
                  <a:gs pos="0">
                    <a:srgbClr val="B2B2B2"/>
                  </a:gs>
                  <a:gs pos="100000">
                    <a:schemeClr val="tx2"/>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747" name="Freeform 670"/>
              <p:cNvSpPr/>
              <p:nvPr/>
            </p:nvSpPr>
            <p:spPr bwMode="auto">
              <a:xfrm>
                <a:off x="2124" y="2860"/>
                <a:ext cx="196" cy="65"/>
              </a:xfrm>
              <a:custGeom>
                <a:avLst/>
                <a:gdLst>
                  <a:gd name="T0" fmla="*/ 5 w 196"/>
                  <a:gd name="T1" fmla="*/ 11 h 65"/>
                  <a:gd name="T2" fmla="*/ 14 w 196"/>
                  <a:gd name="T3" fmla="*/ 53 h 65"/>
                  <a:gd name="T4" fmla="*/ 91 w 196"/>
                  <a:gd name="T5" fmla="*/ 63 h 65"/>
                  <a:gd name="T6" fmla="*/ 180 w 196"/>
                  <a:gd name="T7" fmla="*/ 55 h 65"/>
                  <a:gd name="T8" fmla="*/ 185 w 196"/>
                  <a:gd name="T9" fmla="*/ 5 h 65"/>
                  <a:gd name="T10" fmla="*/ 167 w 196"/>
                  <a:gd name="T11" fmla="*/ 25 h 65"/>
                  <a:gd name="T12" fmla="*/ 27 w 196"/>
                  <a:gd name="T13" fmla="*/ 23 h 65"/>
                  <a:gd name="T14" fmla="*/ 5 w 196"/>
                  <a:gd name="T15" fmla="*/ 11 h 65"/>
                  <a:gd name="T16" fmla="*/ 0 60000 65536"/>
                  <a:gd name="T17" fmla="*/ 0 60000 65536"/>
                  <a:gd name="T18" fmla="*/ 0 60000 65536"/>
                  <a:gd name="T19" fmla="*/ 0 60000 65536"/>
                  <a:gd name="T20" fmla="*/ 0 60000 65536"/>
                  <a:gd name="T21" fmla="*/ 0 60000 65536"/>
                  <a:gd name="T22" fmla="*/ 0 60000 65536"/>
                  <a:gd name="T23" fmla="*/ 0 60000 65536"/>
                  <a:gd name="T24" fmla="*/ 0 w 196"/>
                  <a:gd name="T25" fmla="*/ 0 h 65"/>
                  <a:gd name="T26" fmla="*/ 196 w 196"/>
                  <a:gd name="T27" fmla="*/ 65 h 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6" h="65">
                    <a:moveTo>
                      <a:pt x="5" y="11"/>
                    </a:moveTo>
                    <a:cubicBezTo>
                      <a:pt x="3" y="16"/>
                      <a:pt x="0" y="44"/>
                      <a:pt x="14" y="53"/>
                    </a:cubicBezTo>
                    <a:cubicBezTo>
                      <a:pt x="28" y="62"/>
                      <a:pt x="63" y="63"/>
                      <a:pt x="91" y="63"/>
                    </a:cubicBezTo>
                    <a:cubicBezTo>
                      <a:pt x="119" y="63"/>
                      <a:pt x="164" y="65"/>
                      <a:pt x="180" y="55"/>
                    </a:cubicBezTo>
                    <a:cubicBezTo>
                      <a:pt x="196" y="45"/>
                      <a:pt x="187" y="10"/>
                      <a:pt x="185" y="5"/>
                    </a:cubicBezTo>
                    <a:cubicBezTo>
                      <a:pt x="183" y="0"/>
                      <a:pt x="193" y="22"/>
                      <a:pt x="167" y="25"/>
                    </a:cubicBezTo>
                    <a:cubicBezTo>
                      <a:pt x="141" y="28"/>
                      <a:pt x="54" y="25"/>
                      <a:pt x="27" y="23"/>
                    </a:cubicBezTo>
                    <a:cubicBezTo>
                      <a:pt x="0" y="21"/>
                      <a:pt x="7" y="6"/>
                      <a:pt x="5" y="11"/>
                    </a:cubicBezTo>
                    <a:close/>
                  </a:path>
                </a:pathLst>
              </a:custGeom>
              <a:gradFill rotWithShape="1">
                <a:gsLst>
                  <a:gs pos="0">
                    <a:srgbClr val="B2B2B2">
                      <a:alpha val="50000"/>
                    </a:srgbClr>
                  </a:gs>
                  <a:gs pos="100000">
                    <a:schemeClr val="tx2"/>
                  </a:gs>
                </a:gsLst>
                <a:lin ang="54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p>
                <a:endParaRPr lang="zh-CN" altLang="en-US"/>
              </a:p>
            </p:txBody>
          </p:sp>
        </p:grpSp>
        <p:grpSp>
          <p:nvGrpSpPr>
            <p:cNvPr id="146708" name="Group 671"/>
            <p:cNvGrpSpPr/>
            <p:nvPr/>
          </p:nvGrpSpPr>
          <p:grpSpPr bwMode="auto">
            <a:xfrm>
              <a:off x="4620" y="2960"/>
              <a:ext cx="196" cy="83"/>
              <a:chOff x="2602" y="3078"/>
              <a:chExt cx="196" cy="83"/>
            </a:xfrm>
          </p:grpSpPr>
          <p:sp>
            <p:nvSpPr>
              <p:cNvPr id="146744" name="Oval 672"/>
              <p:cNvSpPr>
                <a:spLocks noChangeArrowheads="1"/>
              </p:cNvSpPr>
              <p:nvPr/>
            </p:nvSpPr>
            <p:spPr bwMode="auto">
              <a:xfrm flipH="1">
                <a:off x="2611" y="3090"/>
                <a:ext cx="174" cy="68"/>
              </a:xfrm>
              <a:prstGeom prst="ellipse">
                <a:avLst/>
              </a:prstGeom>
              <a:gradFill rotWithShape="1">
                <a:gsLst>
                  <a:gs pos="0">
                    <a:schemeClr val="tx2">
                      <a:alpha val="3998"/>
                    </a:schemeClr>
                  </a:gs>
                  <a:gs pos="100000">
                    <a:srgbClr val="B2B2B2">
                      <a:alpha val="87999"/>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745" name="Freeform 673"/>
              <p:cNvSpPr/>
              <p:nvPr/>
            </p:nvSpPr>
            <p:spPr bwMode="auto">
              <a:xfrm>
                <a:off x="2602" y="3078"/>
                <a:ext cx="196" cy="83"/>
              </a:xfrm>
              <a:custGeom>
                <a:avLst/>
                <a:gdLst>
                  <a:gd name="T0" fmla="*/ 5 w 196"/>
                  <a:gd name="T1" fmla="*/ 29 h 65"/>
                  <a:gd name="T2" fmla="*/ 14 w 196"/>
                  <a:gd name="T3" fmla="*/ 142 h 65"/>
                  <a:gd name="T4" fmla="*/ 91 w 196"/>
                  <a:gd name="T5" fmla="*/ 166 h 65"/>
                  <a:gd name="T6" fmla="*/ 180 w 196"/>
                  <a:gd name="T7" fmla="*/ 146 h 65"/>
                  <a:gd name="T8" fmla="*/ 185 w 196"/>
                  <a:gd name="T9" fmla="*/ 13 h 65"/>
                  <a:gd name="T10" fmla="*/ 167 w 196"/>
                  <a:gd name="T11" fmla="*/ 66 h 65"/>
                  <a:gd name="T12" fmla="*/ 27 w 196"/>
                  <a:gd name="T13" fmla="*/ 60 h 65"/>
                  <a:gd name="T14" fmla="*/ 5 w 196"/>
                  <a:gd name="T15" fmla="*/ 29 h 65"/>
                  <a:gd name="T16" fmla="*/ 0 60000 65536"/>
                  <a:gd name="T17" fmla="*/ 0 60000 65536"/>
                  <a:gd name="T18" fmla="*/ 0 60000 65536"/>
                  <a:gd name="T19" fmla="*/ 0 60000 65536"/>
                  <a:gd name="T20" fmla="*/ 0 60000 65536"/>
                  <a:gd name="T21" fmla="*/ 0 60000 65536"/>
                  <a:gd name="T22" fmla="*/ 0 60000 65536"/>
                  <a:gd name="T23" fmla="*/ 0 60000 65536"/>
                  <a:gd name="T24" fmla="*/ 0 w 196"/>
                  <a:gd name="T25" fmla="*/ 0 h 65"/>
                  <a:gd name="T26" fmla="*/ 196 w 196"/>
                  <a:gd name="T27" fmla="*/ 65 h 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6" h="65">
                    <a:moveTo>
                      <a:pt x="5" y="11"/>
                    </a:moveTo>
                    <a:cubicBezTo>
                      <a:pt x="3" y="16"/>
                      <a:pt x="0" y="44"/>
                      <a:pt x="14" y="53"/>
                    </a:cubicBezTo>
                    <a:cubicBezTo>
                      <a:pt x="28" y="62"/>
                      <a:pt x="63" y="63"/>
                      <a:pt x="91" y="63"/>
                    </a:cubicBezTo>
                    <a:cubicBezTo>
                      <a:pt x="119" y="63"/>
                      <a:pt x="164" y="65"/>
                      <a:pt x="180" y="55"/>
                    </a:cubicBezTo>
                    <a:cubicBezTo>
                      <a:pt x="196" y="45"/>
                      <a:pt x="187" y="10"/>
                      <a:pt x="185" y="5"/>
                    </a:cubicBezTo>
                    <a:cubicBezTo>
                      <a:pt x="183" y="0"/>
                      <a:pt x="193" y="22"/>
                      <a:pt x="167" y="25"/>
                    </a:cubicBezTo>
                    <a:cubicBezTo>
                      <a:pt x="141" y="28"/>
                      <a:pt x="54" y="25"/>
                      <a:pt x="27" y="23"/>
                    </a:cubicBezTo>
                    <a:cubicBezTo>
                      <a:pt x="0" y="21"/>
                      <a:pt x="7" y="6"/>
                      <a:pt x="5" y="11"/>
                    </a:cubicBezTo>
                    <a:close/>
                  </a:path>
                </a:pathLst>
              </a:custGeom>
              <a:gradFill rotWithShape="1">
                <a:gsLst>
                  <a:gs pos="0">
                    <a:srgbClr val="B2B2B2">
                      <a:alpha val="60001"/>
                    </a:srgbClr>
                  </a:gs>
                  <a:gs pos="100000">
                    <a:schemeClr val="tx2"/>
                  </a:gs>
                </a:gsLst>
                <a:lin ang="54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p>
                <a:endParaRPr lang="zh-CN" altLang="en-US"/>
              </a:p>
            </p:txBody>
          </p:sp>
        </p:grpSp>
        <p:grpSp>
          <p:nvGrpSpPr>
            <p:cNvPr id="146709" name="Group 674"/>
            <p:cNvGrpSpPr/>
            <p:nvPr/>
          </p:nvGrpSpPr>
          <p:grpSpPr bwMode="auto">
            <a:xfrm>
              <a:off x="4407" y="3058"/>
              <a:ext cx="196" cy="107"/>
              <a:chOff x="2370" y="2863"/>
              <a:chExt cx="196" cy="107"/>
            </a:xfrm>
          </p:grpSpPr>
          <p:sp>
            <p:nvSpPr>
              <p:cNvPr id="146742" name="Oval 675"/>
              <p:cNvSpPr>
                <a:spLocks noChangeArrowheads="1"/>
              </p:cNvSpPr>
              <p:nvPr/>
            </p:nvSpPr>
            <p:spPr bwMode="auto">
              <a:xfrm flipH="1">
                <a:off x="2384" y="2908"/>
                <a:ext cx="174" cy="56"/>
              </a:xfrm>
              <a:prstGeom prst="ellipse">
                <a:avLst/>
              </a:prstGeom>
              <a:gradFill rotWithShape="1">
                <a:gsLst>
                  <a:gs pos="0">
                    <a:srgbClr val="C0C0C0"/>
                  </a:gs>
                  <a:gs pos="100000">
                    <a:schemeClr val="tx1">
                      <a:alpha val="7001"/>
                    </a:scheme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743" name="Freeform 676"/>
              <p:cNvSpPr/>
              <p:nvPr/>
            </p:nvSpPr>
            <p:spPr bwMode="auto">
              <a:xfrm>
                <a:off x="2370" y="2863"/>
                <a:ext cx="196" cy="107"/>
              </a:xfrm>
              <a:custGeom>
                <a:avLst/>
                <a:gdLst>
                  <a:gd name="T0" fmla="*/ 5 w 196"/>
                  <a:gd name="T1" fmla="*/ 81 h 65"/>
                  <a:gd name="T2" fmla="*/ 14 w 196"/>
                  <a:gd name="T3" fmla="*/ 387 h 65"/>
                  <a:gd name="T4" fmla="*/ 91 w 196"/>
                  <a:gd name="T5" fmla="*/ 463 h 65"/>
                  <a:gd name="T6" fmla="*/ 180 w 196"/>
                  <a:gd name="T7" fmla="*/ 407 h 65"/>
                  <a:gd name="T8" fmla="*/ 185 w 196"/>
                  <a:gd name="T9" fmla="*/ 35 h 65"/>
                  <a:gd name="T10" fmla="*/ 167 w 196"/>
                  <a:gd name="T11" fmla="*/ 181 h 65"/>
                  <a:gd name="T12" fmla="*/ 27 w 196"/>
                  <a:gd name="T13" fmla="*/ 171 h 65"/>
                  <a:gd name="T14" fmla="*/ 5 w 196"/>
                  <a:gd name="T15" fmla="*/ 81 h 65"/>
                  <a:gd name="T16" fmla="*/ 0 60000 65536"/>
                  <a:gd name="T17" fmla="*/ 0 60000 65536"/>
                  <a:gd name="T18" fmla="*/ 0 60000 65536"/>
                  <a:gd name="T19" fmla="*/ 0 60000 65536"/>
                  <a:gd name="T20" fmla="*/ 0 60000 65536"/>
                  <a:gd name="T21" fmla="*/ 0 60000 65536"/>
                  <a:gd name="T22" fmla="*/ 0 60000 65536"/>
                  <a:gd name="T23" fmla="*/ 0 60000 65536"/>
                  <a:gd name="T24" fmla="*/ 0 w 196"/>
                  <a:gd name="T25" fmla="*/ 0 h 65"/>
                  <a:gd name="T26" fmla="*/ 196 w 196"/>
                  <a:gd name="T27" fmla="*/ 65 h 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6" h="65">
                    <a:moveTo>
                      <a:pt x="5" y="11"/>
                    </a:moveTo>
                    <a:cubicBezTo>
                      <a:pt x="3" y="16"/>
                      <a:pt x="0" y="44"/>
                      <a:pt x="14" y="53"/>
                    </a:cubicBezTo>
                    <a:cubicBezTo>
                      <a:pt x="28" y="62"/>
                      <a:pt x="63" y="63"/>
                      <a:pt x="91" y="63"/>
                    </a:cubicBezTo>
                    <a:cubicBezTo>
                      <a:pt x="119" y="63"/>
                      <a:pt x="164" y="65"/>
                      <a:pt x="180" y="55"/>
                    </a:cubicBezTo>
                    <a:cubicBezTo>
                      <a:pt x="196" y="45"/>
                      <a:pt x="187" y="10"/>
                      <a:pt x="185" y="5"/>
                    </a:cubicBezTo>
                    <a:cubicBezTo>
                      <a:pt x="183" y="0"/>
                      <a:pt x="193" y="22"/>
                      <a:pt x="167" y="25"/>
                    </a:cubicBezTo>
                    <a:cubicBezTo>
                      <a:pt x="141" y="28"/>
                      <a:pt x="54" y="25"/>
                      <a:pt x="27" y="23"/>
                    </a:cubicBezTo>
                    <a:cubicBezTo>
                      <a:pt x="0" y="21"/>
                      <a:pt x="7" y="6"/>
                      <a:pt x="5" y="11"/>
                    </a:cubicBezTo>
                    <a:close/>
                  </a:path>
                </a:pathLst>
              </a:custGeom>
              <a:gradFill rotWithShape="1">
                <a:gsLst>
                  <a:gs pos="0">
                    <a:srgbClr val="C0C0C0">
                      <a:alpha val="0"/>
                    </a:srgbClr>
                  </a:gs>
                  <a:gs pos="100000">
                    <a:schemeClr val="tx1">
                      <a:alpha val="87999"/>
                    </a:schemeClr>
                  </a:gs>
                </a:gsLst>
                <a:lin ang="54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p>
                <a:endParaRPr lang="zh-CN" altLang="en-US"/>
              </a:p>
            </p:txBody>
          </p:sp>
        </p:grpSp>
        <p:sp>
          <p:nvSpPr>
            <p:cNvPr id="146710" name="Freeform 677"/>
            <p:cNvSpPr/>
            <p:nvPr/>
          </p:nvSpPr>
          <p:spPr bwMode="auto">
            <a:xfrm>
              <a:off x="4845" y="2378"/>
              <a:ext cx="196" cy="41"/>
            </a:xfrm>
            <a:custGeom>
              <a:avLst/>
              <a:gdLst>
                <a:gd name="T0" fmla="*/ 5 w 196"/>
                <a:gd name="T1" fmla="*/ 2 h 65"/>
                <a:gd name="T2" fmla="*/ 14 w 196"/>
                <a:gd name="T3" fmla="*/ 8 h 65"/>
                <a:gd name="T4" fmla="*/ 91 w 196"/>
                <a:gd name="T5" fmla="*/ 10 h 65"/>
                <a:gd name="T6" fmla="*/ 180 w 196"/>
                <a:gd name="T7" fmla="*/ 9 h 65"/>
                <a:gd name="T8" fmla="*/ 185 w 196"/>
                <a:gd name="T9" fmla="*/ 1 h 65"/>
                <a:gd name="T10" fmla="*/ 167 w 196"/>
                <a:gd name="T11" fmla="*/ 4 h 65"/>
                <a:gd name="T12" fmla="*/ 27 w 196"/>
                <a:gd name="T13" fmla="*/ 4 h 65"/>
                <a:gd name="T14" fmla="*/ 5 w 196"/>
                <a:gd name="T15" fmla="*/ 2 h 65"/>
                <a:gd name="T16" fmla="*/ 0 60000 65536"/>
                <a:gd name="T17" fmla="*/ 0 60000 65536"/>
                <a:gd name="T18" fmla="*/ 0 60000 65536"/>
                <a:gd name="T19" fmla="*/ 0 60000 65536"/>
                <a:gd name="T20" fmla="*/ 0 60000 65536"/>
                <a:gd name="T21" fmla="*/ 0 60000 65536"/>
                <a:gd name="T22" fmla="*/ 0 60000 65536"/>
                <a:gd name="T23" fmla="*/ 0 60000 65536"/>
                <a:gd name="T24" fmla="*/ 0 w 196"/>
                <a:gd name="T25" fmla="*/ 0 h 65"/>
                <a:gd name="T26" fmla="*/ 196 w 196"/>
                <a:gd name="T27" fmla="*/ 65 h 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6" h="65">
                  <a:moveTo>
                    <a:pt x="5" y="11"/>
                  </a:moveTo>
                  <a:cubicBezTo>
                    <a:pt x="3" y="16"/>
                    <a:pt x="0" y="44"/>
                    <a:pt x="14" y="53"/>
                  </a:cubicBezTo>
                  <a:cubicBezTo>
                    <a:pt x="28" y="62"/>
                    <a:pt x="63" y="63"/>
                    <a:pt x="91" y="63"/>
                  </a:cubicBezTo>
                  <a:cubicBezTo>
                    <a:pt x="119" y="63"/>
                    <a:pt x="164" y="65"/>
                    <a:pt x="180" y="55"/>
                  </a:cubicBezTo>
                  <a:cubicBezTo>
                    <a:pt x="196" y="45"/>
                    <a:pt x="187" y="10"/>
                    <a:pt x="185" y="5"/>
                  </a:cubicBezTo>
                  <a:cubicBezTo>
                    <a:pt x="183" y="0"/>
                    <a:pt x="193" y="22"/>
                    <a:pt x="167" y="25"/>
                  </a:cubicBezTo>
                  <a:cubicBezTo>
                    <a:pt x="141" y="28"/>
                    <a:pt x="54" y="25"/>
                    <a:pt x="27" y="23"/>
                  </a:cubicBezTo>
                  <a:cubicBezTo>
                    <a:pt x="0" y="21"/>
                    <a:pt x="7" y="6"/>
                    <a:pt x="5" y="11"/>
                  </a:cubicBezTo>
                  <a:close/>
                </a:path>
              </a:pathLst>
            </a:custGeom>
            <a:gradFill rotWithShape="1">
              <a:gsLst>
                <a:gs pos="0">
                  <a:schemeClr val="tx1">
                    <a:alpha val="50000"/>
                  </a:schemeClr>
                </a:gs>
                <a:gs pos="100000">
                  <a:srgbClr val="292929"/>
                </a:gs>
              </a:gsLst>
              <a:lin ang="54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p>
              <a:endParaRPr lang="zh-CN" altLang="en-US"/>
            </a:p>
          </p:txBody>
        </p:sp>
        <p:sp>
          <p:nvSpPr>
            <p:cNvPr id="146711" name="Freeform 678"/>
            <p:cNvSpPr/>
            <p:nvPr/>
          </p:nvSpPr>
          <p:spPr bwMode="auto">
            <a:xfrm>
              <a:off x="5073" y="3205"/>
              <a:ext cx="196" cy="107"/>
            </a:xfrm>
            <a:custGeom>
              <a:avLst/>
              <a:gdLst>
                <a:gd name="T0" fmla="*/ 5 w 196"/>
                <a:gd name="T1" fmla="*/ 81 h 65"/>
                <a:gd name="T2" fmla="*/ 14 w 196"/>
                <a:gd name="T3" fmla="*/ 387 h 65"/>
                <a:gd name="T4" fmla="*/ 91 w 196"/>
                <a:gd name="T5" fmla="*/ 463 h 65"/>
                <a:gd name="T6" fmla="*/ 180 w 196"/>
                <a:gd name="T7" fmla="*/ 407 h 65"/>
                <a:gd name="T8" fmla="*/ 185 w 196"/>
                <a:gd name="T9" fmla="*/ 35 h 65"/>
                <a:gd name="T10" fmla="*/ 167 w 196"/>
                <a:gd name="T11" fmla="*/ 181 h 65"/>
                <a:gd name="T12" fmla="*/ 27 w 196"/>
                <a:gd name="T13" fmla="*/ 171 h 65"/>
                <a:gd name="T14" fmla="*/ 5 w 196"/>
                <a:gd name="T15" fmla="*/ 81 h 65"/>
                <a:gd name="T16" fmla="*/ 0 60000 65536"/>
                <a:gd name="T17" fmla="*/ 0 60000 65536"/>
                <a:gd name="T18" fmla="*/ 0 60000 65536"/>
                <a:gd name="T19" fmla="*/ 0 60000 65536"/>
                <a:gd name="T20" fmla="*/ 0 60000 65536"/>
                <a:gd name="T21" fmla="*/ 0 60000 65536"/>
                <a:gd name="T22" fmla="*/ 0 60000 65536"/>
                <a:gd name="T23" fmla="*/ 0 60000 65536"/>
                <a:gd name="T24" fmla="*/ 0 w 196"/>
                <a:gd name="T25" fmla="*/ 0 h 65"/>
                <a:gd name="T26" fmla="*/ 196 w 196"/>
                <a:gd name="T27" fmla="*/ 65 h 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6" h="65">
                  <a:moveTo>
                    <a:pt x="5" y="11"/>
                  </a:moveTo>
                  <a:cubicBezTo>
                    <a:pt x="3" y="16"/>
                    <a:pt x="0" y="44"/>
                    <a:pt x="14" y="53"/>
                  </a:cubicBezTo>
                  <a:cubicBezTo>
                    <a:pt x="28" y="62"/>
                    <a:pt x="63" y="63"/>
                    <a:pt x="91" y="63"/>
                  </a:cubicBezTo>
                  <a:cubicBezTo>
                    <a:pt x="119" y="63"/>
                    <a:pt x="164" y="65"/>
                    <a:pt x="180" y="55"/>
                  </a:cubicBezTo>
                  <a:cubicBezTo>
                    <a:pt x="196" y="45"/>
                    <a:pt x="187" y="10"/>
                    <a:pt x="185" y="5"/>
                  </a:cubicBezTo>
                  <a:cubicBezTo>
                    <a:pt x="183" y="0"/>
                    <a:pt x="193" y="22"/>
                    <a:pt x="167" y="25"/>
                  </a:cubicBezTo>
                  <a:cubicBezTo>
                    <a:pt x="141" y="28"/>
                    <a:pt x="54" y="25"/>
                    <a:pt x="27" y="23"/>
                  </a:cubicBezTo>
                  <a:cubicBezTo>
                    <a:pt x="0" y="21"/>
                    <a:pt x="7" y="6"/>
                    <a:pt x="5" y="11"/>
                  </a:cubicBezTo>
                  <a:close/>
                </a:path>
              </a:pathLst>
            </a:custGeom>
            <a:gradFill rotWithShape="1">
              <a:gsLst>
                <a:gs pos="0">
                  <a:srgbClr val="C0C0C0">
                    <a:alpha val="50000"/>
                  </a:srgbClr>
                </a:gs>
                <a:gs pos="100000">
                  <a:schemeClr val="tx2"/>
                </a:gs>
              </a:gsLst>
              <a:lin ang="54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p>
              <a:endParaRPr lang="zh-CN" altLang="en-US"/>
            </a:p>
          </p:txBody>
        </p:sp>
        <p:sp>
          <p:nvSpPr>
            <p:cNvPr id="146712" name="Freeform 679"/>
            <p:cNvSpPr/>
            <p:nvPr/>
          </p:nvSpPr>
          <p:spPr bwMode="auto">
            <a:xfrm>
              <a:off x="5073" y="3051"/>
              <a:ext cx="196" cy="71"/>
            </a:xfrm>
            <a:custGeom>
              <a:avLst/>
              <a:gdLst>
                <a:gd name="T0" fmla="*/ 5 w 196"/>
                <a:gd name="T1" fmla="*/ 15 h 65"/>
                <a:gd name="T2" fmla="*/ 14 w 196"/>
                <a:gd name="T3" fmla="*/ 75 h 65"/>
                <a:gd name="T4" fmla="*/ 91 w 196"/>
                <a:gd name="T5" fmla="*/ 90 h 65"/>
                <a:gd name="T6" fmla="*/ 180 w 196"/>
                <a:gd name="T7" fmla="*/ 79 h 65"/>
                <a:gd name="T8" fmla="*/ 185 w 196"/>
                <a:gd name="T9" fmla="*/ 5 h 65"/>
                <a:gd name="T10" fmla="*/ 167 w 196"/>
                <a:gd name="T11" fmla="*/ 35 h 65"/>
                <a:gd name="T12" fmla="*/ 27 w 196"/>
                <a:gd name="T13" fmla="*/ 32 h 65"/>
                <a:gd name="T14" fmla="*/ 5 w 196"/>
                <a:gd name="T15" fmla="*/ 15 h 65"/>
                <a:gd name="T16" fmla="*/ 0 60000 65536"/>
                <a:gd name="T17" fmla="*/ 0 60000 65536"/>
                <a:gd name="T18" fmla="*/ 0 60000 65536"/>
                <a:gd name="T19" fmla="*/ 0 60000 65536"/>
                <a:gd name="T20" fmla="*/ 0 60000 65536"/>
                <a:gd name="T21" fmla="*/ 0 60000 65536"/>
                <a:gd name="T22" fmla="*/ 0 60000 65536"/>
                <a:gd name="T23" fmla="*/ 0 60000 65536"/>
                <a:gd name="T24" fmla="*/ 0 w 196"/>
                <a:gd name="T25" fmla="*/ 0 h 65"/>
                <a:gd name="T26" fmla="*/ 196 w 196"/>
                <a:gd name="T27" fmla="*/ 65 h 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6" h="65">
                  <a:moveTo>
                    <a:pt x="5" y="11"/>
                  </a:moveTo>
                  <a:cubicBezTo>
                    <a:pt x="3" y="16"/>
                    <a:pt x="0" y="44"/>
                    <a:pt x="14" y="53"/>
                  </a:cubicBezTo>
                  <a:cubicBezTo>
                    <a:pt x="28" y="62"/>
                    <a:pt x="63" y="63"/>
                    <a:pt x="91" y="63"/>
                  </a:cubicBezTo>
                  <a:cubicBezTo>
                    <a:pt x="119" y="63"/>
                    <a:pt x="164" y="65"/>
                    <a:pt x="180" y="55"/>
                  </a:cubicBezTo>
                  <a:cubicBezTo>
                    <a:pt x="196" y="45"/>
                    <a:pt x="187" y="10"/>
                    <a:pt x="185" y="5"/>
                  </a:cubicBezTo>
                  <a:cubicBezTo>
                    <a:pt x="183" y="0"/>
                    <a:pt x="193" y="22"/>
                    <a:pt x="167" y="25"/>
                  </a:cubicBezTo>
                  <a:cubicBezTo>
                    <a:pt x="141" y="28"/>
                    <a:pt x="54" y="25"/>
                    <a:pt x="27" y="23"/>
                  </a:cubicBezTo>
                  <a:cubicBezTo>
                    <a:pt x="0" y="21"/>
                    <a:pt x="7" y="6"/>
                    <a:pt x="5" y="11"/>
                  </a:cubicBezTo>
                  <a:close/>
                </a:path>
              </a:pathLst>
            </a:custGeom>
            <a:gradFill rotWithShape="1">
              <a:gsLst>
                <a:gs pos="0">
                  <a:srgbClr val="C0C0C0">
                    <a:alpha val="50000"/>
                  </a:srgbClr>
                </a:gs>
                <a:gs pos="100000">
                  <a:schemeClr val="tx2"/>
                </a:gs>
              </a:gsLst>
              <a:lin ang="54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p>
              <a:endParaRPr lang="zh-CN" altLang="en-US"/>
            </a:p>
          </p:txBody>
        </p:sp>
        <p:sp>
          <p:nvSpPr>
            <p:cNvPr id="146713" name="Freeform 680"/>
            <p:cNvSpPr/>
            <p:nvPr/>
          </p:nvSpPr>
          <p:spPr bwMode="auto">
            <a:xfrm>
              <a:off x="5073" y="2905"/>
              <a:ext cx="196" cy="53"/>
            </a:xfrm>
            <a:custGeom>
              <a:avLst/>
              <a:gdLst>
                <a:gd name="T0" fmla="*/ 5 w 196"/>
                <a:gd name="T1" fmla="*/ 5 h 65"/>
                <a:gd name="T2" fmla="*/ 14 w 196"/>
                <a:gd name="T3" fmla="*/ 24 h 65"/>
                <a:gd name="T4" fmla="*/ 91 w 196"/>
                <a:gd name="T5" fmla="*/ 28 h 65"/>
                <a:gd name="T6" fmla="*/ 180 w 196"/>
                <a:gd name="T7" fmla="*/ 24 h 65"/>
                <a:gd name="T8" fmla="*/ 185 w 196"/>
                <a:gd name="T9" fmla="*/ 2 h 65"/>
                <a:gd name="T10" fmla="*/ 167 w 196"/>
                <a:gd name="T11" fmla="*/ 11 h 65"/>
                <a:gd name="T12" fmla="*/ 27 w 196"/>
                <a:gd name="T13" fmla="*/ 10 h 65"/>
                <a:gd name="T14" fmla="*/ 5 w 196"/>
                <a:gd name="T15" fmla="*/ 5 h 65"/>
                <a:gd name="T16" fmla="*/ 0 60000 65536"/>
                <a:gd name="T17" fmla="*/ 0 60000 65536"/>
                <a:gd name="T18" fmla="*/ 0 60000 65536"/>
                <a:gd name="T19" fmla="*/ 0 60000 65536"/>
                <a:gd name="T20" fmla="*/ 0 60000 65536"/>
                <a:gd name="T21" fmla="*/ 0 60000 65536"/>
                <a:gd name="T22" fmla="*/ 0 60000 65536"/>
                <a:gd name="T23" fmla="*/ 0 60000 65536"/>
                <a:gd name="T24" fmla="*/ 0 w 196"/>
                <a:gd name="T25" fmla="*/ 0 h 65"/>
                <a:gd name="T26" fmla="*/ 196 w 196"/>
                <a:gd name="T27" fmla="*/ 65 h 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6" h="65">
                  <a:moveTo>
                    <a:pt x="5" y="11"/>
                  </a:moveTo>
                  <a:cubicBezTo>
                    <a:pt x="3" y="16"/>
                    <a:pt x="0" y="44"/>
                    <a:pt x="14" y="53"/>
                  </a:cubicBezTo>
                  <a:cubicBezTo>
                    <a:pt x="28" y="62"/>
                    <a:pt x="63" y="63"/>
                    <a:pt x="91" y="63"/>
                  </a:cubicBezTo>
                  <a:cubicBezTo>
                    <a:pt x="119" y="63"/>
                    <a:pt x="164" y="65"/>
                    <a:pt x="180" y="55"/>
                  </a:cubicBezTo>
                  <a:cubicBezTo>
                    <a:pt x="196" y="45"/>
                    <a:pt x="187" y="10"/>
                    <a:pt x="185" y="5"/>
                  </a:cubicBezTo>
                  <a:cubicBezTo>
                    <a:pt x="183" y="0"/>
                    <a:pt x="193" y="22"/>
                    <a:pt x="167" y="25"/>
                  </a:cubicBezTo>
                  <a:cubicBezTo>
                    <a:pt x="141" y="28"/>
                    <a:pt x="54" y="25"/>
                    <a:pt x="27" y="23"/>
                  </a:cubicBezTo>
                  <a:cubicBezTo>
                    <a:pt x="0" y="21"/>
                    <a:pt x="7" y="6"/>
                    <a:pt x="5" y="11"/>
                  </a:cubicBezTo>
                  <a:close/>
                </a:path>
              </a:pathLst>
            </a:custGeom>
            <a:gradFill rotWithShape="1">
              <a:gsLst>
                <a:gs pos="0">
                  <a:srgbClr val="C0C0C0">
                    <a:alpha val="50000"/>
                  </a:srgbClr>
                </a:gs>
                <a:gs pos="100000">
                  <a:schemeClr val="tx2"/>
                </a:gs>
              </a:gsLst>
              <a:lin ang="54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p>
              <a:endParaRPr lang="zh-CN" altLang="en-US"/>
            </a:p>
          </p:txBody>
        </p:sp>
        <p:sp>
          <p:nvSpPr>
            <p:cNvPr id="146714" name="Freeform 681"/>
            <p:cNvSpPr/>
            <p:nvPr/>
          </p:nvSpPr>
          <p:spPr bwMode="auto">
            <a:xfrm>
              <a:off x="5073" y="2675"/>
              <a:ext cx="196" cy="51"/>
            </a:xfrm>
            <a:custGeom>
              <a:avLst/>
              <a:gdLst>
                <a:gd name="T0" fmla="*/ 5 w 196"/>
                <a:gd name="T1" fmla="*/ 4 h 65"/>
                <a:gd name="T2" fmla="*/ 14 w 196"/>
                <a:gd name="T3" fmla="*/ 20 h 65"/>
                <a:gd name="T4" fmla="*/ 91 w 196"/>
                <a:gd name="T5" fmla="*/ 24 h 65"/>
                <a:gd name="T6" fmla="*/ 180 w 196"/>
                <a:gd name="T7" fmla="*/ 21 h 65"/>
                <a:gd name="T8" fmla="*/ 185 w 196"/>
                <a:gd name="T9" fmla="*/ 2 h 65"/>
                <a:gd name="T10" fmla="*/ 167 w 196"/>
                <a:gd name="T11" fmla="*/ 10 h 65"/>
                <a:gd name="T12" fmla="*/ 27 w 196"/>
                <a:gd name="T13" fmla="*/ 9 h 65"/>
                <a:gd name="T14" fmla="*/ 5 w 196"/>
                <a:gd name="T15" fmla="*/ 4 h 65"/>
                <a:gd name="T16" fmla="*/ 0 60000 65536"/>
                <a:gd name="T17" fmla="*/ 0 60000 65536"/>
                <a:gd name="T18" fmla="*/ 0 60000 65536"/>
                <a:gd name="T19" fmla="*/ 0 60000 65536"/>
                <a:gd name="T20" fmla="*/ 0 60000 65536"/>
                <a:gd name="T21" fmla="*/ 0 60000 65536"/>
                <a:gd name="T22" fmla="*/ 0 60000 65536"/>
                <a:gd name="T23" fmla="*/ 0 60000 65536"/>
                <a:gd name="T24" fmla="*/ 0 w 196"/>
                <a:gd name="T25" fmla="*/ 0 h 65"/>
                <a:gd name="T26" fmla="*/ 196 w 196"/>
                <a:gd name="T27" fmla="*/ 65 h 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6" h="65">
                  <a:moveTo>
                    <a:pt x="5" y="11"/>
                  </a:moveTo>
                  <a:cubicBezTo>
                    <a:pt x="3" y="16"/>
                    <a:pt x="0" y="44"/>
                    <a:pt x="14" y="53"/>
                  </a:cubicBezTo>
                  <a:cubicBezTo>
                    <a:pt x="28" y="62"/>
                    <a:pt x="63" y="63"/>
                    <a:pt x="91" y="63"/>
                  </a:cubicBezTo>
                  <a:cubicBezTo>
                    <a:pt x="119" y="63"/>
                    <a:pt x="164" y="65"/>
                    <a:pt x="180" y="55"/>
                  </a:cubicBezTo>
                  <a:cubicBezTo>
                    <a:pt x="196" y="45"/>
                    <a:pt x="187" y="10"/>
                    <a:pt x="185" y="5"/>
                  </a:cubicBezTo>
                  <a:cubicBezTo>
                    <a:pt x="183" y="0"/>
                    <a:pt x="193" y="22"/>
                    <a:pt x="167" y="25"/>
                  </a:cubicBezTo>
                  <a:cubicBezTo>
                    <a:pt x="141" y="28"/>
                    <a:pt x="54" y="25"/>
                    <a:pt x="27" y="23"/>
                  </a:cubicBezTo>
                  <a:cubicBezTo>
                    <a:pt x="0" y="21"/>
                    <a:pt x="7" y="6"/>
                    <a:pt x="5" y="11"/>
                  </a:cubicBezTo>
                  <a:close/>
                </a:path>
              </a:pathLst>
            </a:custGeom>
            <a:gradFill rotWithShape="1">
              <a:gsLst>
                <a:gs pos="0">
                  <a:srgbClr val="C0C0C0">
                    <a:alpha val="50000"/>
                  </a:srgbClr>
                </a:gs>
                <a:gs pos="100000">
                  <a:schemeClr val="tx2"/>
                </a:gs>
              </a:gsLst>
              <a:lin ang="54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p>
              <a:endParaRPr lang="zh-CN" altLang="en-US"/>
            </a:p>
          </p:txBody>
        </p:sp>
        <p:sp>
          <p:nvSpPr>
            <p:cNvPr id="146715" name="Freeform 682"/>
            <p:cNvSpPr/>
            <p:nvPr/>
          </p:nvSpPr>
          <p:spPr bwMode="auto">
            <a:xfrm>
              <a:off x="5073" y="2487"/>
              <a:ext cx="196" cy="37"/>
            </a:xfrm>
            <a:custGeom>
              <a:avLst/>
              <a:gdLst>
                <a:gd name="T0" fmla="*/ 5 w 196"/>
                <a:gd name="T1" fmla="*/ 1 h 65"/>
                <a:gd name="T2" fmla="*/ 14 w 196"/>
                <a:gd name="T3" fmla="*/ 6 h 65"/>
                <a:gd name="T4" fmla="*/ 91 w 196"/>
                <a:gd name="T5" fmla="*/ 6 h 65"/>
                <a:gd name="T6" fmla="*/ 180 w 196"/>
                <a:gd name="T7" fmla="*/ 6 h 65"/>
                <a:gd name="T8" fmla="*/ 185 w 196"/>
                <a:gd name="T9" fmla="*/ 1 h 65"/>
                <a:gd name="T10" fmla="*/ 167 w 196"/>
                <a:gd name="T11" fmla="*/ 3 h 65"/>
                <a:gd name="T12" fmla="*/ 27 w 196"/>
                <a:gd name="T13" fmla="*/ 2 h 65"/>
                <a:gd name="T14" fmla="*/ 5 w 196"/>
                <a:gd name="T15" fmla="*/ 1 h 65"/>
                <a:gd name="T16" fmla="*/ 0 60000 65536"/>
                <a:gd name="T17" fmla="*/ 0 60000 65536"/>
                <a:gd name="T18" fmla="*/ 0 60000 65536"/>
                <a:gd name="T19" fmla="*/ 0 60000 65536"/>
                <a:gd name="T20" fmla="*/ 0 60000 65536"/>
                <a:gd name="T21" fmla="*/ 0 60000 65536"/>
                <a:gd name="T22" fmla="*/ 0 60000 65536"/>
                <a:gd name="T23" fmla="*/ 0 60000 65536"/>
                <a:gd name="T24" fmla="*/ 0 w 196"/>
                <a:gd name="T25" fmla="*/ 0 h 65"/>
                <a:gd name="T26" fmla="*/ 196 w 196"/>
                <a:gd name="T27" fmla="*/ 65 h 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6" h="65">
                  <a:moveTo>
                    <a:pt x="5" y="11"/>
                  </a:moveTo>
                  <a:cubicBezTo>
                    <a:pt x="3" y="16"/>
                    <a:pt x="0" y="44"/>
                    <a:pt x="14" y="53"/>
                  </a:cubicBezTo>
                  <a:cubicBezTo>
                    <a:pt x="28" y="62"/>
                    <a:pt x="63" y="63"/>
                    <a:pt x="91" y="63"/>
                  </a:cubicBezTo>
                  <a:cubicBezTo>
                    <a:pt x="119" y="63"/>
                    <a:pt x="164" y="65"/>
                    <a:pt x="180" y="55"/>
                  </a:cubicBezTo>
                  <a:cubicBezTo>
                    <a:pt x="196" y="45"/>
                    <a:pt x="187" y="10"/>
                    <a:pt x="185" y="5"/>
                  </a:cubicBezTo>
                  <a:cubicBezTo>
                    <a:pt x="183" y="0"/>
                    <a:pt x="193" y="22"/>
                    <a:pt x="167" y="25"/>
                  </a:cubicBezTo>
                  <a:cubicBezTo>
                    <a:pt x="141" y="28"/>
                    <a:pt x="54" y="25"/>
                    <a:pt x="27" y="23"/>
                  </a:cubicBezTo>
                  <a:cubicBezTo>
                    <a:pt x="0" y="21"/>
                    <a:pt x="7" y="6"/>
                    <a:pt x="5" y="11"/>
                  </a:cubicBezTo>
                  <a:close/>
                </a:path>
              </a:pathLst>
            </a:custGeom>
            <a:gradFill rotWithShape="1">
              <a:gsLst>
                <a:gs pos="0">
                  <a:srgbClr val="C0C0C0">
                    <a:alpha val="50000"/>
                  </a:srgbClr>
                </a:gs>
                <a:gs pos="100000">
                  <a:schemeClr val="tx2"/>
                </a:gs>
              </a:gsLst>
              <a:lin ang="54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p>
              <a:endParaRPr lang="zh-CN" altLang="en-US"/>
            </a:p>
          </p:txBody>
        </p:sp>
        <p:sp>
          <p:nvSpPr>
            <p:cNvPr id="146716" name="Freeform 683"/>
            <p:cNvSpPr/>
            <p:nvPr/>
          </p:nvSpPr>
          <p:spPr bwMode="auto">
            <a:xfrm>
              <a:off x="5073" y="2415"/>
              <a:ext cx="196" cy="29"/>
            </a:xfrm>
            <a:custGeom>
              <a:avLst/>
              <a:gdLst>
                <a:gd name="T0" fmla="*/ 5 w 196"/>
                <a:gd name="T1" fmla="*/ 0 h 65"/>
                <a:gd name="T2" fmla="*/ 14 w 196"/>
                <a:gd name="T3" fmla="*/ 2 h 65"/>
                <a:gd name="T4" fmla="*/ 91 w 196"/>
                <a:gd name="T5" fmla="*/ 2 h 65"/>
                <a:gd name="T6" fmla="*/ 180 w 196"/>
                <a:gd name="T7" fmla="*/ 2 h 65"/>
                <a:gd name="T8" fmla="*/ 185 w 196"/>
                <a:gd name="T9" fmla="*/ 0 h 65"/>
                <a:gd name="T10" fmla="*/ 167 w 196"/>
                <a:gd name="T11" fmla="*/ 1 h 65"/>
                <a:gd name="T12" fmla="*/ 27 w 196"/>
                <a:gd name="T13" fmla="*/ 1 h 65"/>
                <a:gd name="T14" fmla="*/ 5 w 196"/>
                <a:gd name="T15" fmla="*/ 0 h 65"/>
                <a:gd name="T16" fmla="*/ 0 60000 65536"/>
                <a:gd name="T17" fmla="*/ 0 60000 65536"/>
                <a:gd name="T18" fmla="*/ 0 60000 65536"/>
                <a:gd name="T19" fmla="*/ 0 60000 65536"/>
                <a:gd name="T20" fmla="*/ 0 60000 65536"/>
                <a:gd name="T21" fmla="*/ 0 60000 65536"/>
                <a:gd name="T22" fmla="*/ 0 60000 65536"/>
                <a:gd name="T23" fmla="*/ 0 60000 65536"/>
                <a:gd name="T24" fmla="*/ 0 w 196"/>
                <a:gd name="T25" fmla="*/ 0 h 65"/>
                <a:gd name="T26" fmla="*/ 196 w 196"/>
                <a:gd name="T27" fmla="*/ 65 h 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6" h="65">
                  <a:moveTo>
                    <a:pt x="5" y="11"/>
                  </a:moveTo>
                  <a:cubicBezTo>
                    <a:pt x="3" y="16"/>
                    <a:pt x="0" y="44"/>
                    <a:pt x="14" y="53"/>
                  </a:cubicBezTo>
                  <a:cubicBezTo>
                    <a:pt x="28" y="62"/>
                    <a:pt x="63" y="63"/>
                    <a:pt x="91" y="63"/>
                  </a:cubicBezTo>
                  <a:cubicBezTo>
                    <a:pt x="119" y="63"/>
                    <a:pt x="164" y="65"/>
                    <a:pt x="180" y="55"/>
                  </a:cubicBezTo>
                  <a:cubicBezTo>
                    <a:pt x="196" y="45"/>
                    <a:pt x="187" y="10"/>
                    <a:pt x="185" y="5"/>
                  </a:cubicBezTo>
                  <a:cubicBezTo>
                    <a:pt x="183" y="0"/>
                    <a:pt x="193" y="22"/>
                    <a:pt x="167" y="25"/>
                  </a:cubicBezTo>
                  <a:cubicBezTo>
                    <a:pt x="141" y="28"/>
                    <a:pt x="54" y="25"/>
                    <a:pt x="27" y="23"/>
                  </a:cubicBezTo>
                  <a:cubicBezTo>
                    <a:pt x="0" y="21"/>
                    <a:pt x="7" y="6"/>
                    <a:pt x="5" y="11"/>
                  </a:cubicBezTo>
                  <a:close/>
                </a:path>
              </a:pathLst>
            </a:custGeom>
            <a:gradFill rotWithShape="1">
              <a:gsLst>
                <a:gs pos="0">
                  <a:srgbClr val="C0C0C0">
                    <a:alpha val="50000"/>
                  </a:srgbClr>
                </a:gs>
                <a:gs pos="100000">
                  <a:schemeClr val="tx2"/>
                </a:gs>
              </a:gsLst>
              <a:lin ang="54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p>
              <a:endParaRPr lang="zh-CN" altLang="en-US"/>
            </a:p>
          </p:txBody>
        </p:sp>
        <p:sp>
          <p:nvSpPr>
            <p:cNvPr id="146717" name="Freeform 684"/>
            <p:cNvSpPr/>
            <p:nvPr/>
          </p:nvSpPr>
          <p:spPr bwMode="auto">
            <a:xfrm>
              <a:off x="5073" y="2368"/>
              <a:ext cx="196" cy="27"/>
            </a:xfrm>
            <a:custGeom>
              <a:avLst/>
              <a:gdLst>
                <a:gd name="T0" fmla="*/ 5 w 196"/>
                <a:gd name="T1" fmla="*/ 0 h 65"/>
                <a:gd name="T2" fmla="*/ 14 w 196"/>
                <a:gd name="T3" fmla="*/ 2 h 65"/>
                <a:gd name="T4" fmla="*/ 91 w 196"/>
                <a:gd name="T5" fmla="*/ 2 h 65"/>
                <a:gd name="T6" fmla="*/ 180 w 196"/>
                <a:gd name="T7" fmla="*/ 2 h 65"/>
                <a:gd name="T8" fmla="*/ 185 w 196"/>
                <a:gd name="T9" fmla="*/ 0 h 65"/>
                <a:gd name="T10" fmla="*/ 167 w 196"/>
                <a:gd name="T11" fmla="*/ 1 h 65"/>
                <a:gd name="T12" fmla="*/ 27 w 196"/>
                <a:gd name="T13" fmla="*/ 1 h 65"/>
                <a:gd name="T14" fmla="*/ 5 w 196"/>
                <a:gd name="T15" fmla="*/ 0 h 65"/>
                <a:gd name="T16" fmla="*/ 0 60000 65536"/>
                <a:gd name="T17" fmla="*/ 0 60000 65536"/>
                <a:gd name="T18" fmla="*/ 0 60000 65536"/>
                <a:gd name="T19" fmla="*/ 0 60000 65536"/>
                <a:gd name="T20" fmla="*/ 0 60000 65536"/>
                <a:gd name="T21" fmla="*/ 0 60000 65536"/>
                <a:gd name="T22" fmla="*/ 0 60000 65536"/>
                <a:gd name="T23" fmla="*/ 0 60000 65536"/>
                <a:gd name="T24" fmla="*/ 0 w 196"/>
                <a:gd name="T25" fmla="*/ 0 h 65"/>
                <a:gd name="T26" fmla="*/ 196 w 196"/>
                <a:gd name="T27" fmla="*/ 65 h 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6" h="65">
                  <a:moveTo>
                    <a:pt x="5" y="11"/>
                  </a:moveTo>
                  <a:cubicBezTo>
                    <a:pt x="3" y="16"/>
                    <a:pt x="0" y="44"/>
                    <a:pt x="14" y="53"/>
                  </a:cubicBezTo>
                  <a:cubicBezTo>
                    <a:pt x="28" y="62"/>
                    <a:pt x="63" y="63"/>
                    <a:pt x="91" y="63"/>
                  </a:cubicBezTo>
                  <a:cubicBezTo>
                    <a:pt x="119" y="63"/>
                    <a:pt x="164" y="65"/>
                    <a:pt x="180" y="55"/>
                  </a:cubicBezTo>
                  <a:cubicBezTo>
                    <a:pt x="196" y="45"/>
                    <a:pt x="187" y="10"/>
                    <a:pt x="185" y="5"/>
                  </a:cubicBezTo>
                  <a:cubicBezTo>
                    <a:pt x="183" y="0"/>
                    <a:pt x="193" y="22"/>
                    <a:pt x="167" y="25"/>
                  </a:cubicBezTo>
                  <a:cubicBezTo>
                    <a:pt x="141" y="28"/>
                    <a:pt x="54" y="25"/>
                    <a:pt x="27" y="23"/>
                  </a:cubicBezTo>
                  <a:cubicBezTo>
                    <a:pt x="0" y="21"/>
                    <a:pt x="7" y="6"/>
                    <a:pt x="5" y="11"/>
                  </a:cubicBezTo>
                  <a:close/>
                </a:path>
              </a:pathLst>
            </a:custGeom>
            <a:gradFill rotWithShape="1">
              <a:gsLst>
                <a:gs pos="0">
                  <a:srgbClr val="C0C0C0">
                    <a:alpha val="50000"/>
                  </a:srgbClr>
                </a:gs>
                <a:gs pos="100000">
                  <a:schemeClr val="tx2"/>
                </a:gs>
              </a:gsLst>
              <a:lin ang="54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p>
              <a:endParaRPr lang="zh-CN" altLang="en-US"/>
            </a:p>
          </p:txBody>
        </p:sp>
        <p:sp>
          <p:nvSpPr>
            <p:cNvPr id="146718" name="Freeform 685"/>
            <p:cNvSpPr/>
            <p:nvPr/>
          </p:nvSpPr>
          <p:spPr bwMode="auto">
            <a:xfrm>
              <a:off x="5073" y="2337"/>
              <a:ext cx="196" cy="27"/>
            </a:xfrm>
            <a:custGeom>
              <a:avLst/>
              <a:gdLst>
                <a:gd name="T0" fmla="*/ 5 w 196"/>
                <a:gd name="T1" fmla="*/ 0 h 65"/>
                <a:gd name="T2" fmla="*/ 14 w 196"/>
                <a:gd name="T3" fmla="*/ 2 h 65"/>
                <a:gd name="T4" fmla="*/ 91 w 196"/>
                <a:gd name="T5" fmla="*/ 2 h 65"/>
                <a:gd name="T6" fmla="*/ 180 w 196"/>
                <a:gd name="T7" fmla="*/ 2 h 65"/>
                <a:gd name="T8" fmla="*/ 185 w 196"/>
                <a:gd name="T9" fmla="*/ 0 h 65"/>
                <a:gd name="T10" fmla="*/ 167 w 196"/>
                <a:gd name="T11" fmla="*/ 1 h 65"/>
                <a:gd name="T12" fmla="*/ 27 w 196"/>
                <a:gd name="T13" fmla="*/ 1 h 65"/>
                <a:gd name="T14" fmla="*/ 5 w 196"/>
                <a:gd name="T15" fmla="*/ 0 h 65"/>
                <a:gd name="T16" fmla="*/ 0 60000 65536"/>
                <a:gd name="T17" fmla="*/ 0 60000 65536"/>
                <a:gd name="T18" fmla="*/ 0 60000 65536"/>
                <a:gd name="T19" fmla="*/ 0 60000 65536"/>
                <a:gd name="T20" fmla="*/ 0 60000 65536"/>
                <a:gd name="T21" fmla="*/ 0 60000 65536"/>
                <a:gd name="T22" fmla="*/ 0 60000 65536"/>
                <a:gd name="T23" fmla="*/ 0 60000 65536"/>
                <a:gd name="T24" fmla="*/ 0 w 196"/>
                <a:gd name="T25" fmla="*/ 0 h 65"/>
                <a:gd name="T26" fmla="*/ 196 w 196"/>
                <a:gd name="T27" fmla="*/ 65 h 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6" h="65">
                  <a:moveTo>
                    <a:pt x="5" y="11"/>
                  </a:moveTo>
                  <a:cubicBezTo>
                    <a:pt x="3" y="16"/>
                    <a:pt x="0" y="44"/>
                    <a:pt x="14" y="53"/>
                  </a:cubicBezTo>
                  <a:cubicBezTo>
                    <a:pt x="28" y="62"/>
                    <a:pt x="63" y="63"/>
                    <a:pt x="91" y="63"/>
                  </a:cubicBezTo>
                  <a:cubicBezTo>
                    <a:pt x="119" y="63"/>
                    <a:pt x="164" y="65"/>
                    <a:pt x="180" y="55"/>
                  </a:cubicBezTo>
                  <a:cubicBezTo>
                    <a:pt x="196" y="45"/>
                    <a:pt x="187" y="10"/>
                    <a:pt x="185" y="5"/>
                  </a:cubicBezTo>
                  <a:cubicBezTo>
                    <a:pt x="183" y="0"/>
                    <a:pt x="193" y="22"/>
                    <a:pt x="167" y="25"/>
                  </a:cubicBezTo>
                  <a:cubicBezTo>
                    <a:pt x="141" y="28"/>
                    <a:pt x="54" y="25"/>
                    <a:pt x="27" y="23"/>
                  </a:cubicBezTo>
                  <a:cubicBezTo>
                    <a:pt x="0" y="21"/>
                    <a:pt x="7" y="6"/>
                    <a:pt x="5" y="11"/>
                  </a:cubicBezTo>
                  <a:close/>
                </a:path>
              </a:pathLst>
            </a:custGeom>
            <a:gradFill rotWithShape="1">
              <a:gsLst>
                <a:gs pos="0">
                  <a:srgbClr val="C0C0C0">
                    <a:alpha val="50000"/>
                  </a:srgbClr>
                </a:gs>
                <a:gs pos="100000">
                  <a:schemeClr val="tx2"/>
                </a:gs>
              </a:gsLst>
              <a:lin ang="54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p>
              <a:endParaRPr lang="zh-CN" altLang="en-US"/>
            </a:p>
          </p:txBody>
        </p:sp>
        <p:grpSp>
          <p:nvGrpSpPr>
            <p:cNvPr id="146719" name="Group 686"/>
            <p:cNvGrpSpPr>
              <a:grpSpLocks noChangeAspect="1"/>
            </p:cNvGrpSpPr>
            <p:nvPr/>
          </p:nvGrpSpPr>
          <p:grpSpPr bwMode="auto">
            <a:xfrm>
              <a:off x="4203" y="2198"/>
              <a:ext cx="1077" cy="81"/>
              <a:chOff x="3388" y="1798"/>
              <a:chExt cx="1798" cy="135"/>
            </a:xfrm>
          </p:grpSpPr>
          <p:sp>
            <p:nvSpPr>
              <p:cNvPr id="146721" name="Freeform 687"/>
              <p:cNvSpPr>
                <a:spLocks noChangeAspect="1"/>
              </p:cNvSpPr>
              <p:nvPr/>
            </p:nvSpPr>
            <p:spPr bwMode="auto">
              <a:xfrm>
                <a:off x="3388" y="1800"/>
                <a:ext cx="98" cy="133"/>
              </a:xfrm>
              <a:custGeom>
                <a:avLst/>
                <a:gdLst>
                  <a:gd name="T0" fmla="*/ 1 w 464"/>
                  <a:gd name="T1" fmla="*/ 0 h 632"/>
                  <a:gd name="T2" fmla="*/ 1 w 464"/>
                  <a:gd name="T3" fmla="*/ 0 h 632"/>
                  <a:gd name="T4" fmla="*/ 0 w 464"/>
                  <a:gd name="T5" fmla="*/ 0 h 632"/>
                  <a:gd name="T6" fmla="*/ 0 w 464"/>
                  <a:gd name="T7" fmla="*/ 0 h 632"/>
                  <a:gd name="T8" fmla="*/ 0 w 464"/>
                  <a:gd name="T9" fmla="*/ 1 h 632"/>
                  <a:gd name="T10" fmla="*/ 1 w 464"/>
                  <a:gd name="T11" fmla="*/ 1 h 632"/>
                  <a:gd name="T12" fmla="*/ 1 w 464"/>
                  <a:gd name="T13" fmla="*/ 1 h 632"/>
                  <a:gd name="T14" fmla="*/ 0 w 464"/>
                  <a:gd name="T15" fmla="*/ 1 h 632"/>
                  <a:gd name="T16" fmla="*/ 0 w 464"/>
                  <a:gd name="T17" fmla="*/ 1 h 632"/>
                  <a:gd name="T18" fmla="*/ 0 w 464"/>
                  <a:gd name="T19" fmla="*/ 1 h 63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64"/>
                  <a:gd name="T31" fmla="*/ 0 h 632"/>
                  <a:gd name="T32" fmla="*/ 464 w 464"/>
                  <a:gd name="T33" fmla="*/ 632 h 63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64" h="632">
                    <a:moveTo>
                      <a:pt x="414" y="178"/>
                    </a:moveTo>
                    <a:cubicBezTo>
                      <a:pt x="403" y="157"/>
                      <a:pt x="387" y="80"/>
                      <a:pt x="348" y="52"/>
                    </a:cubicBezTo>
                    <a:cubicBezTo>
                      <a:pt x="309" y="24"/>
                      <a:pt x="233" y="0"/>
                      <a:pt x="180" y="10"/>
                    </a:cubicBezTo>
                    <a:cubicBezTo>
                      <a:pt x="127" y="20"/>
                      <a:pt x="47" y="69"/>
                      <a:pt x="30" y="112"/>
                    </a:cubicBezTo>
                    <a:cubicBezTo>
                      <a:pt x="13" y="155"/>
                      <a:pt x="15" y="223"/>
                      <a:pt x="78" y="268"/>
                    </a:cubicBezTo>
                    <a:cubicBezTo>
                      <a:pt x="141" y="313"/>
                      <a:pt x="352" y="333"/>
                      <a:pt x="408" y="382"/>
                    </a:cubicBezTo>
                    <a:cubicBezTo>
                      <a:pt x="464" y="431"/>
                      <a:pt x="440" y="521"/>
                      <a:pt x="414" y="562"/>
                    </a:cubicBezTo>
                    <a:cubicBezTo>
                      <a:pt x="388" y="603"/>
                      <a:pt x="311" y="624"/>
                      <a:pt x="252" y="628"/>
                    </a:cubicBezTo>
                    <a:cubicBezTo>
                      <a:pt x="193" y="632"/>
                      <a:pt x="102" y="615"/>
                      <a:pt x="60" y="586"/>
                    </a:cubicBezTo>
                    <a:cubicBezTo>
                      <a:pt x="18" y="557"/>
                      <a:pt x="12" y="481"/>
                      <a:pt x="0" y="454"/>
                    </a:cubicBezTo>
                  </a:path>
                </a:pathLst>
              </a:custGeom>
              <a:noFill/>
              <a:ln w="19050">
                <a:solidFill>
                  <a:srgbClr val="0000CC"/>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6722" name="Freeform 688"/>
              <p:cNvSpPr>
                <a:spLocks noChangeAspect="1"/>
              </p:cNvSpPr>
              <p:nvPr/>
            </p:nvSpPr>
            <p:spPr bwMode="auto">
              <a:xfrm>
                <a:off x="3524" y="1802"/>
                <a:ext cx="109" cy="131"/>
              </a:xfrm>
              <a:custGeom>
                <a:avLst/>
                <a:gdLst>
                  <a:gd name="T0" fmla="*/ 0 w 551"/>
                  <a:gd name="T1" fmla="*/ 0 h 660"/>
                  <a:gd name="T2" fmla="*/ 0 w 551"/>
                  <a:gd name="T3" fmla="*/ 0 h 660"/>
                  <a:gd name="T4" fmla="*/ 0 w 551"/>
                  <a:gd name="T5" fmla="*/ 1 h 660"/>
                  <a:gd name="T6" fmla="*/ 0 w 551"/>
                  <a:gd name="T7" fmla="*/ 1 h 660"/>
                  <a:gd name="T8" fmla="*/ 1 w 551"/>
                  <a:gd name="T9" fmla="*/ 1 h 660"/>
                  <a:gd name="T10" fmla="*/ 1 w 551"/>
                  <a:gd name="T11" fmla="*/ 1 h 660"/>
                  <a:gd name="T12" fmla="*/ 1 w 551"/>
                  <a:gd name="T13" fmla="*/ 0 h 660"/>
                  <a:gd name="T14" fmla="*/ 1 w 551"/>
                  <a:gd name="T15" fmla="*/ 0 h 660"/>
                  <a:gd name="T16" fmla="*/ 0 w 551"/>
                  <a:gd name="T17" fmla="*/ 0 h 66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51"/>
                  <a:gd name="T28" fmla="*/ 0 h 660"/>
                  <a:gd name="T29" fmla="*/ 551 w 551"/>
                  <a:gd name="T30" fmla="*/ 660 h 66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51" h="660">
                    <a:moveTo>
                      <a:pt x="166" y="26"/>
                    </a:moveTo>
                    <a:cubicBezTo>
                      <a:pt x="110" y="58"/>
                      <a:pt x="44" y="142"/>
                      <a:pt x="22" y="218"/>
                    </a:cubicBezTo>
                    <a:cubicBezTo>
                      <a:pt x="0" y="294"/>
                      <a:pt x="9" y="413"/>
                      <a:pt x="34" y="482"/>
                    </a:cubicBezTo>
                    <a:cubicBezTo>
                      <a:pt x="59" y="551"/>
                      <a:pt x="116" y="607"/>
                      <a:pt x="172" y="632"/>
                    </a:cubicBezTo>
                    <a:cubicBezTo>
                      <a:pt x="228" y="657"/>
                      <a:pt x="311" y="660"/>
                      <a:pt x="370" y="632"/>
                    </a:cubicBezTo>
                    <a:cubicBezTo>
                      <a:pt x="429" y="604"/>
                      <a:pt x="501" y="539"/>
                      <a:pt x="526" y="464"/>
                    </a:cubicBezTo>
                    <a:cubicBezTo>
                      <a:pt x="551" y="389"/>
                      <a:pt x="547" y="255"/>
                      <a:pt x="520" y="182"/>
                    </a:cubicBezTo>
                    <a:cubicBezTo>
                      <a:pt x="493" y="109"/>
                      <a:pt x="423" y="52"/>
                      <a:pt x="364" y="26"/>
                    </a:cubicBezTo>
                    <a:cubicBezTo>
                      <a:pt x="305" y="0"/>
                      <a:pt x="207" y="26"/>
                      <a:pt x="166" y="26"/>
                    </a:cubicBezTo>
                    <a:close/>
                  </a:path>
                </a:pathLst>
              </a:custGeom>
              <a:noFill/>
              <a:ln w="19050">
                <a:solidFill>
                  <a:srgbClr val="0000CC"/>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6723" name="Freeform 689"/>
              <p:cNvSpPr>
                <a:spLocks noChangeAspect="1"/>
              </p:cNvSpPr>
              <p:nvPr/>
            </p:nvSpPr>
            <p:spPr bwMode="auto">
              <a:xfrm>
                <a:off x="3674" y="1809"/>
                <a:ext cx="92" cy="124"/>
              </a:xfrm>
              <a:custGeom>
                <a:avLst/>
                <a:gdLst>
                  <a:gd name="T0" fmla="*/ 3 w 285"/>
                  <a:gd name="T1" fmla="*/ 0 h 383"/>
                  <a:gd name="T2" fmla="*/ 3 w 285"/>
                  <a:gd name="T3" fmla="*/ 2 h 383"/>
                  <a:gd name="T4" fmla="*/ 3 w 285"/>
                  <a:gd name="T5" fmla="*/ 4 h 383"/>
                  <a:gd name="T6" fmla="*/ 2 w 285"/>
                  <a:gd name="T7" fmla="*/ 4 h 383"/>
                  <a:gd name="T8" fmla="*/ 0 w 285"/>
                  <a:gd name="T9" fmla="*/ 4 h 383"/>
                  <a:gd name="T10" fmla="*/ 0 w 285"/>
                  <a:gd name="T11" fmla="*/ 2 h 383"/>
                  <a:gd name="T12" fmla="*/ 0 w 285"/>
                  <a:gd name="T13" fmla="*/ 0 h 383"/>
                  <a:gd name="T14" fmla="*/ 0 60000 65536"/>
                  <a:gd name="T15" fmla="*/ 0 60000 65536"/>
                  <a:gd name="T16" fmla="*/ 0 60000 65536"/>
                  <a:gd name="T17" fmla="*/ 0 60000 65536"/>
                  <a:gd name="T18" fmla="*/ 0 60000 65536"/>
                  <a:gd name="T19" fmla="*/ 0 60000 65536"/>
                  <a:gd name="T20" fmla="*/ 0 60000 65536"/>
                  <a:gd name="T21" fmla="*/ 0 w 285"/>
                  <a:gd name="T22" fmla="*/ 0 h 383"/>
                  <a:gd name="T23" fmla="*/ 285 w 285"/>
                  <a:gd name="T24" fmla="*/ 383 h 38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85" h="383">
                    <a:moveTo>
                      <a:pt x="283" y="3"/>
                    </a:moveTo>
                    <a:cubicBezTo>
                      <a:pt x="283" y="37"/>
                      <a:pt x="285" y="147"/>
                      <a:pt x="279" y="203"/>
                    </a:cubicBezTo>
                    <a:cubicBezTo>
                      <a:pt x="273" y="259"/>
                      <a:pt x="272" y="309"/>
                      <a:pt x="247" y="339"/>
                    </a:cubicBezTo>
                    <a:cubicBezTo>
                      <a:pt x="222" y="369"/>
                      <a:pt x="167" y="383"/>
                      <a:pt x="130" y="382"/>
                    </a:cubicBezTo>
                    <a:cubicBezTo>
                      <a:pt x="93" y="381"/>
                      <a:pt x="48" y="356"/>
                      <a:pt x="27" y="330"/>
                    </a:cubicBezTo>
                    <a:cubicBezTo>
                      <a:pt x="6" y="303"/>
                      <a:pt x="8" y="276"/>
                      <a:pt x="4" y="221"/>
                    </a:cubicBezTo>
                    <a:cubicBezTo>
                      <a:pt x="0" y="167"/>
                      <a:pt x="4" y="37"/>
                      <a:pt x="4" y="0"/>
                    </a:cubicBezTo>
                  </a:path>
                </a:pathLst>
              </a:custGeom>
              <a:noFill/>
              <a:ln w="19050">
                <a:solidFill>
                  <a:srgbClr val="0000CC"/>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6724" name="Group 690"/>
              <p:cNvGrpSpPr>
                <a:grpSpLocks noChangeAspect="1"/>
              </p:cNvGrpSpPr>
              <p:nvPr/>
            </p:nvGrpSpPr>
            <p:grpSpPr bwMode="auto">
              <a:xfrm>
                <a:off x="3819" y="1801"/>
                <a:ext cx="110" cy="132"/>
                <a:chOff x="906" y="2412"/>
                <a:chExt cx="552" cy="660"/>
              </a:xfrm>
            </p:grpSpPr>
            <p:sp>
              <p:nvSpPr>
                <p:cNvPr id="146740" name="Freeform 691"/>
                <p:cNvSpPr>
                  <a:spLocks noChangeAspect="1"/>
                </p:cNvSpPr>
                <p:nvPr/>
              </p:nvSpPr>
              <p:spPr bwMode="auto">
                <a:xfrm>
                  <a:off x="906" y="2418"/>
                  <a:ext cx="552" cy="1"/>
                </a:xfrm>
                <a:custGeom>
                  <a:avLst/>
                  <a:gdLst>
                    <a:gd name="T0" fmla="*/ 0 w 552"/>
                    <a:gd name="T1" fmla="*/ 0 h 1"/>
                    <a:gd name="T2" fmla="*/ 552 w 552"/>
                    <a:gd name="T3" fmla="*/ 0 h 1"/>
                    <a:gd name="T4" fmla="*/ 0 60000 65536"/>
                    <a:gd name="T5" fmla="*/ 0 60000 65536"/>
                    <a:gd name="T6" fmla="*/ 0 w 552"/>
                    <a:gd name="T7" fmla="*/ 0 h 1"/>
                    <a:gd name="T8" fmla="*/ 552 w 552"/>
                    <a:gd name="T9" fmla="*/ 1 h 1"/>
                  </a:gdLst>
                  <a:ahLst/>
                  <a:cxnLst>
                    <a:cxn ang="T4">
                      <a:pos x="T0" y="T1"/>
                    </a:cxn>
                    <a:cxn ang="T5">
                      <a:pos x="T2" y="T3"/>
                    </a:cxn>
                  </a:cxnLst>
                  <a:rect l="T6" t="T7" r="T8" b="T9"/>
                  <a:pathLst>
                    <a:path w="552" h="1">
                      <a:moveTo>
                        <a:pt x="0" y="0"/>
                      </a:moveTo>
                      <a:cubicBezTo>
                        <a:pt x="230" y="0"/>
                        <a:pt x="461" y="0"/>
                        <a:pt x="552" y="0"/>
                      </a:cubicBezTo>
                    </a:path>
                  </a:pathLst>
                </a:custGeom>
                <a:noFill/>
                <a:ln w="19050">
                  <a:solidFill>
                    <a:srgbClr val="0000CC"/>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6741" name="Freeform 692"/>
                <p:cNvSpPr>
                  <a:spLocks noChangeAspect="1"/>
                </p:cNvSpPr>
                <p:nvPr/>
              </p:nvSpPr>
              <p:spPr bwMode="auto">
                <a:xfrm>
                  <a:off x="1176" y="2412"/>
                  <a:ext cx="1" cy="660"/>
                </a:xfrm>
                <a:custGeom>
                  <a:avLst/>
                  <a:gdLst>
                    <a:gd name="T0" fmla="*/ 0 w 1"/>
                    <a:gd name="T1" fmla="*/ 0 h 660"/>
                    <a:gd name="T2" fmla="*/ 0 w 1"/>
                    <a:gd name="T3" fmla="*/ 660 h 660"/>
                    <a:gd name="T4" fmla="*/ 0 60000 65536"/>
                    <a:gd name="T5" fmla="*/ 0 60000 65536"/>
                    <a:gd name="T6" fmla="*/ 0 w 1"/>
                    <a:gd name="T7" fmla="*/ 0 h 660"/>
                    <a:gd name="T8" fmla="*/ 1 w 1"/>
                    <a:gd name="T9" fmla="*/ 660 h 660"/>
                  </a:gdLst>
                  <a:ahLst/>
                  <a:cxnLst>
                    <a:cxn ang="T4">
                      <a:pos x="T0" y="T1"/>
                    </a:cxn>
                    <a:cxn ang="T5">
                      <a:pos x="T2" y="T3"/>
                    </a:cxn>
                  </a:cxnLst>
                  <a:rect l="T6" t="T7" r="T8" b="T9"/>
                  <a:pathLst>
                    <a:path w="1" h="660">
                      <a:moveTo>
                        <a:pt x="0" y="0"/>
                      </a:moveTo>
                      <a:cubicBezTo>
                        <a:pt x="0" y="275"/>
                        <a:pt x="0" y="550"/>
                        <a:pt x="0" y="660"/>
                      </a:cubicBezTo>
                    </a:path>
                  </a:pathLst>
                </a:custGeom>
                <a:noFill/>
                <a:ln w="19050">
                  <a:solidFill>
                    <a:srgbClr val="0000CC"/>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146725" name="Group 693"/>
              <p:cNvGrpSpPr>
                <a:grpSpLocks noChangeAspect="1"/>
              </p:cNvGrpSpPr>
              <p:nvPr/>
            </p:nvGrpSpPr>
            <p:grpSpPr bwMode="auto">
              <a:xfrm>
                <a:off x="3979" y="1806"/>
                <a:ext cx="94" cy="127"/>
                <a:chOff x="4991" y="1343"/>
                <a:chExt cx="456" cy="618"/>
              </a:xfrm>
            </p:grpSpPr>
            <p:sp>
              <p:nvSpPr>
                <p:cNvPr id="146737" name="Line 694"/>
                <p:cNvSpPr>
                  <a:spLocks noChangeAspect="1" noChangeShapeType="1"/>
                </p:cNvSpPr>
                <p:nvPr/>
              </p:nvSpPr>
              <p:spPr bwMode="auto">
                <a:xfrm>
                  <a:off x="4991" y="1343"/>
                  <a:ext cx="0" cy="618"/>
                </a:xfrm>
                <a:prstGeom prst="line">
                  <a:avLst/>
                </a:prstGeom>
                <a:noFill/>
                <a:ln w="19050">
                  <a:solidFill>
                    <a:srgbClr val="0000CC"/>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6738" name="Line 695"/>
                <p:cNvSpPr>
                  <a:spLocks noChangeAspect="1" noChangeShapeType="1"/>
                </p:cNvSpPr>
                <p:nvPr/>
              </p:nvSpPr>
              <p:spPr bwMode="auto">
                <a:xfrm>
                  <a:off x="5441" y="1343"/>
                  <a:ext cx="0" cy="618"/>
                </a:xfrm>
                <a:prstGeom prst="line">
                  <a:avLst/>
                </a:prstGeom>
                <a:noFill/>
                <a:ln w="19050">
                  <a:solidFill>
                    <a:srgbClr val="0000CC"/>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6739" name="Line 696"/>
                <p:cNvSpPr>
                  <a:spLocks noChangeAspect="1" noChangeShapeType="1"/>
                </p:cNvSpPr>
                <p:nvPr/>
              </p:nvSpPr>
              <p:spPr bwMode="auto">
                <a:xfrm>
                  <a:off x="4991" y="1631"/>
                  <a:ext cx="456" cy="0"/>
                </a:xfrm>
                <a:prstGeom prst="line">
                  <a:avLst/>
                </a:prstGeom>
                <a:noFill/>
                <a:ln w="19050">
                  <a:solidFill>
                    <a:srgbClr val="0000CC"/>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46726" name="Group 697"/>
              <p:cNvGrpSpPr>
                <a:grpSpLocks noChangeAspect="1"/>
              </p:cNvGrpSpPr>
              <p:nvPr/>
            </p:nvGrpSpPr>
            <p:grpSpPr bwMode="auto">
              <a:xfrm>
                <a:off x="4124" y="1806"/>
                <a:ext cx="87" cy="127"/>
                <a:chOff x="3017" y="1343"/>
                <a:chExt cx="420" cy="612"/>
              </a:xfrm>
            </p:grpSpPr>
            <p:sp>
              <p:nvSpPr>
                <p:cNvPr id="146735" name="Freeform 698"/>
                <p:cNvSpPr>
                  <a:spLocks noChangeAspect="1"/>
                </p:cNvSpPr>
                <p:nvPr/>
              </p:nvSpPr>
              <p:spPr bwMode="auto">
                <a:xfrm>
                  <a:off x="3017" y="1343"/>
                  <a:ext cx="420" cy="612"/>
                </a:xfrm>
                <a:custGeom>
                  <a:avLst/>
                  <a:gdLst>
                    <a:gd name="T0" fmla="*/ 420 w 420"/>
                    <a:gd name="T1" fmla="*/ 606 h 612"/>
                    <a:gd name="T2" fmla="*/ 0 w 420"/>
                    <a:gd name="T3" fmla="*/ 612 h 612"/>
                    <a:gd name="T4" fmla="*/ 6 w 420"/>
                    <a:gd name="T5" fmla="*/ 0 h 612"/>
                    <a:gd name="T6" fmla="*/ 402 w 420"/>
                    <a:gd name="T7" fmla="*/ 0 h 612"/>
                    <a:gd name="T8" fmla="*/ 0 60000 65536"/>
                    <a:gd name="T9" fmla="*/ 0 60000 65536"/>
                    <a:gd name="T10" fmla="*/ 0 60000 65536"/>
                    <a:gd name="T11" fmla="*/ 0 60000 65536"/>
                    <a:gd name="T12" fmla="*/ 0 w 420"/>
                    <a:gd name="T13" fmla="*/ 0 h 612"/>
                    <a:gd name="T14" fmla="*/ 420 w 420"/>
                    <a:gd name="T15" fmla="*/ 612 h 612"/>
                  </a:gdLst>
                  <a:ahLst/>
                  <a:cxnLst>
                    <a:cxn ang="T8">
                      <a:pos x="T0" y="T1"/>
                    </a:cxn>
                    <a:cxn ang="T9">
                      <a:pos x="T2" y="T3"/>
                    </a:cxn>
                    <a:cxn ang="T10">
                      <a:pos x="T4" y="T5"/>
                    </a:cxn>
                    <a:cxn ang="T11">
                      <a:pos x="T6" y="T7"/>
                    </a:cxn>
                  </a:cxnLst>
                  <a:rect l="T12" t="T13" r="T14" b="T15"/>
                  <a:pathLst>
                    <a:path w="420" h="612">
                      <a:moveTo>
                        <a:pt x="420" y="606"/>
                      </a:moveTo>
                      <a:lnTo>
                        <a:pt x="0" y="612"/>
                      </a:lnTo>
                      <a:lnTo>
                        <a:pt x="6" y="0"/>
                      </a:lnTo>
                      <a:lnTo>
                        <a:pt x="402" y="0"/>
                      </a:lnTo>
                    </a:path>
                  </a:pathLst>
                </a:custGeom>
                <a:noFill/>
                <a:ln w="19050">
                  <a:solidFill>
                    <a:srgbClr val="0000CC"/>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6736" name="Line 699"/>
                <p:cNvSpPr>
                  <a:spLocks noChangeAspect="1" noChangeShapeType="1"/>
                </p:cNvSpPr>
                <p:nvPr/>
              </p:nvSpPr>
              <p:spPr bwMode="auto">
                <a:xfrm>
                  <a:off x="3017" y="1637"/>
                  <a:ext cx="378" cy="0"/>
                </a:xfrm>
                <a:prstGeom prst="line">
                  <a:avLst/>
                </a:prstGeom>
                <a:noFill/>
                <a:ln w="19050">
                  <a:solidFill>
                    <a:srgbClr val="0000CC"/>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46727" name="Freeform 700"/>
              <p:cNvSpPr>
                <a:spLocks noChangeAspect="1"/>
              </p:cNvSpPr>
              <p:nvPr/>
            </p:nvSpPr>
            <p:spPr bwMode="auto">
              <a:xfrm>
                <a:off x="4262" y="1798"/>
                <a:ext cx="98" cy="135"/>
              </a:xfrm>
              <a:custGeom>
                <a:avLst/>
                <a:gdLst>
                  <a:gd name="T0" fmla="*/ 0 w 468"/>
                  <a:gd name="T1" fmla="*/ 1 h 642"/>
                  <a:gd name="T2" fmla="*/ 0 w 468"/>
                  <a:gd name="T3" fmla="*/ 0 h 642"/>
                  <a:gd name="T4" fmla="*/ 0 w 468"/>
                  <a:gd name="T5" fmla="*/ 0 h 642"/>
                  <a:gd name="T6" fmla="*/ 1 w 468"/>
                  <a:gd name="T7" fmla="*/ 0 h 642"/>
                  <a:gd name="T8" fmla="*/ 1 w 468"/>
                  <a:gd name="T9" fmla="*/ 0 h 642"/>
                  <a:gd name="T10" fmla="*/ 0 w 468"/>
                  <a:gd name="T11" fmla="*/ 1 h 642"/>
                  <a:gd name="T12" fmla="*/ 0 w 468"/>
                  <a:gd name="T13" fmla="*/ 1 h 642"/>
                  <a:gd name="T14" fmla="*/ 0 w 468"/>
                  <a:gd name="T15" fmla="*/ 1 h 642"/>
                  <a:gd name="T16" fmla="*/ 1 w 468"/>
                  <a:gd name="T17" fmla="*/ 1 h 6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68"/>
                  <a:gd name="T28" fmla="*/ 0 h 642"/>
                  <a:gd name="T29" fmla="*/ 468 w 468"/>
                  <a:gd name="T30" fmla="*/ 642 h 64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68" h="642">
                    <a:moveTo>
                      <a:pt x="6" y="636"/>
                    </a:moveTo>
                    <a:lnTo>
                      <a:pt x="0" y="0"/>
                    </a:lnTo>
                    <a:lnTo>
                      <a:pt x="234" y="0"/>
                    </a:lnTo>
                    <a:cubicBezTo>
                      <a:pt x="303" y="11"/>
                      <a:pt x="386" y="26"/>
                      <a:pt x="414" y="66"/>
                    </a:cubicBezTo>
                    <a:cubicBezTo>
                      <a:pt x="442" y="106"/>
                      <a:pt x="436" y="200"/>
                      <a:pt x="402" y="240"/>
                    </a:cubicBezTo>
                    <a:cubicBezTo>
                      <a:pt x="368" y="280"/>
                      <a:pt x="277" y="295"/>
                      <a:pt x="210" y="306"/>
                    </a:cubicBezTo>
                    <a:lnTo>
                      <a:pt x="0" y="306"/>
                    </a:lnTo>
                    <a:lnTo>
                      <a:pt x="216" y="312"/>
                    </a:lnTo>
                    <a:cubicBezTo>
                      <a:pt x="294" y="368"/>
                      <a:pt x="426" y="587"/>
                      <a:pt x="468" y="642"/>
                    </a:cubicBezTo>
                  </a:path>
                </a:pathLst>
              </a:custGeom>
              <a:noFill/>
              <a:ln w="19050">
                <a:solidFill>
                  <a:srgbClr val="0000CC"/>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6728" name="Freeform 701"/>
              <p:cNvSpPr>
                <a:spLocks noChangeAspect="1"/>
              </p:cNvSpPr>
              <p:nvPr/>
            </p:nvSpPr>
            <p:spPr bwMode="auto">
              <a:xfrm>
                <a:off x="4411" y="1803"/>
                <a:ext cx="81" cy="130"/>
              </a:xfrm>
              <a:custGeom>
                <a:avLst/>
                <a:gdLst>
                  <a:gd name="T0" fmla="*/ 0 w 426"/>
                  <a:gd name="T1" fmla="*/ 1 h 684"/>
                  <a:gd name="T2" fmla="*/ 0 w 426"/>
                  <a:gd name="T3" fmla="*/ 0 h 684"/>
                  <a:gd name="T4" fmla="*/ 1 w 426"/>
                  <a:gd name="T5" fmla="*/ 1 h 684"/>
                  <a:gd name="T6" fmla="*/ 1 w 426"/>
                  <a:gd name="T7" fmla="*/ 0 h 684"/>
                  <a:gd name="T8" fmla="*/ 0 60000 65536"/>
                  <a:gd name="T9" fmla="*/ 0 60000 65536"/>
                  <a:gd name="T10" fmla="*/ 0 60000 65536"/>
                  <a:gd name="T11" fmla="*/ 0 60000 65536"/>
                  <a:gd name="T12" fmla="*/ 0 w 426"/>
                  <a:gd name="T13" fmla="*/ 0 h 684"/>
                  <a:gd name="T14" fmla="*/ 426 w 426"/>
                  <a:gd name="T15" fmla="*/ 684 h 684"/>
                </a:gdLst>
                <a:ahLst/>
                <a:cxnLst>
                  <a:cxn ang="T8">
                    <a:pos x="T0" y="T1"/>
                  </a:cxn>
                  <a:cxn ang="T9">
                    <a:pos x="T2" y="T3"/>
                  </a:cxn>
                  <a:cxn ang="T10">
                    <a:pos x="T4" y="T5"/>
                  </a:cxn>
                  <a:cxn ang="T11">
                    <a:pos x="T6" y="T7"/>
                  </a:cxn>
                </a:cxnLst>
                <a:rect l="T12" t="T13" r="T14" b="T15"/>
                <a:pathLst>
                  <a:path w="426" h="684">
                    <a:moveTo>
                      <a:pt x="0" y="684"/>
                    </a:moveTo>
                    <a:lnTo>
                      <a:pt x="0" y="6"/>
                    </a:lnTo>
                    <a:lnTo>
                      <a:pt x="426" y="672"/>
                    </a:lnTo>
                    <a:lnTo>
                      <a:pt x="426" y="0"/>
                    </a:lnTo>
                  </a:path>
                </a:pathLst>
              </a:custGeom>
              <a:noFill/>
              <a:ln w="19050">
                <a:solidFill>
                  <a:srgbClr val="0000CC"/>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6729" name="Freeform 702"/>
              <p:cNvSpPr>
                <a:spLocks noChangeAspect="1"/>
              </p:cNvSpPr>
              <p:nvPr/>
            </p:nvSpPr>
            <p:spPr bwMode="auto">
              <a:xfrm>
                <a:off x="4675" y="1806"/>
                <a:ext cx="92" cy="127"/>
              </a:xfrm>
              <a:custGeom>
                <a:avLst/>
                <a:gdLst>
                  <a:gd name="T0" fmla="*/ 0 w 442"/>
                  <a:gd name="T1" fmla="*/ 0 h 612"/>
                  <a:gd name="T2" fmla="*/ 0 w 442"/>
                  <a:gd name="T3" fmla="*/ 1 h 612"/>
                  <a:gd name="T4" fmla="*/ 0 w 442"/>
                  <a:gd name="T5" fmla="*/ 1 h 612"/>
                  <a:gd name="T6" fmla="*/ 1 w 442"/>
                  <a:gd name="T7" fmla="*/ 1 h 612"/>
                  <a:gd name="T8" fmla="*/ 1 w 442"/>
                  <a:gd name="T9" fmla="*/ 1 h 612"/>
                  <a:gd name="T10" fmla="*/ 0 w 442"/>
                  <a:gd name="T11" fmla="*/ 1 h 612"/>
                  <a:gd name="T12" fmla="*/ 0 w 442"/>
                  <a:gd name="T13" fmla="*/ 0 h 612"/>
                  <a:gd name="T14" fmla="*/ 0 w 442"/>
                  <a:gd name="T15" fmla="*/ 0 h 612"/>
                  <a:gd name="T16" fmla="*/ 1 w 442"/>
                  <a:gd name="T17" fmla="*/ 0 h 612"/>
                  <a:gd name="T18" fmla="*/ 1 w 442"/>
                  <a:gd name="T19" fmla="*/ 0 h 612"/>
                  <a:gd name="T20" fmla="*/ 0 w 442"/>
                  <a:gd name="T21" fmla="*/ 0 h 612"/>
                  <a:gd name="T22" fmla="*/ 0 w 442"/>
                  <a:gd name="T23" fmla="*/ 0 h 61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42"/>
                  <a:gd name="T37" fmla="*/ 0 h 612"/>
                  <a:gd name="T38" fmla="*/ 442 w 442"/>
                  <a:gd name="T39" fmla="*/ 612 h 61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42" h="612">
                    <a:moveTo>
                      <a:pt x="0" y="0"/>
                    </a:moveTo>
                    <a:lnTo>
                      <a:pt x="0" y="612"/>
                    </a:lnTo>
                    <a:lnTo>
                      <a:pt x="288" y="612"/>
                    </a:lnTo>
                    <a:cubicBezTo>
                      <a:pt x="356" y="602"/>
                      <a:pt x="386" y="589"/>
                      <a:pt x="408" y="552"/>
                    </a:cubicBezTo>
                    <a:cubicBezTo>
                      <a:pt x="430" y="515"/>
                      <a:pt x="442" y="433"/>
                      <a:pt x="420" y="390"/>
                    </a:cubicBezTo>
                    <a:cubicBezTo>
                      <a:pt x="398" y="347"/>
                      <a:pt x="346" y="311"/>
                      <a:pt x="276" y="294"/>
                    </a:cubicBezTo>
                    <a:lnTo>
                      <a:pt x="0" y="288"/>
                    </a:lnTo>
                    <a:lnTo>
                      <a:pt x="288" y="288"/>
                    </a:lnTo>
                    <a:cubicBezTo>
                      <a:pt x="355" y="269"/>
                      <a:pt x="387" y="213"/>
                      <a:pt x="402" y="174"/>
                    </a:cubicBezTo>
                    <a:cubicBezTo>
                      <a:pt x="417" y="135"/>
                      <a:pt x="403" y="83"/>
                      <a:pt x="378" y="54"/>
                    </a:cubicBezTo>
                    <a:cubicBezTo>
                      <a:pt x="353" y="25"/>
                      <a:pt x="315" y="9"/>
                      <a:pt x="252" y="0"/>
                    </a:cubicBezTo>
                    <a:lnTo>
                      <a:pt x="0" y="0"/>
                    </a:lnTo>
                    <a:close/>
                  </a:path>
                </a:pathLst>
              </a:custGeom>
              <a:noFill/>
              <a:ln w="19050">
                <a:solidFill>
                  <a:srgbClr val="0000CC"/>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6730" name="Freeform 703"/>
              <p:cNvSpPr>
                <a:spLocks noChangeAspect="1"/>
              </p:cNvSpPr>
              <p:nvPr/>
            </p:nvSpPr>
            <p:spPr bwMode="auto">
              <a:xfrm>
                <a:off x="4805" y="1799"/>
                <a:ext cx="86" cy="134"/>
              </a:xfrm>
              <a:custGeom>
                <a:avLst/>
                <a:gdLst>
                  <a:gd name="T0" fmla="*/ 0 w 420"/>
                  <a:gd name="T1" fmla="*/ 0 h 654"/>
                  <a:gd name="T2" fmla="*/ 0 w 420"/>
                  <a:gd name="T3" fmla="*/ 1 h 654"/>
                  <a:gd name="T4" fmla="*/ 1 w 420"/>
                  <a:gd name="T5" fmla="*/ 1 h 654"/>
                  <a:gd name="T6" fmla="*/ 0 60000 65536"/>
                  <a:gd name="T7" fmla="*/ 0 60000 65536"/>
                  <a:gd name="T8" fmla="*/ 0 60000 65536"/>
                  <a:gd name="T9" fmla="*/ 0 w 420"/>
                  <a:gd name="T10" fmla="*/ 0 h 654"/>
                  <a:gd name="T11" fmla="*/ 420 w 420"/>
                  <a:gd name="T12" fmla="*/ 654 h 654"/>
                </a:gdLst>
                <a:ahLst/>
                <a:cxnLst>
                  <a:cxn ang="T6">
                    <a:pos x="T0" y="T1"/>
                  </a:cxn>
                  <a:cxn ang="T7">
                    <a:pos x="T2" y="T3"/>
                  </a:cxn>
                  <a:cxn ang="T8">
                    <a:pos x="T4" y="T5"/>
                  </a:cxn>
                </a:cxnLst>
                <a:rect l="T9" t="T10" r="T11" b="T12"/>
                <a:pathLst>
                  <a:path w="420" h="654">
                    <a:moveTo>
                      <a:pt x="0" y="0"/>
                    </a:moveTo>
                    <a:lnTo>
                      <a:pt x="0" y="654"/>
                    </a:lnTo>
                    <a:lnTo>
                      <a:pt x="420" y="654"/>
                    </a:lnTo>
                  </a:path>
                </a:pathLst>
              </a:custGeom>
              <a:noFill/>
              <a:ln w="19050">
                <a:solidFill>
                  <a:srgbClr val="0000CC"/>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6731" name="Freeform 704"/>
              <p:cNvSpPr>
                <a:spLocks noChangeAspect="1"/>
              </p:cNvSpPr>
              <p:nvPr/>
            </p:nvSpPr>
            <p:spPr bwMode="auto">
              <a:xfrm>
                <a:off x="4929" y="1802"/>
                <a:ext cx="109" cy="131"/>
              </a:xfrm>
              <a:custGeom>
                <a:avLst/>
                <a:gdLst>
                  <a:gd name="T0" fmla="*/ 0 w 551"/>
                  <a:gd name="T1" fmla="*/ 0 h 660"/>
                  <a:gd name="T2" fmla="*/ 0 w 551"/>
                  <a:gd name="T3" fmla="*/ 0 h 660"/>
                  <a:gd name="T4" fmla="*/ 0 w 551"/>
                  <a:gd name="T5" fmla="*/ 1 h 660"/>
                  <a:gd name="T6" fmla="*/ 0 w 551"/>
                  <a:gd name="T7" fmla="*/ 1 h 660"/>
                  <a:gd name="T8" fmla="*/ 1 w 551"/>
                  <a:gd name="T9" fmla="*/ 1 h 660"/>
                  <a:gd name="T10" fmla="*/ 1 w 551"/>
                  <a:gd name="T11" fmla="*/ 1 h 660"/>
                  <a:gd name="T12" fmla="*/ 1 w 551"/>
                  <a:gd name="T13" fmla="*/ 0 h 660"/>
                  <a:gd name="T14" fmla="*/ 1 w 551"/>
                  <a:gd name="T15" fmla="*/ 0 h 660"/>
                  <a:gd name="T16" fmla="*/ 0 w 551"/>
                  <a:gd name="T17" fmla="*/ 0 h 66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51"/>
                  <a:gd name="T28" fmla="*/ 0 h 660"/>
                  <a:gd name="T29" fmla="*/ 551 w 551"/>
                  <a:gd name="T30" fmla="*/ 660 h 66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51" h="660">
                    <a:moveTo>
                      <a:pt x="166" y="26"/>
                    </a:moveTo>
                    <a:cubicBezTo>
                      <a:pt x="110" y="58"/>
                      <a:pt x="44" y="142"/>
                      <a:pt x="22" y="218"/>
                    </a:cubicBezTo>
                    <a:cubicBezTo>
                      <a:pt x="0" y="294"/>
                      <a:pt x="9" y="413"/>
                      <a:pt x="34" y="482"/>
                    </a:cubicBezTo>
                    <a:cubicBezTo>
                      <a:pt x="59" y="551"/>
                      <a:pt x="116" y="607"/>
                      <a:pt x="172" y="632"/>
                    </a:cubicBezTo>
                    <a:cubicBezTo>
                      <a:pt x="228" y="657"/>
                      <a:pt x="311" y="660"/>
                      <a:pt x="370" y="632"/>
                    </a:cubicBezTo>
                    <a:cubicBezTo>
                      <a:pt x="429" y="604"/>
                      <a:pt x="501" y="539"/>
                      <a:pt x="526" y="464"/>
                    </a:cubicBezTo>
                    <a:cubicBezTo>
                      <a:pt x="551" y="389"/>
                      <a:pt x="547" y="255"/>
                      <a:pt x="520" y="182"/>
                    </a:cubicBezTo>
                    <a:cubicBezTo>
                      <a:pt x="493" y="109"/>
                      <a:pt x="423" y="52"/>
                      <a:pt x="364" y="26"/>
                    </a:cubicBezTo>
                    <a:cubicBezTo>
                      <a:pt x="305" y="0"/>
                      <a:pt x="207" y="26"/>
                      <a:pt x="166" y="26"/>
                    </a:cubicBezTo>
                    <a:close/>
                  </a:path>
                </a:pathLst>
              </a:custGeom>
              <a:noFill/>
              <a:ln w="19050">
                <a:solidFill>
                  <a:srgbClr val="0000CC"/>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6732" name="Group 705"/>
              <p:cNvGrpSpPr>
                <a:grpSpLocks noChangeAspect="1"/>
              </p:cNvGrpSpPr>
              <p:nvPr/>
            </p:nvGrpSpPr>
            <p:grpSpPr bwMode="auto">
              <a:xfrm>
                <a:off x="5076" y="1801"/>
                <a:ext cx="110" cy="132"/>
                <a:chOff x="906" y="2412"/>
                <a:chExt cx="552" cy="660"/>
              </a:xfrm>
            </p:grpSpPr>
            <p:sp>
              <p:nvSpPr>
                <p:cNvPr id="146733" name="Freeform 706"/>
                <p:cNvSpPr>
                  <a:spLocks noChangeAspect="1"/>
                </p:cNvSpPr>
                <p:nvPr/>
              </p:nvSpPr>
              <p:spPr bwMode="auto">
                <a:xfrm>
                  <a:off x="906" y="2418"/>
                  <a:ext cx="552" cy="1"/>
                </a:xfrm>
                <a:custGeom>
                  <a:avLst/>
                  <a:gdLst>
                    <a:gd name="T0" fmla="*/ 0 w 552"/>
                    <a:gd name="T1" fmla="*/ 0 h 1"/>
                    <a:gd name="T2" fmla="*/ 552 w 552"/>
                    <a:gd name="T3" fmla="*/ 0 h 1"/>
                    <a:gd name="T4" fmla="*/ 0 60000 65536"/>
                    <a:gd name="T5" fmla="*/ 0 60000 65536"/>
                    <a:gd name="T6" fmla="*/ 0 w 552"/>
                    <a:gd name="T7" fmla="*/ 0 h 1"/>
                    <a:gd name="T8" fmla="*/ 552 w 552"/>
                    <a:gd name="T9" fmla="*/ 1 h 1"/>
                  </a:gdLst>
                  <a:ahLst/>
                  <a:cxnLst>
                    <a:cxn ang="T4">
                      <a:pos x="T0" y="T1"/>
                    </a:cxn>
                    <a:cxn ang="T5">
                      <a:pos x="T2" y="T3"/>
                    </a:cxn>
                  </a:cxnLst>
                  <a:rect l="T6" t="T7" r="T8" b="T9"/>
                  <a:pathLst>
                    <a:path w="552" h="1">
                      <a:moveTo>
                        <a:pt x="0" y="0"/>
                      </a:moveTo>
                      <a:cubicBezTo>
                        <a:pt x="230" y="0"/>
                        <a:pt x="461" y="0"/>
                        <a:pt x="552" y="0"/>
                      </a:cubicBezTo>
                    </a:path>
                  </a:pathLst>
                </a:custGeom>
                <a:noFill/>
                <a:ln w="19050">
                  <a:solidFill>
                    <a:srgbClr val="0000CC"/>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6734" name="Freeform 707"/>
                <p:cNvSpPr>
                  <a:spLocks noChangeAspect="1"/>
                </p:cNvSpPr>
                <p:nvPr/>
              </p:nvSpPr>
              <p:spPr bwMode="auto">
                <a:xfrm>
                  <a:off x="1176" y="2412"/>
                  <a:ext cx="1" cy="660"/>
                </a:xfrm>
                <a:custGeom>
                  <a:avLst/>
                  <a:gdLst>
                    <a:gd name="T0" fmla="*/ 0 w 1"/>
                    <a:gd name="T1" fmla="*/ 0 h 660"/>
                    <a:gd name="T2" fmla="*/ 0 w 1"/>
                    <a:gd name="T3" fmla="*/ 660 h 660"/>
                    <a:gd name="T4" fmla="*/ 0 60000 65536"/>
                    <a:gd name="T5" fmla="*/ 0 60000 65536"/>
                    <a:gd name="T6" fmla="*/ 0 w 1"/>
                    <a:gd name="T7" fmla="*/ 0 h 660"/>
                    <a:gd name="T8" fmla="*/ 1 w 1"/>
                    <a:gd name="T9" fmla="*/ 660 h 660"/>
                  </a:gdLst>
                  <a:ahLst/>
                  <a:cxnLst>
                    <a:cxn ang="T4">
                      <a:pos x="T0" y="T1"/>
                    </a:cxn>
                    <a:cxn ang="T5">
                      <a:pos x="T2" y="T3"/>
                    </a:cxn>
                  </a:cxnLst>
                  <a:rect l="T6" t="T7" r="T8" b="T9"/>
                  <a:pathLst>
                    <a:path w="1" h="660">
                      <a:moveTo>
                        <a:pt x="0" y="0"/>
                      </a:moveTo>
                      <a:cubicBezTo>
                        <a:pt x="0" y="275"/>
                        <a:pt x="0" y="550"/>
                        <a:pt x="0" y="660"/>
                      </a:cubicBezTo>
                    </a:path>
                  </a:pathLst>
                </a:custGeom>
                <a:noFill/>
                <a:ln w="19050">
                  <a:solidFill>
                    <a:srgbClr val="0000CC"/>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sp>
          <p:nvSpPr>
            <p:cNvPr id="146720" name="Freeform 708"/>
            <p:cNvSpPr/>
            <p:nvPr/>
          </p:nvSpPr>
          <p:spPr bwMode="auto">
            <a:xfrm>
              <a:off x="4200" y="2327"/>
              <a:ext cx="196" cy="27"/>
            </a:xfrm>
            <a:custGeom>
              <a:avLst/>
              <a:gdLst>
                <a:gd name="T0" fmla="*/ 5 w 196"/>
                <a:gd name="T1" fmla="*/ 0 h 65"/>
                <a:gd name="T2" fmla="*/ 14 w 196"/>
                <a:gd name="T3" fmla="*/ 2 h 65"/>
                <a:gd name="T4" fmla="*/ 91 w 196"/>
                <a:gd name="T5" fmla="*/ 2 h 65"/>
                <a:gd name="T6" fmla="*/ 180 w 196"/>
                <a:gd name="T7" fmla="*/ 2 h 65"/>
                <a:gd name="T8" fmla="*/ 185 w 196"/>
                <a:gd name="T9" fmla="*/ 0 h 65"/>
                <a:gd name="T10" fmla="*/ 167 w 196"/>
                <a:gd name="T11" fmla="*/ 1 h 65"/>
                <a:gd name="T12" fmla="*/ 27 w 196"/>
                <a:gd name="T13" fmla="*/ 1 h 65"/>
                <a:gd name="T14" fmla="*/ 5 w 196"/>
                <a:gd name="T15" fmla="*/ 0 h 65"/>
                <a:gd name="T16" fmla="*/ 0 60000 65536"/>
                <a:gd name="T17" fmla="*/ 0 60000 65536"/>
                <a:gd name="T18" fmla="*/ 0 60000 65536"/>
                <a:gd name="T19" fmla="*/ 0 60000 65536"/>
                <a:gd name="T20" fmla="*/ 0 60000 65536"/>
                <a:gd name="T21" fmla="*/ 0 60000 65536"/>
                <a:gd name="T22" fmla="*/ 0 60000 65536"/>
                <a:gd name="T23" fmla="*/ 0 60000 65536"/>
                <a:gd name="T24" fmla="*/ 0 w 196"/>
                <a:gd name="T25" fmla="*/ 0 h 65"/>
                <a:gd name="T26" fmla="*/ 196 w 196"/>
                <a:gd name="T27" fmla="*/ 65 h 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6" h="65">
                  <a:moveTo>
                    <a:pt x="5" y="11"/>
                  </a:moveTo>
                  <a:cubicBezTo>
                    <a:pt x="3" y="16"/>
                    <a:pt x="0" y="44"/>
                    <a:pt x="14" y="53"/>
                  </a:cubicBezTo>
                  <a:cubicBezTo>
                    <a:pt x="28" y="62"/>
                    <a:pt x="63" y="63"/>
                    <a:pt x="91" y="63"/>
                  </a:cubicBezTo>
                  <a:cubicBezTo>
                    <a:pt x="119" y="63"/>
                    <a:pt x="164" y="65"/>
                    <a:pt x="180" y="55"/>
                  </a:cubicBezTo>
                  <a:cubicBezTo>
                    <a:pt x="196" y="45"/>
                    <a:pt x="187" y="10"/>
                    <a:pt x="185" y="5"/>
                  </a:cubicBezTo>
                  <a:cubicBezTo>
                    <a:pt x="183" y="0"/>
                    <a:pt x="193" y="22"/>
                    <a:pt x="167" y="25"/>
                  </a:cubicBezTo>
                  <a:cubicBezTo>
                    <a:pt x="141" y="28"/>
                    <a:pt x="54" y="25"/>
                    <a:pt x="27" y="23"/>
                  </a:cubicBezTo>
                  <a:cubicBezTo>
                    <a:pt x="0" y="21"/>
                    <a:pt x="7" y="6"/>
                    <a:pt x="5" y="11"/>
                  </a:cubicBezTo>
                  <a:close/>
                </a:path>
              </a:pathLst>
            </a:custGeom>
            <a:gradFill rotWithShape="1">
              <a:gsLst>
                <a:gs pos="0">
                  <a:srgbClr val="C0C0C0">
                    <a:alpha val="50000"/>
                  </a:srgbClr>
                </a:gs>
                <a:gs pos="100000">
                  <a:schemeClr val="tx1"/>
                </a:gs>
              </a:gsLst>
              <a:lin ang="54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p>
              <a:endParaRPr lang="zh-CN" altLang="en-US"/>
            </a:p>
          </p:txBody>
        </p:sp>
      </p:grpSp>
      <p:grpSp>
        <p:nvGrpSpPr>
          <p:cNvPr id="146462" name="Group 709"/>
          <p:cNvGrpSpPr/>
          <p:nvPr/>
        </p:nvGrpSpPr>
        <p:grpSpPr bwMode="auto">
          <a:xfrm>
            <a:off x="6761163" y="6146800"/>
            <a:ext cx="1901825" cy="361950"/>
            <a:chOff x="4259" y="3872"/>
            <a:chExt cx="1198" cy="228"/>
          </a:xfrm>
        </p:grpSpPr>
        <p:grpSp>
          <p:nvGrpSpPr>
            <p:cNvPr id="146594" name="Group 710"/>
            <p:cNvGrpSpPr/>
            <p:nvPr/>
          </p:nvGrpSpPr>
          <p:grpSpPr bwMode="auto">
            <a:xfrm>
              <a:off x="4259" y="3948"/>
              <a:ext cx="1139" cy="69"/>
              <a:chOff x="4313" y="4088"/>
              <a:chExt cx="1139" cy="69"/>
            </a:xfrm>
          </p:grpSpPr>
          <p:sp>
            <p:nvSpPr>
              <p:cNvPr id="146601" name="Freeform 711"/>
              <p:cNvSpPr>
                <a:spLocks noChangeAspect="1"/>
              </p:cNvSpPr>
              <p:nvPr/>
            </p:nvSpPr>
            <p:spPr bwMode="auto">
              <a:xfrm>
                <a:off x="4455" y="408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602" name="Freeform 712"/>
              <p:cNvSpPr>
                <a:spLocks noChangeAspect="1"/>
              </p:cNvSpPr>
              <p:nvPr/>
            </p:nvSpPr>
            <p:spPr bwMode="auto">
              <a:xfrm>
                <a:off x="4414" y="408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603" name="Freeform 713"/>
              <p:cNvSpPr>
                <a:spLocks noChangeAspect="1"/>
              </p:cNvSpPr>
              <p:nvPr/>
            </p:nvSpPr>
            <p:spPr bwMode="auto">
              <a:xfrm>
                <a:off x="4597" y="408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604" name="Freeform 714"/>
              <p:cNvSpPr>
                <a:spLocks noChangeAspect="1"/>
              </p:cNvSpPr>
              <p:nvPr/>
            </p:nvSpPr>
            <p:spPr bwMode="auto">
              <a:xfrm>
                <a:off x="4556" y="408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605" name="Freeform 715"/>
              <p:cNvSpPr>
                <a:spLocks noChangeAspect="1"/>
              </p:cNvSpPr>
              <p:nvPr/>
            </p:nvSpPr>
            <p:spPr bwMode="auto">
              <a:xfrm>
                <a:off x="4739" y="408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606" name="Freeform 716"/>
              <p:cNvSpPr>
                <a:spLocks noChangeAspect="1"/>
              </p:cNvSpPr>
              <p:nvPr/>
            </p:nvSpPr>
            <p:spPr bwMode="auto">
              <a:xfrm>
                <a:off x="4881" y="4088"/>
                <a:ext cx="75"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607" name="Freeform 717"/>
              <p:cNvSpPr>
                <a:spLocks noChangeAspect="1"/>
              </p:cNvSpPr>
              <p:nvPr/>
            </p:nvSpPr>
            <p:spPr bwMode="auto">
              <a:xfrm>
                <a:off x="5023" y="408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608" name="Freeform 718"/>
              <p:cNvSpPr>
                <a:spLocks noChangeAspect="1"/>
              </p:cNvSpPr>
              <p:nvPr/>
            </p:nvSpPr>
            <p:spPr bwMode="auto">
              <a:xfrm>
                <a:off x="5165" y="408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609" name="Freeform 719"/>
              <p:cNvSpPr>
                <a:spLocks noChangeAspect="1"/>
              </p:cNvSpPr>
              <p:nvPr/>
            </p:nvSpPr>
            <p:spPr bwMode="auto">
              <a:xfrm>
                <a:off x="5307" y="4088"/>
                <a:ext cx="75"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610" name="Freeform 720"/>
              <p:cNvSpPr>
                <a:spLocks noChangeAspect="1"/>
              </p:cNvSpPr>
              <p:nvPr/>
            </p:nvSpPr>
            <p:spPr bwMode="auto">
              <a:xfrm>
                <a:off x="4313" y="408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611" name="AutoShape 721"/>
              <p:cNvSpPr>
                <a:spLocks noChangeAspect="1" noChangeArrowheads="1"/>
              </p:cNvSpPr>
              <p:nvPr/>
            </p:nvSpPr>
            <p:spPr bwMode="auto">
              <a:xfrm>
                <a:off x="4383" y="4089"/>
                <a:ext cx="5" cy="22"/>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12" name="AutoShape 722"/>
              <p:cNvSpPr>
                <a:spLocks noChangeAspect="1" noChangeArrowheads="1"/>
              </p:cNvSpPr>
              <p:nvPr/>
            </p:nvSpPr>
            <p:spPr bwMode="auto">
              <a:xfrm>
                <a:off x="4383" y="4111"/>
                <a:ext cx="5" cy="22"/>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13" name="AutoShape 723"/>
              <p:cNvSpPr>
                <a:spLocks noChangeAspect="1" noChangeArrowheads="1"/>
              </p:cNvSpPr>
              <p:nvPr/>
            </p:nvSpPr>
            <p:spPr bwMode="auto">
              <a:xfrm>
                <a:off x="4469" y="4097"/>
                <a:ext cx="5" cy="2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14" name="AutoShape 724"/>
              <p:cNvSpPr>
                <a:spLocks noChangeAspect="1" noChangeArrowheads="1"/>
              </p:cNvSpPr>
              <p:nvPr/>
            </p:nvSpPr>
            <p:spPr bwMode="auto">
              <a:xfrm>
                <a:off x="4469" y="4124"/>
                <a:ext cx="5" cy="2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15" name="AutoShape 725"/>
              <p:cNvSpPr>
                <a:spLocks noChangeAspect="1" noChangeArrowheads="1"/>
              </p:cNvSpPr>
              <p:nvPr/>
            </p:nvSpPr>
            <p:spPr bwMode="auto">
              <a:xfrm>
                <a:off x="4399" y="4123"/>
                <a:ext cx="5" cy="28"/>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16" name="AutoShape 726"/>
              <p:cNvSpPr>
                <a:spLocks noChangeAspect="1" noChangeArrowheads="1"/>
              </p:cNvSpPr>
              <p:nvPr/>
            </p:nvSpPr>
            <p:spPr bwMode="auto">
              <a:xfrm>
                <a:off x="4399" y="4095"/>
                <a:ext cx="5" cy="28"/>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17" name="AutoShape 727"/>
              <p:cNvSpPr>
                <a:spLocks noChangeAspect="1" noChangeArrowheads="1"/>
              </p:cNvSpPr>
              <p:nvPr/>
            </p:nvSpPr>
            <p:spPr bwMode="auto">
              <a:xfrm>
                <a:off x="4485" y="4090"/>
                <a:ext cx="4" cy="2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18" name="AutoShape 728"/>
              <p:cNvSpPr>
                <a:spLocks noChangeAspect="1" noChangeArrowheads="1"/>
              </p:cNvSpPr>
              <p:nvPr/>
            </p:nvSpPr>
            <p:spPr bwMode="auto">
              <a:xfrm>
                <a:off x="4485" y="4110"/>
                <a:ext cx="4" cy="20"/>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19" name="AutoShape 729"/>
              <p:cNvSpPr>
                <a:spLocks noChangeAspect="1" noChangeArrowheads="1"/>
              </p:cNvSpPr>
              <p:nvPr/>
            </p:nvSpPr>
            <p:spPr bwMode="auto">
              <a:xfrm>
                <a:off x="4414" y="4135"/>
                <a:ext cx="5" cy="2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20" name="AutoShape 730"/>
              <p:cNvSpPr>
                <a:spLocks noChangeAspect="1" noChangeArrowheads="1"/>
              </p:cNvSpPr>
              <p:nvPr/>
            </p:nvSpPr>
            <p:spPr bwMode="auto">
              <a:xfrm>
                <a:off x="4414" y="4114"/>
                <a:ext cx="5" cy="20"/>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21" name="AutoShape 731"/>
              <p:cNvSpPr>
                <a:spLocks noChangeAspect="1" noChangeArrowheads="1"/>
              </p:cNvSpPr>
              <p:nvPr/>
            </p:nvSpPr>
            <p:spPr bwMode="auto">
              <a:xfrm>
                <a:off x="4453" y="4113"/>
                <a:ext cx="5" cy="22"/>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22" name="AutoShape 732"/>
              <p:cNvSpPr>
                <a:spLocks noChangeAspect="1" noChangeArrowheads="1"/>
              </p:cNvSpPr>
              <p:nvPr/>
            </p:nvSpPr>
            <p:spPr bwMode="auto">
              <a:xfrm>
                <a:off x="4453" y="4134"/>
                <a:ext cx="5" cy="22"/>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23" name="AutoShape 733"/>
              <p:cNvSpPr>
                <a:spLocks noChangeAspect="1" noChangeArrowheads="1"/>
              </p:cNvSpPr>
              <p:nvPr/>
            </p:nvSpPr>
            <p:spPr bwMode="auto">
              <a:xfrm>
                <a:off x="4437" y="4144"/>
                <a:ext cx="5" cy="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24" name="AutoShape 734"/>
              <p:cNvSpPr>
                <a:spLocks noChangeAspect="1" noChangeArrowheads="1"/>
              </p:cNvSpPr>
              <p:nvPr/>
            </p:nvSpPr>
            <p:spPr bwMode="auto">
              <a:xfrm>
                <a:off x="4437" y="4136"/>
                <a:ext cx="5" cy="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25" name="AutoShape 735"/>
              <p:cNvSpPr>
                <a:spLocks noChangeAspect="1" noChangeArrowheads="1"/>
              </p:cNvSpPr>
              <p:nvPr/>
            </p:nvSpPr>
            <p:spPr bwMode="auto">
              <a:xfrm>
                <a:off x="4535" y="4119"/>
                <a:ext cx="5"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26" name="AutoShape 736"/>
              <p:cNvSpPr>
                <a:spLocks noChangeAspect="1" noChangeArrowheads="1"/>
              </p:cNvSpPr>
              <p:nvPr/>
            </p:nvSpPr>
            <p:spPr bwMode="auto">
              <a:xfrm>
                <a:off x="4535" y="4092"/>
                <a:ext cx="5" cy="2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27" name="AutoShape 737"/>
              <p:cNvSpPr>
                <a:spLocks noChangeAspect="1" noChangeArrowheads="1"/>
              </p:cNvSpPr>
              <p:nvPr/>
            </p:nvSpPr>
            <p:spPr bwMode="auto">
              <a:xfrm>
                <a:off x="4552" y="4132"/>
                <a:ext cx="5" cy="2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28" name="AutoShape 738"/>
              <p:cNvSpPr>
                <a:spLocks noChangeAspect="1" noChangeArrowheads="1"/>
              </p:cNvSpPr>
              <p:nvPr/>
            </p:nvSpPr>
            <p:spPr bwMode="auto">
              <a:xfrm>
                <a:off x="4552" y="4109"/>
                <a:ext cx="5" cy="2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29" name="AutoShape 739"/>
              <p:cNvSpPr>
                <a:spLocks noChangeAspect="1" noChangeArrowheads="1"/>
              </p:cNvSpPr>
              <p:nvPr/>
            </p:nvSpPr>
            <p:spPr bwMode="auto">
              <a:xfrm>
                <a:off x="4498" y="4092"/>
                <a:ext cx="5" cy="10"/>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30" name="AutoShape 740"/>
              <p:cNvSpPr>
                <a:spLocks noChangeAspect="1" noChangeArrowheads="1"/>
              </p:cNvSpPr>
              <p:nvPr/>
            </p:nvSpPr>
            <p:spPr bwMode="auto">
              <a:xfrm>
                <a:off x="4498" y="4102"/>
                <a:ext cx="5" cy="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31" name="AutoShape 741"/>
              <p:cNvSpPr>
                <a:spLocks noChangeAspect="1" noChangeArrowheads="1"/>
              </p:cNvSpPr>
              <p:nvPr/>
            </p:nvSpPr>
            <p:spPr bwMode="auto">
              <a:xfrm>
                <a:off x="4519" y="4106"/>
                <a:ext cx="5" cy="1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32" name="AutoShape 742"/>
              <p:cNvSpPr>
                <a:spLocks noChangeAspect="1" noChangeArrowheads="1"/>
              </p:cNvSpPr>
              <p:nvPr/>
            </p:nvSpPr>
            <p:spPr bwMode="auto">
              <a:xfrm>
                <a:off x="4519" y="4090"/>
                <a:ext cx="5" cy="1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33" name="AutoShape 743"/>
              <p:cNvSpPr>
                <a:spLocks noChangeAspect="1" noChangeArrowheads="1"/>
              </p:cNvSpPr>
              <p:nvPr/>
            </p:nvSpPr>
            <p:spPr bwMode="auto">
              <a:xfrm>
                <a:off x="4568" y="4133"/>
                <a:ext cx="5" cy="10"/>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34" name="AutoShape 744"/>
              <p:cNvSpPr>
                <a:spLocks noChangeAspect="1" noChangeArrowheads="1"/>
              </p:cNvSpPr>
              <p:nvPr/>
            </p:nvSpPr>
            <p:spPr bwMode="auto">
              <a:xfrm>
                <a:off x="4568" y="4143"/>
                <a:ext cx="5" cy="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35" name="AutoShape 745"/>
              <p:cNvSpPr>
                <a:spLocks noChangeAspect="1" noChangeArrowheads="1"/>
              </p:cNvSpPr>
              <p:nvPr/>
            </p:nvSpPr>
            <p:spPr bwMode="auto">
              <a:xfrm flipV="1">
                <a:off x="4635" y="4103"/>
                <a:ext cx="5" cy="1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36" name="AutoShape 746"/>
              <p:cNvSpPr>
                <a:spLocks noChangeAspect="1" noChangeArrowheads="1"/>
              </p:cNvSpPr>
              <p:nvPr/>
            </p:nvSpPr>
            <p:spPr bwMode="auto">
              <a:xfrm>
                <a:off x="4621" y="4115"/>
                <a:ext cx="5" cy="25"/>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37" name="AutoShape 747"/>
              <p:cNvSpPr>
                <a:spLocks noChangeAspect="1" noChangeArrowheads="1"/>
              </p:cNvSpPr>
              <p:nvPr/>
            </p:nvSpPr>
            <p:spPr bwMode="auto">
              <a:xfrm>
                <a:off x="4621" y="4090"/>
                <a:ext cx="5" cy="25"/>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38" name="AutoShape 748"/>
              <p:cNvSpPr>
                <a:spLocks noChangeAspect="1" noChangeArrowheads="1"/>
              </p:cNvSpPr>
              <p:nvPr/>
            </p:nvSpPr>
            <p:spPr bwMode="auto">
              <a:xfrm flipV="1">
                <a:off x="4604" y="4100"/>
                <a:ext cx="6"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39" name="AutoShape 749"/>
              <p:cNvSpPr>
                <a:spLocks noChangeAspect="1" noChangeArrowheads="1"/>
              </p:cNvSpPr>
              <p:nvPr/>
            </p:nvSpPr>
            <p:spPr bwMode="auto">
              <a:xfrm flipV="1">
                <a:off x="4604" y="4127"/>
                <a:ext cx="6" cy="26"/>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40" name="AutoShape 750"/>
              <p:cNvSpPr>
                <a:spLocks noChangeAspect="1" noChangeArrowheads="1"/>
              </p:cNvSpPr>
              <p:nvPr/>
            </p:nvSpPr>
            <p:spPr bwMode="auto">
              <a:xfrm>
                <a:off x="4587" y="4141"/>
                <a:ext cx="5" cy="13"/>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41" name="AutoShape 751"/>
              <p:cNvSpPr>
                <a:spLocks noChangeAspect="1" noChangeArrowheads="1"/>
              </p:cNvSpPr>
              <p:nvPr/>
            </p:nvSpPr>
            <p:spPr bwMode="auto">
              <a:xfrm>
                <a:off x="4587" y="4128"/>
                <a:ext cx="5" cy="13"/>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42" name="AutoShape 752"/>
              <p:cNvSpPr>
                <a:spLocks noChangeAspect="1" noChangeArrowheads="1"/>
              </p:cNvSpPr>
              <p:nvPr/>
            </p:nvSpPr>
            <p:spPr bwMode="auto">
              <a:xfrm flipV="1">
                <a:off x="4689" y="4102"/>
                <a:ext cx="6" cy="2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43" name="AutoShape 753"/>
              <p:cNvSpPr>
                <a:spLocks noChangeAspect="1" noChangeArrowheads="1"/>
              </p:cNvSpPr>
              <p:nvPr/>
            </p:nvSpPr>
            <p:spPr bwMode="auto">
              <a:xfrm>
                <a:off x="4672" y="4089"/>
                <a:ext cx="6" cy="26"/>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44" name="AutoShape 754"/>
              <p:cNvSpPr>
                <a:spLocks noChangeAspect="1" noChangeArrowheads="1"/>
              </p:cNvSpPr>
              <p:nvPr/>
            </p:nvSpPr>
            <p:spPr bwMode="auto">
              <a:xfrm>
                <a:off x="4658" y="4090"/>
                <a:ext cx="5" cy="15"/>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45" name="AutoShape 755"/>
              <p:cNvSpPr>
                <a:spLocks noChangeAspect="1" noChangeArrowheads="1"/>
              </p:cNvSpPr>
              <p:nvPr/>
            </p:nvSpPr>
            <p:spPr bwMode="auto">
              <a:xfrm>
                <a:off x="4760" y="4119"/>
                <a:ext cx="4"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46" name="AutoShape 756"/>
              <p:cNvSpPr>
                <a:spLocks noChangeAspect="1" noChangeArrowheads="1"/>
              </p:cNvSpPr>
              <p:nvPr/>
            </p:nvSpPr>
            <p:spPr bwMode="auto">
              <a:xfrm>
                <a:off x="4740" y="4132"/>
                <a:ext cx="6" cy="2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47" name="AutoShape 757"/>
              <p:cNvSpPr>
                <a:spLocks noChangeAspect="1" noChangeArrowheads="1"/>
              </p:cNvSpPr>
              <p:nvPr/>
            </p:nvSpPr>
            <p:spPr bwMode="auto">
              <a:xfrm>
                <a:off x="4704" y="4122"/>
                <a:ext cx="5" cy="16"/>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48" name="AutoShape 758"/>
              <p:cNvSpPr>
                <a:spLocks noChangeAspect="1" noChangeArrowheads="1"/>
              </p:cNvSpPr>
              <p:nvPr/>
            </p:nvSpPr>
            <p:spPr bwMode="auto">
              <a:xfrm flipV="1">
                <a:off x="4726" y="4131"/>
                <a:ext cx="5" cy="1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49" name="AutoShape 759"/>
              <p:cNvSpPr>
                <a:spLocks noChangeAspect="1" noChangeArrowheads="1"/>
              </p:cNvSpPr>
              <p:nvPr/>
            </p:nvSpPr>
            <p:spPr bwMode="auto">
              <a:xfrm flipV="1">
                <a:off x="4726" y="4142"/>
                <a:ext cx="5" cy="10"/>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50" name="AutoShape 760"/>
              <p:cNvSpPr>
                <a:spLocks noChangeAspect="1" noChangeArrowheads="1"/>
              </p:cNvSpPr>
              <p:nvPr/>
            </p:nvSpPr>
            <p:spPr bwMode="auto">
              <a:xfrm>
                <a:off x="4774" y="4106"/>
                <a:ext cx="6" cy="1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51" name="AutoShape 761"/>
              <p:cNvSpPr>
                <a:spLocks noChangeAspect="1" noChangeArrowheads="1"/>
              </p:cNvSpPr>
              <p:nvPr/>
            </p:nvSpPr>
            <p:spPr bwMode="auto">
              <a:xfrm>
                <a:off x="4794" y="4092"/>
                <a:ext cx="5" cy="10"/>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52" name="AutoShape 762"/>
              <p:cNvSpPr>
                <a:spLocks noChangeAspect="1" noChangeArrowheads="1"/>
              </p:cNvSpPr>
              <p:nvPr/>
            </p:nvSpPr>
            <p:spPr bwMode="auto">
              <a:xfrm>
                <a:off x="4826" y="4097"/>
                <a:ext cx="5" cy="2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53" name="AutoShape 763"/>
              <p:cNvSpPr>
                <a:spLocks noChangeAspect="1" noChangeArrowheads="1"/>
              </p:cNvSpPr>
              <p:nvPr/>
            </p:nvSpPr>
            <p:spPr bwMode="auto">
              <a:xfrm>
                <a:off x="4842" y="4117"/>
                <a:ext cx="6" cy="1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54" name="AutoShape 764"/>
              <p:cNvSpPr>
                <a:spLocks noChangeAspect="1" noChangeArrowheads="1"/>
              </p:cNvSpPr>
              <p:nvPr/>
            </p:nvSpPr>
            <p:spPr bwMode="auto">
              <a:xfrm>
                <a:off x="4810" y="4090"/>
                <a:ext cx="5" cy="21"/>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55" name="AutoShape 765"/>
              <p:cNvSpPr>
                <a:spLocks noChangeAspect="1" noChangeArrowheads="1"/>
              </p:cNvSpPr>
              <p:nvPr/>
            </p:nvSpPr>
            <p:spPr bwMode="auto">
              <a:xfrm>
                <a:off x="4951" y="4089"/>
                <a:ext cx="6" cy="22"/>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56" name="AutoShape 766"/>
              <p:cNvSpPr>
                <a:spLocks noChangeAspect="1" noChangeArrowheads="1"/>
              </p:cNvSpPr>
              <p:nvPr/>
            </p:nvSpPr>
            <p:spPr bwMode="auto">
              <a:xfrm>
                <a:off x="5038" y="4121"/>
                <a:ext cx="5" cy="2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57" name="AutoShape 767"/>
              <p:cNvSpPr>
                <a:spLocks noChangeAspect="1" noChangeArrowheads="1"/>
              </p:cNvSpPr>
              <p:nvPr/>
            </p:nvSpPr>
            <p:spPr bwMode="auto">
              <a:xfrm>
                <a:off x="4967" y="4095"/>
                <a:ext cx="5" cy="28"/>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58" name="AutoShape 768"/>
              <p:cNvSpPr>
                <a:spLocks noChangeAspect="1" noChangeArrowheads="1"/>
              </p:cNvSpPr>
              <p:nvPr/>
            </p:nvSpPr>
            <p:spPr bwMode="auto">
              <a:xfrm>
                <a:off x="5054" y="4109"/>
                <a:ext cx="5" cy="19"/>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59" name="AutoShape 769"/>
              <p:cNvSpPr>
                <a:spLocks noChangeAspect="1" noChangeArrowheads="1"/>
              </p:cNvSpPr>
              <p:nvPr/>
            </p:nvSpPr>
            <p:spPr bwMode="auto">
              <a:xfrm>
                <a:off x="4983" y="4114"/>
                <a:ext cx="5" cy="20"/>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60" name="AutoShape 770"/>
              <p:cNvSpPr>
                <a:spLocks noChangeAspect="1" noChangeArrowheads="1"/>
              </p:cNvSpPr>
              <p:nvPr/>
            </p:nvSpPr>
            <p:spPr bwMode="auto">
              <a:xfrm>
                <a:off x="5022" y="4134"/>
                <a:ext cx="5" cy="22"/>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61" name="AutoShape 771"/>
              <p:cNvSpPr>
                <a:spLocks noChangeAspect="1" noChangeArrowheads="1"/>
              </p:cNvSpPr>
              <p:nvPr/>
            </p:nvSpPr>
            <p:spPr bwMode="auto">
              <a:xfrm>
                <a:off x="5006" y="4144"/>
                <a:ext cx="4" cy="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62" name="AutoShape 772"/>
              <p:cNvSpPr>
                <a:spLocks noChangeAspect="1" noChangeArrowheads="1"/>
              </p:cNvSpPr>
              <p:nvPr/>
            </p:nvSpPr>
            <p:spPr bwMode="auto">
              <a:xfrm>
                <a:off x="5006" y="4136"/>
                <a:ext cx="4" cy="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63" name="AutoShape 773"/>
              <p:cNvSpPr>
                <a:spLocks noChangeAspect="1" noChangeArrowheads="1"/>
              </p:cNvSpPr>
              <p:nvPr/>
            </p:nvSpPr>
            <p:spPr bwMode="auto">
              <a:xfrm>
                <a:off x="5104" y="4092"/>
                <a:ext cx="4" cy="2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64" name="AutoShape 774"/>
              <p:cNvSpPr>
                <a:spLocks noChangeAspect="1" noChangeArrowheads="1"/>
              </p:cNvSpPr>
              <p:nvPr/>
            </p:nvSpPr>
            <p:spPr bwMode="auto">
              <a:xfrm>
                <a:off x="5120" y="4109"/>
                <a:ext cx="5" cy="2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65" name="AutoShape 775"/>
              <p:cNvSpPr>
                <a:spLocks noChangeAspect="1" noChangeArrowheads="1"/>
              </p:cNvSpPr>
              <p:nvPr/>
            </p:nvSpPr>
            <p:spPr bwMode="auto">
              <a:xfrm>
                <a:off x="5068" y="4103"/>
                <a:ext cx="5" cy="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66" name="AutoShape 776"/>
              <p:cNvSpPr>
                <a:spLocks noChangeAspect="1" noChangeArrowheads="1"/>
              </p:cNvSpPr>
              <p:nvPr/>
            </p:nvSpPr>
            <p:spPr bwMode="auto">
              <a:xfrm>
                <a:off x="5087" y="4090"/>
                <a:ext cx="5" cy="1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67" name="AutoShape 777"/>
              <p:cNvSpPr>
                <a:spLocks noChangeAspect="1" noChangeArrowheads="1"/>
              </p:cNvSpPr>
              <p:nvPr/>
            </p:nvSpPr>
            <p:spPr bwMode="auto">
              <a:xfrm>
                <a:off x="5136" y="4133"/>
                <a:ext cx="6" cy="10"/>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68" name="AutoShape 778"/>
              <p:cNvSpPr>
                <a:spLocks noChangeAspect="1" noChangeArrowheads="1"/>
              </p:cNvSpPr>
              <p:nvPr/>
            </p:nvSpPr>
            <p:spPr bwMode="auto">
              <a:xfrm>
                <a:off x="5136" y="4143"/>
                <a:ext cx="6" cy="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69" name="AutoShape 779"/>
              <p:cNvSpPr>
                <a:spLocks noChangeAspect="1" noChangeArrowheads="1"/>
              </p:cNvSpPr>
              <p:nvPr/>
            </p:nvSpPr>
            <p:spPr bwMode="auto">
              <a:xfrm flipV="1">
                <a:off x="5203" y="4103"/>
                <a:ext cx="5" cy="1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70" name="AutoShape 780"/>
              <p:cNvSpPr>
                <a:spLocks noChangeAspect="1" noChangeArrowheads="1"/>
              </p:cNvSpPr>
              <p:nvPr/>
            </p:nvSpPr>
            <p:spPr bwMode="auto">
              <a:xfrm>
                <a:off x="5189" y="4115"/>
                <a:ext cx="6" cy="25"/>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71" name="AutoShape 781"/>
              <p:cNvSpPr>
                <a:spLocks noChangeAspect="1" noChangeArrowheads="1"/>
              </p:cNvSpPr>
              <p:nvPr/>
            </p:nvSpPr>
            <p:spPr bwMode="auto">
              <a:xfrm flipV="1">
                <a:off x="5173" y="4127"/>
                <a:ext cx="5" cy="26"/>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72" name="AutoShape 782"/>
              <p:cNvSpPr>
                <a:spLocks noChangeAspect="1" noChangeArrowheads="1"/>
              </p:cNvSpPr>
              <p:nvPr/>
            </p:nvSpPr>
            <p:spPr bwMode="auto">
              <a:xfrm>
                <a:off x="5157" y="4141"/>
                <a:ext cx="4" cy="13"/>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73" name="AutoShape 783"/>
              <p:cNvSpPr>
                <a:spLocks noChangeAspect="1" noChangeArrowheads="1"/>
              </p:cNvSpPr>
              <p:nvPr/>
            </p:nvSpPr>
            <p:spPr bwMode="auto">
              <a:xfrm>
                <a:off x="5157" y="4128"/>
                <a:ext cx="4" cy="13"/>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74" name="AutoShape 784"/>
              <p:cNvSpPr>
                <a:spLocks noChangeAspect="1" noChangeArrowheads="1"/>
              </p:cNvSpPr>
              <p:nvPr/>
            </p:nvSpPr>
            <p:spPr bwMode="auto">
              <a:xfrm flipV="1">
                <a:off x="5258" y="4102"/>
                <a:ext cx="5" cy="2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75" name="AutoShape 785"/>
              <p:cNvSpPr>
                <a:spLocks noChangeAspect="1" noChangeArrowheads="1"/>
              </p:cNvSpPr>
              <p:nvPr/>
            </p:nvSpPr>
            <p:spPr bwMode="auto">
              <a:xfrm>
                <a:off x="5240" y="4089"/>
                <a:ext cx="6" cy="26"/>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76" name="AutoShape 786"/>
              <p:cNvSpPr>
                <a:spLocks noChangeAspect="1" noChangeArrowheads="1"/>
              </p:cNvSpPr>
              <p:nvPr/>
            </p:nvSpPr>
            <p:spPr bwMode="auto">
              <a:xfrm>
                <a:off x="5226" y="4090"/>
                <a:ext cx="6" cy="15"/>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77" name="AutoShape 787"/>
              <p:cNvSpPr>
                <a:spLocks noChangeAspect="1" noChangeArrowheads="1"/>
              </p:cNvSpPr>
              <p:nvPr/>
            </p:nvSpPr>
            <p:spPr bwMode="auto">
              <a:xfrm>
                <a:off x="5327" y="4119"/>
                <a:ext cx="5"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78" name="AutoShape 788"/>
              <p:cNvSpPr>
                <a:spLocks noChangeAspect="1" noChangeArrowheads="1"/>
              </p:cNvSpPr>
              <p:nvPr/>
            </p:nvSpPr>
            <p:spPr bwMode="auto">
              <a:xfrm>
                <a:off x="5309" y="4132"/>
                <a:ext cx="5" cy="2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79" name="AutoShape 789"/>
              <p:cNvSpPr>
                <a:spLocks noChangeAspect="1" noChangeArrowheads="1"/>
              </p:cNvSpPr>
              <p:nvPr/>
            </p:nvSpPr>
            <p:spPr bwMode="auto">
              <a:xfrm>
                <a:off x="5272" y="4122"/>
                <a:ext cx="5" cy="16"/>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80" name="AutoShape 790"/>
              <p:cNvSpPr>
                <a:spLocks noChangeAspect="1" noChangeArrowheads="1"/>
              </p:cNvSpPr>
              <p:nvPr/>
            </p:nvSpPr>
            <p:spPr bwMode="auto">
              <a:xfrm flipV="1">
                <a:off x="5293" y="4131"/>
                <a:ext cx="6" cy="1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81" name="AutoShape 791"/>
              <p:cNvSpPr>
                <a:spLocks noChangeAspect="1" noChangeArrowheads="1"/>
              </p:cNvSpPr>
              <p:nvPr/>
            </p:nvSpPr>
            <p:spPr bwMode="auto">
              <a:xfrm flipV="1">
                <a:off x="5293" y="4142"/>
                <a:ext cx="6" cy="10"/>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82" name="AutoShape 792"/>
              <p:cNvSpPr>
                <a:spLocks noChangeAspect="1" noChangeArrowheads="1"/>
              </p:cNvSpPr>
              <p:nvPr/>
            </p:nvSpPr>
            <p:spPr bwMode="auto">
              <a:xfrm>
                <a:off x="5343" y="4106"/>
                <a:ext cx="5" cy="1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83" name="AutoShape 793"/>
              <p:cNvSpPr>
                <a:spLocks noChangeAspect="1" noChangeArrowheads="1"/>
              </p:cNvSpPr>
              <p:nvPr/>
            </p:nvSpPr>
            <p:spPr bwMode="auto">
              <a:xfrm>
                <a:off x="5362" y="4092"/>
                <a:ext cx="5" cy="10"/>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84" name="AutoShape 794"/>
              <p:cNvSpPr>
                <a:spLocks noChangeAspect="1" noChangeArrowheads="1"/>
              </p:cNvSpPr>
              <p:nvPr/>
            </p:nvSpPr>
            <p:spPr bwMode="auto">
              <a:xfrm>
                <a:off x="5394" y="4097"/>
                <a:ext cx="5" cy="2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85" name="AutoShape 795"/>
              <p:cNvSpPr>
                <a:spLocks noChangeAspect="1" noChangeArrowheads="1"/>
              </p:cNvSpPr>
              <p:nvPr/>
            </p:nvSpPr>
            <p:spPr bwMode="auto">
              <a:xfrm>
                <a:off x="5411" y="4117"/>
                <a:ext cx="5" cy="1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86" name="AutoShape 796"/>
              <p:cNvSpPr>
                <a:spLocks noChangeAspect="1" noChangeArrowheads="1"/>
              </p:cNvSpPr>
              <p:nvPr/>
            </p:nvSpPr>
            <p:spPr bwMode="auto">
              <a:xfrm>
                <a:off x="5378" y="4090"/>
                <a:ext cx="5" cy="21"/>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87" name="AutoShape 797"/>
              <p:cNvSpPr>
                <a:spLocks noChangeAspect="1" noChangeArrowheads="1"/>
              </p:cNvSpPr>
              <p:nvPr/>
            </p:nvSpPr>
            <p:spPr bwMode="auto">
              <a:xfrm>
                <a:off x="4897" y="4121"/>
                <a:ext cx="5" cy="2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88" name="AutoShape 798"/>
              <p:cNvSpPr>
                <a:spLocks noChangeAspect="1" noChangeArrowheads="1"/>
              </p:cNvSpPr>
              <p:nvPr/>
            </p:nvSpPr>
            <p:spPr bwMode="auto">
              <a:xfrm>
                <a:off x="4913" y="4109"/>
                <a:ext cx="4" cy="19"/>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89" name="AutoShape 799"/>
              <p:cNvSpPr>
                <a:spLocks noChangeAspect="1" noChangeArrowheads="1"/>
              </p:cNvSpPr>
              <p:nvPr/>
            </p:nvSpPr>
            <p:spPr bwMode="auto">
              <a:xfrm>
                <a:off x="4880" y="4134"/>
                <a:ext cx="5" cy="22"/>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90" name="AutoShape 800"/>
              <p:cNvSpPr>
                <a:spLocks noChangeAspect="1" noChangeArrowheads="1"/>
              </p:cNvSpPr>
              <p:nvPr/>
            </p:nvSpPr>
            <p:spPr bwMode="auto">
              <a:xfrm>
                <a:off x="4863" y="4143"/>
                <a:ext cx="5" cy="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91" name="AutoShape 801"/>
              <p:cNvSpPr>
                <a:spLocks noChangeAspect="1" noChangeArrowheads="1"/>
              </p:cNvSpPr>
              <p:nvPr/>
            </p:nvSpPr>
            <p:spPr bwMode="auto">
              <a:xfrm>
                <a:off x="4863" y="4135"/>
                <a:ext cx="5" cy="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92" name="AutoShape 802"/>
              <p:cNvSpPr>
                <a:spLocks noChangeAspect="1" noChangeArrowheads="1"/>
              </p:cNvSpPr>
              <p:nvPr/>
            </p:nvSpPr>
            <p:spPr bwMode="auto">
              <a:xfrm flipV="1">
                <a:off x="4925" y="4102"/>
                <a:ext cx="5" cy="9"/>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693" name="Freeform 803"/>
              <p:cNvSpPr>
                <a:spLocks noChangeAspect="1"/>
              </p:cNvSpPr>
              <p:nvPr/>
            </p:nvSpPr>
            <p:spPr bwMode="auto">
              <a:xfrm flipH="1">
                <a:off x="5378" y="408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694" name="Freeform 804"/>
              <p:cNvSpPr>
                <a:spLocks noChangeAspect="1"/>
              </p:cNvSpPr>
              <p:nvPr/>
            </p:nvSpPr>
            <p:spPr bwMode="auto">
              <a:xfrm flipH="1">
                <a:off x="5236" y="408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695" name="Freeform 805"/>
              <p:cNvSpPr>
                <a:spLocks noChangeAspect="1"/>
              </p:cNvSpPr>
              <p:nvPr/>
            </p:nvSpPr>
            <p:spPr bwMode="auto">
              <a:xfrm flipH="1">
                <a:off x="5094" y="4088"/>
                <a:ext cx="75"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696" name="Freeform 806"/>
              <p:cNvSpPr>
                <a:spLocks noChangeAspect="1"/>
              </p:cNvSpPr>
              <p:nvPr/>
            </p:nvSpPr>
            <p:spPr bwMode="auto">
              <a:xfrm flipH="1">
                <a:off x="4953" y="408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697" name="Freeform 807"/>
              <p:cNvSpPr>
                <a:spLocks noChangeAspect="1"/>
              </p:cNvSpPr>
              <p:nvPr/>
            </p:nvSpPr>
            <p:spPr bwMode="auto">
              <a:xfrm flipH="1">
                <a:off x="4810" y="408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698" name="Freeform 808"/>
              <p:cNvSpPr>
                <a:spLocks noChangeAspect="1"/>
              </p:cNvSpPr>
              <p:nvPr/>
            </p:nvSpPr>
            <p:spPr bwMode="auto">
              <a:xfrm flipH="1">
                <a:off x="4667" y="4088"/>
                <a:ext cx="75"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699" name="Freeform 809"/>
              <p:cNvSpPr>
                <a:spLocks noChangeAspect="1"/>
              </p:cNvSpPr>
              <p:nvPr/>
            </p:nvSpPr>
            <p:spPr bwMode="auto">
              <a:xfrm flipH="1">
                <a:off x="4526" y="408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700" name="Freeform 810"/>
              <p:cNvSpPr>
                <a:spLocks noChangeAspect="1"/>
              </p:cNvSpPr>
              <p:nvPr/>
            </p:nvSpPr>
            <p:spPr bwMode="auto">
              <a:xfrm flipH="1">
                <a:off x="4485" y="408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701" name="Freeform 811"/>
              <p:cNvSpPr>
                <a:spLocks noChangeAspect="1"/>
              </p:cNvSpPr>
              <p:nvPr/>
            </p:nvSpPr>
            <p:spPr bwMode="auto">
              <a:xfrm flipH="1">
                <a:off x="4384" y="408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702" name="Freeform 812"/>
              <p:cNvSpPr>
                <a:spLocks noChangeAspect="1"/>
              </p:cNvSpPr>
              <p:nvPr/>
            </p:nvSpPr>
            <p:spPr bwMode="auto">
              <a:xfrm flipH="1">
                <a:off x="4343" y="408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146595" name="AutoShape 813"/>
            <p:cNvSpPr>
              <a:spLocks noChangeArrowheads="1"/>
            </p:cNvSpPr>
            <p:nvPr/>
          </p:nvSpPr>
          <p:spPr bwMode="auto">
            <a:xfrm>
              <a:off x="4384" y="3872"/>
              <a:ext cx="220" cy="228"/>
            </a:xfrm>
            <a:prstGeom prst="roundRect">
              <a:avLst>
                <a:gd name="adj" fmla="val 16667"/>
              </a:avLst>
            </a:prstGeom>
            <a:gradFill rotWithShape="1">
              <a:gsLst>
                <a:gs pos="0">
                  <a:srgbClr val="2F7618">
                    <a:alpha val="70000"/>
                  </a:srgbClr>
                </a:gs>
                <a:gs pos="50000">
                  <a:srgbClr val="66FF33">
                    <a:alpha val="70000"/>
                  </a:srgbClr>
                </a:gs>
                <a:gs pos="100000">
                  <a:srgbClr val="2F7618">
                    <a:alpha val="70000"/>
                  </a:srgbClr>
                </a:gs>
              </a:gsLst>
              <a:lin ang="5400000" scaled="1"/>
            </a:gradFill>
            <a:ln w="3175" algn="ctr">
              <a:solidFill>
                <a:srgbClr val="66FF33"/>
              </a:solidFill>
              <a:rou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kumimoji="0" lang="en-US" altLang="zh-CN" sz="600" b="1">
                  <a:latin typeface="Arial" panose="020B0604020202020204" pitchFamily="34" charset="0"/>
                </a:rPr>
                <a:t>Klenow</a:t>
              </a:r>
            </a:p>
            <a:p>
              <a:pPr algn="ctr" eaLnBrk="1" hangingPunct="1">
                <a:spcBef>
                  <a:spcPct val="0"/>
                </a:spcBef>
                <a:buFontTx/>
                <a:buNone/>
              </a:pPr>
              <a:r>
                <a:rPr kumimoji="0" lang="en-US" altLang="zh-CN" sz="600" b="1">
                  <a:latin typeface="Arial" panose="020B0604020202020204" pitchFamily="34" charset="0"/>
                </a:rPr>
                <a:t/>
              </a:r>
              <a:br>
                <a:rPr kumimoji="0" lang="en-US" altLang="zh-CN" sz="600" b="1">
                  <a:latin typeface="Arial" panose="020B0604020202020204" pitchFamily="34" charset="0"/>
                </a:rPr>
              </a:br>
              <a:r>
                <a:rPr kumimoji="0" lang="en-US" altLang="zh-CN" sz="600" b="1">
                  <a:latin typeface="Arial" panose="020B0604020202020204" pitchFamily="34" charset="0"/>
                </a:rPr>
                <a:t>Fragment</a:t>
              </a:r>
            </a:p>
          </p:txBody>
        </p:sp>
        <p:sp>
          <p:nvSpPr>
            <p:cNvPr id="146596" name="Line 814"/>
            <p:cNvSpPr>
              <a:spLocks noChangeShapeType="1"/>
            </p:cNvSpPr>
            <p:nvPr/>
          </p:nvSpPr>
          <p:spPr bwMode="auto">
            <a:xfrm>
              <a:off x="4624" y="4062"/>
              <a:ext cx="248" cy="0"/>
            </a:xfrm>
            <a:prstGeom prst="line">
              <a:avLst/>
            </a:prstGeom>
            <a:noFill/>
            <a:ln w="28575">
              <a:solidFill>
                <a:srgbClr val="0099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6543" name="AutoShape 815"/>
            <p:cNvSpPr>
              <a:spLocks noChangeAspect="1" noChangeArrowheads="1"/>
            </p:cNvSpPr>
            <p:nvPr/>
          </p:nvSpPr>
          <p:spPr bwMode="auto">
            <a:xfrm>
              <a:off x="4275" y="4002"/>
              <a:ext cx="6" cy="6"/>
            </a:xfrm>
            <a:prstGeom prst="star5">
              <a:avLst/>
            </a:prstGeom>
            <a:noFill/>
            <a:ln w="28575" algn="ctr">
              <a:solidFill>
                <a:srgbClr val="FF0000"/>
              </a:solidFill>
              <a:miter lim="800000"/>
            </a:ln>
            <a:effectLst/>
          </p:spPr>
          <p:txBody>
            <a:bodyPr wrap="none" anchor="ctr"/>
            <a:lstStyle/>
            <a:p>
              <a:pPr eaLnBrk="1" hangingPunct="1">
                <a:defRPr/>
              </a:pPr>
              <a:endParaRPr lang="zh-CN" altLang="en-US">
                <a:ea typeface="宋体" panose="02010600030101010101" pitchFamily="2" charset="-122"/>
              </a:endParaRPr>
            </a:p>
          </p:txBody>
        </p:sp>
        <p:grpSp>
          <p:nvGrpSpPr>
            <p:cNvPr id="146598" name="Group 816"/>
            <p:cNvGrpSpPr>
              <a:grpSpLocks noChangeAspect="1"/>
            </p:cNvGrpSpPr>
            <p:nvPr/>
          </p:nvGrpSpPr>
          <p:grpSpPr bwMode="auto">
            <a:xfrm>
              <a:off x="5403" y="3985"/>
              <a:ext cx="54" cy="71"/>
              <a:chOff x="3743" y="2439"/>
              <a:chExt cx="164" cy="216"/>
            </a:xfrm>
          </p:grpSpPr>
          <p:sp>
            <p:nvSpPr>
              <p:cNvPr id="146599" name="Freeform 817"/>
              <p:cNvSpPr>
                <a:spLocks noChangeAspect="1"/>
              </p:cNvSpPr>
              <p:nvPr/>
            </p:nvSpPr>
            <p:spPr bwMode="auto">
              <a:xfrm>
                <a:off x="3743" y="2465"/>
                <a:ext cx="117" cy="190"/>
              </a:xfrm>
              <a:custGeom>
                <a:avLst/>
                <a:gdLst>
                  <a:gd name="T0" fmla="*/ 3 w 387"/>
                  <a:gd name="T1" fmla="*/ 0 h 625"/>
                  <a:gd name="T2" fmla="*/ 1 w 387"/>
                  <a:gd name="T3" fmla="*/ 0 h 625"/>
                  <a:gd name="T4" fmla="*/ 0 w 387"/>
                  <a:gd name="T5" fmla="*/ 2 h 625"/>
                  <a:gd name="T6" fmla="*/ 1 w 387"/>
                  <a:gd name="T7" fmla="*/ 2 h 625"/>
                  <a:gd name="T8" fmla="*/ 2 w 387"/>
                  <a:gd name="T9" fmla="*/ 2 h 625"/>
                  <a:gd name="T10" fmla="*/ 3 w 387"/>
                  <a:gd name="T11" fmla="*/ 2 h 625"/>
                  <a:gd name="T12" fmla="*/ 3 w 387"/>
                  <a:gd name="T13" fmla="*/ 4 h 625"/>
                  <a:gd name="T14" fmla="*/ 3 w 387"/>
                  <a:gd name="T15" fmla="*/ 5 h 625"/>
                  <a:gd name="T16" fmla="*/ 2 w 387"/>
                  <a:gd name="T17" fmla="*/ 5 h 625"/>
                  <a:gd name="T18" fmla="*/ 1 w 387"/>
                  <a:gd name="T19" fmla="*/ 5 h 625"/>
                  <a:gd name="T20" fmla="*/ 0 w 387"/>
                  <a:gd name="T21" fmla="*/ 4 h 62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87"/>
                  <a:gd name="T34" fmla="*/ 0 h 625"/>
                  <a:gd name="T35" fmla="*/ 387 w 387"/>
                  <a:gd name="T36" fmla="*/ 625 h 62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87" h="625">
                    <a:moveTo>
                      <a:pt x="387" y="7"/>
                    </a:moveTo>
                    <a:lnTo>
                      <a:pt x="86" y="0"/>
                    </a:lnTo>
                    <a:lnTo>
                      <a:pt x="28" y="295"/>
                    </a:lnTo>
                    <a:cubicBezTo>
                      <a:pt x="31" y="337"/>
                      <a:pt x="71" y="261"/>
                      <a:pt x="105" y="250"/>
                    </a:cubicBezTo>
                    <a:cubicBezTo>
                      <a:pt x="139" y="239"/>
                      <a:pt x="194" y="225"/>
                      <a:pt x="233" y="231"/>
                    </a:cubicBezTo>
                    <a:cubicBezTo>
                      <a:pt x="272" y="237"/>
                      <a:pt x="315" y="255"/>
                      <a:pt x="340" y="288"/>
                    </a:cubicBezTo>
                    <a:cubicBezTo>
                      <a:pt x="365" y="321"/>
                      <a:pt x="382" y="385"/>
                      <a:pt x="380" y="429"/>
                    </a:cubicBezTo>
                    <a:cubicBezTo>
                      <a:pt x="378" y="473"/>
                      <a:pt x="358" y="519"/>
                      <a:pt x="327" y="551"/>
                    </a:cubicBezTo>
                    <a:cubicBezTo>
                      <a:pt x="296" y="583"/>
                      <a:pt x="237" y="617"/>
                      <a:pt x="192" y="621"/>
                    </a:cubicBezTo>
                    <a:cubicBezTo>
                      <a:pt x="147" y="625"/>
                      <a:pt x="90" y="600"/>
                      <a:pt x="58" y="576"/>
                    </a:cubicBezTo>
                    <a:cubicBezTo>
                      <a:pt x="26" y="552"/>
                      <a:pt x="12" y="495"/>
                      <a:pt x="0" y="474"/>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6600" name="AutoShape 818"/>
              <p:cNvSpPr>
                <a:spLocks noChangeAspect="1" noChangeArrowheads="1"/>
              </p:cNvSpPr>
              <p:nvPr/>
            </p:nvSpPr>
            <p:spPr bwMode="auto">
              <a:xfrm flipV="1">
                <a:off x="3889" y="2439"/>
                <a:ext cx="18" cy="51"/>
              </a:xfrm>
              <a:prstGeom prst="triangle">
                <a:avLst>
                  <a:gd name="adj" fmla="val 50000"/>
                </a:avLst>
              </a:prstGeom>
              <a:solidFill>
                <a:schemeClr val="tx1"/>
              </a:solidFill>
              <a:ln w="6350">
                <a:solidFill>
                  <a:schemeClr val="tx1"/>
                </a:solidFill>
                <a:miter lim="800000"/>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grpSp>
        <p:nvGrpSpPr>
          <p:cNvPr id="146463" name="Group 819"/>
          <p:cNvGrpSpPr/>
          <p:nvPr/>
        </p:nvGrpSpPr>
        <p:grpSpPr bwMode="auto">
          <a:xfrm>
            <a:off x="6634163" y="5748338"/>
            <a:ext cx="1909762" cy="361950"/>
            <a:chOff x="4179" y="3621"/>
            <a:chExt cx="1203" cy="228"/>
          </a:xfrm>
        </p:grpSpPr>
        <p:grpSp>
          <p:nvGrpSpPr>
            <p:cNvPr id="146464" name="Group 820"/>
            <p:cNvGrpSpPr/>
            <p:nvPr/>
          </p:nvGrpSpPr>
          <p:grpSpPr bwMode="auto">
            <a:xfrm>
              <a:off x="4243" y="3702"/>
              <a:ext cx="1139" cy="69"/>
              <a:chOff x="4320" y="3443"/>
              <a:chExt cx="1139" cy="69"/>
            </a:xfrm>
          </p:grpSpPr>
          <p:sp>
            <p:nvSpPr>
              <p:cNvPr id="146473" name="Freeform 821"/>
              <p:cNvSpPr>
                <a:spLocks noChangeAspect="1"/>
              </p:cNvSpPr>
              <p:nvPr/>
            </p:nvSpPr>
            <p:spPr bwMode="auto">
              <a:xfrm>
                <a:off x="4391" y="344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474" name="Freeform 822"/>
              <p:cNvSpPr>
                <a:spLocks noChangeAspect="1"/>
              </p:cNvSpPr>
              <p:nvPr/>
            </p:nvSpPr>
            <p:spPr bwMode="auto">
              <a:xfrm>
                <a:off x="4533" y="344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475" name="Freeform 823"/>
              <p:cNvSpPr>
                <a:spLocks noChangeAspect="1"/>
              </p:cNvSpPr>
              <p:nvPr/>
            </p:nvSpPr>
            <p:spPr bwMode="auto">
              <a:xfrm>
                <a:off x="4675" y="344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476" name="Freeform 824"/>
              <p:cNvSpPr>
                <a:spLocks noChangeAspect="1"/>
              </p:cNvSpPr>
              <p:nvPr/>
            </p:nvSpPr>
            <p:spPr bwMode="auto">
              <a:xfrm>
                <a:off x="4858" y="3443"/>
                <a:ext cx="75"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477" name="Freeform 825"/>
              <p:cNvSpPr>
                <a:spLocks noChangeAspect="1"/>
              </p:cNvSpPr>
              <p:nvPr/>
            </p:nvSpPr>
            <p:spPr bwMode="auto">
              <a:xfrm>
                <a:off x="4816" y="3443"/>
                <a:ext cx="75"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478" name="Freeform 826"/>
              <p:cNvSpPr>
                <a:spLocks noChangeAspect="1"/>
              </p:cNvSpPr>
              <p:nvPr/>
            </p:nvSpPr>
            <p:spPr bwMode="auto">
              <a:xfrm>
                <a:off x="5000" y="344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479" name="Freeform 827"/>
              <p:cNvSpPr>
                <a:spLocks noChangeAspect="1"/>
              </p:cNvSpPr>
              <p:nvPr/>
            </p:nvSpPr>
            <p:spPr bwMode="auto">
              <a:xfrm>
                <a:off x="4959" y="344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480" name="Freeform 828"/>
              <p:cNvSpPr>
                <a:spLocks noChangeAspect="1"/>
              </p:cNvSpPr>
              <p:nvPr/>
            </p:nvSpPr>
            <p:spPr bwMode="auto">
              <a:xfrm>
                <a:off x="5142" y="344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481" name="Freeform 829"/>
              <p:cNvSpPr>
                <a:spLocks noChangeAspect="1"/>
              </p:cNvSpPr>
              <p:nvPr/>
            </p:nvSpPr>
            <p:spPr bwMode="auto">
              <a:xfrm>
                <a:off x="5101" y="344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482" name="Freeform 830"/>
              <p:cNvSpPr>
                <a:spLocks noChangeAspect="1"/>
              </p:cNvSpPr>
              <p:nvPr/>
            </p:nvSpPr>
            <p:spPr bwMode="auto">
              <a:xfrm>
                <a:off x="5284" y="3443"/>
                <a:ext cx="75"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483" name="Freeform 831"/>
              <p:cNvSpPr>
                <a:spLocks noChangeAspect="1"/>
              </p:cNvSpPr>
              <p:nvPr/>
            </p:nvSpPr>
            <p:spPr bwMode="auto">
              <a:xfrm>
                <a:off x="5243" y="344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484" name="AutoShape 832"/>
              <p:cNvSpPr>
                <a:spLocks noChangeAspect="1" noChangeArrowheads="1"/>
              </p:cNvSpPr>
              <p:nvPr/>
            </p:nvSpPr>
            <p:spPr bwMode="auto">
              <a:xfrm>
                <a:off x="4360" y="3466"/>
                <a:ext cx="5" cy="22"/>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485" name="AutoShape 833"/>
              <p:cNvSpPr>
                <a:spLocks noChangeAspect="1" noChangeArrowheads="1"/>
              </p:cNvSpPr>
              <p:nvPr/>
            </p:nvSpPr>
            <p:spPr bwMode="auto">
              <a:xfrm>
                <a:off x="4446" y="3452"/>
                <a:ext cx="5" cy="2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486" name="AutoShape 834"/>
              <p:cNvSpPr>
                <a:spLocks noChangeAspect="1" noChangeArrowheads="1"/>
              </p:cNvSpPr>
              <p:nvPr/>
            </p:nvSpPr>
            <p:spPr bwMode="auto">
              <a:xfrm>
                <a:off x="4376" y="3478"/>
                <a:ext cx="5" cy="28"/>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487" name="AutoShape 835"/>
              <p:cNvSpPr>
                <a:spLocks noChangeAspect="1" noChangeArrowheads="1"/>
              </p:cNvSpPr>
              <p:nvPr/>
            </p:nvSpPr>
            <p:spPr bwMode="auto">
              <a:xfrm>
                <a:off x="4462" y="3445"/>
                <a:ext cx="4" cy="2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488" name="AutoShape 836"/>
              <p:cNvSpPr>
                <a:spLocks noChangeAspect="1" noChangeArrowheads="1"/>
              </p:cNvSpPr>
              <p:nvPr/>
            </p:nvSpPr>
            <p:spPr bwMode="auto">
              <a:xfrm>
                <a:off x="4391" y="3490"/>
                <a:ext cx="5" cy="2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489" name="AutoShape 837"/>
              <p:cNvSpPr>
                <a:spLocks noChangeAspect="1" noChangeArrowheads="1"/>
              </p:cNvSpPr>
              <p:nvPr/>
            </p:nvSpPr>
            <p:spPr bwMode="auto">
              <a:xfrm>
                <a:off x="4430" y="3468"/>
                <a:ext cx="5" cy="22"/>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490" name="AutoShape 838"/>
              <p:cNvSpPr>
                <a:spLocks noChangeAspect="1" noChangeArrowheads="1"/>
              </p:cNvSpPr>
              <p:nvPr/>
            </p:nvSpPr>
            <p:spPr bwMode="auto">
              <a:xfrm>
                <a:off x="4414" y="3499"/>
                <a:ext cx="5" cy="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491" name="AutoShape 839"/>
              <p:cNvSpPr>
                <a:spLocks noChangeAspect="1" noChangeArrowheads="1"/>
              </p:cNvSpPr>
              <p:nvPr/>
            </p:nvSpPr>
            <p:spPr bwMode="auto">
              <a:xfrm>
                <a:off x="4414" y="3491"/>
                <a:ext cx="5" cy="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492" name="AutoShape 840"/>
              <p:cNvSpPr>
                <a:spLocks noChangeAspect="1" noChangeArrowheads="1"/>
              </p:cNvSpPr>
              <p:nvPr/>
            </p:nvSpPr>
            <p:spPr bwMode="auto">
              <a:xfrm>
                <a:off x="4512" y="3474"/>
                <a:ext cx="5"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493" name="AutoShape 841"/>
              <p:cNvSpPr>
                <a:spLocks noChangeAspect="1" noChangeArrowheads="1"/>
              </p:cNvSpPr>
              <p:nvPr/>
            </p:nvSpPr>
            <p:spPr bwMode="auto">
              <a:xfrm>
                <a:off x="4529" y="3487"/>
                <a:ext cx="5" cy="2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494" name="AutoShape 842"/>
              <p:cNvSpPr>
                <a:spLocks noChangeAspect="1" noChangeArrowheads="1"/>
              </p:cNvSpPr>
              <p:nvPr/>
            </p:nvSpPr>
            <p:spPr bwMode="auto">
              <a:xfrm>
                <a:off x="4475" y="3447"/>
                <a:ext cx="5" cy="10"/>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495" name="AutoShape 843"/>
              <p:cNvSpPr>
                <a:spLocks noChangeAspect="1" noChangeArrowheads="1"/>
              </p:cNvSpPr>
              <p:nvPr/>
            </p:nvSpPr>
            <p:spPr bwMode="auto">
              <a:xfrm>
                <a:off x="4475" y="3457"/>
                <a:ext cx="5" cy="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496" name="AutoShape 844"/>
              <p:cNvSpPr>
                <a:spLocks noChangeAspect="1" noChangeArrowheads="1"/>
              </p:cNvSpPr>
              <p:nvPr/>
            </p:nvSpPr>
            <p:spPr bwMode="auto">
              <a:xfrm>
                <a:off x="4496" y="3461"/>
                <a:ext cx="5" cy="1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497" name="AutoShape 845"/>
              <p:cNvSpPr>
                <a:spLocks noChangeAspect="1" noChangeArrowheads="1"/>
              </p:cNvSpPr>
              <p:nvPr/>
            </p:nvSpPr>
            <p:spPr bwMode="auto">
              <a:xfrm>
                <a:off x="4545" y="3498"/>
                <a:ext cx="5" cy="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498" name="AutoShape 846"/>
              <p:cNvSpPr>
                <a:spLocks noChangeAspect="1" noChangeArrowheads="1"/>
              </p:cNvSpPr>
              <p:nvPr/>
            </p:nvSpPr>
            <p:spPr bwMode="auto">
              <a:xfrm flipV="1">
                <a:off x="4612" y="3445"/>
                <a:ext cx="5" cy="1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499" name="AutoShape 847"/>
              <p:cNvSpPr>
                <a:spLocks noChangeAspect="1" noChangeArrowheads="1"/>
              </p:cNvSpPr>
              <p:nvPr/>
            </p:nvSpPr>
            <p:spPr bwMode="auto">
              <a:xfrm>
                <a:off x="4598" y="3445"/>
                <a:ext cx="5" cy="25"/>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00" name="AutoShape 848"/>
              <p:cNvSpPr>
                <a:spLocks noChangeAspect="1" noChangeArrowheads="1"/>
              </p:cNvSpPr>
              <p:nvPr/>
            </p:nvSpPr>
            <p:spPr bwMode="auto">
              <a:xfrm flipV="1">
                <a:off x="4581" y="3455"/>
                <a:ext cx="6"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01" name="AutoShape 849"/>
              <p:cNvSpPr>
                <a:spLocks noChangeAspect="1" noChangeArrowheads="1"/>
              </p:cNvSpPr>
              <p:nvPr/>
            </p:nvSpPr>
            <p:spPr bwMode="auto">
              <a:xfrm>
                <a:off x="4564" y="3483"/>
                <a:ext cx="5" cy="13"/>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02" name="AutoShape 850"/>
              <p:cNvSpPr>
                <a:spLocks noChangeAspect="1" noChangeArrowheads="1"/>
              </p:cNvSpPr>
              <p:nvPr/>
            </p:nvSpPr>
            <p:spPr bwMode="auto">
              <a:xfrm flipV="1">
                <a:off x="4666" y="3483"/>
                <a:ext cx="6"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03" name="AutoShape 851"/>
              <p:cNvSpPr>
                <a:spLocks noChangeAspect="1" noChangeArrowheads="1"/>
              </p:cNvSpPr>
              <p:nvPr/>
            </p:nvSpPr>
            <p:spPr bwMode="auto">
              <a:xfrm>
                <a:off x="4649" y="3470"/>
                <a:ext cx="6" cy="26"/>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04" name="AutoShape 852"/>
              <p:cNvSpPr>
                <a:spLocks noChangeAspect="1" noChangeArrowheads="1"/>
              </p:cNvSpPr>
              <p:nvPr/>
            </p:nvSpPr>
            <p:spPr bwMode="auto">
              <a:xfrm>
                <a:off x="4635" y="3461"/>
                <a:ext cx="5" cy="15"/>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05" name="AutoShape 853"/>
              <p:cNvSpPr>
                <a:spLocks noChangeAspect="1" noChangeArrowheads="1"/>
              </p:cNvSpPr>
              <p:nvPr/>
            </p:nvSpPr>
            <p:spPr bwMode="auto">
              <a:xfrm>
                <a:off x="4737" y="3447"/>
                <a:ext cx="4" cy="2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06" name="AutoShape 854"/>
              <p:cNvSpPr>
                <a:spLocks noChangeAspect="1" noChangeArrowheads="1"/>
              </p:cNvSpPr>
              <p:nvPr/>
            </p:nvSpPr>
            <p:spPr bwMode="auto">
              <a:xfrm>
                <a:off x="4717" y="3464"/>
                <a:ext cx="6" cy="2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07" name="AutoShape 855"/>
              <p:cNvSpPr>
                <a:spLocks noChangeAspect="1" noChangeArrowheads="1"/>
              </p:cNvSpPr>
              <p:nvPr/>
            </p:nvSpPr>
            <p:spPr bwMode="auto">
              <a:xfrm>
                <a:off x="4681" y="3493"/>
                <a:ext cx="5" cy="16"/>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08" name="AutoShape 856"/>
              <p:cNvSpPr>
                <a:spLocks noChangeAspect="1" noChangeArrowheads="1"/>
              </p:cNvSpPr>
              <p:nvPr/>
            </p:nvSpPr>
            <p:spPr bwMode="auto">
              <a:xfrm flipV="1">
                <a:off x="4703" y="3486"/>
                <a:ext cx="5" cy="1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09" name="AutoShape 857"/>
              <p:cNvSpPr>
                <a:spLocks noChangeAspect="1" noChangeArrowheads="1"/>
              </p:cNvSpPr>
              <p:nvPr/>
            </p:nvSpPr>
            <p:spPr bwMode="auto">
              <a:xfrm>
                <a:off x="4751" y="3445"/>
                <a:ext cx="6" cy="1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10" name="AutoShape 858"/>
              <p:cNvSpPr>
                <a:spLocks noChangeAspect="1" noChangeArrowheads="1"/>
              </p:cNvSpPr>
              <p:nvPr/>
            </p:nvSpPr>
            <p:spPr bwMode="auto">
              <a:xfrm>
                <a:off x="4771" y="3447"/>
                <a:ext cx="5" cy="10"/>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11" name="AutoShape 859"/>
              <p:cNvSpPr>
                <a:spLocks noChangeAspect="1" noChangeArrowheads="1"/>
              </p:cNvSpPr>
              <p:nvPr/>
            </p:nvSpPr>
            <p:spPr bwMode="auto">
              <a:xfrm>
                <a:off x="4771" y="3457"/>
                <a:ext cx="5" cy="10"/>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12" name="AutoShape 860"/>
              <p:cNvSpPr>
                <a:spLocks noChangeAspect="1" noChangeArrowheads="1"/>
              </p:cNvSpPr>
              <p:nvPr/>
            </p:nvSpPr>
            <p:spPr bwMode="auto">
              <a:xfrm>
                <a:off x="4803" y="3479"/>
                <a:ext cx="5"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13" name="AutoShape 861"/>
              <p:cNvSpPr>
                <a:spLocks noChangeAspect="1" noChangeArrowheads="1"/>
              </p:cNvSpPr>
              <p:nvPr/>
            </p:nvSpPr>
            <p:spPr bwMode="auto">
              <a:xfrm>
                <a:off x="4819" y="3491"/>
                <a:ext cx="6" cy="19"/>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14" name="AutoShape 862"/>
              <p:cNvSpPr>
                <a:spLocks noChangeAspect="1" noChangeArrowheads="1"/>
              </p:cNvSpPr>
              <p:nvPr/>
            </p:nvSpPr>
            <p:spPr bwMode="auto">
              <a:xfrm>
                <a:off x="4787" y="3465"/>
                <a:ext cx="5" cy="21"/>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15" name="Freeform 863"/>
              <p:cNvSpPr>
                <a:spLocks noChangeAspect="1"/>
              </p:cNvSpPr>
              <p:nvPr/>
            </p:nvSpPr>
            <p:spPr bwMode="auto">
              <a:xfrm>
                <a:off x="5385" y="344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516" name="AutoShape 864"/>
              <p:cNvSpPr>
                <a:spLocks noChangeAspect="1" noChangeArrowheads="1"/>
              </p:cNvSpPr>
              <p:nvPr/>
            </p:nvSpPr>
            <p:spPr bwMode="auto">
              <a:xfrm>
                <a:off x="4928" y="3444"/>
                <a:ext cx="6" cy="22"/>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17" name="AutoShape 865"/>
              <p:cNvSpPr>
                <a:spLocks noChangeAspect="1" noChangeArrowheads="1"/>
              </p:cNvSpPr>
              <p:nvPr/>
            </p:nvSpPr>
            <p:spPr bwMode="auto">
              <a:xfrm>
                <a:off x="4928" y="3466"/>
                <a:ext cx="6" cy="22"/>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18" name="AutoShape 866"/>
              <p:cNvSpPr>
                <a:spLocks noChangeAspect="1" noChangeArrowheads="1"/>
              </p:cNvSpPr>
              <p:nvPr/>
            </p:nvSpPr>
            <p:spPr bwMode="auto">
              <a:xfrm>
                <a:off x="5015" y="3449"/>
                <a:ext cx="5" cy="2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19" name="AutoShape 867"/>
              <p:cNvSpPr>
                <a:spLocks noChangeAspect="1" noChangeArrowheads="1"/>
              </p:cNvSpPr>
              <p:nvPr/>
            </p:nvSpPr>
            <p:spPr bwMode="auto">
              <a:xfrm>
                <a:off x="5015" y="3476"/>
                <a:ext cx="5" cy="2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20" name="AutoShape 868"/>
              <p:cNvSpPr>
                <a:spLocks noChangeAspect="1" noChangeArrowheads="1"/>
              </p:cNvSpPr>
              <p:nvPr/>
            </p:nvSpPr>
            <p:spPr bwMode="auto">
              <a:xfrm>
                <a:off x="4944" y="3478"/>
                <a:ext cx="5" cy="28"/>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21" name="AutoShape 869"/>
              <p:cNvSpPr>
                <a:spLocks noChangeAspect="1" noChangeArrowheads="1"/>
              </p:cNvSpPr>
              <p:nvPr/>
            </p:nvSpPr>
            <p:spPr bwMode="auto">
              <a:xfrm>
                <a:off x="4944" y="3450"/>
                <a:ext cx="5" cy="28"/>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22" name="AutoShape 870"/>
              <p:cNvSpPr>
                <a:spLocks noChangeAspect="1" noChangeArrowheads="1"/>
              </p:cNvSpPr>
              <p:nvPr/>
            </p:nvSpPr>
            <p:spPr bwMode="auto">
              <a:xfrm>
                <a:off x="5031" y="3444"/>
                <a:ext cx="5" cy="2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23" name="AutoShape 871"/>
              <p:cNvSpPr>
                <a:spLocks noChangeAspect="1" noChangeArrowheads="1"/>
              </p:cNvSpPr>
              <p:nvPr/>
            </p:nvSpPr>
            <p:spPr bwMode="auto">
              <a:xfrm>
                <a:off x="5031" y="3464"/>
                <a:ext cx="5" cy="19"/>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24" name="AutoShape 872"/>
              <p:cNvSpPr>
                <a:spLocks noChangeAspect="1" noChangeArrowheads="1"/>
              </p:cNvSpPr>
              <p:nvPr/>
            </p:nvSpPr>
            <p:spPr bwMode="auto">
              <a:xfrm>
                <a:off x="4960" y="3490"/>
                <a:ext cx="5" cy="2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25" name="AutoShape 873"/>
              <p:cNvSpPr>
                <a:spLocks noChangeAspect="1" noChangeArrowheads="1"/>
              </p:cNvSpPr>
              <p:nvPr/>
            </p:nvSpPr>
            <p:spPr bwMode="auto">
              <a:xfrm>
                <a:off x="4960" y="3469"/>
                <a:ext cx="5" cy="20"/>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26" name="AutoShape 874"/>
              <p:cNvSpPr>
                <a:spLocks noChangeAspect="1" noChangeArrowheads="1"/>
              </p:cNvSpPr>
              <p:nvPr/>
            </p:nvSpPr>
            <p:spPr bwMode="auto">
              <a:xfrm>
                <a:off x="4999" y="3468"/>
                <a:ext cx="5" cy="22"/>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27" name="AutoShape 875"/>
              <p:cNvSpPr>
                <a:spLocks noChangeAspect="1" noChangeArrowheads="1"/>
              </p:cNvSpPr>
              <p:nvPr/>
            </p:nvSpPr>
            <p:spPr bwMode="auto">
              <a:xfrm>
                <a:off x="4999" y="3489"/>
                <a:ext cx="5" cy="22"/>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28" name="AutoShape 876"/>
              <p:cNvSpPr>
                <a:spLocks noChangeAspect="1" noChangeArrowheads="1"/>
              </p:cNvSpPr>
              <p:nvPr/>
            </p:nvSpPr>
            <p:spPr bwMode="auto">
              <a:xfrm>
                <a:off x="4983" y="3499"/>
                <a:ext cx="4" cy="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29" name="AutoShape 877"/>
              <p:cNvSpPr>
                <a:spLocks noChangeAspect="1" noChangeArrowheads="1"/>
              </p:cNvSpPr>
              <p:nvPr/>
            </p:nvSpPr>
            <p:spPr bwMode="auto">
              <a:xfrm>
                <a:off x="4983" y="3491"/>
                <a:ext cx="4" cy="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30" name="AutoShape 878"/>
              <p:cNvSpPr>
                <a:spLocks noChangeAspect="1" noChangeArrowheads="1"/>
              </p:cNvSpPr>
              <p:nvPr/>
            </p:nvSpPr>
            <p:spPr bwMode="auto">
              <a:xfrm>
                <a:off x="5081" y="3474"/>
                <a:ext cx="4"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31" name="AutoShape 879"/>
              <p:cNvSpPr>
                <a:spLocks noChangeAspect="1" noChangeArrowheads="1"/>
              </p:cNvSpPr>
              <p:nvPr/>
            </p:nvSpPr>
            <p:spPr bwMode="auto">
              <a:xfrm>
                <a:off x="5081" y="3447"/>
                <a:ext cx="4" cy="2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32" name="AutoShape 880"/>
              <p:cNvSpPr>
                <a:spLocks noChangeAspect="1" noChangeArrowheads="1"/>
              </p:cNvSpPr>
              <p:nvPr/>
            </p:nvSpPr>
            <p:spPr bwMode="auto">
              <a:xfrm>
                <a:off x="5097" y="3487"/>
                <a:ext cx="5" cy="2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33" name="AutoShape 881"/>
              <p:cNvSpPr>
                <a:spLocks noChangeAspect="1" noChangeArrowheads="1"/>
              </p:cNvSpPr>
              <p:nvPr/>
            </p:nvSpPr>
            <p:spPr bwMode="auto">
              <a:xfrm>
                <a:off x="5097" y="3464"/>
                <a:ext cx="5" cy="2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34" name="AutoShape 882"/>
              <p:cNvSpPr>
                <a:spLocks noChangeAspect="1" noChangeArrowheads="1"/>
              </p:cNvSpPr>
              <p:nvPr/>
            </p:nvSpPr>
            <p:spPr bwMode="auto">
              <a:xfrm>
                <a:off x="5045" y="3448"/>
                <a:ext cx="5" cy="10"/>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35" name="AutoShape 883"/>
              <p:cNvSpPr>
                <a:spLocks noChangeAspect="1" noChangeArrowheads="1"/>
              </p:cNvSpPr>
              <p:nvPr/>
            </p:nvSpPr>
            <p:spPr bwMode="auto">
              <a:xfrm>
                <a:off x="5045" y="3458"/>
                <a:ext cx="5" cy="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36" name="AutoShape 884"/>
              <p:cNvSpPr>
                <a:spLocks noChangeAspect="1" noChangeArrowheads="1"/>
              </p:cNvSpPr>
              <p:nvPr/>
            </p:nvSpPr>
            <p:spPr bwMode="auto">
              <a:xfrm>
                <a:off x="5064" y="3461"/>
                <a:ext cx="5" cy="1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37" name="AutoShape 885"/>
              <p:cNvSpPr>
                <a:spLocks noChangeAspect="1" noChangeArrowheads="1"/>
              </p:cNvSpPr>
              <p:nvPr/>
            </p:nvSpPr>
            <p:spPr bwMode="auto">
              <a:xfrm>
                <a:off x="5064" y="3445"/>
                <a:ext cx="5" cy="1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38" name="AutoShape 886"/>
              <p:cNvSpPr>
                <a:spLocks noChangeAspect="1" noChangeArrowheads="1"/>
              </p:cNvSpPr>
              <p:nvPr/>
            </p:nvSpPr>
            <p:spPr bwMode="auto">
              <a:xfrm>
                <a:off x="5113" y="3488"/>
                <a:ext cx="6" cy="10"/>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39" name="AutoShape 887"/>
              <p:cNvSpPr>
                <a:spLocks noChangeAspect="1" noChangeArrowheads="1"/>
              </p:cNvSpPr>
              <p:nvPr/>
            </p:nvSpPr>
            <p:spPr bwMode="auto">
              <a:xfrm>
                <a:off x="5113" y="3498"/>
                <a:ext cx="6" cy="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40" name="AutoShape 888"/>
              <p:cNvSpPr>
                <a:spLocks noChangeAspect="1" noChangeArrowheads="1"/>
              </p:cNvSpPr>
              <p:nvPr/>
            </p:nvSpPr>
            <p:spPr bwMode="auto">
              <a:xfrm flipV="1">
                <a:off x="5180" y="3445"/>
                <a:ext cx="5" cy="1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41" name="AutoShape 889"/>
              <p:cNvSpPr>
                <a:spLocks noChangeAspect="1" noChangeArrowheads="1"/>
              </p:cNvSpPr>
              <p:nvPr/>
            </p:nvSpPr>
            <p:spPr bwMode="auto">
              <a:xfrm flipV="1">
                <a:off x="5180" y="3458"/>
                <a:ext cx="5" cy="1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42" name="AutoShape 890"/>
              <p:cNvSpPr>
                <a:spLocks noChangeAspect="1" noChangeArrowheads="1"/>
              </p:cNvSpPr>
              <p:nvPr/>
            </p:nvSpPr>
            <p:spPr bwMode="auto">
              <a:xfrm>
                <a:off x="5166" y="3470"/>
                <a:ext cx="6" cy="25"/>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43" name="AutoShape 891"/>
              <p:cNvSpPr>
                <a:spLocks noChangeAspect="1" noChangeArrowheads="1"/>
              </p:cNvSpPr>
              <p:nvPr/>
            </p:nvSpPr>
            <p:spPr bwMode="auto">
              <a:xfrm>
                <a:off x="5166" y="3445"/>
                <a:ext cx="6" cy="25"/>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44" name="AutoShape 892"/>
              <p:cNvSpPr>
                <a:spLocks noChangeAspect="1" noChangeArrowheads="1"/>
              </p:cNvSpPr>
              <p:nvPr/>
            </p:nvSpPr>
            <p:spPr bwMode="auto">
              <a:xfrm flipV="1">
                <a:off x="5150" y="3455"/>
                <a:ext cx="5"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45" name="AutoShape 893"/>
              <p:cNvSpPr>
                <a:spLocks noChangeAspect="1" noChangeArrowheads="1"/>
              </p:cNvSpPr>
              <p:nvPr/>
            </p:nvSpPr>
            <p:spPr bwMode="auto">
              <a:xfrm flipV="1">
                <a:off x="5150" y="3482"/>
                <a:ext cx="5" cy="26"/>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46" name="AutoShape 894"/>
              <p:cNvSpPr>
                <a:spLocks noChangeAspect="1" noChangeArrowheads="1"/>
              </p:cNvSpPr>
              <p:nvPr/>
            </p:nvSpPr>
            <p:spPr bwMode="auto">
              <a:xfrm>
                <a:off x="5134" y="3496"/>
                <a:ext cx="4" cy="13"/>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47" name="AutoShape 895"/>
              <p:cNvSpPr>
                <a:spLocks noChangeAspect="1" noChangeArrowheads="1"/>
              </p:cNvSpPr>
              <p:nvPr/>
            </p:nvSpPr>
            <p:spPr bwMode="auto">
              <a:xfrm>
                <a:off x="5134" y="3483"/>
                <a:ext cx="4" cy="13"/>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48" name="AutoShape 896"/>
              <p:cNvSpPr>
                <a:spLocks noChangeAspect="1" noChangeArrowheads="1"/>
              </p:cNvSpPr>
              <p:nvPr/>
            </p:nvSpPr>
            <p:spPr bwMode="auto">
              <a:xfrm flipV="1">
                <a:off x="5235" y="3483"/>
                <a:ext cx="5"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49" name="AutoShape 897"/>
              <p:cNvSpPr>
                <a:spLocks noChangeAspect="1" noChangeArrowheads="1"/>
              </p:cNvSpPr>
              <p:nvPr/>
            </p:nvSpPr>
            <p:spPr bwMode="auto">
              <a:xfrm flipV="1">
                <a:off x="5235" y="3457"/>
                <a:ext cx="5" cy="2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50" name="AutoShape 898"/>
              <p:cNvSpPr>
                <a:spLocks noChangeAspect="1" noChangeArrowheads="1"/>
              </p:cNvSpPr>
              <p:nvPr/>
            </p:nvSpPr>
            <p:spPr bwMode="auto">
              <a:xfrm>
                <a:off x="5217" y="3470"/>
                <a:ext cx="6" cy="26"/>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51" name="AutoShape 899"/>
              <p:cNvSpPr>
                <a:spLocks noChangeAspect="1" noChangeArrowheads="1"/>
              </p:cNvSpPr>
              <p:nvPr/>
            </p:nvSpPr>
            <p:spPr bwMode="auto">
              <a:xfrm>
                <a:off x="5217" y="3444"/>
                <a:ext cx="6" cy="26"/>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52" name="AutoShape 900"/>
              <p:cNvSpPr>
                <a:spLocks noChangeAspect="1" noChangeArrowheads="1"/>
              </p:cNvSpPr>
              <p:nvPr/>
            </p:nvSpPr>
            <p:spPr bwMode="auto">
              <a:xfrm>
                <a:off x="5203" y="3461"/>
                <a:ext cx="6" cy="15"/>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53" name="AutoShape 901"/>
              <p:cNvSpPr>
                <a:spLocks noChangeAspect="1" noChangeArrowheads="1"/>
              </p:cNvSpPr>
              <p:nvPr/>
            </p:nvSpPr>
            <p:spPr bwMode="auto">
              <a:xfrm>
                <a:off x="5203" y="3445"/>
                <a:ext cx="6" cy="15"/>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54" name="AutoShape 902"/>
              <p:cNvSpPr>
                <a:spLocks noChangeAspect="1" noChangeArrowheads="1"/>
              </p:cNvSpPr>
              <p:nvPr/>
            </p:nvSpPr>
            <p:spPr bwMode="auto">
              <a:xfrm>
                <a:off x="5304" y="3474"/>
                <a:ext cx="5"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55" name="AutoShape 903"/>
              <p:cNvSpPr>
                <a:spLocks noChangeAspect="1" noChangeArrowheads="1"/>
              </p:cNvSpPr>
              <p:nvPr/>
            </p:nvSpPr>
            <p:spPr bwMode="auto">
              <a:xfrm>
                <a:off x="5304" y="3447"/>
                <a:ext cx="5" cy="2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56" name="AutoShape 904"/>
              <p:cNvSpPr>
                <a:spLocks noChangeAspect="1" noChangeArrowheads="1"/>
              </p:cNvSpPr>
              <p:nvPr/>
            </p:nvSpPr>
            <p:spPr bwMode="auto">
              <a:xfrm>
                <a:off x="5286" y="3487"/>
                <a:ext cx="5" cy="2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57" name="AutoShape 905"/>
              <p:cNvSpPr>
                <a:spLocks noChangeAspect="1" noChangeArrowheads="1"/>
              </p:cNvSpPr>
              <p:nvPr/>
            </p:nvSpPr>
            <p:spPr bwMode="auto">
              <a:xfrm>
                <a:off x="5286" y="3464"/>
                <a:ext cx="5" cy="2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58" name="AutoShape 906"/>
              <p:cNvSpPr>
                <a:spLocks noChangeAspect="1" noChangeArrowheads="1"/>
              </p:cNvSpPr>
              <p:nvPr/>
            </p:nvSpPr>
            <p:spPr bwMode="auto">
              <a:xfrm>
                <a:off x="5249" y="3493"/>
                <a:ext cx="5" cy="16"/>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59" name="AutoShape 907"/>
              <p:cNvSpPr>
                <a:spLocks noChangeAspect="1" noChangeArrowheads="1"/>
              </p:cNvSpPr>
              <p:nvPr/>
            </p:nvSpPr>
            <p:spPr bwMode="auto">
              <a:xfrm>
                <a:off x="5249" y="3477"/>
                <a:ext cx="5" cy="16"/>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60" name="AutoShape 908"/>
              <p:cNvSpPr>
                <a:spLocks noChangeAspect="1" noChangeArrowheads="1"/>
              </p:cNvSpPr>
              <p:nvPr/>
            </p:nvSpPr>
            <p:spPr bwMode="auto">
              <a:xfrm flipV="1">
                <a:off x="5270" y="3486"/>
                <a:ext cx="6" cy="1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61" name="AutoShape 909"/>
              <p:cNvSpPr>
                <a:spLocks noChangeAspect="1" noChangeArrowheads="1"/>
              </p:cNvSpPr>
              <p:nvPr/>
            </p:nvSpPr>
            <p:spPr bwMode="auto">
              <a:xfrm flipV="1">
                <a:off x="5270" y="3497"/>
                <a:ext cx="6" cy="10"/>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62" name="AutoShape 910"/>
              <p:cNvSpPr>
                <a:spLocks noChangeAspect="1" noChangeArrowheads="1"/>
              </p:cNvSpPr>
              <p:nvPr/>
            </p:nvSpPr>
            <p:spPr bwMode="auto">
              <a:xfrm>
                <a:off x="5320" y="3461"/>
                <a:ext cx="5" cy="1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63" name="AutoShape 911"/>
              <p:cNvSpPr>
                <a:spLocks noChangeAspect="1" noChangeArrowheads="1"/>
              </p:cNvSpPr>
              <p:nvPr/>
            </p:nvSpPr>
            <p:spPr bwMode="auto">
              <a:xfrm>
                <a:off x="5320" y="3445"/>
                <a:ext cx="5" cy="1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64" name="AutoShape 912"/>
              <p:cNvSpPr>
                <a:spLocks noChangeAspect="1" noChangeArrowheads="1"/>
              </p:cNvSpPr>
              <p:nvPr/>
            </p:nvSpPr>
            <p:spPr bwMode="auto">
              <a:xfrm>
                <a:off x="5339" y="3447"/>
                <a:ext cx="5" cy="10"/>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65" name="AutoShape 913"/>
              <p:cNvSpPr>
                <a:spLocks noChangeAspect="1" noChangeArrowheads="1"/>
              </p:cNvSpPr>
              <p:nvPr/>
            </p:nvSpPr>
            <p:spPr bwMode="auto">
              <a:xfrm>
                <a:off x="5339" y="3457"/>
                <a:ext cx="5" cy="10"/>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66" name="AutoShape 914"/>
              <p:cNvSpPr>
                <a:spLocks noChangeAspect="1" noChangeArrowheads="1"/>
              </p:cNvSpPr>
              <p:nvPr/>
            </p:nvSpPr>
            <p:spPr bwMode="auto">
              <a:xfrm>
                <a:off x="5371" y="3479"/>
                <a:ext cx="5"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67" name="AutoShape 915"/>
              <p:cNvSpPr>
                <a:spLocks noChangeAspect="1" noChangeArrowheads="1"/>
              </p:cNvSpPr>
              <p:nvPr/>
            </p:nvSpPr>
            <p:spPr bwMode="auto">
              <a:xfrm>
                <a:off x="5371" y="3452"/>
                <a:ext cx="5" cy="2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68" name="AutoShape 916"/>
              <p:cNvSpPr>
                <a:spLocks noChangeAspect="1" noChangeArrowheads="1"/>
              </p:cNvSpPr>
              <p:nvPr/>
            </p:nvSpPr>
            <p:spPr bwMode="auto">
              <a:xfrm>
                <a:off x="5388" y="3491"/>
                <a:ext cx="5" cy="19"/>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69" name="AutoShape 917"/>
              <p:cNvSpPr>
                <a:spLocks noChangeAspect="1" noChangeArrowheads="1"/>
              </p:cNvSpPr>
              <p:nvPr/>
            </p:nvSpPr>
            <p:spPr bwMode="auto">
              <a:xfrm>
                <a:off x="5388" y="3472"/>
                <a:ext cx="5" cy="1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70" name="AutoShape 918"/>
              <p:cNvSpPr>
                <a:spLocks noChangeAspect="1" noChangeArrowheads="1"/>
              </p:cNvSpPr>
              <p:nvPr/>
            </p:nvSpPr>
            <p:spPr bwMode="auto">
              <a:xfrm>
                <a:off x="5355" y="3465"/>
                <a:ext cx="5" cy="21"/>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71" name="AutoShape 919"/>
              <p:cNvSpPr>
                <a:spLocks noChangeAspect="1" noChangeArrowheads="1"/>
              </p:cNvSpPr>
              <p:nvPr/>
            </p:nvSpPr>
            <p:spPr bwMode="auto">
              <a:xfrm>
                <a:off x="5355" y="3445"/>
                <a:ext cx="5" cy="21"/>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72" name="AutoShape 920"/>
              <p:cNvSpPr>
                <a:spLocks noChangeAspect="1" noChangeArrowheads="1"/>
              </p:cNvSpPr>
              <p:nvPr/>
            </p:nvSpPr>
            <p:spPr bwMode="auto">
              <a:xfrm>
                <a:off x="4874" y="3449"/>
                <a:ext cx="5" cy="2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73" name="AutoShape 921"/>
              <p:cNvSpPr>
                <a:spLocks noChangeAspect="1" noChangeArrowheads="1"/>
              </p:cNvSpPr>
              <p:nvPr/>
            </p:nvSpPr>
            <p:spPr bwMode="auto">
              <a:xfrm>
                <a:off x="4874" y="3476"/>
                <a:ext cx="5" cy="2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74" name="AutoShape 922"/>
              <p:cNvSpPr>
                <a:spLocks noChangeAspect="1" noChangeArrowheads="1"/>
              </p:cNvSpPr>
              <p:nvPr/>
            </p:nvSpPr>
            <p:spPr bwMode="auto">
              <a:xfrm>
                <a:off x="4890" y="3444"/>
                <a:ext cx="4" cy="2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75" name="AutoShape 923"/>
              <p:cNvSpPr>
                <a:spLocks noChangeAspect="1" noChangeArrowheads="1"/>
              </p:cNvSpPr>
              <p:nvPr/>
            </p:nvSpPr>
            <p:spPr bwMode="auto">
              <a:xfrm>
                <a:off x="4890" y="3464"/>
                <a:ext cx="4" cy="19"/>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76" name="AutoShape 924"/>
              <p:cNvSpPr>
                <a:spLocks noChangeAspect="1" noChangeArrowheads="1"/>
              </p:cNvSpPr>
              <p:nvPr/>
            </p:nvSpPr>
            <p:spPr bwMode="auto">
              <a:xfrm>
                <a:off x="4857" y="3468"/>
                <a:ext cx="5" cy="22"/>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77" name="AutoShape 925"/>
              <p:cNvSpPr>
                <a:spLocks noChangeAspect="1" noChangeArrowheads="1"/>
              </p:cNvSpPr>
              <p:nvPr/>
            </p:nvSpPr>
            <p:spPr bwMode="auto">
              <a:xfrm>
                <a:off x="4857" y="3489"/>
                <a:ext cx="5" cy="22"/>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78" name="AutoShape 926"/>
              <p:cNvSpPr>
                <a:spLocks noChangeAspect="1" noChangeArrowheads="1"/>
              </p:cNvSpPr>
              <p:nvPr/>
            </p:nvSpPr>
            <p:spPr bwMode="auto">
              <a:xfrm>
                <a:off x="4840" y="3498"/>
                <a:ext cx="5" cy="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79" name="AutoShape 927"/>
              <p:cNvSpPr>
                <a:spLocks noChangeAspect="1" noChangeArrowheads="1"/>
              </p:cNvSpPr>
              <p:nvPr/>
            </p:nvSpPr>
            <p:spPr bwMode="auto">
              <a:xfrm>
                <a:off x="4840" y="3490"/>
                <a:ext cx="5" cy="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80" name="AutoShape 928"/>
              <p:cNvSpPr>
                <a:spLocks noChangeAspect="1" noChangeArrowheads="1"/>
              </p:cNvSpPr>
              <p:nvPr/>
            </p:nvSpPr>
            <p:spPr bwMode="auto">
              <a:xfrm flipV="1">
                <a:off x="4902" y="3457"/>
                <a:ext cx="5" cy="9"/>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81" name="AutoShape 929"/>
              <p:cNvSpPr>
                <a:spLocks noChangeAspect="1" noChangeArrowheads="1"/>
              </p:cNvSpPr>
              <p:nvPr/>
            </p:nvSpPr>
            <p:spPr bwMode="auto">
              <a:xfrm>
                <a:off x="4902" y="3447"/>
                <a:ext cx="5" cy="10"/>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6582" name="Freeform 930"/>
              <p:cNvSpPr>
                <a:spLocks noChangeAspect="1"/>
              </p:cNvSpPr>
              <p:nvPr/>
            </p:nvSpPr>
            <p:spPr bwMode="auto">
              <a:xfrm flipH="1">
                <a:off x="5355" y="344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583" name="Freeform 931"/>
              <p:cNvSpPr>
                <a:spLocks noChangeAspect="1"/>
              </p:cNvSpPr>
              <p:nvPr/>
            </p:nvSpPr>
            <p:spPr bwMode="auto">
              <a:xfrm flipH="1">
                <a:off x="5314" y="344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584" name="Freeform 932"/>
              <p:cNvSpPr>
                <a:spLocks noChangeAspect="1"/>
              </p:cNvSpPr>
              <p:nvPr/>
            </p:nvSpPr>
            <p:spPr bwMode="auto">
              <a:xfrm flipH="1">
                <a:off x="5213" y="344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585" name="Freeform 933"/>
              <p:cNvSpPr>
                <a:spLocks noChangeAspect="1"/>
              </p:cNvSpPr>
              <p:nvPr/>
            </p:nvSpPr>
            <p:spPr bwMode="auto">
              <a:xfrm flipH="1">
                <a:off x="5172" y="344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586" name="Freeform 934"/>
              <p:cNvSpPr>
                <a:spLocks noChangeAspect="1"/>
              </p:cNvSpPr>
              <p:nvPr/>
            </p:nvSpPr>
            <p:spPr bwMode="auto">
              <a:xfrm flipH="1">
                <a:off x="5071" y="3443"/>
                <a:ext cx="75"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587" name="Freeform 935"/>
              <p:cNvSpPr>
                <a:spLocks noChangeAspect="1"/>
              </p:cNvSpPr>
              <p:nvPr/>
            </p:nvSpPr>
            <p:spPr bwMode="auto">
              <a:xfrm flipH="1">
                <a:off x="5030" y="3443"/>
                <a:ext cx="75"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588" name="Freeform 936"/>
              <p:cNvSpPr>
                <a:spLocks noChangeAspect="1"/>
              </p:cNvSpPr>
              <p:nvPr/>
            </p:nvSpPr>
            <p:spPr bwMode="auto">
              <a:xfrm flipH="1">
                <a:off x="4930" y="344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589" name="Freeform 937"/>
              <p:cNvSpPr>
                <a:spLocks noChangeAspect="1"/>
              </p:cNvSpPr>
              <p:nvPr/>
            </p:nvSpPr>
            <p:spPr bwMode="auto">
              <a:xfrm flipH="1">
                <a:off x="4889" y="3443"/>
                <a:ext cx="73"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590" name="Freeform 938"/>
              <p:cNvSpPr>
                <a:spLocks noChangeAspect="1"/>
              </p:cNvSpPr>
              <p:nvPr/>
            </p:nvSpPr>
            <p:spPr bwMode="auto">
              <a:xfrm flipH="1">
                <a:off x="4745" y="3443"/>
                <a:ext cx="75"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591" name="Freeform 939"/>
              <p:cNvSpPr>
                <a:spLocks noChangeAspect="1"/>
              </p:cNvSpPr>
              <p:nvPr/>
            </p:nvSpPr>
            <p:spPr bwMode="auto">
              <a:xfrm flipH="1">
                <a:off x="4603" y="3443"/>
                <a:ext cx="75"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592" name="Freeform 940"/>
              <p:cNvSpPr>
                <a:spLocks noChangeAspect="1"/>
              </p:cNvSpPr>
              <p:nvPr/>
            </p:nvSpPr>
            <p:spPr bwMode="auto">
              <a:xfrm flipH="1">
                <a:off x="4462" y="344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6593" name="Freeform 941"/>
              <p:cNvSpPr>
                <a:spLocks noChangeAspect="1"/>
              </p:cNvSpPr>
              <p:nvPr/>
            </p:nvSpPr>
            <p:spPr bwMode="auto">
              <a:xfrm flipH="1">
                <a:off x="4320" y="344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146465" name="AutoShape 942"/>
            <p:cNvSpPr>
              <a:spLocks noChangeArrowheads="1"/>
            </p:cNvSpPr>
            <p:nvPr/>
          </p:nvSpPr>
          <p:spPr bwMode="auto">
            <a:xfrm>
              <a:off x="4759" y="3621"/>
              <a:ext cx="220" cy="228"/>
            </a:xfrm>
            <a:prstGeom prst="roundRect">
              <a:avLst>
                <a:gd name="adj" fmla="val 16667"/>
              </a:avLst>
            </a:prstGeom>
            <a:gradFill rotWithShape="1">
              <a:gsLst>
                <a:gs pos="0">
                  <a:srgbClr val="2F7618">
                    <a:alpha val="70000"/>
                  </a:srgbClr>
                </a:gs>
                <a:gs pos="50000">
                  <a:srgbClr val="66FF33">
                    <a:alpha val="70000"/>
                  </a:srgbClr>
                </a:gs>
                <a:gs pos="100000">
                  <a:srgbClr val="2F7618">
                    <a:alpha val="70000"/>
                  </a:srgbClr>
                </a:gs>
              </a:gsLst>
              <a:lin ang="5400000" scaled="1"/>
            </a:gradFill>
            <a:ln w="3175" algn="ctr">
              <a:solidFill>
                <a:srgbClr val="66FF33"/>
              </a:solidFill>
              <a:rou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kumimoji="0" lang="en-US" altLang="zh-CN" sz="600" b="1">
                  <a:latin typeface="Arial" panose="020B0604020202020204" pitchFamily="34" charset="0"/>
                </a:rPr>
                <a:t>Klenow</a:t>
              </a:r>
            </a:p>
            <a:p>
              <a:pPr algn="ctr" eaLnBrk="1" hangingPunct="1">
                <a:spcBef>
                  <a:spcPct val="0"/>
                </a:spcBef>
                <a:buFontTx/>
                <a:buNone/>
              </a:pPr>
              <a:r>
                <a:rPr kumimoji="0" lang="en-US" altLang="zh-CN" sz="600" b="1">
                  <a:latin typeface="Arial" panose="020B0604020202020204" pitchFamily="34" charset="0"/>
                </a:rPr>
                <a:t/>
              </a:r>
              <a:br>
                <a:rPr kumimoji="0" lang="en-US" altLang="zh-CN" sz="600" b="1">
                  <a:latin typeface="Arial" panose="020B0604020202020204" pitchFamily="34" charset="0"/>
                </a:rPr>
              </a:br>
              <a:r>
                <a:rPr kumimoji="0" lang="en-US" altLang="zh-CN" sz="600" b="1">
                  <a:latin typeface="Arial" panose="020B0604020202020204" pitchFamily="34" charset="0"/>
                </a:rPr>
                <a:t>Fragment</a:t>
              </a:r>
            </a:p>
          </p:txBody>
        </p:sp>
        <p:sp>
          <p:nvSpPr>
            <p:cNvPr id="146466" name="Line 943"/>
            <p:cNvSpPr>
              <a:spLocks noChangeShapeType="1"/>
            </p:cNvSpPr>
            <p:nvPr/>
          </p:nvSpPr>
          <p:spPr bwMode="auto">
            <a:xfrm flipH="1">
              <a:off x="4489" y="3813"/>
              <a:ext cx="248" cy="0"/>
            </a:xfrm>
            <a:prstGeom prst="line">
              <a:avLst/>
            </a:prstGeom>
            <a:noFill/>
            <a:ln w="28575">
              <a:solidFill>
                <a:srgbClr val="0099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6672" name="AutoShape 944"/>
            <p:cNvSpPr>
              <a:spLocks noChangeAspect="1" noChangeArrowheads="1"/>
            </p:cNvSpPr>
            <p:nvPr/>
          </p:nvSpPr>
          <p:spPr bwMode="auto">
            <a:xfrm>
              <a:off x="5298" y="3697"/>
              <a:ext cx="6" cy="6"/>
            </a:xfrm>
            <a:prstGeom prst="star5">
              <a:avLst/>
            </a:prstGeom>
            <a:noFill/>
            <a:ln w="28575" algn="ctr">
              <a:solidFill>
                <a:srgbClr val="FF0000"/>
              </a:solidFill>
              <a:miter lim="800000"/>
            </a:ln>
            <a:effectLst/>
          </p:spPr>
          <p:txBody>
            <a:bodyPr wrap="none" anchor="ctr"/>
            <a:lstStyle/>
            <a:p>
              <a:pPr eaLnBrk="1" hangingPunct="1">
                <a:defRPr/>
              </a:pPr>
              <a:endParaRPr lang="zh-CN" altLang="en-US">
                <a:ea typeface="宋体" panose="02010600030101010101" pitchFamily="2" charset="-122"/>
              </a:endParaRPr>
            </a:p>
          </p:txBody>
        </p:sp>
        <p:sp>
          <p:nvSpPr>
            <p:cNvPr id="586673" name="AutoShape 945"/>
            <p:cNvSpPr>
              <a:spLocks noChangeAspect="1" noChangeArrowheads="1"/>
            </p:cNvSpPr>
            <p:nvPr/>
          </p:nvSpPr>
          <p:spPr bwMode="auto">
            <a:xfrm>
              <a:off x="5143" y="3696"/>
              <a:ext cx="6" cy="6"/>
            </a:xfrm>
            <a:prstGeom prst="star5">
              <a:avLst/>
            </a:prstGeom>
            <a:noFill/>
            <a:ln w="28575" algn="ctr">
              <a:solidFill>
                <a:srgbClr val="FF0000"/>
              </a:solidFill>
              <a:miter lim="800000"/>
            </a:ln>
            <a:effectLst/>
          </p:spPr>
          <p:txBody>
            <a:bodyPr wrap="none" anchor="ctr"/>
            <a:lstStyle/>
            <a:p>
              <a:pPr eaLnBrk="1" hangingPunct="1">
                <a:defRPr/>
              </a:pPr>
              <a:endParaRPr lang="zh-CN" altLang="en-US">
                <a:ea typeface="宋体" panose="02010600030101010101" pitchFamily="2" charset="-122"/>
              </a:endParaRPr>
            </a:p>
          </p:txBody>
        </p:sp>
        <p:sp>
          <p:nvSpPr>
            <p:cNvPr id="586674" name="AutoShape 946"/>
            <p:cNvSpPr>
              <a:spLocks noChangeAspect="1" noChangeArrowheads="1"/>
            </p:cNvSpPr>
            <p:nvPr/>
          </p:nvSpPr>
          <p:spPr bwMode="auto">
            <a:xfrm>
              <a:off x="5005" y="3696"/>
              <a:ext cx="6" cy="6"/>
            </a:xfrm>
            <a:prstGeom prst="star5">
              <a:avLst/>
            </a:prstGeom>
            <a:noFill/>
            <a:ln w="28575" algn="ctr">
              <a:solidFill>
                <a:srgbClr val="FF0000"/>
              </a:solidFill>
              <a:miter lim="800000"/>
            </a:ln>
            <a:effectLst/>
          </p:spPr>
          <p:txBody>
            <a:bodyPr wrap="none" anchor="ctr"/>
            <a:lstStyle/>
            <a:p>
              <a:pPr eaLnBrk="1" hangingPunct="1">
                <a:defRPr/>
              </a:pPr>
              <a:endParaRPr lang="zh-CN" altLang="en-US">
                <a:ea typeface="宋体" panose="02010600030101010101" pitchFamily="2" charset="-122"/>
              </a:endParaRPr>
            </a:p>
          </p:txBody>
        </p:sp>
        <p:grpSp>
          <p:nvGrpSpPr>
            <p:cNvPr id="146470" name="Group 947"/>
            <p:cNvGrpSpPr>
              <a:grpSpLocks noChangeAspect="1"/>
            </p:cNvGrpSpPr>
            <p:nvPr/>
          </p:nvGrpSpPr>
          <p:grpSpPr bwMode="auto">
            <a:xfrm>
              <a:off x="4179" y="3655"/>
              <a:ext cx="54" cy="71"/>
              <a:chOff x="3743" y="2439"/>
              <a:chExt cx="164" cy="216"/>
            </a:xfrm>
          </p:grpSpPr>
          <p:sp>
            <p:nvSpPr>
              <p:cNvPr id="146471" name="Freeform 948"/>
              <p:cNvSpPr>
                <a:spLocks noChangeAspect="1"/>
              </p:cNvSpPr>
              <p:nvPr/>
            </p:nvSpPr>
            <p:spPr bwMode="auto">
              <a:xfrm>
                <a:off x="3743" y="2465"/>
                <a:ext cx="117" cy="190"/>
              </a:xfrm>
              <a:custGeom>
                <a:avLst/>
                <a:gdLst>
                  <a:gd name="T0" fmla="*/ 3 w 387"/>
                  <a:gd name="T1" fmla="*/ 0 h 625"/>
                  <a:gd name="T2" fmla="*/ 1 w 387"/>
                  <a:gd name="T3" fmla="*/ 0 h 625"/>
                  <a:gd name="T4" fmla="*/ 0 w 387"/>
                  <a:gd name="T5" fmla="*/ 2 h 625"/>
                  <a:gd name="T6" fmla="*/ 1 w 387"/>
                  <a:gd name="T7" fmla="*/ 2 h 625"/>
                  <a:gd name="T8" fmla="*/ 2 w 387"/>
                  <a:gd name="T9" fmla="*/ 2 h 625"/>
                  <a:gd name="T10" fmla="*/ 3 w 387"/>
                  <a:gd name="T11" fmla="*/ 2 h 625"/>
                  <a:gd name="T12" fmla="*/ 3 w 387"/>
                  <a:gd name="T13" fmla="*/ 4 h 625"/>
                  <a:gd name="T14" fmla="*/ 3 w 387"/>
                  <a:gd name="T15" fmla="*/ 5 h 625"/>
                  <a:gd name="T16" fmla="*/ 2 w 387"/>
                  <a:gd name="T17" fmla="*/ 5 h 625"/>
                  <a:gd name="T18" fmla="*/ 1 w 387"/>
                  <a:gd name="T19" fmla="*/ 5 h 625"/>
                  <a:gd name="T20" fmla="*/ 0 w 387"/>
                  <a:gd name="T21" fmla="*/ 4 h 62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87"/>
                  <a:gd name="T34" fmla="*/ 0 h 625"/>
                  <a:gd name="T35" fmla="*/ 387 w 387"/>
                  <a:gd name="T36" fmla="*/ 625 h 62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87" h="625">
                    <a:moveTo>
                      <a:pt x="387" y="7"/>
                    </a:moveTo>
                    <a:lnTo>
                      <a:pt x="86" y="0"/>
                    </a:lnTo>
                    <a:lnTo>
                      <a:pt x="28" y="295"/>
                    </a:lnTo>
                    <a:cubicBezTo>
                      <a:pt x="31" y="337"/>
                      <a:pt x="71" y="261"/>
                      <a:pt x="105" y="250"/>
                    </a:cubicBezTo>
                    <a:cubicBezTo>
                      <a:pt x="139" y="239"/>
                      <a:pt x="194" y="225"/>
                      <a:pt x="233" y="231"/>
                    </a:cubicBezTo>
                    <a:cubicBezTo>
                      <a:pt x="272" y="237"/>
                      <a:pt x="315" y="255"/>
                      <a:pt x="340" y="288"/>
                    </a:cubicBezTo>
                    <a:cubicBezTo>
                      <a:pt x="365" y="321"/>
                      <a:pt x="382" y="385"/>
                      <a:pt x="380" y="429"/>
                    </a:cubicBezTo>
                    <a:cubicBezTo>
                      <a:pt x="378" y="473"/>
                      <a:pt x="358" y="519"/>
                      <a:pt x="327" y="551"/>
                    </a:cubicBezTo>
                    <a:cubicBezTo>
                      <a:pt x="296" y="583"/>
                      <a:pt x="237" y="617"/>
                      <a:pt x="192" y="621"/>
                    </a:cubicBezTo>
                    <a:cubicBezTo>
                      <a:pt x="147" y="625"/>
                      <a:pt x="90" y="600"/>
                      <a:pt x="58" y="576"/>
                    </a:cubicBezTo>
                    <a:cubicBezTo>
                      <a:pt x="26" y="552"/>
                      <a:pt x="12" y="495"/>
                      <a:pt x="0" y="474"/>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6472" name="AutoShape 949"/>
              <p:cNvSpPr>
                <a:spLocks noChangeAspect="1" noChangeArrowheads="1"/>
              </p:cNvSpPr>
              <p:nvPr/>
            </p:nvSpPr>
            <p:spPr bwMode="auto">
              <a:xfrm flipV="1">
                <a:off x="3889" y="2439"/>
                <a:ext cx="18" cy="51"/>
              </a:xfrm>
              <a:prstGeom prst="triangle">
                <a:avLst>
                  <a:gd name="adj" fmla="val 50000"/>
                </a:avLst>
              </a:prstGeom>
              <a:solidFill>
                <a:schemeClr val="tx1"/>
              </a:solidFill>
              <a:ln w="6350">
                <a:solidFill>
                  <a:schemeClr val="tx1"/>
                </a:solidFill>
                <a:miter lim="800000"/>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7458" name="Group 2"/>
          <p:cNvGrpSpPr/>
          <p:nvPr/>
        </p:nvGrpSpPr>
        <p:grpSpPr bwMode="auto">
          <a:xfrm>
            <a:off x="5589588" y="1944688"/>
            <a:ext cx="2705100" cy="1062037"/>
            <a:chOff x="1997" y="1264"/>
            <a:chExt cx="1704" cy="669"/>
          </a:xfrm>
        </p:grpSpPr>
        <p:sp>
          <p:nvSpPr>
            <p:cNvPr id="148229" name="Rectangle 3"/>
            <p:cNvSpPr>
              <a:spLocks noChangeAspect="1" noChangeArrowheads="1"/>
            </p:cNvSpPr>
            <p:nvPr/>
          </p:nvSpPr>
          <p:spPr bwMode="auto">
            <a:xfrm>
              <a:off x="3276" y="1734"/>
              <a:ext cx="379" cy="135"/>
            </a:xfrm>
            <a:prstGeom prst="rect">
              <a:avLst/>
            </a:prstGeom>
            <a:solidFill>
              <a:srgbClr val="EAEAEA"/>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230" name="Rectangle 4"/>
            <p:cNvSpPr>
              <a:spLocks noChangeAspect="1" noChangeArrowheads="1"/>
            </p:cNvSpPr>
            <p:nvPr/>
          </p:nvSpPr>
          <p:spPr bwMode="auto">
            <a:xfrm>
              <a:off x="2057" y="1722"/>
              <a:ext cx="325" cy="136"/>
            </a:xfrm>
            <a:prstGeom prst="rect">
              <a:avLst/>
            </a:prstGeom>
            <a:solidFill>
              <a:srgbClr val="EAEAEA"/>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231" name="Freeform 5"/>
            <p:cNvSpPr>
              <a:spLocks noChangeAspect="1"/>
            </p:cNvSpPr>
            <p:nvPr/>
          </p:nvSpPr>
          <p:spPr bwMode="auto">
            <a:xfrm>
              <a:off x="1997" y="1641"/>
              <a:ext cx="1704" cy="292"/>
            </a:xfrm>
            <a:custGeom>
              <a:avLst/>
              <a:gdLst>
                <a:gd name="T0" fmla="*/ 0 w 3396"/>
                <a:gd name="T1" fmla="*/ 0 h 582"/>
                <a:gd name="T2" fmla="*/ 1 w 3396"/>
                <a:gd name="T3" fmla="*/ 37 h 582"/>
                <a:gd name="T4" fmla="*/ 56 w 3396"/>
                <a:gd name="T5" fmla="*/ 37 h 582"/>
                <a:gd name="T6" fmla="*/ 56 w 3396"/>
                <a:gd name="T7" fmla="*/ 17 h 582"/>
                <a:gd name="T8" fmla="*/ 154 w 3396"/>
                <a:gd name="T9" fmla="*/ 17 h 582"/>
                <a:gd name="T10" fmla="*/ 154 w 3396"/>
                <a:gd name="T11" fmla="*/ 36 h 582"/>
                <a:gd name="T12" fmla="*/ 215 w 3396"/>
                <a:gd name="T13" fmla="*/ 36 h 582"/>
                <a:gd name="T14" fmla="*/ 215 w 3396"/>
                <a:gd name="T15" fmla="*/ 1 h 582"/>
                <a:gd name="T16" fmla="*/ 207 w 3396"/>
                <a:gd name="T17" fmla="*/ 1 h 582"/>
                <a:gd name="T18" fmla="*/ 207 w 3396"/>
                <a:gd name="T19" fmla="*/ 28 h 582"/>
                <a:gd name="T20" fmla="*/ 162 w 3396"/>
                <a:gd name="T21" fmla="*/ 29 h 582"/>
                <a:gd name="T22" fmla="*/ 162 w 3396"/>
                <a:gd name="T23" fmla="*/ 8 h 582"/>
                <a:gd name="T24" fmla="*/ 48 w 3396"/>
                <a:gd name="T25" fmla="*/ 8 h 582"/>
                <a:gd name="T26" fmla="*/ 48 w 3396"/>
                <a:gd name="T27" fmla="*/ 27 h 582"/>
                <a:gd name="T28" fmla="*/ 10 w 3396"/>
                <a:gd name="T29" fmla="*/ 27 h 582"/>
                <a:gd name="T30" fmla="*/ 9 w 3396"/>
                <a:gd name="T31" fmla="*/ 0 h 582"/>
                <a:gd name="T32" fmla="*/ 0 w 3396"/>
                <a:gd name="T33" fmla="*/ 0 h 58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396"/>
                <a:gd name="T52" fmla="*/ 0 h 582"/>
                <a:gd name="T53" fmla="*/ 3396 w 3396"/>
                <a:gd name="T54" fmla="*/ 582 h 58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396" h="582">
                  <a:moveTo>
                    <a:pt x="0" y="0"/>
                  </a:moveTo>
                  <a:lnTo>
                    <a:pt x="12" y="582"/>
                  </a:lnTo>
                  <a:lnTo>
                    <a:pt x="882" y="582"/>
                  </a:lnTo>
                  <a:lnTo>
                    <a:pt x="882" y="270"/>
                  </a:lnTo>
                  <a:lnTo>
                    <a:pt x="2424" y="270"/>
                  </a:lnTo>
                  <a:lnTo>
                    <a:pt x="2424" y="564"/>
                  </a:lnTo>
                  <a:lnTo>
                    <a:pt x="3390" y="564"/>
                  </a:lnTo>
                  <a:lnTo>
                    <a:pt x="3396" y="6"/>
                  </a:lnTo>
                  <a:lnTo>
                    <a:pt x="3270" y="6"/>
                  </a:lnTo>
                  <a:lnTo>
                    <a:pt x="3270" y="444"/>
                  </a:lnTo>
                  <a:lnTo>
                    <a:pt x="2556" y="450"/>
                  </a:lnTo>
                  <a:lnTo>
                    <a:pt x="2556" y="120"/>
                  </a:lnTo>
                  <a:lnTo>
                    <a:pt x="756" y="126"/>
                  </a:lnTo>
                  <a:lnTo>
                    <a:pt x="756" y="426"/>
                  </a:lnTo>
                  <a:lnTo>
                    <a:pt x="150" y="426"/>
                  </a:lnTo>
                  <a:lnTo>
                    <a:pt x="144" y="0"/>
                  </a:lnTo>
                  <a:lnTo>
                    <a:pt x="0" y="0"/>
                  </a:lnTo>
                  <a:close/>
                </a:path>
              </a:pathLst>
            </a:custGeom>
            <a:solidFill>
              <a:srgbClr val="4D4D4D"/>
            </a:solidFill>
            <a:ln w="6350">
              <a:solidFill>
                <a:schemeClr val="bg2"/>
              </a:solidFill>
              <a:round/>
            </a:ln>
          </p:spPr>
          <p:txBody>
            <a:bodyPr wrap="none" anchor="ctr"/>
            <a:lstStyle/>
            <a:p>
              <a:endParaRPr lang="zh-CN" altLang="en-US"/>
            </a:p>
          </p:txBody>
        </p:sp>
        <p:grpSp>
          <p:nvGrpSpPr>
            <p:cNvPr id="148232" name="Group 6"/>
            <p:cNvGrpSpPr>
              <a:grpSpLocks noChangeAspect="1"/>
            </p:cNvGrpSpPr>
            <p:nvPr/>
          </p:nvGrpSpPr>
          <p:grpSpPr bwMode="auto">
            <a:xfrm>
              <a:off x="3405" y="1755"/>
              <a:ext cx="203" cy="26"/>
              <a:chOff x="251" y="1182"/>
              <a:chExt cx="1050" cy="135"/>
            </a:xfrm>
          </p:grpSpPr>
          <p:grpSp>
            <p:nvGrpSpPr>
              <p:cNvPr id="148390" name="Group 7"/>
              <p:cNvGrpSpPr>
                <a:grpSpLocks noChangeAspect="1"/>
              </p:cNvGrpSpPr>
              <p:nvPr/>
            </p:nvGrpSpPr>
            <p:grpSpPr bwMode="auto">
              <a:xfrm>
                <a:off x="251" y="1185"/>
                <a:ext cx="110" cy="132"/>
                <a:chOff x="906" y="2412"/>
                <a:chExt cx="552" cy="660"/>
              </a:xfrm>
            </p:grpSpPr>
            <p:sp>
              <p:nvSpPr>
                <p:cNvPr id="148404" name="Freeform 8"/>
                <p:cNvSpPr>
                  <a:spLocks noChangeAspect="1"/>
                </p:cNvSpPr>
                <p:nvPr/>
              </p:nvSpPr>
              <p:spPr bwMode="auto">
                <a:xfrm>
                  <a:off x="906" y="2418"/>
                  <a:ext cx="552" cy="1"/>
                </a:xfrm>
                <a:custGeom>
                  <a:avLst/>
                  <a:gdLst>
                    <a:gd name="T0" fmla="*/ 0 w 552"/>
                    <a:gd name="T1" fmla="*/ 0 h 1"/>
                    <a:gd name="T2" fmla="*/ 552 w 552"/>
                    <a:gd name="T3" fmla="*/ 0 h 1"/>
                    <a:gd name="T4" fmla="*/ 0 60000 65536"/>
                    <a:gd name="T5" fmla="*/ 0 60000 65536"/>
                    <a:gd name="T6" fmla="*/ 0 w 552"/>
                    <a:gd name="T7" fmla="*/ 0 h 1"/>
                    <a:gd name="T8" fmla="*/ 552 w 552"/>
                    <a:gd name="T9" fmla="*/ 1 h 1"/>
                  </a:gdLst>
                  <a:ahLst/>
                  <a:cxnLst>
                    <a:cxn ang="T4">
                      <a:pos x="T0" y="T1"/>
                    </a:cxn>
                    <a:cxn ang="T5">
                      <a:pos x="T2" y="T3"/>
                    </a:cxn>
                  </a:cxnLst>
                  <a:rect l="T6" t="T7" r="T8" b="T9"/>
                  <a:pathLst>
                    <a:path w="552" h="1">
                      <a:moveTo>
                        <a:pt x="0" y="0"/>
                      </a:moveTo>
                      <a:cubicBezTo>
                        <a:pt x="230" y="0"/>
                        <a:pt x="461" y="0"/>
                        <a:pt x="552" y="0"/>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405" name="Freeform 9"/>
                <p:cNvSpPr>
                  <a:spLocks noChangeAspect="1"/>
                </p:cNvSpPr>
                <p:nvPr/>
              </p:nvSpPr>
              <p:spPr bwMode="auto">
                <a:xfrm>
                  <a:off x="1176" y="2412"/>
                  <a:ext cx="1" cy="660"/>
                </a:xfrm>
                <a:custGeom>
                  <a:avLst/>
                  <a:gdLst>
                    <a:gd name="T0" fmla="*/ 0 w 1"/>
                    <a:gd name="T1" fmla="*/ 0 h 660"/>
                    <a:gd name="T2" fmla="*/ 0 w 1"/>
                    <a:gd name="T3" fmla="*/ 660 h 660"/>
                    <a:gd name="T4" fmla="*/ 0 60000 65536"/>
                    <a:gd name="T5" fmla="*/ 0 60000 65536"/>
                    <a:gd name="T6" fmla="*/ 0 w 1"/>
                    <a:gd name="T7" fmla="*/ 0 h 660"/>
                    <a:gd name="T8" fmla="*/ 1 w 1"/>
                    <a:gd name="T9" fmla="*/ 660 h 660"/>
                  </a:gdLst>
                  <a:ahLst/>
                  <a:cxnLst>
                    <a:cxn ang="T4">
                      <a:pos x="T0" y="T1"/>
                    </a:cxn>
                    <a:cxn ang="T5">
                      <a:pos x="T2" y="T3"/>
                    </a:cxn>
                  </a:cxnLst>
                  <a:rect l="T6" t="T7" r="T8" b="T9"/>
                  <a:pathLst>
                    <a:path w="1" h="660">
                      <a:moveTo>
                        <a:pt x="0" y="0"/>
                      </a:moveTo>
                      <a:cubicBezTo>
                        <a:pt x="0" y="275"/>
                        <a:pt x="0" y="550"/>
                        <a:pt x="0" y="660"/>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48391" name="Freeform 10"/>
              <p:cNvSpPr>
                <a:spLocks noChangeAspect="1"/>
              </p:cNvSpPr>
              <p:nvPr/>
            </p:nvSpPr>
            <p:spPr bwMode="auto">
              <a:xfrm>
                <a:off x="403" y="1182"/>
                <a:ext cx="98" cy="135"/>
              </a:xfrm>
              <a:custGeom>
                <a:avLst/>
                <a:gdLst>
                  <a:gd name="T0" fmla="*/ 0 w 468"/>
                  <a:gd name="T1" fmla="*/ 1 h 642"/>
                  <a:gd name="T2" fmla="*/ 0 w 468"/>
                  <a:gd name="T3" fmla="*/ 0 h 642"/>
                  <a:gd name="T4" fmla="*/ 0 w 468"/>
                  <a:gd name="T5" fmla="*/ 0 h 642"/>
                  <a:gd name="T6" fmla="*/ 1 w 468"/>
                  <a:gd name="T7" fmla="*/ 0 h 642"/>
                  <a:gd name="T8" fmla="*/ 1 w 468"/>
                  <a:gd name="T9" fmla="*/ 0 h 642"/>
                  <a:gd name="T10" fmla="*/ 0 w 468"/>
                  <a:gd name="T11" fmla="*/ 1 h 642"/>
                  <a:gd name="T12" fmla="*/ 0 w 468"/>
                  <a:gd name="T13" fmla="*/ 1 h 642"/>
                  <a:gd name="T14" fmla="*/ 0 w 468"/>
                  <a:gd name="T15" fmla="*/ 1 h 642"/>
                  <a:gd name="T16" fmla="*/ 1 w 468"/>
                  <a:gd name="T17" fmla="*/ 1 h 6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68"/>
                  <a:gd name="T28" fmla="*/ 0 h 642"/>
                  <a:gd name="T29" fmla="*/ 468 w 468"/>
                  <a:gd name="T30" fmla="*/ 642 h 64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68" h="642">
                    <a:moveTo>
                      <a:pt x="6" y="636"/>
                    </a:moveTo>
                    <a:lnTo>
                      <a:pt x="0" y="0"/>
                    </a:lnTo>
                    <a:lnTo>
                      <a:pt x="234" y="0"/>
                    </a:lnTo>
                    <a:cubicBezTo>
                      <a:pt x="303" y="11"/>
                      <a:pt x="386" y="26"/>
                      <a:pt x="414" y="66"/>
                    </a:cubicBezTo>
                    <a:cubicBezTo>
                      <a:pt x="442" y="106"/>
                      <a:pt x="436" y="200"/>
                      <a:pt x="402" y="240"/>
                    </a:cubicBezTo>
                    <a:cubicBezTo>
                      <a:pt x="368" y="280"/>
                      <a:pt x="277" y="295"/>
                      <a:pt x="210" y="306"/>
                    </a:cubicBezTo>
                    <a:lnTo>
                      <a:pt x="0" y="306"/>
                    </a:lnTo>
                    <a:lnTo>
                      <a:pt x="216" y="312"/>
                    </a:lnTo>
                    <a:cubicBezTo>
                      <a:pt x="294" y="368"/>
                      <a:pt x="426" y="587"/>
                      <a:pt x="468" y="642"/>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8392" name="Group 11"/>
              <p:cNvGrpSpPr>
                <a:grpSpLocks noChangeAspect="1"/>
              </p:cNvGrpSpPr>
              <p:nvPr/>
            </p:nvGrpSpPr>
            <p:grpSpPr bwMode="auto">
              <a:xfrm>
                <a:off x="544" y="1190"/>
                <a:ext cx="99" cy="127"/>
                <a:chOff x="263" y="1301"/>
                <a:chExt cx="540" cy="690"/>
              </a:xfrm>
            </p:grpSpPr>
            <p:sp>
              <p:nvSpPr>
                <p:cNvPr id="148402" name="Freeform 12"/>
                <p:cNvSpPr>
                  <a:spLocks noChangeAspect="1"/>
                </p:cNvSpPr>
                <p:nvPr/>
              </p:nvSpPr>
              <p:spPr bwMode="auto">
                <a:xfrm>
                  <a:off x="263" y="1301"/>
                  <a:ext cx="540" cy="690"/>
                </a:xfrm>
                <a:custGeom>
                  <a:avLst/>
                  <a:gdLst>
                    <a:gd name="T0" fmla="*/ 0 w 540"/>
                    <a:gd name="T1" fmla="*/ 690 h 690"/>
                    <a:gd name="T2" fmla="*/ 264 w 540"/>
                    <a:gd name="T3" fmla="*/ 0 h 690"/>
                    <a:gd name="T4" fmla="*/ 540 w 540"/>
                    <a:gd name="T5" fmla="*/ 678 h 690"/>
                    <a:gd name="T6" fmla="*/ 0 60000 65536"/>
                    <a:gd name="T7" fmla="*/ 0 60000 65536"/>
                    <a:gd name="T8" fmla="*/ 0 60000 65536"/>
                    <a:gd name="T9" fmla="*/ 0 w 540"/>
                    <a:gd name="T10" fmla="*/ 0 h 690"/>
                    <a:gd name="T11" fmla="*/ 540 w 540"/>
                    <a:gd name="T12" fmla="*/ 690 h 690"/>
                  </a:gdLst>
                  <a:ahLst/>
                  <a:cxnLst>
                    <a:cxn ang="T6">
                      <a:pos x="T0" y="T1"/>
                    </a:cxn>
                    <a:cxn ang="T7">
                      <a:pos x="T2" y="T3"/>
                    </a:cxn>
                    <a:cxn ang="T8">
                      <a:pos x="T4" y="T5"/>
                    </a:cxn>
                  </a:cxnLst>
                  <a:rect l="T9" t="T10" r="T11" b="T12"/>
                  <a:pathLst>
                    <a:path w="540" h="690">
                      <a:moveTo>
                        <a:pt x="0" y="690"/>
                      </a:moveTo>
                      <a:lnTo>
                        <a:pt x="264" y="0"/>
                      </a:lnTo>
                      <a:lnTo>
                        <a:pt x="540" y="678"/>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403" name="Line 13"/>
                <p:cNvSpPr>
                  <a:spLocks noChangeAspect="1" noChangeShapeType="1"/>
                </p:cNvSpPr>
                <p:nvPr/>
              </p:nvSpPr>
              <p:spPr bwMode="auto">
                <a:xfrm>
                  <a:off x="359" y="1727"/>
                  <a:ext cx="336" cy="0"/>
                </a:xfrm>
                <a:prstGeom prst="line">
                  <a:avLst/>
                </a:prstGeom>
                <a:noFill/>
                <a:ln w="63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48393" name="Freeform 14"/>
              <p:cNvSpPr>
                <a:spLocks noChangeAspect="1"/>
              </p:cNvSpPr>
              <p:nvPr/>
            </p:nvSpPr>
            <p:spPr bwMode="auto">
              <a:xfrm>
                <a:off x="686" y="1187"/>
                <a:ext cx="81" cy="130"/>
              </a:xfrm>
              <a:custGeom>
                <a:avLst/>
                <a:gdLst>
                  <a:gd name="T0" fmla="*/ 0 w 426"/>
                  <a:gd name="T1" fmla="*/ 1 h 684"/>
                  <a:gd name="T2" fmla="*/ 0 w 426"/>
                  <a:gd name="T3" fmla="*/ 0 h 684"/>
                  <a:gd name="T4" fmla="*/ 1 w 426"/>
                  <a:gd name="T5" fmla="*/ 1 h 684"/>
                  <a:gd name="T6" fmla="*/ 1 w 426"/>
                  <a:gd name="T7" fmla="*/ 0 h 684"/>
                  <a:gd name="T8" fmla="*/ 0 60000 65536"/>
                  <a:gd name="T9" fmla="*/ 0 60000 65536"/>
                  <a:gd name="T10" fmla="*/ 0 60000 65536"/>
                  <a:gd name="T11" fmla="*/ 0 60000 65536"/>
                  <a:gd name="T12" fmla="*/ 0 w 426"/>
                  <a:gd name="T13" fmla="*/ 0 h 684"/>
                  <a:gd name="T14" fmla="*/ 426 w 426"/>
                  <a:gd name="T15" fmla="*/ 684 h 684"/>
                </a:gdLst>
                <a:ahLst/>
                <a:cxnLst>
                  <a:cxn ang="T8">
                    <a:pos x="T0" y="T1"/>
                  </a:cxn>
                  <a:cxn ang="T9">
                    <a:pos x="T2" y="T3"/>
                  </a:cxn>
                  <a:cxn ang="T10">
                    <a:pos x="T4" y="T5"/>
                  </a:cxn>
                  <a:cxn ang="T11">
                    <a:pos x="T6" y="T7"/>
                  </a:cxn>
                </a:cxnLst>
                <a:rect l="T12" t="T13" r="T14" b="T15"/>
                <a:pathLst>
                  <a:path w="426" h="684">
                    <a:moveTo>
                      <a:pt x="0" y="684"/>
                    </a:moveTo>
                    <a:lnTo>
                      <a:pt x="0" y="6"/>
                    </a:lnTo>
                    <a:lnTo>
                      <a:pt x="426" y="672"/>
                    </a:lnTo>
                    <a:lnTo>
                      <a:pt x="426" y="0"/>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394" name="Freeform 15"/>
              <p:cNvSpPr>
                <a:spLocks noChangeAspect="1"/>
              </p:cNvSpPr>
              <p:nvPr/>
            </p:nvSpPr>
            <p:spPr bwMode="auto">
              <a:xfrm>
                <a:off x="809" y="1184"/>
                <a:ext cx="98" cy="133"/>
              </a:xfrm>
              <a:custGeom>
                <a:avLst/>
                <a:gdLst>
                  <a:gd name="T0" fmla="*/ 1 w 464"/>
                  <a:gd name="T1" fmla="*/ 0 h 632"/>
                  <a:gd name="T2" fmla="*/ 1 w 464"/>
                  <a:gd name="T3" fmla="*/ 0 h 632"/>
                  <a:gd name="T4" fmla="*/ 0 w 464"/>
                  <a:gd name="T5" fmla="*/ 0 h 632"/>
                  <a:gd name="T6" fmla="*/ 0 w 464"/>
                  <a:gd name="T7" fmla="*/ 0 h 632"/>
                  <a:gd name="T8" fmla="*/ 0 w 464"/>
                  <a:gd name="T9" fmla="*/ 1 h 632"/>
                  <a:gd name="T10" fmla="*/ 1 w 464"/>
                  <a:gd name="T11" fmla="*/ 1 h 632"/>
                  <a:gd name="T12" fmla="*/ 1 w 464"/>
                  <a:gd name="T13" fmla="*/ 1 h 632"/>
                  <a:gd name="T14" fmla="*/ 0 w 464"/>
                  <a:gd name="T15" fmla="*/ 1 h 632"/>
                  <a:gd name="T16" fmla="*/ 0 w 464"/>
                  <a:gd name="T17" fmla="*/ 1 h 632"/>
                  <a:gd name="T18" fmla="*/ 0 w 464"/>
                  <a:gd name="T19" fmla="*/ 1 h 63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64"/>
                  <a:gd name="T31" fmla="*/ 0 h 632"/>
                  <a:gd name="T32" fmla="*/ 464 w 464"/>
                  <a:gd name="T33" fmla="*/ 632 h 63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64" h="632">
                    <a:moveTo>
                      <a:pt x="414" y="178"/>
                    </a:moveTo>
                    <a:cubicBezTo>
                      <a:pt x="403" y="157"/>
                      <a:pt x="387" y="80"/>
                      <a:pt x="348" y="52"/>
                    </a:cubicBezTo>
                    <a:cubicBezTo>
                      <a:pt x="309" y="24"/>
                      <a:pt x="233" y="0"/>
                      <a:pt x="180" y="10"/>
                    </a:cubicBezTo>
                    <a:cubicBezTo>
                      <a:pt x="127" y="20"/>
                      <a:pt x="47" y="69"/>
                      <a:pt x="30" y="112"/>
                    </a:cubicBezTo>
                    <a:cubicBezTo>
                      <a:pt x="13" y="155"/>
                      <a:pt x="15" y="223"/>
                      <a:pt x="78" y="268"/>
                    </a:cubicBezTo>
                    <a:cubicBezTo>
                      <a:pt x="141" y="313"/>
                      <a:pt x="352" y="333"/>
                      <a:pt x="408" y="382"/>
                    </a:cubicBezTo>
                    <a:cubicBezTo>
                      <a:pt x="464" y="431"/>
                      <a:pt x="440" y="521"/>
                      <a:pt x="414" y="562"/>
                    </a:cubicBezTo>
                    <a:cubicBezTo>
                      <a:pt x="388" y="603"/>
                      <a:pt x="311" y="624"/>
                      <a:pt x="252" y="628"/>
                    </a:cubicBezTo>
                    <a:cubicBezTo>
                      <a:pt x="193" y="632"/>
                      <a:pt x="102" y="615"/>
                      <a:pt x="60" y="586"/>
                    </a:cubicBezTo>
                    <a:cubicBezTo>
                      <a:pt x="18" y="557"/>
                      <a:pt x="12" y="481"/>
                      <a:pt x="0" y="454"/>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8395" name="Group 16"/>
              <p:cNvGrpSpPr>
                <a:grpSpLocks noChangeAspect="1"/>
              </p:cNvGrpSpPr>
              <p:nvPr/>
            </p:nvGrpSpPr>
            <p:grpSpPr bwMode="auto">
              <a:xfrm>
                <a:off x="950" y="1190"/>
                <a:ext cx="80" cy="127"/>
                <a:chOff x="3653" y="1343"/>
                <a:chExt cx="384" cy="612"/>
              </a:xfrm>
            </p:grpSpPr>
            <p:sp>
              <p:nvSpPr>
                <p:cNvPr id="148400" name="Freeform 17"/>
                <p:cNvSpPr>
                  <a:spLocks noChangeAspect="1"/>
                </p:cNvSpPr>
                <p:nvPr/>
              </p:nvSpPr>
              <p:spPr bwMode="auto">
                <a:xfrm>
                  <a:off x="3653" y="1343"/>
                  <a:ext cx="384" cy="612"/>
                </a:xfrm>
                <a:custGeom>
                  <a:avLst/>
                  <a:gdLst>
                    <a:gd name="T0" fmla="*/ 384 w 384"/>
                    <a:gd name="T1" fmla="*/ 0 h 612"/>
                    <a:gd name="T2" fmla="*/ 0 w 384"/>
                    <a:gd name="T3" fmla="*/ 0 h 612"/>
                    <a:gd name="T4" fmla="*/ 0 w 384"/>
                    <a:gd name="T5" fmla="*/ 612 h 612"/>
                    <a:gd name="T6" fmla="*/ 0 60000 65536"/>
                    <a:gd name="T7" fmla="*/ 0 60000 65536"/>
                    <a:gd name="T8" fmla="*/ 0 60000 65536"/>
                    <a:gd name="T9" fmla="*/ 0 w 384"/>
                    <a:gd name="T10" fmla="*/ 0 h 612"/>
                    <a:gd name="T11" fmla="*/ 384 w 384"/>
                    <a:gd name="T12" fmla="*/ 612 h 612"/>
                  </a:gdLst>
                  <a:ahLst/>
                  <a:cxnLst>
                    <a:cxn ang="T6">
                      <a:pos x="T0" y="T1"/>
                    </a:cxn>
                    <a:cxn ang="T7">
                      <a:pos x="T2" y="T3"/>
                    </a:cxn>
                    <a:cxn ang="T8">
                      <a:pos x="T4" y="T5"/>
                    </a:cxn>
                  </a:cxnLst>
                  <a:rect l="T9" t="T10" r="T11" b="T12"/>
                  <a:pathLst>
                    <a:path w="384" h="612">
                      <a:moveTo>
                        <a:pt x="384" y="0"/>
                      </a:moveTo>
                      <a:lnTo>
                        <a:pt x="0" y="0"/>
                      </a:lnTo>
                      <a:lnTo>
                        <a:pt x="0" y="612"/>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401" name="Line 18"/>
                <p:cNvSpPr>
                  <a:spLocks noChangeAspect="1" noChangeShapeType="1"/>
                </p:cNvSpPr>
                <p:nvPr/>
              </p:nvSpPr>
              <p:spPr bwMode="auto">
                <a:xfrm flipH="1">
                  <a:off x="3653" y="1637"/>
                  <a:ext cx="324" cy="0"/>
                </a:xfrm>
                <a:prstGeom prst="line">
                  <a:avLst/>
                </a:prstGeom>
                <a:noFill/>
                <a:ln w="63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48396" name="Group 19"/>
              <p:cNvGrpSpPr>
                <a:grpSpLocks noChangeAspect="1"/>
              </p:cNvGrpSpPr>
              <p:nvPr/>
            </p:nvGrpSpPr>
            <p:grpSpPr bwMode="auto">
              <a:xfrm>
                <a:off x="1073" y="1190"/>
                <a:ext cx="87" cy="127"/>
                <a:chOff x="3017" y="1343"/>
                <a:chExt cx="420" cy="612"/>
              </a:xfrm>
            </p:grpSpPr>
            <p:sp>
              <p:nvSpPr>
                <p:cNvPr id="148398" name="Freeform 20"/>
                <p:cNvSpPr>
                  <a:spLocks noChangeAspect="1"/>
                </p:cNvSpPr>
                <p:nvPr/>
              </p:nvSpPr>
              <p:spPr bwMode="auto">
                <a:xfrm>
                  <a:off x="3017" y="1343"/>
                  <a:ext cx="420" cy="612"/>
                </a:xfrm>
                <a:custGeom>
                  <a:avLst/>
                  <a:gdLst>
                    <a:gd name="T0" fmla="*/ 420 w 420"/>
                    <a:gd name="T1" fmla="*/ 606 h 612"/>
                    <a:gd name="T2" fmla="*/ 0 w 420"/>
                    <a:gd name="T3" fmla="*/ 612 h 612"/>
                    <a:gd name="T4" fmla="*/ 6 w 420"/>
                    <a:gd name="T5" fmla="*/ 0 h 612"/>
                    <a:gd name="T6" fmla="*/ 402 w 420"/>
                    <a:gd name="T7" fmla="*/ 0 h 612"/>
                    <a:gd name="T8" fmla="*/ 0 60000 65536"/>
                    <a:gd name="T9" fmla="*/ 0 60000 65536"/>
                    <a:gd name="T10" fmla="*/ 0 60000 65536"/>
                    <a:gd name="T11" fmla="*/ 0 60000 65536"/>
                    <a:gd name="T12" fmla="*/ 0 w 420"/>
                    <a:gd name="T13" fmla="*/ 0 h 612"/>
                    <a:gd name="T14" fmla="*/ 420 w 420"/>
                    <a:gd name="T15" fmla="*/ 612 h 612"/>
                  </a:gdLst>
                  <a:ahLst/>
                  <a:cxnLst>
                    <a:cxn ang="T8">
                      <a:pos x="T0" y="T1"/>
                    </a:cxn>
                    <a:cxn ang="T9">
                      <a:pos x="T2" y="T3"/>
                    </a:cxn>
                    <a:cxn ang="T10">
                      <a:pos x="T4" y="T5"/>
                    </a:cxn>
                    <a:cxn ang="T11">
                      <a:pos x="T6" y="T7"/>
                    </a:cxn>
                  </a:cxnLst>
                  <a:rect l="T12" t="T13" r="T14" b="T15"/>
                  <a:pathLst>
                    <a:path w="420" h="612">
                      <a:moveTo>
                        <a:pt x="420" y="606"/>
                      </a:moveTo>
                      <a:lnTo>
                        <a:pt x="0" y="612"/>
                      </a:lnTo>
                      <a:lnTo>
                        <a:pt x="6" y="0"/>
                      </a:lnTo>
                      <a:lnTo>
                        <a:pt x="402" y="0"/>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399" name="Line 21"/>
                <p:cNvSpPr>
                  <a:spLocks noChangeAspect="1" noChangeShapeType="1"/>
                </p:cNvSpPr>
                <p:nvPr/>
              </p:nvSpPr>
              <p:spPr bwMode="auto">
                <a:xfrm>
                  <a:off x="3017" y="1637"/>
                  <a:ext cx="378" cy="0"/>
                </a:xfrm>
                <a:prstGeom prst="line">
                  <a:avLst/>
                </a:prstGeom>
                <a:noFill/>
                <a:ln w="63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48397" name="Freeform 22"/>
              <p:cNvSpPr>
                <a:spLocks noChangeAspect="1"/>
              </p:cNvSpPr>
              <p:nvPr/>
            </p:nvSpPr>
            <p:spPr bwMode="auto">
              <a:xfrm>
                <a:off x="1203" y="1182"/>
                <a:ext cx="98" cy="135"/>
              </a:xfrm>
              <a:custGeom>
                <a:avLst/>
                <a:gdLst>
                  <a:gd name="T0" fmla="*/ 0 w 468"/>
                  <a:gd name="T1" fmla="*/ 1 h 642"/>
                  <a:gd name="T2" fmla="*/ 0 w 468"/>
                  <a:gd name="T3" fmla="*/ 0 h 642"/>
                  <a:gd name="T4" fmla="*/ 0 w 468"/>
                  <a:gd name="T5" fmla="*/ 0 h 642"/>
                  <a:gd name="T6" fmla="*/ 1 w 468"/>
                  <a:gd name="T7" fmla="*/ 0 h 642"/>
                  <a:gd name="T8" fmla="*/ 1 w 468"/>
                  <a:gd name="T9" fmla="*/ 0 h 642"/>
                  <a:gd name="T10" fmla="*/ 0 w 468"/>
                  <a:gd name="T11" fmla="*/ 1 h 642"/>
                  <a:gd name="T12" fmla="*/ 0 w 468"/>
                  <a:gd name="T13" fmla="*/ 1 h 642"/>
                  <a:gd name="T14" fmla="*/ 0 w 468"/>
                  <a:gd name="T15" fmla="*/ 1 h 642"/>
                  <a:gd name="T16" fmla="*/ 1 w 468"/>
                  <a:gd name="T17" fmla="*/ 1 h 6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68"/>
                  <a:gd name="T28" fmla="*/ 0 h 642"/>
                  <a:gd name="T29" fmla="*/ 468 w 468"/>
                  <a:gd name="T30" fmla="*/ 642 h 64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68" h="642">
                    <a:moveTo>
                      <a:pt x="6" y="636"/>
                    </a:moveTo>
                    <a:lnTo>
                      <a:pt x="0" y="0"/>
                    </a:lnTo>
                    <a:lnTo>
                      <a:pt x="234" y="0"/>
                    </a:lnTo>
                    <a:cubicBezTo>
                      <a:pt x="303" y="11"/>
                      <a:pt x="386" y="26"/>
                      <a:pt x="414" y="66"/>
                    </a:cubicBezTo>
                    <a:cubicBezTo>
                      <a:pt x="442" y="106"/>
                      <a:pt x="436" y="200"/>
                      <a:pt x="402" y="240"/>
                    </a:cubicBezTo>
                    <a:cubicBezTo>
                      <a:pt x="368" y="280"/>
                      <a:pt x="277" y="295"/>
                      <a:pt x="210" y="306"/>
                    </a:cubicBezTo>
                    <a:lnTo>
                      <a:pt x="0" y="306"/>
                    </a:lnTo>
                    <a:lnTo>
                      <a:pt x="216" y="312"/>
                    </a:lnTo>
                    <a:cubicBezTo>
                      <a:pt x="294" y="368"/>
                      <a:pt x="426" y="587"/>
                      <a:pt x="468" y="642"/>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148233" name="Group 23"/>
            <p:cNvGrpSpPr>
              <a:grpSpLocks noChangeAspect="1"/>
            </p:cNvGrpSpPr>
            <p:nvPr/>
          </p:nvGrpSpPr>
          <p:grpSpPr bwMode="auto">
            <a:xfrm>
              <a:off x="3439" y="1808"/>
              <a:ext cx="144" cy="26"/>
              <a:chOff x="168" y="32"/>
              <a:chExt cx="748" cy="135"/>
            </a:xfrm>
          </p:grpSpPr>
          <p:sp>
            <p:nvSpPr>
              <p:cNvPr id="148378" name="Freeform 24"/>
              <p:cNvSpPr>
                <a:spLocks noChangeAspect="1"/>
              </p:cNvSpPr>
              <p:nvPr/>
            </p:nvSpPr>
            <p:spPr bwMode="auto">
              <a:xfrm>
                <a:off x="168" y="40"/>
                <a:ext cx="92" cy="127"/>
              </a:xfrm>
              <a:custGeom>
                <a:avLst/>
                <a:gdLst>
                  <a:gd name="T0" fmla="*/ 0 w 442"/>
                  <a:gd name="T1" fmla="*/ 0 h 612"/>
                  <a:gd name="T2" fmla="*/ 0 w 442"/>
                  <a:gd name="T3" fmla="*/ 1 h 612"/>
                  <a:gd name="T4" fmla="*/ 0 w 442"/>
                  <a:gd name="T5" fmla="*/ 1 h 612"/>
                  <a:gd name="T6" fmla="*/ 1 w 442"/>
                  <a:gd name="T7" fmla="*/ 1 h 612"/>
                  <a:gd name="T8" fmla="*/ 1 w 442"/>
                  <a:gd name="T9" fmla="*/ 1 h 612"/>
                  <a:gd name="T10" fmla="*/ 0 w 442"/>
                  <a:gd name="T11" fmla="*/ 1 h 612"/>
                  <a:gd name="T12" fmla="*/ 0 w 442"/>
                  <a:gd name="T13" fmla="*/ 0 h 612"/>
                  <a:gd name="T14" fmla="*/ 0 w 442"/>
                  <a:gd name="T15" fmla="*/ 0 h 612"/>
                  <a:gd name="T16" fmla="*/ 1 w 442"/>
                  <a:gd name="T17" fmla="*/ 0 h 612"/>
                  <a:gd name="T18" fmla="*/ 1 w 442"/>
                  <a:gd name="T19" fmla="*/ 0 h 612"/>
                  <a:gd name="T20" fmla="*/ 0 w 442"/>
                  <a:gd name="T21" fmla="*/ 0 h 612"/>
                  <a:gd name="T22" fmla="*/ 0 w 442"/>
                  <a:gd name="T23" fmla="*/ 0 h 61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42"/>
                  <a:gd name="T37" fmla="*/ 0 h 612"/>
                  <a:gd name="T38" fmla="*/ 442 w 442"/>
                  <a:gd name="T39" fmla="*/ 612 h 61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42" h="612">
                    <a:moveTo>
                      <a:pt x="0" y="0"/>
                    </a:moveTo>
                    <a:lnTo>
                      <a:pt x="0" y="612"/>
                    </a:lnTo>
                    <a:lnTo>
                      <a:pt x="288" y="612"/>
                    </a:lnTo>
                    <a:cubicBezTo>
                      <a:pt x="356" y="602"/>
                      <a:pt x="386" y="589"/>
                      <a:pt x="408" y="552"/>
                    </a:cubicBezTo>
                    <a:cubicBezTo>
                      <a:pt x="430" y="515"/>
                      <a:pt x="442" y="433"/>
                      <a:pt x="420" y="390"/>
                    </a:cubicBezTo>
                    <a:cubicBezTo>
                      <a:pt x="398" y="347"/>
                      <a:pt x="346" y="311"/>
                      <a:pt x="276" y="294"/>
                    </a:cubicBezTo>
                    <a:lnTo>
                      <a:pt x="0" y="288"/>
                    </a:lnTo>
                    <a:lnTo>
                      <a:pt x="288" y="288"/>
                    </a:lnTo>
                    <a:cubicBezTo>
                      <a:pt x="355" y="269"/>
                      <a:pt x="387" y="213"/>
                      <a:pt x="402" y="174"/>
                    </a:cubicBezTo>
                    <a:cubicBezTo>
                      <a:pt x="417" y="135"/>
                      <a:pt x="403" y="83"/>
                      <a:pt x="378" y="54"/>
                    </a:cubicBezTo>
                    <a:cubicBezTo>
                      <a:pt x="353" y="25"/>
                      <a:pt x="315" y="9"/>
                      <a:pt x="252" y="0"/>
                    </a:cubicBezTo>
                    <a:lnTo>
                      <a:pt x="0" y="0"/>
                    </a:lnTo>
                    <a:close/>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379" name="Freeform 25"/>
              <p:cNvSpPr>
                <a:spLocks noChangeAspect="1"/>
              </p:cNvSpPr>
              <p:nvPr/>
            </p:nvSpPr>
            <p:spPr bwMode="auto">
              <a:xfrm>
                <a:off x="303" y="43"/>
                <a:ext cx="92" cy="124"/>
              </a:xfrm>
              <a:custGeom>
                <a:avLst/>
                <a:gdLst>
                  <a:gd name="T0" fmla="*/ 3 w 285"/>
                  <a:gd name="T1" fmla="*/ 0 h 383"/>
                  <a:gd name="T2" fmla="*/ 3 w 285"/>
                  <a:gd name="T3" fmla="*/ 2 h 383"/>
                  <a:gd name="T4" fmla="*/ 3 w 285"/>
                  <a:gd name="T5" fmla="*/ 4 h 383"/>
                  <a:gd name="T6" fmla="*/ 2 w 285"/>
                  <a:gd name="T7" fmla="*/ 4 h 383"/>
                  <a:gd name="T8" fmla="*/ 0 w 285"/>
                  <a:gd name="T9" fmla="*/ 4 h 383"/>
                  <a:gd name="T10" fmla="*/ 0 w 285"/>
                  <a:gd name="T11" fmla="*/ 2 h 383"/>
                  <a:gd name="T12" fmla="*/ 0 w 285"/>
                  <a:gd name="T13" fmla="*/ 0 h 383"/>
                  <a:gd name="T14" fmla="*/ 0 60000 65536"/>
                  <a:gd name="T15" fmla="*/ 0 60000 65536"/>
                  <a:gd name="T16" fmla="*/ 0 60000 65536"/>
                  <a:gd name="T17" fmla="*/ 0 60000 65536"/>
                  <a:gd name="T18" fmla="*/ 0 60000 65536"/>
                  <a:gd name="T19" fmla="*/ 0 60000 65536"/>
                  <a:gd name="T20" fmla="*/ 0 60000 65536"/>
                  <a:gd name="T21" fmla="*/ 0 w 285"/>
                  <a:gd name="T22" fmla="*/ 0 h 383"/>
                  <a:gd name="T23" fmla="*/ 285 w 285"/>
                  <a:gd name="T24" fmla="*/ 383 h 38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85" h="383">
                    <a:moveTo>
                      <a:pt x="283" y="3"/>
                    </a:moveTo>
                    <a:cubicBezTo>
                      <a:pt x="283" y="37"/>
                      <a:pt x="285" y="147"/>
                      <a:pt x="279" y="203"/>
                    </a:cubicBezTo>
                    <a:cubicBezTo>
                      <a:pt x="273" y="259"/>
                      <a:pt x="272" y="309"/>
                      <a:pt x="247" y="339"/>
                    </a:cubicBezTo>
                    <a:cubicBezTo>
                      <a:pt x="222" y="369"/>
                      <a:pt x="167" y="383"/>
                      <a:pt x="130" y="382"/>
                    </a:cubicBezTo>
                    <a:cubicBezTo>
                      <a:pt x="93" y="381"/>
                      <a:pt x="48" y="356"/>
                      <a:pt x="27" y="330"/>
                    </a:cubicBezTo>
                    <a:cubicBezTo>
                      <a:pt x="6" y="303"/>
                      <a:pt x="8" y="276"/>
                      <a:pt x="4" y="221"/>
                    </a:cubicBezTo>
                    <a:cubicBezTo>
                      <a:pt x="0" y="167"/>
                      <a:pt x="4" y="37"/>
                      <a:pt x="4" y="0"/>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8380" name="Group 26"/>
              <p:cNvGrpSpPr>
                <a:grpSpLocks noChangeAspect="1"/>
              </p:cNvGrpSpPr>
              <p:nvPr/>
            </p:nvGrpSpPr>
            <p:grpSpPr bwMode="auto">
              <a:xfrm>
                <a:off x="563" y="40"/>
                <a:ext cx="80" cy="127"/>
                <a:chOff x="3653" y="1343"/>
                <a:chExt cx="384" cy="612"/>
              </a:xfrm>
            </p:grpSpPr>
            <p:sp>
              <p:nvSpPr>
                <p:cNvPr id="148388" name="Freeform 27"/>
                <p:cNvSpPr>
                  <a:spLocks noChangeAspect="1"/>
                </p:cNvSpPr>
                <p:nvPr/>
              </p:nvSpPr>
              <p:spPr bwMode="auto">
                <a:xfrm>
                  <a:off x="3653" y="1343"/>
                  <a:ext cx="384" cy="612"/>
                </a:xfrm>
                <a:custGeom>
                  <a:avLst/>
                  <a:gdLst>
                    <a:gd name="T0" fmla="*/ 384 w 384"/>
                    <a:gd name="T1" fmla="*/ 0 h 612"/>
                    <a:gd name="T2" fmla="*/ 0 w 384"/>
                    <a:gd name="T3" fmla="*/ 0 h 612"/>
                    <a:gd name="T4" fmla="*/ 0 w 384"/>
                    <a:gd name="T5" fmla="*/ 612 h 612"/>
                    <a:gd name="T6" fmla="*/ 0 60000 65536"/>
                    <a:gd name="T7" fmla="*/ 0 60000 65536"/>
                    <a:gd name="T8" fmla="*/ 0 60000 65536"/>
                    <a:gd name="T9" fmla="*/ 0 w 384"/>
                    <a:gd name="T10" fmla="*/ 0 h 612"/>
                    <a:gd name="T11" fmla="*/ 384 w 384"/>
                    <a:gd name="T12" fmla="*/ 612 h 612"/>
                  </a:gdLst>
                  <a:ahLst/>
                  <a:cxnLst>
                    <a:cxn ang="T6">
                      <a:pos x="T0" y="T1"/>
                    </a:cxn>
                    <a:cxn ang="T7">
                      <a:pos x="T2" y="T3"/>
                    </a:cxn>
                    <a:cxn ang="T8">
                      <a:pos x="T4" y="T5"/>
                    </a:cxn>
                  </a:cxnLst>
                  <a:rect l="T9" t="T10" r="T11" b="T12"/>
                  <a:pathLst>
                    <a:path w="384" h="612">
                      <a:moveTo>
                        <a:pt x="384" y="0"/>
                      </a:moveTo>
                      <a:lnTo>
                        <a:pt x="0" y="0"/>
                      </a:lnTo>
                      <a:lnTo>
                        <a:pt x="0" y="612"/>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389" name="Line 28"/>
                <p:cNvSpPr>
                  <a:spLocks noChangeAspect="1" noChangeShapeType="1"/>
                </p:cNvSpPr>
                <p:nvPr/>
              </p:nvSpPr>
              <p:spPr bwMode="auto">
                <a:xfrm flipH="1">
                  <a:off x="3653" y="1637"/>
                  <a:ext cx="324" cy="0"/>
                </a:xfrm>
                <a:prstGeom prst="line">
                  <a:avLst/>
                </a:prstGeom>
                <a:noFill/>
                <a:ln w="63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48381" name="Group 29"/>
              <p:cNvGrpSpPr>
                <a:grpSpLocks noChangeAspect="1"/>
              </p:cNvGrpSpPr>
              <p:nvPr/>
            </p:nvGrpSpPr>
            <p:grpSpPr bwMode="auto">
              <a:xfrm>
                <a:off x="439" y="40"/>
                <a:ext cx="80" cy="127"/>
                <a:chOff x="3653" y="1343"/>
                <a:chExt cx="384" cy="612"/>
              </a:xfrm>
            </p:grpSpPr>
            <p:sp>
              <p:nvSpPr>
                <p:cNvPr id="148386" name="Freeform 30"/>
                <p:cNvSpPr>
                  <a:spLocks noChangeAspect="1"/>
                </p:cNvSpPr>
                <p:nvPr/>
              </p:nvSpPr>
              <p:spPr bwMode="auto">
                <a:xfrm>
                  <a:off x="3653" y="1343"/>
                  <a:ext cx="384" cy="612"/>
                </a:xfrm>
                <a:custGeom>
                  <a:avLst/>
                  <a:gdLst>
                    <a:gd name="T0" fmla="*/ 384 w 384"/>
                    <a:gd name="T1" fmla="*/ 0 h 612"/>
                    <a:gd name="T2" fmla="*/ 0 w 384"/>
                    <a:gd name="T3" fmla="*/ 0 h 612"/>
                    <a:gd name="T4" fmla="*/ 0 w 384"/>
                    <a:gd name="T5" fmla="*/ 612 h 612"/>
                    <a:gd name="T6" fmla="*/ 0 60000 65536"/>
                    <a:gd name="T7" fmla="*/ 0 60000 65536"/>
                    <a:gd name="T8" fmla="*/ 0 60000 65536"/>
                    <a:gd name="T9" fmla="*/ 0 w 384"/>
                    <a:gd name="T10" fmla="*/ 0 h 612"/>
                    <a:gd name="T11" fmla="*/ 384 w 384"/>
                    <a:gd name="T12" fmla="*/ 612 h 612"/>
                  </a:gdLst>
                  <a:ahLst/>
                  <a:cxnLst>
                    <a:cxn ang="T6">
                      <a:pos x="T0" y="T1"/>
                    </a:cxn>
                    <a:cxn ang="T7">
                      <a:pos x="T2" y="T3"/>
                    </a:cxn>
                    <a:cxn ang="T8">
                      <a:pos x="T4" y="T5"/>
                    </a:cxn>
                  </a:cxnLst>
                  <a:rect l="T9" t="T10" r="T11" b="T12"/>
                  <a:pathLst>
                    <a:path w="384" h="612">
                      <a:moveTo>
                        <a:pt x="384" y="0"/>
                      </a:moveTo>
                      <a:lnTo>
                        <a:pt x="0" y="0"/>
                      </a:lnTo>
                      <a:lnTo>
                        <a:pt x="0" y="612"/>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387" name="Line 31"/>
                <p:cNvSpPr>
                  <a:spLocks noChangeAspect="1" noChangeShapeType="1"/>
                </p:cNvSpPr>
                <p:nvPr/>
              </p:nvSpPr>
              <p:spPr bwMode="auto">
                <a:xfrm flipH="1">
                  <a:off x="3653" y="1637"/>
                  <a:ext cx="324" cy="0"/>
                </a:xfrm>
                <a:prstGeom prst="line">
                  <a:avLst/>
                </a:prstGeom>
                <a:noFill/>
                <a:ln w="63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48382" name="Group 32"/>
              <p:cNvGrpSpPr>
                <a:grpSpLocks noChangeAspect="1"/>
              </p:cNvGrpSpPr>
              <p:nvPr/>
            </p:nvGrpSpPr>
            <p:grpSpPr bwMode="auto">
              <a:xfrm>
                <a:off x="687" y="40"/>
                <a:ext cx="87" cy="127"/>
                <a:chOff x="3017" y="1343"/>
                <a:chExt cx="420" cy="612"/>
              </a:xfrm>
            </p:grpSpPr>
            <p:sp>
              <p:nvSpPr>
                <p:cNvPr id="148384" name="Freeform 33"/>
                <p:cNvSpPr>
                  <a:spLocks noChangeAspect="1"/>
                </p:cNvSpPr>
                <p:nvPr/>
              </p:nvSpPr>
              <p:spPr bwMode="auto">
                <a:xfrm>
                  <a:off x="3017" y="1343"/>
                  <a:ext cx="420" cy="612"/>
                </a:xfrm>
                <a:custGeom>
                  <a:avLst/>
                  <a:gdLst>
                    <a:gd name="T0" fmla="*/ 420 w 420"/>
                    <a:gd name="T1" fmla="*/ 606 h 612"/>
                    <a:gd name="T2" fmla="*/ 0 w 420"/>
                    <a:gd name="T3" fmla="*/ 612 h 612"/>
                    <a:gd name="T4" fmla="*/ 6 w 420"/>
                    <a:gd name="T5" fmla="*/ 0 h 612"/>
                    <a:gd name="T6" fmla="*/ 402 w 420"/>
                    <a:gd name="T7" fmla="*/ 0 h 612"/>
                    <a:gd name="T8" fmla="*/ 0 60000 65536"/>
                    <a:gd name="T9" fmla="*/ 0 60000 65536"/>
                    <a:gd name="T10" fmla="*/ 0 60000 65536"/>
                    <a:gd name="T11" fmla="*/ 0 60000 65536"/>
                    <a:gd name="T12" fmla="*/ 0 w 420"/>
                    <a:gd name="T13" fmla="*/ 0 h 612"/>
                    <a:gd name="T14" fmla="*/ 420 w 420"/>
                    <a:gd name="T15" fmla="*/ 612 h 612"/>
                  </a:gdLst>
                  <a:ahLst/>
                  <a:cxnLst>
                    <a:cxn ang="T8">
                      <a:pos x="T0" y="T1"/>
                    </a:cxn>
                    <a:cxn ang="T9">
                      <a:pos x="T2" y="T3"/>
                    </a:cxn>
                    <a:cxn ang="T10">
                      <a:pos x="T4" y="T5"/>
                    </a:cxn>
                    <a:cxn ang="T11">
                      <a:pos x="T6" y="T7"/>
                    </a:cxn>
                  </a:cxnLst>
                  <a:rect l="T12" t="T13" r="T14" b="T15"/>
                  <a:pathLst>
                    <a:path w="420" h="612">
                      <a:moveTo>
                        <a:pt x="420" y="606"/>
                      </a:moveTo>
                      <a:lnTo>
                        <a:pt x="0" y="612"/>
                      </a:lnTo>
                      <a:lnTo>
                        <a:pt x="6" y="0"/>
                      </a:lnTo>
                      <a:lnTo>
                        <a:pt x="402" y="0"/>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385" name="Line 34"/>
                <p:cNvSpPr>
                  <a:spLocks noChangeAspect="1" noChangeShapeType="1"/>
                </p:cNvSpPr>
                <p:nvPr/>
              </p:nvSpPr>
              <p:spPr bwMode="auto">
                <a:xfrm>
                  <a:off x="3017" y="1637"/>
                  <a:ext cx="378" cy="0"/>
                </a:xfrm>
                <a:prstGeom prst="line">
                  <a:avLst/>
                </a:prstGeom>
                <a:noFill/>
                <a:ln w="63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48383" name="Freeform 35"/>
              <p:cNvSpPr>
                <a:spLocks noChangeAspect="1"/>
              </p:cNvSpPr>
              <p:nvPr/>
            </p:nvSpPr>
            <p:spPr bwMode="auto">
              <a:xfrm>
                <a:off x="818" y="32"/>
                <a:ext cx="98" cy="135"/>
              </a:xfrm>
              <a:custGeom>
                <a:avLst/>
                <a:gdLst>
                  <a:gd name="T0" fmla="*/ 0 w 468"/>
                  <a:gd name="T1" fmla="*/ 1 h 642"/>
                  <a:gd name="T2" fmla="*/ 0 w 468"/>
                  <a:gd name="T3" fmla="*/ 0 h 642"/>
                  <a:gd name="T4" fmla="*/ 0 w 468"/>
                  <a:gd name="T5" fmla="*/ 0 h 642"/>
                  <a:gd name="T6" fmla="*/ 1 w 468"/>
                  <a:gd name="T7" fmla="*/ 0 h 642"/>
                  <a:gd name="T8" fmla="*/ 1 w 468"/>
                  <a:gd name="T9" fmla="*/ 0 h 642"/>
                  <a:gd name="T10" fmla="*/ 0 w 468"/>
                  <a:gd name="T11" fmla="*/ 1 h 642"/>
                  <a:gd name="T12" fmla="*/ 0 w 468"/>
                  <a:gd name="T13" fmla="*/ 1 h 642"/>
                  <a:gd name="T14" fmla="*/ 0 w 468"/>
                  <a:gd name="T15" fmla="*/ 1 h 642"/>
                  <a:gd name="T16" fmla="*/ 1 w 468"/>
                  <a:gd name="T17" fmla="*/ 1 h 6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68"/>
                  <a:gd name="T28" fmla="*/ 0 h 642"/>
                  <a:gd name="T29" fmla="*/ 468 w 468"/>
                  <a:gd name="T30" fmla="*/ 642 h 64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68" h="642">
                    <a:moveTo>
                      <a:pt x="6" y="636"/>
                    </a:moveTo>
                    <a:lnTo>
                      <a:pt x="0" y="0"/>
                    </a:lnTo>
                    <a:lnTo>
                      <a:pt x="234" y="0"/>
                    </a:lnTo>
                    <a:cubicBezTo>
                      <a:pt x="303" y="11"/>
                      <a:pt x="386" y="26"/>
                      <a:pt x="414" y="66"/>
                    </a:cubicBezTo>
                    <a:cubicBezTo>
                      <a:pt x="442" y="106"/>
                      <a:pt x="436" y="200"/>
                      <a:pt x="402" y="240"/>
                    </a:cubicBezTo>
                    <a:cubicBezTo>
                      <a:pt x="368" y="280"/>
                      <a:pt x="277" y="295"/>
                      <a:pt x="210" y="306"/>
                    </a:cubicBezTo>
                    <a:lnTo>
                      <a:pt x="0" y="306"/>
                    </a:lnTo>
                    <a:lnTo>
                      <a:pt x="216" y="312"/>
                    </a:lnTo>
                    <a:cubicBezTo>
                      <a:pt x="294" y="368"/>
                      <a:pt x="426" y="587"/>
                      <a:pt x="468" y="642"/>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48234" name="Freeform 36"/>
            <p:cNvSpPr>
              <a:spLocks noChangeAspect="1"/>
            </p:cNvSpPr>
            <p:nvPr/>
          </p:nvSpPr>
          <p:spPr bwMode="auto">
            <a:xfrm>
              <a:off x="2235" y="1683"/>
              <a:ext cx="1201" cy="169"/>
            </a:xfrm>
            <a:custGeom>
              <a:avLst/>
              <a:gdLst>
                <a:gd name="T0" fmla="*/ 0 w 2394"/>
                <a:gd name="T1" fmla="*/ 20 h 337"/>
                <a:gd name="T2" fmla="*/ 12 w 2394"/>
                <a:gd name="T3" fmla="*/ 16 h 337"/>
                <a:gd name="T4" fmla="*/ 15 w 2394"/>
                <a:gd name="T5" fmla="*/ 4 h 337"/>
                <a:gd name="T6" fmla="*/ 18 w 2394"/>
                <a:gd name="T7" fmla="*/ 1 h 337"/>
                <a:gd name="T8" fmla="*/ 25 w 2394"/>
                <a:gd name="T9" fmla="*/ 1 h 337"/>
                <a:gd name="T10" fmla="*/ 131 w 2394"/>
                <a:gd name="T11" fmla="*/ 1 h 337"/>
                <a:gd name="T12" fmla="*/ 133 w 2394"/>
                <a:gd name="T13" fmla="*/ 1 h 337"/>
                <a:gd name="T14" fmla="*/ 133 w 2394"/>
                <a:gd name="T15" fmla="*/ 4 h 337"/>
                <a:gd name="T16" fmla="*/ 138 w 2394"/>
                <a:gd name="T17" fmla="*/ 17 h 337"/>
                <a:gd name="T18" fmla="*/ 152 w 2394"/>
                <a:gd name="T19" fmla="*/ 22 h 33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394"/>
                <a:gd name="T31" fmla="*/ 0 h 337"/>
                <a:gd name="T32" fmla="*/ 2394 w 2394"/>
                <a:gd name="T33" fmla="*/ 337 h 33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394" h="337">
                  <a:moveTo>
                    <a:pt x="0" y="307"/>
                  </a:moveTo>
                  <a:cubicBezTo>
                    <a:pt x="30" y="298"/>
                    <a:pt x="141" y="294"/>
                    <a:pt x="180" y="253"/>
                  </a:cubicBezTo>
                  <a:cubicBezTo>
                    <a:pt x="219" y="212"/>
                    <a:pt x="217" y="102"/>
                    <a:pt x="234" y="61"/>
                  </a:cubicBezTo>
                  <a:cubicBezTo>
                    <a:pt x="251" y="20"/>
                    <a:pt x="257" y="16"/>
                    <a:pt x="282" y="7"/>
                  </a:cubicBezTo>
                  <a:lnTo>
                    <a:pt x="384" y="7"/>
                  </a:lnTo>
                  <a:cubicBezTo>
                    <a:pt x="682" y="6"/>
                    <a:pt x="1783" y="0"/>
                    <a:pt x="2070" y="1"/>
                  </a:cubicBezTo>
                  <a:lnTo>
                    <a:pt x="2106" y="13"/>
                  </a:lnTo>
                  <a:lnTo>
                    <a:pt x="2106" y="61"/>
                  </a:lnTo>
                  <a:cubicBezTo>
                    <a:pt x="2118" y="102"/>
                    <a:pt x="2130" y="213"/>
                    <a:pt x="2178" y="259"/>
                  </a:cubicBezTo>
                  <a:cubicBezTo>
                    <a:pt x="2226" y="305"/>
                    <a:pt x="2349" y="321"/>
                    <a:pt x="2394" y="337"/>
                  </a:cubicBezTo>
                </a:path>
              </a:pathLst>
            </a:custGeom>
            <a:noFill/>
            <a:ln w="38100">
              <a:solidFill>
                <a:srgbClr val="96969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48235" name="Freeform 37"/>
            <p:cNvSpPr>
              <a:spLocks noChangeAspect="1"/>
            </p:cNvSpPr>
            <p:nvPr/>
          </p:nvSpPr>
          <p:spPr bwMode="auto">
            <a:xfrm>
              <a:off x="2367" y="1554"/>
              <a:ext cx="910" cy="123"/>
            </a:xfrm>
            <a:custGeom>
              <a:avLst/>
              <a:gdLst>
                <a:gd name="T0" fmla="*/ 0 w 1812"/>
                <a:gd name="T1" fmla="*/ 0 h 246"/>
                <a:gd name="T2" fmla="*/ 0 w 1812"/>
                <a:gd name="T3" fmla="*/ 16 h 246"/>
                <a:gd name="T4" fmla="*/ 116 w 1812"/>
                <a:gd name="T5" fmla="*/ 16 h 246"/>
                <a:gd name="T6" fmla="*/ 116 w 1812"/>
                <a:gd name="T7" fmla="*/ 1 h 246"/>
                <a:gd name="T8" fmla="*/ 0 w 1812"/>
                <a:gd name="T9" fmla="*/ 0 h 246"/>
                <a:gd name="T10" fmla="*/ 0 60000 65536"/>
                <a:gd name="T11" fmla="*/ 0 60000 65536"/>
                <a:gd name="T12" fmla="*/ 0 60000 65536"/>
                <a:gd name="T13" fmla="*/ 0 60000 65536"/>
                <a:gd name="T14" fmla="*/ 0 60000 65536"/>
                <a:gd name="T15" fmla="*/ 0 w 1812"/>
                <a:gd name="T16" fmla="*/ 0 h 246"/>
                <a:gd name="T17" fmla="*/ 1812 w 1812"/>
                <a:gd name="T18" fmla="*/ 246 h 246"/>
              </a:gdLst>
              <a:ahLst/>
              <a:cxnLst>
                <a:cxn ang="T10">
                  <a:pos x="T0" y="T1"/>
                </a:cxn>
                <a:cxn ang="T11">
                  <a:pos x="T2" y="T3"/>
                </a:cxn>
                <a:cxn ang="T12">
                  <a:pos x="T4" y="T5"/>
                </a:cxn>
                <a:cxn ang="T13">
                  <a:pos x="T6" y="T7"/>
                </a:cxn>
                <a:cxn ang="T14">
                  <a:pos x="T8" y="T9"/>
                </a:cxn>
              </a:cxnLst>
              <a:rect l="T15" t="T16" r="T17" b="T18"/>
              <a:pathLst>
                <a:path w="1812" h="246">
                  <a:moveTo>
                    <a:pt x="0" y="0"/>
                  </a:moveTo>
                  <a:lnTo>
                    <a:pt x="0" y="246"/>
                  </a:lnTo>
                  <a:lnTo>
                    <a:pt x="1812" y="246"/>
                  </a:lnTo>
                  <a:lnTo>
                    <a:pt x="1812" y="6"/>
                  </a:lnTo>
                  <a:lnTo>
                    <a:pt x="0" y="0"/>
                  </a:lnTo>
                  <a:close/>
                </a:path>
              </a:pathLst>
            </a:custGeom>
            <a:solidFill>
              <a:srgbClr val="DDDDDD"/>
            </a:solidFill>
            <a:ln w="6350">
              <a:solidFill>
                <a:srgbClr val="C0C0C0"/>
              </a:solidFill>
              <a:round/>
            </a:ln>
          </p:spPr>
          <p:txBody>
            <a:bodyPr wrap="none" anchor="ctr"/>
            <a:lstStyle/>
            <a:p>
              <a:endParaRPr lang="zh-CN" altLang="en-US"/>
            </a:p>
          </p:txBody>
        </p:sp>
        <p:sp>
          <p:nvSpPr>
            <p:cNvPr id="148236" name="Line 38"/>
            <p:cNvSpPr>
              <a:spLocks noChangeAspect="1" noChangeShapeType="1"/>
            </p:cNvSpPr>
            <p:nvPr/>
          </p:nvSpPr>
          <p:spPr bwMode="auto">
            <a:xfrm>
              <a:off x="2367" y="1536"/>
              <a:ext cx="906" cy="0"/>
            </a:xfrm>
            <a:prstGeom prst="line">
              <a:avLst/>
            </a:prstGeom>
            <a:noFill/>
            <a:ln w="19050">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8237" name="Line 39"/>
            <p:cNvSpPr>
              <a:spLocks noChangeAspect="1" noChangeShapeType="1"/>
            </p:cNvSpPr>
            <p:nvPr/>
          </p:nvSpPr>
          <p:spPr bwMode="auto">
            <a:xfrm>
              <a:off x="2367" y="1466"/>
              <a:ext cx="906" cy="0"/>
            </a:xfrm>
            <a:prstGeom prst="line">
              <a:avLst/>
            </a:prstGeom>
            <a:noFill/>
            <a:ln w="28575">
              <a:solidFill>
                <a:srgbClr val="969696"/>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8238" name="Line 40"/>
            <p:cNvSpPr>
              <a:spLocks noChangeAspect="1" noChangeShapeType="1"/>
            </p:cNvSpPr>
            <p:nvPr/>
          </p:nvSpPr>
          <p:spPr bwMode="auto">
            <a:xfrm>
              <a:off x="2367" y="1489"/>
              <a:ext cx="906" cy="0"/>
            </a:xfrm>
            <a:prstGeom prst="line">
              <a:avLst/>
            </a:prstGeom>
            <a:noFill/>
            <a:ln w="28575">
              <a:solidFill>
                <a:srgbClr val="969696"/>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8239" name="Line 41"/>
            <p:cNvSpPr>
              <a:spLocks noChangeAspect="1" noChangeShapeType="1"/>
            </p:cNvSpPr>
            <p:nvPr/>
          </p:nvSpPr>
          <p:spPr bwMode="auto">
            <a:xfrm>
              <a:off x="2367" y="1512"/>
              <a:ext cx="906" cy="0"/>
            </a:xfrm>
            <a:prstGeom prst="line">
              <a:avLst/>
            </a:prstGeom>
            <a:noFill/>
            <a:ln w="28575">
              <a:solidFill>
                <a:srgbClr val="969696"/>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8240" name="Line 42"/>
            <p:cNvSpPr>
              <a:spLocks noChangeAspect="1" noChangeShapeType="1"/>
            </p:cNvSpPr>
            <p:nvPr/>
          </p:nvSpPr>
          <p:spPr bwMode="auto">
            <a:xfrm flipV="1">
              <a:off x="2322" y="1298"/>
              <a:ext cx="0" cy="377"/>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48241" name="Group 43"/>
            <p:cNvGrpSpPr>
              <a:grpSpLocks noChangeAspect="1"/>
            </p:cNvGrpSpPr>
            <p:nvPr/>
          </p:nvGrpSpPr>
          <p:grpSpPr bwMode="auto">
            <a:xfrm>
              <a:off x="2089" y="1376"/>
              <a:ext cx="217" cy="46"/>
              <a:chOff x="386" y="618"/>
              <a:chExt cx="860" cy="184"/>
            </a:xfrm>
          </p:grpSpPr>
          <p:sp>
            <p:nvSpPr>
              <p:cNvPr id="148363" name="Freeform 44"/>
              <p:cNvSpPr>
                <a:spLocks noChangeAspect="1"/>
              </p:cNvSpPr>
              <p:nvPr/>
            </p:nvSpPr>
            <p:spPr bwMode="auto">
              <a:xfrm>
                <a:off x="386" y="627"/>
                <a:ext cx="102" cy="127"/>
              </a:xfrm>
              <a:custGeom>
                <a:avLst/>
                <a:gdLst>
                  <a:gd name="T0" fmla="*/ 1 w 524"/>
                  <a:gd name="T1" fmla="*/ 0 h 653"/>
                  <a:gd name="T2" fmla="*/ 1 w 524"/>
                  <a:gd name="T3" fmla="*/ 0 h 653"/>
                  <a:gd name="T4" fmla="*/ 0 w 524"/>
                  <a:gd name="T5" fmla="*/ 0 h 653"/>
                  <a:gd name="T6" fmla="*/ 0 w 524"/>
                  <a:gd name="T7" fmla="*/ 0 h 653"/>
                  <a:gd name="T8" fmla="*/ 0 w 524"/>
                  <a:gd name="T9" fmla="*/ 1 h 653"/>
                  <a:gd name="T10" fmla="*/ 0 w 524"/>
                  <a:gd name="T11" fmla="*/ 1 h 653"/>
                  <a:gd name="T12" fmla="*/ 1 w 524"/>
                  <a:gd name="T13" fmla="*/ 1 h 653"/>
                  <a:gd name="T14" fmla="*/ 1 w 524"/>
                  <a:gd name="T15" fmla="*/ 1 h 653"/>
                  <a:gd name="T16" fmla="*/ 1 w 524"/>
                  <a:gd name="T17" fmla="*/ 1 h 65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24"/>
                  <a:gd name="T28" fmla="*/ 0 h 653"/>
                  <a:gd name="T29" fmla="*/ 524 w 524"/>
                  <a:gd name="T30" fmla="*/ 653 h 65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24" h="653">
                    <a:moveTo>
                      <a:pt x="506" y="171"/>
                    </a:moveTo>
                    <a:cubicBezTo>
                      <a:pt x="489" y="150"/>
                      <a:pt x="456" y="70"/>
                      <a:pt x="404" y="45"/>
                    </a:cubicBezTo>
                    <a:cubicBezTo>
                      <a:pt x="352" y="20"/>
                      <a:pt x="256" y="0"/>
                      <a:pt x="194" y="21"/>
                    </a:cubicBezTo>
                    <a:cubicBezTo>
                      <a:pt x="132" y="42"/>
                      <a:pt x="62" y="102"/>
                      <a:pt x="32" y="171"/>
                    </a:cubicBezTo>
                    <a:cubicBezTo>
                      <a:pt x="2" y="240"/>
                      <a:pt x="0" y="363"/>
                      <a:pt x="14" y="435"/>
                    </a:cubicBezTo>
                    <a:cubicBezTo>
                      <a:pt x="28" y="507"/>
                      <a:pt x="62" y="568"/>
                      <a:pt x="116" y="603"/>
                    </a:cubicBezTo>
                    <a:cubicBezTo>
                      <a:pt x="170" y="638"/>
                      <a:pt x="277" y="653"/>
                      <a:pt x="338" y="645"/>
                    </a:cubicBezTo>
                    <a:cubicBezTo>
                      <a:pt x="399" y="637"/>
                      <a:pt x="451" y="586"/>
                      <a:pt x="482" y="555"/>
                    </a:cubicBezTo>
                    <a:cubicBezTo>
                      <a:pt x="513" y="524"/>
                      <a:pt x="515" y="479"/>
                      <a:pt x="524" y="459"/>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364" name="Freeform 45"/>
              <p:cNvSpPr>
                <a:spLocks noChangeAspect="1"/>
              </p:cNvSpPr>
              <p:nvPr/>
            </p:nvSpPr>
            <p:spPr bwMode="auto">
              <a:xfrm>
                <a:off x="530" y="654"/>
                <a:ext cx="77" cy="100"/>
              </a:xfrm>
              <a:custGeom>
                <a:avLst/>
                <a:gdLst>
                  <a:gd name="T0" fmla="*/ 0 w 387"/>
                  <a:gd name="T1" fmla="*/ 0 h 501"/>
                  <a:gd name="T2" fmla="*/ 0 w 387"/>
                  <a:gd name="T3" fmla="*/ 0 h 501"/>
                  <a:gd name="T4" fmla="*/ 0 w 387"/>
                  <a:gd name="T5" fmla="*/ 0 h 501"/>
                  <a:gd name="T6" fmla="*/ 0 w 387"/>
                  <a:gd name="T7" fmla="*/ 0 h 501"/>
                  <a:gd name="T8" fmla="*/ 1 w 387"/>
                  <a:gd name="T9" fmla="*/ 0 h 501"/>
                  <a:gd name="T10" fmla="*/ 1 w 387"/>
                  <a:gd name="T11" fmla="*/ 1 h 501"/>
                  <a:gd name="T12" fmla="*/ 1 w 387"/>
                  <a:gd name="T13" fmla="*/ 1 h 501"/>
                  <a:gd name="T14" fmla="*/ 1 w 387"/>
                  <a:gd name="T15" fmla="*/ 1 h 501"/>
                  <a:gd name="T16" fmla="*/ 1 w 387"/>
                  <a:gd name="T17" fmla="*/ 1 h 501"/>
                  <a:gd name="T18" fmla="*/ 1 w 387"/>
                  <a:gd name="T19" fmla="*/ 1 h 501"/>
                  <a:gd name="T20" fmla="*/ 0 w 387"/>
                  <a:gd name="T21" fmla="*/ 1 h 501"/>
                  <a:gd name="T22" fmla="*/ 0 w 387"/>
                  <a:gd name="T23" fmla="*/ 1 h 501"/>
                  <a:gd name="T24" fmla="*/ 0 w 387"/>
                  <a:gd name="T25" fmla="*/ 1 h 501"/>
                  <a:gd name="T26" fmla="*/ 0 w 387"/>
                  <a:gd name="T27" fmla="*/ 1 h 501"/>
                  <a:gd name="T28" fmla="*/ 0 w 387"/>
                  <a:gd name="T29" fmla="*/ 0 h 501"/>
                  <a:gd name="T30" fmla="*/ 0 w 387"/>
                  <a:gd name="T31" fmla="*/ 0 h 501"/>
                  <a:gd name="T32" fmla="*/ 0 w 387"/>
                  <a:gd name="T33" fmla="*/ 0 h 501"/>
                  <a:gd name="T34" fmla="*/ 1 w 387"/>
                  <a:gd name="T35" fmla="*/ 0 h 50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87"/>
                  <a:gd name="T55" fmla="*/ 0 h 501"/>
                  <a:gd name="T56" fmla="*/ 387 w 387"/>
                  <a:gd name="T57" fmla="*/ 501 h 50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87" h="501">
                    <a:moveTo>
                      <a:pt x="10" y="134"/>
                    </a:moveTo>
                    <a:cubicBezTo>
                      <a:pt x="18" y="122"/>
                      <a:pt x="37" y="81"/>
                      <a:pt x="56" y="61"/>
                    </a:cubicBezTo>
                    <a:cubicBezTo>
                      <a:pt x="75" y="41"/>
                      <a:pt x="92" y="24"/>
                      <a:pt x="125" y="16"/>
                    </a:cubicBezTo>
                    <a:cubicBezTo>
                      <a:pt x="158" y="8"/>
                      <a:pt x="221" y="0"/>
                      <a:pt x="257" y="10"/>
                    </a:cubicBezTo>
                    <a:cubicBezTo>
                      <a:pt x="293" y="20"/>
                      <a:pt x="327" y="26"/>
                      <a:pt x="344" y="79"/>
                    </a:cubicBezTo>
                    <a:cubicBezTo>
                      <a:pt x="361" y="132"/>
                      <a:pt x="360" y="284"/>
                      <a:pt x="362" y="330"/>
                    </a:cubicBezTo>
                    <a:cubicBezTo>
                      <a:pt x="364" y="376"/>
                      <a:pt x="349" y="326"/>
                      <a:pt x="353" y="353"/>
                    </a:cubicBezTo>
                    <a:cubicBezTo>
                      <a:pt x="357" y="380"/>
                      <a:pt x="383" y="479"/>
                      <a:pt x="385" y="490"/>
                    </a:cubicBezTo>
                    <a:cubicBezTo>
                      <a:pt x="387" y="501"/>
                      <a:pt x="371" y="439"/>
                      <a:pt x="367" y="417"/>
                    </a:cubicBezTo>
                    <a:cubicBezTo>
                      <a:pt x="363" y="395"/>
                      <a:pt x="373" y="352"/>
                      <a:pt x="358" y="358"/>
                    </a:cubicBezTo>
                    <a:cubicBezTo>
                      <a:pt x="343" y="364"/>
                      <a:pt x="313" y="432"/>
                      <a:pt x="275" y="454"/>
                    </a:cubicBezTo>
                    <a:cubicBezTo>
                      <a:pt x="237" y="476"/>
                      <a:pt x="170" y="491"/>
                      <a:pt x="129" y="490"/>
                    </a:cubicBezTo>
                    <a:cubicBezTo>
                      <a:pt x="88" y="489"/>
                      <a:pt x="50" y="465"/>
                      <a:pt x="29" y="445"/>
                    </a:cubicBezTo>
                    <a:cubicBezTo>
                      <a:pt x="8" y="425"/>
                      <a:pt x="0" y="393"/>
                      <a:pt x="1" y="367"/>
                    </a:cubicBezTo>
                    <a:cubicBezTo>
                      <a:pt x="2" y="341"/>
                      <a:pt x="13" y="309"/>
                      <a:pt x="33" y="289"/>
                    </a:cubicBezTo>
                    <a:cubicBezTo>
                      <a:pt x="53" y="269"/>
                      <a:pt x="87" y="260"/>
                      <a:pt x="120" y="249"/>
                    </a:cubicBezTo>
                    <a:cubicBezTo>
                      <a:pt x="153" y="238"/>
                      <a:pt x="195" y="230"/>
                      <a:pt x="234" y="221"/>
                    </a:cubicBezTo>
                    <a:cubicBezTo>
                      <a:pt x="273" y="212"/>
                      <a:pt x="328" y="199"/>
                      <a:pt x="353" y="193"/>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365" name="Freeform 46"/>
              <p:cNvSpPr>
                <a:spLocks noChangeAspect="1"/>
              </p:cNvSpPr>
              <p:nvPr/>
            </p:nvSpPr>
            <p:spPr bwMode="auto">
              <a:xfrm flipH="1" flipV="1">
                <a:off x="655" y="657"/>
                <a:ext cx="80" cy="145"/>
              </a:xfrm>
              <a:custGeom>
                <a:avLst/>
                <a:gdLst>
                  <a:gd name="T0" fmla="*/ 1 w 401"/>
                  <a:gd name="T1" fmla="*/ 0 h 727"/>
                  <a:gd name="T2" fmla="*/ 1 w 401"/>
                  <a:gd name="T3" fmla="*/ 0 h 727"/>
                  <a:gd name="T4" fmla="*/ 1 w 401"/>
                  <a:gd name="T5" fmla="*/ 1 h 727"/>
                  <a:gd name="T6" fmla="*/ 1 w 401"/>
                  <a:gd name="T7" fmla="*/ 1 h 727"/>
                  <a:gd name="T8" fmla="*/ 0 w 401"/>
                  <a:gd name="T9" fmla="*/ 1 h 727"/>
                  <a:gd name="T10" fmla="*/ 0 w 401"/>
                  <a:gd name="T11" fmla="*/ 1 h 727"/>
                  <a:gd name="T12" fmla="*/ 0 w 401"/>
                  <a:gd name="T13" fmla="*/ 1 h 727"/>
                  <a:gd name="T14" fmla="*/ 0 w 401"/>
                  <a:gd name="T15" fmla="*/ 1 h 727"/>
                  <a:gd name="T16" fmla="*/ 0 w 401"/>
                  <a:gd name="T17" fmla="*/ 0 h 727"/>
                  <a:gd name="T18" fmla="*/ 0 w 401"/>
                  <a:gd name="T19" fmla="*/ 0 h 727"/>
                  <a:gd name="T20" fmla="*/ 1 w 401"/>
                  <a:gd name="T21" fmla="*/ 1 h 727"/>
                  <a:gd name="T22" fmla="*/ 1 w 401"/>
                  <a:gd name="T23" fmla="*/ 1 h 727"/>
                  <a:gd name="T24" fmla="*/ 1 w 401"/>
                  <a:gd name="T25" fmla="*/ 1 h 72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01"/>
                  <a:gd name="T40" fmla="*/ 0 h 727"/>
                  <a:gd name="T41" fmla="*/ 401 w 401"/>
                  <a:gd name="T42" fmla="*/ 727 h 72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01" h="727">
                    <a:moveTo>
                      <a:pt x="382" y="0"/>
                    </a:moveTo>
                    <a:cubicBezTo>
                      <a:pt x="382" y="30"/>
                      <a:pt x="382" y="124"/>
                      <a:pt x="382" y="179"/>
                    </a:cubicBezTo>
                    <a:cubicBezTo>
                      <a:pt x="382" y="234"/>
                      <a:pt x="382" y="269"/>
                      <a:pt x="382" y="330"/>
                    </a:cubicBezTo>
                    <a:cubicBezTo>
                      <a:pt x="382" y="391"/>
                      <a:pt x="401" y="485"/>
                      <a:pt x="382" y="544"/>
                    </a:cubicBezTo>
                    <a:cubicBezTo>
                      <a:pt x="363" y="603"/>
                      <a:pt x="313" y="660"/>
                      <a:pt x="267" y="682"/>
                    </a:cubicBezTo>
                    <a:cubicBezTo>
                      <a:pt x="221" y="704"/>
                      <a:pt x="146" y="703"/>
                      <a:pt x="103" y="677"/>
                    </a:cubicBezTo>
                    <a:cubicBezTo>
                      <a:pt x="60" y="651"/>
                      <a:pt x="22" y="585"/>
                      <a:pt x="11" y="526"/>
                    </a:cubicBezTo>
                    <a:cubicBezTo>
                      <a:pt x="0" y="467"/>
                      <a:pt x="18" y="369"/>
                      <a:pt x="39" y="320"/>
                    </a:cubicBezTo>
                    <a:cubicBezTo>
                      <a:pt x="60" y="271"/>
                      <a:pt x="99" y="245"/>
                      <a:pt x="139" y="234"/>
                    </a:cubicBezTo>
                    <a:cubicBezTo>
                      <a:pt x="179" y="223"/>
                      <a:pt x="242" y="237"/>
                      <a:pt x="281" y="256"/>
                    </a:cubicBezTo>
                    <a:cubicBezTo>
                      <a:pt x="320" y="275"/>
                      <a:pt x="355" y="305"/>
                      <a:pt x="372" y="348"/>
                    </a:cubicBezTo>
                    <a:cubicBezTo>
                      <a:pt x="389" y="391"/>
                      <a:pt x="382" y="449"/>
                      <a:pt x="386" y="512"/>
                    </a:cubicBezTo>
                    <a:cubicBezTo>
                      <a:pt x="390" y="575"/>
                      <a:pt x="393" y="682"/>
                      <a:pt x="395" y="727"/>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8366" name="Group 47"/>
              <p:cNvGrpSpPr>
                <a:grpSpLocks noChangeAspect="1"/>
              </p:cNvGrpSpPr>
              <p:nvPr/>
            </p:nvGrpSpPr>
            <p:grpSpPr bwMode="auto">
              <a:xfrm>
                <a:off x="783" y="618"/>
                <a:ext cx="11" cy="136"/>
                <a:chOff x="1434" y="1286"/>
                <a:chExt cx="56" cy="679"/>
              </a:xfrm>
            </p:grpSpPr>
            <p:sp>
              <p:nvSpPr>
                <p:cNvPr id="148376" name="Freeform 48"/>
                <p:cNvSpPr>
                  <a:spLocks noChangeAspect="1"/>
                </p:cNvSpPr>
                <p:nvPr/>
              </p:nvSpPr>
              <p:spPr bwMode="auto">
                <a:xfrm>
                  <a:off x="1459" y="1459"/>
                  <a:ext cx="1" cy="506"/>
                </a:xfrm>
                <a:custGeom>
                  <a:avLst/>
                  <a:gdLst>
                    <a:gd name="T0" fmla="*/ 0 w 1"/>
                    <a:gd name="T1" fmla="*/ 0 h 506"/>
                    <a:gd name="T2" fmla="*/ 0 w 1"/>
                    <a:gd name="T3" fmla="*/ 506 h 506"/>
                    <a:gd name="T4" fmla="*/ 0 60000 65536"/>
                    <a:gd name="T5" fmla="*/ 0 60000 65536"/>
                    <a:gd name="T6" fmla="*/ 0 w 1"/>
                    <a:gd name="T7" fmla="*/ 0 h 506"/>
                    <a:gd name="T8" fmla="*/ 1 w 1"/>
                    <a:gd name="T9" fmla="*/ 506 h 506"/>
                  </a:gdLst>
                  <a:ahLst/>
                  <a:cxnLst>
                    <a:cxn ang="T4">
                      <a:pos x="T0" y="T1"/>
                    </a:cxn>
                    <a:cxn ang="T5">
                      <a:pos x="T2" y="T3"/>
                    </a:cxn>
                  </a:cxnLst>
                  <a:rect l="T6" t="T7" r="T8" b="T9"/>
                  <a:pathLst>
                    <a:path w="1" h="506">
                      <a:moveTo>
                        <a:pt x="0" y="0"/>
                      </a:moveTo>
                      <a:cubicBezTo>
                        <a:pt x="0" y="211"/>
                        <a:pt x="0" y="422"/>
                        <a:pt x="0" y="506"/>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377" name="Oval 49"/>
                <p:cNvSpPr>
                  <a:spLocks noChangeAspect="1" noChangeArrowheads="1"/>
                </p:cNvSpPr>
                <p:nvPr/>
              </p:nvSpPr>
              <p:spPr bwMode="auto">
                <a:xfrm>
                  <a:off x="1434" y="1286"/>
                  <a:ext cx="56" cy="56"/>
                </a:xfrm>
                <a:prstGeom prst="ellipse">
                  <a:avLst/>
                </a:prstGeom>
                <a:solidFill>
                  <a:schemeClr val="tx1"/>
                </a:solidFill>
                <a:ln w="6350">
                  <a:solidFill>
                    <a:schemeClr val="tx1"/>
                  </a:solidFill>
                  <a:rou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sp>
            <p:nvSpPr>
              <p:cNvPr id="148367" name="Line 50"/>
              <p:cNvSpPr>
                <a:spLocks noChangeAspect="1" noChangeShapeType="1"/>
              </p:cNvSpPr>
              <p:nvPr/>
            </p:nvSpPr>
            <p:spPr bwMode="auto">
              <a:xfrm>
                <a:off x="848" y="618"/>
                <a:ext cx="1" cy="136"/>
              </a:xfrm>
              <a:prstGeom prst="line">
                <a:avLst/>
              </a:prstGeom>
              <a:noFill/>
              <a:ln w="63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8368" name="Line 51"/>
              <p:cNvSpPr>
                <a:spLocks noChangeAspect="1" noChangeShapeType="1"/>
              </p:cNvSpPr>
              <p:nvPr/>
            </p:nvSpPr>
            <p:spPr bwMode="auto">
              <a:xfrm>
                <a:off x="903" y="618"/>
                <a:ext cx="1" cy="136"/>
              </a:xfrm>
              <a:prstGeom prst="line">
                <a:avLst/>
              </a:prstGeom>
              <a:noFill/>
              <a:ln w="63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8369" name="Freeform 52"/>
              <p:cNvSpPr>
                <a:spLocks noChangeAspect="1"/>
              </p:cNvSpPr>
              <p:nvPr/>
            </p:nvSpPr>
            <p:spPr bwMode="auto">
              <a:xfrm>
                <a:off x="958" y="654"/>
                <a:ext cx="77" cy="100"/>
              </a:xfrm>
              <a:custGeom>
                <a:avLst/>
                <a:gdLst>
                  <a:gd name="T0" fmla="*/ 0 w 387"/>
                  <a:gd name="T1" fmla="*/ 0 h 501"/>
                  <a:gd name="T2" fmla="*/ 0 w 387"/>
                  <a:gd name="T3" fmla="*/ 0 h 501"/>
                  <a:gd name="T4" fmla="*/ 0 w 387"/>
                  <a:gd name="T5" fmla="*/ 0 h 501"/>
                  <a:gd name="T6" fmla="*/ 0 w 387"/>
                  <a:gd name="T7" fmla="*/ 0 h 501"/>
                  <a:gd name="T8" fmla="*/ 1 w 387"/>
                  <a:gd name="T9" fmla="*/ 0 h 501"/>
                  <a:gd name="T10" fmla="*/ 1 w 387"/>
                  <a:gd name="T11" fmla="*/ 1 h 501"/>
                  <a:gd name="T12" fmla="*/ 1 w 387"/>
                  <a:gd name="T13" fmla="*/ 1 h 501"/>
                  <a:gd name="T14" fmla="*/ 1 w 387"/>
                  <a:gd name="T15" fmla="*/ 1 h 501"/>
                  <a:gd name="T16" fmla="*/ 1 w 387"/>
                  <a:gd name="T17" fmla="*/ 1 h 501"/>
                  <a:gd name="T18" fmla="*/ 1 w 387"/>
                  <a:gd name="T19" fmla="*/ 1 h 501"/>
                  <a:gd name="T20" fmla="*/ 0 w 387"/>
                  <a:gd name="T21" fmla="*/ 1 h 501"/>
                  <a:gd name="T22" fmla="*/ 0 w 387"/>
                  <a:gd name="T23" fmla="*/ 1 h 501"/>
                  <a:gd name="T24" fmla="*/ 0 w 387"/>
                  <a:gd name="T25" fmla="*/ 1 h 501"/>
                  <a:gd name="T26" fmla="*/ 0 w 387"/>
                  <a:gd name="T27" fmla="*/ 1 h 501"/>
                  <a:gd name="T28" fmla="*/ 0 w 387"/>
                  <a:gd name="T29" fmla="*/ 0 h 501"/>
                  <a:gd name="T30" fmla="*/ 0 w 387"/>
                  <a:gd name="T31" fmla="*/ 0 h 501"/>
                  <a:gd name="T32" fmla="*/ 0 w 387"/>
                  <a:gd name="T33" fmla="*/ 0 h 501"/>
                  <a:gd name="T34" fmla="*/ 1 w 387"/>
                  <a:gd name="T35" fmla="*/ 0 h 50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87"/>
                  <a:gd name="T55" fmla="*/ 0 h 501"/>
                  <a:gd name="T56" fmla="*/ 387 w 387"/>
                  <a:gd name="T57" fmla="*/ 501 h 50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87" h="501">
                    <a:moveTo>
                      <a:pt x="10" y="134"/>
                    </a:moveTo>
                    <a:cubicBezTo>
                      <a:pt x="18" y="122"/>
                      <a:pt x="37" y="81"/>
                      <a:pt x="56" y="61"/>
                    </a:cubicBezTo>
                    <a:cubicBezTo>
                      <a:pt x="75" y="41"/>
                      <a:pt x="92" y="24"/>
                      <a:pt x="125" y="16"/>
                    </a:cubicBezTo>
                    <a:cubicBezTo>
                      <a:pt x="158" y="8"/>
                      <a:pt x="221" y="0"/>
                      <a:pt x="257" y="10"/>
                    </a:cubicBezTo>
                    <a:cubicBezTo>
                      <a:pt x="293" y="20"/>
                      <a:pt x="327" y="26"/>
                      <a:pt x="344" y="79"/>
                    </a:cubicBezTo>
                    <a:cubicBezTo>
                      <a:pt x="361" y="132"/>
                      <a:pt x="360" y="284"/>
                      <a:pt x="362" y="330"/>
                    </a:cubicBezTo>
                    <a:cubicBezTo>
                      <a:pt x="364" y="376"/>
                      <a:pt x="349" y="326"/>
                      <a:pt x="353" y="353"/>
                    </a:cubicBezTo>
                    <a:cubicBezTo>
                      <a:pt x="357" y="380"/>
                      <a:pt x="383" y="479"/>
                      <a:pt x="385" y="490"/>
                    </a:cubicBezTo>
                    <a:cubicBezTo>
                      <a:pt x="387" y="501"/>
                      <a:pt x="371" y="439"/>
                      <a:pt x="367" y="417"/>
                    </a:cubicBezTo>
                    <a:cubicBezTo>
                      <a:pt x="363" y="395"/>
                      <a:pt x="373" y="352"/>
                      <a:pt x="358" y="358"/>
                    </a:cubicBezTo>
                    <a:cubicBezTo>
                      <a:pt x="343" y="364"/>
                      <a:pt x="313" y="432"/>
                      <a:pt x="275" y="454"/>
                    </a:cubicBezTo>
                    <a:cubicBezTo>
                      <a:pt x="237" y="476"/>
                      <a:pt x="170" y="491"/>
                      <a:pt x="129" y="490"/>
                    </a:cubicBezTo>
                    <a:cubicBezTo>
                      <a:pt x="88" y="489"/>
                      <a:pt x="50" y="465"/>
                      <a:pt x="29" y="445"/>
                    </a:cubicBezTo>
                    <a:cubicBezTo>
                      <a:pt x="8" y="425"/>
                      <a:pt x="0" y="393"/>
                      <a:pt x="1" y="367"/>
                    </a:cubicBezTo>
                    <a:cubicBezTo>
                      <a:pt x="2" y="341"/>
                      <a:pt x="13" y="309"/>
                      <a:pt x="33" y="289"/>
                    </a:cubicBezTo>
                    <a:cubicBezTo>
                      <a:pt x="53" y="269"/>
                      <a:pt x="87" y="260"/>
                      <a:pt x="120" y="249"/>
                    </a:cubicBezTo>
                    <a:cubicBezTo>
                      <a:pt x="153" y="238"/>
                      <a:pt x="195" y="230"/>
                      <a:pt x="234" y="221"/>
                    </a:cubicBezTo>
                    <a:cubicBezTo>
                      <a:pt x="273" y="212"/>
                      <a:pt x="328" y="199"/>
                      <a:pt x="353" y="193"/>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8370" name="Group 53"/>
              <p:cNvGrpSpPr>
                <a:grpSpLocks noChangeAspect="1"/>
              </p:cNvGrpSpPr>
              <p:nvPr/>
            </p:nvGrpSpPr>
            <p:grpSpPr bwMode="auto">
              <a:xfrm>
                <a:off x="1089" y="651"/>
                <a:ext cx="46" cy="103"/>
                <a:chOff x="2808" y="1818"/>
                <a:chExt cx="228" cy="516"/>
              </a:xfrm>
            </p:grpSpPr>
            <p:sp>
              <p:nvSpPr>
                <p:cNvPr id="148374" name="Freeform 54"/>
                <p:cNvSpPr>
                  <a:spLocks noChangeAspect="1"/>
                </p:cNvSpPr>
                <p:nvPr/>
              </p:nvSpPr>
              <p:spPr bwMode="auto">
                <a:xfrm>
                  <a:off x="2808" y="1818"/>
                  <a:ext cx="1" cy="516"/>
                </a:xfrm>
                <a:custGeom>
                  <a:avLst/>
                  <a:gdLst>
                    <a:gd name="T0" fmla="*/ 0 w 1"/>
                    <a:gd name="T1" fmla="*/ 0 h 516"/>
                    <a:gd name="T2" fmla="*/ 0 w 1"/>
                    <a:gd name="T3" fmla="*/ 516 h 516"/>
                    <a:gd name="T4" fmla="*/ 0 60000 65536"/>
                    <a:gd name="T5" fmla="*/ 0 60000 65536"/>
                    <a:gd name="T6" fmla="*/ 0 w 1"/>
                    <a:gd name="T7" fmla="*/ 0 h 516"/>
                    <a:gd name="T8" fmla="*/ 1 w 1"/>
                    <a:gd name="T9" fmla="*/ 516 h 516"/>
                  </a:gdLst>
                  <a:ahLst/>
                  <a:cxnLst>
                    <a:cxn ang="T4">
                      <a:pos x="T0" y="T1"/>
                    </a:cxn>
                    <a:cxn ang="T5">
                      <a:pos x="T2" y="T3"/>
                    </a:cxn>
                  </a:cxnLst>
                  <a:rect l="T6" t="T7" r="T8" b="T9"/>
                  <a:pathLst>
                    <a:path w="1" h="516">
                      <a:moveTo>
                        <a:pt x="0" y="0"/>
                      </a:moveTo>
                      <a:cubicBezTo>
                        <a:pt x="0" y="0"/>
                        <a:pt x="0" y="258"/>
                        <a:pt x="0" y="516"/>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375" name="Freeform 55"/>
                <p:cNvSpPr>
                  <a:spLocks noChangeAspect="1"/>
                </p:cNvSpPr>
                <p:nvPr/>
              </p:nvSpPr>
              <p:spPr bwMode="auto">
                <a:xfrm>
                  <a:off x="2808" y="1830"/>
                  <a:ext cx="228" cy="198"/>
                </a:xfrm>
                <a:custGeom>
                  <a:avLst/>
                  <a:gdLst>
                    <a:gd name="T0" fmla="*/ 228 w 228"/>
                    <a:gd name="T1" fmla="*/ 54 h 198"/>
                    <a:gd name="T2" fmla="*/ 138 w 228"/>
                    <a:gd name="T3" fmla="*/ 24 h 198"/>
                    <a:gd name="T4" fmla="*/ 0 w 228"/>
                    <a:gd name="T5" fmla="*/ 198 h 198"/>
                    <a:gd name="T6" fmla="*/ 0 60000 65536"/>
                    <a:gd name="T7" fmla="*/ 0 60000 65536"/>
                    <a:gd name="T8" fmla="*/ 0 60000 65536"/>
                    <a:gd name="T9" fmla="*/ 0 w 228"/>
                    <a:gd name="T10" fmla="*/ 0 h 198"/>
                    <a:gd name="T11" fmla="*/ 228 w 228"/>
                    <a:gd name="T12" fmla="*/ 198 h 198"/>
                  </a:gdLst>
                  <a:ahLst/>
                  <a:cxnLst>
                    <a:cxn ang="T6">
                      <a:pos x="T0" y="T1"/>
                    </a:cxn>
                    <a:cxn ang="T7">
                      <a:pos x="T2" y="T3"/>
                    </a:cxn>
                    <a:cxn ang="T8">
                      <a:pos x="T4" y="T5"/>
                    </a:cxn>
                  </a:cxnLst>
                  <a:rect l="T9" t="T10" r="T11" b="T12"/>
                  <a:pathLst>
                    <a:path w="228" h="198">
                      <a:moveTo>
                        <a:pt x="228" y="54"/>
                      </a:moveTo>
                      <a:cubicBezTo>
                        <a:pt x="202" y="27"/>
                        <a:pt x="176" y="0"/>
                        <a:pt x="138" y="24"/>
                      </a:cubicBezTo>
                      <a:cubicBezTo>
                        <a:pt x="100" y="48"/>
                        <a:pt x="50" y="123"/>
                        <a:pt x="0" y="198"/>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148371" name="Group 56"/>
              <p:cNvGrpSpPr>
                <a:grpSpLocks noChangeAspect="1"/>
              </p:cNvGrpSpPr>
              <p:nvPr/>
            </p:nvGrpSpPr>
            <p:grpSpPr bwMode="auto">
              <a:xfrm>
                <a:off x="1171" y="652"/>
                <a:ext cx="75" cy="136"/>
                <a:chOff x="2778" y="1746"/>
                <a:chExt cx="384" cy="701"/>
              </a:xfrm>
            </p:grpSpPr>
            <p:sp>
              <p:nvSpPr>
                <p:cNvPr id="148372" name="Freeform 57"/>
                <p:cNvSpPr>
                  <a:spLocks noChangeAspect="1"/>
                </p:cNvSpPr>
                <p:nvPr/>
              </p:nvSpPr>
              <p:spPr bwMode="auto">
                <a:xfrm>
                  <a:off x="2778" y="1746"/>
                  <a:ext cx="384" cy="701"/>
                </a:xfrm>
                <a:custGeom>
                  <a:avLst/>
                  <a:gdLst>
                    <a:gd name="T0" fmla="*/ 384 w 384"/>
                    <a:gd name="T1" fmla="*/ 0 h 701"/>
                    <a:gd name="T2" fmla="*/ 168 w 384"/>
                    <a:gd name="T3" fmla="*/ 594 h 701"/>
                    <a:gd name="T4" fmla="*/ 0 w 384"/>
                    <a:gd name="T5" fmla="*/ 642 h 701"/>
                    <a:gd name="T6" fmla="*/ 0 60000 65536"/>
                    <a:gd name="T7" fmla="*/ 0 60000 65536"/>
                    <a:gd name="T8" fmla="*/ 0 60000 65536"/>
                    <a:gd name="T9" fmla="*/ 0 w 384"/>
                    <a:gd name="T10" fmla="*/ 0 h 701"/>
                    <a:gd name="T11" fmla="*/ 384 w 384"/>
                    <a:gd name="T12" fmla="*/ 701 h 701"/>
                  </a:gdLst>
                  <a:ahLst/>
                  <a:cxnLst>
                    <a:cxn ang="T6">
                      <a:pos x="T0" y="T1"/>
                    </a:cxn>
                    <a:cxn ang="T7">
                      <a:pos x="T2" y="T3"/>
                    </a:cxn>
                    <a:cxn ang="T8">
                      <a:pos x="T4" y="T5"/>
                    </a:cxn>
                  </a:cxnLst>
                  <a:rect l="T9" t="T10" r="T11" b="T12"/>
                  <a:pathLst>
                    <a:path w="384" h="701">
                      <a:moveTo>
                        <a:pt x="384" y="0"/>
                      </a:moveTo>
                      <a:cubicBezTo>
                        <a:pt x="308" y="243"/>
                        <a:pt x="232" y="487"/>
                        <a:pt x="168" y="594"/>
                      </a:cubicBezTo>
                      <a:cubicBezTo>
                        <a:pt x="104" y="701"/>
                        <a:pt x="52" y="671"/>
                        <a:pt x="0" y="642"/>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373" name="Freeform 58"/>
                <p:cNvSpPr>
                  <a:spLocks noChangeAspect="1"/>
                </p:cNvSpPr>
                <p:nvPr/>
              </p:nvSpPr>
              <p:spPr bwMode="auto">
                <a:xfrm>
                  <a:off x="2802" y="1752"/>
                  <a:ext cx="180" cy="504"/>
                </a:xfrm>
                <a:custGeom>
                  <a:avLst/>
                  <a:gdLst>
                    <a:gd name="T0" fmla="*/ 0 w 180"/>
                    <a:gd name="T1" fmla="*/ 0 h 504"/>
                    <a:gd name="T2" fmla="*/ 180 w 180"/>
                    <a:gd name="T3" fmla="*/ 504 h 504"/>
                    <a:gd name="T4" fmla="*/ 0 60000 65536"/>
                    <a:gd name="T5" fmla="*/ 0 60000 65536"/>
                    <a:gd name="T6" fmla="*/ 0 w 180"/>
                    <a:gd name="T7" fmla="*/ 0 h 504"/>
                    <a:gd name="T8" fmla="*/ 180 w 180"/>
                    <a:gd name="T9" fmla="*/ 504 h 504"/>
                  </a:gdLst>
                  <a:ahLst/>
                  <a:cxnLst>
                    <a:cxn ang="T4">
                      <a:pos x="T0" y="T1"/>
                    </a:cxn>
                    <a:cxn ang="T5">
                      <a:pos x="T2" y="T3"/>
                    </a:cxn>
                  </a:cxnLst>
                  <a:rect l="T6" t="T7" r="T8" b="T9"/>
                  <a:pathLst>
                    <a:path w="180" h="504">
                      <a:moveTo>
                        <a:pt x="0" y="0"/>
                      </a:moveTo>
                      <a:cubicBezTo>
                        <a:pt x="0" y="0"/>
                        <a:pt x="90" y="252"/>
                        <a:pt x="180" y="504"/>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grpSp>
          <p:nvGrpSpPr>
            <p:cNvPr id="148242" name="Group 59"/>
            <p:cNvGrpSpPr>
              <a:grpSpLocks noChangeAspect="1"/>
            </p:cNvGrpSpPr>
            <p:nvPr/>
          </p:nvGrpSpPr>
          <p:grpSpPr bwMode="auto">
            <a:xfrm>
              <a:off x="2089" y="1426"/>
              <a:ext cx="118" cy="34"/>
              <a:chOff x="1491" y="621"/>
              <a:chExt cx="481" cy="141"/>
            </a:xfrm>
          </p:grpSpPr>
          <p:grpSp>
            <p:nvGrpSpPr>
              <p:cNvPr id="148354" name="Group 60"/>
              <p:cNvGrpSpPr>
                <a:grpSpLocks noChangeAspect="1"/>
              </p:cNvGrpSpPr>
              <p:nvPr/>
            </p:nvGrpSpPr>
            <p:grpSpPr bwMode="auto">
              <a:xfrm>
                <a:off x="1491" y="621"/>
                <a:ext cx="58" cy="141"/>
                <a:chOff x="4422" y="1823"/>
                <a:chExt cx="291" cy="705"/>
              </a:xfrm>
            </p:grpSpPr>
            <p:sp>
              <p:nvSpPr>
                <p:cNvPr id="148361" name="Freeform 61"/>
                <p:cNvSpPr>
                  <a:spLocks noChangeAspect="1"/>
                </p:cNvSpPr>
                <p:nvPr/>
              </p:nvSpPr>
              <p:spPr bwMode="auto">
                <a:xfrm>
                  <a:off x="4525" y="1823"/>
                  <a:ext cx="188" cy="705"/>
                </a:xfrm>
                <a:custGeom>
                  <a:avLst/>
                  <a:gdLst>
                    <a:gd name="T0" fmla="*/ 19 w 188"/>
                    <a:gd name="T1" fmla="*/ 705 h 705"/>
                    <a:gd name="T2" fmla="*/ 28 w 188"/>
                    <a:gd name="T3" fmla="*/ 111 h 705"/>
                    <a:gd name="T4" fmla="*/ 188 w 188"/>
                    <a:gd name="T5" fmla="*/ 42 h 705"/>
                    <a:gd name="T6" fmla="*/ 0 60000 65536"/>
                    <a:gd name="T7" fmla="*/ 0 60000 65536"/>
                    <a:gd name="T8" fmla="*/ 0 60000 65536"/>
                    <a:gd name="T9" fmla="*/ 0 w 188"/>
                    <a:gd name="T10" fmla="*/ 0 h 705"/>
                    <a:gd name="T11" fmla="*/ 188 w 188"/>
                    <a:gd name="T12" fmla="*/ 705 h 705"/>
                  </a:gdLst>
                  <a:ahLst/>
                  <a:cxnLst>
                    <a:cxn ang="T6">
                      <a:pos x="T0" y="T1"/>
                    </a:cxn>
                    <a:cxn ang="T7">
                      <a:pos x="T2" y="T3"/>
                    </a:cxn>
                    <a:cxn ang="T8">
                      <a:pos x="T4" y="T5"/>
                    </a:cxn>
                  </a:cxnLst>
                  <a:rect l="T9" t="T10" r="T11" b="T12"/>
                  <a:pathLst>
                    <a:path w="188" h="705">
                      <a:moveTo>
                        <a:pt x="19" y="705"/>
                      </a:moveTo>
                      <a:cubicBezTo>
                        <a:pt x="20" y="606"/>
                        <a:pt x="0" y="222"/>
                        <a:pt x="28" y="111"/>
                      </a:cubicBezTo>
                      <a:cubicBezTo>
                        <a:pt x="56" y="0"/>
                        <a:pt x="155" y="56"/>
                        <a:pt x="188" y="42"/>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362" name="Line 62"/>
                <p:cNvSpPr>
                  <a:spLocks noChangeAspect="1" noChangeShapeType="1"/>
                </p:cNvSpPr>
                <p:nvPr/>
              </p:nvSpPr>
              <p:spPr bwMode="auto">
                <a:xfrm>
                  <a:off x="4422" y="2047"/>
                  <a:ext cx="250" cy="0"/>
                </a:xfrm>
                <a:prstGeom prst="line">
                  <a:avLst/>
                </a:prstGeom>
                <a:noFill/>
                <a:ln w="63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48355" name="Freeform 63"/>
              <p:cNvSpPr>
                <a:spLocks noChangeAspect="1"/>
              </p:cNvSpPr>
              <p:nvPr/>
            </p:nvSpPr>
            <p:spPr bwMode="auto">
              <a:xfrm>
                <a:off x="1572" y="669"/>
                <a:ext cx="81" cy="93"/>
              </a:xfrm>
              <a:custGeom>
                <a:avLst/>
                <a:gdLst>
                  <a:gd name="T0" fmla="*/ 0 w 402"/>
                  <a:gd name="T1" fmla="*/ 0 h 464"/>
                  <a:gd name="T2" fmla="*/ 0 w 402"/>
                  <a:gd name="T3" fmla="*/ 0 h 464"/>
                  <a:gd name="T4" fmla="*/ 0 w 402"/>
                  <a:gd name="T5" fmla="*/ 0 h 464"/>
                  <a:gd name="T6" fmla="*/ 0 w 402"/>
                  <a:gd name="T7" fmla="*/ 0 h 464"/>
                  <a:gd name="T8" fmla="*/ 0 w 402"/>
                  <a:gd name="T9" fmla="*/ 1 h 464"/>
                  <a:gd name="T10" fmla="*/ 0 w 402"/>
                  <a:gd name="T11" fmla="*/ 1 h 464"/>
                  <a:gd name="T12" fmla="*/ 0 w 402"/>
                  <a:gd name="T13" fmla="*/ 1 h 464"/>
                  <a:gd name="T14" fmla="*/ 1 w 402"/>
                  <a:gd name="T15" fmla="*/ 0 h 464"/>
                  <a:gd name="T16" fmla="*/ 1 w 402"/>
                  <a:gd name="T17" fmla="*/ 0 h 464"/>
                  <a:gd name="T18" fmla="*/ 1 w 402"/>
                  <a:gd name="T19" fmla="*/ 0 h 464"/>
                  <a:gd name="T20" fmla="*/ 0 w 402"/>
                  <a:gd name="T21" fmla="*/ 0 h 46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02"/>
                  <a:gd name="T34" fmla="*/ 0 h 464"/>
                  <a:gd name="T35" fmla="*/ 402 w 402"/>
                  <a:gd name="T36" fmla="*/ 464 h 46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02" h="464">
                    <a:moveTo>
                      <a:pt x="192" y="0"/>
                    </a:moveTo>
                    <a:cubicBezTo>
                      <a:pt x="176" y="4"/>
                      <a:pt x="120" y="2"/>
                      <a:pt x="90" y="26"/>
                    </a:cubicBezTo>
                    <a:cubicBezTo>
                      <a:pt x="60" y="50"/>
                      <a:pt x="26" y="101"/>
                      <a:pt x="13" y="147"/>
                    </a:cubicBezTo>
                    <a:cubicBezTo>
                      <a:pt x="0" y="193"/>
                      <a:pt x="3" y="258"/>
                      <a:pt x="13" y="301"/>
                    </a:cubicBezTo>
                    <a:cubicBezTo>
                      <a:pt x="23" y="344"/>
                      <a:pt x="44" y="377"/>
                      <a:pt x="71" y="403"/>
                    </a:cubicBezTo>
                    <a:cubicBezTo>
                      <a:pt x="98" y="429"/>
                      <a:pt x="140" y="458"/>
                      <a:pt x="179" y="461"/>
                    </a:cubicBezTo>
                    <a:cubicBezTo>
                      <a:pt x="218" y="464"/>
                      <a:pt x="273" y="448"/>
                      <a:pt x="307" y="422"/>
                    </a:cubicBezTo>
                    <a:cubicBezTo>
                      <a:pt x="341" y="396"/>
                      <a:pt x="370" y="351"/>
                      <a:pt x="384" y="307"/>
                    </a:cubicBezTo>
                    <a:cubicBezTo>
                      <a:pt x="398" y="263"/>
                      <a:pt x="402" y="205"/>
                      <a:pt x="391" y="160"/>
                    </a:cubicBezTo>
                    <a:cubicBezTo>
                      <a:pt x="380" y="115"/>
                      <a:pt x="352" y="65"/>
                      <a:pt x="320" y="38"/>
                    </a:cubicBezTo>
                    <a:cubicBezTo>
                      <a:pt x="288" y="11"/>
                      <a:pt x="224" y="8"/>
                      <a:pt x="199" y="0"/>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8356" name="Group 64"/>
              <p:cNvGrpSpPr>
                <a:grpSpLocks noChangeAspect="1"/>
              </p:cNvGrpSpPr>
              <p:nvPr/>
            </p:nvGrpSpPr>
            <p:grpSpPr bwMode="auto">
              <a:xfrm>
                <a:off x="1695" y="659"/>
                <a:ext cx="46" cy="103"/>
                <a:chOff x="2808" y="1818"/>
                <a:chExt cx="228" cy="516"/>
              </a:xfrm>
            </p:grpSpPr>
            <p:sp>
              <p:nvSpPr>
                <p:cNvPr id="148359" name="Freeform 65"/>
                <p:cNvSpPr>
                  <a:spLocks noChangeAspect="1"/>
                </p:cNvSpPr>
                <p:nvPr/>
              </p:nvSpPr>
              <p:spPr bwMode="auto">
                <a:xfrm>
                  <a:off x="2808" y="1818"/>
                  <a:ext cx="1" cy="516"/>
                </a:xfrm>
                <a:custGeom>
                  <a:avLst/>
                  <a:gdLst>
                    <a:gd name="T0" fmla="*/ 0 w 1"/>
                    <a:gd name="T1" fmla="*/ 0 h 516"/>
                    <a:gd name="T2" fmla="*/ 0 w 1"/>
                    <a:gd name="T3" fmla="*/ 516 h 516"/>
                    <a:gd name="T4" fmla="*/ 0 60000 65536"/>
                    <a:gd name="T5" fmla="*/ 0 60000 65536"/>
                    <a:gd name="T6" fmla="*/ 0 w 1"/>
                    <a:gd name="T7" fmla="*/ 0 h 516"/>
                    <a:gd name="T8" fmla="*/ 1 w 1"/>
                    <a:gd name="T9" fmla="*/ 516 h 516"/>
                  </a:gdLst>
                  <a:ahLst/>
                  <a:cxnLst>
                    <a:cxn ang="T4">
                      <a:pos x="T0" y="T1"/>
                    </a:cxn>
                    <a:cxn ang="T5">
                      <a:pos x="T2" y="T3"/>
                    </a:cxn>
                  </a:cxnLst>
                  <a:rect l="T6" t="T7" r="T8" b="T9"/>
                  <a:pathLst>
                    <a:path w="1" h="516">
                      <a:moveTo>
                        <a:pt x="0" y="0"/>
                      </a:moveTo>
                      <a:cubicBezTo>
                        <a:pt x="0" y="0"/>
                        <a:pt x="0" y="258"/>
                        <a:pt x="0" y="516"/>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360" name="Freeform 66"/>
                <p:cNvSpPr>
                  <a:spLocks noChangeAspect="1"/>
                </p:cNvSpPr>
                <p:nvPr/>
              </p:nvSpPr>
              <p:spPr bwMode="auto">
                <a:xfrm>
                  <a:off x="2808" y="1830"/>
                  <a:ext cx="228" cy="198"/>
                </a:xfrm>
                <a:custGeom>
                  <a:avLst/>
                  <a:gdLst>
                    <a:gd name="T0" fmla="*/ 228 w 228"/>
                    <a:gd name="T1" fmla="*/ 54 h 198"/>
                    <a:gd name="T2" fmla="*/ 138 w 228"/>
                    <a:gd name="T3" fmla="*/ 24 h 198"/>
                    <a:gd name="T4" fmla="*/ 0 w 228"/>
                    <a:gd name="T5" fmla="*/ 198 h 198"/>
                    <a:gd name="T6" fmla="*/ 0 60000 65536"/>
                    <a:gd name="T7" fmla="*/ 0 60000 65536"/>
                    <a:gd name="T8" fmla="*/ 0 60000 65536"/>
                    <a:gd name="T9" fmla="*/ 0 w 228"/>
                    <a:gd name="T10" fmla="*/ 0 h 198"/>
                    <a:gd name="T11" fmla="*/ 228 w 228"/>
                    <a:gd name="T12" fmla="*/ 198 h 198"/>
                  </a:gdLst>
                  <a:ahLst/>
                  <a:cxnLst>
                    <a:cxn ang="T6">
                      <a:pos x="T0" y="T1"/>
                    </a:cxn>
                    <a:cxn ang="T7">
                      <a:pos x="T2" y="T3"/>
                    </a:cxn>
                    <a:cxn ang="T8">
                      <a:pos x="T4" y="T5"/>
                    </a:cxn>
                  </a:cxnLst>
                  <a:rect l="T9" t="T10" r="T11" b="T12"/>
                  <a:pathLst>
                    <a:path w="228" h="198">
                      <a:moveTo>
                        <a:pt x="228" y="54"/>
                      </a:moveTo>
                      <a:cubicBezTo>
                        <a:pt x="202" y="27"/>
                        <a:pt x="176" y="0"/>
                        <a:pt x="138" y="24"/>
                      </a:cubicBezTo>
                      <a:cubicBezTo>
                        <a:pt x="100" y="48"/>
                        <a:pt x="50" y="123"/>
                        <a:pt x="0" y="198"/>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48357" name="Freeform 67"/>
              <p:cNvSpPr>
                <a:spLocks noChangeAspect="1"/>
              </p:cNvSpPr>
              <p:nvPr/>
            </p:nvSpPr>
            <p:spPr bwMode="auto">
              <a:xfrm>
                <a:off x="1782" y="665"/>
                <a:ext cx="74" cy="97"/>
              </a:xfrm>
              <a:custGeom>
                <a:avLst/>
                <a:gdLst>
                  <a:gd name="T0" fmla="*/ 1 w 372"/>
                  <a:gd name="T1" fmla="*/ 1 h 487"/>
                  <a:gd name="T2" fmla="*/ 1 w 372"/>
                  <a:gd name="T3" fmla="*/ 1 h 487"/>
                  <a:gd name="T4" fmla="*/ 0 w 372"/>
                  <a:gd name="T5" fmla="*/ 1 h 487"/>
                  <a:gd name="T6" fmla="*/ 0 w 372"/>
                  <a:gd name="T7" fmla="*/ 1 h 487"/>
                  <a:gd name="T8" fmla="*/ 0 w 372"/>
                  <a:gd name="T9" fmla="*/ 1 h 487"/>
                  <a:gd name="T10" fmla="*/ 0 w 372"/>
                  <a:gd name="T11" fmla="*/ 0 h 487"/>
                  <a:gd name="T12" fmla="*/ 0 w 372"/>
                  <a:gd name="T13" fmla="*/ 0 h 487"/>
                  <a:gd name="T14" fmla="*/ 0 w 372"/>
                  <a:gd name="T15" fmla="*/ 0 h 487"/>
                  <a:gd name="T16" fmla="*/ 0 w 372"/>
                  <a:gd name="T17" fmla="*/ 0 h 487"/>
                  <a:gd name="T18" fmla="*/ 1 w 372"/>
                  <a:gd name="T19" fmla="*/ 0 h 487"/>
                  <a:gd name="T20" fmla="*/ 1 w 372"/>
                  <a:gd name="T21" fmla="*/ 0 h 48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72"/>
                  <a:gd name="T34" fmla="*/ 0 h 487"/>
                  <a:gd name="T35" fmla="*/ 372 w 372"/>
                  <a:gd name="T36" fmla="*/ 487 h 48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72" h="487">
                    <a:moveTo>
                      <a:pt x="372" y="316"/>
                    </a:moveTo>
                    <a:cubicBezTo>
                      <a:pt x="365" y="332"/>
                      <a:pt x="357" y="388"/>
                      <a:pt x="337" y="414"/>
                    </a:cubicBezTo>
                    <a:cubicBezTo>
                      <a:pt x="317" y="440"/>
                      <a:pt x="284" y="463"/>
                      <a:pt x="252" y="473"/>
                    </a:cubicBezTo>
                    <a:cubicBezTo>
                      <a:pt x="220" y="483"/>
                      <a:pt x="180" y="487"/>
                      <a:pt x="147" y="477"/>
                    </a:cubicBezTo>
                    <a:cubicBezTo>
                      <a:pt x="114" y="467"/>
                      <a:pt x="75" y="443"/>
                      <a:pt x="52" y="412"/>
                    </a:cubicBezTo>
                    <a:cubicBezTo>
                      <a:pt x="29" y="381"/>
                      <a:pt x="12" y="340"/>
                      <a:pt x="6" y="294"/>
                    </a:cubicBezTo>
                    <a:cubicBezTo>
                      <a:pt x="0" y="248"/>
                      <a:pt x="1" y="181"/>
                      <a:pt x="15" y="138"/>
                    </a:cubicBezTo>
                    <a:cubicBezTo>
                      <a:pt x="29" y="95"/>
                      <a:pt x="60" y="57"/>
                      <a:pt x="92" y="34"/>
                    </a:cubicBezTo>
                    <a:cubicBezTo>
                      <a:pt x="124" y="11"/>
                      <a:pt x="169" y="0"/>
                      <a:pt x="206" y="2"/>
                    </a:cubicBezTo>
                    <a:cubicBezTo>
                      <a:pt x="243" y="4"/>
                      <a:pt x="290" y="26"/>
                      <a:pt x="316" y="48"/>
                    </a:cubicBezTo>
                    <a:cubicBezTo>
                      <a:pt x="342" y="70"/>
                      <a:pt x="353" y="116"/>
                      <a:pt x="362" y="134"/>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358" name="Freeform 68"/>
              <p:cNvSpPr>
                <a:spLocks noChangeAspect="1"/>
              </p:cNvSpPr>
              <p:nvPr/>
            </p:nvSpPr>
            <p:spPr bwMode="auto">
              <a:xfrm>
                <a:off x="1898" y="669"/>
                <a:ext cx="74" cy="93"/>
              </a:xfrm>
              <a:custGeom>
                <a:avLst/>
                <a:gdLst>
                  <a:gd name="T0" fmla="*/ 1 w 368"/>
                  <a:gd name="T1" fmla="*/ 1 h 465"/>
                  <a:gd name="T2" fmla="*/ 0 w 368"/>
                  <a:gd name="T3" fmla="*/ 1 h 465"/>
                  <a:gd name="T4" fmla="*/ 0 w 368"/>
                  <a:gd name="T5" fmla="*/ 1 h 465"/>
                  <a:gd name="T6" fmla="*/ 0 w 368"/>
                  <a:gd name="T7" fmla="*/ 1 h 465"/>
                  <a:gd name="T8" fmla="*/ 0 w 368"/>
                  <a:gd name="T9" fmla="*/ 0 h 465"/>
                  <a:gd name="T10" fmla="*/ 0 w 368"/>
                  <a:gd name="T11" fmla="*/ 0 h 465"/>
                  <a:gd name="T12" fmla="*/ 0 w 368"/>
                  <a:gd name="T13" fmla="*/ 0 h 465"/>
                  <a:gd name="T14" fmla="*/ 1 w 368"/>
                  <a:gd name="T15" fmla="*/ 0 h 465"/>
                  <a:gd name="T16" fmla="*/ 1 w 368"/>
                  <a:gd name="T17" fmla="*/ 0 h 465"/>
                  <a:gd name="T18" fmla="*/ 0 w 368"/>
                  <a:gd name="T19" fmla="*/ 0 h 46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68"/>
                  <a:gd name="T31" fmla="*/ 0 h 465"/>
                  <a:gd name="T32" fmla="*/ 368 w 368"/>
                  <a:gd name="T33" fmla="*/ 465 h 46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68" h="465">
                    <a:moveTo>
                      <a:pt x="350" y="344"/>
                    </a:moveTo>
                    <a:cubicBezTo>
                      <a:pt x="334" y="362"/>
                      <a:pt x="288" y="429"/>
                      <a:pt x="248" y="446"/>
                    </a:cubicBezTo>
                    <a:cubicBezTo>
                      <a:pt x="208" y="463"/>
                      <a:pt x="148" y="465"/>
                      <a:pt x="110" y="446"/>
                    </a:cubicBezTo>
                    <a:cubicBezTo>
                      <a:pt x="72" y="427"/>
                      <a:pt x="35" y="386"/>
                      <a:pt x="20" y="332"/>
                    </a:cubicBezTo>
                    <a:cubicBezTo>
                      <a:pt x="5" y="278"/>
                      <a:pt x="0" y="175"/>
                      <a:pt x="20" y="122"/>
                    </a:cubicBezTo>
                    <a:cubicBezTo>
                      <a:pt x="40" y="69"/>
                      <a:pt x="96" y="28"/>
                      <a:pt x="140" y="14"/>
                    </a:cubicBezTo>
                    <a:cubicBezTo>
                      <a:pt x="184" y="0"/>
                      <a:pt x="248" y="19"/>
                      <a:pt x="284" y="38"/>
                    </a:cubicBezTo>
                    <a:cubicBezTo>
                      <a:pt x="320" y="57"/>
                      <a:pt x="342" y="97"/>
                      <a:pt x="356" y="128"/>
                    </a:cubicBezTo>
                    <a:lnTo>
                      <a:pt x="368" y="224"/>
                    </a:lnTo>
                    <a:lnTo>
                      <a:pt x="8" y="224"/>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148243" name="Group 69"/>
            <p:cNvGrpSpPr>
              <a:grpSpLocks noChangeAspect="1"/>
            </p:cNvGrpSpPr>
            <p:nvPr/>
          </p:nvGrpSpPr>
          <p:grpSpPr bwMode="auto">
            <a:xfrm>
              <a:off x="2411" y="1591"/>
              <a:ext cx="93" cy="34"/>
              <a:chOff x="1492" y="1562"/>
              <a:chExt cx="185" cy="68"/>
            </a:xfrm>
          </p:grpSpPr>
          <p:sp>
            <p:nvSpPr>
              <p:cNvPr id="148349" name="Freeform 70"/>
              <p:cNvSpPr>
                <a:spLocks noChangeAspect="1"/>
              </p:cNvSpPr>
              <p:nvPr/>
            </p:nvSpPr>
            <p:spPr bwMode="auto">
              <a:xfrm>
                <a:off x="1492" y="1565"/>
                <a:ext cx="57" cy="65"/>
              </a:xfrm>
              <a:custGeom>
                <a:avLst/>
                <a:gdLst>
                  <a:gd name="T0" fmla="*/ 0 w 562"/>
                  <a:gd name="T1" fmla="*/ 0 h 641"/>
                  <a:gd name="T2" fmla="*/ 0 w 562"/>
                  <a:gd name="T3" fmla="*/ 0 h 641"/>
                  <a:gd name="T4" fmla="*/ 0 w 562"/>
                  <a:gd name="T5" fmla="*/ 0 h 641"/>
                  <a:gd name="T6" fmla="*/ 0 w 562"/>
                  <a:gd name="T7" fmla="*/ 0 h 641"/>
                  <a:gd name="T8" fmla="*/ 0 w 562"/>
                  <a:gd name="T9" fmla="*/ 0 h 641"/>
                  <a:gd name="T10" fmla="*/ 0 w 562"/>
                  <a:gd name="T11" fmla="*/ 0 h 641"/>
                  <a:gd name="T12" fmla="*/ 0 w 562"/>
                  <a:gd name="T13" fmla="*/ 0 h 641"/>
                  <a:gd name="T14" fmla="*/ 0 w 562"/>
                  <a:gd name="T15" fmla="*/ 0 h 641"/>
                  <a:gd name="T16" fmla="*/ 0 w 562"/>
                  <a:gd name="T17" fmla="*/ 0 h 641"/>
                  <a:gd name="T18" fmla="*/ 0 w 562"/>
                  <a:gd name="T19" fmla="*/ 0 h 641"/>
                  <a:gd name="T20" fmla="*/ 0 w 562"/>
                  <a:gd name="T21" fmla="*/ 0 h 64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62"/>
                  <a:gd name="T34" fmla="*/ 0 h 641"/>
                  <a:gd name="T35" fmla="*/ 562 w 562"/>
                  <a:gd name="T36" fmla="*/ 641 h 64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62" h="641">
                    <a:moveTo>
                      <a:pt x="550" y="166"/>
                    </a:moveTo>
                    <a:cubicBezTo>
                      <a:pt x="538" y="147"/>
                      <a:pt x="519" y="79"/>
                      <a:pt x="478" y="52"/>
                    </a:cubicBezTo>
                    <a:cubicBezTo>
                      <a:pt x="437" y="25"/>
                      <a:pt x="367" y="0"/>
                      <a:pt x="304" y="4"/>
                    </a:cubicBezTo>
                    <a:cubicBezTo>
                      <a:pt x="241" y="8"/>
                      <a:pt x="149" y="28"/>
                      <a:pt x="100" y="76"/>
                    </a:cubicBezTo>
                    <a:cubicBezTo>
                      <a:pt x="51" y="124"/>
                      <a:pt x="20" y="222"/>
                      <a:pt x="10" y="292"/>
                    </a:cubicBezTo>
                    <a:cubicBezTo>
                      <a:pt x="0" y="362"/>
                      <a:pt x="10" y="442"/>
                      <a:pt x="40" y="496"/>
                    </a:cubicBezTo>
                    <a:cubicBezTo>
                      <a:pt x="70" y="550"/>
                      <a:pt x="126" y="594"/>
                      <a:pt x="190" y="616"/>
                    </a:cubicBezTo>
                    <a:cubicBezTo>
                      <a:pt x="254" y="638"/>
                      <a:pt x="362" y="641"/>
                      <a:pt x="424" y="628"/>
                    </a:cubicBezTo>
                    <a:cubicBezTo>
                      <a:pt x="486" y="615"/>
                      <a:pt x="540" y="584"/>
                      <a:pt x="562" y="538"/>
                    </a:cubicBezTo>
                    <a:lnTo>
                      <a:pt x="556" y="352"/>
                    </a:lnTo>
                    <a:lnTo>
                      <a:pt x="322" y="352"/>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8350" name="Group 71"/>
              <p:cNvGrpSpPr>
                <a:grpSpLocks noChangeAspect="1"/>
              </p:cNvGrpSpPr>
              <p:nvPr/>
            </p:nvGrpSpPr>
            <p:grpSpPr bwMode="auto">
              <a:xfrm>
                <a:off x="1568" y="1565"/>
                <a:ext cx="45" cy="65"/>
                <a:chOff x="3017" y="1343"/>
                <a:chExt cx="420" cy="612"/>
              </a:xfrm>
            </p:grpSpPr>
            <p:sp>
              <p:nvSpPr>
                <p:cNvPr id="148352" name="Freeform 72"/>
                <p:cNvSpPr>
                  <a:spLocks noChangeAspect="1"/>
                </p:cNvSpPr>
                <p:nvPr/>
              </p:nvSpPr>
              <p:spPr bwMode="auto">
                <a:xfrm>
                  <a:off x="3017" y="1343"/>
                  <a:ext cx="420" cy="612"/>
                </a:xfrm>
                <a:custGeom>
                  <a:avLst/>
                  <a:gdLst>
                    <a:gd name="T0" fmla="*/ 420 w 420"/>
                    <a:gd name="T1" fmla="*/ 606 h 612"/>
                    <a:gd name="T2" fmla="*/ 0 w 420"/>
                    <a:gd name="T3" fmla="*/ 612 h 612"/>
                    <a:gd name="T4" fmla="*/ 6 w 420"/>
                    <a:gd name="T5" fmla="*/ 0 h 612"/>
                    <a:gd name="T6" fmla="*/ 402 w 420"/>
                    <a:gd name="T7" fmla="*/ 0 h 612"/>
                    <a:gd name="T8" fmla="*/ 0 60000 65536"/>
                    <a:gd name="T9" fmla="*/ 0 60000 65536"/>
                    <a:gd name="T10" fmla="*/ 0 60000 65536"/>
                    <a:gd name="T11" fmla="*/ 0 60000 65536"/>
                    <a:gd name="T12" fmla="*/ 0 w 420"/>
                    <a:gd name="T13" fmla="*/ 0 h 612"/>
                    <a:gd name="T14" fmla="*/ 420 w 420"/>
                    <a:gd name="T15" fmla="*/ 612 h 612"/>
                  </a:gdLst>
                  <a:ahLst/>
                  <a:cxnLst>
                    <a:cxn ang="T8">
                      <a:pos x="T0" y="T1"/>
                    </a:cxn>
                    <a:cxn ang="T9">
                      <a:pos x="T2" y="T3"/>
                    </a:cxn>
                    <a:cxn ang="T10">
                      <a:pos x="T4" y="T5"/>
                    </a:cxn>
                    <a:cxn ang="T11">
                      <a:pos x="T6" y="T7"/>
                    </a:cxn>
                  </a:cxnLst>
                  <a:rect l="T12" t="T13" r="T14" b="T15"/>
                  <a:pathLst>
                    <a:path w="420" h="612">
                      <a:moveTo>
                        <a:pt x="420" y="606"/>
                      </a:moveTo>
                      <a:lnTo>
                        <a:pt x="0" y="612"/>
                      </a:lnTo>
                      <a:lnTo>
                        <a:pt x="6" y="0"/>
                      </a:lnTo>
                      <a:lnTo>
                        <a:pt x="402" y="0"/>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353" name="Line 73"/>
                <p:cNvSpPr>
                  <a:spLocks noChangeAspect="1" noChangeShapeType="1"/>
                </p:cNvSpPr>
                <p:nvPr/>
              </p:nvSpPr>
              <p:spPr bwMode="auto">
                <a:xfrm>
                  <a:off x="3017" y="1637"/>
                  <a:ext cx="378" cy="0"/>
                </a:xfrm>
                <a:prstGeom prst="line">
                  <a:avLst/>
                </a:prstGeom>
                <a:noFill/>
                <a:ln w="63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48351" name="Freeform 74"/>
              <p:cNvSpPr>
                <a:spLocks noChangeAspect="1"/>
              </p:cNvSpPr>
              <p:nvPr/>
            </p:nvSpPr>
            <p:spPr bwMode="auto">
              <a:xfrm>
                <a:off x="1633" y="1562"/>
                <a:ext cx="44" cy="68"/>
              </a:xfrm>
              <a:custGeom>
                <a:avLst/>
                <a:gdLst>
                  <a:gd name="T0" fmla="*/ 0 w 420"/>
                  <a:gd name="T1" fmla="*/ 0 h 654"/>
                  <a:gd name="T2" fmla="*/ 0 w 420"/>
                  <a:gd name="T3" fmla="*/ 0 h 654"/>
                  <a:gd name="T4" fmla="*/ 0 w 420"/>
                  <a:gd name="T5" fmla="*/ 0 h 654"/>
                  <a:gd name="T6" fmla="*/ 0 60000 65536"/>
                  <a:gd name="T7" fmla="*/ 0 60000 65536"/>
                  <a:gd name="T8" fmla="*/ 0 60000 65536"/>
                  <a:gd name="T9" fmla="*/ 0 w 420"/>
                  <a:gd name="T10" fmla="*/ 0 h 654"/>
                  <a:gd name="T11" fmla="*/ 420 w 420"/>
                  <a:gd name="T12" fmla="*/ 654 h 654"/>
                </a:gdLst>
                <a:ahLst/>
                <a:cxnLst>
                  <a:cxn ang="T6">
                    <a:pos x="T0" y="T1"/>
                  </a:cxn>
                  <a:cxn ang="T7">
                    <a:pos x="T2" y="T3"/>
                  </a:cxn>
                  <a:cxn ang="T8">
                    <a:pos x="T4" y="T5"/>
                  </a:cxn>
                </a:cxnLst>
                <a:rect l="T9" t="T10" r="T11" b="T12"/>
                <a:pathLst>
                  <a:path w="420" h="654">
                    <a:moveTo>
                      <a:pt x="0" y="0"/>
                    </a:moveTo>
                    <a:lnTo>
                      <a:pt x="0" y="654"/>
                    </a:lnTo>
                    <a:lnTo>
                      <a:pt x="420" y="654"/>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48244" name="Line 75"/>
            <p:cNvSpPr>
              <a:spLocks noChangeAspect="1" noChangeShapeType="1"/>
            </p:cNvSpPr>
            <p:nvPr/>
          </p:nvSpPr>
          <p:spPr bwMode="auto">
            <a:xfrm>
              <a:off x="2370" y="1448"/>
              <a:ext cx="903" cy="0"/>
            </a:xfrm>
            <a:prstGeom prst="line">
              <a:avLst/>
            </a:prstGeom>
            <a:noFill/>
            <a:ln w="12700">
              <a:solidFill>
                <a:srgbClr val="9966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8245" name="Line 76"/>
            <p:cNvSpPr>
              <a:spLocks noChangeAspect="1" noChangeShapeType="1"/>
            </p:cNvSpPr>
            <p:nvPr/>
          </p:nvSpPr>
          <p:spPr bwMode="auto">
            <a:xfrm>
              <a:off x="2370" y="1264"/>
              <a:ext cx="903" cy="0"/>
            </a:xfrm>
            <a:prstGeom prst="line">
              <a:avLst/>
            </a:prstGeom>
            <a:noFill/>
            <a:ln w="12700">
              <a:solidFill>
                <a:srgbClr val="9966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8246" name="Line 77"/>
            <p:cNvSpPr>
              <a:spLocks noChangeAspect="1" noChangeShapeType="1"/>
            </p:cNvSpPr>
            <p:nvPr/>
          </p:nvSpPr>
          <p:spPr bwMode="auto">
            <a:xfrm>
              <a:off x="2370" y="1295"/>
              <a:ext cx="903" cy="0"/>
            </a:xfrm>
            <a:prstGeom prst="line">
              <a:avLst/>
            </a:prstGeom>
            <a:noFill/>
            <a:ln w="12700">
              <a:solidFill>
                <a:srgbClr val="9966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8247" name="Line 78"/>
            <p:cNvSpPr>
              <a:spLocks noChangeAspect="1" noChangeShapeType="1"/>
            </p:cNvSpPr>
            <p:nvPr/>
          </p:nvSpPr>
          <p:spPr bwMode="auto">
            <a:xfrm>
              <a:off x="2370" y="1356"/>
              <a:ext cx="903" cy="0"/>
            </a:xfrm>
            <a:prstGeom prst="line">
              <a:avLst/>
            </a:prstGeom>
            <a:noFill/>
            <a:ln w="12700">
              <a:solidFill>
                <a:srgbClr val="9966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8248" name="Line 79"/>
            <p:cNvSpPr>
              <a:spLocks noChangeAspect="1" noChangeShapeType="1"/>
            </p:cNvSpPr>
            <p:nvPr/>
          </p:nvSpPr>
          <p:spPr bwMode="auto">
            <a:xfrm>
              <a:off x="2370" y="1417"/>
              <a:ext cx="903" cy="0"/>
            </a:xfrm>
            <a:prstGeom prst="line">
              <a:avLst/>
            </a:prstGeom>
            <a:noFill/>
            <a:ln w="12700">
              <a:solidFill>
                <a:srgbClr val="9966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8249" name="Line 80"/>
            <p:cNvSpPr>
              <a:spLocks noChangeAspect="1" noChangeShapeType="1"/>
            </p:cNvSpPr>
            <p:nvPr/>
          </p:nvSpPr>
          <p:spPr bwMode="auto">
            <a:xfrm>
              <a:off x="2370" y="1310"/>
              <a:ext cx="903" cy="0"/>
            </a:xfrm>
            <a:prstGeom prst="line">
              <a:avLst/>
            </a:prstGeom>
            <a:noFill/>
            <a:ln w="12700">
              <a:solidFill>
                <a:srgbClr val="9966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8250" name="Line 81"/>
            <p:cNvSpPr>
              <a:spLocks noChangeAspect="1" noChangeShapeType="1"/>
            </p:cNvSpPr>
            <p:nvPr/>
          </p:nvSpPr>
          <p:spPr bwMode="auto">
            <a:xfrm>
              <a:off x="2370" y="1371"/>
              <a:ext cx="903" cy="0"/>
            </a:xfrm>
            <a:prstGeom prst="line">
              <a:avLst/>
            </a:prstGeom>
            <a:noFill/>
            <a:ln w="12700">
              <a:solidFill>
                <a:srgbClr val="9966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8251" name="Line 82"/>
            <p:cNvSpPr>
              <a:spLocks noChangeAspect="1" noChangeShapeType="1"/>
            </p:cNvSpPr>
            <p:nvPr/>
          </p:nvSpPr>
          <p:spPr bwMode="auto">
            <a:xfrm>
              <a:off x="2370" y="1433"/>
              <a:ext cx="903" cy="0"/>
            </a:xfrm>
            <a:prstGeom prst="line">
              <a:avLst/>
            </a:prstGeom>
            <a:noFill/>
            <a:ln w="12700">
              <a:solidFill>
                <a:srgbClr val="9966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8252" name="Line 83"/>
            <p:cNvSpPr>
              <a:spLocks noChangeAspect="1" noChangeShapeType="1"/>
            </p:cNvSpPr>
            <p:nvPr/>
          </p:nvSpPr>
          <p:spPr bwMode="auto">
            <a:xfrm>
              <a:off x="2370" y="1402"/>
              <a:ext cx="903" cy="0"/>
            </a:xfrm>
            <a:prstGeom prst="line">
              <a:avLst/>
            </a:prstGeom>
            <a:noFill/>
            <a:ln w="12700">
              <a:solidFill>
                <a:srgbClr val="9966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8253" name="Line 84"/>
            <p:cNvSpPr>
              <a:spLocks noChangeAspect="1" noChangeShapeType="1"/>
            </p:cNvSpPr>
            <p:nvPr/>
          </p:nvSpPr>
          <p:spPr bwMode="auto">
            <a:xfrm>
              <a:off x="2370" y="1279"/>
              <a:ext cx="903" cy="0"/>
            </a:xfrm>
            <a:prstGeom prst="line">
              <a:avLst/>
            </a:prstGeom>
            <a:noFill/>
            <a:ln w="12700">
              <a:solidFill>
                <a:srgbClr val="9966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8254" name="Line 85"/>
            <p:cNvSpPr>
              <a:spLocks noChangeAspect="1" noChangeShapeType="1"/>
            </p:cNvSpPr>
            <p:nvPr/>
          </p:nvSpPr>
          <p:spPr bwMode="auto">
            <a:xfrm>
              <a:off x="2370" y="1325"/>
              <a:ext cx="903" cy="0"/>
            </a:xfrm>
            <a:prstGeom prst="line">
              <a:avLst/>
            </a:prstGeom>
            <a:noFill/>
            <a:ln w="12700">
              <a:solidFill>
                <a:srgbClr val="9966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8255" name="Line 86"/>
            <p:cNvSpPr>
              <a:spLocks noChangeAspect="1" noChangeShapeType="1"/>
            </p:cNvSpPr>
            <p:nvPr/>
          </p:nvSpPr>
          <p:spPr bwMode="auto">
            <a:xfrm>
              <a:off x="2370" y="1386"/>
              <a:ext cx="903" cy="0"/>
            </a:xfrm>
            <a:prstGeom prst="line">
              <a:avLst/>
            </a:prstGeom>
            <a:noFill/>
            <a:ln w="12700">
              <a:solidFill>
                <a:srgbClr val="9966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8256" name="Line 87"/>
            <p:cNvSpPr>
              <a:spLocks noChangeAspect="1" noChangeShapeType="1"/>
            </p:cNvSpPr>
            <p:nvPr/>
          </p:nvSpPr>
          <p:spPr bwMode="auto">
            <a:xfrm>
              <a:off x="2370" y="1340"/>
              <a:ext cx="903" cy="0"/>
            </a:xfrm>
            <a:prstGeom prst="line">
              <a:avLst/>
            </a:prstGeom>
            <a:noFill/>
            <a:ln w="12700">
              <a:solidFill>
                <a:srgbClr val="9966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8257" name="AutoShape 88"/>
            <p:cNvSpPr>
              <a:spLocks noChangeAspect="1"/>
            </p:cNvSpPr>
            <p:nvPr/>
          </p:nvSpPr>
          <p:spPr bwMode="auto">
            <a:xfrm>
              <a:off x="3276" y="1265"/>
              <a:ext cx="28" cy="183"/>
            </a:xfrm>
            <a:prstGeom prst="rightBracket">
              <a:avLst>
                <a:gd name="adj" fmla="val 54464"/>
              </a:avLst>
            </a:prstGeom>
            <a:noFill/>
            <a:ln w="1270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258" name="AutoShape 89"/>
            <p:cNvSpPr>
              <a:spLocks noChangeAspect="1"/>
            </p:cNvSpPr>
            <p:nvPr/>
          </p:nvSpPr>
          <p:spPr bwMode="auto">
            <a:xfrm>
              <a:off x="3278" y="1460"/>
              <a:ext cx="28" cy="57"/>
            </a:xfrm>
            <a:prstGeom prst="rightBracket">
              <a:avLst>
                <a:gd name="adj" fmla="val 16964"/>
              </a:avLst>
            </a:prstGeom>
            <a:noFill/>
            <a:ln w="12700">
              <a:solidFill>
                <a:srgbClr val="FF0000"/>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259" name="Line 90"/>
            <p:cNvSpPr>
              <a:spLocks noChangeAspect="1" noChangeShapeType="1"/>
            </p:cNvSpPr>
            <p:nvPr/>
          </p:nvSpPr>
          <p:spPr bwMode="auto">
            <a:xfrm flipH="1" flipV="1">
              <a:off x="3280" y="1545"/>
              <a:ext cx="90" cy="93"/>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48260" name="Group 91"/>
            <p:cNvGrpSpPr>
              <a:grpSpLocks noChangeAspect="1"/>
            </p:cNvGrpSpPr>
            <p:nvPr/>
          </p:nvGrpSpPr>
          <p:grpSpPr bwMode="auto">
            <a:xfrm>
              <a:off x="2106" y="1599"/>
              <a:ext cx="133" cy="34"/>
              <a:chOff x="1387" y="2767"/>
              <a:chExt cx="530" cy="136"/>
            </a:xfrm>
          </p:grpSpPr>
          <p:grpSp>
            <p:nvGrpSpPr>
              <p:cNvPr id="148335" name="Group 92"/>
              <p:cNvGrpSpPr>
                <a:grpSpLocks noChangeAspect="1"/>
              </p:cNvGrpSpPr>
              <p:nvPr/>
            </p:nvGrpSpPr>
            <p:grpSpPr bwMode="auto">
              <a:xfrm>
                <a:off x="1387" y="2776"/>
                <a:ext cx="80" cy="127"/>
                <a:chOff x="3653" y="1343"/>
                <a:chExt cx="384" cy="612"/>
              </a:xfrm>
            </p:grpSpPr>
            <p:sp>
              <p:nvSpPr>
                <p:cNvPr id="148347" name="Freeform 93"/>
                <p:cNvSpPr>
                  <a:spLocks noChangeAspect="1"/>
                </p:cNvSpPr>
                <p:nvPr/>
              </p:nvSpPr>
              <p:spPr bwMode="auto">
                <a:xfrm>
                  <a:off x="3653" y="1343"/>
                  <a:ext cx="384" cy="612"/>
                </a:xfrm>
                <a:custGeom>
                  <a:avLst/>
                  <a:gdLst>
                    <a:gd name="T0" fmla="*/ 384 w 384"/>
                    <a:gd name="T1" fmla="*/ 0 h 612"/>
                    <a:gd name="T2" fmla="*/ 0 w 384"/>
                    <a:gd name="T3" fmla="*/ 0 h 612"/>
                    <a:gd name="T4" fmla="*/ 0 w 384"/>
                    <a:gd name="T5" fmla="*/ 612 h 612"/>
                    <a:gd name="T6" fmla="*/ 0 60000 65536"/>
                    <a:gd name="T7" fmla="*/ 0 60000 65536"/>
                    <a:gd name="T8" fmla="*/ 0 60000 65536"/>
                    <a:gd name="T9" fmla="*/ 0 w 384"/>
                    <a:gd name="T10" fmla="*/ 0 h 612"/>
                    <a:gd name="T11" fmla="*/ 384 w 384"/>
                    <a:gd name="T12" fmla="*/ 612 h 612"/>
                  </a:gdLst>
                  <a:ahLst/>
                  <a:cxnLst>
                    <a:cxn ang="T6">
                      <a:pos x="T0" y="T1"/>
                    </a:cxn>
                    <a:cxn ang="T7">
                      <a:pos x="T2" y="T3"/>
                    </a:cxn>
                    <a:cxn ang="T8">
                      <a:pos x="T4" y="T5"/>
                    </a:cxn>
                  </a:cxnLst>
                  <a:rect l="T9" t="T10" r="T11" b="T12"/>
                  <a:pathLst>
                    <a:path w="384" h="612">
                      <a:moveTo>
                        <a:pt x="384" y="0"/>
                      </a:moveTo>
                      <a:lnTo>
                        <a:pt x="0" y="0"/>
                      </a:lnTo>
                      <a:lnTo>
                        <a:pt x="0" y="612"/>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348" name="Line 94"/>
                <p:cNvSpPr>
                  <a:spLocks noChangeAspect="1" noChangeShapeType="1"/>
                </p:cNvSpPr>
                <p:nvPr/>
              </p:nvSpPr>
              <p:spPr bwMode="auto">
                <a:xfrm flipH="1">
                  <a:off x="3653" y="1637"/>
                  <a:ext cx="324" cy="0"/>
                </a:xfrm>
                <a:prstGeom prst="line">
                  <a:avLst/>
                </a:prstGeom>
                <a:noFill/>
                <a:ln w="63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48336" name="Group 95"/>
              <p:cNvGrpSpPr>
                <a:grpSpLocks noChangeAspect="1"/>
              </p:cNvGrpSpPr>
              <p:nvPr/>
            </p:nvGrpSpPr>
            <p:grpSpPr bwMode="auto">
              <a:xfrm>
                <a:off x="1518" y="2767"/>
                <a:ext cx="11" cy="136"/>
                <a:chOff x="1434" y="1286"/>
                <a:chExt cx="56" cy="679"/>
              </a:xfrm>
            </p:grpSpPr>
            <p:sp>
              <p:nvSpPr>
                <p:cNvPr id="148345" name="Freeform 96"/>
                <p:cNvSpPr>
                  <a:spLocks noChangeAspect="1"/>
                </p:cNvSpPr>
                <p:nvPr/>
              </p:nvSpPr>
              <p:spPr bwMode="auto">
                <a:xfrm>
                  <a:off x="1459" y="1459"/>
                  <a:ext cx="1" cy="506"/>
                </a:xfrm>
                <a:custGeom>
                  <a:avLst/>
                  <a:gdLst>
                    <a:gd name="T0" fmla="*/ 0 w 1"/>
                    <a:gd name="T1" fmla="*/ 0 h 506"/>
                    <a:gd name="T2" fmla="*/ 0 w 1"/>
                    <a:gd name="T3" fmla="*/ 506 h 506"/>
                    <a:gd name="T4" fmla="*/ 0 60000 65536"/>
                    <a:gd name="T5" fmla="*/ 0 60000 65536"/>
                    <a:gd name="T6" fmla="*/ 0 w 1"/>
                    <a:gd name="T7" fmla="*/ 0 h 506"/>
                    <a:gd name="T8" fmla="*/ 1 w 1"/>
                    <a:gd name="T9" fmla="*/ 506 h 506"/>
                  </a:gdLst>
                  <a:ahLst/>
                  <a:cxnLst>
                    <a:cxn ang="T4">
                      <a:pos x="T0" y="T1"/>
                    </a:cxn>
                    <a:cxn ang="T5">
                      <a:pos x="T2" y="T3"/>
                    </a:cxn>
                  </a:cxnLst>
                  <a:rect l="T6" t="T7" r="T8" b="T9"/>
                  <a:pathLst>
                    <a:path w="1" h="506">
                      <a:moveTo>
                        <a:pt x="0" y="0"/>
                      </a:moveTo>
                      <a:cubicBezTo>
                        <a:pt x="0" y="211"/>
                        <a:pt x="0" y="422"/>
                        <a:pt x="0" y="506"/>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346" name="Oval 97"/>
                <p:cNvSpPr>
                  <a:spLocks noChangeAspect="1" noChangeArrowheads="1"/>
                </p:cNvSpPr>
                <p:nvPr/>
              </p:nvSpPr>
              <p:spPr bwMode="auto">
                <a:xfrm>
                  <a:off x="1434" y="1286"/>
                  <a:ext cx="56" cy="56"/>
                </a:xfrm>
                <a:prstGeom prst="ellipse">
                  <a:avLst/>
                </a:prstGeom>
                <a:solidFill>
                  <a:schemeClr val="tx1"/>
                </a:solidFill>
                <a:ln w="6350">
                  <a:solidFill>
                    <a:schemeClr val="tx1"/>
                  </a:solidFill>
                  <a:rou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sp>
            <p:nvSpPr>
              <p:cNvPr id="148337" name="Line 98"/>
              <p:cNvSpPr>
                <a:spLocks noChangeAspect="1" noChangeShapeType="1"/>
              </p:cNvSpPr>
              <p:nvPr/>
            </p:nvSpPr>
            <p:spPr bwMode="auto">
              <a:xfrm>
                <a:off x="1590" y="2767"/>
                <a:ext cx="1" cy="136"/>
              </a:xfrm>
              <a:prstGeom prst="line">
                <a:avLst/>
              </a:prstGeom>
              <a:noFill/>
              <a:ln w="63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148338" name="Group 99"/>
              <p:cNvGrpSpPr>
                <a:grpSpLocks noChangeAspect="1"/>
              </p:cNvGrpSpPr>
              <p:nvPr/>
            </p:nvGrpSpPr>
            <p:grpSpPr bwMode="auto">
              <a:xfrm>
                <a:off x="1645" y="2776"/>
                <a:ext cx="58" cy="127"/>
                <a:chOff x="3612" y="1686"/>
                <a:chExt cx="288" cy="634"/>
              </a:xfrm>
            </p:grpSpPr>
            <p:sp>
              <p:nvSpPr>
                <p:cNvPr id="148343" name="Freeform 100"/>
                <p:cNvSpPr>
                  <a:spLocks noChangeAspect="1"/>
                </p:cNvSpPr>
                <p:nvPr/>
              </p:nvSpPr>
              <p:spPr bwMode="auto">
                <a:xfrm>
                  <a:off x="3738" y="1686"/>
                  <a:ext cx="162" cy="634"/>
                </a:xfrm>
                <a:custGeom>
                  <a:avLst/>
                  <a:gdLst>
                    <a:gd name="T0" fmla="*/ 0 w 162"/>
                    <a:gd name="T1" fmla="*/ 0 h 634"/>
                    <a:gd name="T2" fmla="*/ 0 w 162"/>
                    <a:gd name="T3" fmla="*/ 534 h 634"/>
                    <a:gd name="T4" fmla="*/ 162 w 162"/>
                    <a:gd name="T5" fmla="*/ 600 h 634"/>
                    <a:gd name="T6" fmla="*/ 0 60000 65536"/>
                    <a:gd name="T7" fmla="*/ 0 60000 65536"/>
                    <a:gd name="T8" fmla="*/ 0 60000 65536"/>
                    <a:gd name="T9" fmla="*/ 0 w 162"/>
                    <a:gd name="T10" fmla="*/ 0 h 634"/>
                    <a:gd name="T11" fmla="*/ 162 w 162"/>
                    <a:gd name="T12" fmla="*/ 634 h 634"/>
                  </a:gdLst>
                  <a:ahLst/>
                  <a:cxnLst>
                    <a:cxn ang="T6">
                      <a:pos x="T0" y="T1"/>
                    </a:cxn>
                    <a:cxn ang="T7">
                      <a:pos x="T2" y="T3"/>
                    </a:cxn>
                    <a:cxn ang="T8">
                      <a:pos x="T4" y="T5"/>
                    </a:cxn>
                  </a:cxnLst>
                  <a:rect l="T9" t="T10" r="T11" b="T12"/>
                  <a:pathLst>
                    <a:path w="162" h="634">
                      <a:moveTo>
                        <a:pt x="0" y="0"/>
                      </a:moveTo>
                      <a:lnTo>
                        <a:pt x="0" y="534"/>
                      </a:lnTo>
                      <a:cubicBezTo>
                        <a:pt x="27" y="634"/>
                        <a:pt x="94" y="617"/>
                        <a:pt x="162" y="600"/>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344" name="Freeform 101"/>
                <p:cNvSpPr>
                  <a:spLocks noChangeAspect="1"/>
                </p:cNvSpPr>
                <p:nvPr/>
              </p:nvSpPr>
              <p:spPr bwMode="auto">
                <a:xfrm>
                  <a:off x="3612" y="1872"/>
                  <a:ext cx="276" cy="1"/>
                </a:xfrm>
                <a:custGeom>
                  <a:avLst/>
                  <a:gdLst>
                    <a:gd name="T0" fmla="*/ 0 w 276"/>
                    <a:gd name="T1" fmla="*/ 0 h 1"/>
                    <a:gd name="T2" fmla="*/ 276 w 276"/>
                    <a:gd name="T3" fmla="*/ 0 h 1"/>
                    <a:gd name="T4" fmla="*/ 0 60000 65536"/>
                    <a:gd name="T5" fmla="*/ 0 60000 65536"/>
                    <a:gd name="T6" fmla="*/ 0 w 276"/>
                    <a:gd name="T7" fmla="*/ 0 h 1"/>
                    <a:gd name="T8" fmla="*/ 276 w 276"/>
                    <a:gd name="T9" fmla="*/ 1 h 1"/>
                  </a:gdLst>
                  <a:ahLst/>
                  <a:cxnLst>
                    <a:cxn ang="T4">
                      <a:pos x="T0" y="T1"/>
                    </a:cxn>
                    <a:cxn ang="T5">
                      <a:pos x="T2" y="T3"/>
                    </a:cxn>
                  </a:cxnLst>
                  <a:rect l="T6" t="T7" r="T8" b="T9"/>
                  <a:pathLst>
                    <a:path w="276" h="1">
                      <a:moveTo>
                        <a:pt x="0" y="0"/>
                      </a:moveTo>
                      <a:cubicBezTo>
                        <a:pt x="0" y="0"/>
                        <a:pt x="138" y="0"/>
                        <a:pt x="276" y="0"/>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48339" name="Freeform 102"/>
              <p:cNvSpPr>
                <a:spLocks noChangeAspect="1"/>
              </p:cNvSpPr>
              <p:nvPr/>
            </p:nvSpPr>
            <p:spPr bwMode="auto">
              <a:xfrm>
                <a:off x="1741" y="2810"/>
                <a:ext cx="74" cy="93"/>
              </a:xfrm>
              <a:custGeom>
                <a:avLst/>
                <a:gdLst>
                  <a:gd name="T0" fmla="*/ 1 w 368"/>
                  <a:gd name="T1" fmla="*/ 1 h 465"/>
                  <a:gd name="T2" fmla="*/ 0 w 368"/>
                  <a:gd name="T3" fmla="*/ 1 h 465"/>
                  <a:gd name="T4" fmla="*/ 0 w 368"/>
                  <a:gd name="T5" fmla="*/ 1 h 465"/>
                  <a:gd name="T6" fmla="*/ 0 w 368"/>
                  <a:gd name="T7" fmla="*/ 1 h 465"/>
                  <a:gd name="T8" fmla="*/ 0 w 368"/>
                  <a:gd name="T9" fmla="*/ 0 h 465"/>
                  <a:gd name="T10" fmla="*/ 0 w 368"/>
                  <a:gd name="T11" fmla="*/ 0 h 465"/>
                  <a:gd name="T12" fmla="*/ 0 w 368"/>
                  <a:gd name="T13" fmla="*/ 0 h 465"/>
                  <a:gd name="T14" fmla="*/ 1 w 368"/>
                  <a:gd name="T15" fmla="*/ 0 h 465"/>
                  <a:gd name="T16" fmla="*/ 1 w 368"/>
                  <a:gd name="T17" fmla="*/ 0 h 465"/>
                  <a:gd name="T18" fmla="*/ 0 w 368"/>
                  <a:gd name="T19" fmla="*/ 0 h 46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68"/>
                  <a:gd name="T31" fmla="*/ 0 h 465"/>
                  <a:gd name="T32" fmla="*/ 368 w 368"/>
                  <a:gd name="T33" fmla="*/ 465 h 46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68" h="465">
                    <a:moveTo>
                      <a:pt x="350" y="344"/>
                    </a:moveTo>
                    <a:cubicBezTo>
                      <a:pt x="334" y="362"/>
                      <a:pt x="288" y="429"/>
                      <a:pt x="248" y="446"/>
                    </a:cubicBezTo>
                    <a:cubicBezTo>
                      <a:pt x="208" y="463"/>
                      <a:pt x="148" y="465"/>
                      <a:pt x="110" y="446"/>
                    </a:cubicBezTo>
                    <a:cubicBezTo>
                      <a:pt x="72" y="427"/>
                      <a:pt x="35" y="386"/>
                      <a:pt x="20" y="332"/>
                    </a:cubicBezTo>
                    <a:cubicBezTo>
                      <a:pt x="5" y="278"/>
                      <a:pt x="0" y="175"/>
                      <a:pt x="20" y="122"/>
                    </a:cubicBezTo>
                    <a:cubicBezTo>
                      <a:pt x="40" y="69"/>
                      <a:pt x="96" y="28"/>
                      <a:pt x="140" y="14"/>
                    </a:cubicBezTo>
                    <a:cubicBezTo>
                      <a:pt x="184" y="0"/>
                      <a:pt x="248" y="19"/>
                      <a:pt x="284" y="38"/>
                    </a:cubicBezTo>
                    <a:cubicBezTo>
                      <a:pt x="320" y="57"/>
                      <a:pt x="342" y="97"/>
                      <a:pt x="356" y="128"/>
                    </a:cubicBezTo>
                    <a:lnTo>
                      <a:pt x="368" y="224"/>
                    </a:lnTo>
                    <a:lnTo>
                      <a:pt x="8" y="224"/>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8340" name="Group 103"/>
              <p:cNvGrpSpPr>
                <a:grpSpLocks noChangeAspect="1"/>
              </p:cNvGrpSpPr>
              <p:nvPr/>
            </p:nvGrpSpPr>
            <p:grpSpPr bwMode="auto">
              <a:xfrm>
                <a:off x="1871" y="2800"/>
                <a:ext cx="46" cy="103"/>
                <a:chOff x="2808" y="1818"/>
                <a:chExt cx="228" cy="516"/>
              </a:xfrm>
            </p:grpSpPr>
            <p:sp>
              <p:nvSpPr>
                <p:cNvPr id="148341" name="Freeform 104"/>
                <p:cNvSpPr>
                  <a:spLocks noChangeAspect="1"/>
                </p:cNvSpPr>
                <p:nvPr/>
              </p:nvSpPr>
              <p:spPr bwMode="auto">
                <a:xfrm>
                  <a:off x="2808" y="1818"/>
                  <a:ext cx="1" cy="516"/>
                </a:xfrm>
                <a:custGeom>
                  <a:avLst/>
                  <a:gdLst>
                    <a:gd name="T0" fmla="*/ 0 w 1"/>
                    <a:gd name="T1" fmla="*/ 0 h 516"/>
                    <a:gd name="T2" fmla="*/ 0 w 1"/>
                    <a:gd name="T3" fmla="*/ 516 h 516"/>
                    <a:gd name="T4" fmla="*/ 0 60000 65536"/>
                    <a:gd name="T5" fmla="*/ 0 60000 65536"/>
                    <a:gd name="T6" fmla="*/ 0 w 1"/>
                    <a:gd name="T7" fmla="*/ 0 h 516"/>
                    <a:gd name="T8" fmla="*/ 1 w 1"/>
                    <a:gd name="T9" fmla="*/ 516 h 516"/>
                  </a:gdLst>
                  <a:ahLst/>
                  <a:cxnLst>
                    <a:cxn ang="T4">
                      <a:pos x="T0" y="T1"/>
                    </a:cxn>
                    <a:cxn ang="T5">
                      <a:pos x="T2" y="T3"/>
                    </a:cxn>
                  </a:cxnLst>
                  <a:rect l="T6" t="T7" r="T8" b="T9"/>
                  <a:pathLst>
                    <a:path w="1" h="516">
                      <a:moveTo>
                        <a:pt x="0" y="0"/>
                      </a:moveTo>
                      <a:cubicBezTo>
                        <a:pt x="0" y="0"/>
                        <a:pt x="0" y="258"/>
                        <a:pt x="0" y="516"/>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342" name="Freeform 105"/>
                <p:cNvSpPr>
                  <a:spLocks noChangeAspect="1"/>
                </p:cNvSpPr>
                <p:nvPr/>
              </p:nvSpPr>
              <p:spPr bwMode="auto">
                <a:xfrm>
                  <a:off x="2808" y="1830"/>
                  <a:ext cx="228" cy="198"/>
                </a:xfrm>
                <a:custGeom>
                  <a:avLst/>
                  <a:gdLst>
                    <a:gd name="T0" fmla="*/ 228 w 228"/>
                    <a:gd name="T1" fmla="*/ 54 h 198"/>
                    <a:gd name="T2" fmla="*/ 138 w 228"/>
                    <a:gd name="T3" fmla="*/ 24 h 198"/>
                    <a:gd name="T4" fmla="*/ 0 w 228"/>
                    <a:gd name="T5" fmla="*/ 198 h 198"/>
                    <a:gd name="T6" fmla="*/ 0 60000 65536"/>
                    <a:gd name="T7" fmla="*/ 0 60000 65536"/>
                    <a:gd name="T8" fmla="*/ 0 60000 65536"/>
                    <a:gd name="T9" fmla="*/ 0 w 228"/>
                    <a:gd name="T10" fmla="*/ 0 h 198"/>
                    <a:gd name="T11" fmla="*/ 228 w 228"/>
                    <a:gd name="T12" fmla="*/ 198 h 198"/>
                  </a:gdLst>
                  <a:ahLst/>
                  <a:cxnLst>
                    <a:cxn ang="T6">
                      <a:pos x="T0" y="T1"/>
                    </a:cxn>
                    <a:cxn ang="T7">
                      <a:pos x="T2" y="T3"/>
                    </a:cxn>
                    <a:cxn ang="T8">
                      <a:pos x="T4" y="T5"/>
                    </a:cxn>
                  </a:cxnLst>
                  <a:rect l="T9" t="T10" r="T11" b="T12"/>
                  <a:pathLst>
                    <a:path w="228" h="198">
                      <a:moveTo>
                        <a:pt x="228" y="54"/>
                      </a:moveTo>
                      <a:cubicBezTo>
                        <a:pt x="202" y="27"/>
                        <a:pt x="176" y="0"/>
                        <a:pt x="138" y="24"/>
                      </a:cubicBezTo>
                      <a:cubicBezTo>
                        <a:pt x="100" y="48"/>
                        <a:pt x="50" y="123"/>
                        <a:pt x="0" y="198"/>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grpSp>
          <p:nvGrpSpPr>
            <p:cNvPr id="148261" name="Group 106"/>
            <p:cNvGrpSpPr>
              <a:grpSpLocks noChangeAspect="1"/>
            </p:cNvGrpSpPr>
            <p:nvPr/>
          </p:nvGrpSpPr>
          <p:grpSpPr bwMode="auto">
            <a:xfrm>
              <a:off x="2106" y="1657"/>
              <a:ext cx="131" cy="37"/>
              <a:chOff x="2092" y="2798"/>
              <a:chExt cx="522" cy="145"/>
            </a:xfrm>
          </p:grpSpPr>
          <p:sp>
            <p:nvSpPr>
              <p:cNvPr id="148328" name="Freeform 107"/>
              <p:cNvSpPr>
                <a:spLocks noChangeAspect="1"/>
              </p:cNvSpPr>
              <p:nvPr/>
            </p:nvSpPr>
            <p:spPr bwMode="auto">
              <a:xfrm flipH="1" flipV="1">
                <a:off x="2092" y="2798"/>
                <a:ext cx="80" cy="145"/>
              </a:xfrm>
              <a:custGeom>
                <a:avLst/>
                <a:gdLst>
                  <a:gd name="T0" fmla="*/ 1 w 401"/>
                  <a:gd name="T1" fmla="*/ 0 h 727"/>
                  <a:gd name="T2" fmla="*/ 1 w 401"/>
                  <a:gd name="T3" fmla="*/ 0 h 727"/>
                  <a:gd name="T4" fmla="*/ 1 w 401"/>
                  <a:gd name="T5" fmla="*/ 1 h 727"/>
                  <a:gd name="T6" fmla="*/ 1 w 401"/>
                  <a:gd name="T7" fmla="*/ 1 h 727"/>
                  <a:gd name="T8" fmla="*/ 0 w 401"/>
                  <a:gd name="T9" fmla="*/ 1 h 727"/>
                  <a:gd name="T10" fmla="*/ 0 w 401"/>
                  <a:gd name="T11" fmla="*/ 1 h 727"/>
                  <a:gd name="T12" fmla="*/ 0 w 401"/>
                  <a:gd name="T13" fmla="*/ 1 h 727"/>
                  <a:gd name="T14" fmla="*/ 0 w 401"/>
                  <a:gd name="T15" fmla="*/ 1 h 727"/>
                  <a:gd name="T16" fmla="*/ 0 w 401"/>
                  <a:gd name="T17" fmla="*/ 0 h 727"/>
                  <a:gd name="T18" fmla="*/ 0 w 401"/>
                  <a:gd name="T19" fmla="*/ 0 h 727"/>
                  <a:gd name="T20" fmla="*/ 1 w 401"/>
                  <a:gd name="T21" fmla="*/ 1 h 727"/>
                  <a:gd name="T22" fmla="*/ 1 w 401"/>
                  <a:gd name="T23" fmla="*/ 1 h 727"/>
                  <a:gd name="T24" fmla="*/ 1 w 401"/>
                  <a:gd name="T25" fmla="*/ 1 h 72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01"/>
                  <a:gd name="T40" fmla="*/ 0 h 727"/>
                  <a:gd name="T41" fmla="*/ 401 w 401"/>
                  <a:gd name="T42" fmla="*/ 727 h 72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01" h="727">
                    <a:moveTo>
                      <a:pt x="382" y="0"/>
                    </a:moveTo>
                    <a:cubicBezTo>
                      <a:pt x="382" y="30"/>
                      <a:pt x="382" y="124"/>
                      <a:pt x="382" y="179"/>
                    </a:cubicBezTo>
                    <a:cubicBezTo>
                      <a:pt x="382" y="234"/>
                      <a:pt x="382" y="269"/>
                      <a:pt x="382" y="330"/>
                    </a:cubicBezTo>
                    <a:cubicBezTo>
                      <a:pt x="382" y="391"/>
                      <a:pt x="401" y="485"/>
                      <a:pt x="382" y="544"/>
                    </a:cubicBezTo>
                    <a:cubicBezTo>
                      <a:pt x="363" y="603"/>
                      <a:pt x="313" y="660"/>
                      <a:pt x="267" y="682"/>
                    </a:cubicBezTo>
                    <a:cubicBezTo>
                      <a:pt x="221" y="704"/>
                      <a:pt x="146" y="703"/>
                      <a:pt x="103" y="677"/>
                    </a:cubicBezTo>
                    <a:cubicBezTo>
                      <a:pt x="60" y="651"/>
                      <a:pt x="22" y="585"/>
                      <a:pt x="11" y="526"/>
                    </a:cubicBezTo>
                    <a:cubicBezTo>
                      <a:pt x="0" y="467"/>
                      <a:pt x="18" y="369"/>
                      <a:pt x="39" y="320"/>
                    </a:cubicBezTo>
                    <a:cubicBezTo>
                      <a:pt x="60" y="271"/>
                      <a:pt x="99" y="245"/>
                      <a:pt x="139" y="234"/>
                    </a:cubicBezTo>
                    <a:cubicBezTo>
                      <a:pt x="179" y="223"/>
                      <a:pt x="242" y="237"/>
                      <a:pt x="281" y="256"/>
                    </a:cubicBezTo>
                    <a:cubicBezTo>
                      <a:pt x="320" y="275"/>
                      <a:pt x="355" y="305"/>
                      <a:pt x="372" y="348"/>
                    </a:cubicBezTo>
                    <a:cubicBezTo>
                      <a:pt x="389" y="391"/>
                      <a:pt x="382" y="449"/>
                      <a:pt x="386" y="512"/>
                    </a:cubicBezTo>
                    <a:cubicBezTo>
                      <a:pt x="390" y="575"/>
                      <a:pt x="393" y="682"/>
                      <a:pt x="395" y="727"/>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329" name="Freeform 108"/>
              <p:cNvSpPr>
                <a:spLocks noChangeAspect="1"/>
              </p:cNvSpPr>
              <p:nvPr/>
            </p:nvSpPr>
            <p:spPr bwMode="auto">
              <a:xfrm>
                <a:off x="2203" y="2798"/>
                <a:ext cx="77" cy="100"/>
              </a:xfrm>
              <a:custGeom>
                <a:avLst/>
                <a:gdLst>
                  <a:gd name="T0" fmla="*/ 0 w 387"/>
                  <a:gd name="T1" fmla="*/ 0 h 501"/>
                  <a:gd name="T2" fmla="*/ 0 w 387"/>
                  <a:gd name="T3" fmla="*/ 0 h 501"/>
                  <a:gd name="T4" fmla="*/ 0 w 387"/>
                  <a:gd name="T5" fmla="*/ 0 h 501"/>
                  <a:gd name="T6" fmla="*/ 0 w 387"/>
                  <a:gd name="T7" fmla="*/ 0 h 501"/>
                  <a:gd name="T8" fmla="*/ 1 w 387"/>
                  <a:gd name="T9" fmla="*/ 0 h 501"/>
                  <a:gd name="T10" fmla="*/ 1 w 387"/>
                  <a:gd name="T11" fmla="*/ 1 h 501"/>
                  <a:gd name="T12" fmla="*/ 1 w 387"/>
                  <a:gd name="T13" fmla="*/ 1 h 501"/>
                  <a:gd name="T14" fmla="*/ 1 w 387"/>
                  <a:gd name="T15" fmla="*/ 1 h 501"/>
                  <a:gd name="T16" fmla="*/ 1 w 387"/>
                  <a:gd name="T17" fmla="*/ 1 h 501"/>
                  <a:gd name="T18" fmla="*/ 1 w 387"/>
                  <a:gd name="T19" fmla="*/ 1 h 501"/>
                  <a:gd name="T20" fmla="*/ 0 w 387"/>
                  <a:gd name="T21" fmla="*/ 1 h 501"/>
                  <a:gd name="T22" fmla="*/ 0 w 387"/>
                  <a:gd name="T23" fmla="*/ 1 h 501"/>
                  <a:gd name="T24" fmla="*/ 0 w 387"/>
                  <a:gd name="T25" fmla="*/ 1 h 501"/>
                  <a:gd name="T26" fmla="*/ 0 w 387"/>
                  <a:gd name="T27" fmla="*/ 1 h 501"/>
                  <a:gd name="T28" fmla="*/ 0 w 387"/>
                  <a:gd name="T29" fmla="*/ 0 h 501"/>
                  <a:gd name="T30" fmla="*/ 0 w 387"/>
                  <a:gd name="T31" fmla="*/ 0 h 501"/>
                  <a:gd name="T32" fmla="*/ 0 w 387"/>
                  <a:gd name="T33" fmla="*/ 0 h 501"/>
                  <a:gd name="T34" fmla="*/ 1 w 387"/>
                  <a:gd name="T35" fmla="*/ 0 h 50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87"/>
                  <a:gd name="T55" fmla="*/ 0 h 501"/>
                  <a:gd name="T56" fmla="*/ 387 w 387"/>
                  <a:gd name="T57" fmla="*/ 501 h 50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87" h="501">
                    <a:moveTo>
                      <a:pt x="10" y="134"/>
                    </a:moveTo>
                    <a:cubicBezTo>
                      <a:pt x="18" y="122"/>
                      <a:pt x="37" y="81"/>
                      <a:pt x="56" y="61"/>
                    </a:cubicBezTo>
                    <a:cubicBezTo>
                      <a:pt x="75" y="41"/>
                      <a:pt x="92" y="24"/>
                      <a:pt x="125" y="16"/>
                    </a:cubicBezTo>
                    <a:cubicBezTo>
                      <a:pt x="158" y="8"/>
                      <a:pt x="221" y="0"/>
                      <a:pt x="257" y="10"/>
                    </a:cubicBezTo>
                    <a:cubicBezTo>
                      <a:pt x="293" y="20"/>
                      <a:pt x="327" y="26"/>
                      <a:pt x="344" y="79"/>
                    </a:cubicBezTo>
                    <a:cubicBezTo>
                      <a:pt x="361" y="132"/>
                      <a:pt x="360" y="284"/>
                      <a:pt x="362" y="330"/>
                    </a:cubicBezTo>
                    <a:cubicBezTo>
                      <a:pt x="364" y="376"/>
                      <a:pt x="349" y="326"/>
                      <a:pt x="353" y="353"/>
                    </a:cubicBezTo>
                    <a:cubicBezTo>
                      <a:pt x="357" y="380"/>
                      <a:pt x="383" y="479"/>
                      <a:pt x="385" y="490"/>
                    </a:cubicBezTo>
                    <a:cubicBezTo>
                      <a:pt x="387" y="501"/>
                      <a:pt x="371" y="439"/>
                      <a:pt x="367" y="417"/>
                    </a:cubicBezTo>
                    <a:cubicBezTo>
                      <a:pt x="363" y="395"/>
                      <a:pt x="373" y="352"/>
                      <a:pt x="358" y="358"/>
                    </a:cubicBezTo>
                    <a:cubicBezTo>
                      <a:pt x="343" y="364"/>
                      <a:pt x="313" y="432"/>
                      <a:pt x="275" y="454"/>
                    </a:cubicBezTo>
                    <a:cubicBezTo>
                      <a:pt x="237" y="476"/>
                      <a:pt x="170" y="491"/>
                      <a:pt x="129" y="490"/>
                    </a:cubicBezTo>
                    <a:cubicBezTo>
                      <a:pt x="88" y="489"/>
                      <a:pt x="50" y="465"/>
                      <a:pt x="29" y="445"/>
                    </a:cubicBezTo>
                    <a:cubicBezTo>
                      <a:pt x="8" y="425"/>
                      <a:pt x="0" y="393"/>
                      <a:pt x="1" y="367"/>
                    </a:cubicBezTo>
                    <a:cubicBezTo>
                      <a:pt x="2" y="341"/>
                      <a:pt x="13" y="309"/>
                      <a:pt x="33" y="289"/>
                    </a:cubicBezTo>
                    <a:cubicBezTo>
                      <a:pt x="53" y="269"/>
                      <a:pt x="87" y="260"/>
                      <a:pt x="120" y="249"/>
                    </a:cubicBezTo>
                    <a:cubicBezTo>
                      <a:pt x="153" y="238"/>
                      <a:pt x="195" y="230"/>
                      <a:pt x="234" y="221"/>
                    </a:cubicBezTo>
                    <a:cubicBezTo>
                      <a:pt x="273" y="212"/>
                      <a:pt x="328" y="199"/>
                      <a:pt x="353" y="193"/>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330" name="Freeform 109"/>
              <p:cNvSpPr>
                <a:spLocks noChangeAspect="1"/>
              </p:cNvSpPr>
              <p:nvPr/>
            </p:nvSpPr>
            <p:spPr bwMode="auto">
              <a:xfrm flipH="1" flipV="1">
                <a:off x="2323" y="2798"/>
                <a:ext cx="80" cy="145"/>
              </a:xfrm>
              <a:custGeom>
                <a:avLst/>
                <a:gdLst>
                  <a:gd name="T0" fmla="*/ 1 w 401"/>
                  <a:gd name="T1" fmla="*/ 0 h 727"/>
                  <a:gd name="T2" fmla="*/ 1 w 401"/>
                  <a:gd name="T3" fmla="*/ 0 h 727"/>
                  <a:gd name="T4" fmla="*/ 1 w 401"/>
                  <a:gd name="T5" fmla="*/ 1 h 727"/>
                  <a:gd name="T6" fmla="*/ 1 w 401"/>
                  <a:gd name="T7" fmla="*/ 1 h 727"/>
                  <a:gd name="T8" fmla="*/ 0 w 401"/>
                  <a:gd name="T9" fmla="*/ 1 h 727"/>
                  <a:gd name="T10" fmla="*/ 0 w 401"/>
                  <a:gd name="T11" fmla="*/ 1 h 727"/>
                  <a:gd name="T12" fmla="*/ 0 w 401"/>
                  <a:gd name="T13" fmla="*/ 1 h 727"/>
                  <a:gd name="T14" fmla="*/ 0 w 401"/>
                  <a:gd name="T15" fmla="*/ 1 h 727"/>
                  <a:gd name="T16" fmla="*/ 0 w 401"/>
                  <a:gd name="T17" fmla="*/ 0 h 727"/>
                  <a:gd name="T18" fmla="*/ 0 w 401"/>
                  <a:gd name="T19" fmla="*/ 0 h 727"/>
                  <a:gd name="T20" fmla="*/ 1 w 401"/>
                  <a:gd name="T21" fmla="*/ 1 h 727"/>
                  <a:gd name="T22" fmla="*/ 1 w 401"/>
                  <a:gd name="T23" fmla="*/ 1 h 727"/>
                  <a:gd name="T24" fmla="*/ 1 w 401"/>
                  <a:gd name="T25" fmla="*/ 1 h 72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01"/>
                  <a:gd name="T40" fmla="*/ 0 h 727"/>
                  <a:gd name="T41" fmla="*/ 401 w 401"/>
                  <a:gd name="T42" fmla="*/ 727 h 72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01" h="727">
                    <a:moveTo>
                      <a:pt x="382" y="0"/>
                    </a:moveTo>
                    <a:cubicBezTo>
                      <a:pt x="382" y="30"/>
                      <a:pt x="382" y="124"/>
                      <a:pt x="382" y="179"/>
                    </a:cubicBezTo>
                    <a:cubicBezTo>
                      <a:pt x="382" y="234"/>
                      <a:pt x="382" y="269"/>
                      <a:pt x="382" y="330"/>
                    </a:cubicBezTo>
                    <a:cubicBezTo>
                      <a:pt x="382" y="391"/>
                      <a:pt x="401" y="485"/>
                      <a:pt x="382" y="544"/>
                    </a:cubicBezTo>
                    <a:cubicBezTo>
                      <a:pt x="363" y="603"/>
                      <a:pt x="313" y="660"/>
                      <a:pt x="267" y="682"/>
                    </a:cubicBezTo>
                    <a:cubicBezTo>
                      <a:pt x="221" y="704"/>
                      <a:pt x="146" y="703"/>
                      <a:pt x="103" y="677"/>
                    </a:cubicBezTo>
                    <a:cubicBezTo>
                      <a:pt x="60" y="651"/>
                      <a:pt x="22" y="585"/>
                      <a:pt x="11" y="526"/>
                    </a:cubicBezTo>
                    <a:cubicBezTo>
                      <a:pt x="0" y="467"/>
                      <a:pt x="18" y="369"/>
                      <a:pt x="39" y="320"/>
                    </a:cubicBezTo>
                    <a:cubicBezTo>
                      <a:pt x="60" y="271"/>
                      <a:pt x="99" y="245"/>
                      <a:pt x="139" y="234"/>
                    </a:cubicBezTo>
                    <a:cubicBezTo>
                      <a:pt x="179" y="223"/>
                      <a:pt x="242" y="237"/>
                      <a:pt x="281" y="256"/>
                    </a:cubicBezTo>
                    <a:cubicBezTo>
                      <a:pt x="320" y="275"/>
                      <a:pt x="355" y="305"/>
                      <a:pt x="372" y="348"/>
                    </a:cubicBezTo>
                    <a:cubicBezTo>
                      <a:pt x="389" y="391"/>
                      <a:pt x="382" y="449"/>
                      <a:pt x="386" y="512"/>
                    </a:cubicBezTo>
                    <a:cubicBezTo>
                      <a:pt x="390" y="575"/>
                      <a:pt x="393" y="682"/>
                      <a:pt x="395" y="727"/>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331" name="Freeform 110"/>
              <p:cNvSpPr>
                <a:spLocks noChangeAspect="1"/>
              </p:cNvSpPr>
              <p:nvPr/>
            </p:nvSpPr>
            <p:spPr bwMode="auto">
              <a:xfrm>
                <a:off x="2438" y="2798"/>
                <a:ext cx="74" cy="93"/>
              </a:xfrm>
              <a:custGeom>
                <a:avLst/>
                <a:gdLst>
                  <a:gd name="T0" fmla="*/ 1 w 368"/>
                  <a:gd name="T1" fmla="*/ 1 h 465"/>
                  <a:gd name="T2" fmla="*/ 0 w 368"/>
                  <a:gd name="T3" fmla="*/ 1 h 465"/>
                  <a:gd name="T4" fmla="*/ 0 w 368"/>
                  <a:gd name="T5" fmla="*/ 1 h 465"/>
                  <a:gd name="T6" fmla="*/ 0 w 368"/>
                  <a:gd name="T7" fmla="*/ 1 h 465"/>
                  <a:gd name="T8" fmla="*/ 0 w 368"/>
                  <a:gd name="T9" fmla="*/ 0 h 465"/>
                  <a:gd name="T10" fmla="*/ 0 w 368"/>
                  <a:gd name="T11" fmla="*/ 0 h 465"/>
                  <a:gd name="T12" fmla="*/ 0 w 368"/>
                  <a:gd name="T13" fmla="*/ 0 h 465"/>
                  <a:gd name="T14" fmla="*/ 1 w 368"/>
                  <a:gd name="T15" fmla="*/ 0 h 465"/>
                  <a:gd name="T16" fmla="*/ 1 w 368"/>
                  <a:gd name="T17" fmla="*/ 0 h 465"/>
                  <a:gd name="T18" fmla="*/ 0 w 368"/>
                  <a:gd name="T19" fmla="*/ 0 h 46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68"/>
                  <a:gd name="T31" fmla="*/ 0 h 465"/>
                  <a:gd name="T32" fmla="*/ 368 w 368"/>
                  <a:gd name="T33" fmla="*/ 465 h 46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68" h="465">
                    <a:moveTo>
                      <a:pt x="350" y="344"/>
                    </a:moveTo>
                    <a:cubicBezTo>
                      <a:pt x="334" y="362"/>
                      <a:pt x="288" y="429"/>
                      <a:pt x="248" y="446"/>
                    </a:cubicBezTo>
                    <a:cubicBezTo>
                      <a:pt x="208" y="463"/>
                      <a:pt x="148" y="465"/>
                      <a:pt x="110" y="446"/>
                    </a:cubicBezTo>
                    <a:cubicBezTo>
                      <a:pt x="72" y="427"/>
                      <a:pt x="35" y="386"/>
                      <a:pt x="20" y="332"/>
                    </a:cubicBezTo>
                    <a:cubicBezTo>
                      <a:pt x="5" y="278"/>
                      <a:pt x="0" y="175"/>
                      <a:pt x="20" y="122"/>
                    </a:cubicBezTo>
                    <a:cubicBezTo>
                      <a:pt x="40" y="69"/>
                      <a:pt x="96" y="28"/>
                      <a:pt x="140" y="14"/>
                    </a:cubicBezTo>
                    <a:cubicBezTo>
                      <a:pt x="184" y="0"/>
                      <a:pt x="248" y="19"/>
                      <a:pt x="284" y="38"/>
                    </a:cubicBezTo>
                    <a:cubicBezTo>
                      <a:pt x="320" y="57"/>
                      <a:pt x="342" y="97"/>
                      <a:pt x="356" y="128"/>
                    </a:cubicBezTo>
                    <a:lnTo>
                      <a:pt x="368" y="224"/>
                    </a:lnTo>
                    <a:lnTo>
                      <a:pt x="8" y="224"/>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8332" name="Group 111"/>
              <p:cNvGrpSpPr>
                <a:grpSpLocks noChangeAspect="1"/>
              </p:cNvGrpSpPr>
              <p:nvPr/>
            </p:nvGrpSpPr>
            <p:grpSpPr bwMode="auto">
              <a:xfrm>
                <a:off x="2568" y="2798"/>
                <a:ext cx="46" cy="103"/>
                <a:chOff x="2808" y="1818"/>
                <a:chExt cx="228" cy="516"/>
              </a:xfrm>
            </p:grpSpPr>
            <p:sp>
              <p:nvSpPr>
                <p:cNvPr id="148333" name="Freeform 112"/>
                <p:cNvSpPr>
                  <a:spLocks noChangeAspect="1"/>
                </p:cNvSpPr>
                <p:nvPr/>
              </p:nvSpPr>
              <p:spPr bwMode="auto">
                <a:xfrm>
                  <a:off x="2808" y="1818"/>
                  <a:ext cx="1" cy="516"/>
                </a:xfrm>
                <a:custGeom>
                  <a:avLst/>
                  <a:gdLst>
                    <a:gd name="T0" fmla="*/ 0 w 1"/>
                    <a:gd name="T1" fmla="*/ 0 h 516"/>
                    <a:gd name="T2" fmla="*/ 0 w 1"/>
                    <a:gd name="T3" fmla="*/ 516 h 516"/>
                    <a:gd name="T4" fmla="*/ 0 60000 65536"/>
                    <a:gd name="T5" fmla="*/ 0 60000 65536"/>
                    <a:gd name="T6" fmla="*/ 0 w 1"/>
                    <a:gd name="T7" fmla="*/ 0 h 516"/>
                    <a:gd name="T8" fmla="*/ 1 w 1"/>
                    <a:gd name="T9" fmla="*/ 516 h 516"/>
                  </a:gdLst>
                  <a:ahLst/>
                  <a:cxnLst>
                    <a:cxn ang="T4">
                      <a:pos x="T0" y="T1"/>
                    </a:cxn>
                    <a:cxn ang="T5">
                      <a:pos x="T2" y="T3"/>
                    </a:cxn>
                  </a:cxnLst>
                  <a:rect l="T6" t="T7" r="T8" b="T9"/>
                  <a:pathLst>
                    <a:path w="1" h="516">
                      <a:moveTo>
                        <a:pt x="0" y="0"/>
                      </a:moveTo>
                      <a:cubicBezTo>
                        <a:pt x="0" y="0"/>
                        <a:pt x="0" y="258"/>
                        <a:pt x="0" y="516"/>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334" name="Freeform 113"/>
                <p:cNvSpPr>
                  <a:spLocks noChangeAspect="1"/>
                </p:cNvSpPr>
                <p:nvPr/>
              </p:nvSpPr>
              <p:spPr bwMode="auto">
                <a:xfrm>
                  <a:off x="2808" y="1830"/>
                  <a:ext cx="228" cy="198"/>
                </a:xfrm>
                <a:custGeom>
                  <a:avLst/>
                  <a:gdLst>
                    <a:gd name="T0" fmla="*/ 228 w 228"/>
                    <a:gd name="T1" fmla="*/ 54 h 198"/>
                    <a:gd name="T2" fmla="*/ 138 w 228"/>
                    <a:gd name="T3" fmla="*/ 24 h 198"/>
                    <a:gd name="T4" fmla="*/ 0 w 228"/>
                    <a:gd name="T5" fmla="*/ 198 h 198"/>
                    <a:gd name="T6" fmla="*/ 0 60000 65536"/>
                    <a:gd name="T7" fmla="*/ 0 60000 65536"/>
                    <a:gd name="T8" fmla="*/ 0 60000 65536"/>
                    <a:gd name="T9" fmla="*/ 0 w 228"/>
                    <a:gd name="T10" fmla="*/ 0 h 198"/>
                    <a:gd name="T11" fmla="*/ 228 w 228"/>
                    <a:gd name="T12" fmla="*/ 198 h 198"/>
                  </a:gdLst>
                  <a:ahLst/>
                  <a:cxnLst>
                    <a:cxn ang="T6">
                      <a:pos x="T0" y="T1"/>
                    </a:cxn>
                    <a:cxn ang="T7">
                      <a:pos x="T2" y="T3"/>
                    </a:cxn>
                    <a:cxn ang="T8">
                      <a:pos x="T4" y="T5"/>
                    </a:cxn>
                  </a:cxnLst>
                  <a:rect l="T9" t="T10" r="T11" b="T12"/>
                  <a:pathLst>
                    <a:path w="228" h="198">
                      <a:moveTo>
                        <a:pt x="228" y="54"/>
                      </a:moveTo>
                      <a:cubicBezTo>
                        <a:pt x="202" y="27"/>
                        <a:pt x="176" y="0"/>
                        <a:pt x="138" y="24"/>
                      </a:cubicBezTo>
                      <a:cubicBezTo>
                        <a:pt x="100" y="48"/>
                        <a:pt x="50" y="123"/>
                        <a:pt x="0" y="198"/>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grpSp>
          <p:nvGrpSpPr>
            <p:cNvPr id="148262" name="Group 114"/>
            <p:cNvGrpSpPr>
              <a:grpSpLocks noChangeAspect="1"/>
            </p:cNvGrpSpPr>
            <p:nvPr/>
          </p:nvGrpSpPr>
          <p:grpSpPr bwMode="auto">
            <a:xfrm>
              <a:off x="3387" y="1599"/>
              <a:ext cx="118" cy="44"/>
              <a:chOff x="2891" y="2802"/>
              <a:chExt cx="467" cy="176"/>
            </a:xfrm>
          </p:grpSpPr>
          <p:sp>
            <p:nvSpPr>
              <p:cNvPr id="148321" name="Freeform 115"/>
              <p:cNvSpPr>
                <a:spLocks noChangeAspect="1"/>
              </p:cNvSpPr>
              <p:nvPr/>
            </p:nvSpPr>
            <p:spPr bwMode="auto">
              <a:xfrm>
                <a:off x="2891" y="2808"/>
                <a:ext cx="81" cy="130"/>
              </a:xfrm>
              <a:custGeom>
                <a:avLst/>
                <a:gdLst>
                  <a:gd name="T0" fmla="*/ 0 w 426"/>
                  <a:gd name="T1" fmla="*/ 1 h 684"/>
                  <a:gd name="T2" fmla="*/ 0 w 426"/>
                  <a:gd name="T3" fmla="*/ 0 h 684"/>
                  <a:gd name="T4" fmla="*/ 1 w 426"/>
                  <a:gd name="T5" fmla="*/ 1 h 684"/>
                  <a:gd name="T6" fmla="*/ 1 w 426"/>
                  <a:gd name="T7" fmla="*/ 0 h 684"/>
                  <a:gd name="T8" fmla="*/ 0 60000 65536"/>
                  <a:gd name="T9" fmla="*/ 0 60000 65536"/>
                  <a:gd name="T10" fmla="*/ 0 60000 65536"/>
                  <a:gd name="T11" fmla="*/ 0 60000 65536"/>
                  <a:gd name="T12" fmla="*/ 0 w 426"/>
                  <a:gd name="T13" fmla="*/ 0 h 684"/>
                  <a:gd name="T14" fmla="*/ 426 w 426"/>
                  <a:gd name="T15" fmla="*/ 684 h 684"/>
                </a:gdLst>
                <a:ahLst/>
                <a:cxnLst>
                  <a:cxn ang="T8">
                    <a:pos x="T0" y="T1"/>
                  </a:cxn>
                  <a:cxn ang="T9">
                    <a:pos x="T2" y="T3"/>
                  </a:cxn>
                  <a:cxn ang="T10">
                    <a:pos x="T4" y="T5"/>
                  </a:cxn>
                  <a:cxn ang="T11">
                    <a:pos x="T6" y="T7"/>
                  </a:cxn>
                </a:cxnLst>
                <a:rect l="T12" t="T13" r="T14" b="T15"/>
                <a:pathLst>
                  <a:path w="426" h="684">
                    <a:moveTo>
                      <a:pt x="0" y="684"/>
                    </a:moveTo>
                    <a:lnTo>
                      <a:pt x="0" y="6"/>
                    </a:lnTo>
                    <a:lnTo>
                      <a:pt x="426" y="672"/>
                    </a:lnTo>
                    <a:lnTo>
                      <a:pt x="426" y="0"/>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8322" name="Group 116"/>
              <p:cNvGrpSpPr>
                <a:grpSpLocks noChangeAspect="1"/>
              </p:cNvGrpSpPr>
              <p:nvPr/>
            </p:nvGrpSpPr>
            <p:grpSpPr bwMode="auto">
              <a:xfrm>
                <a:off x="3018" y="2842"/>
                <a:ext cx="75" cy="136"/>
                <a:chOff x="2778" y="1746"/>
                <a:chExt cx="384" cy="701"/>
              </a:xfrm>
            </p:grpSpPr>
            <p:sp>
              <p:nvSpPr>
                <p:cNvPr id="148326" name="Freeform 117"/>
                <p:cNvSpPr>
                  <a:spLocks noChangeAspect="1"/>
                </p:cNvSpPr>
                <p:nvPr/>
              </p:nvSpPr>
              <p:spPr bwMode="auto">
                <a:xfrm>
                  <a:off x="2778" y="1746"/>
                  <a:ext cx="384" cy="701"/>
                </a:xfrm>
                <a:custGeom>
                  <a:avLst/>
                  <a:gdLst>
                    <a:gd name="T0" fmla="*/ 384 w 384"/>
                    <a:gd name="T1" fmla="*/ 0 h 701"/>
                    <a:gd name="T2" fmla="*/ 168 w 384"/>
                    <a:gd name="T3" fmla="*/ 594 h 701"/>
                    <a:gd name="T4" fmla="*/ 0 w 384"/>
                    <a:gd name="T5" fmla="*/ 642 h 701"/>
                    <a:gd name="T6" fmla="*/ 0 60000 65536"/>
                    <a:gd name="T7" fmla="*/ 0 60000 65536"/>
                    <a:gd name="T8" fmla="*/ 0 60000 65536"/>
                    <a:gd name="T9" fmla="*/ 0 w 384"/>
                    <a:gd name="T10" fmla="*/ 0 h 701"/>
                    <a:gd name="T11" fmla="*/ 384 w 384"/>
                    <a:gd name="T12" fmla="*/ 701 h 701"/>
                  </a:gdLst>
                  <a:ahLst/>
                  <a:cxnLst>
                    <a:cxn ang="T6">
                      <a:pos x="T0" y="T1"/>
                    </a:cxn>
                    <a:cxn ang="T7">
                      <a:pos x="T2" y="T3"/>
                    </a:cxn>
                    <a:cxn ang="T8">
                      <a:pos x="T4" y="T5"/>
                    </a:cxn>
                  </a:cxnLst>
                  <a:rect l="T9" t="T10" r="T11" b="T12"/>
                  <a:pathLst>
                    <a:path w="384" h="701">
                      <a:moveTo>
                        <a:pt x="384" y="0"/>
                      </a:moveTo>
                      <a:cubicBezTo>
                        <a:pt x="308" y="243"/>
                        <a:pt x="232" y="487"/>
                        <a:pt x="168" y="594"/>
                      </a:cubicBezTo>
                      <a:cubicBezTo>
                        <a:pt x="104" y="701"/>
                        <a:pt x="52" y="671"/>
                        <a:pt x="0" y="642"/>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327" name="Freeform 118"/>
                <p:cNvSpPr>
                  <a:spLocks noChangeAspect="1"/>
                </p:cNvSpPr>
                <p:nvPr/>
              </p:nvSpPr>
              <p:spPr bwMode="auto">
                <a:xfrm>
                  <a:off x="2802" y="1752"/>
                  <a:ext cx="180" cy="504"/>
                </a:xfrm>
                <a:custGeom>
                  <a:avLst/>
                  <a:gdLst>
                    <a:gd name="T0" fmla="*/ 0 w 180"/>
                    <a:gd name="T1" fmla="*/ 0 h 504"/>
                    <a:gd name="T2" fmla="*/ 180 w 180"/>
                    <a:gd name="T3" fmla="*/ 504 h 504"/>
                    <a:gd name="T4" fmla="*/ 0 60000 65536"/>
                    <a:gd name="T5" fmla="*/ 0 60000 65536"/>
                    <a:gd name="T6" fmla="*/ 0 w 180"/>
                    <a:gd name="T7" fmla="*/ 0 h 504"/>
                    <a:gd name="T8" fmla="*/ 180 w 180"/>
                    <a:gd name="T9" fmla="*/ 504 h 504"/>
                  </a:gdLst>
                  <a:ahLst/>
                  <a:cxnLst>
                    <a:cxn ang="T4">
                      <a:pos x="T0" y="T1"/>
                    </a:cxn>
                    <a:cxn ang="T5">
                      <a:pos x="T2" y="T3"/>
                    </a:cxn>
                  </a:cxnLst>
                  <a:rect l="T6" t="T7" r="T8" b="T9"/>
                  <a:pathLst>
                    <a:path w="180" h="504">
                      <a:moveTo>
                        <a:pt x="0" y="0"/>
                      </a:moveTo>
                      <a:cubicBezTo>
                        <a:pt x="0" y="0"/>
                        <a:pt x="90" y="252"/>
                        <a:pt x="180" y="504"/>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48323" name="Line 119"/>
              <p:cNvSpPr>
                <a:spLocks noChangeAspect="1" noChangeShapeType="1"/>
              </p:cNvSpPr>
              <p:nvPr/>
            </p:nvSpPr>
            <p:spPr bwMode="auto">
              <a:xfrm>
                <a:off x="3134" y="2802"/>
                <a:ext cx="1" cy="136"/>
              </a:xfrm>
              <a:prstGeom prst="line">
                <a:avLst/>
              </a:prstGeom>
              <a:noFill/>
              <a:ln w="63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8324" name="Freeform 120"/>
              <p:cNvSpPr>
                <a:spLocks noChangeAspect="1"/>
              </p:cNvSpPr>
              <p:nvPr/>
            </p:nvSpPr>
            <p:spPr bwMode="auto">
              <a:xfrm>
                <a:off x="3176" y="2845"/>
                <a:ext cx="81" cy="93"/>
              </a:xfrm>
              <a:custGeom>
                <a:avLst/>
                <a:gdLst>
                  <a:gd name="T0" fmla="*/ 0 w 402"/>
                  <a:gd name="T1" fmla="*/ 0 h 464"/>
                  <a:gd name="T2" fmla="*/ 0 w 402"/>
                  <a:gd name="T3" fmla="*/ 0 h 464"/>
                  <a:gd name="T4" fmla="*/ 0 w 402"/>
                  <a:gd name="T5" fmla="*/ 0 h 464"/>
                  <a:gd name="T6" fmla="*/ 0 w 402"/>
                  <a:gd name="T7" fmla="*/ 0 h 464"/>
                  <a:gd name="T8" fmla="*/ 0 w 402"/>
                  <a:gd name="T9" fmla="*/ 1 h 464"/>
                  <a:gd name="T10" fmla="*/ 0 w 402"/>
                  <a:gd name="T11" fmla="*/ 1 h 464"/>
                  <a:gd name="T12" fmla="*/ 0 w 402"/>
                  <a:gd name="T13" fmla="*/ 1 h 464"/>
                  <a:gd name="T14" fmla="*/ 1 w 402"/>
                  <a:gd name="T15" fmla="*/ 0 h 464"/>
                  <a:gd name="T16" fmla="*/ 1 w 402"/>
                  <a:gd name="T17" fmla="*/ 0 h 464"/>
                  <a:gd name="T18" fmla="*/ 1 w 402"/>
                  <a:gd name="T19" fmla="*/ 0 h 464"/>
                  <a:gd name="T20" fmla="*/ 0 w 402"/>
                  <a:gd name="T21" fmla="*/ 0 h 46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02"/>
                  <a:gd name="T34" fmla="*/ 0 h 464"/>
                  <a:gd name="T35" fmla="*/ 402 w 402"/>
                  <a:gd name="T36" fmla="*/ 464 h 46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02" h="464">
                    <a:moveTo>
                      <a:pt x="192" y="0"/>
                    </a:moveTo>
                    <a:cubicBezTo>
                      <a:pt x="176" y="4"/>
                      <a:pt x="120" y="2"/>
                      <a:pt x="90" y="26"/>
                    </a:cubicBezTo>
                    <a:cubicBezTo>
                      <a:pt x="60" y="50"/>
                      <a:pt x="26" y="101"/>
                      <a:pt x="13" y="147"/>
                    </a:cubicBezTo>
                    <a:cubicBezTo>
                      <a:pt x="0" y="193"/>
                      <a:pt x="3" y="258"/>
                      <a:pt x="13" y="301"/>
                    </a:cubicBezTo>
                    <a:cubicBezTo>
                      <a:pt x="23" y="344"/>
                      <a:pt x="44" y="377"/>
                      <a:pt x="71" y="403"/>
                    </a:cubicBezTo>
                    <a:cubicBezTo>
                      <a:pt x="98" y="429"/>
                      <a:pt x="140" y="458"/>
                      <a:pt x="179" y="461"/>
                    </a:cubicBezTo>
                    <a:cubicBezTo>
                      <a:pt x="218" y="464"/>
                      <a:pt x="273" y="448"/>
                      <a:pt x="307" y="422"/>
                    </a:cubicBezTo>
                    <a:cubicBezTo>
                      <a:pt x="341" y="396"/>
                      <a:pt x="370" y="351"/>
                      <a:pt x="384" y="307"/>
                    </a:cubicBezTo>
                    <a:cubicBezTo>
                      <a:pt x="398" y="263"/>
                      <a:pt x="402" y="205"/>
                      <a:pt x="391" y="160"/>
                    </a:cubicBezTo>
                    <a:cubicBezTo>
                      <a:pt x="380" y="115"/>
                      <a:pt x="352" y="65"/>
                      <a:pt x="320" y="38"/>
                    </a:cubicBezTo>
                    <a:cubicBezTo>
                      <a:pt x="288" y="11"/>
                      <a:pt x="224" y="8"/>
                      <a:pt x="199" y="0"/>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325" name="Freeform 121"/>
              <p:cNvSpPr>
                <a:spLocks noChangeAspect="1"/>
              </p:cNvSpPr>
              <p:nvPr/>
            </p:nvSpPr>
            <p:spPr bwMode="auto">
              <a:xfrm>
                <a:off x="3287" y="2835"/>
                <a:ext cx="71" cy="103"/>
              </a:xfrm>
              <a:custGeom>
                <a:avLst/>
                <a:gdLst>
                  <a:gd name="T0" fmla="*/ 0 w 356"/>
                  <a:gd name="T1" fmla="*/ 0 h 514"/>
                  <a:gd name="T2" fmla="*/ 0 w 356"/>
                  <a:gd name="T3" fmla="*/ 1 h 514"/>
                  <a:gd name="T4" fmla="*/ 0 w 356"/>
                  <a:gd name="T5" fmla="*/ 0 h 514"/>
                  <a:gd name="T6" fmla="*/ 0 w 356"/>
                  <a:gd name="T7" fmla="*/ 0 h 514"/>
                  <a:gd name="T8" fmla="*/ 0 w 356"/>
                  <a:gd name="T9" fmla="*/ 0 h 514"/>
                  <a:gd name="T10" fmla="*/ 1 w 356"/>
                  <a:gd name="T11" fmla="*/ 0 h 514"/>
                  <a:gd name="T12" fmla="*/ 1 w 356"/>
                  <a:gd name="T13" fmla="*/ 0 h 514"/>
                  <a:gd name="T14" fmla="*/ 1 w 356"/>
                  <a:gd name="T15" fmla="*/ 1 h 514"/>
                  <a:gd name="T16" fmla="*/ 0 60000 65536"/>
                  <a:gd name="T17" fmla="*/ 0 60000 65536"/>
                  <a:gd name="T18" fmla="*/ 0 60000 65536"/>
                  <a:gd name="T19" fmla="*/ 0 60000 65536"/>
                  <a:gd name="T20" fmla="*/ 0 60000 65536"/>
                  <a:gd name="T21" fmla="*/ 0 60000 65536"/>
                  <a:gd name="T22" fmla="*/ 0 60000 65536"/>
                  <a:gd name="T23" fmla="*/ 0 60000 65536"/>
                  <a:gd name="T24" fmla="*/ 0 w 356"/>
                  <a:gd name="T25" fmla="*/ 0 h 514"/>
                  <a:gd name="T26" fmla="*/ 356 w 356"/>
                  <a:gd name="T27" fmla="*/ 514 h 5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56" h="514">
                    <a:moveTo>
                      <a:pt x="11" y="0"/>
                    </a:moveTo>
                    <a:cubicBezTo>
                      <a:pt x="11" y="79"/>
                      <a:pt x="10" y="430"/>
                      <a:pt x="10" y="472"/>
                    </a:cubicBezTo>
                    <a:cubicBezTo>
                      <a:pt x="10" y="514"/>
                      <a:pt x="0" y="313"/>
                      <a:pt x="11" y="250"/>
                    </a:cubicBezTo>
                    <a:cubicBezTo>
                      <a:pt x="22" y="187"/>
                      <a:pt x="48" y="128"/>
                      <a:pt x="79" y="91"/>
                    </a:cubicBezTo>
                    <a:cubicBezTo>
                      <a:pt x="110" y="54"/>
                      <a:pt x="154" y="30"/>
                      <a:pt x="195" y="30"/>
                    </a:cubicBezTo>
                    <a:cubicBezTo>
                      <a:pt x="236" y="30"/>
                      <a:pt x="297" y="61"/>
                      <a:pt x="323" y="94"/>
                    </a:cubicBezTo>
                    <a:cubicBezTo>
                      <a:pt x="349" y="127"/>
                      <a:pt x="346" y="160"/>
                      <a:pt x="351" y="227"/>
                    </a:cubicBezTo>
                    <a:cubicBezTo>
                      <a:pt x="356" y="294"/>
                      <a:pt x="351" y="454"/>
                      <a:pt x="351" y="499"/>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148263" name="Group 122"/>
            <p:cNvGrpSpPr>
              <a:grpSpLocks noChangeAspect="1"/>
            </p:cNvGrpSpPr>
            <p:nvPr/>
          </p:nvGrpSpPr>
          <p:grpSpPr bwMode="auto">
            <a:xfrm>
              <a:off x="3387" y="1645"/>
              <a:ext cx="239" cy="37"/>
              <a:chOff x="3565" y="2757"/>
              <a:chExt cx="949" cy="145"/>
            </a:xfrm>
          </p:grpSpPr>
          <p:grpSp>
            <p:nvGrpSpPr>
              <p:cNvPr id="148307" name="Group 123"/>
              <p:cNvGrpSpPr>
                <a:grpSpLocks noChangeAspect="1"/>
              </p:cNvGrpSpPr>
              <p:nvPr/>
            </p:nvGrpSpPr>
            <p:grpSpPr bwMode="auto">
              <a:xfrm>
                <a:off x="3565" y="2800"/>
                <a:ext cx="119" cy="102"/>
                <a:chOff x="1587" y="3362"/>
                <a:chExt cx="119" cy="102"/>
              </a:xfrm>
            </p:grpSpPr>
            <p:sp>
              <p:nvSpPr>
                <p:cNvPr id="148319" name="Freeform 124"/>
                <p:cNvSpPr>
                  <a:spLocks noChangeAspect="1"/>
                </p:cNvSpPr>
                <p:nvPr/>
              </p:nvSpPr>
              <p:spPr bwMode="auto">
                <a:xfrm>
                  <a:off x="1646" y="3367"/>
                  <a:ext cx="60" cy="91"/>
                </a:xfrm>
                <a:custGeom>
                  <a:avLst/>
                  <a:gdLst>
                    <a:gd name="T0" fmla="*/ 0 w 302"/>
                    <a:gd name="T1" fmla="*/ 1 h 456"/>
                    <a:gd name="T2" fmla="*/ 0 w 302"/>
                    <a:gd name="T3" fmla="*/ 0 h 456"/>
                    <a:gd name="T4" fmla="*/ 0 w 302"/>
                    <a:gd name="T5" fmla="*/ 0 h 456"/>
                    <a:gd name="T6" fmla="*/ 0 w 302"/>
                    <a:gd name="T7" fmla="*/ 0 h 456"/>
                    <a:gd name="T8" fmla="*/ 0 w 302"/>
                    <a:gd name="T9" fmla="*/ 0 h 456"/>
                    <a:gd name="T10" fmla="*/ 0 w 302"/>
                    <a:gd name="T11" fmla="*/ 0 h 456"/>
                    <a:gd name="T12" fmla="*/ 0 w 302"/>
                    <a:gd name="T13" fmla="*/ 1 h 456"/>
                    <a:gd name="T14" fmla="*/ 0 60000 65536"/>
                    <a:gd name="T15" fmla="*/ 0 60000 65536"/>
                    <a:gd name="T16" fmla="*/ 0 60000 65536"/>
                    <a:gd name="T17" fmla="*/ 0 60000 65536"/>
                    <a:gd name="T18" fmla="*/ 0 60000 65536"/>
                    <a:gd name="T19" fmla="*/ 0 60000 65536"/>
                    <a:gd name="T20" fmla="*/ 0 60000 65536"/>
                    <a:gd name="T21" fmla="*/ 0 w 302"/>
                    <a:gd name="T22" fmla="*/ 0 h 456"/>
                    <a:gd name="T23" fmla="*/ 302 w 302"/>
                    <a:gd name="T24" fmla="*/ 456 h 4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2" h="456">
                      <a:moveTo>
                        <a:pt x="298" y="456"/>
                      </a:moveTo>
                      <a:cubicBezTo>
                        <a:pt x="297" y="410"/>
                        <a:pt x="302" y="255"/>
                        <a:pt x="298" y="187"/>
                      </a:cubicBezTo>
                      <a:cubicBezTo>
                        <a:pt x="294" y="119"/>
                        <a:pt x="295" y="77"/>
                        <a:pt x="272" y="46"/>
                      </a:cubicBezTo>
                      <a:cubicBezTo>
                        <a:pt x="249" y="15"/>
                        <a:pt x="192" y="0"/>
                        <a:pt x="157" y="1"/>
                      </a:cubicBezTo>
                      <a:cubicBezTo>
                        <a:pt x="122" y="2"/>
                        <a:pt x="85" y="20"/>
                        <a:pt x="61" y="53"/>
                      </a:cubicBezTo>
                      <a:cubicBezTo>
                        <a:pt x="37" y="86"/>
                        <a:pt x="20" y="134"/>
                        <a:pt x="10" y="200"/>
                      </a:cubicBezTo>
                      <a:cubicBezTo>
                        <a:pt x="0" y="266"/>
                        <a:pt x="4" y="397"/>
                        <a:pt x="3" y="449"/>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320" name="Freeform 125"/>
                <p:cNvSpPr>
                  <a:spLocks noChangeAspect="1"/>
                </p:cNvSpPr>
                <p:nvPr/>
              </p:nvSpPr>
              <p:spPr bwMode="auto">
                <a:xfrm>
                  <a:off x="1587" y="3362"/>
                  <a:ext cx="62" cy="102"/>
                </a:xfrm>
                <a:custGeom>
                  <a:avLst/>
                  <a:gdLst>
                    <a:gd name="T0" fmla="*/ 0 w 309"/>
                    <a:gd name="T1" fmla="*/ 0 h 510"/>
                    <a:gd name="T2" fmla="*/ 0 w 309"/>
                    <a:gd name="T3" fmla="*/ 1 h 510"/>
                    <a:gd name="T4" fmla="*/ 0 w 309"/>
                    <a:gd name="T5" fmla="*/ 0 h 510"/>
                    <a:gd name="T6" fmla="*/ 0 w 309"/>
                    <a:gd name="T7" fmla="*/ 0 h 510"/>
                    <a:gd name="T8" fmla="*/ 0 w 309"/>
                    <a:gd name="T9" fmla="*/ 0 h 510"/>
                    <a:gd name="T10" fmla="*/ 0 w 309"/>
                    <a:gd name="T11" fmla="*/ 0 h 510"/>
                    <a:gd name="T12" fmla="*/ 0 w 309"/>
                    <a:gd name="T13" fmla="*/ 0 h 510"/>
                    <a:gd name="T14" fmla="*/ 0 w 309"/>
                    <a:gd name="T15" fmla="*/ 1 h 510"/>
                    <a:gd name="T16" fmla="*/ 0 60000 65536"/>
                    <a:gd name="T17" fmla="*/ 0 60000 65536"/>
                    <a:gd name="T18" fmla="*/ 0 60000 65536"/>
                    <a:gd name="T19" fmla="*/ 0 60000 65536"/>
                    <a:gd name="T20" fmla="*/ 0 60000 65536"/>
                    <a:gd name="T21" fmla="*/ 0 60000 65536"/>
                    <a:gd name="T22" fmla="*/ 0 60000 65536"/>
                    <a:gd name="T23" fmla="*/ 0 60000 65536"/>
                    <a:gd name="T24" fmla="*/ 0 w 309"/>
                    <a:gd name="T25" fmla="*/ 0 h 510"/>
                    <a:gd name="T26" fmla="*/ 309 w 309"/>
                    <a:gd name="T27" fmla="*/ 510 h 51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09" h="510">
                      <a:moveTo>
                        <a:pt x="12" y="0"/>
                      </a:moveTo>
                      <a:cubicBezTo>
                        <a:pt x="12" y="78"/>
                        <a:pt x="10" y="426"/>
                        <a:pt x="10" y="468"/>
                      </a:cubicBezTo>
                      <a:cubicBezTo>
                        <a:pt x="10" y="510"/>
                        <a:pt x="0" y="313"/>
                        <a:pt x="12" y="250"/>
                      </a:cubicBezTo>
                      <a:cubicBezTo>
                        <a:pt x="24" y="187"/>
                        <a:pt x="49" y="128"/>
                        <a:pt x="80" y="91"/>
                      </a:cubicBezTo>
                      <a:cubicBezTo>
                        <a:pt x="111" y="54"/>
                        <a:pt x="161" y="30"/>
                        <a:pt x="196" y="30"/>
                      </a:cubicBezTo>
                      <a:cubicBezTo>
                        <a:pt x="231" y="30"/>
                        <a:pt x="273" y="59"/>
                        <a:pt x="291" y="94"/>
                      </a:cubicBezTo>
                      <a:cubicBezTo>
                        <a:pt x="309" y="129"/>
                        <a:pt x="302" y="176"/>
                        <a:pt x="304" y="241"/>
                      </a:cubicBezTo>
                      <a:cubicBezTo>
                        <a:pt x="306" y="306"/>
                        <a:pt x="304" y="434"/>
                        <a:pt x="304" y="484"/>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48308" name="Freeform 126"/>
              <p:cNvSpPr>
                <a:spLocks noChangeAspect="1"/>
              </p:cNvSpPr>
              <p:nvPr/>
            </p:nvSpPr>
            <p:spPr bwMode="auto">
              <a:xfrm>
                <a:off x="3719" y="2809"/>
                <a:ext cx="74" cy="93"/>
              </a:xfrm>
              <a:custGeom>
                <a:avLst/>
                <a:gdLst>
                  <a:gd name="T0" fmla="*/ 1 w 368"/>
                  <a:gd name="T1" fmla="*/ 1 h 465"/>
                  <a:gd name="T2" fmla="*/ 0 w 368"/>
                  <a:gd name="T3" fmla="*/ 1 h 465"/>
                  <a:gd name="T4" fmla="*/ 0 w 368"/>
                  <a:gd name="T5" fmla="*/ 1 h 465"/>
                  <a:gd name="T6" fmla="*/ 0 w 368"/>
                  <a:gd name="T7" fmla="*/ 1 h 465"/>
                  <a:gd name="T8" fmla="*/ 0 w 368"/>
                  <a:gd name="T9" fmla="*/ 0 h 465"/>
                  <a:gd name="T10" fmla="*/ 0 w 368"/>
                  <a:gd name="T11" fmla="*/ 0 h 465"/>
                  <a:gd name="T12" fmla="*/ 0 w 368"/>
                  <a:gd name="T13" fmla="*/ 0 h 465"/>
                  <a:gd name="T14" fmla="*/ 1 w 368"/>
                  <a:gd name="T15" fmla="*/ 0 h 465"/>
                  <a:gd name="T16" fmla="*/ 1 w 368"/>
                  <a:gd name="T17" fmla="*/ 0 h 465"/>
                  <a:gd name="T18" fmla="*/ 0 w 368"/>
                  <a:gd name="T19" fmla="*/ 0 h 46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68"/>
                  <a:gd name="T31" fmla="*/ 0 h 465"/>
                  <a:gd name="T32" fmla="*/ 368 w 368"/>
                  <a:gd name="T33" fmla="*/ 465 h 46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68" h="465">
                    <a:moveTo>
                      <a:pt x="350" y="344"/>
                    </a:moveTo>
                    <a:cubicBezTo>
                      <a:pt x="334" y="362"/>
                      <a:pt x="288" y="429"/>
                      <a:pt x="248" y="446"/>
                    </a:cubicBezTo>
                    <a:cubicBezTo>
                      <a:pt x="208" y="463"/>
                      <a:pt x="148" y="465"/>
                      <a:pt x="110" y="446"/>
                    </a:cubicBezTo>
                    <a:cubicBezTo>
                      <a:pt x="72" y="427"/>
                      <a:pt x="35" y="386"/>
                      <a:pt x="20" y="332"/>
                    </a:cubicBezTo>
                    <a:cubicBezTo>
                      <a:pt x="5" y="278"/>
                      <a:pt x="0" y="175"/>
                      <a:pt x="20" y="122"/>
                    </a:cubicBezTo>
                    <a:cubicBezTo>
                      <a:pt x="40" y="69"/>
                      <a:pt x="96" y="28"/>
                      <a:pt x="140" y="14"/>
                    </a:cubicBezTo>
                    <a:cubicBezTo>
                      <a:pt x="184" y="0"/>
                      <a:pt x="248" y="19"/>
                      <a:pt x="284" y="38"/>
                    </a:cubicBezTo>
                    <a:cubicBezTo>
                      <a:pt x="320" y="57"/>
                      <a:pt x="342" y="97"/>
                      <a:pt x="356" y="128"/>
                    </a:cubicBezTo>
                    <a:lnTo>
                      <a:pt x="368" y="224"/>
                    </a:lnTo>
                    <a:lnTo>
                      <a:pt x="8" y="224"/>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8309" name="Group 127"/>
              <p:cNvGrpSpPr>
                <a:grpSpLocks noChangeAspect="1"/>
              </p:cNvGrpSpPr>
              <p:nvPr/>
            </p:nvGrpSpPr>
            <p:grpSpPr bwMode="auto">
              <a:xfrm>
                <a:off x="3828" y="2800"/>
                <a:ext cx="119" cy="102"/>
                <a:chOff x="1587" y="3362"/>
                <a:chExt cx="119" cy="102"/>
              </a:xfrm>
            </p:grpSpPr>
            <p:sp>
              <p:nvSpPr>
                <p:cNvPr id="148317" name="Freeform 128"/>
                <p:cNvSpPr>
                  <a:spLocks noChangeAspect="1"/>
                </p:cNvSpPr>
                <p:nvPr/>
              </p:nvSpPr>
              <p:spPr bwMode="auto">
                <a:xfrm>
                  <a:off x="1646" y="3367"/>
                  <a:ext cx="60" cy="91"/>
                </a:xfrm>
                <a:custGeom>
                  <a:avLst/>
                  <a:gdLst>
                    <a:gd name="T0" fmla="*/ 0 w 302"/>
                    <a:gd name="T1" fmla="*/ 1 h 456"/>
                    <a:gd name="T2" fmla="*/ 0 w 302"/>
                    <a:gd name="T3" fmla="*/ 0 h 456"/>
                    <a:gd name="T4" fmla="*/ 0 w 302"/>
                    <a:gd name="T5" fmla="*/ 0 h 456"/>
                    <a:gd name="T6" fmla="*/ 0 w 302"/>
                    <a:gd name="T7" fmla="*/ 0 h 456"/>
                    <a:gd name="T8" fmla="*/ 0 w 302"/>
                    <a:gd name="T9" fmla="*/ 0 h 456"/>
                    <a:gd name="T10" fmla="*/ 0 w 302"/>
                    <a:gd name="T11" fmla="*/ 0 h 456"/>
                    <a:gd name="T12" fmla="*/ 0 w 302"/>
                    <a:gd name="T13" fmla="*/ 1 h 456"/>
                    <a:gd name="T14" fmla="*/ 0 60000 65536"/>
                    <a:gd name="T15" fmla="*/ 0 60000 65536"/>
                    <a:gd name="T16" fmla="*/ 0 60000 65536"/>
                    <a:gd name="T17" fmla="*/ 0 60000 65536"/>
                    <a:gd name="T18" fmla="*/ 0 60000 65536"/>
                    <a:gd name="T19" fmla="*/ 0 60000 65536"/>
                    <a:gd name="T20" fmla="*/ 0 60000 65536"/>
                    <a:gd name="T21" fmla="*/ 0 w 302"/>
                    <a:gd name="T22" fmla="*/ 0 h 456"/>
                    <a:gd name="T23" fmla="*/ 302 w 302"/>
                    <a:gd name="T24" fmla="*/ 456 h 4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2" h="456">
                      <a:moveTo>
                        <a:pt x="298" y="456"/>
                      </a:moveTo>
                      <a:cubicBezTo>
                        <a:pt x="297" y="410"/>
                        <a:pt x="302" y="255"/>
                        <a:pt x="298" y="187"/>
                      </a:cubicBezTo>
                      <a:cubicBezTo>
                        <a:pt x="294" y="119"/>
                        <a:pt x="295" y="77"/>
                        <a:pt x="272" y="46"/>
                      </a:cubicBezTo>
                      <a:cubicBezTo>
                        <a:pt x="249" y="15"/>
                        <a:pt x="192" y="0"/>
                        <a:pt x="157" y="1"/>
                      </a:cubicBezTo>
                      <a:cubicBezTo>
                        <a:pt x="122" y="2"/>
                        <a:pt x="85" y="20"/>
                        <a:pt x="61" y="53"/>
                      </a:cubicBezTo>
                      <a:cubicBezTo>
                        <a:pt x="37" y="86"/>
                        <a:pt x="20" y="134"/>
                        <a:pt x="10" y="200"/>
                      </a:cubicBezTo>
                      <a:cubicBezTo>
                        <a:pt x="0" y="266"/>
                        <a:pt x="4" y="397"/>
                        <a:pt x="3" y="449"/>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318" name="Freeform 129"/>
                <p:cNvSpPr>
                  <a:spLocks noChangeAspect="1"/>
                </p:cNvSpPr>
                <p:nvPr/>
              </p:nvSpPr>
              <p:spPr bwMode="auto">
                <a:xfrm>
                  <a:off x="1587" y="3362"/>
                  <a:ext cx="62" cy="102"/>
                </a:xfrm>
                <a:custGeom>
                  <a:avLst/>
                  <a:gdLst>
                    <a:gd name="T0" fmla="*/ 0 w 309"/>
                    <a:gd name="T1" fmla="*/ 0 h 510"/>
                    <a:gd name="T2" fmla="*/ 0 w 309"/>
                    <a:gd name="T3" fmla="*/ 1 h 510"/>
                    <a:gd name="T4" fmla="*/ 0 w 309"/>
                    <a:gd name="T5" fmla="*/ 0 h 510"/>
                    <a:gd name="T6" fmla="*/ 0 w 309"/>
                    <a:gd name="T7" fmla="*/ 0 h 510"/>
                    <a:gd name="T8" fmla="*/ 0 w 309"/>
                    <a:gd name="T9" fmla="*/ 0 h 510"/>
                    <a:gd name="T10" fmla="*/ 0 w 309"/>
                    <a:gd name="T11" fmla="*/ 0 h 510"/>
                    <a:gd name="T12" fmla="*/ 0 w 309"/>
                    <a:gd name="T13" fmla="*/ 0 h 510"/>
                    <a:gd name="T14" fmla="*/ 0 w 309"/>
                    <a:gd name="T15" fmla="*/ 1 h 510"/>
                    <a:gd name="T16" fmla="*/ 0 60000 65536"/>
                    <a:gd name="T17" fmla="*/ 0 60000 65536"/>
                    <a:gd name="T18" fmla="*/ 0 60000 65536"/>
                    <a:gd name="T19" fmla="*/ 0 60000 65536"/>
                    <a:gd name="T20" fmla="*/ 0 60000 65536"/>
                    <a:gd name="T21" fmla="*/ 0 60000 65536"/>
                    <a:gd name="T22" fmla="*/ 0 60000 65536"/>
                    <a:gd name="T23" fmla="*/ 0 60000 65536"/>
                    <a:gd name="T24" fmla="*/ 0 w 309"/>
                    <a:gd name="T25" fmla="*/ 0 h 510"/>
                    <a:gd name="T26" fmla="*/ 309 w 309"/>
                    <a:gd name="T27" fmla="*/ 510 h 51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09" h="510">
                      <a:moveTo>
                        <a:pt x="12" y="0"/>
                      </a:moveTo>
                      <a:cubicBezTo>
                        <a:pt x="12" y="78"/>
                        <a:pt x="10" y="426"/>
                        <a:pt x="10" y="468"/>
                      </a:cubicBezTo>
                      <a:cubicBezTo>
                        <a:pt x="10" y="510"/>
                        <a:pt x="0" y="313"/>
                        <a:pt x="12" y="250"/>
                      </a:cubicBezTo>
                      <a:cubicBezTo>
                        <a:pt x="24" y="187"/>
                        <a:pt x="49" y="128"/>
                        <a:pt x="80" y="91"/>
                      </a:cubicBezTo>
                      <a:cubicBezTo>
                        <a:pt x="111" y="54"/>
                        <a:pt x="161" y="30"/>
                        <a:pt x="196" y="30"/>
                      </a:cubicBezTo>
                      <a:cubicBezTo>
                        <a:pt x="231" y="30"/>
                        <a:pt x="273" y="59"/>
                        <a:pt x="291" y="94"/>
                      </a:cubicBezTo>
                      <a:cubicBezTo>
                        <a:pt x="309" y="129"/>
                        <a:pt x="302" y="176"/>
                        <a:pt x="304" y="241"/>
                      </a:cubicBezTo>
                      <a:cubicBezTo>
                        <a:pt x="306" y="306"/>
                        <a:pt x="304" y="434"/>
                        <a:pt x="304" y="484"/>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48310" name="Freeform 130"/>
              <p:cNvSpPr>
                <a:spLocks noChangeAspect="1"/>
              </p:cNvSpPr>
              <p:nvPr/>
            </p:nvSpPr>
            <p:spPr bwMode="auto">
              <a:xfrm flipH="1">
                <a:off x="3988" y="2757"/>
                <a:ext cx="80" cy="145"/>
              </a:xfrm>
              <a:custGeom>
                <a:avLst/>
                <a:gdLst>
                  <a:gd name="T0" fmla="*/ 1 w 401"/>
                  <a:gd name="T1" fmla="*/ 0 h 727"/>
                  <a:gd name="T2" fmla="*/ 1 w 401"/>
                  <a:gd name="T3" fmla="*/ 0 h 727"/>
                  <a:gd name="T4" fmla="*/ 1 w 401"/>
                  <a:gd name="T5" fmla="*/ 1 h 727"/>
                  <a:gd name="T6" fmla="*/ 1 w 401"/>
                  <a:gd name="T7" fmla="*/ 1 h 727"/>
                  <a:gd name="T8" fmla="*/ 0 w 401"/>
                  <a:gd name="T9" fmla="*/ 1 h 727"/>
                  <a:gd name="T10" fmla="*/ 0 w 401"/>
                  <a:gd name="T11" fmla="*/ 1 h 727"/>
                  <a:gd name="T12" fmla="*/ 0 w 401"/>
                  <a:gd name="T13" fmla="*/ 1 h 727"/>
                  <a:gd name="T14" fmla="*/ 0 w 401"/>
                  <a:gd name="T15" fmla="*/ 1 h 727"/>
                  <a:gd name="T16" fmla="*/ 0 w 401"/>
                  <a:gd name="T17" fmla="*/ 0 h 727"/>
                  <a:gd name="T18" fmla="*/ 0 w 401"/>
                  <a:gd name="T19" fmla="*/ 0 h 727"/>
                  <a:gd name="T20" fmla="*/ 1 w 401"/>
                  <a:gd name="T21" fmla="*/ 1 h 727"/>
                  <a:gd name="T22" fmla="*/ 1 w 401"/>
                  <a:gd name="T23" fmla="*/ 1 h 727"/>
                  <a:gd name="T24" fmla="*/ 1 w 401"/>
                  <a:gd name="T25" fmla="*/ 1 h 72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01"/>
                  <a:gd name="T40" fmla="*/ 0 h 727"/>
                  <a:gd name="T41" fmla="*/ 401 w 401"/>
                  <a:gd name="T42" fmla="*/ 727 h 72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01" h="727">
                    <a:moveTo>
                      <a:pt x="382" y="0"/>
                    </a:moveTo>
                    <a:cubicBezTo>
                      <a:pt x="382" y="30"/>
                      <a:pt x="382" y="124"/>
                      <a:pt x="382" y="179"/>
                    </a:cubicBezTo>
                    <a:cubicBezTo>
                      <a:pt x="382" y="234"/>
                      <a:pt x="382" y="269"/>
                      <a:pt x="382" y="330"/>
                    </a:cubicBezTo>
                    <a:cubicBezTo>
                      <a:pt x="382" y="391"/>
                      <a:pt x="401" y="485"/>
                      <a:pt x="382" y="544"/>
                    </a:cubicBezTo>
                    <a:cubicBezTo>
                      <a:pt x="363" y="603"/>
                      <a:pt x="313" y="660"/>
                      <a:pt x="267" y="682"/>
                    </a:cubicBezTo>
                    <a:cubicBezTo>
                      <a:pt x="221" y="704"/>
                      <a:pt x="146" y="703"/>
                      <a:pt x="103" y="677"/>
                    </a:cubicBezTo>
                    <a:cubicBezTo>
                      <a:pt x="60" y="651"/>
                      <a:pt x="22" y="585"/>
                      <a:pt x="11" y="526"/>
                    </a:cubicBezTo>
                    <a:cubicBezTo>
                      <a:pt x="0" y="467"/>
                      <a:pt x="18" y="369"/>
                      <a:pt x="39" y="320"/>
                    </a:cubicBezTo>
                    <a:cubicBezTo>
                      <a:pt x="60" y="271"/>
                      <a:pt x="99" y="245"/>
                      <a:pt x="139" y="234"/>
                    </a:cubicBezTo>
                    <a:cubicBezTo>
                      <a:pt x="179" y="223"/>
                      <a:pt x="242" y="237"/>
                      <a:pt x="281" y="256"/>
                    </a:cubicBezTo>
                    <a:cubicBezTo>
                      <a:pt x="320" y="275"/>
                      <a:pt x="355" y="305"/>
                      <a:pt x="372" y="348"/>
                    </a:cubicBezTo>
                    <a:cubicBezTo>
                      <a:pt x="389" y="391"/>
                      <a:pt x="382" y="449"/>
                      <a:pt x="386" y="512"/>
                    </a:cubicBezTo>
                    <a:cubicBezTo>
                      <a:pt x="390" y="575"/>
                      <a:pt x="393" y="682"/>
                      <a:pt x="395" y="727"/>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8311" name="Group 131"/>
              <p:cNvGrpSpPr>
                <a:grpSpLocks noChangeAspect="1"/>
              </p:cNvGrpSpPr>
              <p:nvPr/>
            </p:nvGrpSpPr>
            <p:grpSpPr bwMode="auto">
              <a:xfrm>
                <a:off x="4116" y="2799"/>
                <a:ext cx="46" cy="103"/>
                <a:chOff x="2808" y="1818"/>
                <a:chExt cx="228" cy="516"/>
              </a:xfrm>
            </p:grpSpPr>
            <p:sp>
              <p:nvSpPr>
                <p:cNvPr id="148315" name="Freeform 132"/>
                <p:cNvSpPr>
                  <a:spLocks noChangeAspect="1"/>
                </p:cNvSpPr>
                <p:nvPr/>
              </p:nvSpPr>
              <p:spPr bwMode="auto">
                <a:xfrm>
                  <a:off x="2808" y="1818"/>
                  <a:ext cx="1" cy="516"/>
                </a:xfrm>
                <a:custGeom>
                  <a:avLst/>
                  <a:gdLst>
                    <a:gd name="T0" fmla="*/ 0 w 1"/>
                    <a:gd name="T1" fmla="*/ 0 h 516"/>
                    <a:gd name="T2" fmla="*/ 0 w 1"/>
                    <a:gd name="T3" fmla="*/ 516 h 516"/>
                    <a:gd name="T4" fmla="*/ 0 60000 65536"/>
                    <a:gd name="T5" fmla="*/ 0 60000 65536"/>
                    <a:gd name="T6" fmla="*/ 0 w 1"/>
                    <a:gd name="T7" fmla="*/ 0 h 516"/>
                    <a:gd name="T8" fmla="*/ 1 w 1"/>
                    <a:gd name="T9" fmla="*/ 516 h 516"/>
                  </a:gdLst>
                  <a:ahLst/>
                  <a:cxnLst>
                    <a:cxn ang="T4">
                      <a:pos x="T0" y="T1"/>
                    </a:cxn>
                    <a:cxn ang="T5">
                      <a:pos x="T2" y="T3"/>
                    </a:cxn>
                  </a:cxnLst>
                  <a:rect l="T6" t="T7" r="T8" b="T9"/>
                  <a:pathLst>
                    <a:path w="1" h="516">
                      <a:moveTo>
                        <a:pt x="0" y="0"/>
                      </a:moveTo>
                      <a:cubicBezTo>
                        <a:pt x="0" y="0"/>
                        <a:pt x="0" y="258"/>
                        <a:pt x="0" y="516"/>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316" name="Freeform 133"/>
                <p:cNvSpPr>
                  <a:spLocks noChangeAspect="1"/>
                </p:cNvSpPr>
                <p:nvPr/>
              </p:nvSpPr>
              <p:spPr bwMode="auto">
                <a:xfrm>
                  <a:off x="2808" y="1830"/>
                  <a:ext cx="228" cy="198"/>
                </a:xfrm>
                <a:custGeom>
                  <a:avLst/>
                  <a:gdLst>
                    <a:gd name="T0" fmla="*/ 228 w 228"/>
                    <a:gd name="T1" fmla="*/ 54 h 198"/>
                    <a:gd name="T2" fmla="*/ 138 w 228"/>
                    <a:gd name="T3" fmla="*/ 24 h 198"/>
                    <a:gd name="T4" fmla="*/ 0 w 228"/>
                    <a:gd name="T5" fmla="*/ 198 h 198"/>
                    <a:gd name="T6" fmla="*/ 0 60000 65536"/>
                    <a:gd name="T7" fmla="*/ 0 60000 65536"/>
                    <a:gd name="T8" fmla="*/ 0 60000 65536"/>
                    <a:gd name="T9" fmla="*/ 0 w 228"/>
                    <a:gd name="T10" fmla="*/ 0 h 198"/>
                    <a:gd name="T11" fmla="*/ 228 w 228"/>
                    <a:gd name="T12" fmla="*/ 198 h 198"/>
                  </a:gdLst>
                  <a:ahLst/>
                  <a:cxnLst>
                    <a:cxn ang="T6">
                      <a:pos x="T0" y="T1"/>
                    </a:cxn>
                    <a:cxn ang="T7">
                      <a:pos x="T2" y="T3"/>
                    </a:cxn>
                    <a:cxn ang="T8">
                      <a:pos x="T4" y="T5"/>
                    </a:cxn>
                  </a:cxnLst>
                  <a:rect l="T9" t="T10" r="T11" b="T12"/>
                  <a:pathLst>
                    <a:path w="228" h="198">
                      <a:moveTo>
                        <a:pt x="228" y="54"/>
                      </a:moveTo>
                      <a:cubicBezTo>
                        <a:pt x="202" y="27"/>
                        <a:pt x="176" y="0"/>
                        <a:pt x="138" y="24"/>
                      </a:cubicBezTo>
                      <a:cubicBezTo>
                        <a:pt x="100" y="48"/>
                        <a:pt x="50" y="123"/>
                        <a:pt x="0" y="198"/>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48312" name="Freeform 134"/>
              <p:cNvSpPr>
                <a:spLocks noChangeAspect="1"/>
              </p:cNvSpPr>
              <p:nvPr/>
            </p:nvSpPr>
            <p:spPr bwMode="auto">
              <a:xfrm>
                <a:off x="4197" y="2802"/>
                <a:ext cx="77" cy="100"/>
              </a:xfrm>
              <a:custGeom>
                <a:avLst/>
                <a:gdLst>
                  <a:gd name="T0" fmla="*/ 0 w 387"/>
                  <a:gd name="T1" fmla="*/ 0 h 501"/>
                  <a:gd name="T2" fmla="*/ 0 w 387"/>
                  <a:gd name="T3" fmla="*/ 0 h 501"/>
                  <a:gd name="T4" fmla="*/ 0 w 387"/>
                  <a:gd name="T5" fmla="*/ 0 h 501"/>
                  <a:gd name="T6" fmla="*/ 0 w 387"/>
                  <a:gd name="T7" fmla="*/ 0 h 501"/>
                  <a:gd name="T8" fmla="*/ 1 w 387"/>
                  <a:gd name="T9" fmla="*/ 0 h 501"/>
                  <a:gd name="T10" fmla="*/ 1 w 387"/>
                  <a:gd name="T11" fmla="*/ 1 h 501"/>
                  <a:gd name="T12" fmla="*/ 1 w 387"/>
                  <a:gd name="T13" fmla="*/ 1 h 501"/>
                  <a:gd name="T14" fmla="*/ 1 w 387"/>
                  <a:gd name="T15" fmla="*/ 1 h 501"/>
                  <a:gd name="T16" fmla="*/ 1 w 387"/>
                  <a:gd name="T17" fmla="*/ 1 h 501"/>
                  <a:gd name="T18" fmla="*/ 1 w 387"/>
                  <a:gd name="T19" fmla="*/ 1 h 501"/>
                  <a:gd name="T20" fmla="*/ 0 w 387"/>
                  <a:gd name="T21" fmla="*/ 1 h 501"/>
                  <a:gd name="T22" fmla="*/ 0 w 387"/>
                  <a:gd name="T23" fmla="*/ 1 h 501"/>
                  <a:gd name="T24" fmla="*/ 0 w 387"/>
                  <a:gd name="T25" fmla="*/ 1 h 501"/>
                  <a:gd name="T26" fmla="*/ 0 w 387"/>
                  <a:gd name="T27" fmla="*/ 1 h 501"/>
                  <a:gd name="T28" fmla="*/ 0 w 387"/>
                  <a:gd name="T29" fmla="*/ 0 h 501"/>
                  <a:gd name="T30" fmla="*/ 0 w 387"/>
                  <a:gd name="T31" fmla="*/ 0 h 501"/>
                  <a:gd name="T32" fmla="*/ 0 w 387"/>
                  <a:gd name="T33" fmla="*/ 0 h 501"/>
                  <a:gd name="T34" fmla="*/ 1 w 387"/>
                  <a:gd name="T35" fmla="*/ 0 h 50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87"/>
                  <a:gd name="T55" fmla="*/ 0 h 501"/>
                  <a:gd name="T56" fmla="*/ 387 w 387"/>
                  <a:gd name="T57" fmla="*/ 501 h 50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87" h="501">
                    <a:moveTo>
                      <a:pt x="10" y="134"/>
                    </a:moveTo>
                    <a:cubicBezTo>
                      <a:pt x="18" y="122"/>
                      <a:pt x="37" y="81"/>
                      <a:pt x="56" y="61"/>
                    </a:cubicBezTo>
                    <a:cubicBezTo>
                      <a:pt x="75" y="41"/>
                      <a:pt x="92" y="24"/>
                      <a:pt x="125" y="16"/>
                    </a:cubicBezTo>
                    <a:cubicBezTo>
                      <a:pt x="158" y="8"/>
                      <a:pt x="221" y="0"/>
                      <a:pt x="257" y="10"/>
                    </a:cubicBezTo>
                    <a:cubicBezTo>
                      <a:pt x="293" y="20"/>
                      <a:pt x="327" y="26"/>
                      <a:pt x="344" y="79"/>
                    </a:cubicBezTo>
                    <a:cubicBezTo>
                      <a:pt x="361" y="132"/>
                      <a:pt x="360" y="284"/>
                      <a:pt x="362" y="330"/>
                    </a:cubicBezTo>
                    <a:cubicBezTo>
                      <a:pt x="364" y="376"/>
                      <a:pt x="349" y="326"/>
                      <a:pt x="353" y="353"/>
                    </a:cubicBezTo>
                    <a:cubicBezTo>
                      <a:pt x="357" y="380"/>
                      <a:pt x="383" y="479"/>
                      <a:pt x="385" y="490"/>
                    </a:cubicBezTo>
                    <a:cubicBezTo>
                      <a:pt x="387" y="501"/>
                      <a:pt x="371" y="439"/>
                      <a:pt x="367" y="417"/>
                    </a:cubicBezTo>
                    <a:cubicBezTo>
                      <a:pt x="363" y="395"/>
                      <a:pt x="373" y="352"/>
                      <a:pt x="358" y="358"/>
                    </a:cubicBezTo>
                    <a:cubicBezTo>
                      <a:pt x="343" y="364"/>
                      <a:pt x="313" y="432"/>
                      <a:pt x="275" y="454"/>
                    </a:cubicBezTo>
                    <a:cubicBezTo>
                      <a:pt x="237" y="476"/>
                      <a:pt x="170" y="491"/>
                      <a:pt x="129" y="490"/>
                    </a:cubicBezTo>
                    <a:cubicBezTo>
                      <a:pt x="88" y="489"/>
                      <a:pt x="50" y="465"/>
                      <a:pt x="29" y="445"/>
                    </a:cubicBezTo>
                    <a:cubicBezTo>
                      <a:pt x="8" y="425"/>
                      <a:pt x="0" y="393"/>
                      <a:pt x="1" y="367"/>
                    </a:cubicBezTo>
                    <a:cubicBezTo>
                      <a:pt x="2" y="341"/>
                      <a:pt x="13" y="309"/>
                      <a:pt x="33" y="289"/>
                    </a:cubicBezTo>
                    <a:cubicBezTo>
                      <a:pt x="53" y="269"/>
                      <a:pt x="87" y="260"/>
                      <a:pt x="120" y="249"/>
                    </a:cubicBezTo>
                    <a:cubicBezTo>
                      <a:pt x="153" y="238"/>
                      <a:pt x="195" y="230"/>
                      <a:pt x="234" y="221"/>
                    </a:cubicBezTo>
                    <a:cubicBezTo>
                      <a:pt x="273" y="212"/>
                      <a:pt x="328" y="199"/>
                      <a:pt x="353" y="193"/>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313" name="Freeform 135"/>
              <p:cNvSpPr>
                <a:spLocks noChangeAspect="1"/>
              </p:cNvSpPr>
              <p:nvPr/>
            </p:nvSpPr>
            <p:spPr bwMode="auto">
              <a:xfrm>
                <a:off x="4321" y="2799"/>
                <a:ext cx="71" cy="103"/>
              </a:xfrm>
              <a:custGeom>
                <a:avLst/>
                <a:gdLst>
                  <a:gd name="T0" fmla="*/ 0 w 356"/>
                  <a:gd name="T1" fmla="*/ 0 h 514"/>
                  <a:gd name="T2" fmla="*/ 0 w 356"/>
                  <a:gd name="T3" fmla="*/ 1 h 514"/>
                  <a:gd name="T4" fmla="*/ 0 w 356"/>
                  <a:gd name="T5" fmla="*/ 0 h 514"/>
                  <a:gd name="T6" fmla="*/ 0 w 356"/>
                  <a:gd name="T7" fmla="*/ 0 h 514"/>
                  <a:gd name="T8" fmla="*/ 0 w 356"/>
                  <a:gd name="T9" fmla="*/ 0 h 514"/>
                  <a:gd name="T10" fmla="*/ 1 w 356"/>
                  <a:gd name="T11" fmla="*/ 0 h 514"/>
                  <a:gd name="T12" fmla="*/ 1 w 356"/>
                  <a:gd name="T13" fmla="*/ 0 h 514"/>
                  <a:gd name="T14" fmla="*/ 1 w 356"/>
                  <a:gd name="T15" fmla="*/ 1 h 514"/>
                  <a:gd name="T16" fmla="*/ 0 60000 65536"/>
                  <a:gd name="T17" fmla="*/ 0 60000 65536"/>
                  <a:gd name="T18" fmla="*/ 0 60000 65536"/>
                  <a:gd name="T19" fmla="*/ 0 60000 65536"/>
                  <a:gd name="T20" fmla="*/ 0 60000 65536"/>
                  <a:gd name="T21" fmla="*/ 0 60000 65536"/>
                  <a:gd name="T22" fmla="*/ 0 60000 65536"/>
                  <a:gd name="T23" fmla="*/ 0 60000 65536"/>
                  <a:gd name="T24" fmla="*/ 0 w 356"/>
                  <a:gd name="T25" fmla="*/ 0 h 514"/>
                  <a:gd name="T26" fmla="*/ 356 w 356"/>
                  <a:gd name="T27" fmla="*/ 514 h 5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56" h="514">
                    <a:moveTo>
                      <a:pt x="11" y="0"/>
                    </a:moveTo>
                    <a:cubicBezTo>
                      <a:pt x="11" y="79"/>
                      <a:pt x="10" y="430"/>
                      <a:pt x="10" y="472"/>
                    </a:cubicBezTo>
                    <a:cubicBezTo>
                      <a:pt x="10" y="514"/>
                      <a:pt x="0" y="313"/>
                      <a:pt x="11" y="250"/>
                    </a:cubicBezTo>
                    <a:cubicBezTo>
                      <a:pt x="22" y="187"/>
                      <a:pt x="48" y="128"/>
                      <a:pt x="79" y="91"/>
                    </a:cubicBezTo>
                    <a:cubicBezTo>
                      <a:pt x="110" y="54"/>
                      <a:pt x="154" y="30"/>
                      <a:pt x="195" y="30"/>
                    </a:cubicBezTo>
                    <a:cubicBezTo>
                      <a:pt x="236" y="30"/>
                      <a:pt x="297" y="61"/>
                      <a:pt x="323" y="94"/>
                    </a:cubicBezTo>
                    <a:cubicBezTo>
                      <a:pt x="349" y="127"/>
                      <a:pt x="346" y="160"/>
                      <a:pt x="351" y="227"/>
                    </a:cubicBezTo>
                    <a:cubicBezTo>
                      <a:pt x="356" y="294"/>
                      <a:pt x="351" y="454"/>
                      <a:pt x="351" y="499"/>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314" name="Freeform 136"/>
              <p:cNvSpPr>
                <a:spLocks noChangeAspect="1"/>
              </p:cNvSpPr>
              <p:nvPr/>
            </p:nvSpPr>
            <p:spPr bwMode="auto">
              <a:xfrm>
                <a:off x="4440" y="2809"/>
                <a:ext cx="74" cy="93"/>
              </a:xfrm>
              <a:custGeom>
                <a:avLst/>
                <a:gdLst>
                  <a:gd name="T0" fmla="*/ 1 w 368"/>
                  <a:gd name="T1" fmla="*/ 1 h 465"/>
                  <a:gd name="T2" fmla="*/ 0 w 368"/>
                  <a:gd name="T3" fmla="*/ 1 h 465"/>
                  <a:gd name="T4" fmla="*/ 0 w 368"/>
                  <a:gd name="T5" fmla="*/ 1 h 465"/>
                  <a:gd name="T6" fmla="*/ 0 w 368"/>
                  <a:gd name="T7" fmla="*/ 1 h 465"/>
                  <a:gd name="T8" fmla="*/ 0 w 368"/>
                  <a:gd name="T9" fmla="*/ 0 h 465"/>
                  <a:gd name="T10" fmla="*/ 0 w 368"/>
                  <a:gd name="T11" fmla="*/ 0 h 465"/>
                  <a:gd name="T12" fmla="*/ 0 w 368"/>
                  <a:gd name="T13" fmla="*/ 0 h 465"/>
                  <a:gd name="T14" fmla="*/ 1 w 368"/>
                  <a:gd name="T15" fmla="*/ 0 h 465"/>
                  <a:gd name="T16" fmla="*/ 1 w 368"/>
                  <a:gd name="T17" fmla="*/ 0 h 465"/>
                  <a:gd name="T18" fmla="*/ 0 w 368"/>
                  <a:gd name="T19" fmla="*/ 0 h 46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68"/>
                  <a:gd name="T31" fmla="*/ 0 h 465"/>
                  <a:gd name="T32" fmla="*/ 368 w 368"/>
                  <a:gd name="T33" fmla="*/ 465 h 46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68" h="465">
                    <a:moveTo>
                      <a:pt x="350" y="344"/>
                    </a:moveTo>
                    <a:cubicBezTo>
                      <a:pt x="334" y="362"/>
                      <a:pt x="288" y="429"/>
                      <a:pt x="248" y="446"/>
                    </a:cubicBezTo>
                    <a:cubicBezTo>
                      <a:pt x="208" y="463"/>
                      <a:pt x="148" y="465"/>
                      <a:pt x="110" y="446"/>
                    </a:cubicBezTo>
                    <a:cubicBezTo>
                      <a:pt x="72" y="427"/>
                      <a:pt x="35" y="386"/>
                      <a:pt x="20" y="332"/>
                    </a:cubicBezTo>
                    <a:cubicBezTo>
                      <a:pt x="5" y="278"/>
                      <a:pt x="0" y="175"/>
                      <a:pt x="20" y="122"/>
                    </a:cubicBezTo>
                    <a:cubicBezTo>
                      <a:pt x="40" y="69"/>
                      <a:pt x="96" y="28"/>
                      <a:pt x="140" y="14"/>
                    </a:cubicBezTo>
                    <a:cubicBezTo>
                      <a:pt x="184" y="0"/>
                      <a:pt x="248" y="19"/>
                      <a:pt x="284" y="38"/>
                    </a:cubicBezTo>
                    <a:cubicBezTo>
                      <a:pt x="320" y="57"/>
                      <a:pt x="342" y="97"/>
                      <a:pt x="356" y="128"/>
                    </a:cubicBezTo>
                    <a:lnTo>
                      <a:pt x="368" y="224"/>
                    </a:lnTo>
                    <a:lnTo>
                      <a:pt x="8" y="224"/>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48264" name="Line 137"/>
            <p:cNvSpPr>
              <a:spLocks noChangeAspect="1" noChangeShapeType="1"/>
            </p:cNvSpPr>
            <p:nvPr/>
          </p:nvSpPr>
          <p:spPr bwMode="auto">
            <a:xfrm>
              <a:off x="2250" y="1686"/>
              <a:ext cx="93" cy="48"/>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8265" name="Line 138"/>
            <p:cNvSpPr>
              <a:spLocks noChangeAspect="1" noChangeShapeType="1"/>
            </p:cNvSpPr>
            <p:nvPr/>
          </p:nvSpPr>
          <p:spPr bwMode="auto">
            <a:xfrm flipH="1">
              <a:off x="3319" y="1469"/>
              <a:ext cx="105" cy="12"/>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8266" name="Line 139"/>
            <p:cNvSpPr>
              <a:spLocks noChangeAspect="1" noChangeShapeType="1"/>
            </p:cNvSpPr>
            <p:nvPr/>
          </p:nvSpPr>
          <p:spPr bwMode="auto">
            <a:xfrm flipH="1">
              <a:off x="3319" y="1325"/>
              <a:ext cx="99" cy="0"/>
            </a:xfrm>
            <a:prstGeom prst="line">
              <a:avLst/>
            </a:prstGeom>
            <a:noFill/>
            <a:ln w="127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48267" name="Group 140"/>
            <p:cNvGrpSpPr>
              <a:grpSpLocks noChangeAspect="1"/>
            </p:cNvGrpSpPr>
            <p:nvPr/>
          </p:nvGrpSpPr>
          <p:grpSpPr bwMode="auto">
            <a:xfrm>
              <a:off x="3454" y="1424"/>
              <a:ext cx="133" cy="34"/>
              <a:chOff x="1387" y="2767"/>
              <a:chExt cx="530" cy="136"/>
            </a:xfrm>
          </p:grpSpPr>
          <p:grpSp>
            <p:nvGrpSpPr>
              <p:cNvPr id="148293" name="Group 141"/>
              <p:cNvGrpSpPr>
                <a:grpSpLocks noChangeAspect="1"/>
              </p:cNvGrpSpPr>
              <p:nvPr/>
            </p:nvGrpSpPr>
            <p:grpSpPr bwMode="auto">
              <a:xfrm>
                <a:off x="1387" y="2776"/>
                <a:ext cx="80" cy="127"/>
                <a:chOff x="3653" y="1343"/>
                <a:chExt cx="384" cy="612"/>
              </a:xfrm>
            </p:grpSpPr>
            <p:sp>
              <p:nvSpPr>
                <p:cNvPr id="148305" name="Freeform 142"/>
                <p:cNvSpPr>
                  <a:spLocks noChangeAspect="1"/>
                </p:cNvSpPr>
                <p:nvPr/>
              </p:nvSpPr>
              <p:spPr bwMode="auto">
                <a:xfrm>
                  <a:off x="3653" y="1343"/>
                  <a:ext cx="384" cy="612"/>
                </a:xfrm>
                <a:custGeom>
                  <a:avLst/>
                  <a:gdLst>
                    <a:gd name="T0" fmla="*/ 384 w 384"/>
                    <a:gd name="T1" fmla="*/ 0 h 612"/>
                    <a:gd name="T2" fmla="*/ 0 w 384"/>
                    <a:gd name="T3" fmla="*/ 0 h 612"/>
                    <a:gd name="T4" fmla="*/ 0 w 384"/>
                    <a:gd name="T5" fmla="*/ 612 h 612"/>
                    <a:gd name="T6" fmla="*/ 0 60000 65536"/>
                    <a:gd name="T7" fmla="*/ 0 60000 65536"/>
                    <a:gd name="T8" fmla="*/ 0 60000 65536"/>
                    <a:gd name="T9" fmla="*/ 0 w 384"/>
                    <a:gd name="T10" fmla="*/ 0 h 612"/>
                    <a:gd name="T11" fmla="*/ 384 w 384"/>
                    <a:gd name="T12" fmla="*/ 612 h 612"/>
                  </a:gdLst>
                  <a:ahLst/>
                  <a:cxnLst>
                    <a:cxn ang="T6">
                      <a:pos x="T0" y="T1"/>
                    </a:cxn>
                    <a:cxn ang="T7">
                      <a:pos x="T2" y="T3"/>
                    </a:cxn>
                    <a:cxn ang="T8">
                      <a:pos x="T4" y="T5"/>
                    </a:cxn>
                  </a:cxnLst>
                  <a:rect l="T9" t="T10" r="T11" b="T12"/>
                  <a:pathLst>
                    <a:path w="384" h="612">
                      <a:moveTo>
                        <a:pt x="384" y="0"/>
                      </a:moveTo>
                      <a:lnTo>
                        <a:pt x="0" y="0"/>
                      </a:lnTo>
                      <a:lnTo>
                        <a:pt x="0" y="612"/>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306" name="Line 143"/>
                <p:cNvSpPr>
                  <a:spLocks noChangeAspect="1" noChangeShapeType="1"/>
                </p:cNvSpPr>
                <p:nvPr/>
              </p:nvSpPr>
              <p:spPr bwMode="auto">
                <a:xfrm flipH="1">
                  <a:off x="3653" y="1637"/>
                  <a:ext cx="324" cy="0"/>
                </a:xfrm>
                <a:prstGeom prst="line">
                  <a:avLst/>
                </a:prstGeom>
                <a:noFill/>
                <a:ln w="63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48294" name="Group 144"/>
              <p:cNvGrpSpPr>
                <a:grpSpLocks noChangeAspect="1"/>
              </p:cNvGrpSpPr>
              <p:nvPr/>
            </p:nvGrpSpPr>
            <p:grpSpPr bwMode="auto">
              <a:xfrm>
                <a:off x="1518" y="2767"/>
                <a:ext cx="11" cy="136"/>
                <a:chOff x="1434" y="1286"/>
                <a:chExt cx="56" cy="679"/>
              </a:xfrm>
            </p:grpSpPr>
            <p:sp>
              <p:nvSpPr>
                <p:cNvPr id="148303" name="Freeform 145"/>
                <p:cNvSpPr>
                  <a:spLocks noChangeAspect="1"/>
                </p:cNvSpPr>
                <p:nvPr/>
              </p:nvSpPr>
              <p:spPr bwMode="auto">
                <a:xfrm>
                  <a:off x="1459" y="1459"/>
                  <a:ext cx="1" cy="506"/>
                </a:xfrm>
                <a:custGeom>
                  <a:avLst/>
                  <a:gdLst>
                    <a:gd name="T0" fmla="*/ 0 w 1"/>
                    <a:gd name="T1" fmla="*/ 0 h 506"/>
                    <a:gd name="T2" fmla="*/ 0 w 1"/>
                    <a:gd name="T3" fmla="*/ 506 h 506"/>
                    <a:gd name="T4" fmla="*/ 0 60000 65536"/>
                    <a:gd name="T5" fmla="*/ 0 60000 65536"/>
                    <a:gd name="T6" fmla="*/ 0 w 1"/>
                    <a:gd name="T7" fmla="*/ 0 h 506"/>
                    <a:gd name="T8" fmla="*/ 1 w 1"/>
                    <a:gd name="T9" fmla="*/ 506 h 506"/>
                  </a:gdLst>
                  <a:ahLst/>
                  <a:cxnLst>
                    <a:cxn ang="T4">
                      <a:pos x="T0" y="T1"/>
                    </a:cxn>
                    <a:cxn ang="T5">
                      <a:pos x="T2" y="T3"/>
                    </a:cxn>
                  </a:cxnLst>
                  <a:rect l="T6" t="T7" r="T8" b="T9"/>
                  <a:pathLst>
                    <a:path w="1" h="506">
                      <a:moveTo>
                        <a:pt x="0" y="0"/>
                      </a:moveTo>
                      <a:cubicBezTo>
                        <a:pt x="0" y="211"/>
                        <a:pt x="0" y="422"/>
                        <a:pt x="0" y="506"/>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304" name="Oval 146"/>
                <p:cNvSpPr>
                  <a:spLocks noChangeAspect="1" noChangeArrowheads="1"/>
                </p:cNvSpPr>
                <p:nvPr/>
              </p:nvSpPr>
              <p:spPr bwMode="auto">
                <a:xfrm>
                  <a:off x="1434" y="1286"/>
                  <a:ext cx="56" cy="56"/>
                </a:xfrm>
                <a:prstGeom prst="ellipse">
                  <a:avLst/>
                </a:prstGeom>
                <a:solidFill>
                  <a:schemeClr val="tx1"/>
                </a:solidFill>
                <a:ln w="6350">
                  <a:solidFill>
                    <a:schemeClr val="tx1"/>
                  </a:solidFill>
                  <a:rou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sp>
            <p:nvSpPr>
              <p:cNvPr id="148295" name="Line 147"/>
              <p:cNvSpPr>
                <a:spLocks noChangeAspect="1" noChangeShapeType="1"/>
              </p:cNvSpPr>
              <p:nvPr/>
            </p:nvSpPr>
            <p:spPr bwMode="auto">
              <a:xfrm>
                <a:off x="1590" y="2767"/>
                <a:ext cx="1" cy="136"/>
              </a:xfrm>
              <a:prstGeom prst="line">
                <a:avLst/>
              </a:prstGeom>
              <a:noFill/>
              <a:ln w="63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148296" name="Group 148"/>
              <p:cNvGrpSpPr>
                <a:grpSpLocks noChangeAspect="1"/>
              </p:cNvGrpSpPr>
              <p:nvPr/>
            </p:nvGrpSpPr>
            <p:grpSpPr bwMode="auto">
              <a:xfrm>
                <a:off x="1645" y="2776"/>
                <a:ext cx="58" cy="127"/>
                <a:chOff x="3612" y="1686"/>
                <a:chExt cx="288" cy="634"/>
              </a:xfrm>
            </p:grpSpPr>
            <p:sp>
              <p:nvSpPr>
                <p:cNvPr id="148301" name="Freeform 149"/>
                <p:cNvSpPr>
                  <a:spLocks noChangeAspect="1"/>
                </p:cNvSpPr>
                <p:nvPr/>
              </p:nvSpPr>
              <p:spPr bwMode="auto">
                <a:xfrm>
                  <a:off x="3738" y="1686"/>
                  <a:ext cx="162" cy="634"/>
                </a:xfrm>
                <a:custGeom>
                  <a:avLst/>
                  <a:gdLst>
                    <a:gd name="T0" fmla="*/ 0 w 162"/>
                    <a:gd name="T1" fmla="*/ 0 h 634"/>
                    <a:gd name="T2" fmla="*/ 0 w 162"/>
                    <a:gd name="T3" fmla="*/ 534 h 634"/>
                    <a:gd name="T4" fmla="*/ 162 w 162"/>
                    <a:gd name="T5" fmla="*/ 600 h 634"/>
                    <a:gd name="T6" fmla="*/ 0 60000 65536"/>
                    <a:gd name="T7" fmla="*/ 0 60000 65536"/>
                    <a:gd name="T8" fmla="*/ 0 60000 65536"/>
                    <a:gd name="T9" fmla="*/ 0 w 162"/>
                    <a:gd name="T10" fmla="*/ 0 h 634"/>
                    <a:gd name="T11" fmla="*/ 162 w 162"/>
                    <a:gd name="T12" fmla="*/ 634 h 634"/>
                  </a:gdLst>
                  <a:ahLst/>
                  <a:cxnLst>
                    <a:cxn ang="T6">
                      <a:pos x="T0" y="T1"/>
                    </a:cxn>
                    <a:cxn ang="T7">
                      <a:pos x="T2" y="T3"/>
                    </a:cxn>
                    <a:cxn ang="T8">
                      <a:pos x="T4" y="T5"/>
                    </a:cxn>
                  </a:cxnLst>
                  <a:rect l="T9" t="T10" r="T11" b="T12"/>
                  <a:pathLst>
                    <a:path w="162" h="634">
                      <a:moveTo>
                        <a:pt x="0" y="0"/>
                      </a:moveTo>
                      <a:lnTo>
                        <a:pt x="0" y="534"/>
                      </a:lnTo>
                      <a:cubicBezTo>
                        <a:pt x="27" y="634"/>
                        <a:pt x="94" y="617"/>
                        <a:pt x="162" y="600"/>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302" name="Freeform 150"/>
                <p:cNvSpPr>
                  <a:spLocks noChangeAspect="1"/>
                </p:cNvSpPr>
                <p:nvPr/>
              </p:nvSpPr>
              <p:spPr bwMode="auto">
                <a:xfrm>
                  <a:off x="3612" y="1872"/>
                  <a:ext cx="276" cy="1"/>
                </a:xfrm>
                <a:custGeom>
                  <a:avLst/>
                  <a:gdLst>
                    <a:gd name="T0" fmla="*/ 0 w 276"/>
                    <a:gd name="T1" fmla="*/ 0 h 1"/>
                    <a:gd name="T2" fmla="*/ 276 w 276"/>
                    <a:gd name="T3" fmla="*/ 0 h 1"/>
                    <a:gd name="T4" fmla="*/ 0 60000 65536"/>
                    <a:gd name="T5" fmla="*/ 0 60000 65536"/>
                    <a:gd name="T6" fmla="*/ 0 w 276"/>
                    <a:gd name="T7" fmla="*/ 0 h 1"/>
                    <a:gd name="T8" fmla="*/ 276 w 276"/>
                    <a:gd name="T9" fmla="*/ 1 h 1"/>
                  </a:gdLst>
                  <a:ahLst/>
                  <a:cxnLst>
                    <a:cxn ang="T4">
                      <a:pos x="T0" y="T1"/>
                    </a:cxn>
                    <a:cxn ang="T5">
                      <a:pos x="T2" y="T3"/>
                    </a:cxn>
                  </a:cxnLst>
                  <a:rect l="T6" t="T7" r="T8" b="T9"/>
                  <a:pathLst>
                    <a:path w="276" h="1">
                      <a:moveTo>
                        <a:pt x="0" y="0"/>
                      </a:moveTo>
                      <a:cubicBezTo>
                        <a:pt x="0" y="0"/>
                        <a:pt x="138" y="0"/>
                        <a:pt x="276" y="0"/>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48297" name="Freeform 151"/>
              <p:cNvSpPr>
                <a:spLocks noChangeAspect="1"/>
              </p:cNvSpPr>
              <p:nvPr/>
            </p:nvSpPr>
            <p:spPr bwMode="auto">
              <a:xfrm>
                <a:off x="1741" y="2810"/>
                <a:ext cx="74" cy="93"/>
              </a:xfrm>
              <a:custGeom>
                <a:avLst/>
                <a:gdLst>
                  <a:gd name="T0" fmla="*/ 1 w 368"/>
                  <a:gd name="T1" fmla="*/ 1 h 465"/>
                  <a:gd name="T2" fmla="*/ 0 w 368"/>
                  <a:gd name="T3" fmla="*/ 1 h 465"/>
                  <a:gd name="T4" fmla="*/ 0 w 368"/>
                  <a:gd name="T5" fmla="*/ 1 h 465"/>
                  <a:gd name="T6" fmla="*/ 0 w 368"/>
                  <a:gd name="T7" fmla="*/ 1 h 465"/>
                  <a:gd name="T8" fmla="*/ 0 w 368"/>
                  <a:gd name="T9" fmla="*/ 0 h 465"/>
                  <a:gd name="T10" fmla="*/ 0 w 368"/>
                  <a:gd name="T11" fmla="*/ 0 h 465"/>
                  <a:gd name="T12" fmla="*/ 0 w 368"/>
                  <a:gd name="T13" fmla="*/ 0 h 465"/>
                  <a:gd name="T14" fmla="*/ 1 w 368"/>
                  <a:gd name="T15" fmla="*/ 0 h 465"/>
                  <a:gd name="T16" fmla="*/ 1 w 368"/>
                  <a:gd name="T17" fmla="*/ 0 h 465"/>
                  <a:gd name="T18" fmla="*/ 0 w 368"/>
                  <a:gd name="T19" fmla="*/ 0 h 46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68"/>
                  <a:gd name="T31" fmla="*/ 0 h 465"/>
                  <a:gd name="T32" fmla="*/ 368 w 368"/>
                  <a:gd name="T33" fmla="*/ 465 h 46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68" h="465">
                    <a:moveTo>
                      <a:pt x="350" y="344"/>
                    </a:moveTo>
                    <a:cubicBezTo>
                      <a:pt x="334" y="362"/>
                      <a:pt x="288" y="429"/>
                      <a:pt x="248" y="446"/>
                    </a:cubicBezTo>
                    <a:cubicBezTo>
                      <a:pt x="208" y="463"/>
                      <a:pt x="148" y="465"/>
                      <a:pt x="110" y="446"/>
                    </a:cubicBezTo>
                    <a:cubicBezTo>
                      <a:pt x="72" y="427"/>
                      <a:pt x="35" y="386"/>
                      <a:pt x="20" y="332"/>
                    </a:cubicBezTo>
                    <a:cubicBezTo>
                      <a:pt x="5" y="278"/>
                      <a:pt x="0" y="175"/>
                      <a:pt x="20" y="122"/>
                    </a:cubicBezTo>
                    <a:cubicBezTo>
                      <a:pt x="40" y="69"/>
                      <a:pt x="96" y="28"/>
                      <a:pt x="140" y="14"/>
                    </a:cubicBezTo>
                    <a:cubicBezTo>
                      <a:pt x="184" y="0"/>
                      <a:pt x="248" y="19"/>
                      <a:pt x="284" y="38"/>
                    </a:cubicBezTo>
                    <a:cubicBezTo>
                      <a:pt x="320" y="57"/>
                      <a:pt x="342" y="97"/>
                      <a:pt x="356" y="128"/>
                    </a:cubicBezTo>
                    <a:lnTo>
                      <a:pt x="368" y="224"/>
                    </a:lnTo>
                    <a:lnTo>
                      <a:pt x="8" y="224"/>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8298" name="Group 152"/>
              <p:cNvGrpSpPr>
                <a:grpSpLocks noChangeAspect="1"/>
              </p:cNvGrpSpPr>
              <p:nvPr/>
            </p:nvGrpSpPr>
            <p:grpSpPr bwMode="auto">
              <a:xfrm>
                <a:off x="1871" y="2800"/>
                <a:ext cx="46" cy="103"/>
                <a:chOff x="2808" y="1818"/>
                <a:chExt cx="228" cy="516"/>
              </a:xfrm>
            </p:grpSpPr>
            <p:sp>
              <p:nvSpPr>
                <p:cNvPr id="148299" name="Freeform 153"/>
                <p:cNvSpPr>
                  <a:spLocks noChangeAspect="1"/>
                </p:cNvSpPr>
                <p:nvPr/>
              </p:nvSpPr>
              <p:spPr bwMode="auto">
                <a:xfrm>
                  <a:off x="2808" y="1818"/>
                  <a:ext cx="1" cy="516"/>
                </a:xfrm>
                <a:custGeom>
                  <a:avLst/>
                  <a:gdLst>
                    <a:gd name="T0" fmla="*/ 0 w 1"/>
                    <a:gd name="T1" fmla="*/ 0 h 516"/>
                    <a:gd name="T2" fmla="*/ 0 w 1"/>
                    <a:gd name="T3" fmla="*/ 516 h 516"/>
                    <a:gd name="T4" fmla="*/ 0 60000 65536"/>
                    <a:gd name="T5" fmla="*/ 0 60000 65536"/>
                    <a:gd name="T6" fmla="*/ 0 w 1"/>
                    <a:gd name="T7" fmla="*/ 0 h 516"/>
                    <a:gd name="T8" fmla="*/ 1 w 1"/>
                    <a:gd name="T9" fmla="*/ 516 h 516"/>
                  </a:gdLst>
                  <a:ahLst/>
                  <a:cxnLst>
                    <a:cxn ang="T4">
                      <a:pos x="T0" y="T1"/>
                    </a:cxn>
                    <a:cxn ang="T5">
                      <a:pos x="T2" y="T3"/>
                    </a:cxn>
                  </a:cxnLst>
                  <a:rect l="T6" t="T7" r="T8" b="T9"/>
                  <a:pathLst>
                    <a:path w="1" h="516">
                      <a:moveTo>
                        <a:pt x="0" y="0"/>
                      </a:moveTo>
                      <a:cubicBezTo>
                        <a:pt x="0" y="0"/>
                        <a:pt x="0" y="258"/>
                        <a:pt x="0" y="516"/>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300" name="Freeform 154"/>
                <p:cNvSpPr>
                  <a:spLocks noChangeAspect="1"/>
                </p:cNvSpPr>
                <p:nvPr/>
              </p:nvSpPr>
              <p:spPr bwMode="auto">
                <a:xfrm>
                  <a:off x="2808" y="1830"/>
                  <a:ext cx="228" cy="198"/>
                </a:xfrm>
                <a:custGeom>
                  <a:avLst/>
                  <a:gdLst>
                    <a:gd name="T0" fmla="*/ 228 w 228"/>
                    <a:gd name="T1" fmla="*/ 54 h 198"/>
                    <a:gd name="T2" fmla="*/ 138 w 228"/>
                    <a:gd name="T3" fmla="*/ 24 h 198"/>
                    <a:gd name="T4" fmla="*/ 0 w 228"/>
                    <a:gd name="T5" fmla="*/ 198 h 198"/>
                    <a:gd name="T6" fmla="*/ 0 60000 65536"/>
                    <a:gd name="T7" fmla="*/ 0 60000 65536"/>
                    <a:gd name="T8" fmla="*/ 0 60000 65536"/>
                    <a:gd name="T9" fmla="*/ 0 w 228"/>
                    <a:gd name="T10" fmla="*/ 0 h 198"/>
                    <a:gd name="T11" fmla="*/ 228 w 228"/>
                    <a:gd name="T12" fmla="*/ 198 h 198"/>
                  </a:gdLst>
                  <a:ahLst/>
                  <a:cxnLst>
                    <a:cxn ang="T6">
                      <a:pos x="T0" y="T1"/>
                    </a:cxn>
                    <a:cxn ang="T7">
                      <a:pos x="T2" y="T3"/>
                    </a:cxn>
                    <a:cxn ang="T8">
                      <a:pos x="T4" y="T5"/>
                    </a:cxn>
                  </a:cxnLst>
                  <a:rect l="T9" t="T10" r="T11" b="T12"/>
                  <a:pathLst>
                    <a:path w="228" h="198">
                      <a:moveTo>
                        <a:pt x="228" y="54"/>
                      </a:moveTo>
                      <a:cubicBezTo>
                        <a:pt x="202" y="27"/>
                        <a:pt x="176" y="0"/>
                        <a:pt x="138" y="24"/>
                      </a:cubicBezTo>
                      <a:cubicBezTo>
                        <a:pt x="100" y="48"/>
                        <a:pt x="50" y="123"/>
                        <a:pt x="0" y="198"/>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grpSp>
          <p:nvGrpSpPr>
            <p:cNvPr id="148268" name="Group 155"/>
            <p:cNvGrpSpPr>
              <a:grpSpLocks noChangeAspect="1"/>
            </p:cNvGrpSpPr>
            <p:nvPr/>
          </p:nvGrpSpPr>
          <p:grpSpPr bwMode="auto">
            <a:xfrm>
              <a:off x="3454" y="1482"/>
              <a:ext cx="131" cy="36"/>
              <a:chOff x="2092" y="2798"/>
              <a:chExt cx="522" cy="145"/>
            </a:xfrm>
          </p:grpSpPr>
          <p:sp>
            <p:nvSpPr>
              <p:cNvPr id="148286" name="Freeform 156"/>
              <p:cNvSpPr>
                <a:spLocks noChangeAspect="1"/>
              </p:cNvSpPr>
              <p:nvPr/>
            </p:nvSpPr>
            <p:spPr bwMode="auto">
              <a:xfrm flipH="1" flipV="1">
                <a:off x="2092" y="2798"/>
                <a:ext cx="80" cy="145"/>
              </a:xfrm>
              <a:custGeom>
                <a:avLst/>
                <a:gdLst>
                  <a:gd name="T0" fmla="*/ 1 w 401"/>
                  <a:gd name="T1" fmla="*/ 0 h 727"/>
                  <a:gd name="T2" fmla="*/ 1 w 401"/>
                  <a:gd name="T3" fmla="*/ 0 h 727"/>
                  <a:gd name="T4" fmla="*/ 1 w 401"/>
                  <a:gd name="T5" fmla="*/ 1 h 727"/>
                  <a:gd name="T6" fmla="*/ 1 w 401"/>
                  <a:gd name="T7" fmla="*/ 1 h 727"/>
                  <a:gd name="T8" fmla="*/ 0 w 401"/>
                  <a:gd name="T9" fmla="*/ 1 h 727"/>
                  <a:gd name="T10" fmla="*/ 0 w 401"/>
                  <a:gd name="T11" fmla="*/ 1 h 727"/>
                  <a:gd name="T12" fmla="*/ 0 w 401"/>
                  <a:gd name="T13" fmla="*/ 1 h 727"/>
                  <a:gd name="T14" fmla="*/ 0 w 401"/>
                  <a:gd name="T15" fmla="*/ 1 h 727"/>
                  <a:gd name="T16" fmla="*/ 0 w 401"/>
                  <a:gd name="T17" fmla="*/ 0 h 727"/>
                  <a:gd name="T18" fmla="*/ 0 w 401"/>
                  <a:gd name="T19" fmla="*/ 0 h 727"/>
                  <a:gd name="T20" fmla="*/ 1 w 401"/>
                  <a:gd name="T21" fmla="*/ 1 h 727"/>
                  <a:gd name="T22" fmla="*/ 1 w 401"/>
                  <a:gd name="T23" fmla="*/ 1 h 727"/>
                  <a:gd name="T24" fmla="*/ 1 w 401"/>
                  <a:gd name="T25" fmla="*/ 1 h 72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01"/>
                  <a:gd name="T40" fmla="*/ 0 h 727"/>
                  <a:gd name="T41" fmla="*/ 401 w 401"/>
                  <a:gd name="T42" fmla="*/ 727 h 72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01" h="727">
                    <a:moveTo>
                      <a:pt x="382" y="0"/>
                    </a:moveTo>
                    <a:cubicBezTo>
                      <a:pt x="382" y="30"/>
                      <a:pt x="382" y="124"/>
                      <a:pt x="382" y="179"/>
                    </a:cubicBezTo>
                    <a:cubicBezTo>
                      <a:pt x="382" y="234"/>
                      <a:pt x="382" y="269"/>
                      <a:pt x="382" y="330"/>
                    </a:cubicBezTo>
                    <a:cubicBezTo>
                      <a:pt x="382" y="391"/>
                      <a:pt x="401" y="485"/>
                      <a:pt x="382" y="544"/>
                    </a:cubicBezTo>
                    <a:cubicBezTo>
                      <a:pt x="363" y="603"/>
                      <a:pt x="313" y="660"/>
                      <a:pt x="267" y="682"/>
                    </a:cubicBezTo>
                    <a:cubicBezTo>
                      <a:pt x="221" y="704"/>
                      <a:pt x="146" y="703"/>
                      <a:pt x="103" y="677"/>
                    </a:cubicBezTo>
                    <a:cubicBezTo>
                      <a:pt x="60" y="651"/>
                      <a:pt x="22" y="585"/>
                      <a:pt x="11" y="526"/>
                    </a:cubicBezTo>
                    <a:cubicBezTo>
                      <a:pt x="0" y="467"/>
                      <a:pt x="18" y="369"/>
                      <a:pt x="39" y="320"/>
                    </a:cubicBezTo>
                    <a:cubicBezTo>
                      <a:pt x="60" y="271"/>
                      <a:pt x="99" y="245"/>
                      <a:pt x="139" y="234"/>
                    </a:cubicBezTo>
                    <a:cubicBezTo>
                      <a:pt x="179" y="223"/>
                      <a:pt x="242" y="237"/>
                      <a:pt x="281" y="256"/>
                    </a:cubicBezTo>
                    <a:cubicBezTo>
                      <a:pt x="320" y="275"/>
                      <a:pt x="355" y="305"/>
                      <a:pt x="372" y="348"/>
                    </a:cubicBezTo>
                    <a:cubicBezTo>
                      <a:pt x="389" y="391"/>
                      <a:pt x="382" y="449"/>
                      <a:pt x="386" y="512"/>
                    </a:cubicBezTo>
                    <a:cubicBezTo>
                      <a:pt x="390" y="575"/>
                      <a:pt x="393" y="682"/>
                      <a:pt x="395" y="727"/>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287" name="Freeform 157"/>
              <p:cNvSpPr>
                <a:spLocks noChangeAspect="1"/>
              </p:cNvSpPr>
              <p:nvPr/>
            </p:nvSpPr>
            <p:spPr bwMode="auto">
              <a:xfrm>
                <a:off x="2203" y="2798"/>
                <a:ext cx="77" cy="100"/>
              </a:xfrm>
              <a:custGeom>
                <a:avLst/>
                <a:gdLst>
                  <a:gd name="T0" fmla="*/ 0 w 387"/>
                  <a:gd name="T1" fmla="*/ 0 h 501"/>
                  <a:gd name="T2" fmla="*/ 0 w 387"/>
                  <a:gd name="T3" fmla="*/ 0 h 501"/>
                  <a:gd name="T4" fmla="*/ 0 w 387"/>
                  <a:gd name="T5" fmla="*/ 0 h 501"/>
                  <a:gd name="T6" fmla="*/ 0 w 387"/>
                  <a:gd name="T7" fmla="*/ 0 h 501"/>
                  <a:gd name="T8" fmla="*/ 1 w 387"/>
                  <a:gd name="T9" fmla="*/ 0 h 501"/>
                  <a:gd name="T10" fmla="*/ 1 w 387"/>
                  <a:gd name="T11" fmla="*/ 1 h 501"/>
                  <a:gd name="T12" fmla="*/ 1 w 387"/>
                  <a:gd name="T13" fmla="*/ 1 h 501"/>
                  <a:gd name="T14" fmla="*/ 1 w 387"/>
                  <a:gd name="T15" fmla="*/ 1 h 501"/>
                  <a:gd name="T16" fmla="*/ 1 w 387"/>
                  <a:gd name="T17" fmla="*/ 1 h 501"/>
                  <a:gd name="T18" fmla="*/ 1 w 387"/>
                  <a:gd name="T19" fmla="*/ 1 h 501"/>
                  <a:gd name="T20" fmla="*/ 0 w 387"/>
                  <a:gd name="T21" fmla="*/ 1 h 501"/>
                  <a:gd name="T22" fmla="*/ 0 w 387"/>
                  <a:gd name="T23" fmla="*/ 1 h 501"/>
                  <a:gd name="T24" fmla="*/ 0 w 387"/>
                  <a:gd name="T25" fmla="*/ 1 h 501"/>
                  <a:gd name="T26" fmla="*/ 0 w 387"/>
                  <a:gd name="T27" fmla="*/ 1 h 501"/>
                  <a:gd name="T28" fmla="*/ 0 w 387"/>
                  <a:gd name="T29" fmla="*/ 0 h 501"/>
                  <a:gd name="T30" fmla="*/ 0 w 387"/>
                  <a:gd name="T31" fmla="*/ 0 h 501"/>
                  <a:gd name="T32" fmla="*/ 0 w 387"/>
                  <a:gd name="T33" fmla="*/ 0 h 501"/>
                  <a:gd name="T34" fmla="*/ 1 w 387"/>
                  <a:gd name="T35" fmla="*/ 0 h 50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87"/>
                  <a:gd name="T55" fmla="*/ 0 h 501"/>
                  <a:gd name="T56" fmla="*/ 387 w 387"/>
                  <a:gd name="T57" fmla="*/ 501 h 50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87" h="501">
                    <a:moveTo>
                      <a:pt x="10" y="134"/>
                    </a:moveTo>
                    <a:cubicBezTo>
                      <a:pt x="18" y="122"/>
                      <a:pt x="37" y="81"/>
                      <a:pt x="56" y="61"/>
                    </a:cubicBezTo>
                    <a:cubicBezTo>
                      <a:pt x="75" y="41"/>
                      <a:pt x="92" y="24"/>
                      <a:pt x="125" y="16"/>
                    </a:cubicBezTo>
                    <a:cubicBezTo>
                      <a:pt x="158" y="8"/>
                      <a:pt x="221" y="0"/>
                      <a:pt x="257" y="10"/>
                    </a:cubicBezTo>
                    <a:cubicBezTo>
                      <a:pt x="293" y="20"/>
                      <a:pt x="327" y="26"/>
                      <a:pt x="344" y="79"/>
                    </a:cubicBezTo>
                    <a:cubicBezTo>
                      <a:pt x="361" y="132"/>
                      <a:pt x="360" y="284"/>
                      <a:pt x="362" y="330"/>
                    </a:cubicBezTo>
                    <a:cubicBezTo>
                      <a:pt x="364" y="376"/>
                      <a:pt x="349" y="326"/>
                      <a:pt x="353" y="353"/>
                    </a:cubicBezTo>
                    <a:cubicBezTo>
                      <a:pt x="357" y="380"/>
                      <a:pt x="383" y="479"/>
                      <a:pt x="385" y="490"/>
                    </a:cubicBezTo>
                    <a:cubicBezTo>
                      <a:pt x="387" y="501"/>
                      <a:pt x="371" y="439"/>
                      <a:pt x="367" y="417"/>
                    </a:cubicBezTo>
                    <a:cubicBezTo>
                      <a:pt x="363" y="395"/>
                      <a:pt x="373" y="352"/>
                      <a:pt x="358" y="358"/>
                    </a:cubicBezTo>
                    <a:cubicBezTo>
                      <a:pt x="343" y="364"/>
                      <a:pt x="313" y="432"/>
                      <a:pt x="275" y="454"/>
                    </a:cubicBezTo>
                    <a:cubicBezTo>
                      <a:pt x="237" y="476"/>
                      <a:pt x="170" y="491"/>
                      <a:pt x="129" y="490"/>
                    </a:cubicBezTo>
                    <a:cubicBezTo>
                      <a:pt x="88" y="489"/>
                      <a:pt x="50" y="465"/>
                      <a:pt x="29" y="445"/>
                    </a:cubicBezTo>
                    <a:cubicBezTo>
                      <a:pt x="8" y="425"/>
                      <a:pt x="0" y="393"/>
                      <a:pt x="1" y="367"/>
                    </a:cubicBezTo>
                    <a:cubicBezTo>
                      <a:pt x="2" y="341"/>
                      <a:pt x="13" y="309"/>
                      <a:pt x="33" y="289"/>
                    </a:cubicBezTo>
                    <a:cubicBezTo>
                      <a:pt x="53" y="269"/>
                      <a:pt x="87" y="260"/>
                      <a:pt x="120" y="249"/>
                    </a:cubicBezTo>
                    <a:cubicBezTo>
                      <a:pt x="153" y="238"/>
                      <a:pt x="195" y="230"/>
                      <a:pt x="234" y="221"/>
                    </a:cubicBezTo>
                    <a:cubicBezTo>
                      <a:pt x="273" y="212"/>
                      <a:pt x="328" y="199"/>
                      <a:pt x="353" y="193"/>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288" name="Freeform 158"/>
              <p:cNvSpPr>
                <a:spLocks noChangeAspect="1"/>
              </p:cNvSpPr>
              <p:nvPr/>
            </p:nvSpPr>
            <p:spPr bwMode="auto">
              <a:xfrm flipH="1" flipV="1">
                <a:off x="2323" y="2798"/>
                <a:ext cx="80" cy="145"/>
              </a:xfrm>
              <a:custGeom>
                <a:avLst/>
                <a:gdLst>
                  <a:gd name="T0" fmla="*/ 1 w 401"/>
                  <a:gd name="T1" fmla="*/ 0 h 727"/>
                  <a:gd name="T2" fmla="*/ 1 w 401"/>
                  <a:gd name="T3" fmla="*/ 0 h 727"/>
                  <a:gd name="T4" fmla="*/ 1 w 401"/>
                  <a:gd name="T5" fmla="*/ 1 h 727"/>
                  <a:gd name="T6" fmla="*/ 1 w 401"/>
                  <a:gd name="T7" fmla="*/ 1 h 727"/>
                  <a:gd name="T8" fmla="*/ 0 w 401"/>
                  <a:gd name="T9" fmla="*/ 1 h 727"/>
                  <a:gd name="T10" fmla="*/ 0 w 401"/>
                  <a:gd name="T11" fmla="*/ 1 h 727"/>
                  <a:gd name="T12" fmla="*/ 0 w 401"/>
                  <a:gd name="T13" fmla="*/ 1 h 727"/>
                  <a:gd name="T14" fmla="*/ 0 w 401"/>
                  <a:gd name="T15" fmla="*/ 1 h 727"/>
                  <a:gd name="T16" fmla="*/ 0 w 401"/>
                  <a:gd name="T17" fmla="*/ 0 h 727"/>
                  <a:gd name="T18" fmla="*/ 0 w 401"/>
                  <a:gd name="T19" fmla="*/ 0 h 727"/>
                  <a:gd name="T20" fmla="*/ 1 w 401"/>
                  <a:gd name="T21" fmla="*/ 1 h 727"/>
                  <a:gd name="T22" fmla="*/ 1 w 401"/>
                  <a:gd name="T23" fmla="*/ 1 h 727"/>
                  <a:gd name="T24" fmla="*/ 1 w 401"/>
                  <a:gd name="T25" fmla="*/ 1 h 72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01"/>
                  <a:gd name="T40" fmla="*/ 0 h 727"/>
                  <a:gd name="T41" fmla="*/ 401 w 401"/>
                  <a:gd name="T42" fmla="*/ 727 h 72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01" h="727">
                    <a:moveTo>
                      <a:pt x="382" y="0"/>
                    </a:moveTo>
                    <a:cubicBezTo>
                      <a:pt x="382" y="30"/>
                      <a:pt x="382" y="124"/>
                      <a:pt x="382" y="179"/>
                    </a:cubicBezTo>
                    <a:cubicBezTo>
                      <a:pt x="382" y="234"/>
                      <a:pt x="382" y="269"/>
                      <a:pt x="382" y="330"/>
                    </a:cubicBezTo>
                    <a:cubicBezTo>
                      <a:pt x="382" y="391"/>
                      <a:pt x="401" y="485"/>
                      <a:pt x="382" y="544"/>
                    </a:cubicBezTo>
                    <a:cubicBezTo>
                      <a:pt x="363" y="603"/>
                      <a:pt x="313" y="660"/>
                      <a:pt x="267" y="682"/>
                    </a:cubicBezTo>
                    <a:cubicBezTo>
                      <a:pt x="221" y="704"/>
                      <a:pt x="146" y="703"/>
                      <a:pt x="103" y="677"/>
                    </a:cubicBezTo>
                    <a:cubicBezTo>
                      <a:pt x="60" y="651"/>
                      <a:pt x="22" y="585"/>
                      <a:pt x="11" y="526"/>
                    </a:cubicBezTo>
                    <a:cubicBezTo>
                      <a:pt x="0" y="467"/>
                      <a:pt x="18" y="369"/>
                      <a:pt x="39" y="320"/>
                    </a:cubicBezTo>
                    <a:cubicBezTo>
                      <a:pt x="60" y="271"/>
                      <a:pt x="99" y="245"/>
                      <a:pt x="139" y="234"/>
                    </a:cubicBezTo>
                    <a:cubicBezTo>
                      <a:pt x="179" y="223"/>
                      <a:pt x="242" y="237"/>
                      <a:pt x="281" y="256"/>
                    </a:cubicBezTo>
                    <a:cubicBezTo>
                      <a:pt x="320" y="275"/>
                      <a:pt x="355" y="305"/>
                      <a:pt x="372" y="348"/>
                    </a:cubicBezTo>
                    <a:cubicBezTo>
                      <a:pt x="389" y="391"/>
                      <a:pt x="382" y="449"/>
                      <a:pt x="386" y="512"/>
                    </a:cubicBezTo>
                    <a:cubicBezTo>
                      <a:pt x="390" y="575"/>
                      <a:pt x="393" y="682"/>
                      <a:pt x="395" y="727"/>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289" name="Freeform 159"/>
              <p:cNvSpPr>
                <a:spLocks noChangeAspect="1"/>
              </p:cNvSpPr>
              <p:nvPr/>
            </p:nvSpPr>
            <p:spPr bwMode="auto">
              <a:xfrm>
                <a:off x="2438" y="2798"/>
                <a:ext cx="74" cy="93"/>
              </a:xfrm>
              <a:custGeom>
                <a:avLst/>
                <a:gdLst>
                  <a:gd name="T0" fmla="*/ 1 w 368"/>
                  <a:gd name="T1" fmla="*/ 1 h 465"/>
                  <a:gd name="T2" fmla="*/ 0 w 368"/>
                  <a:gd name="T3" fmla="*/ 1 h 465"/>
                  <a:gd name="T4" fmla="*/ 0 w 368"/>
                  <a:gd name="T5" fmla="*/ 1 h 465"/>
                  <a:gd name="T6" fmla="*/ 0 w 368"/>
                  <a:gd name="T7" fmla="*/ 1 h 465"/>
                  <a:gd name="T8" fmla="*/ 0 w 368"/>
                  <a:gd name="T9" fmla="*/ 0 h 465"/>
                  <a:gd name="T10" fmla="*/ 0 w 368"/>
                  <a:gd name="T11" fmla="*/ 0 h 465"/>
                  <a:gd name="T12" fmla="*/ 0 w 368"/>
                  <a:gd name="T13" fmla="*/ 0 h 465"/>
                  <a:gd name="T14" fmla="*/ 1 w 368"/>
                  <a:gd name="T15" fmla="*/ 0 h 465"/>
                  <a:gd name="T16" fmla="*/ 1 w 368"/>
                  <a:gd name="T17" fmla="*/ 0 h 465"/>
                  <a:gd name="T18" fmla="*/ 0 w 368"/>
                  <a:gd name="T19" fmla="*/ 0 h 46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68"/>
                  <a:gd name="T31" fmla="*/ 0 h 465"/>
                  <a:gd name="T32" fmla="*/ 368 w 368"/>
                  <a:gd name="T33" fmla="*/ 465 h 46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68" h="465">
                    <a:moveTo>
                      <a:pt x="350" y="344"/>
                    </a:moveTo>
                    <a:cubicBezTo>
                      <a:pt x="334" y="362"/>
                      <a:pt x="288" y="429"/>
                      <a:pt x="248" y="446"/>
                    </a:cubicBezTo>
                    <a:cubicBezTo>
                      <a:pt x="208" y="463"/>
                      <a:pt x="148" y="465"/>
                      <a:pt x="110" y="446"/>
                    </a:cubicBezTo>
                    <a:cubicBezTo>
                      <a:pt x="72" y="427"/>
                      <a:pt x="35" y="386"/>
                      <a:pt x="20" y="332"/>
                    </a:cubicBezTo>
                    <a:cubicBezTo>
                      <a:pt x="5" y="278"/>
                      <a:pt x="0" y="175"/>
                      <a:pt x="20" y="122"/>
                    </a:cubicBezTo>
                    <a:cubicBezTo>
                      <a:pt x="40" y="69"/>
                      <a:pt x="96" y="28"/>
                      <a:pt x="140" y="14"/>
                    </a:cubicBezTo>
                    <a:cubicBezTo>
                      <a:pt x="184" y="0"/>
                      <a:pt x="248" y="19"/>
                      <a:pt x="284" y="38"/>
                    </a:cubicBezTo>
                    <a:cubicBezTo>
                      <a:pt x="320" y="57"/>
                      <a:pt x="342" y="97"/>
                      <a:pt x="356" y="128"/>
                    </a:cubicBezTo>
                    <a:lnTo>
                      <a:pt x="368" y="224"/>
                    </a:lnTo>
                    <a:lnTo>
                      <a:pt x="8" y="224"/>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8290" name="Group 160"/>
              <p:cNvGrpSpPr>
                <a:grpSpLocks noChangeAspect="1"/>
              </p:cNvGrpSpPr>
              <p:nvPr/>
            </p:nvGrpSpPr>
            <p:grpSpPr bwMode="auto">
              <a:xfrm>
                <a:off x="2568" y="2798"/>
                <a:ext cx="46" cy="103"/>
                <a:chOff x="2808" y="1818"/>
                <a:chExt cx="228" cy="516"/>
              </a:xfrm>
            </p:grpSpPr>
            <p:sp>
              <p:nvSpPr>
                <p:cNvPr id="148291" name="Freeform 161"/>
                <p:cNvSpPr>
                  <a:spLocks noChangeAspect="1"/>
                </p:cNvSpPr>
                <p:nvPr/>
              </p:nvSpPr>
              <p:spPr bwMode="auto">
                <a:xfrm>
                  <a:off x="2808" y="1818"/>
                  <a:ext cx="1" cy="516"/>
                </a:xfrm>
                <a:custGeom>
                  <a:avLst/>
                  <a:gdLst>
                    <a:gd name="T0" fmla="*/ 0 w 1"/>
                    <a:gd name="T1" fmla="*/ 0 h 516"/>
                    <a:gd name="T2" fmla="*/ 0 w 1"/>
                    <a:gd name="T3" fmla="*/ 516 h 516"/>
                    <a:gd name="T4" fmla="*/ 0 60000 65536"/>
                    <a:gd name="T5" fmla="*/ 0 60000 65536"/>
                    <a:gd name="T6" fmla="*/ 0 w 1"/>
                    <a:gd name="T7" fmla="*/ 0 h 516"/>
                    <a:gd name="T8" fmla="*/ 1 w 1"/>
                    <a:gd name="T9" fmla="*/ 516 h 516"/>
                  </a:gdLst>
                  <a:ahLst/>
                  <a:cxnLst>
                    <a:cxn ang="T4">
                      <a:pos x="T0" y="T1"/>
                    </a:cxn>
                    <a:cxn ang="T5">
                      <a:pos x="T2" y="T3"/>
                    </a:cxn>
                  </a:cxnLst>
                  <a:rect l="T6" t="T7" r="T8" b="T9"/>
                  <a:pathLst>
                    <a:path w="1" h="516">
                      <a:moveTo>
                        <a:pt x="0" y="0"/>
                      </a:moveTo>
                      <a:cubicBezTo>
                        <a:pt x="0" y="0"/>
                        <a:pt x="0" y="258"/>
                        <a:pt x="0" y="516"/>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292" name="Freeform 162"/>
                <p:cNvSpPr>
                  <a:spLocks noChangeAspect="1"/>
                </p:cNvSpPr>
                <p:nvPr/>
              </p:nvSpPr>
              <p:spPr bwMode="auto">
                <a:xfrm>
                  <a:off x="2808" y="1830"/>
                  <a:ext cx="228" cy="198"/>
                </a:xfrm>
                <a:custGeom>
                  <a:avLst/>
                  <a:gdLst>
                    <a:gd name="T0" fmla="*/ 228 w 228"/>
                    <a:gd name="T1" fmla="*/ 54 h 198"/>
                    <a:gd name="T2" fmla="*/ 138 w 228"/>
                    <a:gd name="T3" fmla="*/ 24 h 198"/>
                    <a:gd name="T4" fmla="*/ 0 w 228"/>
                    <a:gd name="T5" fmla="*/ 198 h 198"/>
                    <a:gd name="T6" fmla="*/ 0 60000 65536"/>
                    <a:gd name="T7" fmla="*/ 0 60000 65536"/>
                    <a:gd name="T8" fmla="*/ 0 60000 65536"/>
                    <a:gd name="T9" fmla="*/ 0 w 228"/>
                    <a:gd name="T10" fmla="*/ 0 h 198"/>
                    <a:gd name="T11" fmla="*/ 228 w 228"/>
                    <a:gd name="T12" fmla="*/ 198 h 198"/>
                  </a:gdLst>
                  <a:ahLst/>
                  <a:cxnLst>
                    <a:cxn ang="T6">
                      <a:pos x="T0" y="T1"/>
                    </a:cxn>
                    <a:cxn ang="T7">
                      <a:pos x="T2" y="T3"/>
                    </a:cxn>
                    <a:cxn ang="T8">
                      <a:pos x="T4" y="T5"/>
                    </a:cxn>
                  </a:cxnLst>
                  <a:rect l="T9" t="T10" r="T11" b="T12"/>
                  <a:pathLst>
                    <a:path w="228" h="198">
                      <a:moveTo>
                        <a:pt x="228" y="54"/>
                      </a:moveTo>
                      <a:cubicBezTo>
                        <a:pt x="202" y="27"/>
                        <a:pt x="176" y="0"/>
                        <a:pt x="138" y="24"/>
                      </a:cubicBezTo>
                      <a:cubicBezTo>
                        <a:pt x="100" y="48"/>
                        <a:pt x="50" y="123"/>
                        <a:pt x="0" y="198"/>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grpSp>
          <p:nvGrpSpPr>
            <p:cNvPr id="148269" name="Group 163"/>
            <p:cNvGrpSpPr>
              <a:grpSpLocks noChangeAspect="1"/>
            </p:cNvGrpSpPr>
            <p:nvPr/>
          </p:nvGrpSpPr>
          <p:grpSpPr bwMode="auto">
            <a:xfrm>
              <a:off x="3442" y="1269"/>
              <a:ext cx="132" cy="47"/>
              <a:chOff x="2034" y="2498"/>
              <a:chExt cx="525" cy="188"/>
            </a:xfrm>
          </p:grpSpPr>
          <p:sp>
            <p:nvSpPr>
              <p:cNvPr id="148279" name="Freeform 164"/>
              <p:cNvSpPr>
                <a:spLocks noChangeAspect="1"/>
              </p:cNvSpPr>
              <p:nvPr/>
            </p:nvSpPr>
            <p:spPr bwMode="auto">
              <a:xfrm>
                <a:off x="2148" y="2541"/>
                <a:ext cx="77" cy="100"/>
              </a:xfrm>
              <a:custGeom>
                <a:avLst/>
                <a:gdLst>
                  <a:gd name="T0" fmla="*/ 0 w 387"/>
                  <a:gd name="T1" fmla="*/ 0 h 501"/>
                  <a:gd name="T2" fmla="*/ 0 w 387"/>
                  <a:gd name="T3" fmla="*/ 0 h 501"/>
                  <a:gd name="T4" fmla="*/ 0 w 387"/>
                  <a:gd name="T5" fmla="*/ 0 h 501"/>
                  <a:gd name="T6" fmla="*/ 0 w 387"/>
                  <a:gd name="T7" fmla="*/ 0 h 501"/>
                  <a:gd name="T8" fmla="*/ 1 w 387"/>
                  <a:gd name="T9" fmla="*/ 0 h 501"/>
                  <a:gd name="T10" fmla="*/ 1 w 387"/>
                  <a:gd name="T11" fmla="*/ 1 h 501"/>
                  <a:gd name="T12" fmla="*/ 1 w 387"/>
                  <a:gd name="T13" fmla="*/ 1 h 501"/>
                  <a:gd name="T14" fmla="*/ 1 w 387"/>
                  <a:gd name="T15" fmla="*/ 1 h 501"/>
                  <a:gd name="T16" fmla="*/ 1 w 387"/>
                  <a:gd name="T17" fmla="*/ 1 h 501"/>
                  <a:gd name="T18" fmla="*/ 1 w 387"/>
                  <a:gd name="T19" fmla="*/ 1 h 501"/>
                  <a:gd name="T20" fmla="*/ 0 w 387"/>
                  <a:gd name="T21" fmla="*/ 1 h 501"/>
                  <a:gd name="T22" fmla="*/ 0 w 387"/>
                  <a:gd name="T23" fmla="*/ 1 h 501"/>
                  <a:gd name="T24" fmla="*/ 0 w 387"/>
                  <a:gd name="T25" fmla="*/ 1 h 501"/>
                  <a:gd name="T26" fmla="*/ 0 w 387"/>
                  <a:gd name="T27" fmla="*/ 1 h 501"/>
                  <a:gd name="T28" fmla="*/ 0 w 387"/>
                  <a:gd name="T29" fmla="*/ 0 h 501"/>
                  <a:gd name="T30" fmla="*/ 0 w 387"/>
                  <a:gd name="T31" fmla="*/ 0 h 501"/>
                  <a:gd name="T32" fmla="*/ 0 w 387"/>
                  <a:gd name="T33" fmla="*/ 0 h 501"/>
                  <a:gd name="T34" fmla="*/ 1 w 387"/>
                  <a:gd name="T35" fmla="*/ 0 h 50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387"/>
                  <a:gd name="T55" fmla="*/ 0 h 501"/>
                  <a:gd name="T56" fmla="*/ 387 w 387"/>
                  <a:gd name="T57" fmla="*/ 501 h 50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387" h="501">
                    <a:moveTo>
                      <a:pt x="10" y="134"/>
                    </a:moveTo>
                    <a:cubicBezTo>
                      <a:pt x="18" y="122"/>
                      <a:pt x="37" y="81"/>
                      <a:pt x="56" y="61"/>
                    </a:cubicBezTo>
                    <a:cubicBezTo>
                      <a:pt x="75" y="41"/>
                      <a:pt x="92" y="24"/>
                      <a:pt x="125" y="16"/>
                    </a:cubicBezTo>
                    <a:cubicBezTo>
                      <a:pt x="158" y="8"/>
                      <a:pt x="221" y="0"/>
                      <a:pt x="257" y="10"/>
                    </a:cubicBezTo>
                    <a:cubicBezTo>
                      <a:pt x="293" y="20"/>
                      <a:pt x="327" y="26"/>
                      <a:pt x="344" y="79"/>
                    </a:cubicBezTo>
                    <a:cubicBezTo>
                      <a:pt x="361" y="132"/>
                      <a:pt x="360" y="284"/>
                      <a:pt x="362" y="330"/>
                    </a:cubicBezTo>
                    <a:cubicBezTo>
                      <a:pt x="364" y="376"/>
                      <a:pt x="349" y="326"/>
                      <a:pt x="353" y="353"/>
                    </a:cubicBezTo>
                    <a:cubicBezTo>
                      <a:pt x="357" y="380"/>
                      <a:pt x="383" y="479"/>
                      <a:pt x="385" y="490"/>
                    </a:cubicBezTo>
                    <a:cubicBezTo>
                      <a:pt x="387" y="501"/>
                      <a:pt x="371" y="439"/>
                      <a:pt x="367" y="417"/>
                    </a:cubicBezTo>
                    <a:cubicBezTo>
                      <a:pt x="363" y="395"/>
                      <a:pt x="373" y="352"/>
                      <a:pt x="358" y="358"/>
                    </a:cubicBezTo>
                    <a:cubicBezTo>
                      <a:pt x="343" y="364"/>
                      <a:pt x="313" y="432"/>
                      <a:pt x="275" y="454"/>
                    </a:cubicBezTo>
                    <a:cubicBezTo>
                      <a:pt x="237" y="476"/>
                      <a:pt x="170" y="491"/>
                      <a:pt x="129" y="490"/>
                    </a:cubicBezTo>
                    <a:cubicBezTo>
                      <a:pt x="88" y="489"/>
                      <a:pt x="50" y="465"/>
                      <a:pt x="29" y="445"/>
                    </a:cubicBezTo>
                    <a:cubicBezTo>
                      <a:pt x="8" y="425"/>
                      <a:pt x="0" y="393"/>
                      <a:pt x="1" y="367"/>
                    </a:cubicBezTo>
                    <a:cubicBezTo>
                      <a:pt x="2" y="341"/>
                      <a:pt x="13" y="309"/>
                      <a:pt x="33" y="289"/>
                    </a:cubicBezTo>
                    <a:cubicBezTo>
                      <a:pt x="53" y="269"/>
                      <a:pt x="87" y="260"/>
                      <a:pt x="120" y="249"/>
                    </a:cubicBezTo>
                    <a:cubicBezTo>
                      <a:pt x="153" y="238"/>
                      <a:pt x="195" y="230"/>
                      <a:pt x="234" y="221"/>
                    </a:cubicBezTo>
                    <a:cubicBezTo>
                      <a:pt x="273" y="212"/>
                      <a:pt x="328" y="199"/>
                      <a:pt x="353" y="193"/>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280" name="Freeform 165"/>
              <p:cNvSpPr>
                <a:spLocks noChangeAspect="1"/>
              </p:cNvSpPr>
              <p:nvPr/>
            </p:nvSpPr>
            <p:spPr bwMode="auto">
              <a:xfrm flipH="1" flipV="1">
                <a:off x="2268" y="2541"/>
                <a:ext cx="80" cy="145"/>
              </a:xfrm>
              <a:custGeom>
                <a:avLst/>
                <a:gdLst>
                  <a:gd name="T0" fmla="*/ 1 w 401"/>
                  <a:gd name="T1" fmla="*/ 0 h 727"/>
                  <a:gd name="T2" fmla="*/ 1 w 401"/>
                  <a:gd name="T3" fmla="*/ 0 h 727"/>
                  <a:gd name="T4" fmla="*/ 1 w 401"/>
                  <a:gd name="T5" fmla="*/ 1 h 727"/>
                  <a:gd name="T6" fmla="*/ 1 w 401"/>
                  <a:gd name="T7" fmla="*/ 1 h 727"/>
                  <a:gd name="T8" fmla="*/ 0 w 401"/>
                  <a:gd name="T9" fmla="*/ 1 h 727"/>
                  <a:gd name="T10" fmla="*/ 0 w 401"/>
                  <a:gd name="T11" fmla="*/ 1 h 727"/>
                  <a:gd name="T12" fmla="*/ 0 w 401"/>
                  <a:gd name="T13" fmla="*/ 1 h 727"/>
                  <a:gd name="T14" fmla="*/ 0 w 401"/>
                  <a:gd name="T15" fmla="*/ 1 h 727"/>
                  <a:gd name="T16" fmla="*/ 0 w 401"/>
                  <a:gd name="T17" fmla="*/ 0 h 727"/>
                  <a:gd name="T18" fmla="*/ 0 w 401"/>
                  <a:gd name="T19" fmla="*/ 0 h 727"/>
                  <a:gd name="T20" fmla="*/ 1 w 401"/>
                  <a:gd name="T21" fmla="*/ 1 h 727"/>
                  <a:gd name="T22" fmla="*/ 1 w 401"/>
                  <a:gd name="T23" fmla="*/ 1 h 727"/>
                  <a:gd name="T24" fmla="*/ 1 w 401"/>
                  <a:gd name="T25" fmla="*/ 1 h 72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01"/>
                  <a:gd name="T40" fmla="*/ 0 h 727"/>
                  <a:gd name="T41" fmla="*/ 401 w 401"/>
                  <a:gd name="T42" fmla="*/ 727 h 72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01" h="727">
                    <a:moveTo>
                      <a:pt x="382" y="0"/>
                    </a:moveTo>
                    <a:cubicBezTo>
                      <a:pt x="382" y="30"/>
                      <a:pt x="382" y="124"/>
                      <a:pt x="382" y="179"/>
                    </a:cubicBezTo>
                    <a:cubicBezTo>
                      <a:pt x="382" y="234"/>
                      <a:pt x="382" y="269"/>
                      <a:pt x="382" y="330"/>
                    </a:cubicBezTo>
                    <a:cubicBezTo>
                      <a:pt x="382" y="391"/>
                      <a:pt x="401" y="485"/>
                      <a:pt x="382" y="544"/>
                    </a:cubicBezTo>
                    <a:cubicBezTo>
                      <a:pt x="363" y="603"/>
                      <a:pt x="313" y="660"/>
                      <a:pt x="267" y="682"/>
                    </a:cubicBezTo>
                    <a:cubicBezTo>
                      <a:pt x="221" y="704"/>
                      <a:pt x="146" y="703"/>
                      <a:pt x="103" y="677"/>
                    </a:cubicBezTo>
                    <a:cubicBezTo>
                      <a:pt x="60" y="651"/>
                      <a:pt x="22" y="585"/>
                      <a:pt x="11" y="526"/>
                    </a:cubicBezTo>
                    <a:cubicBezTo>
                      <a:pt x="0" y="467"/>
                      <a:pt x="18" y="369"/>
                      <a:pt x="39" y="320"/>
                    </a:cubicBezTo>
                    <a:cubicBezTo>
                      <a:pt x="60" y="271"/>
                      <a:pt x="99" y="245"/>
                      <a:pt x="139" y="234"/>
                    </a:cubicBezTo>
                    <a:cubicBezTo>
                      <a:pt x="179" y="223"/>
                      <a:pt x="242" y="237"/>
                      <a:pt x="281" y="256"/>
                    </a:cubicBezTo>
                    <a:cubicBezTo>
                      <a:pt x="320" y="275"/>
                      <a:pt x="355" y="305"/>
                      <a:pt x="372" y="348"/>
                    </a:cubicBezTo>
                    <a:cubicBezTo>
                      <a:pt x="389" y="391"/>
                      <a:pt x="382" y="449"/>
                      <a:pt x="386" y="512"/>
                    </a:cubicBezTo>
                    <a:cubicBezTo>
                      <a:pt x="390" y="575"/>
                      <a:pt x="393" y="682"/>
                      <a:pt x="395" y="727"/>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281" name="Freeform 166"/>
              <p:cNvSpPr>
                <a:spLocks noChangeAspect="1"/>
              </p:cNvSpPr>
              <p:nvPr/>
            </p:nvSpPr>
            <p:spPr bwMode="auto">
              <a:xfrm>
                <a:off x="2383" y="2541"/>
                <a:ext cx="74" cy="93"/>
              </a:xfrm>
              <a:custGeom>
                <a:avLst/>
                <a:gdLst>
                  <a:gd name="T0" fmla="*/ 1 w 368"/>
                  <a:gd name="T1" fmla="*/ 1 h 465"/>
                  <a:gd name="T2" fmla="*/ 0 w 368"/>
                  <a:gd name="T3" fmla="*/ 1 h 465"/>
                  <a:gd name="T4" fmla="*/ 0 w 368"/>
                  <a:gd name="T5" fmla="*/ 1 h 465"/>
                  <a:gd name="T6" fmla="*/ 0 w 368"/>
                  <a:gd name="T7" fmla="*/ 1 h 465"/>
                  <a:gd name="T8" fmla="*/ 0 w 368"/>
                  <a:gd name="T9" fmla="*/ 0 h 465"/>
                  <a:gd name="T10" fmla="*/ 0 w 368"/>
                  <a:gd name="T11" fmla="*/ 0 h 465"/>
                  <a:gd name="T12" fmla="*/ 0 w 368"/>
                  <a:gd name="T13" fmla="*/ 0 h 465"/>
                  <a:gd name="T14" fmla="*/ 1 w 368"/>
                  <a:gd name="T15" fmla="*/ 0 h 465"/>
                  <a:gd name="T16" fmla="*/ 1 w 368"/>
                  <a:gd name="T17" fmla="*/ 0 h 465"/>
                  <a:gd name="T18" fmla="*/ 0 w 368"/>
                  <a:gd name="T19" fmla="*/ 0 h 46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68"/>
                  <a:gd name="T31" fmla="*/ 0 h 465"/>
                  <a:gd name="T32" fmla="*/ 368 w 368"/>
                  <a:gd name="T33" fmla="*/ 465 h 46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68" h="465">
                    <a:moveTo>
                      <a:pt x="350" y="344"/>
                    </a:moveTo>
                    <a:cubicBezTo>
                      <a:pt x="334" y="362"/>
                      <a:pt x="288" y="429"/>
                      <a:pt x="248" y="446"/>
                    </a:cubicBezTo>
                    <a:cubicBezTo>
                      <a:pt x="208" y="463"/>
                      <a:pt x="148" y="465"/>
                      <a:pt x="110" y="446"/>
                    </a:cubicBezTo>
                    <a:cubicBezTo>
                      <a:pt x="72" y="427"/>
                      <a:pt x="35" y="386"/>
                      <a:pt x="20" y="332"/>
                    </a:cubicBezTo>
                    <a:cubicBezTo>
                      <a:pt x="5" y="278"/>
                      <a:pt x="0" y="175"/>
                      <a:pt x="20" y="122"/>
                    </a:cubicBezTo>
                    <a:cubicBezTo>
                      <a:pt x="40" y="69"/>
                      <a:pt x="96" y="28"/>
                      <a:pt x="140" y="14"/>
                    </a:cubicBezTo>
                    <a:cubicBezTo>
                      <a:pt x="184" y="0"/>
                      <a:pt x="248" y="19"/>
                      <a:pt x="284" y="38"/>
                    </a:cubicBezTo>
                    <a:cubicBezTo>
                      <a:pt x="320" y="57"/>
                      <a:pt x="342" y="97"/>
                      <a:pt x="356" y="128"/>
                    </a:cubicBezTo>
                    <a:lnTo>
                      <a:pt x="368" y="224"/>
                    </a:lnTo>
                    <a:lnTo>
                      <a:pt x="8" y="224"/>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8282" name="Group 167"/>
              <p:cNvGrpSpPr>
                <a:grpSpLocks noChangeAspect="1"/>
              </p:cNvGrpSpPr>
              <p:nvPr/>
            </p:nvGrpSpPr>
            <p:grpSpPr bwMode="auto">
              <a:xfrm>
                <a:off x="2513" y="2541"/>
                <a:ext cx="46" cy="103"/>
                <a:chOff x="2808" y="1818"/>
                <a:chExt cx="228" cy="516"/>
              </a:xfrm>
            </p:grpSpPr>
            <p:sp>
              <p:nvSpPr>
                <p:cNvPr id="148284" name="Freeform 168"/>
                <p:cNvSpPr>
                  <a:spLocks noChangeAspect="1"/>
                </p:cNvSpPr>
                <p:nvPr/>
              </p:nvSpPr>
              <p:spPr bwMode="auto">
                <a:xfrm>
                  <a:off x="2808" y="1818"/>
                  <a:ext cx="1" cy="516"/>
                </a:xfrm>
                <a:custGeom>
                  <a:avLst/>
                  <a:gdLst>
                    <a:gd name="T0" fmla="*/ 0 w 1"/>
                    <a:gd name="T1" fmla="*/ 0 h 516"/>
                    <a:gd name="T2" fmla="*/ 0 w 1"/>
                    <a:gd name="T3" fmla="*/ 516 h 516"/>
                    <a:gd name="T4" fmla="*/ 0 60000 65536"/>
                    <a:gd name="T5" fmla="*/ 0 60000 65536"/>
                    <a:gd name="T6" fmla="*/ 0 w 1"/>
                    <a:gd name="T7" fmla="*/ 0 h 516"/>
                    <a:gd name="T8" fmla="*/ 1 w 1"/>
                    <a:gd name="T9" fmla="*/ 516 h 516"/>
                  </a:gdLst>
                  <a:ahLst/>
                  <a:cxnLst>
                    <a:cxn ang="T4">
                      <a:pos x="T0" y="T1"/>
                    </a:cxn>
                    <a:cxn ang="T5">
                      <a:pos x="T2" y="T3"/>
                    </a:cxn>
                  </a:cxnLst>
                  <a:rect l="T6" t="T7" r="T8" b="T9"/>
                  <a:pathLst>
                    <a:path w="1" h="516">
                      <a:moveTo>
                        <a:pt x="0" y="0"/>
                      </a:moveTo>
                      <a:cubicBezTo>
                        <a:pt x="0" y="0"/>
                        <a:pt x="0" y="258"/>
                        <a:pt x="0" y="516"/>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285" name="Freeform 169"/>
                <p:cNvSpPr>
                  <a:spLocks noChangeAspect="1"/>
                </p:cNvSpPr>
                <p:nvPr/>
              </p:nvSpPr>
              <p:spPr bwMode="auto">
                <a:xfrm>
                  <a:off x="2808" y="1830"/>
                  <a:ext cx="228" cy="198"/>
                </a:xfrm>
                <a:custGeom>
                  <a:avLst/>
                  <a:gdLst>
                    <a:gd name="T0" fmla="*/ 228 w 228"/>
                    <a:gd name="T1" fmla="*/ 54 h 198"/>
                    <a:gd name="T2" fmla="*/ 138 w 228"/>
                    <a:gd name="T3" fmla="*/ 24 h 198"/>
                    <a:gd name="T4" fmla="*/ 0 w 228"/>
                    <a:gd name="T5" fmla="*/ 198 h 198"/>
                    <a:gd name="T6" fmla="*/ 0 60000 65536"/>
                    <a:gd name="T7" fmla="*/ 0 60000 65536"/>
                    <a:gd name="T8" fmla="*/ 0 60000 65536"/>
                    <a:gd name="T9" fmla="*/ 0 w 228"/>
                    <a:gd name="T10" fmla="*/ 0 h 198"/>
                    <a:gd name="T11" fmla="*/ 228 w 228"/>
                    <a:gd name="T12" fmla="*/ 198 h 198"/>
                  </a:gdLst>
                  <a:ahLst/>
                  <a:cxnLst>
                    <a:cxn ang="T6">
                      <a:pos x="T0" y="T1"/>
                    </a:cxn>
                    <a:cxn ang="T7">
                      <a:pos x="T2" y="T3"/>
                    </a:cxn>
                    <a:cxn ang="T8">
                      <a:pos x="T4" y="T5"/>
                    </a:cxn>
                  </a:cxnLst>
                  <a:rect l="T9" t="T10" r="T11" b="T12"/>
                  <a:pathLst>
                    <a:path w="228" h="198">
                      <a:moveTo>
                        <a:pt x="228" y="54"/>
                      </a:moveTo>
                      <a:cubicBezTo>
                        <a:pt x="202" y="27"/>
                        <a:pt x="176" y="0"/>
                        <a:pt x="138" y="24"/>
                      </a:cubicBezTo>
                      <a:cubicBezTo>
                        <a:pt x="100" y="48"/>
                        <a:pt x="50" y="123"/>
                        <a:pt x="0" y="198"/>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48283" name="Freeform 170"/>
              <p:cNvSpPr>
                <a:spLocks noChangeAspect="1"/>
              </p:cNvSpPr>
              <p:nvPr/>
            </p:nvSpPr>
            <p:spPr bwMode="auto">
              <a:xfrm>
                <a:off x="2034" y="2498"/>
                <a:ext cx="81" cy="132"/>
              </a:xfrm>
              <a:custGeom>
                <a:avLst/>
                <a:gdLst>
                  <a:gd name="T0" fmla="*/ 0 w 407"/>
                  <a:gd name="T1" fmla="*/ 1 h 666"/>
                  <a:gd name="T2" fmla="*/ 0 w 407"/>
                  <a:gd name="T3" fmla="*/ 0 h 666"/>
                  <a:gd name="T4" fmla="*/ 0 w 407"/>
                  <a:gd name="T5" fmla="*/ 0 h 666"/>
                  <a:gd name="T6" fmla="*/ 1 w 407"/>
                  <a:gd name="T7" fmla="*/ 0 h 666"/>
                  <a:gd name="T8" fmla="*/ 1 w 407"/>
                  <a:gd name="T9" fmla="*/ 0 h 666"/>
                  <a:gd name="T10" fmla="*/ 0 w 407"/>
                  <a:gd name="T11" fmla="*/ 1 h 666"/>
                  <a:gd name="T12" fmla="*/ 0 w 407"/>
                  <a:gd name="T13" fmla="*/ 1 h 666"/>
                  <a:gd name="T14" fmla="*/ 0 60000 65536"/>
                  <a:gd name="T15" fmla="*/ 0 60000 65536"/>
                  <a:gd name="T16" fmla="*/ 0 60000 65536"/>
                  <a:gd name="T17" fmla="*/ 0 60000 65536"/>
                  <a:gd name="T18" fmla="*/ 0 60000 65536"/>
                  <a:gd name="T19" fmla="*/ 0 60000 65536"/>
                  <a:gd name="T20" fmla="*/ 0 60000 65536"/>
                  <a:gd name="T21" fmla="*/ 0 w 407"/>
                  <a:gd name="T22" fmla="*/ 0 h 666"/>
                  <a:gd name="T23" fmla="*/ 407 w 407"/>
                  <a:gd name="T24" fmla="*/ 666 h 6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07" h="666">
                    <a:moveTo>
                      <a:pt x="0" y="666"/>
                    </a:moveTo>
                    <a:lnTo>
                      <a:pt x="0" y="0"/>
                    </a:lnTo>
                    <a:lnTo>
                      <a:pt x="246" y="0"/>
                    </a:lnTo>
                    <a:cubicBezTo>
                      <a:pt x="309" y="13"/>
                      <a:pt x="355" y="37"/>
                      <a:pt x="378" y="78"/>
                    </a:cubicBezTo>
                    <a:cubicBezTo>
                      <a:pt x="401" y="119"/>
                      <a:pt x="407" y="201"/>
                      <a:pt x="384" y="246"/>
                    </a:cubicBezTo>
                    <a:cubicBezTo>
                      <a:pt x="361" y="291"/>
                      <a:pt x="304" y="331"/>
                      <a:pt x="240" y="348"/>
                    </a:cubicBezTo>
                    <a:lnTo>
                      <a:pt x="0" y="348"/>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148270" name="Group 171"/>
            <p:cNvGrpSpPr>
              <a:grpSpLocks noChangeAspect="1"/>
            </p:cNvGrpSpPr>
            <p:nvPr/>
          </p:nvGrpSpPr>
          <p:grpSpPr bwMode="auto">
            <a:xfrm>
              <a:off x="3438" y="1321"/>
              <a:ext cx="150" cy="34"/>
              <a:chOff x="2734" y="2495"/>
              <a:chExt cx="597" cy="136"/>
            </a:xfrm>
          </p:grpSpPr>
          <p:grpSp>
            <p:nvGrpSpPr>
              <p:cNvPr id="148271" name="Group 172"/>
              <p:cNvGrpSpPr>
                <a:grpSpLocks noChangeAspect="1"/>
              </p:cNvGrpSpPr>
              <p:nvPr/>
            </p:nvGrpSpPr>
            <p:grpSpPr bwMode="auto">
              <a:xfrm>
                <a:off x="2734" y="2504"/>
                <a:ext cx="58" cy="127"/>
                <a:chOff x="3612" y="1686"/>
                <a:chExt cx="288" cy="634"/>
              </a:xfrm>
            </p:grpSpPr>
            <p:sp>
              <p:nvSpPr>
                <p:cNvPr id="148277" name="Freeform 173"/>
                <p:cNvSpPr>
                  <a:spLocks noChangeAspect="1"/>
                </p:cNvSpPr>
                <p:nvPr/>
              </p:nvSpPr>
              <p:spPr bwMode="auto">
                <a:xfrm>
                  <a:off x="3738" y="1686"/>
                  <a:ext cx="162" cy="634"/>
                </a:xfrm>
                <a:custGeom>
                  <a:avLst/>
                  <a:gdLst>
                    <a:gd name="T0" fmla="*/ 0 w 162"/>
                    <a:gd name="T1" fmla="*/ 0 h 634"/>
                    <a:gd name="T2" fmla="*/ 0 w 162"/>
                    <a:gd name="T3" fmla="*/ 534 h 634"/>
                    <a:gd name="T4" fmla="*/ 162 w 162"/>
                    <a:gd name="T5" fmla="*/ 600 h 634"/>
                    <a:gd name="T6" fmla="*/ 0 60000 65536"/>
                    <a:gd name="T7" fmla="*/ 0 60000 65536"/>
                    <a:gd name="T8" fmla="*/ 0 60000 65536"/>
                    <a:gd name="T9" fmla="*/ 0 w 162"/>
                    <a:gd name="T10" fmla="*/ 0 h 634"/>
                    <a:gd name="T11" fmla="*/ 162 w 162"/>
                    <a:gd name="T12" fmla="*/ 634 h 634"/>
                  </a:gdLst>
                  <a:ahLst/>
                  <a:cxnLst>
                    <a:cxn ang="T6">
                      <a:pos x="T0" y="T1"/>
                    </a:cxn>
                    <a:cxn ang="T7">
                      <a:pos x="T2" y="T3"/>
                    </a:cxn>
                    <a:cxn ang="T8">
                      <a:pos x="T4" y="T5"/>
                    </a:cxn>
                  </a:cxnLst>
                  <a:rect l="T9" t="T10" r="T11" b="T12"/>
                  <a:pathLst>
                    <a:path w="162" h="634">
                      <a:moveTo>
                        <a:pt x="0" y="0"/>
                      </a:moveTo>
                      <a:lnTo>
                        <a:pt x="0" y="534"/>
                      </a:lnTo>
                      <a:cubicBezTo>
                        <a:pt x="27" y="634"/>
                        <a:pt x="94" y="617"/>
                        <a:pt x="162" y="600"/>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278" name="Freeform 174"/>
                <p:cNvSpPr>
                  <a:spLocks noChangeAspect="1"/>
                </p:cNvSpPr>
                <p:nvPr/>
              </p:nvSpPr>
              <p:spPr bwMode="auto">
                <a:xfrm>
                  <a:off x="3612" y="1872"/>
                  <a:ext cx="276" cy="1"/>
                </a:xfrm>
                <a:custGeom>
                  <a:avLst/>
                  <a:gdLst>
                    <a:gd name="T0" fmla="*/ 0 w 276"/>
                    <a:gd name="T1" fmla="*/ 0 h 1"/>
                    <a:gd name="T2" fmla="*/ 276 w 276"/>
                    <a:gd name="T3" fmla="*/ 0 h 1"/>
                    <a:gd name="T4" fmla="*/ 0 60000 65536"/>
                    <a:gd name="T5" fmla="*/ 0 60000 65536"/>
                    <a:gd name="T6" fmla="*/ 0 w 276"/>
                    <a:gd name="T7" fmla="*/ 0 h 1"/>
                    <a:gd name="T8" fmla="*/ 276 w 276"/>
                    <a:gd name="T9" fmla="*/ 1 h 1"/>
                  </a:gdLst>
                  <a:ahLst/>
                  <a:cxnLst>
                    <a:cxn ang="T4">
                      <a:pos x="T0" y="T1"/>
                    </a:cxn>
                    <a:cxn ang="T5">
                      <a:pos x="T2" y="T3"/>
                    </a:cxn>
                  </a:cxnLst>
                  <a:rect l="T6" t="T7" r="T8" b="T9"/>
                  <a:pathLst>
                    <a:path w="276" h="1">
                      <a:moveTo>
                        <a:pt x="0" y="0"/>
                      </a:moveTo>
                      <a:cubicBezTo>
                        <a:pt x="0" y="0"/>
                        <a:pt x="138" y="0"/>
                        <a:pt x="276" y="0"/>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48272" name="Freeform 175"/>
              <p:cNvSpPr>
                <a:spLocks noChangeAspect="1"/>
              </p:cNvSpPr>
              <p:nvPr/>
            </p:nvSpPr>
            <p:spPr bwMode="auto">
              <a:xfrm>
                <a:off x="2832" y="2538"/>
                <a:ext cx="81" cy="93"/>
              </a:xfrm>
              <a:custGeom>
                <a:avLst/>
                <a:gdLst>
                  <a:gd name="T0" fmla="*/ 0 w 402"/>
                  <a:gd name="T1" fmla="*/ 0 h 464"/>
                  <a:gd name="T2" fmla="*/ 0 w 402"/>
                  <a:gd name="T3" fmla="*/ 0 h 464"/>
                  <a:gd name="T4" fmla="*/ 0 w 402"/>
                  <a:gd name="T5" fmla="*/ 0 h 464"/>
                  <a:gd name="T6" fmla="*/ 0 w 402"/>
                  <a:gd name="T7" fmla="*/ 0 h 464"/>
                  <a:gd name="T8" fmla="*/ 0 w 402"/>
                  <a:gd name="T9" fmla="*/ 1 h 464"/>
                  <a:gd name="T10" fmla="*/ 0 w 402"/>
                  <a:gd name="T11" fmla="*/ 1 h 464"/>
                  <a:gd name="T12" fmla="*/ 0 w 402"/>
                  <a:gd name="T13" fmla="*/ 1 h 464"/>
                  <a:gd name="T14" fmla="*/ 1 w 402"/>
                  <a:gd name="T15" fmla="*/ 0 h 464"/>
                  <a:gd name="T16" fmla="*/ 1 w 402"/>
                  <a:gd name="T17" fmla="*/ 0 h 464"/>
                  <a:gd name="T18" fmla="*/ 1 w 402"/>
                  <a:gd name="T19" fmla="*/ 0 h 464"/>
                  <a:gd name="T20" fmla="*/ 0 w 402"/>
                  <a:gd name="T21" fmla="*/ 0 h 46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02"/>
                  <a:gd name="T34" fmla="*/ 0 h 464"/>
                  <a:gd name="T35" fmla="*/ 402 w 402"/>
                  <a:gd name="T36" fmla="*/ 464 h 46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02" h="464">
                    <a:moveTo>
                      <a:pt x="192" y="0"/>
                    </a:moveTo>
                    <a:cubicBezTo>
                      <a:pt x="176" y="4"/>
                      <a:pt x="120" y="2"/>
                      <a:pt x="90" y="26"/>
                    </a:cubicBezTo>
                    <a:cubicBezTo>
                      <a:pt x="60" y="50"/>
                      <a:pt x="26" y="101"/>
                      <a:pt x="13" y="147"/>
                    </a:cubicBezTo>
                    <a:cubicBezTo>
                      <a:pt x="0" y="193"/>
                      <a:pt x="3" y="258"/>
                      <a:pt x="13" y="301"/>
                    </a:cubicBezTo>
                    <a:cubicBezTo>
                      <a:pt x="23" y="344"/>
                      <a:pt x="44" y="377"/>
                      <a:pt x="71" y="403"/>
                    </a:cubicBezTo>
                    <a:cubicBezTo>
                      <a:pt x="98" y="429"/>
                      <a:pt x="140" y="458"/>
                      <a:pt x="179" y="461"/>
                    </a:cubicBezTo>
                    <a:cubicBezTo>
                      <a:pt x="218" y="464"/>
                      <a:pt x="273" y="448"/>
                      <a:pt x="307" y="422"/>
                    </a:cubicBezTo>
                    <a:cubicBezTo>
                      <a:pt x="341" y="396"/>
                      <a:pt x="370" y="351"/>
                      <a:pt x="384" y="307"/>
                    </a:cubicBezTo>
                    <a:cubicBezTo>
                      <a:pt x="398" y="263"/>
                      <a:pt x="402" y="205"/>
                      <a:pt x="391" y="160"/>
                    </a:cubicBezTo>
                    <a:cubicBezTo>
                      <a:pt x="380" y="115"/>
                      <a:pt x="352" y="65"/>
                      <a:pt x="320" y="38"/>
                    </a:cubicBezTo>
                    <a:cubicBezTo>
                      <a:pt x="288" y="11"/>
                      <a:pt x="224" y="8"/>
                      <a:pt x="199" y="0"/>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273" name="Freeform 176"/>
              <p:cNvSpPr>
                <a:spLocks noChangeAspect="1"/>
              </p:cNvSpPr>
              <p:nvPr/>
            </p:nvSpPr>
            <p:spPr bwMode="auto">
              <a:xfrm>
                <a:off x="2945" y="2536"/>
                <a:ext cx="121" cy="95"/>
              </a:xfrm>
              <a:custGeom>
                <a:avLst/>
                <a:gdLst>
                  <a:gd name="T0" fmla="*/ 0 w 618"/>
                  <a:gd name="T1" fmla="*/ 0 h 498"/>
                  <a:gd name="T2" fmla="*/ 0 w 618"/>
                  <a:gd name="T3" fmla="*/ 1 h 498"/>
                  <a:gd name="T4" fmla="*/ 0 w 618"/>
                  <a:gd name="T5" fmla="*/ 0 h 498"/>
                  <a:gd name="T6" fmla="*/ 1 w 618"/>
                  <a:gd name="T7" fmla="*/ 1 h 498"/>
                  <a:gd name="T8" fmla="*/ 1 w 618"/>
                  <a:gd name="T9" fmla="*/ 0 h 498"/>
                  <a:gd name="T10" fmla="*/ 0 60000 65536"/>
                  <a:gd name="T11" fmla="*/ 0 60000 65536"/>
                  <a:gd name="T12" fmla="*/ 0 60000 65536"/>
                  <a:gd name="T13" fmla="*/ 0 60000 65536"/>
                  <a:gd name="T14" fmla="*/ 0 60000 65536"/>
                  <a:gd name="T15" fmla="*/ 0 w 618"/>
                  <a:gd name="T16" fmla="*/ 0 h 498"/>
                  <a:gd name="T17" fmla="*/ 618 w 618"/>
                  <a:gd name="T18" fmla="*/ 498 h 498"/>
                </a:gdLst>
                <a:ahLst/>
                <a:cxnLst>
                  <a:cxn ang="T10">
                    <a:pos x="T0" y="T1"/>
                  </a:cxn>
                  <a:cxn ang="T11">
                    <a:pos x="T2" y="T3"/>
                  </a:cxn>
                  <a:cxn ang="T12">
                    <a:pos x="T4" y="T5"/>
                  </a:cxn>
                  <a:cxn ang="T13">
                    <a:pos x="T6" y="T7"/>
                  </a:cxn>
                  <a:cxn ang="T14">
                    <a:pos x="T8" y="T9"/>
                  </a:cxn>
                </a:cxnLst>
                <a:rect l="T15" t="T16" r="T17" b="T18"/>
                <a:pathLst>
                  <a:path w="618" h="498">
                    <a:moveTo>
                      <a:pt x="0" y="0"/>
                    </a:moveTo>
                    <a:lnTo>
                      <a:pt x="150" y="498"/>
                    </a:lnTo>
                    <a:lnTo>
                      <a:pt x="306" y="12"/>
                    </a:lnTo>
                    <a:lnTo>
                      <a:pt x="462" y="498"/>
                    </a:lnTo>
                    <a:lnTo>
                      <a:pt x="618" y="0"/>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274" name="Freeform 177"/>
              <p:cNvSpPr>
                <a:spLocks noChangeAspect="1"/>
              </p:cNvSpPr>
              <p:nvPr/>
            </p:nvSpPr>
            <p:spPr bwMode="auto">
              <a:xfrm>
                <a:off x="3106" y="2538"/>
                <a:ext cx="74" cy="93"/>
              </a:xfrm>
              <a:custGeom>
                <a:avLst/>
                <a:gdLst>
                  <a:gd name="T0" fmla="*/ 1 w 368"/>
                  <a:gd name="T1" fmla="*/ 1 h 465"/>
                  <a:gd name="T2" fmla="*/ 0 w 368"/>
                  <a:gd name="T3" fmla="*/ 1 h 465"/>
                  <a:gd name="T4" fmla="*/ 0 w 368"/>
                  <a:gd name="T5" fmla="*/ 1 h 465"/>
                  <a:gd name="T6" fmla="*/ 0 w 368"/>
                  <a:gd name="T7" fmla="*/ 1 h 465"/>
                  <a:gd name="T8" fmla="*/ 0 w 368"/>
                  <a:gd name="T9" fmla="*/ 0 h 465"/>
                  <a:gd name="T10" fmla="*/ 0 w 368"/>
                  <a:gd name="T11" fmla="*/ 0 h 465"/>
                  <a:gd name="T12" fmla="*/ 0 w 368"/>
                  <a:gd name="T13" fmla="*/ 0 h 465"/>
                  <a:gd name="T14" fmla="*/ 1 w 368"/>
                  <a:gd name="T15" fmla="*/ 0 h 465"/>
                  <a:gd name="T16" fmla="*/ 1 w 368"/>
                  <a:gd name="T17" fmla="*/ 0 h 465"/>
                  <a:gd name="T18" fmla="*/ 0 w 368"/>
                  <a:gd name="T19" fmla="*/ 0 h 46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68"/>
                  <a:gd name="T31" fmla="*/ 0 h 465"/>
                  <a:gd name="T32" fmla="*/ 368 w 368"/>
                  <a:gd name="T33" fmla="*/ 465 h 465"/>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68" h="465">
                    <a:moveTo>
                      <a:pt x="350" y="344"/>
                    </a:moveTo>
                    <a:cubicBezTo>
                      <a:pt x="334" y="362"/>
                      <a:pt x="288" y="429"/>
                      <a:pt x="248" y="446"/>
                    </a:cubicBezTo>
                    <a:cubicBezTo>
                      <a:pt x="208" y="463"/>
                      <a:pt x="148" y="465"/>
                      <a:pt x="110" y="446"/>
                    </a:cubicBezTo>
                    <a:cubicBezTo>
                      <a:pt x="72" y="427"/>
                      <a:pt x="35" y="386"/>
                      <a:pt x="20" y="332"/>
                    </a:cubicBezTo>
                    <a:cubicBezTo>
                      <a:pt x="5" y="278"/>
                      <a:pt x="0" y="175"/>
                      <a:pt x="20" y="122"/>
                    </a:cubicBezTo>
                    <a:cubicBezTo>
                      <a:pt x="40" y="69"/>
                      <a:pt x="96" y="28"/>
                      <a:pt x="140" y="14"/>
                    </a:cubicBezTo>
                    <a:cubicBezTo>
                      <a:pt x="184" y="0"/>
                      <a:pt x="248" y="19"/>
                      <a:pt x="284" y="38"/>
                    </a:cubicBezTo>
                    <a:cubicBezTo>
                      <a:pt x="320" y="57"/>
                      <a:pt x="342" y="97"/>
                      <a:pt x="356" y="128"/>
                    </a:cubicBezTo>
                    <a:lnTo>
                      <a:pt x="368" y="224"/>
                    </a:lnTo>
                    <a:lnTo>
                      <a:pt x="8" y="224"/>
                    </a:ln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275" name="Line 178"/>
              <p:cNvSpPr>
                <a:spLocks noChangeAspect="1" noChangeShapeType="1"/>
              </p:cNvSpPr>
              <p:nvPr/>
            </p:nvSpPr>
            <p:spPr bwMode="auto">
              <a:xfrm>
                <a:off x="3220" y="2495"/>
                <a:ext cx="1" cy="136"/>
              </a:xfrm>
              <a:prstGeom prst="line">
                <a:avLst/>
              </a:prstGeom>
              <a:noFill/>
              <a:ln w="635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8276" name="Freeform 179"/>
              <p:cNvSpPr>
                <a:spLocks noChangeAspect="1"/>
              </p:cNvSpPr>
              <p:nvPr/>
            </p:nvSpPr>
            <p:spPr bwMode="auto">
              <a:xfrm>
                <a:off x="3261" y="2537"/>
                <a:ext cx="70" cy="94"/>
              </a:xfrm>
              <a:custGeom>
                <a:avLst/>
                <a:gdLst>
                  <a:gd name="T0" fmla="*/ 0 w 348"/>
                  <a:gd name="T1" fmla="*/ 0 h 454"/>
                  <a:gd name="T2" fmla="*/ 0 w 348"/>
                  <a:gd name="T3" fmla="*/ 0 h 454"/>
                  <a:gd name="T4" fmla="*/ 0 w 348"/>
                  <a:gd name="T5" fmla="*/ 0 h 454"/>
                  <a:gd name="T6" fmla="*/ 0 w 348"/>
                  <a:gd name="T7" fmla="*/ 0 h 454"/>
                  <a:gd name="T8" fmla="*/ 0 w 348"/>
                  <a:gd name="T9" fmla="*/ 0 h 454"/>
                  <a:gd name="T10" fmla="*/ 0 w 348"/>
                  <a:gd name="T11" fmla="*/ 1 h 454"/>
                  <a:gd name="T12" fmla="*/ 0 w 348"/>
                  <a:gd name="T13" fmla="*/ 1 h 454"/>
                  <a:gd name="T14" fmla="*/ 0 w 348"/>
                  <a:gd name="T15" fmla="*/ 1 h 454"/>
                  <a:gd name="T16" fmla="*/ 0 60000 65536"/>
                  <a:gd name="T17" fmla="*/ 0 60000 65536"/>
                  <a:gd name="T18" fmla="*/ 0 60000 65536"/>
                  <a:gd name="T19" fmla="*/ 0 60000 65536"/>
                  <a:gd name="T20" fmla="*/ 0 60000 65536"/>
                  <a:gd name="T21" fmla="*/ 0 60000 65536"/>
                  <a:gd name="T22" fmla="*/ 0 60000 65536"/>
                  <a:gd name="T23" fmla="*/ 0 60000 65536"/>
                  <a:gd name="T24" fmla="*/ 0 w 348"/>
                  <a:gd name="T25" fmla="*/ 0 h 454"/>
                  <a:gd name="T26" fmla="*/ 348 w 348"/>
                  <a:gd name="T27" fmla="*/ 454 h 45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48" h="454">
                    <a:moveTo>
                      <a:pt x="307" y="95"/>
                    </a:moveTo>
                    <a:cubicBezTo>
                      <a:pt x="296" y="82"/>
                      <a:pt x="284" y="28"/>
                      <a:pt x="241" y="17"/>
                    </a:cubicBezTo>
                    <a:cubicBezTo>
                      <a:pt x="198" y="6"/>
                      <a:pt x="82" y="0"/>
                      <a:pt x="49" y="29"/>
                    </a:cubicBezTo>
                    <a:cubicBezTo>
                      <a:pt x="16" y="58"/>
                      <a:pt x="0" y="148"/>
                      <a:pt x="43" y="191"/>
                    </a:cubicBezTo>
                    <a:cubicBezTo>
                      <a:pt x="86" y="234"/>
                      <a:pt x="266" y="248"/>
                      <a:pt x="307" y="287"/>
                    </a:cubicBezTo>
                    <a:cubicBezTo>
                      <a:pt x="348" y="326"/>
                      <a:pt x="325" y="399"/>
                      <a:pt x="289" y="425"/>
                    </a:cubicBezTo>
                    <a:cubicBezTo>
                      <a:pt x="253" y="451"/>
                      <a:pt x="138" y="454"/>
                      <a:pt x="91" y="443"/>
                    </a:cubicBezTo>
                    <a:cubicBezTo>
                      <a:pt x="44" y="432"/>
                      <a:pt x="24" y="376"/>
                      <a:pt x="7" y="359"/>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sp>
        <p:nvSpPr>
          <p:cNvPr id="147459" name="Text Box 180"/>
          <p:cNvSpPr txBox="1">
            <a:spLocks noChangeArrowheads="1"/>
          </p:cNvSpPr>
          <p:nvPr/>
        </p:nvSpPr>
        <p:spPr bwMode="auto">
          <a:xfrm>
            <a:off x="231775" y="173038"/>
            <a:ext cx="17922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sz="2000" b="1">
                <a:latin typeface="Arial" panose="020B0604020202020204" pitchFamily="34" charset="0"/>
              </a:rPr>
              <a:t>Northern blot</a:t>
            </a:r>
          </a:p>
        </p:txBody>
      </p:sp>
      <p:grpSp>
        <p:nvGrpSpPr>
          <p:cNvPr id="147460" name="Group 181"/>
          <p:cNvGrpSpPr>
            <a:grpSpLocks noChangeAspect="1"/>
          </p:cNvGrpSpPr>
          <p:nvPr/>
        </p:nvGrpSpPr>
        <p:grpSpPr bwMode="auto">
          <a:xfrm>
            <a:off x="2638425" y="2132013"/>
            <a:ext cx="2751138" cy="903287"/>
            <a:chOff x="756" y="1409"/>
            <a:chExt cx="1440" cy="473"/>
          </a:xfrm>
        </p:grpSpPr>
        <p:sp>
          <p:nvSpPr>
            <p:cNvPr id="148184" name="Freeform 182"/>
            <p:cNvSpPr>
              <a:spLocks noChangeAspect="1"/>
            </p:cNvSpPr>
            <p:nvPr/>
          </p:nvSpPr>
          <p:spPr bwMode="auto">
            <a:xfrm>
              <a:off x="853" y="1551"/>
              <a:ext cx="1247" cy="273"/>
            </a:xfrm>
            <a:custGeom>
              <a:avLst/>
              <a:gdLst>
                <a:gd name="T0" fmla="*/ 0 w 3102"/>
                <a:gd name="T1" fmla="*/ 0 h 678"/>
                <a:gd name="T2" fmla="*/ 0 w 3102"/>
                <a:gd name="T3" fmla="*/ 17 h 678"/>
                <a:gd name="T4" fmla="*/ 15 w 3102"/>
                <a:gd name="T5" fmla="*/ 17 h 678"/>
                <a:gd name="T6" fmla="*/ 16 w 3102"/>
                <a:gd name="T7" fmla="*/ 9 h 678"/>
                <a:gd name="T8" fmla="*/ 63 w 3102"/>
                <a:gd name="T9" fmla="*/ 9 h 678"/>
                <a:gd name="T10" fmla="*/ 63 w 3102"/>
                <a:gd name="T11" fmla="*/ 18 h 678"/>
                <a:gd name="T12" fmla="*/ 81 w 3102"/>
                <a:gd name="T13" fmla="*/ 17 h 678"/>
                <a:gd name="T14" fmla="*/ 81 w 3102"/>
                <a:gd name="T15" fmla="*/ 0 h 678"/>
                <a:gd name="T16" fmla="*/ 0 w 3102"/>
                <a:gd name="T17" fmla="*/ 0 h 67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02"/>
                <a:gd name="T28" fmla="*/ 0 h 678"/>
                <a:gd name="T29" fmla="*/ 3102 w 3102"/>
                <a:gd name="T30" fmla="*/ 678 h 67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02" h="678">
                  <a:moveTo>
                    <a:pt x="0" y="0"/>
                  </a:moveTo>
                  <a:lnTo>
                    <a:pt x="0" y="660"/>
                  </a:lnTo>
                  <a:lnTo>
                    <a:pt x="588" y="654"/>
                  </a:lnTo>
                  <a:lnTo>
                    <a:pt x="594" y="354"/>
                  </a:lnTo>
                  <a:lnTo>
                    <a:pt x="2400" y="354"/>
                  </a:lnTo>
                  <a:lnTo>
                    <a:pt x="2400" y="678"/>
                  </a:lnTo>
                  <a:lnTo>
                    <a:pt x="3102" y="666"/>
                  </a:lnTo>
                  <a:lnTo>
                    <a:pt x="3090" y="0"/>
                  </a:lnTo>
                  <a:lnTo>
                    <a:pt x="0" y="0"/>
                  </a:lnTo>
                  <a:close/>
                </a:path>
              </a:pathLst>
            </a:custGeom>
            <a:solidFill>
              <a:srgbClr val="EAEAEA"/>
            </a:solidFill>
            <a:ln>
              <a:noFill/>
            </a:ln>
            <a:extLst>
              <a:ext uri="{91240B29-F687-4F45-9708-019B960494DF}">
                <a14:hiddenLine xmlns:a14="http://schemas.microsoft.com/office/drawing/2010/main" w="28575">
                  <a:solidFill>
                    <a:srgbClr val="000000"/>
                  </a:solidFill>
                  <a:round/>
                </a14:hiddenLine>
              </a:ext>
            </a:extLst>
          </p:spPr>
          <p:txBody>
            <a:bodyPr wrap="none" anchor="ctr"/>
            <a:lstStyle/>
            <a:p>
              <a:endParaRPr lang="zh-CN" altLang="en-US"/>
            </a:p>
          </p:txBody>
        </p:sp>
        <p:sp>
          <p:nvSpPr>
            <p:cNvPr id="148185" name="Freeform 183"/>
            <p:cNvSpPr>
              <a:spLocks noChangeAspect="1"/>
            </p:cNvSpPr>
            <p:nvPr/>
          </p:nvSpPr>
          <p:spPr bwMode="auto">
            <a:xfrm>
              <a:off x="792" y="1484"/>
              <a:ext cx="1359" cy="398"/>
            </a:xfrm>
            <a:custGeom>
              <a:avLst/>
              <a:gdLst>
                <a:gd name="T0" fmla="*/ 0 w 3378"/>
                <a:gd name="T1" fmla="*/ 0 h 990"/>
                <a:gd name="T2" fmla="*/ 0 w 3378"/>
                <a:gd name="T3" fmla="*/ 26 h 990"/>
                <a:gd name="T4" fmla="*/ 23 w 3378"/>
                <a:gd name="T5" fmla="*/ 26 h 990"/>
                <a:gd name="T6" fmla="*/ 23 w 3378"/>
                <a:gd name="T7" fmla="*/ 18 h 990"/>
                <a:gd name="T8" fmla="*/ 63 w 3378"/>
                <a:gd name="T9" fmla="*/ 18 h 990"/>
                <a:gd name="T10" fmla="*/ 63 w 3378"/>
                <a:gd name="T11" fmla="*/ 25 h 990"/>
                <a:gd name="T12" fmla="*/ 89 w 3378"/>
                <a:gd name="T13" fmla="*/ 25 h 990"/>
                <a:gd name="T14" fmla="*/ 89 w 3378"/>
                <a:gd name="T15" fmla="*/ 0 h 990"/>
                <a:gd name="T16" fmla="*/ 85 w 3378"/>
                <a:gd name="T17" fmla="*/ 0 h 990"/>
                <a:gd name="T18" fmla="*/ 85 w 3378"/>
                <a:gd name="T19" fmla="*/ 22 h 990"/>
                <a:gd name="T20" fmla="*/ 67 w 3378"/>
                <a:gd name="T21" fmla="*/ 23 h 990"/>
                <a:gd name="T22" fmla="*/ 67 w 3378"/>
                <a:gd name="T23" fmla="*/ 14 h 990"/>
                <a:gd name="T24" fmla="*/ 19 w 3378"/>
                <a:gd name="T25" fmla="*/ 14 h 990"/>
                <a:gd name="T26" fmla="*/ 19 w 3378"/>
                <a:gd name="T27" fmla="*/ 22 h 990"/>
                <a:gd name="T28" fmla="*/ 4 w 3378"/>
                <a:gd name="T29" fmla="*/ 22 h 990"/>
                <a:gd name="T30" fmla="*/ 4 w 3378"/>
                <a:gd name="T31" fmla="*/ 0 h 990"/>
                <a:gd name="T32" fmla="*/ 0 w 3378"/>
                <a:gd name="T33" fmla="*/ 0 h 99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3378"/>
                <a:gd name="T52" fmla="*/ 0 h 990"/>
                <a:gd name="T53" fmla="*/ 3378 w 3378"/>
                <a:gd name="T54" fmla="*/ 990 h 99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3378" h="990">
                  <a:moveTo>
                    <a:pt x="0" y="0"/>
                  </a:moveTo>
                  <a:lnTo>
                    <a:pt x="0" y="990"/>
                  </a:lnTo>
                  <a:lnTo>
                    <a:pt x="870" y="990"/>
                  </a:lnTo>
                  <a:lnTo>
                    <a:pt x="870" y="678"/>
                  </a:lnTo>
                  <a:lnTo>
                    <a:pt x="2412" y="678"/>
                  </a:lnTo>
                  <a:lnTo>
                    <a:pt x="2412" y="972"/>
                  </a:lnTo>
                  <a:lnTo>
                    <a:pt x="3378" y="972"/>
                  </a:lnTo>
                  <a:lnTo>
                    <a:pt x="3378" y="0"/>
                  </a:lnTo>
                  <a:lnTo>
                    <a:pt x="3258" y="0"/>
                  </a:lnTo>
                  <a:lnTo>
                    <a:pt x="3258" y="852"/>
                  </a:lnTo>
                  <a:lnTo>
                    <a:pt x="2544" y="858"/>
                  </a:lnTo>
                  <a:lnTo>
                    <a:pt x="2544" y="528"/>
                  </a:lnTo>
                  <a:lnTo>
                    <a:pt x="744" y="534"/>
                  </a:lnTo>
                  <a:lnTo>
                    <a:pt x="744" y="834"/>
                  </a:lnTo>
                  <a:lnTo>
                    <a:pt x="138" y="834"/>
                  </a:lnTo>
                  <a:lnTo>
                    <a:pt x="138" y="0"/>
                  </a:lnTo>
                  <a:lnTo>
                    <a:pt x="0" y="0"/>
                  </a:lnTo>
                  <a:close/>
                </a:path>
              </a:pathLst>
            </a:custGeom>
            <a:solidFill>
              <a:srgbClr val="4D4D4D"/>
            </a:solidFill>
            <a:ln w="12700">
              <a:solidFill>
                <a:schemeClr val="bg2"/>
              </a:solidFill>
              <a:round/>
            </a:ln>
          </p:spPr>
          <p:txBody>
            <a:bodyPr wrap="none" anchor="ctr"/>
            <a:lstStyle/>
            <a:p>
              <a:endParaRPr lang="zh-CN" altLang="en-US"/>
            </a:p>
          </p:txBody>
        </p:sp>
        <p:sp>
          <p:nvSpPr>
            <p:cNvPr id="148186" name="Freeform 184"/>
            <p:cNvSpPr>
              <a:spLocks noChangeAspect="1"/>
            </p:cNvSpPr>
            <p:nvPr/>
          </p:nvSpPr>
          <p:spPr bwMode="auto">
            <a:xfrm>
              <a:off x="1089" y="1592"/>
              <a:ext cx="729" cy="99"/>
            </a:xfrm>
            <a:custGeom>
              <a:avLst/>
              <a:gdLst>
                <a:gd name="T0" fmla="*/ 0 w 1812"/>
                <a:gd name="T1" fmla="*/ 0 h 246"/>
                <a:gd name="T2" fmla="*/ 0 w 1812"/>
                <a:gd name="T3" fmla="*/ 6 h 246"/>
                <a:gd name="T4" fmla="*/ 47 w 1812"/>
                <a:gd name="T5" fmla="*/ 6 h 246"/>
                <a:gd name="T6" fmla="*/ 47 w 1812"/>
                <a:gd name="T7" fmla="*/ 0 h 246"/>
                <a:gd name="T8" fmla="*/ 0 w 1812"/>
                <a:gd name="T9" fmla="*/ 0 h 246"/>
                <a:gd name="T10" fmla="*/ 0 60000 65536"/>
                <a:gd name="T11" fmla="*/ 0 60000 65536"/>
                <a:gd name="T12" fmla="*/ 0 60000 65536"/>
                <a:gd name="T13" fmla="*/ 0 60000 65536"/>
                <a:gd name="T14" fmla="*/ 0 60000 65536"/>
                <a:gd name="T15" fmla="*/ 0 w 1812"/>
                <a:gd name="T16" fmla="*/ 0 h 246"/>
                <a:gd name="T17" fmla="*/ 1812 w 1812"/>
                <a:gd name="T18" fmla="*/ 246 h 246"/>
              </a:gdLst>
              <a:ahLst/>
              <a:cxnLst>
                <a:cxn ang="T10">
                  <a:pos x="T0" y="T1"/>
                </a:cxn>
                <a:cxn ang="T11">
                  <a:pos x="T2" y="T3"/>
                </a:cxn>
                <a:cxn ang="T12">
                  <a:pos x="T4" y="T5"/>
                </a:cxn>
                <a:cxn ang="T13">
                  <a:pos x="T6" y="T7"/>
                </a:cxn>
                <a:cxn ang="T14">
                  <a:pos x="T8" y="T9"/>
                </a:cxn>
              </a:cxnLst>
              <a:rect l="T15" t="T16" r="T17" b="T18"/>
              <a:pathLst>
                <a:path w="1812" h="246">
                  <a:moveTo>
                    <a:pt x="0" y="0"/>
                  </a:moveTo>
                  <a:lnTo>
                    <a:pt x="0" y="246"/>
                  </a:lnTo>
                  <a:lnTo>
                    <a:pt x="1812" y="246"/>
                  </a:lnTo>
                  <a:lnTo>
                    <a:pt x="1812" y="6"/>
                  </a:lnTo>
                  <a:lnTo>
                    <a:pt x="0" y="0"/>
                  </a:lnTo>
                  <a:close/>
                </a:path>
              </a:pathLst>
            </a:custGeom>
            <a:gradFill rotWithShape="1">
              <a:gsLst>
                <a:gs pos="0">
                  <a:srgbClr val="D9EDEF"/>
                </a:gs>
                <a:gs pos="100000">
                  <a:srgbClr val="CFE2E4"/>
                </a:gs>
              </a:gsLst>
              <a:lin ang="5400000" scaled="1"/>
            </a:gradFill>
            <a:ln w="19050">
              <a:solidFill>
                <a:srgbClr val="DDDDDD"/>
              </a:solidFill>
              <a:round/>
            </a:ln>
          </p:spPr>
          <p:txBody>
            <a:bodyPr wrap="none" anchor="ctr"/>
            <a:lstStyle/>
            <a:p>
              <a:endParaRPr lang="zh-CN" altLang="en-US"/>
            </a:p>
          </p:txBody>
        </p:sp>
        <p:sp>
          <p:nvSpPr>
            <p:cNvPr id="148187" name="Rectangle 185"/>
            <p:cNvSpPr>
              <a:spLocks noChangeAspect="1" noChangeArrowheads="1"/>
            </p:cNvSpPr>
            <p:nvPr/>
          </p:nvSpPr>
          <p:spPr bwMode="auto">
            <a:xfrm>
              <a:off x="1140" y="1595"/>
              <a:ext cx="22" cy="84"/>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88" name="Rectangle 186"/>
            <p:cNvSpPr>
              <a:spLocks noChangeAspect="1" noChangeArrowheads="1"/>
            </p:cNvSpPr>
            <p:nvPr/>
          </p:nvSpPr>
          <p:spPr bwMode="auto">
            <a:xfrm>
              <a:off x="1139" y="1621"/>
              <a:ext cx="23" cy="63"/>
            </a:xfrm>
            <a:prstGeom prst="rect">
              <a:avLst/>
            </a:prstGeom>
            <a:solidFill>
              <a:srgbClr val="0000FF"/>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89" name="Line 187"/>
            <p:cNvSpPr>
              <a:spLocks noChangeAspect="1" noChangeShapeType="1"/>
            </p:cNvSpPr>
            <p:nvPr/>
          </p:nvSpPr>
          <p:spPr bwMode="auto">
            <a:xfrm flipV="1">
              <a:off x="1190" y="1643"/>
              <a:ext cx="280" cy="0"/>
            </a:xfrm>
            <a:prstGeom prst="line">
              <a:avLst/>
            </a:prstGeom>
            <a:noFill/>
            <a:ln w="381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8190" name="Freeform 188"/>
            <p:cNvSpPr>
              <a:spLocks noChangeAspect="1"/>
            </p:cNvSpPr>
            <p:nvPr/>
          </p:nvSpPr>
          <p:spPr bwMode="auto">
            <a:xfrm>
              <a:off x="756" y="1467"/>
              <a:ext cx="116" cy="323"/>
            </a:xfrm>
            <a:custGeom>
              <a:avLst/>
              <a:gdLst>
                <a:gd name="T0" fmla="*/ 8 w 288"/>
                <a:gd name="T1" fmla="*/ 21 h 804"/>
                <a:gd name="T2" fmla="*/ 8 w 288"/>
                <a:gd name="T3" fmla="*/ 0 h 804"/>
                <a:gd name="T4" fmla="*/ 0 w 288"/>
                <a:gd name="T5" fmla="*/ 0 h 804"/>
                <a:gd name="T6" fmla="*/ 0 60000 65536"/>
                <a:gd name="T7" fmla="*/ 0 60000 65536"/>
                <a:gd name="T8" fmla="*/ 0 60000 65536"/>
                <a:gd name="T9" fmla="*/ 0 w 288"/>
                <a:gd name="T10" fmla="*/ 0 h 804"/>
                <a:gd name="T11" fmla="*/ 288 w 288"/>
                <a:gd name="T12" fmla="*/ 804 h 804"/>
              </a:gdLst>
              <a:ahLst/>
              <a:cxnLst>
                <a:cxn ang="T6">
                  <a:pos x="T0" y="T1"/>
                </a:cxn>
                <a:cxn ang="T7">
                  <a:pos x="T2" y="T3"/>
                </a:cxn>
                <a:cxn ang="T8">
                  <a:pos x="T4" y="T5"/>
                </a:cxn>
              </a:cxnLst>
              <a:rect l="T9" t="T10" r="T11" b="T12"/>
              <a:pathLst>
                <a:path w="288" h="804">
                  <a:moveTo>
                    <a:pt x="288" y="804"/>
                  </a:moveTo>
                  <a:lnTo>
                    <a:pt x="288" y="0"/>
                  </a:lnTo>
                  <a:lnTo>
                    <a:pt x="0" y="0"/>
                  </a:lnTo>
                </a:path>
              </a:pathLst>
            </a:custGeom>
            <a:noFill/>
            <a:ln w="19050">
              <a:solidFill>
                <a:srgbClr val="00FF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48191" name="Freeform 189"/>
            <p:cNvSpPr>
              <a:spLocks noChangeAspect="1"/>
            </p:cNvSpPr>
            <p:nvPr/>
          </p:nvSpPr>
          <p:spPr bwMode="auto">
            <a:xfrm flipH="1">
              <a:off x="2080" y="1467"/>
              <a:ext cx="116" cy="323"/>
            </a:xfrm>
            <a:custGeom>
              <a:avLst/>
              <a:gdLst>
                <a:gd name="T0" fmla="*/ 8 w 288"/>
                <a:gd name="T1" fmla="*/ 21 h 804"/>
                <a:gd name="T2" fmla="*/ 8 w 288"/>
                <a:gd name="T3" fmla="*/ 0 h 804"/>
                <a:gd name="T4" fmla="*/ 0 w 288"/>
                <a:gd name="T5" fmla="*/ 0 h 804"/>
                <a:gd name="T6" fmla="*/ 0 60000 65536"/>
                <a:gd name="T7" fmla="*/ 0 60000 65536"/>
                <a:gd name="T8" fmla="*/ 0 60000 65536"/>
                <a:gd name="T9" fmla="*/ 0 w 288"/>
                <a:gd name="T10" fmla="*/ 0 h 804"/>
                <a:gd name="T11" fmla="*/ 288 w 288"/>
                <a:gd name="T12" fmla="*/ 804 h 804"/>
              </a:gdLst>
              <a:ahLst/>
              <a:cxnLst>
                <a:cxn ang="T6">
                  <a:pos x="T0" y="T1"/>
                </a:cxn>
                <a:cxn ang="T7">
                  <a:pos x="T2" y="T3"/>
                </a:cxn>
                <a:cxn ang="T8">
                  <a:pos x="T4" y="T5"/>
                </a:cxn>
              </a:cxnLst>
              <a:rect l="T9" t="T10" r="T11" b="T12"/>
              <a:pathLst>
                <a:path w="288" h="804">
                  <a:moveTo>
                    <a:pt x="288" y="804"/>
                  </a:moveTo>
                  <a:lnTo>
                    <a:pt x="288" y="0"/>
                  </a:lnTo>
                  <a:lnTo>
                    <a:pt x="0" y="0"/>
                  </a:lnTo>
                </a:path>
              </a:pathLst>
            </a:custGeom>
            <a:noFill/>
            <a:ln w="19050">
              <a:solidFill>
                <a:srgbClr val="00FF00"/>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48192" name="Oval 190"/>
            <p:cNvSpPr>
              <a:spLocks noChangeAspect="1" noChangeArrowheads="1"/>
            </p:cNvSpPr>
            <p:nvPr/>
          </p:nvSpPr>
          <p:spPr bwMode="auto">
            <a:xfrm>
              <a:off x="2102" y="1409"/>
              <a:ext cx="51" cy="51"/>
            </a:xfrm>
            <a:prstGeom prst="ellipse">
              <a:avLst/>
            </a:prstGeom>
            <a:noFill/>
            <a:ln w="12700" algn="ctr">
              <a:solidFill>
                <a:srgbClr val="00FF00"/>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93" name="Line 191"/>
            <p:cNvSpPr>
              <a:spLocks noChangeAspect="1" noChangeShapeType="1"/>
            </p:cNvSpPr>
            <p:nvPr/>
          </p:nvSpPr>
          <p:spPr bwMode="auto">
            <a:xfrm>
              <a:off x="2129" y="1416"/>
              <a:ext cx="0" cy="36"/>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8194" name="Line 192"/>
            <p:cNvSpPr>
              <a:spLocks noChangeAspect="1" noChangeShapeType="1"/>
            </p:cNvSpPr>
            <p:nvPr/>
          </p:nvSpPr>
          <p:spPr bwMode="auto">
            <a:xfrm rot="5400000">
              <a:off x="2128" y="1416"/>
              <a:ext cx="0" cy="36"/>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8195" name="Line 193"/>
            <p:cNvSpPr>
              <a:spLocks noChangeAspect="1" noChangeShapeType="1"/>
            </p:cNvSpPr>
            <p:nvPr/>
          </p:nvSpPr>
          <p:spPr bwMode="auto">
            <a:xfrm rot="5400000">
              <a:off x="816" y="1423"/>
              <a:ext cx="0" cy="36"/>
            </a:xfrm>
            <a:prstGeom prst="line">
              <a:avLst/>
            </a:prstGeom>
            <a:noFill/>
            <a:ln w="12700">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8196" name="Oval 194"/>
            <p:cNvSpPr>
              <a:spLocks noChangeAspect="1" noChangeArrowheads="1"/>
            </p:cNvSpPr>
            <p:nvPr/>
          </p:nvSpPr>
          <p:spPr bwMode="auto">
            <a:xfrm>
              <a:off x="789" y="1416"/>
              <a:ext cx="51" cy="51"/>
            </a:xfrm>
            <a:prstGeom prst="ellipse">
              <a:avLst/>
            </a:prstGeom>
            <a:noFill/>
            <a:ln w="12700" algn="ctr">
              <a:solidFill>
                <a:srgbClr val="00FF00"/>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nvGrpSpPr>
            <p:cNvPr id="148197" name="Group 195"/>
            <p:cNvGrpSpPr>
              <a:grpSpLocks noChangeAspect="1"/>
            </p:cNvGrpSpPr>
            <p:nvPr/>
          </p:nvGrpSpPr>
          <p:grpSpPr bwMode="auto">
            <a:xfrm>
              <a:off x="898" y="1576"/>
              <a:ext cx="156" cy="28"/>
              <a:chOff x="1176" y="572"/>
              <a:chExt cx="748" cy="135"/>
            </a:xfrm>
          </p:grpSpPr>
          <p:sp>
            <p:nvSpPr>
              <p:cNvPr id="148217" name="Freeform 196"/>
              <p:cNvSpPr>
                <a:spLocks noChangeAspect="1"/>
              </p:cNvSpPr>
              <p:nvPr/>
            </p:nvSpPr>
            <p:spPr bwMode="auto">
              <a:xfrm>
                <a:off x="1176" y="580"/>
                <a:ext cx="92" cy="127"/>
              </a:xfrm>
              <a:custGeom>
                <a:avLst/>
                <a:gdLst>
                  <a:gd name="T0" fmla="*/ 0 w 442"/>
                  <a:gd name="T1" fmla="*/ 0 h 612"/>
                  <a:gd name="T2" fmla="*/ 0 w 442"/>
                  <a:gd name="T3" fmla="*/ 1 h 612"/>
                  <a:gd name="T4" fmla="*/ 0 w 442"/>
                  <a:gd name="T5" fmla="*/ 1 h 612"/>
                  <a:gd name="T6" fmla="*/ 1 w 442"/>
                  <a:gd name="T7" fmla="*/ 1 h 612"/>
                  <a:gd name="T8" fmla="*/ 1 w 442"/>
                  <a:gd name="T9" fmla="*/ 1 h 612"/>
                  <a:gd name="T10" fmla="*/ 0 w 442"/>
                  <a:gd name="T11" fmla="*/ 1 h 612"/>
                  <a:gd name="T12" fmla="*/ 0 w 442"/>
                  <a:gd name="T13" fmla="*/ 0 h 612"/>
                  <a:gd name="T14" fmla="*/ 0 w 442"/>
                  <a:gd name="T15" fmla="*/ 0 h 612"/>
                  <a:gd name="T16" fmla="*/ 1 w 442"/>
                  <a:gd name="T17" fmla="*/ 0 h 612"/>
                  <a:gd name="T18" fmla="*/ 1 w 442"/>
                  <a:gd name="T19" fmla="*/ 0 h 612"/>
                  <a:gd name="T20" fmla="*/ 0 w 442"/>
                  <a:gd name="T21" fmla="*/ 0 h 612"/>
                  <a:gd name="T22" fmla="*/ 0 w 442"/>
                  <a:gd name="T23" fmla="*/ 0 h 61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42"/>
                  <a:gd name="T37" fmla="*/ 0 h 612"/>
                  <a:gd name="T38" fmla="*/ 442 w 442"/>
                  <a:gd name="T39" fmla="*/ 612 h 61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42" h="612">
                    <a:moveTo>
                      <a:pt x="0" y="0"/>
                    </a:moveTo>
                    <a:lnTo>
                      <a:pt x="0" y="612"/>
                    </a:lnTo>
                    <a:lnTo>
                      <a:pt x="288" y="612"/>
                    </a:lnTo>
                    <a:cubicBezTo>
                      <a:pt x="356" y="602"/>
                      <a:pt x="386" y="589"/>
                      <a:pt x="408" y="552"/>
                    </a:cubicBezTo>
                    <a:cubicBezTo>
                      <a:pt x="430" y="515"/>
                      <a:pt x="442" y="433"/>
                      <a:pt x="420" y="390"/>
                    </a:cubicBezTo>
                    <a:cubicBezTo>
                      <a:pt x="398" y="347"/>
                      <a:pt x="346" y="311"/>
                      <a:pt x="276" y="294"/>
                    </a:cubicBezTo>
                    <a:lnTo>
                      <a:pt x="0" y="288"/>
                    </a:lnTo>
                    <a:lnTo>
                      <a:pt x="288" y="288"/>
                    </a:lnTo>
                    <a:cubicBezTo>
                      <a:pt x="355" y="269"/>
                      <a:pt x="387" y="213"/>
                      <a:pt x="402" y="174"/>
                    </a:cubicBezTo>
                    <a:cubicBezTo>
                      <a:pt x="417" y="135"/>
                      <a:pt x="403" y="83"/>
                      <a:pt x="378" y="54"/>
                    </a:cubicBezTo>
                    <a:cubicBezTo>
                      <a:pt x="353" y="25"/>
                      <a:pt x="315" y="9"/>
                      <a:pt x="252" y="0"/>
                    </a:cubicBezTo>
                    <a:lnTo>
                      <a:pt x="0" y="0"/>
                    </a:lnTo>
                    <a:close/>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218" name="Freeform 197"/>
              <p:cNvSpPr>
                <a:spLocks noChangeAspect="1"/>
              </p:cNvSpPr>
              <p:nvPr/>
            </p:nvSpPr>
            <p:spPr bwMode="auto">
              <a:xfrm>
                <a:off x="1311" y="583"/>
                <a:ext cx="92" cy="124"/>
              </a:xfrm>
              <a:custGeom>
                <a:avLst/>
                <a:gdLst>
                  <a:gd name="T0" fmla="*/ 3 w 285"/>
                  <a:gd name="T1" fmla="*/ 0 h 383"/>
                  <a:gd name="T2" fmla="*/ 3 w 285"/>
                  <a:gd name="T3" fmla="*/ 2 h 383"/>
                  <a:gd name="T4" fmla="*/ 3 w 285"/>
                  <a:gd name="T5" fmla="*/ 4 h 383"/>
                  <a:gd name="T6" fmla="*/ 2 w 285"/>
                  <a:gd name="T7" fmla="*/ 4 h 383"/>
                  <a:gd name="T8" fmla="*/ 0 w 285"/>
                  <a:gd name="T9" fmla="*/ 4 h 383"/>
                  <a:gd name="T10" fmla="*/ 0 w 285"/>
                  <a:gd name="T11" fmla="*/ 2 h 383"/>
                  <a:gd name="T12" fmla="*/ 0 w 285"/>
                  <a:gd name="T13" fmla="*/ 0 h 383"/>
                  <a:gd name="T14" fmla="*/ 0 60000 65536"/>
                  <a:gd name="T15" fmla="*/ 0 60000 65536"/>
                  <a:gd name="T16" fmla="*/ 0 60000 65536"/>
                  <a:gd name="T17" fmla="*/ 0 60000 65536"/>
                  <a:gd name="T18" fmla="*/ 0 60000 65536"/>
                  <a:gd name="T19" fmla="*/ 0 60000 65536"/>
                  <a:gd name="T20" fmla="*/ 0 60000 65536"/>
                  <a:gd name="T21" fmla="*/ 0 w 285"/>
                  <a:gd name="T22" fmla="*/ 0 h 383"/>
                  <a:gd name="T23" fmla="*/ 285 w 285"/>
                  <a:gd name="T24" fmla="*/ 383 h 38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85" h="383">
                    <a:moveTo>
                      <a:pt x="283" y="3"/>
                    </a:moveTo>
                    <a:cubicBezTo>
                      <a:pt x="283" y="37"/>
                      <a:pt x="285" y="147"/>
                      <a:pt x="279" y="203"/>
                    </a:cubicBezTo>
                    <a:cubicBezTo>
                      <a:pt x="273" y="259"/>
                      <a:pt x="272" y="309"/>
                      <a:pt x="247" y="339"/>
                    </a:cubicBezTo>
                    <a:cubicBezTo>
                      <a:pt x="222" y="369"/>
                      <a:pt x="167" y="383"/>
                      <a:pt x="130" y="382"/>
                    </a:cubicBezTo>
                    <a:cubicBezTo>
                      <a:pt x="93" y="381"/>
                      <a:pt x="48" y="356"/>
                      <a:pt x="27" y="330"/>
                    </a:cubicBezTo>
                    <a:cubicBezTo>
                      <a:pt x="6" y="303"/>
                      <a:pt x="8" y="276"/>
                      <a:pt x="4" y="221"/>
                    </a:cubicBezTo>
                    <a:cubicBezTo>
                      <a:pt x="0" y="167"/>
                      <a:pt x="4" y="37"/>
                      <a:pt x="4" y="0"/>
                    </a:cubicBez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8219" name="Group 198"/>
              <p:cNvGrpSpPr>
                <a:grpSpLocks noChangeAspect="1"/>
              </p:cNvGrpSpPr>
              <p:nvPr/>
            </p:nvGrpSpPr>
            <p:grpSpPr bwMode="auto">
              <a:xfrm>
                <a:off x="1571" y="580"/>
                <a:ext cx="80" cy="127"/>
                <a:chOff x="3653" y="1343"/>
                <a:chExt cx="384" cy="612"/>
              </a:xfrm>
            </p:grpSpPr>
            <p:sp>
              <p:nvSpPr>
                <p:cNvPr id="148227" name="Freeform 199"/>
                <p:cNvSpPr>
                  <a:spLocks noChangeAspect="1"/>
                </p:cNvSpPr>
                <p:nvPr/>
              </p:nvSpPr>
              <p:spPr bwMode="auto">
                <a:xfrm>
                  <a:off x="3653" y="1343"/>
                  <a:ext cx="384" cy="612"/>
                </a:xfrm>
                <a:custGeom>
                  <a:avLst/>
                  <a:gdLst>
                    <a:gd name="T0" fmla="*/ 384 w 384"/>
                    <a:gd name="T1" fmla="*/ 0 h 612"/>
                    <a:gd name="T2" fmla="*/ 0 w 384"/>
                    <a:gd name="T3" fmla="*/ 0 h 612"/>
                    <a:gd name="T4" fmla="*/ 0 w 384"/>
                    <a:gd name="T5" fmla="*/ 612 h 612"/>
                    <a:gd name="T6" fmla="*/ 0 60000 65536"/>
                    <a:gd name="T7" fmla="*/ 0 60000 65536"/>
                    <a:gd name="T8" fmla="*/ 0 60000 65536"/>
                    <a:gd name="T9" fmla="*/ 0 w 384"/>
                    <a:gd name="T10" fmla="*/ 0 h 612"/>
                    <a:gd name="T11" fmla="*/ 384 w 384"/>
                    <a:gd name="T12" fmla="*/ 612 h 612"/>
                  </a:gdLst>
                  <a:ahLst/>
                  <a:cxnLst>
                    <a:cxn ang="T6">
                      <a:pos x="T0" y="T1"/>
                    </a:cxn>
                    <a:cxn ang="T7">
                      <a:pos x="T2" y="T3"/>
                    </a:cxn>
                    <a:cxn ang="T8">
                      <a:pos x="T4" y="T5"/>
                    </a:cxn>
                  </a:cxnLst>
                  <a:rect l="T9" t="T10" r="T11" b="T12"/>
                  <a:pathLst>
                    <a:path w="384" h="612">
                      <a:moveTo>
                        <a:pt x="384" y="0"/>
                      </a:moveTo>
                      <a:lnTo>
                        <a:pt x="0" y="0"/>
                      </a:lnTo>
                      <a:lnTo>
                        <a:pt x="0" y="612"/>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228" name="Line 200"/>
                <p:cNvSpPr>
                  <a:spLocks noChangeAspect="1" noChangeShapeType="1"/>
                </p:cNvSpPr>
                <p:nvPr/>
              </p:nvSpPr>
              <p:spPr bwMode="auto">
                <a:xfrm flipH="1">
                  <a:off x="3653" y="1637"/>
                  <a:ext cx="32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48220" name="Group 201"/>
              <p:cNvGrpSpPr>
                <a:grpSpLocks noChangeAspect="1"/>
              </p:cNvGrpSpPr>
              <p:nvPr/>
            </p:nvGrpSpPr>
            <p:grpSpPr bwMode="auto">
              <a:xfrm>
                <a:off x="1447" y="580"/>
                <a:ext cx="80" cy="127"/>
                <a:chOff x="3653" y="1343"/>
                <a:chExt cx="384" cy="612"/>
              </a:xfrm>
            </p:grpSpPr>
            <p:sp>
              <p:nvSpPr>
                <p:cNvPr id="148225" name="Freeform 202"/>
                <p:cNvSpPr>
                  <a:spLocks noChangeAspect="1"/>
                </p:cNvSpPr>
                <p:nvPr/>
              </p:nvSpPr>
              <p:spPr bwMode="auto">
                <a:xfrm>
                  <a:off x="3653" y="1343"/>
                  <a:ext cx="384" cy="612"/>
                </a:xfrm>
                <a:custGeom>
                  <a:avLst/>
                  <a:gdLst>
                    <a:gd name="T0" fmla="*/ 384 w 384"/>
                    <a:gd name="T1" fmla="*/ 0 h 612"/>
                    <a:gd name="T2" fmla="*/ 0 w 384"/>
                    <a:gd name="T3" fmla="*/ 0 h 612"/>
                    <a:gd name="T4" fmla="*/ 0 w 384"/>
                    <a:gd name="T5" fmla="*/ 612 h 612"/>
                    <a:gd name="T6" fmla="*/ 0 60000 65536"/>
                    <a:gd name="T7" fmla="*/ 0 60000 65536"/>
                    <a:gd name="T8" fmla="*/ 0 60000 65536"/>
                    <a:gd name="T9" fmla="*/ 0 w 384"/>
                    <a:gd name="T10" fmla="*/ 0 h 612"/>
                    <a:gd name="T11" fmla="*/ 384 w 384"/>
                    <a:gd name="T12" fmla="*/ 612 h 612"/>
                  </a:gdLst>
                  <a:ahLst/>
                  <a:cxnLst>
                    <a:cxn ang="T6">
                      <a:pos x="T0" y="T1"/>
                    </a:cxn>
                    <a:cxn ang="T7">
                      <a:pos x="T2" y="T3"/>
                    </a:cxn>
                    <a:cxn ang="T8">
                      <a:pos x="T4" y="T5"/>
                    </a:cxn>
                  </a:cxnLst>
                  <a:rect l="T9" t="T10" r="T11" b="T12"/>
                  <a:pathLst>
                    <a:path w="384" h="612">
                      <a:moveTo>
                        <a:pt x="384" y="0"/>
                      </a:moveTo>
                      <a:lnTo>
                        <a:pt x="0" y="0"/>
                      </a:lnTo>
                      <a:lnTo>
                        <a:pt x="0" y="612"/>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226" name="Line 203"/>
                <p:cNvSpPr>
                  <a:spLocks noChangeAspect="1" noChangeShapeType="1"/>
                </p:cNvSpPr>
                <p:nvPr/>
              </p:nvSpPr>
              <p:spPr bwMode="auto">
                <a:xfrm flipH="1">
                  <a:off x="3653" y="1637"/>
                  <a:ext cx="32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48221" name="Group 204"/>
              <p:cNvGrpSpPr>
                <a:grpSpLocks noChangeAspect="1"/>
              </p:cNvGrpSpPr>
              <p:nvPr/>
            </p:nvGrpSpPr>
            <p:grpSpPr bwMode="auto">
              <a:xfrm>
                <a:off x="1695" y="580"/>
                <a:ext cx="87" cy="127"/>
                <a:chOff x="3017" y="1343"/>
                <a:chExt cx="420" cy="612"/>
              </a:xfrm>
            </p:grpSpPr>
            <p:sp>
              <p:nvSpPr>
                <p:cNvPr id="148223" name="Freeform 205"/>
                <p:cNvSpPr>
                  <a:spLocks noChangeAspect="1"/>
                </p:cNvSpPr>
                <p:nvPr/>
              </p:nvSpPr>
              <p:spPr bwMode="auto">
                <a:xfrm>
                  <a:off x="3017" y="1343"/>
                  <a:ext cx="420" cy="612"/>
                </a:xfrm>
                <a:custGeom>
                  <a:avLst/>
                  <a:gdLst>
                    <a:gd name="T0" fmla="*/ 420 w 420"/>
                    <a:gd name="T1" fmla="*/ 606 h 612"/>
                    <a:gd name="T2" fmla="*/ 0 w 420"/>
                    <a:gd name="T3" fmla="*/ 612 h 612"/>
                    <a:gd name="T4" fmla="*/ 6 w 420"/>
                    <a:gd name="T5" fmla="*/ 0 h 612"/>
                    <a:gd name="T6" fmla="*/ 402 w 420"/>
                    <a:gd name="T7" fmla="*/ 0 h 612"/>
                    <a:gd name="T8" fmla="*/ 0 60000 65536"/>
                    <a:gd name="T9" fmla="*/ 0 60000 65536"/>
                    <a:gd name="T10" fmla="*/ 0 60000 65536"/>
                    <a:gd name="T11" fmla="*/ 0 60000 65536"/>
                    <a:gd name="T12" fmla="*/ 0 w 420"/>
                    <a:gd name="T13" fmla="*/ 0 h 612"/>
                    <a:gd name="T14" fmla="*/ 420 w 420"/>
                    <a:gd name="T15" fmla="*/ 612 h 612"/>
                  </a:gdLst>
                  <a:ahLst/>
                  <a:cxnLst>
                    <a:cxn ang="T8">
                      <a:pos x="T0" y="T1"/>
                    </a:cxn>
                    <a:cxn ang="T9">
                      <a:pos x="T2" y="T3"/>
                    </a:cxn>
                    <a:cxn ang="T10">
                      <a:pos x="T4" y="T5"/>
                    </a:cxn>
                    <a:cxn ang="T11">
                      <a:pos x="T6" y="T7"/>
                    </a:cxn>
                  </a:cxnLst>
                  <a:rect l="T12" t="T13" r="T14" b="T15"/>
                  <a:pathLst>
                    <a:path w="420" h="612">
                      <a:moveTo>
                        <a:pt x="420" y="606"/>
                      </a:moveTo>
                      <a:lnTo>
                        <a:pt x="0" y="612"/>
                      </a:lnTo>
                      <a:lnTo>
                        <a:pt x="6" y="0"/>
                      </a:lnTo>
                      <a:lnTo>
                        <a:pt x="402" y="0"/>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224" name="Line 206"/>
                <p:cNvSpPr>
                  <a:spLocks noChangeAspect="1" noChangeShapeType="1"/>
                </p:cNvSpPr>
                <p:nvPr/>
              </p:nvSpPr>
              <p:spPr bwMode="auto">
                <a:xfrm>
                  <a:off x="3017" y="1637"/>
                  <a:ext cx="37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48222" name="Freeform 207"/>
              <p:cNvSpPr>
                <a:spLocks noChangeAspect="1"/>
              </p:cNvSpPr>
              <p:nvPr/>
            </p:nvSpPr>
            <p:spPr bwMode="auto">
              <a:xfrm>
                <a:off x="1826" y="572"/>
                <a:ext cx="98" cy="135"/>
              </a:xfrm>
              <a:custGeom>
                <a:avLst/>
                <a:gdLst>
                  <a:gd name="T0" fmla="*/ 0 w 468"/>
                  <a:gd name="T1" fmla="*/ 1 h 642"/>
                  <a:gd name="T2" fmla="*/ 0 w 468"/>
                  <a:gd name="T3" fmla="*/ 0 h 642"/>
                  <a:gd name="T4" fmla="*/ 0 w 468"/>
                  <a:gd name="T5" fmla="*/ 0 h 642"/>
                  <a:gd name="T6" fmla="*/ 1 w 468"/>
                  <a:gd name="T7" fmla="*/ 0 h 642"/>
                  <a:gd name="T8" fmla="*/ 1 w 468"/>
                  <a:gd name="T9" fmla="*/ 0 h 642"/>
                  <a:gd name="T10" fmla="*/ 0 w 468"/>
                  <a:gd name="T11" fmla="*/ 1 h 642"/>
                  <a:gd name="T12" fmla="*/ 0 w 468"/>
                  <a:gd name="T13" fmla="*/ 1 h 642"/>
                  <a:gd name="T14" fmla="*/ 0 w 468"/>
                  <a:gd name="T15" fmla="*/ 1 h 642"/>
                  <a:gd name="T16" fmla="*/ 1 w 468"/>
                  <a:gd name="T17" fmla="*/ 1 h 6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68"/>
                  <a:gd name="T28" fmla="*/ 0 h 642"/>
                  <a:gd name="T29" fmla="*/ 468 w 468"/>
                  <a:gd name="T30" fmla="*/ 642 h 64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68" h="642">
                    <a:moveTo>
                      <a:pt x="6" y="636"/>
                    </a:moveTo>
                    <a:lnTo>
                      <a:pt x="0" y="0"/>
                    </a:lnTo>
                    <a:lnTo>
                      <a:pt x="234" y="0"/>
                    </a:lnTo>
                    <a:cubicBezTo>
                      <a:pt x="303" y="11"/>
                      <a:pt x="386" y="26"/>
                      <a:pt x="414" y="66"/>
                    </a:cubicBezTo>
                    <a:cubicBezTo>
                      <a:pt x="442" y="106"/>
                      <a:pt x="436" y="200"/>
                      <a:pt x="402" y="240"/>
                    </a:cubicBezTo>
                    <a:cubicBezTo>
                      <a:pt x="368" y="280"/>
                      <a:pt x="277" y="295"/>
                      <a:pt x="210" y="306"/>
                    </a:cubicBezTo>
                    <a:lnTo>
                      <a:pt x="0" y="306"/>
                    </a:lnTo>
                    <a:lnTo>
                      <a:pt x="216" y="312"/>
                    </a:lnTo>
                    <a:cubicBezTo>
                      <a:pt x="294" y="368"/>
                      <a:pt x="426" y="587"/>
                      <a:pt x="468" y="642"/>
                    </a:cubicBez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148198" name="Group 208"/>
            <p:cNvGrpSpPr>
              <a:grpSpLocks noChangeAspect="1"/>
            </p:cNvGrpSpPr>
            <p:nvPr/>
          </p:nvGrpSpPr>
          <p:grpSpPr bwMode="auto">
            <a:xfrm>
              <a:off x="1501" y="1646"/>
              <a:ext cx="306" cy="28"/>
              <a:chOff x="1133" y="211"/>
              <a:chExt cx="1487" cy="135"/>
            </a:xfrm>
          </p:grpSpPr>
          <p:grpSp>
            <p:nvGrpSpPr>
              <p:cNvPr id="148199" name="Group 209"/>
              <p:cNvGrpSpPr>
                <a:grpSpLocks noChangeAspect="1"/>
              </p:cNvGrpSpPr>
              <p:nvPr/>
            </p:nvGrpSpPr>
            <p:grpSpPr bwMode="auto">
              <a:xfrm>
                <a:off x="1133" y="219"/>
                <a:ext cx="99" cy="127"/>
                <a:chOff x="263" y="1301"/>
                <a:chExt cx="540" cy="690"/>
              </a:xfrm>
            </p:grpSpPr>
            <p:sp>
              <p:nvSpPr>
                <p:cNvPr id="148215" name="Freeform 210"/>
                <p:cNvSpPr>
                  <a:spLocks noChangeAspect="1"/>
                </p:cNvSpPr>
                <p:nvPr/>
              </p:nvSpPr>
              <p:spPr bwMode="auto">
                <a:xfrm>
                  <a:off x="263" y="1301"/>
                  <a:ext cx="540" cy="690"/>
                </a:xfrm>
                <a:custGeom>
                  <a:avLst/>
                  <a:gdLst>
                    <a:gd name="T0" fmla="*/ 0 w 540"/>
                    <a:gd name="T1" fmla="*/ 690 h 690"/>
                    <a:gd name="T2" fmla="*/ 264 w 540"/>
                    <a:gd name="T3" fmla="*/ 0 h 690"/>
                    <a:gd name="T4" fmla="*/ 540 w 540"/>
                    <a:gd name="T5" fmla="*/ 678 h 690"/>
                    <a:gd name="T6" fmla="*/ 0 60000 65536"/>
                    <a:gd name="T7" fmla="*/ 0 60000 65536"/>
                    <a:gd name="T8" fmla="*/ 0 60000 65536"/>
                    <a:gd name="T9" fmla="*/ 0 w 540"/>
                    <a:gd name="T10" fmla="*/ 0 h 690"/>
                    <a:gd name="T11" fmla="*/ 540 w 540"/>
                    <a:gd name="T12" fmla="*/ 690 h 690"/>
                  </a:gdLst>
                  <a:ahLst/>
                  <a:cxnLst>
                    <a:cxn ang="T6">
                      <a:pos x="T0" y="T1"/>
                    </a:cxn>
                    <a:cxn ang="T7">
                      <a:pos x="T2" y="T3"/>
                    </a:cxn>
                    <a:cxn ang="T8">
                      <a:pos x="T4" y="T5"/>
                    </a:cxn>
                  </a:cxnLst>
                  <a:rect l="T9" t="T10" r="T11" b="T12"/>
                  <a:pathLst>
                    <a:path w="540" h="690">
                      <a:moveTo>
                        <a:pt x="0" y="690"/>
                      </a:moveTo>
                      <a:lnTo>
                        <a:pt x="264" y="0"/>
                      </a:lnTo>
                      <a:lnTo>
                        <a:pt x="540" y="678"/>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216" name="Line 211"/>
                <p:cNvSpPr>
                  <a:spLocks noChangeAspect="1" noChangeShapeType="1"/>
                </p:cNvSpPr>
                <p:nvPr/>
              </p:nvSpPr>
              <p:spPr bwMode="auto">
                <a:xfrm>
                  <a:off x="359" y="1727"/>
                  <a:ext cx="336"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48200" name="Freeform 212"/>
              <p:cNvSpPr>
                <a:spLocks noChangeAspect="1"/>
              </p:cNvSpPr>
              <p:nvPr/>
            </p:nvSpPr>
            <p:spPr bwMode="auto">
              <a:xfrm>
                <a:off x="1273" y="219"/>
                <a:ext cx="111" cy="127"/>
              </a:xfrm>
              <a:custGeom>
                <a:avLst/>
                <a:gdLst>
                  <a:gd name="T0" fmla="*/ 1 w 562"/>
                  <a:gd name="T1" fmla="*/ 0 h 641"/>
                  <a:gd name="T2" fmla="*/ 1 w 562"/>
                  <a:gd name="T3" fmla="*/ 0 h 641"/>
                  <a:gd name="T4" fmla="*/ 0 w 562"/>
                  <a:gd name="T5" fmla="*/ 0 h 641"/>
                  <a:gd name="T6" fmla="*/ 0 w 562"/>
                  <a:gd name="T7" fmla="*/ 0 h 641"/>
                  <a:gd name="T8" fmla="*/ 0 w 562"/>
                  <a:gd name="T9" fmla="*/ 0 h 641"/>
                  <a:gd name="T10" fmla="*/ 0 w 562"/>
                  <a:gd name="T11" fmla="*/ 1 h 641"/>
                  <a:gd name="T12" fmla="*/ 0 w 562"/>
                  <a:gd name="T13" fmla="*/ 1 h 641"/>
                  <a:gd name="T14" fmla="*/ 1 w 562"/>
                  <a:gd name="T15" fmla="*/ 1 h 641"/>
                  <a:gd name="T16" fmla="*/ 1 w 562"/>
                  <a:gd name="T17" fmla="*/ 1 h 641"/>
                  <a:gd name="T18" fmla="*/ 1 w 562"/>
                  <a:gd name="T19" fmla="*/ 1 h 641"/>
                  <a:gd name="T20" fmla="*/ 1 w 562"/>
                  <a:gd name="T21" fmla="*/ 1 h 64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62"/>
                  <a:gd name="T34" fmla="*/ 0 h 641"/>
                  <a:gd name="T35" fmla="*/ 562 w 562"/>
                  <a:gd name="T36" fmla="*/ 641 h 64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62" h="641">
                    <a:moveTo>
                      <a:pt x="550" y="166"/>
                    </a:moveTo>
                    <a:cubicBezTo>
                      <a:pt x="538" y="147"/>
                      <a:pt x="519" y="79"/>
                      <a:pt x="478" y="52"/>
                    </a:cubicBezTo>
                    <a:cubicBezTo>
                      <a:pt x="437" y="25"/>
                      <a:pt x="367" y="0"/>
                      <a:pt x="304" y="4"/>
                    </a:cubicBezTo>
                    <a:cubicBezTo>
                      <a:pt x="241" y="8"/>
                      <a:pt x="149" y="28"/>
                      <a:pt x="100" y="76"/>
                    </a:cubicBezTo>
                    <a:cubicBezTo>
                      <a:pt x="51" y="124"/>
                      <a:pt x="20" y="222"/>
                      <a:pt x="10" y="292"/>
                    </a:cubicBezTo>
                    <a:cubicBezTo>
                      <a:pt x="0" y="362"/>
                      <a:pt x="10" y="442"/>
                      <a:pt x="40" y="496"/>
                    </a:cubicBezTo>
                    <a:cubicBezTo>
                      <a:pt x="70" y="550"/>
                      <a:pt x="126" y="594"/>
                      <a:pt x="190" y="616"/>
                    </a:cubicBezTo>
                    <a:cubicBezTo>
                      <a:pt x="254" y="638"/>
                      <a:pt x="362" y="641"/>
                      <a:pt x="424" y="628"/>
                    </a:cubicBezTo>
                    <a:cubicBezTo>
                      <a:pt x="486" y="615"/>
                      <a:pt x="540" y="584"/>
                      <a:pt x="562" y="538"/>
                    </a:cubicBezTo>
                    <a:lnTo>
                      <a:pt x="556" y="352"/>
                    </a:lnTo>
                    <a:lnTo>
                      <a:pt x="322" y="352"/>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8201" name="Group 213"/>
              <p:cNvGrpSpPr>
                <a:grpSpLocks noChangeAspect="1"/>
              </p:cNvGrpSpPr>
              <p:nvPr/>
            </p:nvGrpSpPr>
            <p:grpSpPr bwMode="auto">
              <a:xfrm>
                <a:off x="1426" y="219"/>
                <a:ext cx="99" cy="127"/>
                <a:chOff x="263" y="1301"/>
                <a:chExt cx="540" cy="690"/>
              </a:xfrm>
            </p:grpSpPr>
            <p:sp>
              <p:nvSpPr>
                <p:cNvPr id="148213" name="Freeform 214"/>
                <p:cNvSpPr>
                  <a:spLocks noChangeAspect="1"/>
                </p:cNvSpPr>
                <p:nvPr/>
              </p:nvSpPr>
              <p:spPr bwMode="auto">
                <a:xfrm>
                  <a:off x="263" y="1301"/>
                  <a:ext cx="540" cy="690"/>
                </a:xfrm>
                <a:custGeom>
                  <a:avLst/>
                  <a:gdLst>
                    <a:gd name="T0" fmla="*/ 0 w 540"/>
                    <a:gd name="T1" fmla="*/ 690 h 690"/>
                    <a:gd name="T2" fmla="*/ 264 w 540"/>
                    <a:gd name="T3" fmla="*/ 0 h 690"/>
                    <a:gd name="T4" fmla="*/ 540 w 540"/>
                    <a:gd name="T5" fmla="*/ 678 h 690"/>
                    <a:gd name="T6" fmla="*/ 0 60000 65536"/>
                    <a:gd name="T7" fmla="*/ 0 60000 65536"/>
                    <a:gd name="T8" fmla="*/ 0 60000 65536"/>
                    <a:gd name="T9" fmla="*/ 0 w 540"/>
                    <a:gd name="T10" fmla="*/ 0 h 690"/>
                    <a:gd name="T11" fmla="*/ 540 w 540"/>
                    <a:gd name="T12" fmla="*/ 690 h 690"/>
                  </a:gdLst>
                  <a:ahLst/>
                  <a:cxnLst>
                    <a:cxn ang="T6">
                      <a:pos x="T0" y="T1"/>
                    </a:cxn>
                    <a:cxn ang="T7">
                      <a:pos x="T2" y="T3"/>
                    </a:cxn>
                    <a:cxn ang="T8">
                      <a:pos x="T4" y="T5"/>
                    </a:cxn>
                  </a:cxnLst>
                  <a:rect l="T9" t="T10" r="T11" b="T12"/>
                  <a:pathLst>
                    <a:path w="540" h="690">
                      <a:moveTo>
                        <a:pt x="0" y="690"/>
                      </a:moveTo>
                      <a:lnTo>
                        <a:pt x="264" y="0"/>
                      </a:lnTo>
                      <a:lnTo>
                        <a:pt x="540" y="678"/>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214" name="Line 215"/>
                <p:cNvSpPr>
                  <a:spLocks noChangeAspect="1" noChangeShapeType="1"/>
                </p:cNvSpPr>
                <p:nvPr/>
              </p:nvSpPr>
              <p:spPr bwMode="auto">
                <a:xfrm>
                  <a:off x="359" y="1727"/>
                  <a:ext cx="336"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48202" name="Freeform 216"/>
              <p:cNvSpPr>
                <a:spLocks noChangeAspect="1"/>
              </p:cNvSpPr>
              <p:nvPr/>
            </p:nvSpPr>
            <p:spPr bwMode="auto">
              <a:xfrm>
                <a:off x="1567" y="211"/>
                <a:ext cx="98" cy="135"/>
              </a:xfrm>
              <a:custGeom>
                <a:avLst/>
                <a:gdLst>
                  <a:gd name="T0" fmla="*/ 0 w 468"/>
                  <a:gd name="T1" fmla="*/ 1 h 642"/>
                  <a:gd name="T2" fmla="*/ 0 w 468"/>
                  <a:gd name="T3" fmla="*/ 0 h 642"/>
                  <a:gd name="T4" fmla="*/ 0 w 468"/>
                  <a:gd name="T5" fmla="*/ 0 h 642"/>
                  <a:gd name="T6" fmla="*/ 1 w 468"/>
                  <a:gd name="T7" fmla="*/ 0 h 642"/>
                  <a:gd name="T8" fmla="*/ 1 w 468"/>
                  <a:gd name="T9" fmla="*/ 0 h 642"/>
                  <a:gd name="T10" fmla="*/ 0 w 468"/>
                  <a:gd name="T11" fmla="*/ 1 h 642"/>
                  <a:gd name="T12" fmla="*/ 0 w 468"/>
                  <a:gd name="T13" fmla="*/ 1 h 642"/>
                  <a:gd name="T14" fmla="*/ 0 w 468"/>
                  <a:gd name="T15" fmla="*/ 1 h 642"/>
                  <a:gd name="T16" fmla="*/ 1 w 468"/>
                  <a:gd name="T17" fmla="*/ 1 h 6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68"/>
                  <a:gd name="T28" fmla="*/ 0 h 642"/>
                  <a:gd name="T29" fmla="*/ 468 w 468"/>
                  <a:gd name="T30" fmla="*/ 642 h 64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68" h="642">
                    <a:moveTo>
                      <a:pt x="6" y="636"/>
                    </a:moveTo>
                    <a:lnTo>
                      <a:pt x="0" y="0"/>
                    </a:lnTo>
                    <a:lnTo>
                      <a:pt x="234" y="0"/>
                    </a:lnTo>
                    <a:cubicBezTo>
                      <a:pt x="303" y="11"/>
                      <a:pt x="386" y="26"/>
                      <a:pt x="414" y="66"/>
                    </a:cubicBezTo>
                    <a:cubicBezTo>
                      <a:pt x="442" y="106"/>
                      <a:pt x="436" y="200"/>
                      <a:pt x="402" y="240"/>
                    </a:cubicBezTo>
                    <a:cubicBezTo>
                      <a:pt x="368" y="280"/>
                      <a:pt x="277" y="295"/>
                      <a:pt x="210" y="306"/>
                    </a:cubicBezTo>
                    <a:lnTo>
                      <a:pt x="0" y="306"/>
                    </a:lnTo>
                    <a:lnTo>
                      <a:pt x="216" y="312"/>
                    </a:lnTo>
                    <a:cubicBezTo>
                      <a:pt x="294" y="368"/>
                      <a:pt x="426" y="587"/>
                      <a:pt x="468" y="642"/>
                    </a:cubicBez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203" name="Freeform 217"/>
              <p:cNvSpPr>
                <a:spLocks noChangeAspect="1"/>
              </p:cNvSpPr>
              <p:nvPr/>
            </p:nvSpPr>
            <p:spPr bwMode="auto">
              <a:xfrm>
                <a:off x="1706" y="215"/>
                <a:ext cx="109" cy="131"/>
              </a:xfrm>
              <a:custGeom>
                <a:avLst/>
                <a:gdLst>
                  <a:gd name="T0" fmla="*/ 0 w 551"/>
                  <a:gd name="T1" fmla="*/ 0 h 660"/>
                  <a:gd name="T2" fmla="*/ 0 w 551"/>
                  <a:gd name="T3" fmla="*/ 0 h 660"/>
                  <a:gd name="T4" fmla="*/ 0 w 551"/>
                  <a:gd name="T5" fmla="*/ 1 h 660"/>
                  <a:gd name="T6" fmla="*/ 0 w 551"/>
                  <a:gd name="T7" fmla="*/ 1 h 660"/>
                  <a:gd name="T8" fmla="*/ 1 w 551"/>
                  <a:gd name="T9" fmla="*/ 1 h 660"/>
                  <a:gd name="T10" fmla="*/ 1 w 551"/>
                  <a:gd name="T11" fmla="*/ 1 h 660"/>
                  <a:gd name="T12" fmla="*/ 1 w 551"/>
                  <a:gd name="T13" fmla="*/ 0 h 660"/>
                  <a:gd name="T14" fmla="*/ 1 w 551"/>
                  <a:gd name="T15" fmla="*/ 0 h 660"/>
                  <a:gd name="T16" fmla="*/ 0 w 551"/>
                  <a:gd name="T17" fmla="*/ 0 h 66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51"/>
                  <a:gd name="T28" fmla="*/ 0 h 660"/>
                  <a:gd name="T29" fmla="*/ 551 w 551"/>
                  <a:gd name="T30" fmla="*/ 660 h 66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51" h="660">
                    <a:moveTo>
                      <a:pt x="166" y="26"/>
                    </a:moveTo>
                    <a:cubicBezTo>
                      <a:pt x="110" y="58"/>
                      <a:pt x="44" y="142"/>
                      <a:pt x="22" y="218"/>
                    </a:cubicBezTo>
                    <a:cubicBezTo>
                      <a:pt x="0" y="294"/>
                      <a:pt x="9" y="413"/>
                      <a:pt x="34" y="482"/>
                    </a:cubicBezTo>
                    <a:cubicBezTo>
                      <a:pt x="59" y="551"/>
                      <a:pt x="116" y="607"/>
                      <a:pt x="172" y="632"/>
                    </a:cubicBezTo>
                    <a:cubicBezTo>
                      <a:pt x="228" y="657"/>
                      <a:pt x="311" y="660"/>
                      <a:pt x="370" y="632"/>
                    </a:cubicBezTo>
                    <a:cubicBezTo>
                      <a:pt x="429" y="604"/>
                      <a:pt x="501" y="539"/>
                      <a:pt x="526" y="464"/>
                    </a:cubicBezTo>
                    <a:cubicBezTo>
                      <a:pt x="551" y="389"/>
                      <a:pt x="547" y="255"/>
                      <a:pt x="520" y="182"/>
                    </a:cubicBezTo>
                    <a:cubicBezTo>
                      <a:pt x="493" y="109"/>
                      <a:pt x="423" y="52"/>
                      <a:pt x="364" y="26"/>
                    </a:cubicBezTo>
                    <a:cubicBezTo>
                      <a:pt x="305" y="0"/>
                      <a:pt x="207" y="26"/>
                      <a:pt x="166" y="26"/>
                    </a:cubicBezTo>
                    <a:close/>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204" name="Freeform 218"/>
              <p:cNvSpPr>
                <a:spLocks noChangeAspect="1"/>
              </p:cNvSpPr>
              <p:nvPr/>
            </p:nvSpPr>
            <p:spPr bwMode="auto">
              <a:xfrm>
                <a:off x="1857" y="213"/>
                <a:ext cx="98" cy="133"/>
              </a:xfrm>
              <a:custGeom>
                <a:avLst/>
                <a:gdLst>
                  <a:gd name="T0" fmla="*/ 1 w 464"/>
                  <a:gd name="T1" fmla="*/ 0 h 632"/>
                  <a:gd name="T2" fmla="*/ 1 w 464"/>
                  <a:gd name="T3" fmla="*/ 0 h 632"/>
                  <a:gd name="T4" fmla="*/ 0 w 464"/>
                  <a:gd name="T5" fmla="*/ 0 h 632"/>
                  <a:gd name="T6" fmla="*/ 0 w 464"/>
                  <a:gd name="T7" fmla="*/ 0 h 632"/>
                  <a:gd name="T8" fmla="*/ 0 w 464"/>
                  <a:gd name="T9" fmla="*/ 1 h 632"/>
                  <a:gd name="T10" fmla="*/ 1 w 464"/>
                  <a:gd name="T11" fmla="*/ 1 h 632"/>
                  <a:gd name="T12" fmla="*/ 1 w 464"/>
                  <a:gd name="T13" fmla="*/ 1 h 632"/>
                  <a:gd name="T14" fmla="*/ 0 w 464"/>
                  <a:gd name="T15" fmla="*/ 1 h 632"/>
                  <a:gd name="T16" fmla="*/ 0 w 464"/>
                  <a:gd name="T17" fmla="*/ 1 h 632"/>
                  <a:gd name="T18" fmla="*/ 0 w 464"/>
                  <a:gd name="T19" fmla="*/ 1 h 63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64"/>
                  <a:gd name="T31" fmla="*/ 0 h 632"/>
                  <a:gd name="T32" fmla="*/ 464 w 464"/>
                  <a:gd name="T33" fmla="*/ 632 h 63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64" h="632">
                    <a:moveTo>
                      <a:pt x="414" y="178"/>
                    </a:moveTo>
                    <a:cubicBezTo>
                      <a:pt x="403" y="157"/>
                      <a:pt x="387" y="80"/>
                      <a:pt x="348" y="52"/>
                    </a:cubicBezTo>
                    <a:cubicBezTo>
                      <a:pt x="309" y="24"/>
                      <a:pt x="233" y="0"/>
                      <a:pt x="180" y="10"/>
                    </a:cubicBezTo>
                    <a:cubicBezTo>
                      <a:pt x="127" y="20"/>
                      <a:pt x="47" y="69"/>
                      <a:pt x="30" y="112"/>
                    </a:cubicBezTo>
                    <a:cubicBezTo>
                      <a:pt x="13" y="155"/>
                      <a:pt x="15" y="223"/>
                      <a:pt x="78" y="268"/>
                    </a:cubicBezTo>
                    <a:cubicBezTo>
                      <a:pt x="141" y="313"/>
                      <a:pt x="352" y="333"/>
                      <a:pt x="408" y="382"/>
                    </a:cubicBezTo>
                    <a:cubicBezTo>
                      <a:pt x="464" y="431"/>
                      <a:pt x="440" y="521"/>
                      <a:pt x="414" y="562"/>
                    </a:cubicBezTo>
                    <a:cubicBezTo>
                      <a:pt x="388" y="603"/>
                      <a:pt x="311" y="624"/>
                      <a:pt x="252" y="628"/>
                    </a:cubicBezTo>
                    <a:cubicBezTo>
                      <a:pt x="193" y="632"/>
                      <a:pt x="102" y="615"/>
                      <a:pt x="60" y="586"/>
                    </a:cubicBezTo>
                    <a:cubicBezTo>
                      <a:pt x="18" y="557"/>
                      <a:pt x="12" y="481"/>
                      <a:pt x="0" y="454"/>
                    </a:cubicBez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8205" name="Group 219"/>
              <p:cNvGrpSpPr>
                <a:grpSpLocks noChangeAspect="1"/>
              </p:cNvGrpSpPr>
              <p:nvPr/>
            </p:nvGrpSpPr>
            <p:grpSpPr bwMode="auto">
              <a:xfrm>
                <a:off x="1997" y="219"/>
                <a:ext cx="87" cy="127"/>
                <a:chOff x="3017" y="1343"/>
                <a:chExt cx="420" cy="612"/>
              </a:xfrm>
            </p:grpSpPr>
            <p:sp>
              <p:nvSpPr>
                <p:cNvPr id="148211" name="Freeform 220"/>
                <p:cNvSpPr>
                  <a:spLocks noChangeAspect="1"/>
                </p:cNvSpPr>
                <p:nvPr/>
              </p:nvSpPr>
              <p:spPr bwMode="auto">
                <a:xfrm>
                  <a:off x="3017" y="1343"/>
                  <a:ext cx="420" cy="612"/>
                </a:xfrm>
                <a:custGeom>
                  <a:avLst/>
                  <a:gdLst>
                    <a:gd name="T0" fmla="*/ 420 w 420"/>
                    <a:gd name="T1" fmla="*/ 606 h 612"/>
                    <a:gd name="T2" fmla="*/ 0 w 420"/>
                    <a:gd name="T3" fmla="*/ 612 h 612"/>
                    <a:gd name="T4" fmla="*/ 6 w 420"/>
                    <a:gd name="T5" fmla="*/ 0 h 612"/>
                    <a:gd name="T6" fmla="*/ 402 w 420"/>
                    <a:gd name="T7" fmla="*/ 0 h 612"/>
                    <a:gd name="T8" fmla="*/ 0 60000 65536"/>
                    <a:gd name="T9" fmla="*/ 0 60000 65536"/>
                    <a:gd name="T10" fmla="*/ 0 60000 65536"/>
                    <a:gd name="T11" fmla="*/ 0 60000 65536"/>
                    <a:gd name="T12" fmla="*/ 0 w 420"/>
                    <a:gd name="T13" fmla="*/ 0 h 612"/>
                    <a:gd name="T14" fmla="*/ 420 w 420"/>
                    <a:gd name="T15" fmla="*/ 612 h 612"/>
                  </a:gdLst>
                  <a:ahLst/>
                  <a:cxnLst>
                    <a:cxn ang="T8">
                      <a:pos x="T0" y="T1"/>
                    </a:cxn>
                    <a:cxn ang="T9">
                      <a:pos x="T2" y="T3"/>
                    </a:cxn>
                    <a:cxn ang="T10">
                      <a:pos x="T4" y="T5"/>
                    </a:cxn>
                    <a:cxn ang="T11">
                      <a:pos x="T6" y="T7"/>
                    </a:cxn>
                  </a:cxnLst>
                  <a:rect l="T12" t="T13" r="T14" b="T15"/>
                  <a:pathLst>
                    <a:path w="420" h="612">
                      <a:moveTo>
                        <a:pt x="420" y="606"/>
                      </a:moveTo>
                      <a:lnTo>
                        <a:pt x="0" y="612"/>
                      </a:lnTo>
                      <a:lnTo>
                        <a:pt x="6" y="0"/>
                      </a:lnTo>
                      <a:lnTo>
                        <a:pt x="402" y="0"/>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212" name="Line 221"/>
                <p:cNvSpPr>
                  <a:spLocks noChangeAspect="1" noChangeShapeType="1"/>
                </p:cNvSpPr>
                <p:nvPr/>
              </p:nvSpPr>
              <p:spPr bwMode="auto">
                <a:xfrm>
                  <a:off x="3017" y="1637"/>
                  <a:ext cx="37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48206" name="Freeform 222"/>
              <p:cNvSpPr>
                <a:spLocks noChangeAspect="1"/>
              </p:cNvSpPr>
              <p:nvPr/>
            </p:nvSpPr>
            <p:spPr bwMode="auto">
              <a:xfrm>
                <a:off x="2259" y="219"/>
                <a:ext cx="111" cy="127"/>
              </a:xfrm>
              <a:custGeom>
                <a:avLst/>
                <a:gdLst>
                  <a:gd name="T0" fmla="*/ 1 w 562"/>
                  <a:gd name="T1" fmla="*/ 0 h 641"/>
                  <a:gd name="T2" fmla="*/ 1 w 562"/>
                  <a:gd name="T3" fmla="*/ 0 h 641"/>
                  <a:gd name="T4" fmla="*/ 0 w 562"/>
                  <a:gd name="T5" fmla="*/ 0 h 641"/>
                  <a:gd name="T6" fmla="*/ 0 w 562"/>
                  <a:gd name="T7" fmla="*/ 0 h 641"/>
                  <a:gd name="T8" fmla="*/ 0 w 562"/>
                  <a:gd name="T9" fmla="*/ 0 h 641"/>
                  <a:gd name="T10" fmla="*/ 0 w 562"/>
                  <a:gd name="T11" fmla="*/ 1 h 641"/>
                  <a:gd name="T12" fmla="*/ 0 w 562"/>
                  <a:gd name="T13" fmla="*/ 1 h 641"/>
                  <a:gd name="T14" fmla="*/ 1 w 562"/>
                  <a:gd name="T15" fmla="*/ 1 h 641"/>
                  <a:gd name="T16" fmla="*/ 1 w 562"/>
                  <a:gd name="T17" fmla="*/ 1 h 641"/>
                  <a:gd name="T18" fmla="*/ 1 w 562"/>
                  <a:gd name="T19" fmla="*/ 1 h 641"/>
                  <a:gd name="T20" fmla="*/ 1 w 562"/>
                  <a:gd name="T21" fmla="*/ 1 h 64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62"/>
                  <a:gd name="T34" fmla="*/ 0 h 641"/>
                  <a:gd name="T35" fmla="*/ 562 w 562"/>
                  <a:gd name="T36" fmla="*/ 641 h 64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62" h="641">
                    <a:moveTo>
                      <a:pt x="550" y="166"/>
                    </a:moveTo>
                    <a:cubicBezTo>
                      <a:pt x="538" y="147"/>
                      <a:pt x="519" y="79"/>
                      <a:pt x="478" y="52"/>
                    </a:cubicBezTo>
                    <a:cubicBezTo>
                      <a:pt x="437" y="25"/>
                      <a:pt x="367" y="0"/>
                      <a:pt x="304" y="4"/>
                    </a:cubicBezTo>
                    <a:cubicBezTo>
                      <a:pt x="241" y="8"/>
                      <a:pt x="149" y="28"/>
                      <a:pt x="100" y="76"/>
                    </a:cubicBezTo>
                    <a:cubicBezTo>
                      <a:pt x="51" y="124"/>
                      <a:pt x="20" y="222"/>
                      <a:pt x="10" y="292"/>
                    </a:cubicBezTo>
                    <a:cubicBezTo>
                      <a:pt x="0" y="362"/>
                      <a:pt x="10" y="442"/>
                      <a:pt x="40" y="496"/>
                    </a:cubicBezTo>
                    <a:cubicBezTo>
                      <a:pt x="70" y="550"/>
                      <a:pt x="126" y="594"/>
                      <a:pt x="190" y="616"/>
                    </a:cubicBezTo>
                    <a:cubicBezTo>
                      <a:pt x="254" y="638"/>
                      <a:pt x="362" y="641"/>
                      <a:pt x="424" y="628"/>
                    </a:cubicBezTo>
                    <a:cubicBezTo>
                      <a:pt x="486" y="615"/>
                      <a:pt x="540" y="584"/>
                      <a:pt x="562" y="538"/>
                    </a:cubicBezTo>
                    <a:lnTo>
                      <a:pt x="556" y="352"/>
                    </a:lnTo>
                    <a:lnTo>
                      <a:pt x="322" y="352"/>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8207" name="Group 223"/>
              <p:cNvGrpSpPr>
                <a:grpSpLocks noChangeAspect="1"/>
              </p:cNvGrpSpPr>
              <p:nvPr/>
            </p:nvGrpSpPr>
            <p:grpSpPr bwMode="auto">
              <a:xfrm>
                <a:off x="2407" y="219"/>
                <a:ext cx="87" cy="127"/>
                <a:chOff x="3017" y="1343"/>
                <a:chExt cx="420" cy="612"/>
              </a:xfrm>
            </p:grpSpPr>
            <p:sp>
              <p:nvSpPr>
                <p:cNvPr id="148209" name="Freeform 224"/>
                <p:cNvSpPr>
                  <a:spLocks noChangeAspect="1"/>
                </p:cNvSpPr>
                <p:nvPr/>
              </p:nvSpPr>
              <p:spPr bwMode="auto">
                <a:xfrm>
                  <a:off x="3017" y="1343"/>
                  <a:ext cx="420" cy="612"/>
                </a:xfrm>
                <a:custGeom>
                  <a:avLst/>
                  <a:gdLst>
                    <a:gd name="T0" fmla="*/ 420 w 420"/>
                    <a:gd name="T1" fmla="*/ 606 h 612"/>
                    <a:gd name="T2" fmla="*/ 0 w 420"/>
                    <a:gd name="T3" fmla="*/ 612 h 612"/>
                    <a:gd name="T4" fmla="*/ 6 w 420"/>
                    <a:gd name="T5" fmla="*/ 0 h 612"/>
                    <a:gd name="T6" fmla="*/ 402 w 420"/>
                    <a:gd name="T7" fmla="*/ 0 h 612"/>
                    <a:gd name="T8" fmla="*/ 0 60000 65536"/>
                    <a:gd name="T9" fmla="*/ 0 60000 65536"/>
                    <a:gd name="T10" fmla="*/ 0 60000 65536"/>
                    <a:gd name="T11" fmla="*/ 0 60000 65536"/>
                    <a:gd name="T12" fmla="*/ 0 w 420"/>
                    <a:gd name="T13" fmla="*/ 0 h 612"/>
                    <a:gd name="T14" fmla="*/ 420 w 420"/>
                    <a:gd name="T15" fmla="*/ 612 h 612"/>
                  </a:gdLst>
                  <a:ahLst/>
                  <a:cxnLst>
                    <a:cxn ang="T8">
                      <a:pos x="T0" y="T1"/>
                    </a:cxn>
                    <a:cxn ang="T9">
                      <a:pos x="T2" y="T3"/>
                    </a:cxn>
                    <a:cxn ang="T10">
                      <a:pos x="T4" y="T5"/>
                    </a:cxn>
                    <a:cxn ang="T11">
                      <a:pos x="T6" y="T7"/>
                    </a:cxn>
                  </a:cxnLst>
                  <a:rect l="T12" t="T13" r="T14" b="T15"/>
                  <a:pathLst>
                    <a:path w="420" h="612">
                      <a:moveTo>
                        <a:pt x="420" y="606"/>
                      </a:moveTo>
                      <a:lnTo>
                        <a:pt x="0" y="612"/>
                      </a:lnTo>
                      <a:lnTo>
                        <a:pt x="6" y="0"/>
                      </a:lnTo>
                      <a:lnTo>
                        <a:pt x="402" y="0"/>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8210" name="Line 225"/>
                <p:cNvSpPr>
                  <a:spLocks noChangeAspect="1" noChangeShapeType="1"/>
                </p:cNvSpPr>
                <p:nvPr/>
              </p:nvSpPr>
              <p:spPr bwMode="auto">
                <a:xfrm>
                  <a:off x="3017" y="1637"/>
                  <a:ext cx="378"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48208" name="Freeform 226"/>
              <p:cNvSpPr>
                <a:spLocks noChangeAspect="1"/>
              </p:cNvSpPr>
              <p:nvPr/>
            </p:nvSpPr>
            <p:spPr bwMode="auto">
              <a:xfrm>
                <a:off x="2534" y="212"/>
                <a:ext cx="86" cy="134"/>
              </a:xfrm>
              <a:custGeom>
                <a:avLst/>
                <a:gdLst>
                  <a:gd name="T0" fmla="*/ 0 w 420"/>
                  <a:gd name="T1" fmla="*/ 0 h 654"/>
                  <a:gd name="T2" fmla="*/ 0 w 420"/>
                  <a:gd name="T3" fmla="*/ 1 h 654"/>
                  <a:gd name="T4" fmla="*/ 1 w 420"/>
                  <a:gd name="T5" fmla="*/ 1 h 654"/>
                  <a:gd name="T6" fmla="*/ 0 60000 65536"/>
                  <a:gd name="T7" fmla="*/ 0 60000 65536"/>
                  <a:gd name="T8" fmla="*/ 0 60000 65536"/>
                  <a:gd name="T9" fmla="*/ 0 w 420"/>
                  <a:gd name="T10" fmla="*/ 0 h 654"/>
                  <a:gd name="T11" fmla="*/ 420 w 420"/>
                  <a:gd name="T12" fmla="*/ 654 h 654"/>
                </a:gdLst>
                <a:ahLst/>
                <a:cxnLst>
                  <a:cxn ang="T6">
                    <a:pos x="T0" y="T1"/>
                  </a:cxn>
                  <a:cxn ang="T7">
                    <a:pos x="T2" y="T3"/>
                  </a:cxn>
                  <a:cxn ang="T8">
                    <a:pos x="T4" y="T5"/>
                  </a:cxn>
                </a:cxnLst>
                <a:rect l="T9" t="T10" r="T11" b="T12"/>
                <a:pathLst>
                  <a:path w="420" h="654">
                    <a:moveTo>
                      <a:pt x="0" y="0"/>
                    </a:moveTo>
                    <a:lnTo>
                      <a:pt x="0" y="654"/>
                    </a:lnTo>
                    <a:lnTo>
                      <a:pt x="420" y="654"/>
                    </a:lnTo>
                  </a:path>
                </a:pathLst>
              </a:cu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grpSp>
        <p:nvGrpSpPr>
          <p:cNvPr id="147461" name="Group 227"/>
          <p:cNvGrpSpPr>
            <a:grpSpLocks noChangeAspect="1"/>
          </p:cNvGrpSpPr>
          <p:nvPr/>
        </p:nvGrpSpPr>
        <p:grpSpPr bwMode="auto">
          <a:xfrm>
            <a:off x="2276475" y="1570038"/>
            <a:ext cx="209550" cy="901700"/>
            <a:chOff x="3500" y="1992"/>
            <a:chExt cx="173" cy="745"/>
          </a:xfrm>
        </p:grpSpPr>
        <p:sp>
          <p:nvSpPr>
            <p:cNvPr id="148177" name="Rectangle 228"/>
            <p:cNvSpPr>
              <a:spLocks noChangeAspect="1" noChangeArrowheads="1"/>
            </p:cNvSpPr>
            <p:nvPr/>
          </p:nvSpPr>
          <p:spPr bwMode="auto">
            <a:xfrm>
              <a:off x="3572" y="2183"/>
              <a:ext cx="35" cy="128"/>
            </a:xfrm>
            <a:prstGeom prst="rect">
              <a:avLst/>
            </a:prstGeom>
            <a:solidFill>
              <a:schemeClr val="bg2"/>
            </a:solidFill>
            <a:ln w="12700">
              <a:solidFill>
                <a:srgbClr val="4D4D4D"/>
              </a:solidFill>
              <a:miter lim="800000"/>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78" name="Freeform 229"/>
            <p:cNvSpPr>
              <a:spLocks noChangeAspect="1"/>
            </p:cNvSpPr>
            <p:nvPr/>
          </p:nvSpPr>
          <p:spPr bwMode="auto">
            <a:xfrm>
              <a:off x="3509" y="1992"/>
              <a:ext cx="164" cy="215"/>
            </a:xfrm>
            <a:custGeom>
              <a:avLst/>
              <a:gdLst>
                <a:gd name="T0" fmla="*/ 1 w 661"/>
                <a:gd name="T1" fmla="*/ 3 h 869"/>
                <a:gd name="T2" fmla="*/ 0 w 661"/>
                <a:gd name="T3" fmla="*/ 2 h 869"/>
                <a:gd name="T4" fmla="*/ 0 w 661"/>
                <a:gd name="T5" fmla="*/ 1 h 869"/>
                <a:gd name="T6" fmla="*/ 1 w 661"/>
                <a:gd name="T7" fmla="*/ 0 h 869"/>
                <a:gd name="T8" fmla="*/ 2 w 661"/>
                <a:gd name="T9" fmla="*/ 0 h 869"/>
                <a:gd name="T10" fmla="*/ 2 w 661"/>
                <a:gd name="T11" fmla="*/ 1 h 869"/>
                <a:gd name="T12" fmla="*/ 2 w 661"/>
                <a:gd name="T13" fmla="*/ 2 h 869"/>
                <a:gd name="T14" fmla="*/ 2 w 661"/>
                <a:gd name="T15" fmla="*/ 3 h 869"/>
                <a:gd name="T16" fmla="*/ 1 w 661"/>
                <a:gd name="T17" fmla="*/ 3 h 86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61"/>
                <a:gd name="T28" fmla="*/ 0 h 869"/>
                <a:gd name="T29" fmla="*/ 661 w 661"/>
                <a:gd name="T30" fmla="*/ 869 h 86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61" h="869">
                  <a:moveTo>
                    <a:pt x="173" y="847"/>
                  </a:moveTo>
                  <a:cubicBezTo>
                    <a:pt x="98" y="820"/>
                    <a:pt x="46" y="777"/>
                    <a:pt x="23" y="679"/>
                  </a:cubicBezTo>
                  <a:cubicBezTo>
                    <a:pt x="0" y="581"/>
                    <a:pt x="4" y="365"/>
                    <a:pt x="35" y="259"/>
                  </a:cubicBezTo>
                  <a:cubicBezTo>
                    <a:pt x="66" y="153"/>
                    <a:pt x="138" y="78"/>
                    <a:pt x="209" y="41"/>
                  </a:cubicBezTo>
                  <a:cubicBezTo>
                    <a:pt x="280" y="4"/>
                    <a:pt x="391" y="0"/>
                    <a:pt x="461" y="37"/>
                  </a:cubicBezTo>
                  <a:cubicBezTo>
                    <a:pt x="531" y="74"/>
                    <a:pt x="600" y="158"/>
                    <a:pt x="629" y="265"/>
                  </a:cubicBezTo>
                  <a:cubicBezTo>
                    <a:pt x="658" y="372"/>
                    <a:pt x="661" y="583"/>
                    <a:pt x="635" y="679"/>
                  </a:cubicBezTo>
                  <a:cubicBezTo>
                    <a:pt x="609" y="775"/>
                    <a:pt x="550" y="813"/>
                    <a:pt x="473" y="841"/>
                  </a:cubicBezTo>
                  <a:cubicBezTo>
                    <a:pt x="396" y="869"/>
                    <a:pt x="235" y="846"/>
                    <a:pt x="173" y="847"/>
                  </a:cubicBezTo>
                  <a:close/>
                </a:path>
              </a:pathLst>
            </a:custGeom>
            <a:solidFill>
              <a:srgbClr val="C0C0C0"/>
            </a:solidFill>
            <a:ln w="12700">
              <a:solidFill>
                <a:schemeClr val="bg2"/>
              </a:solidFill>
              <a:round/>
            </a:ln>
          </p:spPr>
          <p:txBody>
            <a:bodyPr/>
            <a:lstStyle/>
            <a:p>
              <a:endParaRPr lang="zh-CN" altLang="en-US"/>
            </a:p>
          </p:txBody>
        </p:sp>
        <p:sp>
          <p:nvSpPr>
            <p:cNvPr id="148179" name="Oval 230"/>
            <p:cNvSpPr>
              <a:spLocks noChangeAspect="1" noChangeArrowheads="1"/>
            </p:cNvSpPr>
            <p:nvPr/>
          </p:nvSpPr>
          <p:spPr bwMode="auto">
            <a:xfrm>
              <a:off x="3501" y="2248"/>
              <a:ext cx="168" cy="24"/>
            </a:xfrm>
            <a:prstGeom prst="ellipse">
              <a:avLst/>
            </a:prstGeom>
            <a:solidFill>
              <a:schemeClr val="bg1"/>
            </a:solidFill>
            <a:ln w="3175">
              <a:solidFill>
                <a:schemeClr val="tx1"/>
              </a:solidFill>
              <a:rou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80" name="Freeform 231"/>
            <p:cNvSpPr>
              <a:spLocks noChangeAspect="1"/>
            </p:cNvSpPr>
            <p:nvPr/>
          </p:nvSpPr>
          <p:spPr bwMode="auto">
            <a:xfrm>
              <a:off x="3515" y="2256"/>
              <a:ext cx="141" cy="481"/>
            </a:xfrm>
            <a:custGeom>
              <a:avLst/>
              <a:gdLst>
                <a:gd name="T0" fmla="*/ 0 w 570"/>
                <a:gd name="T1" fmla="*/ 0 h 1941"/>
                <a:gd name="T2" fmla="*/ 0 w 570"/>
                <a:gd name="T3" fmla="*/ 4 h 1941"/>
                <a:gd name="T4" fmla="*/ 1 w 570"/>
                <a:gd name="T5" fmla="*/ 7 h 1941"/>
                <a:gd name="T6" fmla="*/ 1 w 570"/>
                <a:gd name="T7" fmla="*/ 7 h 1941"/>
                <a:gd name="T8" fmla="*/ 2 w 570"/>
                <a:gd name="T9" fmla="*/ 4 h 1941"/>
                <a:gd name="T10" fmla="*/ 2 w 570"/>
                <a:gd name="T11" fmla="*/ 0 h 1941"/>
                <a:gd name="T12" fmla="*/ 0 w 570"/>
                <a:gd name="T13" fmla="*/ 0 h 1941"/>
                <a:gd name="T14" fmla="*/ 0 60000 65536"/>
                <a:gd name="T15" fmla="*/ 0 60000 65536"/>
                <a:gd name="T16" fmla="*/ 0 60000 65536"/>
                <a:gd name="T17" fmla="*/ 0 60000 65536"/>
                <a:gd name="T18" fmla="*/ 0 60000 65536"/>
                <a:gd name="T19" fmla="*/ 0 60000 65536"/>
                <a:gd name="T20" fmla="*/ 0 60000 65536"/>
                <a:gd name="T21" fmla="*/ 0 w 570"/>
                <a:gd name="T22" fmla="*/ 0 h 1941"/>
                <a:gd name="T23" fmla="*/ 570 w 570"/>
                <a:gd name="T24" fmla="*/ 1941 h 19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0" h="1941">
                  <a:moveTo>
                    <a:pt x="0" y="0"/>
                  </a:moveTo>
                  <a:lnTo>
                    <a:pt x="0" y="1135"/>
                  </a:lnTo>
                  <a:lnTo>
                    <a:pt x="222" y="1825"/>
                  </a:lnTo>
                  <a:cubicBezTo>
                    <a:pt x="281" y="1940"/>
                    <a:pt x="295" y="1941"/>
                    <a:pt x="353" y="1825"/>
                  </a:cubicBezTo>
                  <a:lnTo>
                    <a:pt x="570" y="1129"/>
                  </a:lnTo>
                  <a:lnTo>
                    <a:pt x="570" y="11"/>
                  </a:lnTo>
                  <a:lnTo>
                    <a:pt x="0" y="0"/>
                  </a:lnTo>
                  <a:close/>
                </a:path>
              </a:pathLst>
            </a:custGeom>
            <a:gradFill rotWithShape="1">
              <a:gsLst>
                <a:gs pos="0">
                  <a:srgbClr val="C0C0C0"/>
                </a:gs>
                <a:gs pos="50000">
                  <a:srgbClr val="FFFFFF"/>
                </a:gs>
                <a:gs pos="100000">
                  <a:srgbClr val="C0C0C0"/>
                </a:gs>
              </a:gsLst>
              <a:lin ang="0" scaled="1"/>
            </a:gradFill>
            <a:ln w="9525">
              <a:solidFill>
                <a:schemeClr val="bg2"/>
              </a:solidFill>
              <a:round/>
            </a:ln>
          </p:spPr>
          <p:txBody>
            <a:bodyPr/>
            <a:lstStyle/>
            <a:p>
              <a:endParaRPr lang="zh-CN" altLang="en-US"/>
            </a:p>
          </p:txBody>
        </p:sp>
        <p:sp>
          <p:nvSpPr>
            <p:cNvPr id="148181" name="Oval 232"/>
            <p:cNvSpPr>
              <a:spLocks noChangeAspect="1" noChangeArrowheads="1"/>
            </p:cNvSpPr>
            <p:nvPr/>
          </p:nvSpPr>
          <p:spPr bwMode="auto">
            <a:xfrm>
              <a:off x="3514" y="2249"/>
              <a:ext cx="143" cy="16"/>
            </a:xfrm>
            <a:prstGeom prst="ellipse">
              <a:avLst/>
            </a:prstGeom>
            <a:gradFill rotWithShape="1">
              <a:gsLst>
                <a:gs pos="0">
                  <a:schemeClr val="bg1"/>
                </a:gs>
                <a:gs pos="100000">
                  <a:schemeClr val="bg2"/>
                </a:gs>
              </a:gsLst>
              <a:lin ang="5400000" scaled="1"/>
            </a:gradFill>
            <a:ln w="9525">
              <a:solidFill>
                <a:schemeClr val="bg2"/>
              </a:solidFill>
              <a:rou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82" name="Freeform 233"/>
            <p:cNvSpPr>
              <a:spLocks noChangeAspect="1"/>
            </p:cNvSpPr>
            <p:nvPr/>
          </p:nvSpPr>
          <p:spPr bwMode="auto">
            <a:xfrm>
              <a:off x="3500" y="2260"/>
              <a:ext cx="170" cy="23"/>
            </a:xfrm>
            <a:custGeom>
              <a:avLst/>
              <a:gdLst>
                <a:gd name="T0" fmla="*/ 0 w 685"/>
                <a:gd name="T1" fmla="*/ 0 h 93"/>
                <a:gd name="T2" fmla="*/ 0 w 685"/>
                <a:gd name="T3" fmla="*/ 0 h 93"/>
                <a:gd name="T4" fmla="*/ 0 w 685"/>
                <a:gd name="T5" fmla="*/ 0 h 93"/>
                <a:gd name="T6" fmla="*/ 1 w 685"/>
                <a:gd name="T7" fmla="*/ 0 h 93"/>
                <a:gd name="T8" fmla="*/ 2 w 685"/>
                <a:gd name="T9" fmla="*/ 0 h 93"/>
                <a:gd name="T10" fmla="*/ 2 w 685"/>
                <a:gd name="T11" fmla="*/ 0 h 93"/>
                <a:gd name="T12" fmla="*/ 2 w 685"/>
                <a:gd name="T13" fmla="*/ 0 h 93"/>
                <a:gd name="T14" fmla="*/ 2 w 685"/>
                <a:gd name="T15" fmla="*/ 0 h 93"/>
                <a:gd name="T16" fmla="*/ 2 w 685"/>
                <a:gd name="T17" fmla="*/ 0 h 93"/>
                <a:gd name="T18" fmla="*/ 1 w 685"/>
                <a:gd name="T19" fmla="*/ 0 h 93"/>
                <a:gd name="T20" fmla="*/ 1 w 685"/>
                <a:gd name="T21" fmla="*/ 0 h 93"/>
                <a:gd name="T22" fmla="*/ 0 w 685"/>
                <a:gd name="T23" fmla="*/ 0 h 93"/>
                <a:gd name="T24" fmla="*/ 0 w 685"/>
                <a:gd name="T25" fmla="*/ 0 h 9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85"/>
                <a:gd name="T40" fmla="*/ 0 h 93"/>
                <a:gd name="T41" fmla="*/ 685 w 685"/>
                <a:gd name="T42" fmla="*/ 93 h 9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85" h="93">
                  <a:moveTo>
                    <a:pt x="1" y="6"/>
                  </a:moveTo>
                  <a:lnTo>
                    <a:pt x="3" y="50"/>
                  </a:lnTo>
                  <a:cubicBezTo>
                    <a:pt x="26" y="63"/>
                    <a:pt x="77" y="77"/>
                    <a:pt x="139" y="84"/>
                  </a:cubicBezTo>
                  <a:cubicBezTo>
                    <a:pt x="201" y="91"/>
                    <a:pt x="299" y="93"/>
                    <a:pt x="375" y="92"/>
                  </a:cubicBezTo>
                  <a:cubicBezTo>
                    <a:pt x="451" y="91"/>
                    <a:pt x="545" y="84"/>
                    <a:pt x="597" y="76"/>
                  </a:cubicBezTo>
                  <a:cubicBezTo>
                    <a:pt x="649" y="68"/>
                    <a:pt x="670" y="56"/>
                    <a:pt x="685" y="44"/>
                  </a:cubicBezTo>
                  <a:lnTo>
                    <a:pt x="685" y="4"/>
                  </a:lnTo>
                  <a:cubicBezTo>
                    <a:pt x="681" y="0"/>
                    <a:pt x="682" y="14"/>
                    <a:pt x="659" y="20"/>
                  </a:cubicBezTo>
                  <a:cubicBezTo>
                    <a:pt x="636" y="26"/>
                    <a:pt x="595" y="37"/>
                    <a:pt x="549" y="42"/>
                  </a:cubicBezTo>
                  <a:cubicBezTo>
                    <a:pt x="503" y="47"/>
                    <a:pt x="443" y="51"/>
                    <a:pt x="385" y="52"/>
                  </a:cubicBezTo>
                  <a:cubicBezTo>
                    <a:pt x="327" y="53"/>
                    <a:pt x="258" y="53"/>
                    <a:pt x="199" y="48"/>
                  </a:cubicBezTo>
                  <a:cubicBezTo>
                    <a:pt x="140" y="43"/>
                    <a:pt x="66" y="31"/>
                    <a:pt x="33" y="24"/>
                  </a:cubicBezTo>
                  <a:cubicBezTo>
                    <a:pt x="0" y="17"/>
                    <a:pt x="8" y="10"/>
                    <a:pt x="1" y="6"/>
                  </a:cubicBezTo>
                  <a:close/>
                </a:path>
              </a:pathLst>
            </a:custGeom>
            <a:solidFill>
              <a:schemeClr val="bg1"/>
            </a:solidFill>
            <a:ln w="3175">
              <a:solidFill>
                <a:schemeClr val="tx1"/>
              </a:solidFill>
              <a:round/>
            </a:ln>
          </p:spPr>
          <p:txBody>
            <a:bodyPr/>
            <a:lstStyle/>
            <a:p>
              <a:endParaRPr lang="zh-CN" altLang="en-US"/>
            </a:p>
          </p:txBody>
        </p:sp>
        <p:sp>
          <p:nvSpPr>
            <p:cNvPr id="148183" name="Oval 234"/>
            <p:cNvSpPr>
              <a:spLocks noChangeAspect="1" noChangeArrowheads="1"/>
            </p:cNvSpPr>
            <p:nvPr/>
          </p:nvSpPr>
          <p:spPr bwMode="auto">
            <a:xfrm>
              <a:off x="3526" y="2042"/>
              <a:ext cx="130" cy="117"/>
            </a:xfrm>
            <a:prstGeom prst="ellipse">
              <a:avLst/>
            </a:prstGeom>
            <a:solidFill>
              <a:schemeClr val="bg1"/>
            </a:solidFill>
            <a:ln w="28575">
              <a:solidFill>
                <a:schemeClr val="bg2"/>
              </a:solidFill>
              <a:rou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sp>
        <p:nvSpPr>
          <p:cNvPr id="147462" name="Freeform 235"/>
          <p:cNvSpPr/>
          <p:nvPr/>
        </p:nvSpPr>
        <p:spPr bwMode="auto">
          <a:xfrm>
            <a:off x="2543175" y="1704975"/>
            <a:ext cx="1190625" cy="657225"/>
          </a:xfrm>
          <a:custGeom>
            <a:avLst/>
            <a:gdLst>
              <a:gd name="T0" fmla="*/ 0 w 750"/>
              <a:gd name="T1" fmla="*/ 2147483646 h 414"/>
              <a:gd name="T2" fmla="*/ 2147483646 w 750"/>
              <a:gd name="T3" fmla="*/ 2147483646 h 414"/>
              <a:gd name="T4" fmla="*/ 2147483646 w 750"/>
              <a:gd name="T5" fmla="*/ 2147483646 h 414"/>
              <a:gd name="T6" fmla="*/ 0 60000 65536"/>
              <a:gd name="T7" fmla="*/ 0 60000 65536"/>
              <a:gd name="T8" fmla="*/ 0 60000 65536"/>
              <a:gd name="T9" fmla="*/ 0 w 750"/>
              <a:gd name="T10" fmla="*/ 0 h 414"/>
              <a:gd name="T11" fmla="*/ 750 w 750"/>
              <a:gd name="T12" fmla="*/ 414 h 414"/>
            </a:gdLst>
            <a:ahLst/>
            <a:cxnLst>
              <a:cxn ang="T6">
                <a:pos x="T0" y="T1"/>
              </a:cxn>
              <a:cxn ang="T7">
                <a:pos x="T2" y="T3"/>
              </a:cxn>
              <a:cxn ang="T8">
                <a:pos x="T4" y="T5"/>
              </a:cxn>
            </a:cxnLst>
            <a:rect l="T9" t="T10" r="T11" b="T12"/>
            <a:pathLst>
              <a:path w="750" h="414">
                <a:moveTo>
                  <a:pt x="0" y="90"/>
                </a:moveTo>
                <a:cubicBezTo>
                  <a:pt x="62" y="84"/>
                  <a:pt x="247" y="0"/>
                  <a:pt x="372" y="54"/>
                </a:cubicBezTo>
                <a:cubicBezTo>
                  <a:pt x="497" y="108"/>
                  <a:pt x="671" y="339"/>
                  <a:pt x="750" y="414"/>
                </a:cubicBezTo>
              </a:path>
            </a:pathLst>
          </a:custGeom>
          <a:noFill/>
          <a:ln w="28575">
            <a:solidFill>
              <a:srgbClr val="FF0000"/>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47463" name="Freeform 236"/>
          <p:cNvSpPr/>
          <p:nvPr/>
        </p:nvSpPr>
        <p:spPr bwMode="auto">
          <a:xfrm>
            <a:off x="4181475" y="1538288"/>
            <a:ext cx="2085975" cy="795337"/>
          </a:xfrm>
          <a:custGeom>
            <a:avLst/>
            <a:gdLst>
              <a:gd name="T0" fmla="*/ 0 w 1314"/>
              <a:gd name="T1" fmla="*/ 2147483646 h 501"/>
              <a:gd name="T2" fmla="*/ 2147483646 w 1314"/>
              <a:gd name="T3" fmla="*/ 2147483646 h 501"/>
              <a:gd name="T4" fmla="*/ 2147483646 w 1314"/>
              <a:gd name="T5" fmla="*/ 2147483646 h 501"/>
              <a:gd name="T6" fmla="*/ 0 60000 65536"/>
              <a:gd name="T7" fmla="*/ 0 60000 65536"/>
              <a:gd name="T8" fmla="*/ 0 60000 65536"/>
              <a:gd name="T9" fmla="*/ 0 w 1314"/>
              <a:gd name="T10" fmla="*/ 0 h 501"/>
              <a:gd name="T11" fmla="*/ 1314 w 1314"/>
              <a:gd name="T12" fmla="*/ 501 h 501"/>
            </a:gdLst>
            <a:ahLst/>
            <a:cxnLst>
              <a:cxn ang="T6">
                <a:pos x="T0" y="T1"/>
              </a:cxn>
              <a:cxn ang="T7">
                <a:pos x="T2" y="T3"/>
              </a:cxn>
              <a:cxn ang="T8">
                <a:pos x="T4" y="T5"/>
              </a:cxn>
            </a:cxnLst>
            <a:rect l="T9" t="T10" r="T11" b="T12"/>
            <a:pathLst>
              <a:path w="1314" h="501">
                <a:moveTo>
                  <a:pt x="0" y="501"/>
                </a:moveTo>
                <a:cubicBezTo>
                  <a:pt x="265" y="301"/>
                  <a:pt x="531" y="102"/>
                  <a:pt x="750" y="51"/>
                </a:cubicBezTo>
                <a:cubicBezTo>
                  <a:pt x="969" y="0"/>
                  <a:pt x="1141" y="97"/>
                  <a:pt x="1314" y="195"/>
                </a:cubicBezTo>
              </a:path>
            </a:pathLst>
          </a:custGeom>
          <a:noFill/>
          <a:ln w="28575">
            <a:solidFill>
              <a:srgbClr val="FF0000"/>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47464" name="Text Box 237"/>
          <p:cNvSpPr txBox="1">
            <a:spLocks noChangeArrowheads="1"/>
          </p:cNvSpPr>
          <p:nvPr/>
        </p:nvSpPr>
        <p:spPr bwMode="auto">
          <a:xfrm>
            <a:off x="260350" y="820738"/>
            <a:ext cx="2251075"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sz="1400" b="1">
                <a:solidFill>
                  <a:srgbClr val="009900"/>
                </a:solidFill>
                <a:latin typeface="Arial" panose="020B0604020202020204" pitchFamily="34" charset="0"/>
              </a:rPr>
              <a:t>1. Collect cells or tissue </a:t>
            </a:r>
            <a:br>
              <a:rPr kumimoji="0" lang="en-US" altLang="zh-CN" sz="1400" b="1">
                <a:solidFill>
                  <a:srgbClr val="009900"/>
                </a:solidFill>
                <a:latin typeface="Arial" panose="020B0604020202020204" pitchFamily="34" charset="0"/>
              </a:rPr>
            </a:br>
            <a:r>
              <a:rPr kumimoji="0" lang="en-US" altLang="zh-CN" sz="1400" b="1">
                <a:solidFill>
                  <a:srgbClr val="009900"/>
                </a:solidFill>
                <a:latin typeface="Arial" panose="020B0604020202020204" pitchFamily="34" charset="0"/>
              </a:rPr>
              <a:t>    and extract RNA with</a:t>
            </a:r>
            <a:br>
              <a:rPr kumimoji="0" lang="en-US" altLang="zh-CN" sz="1400" b="1">
                <a:solidFill>
                  <a:srgbClr val="009900"/>
                </a:solidFill>
                <a:latin typeface="Arial" panose="020B0604020202020204" pitchFamily="34" charset="0"/>
              </a:rPr>
            </a:br>
            <a:r>
              <a:rPr kumimoji="0" lang="en-US" altLang="zh-CN" sz="1400" b="1">
                <a:solidFill>
                  <a:srgbClr val="009900"/>
                </a:solidFill>
                <a:latin typeface="Arial" panose="020B0604020202020204" pitchFamily="34" charset="0"/>
              </a:rPr>
              <a:t>    TRI Reagent (MRC) </a:t>
            </a:r>
          </a:p>
        </p:txBody>
      </p:sp>
      <p:sp>
        <p:nvSpPr>
          <p:cNvPr id="147465" name="Text Box 238"/>
          <p:cNvSpPr txBox="1">
            <a:spLocks noChangeArrowheads="1"/>
          </p:cNvSpPr>
          <p:nvPr/>
        </p:nvSpPr>
        <p:spPr bwMode="auto">
          <a:xfrm>
            <a:off x="3013075" y="1363663"/>
            <a:ext cx="1630363"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sz="1400" b="1">
                <a:solidFill>
                  <a:srgbClr val="009900"/>
                </a:solidFill>
                <a:latin typeface="Arial" panose="020B0604020202020204" pitchFamily="34" charset="0"/>
              </a:rPr>
              <a:t>2. Separate RNA</a:t>
            </a:r>
            <a:br>
              <a:rPr kumimoji="0" lang="en-US" altLang="zh-CN" sz="1400" b="1">
                <a:solidFill>
                  <a:srgbClr val="009900"/>
                </a:solidFill>
                <a:latin typeface="Arial" panose="020B0604020202020204" pitchFamily="34" charset="0"/>
              </a:rPr>
            </a:br>
            <a:r>
              <a:rPr kumimoji="0" lang="en-US" altLang="zh-CN" sz="1400" b="1">
                <a:solidFill>
                  <a:srgbClr val="009900"/>
                </a:solidFill>
                <a:latin typeface="Arial" panose="020B0604020202020204" pitchFamily="34" charset="0"/>
              </a:rPr>
              <a:t>    on agarose gel</a:t>
            </a:r>
          </a:p>
        </p:txBody>
      </p:sp>
      <p:sp>
        <p:nvSpPr>
          <p:cNvPr id="147466" name="Text Box 239"/>
          <p:cNvSpPr txBox="1">
            <a:spLocks noChangeArrowheads="1"/>
          </p:cNvSpPr>
          <p:nvPr/>
        </p:nvSpPr>
        <p:spPr bwMode="auto">
          <a:xfrm>
            <a:off x="6032500" y="1125538"/>
            <a:ext cx="2509838"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sz="1400" b="1">
                <a:solidFill>
                  <a:srgbClr val="009900"/>
                </a:solidFill>
                <a:latin typeface="Arial" panose="020B0604020202020204" pitchFamily="34" charset="0"/>
              </a:rPr>
              <a:t>3a. Transfer separated RNA</a:t>
            </a:r>
            <a:br>
              <a:rPr kumimoji="0" lang="en-US" altLang="zh-CN" sz="1400" b="1">
                <a:solidFill>
                  <a:srgbClr val="009900"/>
                </a:solidFill>
                <a:latin typeface="Arial" panose="020B0604020202020204" pitchFamily="34" charset="0"/>
              </a:rPr>
            </a:br>
            <a:r>
              <a:rPr kumimoji="0" lang="en-US" altLang="zh-CN" sz="1400" b="1">
                <a:solidFill>
                  <a:srgbClr val="009900"/>
                </a:solidFill>
                <a:latin typeface="Arial" panose="020B0604020202020204" pitchFamily="34" charset="0"/>
              </a:rPr>
              <a:t>      onto membrane</a:t>
            </a:r>
          </a:p>
        </p:txBody>
      </p:sp>
      <p:grpSp>
        <p:nvGrpSpPr>
          <p:cNvPr id="147467" name="Group 240"/>
          <p:cNvGrpSpPr>
            <a:grpSpLocks noChangeAspect="1"/>
          </p:cNvGrpSpPr>
          <p:nvPr/>
        </p:nvGrpSpPr>
        <p:grpSpPr bwMode="auto">
          <a:xfrm>
            <a:off x="5910263" y="4270375"/>
            <a:ext cx="209550" cy="901700"/>
            <a:chOff x="3500" y="1992"/>
            <a:chExt cx="173" cy="745"/>
          </a:xfrm>
        </p:grpSpPr>
        <p:sp>
          <p:nvSpPr>
            <p:cNvPr id="148170" name="Rectangle 241"/>
            <p:cNvSpPr>
              <a:spLocks noChangeAspect="1" noChangeArrowheads="1"/>
            </p:cNvSpPr>
            <p:nvPr/>
          </p:nvSpPr>
          <p:spPr bwMode="auto">
            <a:xfrm>
              <a:off x="3572" y="2183"/>
              <a:ext cx="35" cy="128"/>
            </a:xfrm>
            <a:prstGeom prst="rect">
              <a:avLst/>
            </a:prstGeom>
            <a:solidFill>
              <a:schemeClr val="bg2"/>
            </a:solidFill>
            <a:ln w="12700">
              <a:solidFill>
                <a:srgbClr val="4D4D4D"/>
              </a:solidFill>
              <a:miter lim="800000"/>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71" name="Freeform 242"/>
            <p:cNvSpPr>
              <a:spLocks noChangeAspect="1"/>
            </p:cNvSpPr>
            <p:nvPr/>
          </p:nvSpPr>
          <p:spPr bwMode="auto">
            <a:xfrm>
              <a:off x="3509" y="1992"/>
              <a:ext cx="164" cy="215"/>
            </a:xfrm>
            <a:custGeom>
              <a:avLst/>
              <a:gdLst>
                <a:gd name="T0" fmla="*/ 1 w 661"/>
                <a:gd name="T1" fmla="*/ 3 h 869"/>
                <a:gd name="T2" fmla="*/ 0 w 661"/>
                <a:gd name="T3" fmla="*/ 2 h 869"/>
                <a:gd name="T4" fmla="*/ 0 w 661"/>
                <a:gd name="T5" fmla="*/ 1 h 869"/>
                <a:gd name="T6" fmla="*/ 1 w 661"/>
                <a:gd name="T7" fmla="*/ 0 h 869"/>
                <a:gd name="T8" fmla="*/ 2 w 661"/>
                <a:gd name="T9" fmla="*/ 0 h 869"/>
                <a:gd name="T10" fmla="*/ 2 w 661"/>
                <a:gd name="T11" fmla="*/ 1 h 869"/>
                <a:gd name="T12" fmla="*/ 2 w 661"/>
                <a:gd name="T13" fmla="*/ 2 h 869"/>
                <a:gd name="T14" fmla="*/ 2 w 661"/>
                <a:gd name="T15" fmla="*/ 3 h 869"/>
                <a:gd name="T16" fmla="*/ 1 w 661"/>
                <a:gd name="T17" fmla="*/ 3 h 86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61"/>
                <a:gd name="T28" fmla="*/ 0 h 869"/>
                <a:gd name="T29" fmla="*/ 661 w 661"/>
                <a:gd name="T30" fmla="*/ 869 h 86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61" h="869">
                  <a:moveTo>
                    <a:pt x="173" y="847"/>
                  </a:moveTo>
                  <a:cubicBezTo>
                    <a:pt x="98" y="820"/>
                    <a:pt x="46" y="777"/>
                    <a:pt x="23" y="679"/>
                  </a:cubicBezTo>
                  <a:cubicBezTo>
                    <a:pt x="0" y="581"/>
                    <a:pt x="4" y="365"/>
                    <a:pt x="35" y="259"/>
                  </a:cubicBezTo>
                  <a:cubicBezTo>
                    <a:pt x="66" y="153"/>
                    <a:pt x="138" y="78"/>
                    <a:pt x="209" y="41"/>
                  </a:cubicBezTo>
                  <a:cubicBezTo>
                    <a:pt x="280" y="4"/>
                    <a:pt x="391" y="0"/>
                    <a:pt x="461" y="37"/>
                  </a:cubicBezTo>
                  <a:cubicBezTo>
                    <a:pt x="531" y="74"/>
                    <a:pt x="600" y="158"/>
                    <a:pt x="629" y="265"/>
                  </a:cubicBezTo>
                  <a:cubicBezTo>
                    <a:pt x="658" y="372"/>
                    <a:pt x="661" y="583"/>
                    <a:pt x="635" y="679"/>
                  </a:cubicBezTo>
                  <a:cubicBezTo>
                    <a:pt x="609" y="775"/>
                    <a:pt x="550" y="813"/>
                    <a:pt x="473" y="841"/>
                  </a:cubicBezTo>
                  <a:cubicBezTo>
                    <a:pt x="396" y="869"/>
                    <a:pt x="235" y="846"/>
                    <a:pt x="173" y="847"/>
                  </a:cubicBezTo>
                  <a:close/>
                </a:path>
              </a:pathLst>
            </a:custGeom>
            <a:solidFill>
              <a:srgbClr val="C0C0C0"/>
            </a:solidFill>
            <a:ln w="12700">
              <a:solidFill>
                <a:schemeClr val="bg2"/>
              </a:solidFill>
              <a:round/>
            </a:ln>
          </p:spPr>
          <p:txBody>
            <a:bodyPr/>
            <a:lstStyle/>
            <a:p>
              <a:endParaRPr lang="zh-CN" altLang="en-US"/>
            </a:p>
          </p:txBody>
        </p:sp>
        <p:sp>
          <p:nvSpPr>
            <p:cNvPr id="148172" name="Oval 243"/>
            <p:cNvSpPr>
              <a:spLocks noChangeAspect="1" noChangeArrowheads="1"/>
            </p:cNvSpPr>
            <p:nvPr/>
          </p:nvSpPr>
          <p:spPr bwMode="auto">
            <a:xfrm>
              <a:off x="3501" y="2248"/>
              <a:ext cx="168" cy="24"/>
            </a:xfrm>
            <a:prstGeom prst="ellipse">
              <a:avLst/>
            </a:prstGeom>
            <a:solidFill>
              <a:schemeClr val="bg1"/>
            </a:solidFill>
            <a:ln w="3175">
              <a:solidFill>
                <a:schemeClr val="tx1"/>
              </a:solidFill>
              <a:rou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73" name="Freeform 244"/>
            <p:cNvSpPr>
              <a:spLocks noChangeAspect="1"/>
            </p:cNvSpPr>
            <p:nvPr/>
          </p:nvSpPr>
          <p:spPr bwMode="auto">
            <a:xfrm>
              <a:off x="3515" y="2256"/>
              <a:ext cx="141" cy="481"/>
            </a:xfrm>
            <a:custGeom>
              <a:avLst/>
              <a:gdLst>
                <a:gd name="T0" fmla="*/ 0 w 570"/>
                <a:gd name="T1" fmla="*/ 0 h 1941"/>
                <a:gd name="T2" fmla="*/ 0 w 570"/>
                <a:gd name="T3" fmla="*/ 4 h 1941"/>
                <a:gd name="T4" fmla="*/ 1 w 570"/>
                <a:gd name="T5" fmla="*/ 7 h 1941"/>
                <a:gd name="T6" fmla="*/ 1 w 570"/>
                <a:gd name="T7" fmla="*/ 7 h 1941"/>
                <a:gd name="T8" fmla="*/ 2 w 570"/>
                <a:gd name="T9" fmla="*/ 4 h 1941"/>
                <a:gd name="T10" fmla="*/ 2 w 570"/>
                <a:gd name="T11" fmla="*/ 0 h 1941"/>
                <a:gd name="T12" fmla="*/ 0 w 570"/>
                <a:gd name="T13" fmla="*/ 0 h 1941"/>
                <a:gd name="T14" fmla="*/ 0 60000 65536"/>
                <a:gd name="T15" fmla="*/ 0 60000 65536"/>
                <a:gd name="T16" fmla="*/ 0 60000 65536"/>
                <a:gd name="T17" fmla="*/ 0 60000 65536"/>
                <a:gd name="T18" fmla="*/ 0 60000 65536"/>
                <a:gd name="T19" fmla="*/ 0 60000 65536"/>
                <a:gd name="T20" fmla="*/ 0 60000 65536"/>
                <a:gd name="T21" fmla="*/ 0 w 570"/>
                <a:gd name="T22" fmla="*/ 0 h 1941"/>
                <a:gd name="T23" fmla="*/ 570 w 570"/>
                <a:gd name="T24" fmla="*/ 1941 h 19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0" h="1941">
                  <a:moveTo>
                    <a:pt x="0" y="0"/>
                  </a:moveTo>
                  <a:lnTo>
                    <a:pt x="0" y="1135"/>
                  </a:lnTo>
                  <a:lnTo>
                    <a:pt x="222" y="1825"/>
                  </a:lnTo>
                  <a:cubicBezTo>
                    <a:pt x="281" y="1940"/>
                    <a:pt x="295" y="1941"/>
                    <a:pt x="353" y="1825"/>
                  </a:cubicBezTo>
                  <a:lnTo>
                    <a:pt x="570" y="1129"/>
                  </a:lnTo>
                  <a:lnTo>
                    <a:pt x="570" y="11"/>
                  </a:lnTo>
                  <a:lnTo>
                    <a:pt x="0" y="0"/>
                  </a:lnTo>
                  <a:close/>
                </a:path>
              </a:pathLst>
            </a:custGeom>
            <a:gradFill rotWithShape="1">
              <a:gsLst>
                <a:gs pos="0">
                  <a:srgbClr val="C0C0C0"/>
                </a:gs>
                <a:gs pos="50000">
                  <a:srgbClr val="FFFFFF"/>
                </a:gs>
                <a:gs pos="100000">
                  <a:srgbClr val="C0C0C0"/>
                </a:gs>
              </a:gsLst>
              <a:lin ang="0" scaled="1"/>
            </a:gradFill>
            <a:ln w="9525">
              <a:solidFill>
                <a:schemeClr val="bg2"/>
              </a:solidFill>
              <a:round/>
            </a:ln>
          </p:spPr>
          <p:txBody>
            <a:bodyPr/>
            <a:lstStyle/>
            <a:p>
              <a:endParaRPr lang="zh-CN" altLang="en-US"/>
            </a:p>
          </p:txBody>
        </p:sp>
        <p:sp>
          <p:nvSpPr>
            <p:cNvPr id="148174" name="Oval 245"/>
            <p:cNvSpPr>
              <a:spLocks noChangeAspect="1" noChangeArrowheads="1"/>
            </p:cNvSpPr>
            <p:nvPr/>
          </p:nvSpPr>
          <p:spPr bwMode="auto">
            <a:xfrm>
              <a:off x="3514" y="2249"/>
              <a:ext cx="143" cy="16"/>
            </a:xfrm>
            <a:prstGeom prst="ellipse">
              <a:avLst/>
            </a:prstGeom>
            <a:gradFill rotWithShape="1">
              <a:gsLst>
                <a:gs pos="0">
                  <a:schemeClr val="bg1"/>
                </a:gs>
                <a:gs pos="100000">
                  <a:schemeClr val="bg2"/>
                </a:gs>
              </a:gsLst>
              <a:lin ang="5400000" scaled="1"/>
            </a:gradFill>
            <a:ln w="9525">
              <a:solidFill>
                <a:schemeClr val="bg2"/>
              </a:solidFill>
              <a:rou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75" name="Freeform 246"/>
            <p:cNvSpPr>
              <a:spLocks noChangeAspect="1"/>
            </p:cNvSpPr>
            <p:nvPr/>
          </p:nvSpPr>
          <p:spPr bwMode="auto">
            <a:xfrm>
              <a:off x="3500" y="2260"/>
              <a:ext cx="170" cy="23"/>
            </a:xfrm>
            <a:custGeom>
              <a:avLst/>
              <a:gdLst>
                <a:gd name="T0" fmla="*/ 0 w 685"/>
                <a:gd name="T1" fmla="*/ 0 h 93"/>
                <a:gd name="T2" fmla="*/ 0 w 685"/>
                <a:gd name="T3" fmla="*/ 0 h 93"/>
                <a:gd name="T4" fmla="*/ 0 w 685"/>
                <a:gd name="T5" fmla="*/ 0 h 93"/>
                <a:gd name="T6" fmla="*/ 1 w 685"/>
                <a:gd name="T7" fmla="*/ 0 h 93"/>
                <a:gd name="T8" fmla="*/ 2 w 685"/>
                <a:gd name="T9" fmla="*/ 0 h 93"/>
                <a:gd name="T10" fmla="*/ 2 w 685"/>
                <a:gd name="T11" fmla="*/ 0 h 93"/>
                <a:gd name="T12" fmla="*/ 2 w 685"/>
                <a:gd name="T13" fmla="*/ 0 h 93"/>
                <a:gd name="T14" fmla="*/ 2 w 685"/>
                <a:gd name="T15" fmla="*/ 0 h 93"/>
                <a:gd name="T16" fmla="*/ 2 w 685"/>
                <a:gd name="T17" fmla="*/ 0 h 93"/>
                <a:gd name="T18" fmla="*/ 1 w 685"/>
                <a:gd name="T19" fmla="*/ 0 h 93"/>
                <a:gd name="T20" fmla="*/ 1 w 685"/>
                <a:gd name="T21" fmla="*/ 0 h 93"/>
                <a:gd name="T22" fmla="*/ 0 w 685"/>
                <a:gd name="T23" fmla="*/ 0 h 93"/>
                <a:gd name="T24" fmla="*/ 0 w 685"/>
                <a:gd name="T25" fmla="*/ 0 h 9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85"/>
                <a:gd name="T40" fmla="*/ 0 h 93"/>
                <a:gd name="T41" fmla="*/ 685 w 685"/>
                <a:gd name="T42" fmla="*/ 93 h 9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85" h="93">
                  <a:moveTo>
                    <a:pt x="1" y="6"/>
                  </a:moveTo>
                  <a:lnTo>
                    <a:pt x="3" y="50"/>
                  </a:lnTo>
                  <a:cubicBezTo>
                    <a:pt x="26" y="63"/>
                    <a:pt x="77" y="77"/>
                    <a:pt x="139" y="84"/>
                  </a:cubicBezTo>
                  <a:cubicBezTo>
                    <a:pt x="201" y="91"/>
                    <a:pt x="299" y="93"/>
                    <a:pt x="375" y="92"/>
                  </a:cubicBezTo>
                  <a:cubicBezTo>
                    <a:pt x="451" y="91"/>
                    <a:pt x="545" y="84"/>
                    <a:pt x="597" y="76"/>
                  </a:cubicBezTo>
                  <a:cubicBezTo>
                    <a:pt x="649" y="68"/>
                    <a:pt x="670" y="56"/>
                    <a:pt x="685" y="44"/>
                  </a:cubicBezTo>
                  <a:lnTo>
                    <a:pt x="685" y="4"/>
                  </a:lnTo>
                  <a:cubicBezTo>
                    <a:pt x="681" y="0"/>
                    <a:pt x="682" y="14"/>
                    <a:pt x="659" y="20"/>
                  </a:cubicBezTo>
                  <a:cubicBezTo>
                    <a:pt x="636" y="26"/>
                    <a:pt x="595" y="37"/>
                    <a:pt x="549" y="42"/>
                  </a:cubicBezTo>
                  <a:cubicBezTo>
                    <a:pt x="503" y="47"/>
                    <a:pt x="443" y="51"/>
                    <a:pt x="385" y="52"/>
                  </a:cubicBezTo>
                  <a:cubicBezTo>
                    <a:pt x="327" y="53"/>
                    <a:pt x="258" y="53"/>
                    <a:pt x="199" y="48"/>
                  </a:cubicBezTo>
                  <a:cubicBezTo>
                    <a:pt x="140" y="43"/>
                    <a:pt x="66" y="31"/>
                    <a:pt x="33" y="24"/>
                  </a:cubicBezTo>
                  <a:cubicBezTo>
                    <a:pt x="0" y="17"/>
                    <a:pt x="8" y="10"/>
                    <a:pt x="1" y="6"/>
                  </a:cubicBezTo>
                  <a:close/>
                </a:path>
              </a:pathLst>
            </a:custGeom>
            <a:solidFill>
              <a:schemeClr val="bg1"/>
            </a:solidFill>
            <a:ln w="3175">
              <a:solidFill>
                <a:schemeClr val="tx1"/>
              </a:solidFill>
              <a:round/>
            </a:ln>
          </p:spPr>
          <p:txBody>
            <a:bodyPr/>
            <a:lstStyle/>
            <a:p>
              <a:endParaRPr lang="zh-CN" altLang="en-US"/>
            </a:p>
          </p:txBody>
        </p:sp>
        <p:sp>
          <p:nvSpPr>
            <p:cNvPr id="148176" name="Oval 247"/>
            <p:cNvSpPr>
              <a:spLocks noChangeAspect="1" noChangeArrowheads="1"/>
            </p:cNvSpPr>
            <p:nvPr/>
          </p:nvSpPr>
          <p:spPr bwMode="auto">
            <a:xfrm>
              <a:off x="3526" y="2042"/>
              <a:ext cx="130" cy="117"/>
            </a:xfrm>
            <a:prstGeom prst="ellipse">
              <a:avLst/>
            </a:prstGeom>
            <a:solidFill>
              <a:schemeClr val="bg1"/>
            </a:solidFill>
            <a:ln w="28575">
              <a:solidFill>
                <a:schemeClr val="bg2"/>
              </a:solidFill>
              <a:rou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sp>
        <p:nvSpPr>
          <p:cNvPr id="147468" name="Text Box 248"/>
          <p:cNvSpPr txBox="1">
            <a:spLocks noChangeArrowheads="1"/>
          </p:cNvSpPr>
          <p:nvPr/>
        </p:nvSpPr>
        <p:spPr bwMode="auto">
          <a:xfrm>
            <a:off x="6470650" y="3354388"/>
            <a:ext cx="2122488"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sz="1400" b="1">
                <a:solidFill>
                  <a:srgbClr val="009900"/>
                </a:solidFill>
                <a:latin typeface="Arial" panose="020B0604020202020204" pitchFamily="34" charset="0"/>
              </a:rPr>
              <a:t>3b. Synthesize labeled </a:t>
            </a:r>
            <a:br>
              <a:rPr kumimoji="0" lang="en-US" altLang="zh-CN" sz="1400" b="1">
                <a:solidFill>
                  <a:srgbClr val="009900"/>
                </a:solidFill>
                <a:latin typeface="Arial" panose="020B0604020202020204" pitchFamily="34" charset="0"/>
              </a:rPr>
            </a:br>
            <a:r>
              <a:rPr kumimoji="0" lang="en-US" altLang="zh-CN" sz="1400" b="1">
                <a:solidFill>
                  <a:srgbClr val="009900"/>
                </a:solidFill>
                <a:latin typeface="Arial" panose="020B0604020202020204" pitchFamily="34" charset="0"/>
              </a:rPr>
              <a:t>       cDNA probe</a:t>
            </a:r>
          </a:p>
        </p:txBody>
      </p:sp>
      <p:grpSp>
        <p:nvGrpSpPr>
          <p:cNvPr id="147469" name="Group 249"/>
          <p:cNvGrpSpPr>
            <a:grpSpLocks noChangeAspect="1"/>
          </p:cNvGrpSpPr>
          <p:nvPr/>
        </p:nvGrpSpPr>
        <p:grpSpPr bwMode="auto">
          <a:xfrm>
            <a:off x="6738938" y="3971925"/>
            <a:ext cx="1855787" cy="109538"/>
            <a:chOff x="95" y="2136"/>
            <a:chExt cx="2246" cy="133"/>
          </a:xfrm>
        </p:grpSpPr>
        <p:sp>
          <p:nvSpPr>
            <p:cNvPr id="147955" name="Freeform 250"/>
            <p:cNvSpPr>
              <a:spLocks noChangeAspect="1"/>
            </p:cNvSpPr>
            <p:nvPr/>
          </p:nvSpPr>
          <p:spPr bwMode="auto">
            <a:xfrm>
              <a:off x="368" y="2136"/>
              <a:ext cx="142"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956" name="Freeform 251"/>
            <p:cNvSpPr>
              <a:spLocks noChangeAspect="1"/>
            </p:cNvSpPr>
            <p:nvPr/>
          </p:nvSpPr>
          <p:spPr bwMode="auto">
            <a:xfrm>
              <a:off x="289" y="2136"/>
              <a:ext cx="142"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957" name="Freeform 252"/>
            <p:cNvSpPr>
              <a:spLocks noChangeAspect="1"/>
            </p:cNvSpPr>
            <p:nvPr/>
          </p:nvSpPr>
          <p:spPr bwMode="auto">
            <a:xfrm>
              <a:off x="640"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958" name="Freeform 253"/>
            <p:cNvSpPr>
              <a:spLocks noChangeAspect="1"/>
            </p:cNvSpPr>
            <p:nvPr/>
          </p:nvSpPr>
          <p:spPr bwMode="auto">
            <a:xfrm>
              <a:off x="561"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959" name="Freeform 254"/>
            <p:cNvSpPr>
              <a:spLocks noChangeAspect="1"/>
            </p:cNvSpPr>
            <p:nvPr/>
          </p:nvSpPr>
          <p:spPr bwMode="auto">
            <a:xfrm>
              <a:off x="913"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960" name="Freeform 255"/>
            <p:cNvSpPr>
              <a:spLocks noChangeAspect="1"/>
            </p:cNvSpPr>
            <p:nvPr/>
          </p:nvSpPr>
          <p:spPr bwMode="auto">
            <a:xfrm>
              <a:off x="834"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961" name="Freeform 256"/>
            <p:cNvSpPr>
              <a:spLocks noChangeAspect="1"/>
            </p:cNvSpPr>
            <p:nvPr/>
          </p:nvSpPr>
          <p:spPr bwMode="auto">
            <a:xfrm>
              <a:off x="1187"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962" name="Freeform 257"/>
            <p:cNvSpPr>
              <a:spLocks noChangeAspect="1"/>
            </p:cNvSpPr>
            <p:nvPr/>
          </p:nvSpPr>
          <p:spPr bwMode="auto">
            <a:xfrm>
              <a:off x="1106"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963" name="Freeform 258"/>
            <p:cNvSpPr>
              <a:spLocks noChangeAspect="1"/>
            </p:cNvSpPr>
            <p:nvPr/>
          </p:nvSpPr>
          <p:spPr bwMode="auto">
            <a:xfrm>
              <a:off x="1460" y="2136"/>
              <a:ext cx="142"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964" name="Freeform 259"/>
            <p:cNvSpPr>
              <a:spLocks noChangeAspect="1"/>
            </p:cNvSpPr>
            <p:nvPr/>
          </p:nvSpPr>
          <p:spPr bwMode="auto">
            <a:xfrm>
              <a:off x="1381" y="2136"/>
              <a:ext cx="142"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965" name="Freeform 260"/>
            <p:cNvSpPr>
              <a:spLocks noChangeAspect="1"/>
            </p:cNvSpPr>
            <p:nvPr/>
          </p:nvSpPr>
          <p:spPr bwMode="auto">
            <a:xfrm>
              <a:off x="1732"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966" name="Freeform 261"/>
            <p:cNvSpPr>
              <a:spLocks noChangeAspect="1"/>
            </p:cNvSpPr>
            <p:nvPr/>
          </p:nvSpPr>
          <p:spPr bwMode="auto">
            <a:xfrm>
              <a:off x="1653"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967" name="Freeform 262"/>
            <p:cNvSpPr>
              <a:spLocks noChangeAspect="1"/>
            </p:cNvSpPr>
            <p:nvPr/>
          </p:nvSpPr>
          <p:spPr bwMode="auto">
            <a:xfrm>
              <a:off x="2005"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968" name="Freeform 263"/>
            <p:cNvSpPr>
              <a:spLocks noChangeAspect="1"/>
            </p:cNvSpPr>
            <p:nvPr/>
          </p:nvSpPr>
          <p:spPr bwMode="auto">
            <a:xfrm>
              <a:off x="1926"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969" name="Freeform 264"/>
            <p:cNvSpPr>
              <a:spLocks noChangeAspect="1"/>
            </p:cNvSpPr>
            <p:nvPr/>
          </p:nvSpPr>
          <p:spPr bwMode="auto">
            <a:xfrm>
              <a:off x="95"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147970" name="Group 265"/>
            <p:cNvGrpSpPr>
              <a:grpSpLocks noChangeAspect="1"/>
            </p:cNvGrpSpPr>
            <p:nvPr/>
          </p:nvGrpSpPr>
          <p:grpSpPr bwMode="auto">
            <a:xfrm>
              <a:off x="229" y="2137"/>
              <a:ext cx="11" cy="86"/>
              <a:chOff x="1015" y="2428"/>
              <a:chExt cx="46" cy="372"/>
            </a:xfrm>
          </p:grpSpPr>
          <p:sp>
            <p:nvSpPr>
              <p:cNvPr id="148168" name="AutoShape 266"/>
              <p:cNvSpPr>
                <a:spLocks noChangeAspect="1" noChangeArrowheads="1"/>
              </p:cNvSpPr>
              <p:nvPr/>
            </p:nvSpPr>
            <p:spPr bwMode="auto">
              <a:xfrm>
                <a:off x="1015" y="2428"/>
                <a:ext cx="46" cy="189"/>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69" name="AutoShape 267"/>
              <p:cNvSpPr>
                <a:spLocks noChangeAspect="1" noChangeArrowheads="1"/>
              </p:cNvSpPr>
              <p:nvPr/>
            </p:nvSpPr>
            <p:spPr bwMode="auto">
              <a:xfrm>
                <a:off x="1015" y="2611"/>
                <a:ext cx="46" cy="189"/>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7971" name="Group 268"/>
            <p:cNvGrpSpPr>
              <a:grpSpLocks noChangeAspect="1"/>
            </p:cNvGrpSpPr>
            <p:nvPr/>
          </p:nvGrpSpPr>
          <p:grpSpPr bwMode="auto">
            <a:xfrm>
              <a:off x="394" y="2153"/>
              <a:ext cx="10" cy="104"/>
              <a:chOff x="1790" y="2461"/>
              <a:chExt cx="40" cy="447"/>
            </a:xfrm>
          </p:grpSpPr>
          <p:sp>
            <p:nvSpPr>
              <p:cNvPr id="148166" name="AutoShape 269"/>
              <p:cNvSpPr>
                <a:spLocks noChangeAspect="1" noChangeArrowheads="1"/>
              </p:cNvSpPr>
              <p:nvPr/>
            </p:nvSpPr>
            <p:spPr bwMode="auto">
              <a:xfrm>
                <a:off x="1790" y="2461"/>
                <a:ext cx="40" cy="223"/>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67" name="AutoShape 270"/>
              <p:cNvSpPr>
                <a:spLocks noChangeAspect="1" noChangeArrowheads="1"/>
              </p:cNvSpPr>
              <p:nvPr/>
            </p:nvSpPr>
            <p:spPr bwMode="auto">
              <a:xfrm>
                <a:off x="1790" y="2684"/>
                <a:ext cx="40" cy="22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7972" name="Group 271"/>
            <p:cNvGrpSpPr>
              <a:grpSpLocks noChangeAspect="1"/>
            </p:cNvGrpSpPr>
            <p:nvPr/>
          </p:nvGrpSpPr>
          <p:grpSpPr bwMode="auto">
            <a:xfrm>
              <a:off x="260" y="2150"/>
              <a:ext cx="9" cy="107"/>
              <a:chOff x="1151" y="2490"/>
              <a:chExt cx="40" cy="455"/>
            </a:xfrm>
          </p:grpSpPr>
          <p:sp>
            <p:nvSpPr>
              <p:cNvPr id="148164" name="AutoShape 272"/>
              <p:cNvSpPr>
                <a:spLocks noChangeAspect="1" noChangeArrowheads="1"/>
              </p:cNvSpPr>
              <p:nvPr/>
            </p:nvSpPr>
            <p:spPr bwMode="auto">
              <a:xfrm>
                <a:off x="1151" y="2716"/>
                <a:ext cx="40" cy="229"/>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65" name="AutoShape 273"/>
              <p:cNvSpPr>
                <a:spLocks noChangeAspect="1" noChangeArrowheads="1"/>
              </p:cNvSpPr>
              <p:nvPr/>
            </p:nvSpPr>
            <p:spPr bwMode="auto">
              <a:xfrm>
                <a:off x="1151" y="2490"/>
                <a:ext cx="40" cy="22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7973" name="Group 274"/>
            <p:cNvGrpSpPr>
              <a:grpSpLocks noChangeAspect="1"/>
            </p:cNvGrpSpPr>
            <p:nvPr/>
          </p:nvGrpSpPr>
          <p:grpSpPr bwMode="auto">
            <a:xfrm>
              <a:off x="425" y="2140"/>
              <a:ext cx="9" cy="76"/>
              <a:chOff x="1914" y="2425"/>
              <a:chExt cx="40" cy="326"/>
            </a:xfrm>
          </p:grpSpPr>
          <p:sp>
            <p:nvSpPr>
              <p:cNvPr id="148162" name="AutoShape 275"/>
              <p:cNvSpPr>
                <a:spLocks noChangeAspect="1" noChangeArrowheads="1"/>
              </p:cNvSpPr>
              <p:nvPr/>
            </p:nvSpPr>
            <p:spPr bwMode="auto">
              <a:xfrm>
                <a:off x="1914" y="2425"/>
                <a:ext cx="40" cy="163"/>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63" name="AutoShape 276"/>
              <p:cNvSpPr>
                <a:spLocks noChangeAspect="1" noChangeArrowheads="1"/>
              </p:cNvSpPr>
              <p:nvPr/>
            </p:nvSpPr>
            <p:spPr bwMode="auto">
              <a:xfrm>
                <a:off x="1914" y="2588"/>
                <a:ext cx="40" cy="163"/>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7974" name="Group 277"/>
            <p:cNvGrpSpPr>
              <a:grpSpLocks noChangeAspect="1"/>
            </p:cNvGrpSpPr>
            <p:nvPr/>
          </p:nvGrpSpPr>
          <p:grpSpPr bwMode="auto">
            <a:xfrm>
              <a:off x="290" y="2187"/>
              <a:ext cx="9" cy="78"/>
              <a:chOff x="1284" y="2652"/>
              <a:chExt cx="40" cy="337"/>
            </a:xfrm>
          </p:grpSpPr>
          <p:sp>
            <p:nvSpPr>
              <p:cNvPr id="148160" name="AutoShape 278"/>
              <p:cNvSpPr>
                <a:spLocks noChangeAspect="1" noChangeArrowheads="1"/>
              </p:cNvSpPr>
              <p:nvPr/>
            </p:nvSpPr>
            <p:spPr bwMode="auto">
              <a:xfrm>
                <a:off x="1284" y="2821"/>
                <a:ext cx="40" cy="16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61" name="AutoShape 279"/>
              <p:cNvSpPr>
                <a:spLocks noChangeAspect="1" noChangeArrowheads="1"/>
              </p:cNvSpPr>
              <p:nvPr/>
            </p:nvSpPr>
            <p:spPr bwMode="auto">
              <a:xfrm>
                <a:off x="1284" y="2652"/>
                <a:ext cx="40" cy="168"/>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7975" name="Group 280"/>
            <p:cNvGrpSpPr>
              <a:grpSpLocks noChangeAspect="1"/>
            </p:cNvGrpSpPr>
            <p:nvPr/>
          </p:nvGrpSpPr>
          <p:grpSpPr bwMode="auto">
            <a:xfrm>
              <a:off x="364" y="2184"/>
              <a:ext cx="9" cy="83"/>
              <a:chOff x="1658" y="2628"/>
              <a:chExt cx="40" cy="355"/>
            </a:xfrm>
          </p:grpSpPr>
          <p:sp>
            <p:nvSpPr>
              <p:cNvPr id="148158" name="AutoShape 281"/>
              <p:cNvSpPr>
                <a:spLocks noChangeAspect="1" noChangeArrowheads="1"/>
              </p:cNvSpPr>
              <p:nvPr/>
            </p:nvSpPr>
            <p:spPr bwMode="auto">
              <a:xfrm>
                <a:off x="1658" y="2628"/>
                <a:ext cx="40" cy="178"/>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59" name="AutoShape 282"/>
              <p:cNvSpPr>
                <a:spLocks noChangeAspect="1" noChangeArrowheads="1"/>
              </p:cNvSpPr>
              <p:nvPr/>
            </p:nvSpPr>
            <p:spPr bwMode="auto">
              <a:xfrm>
                <a:off x="1658" y="2805"/>
                <a:ext cx="40" cy="178"/>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7976" name="Group 283"/>
            <p:cNvGrpSpPr>
              <a:grpSpLocks noChangeAspect="1"/>
            </p:cNvGrpSpPr>
            <p:nvPr/>
          </p:nvGrpSpPr>
          <p:grpSpPr bwMode="auto">
            <a:xfrm>
              <a:off x="334" y="2228"/>
              <a:ext cx="9" cy="29"/>
              <a:chOff x="1516" y="2835"/>
              <a:chExt cx="42" cy="123"/>
            </a:xfrm>
          </p:grpSpPr>
          <p:sp>
            <p:nvSpPr>
              <p:cNvPr id="148156" name="AutoShape 284"/>
              <p:cNvSpPr>
                <a:spLocks noChangeAspect="1" noChangeArrowheads="1"/>
              </p:cNvSpPr>
              <p:nvPr/>
            </p:nvSpPr>
            <p:spPr bwMode="auto">
              <a:xfrm>
                <a:off x="1516" y="2897"/>
                <a:ext cx="42" cy="61"/>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57" name="AutoShape 285"/>
              <p:cNvSpPr>
                <a:spLocks noChangeAspect="1" noChangeArrowheads="1"/>
              </p:cNvSpPr>
              <p:nvPr/>
            </p:nvSpPr>
            <p:spPr bwMode="auto">
              <a:xfrm>
                <a:off x="1516" y="2835"/>
                <a:ext cx="42" cy="62"/>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7977" name="Group 286"/>
            <p:cNvGrpSpPr>
              <a:grpSpLocks noChangeAspect="1"/>
            </p:cNvGrpSpPr>
            <p:nvPr/>
          </p:nvGrpSpPr>
          <p:grpSpPr bwMode="auto">
            <a:xfrm>
              <a:off x="522" y="2144"/>
              <a:ext cx="9" cy="103"/>
              <a:chOff x="2195" y="2463"/>
              <a:chExt cx="40" cy="442"/>
            </a:xfrm>
          </p:grpSpPr>
          <p:sp>
            <p:nvSpPr>
              <p:cNvPr id="148154" name="AutoShape 287"/>
              <p:cNvSpPr>
                <a:spLocks noChangeAspect="1" noChangeArrowheads="1"/>
              </p:cNvSpPr>
              <p:nvPr/>
            </p:nvSpPr>
            <p:spPr bwMode="auto">
              <a:xfrm>
                <a:off x="2195" y="2684"/>
                <a:ext cx="40" cy="221"/>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55" name="AutoShape 288"/>
              <p:cNvSpPr>
                <a:spLocks noChangeAspect="1" noChangeArrowheads="1"/>
              </p:cNvSpPr>
              <p:nvPr/>
            </p:nvSpPr>
            <p:spPr bwMode="auto">
              <a:xfrm>
                <a:off x="2195" y="2463"/>
                <a:ext cx="40" cy="221"/>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7978" name="Group 289"/>
            <p:cNvGrpSpPr>
              <a:grpSpLocks noChangeAspect="1"/>
            </p:cNvGrpSpPr>
            <p:nvPr/>
          </p:nvGrpSpPr>
          <p:grpSpPr bwMode="auto">
            <a:xfrm>
              <a:off x="554" y="2177"/>
              <a:ext cx="10" cy="90"/>
              <a:chOff x="2329" y="2599"/>
              <a:chExt cx="43" cy="386"/>
            </a:xfrm>
          </p:grpSpPr>
          <p:sp>
            <p:nvSpPr>
              <p:cNvPr id="148152" name="AutoShape 290"/>
              <p:cNvSpPr>
                <a:spLocks noChangeAspect="1" noChangeArrowheads="1"/>
              </p:cNvSpPr>
              <p:nvPr/>
            </p:nvSpPr>
            <p:spPr bwMode="auto">
              <a:xfrm>
                <a:off x="2329" y="2791"/>
                <a:ext cx="43" cy="19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53" name="AutoShape 291"/>
              <p:cNvSpPr>
                <a:spLocks noChangeAspect="1" noChangeArrowheads="1"/>
              </p:cNvSpPr>
              <p:nvPr/>
            </p:nvSpPr>
            <p:spPr bwMode="auto">
              <a:xfrm>
                <a:off x="2329" y="2599"/>
                <a:ext cx="43" cy="19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7979" name="Group 292"/>
            <p:cNvGrpSpPr>
              <a:grpSpLocks noChangeAspect="1"/>
            </p:cNvGrpSpPr>
            <p:nvPr/>
          </p:nvGrpSpPr>
          <p:grpSpPr bwMode="auto">
            <a:xfrm>
              <a:off x="450" y="2143"/>
              <a:ext cx="10" cy="38"/>
              <a:chOff x="2478" y="2807"/>
              <a:chExt cx="43" cy="178"/>
            </a:xfrm>
          </p:grpSpPr>
          <p:sp>
            <p:nvSpPr>
              <p:cNvPr id="148150" name="AutoShape 293"/>
              <p:cNvSpPr>
                <a:spLocks noChangeAspect="1" noChangeArrowheads="1"/>
              </p:cNvSpPr>
              <p:nvPr/>
            </p:nvSpPr>
            <p:spPr bwMode="auto">
              <a:xfrm>
                <a:off x="2478" y="2807"/>
                <a:ext cx="43" cy="89"/>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51" name="AutoShape 294"/>
              <p:cNvSpPr>
                <a:spLocks noChangeAspect="1" noChangeArrowheads="1"/>
              </p:cNvSpPr>
              <p:nvPr/>
            </p:nvSpPr>
            <p:spPr bwMode="auto">
              <a:xfrm>
                <a:off x="2478" y="2896"/>
                <a:ext cx="43" cy="8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7980" name="Group 295"/>
            <p:cNvGrpSpPr>
              <a:grpSpLocks noChangeAspect="1"/>
            </p:cNvGrpSpPr>
            <p:nvPr/>
          </p:nvGrpSpPr>
          <p:grpSpPr bwMode="auto">
            <a:xfrm>
              <a:off x="490" y="2140"/>
              <a:ext cx="10" cy="63"/>
              <a:chOff x="2065" y="2441"/>
              <a:chExt cx="40" cy="272"/>
            </a:xfrm>
          </p:grpSpPr>
          <p:sp>
            <p:nvSpPr>
              <p:cNvPr id="148148" name="AutoShape 296"/>
              <p:cNvSpPr>
                <a:spLocks noChangeAspect="1" noChangeArrowheads="1"/>
              </p:cNvSpPr>
              <p:nvPr/>
            </p:nvSpPr>
            <p:spPr bwMode="auto">
              <a:xfrm>
                <a:off x="2065" y="2576"/>
                <a:ext cx="40" cy="13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49" name="AutoShape 297"/>
              <p:cNvSpPr>
                <a:spLocks noChangeAspect="1" noChangeArrowheads="1"/>
              </p:cNvSpPr>
              <p:nvPr/>
            </p:nvSpPr>
            <p:spPr bwMode="auto">
              <a:xfrm>
                <a:off x="2065" y="2441"/>
                <a:ext cx="40" cy="13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7981" name="Group 298"/>
            <p:cNvGrpSpPr>
              <a:grpSpLocks noChangeAspect="1"/>
            </p:cNvGrpSpPr>
            <p:nvPr/>
          </p:nvGrpSpPr>
          <p:grpSpPr bwMode="auto">
            <a:xfrm>
              <a:off x="585" y="2222"/>
              <a:ext cx="10" cy="38"/>
              <a:chOff x="2478" y="2807"/>
              <a:chExt cx="43" cy="178"/>
            </a:xfrm>
          </p:grpSpPr>
          <p:sp>
            <p:nvSpPr>
              <p:cNvPr id="148146" name="AutoShape 299"/>
              <p:cNvSpPr>
                <a:spLocks noChangeAspect="1" noChangeArrowheads="1"/>
              </p:cNvSpPr>
              <p:nvPr/>
            </p:nvSpPr>
            <p:spPr bwMode="auto">
              <a:xfrm>
                <a:off x="2478" y="2807"/>
                <a:ext cx="43" cy="89"/>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47" name="AutoShape 300"/>
              <p:cNvSpPr>
                <a:spLocks noChangeAspect="1" noChangeArrowheads="1"/>
              </p:cNvSpPr>
              <p:nvPr/>
            </p:nvSpPr>
            <p:spPr bwMode="auto">
              <a:xfrm>
                <a:off x="2478" y="2896"/>
                <a:ext cx="43" cy="8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7982" name="Group 301"/>
            <p:cNvGrpSpPr>
              <a:grpSpLocks noChangeAspect="1"/>
            </p:cNvGrpSpPr>
            <p:nvPr/>
          </p:nvGrpSpPr>
          <p:grpSpPr bwMode="auto">
            <a:xfrm>
              <a:off x="713" y="2140"/>
              <a:ext cx="10" cy="52"/>
              <a:chOff x="3094" y="2443"/>
              <a:chExt cx="40" cy="183"/>
            </a:xfrm>
          </p:grpSpPr>
          <p:sp>
            <p:nvSpPr>
              <p:cNvPr id="148144" name="AutoShape 302"/>
              <p:cNvSpPr>
                <a:spLocks noChangeAspect="1" noChangeArrowheads="1"/>
              </p:cNvSpPr>
              <p:nvPr/>
            </p:nvSpPr>
            <p:spPr bwMode="auto">
              <a:xfrm flipV="1">
                <a:off x="3094" y="2443"/>
                <a:ext cx="40" cy="92"/>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45" name="AutoShape 303"/>
              <p:cNvSpPr>
                <a:spLocks noChangeAspect="1" noChangeArrowheads="1"/>
              </p:cNvSpPr>
              <p:nvPr/>
            </p:nvSpPr>
            <p:spPr bwMode="auto">
              <a:xfrm flipV="1">
                <a:off x="3094" y="2534"/>
                <a:ext cx="40" cy="92"/>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7983" name="Group 304"/>
            <p:cNvGrpSpPr>
              <a:grpSpLocks noChangeAspect="1"/>
            </p:cNvGrpSpPr>
            <p:nvPr/>
          </p:nvGrpSpPr>
          <p:grpSpPr bwMode="auto">
            <a:xfrm>
              <a:off x="686" y="2140"/>
              <a:ext cx="11" cy="96"/>
              <a:chOff x="2978" y="2432"/>
              <a:chExt cx="46" cy="375"/>
            </a:xfrm>
          </p:grpSpPr>
          <p:sp>
            <p:nvSpPr>
              <p:cNvPr id="148142" name="AutoShape 305"/>
              <p:cNvSpPr>
                <a:spLocks noChangeAspect="1" noChangeArrowheads="1"/>
              </p:cNvSpPr>
              <p:nvPr/>
            </p:nvSpPr>
            <p:spPr bwMode="auto">
              <a:xfrm>
                <a:off x="2978" y="2619"/>
                <a:ext cx="46" cy="188"/>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43" name="AutoShape 306"/>
              <p:cNvSpPr>
                <a:spLocks noChangeAspect="1" noChangeArrowheads="1"/>
              </p:cNvSpPr>
              <p:nvPr/>
            </p:nvSpPr>
            <p:spPr bwMode="auto">
              <a:xfrm>
                <a:off x="2978" y="2432"/>
                <a:ext cx="46" cy="188"/>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7984" name="Group 307"/>
            <p:cNvGrpSpPr>
              <a:grpSpLocks noChangeAspect="1"/>
            </p:cNvGrpSpPr>
            <p:nvPr/>
          </p:nvGrpSpPr>
          <p:grpSpPr bwMode="auto">
            <a:xfrm>
              <a:off x="655" y="2160"/>
              <a:ext cx="10" cy="102"/>
              <a:chOff x="2832" y="2516"/>
              <a:chExt cx="43" cy="436"/>
            </a:xfrm>
          </p:grpSpPr>
          <p:sp>
            <p:nvSpPr>
              <p:cNvPr id="148140" name="AutoShape 308"/>
              <p:cNvSpPr>
                <a:spLocks noChangeAspect="1" noChangeArrowheads="1"/>
              </p:cNvSpPr>
              <p:nvPr/>
            </p:nvSpPr>
            <p:spPr bwMode="auto">
              <a:xfrm flipV="1">
                <a:off x="2832" y="2516"/>
                <a:ext cx="43" cy="21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41" name="AutoShape 309"/>
              <p:cNvSpPr>
                <a:spLocks noChangeAspect="1" noChangeArrowheads="1"/>
              </p:cNvSpPr>
              <p:nvPr/>
            </p:nvSpPr>
            <p:spPr bwMode="auto">
              <a:xfrm flipV="1">
                <a:off x="2832" y="2734"/>
                <a:ext cx="43" cy="218"/>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7985" name="Group 310"/>
            <p:cNvGrpSpPr>
              <a:grpSpLocks noChangeAspect="1"/>
            </p:cNvGrpSpPr>
            <p:nvPr/>
          </p:nvGrpSpPr>
          <p:grpSpPr bwMode="auto">
            <a:xfrm>
              <a:off x="622" y="2213"/>
              <a:ext cx="9" cy="51"/>
              <a:chOff x="2668" y="2761"/>
              <a:chExt cx="40" cy="217"/>
            </a:xfrm>
          </p:grpSpPr>
          <p:sp>
            <p:nvSpPr>
              <p:cNvPr id="148138" name="AutoShape 311"/>
              <p:cNvSpPr>
                <a:spLocks noChangeAspect="1" noChangeArrowheads="1"/>
              </p:cNvSpPr>
              <p:nvPr/>
            </p:nvSpPr>
            <p:spPr bwMode="auto">
              <a:xfrm>
                <a:off x="2668" y="2870"/>
                <a:ext cx="40" cy="10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39" name="AutoShape 312"/>
              <p:cNvSpPr>
                <a:spLocks noChangeAspect="1" noChangeArrowheads="1"/>
              </p:cNvSpPr>
              <p:nvPr/>
            </p:nvSpPr>
            <p:spPr bwMode="auto">
              <a:xfrm>
                <a:off x="2668" y="2761"/>
                <a:ext cx="40" cy="108"/>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7986" name="Group 313"/>
            <p:cNvGrpSpPr>
              <a:grpSpLocks noChangeAspect="1"/>
            </p:cNvGrpSpPr>
            <p:nvPr/>
          </p:nvGrpSpPr>
          <p:grpSpPr bwMode="auto">
            <a:xfrm flipV="1">
              <a:off x="818" y="2163"/>
              <a:ext cx="10" cy="103"/>
              <a:chOff x="3217" y="3037"/>
              <a:chExt cx="46" cy="372"/>
            </a:xfrm>
          </p:grpSpPr>
          <p:sp>
            <p:nvSpPr>
              <p:cNvPr id="148136" name="AutoShape 314"/>
              <p:cNvSpPr>
                <a:spLocks noChangeAspect="1" noChangeArrowheads="1"/>
              </p:cNvSpPr>
              <p:nvPr/>
            </p:nvSpPr>
            <p:spPr bwMode="auto">
              <a:xfrm>
                <a:off x="3217" y="3037"/>
                <a:ext cx="46" cy="189"/>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37" name="AutoShape 315"/>
              <p:cNvSpPr>
                <a:spLocks noChangeAspect="1" noChangeArrowheads="1"/>
              </p:cNvSpPr>
              <p:nvPr/>
            </p:nvSpPr>
            <p:spPr bwMode="auto">
              <a:xfrm>
                <a:off x="3217" y="3220"/>
                <a:ext cx="46" cy="189"/>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7987" name="Group 316"/>
            <p:cNvGrpSpPr>
              <a:grpSpLocks noChangeAspect="1"/>
            </p:cNvGrpSpPr>
            <p:nvPr/>
          </p:nvGrpSpPr>
          <p:grpSpPr bwMode="auto">
            <a:xfrm>
              <a:off x="785" y="2137"/>
              <a:ext cx="11" cy="102"/>
              <a:chOff x="3353" y="3099"/>
              <a:chExt cx="40" cy="455"/>
            </a:xfrm>
          </p:grpSpPr>
          <p:sp>
            <p:nvSpPr>
              <p:cNvPr id="148134" name="AutoShape 317"/>
              <p:cNvSpPr>
                <a:spLocks noChangeAspect="1" noChangeArrowheads="1"/>
              </p:cNvSpPr>
              <p:nvPr/>
            </p:nvSpPr>
            <p:spPr bwMode="auto">
              <a:xfrm>
                <a:off x="3353" y="3325"/>
                <a:ext cx="40" cy="229"/>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35" name="AutoShape 318"/>
              <p:cNvSpPr>
                <a:spLocks noChangeAspect="1" noChangeArrowheads="1"/>
              </p:cNvSpPr>
              <p:nvPr/>
            </p:nvSpPr>
            <p:spPr bwMode="auto">
              <a:xfrm>
                <a:off x="3353" y="3099"/>
                <a:ext cx="40" cy="22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7988" name="Group 319"/>
            <p:cNvGrpSpPr>
              <a:grpSpLocks noChangeAspect="1"/>
            </p:cNvGrpSpPr>
            <p:nvPr/>
          </p:nvGrpSpPr>
          <p:grpSpPr bwMode="auto">
            <a:xfrm>
              <a:off x="757" y="2139"/>
              <a:ext cx="11" cy="61"/>
              <a:chOff x="3486" y="3261"/>
              <a:chExt cx="40" cy="337"/>
            </a:xfrm>
          </p:grpSpPr>
          <p:sp>
            <p:nvSpPr>
              <p:cNvPr id="148132" name="AutoShape 320"/>
              <p:cNvSpPr>
                <a:spLocks noChangeAspect="1" noChangeArrowheads="1"/>
              </p:cNvSpPr>
              <p:nvPr/>
            </p:nvSpPr>
            <p:spPr bwMode="auto">
              <a:xfrm>
                <a:off x="3486" y="3430"/>
                <a:ext cx="40" cy="16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33" name="AutoShape 321"/>
              <p:cNvSpPr>
                <a:spLocks noChangeAspect="1" noChangeArrowheads="1"/>
              </p:cNvSpPr>
              <p:nvPr/>
            </p:nvSpPr>
            <p:spPr bwMode="auto">
              <a:xfrm>
                <a:off x="3486" y="3261"/>
                <a:ext cx="40" cy="168"/>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7989" name="Group 322"/>
            <p:cNvGrpSpPr>
              <a:grpSpLocks noChangeAspect="1"/>
            </p:cNvGrpSpPr>
            <p:nvPr/>
          </p:nvGrpSpPr>
          <p:grpSpPr bwMode="auto">
            <a:xfrm>
              <a:off x="953" y="2143"/>
              <a:ext cx="9" cy="104"/>
              <a:chOff x="2195" y="2463"/>
              <a:chExt cx="40" cy="442"/>
            </a:xfrm>
          </p:grpSpPr>
          <p:sp>
            <p:nvSpPr>
              <p:cNvPr id="148130" name="AutoShape 323"/>
              <p:cNvSpPr>
                <a:spLocks noChangeAspect="1" noChangeArrowheads="1"/>
              </p:cNvSpPr>
              <p:nvPr/>
            </p:nvSpPr>
            <p:spPr bwMode="auto">
              <a:xfrm>
                <a:off x="2195" y="2684"/>
                <a:ext cx="40" cy="221"/>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31" name="AutoShape 324"/>
              <p:cNvSpPr>
                <a:spLocks noChangeAspect="1" noChangeArrowheads="1"/>
              </p:cNvSpPr>
              <p:nvPr/>
            </p:nvSpPr>
            <p:spPr bwMode="auto">
              <a:xfrm>
                <a:off x="2195" y="2463"/>
                <a:ext cx="40" cy="221"/>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7990" name="Group 325"/>
            <p:cNvGrpSpPr>
              <a:grpSpLocks noChangeAspect="1"/>
            </p:cNvGrpSpPr>
            <p:nvPr/>
          </p:nvGrpSpPr>
          <p:grpSpPr bwMode="auto">
            <a:xfrm>
              <a:off x="916" y="2176"/>
              <a:ext cx="10" cy="91"/>
              <a:chOff x="2329" y="2599"/>
              <a:chExt cx="43" cy="386"/>
            </a:xfrm>
          </p:grpSpPr>
          <p:sp>
            <p:nvSpPr>
              <p:cNvPr id="148128" name="AutoShape 326"/>
              <p:cNvSpPr>
                <a:spLocks noChangeAspect="1" noChangeArrowheads="1"/>
              </p:cNvSpPr>
              <p:nvPr/>
            </p:nvSpPr>
            <p:spPr bwMode="auto">
              <a:xfrm>
                <a:off x="2329" y="2791"/>
                <a:ext cx="43" cy="19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29" name="AutoShape 327"/>
              <p:cNvSpPr>
                <a:spLocks noChangeAspect="1" noChangeArrowheads="1"/>
              </p:cNvSpPr>
              <p:nvPr/>
            </p:nvSpPr>
            <p:spPr bwMode="auto">
              <a:xfrm>
                <a:off x="2329" y="2599"/>
                <a:ext cx="43" cy="19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7991" name="Group 328"/>
            <p:cNvGrpSpPr>
              <a:grpSpLocks noChangeAspect="1"/>
            </p:cNvGrpSpPr>
            <p:nvPr/>
          </p:nvGrpSpPr>
          <p:grpSpPr bwMode="auto">
            <a:xfrm>
              <a:off x="846" y="2201"/>
              <a:ext cx="10" cy="63"/>
              <a:chOff x="2065" y="2441"/>
              <a:chExt cx="40" cy="272"/>
            </a:xfrm>
          </p:grpSpPr>
          <p:sp>
            <p:nvSpPr>
              <p:cNvPr id="148126" name="AutoShape 329"/>
              <p:cNvSpPr>
                <a:spLocks noChangeAspect="1" noChangeArrowheads="1"/>
              </p:cNvSpPr>
              <p:nvPr/>
            </p:nvSpPr>
            <p:spPr bwMode="auto">
              <a:xfrm>
                <a:off x="2065" y="2576"/>
                <a:ext cx="40" cy="13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27" name="AutoShape 330"/>
              <p:cNvSpPr>
                <a:spLocks noChangeAspect="1" noChangeArrowheads="1"/>
              </p:cNvSpPr>
              <p:nvPr/>
            </p:nvSpPr>
            <p:spPr bwMode="auto">
              <a:xfrm>
                <a:off x="2065" y="2441"/>
                <a:ext cx="40" cy="13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7992" name="Group 331"/>
            <p:cNvGrpSpPr>
              <a:grpSpLocks noChangeAspect="1"/>
            </p:cNvGrpSpPr>
            <p:nvPr/>
          </p:nvGrpSpPr>
          <p:grpSpPr bwMode="auto">
            <a:xfrm flipV="1">
              <a:off x="888" y="2218"/>
              <a:ext cx="11" cy="42"/>
              <a:chOff x="2815" y="1923"/>
              <a:chExt cx="40" cy="217"/>
            </a:xfrm>
          </p:grpSpPr>
          <p:sp>
            <p:nvSpPr>
              <p:cNvPr id="148124" name="AutoShape 332"/>
              <p:cNvSpPr>
                <a:spLocks noChangeAspect="1" noChangeArrowheads="1"/>
              </p:cNvSpPr>
              <p:nvPr/>
            </p:nvSpPr>
            <p:spPr bwMode="auto">
              <a:xfrm>
                <a:off x="2815" y="2032"/>
                <a:ext cx="40" cy="10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25" name="AutoShape 333"/>
              <p:cNvSpPr>
                <a:spLocks noChangeAspect="1" noChangeArrowheads="1"/>
              </p:cNvSpPr>
              <p:nvPr/>
            </p:nvSpPr>
            <p:spPr bwMode="auto">
              <a:xfrm>
                <a:off x="2815" y="1923"/>
                <a:ext cx="40" cy="108"/>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7993" name="Group 334"/>
            <p:cNvGrpSpPr>
              <a:grpSpLocks noChangeAspect="1"/>
            </p:cNvGrpSpPr>
            <p:nvPr/>
          </p:nvGrpSpPr>
          <p:grpSpPr bwMode="auto">
            <a:xfrm>
              <a:off x="981" y="2139"/>
              <a:ext cx="11" cy="64"/>
              <a:chOff x="2329" y="2599"/>
              <a:chExt cx="43" cy="386"/>
            </a:xfrm>
          </p:grpSpPr>
          <p:sp>
            <p:nvSpPr>
              <p:cNvPr id="148122" name="AutoShape 335"/>
              <p:cNvSpPr>
                <a:spLocks noChangeAspect="1" noChangeArrowheads="1"/>
              </p:cNvSpPr>
              <p:nvPr/>
            </p:nvSpPr>
            <p:spPr bwMode="auto">
              <a:xfrm>
                <a:off x="2329" y="2791"/>
                <a:ext cx="43" cy="19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23" name="AutoShape 336"/>
              <p:cNvSpPr>
                <a:spLocks noChangeAspect="1" noChangeArrowheads="1"/>
              </p:cNvSpPr>
              <p:nvPr/>
            </p:nvSpPr>
            <p:spPr bwMode="auto">
              <a:xfrm>
                <a:off x="2329" y="2599"/>
                <a:ext cx="43" cy="19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7994" name="Group 337"/>
            <p:cNvGrpSpPr>
              <a:grpSpLocks noChangeAspect="1"/>
            </p:cNvGrpSpPr>
            <p:nvPr/>
          </p:nvGrpSpPr>
          <p:grpSpPr bwMode="auto">
            <a:xfrm>
              <a:off x="1019" y="2144"/>
              <a:ext cx="10" cy="38"/>
              <a:chOff x="2478" y="2807"/>
              <a:chExt cx="43" cy="178"/>
            </a:xfrm>
          </p:grpSpPr>
          <p:sp>
            <p:nvSpPr>
              <p:cNvPr id="148120" name="AutoShape 338"/>
              <p:cNvSpPr>
                <a:spLocks noChangeAspect="1" noChangeArrowheads="1"/>
              </p:cNvSpPr>
              <p:nvPr/>
            </p:nvSpPr>
            <p:spPr bwMode="auto">
              <a:xfrm>
                <a:off x="2478" y="2807"/>
                <a:ext cx="43" cy="89"/>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21" name="AutoShape 339"/>
              <p:cNvSpPr>
                <a:spLocks noChangeAspect="1" noChangeArrowheads="1"/>
              </p:cNvSpPr>
              <p:nvPr/>
            </p:nvSpPr>
            <p:spPr bwMode="auto">
              <a:xfrm>
                <a:off x="2478" y="2896"/>
                <a:ext cx="43" cy="8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7995" name="Group 340"/>
            <p:cNvGrpSpPr>
              <a:grpSpLocks noChangeAspect="1"/>
            </p:cNvGrpSpPr>
            <p:nvPr/>
          </p:nvGrpSpPr>
          <p:grpSpPr bwMode="auto">
            <a:xfrm>
              <a:off x="1080" y="2154"/>
              <a:ext cx="10" cy="104"/>
              <a:chOff x="2195" y="2463"/>
              <a:chExt cx="40" cy="442"/>
            </a:xfrm>
          </p:grpSpPr>
          <p:sp>
            <p:nvSpPr>
              <p:cNvPr id="148118" name="AutoShape 341"/>
              <p:cNvSpPr>
                <a:spLocks noChangeAspect="1" noChangeArrowheads="1"/>
              </p:cNvSpPr>
              <p:nvPr/>
            </p:nvSpPr>
            <p:spPr bwMode="auto">
              <a:xfrm>
                <a:off x="2195" y="2684"/>
                <a:ext cx="40" cy="221"/>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19" name="AutoShape 342"/>
              <p:cNvSpPr>
                <a:spLocks noChangeAspect="1" noChangeArrowheads="1"/>
              </p:cNvSpPr>
              <p:nvPr/>
            </p:nvSpPr>
            <p:spPr bwMode="auto">
              <a:xfrm>
                <a:off x="2195" y="2463"/>
                <a:ext cx="40" cy="221"/>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7996" name="Group 343"/>
            <p:cNvGrpSpPr>
              <a:grpSpLocks noChangeAspect="1"/>
            </p:cNvGrpSpPr>
            <p:nvPr/>
          </p:nvGrpSpPr>
          <p:grpSpPr bwMode="auto">
            <a:xfrm>
              <a:off x="1112" y="2192"/>
              <a:ext cx="10" cy="74"/>
              <a:chOff x="2329" y="2599"/>
              <a:chExt cx="43" cy="386"/>
            </a:xfrm>
          </p:grpSpPr>
          <p:sp>
            <p:nvSpPr>
              <p:cNvPr id="148116" name="AutoShape 344"/>
              <p:cNvSpPr>
                <a:spLocks noChangeAspect="1" noChangeArrowheads="1"/>
              </p:cNvSpPr>
              <p:nvPr/>
            </p:nvSpPr>
            <p:spPr bwMode="auto">
              <a:xfrm>
                <a:off x="2329" y="2791"/>
                <a:ext cx="43" cy="19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17" name="AutoShape 345"/>
              <p:cNvSpPr>
                <a:spLocks noChangeAspect="1" noChangeArrowheads="1"/>
              </p:cNvSpPr>
              <p:nvPr/>
            </p:nvSpPr>
            <p:spPr bwMode="auto">
              <a:xfrm>
                <a:off x="2329" y="2599"/>
                <a:ext cx="43" cy="19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7997" name="Group 346"/>
            <p:cNvGrpSpPr>
              <a:grpSpLocks noChangeAspect="1"/>
            </p:cNvGrpSpPr>
            <p:nvPr/>
          </p:nvGrpSpPr>
          <p:grpSpPr bwMode="auto">
            <a:xfrm>
              <a:off x="1049" y="2140"/>
              <a:ext cx="10" cy="79"/>
              <a:chOff x="2065" y="2441"/>
              <a:chExt cx="40" cy="272"/>
            </a:xfrm>
          </p:grpSpPr>
          <p:sp>
            <p:nvSpPr>
              <p:cNvPr id="148114" name="AutoShape 347"/>
              <p:cNvSpPr>
                <a:spLocks noChangeAspect="1" noChangeArrowheads="1"/>
              </p:cNvSpPr>
              <p:nvPr/>
            </p:nvSpPr>
            <p:spPr bwMode="auto">
              <a:xfrm>
                <a:off x="2065" y="2576"/>
                <a:ext cx="40" cy="13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15" name="AutoShape 348"/>
              <p:cNvSpPr>
                <a:spLocks noChangeAspect="1" noChangeArrowheads="1"/>
              </p:cNvSpPr>
              <p:nvPr/>
            </p:nvSpPr>
            <p:spPr bwMode="auto">
              <a:xfrm>
                <a:off x="2065" y="2441"/>
                <a:ext cx="40" cy="13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sp>
          <p:nvSpPr>
            <p:cNvPr id="147998" name="Freeform 349"/>
            <p:cNvSpPr>
              <a:spLocks noChangeAspect="1"/>
            </p:cNvSpPr>
            <p:nvPr/>
          </p:nvSpPr>
          <p:spPr bwMode="auto">
            <a:xfrm>
              <a:off x="2198"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147999" name="Group 350"/>
            <p:cNvGrpSpPr>
              <a:grpSpLocks noChangeAspect="1"/>
            </p:cNvGrpSpPr>
            <p:nvPr/>
          </p:nvGrpSpPr>
          <p:grpSpPr bwMode="auto">
            <a:xfrm>
              <a:off x="1321" y="2137"/>
              <a:ext cx="11" cy="86"/>
              <a:chOff x="1015" y="2428"/>
              <a:chExt cx="46" cy="372"/>
            </a:xfrm>
          </p:grpSpPr>
          <p:sp>
            <p:nvSpPr>
              <p:cNvPr id="148112" name="AutoShape 351"/>
              <p:cNvSpPr>
                <a:spLocks noChangeAspect="1" noChangeArrowheads="1"/>
              </p:cNvSpPr>
              <p:nvPr/>
            </p:nvSpPr>
            <p:spPr bwMode="auto">
              <a:xfrm>
                <a:off x="1015" y="2428"/>
                <a:ext cx="46" cy="189"/>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13" name="AutoShape 352"/>
              <p:cNvSpPr>
                <a:spLocks noChangeAspect="1" noChangeArrowheads="1"/>
              </p:cNvSpPr>
              <p:nvPr/>
            </p:nvSpPr>
            <p:spPr bwMode="auto">
              <a:xfrm>
                <a:off x="1015" y="2611"/>
                <a:ext cx="46" cy="189"/>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8000" name="Group 353"/>
            <p:cNvGrpSpPr>
              <a:grpSpLocks noChangeAspect="1"/>
            </p:cNvGrpSpPr>
            <p:nvPr/>
          </p:nvGrpSpPr>
          <p:grpSpPr bwMode="auto">
            <a:xfrm>
              <a:off x="1488" y="2147"/>
              <a:ext cx="10" cy="104"/>
              <a:chOff x="1790" y="2461"/>
              <a:chExt cx="40" cy="447"/>
            </a:xfrm>
          </p:grpSpPr>
          <p:sp>
            <p:nvSpPr>
              <p:cNvPr id="148110" name="AutoShape 354"/>
              <p:cNvSpPr>
                <a:spLocks noChangeAspect="1" noChangeArrowheads="1"/>
              </p:cNvSpPr>
              <p:nvPr/>
            </p:nvSpPr>
            <p:spPr bwMode="auto">
              <a:xfrm>
                <a:off x="1790" y="2461"/>
                <a:ext cx="40" cy="223"/>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11" name="AutoShape 355"/>
              <p:cNvSpPr>
                <a:spLocks noChangeAspect="1" noChangeArrowheads="1"/>
              </p:cNvSpPr>
              <p:nvPr/>
            </p:nvSpPr>
            <p:spPr bwMode="auto">
              <a:xfrm>
                <a:off x="1790" y="2684"/>
                <a:ext cx="40" cy="22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8001" name="Group 356"/>
            <p:cNvGrpSpPr>
              <a:grpSpLocks noChangeAspect="1"/>
            </p:cNvGrpSpPr>
            <p:nvPr/>
          </p:nvGrpSpPr>
          <p:grpSpPr bwMode="auto">
            <a:xfrm>
              <a:off x="1352" y="2150"/>
              <a:ext cx="10" cy="107"/>
              <a:chOff x="1151" y="2490"/>
              <a:chExt cx="40" cy="455"/>
            </a:xfrm>
          </p:grpSpPr>
          <p:sp>
            <p:nvSpPr>
              <p:cNvPr id="148108" name="AutoShape 357"/>
              <p:cNvSpPr>
                <a:spLocks noChangeAspect="1" noChangeArrowheads="1"/>
              </p:cNvSpPr>
              <p:nvPr/>
            </p:nvSpPr>
            <p:spPr bwMode="auto">
              <a:xfrm>
                <a:off x="1151" y="2716"/>
                <a:ext cx="40" cy="229"/>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09" name="AutoShape 358"/>
              <p:cNvSpPr>
                <a:spLocks noChangeAspect="1" noChangeArrowheads="1"/>
              </p:cNvSpPr>
              <p:nvPr/>
            </p:nvSpPr>
            <p:spPr bwMode="auto">
              <a:xfrm>
                <a:off x="1151" y="2490"/>
                <a:ext cx="40" cy="22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8002" name="Group 359"/>
            <p:cNvGrpSpPr>
              <a:grpSpLocks noChangeAspect="1"/>
            </p:cNvGrpSpPr>
            <p:nvPr/>
          </p:nvGrpSpPr>
          <p:grpSpPr bwMode="auto">
            <a:xfrm>
              <a:off x="1519" y="2138"/>
              <a:ext cx="9" cy="76"/>
              <a:chOff x="1914" y="2425"/>
              <a:chExt cx="40" cy="326"/>
            </a:xfrm>
          </p:grpSpPr>
          <p:sp>
            <p:nvSpPr>
              <p:cNvPr id="148106" name="AutoShape 360"/>
              <p:cNvSpPr>
                <a:spLocks noChangeAspect="1" noChangeArrowheads="1"/>
              </p:cNvSpPr>
              <p:nvPr/>
            </p:nvSpPr>
            <p:spPr bwMode="auto">
              <a:xfrm>
                <a:off x="1914" y="2425"/>
                <a:ext cx="40" cy="163"/>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07" name="AutoShape 361"/>
              <p:cNvSpPr>
                <a:spLocks noChangeAspect="1" noChangeArrowheads="1"/>
              </p:cNvSpPr>
              <p:nvPr/>
            </p:nvSpPr>
            <p:spPr bwMode="auto">
              <a:xfrm>
                <a:off x="1914" y="2588"/>
                <a:ext cx="40" cy="163"/>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8003" name="Group 362"/>
            <p:cNvGrpSpPr>
              <a:grpSpLocks noChangeAspect="1"/>
            </p:cNvGrpSpPr>
            <p:nvPr/>
          </p:nvGrpSpPr>
          <p:grpSpPr bwMode="auto">
            <a:xfrm>
              <a:off x="1382" y="2187"/>
              <a:ext cx="9" cy="78"/>
              <a:chOff x="1284" y="2652"/>
              <a:chExt cx="40" cy="337"/>
            </a:xfrm>
          </p:grpSpPr>
          <p:sp>
            <p:nvSpPr>
              <p:cNvPr id="148104" name="AutoShape 363"/>
              <p:cNvSpPr>
                <a:spLocks noChangeAspect="1" noChangeArrowheads="1"/>
              </p:cNvSpPr>
              <p:nvPr/>
            </p:nvSpPr>
            <p:spPr bwMode="auto">
              <a:xfrm>
                <a:off x="1284" y="2821"/>
                <a:ext cx="40" cy="16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05" name="AutoShape 364"/>
              <p:cNvSpPr>
                <a:spLocks noChangeAspect="1" noChangeArrowheads="1"/>
              </p:cNvSpPr>
              <p:nvPr/>
            </p:nvSpPr>
            <p:spPr bwMode="auto">
              <a:xfrm>
                <a:off x="1284" y="2652"/>
                <a:ext cx="40" cy="168"/>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8004" name="Group 365"/>
            <p:cNvGrpSpPr>
              <a:grpSpLocks noChangeAspect="1"/>
            </p:cNvGrpSpPr>
            <p:nvPr/>
          </p:nvGrpSpPr>
          <p:grpSpPr bwMode="auto">
            <a:xfrm>
              <a:off x="1458" y="2184"/>
              <a:ext cx="9" cy="83"/>
              <a:chOff x="1658" y="2628"/>
              <a:chExt cx="40" cy="355"/>
            </a:xfrm>
          </p:grpSpPr>
          <p:sp>
            <p:nvSpPr>
              <p:cNvPr id="148102" name="AutoShape 366"/>
              <p:cNvSpPr>
                <a:spLocks noChangeAspect="1" noChangeArrowheads="1"/>
              </p:cNvSpPr>
              <p:nvPr/>
            </p:nvSpPr>
            <p:spPr bwMode="auto">
              <a:xfrm>
                <a:off x="1658" y="2628"/>
                <a:ext cx="40" cy="178"/>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03" name="AutoShape 367"/>
              <p:cNvSpPr>
                <a:spLocks noChangeAspect="1" noChangeArrowheads="1"/>
              </p:cNvSpPr>
              <p:nvPr/>
            </p:nvSpPr>
            <p:spPr bwMode="auto">
              <a:xfrm>
                <a:off x="1658" y="2805"/>
                <a:ext cx="40" cy="178"/>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8005" name="Group 368"/>
            <p:cNvGrpSpPr>
              <a:grpSpLocks noChangeAspect="1"/>
            </p:cNvGrpSpPr>
            <p:nvPr/>
          </p:nvGrpSpPr>
          <p:grpSpPr bwMode="auto">
            <a:xfrm>
              <a:off x="1426" y="2228"/>
              <a:ext cx="9" cy="29"/>
              <a:chOff x="1516" y="2835"/>
              <a:chExt cx="42" cy="123"/>
            </a:xfrm>
          </p:grpSpPr>
          <p:sp>
            <p:nvSpPr>
              <p:cNvPr id="148100" name="AutoShape 369"/>
              <p:cNvSpPr>
                <a:spLocks noChangeAspect="1" noChangeArrowheads="1"/>
              </p:cNvSpPr>
              <p:nvPr/>
            </p:nvSpPr>
            <p:spPr bwMode="auto">
              <a:xfrm>
                <a:off x="1516" y="2897"/>
                <a:ext cx="42" cy="61"/>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101" name="AutoShape 370"/>
              <p:cNvSpPr>
                <a:spLocks noChangeAspect="1" noChangeArrowheads="1"/>
              </p:cNvSpPr>
              <p:nvPr/>
            </p:nvSpPr>
            <p:spPr bwMode="auto">
              <a:xfrm>
                <a:off x="1516" y="2835"/>
                <a:ext cx="42" cy="62"/>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8006" name="Group 371"/>
            <p:cNvGrpSpPr>
              <a:grpSpLocks noChangeAspect="1"/>
            </p:cNvGrpSpPr>
            <p:nvPr/>
          </p:nvGrpSpPr>
          <p:grpSpPr bwMode="auto">
            <a:xfrm>
              <a:off x="1614" y="2144"/>
              <a:ext cx="9" cy="103"/>
              <a:chOff x="2195" y="2463"/>
              <a:chExt cx="40" cy="442"/>
            </a:xfrm>
          </p:grpSpPr>
          <p:sp>
            <p:nvSpPr>
              <p:cNvPr id="148098" name="AutoShape 372"/>
              <p:cNvSpPr>
                <a:spLocks noChangeAspect="1" noChangeArrowheads="1"/>
              </p:cNvSpPr>
              <p:nvPr/>
            </p:nvSpPr>
            <p:spPr bwMode="auto">
              <a:xfrm>
                <a:off x="2195" y="2684"/>
                <a:ext cx="40" cy="221"/>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099" name="AutoShape 373"/>
              <p:cNvSpPr>
                <a:spLocks noChangeAspect="1" noChangeArrowheads="1"/>
              </p:cNvSpPr>
              <p:nvPr/>
            </p:nvSpPr>
            <p:spPr bwMode="auto">
              <a:xfrm>
                <a:off x="2195" y="2463"/>
                <a:ext cx="40" cy="221"/>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8007" name="Group 374"/>
            <p:cNvGrpSpPr>
              <a:grpSpLocks noChangeAspect="1"/>
            </p:cNvGrpSpPr>
            <p:nvPr/>
          </p:nvGrpSpPr>
          <p:grpSpPr bwMode="auto">
            <a:xfrm>
              <a:off x="1646" y="2177"/>
              <a:ext cx="10" cy="90"/>
              <a:chOff x="2329" y="2599"/>
              <a:chExt cx="43" cy="386"/>
            </a:xfrm>
          </p:grpSpPr>
          <p:sp>
            <p:nvSpPr>
              <p:cNvPr id="148096" name="AutoShape 375"/>
              <p:cNvSpPr>
                <a:spLocks noChangeAspect="1" noChangeArrowheads="1"/>
              </p:cNvSpPr>
              <p:nvPr/>
            </p:nvSpPr>
            <p:spPr bwMode="auto">
              <a:xfrm>
                <a:off x="2329" y="2791"/>
                <a:ext cx="43" cy="19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097" name="AutoShape 376"/>
              <p:cNvSpPr>
                <a:spLocks noChangeAspect="1" noChangeArrowheads="1"/>
              </p:cNvSpPr>
              <p:nvPr/>
            </p:nvSpPr>
            <p:spPr bwMode="auto">
              <a:xfrm>
                <a:off x="2329" y="2599"/>
                <a:ext cx="43" cy="19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8008" name="Group 377"/>
            <p:cNvGrpSpPr>
              <a:grpSpLocks noChangeAspect="1"/>
            </p:cNvGrpSpPr>
            <p:nvPr/>
          </p:nvGrpSpPr>
          <p:grpSpPr bwMode="auto">
            <a:xfrm>
              <a:off x="1546" y="2145"/>
              <a:ext cx="10" cy="38"/>
              <a:chOff x="2478" y="2807"/>
              <a:chExt cx="43" cy="178"/>
            </a:xfrm>
          </p:grpSpPr>
          <p:sp>
            <p:nvSpPr>
              <p:cNvPr id="148094" name="AutoShape 378"/>
              <p:cNvSpPr>
                <a:spLocks noChangeAspect="1" noChangeArrowheads="1"/>
              </p:cNvSpPr>
              <p:nvPr/>
            </p:nvSpPr>
            <p:spPr bwMode="auto">
              <a:xfrm>
                <a:off x="2478" y="2807"/>
                <a:ext cx="43" cy="89"/>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095" name="AutoShape 379"/>
              <p:cNvSpPr>
                <a:spLocks noChangeAspect="1" noChangeArrowheads="1"/>
              </p:cNvSpPr>
              <p:nvPr/>
            </p:nvSpPr>
            <p:spPr bwMode="auto">
              <a:xfrm>
                <a:off x="2478" y="2896"/>
                <a:ext cx="43" cy="8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8009" name="Group 380"/>
            <p:cNvGrpSpPr>
              <a:grpSpLocks noChangeAspect="1"/>
            </p:cNvGrpSpPr>
            <p:nvPr/>
          </p:nvGrpSpPr>
          <p:grpSpPr bwMode="auto">
            <a:xfrm>
              <a:off x="1583" y="2140"/>
              <a:ext cx="9" cy="63"/>
              <a:chOff x="2065" y="2441"/>
              <a:chExt cx="40" cy="272"/>
            </a:xfrm>
          </p:grpSpPr>
          <p:sp>
            <p:nvSpPr>
              <p:cNvPr id="148092" name="AutoShape 381"/>
              <p:cNvSpPr>
                <a:spLocks noChangeAspect="1" noChangeArrowheads="1"/>
              </p:cNvSpPr>
              <p:nvPr/>
            </p:nvSpPr>
            <p:spPr bwMode="auto">
              <a:xfrm>
                <a:off x="2065" y="2576"/>
                <a:ext cx="40" cy="13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093" name="AutoShape 382"/>
              <p:cNvSpPr>
                <a:spLocks noChangeAspect="1" noChangeArrowheads="1"/>
              </p:cNvSpPr>
              <p:nvPr/>
            </p:nvSpPr>
            <p:spPr bwMode="auto">
              <a:xfrm>
                <a:off x="2065" y="2441"/>
                <a:ext cx="40" cy="13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8010" name="Group 383"/>
            <p:cNvGrpSpPr>
              <a:grpSpLocks noChangeAspect="1"/>
            </p:cNvGrpSpPr>
            <p:nvPr/>
          </p:nvGrpSpPr>
          <p:grpSpPr bwMode="auto">
            <a:xfrm>
              <a:off x="1677" y="2222"/>
              <a:ext cx="10" cy="38"/>
              <a:chOff x="2478" y="2807"/>
              <a:chExt cx="43" cy="178"/>
            </a:xfrm>
          </p:grpSpPr>
          <p:sp>
            <p:nvSpPr>
              <p:cNvPr id="148090" name="AutoShape 384"/>
              <p:cNvSpPr>
                <a:spLocks noChangeAspect="1" noChangeArrowheads="1"/>
              </p:cNvSpPr>
              <p:nvPr/>
            </p:nvSpPr>
            <p:spPr bwMode="auto">
              <a:xfrm>
                <a:off x="2478" y="2807"/>
                <a:ext cx="43" cy="89"/>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091" name="AutoShape 385"/>
              <p:cNvSpPr>
                <a:spLocks noChangeAspect="1" noChangeArrowheads="1"/>
              </p:cNvSpPr>
              <p:nvPr/>
            </p:nvSpPr>
            <p:spPr bwMode="auto">
              <a:xfrm>
                <a:off x="2478" y="2896"/>
                <a:ext cx="43" cy="8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8011" name="Group 386"/>
            <p:cNvGrpSpPr>
              <a:grpSpLocks noChangeAspect="1"/>
            </p:cNvGrpSpPr>
            <p:nvPr/>
          </p:nvGrpSpPr>
          <p:grpSpPr bwMode="auto">
            <a:xfrm>
              <a:off x="1805" y="2140"/>
              <a:ext cx="10" cy="52"/>
              <a:chOff x="3094" y="2443"/>
              <a:chExt cx="40" cy="183"/>
            </a:xfrm>
          </p:grpSpPr>
          <p:sp>
            <p:nvSpPr>
              <p:cNvPr id="148088" name="AutoShape 387"/>
              <p:cNvSpPr>
                <a:spLocks noChangeAspect="1" noChangeArrowheads="1"/>
              </p:cNvSpPr>
              <p:nvPr/>
            </p:nvSpPr>
            <p:spPr bwMode="auto">
              <a:xfrm flipV="1">
                <a:off x="3094" y="2443"/>
                <a:ext cx="40" cy="92"/>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089" name="AutoShape 388"/>
              <p:cNvSpPr>
                <a:spLocks noChangeAspect="1" noChangeArrowheads="1"/>
              </p:cNvSpPr>
              <p:nvPr/>
            </p:nvSpPr>
            <p:spPr bwMode="auto">
              <a:xfrm flipV="1">
                <a:off x="3094" y="2534"/>
                <a:ext cx="40" cy="92"/>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8012" name="Group 389"/>
            <p:cNvGrpSpPr>
              <a:grpSpLocks noChangeAspect="1"/>
            </p:cNvGrpSpPr>
            <p:nvPr/>
          </p:nvGrpSpPr>
          <p:grpSpPr bwMode="auto">
            <a:xfrm>
              <a:off x="1778" y="2140"/>
              <a:ext cx="11" cy="96"/>
              <a:chOff x="2978" y="2432"/>
              <a:chExt cx="46" cy="375"/>
            </a:xfrm>
          </p:grpSpPr>
          <p:sp>
            <p:nvSpPr>
              <p:cNvPr id="148086" name="AutoShape 390"/>
              <p:cNvSpPr>
                <a:spLocks noChangeAspect="1" noChangeArrowheads="1"/>
              </p:cNvSpPr>
              <p:nvPr/>
            </p:nvSpPr>
            <p:spPr bwMode="auto">
              <a:xfrm>
                <a:off x="2978" y="2619"/>
                <a:ext cx="46" cy="188"/>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087" name="AutoShape 391"/>
              <p:cNvSpPr>
                <a:spLocks noChangeAspect="1" noChangeArrowheads="1"/>
              </p:cNvSpPr>
              <p:nvPr/>
            </p:nvSpPr>
            <p:spPr bwMode="auto">
              <a:xfrm>
                <a:off x="2978" y="2432"/>
                <a:ext cx="46" cy="188"/>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8013" name="Group 392"/>
            <p:cNvGrpSpPr>
              <a:grpSpLocks noChangeAspect="1"/>
            </p:cNvGrpSpPr>
            <p:nvPr/>
          </p:nvGrpSpPr>
          <p:grpSpPr bwMode="auto">
            <a:xfrm>
              <a:off x="1747" y="2160"/>
              <a:ext cx="10" cy="102"/>
              <a:chOff x="2832" y="2516"/>
              <a:chExt cx="43" cy="436"/>
            </a:xfrm>
          </p:grpSpPr>
          <p:sp>
            <p:nvSpPr>
              <p:cNvPr id="148084" name="AutoShape 393"/>
              <p:cNvSpPr>
                <a:spLocks noChangeAspect="1" noChangeArrowheads="1"/>
              </p:cNvSpPr>
              <p:nvPr/>
            </p:nvSpPr>
            <p:spPr bwMode="auto">
              <a:xfrm flipV="1">
                <a:off x="2832" y="2516"/>
                <a:ext cx="43" cy="21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085" name="AutoShape 394"/>
              <p:cNvSpPr>
                <a:spLocks noChangeAspect="1" noChangeArrowheads="1"/>
              </p:cNvSpPr>
              <p:nvPr/>
            </p:nvSpPr>
            <p:spPr bwMode="auto">
              <a:xfrm flipV="1">
                <a:off x="2832" y="2734"/>
                <a:ext cx="43" cy="218"/>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8014" name="Group 395"/>
            <p:cNvGrpSpPr>
              <a:grpSpLocks noChangeAspect="1"/>
            </p:cNvGrpSpPr>
            <p:nvPr/>
          </p:nvGrpSpPr>
          <p:grpSpPr bwMode="auto">
            <a:xfrm>
              <a:off x="1716" y="2213"/>
              <a:ext cx="9" cy="51"/>
              <a:chOff x="2668" y="2761"/>
              <a:chExt cx="40" cy="217"/>
            </a:xfrm>
          </p:grpSpPr>
          <p:sp>
            <p:nvSpPr>
              <p:cNvPr id="148082" name="AutoShape 396"/>
              <p:cNvSpPr>
                <a:spLocks noChangeAspect="1" noChangeArrowheads="1"/>
              </p:cNvSpPr>
              <p:nvPr/>
            </p:nvSpPr>
            <p:spPr bwMode="auto">
              <a:xfrm>
                <a:off x="2668" y="2870"/>
                <a:ext cx="40" cy="10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083" name="AutoShape 397"/>
              <p:cNvSpPr>
                <a:spLocks noChangeAspect="1" noChangeArrowheads="1"/>
              </p:cNvSpPr>
              <p:nvPr/>
            </p:nvSpPr>
            <p:spPr bwMode="auto">
              <a:xfrm>
                <a:off x="2668" y="2761"/>
                <a:ext cx="40" cy="108"/>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8015" name="Group 398"/>
            <p:cNvGrpSpPr>
              <a:grpSpLocks noChangeAspect="1"/>
            </p:cNvGrpSpPr>
            <p:nvPr/>
          </p:nvGrpSpPr>
          <p:grpSpPr bwMode="auto">
            <a:xfrm flipV="1">
              <a:off x="1910" y="2163"/>
              <a:ext cx="10" cy="103"/>
              <a:chOff x="3217" y="3037"/>
              <a:chExt cx="46" cy="372"/>
            </a:xfrm>
          </p:grpSpPr>
          <p:sp>
            <p:nvSpPr>
              <p:cNvPr id="148080" name="AutoShape 399"/>
              <p:cNvSpPr>
                <a:spLocks noChangeAspect="1" noChangeArrowheads="1"/>
              </p:cNvSpPr>
              <p:nvPr/>
            </p:nvSpPr>
            <p:spPr bwMode="auto">
              <a:xfrm>
                <a:off x="3217" y="3037"/>
                <a:ext cx="46" cy="189"/>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081" name="AutoShape 400"/>
              <p:cNvSpPr>
                <a:spLocks noChangeAspect="1" noChangeArrowheads="1"/>
              </p:cNvSpPr>
              <p:nvPr/>
            </p:nvSpPr>
            <p:spPr bwMode="auto">
              <a:xfrm>
                <a:off x="3217" y="3220"/>
                <a:ext cx="46" cy="189"/>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8016" name="Group 401"/>
            <p:cNvGrpSpPr>
              <a:grpSpLocks noChangeAspect="1"/>
            </p:cNvGrpSpPr>
            <p:nvPr/>
          </p:nvGrpSpPr>
          <p:grpSpPr bwMode="auto">
            <a:xfrm>
              <a:off x="1877" y="2137"/>
              <a:ext cx="11" cy="102"/>
              <a:chOff x="3353" y="3099"/>
              <a:chExt cx="40" cy="455"/>
            </a:xfrm>
          </p:grpSpPr>
          <p:sp>
            <p:nvSpPr>
              <p:cNvPr id="148078" name="AutoShape 402"/>
              <p:cNvSpPr>
                <a:spLocks noChangeAspect="1" noChangeArrowheads="1"/>
              </p:cNvSpPr>
              <p:nvPr/>
            </p:nvSpPr>
            <p:spPr bwMode="auto">
              <a:xfrm>
                <a:off x="3353" y="3325"/>
                <a:ext cx="40" cy="229"/>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079" name="AutoShape 403"/>
              <p:cNvSpPr>
                <a:spLocks noChangeAspect="1" noChangeArrowheads="1"/>
              </p:cNvSpPr>
              <p:nvPr/>
            </p:nvSpPr>
            <p:spPr bwMode="auto">
              <a:xfrm>
                <a:off x="3353" y="3099"/>
                <a:ext cx="40" cy="22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8017" name="Group 404"/>
            <p:cNvGrpSpPr>
              <a:grpSpLocks noChangeAspect="1"/>
            </p:cNvGrpSpPr>
            <p:nvPr/>
          </p:nvGrpSpPr>
          <p:grpSpPr bwMode="auto">
            <a:xfrm>
              <a:off x="1849" y="2139"/>
              <a:ext cx="11" cy="61"/>
              <a:chOff x="3486" y="3261"/>
              <a:chExt cx="40" cy="337"/>
            </a:xfrm>
          </p:grpSpPr>
          <p:sp>
            <p:nvSpPr>
              <p:cNvPr id="148076" name="AutoShape 405"/>
              <p:cNvSpPr>
                <a:spLocks noChangeAspect="1" noChangeArrowheads="1"/>
              </p:cNvSpPr>
              <p:nvPr/>
            </p:nvSpPr>
            <p:spPr bwMode="auto">
              <a:xfrm>
                <a:off x="3486" y="3430"/>
                <a:ext cx="40" cy="16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077" name="AutoShape 406"/>
              <p:cNvSpPr>
                <a:spLocks noChangeAspect="1" noChangeArrowheads="1"/>
              </p:cNvSpPr>
              <p:nvPr/>
            </p:nvSpPr>
            <p:spPr bwMode="auto">
              <a:xfrm>
                <a:off x="3486" y="3261"/>
                <a:ext cx="40" cy="168"/>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8018" name="Group 407"/>
            <p:cNvGrpSpPr>
              <a:grpSpLocks noChangeAspect="1"/>
            </p:cNvGrpSpPr>
            <p:nvPr/>
          </p:nvGrpSpPr>
          <p:grpSpPr bwMode="auto">
            <a:xfrm>
              <a:off x="2043" y="2143"/>
              <a:ext cx="9" cy="104"/>
              <a:chOff x="2195" y="2463"/>
              <a:chExt cx="40" cy="442"/>
            </a:xfrm>
          </p:grpSpPr>
          <p:sp>
            <p:nvSpPr>
              <p:cNvPr id="148074" name="AutoShape 408"/>
              <p:cNvSpPr>
                <a:spLocks noChangeAspect="1" noChangeArrowheads="1"/>
              </p:cNvSpPr>
              <p:nvPr/>
            </p:nvSpPr>
            <p:spPr bwMode="auto">
              <a:xfrm>
                <a:off x="2195" y="2684"/>
                <a:ext cx="40" cy="221"/>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075" name="AutoShape 409"/>
              <p:cNvSpPr>
                <a:spLocks noChangeAspect="1" noChangeArrowheads="1"/>
              </p:cNvSpPr>
              <p:nvPr/>
            </p:nvSpPr>
            <p:spPr bwMode="auto">
              <a:xfrm>
                <a:off x="2195" y="2463"/>
                <a:ext cx="40" cy="221"/>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8019" name="Group 410"/>
            <p:cNvGrpSpPr>
              <a:grpSpLocks noChangeAspect="1"/>
            </p:cNvGrpSpPr>
            <p:nvPr/>
          </p:nvGrpSpPr>
          <p:grpSpPr bwMode="auto">
            <a:xfrm>
              <a:off x="2008" y="2176"/>
              <a:ext cx="10" cy="91"/>
              <a:chOff x="2329" y="2599"/>
              <a:chExt cx="43" cy="386"/>
            </a:xfrm>
          </p:grpSpPr>
          <p:sp>
            <p:nvSpPr>
              <p:cNvPr id="148072" name="AutoShape 411"/>
              <p:cNvSpPr>
                <a:spLocks noChangeAspect="1" noChangeArrowheads="1"/>
              </p:cNvSpPr>
              <p:nvPr/>
            </p:nvSpPr>
            <p:spPr bwMode="auto">
              <a:xfrm>
                <a:off x="2329" y="2791"/>
                <a:ext cx="43" cy="19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073" name="AutoShape 412"/>
              <p:cNvSpPr>
                <a:spLocks noChangeAspect="1" noChangeArrowheads="1"/>
              </p:cNvSpPr>
              <p:nvPr/>
            </p:nvSpPr>
            <p:spPr bwMode="auto">
              <a:xfrm>
                <a:off x="2329" y="2599"/>
                <a:ext cx="43" cy="19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8020" name="Group 413"/>
            <p:cNvGrpSpPr>
              <a:grpSpLocks noChangeAspect="1"/>
            </p:cNvGrpSpPr>
            <p:nvPr/>
          </p:nvGrpSpPr>
          <p:grpSpPr bwMode="auto">
            <a:xfrm>
              <a:off x="1938" y="2201"/>
              <a:ext cx="10" cy="63"/>
              <a:chOff x="2065" y="2441"/>
              <a:chExt cx="40" cy="272"/>
            </a:xfrm>
          </p:grpSpPr>
          <p:sp>
            <p:nvSpPr>
              <p:cNvPr id="148070" name="AutoShape 414"/>
              <p:cNvSpPr>
                <a:spLocks noChangeAspect="1" noChangeArrowheads="1"/>
              </p:cNvSpPr>
              <p:nvPr/>
            </p:nvSpPr>
            <p:spPr bwMode="auto">
              <a:xfrm>
                <a:off x="2065" y="2576"/>
                <a:ext cx="40" cy="13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071" name="AutoShape 415"/>
              <p:cNvSpPr>
                <a:spLocks noChangeAspect="1" noChangeArrowheads="1"/>
              </p:cNvSpPr>
              <p:nvPr/>
            </p:nvSpPr>
            <p:spPr bwMode="auto">
              <a:xfrm>
                <a:off x="2065" y="2441"/>
                <a:ext cx="40" cy="13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8021" name="Group 416"/>
            <p:cNvGrpSpPr>
              <a:grpSpLocks noChangeAspect="1"/>
            </p:cNvGrpSpPr>
            <p:nvPr/>
          </p:nvGrpSpPr>
          <p:grpSpPr bwMode="auto">
            <a:xfrm flipV="1">
              <a:off x="1978" y="2218"/>
              <a:ext cx="11" cy="42"/>
              <a:chOff x="2815" y="1923"/>
              <a:chExt cx="40" cy="217"/>
            </a:xfrm>
          </p:grpSpPr>
          <p:sp>
            <p:nvSpPr>
              <p:cNvPr id="148068" name="AutoShape 417"/>
              <p:cNvSpPr>
                <a:spLocks noChangeAspect="1" noChangeArrowheads="1"/>
              </p:cNvSpPr>
              <p:nvPr/>
            </p:nvSpPr>
            <p:spPr bwMode="auto">
              <a:xfrm>
                <a:off x="2815" y="2032"/>
                <a:ext cx="40" cy="10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069" name="AutoShape 418"/>
              <p:cNvSpPr>
                <a:spLocks noChangeAspect="1" noChangeArrowheads="1"/>
              </p:cNvSpPr>
              <p:nvPr/>
            </p:nvSpPr>
            <p:spPr bwMode="auto">
              <a:xfrm>
                <a:off x="2815" y="1923"/>
                <a:ext cx="40" cy="108"/>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8022" name="Group 419"/>
            <p:cNvGrpSpPr>
              <a:grpSpLocks noChangeAspect="1"/>
            </p:cNvGrpSpPr>
            <p:nvPr/>
          </p:nvGrpSpPr>
          <p:grpSpPr bwMode="auto">
            <a:xfrm>
              <a:off x="2073" y="2139"/>
              <a:ext cx="11" cy="64"/>
              <a:chOff x="2329" y="2599"/>
              <a:chExt cx="43" cy="386"/>
            </a:xfrm>
          </p:grpSpPr>
          <p:sp>
            <p:nvSpPr>
              <p:cNvPr id="148066" name="AutoShape 420"/>
              <p:cNvSpPr>
                <a:spLocks noChangeAspect="1" noChangeArrowheads="1"/>
              </p:cNvSpPr>
              <p:nvPr/>
            </p:nvSpPr>
            <p:spPr bwMode="auto">
              <a:xfrm>
                <a:off x="2329" y="2791"/>
                <a:ext cx="43" cy="19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067" name="AutoShape 421"/>
              <p:cNvSpPr>
                <a:spLocks noChangeAspect="1" noChangeArrowheads="1"/>
              </p:cNvSpPr>
              <p:nvPr/>
            </p:nvSpPr>
            <p:spPr bwMode="auto">
              <a:xfrm>
                <a:off x="2329" y="2599"/>
                <a:ext cx="43" cy="19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8023" name="Group 422"/>
            <p:cNvGrpSpPr>
              <a:grpSpLocks noChangeAspect="1"/>
            </p:cNvGrpSpPr>
            <p:nvPr/>
          </p:nvGrpSpPr>
          <p:grpSpPr bwMode="auto">
            <a:xfrm>
              <a:off x="2111" y="2144"/>
              <a:ext cx="10" cy="38"/>
              <a:chOff x="2478" y="2807"/>
              <a:chExt cx="43" cy="178"/>
            </a:xfrm>
          </p:grpSpPr>
          <p:sp>
            <p:nvSpPr>
              <p:cNvPr id="148064" name="AutoShape 423"/>
              <p:cNvSpPr>
                <a:spLocks noChangeAspect="1" noChangeArrowheads="1"/>
              </p:cNvSpPr>
              <p:nvPr/>
            </p:nvSpPr>
            <p:spPr bwMode="auto">
              <a:xfrm>
                <a:off x="2478" y="2807"/>
                <a:ext cx="43" cy="89"/>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065" name="AutoShape 424"/>
              <p:cNvSpPr>
                <a:spLocks noChangeAspect="1" noChangeArrowheads="1"/>
              </p:cNvSpPr>
              <p:nvPr/>
            </p:nvSpPr>
            <p:spPr bwMode="auto">
              <a:xfrm>
                <a:off x="2478" y="2896"/>
                <a:ext cx="43" cy="8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8024" name="Group 425"/>
            <p:cNvGrpSpPr>
              <a:grpSpLocks noChangeAspect="1"/>
            </p:cNvGrpSpPr>
            <p:nvPr/>
          </p:nvGrpSpPr>
          <p:grpSpPr bwMode="auto">
            <a:xfrm>
              <a:off x="2172" y="2154"/>
              <a:ext cx="10" cy="104"/>
              <a:chOff x="2195" y="2463"/>
              <a:chExt cx="40" cy="442"/>
            </a:xfrm>
          </p:grpSpPr>
          <p:sp>
            <p:nvSpPr>
              <p:cNvPr id="148062" name="AutoShape 426"/>
              <p:cNvSpPr>
                <a:spLocks noChangeAspect="1" noChangeArrowheads="1"/>
              </p:cNvSpPr>
              <p:nvPr/>
            </p:nvSpPr>
            <p:spPr bwMode="auto">
              <a:xfrm>
                <a:off x="2195" y="2684"/>
                <a:ext cx="40" cy="221"/>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063" name="AutoShape 427"/>
              <p:cNvSpPr>
                <a:spLocks noChangeAspect="1" noChangeArrowheads="1"/>
              </p:cNvSpPr>
              <p:nvPr/>
            </p:nvSpPr>
            <p:spPr bwMode="auto">
              <a:xfrm>
                <a:off x="2195" y="2463"/>
                <a:ext cx="40" cy="221"/>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8025" name="Group 428"/>
            <p:cNvGrpSpPr>
              <a:grpSpLocks noChangeAspect="1"/>
            </p:cNvGrpSpPr>
            <p:nvPr/>
          </p:nvGrpSpPr>
          <p:grpSpPr bwMode="auto">
            <a:xfrm>
              <a:off x="2204" y="2192"/>
              <a:ext cx="10" cy="74"/>
              <a:chOff x="2329" y="2599"/>
              <a:chExt cx="43" cy="386"/>
            </a:xfrm>
          </p:grpSpPr>
          <p:sp>
            <p:nvSpPr>
              <p:cNvPr id="148060" name="AutoShape 429"/>
              <p:cNvSpPr>
                <a:spLocks noChangeAspect="1" noChangeArrowheads="1"/>
              </p:cNvSpPr>
              <p:nvPr/>
            </p:nvSpPr>
            <p:spPr bwMode="auto">
              <a:xfrm>
                <a:off x="2329" y="2791"/>
                <a:ext cx="43" cy="19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061" name="AutoShape 430"/>
              <p:cNvSpPr>
                <a:spLocks noChangeAspect="1" noChangeArrowheads="1"/>
              </p:cNvSpPr>
              <p:nvPr/>
            </p:nvSpPr>
            <p:spPr bwMode="auto">
              <a:xfrm>
                <a:off x="2329" y="2599"/>
                <a:ext cx="43" cy="19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8026" name="Group 431"/>
            <p:cNvGrpSpPr>
              <a:grpSpLocks noChangeAspect="1"/>
            </p:cNvGrpSpPr>
            <p:nvPr/>
          </p:nvGrpSpPr>
          <p:grpSpPr bwMode="auto">
            <a:xfrm>
              <a:off x="2141" y="2140"/>
              <a:ext cx="10" cy="79"/>
              <a:chOff x="2065" y="2441"/>
              <a:chExt cx="40" cy="272"/>
            </a:xfrm>
          </p:grpSpPr>
          <p:sp>
            <p:nvSpPr>
              <p:cNvPr id="148058" name="AutoShape 432"/>
              <p:cNvSpPr>
                <a:spLocks noChangeAspect="1" noChangeArrowheads="1"/>
              </p:cNvSpPr>
              <p:nvPr/>
            </p:nvSpPr>
            <p:spPr bwMode="auto">
              <a:xfrm>
                <a:off x="2065" y="2576"/>
                <a:ext cx="40" cy="13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059" name="AutoShape 433"/>
              <p:cNvSpPr>
                <a:spLocks noChangeAspect="1" noChangeArrowheads="1"/>
              </p:cNvSpPr>
              <p:nvPr/>
            </p:nvSpPr>
            <p:spPr bwMode="auto">
              <a:xfrm>
                <a:off x="2065" y="2441"/>
                <a:ext cx="40" cy="13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8027" name="Group 434"/>
            <p:cNvGrpSpPr>
              <a:grpSpLocks noChangeAspect="1"/>
            </p:cNvGrpSpPr>
            <p:nvPr/>
          </p:nvGrpSpPr>
          <p:grpSpPr bwMode="auto">
            <a:xfrm>
              <a:off x="1217" y="2147"/>
              <a:ext cx="9" cy="104"/>
              <a:chOff x="1790" y="2461"/>
              <a:chExt cx="40" cy="447"/>
            </a:xfrm>
          </p:grpSpPr>
          <p:sp>
            <p:nvSpPr>
              <p:cNvPr id="148056" name="AutoShape 435"/>
              <p:cNvSpPr>
                <a:spLocks noChangeAspect="1" noChangeArrowheads="1"/>
              </p:cNvSpPr>
              <p:nvPr/>
            </p:nvSpPr>
            <p:spPr bwMode="auto">
              <a:xfrm>
                <a:off x="1790" y="2461"/>
                <a:ext cx="40" cy="223"/>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057" name="AutoShape 436"/>
              <p:cNvSpPr>
                <a:spLocks noChangeAspect="1" noChangeArrowheads="1"/>
              </p:cNvSpPr>
              <p:nvPr/>
            </p:nvSpPr>
            <p:spPr bwMode="auto">
              <a:xfrm>
                <a:off x="1790" y="2684"/>
                <a:ext cx="40" cy="22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8028" name="Group 437"/>
            <p:cNvGrpSpPr>
              <a:grpSpLocks noChangeAspect="1"/>
            </p:cNvGrpSpPr>
            <p:nvPr/>
          </p:nvGrpSpPr>
          <p:grpSpPr bwMode="auto">
            <a:xfrm>
              <a:off x="1247" y="2138"/>
              <a:ext cx="9" cy="76"/>
              <a:chOff x="1914" y="2425"/>
              <a:chExt cx="40" cy="326"/>
            </a:xfrm>
          </p:grpSpPr>
          <p:sp>
            <p:nvSpPr>
              <p:cNvPr id="148054" name="AutoShape 438"/>
              <p:cNvSpPr>
                <a:spLocks noChangeAspect="1" noChangeArrowheads="1"/>
              </p:cNvSpPr>
              <p:nvPr/>
            </p:nvSpPr>
            <p:spPr bwMode="auto">
              <a:xfrm>
                <a:off x="1914" y="2425"/>
                <a:ext cx="40" cy="163"/>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055" name="AutoShape 439"/>
              <p:cNvSpPr>
                <a:spLocks noChangeAspect="1" noChangeArrowheads="1"/>
              </p:cNvSpPr>
              <p:nvPr/>
            </p:nvSpPr>
            <p:spPr bwMode="auto">
              <a:xfrm>
                <a:off x="1914" y="2588"/>
                <a:ext cx="40" cy="163"/>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8029" name="Group 440"/>
            <p:cNvGrpSpPr>
              <a:grpSpLocks noChangeAspect="1"/>
            </p:cNvGrpSpPr>
            <p:nvPr/>
          </p:nvGrpSpPr>
          <p:grpSpPr bwMode="auto">
            <a:xfrm>
              <a:off x="1184" y="2184"/>
              <a:ext cx="10" cy="83"/>
              <a:chOff x="1658" y="2628"/>
              <a:chExt cx="40" cy="355"/>
            </a:xfrm>
          </p:grpSpPr>
          <p:sp>
            <p:nvSpPr>
              <p:cNvPr id="148052" name="AutoShape 441"/>
              <p:cNvSpPr>
                <a:spLocks noChangeAspect="1" noChangeArrowheads="1"/>
              </p:cNvSpPr>
              <p:nvPr/>
            </p:nvSpPr>
            <p:spPr bwMode="auto">
              <a:xfrm>
                <a:off x="1658" y="2628"/>
                <a:ext cx="40" cy="178"/>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053" name="AutoShape 442"/>
              <p:cNvSpPr>
                <a:spLocks noChangeAspect="1" noChangeArrowheads="1"/>
              </p:cNvSpPr>
              <p:nvPr/>
            </p:nvSpPr>
            <p:spPr bwMode="auto">
              <a:xfrm>
                <a:off x="1658" y="2805"/>
                <a:ext cx="40" cy="178"/>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8030" name="Group 443"/>
            <p:cNvGrpSpPr>
              <a:grpSpLocks noChangeAspect="1"/>
            </p:cNvGrpSpPr>
            <p:nvPr/>
          </p:nvGrpSpPr>
          <p:grpSpPr bwMode="auto">
            <a:xfrm>
              <a:off x="1151" y="2227"/>
              <a:ext cx="10" cy="29"/>
              <a:chOff x="1516" y="2835"/>
              <a:chExt cx="42" cy="123"/>
            </a:xfrm>
          </p:grpSpPr>
          <p:sp>
            <p:nvSpPr>
              <p:cNvPr id="148050" name="AutoShape 444"/>
              <p:cNvSpPr>
                <a:spLocks noChangeAspect="1" noChangeArrowheads="1"/>
              </p:cNvSpPr>
              <p:nvPr/>
            </p:nvSpPr>
            <p:spPr bwMode="auto">
              <a:xfrm>
                <a:off x="1516" y="2897"/>
                <a:ext cx="42" cy="61"/>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051" name="AutoShape 445"/>
              <p:cNvSpPr>
                <a:spLocks noChangeAspect="1" noChangeArrowheads="1"/>
              </p:cNvSpPr>
              <p:nvPr/>
            </p:nvSpPr>
            <p:spPr bwMode="auto">
              <a:xfrm>
                <a:off x="1516" y="2835"/>
                <a:ext cx="42" cy="62"/>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8031" name="Group 446"/>
            <p:cNvGrpSpPr>
              <a:grpSpLocks noChangeAspect="1"/>
            </p:cNvGrpSpPr>
            <p:nvPr/>
          </p:nvGrpSpPr>
          <p:grpSpPr bwMode="auto">
            <a:xfrm flipV="1">
              <a:off x="1270" y="2143"/>
              <a:ext cx="10" cy="37"/>
              <a:chOff x="2478" y="2807"/>
              <a:chExt cx="43" cy="178"/>
            </a:xfrm>
          </p:grpSpPr>
          <p:sp>
            <p:nvSpPr>
              <p:cNvPr id="148048" name="AutoShape 447"/>
              <p:cNvSpPr>
                <a:spLocks noChangeAspect="1" noChangeArrowheads="1"/>
              </p:cNvSpPr>
              <p:nvPr/>
            </p:nvSpPr>
            <p:spPr bwMode="auto">
              <a:xfrm>
                <a:off x="2478" y="2807"/>
                <a:ext cx="43" cy="89"/>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8049" name="AutoShape 448"/>
              <p:cNvSpPr>
                <a:spLocks noChangeAspect="1" noChangeArrowheads="1"/>
              </p:cNvSpPr>
              <p:nvPr/>
            </p:nvSpPr>
            <p:spPr bwMode="auto">
              <a:xfrm flipV="1">
                <a:off x="2478" y="2896"/>
                <a:ext cx="43" cy="8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sp>
          <p:nvSpPr>
            <p:cNvPr id="148032" name="Freeform 449"/>
            <p:cNvSpPr>
              <a:spLocks noChangeAspect="1"/>
            </p:cNvSpPr>
            <p:nvPr/>
          </p:nvSpPr>
          <p:spPr bwMode="auto">
            <a:xfrm flipH="1">
              <a:off x="2141"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8033" name="Freeform 450"/>
            <p:cNvSpPr>
              <a:spLocks noChangeAspect="1"/>
            </p:cNvSpPr>
            <p:nvPr/>
          </p:nvSpPr>
          <p:spPr bwMode="auto">
            <a:xfrm flipH="1">
              <a:off x="2062"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8034" name="Freeform 451"/>
            <p:cNvSpPr>
              <a:spLocks noChangeAspect="1"/>
            </p:cNvSpPr>
            <p:nvPr/>
          </p:nvSpPr>
          <p:spPr bwMode="auto">
            <a:xfrm flipH="1">
              <a:off x="1868"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8035" name="Freeform 452"/>
            <p:cNvSpPr>
              <a:spLocks noChangeAspect="1"/>
            </p:cNvSpPr>
            <p:nvPr/>
          </p:nvSpPr>
          <p:spPr bwMode="auto">
            <a:xfrm flipH="1">
              <a:off x="1789"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8036" name="Freeform 453"/>
            <p:cNvSpPr>
              <a:spLocks noChangeAspect="1"/>
            </p:cNvSpPr>
            <p:nvPr/>
          </p:nvSpPr>
          <p:spPr bwMode="auto">
            <a:xfrm flipH="1">
              <a:off x="1596"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8037" name="Freeform 454"/>
            <p:cNvSpPr>
              <a:spLocks noChangeAspect="1"/>
            </p:cNvSpPr>
            <p:nvPr/>
          </p:nvSpPr>
          <p:spPr bwMode="auto">
            <a:xfrm flipH="1">
              <a:off x="1517"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8038" name="Freeform 455"/>
            <p:cNvSpPr>
              <a:spLocks noChangeAspect="1"/>
            </p:cNvSpPr>
            <p:nvPr/>
          </p:nvSpPr>
          <p:spPr bwMode="auto">
            <a:xfrm flipH="1">
              <a:off x="1324" y="2136"/>
              <a:ext cx="142"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8039" name="Freeform 456"/>
            <p:cNvSpPr>
              <a:spLocks noChangeAspect="1"/>
            </p:cNvSpPr>
            <p:nvPr/>
          </p:nvSpPr>
          <p:spPr bwMode="auto">
            <a:xfrm flipH="1">
              <a:off x="1245" y="2136"/>
              <a:ext cx="142"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8040" name="Freeform 457"/>
            <p:cNvSpPr>
              <a:spLocks noChangeAspect="1"/>
            </p:cNvSpPr>
            <p:nvPr/>
          </p:nvSpPr>
          <p:spPr bwMode="auto">
            <a:xfrm flipH="1">
              <a:off x="1049"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8041" name="Freeform 458"/>
            <p:cNvSpPr>
              <a:spLocks noChangeAspect="1"/>
            </p:cNvSpPr>
            <p:nvPr/>
          </p:nvSpPr>
          <p:spPr bwMode="auto">
            <a:xfrm flipH="1">
              <a:off x="970"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8042" name="Freeform 459"/>
            <p:cNvSpPr>
              <a:spLocks noChangeAspect="1"/>
            </p:cNvSpPr>
            <p:nvPr/>
          </p:nvSpPr>
          <p:spPr bwMode="auto">
            <a:xfrm flipH="1">
              <a:off x="776"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8043" name="Freeform 460"/>
            <p:cNvSpPr>
              <a:spLocks noChangeAspect="1"/>
            </p:cNvSpPr>
            <p:nvPr/>
          </p:nvSpPr>
          <p:spPr bwMode="auto">
            <a:xfrm flipH="1">
              <a:off x="697"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8044" name="Freeform 461"/>
            <p:cNvSpPr>
              <a:spLocks noChangeAspect="1"/>
            </p:cNvSpPr>
            <p:nvPr/>
          </p:nvSpPr>
          <p:spPr bwMode="auto">
            <a:xfrm flipH="1">
              <a:off x="504"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8045" name="Freeform 462"/>
            <p:cNvSpPr>
              <a:spLocks noChangeAspect="1"/>
            </p:cNvSpPr>
            <p:nvPr/>
          </p:nvSpPr>
          <p:spPr bwMode="auto">
            <a:xfrm flipH="1">
              <a:off x="425" y="2136"/>
              <a:ext cx="143"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8046" name="Freeform 463"/>
            <p:cNvSpPr>
              <a:spLocks noChangeAspect="1"/>
            </p:cNvSpPr>
            <p:nvPr/>
          </p:nvSpPr>
          <p:spPr bwMode="auto">
            <a:xfrm flipH="1">
              <a:off x="232" y="2136"/>
              <a:ext cx="142"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8047" name="Freeform 464"/>
            <p:cNvSpPr>
              <a:spLocks noChangeAspect="1"/>
            </p:cNvSpPr>
            <p:nvPr/>
          </p:nvSpPr>
          <p:spPr bwMode="auto">
            <a:xfrm flipH="1">
              <a:off x="153" y="2136"/>
              <a:ext cx="142" cy="133"/>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147470" name="Group 465"/>
          <p:cNvGrpSpPr/>
          <p:nvPr/>
        </p:nvGrpSpPr>
        <p:grpSpPr bwMode="auto">
          <a:xfrm>
            <a:off x="6656388" y="4662488"/>
            <a:ext cx="1887537" cy="169862"/>
            <a:chOff x="4193" y="3273"/>
            <a:chExt cx="1189" cy="107"/>
          </a:xfrm>
        </p:grpSpPr>
        <p:grpSp>
          <p:nvGrpSpPr>
            <p:cNvPr id="147868" name="Group 466"/>
            <p:cNvGrpSpPr/>
            <p:nvPr/>
          </p:nvGrpSpPr>
          <p:grpSpPr bwMode="auto">
            <a:xfrm>
              <a:off x="4243" y="3311"/>
              <a:ext cx="1139" cy="69"/>
              <a:chOff x="4274" y="3423"/>
              <a:chExt cx="1139" cy="69"/>
            </a:xfrm>
          </p:grpSpPr>
          <p:sp>
            <p:nvSpPr>
              <p:cNvPr id="147872" name="Freeform 467"/>
              <p:cNvSpPr>
                <a:spLocks noChangeAspect="1"/>
              </p:cNvSpPr>
              <p:nvPr/>
            </p:nvSpPr>
            <p:spPr bwMode="auto">
              <a:xfrm>
                <a:off x="4345" y="342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873" name="Freeform 468"/>
              <p:cNvSpPr>
                <a:spLocks noChangeAspect="1"/>
              </p:cNvSpPr>
              <p:nvPr/>
            </p:nvSpPr>
            <p:spPr bwMode="auto">
              <a:xfrm>
                <a:off x="4487" y="342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874" name="Freeform 469"/>
              <p:cNvSpPr>
                <a:spLocks noChangeAspect="1"/>
              </p:cNvSpPr>
              <p:nvPr/>
            </p:nvSpPr>
            <p:spPr bwMode="auto">
              <a:xfrm>
                <a:off x="4629" y="342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875" name="Freeform 470"/>
              <p:cNvSpPr>
                <a:spLocks noChangeAspect="1"/>
              </p:cNvSpPr>
              <p:nvPr/>
            </p:nvSpPr>
            <p:spPr bwMode="auto">
              <a:xfrm>
                <a:off x="4770" y="3423"/>
                <a:ext cx="75"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876" name="Freeform 471"/>
              <p:cNvSpPr>
                <a:spLocks noChangeAspect="1"/>
              </p:cNvSpPr>
              <p:nvPr/>
            </p:nvSpPr>
            <p:spPr bwMode="auto">
              <a:xfrm>
                <a:off x="4913" y="342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877" name="Freeform 472"/>
              <p:cNvSpPr>
                <a:spLocks noChangeAspect="1"/>
              </p:cNvSpPr>
              <p:nvPr/>
            </p:nvSpPr>
            <p:spPr bwMode="auto">
              <a:xfrm>
                <a:off x="5055" y="342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878" name="Freeform 473"/>
              <p:cNvSpPr>
                <a:spLocks noChangeAspect="1"/>
              </p:cNvSpPr>
              <p:nvPr/>
            </p:nvSpPr>
            <p:spPr bwMode="auto">
              <a:xfrm>
                <a:off x="5197" y="342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879" name="AutoShape 474"/>
              <p:cNvSpPr>
                <a:spLocks noChangeAspect="1" noChangeArrowheads="1"/>
              </p:cNvSpPr>
              <p:nvPr/>
            </p:nvSpPr>
            <p:spPr bwMode="auto">
              <a:xfrm>
                <a:off x="4314" y="3446"/>
                <a:ext cx="5" cy="22"/>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80" name="AutoShape 475"/>
              <p:cNvSpPr>
                <a:spLocks noChangeAspect="1" noChangeArrowheads="1"/>
              </p:cNvSpPr>
              <p:nvPr/>
            </p:nvSpPr>
            <p:spPr bwMode="auto">
              <a:xfrm>
                <a:off x="4400" y="3432"/>
                <a:ext cx="5" cy="2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81" name="AutoShape 476"/>
              <p:cNvSpPr>
                <a:spLocks noChangeAspect="1" noChangeArrowheads="1"/>
              </p:cNvSpPr>
              <p:nvPr/>
            </p:nvSpPr>
            <p:spPr bwMode="auto">
              <a:xfrm>
                <a:off x="4330" y="3458"/>
                <a:ext cx="5" cy="28"/>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82" name="AutoShape 477"/>
              <p:cNvSpPr>
                <a:spLocks noChangeAspect="1" noChangeArrowheads="1"/>
              </p:cNvSpPr>
              <p:nvPr/>
            </p:nvSpPr>
            <p:spPr bwMode="auto">
              <a:xfrm>
                <a:off x="4416" y="3425"/>
                <a:ext cx="4" cy="2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83" name="AutoShape 478"/>
              <p:cNvSpPr>
                <a:spLocks noChangeAspect="1" noChangeArrowheads="1"/>
              </p:cNvSpPr>
              <p:nvPr/>
            </p:nvSpPr>
            <p:spPr bwMode="auto">
              <a:xfrm>
                <a:off x="4345" y="3470"/>
                <a:ext cx="5" cy="2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84" name="AutoShape 479"/>
              <p:cNvSpPr>
                <a:spLocks noChangeAspect="1" noChangeArrowheads="1"/>
              </p:cNvSpPr>
              <p:nvPr/>
            </p:nvSpPr>
            <p:spPr bwMode="auto">
              <a:xfrm>
                <a:off x="4384" y="3448"/>
                <a:ext cx="5" cy="22"/>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85" name="AutoShape 480"/>
              <p:cNvSpPr>
                <a:spLocks noChangeAspect="1" noChangeArrowheads="1"/>
              </p:cNvSpPr>
              <p:nvPr/>
            </p:nvSpPr>
            <p:spPr bwMode="auto">
              <a:xfrm>
                <a:off x="4368" y="3479"/>
                <a:ext cx="5" cy="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86" name="AutoShape 481"/>
              <p:cNvSpPr>
                <a:spLocks noChangeAspect="1" noChangeArrowheads="1"/>
              </p:cNvSpPr>
              <p:nvPr/>
            </p:nvSpPr>
            <p:spPr bwMode="auto">
              <a:xfrm>
                <a:off x="4368" y="3471"/>
                <a:ext cx="5" cy="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87" name="AutoShape 482"/>
              <p:cNvSpPr>
                <a:spLocks noChangeAspect="1" noChangeArrowheads="1"/>
              </p:cNvSpPr>
              <p:nvPr/>
            </p:nvSpPr>
            <p:spPr bwMode="auto">
              <a:xfrm>
                <a:off x="4466" y="3454"/>
                <a:ext cx="5"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88" name="AutoShape 483"/>
              <p:cNvSpPr>
                <a:spLocks noChangeAspect="1" noChangeArrowheads="1"/>
              </p:cNvSpPr>
              <p:nvPr/>
            </p:nvSpPr>
            <p:spPr bwMode="auto">
              <a:xfrm>
                <a:off x="4483" y="3467"/>
                <a:ext cx="5" cy="2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89" name="AutoShape 484"/>
              <p:cNvSpPr>
                <a:spLocks noChangeAspect="1" noChangeArrowheads="1"/>
              </p:cNvSpPr>
              <p:nvPr/>
            </p:nvSpPr>
            <p:spPr bwMode="auto">
              <a:xfrm>
                <a:off x="4429" y="3427"/>
                <a:ext cx="5" cy="10"/>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90" name="AutoShape 485"/>
              <p:cNvSpPr>
                <a:spLocks noChangeAspect="1" noChangeArrowheads="1"/>
              </p:cNvSpPr>
              <p:nvPr/>
            </p:nvSpPr>
            <p:spPr bwMode="auto">
              <a:xfrm>
                <a:off x="4429" y="3437"/>
                <a:ext cx="5" cy="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91" name="AutoShape 486"/>
              <p:cNvSpPr>
                <a:spLocks noChangeAspect="1" noChangeArrowheads="1"/>
              </p:cNvSpPr>
              <p:nvPr/>
            </p:nvSpPr>
            <p:spPr bwMode="auto">
              <a:xfrm>
                <a:off x="4450" y="3441"/>
                <a:ext cx="5" cy="1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92" name="AutoShape 487"/>
              <p:cNvSpPr>
                <a:spLocks noChangeAspect="1" noChangeArrowheads="1"/>
              </p:cNvSpPr>
              <p:nvPr/>
            </p:nvSpPr>
            <p:spPr bwMode="auto">
              <a:xfrm>
                <a:off x="4499" y="3478"/>
                <a:ext cx="5" cy="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93" name="AutoShape 488"/>
              <p:cNvSpPr>
                <a:spLocks noChangeAspect="1" noChangeArrowheads="1"/>
              </p:cNvSpPr>
              <p:nvPr/>
            </p:nvSpPr>
            <p:spPr bwMode="auto">
              <a:xfrm flipV="1">
                <a:off x="4566" y="3425"/>
                <a:ext cx="5" cy="1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94" name="AutoShape 489"/>
              <p:cNvSpPr>
                <a:spLocks noChangeAspect="1" noChangeArrowheads="1"/>
              </p:cNvSpPr>
              <p:nvPr/>
            </p:nvSpPr>
            <p:spPr bwMode="auto">
              <a:xfrm>
                <a:off x="4552" y="3425"/>
                <a:ext cx="5" cy="25"/>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95" name="AutoShape 490"/>
              <p:cNvSpPr>
                <a:spLocks noChangeAspect="1" noChangeArrowheads="1"/>
              </p:cNvSpPr>
              <p:nvPr/>
            </p:nvSpPr>
            <p:spPr bwMode="auto">
              <a:xfrm flipV="1">
                <a:off x="4535" y="3435"/>
                <a:ext cx="6"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96" name="AutoShape 491"/>
              <p:cNvSpPr>
                <a:spLocks noChangeAspect="1" noChangeArrowheads="1"/>
              </p:cNvSpPr>
              <p:nvPr/>
            </p:nvSpPr>
            <p:spPr bwMode="auto">
              <a:xfrm>
                <a:off x="4518" y="3463"/>
                <a:ext cx="5" cy="13"/>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97" name="AutoShape 492"/>
              <p:cNvSpPr>
                <a:spLocks noChangeAspect="1" noChangeArrowheads="1"/>
              </p:cNvSpPr>
              <p:nvPr/>
            </p:nvSpPr>
            <p:spPr bwMode="auto">
              <a:xfrm flipV="1">
                <a:off x="4620" y="3463"/>
                <a:ext cx="6"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98" name="AutoShape 493"/>
              <p:cNvSpPr>
                <a:spLocks noChangeAspect="1" noChangeArrowheads="1"/>
              </p:cNvSpPr>
              <p:nvPr/>
            </p:nvSpPr>
            <p:spPr bwMode="auto">
              <a:xfrm>
                <a:off x="4603" y="3450"/>
                <a:ext cx="6" cy="26"/>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99" name="AutoShape 494"/>
              <p:cNvSpPr>
                <a:spLocks noChangeAspect="1" noChangeArrowheads="1"/>
              </p:cNvSpPr>
              <p:nvPr/>
            </p:nvSpPr>
            <p:spPr bwMode="auto">
              <a:xfrm>
                <a:off x="4589" y="3441"/>
                <a:ext cx="5" cy="15"/>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00" name="AutoShape 495"/>
              <p:cNvSpPr>
                <a:spLocks noChangeAspect="1" noChangeArrowheads="1"/>
              </p:cNvSpPr>
              <p:nvPr/>
            </p:nvSpPr>
            <p:spPr bwMode="auto">
              <a:xfrm>
                <a:off x="4691" y="3427"/>
                <a:ext cx="4" cy="2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01" name="AutoShape 496"/>
              <p:cNvSpPr>
                <a:spLocks noChangeAspect="1" noChangeArrowheads="1"/>
              </p:cNvSpPr>
              <p:nvPr/>
            </p:nvSpPr>
            <p:spPr bwMode="auto">
              <a:xfrm>
                <a:off x="4671" y="3444"/>
                <a:ext cx="6" cy="2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02" name="AutoShape 497"/>
              <p:cNvSpPr>
                <a:spLocks noChangeAspect="1" noChangeArrowheads="1"/>
              </p:cNvSpPr>
              <p:nvPr/>
            </p:nvSpPr>
            <p:spPr bwMode="auto">
              <a:xfrm>
                <a:off x="4635" y="3473"/>
                <a:ext cx="5" cy="16"/>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03" name="AutoShape 498"/>
              <p:cNvSpPr>
                <a:spLocks noChangeAspect="1" noChangeArrowheads="1"/>
              </p:cNvSpPr>
              <p:nvPr/>
            </p:nvSpPr>
            <p:spPr bwMode="auto">
              <a:xfrm flipV="1">
                <a:off x="4657" y="3466"/>
                <a:ext cx="5" cy="1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04" name="AutoShape 499"/>
              <p:cNvSpPr>
                <a:spLocks noChangeAspect="1" noChangeArrowheads="1"/>
              </p:cNvSpPr>
              <p:nvPr/>
            </p:nvSpPr>
            <p:spPr bwMode="auto">
              <a:xfrm>
                <a:off x="4705" y="3425"/>
                <a:ext cx="6" cy="1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05" name="AutoShape 500"/>
              <p:cNvSpPr>
                <a:spLocks noChangeAspect="1" noChangeArrowheads="1"/>
              </p:cNvSpPr>
              <p:nvPr/>
            </p:nvSpPr>
            <p:spPr bwMode="auto">
              <a:xfrm>
                <a:off x="4725" y="3427"/>
                <a:ext cx="5" cy="10"/>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06" name="AutoShape 501"/>
              <p:cNvSpPr>
                <a:spLocks noChangeAspect="1" noChangeArrowheads="1"/>
              </p:cNvSpPr>
              <p:nvPr/>
            </p:nvSpPr>
            <p:spPr bwMode="auto">
              <a:xfrm>
                <a:off x="4725" y="3437"/>
                <a:ext cx="5" cy="10"/>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07" name="AutoShape 502"/>
              <p:cNvSpPr>
                <a:spLocks noChangeAspect="1" noChangeArrowheads="1"/>
              </p:cNvSpPr>
              <p:nvPr/>
            </p:nvSpPr>
            <p:spPr bwMode="auto">
              <a:xfrm>
                <a:off x="4757" y="3459"/>
                <a:ext cx="5"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08" name="AutoShape 503"/>
              <p:cNvSpPr>
                <a:spLocks noChangeAspect="1" noChangeArrowheads="1"/>
              </p:cNvSpPr>
              <p:nvPr/>
            </p:nvSpPr>
            <p:spPr bwMode="auto">
              <a:xfrm>
                <a:off x="4773" y="3471"/>
                <a:ext cx="6" cy="19"/>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09" name="AutoShape 504"/>
              <p:cNvSpPr>
                <a:spLocks noChangeAspect="1" noChangeArrowheads="1"/>
              </p:cNvSpPr>
              <p:nvPr/>
            </p:nvSpPr>
            <p:spPr bwMode="auto">
              <a:xfrm>
                <a:off x="4741" y="3445"/>
                <a:ext cx="5" cy="21"/>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10" name="Freeform 505"/>
              <p:cNvSpPr>
                <a:spLocks noChangeAspect="1"/>
              </p:cNvSpPr>
              <p:nvPr/>
            </p:nvSpPr>
            <p:spPr bwMode="auto">
              <a:xfrm>
                <a:off x="5339" y="342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911" name="AutoShape 506"/>
              <p:cNvSpPr>
                <a:spLocks noChangeAspect="1" noChangeArrowheads="1"/>
              </p:cNvSpPr>
              <p:nvPr/>
            </p:nvSpPr>
            <p:spPr bwMode="auto">
              <a:xfrm>
                <a:off x="4882" y="3446"/>
                <a:ext cx="6" cy="22"/>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12" name="AutoShape 507"/>
              <p:cNvSpPr>
                <a:spLocks noChangeAspect="1" noChangeArrowheads="1"/>
              </p:cNvSpPr>
              <p:nvPr/>
            </p:nvSpPr>
            <p:spPr bwMode="auto">
              <a:xfrm>
                <a:off x="4969" y="3429"/>
                <a:ext cx="5" cy="2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13" name="AutoShape 508"/>
              <p:cNvSpPr>
                <a:spLocks noChangeAspect="1" noChangeArrowheads="1"/>
              </p:cNvSpPr>
              <p:nvPr/>
            </p:nvSpPr>
            <p:spPr bwMode="auto">
              <a:xfrm>
                <a:off x="4898" y="3458"/>
                <a:ext cx="5" cy="28"/>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14" name="AutoShape 509"/>
              <p:cNvSpPr>
                <a:spLocks noChangeAspect="1" noChangeArrowheads="1"/>
              </p:cNvSpPr>
              <p:nvPr/>
            </p:nvSpPr>
            <p:spPr bwMode="auto">
              <a:xfrm>
                <a:off x="4985" y="3424"/>
                <a:ext cx="5" cy="2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15" name="AutoShape 510"/>
              <p:cNvSpPr>
                <a:spLocks noChangeAspect="1" noChangeArrowheads="1"/>
              </p:cNvSpPr>
              <p:nvPr/>
            </p:nvSpPr>
            <p:spPr bwMode="auto">
              <a:xfrm>
                <a:off x="4914" y="3470"/>
                <a:ext cx="5" cy="2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16" name="AutoShape 511"/>
              <p:cNvSpPr>
                <a:spLocks noChangeAspect="1" noChangeArrowheads="1"/>
              </p:cNvSpPr>
              <p:nvPr/>
            </p:nvSpPr>
            <p:spPr bwMode="auto">
              <a:xfrm>
                <a:off x="4953" y="3448"/>
                <a:ext cx="5" cy="22"/>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17" name="AutoShape 512"/>
              <p:cNvSpPr>
                <a:spLocks noChangeAspect="1" noChangeArrowheads="1"/>
              </p:cNvSpPr>
              <p:nvPr/>
            </p:nvSpPr>
            <p:spPr bwMode="auto">
              <a:xfrm>
                <a:off x="4937" y="3479"/>
                <a:ext cx="4" cy="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18" name="AutoShape 513"/>
              <p:cNvSpPr>
                <a:spLocks noChangeAspect="1" noChangeArrowheads="1"/>
              </p:cNvSpPr>
              <p:nvPr/>
            </p:nvSpPr>
            <p:spPr bwMode="auto">
              <a:xfrm>
                <a:off x="4937" y="3471"/>
                <a:ext cx="4" cy="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19" name="AutoShape 514"/>
              <p:cNvSpPr>
                <a:spLocks noChangeAspect="1" noChangeArrowheads="1"/>
              </p:cNvSpPr>
              <p:nvPr/>
            </p:nvSpPr>
            <p:spPr bwMode="auto">
              <a:xfrm>
                <a:off x="5035" y="3454"/>
                <a:ext cx="4"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20" name="AutoShape 515"/>
              <p:cNvSpPr>
                <a:spLocks noChangeAspect="1" noChangeArrowheads="1"/>
              </p:cNvSpPr>
              <p:nvPr/>
            </p:nvSpPr>
            <p:spPr bwMode="auto">
              <a:xfrm>
                <a:off x="5051" y="3467"/>
                <a:ext cx="5" cy="2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21" name="AutoShape 516"/>
              <p:cNvSpPr>
                <a:spLocks noChangeAspect="1" noChangeArrowheads="1"/>
              </p:cNvSpPr>
              <p:nvPr/>
            </p:nvSpPr>
            <p:spPr bwMode="auto">
              <a:xfrm>
                <a:off x="4999" y="3428"/>
                <a:ext cx="5" cy="10"/>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22" name="AutoShape 517"/>
              <p:cNvSpPr>
                <a:spLocks noChangeAspect="1" noChangeArrowheads="1"/>
              </p:cNvSpPr>
              <p:nvPr/>
            </p:nvSpPr>
            <p:spPr bwMode="auto">
              <a:xfrm>
                <a:off x="5018" y="3441"/>
                <a:ext cx="5" cy="1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23" name="AutoShape 518"/>
              <p:cNvSpPr>
                <a:spLocks noChangeAspect="1" noChangeArrowheads="1"/>
              </p:cNvSpPr>
              <p:nvPr/>
            </p:nvSpPr>
            <p:spPr bwMode="auto">
              <a:xfrm>
                <a:off x="5067" y="3478"/>
                <a:ext cx="6" cy="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24" name="AutoShape 519"/>
              <p:cNvSpPr>
                <a:spLocks noChangeAspect="1" noChangeArrowheads="1"/>
              </p:cNvSpPr>
              <p:nvPr/>
            </p:nvSpPr>
            <p:spPr bwMode="auto">
              <a:xfrm flipV="1">
                <a:off x="5134" y="3425"/>
                <a:ext cx="5" cy="1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25" name="AutoShape 520"/>
              <p:cNvSpPr>
                <a:spLocks noChangeAspect="1" noChangeArrowheads="1"/>
              </p:cNvSpPr>
              <p:nvPr/>
            </p:nvSpPr>
            <p:spPr bwMode="auto">
              <a:xfrm>
                <a:off x="5120" y="3425"/>
                <a:ext cx="6" cy="25"/>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26" name="AutoShape 521"/>
              <p:cNvSpPr>
                <a:spLocks noChangeAspect="1" noChangeArrowheads="1"/>
              </p:cNvSpPr>
              <p:nvPr/>
            </p:nvSpPr>
            <p:spPr bwMode="auto">
              <a:xfrm flipV="1">
                <a:off x="5104" y="3435"/>
                <a:ext cx="5"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27" name="AutoShape 522"/>
              <p:cNvSpPr>
                <a:spLocks noChangeAspect="1" noChangeArrowheads="1"/>
              </p:cNvSpPr>
              <p:nvPr/>
            </p:nvSpPr>
            <p:spPr bwMode="auto">
              <a:xfrm>
                <a:off x="5088" y="3463"/>
                <a:ext cx="4" cy="13"/>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28" name="AutoShape 523"/>
              <p:cNvSpPr>
                <a:spLocks noChangeAspect="1" noChangeArrowheads="1"/>
              </p:cNvSpPr>
              <p:nvPr/>
            </p:nvSpPr>
            <p:spPr bwMode="auto">
              <a:xfrm flipV="1">
                <a:off x="5189" y="3463"/>
                <a:ext cx="5"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29" name="AutoShape 524"/>
              <p:cNvSpPr>
                <a:spLocks noChangeAspect="1" noChangeArrowheads="1"/>
              </p:cNvSpPr>
              <p:nvPr/>
            </p:nvSpPr>
            <p:spPr bwMode="auto">
              <a:xfrm>
                <a:off x="5171" y="3450"/>
                <a:ext cx="6" cy="26"/>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30" name="AutoShape 525"/>
              <p:cNvSpPr>
                <a:spLocks noChangeAspect="1" noChangeArrowheads="1"/>
              </p:cNvSpPr>
              <p:nvPr/>
            </p:nvSpPr>
            <p:spPr bwMode="auto">
              <a:xfrm>
                <a:off x="5157" y="3441"/>
                <a:ext cx="6" cy="15"/>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31" name="AutoShape 526"/>
              <p:cNvSpPr>
                <a:spLocks noChangeAspect="1" noChangeArrowheads="1"/>
              </p:cNvSpPr>
              <p:nvPr/>
            </p:nvSpPr>
            <p:spPr bwMode="auto">
              <a:xfrm>
                <a:off x="5258" y="3427"/>
                <a:ext cx="5" cy="2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32" name="AutoShape 527"/>
              <p:cNvSpPr>
                <a:spLocks noChangeAspect="1" noChangeArrowheads="1"/>
              </p:cNvSpPr>
              <p:nvPr/>
            </p:nvSpPr>
            <p:spPr bwMode="auto">
              <a:xfrm>
                <a:off x="5240" y="3444"/>
                <a:ext cx="5" cy="2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33" name="AutoShape 528"/>
              <p:cNvSpPr>
                <a:spLocks noChangeAspect="1" noChangeArrowheads="1"/>
              </p:cNvSpPr>
              <p:nvPr/>
            </p:nvSpPr>
            <p:spPr bwMode="auto">
              <a:xfrm>
                <a:off x="5203" y="3473"/>
                <a:ext cx="5" cy="16"/>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34" name="AutoShape 529"/>
              <p:cNvSpPr>
                <a:spLocks noChangeAspect="1" noChangeArrowheads="1"/>
              </p:cNvSpPr>
              <p:nvPr/>
            </p:nvSpPr>
            <p:spPr bwMode="auto">
              <a:xfrm flipV="1">
                <a:off x="5224" y="3466"/>
                <a:ext cx="6" cy="1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35" name="AutoShape 530"/>
              <p:cNvSpPr>
                <a:spLocks noChangeAspect="1" noChangeArrowheads="1"/>
              </p:cNvSpPr>
              <p:nvPr/>
            </p:nvSpPr>
            <p:spPr bwMode="auto">
              <a:xfrm>
                <a:off x="5274" y="3425"/>
                <a:ext cx="5" cy="1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36" name="AutoShape 531"/>
              <p:cNvSpPr>
                <a:spLocks noChangeAspect="1" noChangeArrowheads="1"/>
              </p:cNvSpPr>
              <p:nvPr/>
            </p:nvSpPr>
            <p:spPr bwMode="auto">
              <a:xfrm>
                <a:off x="5293" y="3427"/>
                <a:ext cx="5" cy="10"/>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37" name="AutoShape 532"/>
              <p:cNvSpPr>
                <a:spLocks noChangeAspect="1" noChangeArrowheads="1"/>
              </p:cNvSpPr>
              <p:nvPr/>
            </p:nvSpPr>
            <p:spPr bwMode="auto">
              <a:xfrm>
                <a:off x="5293" y="3437"/>
                <a:ext cx="5" cy="10"/>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38" name="AutoShape 533"/>
              <p:cNvSpPr>
                <a:spLocks noChangeAspect="1" noChangeArrowheads="1"/>
              </p:cNvSpPr>
              <p:nvPr/>
            </p:nvSpPr>
            <p:spPr bwMode="auto">
              <a:xfrm>
                <a:off x="5325" y="3459"/>
                <a:ext cx="5"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39" name="AutoShape 534"/>
              <p:cNvSpPr>
                <a:spLocks noChangeAspect="1" noChangeArrowheads="1"/>
              </p:cNvSpPr>
              <p:nvPr/>
            </p:nvSpPr>
            <p:spPr bwMode="auto">
              <a:xfrm>
                <a:off x="5342" y="3471"/>
                <a:ext cx="5" cy="19"/>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40" name="AutoShape 535"/>
              <p:cNvSpPr>
                <a:spLocks noChangeAspect="1" noChangeArrowheads="1"/>
              </p:cNvSpPr>
              <p:nvPr/>
            </p:nvSpPr>
            <p:spPr bwMode="auto">
              <a:xfrm>
                <a:off x="5309" y="3445"/>
                <a:ext cx="5" cy="21"/>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41" name="AutoShape 536"/>
              <p:cNvSpPr>
                <a:spLocks noChangeAspect="1" noChangeArrowheads="1"/>
              </p:cNvSpPr>
              <p:nvPr/>
            </p:nvSpPr>
            <p:spPr bwMode="auto">
              <a:xfrm>
                <a:off x="4828" y="3429"/>
                <a:ext cx="5" cy="2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42" name="AutoShape 537"/>
              <p:cNvSpPr>
                <a:spLocks noChangeAspect="1" noChangeArrowheads="1"/>
              </p:cNvSpPr>
              <p:nvPr/>
            </p:nvSpPr>
            <p:spPr bwMode="auto">
              <a:xfrm>
                <a:off x="4844" y="3424"/>
                <a:ext cx="4" cy="2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43" name="AutoShape 538"/>
              <p:cNvSpPr>
                <a:spLocks noChangeAspect="1" noChangeArrowheads="1"/>
              </p:cNvSpPr>
              <p:nvPr/>
            </p:nvSpPr>
            <p:spPr bwMode="auto">
              <a:xfrm>
                <a:off x="4811" y="3448"/>
                <a:ext cx="5" cy="22"/>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44" name="AutoShape 539"/>
              <p:cNvSpPr>
                <a:spLocks noChangeAspect="1" noChangeArrowheads="1"/>
              </p:cNvSpPr>
              <p:nvPr/>
            </p:nvSpPr>
            <p:spPr bwMode="auto">
              <a:xfrm>
                <a:off x="4794" y="3478"/>
                <a:ext cx="5" cy="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45" name="AutoShape 540"/>
              <p:cNvSpPr>
                <a:spLocks noChangeAspect="1" noChangeArrowheads="1"/>
              </p:cNvSpPr>
              <p:nvPr/>
            </p:nvSpPr>
            <p:spPr bwMode="auto">
              <a:xfrm>
                <a:off x="4794" y="3470"/>
                <a:ext cx="5" cy="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46" name="AutoShape 541"/>
              <p:cNvSpPr>
                <a:spLocks noChangeAspect="1" noChangeArrowheads="1"/>
              </p:cNvSpPr>
              <p:nvPr/>
            </p:nvSpPr>
            <p:spPr bwMode="auto">
              <a:xfrm>
                <a:off x="4856" y="3427"/>
                <a:ext cx="5" cy="10"/>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947" name="Freeform 542"/>
              <p:cNvSpPr>
                <a:spLocks noChangeAspect="1"/>
              </p:cNvSpPr>
              <p:nvPr/>
            </p:nvSpPr>
            <p:spPr bwMode="auto">
              <a:xfrm flipH="1">
                <a:off x="5268" y="342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948" name="Freeform 543"/>
              <p:cNvSpPr>
                <a:spLocks noChangeAspect="1"/>
              </p:cNvSpPr>
              <p:nvPr/>
            </p:nvSpPr>
            <p:spPr bwMode="auto">
              <a:xfrm flipH="1">
                <a:off x="5126" y="342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949" name="Freeform 544"/>
              <p:cNvSpPr>
                <a:spLocks noChangeAspect="1"/>
              </p:cNvSpPr>
              <p:nvPr/>
            </p:nvSpPr>
            <p:spPr bwMode="auto">
              <a:xfrm flipH="1">
                <a:off x="4984" y="3423"/>
                <a:ext cx="75"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950" name="Freeform 545"/>
              <p:cNvSpPr>
                <a:spLocks noChangeAspect="1"/>
              </p:cNvSpPr>
              <p:nvPr/>
            </p:nvSpPr>
            <p:spPr bwMode="auto">
              <a:xfrm flipH="1">
                <a:off x="4843" y="3423"/>
                <a:ext cx="73"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951" name="Freeform 546"/>
              <p:cNvSpPr>
                <a:spLocks noChangeAspect="1"/>
              </p:cNvSpPr>
              <p:nvPr/>
            </p:nvSpPr>
            <p:spPr bwMode="auto">
              <a:xfrm flipH="1">
                <a:off x="4699" y="3423"/>
                <a:ext cx="75"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952" name="Freeform 547"/>
              <p:cNvSpPr>
                <a:spLocks noChangeAspect="1"/>
              </p:cNvSpPr>
              <p:nvPr/>
            </p:nvSpPr>
            <p:spPr bwMode="auto">
              <a:xfrm flipH="1">
                <a:off x="4557" y="3423"/>
                <a:ext cx="75"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953" name="Freeform 548"/>
              <p:cNvSpPr>
                <a:spLocks noChangeAspect="1"/>
              </p:cNvSpPr>
              <p:nvPr/>
            </p:nvSpPr>
            <p:spPr bwMode="auto">
              <a:xfrm flipH="1">
                <a:off x="4416" y="342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954" name="Freeform 549"/>
              <p:cNvSpPr>
                <a:spLocks noChangeAspect="1"/>
              </p:cNvSpPr>
              <p:nvPr/>
            </p:nvSpPr>
            <p:spPr bwMode="auto">
              <a:xfrm flipH="1">
                <a:off x="4274" y="342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147869" name="Group 550"/>
            <p:cNvGrpSpPr>
              <a:grpSpLocks noChangeAspect="1"/>
            </p:cNvGrpSpPr>
            <p:nvPr/>
          </p:nvGrpSpPr>
          <p:grpSpPr bwMode="auto">
            <a:xfrm>
              <a:off x="4193" y="3273"/>
              <a:ext cx="54" cy="71"/>
              <a:chOff x="3743" y="2439"/>
              <a:chExt cx="164" cy="216"/>
            </a:xfrm>
          </p:grpSpPr>
          <p:sp>
            <p:nvSpPr>
              <p:cNvPr id="147870" name="Freeform 551"/>
              <p:cNvSpPr>
                <a:spLocks noChangeAspect="1"/>
              </p:cNvSpPr>
              <p:nvPr/>
            </p:nvSpPr>
            <p:spPr bwMode="auto">
              <a:xfrm>
                <a:off x="3743" y="2465"/>
                <a:ext cx="117" cy="190"/>
              </a:xfrm>
              <a:custGeom>
                <a:avLst/>
                <a:gdLst>
                  <a:gd name="T0" fmla="*/ 3 w 387"/>
                  <a:gd name="T1" fmla="*/ 0 h 625"/>
                  <a:gd name="T2" fmla="*/ 1 w 387"/>
                  <a:gd name="T3" fmla="*/ 0 h 625"/>
                  <a:gd name="T4" fmla="*/ 0 w 387"/>
                  <a:gd name="T5" fmla="*/ 2 h 625"/>
                  <a:gd name="T6" fmla="*/ 1 w 387"/>
                  <a:gd name="T7" fmla="*/ 2 h 625"/>
                  <a:gd name="T8" fmla="*/ 2 w 387"/>
                  <a:gd name="T9" fmla="*/ 2 h 625"/>
                  <a:gd name="T10" fmla="*/ 3 w 387"/>
                  <a:gd name="T11" fmla="*/ 2 h 625"/>
                  <a:gd name="T12" fmla="*/ 3 w 387"/>
                  <a:gd name="T13" fmla="*/ 4 h 625"/>
                  <a:gd name="T14" fmla="*/ 3 w 387"/>
                  <a:gd name="T15" fmla="*/ 5 h 625"/>
                  <a:gd name="T16" fmla="*/ 2 w 387"/>
                  <a:gd name="T17" fmla="*/ 5 h 625"/>
                  <a:gd name="T18" fmla="*/ 1 w 387"/>
                  <a:gd name="T19" fmla="*/ 5 h 625"/>
                  <a:gd name="T20" fmla="*/ 0 w 387"/>
                  <a:gd name="T21" fmla="*/ 4 h 62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87"/>
                  <a:gd name="T34" fmla="*/ 0 h 625"/>
                  <a:gd name="T35" fmla="*/ 387 w 387"/>
                  <a:gd name="T36" fmla="*/ 625 h 62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87" h="625">
                    <a:moveTo>
                      <a:pt x="387" y="7"/>
                    </a:moveTo>
                    <a:lnTo>
                      <a:pt x="86" y="0"/>
                    </a:lnTo>
                    <a:lnTo>
                      <a:pt x="28" y="295"/>
                    </a:lnTo>
                    <a:cubicBezTo>
                      <a:pt x="31" y="337"/>
                      <a:pt x="71" y="261"/>
                      <a:pt x="105" y="250"/>
                    </a:cubicBezTo>
                    <a:cubicBezTo>
                      <a:pt x="139" y="239"/>
                      <a:pt x="194" y="225"/>
                      <a:pt x="233" y="231"/>
                    </a:cubicBezTo>
                    <a:cubicBezTo>
                      <a:pt x="272" y="237"/>
                      <a:pt x="315" y="255"/>
                      <a:pt x="340" y="288"/>
                    </a:cubicBezTo>
                    <a:cubicBezTo>
                      <a:pt x="365" y="321"/>
                      <a:pt x="382" y="385"/>
                      <a:pt x="380" y="429"/>
                    </a:cubicBezTo>
                    <a:cubicBezTo>
                      <a:pt x="378" y="473"/>
                      <a:pt x="358" y="519"/>
                      <a:pt x="327" y="551"/>
                    </a:cubicBezTo>
                    <a:cubicBezTo>
                      <a:pt x="296" y="583"/>
                      <a:pt x="237" y="617"/>
                      <a:pt x="192" y="621"/>
                    </a:cubicBezTo>
                    <a:cubicBezTo>
                      <a:pt x="147" y="625"/>
                      <a:pt x="90" y="600"/>
                      <a:pt x="58" y="576"/>
                    </a:cubicBezTo>
                    <a:cubicBezTo>
                      <a:pt x="26" y="552"/>
                      <a:pt x="12" y="495"/>
                      <a:pt x="0" y="474"/>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871" name="AutoShape 552"/>
              <p:cNvSpPr>
                <a:spLocks noChangeAspect="1" noChangeArrowheads="1"/>
              </p:cNvSpPr>
              <p:nvPr/>
            </p:nvSpPr>
            <p:spPr bwMode="auto">
              <a:xfrm flipV="1">
                <a:off x="3889" y="2439"/>
                <a:ext cx="18" cy="51"/>
              </a:xfrm>
              <a:prstGeom prst="triangle">
                <a:avLst>
                  <a:gd name="adj" fmla="val 50000"/>
                </a:avLst>
              </a:prstGeom>
              <a:solidFill>
                <a:schemeClr val="tx1"/>
              </a:solidFill>
              <a:ln w="6350">
                <a:solidFill>
                  <a:schemeClr val="tx1"/>
                </a:solidFill>
                <a:miter lim="800000"/>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grpSp>
        <p:nvGrpSpPr>
          <p:cNvPr id="147471" name="Group 553"/>
          <p:cNvGrpSpPr/>
          <p:nvPr/>
        </p:nvGrpSpPr>
        <p:grpSpPr bwMode="auto">
          <a:xfrm>
            <a:off x="6900863" y="4552950"/>
            <a:ext cx="1897062" cy="144463"/>
            <a:chOff x="4347" y="2868"/>
            <a:chExt cx="1195" cy="91"/>
          </a:xfrm>
        </p:grpSpPr>
        <p:grpSp>
          <p:nvGrpSpPr>
            <p:cNvPr id="147780" name="Group 554"/>
            <p:cNvGrpSpPr/>
            <p:nvPr/>
          </p:nvGrpSpPr>
          <p:grpSpPr bwMode="auto">
            <a:xfrm>
              <a:off x="4347" y="2868"/>
              <a:ext cx="1139" cy="69"/>
              <a:chOff x="4267" y="3168"/>
              <a:chExt cx="1139" cy="69"/>
            </a:xfrm>
          </p:grpSpPr>
          <p:sp>
            <p:nvSpPr>
              <p:cNvPr id="147784" name="Freeform 555"/>
              <p:cNvSpPr>
                <a:spLocks noChangeAspect="1"/>
              </p:cNvSpPr>
              <p:nvPr/>
            </p:nvSpPr>
            <p:spPr bwMode="auto">
              <a:xfrm>
                <a:off x="4409" y="316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785" name="Freeform 556"/>
              <p:cNvSpPr>
                <a:spLocks noChangeAspect="1"/>
              </p:cNvSpPr>
              <p:nvPr/>
            </p:nvSpPr>
            <p:spPr bwMode="auto">
              <a:xfrm>
                <a:off x="4551" y="316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786" name="Freeform 557"/>
              <p:cNvSpPr>
                <a:spLocks noChangeAspect="1"/>
              </p:cNvSpPr>
              <p:nvPr/>
            </p:nvSpPr>
            <p:spPr bwMode="auto">
              <a:xfrm>
                <a:off x="4693" y="316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787" name="Freeform 558"/>
              <p:cNvSpPr>
                <a:spLocks noChangeAspect="1"/>
              </p:cNvSpPr>
              <p:nvPr/>
            </p:nvSpPr>
            <p:spPr bwMode="auto">
              <a:xfrm>
                <a:off x="4835" y="3168"/>
                <a:ext cx="75"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788" name="Freeform 559"/>
              <p:cNvSpPr>
                <a:spLocks noChangeAspect="1"/>
              </p:cNvSpPr>
              <p:nvPr/>
            </p:nvSpPr>
            <p:spPr bwMode="auto">
              <a:xfrm>
                <a:off x="4977" y="316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789" name="Freeform 560"/>
              <p:cNvSpPr>
                <a:spLocks noChangeAspect="1"/>
              </p:cNvSpPr>
              <p:nvPr/>
            </p:nvSpPr>
            <p:spPr bwMode="auto">
              <a:xfrm>
                <a:off x="5119" y="316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790" name="Freeform 561"/>
              <p:cNvSpPr>
                <a:spLocks noChangeAspect="1"/>
              </p:cNvSpPr>
              <p:nvPr/>
            </p:nvSpPr>
            <p:spPr bwMode="auto">
              <a:xfrm>
                <a:off x="5261" y="3168"/>
                <a:ext cx="75"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791" name="Freeform 562"/>
              <p:cNvSpPr>
                <a:spLocks noChangeAspect="1"/>
              </p:cNvSpPr>
              <p:nvPr/>
            </p:nvSpPr>
            <p:spPr bwMode="auto">
              <a:xfrm>
                <a:off x="4267" y="316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792" name="AutoShape 563"/>
              <p:cNvSpPr>
                <a:spLocks noChangeAspect="1" noChangeArrowheads="1"/>
              </p:cNvSpPr>
              <p:nvPr/>
            </p:nvSpPr>
            <p:spPr bwMode="auto">
              <a:xfrm>
                <a:off x="4337" y="3169"/>
                <a:ext cx="5" cy="22"/>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93" name="AutoShape 564"/>
              <p:cNvSpPr>
                <a:spLocks noChangeAspect="1" noChangeArrowheads="1"/>
              </p:cNvSpPr>
              <p:nvPr/>
            </p:nvSpPr>
            <p:spPr bwMode="auto">
              <a:xfrm>
                <a:off x="4423" y="3204"/>
                <a:ext cx="5" cy="2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94" name="AutoShape 565"/>
              <p:cNvSpPr>
                <a:spLocks noChangeAspect="1" noChangeArrowheads="1"/>
              </p:cNvSpPr>
              <p:nvPr/>
            </p:nvSpPr>
            <p:spPr bwMode="auto">
              <a:xfrm>
                <a:off x="4353" y="3175"/>
                <a:ext cx="5" cy="28"/>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95" name="AutoShape 566"/>
              <p:cNvSpPr>
                <a:spLocks noChangeAspect="1" noChangeArrowheads="1"/>
              </p:cNvSpPr>
              <p:nvPr/>
            </p:nvSpPr>
            <p:spPr bwMode="auto">
              <a:xfrm>
                <a:off x="4439" y="3170"/>
                <a:ext cx="4" cy="2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96" name="AutoShape 567"/>
              <p:cNvSpPr>
                <a:spLocks noChangeAspect="1" noChangeArrowheads="1"/>
              </p:cNvSpPr>
              <p:nvPr/>
            </p:nvSpPr>
            <p:spPr bwMode="auto">
              <a:xfrm>
                <a:off x="4439" y="3190"/>
                <a:ext cx="4" cy="20"/>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97" name="AutoShape 568"/>
              <p:cNvSpPr>
                <a:spLocks noChangeAspect="1" noChangeArrowheads="1"/>
              </p:cNvSpPr>
              <p:nvPr/>
            </p:nvSpPr>
            <p:spPr bwMode="auto">
              <a:xfrm>
                <a:off x="4368" y="3194"/>
                <a:ext cx="5" cy="20"/>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98" name="AutoShape 569"/>
              <p:cNvSpPr>
                <a:spLocks noChangeAspect="1" noChangeArrowheads="1"/>
              </p:cNvSpPr>
              <p:nvPr/>
            </p:nvSpPr>
            <p:spPr bwMode="auto">
              <a:xfrm>
                <a:off x="4407" y="3214"/>
                <a:ext cx="5" cy="22"/>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99" name="AutoShape 570"/>
              <p:cNvSpPr>
                <a:spLocks noChangeAspect="1" noChangeArrowheads="1"/>
              </p:cNvSpPr>
              <p:nvPr/>
            </p:nvSpPr>
            <p:spPr bwMode="auto">
              <a:xfrm>
                <a:off x="4391" y="3224"/>
                <a:ext cx="5" cy="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00" name="AutoShape 571"/>
              <p:cNvSpPr>
                <a:spLocks noChangeAspect="1" noChangeArrowheads="1"/>
              </p:cNvSpPr>
              <p:nvPr/>
            </p:nvSpPr>
            <p:spPr bwMode="auto">
              <a:xfrm>
                <a:off x="4391" y="3216"/>
                <a:ext cx="5" cy="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01" name="AutoShape 572"/>
              <p:cNvSpPr>
                <a:spLocks noChangeAspect="1" noChangeArrowheads="1"/>
              </p:cNvSpPr>
              <p:nvPr/>
            </p:nvSpPr>
            <p:spPr bwMode="auto">
              <a:xfrm>
                <a:off x="4489" y="3172"/>
                <a:ext cx="5" cy="2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02" name="AutoShape 573"/>
              <p:cNvSpPr>
                <a:spLocks noChangeAspect="1" noChangeArrowheads="1"/>
              </p:cNvSpPr>
              <p:nvPr/>
            </p:nvSpPr>
            <p:spPr bwMode="auto">
              <a:xfrm>
                <a:off x="4506" y="3189"/>
                <a:ext cx="5" cy="2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03" name="AutoShape 574"/>
              <p:cNvSpPr>
                <a:spLocks noChangeAspect="1" noChangeArrowheads="1"/>
              </p:cNvSpPr>
              <p:nvPr/>
            </p:nvSpPr>
            <p:spPr bwMode="auto">
              <a:xfrm>
                <a:off x="4452" y="3182"/>
                <a:ext cx="5" cy="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04" name="AutoShape 575"/>
              <p:cNvSpPr>
                <a:spLocks noChangeAspect="1" noChangeArrowheads="1"/>
              </p:cNvSpPr>
              <p:nvPr/>
            </p:nvSpPr>
            <p:spPr bwMode="auto">
              <a:xfrm>
                <a:off x="4473" y="3170"/>
                <a:ext cx="5" cy="1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05" name="AutoShape 576"/>
              <p:cNvSpPr>
                <a:spLocks noChangeAspect="1" noChangeArrowheads="1"/>
              </p:cNvSpPr>
              <p:nvPr/>
            </p:nvSpPr>
            <p:spPr bwMode="auto">
              <a:xfrm>
                <a:off x="4522" y="3213"/>
                <a:ext cx="5" cy="10"/>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06" name="AutoShape 577"/>
              <p:cNvSpPr>
                <a:spLocks noChangeAspect="1" noChangeArrowheads="1"/>
              </p:cNvSpPr>
              <p:nvPr/>
            </p:nvSpPr>
            <p:spPr bwMode="auto">
              <a:xfrm>
                <a:off x="4522" y="3223"/>
                <a:ext cx="5" cy="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07" name="AutoShape 578"/>
              <p:cNvSpPr>
                <a:spLocks noChangeAspect="1" noChangeArrowheads="1"/>
              </p:cNvSpPr>
              <p:nvPr/>
            </p:nvSpPr>
            <p:spPr bwMode="auto">
              <a:xfrm flipV="1">
                <a:off x="4589" y="3183"/>
                <a:ext cx="5" cy="1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08" name="AutoShape 579"/>
              <p:cNvSpPr>
                <a:spLocks noChangeAspect="1" noChangeArrowheads="1"/>
              </p:cNvSpPr>
              <p:nvPr/>
            </p:nvSpPr>
            <p:spPr bwMode="auto">
              <a:xfrm>
                <a:off x="4575" y="3195"/>
                <a:ext cx="5" cy="25"/>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09" name="AutoShape 580"/>
              <p:cNvSpPr>
                <a:spLocks noChangeAspect="1" noChangeArrowheads="1"/>
              </p:cNvSpPr>
              <p:nvPr/>
            </p:nvSpPr>
            <p:spPr bwMode="auto">
              <a:xfrm flipV="1">
                <a:off x="4558" y="3207"/>
                <a:ext cx="6" cy="26"/>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10" name="AutoShape 581"/>
              <p:cNvSpPr>
                <a:spLocks noChangeAspect="1" noChangeArrowheads="1"/>
              </p:cNvSpPr>
              <p:nvPr/>
            </p:nvSpPr>
            <p:spPr bwMode="auto">
              <a:xfrm>
                <a:off x="4541" y="3221"/>
                <a:ext cx="5" cy="13"/>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11" name="AutoShape 582"/>
              <p:cNvSpPr>
                <a:spLocks noChangeAspect="1" noChangeArrowheads="1"/>
              </p:cNvSpPr>
              <p:nvPr/>
            </p:nvSpPr>
            <p:spPr bwMode="auto">
              <a:xfrm flipV="1">
                <a:off x="4643" y="3182"/>
                <a:ext cx="6" cy="2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12" name="AutoShape 583"/>
              <p:cNvSpPr>
                <a:spLocks noChangeAspect="1" noChangeArrowheads="1"/>
              </p:cNvSpPr>
              <p:nvPr/>
            </p:nvSpPr>
            <p:spPr bwMode="auto">
              <a:xfrm>
                <a:off x="4626" y="3169"/>
                <a:ext cx="6" cy="26"/>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13" name="AutoShape 584"/>
              <p:cNvSpPr>
                <a:spLocks noChangeAspect="1" noChangeArrowheads="1"/>
              </p:cNvSpPr>
              <p:nvPr/>
            </p:nvSpPr>
            <p:spPr bwMode="auto">
              <a:xfrm>
                <a:off x="4612" y="3170"/>
                <a:ext cx="5" cy="15"/>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14" name="AutoShape 585"/>
              <p:cNvSpPr>
                <a:spLocks noChangeAspect="1" noChangeArrowheads="1"/>
              </p:cNvSpPr>
              <p:nvPr/>
            </p:nvSpPr>
            <p:spPr bwMode="auto">
              <a:xfrm>
                <a:off x="4714" y="3199"/>
                <a:ext cx="4"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15" name="AutoShape 586"/>
              <p:cNvSpPr>
                <a:spLocks noChangeAspect="1" noChangeArrowheads="1"/>
              </p:cNvSpPr>
              <p:nvPr/>
            </p:nvSpPr>
            <p:spPr bwMode="auto">
              <a:xfrm>
                <a:off x="4694" y="3212"/>
                <a:ext cx="6" cy="2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16" name="AutoShape 587"/>
              <p:cNvSpPr>
                <a:spLocks noChangeAspect="1" noChangeArrowheads="1"/>
              </p:cNvSpPr>
              <p:nvPr/>
            </p:nvSpPr>
            <p:spPr bwMode="auto">
              <a:xfrm>
                <a:off x="4658" y="3202"/>
                <a:ext cx="5" cy="16"/>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17" name="AutoShape 588"/>
              <p:cNvSpPr>
                <a:spLocks noChangeAspect="1" noChangeArrowheads="1"/>
              </p:cNvSpPr>
              <p:nvPr/>
            </p:nvSpPr>
            <p:spPr bwMode="auto">
              <a:xfrm flipV="1">
                <a:off x="4680" y="3211"/>
                <a:ext cx="5" cy="1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18" name="AutoShape 589"/>
              <p:cNvSpPr>
                <a:spLocks noChangeAspect="1" noChangeArrowheads="1"/>
              </p:cNvSpPr>
              <p:nvPr/>
            </p:nvSpPr>
            <p:spPr bwMode="auto">
              <a:xfrm flipV="1">
                <a:off x="4680" y="3222"/>
                <a:ext cx="5" cy="10"/>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19" name="AutoShape 590"/>
              <p:cNvSpPr>
                <a:spLocks noChangeAspect="1" noChangeArrowheads="1"/>
              </p:cNvSpPr>
              <p:nvPr/>
            </p:nvSpPr>
            <p:spPr bwMode="auto">
              <a:xfrm>
                <a:off x="4728" y="3186"/>
                <a:ext cx="6" cy="1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20" name="AutoShape 591"/>
              <p:cNvSpPr>
                <a:spLocks noChangeAspect="1" noChangeArrowheads="1"/>
              </p:cNvSpPr>
              <p:nvPr/>
            </p:nvSpPr>
            <p:spPr bwMode="auto">
              <a:xfrm>
                <a:off x="4748" y="3172"/>
                <a:ext cx="5" cy="10"/>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21" name="AutoShape 592"/>
              <p:cNvSpPr>
                <a:spLocks noChangeAspect="1" noChangeArrowheads="1"/>
              </p:cNvSpPr>
              <p:nvPr/>
            </p:nvSpPr>
            <p:spPr bwMode="auto">
              <a:xfrm>
                <a:off x="4780" y="3177"/>
                <a:ext cx="5" cy="2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22" name="AutoShape 593"/>
              <p:cNvSpPr>
                <a:spLocks noChangeAspect="1" noChangeArrowheads="1"/>
              </p:cNvSpPr>
              <p:nvPr/>
            </p:nvSpPr>
            <p:spPr bwMode="auto">
              <a:xfrm>
                <a:off x="4796" y="3197"/>
                <a:ext cx="6" cy="1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23" name="AutoShape 594"/>
              <p:cNvSpPr>
                <a:spLocks noChangeAspect="1" noChangeArrowheads="1"/>
              </p:cNvSpPr>
              <p:nvPr/>
            </p:nvSpPr>
            <p:spPr bwMode="auto">
              <a:xfrm>
                <a:off x="4764" y="3170"/>
                <a:ext cx="5" cy="21"/>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24" name="AutoShape 595"/>
              <p:cNvSpPr>
                <a:spLocks noChangeAspect="1" noChangeArrowheads="1"/>
              </p:cNvSpPr>
              <p:nvPr/>
            </p:nvSpPr>
            <p:spPr bwMode="auto">
              <a:xfrm>
                <a:off x="4905" y="3169"/>
                <a:ext cx="6" cy="22"/>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25" name="AutoShape 596"/>
              <p:cNvSpPr>
                <a:spLocks noChangeAspect="1" noChangeArrowheads="1"/>
              </p:cNvSpPr>
              <p:nvPr/>
            </p:nvSpPr>
            <p:spPr bwMode="auto">
              <a:xfrm>
                <a:off x="4992" y="3201"/>
                <a:ext cx="5" cy="2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26" name="AutoShape 597"/>
              <p:cNvSpPr>
                <a:spLocks noChangeAspect="1" noChangeArrowheads="1"/>
              </p:cNvSpPr>
              <p:nvPr/>
            </p:nvSpPr>
            <p:spPr bwMode="auto">
              <a:xfrm>
                <a:off x="4921" y="3175"/>
                <a:ext cx="5" cy="28"/>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27" name="AutoShape 598"/>
              <p:cNvSpPr>
                <a:spLocks noChangeAspect="1" noChangeArrowheads="1"/>
              </p:cNvSpPr>
              <p:nvPr/>
            </p:nvSpPr>
            <p:spPr bwMode="auto">
              <a:xfrm>
                <a:off x="5008" y="3189"/>
                <a:ext cx="5" cy="19"/>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28" name="AutoShape 599"/>
              <p:cNvSpPr>
                <a:spLocks noChangeAspect="1" noChangeArrowheads="1"/>
              </p:cNvSpPr>
              <p:nvPr/>
            </p:nvSpPr>
            <p:spPr bwMode="auto">
              <a:xfrm>
                <a:off x="4937" y="3194"/>
                <a:ext cx="5" cy="20"/>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29" name="AutoShape 600"/>
              <p:cNvSpPr>
                <a:spLocks noChangeAspect="1" noChangeArrowheads="1"/>
              </p:cNvSpPr>
              <p:nvPr/>
            </p:nvSpPr>
            <p:spPr bwMode="auto">
              <a:xfrm>
                <a:off x="4976" y="3214"/>
                <a:ext cx="5" cy="22"/>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30" name="AutoShape 601"/>
              <p:cNvSpPr>
                <a:spLocks noChangeAspect="1" noChangeArrowheads="1"/>
              </p:cNvSpPr>
              <p:nvPr/>
            </p:nvSpPr>
            <p:spPr bwMode="auto">
              <a:xfrm>
                <a:off x="4960" y="3224"/>
                <a:ext cx="4" cy="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31" name="AutoShape 602"/>
              <p:cNvSpPr>
                <a:spLocks noChangeAspect="1" noChangeArrowheads="1"/>
              </p:cNvSpPr>
              <p:nvPr/>
            </p:nvSpPr>
            <p:spPr bwMode="auto">
              <a:xfrm>
                <a:off x="4960" y="3216"/>
                <a:ext cx="4" cy="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32" name="AutoShape 603"/>
              <p:cNvSpPr>
                <a:spLocks noChangeAspect="1" noChangeArrowheads="1"/>
              </p:cNvSpPr>
              <p:nvPr/>
            </p:nvSpPr>
            <p:spPr bwMode="auto">
              <a:xfrm>
                <a:off x="5058" y="3172"/>
                <a:ext cx="4" cy="2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33" name="AutoShape 604"/>
              <p:cNvSpPr>
                <a:spLocks noChangeAspect="1" noChangeArrowheads="1"/>
              </p:cNvSpPr>
              <p:nvPr/>
            </p:nvSpPr>
            <p:spPr bwMode="auto">
              <a:xfrm>
                <a:off x="5074" y="3189"/>
                <a:ext cx="5" cy="2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34" name="AutoShape 605"/>
              <p:cNvSpPr>
                <a:spLocks noChangeAspect="1" noChangeArrowheads="1"/>
              </p:cNvSpPr>
              <p:nvPr/>
            </p:nvSpPr>
            <p:spPr bwMode="auto">
              <a:xfrm>
                <a:off x="5022" y="3183"/>
                <a:ext cx="5" cy="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35" name="AutoShape 606"/>
              <p:cNvSpPr>
                <a:spLocks noChangeAspect="1" noChangeArrowheads="1"/>
              </p:cNvSpPr>
              <p:nvPr/>
            </p:nvSpPr>
            <p:spPr bwMode="auto">
              <a:xfrm>
                <a:off x="5041" y="3170"/>
                <a:ext cx="5" cy="1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36" name="AutoShape 607"/>
              <p:cNvSpPr>
                <a:spLocks noChangeAspect="1" noChangeArrowheads="1"/>
              </p:cNvSpPr>
              <p:nvPr/>
            </p:nvSpPr>
            <p:spPr bwMode="auto">
              <a:xfrm>
                <a:off x="5090" y="3213"/>
                <a:ext cx="6" cy="10"/>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37" name="AutoShape 608"/>
              <p:cNvSpPr>
                <a:spLocks noChangeAspect="1" noChangeArrowheads="1"/>
              </p:cNvSpPr>
              <p:nvPr/>
            </p:nvSpPr>
            <p:spPr bwMode="auto">
              <a:xfrm flipV="1">
                <a:off x="5157" y="3183"/>
                <a:ext cx="5" cy="1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38" name="AutoShape 609"/>
              <p:cNvSpPr>
                <a:spLocks noChangeAspect="1" noChangeArrowheads="1"/>
              </p:cNvSpPr>
              <p:nvPr/>
            </p:nvSpPr>
            <p:spPr bwMode="auto">
              <a:xfrm>
                <a:off x="5143" y="3195"/>
                <a:ext cx="6" cy="25"/>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39" name="AutoShape 610"/>
              <p:cNvSpPr>
                <a:spLocks noChangeAspect="1" noChangeArrowheads="1"/>
              </p:cNvSpPr>
              <p:nvPr/>
            </p:nvSpPr>
            <p:spPr bwMode="auto">
              <a:xfrm flipV="1">
                <a:off x="5127" y="3207"/>
                <a:ext cx="5" cy="26"/>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40" name="AutoShape 611"/>
              <p:cNvSpPr>
                <a:spLocks noChangeAspect="1" noChangeArrowheads="1"/>
              </p:cNvSpPr>
              <p:nvPr/>
            </p:nvSpPr>
            <p:spPr bwMode="auto">
              <a:xfrm>
                <a:off x="5111" y="3221"/>
                <a:ext cx="4" cy="13"/>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41" name="AutoShape 612"/>
              <p:cNvSpPr>
                <a:spLocks noChangeAspect="1" noChangeArrowheads="1"/>
              </p:cNvSpPr>
              <p:nvPr/>
            </p:nvSpPr>
            <p:spPr bwMode="auto">
              <a:xfrm flipV="1">
                <a:off x="5212" y="3182"/>
                <a:ext cx="5" cy="2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42" name="AutoShape 613"/>
              <p:cNvSpPr>
                <a:spLocks noChangeAspect="1" noChangeArrowheads="1"/>
              </p:cNvSpPr>
              <p:nvPr/>
            </p:nvSpPr>
            <p:spPr bwMode="auto">
              <a:xfrm>
                <a:off x="5194" y="3169"/>
                <a:ext cx="6" cy="26"/>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43" name="AutoShape 614"/>
              <p:cNvSpPr>
                <a:spLocks noChangeAspect="1" noChangeArrowheads="1"/>
              </p:cNvSpPr>
              <p:nvPr/>
            </p:nvSpPr>
            <p:spPr bwMode="auto">
              <a:xfrm>
                <a:off x="5180" y="3170"/>
                <a:ext cx="6" cy="15"/>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44" name="AutoShape 615"/>
              <p:cNvSpPr>
                <a:spLocks noChangeAspect="1" noChangeArrowheads="1"/>
              </p:cNvSpPr>
              <p:nvPr/>
            </p:nvSpPr>
            <p:spPr bwMode="auto">
              <a:xfrm>
                <a:off x="5281" y="3199"/>
                <a:ext cx="5"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45" name="AutoShape 616"/>
              <p:cNvSpPr>
                <a:spLocks noChangeAspect="1" noChangeArrowheads="1"/>
              </p:cNvSpPr>
              <p:nvPr/>
            </p:nvSpPr>
            <p:spPr bwMode="auto">
              <a:xfrm>
                <a:off x="5263" y="3212"/>
                <a:ext cx="5" cy="2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46" name="AutoShape 617"/>
              <p:cNvSpPr>
                <a:spLocks noChangeAspect="1" noChangeArrowheads="1"/>
              </p:cNvSpPr>
              <p:nvPr/>
            </p:nvSpPr>
            <p:spPr bwMode="auto">
              <a:xfrm>
                <a:off x="5226" y="3202"/>
                <a:ext cx="5" cy="16"/>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47" name="AutoShape 618"/>
              <p:cNvSpPr>
                <a:spLocks noChangeAspect="1" noChangeArrowheads="1"/>
              </p:cNvSpPr>
              <p:nvPr/>
            </p:nvSpPr>
            <p:spPr bwMode="auto">
              <a:xfrm flipV="1">
                <a:off x="5247" y="3211"/>
                <a:ext cx="6" cy="1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48" name="AutoShape 619"/>
              <p:cNvSpPr>
                <a:spLocks noChangeAspect="1" noChangeArrowheads="1"/>
              </p:cNvSpPr>
              <p:nvPr/>
            </p:nvSpPr>
            <p:spPr bwMode="auto">
              <a:xfrm flipV="1">
                <a:off x="5247" y="3222"/>
                <a:ext cx="6" cy="10"/>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49" name="AutoShape 620"/>
              <p:cNvSpPr>
                <a:spLocks noChangeAspect="1" noChangeArrowheads="1"/>
              </p:cNvSpPr>
              <p:nvPr/>
            </p:nvSpPr>
            <p:spPr bwMode="auto">
              <a:xfrm>
                <a:off x="5297" y="3186"/>
                <a:ext cx="5" cy="1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50" name="AutoShape 621"/>
              <p:cNvSpPr>
                <a:spLocks noChangeAspect="1" noChangeArrowheads="1"/>
              </p:cNvSpPr>
              <p:nvPr/>
            </p:nvSpPr>
            <p:spPr bwMode="auto">
              <a:xfrm>
                <a:off x="5316" y="3172"/>
                <a:ext cx="5" cy="10"/>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51" name="AutoShape 622"/>
              <p:cNvSpPr>
                <a:spLocks noChangeAspect="1" noChangeArrowheads="1"/>
              </p:cNvSpPr>
              <p:nvPr/>
            </p:nvSpPr>
            <p:spPr bwMode="auto">
              <a:xfrm>
                <a:off x="5348" y="3177"/>
                <a:ext cx="5" cy="2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52" name="AutoShape 623"/>
              <p:cNvSpPr>
                <a:spLocks noChangeAspect="1" noChangeArrowheads="1"/>
              </p:cNvSpPr>
              <p:nvPr/>
            </p:nvSpPr>
            <p:spPr bwMode="auto">
              <a:xfrm>
                <a:off x="5365" y="3197"/>
                <a:ext cx="5" cy="1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53" name="AutoShape 624"/>
              <p:cNvSpPr>
                <a:spLocks noChangeAspect="1" noChangeArrowheads="1"/>
              </p:cNvSpPr>
              <p:nvPr/>
            </p:nvSpPr>
            <p:spPr bwMode="auto">
              <a:xfrm>
                <a:off x="5332" y="3170"/>
                <a:ext cx="5" cy="21"/>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54" name="AutoShape 625"/>
              <p:cNvSpPr>
                <a:spLocks noChangeAspect="1" noChangeArrowheads="1"/>
              </p:cNvSpPr>
              <p:nvPr/>
            </p:nvSpPr>
            <p:spPr bwMode="auto">
              <a:xfrm>
                <a:off x="4851" y="3201"/>
                <a:ext cx="5" cy="2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55" name="AutoShape 626"/>
              <p:cNvSpPr>
                <a:spLocks noChangeAspect="1" noChangeArrowheads="1"/>
              </p:cNvSpPr>
              <p:nvPr/>
            </p:nvSpPr>
            <p:spPr bwMode="auto">
              <a:xfrm>
                <a:off x="4867" y="3189"/>
                <a:ext cx="4" cy="19"/>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56" name="AutoShape 627"/>
              <p:cNvSpPr>
                <a:spLocks noChangeAspect="1" noChangeArrowheads="1"/>
              </p:cNvSpPr>
              <p:nvPr/>
            </p:nvSpPr>
            <p:spPr bwMode="auto">
              <a:xfrm>
                <a:off x="4834" y="3214"/>
                <a:ext cx="5" cy="22"/>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57" name="AutoShape 628"/>
              <p:cNvSpPr>
                <a:spLocks noChangeAspect="1" noChangeArrowheads="1"/>
              </p:cNvSpPr>
              <p:nvPr/>
            </p:nvSpPr>
            <p:spPr bwMode="auto">
              <a:xfrm>
                <a:off x="4817" y="3223"/>
                <a:ext cx="5" cy="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58" name="AutoShape 629"/>
              <p:cNvSpPr>
                <a:spLocks noChangeAspect="1" noChangeArrowheads="1"/>
              </p:cNvSpPr>
              <p:nvPr/>
            </p:nvSpPr>
            <p:spPr bwMode="auto">
              <a:xfrm>
                <a:off x="4817" y="3215"/>
                <a:ext cx="5" cy="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59" name="AutoShape 630"/>
              <p:cNvSpPr>
                <a:spLocks noChangeAspect="1" noChangeArrowheads="1"/>
              </p:cNvSpPr>
              <p:nvPr/>
            </p:nvSpPr>
            <p:spPr bwMode="auto">
              <a:xfrm flipV="1">
                <a:off x="4879" y="3182"/>
                <a:ext cx="5" cy="9"/>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860" name="Freeform 631"/>
              <p:cNvSpPr>
                <a:spLocks noChangeAspect="1"/>
              </p:cNvSpPr>
              <p:nvPr/>
            </p:nvSpPr>
            <p:spPr bwMode="auto">
              <a:xfrm flipH="1">
                <a:off x="5332" y="316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861" name="Freeform 632"/>
              <p:cNvSpPr>
                <a:spLocks noChangeAspect="1"/>
              </p:cNvSpPr>
              <p:nvPr/>
            </p:nvSpPr>
            <p:spPr bwMode="auto">
              <a:xfrm flipH="1">
                <a:off x="5190" y="316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862" name="Freeform 633"/>
              <p:cNvSpPr>
                <a:spLocks noChangeAspect="1"/>
              </p:cNvSpPr>
              <p:nvPr/>
            </p:nvSpPr>
            <p:spPr bwMode="auto">
              <a:xfrm flipH="1">
                <a:off x="5048" y="3168"/>
                <a:ext cx="75"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863" name="Freeform 634"/>
              <p:cNvSpPr>
                <a:spLocks noChangeAspect="1"/>
              </p:cNvSpPr>
              <p:nvPr/>
            </p:nvSpPr>
            <p:spPr bwMode="auto">
              <a:xfrm flipH="1">
                <a:off x="4907" y="316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864" name="Freeform 635"/>
              <p:cNvSpPr>
                <a:spLocks noChangeAspect="1"/>
              </p:cNvSpPr>
              <p:nvPr/>
            </p:nvSpPr>
            <p:spPr bwMode="auto">
              <a:xfrm flipH="1">
                <a:off x="4764" y="316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865" name="Freeform 636"/>
              <p:cNvSpPr>
                <a:spLocks noChangeAspect="1"/>
              </p:cNvSpPr>
              <p:nvPr/>
            </p:nvSpPr>
            <p:spPr bwMode="auto">
              <a:xfrm flipH="1">
                <a:off x="4621" y="3168"/>
                <a:ext cx="75"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866" name="Freeform 637"/>
              <p:cNvSpPr>
                <a:spLocks noChangeAspect="1"/>
              </p:cNvSpPr>
              <p:nvPr/>
            </p:nvSpPr>
            <p:spPr bwMode="auto">
              <a:xfrm flipH="1">
                <a:off x="4480" y="316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867" name="Freeform 638"/>
              <p:cNvSpPr>
                <a:spLocks noChangeAspect="1"/>
              </p:cNvSpPr>
              <p:nvPr/>
            </p:nvSpPr>
            <p:spPr bwMode="auto">
              <a:xfrm flipH="1">
                <a:off x="4338" y="316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grpSp>
          <p:nvGrpSpPr>
            <p:cNvPr id="147781" name="Group 639"/>
            <p:cNvGrpSpPr>
              <a:grpSpLocks noChangeAspect="1"/>
            </p:cNvGrpSpPr>
            <p:nvPr/>
          </p:nvGrpSpPr>
          <p:grpSpPr bwMode="auto">
            <a:xfrm>
              <a:off x="5488" y="2888"/>
              <a:ext cx="54" cy="71"/>
              <a:chOff x="3743" y="2439"/>
              <a:chExt cx="164" cy="216"/>
            </a:xfrm>
          </p:grpSpPr>
          <p:sp>
            <p:nvSpPr>
              <p:cNvPr id="147782" name="Freeform 640"/>
              <p:cNvSpPr>
                <a:spLocks noChangeAspect="1"/>
              </p:cNvSpPr>
              <p:nvPr/>
            </p:nvSpPr>
            <p:spPr bwMode="auto">
              <a:xfrm>
                <a:off x="3743" y="2465"/>
                <a:ext cx="117" cy="190"/>
              </a:xfrm>
              <a:custGeom>
                <a:avLst/>
                <a:gdLst>
                  <a:gd name="T0" fmla="*/ 3 w 387"/>
                  <a:gd name="T1" fmla="*/ 0 h 625"/>
                  <a:gd name="T2" fmla="*/ 1 w 387"/>
                  <a:gd name="T3" fmla="*/ 0 h 625"/>
                  <a:gd name="T4" fmla="*/ 0 w 387"/>
                  <a:gd name="T5" fmla="*/ 2 h 625"/>
                  <a:gd name="T6" fmla="*/ 1 w 387"/>
                  <a:gd name="T7" fmla="*/ 2 h 625"/>
                  <a:gd name="T8" fmla="*/ 2 w 387"/>
                  <a:gd name="T9" fmla="*/ 2 h 625"/>
                  <a:gd name="T10" fmla="*/ 3 w 387"/>
                  <a:gd name="T11" fmla="*/ 2 h 625"/>
                  <a:gd name="T12" fmla="*/ 3 w 387"/>
                  <a:gd name="T13" fmla="*/ 4 h 625"/>
                  <a:gd name="T14" fmla="*/ 3 w 387"/>
                  <a:gd name="T15" fmla="*/ 5 h 625"/>
                  <a:gd name="T16" fmla="*/ 2 w 387"/>
                  <a:gd name="T17" fmla="*/ 5 h 625"/>
                  <a:gd name="T18" fmla="*/ 1 w 387"/>
                  <a:gd name="T19" fmla="*/ 5 h 625"/>
                  <a:gd name="T20" fmla="*/ 0 w 387"/>
                  <a:gd name="T21" fmla="*/ 4 h 62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87"/>
                  <a:gd name="T34" fmla="*/ 0 h 625"/>
                  <a:gd name="T35" fmla="*/ 387 w 387"/>
                  <a:gd name="T36" fmla="*/ 625 h 62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87" h="625">
                    <a:moveTo>
                      <a:pt x="387" y="7"/>
                    </a:moveTo>
                    <a:lnTo>
                      <a:pt x="86" y="0"/>
                    </a:lnTo>
                    <a:lnTo>
                      <a:pt x="28" y="295"/>
                    </a:lnTo>
                    <a:cubicBezTo>
                      <a:pt x="31" y="337"/>
                      <a:pt x="71" y="261"/>
                      <a:pt x="105" y="250"/>
                    </a:cubicBezTo>
                    <a:cubicBezTo>
                      <a:pt x="139" y="239"/>
                      <a:pt x="194" y="225"/>
                      <a:pt x="233" y="231"/>
                    </a:cubicBezTo>
                    <a:cubicBezTo>
                      <a:pt x="272" y="237"/>
                      <a:pt x="315" y="255"/>
                      <a:pt x="340" y="288"/>
                    </a:cubicBezTo>
                    <a:cubicBezTo>
                      <a:pt x="365" y="321"/>
                      <a:pt x="382" y="385"/>
                      <a:pt x="380" y="429"/>
                    </a:cubicBezTo>
                    <a:cubicBezTo>
                      <a:pt x="378" y="473"/>
                      <a:pt x="358" y="519"/>
                      <a:pt x="327" y="551"/>
                    </a:cubicBezTo>
                    <a:cubicBezTo>
                      <a:pt x="296" y="583"/>
                      <a:pt x="237" y="617"/>
                      <a:pt x="192" y="621"/>
                    </a:cubicBezTo>
                    <a:cubicBezTo>
                      <a:pt x="147" y="625"/>
                      <a:pt x="90" y="600"/>
                      <a:pt x="58" y="576"/>
                    </a:cubicBezTo>
                    <a:cubicBezTo>
                      <a:pt x="26" y="552"/>
                      <a:pt x="12" y="495"/>
                      <a:pt x="0" y="474"/>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783" name="AutoShape 641"/>
              <p:cNvSpPr>
                <a:spLocks noChangeAspect="1" noChangeArrowheads="1"/>
              </p:cNvSpPr>
              <p:nvPr/>
            </p:nvSpPr>
            <p:spPr bwMode="auto">
              <a:xfrm flipV="1">
                <a:off x="3889" y="2439"/>
                <a:ext cx="18" cy="51"/>
              </a:xfrm>
              <a:prstGeom prst="triangle">
                <a:avLst>
                  <a:gd name="adj" fmla="val 50000"/>
                </a:avLst>
              </a:prstGeom>
              <a:solidFill>
                <a:schemeClr val="tx1"/>
              </a:solidFill>
              <a:ln w="6350">
                <a:solidFill>
                  <a:schemeClr val="tx1"/>
                </a:solidFill>
                <a:miter lim="800000"/>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sp>
        <p:nvSpPr>
          <p:cNvPr id="147472" name="Line 642"/>
          <p:cNvSpPr>
            <a:spLocks noChangeShapeType="1"/>
          </p:cNvSpPr>
          <p:nvPr/>
        </p:nvSpPr>
        <p:spPr bwMode="auto">
          <a:xfrm flipV="1">
            <a:off x="6229350" y="3943350"/>
            <a:ext cx="523875" cy="647700"/>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473" name="Line 643"/>
          <p:cNvSpPr>
            <a:spLocks noChangeShapeType="1"/>
          </p:cNvSpPr>
          <p:nvPr/>
        </p:nvSpPr>
        <p:spPr bwMode="auto">
          <a:xfrm>
            <a:off x="6229350" y="4686300"/>
            <a:ext cx="466725" cy="1762125"/>
          </a:xfrm>
          <a:prstGeom prst="line">
            <a:avLst/>
          </a:prstGeom>
          <a:noFill/>
          <a:ln w="19050">
            <a:solidFill>
              <a:srgbClr val="0099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474" name="Line 644"/>
          <p:cNvSpPr>
            <a:spLocks noChangeShapeType="1"/>
          </p:cNvSpPr>
          <p:nvPr/>
        </p:nvSpPr>
        <p:spPr bwMode="auto">
          <a:xfrm>
            <a:off x="7448550" y="4143375"/>
            <a:ext cx="0" cy="371475"/>
          </a:xfrm>
          <a:prstGeom prst="line">
            <a:avLst/>
          </a:prstGeom>
          <a:noFill/>
          <a:ln w="28575">
            <a:solidFill>
              <a:srgbClr val="0099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475" name="Line 645"/>
          <p:cNvSpPr>
            <a:spLocks noChangeShapeType="1"/>
          </p:cNvSpPr>
          <p:nvPr/>
        </p:nvSpPr>
        <p:spPr bwMode="auto">
          <a:xfrm>
            <a:off x="7446963" y="4941888"/>
            <a:ext cx="9525" cy="790575"/>
          </a:xfrm>
          <a:prstGeom prst="line">
            <a:avLst/>
          </a:prstGeom>
          <a:noFill/>
          <a:ln w="28575">
            <a:solidFill>
              <a:srgbClr val="0099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476" name="Text Box 646"/>
          <p:cNvSpPr txBox="1">
            <a:spLocks noChangeArrowheads="1"/>
          </p:cNvSpPr>
          <p:nvPr/>
        </p:nvSpPr>
        <p:spPr bwMode="auto">
          <a:xfrm>
            <a:off x="7419975" y="4125913"/>
            <a:ext cx="12334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kumimoji="0" lang="en-US" altLang="zh-CN" sz="1000" b="1">
                <a:latin typeface="Arial" panose="020B0604020202020204" pitchFamily="34" charset="0"/>
              </a:rPr>
              <a:t>Denature purified</a:t>
            </a:r>
            <a:br>
              <a:rPr kumimoji="0" lang="en-US" altLang="zh-CN" sz="1000" b="1">
                <a:latin typeface="Arial" panose="020B0604020202020204" pitchFamily="34" charset="0"/>
              </a:rPr>
            </a:br>
            <a:r>
              <a:rPr kumimoji="0" lang="en-US" altLang="zh-CN" sz="1000" b="1">
                <a:latin typeface="Arial" panose="020B0604020202020204" pitchFamily="34" charset="0"/>
              </a:rPr>
              <a:t>DNA fragment</a:t>
            </a:r>
          </a:p>
        </p:txBody>
      </p:sp>
      <p:sp>
        <p:nvSpPr>
          <p:cNvPr id="147477" name="Text Box 647"/>
          <p:cNvSpPr txBox="1">
            <a:spLocks noChangeArrowheads="1"/>
          </p:cNvSpPr>
          <p:nvPr/>
        </p:nvSpPr>
        <p:spPr bwMode="auto">
          <a:xfrm>
            <a:off x="7575550" y="4868863"/>
            <a:ext cx="1238250"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sz="1000" b="1">
                <a:latin typeface="Arial" panose="020B0604020202020204" pitchFamily="34" charset="0"/>
              </a:rPr>
              <a:t>Add Klenow</a:t>
            </a:r>
            <a:br>
              <a:rPr kumimoji="0" lang="en-US" altLang="zh-CN" sz="1000" b="1">
                <a:latin typeface="Arial" panose="020B0604020202020204" pitchFamily="34" charset="0"/>
              </a:rPr>
            </a:br>
            <a:r>
              <a:rPr kumimoji="0" lang="en-US" altLang="zh-CN" sz="1000" b="1">
                <a:latin typeface="Arial" panose="020B0604020202020204" pitchFamily="34" charset="0"/>
              </a:rPr>
              <a:t>DNA Polymerase,</a:t>
            </a:r>
            <a:br>
              <a:rPr kumimoji="0" lang="en-US" altLang="zh-CN" sz="1000" b="1">
                <a:latin typeface="Arial" panose="020B0604020202020204" pitchFamily="34" charset="0"/>
              </a:rPr>
            </a:br>
            <a:r>
              <a:rPr kumimoji="0" lang="en-US" altLang="zh-CN" sz="1000" b="1">
                <a:latin typeface="Arial" panose="020B0604020202020204" pitchFamily="34" charset="0"/>
              </a:rPr>
              <a:t>random primers</a:t>
            </a:r>
            <a:br>
              <a:rPr kumimoji="0" lang="en-US" altLang="zh-CN" sz="1000" b="1">
                <a:latin typeface="Arial" panose="020B0604020202020204" pitchFamily="34" charset="0"/>
              </a:rPr>
            </a:br>
            <a:r>
              <a:rPr kumimoji="0" lang="en-US" altLang="zh-CN" sz="1000" b="1">
                <a:latin typeface="Arial" panose="020B0604020202020204" pitchFamily="34" charset="0"/>
              </a:rPr>
              <a:t>and labeled </a:t>
            </a:r>
            <a:br>
              <a:rPr kumimoji="0" lang="en-US" altLang="zh-CN" sz="1000" b="1">
                <a:latin typeface="Arial" panose="020B0604020202020204" pitchFamily="34" charset="0"/>
              </a:rPr>
            </a:br>
            <a:r>
              <a:rPr kumimoji="0" lang="en-US" altLang="zh-CN" sz="1000" b="1">
                <a:latin typeface="Arial" panose="020B0604020202020204" pitchFamily="34" charset="0"/>
              </a:rPr>
              <a:t>nucleotides</a:t>
            </a:r>
          </a:p>
        </p:txBody>
      </p:sp>
      <p:sp>
        <p:nvSpPr>
          <p:cNvPr id="147478" name="Text Box 648"/>
          <p:cNvSpPr txBox="1">
            <a:spLocks noChangeArrowheads="1"/>
          </p:cNvSpPr>
          <p:nvPr/>
        </p:nvSpPr>
        <p:spPr bwMode="auto">
          <a:xfrm>
            <a:off x="3144838" y="4057650"/>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zh-CN" sz="1400" b="1">
              <a:solidFill>
                <a:srgbClr val="009900"/>
              </a:solidFill>
              <a:latin typeface="Arial" panose="020B0604020202020204" pitchFamily="34" charset="0"/>
            </a:endParaRPr>
          </a:p>
        </p:txBody>
      </p:sp>
      <p:sp>
        <p:nvSpPr>
          <p:cNvPr id="147479" name="Text Box 649"/>
          <p:cNvSpPr txBox="1">
            <a:spLocks noChangeArrowheads="1"/>
          </p:cNvSpPr>
          <p:nvPr/>
        </p:nvSpPr>
        <p:spPr bwMode="auto">
          <a:xfrm>
            <a:off x="3114675" y="3636963"/>
            <a:ext cx="2538413"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sz="1400" b="1">
                <a:solidFill>
                  <a:srgbClr val="009900"/>
                </a:solidFill>
                <a:latin typeface="Arial" panose="020B0604020202020204" pitchFamily="34" charset="0"/>
              </a:rPr>
              <a:t>4. Hybridize denatured</a:t>
            </a:r>
            <a:br>
              <a:rPr kumimoji="0" lang="en-US" altLang="zh-CN" sz="1400" b="1">
                <a:solidFill>
                  <a:srgbClr val="009900"/>
                </a:solidFill>
                <a:latin typeface="Arial" panose="020B0604020202020204" pitchFamily="34" charset="0"/>
              </a:rPr>
            </a:br>
            <a:r>
              <a:rPr kumimoji="0" lang="en-US" altLang="zh-CN" sz="1400" b="1">
                <a:solidFill>
                  <a:srgbClr val="009900"/>
                </a:solidFill>
                <a:latin typeface="Arial" panose="020B0604020202020204" pitchFamily="34" charset="0"/>
              </a:rPr>
              <a:t>    probe with the membrane</a:t>
            </a:r>
          </a:p>
        </p:txBody>
      </p:sp>
      <p:grpSp>
        <p:nvGrpSpPr>
          <p:cNvPr id="147480" name="Group 650"/>
          <p:cNvGrpSpPr/>
          <p:nvPr/>
        </p:nvGrpSpPr>
        <p:grpSpPr bwMode="auto">
          <a:xfrm>
            <a:off x="3619500" y="5006975"/>
            <a:ext cx="1563688" cy="457200"/>
            <a:chOff x="2280" y="3154"/>
            <a:chExt cx="985" cy="288"/>
          </a:xfrm>
        </p:grpSpPr>
        <p:sp>
          <p:nvSpPr>
            <p:cNvPr id="147778" name="Rectangle 651"/>
            <p:cNvSpPr>
              <a:spLocks noChangeArrowheads="1"/>
            </p:cNvSpPr>
            <p:nvPr/>
          </p:nvSpPr>
          <p:spPr bwMode="auto">
            <a:xfrm>
              <a:off x="2310" y="3366"/>
              <a:ext cx="936" cy="48"/>
            </a:xfrm>
            <a:prstGeom prst="rect">
              <a:avLst/>
            </a:prstGeom>
            <a:solidFill>
              <a:schemeClr val="bg1"/>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79" name="Freeform 652"/>
            <p:cNvSpPr>
              <a:spLocks noChangeAspect="1"/>
            </p:cNvSpPr>
            <p:nvPr/>
          </p:nvSpPr>
          <p:spPr bwMode="auto">
            <a:xfrm>
              <a:off x="2280" y="3154"/>
              <a:ext cx="985" cy="288"/>
            </a:xfrm>
            <a:custGeom>
              <a:avLst/>
              <a:gdLst>
                <a:gd name="T0" fmla="*/ 0 w 1636"/>
                <a:gd name="T1" fmla="*/ 0 h 479"/>
                <a:gd name="T2" fmla="*/ 0 w 1636"/>
                <a:gd name="T3" fmla="*/ 63 h 479"/>
                <a:gd name="T4" fmla="*/ 55 w 1636"/>
                <a:gd name="T5" fmla="*/ 63 h 479"/>
                <a:gd name="T6" fmla="*/ 154 w 1636"/>
                <a:gd name="T7" fmla="*/ 61 h 479"/>
                <a:gd name="T8" fmla="*/ 215 w 1636"/>
                <a:gd name="T9" fmla="*/ 61 h 479"/>
                <a:gd name="T10" fmla="*/ 215 w 1636"/>
                <a:gd name="T11" fmla="*/ 0 h 479"/>
                <a:gd name="T12" fmla="*/ 207 w 1636"/>
                <a:gd name="T13" fmla="*/ 0 h 479"/>
                <a:gd name="T14" fmla="*/ 207 w 1636"/>
                <a:gd name="T15" fmla="*/ 51 h 479"/>
                <a:gd name="T16" fmla="*/ 8 w 1636"/>
                <a:gd name="T17" fmla="*/ 53 h 479"/>
                <a:gd name="T18" fmla="*/ 8 w 1636"/>
                <a:gd name="T19" fmla="*/ 0 h 479"/>
                <a:gd name="T20" fmla="*/ 0 w 1636"/>
                <a:gd name="T21" fmla="*/ 0 h 47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636"/>
                <a:gd name="T34" fmla="*/ 0 h 479"/>
                <a:gd name="T35" fmla="*/ 1636 w 1636"/>
                <a:gd name="T36" fmla="*/ 479 h 47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636" h="479">
                  <a:moveTo>
                    <a:pt x="0" y="0"/>
                  </a:moveTo>
                  <a:lnTo>
                    <a:pt x="0" y="479"/>
                  </a:lnTo>
                  <a:lnTo>
                    <a:pt x="421" y="479"/>
                  </a:lnTo>
                  <a:lnTo>
                    <a:pt x="1168" y="470"/>
                  </a:lnTo>
                  <a:lnTo>
                    <a:pt x="1636" y="470"/>
                  </a:lnTo>
                  <a:lnTo>
                    <a:pt x="1636" y="0"/>
                  </a:lnTo>
                  <a:lnTo>
                    <a:pt x="1578" y="0"/>
                  </a:lnTo>
                  <a:lnTo>
                    <a:pt x="1575" y="395"/>
                  </a:lnTo>
                  <a:lnTo>
                    <a:pt x="67" y="404"/>
                  </a:lnTo>
                  <a:lnTo>
                    <a:pt x="67" y="0"/>
                  </a:lnTo>
                  <a:lnTo>
                    <a:pt x="0" y="0"/>
                  </a:lnTo>
                  <a:close/>
                </a:path>
              </a:pathLst>
            </a:custGeom>
            <a:solidFill>
              <a:srgbClr val="4D4D4D"/>
            </a:solidFill>
            <a:ln w="12700">
              <a:solidFill>
                <a:schemeClr val="bg2"/>
              </a:solidFill>
              <a:round/>
            </a:ln>
          </p:spPr>
          <p:txBody>
            <a:bodyPr wrap="none" anchor="ctr"/>
            <a:lstStyle/>
            <a:p>
              <a:endParaRPr lang="zh-CN" altLang="en-US"/>
            </a:p>
          </p:txBody>
        </p:sp>
      </p:grpSp>
      <p:sp>
        <p:nvSpPr>
          <p:cNvPr id="147481" name="Freeform 653"/>
          <p:cNvSpPr/>
          <p:nvPr/>
        </p:nvSpPr>
        <p:spPr bwMode="auto">
          <a:xfrm>
            <a:off x="4362450" y="2943225"/>
            <a:ext cx="2095500" cy="2133600"/>
          </a:xfrm>
          <a:custGeom>
            <a:avLst/>
            <a:gdLst>
              <a:gd name="T0" fmla="*/ 2147483646 w 1320"/>
              <a:gd name="T1" fmla="*/ 0 h 1344"/>
              <a:gd name="T2" fmla="*/ 2147483646 w 1320"/>
              <a:gd name="T3" fmla="*/ 2147483646 h 1344"/>
              <a:gd name="T4" fmla="*/ 0 w 1320"/>
              <a:gd name="T5" fmla="*/ 2147483646 h 1344"/>
              <a:gd name="T6" fmla="*/ 0 60000 65536"/>
              <a:gd name="T7" fmla="*/ 0 60000 65536"/>
              <a:gd name="T8" fmla="*/ 0 60000 65536"/>
              <a:gd name="T9" fmla="*/ 0 w 1320"/>
              <a:gd name="T10" fmla="*/ 0 h 1344"/>
              <a:gd name="T11" fmla="*/ 1320 w 1320"/>
              <a:gd name="T12" fmla="*/ 1344 h 1344"/>
            </a:gdLst>
            <a:ahLst/>
            <a:cxnLst>
              <a:cxn ang="T6">
                <a:pos x="T0" y="T1"/>
              </a:cxn>
              <a:cxn ang="T7">
                <a:pos x="T2" y="T3"/>
              </a:cxn>
              <a:cxn ang="T8">
                <a:pos x="T4" y="T5"/>
              </a:cxn>
            </a:cxnLst>
            <a:rect l="T9" t="T10" r="T11" b="T12"/>
            <a:pathLst>
              <a:path w="1320" h="1344">
                <a:moveTo>
                  <a:pt x="1320" y="0"/>
                </a:moveTo>
                <a:cubicBezTo>
                  <a:pt x="1226" y="126"/>
                  <a:pt x="976" y="532"/>
                  <a:pt x="756" y="756"/>
                </a:cubicBezTo>
                <a:cubicBezTo>
                  <a:pt x="536" y="980"/>
                  <a:pt x="158" y="1222"/>
                  <a:pt x="0" y="1344"/>
                </a:cubicBezTo>
              </a:path>
            </a:pathLst>
          </a:custGeom>
          <a:noFill/>
          <a:ln w="28575">
            <a:solidFill>
              <a:srgbClr val="FF0000"/>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47482" name="Freeform 654"/>
          <p:cNvSpPr/>
          <p:nvPr/>
        </p:nvSpPr>
        <p:spPr bwMode="auto">
          <a:xfrm>
            <a:off x="4410075" y="4552950"/>
            <a:ext cx="1438275" cy="581025"/>
          </a:xfrm>
          <a:custGeom>
            <a:avLst/>
            <a:gdLst>
              <a:gd name="T0" fmla="*/ 2147483646 w 906"/>
              <a:gd name="T1" fmla="*/ 0 h 366"/>
              <a:gd name="T2" fmla="*/ 2147483646 w 906"/>
              <a:gd name="T3" fmla="*/ 2147483646 h 366"/>
              <a:gd name="T4" fmla="*/ 0 w 906"/>
              <a:gd name="T5" fmla="*/ 2147483646 h 366"/>
              <a:gd name="T6" fmla="*/ 0 60000 65536"/>
              <a:gd name="T7" fmla="*/ 0 60000 65536"/>
              <a:gd name="T8" fmla="*/ 0 60000 65536"/>
              <a:gd name="T9" fmla="*/ 0 w 906"/>
              <a:gd name="T10" fmla="*/ 0 h 366"/>
              <a:gd name="T11" fmla="*/ 906 w 906"/>
              <a:gd name="T12" fmla="*/ 366 h 366"/>
            </a:gdLst>
            <a:ahLst/>
            <a:cxnLst>
              <a:cxn ang="T6">
                <a:pos x="T0" y="T1"/>
              </a:cxn>
              <a:cxn ang="T7">
                <a:pos x="T2" y="T3"/>
              </a:cxn>
              <a:cxn ang="T8">
                <a:pos x="T4" y="T5"/>
              </a:cxn>
            </a:cxnLst>
            <a:rect l="T9" t="T10" r="T11" b="T12"/>
            <a:pathLst>
              <a:path w="906" h="366">
                <a:moveTo>
                  <a:pt x="906" y="0"/>
                </a:moveTo>
                <a:cubicBezTo>
                  <a:pt x="783" y="2"/>
                  <a:pt x="661" y="5"/>
                  <a:pt x="510" y="66"/>
                </a:cubicBezTo>
                <a:cubicBezTo>
                  <a:pt x="359" y="127"/>
                  <a:pt x="179" y="246"/>
                  <a:pt x="0" y="366"/>
                </a:cubicBezTo>
              </a:path>
            </a:pathLst>
          </a:custGeom>
          <a:noFill/>
          <a:ln w="28575">
            <a:solidFill>
              <a:srgbClr val="FF0000"/>
            </a:solidFill>
            <a:rou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47483" name="Line 655"/>
          <p:cNvSpPr>
            <a:spLocks noChangeShapeType="1"/>
          </p:cNvSpPr>
          <p:nvPr/>
        </p:nvSpPr>
        <p:spPr bwMode="auto">
          <a:xfrm flipH="1">
            <a:off x="2857500" y="5257800"/>
            <a:ext cx="514350" cy="0"/>
          </a:xfrm>
          <a:prstGeom prst="line">
            <a:avLst/>
          </a:prstGeom>
          <a:noFill/>
          <a:ln w="28575">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484" name="Text Box 656"/>
          <p:cNvSpPr txBox="1">
            <a:spLocks noChangeArrowheads="1"/>
          </p:cNvSpPr>
          <p:nvPr/>
        </p:nvSpPr>
        <p:spPr bwMode="auto">
          <a:xfrm>
            <a:off x="431800" y="3668713"/>
            <a:ext cx="2436813"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sz="1400" b="1">
                <a:solidFill>
                  <a:srgbClr val="009900"/>
                </a:solidFill>
                <a:latin typeface="Arial" panose="020B0604020202020204" pitchFamily="34" charset="0"/>
              </a:rPr>
              <a:t>5. Wash the membrane </a:t>
            </a:r>
            <a:br>
              <a:rPr kumimoji="0" lang="en-US" altLang="zh-CN" sz="1400" b="1">
                <a:solidFill>
                  <a:srgbClr val="009900"/>
                </a:solidFill>
                <a:latin typeface="Arial" panose="020B0604020202020204" pitchFamily="34" charset="0"/>
              </a:rPr>
            </a:br>
            <a:r>
              <a:rPr kumimoji="0" lang="en-US" altLang="zh-CN" sz="1400" b="1">
                <a:solidFill>
                  <a:srgbClr val="009900"/>
                </a:solidFill>
                <a:latin typeface="Arial" panose="020B0604020202020204" pitchFamily="34" charset="0"/>
              </a:rPr>
              <a:t>    and expose with the film</a:t>
            </a:r>
          </a:p>
        </p:txBody>
      </p:sp>
      <p:grpSp>
        <p:nvGrpSpPr>
          <p:cNvPr id="147485" name="Group 657"/>
          <p:cNvGrpSpPr/>
          <p:nvPr/>
        </p:nvGrpSpPr>
        <p:grpSpPr bwMode="auto">
          <a:xfrm>
            <a:off x="6761163" y="6146800"/>
            <a:ext cx="1901825" cy="361950"/>
            <a:chOff x="4259" y="3872"/>
            <a:chExt cx="1198" cy="228"/>
          </a:xfrm>
        </p:grpSpPr>
        <p:grpSp>
          <p:nvGrpSpPr>
            <p:cNvPr id="147669" name="Group 658"/>
            <p:cNvGrpSpPr/>
            <p:nvPr/>
          </p:nvGrpSpPr>
          <p:grpSpPr bwMode="auto">
            <a:xfrm>
              <a:off x="4259" y="3948"/>
              <a:ext cx="1139" cy="69"/>
              <a:chOff x="4313" y="4088"/>
              <a:chExt cx="1139" cy="69"/>
            </a:xfrm>
          </p:grpSpPr>
          <p:sp>
            <p:nvSpPr>
              <p:cNvPr id="147676" name="Freeform 659"/>
              <p:cNvSpPr>
                <a:spLocks noChangeAspect="1"/>
              </p:cNvSpPr>
              <p:nvPr/>
            </p:nvSpPr>
            <p:spPr bwMode="auto">
              <a:xfrm>
                <a:off x="4455" y="408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677" name="Freeform 660"/>
              <p:cNvSpPr>
                <a:spLocks noChangeAspect="1"/>
              </p:cNvSpPr>
              <p:nvPr/>
            </p:nvSpPr>
            <p:spPr bwMode="auto">
              <a:xfrm>
                <a:off x="4414" y="408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678" name="Freeform 661"/>
              <p:cNvSpPr>
                <a:spLocks noChangeAspect="1"/>
              </p:cNvSpPr>
              <p:nvPr/>
            </p:nvSpPr>
            <p:spPr bwMode="auto">
              <a:xfrm>
                <a:off x="4597" y="408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679" name="Freeform 662"/>
              <p:cNvSpPr>
                <a:spLocks noChangeAspect="1"/>
              </p:cNvSpPr>
              <p:nvPr/>
            </p:nvSpPr>
            <p:spPr bwMode="auto">
              <a:xfrm>
                <a:off x="4556" y="408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680" name="Freeform 663"/>
              <p:cNvSpPr>
                <a:spLocks noChangeAspect="1"/>
              </p:cNvSpPr>
              <p:nvPr/>
            </p:nvSpPr>
            <p:spPr bwMode="auto">
              <a:xfrm>
                <a:off x="4739" y="408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681" name="Freeform 664"/>
              <p:cNvSpPr>
                <a:spLocks noChangeAspect="1"/>
              </p:cNvSpPr>
              <p:nvPr/>
            </p:nvSpPr>
            <p:spPr bwMode="auto">
              <a:xfrm>
                <a:off x="4881" y="4088"/>
                <a:ext cx="75"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682" name="Freeform 665"/>
              <p:cNvSpPr>
                <a:spLocks noChangeAspect="1"/>
              </p:cNvSpPr>
              <p:nvPr/>
            </p:nvSpPr>
            <p:spPr bwMode="auto">
              <a:xfrm>
                <a:off x="5023" y="408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683" name="Freeform 666"/>
              <p:cNvSpPr>
                <a:spLocks noChangeAspect="1"/>
              </p:cNvSpPr>
              <p:nvPr/>
            </p:nvSpPr>
            <p:spPr bwMode="auto">
              <a:xfrm>
                <a:off x="5165" y="408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684" name="Freeform 667"/>
              <p:cNvSpPr>
                <a:spLocks noChangeAspect="1"/>
              </p:cNvSpPr>
              <p:nvPr/>
            </p:nvSpPr>
            <p:spPr bwMode="auto">
              <a:xfrm>
                <a:off x="5307" y="4088"/>
                <a:ext cx="75"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685" name="Freeform 668"/>
              <p:cNvSpPr>
                <a:spLocks noChangeAspect="1"/>
              </p:cNvSpPr>
              <p:nvPr/>
            </p:nvSpPr>
            <p:spPr bwMode="auto">
              <a:xfrm>
                <a:off x="4313" y="408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686" name="AutoShape 669"/>
              <p:cNvSpPr>
                <a:spLocks noChangeAspect="1" noChangeArrowheads="1"/>
              </p:cNvSpPr>
              <p:nvPr/>
            </p:nvSpPr>
            <p:spPr bwMode="auto">
              <a:xfrm>
                <a:off x="4383" y="4089"/>
                <a:ext cx="5" cy="22"/>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87" name="AutoShape 670"/>
              <p:cNvSpPr>
                <a:spLocks noChangeAspect="1" noChangeArrowheads="1"/>
              </p:cNvSpPr>
              <p:nvPr/>
            </p:nvSpPr>
            <p:spPr bwMode="auto">
              <a:xfrm>
                <a:off x="4383" y="4111"/>
                <a:ext cx="5" cy="22"/>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88" name="AutoShape 671"/>
              <p:cNvSpPr>
                <a:spLocks noChangeAspect="1" noChangeArrowheads="1"/>
              </p:cNvSpPr>
              <p:nvPr/>
            </p:nvSpPr>
            <p:spPr bwMode="auto">
              <a:xfrm>
                <a:off x="4469" y="4097"/>
                <a:ext cx="5" cy="2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89" name="AutoShape 672"/>
              <p:cNvSpPr>
                <a:spLocks noChangeAspect="1" noChangeArrowheads="1"/>
              </p:cNvSpPr>
              <p:nvPr/>
            </p:nvSpPr>
            <p:spPr bwMode="auto">
              <a:xfrm>
                <a:off x="4469" y="4124"/>
                <a:ext cx="5" cy="2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90" name="AutoShape 673"/>
              <p:cNvSpPr>
                <a:spLocks noChangeAspect="1" noChangeArrowheads="1"/>
              </p:cNvSpPr>
              <p:nvPr/>
            </p:nvSpPr>
            <p:spPr bwMode="auto">
              <a:xfrm>
                <a:off x="4399" y="4123"/>
                <a:ext cx="5" cy="28"/>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91" name="AutoShape 674"/>
              <p:cNvSpPr>
                <a:spLocks noChangeAspect="1" noChangeArrowheads="1"/>
              </p:cNvSpPr>
              <p:nvPr/>
            </p:nvSpPr>
            <p:spPr bwMode="auto">
              <a:xfrm>
                <a:off x="4399" y="4095"/>
                <a:ext cx="5" cy="28"/>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92" name="AutoShape 675"/>
              <p:cNvSpPr>
                <a:spLocks noChangeAspect="1" noChangeArrowheads="1"/>
              </p:cNvSpPr>
              <p:nvPr/>
            </p:nvSpPr>
            <p:spPr bwMode="auto">
              <a:xfrm>
                <a:off x="4485" y="4090"/>
                <a:ext cx="4" cy="2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93" name="AutoShape 676"/>
              <p:cNvSpPr>
                <a:spLocks noChangeAspect="1" noChangeArrowheads="1"/>
              </p:cNvSpPr>
              <p:nvPr/>
            </p:nvSpPr>
            <p:spPr bwMode="auto">
              <a:xfrm>
                <a:off x="4485" y="4110"/>
                <a:ext cx="4" cy="20"/>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94" name="AutoShape 677"/>
              <p:cNvSpPr>
                <a:spLocks noChangeAspect="1" noChangeArrowheads="1"/>
              </p:cNvSpPr>
              <p:nvPr/>
            </p:nvSpPr>
            <p:spPr bwMode="auto">
              <a:xfrm>
                <a:off x="4414" y="4135"/>
                <a:ext cx="5" cy="2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95" name="AutoShape 678"/>
              <p:cNvSpPr>
                <a:spLocks noChangeAspect="1" noChangeArrowheads="1"/>
              </p:cNvSpPr>
              <p:nvPr/>
            </p:nvSpPr>
            <p:spPr bwMode="auto">
              <a:xfrm>
                <a:off x="4414" y="4114"/>
                <a:ext cx="5" cy="20"/>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96" name="AutoShape 679"/>
              <p:cNvSpPr>
                <a:spLocks noChangeAspect="1" noChangeArrowheads="1"/>
              </p:cNvSpPr>
              <p:nvPr/>
            </p:nvSpPr>
            <p:spPr bwMode="auto">
              <a:xfrm>
                <a:off x="4453" y="4113"/>
                <a:ext cx="5" cy="22"/>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97" name="AutoShape 680"/>
              <p:cNvSpPr>
                <a:spLocks noChangeAspect="1" noChangeArrowheads="1"/>
              </p:cNvSpPr>
              <p:nvPr/>
            </p:nvSpPr>
            <p:spPr bwMode="auto">
              <a:xfrm>
                <a:off x="4453" y="4134"/>
                <a:ext cx="5" cy="22"/>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98" name="AutoShape 681"/>
              <p:cNvSpPr>
                <a:spLocks noChangeAspect="1" noChangeArrowheads="1"/>
              </p:cNvSpPr>
              <p:nvPr/>
            </p:nvSpPr>
            <p:spPr bwMode="auto">
              <a:xfrm>
                <a:off x="4437" y="4144"/>
                <a:ext cx="5" cy="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99" name="AutoShape 682"/>
              <p:cNvSpPr>
                <a:spLocks noChangeAspect="1" noChangeArrowheads="1"/>
              </p:cNvSpPr>
              <p:nvPr/>
            </p:nvSpPr>
            <p:spPr bwMode="auto">
              <a:xfrm>
                <a:off x="4437" y="4136"/>
                <a:ext cx="5" cy="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00" name="AutoShape 683"/>
              <p:cNvSpPr>
                <a:spLocks noChangeAspect="1" noChangeArrowheads="1"/>
              </p:cNvSpPr>
              <p:nvPr/>
            </p:nvSpPr>
            <p:spPr bwMode="auto">
              <a:xfrm>
                <a:off x="4535" y="4119"/>
                <a:ext cx="5"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01" name="AutoShape 684"/>
              <p:cNvSpPr>
                <a:spLocks noChangeAspect="1" noChangeArrowheads="1"/>
              </p:cNvSpPr>
              <p:nvPr/>
            </p:nvSpPr>
            <p:spPr bwMode="auto">
              <a:xfrm>
                <a:off x="4535" y="4092"/>
                <a:ext cx="5" cy="2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02" name="AutoShape 685"/>
              <p:cNvSpPr>
                <a:spLocks noChangeAspect="1" noChangeArrowheads="1"/>
              </p:cNvSpPr>
              <p:nvPr/>
            </p:nvSpPr>
            <p:spPr bwMode="auto">
              <a:xfrm>
                <a:off x="4552" y="4132"/>
                <a:ext cx="5" cy="2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03" name="AutoShape 686"/>
              <p:cNvSpPr>
                <a:spLocks noChangeAspect="1" noChangeArrowheads="1"/>
              </p:cNvSpPr>
              <p:nvPr/>
            </p:nvSpPr>
            <p:spPr bwMode="auto">
              <a:xfrm>
                <a:off x="4552" y="4109"/>
                <a:ext cx="5" cy="2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04" name="AutoShape 687"/>
              <p:cNvSpPr>
                <a:spLocks noChangeAspect="1" noChangeArrowheads="1"/>
              </p:cNvSpPr>
              <p:nvPr/>
            </p:nvSpPr>
            <p:spPr bwMode="auto">
              <a:xfrm>
                <a:off x="4498" y="4092"/>
                <a:ext cx="5" cy="10"/>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05" name="AutoShape 688"/>
              <p:cNvSpPr>
                <a:spLocks noChangeAspect="1" noChangeArrowheads="1"/>
              </p:cNvSpPr>
              <p:nvPr/>
            </p:nvSpPr>
            <p:spPr bwMode="auto">
              <a:xfrm>
                <a:off x="4498" y="4102"/>
                <a:ext cx="5" cy="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06" name="AutoShape 689"/>
              <p:cNvSpPr>
                <a:spLocks noChangeAspect="1" noChangeArrowheads="1"/>
              </p:cNvSpPr>
              <p:nvPr/>
            </p:nvSpPr>
            <p:spPr bwMode="auto">
              <a:xfrm>
                <a:off x="4519" y="4106"/>
                <a:ext cx="5" cy="1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07" name="AutoShape 690"/>
              <p:cNvSpPr>
                <a:spLocks noChangeAspect="1" noChangeArrowheads="1"/>
              </p:cNvSpPr>
              <p:nvPr/>
            </p:nvSpPr>
            <p:spPr bwMode="auto">
              <a:xfrm>
                <a:off x="4519" y="4090"/>
                <a:ext cx="5" cy="1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08" name="AutoShape 691"/>
              <p:cNvSpPr>
                <a:spLocks noChangeAspect="1" noChangeArrowheads="1"/>
              </p:cNvSpPr>
              <p:nvPr/>
            </p:nvSpPr>
            <p:spPr bwMode="auto">
              <a:xfrm>
                <a:off x="4568" y="4133"/>
                <a:ext cx="5" cy="10"/>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09" name="AutoShape 692"/>
              <p:cNvSpPr>
                <a:spLocks noChangeAspect="1" noChangeArrowheads="1"/>
              </p:cNvSpPr>
              <p:nvPr/>
            </p:nvSpPr>
            <p:spPr bwMode="auto">
              <a:xfrm>
                <a:off x="4568" y="4143"/>
                <a:ext cx="5" cy="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10" name="AutoShape 693"/>
              <p:cNvSpPr>
                <a:spLocks noChangeAspect="1" noChangeArrowheads="1"/>
              </p:cNvSpPr>
              <p:nvPr/>
            </p:nvSpPr>
            <p:spPr bwMode="auto">
              <a:xfrm flipV="1">
                <a:off x="4635" y="4103"/>
                <a:ext cx="5" cy="1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11" name="AutoShape 694"/>
              <p:cNvSpPr>
                <a:spLocks noChangeAspect="1" noChangeArrowheads="1"/>
              </p:cNvSpPr>
              <p:nvPr/>
            </p:nvSpPr>
            <p:spPr bwMode="auto">
              <a:xfrm>
                <a:off x="4621" y="4115"/>
                <a:ext cx="5" cy="25"/>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12" name="AutoShape 695"/>
              <p:cNvSpPr>
                <a:spLocks noChangeAspect="1" noChangeArrowheads="1"/>
              </p:cNvSpPr>
              <p:nvPr/>
            </p:nvSpPr>
            <p:spPr bwMode="auto">
              <a:xfrm>
                <a:off x="4621" y="4090"/>
                <a:ext cx="5" cy="25"/>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13" name="AutoShape 696"/>
              <p:cNvSpPr>
                <a:spLocks noChangeAspect="1" noChangeArrowheads="1"/>
              </p:cNvSpPr>
              <p:nvPr/>
            </p:nvSpPr>
            <p:spPr bwMode="auto">
              <a:xfrm flipV="1">
                <a:off x="4604" y="4100"/>
                <a:ext cx="6"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14" name="AutoShape 697"/>
              <p:cNvSpPr>
                <a:spLocks noChangeAspect="1" noChangeArrowheads="1"/>
              </p:cNvSpPr>
              <p:nvPr/>
            </p:nvSpPr>
            <p:spPr bwMode="auto">
              <a:xfrm flipV="1">
                <a:off x="4604" y="4127"/>
                <a:ext cx="6" cy="26"/>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15" name="AutoShape 698"/>
              <p:cNvSpPr>
                <a:spLocks noChangeAspect="1" noChangeArrowheads="1"/>
              </p:cNvSpPr>
              <p:nvPr/>
            </p:nvSpPr>
            <p:spPr bwMode="auto">
              <a:xfrm>
                <a:off x="4587" y="4141"/>
                <a:ext cx="5" cy="13"/>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16" name="AutoShape 699"/>
              <p:cNvSpPr>
                <a:spLocks noChangeAspect="1" noChangeArrowheads="1"/>
              </p:cNvSpPr>
              <p:nvPr/>
            </p:nvSpPr>
            <p:spPr bwMode="auto">
              <a:xfrm>
                <a:off x="4587" y="4128"/>
                <a:ext cx="5" cy="13"/>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17" name="AutoShape 700"/>
              <p:cNvSpPr>
                <a:spLocks noChangeAspect="1" noChangeArrowheads="1"/>
              </p:cNvSpPr>
              <p:nvPr/>
            </p:nvSpPr>
            <p:spPr bwMode="auto">
              <a:xfrm flipV="1">
                <a:off x="4689" y="4102"/>
                <a:ext cx="6" cy="2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18" name="AutoShape 701"/>
              <p:cNvSpPr>
                <a:spLocks noChangeAspect="1" noChangeArrowheads="1"/>
              </p:cNvSpPr>
              <p:nvPr/>
            </p:nvSpPr>
            <p:spPr bwMode="auto">
              <a:xfrm>
                <a:off x="4672" y="4089"/>
                <a:ext cx="6" cy="26"/>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19" name="AutoShape 702"/>
              <p:cNvSpPr>
                <a:spLocks noChangeAspect="1" noChangeArrowheads="1"/>
              </p:cNvSpPr>
              <p:nvPr/>
            </p:nvSpPr>
            <p:spPr bwMode="auto">
              <a:xfrm>
                <a:off x="4658" y="4090"/>
                <a:ext cx="5" cy="15"/>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20" name="AutoShape 703"/>
              <p:cNvSpPr>
                <a:spLocks noChangeAspect="1" noChangeArrowheads="1"/>
              </p:cNvSpPr>
              <p:nvPr/>
            </p:nvSpPr>
            <p:spPr bwMode="auto">
              <a:xfrm>
                <a:off x="4760" y="4119"/>
                <a:ext cx="4"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21" name="AutoShape 704"/>
              <p:cNvSpPr>
                <a:spLocks noChangeAspect="1" noChangeArrowheads="1"/>
              </p:cNvSpPr>
              <p:nvPr/>
            </p:nvSpPr>
            <p:spPr bwMode="auto">
              <a:xfrm>
                <a:off x="4740" y="4132"/>
                <a:ext cx="6" cy="2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22" name="AutoShape 705"/>
              <p:cNvSpPr>
                <a:spLocks noChangeAspect="1" noChangeArrowheads="1"/>
              </p:cNvSpPr>
              <p:nvPr/>
            </p:nvSpPr>
            <p:spPr bwMode="auto">
              <a:xfrm>
                <a:off x="4704" y="4122"/>
                <a:ext cx="5" cy="16"/>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23" name="AutoShape 706"/>
              <p:cNvSpPr>
                <a:spLocks noChangeAspect="1" noChangeArrowheads="1"/>
              </p:cNvSpPr>
              <p:nvPr/>
            </p:nvSpPr>
            <p:spPr bwMode="auto">
              <a:xfrm flipV="1">
                <a:off x="4726" y="4131"/>
                <a:ext cx="5" cy="1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24" name="AutoShape 707"/>
              <p:cNvSpPr>
                <a:spLocks noChangeAspect="1" noChangeArrowheads="1"/>
              </p:cNvSpPr>
              <p:nvPr/>
            </p:nvSpPr>
            <p:spPr bwMode="auto">
              <a:xfrm flipV="1">
                <a:off x="4726" y="4142"/>
                <a:ext cx="5" cy="10"/>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25" name="AutoShape 708"/>
              <p:cNvSpPr>
                <a:spLocks noChangeAspect="1" noChangeArrowheads="1"/>
              </p:cNvSpPr>
              <p:nvPr/>
            </p:nvSpPr>
            <p:spPr bwMode="auto">
              <a:xfrm>
                <a:off x="4774" y="4106"/>
                <a:ext cx="6" cy="1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26" name="AutoShape 709"/>
              <p:cNvSpPr>
                <a:spLocks noChangeAspect="1" noChangeArrowheads="1"/>
              </p:cNvSpPr>
              <p:nvPr/>
            </p:nvSpPr>
            <p:spPr bwMode="auto">
              <a:xfrm>
                <a:off x="4794" y="4092"/>
                <a:ext cx="5" cy="10"/>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27" name="AutoShape 710"/>
              <p:cNvSpPr>
                <a:spLocks noChangeAspect="1" noChangeArrowheads="1"/>
              </p:cNvSpPr>
              <p:nvPr/>
            </p:nvSpPr>
            <p:spPr bwMode="auto">
              <a:xfrm>
                <a:off x="4826" y="4097"/>
                <a:ext cx="5" cy="2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28" name="AutoShape 711"/>
              <p:cNvSpPr>
                <a:spLocks noChangeAspect="1" noChangeArrowheads="1"/>
              </p:cNvSpPr>
              <p:nvPr/>
            </p:nvSpPr>
            <p:spPr bwMode="auto">
              <a:xfrm>
                <a:off x="4842" y="4117"/>
                <a:ext cx="6" cy="1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29" name="AutoShape 712"/>
              <p:cNvSpPr>
                <a:spLocks noChangeAspect="1" noChangeArrowheads="1"/>
              </p:cNvSpPr>
              <p:nvPr/>
            </p:nvSpPr>
            <p:spPr bwMode="auto">
              <a:xfrm>
                <a:off x="4810" y="4090"/>
                <a:ext cx="5" cy="21"/>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30" name="AutoShape 713"/>
              <p:cNvSpPr>
                <a:spLocks noChangeAspect="1" noChangeArrowheads="1"/>
              </p:cNvSpPr>
              <p:nvPr/>
            </p:nvSpPr>
            <p:spPr bwMode="auto">
              <a:xfrm>
                <a:off x="4951" y="4089"/>
                <a:ext cx="6" cy="22"/>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31" name="AutoShape 714"/>
              <p:cNvSpPr>
                <a:spLocks noChangeAspect="1" noChangeArrowheads="1"/>
              </p:cNvSpPr>
              <p:nvPr/>
            </p:nvSpPr>
            <p:spPr bwMode="auto">
              <a:xfrm>
                <a:off x="5038" y="4121"/>
                <a:ext cx="5" cy="2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32" name="AutoShape 715"/>
              <p:cNvSpPr>
                <a:spLocks noChangeAspect="1" noChangeArrowheads="1"/>
              </p:cNvSpPr>
              <p:nvPr/>
            </p:nvSpPr>
            <p:spPr bwMode="auto">
              <a:xfrm>
                <a:off x="4967" y="4095"/>
                <a:ext cx="5" cy="28"/>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33" name="AutoShape 716"/>
              <p:cNvSpPr>
                <a:spLocks noChangeAspect="1" noChangeArrowheads="1"/>
              </p:cNvSpPr>
              <p:nvPr/>
            </p:nvSpPr>
            <p:spPr bwMode="auto">
              <a:xfrm>
                <a:off x="5054" y="4109"/>
                <a:ext cx="5" cy="19"/>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34" name="AutoShape 717"/>
              <p:cNvSpPr>
                <a:spLocks noChangeAspect="1" noChangeArrowheads="1"/>
              </p:cNvSpPr>
              <p:nvPr/>
            </p:nvSpPr>
            <p:spPr bwMode="auto">
              <a:xfrm>
                <a:off x="4983" y="4114"/>
                <a:ext cx="5" cy="20"/>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35" name="AutoShape 718"/>
              <p:cNvSpPr>
                <a:spLocks noChangeAspect="1" noChangeArrowheads="1"/>
              </p:cNvSpPr>
              <p:nvPr/>
            </p:nvSpPr>
            <p:spPr bwMode="auto">
              <a:xfrm>
                <a:off x="5022" y="4134"/>
                <a:ext cx="5" cy="22"/>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36" name="AutoShape 719"/>
              <p:cNvSpPr>
                <a:spLocks noChangeAspect="1" noChangeArrowheads="1"/>
              </p:cNvSpPr>
              <p:nvPr/>
            </p:nvSpPr>
            <p:spPr bwMode="auto">
              <a:xfrm>
                <a:off x="5006" y="4144"/>
                <a:ext cx="4" cy="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37" name="AutoShape 720"/>
              <p:cNvSpPr>
                <a:spLocks noChangeAspect="1" noChangeArrowheads="1"/>
              </p:cNvSpPr>
              <p:nvPr/>
            </p:nvSpPr>
            <p:spPr bwMode="auto">
              <a:xfrm>
                <a:off x="5006" y="4136"/>
                <a:ext cx="4" cy="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38" name="AutoShape 721"/>
              <p:cNvSpPr>
                <a:spLocks noChangeAspect="1" noChangeArrowheads="1"/>
              </p:cNvSpPr>
              <p:nvPr/>
            </p:nvSpPr>
            <p:spPr bwMode="auto">
              <a:xfrm>
                <a:off x="5104" y="4092"/>
                <a:ext cx="4" cy="2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39" name="AutoShape 722"/>
              <p:cNvSpPr>
                <a:spLocks noChangeAspect="1" noChangeArrowheads="1"/>
              </p:cNvSpPr>
              <p:nvPr/>
            </p:nvSpPr>
            <p:spPr bwMode="auto">
              <a:xfrm>
                <a:off x="5120" y="4109"/>
                <a:ext cx="5" cy="2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40" name="AutoShape 723"/>
              <p:cNvSpPr>
                <a:spLocks noChangeAspect="1" noChangeArrowheads="1"/>
              </p:cNvSpPr>
              <p:nvPr/>
            </p:nvSpPr>
            <p:spPr bwMode="auto">
              <a:xfrm>
                <a:off x="5068" y="4103"/>
                <a:ext cx="5" cy="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41" name="AutoShape 724"/>
              <p:cNvSpPr>
                <a:spLocks noChangeAspect="1" noChangeArrowheads="1"/>
              </p:cNvSpPr>
              <p:nvPr/>
            </p:nvSpPr>
            <p:spPr bwMode="auto">
              <a:xfrm>
                <a:off x="5087" y="4090"/>
                <a:ext cx="5" cy="1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42" name="AutoShape 725"/>
              <p:cNvSpPr>
                <a:spLocks noChangeAspect="1" noChangeArrowheads="1"/>
              </p:cNvSpPr>
              <p:nvPr/>
            </p:nvSpPr>
            <p:spPr bwMode="auto">
              <a:xfrm>
                <a:off x="5136" y="4133"/>
                <a:ext cx="6" cy="10"/>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43" name="AutoShape 726"/>
              <p:cNvSpPr>
                <a:spLocks noChangeAspect="1" noChangeArrowheads="1"/>
              </p:cNvSpPr>
              <p:nvPr/>
            </p:nvSpPr>
            <p:spPr bwMode="auto">
              <a:xfrm>
                <a:off x="5136" y="4143"/>
                <a:ext cx="6" cy="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44" name="AutoShape 727"/>
              <p:cNvSpPr>
                <a:spLocks noChangeAspect="1" noChangeArrowheads="1"/>
              </p:cNvSpPr>
              <p:nvPr/>
            </p:nvSpPr>
            <p:spPr bwMode="auto">
              <a:xfrm flipV="1">
                <a:off x="5203" y="4103"/>
                <a:ext cx="5" cy="1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45" name="AutoShape 728"/>
              <p:cNvSpPr>
                <a:spLocks noChangeAspect="1" noChangeArrowheads="1"/>
              </p:cNvSpPr>
              <p:nvPr/>
            </p:nvSpPr>
            <p:spPr bwMode="auto">
              <a:xfrm>
                <a:off x="5189" y="4115"/>
                <a:ext cx="6" cy="25"/>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46" name="AutoShape 729"/>
              <p:cNvSpPr>
                <a:spLocks noChangeAspect="1" noChangeArrowheads="1"/>
              </p:cNvSpPr>
              <p:nvPr/>
            </p:nvSpPr>
            <p:spPr bwMode="auto">
              <a:xfrm flipV="1">
                <a:off x="5173" y="4127"/>
                <a:ext cx="5" cy="26"/>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47" name="AutoShape 730"/>
              <p:cNvSpPr>
                <a:spLocks noChangeAspect="1" noChangeArrowheads="1"/>
              </p:cNvSpPr>
              <p:nvPr/>
            </p:nvSpPr>
            <p:spPr bwMode="auto">
              <a:xfrm>
                <a:off x="5157" y="4141"/>
                <a:ext cx="4" cy="13"/>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48" name="AutoShape 731"/>
              <p:cNvSpPr>
                <a:spLocks noChangeAspect="1" noChangeArrowheads="1"/>
              </p:cNvSpPr>
              <p:nvPr/>
            </p:nvSpPr>
            <p:spPr bwMode="auto">
              <a:xfrm>
                <a:off x="5157" y="4128"/>
                <a:ext cx="4" cy="13"/>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49" name="AutoShape 732"/>
              <p:cNvSpPr>
                <a:spLocks noChangeAspect="1" noChangeArrowheads="1"/>
              </p:cNvSpPr>
              <p:nvPr/>
            </p:nvSpPr>
            <p:spPr bwMode="auto">
              <a:xfrm flipV="1">
                <a:off x="5258" y="4102"/>
                <a:ext cx="5" cy="2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50" name="AutoShape 733"/>
              <p:cNvSpPr>
                <a:spLocks noChangeAspect="1" noChangeArrowheads="1"/>
              </p:cNvSpPr>
              <p:nvPr/>
            </p:nvSpPr>
            <p:spPr bwMode="auto">
              <a:xfrm>
                <a:off x="5240" y="4089"/>
                <a:ext cx="6" cy="26"/>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51" name="AutoShape 734"/>
              <p:cNvSpPr>
                <a:spLocks noChangeAspect="1" noChangeArrowheads="1"/>
              </p:cNvSpPr>
              <p:nvPr/>
            </p:nvSpPr>
            <p:spPr bwMode="auto">
              <a:xfrm>
                <a:off x="5226" y="4090"/>
                <a:ext cx="6" cy="15"/>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52" name="AutoShape 735"/>
              <p:cNvSpPr>
                <a:spLocks noChangeAspect="1" noChangeArrowheads="1"/>
              </p:cNvSpPr>
              <p:nvPr/>
            </p:nvSpPr>
            <p:spPr bwMode="auto">
              <a:xfrm>
                <a:off x="5327" y="4119"/>
                <a:ext cx="5"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53" name="AutoShape 736"/>
              <p:cNvSpPr>
                <a:spLocks noChangeAspect="1" noChangeArrowheads="1"/>
              </p:cNvSpPr>
              <p:nvPr/>
            </p:nvSpPr>
            <p:spPr bwMode="auto">
              <a:xfrm>
                <a:off x="5309" y="4132"/>
                <a:ext cx="5" cy="2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54" name="AutoShape 737"/>
              <p:cNvSpPr>
                <a:spLocks noChangeAspect="1" noChangeArrowheads="1"/>
              </p:cNvSpPr>
              <p:nvPr/>
            </p:nvSpPr>
            <p:spPr bwMode="auto">
              <a:xfrm>
                <a:off x="5272" y="4122"/>
                <a:ext cx="5" cy="16"/>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55" name="AutoShape 738"/>
              <p:cNvSpPr>
                <a:spLocks noChangeAspect="1" noChangeArrowheads="1"/>
              </p:cNvSpPr>
              <p:nvPr/>
            </p:nvSpPr>
            <p:spPr bwMode="auto">
              <a:xfrm flipV="1">
                <a:off x="5293" y="4131"/>
                <a:ext cx="6" cy="1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56" name="AutoShape 739"/>
              <p:cNvSpPr>
                <a:spLocks noChangeAspect="1" noChangeArrowheads="1"/>
              </p:cNvSpPr>
              <p:nvPr/>
            </p:nvSpPr>
            <p:spPr bwMode="auto">
              <a:xfrm flipV="1">
                <a:off x="5293" y="4142"/>
                <a:ext cx="6" cy="10"/>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57" name="AutoShape 740"/>
              <p:cNvSpPr>
                <a:spLocks noChangeAspect="1" noChangeArrowheads="1"/>
              </p:cNvSpPr>
              <p:nvPr/>
            </p:nvSpPr>
            <p:spPr bwMode="auto">
              <a:xfrm>
                <a:off x="5343" y="4106"/>
                <a:ext cx="5" cy="1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58" name="AutoShape 741"/>
              <p:cNvSpPr>
                <a:spLocks noChangeAspect="1" noChangeArrowheads="1"/>
              </p:cNvSpPr>
              <p:nvPr/>
            </p:nvSpPr>
            <p:spPr bwMode="auto">
              <a:xfrm>
                <a:off x="5362" y="4092"/>
                <a:ext cx="5" cy="10"/>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59" name="AutoShape 742"/>
              <p:cNvSpPr>
                <a:spLocks noChangeAspect="1" noChangeArrowheads="1"/>
              </p:cNvSpPr>
              <p:nvPr/>
            </p:nvSpPr>
            <p:spPr bwMode="auto">
              <a:xfrm>
                <a:off x="5394" y="4097"/>
                <a:ext cx="5" cy="2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60" name="AutoShape 743"/>
              <p:cNvSpPr>
                <a:spLocks noChangeAspect="1" noChangeArrowheads="1"/>
              </p:cNvSpPr>
              <p:nvPr/>
            </p:nvSpPr>
            <p:spPr bwMode="auto">
              <a:xfrm>
                <a:off x="5411" y="4117"/>
                <a:ext cx="5" cy="1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61" name="AutoShape 744"/>
              <p:cNvSpPr>
                <a:spLocks noChangeAspect="1" noChangeArrowheads="1"/>
              </p:cNvSpPr>
              <p:nvPr/>
            </p:nvSpPr>
            <p:spPr bwMode="auto">
              <a:xfrm>
                <a:off x="5378" y="4090"/>
                <a:ext cx="5" cy="21"/>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62" name="AutoShape 745"/>
              <p:cNvSpPr>
                <a:spLocks noChangeAspect="1" noChangeArrowheads="1"/>
              </p:cNvSpPr>
              <p:nvPr/>
            </p:nvSpPr>
            <p:spPr bwMode="auto">
              <a:xfrm>
                <a:off x="4897" y="4121"/>
                <a:ext cx="5" cy="2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63" name="AutoShape 746"/>
              <p:cNvSpPr>
                <a:spLocks noChangeAspect="1" noChangeArrowheads="1"/>
              </p:cNvSpPr>
              <p:nvPr/>
            </p:nvSpPr>
            <p:spPr bwMode="auto">
              <a:xfrm>
                <a:off x="4913" y="4109"/>
                <a:ext cx="4" cy="19"/>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64" name="AutoShape 747"/>
              <p:cNvSpPr>
                <a:spLocks noChangeAspect="1" noChangeArrowheads="1"/>
              </p:cNvSpPr>
              <p:nvPr/>
            </p:nvSpPr>
            <p:spPr bwMode="auto">
              <a:xfrm>
                <a:off x="4880" y="4134"/>
                <a:ext cx="5" cy="22"/>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65" name="AutoShape 748"/>
              <p:cNvSpPr>
                <a:spLocks noChangeAspect="1" noChangeArrowheads="1"/>
              </p:cNvSpPr>
              <p:nvPr/>
            </p:nvSpPr>
            <p:spPr bwMode="auto">
              <a:xfrm>
                <a:off x="4863" y="4143"/>
                <a:ext cx="5" cy="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66" name="AutoShape 749"/>
              <p:cNvSpPr>
                <a:spLocks noChangeAspect="1" noChangeArrowheads="1"/>
              </p:cNvSpPr>
              <p:nvPr/>
            </p:nvSpPr>
            <p:spPr bwMode="auto">
              <a:xfrm>
                <a:off x="4863" y="4135"/>
                <a:ext cx="5" cy="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67" name="AutoShape 750"/>
              <p:cNvSpPr>
                <a:spLocks noChangeAspect="1" noChangeArrowheads="1"/>
              </p:cNvSpPr>
              <p:nvPr/>
            </p:nvSpPr>
            <p:spPr bwMode="auto">
              <a:xfrm flipV="1">
                <a:off x="4925" y="4102"/>
                <a:ext cx="5" cy="9"/>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768" name="Freeform 751"/>
              <p:cNvSpPr>
                <a:spLocks noChangeAspect="1"/>
              </p:cNvSpPr>
              <p:nvPr/>
            </p:nvSpPr>
            <p:spPr bwMode="auto">
              <a:xfrm flipH="1">
                <a:off x="5378" y="408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769" name="Freeform 752"/>
              <p:cNvSpPr>
                <a:spLocks noChangeAspect="1"/>
              </p:cNvSpPr>
              <p:nvPr/>
            </p:nvSpPr>
            <p:spPr bwMode="auto">
              <a:xfrm flipH="1">
                <a:off x="5236" y="408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770" name="Freeform 753"/>
              <p:cNvSpPr>
                <a:spLocks noChangeAspect="1"/>
              </p:cNvSpPr>
              <p:nvPr/>
            </p:nvSpPr>
            <p:spPr bwMode="auto">
              <a:xfrm flipH="1">
                <a:off x="5094" y="4088"/>
                <a:ext cx="75"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771" name="Freeform 754"/>
              <p:cNvSpPr>
                <a:spLocks noChangeAspect="1"/>
              </p:cNvSpPr>
              <p:nvPr/>
            </p:nvSpPr>
            <p:spPr bwMode="auto">
              <a:xfrm flipH="1">
                <a:off x="4953" y="408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772" name="Freeform 755"/>
              <p:cNvSpPr>
                <a:spLocks noChangeAspect="1"/>
              </p:cNvSpPr>
              <p:nvPr/>
            </p:nvSpPr>
            <p:spPr bwMode="auto">
              <a:xfrm flipH="1">
                <a:off x="4810" y="408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773" name="Freeform 756"/>
              <p:cNvSpPr>
                <a:spLocks noChangeAspect="1"/>
              </p:cNvSpPr>
              <p:nvPr/>
            </p:nvSpPr>
            <p:spPr bwMode="auto">
              <a:xfrm flipH="1">
                <a:off x="4667" y="4088"/>
                <a:ext cx="75"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774" name="Freeform 757"/>
              <p:cNvSpPr>
                <a:spLocks noChangeAspect="1"/>
              </p:cNvSpPr>
              <p:nvPr/>
            </p:nvSpPr>
            <p:spPr bwMode="auto">
              <a:xfrm flipH="1">
                <a:off x="4526" y="408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775" name="Freeform 758"/>
              <p:cNvSpPr>
                <a:spLocks noChangeAspect="1"/>
              </p:cNvSpPr>
              <p:nvPr/>
            </p:nvSpPr>
            <p:spPr bwMode="auto">
              <a:xfrm flipH="1">
                <a:off x="4485" y="408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776" name="Freeform 759"/>
              <p:cNvSpPr>
                <a:spLocks noChangeAspect="1"/>
              </p:cNvSpPr>
              <p:nvPr/>
            </p:nvSpPr>
            <p:spPr bwMode="auto">
              <a:xfrm flipH="1">
                <a:off x="4384" y="408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777" name="Freeform 760"/>
              <p:cNvSpPr>
                <a:spLocks noChangeAspect="1"/>
              </p:cNvSpPr>
              <p:nvPr/>
            </p:nvSpPr>
            <p:spPr bwMode="auto">
              <a:xfrm flipH="1">
                <a:off x="4343" y="4088"/>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147670" name="AutoShape 761"/>
            <p:cNvSpPr>
              <a:spLocks noChangeArrowheads="1"/>
            </p:cNvSpPr>
            <p:nvPr/>
          </p:nvSpPr>
          <p:spPr bwMode="auto">
            <a:xfrm>
              <a:off x="4384" y="3872"/>
              <a:ext cx="220" cy="228"/>
            </a:xfrm>
            <a:prstGeom prst="roundRect">
              <a:avLst>
                <a:gd name="adj" fmla="val 16667"/>
              </a:avLst>
            </a:prstGeom>
            <a:gradFill rotWithShape="1">
              <a:gsLst>
                <a:gs pos="0">
                  <a:srgbClr val="2F7618">
                    <a:alpha val="70000"/>
                  </a:srgbClr>
                </a:gs>
                <a:gs pos="50000">
                  <a:srgbClr val="66FF33">
                    <a:alpha val="70000"/>
                  </a:srgbClr>
                </a:gs>
                <a:gs pos="100000">
                  <a:srgbClr val="2F7618">
                    <a:alpha val="70000"/>
                  </a:srgbClr>
                </a:gs>
              </a:gsLst>
              <a:lin ang="5400000" scaled="1"/>
            </a:gradFill>
            <a:ln w="3175" algn="ctr">
              <a:solidFill>
                <a:srgbClr val="66FF33"/>
              </a:solidFill>
              <a:rou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kumimoji="0" lang="en-US" altLang="zh-CN" sz="600" b="1">
                  <a:latin typeface="Arial" panose="020B0604020202020204" pitchFamily="34" charset="0"/>
                </a:rPr>
                <a:t>Klenow</a:t>
              </a:r>
            </a:p>
            <a:p>
              <a:pPr algn="ctr" eaLnBrk="1" hangingPunct="1">
                <a:spcBef>
                  <a:spcPct val="0"/>
                </a:spcBef>
                <a:buFontTx/>
                <a:buNone/>
              </a:pPr>
              <a:r>
                <a:rPr kumimoji="0" lang="en-US" altLang="zh-CN" sz="600" b="1">
                  <a:latin typeface="Arial" panose="020B0604020202020204" pitchFamily="34" charset="0"/>
                </a:rPr>
                <a:t/>
              </a:r>
              <a:br>
                <a:rPr kumimoji="0" lang="en-US" altLang="zh-CN" sz="600" b="1">
                  <a:latin typeface="Arial" panose="020B0604020202020204" pitchFamily="34" charset="0"/>
                </a:rPr>
              </a:br>
              <a:r>
                <a:rPr kumimoji="0" lang="en-US" altLang="zh-CN" sz="600" b="1">
                  <a:latin typeface="Arial" panose="020B0604020202020204" pitchFamily="34" charset="0"/>
                </a:rPr>
                <a:t>Fragment</a:t>
              </a:r>
            </a:p>
          </p:txBody>
        </p:sp>
        <p:sp>
          <p:nvSpPr>
            <p:cNvPr id="147671" name="Line 762"/>
            <p:cNvSpPr>
              <a:spLocks noChangeShapeType="1"/>
            </p:cNvSpPr>
            <p:nvPr/>
          </p:nvSpPr>
          <p:spPr bwMode="auto">
            <a:xfrm>
              <a:off x="4624" y="4062"/>
              <a:ext cx="248" cy="0"/>
            </a:xfrm>
            <a:prstGeom prst="line">
              <a:avLst/>
            </a:prstGeom>
            <a:noFill/>
            <a:ln w="28575">
              <a:solidFill>
                <a:srgbClr val="0099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7515" name="AutoShape 763"/>
            <p:cNvSpPr>
              <a:spLocks noChangeAspect="1" noChangeArrowheads="1"/>
            </p:cNvSpPr>
            <p:nvPr/>
          </p:nvSpPr>
          <p:spPr bwMode="auto">
            <a:xfrm>
              <a:off x="4275" y="4002"/>
              <a:ext cx="6" cy="6"/>
            </a:xfrm>
            <a:prstGeom prst="star5">
              <a:avLst/>
            </a:prstGeom>
            <a:noFill/>
            <a:ln w="28575" algn="ctr">
              <a:solidFill>
                <a:srgbClr val="FF0000"/>
              </a:solidFill>
              <a:miter lim="800000"/>
            </a:ln>
            <a:effectLst/>
          </p:spPr>
          <p:txBody>
            <a:bodyPr wrap="none" anchor="ctr"/>
            <a:lstStyle/>
            <a:p>
              <a:pPr eaLnBrk="1" hangingPunct="1">
                <a:defRPr/>
              </a:pPr>
              <a:endParaRPr lang="zh-CN" altLang="en-US">
                <a:ea typeface="宋体" panose="02010600030101010101" pitchFamily="2" charset="-122"/>
              </a:endParaRPr>
            </a:p>
          </p:txBody>
        </p:sp>
        <p:grpSp>
          <p:nvGrpSpPr>
            <p:cNvPr id="147673" name="Group 764"/>
            <p:cNvGrpSpPr>
              <a:grpSpLocks noChangeAspect="1"/>
            </p:cNvGrpSpPr>
            <p:nvPr/>
          </p:nvGrpSpPr>
          <p:grpSpPr bwMode="auto">
            <a:xfrm>
              <a:off x="5403" y="3985"/>
              <a:ext cx="54" cy="71"/>
              <a:chOff x="3743" y="2439"/>
              <a:chExt cx="164" cy="216"/>
            </a:xfrm>
          </p:grpSpPr>
          <p:sp>
            <p:nvSpPr>
              <p:cNvPr id="147674" name="Freeform 765"/>
              <p:cNvSpPr>
                <a:spLocks noChangeAspect="1"/>
              </p:cNvSpPr>
              <p:nvPr/>
            </p:nvSpPr>
            <p:spPr bwMode="auto">
              <a:xfrm>
                <a:off x="3743" y="2465"/>
                <a:ext cx="117" cy="190"/>
              </a:xfrm>
              <a:custGeom>
                <a:avLst/>
                <a:gdLst>
                  <a:gd name="T0" fmla="*/ 3 w 387"/>
                  <a:gd name="T1" fmla="*/ 0 h 625"/>
                  <a:gd name="T2" fmla="*/ 1 w 387"/>
                  <a:gd name="T3" fmla="*/ 0 h 625"/>
                  <a:gd name="T4" fmla="*/ 0 w 387"/>
                  <a:gd name="T5" fmla="*/ 2 h 625"/>
                  <a:gd name="T6" fmla="*/ 1 w 387"/>
                  <a:gd name="T7" fmla="*/ 2 h 625"/>
                  <a:gd name="T8" fmla="*/ 2 w 387"/>
                  <a:gd name="T9" fmla="*/ 2 h 625"/>
                  <a:gd name="T10" fmla="*/ 3 w 387"/>
                  <a:gd name="T11" fmla="*/ 2 h 625"/>
                  <a:gd name="T12" fmla="*/ 3 w 387"/>
                  <a:gd name="T13" fmla="*/ 4 h 625"/>
                  <a:gd name="T14" fmla="*/ 3 w 387"/>
                  <a:gd name="T15" fmla="*/ 5 h 625"/>
                  <a:gd name="T16" fmla="*/ 2 w 387"/>
                  <a:gd name="T17" fmla="*/ 5 h 625"/>
                  <a:gd name="T18" fmla="*/ 1 w 387"/>
                  <a:gd name="T19" fmla="*/ 5 h 625"/>
                  <a:gd name="T20" fmla="*/ 0 w 387"/>
                  <a:gd name="T21" fmla="*/ 4 h 62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87"/>
                  <a:gd name="T34" fmla="*/ 0 h 625"/>
                  <a:gd name="T35" fmla="*/ 387 w 387"/>
                  <a:gd name="T36" fmla="*/ 625 h 62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87" h="625">
                    <a:moveTo>
                      <a:pt x="387" y="7"/>
                    </a:moveTo>
                    <a:lnTo>
                      <a:pt x="86" y="0"/>
                    </a:lnTo>
                    <a:lnTo>
                      <a:pt x="28" y="295"/>
                    </a:lnTo>
                    <a:cubicBezTo>
                      <a:pt x="31" y="337"/>
                      <a:pt x="71" y="261"/>
                      <a:pt x="105" y="250"/>
                    </a:cubicBezTo>
                    <a:cubicBezTo>
                      <a:pt x="139" y="239"/>
                      <a:pt x="194" y="225"/>
                      <a:pt x="233" y="231"/>
                    </a:cubicBezTo>
                    <a:cubicBezTo>
                      <a:pt x="272" y="237"/>
                      <a:pt x="315" y="255"/>
                      <a:pt x="340" y="288"/>
                    </a:cubicBezTo>
                    <a:cubicBezTo>
                      <a:pt x="365" y="321"/>
                      <a:pt x="382" y="385"/>
                      <a:pt x="380" y="429"/>
                    </a:cubicBezTo>
                    <a:cubicBezTo>
                      <a:pt x="378" y="473"/>
                      <a:pt x="358" y="519"/>
                      <a:pt x="327" y="551"/>
                    </a:cubicBezTo>
                    <a:cubicBezTo>
                      <a:pt x="296" y="583"/>
                      <a:pt x="237" y="617"/>
                      <a:pt x="192" y="621"/>
                    </a:cubicBezTo>
                    <a:cubicBezTo>
                      <a:pt x="147" y="625"/>
                      <a:pt x="90" y="600"/>
                      <a:pt x="58" y="576"/>
                    </a:cubicBezTo>
                    <a:cubicBezTo>
                      <a:pt x="26" y="552"/>
                      <a:pt x="12" y="495"/>
                      <a:pt x="0" y="474"/>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675" name="AutoShape 766"/>
              <p:cNvSpPr>
                <a:spLocks noChangeAspect="1" noChangeArrowheads="1"/>
              </p:cNvSpPr>
              <p:nvPr/>
            </p:nvSpPr>
            <p:spPr bwMode="auto">
              <a:xfrm flipV="1">
                <a:off x="3889" y="2439"/>
                <a:ext cx="18" cy="51"/>
              </a:xfrm>
              <a:prstGeom prst="triangle">
                <a:avLst>
                  <a:gd name="adj" fmla="val 50000"/>
                </a:avLst>
              </a:prstGeom>
              <a:solidFill>
                <a:schemeClr val="tx1"/>
              </a:solidFill>
              <a:ln w="6350">
                <a:solidFill>
                  <a:schemeClr val="tx1"/>
                </a:solidFill>
                <a:miter lim="800000"/>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grpSp>
        <p:nvGrpSpPr>
          <p:cNvPr id="147486" name="Group 767"/>
          <p:cNvGrpSpPr/>
          <p:nvPr/>
        </p:nvGrpSpPr>
        <p:grpSpPr bwMode="auto">
          <a:xfrm>
            <a:off x="6634163" y="5748338"/>
            <a:ext cx="1909762" cy="361950"/>
            <a:chOff x="4179" y="3621"/>
            <a:chExt cx="1203" cy="228"/>
          </a:xfrm>
        </p:grpSpPr>
        <p:grpSp>
          <p:nvGrpSpPr>
            <p:cNvPr id="147539" name="Group 768"/>
            <p:cNvGrpSpPr/>
            <p:nvPr/>
          </p:nvGrpSpPr>
          <p:grpSpPr bwMode="auto">
            <a:xfrm>
              <a:off x="4243" y="3702"/>
              <a:ext cx="1139" cy="69"/>
              <a:chOff x="4320" y="3443"/>
              <a:chExt cx="1139" cy="69"/>
            </a:xfrm>
          </p:grpSpPr>
          <p:sp>
            <p:nvSpPr>
              <p:cNvPr id="147548" name="Freeform 769"/>
              <p:cNvSpPr>
                <a:spLocks noChangeAspect="1"/>
              </p:cNvSpPr>
              <p:nvPr/>
            </p:nvSpPr>
            <p:spPr bwMode="auto">
              <a:xfrm>
                <a:off x="4391" y="344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549" name="Freeform 770"/>
              <p:cNvSpPr>
                <a:spLocks noChangeAspect="1"/>
              </p:cNvSpPr>
              <p:nvPr/>
            </p:nvSpPr>
            <p:spPr bwMode="auto">
              <a:xfrm>
                <a:off x="4533" y="344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550" name="Freeform 771"/>
              <p:cNvSpPr>
                <a:spLocks noChangeAspect="1"/>
              </p:cNvSpPr>
              <p:nvPr/>
            </p:nvSpPr>
            <p:spPr bwMode="auto">
              <a:xfrm>
                <a:off x="4675" y="344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551" name="Freeform 772"/>
              <p:cNvSpPr>
                <a:spLocks noChangeAspect="1"/>
              </p:cNvSpPr>
              <p:nvPr/>
            </p:nvSpPr>
            <p:spPr bwMode="auto">
              <a:xfrm>
                <a:off x="4858" y="3443"/>
                <a:ext cx="75"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552" name="Freeform 773"/>
              <p:cNvSpPr>
                <a:spLocks noChangeAspect="1"/>
              </p:cNvSpPr>
              <p:nvPr/>
            </p:nvSpPr>
            <p:spPr bwMode="auto">
              <a:xfrm>
                <a:off x="4816" y="3443"/>
                <a:ext cx="75"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553" name="Freeform 774"/>
              <p:cNvSpPr>
                <a:spLocks noChangeAspect="1"/>
              </p:cNvSpPr>
              <p:nvPr/>
            </p:nvSpPr>
            <p:spPr bwMode="auto">
              <a:xfrm>
                <a:off x="5000" y="344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554" name="Freeform 775"/>
              <p:cNvSpPr>
                <a:spLocks noChangeAspect="1"/>
              </p:cNvSpPr>
              <p:nvPr/>
            </p:nvSpPr>
            <p:spPr bwMode="auto">
              <a:xfrm>
                <a:off x="4959" y="344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555" name="Freeform 776"/>
              <p:cNvSpPr>
                <a:spLocks noChangeAspect="1"/>
              </p:cNvSpPr>
              <p:nvPr/>
            </p:nvSpPr>
            <p:spPr bwMode="auto">
              <a:xfrm>
                <a:off x="5142" y="344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556" name="Freeform 777"/>
              <p:cNvSpPr>
                <a:spLocks noChangeAspect="1"/>
              </p:cNvSpPr>
              <p:nvPr/>
            </p:nvSpPr>
            <p:spPr bwMode="auto">
              <a:xfrm>
                <a:off x="5101" y="344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557" name="Freeform 778"/>
              <p:cNvSpPr>
                <a:spLocks noChangeAspect="1"/>
              </p:cNvSpPr>
              <p:nvPr/>
            </p:nvSpPr>
            <p:spPr bwMode="auto">
              <a:xfrm>
                <a:off x="5284" y="3443"/>
                <a:ext cx="75"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558" name="Freeform 779"/>
              <p:cNvSpPr>
                <a:spLocks noChangeAspect="1"/>
              </p:cNvSpPr>
              <p:nvPr/>
            </p:nvSpPr>
            <p:spPr bwMode="auto">
              <a:xfrm>
                <a:off x="5243" y="344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559" name="AutoShape 780"/>
              <p:cNvSpPr>
                <a:spLocks noChangeAspect="1" noChangeArrowheads="1"/>
              </p:cNvSpPr>
              <p:nvPr/>
            </p:nvSpPr>
            <p:spPr bwMode="auto">
              <a:xfrm>
                <a:off x="4360" y="3466"/>
                <a:ext cx="5" cy="22"/>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60" name="AutoShape 781"/>
              <p:cNvSpPr>
                <a:spLocks noChangeAspect="1" noChangeArrowheads="1"/>
              </p:cNvSpPr>
              <p:nvPr/>
            </p:nvSpPr>
            <p:spPr bwMode="auto">
              <a:xfrm>
                <a:off x="4446" y="3452"/>
                <a:ext cx="5" cy="2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61" name="AutoShape 782"/>
              <p:cNvSpPr>
                <a:spLocks noChangeAspect="1" noChangeArrowheads="1"/>
              </p:cNvSpPr>
              <p:nvPr/>
            </p:nvSpPr>
            <p:spPr bwMode="auto">
              <a:xfrm>
                <a:off x="4376" y="3478"/>
                <a:ext cx="5" cy="28"/>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62" name="AutoShape 783"/>
              <p:cNvSpPr>
                <a:spLocks noChangeAspect="1" noChangeArrowheads="1"/>
              </p:cNvSpPr>
              <p:nvPr/>
            </p:nvSpPr>
            <p:spPr bwMode="auto">
              <a:xfrm>
                <a:off x="4462" y="3445"/>
                <a:ext cx="4" cy="2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63" name="AutoShape 784"/>
              <p:cNvSpPr>
                <a:spLocks noChangeAspect="1" noChangeArrowheads="1"/>
              </p:cNvSpPr>
              <p:nvPr/>
            </p:nvSpPr>
            <p:spPr bwMode="auto">
              <a:xfrm>
                <a:off x="4391" y="3490"/>
                <a:ext cx="5" cy="2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64" name="AutoShape 785"/>
              <p:cNvSpPr>
                <a:spLocks noChangeAspect="1" noChangeArrowheads="1"/>
              </p:cNvSpPr>
              <p:nvPr/>
            </p:nvSpPr>
            <p:spPr bwMode="auto">
              <a:xfrm>
                <a:off x="4430" y="3468"/>
                <a:ext cx="5" cy="22"/>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65" name="AutoShape 786"/>
              <p:cNvSpPr>
                <a:spLocks noChangeAspect="1" noChangeArrowheads="1"/>
              </p:cNvSpPr>
              <p:nvPr/>
            </p:nvSpPr>
            <p:spPr bwMode="auto">
              <a:xfrm>
                <a:off x="4414" y="3499"/>
                <a:ext cx="5" cy="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66" name="AutoShape 787"/>
              <p:cNvSpPr>
                <a:spLocks noChangeAspect="1" noChangeArrowheads="1"/>
              </p:cNvSpPr>
              <p:nvPr/>
            </p:nvSpPr>
            <p:spPr bwMode="auto">
              <a:xfrm>
                <a:off x="4414" y="3491"/>
                <a:ext cx="5" cy="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67" name="AutoShape 788"/>
              <p:cNvSpPr>
                <a:spLocks noChangeAspect="1" noChangeArrowheads="1"/>
              </p:cNvSpPr>
              <p:nvPr/>
            </p:nvSpPr>
            <p:spPr bwMode="auto">
              <a:xfrm>
                <a:off x="4512" y="3474"/>
                <a:ext cx="5"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68" name="AutoShape 789"/>
              <p:cNvSpPr>
                <a:spLocks noChangeAspect="1" noChangeArrowheads="1"/>
              </p:cNvSpPr>
              <p:nvPr/>
            </p:nvSpPr>
            <p:spPr bwMode="auto">
              <a:xfrm>
                <a:off x="4529" y="3487"/>
                <a:ext cx="5" cy="2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69" name="AutoShape 790"/>
              <p:cNvSpPr>
                <a:spLocks noChangeAspect="1" noChangeArrowheads="1"/>
              </p:cNvSpPr>
              <p:nvPr/>
            </p:nvSpPr>
            <p:spPr bwMode="auto">
              <a:xfrm>
                <a:off x="4475" y="3447"/>
                <a:ext cx="5" cy="10"/>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70" name="AutoShape 791"/>
              <p:cNvSpPr>
                <a:spLocks noChangeAspect="1" noChangeArrowheads="1"/>
              </p:cNvSpPr>
              <p:nvPr/>
            </p:nvSpPr>
            <p:spPr bwMode="auto">
              <a:xfrm>
                <a:off x="4475" y="3457"/>
                <a:ext cx="5" cy="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71" name="AutoShape 792"/>
              <p:cNvSpPr>
                <a:spLocks noChangeAspect="1" noChangeArrowheads="1"/>
              </p:cNvSpPr>
              <p:nvPr/>
            </p:nvSpPr>
            <p:spPr bwMode="auto">
              <a:xfrm>
                <a:off x="4496" y="3461"/>
                <a:ext cx="5" cy="1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72" name="AutoShape 793"/>
              <p:cNvSpPr>
                <a:spLocks noChangeAspect="1" noChangeArrowheads="1"/>
              </p:cNvSpPr>
              <p:nvPr/>
            </p:nvSpPr>
            <p:spPr bwMode="auto">
              <a:xfrm>
                <a:off x="4545" y="3498"/>
                <a:ext cx="5" cy="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73" name="AutoShape 794"/>
              <p:cNvSpPr>
                <a:spLocks noChangeAspect="1" noChangeArrowheads="1"/>
              </p:cNvSpPr>
              <p:nvPr/>
            </p:nvSpPr>
            <p:spPr bwMode="auto">
              <a:xfrm flipV="1">
                <a:off x="4612" y="3445"/>
                <a:ext cx="5" cy="1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74" name="AutoShape 795"/>
              <p:cNvSpPr>
                <a:spLocks noChangeAspect="1" noChangeArrowheads="1"/>
              </p:cNvSpPr>
              <p:nvPr/>
            </p:nvSpPr>
            <p:spPr bwMode="auto">
              <a:xfrm>
                <a:off x="4598" y="3445"/>
                <a:ext cx="5" cy="25"/>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75" name="AutoShape 796"/>
              <p:cNvSpPr>
                <a:spLocks noChangeAspect="1" noChangeArrowheads="1"/>
              </p:cNvSpPr>
              <p:nvPr/>
            </p:nvSpPr>
            <p:spPr bwMode="auto">
              <a:xfrm flipV="1">
                <a:off x="4581" y="3455"/>
                <a:ext cx="6"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76" name="AutoShape 797"/>
              <p:cNvSpPr>
                <a:spLocks noChangeAspect="1" noChangeArrowheads="1"/>
              </p:cNvSpPr>
              <p:nvPr/>
            </p:nvSpPr>
            <p:spPr bwMode="auto">
              <a:xfrm>
                <a:off x="4564" y="3483"/>
                <a:ext cx="5" cy="13"/>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77" name="AutoShape 798"/>
              <p:cNvSpPr>
                <a:spLocks noChangeAspect="1" noChangeArrowheads="1"/>
              </p:cNvSpPr>
              <p:nvPr/>
            </p:nvSpPr>
            <p:spPr bwMode="auto">
              <a:xfrm flipV="1">
                <a:off x="4666" y="3483"/>
                <a:ext cx="6"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78" name="AutoShape 799"/>
              <p:cNvSpPr>
                <a:spLocks noChangeAspect="1" noChangeArrowheads="1"/>
              </p:cNvSpPr>
              <p:nvPr/>
            </p:nvSpPr>
            <p:spPr bwMode="auto">
              <a:xfrm>
                <a:off x="4649" y="3470"/>
                <a:ext cx="6" cy="26"/>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79" name="AutoShape 800"/>
              <p:cNvSpPr>
                <a:spLocks noChangeAspect="1" noChangeArrowheads="1"/>
              </p:cNvSpPr>
              <p:nvPr/>
            </p:nvSpPr>
            <p:spPr bwMode="auto">
              <a:xfrm>
                <a:off x="4635" y="3461"/>
                <a:ext cx="5" cy="15"/>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80" name="AutoShape 801"/>
              <p:cNvSpPr>
                <a:spLocks noChangeAspect="1" noChangeArrowheads="1"/>
              </p:cNvSpPr>
              <p:nvPr/>
            </p:nvSpPr>
            <p:spPr bwMode="auto">
              <a:xfrm>
                <a:off x="4737" y="3447"/>
                <a:ext cx="4" cy="2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81" name="AutoShape 802"/>
              <p:cNvSpPr>
                <a:spLocks noChangeAspect="1" noChangeArrowheads="1"/>
              </p:cNvSpPr>
              <p:nvPr/>
            </p:nvSpPr>
            <p:spPr bwMode="auto">
              <a:xfrm>
                <a:off x="4717" y="3464"/>
                <a:ext cx="6" cy="2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82" name="AutoShape 803"/>
              <p:cNvSpPr>
                <a:spLocks noChangeAspect="1" noChangeArrowheads="1"/>
              </p:cNvSpPr>
              <p:nvPr/>
            </p:nvSpPr>
            <p:spPr bwMode="auto">
              <a:xfrm>
                <a:off x="4681" y="3493"/>
                <a:ext cx="5" cy="16"/>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83" name="AutoShape 804"/>
              <p:cNvSpPr>
                <a:spLocks noChangeAspect="1" noChangeArrowheads="1"/>
              </p:cNvSpPr>
              <p:nvPr/>
            </p:nvSpPr>
            <p:spPr bwMode="auto">
              <a:xfrm flipV="1">
                <a:off x="4703" y="3486"/>
                <a:ext cx="5" cy="1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84" name="AutoShape 805"/>
              <p:cNvSpPr>
                <a:spLocks noChangeAspect="1" noChangeArrowheads="1"/>
              </p:cNvSpPr>
              <p:nvPr/>
            </p:nvSpPr>
            <p:spPr bwMode="auto">
              <a:xfrm>
                <a:off x="4751" y="3445"/>
                <a:ext cx="6" cy="1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85" name="AutoShape 806"/>
              <p:cNvSpPr>
                <a:spLocks noChangeAspect="1" noChangeArrowheads="1"/>
              </p:cNvSpPr>
              <p:nvPr/>
            </p:nvSpPr>
            <p:spPr bwMode="auto">
              <a:xfrm>
                <a:off x="4771" y="3447"/>
                <a:ext cx="5" cy="10"/>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86" name="AutoShape 807"/>
              <p:cNvSpPr>
                <a:spLocks noChangeAspect="1" noChangeArrowheads="1"/>
              </p:cNvSpPr>
              <p:nvPr/>
            </p:nvSpPr>
            <p:spPr bwMode="auto">
              <a:xfrm>
                <a:off x="4771" y="3457"/>
                <a:ext cx="5" cy="10"/>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87" name="AutoShape 808"/>
              <p:cNvSpPr>
                <a:spLocks noChangeAspect="1" noChangeArrowheads="1"/>
              </p:cNvSpPr>
              <p:nvPr/>
            </p:nvSpPr>
            <p:spPr bwMode="auto">
              <a:xfrm>
                <a:off x="4803" y="3479"/>
                <a:ext cx="5"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88" name="AutoShape 809"/>
              <p:cNvSpPr>
                <a:spLocks noChangeAspect="1" noChangeArrowheads="1"/>
              </p:cNvSpPr>
              <p:nvPr/>
            </p:nvSpPr>
            <p:spPr bwMode="auto">
              <a:xfrm>
                <a:off x="4819" y="3491"/>
                <a:ext cx="6" cy="19"/>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89" name="AutoShape 810"/>
              <p:cNvSpPr>
                <a:spLocks noChangeAspect="1" noChangeArrowheads="1"/>
              </p:cNvSpPr>
              <p:nvPr/>
            </p:nvSpPr>
            <p:spPr bwMode="auto">
              <a:xfrm>
                <a:off x="4787" y="3465"/>
                <a:ext cx="5" cy="21"/>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90" name="Freeform 811"/>
              <p:cNvSpPr>
                <a:spLocks noChangeAspect="1"/>
              </p:cNvSpPr>
              <p:nvPr/>
            </p:nvSpPr>
            <p:spPr bwMode="auto">
              <a:xfrm>
                <a:off x="5385" y="344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591" name="AutoShape 812"/>
              <p:cNvSpPr>
                <a:spLocks noChangeAspect="1" noChangeArrowheads="1"/>
              </p:cNvSpPr>
              <p:nvPr/>
            </p:nvSpPr>
            <p:spPr bwMode="auto">
              <a:xfrm>
                <a:off x="4928" y="3444"/>
                <a:ext cx="6" cy="22"/>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92" name="AutoShape 813"/>
              <p:cNvSpPr>
                <a:spLocks noChangeAspect="1" noChangeArrowheads="1"/>
              </p:cNvSpPr>
              <p:nvPr/>
            </p:nvSpPr>
            <p:spPr bwMode="auto">
              <a:xfrm>
                <a:off x="4928" y="3466"/>
                <a:ext cx="6" cy="22"/>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93" name="AutoShape 814"/>
              <p:cNvSpPr>
                <a:spLocks noChangeAspect="1" noChangeArrowheads="1"/>
              </p:cNvSpPr>
              <p:nvPr/>
            </p:nvSpPr>
            <p:spPr bwMode="auto">
              <a:xfrm>
                <a:off x="5015" y="3449"/>
                <a:ext cx="5" cy="2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94" name="AutoShape 815"/>
              <p:cNvSpPr>
                <a:spLocks noChangeAspect="1" noChangeArrowheads="1"/>
              </p:cNvSpPr>
              <p:nvPr/>
            </p:nvSpPr>
            <p:spPr bwMode="auto">
              <a:xfrm>
                <a:off x="5015" y="3476"/>
                <a:ext cx="5" cy="2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95" name="AutoShape 816"/>
              <p:cNvSpPr>
                <a:spLocks noChangeAspect="1" noChangeArrowheads="1"/>
              </p:cNvSpPr>
              <p:nvPr/>
            </p:nvSpPr>
            <p:spPr bwMode="auto">
              <a:xfrm>
                <a:off x="4944" y="3478"/>
                <a:ext cx="5" cy="28"/>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96" name="AutoShape 817"/>
              <p:cNvSpPr>
                <a:spLocks noChangeAspect="1" noChangeArrowheads="1"/>
              </p:cNvSpPr>
              <p:nvPr/>
            </p:nvSpPr>
            <p:spPr bwMode="auto">
              <a:xfrm>
                <a:off x="4944" y="3450"/>
                <a:ext cx="5" cy="28"/>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97" name="AutoShape 818"/>
              <p:cNvSpPr>
                <a:spLocks noChangeAspect="1" noChangeArrowheads="1"/>
              </p:cNvSpPr>
              <p:nvPr/>
            </p:nvSpPr>
            <p:spPr bwMode="auto">
              <a:xfrm>
                <a:off x="5031" y="3444"/>
                <a:ext cx="5" cy="2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98" name="AutoShape 819"/>
              <p:cNvSpPr>
                <a:spLocks noChangeAspect="1" noChangeArrowheads="1"/>
              </p:cNvSpPr>
              <p:nvPr/>
            </p:nvSpPr>
            <p:spPr bwMode="auto">
              <a:xfrm>
                <a:off x="5031" y="3464"/>
                <a:ext cx="5" cy="19"/>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99" name="AutoShape 820"/>
              <p:cNvSpPr>
                <a:spLocks noChangeAspect="1" noChangeArrowheads="1"/>
              </p:cNvSpPr>
              <p:nvPr/>
            </p:nvSpPr>
            <p:spPr bwMode="auto">
              <a:xfrm>
                <a:off x="4960" y="3490"/>
                <a:ext cx="5" cy="2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00" name="AutoShape 821"/>
              <p:cNvSpPr>
                <a:spLocks noChangeAspect="1" noChangeArrowheads="1"/>
              </p:cNvSpPr>
              <p:nvPr/>
            </p:nvSpPr>
            <p:spPr bwMode="auto">
              <a:xfrm>
                <a:off x="4960" y="3469"/>
                <a:ext cx="5" cy="20"/>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01" name="AutoShape 822"/>
              <p:cNvSpPr>
                <a:spLocks noChangeAspect="1" noChangeArrowheads="1"/>
              </p:cNvSpPr>
              <p:nvPr/>
            </p:nvSpPr>
            <p:spPr bwMode="auto">
              <a:xfrm>
                <a:off x="4999" y="3468"/>
                <a:ext cx="5" cy="22"/>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02" name="AutoShape 823"/>
              <p:cNvSpPr>
                <a:spLocks noChangeAspect="1" noChangeArrowheads="1"/>
              </p:cNvSpPr>
              <p:nvPr/>
            </p:nvSpPr>
            <p:spPr bwMode="auto">
              <a:xfrm>
                <a:off x="4999" y="3489"/>
                <a:ext cx="5" cy="22"/>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03" name="AutoShape 824"/>
              <p:cNvSpPr>
                <a:spLocks noChangeAspect="1" noChangeArrowheads="1"/>
              </p:cNvSpPr>
              <p:nvPr/>
            </p:nvSpPr>
            <p:spPr bwMode="auto">
              <a:xfrm>
                <a:off x="4983" y="3499"/>
                <a:ext cx="4" cy="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04" name="AutoShape 825"/>
              <p:cNvSpPr>
                <a:spLocks noChangeAspect="1" noChangeArrowheads="1"/>
              </p:cNvSpPr>
              <p:nvPr/>
            </p:nvSpPr>
            <p:spPr bwMode="auto">
              <a:xfrm>
                <a:off x="4983" y="3491"/>
                <a:ext cx="4" cy="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05" name="AutoShape 826"/>
              <p:cNvSpPr>
                <a:spLocks noChangeAspect="1" noChangeArrowheads="1"/>
              </p:cNvSpPr>
              <p:nvPr/>
            </p:nvSpPr>
            <p:spPr bwMode="auto">
              <a:xfrm>
                <a:off x="5081" y="3474"/>
                <a:ext cx="4"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06" name="AutoShape 827"/>
              <p:cNvSpPr>
                <a:spLocks noChangeAspect="1" noChangeArrowheads="1"/>
              </p:cNvSpPr>
              <p:nvPr/>
            </p:nvSpPr>
            <p:spPr bwMode="auto">
              <a:xfrm>
                <a:off x="5081" y="3447"/>
                <a:ext cx="4" cy="2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07" name="AutoShape 828"/>
              <p:cNvSpPr>
                <a:spLocks noChangeAspect="1" noChangeArrowheads="1"/>
              </p:cNvSpPr>
              <p:nvPr/>
            </p:nvSpPr>
            <p:spPr bwMode="auto">
              <a:xfrm>
                <a:off x="5097" y="3487"/>
                <a:ext cx="5" cy="2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08" name="AutoShape 829"/>
              <p:cNvSpPr>
                <a:spLocks noChangeAspect="1" noChangeArrowheads="1"/>
              </p:cNvSpPr>
              <p:nvPr/>
            </p:nvSpPr>
            <p:spPr bwMode="auto">
              <a:xfrm>
                <a:off x="5097" y="3464"/>
                <a:ext cx="5" cy="2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09" name="AutoShape 830"/>
              <p:cNvSpPr>
                <a:spLocks noChangeAspect="1" noChangeArrowheads="1"/>
              </p:cNvSpPr>
              <p:nvPr/>
            </p:nvSpPr>
            <p:spPr bwMode="auto">
              <a:xfrm>
                <a:off x="5045" y="3448"/>
                <a:ext cx="5" cy="10"/>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10" name="AutoShape 831"/>
              <p:cNvSpPr>
                <a:spLocks noChangeAspect="1" noChangeArrowheads="1"/>
              </p:cNvSpPr>
              <p:nvPr/>
            </p:nvSpPr>
            <p:spPr bwMode="auto">
              <a:xfrm>
                <a:off x="5045" y="3458"/>
                <a:ext cx="5" cy="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11" name="AutoShape 832"/>
              <p:cNvSpPr>
                <a:spLocks noChangeAspect="1" noChangeArrowheads="1"/>
              </p:cNvSpPr>
              <p:nvPr/>
            </p:nvSpPr>
            <p:spPr bwMode="auto">
              <a:xfrm>
                <a:off x="5064" y="3461"/>
                <a:ext cx="5" cy="1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12" name="AutoShape 833"/>
              <p:cNvSpPr>
                <a:spLocks noChangeAspect="1" noChangeArrowheads="1"/>
              </p:cNvSpPr>
              <p:nvPr/>
            </p:nvSpPr>
            <p:spPr bwMode="auto">
              <a:xfrm>
                <a:off x="5064" y="3445"/>
                <a:ext cx="5" cy="1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13" name="AutoShape 834"/>
              <p:cNvSpPr>
                <a:spLocks noChangeAspect="1" noChangeArrowheads="1"/>
              </p:cNvSpPr>
              <p:nvPr/>
            </p:nvSpPr>
            <p:spPr bwMode="auto">
              <a:xfrm>
                <a:off x="5113" y="3488"/>
                <a:ext cx="6" cy="10"/>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14" name="AutoShape 835"/>
              <p:cNvSpPr>
                <a:spLocks noChangeAspect="1" noChangeArrowheads="1"/>
              </p:cNvSpPr>
              <p:nvPr/>
            </p:nvSpPr>
            <p:spPr bwMode="auto">
              <a:xfrm>
                <a:off x="5113" y="3498"/>
                <a:ext cx="6" cy="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15" name="AutoShape 836"/>
              <p:cNvSpPr>
                <a:spLocks noChangeAspect="1" noChangeArrowheads="1"/>
              </p:cNvSpPr>
              <p:nvPr/>
            </p:nvSpPr>
            <p:spPr bwMode="auto">
              <a:xfrm flipV="1">
                <a:off x="5180" y="3445"/>
                <a:ext cx="5" cy="1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16" name="AutoShape 837"/>
              <p:cNvSpPr>
                <a:spLocks noChangeAspect="1" noChangeArrowheads="1"/>
              </p:cNvSpPr>
              <p:nvPr/>
            </p:nvSpPr>
            <p:spPr bwMode="auto">
              <a:xfrm flipV="1">
                <a:off x="5180" y="3458"/>
                <a:ext cx="5" cy="1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17" name="AutoShape 838"/>
              <p:cNvSpPr>
                <a:spLocks noChangeAspect="1" noChangeArrowheads="1"/>
              </p:cNvSpPr>
              <p:nvPr/>
            </p:nvSpPr>
            <p:spPr bwMode="auto">
              <a:xfrm>
                <a:off x="5166" y="3470"/>
                <a:ext cx="6" cy="25"/>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18" name="AutoShape 839"/>
              <p:cNvSpPr>
                <a:spLocks noChangeAspect="1" noChangeArrowheads="1"/>
              </p:cNvSpPr>
              <p:nvPr/>
            </p:nvSpPr>
            <p:spPr bwMode="auto">
              <a:xfrm>
                <a:off x="5166" y="3445"/>
                <a:ext cx="6" cy="25"/>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19" name="AutoShape 840"/>
              <p:cNvSpPr>
                <a:spLocks noChangeAspect="1" noChangeArrowheads="1"/>
              </p:cNvSpPr>
              <p:nvPr/>
            </p:nvSpPr>
            <p:spPr bwMode="auto">
              <a:xfrm flipV="1">
                <a:off x="5150" y="3455"/>
                <a:ext cx="5"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20" name="AutoShape 841"/>
              <p:cNvSpPr>
                <a:spLocks noChangeAspect="1" noChangeArrowheads="1"/>
              </p:cNvSpPr>
              <p:nvPr/>
            </p:nvSpPr>
            <p:spPr bwMode="auto">
              <a:xfrm flipV="1">
                <a:off x="5150" y="3482"/>
                <a:ext cx="5" cy="26"/>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21" name="AutoShape 842"/>
              <p:cNvSpPr>
                <a:spLocks noChangeAspect="1" noChangeArrowheads="1"/>
              </p:cNvSpPr>
              <p:nvPr/>
            </p:nvSpPr>
            <p:spPr bwMode="auto">
              <a:xfrm>
                <a:off x="5134" y="3496"/>
                <a:ext cx="4" cy="13"/>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22" name="AutoShape 843"/>
              <p:cNvSpPr>
                <a:spLocks noChangeAspect="1" noChangeArrowheads="1"/>
              </p:cNvSpPr>
              <p:nvPr/>
            </p:nvSpPr>
            <p:spPr bwMode="auto">
              <a:xfrm>
                <a:off x="5134" y="3483"/>
                <a:ext cx="4" cy="13"/>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23" name="AutoShape 844"/>
              <p:cNvSpPr>
                <a:spLocks noChangeAspect="1" noChangeArrowheads="1"/>
              </p:cNvSpPr>
              <p:nvPr/>
            </p:nvSpPr>
            <p:spPr bwMode="auto">
              <a:xfrm flipV="1">
                <a:off x="5235" y="3483"/>
                <a:ext cx="5"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24" name="AutoShape 845"/>
              <p:cNvSpPr>
                <a:spLocks noChangeAspect="1" noChangeArrowheads="1"/>
              </p:cNvSpPr>
              <p:nvPr/>
            </p:nvSpPr>
            <p:spPr bwMode="auto">
              <a:xfrm flipV="1">
                <a:off x="5235" y="3457"/>
                <a:ext cx="5" cy="2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25" name="AutoShape 846"/>
              <p:cNvSpPr>
                <a:spLocks noChangeAspect="1" noChangeArrowheads="1"/>
              </p:cNvSpPr>
              <p:nvPr/>
            </p:nvSpPr>
            <p:spPr bwMode="auto">
              <a:xfrm>
                <a:off x="5217" y="3470"/>
                <a:ext cx="6" cy="26"/>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26" name="AutoShape 847"/>
              <p:cNvSpPr>
                <a:spLocks noChangeAspect="1" noChangeArrowheads="1"/>
              </p:cNvSpPr>
              <p:nvPr/>
            </p:nvSpPr>
            <p:spPr bwMode="auto">
              <a:xfrm>
                <a:off x="5217" y="3444"/>
                <a:ext cx="6" cy="26"/>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27" name="AutoShape 848"/>
              <p:cNvSpPr>
                <a:spLocks noChangeAspect="1" noChangeArrowheads="1"/>
              </p:cNvSpPr>
              <p:nvPr/>
            </p:nvSpPr>
            <p:spPr bwMode="auto">
              <a:xfrm>
                <a:off x="5203" y="3461"/>
                <a:ext cx="6" cy="15"/>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28" name="AutoShape 849"/>
              <p:cNvSpPr>
                <a:spLocks noChangeAspect="1" noChangeArrowheads="1"/>
              </p:cNvSpPr>
              <p:nvPr/>
            </p:nvSpPr>
            <p:spPr bwMode="auto">
              <a:xfrm>
                <a:off x="5203" y="3445"/>
                <a:ext cx="6" cy="15"/>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29" name="AutoShape 850"/>
              <p:cNvSpPr>
                <a:spLocks noChangeAspect="1" noChangeArrowheads="1"/>
              </p:cNvSpPr>
              <p:nvPr/>
            </p:nvSpPr>
            <p:spPr bwMode="auto">
              <a:xfrm>
                <a:off x="5304" y="3474"/>
                <a:ext cx="5"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30" name="AutoShape 851"/>
              <p:cNvSpPr>
                <a:spLocks noChangeAspect="1" noChangeArrowheads="1"/>
              </p:cNvSpPr>
              <p:nvPr/>
            </p:nvSpPr>
            <p:spPr bwMode="auto">
              <a:xfrm>
                <a:off x="5304" y="3447"/>
                <a:ext cx="5" cy="2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31" name="AutoShape 852"/>
              <p:cNvSpPr>
                <a:spLocks noChangeAspect="1" noChangeArrowheads="1"/>
              </p:cNvSpPr>
              <p:nvPr/>
            </p:nvSpPr>
            <p:spPr bwMode="auto">
              <a:xfrm>
                <a:off x="5286" y="3487"/>
                <a:ext cx="5" cy="24"/>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32" name="AutoShape 853"/>
              <p:cNvSpPr>
                <a:spLocks noChangeAspect="1" noChangeArrowheads="1"/>
              </p:cNvSpPr>
              <p:nvPr/>
            </p:nvSpPr>
            <p:spPr bwMode="auto">
              <a:xfrm>
                <a:off x="5286" y="3464"/>
                <a:ext cx="5" cy="24"/>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33" name="AutoShape 854"/>
              <p:cNvSpPr>
                <a:spLocks noChangeAspect="1" noChangeArrowheads="1"/>
              </p:cNvSpPr>
              <p:nvPr/>
            </p:nvSpPr>
            <p:spPr bwMode="auto">
              <a:xfrm>
                <a:off x="5249" y="3493"/>
                <a:ext cx="5" cy="16"/>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34" name="AutoShape 855"/>
              <p:cNvSpPr>
                <a:spLocks noChangeAspect="1" noChangeArrowheads="1"/>
              </p:cNvSpPr>
              <p:nvPr/>
            </p:nvSpPr>
            <p:spPr bwMode="auto">
              <a:xfrm>
                <a:off x="5249" y="3477"/>
                <a:ext cx="5" cy="16"/>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35" name="AutoShape 856"/>
              <p:cNvSpPr>
                <a:spLocks noChangeAspect="1" noChangeArrowheads="1"/>
              </p:cNvSpPr>
              <p:nvPr/>
            </p:nvSpPr>
            <p:spPr bwMode="auto">
              <a:xfrm flipV="1">
                <a:off x="5270" y="3486"/>
                <a:ext cx="6" cy="1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36" name="AutoShape 857"/>
              <p:cNvSpPr>
                <a:spLocks noChangeAspect="1" noChangeArrowheads="1"/>
              </p:cNvSpPr>
              <p:nvPr/>
            </p:nvSpPr>
            <p:spPr bwMode="auto">
              <a:xfrm flipV="1">
                <a:off x="5270" y="3497"/>
                <a:ext cx="6" cy="10"/>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37" name="AutoShape 858"/>
              <p:cNvSpPr>
                <a:spLocks noChangeAspect="1" noChangeArrowheads="1"/>
              </p:cNvSpPr>
              <p:nvPr/>
            </p:nvSpPr>
            <p:spPr bwMode="auto">
              <a:xfrm>
                <a:off x="5320" y="3461"/>
                <a:ext cx="5" cy="1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38" name="AutoShape 859"/>
              <p:cNvSpPr>
                <a:spLocks noChangeAspect="1" noChangeArrowheads="1"/>
              </p:cNvSpPr>
              <p:nvPr/>
            </p:nvSpPr>
            <p:spPr bwMode="auto">
              <a:xfrm>
                <a:off x="5320" y="3445"/>
                <a:ext cx="5" cy="1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39" name="AutoShape 860"/>
              <p:cNvSpPr>
                <a:spLocks noChangeAspect="1" noChangeArrowheads="1"/>
              </p:cNvSpPr>
              <p:nvPr/>
            </p:nvSpPr>
            <p:spPr bwMode="auto">
              <a:xfrm>
                <a:off x="5339" y="3447"/>
                <a:ext cx="5" cy="10"/>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40" name="AutoShape 861"/>
              <p:cNvSpPr>
                <a:spLocks noChangeAspect="1" noChangeArrowheads="1"/>
              </p:cNvSpPr>
              <p:nvPr/>
            </p:nvSpPr>
            <p:spPr bwMode="auto">
              <a:xfrm>
                <a:off x="5339" y="3457"/>
                <a:ext cx="5" cy="10"/>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41" name="AutoShape 862"/>
              <p:cNvSpPr>
                <a:spLocks noChangeAspect="1" noChangeArrowheads="1"/>
              </p:cNvSpPr>
              <p:nvPr/>
            </p:nvSpPr>
            <p:spPr bwMode="auto">
              <a:xfrm>
                <a:off x="5371" y="3479"/>
                <a:ext cx="5" cy="27"/>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42" name="AutoShape 863"/>
              <p:cNvSpPr>
                <a:spLocks noChangeAspect="1" noChangeArrowheads="1"/>
              </p:cNvSpPr>
              <p:nvPr/>
            </p:nvSpPr>
            <p:spPr bwMode="auto">
              <a:xfrm>
                <a:off x="5371" y="3452"/>
                <a:ext cx="5" cy="2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43" name="AutoShape 864"/>
              <p:cNvSpPr>
                <a:spLocks noChangeAspect="1" noChangeArrowheads="1"/>
              </p:cNvSpPr>
              <p:nvPr/>
            </p:nvSpPr>
            <p:spPr bwMode="auto">
              <a:xfrm>
                <a:off x="5388" y="3491"/>
                <a:ext cx="5" cy="19"/>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44" name="AutoShape 865"/>
              <p:cNvSpPr>
                <a:spLocks noChangeAspect="1" noChangeArrowheads="1"/>
              </p:cNvSpPr>
              <p:nvPr/>
            </p:nvSpPr>
            <p:spPr bwMode="auto">
              <a:xfrm>
                <a:off x="5388" y="3472"/>
                <a:ext cx="5" cy="19"/>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45" name="AutoShape 866"/>
              <p:cNvSpPr>
                <a:spLocks noChangeAspect="1" noChangeArrowheads="1"/>
              </p:cNvSpPr>
              <p:nvPr/>
            </p:nvSpPr>
            <p:spPr bwMode="auto">
              <a:xfrm>
                <a:off x="5355" y="3465"/>
                <a:ext cx="5" cy="21"/>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46" name="AutoShape 867"/>
              <p:cNvSpPr>
                <a:spLocks noChangeAspect="1" noChangeArrowheads="1"/>
              </p:cNvSpPr>
              <p:nvPr/>
            </p:nvSpPr>
            <p:spPr bwMode="auto">
              <a:xfrm>
                <a:off x="5355" y="3445"/>
                <a:ext cx="5" cy="21"/>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47" name="AutoShape 868"/>
              <p:cNvSpPr>
                <a:spLocks noChangeAspect="1" noChangeArrowheads="1"/>
              </p:cNvSpPr>
              <p:nvPr/>
            </p:nvSpPr>
            <p:spPr bwMode="auto">
              <a:xfrm>
                <a:off x="4874" y="3449"/>
                <a:ext cx="5" cy="27"/>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48" name="AutoShape 869"/>
              <p:cNvSpPr>
                <a:spLocks noChangeAspect="1" noChangeArrowheads="1"/>
              </p:cNvSpPr>
              <p:nvPr/>
            </p:nvSpPr>
            <p:spPr bwMode="auto">
              <a:xfrm>
                <a:off x="4874" y="3476"/>
                <a:ext cx="5" cy="27"/>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49" name="AutoShape 870"/>
              <p:cNvSpPr>
                <a:spLocks noChangeAspect="1" noChangeArrowheads="1"/>
              </p:cNvSpPr>
              <p:nvPr/>
            </p:nvSpPr>
            <p:spPr bwMode="auto">
              <a:xfrm>
                <a:off x="4890" y="3444"/>
                <a:ext cx="4" cy="20"/>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50" name="AutoShape 871"/>
              <p:cNvSpPr>
                <a:spLocks noChangeAspect="1" noChangeArrowheads="1"/>
              </p:cNvSpPr>
              <p:nvPr/>
            </p:nvSpPr>
            <p:spPr bwMode="auto">
              <a:xfrm>
                <a:off x="4890" y="3464"/>
                <a:ext cx="4" cy="19"/>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51" name="AutoShape 872"/>
              <p:cNvSpPr>
                <a:spLocks noChangeAspect="1" noChangeArrowheads="1"/>
              </p:cNvSpPr>
              <p:nvPr/>
            </p:nvSpPr>
            <p:spPr bwMode="auto">
              <a:xfrm>
                <a:off x="4857" y="3468"/>
                <a:ext cx="5" cy="22"/>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52" name="AutoShape 873"/>
              <p:cNvSpPr>
                <a:spLocks noChangeAspect="1" noChangeArrowheads="1"/>
              </p:cNvSpPr>
              <p:nvPr/>
            </p:nvSpPr>
            <p:spPr bwMode="auto">
              <a:xfrm>
                <a:off x="4857" y="3489"/>
                <a:ext cx="5" cy="22"/>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53" name="AutoShape 874"/>
              <p:cNvSpPr>
                <a:spLocks noChangeAspect="1" noChangeArrowheads="1"/>
              </p:cNvSpPr>
              <p:nvPr/>
            </p:nvSpPr>
            <p:spPr bwMode="auto">
              <a:xfrm>
                <a:off x="4840" y="3498"/>
                <a:ext cx="5" cy="7"/>
              </a:xfrm>
              <a:prstGeom prst="roundRect">
                <a:avLst>
                  <a:gd name="adj" fmla="val 16667"/>
                </a:avLst>
              </a:prstGeom>
              <a:gradFill rotWithShape="1">
                <a:gsLst>
                  <a:gs pos="0">
                    <a:srgbClr val="8488C4"/>
                  </a:gs>
                  <a:gs pos="53000">
                    <a:srgbClr val="D4DEFF"/>
                  </a:gs>
                  <a:gs pos="83000">
                    <a:srgbClr val="D4DEFF"/>
                  </a:gs>
                  <a:gs pos="100000">
                    <a:srgbClr val="96AB94"/>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54" name="AutoShape 875"/>
              <p:cNvSpPr>
                <a:spLocks noChangeAspect="1" noChangeArrowheads="1"/>
              </p:cNvSpPr>
              <p:nvPr/>
            </p:nvSpPr>
            <p:spPr bwMode="auto">
              <a:xfrm>
                <a:off x="4840" y="3490"/>
                <a:ext cx="5" cy="8"/>
              </a:xfrm>
              <a:prstGeom prst="roundRect">
                <a:avLst>
                  <a:gd name="adj" fmla="val 16667"/>
                </a:avLst>
              </a:prstGeom>
              <a:solidFill>
                <a:srgbClr val="00FF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55" name="AutoShape 876"/>
              <p:cNvSpPr>
                <a:spLocks noChangeAspect="1" noChangeArrowheads="1"/>
              </p:cNvSpPr>
              <p:nvPr/>
            </p:nvSpPr>
            <p:spPr bwMode="auto">
              <a:xfrm flipV="1">
                <a:off x="4902" y="3457"/>
                <a:ext cx="5" cy="9"/>
              </a:xfrm>
              <a:prstGeom prst="roundRect">
                <a:avLst>
                  <a:gd name="adj" fmla="val 16667"/>
                </a:avLst>
              </a:prstGeom>
              <a:gradFill rotWithShape="1">
                <a:gsLst>
                  <a:gs pos="0">
                    <a:srgbClr val="8C3D91"/>
                  </a:gs>
                  <a:gs pos="12000">
                    <a:srgbClr val="7005D4"/>
                  </a:gs>
                  <a:gs pos="30000">
                    <a:srgbClr val="181CC7"/>
                  </a:gs>
                  <a:gs pos="60001">
                    <a:srgbClr val="0A128C"/>
                  </a:gs>
                  <a:gs pos="100000">
                    <a:srgbClr val="000000"/>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56" name="AutoShape 877"/>
              <p:cNvSpPr>
                <a:spLocks noChangeAspect="1" noChangeArrowheads="1"/>
              </p:cNvSpPr>
              <p:nvPr/>
            </p:nvSpPr>
            <p:spPr bwMode="auto">
              <a:xfrm>
                <a:off x="4902" y="3447"/>
                <a:ext cx="5" cy="10"/>
              </a:xfrm>
              <a:prstGeom prst="roundRect">
                <a:avLst>
                  <a:gd name="adj" fmla="val 16667"/>
                </a:avLst>
              </a:prstGeom>
              <a:gradFill rotWithShape="1">
                <a:gsLst>
                  <a:gs pos="0">
                    <a:srgbClr val="FFF200"/>
                  </a:gs>
                  <a:gs pos="45000">
                    <a:srgbClr val="FF7A00"/>
                  </a:gs>
                  <a:gs pos="70000">
                    <a:srgbClr val="FF0300"/>
                  </a:gs>
                  <a:gs pos="100000">
                    <a:srgbClr val="4D0808"/>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657" name="Freeform 878"/>
              <p:cNvSpPr>
                <a:spLocks noChangeAspect="1"/>
              </p:cNvSpPr>
              <p:nvPr/>
            </p:nvSpPr>
            <p:spPr bwMode="auto">
              <a:xfrm flipH="1">
                <a:off x="5355" y="344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658" name="Freeform 879"/>
              <p:cNvSpPr>
                <a:spLocks noChangeAspect="1"/>
              </p:cNvSpPr>
              <p:nvPr/>
            </p:nvSpPr>
            <p:spPr bwMode="auto">
              <a:xfrm flipH="1">
                <a:off x="5314" y="344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659" name="Freeform 880"/>
              <p:cNvSpPr>
                <a:spLocks noChangeAspect="1"/>
              </p:cNvSpPr>
              <p:nvPr/>
            </p:nvSpPr>
            <p:spPr bwMode="auto">
              <a:xfrm flipH="1">
                <a:off x="5213" y="344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660" name="Freeform 881"/>
              <p:cNvSpPr>
                <a:spLocks noChangeAspect="1"/>
              </p:cNvSpPr>
              <p:nvPr/>
            </p:nvSpPr>
            <p:spPr bwMode="auto">
              <a:xfrm flipH="1">
                <a:off x="5172" y="344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661" name="Freeform 882"/>
              <p:cNvSpPr>
                <a:spLocks noChangeAspect="1"/>
              </p:cNvSpPr>
              <p:nvPr/>
            </p:nvSpPr>
            <p:spPr bwMode="auto">
              <a:xfrm flipH="1">
                <a:off x="5071" y="3443"/>
                <a:ext cx="75"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662" name="Freeform 883"/>
              <p:cNvSpPr>
                <a:spLocks noChangeAspect="1"/>
              </p:cNvSpPr>
              <p:nvPr/>
            </p:nvSpPr>
            <p:spPr bwMode="auto">
              <a:xfrm flipH="1">
                <a:off x="5030" y="3443"/>
                <a:ext cx="75"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663" name="Freeform 884"/>
              <p:cNvSpPr>
                <a:spLocks noChangeAspect="1"/>
              </p:cNvSpPr>
              <p:nvPr/>
            </p:nvSpPr>
            <p:spPr bwMode="auto">
              <a:xfrm flipH="1">
                <a:off x="4930" y="344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4D0808"/>
                  </a:gs>
                  <a:gs pos="14999">
                    <a:srgbClr val="FF0300"/>
                  </a:gs>
                  <a:gs pos="27499">
                    <a:srgbClr val="FF7A00"/>
                  </a:gs>
                  <a:gs pos="50000">
                    <a:srgbClr val="FFF200"/>
                  </a:gs>
                  <a:gs pos="72501">
                    <a:srgbClr val="FF7A00"/>
                  </a:gs>
                  <a:gs pos="85001">
                    <a:srgbClr val="FF0300"/>
                  </a:gs>
                  <a:gs pos="100000">
                    <a:srgbClr val="4D0808"/>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664" name="Freeform 885"/>
              <p:cNvSpPr>
                <a:spLocks noChangeAspect="1"/>
              </p:cNvSpPr>
              <p:nvPr/>
            </p:nvSpPr>
            <p:spPr bwMode="auto">
              <a:xfrm flipH="1">
                <a:off x="4889" y="3443"/>
                <a:ext cx="73"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665" name="Freeform 886"/>
              <p:cNvSpPr>
                <a:spLocks noChangeAspect="1"/>
              </p:cNvSpPr>
              <p:nvPr/>
            </p:nvSpPr>
            <p:spPr bwMode="auto">
              <a:xfrm flipH="1">
                <a:off x="4745" y="3443"/>
                <a:ext cx="75"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666" name="Freeform 887"/>
              <p:cNvSpPr>
                <a:spLocks noChangeAspect="1"/>
              </p:cNvSpPr>
              <p:nvPr/>
            </p:nvSpPr>
            <p:spPr bwMode="auto">
              <a:xfrm flipH="1">
                <a:off x="4603" y="3443"/>
                <a:ext cx="75"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667" name="Freeform 888"/>
              <p:cNvSpPr>
                <a:spLocks noChangeAspect="1"/>
              </p:cNvSpPr>
              <p:nvPr/>
            </p:nvSpPr>
            <p:spPr bwMode="auto">
              <a:xfrm flipH="1">
                <a:off x="4462" y="344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47668" name="Freeform 889"/>
              <p:cNvSpPr>
                <a:spLocks noChangeAspect="1"/>
              </p:cNvSpPr>
              <p:nvPr/>
            </p:nvSpPr>
            <p:spPr bwMode="auto">
              <a:xfrm flipH="1">
                <a:off x="4320" y="3443"/>
                <a:ext cx="74" cy="69"/>
              </a:xfrm>
              <a:custGeom>
                <a:avLst/>
                <a:gdLst>
                  <a:gd name="T0" fmla="*/ 0 w 2730"/>
                  <a:gd name="T1" fmla="*/ 0 h 2533"/>
                  <a:gd name="T2" fmla="*/ 0 w 2730"/>
                  <a:gd name="T3" fmla="*/ 0 h 2533"/>
                  <a:gd name="T4" fmla="*/ 0 w 2730"/>
                  <a:gd name="T5" fmla="*/ 0 h 2533"/>
                  <a:gd name="T6" fmla="*/ 0 w 2730"/>
                  <a:gd name="T7" fmla="*/ 0 h 2533"/>
                  <a:gd name="T8" fmla="*/ 0 w 2730"/>
                  <a:gd name="T9" fmla="*/ 0 h 2533"/>
                  <a:gd name="T10" fmla="*/ 0 w 2730"/>
                  <a:gd name="T11" fmla="*/ 0 h 2533"/>
                  <a:gd name="T12" fmla="*/ 0 w 2730"/>
                  <a:gd name="T13" fmla="*/ 0 h 2533"/>
                  <a:gd name="T14" fmla="*/ 0 w 2730"/>
                  <a:gd name="T15" fmla="*/ 0 h 2533"/>
                  <a:gd name="T16" fmla="*/ 0 w 2730"/>
                  <a:gd name="T17" fmla="*/ 0 h 2533"/>
                  <a:gd name="T18" fmla="*/ 0 w 2730"/>
                  <a:gd name="T19" fmla="*/ 0 h 2533"/>
                  <a:gd name="T20" fmla="*/ 0 w 2730"/>
                  <a:gd name="T21" fmla="*/ 0 h 2533"/>
                  <a:gd name="T22" fmla="*/ 0 w 2730"/>
                  <a:gd name="T23" fmla="*/ 0 h 2533"/>
                  <a:gd name="T24" fmla="*/ 0 w 2730"/>
                  <a:gd name="T25" fmla="*/ 0 h 2533"/>
                  <a:gd name="T26" fmla="*/ 0 w 2730"/>
                  <a:gd name="T27" fmla="*/ 0 h 2533"/>
                  <a:gd name="T28" fmla="*/ 0 w 2730"/>
                  <a:gd name="T29" fmla="*/ 0 h 253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730"/>
                  <a:gd name="T46" fmla="*/ 0 h 2533"/>
                  <a:gd name="T47" fmla="*/ 2730 w 2730"/>
                  <a:gd name="T48" fmla="*/ 2533 h 253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730" h="2533">
                    <a:moveTo>
                      <a:pt x="41" y="2512"/>
                    </a:moveTo>
                    <a:cubicBezTo>
                      <a:pt x="0" y="2505"/>
                      <a:pt x="225" y="2451"/>
                      <a:pt x="310" y="2397"/>
                    </a:cubicBezTo>
                    <a:cubicBezTo>
                      <a:pt x="395" y="2343"/>
                      <a:pt x="478" y="2265"/>
                      <a:pt x="550" y="2186"/>
                    </a:cubicBezTo>
                    <a:cubicBezTo>
                      <a:pt x="622" y="2107"/>
                      <a:pt x="624" y="2108"/>
                      <a:pt x="742" y="1924"/>
                    </a:cubicBezTo>
                    <a:cubicBezTo>
                      <a:pt x="860" y="1740"/>
                      <a:pt x="1080" y="1348"/>
                      <a:pt x="1261" y="1084"/>
                    </a:cubicBezTo>
                    <a:cubicBezTo>
                      <a:pt x="1442" y="820"/>
                      <a:pt x="1661" y="514"/>
                      <a:pt x="1831" y="342"/>
                    </a:cubicBezTo>
                    <a:cubicBezTo>
                      <a:pt x="2001" y="170"/>
                      <a:pt x="2137" y="108"/>
                      <a:pt x="2282" y="54"/>
                    </a:cubicBezTo>
                    <a:cubicBezTo>
                      <a:pt x="2427" y="0"/>
                      <a:pt x="2676" y="6"/>
                      <a:pt x="2703" y="18"/>
                    </a:cubicBezTo>
                    <a:cubicBezTo>
                      <a:pt x="2730" y="30"/>
                      <a:pt x="2522" y="77"/>
                      <a:pt x="2441" y="126"/>
                    </a:cubicBezTo>
                    <a:cubicBezTo>
                      <a:pt x="2360" y="175"/>
                      <a:pt x="2292" y="231"/>
                      <a:pt x="2214" y="314"/>
                    </a:cubicBezTo>
                    <a:cubicBezTo>
                      <a:pt x="2136" y="397"/>
                      <a:pt x="2060" y="494"/>
                      <a:pt x="1971" y="623"/>
                    </a:cubicBezTo>
                    <a:cubicBezTo>
                      <a:pt x="1882" y="752"/>
                      <a:pt x="1823" y="867"/>
                      <a:pt x="1678" y="1089"/>
                    </a:cubicBezTo>
                    <a:cubicBezTo>
                      <a:pt x="1533" y="1311"/>
                      <a:pt x="1289" y="1728"/>
                      <a:pt x="1102" y="1953"/>
                    </a:cubicBezTo>
                    <a:cubicBezTo>
                      <a:pt x="915" y="2178"/>
                      <a:pt x="731" y="2347"/>
                      <a:pt x="554" y="2440"/>
                    </a:cubicBezTo>
                    <a:cubicBezTo>
                      <a:pt x="377" y="2533"/>
                      <a:pt x="82" y="2519"/>
                      <a:pt x="41" y="2512"/>
                    </a:cubicBezTo>
                    <a:close/>
                  </a:path>
                </a:pathLst>
              </a:custGeom>
              <a:gradFill rotWithShape="1">
                <a:gsLst>
                  <a:gs pos="0">
                    <a:srgbClr val="000000"/>
                  </a:gs>
                  <a:gs pos="50000">
                    <a:srgbClr val="C7FF29"/>
                  </a:gs>
                  <a:gs pos="100000">
                    <a:srgbClr val="000000"/>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sp>
          <p:nvSpPr>
            <p:cNvPr id="147540" name="AutoShape 890"/>
            <p:cNvSpPr>
              <a:spLocks noChangeArrowheads="1"/>
            </p:cNvSpPr>
            <p:nvPr/>
          </p:nvSpPr>
          <p:spPr bwMode="auto">
            <a:xfrm>
              <a:off x="4759" y="3621"/>
              <a:ext cx="220" cy="228"/>
            </a:xfrm>
            <a:prstGeom prst="roundRect">
              <a:avLst>
                <a:gd name="adj" fmla="val 16667"/>
              </a:avLst>
            </a:prstGeom>
            <a:gradFill rotWithShape="1">
              <a:gsLst>
                <a:gs pos="0">
                  <a:srgbClr val="2F7618">
                    <a:alpha val="70000"/>
                  </a:srgbClr>
                </a:gs>
                <a:gs pos="50000">
                  <a:srgbClr val="66FF33">
                    <a:alpha val="70000"/>
                  </a:srgbClr>
                </a:gs>
                <a:gs pos="100000">
                  <a:srgbClr val="2F7618">
                    <a:alpha val="70000"/>
                  </a:srgbClr>
                </a:gs>
              </a:gsLst>
              <a:lin ang="5400000" scaled="1"/>
            </a:gradFill>
            <a:ln w="3175" algn="ctr">
              <a:solidFill>
                <a:srgbClr val="66FF33"/>
              </a:solidFill>
              <a:rou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kumimoji="0" lang="en-US" altLang="zh-CN" sz="600" b="1">
                  <a:latin typeface="Arial" panose="020B0604020202020204" pitchFamily="34" charset="0"/>
                </a:rPr>
                <a:t>Klenow</a:t>
              </a:r>
            </a:p>
            <a:p>
              <a:pPr algn="ctr" eaLnBrk="1" hangingPunct="1">
                <a:spcBef>
                  <a:spcPct val="0"/>
                </a:spcBef>
                <a:buFontTx/>
                <a:buNone/>
              </a:pPr>
              <a:r>
                <a:rPr kumimoji="0" lang="en-US" altLang="zh-CN" sz="600" b="1">
                  <a:latin typeface="Arial" panose="020B0604020202020204" pitchFamily="34" charset="0"/>
                </a:rPr>
                <a:t/>
              </a:r>
              <a:br>
                <a:rPr kumimoji="0" lang="en-US" altLang="zh-CN" sz="600" b="1">
                  <a:latin typeface="Arial" panose="020B0604020202020204" pitchFamily="34" charset="0"/>
                </a:rPr>
              </a:br>
              <a:r>
                <a:rPr kumimoji="0" lang="en-US" altLang="zh-CN" sz="600" b="1">
                  <a:latin typeface="Arial" panose="020B0604020202020204" pitchFamily="34" charset="0"/>
                </a:rPr>
                <a:t>Fragment</a:t>
              </a:r>
            </a:p>
          </p:txBody>
        </p:sp>
        <p:sp>
          <p:nvSpPr>
            <p:cNvPr id="147541" name="Line 891"/>
            <p:cNvSpPr>
              <a:spLocks noChangeShapeType="1"/>
            </p:cNvSpPr>
            <p:nvPr/>
          </p:nvSpPr>
          <p:spPr bwMode="auto">
            <a:xfrm flipH="1">
              <a:off x="4489" y="3813"/>
              <a:ext cx="248" cy="0"/>
            </a:xfrm>
            <a:prstGeom prst="line">
              <a:avLst/>
            </a:prstGeom>
            <a:noFill/>
            <a:ln w="28575">
              <a:solidFill>
                <a:srgbClr val="0099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7644" name="AutoShape 892"/>
            <p:cNvSpPr>
              <a:spLocks noChangeAspect="1" noChangeArrowheads="1"/>
            </p:cNvSpPr>
            <p:nvPr/>
          </p:nvSpPr>
          <p:spPr bwMode="auto">
            <a:xfrm>
              <a:off x="5298" y="3697"/>
              <a:ext cx="6" cy="6"/>
            </a:xfrm>
            <a:prstGeom prst="star5">
              <a:avLst/>
            </a:prstGeom>
            <a:noFill/>
            <a:ln w="28575" algn="ctr">
              <a:solidFill>
                <a:srgbClr val="FF0000"/>
              </a:solidFill>
              <a:miter lim="800000"/>
            </a:ln>
            <a:effectLst/>
          </p:spPr>
          <p:txBody>
            <a:bodyPr wrap="none" anchor="ctr"/>
            <a:lstStyle/>
            <a:p>
              <a:pPr eaLnBrk="1" hangingPunct="1">
                <a:defRPr/>
              </a:pPr>
              <a:endParaRPr lang="zh-CN" altLang="en-US">
                <a:ea typeface="宋体" panose="02010600030101010101" pitchFamily="2" charset="-122"/>
              </a:endParaRPr>
            </a:p>
          </p:txBody>
        </p:sp>
        <p:sp>
          <p:nvSpPr>
            <p:cNvPr id="587645" name="AutoShape 893"/>
            <p:cNvSpPr>
              <a:spLocks noChangeAspect="1" noChangeArrowheads="1"/>
            </p:cNvSpPr>
            <p:nvPr/>
          </p:nvSpPr>
          <p:spPr bwMode="auto">
            <a:xfrm>
              <a:off x="5143" y="3696"/>
              <a:ext cx="6" cy="6"/>
            </a:xfrm>
            <a:prstGeom prst="star5">
              <a:avLst/>
            </a:prstGeom>
            <a:noFill/>
            <a:ln w="28575" algn="ctr">
              <a:solidFill>
                <a:srgbClr val="FF0000"/>
              </a:solidFill>
              <a:miter lim="800000"/>
            </a:ln>
            <a:effectLst/>
          </p:spPr>
          <p:txBody>
            <a:bodyPr wrap="none" anchor="ctr"/>
            <a:lstStyle/>
            <a:p>
              <a:pPr eaLnBrk="1" hangingPunct="1">
                <a:defRPr/>
              </a:pPr>
              <a:endParaRPr lang="zh-CN" altLang="en-US">
                <a:ea typeface="宋体" panose="02010600030101010101" pitchFamily="2" charset="-122"/>
              </a:endParaRPr>
            </a:p>
          </p:txBody>
        </p:sp>
        <p:sp>
          <p:nvSpPr>
            <p:cNvPr id="587646" name="AutoShape 894"/>
            <p:cNvSpPr>
              <a:spLocks noChangeAspect="1" noChangeArrowheads="1"/>
            </p:cNvSpPr>
            <p:nvPr/>
          </p:nvSpPr>
          <p:spPr bwMode="auto">
            <a:xfrm>
              <a:off x="5005" y="3696"/>
              <a:ext cx="6" cy="6"/>
            </a:xfrm>
            <a:prstGeom prst="star5">
              <a:avLst/>
            </a:prstGeom>
            <a:noFill/>
            <a:ln w="28575" algn="ctr">
              <a:solidFill>
                <a:srgbClr val="FF0000"/>
              </a:solidFill>
              <a:miter lim="800000"/>
            </a:ln>
            <a:effectLst/>
          </p:spPr>
          <p:txBody>
            <a:bodyPr wrap="none" anchor="ctr"/>
            <a:lstStyle/>
            <a:p>
              <a:pPr eaLnBrk="1" hangingPunct="1">
                <a:defRPr/>
              </a:pPr>
              <a:endParaRPr lang="zh-CN" altLang="en-US">
                <a:ea typeface="宋体" panose="02010600030101010101" pitchFamily="2" charset="-122"/>
              </a:endParaRPr>
            </a:p>
          </p:txBody>
        </p:sp>
        <p:grpSp>
          <p:nvGrpSpPr>
            <p:cNvPr id="147545" name="Group 895"/>
            <p:cNvGrpSpPr>
              <a:grpSpLocks noChangeAspect="1"/>
            </p:cNvGrpSpPr>
            <p:nvPr/>
          </p:nvGrpSpPr>
          <p:grpSpPr bwMode="auto">
            <a:xfrm>
              <a:off x="4179" y="3655"/>
              <a:ext cx="54" cy="71"/>
              <a:chOff x="3743" y="2439"/>
              <a:chExt cx="164" cy="216"/>
            </a:xfrm>
          </p:grpSpPr>
          <p:sp>
            <p:nvSpPr>
              <p:cNvPr id="147546" name="Freeform 896"/>
              <p:cNvSpPr>
                <a:spLocks noChangeAspect="1"/>
              </p:cNvSpPr>
              <p:nvPr/>
            </p:nvSpPr>
            <p:spPr bwMode="auto">
              <a:xfrm>
                <a:off x="3743" y="2465"/>
                <a:ext cx="117" cy="190"/>
              </a:xfrm>
              <a:custGeom>
                <a:avLst/>
                <a:gdLst>
                  <a:gd name="T0" fmla="*/ 3 w 387"/>
                  <a:gd name="T1" fmla="*/ 0 h 625"/>
                  <a:gd name="T2" fmla="*/ 1 w 387"/>
                  <a:gd name="T3" fmla="*/ 0 h 625"/>
                  <a:gd name="T4" fmla="*/ 0 w 387"/>
                  <a:gd name="T5" fmla="*/ 2 h 625"/>
                  <a:gd name="T6" fmla="*/ 1 w 387"/>
                  <a:gd name="T7" fmla="*/ 2 h 625"/>
                  <a:gd name="T8" fmla="*/ 2 w 387"/>
                  <a:gd name="T9" fmla="*/ 2 h 625"/>
                  <a:gd name="T10" fmla="*/ 3 w 387"/>
                  <a:gd name="T11" fmla="*/ 2 h 625"/>
                  <a:gd name="T12" fmla="*/ 3 w 387"/>
                  <a:gd name="T13" fmla="*/ 4 h 625"/>
                  <a:gd name="T14" fmla="*/ 3 w 387"/>
                  <a:gd name="T15" fmla="*/ 5 h 625"/>
                  <a:gd name="T16" fmla="*/ 2 w 387"/>
                  <a:gd name="T17" fmla="*/ 5 h 625"/>
                  <a:gd name="T18" fmla="*/ 1 w 387"/>
                  <a:gd name="T19" fmla="*/ 5 h 625"/>
                  <a:gd name="T20" fmla="*/ 0 w 387"/>
                  <a:gd name="T21" fmla="*/ 4 h 62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87"/>
                  <a:gd name="T34" fmla="*/ 0 h 625"/>
                  <a:gd name="T35" fmla="*/ 387 w 387"/>
                  <a:gd name="T36" fmla="*/ 625 h 62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87" h="625">
                    <a:moveTo>
                      <a:pt x="387" y="7"/>
                    </a:moveTo>
                    <a:lnTo>
                      <a:pt x="86" y="0"/>
                    </a:lnTo>
                    <a:lnTo>
                      <a:pt x="28" y="295"/>
                    </a:lnTo>
                    <a:cubicBezTo>
                      <a:pt x="31" y="337"/>
                      <a:pt x="71" y="261"/>
                      <a:pt x="105" y="250"/>
                    </a:cubicBezTo>
                    <a:cubicBezTo>
                      <a:pt x="139" y="239"/>
                      <a:pt x="194" y="225"/>
                      <a:pt x="233" y="231"/>
                    </a:cubicBezTo>
                    <a:cubicBezTo>
                      <a:pt x="272" y="237"/>
                      <a:pt x="315" y="255"/>
                      <a:pt x="340" y="288"/>
                    </a:cubicBezTo>
                    <a:cubicBezTo>
                      <a:pt x="365" y="321"/>
                      <a:pt x="382" y="385"/>
                      <a:pt x="380" y="429"/>
                    </a:cubicBezTo>
                    <a:cubicBezTo>
                      <a:pt x="378" y="473"/>
                      <a:pt x="358" y="519"/>
                      <a:pt x="327" y="551"/>
                    </a:cubicBezTo>
                    <a:cubicBezTo>
                      <a:pt x="296" y="583"/>
                      <a:pt x="237" y="617"/>
                      <a:pt x="192" y="621"/>
                    </a:cubicBezTo>
                    <a:cubicBezTo>
                      <a:pt x="147" y="625"/>
                      <a:pt x="90" y="600"/>
                      <a:pt x="58" y="576"/>
                    </a:cubicBezTo>
                    <a:cubicBezTo>
                      <a:pt x="26" y="552"/>
                      <a:pt x="12" y="495"/>
                      <a:pt x="0" y="474"/>
                    </a:cubicBezTo>
                  </a:path>
                </a:pathLst>
              </a:custGeom>
              <a:noFill/>
              <a:ln w="6350">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547" name="AutoShape 897"/>
              <p:cNvSpPr>
                <a:spLocks noChangeAspect="1" noChangeArrowheads="1"/>
              </p:cNvSpPr>
              <p:nvPr/>
            </p:nvSpPr>
            <p:spPr bwMode="auto">
              <a:xfrm flipV="1">
                <a:off x="3889" y="2439"/>
                <a:ext cx="18" cy="51"/>
              </a:xfrm>
              <a:prstGeom prst="triangle">
                <a:avLst>
                  <a:gd name="adj" fmla="val 50000"/>
                </a:avLst>
              </a:prstGeom>
              <a:solidFill>
                <a:schemeClr val="tx1"/>
              </a:solidFill>
              <a:ln w="6350">
                <a:solidFill>
                  <a:schemeClr val="tx1"/>
                </a:solidFill>
                <a:miter lim="800000"/>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grpSp>
        <p:nvGrpSpPr>
          <p:cNvPr id="147487" name="Group 898"/>
          <p:cNvGrpSpPr>
            <a:grpSpLocks noChangeAspect="1"/>
          </p:cNvGrpSpPr>
          <p:nvPr/>
        </p:nvGrpSpPr>
        <p:grpSpPr bwMode="auto">
          <a:xfrm>
            <a:off x="606425" y="1833563"/>
            <a:ext cx="1262063" cy="484187"/>
            <a:chOff x="1920" y="1649"/>
            <a:chExt cx="1753" cy="672"/>
          </a:xfrm>
        </p:grpSpPr>
        <p:sp>
          <p:nvSpPr>
            <p:cNvPr id="147537" name="Oval 899"/>
            <p:cNvSpPr>
              <a:spLocks noChangeAspect="1" noChangeArrowheads="1"/>
            </p:cNvSpPr>
            <p:nvPr/>
          </p:nvSpPr>
          <p:spPr bwMode="auto">
            <a:xfrm>
              <a:off x="1920" y="1984"/>
              <a:ext cx="1744" cy="336"/>
            </a:xfrm>
            <a:prstGeom prst="ellipse">
              <a:avLst/>
            </a:prstGeom>
            <a:solidFill>
              <a:srgbClr val="FFD72F"/>
            </a:solidFill>
            <a:ln w="9525">
              <a:solidFill>
                <a:srgbClr val="EAEAEA"/>
              </a:solidFill>
              <a:rou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38" name="AutoShape 900"/>
            <p:cNvSpPr>
              <a:spLocks noChangeAspect="1" noChangeArrowheads="1"/>
            </p:cNvSpPr>
            <p:nvPr/>
          </p:nvSpPr>
          <p:spPr bwMode="auto">
            <a:xfrm>
              <a:off x="1921" y="1649"/>
              <a:ext cx="1752" cy="672"/>
            </a:xfrm>
            <a:prstGeom prst="can">
              <a:avLst>
                <a:gd name="adj" fmla="val 50000"/>
              </a:avLst>
            </a:prstGeom>
            <a:noFill/>
            <a:ln w="28575">
              <a:solidFill>
                <a:srgbClr val="777777"/>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sp>
        <p:nvSpPr>
          <p:cNvPr id="147488" name="Freeform 901"/>
          <p:cNvSpPr/>
          <p:nvPr/>
        </p:nvSpPr>
        <p:spPr bwMode="auto">
          <a:xfrm>
            <a:off x="1466850" y="1700213"/>
            <a:ext cx="750888" cy="304800"/>
          </a:xfrm>
          <a:custGeom>
            <a:avLst/>
            <a:gdLst>
              <a:gd name="T0" fmla="*/ 0 w 473"/>
              <a:gd name="T1" fmla="*/ 2147483646 h 192"/>
              <a:gd name="T2" fmla="*/ 2147483646 w 473"/>
              <a:gd name="T3" fmla="*/ 2147483646 h 192"/>
              <a:gd name="T4" fmla="*/ 2147483646 w 473"/>
              <a:gd name="T5" fmla="*/ 2147483646 h 192"/>
              <a:gd name="T6" fmla="*/ 0 60000 65536"/>
              <a:gd name="T7" fmla="*/ 0 60000 65536"/>
              <a:gd name="T8" fmla="*/ 0 60000 65536"/>
              <a:gd name="T9" fmla="*/ 0 w 473"/>
              <a:gd name="T10" fmla="*/ 0 h 192"/>
              <a:gd name="T11" fmla="*/ 473 w 473"/>
              <a:gd name="T12" fmla="*/ 192 h 192"/>
            </a:gdLst>
            <a:ahLst/>
            <a:cxnLst>
              <a:cxn ang="T6">
                <a:pos x="T0" y="T1"/>
              </a:cxn>
              <a:cxn ang="T7">
                <a:pos x="T2" y="T3"/>
              </a:cxn>
              <a:cxn ang="T8">
                <a:pos x="T4" y="T5"/>
              </a:cxn>
            </a:cxnLst>
            <a:rect l="T9" t="T10" r="T11" b="T12"/>
            <a:pathLst>
              <a:path w="473" h="192">
                <a:moveTo>
                  <a:pt x="0" y="192"/>
                </a:moveTo>
                <a:cubicBezTo>
                  <a:pt x="97" y="112"/>
                  <a:pt x="194" y="32"/>
                  <a:pt x="273" y="16"/>
                </a:cubicBezTo>
                <a:cubicBezTo>
                  <a:pt x="352" y="0"/>
                  <a:pt x="412" y="47"/>
                  <a:pt x="473" y="95"/>
                </a:cubicBezTo>
              </a:path>
            </a:pathLst>
          </a:custGeom>
          <a:noFill/>
          <a:ln w="28575">
            <a:solidFill>
              <a:srgbClr val="FF0000"/>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7489" name="Group 902"/>
          <p:cNvGrpSpPr>
            <a:grpSpLocks noChangeAspect="1"/>
          </p:cNvGrpSpPr>
          <p:nvPr/>
        </p:nvGrpSpPr>
        <p:grpSpPr bwMode="auto">
          <a:xfrm>
            <a:off x="606425" y="1833563"/>
            <a:ext cx="1262063" cy="484187"/>
            <a:chOff x="1920" y="1649"/>
            <a:chExt cx="1753" cy="672"/>
          </a:xfrm>
        </p:grpSpPr>
        <p:sp>
          <p:nvSpPr>
            <p:cNvPr id="147535" name="Oval 903"/>
            <p:cNvSpPr>
              <a:spLocks noChangeAspect="1" noChangeArrowheads="1"/>
            </p:cNvSpPr>
            <p:nvPr/>
          </p:nvSpPr>
          <p:spPr bwMode="auto">
            <a:xfrm>
              <a:off x="1920" y="1984"/>
              <a:ext cx="1744" cy="336"/>
            </a:xfrm>
            <a:prstGeom prst="ellipse">
              <a:avLst/>
            </a:prstGeom>
            <a:solidFill>
              <a:srgbClr val="FFD72F"/>
            </a:solidFill>
            <a:ln w="9525">
              <a:solidFill>
                <a:srgbClr val="FFFFFF">
                  <a:alpha val="50195"/>
                </a:srgbClr>
              </a:solidFill>
              <a:round/>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36" name="AutoShape 904"/>
            <p:cNvSpPr>
              <a:spLocks noChangeAspect="1" noChangeArrowheads="1"/>
            </p:cNvSpPr>
            <p:nvPr/>
          </p:nvSpPr>
          <p:spPr bwMode="auto">
            <a:xfrm>
              <a:off x="1921" y="1649"/>
              <a:ext cx="1752" cy="672"/>
            </a:xfrm>
            <a:prstGeom prst="can">
              <a:avLst>
                <a:gd name="adj" fmla="val 50000"/>
              </a:avLst>
            </a:prstGeom>
            <a:noFill/>
            <a:ln w="28575">
              <a:solidFill>
                <a:srgbClr val="FFFFFF">
                  <a:alpha val="50195"/>
                </a:srgbClr>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sp>
        <p:nvSpPr>
          <p:cNvPr id="147490" name="Freeform 905"/>
          <p:cNvSpPr/>
          <p:nvPr/>
        </p:nvSpPr>
        <p:spPr bwMode="auto">
          <a:xfrm>
            <a:off x="1466850" y="1700213"/>
            <a:ext cx="750888" cy="304800"/>
          </a:xfrm>
          <a:custGeom>
            <a:avLst/>
            <a:gdLst>
              <a:gd name="T0" fmla="*/ 0 w 473"/>
              <a:gd name="T1" fmla="*/ 2147483646 h 192"/>
              <a:gd name="T2" fmla="*/ 2147483646 w 473"/>
              <a:gd name="T3" fmla="*/ 2147483646 h 192"/>
              <a:gd name="T4" fmla="*/ 2147483646 w 473"/>
              <a:gd name="T5" fmla="*/ 2147483646 h 192"/>
              <a:gd name="T6" fmla="*/ 0 60000 65536"/>
              <a:gd name="T7" fmla="*/ 0 60000 65536"/>
              <a:gd name="T8" fmla="*/ 0 60000 65536"/>
              <a:gd name="T9" fmla="*/ 0 w 473"/>
              <a:gd name="T10" fmla="*/ 0 h 192"/>
              <a:gd name="T11" fmla="*/ 473 w 473"/>
              <a:gd name="T12" fmla="*/ 192 h 192"/>
            </a:gdLst>
            <a:ahLst/>
            <a:cxnLst>
              <a:cxn ang="T6">
                <a:pos x="T0" y="T1"/>
              </a:cxn>
              <a:cxn ang="T7">
                <a:pos x="T2" y="T3"/>
              </a:cxn>
              <a:cxn ang="T8">
                <a:pos x="T4" y="T5"/>
              </a:cxn>
            </a:cxnLst>
            <a:rect l="T9" t="T10" r="T11" b="T12"/>
            <a:pathLst>
              <a:path w="473" h="192">
                <a:moveTo>
                  <a:pt x="0" y="192"/>
                </a:moveTo>
                <a:cubicBezTo>
                  <a:pt x="97" y="112"/>
                  <a:pt x="194" y="32"/>
                  <a:pt x="273" y="16"/>
                </a:cubicBezTo>
                <a:cubicBezTo>
                  <a:pt x="352" y="0"/>
                  <a:pt x="412" y="47"/>
                  <a:pt x="473" y="95"/>
                </a:cubicBezTo>
              </a:path>
            </a:pathLst>
          </a:custGeom>
          <a:noFill/>
          <a:ln w="28575">
            <a:solidFill>
              <a:srgbClr val="FF0000"/>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7491" name="Group 906"/>
          <p:cNvGrpSpPr/>
          <p:nvPr/>
        </p:nvGrpSpPr>
        <p:grpSpPr bwMode="auto">
          <a:xfrm>
            <a:off x="768350" y="4348163"/>
            <a:ext cx="1828800" cy="1919287"/>
            <a:chOff x="484" y="2739"/>
            <a:chExt cx="1152" cy="1209"/>
          </a:xfrm>
        </p:grpSpPr>
        <p:sp>
          <p:nvSpPr>
            <p:cNvPr id="147492" name="Rectangle 907"/>
            <p:cNvSpPr>
              <a:spLocks noChangeArrowheads="1"/>
            </p:cNvSpPr>
            <p:nvPr/>
          </p:nvSpPr>
          <p:spPr bwMode="auto">
            <a:xfrm>
              <a:off x="484" y="2739"/>
              <a:ext cx="1152" cy="1209"/>
            </a:xfrm>
            <a:prstGeom prst="rect">
              <a:avLst/>
            </a:prstGeom>
            <a:solidFill>
              <a:srgbClr val="A3D5D9"/>
            </a:solidFill>
            <a:ln w="9525">
              <a:solidFill>
                <a:schemeClr val="tx1"/>
              </a:solidFill>
              <a:miter lim="800000"/>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nvGrpSpPr>
            <p:cNvPr id="147493" name="Group 908"/>
            <p:cNvGrpSpPr/>
            <p:nvPr/>
          </p:nvGrpSpPr>
          <p:grpSpPr bwMode="auto">
            <a:xfrm>
              <a:off x="936" y="3460"/>
              <a:ext cx="196" cy="41"/>
              <a:chOff x="2130" y="3040"/>
              <a:chExt cx="196" cy="65"/>
            </a:xfrm>
          </p:grpSpPr>
          <p:sp>
            <p:nvSpPr>
              <p:cNvPr id="147533" name="Oval 909"/>
              <p:cNvSpPr>
                <a:spLocks noChangeArrowheads="1"/>
              </p:cNvSpPr>
              <p:nvPr/>
            </p:nvSpPr>
            <p:spPr bwMode="auto">
              <a:xfrm>
                <a:off x="2141" y="3077"/>
                <a:ext cx="174" cy="27"/>
              </a:xfrm>
              <a:prstGeom prst="ellipse">
                <a:avLst/>
              </a:prstGeom>
              <a:gradFill rotWithShape="1">
                <a:gsLst>
                  <a:gs pos="0">
                    <a:schemeClr val="accent1"/>
                  </a:gs>
                  <a:gs pos="100000">
                    <a:srgbClr val="777777"/>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34" name="Freeform 910"/>
              <p:cNvSpPr/>
              <p:nvPr/>
            </p:nvSpPr>
            <p:spPr bwMode="auto">
              <a:xfrm>
                <a:off x="2130" y="3040"/>
                <a:ext cx="196" cy="65"/>
              </a:xfrm>
              <a:custGeom>
                <a:avLst/>
                <a:gdLst>
                  <a:gd name="T0" fmla="*/ 5 w 196"/>
                  <a:gd name="T1" fmla="*/ 11 h 65"/>
                  <a:gd name="T2" fmla="*/ 14 w 196"/>
                  <a:gd name="T3" fmla="*/ 53 h 65"/>
                  <a:gd name="T4" fmla="*/ 91 w 196"/>
                  <a:gd name="T5" fmla="*/ 63 h 65"/>
                  <a:gd name="T6" fmla="*/ 180 w 196"/>
                  <a:gd name="T7" fmla="*/ 55 h 65"/>
                  <a:gd name="T8" fmla="*/ 185 w 196"/>
                  <a:gd name="T9" fmla="*/ 5 h 65"/>
                  <a:gd name="T10" fmla="*/ 167 w 196"/>
                  <a:gd name="T11" fmla="*/ 25 h 65"/>
                  <a:gd name="T12" fmla="*/ 27 w 196"/>
                  <a:gd name="T13" fmla="*/ 23 h 65"/>
                  <a:gd name="T14" fmla="*/ 5 w 196"/>
                  <a:gd name="T15" fmla="*/ 11 h 65"/>
                  <a:gd name="T16" fmla="*/ 0 60000 65536"/>
                  <a:gd name="T17" fmla="*/ 0 60000 65536"/>
                  <a:gd name="T18" fmla="*/ 0 60000 65536"/>
                  <a:gd name="T19" fmla="*/ 0 60000 65536"/>
                  <a:gd name="T20" fmla="*/ 0 60000 65536"/>
                  <a:gd name="T21" fmla="*/ 0 60000 65536"/>
                  <a:gd name="T22" fmla="*/ 0 60000 65536"/>
                  <a:gd name="T23" fmla="*/ 0 60000 65536"/>
                  <a:gd name="T24" fmla="*/ 0 w 196"/>
                  <a:gd name="T25" fmla="*/ 0 h 65"/>
                  <a:gd name="T26" fmla="*/ 196 w 196"/>
                  <a:gd name="T27" fmla="*/ 65 h 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6" h="65">
                    <a:moveTo>
                      <a:pt x="5" y="11"/>
                    </a:moveTo>
                    <a:cubicBezTo>
                      <a:pt x="3" y="16"/>
                      <a:pt x="0" y="44"/>
                      <a:pt x="14" y="53"/>
                    </a:cubicBezTo>
                    <a:cubicBezTo>
                      <a:pt x="28" y="62"/>
                      <a:pt x="63" y="63"/>
                      <a:pt x="91" y="63"/>
                    </a:cubicBezTo>
                    <a:cubicBezTo>
                      <a:pt x="119" y="63"/>
                      <a:pt x="164" y="65"/>
                      <a:pt x="180" y="55"/>
                    </a:cubicBezTo>
                    <a:cubicBezTo>
                      <a:pt x="196" y="45"/>
                      <a:pt x="187" y="10"/>
                      <a:pt x="185" y="5"/>
                    </a:cubicBezTo>
                    <a:cubicBezTo>
                      <a:pt x="183" y="0"/>
                      <a:pt x="193" y="22"/>
                      <a:pt x="167" y="25"/>
                    </a:cubicBezTo>
                    <a:cubicBezTo>
                      <a:pt x="141" y="28"/>
                      <a:pt x="54" y="25"/>
                      <a:pt x="27" y="23"/>
                    </a:cubicBezTo>
                    <a:cubicBezTo>
                      <a:pt x="0" y="21"/>
                      <a:pt x="7" y="6"/>
                      <a:pt x="5" y="11"/>
                    </a:cubicBezTo>
                    <a:close/>
                  </a:path>
                </a:pathLst>
              </a:custGeom>
              <a:gradFill rotWithShape="1">
                <a:gsLst>
                  <a:gs pos="0">
                    <a:schemeClr val="accent1">
                      <a:alpha val="50000"/>
                    </a:schemeClr>
                  </a:gs>
                  <a:gs pos="100000">
                    <a:srgbClr val="777777"/>
                  </a:gs>
                </a:gsLst>
                <a:lin ang="54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p>
                <a:endParaRPr lang="zh-CN" altLang="en-US"/>
              </a:p>
            </p:txBody>
          </p:sp>
        </p:grpSp>
        <p:grpSp>
          <p:nvGrpSpPr>
            <p:cNvPr id="147494" name="Group 911"/>
            <p:cNvGrpSpPr/>
            <p:nvPr/>
          </p:nvGrpSpPr>
          <p:grpSpPr bwMode="auto">
            <a:xfrm>
              <a:off x="510" y="3429"/>
              <a:ext cx="196" cy="66"/>
              <a:chOff x="2380" y="3087"/>
              <a:chExt cx="196" cy="66"/>
            </a:xfrm>
          </p:grpSpPr>
          <p:sp>
            <p:nvSpPr>
              <p:cNvPr id="147531" name="Freeform 912"/>
              <p:cNvSpPr/>
              <p:nvPr/>
            </p:nvSpPr>
            <p:spPr bwMode="auto">
              <a:xfrm>
                <a:off x="2380" y="3087"/>
                <a:ext cx="196" cy="65"/>
              </a:xfrm>
              <a:custGeom>
                <a:avLst/>
                <a:gdLst>
                  <a:gd name="T0" fmla="*/ 5 w 196"/>
                  <a:gd name="T1" fmla="*/ 11 h 65"/>
                  <a:gd name="T2" fmla="*/ 14 w 196"/>
                  <a:gd name="T3" fmla="*/ 53 h 65"/>
                  <a:gd name="T4" fmla="*/ 91 w 196"/>
                  <a:gd name="T5" fmla="*/ 63 h 65"/>
                  <a:gd name="T6" fmla="*/ 180 w 196"/>
                  <a:gd name="T7" fmla="*/ 55 h 65"/>
                  <a:gd name="T8" fmla="*/ 185 w 196"/>
                  <a:gd name="T9" fmla="*/ 5 h 65"/>
                  <a:gd name="T10" fmla="*/ 167 w 196"/>
                  <a:gd name="T11" fmla="*/ 25 h 65"/>
                  <a:gd name="T12" fmla="*/ 27 w 196"/>
                  <a:gd name="T13" fmla="*/ 23 h 65"/>
                  <a:gd name="T14" fmla="*/ 5 w 196"/>
                  <a:gd name="T15" fmla="*/ 11 h 65"/>
                  <a:gd name="T16" fmla="*/ 0 60000 65536"/>
                  <a:gd name="T17" fmla="*/ 0 60000 65536"/>
                  <a:gd name="T18" fmla="*/ 0 60000 65536"/>
                  <a:gd name="T19" fmla="*/ 0 60000 65536"/>
                  <a:gd name="T20" fmla="*/ 0 60000 65536"/>
                  <a:gd name="T21" fmla="*/ 0 60000 65536"/>
                  <a:gd name="T22" fmla="*/ 0 60000 65536"/>
                  <a:gd name="T23" fmla="*/ 0 60000 65536"/>
                  <a:gd name="T24" fmla="*/ 0 w 196"/>
                  <a:gd name="T25" fmla="*/ 0 h 65"/>
                  <a:gd name="T26" fmla="*/ 196 w 196"/>
                  <a:gd name="T27" fmla="*/ 65 h 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6" h="65">
                    <a:moveTo>
                      <a:pt x="5" y="11"/>
                    </a:moveTo>
                    <a:cubicBezTo>
                      <a:pt x="3" y="16"/>
                      <a:pt x="0" y="44"/>
                      <a:pt x="14" y="53"/>
                    </a:cubicBezTo>
                    <a:cubicBezTo>
                      <a:pt x="28" y="62"/>
                      <a:pt x="63" y="63"/>
                      <a:pt x="91" y="63"/>
                    </a:cubicBezTo>
                    <a:cubicBezTo>
                      <a:pt x="119" y="63"/>
                      <a:pt x="164" y="65"/>
                      <a:pt x="180" y="55"/>
                    </a:cubicBezTo>
                    <a:cubicBezTo>
                      <a:pt x="196" y="45"/>
                      <a:pt x="187" y="10"/>
                      <a:pt x="185" y="5"/>
                    </a:cubicBezTo>
                    <a:cubicBezTo>
                      <a:pt x="183" y="0"/>
                      <a:pt x="193" y="22"/>
                      <a:pt x="167" y="25"/>
                    </a:cubicBezTo>
                    <a:cubicBezTo>
                      <a:pt x="141" y="28"/>
                      <a:pt x="54" y="25"/>
                      <a:pt x="27" y="23"/>
                    </a:cubicBezTo>
                    <a:cubicBezTo>
                      <a:pt x="0" y="21"/>
                      <a:pt x="7" y="6"/>
                      <a:pt x="5" y="11"/>
                    </a:cubicBezTo>
                    <a:close/>
                  </a:path>
                </a:pathLst>
              </a:custGeom>
              <a:gradFill rotWithShape="1">
                <a:gsLst>
                  <a:gs pos="0">
                    <a:schemeClr val="tx1">
                      <a:alpha val="20000"/>
                    </a:schemeClr>
                  </a:gs>
                  <a:gs pos="100000">
                    <a:schemeClr val="bg2">
                      <a:alpha val="50000"/>
                    </a:schemeClr>
                  </a:gs>
                </a:gsLst>
                <a:lin ang="54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p>
                <a:endParaRPr lang="zh-CN" altLang="en-US"/>
              </a:p>
            </p:txBody>
          </p:sp>
          <p:sp>
            <p:nvSpPr>
              <p:cNvPr id="147532" name="Oval 913"/>
              <p:cNvSpPr>
                <a:spLocks noChangeArrowheads="1"/>
              </p:cNvSpPr>
              <p:nvPr/>
            </p:nvSpPr>
            <p:spPr bwMode="auto">
              <a:xfrm flipH="1">
                <a:off x="2393" y="3123"/>
                <a:ext cx="174" cy="30"/>
              </a:xfrm>
              <a:prstGeom prst="ellipse">
                <a:avLst/>
              </a:prstGeom>
              <a:gradFill rotWithShape="1">
                <a:gsLst>
                  <a:gs pos="0">
                    <a:schemeClr val="tx2">
                      <a:alpha val="7999"/>
                    </a:schemeClr>
                  </a:gs>
                  <a:gs pos="100000">
                    <a:srgbClr val="4D4D4D"/>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7495" name="Group 914"/>
            <p:cNvGrpSpPr/>
            <p:nvPr/>
          </p:nvGrpSpPr>
          <p:grpSpPr bwMode="auto">
            <a:xfrm>
              <a:off x="723" y="3436"/>
              <a:ext cx="196" cy="65"/>
              <a:chOff x="2564" y="2752"/>
              <a:chExt cx="196" cy="65"/>
            </a:xfrm>
          </p:grpSpPr>
          <p:sp>
            <p:nvSpPr>
              <p:cNvPr id="147529" name="Freeform 915"/>
              <p:cNvSpPr/>
              <p:nvPr/>
            </p:nvSpPr>
            <p:spPr bwMode="auto">
              <a:xfrm>
                <a:off x="2564" y="2752"/>
                <a:ext cx="196" cy="65"/>
              </a:xfrm>
              <a:custGeom>
                <a:avLst/>
                <a:gdLst>
                  <a:gd name="T0" fmla="*/ 5 w 196"/>
                  <a:gd name="T1" fmla="*/ 11 h 65"/>
                  <a:gd name="T2" fmla="*/ 14 w 196"/>
                  <a:gd name="T3" fmla="*/ 53 h 65"/>
                  <a:gd name="T4" fmla="*/ 91 w 196"/>
                  <a:gd name="T5" fmla="*/ 63 h 65"/>
                  <a:gd name="T6" fmla="*/ 180 w 196"/>
                  <a:gd name="T7" fmla="*/ 55 h 65"/>
                  <a:gd name="T8" fmla="*/ 185 w 196"/>
                  <a:gd name="T9" fmla="*/ 5 h 65"/>
                  <a:gd name="T10" fmla="*/ 167 w 196"/>
                  <a:gd name="T11" fmla="*/ 25 h 65"/>
                  <a:gd name="T12" fmla="*/ 27 w 196"/>
                  <a:gd name="T13" fmla="*/ 23 h 65"/>
                  <a:gd name="T14" fmla="*/ 5 w 196"/>
                  <a:gd name="T15" fmla="*/ 11 h 65"/>
                  <a:gd name="T16" fmla="*/ 0 60000 65536"/>
                  <a:gd name="T17" fmla="*/ 0 60000 65536"/>
                  <a:gd name="T18" fmla="*/ 0 60000 65536"/>
                  <a:gd name="T19" fmla="*/ 0 60000 65536"/>
                  <a:gd name="T20" fmla="*/ 0 60000 65536"/>
                  <a:gd name="T21" fmla="*/ 0 60000 65536"/>
                  <a:gd name="T22" fmla="*/ 0 60000 65536"/>
                  <a:gd name="T23" fmla="*/ 0 60000 65536"/>
                  <a:gd name="T24" fmla="*/ 0 w 196"/>
                  <a:gd name="T25" fmla="*/ 0 h 65"/>
                  <a:gd name="T26" fmla="*/ 196 w 196"/>
                  <a:gd name="T27" fmla="*/ 65 h 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6" h="65">
                    <a:moveTo>
                      <a:pt x="5" y="11"/>
                    </a:moveTo>
                    <a:cubicBezTo>
                      <a:pt x="3" y="16"/>
                      <a:pt x="0" y="44"/>
                      <a:pt x="14" y="53"/>
                    </a:cubicBezTo>
                    <a:cubicBezTo>
                      <a:pt x="28" y="62"/>
                      <a:pt x="63" y="63"/>
                      <a:pt x="91" y="63"/>
                    </a:cubicBezTo>
                    <a:cubicBezTo>
                      <a:pt x="119" y="63"/>
                      <a:pt x="164" y="65"/>
                      <a:pt x="180" y="55"/>
                    </a:cubicBezTo>
                    <a:cubicBezTo>
                      <a:pt x="196" y="45"/>
                      <a:pt x="187" y="10"/>
                      <a:pt x="185" y="5"/>
                    </a:cubicBezTo>
                    <a:cubicBezTo>
                      <a:pt x="183" y="0"/>
                      <a:pt x="193" y="22"/>
                      <a:pt x="167" y="25"/>
                    </a:cubicBezTo>
                    <a:cubicBezTo>
                      <a:pt x="141" y="28"/>
                      <a:pt x="54" y="25"/>
                      <a:pt x="27" y="23"/>
                    </a:cubicBezTo>
                    <a:cubicBezTo>
                      <a:pt x="0" y="21"/>
                      <a:pt x="7" y="6"/>
                      <a:pt x="5" y="11"/>
                    </a:cubicBezTo>
                    <a:close/>
                  </a:path>
                </a:pathLst>
              </a:custGeom>
              <a:gradFill rotWithShape="1">
                <a:gsLst>
                  <a:gs pos="0">
                    <a:schemeClr val="bg2"/>
                  </a:gs>
                  <a:gs pos="100000">
                    <a:schemeClr val="tx1">
                      <a:alpha val="50000"/>
                    </a:schemeClr>
                  </a:gs>
                </a:gsLst>
                <a:path path="rect">
                  <a:fillToRect l="50000" t="50000" r="50000" b="50000"/>
                </a:path>
              </a:gradFill>
              <a:ln>
                <a:noFill/>
              </a:ln>
              <a:extLst>
                <a:ext uri="{91240B29-F687-4F45-9708-019B960494DF}">
                  <a14:hiddenLine xmlns:a14="http://schemas.microsoft.com/office/drawing/2010/main" w="38100">
                    <a:solidFill>
                      <a:srgbClr val="000000"/>
                    </a:solidFill>
                    <a:round/>
                  </a14:hiddenLine>
                </a:ext>
              </a:extLst>
            </p:spPr>
            <p:txBody>
              <a:bodyPr wrap="none" anchor="ctr"/>
              <a:lstStyle/>
              <a:p>
                <a:endParaRPr lang="zh-CN" altLang="en-US"/>
              </a:p>
            </p:txBody>
          </p:sp>
          <p:sp>
            <p:nvSpPr>
              <p:cNvPr id="147530" name="Oval 916"/>
              <p:cNvSpPr>
                <a:spLocks noChangeArrowheads="1"/>
              </p:cNvSpPr>
              <p:nvPr/>
            </p:nvSpPr>
            <p:spPr bwMode="auto">
              <a:xfrm flipH="1">
                <a:off x="2574" y="2774"/>
                <a:ext cx="174" cy="42"/>
              </a:xfrm>
              <a:prstGeom prst="ellipse">
                <a:avLst/>
              </a:prstGeom>
              <a:gradFill rotWithShape="1">
                <a:gsLst>
                  <a:gs pos="0">
                    <a:srgbClr val="292929">
                      <a:alpha val="98000"/>
                    </a:srgbClr>
                  </a:gs>
                  <a:gs pos="100000">
                    <a:schemeClr val="tx2">
                      <a:alpha val="1999"/>
                    </a:schemeClr>
                  </a:gs>
                </a:gsLst>
                <a:path path="shape">
                  <a:fillToRect l="50000" t="50000" r="50000" b="50000"/>
                </a:path>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grpSp>
        <p:grpSp>
          <p:nvGrpSpPr>
            <p:cNvPr id="147496" name="Group 917"/>
            <p:cNvGrpSpPr/>
            <p:nvPr/>
          </p:nvGrpSpPr>
          <p:grpSpPr bwMode="auto">
            <a:xfrm>
              <a:off x="1161" y="3436"/>
              <a:ext cx="196" cy="65"/>
              <a:chOff x="2124" y="2860"/>
              <a:chExt cx="196" cy="65"/>
            </a:xfrm>
          </p:grpSpPr>
          <p:sp>
            <p:nvSpPr>
              <p:cNvPr id="147527" name="Oval 918"/>
              <p:cNvSpPr>
                <a:spLocks noChangeArrowheads="1"/>
              </p:cNvSpPr>
              <p:nvPr/>
            </p:nvSpPr>
            <p:spPr bwMode="auto">
              <a:xfrm>
                <a:off x="2135" y="2895"/>
                <a:ext cx="174" cy="27"/>
              </a:xfrm>
              <a:prstGeom prst="ellipse">
                <a:avLst/>
              </a:prstGeom>
              <a:gradFill rotWithShape="1">
                <a:gsLst>
                  <a:gs pos="0">
                    <a:srgbClr val="B2B2B2"/>
                  </a:gs>
                  <a:gs pos="100000">
                    <a:schemeClr val="tx2"/>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47528" name="Freeform 919"/>
              <p:cNvSpPr/>
              <p:nvPr/>
            </p:nvSpPr>
            <p:spPr bwMode="auto">
              <a:xfrm>
                <a:off x="2124" y="2860"/>
                <a:ext cx="196" cy="65"/>
              </a:xfrm>
              <a:custGeom>
                <a:avLst/>
                <a:gdLst>
                  <a:gd name="T0" fmla="*/ 5 w 196"/>
                  <a:gd name="T1" fmla="*/ 11 h 65"/>
                  <a:gd name="T2" fmla="*/ 14 w 196"/>
                  <a:gd name="T3" fmla="*/ 53 h 65"/>
                  <a:gd name="T4" fmla="*/ 91 w 196"/>
                  <a:gd name="T5" fmla="*/ 63 h 65"/>
                  <a:gd name="T6" fmla="*/ 180 w 196"/>
                  <a:gd name="T7" fmla="*/ 55 h 65"/>
                  <a:gd name="T8" fmla="*/ 185 w 196"/>
                  <a:gd name="T9" fmla="*/ 5 h 65"/>
                  <a:gd name="T10" fmla="*/ 167 w 196"/>
                  <a:gd name="T11" fmla="*/ 25 h 65"/>
                  <a:gd name="T12" fmla="*/ 27 w 196"/>
                  <a:gd name="T13" fmla="*/ 23 h 65"/>
                  <a:gd name="T14" fmla="*/ 5 w 196"/>
                  <a:gd name="T15" fmla="*/ 11 h 65"/>
                  <a:gd name="T16" fmla="*/ 0 60000 65536"/>
                  <a:gd name="T17" fmla="*/ 0 60000 65536"/>
                  <a:gd name="T18" fmla="*/ 0 60000 65536"/>
                  <a:gd name="T19" fmla="*/ 0 60000 65536"/>
                  <a:gd name="T20" fmla="*/ 0 60000 65536"/>
                  <a:gd name="T21" fmla="*/ 0 60000 65536"/>
                  <a:gd name="T22" fmla="*/ 0 60000 65536"/>
                  <a:gd name="T23" fmla="*/ 0 60000 65536"/>
                  <a:gd name="T24" fmla="*/ 0 w 196"/>
                  <a:gd name="T25" fmla="*/ 0 h 65"/>
                  <a:gd name="T26" fmla="*/ 196 w 196"/>
                  <a:gd name="T27" fmla="*/ 65 h 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6" h="65">
                    <a:moveTo>
                      <a:pt x="5" y="11"/>
                    </a:moveTo>
                    <a:cubicBezTo>
                      <a:pt x="3" y="16"/>
                      <a:pt x="0" y="44"/>
                      <a:pt x="14" y="53"/>
                    </a:cubicBezTo>
                    <a:cubicBezTo>
                      <a:pt x="28" y="62"/>
                      <a:pt x="63" y="63"/>
                      <a:pt x="91" y="63"/>
                    </a:cubicBezTo>
                    <a:cubicBezTo>
                      <a:pt x="119" y="63"/>
                      <a:pt x="164" y="65"/>
                      <a:pt x="180" y="55"/>
                    </a:cubicBezTo>
                    <a:cubicBezTo>
                      <a:pt x="196" y="45"/>
                      <a:pt x="187" y="10"/>
                      <a:pt x="185" y="5"/>
                    </a:cubicBezTo>
                    <a:cubicBezTo>
                      <a:pt x="183" y="0"/>
                      <a:pt x="193" y="22"/>
                      <a:pt x="167" y="25"/>
                    </a:cubicBezTo>
                    <a:cubicBezTo>
                      <a:pt x="141" y="28"/>
                      <a:pt x="54" y="25"/>
                      <a:pt x="27" y="23"/>
                    </a:cubicBezTo>
                    <a:cubicBezTo>
                      <a:pt x="0" y="21"/>
                      <a:pt x="7" y="6"/>
                      <a:pt x="5" y="11"/>
                    </a:cubicBezTo>
                    <a:close/>
                  </a:path>
                </a:pathLst>
              </a:custGeom>
              <a:gradFill rotWithShape="1">
                <a:gsLst>
                  <a:gs pos="0">
                    <a:srgbClr val="B2B2B2">
                      <a:alpha val="50000"/>
                    </a:srgbClr>
                  </a:gs>
                  <a:gs pos="100000">
                    <a:schemeClr val="tx2"/>
                  </a:gs>
                </a:gsLst>
                <a:lin ang="54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p>
                <a:endParaRPr lang="zh-CN" altLang="en-US"/>
              </a:p>
            </p:txBody>
          </p:sp>
        </p:grpSp>
        <p:sp>
          <p:nvSpPr>
            <p:cNvPr id="147497" name="Freeform 920"/>
            <p:cNvSpPr/>
            <p:nvPr/>
          </p:nvSpPr>
          <p:spPr bwMode="auto">
            <a:xfrm>
              <a:off x="1389" y="3805"/>
              <a:ext cx="196" cy="107"/>
            </a:xfrm>
            <a:custGeom>
              <a:avLst/>
              <a:gdLst>
                <a:gd name="T0" fmla="*/ 5 w 196"/>
                <a:gd name="T1" fmla="*/ 81 h 65"/>
                <a:gd name="T2" fmla="*/ 14 w 196"/>
                <a:gd name="T3" fmla="*/ 387 h 65"/>
                <a:gd name="T4" fmla="*/ 91 w 196"/>
                <a:gd name="T5" fmla="*/ 463 h 65"/>
                <a:gd name="T6" fmla="*/ 180 w 196"/>
                <a:gd name="T7" fmla="*/ 407 h 65"/>
                <a:gd name="T8" fmla="*/ 185 w 196"/>
                <a:gd name="T9" fmla="*/ 35 h 65"/>
                <a:gd name="T10" fmla="*/ 167 w 196"/>
                <a:gd name="T11" fmla="*/ 181 h 65"/>
                <a:gd name="T12" fmla="*/ 27 w 196"/>
                <a:gd name="T13" fmla="*/ 171 h 65"/>
                <a:gd name="T14" fmla="*/ 5 w 196"/>
                <a:gd name="T15" fmla="*/ 81 h 65"/>
                <a:gd name="T16" fmla="*/ 0 60000 65536"/>
                <a:gd name="T17" fmla="*/ 0 60000 65536"/>
                <a:gd name="T18" fmla="*/ 0 60000 65536"/>
                <a:gd name="T19" fmla="*/ 0 60000 65536"/>
                <a:gd name="T20" fmla="*/ 0 60000 65536"/>
                <a:gd name="T21" fmla="*/ 0 60000 65536"/>
                <a:gd name="T22" fmla="*/ 0 60000 65536"/>
                <a:gd name="T23" fmla="*/ 0 60000 65536"/>
                <a:gd name="T24" fmla="*/ 0 w 196"/>
                <a:gd name="T25" fmla="*/ 0 h 65"/>
                <a:gd name="T26" fmla="*/ 196 w 196"/>
                <a:gd name="T27" fmla="*/ 65 h 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6" h="65">
                  <a:moveTo>
                    <a:pt x="5" y="11"/>
                  </a:moveTo>
                  <a:cubicBezTo>
                    <a:pt x="3" y="16"/>
                    <a:pt x="0" y="44"/>
                    <a:pt x="14" y="53"/>
                  </a:cubicBezTo>
                  <a:cubicBezTo>
                    <a:pt x="28" y="62"/>
                    <a:pt x="63" y="63"/>
                    <a:pt x="91" y="63"/>
                  </a:cubicBezTo>
                  <a:cubicBezTo>
                    <a:pt x="119" y="63"/>
                    <a:pt x="164" y="65"/>
                    <a:pt x="180" y="55"/>
                  </a:cubicBezTo>
                  <a:cubicBezTo>
                    <a:pt x="196" y="45"/>
                    <a:pt x="187" y="10"/>
                    <a:pt x="185" y="5"/>
                  </a:cubicBezTo>
                  <a:cubicBezTo>
                    <a:pt x="183" y="0"/>
                    <a:pt x="193" y="22"/>
                    <a:pt x="167" y="25"/>
                  </a:cubicBezTo>
                  <a:cubicBezTo>
                    <a:pt x="141" y="28"/>
                    <a:pt x="54" y="25"/>
                    <a:pt x="27" y="23"/>
                  </a:cubicBezTo>
                  <a:cubicBezTo>
                    <a:pt x="0" y="21"/>
                    <a:pt x="7" y="6"/>
                    <a:pt x="5" y="11"/>
                  </a:cubicBezTo>
                  <a:close/>
                </a:path>
              </a:pathLst>
            </a:custGeom>
            <a:gradFill rotWithShape="1">
              <a:gsLst>
                <a:gs pos="0">
                  <a:srgbClr val="C0C0C0">
                    <a:alpha val="50000"/>
                  </a:srgbClr>
                </a:gs>
                <a:gs pos="100000">
                  <a:schemeClr val="tx2"/>
                </a:gs>
              </a:gsLst>
              <a:lin ang="54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p>
              <a:endParaRPr lang="zh-CN" altLang="en-US"/>
            </a:p>
          </p:txBody>
        </p:sp>
        <p:sp>
          <p:nvSpPr>
            <p:cNvPr id="147498" name="Freeform 921"/>
            <p:cNvSpPr/>
            <p:nvPr/>
          </p:nvSpPr>
          <p:spPr bwMode="auto">
            <a:xfrm>
              <a:off x="1389" y="3651"/>
              <a:ext cx="196" cy="71"/>
            </a:xfrm>
            <a:custGeom>
              <a:avLst/>
              <a:gdLst>
                <a:gd name="T0" fmla="*/ 5 w 196"/>
                <a:gd name="T1" fmla="*/ 15 h 65"/>
                <a:gd name="T2" fmla="*/ 14 w 196"/>
                <a:gd name="T3" fmla="*/ 75 h 65"/>
                <a:gd name="T4" fmla="*/ 91 w 196"/>
                <a:gd name="T5" fmla="*/ 90 h 65"/>
                <a:gd name="T6" fmla="*/ 180 w 196"/>
                <a:gd name="T7" fmla="*/ 79 h 65"/>
                <a:gd name="T8" fmla="*/ 185 w 196"/>
                <a:gd name="T9" fmla="*/ 5 h 65"/>
                <a:gd name="T10" fmla="*/ 167 w 196"/>
                <a:gd name="T11" fmla="*/ 35 h 65"/>
                <a:gd name="T12" fmla="*/ 27 w 196"/>
                <a:gd name="T13" fmla="*/ 32 h 65"/>
                <a:gd name="T14" fmla="*/ 5 w 196"/>
                <a:gd name="T15" fmla="*/ 15 h 65"/>
                <a:gd name="T16" fmla="*/ 0 60000 65536"/>
                <a:gd name="T17" fmla="*/ 0 60000 65536"/>
                <a:gd name="T18" fmla="*/ 0 60000 65536"/>
                <a:gd name="T19" fmla="*/ 0 60000 65536"/>
                <a:gd name="T20" fmla="*/ 0 60000 65536"/>
                <a:gd name="T21" fmla="*/ 0 60000 65536"/>
                <a:gd name="T22" fmla="*/ 0 60000 65536"/>
                <a:gd name="T23" fmla="*/ 0 60000 65536"/>
                <a:gd name="T24" fmla="*/ 0 w 196"/>
                <a:gd name="T25" fmla="*/ 0 h 65"/>
                <a:gd name="T26" fmla="*/ 196 w 196"/>
                <a:gd name="T27" fmla="*/ 65 h 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6" h="65">
                  <a:moveTo>
                    <a:pt x="5" y="11"/>
                  </a:moveTo>
                  <a:cubicBezTo>
                    <a:pt x="3" y="16"/>
                    <a:pt x="0" y="44"/>
                    <a:pt x="14" y="53"/>
                  </a:cubicBezTo>
                  <a:cubicBezTo>
                    <a:pt x="28" y="62"/>
                    <a:pt x="63" y="63"/>
                    <a:pt x="91" y="63"/>
                  </a:cubicBezTo>
                  <a:cubicBezTo>
                    <a:pt x="119" y="63"/>
                    <a:pt x="164" y="65"/>
                    <a:pt x="180" y="55"/>
                  </a:cubicBezTo>
                  <a:cubicBezTo>
                    <a:pt x="196" y="45"/>
                    <a:pt x="187" y="10"/>
                    <a:pt x="185" y="5"/>
                  </a:cubicBezTo>
                  <a:cubicBezTo>
                    <a:pt x="183" y="0"/>
                    <a:pt x="193" y="22"/>
                    <a:pt x="167" y="25"/>
                  </a:cubicBezTo>
                  <a:cubicBezTo>
                    <a:pt x="141" y="28"/>
                    <a:pt x="54" y="25"/>
                    <a:pt x="27" y="23"/>
                  </a:cubicBezTo>
                  <a:cubicBezTo>
                    <a:pt x="0" y="21"/>
                    <a:pt x="7" y="6"/>
                    <a:pt x="5" y="11"/>
                  </a:cubicBezTo>
                  <a:close/>
                </a:path>
              </a:pathLst>
            </a:custGeom>
            <a:gradFill rotWithShape="1">
              <a:gsLst>
                <a:gs pos="0">
                  <a:srgbClr val="C0C0C0">
                    <a:alpha val="50000"/>
                  </a:srgbClr>
                </a:gs>
                <a:gs pos="100000">
                  <a:schemeClr val="tx2"/>
                </a:gs>
              </a:gsLst>
              <a:lin ang="54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p>
              <a:endParaRPr lang="zh-CN" altLang="en-US"/>
            </a:p>
          </p:txBody>
        </p:sp>
        <p:sp>
          <p:nvSpPr>
            <p:cNvPr id="147499" name="Freeform 922"/>
            <p:cNvSpPr/>
            <p:nvPr/>
          </p:nvSpPr>
          <p:spPr bwMode="auto">
            <a:xfrm>
              <a:off x="1389" y="3505"/>
              <a:ext cx="196" cy="53"/>
            </a:xfrm>
            <a:custGeom>
              <a:avLst/>
              <a:gdLst>
                <a:gd name="T0" fmla="*/ 5 w 196"/>
                <a:gd name="T1" fmla="*/ 5 h 65"/>
                <a:gd name="T2" fmla="*/ 14 w 196"/>
                <a:gd name="T3" fmla="*/ 24 h 65"/>
                <a:gd name="T4" fmla="*/ 91 w 196"/>
                <a:gd name="T5" fmla="*/ 28 h 65"/>
                <a:gd name="T6" fmla="*/ 180 w 196"/>
                <a:gd name="T7" fmla="*/ 24 h 65"/>
                <a:gd name="T8" fmla="*/ 185 w 196"/>
                <a:gd name="T9" fmla="*/ 2 h 65"/>
                <a:gd name="T10" fmla="*/ 167 w 196"/>
                <a:gd name="T11" fmla="*/ 11 h 65"/>
                <a:gd name="T12" fmla="*/ 27 w 196"/>
                <a:gd name="T13" fmla="*/ 10 h 65"/>
                <a:gd name="T14" fmla="*/ 5 w 196"/>
                <a:gd name="T15" fmla="*/ 5 h 65"/>
                <a:gd name="T16" fmla="*/ 0 60000 65536"/>
                <a:gd name="T17" fmla="*/ 0 60000 65536"/>
                <a:gd name="T18" fmla="*/ 0 60000 65536"/>
                <a:gd name="T19" fmla="*/ 0 60000 65536"/>
                <a:gd name="T20" fmla="*/ 0 60000 65536"/>
                <a:gd name="T21" fmla="*/ 0 60000 65536"/>
                <a:gd name="T22" fmla="*/ 0 60000 65536"/>
                <a:gd name="T23" fmla="*/ 0 60000 65536"/>
                <a:gd name="T24" fmla="*/ 0 w 196"/>
                <a:gd name="T25" fmla="*/ 0 h 65"/>
                <a:gd name="T26" fmla="*/ 196 w 196"/>
                <a:gd name="T27" fmla="*/ 65 h 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6" h="65">
                  <a:moveTo>
                    <a:pt x="5" y="11"/>
                  </a:moveTo>
                  <a:cubicBezTo>
                    <a:pt x="3" y="16"/>
                    <a:pt x="0" y="44"/>
                    <a:pt x="14" y="53"/>
                  </a:cubicBezTo>
                  <a:cubicBezTo>
                    <a:pt x="28" y="62"/>
                    <a:pt x="63" y="63"/>
                    <a:pt x="91" y="63"/>
                  </a:cubicBezTo>
                  <a:cubicBezTo>
                    <a:pt x="119" y="63"/>
                    <a:pt x="164" y="65"/>
                    <a:pt x="180" y="55"/>
                  </a:cubicBezTo>
                  <a:cubicBezTo>
                    <a:pt x="196" y="45"/>
                    <a:pt x="187" y="10"/>
                    <a:pt x="185" y="5"/>
                  </a:cubicBezTo>
                  <a:cubicBezTo>
                    <a:pt x="183" y="0"/>
                    <a:pt x="193" y="22"/>
                    <a:pt x="167" y="25"/>
                  </a:cubicBezTo>
                  <a:cubicBezTo>
                    <a:pt x="141" y="28"/>
                    <a:pt x="54" y="25"/>
                    <a:pt x="27" y="23"/>
                  </a:cubicBezTo>
                  <a:cubicBezTo>
                    <a:pt x="0" y="21"/>
                    <a:pt x="7" y="6"/>
                    <a:pt x="5" y="11"/>
                  </a:cubicBezTo>
                  <a:close/>
                </a:path>
              </a:pathLst>
            </a:custGeom>
            <a:gradFill rotWithShape="1">
              <a:gsLst>
                <a:gs pos="0">
                  <a:srgbClr val="C0C0C0">
                    <a:alpha val="50000"/>
                  </a:srgbClr>
                </a:gs>
                <a:gs pos="100000">
                  <a:schemeClr val="tx2"/>
                </a:gs>
              </a:gsLst>
              <a:lin ang="54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p>
              <a:endParaRPr lang="zh-CN" altLang="en-US"/>
            </a:p>
          </p:txBody>
        </p:sp>
        <p:sp>
          <p:nvSpPr>
            <p:cNvPr id="147500" name="Freeform 923"/>
            <p:cNvSpPr/>
            <p:nvPr/>
          </p:nvSpPr>
          <p:spPr bwMode="auto">
            <a:xfrm>
              <a:off x="1389" y="3275"/>
              <a:ext cx="196" cy="51"/>
            </a:xfrm>
            <a:custGeom>
              <a:avLst/>
              <a:gdLst>
                <a:gd name="T0" fmla="*/ 5 w 196"/>
                <a:gd name="T1" fmla="*/ 4 h 65"/>
                <a:gd name="T2" fmla="*/ 14 w 196"/>
                <a:gd name="T3" fmla="*/ 20 h 65"/>
                <a:gd name="T4" fmla="*/ 91 w 196"/>
                <a:gd name="T5" fmla="*/ 24 h 65"/>
                <a:gd name="T6" fmla="*/ 180 w 196"/>
                <a:gd name="T7" fmla="*/ 21 h 65"/>
                <a:gd name="T8" fmla="*/ 185 w 196"/>
                <a:gd name="T9" fmla="*/ 2 h 65"/>
                <a:gd name="T10" fmla="*/ 167 w 196"/>
                <a:gd name="T11" fmla="*/ 10 h 65"/>
                <a:gd name="T12" fmla="*/ 27 w 196"/>
                <a:gd name="T13" fmla="*/ 9 h 65"/>
                <a:gd name="T14" fmla="*/ 5 w 196"/>
                <a:gd name="T15" fmla="*/ 4 h 65"/>
                <a:gd name="T16" fmla="*/ 0 60000 65536"/>
                <a:gd name="T17" fmla="*/ 0 60000 65536"/>
                <a:gd name="T18" fmla="*/ 0 60000 65536"/>
                <a:gd name="T19" fmla="*/ 0 60000 65536"/>
                <a:gd name="T20" fmla="*/ 0 60000 65536"/>
                <a:gd name="T21" fmla="*/ 0 60000 65536"/>
                <a:gd name="T22" fmla="*/ 0 60000 65536"/>
                <a:gd name="T23" fmla="*/ 0 60000 65536"/>
                <a:gd name="T24" fmla="*/ 0 w 196"/>
                <a:gd name="T25" fmla="*/ 0 h 65"/>
                <a:gd name="T26" fmla="*/ 196 w 196"/>
                <a:gd name="T27" fmla="*/ 65 h 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6" h="65">
                  <a:moveTo>
                    <a:pt x="5" y="11"/>
                  </a:moveTo>
                  <a:cubicBezTo>
                    <a:pt x="3" y="16"/>
                    <a:pt x="0" y="44"/>
                    <a:pt x="14" y="53"/>
                  </a:cubicBezTo>
                  <a:cubicBezTo>
                    <a:pt x="28" y="62"/>
                    <a:pt x="63" y="63"/>
                    <a:pt x="91" y="63"/>
                  </a:cubicBezTo>
                  <a:cubicBezTo>
                    <a:pt x="119" y="63"/>
                    <a:pt x="164" y="65"/>
                    <a:pt x="180" y="55"/>
                  </a:cubicBezTo>
                  <a:cubicBezTo>
                    <a:pt x="196" y="45"/>
                    <a:pt x="187" y="10"/>
                    <a:pt x="185" y="5"/>
                  </a:cubicBezTo>
                  <a:cubicBezTo>
                    <a:pt x="183" y="0"/>
                    <a:pt x="193" y="22"/>
                    <a:pt x="167" y="25"/>
                  </a:cubicBezTo>
                  <a:cubicBezTo>
                    <a:pt x="141" y="28"/>
                    <a:pt x="54" y="25"/>
                    <a:pt x="27" y="23"/>
                  </a:cubicBezTo>
                  <a:cubicBezTo>
                    <a:pt x="0" y="21"/>
                    <a:pt x="7" y="6"/>
                    <a:pt x="5" y="11"/>
                  </a:cubicBezTo>
                  <a:close/>
                </a:path>
              </a:pathLst>
            </a:custGeom>
            <a:gradFill rotWithShape="1">
              <a:gsLst>
                <a:gs pos="0">
                  <a:srgbClr val="C0C0C0">
                    <a:alpha val="50000"/>
                  </a:srgbClr>
                </a:gs>
                <a:gs pos="100000">
                  <a:schemeClr val="tx2"/>
                </a:gs>
              </a:gsLst>
              <a:lin ang="54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p>
              <a:endParaRPr lang="zh-CN" altLang="en-US"/>
            </a:p>
          </p:txBody>
        </p:sp>
        <p:sp>
          <p:nvSpPr>
            <p:cNvPr id="147501" name="Freeform 924"/>
            <p:cNvSpPr/>
            <p:nvPr/>
          </p:nvSpPr>
          <p:spPr bwMode="auto">
            <a:xfrm>
              <a:off x="1389" y="3087"/>
              <a:ext cx="196" cy="37"/>
            </a:xfrm>
            <a:custGeom>
              <a:avLst/>
              <a:gdLst>
                <a:gd name="T0" fmla="*/ 5 w 196"/>
                <a:gd name="T1" fmla="*/ 1 h 65"/>
                <a:gd name="T2" fmla="*/ 14 w 196"/>
                <a:gd name="T3" fmla="*/ 6 h 65"/>
                <a:gd name="T4" fmla="*/ 91 w 196"/>
                <a:gd name="T5" fmla="*/ 6 h 65"/>
                <a:gd name="T6" fmla="*/ 180 w 196"/>
                <a:gd name="T7" fmla="*/ 6 h 65"/>
                <a:gd name="T8" fmla="*/ 185 w 196"/>
                <a:gd name="T9" fmla="*/ 1 h 65"/>
                <a:gd name="T10" fmla="*/ 167 w 196"/>
                <a:gd name="T11" fmla="*/ 3 h 65"/>
                <a:gd name="T12" fmla="*/ 27 w 196"/>
                <a:gd name="T13" fmla="*/ 2 h 65"/>
                <a:gd name="T14" fmla="*/ 5 w 196"/>
                <a:gd name="T15" fmla="*/ 1 h 65"/>
                <a:gd name="T16" fmla="*/ 0 60000 65536"/>
                <a:gd name="T17" fmla="*/ 0 60000 65536"/>
                <a:gd name="T18" fmla="*/ 0 60000 65536"/>
                <a:gd name="T19" fmla="*/ 0 60000 65536"/>
                <a:gd name="T20" fmla="*/ 0 60000 65536"/>
                <a:gd name="T21" fmla="*/ 0 60000 65536"/>
                <a:gd name="T22" fmla="*/ 0 60000 65536"/>
                <a:gd name="T23" fmla="*/ 0 60000 65536"/>
                <a:gd name="T24" fmla="*/ 0 w 196"/>
                <a:gd name="T25" fmla="*/ 0 h 65"/>
                <a:gd name="T26" fmla="*/ 196 w 196"/>
                <a:gd name="T27" fmla="*/ 65 h 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6" h="65">
                  <a:moveTo>
                    <a:pt x="5" y="11"/>
                  </a:moveTo>
                  <a:cubicBezTo>
                    <a:pt x="3" y="16"/>
                    <a:pt x="0" y="44"/>
                    <a:pt x="14" y="53"/>
                  </a:cubicBezTo>
                  <a:cubicBezTo>
                    <a:pt x="28" y="62"/>
                    <a:pt x="63" y="63"/>
                    <a:pt x="91" y="63"/>
                  </a:cubicBezTo>
                  <a:cubicBezTo>
                    <a:pt x="119" y="63"/>
                    <a:pt x="164" y="65"/>
                    <a:pt x="180" y="55"/>
                  </a:cubicBezTo>
                  <a:cubicBezTo>
                    <a:pt x="196" y="45"/>
                    <a:pt x="187" y="10"/>
                    <a:pt x="185" y="5"/>
                  </a:cubicBezTo>
                  <a:cubicBezTo>
                    <a:pt x="183" y="0"/>
                    <a:pt x="193" y="22"/>
                    <a:pt x="167" y="25"/>
                  </a:cubicBezTo>
                  <a:cubicBezTo>
                    <a:pt x="141" y="28"/>
                    <a:pt x="54" y="25"/>
                    <a:pt x="27" y="23"/>
                  </a:cubicBezTo>
                  <a:cubicBezTo>
                    <a:pt x="0" y="21"/>
                    <a:pt x="7" y="6"/>
                    <a:pt x="5" y="11"/>
                  </a:cubicBezTo>
                  <a:close/>
                </a:path>
              </a:pathLst>
            </a:custGeom>
            <a:gradFill rotWithShape="1">
              <a:gsLst>
                <a:gs pos="0">
                  <a:srgbClr val="C0C0C0">
                    <a:alpha val="50000"/>
                  </a:srgbClr>
                </a:gs>
                <a:gs pos="100000">
                  <a:schemeClr val="tx2"/>
                </a:gs>
              </a:gsLst>
              <a:lin ang="54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p>
              <a:endParaRPr lang="zh-CN" altLang="en-US"/>
            </a:p>
          </p:txBody>
        </p:sp>
        <p:sp>
          <p:nvSpPr>
            <p:cNvPr id="147502" name="Freeform 925"/>
            <p:cNvSpPr/>
            <p:nvPr/>
          </p:nvSpPr>
          <p:spPr bwMode="auto">
            <a:xfrm>
              <a:off x="1389" y="3015"/>
              <a:ext cx="196" cy="29"/>
            </a:xfrm>
            <a:custGeom>
              <a:avLst/>
              <a:gdLst>
                <a:gd name="T0" fmla="*/ 5 w 196"/>
                <a:gd name="T1" fmla="*/ 0 h 65"/>
                <a:gd name="T2" fmla="*/ 14 w 196"/>
                <a:gd name="T3" fmla="*/ 2 h 65"/>
                <a:gd name="T4" fmla="*/ 91 w 196"/>
                <a:gd name="T5" fmla="*/ 2 h 65"/>
                <a:gd name="T6" fmla="*/ 180 w 196"/>
                <a:gd name="T7" fmla="*/ 2 h 65"/>
                <a:gd name="T8" fmla="*/ 185 w 196"/>
                <a:gd name="T9" fmla="*/ 0 h 65"/>
                <a:gd name="T10" fmla="*/ 167 w 196"/>
                <a:gd name="T11" fmla="*/ 1 h 65"/>
                <a:gd name="T12" fmla="*/ 27 w 196"/>
                <a:gd name="T13" fmla="*/ 1 h 65"/>
                <a:gd name="T14" fmla="*/ 5 w 196"/>
                <a:gd name="T15" fmla="*/ 0 h 65"/>
                <a:gd name="T16" fmla="*/ 0 60000 65536"/>
                <a:gd name="T17" fmla="*/ 0 60000 65536"/>
                <a:gd name="T18" fmla="*/ 0 60000 65536"/>
                <a:gd name="T19" fmla="*/ 0 60000 65536"/>
                <a:gd name="T20" fmla="*/ 0 60000 65536"/>
                <a:gd name="T21" fmla="*/ 0 60000 65536"/>
                <a:gd name="T22" fmla="*/ 0 60000 65536"/>
                <a:gd name="T23" fmla="*/ 0 60000 65536"/>
                <a:gd name="T24" fmla="*/ 0 w 196"/>
                <a:gd name="T25" fmla="*/ 0 h 65"/>
                <a:gd name="T26" fmla="*/ 196 w 196"/>
                <a:gd name="T27" fmla="*/ 65 h 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6" h="65">
                  <a:moveTo>
                    <a:pt x="5" y="11"/>
                  </a:moveTo>
                  <a:cubicBezTo>
                    <a:pt x="3" y="16"/>
                    <a:pt x="0" y="44"/>
                    <a:pt x="14" y="53"/>
                  </a:cubicBezTo>
                  <a:cubicBezTo>
                    <a:pt x="28" y="62"/>
                    <a:pt x="63" y="63"/>
                    <a:pt x="91" y="63"/>
                  </a:cubicBezTo>
                  <a:cubicBezTo>
                    <a:pt x="119" y="63"/>
                    <a:pt x="164" y="65"/>
                    <a:pt x="180" y="55"/>
                  </a:cubicBezTo>
                  <a:cubicBezTo>
                    <a:pt x="196" y="45"/>
                    <a:pt x="187" y="10"/>
                    <a:pt x="185" y="5"/>
                  </a:cubicBezTo>
                  <a:cubicBezTo>
                    <a:pt x="183" y="0"/>
                    <a:pt x="193" y="22"/>
                    <a:pt x="167" y="25"/>
                  </a:cubicBezTo>
                  <a:cubicBezTo>
                    <a:pt x="141" y="28"/>
                    <a:pt x="54" y="25"/>
                    <a:pt x="27" y="23"/>
                  </a:cubicBezTo>
                  <a:cubicBezTo>
                    <a:pt x="0" y="21"/>
                    <a:pt x="7" y="6"/>
                    <a:pt x="5" y="11"/>
                  </a:cubicBezTo>
                  <a:close/>
                </a:path>
              </a:pathLst>
            </a:custGeom>
            <a:gradFill rotWithShape="1">
              <a:gsLst>
                <a:gs pos="0">
                  <a:srgbClr val="C0C0C0">
                    <a:alpha val="50000"/>
                  </a:srgbClr>
                </a:gs>
                <a:gs pos="100000">
                  <a:schemeClr val="tx2"/>
                </a:gs>
              </a:gsLst>
              <a:lin ang="54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p>
              <a:endParaRPr lang="zh-CN" altLang="en-US"/>
            </a:p>
          </p:txBody>
        </p:sp>
        <p:sp>
          <p:nvSpPr>
            <p:cNvPr id="147503" name="Freeform 926"/>
            <p:cNvSpPr/>
            <p:nvPr/>
          </p:nvSpPr>
          <p:spPr bwMode="auto">
            <a:xfrm>
              <a:off x="1389" y="2968"/>
              <a:ext cx="196" cy="27"/>
            </a:xfrm>
            <a:custGeom>
              <a:avLst/>
              <a:gdLst>
                <a:gd name="T0" fmla="*/ 5 w 196"/>
                <a:gd name="T1" fmla="*/ 0 h 65"/>
                <a:gd name="T2" fmla="*/ 14 w 196"/>
                <a:gd name="T3" fmla="*/ 2 h 65"/>
                <a:gd name="T4" fmla="*/ 91 w 196"/>
                <a:gd name="T5" fmla="*/ 2 h 65"/>
                <a:gd name="T6" fmla="*/ 180 w 196"/>
                <a:gd name="T7" fmla="*/ 2 h 65"/>
                <a:gd name="T8" fmla="*/ 185 w 196"/>
                <a:gd name="T9" fmla="*/ 0 h 65"/>
                <a:gd name="T10" fmla="*/ 167 w 196"/>
                <a:gd name="T11" fmla="*/ 1 h 65"/>
                <a:gd name="T12" fmla="*/ 27 w 196"/>
                <a:gd name="T13" fmla="*/ 1 h 65"/>
                <a:gd name="T14" fmla="*/ 5 w 196"/>
                <a:gd name="T15" fmla="*/ 0 h 65"/>
                <a:gd name="T16" fmla="*/ 0 60000 65536"/>
                <a:gd name="T17" fmla="*/ 0 60000 65536"/>
                <a:gd name="T18" fmla="*/ 0 60000 65536"/>
                <a:gd name="T19" fmla="*/ 0 60000 65536"/>
                <a:gd name="T20" fmla="*/ 0 60000 65536"/>
                <a:gd name="T21" fmla="*/ 0 60000 65536"/>
                <a:gd name="T22" fmla="*/ 0 60000 65536"/>
                <a:gd name="T23" fmla="*/ 0 60000 65536"/>
                <a:gd name="T24" fmla="*/ 0 w 196"/>
                <a:gd name="T25" fmla="*/ 0 h 65"/>
                <a:gd name="T26" fmla="*/ 196 w 196"/>
                <a:gd name="T27" fmla="*/ 65 h 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6" h="65">
                  <a:moveTo>
                    <a:pt x="5" y="11"/>
                  </a:moveTo>
                  <a:cubicBezTo>
                    <a:pt x="3" y="16"/>
                    <a:pt x="0" y="44"/>
                    <a:pt x="14" y="53"/>
                  </a:cubicBezTo>
                  <a:cubicBezTo>
                    <a:pt x="28" y="62"/>
                    <a:pt x="63" y="63"/>
                    <a:pt x="91" y="63"/>
                  </a:cubicBezTo>
                  <a:cubicBezTo>
                    <a:pt x="119" y="63"/>
                    <a:pt x="164" y="65"/>
                    <a:pt x="180" y="55"/>
                  </a:cubicBezTo>
                  <a:cubicBezTo>
                    <a:pt x="196" y="45"/>
                    <a:pt x="187" y="10"/>
                    <a:pt x="185" y="5"/>
                  </a:cubicBezTo>
                  <a:cubicBezTo>
                    <a:pt x="183" y="0"/>
                    <a:pt x="193" y="22"/>
                    <a:pt x="167" y="25"/>
                  </a:cubicBezTo>
                  <a:cubicBezTo>
                    <a:pt x="141" y="28"/>
                    <a:pt x="54" y="25"/>
                    <a:pt x="27" y="23"/>
                  </a:cubicBezTo>
                  <a:cubicBezTo>
                    <a:pt x="0" y="21"/>
                    <a:pt x="7" y="6"/>
                    <a:pt x="5" y="11"/>
                  </a:cubicBezTo>
                  <a:close/>
                </a:path>
              </a:pathLst>
            </a:custGeom>
            <a:gradFill rotWithShape="1">
              <a:gsLst>
                <a:gs pos="0">
                  <a:srgbClr val="C0C0C0">
                    <a:alpha val="50000"/>
                  </a:srgbClr>
                </a:gs>
                <a:gs pos="100000">
                  <a:schemeClr val="tx2"/>
                </a:gs>
              </a:gsLst>
              <a:lin ang="54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p>
              <a:endParaRPr lang="zh-CN" altLang="en-US"/>
            </a:p>
          </p:txBody>
        </p:sp>
        <p:sp>
          <p:nvSpPr>
            <p:cNvPr id="147504" name="Freeform 927"/>
            <p:cNvSpPr/>
            <p:nvPr/>
          </p:nvSpPr>
          <p:spPr bwMode="auto">
            <a:xfrm>
              <a:off x="1389" y="2937"/>
              <a:ext cx="196" cy="27"/>
            </a:xfrm>
            <a:custGeom>
              <a:avLst/>
              <a:gdLst>
                <a:gd name="T0" fmla="*/ 5 w 196"/>
                <a:gd name="T1" fmla="*/ 0 h 65"/>
                <a:gd name="T2" fmla="*/ 14 w 196"/>
                <a:gd name="T3" fmla="*/ 2 h 65"/>
                <a:gd name="T4" fmla="*/ 91 w 196"/>
                <a:gd name="T5" fmla="*/ 2 h 65"/>
                <a:gd name="T6" fmla="*/ 180 w 196"/>
                <a:gd name="T7" fmla="*/ 2 h 65"/>
                <a:gd name="T8" fmla="*/ 185 w 196"/>
                <a:gd name="T9" fmla="*/ 0 h 65"/>
                <a:gd name="T10" fmla="*/ 167 w 196"/>
                <a:gd name="T11" fmla="*/ 1 h 65"/>
                <a:gd name="T12" fmla="*/ 27 w 196"/>
                <a:gd name="T13" fmla="*/ 1 h 65"/>
                <a:gd name="T14" fmla="*/ 5 w 196"/>
                <a:gd name="T15" fmla="*/ 0 h 65"/>
                <a:gd name="T16" fmla="*/ 0 60000 65536"/>
                <a:gd name="T17" fmla="*/ 0 60000 65536"/>
                <a:gd name="T18" fmla="*/ 0 60000 65536"/>
                <a:gd name="T19" fmla="*/ 0 60000 65536"/>
                <a:gd name="T20" fmla="*/ 0 60000 65536"/>
                <a:gd name="T21" fmla="*/ 0 60000 65536"/>
                <a:gd name="T22" fmla="*/ 0 60000 65536"/>
                <a:gd name="T23" fmla="*/ 0 60000 65536"/>
                <a:gd name="T24" fmla="*/ 0 w 196"/>
                <a:gd name="T25" fmla="*/ 0 h 65"/>
                <a:gd name="T26" fmla="*/ 196 w 196"/>
                <a:gd name="T27" fmla="*/ 65 h 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96" h="65">
                  <a:moveTo>
                    <a:pt x="5" y="11"/>
                  </a:moveTo>
                  <a:cubicBezTo>
                    <a:pt x="3" y="16"/>
                    <a:pt x="0" y="44"/>
                    <a:pt x="14" y="53"/>
                  </a:cubicBezTo>
                  <a:cubicBezTo>
                    <a:pt x="28" y="62"/>
                    <a:pt x="63" y="63"/>
                    <a:pt x="91" y="63"/>
                  </a:cubicBezTo>
                  <a:cubicBezTo>
                    <a:pt x="119" y="63"/>
                    <a:pt x="164" y="65"/>
                    <a:pt x="180" y="55"/>
                  </a:cubicBezTo>
                  <a:cubicBezTo>
                    <a:pt x="196" y="45"/>
                    <a:pt x="187" y="10"/>
                    <a:pt x="185" y="5"/>
                  </a:cubicBezTo>
                  <a:cubicBezTo>
                    <a:pt x="183" y="0"/>
                    <a:pt x="193" y="22"/>
                    <a:pt x="167" y="25"/>
                  </a:cubicBezTo>
                  <a:cubicBezTo>
                    <a:pt x="141" y="28"/>
                    <a:pt x="54" y="25"/>
                    <a:pt x="27" y="23"/>
                  </a:cubicBezTo>
                  <a:cubicBezTo>
                    <a:pt x="0" y="21"/>
                    <a:pt x="7" y="6"/>
                    <a:pt x="5" y="11"/>
                  </a:cubicBezTo>
                  <a:close/>
                </a:path>
              </a:pathLst>
            </a:custGeom>
            <a:gradFill rotWithShape="1">
              <a:gsLst>
                <a:gs pos="0">
                  <a:srgbClr val="C0C0C0">
                    <a:alpha val="50000"/>
                  </a:srgbClr>
                </a:gs>
                <a:gs pos="100000">
                  <a:schemeClr val="tx2"/>
                </a:gs>
              </a:gsLst>
              <a:lin ang="5400000" scaled="1"/>
            </a:gradFill>
            <a:ln>
              <a:noFill/>
            </a:ln>
            <a:extLst>
              <a:ext uri="{91240B29-F687-4F45-9708-019B960494DF}">
                <a14:hiddenLine xmlns:a14="http://schemas.microsoft.com/office/drawing/2010/main" w="38100">
                  <a:solidFill>
                    <a:srgbClr val="000000"/>
                  </a:solidFill>
                  <a:round/>
                </a14:hiddenLine>
              </a:ext>
            </a:extLst>
          </p:spPr>
          <p:txBody>
            <a:bodyPr wrap="none" anchor="ctr"/>
            <a:lstStyle/>
            <a:p>
              <a:endParaRPr lang="zh-CN" altLang="en-US"/>
            </a:p>
          </p:txBody>
        </p:sp>
        <p:grpSp>
          <p:nvGrpSpPr>
            <p:cNvPr id="147505" name="Group 928"/>
            <p:cNvGrpSpPr>
              <a:grpSpLocks noChangeAspect="1"/>
            </p:cNvGrpSpPr>
            <p:nvPr/>
          </p:nvGrpSpPr>
          <p:grpSpPr bwMode="auto">
            <a:xfrm>
              <a:off x="590" y="2780"/>
              <a:ext cx="950" cy="81"/>
              <a:chOff x="3564" y="1839"/>
              <a:chExt cx="1807" cy="154"/>
            </a:xfrm>
          </p:grpSpPr>
          <p:sp>
            <p:nvSpPr>
              <p:cNvPr id="147506" name="Freeform 929"/>
              <p:cNvSpPr>
                <a:spLocks noChangeAspect="1"/>
              </p:cNvSpPr>
              <p:nvPr/>
            </p:nvSpPr>
            <p:spPr bwMode="auto">
              <a:xfrm>
                <a:off x="3564" y="1863"/>
                <a:ext cx="81" cy="130"/>
              </a:xfrm>
              <a:custGeom>
                <a:avLst/>
                <a:gdLst>
                  <a:gd name="T0" fmla="*/ 0 w 426"/>
                  <a:gd name="T1" fmla="*/ 1 h 684"/>
                  <a:gd name="T2" fmla="*/ 0 w 426"/>
                  <a:gd name="T3" fmla="*/ 0 h 684"/>
                  <a:gd name="T4" fmla="*/ 1 w 426"/>
                  <a:gd name="T5" fmla="*/ 1 h 684"/>
                  <a:gd name="T6" fmla="*/ 1 w 426"/>
                  <a:gd name="T7" fmla="*/ 0 h 684"/>
                  <a:gd name="T8" fmla="*/ 0 60000 65536"/>
                  <a:gd name="T9" fmla="*/ 0 60000 65536"/>
                  <a:gd name="T10" fmla="*/ 0 60000 65536"/>
                  <a:gd name="T11" fmla="*/ 0 60000 65536"/>
                  <a:gd name="T12" fmla="*/ 0 w 426"/>
                  <a:gd name="T13" fmla="*/ 0 h 684"/>
                  <a:gd name="T14" fmla="*/ 426 w 426"/>
                  <a:gd name="T15" fmla="*/ 684 h 684"/>
                </a:gdLst>
                <a:ahLst/>
                <a:cxnLst>
                  <a:cxn ang="T8">
                    <a:pos x="T0" y="T1"/>
                  </a:cxn>
                  <a:cxn ang="T9">
                    <a:pos x="T2" y="T3"/>
                  </a:cxn>
                  <a:cxn ang="T10">
                    <a:pos x="T4" y="T5"/>
                  </a:cxn>
                  <a:cxn ang="T11">
                    <a:pos x="T6" y="T7"/>
                  </a:cxn>
                </a:cxnLst>
                <a:rect l="T12" t="T13" r="T14" b="T15"/>
                <a:pathLst>
                  <a:path w="426" h="684">
                    <a:moveTo>
                      <a:pt x="0" y="684"/>
                    </a:moveTo>
                    <a:lnTo>
                      <a:pt x="0" y="6"/>
                    </a:lnTo>
                    <a:lnTo>
                      <a:pt x="426" y="672"/>
                    </a:lnTo>
                    <a:lnTo>
                      <a:pt x="426" y="0"/>
                    </a:lnTo>
                  </a:path>
                </a:pathLst>
              </a:custGeom>
              <a:noFill/>
              <a:ln w="19050">
                <a:solidFill>
                  <a:srgbClr val="0000CC"/>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507" name="Freeform 930"/>
              <p:cNvSpPr>
                <a:spLocks noChangeAspect="1"/>
              </p:cNvSpPr>
              <p:nvPr/>
            </p:nvSpPr>
            <p:spPr bwMode="auto">
              <a:xfrm>
                <a:off x="3695" y="1862"/>
                <a:ext cx="109" cy="131"/>
              </a:xfrm>
              <a:custGeom>
                <a:avLst/>
                <a:gdLst>
                  <a:gd name="T0" fmla="*/ 0 w 551"/>
                  <a:gd name="T1" fmla="*/ 0 h 660"/>
                  <a:gd name="T2" fmla="*/ 0 w 551"/>
                  <a:gd name="T3" fmla="*/ 0 h 660"/>
                  <a:gd name="T4" fmla="*/ 0 w 551"/>
                  <a:gd name="T5" fmla="*/ 1 h 660"/>
                  <a:gd name="T6" fmla="*/ 0 w 551"/>
                  <a:gd name="T7" fmla="*/ 1 h 660"/>
                  <a:gd name="T8" fmla="*/ 1 w 551"/>
                  <a:gd name="T9" fmla="*/ 1 h 660"/>
                  <a:gd name="T10" fmla="*/ 1 w 551"/>
                  <a:gd name="T11" fmla="*/ 1 h 660"/>
                  <a:gd name="T12" fmla="*/ 1 w 551"/>
                  <a:gd name="T13" fmla="*/ 0 h 660"/>
                  <a:gd name="T14" fmla="*/ 1 w 551"/>
                  <a:gd name="T15" fmla="*/ 0 h 660"/>
                  <a:gd name="T16" fmla="*/ 0 w 551"/>
                  <a:gd name="T17" fmla="*/ 0 h 66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51"/>
                  <a:gd name="T28" fmla="*/ 0 h 660"/>
                  <a:gd name="T29" fmla="*/ 551 w 551"/>
                  <a:gd name="T30" fmla="*/ 660 h 66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51" h="660">
                    <a:moveTo>
                      <a:pt x="166" y="26"/>
                    </a:moveTo>
                    <a:cubicBezTo>
                      <a:pt x="110" y="58"/>
                      <a:pt x="44" y="142"/>
                      <a:pt x="22" y="218"/>
                    </a:cubicBezTo>
                    <a:cubicBezTo>
                      <a:pt x="0" y="294"/>
                      <a:pt x="9" y="413"/>
                      <a:pt x="34" y="482"/>
                    </a:cubicBezTo>
                    <a:cubicBezTo>
                      <a:pt x="59" y="551"/>
                      <a:pt x="116" y="607"/>
                      <a:pt x="172" y="632"/>
                    </a:cubicBezTo>
                    <a:cubicBezTo>
                      <a:pt x="228" y="657"/>
                      <a:pt x="311" y="660"/>
                      <a:pt x="370" y="632"/>
                    </a:cubicBezTo>
                    <a:cubicBezTo>
                      <a:pt x="429" y="604"/>
                      <a:pt x="501" y="539"/>
                      <a:pt x="526" y="464"/>
                    </a:cubicBezTo>
                    <a:cubicBezTo>
                      <a:pt x="551" y="389"/>
                      <a:pt x="547" y="255"/>
                      <a:pt x="520" y="182"/>
                    </a:cubicBezTo>
                    <a:cubicBezTo>
                      <a:pt x="493" y="109"/>
                      <a:pt x="423" y="52"/>
                      <a:pt x="364" y="26"/>
                    </a:cubicBezTo>
                    <a:cubicBezTo>
                      <a:pt x="305" y="0"/>
                      <a:pt x="207" y="26"/>
                      <a:pt x="166" y="26"/>
                    </a:cubicBezTo>
                    <a:close/>
                  </a:path>
                </a:pathLst>
              </a:custGeom>
              <a:noFill/>
              <a:ln w="19050">
                <a:solidFill>
                  <a:srgbClr val="0000CC"/>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508" name="Freeform 931"/>
              <p:cNvSpPr>
                <a:spLocks noChangeAspect="1"/>
              </p:cNvSpPr>
              <p:nvPr/>
            </p:nvSpPr>
            <p:spPr bwMode="auto">
              <a:xfrm>
                <a:off x="3855" y="1858"/>
                <a:ext cx="98" cy="135"/>
              </a:xfrm>
              <a:custGeom>
                <a:avLst/>
                <a:gdLst>
                  <a:gd name="T0" fmla="*/ 0 w 468"/>
                  <a:gd name="T1" fmla="*/ 1 h 642"/>
                  <a:gd name="T2" fmla="*/ 0 w 468"/>
                  <a:gd name="T3" fmla="*/ 0 h 642"/>
                  <a:gd name="T4" fmla="*/ 0 w 468"/>
                  <a:gd name="T5" fmla="*/ 0 h 642"/>
                  <a:gd name="T6" fmla="*/ 1 w 468"/>
                  <a:gd name="T7" fmla="*/ 0 h 642"/>
                  <a:gd name="T8" fmla="*/ 1 w 468"/>
                  <a:gd name="T9" fmla="*/ 0 h 642"/>
                  <a:gd name="T10" fmla="*/ 0 w 468"/>
                  <a:gd name="T11" fmla="*/ 1 h 642"/>
                  <a:gd name="T12" fmla="*/ 0 w 468"/>
                  <a:gd name="T13" fmla="*/ 1 h 642"/>
                  <a:gd name="T14" fmla="*/ 0 w 468"/>
                  <a:gd name="T15" fmla="*/ 1 h 642"/>
                  <a:gd name="T16" fmla="*/ 1 w 468"/>
                  <a:gd name="T17" fmla="*/ 1 h 6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68"/>
                  <a:gd name="T28" fmla="*/ 0 h 642"/>
                  <a:gd name="T29" fmla="*/ 468 w 468"/>
                  <a:gd name="T30" fmla="*/ 642 h 64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68" h="642">
                    <a:moveTo>
                      <a:pt x="6" y="636"/>
                    </a:moveTo>
                    <a:lnTo>
                      <a:pt x="0" y="0"/>
                    </a:lnTo>
                    <a:lnTo>
                      <a:pt x="234" y="0"/>
                    </a:lnTo>
                    <a:cubicBezTo>
                      <a:pt x="303" y="11"/>
                      <a:pt x="386" y="26"/>
                      <a:pt x="414" y="66"/>
                    </a:cubicBezTo>
                    <a:cubicBezTo>
                      <a:pt x="442" y="106"/>
                      <a:pt x="436" y="200"/>
                      <a:pt x="402" y="240"/>
                    </a:cubicBezTo>
                    <a:cubicBezTo>
                      <a:pt x="368" y="280"/>
                      <a:pt x="277" y="295"/>
                      <a:pt x="210" y="306"/>
                    </a:cubicBezTo>
                    <a:lnTo>
                      <a:pt x="0" y="306"/>
                    </a:lnTo>
                    <a:lnTo>
                      <a:pt x="216" y="312"/>
                    </a:lnTo>
                    <a:cubicBezTo>
                      <a:pt x="294" y="368"/>
                      <a:pt x="426" y="587"/>
                      <a:pt x="468" y="642"/>
                    </a:cubicBezTo>
                  </a:path>
                </a:pathLst>
              </a:custGeom>
              <a:noFill/>
              <a:ln w="19050">
                <a:solidFill>
                  <a:srgbClr val="0000CC"/>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7509" name="Group 932"/>
              <p:cNvGrpSpPr>
                <a:grpSpLocks noChangeAspect="1"/>
              </p:cNvGrpSpPr>
              <p:nvPr/>
            </p:nvGrpSpPr>
            <p:grpSpPr bwMode="auto">
              <a:xfrm>
                <a:off x="4004" y="1861"/>
                <a:ext cx="110" cy="132"/>
                <a:chOff x="906" y="2412"/>
                <a:chExt cx="552" cy="660"/>
              </a:xfrm>
            </p:grpSpPr>
            <p:sp>
              <p:nvSpPr>
                <p:cNvPr id="147525" name="Freeform 933"/>
                <p:cNvSpPr>
                  <a:spLocks noChangeAspect="1"/>
                </p:cNvSpPr>
                <p:nvPr/>
              </p:nvSpPr>
              <p:spPr bwMode="auto">
                <a:xfrm>
                  <a:off x="906" y="2418"/>
                  <a:ext cx="552" cy="1"/>
                </a:xfrm>
                <a:custGeom>
                  <a:avLst/>
                  <a:gdLst>
                    <a:gd name="T0" fmla="*/ 0 w 552"/>
                    <a:gd name="T1" fmla="*/ 0 h 1"/>
                    <a:gd name="T2" fmla="*/ 552 w 552"/>
                    <a:gd name="T3" fmla="*/ 0 h 1"/>
                    <a:gd name="T4" fmla="*/ 0 60000 65536"/>
                    <a:gd name="T5" fmla="*/ 0 60000 65536"/>
                    <a:gd name="T6" fmla="*/ 0 w 552"/>
                    <a:gd name="T7" fmla="*/ 0 h 1"/>
                    <a:gd name="T8" fmla="*/ 552 w 552"/>
                    <a:gd name="T9" fmla="*/ 1 h 1"/>
                  </a:gdLst>
                  <a:ahLst/>
                  <a:cxnLst>
                    <a:cxn ang="T4">
                      <a:pos x="T0" y="T1"/>
                    </a:cxn>
                    <a:cxn ang="T5">
                      <a:pos x="T2" y="T3"/>
                    </a:cxn>
                  </a:cxnLst>
                  <a:rect l="T6" t="T7" r="T8" b="T9"/>
                  <a:pathLst>
                    <a:path w="552" h="1">
                      <a:moveTo>
                        <a:pt x="0" y="0"/>
                      </a:moveTo>
                      <a:cubicBezTo>
                        <a:pt x="230" y="0"/>
                        <a:pt x="461" y="0"/>
                        <a:pt x="552" y="0"/>
                      </a:cubicBezTo>
                    </a:path>
                  </a:pathLst>
                </a:custGeom>
                <a:noFill/>
                <a:ln w="19050">
                  <a:solidFill>
                    <a:srgbClr val="0000CC"/>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526" name="Freeform 934"/>
                <p:cNvSpPr>
                  <a:spLocks noChangeAspect="1"/>
                </p:cNvSpPr>
                <p:nvPr/>
              </p:nvSpPr>
              <p:spPr bwMode="auto">
                <a:xfrm>
                  <a:off x="1176" y="2412"/>
                  <a:ext cx="1" cy="660"/>
                </a:xfrm>
                <a:custGeom>
                  <a:avLst/>
                  <a:gdLst>
                    <a:gd name="T0" fmla="*/ 0 w 1"/>
                    <a:gd name="T1" fmla="*/ 0 h 660"/>
                    <a:gd name="T2" fmla="*/ 0 w 1"/>
                    <a:gd name="T3" fmla="*/ 660 h 660"/>
                    <a:gd name="T4" fmla="*/ 0 60000 65536"/>
                    <a:gd name="T5" fmla="*/ 0 60000 65536"/>
                    <a:gd name="T6" fmla="*/ 0 w 1"/>
                    <a:gd name="T7" fmla="*/ 0 h 660"/>
                    <a:gd name="T8" fmla="*/ 1 w 1"/>
                    <a:gd name="T9" fmla="*/ 660 h 660"/>
                  </a:gdLst>
                  <a:ahLst/>
                  <a:cxnLst>
                    <a:cxn ang="T4">
                      <a:pos x="T0" y="T1"/>
                    </a:cxn>
                    <a:cxn ang="T5">
                      <a:pos x="T2" y="T3"/>
                    </a:cxn>
                  </a:cxnLst>
                  <a:rect l="T6" t="T7" r="T8" b="T9"/>
                  <a:pathLst>
                    <a:path w="1" h="660">
                      <a:moveTo>
                        <a:pt x="0" y="0"/>
                      </a:moveTo>
                      <a:cubicBezTo>
                        <a:pt x="0" y="275"/>
                        <a:pt x="0" y="550"/>
                        <a:pt x="0" y="660"/>
                      </a:cubicBezTo>
                    </a:path>
                  </a:pathLst>
                </a:custGeom>
                <a:noFill/>
                <a:ln w="19050">
                  <a:solidFill>
                    <a:srgbClr val="0000CC"/>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147510" name="Group 935"/>
              <p:cNvGrpSpPr>
                <a:grpSpLocks noChangeAspect="1"/>
              </p:cNvGrpSpPr>
              <p:nvPr/>
            </p:nvGrpSpPr>
            <p:grpSpPr bwMode="auto">
              <a:xfrm>
                <a:off x="4164" y="1866"/>
                <a:ext cx="94" cy="127"/>
                <a:chOff x="4991" y="1343"/>
                <a:chExt cx="456" cy="618"/>
              </a:xfrm>
            </p:grpSpPr>
            <p:sp>
              <p:nvSpPr>
                <p:cNvPr id="147522" name="Line 936"/>
                <p:cNvSpPr>
                  <a:spLocks noChangeAspect="1" noChangeShapeType="1"/>
                </p:cNvSpPr>
                <p:nvPr/>
              </p:nvSpPr>
              <p:spPr bwMode="auto">
                <a:xfrm>
                  <a:off x="4991" y="1343"/>
                  <a:ext cx="0" cy="618"/>
                </a:xfrm>
                <a:prstGeom prst="line">
                  <a:avLst/>
                </a:prstGeom>
                <a:noFill/>
                <a:ln w="19050">
                  <a:solidFill>
                    <a:srgbClr val="0000CC"/>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523" name="Line 937"/>
                <p:cNvSpPr>
                  <a:spLocks noChangeAspect="1" noChangeShapeType="1"/>
                </p:cNvSpPr>
                <p:nvPr/>
              </p:nvSpPr>
              <p:spPr bwMode="auto">
                <a:xfrm>
                  <a:off x="5441" y="1343"/>
                  <a:ext cx="0" cy="618"/>
                </a:xfrm>
                <a:prstGeom prst="line">
                  <a:avLst/>
                </a:prstGeom>
                <a:noFill/>
                <a:ln w="19050">
                  <a:solidFill>
                    <a:srgbClr val="0000CC"/>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524" name="Line 938"/>
                <p:cNvSpPr>
                  <a:spLocks noChangeAspect="1" noChangeShapeType="1"/>
                </p:cNvSpPr>
                <p:nvPr/>
              </p:nvSpPr>
              <p:spPr bwMode="auto">
                <a:xfrm>
                  <a:off x="4991" y="1631"/>
                  <a:ext cx="456" cy="0"/>
                </a:xfrm>
                <a:prstGeom prst="line">
                  <a:avLst/>
                </a:prstGeom>
                <a:noFill/>
                <a:ln w="19050">
                  <a:solidFill>
                    <a:srgbClr val="0000CC"/>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47511" name="Group 939"/>
              <p:cNvGrpSpPr>
                <a:grpSpLocks noChangeAspect="1"/>
              </p:cNvGrpSpPr>
              <p:nvPr/>
            </p:nvGrpSpPr>
            <p:grpSpPr bwMode="auto">
              <a:xfrm>
                <a:off x="4309" y="1866"/>
                <a:ext cx="87" cy="127"/>
                <a:chOff x="3017" y="1343"/>
                <a:chExt cx="420" cy="612"/>
              </a:xfrm>
            </p:grpSpPr>
            <p:sp>
              <p:nvSpPr>
                <p:cNvPr id="147520" name="Freeform 940"/>
                <p:cNvSpPr>
                  <a:spLocks noChangeAspect="1"/>
                </p:cNvSpPr>
                <p:nvPr/>
              </p:nvSpPr>
              <p:spPr bwMode="auto">
                <a:xfrm>
                  <a:off x="3017" y="1343"/>
                  <a:ext cx="420" cy="612"/>
                </a:xfrm>
                <a:custGeom>
                  <a:avLst/>
                  <a:gdLst>
                    <a:gd name="T0" fmla="*/ 420 w 420"/>
                    <a:gd name="T1" fmla="*/ 606 h 612"/>
                    <a:gd name="T2" fmla="*/ 0 w 420"/>
                    <a:gd name="T3" fmla="*/ 612 h 612"/>
                    <a:gd name="T4" fmla="*/ 6 w 420"/>
                    <a:gd name="T5" fmla="*/ 0 h 612"/>
                    <a:gd name="T6" fmla="*/ 402 w 420"/>
                    <a:gd name="T7" fmla="*/ 0 h 612"/>
                    <a:gd name="T8" fmla="*/ 0 60000 65536"/>
                    <a:gd name="T9" fmla="*/ 0 60000 65536"/>
                    <a:gd name="T10" fmla="*/ 0 60000 65536"/>
                    <a:gd name="T11" fmla="*/ 0 60000 65536"/>
                    <a:gd name="T12" fmla="*/ 0 w 420"/>
                    <a:gd name="T13" fmla="*/ 0 h 612"/>
                    <a:gd name="T14" fmla="*/ 420 w 420"/>
                    <a:gd name="T15" fmla="*/ 612 h 612"/>
                  </a:gdLst>
                  <a:ahLst/>
                  <a:cxnLst>
                    <a:cxn ang="T8">
                      <a:pos x="T0" y="T1"/>
                    </a:cxn>
                    <a:cxn ang="T9">
                      <a:pos x="T2" y="T3"/>
                    </a:cxn>
                    <a:cxn ang="T10">
                      <a:pos x="T4" y="T5"/>
                    </a:cxn>
                    <a:cxn ang="T11">
                      <a:pos x="T6" y="T7"/>
                    </a:cxn>
                  </a:cxnLst>
                  <a:rect l="T12" t="T13" r="T14" b="T15"/>
                  <a:pathLst>
                    <a:path w="420" h="612">
                      <a:moveTo>
                        <a:pt x="420" y="606"/>
                      </a:moveTo>
                      <a:lnTo>
                        <a:pt x="0" y="612"/>
                      </a:lnTo>
                      <a:lnTo>
                        <a:pt x="6" y="0"/>
                      </a:lnTo>
                      <a:lnTo>
                        <a:pt x="402" y="0"/>
                      </a:lnTo>
                    </a:path>
                  </a:pathLst>
                </a:custGeom>
                <a:noFill/>
                <a:ln w="19050">
                  <a:solidFill>
                    <a:srgbClr val="0000CC"/>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521" name="Line 941"/>
                <p:cNvSpPr>
                  <a:spLocks noChangeAspect="1" noChangeShapeType="1"/>
                </p:cNvSpPr>
                <p:nvPr/>
              </p:nvSpPr>
              <p:spPr bwMode="auto">
                <a:xfrm>
                  <a:off x="3017" y="1637"/>
                  <a:ext cx="378" cy="0"/>
                </a:xfrm>
                <a:prstGeom prst="line">
                  <a:avLst/>
                </a:prstGeom>
                <a:noFill/>
                <a:ln w="19050">
                  <a:solidFill>
                    <a:srgbClr val="0000CC"/>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147512" name="Freeform 942"/>
              <p:cNvSpPr>
                <a:spLocks noChangeAspect="1"/>
              </p:cNvSpPr>
              <p:nvPr/>
            </p:nvSpPr>
            <p:spPr bwMode="auto">
              <a:xfrm>
                <a:off x="4447" y="1858"/>
                <a:ext cx="98" cy="135"/>
              </a:xfrm>
              <a:custGeom>
                <a:avLst/>
                <a:gdLst>
                  <a:gd name="T0" fmla="*/ 0 w 468"/>
                  <a:gd name="T1" fmla="*/ 1 h 642"/>
                  <a:gd name="T2" fmla="*/ 0 w 468"/>
                  <a:gd name="T3" fmla="*/ 0 h 642"/>
                  <a:gd name="T4" fmla="*/ 0 w 468"/>
                  <a:gd name="T5" fmla="*/ 0 h 642"/>
                  <a:gd name="T6" fmla="*/ 1 w 468"/>
                  <a:gd name="T7" fmla="*/ 0 h 642"/>
                  <a:gd name="T8" fmla="*/ 1 w 468"/>
                  <a:gd name="T9" fmla="*/ 0 h 642"/>
                  <a:gd name="T10" fmla="*/ 0 w 468"/>
                  <a:gd name="T11" fmla="*/ 1 h 642"/>
                  <a:gd name="T12" fmla="*/ 0 w 468"/>
                  <a:gd name="T13" fmla="*/ 1 h 642"/>
                  <a:gd name="T14" fmla="*/ 0 w 468"/>
                  <a:gd name="T15" fmla="*/ 1 h 642"/>
                  <a:gd name="T16" fmla="*/ 1 w 468"/>
                  <a:gd name="T17" fmla="*/ 1 h 6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68"/>
                  <a:gd name="T28" fmla="*/ 0 h 642"/>
                  <a:gd name="T29" fmla="*/ 468 w 468"/>
                  <a:gd name="T30" fmla="*/ 642 h 64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68" h="642">
                    <a:moveTo>
                      <a:pt x="6" y="636"/>
                    </a:moveTo>
                    <a:lnTo>
                      <a:pt x="0" y="0"/>
                    </a:lnTo>
                    <a:lnTo>
                      <a:pt x="234" y="0"/>
                    </a:lnTo>
                    <a:cubicBezTo>
                      <a:pt x="303" y="11"/>
                      <a:pt x="386" y="26"/>
                      <a:pt x="414" y="66"/>
                    </a:cubicBezTo>
                    <a:cubicBezTo>
                      <a:pt x="442" y="106"/>
                      <a:pt x="436" y="200"/>
                      <a:pt x="402" y="240"/>
                    </a:cubicBezTo>
                    <a:cubicBezTo>
                      <a:pt x="368" y="280"/>
                      <a:pt x="277" y="295"/>
                      <a:pt x="210" y="306"/>
                    </a:cubicBezTo>
                    <a:lnTo>
                      <a:pt x="0" y="306"/>
                    </a:lnTo>
                    <a:lnTo>
                      <a:pt x="216" y="312"/>
                    </a:lnTo>
                    <a:cubicBezTo>
                      <a:pt x="294" y="368"/>
                      <a:pt x="426" y="587"/>
                      <a:pt x="468" y="642"/>
                    </a:cubicBezTo>
                  </a:path>
                </a:pathLst>
              </a:custGeom>
              <a:noFill/>
              <a:ln w="19050">
                <a:solidFill>
                  <a:srgbClr val="0000CC"/>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513" name="Freeform 943"/>
              <p:cNvSpPr>
                <a:spLocks noChangeAspect="1"/>
              </p:cNvSpPr>
              <p:nvPr/>
            </p:nvSpPr>
            <p:spPr bwMode="auto">
              <a:xfrm>
                <a:off x="4596" y="1863"/>
                <a:ext cx="81" cy="130"/>
              </a:xfrm>
              <a:custGeom>
                <a:avLst/>
                <a:gdLst>
                  <a:gd name="T0" fmla="*/ 0 w 426"/>
                  <a:gd name="T1" fmla="*/ 1 h 684"/>
                  <a:gd name="T2" fmla="*/ 0 w 426"/>
                  <a:gd name="T3" fmla="*/ 0 h 684"/>
                  <a:gd name="T4" fmla="*/ 1 w 426"/>
                  <a:gd name="T5" fmla="*/ 1 h 684"/>
                  <a:gd name="T6" fmla="*/ 1 w 426"/>
                  <a:gd name="T7" fmla="*/ 0 h 684"/>
                  <a:gd name="T8" fmla="*/ 0 60000 65536"/>
                  <a:gd name="T9" fmla="*/ 0 60000 65536"/>
                  <a:gd name="T10" fmla="*/ 0 60000 65536"/>
                  <a:gd name="T11" fmla="*/ 0 60000 65536"/>
                  <a:gd name="T12" fmla="*/ 0 w 426"/>
                  <a:gd name="T13" fmla="*/ 0 h 684"/>
                  <a:gd name="T14" fmla="*/ 426 w 426"/>
                  <a:gd name="T15" fmla="*/ 684 h 684"/>
                </a:gdLst>
                <a:ahLst/>
                <a:cxnLst>
                  <a:cxn ang="T8">
                    <a:pos x="T0" y="T1"/>
                  </a:cxn>
                  <a:cxn ang="T9">
                    <a:pos x="T2" y="T3"/>
                  </a:cxn>
                  <a:cxn ang="T10">
                    <a:pos x="T4" y="T5"/>
                  </a:cxn>
                  <a:cxn ang="T11">
                    <a:pos x="T6" y="T7"/>
                  </a:cxn>
                </a:cxnLst>
                <a:rect l="T12" t="T13" r="T14" b="T15"/>
                <a:pathLst>
                  <a:path w="426" h="684">
                    <a:moveTo>
                      <a:pt x="0" y="684"/>
                    </a:moveTo>
                    <a:lnTo>
                      <a:pt x="0" y="6"/>
                    </a:lnTo>
                    <a:lnTo>
                      <a:pt x="426" y="672"/>
                    </a:lnTo>
                    <a:lnTo>
                      <a:pt x="426" y="0"/>
                    </a:lnTo>
                  </a:path>
                </a:pathLst>
              </a:custGeom>
              <a:noFill/>
              <a:ln w="19050">
                <a:solidFill>
                  <a:srgbClr val="0000CC"/>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514" name="Freeform 944"/>
              <p:cNvSpPr>
                <a:spLocks noChangeAspect="1"/>
              </p:cNvSpPr>
              <p:nvPr/>
            </p:nvSpPr>
            <p:spPr bwMode="auto">
              <a:xfrm>
                <a:off x="4860" y="1846"/>
                <a:ext cx="92" cy="127"/>
              </a:xfrm>
              <a:custGeom>
                <a:avLst/>
                <a:gdLst>
                  <a:gd name="T0" fmla="*/ 0 w 442"/>
                  <a:gd name="T1" fmla="*/ 0 h 612"/>
                  <a:gd name="T2" fmla="*/ 0 w 442"/>
                  <a:gd name="T3" fmla="*/ 1 h 612"/>
                  <a:gd name="T4" fmla="*/ 0 w 442"/>
                  <a:gd name="T5" fmla="*/ 1 h 612"/>
                  <a:gd name="T6" fmla="*/ 1 w 442"/>
                  <a:gd name="T7" fmla="*/ 1 h 612"/>
                  <a:gd name="T8" fmla="*/ 1 w 442"/>
                  <a:gd name="T9" fmla="*/ 1 h 612"/>
                  <a:gd name="T10" fmla="*/ 0 w 442"/>
                  <a:gd name="T11" fmla="*/ 1 h 612"/>
                  <a:gd name="T12" fmla="*/ 0 w 442"/>
                  <a:gd name="T13" fmla="*/ 0 h 612"/>
                  <a:gd name="T14" fmla="*/ 0 w 442"/>
                  <a:gd name="T15" fmla="*/ 0 h 612"/>
                  <a:gd name="T16" fmla="*/ 1 w 442"/>
                  <a:gd name="T17" fmla="*/ 0 h 612"/>
                  <a:gd name="T18" fmla="*/ 1 w 442"/>
                  <a:gd name="T19" fmla="*/ 0 h 612"/>
                  <a:gd name="T20" fmla="*/ 0 w 442"/>
                  <a:gd name="T21" fmla="*/ 0 h 612"/>
                  <a:gd name="T22" fmla="*/ 0 w 442"/>
                  <a:gd name="T23" fmla="*/ 0 h 61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42"/>
                  <a:gd name="T37" fmla="*/ 0 h 612"/>
                  <a:gd name="T38" fmla="*/ 442 w 442"/>
                  <a:gd name="T39" fmla="*/ 612 h 61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42" h="612">
                    <a:moveTo>
                      <a:pt x="0" y="0"/>
                    </a:moveTo>
                    <a:lnTo>
                      <a:pt x="0" y="612"/>
                    </a:lnTo>
                    <a:lnTo>
                      <a:pt x="288" y="612"/>
                    </a:lnTo>
                    <a:cubicBezTo>
                      <a:pt x="356" y="602"/>
                      <a:pt x="386" y="589"/>
                      <a:pt x="408" y="552"/>
                    </a:cubicBezTo>
                    <a:cubicBezTo>
                      <a:pt x="430" y="515"/>
                      <a:pt x="442" y="433"/>
                      <a:pt x="420" y="390"/>
                    </a:cubicBezTo>
                    <a:cubicBezTo>
                      <a:pt x="398" y="347"/>
                      <a:pt x="346" y="311"/>
                      <a:pt x="276" y="294"/>
                    </a:cubicBezTo>
                    <a:lnTo>
                      <a:pt x="0" y="288"/>
                    </a:lnTo>
                    <a:lnTo>
                      <a:pt x="288" y="288"/>
                    </a:lnTo>
                    <a:cubicBezTo>
                      <a:pt x="355" y="269"/>
                      <a:pt x="387" y="213"/>
                      <a:pt x="402" y="174"/>
                    </a:cubicBezTo>
                    <a:cubicBezTo>
                      <a:pt x="417" y="135"/>
                      <a:pt x="403" y="83"/>
                      <a:pt x="378" y="54"/>
                    </a:cubicBezTo>
                    <a:cubicBezTo>
                      <a:pt x="353" y="25"/>
                      <a:pt x="315" y="9"/>
                      <a:pt x="252" y="0"/>
                    </a:cubicBezTo>
                    <a:lnTo>
                      <a:pt x="0" y="0"/>
                    </a:lnTo>
                    <a:close/>
                  </a:path>
                </a:pathLst>
              </a:custGeom>
              <a:noFill/>
              <a:ln w="19050">
                <a:solidFill>
                  <a:srgbClr val="0000CC"/>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515" name="Freeform 945"/>
              <p:cNvSpPr>
                <a:spLocks noChangeAspect="1"/>
              </p:cNvSpPr>
              <p:nvPr/>
            </p:nvSpPr>
            <p:spPr bwMode="auto">
              <a:xfrm>
                <a:off x="4990" y="1839"/>
                <a:ext cx="86" cy="134"/>
              </a:xfrm>
              <a:custGeom>
                <a:avLst/>
                <a:gdLst>
                  <a:gd name="T0" fmla="*/ 0 w 420"/>
                  <a:gd name="T1" fmla="*/ 0 h 654"/>
                  <a:gd name="T2" fmla="*/ 0 w 420"/>
                  <a:gd name="T3" fmla="*/ 1 h 654"/>
                  <a:gd name="T4" fmla="*/ 1 w 420"/>
                  <a:gd name="T5" fmla="*/ 1 h 654"/>
                  <a:gd name="T6" fmla="*/ 0 60000 65536"/>
                  <a:gd name="T7" fmla="*/ 0 60000 65536"/>
                  <a:gd name="T8" fmla="*/ 0 60000 65536"/>
                  <a:gd name="T9" fmla="*/ 0 w 420"/>
                  <a:gd name="T10" fmla="*/ 0 h 654"/>
                  <a:gd name="T11" fmla="*/ 420 w 420"/>
                  <a:gd name="T12" fmla="*/ 654 h 654"/>
                </a:gdLst>
                <a:ahLst/>
                <a:cxnLst>
                  <a:cxn ang="T6">
                    <a:pos x="T0" y="T1"/>
                  </a:cxn>
                  <a:cxn ang="T7">
                    <a:pos x="T2" y="T3"/>
                  </a:cxn>
                  <a:cxn ang="T8">
                    <a:pos x="T4" y="T5"/>
                  </a:cxn>
                </a:cxnLst>
                <a:rect l="T9" t="T10" r="T11" b="T12"/>
                <a:pathLst>
                  <a:path w="420" h="654">
                    <a:moveTo>
                      <a:pt x="0" y="0"/>
                    </a:moveTo>
                    <a:lnTo>
                      <a:pt x="0" y="654"/>
                    </a:lnTo>
                    <a:lnTo>
                      <a:pt x="420" y="654"/>
                    </a:lnTo>
                  </a:path>
                </a:pathLst>
              </a:custGeom>
              <a:noFill/>
              <a:ln w="19050">
                <a:solidFill>
                  <a:srgbClr val="0000CC"/>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516" name="Freeform 946"/>
              <p:cNvSpPr>
                <a:spLocks noChangeAspect="1"/>
              </p:cNvSpPr>
              <p:nvPr/>
            </p:nvSpPr>
            <p:spPr bwMode="auto">
              <a:xfrm>
                <a:off x="5114" y="1842"/>
                <a:ext cx="109" cy="131"/>
              </a:xfrm>
              <a:custGeom>
                <a:avLst/>
                <a:gdLst>
                  <a:gd name="T0" fmla="*/ 0 w 551"/>
                  <a:gd name="T1" fmla="*/ 0 h 660"/>
                  <a:gd name="T2" fmla="*/ 0 w 551"/>
                  <a:gd name="T3" fmla="*/ 0 h 660"/>
                  <a:gd name="T4" fmla="*/ 0 w 551"/>
                  <a:gd name="T5" fmla="*/ 1 h 660"/>
                  <a:gd name="T6" fmla="*/ 0 w 551"/>
                  <a:gd name="T7" fmla="*/ 1 h 660"/>
                  <a:gd name="T8" fmla="*/ 1 w 551"/>
                  <a:gd name="T9" fmla="*/ 1 h 660"/>
                  <a:gd name="T10" fmla="*/ 1 w 551"/>
                  <a:gd name="T11" fmla="*/ 1 h 660"/>
                  <a:gd name="T12" fmla="*/ 1 w 551"/>
                  <a:gd name="T13" fmla="*/ 0 h 660"/>
                  <a:gd name="T14" fmla="*/ 1 w 551"/>
                  <a:gd name="T15" fmla="*/ 0 h 660"/>
                  <a:gd name="T16" fmla="*/ 0 w 551"/>
                  <a:gd name="T17" fmla="*/ 0 h 66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51"/>
                  <a:gd name="T28" fmla="*/ 0 h 660"/>
                  <a:gd name="T29" fmla="*/ 551 w 551"/>
                  <a:gd name="T30" fmla="*/ 660 h 66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51" h="660">
                    <a:moveTo>
                      <a:pt x="166" y="26"/>
                    </a:moveTo>
                    <a:cubicBezTo>
                      <a:pt x="110" y="58"/>
                      <a:pt x="44" y="142"/>
                      <a:pt x="22" y="218"/>
                    </a:cubicBezTo>
                    <a:cubicBezTo>
                      <a:pt x="0" y="294"/>
                      <a:pt x="9" y="413"/>
                      <a:pt x="34" y="482"/>
                    </a:cubicBezTo>
                    <a:cubicBezTo>
                      <a:pt x="59" y="551"/>
                      <a:pt x="116" y="607"/>
                      <a:pt x="172" y="632"/>
                    </a:cubicBezTo>
                    <a:cubicBezTo>
                      <a:pt x="228" y="657"/>
                      <a:pt x="311" y="660"/>
                      <a:pt x="370" y="632"/>
                    </a:cubicBezTo>
                    <a:cubicBezTo>
                      <a:pt x="429" y="604"/>
                      <a:pt x="501" y="539"/>
                      <a:pt x="526" y="464"/>
                    </a:cubicBezTo>
                    <a:cubicBezTo>
                      <a:pt x="551" y="389"/>
                      <a:pt x="547" y="255"/>
                      <a:pt x="520" y="182"/>
                    </a:cubicBezTo>
                    <a:cubicBezTo>
                      <a:pt x="493" y="109"/>
                      <a:pt x="423" y="52"/>
                      <a:pt x="364" y="26"/>
                    </a:cubicBezTo>
                    <a:cubicBezTo>
                      <a:pt x="305" y="0"/>
                      <a:pt x="207" y="26"/>
                      <a:pt x="166" y="26"/>
                    </a:cubicBezTo>
                    <a:close/>
                  </a:path>
                </a:pathLst>
              </a:custGeom>
              <a:noFill/>
              <a:ln w="19050">
                <a:solidFill>
                  <a:srgbClr val="0000CC"/>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47517" name="Group 947"/>
              <p:cNvGrpSpPr>
                <a:grpSpLocks noChangeAspect="1"/>
              </p:cNvGrpSpPr>
              <p:nvPr/>
            </p:nvGrpSpPr>
            <p:grpSpPr bwMode="auto">
              <a:xfrm>
                <a:off x="5261" y="1841"/>
                <a:ext cx="110" cy="132"/>
                <a:chOff x="906" y="2412"/>
                <a:chExt cx="552" cy="660"/>
              </a:xfrm>
            </p:grpSpPr>
            <p:sp>
              <p:nvSpPr>
                <p:cNvPr id="147518" name="Freeform 948"/>
                <p:cNvSpPr>
                  <a:spLocks noChangeAspect="1"/>
                </p:cNvSpPr>
                <p:nvPr/>
              </p:nvSpPr>
              <p:spPr bwMode="auto">
                <a:xfrm>
                  <a:off x="906" y="2418"/>
                  <a:ext cx="552" cy="1"/>
                </a:xfrm>
                <a:custGeom>
                  <a:avLst/>
                  <a:gdLst>
                    <a:gd name="T0" fmla="*/ 0 w 552"/>
                    <a:gd name="T1" fmla="*/ 0 h 1"/>
                    <a:gd name="T2" fmla="*/ 552 w 552"/>
                    <a:gd name="T3" fmla="*/ 0 h 1"/>
                    <a:gd name="T4" fmla="*/ 0 60000 65536"/>
                    <a:gd name="T5" fmla="*/ 0 60000 65536"/>
                    <a:gd name="T6" fmla="*/ 0 w 552"/>
                    <a:gd name="T7" fmla="*/ 0 h 1"/>
                    <a:gd name="T8" fmla="*/ 552 w 552"/>
                    <a:gd name="T9" fmla="*/ 1 h 1"/>
                  </a:gdLst>
                  <a:ahLst/>
                  <a:cxnLst>
                    <a:cxn ang="T4">
                      <a:pos x="T0" y="T1"/>
                    </a:cxn>
                    <a:cxn ang="T5">
                      <a:pos x="T2" y="T3"/>
                    </a:cxn>
                  </a:cxnLst>
                  <a:rect l="T6" t="T7" r="T8" b="T9"/>
                  <a:pathLst>
                    <a:path w="552" h="1">
                      <a:moveTo>
                        <a:pt x="0" y="0"/>
                      </a:moveTo>
                      <a:cubicBezTo>
                        <a:pt x="230" y="0"/>
                        <a:pt x="461" y="0"/>
                        <a:pt x="552" y="0"/>
                      </a:cubicBezTo>
                    </a:path>
                  </a:pathLst>
                </a:custGeom>
                <a:noFill/>
                <a:ln w="19050">
                  <a:solidFill>
                    <a:srgbClr val="0000CC"/>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7519" name="Freeform 949"/>
                <p:cNvSpPr>
                  <a:spLocks noChangeAspect="1"/>
                </p:cNvSpPr>
                <p:nvPr/>
              </p:nvSpPr>
              <p:spPr bwMode="auto">
                <a:xfrm>
                  <a:off x="1176" y="2412"/>
                  <a:ext cx="1" cy="660"/>
                </a:xfrm>
                <a:custGeom>
                  <a:avLst/>
                  <a:gdLst>
                    <a:gd name="T0" fmla="*/ 0 w 1"/>
                    <a:gd name="T1" fmla="*/ 0 h 660"/>
                    <a:gd name="T2" fmla="*/ 0 w 1"/>
                    <a:gd name="T3" fmla="*/ 660 h 660"/>
                    <a:gd name="T4" fmla="*/ 0 60000 65536"/>
                    <a:gd name="T5" fmla="*/ 0 60000 65536"/>
                    <a:gd name="T6" fmla="*/ 0 w 1"/>
                    <a:gd name="T7" fmla="*/ 0 h 660"/>
                    <a:gd name="T8" fmla="*/ 1 w 1"/>
                    <a:gd name="T9" fmla="*/ 660 h 660"/>
                  </a:gdLst>
                  <a:ahLst/>
                  <a:cxnLst>
                    <a:cxn ang="T4">
                      <a:pos x="T0" y="T1"/>
                    </a:cxn>
                    <a:cxn ang="T5">
                      <a:pos x="T2" y="T3"/>
                    </a:cxn>
                  </a:cxnLst>
                  <a:rect l="T6" t="T7" r="T8" b="T9"/>
                  <a:pathLst>
                    <a:path w="1" h="660">
                      <a:moveTo>
                        <a:pt x="0" y="0"/>
                      </a:moveTo>
                      <a:cubicBezTo>
                        <a:pt x="0" y="275"/>
                        <a:pt x="0" y="550"/>
                        <a:pt x="0" y="660"/>
                      </a:cubicBezTo>
                    </a:path>
                  </a:pathLst>
                </a:custGeom>
                <a:noFill/>
                <a:ln w="19050">
                  <a:solidFill>
                    <a:srgbClr val="0000CC"/>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gr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Text Box 2"/>
          <p:cNvSpPr txBox="1">
            <a:spLocks noChangeArrowheads="1"/>
          </p:cNvSpPr>
          <p:nvPr/>
        </p:nvSpPr>
        <p:spPr bwMode="auto">
          <a:xfrm>
            <a:off x="214313" y="476250"/>
            <a:ext cx="8929687"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3600" b="1">
                <a:solidFill>
                  <a:srgbClr val="FF0066"/>
                </a:solidFill>
                <a:latin typeface="Tahoma" panose="020B0604030504040204" pitchFamily="34" charset="0"/>
              </a:rPr>
              <a:t>F2  DNA organization in chromosomes</a:t>
            </a:r>
          </a:p>
        </p:txBody>
      </p:sp>
      <p:sp>
        <p:nvSpPr>
          <p:cNvPr id="149507" name="Text Box 3"/>
          <p:cNvSpPr txBox="1">
            <a:spLocks noChangeArrowheads="1"/>
          </p:cNvSpPr>
          <p:nvPr/>
        </p:nvSpPr>
        <p:spPr bwMode="auto">
          <a:xfrm>
            <a:off x="539750" y="1196975"/>
            <a:ext cx="8001000" cy="4247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3000" b="1" dirty="0">
                <a:solidFill>
                  <a:srgbClr val="FF0000"/>
                </a:solidFill>
              </a:rPr>
              <a:t>Every cell </a:t>
            </a:r>
            <a:r>
              <a:rPr lang="en-US" altLang="zh-CN" sz="3000" b="1" dirty="0"/>
              <a:t>of a multicellular organism generally contains the </a:t>
            </a:r>
            <a:r>
              <a:rPr lang="en-US" altLang="zh-CN" sz="3000" b="1" dirty="0">
                <a:solidFill>
                  <a:srgbClr val="FF0000"/>
                </a:solidFill>
              </a:rPr>
              <a:t>same genetic material</a:t>
            </a:r>
            <a:r>
              <a:rPr lang="en-US" altLang="zh-CN" sz="3000" b="1" dirty="0"/>
              <a:t>.</a:t>
            </a:r>
          </a:p>
          <a:p>
            <a:pPr eaLnBrk="1" hangingPunct="1">
              <a:spcBef>
                <a:spcPct val="50000"/>
              </a:spcBef>
              <a:buFontTx/>
              <a:buNone/>
            </a:pPr>
            <a:r>
              <a:rPr lang="en-US" altLang="zh-CN" sz="3000" b="1" dirty="0"/>
              <a:t>DNA molecules are the largest macromolecules in the cell and are commonly packaged into structures called </a:t>
            </a:r>
            <a:r>
              <a:rPr lang="en-US" altLang="zh-CN" sz="3000" b="1" dirty="0">
                <a:solidFill>
                  <a:srgbClr val="FF3300"/>
                </a:solidFill>
              </a:rPr>
              <a:t>chromosomes.</a:t>
            </a:r>
          </a:p>
          <a:p>
            <a:pPr eaLnBrk="1" hangingPunct="1">
              <a:spcBef>
                <a:spcPct val="50000"/>
              </a:spcBef>
              <a:buFontTx/>
              <a:buNone/>
            </a:pPr>
            <a:r>
              <a:rPr lang="en-US" altLang="zh-CN" sz="3000" b="1" dirty="0"/>
              <a:t>Most bacteria and viruses have a single chromosome, whereas eukaryotic cells usually contain many.</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66AD7870-4FD6-43C7-BF9F-AD7115D73D5E}"/>
              </a:ext>
            </a:extLst>
          </p:cNvPr>
          <p:cNvPicPr>
            <a:picLocks noChangeAspect="1"/>
          </p:cNvPicPr>
          <p:nvPr/>
        </p:nvPicPr>
        <p:blipFill>
          <a:blip r:embed="rId2"/>
          <a:stretch>
            <a:fillRect/>
          </a:stretch>
        </p:blipFill>
        <p:spPr>
          <a:xfrm>
            <a:off x="35496" y="1808149"/>
            <a:ext cx="9144000" cy="4933219"/>
          </a:xfrm>
          <a:prstGeom prst="rect">
            <a:avLst/>
          </a:prstGeom>
        </p:spPr>
      </p:pic>
      <p:sp>
        <p:nvSpPr>
          <p:cNvPr id="5" name="文本框 4">
            <a:extLst>
              <a:ext uri="{FF2B5EF4-FFF2-40B4-BE49-F238E27FC236}">
                <a16:creationId xmlns:a16="http://schemas.microsoft.com/office/drawing/2014/main" id="{7B3B67EC-D5A6-BE28-02A2-649AB46AD8E2}"/>
              </a:ext>
            </a:extLst>
          </p:cNvPr>
          <p:cNvSpPr txBox="1"/>
          <p:nvPr/>
        </p:nvSpPr>
        <p:spPr>
          <a:xfrm>
            <a:off x="395536" y="260648"/>
            <a:ext cx="8028384" cy="954107"/>
          </a:xfrm>
          <a:prstGeom prst="rect">
            <a:avLst/>
          </a:prstGeom>
          <a:noFill/>
        </p:spPr>
        <p:txBody>
          <a:bodyPr wrap="square">
            <a:spAutoFit/>
          </a:bodyPr>
          <a:lstStyle/>
          <a:p>
            <a:r>
              <a:rPr lang="en-US" altLang="zh-CN" sz="2800" dirty="0"/>
              <a:t>DNA Molecules Are Much Longer than the Cellular or Viral Packages That Contain Them</a:t>
            </a:r>
            <a:endParaRPr lang="zh-CN" altLang="en-US" sz="2800" dirty="0"/>
          </a:p>
        </p:txBody>
      </p:sp>
    </p:spTree>
    <p:extLst>
      <p:ext uri="{BB962C8B-B14F-4D97-AF65-F5344CB8AC3E}">
        <p14:creationId xmlns:p14="http://schemas.microsoft.com/office/powerpoint/2010/main" val="118114692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Text Box 2"/>
          <p:cNvSpPr txBox="1">
            <a:spLocks noChangeArrowheads="1"/>
          </p:cNvSpPr>
          <p:nvPr/>
        </p:nvSpPr>
        <p:spPr bwMode="auto">
          <a:xfrm>
            <a:off x="250825" y="836613"/>
            <a:ext cx="889317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3600" b="1">
                <a:solidFill>
                  <a:srgbClr val="FF0066"/>
                </a:solidFill>
              </a:rPr>
              <a:t>1.Viral DNA molecules are relatively small</a:t>
            </a:r>
          </a:p>
        </p:txBody>
      </p:sp>
      <p:sp>
        <p:nvSpPr>
          <p:cNvPr id="150531" name="Text Box 3"/>
          <p:cNvSpPr txBox="1">
            <a:spLocks noChangeArrowheads="1"/>
          </p:cNvSpPr>
          <p:nvPr/>
        </p:nvSpPr>
        <p:spPr bwMode="auto">
          <a:xfrm>
            <a:off x="971550" y="2133600"/>
            <a:ext cx="7696200" cy="308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50000"/>
              </a:spcBef>
              <a:buFontTx/>
              <a:buNone/>
            </a:pPr>
            <a:r>
              <a:rPr lang="en-US" altLang="zh-CN" sz="2800" b="1" dirty="0"/>
              <a:t>1.1 Viruses generally contain considerably less genetic information than cells. </a:t>
            </a:r>
          </a:p>
          <a:p>
            <a:pPr eaLnBrk="1" hangingPunct="1">
              <a:lnSpc>
                <a:spcPct val="130000"/>
              </a:lnSpc>
              <a:spcBef>
                <a:spcPct val="50000"/>
              </a:spcBef>
              <a:buFontTx/>
              <a:buNone/>
            </a:pPr>
            <a:r>
              <a:rPr lang="en-US" altLang="zh-CN" sz="2800" b="1" dirty="0"/>
              <a:t>An infectious virus particle often consists a single RNA or DNA molecule surrounded by a protein coat.</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155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0" y="1066800"/>
            <a:ext cx="8026400"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257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9512" y="28084"/>
            <a:ext cx="58674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a:extLst>
              <a:ext uri="{FF2B5EF4-FFF2-40B4-BE49-F238E27FC236}">
                <a16:creationId xmlns:a16="http://schemas.microsoft.com/office/drawing/2014/main" id="{9229FF4C-E40D-458F-8EAF-6971AFA6F12F}"/>
              </a:ext>
            </a:extLst>
          </p:cNvPr>
          <p:cNvPicPr>
            <a:picLocks noChangeAspect="1"/>
          </p:cNvPicPr>
          <p:nvPr/>
        </p:nvPicPr>
        <p:blipFill>
          <a:blip r:embed="rId4"/>
          <a:stretch>
            <a:fillRect/>
          </a:stretch>
        </p:blipFill>
        <p:spPr>
          <a:xfrm>
            <a:off x="6014897" y="1270086"/>
            <a:ext cx="2886794" cy="2655850"/>
          </a:xfrm>
          <a:prstGeom prst="rect">
            <a:avLst/>
          </a:prstGeom>
        </p:spPr>
      </p:pic>
      <p:pic>
        <p:nvPicPr>
          <p:cNvPr id="3" name="图片 2">
            <a:extLst>
              <a:ext uri="{FF2B5EF4-FFF2-40B4-BE49-F238E27FC236}">
                <a16:creationId xmlns:a16="http://schemas.microsoft.com/office/drawing/2014/main" id="{9EC3C376-3F8E-4B52-AD00-E63D35964B17}"/>
              </a:ext>
            </a:extLst>
          </p:cNvPr>
          <p:cNvPicPr>
            <a:picLocks noChangeAspect="1"/>
          </p:cNvPicPr>
          <p:nvPr/>
        </p:nvPicPr>
        <p:blipFill>
          <a:blip r:embed="rId5"/>
          <a:stretch>
            <a:fillRect/>
          </a:stretch>
        </p:blipFill>
        <p:spPr>
          <a:xfrm>
            <a:off x="4735388" y="4211146"/>
            <a:ext cx="4229100" cy="2505075"/>
          </a:xfrm>
          <a:prstGeom prst="rect">
            <a:avLst/>
          </a:prstGeom>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5650" name="Picture 2" descr="0257"/>
          <p:cNvPicPr>
            <a:picLocks noChangeAspect="1" noChangeArrowheads="1"/>
          </p:cNvPicPr>
          <p:nvPr/>
        </p:nvPicPr>
        <p:blipFill>
          <a:blip r:embed="rId3" cstate="print">
            <a:extLst>
              <a:ext uri="{28A0092B-C50C-407E-A947-70E740481C1C}">
                <a14:useLocalDpi xmlns:a14="http://schemas.microsoft.com/office/drawing/2010/main" val="0"/>
              </a:ext>
            </a:extLst>
          </a:blip>
          <a:srcRect l="34375" t="4167" r="4167"/>
          <a:stretch>
            <a:fillRect/>
          </a:stretch>
        </p:blipFill>
        <p:spPr bwMode="auto">
          <a:xfrm>
            <a:off x="0" y="0"/>
            <a:ext cx="5408613" cy="632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a:extLst>
              <a:ext uri="{FF2B5EF4-FFF2-40B4-BE49-F238E27FC236}">
                <a16:creationId xmlns:a16="http://schemas.microsoft.com/office/drawing/2014/main" id="{5E150951-093A-C3D0-2D1B-6ABE16A111B0}"/>
              </a:ext>
            </a:extLst>
          </p:cNvPr>
          <p:cNvPicPr>
            <a:picLocks noChangeAspect="1"/>
          </p:cNvPicPr>
          <p:nvPr/>
        </p:nvPicPr>
        <p:blipFill>
          <a:blip r:embed="rId4"/>
          <a:stretch>
            <a:fillRect/>
          </a:stretch>
        </p:blipFill>
        <p:spPr>
          <a:xfrm>
            <a:off x="5868144" y="3162300"/>
            <a:ext cx="2385957" cy="2564904"/>
          </a:xfrm>
          <a:prstGeom prst="rect">
            <a:avLst/>
          </a:prstGeom>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7698" name="Picture 2" descr="噬菌体2"/>
          <p:cNvPicPr>
            <a:picLocks noChangeAspect="1" noChangeArrowheads="1"/>
          </p:cNvPicPr>
          <p:nvPr/>
        </p:nvPicPr>
        <p:blipFill>
          <a:blip r:embed="rId2" cstate="print">
            <a:extLst>
              <a:ext uri="{28A0092B-C50C-407E-A947-70E740481C1C}">
                <a14:useLocalDpi xmlns:a14="http://schemas.microsoft.com/office/drawing/2010/main" val="0"/>
              </a:ext>
            </a:extLst>
          </a:blip>
          <a:srcRect l="8316" t="4651" r="4361" b="5814"/>
          <a:stretch>
            <a:fillRect/>
          </a:stretch>
        </p:blipFill>
        <p:spPr bwMode="auto">
          <a:xfrm>
            <a:off x="2267744" y="260648"/>
            <a:ext cx="4680520" cy="5719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04"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3D98B696-162F-AAD3-BA19-A749E991B80E}"/>
              </a:ext>
            </a:extLst>
          </p:cNvPr>
          <p:cNvPicPr>
            <a:picLocks noChangeAspect="1"/>
          </p:cNvPicPr>
          <p:nvPr/>
        </p:nvPicPr>
        <p:blipFill>
          <a:blip r:embed="rId2"/>
          <a:stretch>
            <a:fillRect/>
          </a:stretch>
        </p:blipFill>
        <p:spPr>
          <a:xfrm>
            <a:off x="0" y="1728160"/>
            <a:ext cx="9144000" cy="3401679"/>
          </a:xfrm>
          <a:prstGeom prst="rect">
            <a:avLst/>
          </a:prstGeom>
        </p:spPr>
      </p:pic>
      <p:sp>
        <p:nvSpPr>
          <p:cNvPr id="3" name="文本框 2">
            <a:extLst>
              <a:ext uri="{FF2B5EF4-FFF2-40B4-BE49-F238E27FC236}">
                <a16:creationId xmlns:a16="http://schemas.microsoft.com/office/drawing/2014/main" id="{B7CF889C-E955-C199-3DD1-8A02169D5005}"/>
              </a:ext>
            </a:extLst>
          </p:cNvPr>
          <p:cNvSpPr txBox="1"/>
          <p:nvPr/>
        </p:nvSpPr>
        <p:spPr>
          <a:xfrm>
            <a:off x="3131840" y="620688"/>
            <a:ext cx="2656496" cy="584775"/>
          </a:xfrm>
          <a:prstGeom prst="rect">
            <a:avLst/>
          </a:prstGeom>
          <a:noFill/>
        </p:spPr>
        <p:txBody>
          <a:bodyPr wrap="none" rtlCol="0">
            <a:spAutoFit/>
          </a:bodyPr>
          <a:lstStyle/>
          <a:p>
            <a:r>
              <a:rPr lang="zh-CN" altLang="en-US" sz="3200" b="1" dirty="0"/>
              <a:t>新型冠状病毒</a:t>
            </a:r>
          </a:p>
        </p:txBody>
      </p:sp>
    </p:spTree>
    <p:extLst>
      <p:ext uri="{BB962C8B-B14F-4D97-AF65-F5344CB8AC3E}">
        <p14:creationId xmlns:p14="http://schemas.microsoft.com/office/powerpoint/2010/main" val="576130861"/>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Text Box 2"/>
          <p:cNvSpPr txBox="1">
            <a:spLocks noChangeArrowheads="1"/>
          </p:cNvSpPr>
          <p:nvPr/>
        </p:nvSpPr>
        <p:spPr bwMode="auto">
          <a:xfrm>
            <a:off x="762000" y="914400"/>
            <a:ext cx="69342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b="1" dirty="0"/>
              <a:t>2  Bacteria contain </a:t>
            </a:r>
            <a:r>
              <a:rPr lang="en-US" altLang="zh-CN" b="1" dirty="0">
                <a:solidFill>
                  <a:srgbClr val="FF0000"/>
                </a:solidFill>
              </a:rPr>
              <a:t>chromosomes and extrachromosomal DNA</a:t>
            </a:r>
          </a:p>
        </p:txBody>
      </p:sp>
      <p:sp>
        <p:nvSpPr>
          <p:cNvPr id="158723" name="Text Box 3"/>
          <p:cNvSpPr txBox="1">
            <a:spLocks noChangeArrowheads="1"/>
          </p:cNvSpPr>
          <p:nvPr/>
        </p:nvSpPr>
        <p:spPr bwMode="auto">
          <a:xfrm>
            <a:off x="755650" y="2205038"/>
            <a:ext cx="8001000" cy="402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r>
              <a:rPr lang="en-US" altLang="zh-CN" sz="2800" b="1" dirty="0"/>
              <a:t>2.1  Chromosomal DNA</a:t>
            </a:r>
          </a:p>
          <a:p>
            <a:pPr eaLnBrk="1" hangingPunct="1">
              <a:lnSpc>
                <a:spcPct val="120000"/>
              </a:lnSpc>
              <a:spcBef>
                <a:spcPct val="50000"/>
              </a:spcBef>
              <a:buFontTx/>
              <a:buNone/>
            </a:pPr>
            <a:r>
              <a:rPr lang="en-US" altLang="zh-CN" sz="2800" dirty="0"/>
              <a:t>The chromosome of an </a:t>
            </a:r>
            <a:r>
              <a:rPr lang="en-US" altLang="zh-CN" sz="2800" i="1" dirty="0"/>
              <a:t>E. coli</a:t>
            </a:r>
            <a:r>
              <a:rPr lang="en-US" altLang="zh-CN" sz="2800" dirty="0"/>
              <a:t> cell is a </a:t>
            </a:r>
            <a:r>
              <a:rPr lang="en-US" altLang="zh-CN" sz="2800" dirty="0">
                <a:solidFill>
                  <a:srgbClr val="FF0000"/>
                </a:solidFill>
              </a:rPr>
              <a:t>single double-stranded circular DNA molecule</a:t>
            </a:r>
            <a:r>
              <a:rPr lang="en-US" altLang="zh-CN" sz="2800" dirty="0"/>
              <a:t>. Its </a:t>
            </a:r>
            <a:r>
              <a:rPr lang="en-US" altLang="zh-CN" sz="2800" dirty="0">
                <a:solidFill>
                  <a:srgbClr val="FF0000"/>
                </a:solidFill>
              </a:rPr>
              <a:t>4,639,221 base pairs</a:t>
            </a:r>
            <a:r>
              <a:rPr lang="en-US" altLang="zh-CN" sz="2800" dirty="0"/>
              <a:t> have a contour length of about 1.7 mm, some</a:t>
            </a:r>
            <a:r>
              <a:rPr lang="en-US" altLang="zh-CN" sz="2800" b="1" dirty="0"/>
              <a:t> 850 times </a:t>
            </a:r>
            <a:r>
              <a:rPr lang="en-US" altLang="zh-CN" sz="2800" dirty="0"/>
              <a:t>the length of the E. coli cell. Bacterial DNA must have an even more tightly compacted tertiary structure than the viral DNA.</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974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8255000" cy="512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9747" name="Text Box 3"/>
          <p:cNvSpPr txBox="1">
            <a:spLocks noChangeArrowheads="1"/>
          </p:cNvSpPr>
          <p:nvPr/>
        </p:nvSpPr>
        <p:spPr bwMode="auto">
          <a:xfrm>
            <a:off x="685800" y="5105400"/>
            <a:ext cx="822960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dirty="0"/>
              <a:t>The length of the E. coli </a:t>
            </a:r>
            <a:r>
              <a:rPr lang="en-US" altLang="zh-CN" sz="2800" dirty="0">
                <a:solidFill>
                  <a:srgbClr val="FF0000"/>
                </a:solidFill>
              </a:rPr>
              <a:t>chromosome </a:t>
            </a:r>
            <a:r>
              <a:rPr lang="en-US" altLang="zh-CN" sz="2800" dirty="0"/>
              <a:t>(</a:t>
            </a:r>
            <a:r>
              <a:rPr lang="en-US" altLang="zh-CN" sz="2800" dirty="0">
                <a:solidFill>
                  <a:srgbClr val="FF0000"/>
                </a:solidFill>
              </a:rPr>
              <a:t>1.7 mm</a:t>
            </a:r>
            <a:r>
              <a:rPr lang="en-US" altLang="zh-CN" sz="2800" dirty="0"/>
              <a:t>) is depicted in linear form relative to the length of a typical  E. coli </a:t>
            </a:r>
            <a:r>
              <a:rPr lang="en-US" altLang="zh-CN" sz="2800" dirty="0">
                <a:solidFill>
                  <a:srgbClr val="FF0000"/>
                </a:solidFill>
              </a:rPr>
              <a:t>cell</a:t>
            </a:r>
            <a:r>
              <a:rPr lang="en-US" altLang="zh-CN" sz="2800" dirty="0"/>
              <a:t> (</a:t>
            </a:r>
            <a:r>
              <a:rPr lang="en-US" altLang="zh-CN" sz="2800" dirty="0">
                <a:solidFill>
                  <a:srgbClr val="FF0000"/>
                </a:solidFill>
              </a:rPr>
              <a:t>2 </a:t>
            </a:r>
            <a:r>
              <a:rPr lang="en-US" altLang="zh-CN" sz="2800" dirty="0">
                <a:solidFill>
                  <a:srgbClr val="FF0000"/>
                </a:solidFill>
                <a:sym typeface="Symbol" panose="05050102010706020507" pitchFamily="18" charset="2"/>
              </a:rPr>
              <a:t>m</a:t>
            </a:r>
            <a:r>
              <a:rPr lang="en-US" altLang="zh-CN" sz="2800" dirty="0">
                <a:sym typeface="Symbol" panose="05050102010706020507" pitchFamily="18" charset="2"/>
              </a:rPr>
              <a:t>)</a:t>
            </a:r>
            <a:endParaRPr lang="en-US" altLang="zh-CN" sz="280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0770" name="Picture 2" descr="bacterial DNA"/>
          <p:cNvPicPr>
            <a:picLocks noChangeAspect="1" noChangeArrowheads="1"/>
          </p:cNvPicPr>
          <p:nvPr/>
        </p:nvPicPr>
        <p:blipFill>
          <a:blip r:embed="rId2" cstate="print">
            <a:lum bright="-12000" contrast="54000"/>
            <a:extLst>
              <a:ext uri="{28A0092B-C50C-407E-A947-70E740481C1C}">
                <a14:useLocalDpi xmlns:a14="http://schemas.microsoft.com/office/drawing/2010/main" val="0"/>
              </a:ext>
            </a:extLst>
          </a:blip>
          <a:srcRect/>
          <a:stretch>
            <a:fillRect/>
          </a:stretch>
        </p:blipFill>
        <p:spPr bwMode="auto">
          <a:xfrm>
            <a:off x="0" y="228600"/>
            <a:ext cx="9144000" cy="471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0771" name="Text Box 3"/>
          <p:cNvSpPr txBox="1">
            <a:spLocks noChangeArrowheads="1"/>
          </p:cNvSpPr>
          <p:nvPr/>
        </p:nvSpPr>
        <p:spPr bwMode="auto">
          <a:xfrm>
            <a:off x="1905000" y="304800"/>
            <a:ext cx="2514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50000"/>
              </a:spcBef>
              <a:buFontTx/>
              <a:buNone/>
            </a:pPr>
            <a:r>
              <a:rPr lang="zh-CN" altLang="en-US" sz="2000" b="1">
                <a:latin typeface="Arial" panose="020B0604020202020204" pitchFamily="34" charset="0"/>
              </a:rPr>
              <a:t>蛋白质骨架</a:t>
            </a:r>
          </a:p>
        </p:txBody>
      </p:sp>
      <p:sp>
        <p:nvSpPr>
          <p:cNvPr id="160772" name="Text Box 4"/>
          <p:cNvSpPr txBox="1">
            <a:spLocks noChangeArrowheads="1"/>
          </p:cNvSpPr>
          <p:nvPr/>
        </p:nvSpPr>
        <p:spPr bwMode="auto">
          <a:xfrm>
            <a:off x="914400" y="4797152"/>
            <a:ext cx="7696200" cy="1383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r>
              <a:rPr lang="en-US" altLang="zh-CN" sz="2400" b="1" dirty="0">
                <a:solidFill>
                  <a:schemeClr val="tx2"/>
                </a:solidFill>
              </a:rPr>
              <a:t>The DNA is negatively </a:t>
            </a:r>
            <a:r>
              <a:rPr lang="en-US" altLang="zh-CN" sz="2400" b="1" dirty="0">
                <a:solidFill>
                  <a:srgbClr val="FF0000"/>
                </a:solidFill>
              </a:rPr>
              <a:t>supercoiled</a:t>
            </a:r>
            <a:r>
              <a:rPr lang="en-US" altLang="zh-CN" sz="2400" b="1" dirty="0">
                <a:solidFill>
                  <a:schemeClr val="tx2"/>
                </a:solidFill>
              </a:rPr>
              <a:t>, complexed to several </a:t>
            </a:r>
            <a:r>
              <a:rPr lang="en-US" altLang="zh-CN" sz="2400" b="1" dirty="0">
                <a:solidFill>
                  <a:srgbClr val="FF0000"/>
                </a:solidFill>
              </a:rPr>
              <a:t>histone-like proteins </a:t>
            </a:r>
            <a:r>
              <a:rPr lang="en-US" altLang="zh-CN" sz="2400" b="1" dirty="0">
                <a:solidFill>
                  <a:schemeClr val="tx2"/>
                </a:solidFill>
              </a:rPr>
              <a:t>and organize into about 50 domains bound to a protein scaffold.</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179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8600" y="0"/>
            <a:ext cx="8153400" cy="581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2820"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4064000" cy="528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2821"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38600" y="381000"/>
            <a:ext cx="37592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AutoShape 2" descr="get?name=T1mY7jBKZj1RCvBVdK"/>
          <p:cNvSpPr>
            <a:spLocks noChangeAspect="1" noChangeArrowheads="1"/>
          </p:cNvSpPr>
          <p:nvPr/>
        </p:nvSpPr>
        <p:spPr bwMode="auto">
          <a:xfrm>
            <a:off x="4419600" y="3276600"/>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pic>
        <p:nvPicPr>
          <p:cNvPr id="165891" name="Picture 3" descr="get (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7500" y="1900238"/>
            <a:ext cx="8064500" cy="2697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691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43400" y="304800"/>
            <a:ext cx="33909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4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3600" y="787400"/>
            <a:ext cx="7416800" cy="528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7938" name="Picture 2" descr="8-1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28763" y="990600"/>
            <a:ext cx="5481637" cy="509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8962" name="Picture 2" descr="get"/>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5800" y="641350"/>
            <a:ext cx="7470775" cy="575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Text Box 2"/>
          <p:cNvSpPr txBox="1">
            <a:spLocks noChangeArrowheads="1"/>
          </p:cNvSpPr>
          <p:nvPr/>
        </p:nvSpPr>
        <p:spPr bwMode="auto">
          <a:xfrm>
            <a:off x="1066800" y="990600"/>
            <a:ext cx="7162800" cy="3935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en-US" altLang="zh-CN" sz="2800" b="1">
                <a:latin typeface="Arial" panose="020B0604020202020204" pitchFamily="34" charset="0"/>
              </a:rPr>
              <a:t>DNA</a:t>
            </a:r>
            <a:r>
              <a:rPr kumimoji="0" lang="zh-CN" altLang="en-US" sz="2800" b="1">
                <a:latin typeface="Arial" panose="020B0604020202020204" pitchFamily="34" charset="0"/>
              </a:rPr>
              <a:t>超螺旋结构的拓扑学性质</a:t>
            </a:r>
          </a:p>
          <a:p>
            <a:pPr eaLnBrk="1" hangingPunct="1">
              <a:spcBef>
                <a:spcPct val="0"/>
              </a:spcBef>
              <a:buFontTx/>
              <a:buNone/>
            </a:pPr>
            <a:endParaRPr kumimoji="0" lang="zh-CN" altLang="en-US" sz="2800" b="1">
              <a:latin typeface="Arial" panose="020B0604020202020204" pitchFamily="34" charset="0"/>
            </a:endParaRPr>
          </a:p>
          <a:p>
            <a:pPr eaLnBrk="1" hangingPunct="1">
              <a:spcBef>
                <a:spcPct val="0"/>
              </a:spcBef>
              <a:buFontTx/>
              <a:buNone/>
            </a:pPr>
            <a:r>
              <a:rPr kumimoji="0" lang="en-US" altLang="zh-CN" sz="2800" b="1">
                <a:latin typeface="Arial" panose="020B0604020202020204" pitchFamily="34" charset="0"/>
              </a:rPr>
              <a:t>       DNA</a:t>
            </a:r>
            <a:r>
              <a:rPr kumimoji="0" lang="zh-CN" altLang="en-US" sz="2800" b="1">
                <a:latin typeface="Arial" panose="020B0604020202020204" pitchFamily="34" charset="0"/>
              </a:rPr>
              <a:t>不同的空间分子构象又称为拓扑异构体</a:t>
            </a:r>
            <a:r>
              <a:rPr kumimoji="0" lang="en-US" altLang="zh-CN" sz="2800" b="1">
                <a:latin typeface="Arial" panose="020B0604020202020204" pitchFamily="34" charset="0"/>
              </a:rPr>
              <a:t>(topoisomer)</a:t>
            </a:r>
            <a:r>
              <a:rPr kumimoji="0" lang="zh-CN" altLang="en-US" sz="2800" b="1">
                <a:latin typeface="Arial" panose="020B0604020202020204" pitchFamily="34" charset="0"/>
              </a:rPr>
              <a:t>，其拓扑学特性可以用</a:t>
            </a:r>
            <a:r>
              <a:rPr kumimoji="0" lang="en-US" altLang="zh-CN" sz="2800" b="1">
                <a:latin typeface="Arial" panose="020B0604020202020204" pitchFamily="34" charset="0"/>
              </a:rPr>
              <a:t>3</a:t>
            </a:r>
            <a:r>
              <a:rPr kumimoji="0" lang="zh-CN" altLang="en-US" sz="2800" b="1">
                <a:latin typeface="Arial" panose="020B0604020202020204" pitchFamily="34" charset="0"/>
              </a:rPr>
              <a:t>个参数来描述。</a:t>
            </a:r>
          </a:p>
          <a:p>
            <a:pPr eaLnBrk="1" hangingPunct="1">
              <a:spcBef>
                <a:spcPct val="0"/>
              </a:spcBef>
              <a:buFontTx/>
              <a:buNone/>
            </a:pPr>
            <a:endParaRPr kumimoji="0" lang="zh-CN" altLang="en-US" sz="2800" b="1">
              <a:latin typeface="Arial" panose="020B0604020202020204" pitchFamily="34" charset="0"/>
            </a:endParaRPr>
          </a:p>
          <a:p>
            <a:pPr eaLnBrk="1" hangingPunct="1">
              <a:spcBef>
                <a:spcPct val="0"/>
              </a:spcBef>
              <a:buFontTx/>
              <a:buNone/>
            </a:pPr>
            <a:r>
              <a:rPr kumimoji="0" lang="zh-CN" altLang="en-US" sz="2800" b="1">
                <a:latin typeface="Arial" panose="020B0604020202020204" pitchFamily="34" charset="0"/>
              </a:rPr>
              <a:t>连环数（</a:t>
            </a:r>
            <a:r>
              <a:rPr kumimoji="0" lang="en-US" altLang="zh-CN" sz="2800" b="1" i="1">
                <a:latin typeface="Arial" panose="020B0604020202020204" pitchFamily="34" charset="0"/>
              </a:rPr>
              <a:t>L, </a:t>
            </a:r>
            <a:r>
              <a:rPr kumimoji="0" lang="en-US" altLang="zh-CN" sz="2800" b="1">
                <a:latin typeface="Arial" panose="020B0604020202020204" pitchFamily="34" charset="0"/>
              </a:rPr>
              <a:t>linking number</a:t>
            </a:r>
            <a:r>
              <a:rPr kumimoji="0" lang="zh-CN" altLang="en-US" sz="2800" b="1">
                <a:latin typeface="Arial" panose="020B0604020202020204" pitchFamily="34" charset="0"/>
              </a:rPr>
              <a:t>）、</a:t>
            </a:r>
          </a:p>
          <a:p>
            <a:pPr eaLnBrk="1" hangingPunct="1">
              <a:spcBef>
                <a:spcPct val="0"/>
              </a:spcBef>
              <a:buFontTx/>
              <a:buNone/>
            </a:pPr>
            <a:r>
              <a:rPr kumimoji="0" lang="zh-CN" altLang="en-US" sz="2800" b="1">
                <a:latin typeface="Arial" panose="020B0604020202020204" pitchFamily="34" charset="0"/>
              </a:rPr>
              <a:t>盘绕数（</a:t>
            </a:r>
            <a:r>
              <a:rPr kumimoji="0" lang="en-US" altLang="zh-CN" sz="2800" b="1" i="1">
                <a:latin typeface="Arial" panose="020B0604020202020204" pitchFamily="34" charset="0"/>
              </a:rPr>
              <a:t>T , </a:t>
            </a:r>
            <a:r>
              <a:rPr kumimoji="0" lang="en-US" altLang="zh-CN" sz="2800" b="1">
                <a:latin typeface="Arial" panose="020B0604020202020204" pitchFamily="34" charset="0"/>
              </a:rPr>
              <a:t>twsting number</a:t>
            </a:r>
            <a:r>
              <a:rPr kumimoji="0" lang="zh-CN" altLang="en-US" sz="2800" b="1">
                <a:latin typeface="Arial" panose="020B0604020202020204" pitchFamily="34" charset="0"/>
              </a:rPr>
              <a:t>）、</a:t>
            </a:r>
          </a:p>
          <a:p>
            <a:pPr eaLnBrk="1" hangingPunct="1">
              <a:spcBef>
                <a:spcPct val="0"/>
              </a:spcBef>
              <a:buFontTx/>
              <a:buNone/>
            </a:pPr>
            <a:r>
              <a:rPr kumimoji="0" lang="zh-CN" altLang="en-US" sz="2800" b="1">
                <a:latin typeface="Arial" panose="020B0604020202020204" pitchFamily="34" charset="0"/>
              </a:rPr>
              <a:t>超螺旋周数（</a:t>
            </a:r>
            <a:r>
              <a:rPr kumimoji="0" lang="en-US" altLang="zh-CN" sz="2800" b="1" i="1">
                <a:latin typeface="Arial" panose="020B0604020202020204" pitchFamily="34" charset="0"/>
              </a:rPr>
              <a:t>W , </a:t>
            </a:r>
            <a:r>
              <a:rPr kumimoji="0" lang="en-US" altLang="zh-CN" sz="2800" b="1">
                <a:latin typeface="Arial" panose="020B0604020202020204" pitchFamily="34" charset="0"/>
              </a:rPr>
              <a:t>writhing number</a:t>
            </a:r>
            <a:r>
              <a:rPr kumimoji="0" lang="zh-CN" altLang="en-US" sz="2800" b="1">
                <a:latin typeface="Arial" panose="020B0604020202020204" pitchFamily="34" charset="0"/>
              </a:rPr>
              <a:t>）</a:t>
            </a:r>
          </a:p>
        </p:txBody>
      </p:sp>
      <p:sp>
        <p:nvSpPr>
          <p:cNvPr id="169987" name="Text Box 3"/>
          <p:cNvSpPr txBox="1">
            <a:spLocks noChangeArrowheads="1"/>
          </p:cNvSpPr>
          <p:nvPr/>
        </p:nvSpPr>
        <p:spPr bwMode="auto">
          <a:xfrm>
            <a:off x="2819400" y="5181600"/>
            <a:ext cx="3962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kumimoji="0" lang="en-US" altLang="zh-CN" b="1" i="1">
                <a:latin typeface="Arial" panose="020B0604020202020204" pitchFamily="34" charset="0"/>
              </a:rPr>
              <a:t>L = T + W</a:t>
            </a: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Text Box 2"/>
          <p:cNvSpPr txBox="1">
            <a:spLocks noChangeArrowheads="1"/>
          </p:cNvSpPr>
          <p:nvPr/>
        </p:nvSpPr>
        <p:spPr bwMode="auto">
          <a:xfrm>
            <a:off x="990600" y="1219200"/>
            <a:ext cx="7543800" cy="4573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r>
              <a:rPr lang="en-US" altLang="zh-CN" b="1" dirty="0"/>
              <a:t>2.2  </a:t>
            </a:r>
            <a:r>
              <a:rPr lang="en-US" altLang="zh-CN" b="1" dirty="0">
                <a:solidFill>
                  <a:srgbClr val="FF0000"/>
                </a:solidFill>
              </a:rPr>
              <a:t>Extrachromosomal DNA</a:t>
            </a:r>
          </a:p>
          <a:p>
            <a:pPr eaLnBrk="1" hangingPunct="1">
              <a:lnSpc>
                <a:spcPct val="120000"/>
              </a:lnSpc>
              <a:spcBef>
                <a:spcPct val="50000"/>
              </a:spcBef>
              <a:buFontTx/>
              <a:buNone/>
            </a:pPr>
            <a:r>
              <a:rPr lang="en-US" altLang="zh-CN" dirty="0"/>
              <a:t>In addition to the very large, circular DNA chromosome in the nucleoid, many bacteria contain </a:t>
            </a:r>
            <a:r>
              <a:rPr lang="en-US" altLang="zh-CN" dirty="0">
                <a:solidFill>
                  <a:srgbClr val="FF0000"/>
                </a:solidFill>
              </a:rPr>
              <a:t>one or more small</a:t>
            </a:r>
            <a:r>
              <a:rPr lang="en-US" altLang="zh-CN" dirty="0"/>
              <a:t>, </a:t>
            </a:r>
            <a:r>
              <a:rPr lang="en-US" altLang="zh-CN" dirty="0">
                <a:solidFill>
                  <a:srgbClr val="FF0000"/>
                </a:solidFill>
              </a:rPr>
              <a:t>circular DNA molecules</a:t>
            </a:r>
            <a:r>
              <a:rPr lang="en-US" altLang="zh-CN" dirty="0"/>
              <a:t> that are free in the cytosol. These extrachromosomal elements are called </a:t>
            </a:r>
            <a:r>
              <a:rPr lang="en-US" altLang="zh-CN" b="1" dirty="0">
                <a:solidFill>
                  <a:srgbClr val="FF3300"/>
                </a:solidFill>
              </a:rPr>
              <a:t>plasmids</a:t>
            </a:r>
            <a:r>
              <a:rPr lang="en-US" altLang="zh-CN" dirty="0">
                <a:solidFill>
                  <a:srgbClr val="FF3300"/>
                </a:solidFill>
              </a:rPr>
              <a:t>.</a:t>
            </a: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203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65920" y="404664"/>
            <a:ext cx="7384290" cy="5267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2035" name="Text Box 3"/>
          <p:cNvSpPr txBox="1">
            <a:spLocks noChangeArrowheads="1"/>
          </p:cNvSpPr>
          <p:nvPr/>
        </p:nvSpPr>
        <p:spPr bwMode="auto">
          <a:xfrm>
            <a:off x="1043608" y="5646215"/>
            <a:ext cx="5105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800" dirty="0"/>
              <a:t>DNA from a lysed E. coli cell</a:t>
            </a:r>
          </a:p>
        </p:txBody>
      </p:sp>
      <p:sp>
        <p:nvSpPr>
          <p:cNvPr id="2" name="文本框 1"/>
          <p:cNvSpPr txBox="1"/>
          <p:nvPr/>
        </p:nvSpPr>
        <p:spPr>
          <a:xfrm>
            <a:off x="7020272" y="2060848"/>
            <a:ext cx="1080120" cy="369332"/>
          </a:xfrm>
          <a:prstGeom prst="rect">
            <a:avLst/>
          </a:prstGeom>
          <a:noFill/>
        </p:spPr>
        <p:txBody>
          <a:bodyPr wrap="square" rtlCol="0">
            <a:spAutoFit/>
          </a:bodyPr>
          <a:lstStyle/>
          <a:p>
            <a:r>
              <a:rPr lang="en-US" altLang="zh-CN" b="1" dirty="0">
                <a:solidFill>
                  <a:schemeClr val="bg1"/>
                </a:solidFill>
              </a:rPr>
              <a:t>plasmid</a:t>
            </a:r>
            <a:endParaRPr lang="zh-CN" altLang="en-US" b="1" dirty="0">
              <a:solidFill>
                <a:schemeClr val="bg1"/>
              </a:solidFill>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Text Box 2"/>
          <p:cNvSpPr txBox="1">
            <a:spLocks noChangeArrowheads="1"/>
          </p:cNvSpPr>
          <p:nvPr/>
        </p:nvSpPr>
        <p:spPr bwMode="auto">
          <a:xfrm>
            <a:off x="762000" y="914400"/>
            <a:ext cx="67818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b="1" dirty="0"/>
              <a:t>3. Eukaryotic cells contain more DNA than prokaryotes</a:t>
            </a:r>
          </a:p>
        </p:txBody>
      </p:sp>
      <p:sp>
        <p:nvSpPr>
          <p:cNvPr id="173059" name="Text Box 3"/>
          <p:cNvSpPr txBox="1">
            <a:spLocks noChangeArrowheads="1"/>
          </p:cNvSpPr>
          <p:nvPr/>
        </p:nvSpPr>
        <p:spPr bwMode="auto">
          <a:xfrm>
            <a:off x="762000" y="1988840"/>
            <a:ext cx="7848600" cy="35548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40000"/>
              </a:lnSpc>
              <a:spcBef>
                <a:spcPct val="50000"/>
              </a:spcBef>
              <a:buFontTx/>
              <a:buNone/>
            </a:pPr>
            <a:r>
              <a:rPr lang="en-US" altLang="zh-CN" sz="3000" dirty="0"/>
              <a:t>Human cells and many other mammalian cells have about 600 times as much DNA as E. coli. The plants contain an even greater amount.</a:t>
            </a:r>
          </a:p>
          <a:p>
            <a:pPr eaLnBrk="1" hangingPunct="1">
              <a:lnSpc>
                <a:spcPct val="140000"/>
              </a:lnSpc>
              <a:spcBef>
                <a:spcPct val="50000"/>
              </a:spcBef>
              <a:buFontTx/>
              <a:buNone/>
            </a:pPr>
            <a:r>
              <a:rPr lang="en-US" altLang="zh-CN" sz="3000" dirty="0"/>
              <a:t>The total contour </a:t>
            </a:r>
            <a:r>
              <a:rPr lang="en-US" altLang="zh-CN" sz="3000" dirty="0">
                <a:solidFill>
                  <a:srgbClr val="FF0000"/>
                </a:solidFill>
              </a:rPr>
              <a:t>length of all the DNA </a:t>
            </a:r>
            <a:r>
              <a:rPr lang="en-US" altLang="zh-CN" sz="3000" dirty="0"/>
              <a:t>in a single human cell is </a:t>
            </a:r>
            <a:r>
              <a:rPr lang="en-US" altLang="zh-CN" sz="3000" dirty="0">
                <a:solidFill>
                  <a:srgbClr val="FF0000"/>
                </a:solidFill>
              </a:rPr>
              <a:t>about 2 m</a:t>
            </a:r>
            <a:r>
              <a:rPr lang="en-US" altLang="zh-CN" sz="3000" dirty="0"/>
              <a:t>.</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08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3717925" cy="662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083" name="Text Box 3"/>
          <p:cNvSpPr txBox="1">
            <a:spLocks noChangeArrowheads="1"/>
          </p:cNvSpPr>
          <p:nvPr/>
        </p:nvSpPr>
        <p:spPr bwMode="auto">
          <a:xfrm>
            <a:off x="4114800" y="3625850"/>
            <a:ext cx="4724400" cy="201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50000"/>
              </a:spcBef>
              <a:buFontTx/>
              <a:buNone/>
            </a:pPr>
            <a:r>
              <a:rPr lang="en-US" altLang="zh-CN" sz="2800" dirty="0">
                <a:solidFill>
                  <a:schemeClr val="tx2"/>
                </a:solidFill>
                <a:latin typeface="Arial" panose="020B0604020202020204" pitchFamily="34" charset="0"/>
              </a:rPr>
              <a:t>Complete set of chromosomes from a leukocyte. There are 46 chromosomes in each normal human somatic cell.</a:t>
            </a:r>
          </a:p>
        </p:txBody>
      </p:sp>
      <p:sp>
        <p:nvSpPr>
          <p:cNvPr id="174084" name="Text Box 4"/>
          <p:cNvSpPr txBox="1">
            <a:spLocks noChangeArrowheads="1"/>
          </p:cNvSpPr>
          <p:nvPr/>
        </p:nvSpPr>
        <p:spPr bwMode="auto">
          <a:xfrm>
            <a:off x="1905000" y="511175"/>
            <a:ext cx="3429000"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50000"/>
              </a:spcBef>
              <a:buFontTx/>
              <a:buNone/>
            </a:pPr>
            <a:r>
              <a:rPr lang="en-US" altLang="zh-CN" sz="2800">
                <a:solidFill>
                  <a:schemeClr val="tx2"/>
                </a:solidFill>
                <a:latin typeface="Arial" panose="020B0604020202020204" pitchFamily="34" charset="0"/>
              </a:rPr>
              <a:t>A  single human chromosomes.</a:t>
            </a:r>
            <a:endParaRPr lang="en-US" altLang="zh-CN" sz="3600" b="1">
              <a:solidFill>
                <a:schemeClr val="tx2"/>
              </a:solidFill>
              <a:latin typeface="Arial" panose="020B0604020202020204" pitchFamily="34" charset="0"/>
            </a:endParaRPr>
          </a:p>
        </p:txBody>
      </p:sp>
      <p:pic>
        <p:nvPicPr>
          <p:cNvPr id="2" name="图片 1">
            <a:extLst>
              <a:ext uri="{FF2B5EF4-FFF2-40B4-BE49-F238E27FC236}">
                <a16:creationId xmlns:a16="http://schemas.microsoft.com/office/drawing/2014/main" id="{601D129E-2BA8-71C0-B73B-4AB9BD26B113}"/>
              </a:ext>
            </a:extLst>
          </p:cNvPr>
          <p:cNvPicPr>
            <a:picLocks noChangeAspect="1"/>
          </p:cNvPicPr>
          <p:nvPr/>
        </p:nvPicPr>
        <p:blipFill>
          <a:blip r:embed="rId4"/>
          <a:stretch>
            <a:fillRect/>
          </a:stretch>
        </p:blipFill>
        <p:spPr>
          <a:xfrm>
            <a:off x="5724128" y="0"/>
            <a:ext cx="2661014" cy="3065710"/>
          </a:xfrm>
          <a:prstGeom prst="rect">
            <a:avLst/>
          </a:prstGeom>
        </p:spPr>
      </p:pic>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36BC714B-7968-4CF5-B9D7-D57A231AB7DE}"/>
              </a:ext>
            </a:extLst>
          </p:cNvPr>
          <p:cNvSpPr txBox="1"/>
          <p:nvPr/>
        </p:nvSpPr>
        <p:spPr>
          <a:xfrm>
            <a:off x="575556" y="186174"/>
            <a:ext cx="7992888" cy="5803897"/>
          </a:xfrm>
          <a:prstGeom prst="rect">
            <a:avLst/>
          </a:prstGeom>
          <a:noFill/>
        </p:spPr>
        <p:txBody>
          <a:bodyPr wrap="square">
            <a:spAutoFit/>
          </a:bodyPr>
          <a:lstStyle/>
          <a:p>
            <a:pPr algn="just">
              <a:lnSpc>
                <a:spcPct val="130000"/>
              </a:lnSpc>
            </a:pPr>
            <a:r>
              <a:rPr lang="en-US" altLang="zh-CN" sz="2400" dirty="0"/>
              <a:t>The eukaryotic cell cycle produces remarkable changes in the structure of chromosomes (Fig. 24-22). In nondividing eukaryotic cells (in the G0 phase) and those in interphase (G1, S, and G2), the chromosomal material, </a:t>
            </a:r>
            <a:r>
              <a:rPr lang="en-US" altLang="zh-CN" sz="2400" b="1" dirty="0">
                <a:solidFill>
                  <a:srgbClr val="FF0000"/>
                </a:solidFill>
              </a:rPr>
              <a:t>chromatin</a:t>
            </a:r>
            <a:r>
              <a:rPr lang="en-US" altLang="zh-CN" sz="2400" dirty="0"/>
              <a:t>, is amorphous. In the S phase of interphase, the DNA in this amorphous state replicates, each chromosome producing two </a:t>
            </a:r>
            <a:r>
              <a:rPr lang="en-US" altLang="zh-CN" sz="2400" b="1" dirty="0">
                <a:solidFill>
                  <a:srgbClr val="FF0000"/>
                </a:solidFill>
              </a:rPr>
              <a:t>sister chromosomes </a:t>
            </a:r>
            <a:r>
              <a:rPr lang="en-US" altLang="zh-CN" sz="2400" dirty="0"/>
              <a:t>(called sister </a:t>
            </a:r>
            <a:r>
              <a:rPr lang="en-US" altLang="zh-CN" sz="2400" b="1" dirty="0">
                <a:solidFill>
                  <a:srgbClr val="FF0000"/>
                </a:solidFill>
              </a:rPr>
              <a:t>chromatid</a:t>
            </a:r>
            <a:r>
              <a:rPr lang="en-US" altLang="zh-CN" sz="2400" dirty="0"/>
              <a:t>s) that remain associated with each other after replication is complete. The chromosomes become much more condensed during prophase of mitosis, taking the form of a species-specific number of well-defined pairs of sister chromatids</a:t>
            </a:r>
            <a:endParaRPr lang="zh-CN" altLang="en-US" sz="2400" dirty="0"/>
          </a:p>
        </p:txBody>
      </p:sp>
    </p:spTree>
    <p:extLst>
      <p:ext uri="{BB962C8B-B14F-4D97-AF65-F5344CB8AC3E}">
        <p14:creationId xmlns:p14="http://schemas.microsoft.com/office/powerpoint/2010/main" val="2129531810"/>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36BC714B-7968-4CF5-B9D7-D57A231AB7DE}"/>
              </a:ext>
            </a:extLst>
          </p:cNvPr>
          <p:cNvSpPr txBox="1"/>
          <p:nvPr/>
        </p:nvSpPr>
        <p:spPr>
          <a:xfrm>
            <a:off x="575556" y="186174"/>
            <a:ext cx="7992888" cy="4832092"/>
          </a:xfrm>
          <a:prstGeom prst="rect">
            <a:avLst/>
          </a:prstGeom>
          <a:noFill/>
        </p:spPr>
        <p:txBody>
          <a:bodyPr wrap="square">
            <a:spAutoFit/>
          </a:bodyPr>
          <a:lstStyle/>
          <a:p>
            <a:pPr algn="just"/>
            <a:r>
              <a:rPr lang="en-US" altLang="zh-CN" sz="2800" b="0" i="0" dirty="0">
                <a:solidFill>
                  <a:srgbClr val="000000"/>
                </a:solidFill>
                <a:effectLst/>
                <a:latin typeface="Times New Roman" panose="02020603050405020304" pitchFamily="18" charset="0"/>
                <a:cs typeface="Times New Roman" panose="02020603050405020304" pitchFamily="18" charset="0"/>
              </a:rPr>
              <a:t>In the eukaryotic cell cycle, interphase chromosomes</a:t>
            </a:r>
            <a:br>
              <a:rPr lang="en-US" altLang="zh-CN" sz="2800" b="0" i="0" dirty="0">
                <a:solidFill>
                  <a:srgbClr val="000000"/>
                </a:solidFill>
                <a:effectLst/>
                <a:latin typeface="Times New Roman" panose="02020603050405020304" pitchFamily="18" charset="0"/>
                <a:cs typeface="Times New Roman" panose="02020603050405020304" pitchFamily="18" charset="0"/>
              </a:rPr>
            </a:br>
            <a:r>
              <a:rPr lang="en-US" altLang="zh-CN" sz="2800" b="0" i="0" dirty="0">
                <a:solidFill>
                  <a:srgbClr val="000000"/>
                </a:solidFill>
                <a:effectLst/>
                <a:latin typeface="Times New Roman" panose="02020603050405020304" pitchFamily="18" charset="0"/>
                <a:cs typeface="Times New Roman" panose="02020603050405020304" pitchFamily="18" charset="0"/>
              </a:rPr>
              <a:t>appear, at first viewing, to be dispersed and amorphous. Nevertheless, several forms of chromatin can be found along these chromosomes. About 10% of the chromatin in a typical eukaryotic cell is in a</a:t>
            </a:r>
            <a:br>
              <a:rPr lang="en-US" altLang="zh-CN" sz="2800" b="0" i="0" dirty="0">
                <a:solidFill>
                  <a:srgbClr val="000000"/>
                </a:solidFill>
                <a:effectLst/>
                <a:latin typeface="Times New Roman" panose="02020603050405020304" pitchFamily="18" charset="0"/>
                <a:cs typeface="Times New Roman" panose="02020603050405020304" pitchFamily="18" charset="0"/>
              </a:rPr>
            </a:br>
            <a:r>
              <a:rPr lang="en-US" altLang="zh-CN" sz="2800" b="0" i="0" dirty="0">
                <a:solidFill>
                  <a:srgbClr val="000000"/>
                </a:solidFill>
                <a:effectLst/>
                <a:latin typeface="Times New Roman" panose="02020603050405020304" pitchFamily="18" charset="0"/>
                <a:cs typeface="Times New Roman" panose="02020603050405020304" pitchFamily="18" charset="0"/>
              </a:rPr>
              <a:t>more condensed form than the rest of the chromatin. This form, </a:t>
            </a:r>
            <a:r>
              <a:rPr lang="en-US" altLang="zh-CN" sz="2800" b="1" i="0" dirty="0">
                <a:solidFill>
                  <a:srgbClr val="FF0000"/>
                </a:solidFill>
                <a:effectLst/>
                <a:latin typeface="Times New Roman" panose="02020603050405020304" pitchFamily="18" charset="0"/>
                <a:cs typeface="Times New Roman" panose="02020603050405020304" pitchFamily="18" charset="0"/>
              </a:rPr>
              <a:t>heterochromatin</a:t>
            </a:r>
            <a:r>
              <a:rPr lang="en-US" altLang="zh-CN" sz="2800" b="0" i="0" dirty="0">
                <a:solidFill>
                  <a:srgbClr val="000000"/>
                </a:solidFill>
                <a:effectLst/>
                <a:latin typeface="Times New Roman" panose="02020603050405020304" pitchFamily="18" charset="0"/>
                <a:cs typeface="Times New Roman" panose="02020603050405020304" pitchFamily="18" charset="0"/>
              </a:rPr>
              <a:t>, is transcriptionally inactive. Heterochromatin is generally associated with particular chromosome structures — the centromeres, for example. The remaining, less condensed chromatin is called </a:t>
            </a:r>
            <a:r>
              <a:rPr lang="en-US" altLang="zh-CN" sz="2800" b="1" i="0" dirty="0">
                <a:solidFill>
                  <a:srgbClr val="FF0000"/>
                </a:solidFill>
                <a:effectLst/>
                <a:latin typeface="Times New Roman" panose="02020603050405020304" pitchFamily="18" charset="0"/>
                <a:cs typeface="Times New Roman" panose="02020603050405020304" pitchFamily="18" charset="0"/>
              </a:rPr>
              <a:t>euchromatin</a:t>
            </a:r>
            <a:r>
              <a:rPr lang="en-US" altLang="zh-CN" sz="2800" b="0" i="0" dirty="0">
                <a:solidFill>
                  <a:srgbClr val="000000"/>
                </a:solidFill>
                <a:effectLst/>
                <a:latin typeface="Times New Roman" panose="02020603050405020304" pitchFamily="18" charset="0"/>
                <a:cs typeface="Times New Roman" panose="02020603050405020304" pitchFamily="18" charset="0"/>
              </a:rPr>
              <a:t>.</a:t>
            </a:r>
            <a:endParaRPr lang="zh-CN" alt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14493361"/>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5743EE7D-97D9-050B-7A59-585AEAD31A40}"/>
              </a:ext>
            </a:extLst>
          </p:cNvPr>
          <p:cNvPicPr>
            <a:picLocks noChangeAspect="1"/>
          </p:cNvPicPr>
          <p:nvPr/>
        </p:nvPicPr>
        <p:blipFill>
          <a:blip r:embed="rId3"/>
          <a:stretch>
            <a:fillRect/>
          </a:stretch>
        </p:blipFill>
        <p:spPr>
          <a:xfrm>
            <a:off x="2310325" y="648072"/>
            <a:ext cx="4523349" cy="5445224"/>
          </a:xfrm>
          <a:prstGeom prst="rect">
            <a:avLst/>
          </a:prstGeom>
        </p:spPr>
      </p:pic>
      <p:sp>
        <p:nvSpPr>
          <p:cNvPr id="5" name="文本框 4">
            <a:extLst>
              <a:ext uri="{FF2B5EF4-FFF2-40B4-BE49-F238E27FC236}">
                <a16:creationId xmlns:a16="http://schemas.microsoft.com/office/drawing/2014/main" id="{F33B463B-6D44-9575-01B5-1562D92C2D4F}"/>
              </a:ext>
            </a:extLst>
          </p:cNvPr>
          <p:cNvSpPr txBox="1"/>
          <p:nvPr/>
        </p:nvSpPr>
        <p:spPr>
          <a:xfrm>
            <a:off x="1259632" y="6228020"/>
            <a:ext cx="7200800" cy="646331"/>
          </a:xfrm>
          <a:prstGeom prst="rect">
            <a:avLst/>
          </a:prstGeom>
          <a:solidFill>
            <a:schemeClr val="bg1"/>
          </a:solidFill>
        </p:spPr>
        <p:txBody>
          <a:bodyPr wrap="square">
            <a:spAutoFit/>
          </a:bodyPr>
          <a:lstStyle/>
          <a:p>
            <a:r>
              <a:rPr lang="en-US" altLang="zh-CN" dirty="0"/>
              <a:t>Changes in chromosome structure during the eukaryotic cell cycle.</a:t>
            </a:r>
          </a:p>
          <a:p>
            <a:r>
              <a:rPr lang="en-US" altLang="zh-CN" dirty="0"/>
              <a:t> </a:t>
            </a:r>
            <a:endParaRPr lang="zh-CN" altLang="en-US" dirty="0"/>
          </a:p>
        </p:txBody>
      </p:sp>
      <p:grpSp>
        <p:nvGrpSpPr>
          <p:cNvPr id="14" name="组合 13">
            <a:extLst>
              <a:ext uri="{FF2B5EF4-FFF2-40B4-BE49-F238E27FC236}">
                <a16:creationId xmlns:a16="http://schemas.microsoft.com/office/drawing/2014/main" id="{575346FF-8E69-9051-BF01-0C710B07974A}"/>
              </a:ext>
            </a:extLst>
          </p:cNvPr>
          <p:cNvGrpSpPr/>
          <p:nvPr/>
        </p:nvGrpSpPr>
        <p:grpSpPr>
          <a:xfrm>
            <a:off x="3081699" y="3331876"/>
            <a:ext cx="4354249" cy="2764928"/>
            <a:chOff x="3081699" y="3331876"/>
            <a:chExt cx="4354249" cy="2764928"/>
          </a:xfrm>
        </p:grpSpPr>
        <p:sp>
          <p:nvSpPr>
            <p:cNvPr id="8" name="任意多边形: 形状 7">
              <a:extLst>
                <a:ext uri="{FF2B5EF4-FFF2-40B4-BE49-F238E27FC236}">
                  <a16:creationId xmlns:a16="http://schemas.microsoft.com/office/drawing/2014/main" id="{FB67E188-DD1E-4E21-0A75-3B466396D67D}"/>
                </a:ext>
              </a:extLst>
            </p:cNvPr>
            <p:cNvSpPr/>
            <p:nvPr/>
          </p:nvSpPr>
          <p:spPr>
            <a:xfrm>
              <a:off x="3081699" y="3331876"/>
              <a:ext cx="2918268" cy="2764928"/>
            </a:xfrm>
            <a:custGeom>
              <a:avLst/>
              <a:gdLst>
                <a:gd name="connsiteX0" fmla="*/ 889052 w 2918268"/>
                <a:gd name="connsiteY0" fmla="*/ 37578 h 2764928"/>
                <a:gd name="connsiteX1" fmla="*/ 463167 w 2918268"/>
                <a:gd name="connsiteY1" fmla="*/ 325677 h 2764928"/>
                <a:gd name="connsiteX2" fmla="*/ 74860 w 2918268"/>
                <a:gd name="connsiteY2" fmla="*/ 914400 h 2764928"/>
                <a:gd name="connsiteX3" fmla="*/ 49808 w 2918268"/>
                <a:gd name="connsiteY3" fmla="*/ 1853852 h 2764928"/>
                <a:gd name="connsiteX4" fmla="*/ 613479 w 2918268"/>
                <a:gd name="connsiteY4" fmla="*/ 2530257 h 2764928"/>
                <a:gd name="connsiteX5" fmla="*/ 1653139 w 2918268"/>
                <a:gd name="connsiteY5" fmla="*/ 2755726 h 2764928"/>
                <a:gd name="connsiteX6" fmla="*/ 2617643 w 2918268"/>
                <a:gd name="connsiteY6" fmla="*/ 2267211 h 2764928"/>
                <a:gd name="connsiteX7" fmla="*/ 2918268 w 2918268"/>
                <a:gd name="connsiteY7" fmla="*/ 1240077 h 2764928"/>
                <a:gd name="connsiteX8" fmla="*/ 2617643 w 2918268"/>
                <a:gd name="connsiteY8" fmla="*/ 375781 h 2764928"/>
                <a:gd name="connsiteX9" fmla="*/ 2179233 w 2918268"/>
                <a:gd name="connsiteY9" fmla="*/ 100208 h 2764928"/>
                <a:gd name="connsiteX10" fmla="*/ 2028920 w 2918268"/>
                <a:gd name="connsiteY10" fmla="*/ 75156 h 2764928"/>
                <a:gd name="connsiteX11" fmla="*/ 2003868 w 2918268"/>
                <a:gd name="connsiteY11" fmla="*/ 0 h 2764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918268" h="2764928">
                  <a:moveTo>
                    <a:pt x="889052" y="37578"/>
                  </a:moveTo>
                  <a:cubicBezTo>
                    <a:pt x="743959" y="108559"/>
                    <a:pt x="598866" y="179540"/>
                    <a:pt x="463167" y="325677"/>
                  </a:cubicBezTo>
                  <a:cubicBezTo>
                    <a:pt x="327468" y="471814"/>
                    <a:pt x="143753" y="659704"/>
                    <a:pt x="74860" y="914400"/>
                  </a:cubicBezTo>
                  <a:cubicBezTo>
                    <a:pt x="5967" y="1169096"/>
                    <a:pt x="-39962" y="1584543"/>
                    <a:pt x="49808" y="1853852"/>
                  </a:cubicBezTo>
                  <a:cubicBezTo>
                    <a:pt x="139578" y="2123162"/>
                    <a:pt x="346257" y="2379945"/>
                    <a:pt x="613479" y="2530257"/>
                  </a:cubicBezTo>
                  <a:cubicBezTo>
                    <a:pt x="880701" y="2680569"/>
                    <a:pt x="1319112" y="2799567"/>
                    <a:pt x="1653139" y="2755726"/>
                  </a:cubicBezTo>
                  <a:cubicBezTo>
                    <a:pt x="1987166" y="2711885"/>
                    <a:pt x="2406788" y="2519819"/>
                    <a:pt x="2617643" y="2267211"/>
                  </a:cubicBezTo>
                  <a:cubicBezTo>
                    <a:pt x="2828498" y="2014603"/>
                    <a:pt x="2918268" y="1555315"/>
                    <a:pt x="2918268" y="1240077"/>
                  </a:cubicBezTo>
                  <a:cubicBezTo>
                    <a:pt x="2918268" y="924839"/>
                    <a:pt x="2740815" y="565759"/>
                    <a:pt x="2617643" y="375781"/>
                  </a:cubicBezTo>
                  <a:cubicBezTo>
                    <a:pt x="2494471" y="185803"/>
                    <a:pt x="2277353" y="150312"/>
                    <a:pt x="2179233" y="100208"/>
                  </a:cubicBezTo>
                  <a:cubicBezTo>
                    <a:pt x="2081113" y="50104"/>
                    <a:pt x="2058147" y="91857"/>
                    <a:pt x="2028920" y="75156"/>
                  </a:cubicBezTo>
                  <a:cubicBezTo>
                    <a:pt x="1999693" y="58455"/>
                    <a:pt x="2001780" y="29227"/>
                    <a:pt x="2003868" y="0"/>
                  </a:cubicBezTo>
                </a:path>
              </a:pathLst>
            </a:cu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679423D8-1B8F-E537-28DB-9900581C97CA}"/>
                </a:ext>
              </a:extLst>
            </p:cNvPr>
            <p:cNvSpPr txBox="1"/>
            <p:nvPr/>
          </p:nvSpPr>
          <p:spPr>
            <a:xfrm>
              <a:off x="6012160" y="4571836"/>
              <a:ext cx="1423788" cy="400110"/>
            </a:xfrm>
            <a:prstGeom prst="rect">
              <a:avLst/>
            </a:prstGeom>
            <a:noFill/>
          </p:spPr>
          <p:txBody>
            <a:bodyPr wrap="none" rtlCol="0">
              <a:spAutoFit/>
            </a:bodyPr>
            <a:lstStyle/>
            <a:p>
              <a:r>
                <a:rPr lang="en-US" altLang="zh-CN" sz="2000" b="1" dirty="0">
                  <a:solidFill>
                    <a:srgbClr val="C00000"/>
                  </a:solidFill>
                </a:rPr>
                <a:t>chromatin</a:t>
              </a:r>
              <a:endParaRPr lang="zh-CN" altLang="en-US" sz="2000" b="1" dirty="0">
                <a:solidFill>
                  <a:srgbClr val="C00000"/>
                </a:solidFill>
              </a:endParaRPr>
            </a:p>
          </p:txBody>
        </p:sp>
      </p:grpSp>
      <p:sp>
        <p:nvSpPr>
          <p:cNvPr id="10" name="任意多边形: 形状 9">
            <a:extLst>
              <a:ext uri="{FF2B5EF4-FFF2-40B4-BE49-F238E27FC236}">
                <a16:creationId xmlns:a16="http://schemas.microsoft.com/office/drawing/2014/main" id="{525D9973-E994-B798-C9F9-8BEFEC0C0770}"/>
              </a:ext>
            </a:extLst>
          </p:cNvPr>
          <p:cNvSpPr/>
          <p:nvPr/>
        </p:nvSpPr>
        <p:spPr>
          <a:xfrm>
            <a:off x="2242159" y="646566"/>
            <a:ext cx="4546948" cy="919187"/>
          </a:xfrm>
          <a:custGeom>
            <a:avLst/>
            <a:gdLst>
              <a:gd name="connsiteX0" fmla="*/ 0 w 4546948"/>
              <a:gd name="connsiteY0" fmla="*/ 919187 h 919187"/>
              <a:gd name="connsiteX1" fmla="*/ 237994 w 4546948"/>
              <a:gd name="connsiteY1" fmla="*/ 555933 h 919187"/>
              <a:gd name="connsiteX2" fmla="*/ 1152394 w 4546948"/>
              <a:gd name="connsiteY2" fmla="*/ 67418 h 919187"/>
              <a:gd name="connsiteX3" fmla="*/ 2141951 w 4546948"/>
              <a:gd name="connsiteY3" fmla="*/ 17313 h 919187"/>
              <a:gd name="connsiteX4" fmla="*/ 3870542 w 4546948"/>
              <a:gd name="connsiteY4" fmla="*/ 192678 h 919187"/>
              <a:gd name="connsiteX5" fmla="*/ 4446740 w 4546948"/>
              <a:gd name="connsiteY5" fmla="*/ 543407 h 919187"/>
              <a:gd name="connsiteX6" fmla="*/ 4509370 w 4546948"/>
              <a:gd name="connsiteY6" fmla="*/ 818979 h 919187"/>
              <a:gd name="connsiteX7" fmla="*/ 4546948 w 4546948"/>
              <a:gd name="connsiteY7" fmla="*/ 844031 h 919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46948" h="919187">
                <a:moveTo>
                  <a:pt x="0" y="919187"/>
                </a:moveTo>
                <a:cubicBezTo>
                  <a:pt x="22964" y="808540"/>
                  <a:pt x="45928" y="697894"/>
                  <a:pt x="237994" y="555933"/>
                </a:cubicBezTo>
                <a:cubicBezTo>
                  <a:pt x="430060" y="413972"/>
                  <a:pt x="835068" y="157188"/>
                  <a:pt x="1152394" y="67418"/>
                </a:cubicBezTo>
                <a:cubicBezTo>
                  <a:pt x="1469720" y="-22352"/>
                  <a:pt x="1688926" y="-3564"/>
                  <a:pt x="2141951" y="17313"/>
                </a:cubicBezTo>
                <a:cubicBezTo>
                  <a:pt x="2594976" y="38190"/>
                  <a:pt x="3486411" y="104996"/>
                  <a:pt x="3870542" y="192678"/>
                </a:cubicBezTo>
                <a:cubicBezTo>
                  <a:pt x="4254673" y="280360"/>
                  <a:pt x="4340269" y="439023"/>
                  <a:pt x="4446740" y="543407"/>
                </a:cubicBezTo>
                <a:cubicBezTo>
                  <a:pt x="4553211" y="647790"/>
                  <a:pt x="4509370" y="818979"/>
                  <a:pt x="4509370" y="818979"/>
                </a:cubicBezTo>
                <a:cubicBezTo>
                  <a:pt x="4526071" y="869083"/>
                  <a:pt x="4536509" y="856557"/>
                  <a:pt x="4546948" y="844031"/>
                </a:cubicBezTo>
              </a:path>
            </a:pathLst>
          </a:custGeom>
          <a:ln w="38100"/>
        </p:spPr>
        <p:style>
          <a:lnRef idx="1">
            <a:schemeClr val="accent3"/>
          </a:lnRef>
          <a:fillRef idx="0">
            <a:schemeClr val="accent3"/>
          </a:fillRef>
          <a:effectRef idx="0">
            <a:schemeClr val="accent3"/>
          </a:effectRef>
          <a:fontRef idx="minor">
            <a:schemeClr val="tx1"/>
          </a:fontRef>
        </p:style>
        <p:txBody>
          <a:bodyPr rtlCol="0" anchor="ctr"/>
          <a:lstStyle/>
          <a:p>
            <a:pPr algn="ctr"/>
            <a:endParaRPr lang="zh-CN" altLang="en-US"/>
          </a:p>
        </p:txBody>
      </p:sp>
      <p:sp>
        <p:nvSpPr>
          <p:cNvPr id="11" name="椭圆 10">
            <a:extLst>
              <a:ext uri="{FF2B5EF4-FFF2-40B4-BE49-F238E27FC236}">
                <a16:creationId xmlns:a16="http://schemas.microsoft.com/office/drawing/2014/main" id="{BD5BD4E2-47F5-6D16-62AD-E5E53AD4AFBF}"/>
              </a:ext>
            </a:extLst>
          </p:cNvPr>
          <p:cNvSpPr/>
          <p:nvPr/>
        </p:nvSpPr>
        <p:spPr>
          <a:xfrm>
            <a:off x="1492028" y="95010"/>
            <a:ext cx="6680372" cy="6133009"/>
          </a:xfrm>
          <a:prstGeom prst="ellipse">
            <a:avLst/>
          </a:prstGeom>
          <a:ln w="38100"/>
        </p:spPr>
        <p:style>
          <a:lnRef idx="1">
            <a:schemeClr val="accent3"/>
          </a:lnRef>
          <a:fillRef idx="0">
            <a:schemeClr val="accent3"/>
          </a:fillRef>
          <a:effectRef idx="0">
            <a:schemeClr val="accent3"/>
          </a:effectRef>
          <a:fontRef idx="minor">
            <a:schemeClr val="tx1"/>
          </a:fontRef>
        </p:style>
        <p:txBody>
          <a:bodyPr rtlCol="0" anchor="ctr"/>
          <a:lstStyle/>
          <a:p>
            <a:pPr algn="ctr"/>
            <a:endParaRPr lang="zh-CN" altLang="en-US">
              <a:solidFill>
                <a:schemeClr val="tx1"/>
              </a:solidFill>
            </a:endParaRPr>
          </a:p>
        </p:txBody>
      </p:sp>
      <p:sp>
        <p:nvSpPr>
          <p:cNvPr id="12" name="文本框 11">
            <a:extLst>
              <a:ext uri="{FF2B5EF4-FFF2-40B4-BE49-F238E27FC236}">
                <a16:creationId xmlns:a16="http://schemas.microsoft.com/office/drawing/2014/main" id="{B5E30511-C865-2188-2BFB-C7872C16D1DB}"/>
              </a:ext>
            </a:extLst>
          </p:cNvPr>
          <p:cNvSpPr txBox="1"/>
          <p:nvPr/>
        </p:nvSpPr>
        <p:spPr>
          <a:xfrm>
            <a:off x="7020272" y="548680"/>
            <a:ext cx="1633781" cy="369332"/>
          </a:xfrm>
          <a:prstGeom prst="rect">
            <a:avLst/>
          </a:prstGeom>
          <a:noFill/>
        </p:spPr>
        <p:txBody>
          <a:bodyPr wrap="none" rtlCol="0">
            <a:spAutoFit/>
          </a:bodyPr>
          <a:lstStyle/>
          <a:p>
            <a:r>
              <a:rPr lang="en-US" altLang="zh-CN" b="1" dirty="0">
                <a:solidFill>
                  <a:schemeClr val="accent3">
                    <a:lumMod val="75000"/>
                  </a:schemeClr>
                </a:solidFill>
              </a:rPr>
              <a:t>chromosome</a:t>
            </a:r>
            <a:endParaRPr lang="zh-CN" altLang="en-US" b="1" dirty="0">
              <a:solidFill>
                <a:schemeClr val="accent3">
                  <a:lumMod val="75000"/>
                </a:schemeClr>
              </a:solidFill>
            </a:endParaRPr>
          </a:p>
        </p:txBody>
      </p:sp>
    </p:spTree>
    <p:extLst>
      <p:ext uri="{BB962C8B-B14F-4D97-AF65-F5344CB8AC3E}">
        <p14:creationId xmlns:p14="http://schemas.microsoft.com/office/powerpoint/2010/main" val="581545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510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39552" y="0"/>
            <a:ext cx="24003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 name="Object 2">
            <a:extLst>
              <a:ext uri="{FF2B5EF4-FFF2-40B4-BE49-F238E27FC236}">
                <a16:creationId xmlns:a16="http://schemas.microsoft.com/office/drawing/2014/main" id="{FBC5DAF7-2140-B4B4-2C5A-2ED2852A5EF3}"/>
              </a:ext>
            </a:extLst>
          </p:cNvPr>
          <p:cNvGraphicFramePr>
            <a:graphicFrameLocks noChangeAspect="1"/>
          </p:cNvGraphicFramePr>
          <p:nvPr>
            <p:extLst>
              <p:ext uri="{D42A27DB-BD31-4B8C-83A1-F6EECF244321}">
                <p14:modId xmlns:p14="http://schemas.microsoft.com/office/powerpoint/2010/main" val="4189664052"/>
              </p:ext>
            </p:extLst>
          </p:nvPr>
        </p:nvGraphicFramePr>
        <p:xfrm>
          <a:off x="3733800" y="0"/>
          <a:ext cx="4427538" cy="6705600"/>
        </p:xfrm>
        <a:graphic>
          <a:graphicData uri="http://schemas.openxmlformats.org/presentationml/2006/ole">
            <mc:AlternateContent xmlns:mc="http://schemas.openxmlformats.org/markup-compatibility/2006">
              <mc:Choice xmlns:v="urn:schemas-microsoft-com:vml" Requires="v">
                <p:oleObj spid="_x0000_s1026" name="Image" r:id="rId5" imgW="3086100" imgH="4673600" progId="Photoshop.Image.6">
                  <p:embed/>
                </p:oleObj>
              </mc:Choice>
              <mc:Fallback>
                <p:oleObj name="Image" r:id="rId5" imgW="3086100" imgH="4673600" progId="Photoshop.Image.6">
                  <p:embed/>
                  <p:pic>
                    <p:nvPicPr>
                      <p:cNvPr id="17613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33800" y="0"/>
                        <a:ext cx="4427538" cy="670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3" name="Group 3">
            <a:extLst>
              <a:ext uri="{FF2B5EF4-FFF2-40B4-BE49-F238E27FC236}">
                <a16:creationId xmlns:a16="http://schemas.microsoft.com/office/drawing/2014/main" id="{492F9630-935C-B147-D32C-451FB6FA2C3F}"/>
              </a:ext>
            </a:extLst>
          </p:cNvPr>
          <p:cNvGrpSpPr/>
          <p:nvPr/>
        </p:nvGrpSpPr>
        <p:grpSpPr bwMode="auto">
          <a:xfrm>
            <a:off x="3733800" y="1600200"/>
            <a:ext cx="2514600" cy="4773613"/>
            <a:chOff x="2352" y="1008"/>
            <a:chExt cx="1584" cy="3007"/>
          </a:xfrm>
        </p:grpSpPr>
        <p:sp>
          <p:nvSpPr>
            <p:cNvPr id="4" name="Text Box 4">
              <a:extLst>
                <a:ext uri="{FF2B5EF4-FFF2-40B4-BE49-F238E27FC236}">
                  <a16:creationId xmlns:a16="http://schemas.microsoft.com/office/drawing/2014/main" id="{8039F33D-09A3-3835-9449-302722173D44}"/>
                </a:ext>
              </a:extLst>
            </p:cNvPr>
            <p:cNvSpPr txBox="1">
              <a:spLocks noChangeArrowheads="1"/>
            </p:cNvSpPr>
            <p:nvPr/>
          </p:nvSpPr>
          <p:spPr bwMode="auto">
            <a:xfrm>
              <a:off x="2928" y="3744"/>
              <a:ext cx="624" cy="271"/>
            </a:xfrm>
            <a:prstGeom prst="rect">
              <a:avLst/>
            </a:prstGeom>
            <a:solidFill>
              <a:schemeClr val="bg1"/>
            </a:solidFill>
            <a:ln w="9525">
              <a:solidFill>
                <a:schemeClr val="bg1"/>
              </a:solidFill>
              <a:miter lim="800000"/>
            </a:ln>
          </p:spPr>
          <p:txBody>
            <a:bodyPr anchor="b">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50000"/>
                </a:spcBef>
                <a:buFontTx/>
                <a:buNone/>
              </a:pPr>
              <a:r>
                <a:rPr lang="en-US" altLang="zh-CN" sz="2400" b="1">
                  <a:solidFill>
                    <a:schemeClr val="tx2"/>
                  </a:solidFill>
                  <a:latin typeface="Arial" panose="020B0604020202020204" pitchFamily="34" charset="0"/>
                </a:rPr>
                <a:t>DNA</a:t>
              </a:r>
            </a:p>
          </p:txBody>
        </p:sp>
        <p:sp>
          <p:nvSpPr>
            <p:cNvPr id="5" name="Text Box 5">
              <a:extLst>
                <a:ext uri="{FF2B5EF4-FFF2-40B4-BE49-F238E27FC236}">
                  <a16:creationId xmlns:a16="http://schemas.microsoft.com/office/drawing/2014/main" id="{91AE68F2-7A46-C5B8-7B92-D556768369D4}"/>
                </a:ext>
              </a:extLst>
            </p:cNvPr>
            <p:cNvSpPr txBox="1">
              <a:spLocks noChangeArrowheads="1"/>
            </p:cNvSpPr>
            <p:nvPr/>
          </p:nvSpPr>
          <p:spPr bwMode="auto">
            <a:xfrm>
              <a:off x="2640" y="2634"/>
              <a:ext cx="960" cy="271"/>
            </a:xfrm>
            <a:prstGeom prst="rect">
              <a:avLst/>
            </a:prstGeom>
            <a:solidFill>
              <a:schemeClr val="bg1"/>
            </a:solidFill>
            <a:ln w="9525">
              <a:solidFill>
                <a:schemeClr val="bg1"/>
              </a:solidFill>
              <a:miter lim="800000"/>
            </a:ln>
          </p:spPr>
          <p:txBody>
            <a:bodyPr anchor="b">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50000"/>
                </a:spcBef>
                <a:buFontTx/>
                <a:buNone/>
              </a:pPr>
              <a:r>
                <a:rPr lang="en-US" altLang="zh-CN" sz="2400" b="1">
                  <a:solidFill>
                    <a:schemeClr val="tx2"/>
                  </a:solidFill>
                  <a:latin typeface="Arial" panose="020B0604020202020204" pitchFamily="34" charset="0"/>
                </a:rPr>
                <a:t>Histones</a:t>
              </a:r>
            </a:p>
          </p:txBody>
        </p:sp>
        <p:sp>
          <p:nvSpPr>
            <p:cNvPr id="6" name="Text Box 6">
              <a:extLst>
                <a:ext uri="{FF2B5EF4-FFF2-40B4-BE49-F238E27FC236}">
                  <a16:creationId xmlns:a16="http://schemas.microsoft.com/office/drawing/2014/main" id="{0ABCBA6B-38D1-B8DF-FCBE-9A7001F54FBC}"/>
                </a:ext>
              </a:extLst>
            </p:cNvPr>
            <p:cNvSpPr txBox="1">
              <a:spLocks noChangeArrowheads="1"/>
            </p:cNvSpPr>
            <p:nvPr/>
          </p:nvSpPr>
          <p:spPr bwMode="auto">
            <a:xfrm>
              <a:off x="2352" y="1728"/>
              <a:ext cx="1440" cy="5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50000"/>
                </a:spcBef>
                <a:buFontTx/>
                <a:buNone/>
              </a:pPr>
              <a:r>
                <a:rPr lang="en-US" altLang="zh-CN" sz="2000" b="1" dirty="0">
                  <a:solidFill>
                    <a:schemeClr val="tx2"/>
                  </a:solidFill>
                </a:rPr>
                <a:t>Nucleosomes</a:t>
              </a:r>
            </a:p>
            <a:p>
              <a:pPr eaLnBrk="1" hangingPunct="1">
                <a:lnSpc>
                  <a:spcPct val="90000"/>
                </a:lnSpc>
                <a:spcBef>
                  <a:spcPct val="50000"/>
                </a:spcBef>
                <a:buFontTx/>
                <a:buNone/>
              </a:pPr>
              <a:r>
                <a:rPr lang="en-US" altLang="zh-CN" sz="2000" b="1" dirty="0">
                  <a:solidFill>
                    <a:schemeClr val="tx2"/>
                  </a:solidFill>
                </a:rPr>
                <a:t>(10 nm in diameter)</a:t>
              </a:r>
            </a:p>
          </p:txBody>
        </p:sp>
        <p:sp>
          <p:nvSpPr>
            <p:cNvPr id="7" name="Text Box 7">
              <a:extLst>
                <a:ext uri="{FF2B5EF4-FFF2-40B4-BE49-F238E27FC236}">
                  <a16:creationId xmlns:a16="http://schemas.microsoft.com/office/drawing/2014/main" id="{BE476962-6083-1E7A-7731-F85FC21FDB87}"/>
                </a:ext>
              </a:extLst>
            </p:cNvPr>
            <p:cNvSpPr txBox="1">
              <a:spLocks noChangeArrowheads="1"/>
            </p:cNvSpPr>
            <p:nvPr/>
          </p:nvSpPr>
          <p:spPr bwMode="auto">
            <a:xfrm>
              <a:off x="2496" y="1008"/>
              <a:ext cx="1440" cy="5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50000"/>
                </a:spcBef>
                <a:buFontTx/>
                <a:buNone/>
              </a:pPr>
              <a:r>
                <a:rPr lang="en-US" altLang="zh-CN" sz="2000" b="1">
                  <a:solidFill>
                    <a:schemeClr val="tx2"/>
                  </a:solidFill>
                </a:rPr>
                <a:t>Chromatin fiber</a:t>
              </a:r>
            </a:p>
            <a:p>
              <a:pPr eaLnBrk="1" hangingPunct="1">
                <a:lnSpc>
                  <a:spcPct val="90000"/>
                </a:lnSpc>
                <a:spcBef>
                  <a:spcPct val="50000"/>
                </a:spcBef>
                <a:buFontTx/>
                <a:buNone/>
              </a:pPr>
              <a:r>
                <a:rPr lang="en-US" altLang="zh-CN" sz="2000" b="1">
                  <a:solidFill>
                    <a:schemeClr val="tx2"/>
                  </a:solidFill>
                </a:rPr>
                <a:t>(30 nm in diameter)</a:t>
              </a:r>
            </a:p>
          </p:txBody>
        </p:sp>
      </p:grpSp>
      <p:pic>
        <p:nvPicPr>
          <p:cNvPr id="8" name="Picture 2">
            <a:extLst>
              <a:ext uri="{FF2B5EF4-FFF2-40B4-BE49-F238E27FC236}">
                <a16:creationId xmlns:a16="http://schemas.microsoft.com/office/drawing/2014/main" id="{FC2F117E-9C1B-0EA4-7448-334E128F80DE}"/>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56650" b="89884"/>
          <a:stretch/>
        </p:blipFill>
        <p:spPr bwMode="auto">
          <a:xfrm>
            <a:off x="2939852" y="0"/>
            <a:ext cx="2399962"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Text Box 2"/>
          <p:cNvSpPr txBox="1">
            <a:spLocks noChangeArrowheads="1"/>
          </p:cNvSpPr>
          <p:nvPr/>
        </p:nvSpPr>
        <p:spPr bwMode="auto">
          <a:xfrm>
            <a:off x="395536" y="187343"/>
            <a:ext cx="7772400" cy="3241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r>
              <a:rPr lang="en-US" altLang="zh-CN" dirty="0">
                <a:solidFill>
                  <a:srgbClr val="000000"/>
                </a:solidFill>
              </a:rPr>
              <a:t>Chromosomes contain both </a:t>
            </a:r>
            <a:r>
              <a:rPr lang="en-US" altLang="zh-CN" dirty="0">
                <a:solidFill>
                  <a:srgbClr val="FF0000"/>
                </a:solidFill>
              </a:rPr>
              <a:t>DNA</a:t>
            </a:r>
            <a:r>
              <a:rPr lang="en-US" altLang="zh-CN" dirty="0">
                <a:solidFill>
                  <a:srgbClr val="000000"/>
                </a:solidFill>
              </a:rPr>
              <a:t> and protein. Most of the protein are </a:t>
            </a:r>
            <a:r>
              <a:rPr lang="en-US" altLang="zh-CN" dirty="0">
                <a:solidFill>
                  <a:srgbClr val="FF0000"/>
                </a:solidFill>
              </a:rPr>
              <a:t>histones</a:t>
            </a:r>
            <a:r>
              <a:rPr lang="en-US" altLang="zh-CN" dirty="0">
                <a:solidFill>
                  <a:srgbClr val="000000"/>
                </a:solidFill>
              </a:rPr>
              <a:t>, but there are </a:t>
            </a:r>
            <a:r>
              <a:rPr lang="en-US" altLang="zh-CN" dirty="0">
                <a:solidFill>
                  <a:srgbClr val="FF0000"/>
                </a:solidFill>
              </a:rPr>
              <a:t>also nonhistone </a:t>
            </a:r>
            <a:r>
              <a:rPr lang="en-US" altLang="zh-CN" dirty="0">
                <a:solidFill>
                  <a:srgbClr val="000000"/>
                </a:solidFill>
              </a:rPr>
              <a:t>proteins.</a:t>
            </a:r>
          </a:p>
          <a:p>
            <a:pPr eaLnBrk="1" hangingPunct="1">
              <a:lnSpc>
                <a:spcPct val="120000"/>
              </a:lnSpc>
              <a:spcBef>
                <a:spcPct val="50000"/>
              </a:spcBef>
              <a:buFontTx/>
              <a:buNone/>
            </a:pPr>
            <a:r>
              <a:rPr lang="en-US" altLang="zh-CN" dirty="0">
                <a:solidFill>
                  <a:srgbClr val="000000"/>
                </a:solidFill>
              </a:rPr>
              <a:t>In the nucleus, </a:t>
            </a:r>
            <a:r>
              <a:rPr lang="en-US" altLang="zh-CN" dirty="0"/>
              <a:t>each chromosome contains a single linear d</a:t>
            </a:r>
            <a:r>
              <a:rPr lang="en-US" altLang="zh-CN" dirty="0">
                <a:solidFill>
                  <a:srgbClr val="000000"/>
                </a:solidFill>
              </a:rPr>
              <a:t>ouble-stranded DNA molecule.</a:t>
            </a: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Text Box 2"/>
          <p:cNvSpPr txBox="1">
            <a:spLocks noChangeArrowheads="1"/>
          </p:cNvSpPr>
          <p:nvPr/>
        </p:nvSpPr>
        <p:spPr bwMode="auto">
          <a:xfrm>
            <a:off x="762000" y="1319213"/>
            <a:ext cx="6629400"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50000"/>
              </a:spcBef>
              <a:buFontTx/>
              <a:buNone/>
            </a:pPr>
            <a:endParaRPr lang="zh-CN" altLang="zh-CN" sz="3600" b="1">
              <a:solidFill>
                <a:schemeClr val="tx2"/>
              </a:solidFill>
              <a:latin typeface="Arial" panose="020B0604020202020204" pitchFamily="34" charset="0"/>
            </a:endParaRPr>
          </a:p>
        </p:txBody>
      </p:sp>
      <p:sp>
        <p:nvSpPr>
          <p:cNvPr id="178179" name="Text Box 3"/>
          <p:cNvSpPr txBox="1">
            <a:spLocks noChangeArrowheads="1"/>
          </p:cNvSpPr>
          <p:nvPr/>
        </p:nvSpPr>
        <p:spPr bwMode="auto">
          <a:xfrm>
            <a:off x="838200" y="1319213"/>
            <a:ext cx="4191000"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50000"/>
              </a:spcBef>
              <a:buFontTx/>
              <a:buNone/>
            </a:pPr>
            <a:r>
              <a:rPr lang="en-US" altLang="zh-CN" sz="3600" b="1">
                <a:solidFill>
                  <a:schemeClr val="tx2"/>
                </a:solidFill>
                <a:latin typeface="Arial" panose="020B0604020202020204" pitchFamily="34" charset="0"/>
              </a:rPr>
              <a:t>4. Nucleosomes</a:t>
            </a:r>
          </a:p>
        </p:txBody>
      </p:sp>
      <p:sp>
        <p:nvSpPr>
          <p:cNvPr id="178180" name="Text Box 4"/>
          <p:cNvSpPr txBox="1">
            <a:spLocks noChangeArrowheads="1"/>
          </p:cNvSpPr>
          <p:nvPr/>
        </p:nvSpPr>
        <p:spPr bwMode="auto">
          <a:xfrm>
            <a:off x="1042988" y="2133600"/>
            <a:ext cx="7543800" cy="404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r>
              <a:rPr lang="en-US" altLang="zh-CN" sz="3600">
                <a:solidFill>
                  <a:schemeClr val="tx2"/>
                </a:solidFill>
              </a:rPr>
              <a:t>When chromosomes are gently “condensed”, they have the appearance under the electron microscope of “beads on a string”. The “beads” are called nucleosomes and consist of DNA complexed with histones.</a:t>
            </a: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9203" name="Picture 3"/>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51616"/>
          <a:stretch/>
        </p:blipFill>
        <p:spPr bwMode="auto">
          <a:xfrm>
            <a:off x="3276228" y="4116016"/>
            <a:ext cx="4313684" cy="293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3">
            <a:extLst>
              <a:ext uri="{FF2B5EF4-FFF2-40B4-BE49-F238E27FC236}">
                <a16:creationId xmlns:a16="http://schemas.microsoft.com/office/drawing/2014/main" id="{BECD3C0F-5122-66C7-94FC-8A684FD1E06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4300" y="260648"/>
            <a:ext cx="7823200" cy="375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椭圆 2">
            <a:extLst>
              <a:ext uri="{FF2B5EF4-FFF2-40B4-BE49-F238E27FC236}">
                <a16:creationId xmlns:a16="http://schemas.microsoft.com/office/drawing/2014/main" id="{F0DD9787-46A1-2C9C-95E9-E6C97A8A4D76}"/>
              </a:ext>
            </a:extLst>
          </p:cNvPr>
          <p:cNvSpPr/>
          <p:nvPr/>
        </p:nvSpPr>
        <p:spPr>
          <a:xfrm>
            <a:off x="3132212" y="1936304"/>
            <a:ext cx="144016" cy="50405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椭圆 3">
            <a:extLst>
              <a:ext uri="{FF2B5EF4-FFF2-40B4-BE49-F238E27FC236}">
                <a16:creationId xmlns:a16="http://schemas.microsoft.com/office/drawing/2014/main" id="{35B410DC-3D76-DCD5-A1C4-087545D77994}"/>
              </a:ext>
            </a:extLst>
          </p:cNvPr>
          <p:cNvSpPr/>
          <p:nvPr/>
        </p:nvSpPr>
        <p:spPr>
          <a:xfrm>
            <a:off x="4716388" y="1936304"/>
            <a:ext cx="144016" cy="50405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083ED5CE-1B7F-474B-173D-2FBD599F8E1B}"/>
              </a:ext>
            </a:extLst>
          </p:cNvPr>
          <p:cNvSpPr/>
          <p:nvPr/>
        </p:nvSpPr>
        <p:spPr>
          <a:xfrm>
            <a:off x="6012532" y="1936304"/>
            <a:ext cx="144016" cy="50405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a:extLst>
              <a:ext uri="{FF2B5EF4-FFF2-40B4-BE49-F238E27FC236}">
                <a16:creationId xmlns:a16="http://schemas.microsoft.com/office/drawing/2014/main" id="{00FB0B7D-A16E-0D2B-E1C8-DF1A22C8EF5D}"/>
              </a:ext>
            </a:extLst>
          </p:cNvPr>
          <p:cNvSpPr/>
          <p:nvPr/>
        </p:nvSpPr>
        <p:spPr>
          <a:xfrm>
            <a:off x="7236668" y="1936304"/>
            <a:ext cx="144016" cy="50405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a:extLst>
              <a:ext uri="{FF2B5EF4-FFF2-40B4-BE49-F238E27FC236}">
                <a16:creationId xmlns:a16="http://schemas.microsoft.com/office/drawing/2014/main" id="{FCA3084F-0196-2752-20CD-02AD327375E4}"/>
              </a:ext>
            </a:extLst>
          </p:cNvPr>
          <p:cNvSpPr/>
          <p:nvPr/>
        </p:nvSpPr>
        <p:spPr>
          <a:xfrm>
            <a:off x="1554460" y="2132856"/>
            <a:ext cx="144016" cy="50405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EEB80102-43FC-2552-AFE8-C06FF4D0E293}"/>
              </a:ext>
            </a:extLst>
          </p:cNvPr>
          <p:cNvPicPr>
            <a:picLocks noChangeAspect="1"/>
          </p:cNvPicPr>
          <p:nvPr/>
        </p:nvPicPr>
        <p:blipFill>
          <a:blip r:embed="rId3"/>
          <a:stretch>
            <a:fillRect/>
          </a:stretch>
        </p:blipFill>
        <p:spPr>
          <a:xfrm>
            <a:off x="644432" y="0"/>
            <a:ext cx="7855136" cy="6858000"/>
          </a:xfrm>
          <a:prstGeom prst="rect">
            <a:avLst/>
          </a:prstGeom>
        </p:spPr>
      </p:pic>
    </p:spTree>
    <p:extLst>
      <p:ext uri="{BB962C8B-B14F-4D97-AF65-F5344CB8AC3E}">
        <p14:creationId xmlns:p14="http://schemas.microsoft.com/office/powerpoint/2010/main" val="127134144"/>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2275"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4800" y="765175"/>
            <a:ext cx="8839200" cy="4560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827584" y="5013176"/>
            <a:ext cx="1368152" cy="216024"/>
          </a:xfrm>
          <a:prstGeom prst="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329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7544" y="254000"/>
            <a:ext cx="2565400" cy="635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2">
            <a:extLst>
              <a:ext uri="{FF2B5EF4-FFF2-40B4-BE49-F238E27FC236}">
                <a16:creationId xmlns:a16="http://schemas.microsoft.com/office/drawing/2014/main" id="{B0B1FEBB-F920-6BB4-4702-0C7BF993238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933357" y="1222421"/>
            <a:ext cx="5154956" cy="4413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a:extLst>
              <a:ext uri="{FF2B5EF4-FFF2-40B4-BE49-F238E27FC236}">
                <a16:creationId xmlns:a16="http://schemas.microsoft.com/office/drawing/2014/main" id="{AE1B84BE-D6F5-A0EC-ED8C-BF57F5D0CE0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510835" y="253999"/>
            <a:ext cx="1902571" cy="1055062"/>
          </a:xfrm>
          <a:prstGeom prst="rect">
            <a:avLst/>
          </a:prstGeom>
        </p:spPr>
      </p:pic>
      <p:sp>
        <p:nvSpPr>
          <p:cNvPr id="4" name="文本框 3">
            <a:extLst>
              <a:ext uri="{FF2B5EF4-FFF2-40B4-BE49-F238E27FC236}">
                <a16:creationId xmlns:a16="http://schemas.microsoft.com/office/drawing/2014/main" id="{C7A5B558-CC96-0C35-3DF0-09FB62120426}"/>
              </a:ext>
            </a:extLst>
          </p:cNvPr>
          <p:cNvSpPr txBox="1"/>
          <p:nvPr/>
        </p:nvSpPr>
        <p:spPr>
          <a:xfrm>
            <a:off x="7447483" y="3400549"/>
            <a:ext cx="1389959" cy="1754326"/>
          </a:xfrm>
          <a:prstGeom prst="rect">
            <a:avLst/>
          </a:prstGeom>
          <a:noFill/>
        </p:spPr>
        <p:txBody>
          <a:bodyPr wrap="square" rtlCol="0">
            <a:spAutoFit/>
          </a:bodyPr>
          <a:lstStyle/>
          <a:p>
            <a:r>
              <a:rPr lang="en-US" altLang="zh-CN" dirty="0"/>
              <a:t>H3 methylation</a:t>
            </a:r>
          </a:p>
          <a:p>
            <a:r>
              <a:rPr lang="en-US" altLang="zh-CN" dirty="0"/>
              <a:t>H3K4, H3K27</a:t>
            </a:r>
          </a:p>
          <a:p>
            <a:r>
              <a:rPr lang="en-US" altLang="zh-CN" dirty="0"/>
              <a:t>H3K9, H3K36</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heel(1)">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739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5800" y="0"/>
            <a:ext cx="6505575" cy="662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944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52600" y="457200"/>
            <a:ext cx="5689600" cy="538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149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0600" y="711200"/>
            <a:ext cx="71628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1491" name="Text Box 4"/>
          <p:cNvSpPr txBox="1">
            <a:spLocks noChangeArrowheads="1"/>
          </p:cNvSpPr>
          <p:nvPr/>
        </p:nvSpPr>
        <p:spPr bwMode="auto">
          <a:xfrm>
            <a:off x="5334000" y="3376613"/>
            <a:ext cx="3352800"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50000"/>
              </a:spcBef>
              <a:buFontTx/>
              <a:buNone/>
            </a:pPr>
            <a:endParaRPr lang="zh-CN" altLang="zh-CN" sz="3600" b="1">
              <a:solidFill>
                <a:schemeClr val="tx2"/>
              </a:solidFill>
              <a:latin typeface="Arial" panose="020B0604020202020204" pitchFamily="34" charset="0"/>
            </a:endParaRP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353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8800" y="1092200"/>
            <a:ext cx="8026400" cy="467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3539" name="Text Box 3"/>
          <p:cNvSpPr txBox="1">
            <a:spLocks noChangeArrowheads="1"/>
          </p:cNvSpPr>
          <p:nvPr/>
        </p:nvSpPr>
        <p:spPr bwMode="auto">
          <a:xfrm>
            <a:off x="4724400" y="4800600"/>
            <a:ext cx="3657600" cy="931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50000"/>
              </a:spcBef>
              <a:buFontTx/>
              <a:buNone/>
            </a:pPr>
            <a:r>
              <a:rPr lang="en-US" altLang="zh-CN" sz="2400" b="1">
                <a:solidFill>
                  <a:schemeClr val="tx2"/>
                </a:solidFill>
                <a:latin typeface="Arial" panose="020B0604020202020204" pitchFamily="34" charset="0"/>
              </a:rPr>
              <a:t>30nm chromatin fiber</a:t>
            </a:r>
          </a:p>
          <a:p>
            <a:pPr eaLnBrk="1" hangingPunct="1">
              <a:lnSpc>
                <a:spcPct val="90000"/>
              </a:lnSpc>
              <a:spcBef>
                <a:spcPct val="50000"/>
              </a:spcBef>
              <a:buFontTx/>
              <a:buNone/>
            </a:pPr>
            <a:r>
              <a:rPr lang="zh-CN" altLang="en-US" sz="2400" b="1">
                <a:solidFill>
                  <a:schemeClr val="tx2"/>
                </a:solidFill>
                <a:latin typeface="Arial" panose="020B0604020202020204" pitchFamily="34" charset="0"/>
              </a:rPr>
              <a:t>每圈</a:t>
            </a:r>
            <a:r>
              <a:rPr lang="en-US" altLang="zh-CN" sz="2400" b="1">
                <a:solidFill>
                  <a:schemeClr val="tx2"/>
                </a:solidFill>
                <a:latin typeface="Arial" panose="020B0604020202020204" pitchFamily="34" charset="0"/>
              </a:rPr>
              <a:t>6</a:t>
            </a:r>
            <a:r>
              <a:rPr lang="zh-CN" altLang="en-US" sz="2400" b="1">
                <a:solidFill>
                  <a:schemeClr val="tx2"/>
                </a:solidFill>
                <a:latin typeface="Arial" panose="020B0604020202020204" pitchFamily="34" charset="0"/>
              </a:rPr>
              <a:t>核小体</a:t>
            </a: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558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609600"/>
            <a:ext cx="9144000" cy="246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968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71800" y="0"/>
            <a:ext cx="3017838"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99683" name="Group 3"/>
          <p:cNvGrpSpPr/>
          <p:nvPr/>
        </p:nvGrpSpPr>
        <p:grpSpPr bwMode="auto">
          <a:xfrm>
            <a:off x="838200" y="685800"/>
            <a:ext cx="7391400" cy="5662613"/>
            <a:chOff x="528" y="432"/>
            <a:chExt cx="4656" cy="3567"/>
          </a:xfrm>
        </p:grpSpPr>
        <p:sp>
          <p:nvSpPr>
            <p:cNvPr id="199684" name="Text Box 4"/>
            <p:cNvSpPr txBox="1">
              <a:spLocks noChangeArrowheads="1"/>
            </p:cNvSpPr>
            <p:nvPr/>
          </p:nvSpPr>
          <p:spPr bwMode="auto">
            <a:xfrm>
              <a:off x="1104" y="432"/>
              <a:ext cx="1440" cy="41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50000"/>
                </a:spcBef>
                <a:buFontTx/>
                <a:buNone/>
              </a:pPr>
              <a:r>
                <a:rPr lang="en-US" altLang="zh-CN" sz="2400">
                  <a:solidFill>
                    <a:schemeClr val="tx2"/>
                  </a:solidFill>
                  <a:latin typeface="Tahoma" panose="020B0604030504040204" pitchFamily="34" charset="0"/>
                </a:rPr>
                <a:t>Two chromatids (10 coils each)</a:t>
              </a:r>
            </a:p>
          </p:txBody>
        </p:sp>
        <p:sp>
          <p:nvSpPr>
            <p:cNvPr id="199685" name="Rectangle 5"/>
            <p:cNvSpPr>
              <a:spLocks noChangeArrowheads="1"/>
            </p:cNvSpPr>
            <p:nvPr/>
          </p:nvSpPr>
          <p:spPr bwMode="auto">
            <a:xfrm>
              <a:off x="3744" y="1200"/>
              <a:ext cx="1200" cy="2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199686" name="Text Box 6"/>
            <p:cNvSpPr txBox="1">
              <a:spLocks noChangeArrowheads="1"/>
            </p:cNvSpPr>
            <p:nvPr/>
          </p:nvSpPr>
          <p:spPr bwMode="auto">
            <a:xfrm>
              <a:off x="672" y="3072"/>
              <a:ext cx="1824" cy="41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50000"/>
                </a:spcBef>
                <a:buFontTx/>
                <a:buNone/>
              </a:pPr>
              <a:r>
                <a:rPr lang="en-US" altLang="zh-CN" sz="2400">
                  <a:solidFill>
                    <a:schemeClr val="tx2"/>
                  </a:solidFill>
                  <a:latin typeface="Tahoma" panose="020B0604030504040204" pitchFamily="34" charset="0"/>
                </a:rPr>
                <a:t>“Beads –on-a-string” form of chromatin</a:t>
              </a:r>
            </a:p>
          </p:txBody>
        </p:sp>
        <p:sp>
          <p:nvSpPr>
            <p:cNvPr id="199687" name="Text Box 7"/>
            <p:cNvSpPr txBox="1">
              <a:spLocks noChangeArrowheads="1"/>
            </p:cNvSpPr>
            <p:nvPr/>
          </p:nvSpPr>
          <p:spPr bwMode="auto">
            <a:xfrm>
              <a:off x="1872" y="3792"/>
              <a:ext cx="624" cy="20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50000"/>
                </a:spcBef>
                <a:buFontTx/>
                <a:buNone/>
              </a:pPr>
              <a:r>
                <a:rPr lang="en-US" altLang="zh-CN" sz="2400">
                  <a:solidFill>
                    <a:schemeClr val="tx2"/>
                  </a:solidFill>
                  <a:latin typeface="Tahoma" panose="020B0604030504040204" pitchFamily="34" charset="0"/>
                </a:rPr>
                <a:t>DNA</a:t>
              </a:r>
            </a:p>
          </p:txBody>
        </p:sp>
        <p:sp>
          <p:nvSpPr>
            <p:cNvPr id="199688" name="Text Box 8"/>
            <p:cNvSpPr txBox="1">
              <a:spLocks noChangeArrowheads="1"/>
            </p:cNvSpPr>
            <p:nvPr/>
          </p:nvSpPr>
          <p:spPr bwMode="auto">
            <a:xfrm>
              <a:off x="1440" y="2640"/>
              <a:ext cx="1104" cy="20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50000"/>
                </a:spcBef>
                <a:buFontTx/>
                <a:buNone/>
              </a:pPr>
              <a:r>
                <a:rPr lang="en-US" altLang="zh-CN" sz="2400">
                  <a:solidFill>
                    <a:schemeClr val="tx2"/>
                  </a:solidFill>
                  <a:latin typeface="Tahoma" panose="020B0604030504040204" pitchFamily="34" charset="0"/>
                </a:rPr>
                <a:t>30 nm Fiber</a:t>
              </a:r>
            </a:p>
          </p:txBody>
        </p:sp>
        <p:sp>
          <p:nvSpPr>
            <p:cNvPr id="199689" name="Text Box 9"/>
            <p:cNvSpPr txBox="1">
              <a:spLocks noChangeArrowheads="1"/>
            </p:cNvSpPr>
            <p:nvPr/>
          </p:nvSpPr>
          <p:spPr bwMode="auto">
            <a:xfrm>
              <a:off x="1488" y="1584"/>
              <a:ext cx="1056" cy="20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50000"/>
                </a:spcBef>
                <a:buFontTx/>
                <a:buNone/>
              </a:pPr>
              <a:r>
                <a:rPr lang="en-US" altLang="zh-CN" sz="2400">
                  <a:solidFill>
                    <a:schemeClr val="tx2"/>
                  </a:solidFill>
                  <a:latin typeface="Tahoma" panose="020B0604030504040204" pitchFamily="34" charset="0"/>
                </a:rPr>
                <a:t>One rosette</a:t>
              </a:r>
            </a:p>
          </p:txBody>
        </p:sp>
        <p:sp>
          <p:nvSpPr>
            <p:cNvPr id="199690" name="Text Box 10"/>
            <p:cNvSpPr txBox="1">
              <a:spLocks noChangeArrowheads="1"/>
            </p:cNvSpPr>
            <p:nvPr/>
          </p:nvSpPr>
          <p:spPr bwMode="auto">
            <a:xfrm>
              <a:off x="576" y="2112"/>
              <a:ext cx="1968" cy="20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50000"/>
                </a:spcBef>
                <a:buFontTx/>
                <a:buNone/>
              </a:pPr>
              <a:r>
                <a:rPr lang="en-US" altLang="zh-CN" sz="2400">
                  <a:solidFill>
                    <a:schemeClr val="tx2"/>
                  </a:solidFill>
                  <a:latin typeface="Tahoma" panose="020B0604030504040204" pitchFamily="34" charset="0"/>
                </a:rPr>
                <a:t>One loop (-75,000 bp)</a:t>
              </a:r>
            </a:p>
          </p:txBody>
        </p:sp>
        <p:sp>
          <p:nvSpPr>
            <p:cNvPr id="199691" name="Text Box 11"/>
            <p:cNvSpPr txBox="1">
              <a:spLocks noChangeArrowheads="1"/>
            </p:cNvSpPr>
            <p:nvPr/>
          </p:nvSpPr>
          <p:spPr bwMode="auto">
            <a:xfrm>
              <a:off x="3360" y="1632"/>
              <a:ext cx="1824" cy="20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50000"/>
                </a:spcBef>
                <a:buFontTx/>
                <a:buNone/>
              </a:pPr>
              <a:r>
                <a:rPr lang="en-US" altLang="zh-CN" sz="2400">
                  <a:solidFill>
                    <a:schemeClr val="tx2"/>
                  </a:solidFill>
                  <a:latin typeface="Tahoma" panose="020B0604030504040204" pitchFamily="34" charset="0"/>
                </a:rPr>
                <a:t>Nuclear scaffold</a:t>
              </a:r>
            </a:p>
          </p:txBody>
        </p:sp>
        <p:sp>
          <p:nvSpPr>
            <p:cNvPr id="199692" name="Text Box 12"/>
            <p:cNvSpPr txBox="1">
              <a:spLocks noChangeArrowheads="1"/>
            </p:cNvSpPr>
            <p:nvPr/>
          </p:nvSpPr>
          <p:spPr bwMode="auto">
            <a:xfrm>
              <a:off x="528" y="1007"/>
              <a:ext cx="2016" cy="52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50000"/>
                </a:spcBef>
                <a:buFontTx/>
                <a:buNone/>
              </a:pPr>
              <a:r>
                <a:rPr lang="en-US" altLang="zh-CN" sz="2400">
                  <a:solidFill>
                    <a:schemeClr val="tx2"/>
                  </a:solidFill>
                  <a:latin typeface="Tahoma" panose="020B0604030504040204" pitchFamily="34" charset="0"/>
                </a:rPr>
                <a:t>One coil (30 rosettes)</a:t>
              </a:r>
            </a:p>
            <a:p>
              <a:pPr eaLnBrk="1" hangingPunct="1">
                <a:lnSpc>
                  <a:spcPct val="90000"/>
                </a:lnSpc>
                <a:spcBef>
                  <a:spcPct val="50000"/>
                </a:spcBef>
                <a:buFontTx/>
                <a:buNone/>
              </a:pPr>
              <a:endParaRPr lang="en-US" altLang="zh-CN" sz="2400">
                <a:solidFill>
                  <a:schemeClr val="tx2"/>
                </a:solidFill>
                <a:latin typeface="Tahoma" panose="020B0604030504040204" pitchFamily="34" charset="0"/>
              </a:endParaRPr>
            </a:p>
          </p:txBody>
        </p:sp>
      </p:gr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1730" name="Picture 2" descr="chromesome3"/>
          <p:cNvPicPr>
            <a:picLocks noChangeAspect="1" noChangeArrowheads="1"/>
          </p:cNvPicPr>
          <p:nvPr/>
        </p:nvPicPr>
        <p:blipFill>
          <a:blip r:embed="rId2" cstate="print">
            <a:lum bright="-36000" contrast="36000"/>
            <a:extLst>
              <a:ext uri="{28A0092B-C50C-407E-A947-70E740481C1C}">
                <a14:useLocalDpi xmlns:a14="http://schemas.microsoft.com/office/drawing/2010/main" val="0"/>
              </a:ext>
            </a:extLst>
          </a:blip>
          <a:srcRect/>
          <a:stretch>
            <a:fillRect/>
          </a:stretch>
        </p:blipFill>
        <p:spPr bwMode="auto">
          <a:xfrm>
            <a:off x="2057400" y="0"/>
            <a:ext cx="5932488"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2756" name="Picture 4" descr="025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8600" y="57150"/>
            <a:ext cx="8763000" cy="657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idx="4294967295"/>
          </p:nvPr>
        </p:nvSpPr>
        <p:spPr>
          <a:xfrm>
            <a:off x="457200" y="274638"/>
            <a:ext cx="8229600" cy="1143000"/>
          </a:xfrm>
          <a:prstGeom prst="rect">
            <a:avLst/>
          </a:prstGeom>
        </p:spPr>
        <p:txBody>
          <a:bodyPr/>
          <a:lstStyle/>
          <a:p>
            <a:pPr eaLnBrk="1" hangingPunct="1"/>
            <a:r>
              <a:rPr lang="en-US" altLang="zh-CN" sz="6000" b="1">
                <a:solidFill>
                  <a:srgbClr val="FF0000"/>
                </a:solidFill>
              </a:rPr>
              <a:t>DNA Replication  </a:t>
            </a:r>
            <a:r>
              <a:rPr lang="en-US" altLang="zh-CN" sz="4000">
                <a:solidFill>
                  <a:srgbClr val="FF0000"/>
                </a:solidFill>
              </a:rPr>
              <a:t>(F3F4)</a:t>
            </a:r>
          </a:p>
        </p:txBody>
      </p:sp>
      <p:sp>
        <p:nvSpPr>
          <p:cNvPr id="203779" name="Text Box 3"/>
          <p:cNvSpPr txBox="1">
            <a:spLocks noChangeArrowheads="1"/>
          </p:cNvSpPr>
          <p:nvPr/>
        </p:nvSpPr>
        <p:spPr bwMode="auto">
          <a:xfrm>
            <a:off x="457200" y="2895600"/>
            <a:ext cx="8001000" cy="184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3600" dirty="0"/>
              <a:t>How does a DNA molecule replicate with high fidelity?</a:t>
            </a:r>
          </a:p>
          <a:p>
            <a:pPr eaLnBrk="1" hangingPunct="1">
              <a:buFontTx/>
              <a:buNone/>
            </a:pPr>
            <a:endParaRPr lang="en-US" altLang="zh-CN" sz="3600" dirty="0"/>
          </a:p>
        </p:txBody>
      </p:sp>
    </p:spTree>
  </p:cSld>
  <p:clrMapOvr>
    <a:masterClrMapping/>
  </p:clrMapOvr>
  <p:transition>
    <p:zoom/>
  </p:transition>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2"/>
          <p:cNvSpPr>
            <a:spLocks noGrp="1" noChangeArrowheads="1"/>
          </p:cNvSpPr>
          <p:nvPr>
            <p:ph type="title" idx="4294967295"/>
          </p:nvPr>
        </p:nvSpPr>
        <p:spPr>
          <a:xfrm>
            <a:off x="457200" y="274638"/>
            <a:ext cx="8229600" cy="1143000"/>
          </a:xfrm>
          <a:prstGeom prst="rect">
            <a:avLst/>
          </a:prstGeom>
        </p:spPr>
        <p:txBody>
          <a:bodyPr/>
          <a:lstStyle/>
          <a:p>
            <a:pPr eaLnBrk="1" hangingPunct="1">
              <a:lnSpc>
                <a:spcPct val="80000"/>
              </a:lnSpc>
            </a:pPr>
            <a:r>
              <a:rPr lang="en-US" altLang="zh-CN" sz="4000" b="1" dirty="0">
                <a:solidFill>
                  <a:srgbClr val="FF0066"/>
                </a:solidFill>
              </a:rPr>
              <a:t>1. The deduced double helix structure of DNA revealed the possible ways for its replication (1953)</a:t>
            </a:r>
          </a:p>
        </p:txBody>
      </p:sp>
      <p:pic>
        <p:nvPicPr>
          <p:cNvPr id="204803"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16389" y="1844824"/>
            <a:ext cx="2552700" cy="4856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04" name="Rectangle 6"/>
          <p:cNvSpPr>
            <a:spLocks noChangeArrowheads="1"/>
          </p:cNvSpPr>
          <p:nvPr/>
        </p:nvSpPr>
        <p:spPr bwMode="auto">
          <a:xfrm>
            <a:off x="1043608" y="2636912"/>
            <a:ext cx="3960813" cy="2227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dirty="0">
                <a:solidFill>
                  <a:schemeClr val="accent2"/>
                </a:solidFill>
              </a:rPr>
              <a:t>The hypothesis of</a:t>
            </a:r>
          </a:p>
          <a:p>
            <a:pPr eaLnBrk="1" hangingPunct="1">
              <a:spcBef>
                <a:spcPct val="0"/>
              </a:spcBef>
              <a:buFontTx/>
              <a:buNone/>
            </a:pPr>
            <a:r>
              <a:rPr lang="en-US" altLang="zh-CN" sz="2800" b="1" dirty="0">
                <a:solidFill>
                  <a:schemeClr val="accent2"/>
                </a:solidFill>
              </a:rPr>
              <a:t>semiconservative</a:t>
            </a:r>
          </a:p>
          <a:p>
            <a:pPr eaLnBrk="1" hangingPunct="1">
              <a:spcBef>
                <a:spcPct val="0"/>
              </a:spcBef>
              <a:buFontTx/>
              <a:buNone/>
            </a:pPr>
            <a:r>
              <a:rPr lang="en-US" altLang="zh-CN" sz="2800" b="1" dirty="0">
                <a:solidFill>
                  <a:schemeClr val="accent2"/>
                </a:solidFill>
              </a:rPr>
              <a:t>replication</a:t>
            </a:r>
            <a:r>
              <a:rPr lang="en-US" altLang="zh-CN" sz="2800" dirty="0">
                <a:solidFill>
                  <a:schemeClr val="accent2"/>
                </a:solidFill>
              </a:rPr>
              <a:t> proposed </a:t>
            </a:r>
          </a:p>
          <a:p>
            <a:pPr eaLnBrk="1" hangingPunct="1">
              <a:spcBef>
                <a:spcPct val="0"/>
              </a:spcBef>
              <a:buFontTx/>
              <a:buNone/>
            </a:pPr>
            <a:r>
              <a:rPr lang="en-US" altLang="zh-CN" sz="2800" dirty="0">
                <a:solidFill>
                  <a:schemeClr val="accent2"/>
                </a:solidFill>
              </a:rPr>
              <a:t>by Watson and Crick</a:t>
            </a:r>
          </a:p>
          <a:p>
            <a:pPr eaLnBrk="1" hangingPunct="1">
              <a:spcBef>
                <a:spcPct val="0"/>
              </a:spcBef>
              <a:buFontTx/>
              <a:buNone/>
            </a:pPr>
            <a:r>
              <a:rPr lang="en-US" altLang="zh-CN" sz="2800" dirty="0">
                <a:solidFill>
                  <a:schemeClr val="accent2"/>
                </a:solidFill>
              </a:rPr>
              <a:t>in  1953.</a:t>
            </a:r>
          </a:p>
        </p:txBody>
      </p:sp>
    </p:spTree>
  </p:cSld>
  <p:clrMapOvr>
    <a:masterClrMapping/>
  </p:clrMapOvr>
  <p:transition>
    <p:zoom/>
  </p:transition>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2"/>
          <p:cNvSpPr>
            <a:spLocks noGrp="1" noChangeArrowheads="1"/>
          </p:cNvSpPr>
          <p:nvPr>
            <p:ph type="title" idx="4294967295"/>
          </p:nvPr>
        </p:nvSpPr>
        <p:spPr>
          <a:xfrm>
            <a:off x="457200" y="274638"/>
            <a:ext cx="8229600" cy="1143000"/>
          </a:xfrm>
          <a:prstGeom prst="rect">
            <a:avLst/>
          </a:prstGeom>
        </p:spPr>
        <p:txBody>
          <a:bodyPr/>
          <a:lstStyle/>
          <a:p>
            <a:pPr eaLnBrk="1" hangingPunct="1"/>
            <a:r>
              <a:rPr lang="en-US" altLang="zh-CN" sz="3200" b="1" dirty="0">
                <a:solidFill>
                  <a:srgbClr val="FF0066"/>
                </a:solidFill>
              </a:rPr>
              <a:t>2. DNA replication was proved to be semiconservative by the Meselson-Stahl experiment using </a:t>
            </a:r>
            <a:r>
              <a:rPr lang="en-US" altLang="zh-CN" sz="3200" b="1" i="1" dirty="0">
                <a:solidFill>
                  <a:srgbClr val="FF0066"/>
                </a:solidFill>
              </a:rPr>
              <a:t>E. coli</a:t>
            </a:r>
            <a:r>
              <a:rPr lang="en-US" altLang="zh-CN" sz="3200" b="1" dirty="0">
                <a:solidFill>
                  <a:srgbClr val="FF0066"/>
                </a:solidFill>
              </a:rPr>
              <a:t> cells (1957)</a:t>
            </a:r>
            <a:endParaRPr lang="en-US" altLang="zh-CN" sz="3200" dirty="0">
              <a:solidFill>
                <a:srgbClr val="FF0066"/>
              </a:solidFill>
            </a:endParaRPr>
          </a:p>
        </p:txBody>
      </p:sp>
      <p:sp>
        <p:nvSpPr>
          <p:cNvPr id="205827" name="Rectangle 3"/>
          <p:cNvSpPr>
            <a:spLocks noGrp="1" noChangeArrowheads="1"/>
          </p:cNvSpPr>
          <p:nvPr>
            <p:ph idx="4294967295"/>
          </p:nvPr>
        </p:nvSpPr>
        <p:spPr>
          <a:xfrm>
            <a:off x="457200" y="1927373"/>
            <a:ext cx="8229600" cy="4525963"/>
          </a:xfrm>
          <a:prstGeom prst="rect">
            <a:avLst/>
          </a:prstGeom>
        </p:spPr>
        <p:txBody>
          <a:bodyPr/>
          <a:lstStyle/>
          <a:p>
            <a:pPr eaLnBrk="1" hangingPunct="1"/>
            <a:r>
              <a:rPr lang="en-US" altLang="zh-CN" sz="3000" b="1" baseline="30000" dirty="0">
                <a:solidFill>
                  <a:schemeClr val="tx2"/>
                </a:solidFill>
              </a:rPr>
              <a:t>15</a:t>
            </a:r>
            <a:r>
              <a:rPr lang="en-US" altLang="zh-CN" sz="3000" b="1" dirty="0">
                <a:solidFill>
                  <a:schemeClr val="tx2"/>
                </a:solidFill>
              </a:rPr>
              <a:t>N</a:t>
            </a:r>
            <a:r>
              <a:rPr lang="en-US" altLang="zh-CN" sz="3000" dirty="0">
                <a:solidFill>
                  <a:schemeClr val="tx2"/>
                </a:solidFill>
              </a:rPr>
              <a:t> (the Heavy isotope) and </a:t>
            </a:r>
            <a:r>
              <a:rPr lang="en-US" altLang="zh-CN" sz="3000" b="1" baseline="30000" dirty="0">
                <a:solidFill>
                  <a:schemeClr val="tx2"/>
                </a:solidFill>
              </a:rPr>
              <a:t>14</a:t>
            </a:r>
            <a:r>
              <a:rPr lang="en-US" altLang="zh-CN" sz="3000" b="1" dirty="0">
                <a:solidFill>
                  <a:schemeClr val="tx2"/>
                </a:solidFill>
              </a:rPr>
              <a:t>N</a:t>
            </a:r>
            <a:r>
              <a:rPr lang="en-US" altLang="zh-CN" sz="3000" dirty="0">
                <a:solidFill>
                  <a:schemeClr val="tx2"/>
                </a:solidFill>
              </a:rPr>
              <a:t> (the Light isotope) was used (as NH</a:t>
            </a:r>
            <a:r>
              <a:rPr lang="en-US" altLang="zh-CN" sz="3000" baseline="-25000" dirty="0">
                <a:solidFill>
                  <a:schemeClr val="tx2"/>
                </a:solidFill>
              </a:rPr>
              <a:t>4</a:t>
            </a:r>
            <a:r>
              <a:rPr lang="en-US" altLang="zh-CN" sz="3000" dirty="0">
                <a:solidFill>
                  <a:schemeClr val="tx2"/>
                </a:solidFill>
              </a:rPr>
              <a:t>Cl) to label the DNA to distinguish the old and newly synthesized DNA molecules in cells;</a:t>
            </a:r>
          </a:p>
          <a:p>
            <a:pPr eaLnBrk="1" hangingPunct="1"/>
            <a:r>
              <a:rPr lang="en-US" altLang="zh-CN" sz="3000" dirty="0">
                <a:solidFill>
                  <a:schemeClr val="tx2"/>
                </a:solidFill>
              </a:rPr>
              <a:t>Three types of DNA molecules containing various proportions of </a:t>
            </a:r>
            <a:r>
              <a:rPr lang="en-US" altLang="zh-CN" sz="3000" b="1" baseline="30000" dirty="0">
                <a:solidFill>
                  <a:schemeClr val="tx2"/>
                </a:solidFill>
              </a:rPr>
              <a:t>15</a:t>
            </a:r>
            <a:r>
              <a:rPr lang="en-US" altLang="zh-CN" sz="3000" b="1" dirty="0">
                <a:solidFill>
                  <a:schemeClr val="tx2"/>
                </a:solidFill>
              </a:rPr>
              <a:t>N</a:t>
            </a:r>
            <a:r>
              <a:rPr lang="en-US" altLang="zh-CN" sz="3000" dirty="0">
                <a:solidFill>
                  <a:schemeClr val="tx2"/>
                </a:solidFill>
              </a:rPr>
              <a:t> and </a:t>
            </a:r>
            <a:r>
              <a:rPr lang="en-US" altLang="zh-CN" sz="3000" b="1" baseline="30000" dirty="0">
                <a:solidFill>
                  <a:schemeClr val="tx2"/>
                </a:solidFill>
              </a:rPr>
              <a:t>14</a:t>
            </a:r>
            <a:r>
              <a:rPr lang="en-US" altLang="zh-CN" sz="3000" b="1" dirty="0">
                <a:solidFill>
                  <a:schemeClr val="tx2"/>
                </a:solidFill>
              </a:rPr>
              <a:t>N</a:t>
            </a:r>
            <a:r>
              <a:rPr lang="en-US" altLang="zh-CN" sz="3000" dirty="0">
                <a:solidFill>
                  <a:schemeClr val="tx2"/>
                </a:solidFill>
              </a:rPr>
              <a:t> (H-H, H-L, L-L) were separated by centrifugation to equilibrium in a cesium chloride (</a:t>
            </a:r>
            <a:r>
              <a:rPr lang="en-US" altLang="zh-CN" sz="3000" dirty="0" err="1">
                <a:solidFill>
                  <a:schemeClr val="tx2"/>
                </a:solidFill>
              </a:rPr>
              <a:t>CsCl</a:t>
            </a:r>
            <a:r>
              <a:rPr lang="en-US" altLang="zh-CN" sz="3000" dirty="0">
                <a:solidFill>
                  <a:schemeClr val="tx2"/>
                </a:solidFill>
              </a:rPr>
              <a:t>) density gradient. </a:t>
            </a:r>
          </a:p>
        </p:txBody>
      </p:sp>
    </p:spTree>
  </p:cSld>
  <p:clrMapOvr>
    <a:masterClrMapping/>
  </p:clrMapOvr>
  <p:transition>
    <p:zoom/>
  </p:transition>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2"/>
          <p:cNvSpPr>
            <a:spLocks noChangeArrowheads="1"/>
          </p:cNvSpPr>
          <p:nvPr/>
        </p:nvSpPr>
        <p:spPr bwMode="auto">
          <a:xfrm>
            <a:off x="5105400" y="98425"/>
            <a:ext cx="3919538" cy="3503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b="1" dirty="0">
                <a:solidFill>
                  <a:srgbClr val="800000"/>
                </a:solidFill>
              </a:rPr>
              <a:t>Radioisotope labeling</a:t>
            </a:r>
          </a:p>
          <a:p>
            <a:pPr>
              <a:spcBef>
                <a:spcPct val="0"/>
              </a:spcBef>
              <a:buFontTx/>
              <a:buNone/>
            </a:pPr>
            <a:r>
              <a:rPr lang="en-US" altLang="zh-CN" b="1" dirty="0">
                <a:solidFill>
                  <a:srgbClr val="800000"/>
                </a:solidFill>
              </a:rPr>
              <a:t>and density gradient</a:t>
            </a:r>
          </a:p>
          <a:p>
            <a:pPr>
              <a:spcBef>
                <a:spcPct val="0"/>
              </a:spcBef>
              <a:buFontTx/>
              <a:buNone/>
            </a:pPr>
            <a:r>
              <a:rPr lang="en-US" altLang="zh-CN" b="1" dirty="0">
                <a:solidFill>
                  <a:srgbClr val="800000"/>
                </a:solidFill>
              </a:rPr>
              <a:t>centrifugation clearly</a:t>
            </a:r>
          </a:p>
          <a:p>
            <a:pPr>
              <a:spcBef>
                <a:spcPct val="0"/>
              </a:spcBef>
              <a:buFontTx/>
              <a:buNone/>
            </a:pPr>
            <a:r>
              <a:rPr lang="en-US" altLang="zh-CN" b="1" dirty="0">
                <a:solidFill>
                  <a:srgbClr val="800000"/>
                </a:solidFill>
              </a:rPr>
              <a:t>distinguishes </a:t>
            </a:r>
          </a:p>
          <a:p>
            <a:pPr>
              <a:spcBef>
                <a:spcPct val="0"/>
              </a:spcBef>
              <a:buFontTx/>
              <a:buNone/>
            </a:pPr>
            <a:r>
              <a:rPr lang="en-US" altLang="zh-CN" b="1" dirty="0">
                <a:solidFill>
                  <a:srgbClr val="800000"/>
                </a:solidFill>
              </a:rPr>
              <a:t>replications of</a:t>
            </a:r>
          </a:p>
          <a:p>
            <a:pPr>
              <a:spcBef>
                <a:spcPct val="0"/>
              </a:spcBef>
              <a:buFontTx/>
              <a:buNone/>
            </a:pPr>
            <a:r>
              <a:rPr lang="en-US" altLang="zh-CN" b="1" dirty="0">
                <a:solidFill>
                  <a:srgbClr val="800000"/>
                </a:solidFill>
              </a:rPr>
              <a:t>semiconservative </a:t>
            </a:r>
          </a:p>
          <a:p>
            <a:pPr>
              <a:spcBef>
                <a:spcPct val="0"/>
              </a:spcBef>
              <a:buFontTx/>
              <a:buNone/>
            </a:pPr>
            <a:r>
              <a:rPr lang="en-US" altLang="zh-CN" b="1" dirty="0">
                <a:solidFill>
                  <a:srgbClr val="800000"/>
                </a:solidFill>
              </a:rPr>
              <a:t>from conservative.</a:t>
            </a:r>
          </a:p>
        </p:txBody>
      </p:sp>
      <p:pic>
        <p:nvPicPr>
          <p:cNvPr id="206851"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52400"/>
            <a:ext cx="5084763" cy="64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07874" name="Picture 2" descr="meselso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19200" y="609600"/>
            <a:ext cx="1595438"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7875" name="Rectangle 3"/>
          <p:cNvSpPr>
            <a:spLocks noChangeArrowheads="1"/>
          </p:cNvSpPr>
          <p:nvPr/>
        </p:nvSpPr>
        <p:spPr bwMode="auto">
          <a:xfrm>
            <a:off x="5257800" y="381000"/>
            <a:ext cx="3867150" cy="369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3600" b="1">
                <a:solidFill>
                  <a:schemeClr val="accent2"/>
                </a:solidFill>
              </a:rPr>
              <a:t>The Meselson-</a:t>
            </a:r>
          </a:p>
          <a:p>
            <a:pPr eaLnBrk="1" hangingPunct="1">
              <a:spcBef>
                <a:spcPct val="0"/>
              </a:spcBef>
              <a:buFontTx/>
              <a:buNone/>
            </a:pPr>
            <a:r>
              <a:rPr lang="en-US" altLang="zh-CN" sz="3600" b="1">
                <a:solidFill>
                  <a:schemeClr val="accent2"/>
                </a:solidFill>
              </a:rPr>
              <a:t>Stahl experiment:</a:t>
            </a:r>
          </a:p>
          <a:p>
            <a:pPr eaLnBrk="1" hangingPunct="1">
              <a:spcBef>
                <a:spcPct val="0"/>
              </a:spcBef>
              <a:buFontTx/>
              <a:buNone/>
            </a:pPr>
            <a:r>
              <a:rPr lang="en-US" altLang="zh-CN" sz="3600" b="1">
                <a:solidFill>
                  <a:srgbClr val="FF0066"/>
                </a:solidFill>
              </a:rPr>
              <a:t>DNA molecules </a:t>
            </a:r>
          </a:p>
          <a:p>
            <a:pPr eaLnBrk="1" hangingPunct="1">
              <a:spcBef>
                <a:spcPct val="0"/>
              </a:spcBef>
              <a:buFontTx/>
              <a:buNone/>
            </a:pPr>
            <a:r>
              <a:rPr lang="en-US" altLang="zh-CN" sz="3600" b="1">
                <a:solidFill>
                  <a:srgbClr val="FF0066"/>
                </a:solidFill>
              </a:rPr>
              <a:t>duplicate  </a:t>
            </a:r>
          </a:p>
          <a:p>
            <a:pPr eaLnBrk="1" hangingPunct="1">
              <a:spcBef>
                <a:spcPct val="0"/>
              </a:spcBef>
              <a:buFontTx/>
              <a:buNone/>
            </a:pPr>
            <a:r>
              <a:rPr lang="en-US" altLang="zh-CN" sz="3600" b="1">
                <a:solidFill>
                  <a:srgbClr val="FF0066"/>
                </a:solidFill>
              </a:rPr>
              <a:t>semiconservatively</a:t>
            </a:r>
          </a:p>
          <a:p>
            <a:pPr eaLnBrk="1" hangingPunct="1">
              <a:spcBef>
                <a:spcPct val="0"/>
              </a:spcBef>
              <a:buFontTx/>
              <a:buNone/>
            </a:pPr>
            <a:r>
              <a:rPr lang="en-US" altLang="zh-CN" sz="3600" b="1">
                <a:solidFill>
                  <a:srgbClr val="FF0066"/>
                </a:solidFill>
              </a:rPr>
              <a:t>in </a:t>
            </a:r>
            <a:r>
              <a:rPr lang="en-US" altLang="zh-CN" sz="3600" b="1" i="1">
                <a:solidFill>
                  <a:srgbClr val="FF0066"/>
                </a:solidFill>
              </a:rPr>
              <a:t>E. coli</a:t>
            </a:r>
            <a:r>
              <a:rPr lang="en-US" altLang="zh-CN" sz="3600" b="1">
                <a:solidFill>
                  <a:srgbClr val="FF0066"/>
                </a:solidFill>
              </a:rPr>
              <a:t> cells.</a:t>
            </a:r>
          </a:p>
          <a:p>
            <a:pPr eaLnBrk="1" hangingPunct="1">
              <a:spcBef>
                <a:spcPct val="0"/>
              </a:spcBef>
              <a:buFontTx/>
              <a:buNone/>
            </a:pPr>
            <a:endParaRPr lang="en-US" altLang="zh-CN" sz="2000">
              <a:solidFill>
                <a:srgbClr val="FF0066"/>
              </a:solidFill>
            </a:endParaRPr>
          </a:p>
        </p:txBody>
      </p:sp>
      <p:sp>
        <p:nvSpPr>
          <p:cNvPr id="207876" name="Rectangle 4"/>
          <p:cNvSpPr>
            <a:spLocks noChangeArrowheads="1"/>
          </p:cNvSpPr>
          <p:nvPr/>
        </p:nvSpPr>
        <p:spPr bwMode="auto">
          <a:xfrm>
            <a:off x="1524000" y="0"/>
            <a:ext cx="1133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400" b="1" baseline="30000">
                <a:solidFill>
                  <a:srgbClr val="FF33CC"/>
                </a:solidFill>
              </a:rPr>
              <a:t>15</a:t>
            </a:r>
            <a:r>
              <a:rPr lang="en-US" altLang="zh-CN" sz="2400" b="1">
                <a:solidFill>
                  <a:srgbClr val="FF33CC"/>
                </a:solidFill>
              </a:rPr>
              <a:t>N</a:t>
            </a:r>
            <a:r>
              <a:rPr lang="en-US" altLang="zh-CN" sz="2400" b="1"/>
              <a:t>-</a:t>
            </a:r>
            <a:r>
              <a:rPr lang="en-US" altLang="zh-CN" sz="2400" b="1" baseline="30000">
                <a:solidFill>
                  <a:srgbClr val="FF33CC"/>
                </a:solidFill>
              </a:rPr>
              <a:t>15</a:t>
            </a:r>
            <a:r>
              <a:rPr lang="en-US" altLang="zh-CN" sz="2400" b="1">
                <a:solidFill>
                  <a:srgbClr val="FF33CC"/>
                </a:solidFill>
              </a:rPr>
              <a:t>N</a:t>
            </a:r>
            <a:endParaRPr lang="en-US" altLang="zh-CN" sz="2400">
              <a:solidFill>
                <a:srgbClr val="FF33CC"/>
              </a:solidFill>
            </a:endParaRPr>
          </a:p>
        </p:txBody>
      </p:sp>
      <p:sp>
        <p:nvSpPr>
          <p:cNvPr id="207877" name="Line 5"/>
          <p:cNvSpPr>
            <a:spLocks noChangeShapeType="1"/>
          </p:cNvSpPr>
          <p:nvPr/>
        </p:nvSpPr>
        <p:spPr bwMode="auto">
          <a:xfrm>
            <a:off x="2133600" y="381000"/>
            <a:ext cx="0" cy="304800"/>
          </a:xfrm>
          <a:prstGeom prst="line">
            <a:avLst/>
          </a:prstGeom>
          <a:noFill/>
          <a:ln w="9525">
            <a:solidFill>
              <a:srgbClr val="FF00FF"/>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7878" name="Rectangle 6"/>
          <p:cNvSpPr>
            <a:spLocks noChangeArrowheads="1"/>
          </p:cNvSpPr>
          <p:nvPr/>
        </p:nvSpPr>
        <p:spPr bwMode="auto">
          <a:xfrm>
            <a:off x="3124200" y="609600"/>
            <a:ext cx="19494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t>0 generation</a:t>
            </a:r>
          </a:p>
        </p:txBody>
      </p:sp>
      <p:sp>
        <p:nvSpPr>
          <p:cNvPr id="207879" name="Rectangle 7"/>
          <p:cNvSpPr>
            <a:spLocks noChangeArrowheads="1"/>
          </p:cNvSpPr>
          <p:nvPr/>
        </p:nvSpPr>
        <p:spPr bwMode="auto">
          <a:xfrm>
            <a:off x="3048000" y="1981200"/>
            <a:ext cx="19494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t>1 generation</a:t>
            </a:r>
          </a:p>
        </p:txBody>
      </p:sp>
      <p:sp>
        <p:nvSpPr>
          <p:cNvPr id="207880" name="Rectangle 8"/>
          <p:cNvSpPr>
            <a:spLocks noChangeArrowheads="1"/>
          </p:cNvSpPr>
          <p:nvPr/>
        </p:nvSpPr>
        <p:spPr bwMode="auto">
          <a:xfrm>
            <a:off x="3124200" y="3352800"/>
            <a:ext cx="20875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t>2 generations</a:t>
            </a:r>
          </a:p>
        </p:txBody>
      </p:sp>
      <p:sp>
        <p:nvSpPr>
          <p:cNvPr id="207881" name="Rectangle 9"/>
          <p:cNvSpPr>
            <a:spLocks noChangeArrowheads="1"/>
          </p:cNvSpPr>
          <p:nvPr/>
        </p:nvSpPr>
        <p:spPr bwMode="auto">
          <a:xfrm>
            <a:off x="3124200" y="4343400"/>
            <a:ext cx="20875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t>3 generations</a:t>
            </a:r>
          </a:p>
        </p:txBody>
      </p:sp>
      <p:sp>
        <p:nvSpPr>
          <p:cNvPr id="207882" name="Rectangle 10"/>
          <p:cNvSpPr>
            <a:spLocks noChangeArrowheads="1"/>
          </p:cNvSpPr>
          <p:nvPr/>
        </p:nvSpPr>
        <p:spPr bwMode="auto">
          <a:xfrm>
            <a:off x="3200400" y="4800600"/>
            <a:ext cx="208756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dirty="0"/>
              <a:t>4 generations</a:t>
            </a:r>
          </a:p>
        </p:txBody>
      </p:sp>
      <p:sp>
        <p:nvSpPr>
          <p:cNvPr id="207883" name="AutoShape 11"/>
          <p:cNvSpPr>
            <a:spLocks noChangeArrowheads="1"/>
          </p:cNvSpPr>
          <p:nvPr/>
        </p:nvSpPr>
        <p:spPr bwMode="auto">
          <a:xfrm>
            <a:off x="2819400" y="838200"/>
            <a:ext cx="304800" cy="152400"/>
          </a:xfrm>
          <a:prstGeom prst="leftArrow">
            <a:avLst>
              <a:gd name="adj1" fmla="val 50000"/>
              <a:gd name="adj2" fmla="val 50000"/>
            </a:avLst>
          </a:prstGeom>
          <a:solidFill>
            <a:schemeClr val="accent1"/>
          </a:solidFill>
          <a:ln w="9525">
            <a:solidFill>
              <a:schemeClr val="tx1"/>
            </a:solidFill>
            <a:miter lim="800000"/>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07884" name="AutoShape 12"/>
          <p:cNvSpPr>
            <a:spLocks noChangeArrowheads="1"/>
          </p:cNvSpPr>
          <p:nvPr/>
        </p:nvSpPr>
        <p:spPr bwMode="auto">
          <a:xfrm>
            <a:off x="2819400" y="2209800"/>
            <a:ext cx="304800" cy="152400"/>
          </a:xfrm>
          <a:prstGeom prst="leftArrow">
            <a:avLst>
              <a:gd name="adj1" fmla="val 50000"/>
              <a:gd name="adj2" fmla="val 50000"/>
            </a:avLst>
          </a:prstGeom>
          <a:solidFill>
            <a:schemeClr val="accent1"/>
          </a:solidFill>
          <a:ln w="9525">
            <a:solidFill>
              <a:schemeClr val="tx1"/>
            </a:solidFill>
            <a:miter lim="800000"/>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07885" name="AutoShape 13"/>
          <p:cNvSpPr>
            <a:spLocks noChangeArrowheads="1"/>
          </p:cNvSpPr>
          <p:nvPr/>
        </p:nvSpPr>
        <p:spPr bwMode="auto">
          <a:xfrm>
            <a:off x="2819400" y="3581400"/>
            <a:ext cx="304800" cy="152400"/>
          </a:xfrm>
          <a:prstGeom prst="leftArrow">
            <a:avLst>
              <a:gd name="adj1" fmla="val 50000"/>
              <a:gd name="adj2" fmla="val 50000"/>
            </a:avLst>
          </a:prstGeom>
          <a:solidFill>
            <a:schemeClr val="accent1"/>
          </a:solidFill>
          <a:ln w="9525">
            <a:solidFill>
              <a:schemeClr val="tx1"/>
            </a:solidFill>
            <a:miter lim="800000"/>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07886" name="AutoShape 14"/>
          <p:cNvSpPr>
            <a:spLocks noChangeArrowheads="1"/>
          </p:cNvSpPr>
          <p:nvPr/>
        </p:nvSpPr>
        <p:spPr bwMode="auto">
          <a:xfrm>
            <a:off x="2819400" y="4572000"/>
            <a:ext cx="304800" cy="152400"/>
          </a:xfrm>
          <a:prstGeom prst="leftArrow">
            <a:avLst>
              <a:gd name="adj1" fmla="val 50000"/>
              <a:gd name="adj2" fmla="val 50000"/>
            </a:avLst>
          </a:prstGeom>
          <a:solidFill>
            <a:schemeClr val="accent1"/>
          </a:solidFill>
          <a:ln w="9525">
            <a:solidFill>
              <a:schemeClr val="tx1"/>
            </a:solidFill>
            <a:miter lim="800000"/>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07887" name="Rectangle 15"/>
          <p:cNvSpPr>
            <a:spLocks noChangeArrowheads="1"/>
          </p:cNvSpPr>
          <p:nvPr/>
        </p:nvSpPr>
        <p:spPr bwMode="auto">
          <a:xfrm>
            <a:off x="3124200" y="5257800"/>
            <a:ext cx="22955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t>0 and 2  mixed</a:t>
            </a:r>
          </a:p>
        </p:txBody>
      </p:sp>
      <p:sp>
        <p:nvSpPr>
          <p:cNvPr id="207888" name="Rectangle 16"/>
          <p:cNvSpPr>
            <a:spLocks noChangeArrowheads="1"/>
          </p:cNvSpPr>
          <p:nvPr/>
        </p:nvSpPr>
        <p:spPr bwMode="auto">
          <a:xfrm>
            <a:off x="3124200" y="5791200"/>
            <a:ext cx="22066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dirty="0"/>
              <a:t>0 and 4 mixed</a:t>
            </a:r>
          </a:p>
        </p:txBody>
      </p:sp>
      <p:sp>
        <p:nvSpPr>
          <p:cNvPr id="207889" name="Rectangle 17"/>
          <p:cNvSpPr>
            <a:spLocks noChangeArrowheads="1"/>
          </p:cNvSpPr>
          <p:nvPr/>
        </p:nvSpPr>
        <p:spPr bwMode="auto">
          <a:xfrm>
            <a:off x="1524000" y="6461125"/>
            <a:ext cx="9667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000" baseline="30000">
                <a:solidFill>
                  <a:srgbClr val="FF0000"/>
                </a:solidFill>
              </a:rPr>
              <a:t>15</a:t>
            </a:r>
            <a:r>
              <a:rPr lang="en-US" altLang="zh-CN" sz="2000">
                <a:solidFill>
                  <a:srgbClr val="FF0000"/>
                </a:solidFill>
              </a:rPr>
              <a:t>N-</a:t>
            </a:r>
            <a:r>
              <a:rPr lang="en-US" altLang="zh-CN" sz="2000" baseline="30000">
                <a:solidFill>
                  <a:srgbClr val="FF0000"/>
                </a:solidFill>
              </a:rPr>
              <a:t>14</a:t>
            </a:r>
            <a:r>
              <a:rPr lang="en-US" altLang="zh-CN" sz="2000">
                <a:solidFill>
                  <a:srgbClr val="FF0000"/>
                </a:solidFill>
              </a:rPr>
              <a:t>N</a:t>
            </a:r>
            <a:endParaRPr lang="en-US" altLang="zh-CN" sz="2400">
              <a:solidFill>
                <a:srgbClr val="FF0000"/>
              </a:solidFill>
            </a:endParaRPr>
          </a:p>
        </p:txBody>
      </p:sp>
      <p:sp>
        <p:nvSpPr>
          <p:cNvPr id="207890" name="Line 18"/>
          <p:cNvSpPr>
            <a:spLocks noChangeShapeType="1"/>
          </p:cNvSpPr>
          <p:nvPr/>
        </p:nvSpPr>
        <p:spPr bwMode="auto">
          <a:xfrm flipV="1">
            <a:off x="1981200" y="5791200"/>
            <a:ext cx="0" cy="6858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7891" name="Rectangle 19"/>
          <p:cNvSpPr>
            <a:spLocks noChangeArrowheads="1"/>
          </p:cNvSpPr>
          <p:nvPr/>
        </p:nvSpPr>
        <p:spPr bwMode="auto">
          <a:xfrm>
            <a:off x="2590800" y="6450013"/>
            <a:ext cx="9667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000" b="1" baseline="30000">
                <a:solidFill>
                  <a:srgbClr val="FF33CC"/>
                </a:solidFill>
              </a:rPr>
              <a:t>15</a:t>
            </a:r>
            <a:r>
              <a:rPr lang="en-US" altLang="zh-CN" sz="2000" b="1">
                <a:solidFill>
                  <a:srgbClr val="FF33CC"/>
                </a:solidFill>
              </a:rPr>
              <a:t>N</a:t>
            </a:r>
            <a:r>
              <a:rPr lang="en-US" altLang="zh-CN" sz="2000" b="1"/>
              <a:t>-</a:t>
            </a:r>
            <a:r>
              <a:rPr lang="en-US" altLang="zh-CN" sz="2000" b="1" baseline="30000">
                <a:solidFill>
                  <a:srgbClr val="FF33CC"/>
                </a:solidFill>
              </a:rPr>
              <a:t>15</a:t>
            </a:r>
            <a:r>
              <a:rPr lang="en-US" altLang="zh-CN" sz="2000" b="1">
                <a:solidFill>
                  <a:srgbClr val="FF33CC"/>
                </a:solidFill>
              </a:rPr>
              <a:t>N</a:t>
            </a:r>
            <a:endParaRPr lang="en-US" altLang="zh-CN" sz="2400" b="1">
              <a:solidFill>
                <a:srgbClr val="FF33CC"/>
              </a:solidFill>
            </a:endParaRPr>
          </a:p>
        </p:txBody>
      </p:sp>
      <p:sp>
        <p:nvSpPr>
          <p:cNvPr id="207892" name="Line 20"/>
          <p:cNvSpPr>
            <a:spLocks noChangeShapeType="1"/>
          </p:cNvSpPr>
          <p:nvPr/>
        </p:nvSpPr>
        <p:spPr bwMode="auto">
          <a:xfrm flipH="1" flipV="1">
            <a:off x="2133600" y="6096000"/>
            <a:ext cx="533400" cy="381000"/>
          </a:xfrm>
          <a:prstGeom prst="line">
            <a:avLst/>
          </a:prstGeom>
          <a:noFill/>
          <a:ln w="9525">
            <a:solidFill>
              <a:srgbClr val="FF00FF"/>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7893" name="Rectangle 21"/>
          <p:cNvSpPr>
            <a:spLocks noChangeArrowheads="1"/>
          </p:cNvSpPr>
          <p:nvPr/>
        </p:nvSpPr>
        <p:spPr bwMode="auto">
          <a:xfrm>
            <a:off x="228600" y="6461125"/>
            <a:ext cx="9667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000" baseline="30000">
                <a:solidFill>
                  <a:schemeClr val="accent2"/>
                </a:solidFill>
              </a:rPr>
              <a:t>14</a:t>
            </a:r>
            <a:r>
              <a:rPr lang="en-US" altLang="zh-CN" sz="2000">
                <a:solidFill>
                  <a:schemeClr val="accent2"/>
                </a:solidFill>
              </a:rPr>
              <a:t>N-</a:t>
            </a:r>
            <a:r>
              <a:rPr lang="en-US" altLang="zh-CN" sz="2000" baseline="30000">
                <a:solidFill>
                  <a:schemeClr val="accent2"/>
                </a:solidFill>
              </a:rPr>
              <a:t>14</a:t>
            </a:r>
            <a:r>
              <a:rPr lang="en-US" altLang="zh-CN" sz="2000">
                <a:solidFill>
                  <a:schemeClr val="accent2"/>
                </a:solidFill>
              </a:rPr>
              <a:t>N</a:t>
            </a:r>
            <a:endParaRPr lang="en-US" altLang="zh-CN" sz="2400">
              <a:solidFill>
                <a:schemeClr val="accent2"/>
              </a:solidFill>
            </a:endParaRPr>
          </a:p>
        </p:txBody>
      </p:sp>
      <p:sp>
        <p:nvSpPr>
          <p:cNvPr id="207894" name="Line 22"/>
          <p:cNvSpPr>
            <a:spLocks noChangeShapeType="1"/>
          </p:cNvSpPr>
          <p:nvPr/>
        </p:nvSpPr>
        <p:spPr bwMode="auto">
          <a:xfrm flipV="1">
            <a:off x="1219200" y="6172200"/>
            <a:ext cx="609600" cy="38100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7895" name="AutoShape 23"/>
          <p:cNvSpPr>
            <a:spLocks noChangeArrowheads="1"/>
          </p:cNvSpPr>
          <p:nvPr/>
        </p:nvSpPr>
        <p:spPr bwMode="auto">
          <a:xfrm>
            <a:off x="2819400" y="5029200"/>
            <a:ext cx="304800" cy="152400"/>
          </a:xfrm>
          <a:prstGeom prst="leftArrow">
            <a:avLst>
              <a:gd name="adj1" fmla="val 50000"/>
              <a:gd name="adj2" fmla="val 50000"/>
            </a:avLst>
          </a:prstGeom>
          <a:solidFill>
            <a:schemeClr val="accent1"/>
          </a:solidFill>
          <a:ln w="9525">
            <a:solidFill>
              <a:schemeClr val="tx1"/>
            </a:solidFill>
            <a:miter lim="800000"/>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07896" name="AutoShape 24"/>
          <p:cNvSpPr>
            <a:spLocks noChangeArrowheads="1"/>
          </p:cNvSpPr>
          <p:nvPr/>
        </p:nvSpPr>
        <p:spPr bwMode="auto">
          <a:xfrm>
            <a:off x="2819400" y="5486400"/>
            <a:ext cx="304800" cy="152400"/>
          </a:xfrm>
          <a:prstGeom prst="leftArrow">
            <a:avLst>
              <a:gd name="adj1" fmla="val 50000"/>
              <a:gd name="adj2" fmla="val 50000"/>
            </a:avLst>
          </a:prstGeom>
          <a:solidFill>
            <a:schemeClr val="accent1"/>
          </a:solidFill>
          <a:ln w="9525">
            <a:solidFill>
              <a:schemeClr val="tx1"/>
            </a:solidFill>
            <a:miter lim="800000"/>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07897" name="AutoShape 25"/>
          <p:cNvSpPr>
            <a:spLocks noChangeArrowheads="1"/>
          </p:cNvSpPr>
          <p:nvPr/>
        </p:nvSpPr>
        <p:spPr bwMode="auto">
          <a:xfrm>
            <a:off x="2819400" y="6019800"/>
            <a:ext cx="304800" cy="152400"/>
          </a:xfrm>
          <a:prstGeom prst="leftArrow">
            <a:avLst>
              <a:gd name="adj1" fmla="val 50000"/>
              <a:gd name="adj2" fmla="val 50000"/>
            </a:avLst>
          </a:prstGeom>
          <a:solidFill>
            <a:schemeClr val="accent1"/>
          </a:solidFill>
          <a:ln w="9525">
            <a:solidFill>
              <a:schemeClr val="tx1"/>
            </a:solidFill>
            <a:miter lim="800000"/>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07898" name="Rectangle 26"/>
          <p:cNvSpPr>
            <a:spLocks noChangeArrowheads="1"/>
          </p:cNvSpPr>
          <p:nvPr/>
        </p:nvSpPr>
        <p:spPr bwMode="auto">
          <a:xfrm>
            <a:off x="2590800" y="304800"/>
            <a:ext cx="9445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000">
                <a:solidFill>
                  <a:srgbClr val="FF0066"/>
                </a:solidFill>
              </a:rPr>
              <a:t>Bottom</a:t>
            </a:r>
            <a:endParaRPr lang="en-US" altLang="zh-CN" sz="2000"/>
          </a:p>
        </p:txBody>
      </p:sp>
      <p:sp>
        <p:nvSpPr>
          <p:cNvPr id="207899" name="Rectangle 27"/>
          <p:cNvSpPr>
            <a:spLocks noChangeArrowheads="1"/>
          </p:cNvSpPr>
          <p:nvPr/>
        </p:nvSpPr>
        <p:spPr bwMode="auto">
          <a:xfrm>
            <a:off x="762000" y="304800"/>
            <a:ext cx="5937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000">
                <a:solidFill>
                  <a:srgbClr val="FF0066"/>
                </a:solidFill>
              </a:rPr>
              <a:t>Top</a:t>
            </a:r>
            <a:endParaRPr lang="en-US" altLang="zh-CN" sz="2000"/>
          </a:p>
        </p:txBody>
      </p:sp>
    </p:spTree>
  </p:cSld>
  <p:clrMapOvr>
    <a:masterClrMapping/>
  </p:clrMapOvr>
  <p:transition>
    <p:zoom/>
  </p:transition>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2"/>
          <p:cNvSpPr>
            <a:spLocks noGrp="1" noChangeArrowheads="1"/>
          </p:cNvSpPr>
          <p:nvPr>
            <p:ph type="title" idx="4294967295"/>
          </p:nvPr>
        </p:nvSpPr>
        <p:spPr>
          <a:xfrm>
            <a:off x="457200" y="274638"/>
            <a:ext cx="8229600" cy="1143000"/>
          </a:xfrm>
          <a:prstGeom prst="rect">
            <a:avLst/>
          </a:prstGeom>
        </p:spPr>
        <p:txBody>
          <a:bodyPr/>
          <a:lstStyle/>
          <a:p>
            <a:pPr eaLnBrk="1" hangingPunct="1"/>
            <a:r>
              <a:rPr lang="en-US" altLang="zh-CN" sz="4000" b="1" dirty="0">
                <a:solidFill>
                  <a:srgbClr val="FF0066"/>
                </a:solidFill>
              </a:rPr>
              <a:t>3. A variety of simple questions were asked about DNA replication</a:t>
            </a:r>
          </a:p>
        </p:txBody>
      </p:sp>
      <p:sp>
        <p:nvSpPr>
          <p:cNvPr id="208899" name="Rectangle 3"/>
          <p:cNvSpPr>
            <a:spLocks noGrp="1" noChangeArrowheads="1"/>
          </p:cNvSpPr>
          <p:nvPr>
            <p:ph idx="4294967295"/>
          </p:nvPr>
        </p:nvSpPr>
        <p:spPr>
          <a:xfrm>
            <a:off x="457200" y="1600200"/>
            <a:ext cx="8229600" cy="4525963"/>
          </a:xfrm>
          <a:prstGeom prst="rect">
            <a:avLst/>
          </a:prstGeom>
        </p:spPr>
        <p:txBody>
          <a:bodyPr/>
          <a:lstStyle/>
          <a:p>
            <a:pPr eaLnBrk="1" hangingPunct="1">
              <a:lnSpc>
                <a:spcPct val="80000"/>
              </a:lnSpc>
            </a:pPr>
            <a:r>
              <a:rPr lang="en-US" altLang="zh-CN" sz="3100" dirty="0"/>
              <a:t>Are the two parental strands </a:t>
            </a:r>
            <a:r>
              <a:rPr lang="en-US" altLang="zh-CN" sz="3100" dirty="0">
                <a:solidFill>
                  <a:schemeClr val="tx2"/>
                </a:solidFill>
              </a:rPr>
              <a:t>completely unwound before replication begins? </a:t>
            </a:r>
          </a:p>
          <a:p>
            <a:pPr eaLnBrk="1" hangingPunct="1">
              <a:lnSpc>
                <a:spcPct val="80000"/>
              </a:lnSpc>
            </a:pPr>
            <a:r>
              <a:rPr lang="en-US" altLang="zh-CN" sz="3100" dirty="0">
                <a:solidFill>
                  <a:schemeClr val="tx2"/>
                </a:solidFill>
              </a:rPr>
              <a:t>Does replication begin at random sites or at unique sites? </a:t>
            </a:r>
          </a:p>
          <a:p>
            <a:pPr eaLnBrk="1" hangingPunct="1">
              <a:lnSpc>
                <a:spcPct val="80000"/>
              </a:lnSpc>
            </a:pPr>
            <a:r>
              <a:rPr lang="en-US" altLang="zh-CN" sz="3100" dirty="0">
                <a:solidFill>
                  <a:schemeClr val="tx2"/>
                </a:solidFill>
              </a:rPr>
              <a:t>Does DNA replication proceed in one direction or both</a:t>
            </a:r>
            <a:r>
              <a:rPr lang="en-US" altLang="zh-CN" sz="3100" dirty="0"/>
              <a:t> directions? </a:t>
            </a:r>
          </a:p>
          <a:p>
            <a:pPr eaLnBrk="1" hangingPunct="1">
              <a:lnSpc>
                <a:spcPct val="80000"/>
              </a:lnSpc>
            </a:pPr>
            <a:r>
              <a:rPr lang="en-US" altLang="zh-CN" sz="3100" dirty="0"/>
              <a:t>The overall chain growth occurs in 5` 3`, 3`  5`, or both directions?</a:t>
            </a:r>
          </a:p>
          <a:p>
            <a:pPr eaLnBrk="1" hangingPunct="1">
              <a:lnSpc>
                <a:spcPct val="80000"/>
              </a:lnSpc>
            </a:pPr>
            <a:r>
              <a:rPr lang="en-US" altLang="zh-CN" sz="3100" dirty="0"/>
              <a:t>What enzymes take part in DNA synthesis?</a:t>
            </a:r>
          </a:p>
          <a:p>
            <a:pPr eaLnBrk="1" hangingPunct="1">
              <a:lnSpc>
                <a:spcPct val="80000"/>
              </a:lnSpc>
            </a:pPr>
            <a:endParaRPr lang="en-US" altLang="zh-CN" sz="3100" dirty="0"/>
          </a:p>
        </p:txBody>
      </p:sp>
      <p:sp>
        <p:nvSpPr>
          <p:cNvPr id="208900" name="Line 4"/>
          <p:cNvSpPr>
            <a:spLocks noChangeShapeType="1"/>
          </p:cNvSpPr>
          <p:nvPr/>
        </p:nvSpPr>
        <p:spPr bwMode="auto">
          <a:xfrm>
            <a:off x="6588224" y="4365104"/>
            <a:ext cx="2286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8901" name="Line 5"/>
          <p:cNvSpPr>
            <a:spLocks noChangeShapeType="1"/>
          </p:cNvSpPr>
          <p:nvPr/>
        </p:nvSpPr>
        <p:spPr bwMode="auto">
          <a:xfrm>
            <a:off x="7524328" y="4379457"/>
            <a:ext cx="228600"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cSld>
  <p:clrMapOvr>
    <a:masterClrMapping/>
  </p:clrMapOvr>
  <p:transition>
    <p:zoom/>
  </p:transition>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2"/>
          <p:cNvSpPr>
            <a:spLocks noGrp="1" noChangeArrowheads="1"/>
          </p:cNvSpPr>
          <p:nvPr>
            <p:ph type="title" idx="4294967295"/>
          </p:nvPr>
        </p:nvSpPr>
        <p:spPr>
          <a:xfrm>
            <a:off x="457200" y="274638"/>
            <a:ext cx="8229600" cy="1143000"/>
          </a:xfrm>
          <a:prstGeom prst="rect">
            <a:avLst/>
          </a:prstGeom>
        </p:spPr>
        <p:txBody>
          <a:bodyPr/>
          <a:lstStyle/>
          <a:p>
            <a:pPr eaLnBrk="1" hangingPunct="1"/>
            <a:r>
              <a:rPr lang="en-US" altLang="zh-CN" sz="4000" b="1" dirty="0">
                <a:solidFill>
                  <a:srgbClr val="FF0066"/>
                </a:solidFill>
              </a:rPr>
              <a:t>4. Autoradiography studies: daughter strands are synthesized immediately after parental strands separate</a:t>
            </a:r>
            <a:r>
              <a:rPr lang="en-US" altLang="zh-CN" dirty="0"/>
              <a:t> </a:t>
            </a:r>
          </a:p>
        </p:txBody>
      </p:sp>
      <p:pic>
        <p:nvPicPr>
          <p:cNvPr id="209923" name="Picture 4" descr="24-3a"/>
          <p:cNvPicPr>
            <a:picLocks noChangeAspect="1" noChangeArrowheads="1"/>
          </p:cNvPicPr>
          <p:nvPr/>
        </p:nvPicPr>
        <p:blipFill>
          <a:blip r:embed="rId3" cstate="print">
            <a:extLst>
              <a:ext uri="{28A0092B-C50C-407E-A947-70E740481C1C}">
                <a14:useLocalDpi xmlns:a14="http://schemas.microsoft.com/office/drawing/2010/main" val="0"/>
              </a:ext>
            </a:extLst>
          </a:blip>
          <a:srcRect l="40157" t="27303" r="1563" b="27785"/>
          <a:stretch>
            <a:fillRect/>
          </a:stretch>
        </p:blipFill>
        <p:spPr bwMode="auto">
          <a:xfrm>
            <a:off x="0" y="2060575"/>
            <a:ext cx="5329238" cy="309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9924" name="Picture 5" descr="24-3a"/>
          <p:cNvPicPr>
            <a:picLocks noChangeAspect="1" noChangeArrowheads="1"/>
          </p:cNvPicPr>
          <p:nvPr/>
        </p:nvPicPr>
        <p:blipFill>
          <a:blip r:embed="rId4" cstate="print">
            <a:lum bright="-12000" contrast="30000"/>
            <a:extLst>
              <a:ext uri="{28A0092B-C50C-407E-A947-70E740481C1C}">
                <a14:useLocalDpi xmlns:a14="http://schemas.microsoft.com/office/drawing/2010/main" val="0"/>
              </a:ext>
            </a:extLst>
          </a:blip>
          <a:srcRect b="62604"/>
          <a:stretch>
            <a:fillRect/>
          </a:stretch>
        </p:blipFill>
        <p:spPr bwMode="auto">
          <a:xfrm>
            <a:off x="3708400" y="3933825"/>
            <a:ext cx="5256213" cy="269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3"/>
          <p:cNvSpPr>
            <a:spLocks noChangeArrowheads="1"/>
          </p:cNvSpPr>
          <p:nvPr/>
        </p:nvSpPr>
        <p:spPr bwMode="auto">
          <a:xfrm>
            <a:off x="827088" y="620713"/>
            <a:ext cx="7991475"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b="1" dirty="0"/>
              <a:t>A electron micrograph of the replication</a:t>
            </a:r>
          </a:p>
          <a:p>
            <a:pPr eaLnBrk="1" hangingPunct="1">
              <a:spcBef>
                <a:spcPct val="0"/>
              </a:spcBef>
              <a:buFontTx/>
              <a:buNone/>
            </a:pPr>
            <a:r>
              <a:rPr lang="en-US" altLang="zh-CN" b="1" dirty="0"/>
              <a:t>intermediate of a plasmid DNA: </a:t>
            </a:r>
            <a:r>
              <a:rPr lang="en-US" altLang="zh-CN" b="1" i="1" dirty="0">
                <a:solidFill>
                  <a:srgbClr val="FF0000"/>
                </a:solidFill>
                <a:sym typeface="Symbol" panose="05050102010706020507" pitchFamily="18" charset="2"/>
              </a:rPr>
              <a:t></a:t>
            </a:r>
            <a:r>
              <a:rPr lang="en-US" altLang="zh-CN" b="1" dirty="0">
                <a:solidFill>
                  <a:srgbClr val="FF0000"/>
                </a:solidFill>
              </a:rPr>
              <a:t>-shaped </a:t>
            </a:r>
          </a:p>
          <a:p>
            <a:pPr eaLnBrk="1" hangingPunct="1">
              <a:spcBef>
                <a:spcPct val="0"/>
              </a:spcBef>
              <a:buFontTx/>
              <a:buNone/>
            </a:pPr>
            <a:r>
              <a:rPr lang="en-US" altLang="zh-CN" b="1" dirty="0">
                <a:solidFill>
                  <a:srgbClr val="FF0000"/>
                </a:solidFill>
              </a:rPr>
              <a:t>structures</a:t>
            </a:r>
            <a:r>
              <a:rPr lang="en-US" altLang="zh-CN" b="1" dirty="0"/>
              <a:t> were observed; no single stranded</a:t>
            </a:r>
          </a:p>
          <a:p>
            <a:pPr eaLnBrk="1" hangingPunct="1">
              <a:spcBef>
                <a:spcPct val="0"/>
              </a:spcBef>
              <a:buFontTx/>
              <a:buNone/>
            </a:pPr>
            <a:r>
              <a:rPr lang="en-US" altLang="zh-CN" b="1" dirty="0"/>
              <a:t>DNA is visible.</a:t>
            </a:r>
            <a:endParaRPr lang="en-US" altLang="zh-CN" dirty="0"/>
          </a:p>
        </p:txBody>
      </p:sp>
      <p:sp>
        <p:nvSpPr>
          <p:cNvPr id="210947" name="Rectangle 4"/>
          <p:cNvSpPr>
            <a:spLocks noChangeArrowheads="1"/>
          </p:cNvSpPr>
          <p:nvPr/>
        </p:nvSpPr>
        <p:spPr bwMode="auto">
          <a:xfrm>
            <a:off x="755650" y="3213100"/>
            <a:ext cx="784860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b="1" dirty="0"/>
              <a:t>No complete unwinding of the two parental strands occurred before the daughter strands are synthesized</a:t>
            </a:r>
          </a:p>
        </p:txBody>
      </p:sp>
    </p:spTree>
  </p:cSld>
  <p:clrMapOvr>
    <a:masterClrMapping/>
  </p:clrMapOvr>
  <p:transition>
    <p:zoom/>
  </p:transition>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197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11400" y="711200"/>
            <a:ext cx="4521200" cy="543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2994" name="Picture 1026" descr="E1-2a"/>
          <p:cNvPicPr>
            <a:picLocks noChangeAspect="1" noChangeArrowheads="1"/>
          </p:cNvPicPr>
          <p:nvPr/>
        </p:nvPicPr>
        <p:blipFill>
          <a:blip r:embed="rId3" cstate="print">
            <a:lum bright="-18000" contrast="20000"/>
            <a:extLst>
              <a:ext uri="{28A0092B-C50C-407E-A947-70E740481C1C}">
                <a14:useLocalDpi xmlns:a14="http://schemas.microsoft.com/office/drawing/2010/main" val="0"/>
              </a:ext>
            </a:extLst>
          </a:blip>
          <a:srcRect/>
          <a:stretch>
            <a:fillRect/>
          </a:stretch>
        </p:blipFill>
        <p:spPr bwMode="auto">
          <a:xfrm>
            <a:off x="285750" y="2143125"/>
            <a:ext cx="8534400" cy="315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2995" name="Text Box 1027"/>
          <p:cNvSpPr txBox="1">
            <a:spLocks noChangeArrowheads="1"/>
          </p:cNvSpPr>
          <p:nvPr/>
        </p:nvSpPr>
        <p:spPr bwMode="auto">
          <a:xfrm>
            <a:off x="503238" y="260350"/>
            <a:ext cx="8274050" cy="519113"/>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dirty="0">
                <a:latin typeface="Impact" panose="020B0806030902050204" pitchFamily="34" charset="0"/>
              </a:rPr>
              <a:t>Bidirectional replication of a circular bacterial replicon</a:t>
            </a:r>
          </a:p>
        </p:txBody>
      </p:sp>
      <p:sp>
        <p:nvSpPr>
          <p:cNvPr id="212996" name="Text Box 1029"/>
          <p:cNvSpPr txBox="1">
            <a:spLocks noChangeArrowheads="1"/>
          </p:cNvSpPr>
          <p:nvPr/>
        </p:nvSpPr>
        <p:spPr bwMode="auto">
          <a:xfrm>
            <a:off x="857250" y="2143125"/>
            <a:ext cx="9017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000"/>
              <a:t>Origin</a:t>
            </a:r>
          </a:p>
        </p:txBody>
      </p:sp>
      <p:sp>
        <p:nvSpPr>
          <p:cNvPr id="212997" name="Text Box 1030"/>
          <p:cNvSpPr txBox="1">
            <a:spLocks noChangeArrowheads="1"/>
          </p:cNvSpPr>
          <p:nvPr/>
        </p:nvSpPr>
        <p:spPr bwMode="auto">
          <a:xfrm>
            <a:off x="571500" y="4929188"/>
            <a:ext cx="12414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000"/>
              <a:t>Terminus</a:t>
            </a: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2"/>
          <p:cNvSpPr>
            <a:spLocks noGrp="1" noChangeArrowheads="1"/>
          </p:cNvSpPr>
          <p:nvPr>
            <p:ph type="title" idx="4294967295"/>
          </p:nvPr>
        </p:nvSpPr>
        <p:spPr>
          <a:xfrm>
            <a:off x="457200" y="274638"/>
            <a:ext cx="8229600" cy="1143000"/>
          </a:xfrm>
          <a:prstGeom prst="rect">
            <a:avLst/>
          </a:prstGeom>
        </p:spPr>
        <p:txBody>
          <a:bodyPr/>
          <a:lstStyle/>
          <a:p>
            <a:pPr eaLnBrk="1" hangingPunct="1"/>
            <a:r>
              <a:rPr lang="en-US" altLang="zh-CN" sz="4000" b="1">
                <a:solidFill>
                  <a:srgbClr val="FF0066"/>
                </a:solidFill>
              </a:rPr>
              <a:t>5. DNA replication was found to begin at specific sites and proceed bidirectionally</a:t>
            </a:r>
          </a:p>
        </p:txBody>
      </p:sp>
      <p:sp>
        <p:nvSpPr>
          <p:cNvPr id="214019" name="Rectangle 3"/>
          <p:cNvSpPr>
            <a:spLocks noChangeArrowheads="1"/>
          </p:cNvSpPr>
          <p:nvPr/>
        </p:nvSpPr>
        <p:spPr bwMode="auto">
          <a:xfrm>
            <a:off x="228600" y="2057400"/>
            <a:ext cx="8610600" cy="25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400"/>
              <a:t>   </a:t>
            </a:r>
          </a:p>
          <a:p>
            <a:pPr eaLnBrk="1" hangingPunct="1">
              <a:spcBef>
                <a:spcPct val="0"/>
              </a:spcBef>
              <a:buFontTx/>
              <a:buNone/>
            </a:pPr>
            <a:r>
              <a:rPr lang="en-US" altLang="zh-CN" sz="2800" b="1">
                <a:solidFill>
                  <a:srgbClr val="FF33CC"/>
                </a:solidFill>
              </a:rPr>
              <a:t>1.</a:t>
            </a:r>
            <a:r>
              <a:rPr lang="en-US" altLang="zh-CN" sz="2800"/>
              <a:t> Replication always began at a specific  internal site (</a:t>
            </a:r>
            <a:r>
              <a:rPr lang="en-US" altLang="zh-CN" sz="2800" b="1">
                <a:solidFill>
                  <a:schemeClr val="accent2"/>
                </a:solidFill>
              </a:rPr>
              <a:t>not from the ends</a:t>
            </a:r>
            <a:r>
              <a:rPr lang="en-US" altLang="zh-CN" sz="2800" b="1"/>
              <a:t>,  </a:t>
            </a:r>
            <a:r>
              <a:rPr lang="en-US" altLang="zh-CN" sz="2800" b="1">
                <a:solidFill>
                  <a:schemeClr val="accent2"/>
                </a:solidFill>
              </a:rPr>
              <a:t>not random</a:t>
            </a:r>
            <a:r>
              <a:rPr lang="en-US" altLang="zh-CN" sz="2800"/>
              <a:t>);</a:t>
            </a:r>
          </a:p>
          <a:p>
            <a:pPr eaLnBrk="1" hangingPunct="1">
              <a:spcBef>
                <a:spcPct val="0"/>
              </a:spcBef>
              <a:buFontTx/>
              <a:buNone/>
            </a:pPr>
            <a:r>
              <a:rPr lang="en-US" altLang="zh-CN" sz="2800" b="1">
                <a:solidFill>
                  <a:srgbClr val="FF33CC"/>
                </a:solidFill>
              </a:rPr>
              <a:t>2.</a:t>
            </a:r>
            <a:r>
              <a:rPr lang="en-US" altLang="zh-CN" sz="2800"/>
              <a:t> The replication proceeds </a:t>
            </a:r>
            <a:r>
              <a:rPr lang="en-US" altLang="zh-CN" sz="2800" b="1">
                <a:solidFill>
                  <a:schemeClr val="accent2"/>
                </a:solidFill>
              </a:rPr>
              <a:t>in both directions</a:t>
            </a:r>
            <a:r>
              <a:rPr lang="en-US" altLang="zh-CN" sz="2800"/>
              <a:t> (determined by measuring the distance between the replication fork and the ends)</a:t>
            </a: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p:cNvSpPr>
            <a:spLocks noGrp="1" noChangeArrowheads="1"/>
          </p:cNvSpPr>
          <p:nvPr>
            <p:ph type="title" idx="4294967295"/>
          </p:nvPr>
        </p:nvSpPr>
        <p:spPr>
          <a:xfrm>
            <a:off x="457200" y="274638"/>
            <a:ext cx="8229600" cy="1143000"/>
          </a:xfrm>
          <a:prstGeom prst="rect">
            <a:avLst/>
          </a:prstGeom>
        </p:spPr>
        <p:txBody>
          <a:bodyPr/>
          <a:lstStyle/>
          <a:p>
            <a:pPr eaLnBrk="1" hangingPunct="1"/>
            <a:r>
              <a:rPr lang="en-US" altLang="zh-CN" sz="3600" b="1" dirty="0">
                <a:solidFill>
                  <a:srgbClr val="FF0066"/>
                </a:solidFill>
              </a:rPr>
              <a:t>6. The chemistry of DNA polymerization was revealed by </a:t>
            </a:r>
            <a:r>
              <a:rPr lang="en-US" altLang="zh-CN" sz="3600" b="1" i="1" dirty="0">
                <a:solidFill>
                  <a:srgbClr val="FF0066"/>
                </a:solidFill>
              </a:rPr>
              <a:t>in vitro</a:t>
            </a:r>
            <a:r>
              <a:rPr lang="en-US" altLang="zh-CN" sz="3600" b="1" dirty="0">
                <a:solidFill>
                  <a:srgbClr val="FF0066"/>
                </a:solidFill>
              </a:rPr>
              <a:t> studies using a DNA polymerase purified from </a:t>
            </a:r>
            <a:r>
              <a:rPr lang="en-US" altLang="zh-CN" sz="3600" b="1" i="1" dirty="0">
                <a:solidFill>
                  <a:srgbClr val="FF0066"/>
                </a:solidFill>
              </a:rPr>
              <a:t>E. coli</a:t>
            </a:r>
            <a:endParaRPr lang="en-US" altLang="zh-CN" sz="3600" b="1" dirty="0">
              <a:solidFill>
                <a:srgbClr val="FF0066"/>
              </a:solidFill>
            </a:endParaRPr>
          </a:p>
        </p:txBody>
      </p:sp>
      <p:sp>
        <p:nvSpPr>
          <p:cNvPr id="215043" name="Rectangle 3"/>
          <p:cNvSpPr>
            <a:spLocks noGrp="1" noChangeArrowheads="1"/>
          </p:cNvSpPr>
          <p:nvPr>
            <p:ph idx="4294967295"/>
          </p:nvPr>
        </p:nvSpPr>
        <p:spPr>
          <a:xfrm>
            <a:off x="457200" y="1600200"/>
            <a:ext cx="8229600" cy="4525963"/>
          </a:xfrm>
          <a:prstGeom prst="rect">
            <a:avLst/>
          </a:prstGeom>
        </p:spPr>
        <p:txBody>
          <a:bodyPr/>
          <a:lstStyle/>
          <a:p>
            <a:pPr eaLnBrk="1" hangingPunct="1">
              <a:buFontTx/>
              <a:buNone/>
            </a:pPr>
            <a:endParaRPr lang="en-US" altLang="zh-CN" dirty="0"/>
          </a:p>
          <a:p>
            <a:pPr eaLnBrk="1" hangingPunct="1"/>
            <a:r>
              <a:rPr lang="en-US" altLang="zh-CN" dirty="0">
                <a:solidFill>
                  <a:srgbClr val="FF0000"/>
                </a:solidFill>
              </a:rPr>
              <a:t>DNA polymerase I</a:t>
            </a:r>
            <a:r>
              <a:rPr lang="en-US" altLang="zh-CN" dirty="0"/>
              <a:t> was found to catalyze DNA polymerization </a:t>
            </a:r>
            <a:r>
              <a:rPr lang="en-US" altLang="zh-CN" i="1" dirty="0"/>
              <a:t>in vitro </a:t>
            </a:r>
            <a:r>
              <a:rPr lang="en-US" altLang="zh-CN" dirty="0"/>
              <a:t>in the presence of a single-stranded DNA template, a preexisting </a:t>
            </a:r>
            <a:r>
              <a:rPr lang="en-US" altLang="zh-CN" dirty="0">
                <a:solidFill>
                  <a:srgbClr val="FF0000"/>
                </a:solidFill>
              </a:rPr>
              <a:t>primer</a:t>
            </a:r>
            <a:r>
              <a:rPr lang="en-US" altLang="zh-CN" dirty="0"/>
              <a:t> with a free </a:t>
            </a:r>
            <a:r>
              <a:rPr lang="en-US" altLang="zh-CN" dirty="0">
                <a:solidFill>
                  <a:srgbClr val="FF0000"/>
                </a:solidFill>
              </a:rPr>
              <a:t>3`-OH group </a:t>
            </a:r>
            <a:r>
              <a:rPr lang="en-US" altLang="zh-CN" dirty="0"/>
              <a:t>and the </a:t>
            </a:r>
            <a:r>
              <a:rPr lang="en-US" altLang="zh-CN" dirty="0">
                <a:solidFill>
                  <a:srgbClr val="FF0000"/>
                </a:solidFill>
              </a:rPr>
              <a:t>dNTP</a:t>
            </a:r>
            <a:r>
              <a:rPr lang="en-US" altLang="zh-CN" dirty="0"/>
              <a:t>s.</a:t>
            </a: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606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 y="1031875"/>
            <a:ext cx="8915400" cy="457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4788024" y="1700808"/>
            <a:ext cx="1944216" cy="369332"/>
          </a:xfrm>
          <a:prstGeom prst="rect">
            <a:avLst/>
          </a:prstGeom>
          <a:noFill/>
        </p:spPr>
        <p:txBody>
          <a:bodyPr wrap="square" rtlCol="0">
            <a:spAutoFit/>
          </a:bodyPr>
          <a:lstStyle/>
          <a:p>
            <a:r>
              <a:rPr lang="en-US" altLang="zh-CN" dirty="0"/>
              <a:t>pyrophosphate</a:t>
            </a:r>
            <a:endParaRPr lang="zh-CN" altLang="en-US" dirty="0"/>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7090" name="Picture 2" descr="replication2"/>
          <p:cNvPicPr>
            <a:picLocks noChangeAspect="1" noChangeArrowheads="1"/>
          </p:cNvPicPr>
          <p:nvPr/>
        </p:nvPicPr>
        <p:blipFill>
          <a:blip r:embed="rId2" cstate="print">
            <a:lum contrast="30000"/>
            <a:extLst>
              <a:ext uri="{28A0092B-C50C-407E-A947-70E740481C1C}">
                <a14:useLocalDpi xmlns:a14="http://schemas.microsoft.com/office/drawing/2010/main" val="0"/>
              </a:ext>
            </a:extLst>
          </a:blip>
          <a:srcRect l="1869" r="3738"/>
          <a:stretch>
            <a:fillRect/>
          </a:stretch>
        </p:blipFill>
        <p:spPr bwMode="auto">
          <a:xfrm>
            <a:off x="304800" y="533400"/>
            <a:ext cx="8305800" cy="5022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2"/>
          <p:cNvSpPr>
            <a:spLocks noGrp="1" noChangeArrowheads="1"/>
          </p:cNvSpPr>
          <p:nvPr>
            <p:ph type="title" idx="4294967295"/>
          </p:nvPr>
        </p:nvSpPr>
        <p:spPr>
          <a:xfrm>
            <a:off x="462272" y="295470"/>
            <a:ext cx="8229600" cy="1143000"/>
          </a:xfrm>
          <a:prstGeom prst="rect">
            <a:avLst/>
          </a:prstGeom>
        </p:spPr>
        <p:txBody>
          <a:bodyPr/>
          <a:lstStyle/>
          <a:p>
            <a:pPr eaLnBrk="1" hangingPunct="1"/>
            <a:r>
              <a:rPr lang="en-US" altLang="zh-CN" sz="3600" b="1" dirty="0">
                <a:solidFill>
                  <a:srgbClr val="FF0066"/>
                </a:solidFill>
              </a:rPr>
              <a:t>7. DNA polymerase I has 3`     5`, as well as 5`     3` exonuclease activities</a:t>
            </a:r>
          </a:p>
        </p:txBody>
      </p:sp>
      <p:sp>
        <p:nvSpPr>
          <p:cNvPr id="218115" name="Rectangle 3"/>
          <p:cNvSpPr>
            <a:spLocks noGrp="1" noChangeArrowheads="1"/>
          </p:cNvSpPr>
          <p:nvPr>
            <p:ph idx="4294967295"/>
          </p:nvPr>
        </p:nvSpPr>
        <p:spPr>
          <a:xfrm>
            <a:off x="457200" y="1600200"/>
            <a:ext cx="8229600" cy="4525963"/>
          </a:xfrm>
          <a:prstGeom prst="rect">
            <a:avLst/>
          </a:prstGeom>
        </p:spPr>
        <p:txBody>
          <a:bodyPr/>
          <a:lstStyle/>
          <a:p>
            <a:pPr eaLnBrk="1" hangingPunct="1"/>
            <a:r>
              <a:rPr lang="en-US" altLang="zh-CN" dirty="0"/>
              <a:t>The 3`    5` exonuclease activity was also found to be able to remove mismatched base pairs, thus to proofread the newly incorporated nucleotides.</a:t>
            </a:r>
          </a:p>
        </p:txBody>
      </p:sp>
      <p:sp>
        <p:nvSpPr>
          <p:cNvPr id="218116" name="Line 4"/>
          <p:cNvSpPr>
            <a:spLocks noChangeShapeType="1"/>
          </p:cNvSpPr>
          <p:nvPr/>
        </p:nvSpPr>
        <p:spPr bwMode="auto">
          <a:xfrm>
            <a:off x="5580112" y="620688"/>
            <a:ext cx="504056" cy="0"/>
          </a:xfrm>
          <a:prstGeom prst="line">
            <a:avLst/>
          </a:prstGeom>
          <a:noFill/>
          <a:ln w="38100">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8117" name="Line 5"/>
          <p:cNvSpPr>
            <a:spLocks noChangeShapeType="1"/>
          </p:cNvSpPr>
          <p:nvPr/>
        </p:nvSpPr>
        <p:spPr bwMode="auto">
          <a:xfrm>
            <a:off x="2123728" y="1196752"/>
            <a:ext cx="504056" cy="0"/>
          </a:xfrm>
          <a:prstGeom prst="line">
            <a:avLst/>
          </a:prstGeom>
          <a:noFill/>
          <a:ln w="38100">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8118" name="Line 7"/>
          <p:cNvSpPr>
            <a:spLocks noChangeShapeType="1"/>
          </p:cNvSpPr>
          <p:nvPr/>
        </p:nvSpPr>
        <p:spPr bwMode="auto">
          <a:xfrm>
            <a:off x="1835696" y="1916832"/>
            <a:ext cx="381000" cy="0"/>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8119" name="Rectangle 9"/>
          <p:cNvSpPr>
            <a:spLocks noChangeArrowheads="1"/>
          </p:cNvSpPr>
          <p:nvPr/>
        </p:nvSpPr>
        <p:spPr bwMode="auto">
          <a:xfrm>
            <a:off x="251520" y="3573016"/>
            <a:ext cx="8784976" cy="309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dirty="0"/>
              <a:t>The 5`   3` exonuclease activity of DNA polymerase I enable it to catalyze the </a:t>
            </a:r>
            <a:r>
              <a:rPr lang="en-US" altLang="zh-CN" sz="2800" dirty="0">
                <a:solidFill>
                  <a:srgbClr val="FF0000"/>
                </a:solidFill>
              </a:rPr>
              <a:t>nick translation process</a:t>
            </a:r>
            <a:r>
              <a:rPr lang="en-US" altLang="zh-CN" sz="2800" dirty="0">
                <a:solidFill>
                  <a:schemeClr val="tx2"/>
                </a:solidFill>
              </a:rPr>
              <a:t>: an RNA or DNA strand paired to a DNA template is simultaneously degraded and replaced; an activity</a:t>
            </a:r>
            <a:r>
              <a:rPr lang="en-US" altLang="zh-CN" sz="2800" dirty="0"/>
              <a:t> used for the removal of RNA primers in DNA replication.</a:t>
            </a:r>
          </a:p>
        </p:txBody>
      </p:sp>
      <p:sp>
        <p:nvSpPr>
          <p:cNvPr id="218120" name="Line 10"/>
          <p:cNvSpPr>
            <a:spLocks noChangeShapeType="1"/>
          </p:cNvSpPr>
          <p:nvPr/>
        </p:nvSpPr>
        <p:spPr bwMode="auto">
          <a:xfrm>
            <a:off x="1547813" y="3860800"/>
            <a:ext cx="381000" cy="0"/>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2"/>
          <p:cNvSpPr>
            <a:spLocks noGrp="1" noChangeArrowheads="1"/>
          </p:cNvSpPr>
          <p:nvPr>
            <p:ph type="title" idx="4294967295"/>
          </p:nvPr>
        </p:nvSpPr>
        <p:spPr>
          <a:xfrm>
            <a:off x="462272" y="295470"/>
            <a:ext cx="8229600" cy="1143000"/>
          </a:xfrm>
          <a:prstGeom prst="rect">
            <a:avLst/>
          </a:prstGeom>
        </p:spPr>
        <p:txBody>
          <a:bodyPr/>
          <a:lstStyle/>
          <a:p>
            <a:pPr eaLnBrk="1" hangingPunct="1"/>
            <a:r>
              <a:rPr lang="en-US" altLang="zh-CN" sz="3600" b="1" dirty="0">
                <a:solidFill>
                  <a:srgbClr val="FF0066"/>
                </a:solidFill>
              </a:rPr>
              <a:t>7. DNA polymerase I has 3`     5`, as well as 5`     3` exonuclease activities</a:t>
            </a:r>
          </a:p>
        </p:txBody>
      </p:sp>
      <p:sp>
        <p:nvSpPr>
          <p:cNvPr id="218115" name="Rectangle 3"/>
          <p:cNvSpPr>
            <a:spLocks noGrp="1" noChangeArrowheads="1"/>
          </p:cNvSpPr>
          <p:nvPr>
            <p:ph idx="4294967295"/>
          </p:nvPr>
        </p:nvSpPr>
        <p:spPr>
          <a:xfrm>
            <a:off x="457200" y="1600200"/>
            <a:ext cx="8229600" cy="4525963"/>
          </a:xfrm>
          <a:prstGeom prst="rect">
            <a:avLst/>
          </a:prstGeom>
        </p:spPr>
        <p:txBody>
          <a:bodyPr/>
          <a:lstStyle/>
          <a:p>
            <a:pPr eaLnBrk="1" hangingPunct="1"/>
            <a:r>
              <a:rPr lang="en-US" altLang="zh-CN" dirty="0"/>
              <a:t>The 3`    5` exonuclease activity was also found to be able to remove mismatched base pairs, thus to proofread the newly incorporated nucleotides.</a:t>
            </a:r>
          </a:p>
        </p:txBody>
      </p:sp>
      <p:sp>
        <p:nvSpPr>
          <p:cNvPr id="218116" name="Line 4"/>
          <p:cNvSpPr>
            <a:spLocks noChangeShapeType="1"/>
          </p:cNvSpPr>
          <p:nvPr/>
        </p:nvSpPr>
        <p:spPr bwMode="auto">
          <a:xfrm>
            <a:off x="5580112" y="620688"/>
            <a:ext cx="504056" cy="0"/>
          </a:xfrm>
          <a:prstGeom prst="line">
            <a:avLst/>
          </a:prstGeom>
          <a:noFill/>
          <a:ln w="38100">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8117" name="Line 5"/>
          <p:cNvSpPr>
            <a:spLocks noChangeShapeType="1"/>
          </p:cNvSpPr>
          <p:nvPr/>
        </p:nvSpPr>
        <p:spPr bwMode="auto">
          <a:xfrm>
            <a:off x="2123728" y="1196752"/>
            <a:ext cx="504056" cy="0"/>
          </a:xfrm>
          <a:prstGeom prst="line">
            <a:avLst/>
          </a:prstGeom>
          <a:noFill/>
          <a:ln w="38100">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8118" name="Line 7"/>
          <p:cNvSpPr>
            <a:spLocks noChangeShapeType="1"/>
          </p:cNvSpPr>
          <p:nvPr/>
        </p:nvSpPr>
        <p:spPr bwMode="auto">
          <a:xfrm>
            <a:off x="1835696" y="1916832"/>
            <a:ext cx="381000" cy="0"/>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8119" name="Rectangle 9"/>
          <p:cNvSpPr>
            <a:spLocks noChangeArrowheads="1"/>
          </p:cNvSpPr>
          <p:nvPr/>
        </p:nvSpPr>
        <p:spPr bwMode="auto">
          <a:xfrm>
            <a:off x="251520" y="3573016"/>
            <a:ext cx="8784976" cy="309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dirty="0"/>
              <a:t>The 5`   3` exonuclease activity of DNA polymerase I enable it to catalyze the </a:t>
            </a:r>
            <a:r>
              <a:rPr lang="en-US" altLang="zh-CN" sz="2800" dirty="0">
                <a:solidFill>
                  <a:srgbClr val="FF0000"/>
                </a:solidFill>
              </a:rPr>
              <a:t>nick translation process</a:t>
            </a:r>
            <a:r>
              <a:rPr lang="en-US" altLang="zh-CN" sz="2800" dirty="0">
                <a:solidFill>
                  <a:schemeClr val="tx2"/>
                </a:solidFill>
              </a:rPr>
              <a:t>: an RNA or DNA strand paired to a DNA template is simultaneously degraded and replaced; an activity</a:t>
            </a:r>
            <a:r>
              <a:rPr lang="en-US" altLang="zh-CN" sz="2800" dirty="0"/>
              <a:t> used for the removal of RNA primers in DNA replication.</a:t>
            </a:r>
          </a:p>
        </p:txBody>
      </p:sp>
      <p:sp>
        <p:nvSpPr>
          <p:cNvPr id="218120" name="Line 10"/>
          <p:cNvSpPr>
            <a:spLocks noChangeShapeType="1"/>
          </p:cNvSpPr>
          <p:nvPr/>
        </p:nvSpPr>
        <p:spPr bwMode="auto">
          <a:xfrm>
            <a:off x="1547813" y="3860800"/>
            <a:ext cx="381000" cy="0"/>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9138" name="Picture 2" descr="pol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1371600"/>
            <a:ext cx="9144000" cy="211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9139" name="Rectangle 3"/>
          <p:cNvSpPr>
            <a:spLocks noChangeArrowheads="1"/>
          </p:cNvSpPr>
          <p:nvPr/>
        </p:nvSpPr>
        <p:spPr bwMode="auto">
          <a:xfrm>
            <a:off x="533400" y="3505200"/>
            <a:ext cx="8197850" cy="228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3600" b="1" dirty="0">
                <a:solidFill>
                  <a:srgbClr val="FF0000"/>
                </a:solidFill>
              </a:rPr>
              <a:t>DNA polymerase I has three enzymatic </a:t>
            </a:r>
          </a:p>
          <a:p>
            <a:pPr eaLnBrk="1" hangingPunct="1">
              <a:spcBef>
                <a:spcPct val="0"/>
              </a:spcBef>
              <a:buFontTx/>
              <a:buNone/>
            </a:pPr>
            <a:r>
              <a:rPr lang="en-US" altLang="zh-CN" sz="3600" b="1" dirty="0">
                <a:solidFill>
                  <a:srgbClr val="FF0000"/>
                </a:solidFill>
              </a:rPr>
              <a:t>activities in a single polypeptide chain, </a:t>
            </a:r>
          </a:p>
          <a:p>
            <a:pPr eaLnBrk="1" hangingPunct="1">
              <a:spcBef>
                <a:spcPct val="0"/>
              </a:spcBef>
              <a:buFontTx/>
              <a:buNone/>
            </a:pPr>
            <a:r>
              <a:rPr lang="en-US" altLang="zh-CN" sz="3600" b="1" dirty="0">
                <a:solidFill>
                  <a:srgbClr val="FF0000"/>
                </a:solidFill>
              </a:rPr>
              <a:t>which can be cleaved into two functional </a:t>
            </a:r>
          </a:p>
          <a:p>
            <a:pPr eaLnBrk="1" hangingPunct="1">
              <a:spcBef>
                <a:spcPct val="0"/>
              </a:spcBef>
              <a:buFontTx/>
              <a:buNone/>
            </a:pPr>
            <a:r>
              <a:rPr lang="en-US" altLang="zh-CN" sz="3600" b="1" dirty="0">
                <a:solidFill>
                  <a:srgbClr val="FF0000"/>
                </a:solidFill>
              </a:rPr>
              <a:t>parts by mild protease treatment.</a:t>
            </a:r>
          </a:p>
        </p:txBody>
      </p:sp>
      <p:sp>
        <p:nvSpPr>
          <p:cNvPr id="219140" name="AutoShape 4"/>
          <p:cNvSpPr>
            <a:spLocks noChangeArrowheads="1"/>
          </p:cNvSpPr>
          <p:nvPr/>
        </p:nvSpPr>
        <p:spPr bwMode="auto">
          <a:xfrm>
            <a:off x="3200400" y="1143000"/>
            <a:ext cx="228600" cy="1143000"/>
          </a:xfrm>
          <a:prstGeom prst="downArrow">
            <a:avLst>
              <a:gd name="adj1" fmla="val 50000"/>
              <a:gd name="adj2" fmla="val 125000"/>
            </a:avLst>
          </a:prstGeom>
          <a:solidFill>
            <a:schemeClr val="accent1"/>
          </a:solidFill>
          <a:ln w="9525">
            <a:solidFill>
              <a:schemeClr val="tx1"/>
            </a:solidFill>
            <a:miter lim="800000"/>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19141" name="Rectangle 5"/>
          <p:cNvSpPr>
            <a:spLocks noChangeArrowheads="1"/>
          </p:cNvSpPr>
          <p:nvPr/>
        </p:nvSpPr>
        <p:spPr bwMode="auto">
          <a:xfrm>
            <a:off x="2286000" y="457200"/>
            <a:ext cx="30876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a:t>Protease cleavage</a:t>
            </a:r>
          </a:p>
        </p:txBody>
      </p:sp>
    </p:spTree>
  </p:cSld>
  <p:clrMapOvr>
    <a:masterClrMapping/>
  </p:clrMapOvr>
  <p:transition>
    <p:zoom/>
  </p:transition>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0162" name="Picture 2" descr="kornber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4881563" cy="655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0163" name="Rectangle 3"/>
          <p:cNvSpPr>
            <a:spLocks noChangeArrowheads="1"/>
          </p:cNvSpPr>
          <p:nvPr/>
        </p:nvSpPr>
        <p:spPr bwMode="auto">
          <a:xfrm>
            <a:off x="5029200" y="233363"/>
            <a:ext cx="3944938" cy="447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dirty="0">
                <a:solidFill>
                  <a:srgbClr val="006600"/>
                </a:solidFill>
              </a:rPr>
              <a:t>Arthur Kornberg won</a:t>
            </a:r>
          </a:p>
          <a:p>
            <a:pPr eaLnBrk="1" hangingPunct="1">
              <a:spcBef>
                <a:spcPct val="0"/>
              </a:spcBef>
              <a:buFontTx/>
              <a:buNone/>
            </a:pPr>
            <a:r>
              <a:rPr lang="en-US" altLang="zh-CN" dirty="0">
                <a:solidFill>
                  <a:srgbClr val="006600"/>
                </a:solidFill>
              </a:rPr>
              <a:t>the 1959 Nobel Prize</a:t>
            </a:r>
          </a:p>
          <a:p>
            <a:pPr eaLnBrk="1" hangingPunct="1">
              <a:spcBef>
                <a:spcPct val="0"/>
              </a:spcBef>
              <a:buFontTx/>
              <a:buNone/>
            </a:pPr>
            <a:r>
              <a:rPr lang="en-US" altLang="zh-CN" dirty="0">
                <a:solidFill>
                  <a:srgbClr val="006600"/>
                </a:solidFill>
              </a:rPr>
              <a:t>in Medicine for his</a:t>
            </a:r>
          </a:p>
          <a:p>
            <a:pPr eaLnBrk="1" hangingPunct="1">
              <a:spcBef>
                <a:spcPct val="0"/>
              </a:spcBef>
              <a:buFontTx/>
              <a:buNone/>
            </a:pPr>
            <a:r>
              <a:rPr lang="en-US" altLang="zh-CN" dirty="0">
                <a:solidFill>
                  <a:srgbClr val="006600"/>
                </a:solidFill>
              </a:rPr>
              <a:t>discovery of the </a:t>
            </a:r>
          </a:p>
          <a:p>
            <a:pPr eaLnBrk="1" hangingPunct="1">
              <a:spcBef>
                <a:spcPct val="0"/>
              </a:spcBef>
              <a:buFontTx/>
              <a:buNone/>
            </a:pPr>
            <a:r>
              <a:rPr lang="en-US" altLang="zh-CN" dirty="0">
                <a:solidFill>
                  <a:srgbClr val="006600"/>
                </a:solidFill>
              </a:rPr>
              <a:t>mechanism in the </a:t>
            </a:r>
          </a:p>
          <a:p>
            <a:pPr eaLnBrk="1" hangingPunct="1">
              <a:spcBef>
                <a:spcPct val="0"/>
              </a:spcBef>
              <a:buFontTx/>
              <a:buNone/>
            </a:pPr>
            <a:r>
              <a:rPr lang="en-US" altLang="zh-CN" dirty="0">
                <a:solidFill>
                  <a:srgbClr val="006600"/>
                </a:solidFill>
              </a:rPr>
              <a:t>biological synthesis of </a:t>
            </a:r>
          </a:p>
          <a:p>
            <a:pPr eaLnBrk="1" hangingPunct="1">
              <a:spcBef>
                <a:spcPct val="0"/>
              </a:spcBef>
              <a:buFontTx/>
              <a:buNone/>
            </a:pPr>
            <a:r>
              <a:rPr lang="en-US" altLang="zh-CN" dirty="0">
                <a:solidFill>
                  <a:srgbClr val="006600"/>
                </a:solidFill>
              </a:rPr>
              <a:t>deoxyribonucleic acid </a:t>
            </a:r>
          </a:p>
          <a:p>
            <a:pPr eaLnBrk="1" hangingPunct="1">
              <a:spcBef>
                <a:spcPct val="0"/>
              </a:spcBef>
              <a:buFontTx/>
              <a:buNone/>
            </a:pPr>
            <a:r>
              <a:rPr lang="en-US" altLang="zh-CN" dirty="0">
                <a:solidFill>
                  <a:srgbClr val="006600"/>
                </a:solidFill>
              </a:rPr>
              <a:t>(</a:t>
            </a:r>
            <a:r>
              <a:rPr lang="en-US" altLang="zh-CN" i="1" dirty="0">
                <a:solidFill>
                  <a:srgbClr val="006600"/>
                </a:solidFill>
              </a:rPr>
              <a:t>before Watson and </a:t>
            </a:r>
          </a:p>
          <a:p>
            <a:pPr eaLnBrk="1" hangingPunct="1">
              <a:spcBef>
                <a:spcPct val="0"/>
              </a:spcBef>
              <a:buFontTx/>
              <a:buNone/>
            </a:pPr>
            <a:r>
              <a:rPr lang="en-US" altLang="zh-CN" i="1" dirty="0">
                <a:solidFill>
                  <a:srgbClr val="006600"/>
                </a:solidFill>
              </a:rPr>
              <a:t>Crick won theirs</a:t>
            </a:r>
            <a:r>
              <a:rPr lang="en-US" altLang="zh-CN" dirty="0">
                <a:solidFill>
                  <a:srgbClr val="006600"/>
                </a:solidFill>
              </a:rPr>
              <a:t>!)</a:t>
            </a:r>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Rectangle 2"/>
          <p:cNvSpPr>
            <a:spLocks noGrp="1" noChangeArrowheads="1"/>
          </p:cNvSpPr>
          <p:nvPr>
            <p:ph type="title" idx="4294967295"/>
          </p:nvPr>
        </p:nvSpPr>
        <p:spPr>
          <a:xfrm>
            <a:off x="457200" y="274638"/>
            <a:ext cx="8229600" cy="1143000"/>
          </a:xfrm>
          <a:prstGeom prst="rect">
            <a:avLst/>
          </a:prstGeom>
        </p:spPr>
        <p:txBody>
          <a:bodyPr/>
          <a:lstStyle/>
          <a:p>
            <a:pPr eaLnBrk="1" hangingPunct="1">
              <a:lnSpc>
                <a:spcPct val="80000"/>
              </a:lnSpc>
            </a:pPr>
            <a:r>
              <a:rPr lang="en-US" altLang="zh-CN" sz="4000" b="1" dirty="0">
                <a:solidFill>
                  <a:srgbClr val="FF0066"/>
                </a:solidFill>
              </a:rPr>
              <a:t>8. DNA polymerase I was found to be not responsible for DNA replication in </a:t>
            </a:r>
            <a:r>
              <a:rPr lang="en-US" altLang="zh-CN" sz="4000" b="1" i="1" dirty="0">
                <a:solidFill>
                  <a:srgbClr val="FF0066"/>
                </a:solidFill>
              </a:rPr>
              <a:t>E. coli</a:t>
            </a:r>
            <a:r>
              <a:rPr lang="en-US" altLang="zh-CN" sz="4000" b="1" dirty="0">
                <a:solidFill>
                  <a:srgbClr val="FF0066"/>
                </a:solidFill>
              </a:rPr>
              <a:t> cells</a:t>
            </a:r>
          </a:p>
        </p:txBody>
      </p:sp>
      <p:sp>
        <p:nvSpPr>
          <p:cNvPr id="225283" name="Rectangle 3"/>
          <p:cNvSpPr>
            <a:spLocks noGrp="1" noChangeArrowheads="1"/>
          </p:cNvSpPr>
          <p:nvPr>
            <p:ph idx="4294967295"/>
          </p:nvPr>
        </p:nvSpPr>
        <p:spPr>
          <a:xfrm>
            <a:off x="457200" y="1600200"/>
            <a:ext cx="8229600" cy="4525963"/>
          </a:xfrm>
          <a:prstGeom prst="rect">
            <a:avLst/>
          </a:prstGeom>
        </p:spPr>
        <p:txBody>
          <a:bodyPr/>
          <a:lstStyle/>
          <a:p>
            <a:pPr eaLnBrk="1" hangingPunct="1"/>
            <a:r>
              <a:rPr lang="en-US" altLang="zh-CN" sz="3100" b="1" dirty="0">
                <a:solidFill>
                  <a:schemeClr val="tx2"/>
                </a:solidFill>
              </a:rPr>
              <a:t>The reaction velocity of  this enzyme is too low to account for the observed rates of fork movement.</a:t>
            </a:r>
          </a:p>
          <a:p>
            <a:pPr eaLnBrk="1" hangingPunct="1"/>
            <a:r>
              <a:rPr lang="en-US" altLang="zh-CN" sz="3100" b="1" i="1" dirty="0">
                <a:solidFill>
                  <a:schemeClr val="tx2"/>
                </a:solidFill>
              </a:rPr>
              <a:t>E.coli</a:t>
            </a:r>
            <a:r>
              <a:rPr lang="en-US" altLang="zh-CN" sz="3100" b="1" dirty="0">
                <a:solidFill>
                  <a:schemeClr val="tx2"/>
                </a:solidFill>
              </a:rPr>
              <a:t> cells having a defective DNA polymerase I were found to be still viable, although sensitive to UV light (1969).</a:t>
            </a:r>
          </a:p>
          <a:p>
            <a:pPr eaLnBrk="1" hangingPunct="1"/>
            <a:r>
              <a:rPr lang="en-US" altLang="zh-CN" sz="3100" b="1" dirty="0">
                <a:solidFill>
                  <a:schemeClr val="tx2"/>
                </a:solidFill>
              </a:rPr>
              <a:t>Two more DNA polymerases (II and III) were revealed in </a:t>
            </a:r>
            <a:r>
              <a:rPr lang="en-US" altLang="zh-CN" sz="3100" b="1" i="1" dirty="0">
                <a:solidFill>
                  <a:schemeClr val="tx2"/>
                </a:solidFill>
              </a:rPr>
              <a:t>E.coli</a:t>
            </a:r>
            <a:r>
              <a:rPr lang="en-US" altLang="zh-CN" sz="3100" b="1" dirty="0">
                <a:solidFill>
                  <a:schemeClr val="tx2"/>
                </a:solidFill>
              </a:rPr>
              <a:t> cells in the early 1970s and two more in 1999.</a:t>
            </a: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3234" name="Picture 2" descr="5'3'3'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9144000" cy="6421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3235" name="Rectangle 3"/>
          <p:cNvSpPr>
            <a:spLocks noChangeArrowheads="1"/>
          </p:cNvSpPr>
          <p:nvPr/>
        </p:nvSpPr>
        <p:spPr bwMode="auto">
          <a:xfrm>
            <a:off x="127617" y="4653136"/>
            <a:ext cx="6608763"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b="1">
                <a:solidFill>
                  <a:srgbClr val="66FFFF"/>
                </a:solidFill>
              </a:rPr>
              <a:t>Overall direction of progeny chain growth</a:t>
            </a:r>
          </a:p>
          <a:p>
            <a:pPr eaLnBrk="1" hangingPunct="1">
              <a:spcBef>
                <a:spcPct val="0"/>
              </a:spcBef>
              <a:buFontTx/>
              <a:buNone/>
            </a:pPr>
            <a:r>
              <a:rPr lang="en-US" altLang="zh-CN" sz="2800" b="1">
                <a:solidFill>
                  <a:srgbClr val="66FFFF"/>
                </a:solidFill>
              </a:rPr>
              <a:t>at a replicating fork: one in 5’   3’ and the </a:t>
            </a:r>
          </a:p>
          <a:p>
            <a:pPr eaLnBrk="1" hangingPunct="1">
              <a:spcBef>
                <a:spcPct val="0"/>
              </a:spcBef>
              <a:buFontTx/>
              <a:buNone/>
            </a:pPr>
            <a:r>
              <a:rPr lang="en-US" altLang="zh-CN" sz="2800" b="1">
                <a:solidFill>
                  <a:srgbClr val="66FFFF"/>
                </a:solidFill>
              </a:rPr>
              <a:t>other in 3’   5’ direction.</a:t>
            </a:r>
            <a:endParaRPr lang="en-US" altLang="zh-CN" sz="2800" b="1" dirty="0">
              <a:solidFill>
                <a:srgbClr val="66FFFF"/>
              </a:solidFill>
            </a:endParaRPr>
          </a:p>
        </p:txBody>
      </p:sp>
      <p:sp>
        <p:nvSpPr>
          <p:cNvPr id="223236" name="Line 4"/>
          <p:cNvSpPr>
            <a:spLocks noChangeShapeType="1"/>
          </p:cNvSpPr>
          <p:nvPr/>
        </p:nvSpPr>
        <p:spPr bwMode="auto">
          <a:xfrm>
            <a:off x="4644008" y="5373216"/>
            <a:ext cx="304800" cy="0"/>
          </a:xfrm>
          <a:prstGeom prst="line">
            <a:avLst/>
          </a:prstGeom>
          <a:noFill/>
          <a:ln w="9525">
            <a:solidFill>
              <a:srgbClr val="66FFFF"/>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3237" name="Line 5"/>
          <p:cNvSpPr>
            <a:spLocks noChangeShapeType="1"/>
          </p:cNvSpPr>
          <p:nvPr/>
        </p:nvSpPr>
        <p:spPr bwMode="auto">
          <a:xfrm>
            <a:off x="1751112" y="5805264"/>
            <a:ext cx="228600" cy="0"/>
          </a:xfrm>
          <a:prstGeom prst="line">
            <a:avLst/>
          </a:prstGeom>
          <a:noFill/>
          <a:ln w="9525">
            <a:solidFill>
              <a:srgbClr val="00FFFF"/>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 name="矩形 1"/>
          <p:cNvSpPr/>
          <p:nvPr/>
        </p:nvSpPr>
        <p:spPr>
          <a:xfrm>
            <a:off x="154638" y="249076"/>
            <a:ext cx="7401644" cy="1384995"/>
          </a:xfrm>
          <a:prstGeom prst="rect">
            <a:avLst/>
          </a:prstGeom>
        </p:spPr>
        <p:txBody>
          <a:bodyPr wrap="square">
            <a:spAutoFit/>
          </a:bodyPr>
          <a:lstStyle/>
          <a:p>
            <a:r>
              <a:rPr lang="en-US" altLang="zh-CN" sz="2800" b="1" dirty="0">
                <a:solidFill>
                  <a:srgbClr val="FF0066"/>
                </a:solidFill>
              </a:rPr>
              <a:t>9. The synthesis of the two daughter DNA strands was found to be </a:t>
            </a:r>
            <a:r>
              <a:rPr lang="en-US" altLang="zh-CN" sz="2800" b="1" dirty="0" err="1">
                <a:solidFill>
                  <a:srgbClr val="FF0066"/>
                </a:solidFill>
              </a:rPr>
              <a:t>semidiscontinuous</a:t>
            </a:r>
            <a:endParaRPr lang="zh-CN" altLang="en-US" sz="2800" dirty="0"/>
          </a:p>
        </p:txBody>
      </p:sp>
    </p:spTree>
  </p:cSld>
  <p:clrMapOvr>
    <a:masterClrMapping/>
  </p:clrMapOvr>
  <p:transition>
    <p:zoom/>
  </p:transition>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Rectangle 2"/>
          <p:cNvSpPr>
            <a:spLocks noGrp="1" noChangeArrowheads="1"/>
          </p:cNvSpPr>
          <p:nvPr>
            <p:ph type="title" idx="4294967295"/>
          </p:nvPr>
        </p:nvSpPr>
        <p:spPr>
          <a:xfrm>
            <a:off x="457200" y="274638"/>
            <a:ext cx="8229600" cy="1143000"/>
          </a:xfrm>
          <a:prstGeom prst="rect">
            <a:avLst/>
          </a:prstGeom>
        </p:spPr>
        <p:txBody>
          <a:bodyPr/>
          <a:lstStyle/>
          <a:p>
            <a:pPr eaLnBrk="1" hangingPunct="1">
              <a:lnSpc>
                <a:spcPct val="80000"/>
              </a:lnSpc>
            </a:pPr>
            <a:r>
              <a:rPr lang="en-US" altLang="zh-CN" sz="4000" b="1" dirty="0">
                <a:solidFill>
                  <a:srgbClr val="FF0066"/>
                </a:solidFill>
              </a:rPr>
              <a:t>9. The synthesis of the two daughter DNA strands was found to be </a:t>
            </a:r>
            <a:r>
              <a:rPr lang="en-US" altLang="zh-CN" sz="4000" b="1" dirty="0" err="1">
                <a:solidFill>
                  <a:srgbClr val="FF0066"/>
                </a:solidFill>
              </a:rPr>
              <a:t>semidiscontinuous</a:t>
            </a:r>
            <a:endParaRPr lang="en-US" altLang="zh-CN" sz="4000" b="1" dirty="0">
              <a:solidFill>
                <a:srgbClr val="FF0066"/>
              </a:solidFill>
            </a:endParaRPr>
          </a:p>
        </p:txBody>
      </p:sp>
      <p:sp>
        <p:nvSpPr>
          <p:cNvPr id="221187" name="Rectangle 3"/>
          <p:cNvSpPr>
            <a:spLocks noGrp="1" noChangeArrowheads="1"/>
          </p:cNvSpPr>
          <p:nvPr>
            <p:ph idx="4294967295"/>
          </p:nvPr>
        </p:nvSpPr>
        <p:spPr>
          <a:xfrm>
            <a:off x="457200" y="2071389"/>
            <a:ext cx="8229600" cy="3805883"/>
          </a:xfrm>
          <a:prstGeom prst="rect">
            <a:avLst/>
          </a:prstGeom>
        </p:spPr>
        <p:txBody>
          <a:bodyPr/>
          <a:lstStyle/>
          <a:p>
            <a:pPr eaLnBrk="1" hangingPunct="1"/>
            <a:r>
              <a:rPr lang="en-US" altLang="zh-CN" dirty="0"/>
              <a:t>At a replication fork, the overall elongation direction for one daughter strand is 5` to 3` and 3` to 5` for the other due to the antiparallel features of DNA duplexes. </a:t>
            </a:r>
          </a:p>
          <a:p>
            <a:pPr eaLnBrk="1" hangingPunct="1"/>
            <a:r>
              <a:rPr lang="en-US" altLang="zh-CN" dirty="0"/>
              <a:t>Reiji Okazaki discovered ( in the 1960s) that a significant proportion of </a:t>
            </a:r>
            <a:r>
              <a:rPr lang="en-US" altLang="zh-CN" dirty="0">
                <a:solidFill>
                  <a:srgbClr val="FF0000"/>
                </a:solidFill>
              </a:rPr>
              <a:t>newly synthesized DNA exists as small fragments</a:t>
            </a:r>
            <a:r>
              <a:rPr lang="en-US" altLang="zh-CN" dirty="0"/>
              <a:t>!</a:t>
            </a:r>
            <a:endParaRPr lang="en-US" altLang="zh-CN" sz="2800" dirty="0"/>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Rectangle 2"/>
          <p:cNvSpPr>
            <a:spLocks noGrp="1" noChangeArrowheads="1"/>
          </p:cNvSpPr>
          <p:nvPr>
            <p:ph idx="4294967295"/>
          </p:nvPr>
        </p:nvSpPr>
        <p:spPr>
          <a:xfrm>
            <a:off x="457200" y="1600200"/>
            <a:ext cx="8229600" cy="4525963"/>
          </a:xfrm>
          <a:prstGeom prst="rect">
            <a:avLst/>
          </a:prstGeom>
        </p:spPr>
        <p:txBody>
          <a:bodyPr/>
          <a:lstStyle/>
          <a:p>
            <a:pPr eaLnBrk="1" hangingPunct="1">
              <a:lnSpc>
                <a:spcPct val="90000"/>
              </a:lnSpc>
            </a:pPr>
            <a:r>
              <a:rPr lang="en-US" altLang="zh-CN" dirty="0"/>
              <a:t>These </a:t>
            </a:r>
            <a:r>
              <a:rPr lang="en-US" altLang="zh-CN" dirty="0">
                <a:solidFill>
                  <a:srgbClr val="FF0000"/>
                </a:solidFill>
              </a:rPr>
              <a:t>so-called Okazaki fragments</a:t>
            </a:r>
            <a:r>
              <a:rPr lang="en-US" altLang="zh-CN" dirty="0"/>
              <a:t> were found to join together by DNA ligases to form one of the daughter strands;</a:t>
            </a:r>
          </a:p>
          <a:p>
            <a:pPr eaLnBrk="1" hangingPunct="1">
              <a:lnSpc>
                <a:spcPct val="90000"/>
              </a:lnSpc>
            </a:pPr>
            <a:r>
              <a:rPr lang="en-US" altLang="zh-CN" dirty="0"/>
              <a:t>Thus both daughter strands are synthesized in 5` to  3` direction.</a:t>
            </a:r>
          </a:p>
          <a:p>
            <a:pPr eaLnBrk="1" hangingPunct="1">
              <a:lnSpc>
                <a:spcPct val="90000"/>
              </a:lnSpc>
            </a:pPr>
            <a:r>
              <a:rPr lang="en-US" altLang="zh-CN" dirty="0"/>
              <a:t>One daughter strand at the replication fork is synthesized </a:t>
            </a:r>
            <a:r>
              <a:rPr lang="en-US" altLang="zh-CN" dirty="0">
                <a:solidFill>
                  <a:srgbClr val="FF0000"/>
                </a:solidFill>
              </a:rPr>
              <a:t>continuously </a:t>
            </a:r>
            <a:r>
              <a:rPr lang="en-US" altLang="zh-CN" dirty="0"/>
              <a:t>and the other </a:t>
            </a:r>
            <a:r>
              <a:rPr lang="en-US" altLang="zh-CN" dirty="0">
                <a:solidFill>
                  <a:srgbClr val="FF0000"/>
                </a:solidFill>
              </a:rPr>
              <a:t>discontinuously</a:t>
            </a:r>
            <a:r>
              <a:rPr lang="en-US" altLang="zh-CN" dirty="0"/>
              <a:t>, called the leading and lagging strands respectively</a:t>
            </a:r>
            <a:r>
              <a:rPr lang="en-US" altLang="zh-CN" sz="2800" dirty="0">
                <a:solidFill>
                  <a:schemeClr val="tx2"/>
                </a:solidFill>
              </a:rPr>
              <a:t>.</a:t>
            </a:r>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Rectangle 2"/>
          <p:cNvSpPr>
            <a:spLocks noChangeArrowheads="1"/>
          </p:cNvSpPr>
          <p:nvPr/>
        </p:nvSpPr>
        <p:spPr bwMode="auto">
          <a:xfrm>
            <a:off x="0" y="4365104"/>
            <a:ext cx="9172575"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2800" dirty="0"/>
              <a:t>Both daughter strands at the replication fork are synthesized in</a:t>
            </a:r>
          </a:p>
          <a:p>
            <a:pPr>
              <a:spcBef>
                <a:spcPct val="0"/>
              </a:spcBef>
              <a:buFontTx/>
              <a:buNone/>
            </a:pPr>
            <a:r>
              <a:rPr lang="en-US" altLang="zh-CN" sz="2800" dirty="0"/>
              <a:t>5’   3’ direction, but one (</a:t>
            </a:r>
            <a:r>
              <a:rPr lang="en-US" altLang="zh-CN" sz="2800" dirty="0">
                <a:solidFill>
                  <a:srgbClr val="FF0000"/>
                </a:solidFill>
              </a:rPr>
              <a:t>the leading strand</a:t>
            </a:r>
            <a:r>
              <a:rPr lang="en-US" altLang="zh-CN" sz="2800" dirty="0"/>
              <a:t>) is synthesized </a:t>
            </a:r>
          </a:p>
          <a:p>
            <a:pPr>
              <a:spcBef>
                <a:spcPct val="0"/>
              </a:spcBef>
              <a:buFontTx/>
              <a:buNone/>
            </a:pPr>
            <a:r>
              <a:rPr lang="en-US" altLang="zh-CN" sz="2800" dirty="0"/>
              <a:t>continuously and the other </a:t>
            </a:r>
            <a:r>
              <a:rPr lang="en-US" altLang="zh-CN" sz="2800" dirty="0">
                <a:solidFill>
                  <a:srgbClr val="FF0000"/>
                </a:solidFill>
              </a:rPr>
              <a:t>(the lagging strand</a:t>
            </a:r>
            <a:r>
              <a:rPr lang="en-US" altLang="zh-CN" sz="2800" dirty="0"/>
              <a:t>) discontinuously</a:t>
            </a:r>
          </a:p>
          <a:p>
            <a:pPr>
              <a:spcBef>
                <a:spcPct val="0"/>
              </a:spcBef>
              <a:buFontTx/>
              <a:buNone/>
            </a:pPr>
            <a:r>
              <a:rPr lang="en-US" altLang="zh-CN" sz="2800" dirty="0"/>
              <a:t>(synthesized initially as Okazaki fragments).</a:t>
            </a:r>
          </a:p>
        </p:txBody>
      </p:sp>
      <p:sp>
        <p:nvSpPr>
          <p:cNvPr id="224259" name="Line 3"/>
          <p:cNvSpPr>
            <a:spLocks noChangeShapeType="1"/>
          </p:cNvSpPr>
          <p:nvPr/>
        </p:nvSpPr>
        <p:spPr bwMode="auto">
          <a:xfrm>
            <a:off x="251520" y="5085184"/>
            <a:ext cx="381000" cy="0"/>
          </a:xfrm>
          <a:prstGeom prst="line">
            <a:avLst/>
          </a:prstGeom>
          <a:noFill/>
          <a:ln w="9525">
            <a:solidFill>
              <a:srgbClr val="80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4260" name="Rectangle 4"/>
          <p:cNvSpPr>
            <a:spLocks noChangeArrowheads="1"/>
          </p:cNvSpPr>
          <p:nvPr/>
        </p:nvSpPr>
        <p:spPr bwMode="auto">
          <a:xfrm>
            <a:off x="3276600" y="609600"/>
            <a:ext cx="28273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solidFill>
                  <a:srgbClr val="FF0066"/>
                </a:solidFill>
              </a:rPr>
              <a:t>The leading strand</a:t>
            </a:r>
            <a:endParaRPr lang="en-US" altLang="zh-CN" sz="2800"/>
          </a:p>
        </p:txBody>
      </p:sp>
      <p:sp>
        <p:nvSpPr>
          <p:cNvPr id="224261" name="Line 5"/>
          <p:cNvSpPr>
            <a:spLocks noChangeShapeType="1"/>
          </p:cNvSpPr>
          <p:nvPr/>
        </p:nvSpPr>
        <p:spPr bwMode="auto">
          <a:xfrm flipH="1">
            <a:off x="2209800" y="914400"/>
            <a:ext cx="990600" cy="381000"/>
          </a:xfrm>
          <a:prstGeom prst="line">
            <a:avLst/>
          </a:prstGeom>
          <a:noFill/>
          <a:ln w="25400">
            <a:solidFill>
              <a:srgbClr val="FF0066"/>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4262" name="Rectangle 6"/>
          <p:cNvSpPr>
            <a:spLocks noChangeArrowheads="1"/>
          </p:cNvSpPr>
          <p:nvPr/>
        </p:nvSpPr>
        <p:spPr bwMode="auto">
          <a:xfrm>
            <a:off x="3505200" y="3352800"/>
            <a:ext cx="28479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a:solidFill>
                  <a:srgbClr val="FFFF00"/>
                </a:solidFill>
              </a:rPr>
              <a:t>The lagging strand</a:t>
            </a:r>
            <a:endParaRPr lang="en-US" altLang="zh-CN" sz="2800"/>
          </a:p>
        </p:txBody>
      </p:sp>
      <p:sp>
        <p:nvSpPr>
          <p:cNvPr id="224263" name="Line 7"/>
          <p:cNvSpPr>
            <a:spLocks noChangeShapeType="1"/>
          </p:cNvSpPr>
          <p:nvPr/>
        </p:nvSpPr>
        <p:spPr bwMode="auto">
          <a:xfrm flipH="1" flipV="1">
            <a:off x="2819400" y="2819400"/>
            <a:ext cx="685800" cy="685800"/>
          </a:xfrm>
          <a:prstGeom prst="line">
            <a:avLst/>
          </a:prstGeom>
          <a:noFill/>
          <a:ln w="9525">
            <a:solidFill>
              <a:srgbClr val="FFFF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224264" name="Picture 8" descr="f25-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9144000" cy="4414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zoom/>
  </p:transition>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p:cNvSpPr>
            <a:spLocks noGrp="1" noChangeArrowheads="1"/>
          </p:cNvSpPr>
          <p:nvPr>
            <p:ph type="title" idx="4294967295"/>
          </p:nvPr>
        </p:nvSpPr>
        <p:spPr>
          <a:xfrm>
            <a:off x="457200" y="274638"/>
            <a:ext cx="8229600" cy="1143000"/>
          </a:xfrm>
          <a:prstGeom prst="rect">
            <a:avLst/>
          </a:prstGeom>
        </p:spPr>
        <p:txBody>
          <a:bodyPr/>
          <a:lstStyle/>
          <a:p>
            <a:pPr eaLnBrk="1" hangingPunct="1">
              <a:lnSpc>
                <a:spcPct val="80000"/>
              </a:lnSpc>
            </a:pPr>
            <a:r>
              <a:rPr lang="en-US" altLang="zh-CN" sz="4000" b="1">
                <a:solidFill>
                  <a:srgbClr val="FF0066"/>
                </a:solidFill>
              </a:rPr>
              <a:t>10. DNA polymerase III is responsible for DNA replication in </a:t>
            </a:r>
            <a:r>
              <a:rPr lang="en-US" altLang="zh-CN" sz="4000" b="1" i="1">
                <a:solidFill>
                  <a:srgbClr val="FF0066"/>
                </a:solidFill>
              </a:rPr>
              <a:t>E.coli</a:t>
            </a:r>
            <a:r>
              <a:rPr lang="en-US" altLang="zh-CN" sz="4000" b="1">
                <a:solidFill>
                  <a:srgbClr val="FF0066"/>
                </a:solidFill>
              </a:rPr>
              <a:t> cells</a:t>
            </a:r>
          </a:p>
        </p:txBody>
      </p:sp>
      <p:sp>
        <p:nvSpPr>
          <p:cNvPr id="3" name="Text Box 4"/>
          <p:cNvSpPr txBox="1">
            <a:spLocks noChangeArrowheads="1"/>
          </p:cNvSpPr>
          <p:nvPr/>
        </p:nvSpPr>
        <p:spPr bwMode="auto">
          <a:xfrm>
            <a:off x="395288" y="1700808"/>
            <a:ext cx="8208962" cy="158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800" b="1">
                <a:solidFill>
                  <a:srgbClr val="FF3300"/>
                </a:solidFill>
                <a:latin typeface="Times New Roman" panose="02020603050405020304" pitchFamily="18" charset="0"/>
                <a:ea typeface="楷体_GB2312" pitchFamily="49" charset="-122"/>
              </a:defRPr>
            </a:lvl1pPr>
            <a:lvl2pPr marL="742950" indent="-285750">
              <a:defRPr kumimoji="1" sz="2800" b="1">
                <a:solidFill>
                  <a:srgbClr val="FF3300"/>
                </a:solidFill>
                <a:latin typeface="Times New Roman" panose="02020603050405020304" pitchFamily="18" charset="0"/>
                <a:ea typeface="楷体_GB2312" pitchFamily="49" charset="-122"/>
              </a:defRPr>
            </a:lvl2pPr>
            <a:lvl3pPr marL="1143000" indent="-228600">
              <a:defRPr kumimoji="1" sz="2800" b="1">
                <a:solidFill>
                  <a:srgbClr val="FF3300"/>
                </a:solidFill>
                <a:latin typeface="Times New Roman" panose="02020603050405020304" pitchFamily="18" charset="0"/>
                <a:ea typeface="楷体_GB2312" pitchFamily="49" charset="-122"/>
              </a:defRPr>
            </a:lvl3pPr>
            <a:lvl4pPr marL="1600200" indent="-228600">
              <a:defRPr kumimoji="1" sz="2800" b="1">
                <a:solidFill>
                  <a:srgbClr val="FF3300"/>
                </a:solidFill>
                <a:latin typeface="Times New Roman" panose="02020603050405020304" pitchFamily="18" charset="0"/>
                <a:ea typeface="楷体_GB2312" pitchFamily="49" charset="-122"/>
              </a:defRPr>
            </a:lvl4pPr>
            <a:lvl5pPr marL="2057400" indent="-228600">
              <a:defRPr kumimoji="1" sz="2800" b="1">
                <a:solidFill>
                  <a:srgbClr val="FF3300"/>
                </a:solidFill>
                <a:latin typeface="Times New Roman" panose="02020603050405020304" pitchFamily="18" charset="0"/>
                <a:ea typeface="楷体_GB2312" pitchFamily="49" charset="-122"/>
              </a:defRPr>
            </a:lvl5pPr>
            <a:lvl6pPr marL="2514600" indent="-228600" eaLnBrk="0" fontAlgn="base" hangingPunct="0">
              <a:spcBef>
                <a:spcPct val="50000"/>
              </a:spcBef>
              <a:spcAft>
                <a:spcPct val="0"/>
              </a:spcAft>
              <a:defRPr kumimoji="1" sz="2800" b="1">
                <a:solidFill>
                  <a:srgbClr val="FF3300"/>
                </a:solidFill>
                <a:latin typeface="Times New Roman" panose="02020603050405020304" pitchFamily="18" charset="0"/>
                <a:ea typeface="楷体_GB2312" pitchFamily="49" charset="-122"/>
              </a:defRPr>
            </a:lvl6pPr>
            <a:lvl7pPr marL="2971800" indent="-228600" eaLnBrk="0" fontAlgn="base" hangingPunct="0">
              <a:spcBef>
                <a:spcPct val="50000"/>
              </a:spcBef>
              <a:spcAft>
                <a:spcPct val="0"/>
              </a:spcAft>
              <a:defRPr kumimoji="1" sz="2800" b="1">
                <a:solidFill>
                  <a:srgbClr val="FF3300"/>
                </a:solidFill>
                <a:latin typeface="Times New Roman" panose="02020603050405020304" pitchFamily="18" charset="0"/>
                <a:ea typeface="楷体_GB2312" pitchFamily="49" charset="-122"/>
              </a:defRPr>
            </a:lvl7pPr>
            <a:lvl8pPr marL="3429000" indent="-228600" eaLnBrk="0" fontAlgn="base" hangingPunct="0">
              <a:spcBef>
                <a:spcPct val="50000"/>
              </a:spcBef>
              <a:spcAft>
                <a:spcPct val="0"/>
              </a:spcAft>
              <a:defRPr kumimoji="1" sz="2800" b="1">
                <a:solidFill>
                  <a:srgbClr val="FF3300"/>
                </a:solidFill>
                <a:latin typeface="Times New Roman" panose="02020603050405020304" pitchFamily="18" charset="0"/>
                <a:ea typeface="楷体_GB2312" pitchFamily="49" charset="-122"/>
              </a:defRPr>
            </a:lvl8pPr>
            <a:lvl9pPr marL="3886200" indent="-228600" eaLnBrk="0" fontAlgn="base" hangingPunct="0">
              <a:spcBef>
                <a:spcPct val="50000"/>
              </a:spcBef>
              <a:spcAft>
                <a:spcPct val="0"/>
              </a:spcAft>
              <a:defRPr kumimoji="1" sz="2800" b="1">
                <a:solidFill>
                  <a:srgbClr val="FF3300"/>
                </a:solidFill>
                <a:latin typeface="Times New Roman" panose="02020603050405020304" pitchFamily="18" charset="0"/>
                <a:ea typeface="楷体_GB2312" pitchFamily="49" charset="-122"/>
              </a:defRPr>
            </a:lvl9pPr>
          </a:lstStyle>
          <a:p>
            <a:r>
              <a:rPr kumimoji="0" lang="zh-CN" altLang="en-US" dirty="0">
                <a:solidFill>
                  <a:schemeClr val="accent2"/>
                </a:solidFill>
                <a:latin typeface="Goudy Old Style" panose="02020502050305020303" pitchFamily="18" charset="0"/>
              </a:rPr>
              <a:t>◆ </a:t>
            </a:r>
            <a:r>
              <a:rPr lang="en-US" altLang="zh-CN" dirty="0"/>
              <a:t>DNA polymerase III</a:t>
            </a:r>
            <a:r>
              <a:rPr lang="en-US" altLang="zh-CN" dirty="0">
                <a:solidFill>
                  <a:schemeClr val="accent2"/>
                </a:solidFill>
              </a:rPr>
              <a:t> is the principle replication enzyme in </a:t>
            </a:r>
            <a:r>
              <a:rPr lang="en-US" altLang="zh-CN" i="1" dirty="0" err="1">
                <a:solidFill>
                  <a:schemeClr val="accent2"/>
                </a:solidFill>
              </a:rPr>
              <a:t>E.coli</a:t>
            </a:r>
            <a:r>
              <a:rPr lang="en-US" altLang="zh-CN" dirty="0">
                <a:solidFill>
                  <a:schemeClr val="accent2"/>
                </a:solidFill>
              </a:rPr>
              <a:t>.</a:t>
            </a:r>
          </a:p>
          <a:p>
            <a:endParaRPr kumimoji="0" lang="en-US" altLang="zh-CN" dirty="0">
              <a:solidFill>
                <a:schemeClr val="accent2"/>
              </a:solidFill>
              <a:latin typeface="Goudy Old Style" panose="02020502050305020303" pitchFamily="18" charset="0"/>
            </a:endParaRPr>
          </a:p>
        </p:txBody>
      </p:sp>
      <p:grpSp>
        <p:nvGrpSpPr>
          <p:cNvPr id="4" name="Group 7"/>
          <p:cNvGrpSpPr/>
          <p:nvPr/>
        </p:nvGrpSpPr>
        <p:grpSpPr bwMode="auto">
          <a:xfrm>
            <a:off x="932383" y="2732558"/>
            <a:ext cx="7312025" cy="3360738"/>
            <a:chOff x="476" y="2069"/>
            <a:chExt cx="4606" cy="2117"/>
          </a:xfrm>
        </p:grpSpPr>
        <p:pic>
          <p:nvPicPr>
            <p:cNvPr id="5"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6" y="2069"/>
              <a:ext cx="4606" cy="2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Line 6"/>
            <p:cNvSpPr>
              <a:spLocks noChangeShapeType="1"/>
            </p:cNvSpPr>
            <p:nvPr/>
          </p:nvSpPr>
          <p:spPr bwMode="auto">
            <a:xfrm>
              <a:off x="604" y="3742"/>
              <a:ext cx="4355" cy="0"/>
            </a:xfrm>
            <a:prstGeom prst="line">
              <a:avLst/>
            </a:prstGeom>
            <a:noFill/>
            <a:ln w="28575">
              <a:solidFill>
                <a:srgbClr val="FF0066"/>
              </a:solidFill>
              <a:round/>
            </a:ln>
            <a:extLst>
              <a:ext uri="{909E8E84-426E-40DD-AFC4-6F175D3DCCD1}">
                <a14:hiddenFill xmlns:a14="http://schemas.microsoft.com/office/drawing/2010/main">
                  <a:noFill/>
                </a14:hiddenFill>
              </a:ext>
            </a:extLst>
          </p:spPr>
          <p:txBody>
            <a:bodyPr>
              <a:spAutoFit/>
            </a:bodyPr>
            <a:lstStyle/>
            <a:p>
              <a:endParaRPr lang="zh-CN" altLang="en-US"/>
            </a:p>
          </p:txBody>
        </p:sp>
      </p:gr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7330" name="Picture 2" descr="dnapol"/>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6407150" cy="647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7331" name="Rectangle 3"/>
          <p:cNvSpPr>
            <a:spLocks noChangeArrowheads="1"/>
          </p:cNvSpPr>
          <p:nvPr/>
        </p:nvSpPr>
        <p:spPr bwMode="auto">
          <a:xfrm>
            <a:off x="2057400" y="990600"/>
            <a:ext cx="16700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000" b="1">
                <a:solidFill>
                  <a:srgbClr val="FF0066"/>
                </a:solidFill>
              </a:rPr>
              <a:t>Sliding clamp</a:t>
            </a:r>
          </a:p>
          <a:p>
            <a:pPr eaLnBrk="1" hangingPunct="1">
              <a:spcBef>
                <a:spcPct val="0"/>
              </a:spcBef>
              <a:buFontTx/>
              <a:buNone/>
            </a:pPr>
            <a:r>
              <a:rPr lang="en-US" altLang="zh-CN" sz="2000" b="1">
                <a:solidFill>
                  <a:srgbClr val="FF0066"/>
                </a:solidFill>
              </a:rPr>
              <a:t> subunits</a:t>
            </a:r>
            <a:endParaRPr lang="en-US" altLang="zh-CN" sz="2000" b="1">
              <a:solidFill>
                <a:schemeClr val="accent2"/>
              </a:solidFill>
            </a:endParaRPr>
          </a:p>
        </p:txBody>
      </p:sp>
      <p:sp>
        <p:nvSpPr>
          <p:cNvPr id="227332" name="Line 4"/>
          <p:cNvSpPr>
            <a:spLocks noChangeShapeType="1"/>
          </p:cNvSpPr>
          <p:nvPr/>
        </p:nvSpPr>
        <p:spPr bwMode="auto">
          <a:xfrm>
            <a:off x="3200400" y="1447800"/>
            <a:ext cx="304800" cy="457200"/>
          </a:xfrm>
          <a:prstGeom prst="line">
            <a:avLst/>
          </a:prstGeom>
          <a:noFill/>
          <a:ln w="38100">
            <a:solidFill>
              <a:srgbClr val="FF0066"/>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7333" name="Line 5"/>
          <p:cNvSpPr>
            <a:spLocks noChangeShapeType="1"/>
          </p:cNvSpPr>
          <p:nvPr/>
        </p:nvSpPr>
        <p:spPr bwMode="auto">
          <a:xfrm flipH="1">
            <a:off x="1905000" y="1295400"/>
            <a:ext cx="228600" cy="381000"/>
          </a:xfrm>
          <a:prstGeom prst="line">
            <a:avLst/>
          </a:prstGeom>
          <a:noFill/>
          <a:ln w="38100">
            <a:solidFill>
              <a:srgbClr val="FF0066"/>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7334" name="Rectangle 6"/>
          <p:cNvSpPr>
            <a:spLocks noChangeArrowheads="1"/>
          </p:cNvSpPr>
          <p:nvPr/>
        </p:nvSpPr>
        <p:spPr bwMode="auto">
          <a:xfrm>
            <a:off x="4114800" y="3554413"/>
            <a:ext cx="1169988"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000" b="1">
                <a:solidFill>
                  <a:srgbClr val="FF0066"/>
                </a:solidFill>
              </a:rPr>
              <a:t>Catalytic</a:t>
            </a:r>
          </a:p>
          <a:p>
            <a:pPr eaLnBrk="1" hangingPunct="1">
              <a:spcBef>
                <a:spcPct val="0"/>
              </a:spcBef>
              <a:buFontTx/>
              <a:buNone/>
            </a:pPr>
            <a:r>
              <a:rPr lang="en-US" altLang="zh-CN" sz="2000" b="1">
                <a:solidFill>
                  <a:srgbClr val="FF0066"/>
                </a:solidFill>
              </a:rPr>
              <a:t>subunit</a:t>
            </a:r>
            <a:endParaRPr lang="en-US" altLang="zh-CN" sz="2400" b="1">
              <a:solidFill>
                <a:srgbClr val="FF0066"/>
              </a:solidFill>
            </a:endParaRPr>
          </a:p>
        </p:txBody>
      </p:sp>
      <p:sp>
        <p:nvSpPr>
          <p:cNvPr id="227335" name="Rectangle 7"/>
          <p:cNvSpPr>
            <a:spLocks noChangeArrowheads="1"/>
          </p:cNvSpPr>
          <p:nvPr/>
        </p:nvSpPr>
        <p:spPr bwMode="auto">
          <a:xfrm>
            <a:off x="762000" y="3581400"/>
            <a:ext cx="1169988"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000" b="1">
                <a:solidFill>
                  <a:srgbClr val="FF0066"/>
                </a:solidFill>
              </a:rPr>
              <a:t>Catalytic</a:t>
            </a:r>
          </a:p>
          <a:p>
            <a:pPr eaLnBrk="1" hangingPunct="1">
              <a:spcBef>
                <a:spcPct val="0"/>
              </a:spcBef>
              <a:buFontTx/>
              <a:buNone/>
            </a:pPr>
            <a:r>
              <a:rPr lang="en-US" altLang="zh-CN" sz="2000" b="1">
                <a:solidFill>
                  <a:srgbClr val="FF0066"/>
                </a:solidFill>
              </a:rPr>
              <a:t>subunit</a:t>
            </a:r>
          </a:p>
        </p:txBody>
      </p:sp>
      <p:sp>
        <p:nvSpPr>
          <p:cNvPr id="227336" name="Rectangle 8"/>
          <p:cNvSpPr>
            <a:spLocks noChangeArrowheads="1"/>
          </p:cNvSpPr>
          <p:nvPr/>
        </p:nvSpPr>
        <p:spPr bwMode="auto">
          <a:xfrm>
            <a:off x="4267200" y="4876800"/>
            <a:ext cx="21431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000" b="1">
                <a:solidFill>
                  <a:srgbClr val="66FFFF"/>
                </a:solidFill>
              </a:rPr>
              <a:t>3’   5’ exonuclease</a:t>
            </a:r>
          </a:p>
          <a:p>
            <a:pPr eaLnBrk="1" hangingPunct="1">
              <a:spcBef>
                <a:spcPct val="0"/>
              </a:spcBef>
              <a:buFontTx/>
              <a:buNone/>
            </a:pPr>
            <a:r>
              <a:rPr lang="en-US" altLang="zh-CN" sz="2000" b="1">
                <a:solidFill>
                  <a:srgbClr val="66FFFF"/>
                </a:solidFill>
              </a:rPr>
              <a:t>subunits</a:t>
            </a:r>
          </a:p>
        </p:txBody>
      </p:sp>
      <p:sp>
        <p:nvSpPr>
          <p:cNvPr id="227337" name="Line 9"/>
          <p:cNvSpPr>
            <a:spLocks noChangeShapeType="1"/>
          </p:cNvSpPr>
          <p:nvPr/>
        </p:nvSpPr>
        <p:spPr bwMode="auto">
          <a:xfrm>
            <a:off x="4572000" y="5105400"/>
            <a:ext cx="152400" cy="0"/>
          </a:xfrm>
          <a:prstGeom prst="line">
            <a:avLst/>
          </a:prstGeom>
          <a:noFill/>
          <a:ln w="9525">
            <a:solidFill>
              <a:srgbClr val="66FFFF"/>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7338" name="Line 10"/>
          <p:cNvSpPr>
            <a:spLocks noChangeShapeType="1"/>
          </p:cNvSpPr>
          <p:nvPr/>
        </p:nvSpPr>
        <p:spPr bwMode="auto">
          <a:xfrm flipH="1" flipV="1">
            <a:off x="3505200" y="3200400"/>
            <a:ext cx="1143000" cy="1676400"/>
          </a:xfrm>
          <a:prstGeom prst="line">
            <a:avLst/>
          </a:prstGeom>
          <a:noFill/>
          <a:ln w="9525">
            <a:solidFill>
              <a:srgbClr val="66FFFF"/>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7339" name="Line 11"/>
          <p:cNvSpPr>
            <a:spLocks noChangeShapeType="1"/>
          </p:cNvSpPr>
          <p:nvPr/>
        </p:nvSpPr>
        <p:spPr bwMode="auto">
          <a:xfrm flipH="1" flipV="1">
            <a:off x="2667000" y="3276600"/>
            <a:ext cx="1981200" cy="1600200"/>
          </a:xfrm>
          <a:prstGeom prst="line">
            <a:avLst/>
          </a:prstGeom>
          <a:noFill/>
          <a:ln w="9525">
            <a:solidFill>
              <a:srgbClr val="66FFFF"/>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7340" name="Rectangle 12"/>
          <p:cNvSpPr>
            <a:spLocks noChangeArrowheads="1"/>
          </p:cNvSpPr>
          <p:nvPr/>
        </p:nvSpPr>
        <p:spPr bwMode="auto">
          <a:xfrm>
            <a:off x="6477000" y="1371600"/>
            <a:ext cx="938213"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000" b="1">
                <a:solidFill>
                  <a:schemeClr val="accent2"/>
                </a:solidFill>
              </a:rPr>
              <a:t>Clamp</a:t>
            </a:r>
          </a:p>
          <a:p>
            <a:pPr eaLnBrk="1" hangingPunct="1">
              <a:spcBef>
                <a:spcPct val="0"/>
              </a:spcBef>
              <a:buFontTx/>
              <a:buNone/>
            </a:pPr>
            <a:r>
              <a:rPr lang="en-US" altLang="zh-CN" sz="2000" b="1">
                <a:solidFill>
                  <a:schemeClr val="accent2"/>
                </a:solidFill>
              </a:rPr>
              <a:t> loader</a:t>
            </a:r>
          </a:p>
        </p:txBody>
      </p:sp>
      <p:sp>
        <p:nvSpPr>
          <p:cNvPr id="227341" name="AutoShape 13"/>
          <p:cNvSpPr>
            <a:spLocks noChangeArrowheads="1"/>
          </p:cNvSpPr>
          <p:nvPr/>
        </p:nvSpPr>
        <p:spPr bwMode="auto">
          <a:xfrm>
            <a:off x="6096000" y="1524000"/>
            <a:ext cx="381000" cy="304800"/>
          </a:xfrm>
          <a:prstGeom prst="leftArrow">
            <a:avLst>
              <a:gd name="adj1" fmla="val 50000"/>
              <a:gd name="adj2" fmla="val 31250"/>
            </a:avLst>
          </a:prstGeom>
          <a:solidFill>
            <a:schemeClr val="accent1"/>
          </a:solidFill>
          <a:ln w="9525">
            <a:solidFill>
              <a:schemeClr val="tx1"/>
            </a:solidFill>
            <a:miter lim="800000"/>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27342" name="Rectangle 14"/>
          <p:cNvSpPr>
            <a:spLocks noChangeArrowheads="1"/>
          </p:cNvSpPr>
          <p:nvPr/>
        </p:nvSpPr>
        <p:spPr bwMode="auto">
          <a:xfrm>
            <a:off x="6172200" y="2362200"/>
            <a:ext cx="3070225" cy="22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400" b="1" dirty="0">
                <a:solidFill>
                  <a:srgbClr val="FF0066"/>
                </a:solidFill>
              </a:rPr>
              <a:t>   </a:t>
            </a:r>
            <a:r>
              <a:rPr lang="en-US" altLang="zh-CN" sz="2400" b="1" dirty="0">
                <a:solidFill>
                  <a:schemeClr val="accent2"/>
                </a:solidFill>
              </a:rPr>
              <a:t>Proposed </a:t>
            </a:r>
          </a:p>
          <a:p>
            <a:pPr eaLnBrk="1" hangingPunct="1">
              <a:spcBef>
                <a:spcPct val="0"/>
              </a:spcBef>
              <a:buFontTx/>
              <a:buNone/>
            </a:pPr>
            <a:r>
              <a:rPr lang="en-US" altLang="zh-CN" sz="2400" b="1" dirty="0">
                <a:solidFill>
                  <a:schemeClr val="accent2"/>
                </a:solidFill>
              </a:rPr>
              <a:t>   architecture of </a:t>
            </a:r>
            <a:r>
              <a:rPr lang="en-US" altLang="zh-CN" sz="2400" b="1" dirty="0">
                <a:solidFill>
                  <a:srgbClr val="006600"/>
                </a:solidFill>
              </a:rPr>
              <a:t>DNA</a:t>
            </a:r>
          </a:p>
          <a:p>
            <a:pPr eaLnBrk="1" hangingPunct="1">
              <a:spcBef>
                <a:spcPct val="0"/>
              </a:spcBef>
              <a:buFontTx/>
              <a:buNone/>
            </a:pPr>
            <a:r>
              <a:rPr lang="en-US" altLang="zh-CN" sz="2400" b="1" dirty="0">
                <a:solidFill>
                  <a:srgbClr val="006600"/>
                </a:solidFill>
              </a:rPr>
              <a:t>   polymerase III</a:t>
            </a:r>
            <a:r>
              <a:rPr lang="en-US" altLang="zh-CN" sz="2400" b="1" dirty="0">
                <a:solidFill>
                  <a:schemeClr val="accent2"/>
                </a:solidFill>
              </a:rPr>
              <a:t> </a:t>
            </a:r>
          </a:p>
          <a:p>
            <a:pPr eaLnBrk="1" hangingPunct="1">
              <a:spcBef>
                <a:spcPct val="0"/>
              </a:spcBef>
              <a:buFontTx/>
              <a:buNone/>
            </a:pPr>
            <a:r>
              <a:rPr lang="en-US" altLang="zh-CN" sz="2400" b="1" dirty="0">
                <a:solidFill>
                  <a:schemeClr val="accent2"/>
                </a:solidFill>
              </a:rPr>
              <a:t>   holoenzyme: </a:t>
            </a:r>
          </a:p>
          <a:p>
            <a:pPr eaLnBrk="1" hangingPunct="1">
              <a:spcBef>
                <a:spcPct val="0"/>
              </a:spcBef>
              <a:buFontTx/>
              <a:buNone/>
            </a:pPr>
            <a:r>
              <a:rPr lang="en-US" altLang="zh-CN" sz="2400" b="1" dirty="0">
                <a:solidFill>
                  <a:schemeClr val="accent2"/>
                </a:solidFill>
              </a:rPr>
              <a:t>   an asymmetric </a:t>
            </a:r>
          </a:p>
          <a:p>
            <a:pPr eaLnBrk="1" hangingPunct="1">
              <a:spcBef>
                <a:spcPct val="0"/>
              </a:spcBef>
              <a:buFontTx/>
              <a:buNone/>
            </a:pPr>
            <a:r>
              <a:rPr lang="en-US" altLang="zh-CN" sz="2400" b="1" dirty="0">
                <a:solidFill>
                  <a:schemeClr val="accent2"/>
                </a:solidFill>
              </a:rPr>
              <a:t>   dimer</a:t>
            </a:r>
          </a:p>
        </p:txBody>
      </p:sp>
      <p:sp>
        <p:nvSpPr>
          <p:cNvPr id="227343" name="Rectangle 15"/>
          <p:cNvSpPr>
            <a:spLocks noChangeArrowheads="1"/>
          </p:cNvSpPr>
          <p:nvPr/>
        </p:nvSpPr>
        <p:spPr bwMode="auto">
          <a:xfrm>
            <a:off x="3124200" y="5638800"/>
            <a:ext cx="3240088"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400" b="1">
                <a:solidFill>
                  <a:srgbClr val="CC00CC"/>
                </a:solidFill>
              </a:rPr>
              <a:t>No 5` to 3` exonuclease </a:t>
            </a:r>
          </a:p>
          <a:p>
            <a:pPr eaLnBrk="1" hangingPunct="1">
              <a:spcBef>
                <a:spcPct val="0"/>
              </a:spcBef>
              <a:buFontTx/>
              <a:buNone/>
            </a:pPr>
            <a:r>
              <a:rPr lang="en-US" altLang="zh-CN" sz="2400" b="1">
                <a:solidFill>
                  <a:srgbClr val="CC00CC"/>
                </a:solidFill>
              </a:rPr>
              <a:t>activity</a:t>
            </a:r>
          </a:p>
        </p:txBody>
      </p:sp>
    </p:spTree>
  </p:cSld>
  <p:clrMapOvr>
    <a:masterClrMapping/>
  </p:clrMapOvr>
  <p:transition>
    <p:zoom/>
  </p:transition>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EB292F63-451D-4884-BDE0-B8B802EC4CA6}"/>
              </a:ext>
            </a:extLst>
          </p:cNvPr>
          <p:cNvPicPr>
            <a:picLocks noChangeAspect="1"/>
          </p:cNvPicPr>
          <p:nvPr/>
        </p:nvPicPr>
        <p:blipFill>
          <a:blip r:embed="rId3"/>
          <a:stretch>
            <a:fillRect/>
          </a:stretch>
        </p:blipFill>
        <p:spPr>
          <a:xfrm>
            <a:off x="0" y="692696"/>
            <a:ext cx="9144000" cy="4617835"/>
          </a:xfrm>
          <a:prstGeom prst="rect">
            <a:avLst/>
          </a:prstGeom>
        </p:spPr>
      </p:pic>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Rectangle 2"/>
          <p:cNvSpPr>
            <a:spLocks noGrp="1" noChangeArrowheads="1"/>
          </p:cNvSpPr>
          <p:nvPr>
            <p:ph type="title" idx="4294967295"/>
          </p:nvPr>
        </p:nvSpPr>
        <p:spPr>
          <a:xfrm>
            <a:off x="457200" y="274638"/>
            <a:ext cx="8229600" cy="1143000"/>
          </a:xfrm>
          <a:prstGeom prst="rect">
            <a:avLst/>
          </a:prstGeom>
        </p:spPr>
        <p:txBody>
          <a:bodyPr/>
          <a:lstStyle/>
          <a:p>
            <a:pPr eaLnBrk="1" hangingPunct="1">
              <a:lnSpc>
                <a:spcPct val="80000"/>
              </a:lnSpc>
            </a:pPr>
            <a:r>
              <a:rPr lang="en-US" altLang="zh-CN" sz="3600" b="1" dirty="0">
                <a:solidFill>
                  <a:srgbClr val="FF0066"/>
                </a:solidFill>
              </a:rPr>
              <a:t>11. DNA polymerase III and many other proteins are part of the replisome for DNA replication in </a:t>
            </a:r>
            <a:r>
              <a:rPr lang="en-US" altLang="zh-CN" sz="3600" b="1" i="1" dirty="0">
                <a:solidFill>
                  <a:srgbClr val="FF0066"/>
                </a:solidFill>
              </a:rPr>
              <a:t>E.coli</a:t>
            </a:r>
            <a:r>
              <a:rPr lang="en-US" altLang="zh-CN" sz="3600" b="1" dirty="0">
                <a:solidFill>
                  <a:srgbClr val="FF0066"/>
                </a:solidFill>
              </a:rPr>
              <a:t> cells</a:t>
            </a:r>
            <a:endParaRPr lang="en-US" altLang="zh-CN" sz="3600" dirty="0">
              <a:solidFill>
                <a:srgbClr val="FF0066"/>
              </a:solidFill>
            </a:endParaRPr>
          </a:p>
        </p:txBody>
      </p:sp>
      <p:sp>
        <p:nvSpPr>
          <p:cNvPr id="228355" name="Rectangle 3"/>
          <p:cNvSpPr>
            <a:spLocks noGrp="1" noChangeArrowheads="1"/>
          </p:cNvSpPr>
          <p:nvPr>
            <p:ph idx="4294967295"/>
          </p:nvPr>
        </p:nvSpPr>
        <p:spPr>
          <a:xfrm>
            <a:off x="457200" y="1783357"/>
            <a:ext cx="8229600" cy="4525963"/>
          </a:xfrm>
          <a:prstGeom prst="rect">
            <a:avLst/>
          </a:prstGeom>
        </p:spPr>
        <p:txBody>
          <a:bodyPr/>
          <a:lstStyle/>
          <a:p>
            <a:pPr eaLnBrk="1" hangingPunct="1">
              <a:lnSpc>
                <a:spcPct val="90000"/>
              </a:lnSpc>
            </a:pPr>
            <a:r>
              <a:rPr lang="en-US" altLang="zh-CN" sz="2800" b="1" i="1" dirty="0"/>
              <a:t>In vitro</a:t>
            </a:r>
            <a:r>
              <a:rPr lang="en-US" altLang="zh-CN" sz="2800" b="1" dirty="0"/>
              <a:t> studies revealed about </a:t>
            </a:r>
            <a:r>
              <a:rPr lang="en-US" altLang="zh-CN" sz="2800" b="1" dirty="0">
                <a:solidFill>
                  <a:srgbClr val="FF0066"/>
                </a:solidFill>
              </a:rPr>
              <a:t>20</a:t>
            </a:r>
            <a:r>
              <a:rPr lang="en-US" altLang="zh-CN" sz="2800" b="1" dirty="0"/>
              <a:t> proteins are involved in DNA replication in </a:t>
            </a:r>
            <a:r>
              <a:rPr lang="en-US" altLang="zh-CN" sz="2800" b="1" i="1" dirty="0"/>
              <a:t>E.coli</a:t>
            </a:r>
            <a:r>
              <a:rPr lang="en-US" altLang="zh-CN" sz="2800" b="1" dirty="0"/>
              <a:t> cells.</a:t>
            </a:r>
          </a:p>
          <a:p>
            <a:pPr eaLnBrk="1" hangingPunct="1">
              <a:lnSpc>
                <a:spcPct val="90000"/>
              </a:lnSpc>
            </a:pPr>
            <a:r>
              <a:rPr lang="en-US" altLang="zh-CN" sz="2800" b="1" dirty="0">
                <a:solidFill>
                  <a:srgbClr val="FF0000"/>
                </a:solidFill>
              </a:rPr>
              <a:t>Accessory proteins</a:t>
            </a:r>
            <a:r>
              <a:rPr lang="en-US" altLang="zh-CN" sz="2800" b="1" dirty="0"/>
              <a:t> include: </a:t>
            </a:r>
          </a:p>
          <a:p>
            <a:pPr lvl="1" eaLnBrk="1" hangingPunct="1">
              <a:lnSpc>
                <a:spcPct val="90000"/>
              </a:lnSpc>
            </a:pPr>
            <a:r>
              <a:rPr lang="en-US" altLang="zh-CN" b="1" dirty="0"/>
              <a:t>the </a:t>
            </a:r>
            <a:r>
              <a:rPr lang="en-US" altLang="zh-CN" b="1" dirty="0">
                <a:solidFill>
                  <a:srgbClr val="FF0066"/>
                </a:solidFill>
              </a:rPr>
              <a:t>helicase</a:t>
            </a:r>
            <a:r>
              <a:rPr lang="en-US" altLang="zh-CN" b="1" dirty="0">
                <a:solidFill>
                  <a:schemeClr val="accent2"/>
                </a:solidFill>
              </a:rPr>
              <a:t> (</a:t>
            </a:r>
            <a:r>
              <a:rPr lang="zh-CN" altLang="en-US" b="1" dirty="0">
                <a:solidFill>
                  <a:schemeClr val="accent2"/>
                </a:solidFill>
              </a:rPr>
              <a:t>解螺旋酶）</a:t>
            </a:r>
            <a:r>
              <a:rPr lang="en-US" altLang="zh-CN" b="1" dirty="0">
                <a:solidFill>
                  <a:schemeClr val="tx2"/>
                </a:solidFill>
              </a:rPr>
              <a:t>for</a:t>
            </a:r>
            <a:r>
              <a:rPr lang="en-US" altLang="zh-CN" b="1" dirty="0"/>
              <a:t> moving along the DNA and separating the two DNA strands using energy from ATP;</a:t>
            </a:r>
          </a:p>
          <a:p>
            <a:pPr lvl="1" eaLnBrk="1" hangingPunct="1">
              <a:lnSpc>
                <a:spcPct val="90000"/>
              </a:lnSpc>
            </a:pPr>
            <a:r>
              <a:rPr lang="en-US" altLang="zh-CN" b="1" dirty="0"/>
              <a:t>the </a:t>
            </a:r>
            <a:r>
              <a:rPr lang="en-US" altLang="zh-CN" b="1" dirty="0">
                <a:solidFill>
                  <a:srgbClr val="FF0000"/>
                </a:solidFill>
              </a:rPr>
              <a:t>single stranded DNA-binding (SSB) protein</a:t>
            </a:r>
            <a:r>
              <a:rPr lang="en-US" altLang="zh-CN" b="1" dirty="0"/>
              <a:t> for binding and stabilizing the single stranded DNA generated; </a:t>
            </a:r>
          </a:p>
        </p:txBody>
      </p:sp>
      <p:sp>
        <p:nvSpPr>
          <p:cNvPr id="3" name="文本框 2"/>
          <p:cNvSpPr txBox="1"/>
          <p:nvPr/>
        </p:nvSpPr>
        <p:spPr>
          <a:xfrm>
            <a:off x="539552" y="3068960"/>
            <a:ext cx="586408" cy="1703030"/>
          </a:xfrm>
          <a:prstGeom prst="rect">
            <a:avLst/>
          </a:prstGeom>
          <a:noFill/>
        </p:spPr>
        <p:txBody>
          <a:bodyPr wrap="square" rtlCol="0">
            <a:spAutoFit/>
          </a:bodyPr>
          <a:lstStyle/>
          <a:p>
            <a:r>
              <a:rPr lang="zh-CN" altLang="en-US" sz="2400" dirty="0"/>
              <a:t>①</a:t>
            </a:r>
            <a:endParaRPr lang="en-US" altLang="zh-CN" sz="2400" dirty="0"/>
          </a:p>
          <a:p>
            <a:pPr>
              <a:lnSpc>
                <a:spcPts val="1700"/>
              </a:lnSpc>
            </a:pPr>
            <a:endParaRPr lang="en-US" altLang="zh-CN" sz="2400" dirty="0"/>
          </a:p>
          <a:p>
            <a:pPr>
              <a:lnSpc>
                <a:spcPts val="1700"/>
              </a:lnSpc>
            </a:pPr>
            <a:endParaRPr lang="en-US" altLang="zh-CN" sz="2400" dirty="0"/>
          </a:p>
          <a:p>
            <a:pPr>
              <a:lnSpc>
                <a:spcPts val="1700"/>
              </a:lnSpc>
            </a:pPr>
            <a:endParaRPr lang="en-US" altLang="zh-CN" sz="2400" dirty="0"/>
          </a:p>
          <a:p>
            <a:pPr>
              <a:lnSpc>
                <a:spcPts val="1700"/>
              </a:lnSpc>
            </a:pPr>
            <a:endParaRPr lang="en-US" altLang="zh-CN" sz="2400" dirty="0"/>
          </a:p>
          <a:p>
            <a:r>
              <a:rPr lang="zh-CN" altLang="en-US" sz="2400" dirty="0"/>
              <a:t>②</a:t>
            </a:r>
          </a:p>
        </p:txBody>
      </p:sp>
    </p:spTree>
  </p:cSld>
  <p:clrMapOvr>
    <a:masterClrMapping/>
  </p:clrMapOvr>
  <p:transition>
    <p:zoom/>
  </p:transition>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Rectangle 2"/>
          <p:cNvSpPr>
            <a:spLocks noGrp="1" noChangeArrowheads="1"/>
          </p:cNvSpPr>
          <p:nvPr>
            <p:ph idx="4294967295"/>
          </p:nvPr>
        </p:nvSpPr>
        <p:spPr>
          <a:xfrm>
            <a:off x="457200" y="-315416"/>
            <a:ext cx="8229600" cy="6552728"/>
          </a:xfrm>
          <a:prstGeom prst="rect">
            <a:avLst/>
          </a:prstGeom>
        </p:spPr>
        <p:txBody>
          <a:bodyPr/>
          <a:lstStyle/>
          <a:p>
            <a:pPr lvl="1" eaLnBrk="1" hangingPunct="1">
              <a:lnSpc>
                <a:spcPct val="90000"/>
              </a:lnSpc>
            </a:pPr>
            <a:endParaRPr lang="en-US" altLang="zh-CN" sz="2000" b="1" dirty="0"/>
          </a:p>
          <a:p>
            <a:pPr lvl="1" eaLnBrk="1" hangingPunct="1">
              <a:lnSpc>
                <a:spcPct val="110000"/>
              </a:lnSpc>
            </a:pPr>
            <a:r>
              <a:rPr lang="en-US" altLang="zh-CN" b="1" dirty="0"/>
              <a:t>the </a:t>
            </a:r>
            <a:r>
              <a:rPr lang="en-US" altLang="zh-CN" b="1" dirty="0">
                <a:solidFill>
                  <a:srgbClr val="FF0066"/>
                </a:solidFill>
              </a:rPr>
              <a:t>topoisomerases</a:t>
            </a:r>
            <a:r>
              <a:rPr lang="en-US" altLang="zh-CN" b="1" dirty="0">
                <a:solidFill>
                  <a:schemeClr val="accent2"/>
                </a:solidFill>
              </a:rPr>
              <a:t> </a:t>
            </a:r>
            <a:r>
              <a:rPr lang="zh-CN" altLang="en-US" b="1" dirty="0">
                <a:solidFill>
                  <a:schemeClr val="accent2"/>
                </a:solidFill>
              </a:rPr>
              <a:t>（拓扑异构酶）</a:t>
            </a:r>
            <a:r>
              <a:rPr lang="en-US" altLang="zh-CN" b="1" dirty="0"/>
              <a:t>for relieving topological (torsional) strains in the helical structure (positive supercoils) generated during strand separation; </a:t>
            </a:r>
          </a:p>
          <a:p>
            <a:pPr lvl="1" eaLnBrk="1" hangingPunct="1">
              <a:lnSpc>
                <a:spcPct val="110000"/>
              </a:lnSpc>
            </a:pPr>
            <a:r>
              <a:rPr lang="en-US" altLang="zh-CN" b="1" dirty="0"/>
              <a:t>the </a:t>
            </a:r>
            <a:r>
              <a:rPr lang="en-US" altLang="zh-CN" b="1" dirty="0">
                <a:solidFill>
                  <a:srgbClr val="FF0066"/>
                </a:solidFill>
              </a:rPr>
              <a:t>primase</a:t>
            </a:r>
            <a:r>
              <a:rPr lang="en-US" altLang="zh-CN" b="1" dirty="0"/>
              <a:t> for generating a short RNA primer; </a:t>
            </a:r>
            <a:endParaRPr lang="en-US" altLang="zh-CN" b="1" dirty="0">
              <a:solidFill>
                <a:schemeClr val="tx2"/>
              </a:solidFill>
            </a:endParaRPr>
          </a:p>
          <a:p>
            <a:pPr lvl="1" eaLnBrk="1" hangingPunct="1">
              <a:lnSpc>
                <a:spcPct val="110000"/>
              </a:lnSpc>
            </a:pPr>
            <a:r>
              <a:rPr lang="en-US" altLang="zh-CN" b="1" dirty="0">
                <a:solidFill>
                  <a:schemeClr val="tx2"/>
                </a:solidFill>
              </a:rPr>
              <a:t>the </a:t>
            </a:r>
            <a:r>
              <a:rPr lang="en-US" altLang="zh-CN" b="1" dirty="0">
                <a:solidFill>
                  <a:srgbClr val="FF0066"/>
                </a:solidFill>
              </a:rPr>
              <a:t>DNA polymerase III</a:t>
            </a:r>
            <a:r>
              <a:rPr lang="en-US" altLang="zh-CN" b="1" dirty="0"/>
              <a:t> for polymerizing and proofreading the nucleotides according to the templates;</a:t>
            </a:r>
          </a:p>
          <a:p>
            <a:pPr lvl="1" eaLnBrk="1" hangingPunct="1">
              <a:lnSpc>
                <a:spcPct val="110000"/>
              </a:lnSpc>
            </a:pPr>
            <a:r>
              <a:rPr lang="en-US" altLang="zh-CN" b="1" dirty="0"/>
              <a:t>the </a:t>
            </a:r>
            <a:r>
              <a:rPr lang="en-US" altLang="zh-CN" b="1" dirty="0">
                <a:solidFill>
                  <a:srgbClr val="FF0066"/>
                </a:solidFill>
              </a:rPr>
              <a:t>DNA polymerase I</a:t>
            </a:r>
            <a:r>
              <a:rPr lang="en-US" altLang="zh-CN" b="1" dirty="0"/>
              <a:t> for removing the RNA primers and replacing by a DNA sequence;</a:t>
            </a:r>
          </a:p>
          <a:p>
            <a:pPr lvl="1" eaLnBrk="1" hangingPunct="1">
              <a:lnSpc>
                <a:spcPct val="110000"/>
              </a:lnSpc>
            </a:pPr>
            <a:r>
              <a:rPr lang="en-US" altLang="zh-CN" b="1" dirty="0"/>
              <a:t>the </a:t>
            </a:r>
            <a:r>
              <a:rPr lang="en-US" altLang="zh-CN" b="1" dirty="0">
                <a:solidFill>
                  <a:srgbClr val="FF0066"/>
                </a:solidFill>
              </a:rPr>
              <a:t>DNA ligase</a:t>
            </a:r>
            <a:r>
              <a:rPr lang="en-US" altLang="zh-CN" b="1" dirty="0"/>
              <a:t> for sealing nicks between the Okazaki fragments.</a:t>
            </a:r>
          </a:p>
        </p:txBody>
      </p:sp>
      <p:sp>
        <p:nvSpPr>
          <p:cNvPr id="2" name="矩形 1"/>
          <p:cNvSpPr/>
          <p:nvPr/>
        </p:nvSpPr>
        <p:spPr>
          <a:xfrm>
            <a:off x="539552" y="116632"/>
            <a:ext cx="511607" cy="5452775"/>
          </a:xfrm>
          <a:prstGeom prst="rect">
            <a:avLst/>
          </a:prstGeom>
        </p:spPr>
        <p:txBody>
          <a:bodyPr wrap="square">
            <a:spAutoFit/>
          </a:bodyPr>
          <a:lstStyle/>
          <a:p>
            <a:r>
              <a:rPr lang="zh-CN" altLang="en-US" sz="2400" dirty="0"/>
              <a:t>③</a:t>
            </a:r>
            <a:endParaRPr lang="en-US" altLang="zh-CN" sz="2400" dirty="0"/>
          </a:p>
          <a:p>
            <a:pPr>
              <a:lnSpc>
                <a:spcPct val="150000"/>
              </a:lnSpc>
            </a:pPr>
            <a:endParaRPr lang="en-US" altLang="zh-CN" sz="2400" dirty="0"/>
          </a:p>
          <a:p>
            <a:pPr>
              <a:lnSpc>
                <a:spcPct val="150000"/>
              </a:lnSpc>
            </a:pPr>
            <a:endParaRPr lang="en-US" altLang="zh-CN" sz="2400" dirty="0"/>
          </a:p>
          <a:p>
            <a:pPr>
              <a:lnSpc>
                <a:spcPct val="150000"/>
              </a:lnSpc>
            </a:pPr>
            <a:endParaRPr lang="en-US" altLang="zh-CN" sz="2400" dirty="0"/>
          </a:p>
          <a:p>
            <a:r>
              <a:rPr lang="zh-CN" altLang="en-US" sz="2400" dirty="0"/>
              <a:t>④</a:t>
            </a:r>
            <a:endParaRPr lang="en-US" altLang="zh-CN" sz="2400" dirty="0"/>
          </a:p>
          <a:p>
            <a:pPr>
              <a:lnSpc>
                <a:spcPts val="4200"/>
              </a:lnSpc>
            </a:pPr>
            <a:r>
              <a:rPr lang="zh-CN" altLang="en-US" sz="2400" dirty="0"/>
              <a:t>⑤</a:t>
            </a:r>
            <a:endParaRPr lang="en-US" altLang="zh-CN" sz="2400" dirty="0"/>
          </a:p>
          <a:p>
            <a:endParaRPr lang="en-US" altLang="zh-CN" sz="2400" dirty="0"/>
          </a:p>
          <a:p>
            <a:endParaRPr lang="en-US" altLang="zh-CN" sz="2400" dirty="0"/>
          </a:p>
          <a:p>
            <a:endParaRPr lang="en-US" altLang="zh-CN" sz="2400" dirty="0"/>
          </a:p>
          <a:p>
            <a:r>
              <a:rPr lang="zh-CN" altLang="en-US" sz="2400" dirty="0"/>
              <a:t>⑥</a:t>
            </a:r>
            <a:endParaRPr lang="en-US" altLang="zh-CN" sz="2400" dirty="0"/>
          </a:p>
          <a:p>
            <a:endParaRPr lang="en-US" altLang="zh-CN" sz="2400" dirty="0"/>
          </a:p>
          <a:p>
            <a:pPr>
              <a:lnSpc>
                <a:spcPts val="1900"/>
              </a:lnSpc>
            </a:pPr>
            <a:endParaRPr lang="en-US" altLang="zh-CN" sz="2400" dirty="0"/>
          </a:p>
          <a:p>
            <a:r>
              <a:rPr lang="zh-CN" altLang="en-US" sz="2400" dirty="0"/>
              <a:t>⑦</a:t>
            </a:r>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0402" name="Picture 2" descr="f25-1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2400" y="169863"/>
            <a:ext cx="8915400" cy="660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0403" name="Rectangle 3"/>
          <p:cNvSpPr>
            <a:spLocks noChangeArrowheads="1"/>
          </p:cNvSpPr>
          <p:nvPr/>
        </p:nvSpPr>
        <p:spPr bwMode="auto">
          <a:xfrm>
            <a:off x="76200" y="1981200"/>
            <a:ext cx="2286000" cy="1371600"/>
          </a:xfrm>
          <a:prstGeom prst="rect">
            <a:avLst/>
          </a:prstGeom>
          <a:solidFill>
            <a:schemeClr val="accent1"/>
          </a:solidFill>
          <a:ln w="9525">
            <a:solidFill>
              <a:schemeClr val="tx1"/>
            </a:solidFill>
            <a:miter lim="800000"/>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0404" name="Rectangle 4"/>
          <p:cNvSpPr>
            <a:spLocks noChangeArrowheads="1"/>
          </p:cNvSpPr>
          <p:nvPr/>
        </p:nvSpPr>
        <p:spPr bwMode="auto">
          <a:xfrm>
            <a:off x="155575" y="1965325"/>
            <a:ext cx="2206625"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2000" b="1">
                <a:solidFill>
                  <a:srgbClr val="FFFF00"/>
                </a:solidFill>
              </a:rPr>
              <a:t>RNA primers are</a:t>
            </a:r>
          </a:p>
          <a:p>
            <a:pPr>
              <a:spcBef>
                <a:spcPct val="0"/>
              </a:spcBef>
              <a:buFontTx/>
              <a:buNone/>
            </a:pPr>
            <a:r>
              <a:rPr lang="en-US" altLang="zh-CN" sz="2000" b="1">
                <a:solidFill>
                  <a:srgbClr val="FFFF00"/>
                </a:solidFill>
              </a:rPr>
              <a:t>repeatedly formed</a:t>
            </a:r>
          </a:p>
          <a:p>
            <a:pPr>
              <a:spcBef>
                <a:spcPct val="0"/>
              </a:spcBef>
              <a:buFontTx/>
              <a:buNone/>
            </a:pPr>
            <a:r>
              <a:rPr lang="en-US" altLang="zh-CN" sz="2000" b="1">
                <a:solidFill>
                  <a:srgbClr val="FFFF00"/>
                </a:solidFill>
              </a:rPr>
              <a:t>by the primase on </a:t>
            </a:r>
          </a:p>
          <a:p>
            <a:pPr>
              <a:spcBef>
                <a:spcPct val="0"/>
              </a:spcBef>
              <a:buFontTx/>
              <a:buNone/>
            </a:pPr>
            <a:r>
              <a:rPr lang="en-US" altLang="zh-CN" sz="2000" b="1">
                <a:solidFill>
                  <a:srgbClr val="FFFF00"/>
                </a:solidFill>
              </a:rPr>
              <a:t>the lagging strand.</a:t>
            </a:r>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1426" name="Picture 2" descr="f25-1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9144000" cy="685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1427" name="Rectangle 3"/>
          <p:cNvSpPr>
            <a:spLocks noChangeArrowheads="1"/>
          </p:cNvSpPr>
          <p:nvPr/>
        </p:nvSpPr>
        <p:spPr bwMode="auto">
          <a:xfrm>
            <a:off x="0" y="0"/>
            <a:ext cx="5562600" cy="914400"/>
          </a:xfrm>
          <a:prstGeom prst="rect">
            <a:avLst/>
          </a:prstGeom>
          <a:solidFill>
            <a:schemeClr val="accent1"/>
          </a:solidFill>
          <a:ln w="9525">
            <a:solidFill>
              <a:schemeClr val="tx1"/>
            </a:solidFill>
            <a:miter lim="800000"/>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1428" name="Rectangle 4"/>
          <p:cNvSpPr>
            <a:spLocks noChangeArrowheads="1"/>
          </p:cNvSpPr>
          <p:nvPr/>
        </p:nvSpPr>
        <p:spPr bwMode="auto">
          <a:xfrm>
            <a:off x="0" y="0"/>
            <a:ext cx="5424488"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2000" b="1">
                <a:solidFill>
                  <a:srgbClr val="FFFF00"/>
                </a:solidFill>
              </a:rPr>
              <a:t>DNA polymerase I replaces the RNA primers by</a:t>
            </a:r>
          </a:p>
          <a:p>
            <a:pPr>
              <a:spcBef>
                <a:spcPct val="0"/>
              </a:spcBef>
              <a:buFontTx/>
              <a:buNone/>
            </a:pPr>
            <a:r>
              <a:rPr lang="en-US" altLang="zh-CN" sz="2000" b="1">
                <a:solidFill>
                  <a:srgbClr val="FFFF00"/>
                </a:solidFill>
              </a:rPr>
              <a:t>DNA sequences and DNA ligase seals the nicks</a:t>
            </a:r>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2450" name="Picture 2" descr="f25-16"/>
          <p:cNvPicPr>
            <a:picLocks noChangeAspect="1" noChangeArrowheads="1"/>
          </p:cNvPicPr>
          <p:nvPr/>
        </p:nvPicPr>
        <p:blipFill>
          <a:blip r:embed="rId3" cstate="print">
            <a:lum bright="-30000" contrast="60000"/>
            <a:extLst>
              <a:ext uri="{28A0092B-C50C-407E-A947-70E740481C1C}">
                <a14:useLocalDpi xmlns:a14="http://schemas.microsoft.com/office/drawing/2010/main" val="0"/>
              </a:ext>
            </a:extLst>
          </a:blip>
          <a:srcRect/>
          <a:stretch>
            <a:fillRect/>
          </a:stretch>
        </p:blipFill>
        <p:spPr bwMode="auto">
          <a:xfrm>
            <a:off x="0" y="19050"/>
            <a:ext cx="6019800" cy="569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2451" name="Picture 3" descr="f25-16b"/>
          <p:cNvPicPr>
            <a:picLocks noChangeAspect="1" noChangeArrowheads="1"/>
          </p:cNvPicPr>
          <p:nvPr/>
        </p:nvPicPr>
        <p:blipFill>
          <a:blip r:embed="rId4" cstate="print">
            <a:lum bright="-24000" contrast="48000"/>
            <a:extLst>
              <a:ext uri="{28A0092B-C50C-407E-A947-70E740481C1C}">
                <a14:useLocalDpi xmlns:a14="http://schemas.microsoft.com/office/drawing/2010/main" val="0"/>
              </a:ext>
            </a:extLst>
          </a:blip>
          <a:srcRect/>
          <a:stretch>
            <a:fillRect/>
          </a:stretch>
        </p:blipFill>
        <p:spPr bwMode="auto">
          <a:xfrm>
            <a:off x="5334000" y="2362200"/>
            <a:ext cx="3810000" cy="333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2452" name="Rectangle 4"/>
          <p:cNvSpPr>
            <a:spLocks noChangeArrowheads="1"/>
          </p:cNvSpPr>
          <p:nvPr/>
        </p:nvSpPr>
        <p:spPr bwMode="auto">
          <a:xfrm>
            <a:off x="5334000" y="0"/>
            <a:ext cx="3810000" cy="2514600"/>
          </a:xfrm>
          <a:prstGeom prst="rect">
            <a:avLst/>
          </a:prstGeom>
          <a:solidFill>
            <a:schemeClr val="accent1"/>
          </a:solidFill>
          <a:ln w="9525">
            <a:solidFill>
              <a:schemeClr val="tx1"/>
            </a:solidFill>
            <a:miter lim="800000"/>
          </a:ln>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p>
        </p:txBody>
      </p:sp>
      <p:sp>
        <p:nvSpPr>
          <p:cNvPr id="232453" name="Rectangle 5"/>
          <p:cNvSpPr>
            <a:spLocks noChangeArrowheads="1"/>
          </p:cNvSpPr>
          <p:nvPr/>
        </p:nvSpPr>
        <p:spPr bwMode="auto">
          <a:xfrm>
            <a:off x="5283200" y="11113"/>
            <a:ext cx="3867150" cy="247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en-US" altLang="zh-CN" sz="2600" b="1">
                <a:solidFill>
                  <a:srgbClr val="FFFF00"/>
                </a:solidFill>
              </a:rPr>
              <a:t>DNA ligase  first transfers</a:t>
            </a:r>
          </a:p>
          <a:p>
            <a:pPr>
              <a:spcBef>
                <a:spcPct val="0"/>
              </a:spcBef>
              <a:buFontTx/>
              <a:buNone/>
            </a:pPr>
            <a:r>
              <a:rPr lang="en-US" altLang="zh-CN" sz="2600" b="1">
                <a:solidFill>
                  <a:srgbClr val="FFFF00"/>
                </a:solidFill>
              </a:rPr>
              <a:t>an AMP moiety to the 5`</a:t>
            </a:r>
          </a:p>
          <a:p>
            <a:pPr>
              <a:spcBef>
                <a:spcPct val="0"/>
              </a:spcBef>
              <a:buFontTx/>
              <a:buNone/>
            </a:pPr>
            <a:r>
              <a:rPr lang="en-US" altLang="zh-CN" sz="2600" b="1">
                <a:solidFill>
                  <a:srgbClr val="FFFF00"/>
                </a:solidFill>
              </a:rPr>
              <a:t>phosphate group (from </a:t>
            </a:r>
          </a:p>
          <a:p>
            <a:pPr>
              <a:spcBef>
                <a:spcPct val="0"/>
              </a:spcBef>
              <a:buFontTx/>
              <a:buNone/>
            </a:pPr>
            <a:r>
              <a:rPr lang="en-US" altLang="zh-CN" sz="2600" b="1">
                <a:solidFill>
                  <a:srgbClr val="FFFF00"/>
                </a:solidFill>
              </a:rPr>
              <a:t>NAD</a:t>
            </a:r>
            <a:r>
              <a:rPr lang="en-US" altLang="zh-CN" sz="2600" b="1" baseline="30000">
                <a:solidFill>
                  <a:srgbClr val="FFFF00"/>
                </a:solidFill>
              </a:rPr>
              <a:t>+</a:t>
            </a:r>
            <a:r>
              <a:rPr lang="en-US" altLang="zh-CN" sz="2600" b="1">
                <a:solidFill>
                  <a:srgbClr val="FFFF00"/>
                </a:solidFill>
              </a:rPr>
              <a:t> or ATP) before</a:t>
            </a:r>
          </a:p>
          <a:p>
            <a:pPr>
              <a:spcBef>
                <a:spcPct val="0"/>
              </a:spcBef>
              <a:buFontTx/>
              <a:buNone/>
            </a:pPr>
            <a:r>
              <a:rPr lang="en-US" altLang="zh-CN" sz="2600" b="1">
                <a:solidFill>
                  <a:srgbClr val="FFFF00"/>
                </a:solidFill>
              </a:rPr>
              <a:t>making a phosphodiester</a:t>
            </a:r>
          </a:p>
          <a:p>
            <a:pPr>
              <a:spcBef>
                <a:spcPct val="0"/>
              </a:spcBef>
              <a:buFontTx/>
              <a:buNone/>
            </a:pPr>
            <a:r>
              <a:rPr lang="en-US" altLang="zh-CN" sz="2600" b="1">
                <a:solidFill>
                  <a:srgbClr val="FFFF00"/>
                </a:solidFill>
              </a:rPr>
              <a:t>bond.</a:t>
            </a:r>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Rectangle 2"/>
          <p:cNvSpPr>
            <a:spLocks noGrp="1" noChangeArrowheads="1"/>
          </p:cNvSpPr>
          <p:nvPr>
            <p:ph type="title" idx="4294967295"/>
          </p:nvPr>
        </p:nvSpPr>
        <p:spPr>
          <a:xfrm>
            <a:off x="457200" y="274638"/>
            <a:ext cx="8229600" cy="1143000"/>
          </a:xfrm>
          <a:prstGeom prst="rect">
            <a:avLst/>
          </a:prstGeom>
        </p:spPr>
        <p:txBody>
          <a:bodyPr/>
          <a:lstStyle/>
          <a:p>
            <a:pPr eaLnBrk="1" hangingPunct="1">
              <a:lnSpc>
                <a:spcPct val="80000"/>
              </a:lnSpc>
            </a:pPr>
            <a:r>
              <a:rPr lang="en-US" altLang="zh-CN" sz="4000" b="1" dirty="0">
                <a:solidFill>
                  <a:srgbClr val="FF0000"/>
                </a:solidFill>
              </a:rPr>
              <a:t>12. DNA replication in eukaryotic cells use essentially the same principles but more complex in the details (F4)</a:t>
            </a:r>
          </a:p>
        </p:txBody>
      </p:sp>
      <p:sp>
        <p:nvSpPr>
          <p:cNvPr id="234499" name="Rectangle 3"/>
          <p:cNvSpPr>
            <a:spLocks noGrp="1" noChangeArrowheads="1"/>
          </p:cNvSpPr>
          <p:nvPr>
            <p:ph idx="4294967295"/>
          </p:nvPr>
        </p:nvSpPr>
        <p:spPr>
          <a:xfrm>
            <a:off x="457200" y="1600200"/>
            <a:ext cx="8229600" cy="4525963"/>
          </a:xfrm>
          <a:prstGeom prst="rect">
            <a:avLst/>
          </a:prstGeom>
          <a:noFill/>
        </p:spPr>
        <p:txBody>
          <a:bodyPr/>
          <a:lstStyle/>
          <a:p>
            <a:pPr eaLnBrk="1" hangingPunct="1"/>
            <a:endParaRPr lang="en-US" altLang="zh-CN" b="1" dirty="0"/>
          </a:p>
          <a:p>
            <a:pPr eaLnBrk="1" hangingPunct="1"/>
            <a:r>
              <a:rPr lang="en-US" altLang="zh-CN" b="1" dirty="0"/>
              <a:t>The rate of DNA synthesis in eukaryotic cells is about </a:t>
            </a:r>
            <a:r>
              <a:rPr lang="en-US" altLang="zh-CN" b="1" dirty="0">
                <a:solidFill>
                  <a:srgbClr val="FF0000"/>
                </a:solidFill>
              </a:rPr>
              <a:t>one tenth </a:t>
            </a:r>
            <a:r>
              <a:rPr lang="en-US" altLang="zh-CN" b="1" dirty="0"/>
              <a:t>of that of the </a:t>
            </a:r>
            <a:r>
              <a:rPr lang="en-US" altLang="zh-CN" b="1" i="1" dirty="0"/>
              <a:t>E.coli</a:t>
            </a:r>
            <a:r>
              <a:rPr lang="en-US" altLang="zh-CN" b="1" dirty="0"/>
              <a:t> cells.</a:t>
            </a:r>
          </a:p>
          <a:p>
            <a:pPr eaLnBrk="1" hangingPunct="1"/>
            <a:r>
              <a:rPr lang="en-US" altLang="zh-CN" b="1" dirty="0"/>
              <a:t>Replication in the eukaryotic genomes begin at </a:t>
            </a:r>
            <a:r>
              <a:rPr lang="en-US" altLang="zh-CN" b="1" dirty="0">
                <a:solidFill>
                  <a:srgbClr val="FF0000"/>
                </a:solidFill>
              </a:rPr>
              <a:t>many replication origins</a:t>
            </a:r>
            <a:r>
              <a:rPr lang="en-US" altLang="zh-CN" b="1" dirty="0"/>
              <a:t>.</a:t>
            </a:r>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2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l="9000" t="9334" r="9000" b="6667"/>
          <a:stretch>
            <a:fillRect/>
          </a:stretch>
        </p:blipFill>
        <p:spPr bwMode="auto">
          <a:xfrm>
            <a:off x="2590800" y="228600"/>
            <a:ext cx="62484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23" name="Text Box 3"/>
          <p:cNvSpPr txBox="1">
            <a:spLocks noChangeArrowheads="1"/>
          </p:cNvSpPr>
          <p:nvPr/>
        </p:nvSpPr>
        <p:spPr bwMode="auto">
          <a:xfrm>
            <a:off x="304800" y="4941168"/>
            <a:ext cx="8839200"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FontTx/>
              <a:buNone/>
            </a:pPr>
            <a:r>
              <a:rPr lang="en-US" altLang="zh-CN" sz="2400" b="1" dirty="0"/>
              <a:t>In eukaryotes, the cell  cycle consists of G</a:t>
            </a:r>
            <a:r>
              <a:rPr lang="en-US" altLang="zh-CN" sz="2400" b="1" baseline="-25000" dirty="0"/>
              <a:t>1</a:t>
            </a:r>
            <a:r>
              <a:rPr lang="en-US" altLang="zh-CN" sz="2400" b="1" dirty="0"/>
              <a:t>, S, G</a:t>
            </a:r>
            <a:r>
              <a:rPr lang="en-US" altLang="zh-CN" sz="2400" b="1" baseline="-25000" dirty="0"/>
              <a:t>2</a:t>
            </a:r>
            <a:r>
              <a:rPr lang="en-US" altLang="zh-CN" sz="2400" b="1" dirty="0"/>
              <a:t> and M phases. Quiescent cells are said to be in G</a:t>
            </a:r>
            <a:r>
              <a:rPr lang="en-US" altLang="zh-CN" sz="2400" b="1" baseline="-25000" dirty="0"/>
              <a:t>0</a:t>
            </a:r>
            <a:r>
              <a:rPr lang="en-US" altLang="zh-CN" sz="2400" b="1" dirty="0"/>
              <a:t> phase.</a:t>
            </a:r>
          </a:p>
          <a:p>
            <a:pPr>
              <a:spcBef>
                <a:spcPct val="50000"/>
              </a:spcBef>
              <a:buFontTx/>
              <a:buNone/>
            </a:pPr>
            <a:r>
              <a:rPr lang="en-US" altLang="zh-CN" sz="2400" b="1" dirty="0"/>
              <a:t>                         G (gap);   S (synthesis);   M (mitosis)</a:t>
            </a:r>
          </a:p>
        </p:txBody>
      </p:sp>
      <p:sp>
        <p:nvSpPr>
          <p:cNvPr id="235524" name="Text Box 4"/>
          <p:cNvSpPr txBox="1">
            <a:spLocks noChangeArrowheads="1"/>
          </p:cNvSpPr>
          <p:nvPr/>
        </p:nvSpPr>
        <p:spPr bwMode="auto">
          <a:xfrm>
            <a:off x="0" y="304800"/>
            <a:ext cx="2971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FontTx/>
              <a:buNone/>
            </a:pPr>
            <a:r>
              <a:rPr lang="en-US" altLang="zh-CN" b="1">
                <a:solidFill>
                  <a:srgbClr val="FF0000"/>
                </a:solidFill>
              </a:rPr>
              <a:t>12.1 Cell cycle</a:t>
            </a:r>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6548"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l="9000" t="9000" r="9000" b="9000"/>
          <a:stretch>
            <a:fillRect/>
          </a:stretch>
        </p:blipFill>
        <p:spPr bwMode="auto">
          <a:xfrm>
            <a:off x="990600" y="533400"/>
            <a:ext cx="7467600" cy="560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757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l="8000" t="12666" r="8000" b="18001"/>
          <a:stretch>
            <a:fillRect/>
          </a:stretch>
        </p:blipFill>
        <p:spPr bwMode="auto">
          <a:xfrm>
            <a:off x="685800" y="457200"/>
            <a:ext cx="7848600" cy="4859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8596"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l="6000" t="11333" r="9000" b="16667"/>
          <a:stretch>
            <a:fillRect/>
          </a:stretch>
        </p:blipFill>
        <p:spPr bwMode="auto">
          <a:xfrm>
            <a:off x="533400" y="304800"/>
            <a:ext cx="8001000" cy="508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9620"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l="8000" t="12666" r="8000" b="18001"/>
          <a:stretch>
            <a:fillRect/>
          </a:stretch>
        </p:blipFill>
        <p:spPr bwMode="auto">
          <a:xfrm>
            <a:off x="990600" y="533400"/>
            <a:ext cx="7620000" cy="471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064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l="8000" t="10001" r="8000" b="17999"/>
          <a:stretch>
            <a:fillRect/>
          </a:stretch>
        </p:blipFill>
        <p:spPr bwMode="auto">
          <a:xfrm>
            <a:off x="1295400" y="381000"/>
            <a:ext cx="7086600" cy="455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0643" name="Text Box 3"/>
          <p:cNvSpPr txBox="1">
            <a:spLocks noChangeArrowheads="1"/>
          </p:cNvSpPr>
          <p:nvPr/>
        </p:nvSpPr>
        <p:spPr bwMode="auto">
          <a:xfrm>
            <a:off x="609600" y="5105400"/>
            <a:ext cx="79248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FontTx/>
              <a:buNone/>
            </a:pPr>
            <a:r>
              <a:rPr lang="en-US" altLang="zh-CN"/>
              <a:t>Mitosis and cell division occur in the M phase which lasts for only about 1 h.</a:t>
            </a:r>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Text Box 2"/>
          <p:cNvSpPr txBox="1">
            <a:spLocks noChangeArrowheads="1"/>
          </p:cNvSpPr>
          <p:nvPr/>
        </p:nvSpPr>
        <p:spPr bwMode="auto">
          <a:xfrm>
            <a:off x="914400" y="685800"/>
            <a:ext cx="6019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FontTx/>
              <a:buNone/>
            </a:pPr>
            <a:endParaRPr lang="zh-CN" altLang="zh-CN" sz="2400"/>
          </a:p>
        </p:txBody>
      </p:sp>
      <p:sp>
        <p:nvSpPr>
          <p:cNvPr id="241667" name="Text Box 3"/>
          <p:cNvSpPr txBox="1">
            <a:spLocks noChangeArrowheads="1"/>
          </p:cNvSpPr>
          <p:nvPr/>
        </p:nvSpPr>
        <p:spPr bwMode="auto">
          <a:xfrm>
            <a:off x="0" y="304800"/>
            <a:ext cx="7924800" cy="1801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FontTx/>
              <a:buNone/>
            </a:pPr>
            <a:r>
              <a:rPr lang="en-US" altLang="zh-CN" sz="2800" b="1">
                <a:solidFill>
                  <a:srgbClr val="FF0000"/>
                </a:solidFill>
              </a:rPr>
              <a:t>12.2  DNA replication occurs only in the S phase.</a:t>
            </a:r>
          </a:p>
          <a:p>
            <a:pPr>
              <a:spcBef>
                <a:spcPct val="50000"/>
              </a:spcBef>
              <a:buFontTx/>
              <a:buNone/>
            </a:pPr>
            <a:r>
              <a:rPr lang="en-US" altLang="zh-CN" sz="2800"/>
              <a:t>   many chromosomal origins (multiple replicons);   </a:t>
            </a:r>
          </a:p>
          <a:p>
            <a:pPr>
              <a:spcBef>
                <a:spcPct val="50000"/>
              </a:spcBef>
              <a:buFontTx/>
              <a:buNone/>
            </a:pPr>
            <a:r>
              <a:rPr lang="en-US" altLang="zh-CN" sz="2800"/>
              <a:t>    bi-directional;  semi-conservative</a:t>
            </a:r>
          </a:p>
        </p:txBody>
      </p:sp>
      <p:pic>
        <p:nvPicPr>
          <p:cNvPr id="241668"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t="10667" b="10666"/>
          <a:stretch>
            <a:fillRect/>
          </a:stretch>
        </p:blipFill>
        <p:spPr bwMode="auto">
          <a:xfrm>
            <a:off x="685800" y="2133600"/>
            <a:ext cx="762000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1669" name="Text Box 5"/>
          <p:cNvSpPr txBox="1">
            <a:spLocks noChangeArrowheads="1"/>
          </p:cNvSpPr>
          <p:nvPr/>
        </p:nvSpPr>
        <p:spPr bwMode="auto">
          <a:xfrm>
            <a:off x="7543800" y="1752600"/>
            <a:ext cx="1600200" cy="82232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FontTx/>
              <a:buNone/>
            </a:pPr>
            <a:r>
              <a:rPr lang="en-US" altLang="zh-CN" sz="2400"/>
              <a:t>Replication bubble</a:t>
            </a:r>
          </a:p>
        </p:txBody>
      </p:sp>
      <p:sp>
        <p:nvSpPr>
          <p:cNvPr id="241670" name="Line 6"/>
          <p:cNvSpPr>
            <a:spLocks noChangeShapeType="1"/>
          </p:cNvSpPr>
          <p:nvPr/>
        </p:nvSpPr>
        <p:spPr bwMode="auto">
          <a:xfrm flipV="1">
            <a:off x="6858000" y="2514600"/>
            <a:ext cx="1447800" cy="1066800"/>
          </a:xfrm>
          <a:prstGeom prst="line">
            <a:avLst/>
          </a:prstGeom>
          <a:noFill/>
          <a:ln w="28575">
            <a:solidFill>
              <a:schemeClr val="bg1"/>
            </a:solidFill>
            <a:round/>
            <a:headEnd type="triangle" w="med" len="me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Text Box 2"/>
          <p:cNvSpPr txBox="1">
            <a:spLocks noChangeArrowheads="1"/>
          </p:cNvSpPr>
          <p:nvPr/>
        </p:nvSpPr>
        <p:spPr bwMode="auto">
          <a:xfrm>
            <a:off x="533400" y="304800"/>
            <a:ext cx="81534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FontTx/>
              <a:buNone/>
            </a:pPr>
            <a:r>
              <a:rPr lang="en-US" altLang="zh-CN" sz="2800" b="1">
                <a:solidFill>
                  <a:srgbClr val="FF0000"/>
                </a:solidFill>
              </a:rPr>
              <a:t>12.3 Eukaryotic cells contain five different DNA polymerases</a:t>
            </a:r>
          </a:p>
        </p:txBody>
      </p:sp>
      <p:sp>
        <p:nvSpPr>
          <p:cNvPr id="242691" name="Text Box 3"/>
          <p:cNvSpPr txBox="1">
            <a:spLocks noChangeArrowheads="1"/>
          </p:cNvSpPr>
          <p:nvPr/>
        </p:nvSpPr>
        <p:spPr bwMode="auto">
          <a:xfrm>
            <a:off x="685800" y="1752600"/>
            <a:ext cx="8153400" cy="257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120000"/>
              </a:lnSpc>
              <a:spcBef>
                <a:spcPct val="50000"/>
              </a:spcBef>
              <a:buFontTx/>
              <a:buNone/>
            </a:pPr>
            <a:r>
              <a:rPr lang="en-US" altLang="zh-CN" sz="2800" b="1"/>
              <a:t>DNA polymerases </a:t>
            </a:r>
            <a:r>
              <a:rPr lang="en-US" altLang="zh-CN" sz="2800" b="1">
                <a:solidFill>
                  <a:srgbClr val="FF0000"/>
                </a:solidFill>
                <a:sym typeface="Symbol" panose="05050102010706020507" pitchFamily="18" charset="2"/>
              </a:rPr>
              <a:t> </a:t>
            </a:r>
            <a:r>
              <a:rPr lang="en-US" altLang="zh-CN" sz="2800" b="1">
                <a:solidFill>
                  <a:srgbClr val="FF0000"/>
                </a:solidFill>
              </a:rPr>
              <a:t>and </a:t>
            </a:r>
            <a:r>
              <a:rPr lang="en-US" altLang="zh-CN" sz="2800" b="1">
                <a:solidFill>
                  <a:srgbClr val="FF0000"/>
                </a:solidFill>
                <a:sym typeface="Symbol" panose="05050102010706020507" pitchFamily="18" charset="2"/>
              </a:rPr>
              <a:t></a:t>
            </a:r>
            <a:r>
              <a:rPr lang="en-US" altLang="zh-CN" sz="2800" b="1"/>
              <a:t> replicate chromosomal DNA</a:t>
            </a:r>
          </a:p>
          <a:p>
            <a:pPr>
              <a:lnSpc>
                <a:spcPct val="120000"/>
              </a:lnSpc>
              <a:spcBef>
                <a:spcPct val="50000"/>
              </a:spcBef>
              <a:buFontTx/>
              <a:buNone/>
            </a:pPr>
            <a:r>
              <a:rPr lang="en-US" altLang="zh-CN" sz="2800" b="1"/>
              <a:t> DNA polymerases </a:t>
            </a:r>
            <a:r>
              <a:rPr lang="en-US" altLang="zh-CN" sz="2800" b="1">
                <a:solidFill>
                  <a:srgbClr val="FF0000"/>
                </a:solidFill>
                <a:sym typeface="Symbol" panose="05050102010706020507" pitchFamily="18" charset="2"/>
              </a:rPr>
              <a:t></a:t>
            </a:r>
            <a:r>
              <a:rPr lang="en-US" altLang="zh-CN" sz="2800" b="1">
                <a:solidFill>
                  <a:srgbClr val="FF0000"/>
                </a:solidFill>
              </a:rPr>
              <a:t> and </a:t>
            </a:r>
            <a:r>
              <a:rPr lang="en-US" altLang="zh-CN" sz="2800" b="1">
                <a:solidFill>
                  <a:srgbClr val="FF0000"/>
                </a:solidFill>
                <a:sym typeface="Symbol" panose="05050102010706020507" pitchFamily="18" charset="2"/>
              </a:rPr>
              <a:t></a:t>
            </a:r>
            <a:r>
              <a:rPr lang="en-US" altLang="zh-CN" sz="2800" b="1"/>
              <a:t> repair DNA</a:t>
            </a:r>
          </a:p>
          <a:p>
            <a:pPr>
              <a:lnSpc>
                <a:spcPct val="120000"/>
              </a:lnSpc>
              <a:spcBef>
                <a:spcPct val="50000"/>
              </a:spcBef>
              <a:buFontTx/>
              <a:buNone/>
            </a:pPr>
            <a:r>
              <a:rPr lang="en-US" altLang="zh-CN" sz="2800" b="1"/>
              <a:t> DNA polymerase </a:t>
            </a:r>
            <a:r>
              <a:rPr lang="en-US" altLang="zh-CN" sz="2800" b="1">
                <a:solidFill>
                  <a:srgbClr val="FF0000"/>
                </a:solidFill>
                <a:sym typeface="Symbol" panose="05050102010706020507" pitchFamily="18" charset="2"/>
              </a:rPr>
              <a:t></a:t>
            </a:r>
            <a:r>
              <a:rPr lang="en-US" altLang="zh-CN" sz="2800" b="1"/>
              <a:t> replicates mitochondral DNA.</a:t>
            </a:r>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Text Box 2"/>
          <p:cNvSpPr txBox="1">
            <a:spLocks noChangeArrowheads="1"/>
          </p:cNvSpPr>
          <p:nvPr/>
        </p:nvSpPr>
        <p:spPr bwMode="auto">
          <a:xfrm>
            <a:off x="0" y="533400"/>
            <a:ext cx="8001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FontTx/>
              <a:buNone/>
            </a:pPr>
            <a:r>
              <a:rPr lang="en-US" altLang="zh-CN" sz="2800" b="1" dirty="0">
                <a:solidFill>
                  <a:srgbClr val="FF0000"/>
                </a:solidFill>
              </a:rPr>
              <a:t>12.4  Telomere replication (</a:t>
            </a:r>
            <a:r>
              <a:rPr lang="zh-CN" altLang="en-US" sz="2800" b="1" dirty="0">
                <a:solidFill>
                  <a:srgbClr val="FF0000"/>
                </a:solidFill>
              </a:rPr>
              <a:t>端粒复制）</a:t>
            </a:r>
          </a:p>
        </p:txBody>
      </p:sp>
      <p:sp>
        <p:nvSpPr>
          <p:cNvPr id="243715" name="Text Box 3"/>
          <p:cNvSpPr txBox="1">
            <a:spLocks noChangeArrowheads="1"/>
          </p:cNvSpPr>
          <p:nvPr/>
        </p:nvSpPr>
        <p:spPr bwMode="auto">
          <a:xfrm>
            <a:off x="228600" y="1340768"/>
            <a:ext cx="8534400" cy="453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130000"/>
              </a:lnSpc>
              <a:spcBef>
                <a:spcPct val="50000"/>
              </a:spcBef>
              <a:buFontTx/>
              <a:buNone/>
            </a:pPr>
            <a:r>
              <a:rPr lang="en-US" altLang="zh-CN" sz="2800" b="1" dirty="0"/>
              <a:t>Different with the circular DNA in bacteria, eukaryotic DNA is a linear molecule. According to the mechanism of replication, the  3’ end of  lagging chain is not replicated. This creates a gap at the end of the chromosome and therefore a shortening of the double-stranded replicated portion. In many organisms the solution is to use an enzyme called </a:t>
            </a:r>
            <a:r>
              <a:rPr lang="en-US" altLang="zh-CN" sz="2800" b="1" dirty="0">
                <a:solidFill>
                  <a:srgbClr val="FF0000"/>
                </a:solidFill>
              </a:rPr>
              <a:t>telomerase</a:t>
            </a:r>
            <a:r>
              <a:rPr lang="en-US" altLang="zh-CN" sz="2800" b="1" dirty="0"/>
              <a:t> (</a:t>
            </a:r>
            <a:r>
              <a:rPr lang="zh-CN" altLang="en-US" sz="2800" b="1" dirty="0"/>
              <a:t>端粒酶）</a:t>
            </a:r>
            <a:r>
              <a:rPr lang="en-US" altLang="zh-CN" sz="2800" b="1" dirty="0"/>
              <a:t>to replicate the chromosome ends (</a:t>
            </a:r>
            <a:r>
              <a:rPr lang="en-US" altLang="zh-CN" sz="2800" b="1" dirty="0">
                <a:solidFill>
                  <a:srgbClr val="FF0000"/>
                </a:solidFill>
              </a:rPr>
              <a:t>telomeres</a:t>
            </a:r>
            <a:r>
              <a:rPr lang="en-US" altLang="zh-CN" sz="2800" b="1" dirty="0"/>
              <a:t>).</a:t>
            </a:r>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4738" name="Picture 2" descr="f25-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219200"/>
            <a:ext cx="9144000" cy="441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3" name="Text Box 3"/>
          <p:cNvSpPr txBox="1">
            <a:spLocks noChangeArrowheads="1"/>
          </p:cNvSpPr>
          <p:nvPr/>
        </p:nvSpPr>
        <p:spPr bwMode="auto">
          <a:xfrm>
            <a:off x="5940152" y="762000"/>
            <a:ext cx="2822848" cy="5217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120000"/>
              </a:lnSpc>
              <a:spcBef>
                <a:spcPct val="50000"/>
              </a:spcBef>
              <a:buFontTx/>
              <a:buNone/>
            </a:pPr>
            <a:r>
              <a:rPr lang="en-US" altLang="zh-CN" sz="2800" dirty="0"/>
              <a:t>Telomerase, a DNA polymerase that contains an integral RNA that acts as its own primer, is used to replicate DNA at the ends of chromosomes (telomeres).</a:t>
            </a:r>
          </a:p>
        </p:txBody>
      </p:sp>
      <p:pic>
        <p:nvPicPr>
          <p:cNvPr id="2" name="图片 1"/>
          <p:cNvPicPr>
            <a:picLocks noChangeAspect="1"/>
          </p:cNvPicPr>
          <p:nvPr/>
        </p:nvPicPr>
        <p:blipFill rotWithShape="1">
          <a:blip r:embed="rId2"/>
          <a:srcRect b="47900"/>
          <a:stretch>
            <a:fillRect/>
          </a:stretch>
        </p:blipFill>
        <p:spPr>
          <a:xfrm>
            <a:off x="48126" y="762000"/>
            <a:ext cx="5760640" cy="5056213"/>
          </a:xfrm>
          <a:prstGeom prst="rect">
            <a:avLst/>
          </a:prstGeom>
        </p:spPr>
      </p:pic>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2"/>
          <a:srcRect t="42650"/>
          <a:stretch>
            <a:fillRect/>
          </a:stretch>
        </p:blipFill>
        <p:spPr>
          <a:xfrm>
            <a:off x="971600" y="201215"/>
            <a:ext cx="6912768" cy="6678852"/>
          </a:xfrm>
          <a:prstGeom prst="rect">
            <a:avLst/>
          </a:prstGeom>
        </p:spPr>
      </p:pic>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Text Box 2"/>
          <p:cNvSpPr txBox="1">
            <a:spLocks noChangeArrowheads="1"/>
          </p:cNvSpPr>
          <p:nvPr/>
        </p:nvSpPr>
        <p:spPr bwMode="auto">
          <a:xfrm>
            <a:off x="304800" y="533400"/>
            <a:ext cx="84582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FontTx/>
              <a:buNone/>
            </a:pPr>
            <a:r>
              <a:rPr lang="en-US" altLang="zh-CN" sz="2800" b="1">
                <a:solidFill>
                  <a:srgbClr val="FF0000"/>
                </a:solidFill>
              </a:rPr>
              <a:t>12.5 Nucleosomes do not dissociate from the DNA during DNA replication.</a:t>
            </a:r>
          </a:p>
        </p:txBody>
      </p:sp>
      <p:sp>
        <p:nvSpPr>
          <p:cNvPr id="247811" name="Text Box 3"/>
          <p:cNvSpPr txBox="1">
            <a:spLocks noChangeArrowheads="1"/>
          </p:cNvSpPr>
          <p:nvPr/>
        </p:nvSpPr>
        <p:spPr bwMode="auto">
          <a:xfrm>
            <a:off x="533400" y="1412776"/>
            <a:ext cx="8001000" cy="4706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120000"/>
              </a:lnSpc>
              <a:spcBef>
                <a:spcPct val="50000"/>
              </a:spcBef>
              <a:buFontTx/>
              <a:buNone/>
            </a:pPr>
            <a:r>
              <a:rPr lang="en-US" altLang="zh-CN" sz="2800" b="1" dirty="0"/>
              <a:t>When a chromosome is replicated, the histones stay in place but somehow must allow the replication machinery to pass through and make new DNA. One suggestion is that the nucleosome histone octamer transiently unfolds into two half-nucleosomes to allow the replication machinery access to the DNA. The new DNA must also be packaged into nucleosomes and so histones are also synthesized during the S phase of the cell cycle.</a:t>
            </a:r>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8834" name="Picture 2"/>
          <p:cNvPicPr>
            <a:picLocks noChangeAspect="1" noChangeArrowheads="1"/>
          </p:cNvPicPr>
          <p:nvPr/>
        </p:nvPicPr>
        <p:blipFill>
          <a:blip r:embed="rId2" cstate="print">
            <a:lum bright="-36000" contrast="42000"/>
            <a:extLst>
              <a:ext uri="{28A0092B-C50C-407E-A947-70E740481C1C}">
                <a14:useLocalDpi xmlns:a14="http://schemas.microsoft.com/office/drawing/2010/main" val="0"/>
              </a:ext>
            </a:extLst>
          </a:blip>
          <a:srcRect t="3914" b="3133"/>
          <a:stretch>
            <a:fillRect/>
          </a:stretch>
        </p:blipFill>
        <p:spPr bwMode="auto">
          <a:xfrm>
            <a:off x="428625" y="285750"/>
            <a:ext cx="8550275" cy="6357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8835" name="TextBox 2"/>
          <p:cNvSpPr txBox="1">
            <a:spLocks noChangeArrowheads="1"/>
          </p:cNvSpPr>
          <p:nvPr/>
        </p:nvSpPr>
        <p:spPr bwMode="auto">
          <a:xfrm>
            <a:off x="357188" y="323850"/>
            <a:ext cx="17240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400" b="1"/>
              <a:t>逆转录病毒</a:t>
            </a:r>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419872" y="2276872"/>
            <a:ext cx="2736304" cy="1754326"/>
          </a:xfrm>
          <a:prstGeom prst="rect">
            <a:avLst/>
          </a:prstGeom>
          <a:noFill/>
        </p:spPr>
        <p:txBody>
          <a:bodyPr wrap="square" rtlCol="0">
            <a:spAutoFit/>
          </a:bodyPr>
          <a:lstStyle/>
          <a:p>
            <a:pPr algn="ctr"/>
            <a:r>
              <a:rPr lang="en-US" altLang="zh-CN" sz="5400" dirty="0"/>
              <a:t>END</a:t>
            </a:r>
          </a:p>
          <a:p>
            <a:pPr algn="ctr"/>
            <a:endParaRPr lang="en-US" altLang="zh-CN" dirty="0"/>
          </a:p>
          <a:p>
            <a:pPr algn="ctr"/>
            <a:r>
              <a:rPr lang="en-US" altLang="zh-CN" sz="3600" dirty="0"/>
              <a:t>Thank you</a:t>
            </a:r>
            <a:endParaRPr lang="zh-CN" altLang="en-US" sz="3600" dirty="0"/>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755576" y="980728"/>
            <a:ext cx="7272808" cy="2031325"/>
          </a:xfrm>
          <a:prstGeom prst="rect">
            <a:avLst/>
          </a:prstGeom>
          <a:noFill/>
        </p:spPr>
        <p:txBody>
          <a:bodyPr wrap="square" rtlCol="0">
            <a:spAutoFit/>
          </a:bodyPr>
          <a:lstStyle/>
          <a:p>
            <a:r>
              <a:rPr lang="en-US" altLang="zh-CN" dirty="0"/>
              <a:t>Date</a:t>
            </a:r>
            <a:r>
              <a:rPr lang="zh-CN" altLang="en-US" dirty="0"/>
              <a:t>：</a:t>
            </a:r>
            <a:r>
              <a:rPr lang="en-US" altLang="zh-CN" dirty="0"/>
              <a:t>2018/10/18</a:t>
            </a:r>
          </a:p>
          <a:p>
            <a:endParaRPr lang="en-US" altLang="zh-CN" dirty="0"/>
          </a:p>
          <a:p>
            <a:r>
              <a:rPr lang="en-US" altLang="zh-CN" dirty="0"/>
              <a:t>Name</a:t>
            </a:r>
            <a:r>
              <a:rPr lang="zh-CN" altLang="en-US" dirty="0"/>
              <a:t>：                         </a:t>
            </a:r>
            <a:r>
              <a:rPr lang="en-US" altLang="zh-CN" dirty="0"/>
              <a:t>Student number</a:t>
            </a:r>
            <a:r>
              <a:rPr lang="zh-CN" altLang="en-US" dirty="0"/>
              <a:t>：                             </a:t>
            </a:r>
            <a:r>
              <a:rPr lang="en-US" altLang="zh-CN" dirty="0"/>
              <a:t>Class</a:t>
            </a:r>
            <a:r>
              <a:rPr lang="zh-CN" altLang="en-US" dirty="0"/>
              <a:t>：</a:t>
            </a:r>
            <a:endParaRPr lang="en-US" altLang="zh-CN" dirty="0"/>
          </a:p>
          <a:p>
            <a:endParaRPr lang="en-US" altLang="zh-CN" dirty="0"/>
          </a:p>
          <a:p>
            <a:r>
              <a:rPr lang="en-US" altLang="zh-CN" dirty="0"/>
              <a:t>Q: How does a DNA molecule replicate with high fidelity in E. coli ?</a:t>
            </a:r>
          </a:p>
          <a:p>
            <a:endParaRPr lang="en-US" altLang="zh-CN" dirty="0"/>
          </a:p>
          <a:p>
            <a:r>
              <a:rPr lang="en-US" altLang="zh-CN" dirty="0"/>
              <a:t>A</a:t>
            </a:r>
            <a:r>
              <a:rPr lang="zh-CN" altLang="en-US" dirty="0"/>
              <a:t>：            </a:t>
            </a:r>
          </a:p>
        </p:txBody>
      </p:sp>
    </p:spTree>
  </p:cSld>
  <p:clrMapOvr>
    <a:masterClrMapping/>
  </p:clrMapOvr>
</p:sld>
</file>

<file path=ppt/theme/theme1.xml><?xml version="1.0" encoding="utf-8"?>
<a:theme xmlns:a="http://schemas.openxmlformats.org/drawingml/2006/main" name="shan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shand</Template>
  <TotalTime>7744</TotalTime>
  <Words>5369</Words>
  <Application>Microsoft Office PowerPoint</Application>
  <PresentationFormat>全屏显示(4:3)</PresentationFormat>
  <Paragraphs>639</Paragraphs>
  <Slides>195</Slides>
  <Notes>99</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1</vt:i4>
      </vt:variant>
      <vt:variant>
        <vt:lpstr>幻灯片标题</vt:lpstr>
      </vt:variant>
      <vt:variant>
        <vt:i4>195</vt:i4>
      </vt:variant>
    </vt:vector>
  </HeadingPairs>
  <TitlesOfParts>
    <vt:vector size="210" baseType="lpstr">
      <vt:lpstr>Whitney-Light</vt:lpstr>
      <vt:lpstr>Whitney-LightItalic</vt:lpstr>
      <vt:lpstr>华文中宋</vt:lpstr>
      <vt:lpstr>楷体_GB2312</vt:lpstr>
      <vt:lpstr>宋体</vt:lpstr>
      <vt:lpstr>arial</vt:lpstr>
      <vt:lpstr>arial</vt:lpstr>
      <vt:lpstr>Calibri</vt:lpstr>
      <vt:lpstr>Goudy Old Style</vt:lpstr>
      <vt:lpstr>Impact</vt:lpstr>
      <vt:lpstr>Symbol</vt:lpstr>
      <vt:lpstr>Tahoma</vt:lpstr>
      <vt:lpstr>Times New Roman</vt:lpstr>
      <vt:lpstr>shand</vt:lpstr>
      <vt:lpstr>Image</vt:lpstr>
      <vt:lpstr>Section F    DNA structure and replication</vt:lpstr>
      <vt:lpstr>PowerPoint 演示文稿</vt:lpstr>
      <vt:lpstr>PowerPoint 演示文稿</vt:lpstr>
      <vt:lpstr>PowerPoint 演示文稿</vt:lpstr>
      <vt:lpstr>Section F DNA structure and replication</vt:lpstr>
      <vt:lpstr>Section F1 and G1  DNA (RNA) structure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Deoxyribose and Ribose</vt:lpstr>
      <vt:lpstr>The atoms in the 5-carbon sugar  are also numbered.</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DNA的Tm值与下列因素有关</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DNA Replication  (F3F4)</vt:lpstr>
      <vt:lpstr>1. The deduced double helix structure of DNA revealed the possible ways for its replication (1953)</vt:lpstr>
      <vt:lpstr>2. DNA replication was proved to be semiconservative by the Meselson-Stahl experiment using E. coli cells (1957)</vt:lpstr>
      <vt:lpstr>PowerPoint 演示文稿</vt:lpstr>
      <vt:lpstr>PowerPoint 演示文稿</vt:lpstr>
      <vt:lpstr>3. A variety of simple questions were asked about DNA replication</vt:lpstr>
      <vt:lpstr>4. Autoradiography studies: daughter strands are synthesized immediately after parental strands separate </vt:lpstr>
      <vt:lpstr>PowerPoint 演示文稿</vt:lpstr>
      <vt:lpstr>PowerPoint 演示文稿</vt:lpstr>
      <vt:lpstr>PowerPoint 演示文稿</vt:lpstr>
      <vt:lpstr>5. DNA replication was found to begin at specific sites and proceed bidirectionally</vt:lpstr>
      <vt:lpstr>6. The chemistry of DNA polymerization was revealed by in vitro studies using a DNA polymerase purified from E. coli</vt:lpstr>
      <vt:lpstr>PowerPoint 演示文稿</vt:lpstr>
      <vt:lpstr>PowerPoint 演示文稿</vt:lpstr>
      <vt:lpstr>7. DNA polymerase I has 3`     5`, as well as 5`     3` exonuclease activities</vt:lpstr>
      <vt:lpstr>7. DNA polymerase I has 3`     5`, as well as 5`     3` exonuclease activities</vt:lpstr>
      <vt:lpstr>PowerPoint 演示文稿</vt:lpstr>
      <vt:lpstr>PowerPoint 演示文稿</vt:lpstr>
      <vt:lpstr>8. DNA polymerase I was found to be not responsible for DNA replication in E. coli cells</vt:lpstr>
      <vt:lpstr>PowerPoint 演示文稿</vt:lpstr>
      <vt:lpstr>9. The synthesis of the two daughter DNA strands was found to be semidiscontinuous</vt:lpstr>
      <vt:lpstr>PowerPoint 演示文稿</vt:lpstr>
      <vt:lpstr>PowerPoint 演示文稿</vt:lpstr>
      <vt:lpstr>10. DNA polymerase III is responsible for DNA replication in E.coli cells</vt:lpstr>
      <vt:lpstr>PowerPoint 演示文稿</vt:lpstr>
      <vt:lpstr>PowerPoint 演示文稿</vt:lpstr>
      <vt:lpstr>11. DNA polymerase III and many other proteins are part of the replisome for DNA replication in E.coli cells</vt:lpstr>
      <vt:lpstr>PowerPoint 演示文稿</vt:lpstr>
      <vt:lpstr>PowerPoint 演示文稿</vt:lpstr>
      <vt:lpstr>PowerPoint 演示文稿</vt:lpstr>
      <vt:lpstr>PowerPoint 演示文稿</vt:lpstr>
      <vt:lpstr>12. DNA replication in eukaryotic cells use essentially the same principles but more complex in the details (F4)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admin</dc:creator>
  <cp:lastModifiedBy>admin</cp:lastModifiedBy>
  <cp:revision>162</cp:revision>
  <dcterms:created xsi:type="dcterms:W3CDTF">2014-10-13T11:37:00Z</dcterms:created>
  <dcterms:modified xsi:type="dcterms:W3CDTF">2023-10-16T05:49:39Z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2052-11.1.0.9098</vt:lpwstr>
  </property>
</Properties>
</file>