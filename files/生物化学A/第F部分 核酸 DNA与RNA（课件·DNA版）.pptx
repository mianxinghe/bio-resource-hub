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4"/>
  </p:notesMasterIdLst>
  <p:handoutMasterIdLst>
    <p:handoutMasterId r:id="rId195"/>
  </p:handoutMasterIdLst>
  <p:sldIdLst>
    <p:sldId id="256" r:id="rId2"/>
    <p:sldId id="269" r:id="rId3"/>
    <p:sldId id="268" r:id="rId4"/>
    <p:sldId id="273" r:id="rId5"/>
    <p:sldId id="266" r:id="rId6"/>
    <p:sldId id="267" r:id="rId7"/>
    <p:sldId id="277" r:id="rId8"/>
    <p:sldId id="466" r:id="rId9"/>
    <p:sldId id="499" r:id="rId10"/>
    <p:sldId id="467" r:id="rId11"/>
    <p:sldId id="468" r:id="rId12"/>
    <p:sldId id="279" r:id="rId13"/>
    <p:sldId id="280" r:id="rId14"/>
    <p:sldId id="469" r:id="rId15"/>
    <p:sldId id="281" r:id="rId16"/>
    <p:sldId id="284" r:id="rId17"/>
    <p:sldId id="282" r:id="rId18"/>
    <p:sldId id="283" r:id="rId19"/>
    <p:sldId id="285" r:id="rId20"/>
    <p:sldId id="286" r:id="rId21"/>
    <p:sldId id="287" r:id="rId22"/>
    <p:sldId id="288" r:id="rId23"/>
    <p:sldId id="289" r:id="rId24"/>
    <p:sldId id="290" r:id="rId25"/>
    <p:sldId id="291" r:id="rId26"/>
    <p:sldId id="292" r:id="rId27"/>
    <p:sldId id="293" r:id="rId28"/>
    <p:sldId id="294" r:id="rId29"/>
    <p:sldId id="295" r:id="rId30"/>
    <p:sldId id="297" r:id="rId31"/>
    <p:sldId id="298" r:id="rId32"/>
    <p:sldId id="299" r:id="rId33"/>
    <p:sldId id="300" r:id="rId34"/>
    <p:sldId id="301" r:id="rId35"/>
    <p:sldId id="296" r:id="rId36"/>
    <p:sldId id="304" r:id="rId37"/>
    <p:sldId id="305" r:id="rId38"/>
    <p:sldId id="306" r:id="rId39"/>
    <p:sldId id="307" r:id="rId40"/>
    <p:sldId id="308" r:id="rId41"/>
    <p:sldId id="309" r:id="rId42"/>
    <p:sldId id="310" r:id="rId43"/>
    <p:sldId id="312" r:id="rId44"/>
    <p:sldId id="313" r:id="rId45"/>
    <p:sldId id="314" r:id="rId46"/>
    <p:sldId id="315" r:id="rId47"/>
    <p:sldId id="316" r:id="rId48"/>
    <p:sldId id="317" r:id="rId49"/>
    <p:sldId id="494" r:id="rId50"/>
    <p:sldId id="319" r:id="rId51"/>
    <p:sldId id="320" r:id="rId52"/>
    <p:sldId id="321" r:id="rId53"/>
    <p:sldId id="322" r:id="rId54"/>
    <p:sldId id="471" r:id="rId55"/>
    <p:sldId id="323" r:id="rId56"/>
    <p:sldId id="500" r:id="rId57"/>
    <p:sldId id="324" r:id="rId58"/>
    <p:sldId id="325" r:id="rId59"/>
    <p:sldId id="326" r:id="rId60"/>
    <p:sldId id="327" r:id="rId61"/>
    <p:sldId id="328" r:id="rId62"/>
    <p:sldId id="329" r:id="rId63"/>
    <p:sldId id="330" r:id="rId64"/>
    <p:sldId id="331" r:id="rId65"/>
    <p:sldId id="332" r:id="rId66"/>
    <p:sldId id="333" r:id="rId67"/>
    <p:sldId id="334" r:id="rId68"/>
    <p:sldId id="501" r:id="rId69"/>
    <p:sldId id="502" r:id="rId70"/>
    <p:sldId id="335" r:id="rId71"/>
    <p:sldId id="336" r:id="rId72"/>
    <p:sldId id="337" r:id="rId73"/>
    <p:sldId id="338" r:id="rId74"/>
    <p:sldId id="345" r:id="rId75"/>
    <p:sldId id="346" r:id="rId76"/>
    <p:sldId id="347" r:id="rId77"/>
    <p:sldId id="343" r:id="rId78"/>
    <p:sldId id="349" r:id="rId79"/>
    <p:sldId id="498" r:id="rId80"/>
    <p:sldId id="348" r:id="rId81"/>
    <p:sldId id="350" r:id="rId82"/>
    <p:sldId id="351" r:id="rId83"/>
    <p:sldId id="352" r:id="rId84"/>
    <p:sldId id="353" r:id="rId85"/>
    <p:sldId id="354" r:id="rId86"/>
    <p:sldId id="355" r:id="rId87"/>
    <p:sldId id="356" r:id="rId88"/>
    <p:sldId id="357" r:id="rId89"/>
    <p:sldId id="358" r:id="rId90"/>
    <p:sldId id="302" r:id="rId91"/>
    <p:sldId id="359" r:id="rId92"/>
    <p:sldId id="362" r:id="rId93"/>
    <p:sldId id="360" r:id="rId94"/>
    <p:sldId id="361" r:id="rId95"/>
    <p:sldId id="365" r:id="rId96"/>
    <p:sldId id="367" r:id="rId97"/>
    <p:sldId id="368" r:id="rId98"/>
    <p:sldId id="363" r:id="rId99"/>
    <p:sldId id="369" r:id="rId100"/>
    <p:sldId id="370" r:id="rId101"/>
    <p:sldId id="371" r:id="rId102"/>
    <p:sldId id="372" r:id="rId103"/>
    <p:sldId id="373" r:id="rId104"/>
    <p:sldId id="375" r:id="rId105"/>
    <p:sldId id="376" r:id="rId106"/>
    <p:sldId id="377" r:id="rId107"/>
    <p:sldId id="378" r:id="rId108"/>
    <p:sldId id="379" r:id="rId109"/>
    <p:sldId id="381" r:id="rId110"/>
    <p:sldId id="383" r:id="rId111"/>
    <p:sldId id="384" r:id="rId112"/>
    <p:sldId id="385" r:id="rId113"/>
    <p:sldId id="386" r:id="rId114"/>
    <p:sldId id="387" r:id="rId115"/>
    <p:sldId id="388" r:id="rId116"/>
    <p:sldId id="390" r:id="rId117"/>
    <p:sldId id="391" r:id="rId118"/>
    <p:sldId id="389" r:id="rId119"/>
    <p:sldId id="392" r:id="rId120"/>
    <p:sldId id="393" r:id="rId121"/>
    <p:sldId id="394" r:id="rId122"/>
    <p:sldId id="395" r:id="rId123"/>
    <p:sldId id="396" r:id="rId124"/>
    <p:sldId id="397" r:id="rId125"/>
    <p:sldId id="398" r:id="rId126"/>
    <p:sldId id="399" r:id="rId127"/>
    <p:sldId id="400" r:id="rId128"/>
    <p:sldId id="401" r:id="rId129"/>
    <p:sldId id="402" r:id="rId130"/>
    <p:sldId id="403" r:id="rId131"/>
    <p:sldId id="404" r:id="rId132"/>
    <p:sldId id="405" r:id="rId133"/>
    <p:sldId id="406" r:id="rId134"/>
    <p:sldId id="407" r:id="rId135"/>
    <p:sldId id="408" r:id="rId136"/>
    <p:sldId id="409" r:id="rId137"/>
    <p:sldId id="410" r:id="rId138"/>
    <p:sldId id="411" r:id="rId139"/>
    <p:sldId id="412" r:id="rId140"/>
    <p:sldId id="413" r:id="rId141"/>
    <p:sldId id="414" r:id="rId142"/>
    <p:sldId id="416" r:id="rId143"/>
    <p:sldId id="417" r:id="rId144"/>
    <p:sldId id="418" r:id="rId145"/>
    <p:sldId id="419" r:id="rId146"/>
    <p:sldId id="420" r:id="rId147"/>
    <p:sldId id="421" r:id="rId148"/>
    <p:sldId id="422" r:id="rId149"/>
    <p:sldId id="495" r:id="rId150"/>
    <p:sldId id="424" r:id="rId151"/>
    <p:sldId id="425" r:id="rId152"/>
    <p:sldId id="426" r:id="rId153"/>
    <p:sldId id="427" r:id="rId154"/>
    <p:sldId id="428" r:id="rId155"/>
    <p:sldId id="429" r:id="rId156"/>
    <p:sldId id="430" r:id="rId157"/>
    <p:sldId id="431" r:id="rId158"/>
    <p:sldId id="432" r:id="rId159"/>
    <p:sldId id="433" r:id="rId160"/>
    <p:sldId id="470" r:id="rId161"/>
    <p:sldId id="434" r:id="rId162"/>
    <p:sldId id="435" r:id="rId163"/>
    <p:sldId id="440" r:id="rId164"/>
    <p:sldId id="438" r:id="rId165"/>
    <p:sldId id="436" r:id="rId166"/>
    <p:sldId id="437" r:id="rId167"/>
    <p:sldId id="439" r:id="rId168"/>
    <p:sldId id="441" r:id="rId169"/>
    <p:sldId id="442" r:id="rId170"/>
    <p:sldId id="493" r:id="rId171"/>
    <p:sldId id="443" r:id="rId172"/>
    <p:sldId id="444" r:id="rId173"/>
    <p:sldId id="445" r:id="rId174"/>
    <p:sldId id="446" r:id="rId175"/>
    <p:sldId id="447" r:id="rId176"/>
    <p:sldId id="449" r:id="rId177"/>
    <p:sldId id="450" r:id="rId178"/>
    <p:sldId id="451" r:id="rId179"/>
    <p:sldId id="452" r:id="rId180"/>
    <p:sldId id="453" r:id="rId181"/>
    <p:sldId id="454" r:id="rId182"/>
    <p:sldId id="455" r:id="rId183"/>
    <p:sldId id="456" r:id="rId184"/>
    <p:sldId id="457" r:id="rId185"/>
    <p:sldId id="458" r:id="rId186"/>
    <p:sldId id="459" r:id="rId187"/>
    <p:sldId id="460" r:id="rId188"/>
    <p:sldId id="496" r:id="rId189"/>
    <p:sldId id="462" r:id="rId190"/>
    <p:sldId id="463" r:id="rId191"/>
    <p:sldId id="276" r:id="rId192"/>
    <p:sldId id="497" r:id="rId193"/>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8000"/>
    <a:srgbClr val="600000"/>
    <a:srgbClr val="000099"/>
    <a:srgbClr val="F8F8F8"/>
    <a:srgbClr val="99CCFF"/>
    <a:srgbClr val="3399FF"/>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264" autoAdjust="0"/>
  </p:normalViewPr>
  <p:slideViewPr>
    <p:cSldViewPr>
      <p:cViewPr varScale="1">
        <p:scale>
          <a:sx n="61" d="100"/>
          <a:sy n="61" d="100"/>
        </p:scale>
        <p:origin x="2002" y="53"/>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96"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theme" Target="theme/theme1.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notesMaster" Target="notesMasters/notesMaster1.xml"/><Relationship Id="rId199"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handoutMaster" Target="handoutMasters/handoutMaster1.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5A4EC9AE-754B-49FD-BA16-B62493B54AAE}" type="datetimeFigureOut">
              <a:rPr lang="zh-CN" altLang="en-US"/>
              <a:t>2023/9/3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D4895103-49AF-4E9F-8FAA-AC2C9A984A0F}"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A8BD7D17-9F94-433F-85A9-A167373EBE7A}" type="datetimeFigureOut">
              <a:rPr lang="zh-CN" altLang="en-US"/>
              <a:t>2023/9/3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37F5F534-2C7B-4B3E-AB7E-5181B2239891}"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noFill/>
          <a:ln>
            <a:solidFill>
              <a:srgbClr val="000000"/>
            </a:solidFill>
            <a:miter lim="800000"/>
          </a:ln>
        </p:spPr>
      </p:sp>
      <p:sp>
        <p:nvSpPr>
          <p:cNvPr id="33795"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4" name="灯片编号占位符 3"/>
          <p:cNvSpPr>
            <a:spLocks noGrp="1"/>
          </p:cNvSpPr>
          <p:nvPr>
            <p:ph type="sldNum" sz="quarter" idx="5"/>
          </p:nvPr>
        </p:nvSpPr>
        <p:spPr/>
        <p:txBody>
          <a:bodyPr/>
          <a:lstStyle/>
          <a:p>
            <a:pPr>
              <a:defRPr/>
            </a:pPr>
            <a:fld id="{0A6A8501-8938-4B94-BC5C-55C93965624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21</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22</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3FFBDA9-6F94-4550-B2FD-976E3821A722}" type="slidenum">
              <a:rPr lang="en-US" altLang="zh-CN"/>
              <a:t>23</a:t>
            </a:fld>
            <a:endParaRPr lang="en-US" altLang="zh-CN"/>
          </a:p>
        </p:txBody>
      </p:sp>
      <p:sp>
        <p:nvSpPr>
          <p:cNvPr id="24579" name="Rectangle 2"/>
          <p:cNvSpPr>
            <a:spLocks noGrp="1" noRot="1" noChangeAspect="1" noChangeArrowheads="1" noTextEdit="1"/>
          </p:cNvSpPr>
          <p:nvPr>
            <p:ph type="sldImg"/>
          </p:nvPr>
        </p:nvSpPr>
        <p:spPr>
          <a:solidFill>
            <a:srgbClr val="FFFFFF"/>
          </a:solidFill>
        </p:spPr>
      </p:sp>
      <p:sp>
        <p:nvSpPr>
          <p:cNvPr id="2458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FA66B86-B411-4662-8700-B3A859FDAE3D}" type="slidenum">
              <a:rPr lang="en-US" altLang="zh-CN"/>
              <a:t>26</a:t>
            </a:fld>
            <a:endParaRPr lang="en-US" altLang="zh-CN"/>
          </a:p>
        </p:txBody>
      </p:sp>
      <p:sp>
        <p:nvSpPr>
          <p:cNvPr id="28675" name="Rectangle 2"/>
          <p:cNvSpPr>
            <a:spLocks noGrp="1" noRot="1" noChangeAspect="1" noChangeArrowheads="1" noTextEdit="1"/>
          </p:cNvSpPr>
          <p:nvPr>
            <p:ph type="sldImg"/>
          </p:nvPr>
        </p:nvSpPr>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6FD3C5B-E6F2-47F4-80C9-975C6EBE3DCA}" type="slidenum">
              <a:rPr lang="en-US" altLang="zh-CN"/>
              <a:t>27</a:t>
            </a:fld>
            <a:endParaRPr lang="en-US" altLang="zh-CN"/>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00CF435-1773-485F-84AA-6FD28FA5CD40}" type="slidenum">
              <a:rPr lang="en-US" altLang="zh-CN"/>
              <a:t>28</a:t>
            </a:fld>
            <a:endParaRPr lang="en-US" altLang="zh-CN"/>
          </a:p>
        </p:txBody>
      </p:sp>
      <p:sp>
        <p:nvSpPr>
          <p:cNvPr id="32771" name="Rectangle 2"/>
          <p:cNvSpPr>
            <a:spLocks noGrp="1" noRot="1" noChangeAspect="1" noChangeArrowheads="1" noTextEdit="1"/>
          </p:cNvSpPr>
          <p:nvPr>
            <p:ph type="sldImg"/>
          </p:nvPr>
        </p:nvSpPr>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576D3C3-3361-484B-A02C-97D528AF28C5}" type="slidenum">
              <a:rPr lang="en-US" altLang="zh-CN"/>
              <a:t>29</a:t>
            </a:fld>
            <a:endParaRPr lang="en-US" altLang="zh-CN"/>
          </a:p>
        </p:txBody>
      </p:sp>
      <p:sp>
        <p:nvSpPr>
          <p:cNvPr id="34819" name="Rectangle 2"/>
          <p:cNvSpPr>
            <a:spLocks noGrp="1" noRot="1" noChangeAspect="1" noChangeArrowheads="1" noTextEdit="1"/>
          </p:cNvSpPr>
          <p:nvPr>
            <p:ph type="sldImg"/>
          </p:nvPr>
        </p:nvSpPr>
        <p:spPr/>
      </p:sp>
      <p:sp>
        <p:nvSpPr>
          <p:cNvPr id="348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3631FE7-3C12-40D6-A27B-49AD4F722C05}" type="slidenum">
              <a:rPr lang="en-US" altLang="zh-CN"/>
              <a:t>30</a:t>
            </a:fld>
            <a:endParaRPr lang="en-US" altLang="zh-CN"/>
          </a:p>
        </p:txBody>
      </p:sp>
      <p:sp>
        <p:nvSpPr>
          <p:cNvPr id="38915" name="Rectangle 2"/>
          <p:cNvSpPr>
            <a:spLocks noGrp="1" noRot="1" noChangeAspect="1" noChangeArrowheads="1" noTextEdit="1"/>
          </p:cNvSpPr>
          <p:nvPr>
            <p:ph type="sldImg"/>
          </p:nvPr>
        </p:nvSpPr>
        <p:spPr/>
      </p:sp>
      <p:sp>
        <p:nvSpPr>
          <p:cNvPr id="38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77A4BA9-8687-4CE5-9E31-4B7C2D2C628A}" type="slidenum">
              <a:rPr lang="en-US" altLang="zh-CN"/>
              <a:t>31</a:t>
            </a:fld>
            <a:endParaRPr lang="en-US" altLang="zh-CN"/>
          </a:p>
        </p:txBody>
      </p:sp>
      <p:sp>
        <p:nvSpPr>
          <p:cNvPr id="40963" name="Rectangle 2"/>
          <p:cNvSpPr>
            <a:spLocks noGrp="1" noRot="1" noChangeAspect="1" noChangeArrowheads="1" noTextEdit="1"/>
          </p:cNvSpPr>
          <p:nvPr>
            <p:ph type="sldImg"/>
          </p:nvPr>
        </p:nvSpPr>
        <p:spPr/>
      </p:sp>
      <p:sp>
        <p:nvSpPr>
          <p:cNvPr id="409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544DDD9-6860-48F7-AB39-2E562449B5AC}" type="slidenum">
              <a:rPr lang="en-US" altLang="zh-CN"/>
              <a:t>32</a:t>
            </a:fld>
            <a:endParaRPr lang="en-US" altLang="zh-CN"/>
          </a:p>
        </p:txBody>
      </p:sp>
      <p:sp>
        <p:nvSpPr>
          <p:cNvPr id="43011" name="Rectangle 2"/>
          <p:cNvSpPr>
            <a:spLocks noGrp="1" noRot="1" noChangeAspect="1" noChangeArrowheads="1" noTextEdit="1"/>
          </p:cNvSpPr>
          <p:nvPr>
            <p:ph type="sldImg"/>
          </p:nvPr>
        </p:nvSpPr>
        <p:spPr/>
      </p:sp>
      <p:sp>
        <p:nvSpPr>
          <p:cNvPr id="430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B45D7F1-E915-401F-AD5A-3EAADC8214A1}" type="slidenum">
              <a:rPr lang="en-US" altLang="zh-CN"/>
              <a:t>33</a:t>
            </a:fld>
            <a:endParaRPr lang="en-US" altLang="zh-CN"/>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FC0583D-2A7B-482E-AF71-4965D5869F3F}" type="slidenum">
              <a:rPr lang="en-US" altLang="zh-CN"/>
              <a:t>34</a:t>
            </a:fld>
            <a:endParaRPr lang="en-US" altLang="zh-CN"/>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A54CF03-5A35-4D4B-9719-F00BEEC326E8}" type="slidenum">
              <a:rPr lang="en-US" altLang="zh-CN"/>
              <a:t>35</a:t>
            </a:fld>
            <a:endParaRPr lang="en-US" altLang="zh-CN"/>
          </a:p>
        </p:txBody>
      </p:sp>
      <p:sp>
        <p:nvSpPr>
          <p:cNvPr id="36867" name="Rectangle 2"/>
          <p:cNvSpPr>
            <a:spLocks noGrp="1" noRot="1" noChangeAspect="1" noChangeArrowheads="1" noTextEdit="1"/>
          </p:cNvSpPr>
          <p:nvPr>
            <p:ph type="sldImg"/>
          </p:nvPr>
        </p:nvSpPr>
        <p:spPr/>
      </p:sp>
      <p:sp>
        <p:nvSpPr>
          <p:cNvPr id="36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36</a:t>
            </a:fld>
            <a:endParaRPr lang="zh-CN" altLang="en-US"/>
          </a:p>
        </p:txBody>
      </p:sp>
    </p:spTree>
    <p:extLst>
      <p:ext uri="{BB962C8B-B14F-4D97-AF65-F5344CB8AC3E}">
        <p14:creationId xmlns:p14="http://schemas.microsoft.com/office/powerpoint/2010/main" val="814157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39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B45D7F1-E915-401F-AD5A-3EAADC8214A1}" type="slidenum">
              <a:rPr lang="en-US" altLang="zh-CN"/>
              <a:t>49</a:t>
            </a:fld>
            <a:endParaRPr lang="en-US" altLang="zh-CN"/>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D204E23-0F2F-4F58-8BA2-75ECF9021BD0}" type="slidenum">
              <a:rPr lang="en-US" altLang="zh-CN"/>
              <a:t>51</a:t>
            </a:fld>
            <a:endParaRPr lang="en-US" altLang="zh-CN"/>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53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DF66C53-A3BC-4D09-80AF-C978A157BBE2}" type="slidenum">
              <a:rPr lang="en-US" altLang="zh-CN"/>
              <a:t>57</a:t>
            </a:fld>
            <a:endParaRPr lang="en-US" altLang="zh-CN"/>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88A1474-2379-4764-A44D-2D4BA69D43CB}" type="slidenum">
              <a:rPr lang="en-US" altLang="zh-CN"/>
              <a:t>58</a:t>
            </a:fld>
            <a:endParaRPr lang="en-US" altLang="zh-CN"/>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A292594-1F84-4273-97E9-CDFC77A2334E}" type="slidenum">
              <a:rPr lang="en-US" altLang="zh-CN"/>
              <a:t>59</a:t>
            </a:fld>
            <a:endParaRPr lang="en-US" altLang="zh-CN"/>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7967B42-D047-4448-B1AD-0A02E7A26260}" type="slidenum">
              <a:rPr lang="en-US" altLang="zh-CN"/>
              <a:t>60</a:t>
            </a:fld>
            <a:endParaRPr lang="en-US" altLang="zh-CN"/>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0213710-CFAC-4A9B-8E37-2F4F6AB8A5D1}" type="slidenum">
              <a:rPr lang="en-US" altLang="zh-CN"/>
              <a:t>61</a:t>
            </a:fld>
            <a:endParaRPr lang="en-US" altLang="zh-CN"/>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62</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63</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65</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DADA807-E3F2-496D-A03D-7718FAAE03D9}" type="slidenum">
              <a:rPr lang="en-US" altLang="zh-CN"/>
              <a:t>66</a:t>
            </a:fld>
            <a:endParaRPr lang="en-US" altLang="zh-CN"/>
          </a:p>
        </p:txBody>
      </p:sp>
      <p:sp>
        <p:nvSpPr>
          <p:cNvPr id="90115" name="Rectangle 2"/>
          <p:cNvSpPr>
            <a:spLocks noGrp="1" noRot="1" noChangeAspect="1" noChangeArrowheads="1" noTextEdit="1"/>
          </p:cNvSpPr>
          <p:nvPr>
            <p:ph type="sldImg"/>
          </p:nvPr>
        </p:nvSpPr>
        <p:spPr/>
      </p:sp>
      <p:sp>
        <p:nvSpPr>
          <p:cNvPr id="901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67</a:t>
            </a:fld>
            <a:endParaRPr lang="zh-CN" altLang="en-US"/>
          </a:p>
        </p:txBody>
      </p:sp>
    </p:spTree>
    <p:extLst>
      <p:ext uri="{BB962C8B-B14F-4D97-AF65-F5344CB8AC3E}">
        <p14:creationId xmlns:p14="http://schemas.microsoft.com/office/powerpoint/2010/main" val="21832719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68</a:t>
            </a:fld>
            <a:endParaRPr lang="zh-CN" altLang="en-US"/>
          </a:p>
        </p:txBody>
      </p:sp>
    </p:spTree>
    <p:extLst>
      <p:ext uri="{BB962C8B-B14F-4D97-AF65-F5344CB8AC3E}">
        <p14:creationId xmlns:p14="http://schemas.microsoft.com/office/powerpoint/2010/main" val="39776551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69</a:t>
            </a:fld>
            <a:endParaRPr lang="zh-CN" altLang="en-US"/>
          </a:p>
        </p:txBody>
      </p:sp>
    </p:spTree>
    <p:extLst>
      <p:ext uri="{BB962C8B-B14F-4D97-AF65-F5344CB8AC3E}">
        <p14:creationId xmlns:p14="http://schemas.microsoft.com/office/powerpoint/2010/main" val="34973082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B214801-9436-48DC-A6CE-C4B5510E7A9F}" type="slidenum">
              <a:rPr lang="en-US" altLang="zh-CN"/>
              <a:t>72</a:t>
            </a:fld>
            <a:endParaRPr lang="en-US" altLang="zh-CN"/>
          </a:p>
        </p:txBody>
      </p:sp>
      <p:sp>
        <p:nvSpPr>
          <p:cNvPr id="95235" name="Rectangle 2"/>
          <p:cNvSpPr>
            <a:spLocks noGrp="1" noRot="1" noChangeAspect="1" noChangeArrowheads="1" noTextEdit="1"/>
          </p:cNvSpPr>
          <p:nvPr>
            <p:ph type="sldImg"/>
          </p:nvPr>
        </p:nvSpPr>
        <p:spPr/>
      </p:sp>
      <p:sp>
        <p:nvSpPr>
          <p:cNvPr id="952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650BD8C-2E0A-469B-97BE-DBB318D42790}" type="slidenum">
              <a:rPr lang="en-US" altLang="zh-CN"/>
              <a:t>73</a:t>
            </a:fld>
            <a:endParaRPr lang="en-US" altLang="zh-CN"/>
          </a:p>
        </p:txBody>
      </p:sp>
      <p:sp>
        <p:nvSpPr>
          <p:cNvPr id="97283" name="Rectangle 2"/>
          <p:cNvSpPr>
            <a:spLocks noGrp="1" noRot="1" noChangeAspect="1" noChangeArrowheads="1" noTextEdit="1"/>
          </p:cNvSpPr>
          <p:nvPr>
            <p:ph type="sldImg"/>
          </p:nvPr>
        </p:nvSpPr>
        <p:spPr/>
      </p:sp>
      <p:sp>
        <p:nvSpPr>
          <p:cNvPr id="972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7F3EF2C-4A83-49EA-9EBD-727E43B59A2F}" type="slidenum">
              <a:rPr lang="en-US" altLang="zh-CN"/>
              <a:t>77</a:t>
            </a:fld>
            <a:endParaRPr lang="en-US" altLang="zh-CN"/>
          </a:p>
        </p:txBody>
      </p:sp>
      <p:sp>
        <p:nvSpPr>
          <p:cNvPr id="106499" name="Rectangle 2"/>
          <p:cNvSpPr>
            <a:spLocks noGrp="1" noRot="1" noChangeAspect="1" noChangeArrowheads="1" noTextEdit="1"/>
          </p:cNvSpPr>
          <p:nvPr>
            <p:ph type="sldImg"/>
          </p:nvPr>
        </p:nvSpPr>
        <p:spPr/>
      </p:sp>
      <p:sp>
        <p:nvSpPr>
          <p:cNvPr id="1065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650BD8C-2E0A-469B-97BE-DBB318D42790}" type="slidenum">
              <a:rPr lang="en-US" altLang="zh-CN"/>
              <a:t>79</a:t>
            </a:fld>
            <a:endParaRPr lang="en-US" altLang="zh-CN"/>
          </a:p>
        </p:txBody>
      </p:sp>
      <p:sp>
        <p:nvSpPr>
          <p:cNvPr id="97283" name="Rectangle 2"/>
          <p:cNvSpPr>
            <a:spLocks noGrp="1" noRot="1" noChangeAspect="1" noChangeArrowheads="1" noTextEdit="1"/>
          </p:cNvSpPr>
          <p:nvPr>
            <p:ph type="sldImg"/>
          </p:nvPr>
        </p:nvSpPr>
        <p:spPr/>
      </p:sp>
      <p:sp>
        <p:nvSpPr>
          <p:cNvPr id="972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8985149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83</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FAE991E-FD99-4740-880D-AA9F62450F0F}" type="slidenum">
              <a:rPr lang="en-US" altLang="zh-CN"/>
              <a:t>84</a:t>
            </a:fld>
            <a:endParaRPr lang="en-US" altLang="zh-CN"/>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87</a:t>
            </a:fld>
            <a:endParaRPr lang="zh-CN" altLang="en-US"/>
          </a:p>
        </p:txBody>
      </p:sp>
    </p:spTree>
    <p:extLst>
      <p:ext uri="{BB962C8B-B14F-4D97-AF65-F5344CB8AC3E}">
        <p14:creationId xmlns:p14="http://schemas.microsoft.com/office/powerpoint/2010/main" val="29293820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7E9B81F-0839-4EF9-92FB-A4312B845534}" type="slidenum">
              <a:rPr lang="en-US" altLang="zh-CN"/>
              <a:t>88</a:t>
            </a:fld>
            <a:endParaRPr lang="en-US" altLang="zh-CN"/>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89</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26A79F7-E1FB-487B-92FB-AAA1A406951C}" type="slidenum">
              <a:rPr lang="en-US" altLang="zh-CN"/>
              <a:t>90</a:t>
            </a:fld>
            <a:endParaRPr lang="en-US" altLang="zh-CN"/>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84217EE-5EBE-4089-B40B-9E8F2E30A10C}" type="slidenum">
              <a:rPr lang="en-US" altLang="zh-CN"/>
              <a:t>91</a:t>
            </a:fld>
            <a:endParaRPr lang="en-US" altLang="zh-CN"/>
          </a:p>
        </p:txBody>
      </p:sp>
      <p:sp>
        <p:nvSpPr>
          <p:cNvPr id="126979" name="Rectangle 2"/>
          <p:cNvSpPr>
            <a:spLocks noGrp="1" noRot="1" noChangeAspect="1" noChangeArrowheads="1" noTextEdit="1"/>
          </p:cNvSpPr>
          <p:nvPr>
            <p:ph type="sldImg"/>
          </p:nvPr>
        </p:nvSpPr>
        <p:spPr/>
      </p:sp>
      <p:sp>
        <p:nvSpPr>
          <p:cNvPr id="1269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92</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424A2F6-466A-46F8-BCAC-5FFE5B4D9F02}" type="slidenum">
              <a:rPr lang="en-US" altLang="zh-CN"/>
              <a:t>93</a:t>
            </a:fld>
            <a:endParaRPr lang="en-US" altLang="zh-CN"/>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104E90E-79D6-44DC-BA80-E470FDFC8BA1}" type="slidenum">
              <a:rPr lang="en-US" altLang="zh-CN"/>
              <a:t>94</a:t>
            </a:fld>
            <a:endParaRPr lang="en-US" altLang="zh-CN"/>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98</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1213D7D-501A-4C3F-B69E-A2C07E2F415E}" type="slidenum">
              <a:rPr lang="en-US" altLang="zh-CN"/>
              <a:t>99</a:t>
            </a:fld>
            <a:endParaRPr lang="en-US" altLang="zh-CN"/>
          </a:p>
        </p:txBody>
      </p:sp>
      <p:sp>
        <p:nvSpPr>
          <p:cNvPr id="142339" name="Rectangle 2"/>
          <p:cNvSpPr>
            <a:spLocks noGrp="1" noRot="1" noChangeAspect="1" noChangeArrowheads="1" noTextEdit="1"/>
          </p:cNvSpPr>
          <p:nvPr>
            <p:ph type="sldImg"/>
          </p:nvPr>
        </p:nvSpPr>
        <p:spPr/>
      </p:sp>
      <p:sp>
        <p:nvSpPr>
          <p:cNvPr id="142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1CECE33-DC34-4CCB-B79C-A3F7931F12AE}" type="slidenum">
              <a:rPr lang="en-US" altLang="zh-CN"/>
              <a:t>101</a:t>
            </a:fld>
            <a:endParaRPr lang="en-US" altLang="zh-CN"/>
          </a:p>
        </p:txBody>
      </p:sp>
      <p:sp>
        <p:nvSpPr>
          <p:cNvPr id="145411" name="Rectangle 2"/>
          <p:cNvSpPr>
            <a:spLocks noGrp="1" noRot="1" noChangeAspect="1" noChangeArrowheads="1" noTextEdit="1"/>
          </p:cNvSpPr>
          <p:nvPr>
            <p:ph type="sldImg"/>
          </p:nvPr>
        </p:nvSpPr>
        <p:spPr/>
      </p:sp>
      <p:sp>
        <p:nvSpPr>
          <p:cNvPr id="1454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104</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105</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107</a:t>
            </a:fld>
            <a:endParaRPr lang="zh-CN" altLang="en-US"/>
          </a:p>
        </p:txBody>
      </p:sp>
    </p:spTree>
    <p:extLst>
      <p:ext uri="{BB962C8B-B14F-4D97-AF65-F5344CB8AC3E}">
        <p14:creationId xmlns:p14="http://schemas.microsoft.com/office/powerpoint/2010/main" val="414606958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109</a:t>
            </a:fld>
            <a:endParaRPr lang="zh-CN" altLang="en-US"/>
          </a:p>
        </p:txBody>
      </p:sp>
    </p:spTree>
    <p:extLst>
      <p:ext uri="{BB962C8B-B14F-4D97-AF65-F5344CB8AC3E}">
        <p14:creationId xmlns:p14="http://schemas.microsoft.com/office/powerpoint/2010/main" val="4913610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111</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112</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ChangeArrowheads="1" noTextEdit="1"/>
          </p:cNvSpPr>
          <p:nvPr>
            <p:ph type="sldImg"/>
          </p:nvPr>
        </p:nvSpPr>
        <p:spPr/>
      </p:sp>
      <p:sp>
        <p:nvSpPr>
          <p:cNvPr id="1648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124</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125</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126</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128</a:t>
            </a:fld>
            <a:endParaRPr lang="zh-CN" altLang="en-US"/>
          </a:p>
        </p:txBody>
      </p:sp>
    </p:spTree>
    <p:extLst>
      <p:ext uri="{BB962C8B-B14F-4D97-AF65-F5344CB8AC3E}">
        <p14:creationId xmlns:p14="http://schemas.microsoft.com/office/powerpoint/2010/main" val="312139843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133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134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135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874F8EB-AB25-4D2E-8405-C6552F50AFAF}" type="slidenum">
              <a:rPr lang="en-US" altLang="zh-CN"/>
              <a:t>136</a:t>
            </a:fld>
            <a:endParaRPr lang="en-US" altLang="zh-CN"/>
          </a:p>
        </p:txBody>
      </p:sp>
      <p:sp>
        <p:nvSpPr>
          <p:cNvPr id="186371" name="Rectangle 2"/>
          <p:cNvSpPr>
            <a:spLocks noGrp="1" noRot="1" noChangeAspect="1" noChangeArrowheads="1" noTextEdit="1"/>
          </p:cNvSpPr>
          <p:nvPr>
            <p:ph type="sldImg"/>
          </p:nvPr>
        </p:nvSpPr>
        <p:spPr/>
      </p:sp>
      <p:sp>
        <p:nvSpPr>
          <p:cNvPr id="1863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E90E1D1-94F7-4932-8D25-31E8B021EE32}" type="slidenum">
              <a:rPr lang="en-US" altLang="zh-CN"/>
              <a:t>137</a:t>
            </a:fld>
            <a:endParaRPr lang="en-US" altLang="zh-CN"/>
          </a:p>
        </p:txBody>
      </p:sp>
      <p:sp>
        <p:nvSpPr>
          <p:cNvPr id="188419" name="Rectangle 2"/>
          <p:cNvSpPr>
            <a:spLocks noGrp="1" noRot="1" noChangeAspect="1" noChangeArrowheads="1" noTextEdit="1"/>
          </p:cNvSpPr>
          <p:nvPr>
            <p:ph type="sldImg"/>
          </p:nvPr>
        </p:nvSpPr>
        <p:spPr/>
      </p:sp>
      <p:sp>
        <p:nvSpPr>
          <p:cNvPr id="1884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ea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E85BE1E-8D7F-41DC-8CEE-D2447F5E0521}" type="slidenum">
              <a:rPr lang="en-US" altLang="zh-CN"/>
              <a:t>138</a:t>
            </a:fld>
            <a:endParaRPr lang="en-US" altLang="zh-CN"/>
          </a:p>
        </p:txBody>
      </p:sp>
      <p:sp>
        <p:nvSpPr>
          <p:cNvPr id="190467" name="Rectangle 2"/>
          <p:cNvSpPr>
            <a:spLocks noGrp="1" noRot="1" noChangeAspect="1" noChangeArrowheads="1" noTextEdit="1"/>
          </p:cNvSpPr>
          <p:nvPr>
            <p:ph type="sldImg"/>
          </p:nvPr>
        </p:nvSpPr>
        <p:spPr/>
      </p:sp>
      <p:sp>
        <p:nvSpPr>
          <p:cNvPr id="1904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ea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25AD830-E5CD-47E6-B89C-62C79D3FA46B}" type="slidenum">
              <a:rPr lang="en-US" altLang="zh-CN"/>
              <a:t>139</a:t>
            </a:fld>
            <a:endParaRPr lang="en-US" altLang="zh-CN"/>
          </a:p>
        </p:txBody>
      </p:sp>
      <p:sp>
        <p:nvSpPr>
          <p:cNvPr id="192515" name="Rectangle 2"/>
          <p:cNvSpPr>
            <a:spLocks noGrp="1" noRot="1" noChangeAspect="1" noChangeArrowheads="1" noTextEdit="1"/>
          </p:cNvSpPr>
          <p:nvPr>
            <p:ph type="sldImg"/>
          </p:nvPr>
        </p:nvSpPr>
        <p:spPr/>
      </p:sp>
      <p:sp>
        <p:nvSpPr>
          <p:cNvPr id="1925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D7BE4E6-BC6C-46EC-AB70-7E79FE608DFE}" type="slidenum">
              <a:rPr lang="en-US" altLang="zh-CN"/>
              <a:t>140</a:t>
            </a:fld>
            <a:endParaRPr lang="en-US" altLang="zh-CN"/>
          </a:p>
        </p:txBody>
      </p:sp>
      <p:sp>
        <p:nvSpPr>
          <p:cNvPr id="194563" name="Rectangle 2"/>
          <p:cNvSpPr>
            <a:spLocks noGrp="1" noRot="1" noChangeAspect="1" noChangeArrowheads="1" noTextEdit="1"/>
          </p:cNvSpPr>
          <p:nvPr>
            <p:ph type="sldImg"/>
          </p:nvPr>
        </p:nvSpPr>
        <p:spPr/>
      </p:sp>
      <p:sp>
        <p:nvSpPr>
          <p:cNvPr id="194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9C8D749-CBE0-4005-A4F3-A0267A6BD21E}" type="slidenum">
              <a:rPr lang="en-US" altLang="zh-CN"/>
              <a:t>141</a:t>
            </a:fld>
            <a:endParaRPr lang="en-US" altLang="zh-CN"/>
          </a:p>
        </p:txBody>
      </p:sp>
      <p:sp>
        <p:nvSpPr>
          <p:cNvPr id="196611" name="Rectangle 2"/>
          <p:cNvSpPr>
            <a:spLocks noGrp="1" noRot="1" noChangeAspect="1" noChangeArrowheads="1" noTextEdit="1"/>
          </p:cNvSpPr>
          <p:nvPr>
            <p:ph type="sldImg"/>
          </p:nvPr>
        </p:nvSpPr>
        <p:spPr/>
      </p:sp>
      <p:sp>
        <p:nvSpPr>
          <p:cNvPr id="196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ea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5737A2B-5E3D-4605-A771-BE8AAE5B85ED}" type="slidenum">
              <a:rPr lang="en-US" altLang="zh-CN"/>
              <a:t>142</a:t>
            </a:fld>
            <a:endParaRPr lang="en-US" altLang="zh-CN"/>
          </a:p>
        </p:txBody>
      </p:sp>
      <p:sp>
        <p:nvSpPr>
          <p:cNvPr id="200707" name="Rectangle 2"/>
          <p:cNvSpPr>
            <a:spLocks noGrp="1" noRot="1" noChangeAspect="1" noChangeArrowheads="1" noTextEdit="1"/>
          </p:cNvSpPr>
          <p:nvPr>
            <p:ph type="sldImg"/>
          </p:nvPr>
        </p:nvSpPr>
        <p:spPr/>
      </p:sp>
      <p:sp>
        <p:nvSpPr>
          <p:cNvPr id="200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ea typeface="宋体" panose="0201060003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145</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146</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147</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151</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152</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pt-BR" altLang="zh-CN"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154</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156</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159</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160</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161</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162</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163</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167</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169</a:t>
            </a:fld>
            <a:endParaRPr lang="zh-CN" altLang="en-US"/>
          </a:p>
        </p:txBody>
      </p:sp>
    </p:spTree>
    <p:extLst>
      <p:ext uri="{BB962C8B-B14F-4D97-AF65-F5344CB8AC3E}">
        <p14:creationId xmlns:p14="http://schemas.microsoft.com/office/powerpoint/2010/main" val="329180630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170</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172</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174</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175</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176</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177</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181</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182</a:t>
            </a:fld>
            <a:endParaRPr lang="zh-CN" altLang="en-US"/>
          </a:p>
        </p:txBody>
      </p:sp>
    </p:spTree>
    <p:extLst>
      <p:ext uri="{BB962C8B-B14F-4D97-AF65-F5344CB8AC3E}">
        <p14:creationId xmlns:p14="http://schemas.microsoft.com/office/powerpoint/2010/main" val="118461129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184</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185</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189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 descr="C:\Users\Administrator\AppData\Roaming\Tencent\Users\85060380\QQ\WinTemp\RichOle\3{JSB(G2RI2O{CFOGZRGH23.jpg"/>
          <p:cNvPicPr>
            <a:picLocks noChangeAspect="1" noChangeArrowheads="1"/>
          </p:cNvPicPr>
          <p:nvPr/>
        </p:nvPicPr>
        <p:blipFill rotWithShape="1">
          <a:blip r:embed="rId2" cstate="print"/>
          <a:srcRect r="78850"/>
          <a:stretch>
            <a:fillRect/>
          </a:stretch>
        </p:blipFill>
        <p:spPr bwMode="auto">
          <a:xfrm>
            <a:off x="1" y="44624"/>
            <a:ext cx="899591" cy="792088"/>
          </a:xfrm>
          <a:prstGeom prst="rect">
            <a:avLst/>
          </a:prstGeom>
          <a:noFill/>
          <a:ln w="9525">
            <a:noFill/>
            <a:miter lim="800000"/>
            <a:headEnd/>
            <a:tailEnd/>
          </a:ln>
        </p:spPr>
      </p:pic>
      <p:pic>
        <p:nvPicPr>
          <p:cNvPr id="6" name="Picture 2" descr="C:\Users\Administrator\AppData\Roaming\Tencent\Users\85060380\QQ\WinTemp\RichOle\J6JYNSSQRTOD2X}K2W`MNJ7.jpg"/>
          <p:cNvPicPr>
            <a:picLocks noChangeAspect="1" noChangeArrowheads="1"/>
          </p:cNvPicPr>
          <p:nvPr/>
        </p:nvPicPr>
        <p:blipFill>
          <a:blip r:embed="rId3" cstate="print"/>
          <a:srcRect/>
          <a:stretch>
            <a:fillRect/>
          </a:stretch>
        </p:blipFill>
        <p:spPr bwMode="auto">
          <a:xfrm>
            <a:off x="6764751" y="1"/>
            <a:ext cx="1191625" cy="740094"/>
          </a:xfrm>
          <a:prstGeom prst="rect">
            <a:avLst/>
          </a:prstGeom>
          <a:noFill/>
          <a:ln w="9525">
            <a:noFill/>
            <a:miter lim="800000"/>
            <a:headEnd/>
            <a:tailEnd/>
          </a:ln>
        </p:spPr>
      </p:pic>
      <p:pic>
        <p:nvPicPr>
          <p:cNvPr id="7" name="Picture 3" descr="C:\Users\Administrator\AppData\Roaming\Tencent\Users\85060380\QQ\WinTemp\RichOle\GD$GN72[756M7J@}Q112F3M.jpg"/>
          <p:cNvPicPr>
            <a:picLocks noChangeAspect="1" noChangeArrowheads="1"/>
          </p:cNvPicPr>
          <p:nvPr/>
        </p:nvPicPr>
        <p:blipFill>
          <a:blip r:embed="rId4" cstate="print"/>
          <a:srcRect/>
          <a:stretch>
            <a:fillRect/>
          </a:stretch>
        </p:blipFill>
        <p:spPr bwMode="auto">
          <a:xfrm>
            <a:off x="7956376" y="1"/>
            <a:ext cx="1191625" cy="740094"/>
          </a:xfrm>
          <a:prstGeom prst="rect">
            <a:avLst/>
          </a:prstGeom>
          <a:noFill/>
          <a:ln w="9525">
            <a:noFill/>
            <a:miter lim="800000"/>
            <a:headEnd/>
            <a:tailEnd/>
          </a:ln>
        </p:spPr>
      </p:pic>
      <p:pic>
        <p:nvPicPr>
          <p:cNvPr id="8" name="Picture 4" descr="C:\Users\Administrator\AppData\Roaming\Tencent\Users\85060380\QQ\WinTemp\RichOle\{SL304[_K`X~M@`NNZQS~XD.jpg"/>
          <p:cNvPicPr>
            <a:picLocks noChangeAspect="1" noChangeArrowheads="1"/>
          </p:cNvPicPr>
          <p:nvPr/>
        </p:nvPicPr>
        <p:blipFill>
          <a:blip r:embed="rId5" cstate="print"/>
          <a:srcRect/>
          <a:stretch>
            <a:fillRect/>
          </a:stretch>
        </p:blipFill>
        <p:spPr bwMode="auto">
          <a:xfrm>
            <a:off x="4427984" y="0"/>
            <a:ext cx="2350885" cy="740094"/>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a:prstGeom prst="rect">
            <a:avLst/>
          </a:prstGeom>
        </p:spPr>
        <p:txBody>
          <a:bodyPr/>
          <a:lstStyle>
            <a:lvl1pPr>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9" name="日期占位符 3"/>
          <p:cNvSpPr>
            <a:spLocks noGrp="1"/>
          </p:cNvSpPr>
          <p:nvPr>
            <p:ph type="dt" sz="half" idx="10"/>
          </p:nvPr>
        </p:nvSpPr>
        <p:spPr/>
        <p:txBody>
          <a:bodyPr/>
          <a:lstStyle>
            <a:lvl1pPr>
              <a:defRPr/>
            </a:lvl1pPr>
          </a:lstStyle>
          <a:p>
            <a:pPr>
              <a:defRPr/>
            </a:pPr>
            <a:fld id="{3169F77C-FFE2-4793-9207-02588634C718}" type="datetimeFigureOut">
              <a:rPr lang="zh-CN" altLang="en-US"/>
              <a:t>2023/9/3</a:t>
            </a:fld>
            <a:endParaRPr lang="zh-CN" altLang="en-US"/>
          </a:p>
        </p:txBody>
      </p:sp>
      <p:sp>
        <p:nvSpPr>
          <p:cNvPr id="10" name="页脚占位符 4"/>
          <p:cNvSpPr>
            <a:spLocks noGrp="1"/>
          </p:cNvSpPr>
          <p:nvPr>
            <p:ph type="ftr" sz="quarter" idx="11"/>
          </p:nvPr>
        </p:nvSpPr>
        <p:spPr/>
        <p:txBody>
          <a:bodyPr/>
          <a:lstStyle>
            <a:lvl1pPr>
              <a:defRPr/>
            </a:lvl1pPr>
          </a:lstStyle>
          <a:p>
            <a:pPr>
              <a:defRPr/>
            </a:pPr>
            <a:endParaRPr lang="zh-CN" altLang="en-US"/>
          </a:p>
        </p:txBody>
      </p:sp>
      <p:sp>
        <p:nvSpPr>
          <p:cNvPr id="11" name="灯片编号占位符 5"/>
          <p:cNvSpPr>
            <a:spLocks noGrp="1"/>
          </p:cNvSpPr>
          <p:nvPr>
            <p:ph type="sldNum" sz="quarter" idx="12"/>
          </p:nvPr>
        </p:nvSpPr>
        <p:spPr/>
        <p:txBody>
          <a:bodyPr/>
          <a:lstStyle>
            <a:lvl1pPr>
              <a:defRPr/>
            </a:lvl1pPr>
          </a:lstStyle>
          <a:p>
            <a:pPr>
              <a:defRPr/>
            </a:pPr>
            <a:fld id="{CDC8E333-6AB3-4FDA-8E97-ACA84AEA881D}" type="slidenum">
              <a:rPr lang="zh-CN" altLang="en-US"/>
              <a:t>‹#›</a:t>
            </a:fld>
            <a:endParaRPr lang="zh-CN" altLang="en-US"/>
          </a:p>
        </p:txBody>
      </p:sp>
      <p:pic>
        <p:nvPicPr>
          <p:cNvPr id="13" name="图片 12"/>
          <p:cNvPicPr>
            <a:picLocks noChangeAspect="1"/>
          </p:cNvPicPr>
          <p:nvPr userDrawn="1"/>
        </p:nvPicPr>
        <p:blipFill rotWithShape="1">
          <a:blip r:embed="rId6" cstate="print"/>
          <a:srcRect l="32675" t="11636" r="34167" b="75247"/>
          <a:stretch>
            <a:fillRect/>
          </a:stretch>
        </p:blipFill>
        <p:spPr>
          <a:xfrm>
            <a:off x="971600" y="259870"/>
            <a:ext cx="2592288" cy="57684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6" name="Picture 2" descr="C:\Users\Administrator\Desktop\44.jpg"/>
          <p:cNvPicPr>
            <a:picLocks noChangeAspect="1" noChangeArrowheads="1"/>
          </p:cNvPicPr>
          <p:nvPr/>
        </p:nvPicPr>
        <p:blipFill>
          <a:blip r:embed="rId2" cstate="print"/>
          <a:srcRect/>
          <a:stretch>
            <a:fillRect/>
          </a:stretch>
        </p:blipFill>
        <p:spPr bwMode="auto">
          <a:xfrm>
            <a:off x="7429500" y="5948363"/>
            <a:ext cx="1714500" cy="909637"/>
          </a:xfrm>
          <a:prstGeom prst="rect">
            <a:avLst/>
          </a:prstGeom>
          <a:noFill/>
          <a:ln w="9525">
            <a:noFill/>
            <a:miter lim="800000"/>
            <a:headEnd/>
            <a:tailEnd/>
          </a:ln>
        </p:spPr>
      </p:pic>
      <p:sp>
        <p:nvSpPr>
          <p:cNvPr id="7" name="日期占位符 3"/>
          <p:cNvSpPr>
            <a:spLocks noGrp="1"/>
          </p:cNvSpPr>
          <p:nvPr>
            <p:ph type="dt" sz="half" idx="10"/>
          </p:nvPr>
        </p:nvSpPr>
        <p:spPr/>
        <p:txBody>
          <a:bodyPr/>
          <a:lstStyle>
            <a:lvl1pPr>
              <a:defRPr/>
            </a:lvl1pPr>
          </a:lstStyle>
          <a:p>
            <a:pPr>
              <a:defRPr/>
            </a:pPr>
            <a:fld id="{B91F3533-4646-4892-B1D3-08067A86ACDD}" type="datetimeFigureOut">
              <a:rPr lang="zh-CN" altLang="en-US"/>
              <a:t>2023/9/3</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36D17FC-20E3-4805-979B-A7677B8B4C05}" type="slidenum">
              <a:rPr lang="zh-CN" altLang="en-US"/>
              <a:t>‹#›</a:t>
            </a:fld>
            <a:endParaRPr lang="zh-CN" altLang="en-US"/>
          </a:p>
        </p:txBody>
      </p:sp>
      <p:pic>
        <p:nvPicPr>
          <p:cNvPr id="10" name="Picture 1" descr="C:\Users\Administrator\AppData\Roaming\Tencent\Users\85060380\QQ\WinTemp\RichOle\3{JSB(G2RI2O{CFOGZRGH23.jpg"/>
          <p:cNvPicPr>
            <a:picLocks noChangeAspect="1" noChangeArrowheads="1"/>
          </p:cNvPicPr>
          <p:nvPr userDrawn="1"/>
        </p:nvPicPr>
        <p:blipFill rotWithShape="1">
          <a:blip r:embed="rId3" cstate="print"/>
          <a:srcRect r="78850"/>
          <a:stretch>
            <a:fillRect/>
          </a:stretch>
        </p:blipFill>
        <p:spPr bwMode="auto">
          <a:xfrm>
            <a:off x="1" y="6126164"/>
            <a:ext cx="862263" cy="759220"/>
          </a:xfrm>
          <a:prstGeom prst="rect">
            <a:avLst/>
          </a:prstGeom>
          <a:noFill/>
          <a:ln w="9525">
            <a:noFill/>
            <a:miter lim="800000"/>
            <a:headEnd/>
            <a:tailEnd/>
          </a:ln>
        </p:spPr>
      </p:pic>
      <p:pic>
        <p:nvPicPr>
          <p:cNvPr id="11" name="图片 10"/>
          <p:cNvPicPr>
            <a:picLocks noChangeAspect="1"/>
          </p:cNvPicPr>
          <p:nvPr userDrawn="1"/>
        </p:nvPicPr>
        <p:blipFill rotWithShape="1">
          <a:blip r:embed="rId4" cstate="print"/>
          <a:srcRect l="32675" t="11636" r="34167" b="75247"/>
          <a:stretch>
            <a:fillRect/>
          </a:stretch>
        </p:blipFill>
        <p:spPr>
          <a:xfrm>
            <a:off x="810072" y="6309320"/>
            <a:ext cx="1872208" cy="4166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3"/>
          <p:cNvSpPr>
            <a:spLocks noGrp="1"/>
          </p:cNvSpPr>
          <p:nvPr>
            <p:ph type="dt" sz="half" idx="10"/>
          </p:nvPr>
        </p:nvSpPr>
        <p:spPr/>
        <p:txBody>
          <a:bodyPr/>
          <a:lstStyle>
            <a:lvl1pPr>
              <a:defRPr/>
            </a:lvl1pPr>
          </a:lstStyle>
          <a:p>
            <a:pPr>
              <a:defRPr/>
            </a:pPr>
            <a:fld id="{22A4F1A8-960E-4ED9-9A4F-401EFE12B95D}" type="datetimeFigureOut">
              <a:rPr lang="zh-CN" altLang="en-US"/>
              <a:t>2023/9/3</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5FA7321-CB36-4EF0-87BA-C64E2A84FAED}"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309E1E0-9E63-41E0-8CDD-DF0C8EF81975}" type="datetimeFigureOut">
              <a:rPr lang="zh-CN" altLang="en-US"/>
              <a:t>2023/9/3</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61E5839-3D4F-4698-B864-F37BC54DB928}"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B11D7156-5C3F-4BEA-93EC-FF328D866D27}" type="datetimeFigureOut">
              <a:rPr lang="zh-CN" altLang="en-US"/>
              <a:t>2023/9/3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9C709816-5D03-481C-A7CB-52B98C3CDEFE}"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gdyang@sdau.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10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91.jpeg"/></Relationships>
</file>

<file path=ppt/slides/_rels/slide13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104.jpeg"/></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119.jpeg"/></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ctrTitle"/>
          </p:nvPr>
        </p:nvSpPr>
        <p:spPr>
          <a:xfrm>
            <a:off x="642938" y="2000250"/>
            <a:ext cx="7772400" cy="1470025"/>
          </a:xfrm>
        </p:spPr>
        <p:txBody>
          <a:bodyPr/>
          <a:lstStyle/>
          <a:p>
            <a:pPr eaLnBrk="1" hangingPunct="1"/>
            <a:r>
              <a:rPr lang="en-US" altLang="zh-CN" sz="4000" b="1" dirty="0"/>
              <a:t>Section F   </a:t>
            </a:r>
            <a:br>
              <a:rPr lang="en-US" altLang="zh-CN" sz="4000" b="1" dirty="0"/>
            </a:br>
            <a:r>
              <a:rPr lang="en-US" altLang="zh-CN" sz="4000" b="1" dirty="0"/>
              <a:t>DNA structure and replication</a:t>
            </a:r>
            <a:endParaRPr lang="zh-CN" altLang="en-US" sz="4000" b="1" dirty="0"/>
          </a:p>
        </p:txBody>
      </p:sp>
      <p:sp>
        <p:nvSpPr>
          <p:cNvPr id="4099" name="副标题 2"/>
          <p:cNvSpPr>
            <a:spLocks noGrp="1"/>
          </p:cNvSpPr>
          <p:nvPr>
            <p:ph type="subTitle" idx="1"/>
          </p:nvPr>
        </p:nvSpPr>
        <p:spPr>
          <a:xfrm>
            <a:off x="5143500" y="3714750"/>
            <a:ext cx="3214688" cy="1471613"/>
          </a:xfrm>
        </p:spPr>
        <p:txBody>
          <a:bodyPr/>
          <a:lstStyle/>
          <a:p>
            <a:pPr eaLnBrk="1" hangingPunct="1"/>
            <a:r>
              <a:rPr lang="en-US" altLang="zh-CN" sz="2400" b="1" dirty="0" err="1">
                <a:solidFill>
                  <a:schemeClr val="tx1"/>
                </a:solidFill>
              </a:rPr>
              <a:t>Guodong</a:t>
            </a:r>
            <a:r>
              <a:rPr lang="en-US" altLang="zh-CN" sz="2400" b="1" dirty="0">
                <a:solidFill>
                  <a:schemeClr val="tx1"/>
                </a:solidFill>
              </a:rPr>
              <a:t> Yang</a:t>
            </a:r>
          </a:p>
          <a:p>
            <a:pPr eaLnBrk="1" hangingPunct="1"/>
            <a:r>
              <a:rPr lang="en-US" altLang="zh-CN" sz="1600" b="1" dirty="0">
                <a:solidFill>
                  <a:schemeClr val="tx1"/>
                </a:solidFill>
              </a:rPr>
              <a:t>Biochemistry and Molecular Biology, College of Life Sciences</a:t>
            </a:r>
            <a:br>
              <a:rPr lang="en-US" altLang="zh-CN" sz="1600" b="1" dirty="0">
                <a:solidFill>
                  <a:schemeClr val="tx1"/>
                </a:solidFill>
              </a:rPr>
            </a:br>
            <a:endParaRPr lang="en-US" altLang="zh-CN" sz="1600" b="1" dirty="0">
              <a:solidFill>
                <a:schemeClr val="tx1"/>
              </a:solidFill>
            </a:endParaRPr>
          </a:p>
          <a:p>
            <a:pPr eaLnBrk="1" hangingPunct="1"/>
            <a:r>
              <a:rPr lang="en-US" altLang="zh-CN" sz="1600" b="1" dirty="0">
                <a:solidFill>
                  <a:schemeClr val="tx1"/>
                </a:solidFill>
                <a:hlinkClick r:id="rId3"/>
              </a:rPr>
              <a:t>gdyang@sdau.edu.cn</a:t>
            </a:r>
            <a:endParaRPr lang="en-US" altLang="zh-CN" sz="1600" b="1" dirty="0">
              <a:solidFill>
                <a:schemeClr val="tx1"/>
              </a:solidFill>
            </a:endParaRPr>
          </a:p>
          <a:p>
            <a:pPr eaLnBrk="1" hangingPunct="1"/>
            <a:r>
              <a:rPr lang="en-US" altLang="zh-CN" sz="1600" b="1" dirty="0">
                <a:solidFill>
                  <a:schemeClr val="tx1"/>
                </a:solidFill>
              </a:rPr>
              <a:t>13854808762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075"/>
          <p:cNvPicPr>
            <a:picLocks noChangeAspect="1" noChangeArrowheads="1"/>
          </p:cNvPicPr>
          <p:nvPr/>
        </p:nvPicPr>
        <p:blipFill>
          <a:blip r:embed="rId2" cstate="print">
            <a:extLst>
              <a:ext uri="{28A0092B-C50C-407E-A947-70E740481C1C}">
                <a14:useLocalDpi xmlns:a14="http://schemas.microsoft.com/office/drawing/2010/main" val="0"/>
              </a:ext>
            </a:extLst>
          </a:blip>
          <a:srcRect l="9000" t="9000" r="9000" b="9000"/>
          <a:stretch>
            <a:fillRect/>
          </a:stretch>
        </p:blipFill>
        <p:spPr bwMode="auto">
          <a:xfrm>
            <a:off x="755576" y="404664"/>
            <a:ext cx="7418784" cy="556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lstStyle/>
          <a:p>
            <a:endParaRPr lang="zh-CN" altLang="en-US"/>
          </a:p>
        </p:txBody>
      </p:sp>
      <p:sp>
        <p:nvSpPr>
          <p:cNvPr id="3" name="内容占位符 2"/>
          <p:cNvSpPr>
            <a:spLocks noGrp="1"/>
          </p:cNvSpPr>
          <p:nvPr>
            <p:ph idx="4294967295"/>
          </p:nvPr>
        </p:nvSpPr>
        <p:spPr>
          <a:xfrm>
            <a:off x="457200" y="1600200"/>
            <a:ext cx="8229600" cy="4525963"/>
          </a:xfrm>
          <a:prstGeom prst="rect">
            <a:avLst/>
          </a:prstGeom>
        </p:spPr>
        <p:txBody>
          <a:bodyPr/>
          <a:lstStyle/>
          <a:p>
            <a:endParaRPr lang="zh-CN" altLang="en-US" dirty="0"/>
          </a:p>
        </p:txBody>
      </p:sp>
      <p:pic>
        <p:nvPicPr>
          <p:cNvPr id="4" name="Picture 4" descr="15-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113" y="188913"/>
            <a:ext cx="6408191" cy="575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5"/>
          <p:cNvSpPr txBox="1">
            <a:spLocks noChangeArrowheads="1"/>
          </p:cNvSpPr>
          <p:nvPr/>
        </p:nvSpPr>
        <p:spPr bwMode="auto">
          <a:xfrm>
            <a:off x="539552" y="4503777"/>
            <a:ext cx="338073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dirty="0">
                <a:solidFill>
                  <a:srgbClr val="CC00FF"/>
                </a:solidFill>
              </a:rPr>
              <a:t>Genetic Central Dogma</a:t>
            </a:r>
          </a:p>
          <a:p>
            <a:pPr algn="ctr" eaLnBrk="1" hangingPunct="1">
              <a:spcBef>
                <a:spcPct val="50000"/>
              </a:spcBef>
              <a:buFontTx/>
              <a:buNone/>
            </a:pPr>
            <a:r>
              <a:rPr lang="zh-CN" altLang="en-US" sz="2400" b="1" dirty="0">
                <a:solidFill>
                  <a:srgbClr val="CC00FF"/>
                </a:solidFill>
              </a:rPr>
              <a:t>中心法则</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49033-10-01 cop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265510"/>
            <a:ext cx="5904954" cy="5660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idx="4294967295"/>
          </p:nvPr>
        </p:nvSpPr>
        <p:spPr>
          <a:xfrm>
            <a:off x="0" y="274638"/>
            <a:ext cx="8229600" cy="1143000"/>
          </a:xfrm>
          <a:prstGeom prst="rect">
            <a:avLst/>
          </a:prstGeom>
        </p:spPr>
        <p:txBody>
          <a:bodyPr/>
          <a:lstStyle/>
          <a:p>
            <a:r>
              <a:rPr lang="en-US" altLang="zh-CN" sz="3600" b="1" dirty="0"/>
              <a:t>Section F DNA structure and replication</a:t>
            </a:r>
            <a:endParaRPr lang="zh-CN" altLang="en-US" sz="3600" b="1" dirty="0"/>
          </a:p>
        </p:txBody>
      </p:sp>
      <p:sp>
        <p:nvSpPr>
          <p:cNvPr id="52227" name="Rectangle 3"/>
          <p:cNvSpPr>
            <a:spLocks noGrp="1"/>
          </p:cNvSpPr>
          <p:nvPr>
            <p:ph type="body" idx="4294967295"/>
          </p:nvPr>
        </p:nvSpPr>
        <p:spPr>
          <a:xfrm>
            <a:off x="878904" y="1600200"/>
            <a:ext cx="8229600" cy="4525963"/>
          </a:xfrm>
          <a:prstGeom prst="rect">
            <a:avLst/>
          </a:prstGeom>
        </p:spPr>
        <p:txBody>
          <a:bodyPr/>
          <a:lstStyle/>
          <a:p>
            <a:r>
              <a:rPr lang="en-US" altLang="zh-CN" b="1" dirty="0"/>
              <a:t>F1    DNA (RNA) structure</a:t>
            </a:r>
          </a:p>
          <a:p>
            <a:r>
              <a:rPr lang="en-US" altLang="zh-CN" b="1" dirty="0"/>
              <a:t>F2   Chromosomes</a:t>
            </a:r>
          </a:p>
          <a:p>
            <a:r>
              <a:rPr lang="en-US" altLang="zh-CN" b="1" dirty="0"/>
              <a:t>F3   DNA replication in bacteria</a:t>
            </a:r>
          </a:p>
          <a:p>
            <a:r>
              <a:rPr lang="en-US" altLang="zh-CN" b="1" dirty="0"/>
              <a:t>F4   DNA replication in eukaryote</a:t>
            </a:r>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idx="4294967295"/>
          </p:nvPr>
        </p:nvSpPr>
        <p:spPr>
          <a:xfrm>
            <a:off x="0" y="2133600"/>
            <a:ext cx="8229600" cy="1143000"/>
          </a:xfrm>
          <a:prstGeom prst="rect">
            <a:avLst/>
          </a:prstGeom>
        </p:spPr>
        <p:txBody>
          <a:bodyPr/>
          <a:lstStyle/>
          <a:p>
            <a:pPr eaLnBrk="1" hangingPunct="1">
              <a:spcBef>
                <a:spcPct val="50000"/>
              </a:spcBef>
            </a:pPr>
            <a:r>
              <a:rPr lang="en-US" altLang="zh-CN" b="1" dirty="0"/>
              <a:t>Section F1 and G1</a:t>
            </a:r>
            <a:br>
              <a:rPr lang="en-US" altLang="zh-CN" b="1" dirty="0"/>
            </a:br>
            <a:r>
              <a:rPr lang="en-US" altLang="zh-CN" b="1" dirty="0"/>
              <a:t> DNA (RNA) structure</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381000" y="404813"/>
            <a:ext cx="87630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75000"/>
              </a:lnSpc>
              <a:spcBef>
                <a:spcPct val="50000"/>
              </a:spcBef>
              <a:buFontTx/>
              <a:buNone/>
            </a:pPr>
            <a:r>
              <a:rPr lang="en-US" altLang="zh-CN" b="1" dirty="0">
                <a:solidFill>
                  <a:srgbClr val="FF0066"/>
                </a:solidFill>
              </a:rPr>
              <a:t>1. The nucleic acids, deoxyribonucleic acid (DNA) and ribonucleic acid (RNA), are polymers of nucleotide units.</a:t>
            </a:r>
            <a:endParaRPr lang="en-US" altLang="zh-CN" sz="2400" dirty="0"/>
          </a:p>
        </p:txBody>
      </p:sp>
      <p:sp>
        <p:nvSpPr>
          <p:cNvPr id="8195" name="Text Box 3"/>
          <p:cNvSpPr txBox="1">
            <a:spLocks noChangeArrowheads="1"/>
          </p:cNvSpPr>
          <p:nvPr/>
        </p:nvSpPr>
        <p:spPr bwMode="auto">
          <a:xfrm>
            <a:off x="228600" y="1806575"/>
            <a:ext cx="8610600" cy="4179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5000"/>
              </a:spcBef>
              <a:buFontTx/>
              <a:buNone/>
            </a:pPr>
            <a:r>
              <a:rPr lang="en-US" altLang="zh-CN" b="1" dirty="0"/>
              <a:t>1.1 DNA consists of </a:t>
            </a:r>
            <a:r>
              <a:rPr lang="en-US" altLang="zh-CN" b="1" dirty="0">
                <a:solidFill>
                  <a:srgbClr val="FF0000"/>
                </a:solidFill>
              </a:rPr>
              <a:t>four</a:t>
            </a:r>
            <a:r>
              <a:rPr lang="en-US" altLang="zh-CN" b="1" dirty="0"/>
              <a:t> </a:t>
            </a:r>
            <a:r>
              <a:rPr lang="en-US" altLang="zh-CN" b="1" dirty="0">
                <a:solidFill>
                  <a:srgbClr val="FF0000"/>
                </a:solidFill>
              </a:rPr>
              <a:t>kinds of deoxyribonucleotide</a:t>
            </a:r>
            <a:r>
              <a:rPr lang="en-US" altLang="zh-CN" b="1" dirty="0"/>
              <a:t> units linked together through covalent bonds</a:t>
            </a:r>
          </a:p>
          <a:p>
            <a:pPr eaLnBrk="1" hangingPunct="1">
              <a:spcBef>
                <a:spcPct val="15000"/>
              </a:spcBef>
              <a:buFontTx/>
              <a:buNone/>
            </a:pPr>
            <a:r>
              <a:rPr lang="en-US" altLang="zh-CN" b="1" dirty="0"/>
              <a:t>	1.1.1 Each nucleotide unit is made of a </a:t>
            </a:r>
            <a:r>
              <a:rPr lang="en-US" altLang="zh-CN" b="1" dirty="0">
                <a:solidFill>
                  <a:srgbClr val="FF0000"/>
                </a:solidFill>
              </a:rPr>
              <a:t>nitrogenous</a:t>
            </a:r>
            <a:r>
              <a:rPr lang="en-US" altLang="zh-CN" b="1" dirty="0"/>
              <a:t> </a:t>
            </a:r>
            <a:r>
              <a:rPr lang="en-US" altLang="zh-CN" b="1" dirty="0">
                <a:solidFill>
                  <a:srgbClr val="FF0000"/>
                </a:solidFill>
              </a:rPr>
              <a:t>base</a:t>
            </a:r>
            <a:r>
              <a:rPr lang="en-US" altLang="zh-CN" b="1" dirty="0"/>
              <a:t> (the various part in the four different deoxyribonucleotides), a </a:t>
            </a:r>
            <a:r>
              <a:rPr lang="en-US" altLang="zh-CN" b="1" dirty="0">
                <a:solidFill>
                  <a:srgbClr val="FF0000"/>
                </a:solidFill>
              </a:rPr>
              <a:t>pentose</a:t>
            </a:r>
            <a:r>
              <a:rPr lang="en-US" altLang="zh-CN" b="1" dirty="0"/>
              <a:t> sugar, and a </a:t>
            </a:r>
            <a:r>
              <a:rPr lang="en-US" altLang="zh-CN" b="1" dirty="0">
                <a:solidFill>
                  <a:srgbClr val="FF0000"/>
                </a:solidFill>
              </a:rPr>
              <a:t>phosphate</a:t>
            </a:r>
            <a:r>
              <a:rPr lang="en-US" altLang="zh-CN" b="1" dirty="0"/>
              <a:t> group.</a:t>
            </a:r>
          </a:p>
          <a:p>
            <a:pPr eaLnBrk="1" hangingPunct="1">
              <a:spcBef>
                <a:spcPct val="15000"/>
              </a:spcBef>
              <a:buFontTx/>
              <a:buNone/>
            </a:pPr>
            <a:r>
              <a:rPr lang="en-US" altLang="zh-CN" b="1" dirty="0"/>
              <a:t>	</a:t>
            </a:r>
            <a:endParaRPr lang="en-US" altLang="zh-CN"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800" y="1041400"/>
            <a:ext cx="8026400" cy="477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DE2C8601-E700-47FD-89CA-6BE22C59F68C}"/>
              </a:ext>
            </a:extLst>
          </p:cNvPr>
          <p:cNvSpPr txBox="1"/>
          <p:nvPr/>
        </p:nvSpPr>
        <p:spPr>
          <a:xfrm>
            <a:off x="3563888" y="5830657"/>
            <a:ext cx="4572000" cy="369332"/>
          </a:xfrm>
          <a:prstGeom prst="rect">
            <a:avLst/>
          </a:prstGeom>
          <a:noFill/>
        </p:spPr>
        <p:txBody>
          <a:bodyPr wrap="square">
            <a:spAutoFit/>
          </a:bodyPr>
          <a:lstStyle/>
          <a:p>
            <a:r>
              <a:rPr lang="en-US" altLang="zh-CN" dirty="0"/>
              <a:t>ribonucleotide</a:t>
            </a:r>
            <a:endParaRPr lang="zh-CN" altLang="en-US" dirty="0"/>
          </a:p>
        </p:txBody>
      </p:sp>
      <p:sp>
        <p:nvSpPr>
          <p:cNvPr id="2" name="文本框 1">
            <a:extLst>
              <a:ext uri="{FF2B5EF4-FFF2-40B4-BE49-F238E27FC236}">
                <a16:creationId xmlns:a16="http://schemas.microsoft.com/office/drawing/2014/main" id="{3ABA9485-11B9-53B6-549B-99142525320C}"/>
              </a:ext>
            </a:extLst>
          </p:cNvPr>
          <p:cNvSpPr txBox="1"/>
          <p:nvPr/>
        </p:nvSpPr>
        <p:spPr>
          <a:xfrm>
            <a:off x="827584" y="6199989"/>
            <a:ext cx="1633781" cy="369332"/>
          </a:xfrm>
          <a:prstGeom prst="rect">
            <a:avLst/>
          </a:prstGeom>
          <a:noFill/>
        </p:spPr>
        <p:txBody>
          <a:bodyPr wrap="none" rtlCol="0">
            <a:spAutoFit/>
          </a:bodyPr>
          <a:lstStyle/>
          <a:p>
            <a:r>
              <a:rPr lang="en-US" altLang="zh-CN" b="1" dirty="0">
                <a:solidFill>
                  <a:srgbClr val="FF0066"/>
                </a:solidFill>
              </a:rPr>
              <a:t>nucleic acids</a:t>
            </a:r>
            <a:endParaRPr lang="zh-CN" altLang="en-US" dirty="0"/>
          </a:p>
        </p:txBody>
      </p:sp>
      <p:grpSp>
        <p:nvGrpSpPr>
          <p:cNvPr id="6" name="组合 5">
            <a:extLst>
              <a:ext uri="{FF2B5EF4-FFF2-40B4-BE49-F238E27FC236}">
                <a16:creationId xmlns:a16="http://schemas.microsoft.com/office/drawing/2014/main" id="{3D9A91D5-0627-ACA3-4222-3BD5FB31211A}"/>
              </a:ext>
            </a:extLst>
          </p:cNvPr>
          <p:cNvGrpSpPr/>
          <p:nvPr/>
        </p:nvGrpSpPr>
        <p:grpSpPr>
          <a:xfrm>
            <a:off x="3779912" y="332656"/>
            <a:ext cx="4805288" cy="5256584"/>
            <a:chOff x="3779912" y="332656"/>
            <a:chExt cx="4805288" cy="5256584"/>
          </a:xfrm>
        </p:grpSpPr>
        <p:sp>
          <p:nvSpPr>
            <p:cNvPr id="3" name="矩形: 圆角 2">
              <a:extLst>
                <a:ext uri="{FF2B5EF4-FFF2-40B4-BE49-F238E27FC236}">
                  <a16:creationId xmlns:a16="http://schemas.microsoft.com/office/drawing/2014/main" id="{888A7332-001A-E275-42C9-F37CB7F1D2C4}"/>
                </a:ext>
              </a:extLst>
            </p:cNvPr>
            <p:cNvSpPr/>
            <p:nvPr/>
          </p:nvSpPr>
          <p:spPr>
            <a:xfrm>
              <a:off x="3779912" y="332656"/>
              <a:ext cx="4805288" cy="525658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ACCB0553-AC4A-DEA3-0516-46E60CCD6544}"/>
                </a:ext>
              </a:extLst>
            </p:cNvPr>
            <p:cNvSpPr txBox="1"/>
            <p:nvPr/>
          </p:nvSpPr>
          <p:spPr>
            <a:xfrm>
              <a:off x="3995936" y="672068"/>
              <a:ext cx="1390124" cy="369332"/>
            </a:xfrm>
            <a:prstGeom prst="rect">
              <a:avLst/>
            </a:prstGeom>
            <a:noFill/>
          </p:spPr>
          <p:txBody>
            <a:bodyPr wrap="none" rtlCol="0">
              <a:spAutoFit/>
            </a:bodyPr>
            <a:lstStyle/>
            <a:p>
              <a:r>
                <a:rPr lang="en-US" altLang="zh-CN" b="1" dirty="0"/>
                <a:t>nucleoside</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800" y="1041400"/>
            <a:ext cx="8026400" cy="477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DE2C8601-E700-47FD-89CA-6BE22C59F68C}"/>
              </a:ext>
            </a:extLst>
          </p:cNvPr>
          <p:cNvSpPr txBox="1"/>
          <p:nvPr/>
        </p:nvSpPr>
        <p:spPr>
          <a:xfrm>
            <a:off x="3563888" y="5830657"/>
            <a:ext cx="4572000" cy="369332"/>
          </a:xfrm>
          <a:prstGeom prst="rect">
            <a:avLst/>
          </a:prstGeom>
          <a:noFill/>
        </p:spPr>
        <p:txBody>
          <a:bodyPr wrap="square">
            <a:spAutoFit/>
          </a:bodyPr>
          <a:lstStyle/>
          <a:p>
            <a:r>
              <a:rPr lang="en-US" altLang="zh-CN" dirty="0"/>
              <a:t>deoxyribonucleotide</a:t>
            </a:r>
            <a:endParaRPr lang="zh-CN" altLang="en-US" dirty="0"/>
          </a:p>
        </p:txBody>
      </p:sp>
      <p:sp>
        <p:nvSpPr>
          <p:cNvPr id="2" name="矩形: 圆角 1">
            <a:extLst>
              <a:ext uri="{FF2B5EF4-FFF2-40B4-BE49-F238E27FC236}">
                <a16:creationId xmlns:a16="http://schemas.microsoft.com/office/drawing/2014/main" id="{9816119A-5A46-47FC-9586-93183C7E7F71}"/>
              </a:ext>
            </a:extLst>
          </p:cNvPr>
          <p:cNvSpPr/>
          <p:nvPr/>
        </p:nvSpPr>
        <p:spPr>
          <a:xfrm>
            <a:off x="5796136" y="4869160"/>
            <a:ext cx="792088" cy="36004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rgbClr val="FF00FF"/>
                </a:solidFill>
              </a:rPr>
              <a:t>H</a:t>
            </a:r>
            <a:endParaRPr lang="zh-CN" altLang="en-US" sz="3200" dirty="0">
              <a:solidFill>
                <a:srgbClr val="FF00FF"/>
              </a:solidFill>
            </a:endParaRPr>
          </a:p>
        </p:txBody>
      </p:sp>
      <p:sp>
        <p:nvSpPr>
          <p:cNvPr id="3" name="文本框 2">
            <a:extLst>
              <a:ext uri="{FF2B5EF4-FFF2-40B4-BE49-F238E27FC236}">
                <a16:creationId xmlns:a16="http://schemas.microsoft.com/office/drawing/2014/main" id="{2C73FAE3-703B-462C-80E2-4C605AE2D718}"/>
              </a:ext>
            </a:extLst>
          </p:cNvPr>
          <p:cNvSpPr txBox="1"/>
          <p:nvPr/>
        </p:nvSpPr>
        <p:spPr>
          <a:xfrm>
            <a:off x="7164288" y="3789040"/>
            <a:ext cx="1728192" cy="369332"/>
          </a:xfrm>
          <a:prstGeom prst="rect">
            <a:avLst/>
          </a:prstGeom>
          <a:solidFill>
            <a:schemeClr val="bg1"/>
          </a:solidFill>
        </p:spPr>
        <p:txBody>
          <a:bodyPr wrap="square" rtlCol="0">
            <a:spAutoFit/>
          </a:bodyPr>
          <a:lstStyle/>
          <a:p>
            <a:r>
              <a:rPr lang="en-US" altLang="zh-CN" dirty="0" err="1"/>
              <a:t>Deoxypentose</a:t>
            </a:r>
            <a:endParaRPr lang="zh-CN" altLang="en-US" dirty="0"/>
          </a:p>
        </p:txBody>
      </p:sp>
    </p:spTree>
    <p:extLst>
      <p:ext uri="{BB962C8B-B14F-4D97-AF65-F5344CB8AC3E}">
        <p14:creationId xmlns:p14="http://schemas.microsoft.com/office/powerpoint/2010/main" val="3478070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533400" y="606425"/>
            <a:ext cx="8305800"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15000"/>
              </a:spcBef>
              <a:buFontTx/>
              <a:buNone/>
            </a:pPr>
            <a:r>
              <a:rPr lang="en-US" altLang="zh-CN" b="1" dirty="0"/>
              <a:t>	1.1.2 The nitrogenous base can be adenine (</a:t>
            </a:r>
            <a:r>
              <a:rPr lang="en-US" altLang="zh-CN" b="1" dirty="0">
                <a:solidFill>
                  <a:srgbClr val="FF0000"/>
                </a:solidFill>
              </a:rPr>
              <a:t>A</a:t>
            </a:r>
            <a:r>
              <a:rPr lang="en-US" altLang="zh-CN" b="1" dirty="0"/>
              <a:t>), guanine (</a:t>
            </a:r>
            <a:r>
              <a:rPr lang="en-US" altLang="zh-CN" b="1" dirty="0">
                <a:solidFill>
                  <a:srgbClr val="FF0000"/>
                </a:solidFill>
              </a:rPr>
              <a:t>G</a:t>
            </a:r>
            <a:r>
              <a:rPr lang="en-US" altLang="zh-CN" b="1" dirty="0"/>
              <a:t>), cytosine (</a:t>
            </a:r>
            <a:r>
              <a:rPr lang="en-US" altLang="zh-CN" b="1" dirty="0">
                <a:solidFill>
                  <a:srgbClr val="FF0000"/>
                </a:solidFill>
              </a:rPr>
              <a:t>C</a:t>
            </a:r>
            <a:r>
              <a:rPr lang="en-US" altLang="zh-CN" b="1" dirty="0"/>
              <a:t>), or thymine (</a:t>
            </a:r>
            <a:r>
              <a:rPr lang="en-US" altLang="zh-CN" b="1" dirty="0">
                <a:solidFill>
                  <a:srgbClr val="FF0000"/>
                </a:solidFill>
              </a:rPr>
              <a:t>T</a:t>
            </a:r>
            <a:r>
              <a:rPr lang="en-US" altLang="zh-CN" b="1" dirty="0"/>
              <a:t>) (uracil (</a:t>
            </a:r>
            <a:r>
              <a:rPr lang="en-US" altLang="zh-CN" b="1" dirty="0">
                <a:solidFill>
                  <a:srgbClr val="0070C0"/>
                </a:solidFill>
              </a:rPr>
              <a:t>U</a:t>
            </a:r>
            <a:r>
              <a:rPr lang="en-US" altLang="zh-CN" b="1" dirty="0"/>
              <a:t>) in RNA).</a:t>
            </a:r>
          </a:p>
          <a:p>
            <a:pPr eaLnBrk="1" hangingPunct="1">
              <a:lnSpc>
                <a:spcPct val="130000"/>
              </a:lnSpc>
              <a:spcBef>
                <a:spcPct val="15000"/>
              </a:spcBef>
              <a:buFontTx/>
              <a:buNone/>
            </a:pPr>
            <a:r>
              <a:rPr lang="en-US" altLang="zh-CN" b="1" dirty="0"/>
              <a:t>	1.1.3 The nitrogenous bases are derivatives of two parent compounds, </a:t>
            </a:r>
            <a:r>
              <a:rPr lang="en-US" altLang="zh-CN" b="1" dirty="0">
                <a:solidFill>
                  <a:srgbClr val="FF0000"/>
                </a:solidFill>
              </a:rPr>
              <a:t>pyrimidine</a:t>
            </a:r>
            <a:r>
              <a:rPr lang="en-US" altLang="zh-CN" b="1" dirty="0"/>
              <a:t> </a:t>
            </a:r>
            <a:r>
              <a:rPr lang="zh-CN" altLang="en-US" b="1" dirty="0">
                <a:solidFill>
                  <a:srgbClr val="FF0000"/>
                </a:solidFill>
              </a:rPr>
              <a:t>（嘧啶）</a:t>
            </a:r>
            <a:r>
              <a:rPr lang="en-US" altLang="zh-CN" b="1" dirty="0"/>
              <a:t>and </a:t>
            </a:r>
            <a:r>
              <a:rPr lang="en-US" altLang="zh-CN" b="1" dirty="0">
                <a:solidFill>
                  <a:srgbClr val="FF0000"/>
                </a:solidFill>
              </a:rPr>
              <a:t>purine</a:t>
            </a:r>
            <a:r>
              <a:rPr lang="zh-CN" altLang="en-US" b="1" dirty="0">
                <a:solidFill>
                  <a:srgbClr val="FF0000"/>
                </a:solidFill>
              </a:rPr>
              <a:t>（嘌呤）</a:t>
            </a:r>
            <a:r>
              <a:rPr lang="en-US" altLang="zh-CN" b="1"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152400" y="560388"/>
            <a:ext cx="87630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buFontTx/>
              <a:buNone/>
            </a:pPr>
            <a:r>
              <a:rPr lang="en-US" altLang="zh-CN" sz="2400"/>
              <a:t>	</a:t>
            </a:r>
            <a:r>
              <a:rPr lang="en-US" altLang="zh-CN" b="1"/>
              <a:t>1.1.4 The carbon and nitrogen atoms in the purine and pyrimidine rings are numbered. </a:t>
            </a:r>
          </a:p>
          <a:p>
            <a:pPr eaLnBrk="1" hangingPunct="1">
              <a:lnSpc>
                <a:spcPct val="80000"/>
              </a:lnSpc>
              <a:buFontTx/>
              <a:buNone/>
            </a:pPr>
            <a:r>
              <a:rPr lang="en-US" altLang="zh-CN" b="1"/>
              <a:t>	</a:t>
            </a:r>
            <a:endParaRPr lang="en-US" altLang="zh-CN" sz="2800" b="1"/>
          </a:p>
        </p:txBody>
      </p:sp>
      <p:pic>
        <p:nvPicPr>
          <p:cNvPr id="11267"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l="52690" b="11891"/>
          <a:stretch>
            <a:fillRect/>
          </a:stretch>
        </p:blipFill>
        <p:spPr bwMode="auto">
          <a:xfrm>
            <a:off x="611188" y="1874838"/>
            <a:ext cx="3797300"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r="65164" b="11189"/>
          <a:stretch>
            <a:fillRect/>
          </a:stretch>
        </p:blipFill>
        <p:spPr bwMode="auto">
          <a:xfrm>
            <a:off x="5364163" y="1844675"/>
            <a:ext cx="2795587" cy="372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4" descr="49033-10-04 cop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1557338"/>
            <a:ext cx="76200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 name="组合 21"/>
          <p:cNvGrpSpPr/>
          <p:nvPr/>
        </p:nvGrpSpPr>
        <p:grpSpPr>
          <a:xfrm>
            <a:off x="1068826" y="2359604"/>
            <a:ext cx="7245364" cy="1209258"/>
            <a:chOff x="1068826" y="2359604"/>
            <a:chExt cx="7245364" cy="1209258"/>
          </a:xfrm>
        </p:grpSpPr>
        <p:grpSp>
          <p:nvGrpSpPr>
            <p:cNvPr id="3" name="组合 2"/>
            <p:cNvGrpSpPr/>
            <p:nvPr/>
          </p:nvGrpSpPr>
          <p:grpSpPr>
            <a:xfrm>
              <a:off x="1068826" y="2359604"/>
              <a:ext cx="2164705" cy="1166636"/>
              <a:chOff x="1068826" y="2359604"/>
              <a:chExt cx="2164705" cy="1166636"/>
            </a:xfrm>
          </p:grpSpPr>
          <p:sp>
            <p:nvSpPr>
              <p:cNvPr id="2" name="文本框 1"/>
              <p:cNvSpPr txBox="1"/>
              <p:nvPr/>
            </p:nvSpPr>
            <p:spPr>
              <a:xfrm>
                <a:off x="1068826" y="2590925"/>
                <a:ext cx="432048" cy="369332"/>
              </a:xfrm>
              <a:prstGeom prst="rect">
                <a:avLst/>
              </a:prstGeom>
              <a:noFill/>
            </p:spPr>
            <p:txBody>
              <a:bodyPr wrap="square" rtlCol="0">
                <a:spAutoFit/>
              </a:bodyPr>
              <a:lstStyle/>
              <a:p>
                <a:r>
                  <a:rPr lang="en-US" altLang="zh-CN" dirty="0">
                    <a:solidFill>
                      <a:srgbClr val="FF0000"/>
                    </a:solidFill>
                  </a:rPr>
                  <a:t>1</a:t>
                </a:r>
                <a:endParaRPr lang="zh-CN" altLang="en-US" dirty="0">
                  <a:solidFill>
                    <a:srgbClr val="FF0000"/>
                  </a:solidFill>
                </a:endParaRPr>
              </a:p>
            </p:txBody>
          </p:sp>
          <p:sp>
            <p:nvSpPr>
              <p:cNvPr id="4" name="文本框 3"/>
              <p:cNvSpPr txBox="1"/>
              <p:nvPr/>
            </p:nvSpPr>
            <p:spPr>
              <a:xfrm>
                <a:off x="1097495" y="2957095"/>
                <a:ext cx="432048" cy="369332"/>
              </a:xfrm>
              <a:prstGeom prst="rect">
                <a:avLst/>
              </a:prstGeom>
              <a:noFill/>
            </p:spPr>
            <p:txBody>
              <a:bodyPr wrap="square" rtlCol="0">
                <a:spAutoFit/>
              </a:bodyPr>
              <a:lstStyle/>
              <a:p>
                <a:r>
                  <a:rPr lang="en-US" altLang="zh-CN" dirty="0">
                    <a:solidFill>
                      <a:srgbClr val="FF0000"/>
                    </a:solidFill>
                  </a:rPr>
                  <a:t>2</a:t>
                </a:r>
                <a:endParaRPr lang="zh-CN" altLang="en-US" dirty="0">
                  <a:solidFill>
                    <a:srgbClr val="FF0000"/>
                  </a:solidFill>
                </a:endParaRPr>
              </a:p>
            </p:txBody>
          </p:sp>
          <p:sp>
            <p:nvSpPr>
              <p:cNvPr id="5" name="文本框 4"/>
              <p:cNvSpPr txBox="1"/>
              <p:nvPr/>
            </p:nvSpPr>
            <p:spPr>
              <a:xfrm>
                <a:off x="1482212" y="3156908"/>
                <a:ext cx="432048" cy="369332"/>
              </a:xfrm>
              <a:prstGeom prst="rect">
                <a:avLst/>
              </a:prstGeom>
              <a:noFill/>
            </p:spPr>
            <p:txBody>
              <a:bodyPr wrap="square" rtlCol="0">
                <a:spAutoFit/>
              </a:bodyPr>
              <a:lstStyle/>
              <a:p>
                <a:r>
                  <a:rPr lang="en-US" altLang="zh-CN" dirty="0">
                    <a:solidFill>
                      <a:srgbClr val="FF0000"/>
                    </a:solidFill>
                  </a:rPr>
                  <a:t>3</a:t>
                </a:r>
                <a:endParaRPr lang="zh-CN" altLang="en-US" dirty="0">
                  <a:solidFill>
                    <a:srgbClr val="FF0000"/>
                  </a:solidFill>
                </a:endParaRPr>
              </a:p>
            </p:txBody>
          </p:sp>
          <p:sp>
            <p:nvSpPr>
              <p:cNvPr id="6" name="文本框 5"/>
              <p:cNvSpPr txBox="1"/>
              <p:nvPr/>
            </p:nvSpPr>
            <p:spPr>
              <a:xfrm>
                <a:off x="1917035" y="3006322"/>
                <a:ext cx="432048" cy="369332"/>
              </a:xfrm>
              <a:prstGeom prst="rect">
                <a:avLst/>
              </a:prstGeom>
              <a:noFill/>
            </p:spPr>
            <p:txBody>
              <a:bodyPr wrap="square" rtlCol="0">
                <a:spAutoFit/>
              </a:bodyPr>
              <a:lstStyle/>
              <a:p>
                <a:r>
                  <a:rPr lang="en-US" altLang="zh-CN" dirty="0">
                    <a:solidFill>
                      <a:srgbClr val="FF0000"/>
                    </a:solidFill>
                  </a:rPr>
                  <a:t>4</a:t>
                </a:r>
                <a:endParaRPr lang="zh-CN" altLang="en-US" dirty="0">
                  <a:solidFill>
                    <a:srgbClr val="FF0000"/>
                  </a:solidFill>
                </a:endParaRPr>
              </a:p>
            </p:txBody>
          </p:sp>
          <p:sp>
            <p:nvSpPr>
              <p:cNvPr id="7" name="文本框 6"/>
              <p:cNvSpPr txBox="1"/>
              <p:nvPr/>
            </p:nvSpPr>
            <p:spPr>
              <a:xfrm>
                <a:off x="1902024" y="2536948"/>
                <a:ext cx="432048" cy="369332"/>
              </a:xfrm>
              <a:prstGeom prst="rect">
                <a:avLst/>
              </a:prstGeom>
              <a:noFill/>
            </p:spPr>
            <p:txBody>
              <a:bodyPr wrap="square" rtlCol="0">
                <a:spAutoFit/>
              </a:bodyPr>
              <a:lstStyle/>
              <a:p>
                <a:r>
                  <a:rPr lang="en-US" altLang="zh-CN" dirty="0">
                    <a:solidFill>
                      <a:srgbClr val="FF0000"/>
                    </a:solidFill>
                  </a:rPr>
                  <a:t>5</a:t>
                </a:r>
                <a:endParaRPr lang="zh-CN" altLang="en-US" dirty="0">
                  <a:solidFill>
                    <a:srgbClr val="FF0000"/>
                  </a:solidFill>
                </a:endParaRPr>
              </a:p>
            </p:txBody>
          </p:sp>
          <p:sp>
            <p:nvSpPr>
              <p:cNvPr id="8" name="文本框 7"/>
              <p:cNvSpPr txBox="1"/>
              <p:nvPr/>
            </p:nvSpPr>
            <p:spPr>
              <a:xfrm>
                <a:off x="1479170" y="2359604"/>
                <a:ext cx="432048" cy="369332"/>
              </a:xfrm>
              <a:prstGeom prst="rect">
                <a:avLst/>
              </a:prstGeom>
              <a:noFill/>
            </p:spPr>
            <p:txBody>
              <a:bodyPr wrap="square" rtlCol="0">
                <a:spAutoFit/>
              </a:bodyPr>
              <a:lstStyle/>
              <a:p>
                <a:r>
                  <a:rPr lang="en-US" altLang="zh-CN" dirty="0">
                    <a:solidFill>
                      <a:srgbClr val="FF0000"/>
                    </a:solidFill>
                  </a:rPr>
                  <a:t>6</a:t>
                </a:r>
                <a:endParaRPr lang="zh-CN" altLang="en-US" dirty="0">
                  <a:solidFill>
                    <a:srgbClr val="FF0000"/>
                  </a:solidFill>
                </a:endParaRPr>
              </a:p>
            </p:txBody>
          </p:sp>
          <p:sp>
            <p:nvSpPr>
              <p:cNvPr id="9" name="文本框 8"/>
              <p:cNvSpPr txBox="1"/>
              <p:nvPr/>
            </p:nvSpPr>
            <p:spPr>
              <a:xfrm>
                <a:off x="2540902" y="2524575"/>
                <a:ext cx="432048" cy="369332"/>
              </a:xfrm>
              <a:prstGeom prst="rect">
                <a:avLst/>
              </a:prstGeom>
              <a:noFill/>
            </p:spPr>
            <p:txBody>
              <a:bodyPr wrap="square" rtlCol="0">
                <a:spAutoFit/>
              </a:bodyPr>
              <a:lstStyle/>
              <a:p>
                <a:r>
                  <a:rPr lang="en-US" altLang="zh-CN" dirty="0">
                    <a:solidFill>
                      <a:srgbClr val="FF0000"/>
                    </a:solidFill>
                  </a:rPr>
                  <a:t>7</a:t>
                </a:r>
                <a:endParaRPr lang="zh-CN" altLang="en-US" dirty="0">
                  <a:solidFill>
                    <a:srgbClr val="FF0000"/>
                  </a:solidFill>
                </a:endParaRPr>
              </a:p>
            </p:txBody>
          </p:sp>
          <p:sp>
            <p:nvSpPr>
              <p:cNvPr id="10" name="文本框 9"/>
              <p:cNvSpPr txBox="1"/>
              <p:nvPr/>
            </p:nvSpPr>
            <p:spPr>
              <a:xfrm>
                <a:off x="2801483" y="2849604"/>
                <a:ext cx="432048" cy="369332"/>
              </a:xfrm>
              <a:prstGeom prst="rect">
                <a:avLst/>
              </a:prstGeom>
              <a:noFill/>
            </p:spPr>
            <p:txBody>
              <a:bodyPr wrap="square" rtlCol="0">
                <a:spAutoFit/>
              </a:bodyPr>
              <a:lstStyle/>
              <a:p>
                <a:r>
                  <a:rPr lang="en-US" altLang="zh-CN" dirty="0">
                    <a:solidFill>
                      <a:srgbClr val="FF0000"/>
                    </a:solidFill>
                  </a:rPr>
                  <a:t>8</a:t>
                </a:r>
                <a:endParaRPr lang="zh-CN" altLang="en-US" dirty="0">
                  <a:solidFill>
                    <a:srgbClr val="FF0000"/>
                  </a:solidFill>
                </a:endParaRPr>
              </a:p>
            </p:txBody>
          </p:sp>
          <p:sp>
            <p:nvSpPr>
              <p:cNvPr id="11" name="文本框 10"/>
              <p:cNvSpPr txBox="1"/>
              <p:nvPr/>
            </p:nvSpPr>
            <p:spPr>
              <a:xfrm>
                <a:off x="2585459" y="3059668"/>
                <a:ext cx="432048" cy="369332"/>
              </a:xfrm>
              <a:prstGeom prst="rect">
                <a:avLst/>
              </a:prstGeom>
              <a:noFill/>
            </p:spPr>
            <p:txBody>
              <a:bodyPr wrap="square" rtlCol="0">
                <a:spAutoFit/>
              </a:bodyPr>
              <a:lstStyle/>
              <a:p>
                <a:r>
                  <a:rPr lang="en-US" altLang="zh-CN" dirty="0">
                    <a:solidFill>
                      <a:srgbClr val="FF0000"/>
                    </a:solidFill>
                  </a:rPr>
                  <a:t>9</a:t>
                </a:r>
                <a:endParaRPr lang="zh-CN" altLang="en-US" dirty="0">
                  <a:solidFill>
                    <a:srgbClr val="FF0000"/>
                  </a:solidFill>
                </a:endParaRPr>
              </a:p>
            </p:txBody>
          </p:sp>
        </p:grpSp>
        <p:grpSp>
          <p:nvGrpSpPr>
            <p:cNvPr id="21" name="组合 20"/>
            <p:cNvGrpSpPr/>
            <p:nvPr/>
          </p:nvGrpSpPr>
          <p:grpSpPr>
            <a:xfrm>
              <a:off x="6149485" y="2402226"/>
              <a:ext cx="2164705" cy="1166636"/>
              <a:chOff x="6149485" y="2402226"/>
              <a:chExt cx="2164705" cy="1166636"/>
            </a:xfrm>
          </p:grpSpPr>
          <p:sp>
            <p:nvSpPr>
              <p:cNvPr id="12" name="文本框 11"/>
              <p:cNvSpPr txBox="1"/>
              <p:nvPr/>
            </p:nvSpPr>
            <p:spPr>
              <a:xfrm>
                <a:off x="6149485" y="2633547"/>
                <a:ext cx="432048" cy="369332"/>
              </a:xfrm>
              <a:prstGeom prst="rect">
                <a:avLst/>
              </a:prstGeom>
              <a:noFill/>
            </p:spPr>
            <p:txBody>
              <a:bodyPr wrap="square" rtlCol="0">
                <a:spAutoFit/>
              </a:bodyPr>
              <a:lstStyle/>
              <a:p>
                <a:r>
                  <a:rPr lang="en-US" altLang="zh-CN" dirty="0">
                    <a:solidFill>
                      <a:srgbClr val="FF0000"/>
                    </a:solidFill>
                  </a:rPr>
                  <a:t>1</a:t>
                </a:r>
                <a:endParaRPr lang="zh-CN" altLang="en-US" dirty="0">
                  <a:solidFill>
                    <a:srgbClr val="FF0000"/>
                  </a:solidFill>
                </a:endParaRPr>
              </a:p>
            </p:txBody>
          </p:sp>
          <p:sp>
            <p:nvSpPr>
              <p:cNvPr id="13" name="文本框 12"/>
              <p:cNvSpPr txBox="1"/>
              <p:nvPr/>
            </p:nvSpPr>
            <p:spPr>
              <a:xfrm>
                <a:off x="6178154" y="2999717"/>
                <a:ext cx="432048" cy="369332"/>
              </a:xfrm>
              <a:prstGeom prst="rect">
                <a:avLst/>
              </a:prstGeom>
              <a:noFill/>
            </p:spPr>
            <p:txBody>
              <a:bodyPr wrap="square" rtlCol="0">
                <a:spAutoFit/>
              </a:bodyPr>
              <a:lstStyle/>
              <a:p>
                <a:r>
                  <a:rPr lang="en-US" altLang="zh-CN" dirty="0">
                    <a:solidFill>
                      <a:srgbClr val="FF0000"/>
                    </a:solidFill>
                  </a:rPr>
                  <a:t>2</a:t>
                </a:r>
                <a:endParaRPr lang="zh-CN" altLang="en-US" dirty="0">
                  <a:solidFill>
                    <a:srgbClr val="FF0000"/>
                  </a:solidFill>
                </a:endParaRPr>
              </a:p>
            </p:txBody>
          </p:sp>
          <p:sp>
            <p:nvSpPr>
              <p:cNvPr id="14" name="文本框 13"/>
              <p:cNvSpPr txBox="1"/>
              <p:nvPr/>
            </p:nvSpPr>
            <p:spPr>
              <a:xfrm>
                <a:off x="6562871" y="3199530"/>
                <a:ext cx="432048" cy="369332"/>
              </a:xfrm>
              <a:prstGeom prst="rect">
                <a:avLst/>
              </a:prstGeom>
              <a:noFill/>
            </p:spPr>
            <p:txBody>
              <a:bodyPr wrap="square" rtlCol="0">
                <a:spAutoFit/>
              </a:bodyPr>
              <a:lstStyle/>
              <a:p>
                <a:r>
                  <a:rPr lang="en-US" altLang="zh-CN" dirty="0">
                    <a:solidFill>
                      <a:srgbClr val="FF0000"/>
                    </a:solidFill>
                  </a:rPr>
                  <a:t>3</a:t>
                </a:r>
                <a:endParaRPr lang="zh-CN" altLang="en-US" dirty="0">
                  <a:solidFill>
                    <a:srgbClr val="FF0000"/>
                  </a:solidFill>
                </a:endParaRPr>
              </a:p>
            </p:txBody>
          </p:sp>
          <p:sp>
            <p:nvSpPr>
              <p:cNvPr id="15" name="文本框 14"/>
              <p:cNvSpPr txBox="1"/>
              <p:nvPr/>
            </p:nvSpPr>
            <p:spPr>
              <a:xfrm>
                <a:off x="6997694" y="3048944"/>
                <a:ext cx="432048" cy="369332"/>
              </a:xfrm>
              <a:prstGeom prst="rect">
                <a:avLst/>
              </a:prstGeom>
              <a:noFill/>
            </p:spPr>
            <p:txBody>
              <a:bodyPr wrap="square" rtlCol="0">
                <a:spAutoFit/>
              </a:bodyPr>
              <a:lstStyle/>
              <a:p>
                <a:r>
                  <a:rPr lang="en-US" altLang="zh-CN" dirty="0">
                    <a:solidFill>
                      <a:srgbClr val="FF0000"/>
                    </a:solidFill>
                  </a:rPr>
                  <a:t>4</a:t>
                </a:r>
                <a:endParaRPr lang="zh-CN" altLang="en-US" dirty="0">
                  <a:solidFill>
                    <a:srgbClr val="FF0000"/>
                  </a:solidFill>
                </a:endParaRPr>
              </a:p>
            </p:txBody>
          </p:sp>
          <p:sp>
            <p:nvSpPr>
              <p:cNvPr id="16" name="文本框 15"/>
              <p:cNvSpPr txBox="1"/>
              <p:nvPr/>
            </p:nvSpPr>
            <p:spPr>
              <a:xfrm>
                <a:off x="6982683" y="2579570"/>
                <a:ext cx="432048" cy="369332"/>
              </a:xfrm>
              <a:prstGeom prst="rect">
                <a:avLst/>
              </a:prstGeom>
              <a:noFill/>
            </p:spPr>
            <p:txBody>
              <a:bodyPr wrap="square" rtlCol="0">
                <a:spAutoFit/>
              </a:bodyPr>
              <a:lstStyle/>
              <a:p>
                <a:r>
                  <a:rPr lang="en-US" altLang="zh-CN" dirty="0">
                    <a:solidFill>
                      <a:srgbClr val="FF0000"/>
                    </a:solidFill>
                  </a:rPr>
                  <a:t>5</a:t>
                </a:r>
                <a:endParaRPr lang="zh-CN" altLang="en-US" dirty="0">
                  <a:solidFill>
                    <a:srgbClr val="FF0000"/>
                  </a:solidFill>
                </a:endParaRPr>
              </a:p>
            </p:txBody>
          </p:sp>
          <p:sp>
            <p:nvSpPr>
              <p:cNvPr id="17" name="文本框 16"/>
              <p:cNvSpPr txBox="1"/>
              <p:nvPr/>
            </p:nvSpPr>
            <p:spPr>
              <a:xfrm>
                <a:off x="6559829" y="2402226"/>
                <a:ext cx="432048" cy="369332"/>
              </a:xfrm>
              <a:prstGeom prst="rect">
                <a:avLst/>
              </a:prstGeom>
              <a:noFill/>
            </p:spPr>
            <p:txBody>
              <a:bodyPr wrap="square" rtlCol="0">
                <a:spAutoFit/>
              </a:bodyPr>
              <a:lstStyle/>
              <a:p>
                <a:r>
                  <a:rPr lang="en-US" altLang="zh-CN" dirty="0">
                    <a:solidFill>
                      <a:srgbClr val="FF0000"/>
                    </a:solidFill>
                  </a:rPr>
                  <a:t>6</a:t>
                </a:r>
                <a:endParaRPr lang="zh-CN" altLang="en-US" dirty="0">
                  <a:solidFill>
                    <a:srgbClr val="FF0000"/>
                  </a:solidFill>
                </a:endParaRPr>
              </a:p>
            </p:txBody>
          </p:sp>
          <p:sp>
            <p:nvSpPr>
              <p:cNvPr id="18" name="文本框 17"/>
              <p:cNvSpPr txBox="1"/>
              <p:nvPr/>
            </p:nvSpPr>
            <p:spPr>
              <a:xfrm>
                <a:off x="7621561" y="2567197"/>
                <a:ext cx="432048" cy="369332"/>
              </a:xfrm>
              <a:prstGeom prst="rect">
                <a:avLst/>
              </a:prstGeom>
              <a:noFill/>
            </p:spPr>
            <p:txBody>
              <a:bodyPr wrap="square" rtlCol="0">
                <a:spAutoFit/>
              </a:bodyPr>
              <a:lstStyle/>
              <a:p>
                <a:r>
                  <a:rPr lang="en-US" altLang="zh-CN" dirty="0">
                    <a:solidFill>
                      <a:srgbClr val="FF0000"/>
                    </a:solidFill>
                  </a:rPr>
                  <a:t>7</a:t>
                </a:r>
                <a:endParaRPr lang="zh-CN" altLang="en-US" dirty="0">
                  <a:solidFill>
                    <a:srgbClr val="FF0000"/>
                  </a:solidFill>
                </a:endParaRPr>
              </a:p>
            </p:txBody>
          </p:sp>
          <p:sp>
            <p:nvSpPr>
              <p:cNvPr id="19" name="文本框 18"/>
              <p:cNvSpPr txBox="1"/>
              <p:nvPr/>
            </p:nvSpPr>
            <p:spPr>
              <a:xfrm>
                <a:off x="7882142" y="2892226"/>
                <a:ext cx="432048" cy="369332"/>
              </a:xfrm>
              <a:prstGeom prst="rect">
                <a:avLst/>
              </a:prstGeom>
              <a:noFill/>
            </p:spPr>
            <p:txBody>
              <a:bodyPr wrap="square" rtlCol="0">
                <a:spAutoFit/>
              </a:bodyPr>
              <a:lstStyle/>
              <a:p>
                <a:r>
                  <a:rPr lang="en-US" altLang="zh-CN" dirty="0">
                    <a:solidFill>
                      <a:srgbClr val="FF0000"/>
                    </a:solidFill>
                  </a:rPr>
                  <a:t>8</a:t>
                </a:r>
                <a:endParaRPr lang="zh-CN" altLang="en-US" dirty="0">
                  <a:solidFill>
                    <a:srgbClr val="FF0000"/>
                  </a:solidFill>
                </a:endParaRPr>
              </a:p>
            </p:txBody>
          </p:sp>
          <p:sp>
            <p:nvSpPr>
              <p:cNvPr id="20" name="文本框 19"/>
              <p:cNvSpPr txBox="1"/>
              <p:nvPr/>
            </p:nvSpPr>
            <p:spPr>
              <a:xfrm>
                <a:off x="7666118" y="3102290"/>
                <a:ext cx="432048" cy="369332"/>
              </a:xfrm>
              <a:prstGeom prst="rect">
                <a:avLst/>
              </a:prstGeom>
              <a:noFill/>
            </p:spPr>
            <p:txBody>
              <a:bodyPr wrap="square" rtlCol="0">
                <a:spAutoFit/>
              </a:bodyPr>
              <a:lstStyle/>
              <a:p>
                <a:r>
                  <a:rPr lang="en-US" altLang="zh-CN" dirty="0">
                    <a:solidFill>
                      <a:srgbClr val="FF0000"/>
                    </a:solidFill>
                  </a:rPr>
                  <a:t>9</a:t>
                </a:r>
                <a:endParaRPr lang="zh-CN" altLang="en-US" dirty="0">
                  <a:solidFill>
                    <a:srgbClr val="FF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descr="49033-10-03 cop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1743075"/>
            <a:ext cx="7620000"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p:nvPr/>
        </p:nvGrpSpPr>
        <p:grpSpPr>
          <a:xfrm>
            <a:off x="1228129" y="2348880"/>
            <a:ext cx="6466038" cy="977547"/>
            <a:chOff x="1228129" y="2348880"/>
            <a:chExt cx="6466038" cy="977547"/>
          </a:xfrm>
        </p:grpSpPr>
        <p:sp>
          <p:nvSpPr>
            <p:cNvPr id="4" name="文本框 3"/>
            <p:cNvSpPr txBox="1"/>
            <p:nvPr/>
          </p:nvSpPr>
          <p:spPr>
            <a:xfrm>
              <a:off x="1536370" y="2957095"/>
              <a:ext cx="432048" cy="369332"/>
            </a:xfrm>
            <a:prstGeom prst="rect">
              <a:avLst/>
            </a:prstGeom>
            <a:noFill/>
          </p:spPr>
          <p:txBody>
            <a:bodyPr wrap="square" rtlCol="0">
              <a:spAutoFit/>
            </a:bodyPr>
            <a:lstStyle/>
            <a:p>
              <a:r>
                <a:rPr lang="en-US" altLang="zh-CN" dirty="0">
                  <a:solidFill>
                    <a:srgbClr val="FF0000"/>
                  </a:solidFill>
                </a:rPr>
                <a:t>1</a:t>
              </a:r>
              <a:endParaRPr lang="zh-CN" altLang="en-US" dirty="0">
                <a:solidFill>
                  <a:srgbClr val="FF0000"/>
                </a:solidFill>
              </a:endParaRPr>
            </a:p>
          </p:txBody>
        </p:sp>
        <p:sp>
          <p:nvSpPr>
            <p:cNvPr id="5" name="文本框 4"/>
            <p:cNvSpPr txBox="1"/>
            <p:nvPr/>
          </p:nvSpPr>
          <p:spPr>
            <a:xfrm>
              <a:off x="1228129" y="2863785"/>
              <a:ext cx="432048" cy="369332"/>
            </a:xfrm>
            <a:prstGeom prst="rect">
              <a:avLst/>
            </a:prstGeom>
            <a:noFill/>
          </p:spPr>
          <p:txBody>
            <a:bodyPr wrap="square" rtlCol="0">
              <a:spAutoFit/>
            </a:bodyPr>
            <a:lstStyle/>
            <a:p>
              <a:r>
                <a:rPr lang="en-US" altLang="zh-CN" dirty="0">
                  <a:solidFill>
                    <a:srgbClr val="FF0000"/>
                  </a:solidFill>
                </a:rPr>
                <a:t>2</a:t>
              </a:r>
              <a:endParaRPr lang="zh-CN" altLang="en-US" dirty="0">
                <a:solidFill>
                  <a:srgbClr val="FF0000"/>
                </a:solidFill>
              </a:endParaRPr>
            </a:p>
          </p:txBody>
        </p:sp>
        <p:sp>
          <p:nvSpPr>
            <p:cNvPr id="6" name="文本框 5"/>
            <p:cNvSpPr txBox="1"/>
            <p:nvPr/>
          </p:nvSpPr>
          <p:spPr>
            <a:xfrm>
              <a:off x="1261861" y="2515631"/>
              <a:ext cx="432048" cy="369332"/>
            </a:xfrm>
            <a:prstGeom prst="rect">
              <a:avLst/>
            </a:prstGeom>
            <a:noFill/>
          </p:spPr>
          <p:txBody>
            <a:bodyPr wrap="square" rtlCol="0">
              <a:spAutoFit/>
            </a:bodyPr>
            <a:lstStyle/>
            <a:p>
              <a:r>
                <a:rPr lang="en-US" altLang="zh-CN" dirty="0">
                  <a:solidFill>
                    <a:srgbClr val="FF0000"/>
                  </a:solidFill>
                </a:rPr>
                <a:t>3</a:t>
              </a:r>
              <a:endParaRPr lang="zh-CN" altLang="en-US" dirty="0">
                <a:solidFill>
                  <a:srgbClr val="FF0000"/>
                </a:solidFill>
              </a:endParaRPr>
            </a:p>
          </p:txBody>
        </p:sp>
        <p:sp>
          <p:nvSpPr>
            <p:cNvPr id="7" name="文本框 6"/>
            <p:cNvSpPr txBox="1"/>
            <p:nvPr/>
          </p:nvSpPr>
          <p:spPr>
            <a:xfrm>
              <a:off x="1562940" y="2352282"/>
              <a:ext cx="432048" cy="369332"/>
            </a:xfrm>
            <a:prstGeom prst="rect">
              <a:avLst/>
            </a:prstGeom>
            <a:noFill/>
          </p:spPr>
          <p:txBody>
            <a:bodyPr wrap="square" rtlCol="0">
              <a:spAutoFit/>
            </a:bodyPr>
            <a:lstStyle/>
            <a:p>
              <a:r>
                <a:rPr lang="en-US" altLang="zh-CN" dirty="0">
                  <a:solidFill>
                    <a:srgbClr val="FF0000"/>
                  </a:solidFill>
                </a:rPr>
                <a:t>4</a:t>
              </a:r>
              <a:endParaRPr lang="zh-CN" altLang="en-US" dirty="0">
                <a:solidFill>
                  <a:srgbClr val="FF0000"/>
                </a:solidFill>
              </a:endParaRPr>
            </a:p>
          </p:txBody>
        </p:sp>
        <p:sp>
          <p:nvSpPr>
            <p:cNvPr id="8" name="文本框 7"/>
            <p:cNvSpPr txBox="1"/>
            <p:nvPr/>
          </p:nvSpPr>
          <p:spPr>
            <a:xfrm>
              <a:off x="1836707" y="2508955"/>
              <a:ext cx="432048" cy="369332"/>
            </a:xfrm>
            <a:prstGeom prst="rect">
              <a:avLst/>
            </a:prstGeom>
            <a:noFill/>
          </p:spPr>
          <p:txBody>
            <a:bodyPr wrap="square" rtlCol="0">
              <a:spAutoFit/>
            </a:bodyPr>
            <a:lstStyle/>
            <a:p>
              <a:r>
                <a:rPr lang="en-US" altLang="zh-CN" dirty="0">
                  <a:solidFill>
                    <a:srgbClr val="FF0000"/>
                  </a:solidFill>
                </a:rPr>
                <a:t>5</a:t>
              </a:r>
              <a:endParaRPr lang="zh-CN" altLang="en-US" dirty="0">
                <a:solidFill>
                  <a:srgbClr val="FF0000"/>
                </a:solidFill>
              </a:endParaRPr>
            </a:p>
          </p:txBody>
        </p:sp>
        <p:sp>
          <p:nvSpPr>
            <p:cNvPr id="9" name="文本框 8"/>
            <p:cNvSpPr txBox="1"/>
            <p:nvPr/>
          </p:nvSpPr>
          <p:spPr>
            <a:xfrm>
              <a:off x="1874031" y="2875632"/>
              <a:ext cx="432048" cy="369332"/>
            </a:xfrm>
            <a:prstGeom prst="rect">
              <a:avLst/>
            </a:prstGeom>
            <a:noFill/>
          </p:spPr>
          <p:txBody>
            <a:bodyPr wrap="square" rtlCol="0">
              <a:spAutoFit/>
            </a:bodyPr>
            <a:lstStyle/>
            <a:p>
              <a:r>
                <a:rPr lang="en-US" altLang="zh-CN" dirty="0">
                  <a:solidFill>
                    <a:srgbClr val="FF0000"/>
                  </a:solidFill>
                </a:rPr>
                <a:t>6</a:t>
              </a:r>
              <a:endParaRPr lang="zh-CN" altLang="en-US" dirty="0">
                <a:solidFill>
                  <a:srgbClr val="FF0000"/>
                </a:solidFill>
              </a:endParaRPr>
            </a:p>
          </p:txBody>
        </p:sp>
        <p:sp>
          <p:nvSpPr>
            <p:cNvPr id="13" name="文本框 12"/>
            <p:cNvSpPr txBox="1"/>
            <p:nvPr/>
          </p:nvSpPr>
          <p:spPr>
            <a:xfrm>
              <a:off x="4234339" y="2953693"/>
              <a:ext cx="432048" cy="369332"/>
            </a:xfrm>
            <a:prstGeom prst="rect">
              <a:avLst/>
            </a:prstGeom>
            <a:noFill/>
          </p:spPr>
          <p:txBody>
            <a:bodyPr wrap="square" rtlCol="0">
              <a:spAutoFit/>
            </a:bodyPr>
            <a:lstStyle/>
            <a:p>
              <a:r>
                <a:rPr lang="en-US" altLang="zh-CN" dirty="0">
                  <a:solidFill>
                    <a:schemeClr val="tx2">
                      <a:lumMod val="75000"/>
                    </a:schemeClr>
                  </a:solidFill>
                </a:rPr>
                <a:t>1</a:t>
              </a:r>
              <a:endParaRPr lang="zh-CN" altLang="en-US" dirty="0">
                <a:solidFill>
                  <a:schemeClr val="tx2">
                    <a:lumMod val="75000"/>
                  </a:schemeClr>
                </a:solidFill>
              </a:endParaRPr>
            </a:p>
          </p:txBody>
        </p:sp>
        <p:sp>
          <p:nvSpPr>
            <p:cNvPr id="14" name="文本框 13"/>
            <p:cNvSpPr txBox="1"/>
            <p:nvPr/>
          </p:nvSpPr>
          <p:spPr>
            <a:xfrm>
              <a:off x="3926098" y="2860383"/>
              <a:ext cx="432048" cy="369332"/>
            </a:xfrm>
            <a:prstGeom prst="rect">
              <a:avLst/>
            </a:prstGeom>
            <a:noFill/>
          </p:spPr>
          <p:txBody>
            <a:bodyPr wrap="square" rtlCol="0">
              <a:spAutoFit/>
            </a:bodyPr>
            <a:lstStyle/>
            <a:p>
              <a:r>
                <a:rPr lang="en-US" altLang="zh-CN" dirty="0">
                  <a:solidFill>
                    <a:schemeClr val="tx2">
                      <a:lumMod val="75000"/>
                    </a:schemeClr>
                  </a:solidFill>
                </a:rPr>
                <a:t>2</a:t>
              </a:r>
              <a:endParaRPr lang="zh-CN" altLang="en-US" dirty="0">
                <a:solidFill>
                  <a:schemeClr val="tx2">
                    <a:lumMod val="75000"/>
                  </a:schemeClr>
                </a:solidFill>
              </a:endParaRPr>
            </a:p>
          </p:txBody>
        </p:sp>
        <p:sp>
          <p:nvSpPr>
            <p:cNvPr id="15" name="文本框 14"/>
            <p:cNvSpPr txBox="1"/>
            <p:nvPr/>
          </p:nvSpPr>
          <p:spPr>
            <a:xfrm>
              <a:off x="3959830" y="2512229"/>
              <a:ext cx="432048" cy="369332"/>
            </a:xfrm>
            <a:prstGeom prst="rect">
              <a:avLst/>
            </a:prstGeom>
            <a:noFill/>
          </p:spPr>
          <p:txBody>
            <a:bodyPr wrap="square" rtlCol="0">
              <a:spAutoFit/>
            </a:bodyPr>
            <a:lstStyle/>
            <a:p>
              <a:r>
                <a:rPr lang="en-US" altLang="zh-CN" dirty="0">
                  <a:solidFill>
                    <a:schemeClr val="tx2">
                      <a:lumMod val="75000"/>
                    </a:schemeClr>
                  </a:solidFill>
                </a:rPr>
                <a:t>3</a:t>
              </a:r>
              <a:endParaRPr lang="zh-CN" altLang="en-US" dirty="0">
                <a:solidFill>
                  <a:schemeClr val="tx2">
                    <a:lumMod val="75000"/>
                  </a:schemeClr>
                </a:solidFill>
              </a:endParaRPr>
            </a:p>
          </p:txBody>
        </p:sp>
        <p:sp>
          <p:nvSpPr>
            <p:cNvPr id="16" name="文本框 15"/>
            <p:cNvSpPr txBox="1"/>
            <p:nvPr/>
          </p:nvSpPr>
          <p:spPr>
            <a:xfrm>
              <a:off x="4260909" y="2348880"/>
              <a:ext cx="432048" cy="369332"/>
            </a:xfrm>
            <a:prstGeom prst="rect">
              <a:avLst/>
            </a:prstGeom>
            <a:noFill/>
          </p:spPr>
          <p:txBody>
            <a:bodyPr wrap="square" rtlCol="0">
              <a:spAutoFit/>
            </a:bodyPr>
            <a:lstStyle/>
            <a:p>
              <a:r>
                <a:rPr lang="en-US" altLang="zh-CN" dirty="0">
                  <a:solidFill>
                    <a:schemeClr val="tx2">
                      <a:lumMod val="75000"/>
                    </a:schemeClr>
                  </a:solidFill>
                </a:rPr>
                <a:t>4</a:t>
              </a:r>
              <a:endParaRPr lang="zh-CN" altLang="en-US" dirty="0">
                <a:solidFill>
                  <a:schemeClr val="tx2">
                    <a:lumMod val="75000"/>
                  </a:schemeClr>
                </a:solidFill>
              </a:endParaRPr>
            </a:p>
          </p:txBody>
        </p:sp>
        <p:sp>
          <p:nvSpPr>
            <p:cNvPr id="17" name="文本框 16"/>
            <p:cNvSpPr txBox="1"/>
            <p:nvPr/>
          </p:nvSpPr>
          <p:spPr>
            <a:xfrm>
              <a:off x="4534676" y="2505553"/>
              <a:ext cx="432048" cy="369332"/>
            </a:xfrm>
            <a:prstGeom prst="rect">
              <a:avLst/>
            </a:prstGeom>
            <a:noFill/>
          </p:spPr>
          <p:txBody>
            <a:bodyPr wrap="square" rtlCol="0">
              <a:spAutoFit/>
            </a:bodyPr>
            <a:lstStyle/>
            <a:p>
              <a:r>
                <a:rPr lang="en-US" altLang="zh-CN" dirty="0">
                  <a:solidFill>
                    <a:schemeClr val="tx2">
                      <a:lumMod val="75000"/>
                    </a:schemeClr>
                  </a:solidFill>
                </a:rPr>
                <a:t>5</a:t>
              </a:r>
              <a:endParaRPr lang="zh-CN" altLang="en-US" dirty="0">
                <a:solidFill>
                  <a:schemeClr val="tx2">
                    <a:lumMod val="75000"/>
                  </a:schemeClr>
                </a:solidFill>
              </a:endParaRPr>
            </a:p>
          </p:txBody>
        </p:sp>
        <p:sp>
          <p:nvSpPr>
            <p:cNvPr id="18" name="文本框 17"/>
            <p:cNvSpPr txBox="1"/>
            <p:nvPr/>
          </p:nvSpPr>
          <p:spPr>
            <a:xfrm>
              <a:off x="4572000" y="2872230"/>
              <a:ext cx="432048" cy="369332"/>
            </a:xfrm>
            <a:prstGeom prst="rect">
              <a:avLst/>
            </a:prstGeom>
            <a:noFill/>
          </p:spPr>
          <p:txBody>
            <a:bodyPr wrap="square" rtlCol="0">
              <a:spAutoFit/>
            </a:bodyPr>
            <a:lstStyle/>
            <a:p>
              <a:r>
                <a:rPr lang="en-US" altLang="zh-CN" dirty="0">
                  <a:solidFill>
                    <a:schemeClr val="tx2">
                      <a:lumMod val="75000"/>
                    </a:schemeClr>
                  </a:solidFill>
                </a:rPr>
                <a:t>6</a:t>
              </a:r>
              <a:endParaRPr lang="zh-CN" altLang="en-US" dirty="0">
                <a:solidFill>
                  <a:schemeClr val="tx2">
                    <a:lumMod val="75000"/>
                  </a:schemeClr>
                </a:solidFill>
              </a:endParaRPr>
            </a:p>
          </p:txBody>
        </p:sp>
        <p:sp>
          <p:nvSpPr>
            <p:cNvPr id="19" name="文本框 18"/>
            <p:cNvSpPr txBox="1"/>
            <p:nvPr/>
          </p:nvSpPr>
          <p:spPr>
            <a:xfrm>
              <a:off x="6924458" y="2953693"/>
              <a:ext cx="432048" cy="369332"/>
            </a:xfrm>
            <a:prstGeom prst="rect">
              <a:avLst/>
            </a:prstGeom>
            <a:noFill/>
          </p:spPr>
          <p:txBody>
            <a:bodyPr wrap="square" rtlCol="0">
              <a:spAutoFit/>
            </a:bodyPr>
            <a:lstStyle/>
            <a:p>
              <a:r>
                <a:rPr lang="en-US" altLang="zh-CN" dirty="0">
                  <a:solidFill>
                    <a:schemeClr val="tx2">
                      <a:lumMod val="75000"/>
                    </a:schemeClr>
                  </a:solidFill>
                </a:rPr>
                <a:t>1</a:t>
              </a:r>
              <a:endParaRPr lang="zh-CN" altLang="en-US" dirty="0">
                <a:solidFill>
                  <a:schemeClr val="tx2">
                    <a:lumMod val="75000"/>
                  </a:schemeClr>
                </a:solidFill>
              </a:endParaRPr>
            </a:p>
          </p:txBody>
        </p:sp>
        <p:sp>
          <p:nvSpPr>
            <p:cNvPr id="20" name="文本框 19"/>
            <p:cNvSpPr txBox="1"/>
            <p:nvPr/>
          </p:nvSpPr>
          <p:spPr>
            <a:xfrm>
              <a:off x="6616217" y="2860383"/>
              <a:ext cx="432048" cy="369332"/>
            </a:xfrm>
            <a:prstGeom prst="rect">
              <a:avLst/>
            </a:prstGeom>
            <a:noFill/>
          </p:spPr>
          <p:txBody>
            <a:bodyPr wrap="square" rtlCol="0">
              <a:spAutoFit/>
            </a:bodyPr>
            <a:lstStyle/>
            <a:p>
              <a:r>
                <a:rPr lang="en-US" altLang="zh-CN" dirty="0">
                  <a:solidFill>
                    <a:schemeClr val="tx2">
                      <a:lumMod val="75000"/>
                    </a:schemeClr>
                  </a:solidFill>
                </a:rPr>
                <a:t>2</a:t>
              </a:r>
              <a:endParaRPr lang="zh-CN" altLang="en-US" dirty="0">
                <a:solidFill>
                  <a:schemeClr val="tx2">
                    <a:lumMod val="75000"/>
                  </a:schemeClr>
                </a:solidFill>
              </a:endParaRPr>
            </a:p>
          </p:txBody>
        </p:sp>
        <p:sp>
          <p:nvSpPr>
            <p:cNvPr id="21" name="文本框 20"/>
            <p:cNvSpPr txBox="1"/>
            <p:nvPr/>
          </p:nvSpPr>
          <p:spPr>
            <a:xfrm>
              <a:off x="6649949" y="2512229"/>
              <a:ext cx="432048" cy="369332"/>
            </a:xfrm>
            <a:prstGeom prst="rect">
              <a:avLst/>
            </a:prstGeom>
            <a:noFill/>
          </p:spPr>
          <p:txBody>
            <a:bodyPr wrap="square" rtlCol="0">
              <a:spAutoFit/>
            </a:bodyPr>
            <a:lstStyle/>
            <a:p>
              <a:r>
                <a:rPr lang="en-US" altLang="zh-CN" dirty="0">
                  <a:solidFill>
                    <a:schemeClr val="tx2">
                      <a:lumMod val="75000"/>
                    </a:schemeClr>
                  </a:solidFill>
                </a:rPr>
                <a:t>3</a:t>
              </a:r>
              <a:endParaRPr lang="zh-CN" altLang="en-US" dirty="0">
                <a:solidFill>
                  <a:schemeClr val="tx2">
                    <a:lumMod val="75000"/>
                  </a:schemeClr>
                </a:solidFill>
              </a:endParaRPr>
            </a:p>
          </p:txBody>
        </p:sp>
        <p:sp>
          <p:nvSpPr>
            <p:cNvPr id="22" name="文本框 21"/>
            <p:cNvSpPr txBox="1"/>
            <p:nvPr/>
          </p:nvSpPr>
          <p:spPr>
            <a:xfrm>
              <a:off x="6951028" y="2348880"/>
              <a:ext cx="432048" cy="369332"/>
            </a:xfrm>
            <a:prstGeom prst="rect">
              <a:avLst/>
            </a:prstGeom>
            <a:noFill/>
          </p:spPr>
          <p:txBody>
            <a:bodyPr wrap="square" rtlCol="0">
              <a:spAutoFit/>
            </a:bodyPr>
            <a:lstStyle/>
            <a:p>
              <a:r>
                <a:rPr lang="en-US" altLang="zh-CN" dirty="0">
                  <a:solidFill>
                    <a:schemeClr val="tx2">
                      <a:lumMod val="75000"/>
                    </a:schemeClr>
                  </a:solidFill>
                </a:rPr>
                <a:t>4</a:t>
              </a:r>
              <a:endParaRPr lang="zh-CN" altLang="en-US" dirty="0">
                <a:solidFill>
                  <a:schemeClr val="tx2">
                    <a:lumMod val="75000"/>
                  </a:schemeClr>
                </a:solidFill>
              </a:endParaRPr>
            </a:p>
          </p:txBody>
        </p:sp>
        <p:sp>
          <p:nvSpPr>
            <p:cNvPr id="23" name="文本框 22"/>
            <p:cNvSpPr txBox="1"/>
            <p:nvPr/>
          </p:nvSpPr>
          <p:spPr>
            <a:xfrm>
              <a:off x="7224795" y="2505553"/>
              <a:ext cx="432048" cy="369332"/>
            </a:xfrm>
            <a:prstGeom prst="rect">
              <a:avLst/>
            </a:prstGeom>
            <a:noFill/>
          </p:spPr>
          <p:txBody>
            <a:bodyPr wrap="square" rtlCol="0">
              <a:spAutoFit/>
            </a:bodyPr>
            <a:lstStyle/>
            <a:p>
              <a:r>
                <a:rPr lang="en-US" altLang="zh-CN" dirty="0">
                  <a:solidFill>
                    <a:schemeClr val="tx2">
                      <a:lumMod val="75000"/>
                    </a:schemeClr>
                  </a:solidFill>
                </a:rPr>
                <a:t>5</a:t>
              </a:r>
              <a:endParaRPr lang="zh-CN" altLang="en-US" dirty="0">
                <a:solidFill>
                  <a:schemeClr val="tx2">
                    <a:lumMod val="75000"/>
                  </a:schemeClr>
                </a:solidFill>
              </a:endParaRPr>
            </a:p>
          </p:txBody>
        </p:sp>
        <p:sp>
          <p:nvSpPr>
            <p:cNvPr id="24" name="文本框 23"/>
            <p:cNvSpPr txBox="1"/>
            <p:nvPr/>
          </p:nvSpPr>
          <p:spPr>
            <a:xfrm>
              <a:off x="7262119" y="2872230"/>
              <a:ext cx="432048" cy="369332"/>
            </a:xfrm>
            <a:prstGeom prst="rect">
              <a:avLst/>
            </a:prstGeom>
            <a:noFill/>
          </p:spPr>
          <p:txBody>
            <a:bodyPr wrap="square" rtlCol="0">
              <a:spAutoFit/>
            </a:bodyPr>
            <a:lstStyle/>
            <a:p>
              <a:r>
                <a:rPr lang="en-US" altLang="zh-CN" dirty="0">
                  <a:solidFill>
                    <a:schemeClr val="tx2">
                      <a:lumMod val="75000"/>
                    </a:schemeClr>
                  </a:solidFill>
                </a:rPr>
                <a:t>6</a:t>
              </a:r>
              <a:endParaRPr lang="zh-CN" altLang="en-US" dirty="0">
                <a:solidFill>
                  <a:schemeClr val="tx2">
                    <a:lumMod val="75000"/>
                  </a:schemeClr>
                </a:solidFill>
              </a:endParaRPr>
            </a:p>
          </p:txBody>
        </p:sp>
      </p:grpSp>
      <p:sp>
        <p:nvSpPr>
          <p:cNvPr id="3" name="文本框 2"/>
          <p:cNvSpPr txBox="1"/>
          <p:nvPr/>
        </p:nvSpPr>
        <p:spPr>
          <a:xfrm>
            <a:off x="6493510" y="5224780"/>
            <a:ext cx="2540000" cy="368300"/>
          </a:xfrm>
          <a:prstGeom prst="rect">
            <a:avLst/>
          </a:prstGeom>
          <a:noFill/>
        </p:spPr>
        <p:txBody>
          <a:bodyPr wrap="square" rtlCol="0" anchor="t">
            <a:spAutoFit/>
          </a:bodyPr>
          <a:lstStyle/>
          <a:p>
            <a:r>
              <a:rPr lang="zh-CN" altLang="en-US"/>
              <a:t>胸腺嘧啶</a:t>
            </a:r>
          </a:p>
        </p:txBody>
      </p:sp>
      <p:sp>
        <p:nvSpPr>
          <p:cNvPr id="10" name="文本框 9"/>
          <p:cNvSpPr txBox="1"/>
          <p:nvPr/>
        </p:nvSpPr>
        <p:spPr>
          <a:xfrm>
            <a:off x="3953510" y="5224780"/>
            <a:ext cx="2540000" cy="368300"/>
          </a:xfrm>
          <a:prstGeom prst="rect">
            <a:avLst/>
          </a:prstGeom>
          <a:noFill/>
        </p:spPr>
        <p:txBody>
          <a:bodyPr wrap="square" rtlCol="0" anchor="t">
            <a:spAutoFit/>
          </a:bodyPr>
          <a:lstStyle/>
          <a:p>
            <a:r>
              <a:rPr lang="zh-CN" altLang="en-US"/>
              <a:t>脲嘧啶</a:t>
            </a:r>
          </a:p>
        </p:txBody>
      </p:sp>
      <p:sp>
        <p:nvSpPr>
          <p:cNvPr id="11" name="文本框 10"/>
          <p:cNvSpPr txBox="1"/>
          <p:nvPr/>
        </p:nvSpPr>
        <p:spPr>
          <a:xfrm>
            <a:off x="1117600" y="5224780"/>
            <a:ext cx="2540000" cy="368300"/>
          </a:xfrm>
          <a:prstGeom prst="rect">
            <a:avLst/>
          </a:prstGeom>
          <a:noFill/>
        </p:spPr>
        <p:txBody>
          <a:bodyPr wrap="square" rtlCol="0" anchor="t">
            <a:spAutoFit/>
          </a:bodyPr>
          <a:lstStyle/>
          <a:p>
            <a:r>
              <a:rPr lang="zh-CN" altLang="en-US"/>
              <a:t>胞嘧啶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304800"/>
            <a:ext cx="6310313"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4"/>
          <p:cNvSpPr txBox="1">
            <a:spLocks noChangeArrowheads="1"/>
          </p:cNvSpPr>
          <p:nvPr/>
        </p:nvSpPr>
        <p:spPr bwMode="auto">
          <a:xfrm>
            <a:off x="609600" y="609600"/>
            <a:ext cx="8077200" cy="5472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b="1" dirty="0"/>
              <a:t>         1.1.5 The </a:t>
            </a:r>
            <a:r>
              <a:rPr lang="en-US" altLang="zh-CN" b="1" dirty="0">
                <a:solidFill>
                  <a:srgbClr val="FF0000"/>
                </a:solidFill>
              </a:rPr>
              <a:t>pentose</a:t>
            </a:r>
            <a:r>
              <a:rPr lang="en-US" altLang="zh-CN" b="1" dirty="0"/>
              <a:t> in a deoxyribonucleotide is a </a:t>
            </a:r>
            <a:r>
              <a:rPr lang="en-US" altLang="zh-CN" b="1" dirty="0">
                <a:solidFill>
                  <a:srgbClr val="FF0000"/>
                </a:solidFill>
              </a:rPr>
              <a:t>deoxyribose</a:t>
            </a:r>
            <a:r>
              <a:rPr lang="en-US" altLang="zh-CN" b="1" dirty="0"/>
              <a:t>, which lacks an oxygen atom at the 2’-position that is present in </a:t>
            </a:r>
            <a:r>
              <a:rPr lang="en-US" altLang="zh-CN" b="1" dirty="0">
                <a:solidFill>
                  <a:srgbClr val="FF0000"/>
                </a:solidFill>
              </a:rPr>
              <a:t>ribose</a:t>
            </a:r>
            <a:r>
              <a:rPr lang="en-US" altLang="zh-CN" b="1" dirty="0"/>
              <a:t>, the parent compound. </a:t>
            </a:r>
          </a:p>
          <a:p>
            <a:pPr eaLnBrk="1" hangingPunct="1">
              <a:buFontTx/>
              <a:buNone/>
            </a:pPr>
            <a:endParaRPr lang="en-US" altLang="zh-CN" b="1" dirty="0"/>
          </a:p>
          <a:p>
            <a:pPr eaLnBrk="1" hangingPunct="1">
              <a:lnSpc>
                <a:spcPct val="80000"/>
              </a:lnSpc>
              <a:buFontTx/>
              <a:buNone/>
            </a:pPr>
            <a:r>
              <a:rPr lang="en-US" altLang="zh-CN" b="1" dirty="0"/>
              <a:t>	1.1.6 The deoxyribose is in its </a:t>
            </a:r>
            <a:r>
              <a:rPr lang="en-US" altLang="zh-CN" b="1" dirty="0">
                <a:solidFill>
                  <a:srgbClr val="FF0000"/>
                </a:solidFill>
                <a:latin typeface="Symbol" panose="05050102010706020507" pitchFamily="18" charset="2"/>
              </a:rPr>
              <a:t>b</a:t>
            </a:r>
            <a:r>
              <a:rPr lang="en-US" altLang="zh-CN" b="1" dirty="0">
                <a:solidFill>
                  <a:srgbClr val="FF0000"/>
                </a:solidFill>
              </a:rPr>
              <a:t>-furanose</a:t>
            </a:r>
            <a:r>
              <a:rPr lang="en-US" altLang="zh-CN" b="1" dirty="0"/>
              <a:t> form (a closed five-member ring).</a:t>
            </a:r>
          </a:p>
          <a:p>
            <a:pPr eaLnBrk="1" hangingPunct="1">
              <a:lnSpc>
                <a:spcPct val="80000"/>
              </a:lnSpc>
              <a:buFontTx/>
              <a:buNone/>
            </a:pPr>
            <a:r>
              <a:rPr lang="en-US" altLang="zh-CN" b="1" dirty="0"/>
              <a:t>	</a:t>
            </a:r>
          </a:p>
          <a:p>
            <a:pPr eaLnBrk="1" hangingPunct="1">
              <a:lnSpc>
                <a:spcPct val="80000"/>
              </a:lnSpc>
              <a:buFontTx/>
              <a:buNone/>
            </a:pPr>
            <a:r>
              <a:rPr lang="en-US" altLang="zh-CN" b="1" dirty="0"/>
              <a:t>         1.1.7 Only </a:t>
            </a:r>
            <a:r>
              <a:rPr lang="en-US" altLang="zh-CN" b="1" dirty="0">
                <a:solidFill>
                  <a:srgbClr val="FF0000"/>
                </a:solidFill>
              </a:rPr>
              <a:t>D-deoxyribose</a:t>
            </a:r>
            <a:r>
              <a:rPr lang="en-US" altLang="zh-CN" b="1" dirty="0"/>
              <a:t> is found in DNA. </a:t>
            </a:r>
            <a:endParaRPr lang="en-US" altLang="zh-CN" sz="2800" b="1" dirty="0"/>
          </a:p>
          <a:p>
            <a:pPr eaLnBrk="1" hangingPunct="1">
              <a:spcBef>
                <a:spcPct val="50000"/>
              </a:spcBef>
              <a:buFontTx/>
              <a:buNone/>
            </a:pPr>
            <a:endParaRPr lang="en-US" altLang="zh-CN"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1400" y="711200"/>
            <a:ext cx="7061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850255" y="5716905"/>
            <a:ext cx="1123315" cy="368300"/>
          </a:xfrm>
          <a:prstGeom prst="rect">
            <a:avLst/>
          </a:prstGeom>
          <a:noFill/>
        </p:spPr>
        <p:txBody>
          <a:bodyPr wrap="square" rtlCol="0">
            <a:spAutoFit/>
          </a:bodyPr>
          <a:lstStyle/>
          <a:p>
            <a:r>
              <a:rPr lang="zh-CN" altLang="en-US"/>
              <a:t>呋喃糖</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8" name="Picture 4" descr="RIBOSE"/>
          <p:cNvPicPr>
            <a:picLocks noGrp="1" noChangeAspect="1" noChangeArrowheads="1"/>
          </p:cNvPicPr>
          <p:nvPr>
            <p:ph sz="half" idx="4294967295"/>
          </p:nvPr>
        </p:nvPicPr>
        <p:blipFill>
          <a:blip r:embed="rId2" cstate="print">
            <a:extLst>
              <a:ext uri="{28A0092B-C50C-407E-A947-70E740481C1C}">
                <a14:useLocalDpi xmlns:a14="http://schemas.microsoft.com/office/drawing/2010/main" val="0"/>
              </a:ext>
            </a:extLst>
          </a:blip>
          <a:srcRect/>
          <a:stretch>
            <a:fillRect/>
          </a:stretch>
        </p:blipFill>
        <p:spPr>
          <a:xfrm>
            <a:off x="4572000" y="2207785"/>
            <a:ext cx="3024336" cy="2708328"/>
          </a:xfrm>
          <a:prstGeom prst="rect">
            <a:avLst/>
          </a:prstGeom>
          <a:noFill/>
        </p:spPr>
      </p:pic>
      <p:sp>
        <p:nvSpPr>
          <p:cNvPr id="16386" name="Rectangle 2"/>
          <p:cNvSpPr>
            <a:spLocks noGrp="1" noChangeArrowheads="1"/>
          </p:cNvSpPr>
          <p:nvPr>
            <p:ph type="title" idx="4294967295"/>
          </p:nvPr>
        </p:nvSpPr>
        <p:spPr>
          <a:xfrm>
            <a:off x="603250" y="549275"/>
            <a:ext cx="8540750" cy="1143000"/>
          </a:xfrm>
          <a:prstGeom prst="rect">
            <a:avLst/>
          </a:prstGeom>
        </p:spPr>
        <p:txBody>
          <a:bodyPr/>
          <a:lstStyle/>
          <a:p>
            <a:pPr eaLnBrk="1" hangingPunct="1"/>
            <a:r>
              <a:rPr lang="en-US" altLang="zh-CN" sz="3600" b="1">
                <a:solidFill>
                  <a:srgbClr val="FF0066"/>
                </a:solidFill>
                <a:latin typeface="Arial" panose="020B0604020202020204" pitchFamily="34" charset="0"/>
              </a:rPr>
              <a:t>Deoxyribose and Ribose</a:t>
            </a:r>
          </a:p>
        </p:txBody>
      </p:sp>
      <p:pic>
        <p:nvPicPr>
          <p:cNvPr id="16387" name="Picture 3" descr="DRIBOSEH"/>
          <p:cNvPicPr>
            <a:picLocks noGrp="1" noChangeAspect="1" noChangeArrowheads="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971600" y="2257510"/>
            <a:ext cx="2952328" cy="2671857"/>
          </a:xfrm>
          <a:prstGeom prst="rect">
            <a:avLst/>
          </a:prstGeom>
          <a:noFill/>
        </p:spPr>
      </p:pic>
      <p:sp>
        <p:nvSpPr>
          <p:cNvPr id="2" name="矩形: 圆角 1"/>
          <p:cNvSpPr/>
          <p:nvPr/>
        </p:nvSpPr>
        <p:spPr>
          <a:xfrm>
            <a:off x="2987824" y="3933056"/>
            <a:ext cx="504056" cy="576064"/>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圆角 5"/>
          <p:cNvSpPr/>
          <p:nvPr/>
        </p:nvSpPr>
        <p:spPr>
          <a:xfrm>
            <a:off x="6732240" y="3933056"/>
            <a:ext cx="504056" cy="576064"/>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圆角 2"/>
          <p:cNvSpPr/>
          <p:nvPr/>
        </p:nvSpPr>
        <p:spPr>
          <a:xfrm>
            <a:off x="683568" y="2060848"/>
            <a:ext cx="1512168" cy="93610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99592" y="1711718"/>
            <a:ext cx="792088" cy="369332"/>
          </a:xfrm>
          <a:prstGeom prst="rect">
            <a:avLst/>
          </a:prstGeom>
          <a:noFill/>
        </p:spPr>
        <p:txBody>
          <a:bodyPr wrap="square" rtlCol="0">
            <a:spAutoFit/>
          </a:bodyPr>
          <a:lstStyle/>
          <a:p>
            <a:r>
              <a:rPr lang="en-US" altLang="zh-CN" dirty="0"/>
              <a:t>D</a:t>
            </a:r>
            <a:r>
              <a:rPr lang="zh-CN" altLang="en-US" dirty="0"/>
              <a:t>型</a:t>
            </a:r>
          </a:p>
        </p:txBody>
      </p:sp>
      <p:sp>
        <p:nvSpPr>
          <p:cNvPr id="9" name="矩形: 圆角 8"/>
          <p:cNvSpPr/>
          <p:nvPr/>
        </p:nvSpPr>
        <p:spPr>
          <a:xfrm>
            <a:off x="3131840" y="2060848"/>
            <a:ext cx="1296144" cy="936104"/>
          </a:xfrm>
          <a:prstGeom prst="roundRect">
            <a:avLst/>
          </a:prstGeom>
          <a:no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383868" y="1711718"/>
            <a:ext cx="792088" cy="369332"/>
          </a:xfrm>
          <a:prstGeom prst="rect">
            <a:avLst/>
          </a:prstGeom>
          <a:noFill/>
        </p:spPr>
        <p:txBody>
          <a:bodyPr wrap="square" rtlCol="0">
            <a:spAutoFit/>
          </a:bodyPr>
          <a:lstStyle/>
          <a:p>
            <a:r>
              <a:rPr lang="en-US" altLang="zh-CN" dirty="0"/>
              <a:t>β</a:t>
            </a:r>
            <a:r>
              <a:rPr lang="zh-CN" altLang="en-US" dirty="0"/>
              <a:t>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noChangeArrowheads="1"/>
          </p:cNvSpPr>
          <p:nvPr>
            <p:ph type="title" idx="4294967295"/>
          </p:nvPr>
        </p:nvSpPr>
        <p:spPr>
          <a:xfrm>
            <a:off x="0" y="609600"/>
            <a:ext cx="7772400" cy="1143000"/>
          </a:xfrm>
          <a:prstGeom prst="rect">
            <a:avLst/>
          </a:prstGeom>
        </p:spPr>
        <p:txBody>
          <a:bodyPr/>
          <a:lstStyle/>
          <a:p>
            <a:r>
              <a:rPr lang="en-US" altLang="zh-CN" sz="2800" dirty="0"/>
              <a:t>The atoms in the 5-carbon sugar  are also numbered.</a:t>
            </a:r>
            <a:endParaRPr lang="zh-CN" altLang="en-US" sz="2800" dirty="0"/>
          </a:p>
        </p:txBody>
      </p:sp>
      <p:pic>
        <p:nvPicPr>
          <p:cNvPr id="17413" name="Picture 2" descr="L:\whole\image\10\49033-10-09 cop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350" y="1557338"/>
            <a:ext cx="8902700" cy="327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p:nvGrpSpPr>
        <p:grpSpPr>
          <a:xfrm>
            <a:off x="918254" y="2214195"/>
            <a:ext cx="7839541" cy="2232209"/>
            <a:chOff x="918254" y="2214195"/>
            <a:chExt cx="7839541" cy="2232209"/>
          </a:xfrm>
        </p:grpSpPr>
        <p:sp>
          <p:nvSpPr>
            <p:cNvPr id="2" name="文本框 1"/>
            <p:cNvSpPr txBox="1"/>
            <p:nvPr/>
          </p:nvSpPr>
          <p:spPr>
            <a:xfrm>
              <a:off x="924945" y="2216874"/>
              <a:ext cx="432048" cy="369332"/>
            </a:xfrm>
            <a:prstGeom prst="rect">
              <a:avLst/>
            </a:prstGeom>
            <a:noFill/>
          </p:spPr>
          <p:txBody>
            <a:bodyPr wrap="square" rtlCol="0">
              <a:spAutoFit/>
            </a:bodyPr>
            <a:lstStyle/>
            <a:p>
              <a:r>
                <a:rPr lang="zh-CN" altLang="en-US" dirty="0">
                  <a:solidFill>
                    <a:srgbClr val="C00000"/>
                  </a:solidFill>
                </a:rPr>
                <a:t>’</a:t>
              </a:r>
            </a:p>
          </p:txBody>
        </p:sp>
        <p:sp>
          <p:nvSpPr>
            <p:cNvPr id="6" name="文本框 5"/>
            <p:cNvSpPr txBox="1"/>
            <p:nvPr/>
          </p:nvSpPr>
          <p:spPr>
            <a:xfrm>
              <a:off x="927585" y="2646282"/>
              <a:ext cx="432048" cy="369332"/>
            </a:xfrm>
            <a:prstGeom prst="rect">
              <a:avLst/>
            </a:prstGeom>
            <a:noFill/>
          </p:spPr>
          <p:txBody>
            <a:bodyPr wrap="square" rtlCol="0">
              <a:spAutoFit/>
            </a:bodyPr>
            <a:lstStyle/>
            <a:p>
              <a:r>
                <a:rPr lang="zh-CN" altLang="en-US" dirty="0">
                  <a:solidFill>
                    <a:srgbClr val="C00000"/>
                  </a:solidFill>
                </a:rPr>
                <a:t>’</a:t>
              </a:r>
            </a:p>
          </p:txBody>
        </p:sp>
        <p:sp>
          <p:nvSpPr>
            <p:cNvPr id="7" name="文本框 6"/>
            <p:cNvSpPr txBox="1"/>
            <p:nvPr/>
          </p:nvSpPr>
          <p:spPr>
            <a:xfrm>
              <a:off x="924945" y="3113014"/>
              <a:ext cx="432048" cy="369332"/>
            </a:xfrm>
            <a:prstGeom prst="rect">
              <a:avLst/>
            </a:prstGeom>
            <a:noFill/>
          </p:spPr>
          <p:txBody>
            <a:bodyPr wrap="square" rtlCol="0">
              <a:spAutoFit/>
            </a:bodyPr>
            <a:lstStyle/>
            <a:p>
              <a:r>
                <a:rPr lang="zh-CN" altLang="en-US" dirty="0">
                  <a:solidFill>
                    <a:srgbClr val="C00000"/>
                  </a:solidFill>
                </a:rPr>
                <a:t>’</a:t>
              </a:r>
            </a:p>
          </p:txBody>
        </p:sp>
        <p:sp>
          <p:nvSpPr>
            <p:cNvPr id="8" name="文本框 7"/>
            <p:cNvSpPr txBox="1"/>
            <p:nvPr/>
          </p:nvSpPr>
          <p:spPr>
            <a:xfrm>
              <a:off x="918254" y="3601048"/>
              <a:ext cx="432048" cy="369332"/>
            </a:xfrm>
            <a:prstGeom prst="rect">
              <a:avLst/>
            </a:prstGeom>
            <a:noFill/>
          </p:spPr>
          <p:txBody>
            <a:bodyPr wrap="square" rtlCol="0">
              <a:spAutoFit/>
            </a:bodyPr>
            <a:lstStyle/>
            <a:p>
              <a:r>
                <a:rPr lang="zh-CN" altLang="en-US" dirty="0">
                  <a:solidFill>
                    <a:srgbClr val="C00000"/>
                  </a:solidFill>
                </a:rPr>
                <a:t>’</a:t>
              </a:r>
            </a:p>
          </p:txBody>
        </p:sp>
        <p:sp>
          <p:nvSpPr>
            <p:cNvPr id="9" name="文本框 8"/>
            <p:cNvSpPr txBox="1"/>
            <p:nvPr/>
          </p:nvSpPr>
          <p:spPr>
            <a:xfrm>
              <a:off x="934276" y="4067780"/>
              <a:ext cx="432048" cy="369332"/>
            </a:xfrm>
            <a:prstGeom prst="rect">
              <a:avLst/>
            </a:prstGeom>
            <a:noFill/>
          </p:spPr>
          <p:txBody>
            <a:bodyPr wrap="square" rtlCol="0">
              <a:spAutoFit/>
            </a:bodyPr>
            <a:lstStyle/>
            <a:p>
              <a:r>
                <a:rPr lang="zh-CN" altLang="en-US" dirty="0">
                  <a:solidFill>
                    <a:srgbClr val="C00000"/>
                  </a:solidFill>
                </a:rPr>
                <a:t>’</a:t>
              </a:r>
            </a:p>
          </p:txBody>
        </p:sp>
        <p:sp>
          <p:nvSpPr>
            <p:cNvPr id="10" name="文本框 9"/>
            <p:cNvSpPr txBox="1"/>
            <p:nvPr/>
          </p:nvSpPr>
          <p:spPr>
            <a:xfrm>
              <a:off x="2455775" y="2267541"/>
              <a:ext cx="432048" cy="369332"/>
            </a:xfrm>
            <a:prstGeom prst="rect">
              <a:avLst/>
            </a:prstGeom>
            <a:noFill/>
          </p:spPr>
          <p:txBody>
            <a:bodyPr wrap="square" rtlCol="0">
              <a:spAutoFit/>
            </a:bodyPr>
            <a:lstStyle/>
            <a:p>
              <a:r>
                <a:rPr lang="zh-CN" altLang="en-US" dirty="0">
                  <a:solidFill>
                    <a:srgbClr val="C00000"/>
                  </a:solidFill>
                </a:rPr>
                <a:t>’</a:t>
              </a:r>
            </a:p>
          </p:txBody>
        </p:sp>
        <p:sp>
          <p:nvSpPr>
            <p:cNvPr id="11" name="文本框 10"/>
            <p:cNvSpPr txBox="1"/>
            <p:nvPr/>
          </p:nvSpPr>
          <p:spPr>
            <a:xfrm>
              <a:off x="2339752" y="2915652"/>
              <a:ext cx="432048" cy="369332"/>
            </a:xfrm>
            <a:prstGeom prst="rect">
              <a:avLst/>
            </a:prstGeom>
            <a:noFill/>
          </p:spPr>
          <p:txBody>
            <a:bodyPr wrap="square" rtlCol="0">
              <a:spAutoFit/>
            </a:bodyPr>
            <a:lstStyle/>
            <a:p>
              <a:r>
                <a:rPr lang="zh-CN" altLang="en-US" dirty="0">
                  <a:solidFill>
                    <a:srgbClr val="C00000"/>
                  </a:solidFill>
                </a:rPr>
                <a:t>’</a:t>
              </a:r>
            </a:p>
          </p:txBody>
        </p:sp>
        <p:sp>
          <p:nvSpPr>
            <p:cNvPr id="12" name="文本框 11"/>
            <p:cNvSpPr txBox="1"/>
            <p:nvPr/>
          </p:nvSpPr>
          <p:spPr>
            <a:xfrm>
              <a:off x="2906485" y="3347700"/>
              <a:ext cx="432048" cy="369332"/>
            </a:xfrm>
            <a:prstGeom prst="rect">
              <a:avLst/>
            </a:prstGeom>
            <a:noFill/>
          </p:spPr>
          <p:txBody>
            <a:bodyPr wrap="square" rtlCol="0">
              <a:spAutoFit/>
            </a:bodyPr>
            <a:lstStyle/>
            <a:p>
              <a:r>
                <a:rPr lang="zh-CN" altLang="en-US" dirty="0">
                  <a:solidFill>
                    <a:srgbClr val="C00000"/>
                  </a:solidFill>
                </a:rPr>
                <a:t>’</a:t>
              </a:r>
            </a:p>
          </p:txBody>
        </p:sp>
        <p:sp>
          <p:nvSpPr>
            <p:cNvPr id="13" name="文本框 12"/>
            <p:cNvSpPr txBox="1"/>
            <p:nvPr/>
          </p:nvSpPr>
          <p:spPr>
            <a:xfrm>
              <a:off x="3394519" y="3347700"/>
              <a:ext cx="432048" cy="369332"/>
            </a:xfrm>
            <a:prstGeom prst="rect">
              <a:avLst/>
            </a:prstGeom>
            <a:noFill/>
          </p:spPr>
          <p:txBody>
            <a:bodyPr wrap="square" rtlCol="0">
              <a:spAutoFit/>
            </a:bodyPr>
            <a:lstStyle/>
            <a:p>
              <a:r>
                <a:rPr lang="zh-CN" altLang="en-US" dirty="0">
                  <a:solidFill>
                    <a:srgbClr val="C00000"/>
                  </a:solidFill>
                </a:rPr>
                <a:t>’</a:t>
              </a:r>
            </a:p>
          </p:txBody>
        </p:sp>
        <p:sp>
          <p:nvSpPr>
            <p:cNvPr id="14" name="文本框 13"/>
            <p:cNvSpPr txBox="1"/>
            <p:nvPr/>
          </p:nvSpPr>
          <p:spPr>
            <a:xfrm>
              <a:off x="3735897" y="2924944"/>
              <a:ext cx="432048" cy="369332"/>
            </a:xfrm>
            <a:prstGeom prst="rect">
              <a:avLst/>
            </a:prstGeom>
            <a:noFill/>
          </p:spPr>
          <p:txBody>
            <a:bodyPr wrap="square" rtlCol="0">
              <a:spAutoFit/>
            </a:bodyPr>
            <a:lstStyle/>
            <a:p>
              <a:r>
                <a:rPr lang="zh-CN" altLang="en-US" dirty="0">
                  <a:solidFill>
                    <a:srgbClr val="C00000"/>
                  </a:solidFill>
                </a:rPr>
                <a:t>’</a:t>
              </a:r>
            </a:p>
          </p:txBody>
        </p:sp>
        <p:sp>
          <p:nvSpPr>
            <p:cNvPr id="15" name="文本框 14"/>
            <p:cNvSpPr txBox="1"/>
            <p:nvPr/>
          </p:nvSpPr>
          <p:spPr>
            <a:xfrm>
              <a:off x="5264087" y="2214195"/>
              <a:ext cx="432048" cy="369332"/>
            </a:xfrm>
            <a:prstGeom prst="rect">
              <a:avLst/>
            </a:prstGeom>
            <a:noFill/>
          </p:spPr>
          <p:txBody>
            <a:bodyPr wrap="square" rtlCol="0">
              <a:spAutoFit/>
            </a:bodyPr>
            <a:lstStyle/>
            <a:p>
              <a:r>
                <a:rPr lang="zh-CN" altLang="en-US" dirty="0">
                  <a:solidFill>
                    <a:srgbClr val="C00000"/>
                  </a:solidFill>
                </a:rPr>
                <a:t>’</a:t>
              </a:r>
            </a:p>
          </p:txBody>
        </p:sp>
        <p:sp>
          <p:nvSpPr>
            <p:cNvPr id="16" name="文本框 15"/>
            <p:cNvSpPr txBox="1"/>
            <p:nvPr/>
          </p:nvSpPr>
          <p:spPr>
            <a:xfrm>
              <a:off x="5282749" y="2655613"/>
              <a:ext cx="432048" cy="369332"/>
            </a:xfrm>
            <a:prstGeom prst="rect">
              <a:avLst/>
            </a:prstGeom>
            <a:noFill/>
          </p:spPr>
          <p:txBody>
            <a:bodyPr wrap="square" rtlCol="0">
              <a:spAutoFit/>
            </a:bodyPr>
            <a:lstStyle/>
            <a:p>
              <a:r>
                <a:rPr lang="zh-CN" altLang="en-US" dirty="0">
                  <a:solidFill>
                    <a:srgbClr val="C00000"/>
                  </a:solidFill>
                </a:rPr>
                <a:t>’</a:t>
              </a:r>
            </a:p>
          </p:txBody>
        </p:sp>
        <p:sp>
          <p:nvSpPr>
            <p:cNvPr id="17" name="文本框 16"/>
            <p:cNvSpPr txBox="1"/>
            <p:nvPr/>
          </p:nvSpPr>
          <p:spPr>
            <a:xfrm>
              <a:off x="5273418" y="3113014"/>
              <a:ext cx="432048" cy="369332"/>
            </a:xfrm>
            <a:prstGeom prst="rect">
              <a:avLst/>
            </a:prstGeom>
            <a:noFill/>
          </p:spPr>
          <p:txBody>
            <a:bodyPr wrap="square" rtlCol="0">
              <a:spAutoFit/>
            </a:bodyPr>
            <a:lstStyle/>
            <a:p>
              <a:r>
                <a:rPr lang="zh-CN" altLang="en-US" dirty="0">
                  <a:solidFill>
                    <a:srgbClr val="C00000"/>
                  </a:solidFill>
                </a:rPr>
                <a:t>’</a:t>
              </a:r>
            </a:p>
          </p:txBody>
        </p:sp>
        <p:sp>
          <p:nvSpPr>
            <p:cNvPr id="18" name="文本框 17"/>
            <p:cNvSpPr txBox="1"/>
            <p:nvPr/>
          </p:nvSpPr>
          <p:spPr>
            <a:xfrm>
              <a:off x="5266727" y="3598408"/>
              <a:ext cx="432048" cy="369332"/>
            </a:xfrm>
            <a:prstGeom prst="rect">
              <a:avLst/>
            </a:prstGeom>
            <a:noFill/>
          </p:spPr>
          <p:txBody>
            <a:bodyPr wrap="square" rtlCol="0">
              <a:spAutoFit/>
            </a:bodyPr>
            <a:lstStyle/>
            <a:p>
              <a:r>
                <a:rPr lang="zh-CN" altLang="en-US" dirty="0">
                  <a:solidFill>
                    <a:srgbClr val="C00000"/>
                  </a:solidFill>
                </a:rPr>
                <a:t>’</a:t>
              </a:r>
            </a:p>
          </p:txBody>
        </p:sp>
        <p:sp>
          <p:nvSpPr>
            <p:cNvPr id="19" name="文本框 18"/>
            <p:cNvSpPr txBox="1"/>
            <p:nvPr/>
          </p:nvSpPr>
          <p:spPr>
            <a:xfrm>
              <a:off x="5273418" y="4077072"/>
              <a:ext cx="432048" cy="369332"/>
            </a:xfrm>
            <a:prstGeom prst="rect">
              <a:avLst/>
            </a:prstGeom>
            <a:noFill/>
          </p:spPr>
          <p:txBody>
            <a:bodyPr wrap="square" rtlCol="0">
              <a:spAutoFit/>
            </a:bodyPr>
            <a:lstStyle/>
            <a:p>
              <a:r>
                <a:rPr lang="zh-CN" altLang="en-US" dirty="0">
                  <a:solidFill>
                    <a:srgbClr val="C00000"/>
                  </a:solidFill>
                </a:rPr>
                <a:t>’</a:t>
              </a:r>
            </a:p>
          </p:txBody>
        </p:sp>
        <p:sp>
          <p:nvSpPr>
            <p:cNvPr id="20" name="文本框 19"/>
            <p:cNvSpPr txBox="1"/>
            <p:nvPr/>
          </p:nvSpPr>
          <p:spPr>
            <a:xfrm>
              <a:off x="7045625" y="2242188"/>
              <a:ext cx="432048" cy="369332"/>
            </a:xfrm>
            <a:prstGeom prst="rect">
              <a:avLst/>
            </a:prstGeom>
            <a:noFill/>
          </p:spPr>
          <p:txBody>
            <a:bodyPr wrap="square" rtlCol="0">
              <a:spAutoFit/>
            </a:bodyPr>
            <a:lstStyle/>
            <a:p>
              <a:r>
                <a:rPr lang="zh-CN" altLang="en-US" dirty="0">
                  <a:solidFill>
                    <a:srgbClr val="C00000"/>
                  </a:solidFill>
                </a:rPr>
                <a:t>’</a:t>
              </a:r>
            </a:p>
          </p:txBody>
        </p:sp>
        <p:sp>
          <p:nvSpPr>
            <p:cNvPr id="21" name="文本框 20"/>
            <p:cNvSpPr txBox="1"/>
            <p:nvPr/>
          </p:nvSpPr>
          <p:spPr>
            <a:xfrm>
              <a:off x="6929602" y="2908922"/>
              <a:ext cx="432048" cy="369332"/>
            </a:xfrm>
            <a:prstGeom prst="rect">
              <a:avLst/>
            </a:prstGeom>
            <a:noFill/>
          </p:spPr>
          <p:txBody>
            <a:bodyPr wrap="square" rtlCol="0">
              <a:spAutoFit/>
            </a:bodyPr>
            <a:lstStyle/>
            <a:p>
              <a:r>
                <a:rPr lang="zh-CN" altLang="en-US" dirty="0">
                  <a:solidFill>
                    <a:srgbClr val="C00000"/>
                  </a:solidFill>
                </a:rPr>
                <a:t>’</a:t>
              </a:r>
            </a:p>
          </p:txBody>
        </p:sp>
        <p:sp>
          <p:nvSpPr>
            <p:cNvPr id="22" name="文本框 21"/>
            <p:cNvSpPr txBox="1"/>
            <p:nvPr/>
          </p:nvSpPr>
          <p:spPr>
            <a:xfrm>
              <a:off x="8325747" y="2906321"/>
              <a:ext cx="432048" cy="369332"/>
            </a:xfrm>
            <a:prstGeom prst="rect">
              <a:avLst/>
            </a:prstGeom>
            <a:noFill/>
          </p:spPr>
          <p:txBody>
            <a:bodyPr wrap="square" rtlCol="0">
              <a:spAutoFit/>
            </a:bodyPr>
            <a:lstStyle/>
            <a:p>
              <a:r>
                <a:rPr lang="zh-CN" altLang="en-US" dirty="0">
                  <a:solidFill>
                    <a:srgbClr val="C00000"/>
                  </a:solidFill>
                </a:rPr>
                <a:t>’</a:t>
              </a:r>
            </a:p>
          </p:txBody>
        </p:sp>
        <p:sp>
          <p:nvSpPr>
            <p:cNvPr id="23" name="文本框 22"/>
            <p:cNvSpPr txBox="1"/>
            <p:nvPr/>
          </p:nvSpPr>
          <p:spPr>
            <a:xfrm>
              <a:off x="7452320" y="3347700"/>
              <a:ext cx="432048" cy="369332"/>
            </a:xfrm>
            <a:prstGeom prst="rect">
              <a:avLst/>
            </a:prstGeom>
            <a:noFill/>
          </p:spPr>
          <p:txBody>
            <a:bodyPr wrap="square" rtlCol="0">
              <a:spAutoFit/>
            </a:bodyPr>
            <a:lstStyle/>
            <a:p>
              <a:r>
                <a:rPr lang="zh-CN" altLang="en-US" dirty="0">
                  <a:solidFill>
                    <a:srgbClr val="C00000"/>
                  </a:solidFill>
                </a:rPr>
                <a:t>’</a:t>
              </a:r>
            </a:p>
          </p:txBody>
        </p:sp>
        <p:sp>
          <p:nvSpPr>
            <p:cNvPr id="24" name="文本框 23"/>
            <p:cNvSpPr txBox="1"/>
            <p:nvPr/>
          </p:nvSpPr>
          <p:spPr>
            <a:xfrm>
              <a:off x="7975038" y="3319707"/>
              <a:ext cx="432048" cy="369332"/>
            </a:xfrm>
            <a:prstGeom prst="rect">
              <a:avLst/>
            </a:prstGeom>
            <a:noFill/>
          </p:spPr>
          <p:txBody>
            <a:bodyPr wrap="square" rtlCol="0">
              <a:spAutoFit/>
            </a:bodyPr>
            <a:lstStyle/>
            <a:p>
              <a:r>
                <a:rPr lang="zh-CN" altLang="en-US" dirty="0">
                  <a:solidFill>
                    <a:srgbClr val="C00000"/>
                  </a:solidFill>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304800" y="1341438"/>
            <a:ext cx="88392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buFontTx/>
              <a:buNone/>
            </a:pPr>
            <a:r>
              <a:rPr lang="en-US" altLang="zh-CN" sz="2400" dirty="0"/>
              <a:t>	</a:t>
            </a:r>
            <a:r>
              <a:rPr lang="en-US" altLang="zh-CN" b="1" dirty="0"/>
              <a:t>1.1.8 Each pyrimidine is covalently linked (through a </a:t>
            </a:r>
            <a:r>
              <a:rPr lang="en-US" altLang="zh-CN" b="1" dirty="0">
                <a:solidFill>
                  <a:srgbClr val="FF0000"/>
                </a:solidFill>
              </a:rPr>
              <a:t>N-</a:t>
            </a:r>
            <a:r>
              <a:rPr lang="en-US" altLang="zh-CN" b="1" dirty="0" err="1">
                <a:solidFill>
                  <a:srgbClr val="FF0000"/>
                </a:solidFill>
              </a:rPr>
              <a:t>glycosidic</a:t>
            </a:r>
            <a:r>
              <a:rPr lang="en-US" altLang="zh-CN" b="1" dirty="0">
                <a:solidFill>
                  <a:srgbClr val="FF0000"/>
                </a:solidFill>
              </a:rPr>
              <a:t> bond</a:t>
            </a:r>
            <a:r>
              <a:rPr lang="en-US" altLang="zh-CN" b="1" dirty="0"/>
              <a:t>) to the </a:t>
            </a:r>
            <a:r>
              <a:rPr lang="en-US" altLang="zh-CN" b="1" dirty="0">
                <a:solidFill>
                  <a:srgbClr val="FF0000"/>
                </a:solidFill>
              </a:rPr>
              <a:t>1’ carbon </a:t>
            </a:r>
            <a:r>
              <a:rPr lang="en-US" altLang="zh-CN" b="1" dirty="0"/>
              <a:t>of the deoxyribose at </a:t>
            </a:r>
            <a:r>
              <a:rPr lang="en-US" altLang="zh-CN" b="1" dirty="0">
                <a:solidFill>
                  <a:srgbClr val="FF0000"/>
                </a:solidFill>
              </a:rPr>
              <a:t>N-1 of the pyrimidine</a:t>
            </a:r>
            <a:r>
              <a:rPr lang="en-US" altLang="zh-CN" b="1" dirty="0"/>
              <a:t>, and each purine is covalently linked to the 1’ carbon of the deoxyribose at </a:t>
            </a:r>
            <a:r>
              <a:rPr lang="en-US" altLang="zh-CN" b="1" dirty="0">
                <a:solidFill>
                  <a:srgbClr val="FF0000"/>
                </a:solidFill>
              </a:rPr>
              <a:t>N-9 of the purine</a:t>
            </a:r>
            <a:r>
              <a:rPr lang="en-US" altLang="zh-CN" b="1" dirty="0"/>
              <a:t>.	</a:t>
            </a:r>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7000" y="1714500"/>
            <a:ext cx="8890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2123728" y="3087622"/>
            <a:ext cx="432048" cy="276999"/>
          </a:xfrm>
          <a:prstGeom prst="rect">
            <a:avLst/>
          </a:prstGeom>
          <a:noFill/>
        </p:spPr>
        <p:txBody>
          <a:bodyPr wrap="square" rtlCol="0">
            <a:spAutoFit/>
          </a:bodyPr>
          <a:lstStyle/>
          <a:p>
            <a:r>
              <a:rPr lang="en-US" altLang="zh-CN" sz="1200" b="1" dirty="0">
                <a:solidFill>
                  <a:srgbClr val="FF0000"/>
                </a:solidFill>
              </a:rPr>
              <a:t>1</a:t>
            </a:r>
            <a:r>
              <a:rPr lang="zh-CN" altLang="en-US" sz="1200" b="1" dirty="0">
                <a:solidFill>
                  <a:srgbClr val="FF0000"/>
                </a:solidFill>
              </a:rPr>
              <a:t>’</a:t>
            </a:r>
          </a:p>
        </p:txBody>
      </p:sp>
      <p:sp>
        <p:nvSpPr>
          <p:cNvPr id="4" name="文本框 3"/>
          <p:cNvSpPr txBox="1"/>
          <p:nvPr/>
        </p:nvSpPr>
        <p:spPr>
          <a:xfrm>
            <a:off x="4139952" y="3087622"/>
            <a:ext cx="432048" cy="276999"/>
          </a:xfrm>
          <a:prstGeom prst="rect">
            <a:avLst/>
          </a:prstGeom>
          <a:noFill/>
        </p:spPr>
        <p:txBody>
          <a:bodyPr wrap="square" rtlCol="0">
            <a:spAutoFit/>
          </a:bodyPr>
          <a:lstStyle/>
          <a:p>
            <a:r>
              <a:rPr lang="en-US" altLang="zh-CN" sz="1200" b="1" dirty="0">
                <a:solidFill>
                  <a:srgbClr val="FF0000"/>
                </a:solidFill>
              </a:rPr>
              <a:t>1</a:t>
            </a:r>
            <a:r>
              <a:rPr lang="zh-CN" altLang="en-US" sz="1200" b="1" dirty="0">
                <a:solidFill>
                  <a:srgbClr val="FF0000"/>
                </a:solidFill>
              </a:rPr>
              <a:t>’</a:t>
            </a:r>
          </a:p>
        </p:txBody>
      </p:sp>
      <p:sp>
        <p:nvSpPr>
          <p:cNvPr id="5" name="文本框 4"/>
          <p:cNvSpPr txBox="1"/>
          <p:nvPr/>
        </p:nvSpPr>
        <p:spPr>
          <a:xfrm>
            <a:off x="6228184" y="3087622"/>
            <a:ext cx="432048" cy="276999"/>
          </a:xfrm>
          <a:prstGeom prst="rect">
            <a:avLst/>
          </a:prstGeom>
          <a:noFill/>
        </p:spPr>
        <p:txBody>
          <a:bodyPr wrap="square" rtlCol="0">
            <a:spAutoFit/>
          </a:bodyPr>
          <a:lstStyle/>
          <a:p>
            <a:r>
              <a:rPr lang="en-US" altLang="zh-CN" sz="1200" b="1" dirty="0">
                <a:solidFill>
                  <a:srgbClr val="FF0000"/>
                </a:solidFill>
              </a:rPr>
              <a:t>1</a:t>
            </a:r>
            <a:r>
              <a:rPr lang="zh-CN" altLang="en-US" sz="1200" b="1" dirty="0">
                <a:solidFill>
                  <a:srgbClr val="FF0000"/>
                </a:solidFill>
              </a:rPr>
              <a:t>’</a:t>
            </a:r>
          </a:p>
        </p:txBody>
      </p:sp>
      <p:sp>
        <p:nvSpPr>
          <p:cNvPr id="6" name="文本框 5"/>
          <p:cNvSpPr txBox="1"/>
          <p:nvPr/>
        </p:nvSpPr>
        <p:spPr>
          <a:xfrm>
            <a:off x="8584142" y="3094682"/>
            <a:ext cx="432048" cy="276999"/>
          </a:xfrm>
          <a:prstGeom prst="rect">
            <a:avLst/>
          </a:prstGeom>
          <a:noFill/>
        </p:spPr>
        <p:txBody>
          <a:bodyPr wrap="square" rtlCol="0">
            <a:spAutoFit/>
          </a:bodyPr>
          <a:lstStyle/>
          <a:p>
            <a:r>
              <a:rPr lang="en-US" altLang="zh-CN" sz="1200" b="1" dirty="0">
                <a:solidFill>
                  <a:srgbClr val="FF0000"/>
                </a:solidFill>
              </a:rPr>
              <a:t>1</a:t>
            </a:r>
            <a:r>
              <a:rPr lang="zh-CN" altLang="en-US" sz="1200" b="1" dirty="0">
                <a:solidFill>
                  <a:srgbClr val="FF0000"/>
                </a:solidFill>
              </a:rPr>
              <a:t>’</a:t>
            </a:r>
          </a:p>
        </p:txBody>
      </p:sp>
      <p:sp>
        <p:nvSpPr>
          <p:cNvPr id="7" name="文本框 6"/>
          <p:cNvSpPr txBox="1"/>
          <p:nvPr/>
        </p:nvSpPr>
        <p:spPr>
          <a:xfrm>
            <a:off x="2138941" y="2427579"/>
            <a:ext cx="432048" cy="276999"/>
          </a:xfrm>
          <a:prstGeom prst="rect">
            <a:avLst/>
          </a:prstGeom>
          <a:noFill/>
        </p:spPr>
        <p:txBody>
          <a:bodyPr wrap="square" rtlCol="0">
            <a:spAutoFit/>
          </a:bodyPr>
          <a:lstStyle/>
          <a:p>
            <a:r>
              <a:rPr lang="en-US" altLang="zh-CN" sz="1200" b="1" dirty="0">
                <a:solidFill>
                  <a:srgbClr val="FF0000"/>
                </a:solidFill>
              </a:rPr>
              <a:t>9</a:t>
            </a:r>
            <a:endParaRPr lang="zh-CN" altLang="en-US" sz="1200" b="1" dirty="0">
              <a:solidFill>
                <a:srgbClr val="FF0000"/>
              </a:solidFill>
            </a:endParaRPr>
          </a:p>
        </p:txBody>
      </p:sp>
      <p:sp>
        <p:nvSpPr>
          <p:cNvPr id="10" name="文本框 9"/>
          <p:cNvSpPr txBox="1"/>
          <p:nvPr/>
        </p:nvSpPr>
        <p:spPr>
          <a:xfrm>
            <a:off x="4202629" y="2418248"/>
            <a:ext cx="432048" cy="276999"/>
          </a:xfrm>
          <a:prstGeom prst="rect">
            <a:avLst/>
          </a:prstGeom>
          <a:noFill/>
        </p:spPr>
        <p:txBody>
          <a:bodyPr wrap="square" rtlCol="0">
            <a:spAutoFit/>
          </a:bodyPr>
          <a:lstStyle/>
          <a:p>
            <a:r>
              <a:rPr lang="en-US" altLang="zh-CN" sz="1200" b="1" dirty="0">
                <a:solidFill>
                  <a:srgbClr val="FF0000"/>
                </a:solidFill>
              </a:rPr>
              <a:t>9</a:t>
            </a:r>
            <a:endParaRPr lang="zh-CN" altLang="en-US" sz="1200" b="1" dirty="0">
              <a:solidFill>
                <a:srgbClr val="FF0000"/>
              </a:solidFill>
            </a:endParaRPr>
          </a:p>
        </p:txBody>
      </p:sp>
      <p:sp>
        <p:nvSpPr>
          <p:cNvPr id="11" name="文本框 10"/>
          <p:cNvSpPr txBox="1"/>
          <p:nvPr/>
        </p:nvSpPr>
        <p:spPr>
          <a:xfrm>
            <a:off x="6290861" y="2427739"/>
            <a:ext cx="432048" cy="276999"/>
          </a:xfrm>
          <a:prstGeom prst="rect">
            <a:avLst/>
          </a:prstGeom>
          <a:noFill/>
        </p:spPr>
        <p:txBody>
          <a:bodyPr wrap="square" rtlCol="0">
            <a:spAutoFit/>
          </a:bodyPr>
          <a:lstStyle/>
          <a:p>
            <a:r>
              <a:rPr lang="en-US" altLang="zh-CN" sz="1200" b="1" dirty="0">
                <a:solidFill>
                  <a:srgbClr val="FF0000"/>
                </a:solidFill>
              </a:rPr>
              <a:t>1</a:t>
            </a:r>
            <a:endParaRPr lang="zh-CN" altLang="en-US" sz="1200" b="1" dirty="0">
              <a:solidFill>
                <a:srgbClr val="FF0000"/>
              </a:solidFill>
            </a:endParaRPr>
          </a:p>
        </p:txBody>
      </p:sp>
      <p:sp>
        <p:nvSpPr>
          <p:cNvPr id="12" name="文本框 11"/>
          <p:cNvSpPr txBox="1"/>
          <p:nvPr/>
        </p:nvSpPr>
        <p:spPr>
          <a:xfrm>
            <a:off x="8676456" y="2420888"/>
            <a:ext cx="432048" cy="276999"/>
          </a:xfrm>
          <a:prstGeom prst="rect">
            <a:avLst/>
          </a:prstGeom>
          <a:noFill/>
        </p:spPr>
        <p:txBody>
          <a:bodyPr wrap="square" rtlCol="0">
            <a:spAutoFit/>
          </a:bodyPr>
          <a:lstStyle/>
          <a:p>
            <a:r>
              <a:rPr lang="en-US" altLang="zh-CN" sz="1200" b="1" dirty="0">
                <a:solidFill>
                  <a:srgbClr val="FF0000"/>
                </a:solidFill>
              </a:rPr>
              <a:t>1</a:t>
            </a:r>
            <a:endParaRPr lang="zh-CN" altLang="en-US" sz="1200" b="1" dirty="0">
              <a:solidFill>
                <a:srgbClr val="FF0000"/>
              </a:solidFill>
            </a:endParaRPr>
          </a:p>
        </p:txBody>
      </p:sp>
      <p:sp>
        <p:nvSpPr>
          <p:cNvPr id="3" name="文本框 2"/>
          <p:cNvSpPr txBox="1"/>
          <p:nvPr/>
        </p:nvSpPr>
        <p:spPr>
          <a:xfrm>
            <a:off x="3423920" y="5541010"/>
            <a:ext cx="2296160" cy="368300"/>
          </a:xfrm>
          <a:prstGeom prst="rect">
            <a:avLst/>
          </a:prstGeom>
          <a:noFill/>
        </p:spPr>
        <p:txBody>
          <a:bodyPr wrap="none" rtlCol="0" anchor="t">
            <a:spAutoFit/>
          </a:bodyPr>
          <a:lstStyle/>
          <a:p>
            <a:r>
              <a:rPr lang="en-US" altLang="zh-CN" b="1" dirty="0">
                <a:solidFill>
                  <a:srgbClr val="FF0000"/>
                </a:solidFill>
                <a:sym typeface="+mn-ea"/>
              </a:rPr>
              <a:t>nucleoside</a:t>
            </a:r>
            <a:r>
              <a:rPr lang="zh-CN" altLang="en-US" b="1" dirty="0">
                <a:solidFill>
                  <a:srgbClr val="FF0000"/>
                </a:solidFill>
                <a:sym typeface="+mn-ea"/>
              </a:rPr>
              <a:t>（核苷）</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050"/>
          <p:cNvSpPr txBox="1">
            <a:spLocks noChangeArrowheads="1"/>
          </p:cNvSpPr>
          <p:nvPr/>
        </p:nvSpPr>
        <p:spPr bwMode="auto">
          <a:xfrm>
            <a:off x="228600" y="228600"/>
            <a:ext cx="8915400" cy="632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b="1" dirty="0"/>
              <a:t>	1.1.9 The phosphate group is esterified to the -OH group on the 5’ carbon of the deoxyribose ring.</a:t>
            </a:r>
          </a:p>
          <a:p>
            <a:pPr eaLnBrk="1" hangingPunct="1">
              <a:buFontTx/>
              <a:buNone/>
            </a:pPr>
            <a:r>
              <a:rPr lang="en-US" altLang="zh-CN" b="1" dirty="0"/>
              <a:t>	1.1.10 A nucleotide lacking the phosphate part is called a </a:t>
            </a:r>
            <a:r>
              <a:rPr lang="en-US" altLang="zh-CN" b="1" dirty="0">
                <a:solidFill>
                  <a:srgbClr val="FF0000"/>
                </a:solidFill>
              </a:rPr>
              <a:t>nucleoside</a:t>
            </a:r>
            <a:r>
              <a:rPr lang="zh-CN" altLang="en-US" b="1" dirty="0">
                <a:solidFill>
                  <a:srgbClr val="FF0000"/>
                </a:solidFill>
              </a:rPr>
              <a:t>（核苷）</a:t>
            </a:r>
            <a:r>
              <a:rPr lang="en-US" altLang="zh-CN" b="1" dirty="0"/>
              <a:t>.</a:t>
            </a:r>
          </a:p>
          <a:p>
            <a:pPr eaLnBrk="1" hangingPunct="1">
              <a:buFontTx/>
              <a:buNone/>
            </a:pPr>
            <a:r>
              <a:rPr lang="en-US" altLang="zh-CN" b="1" dirty="0"/>
              <a:t>	1.1.11 The four nucleoside units in DNA are called </a:t>
            </a:r>
            <a:r>
              <a:rPr lang="en-US" altLang="zh-CN" b="1" dirty="0">
                <a:solidFill>
                  <a:srgbClr val="FF0066"/>
                </a:solidFill>
              </a:rPr>
              <a:t>deoxyadenosine, </a:t>
            </a:r>
            <a:r>
              <a:rPr lang="en-US" altLang="zh-CN" b="1" dirty="0" err="1">
                <a:solidFill>
                  <a:srgbClr val="FF0066"/>
                </a:solidFill>
              </a:rPr>
              <a:t>deoxyguanosine</a:t>
            </a:r>
            <a:r>
              <a:rPr lang="en-US" altLang="zh-CN" b="1" dirty="0">
                <a:solidFill>
                  <a:srgbClr val="FF0066"/>
                </a:solidFill>
              </a:rPr>
              <a:t>, deoxythymidine, and deoxycytidine</a:t>
            </a:r>
            <a:r>
              <a:rPr lang="en-US" altLang="zh-CN" b="1" dirty="0"/>
              <a:t>.</a:t>
            </a:r>
          </a:p>
          <a:p>
            <a:pPr eaLnBrk="1" hangingPunct="1">
              <a:spcBef>
                <a:spcPct val="15000"/>
              </a:spcBef>
              <a:buFontTx/>
              <a:buNone/>
            </a:pPr>
            <a:r>
              <a:rPr lang="en-US" altLang="zh-CN" b="1" dirty="0"/>
              <a:t>	1.1.12 The nitrogenous base can be </a:t>
            </a:r>
            <a:r>
              <a:rPr lang="en-US" altLang="zh-CN" b="1" dirty="0">
                <a:solidFill>
                  <a:srgbClr val="FF0066"/>
                </a:solidFill>
              </a:rPr>
              <a:t>adenine (A), guanine (G), cyt</a:t>
            </a:r>
            <a:r>
              <a:rPr lang="en-US" altLang="zh-CN" b="1" u="sng" dirty="0">
                <a:solidFill>
                  <a:srgbClr val="FF0066"/>
                </a:solidFill>
              </a:rPr>
              <a:t>os</a:t>
            </a:r>
            <a:r>
              <a:rPr lang="en-US" altLang="zh-CN" b="1" dirty="0">
                <a:solidFill>
                  <a:srgbClr val="FF0066"/>
                </a:solidFill>
              </a:rPr>
              <a:t>ine (C), or thymine (T) (uracil (U) in RNA).</a:t>
            </a:r>
          </a:p>
          <a:p>
            <a:pPr eaLnBrk="1" hangingPunct="1">
              <a:lnSpc>
                <a:spcPct val="80000"/>
              </a:lnSpc>
              <a:spcBef>
                <a:spcPct val="30000"/>
              </a:spcBef>
              <a:buFontTx/>
              <a:buNone/>
            </a:pPr>
            <a:endParaRPr lang="en-US" altLang="zh-CN"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251520" y="436363"/>
            <a:ext cx="8839200" cy="5656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buFontTx/>
              <a:buNone/>
            </a:pPr>
            <a:r>
              <a:rPr lang="en-US" altLang="zh-CN" sz="2400" dirty="0"/>
              <a:t>	</a:t>
            </a:r>
            <a:r>
              <a:rPr lang="en-US" altLang="zh-CN" b="1" dirty="0"/>
              <a:t>1.1.13 The four </a:t>
            </a:r>
            <a:r>
              <a:rPr lang="en-US" altLang="zh-CN" b="1" dirty="0">
                <a:solidFill>
                  <a:srgbClr val="FF0066"/>
                </a:solidFill>
              </a:rPr>
              <a:t>nucleotide</a:t>
            </a:r>
            <a:r>
              <a:rPr lang="en-US" altLang="zh-CN" b="1" dirty="0"/>
              <a:t> units in DNA are called deoxyadenosine 5’-monophosphate (</a:t>
            </a:r>
            <a:r>
              <a:rPr lang="en-US" altLang="zh-CN" b="1" dirty="0" err="1"/>
              <a:t>dAMP</a:t>
            </a:r>
            <a:r>
              <a:rPr lang="en-US" altLang="zh-CN" b="1" dirty="0"/>
              <a:t>, or </a:t>
            </a:r>
            <a:r>
              <a:rPr lang="en-US" altLang="zh-CN" b="1" dirty="0" err="1">
                <a:solidFill>
                  <a:srgbClr val="FF0066"/>
                </a:solidFill>
              </a:rPr>
              <a:t>deoxyadenylate</a:t>
            </a:r>
            <a:r>
              <a:rPr lang="en-US" altLang="zh-CN" b="1" dirty="0"/>
              <a:t>), </a:t>
            </a:r>
            <a:r>
              <a:rPr lang="en-US" altLang="zh-CN" b="1" dirty="0" err="1"/>
              <a:t>deoxyguanosine</a:t>
            </a:r>
            <a:r>
              <a:rPr lang="en-US" altLang="zh-CN" b="1" dirty="0"/>
              <a:t> 5’-monophosphate (</a:t>
            </a:r>
            <a:r>
              <a:rPr lang="en-US" altLang="zh-CN" b="1" dirty="0" err="1"/>
              <a:t>dGMP</a:t>
            </a:r>
            <a:r>
              <a:rPr lang="en-US" altLang="zh-CN" b="1" dirty="0"/>
              <a:t>, or </a:t>
            </a:r>
            <a:r>
              <a:rPr lang="en-US" altLang="zh-CN" b="1" dirty="0" err="1">
                <a:solidFill>
                  <a:srgbClr val="FF0066"/>
                </a:solidFill>
              </a:rPr>
              <a:t>deoxyguanylate</a:t>
            </a:r>
            <a:r>
              <a:rPr lang="en-US" altLang="zh-CN" b="1" dirty="0"/>
              <a:t>), deoxythymidine 5’-monophosphate (dTMP, or </a:t>
            </a:r>
            <a:r>
              <a:rPr lang="en-US" altLang="zh-CN" b="1" dirty="0" err="1">
                <a:solidFill>
                  <a:srgbClr val="FF0066"/>
                </a:solidFill>
              </a:rPr>
              <a:t>deoxythymidylate</a:t>
            </a:r>
            <a:r>
              <a:rPr lang="en-US" altLang="zh-CN" b="1" dirty="0"/>
              <a:t>), and deoxycytidine 5’-monophosphate (</a:t>
            </a:r>
            <a:r>
              <a:rPr lang="en-US" altLang="zh-CN" b="1" dirty="0" err="1"/>
              <a:t>dCMP</a:t>
            </a:r>
            <a:r>
              <a:rPr lang="en-US" altLang="zh-CN" b="1" dirty="0"/>
              <a:t>, or </a:t>
            </a:r>
            <a:r>
              <a:rPr lang="en-US" altLang="zh-CN" b="1" dirty="0">
                <a:solidFill>
                  <a:srgbClr val="FF0066"/>
                </a:solidFill>
              </a:rPr>
              <a:t>deoxycytidylate</a:t>
            </a:r>
            <a:r>
              <a:rPr lang="en-US" altLang="zh-CN" b="1" dirty="0"/>
              <a:t>).</a:t>
            </a:r>
          </a:p>
          <a:p>
            <a:pPr eaLnBrk="1" hangingPunct="1">
              <a:spcBef>
                <a:spcPct val="30000"/>
              </a:spcBef>
              <a:buFontTx/>
              <a:buNone/>
            </a:pPr>
            <a:r>
              <a:rPr lang="en-US" altLang="zh-CN" b="1" dirty="0"/>
              <a:t>         1.1.14 In DNA the nucleotides are covalently joined together by </a:t>
            </a:r>
            <a:r>
              <a:rPr lang="en-US" altLang="zh-CN" b="1" dirty="0">
                <a:solidFill>
                  <a:srgbClr val="FF0000"/>
                </a:solidFill>
              </a:rPr>
              <a:t>3’,5’-phosphodiester </a:t>
            </a:r>
            <a:r>
              <a:rPr lang="en-US" altLang="zh-CN" b="1" dirty="0"/>
              <a:t>bonds to form a </a:t>
            </a:r>
            <a:r>
              <a:rPr lang="en-US" altLang="zh-CN" b="1" dirty="0" err="1"/>
              <a:t>repetive</a:t>
            </a:r>
            <a:r>
              <a:rPr lang="en-US" altLang="zh-CN" b="1" dirty="0"/>
              <a:t> sugar-</a:t>
            </a:r>
            <a:r>
              <a:rPr lang="en-US" altLang="zh-CN" b="1" dirty="0" err="1"/>
              <a:t>phoshate</a:t>
            </a:r>
            <a:r>
              <a:rPr lang="en-US" altLang="zh-CN" b="1" dirty="0"/>
              <a:t> chain which is the backbone to which the bases are attached.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026"/>
          <p:cNvPicPr>
            <a:picLocks noChangeAspect="1" noChangeArrowheads="1"/>
          </p:cNvPicPr>
          <p:nvPr/>
        </p:nvPicPr>
        <p:blipFill>
          <a:blip r:embed="rId3" cstate="print">
            <a:lum bright="-54000" contrast="72000"/>
            <a:extLst>
              <a:ext uri="{28A0092B-C50C-407E-A947-70E740481C1C}">
                <a14:useLocalDpi xmlns:a14="http://schemas.microsoft.com/office/drawing/2010/main" val="0"/>
              </a:ext>
            </a:extLst>
          </a:blip>
          <a:srcRect/>
          <a:stretch>
            <a:fillRect/>
          </a:stretch>
        </p:blipFill>
        <p:spPr bwMode="auto">
          <a:xfrm>
            <a:off x="3231728" y="76200"/>
            <a:ext cx="42926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983700" y="1268760"/>
            <a:ext cx="2940228" cy="307777"/>
          </a:xfrm>
          <a:prstGeom prst="rect">
            <a:avLst/>
          </a:prstGeom>
        </p:spPr>
        <p:txBody>
          <a:bodyPr wrap="none">
            <a:spAutoFit/>
          </a:bodyPr>
          <a:lstStyle/>
          <a:p>
            <a:r>
              <a:rPr kumimoji="1" lang="en-US" altLang="zh-CN" sz="1400" b="1" dirty="0">
                <a:solidFill>
                  <a:srgbClr val="FF0000"/>
                </a:solidFill>
              </a:rPr>
              <a:t>3</a:t>
            </a:r>
            <a:r>
              <a:rPr kumimoji="1" lang="zh-CN" altLang="en-US" sz="1400" b="1" dirty="0">
                <a:solidFill>
                  <a:srgbClr val="FF0000"/>
                </a:solidFill>
              </a:rPr>
              <a:t>’ </a:t>
            </a:r>
            <a:r>
              <a:rPr kumimoji="1" lang="en-US" altLang="zh-CN" sz="1400" b="1" dirty="0">
                <a:solidFill>
                  <a:srgbClr val="FF0000"/>
                </a:solidFill>
              </a:rPr>
              <a:t>hydroxyl group (3</a:t>
            </a:r>
            <a:r>
              <a:rPr kumimoji="1" lang="zh-CN" altLang="en-US" sz="1400" b="1" dirty="0">
                <a:solidFill>
                  <a:srgbClr val="FF0000"/>
                </a:solidFill>
              </a:rPr>
              <a:t>’</a:t>
            </a:r>
            <a:r>
              <a:rPr kumimoji="1" lang="en-US" altLang="zh-CN" sz="1400" b="1" dirty="0">
                <a:solidFill>
                  <a:srgbClr val="FF0000"/>
                </a:solidFill>
              </a:rPr>
              <a:t>-OH </a:t>
            </a:r>
            <a:r>
              <a:rPr kumimoji="1" lang="zh-CN" altLang="en-US" sz="1400" b="1" dirty="0">
                <a:solidFill>
                  <a:srgbClr val="FF0000"/>
                </a:solidFill>
              </a:rPr>
              <a:t>基）</a:t>
            </a:r>
            <a:endParaRPr lang="zh-CN" altLang="en-US" sz="1400" b="1" dirty="0"/>
          </a:p>
        </p:txBody>
      </p:sp>
      <p:sp>
        <p:nvSpPr>
          <p:cNvPr id="3" name="矩形 2"/>
          <p:cNvSpPr/>
          <p:nvPr/>
        </p:nvSpPr>
        <p:spPr>
          <a:xfrm>
            <a:off x="1807897" y="2132856"/>
            <a:ext cx="1972015" cy="307777"/>
          </a:xfrm>
          <a:prstGeom prst="rect">
            <a:avLst/>
          </a:prstGeom>
        </p:spPr>
        <p:txBody>
          <a:bodyPr wrap="none">
            <a:spAutoFit/>
          </a:bodyPr>
          <a:lstStyle/>
          <a:p>
            <a:r>
              <a:rPr kumimoji="1" lang="en-US" altLang="zh-CN" sz="1400" b="1" dirty="0">
                <a:solidFill>
                  <a:srgbClr val="FF0000"/>
                </a:solidFill>
              </a:rPr>
              <a:t>5</a:t>
            </a:r>
            <a:r>
              <a:rPr kumimoji="1" lang="zh-CN" altLang="en-US" sz="1400" b="1" dirty="0">
                <a:solidFill>
                  <a:srgbClr val="FF0000"/>
                </a:solidFill>
              </a:rPr>
              <a:t>’</a:t>
            </a:r>
            <a:r>
              <a:rPr kumimoji="1" lang="en-US" altLang="zh-CN" sz="1400" b="1" dirty="0">
                <a:solidFill>
                  <a:srgbClr val="FF0000"/>
                </a:solidFill>
              </a:rPr>
              <a:t>phosphate group</a:t>
            </a:r>
            <a:r>
              <a:rPr kumimoji="1" lang="en-US" altLang="zh-CN" sz="1400" b="1" dirty="0">
                <a:solidFill>
                  <a:srgbClr val="000066"/>
                </a:solidFill>
              </a:rPr>
              <a:t> </a:t>
            </a:r>
            <a:endParaRPr lang="zh-CN" altLang="en-US" sz="1400" b="1" dirty="0"/>
          </a:p>
        </p:txBody>
      </p:sp>
      <p:sp>
        <p:nvSpPr>
          <p:cNvPr id="4" name="矩形 3"/>
          <p:cNvSpPr/>
          <p:nvPr/>
        </p:nvSpPr>
        <p:spPr>
          <a:xfrm>
            <a:off x="1149760" y="1628800"/>
            <a:ext cx="1915909" cy="369332"/>
          </a:xfrm>
          <a:prstGeom prst="rect">
            <a:avLst/>
          </a:prstGeom>
        </p:spPr>
        <p:txBody>
          <a:bodyPr wrap="none">
            <a:spAutoFit/>
          </a:bodyPr>
          <a:lstStyle/>
          <a:p>
            <a:r>
              <a:rPr lang="en-US" altLang="zh-CN" b="1" dirty="0"/>
              <a:t>phosphodiester</a:t>
            </a:r>
            <a:endParaRPr lang="zh-CN" altLang="en-US" dirty="0"/>
          </a:p>
        </p:txBody>
      </p:sp>
      <p:cxnSp>
        <p:nvCxnSpPr>
          <p:cNvPr id="7" name="直接箭头连接符 6"/>
          <p:cNvCxnSpPr/>
          <p:nvPr/>
        </p:nvCxnSpPr>
        <p:spPr>
          <a:xfrm>
            <a:off x="3491880" y="2924944"/>
            <a:ext cx="0" cy="21602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3090554" y="2852936"/>
            <a:ext cx="545342" cy="369332"/>
          </a:xfrm>
          <a:prstGeom prst="rect">
            <a:avLst/>
          </a:prstGeom>
        </p:spPr>
        <p:txBody>
          <a:bodyPr wrap="square">
            <a:spAutoFit/>
          </a:bodyPr>
          <a:lstStyle/>
          <a:p>
            <a:r>
              <a:rPr kumimoji="1" lang="en-US" altLang="zh-CN" b="1" dirty="0">
                <a:solidFill>
                  <a:srgbClr val="FF0000"/>
                </a:solidFill>
              </a:rPr>
              <a:t>5</a:t>
            </a:r>
            <a:r>
              <a:rPr kumimoji="1" lang="zh-CN" altLang="en-US" b="1" dirty="0">
                <a:solidFill>
                  <a:srgbClr val="FF0000"/>
                </a:solidFill>
              </a:rPr>
              <a:t>’</a:t>
            </a:r>
            <a:endParaRPr lang="zh-CN" altLang="en-US" dirty="0"/>
          </a:p>
        </p:txBody>
      </p:sp>
      <p:sp>
        <p:nvSpPr>
          <p:cNvPr id="9" name="矩形 8"/>
          <p:cNvSpPr/>
          <p:nvPr/>
        </p:nvSpPr>
        <p:spPr>
          <a:xfrm>
            <a:off x="3131840" y="4797152"/>
            <a:ext cx="545342" cy="369332"/>
          </a:xfrm>
          <a:prstGeom prst="rect">
            <a:avLst/>
          </a:prstGeom>
        </p:spPr>
        <p:txBody>
          <a:bodyPr wrap="none">
            <a:spAutoFit/>
          </a:bodyPr>
          <a:lstStyle/>
          <a:p>
            <a:r>
              <a:rPr kumimoji="1" lang="en-US" altLang="zh-CN" b="1" dirty="0">
                <a:solidFill>
                  <a:srgbClr val="FF0000"/>
                </a:solidFill>
              </a:rPr>
              <a:t>3</a:t>
            </a:r>
            <a:r>
              <a:rPr kumimoji="1" lang="zh-CN" altLang="en-US" b="1" dirty="0">
                <a:solidFill>
                  <a:srgbClr val="FF0000"/>
                </a:solidFill>
              </a:rPr>
              <a:t>’</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152400" y="908050"/>
            <a:ext cx="8991600" cy="404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30000"/>
              </a:spcBef>
              <a:buFontTx/>
              <a:buNone/>
            </a:pPr>
            <a:r>
              <a:rPr lang="en-US" altLang="zh-CN" b="1" dirty="0"/>
              <a:t>1.2 RNA also consists of four different kinds of ribonucleotides.</a:t>
            </a:r>
          </a:p>
          <a:p>
            <a:pPr eaLnBrk="1" hangingPunct="1">
              <a:lnSpc>
                <a:spcPct val="80000"/>
              </a:lnSpc>
              <a:spcBef>
                <a:spcPct val="30000"/>
              </a:spcBef>
              <a:buFontTx/>
              <a:buNone/>
            </a:pPr>
            <a:r>
              <a:rPr lang="en-US" altLang="zh-CN" b="1" dirty="0"/>
              <a:t>	1.2.1 Each ribonucleotide unit is also made of three parts: a nitrogenous base, a pentose, and a phosphate group.</a:t>
            </a:r>
          </a:p>
          <a:p>
            <a:pPr eaLnBrk="1" hangingPunct="1">
              <a:lnSpc>
                <a:spcPct val="80000"/>
              </a:lnSpc>
              <a:spcBef>
                <a:spcPct val="30000"/>
              </a:spcBef>
              <a:buFontTx/>
              <a:buNone/>
            </a:pPr>
            <a:r>
              <a:rPr lang="en-US" altLang="zh-CN" b="1" dirty="0"/>
              <a:t>	1.2.2 The base part is adenine, guanine, cytosine or </a:t>
            </a:r>
            <a:r>
              <a:rPr lang="en-US" altLang="zh-CN" b="1" dirty="0">
                <a:solidFill>
                  <a:srgbClr val="FF0066"/>
                </a:solidFill>
              </a:rPr>
              <a:t>uracil</a:t>
            </a:r>
            <a:r>
              <a:rPr lang="en-US" altLang="zh-CN" b="1" dirty="0"/>
              <a:t>.</a:t>
            </a:r>
          </a:p>
          <a:p>
            <a:pPr eaLnBrk="1" hangingPunct="1">
              <a:lnSpc>
                <a:spcPct val="80000"/>
              </a:lnSpc>
              <a:spcBef>
                <a:spcPct val="30000"/>
              </a:spcBef>
              <a:buFontTx/>
              <a:buNone/>
            </a:pPr>
            <a:r>
              <a:rPr lang="en-US" altLang="zh-CN" b="1" dirty="0"/>
              <a:t>	1.2.3 Uracil exists only in RNA, and thymine only in DNA.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0" y="574675"/>
            <a:ext cx="9144000" cy="570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dirty="0"/>
              <a:t>	</a:t>
            </a:r>
            <a:r>
              <a:rPr lang="en-US" altLang="zh-CN" b="1" dirty="0"/>
              <a:t>1.2.4 The pentose part is a </a:t>
            </a:r>
            <a:r>
              <a:rPr lang="en-US" altLang="zh-CN" b="1" dirty="0">
                <a:solidFill>
                  <a:srgbClr val="FF0000"/>
                </a:solidFill>
              </a:rPr>
              <a:t>ribose</a:t>
            </a:r>
            <a:r>
              <a:rPr lang="en-US" altLang="zh-CN" b="1" dirty="0"/>
              <a:t> (without being deoxygenated at the 2’ position) in its </a:t>
            </a:r>
            <a:r>
              <a:rPr lang="en-US" altLang="zh-CN" b="1" dirty="0">
                <a:latin typeface="Symbol" panose="05050102010706020507" pitchFamily="18" charset="2"/>
              </a:rPr>
              <a:t>b</a:t>
            </a:r>
            <a:r>
              <a:rPr lang="en-US" altLang="zh-CN" b="1" dirty="0"/>
              <a:t>-furanose form (as deoxyribose in deoxyribonucleotides).</a:t>
            </a:r>
          </a:p>
          <a:p>
            <a:pPr eaLnBrk="1" hangingPunct="1">
              <a:buFontTx/>
              <a:buNone/>
            </a:pPr>
            <a:r>
              <a:rPr lang="en-US" altLang="zh-CN" b="1" dirty="0"/>
              <a:t>	1.2.5 The bases and the phosphate group are covalently linked to the ribose ring in the same ways as in deoxyribonucleotides.</a:t>
            </a:r>
          </a:p>
          <a:p>
            <a:pPr eaLnBrk="1" hangingPunct="1">
              <a:buFontTx/>
              <a:buNone/>
            </a:pPr>
            <a:r>
              <a:rPr lang="en-US" altLang="zh-CN" b="1" dirty="0"/>
              <a:t>	1.2.6 The four nucleoside units in RNA are called adenosine, guanosine, cytidine, and uridine (</a:t>
            </a:r>
            <a:r>
              <a:rPr lang="en-US" altLang="zh-CN" b="1" dirty="0">
                <a:solidFill>
                  <a:srgbClr val="FF0000"/>
                </a:solidFill>
              </a:rPr>
              <a:t>without deoxy- suffix</a:t>
            </a:r>
            <a:r>
              <a:rPr lang="en-US" altLang="zh-CN" b="1" dirty="0"/>
              <a:t>); and the nucleotide units are AMP, GMP, CMP, and UMP.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1041400"/>
            <a:ext cx="8026400" cy="477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1333500"/>
            <a:ext cx="80264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92300" y="711200"/>
            <a:ext cx="53594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1400" y="711200"/>
            <a:ext cx="7061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000" y="914400"/>
            <a:ext cx="8890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000" y="1270000"/>
            <a:ext cx="889000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000" y="1295400"/>
            <a:ext cx="88900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5700" y="76200"/>
            <a:ext cx="42926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51520" y="2636912"/>
            <a:ext cx="1915909" cy="369332"/>
          </a:xfrm>
          <a:prstGeom prst="rect">
            <a:avLst/>
          </a:prstGeom>
        </p:spPr>
        <p:txBody>
          <a:bodyPr wrap="none">
            <a:spAutoFit/>
          </a:bodyPr>
          <a:lstStyle/>
          <a:p>
            <a:r>
              <a:rPr lang="en-US" altLang="zh-CN" b="1" dirty="0"/>
              <a:t>phosphodiester</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7600" y="381000"/>
            <a:ext cx="7112000" cy="559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b="21407"/>
          <a:stretch>
            <a:fillRect/>
          </a:stretch>
        </p:blipFill>
        <p:spPr bwMode="auto">
          <a:xfrm>
            <a:off x="468313" y="620713"/>
            <a:ext cx="8208962"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304800" y="920750"/>
            <a:ext cx="8839200"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30000"/>
              </a:spcBef>
              <a:buFontTx/>
              <a:buNone/>
            </a:pPr>
            <a:r>
              <a:rPr lang="en-US" altLang="zh-CN" b="1"/>
              <a:t>1.3 DNA stores genetic information.</a:t>
            </a:r>
          </a:p>
          <a:p>
            <a:pPr eaLnBrk="1" hangingPunct="1">
              <a:lnSpc>
                <a:spcPct val="120000"/>
              </a:lnSpc>
              <a:spcBef>
                <a:spcPct val="30000"/>
              </a:spcBef>
              <a:buFontTx/>
              <a:buNone/>
            </a:pPr>
            <a:r>
              <a:rPr lang="en-US" altLang="zh-CN" b="1"/>
              <a:t>	1.3.1 The amino acid sequence of every protein and the nucleotide sequence of every RNA molecule in a cell are all specified by the nucleotide sequence of that cell’s DNA molecule.</a:t>
            </a:r>
          </a:p>
          <a:p>
            <a:pPr eaLnBrk="1" hangingPunct="1">
              <a:lnSpc>
                <a:spcPct val="120000"/>
              </a:lnSpc>
              <a:spcBef>
                <a:spcPct val="30000"/>
              </a:spcBef>
              <a:buFontTx/>
              <a:buNone/>
            </a:pPr>
            <a:r>
              <a:rPr lang="en-US" altLang="zh-CN" b="1"/>
              <a:t>	</a:t>
            </a:r>
            <a:endParaRPr lang="en-US" altLang="zh-CN" sz="2800"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4098"/>
          <p:cNvSpPr txBox="1">
            <a:spLocks noChangeArrowheads="1"/>
          </p:cNvSpPr>
          <p:nvPr/>
        </p:nvSpPr>
        <p:spPr bwMode="auto">
          <a:xfrm>
            <a:off x="228600" y="693738"/>
            <a:ext cx="8763000" cy="368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buFontTx/>
              <a:buNone/>
            </a:pPr>
            <a:r>
              <a:rPr lang="en-US" altLang="zh-CN" b="1" dirty="0"/>
              <a:t>	1.3.2 A segment of DNA that contains the information required for the synthesis of a functional protein or RNA is referred as a </a:t>
            </a:r>
            <a:r>
              <a:rPr lang="en-US" altLang="zh-CN" b="1" dirty="0">
                <a:solidFill>
                  <a:srgbClr val="FF0000"/>
                </a:solidFill>
              </a:rPr>
              <a:t>gene</a:t>
            </a:r>
            <a:r>
              <a:rPr lang="en-US" altLang="zh-CN" b="1" dirty="0"/>
              <a:t>.</a:t>
            </a:r>
          </a:p>
          <a:p>
            <a:pPr eaLnBrk="1" hangingPunct="1">
              <a:spcBef>
                <a:spcPct val="30000"/>
              </a:spcBef>
              <a:buFontTx/>
              <a:buNone/>
            </a:pPr>
            <a:r>
              <a:rPr lang="en-US" altLang="zh-CN" b="1" dirty="0"/>
              <a:t>	1.3.3 DNA is large </a:t>
            </a:r>
            <a:r>
              <a:rPr lang="en-US" altLang="zh-CN" b="1" dirty="0">
                <a:solidFill>
                  <a:srgbClr val="FF0000"/>
                </a:solidFill>
              </a:rPr>
              <a:t>biomacromolecule</a:t>
            </a:r>
            <a:r>
              <a:rPr lang="en-US" altLang="zh-CN" b="1" dirty="0"/>
              <a:t>. In bacteria, all the genetic information is stored in a single DNA molecule; in a eukaryotic cell each chromosome contains one single DNA molecule.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152400" y="655638"/>
            <a:ext cx="8839200" cy="5213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buFontTx/>
              <a:buNone/>
            </a:pPr>
            <a:r>
              <a:rPr lang="en-US" altLang="zh-CN" b="1" dirty="0"/>
              <a:t>1.4 RNA can be divided into </a:t>
            </a:r>
            <a:r>
              <a:rPr lang="en-US" altLang="zh-CN" b="1" dirty="0">
                <a:solidFill>
                  <a:srgbClr val="FF0000"/>
                </a:solidFill>
              </a:rPr>
              <a:t>several classes </a:t>
            </a:r>
            <a:r>
              <a:rPr lang="en-US" altLang="zh-CN" b="1" dirty="0"/>
              <a:t>of different functions.</a:t>
            </a:r>
          </a:p>
          <a:p>
            <a:pPr eaLnBrk="1" hangingPunct="1">
              <a:lnSpc>
                <a:spcPct val="80000"/>
              </a:lnSpc>
              <a:buFontTx/>
              <a:buNone/>
            </a:pPr>
            <a:r>
              <a:rPr lang="en-US" altLang="zh-CN" b="1" dirty="0"/>
              <a:t>	1.4.1 Ribosomal RNAs (</a:t>
            </a:r>
            <a:r>
              <a:rPr lang="en-US" altLang="zh-CN" b="1" dirty="0">
                <a:solidFill>
                  <a:srgbClr val="FF0000"/>
                </a:solidFill>
              </a:rPr>
              <a:t>rRNA</a:t>
            </a:r>
            <a:r>
              <a:rPr lang="en-US" altLang="zh-CN" b="1" dirty="0"/>
              <a:t>) are structural components of ribosomes (the protein synthesis machine in cells).</a:t>
            </a:r>
          </a:p>
          <a:p>
            <a:pPr eaLnBrk="1" hangingPunct="1">
              <a:buFontTx/>
              <a:buNone/>
            </a:pPr>
            <a:r>
              <a:rPr lang="en-US" altLang="zh-CN" b="1" dirty="0"/>
              <a:t>	1.4.2 Messenger RNA (</a:t>
            </a:r>
            <a:r>
              <a:rPr lang="en-US" altLang="zh-CN" b="1" dirty="0">
                <a:solidFill>
                  <a:srgbClr val="FF0000"/>
                </a:solidFill>
              </a:rPr>
              <a:t>mRNA</a:t>
            </a:r>
            <a:r>
              <a:rPr lang="en-US" altLang="zh-CN" b="1" dirty="0"/>
              <a:t>) are copies of DNA (synthesized by DNA transcription), that carry the information of </a:t>
            </a:r>
            <a:r>
              <a:rPr lang="en-US" altLang="zh-CN" b="1" dirty="0">
                <a:solidFill>
                  <a:srgbClr val="FF0000"/>
                </a:solidFill>
              </a:rPr>
              <a:t>one or a few genes </a:t>
            </a:r>
            <a:r>
              <a:rPr lang="en-US" altLang="zh-CN" b="1" dirty="0"/>
              <a:t>to the ribosomes, where the corresponding protein(s) is(are) synthesized.</a:t>
            </a:r>
          </a:p>
          <a:p>
            <a:pPr eaLnBrk="1" hangingPunct="1">
              <a:lnSpc>
                <a:spcPct val="80000"/>
              </a:lnSpc>
              <a:buFontTx/>
              <a:buNone/>
            </a:pPr>
            <a:r>
              <a:rPr lang="en-US" altLang="zh-CN" b="1" dirty="0"/>
              <a:t>	</a:t>
            </a:r>
            <a:endParaRPr lang="en-US" altLang="zh-C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304800" y="635000"/>
            <a:ext cx="8534400" cy="558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30000"/>
              </a:spcBef>
              <a:buFontTx/>
              <a:buNone/>
            </a:pPr>
            <a:r>
              <a:rPr lang="en-US" altLang="zh-CN" sz="2400" dirty="0"/>
              <a:t>	 </a:t>
            </a:r>
            <a:r>
              <a:rPr lang="en-US" altLang="zh-CN" b="1" dirty="0"/>
              <a:t>1.4.3 Transfer RNA (</a:t>
            </a:r>
            <a:r>
              <a:rPr lang="en-US" altLang="zh-CN" b="1" dirty="0">
                <a:solidFill>
                  <a:srgbClr val="FF0000"/>
                </a:solidFill>
              </a:rPr>
              <a:t>tRNA</a:t>
            </a:r>
            <a:r>
              <a:rPr lang="en-US" altLang="zh-CN" b="1" dirty="0"/>
              <a:t>) are adapter molecules that faithfully translate the information in a mRNA molecule into the specific amino acid sequences in a polypeptide chain.</a:t>
            </a:r>
            <a:r>
              <a:rPr lang="en-US" altLang="zh-CN" dirty="0"/>
              <a:t> </a:t>
            </a:r>
          </a:p>
          <a:p>
            <a:pPr eaLnBrk="1" hangingPunct="1">
              <a:spcBef>
                <a:spcPct val="30000"/>
              </a:spcBef>
              <a:buFontTx/>
              <a:buNone/>
            </a:pPr>
            <a:r>
              <a:rPr lang="en-US" altLang="zh-CN" dirty="0"/>
              <a:t>	</a:t>
            </a:r>
            <a:r>
              <a:rPr lang="en-US" altLang="zh-CN" b="1" dirty="0"/>
              <a:t>1.4.4 Some RNA molecules, named as </a:t>
            </a:r>
            <a:r>
              <a:rPr lang="en-US" altLang="zh-CN" b="1" dirty="0">
                <a:solidFill>
                  <a:srgbClr val="FF0000"/>
                </a:solidFill>
              </a:rPr>
              <a:t>Ribozymes</a:t>
            </a:r>
            <a:r>
              <a:rPr lang="en-US" altLang="zh-CN" b="1" dirty="0"/>
              <a:t>, have catalytic activities functioning in the processing (cleavage) of precursor RNA molecules (Thomas Cech and Sidney Altman won the Nobel Prize in Chemistry in 1989 for discovering ribozymes).</a:t>
            </a:r>
          </a:p>
          <a:p>
            <a:pPr eaLnBrk="1" hangingPunct="1">
              <a:lnSpc>
                <a:spcPct val="80000"/>
              </a:lnSpc>
              <a:spcBef>
                <a:spcPct val="30000"/>
              </a:spcBef>
              <a:buFontTx/>
              <a:buNone/>
            </a:pPr>
            <a:endParaRPr lang="en-US" altLang="zh-CN" sz="2800"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0" y="228600"/>
            <a:ext cx="9144000" cy="548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lang="en-US" altLang="zh-CN" b="1" dirty="0"/>
              <a:t>1.5 Nucleotides have roles </a:t>
            </a:r>
            <a:r>
              <a:rPr lang="en-US" altLang="zh-CN" b="1" dirty="0">
                <a:solidFill>
                  <a:srgbClr val="FF0000"/>
                </a:solidFill>
              </a:rPr>
              <a:t>other than being monomeric units of nucleic acids</a:t>
            </a:r>
            <a:r>
              <a:rPr lang="en-US" altLang="zh-CN" b="1" dirty="0"/>
              <a:t>.</a:t>
            </a:r>
          </a:p>
          <a:p>
            <a:pPr eaLnBrk="1" hangingPunct="1">
              <a:lnSpc>
                <a:spcPct val="120000"/>
              </a:lnSpc>
              <a:buFontTx/>
              <a:buNone/>
            </a:pPr>
            <a:r>
              <a:rPr lang="en-US" altLang="zh-CN" b="1" dirty="0"/>
              <a:t>	1.5.1 Nucleoside triphosphates are used as source of </a:t>
            </a:r>
            <a:r>
              <a:rPr lang="en-US" altLang="zh-CN" b="1" dirty="0">
                <a:solidFill>
                  <a:srgbClr val="FF0000"/>
                </a:solidFill>
              </a:rPr>
              <a:t>chemical energy </a:t>
            </a:r>
            <a:r>
              <a:rPr lang="en-US" altLang="zh-CN" b="1" dirty="0"/>
              <a:t>to drive a wide variety of biochemical reactions.</a:t>
            </a:r>
            <a:r>
              <a:rPr lang="en-US" altLang="zh-CN" dirty="0"/>
              <a:t> </a:t>
            </a:r>
          </a:p>
          <a:p>
            <a:pPr eaLnBrk="1" hangingPunct="1">
              <a:lnSpc>
                <a:spcPct val="120000"/>
              </a:lnSpc>
              <a:buFontTx/>
              <a:buNone/>
            </a:pPr>
            <a:r>
              <a:rPr lang="en-US" altLang="zh-CN" dirty="0"/>
              <a:t>	</a:t>
            </a:r>
            <a:r>
              <a:rPr lang="en-US" altLang="zh-CN" b="1" dirty="0"/>
              <a:t>1.5.2 </a:t>
            </a:r>
            <a:r>
              <a:rPr lang="en-US" altLang="zh-CN" b="1" dirty="0">
                <a:solidFill>
                  <a:srgbClr val="FF0000"/>
                </a:solidFill>
              </a:rPr>
              <a:t>ATP is the “energy currency</a:t>
            </a:r>
            <a:r>
              <a:rPr lang="en-US" altLang="zh-CN" b="1" dirty="0"/>
              <a:t>” in cells (UTP, GTP, and CTP are also used in specific reactions as energy sources)</a:t>
            </a:r>
          </a:p>
          <a:p>
            <a:pPr eaLnBrk="1" hangingPunct="1">
              <a:lnSpc>
                <a:spcPct val="75000"/>
              </a:lnSpc>
              <a:buFontTx/>
              <a:buNone/>
            </a:pPr>
            <a:r>
              <a:rPr lang="en-US" altLang="zh-CN" b="1" dirty="0"/>
              <a:t>	</a:t>
            </a:r>
            <a:endParaRPr lang="en-US" altLang="zh-CN" sz="2800"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1026"/>
          <p:cNvSpPr txBox="1">
            <a:spLocks noChangeArrowheads="1"/>
          </p:cNvSpPr>
          <p:nvPr/>
        </p:nvSpPr>
        <p:spPr bwMode="auto">
          <a:xfrm>
            <a:off x="381000" y="928688"/>
            <a:ext cx="8229600"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lang="en-US" altLang="zh-CN" b="1" dirty="0"/>
              <a:t>	1.5.3 Adenosine diphosphate (</a:t>
            </a:r>
            <a:r>
              <a:rPr lang="en-US" altLang="zh-CN" b="1" dirty="0">
                <a:solidFill>
                  <a:srgbClr val="FF0000"/>
                </a:solidFill>
              </a:rPr>
              <a:t>ADP</a:t>
            </a:r>
            <a:r>
              <a:rPr lang="en-US" altLang="zh-CN" b="1" dirty="0"/>
              <a:t>) is part of many </a:t>
            </a:r>
            <a:r>
              <a:rPr lang="en-US" altLang="zh-CN" b="1" dirty="0">
                <a:solidFill>
                  <a:srgbClr val="FF0000"/>
                </a:solidFill>
              </a:rPr>
              <a:t>coenzymes</a:t>
            </a:r>
            <a:r>
              <a:rPr lang="en-US" altLang="zh-CN" b="1" dirty="0"/>
              <a:t>, e.g., coenzyme A, nicotinamide adenine dinucleotide (NAD</a:t>
            </a:r>
            <a:r>
              <a:rPr lang="en-US" altLang="zh-CN" b="1" baseline="30000" dirty="0"/>
              <a:t>+</a:t>
            </a:r>
            <a:r>
              <a:rPr lang="en-US" altLang="zh-CN" b="1" dirty="0"/>
              <a:t>), flavin adenine dinucleotide (FAD).</a:t>
            </a:r>
          </a:p>
          <a:p>
            <a:pPr eaLnBrk="1" hangingPunct="1">
              <a:lnSpc>
                <a:spcPct val="120000"/>
              </a:lnSpc>
              <a:buFontTx/>
              <a:buNone/>
            </a:pPr>
            <a:r>
              <a:rPr lang="en-US" altLang="zh-CN" b="1" dirty="0"/>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4" descr="003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620688"/>
            <a:ext cx="6984776" cy="52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85800"/>
            <a:ext cx="9144000" cy="358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491880" y="2452246"/>
            <a:ext cx="1584176" cy="369332"/>
          </a:xfrm>
          <a:prstGeom prst="rect">
            <a:avLst/>
          </a:prstGeom>
          <a:noFill/>
        </p:spPr>
        <p:txBody>
          <a:bodyPr wrap="square" rtlCol="0">
            <a:spAutoFit/>
          </a:bodyPr>
          <a:lstStyle/>
          <a:p>
            <a:r>
              <a:rPr lang="zh-CN" altLang="en-US" dirty="0"/>
              <a:t>泛酸</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7783" y="548680"/>
            <a:ext cx="4198681" cy="56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3200" y="381000"/>
            <a:ext cx="3070225"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4"/>
          <p:cNvSpPr txBox="1">
            <a:spLocks noChangeArrowheads="1"/>
          </p:cNvSpPr>
          <p:nvPr/>
        </p:nvSpPr>
        <p:spPr bwMode="auto">
          <a:xfrm>
            <a:off x="533400" y="1066800"/>
            <a:ext cx="8001000"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lang="en-US" altLang="zh-CN" b="1" dirty="0"/>
              <a:t>1.5.4 Adenosine 3’,5’-cyclic monophosphate (</a:t>
            </a:r>
            <a:r>
              <a:rPr lang="en-US" altLang="zh-CN" b="1" dirty="0">
                <a:solidFill>
                  <a:srgbClr val="FF0000"/>
                </a:solidFill>
              </a:rPr>
              <a:t>cAMP</a:t>
            </a:r>
            <a:r>
              <a:rPr lang="en-US" altLang="zh-CN" b="1" dirty="0"/>
              <a:t>), guanosine 3’,5’-cyclic monophosphate (</a:t>
            </a:r>
            <a:r>
              <a:rPr lang="en-US" altLang="zh-CN" b="1" dirty="0">
                <a:solidFill>
                  <a:srgbClr val="FF0000"/>
                </a:solidFill>
              </a:rPr>
              <a:t>cGMP</a:t>
            </a:r>
            <a:r>
              <a:rPr lang="en-US" altLang="zh-CN" b="1" dirty="0"/>
              <a:t>) function as </a:t>
            </a:r>
            <a:r>
              <a:rPr lang="en-US" altLang="zh-CN" b="1" dirty="0">
                <a:solidFill>
                  <a:srgbClr val="FF0000"/>
                </a:solidFill>
              </a:rPr>
              <a:t>secondary messengers </a:t>
            </a:r>
            <a:r>
              <a:rPr lang="en-US" altLang="zh-CN" b="1" dirty="0"/>
              <a:t>in cell signal transductions.</a:t>
            </a:r>
          </a:p>
          <a:p>
            <a:pPr eaLnBrk="1" hangingPunct="1">
              <a:spcBef>
                <a:spcPct val="50000"/>
              </a:spcBef>
              <a:buFontTx/>
              <a:buNone/>
            </a:pPr>
            <a:endParaRPr lang="en-US" altLang="zh-CN"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7550" y="711200"/>
            <a:ext cx="77089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228600" y="228600"/>
            <a:ext cx="86868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5000"/>
              </a:spcBef>
              <a:buFontTx/>
              <a:buNone/>
            </a:pPr>
            <a:r>
              <a:rPr lang="en-US" altLang="zh-CN" b="1">
                <a:solidFill>
                  <a:srgbClr val="FF0066"/>
                </a:solidFill>
              </a:rPr>
              <a:t>2. Phosphodiester bonds link successive nucleotides in nucleic acids (in both DNA and RNA)</a:t>
            </a:r>
            <a:endParaRPr lang="en-US" altLang="zh-CN" sz="2400"/>
          </a:p>
        </p:txBody>
      </p:sp>
      <p:sp>
        <p:nvSpPr>
          <p:cNvPr id="66563" name="Text Box 3"/>
          <p:cNvSpPr txBox="1">
            <a:spLocks noChangeArrowheads="1"/>
          </p:cNvSpPr>
          <p:nvPr/>
        </p:nvSpPr>
        <p:spPr bwMode="auto">
          <a:xfrm>
            <a:off x="228600" y="2097088"/>
            <a:ext cx="8915400" cy="368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5000"/>
              </a:spcBef>
              <a:buFontTx/>
              <a:buNone/>
            </a:pPr>
            <a:r>
              <a:rPr lang="en-US" altLang="zh-CN" b="1" dirty="0"/>
              <a:t>2.1 The 3’-hydroxyl group of one nucleotide is joined to the 5’-phosphate group of the next nucleotide by a </a:t>
            </a:r>
            <a:r>
              <a:rPr lang="en-US" altLang="zh-CN" b="1" dirty="0">
                <a:solidFill>
                  <a:srgbClr val="FF0000"/>
                </a:solidFill>
              </a:rPr>
              <a:t>phosphodiester bridge</a:t>
            </a:r>
            <a:r>
              <a:rPr lang="en-US" altLang="zh-CN" b="1" dirty="0"/>
              <a:t>.</a:t>
            </a:r>
          </a:p>
          <a:p>
            <a:pPr eaLnBrk="1" hangingPunct="1">
              <a:spcBef>
                <a:spcPct val="15000"/>
              </a:spcBef>
              <a:buFontTx/>
              <a:buNone/>
            </a:pPr>
            <a:r>
              <a:rPr lang="en-US" altLang="zh-CN" b="1" dirty="0"/>
              <a:t>	2.1.1 The covalent backbones of nucleic acids consist of alternating phosphate and pentose (</a:t>
            </a:r>
            <a:r>
              <a:rPr lang="en-US" altLang="zh-CN" b="1" dirty="0">
                <a:latin typeface="Symbol" panose="05050102010706020507" pitchFamily="18" charset="2"/>
              </a:rPr>
              <a:t>b</a:t>
            </a:r>
            <a:r>
              <a:rPr lang="en-US" altLang="zh-CN" b="1" dirty="0"/>
              <a:t>-D-deoxyribose in DNA, </a:t>
            </a:r>
            <a:r>
              <a:rPr lang="en-US" altLang="zh-CN" b="1" dirty="0">
                <a:latin typeface="Symbol" panose="05050102010706020507" pitchFamily="18" charset="2"/>
              </a:rPr>
              <a:t>b</a:t>
            </a:r>
            <a:r>
              <a:rPr lang="en-US" altLang="zh-CN" b="1" dirty="0"/>
              <a:t>-D-ribose in RNA) residues.</a:t>
            </a:r>
          </a:p>
          <a:p>
            <a:pPr eaLnBrk="1" hangingPunct="1">
              <a:spcBef>
                <a:spcPct val="15000"/>
              </a:spcBef>
              <a:buFontTx/>
              <a:buNone/>
            </a:pPr>
            <a:r>
              <a:rPr lang="en-US" altLang="zh-CN" b="1" dirty="0"/>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5700" y="76200"/>
            <a:ext cx="42926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51520" y="2636912"/>
            <a:ext cx="1915909" cy="369332"/>
          </a:xfrm>
          <a:prstGeom prst="rect">
            <a:avLst/>
          </a:prstGeom>
        </p:spPr>
        <p:txBody>
          <a:bodyPr wrap="none">
            <a:spAutoFit/>
          </a:bodyPr>
          <a:lstStyle/>
          <a:p>
            <a:r>
              <a:rPr lang="en-US" altLang="zh-CN" b="1" dirty="0"/>
              <a:t>phosphodiester</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60688" y="152400"/>
            <a:ext cx="2373312"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152400" y="228601"/>
            <a:ext cx="8740080" cy="5481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25000"/>
              </a:spcBef>
              <a:buFontTx/>
              <a:buNone/>
            </a:pPr>
            <a:r>
              <a:rPr lang="en-US" altLang="zh-CN" sz="2800" dirty="0"/>
              <a:t>	</a:t>
            </a:r>
            <a:r>
              <a:rPr lang="en-US" altLang="zh-CN" sz="2800" b="1" dirty="0"/>
              <a:t>2.1.2 The characteristic bases can be regarded as </a:t>
            </a:r>
            <a:r>
              <a:rPr lang="en-US" altLang="zh-CN" sz="2800" b="1" dirty="0">
                <a:solidFill>
                  <a:srgbClr val="FF0000"/>
                </a:solidFill>
              </a:rPr>
              <a:t>side groups </a:t>
            </a:r>
            <a:r>
              <a:rPr lang="en-US" altLang="zh-CN" sz="2800" b="1" dirty="0"/>
              <a:t>attaching to the backbone at regular intervals (</a:t>
            </a:r>
            <a:r>
              <a:rPr lang="en-US" altLang="zh-CN" sz="2800" b="1" dirty="0">
                <a:solidFill>
                  <a:srgbClr val="FF0000"/>
                </a:solidFill>
              </a:rPr>
              <a:t>similar to the R groups on a peptide chains</a:t>
            </a:r>
            <a:r>
              <a:rPr lang="en-US" altLang="zh-CN" sz="2800" b="1" dirty="0"/>
              <a:t>).</a:t>
            </a:r>
          </a:p>
          <a:p>
            <a:pPr eaLnBrk="1" hangingPunct="1">
              <a:spcBef>
                <a:spcPct val="25000"/>
              </a:spcBef>
              <a:buFontTx/>
              <a:buNone/>
            </a:pPr>
            <a:r>
              <a:rPr lang="en-US" altLang="zh-CN" sz="2800" b="1" dirty="0"/>
              <a:t>	2.1.3 Each DNA and RNA strands have a specific polarity with a </a:t>
            </a:r>
            <a:r>
              <a:rPr lang="en-US" altLang="zh-CN" sz="2800" b="1" dirty="0">
                <a:solidFill>
                  <a:srgbClr val="FF0000"/>
                </a:solidFill>
              </a:rPr>
              <a:t>distinct 5’ end </a:t>
            </a:r>
            <a:r>
              <a:rPr lang="en-US" altLang="zh-CN" sz="2800" b="1" dirty="0"/>
              <a:t>(the end lacking a nucleotide at the 5’ position) and a </a:t>
            </a:r>
            <a:r>
              <a:rPr lang="en-US" altLang="zh-CN" sz="2800" b="1" dirty="0">
                <a:solidFill>
                  <a:srgbClr val="FF0000"/>
                </a:solidFill>
              </a:rPr>
              <a:t>3’ end </a:t>
            </a:r>
            <a:r>
              <a:rPr lang="en-US" altLang="zh-CN" sz="2800" b="1" dirty="0"/>
              <a:t>(the end lacking a nucleotide at the 3’ position). 5’-pCpGpT-3’-OH</a:t>
            </a:r>
          </a:p>
          <a:p>
            <a:pPr eaLnBrk="1" hangingPunct="1">
              <a:spcBef>
                <a:spcPct val="25000"/>
              </a:spcBef>
              <a:buFontTx/>
              <a:buNone/>
            </a:pPr>
            <a:r>
              <a:rPr lang="en-US" altLang="zh-CN" sz="2800" b="1" dirty="0"/>
              <a:t>	2.1.4 The base sequence of a DNA or RNA molecule is always written with the </a:t>
            </a:r>
            <a:r>
              <a:rPr lang="en-US" altLang="zh-CN" sz="2800" b="1" dirty="0">
                <a:solidFill>
                  <a:srgbClr val="FF0000"/>
                </a:solidFill>
              </a:rPr>
              <a:t>5’ end on the left and 3’ end on the right </a:t>
            </a:r>
            <a:r>
              <a:rPr lang="en-US" altLang="zh-CN" sz="2800" b="1" dirty="0"/>
              <a:t>by convention.</a:t>
            </a:r>
          </a:p>
          <a:p>
            <a:pPr eaLnBrk="1" hangingPunct="1">
              <a:lnSpc>
                <a:spcPct val="75000"/>
              </a:lnSpc>
              <a:spcBef>
                <a:spcPct val="25000"/>
              </a:spcBef>
              <a:buFontTx/>
              <a:buNone/>
            </a:pPr>
            <a:r>
              <a:rPr lang="en-US" altLang="zh-CN" sz="2800" b="1" dirty="0"/>
              <a:t>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1727200"/>
            <a:ext cx="7003504" cy="2216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3" name="Text Box 1029"/>
          <p:cNvSpPr txBox="1">
            <a:spLocks noChangeArrowheads="1"/>
          </p:cNvSpPr>
          <p:nvPr/>
        </p:nvSpPr>
        <p:spPr bwMode="auto">
          <a:xfrm>
            <a:off x="2339752" y="3965150"/>
            <a:ext cx="480628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dirty="0" err="1"/>
              <a:t>pA</a:t>
            </a:r>
            <a:r>
              <a:rPr lang="en-US" altLang="zh-CN" dirty="0"/>
              <a:t>-C-G-T-A</a:t>
            </a:r>
            <a:r>
              <a:rPr lang="en-US" altLang="zh-CN" baseline="-25000" dirty="0"/>
              <a:t>OH</a:t>
            </a:r>
          </a:p>
          <a:p>
            <a:pPr eaLnBrk="1" hangingPunct="1">
              <a:spcBef>
                <a:spcPct val="50000"/>
              </a:spcBef>
              <a:buFontTx/>
              <a:buNone/>
            </a:pPr>
            <a:r>
              <a:rPr lang="en-US" altLang="zh-CN" dirty="0" err="1"/>
              <a:t>pApCpGpTpA</a:t>
            </a:r>
            <a:endParaRPr lang="en-US" altLang="zh-CN" dirty="0"/>
          </a:p>
          <a:p>
            <a:pPr eaLnBrk="1" hangingPunct="1">
              <a:spcBef>
                <a:spcPct val="50000"/>
              </a:spcBef>
              <a:buFontTx/>
              <a:buNone/>
            </a:pPr>
            <a:r>
              <a:rPr lang="en-US" altLang="zh-CN" dirty="0"/>
              <a:t>ACGTA</a:t>
            </a:r>
          </a:p>
        </p:txBody>
      </p:sp>
      <p:sp>
        <p:nvSpPr>
          <p:cNvPr id="71684" name="Text Box 1031"/>
          <p:cNvSpPr txBox="1">
            <a:spLocks noChangeArrowheads="1"/>
          </p:cNvSpPr>
          <p:nvPr/>
        </p:nvSpPr>
        <p:spPr bwMode="auto">
          <a:xfrm>
            <a:off x="0" y="152400"/>
            <a:ext cx="91440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25000"/>
              </a:spcBef>
              <a:buFontTx/>
              <a:buNone/>
            </a:pPr>
            <a:r>
              <a:rPr lang="en-US" altLang="zh-CN" b="1"/>
              <a:t>	2.1.5 The nucleotide sequences of short segment of nucleic acids can be represented in different ways.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3076"/>
          <p:cNvSpPr txBox="1">
            <a:spLocks noChangeArrowheads="1"/>
          </p:cNvSpPr>
          <p:nvPr/>
        </p:nvSpPr>
        <p:spPr bwMode="auto">
          <a:xfrm>
            <a:off x="381000" y="762000"/>
            <a:ext cx="8458200" cy="490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5000"/>
              </a:spcBef>
              <a:buFontTx/>
              <a:buNone/>
            </a:pPr>
            <a:r>
              <a:rPr lang="en-US" altLang="zh-CN" b="1" dirty="0"/>
              <a:t>          2.1.6 An </a:t>
            </a:r>
            <a:r>
              <a:rPr lang="en-US" altLang="zh-CN" b="1" dirty="0">
                <a:solidFill>
                  <a:srgbClr val="FF0000"/>
                </a:solidFill>
              </a:rPr>
              <a:t>oligonucleotide</a:t>
            </a:r>
            <a:r>
              <a:rPr lang="en-US" altLang="zh-CN" b="1" dirty="0"/>
              <a:t> refers to nucleic acids shorter than about 50 nucleotides.</a:t>
            </a:r>
          </a:p>
          <a:p>
            <a:pPr eaLnBrk="1" hangingPunct="1">
              <a:lnSpc>
                <a:spcPct val="120000"/>
              </a:lnSpc>
              <a:spcBef>
                <a:spcPct val="25000"/>
              </a:spcBef>
              <a:buFontTx/>
              <a:buNone/>
            </a:pPr>
            <a:r>
              <a:rPr lang="en-US" altLang="zh-CN" b="1" dirty="0"/>
              <a:t>	2.1.7 The backbones of both DNA and RNA are </a:t>
            </a:r>
            <a:r>
              <a:rPr lang="en-US" altLang="zh-CN" b="1" dirty="0">
                <a:solidFill>
                  <a:srgbClr val="FF0000"/>
                </a:solidFill>
              </a:rPr>
              <a:t>hydrophilic, having negative charges at physiological pH</a:t>
            </a:r>
            <a:r>
              <a:rPr lang="en-US" altLang="zh-CN" b="1" dirty="0"/>
              <a:t>, that are generally neutralized </a:t>
            </a:r>
            <a:r>
              <a:rPr lang="en-US" altLang="zh-CN" b="1" dirty="0">
                <a:solidFill>
                  <a:srgbClr val="FF0000"/>
                </a:solidFill>
              </a:rPr>
              <a:t>by positively charged proteins, metal ions, and polyamines </a:t>
            </a:r>
            <a:r>
              <a:rPr lang="en-US" altLang="zh-CN" b="1" dirty="0"/>
              <a:t>in cells.</a:t>
            </a:r>
          </a:p>
          <a:p>
            <a:pPr eaLnBrk="1" hangingPunct="1">
              <a:spcBef>
                <a:spcPct val="50000"/>
              </a:spcBef>
              <a:buFontTx/>
              <a:buNone/>
            </a:pPr>
            <a:endParaRPr lang="en-US" altLang="zh-CN"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60688" y="152400"/>
            <a:ext cx="2373312"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228600" y="381000"/>
            <a:ext cx="868680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FontTx/>
              <a:buNone/>
            </a:pPr>
            <a:r>
              <a:rPr lang="en-US" altLang="zh-CN" b="1">
                <a:solidFill>
                  <a:srgbClr val="FF0066"/>
                </a:solidFill>
              </a:rPr>
              <a:t>3. DNA was found to be the molecule storing the genetic information.</a:t>
            </a:r>
            <a:endParaRPr lang="en-US" altLang="zh-CN" sz="2400"/>
          </a:p>
        </p:txBody>
      </p:sp>
      <p:sp>
        <p:nvSpPr>
          <p:cNvPr id="73731" name="Text Box 5"/>
          <p:cNvSpPr txBox="1">
            <a:spLocks noChangeArrowheads="1"/>
          </p:cNvSpPr>
          <p:nvPr/>
        </p:nvSpPr>
        <p:spPr bwMode="auto">
          <a:xfrm>
            <a:off x="457200" y="1447800"/>
            <a:ext cx="8153400"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dirty="0"/>
              <a:t>The biochemical investigation of DNA began with Friedrich Miescher in 1868.</a:t>
            </a:r>
          </a:p>
          <a:p>
            <a:pPr eaLnBrk="1" hangingPunct="1">
              <a:spcBef>
                <a:spcPct val="50000"/>
              </a:spcBef>
              <a:buFontTx/>
              <a:buNone/>
            </a:pPr>
            <a:r>
              <a:rPr lang="en-US" altLang="zh-CN" b="1" dirty="0"/>
              <a:t>The </a:t>
            </a:r>
            <a:r>
              <a:rPr lang="en-US" altLang="zh-CN" b="1" dirty="0">
                <a:solidFill>
                  <a:srgbClr val="FF0000"/>
                </a:solidFill>
              </a:rPr>
              <a:t>first direct evidence </a:t>
            </a:r>
            <a:r>
              <a:rPr lang="en-US" altLang="zh-CN" b="1" dirty="0"/>
              <a:t>that DNA is the bearer of genetic information came in 1944 through a discovery made by Oswald T. Avery et al.</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5770F967-57C0-4DE7-AB6B-F637A828221F}"/>
              </a:ext>
            </a:extLst>
          </p:cNvPr>
          <p:cNvGrpSpPr/>
          <p:nvPr/>
        </p:nvGrpSpPr>
        <p:grpSpPr>
          <a:xfrm>
            <a:off x="1187624" y="620688"/>
            <a:ext cx="6984776" cy="5058562"/>
            <a:chOff x="683568" y="323778"/>
            <a:chExt cx="6984776" cy="5058562"/>
          </a:xfrm>
        </p:grpSpPr>
        <p:pic>
          <p:nvPicPr>
            <p:cNvPr id="2" name="图片 1">
              <a:extLst>
                <a:ext uri="{FF2B5EF4-FFF2-40B4-BE49-F238E27FC236}">
                  <a16:creationId xmlns:a16="http://schemas.microsoft.com/office/drawing/2014/main" id="{296EA35A-F5EA-43FC-AB74-1BBC040471FE}"/>
                </a:ext>
              </a:extLst>
            </p:cNvPr>
            <p:cNvPicPr>
              <a:picLocks noChangeAspect="1"/>
            </p:cNvPicPr>
            <p:nvPr/>
          </p:nvPicPr>
          <p:blipFill>
            <a:blip r:embed="rId2"/>
            <a:stretch>
              <a:fillRect/>
            </a:stretch>
          </p:blipFill>
          <p:spPr>
            <a:xfrm>
              <a:off x="683568" y="323778"/>
              <a:ext cx="6984776" cy="5058562"/>
            </a:xfrm>
            <a:prstGeom prst="rect">
              <a:avLst/>
            </a:prstGeom>
          </p:spPr>
        </p:pic>
        <p:sp>
          <p:nvSpPr>
            <p:cNvPr id="3" name="矩形: 圆角 2">
              <a:extLst>
                <a:ext uri="{FF2B5EF4-FFF2-40B4-BE49-F238E27FC236}">
                  <a16:creationId xmlns:a16="http://schemas.microsoft.com/office/drawing/2014/main" id="{301E4A69-3015-4A86-BF6B-81D4F2DACEA3}"/>
                </a:ext>
              </a:extLst>
            </p:cNvPr>
            <p:cNvSpPr/>
            <p:nvPr/>
          </p:nvSpPr>
          <p:spPr>
            <a:xfrm>
              <a:off x="867134" y="326130"/>
              <a:ext cx="4680936" cy="70885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27384746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1066800"/>
            <a:ext cx="8026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1066800"/>
            <a:ext cx="8026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927100"/>
            <a:ext cx="8026400" cy="500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1400" y="711200"/>
            <a:ext cx="7061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0150" y="774700"/>
            <a:ext cx="67437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1026"/>
          <p:cNvSpPr txBox="1">
            <a:spLocks noChangeArrowheads="1"/>
          </p:cNvSpPr>
          <p:nvPr/>
        </p:nvSpPr>
        <p:spPr bwMode="auto">
          <a:xfrm>
            <a:off x="228600" y="685800"/>
            <a:ext cx="8534400"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30000"/>
              </a:spcBef>
              <a:buFontTx/>
              <a:buNone/>
            </a:pPr>
            <a:r>
              <a:rPr lang="en-US" altLang="zh-CN" b="1" dirty="0"/>
              <a:t>3.1 Avery and his colleagues discovered that a </a:t>
            </a:r>
            <a:r>
              <a:rPr lang="en-US" altLang="zh-CN" b="1" dirty="0">
                <a:solidFill>
                  <a:srgbClr val="FF0000"/>
                </a:solidFill>
              </a:rPr>
              <a:t>nonvirulent R form </a:t>
            </a:r>
            <a:r>
              <a:rPr lang="en-US" altLang="zh-CN" b="1" dirty="0"/>
              <a:t>of </a:t>
            </a:r>
            <a:r>
              <a:rPr lang="en-US" altLang="zh-CN" b="1" dirty="0">
                <a:solidFill>
                  <a:srgbClr val="FF0000"/>
                </a:solidFill>
              </a:rPr>
              <a:t>pneumococcus</a:t>
            </a:r>
            <a:r>
              <a:rPr lang="en-US" altLang="zh-CN" b="1" dirty="0"/>
              <a:t> bacterium (with rough colonies) can be transformed into the virulent S form (of smooth colonies).</a:t>
            </a:r>
          </a:p>
          <a:p>
            <a:pPr eaLnBrk="1" hangingPunct="1">
              <a:lnSpc>
                <a:spcPct val="120000"/>
              </a:lnSpc>
              <a:spcBef>
                <a:spcPct val="30000"/>
              </a:spcBef>
              <a:buFontTx/>
              <a:buNone/>
            </a:pPr>
            <a:r>
              <a:rPr lang="en-US" altLang="zh-CN" b="1" dirty="0"/>
              <a:t>	</a:t>
            </a:r>
            <a:endParaRPr lang="en-US" altLang="zh-CN"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1026"/>
          <p:cNvSpPr txBox="1">
            <a:spLocks noChangeArrowheads="1"/>
          </p:cNvSpPr>
          <p:nvPr/>
        </p:nvSpPr>
        <p:spPr bwMode="auto">
          <a:xfrm>
            <a:off x="304800" y="228600"/>
            <a:ext cx="8686800" cy="5400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15000"/>
              </a:spcBef>
              <a:buFontTx/>
              <a:buNone/>
            </a:pPr>
            <a:r>
              <a:rPr lang="en-US" altLang="zh-CN" sz="2800" b="1" dirty="0"/>
              <a:t>3.2 DNA was found to carry the genetic information for virulence in the pneumococci transformation experiment.</a:t>
            </a:r>
          </a:p>
          <a:p>
            <a:pPr eaLnBrk="1" hangingPunct="1">
              <a:lnSpc>
                <a:spcPct val="110000"/>
              </a:lnSpc>
              <a:spcBef>
                <a:spcPct val="15000"/>
              </a:spcBef>
              <a:buFontTx/>
              <a:buNone/>
            </a:pPr>
            <a:r>
              <a:rPr lang="en-US" altLang="zh-CN" sz="2800" b="1" dirty="0"/>
              <a:t>	3.2.1 </a:t>
            </a:r>
            <a:r>
              <a:rPr lang="en-US" altLang="zh-CN" sz="2800" b="1" dirty="0">
                <a:solidFill>
                  <a:srgbClr val="FF0000"/>
                </a:solidFill>
              </a:rPr>
              <a:t>Addition of DNA extracted </a:t>
            </a:r>
            <a:r>
              <a:rPr lang="en-US" altLang="zh-CN" sz="2800" b="1" dirty="0"/>
              <a:t>from the heat-killed S form pneumococci (with protein removed as completely as possible) into live nonvirulent R form bacteria transformed the R form into a virulent S form permanently.</a:t>
            </a:r>
            <a:r>
              <a:rPr lang="en-US" altLang="zh-CN" sz="2800" dirty="0"/>
              <a:t> 	</a:t>
            </a:r>
          </a:p>
          <a:p>
            <a:pPr eaLnBrk="1" hangingPunct="1">
              <a:lnSpc>
                <a:spcPct val="110000"/>
              </a:lnSpc>
              <a:spcBef>
                <a:spcPct val="15000"/>
              </a:spcBef>
              <a:buFontTx/>
              <a:buNone/>
            </a:pPr>
            <a:r>
              <a:rPr lang="en-US" altLang="zh-CN" sz="2800" dirty="0"/>
              <a:t>         </a:t>
            </a:r>
            <a:r>
              <a:rPr lang="en-US" altLang="zh-CN" sz="2800" b="1" dirty="0"/>
              <a:t>3.2.2 </a:t>
            </a:r>
            <a:r>
              <a:rPr lang="en-US" altLang="zh-CN" sz="2800" b="1" dirty="0">
                <a:solidFill>
                  <a:srgbClr val="FF0000"/>
                </a:solidFill>
              </a:rPr>
              <a:t>Treatment with proteolytic enzymes</a:t>
            </a:r>
            <a:r>
              <a:rPr lang="en-US" altLang="zh-CN" sz="2800" b="1" dirty="0"/>
              <a:t> (trypsin, chymotrypsin) did not have any effect on the transformation activity.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1026"/>
          <p:cNvSpPr txBox="1">
            <a:spLocks noChangeArrowheads="1"/>
          </p:cNvSpPr>
          <p:nvPr/>
        </p:nvSpPr>
        <p:spPr bwMode="auto">
          <a:xfrm>
            <a:off x="107950" y="819150"/>
            <a:ext cx="9144000" cy="5164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5000"/>
              </a:spcBef>
              <a:buFontTx/>
              <a:buNone/>
            </a:pPr>
            <a:r>
              <a:rPr lang="en-US" altLang="zh-CN" b="1" dirty="0"/>
              <a:t>         3.2.3 Treatment with </a:t>
            </a:r>
            <a:r>
              <a:rPr lang="en-US" altLang="zh-CN" b="1" dirty="0">
                <a:solidFill>
                  <a:srgbClr val="FF0000"/>
                </a:solidFill>
              </a:rPr>
              <a:t>ribonuclease</a:t>
            </a:r>
            <a:r>
              <a:rPr lang="en-US" altLang="zh-CN" b="1" dirty="0"/>
              <a:t> (known to digest RNA) had no effect on the transformation activity.</a:t>
            </a:r>
          </a:p>
          <a:p>
            <a:pPr eaLnBrk="1" hangingPunct="1">
              <a:spcBef>
                <a:spcPct val="15000"/>
              </a:spcBef>
              <a:buFontTx/>
              <a:buNone/>
            </a:pPr>
            <a:r>
              <a:rPr lang="en-US" altLang="zh-CN" b="1" dirty="0"/>
              <a:t>	3.2.4 Treatment with </a:t>
            </a:r>
            <a:r>
              <a:rPr lang="en-US" altLang="zh-CN" b="1" dirty="0">
                <a:solidFill>
                  <a:srgbClr val="FF0000"/>
                </a:solidFill>
              </a:rPr>
              <a:t>deoxyribonuclease </a:t>
            </a:r>
            <a:r>
              <a:rPr lang="en-US" altLang="zh-CN" b="1" dirty="0"/>
              <a:t>(known to digest DNA) destroyed the transformation activity.</a:t>
            </a:r>
          </a:p>
          <a:p>
            <a:pPr eaLnBrk="1" hangingPunct="1">
              <a:spcBef>
                <a:spcPct val="15000"/>
              </a:spcBef>
              <a:buFontTx/>
              <a:buNone/>
            </a:pPr>
            <a:r>
              <a:rPr lang="en-US" altLang="zh-CN" b="1" dirty="0"/>
              <a:t>	3.2.5 </a:t>
            </a:r>
            <a:r>
              <a:rPr lang="en-US" altLang="zh-CN" b="1" dirty="0">
                <a:solidFill>
                  <a:srgbClr val="FF0000"/>
                </a:solidFill>
              </a:rPr>
              <a:t>Chromosomal proteins </a:t>
            </a:r>
            <a:r>
              <a:rPr lang="en-US" altLang="zh-CN" b="1" dirty="0"/>
              <a:t>were assumed to carry the genetic information (with DNA playing a secondary role) until Avery, MacLeod, McCarty performed these experiments in 1944.</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381000" y="228600"/>
            <a:ext cx="8763000" cy="614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Tx/>
              <a:buNone/>
            </a:pPr>
            <a:r>
              <a:rPr lang="en-US" altLang="zh-CN" b="1" dirty="0"/>
              <a:t>3.3 Further support for the genetic role of DNA came from the studies of </a:t>
            </a:r>
            <a:r>
              <a:rPr lang="en-US" altLang="zh-CN" b="1" dirty="0">
                <a:solidFill>
                  <a:srgbClr val="FF0000"/>
                </a:solidFill>
              </a:rPr>
              <a:t>T2 bacteriophage </a:t>
            </a:r>
            <a:r>
              <a:rPr lang="en-US" altLang="zh-CN" b="1" dirty="0"/>
              <a:t>(a bacterial virus) that infects E.coli.</a:t>
            </a:r>
          </a:p>
          <a:p>
            <a:pPr eaLnBrk="1" hangingPunct="1">
              <a:lnSpc>
                <a:spcPct val="90000"/>
              </a:lnSpc>
              <a:buFontTx/>
              <a:buNone/>
            </a:pPr>
            <a:r>
              <a:rPr lang="en-US" altLang="zh-CN" b="1" dirty="0"/>
              <a:t>	3.3.1 The T2 bacteriophage consists of a core of DNA surrounded by a protein coat.</a:t>
            </a:r>
          </a:p>
          <a:p>
            <a:pPr eaLnBrk="1" hangingPunct="1">
              <a:lnSpc>
                <a:spcPct val="90000"/>
              </a:lnSpc>
              <a:buFontTx/>
              <a:buNone/>
            </a:pPr>
            <a:r>
              <a:rPr lang="en-US" altLang="zh-CN" b="1" dirty="0"/>
              <a:t>	3.3.2 Alfred Hershey and Martha Chase demonstrated that at infection only </a:t>
            </a:r>
            <a:r>
              <a:rPr lang="en-US" altLang="zh-CN" b="1" dirty="0">
                <a:solidFill>
                  <a:srgbClr val="FF0000"/>
                </a:solidFill>
              </a:rPr>
              <a:t>DNA (labeled with radioisotope </a:t>
            </a:r>
            <a:r>
              <a:rPr lang="en-US" altLang="zh-CN" b="1" baseline="30000" dirty="0">
                <a:solidFill>
                  <a:srgbClr val="FF0000"/>
                </a:solidFill>
              </a:rPr>
              <a:t>32</a:t>
            </a:r>
            <a:r>
              <a:rPr lang="en-US" altLang="zh-CN" b="1" dirty="0">
                <a:solidFill>
                  <a:srgbClr val="FF0000"/>
                </a:solidFill>
              </a:rPr>
              <a:t>P</a:t>
            </a:r>
            <a:r>
              <a:rPr lang="en-US" altLang="zh-CN" b="1" dirty="0"/>
              <a:t>) entered E.coli cells, </a:t>
            </a:r>
            <a:r>
              <a:rPr lang="en-US" altLang="zh-CN" b="1" dirty="0">
                <a:solidFill>
                  <a:srgbClr val="FF0000"/>
                </a:solidFill>
              </a:rPr>
              <a:t>proteins (labeled with </a:t>
            </a:r>
            <a:r>
              <a:rPr lang="en-US" altLang="zh-CN" b="1" baseline="30000" dirty="0">
                <a:solidFill>
                  <a:srgbClr val="FF0000"/>
                </a:solidFill>
              </a:rPr>
              <a:t>35</a:t>
            </a:r>
            <a:r>
              <a:rPr lang="en-US" altLang="zh-CN" b="1" dirty="0">
                <a:solidFill>
                  <a:srgbClr val="FF0000"/>
                </a:solidFill>
              </a:rPr>
              <a:t>S</a:t>
            </a:r>
            <a:r>
              <a:rPr lang="en-US" altLang="zh-CN" b="1" dirty="0"/>
              <a:t>) did not enter the host cells (1952).</a:t>
            </a:r>
          </a:p>
          <a:p>
            <a:pPr eaLnBrk="1" hangingPunct="1">
              <a:lnSpc>
                <a:spcPct val="90000"/>
              </a:lnSpc>
              <a:buFontTx/>
              <a:buNone/>
            </a:pPr>
            <a:r>
              <a:rPr lang="en-US" altLang="zh-CN" b="1" dirty="0"/>
              <a:t>	3.3.3 DNA provided the genetic information for bacteriophage replication within the E.coli cells.</a:t>
            </a:r>
            <a:endParaRPr lang="en-US" altLang="zh-CN"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55950" y="254000"/>
            <a:ext cx="28321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圆角 1"/>
          <p:cNvSpPr/>
          <p:nvPr/>
        </p:nvSpPr>
        <p:spPr>
          <a:xfrm>
            <a:off x="2843808" y="5517232"/>
            <a:ext cx="3384376" cy="1086768"/>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1" name="Text Box 2055"/>
          <p:cNvSpPr txBox="1">
            <a:spLocks noChangeArrowheads="1"/>
          </p:cNvSpPr>
          <p:nvPr/>
        </p:nvSpPr>
        <p:spPr bwMode="auto">
          <a:xfrm>
            <a:off x="250825" y="188913"/>
            <a:ext cx="800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a:solidFill>
                  <a:srgbClr val="FF0066"/>
                </a:solidFill>
              </a:rPr>
              <a:t>4. DNA molecules are double helices.</a:t>
            </a:r>
            <a:endParaRPr lang="en-US" altLang="zh-CN" b="1"/>
          </a:p>
        </p:txBody>
      </p:sp>
      <p:pic>
        <p:nvPicPr>
          <p:cNvPr id="2050" name="Picture 2">
            <a:extLst>
              <a:ext uri="{FF2B5EF4-FFF2-40B4-BE49-F238E27FC236}">
                <a16:creationId xmlns:a16="http://schemas.microsoft.com/office/drawing/2014/main" id="{707F707E-3119-4AAE-975C-ACC974511F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942670"/>
            <a:ext cx="6094809" cy="4972660"/>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F8C8B7E7-D03A-4B46-AEA7-2CC57BFB270A}"/>
              </a:ext>
            </a:extLst>
          </p:cNvPr>
          <p:cNvPicPr>
            <a:picLocks noChangeAspect="1"/>
          </p:cNvPicPr>
          <p:nvPr/>
        </p:nvPicPr>
        <p:blipFill rotWithShape="1">
          <a:blip r:embed="rId4"/>
          <a:srcRect b="4170"/>
          <a:stretch/>
        </p:blipFill>
        <p:spPr>
          <a:xfrm>
            <a:off x="6418337" y="2060848"/>
            <a:ext cx="2023641" cy="2360343"/>
          </a:xfrm>
          <a:prstGeom prst="rect">
            <a:avLst/>
          </a:prstGeom>
        </p:spPr>
      </p:pic>
      <p:sp>
        <p:nvSpPr>
          <p:cNvPr id="3" name="文本框 2">
            <a:extLst>
              <a:ext uri="{FF2B5EF4-FFF2-40B4-BE49-F238E27FC236}">
                <a16:creationId xmlns:a16="http://schemas.microsoft.com/office/drawing/2014/main" id="{181442BC-DFC5-4E75-9BB6-B9356E5B5A90}"/>
              </a:ext>
            </a:extLst>
          </p:cNvPr>
          <p:cNvSpPr txBox="1"/>
          <p:nvPr/>
        </p:nvSpPr>
        <p:spPr>
          <a:xfrm>
            <a:off x="6474773" y="4798928"/>
            <a:ext cx="1967205" cy="369332"/>
          </a:xfrm>
          <a:prstGeom prst="rect">
            <a:avLst/>
          </a:prstGeom>
          <a:noFill/>
        </p:spPr>
        <p:txBody>
          <a:bodyPr wrap="none" rtlCol="0">
            <a:spAutoFit/>
          </a:bodyPr>
          <a:lstStyle/>
          <a:p>
            <a:r>
              <a:rPr lang="en-US" altLang="zh-CN" dirty="0"/>
              <a:t>Rosalind Franklin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576FE8A-B4AB-43BA-9073-DD2764CFBAE2}"/>
              </a:ext>
            </a:extLst>
          </p:cNvPr>
          <p:cNvPicPr>
            <a:picLocks noChangeAspect="1"/>
          </p:cNvPicPr>
          <p:nvPr/>
        </p:nvPicPr>
        <p:blipFill>
          <a:blip r:embed="rId3"/>
          <a:stretch>
            <a:fillRect/>
          </a:stretch>
        </p:blipFill>
        <p:spPr>
          <a:xfrm>
            <a:off x="2123728" y="1412776"/>
            <a:ext cx="4737687" cy="3241285"/>
          </a:xfrm>
          <a:prstGeom prst="rect">
            <a:avLst/>
          </a:prstGeom>
        </p:spPr>
      </p:pic>
    </p:spTree>
    <p:extLst>
      <p:ext uri="{BB962C8B-B14F-4D97-AF65-F5344CB8AC3E}">
        <p14:creationId xmlns:p14="http://schemas.microsoft.com/office/powerpoint/2010/main" val="39599402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6C5B9C9F-B0F3-4125-984C-66257EFBAA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926"/>
          <a:stretch/>
        </p:blipFill>
        <p:spPr bwMode="auto">
          <a:xfrm>
            <a:off x="467544" y="548680"/>
            <a:ext cx="3343275" cy="4392488"/>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9524C748-91A4-4A18-8F7B-976C6BA32D64}"/>
              </a:ext>
            </a:extLst>
          </p:cNvPr>
          <p:cNvSpPr txBox="1"/>
          <p:nvPr/>
        </p:nvSpPr>
        <p:spPr>
          <a:xfrm>
            <a:off x="1635125" y="5157192"/>
            <a:ext cx="1008112" cy="369332"/>
          </a:xfrm>
          <a:prstGeom prst="rect">
            <a:avLst/>
          </a:prstGeom>
          <a:noFill/>
        </p:spPr>
        <p:txBody>
          <a:bodyPr wrap="square">
            <a:spAutoFit/>
          </a:bodyPr>
          <a:lstStyle/>
          <a:p>
            <a:r>
              <a:rPr lang="zh-CN" altLang="en-US" b="0" i="0" dirty="0">
                <a:solidFill>
                  <a:srgbClr val="333333"/>
                </a:solidFill>
                <a:effectLst/>
                <a:latin typeface="arial" panose="020B0604020202020204" pitchFamily="34" charset="0"/>
              </a:rPr>
              <a:t>米歇尔</a:t>
            </a:r>
            <a:endParaRPr lang="zh-CN" altLang="en-US" dirty="0"/>
          </a:p>
        </p:txBody>
      </p:sp>
      <p:pic>
        <p:nvPicPr>
          <p:cNvPr id="3076" name="Picture 4">
            <a:extLst>
              <a:ext uri="{FF2B5EF4-FFF2-40B4-BE49-F238E27FC236}">
                <a16:creationId xmlns:a16="http://schemas.microsoft.com/office/drawing/2014/main" id="{60AFAA70-433B-4DEF-8396-38F6CE26B09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4867"/>
          <a:stretch/>
        </p:blipFill>
        <p:spPr bwMode="auto">
          <a:xfrm>
            <a:off x="4139952" y="548680"/>
            <a:ext cx="3606570" cy="439248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17E9E92C-A949-4E93-9D4F-8E20DDD7A361}"/>
              </a:ext>
            </a:extLst>
          </p:cNvPr>
          <p:cNvSpPr txBox="1"/>
          <p:nvPr/>
        </p:nvSpPr>
        <p:spPr>
          <a:xfrm>
            <a:off x="5076056" y="5151369"/>
            <a:ext cx="2072781" cy="369332"/>
          </a:xfrm>
          <a:prstGeom prst="rect">
            <a:avLst/>
          </a:prstGeom>
          <a:noFill/>
        </p:spPr>
        <p:txBody>
          <a:bodyPr wrap="square">
            <a:spAutoFit/>
          </a:bodyPr>
          <a:lstStyle/>
          <a:p>
            <a:r>
              <a:rPr lang="en-US" altLang="zh-CN" dirty="0"/>
              <a:t>Erwin Chargaff</a:t>
            </a:r>
            <a:endParaRPr lang="zh-CN" altLang="en-US" dirty="0"/>
          </a:p>
        </p:txBody>
      </p:sp>
    </p:spTree>
    <p:extLst>
      <p:ext uri="{BB962C8B-B14F-4D97-AF65-F5344CB8AC3E}">
        <p14:creationId xmlns:p14="http://schemas.microsoft.com/office/powerpoint/2010/main" val="24242239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304800" y="228600"/>
            <a:ext cx="8686800" cy="567386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buFontTx/>
              <a:buNone/>
            </a:pPr>
            <a:r>
              <a:rPr lang="en-US" altLang="zh-CN" sz="3100" b="1" dirty="0"/>
              <a:t>  Watson and Crick proposed a double helix model based mainly on </a:t>
            </a:r>
            <a:r>
              <a:rPr lang="en-US" altLang="zh-CN" sz="3100" b="1" dirty="0">
                <a:solidFill>
                  <a:srgbClr val="FF0000"/>
                </a:solidFill>
              </a:rPr>
              <a:t>three main pieces of evidence</a:t>
            </a:r>
            <a:r>
              <a:rPr lang="en-US" altLang="zh-CN" sz="3100" b="1" dirty="0"/>
              <a:t>.</a:t>
            </a:r>
          </a:p>
          <a:p>
            <a:pPr eaLnBrk="1" hangingPunct="1">
              <a:spcBef>
                <a:spcPct val="30000"/>
              </a:spcBef>
              <a:buFontTx/>
              <a:buNone/>
            </a:pPr>
            <a:r>
              <a:rPr lang="en-US" altLang="zh-CN" sz="3100" b="1" dirty="0"/>
              <a:t>	</a:t>
            </a:r>
            <a:r>
              <a:rPr lang="en-US" altLang="zh-CN" sz="3100" b="1" dirty="0">
                <a:solidFill>
                  <a:srgbClr val="FF0066"/>
                </a:solidFill>
              </a:rPr>
              <a:t>A)</a:t>
            </a:r>
            <a:r>
              <a:rPr lang="en-US" altLang="zh-CN" sz="3100" b="1" dirty="0"/>
              <a:t> the fact that the DNA molecule is composed of bases, </a:t>
            </a:r>
            <a:r>
              <a:rPr lang="en-US" altLang="zh-CN" sz="3100" b="1" dirty="0" err="1"/>
              <a:t>deoxyriboses</a:t>
            </a:r>
            <a:r>
              <a:rPr lang="en-US" altLang="zh-CN" sz="3100" b="1" dirty="0"/>
              <a:t>, and phosphate groups linked together as a polydeoxyribonucleotide.</a:t>
            </a:r>
          </a:p>
          <a:p>
            <a:pPr eaLnBrk="1" hangingPunct="1">
              <a:lnSpc>
                <a:spcPct val="80000"/>
              </a:lnSpc>
              <a:spcBef>
                <a:spcPct val="30000"/>
              </a:spcBef>
              <a:buFontTx/>
              <a:buNone/>
            </a:pPr>
            <a:r>
              <a:rPr lang="en-US" altLang="zh-CN" sz="3100" b="1" dirty="0"/>
              <a:t>	</a:t>
            </a:r>
            <a:r>
              <a:rPr lang="en-US" altLang="zh-CN" sz="3100" b="1" dirty="0">
                <a:solidFill>
                  <a:srgbClr val="FF0066"/>
                </a:solidFill>
              </a:rPr>
              <a:t>B)</a:t>
            </a:r>
            <a:r>
              <a:rPr lang="en-US" altLang="zh-CN" sz="3100" b="1" dirty="0"/>
              <a:t> X-ray diffraction pattern of DNA fibers, suggesting a helical structure with two distinctive regularities of 3.4 and 34 Angstroms along the axis of the molecule.</a:t>
            </a:r>
          </a:p>
          <a:p>
            <a:pPr eaLnBrk="1" hangingPunct="1">
              <a:lnSpc>
                <a:spcPct val="80000"/>
              </a:lnSpc>
              <a:spcBef>
                <a:spcPct val="30000"/>
              </a:spcBef>
              <a:buFontTx/>
              <a:buNone/>
            </a:pPr>
            <a:r>
              <a:rPr lang="en-US" altLang="zh-CN" sz="3100" b="1" dirty="0"/>
              <a:t>	</a:t>
            </a:r>
            <a:r>
              <a:rPr lang="en-US" altLang="zh-CN" sz="3100" b="1" dirty="0">
                <a:solidFill>
                  <a:srgbClr val="FF0066"/>
                </a:solidFill>
              </a:rPr>
              <a:t>C)</a:t>
            </a:r>
            <a:r>
              <a:rPr lang="en-US" altLang="zh-CN" sz="3100" b="1" dirty="0"/>
              <a:t> Chargaff’s discovery on the quantitative relationships between the bases (A=T, G=C).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3"/>
          <p:cNvSpPr txBox="1">
            <a:spLocks noChangeArrowheads="1"/>
          </p:cNvSpPr>
          <p:nvPr/>
        </p:nvSpPr>
        <p:spPr bwMode="auto">
          <a:xfrm>
            <a:off x="1187450" y="764704"/>
            <a:ext cx="49688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dirty="0">
                <a:latin typeface="华文中宋" panose="02010600040101010101" pitchFamily="2" charset="-122"/>
                <a:ea typeface="华文中宋" panose="02010600040101010101" pitchFamily="2" charset="-122"/>
              </a:rPr>
              <a:t>DNA</a:t>
            </a:r>
            <a:r>
              <a:rPr lang="zh-CN" altLang="en-US" b="1" dirty="0">
                <a:latin typeface="华文中宋" panose="02010600040101010101" pitchFamily="2" charset="-122"/>
                <a:ea typeface="华文中宋" panose="02010600040101010101" pitchFamily="2" charset="-122"/>
              </a:rPr>
              <a:t>的碱基组成</a:t>
            </a:r>
          </a:p>
        </p:txBody>
      </p:sp>
      <p:sp>
        <p:nvSpPr>
          <p:cNvPr id="93187" name="Text Box 4"/>
          <p:cNvSpPr txBox="1">
            <a:spLocks noChangeArrowheads="1"/>
          </p:cNvSpPr>
          <p:nvPr/>
        </p:nvSpPr>
        <p:spPr bwMode="auto">
          <a:xfrm>
            <a:off x="755650" y="1556867"/>
            <a:ext cx="7920038" cy="436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dirty="0">
                <a:latin typeface="华文中宋" panose="02010600040101010101" pitchFamily="2" charset="-122"/>
                <a:ea typeface="华文中宋" panose="02010600040101010101" pitchFamily="2" charset="-122"/>
              </a:rPr>
              <a:t>Chargaff</a:t>
            </a:r>
            <a:r>
              <a:rPr lang="zh-CN" altLang="en-US" sz="2800" b="1" dirty="0">
                <a:latin typeface="华文中宋" panose="02010600040101010101" pitchFamily="2" charset="-122"/>
                <a:ea typeface="华文中宋" panose="02010600040101010101" pitchFamily="2" charset="-122"/>
              </a:rPr>
              <a:t>规则：</a:t>
            </a:r>
          </a:p>
          <a:p>
            <a:pPr eaLnBrk="1" hangingPunct="1">
              <a:spcBef>
                <a:spcPct val="50000"/>
              </a:spcBef>
            </a:pPr>
            <a:r>
              <a:rPr lang="zh-CN" altLang="en-US" sz="2800" b="1" dirty="0">
                <a:latin typeface="华文中宋" panose="02010600040101010101" pitchFamily="2" charset="-122"/>
                <a:ea typeface="华文中宋" panose="02010600040101010101" pitchFamily="2" charset="-122"/>
              </a:rPr>
              <a:t>一种生物的所以体细胞的</a:t>
            </a:r>
            <a:r>
              <a:rPr lang="en-US" altLang="zh-CN" sz="2800" b="1" dirty="0">
                <a:latin typeface="华文中宋" panose="02010600040101010101" pitchFamily="2" charset="-122"/>
                <a:ea typeface="华文中宋" panose="02010600040101010101" pitchFamily="2" charset="-122"/>
              </a:rPr>
              <a:t>DNA</a:t>
            </a:r>
            <a:r>
              <a:rPr lang="zh-CN" altLang="en-US" sz="2800" b="1" dirty="0">
                <a:latin typeface="华文中宋" panose="02010600040101010101" pitchFamily="2" charset="-122"/>
                <a:ea typeface="华文中宋" panose="02010600040101010101" pitchFamily="2" charset="-122"/>
              </a:rPr>
              <a:t>碱基组成均相同</a:t>
            </a:r>
          </a:p>
          <a:p>
            <a:pPr eaLnBrk="1" hangingPunct="1">
              <a:spcBef>
                <a:spcPct val="50000"/>
              </a:spcBef>
            </a:pPr>
            <a:r>
              <a:rPr lang="zh-CN" altLang="en-US" sz="2800" b="1" dirty="0">
                <a:latin typeface="华文中宋" panose="02010600040101010101" pitchFamily="2" charset="-122"/>
                <a:ea typeface="华文中宋" panose="02010600040101010101" pitchFamily="2" charset="-122"/>
              </a:rPr>
              <a:t>不同生物碱基组成差异大，可用不对称比率表示</a:t>
            </a:r>
          </a:p>
          <a:p>
            <a:pPr eaLnBrk="1" hangingPunct="1">
              <a:spcBef>
                <a:spcPct val="50000"/>
              </a:spcBef>
              <a:buFontTx/>
              <a:buNone/>
            </a:pPr>
            <a:r>
              <a:rPr lang="zh-CN" altLang="en-US" sz="2800" b="1" dirty="0">
                <a:latin typeface="华文中宋" panose="02010600040101010101" pitchFamily="2" charset="-122"/>
                <a:ea typeface="华文中宋" panose="02010600040101010101" pitchFamily="2" charset="-122"/>
              </a:rPr>
              <a:t>    （</a:t>
            </a:r>
            <a:r>
              <a:rPr lang="en-US" altLang="zh-CN" sz="2800" b="1" dirty="0">
                <a:latin typeface="华文中宋" panose="02010600040101010101" pitchFamily="2" charset="-122"/>
                <a:ea typeface="华文中宋" panose="02010600040101010101" pitchFamily="2" charset="-122"/>
              </a:rPr>
              <a:t>A</a:t>
            </a:r>
            <a:r>
              <a:rPr lang="zh-CN" altLang="en-US" sz="2800" b="1" dirty="0">
                <a:latin typeface="华文中宋" panose="02010600040101010101" pitchFamily="2" charset="-122"/>
                <a:ea typeface="华文中宋" panose="02010600040101010101" pitchFamily="2" charset="-122"/>
              </a:rPr>
              <a:t>＋</a:t>
            </a:r>
            <a:r>
              <a:rPr lang="en-US" altLang="zh-CN" sz="2800" b="1" dirty="0">
                <a:latin typeface="华文中宋" panose="02010600040101010101" pitchFamily="2" charset="-122"/>
                <a:ea typeface="华文中宋" panose="02010600040101010101" pitchFamily="2" charset="-122"/>
              </a:rPr>
              <a:t>T</a:t>
            </a:r>
            <a:r>
              <a:rPr lang="zh-CN" altLang="en-US" sz="2800" b="1" dirty="0">
                <a:latin typeface="华文中宋" panose="02010600040101010101" pitchFamily="2" charset="-122"/>
                <a:ea typeface="华文中宋" panose="02010600040101010101" pitchFamily="2" charset="-122"/>
              </a:rPr>
              <a:t>）</a:t>
            </a:r>
            <a:r>
              <a:rPr lang="en-US" altLang="zh-CN" sz="2800" b="1" dirty="0">
                <a:latin typeface="华文中宋" panose="02010600040101010101" pitchFamily="2" charset="-122"/>
                <a:ea typeface="华文中宋" panose="02010600040101010101" pitchFamily="2" charset="-122"/>
              </a:rPr>
              <a:t>/(G+C)</a:t>
            </a:r>
          </a:p>
          <a:p>
            <a:pPr eaLnBrk="1" hangingPunct="1">
              <a:spcBef>
                <a:spcPct val="50000"/>
              </a:spcBef>
            </a:pPr>
            <a:r>
              <a:rPr lang="zh-CN" altLang="en-US" sz="2800" b="1" dirty="0">
                <a:latin typeface="华文中宋" panose="02010600040101010101" pitchFamily="2" charset="-122"/>
                <a:ea typeface="华文中宋" panose="02010600040101010101" pitchFamily="2" charset="-122"/>
              </a:rPr>
              <a:t>亲缘近的生物，其碱基组成相似</a:t>
            </a:r>
          </a:p>
          <a:p>
            <a:pPr eaLnBrk="1" hangingPunct="1">
              <a:spcBef>
                <a:spcPct val="50000"/>
              </a:spcBef>
            </a:pPr>
            <a:r>
              <a:rPr lang="zh-CN" altLang="en-US" sz="2800" b="1" dirty="0">
                <a:latin typeface="华文中宋" panose="02010600040101010101" pitchFamily="2" charset="-122"/>
                <a:ea typeface="华文中宋" panose="02010600040101010101" pitchFamily="2" charset="-122"/>
              </a:rPr>
              <a:t>同一生物内，</a:t>
            </a:r>
            <a:r>
              <a:rPr lang="en-US" altLang="zh-CN" sz="2800" b="1" dirty="0">
                <a:latin typeface="华文中宋" panose="02010600040101010101" pitchFamily="2" charset="-122"/>
                <a:ea typeface="华文中宋" panose="02010600040101010101" pitchFamily="2" charset="-122"/>
              </a:rPr>
              <a:t>DNA</a:t>
            </a:r>
            <a:r>
              <a:rPr lang="zh-CN" altLang="en-US" sz="2800" b="1" dirty="0">
                <a:latin typeface="华文中宋" panose="02010600040101010101" pitchFamily="2" charset="-122"/>
                <a:ea typeface="华文中宋" panose="02010600040101010101" pitchFamily="2" charset="-122"/>
              </a:rPr>
              <a:t>分子组成 </a:t>
            </a:r>
            <a:r>
              <a:rPr lang="en-US" altLang="zh-CN" sz="2800" b="1" dirty="0">
                <a:latin typeface="华文中宋" panose="02010600040101010101" pitchFamily="2" charset="-122"/>
                <a:ea typeface="华文中宋" panose="02010600040101010101" pitchFamily="2" charset="-122"/>
              </a:rPr>
              <a:t>A=T  G=C</a:t>
            </a:r>
          </a:p>
          <a:p>
            <a:pPr eaLnBrk="1" hangingPunct="1">
              <a:spcBef>
                <a:spcPct val="50000"/>
              </a:spcBef>
            </a:pPr>
            <a:r>
              <a:rPr lang="zh-CN" altLang="en-US" sz="2800" b="1" dirty="0">
                <a:latin typeface="华文中宋" panose="02010600040101010101" pitchFamily="2" charset="-122"/>
                <a:ea typeface="华文中宋" panose="02010600040101010101" pitchFamily="2" charset="-122"/>
              </a:rPr>
              <a:t>同一生物的</a:t>
            </a:r>
            <a:r>
              <a:rPr lang="en-US" altLang="zh-CN" sz="2800" b="1" dirty="0">
                <a:latin typeface="华文中宋" panose="02010600040101010101" pitchFamily="2" charset="-122"/>
                <a:ea typeface="华文中宋" panose="02010600040101010101" pitchFamily="2" charset="-122"/>
              </a:rPr>
              <a:t>DNA</a:t>
            </a:r>
            <a:r>
              <a:rPr lang="zh-CN" altLang="en-US" sz="2800" b="1" dirty="0">
                <a:latin typeface="华文中宋" panose="02010600040101010101" pitchFamily="2" charset="-122"/>
                <a:ea typeface="华文中宋" panose="02010600040101010101" pitchFamily="2" charset="-122"/>
              </a:rPr>
              <a:t>分子 </a:t>
            </a:r>
            <a:r>
              <a:rPr lang="en-US" altLang="zh-CN" sz="2800" b="1" dirty="0">
                <a:latin typeface="华文中宋" panose="02010600040101010101" pitchFamily="2" charset="-122"/>
                <a:ea typeface="华文中宋" panose="02010600040101010101" pitchFamily="2" charset="-122"/>
              </a:rPr>
              <a:t>Pu=</a:t>
            </a:r>
            <a:r>
              <a:rPr lang="en-US" altLang="zh-CN" sz="2800" b="1" dirty="0" err="1">
                <a:latin typeface="华文中宋" panose="02010600040101010101" pitchFamily="2" charset="-122"/>
                <a:ea typeface="华文中宋" panose="02010600040101010101" pitchFamily="2" charset="-122"/>
              </a:rPr>
              <a:t>Py</a:t>
            </a:r>
            <a:endParaRPr lang="en-US" altLang="zh-CN" sz="2800" b="1" dirty="0">
              <a:latin typeface="华文中宋" panose="02010600040101010101" pitchFamily="2" charset="-122"/>
              <a:ea typeface="华文中宋" panose="0201060004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5616" y="764704"/>
            <a:ext cx="7037536" cy="4676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0000" y="711200"/>
            <a:ext cx="66040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59" name="Text Box 3"/>
          <p:cNvSpPr txBox="1">
            <a:spLocks noChangeArrowheads="1"/>
          </p:cNvSpPr>
          <p:nvPr/>
        </p:nvSpPr>
        <p:spPr bwMode="auto">
          <a:xfrm>
            <a:off x="3886200" y="3276600"/>
            <a:ext cx="3048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34</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2"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l="9462" t="9445" r="9427" b="8658"/>
          <a:stretch>
            <a:fillRect/>
          </a:stretch>
        </p:blipFill>
        <p:spPr bwMode="auto">
          <a:xfrm>
            <a:off x="683568" y="260648"/>
            <a:ext cx="7632079" cy="5779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6"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l="9045" t="9052" r="9843" b="9052"/>
          <a:stretch>
            <a:fillRect/>
          </a:stretch>
        </p:blipFill>
        <p:spPr bwMode="auto">
          <a:xfrm>
            <a:off x="395288" y="260350"/>
            <a:ext cx="8137525" cy="616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20"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304800"/>
            <a:ext cx="8305800"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10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7750" y="711200"/>
            <a:ext cx="19685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2"/>
          <p:cNvSpPr txBox="1">
            <a:spLocks noChangeArrowheads="1"/>
          </p:cNvSpPr>
          <p:nvPr/>
        </p:nvSpPr>
        <p:spPr bwMode="auto">
          <a:xfrm>
            <a:off x="304800" y="228600"/>
            <a:ext cx="868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buFontTx/>
              <a:buNone/>
            </a:pPr>
            <a:r>
              <a:rPr lang="en-US" altLang="zh-CN" b="1" dirty="0"/>
              <a:t>4.1 </a:t>
            </a:r>
            <a:r>
              <a:rPr lang="en-US" altLang="zh-CN" b="1" dirty="0">
                <a:solidFill>
                  <a:srgbClr val="FF0000"/>
                </a:solidFill>
              </a:rPr>
              <a:t>DNA double helix</a:t>
            </a:r>
            <a:r>
              <a:rPr lang="en-US" altLang="zh-CN" b="1" dirty="0"/>
              <a:t>		</a:t>
            </a:r>
            <a:endParaRPr lang="en-US" altLang="zh-CN" sz="2400" dirty="0"/>
          </a:p>
        </p:txBody>
      </p:sp>
      <p:sp>
        <p:nvSpPr>
          <p:cNvPr id="113667" name="Text Box 3"/>
          <p:cNvSpPr txBox="1">
            <a:spLocks noChangeArrowheads="1"/>
          </p:cNvSpPr>
          <p:nvPr/>
        </p:nvSpPr>
        <p:spPr bwMode="auto">
          <a:xfrm>
            <a:off x="152400" y="908720"/>
            <a:ext cx="8991600" cy="4789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buFontTx/>
              <a:buNone/>
            </a:pPr>
            <a:r>
              <a:rPr lang="en-US" altLang="zh-CN" sz="2800" dirty="0"/>
              <a:t>	</a:t>
            </a:r>
            <a:r>
              <a:rPr lang="en-US" altLang="zh-CN" sz="2800" b="1" dirty="0"/>
              <a:t>4.1.1 The DNA molecule is a </a:t>
            </a:r>
            <a:r>
              <a:rPr lang="en-US" altLang="zh-CN" sz="2800" b="1" dirty="0">
                <a:solidFill>
                  <a:srgbClr val="FF0000"/>
                </a:solidFill>
              </a:rPr>
              <a:t>right-handed</a:t>
            </a:r>
            <a:r>
              <a:rPr lang="en-US" altLang="zh-CN" sz="2800" b="1" dirty="0"/>
              <a:t> double helix containing two </a:t>
            </a:r>
            <a:r>
              <a:rPr lang="en-US" altLang="zh-CN" sz="2800" b="1" dirty="0">
                <a:solidFill>
                  <a:srgbClr val="FF0000"/>
                </a:solidFill>
              </a:rPr>
              <a:t>antiparallel </a:t>
            </a:r>
            <a:r>
              <a:rPr lang="en-US" altLang="zh-CN" sz="2800" b="1" dirty="0"/>
              <a:t>strands.</a:t>
            </a:r>
          </a:p>
          <a:p>
            <a:pPr eaLnBrk="1" hangingPunct="1">
              <a:spcBef>
                <a:spcPct val="30000"/>
              </a:spcBef>
              <a:buFontTx/>
              <a:buNone/>
            </a:pPr>
            <a:r>
              <a:rPr lang="en-US" altLang="zh-CN" sz="2800" b="1" dirty="0"/>
              <a:t>	4.1.2 The phosphate-deoxyribose backbones are on the </a:t>
            </a:r>
            <a:r>
              <a:rPr lang="en-US" altLang="zh-CN" sz="2800" b="1" dirty="0">
                <a:solidFill>
                  <a:srgbClr val="FF0000"/>
                </a:solidFill>
              </a:rPr>
              <a:t>outside</a:t>
            </a:r>
            <a:r>
              <a:rPr lang="en-US" altLang="zh-CN" sz="2800" b="1" dirty="0"/>
              <a:t> of the helix, whereas the purine and pyrimidine bases are stacked </a:t>
            </a:r>
            <a:r>
              <a:rPr lang="en-US" altLang="zh-CN" sz="2800" b="1" dirty="0">
                <a:solidFill>
                  <a:srgbClr val="FF0000"/>
                </a:solidFill>
              </a:rPr>
              <a:t>inside</a:t>
            </a:r>
            <a:r>
              <a:rPr lang="en-US" altLang="zh-CN" sz="2800" b="1" dirty="0"/>
              <a:t>. </a:t>
            </a:r>
          </a:p>
          <a:p>
            <a:pPr eaLnBrk="1" hangingPunct="1">
              <a:spcBef>
                <a:spcPct val="30000"/>
              </a:spcBef>
              <a:buFontTx/>
              <a:buNone/>
            </a:pPr>
            <a:r>
              <a:rPr lang="en-US" altLang="zh-CN" sz="2800" b="1" dirty="0"/>
              <a:t>	4.1.3 The two antiparallel chains are </a:t>
            </a:r>
            <a:r>
              <a:rPr lang="en-US" altLang="zh-CN" sz="2800" b="1" dirty="0">
                <a:solidFill>
                  <a:srgbClr val="FF0000"/>
                </a:solidFill>
              </a:rPr>
              <a:t>complementary</a:t>
            </a:r>
            <a:r>
              <a:rPr lang="en-US" altLang="zh-CN" sz="2800" b="1" dirty="0"/>
              <a:t> to each other through </a:t>
            </a:r>
            <a:r>
              <a:rPr lang="en-US" altLang="zh-CN" sz="2800" b="1" dirty="0">
                <a:solidFill>
                  <a:srgbClr val="FF0000"/>
                </a:solidFill>
              </a:rPr>
              <a:t>hydrogen bonds </a:t>
            </a:r>
            <a:r>
              <a:rPr lang="en-US" altLang="zh-CN" sz="2800" b="1" dirty="0"/>
              <a:t>between pairs of bases</a:t>
            </a:r>
            <a:r>
              <a:rPr lang="zh-CN" altLang="en-US" sz="2800" b="1" dirty="0"/>
              <a:t>（</a:t>
            </a:r>
            <a:r>
              <a:rPr lang="en-US" altLang="zh-CN" sz="2800" b="1" dirty="0"/>
              <a:t>A=T, G=C</a:t>
            </a:r>
            <a:r>
              <a:rPr lang="zh-CN" altLang="en-US" sz="2800" b="1" dirty="0"/>
              <a:t>）</a:t>
            </a:r>
            <a:r>
              <a:rPr lang="en-US" altLang="zh-CN" sz="2800" b="1" dirty="0"/>
              <a:t>. </a:t>
            </a:r>
          </a:p>
          <a:p>
            <a:pPr eaLnBrk="1" hangingPunct="1">
              <a:spcBef>
                <a:spcPct val="30000"/>
              </a:spcBef>
              <a:buFontTx/>
              <a:buNone/>
            </a:pPr>
            <a:r>
              <a:rPr lang="en-US" altLang="zh-CN" sz="2800" b="1" dirty="0"/>
              <a:t>         4.1.4 The </a:t>
            </a:r>
            <a:r>
              <a:rPr lang="en-US" altLang="zh-CN" sz="2800" b="1" dirty="0">
                <a:solidFill>
                  <a:srgbClr val="FF0000"/>
                </a:solidFill>
              </a:rPr>
              <a:t>base-stacking interactions </a:t>
            </a:r>
            <a:r>
              <a:rPr lang="en-US" altLang="zh-CN" sz="2800" b="1" dirty="0"/>
              <a:t>make a major nonspecific contribution to the stability of the duplex.            </a:t>
            </a:r>
          </a:p>
        </p:txBody>
      </p:sp>
      <p:cxnSp>
        <p:nvCxnSpPr>
          <p:cNvPr id="3" name="直接连接符 2">
            <a:extLst>
              <a:ext uri="{FF2B5EF4-FFF2-40B4-BE49-F238E27FC236}">
                <a16:creationId xmlns:a16="http://schemas.microsoft.com/office/drawing/2014/main" id="{3FDEDEDA-7982-4186-8DC8-FE2BB0BF4351}"/>
              </a:ext>
            </a:extLst>
          </p:cNvPr>
          <p:cNvCxnSpPr>
            <a:cxnSpLocks/>
          </p:cNvCxnSpPr>
          <p:nvPr/>
        </p:nvCxnSpPr>
        <p:spPr>
          <a:xfrm>
            <a:off x="5112552" y="4310852"/>
            <a:ext cx="1884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0000" y="711200"/>
            <a:ext cx="66040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59" name="Text Box 3"/>
          <p:cNvSpPr txBox="1">
            <a:spLocks noChangeArrowheads="1"/>
          </p:cNvSpPr>
          <p:nvPr/>
        </p:nvSpPr>
        <p:spPr bwMode="auto">
          <a:xfrm>
            <a:off x="3886200" y="3276600"/>
            <a:ext cx="3048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34</a:t>
            </a:r>
          </a:p>
        </p:txBody>
      </p:sp>
      <p:sp>
        <p:nvSpPr>
          <p:cNvPr id="2" name="文本框 1">
            <a:extLst>
              <a:ext uri="{FF2B5EF4-FFF2-40B4-BE49-F238E27FC236}">
                <a16:creationId xmlns:a16="http://schemas.microsoft.com/office/drawing/2014/main" id="{5984E41E-3953-4074-A3C4-1F8F6CF1B136}"/>
              </a:ext>
            </a:extLst>
          </p:cNvPr>
          <p:cNvSpPr txBox="1"/>
          <p:nvPr/>
        </p:nvSpPr>
        <p:spPr>
          <a:xfrm>
            <a:off x="1619672" y="249535"/>
            <a:ext cx="6152453" cy="461665"/>
          </a:xfrm>
          <a:prstGeom prst="rect">
            <a:avLst/>
          </a:prstGeom>
          <a:noFill/>
        </p:spPr>
        <p:txBody>
          <a:bodyPr wrap="none" rtlCol="0">
            <a:spAutoFit/>
          </a:bodyPr>
          <a:lstStyle/>
          <a:p>
            <a:r>
              <a:rPr lang="en-US" altLang="zh-CN" sz="2400" b="1" dirty="0"/>
              <a:t>Detailed information of DNA double helix</a:t>
            </a:r>
            <a:endParaRPr lang="zh-CN" altLang="en-US" sz="2400" b="1" dirty="0"/>
          </a:p>
        </p:txBody>
      </p:sp>
    </p:spTree>
    <p:extLst>
      <p:ext uri="{BB962C8B-B14F-4D97-AF65-F5344CB8AC3E}">
        <p14:creationId xmlns:p14="http://schemas.microsoft.com/office/powerpoint/2010/main" val="18526766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4" name="Picture 1028"/>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9417" t="9416" r="9465" b="9192"/>
          <a:stretch>
            <a:fillRect/>
          </a:stretch>
        </p:blipFill>
        <p:spPr bwMode="auto">
          <a:xfrm>
            <a:off x="1115616" y="836712"/>
            <a:ext cx="6984776" cy="5256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2"/>
          <p:cNvSpPr txBox="1">
            <a:spLocks noChangeArrowheads="1"/>
          </p:cNvSpPr>
          <p:nvPr/>
        </p:nvSpPr>
        <p:spPr bwMode="auto">
          <a:xfrm>
            <a:off x="228600" y="304800"/>
            <a:ext cx="89154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b="1" dirty="0"/>
              <a:t>4.2 The double-helical model of DNA immediately suggested a mechanism for the replication of DNA.</a:t>
            </a:r>
          </a:p>
        </p:txBody>
      </p:sp>
      <p:pic>
        <p:nvPicPr>
          <p:cNvPr id="114691"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5816" y="1324896"/>
            <a:ext cx="2544688" cy="4840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p:cNvSpPr txBox="1">
            <a:spLocks noChangeArrowheads="1"/>
          </p:cNvSpPr>
          <p:nvPr/>
        </p:nvSpPr>
        <p:spPr bwMode="auto">
          <a:xfrm>
            <a:off x="304800" y="228600"/>
            <a:ext cx="8686800" cy="570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b="1" dirty="0"/>
              <a:t>4.3 DNA can occur in different structural forms.</a:t>
            </a:r>
          </a:p>
          <a:p>
            <a:pPr eaLnBrk="1" hangingPunct="1">
              <a:buFontTx/>
              <a:buNone/>
            </a:pPr>
            <a:r>
              <a:rPr lang="en-US" altLang="zh-CN" b="1" dirty="0"/>
              <a:t>	4.3.1 DNA is remarkably </a:t>
            </a:r>
            <a:r>
              <a:rPr lang="en-US" altLang="zh-CN" b="1" dirty="0">
                <a:solidFill>
                  <a:srgbClr val="FF0000"/>
                </a:solidFill>
              </a:rPr>
              <a:t>flexible molecule </a:t>
            </a:r>
            <a:r>
              <a:rPr lang="en-US" altLang="zh-CN" b="1" dirty="0"/>
              <a:t>with many rotatable bonds (thermal fluctuations producing bending, stretching, and unpairing).</a:t>
            </a:r>
          </a:p>
          <a:p>
            <a:pPr eaLnBrk="1" hangingPunct="1">
              <a:buFontTx/>
              <a:buNone/>
            </a:pPr>
            <a:r>
              <a:rPr lang="en-US" altLang="zh-CN" b="1" dirty="0"/>
              <a:t>	4.3.2 The duplex structure proposed by Watson and Crick is referred as the </a:t>
            </a:r>
            <a:r>
              <a:rPr lang="en-US" altLang="zh-CN" b="1" dirty="0">
                <a:solidFill>
                  <a:srgbClr val="FF0000"/>
                </a:solidFill>
              </a:rPr>
              <a:t>B-form DNA</a:t>
            </a:r>
            <a:r>
              <a:rPr lang="en-US" altLang="zh-CN" b="1" dirty="0"/>
              <a:t>, and is found to be </a:t>
            </a:r>
            <a:r>
              <a:rPr lang="en-US" altLang="zh-CN" b="1" dirty="0">
                <a:solidFill>
                  <a:srgbClr val="FF0000"/>
                </a:solidFill>
              </a:rPr>
              <a:t>the most stable structure </a:t>
            </a:r>
            <a:r>
              <a:rPr lang="en-US" altLang="zh-CN" b="1" dirty="0"/>
              <a:t>for a random nucleotide sequence under physiological conditions. Thus it is the </a:t>
            </a:r>
            <a:r>
              <a:rPr lang="en-US" altLang="zh-CN" b="1" dirty="0">
                <a:solidFill>
                  <a:srgbClr val="FF0000"/>
                </a:solidFill>
              </a:rPr>
              <a:t>standard structure </a:t>
            </a:r>
            <a:r>
              <a:rPr lang="en-US" altLang="zh-CN" b="1" dirty="0"/>
              <a:t>for DNA molecules.</a:t>
            </a:r>
          </a:p>
          <a:p>
            <a:pPr eaLnBrk="1" hangingPunct="1">
              <a:lnSpc>
                <a:spcPct val="80000"/>
              </a:lnSpc>
              <a:buFontTx/>
              <a:buNone/>
            </a:pPr>
            <a:r>
              <a:rPr lang="en-US" altLang="zh-CN" b="1" dirty="0"/>
              <a:t>	</a:t>
            </a:r>
            <a:endParaRPr lang="en-US" altLang="zh-CN" sz="2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2"/>
          <p:cNvSpPr txBox="1">
            <a:spLocks noChangeArrowheads="1"/>
          </p:cNvSpPr>
          <p:nvPr/>
        </p:nvSpPr>
        <p:spPr bwMode="auto">
          <a:xfrm>
            <a:off x="228600" y="419100"/>
            <a:ext cx="8763000" cy="4602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dirty="0"/>
              <a:t>	 </a:t>
            </a:r>
            <a:r>
              <a:rPr lang="en-US" altLang="zh-CN" b="1" dirty="0"/>
              <a:t>4.3.3 At reduced humidity the DNA molecule will take the </a:t>
            </a:r>
            <a:r>
              <a:rPr lang="en-US" altLang="zh-CN" b="1" dirty="0">
                <a:solidFill>
                  <a:srgbClr val="FF0000"/>
                </a:solidFill>
              </a:rPr>
              <a:t>A-form</a:t>
            </a:r>
            <a:r>
              <a:rPr lang="en-US" altLang="zh-CN" b="1" dirty="0"/>
              <a:t>: it is still a right-handed duplex made up of antiparallel strands held together by Watson-Crick base pairing.</a:t>
            </a:r>
            <a:r>
              <a:rPr lang="en-US" altLang="zh-CN" dirty="0"/>
              <a:t> </a:t>
            </a:r>
          </a:p>
          <a:p>
            <a:pPr eaLnBrk="1" hangingPunct="1">
              <a:buFontTx/>
              <a:buNone/>
            </a:pPr>
            <a:r>
              <a:rPr lang="en-US" altLang="zh-CN" dirty="0"/>
              <a:t>	</a:t>
            </a:r>
            <a:r>
              <a:rPr lang="en-US" altLang="zh-CN" b="1" dirty="0"/>
              <a:t>4.3.4 The </a:t>
            </a:r>
            <a:r>
              <a:rPr lang="en-US" altLang="zh-CN" b="1" dirty="0">
                <a:solidFill>
                  <a:srgbClr val="FF0000"/>
                </a:solidFill>
              </a:rPr>
              <a:t>A-form helix is wider and shorter than the B-form helix</a:t>
            </a:r>
            <a:r>
              <a:rPr lang="en-US" altLang="zh-CN" b="1" dirty="0"/>
              <a:t>. The plane of the base pairs in A-DNA is </a:t>
            </a:r>
            <a:r>
              <a:rPr lang="en-US" altLang="zh-CN" b="1" dirty="0">
                <a:solidFill>
                  <a:srgbClr val="FF0000"/>
                </a:solidFill>
              </a:rPr>
              <a:t>tilted about 20</a:t>
            </a:r>
            <a:r>
              <a:rPr lang="en-US" altLang="zh-CN" b="1" dirty="0">
                <a:solidFill>
                  <a:srgbClr val="FF0000"/>
                </a:solidFill>
                <a:sym typeface="Symbol" panose="05050102010706020507" pitchFamily="18" charset="2"/>
              </a:rPr>
              <a:t> </a:t>
            </a:r>
            <a:r>
              <a:rPr lang="en-US" altLang="zh-CN" b="1" dirty="0">
                <a:sym typeface="Symbol" panose="05050102010706020507" pitchFamily="18" charset="2"/>
              </a:rPr>
              <a:t>with respect to the helix axis.</a:t>
            </a:r>
            <a:endParaRPr lang="en-US" altLang="zh-CN" b="1" dirty="0"/>
          </a:p>
          <a:p>
            <a:pPr eaLnBrk="1" hangingPunct="1">
              <a:lnSpc>
                <a:spcPct val="75000"/>
              </a:lnSpc>
              <a:buFontTx/>
              <a:buNone/>
            </a:pPr>
            <a:r>
              <a:rPr lang="en-US" altLang="zh-CN" b="1" dirty="0"/>
              <a:t>	</a:t>
            </a:r>
            <a:endParaRPr lang="en-US" altLang="zh-CN" sz="2800" b="1"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9500" y="-1539552"/>
            <a:ext cx="6384999" cy="823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050"/>
          <p:cNvSpPr txBox="1">
            <a:spLocks noChangeArrowheads="1"/>
          </p:cNvSpPr>
          <p:nvPr/>
        </p:nvSpPr>
        <p:spPr bwMode="auto">
          <a:xfrm>
            <a:off x="0" y="609600"/>
            <a:ext cx="9144000" cy="2653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b="1" dirty="0"/>
              <a:t>	4.3.5 The </a:t>
            </a:r>
            <a:r>
              <a:rPr lang="en-US" altLang="zh-CN" b="1" dirty="0">
                <a:solidFill>
                  <a:srgbClr val="FF0000"/>
                </a:solidFill>
              </a:rPr>
              <a:t>Z-form DNA </a:t>
            </a:r>
            <a:r>
              <a:rPr lang="en-US" altLang="zh-CN" b="1" dirty="0"/>
              <a:t>is a </a:t>
            </a:r>
            <a:r>
              <a:rPr lang="en-US" altLang="zh-CN" b="1" dirty="0">
                <a:solidFill>
                  <a:srgbClr val="FF0000"/>
                </a:solidFill>
              </a:rPr>
              <a:t>left-handed</a:t>
            </a:r>
            <a:r>
              <a:rPr lang="en-US" altLang="zh-CN" b="1" dirty="0"/>
              <a:t> double helix in which backbone </a:t>
            </a:r>
            <a:r>
              <a:rPr lang="en-US" altLang="zh-CN" b="1" dirty="0">
                <a:solidFill>
                  <a:srgbClr val="FF0000"/>
                </a:solidFill>
              </a:rPr>
              <a:t>phosphates zigzag</a:t>
            </a:r>
            <a:r>
              <a:rPr lang="en-US" altLang="zh-CN" b="1" dirty="0"/>
              <a:t>.</a:t>
            </a:r>
          </a:p>
          <a:p>
            <a:pPr eaLnBrk="1" hangingPunct="1">
              <a:buFontTx/>
              <a:buNone/>
            </a:pPr>
            <a:r>
              <a:rPr lang="en-US" altLang="zh-CN" b="1" dirty="0"/>
              <a:t>	4.3.6 The biological roles of Z-DNA is uncertain (may play roles in gene expression and genetic recombination).</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2"/>
          <p:cNvSpPr txBox="1">
            <a:spLocks noChangeArrowheads="1"/>
          </p:cNvSpPr>
          <p:nvPr/>
        </p:nvSpPr>
        <p:spPr bwMode="auto">
          <a:xfrm>
            <a:off x="228600" y="228600"/>
            <a:ext cx="86868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a:solidFill>
                  <a:srgbClr val="FF0066"/>
                </a:solidFill>
              </a:rPr>
              <a:t>5. RNA molecules do not form simple, regular secondary structure but many form complex and unique three dimensional structures. (G1)</a:t>
            </a:r>
            <a:endParaRPr lang="en-US" altLang="zh-CN" sz="2400"/>
          </a:p>
        </p:txBody>
      </p:sp>
      <p:sp>
        <p:nvSpPr>
          <p:cNvPr id="120835" name="Text Box 3"/>
          <p:cNvSpPr txBox="1">
            <a:spLocks noChangeArrowheads="1"/>
          </p:cNvSpPr>
          <p:nvPr/>
        </p:nvSpPr>
        <p:spPr bwMode="auto">
          <a:xfrm>
            <a:off x="304800" y="2043113"/>
            <a:ext cx="8610600" cy="379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b="1" dirty="0"/>
              <a:t>5.1 Single strand RNA tends to take </a:t>
            </a:r>
            <a:r>
              <a:rPr lang="en-US" altLang="zh-CN" sz="2800" b="1" dirty="0">
                <a:solidFill>
                  <a:srgbClr val="FF0000"/>
                </a:solidFill>
              </a:rPr>
              <a:t>right-handed </a:t>
            </a:r>
            <a:r>
              <a:rPr lang="en-US" altLang="zh-CN" sz="2800" b="1" dirty="0"/>
              <a:t>helical conformation.</a:t>
            </a:r>
          </a:p>
          <a:p>
            <a:pPr eaLnBrk="1" hangingPunct="1">
              <a:buFontTx/>
              <a:buNone/>
            </a:pPr>
            <a:r>
              <a:rPr lang="en-US" altLang="zh-CN" sz="2800" b="1" dirty="0"/>
              <a:t>5. 2 </a:t>
            </a:r>
            <a:r>
              <a:rPr lang="en-US" altLang="zh-CN" sz="2800" b="1" dirty="0">
                <a:solidFill>
                  <a:srgbClr val="FF0000"/>
                </a:solidFill>
              </a:rPr>
              <a:t>Self-complementary sequences </a:t>
            </a:r>
            <a:r>
              <a:rPr lang="en-US" altLang="zh-CN" sz="2800" b="1" dirty="0"/>
              <a:t>on a RNA molecule lead to specific structures.</a:t>
            </a:r>
          </a:p>
          <a:p>
            <a:pPr eaLnBrk="1" hangingPunct="1">
              <a:buFontTx/>
              <a:buNone/>
            </a:pPr>
            <a:r>
              <a:rPr lang="en-US" altLang="zh-CN" sz="2800" b="1" dirty="0"/>
              <a:t>5. 3 The standard base-pairing rules are followed (i.e., </a:t>
            </a:r>
            <a:r>
              <a:rPr lang="en-US" altLang="zh-CN" sz="2800" b="1" dirty="0">
                <a:solidFill>
                  <a:srgbClr val="FF0000"/>
                </a:solidFill>
              </a:rPr>
              <a:t>A with U, G with C</a:t>
            </a:r>
            <a:r>
              <a:rPr lang="en-US" altLang="zh-CN" sz="2800" b="1" dirty="0"/>
              <a:t>).</a:t>
            </a:r>
          </a:p>
          <a:p>
            <a:pPr eaLnBrk="1" hangingPunct="1">
              <a:buFontTx/>
              <a:buNone/>
            </a:pPr>
            <a:r>
              <a:rPr lang="en-US" altLang="zh-CN" sz="2800" b="1" dirty="0"/>
              <a:t>5.4 </a:t>
            </a:r>
            <a:r>
              <a:rPr lang="en-US" altLang="zh-CN" sz="2800" b="1" dirty="0" err="1">
                <a:solidFill>
                  <a:srgbClr val="FF0000"/>
                </a:solidFill>
              </a:rPr>
              <a:t>Intrastrand</a:t>
            </a:r>
            <a:r>
              <a:rPr lang="en-US" altLang="zh-CN" sz="2800" b="1" dirty="0">
                <a:solidFill>
                  <a:srgbClr val="FF0000"/>
                </a:solidFill>
              </a:rPr>
              <a:t> base pairing </a:t>
            </a:r>
            <a:r>
              <a:rPr lang="en-US" altLang="zh-CN" sz="2800" b="1" dirty="0"/>
              <a:t>makes structures including internal loops, and hairpins (helical).</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p:cNvSpPr txBox="1">
            <a:spLocks noChangeArrowheads="1"/>
          </p:cNvSpPr>
          <p:nvPr/>
        </p:nvSpPr>
        <p:spPr bwMode="auto">
          <a:xfrm>
            <a:off x="304800" y="228600"/>
            <a:ext cx="88392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buFontTx/>
              <a:buNone/>
            </a:pPr>
            <a:r>
              <a:rPr lang="en-US" altLang="zh-CN" sz="2400"/>
              <a:t>	</a:t>
            </a:r>
            <a:r>
              <a:rPr lang="en-US" altLang="zh-CN" b="1"/>
              <a:t>	</a:t>
            </a:r>
          </a:p>
        </p:txBody>
      </p:sp>
      <p:pic>
        <p:nvPicPr>
          <p:cNvPr id="12185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1773238"/>
            <a:ext cx="8026400" cy="397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75656" y="2708920"/>
            <a:ext cx="6309072" cy="2967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l="26782" t="6407" r="4139" b="13511"/>
          <a:stretch>
            <a:fillRect/>
          </a:stretch>
        </p:blipFill>
        <p:spPr>
          <a:xfrm rot="1309265">
            <a:off x="3478064" y="692697"/>
            <a:ext cx="2174056" cy="180020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304800" y="2286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b="1">
                <a:solidFill>
                  <a:srgbClr val="FF0066"/>
                </a:solidFill>
              </a:rPr>
              <a:t>6. Duplex DNA and RNA molecules can be denatured and renatured.</a:t>
            </a:r>
            <a:endParaRPr lang="en-US" altLang="zh-CN" sz="2400"/>
          </a:p>
        </p:txBody>
      </p:sp>
      <p:sp>
        <p:nvSpPr>
          <p:cNvPr id="124931" name="Text Box 3"/>
          <p:cNvSpPr txBox="1">
            <a:spLocks noChangeArrowheads="1"/>
          </p:cNvSpPr>
          <p:nvPr/>
        </p:nvSpPr>
        <p:spPr bwMode="auto">
          <a:xfrm>
            <a:off x="323850" y="1700213"/>
            <a:ext cx="8820150"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25000"/>
              </a:spcBef>
              <a:buFontTx/>
              <a:buNone/>
            </a:pPr>
            <a:r>
              <a:rPr lang="en-US" altLang="zh-CN" b="1" dirty="0"/>
              <a:t>6.1 Denaturation</a:t>
            </a:r>
          </a:p>
          <a:p>
            <a:pPr eaLnBrk="1" hangingPunct="1">
              <a:spcBef>
                <a:spcPct val="25000"/>
              </a:spcBef>
              <a:buFontTx/>
              <a:buNone/>
            </a:pPr>
            <a:r>
              <a:rPr lang="en-US" altLang="zh-CN" b="1" dirty="0"/>
              <a:t>	6.1.1 </a:t>
            </a:r>
            <a:r>
              <a:rPr lang="en-US" altLang="zh-CN" b="1" dirty="0">
                <a:solidFill>
                  <a:srgbClr val="FF0000"/>
                </a:solidFill>
              </a:rPr>
              <a:t>Viscosity</a:t>
            </a:r>
            <a:r>
              <a:rPr lang="en-US" altLang="zh-CN" b="1" dirty="0"/>
              <a:t> decreases sharply.</a:t>
            </a:r>
          </a:p>
          <a:p>
            <a:pPr eaLnBrk="1" hangingPunct="1">
              <a:spcBef>
                <a:spcPct val="25000"/>
              </a:spcBef>
              <a:buFontTx/>
              <a:buNone/>
            </a:pPr>
            <a:r>
              <a:rPr lang="en-US" altLang="zh-CN" b="1" dirty="0"/>
              <a:t>	6.1.2 UV absorption at 260 nm increases significantly, an effect called </a:t>
            </a:r>
            <a:r>
              <a:rPr lang="en-US" altLang="zh-CN" b="1" dirty="0" err="1"/>
              <a:t>hyperchromism</a:t>
            </a:r>
            <a:r>
              <a:rPr lang="en-US" altLang="zh-CN" b="1" dirty="0"/>
              <a:t> or </a:t>
            </a:r>
            <a:r>
              <a:rPr lang="en-US" altLang="zh-CN" b="1" dirty="0">
                <a:solidFill>
                  <a:srgbClr val="FF0000"/>
                </a:solidFill>
              </a:rPr>
              <a:t>hyperchromic effect </a:t>
            </a:r>
            <a:r>
              <a:rPr lang="en-US" altLang="zh-CN" b="1" dirty="0"/>
              <a:t>(</a:t>
            </a:r>
            <a:r>
              <a:rPr lang="zh-CN" altLang="en-US" b="1" dirty="0"/>
              <a:t>增色效应</a:t>
            </a:r>
            <a:r>
              <a:rPr lang="en-US" altLang="zh-CN" b="1" dirty="0"/>
              <a:t>). 	</a:t>
            </a:r>
            <a:endParaRPr lang="en-US" altLang="zh-CN" sz="2400" dirty="0"/>
          </a:p>
        </p:txBody>
      </p:sp>
      <p:sp>
        <p:nvSpPr>
          <p:cNvPr id="124932" name="Text Box 4"/>
          <p:cNvSpPr txBox="1">
            <a:spLocks noChangeArrowheads="1"/>
          </p:cNvSpPr>
          <p:nvPr/>
        </p:nvSpPr>
        <p:spPr bwMode="auto">
          <a:xfrm>
            <a:off x="310868" y="4878388"/>
            <a:ext cx="8820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dirty="0"/>
              <a:t>DNA </a:t>
            </a:r>
            <a:r>
              <a:rPr lang="zh-CN" altLang="en-US" b="1" dirty="0"/>
              <a:t>复性</a:t>
            </a:r>
            <a:r>
              <a:rPr lang="en-US" altLang="zh-CN" b="1" dirty="0"/>
              <a:t>——</a:t>
            </a:r>
            <a:r>
              <a:rPr lang="zh-CN" altLang="en-US" b="1" dirty="0"/>
              <a:t>减色效应（</a:t>
            </a:r>
            <a:r>
              <a:rPr lang="en-US" altLang="zh-CN" b="1" dirty="0">
                <a:solidFill>
                  <a:srgbClr val="FF0000"/>
                </a:solidFill>
              </a:rPr>
              <a:t>hypochromic effect</a:t>
            </a:r>
            <a:r>
              <a:rPr lang="zh-CN" altLang="en-US" b="1" dirty="0"/>
              <a:t>）</a:t>
            </a:r>
            <a:r>
              <a:rPr lang="zh-CN" altLang="en-US" sz="2400" dirty="0"/>
              <a:t>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10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1816100"/>
            <a:ext cx="802640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475656" y="836712"/>
            <a:ext cx="5760640" cy="584775"/>
          </a:xfrm>
          <a:prstGeom prst="rect">
            <a:avLst/>
          </a:prstGeom>
          <a:noFill/>
          <a:ln>
            <a:noFill/>
          </a:ln>
        </p:spPr>
        <p:txBody>
          <a:bodyPr wrap="square" rtlCol="0">
            <a:spAutoFit/>
          </a:bodyPr>
          <a:lstStyle/>
          <a:p>
            <a:r>
              <a:rPr lang="zh-CN" altLang="en-US" sz="3200" dirty="0"/>
              <a:t>核酸、核苷酸的紫外吸收性质</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10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0" y="152400"/>
            <a:ext cx="4608513"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BA781C97-6D49-408F-9ED6-33CD6F041A37}"/>
              </a:ext>
            </a:extLst>
          </p:cNvPr>
          <p:cNvSpPr/>
          <p:nvPr/>
        </p:nvSpPr>
        <p:spPr>
          <a:xfrm>
            <a:off x="2915816" y="1340768"/>
            <a:ext cx="1005403" cy="369332"/>
          </a:xfrm>
          <a:prstGeom prst="rect">
            <a:avLst/>
          </a:prstGeom>
        </p:spPr>
        <p:txBody>
          <a:bodyPr wrap="none">
            <a:spAutoFit/>
          </a:bodyPr>
          <a:lstStyle/>
          <a:p>
            <a:r>
              <a:rPr lang="en-US" altLang="zh-CN" b="1" dirty="0">
                <a:solidFill>
                  <a:srgbClr val="FF0066"/>
                </a:solidFill>
              </a:rPr>
              <a:t>melting</a:t>
            </a:r>
            <a:endParaRPr lang="zh-CN" altLang="en-US" dirty="0"/>
          </a:p>
        </p:txBody>
      </p:sp>
      <p:sp>
        <p:nvSpPr>
          <p:cNvPr id="4" name="矩形 3">
            <a:extLst>
              <a:ext uri="{FF2B5EF4-FFF2-40B4-BE49-F238E27FC236}">
                <a16:creationId xmlns:a16="http://schemas.microsoft.com/office/drawing/2014/main" id="{4BCE70A7-0506-4B9A-A2E9-8A01DC2B6395}"/>
              </a:ext>
            </a:extLst>
          </p:cNvPr>
          <p:cNvSpPr/>
          <p:nvPr/>
        </p:nvSpPr>
        <p:spPr>
          <a:xfrm>
            <a:off x="4860032" y="836712"/>
            <a:ext cx="1531188" cy="369332"/>
          </a:xfrm>
          <a:prstGeom prst="rect">
            <a:avLst/>
          </a:prstGeom>
        </p:spPr>
        <p:txBody>
          <a:bodyPr wrap="none">
            <a:spAutoFit/>
          </a:bodyPr>
          <a:lstStyle/>
          <a:p>
            <a:r>
              <a:rPr lang="en-US" altLang="zh-CN" b="1" dirty="0">
                <a:solidFill>
                  <a:srgbClr val="FF0066"/>
                </a:solidFill>
              </a:rPr>
              <a:t>renaturation</a:t>
            </a: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2"/>
          <p:cNvSpPr txBox="1">
            <a:spLocks noChangeArrowheads="1"/>
          </p:cNvSpPr>
          <p:nvPr/>
        </p:nvSpPr>
        <p:spPr bwMode="auto">
          <a:xfrm>
            <a:off x="228600" y="228600"/>
            <a:ext cx="8763000" cy="3514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dirty="0"/>
              <a:t>	 </a:t>
            </a:r>
            <a:r>
              <a:rPr lang="en-US" altLang="zh-CN" b="1" dirty="0"/>
              <a:t>6.1.3 The unwinding (i.e., denaturation) of the double helix is called </a:t>
            </a:r>
            <a:r>
              <a:rPr lang="en-US" altLang="zh-CN" b="1" dirty="0">
                <a:solidFill>
                  <a:srgbClr val="FF0066"/>
                </a:solidFill>
              </a:rPr>
              <a:t>melting</a:t>
            </a:r>
            <a:r>
              <a:rPr lang="en-US" altLang="zh-CN" b="1" dirty="0"/>
              <a:t>.</a:t>
            </a:r>
            <a:endParaRPr lang="en-US" altLang="zh-CN" dirty="0"/>
          </a:p>
          <a:p>
            <a:pPr eaLnBrk="1" hangingPunct="1">
              <a:buFontTx/>
              <a:buNone/>
            </a:pPr>
            <a:r>
              <a:rPr lang="en-US" altLang="zh-CN" dirty="0"/>
              <a:t>	</a:t>
            </a:r>
            <a:r>
              <a:rPr lang="en-US" altLang="zh-CN" b="1" dirty="0"/>
              <a:t>6.1.4 Each species of DNA has a characteristic </a:t>
            </a:r>
            <a:r>
              <a:rPr lang="en-US" altLang="zh-CN" b="1" dirty="0">
                <a:solidFill>
                  <a:srgbClr val="FF0066"/>
                </a:solidFill>
              </a:rPr>
              <a:t>melting temperature (Tm or tm)</a:t>
            </a:r>
            <a:r>
              <a:rPr lang="en-US" altLang="zh-CN" b="1" dirty="0"/>
              <a:t> at which half of the duplex chain is separated. </a:t>
            </a:r>
            <a:r>
              <a:rPr lang="en-US" altLang="zh-CN" sz="2400" b="1" dirty="0"/>
              <a:t>(</a:t>
            </a:r>
            <a:r>
              <a:rPr lang="en-US" altLang="zh-CN" sz="2400" b="1" i="0" dirty="0">
                <a:solidFill>
                  <a:srgbClr val="242021"/>
                </a:solidFill>
                <a:effectLst/>
                <a:latin typeface="Whitney-Light"/>
              </a:rPr>
              <a:t>The</a:t>
            </a:r>
            <a:br>
              <a:rPr lang="en-US" altLang="zh-CN" sz="2400" b="1" i="0" dirty="0">
                <a:solidFill>
                  <a:srgbClr val="242021"/>
                </a:solidFill>
                <a:effectLst/>
                <a:latin typeface="Whitney-Light"/>
              </a:rPr>
            </a:br>
            <a:r>
              <a:rPr lang="en-US" altLang="zh-CN" sz="2400" b="1" i="0" dirty="0">
                <a:solidFill>
                  <a:srgbClr val="242021"/>
                </a:solidFill>
                <a:effectLst/>
                <a:latin typeface="Whitney-Light"/>
              </a:rPr>
              <a:t>midpoint of the temperature range over which denaturation occurs is called the melting temperature, or </a:t>
            </a:r>
            <a:r>
              <a:rPr lang="en-US" altLang="zh-CN" sz="2400" b="1" i="1" dirty="0">
                <a:solidFill>
                  <a:srgbClr val="242021"/>
                </a:solidFill>
                <a:effectLst/>
                <a:latin typeface="Whitney-LightItalic"/>
              </a:rPr>
              <a:t>T</a:t>
            </a:r>
            <a:r>
              <a:rPr lang="en-US" altLang="zh-CN" sz="2400" b="1" i="0" dirty="0">
                <a:solidFill>
                  <a:srgbClr val="242021"/>
                </a:solidFill>
                <a:effectLst/>
                <a:latin typeface="Whitney-Light"/>
              </a:rPr>
              <a:t>m.</a:t>
            </a:r>
            <a:r>
              <a:rPr lang="en-US" altLang="zh-CN" sz="2400" b="1" dirty="0"/>
              <a:t> )</a:t>
            </a:r>
            <a:r>
              <a:rPr lang="en-US" altLang="zh-CN" b="1" dirty="0"/>
              <a:t>	</a:t>
            </a:r>
            <a:endParaRPr lang="en-US" altLang="zh-CN" sz="2800" b="1" dirty="0"/>
          </a:p>
        </p:txBody>
      </p:sp>
      <p:sp>
        <p:nvSpPr>
          <p:cNvPr id="132099" name="Text Box 3"/>
          <p:cNvSpPr txBox="1">
            <a:spLocks noChangeArrowheads="1"/>
          </p:cNvSpPr>
          <p:nvPr/>
        </p:nvSpPr>
        <p:spPr bwMode="auto">
          <a:xfrm>
            <a:off x="228600" y="3789040"/>
            <a:ext cx="9144000" cy="2613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b="1" dirty="0"/>
              <a:t>	6.1.5 Tm has an approximate </a:t>
            </a:r>
            <a:r>
              <a:rPr lang="en-US" altLang="zh-CN" b="1" dirty="0">
                <a:solidFill>
                  <a:srgbClr val="FF0000"/>
                </a:solidFill>
              </a:rPr>
              <a:t>linear relationship</a:t>
            </a:r>
            <a:r>
              <a:rPr lang="en-US" altLang="zh-CN" b="1" dirty="0"/>
              <a:t> with (G+C)%).</a:t>
            </a:r>
          </a:p>
          <a:p>
            <a:pPr eaLnBrk="1" hangingPunct="1">
              <a:buFontTx/>
              <a:buNone/>
            </a:pPr>
            <a:r>
              <a:rPr lang="en-US" altLang="zh-CN" b="1" dirty="0"/>
              <a:t>	6.1.6 DNA segments rich in AT base pairs are melted first (at lower temperatures).</a:t>
            </a:r>
          </a:p>
          <a:p>
            <a:pPr eaLnBrk="1" hangingPunct="1">
              <a:lnSpc>
                <a:spcPct val="70000"/>
              </a:lnSpc>
              <a:buFontTx/>
              <a:buNone/>
            </a:pPr>
            <a:endParaRPr lang="en-US" altLang="zh-CN" b="1"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7700" y="711200"/>
            <a:ext cx="53086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7700" y="711200"/>
            <a:ext cx="53086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2" descr="49033-11-14 cop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609600"/>
            <a:ext cx="8229600" cy="550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2" descr="49033-11-15 cop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2125" y="571500"/>
            <a:ext cx="561975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idx="4294967295"/>
          </p:nvPr>
        </p:nvSpPr>
        <p:spPr>
          <a:xfrm>
            <a:off x="0" y="609600"/>
            <a:ext cx="7772400" cy="1143000"/>
          </a:xfrm>
          <a:prstGeom prst="rect">
            <a:avLst/>
          </a:prstGeom>
        </p:spPr>
        <p:txBody>
          <a:bodyPr/>
          <a:lstStyle/>
          <a:p>
            <a:pPr eaLnBrk="1" hangingPunct="1"/>
            <a:r>
              <a:rPr lang="en-US" altLang="zh-CN" sz="3200" b="1"/>
              <a:t>DNA</a:t>
            </a:r>
            <a:r>
              <a:rPr lang="zh-CN" altLang="en-US" sz="3200" b="1"/>
              <a:t>的</a:t>
            </a:r>
            <a:r>
              <a:rPr lang="en-US" altLang="zh-CN" sz="3200" b="1"/>
              <a:t>Tm</a:t>
            </a:r>
            <a:r>
              <a:rPr lang="zh-CN" altLang="en-US" sz="3200" b="1"/>
              <a:t>值与下列因素有关</a:t>
            </a:r>
          </a:p>
        </p:txBody>
      </p:sp>
      <p:sp>
        <p:nvSpPr>
          <p:cNvPr id="140291" name="Rectangle 3"/>
          <p:cNvSpPr>
            <a:spLocks noGrp="1" noChangeArrowheads="1"/>
          </p:cNvSpPr>
          <p:nvPr>
            <p:ph idx="4294967295"/>
          </p:nvPr>
        </p:nvSpPr>
        <p:spPr>
          <a:xfrm>
            <a:off x="1403648" y="1752600"/>
            <a:ext cx="4343400" cy="3886200"/>
          </a:xfrm>
          <a:prstGeom prst="rect">
            <a:avLst/>
          </a:prstGeom>
        </p:spPr>
        <p:txBody>
          <a:bodyPr/>
          <a:lstStyle/>
          <a:p>
            <a:pPr eaLnBrk="1" hangingPunct="1"/>
            <a:r>
              <a:rPr lang="en-US" altLang="zh-CN" b="1" dirty="0"/>
              <a:t>DNA</a:t>
            </a:r>
            <a:r>
              <a:rPr lang="zh-CN" altLang="en-US" b="1" dirty="0"/>
              <a:t>的均一性</a:t>
            </a:r>
          </a:p>
          <a:p>
            <a:pPr eaLnBrk="1" hangingPunct="1"/>
            <a:r>
              <a:rPr lang="en-US" altLang="zh-CN" b="1" dirty="0"/>
              <a:t>G-C</a:t>
            </a:r>
            <a:r>
              <a:rPr lang="zh-CN" altLang="en-US" b="1" dirty="0"/>
              <a:t>含量</a:t>
            </a:r>
          </a:p>
          <a:p>
            <a:pPr eaLnBrk="1" hangingPunct="1"/>
            <a:r>
              <a:rPr lang="zh-CN" altLang="en-US" b="1" dirty="0"/>
              <a:t>介质的离子强度</a:t>
            </a:r>
          </a:p>
          <a:p>
            <a:pPr eaLnBrk="1" hangingPunct="1"/>
            <a:endParaRPr lang="en-US" altLang="zh-CN" b="1"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ext Box 2"/>
          <p:cNvSpPr txBox="1">
            <a:spLocks noChangeArrowheads="1"/>
          </p:cNvSpPr>
          <p:nvPr/>
        </p:nvSpPr>
        <p:spPr bwMode="auto">
          <a:xfrm>
            <a:off x="228600" y="228600"/>
            <a:ext cx="8763000" cy="544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000" b="1" dirty="0"/>
              <a:t>6.2 When the temperature or pH is returned to the biological range, the two separated complementary strands will spontaneously rewind (</a:t>
            </a:r>
            <a:r>
              <a:rPr lang="en-US" altLang="zh-CN" sz="3000" b="1" dirty="0">
                <a:solidFill>
                  <a:srgbClr val="FF0000"/>
                </a:solidFill>
              </a:rPr>
              <a:t>renature</a:t>
            </a:r>
            <a:r>
              <a:rPr lang="en-US" altLang="zh-CN" sz="3000" b="1" dirty="0"/>
              <a:t>) to form a duplex structure.</a:t>
            </a:r>
          </a:p>
          <a:p>
            <a:pPr eaLnBrk="1" hangingPunct="1">
              <a:buFontTx/>
              <a:buNone/>
            </a:pPr>
            <a:r>
              <a:rPr lang="en-US" altLang="zh-CN" sz="3000" b="1" dirty="0"/>
              <a:t>	6.2.1 This </a:t>
            </a:r>
            <a:r>
              <a:rPr lang="en-US" altLang="zh-CN" sz="3000" b="1" dirty="0">
                <a:solidFill>
                  <a:srgbClr val="FF0000"/>
                </a:solidFill>
              </a:rPr>
              <a:t>renaturation</a:t>
            </a:r>
            <a:r>
              <a:rPr lang="en-US" altLang="zh-CN" sz="3000" b="1" dirty="0"/>
              <a:t> process is called </a:t>
            </a:r>
            <a:r>
              <a:rPr lang="en-US" altLang="zh-CN" sz="3000" b="1" dirty="0">
                <a:solidFill>
                  <a:srgbClr val="FF0000"/>
                </a:solidFill>
              </a:rPr>
              <a:t>annealing</a:t>
            </a:r>
            <a:r>
              <a:rPr lang="en-US" altLang="zh-CN" sz="3000" b="1" dirty="0"/>
              <a:t>.</a:t>
            </a:r>
            <a:r>
              <a:rPr lang="en-US" altLang="zh-CN" sz="3000" dirty="0"/>
              <a:t> </a:t>
            </a:r>
          </a:p>
          <a:p>
            <a:pPr eaLnBrk="1" hangingPunct="1">
              <a:buFontTx/>
              <a:buNone/>
            </a:pPr>
            <a:r>
              <a:rPr lang="en-US" altLang="zh-CN" sz="3000" dirty="0"/>
              <a:t>	</a:t>
            </a:r>
            <a:r>
              <a:rPr lang="en-US" altLang="zh-CN" sz="3000" b="1" dirty="0"/>
              <a:t>6.2.2 Annealing can occur between </a:t>
            </a:r>
            <a:r>
              <a:rPr lang="en-US" altLang="zh-CN" sz="3000" b="1" dirty="0">
                <a:solidFill>
                  <a:srgbClr val="FF0000"/>
                </a:solidFill>
              </a:rPr>
              <a:t>complementary DNA, RNA, or DNA-RNA hybrids</a:t>
            </a:r>
            <a:r>
              <a:rPr lang="en-US" altLang="zh-CN" sz="3000" b="1" dirty="0"/>
              <a:t>.</a:t>
            </a:r>
          </a:p>
          <a:p>
            <a:pPr eaLnBrk="1" hangingPunct="1">
              <a:buFontTx/>
              <a:buNone/>
            </a:pPr>
            <a:r>
              <a:rPr lang="en-US" altLang="zh-CN" sz="3000" b="1" dirty="0"/>
              <a:t>         6.2.3 This </a:t>
            </a:r>
            <a:r>
              <a:rPr lang="en-US" altLang="zh-CN" sz="3000" b="1" dirty="0">
                <a:solidFill>
                  <a:srgbClr val="FF0000"/>
                </a:solidFill>
              </a:rPr>
              <a:t>hybridization</a:t>
            </a:r>
            <a:r>
              <a:rPr lang="en-US" altLang="zh-CN" sz="3000" b="1" dirty="0"/>
              <a:t> principle is widely used in detecting existence of specific DNA or RNA species in cells.	</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76500" y="711200"/>
            <a:ext cx="41910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15" name="Rectangle 3"/>
          <p:cNvSpPr>
            <a:spLocks noChangeArrowheads="1"/>
          </p:cNvSpPr>
          <p:nvPr/>
        </p:nvSpPr>
        <p:spPr bwMode="auto">
          <a:xfrm>
            <a:off x="6858000" y="304800"/>
            <a:ext cx="2019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3600" b="1">
                <a:latin typeface="Arial" panose="020B0604020202020204" pitchFamily="34" charset="0"/>
              </a:rPr>
              <a:t>分子杂交</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62" name="Picture 2" descr="49033-11-18 copy"/>
          <p:cNvPicPr>
            <a:picLocks noChangeAspect="1" noChangeArrowheads="1"/>
          </p:cNvPicPr>
          <p:nvPr/>
        </p:nvPicPr>
        <p:blipFill>
          <a:blip r:embed="rId2" cstate="print">
            <a:lum contrast="12000"/>
            <a:extLst>
              <a:ext uri="{28A0092B-C50C-407E-A947-70E740481C1C}">
                <a14:useLocalDpi xmlns:a14="http://schemas.microsoft.com/office/drawing/2010/main" val="0"/>
              </a:ext>
            </a:extLst>
          </a:blip>
          <a:srcRect/>
          <a:stretch>
            <a:fillRect/>
          </a:stretch>
        </p:blipFill>
        <p:spPr bwMode="auto">
          <a:xfrm>
            <a:off x="2538413" y="571500"/>
            <a:ext cx="4067175"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2800" y="711200"/>
            <a:ext cx="75184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6434" name="Group 2"/>
          <p:cNvGrpSpPr/>
          <p:nvPr/>
        </p:nvGrpSpPr>
        <p:grpSpPr bwMode="auto">
          <a:xfrm>
            <a:off x="5589588" y="1944688"/>
            <a:ext cx="2705100" cy="1062037"/>
            <a:chOff x="1997" y="1264"/>
            <a:chExt cx="1704" cy="669"/>
          </a:xfrm>
        </p:grpSpPr>
        <p:sp>
          <p:nvSpPr>
            <p:cNvPr id="147205" name="Rectangle 3"/>
            <p:cNvSpPr>
              <a:spLocks noChangeAspect="1" noChangeArrowheads="1"/>
            </p:cNvSpPr>
            <p:nvPr/>
          </p:nvSpPr>
          <p:spPr bwMode="auto">
            <a:xfrm>
              <a:off x="3276" y="1734"/>
              <a:ext cx="379" cy="135"/>
            </a:xfrm>
            <a:prstGeom prst="rect">
              <a:avLst/>
            </a:prstGeom>
            <a:solidFill>
              <a:srgbClr val="EAEAEA"/>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206" name="Rectangle 4"/>
            <p:cNvSpPr>
              <a:spLocks noChangeAspect="1" noChangeArrowheads="1"/>
            </p:cNvSpPr>
            <p:nvPr/>
          </p:nvSpPr>
          <p:spPr bwMode="auto">
            <a:xfrm>
              <a:off x="2057" y="1722"/>
              <a:ext cx="325" cy="136"/>
            </a:xfrm>
            <a:prstGeom prst="rect">
              <a:avLst/>
            </a:prstGeom>
            <a:solidFill>
              <a:srgbClr val="EAEAEA"/>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207" name="Freeform 5"/>
            <p:cNvSpPr>
              <a:spLocks noChangeAspect="1"/>
            </p:cNvSpPr>
            <p:nvPr/>
          </p:nvSpPr>
          <p:spPr bwMode="auto">
            <a:xfrm>
              <a:off x="1997" y="1641"/>
              <a:ext cx="1704" cy="292"/>
            </a:xfrm>
            <a:custGeom>
              <a:avLst/>
              <a:gdLst>
                <a:gd name="T0" fmla="*/ 0 w 3396"/>
                <a:gd name="T1" fmla="*/ 0 h 582"/>
                <a:gd name="T2" fmla="*/ 1 w 3396"/>
                <a:gd name="T3" fmla="*/ 37 h 582"/>
                <a:gd name="T4" fmla="*/ 56 w 3396"/>
                <a:gd name="T5" fmla="*/ 37 h 582"/>
                <a:gd name="T6" fmla="*/ 56 w 3396"/>
                <a:gd name="T7" fmla="*/ 17 h 582"/>
                <a:gd name="T8" fmla="*/ 154 w 3396"/>
                <a:gd name="T9" fmla="*/ 17 h 582"/>
                <a:gd name="T10" fmla="*/ 154 w 3396"/>
                <a:gd name="T11" fmla="*/ 36 h 582"/>
                <a:gd name="T12" fmla="*/ 215 w 3396"/>
                <a:gd name="T13" fmla="*/ 36 h 582"/>
                <a:gd name="T14" fmla="*/ 215 w 3396"/>
                <a:gd name="T15" fmla="*/ 1 h 582"/>
                <a:gd name="T16" fmla="*/ 207 w 3396"/>
                <a:gd name="T17" fmla="*/ 1 h 582"/>
                <a:gd name="T18" fmla="*/ 207 w 3396"/>
                <a:gd name="T19" fmla="*/ 28 h 582"/>
                <a:gd name="T20" fmla="*/ 162 w 3396"/>
                <a:gd name="T21" fmla="*/ 29 h 582"/>
                <a:gd name="T22" fmla="*/ 162 w 3396"/>
                <a:gd name="T23" fmla="*/ 8 h 582"/>
                <a:gd name="T24" fmla="*/ 48 w 3396"/>
                <a:gd name="T25" fmla="*/ 8 h 582"/>
                <a:gd name="T26" fmla="*/ 48 w 3396"/>
                <a:gd name="T27" fmla="*/ 27 h 582"/>
                <a:gd name="T28" fmla="*/ 10 w 3396"/>
                <a:gd name="T29" fmla="*/ 27 h 582"/>
                <a:gd name="T30" fmla="*/ 9 w 3396"/>
                <a:gd name="T31" fmla="*/ 0 h 582"/>
                <a:gd name="T32" fmla="*/ 0 w 3396"/>
                <a:gd name="T33" fmla="*/ 0 h 58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96"/>
                <a:gd name="T52" fmla="*/ 0 h 582"/>
                <a:gd name="T53" fmla="*/ 3396 w 3396"/>
                <a:gd name="T54" fmla="*/ 582 h 58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96" h="582">
                  <a:moveTo>
                    <a:pt x="0" y="0"/>
                  </a:moveTo>
                  <a:lnTo>
                    <a:pt x="12" y="582"/>
                  </a:lnTo>
                  <a:lnTo>
                    <a:pt x="882" y="582"/>
                  </a:lnTo>
                  <a:lnTo>
                    <a:pt x="882" y="270"/>
                  </a:lnTo>
                  <a:lnTo>
                    <a:pt x="2424" y="270"/>
                  </a:lnTo>
                  <a:lnTo>
                    <a:pt x="2424" y="564"/>
                  </a:lnTo>
                  <a:lnTo>
                    <a:pt x="3390" y="564"/>
                  </a:lnTo>
                  <a:lnTo>
                    <a:pt x="3396" y="6"/>
                  </a:lnTo>
                  <a:lnTo>
                    <a:pt x="3270" y="6"/>
                  </a:lnTo>
                  <a:lnTo>
                    <a:pt x="3270" y="444"/>
                  </a:lnTo>
                  <a:lnTo>
                    <a:pt x="2556" y="450"/>
                  </a:lnTo>
                  <a:lnTo>
                    <a:pt x="2556" y="120"/>
                  </a:lnTo>
                  <a:lnTo>
                    <a:pt x="756" y="126"/>
                  </a:lnTo>
                  <a:lnTo>
                    <a:pt x="756" y="426"/>
                  </a:lnTo>
                  <a:lnTo>
                    <a:pt x="150" y="426"/>
                  </a:lnTo>
                  <a:lnTo>
                    <a:pt x="144" y="0"/>
                  </a:lnTo>
                  <a:lnTo>
                    <a:pt x="0" y="0"/>
                  </a:lnTo>
                  <a:close/>
                </a:path>
              </a:pathLst>
            </a:custGeom>
            <a:solidFill>
              <a:srgbClr val="4D4D4D"/>
            </a:solidFill>
            <a:ln w="6350">
              <a:solidFill>
                <a:schemeClr val="bg2"/>
              </a:solidFill>
              <a:round/>
            </a:ln>
          </p:spPr>
          <p:txBody>
            <a:bodyPr wrap="none" anchor="ctr"/>
            <a:lstStyle/>
            <a:p>
              <a:endParaRPr lang="zh-CN" altLang="en-US"/>
            </a:p>
          </p:txBody>
        </p:sp>
        <p:grpSp>
          <p:nvGrpSpPr>
            <p:cNvPr id="147208" name="Group 6"/>
            <p:cNvGrpSpPr>
              <a:grpSpLocks noChangeAspect="1"/>
            </p:cNvGrpSpPr>
            <p:nvPr/>
          </p:nvGrpSpPr>
          <p:grpSpPr bwMode="auto">
            <a:xfrm>
              <a:off x="3405" y="1755"/>
              <a:ext cx="203" cy="26"/>
              <a:chOff x="251" y="1182"/>
              <a:chExt cx="1050" cy="135"/>
            </a:xfrm>
          </p:grpSpPr>
          <p:grpSp>
            <p:nvGrpSpPr>
              <p:cNvPr id="147366" name="Group 7"/>
              <p:cNvGrpSpPr>
                <a:grpSpLocks noChangeAspect="1"/>
              </p:cNvGrpSpPr>
              <p:nvPr/>
            </p:nvGrpSpPr>
            <p:grpSpPr bwMode="auto">
              <a:xfrm>
                <a:off x="251" y="1185"/>
                <a:ext cx="110" cy="132"/>
                <a:chOff x="906" y="2412"/>
                <a:chExt cx="552" cy="660"/>
              </a:xfrm>
            </p:grpSpPr>
            <p:sp>
              <p:nvSpPr>
                <p:cNvPr id="147380" name="Freeform 8"/>
                <p:cNvSpPr>
                  <a:spLocks noChangeAspect="1"/>
                </p:cNvSpPr>
                <p:nvPr/>
              </p:nvSpPr>
              <p:spPr bwMode="auto">
                <a:xfrm>
                  <a:off x="906" y="2418"/>
                  <a:ext cx="552" cy="1"/>
                </a:xfrm>
                <a:custGeom>
                  <a:avLst/>
                  <a:gdLst>
                    <a:gd name="T0" fmla="*/ 0 w 552"/>
                    <a:gd name="T1" fmla="*/ 0 h 1"/>
                    <a:gd name="T2" fmla="*/ 552 w 552"/>
                    <a:gd name="T3" fmla="*/ 0 h 1"/>
                    <a:gd name="T4" fmla="*/ 0 60000 65536"/>
                    <a:gd name="T5" fmla="*/ 0 60000 65536"/>
                    <a:gd name="T6" fmla="*/ 0 w 552"/>
                    <a:gd name="T7" fmla="*/ 0 h 1"/>
                    <a:gd name="T8" fmla="*/ 552 w 552"/>
                    <a:gd name="T9" fmla="*/ 1 h 1"/>
                  </a:gdLst>
                  <a:ahLst/>
                  <a:cxnLst>
                    <a:cxn ang="T4">
                      <a:pos x="T0" y="T1"/>
                    </a:cxn>
                    <a:cxn ang="T5">
                      <a:pos x="T2" y="T3"/>
                    </a:cxn>
                  </a:cxnLst>
                  <a:rect l="T6" t="T7" r="T8" b="T9"/>
                  <a:pathLst>
                    <a:path w="552" h="1">
                      <a:moveTo>
                        <a:pt x="0" y="0"/>
                      </a:moveTo>
                      <a:cubicBezTo>
                        <a:pt x="230" y="0"/>
                        <a:pt x="461" y="0"/>
                        <a:pt x="552"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81" name="Freeform 9"/>
                <p:cNvSpPr>
                  <a:spLocks noChangeAspect="1"/>
                </p:cNvSpPr>
                <p:nvPr/>
              </p:nvSpPr>
              <p:spPr bwMode="auto">
                <a:xfrm>
                  <a:off x="1176" y="2412"/>
                  <a:ext cx="1" cy="660"/>
                </a:xfrm>
                <a:custGeom>
                  <a:avLst/>
                  <a:gdLst>
                    <a:gd name="T0" fmla="*/ 0 w 1"/>
                    <a:gd name="T1" fmla="*/ 0 h 660"/>
                    <a:gd name="T2" fmla="*/ 0 w 1"/>
                    <a:gd name="T3" fmla="*/ 660 h 660"/>
                    <a:gd name="T4" fmla="*/ 0 60000 65536"/>
                    <a:gd name="T5" fmla="*/ 0 60000 65536"/>
                    <a:gd name="T6" fmla="*/ 0 w 1"/>
                    <a:gd name="T7" fmla="*/ 0 h 660"/>
                    <a:gd name="T8" fmla="*/ 1 w 1"/>
                    <a:gd name="T9" fmla="*/ 660 h 660"/>
                  </a:gdLst>
                  <a:ahLst/>
                  <a:cxnLst>
                    <a:cxn ang="T4">
                      <a:pos x="T0" y="T1"/>
                    </a:cxn>
                    <a:cxn ang="T5">
                      <a:pos x="T2" y="T3"/>
                    </a:cxn>
                  </a:cxnLst>
                  <a:rect l="T6" t="T7" r="T8" b="T9"/>
                  <a:pathLst>
                    <a:path w="1" h="660">
                      <a:moveTo>
                        <a:pt x="0" y="0"/>
                      </a:moveTo>
                      <a:cubicBezTo>
                        <a:pt x="0" y="275"/>
                        <a:pt x="0" y="550"/>
                        <a:pt x="0" y="66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367" name="Freeform 10"/>
              <p:cNvSpPr>
                <a:spLocks noChangeAspect="1"/>
              </p:cNvSpPr>
              <p:nvPr/>
            </p:nvSpPr>
            <p:spPr bwMode="auto">
              <a:xfrm>
                <a:off x="403" y="118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68" name="Group 11"/>
              <p:cNvGrpSpPr>
                <a:grpSpLocks noChangeAspect="1"/>
              </p:cNvGrpSpPr>
              <p:nvPr/>
            </p:nvGrpSpPr>
            <p:grpSpPr bwMode="auto">
              <a:xfrm>
                <a:off x="544" y="1190"/>
                <a:ext cx="99" cy="127"/>
                <a:chOff x="263" y="1301"/>
                <a:chExt cx="540" cy="690"/>
              </a:xfrm>
            </p:grpSpPr>
            <p:sp>
              <p:nvSpPr>
                <p:cNvPr id="147378" name="Freeform 12"/>
                <p:cNvSpPr>
                  <a:spLocks noChangeAspect="1"/>
                </p:cNvSpPr>
                <p:nvPr/>
              </p:nvSpPr>
              <p:spPr bwMode="auto">
                <a:xfrm>
                  <a:off x="263" y="1301"/>
                  <a:ext cx="540" cy="690"/>
                </a:xfrm>
                <a:custGeom>
                  <a:avLst/>
                  <a:gdLst>
                    <a:gd name="T0" fmla="*/ 0 w 540"/>
                    <a:gd name="T1" fmla="*/ 690 h 690"/>
                    <a:gd name="T2" fmla="*/ 264 w 540"/>
                    <a:gd name="T3" fmla="*/ 0 h 690"/>
                    <a:gd name="T4" fmla="*/ 540 w 540"/>
                    <a:gd name="T5" fmla="*/ 678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264" y="0"/>
                      </a:lnTo>
                      <a:lnTo>
                        <a:pt x="540" y="678"/>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79" name="Line 13"/>
                <p:cNvSpPr>
                  <a:spLocks noChangeAspect="1" noChangeShapeType="1"/>
                </p:cNvSpPr>
                <p:nvPr/>
              </p:nvSpPr>
              <p:spPr bwMode="auto">
                <a:xfrm>
                  <a:off x="359" y="1727"/>
                  <a:ext cx="336"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369" name="Freeform 14"/>
              <p:cNvSpPr>
                <a:spLocks noChangeAspect="1"/>
              </p:cNvSpPr>
              <p:nvPr/>
            </p:nvSpPr>
            <p:spPr bwMode="auto">
              <a:xfrm>
                <a:off x="686" y="1187"/>
                <a:ext cx="81" cy="130"/>
              </a:xfrm>
              <a:custGeom>
                <a:avLst/>
                <a:gdLst>
                  <a:gd name="T0" fmla="*/ 0 w 426"/>
                  <a:gd name="T1" fmla="*/ 1 h 684"/>
                  <a:gd name="T2" fmla="*/ 0 w 426"/>
                  <a:gd name="T3" fmla="*/ 0 h 684"/>
                  <a:gd name="T4" fmla="*/ 1 w 426"/>
                  <a:gd name="T5" fmla="*/ 1 h 684"/>
                  <a:gd name="T6" fmla="*/ 1 w 426"/>
                  <a:gd name="T7" fmla="*/ 0 h 684"/>
                  <a:gd name="T8" fmla="*/ 0 60000 65536"/>
                  <a:gd name="T9" fmla="*/ 0 60000 65536"/>
                  <a:gd name="T10" fmla="*/ 0 60000 65536"/>
                  <a:gd name="T11" fmla="*/ 0 60000 65536"/>
                  <a:gd name="T12" fmla="*/ 0 w 426"/>
                  <a:gd name="T13" fmla="*/ 0 h 684"/>
                  <a:gd name="T14" fmla="*/ 426 w 426"/>
                  <a:gd name="T15" fmla="*/ 684 h 684"/>
                </a:gdLst>
                <a:ahLst/>
                <a:cxnLst>
                  <a:cxn ang="T8">
                    <a:pos x="T0" y="T1"/>
                  </a:cxn>
                  <a:cxn ang="T9">
                    <a:pos x="T2" y="T3"/>
                  </a:cxn>
                  <a:cxn ang="T10">
                    <a:pos x="T4" y="T5"/>
                  </a:cxn>
                  <a:cxn ang="T11">
                    <a:pos x="T6" y="T7"/>
                  </a:cxn>
                </a:cxnLst>
                <a:rect l="T12" t="T13" r="T14" b="T15"/>
                <a:pathLst>
                  <a:path w="426" h="684">
                    <a:moveTo>
                      <a:pt x="0" y="684"/>
                    </a:moveTo>
                    <a:lnTo>
                      <a:pt x="0" y="6"/>
                    </a:lnTo>
                    <a:lnTo>
                      <a:pt x="426" y="672"/>
                    </a:lnTo>
                    <a:lnTo>
                      <a:pt x="426"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70" name="Freeform 15"/>
              <p:cNvSpPr>
                <a:spLocks noChangeAspect="1"/>
              </p:cNvSpPr>
              <p:nvPr/>
            </p:nvSpPr>
            <p:spPr bwMode="auto">
              <a:xfrm>
                <a:off x="809" y="1184"/>
                <a:ext cx="98" cy="133"/>
              </a:xfrm>
              <a:custGeom>
                <a:avLst/>
                <a:gdLst>
                  <a:gd name="T0" fmla="*/ 1 w 464"/>
                  <a:gd name="T1" fmla="*/ 0 h 632"/>
                  <a:gd name="T2" fmla="*/ 1 w 464"/>
                  <a:gd name="T3" fmla="*/ 0 h 632"/>
                  <a:gd name="T4" fmla="*/ 0 w 464"/>
                  <a:gd name="T5" fmla="*/ 0 h 632"/>
                  <a:gd name="T6" fmla="*/ 0 w 464"/>
                  <a:gd name="T7" fmla="*/ 0 h 632"/>
                  <a:gd name="T8" fmla="*/ 0 w 464"/>
                  <a:gd name="T9" fmla="*/ 1 h 632"/>
                  <a:gd name="T10" fmla="*/ 1 w 464"/>
                  <a:gd name="T11" fmla="*/ 1 h 632"/>
                  <a:gd name="T12" fmla="*/ 1 w 464"/>
                  <a:gd name="T13" fmla="*/ 1 h 632"/>
                  <a:gd name="T14" fmla="*/ 0 w 464"/>
                  <a:gd name="T15" fmla="*/ 1 h 632"/>
                  <a:gd name="T16" fmla="*/ 0 w 464"/>
                  <a:gd name="T17" fmla="*/ 1 h 632"/>
                  <a:gd name="T18" fmla="*/ 0 w 464"/>
                  <a:gd name="T19" fmla="*/ 1 h 6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4"/>
                  <a:gd name="T31" fmla="*/ 0 h 632"/>
                  <a:gd name="T32" fmla="*/ 464 w 464"/>
                  <a:gd name="T33" fmla="*/ 632 h 6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4" h="632">
                    <a:moveTo>
                      <a:pt x="414" y="178"/>
                    </a:moveTo>
                    <a:cubicBezTo>
                      <a:pt x="403" y="157"/>
                      <a:pt x="387" y="80"/>
                      <a:pt x="348" y="52"/>
                    </a:cubicBezTo>
                    <a:cubicBezTo>
                      <a:pt x="309" y="24"/>
                      <a:pt x="233" y="0"/>
                      <a:pt x="180" y="10"/>
                    </a:cubicBezTo>
                    <a:cubicBezTo>
                      <a:pt x="127" y="20"/>
                      <a:pt x="47" y="69"/>
                      <a:pt x="30" y="112"/>
                    </a:cubicBezTo>
                    <a:cubicBezTo>
                      <a:pt x="13" y="155"/>
                      <a:pt x="15" y="223"/>
                      <a:pt x="78" y="268"/>
                    </a:cubicBezTo>
                    <a:cubicBezTo>
                      <a:pt x="141" y="313"/>
                      <a:pt x="352" y="333"/>
                      <a:pt x="408" y="382"/>
                    </a:cubicBezTo>
                    <a:cubicBezTo>
                      <a:pt x="464" y="431"/>
                      <a:pt x="440" y="521"/>
                      <a:pt x="414" y="562"/>
                    </a:cubicBezTo>
                    <a:cubicBezTo>
                      <a:pt x="388" y="603"/>
                      <a:pt x="311" y="624"/>
                      <a:pt x="252" y="628"/>
                    </a:cubicBezTo>
                    <a:cubicBezTo>
                      <a:pt x="193" y="632"/>
                      <a:pt x="102" y="615"/>
                      <a:pt x="60" y="586"/>
                    </a:cubicBezTo>
                    <a:cubicBezTo>
                      <a:pt x="18" y="557"/>
                      <a:pt x="12" y="481"/>
                      <a:pt x="0" y="45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71" name="Group 16"/>
              <p:cNvGrpSpPr>
                <a:grpSpLocks noChangeAspect="1"/>
              </p:cNvGrpSpPr>
              <p:nvPr/>
            </p:nvGrpSpPr>
            <p:grpSpPr bwMode="auto">
              <a:xfrm>
                <a:off x="950" y="1190"/>
                <a:ext cx="80" cy="127"/>
                <a:chOff x="3653" y="1343"/>
                <a:chExt cx="384" cy="612"/>
              </a:xfrm>
            </p:grpSpPr>
            <p:sp>
              <p:nvSpPr>
                <p:cNvPr id="147376" name="Freeform 17"/>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77" name="Line 18"/>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372" name="Group 19"/>
              <p:cNvGrpSpPr>
                <a:grpSpLocks noChangeAspect="1"/>
              </p:cNvGrpSpPr>
              <p:nvPr/>
            </p:nvGrpSpPr>
            <p:grpSpPr bwMode="auto">
              <a:xfrm>
                <a:off x="1073" y="1190"/>
                <a:ext cx="87" cy="127"/>
                <a:chOff x="3017" y="1343"/>
                <a:chExt cx="420" cy="612"/>
              </a:xfrm>
            </p:grpSpPr>
            <p:sp>
              <p:nvSpPr>
                <p:cNvPr id="147374" name="Freeform 20"/>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75" name="Line 21"/>
                <p:cNvSpPr>
                  <a:spLocks noChangeAspect="1" noChangeShapeType="1"/>
                </p:cNvSpPr>
                <p:nvPr/>
              </p:nvSpPr>
              <p:spPr bwMode="auto">
                <a:xfrm>
                  <a:off x="3017" y="1637"/>
                  <a:ext cx="378"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373" name="Freeform 22"/>
              <p:cNvSpPr>
                <a:spLocks noChangeAspect="1"/>
              </p:cNvSpPr>
              <p:nvPr/>
            </p:nvSpPr>
            <p:spPr bwMode="auto">
              <a:xfrm>
                <a:off x="1203" y="118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7209" name="Group 23"/>
            <p:cNvGrpSpPr>
              <a:grpSpLocks noChangeAspect="1"/>
            </p:cNvGrpSpPr>
            <p:nvPr/>
          </p:nvGrpSpPr>
          <p:grpSpPr bwMode="auto">
            <a:xfrm>
              <a:off x="3439" y="1808"/>
              <a:ext cx="144" cy="26"/>
              <a:chOff x="168" y="32"/>
              <a:chExt cx="748" cy="135"/>
            </a:xfrm>
          </p:grpSpPr>
          <p:sp>
            <p:nvSpPr>
              <p:cNvPr id="147354" name="Freeform 24"/>
              <p:cNvSpPr>
                <a:spLocks noChangeAspect="1"/>
              </p:cNvSpPr>
              <p:nvPr/>
            </p:nvSpPr>
            <p:spPr bwMode="auto">
              <a:xfrm>
                <a:off x="168" y="40"/>
                <a:ext cx="92" cy="127"/>
              </a:xfrm>
              <a:custGeom>
                <a:avLst/>
                <a:gdLst>
                  <a:gd name="T0" fmla="*/ 0 w 442"/>
                  <a:gd name="T1" fmla="*/ 0 h 612"/>
                  <a:gd name="T2" fmla="*/ 0 w 442"/>
                  <a:gd name="T3" fmla="*/ 1 h 612"/>
                  <a:gd name="T4" fmla="*/ 0 w 442"/>
                  <a:gd name="T5" fmla="*/ 1 h 612"/>
                  <a:gd name="T6" fmla="*/ 1 w 442"/>
                  <a:gd name="T7" fmla="*/ 1 h 612"/>
                  <a:gd name="T8" fmla="*/ 1 w 442"/>
                  <a:gd name="T9" fmla="*/ 1 h 612"/>
                  <a:gd name="T10" fmla="*/ 0 w 442"/>
                  <a:gd name="T11" fmla="*/ 1 h 612"/>
                  <a:gd name="T12" fmla="*/ 0 w 442"/>
                  <a:gd name="T13" fmla="*/ 0 h 612"/>
                  <a:gd name="T14" fmla="*/ 0 w 442"/>
                  <a:gd name="T15" fmla="*/ 0 h 612"/>
                  <a:gd name="T16" fmla="*/ 1 w 442"/>
                  <a:gd name="T17" fmla="*/ 0 h 612"/>
                  <a:gd name="T18" fmla="*/ 1 w 442"/>
                  <a:gd name="T19" fmla="*/ 0 h 612"/>
                  <a:gd name="T20" fmla="*/ 0 w 442"/>
                  <a:gd name="T21" fmla="*/ 0 h 612"/>
                  <a:gd name="T22" fmla="*/ 0 w 442"/>
                  <a:gd name="T23" fmla="*/ 0 h 6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2"/>
                  <a:gd name="T37" fmla="*/ 0 h 612"/>
                  <a:gd name="T38" fmla="*/ 442 w 442"/>
                  <a:gd name="T39" fmla="*/ 612 h 6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2" h="612">
                    <a:moveTo>
                      <a:pt x="0" y="0"/>
                    </a:moveTo>
                    <a:lnTo>
                      <a:pt x="0" y="612"/>
                    </a:lnTo>
                    <a:lnTo>
                      <a:pt x="288" y="612"/>
                    </a:lnTo>
                    <a:cubicBezTo>
                      <a:pt x="356" y="602"/>
                      <a:pt x="386" y="589"/>
                      <a:pt x="408" y="552"/>
                    </a:cubicBezTo>
                    <a:cubicBezTo>
                      <a:pt x="430" y="515"/>
                      <a:pt x="442" y="433"/>
                      <a:pt x="420" y="390"/>
                    </a:cubicBezTo>
                    <a:cubicBezTo>
                      <a:pt x="398" y="347"/>
                      <a:pt x="346" y="311"/>
                      <a:pt x="276" y="294"/>
                    </a:cubicBezTo>
                    <a:lnTo>
                      <a:pt x="0" y="288"/>
                    </a:lnTo>
                    <a:lnTo>
                      <a:pt x="288" y="288"/>
                    </a:lnTo>
                    <a:cubicBezTo>
                      <a:pt x="355" y="269"/>
                      <a:pt x="387" y="213"/>
                      <a:pt x="402" y="174"/>
                    </a:cubicBezTo>
                    <a:cubicBezTo>
                      <a:pt x="417" y="135"/>
                      <a:pt x="403" y="83"/>
                      <a:pt x="378" y="54"/>
                    </a:cubicBezTo>
                    <a:cubicBezTo>
                      <a:pt x="353" y="25"/>
                      <a:pt x="315" y="9"/>
                      <a:pt x="252" y="0"/>
                    </a:cubicBezTo>
                    <a:lnTo>
                      <a:pt x="0" y="0"/>
                    </a:lnTo>
                    <a:close/>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55" name="Freeform 25"/>
              <p:cNvSpPr>
                <a:spLocks noChangeAspect="1"/>
              </p:cNvSpPr>
              <p:nvPr/>
            </p:nvSpPr>
            <p:spPr bwMode="auto">
              <a:xfrm>
                <a:off x="303" y="43"/>
                <a:ext cx="92" cy="124"/>
              </a:xfrm>
              <a:custGeom>
                <a:avLst/>
                <a:gdLst>
                  <a:gd name="T0" fmla="*/ 3 w 285"/>
                  <a:gd name="T1" fmla="*/ 0 h 383"/>
                  <a:gd name="T2" fmla="*/ 3 w 285"/>
                  <a:gd name="T3" fmla="*/ 2 h 383"/>
                  <a:gd name="T4" fmla="*/ 3 w 285"/>
                  <a:gd name="T5" fmla="*/ 4 h 383"/>
                  <a:gd name="T6" fmla="*/ 2 w 285"/>
                  <a:gd name="T7" fmla="*/ 4 h 383"/>
                  <a:gd name="T8" fmla="*/ 0 w 285"/>
                  <a:gd name="T9" fmla="*/ 4 h 383"/>
                  <a:gd name="T10" fmla="*/ 0 w 285"/>
                  <a:gd name="T11" fmla="*/ 2 h 383"/>
                  <a:gd name="T12" fmla="*/ 0 w 285"/>
                  <a:gd name="T13" fmla="*/ 0 h 383"/>
                  <a:gd name="T14" fmla="*/ 0 60000 65536"/>
                  <a:gd name="T15" fmla="*/ 0 60000 65536"/>
                  <a:gd name="T16" fmla="*/ 0 60000 65536"/>
                  <a:gd name="T17" fmla="*/ 0 60000 65536"/>
                  <a:gd name="T18" fmla="*/ 0 60000 65536"/>
                  <a:gd name="T19" fmla="*/ 0 60000 65536"/>
                  <a:gd name="T20" fmla="*/ 0 60000 65536"/>
                  <a:gd name="T21" fmla="*/ 0 w 285"/>
                  <a:gd name="T22" fmla="*/ 0 h 383"/>
                  <a:gd name="T23" fmla="*/ 285 w 285"/>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383">
                    <a:moveTo>
                      <a:pt x="283" y="3"/>
                    </a:moveTo>
                    <a:cubicBezTo>
                      <a:pt x="283" y="37"/>
                      <a:pt x="285" y="147"/>
                      <a:pt x="279" y="203"/>
                    </a:cubicBezTo>
                    <a:cubicBezTo>
                      <a:pt x="273" y="259"/>
                      <a:pt x="272" y="309"/>
                      <a:pt x="247" y="339"/>
                    </a:cubicBezTo>
                    <a:cubicBezTo>
                      <a:pt x="222" y="369"/>
                      <a:pt x="167" y="383"/>
                      <a:pt x="130" y="382"/>
                    </a:cubicBezTo>
                    <a:cubicBezTo>
                      <a:pt x="93" y="381"/>
                      <a:pt x="48" y="356"/>
                      <a:pt x="27" y="330"/>
                    </a:cubicBezTo>
                    <a:cubicBezTo>
                      <a:pt x="6" y="303"/>
                      <a:pt x="8" y="276"/>
                      <a:pt x="4" y="221"/>
                    </a:cubicBezTo>
                    <a:cubicBezTo>
                      <a:pt x="0" y="167"/>
                      <a:pt x="4" y="37"/>
                      <a:pt x="4"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56" name="Group 26"/>
              <p:cNvGrpSpPr>
                <a:grpSpLocks noChangeAspect="1"/>
              </p:cNvGrpSpPr>
              <p:nvPr/>
            </p:nvGrpSpPr>
            <p:grpSpPr bwMode="auto">
              <a:xfrm>
                <a:off x="563" y="40"/>
                <a:ext cx="80" cy="127"/>
                <a:chOff x="3653" y="1343"/>
                <a:chExt cx="384" cy="612"/>
              </a:xfrm>
            </p:grpSpPr>
            <p:sp>
              <p:nvSpPr>
                <p:cNvPr id="147364" name="Freeform 27"/>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65" name="Line 28"/>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357" name="Group 29"/>
              <p:cNvGrpSpPr>
                <a:grpSpLocks noChangeAspect="1"/>
              </p:cNvGrpSpPr>
              <p:nvPr/>
            </p:nvGrpSpPr>
            <p:grpSpPr bwMode="auto">
              <a:xfrm>
                <a:off x="439" y="40"/>
                <a:ext cx="80" cy="127"/>
                <a:chOff x="3653" y="1343"/>
                <a:chExt cx="384" cy="612"/>
              </a:xfrm>
            </p:grpSpPr>
            <p:sp>
              <p:nvSpPr>
                <p:cNvPr id="147362" name="Freeform 30"/>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63" name="Line 31"/>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358" name="Group 32"/>
              <p:cNvGrpSpPr>
                <a:grpSpLocks noChangeAspect="1"/>
              </p:cNvGrpSpPr>
              <p:nvPr/>
            </p:nvGrpSpPr>
            <p:grpSpPr bwMode="auto">
              <a:xfrm>
                <a:off x="687" y="40"/>
                <a:ext cx="87" cy="127"/>
                <a:chOff x="3017" y="1343"/>
                <a:chExt cx="420" cy="612"/>
              </a:xfrm>
            </p:grpSpPr>
            <p:sp>
              <p:nvSpPr>
                <p:cNvPr id="147360" name="Freeform 33"/>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61" name="Line 34"/>
                <p:cNvSpPr>
                  <a:spLocks noChangeAspect="1" noChangeShapeType="1"/>
                </p:cNvSpPr>
                <p:nvPr/>
              </p:nvSpPr>
              <p:spPr bwMode="auto">
                <a:xfrm>
                  <a:off x="3017" y="1637"/>
                  <a:ext cx="378"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359" name="Freeform 35"/>
              <p:cNvSpPr>
                <a:spLocks noChangeAspect="1"/>
              </p:cNvSpPr>
              <p:nvPr/>
            </p:nvSpPr>
            <p:spPr bwMode="auto">
              <a:xfrm>
                <a:off x="818" y="3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10" name="Freeform 36"/>
            <p:cNvSpPr>
              <a:spLocks noChangeAspect="1"/>
            </p:cNvSpPr>
            <p:nvPr/>
          </p:nvSpPr>
          <p:spPr bwMode="auto">
            <a:xfrm>
              <a:off x="2235" y="1683"/>
              <a:ext cx="1201" cy="169"/>
            </a:xfrm>
            <a:custGeom>
              <a:avLst/>
              <a:gdLst>
                <a:gd name="T0" fmla="*/ 0 w 2394"/>
                <a:gd name="T1" fmla="*/ 20 h 337"/>
                <a:gd name="T2" fmla="*/ 12 w 2394"/>
                <a:gd name="T3" fmla="*/ 16 h 337"/>
                <a:gd name="T4" fmla="*/ 15 w 2394"/>
                <a:gd name="T5" fmla="*/ 4 h 337"/>
                <a:gd name="T6" fmla="*/ 18 w 2394"/>
                <a:gd name="T7" fmla="*/ 1 h 337"/>
                <a:gd name="T8" fmla="*/ 25 w 2394"/>
                <a:gd name="T9" fmla="*/ 1 h 337"/>
                <a:gd name="T10" fmla="*/ 131 w 2394"/>
                <a:gd name="T11" fmla="*/ 1 h 337"/>
                <a:gd name="T12" fmla="*/ 133 w 2394"/>
                <a:gd name="T13" fmla="*/ 1 h 337"/>
                <a:gd name="T14" fmla="*/ 133 w 2394"/>
                <a:gd name="T15" fmla="*/ 4 h 337"/>
                <a:gd name="T16" fmla="*/ 138 w 2394"/>
                <a:gd name="T17" fmla="*/ 17 h 337"/>
                <a:gd name="T18" fmla="*/ 152 w 2394"/>
                <a:gd name="T19" fmla="*/ 22 h 33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94"/>
                <a:gd name="T31" fmla="*/ 0 h 337"/>
                <a:gd name="T32" fmla="*/ 2394 w 2394"/>
                <a:gd name="T33" fmla="*/ 337 h 33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94" h="337">
                  <a:moveTo>
                    <a:pt x="0" y="307"/>
                  </a:moveTo>
                  <a:cubicBezTo>
                    <a:pt x="30" y="298"/>
                    <a:pt x="141" y="294"/>
                    <a:pt x="180" y="253"/>
                  </a:cubicBezTo>
                  <a:cubicBezTo>
                    <a:pt x="219" y="212"/>
                    <a:pt x="217" y="102"/>
                    <a:pt x="234" y="61"/>
                  </a:cubicBezTo>
                  <a:cubicBezTo>
                    <a:pt x="251" y="20"/>
                    <a:pt x="257" y="16"/>
                    <a:pt x="282" y="7"/>
                  </a:cubicBezTo>
                  <a:lnTo>
                    <a:pt x="384" y="7"/>
                  </a:lnTo>
                  <a:cubicBezTo>
                    <a:pt x="682" y="6"/>
                    <a:pt x="1783" y="0"/>
                    <a:pt x="2070" y="1"/>
                  </a:cubicBezTo>
                  <a:lnTo>
                    <a:pt x="2106" y="13"/>
                  </a:lnTo>
                  <a:lnTo>
                    <a:pt x="2106" y="61"/>
                  </a:lnTo>
                  <a:cubicBezTo>
                    <a:pt x="2118" y="102"/>
                    <a:pt x="2130" y="213"/>
                    <a:pt x="2178" y="259"/>
                  </a:cubicBezTo>
                  <a:cubicBezTo>
                    <a:pt x="2226" y="305"/>
                    <a:pt x="2349" y="321"/>
                    <a:pt x="2394" y="337"/>
                  </a:cubicBezTo>
                </a:path>
              </a:pathLst>
            </a:custGeom>
            <a:noFill/>
            <a:ln w="38100">
              <a:solidFill>
                <a:srgbClr val="96969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7211" name="Freeform 37"/>
            <p:cNvSpPr>
              <a:spLocks noChangeAspect="1"/>
            </p:cNvSpPr>
            <p:nvPr/>
          </p:nvSpPr>
          <p:spPr bwMode="auto">
            <a:xfrm>
              <a:off x="2367" y="1554"/>
              <a:ext cx="910" cy="123"/>
            </a:xfrm>
            <a:custGeom>
              <a:avLst/>
              <a:gdLst>
                <a:gd name="T0" fmla="*/ 0 w 1812"/>
                <a:gd name="T1" fmla="*/ 0 h 246"/>
                <a:gd name="T2" fmla="*/ 0 w 1812"/>
                <a:gd name="T3" fmla="*/ 16 h 246"/>
                <a:gd name="T4" fmla="*/ 116 w 1812"/>
                <a:gd name="T5" fmla="*/ 16 h 246"/>
                <a:gd name="T6" fmla="*/ 116 w 1812"/>
                <a:gd name="T7" fmla="*/ 1 h 246"/>
                <a:gd name="T8" fmla="*/ 0 w 1812"/>
                <a:gd name="T9" fmla="*/ 0 h 246"/>
                <a:gd name="T10" fmla="*/ 0 60000 65536"/>
                <a:gd name="T11" fmla="*/ 0 60000 65536"/>
                <a:gd name="T12" fmla="*/ 0 60000 65536"/>
                <a:gd name="T13" fmla="*/ 0 60000 65536"/>
                <a:gd name="T14" fmla="*/ 0 60000 65536"/>
                <a:gd name="T15" fmla="*/ 0 w 1812"/>
                <a:gd name="T16" fmla="*/ 0 h 246"/>
                <a:gd name="T17" fmla="*/ 1812 w 1812"/>
                <a:gd name="T18" fmla="*/ 246 h 246"/>
              </a:gdLst>
              <a:ahLst/>
              <a:cxnLst>
                <a:cxn ang="T10">
                  <a:pos x="T0" y="T1"/>
                </a:cxn>
                <a:cxn ang="T11">
                  <a:pos x="T2" y="T3"/>
                </a:cxn>
                <a:cxn ang="T12">
                  <a:pos x="T4" y="T5"/>
                </a:cxn>
                <a:cxn ang="T13">
                  <a:pos x="T6" y="T7"/>
                </a:cxn>
                <a:cxn ang="T14">
                  <a:pos x="T8" y="T9"/>
                </a:cxn>
              </a:cxnLst>
              <a:rect l="T15" t="T16" r="T17" b="T18"/>
              <a:pathLst>
                <a:path w="1812" h="246">
                  <a:moveTo>
                    <a:pt x="0" y="0"/>
                  </a:moveTo>
                  <a:lnTo>
                    <a:pt x="0" y="246"/>
                  </a:lnTo>
                  <a:lnTo>
                    <a:pt x="1812" y="246"/>
                  </a:lnTo>
                  <a:lnTo>
                    <a:pt x="1812" y="6"/>
                  </a:lnTo>
                  <a:lnTo>
                    <a:pt x="0" y="0"/>
                  </a:lnTo>
                  <a:close/>
                </a:path>
              </a:pathLst>
            </a:custGeom>
            <a:solidFill>
              <a:srgbClr val="DDDDDD"/>
            </a:solidFill>
            <a:ln w="6350">
              <a:solidFill>
                <a:srgbClr val="C0C0C0"/>
              </a:solidFill>
              <a:round/>
            </a:ln>
          </p:spPr>
          <p:txBody>
            <a:bodyPr wrap="none" anchor="ctr"/>
            <a:lstStyle/>
            <a:p>
              <a:endParaRPr lang="zh-CN" altLang="en-US"/>
            </a:p>
          </p:txBody>
        </p:sp>
        <p:sp>
          <p:nvSpPr>
            <p:cNvPr id="147212" name="Line 38"/>
            <p:cNvSpPr>
              <a:spLocks noChangeAspect="1" noChangeShapeType="1"/>
            </p:cNvSpPr>
            <p:nvPr/>
          </p:nvSpPr>
          <p:spPr bwMode="auto">
            <a:xfrm>
              <a:off x="2367" y="1536"/>
              <a:ext cx="906"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13" name="Line 39"/>
            <p:cNvSpPr>
              <a:spLocks noChangeAspect="1" noChangeShapeType="1"/>
            </p:cNvSpPr>
            <p:nvPr/>
          </p:nvSpPr>
          <p:spPr bwMode="auto">
            <a:xfrm>
              <a:off x="2367" y="1466"/>
              <a:ext cx="906" cy="0"/>
            </a:xfrm>
            <a:prstGeom prst="line">
              <a:avLst/>
            </a:prstGeom>
            <a:noFill/>
            <a:ln w="28575">
              <a:solidFill>
                <a:srgbClr val="96969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14" name="Line 40"/>
            <p:cNvSpPr>
              <a:spLocks noChangeAspect="1" noChangeShapeType="1"/>
            </p:cNvSpPr>
            <p:nvPr/>
          </p:nvSpPr>
          <p:spPr bwMode="auto">
            <a:xfrm>
              <a:off x="2367" y="1489"/>
              <a:ext cx="906" cy="0"/>
            </a:xfrm>
            <a:prstGeom prst="line">
              <a:avLst/>
            </a:prstGeom>
            <a:noFill/>
            <a:ln w="28575">
              <a:solidFill>
                <a:srgbClr val="96969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15" name="Line 41"/>
            <p:cNvSpPr>
              <a:spLocks noChangeAspect="1" noChangeShapeType="1"/>
            </p:cNvSpPr>
            <p:nvPr/>
          </p:nvSpPr>
          <p:spPr bwMode="auto">
            <a:xfrm>
              <a:off x="2367" y="1512"/>
              <a:ext cx="906" cy="0"/>
            </a:xfrm>
            <a:prstGeom prst="line">
              <a:avLst/>
            </a:prstGeom>
            <a:noFill/>
            <a:ln w="28575">
              <a:solidFill>
                <a:srgbClr val="96969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16" name="Line 42"/>
            <p:cNvSpPr>
              <a:spLocks noChangeAspect="1" noChangeShapeType="1"/>
            </p:cNvSpPr>
            <p:nvPr/>
          </p:nvSpPr>
          <p:spPr bwMode="auto">
            <a:xfrm flipV="1">
              <a:off x="2322" y="1298"/>
              <a:ext cx="0" cy="377"/>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7217" name="Group 43"/>
            <p:cNvGrpSpPr>
              <a:grpSpLocks noChangeAspect="1"/>
            </p:cNvGrpSpPr>
            <p:nvPr/>
          </p:nvGrpSpPr>
          <p:grpSpPr bwMode="auto">
            <a:xfrm>
              <a:off x="2089" y="1376"/>
              <a:ext cx="217" cy="46"/>
              <a:chOff x="386" y="618"/>
              <a:chExt cx="860" cy="184"/>
            </a:xfrm>
          </p:grpSpPr>
          <p:sp>
            <p:nvSpPr>
              <p:cNvPr id="147339" name="Freeform 44"/>
              <p:cNvSpPr>
                <a:spLocks noChangeAspect="1"/>
              </p:cNvSpPr>
              <p:nvPr/>
            </p:nvSpPr>
            <p:spPr bwMode="auto">
              <a:xfrm>
                <a:off x="386" y="627"/>
                <a:ext cx="102" cy="127"/>
              </a:xfrm>
              <a:custGeom>
                <a:avLst/>
                <a:gdLst>
                  <a:gd name="T0" fmla="*/ 1 w 524"/>
                  <a:gd name="T1" fmla="*/ 0 h 653"/>
                  <a:gd name="T2" fmla="*/ 1 w 524"/>
                  <a:gd name="T3" fmla="*/ 0 h 653"/>
                  <a:gd name="T4" fmla="*/ 0 w 524"/>
                  <a:gd name="T5" fmla="*/ 0 h 653"/>
                  <a:gd name="T6" fmla="*/ 0 w 524"/>
                  <a:gd name="T7" fmla="*/ 0 h 653"/>
                  <a:gd name="T8" fmla="*/ 0 w 524"/>
                  <a:gd name="T9" fmla="*/ 1 h 653"/>
                  <a:gd name="T10" fmla="*/ 0 w 524"/>
                  <a:gd name="T11" fmla="*/ 1 h 653"/>
                  <a:gd name="T12" fmla="*/ 1 w 524"/>
                  <a:gd name="T13" fmla="*/ 1 h 653"/>
                  <a:gd name="T14" fmla="*/ 1 w 524"/>
                  <a:gd name="T15" fmla="*/ 1 h 653"/>
                  <a:gd name="T16" fmla="*/ 1 w 524"/>
                  <a:gd name="T17" fmla="*/ 1 h 6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4"/>
                  <a:gd name="T28" fmla="*/ 0 h 653"/>
                  <a:gd name="T29" fmla="*/ 524 w 524"/>
                  <a:gd name="T30" fmla="*/ 653 h 6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4" h="653">
                    <a:moveTo>
                      <a:pt x="506" y="171"/>
                    </a:moveTo>
                    <a:cubicBezTo>
                      <a:pt x="489" y="150"/>
                      <a:pt x="456" y="70"/>
                      <a:pt x="404" y="45"/>
                    </a:cubicBezTo>
                    <a:cubicBezTo>
                      <a:pt x="352" y="20"/>
                      <a:pt x="256" y="0"/>
                      <a:pt x="194" y="21"/>
                    </a:cubicBezTo>
                    <a:cubicBezTo>
                      <a:pt x="132" y="42"/>
                      <a:pt x="62" y="102"/>
                      <a:pt x="32" y="171"/>
                    </a:cubicBezTo>
                    <a:cubicBezTo>
                      <a:pt x="2" y="240"/>
                      <a:pt x="0" y="363"/>
                      <a:pt x="14" y="435"/>
                    </a:cubicBezTo>
                    <a:cubicBezTo>
                      <a:pt x="28" y="507"/>
                      <a:pt x="62" y="568"/>
                      <a:pt x="116" y="603"/>
                    </a:cubicBezTo>
                    <a:cubicBezTo>
                      <a:pt x="170" y="638"/>
                      <a:pt x="277" y="653"/>
                      <a:pt x="338" y="645"/>
                    </a:cubicBezTo>
                    <a:cubicBezTo>
                      <a:pt x="399" y="637"/>
                      <a:pt x="451" y="586"/>
                      <a:pt x="482" y="555"/>
                    </a:cubicBezTo>
                    <a:cubicBezTo>
                      <a:pt x="513" y="524"/>
                      <a:pt x="515" y="479"/>
                      <a:pt x="524" y="45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40" name="Freeform 45"/>
              <p:cNvSpPr>
                <a:spLocks noChangeAspect="1"/>
              </p:cNvSpPr>
              <p:nvPr/>
            </p:nvSpPr>
            <p:spPr bwMode="auto">
              <a:xfrm>
                <a:off x="530" y="654"/>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41" name="Freeform 46"/>
              <p:cNvSpPr>
                <a:spLocks noChangeAspect="1"/>
              </p:cNvSpPr>
              <p:nvPr/>
            </p:nvSpPr>
            <p:spPr bwMode="auto">
              <a:xfrm flipH="1" flipV="1">
                <a:off x="655" y="657"/>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42" name="Group 47"/>
              <p:cNvGrpSpPr>
                <a:grpSpLocks noChangeAspect="1"/>
              </p:cNvGrpSpPr>
              <p:nvPr/>
            </p:nvGrpSpPr>
            <p:grpSpPr bwMode="auto">
              <a:xfrm>
                <a:off x="783" y="618"/>
                <a:ext cx="11" cy="136"/>
                <a:chOff x="1434" y="1286"/>
                <a:chExt cx="56" cy="679"/>
              </a:xfrm>
            </p:grpSpPr>
            <p:sp>
              <p:nvSpPr>
                <p:cNvPr id="147352" name="Freeform 48"/>
                <p:cNvSpPr>
                  <a:spLocks noChangeAspect="1"/>
                </p:cNvSpPr>
                <p:nvPr/>
              </p:nvSpPr>
              <p:spPr bwMode="auto">
                <a:xfrm>
                  <a:off x="1459" y="1459"/>
                  <a:ext cx="1" cy="506"/>
                </a:xfrm>
                <a:custGeom>
                  <a:avLst/>
                  <a:gdLst>
                    <a:gd name="T0" fmla="*/ 0 w 1"/>
                    <a:gd name="T1" fmla="*/ 0 h 506"/>
                    <a:gd name="T2" fmla="*/ 0 w 1"/>
                    <a:gd name="T3" fmla="*/ 506 h 506"/>
                    <a:gd name="T4" fmla="*/ 0 60000 65536"/>
                    <a:gd name="T5" fmla="*/ 0 60000 65536"/>
                    <a:gd name="T6" fmla="*/ 0 w 1"/>
                    <a:gd name="T7" fmla="*/ 0 h 506"/>
                    <a:gd name="T8" fmla="*/ 1 w 1"/>
                    <a:gd name="T9" fmla="*/ 506 h 506"/>
                  </a:gdLst>
                  <a:ahLst/>
                  <a:cxnLst>
                    <a:cxn ang="T4">
                      <a:pos x="T0" y="T1"/>
                    </a:cxn>
                    <a:cxn ang="T5">
                      <a:pos x="T2" y="T3"/>
                    </a:cxn>
                  </a:cxnLst>
                  <a:rect l="T6" t="T7" r="T8" b="T9"/>
                  <a:pathLst>
                    <a:path w="1" h="506">
                      <a:moveTo>
                        <a:pt x="0" y="0"/>
                      </a:moveTo>
                      <a:cubicBezTo>
                        <a:pt x="0" y="211"/>
                        <a:pt x="0" y="422"/>
                        <a:pt x="0" y="50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53" name="Oval 49"/>
                <p:cNvSpPr>
                  <a:spLocks noChangeAspect="1" noChangeArrowheads="1"/>
                </p:cNvSpPr>
                <p:nvPr/>
              </p:nvSpPr>
              <p:spPr bwMode="auto">
                <a:xfrm>
                  <a:off x="1434" y="1286"/>
                  <a:ext cx="56" cy="56"/>
                </a:xfrm>
                <a:prstGeom prst="ellipse">
                  <a:avLst/>
                </a:prstGeom>
                <a:solidFill>
                  <a:schemeClr val="tx1"/>
                </a:solidFill>
                <a:ln w="6350">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343" name="Line 50"/>
              <p:cNvSpPr>
                <a:spLocks noChangeAspect="1" noChangeShapeType="1"/>
              </p:cNvSpPr>
              <p:nvPr/>
            </p:nvSpPr>
            <p:spPr bwMode="auto">
              <a:xfrm>
                <a:off x="848" y="618"/>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344" name="Line 51"/>
              <p:cNvSpPr>
                <a:spLocks noChangeAspect="1" noChangeShapeType="1"/>
              </p:cNvSpPr>
              <p:nvPr/>
            </p:nvSpPr>
            <p:spPr bwMode="auto">
              <a:xfrm>
                <a:off x="903" y="618"/>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345" name="Freeform 52"/>
              <p:cNvSpPr>
                <a:spLocks noChangeAspect="1"/>
              </p:cNvSpPr>
              <p:nvPr/>
            </p:nvSpPr>
            <p:spPr bwMode="auto">
              <a:xfrm>
                <a:off x="958" y="654"/>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46" name="Group 53"/>
              <p:cNvGrpSpPr>
                <a:grpSpLocks noChangeAspect="1"/>
              </p:cNvGrpSpPr>
              <p:nvPr/>
            </p:nvGrpSpPr>
            <p:grpSpPr bwMode="auto">
              <a:xfrm>
                <a:off x="1089" y="651"/>
                <a:ext cx="46" cy="103"/>
                <a:chOff x="2808" y="1818"/>
                <a:chExt cx="228" cy="516"/>
              </a:xfrm>
            </p:grpSpPr>
            <p:sp>
              <p:nvSpPr>
                <p:cNvPr id="147350" name="Freeform 54"/>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51" name="Freeform 55"/>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7347" name="Group 56"/>
              <p:cNvGrpSpPr>
                <a:grpSpLocks noChangeAspect="1"/>
              </p:cNvGrpSpPr>
              <p:nvPr/>
            </p:nvGrpSpPr>
            <p:grpSpPr bwMode="auto">
              <a:xfrm>
                <a:off x="1171" y="652"/>
                <a:ext cx="75" cy="136"/>
                <a:chOff x="2778" y="1746"/>
                <a:chExt cx="384" cy="701"/>
              </a:xfrm>
            </p:grpSpPr>
            <p:sp>
              <p:nvSpPr>
                <p:cNvPr id="147348" name="Freeform 57"/>
                <p:cNvSpPr>
                  <a:spLocks noChangeAspect="1"/>
                </p:cNvSpPr>
                <p:nvPr/>
              </p:nvSpPr>
              <p:spPr bwMode="auto">
                <a:xfrm>
                  <a:off x="2778" y="1746"/>
                  <a:ext cx="384" cy="701"/>
                </a:xfrm>
                <a:custGeom>
                  <a:avLst/>
                  <a:gdLst>
                    <a:gd name="T0" fmla="*/ 384 w 384"/>
                    <a:gd name="T1" fmla="*/ 0 h 701"/>
                    <a:gd name="T2" fmla="*/ 168 w 384"/>
                    <a:gd name="T3" fmla="*/ 594 h 701"/>
                    <a:gd name="T4" fmla="*/ 0 w 384"/>
                    <a:gd name="T5" fmla="*/ 642 h 701"/>
                    <a:gd name="T6" fmla="*/ 0 60000 65536"/>
                    <a:gd name="T7" fmla="*/ 0 60000 65536"/>
                    <a:gd name="T8" fmla="*/ 0 60000 65536"/>
                    <a:gd name="T9" fmla="*/ 0 w 384"/>
                    <a:gd name="T10" fmla="*/ 0 h 701"/>
                    <a:gd name="T11" fmla="*/ 384 w 384"/>
                    <a:gd name="T12" fmla="*/ 701 h 701"/>
                  </a:gdLst>
                  <a:ahLst/>
                  <a:cxnLst>
                    <a:cxn ang="T6">
                      <a:pos x="T0" y="T1"/>
                    </a:cxn>
                    <a:cxn ang="T7">
                      <a:pos x="T2" y="T3"/>
                    </a:cxn>
                    <a:cxn ang="T8">
                      <a:pos x="T4" y="T5"/>
                    </a:cxn>
                  </a:cxnLst>
                  <a:rect l="T9" t="T10" r="T11" b="T12"/>
                  <a:pathLst>
                    <a:path w="384" h="701">
                      <a:moveTo>
                        <a:pt x="384" y="0"/>
                      </a:moveTo>
                      <a:cubicBezTo>
                        <a:pt x="308" y="243"/>
                        <a:pt x="232" y="487"/>
                        <a:pt x="168" y="594"/>
                      </a:cubicBezTo>
                      <a:cubicBezTo>
                        <a:pt x="104" y="701"/>
                        <a:pt x="52" y="671"/>
                        <a:pt x="0"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49" name="Freeform 58"/>
                <p:cNvSpPr>
                  <a:spLocks noChangeAspect="1"/>
                </p:cNvSpPr>
                <p:nvPr/>
              </p:nvSpPr>
              <p:spPr bwMode="auto">
                <a:xfrm>
                  <a:off x="2802" y="1752"/>
                  <a:ext cx="180" cy="504"/>
                </a:xfrm>
                <a:custGeom>
                  <a:avLst/>
                  <a:gdLst>
                    <a:gd name="T0" fmla="*/ 0 w 180"/>
                    <a:gd name="T1" fmla="*/ 0 h 504"/>
                    <a:gd name="T2" fmla="*/ 180 w 180"/>
                    <a:gd name="T3" fmla="*/ 504 h 504"/>
                    <a:gd name="T4" fmla="*/ 0 60000 65536"/>
                    <a:gd name="T5" fmla="*/ 0 60000 65536"/>
                    <a:gd name="T6" fmla="*/ 0 w 180"/>
                    <a:gd name="T7" fmla="*/ 0 h 504"/>
                    <a:gd name="T8" fmla="*/ 180 w 180"/>
                    <a:gd name="T9" fmla="*/ 504 h 504"/>
                  </a:gdLst>
                  <a:ahLst/>
                  <a:cxnLst>
                    <a:cxn ang="T4">
                      <a:pos x="T0" y="T1"/>
                    </a:cxn>
                    <a:cxn ang="T5">
                      <a:pos x="T2" y="T3"/>
                    </a:cxn>
                  </a:cxnLst>
                  <a:rect l="T6" t="T7" r="T8" b="T9"/>
                  <a:pathLst>
                    <a:path w="180" h="504">
                      <a:moveTo>
                        <a:pt x="0" y="0"/>
                      </a:moveTo>
                      <a:cubicBezTo>
                        <a:pt x="0" y="0"/>
                        <a:pt x="90" y="252"/>
                        <a:pt x="180" y="50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7218" name="Group 59"/>
            <p:cNvGrpSpPr>
              <a:grpSpLocks noChangeAspect="1"/>
            </p:cNvGrpSpPr>
            <p:nvPr/>
          </p:nvGrpSpPr>
          <p:grpSpPr bwMode="auto">
            <a:xfrm>
              <a:off x="2089" y="1426"/>
              <a:ext cx="118" cy="34"/>
              <a:chOff x="1491" y="621"/>
              <a:chExt cx="481" cy="141"/>
            </a:xfrm>
          </p:grpSpPr>
          <p:grpSp>
            <p:nvGrpSpPr>
              <p:cNvPr id="147330" name="Group 60"/>
              <p:cNvGrpSpPr>
                <a:grpSpLocks noChangeAspect="1"/>
              </p:cNvGrpSpPr>
              <p:nvPr/>
            </p:nvGrpSpPr>
            <p:grpSpPr bwMode="auto">
              <a:xfrm>
                <a:off x="1491" y="621"/>
                <a:ext cx="58" cy="141"/>
                <a:chOff x="4422" y="1823"/>
                <a:chExt cx="291" cy="705"/>
              </a:xfrm>
            </p:grpSpPr>
            <p:sp>
              <p:nvSpPr>
                <p:cNvPr id="147337" name="Freeform 61"/>
                <p:cNvSpPr>
                  <a:spLocks noChangeAspect="1"/>
                </p:cNvSpPr>
                <p:nvPr/>
              </p:nvSpPr>
              <p:spPr bwMode="auto">
                <a:xfrm>
                  <a:off x="4525" y="1823"/>
                  <a:ext cx="188" cy="705"/>
                </a:xfrm>
                <a:custGeom>
                  <a:avLst/>
                  <a:gdLst>
                    <a:gd name="T0" fmla="*/ 19 w 188"/>
                    <a:gd name="T1" fmla="*/ 705 h 705"/>
                    <a:gd name="T2" fmla="*/ 28 w 188"/>
                    <a:gd name="T3" fmla="*/ 111 h 705"/>
                    <a:gd name="T4" fmla="*/ 188 w 188"/>
                    <a:gd name="T5" fmla="*/ 42 h 705"/>
                    <a:gd name="T6" fmla="*/ 0 60000 65536"/>
                    <a:gd name="T7" fmla="*/ 0 60000 65536"/>
                    <a:gd name="T8" fmla="*/ 0 60000 65536"/>
                    <a:gd name="T9" fmla="*/ 0 w 188"/>
                    <a:gd name="T10" fmla="*/ 0 h 705"/>
                    <a:gd name="T11" fmla="*/ 188 w 188"/>
                    <a:gd name="T12" fmla="*/ 705 h 705"/>
                  </a:gdLst>
                  <a:ahLst/>
                  <a:cxnLst>
                    <a:cxn ang="T6">
                      <a:pos x="T0" y="T1"/>
                    </a:cxn>
                    <a:cxn ang="T7">
                      <a:pos x="T2" y="T3"/>
                    </a:cxn>
                    <a:cxn ang="T8">
                      <a:pos x="T4" y="T5"/>
                    </a:cxn>
                  </a:cxnLst>
                  <a:rect l="T9" t="T10" r="T11" b="T12"/>
                  <a:pathLst>
                    <a:path w="188" h="705">
                      <a:moveTo>
                        <a:pt x="19" y="705"/>
                      </a:moveTo>
                      <a:cubicBezTo>
                        <a:pt x="20" y="606"/>
                        <a:pt x="0" y="222"/>
                        <a:pt x="28" y="111"/>
                      </a:cubicBezTo>
                      <a:cubicBezTo>
                        <a:pt x="56" y="0"/>
                        <a:pt x="155" y="56"/>
                        <a:pt x="188" y="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38" name="Line 62"/>
                <p:cNvSpPr>
                  <a:spLocks noChangeAspect="1" noChangeShapeType="1"/>
                </p:cNvSpPr>
                <p:nvPr/>
              </p:nvSpPr>
              <p:spPr bwMode="auto">
                <a:xfrm>
                  <a:off x="4422" y="2047"/>
                  <a:ext cx="250"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331" name="Freeform 63"/>
              <p:cNvSpPr>
                <a:spLocks noChangeAspect="1"/>
              </p:cNvSpPr>
              <p:nvPr/>
            </p:nvSpPr>
            <p:spPr bwMode="auto">
              <a:xfrm>
                <a:off x="1572" y="669"/>
                <a:ext cx="81" cy="93"/>
              </a:xfrm>
              <a:custGeom>
                <a:avLst/>
                <a:gdLst>
                  <a:gd name="T0" fmla="*/ 0 w 402"/>
                  <a:gd name="T1" fmla="*/ 0 h 464"/>
                  <a:gd name="T2" fmla="*/ 0 w 402"/>
                  <a:gd name="T3" fmla="*/ 0 h 464"/>
                  <a:gd name="T4" fmla="*/ 0 w 402"/>
                  <a:gd name="T5" fmla="*/ 0 h 464"/>
                  <a:gd name="T6" fmla="*/ 0 w 402"/>
                  <a:gd name="T7" fmla="*/ 0 h 464"/>
                  <a:gd name="T8" fmla="*/ 0 w 402"/>
                  <a:gd name="T9" fmla="*/ 1 h 464"/>
                  <a:gd name="T10" fmla="*/ 0 w 402"/>
                  <a:gd name="T11" fmla="*/ 1 h 464"/>
                  <a:gd name="T12" fmla="*/ 0 w 402"/>
                  <a:gd name="T13" fmla="*/ 1 h 464"/>
                  <a:gd name="T14" fmla="*/ 1 w 402"/>
                  <a:gd name="T15" fmla="*/ 0 h 464"/>
                  <a:gd name="T16" fmla="*/ 1 w 402"/>
                  <a:gd name="T17" fmla="*/ 0 h 464"/>
                  <a:gd name="T18" fmla="*/ 1 w 402"/>
                  <a:gd name="T19" fmla="*/ 0 h 464"/>
                  <a:gd name="T20" fmla="*/ 0 w 402"/>
                  <a:gd name="T21" fmla="*/ 0 h 4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2"/>
                  <a:gd name="T34" fmla="*/ 0 h 464"/>
                  <a:gd name="T35" fmla="*/ 402 w 402"/>
                  <a:gd name="T36" fmla="*/ 464 h 4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2" h="464">
                    <a:moveTo>
                      <a:pt x="192" y="0"/>
                    </a:moveTo>
                    <a:cubicBezTo>
                      <a:pt x="176" y="4"/>
                      <a:pt x="120" y="2"/>
                      <a:pt x="90" y="26"/>
                    </a:cubicBezTo>
                    <a:cubicBezTo>
                      <a:pt x="60" y="50"/>
                      <a:pt x="26" y="101"/>
                      <a:pt x="13" y="147"/>
                    </a:cubicBezTo>
                    <a:cubicBezTo>
                      <a:pt x="0" y="193"/>
                      <a:pt x="3" y="258"/>
                      <a:pt x="13" y="301"/>
                    </a:cubicBezTo>
                    <a:cubicBezTo>
                      <a:pt x="23" y="344"/>
                      <a:pt x="44" y="377"/>
                      <a:pt x="71" y="403"/>
                    </a:cubicBezTo>
                    <a:cubicBezTo>
                      <a:pt x="98" y="429"/>
                      <a:pt x="140" y="458"/>
                      <a:pt x="179" y="461"/>
                    </a:cubicBezTo>
                    <a:cubicBezTo>
                      <a:pt x="218" y="464"/>
                      <a:pt x="273" y="448"/>
                      <a:pt x="307" y="422"/>
                    </a:cubicBezTo>
                    <a:cubicBezTo>
                      <a:pt x="341" y="396"/>
                      <a:pt x="370" y="351"/>
                      <a:pt x="384" y="307"/>
                    </a:cubicBezTo>
                    <a:cubicBezTo>
                      <a:pt x="398" y="263"/>
                      <a:pt x="402" y="205"/>
                      <a:pt x="391" y="160"/>
                    </a:cubicBezTo>
                    <a:cubicBezTo>
                      <a:pt x="380" y="115"/>
                      <a:pt x="352" y="65"/>
                      <a:pt x="320" y="38"/>
                    </a:cubicBezTo>
                    <a:cubicBezTo>
                      <a:pt x="288" y="11"/>
                      <a:pt x="224" y="8"/>
                      <a:pt x="199"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32" name="Group 64"/>
              <p:cNvGrpSpPr>
                <a:grpSpLocks noChangeAspect="1"/>
              </p:cNvGrpSpPr>
              <p:nvPr/>
            </p:nvGrpSpPr>
            <p:grpSpPr bwMode="auto">
              <a:xfrm>
                <a:off x="1695" y="659"/>
                <a:ext cx="46" cy="103"/>
                <a:chOff x="2808" y="1818"/>
                <a:chExt cx="228" cy="516"/>
              </a:xfrm>
            </p:grpSpPr>
            <p:sp>
              <p:nvSpPr>
                <p:cNvPr id="147335" name="Freeform 65"/>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36" name="Freeform 66"/>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333" name="Freeform 67"/>
              <p:cNvSpPr>
                <a:spLocks noChangeAspect="1"/>
              </p:cNvSpPr>
              <p:nvPr/>
            </p:nvSpPr>
            <p:spPr bwMode="auto">
              <a:xfrm>
                <a:off x="1782" y="665"/>
                <a:ext cx="74" cy="97"/>
              </a:xfrm>
              <a:custGeom>
                <a:avLst/>
                <a:gdLst>
                  <a:gd name="T0" fmla="*/ 1 w 372"/>
                  <a:gd name="T1" fmla="*/ 1 h 487"/>
                  <a:gd name="T2" fmla="*/ 1 w 372"/>
                  <a:gd name="T3" fmla="*/ 1 h 487"/>
                  <a:gd name="T4" fmla="*/ 0 w 372"/>
                  <a:gd name="T5" fmla="*/ 1 h 487"/>
                  <a:gd name="T6" fmla="*/ 0 w 372"/>
                  <a:gd name="T7" fmla="*/ 1 h 487"/>
                  <a:gd name="T8" fmla="*/ 0 w 372"/>
                  <a:gd name="T9" fmla="*/ 1 h 487"/>
                  <a:gd name="T10" fmla="*/ 0 w 372"/>
                  <a:gd name="T11" fmla="*/ 0 h 487"/>
                  <a:gd name="T12" fmla="*/ 0 w 372"/>
                  <a:gd name="T13" fmla="*/ 0 h 487"/>
                  <a:gd name="T14" fmla="*/ 0 w 372"/>
                  <a:gd name="T15" fmla="*/ 0 h 487"/>
                  <a:gd name="T16" fmla="*/ 0 w 372"/>
                  <a:gd name="T17" fmla="*/ 0 h 487"/>
                  <a:gd name="T18" fmla="*/ 1 w 372"/>
                  <a:gd name="T19" fmla="*/ 0 h 487"/>
                  <a:gd name="T20" fmla="*/ 1 w 372"/>
                  <a:gd name="T21" fmla="*/ 0 h 48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2"/>
                  <a:gd name="T34" fmla="*/ 0 h 487"/>
                  <a:gd name="T35" fmla="*/ 372 w 372"/>
                  <a:gd name="T36" fmla="*/ 487 h 48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2" h="487">
                    <a:moveTo>
                      <a:pt x="372" y="316"/>
                    </a:moveTo>
                    <a:cubicBezTo>
                      <a:pt x="365" y="332"/>
                      <a:pt x="357" y="388"/>
                      <a:pt x="337" y="414"/>
                    </a:cubicBezTo>
                    <a:cubicBezTo>
                      <a:pt x="317" y="440"/>
                      <a:pt x="284" y="463"/>
                      <a:pt x="252" y="473"/>
                    </a:cubicBezTo>
                    <a:cubicBezTo>
                      <a:pt x="220" y="483"/>
                      <a:pt x="180" y="487"/>
                      <a:pt x="147" y="477"/>
                    </a:cubicBezTo>
                    <a:cubicBezTo>
                      <a:pt x="114" y="467"/>
                      <a:pt x="75" y="443"/>
                      <a:pt x="52" y="412"/>
                    </a:cubicBezTo>
                    <a:cubicBezTo>
                      <a:pt x="29" y="381"/>
                      <a:pt x="12" y="340"/>
                      <a:pt x="6" y="294"/>
                    </a:cubicBezTo>
                    <a:cubicBezTo>
                      <a:pt x="0" y="248"/>
                      <a:pt x="1" y="181"/>
                      <a:pt x="15" y="138"/>
                    </a:cubicBezTo>
                    <a:cubicBezTo>
                      <a:pt x="29" y="95"/>
                      <a:pt x="60" y="57"/>
                      <a:pt x="92" y="34"/>
                    </a:cubicBezTo>
                    <a:cubicBezTo>
                      <a:pt x="124" y="11"/>
                      <a:pt x="169" y="0"/>
                      <a:pt x="206" y="2"/>
                    </a:cubicBezTo>
                    <a:cubicBezTo>
                      <a:pt x="243" y="4"/>
                      <a:pt x="290" y="26"/>
                      <a:pt x="316" y="48"/>
                    </a:cubicBezTo>
                    <a:cubicBezTo>
                      <a:pt x="342" y="70"/>
                      <a:pt x="353" y="116"/>
                      <a:pt x="362" y="13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34" name="Freeform 68"/>
              <p:cNvSpPr>
                <a:spLocks noChangeAspect="1"/>
              </p:cNvSpPr>
              <p:nvPr/>
            </p:nvSpPr>
            <p:spPr bwMode="auto">
              <a:xfrm>
                <a:off x="1898" y="669"/>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7219" name="Group 69"/>
            <p:cNvGrpSpPr>
              <a:grpSpLocks noChangeAspect="1"/>
            </p:cNvGrpSpPr>
            <p:nvPr/>
          </p:nvGrpSpPr>
          <p:grpSpPr bwMode="auto">
            <a:xfrm>
              <a:off x="2411" y="1591"/>
              <a:ext cx="93" cy="34"/>
              <a:chOff x="1492" y="1562"/>
              <a:chExt cx="185" cy="68"/>
            </a:xfrm>
          </p:grpSpPr>
          <p:sp>
            <p:nvSpPr>
              <p:cNvPr id="147325" name="Freeform 70"/>
              <p:cNvSpPr>
                <a:spLocks noChangeAspect="1"/>
              </p:cNvSpPr>
              <p:nvPr/>
            </p:nvSpPr>
            <p:spPr bwMode="auto">
              <a:xfrm>
                <a:off x="1492" y="1565"/>
                <a:ext cx="57" cy="65"/>
              </a:xfrm>
              <a:custGeom>
                <a:avLst/>
                <a:gdLst>
                  <a:gd name="T0" fmla="*/ 0 w 562"/>
                  <a:gd name="T1" fmla="*/ 0 h 641"/>
                  <a:gd name="T2" fmla="*/ 0 w 562"/>
                  <a:gd name="T3" fmla="*/ 0 h 641"/>
                  <a:gd name="T4" fmla="*/ 0 w 562"/>
                  <a:gd name="T5" fmla="*/ 0 h 641"/>
                  <a:gd name="T6" fmla="*/ 0 w 562"/>
                  <a:gd name="T7" fmla="*/ 0 h 641"/>
                  <a:gd name="T8" fmla="*/ 0 w 562"/>
                  <a:gd name="T9" fmla="*/ 0 h 641"/>
                  <a:gd name="T10" fmla="*/ 0 w 562"/>
                  <a:gd name="T11" fmla="*/ 0 h 641"/>
                  <a:gd name="T12" fmla="*/ 0 w 562"/>
                  <a:gd name="T13" fmla="*/ 0 h 641"/>
                  <a:gd name="T14" fmla="*/ 0 w 562"/>
                  <a:gd name="T15" fmla="*/ 0 h 641"/>
                  <a:gd name="T16" fmla="*/ 0 w 562"/>
                  <a:gd name="T17" fmla="*/ 0 h 641"/>
                  <a:gd name="T18" fmla="*/ 0 w 562"/>
                  <a:gd name="T19" fmla="*/ 0 h 641"/>
                  <a:gd name="T20" fmla="*/ 0 w 562"/>
                  <a:gd name="T21" fmla="*/ 0 h 6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641"/>
                  <a:gd name="T35" fmla="*/ 562 w 562"/>
                  <a:gd name="T36" fmla="*/ 641 h 6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641">
                    <a:moveTo>
                      <a:pt x="550" y="166"/>
                    </a:moveTo>
                    <a:cubicBezTo>
                      <a:pt x="538" y="147"/>
                      <a:pt x="519" y="79"/>
                      <a:pt x="478" y="52"/>
                    </a:cubicBezTo>
                    <a:cubicBezTo>
                      <a:pt x="437" y="25"/>
                      <a:pt x="367" y="0"/>
                      <a:pt x="304" y="4"/>
                    </a:cubicBezTo>
                    <a:cubicBezTo>
                      <a:pt x="241" y="8"/>
                      <a:pt x="149" y="28"/>
                      <a:pt x="100" y="76"/>
                    </a:cubicBezTo>
                    <a:cubicBezTo>
                      <a:pt x="51" y="124"/>
                      <a:pt x="20" y="222"/>
                      <a:pt x="10" y="292"/>
                    </a:cubicBezTo>
                    <a:cubicBezTo>
                      <a:pt x="0" y="362"/>
                      <a:pt x="10" y="442"/>
                      <a:pt x="40" y="496"/>
                    </a:cubicBezTo>
                    <a:cubicBezTo>
                      <a:pt x="70" y="550"/>
                      <a:pt x="126" y="594"/>
                      <a:pt x="190" y="616"/>
                    </a:cubicBezTo>
                    <a:cubicBezTo>
                      <a:pt x="254" y="638"/>
                      <a:pt x="362" y="641"/>
                      <a:pt x="424" y="628"/>
                    </a:cubicBezTo>
                    <a:cubicBezTo>
                      <a:pt x="486" y="615"/>
                      <a:pt x="540" y="584"/>
                      <a:pt x="562" y="538"/>
                    </a:cubicBezTo>
                    <a:lnTo>
                      <a:pt x="556" y="352"/>
                    </a:lnTo>
                    <a:lnTo>
                      <a:pt x="322" y="35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26" name="Group 71"/>
              <p:cNvGrpSpPr>
                <a:grpSpLocks noChangeAspect="1"/>
              </p:cNvGrpSpPr>
              <p:nvPr/>
            </p:nvGrpSpPr>
            <p:grpSpPr bwMode="auto">
              <a:xfrm>
                <a:off x="1568" y="1565"/>
                <a:ext cx="45" cy="65"/>
                <a:chOff x="3017" y="1343"/>
                <a:chExt cx="420" cy="612"/>
              </a:xfrm>
            </p:grpSpPr>
            <p:sp>
              <p:nvSpPr>
                <p:cNvPr id="147328" name="Freeform 72"/>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29" name="Line 73"/>
                <p:cNvSpPr>
                  <a:spLocks noChangeAspect="1" noChangeShapeType="1"/>
                </p:cNvSpPr>
                <p:nvPr/>
              </p:nvSpPr>
              <p:spPr bwMode="auto">
                <a:xfrm>
                  <a:off x="3017" y="1637"/>
                  <a:ext cx="378"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327" name="Freeform 74"/>
              <p:cNvSpPr>
                <a:spLocks noChangeAspect="1"/>
              </p:cNvSpPr>
              <p:nvPr/>
            </p:nvSpPr>
            <p:spPr bwMode="auto">
              <a:xfrm>
                <a:off x="1633" y="1562"/>
                <a:ext cx="44" cy="68"/>
              </a:xfrm>
              <a:custGeom>
                <a:avLst/>
                <a:gdLst>
                  <a:gd name="T0" fmla="*/ 0 w 420"/>
                  <a:gd name="T1" fmla="*/ 0 h 654"/>
                  <a:gd name="T2" fmla="*/ 0 w 420"/>
                  <a:gd name="T3" fmla="*/ 0 h 654"/>
                  <a:gd name="T4" fmla="*/ 0 w 420"/>
                  <a:gd name="T5" fmla="*/ 0 h 654"/>
                  <a:gd name="T6" fmla="*/ 0 60000 65536"/>
                  <a:gd name="T7" fmla="*/ 0 60000 65536"/>
                  <a:gd name="T8" fmla="*/ 0 60000 65536"/>
                  <a:gd name="T9" fmla="*/ 0 w 420"/>
                  <a:gd name="T10" fmla="*/ 0 h 654"/>
                  <a:gd name="T11" fmla="*/ 420 w 420"/>
                  <a:gd name="T12" fmla="*/ 654 h 654"/>
                </a:gdLst>
                <a:ahLst/>
                <a:cxnLst>
                  <a:cxn ang="T6">
                    <a:pos x="T0" y="T1"/>
                  </a:cxn>
                  <a:cxn ang="T7">
                    <a:pos x="T2" y="T3"/>
                  </a:cxn>
                  <a:cxn ang="T8">
                    <a:pos x="T4" y="T5"/>
                  </a:cxn>
                </a:cxnLst>
                <a:rect l="T9" t="T10" r="T11" b="T12"/>
                <a:pathLst>
                  <a:path w="420" h="654">
                    <a:moveTo>
                      <a:pt x="0" y="0"/>
                    </a:moveTo>
                    <a:lnTo>
                      <a:pt x="0" y="654"/>
                    </a:lnTo>
                    <a:lnTo>
                      <a:pt x="420" y="65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20" name="Line 75"/>
            <p:cNvSpPr>
              <a:spLocks noChangeAspect="1" noChangeShapeType="1"/>
            </p:cNvSpPr>
            <p:nvPr/>
          </p:nvSpPr>
          <p:spPr bwMode="auto">
            <a:xfrm>
              <a:off x="2370" y="1448"/>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1" name="Line 76"/>
            <p:cNvSpPr>
              <a:spLocks noChangeAspect="1" noChangeShapeType="1"/>
            </p:cNvSpPr>
            <p:nvPr/>
          </p:nvSpPr>
          <p:spPr bwMode="auto">
            <a:xfrm>
              <a:off x="2370" y="1264"/>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2" name="Line 77"/>
            <p:cNvSpPr>
              <a:spLocks noChangeAspect="1" noChangeShapeType="1"/>
            </p:cNvSpPr>
            <p:nvPr/>
          </p:nvSpPr>
          <p:spPr bwMode="auto">
            <a:xfrm>
              <a:off x="2370" y="1295"/>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3" name="Line 78"/>
            <p:cNvSpPr>
              <a:spLocks noChangeAspect="1" noChangeShapeType="1"/>
            </p:cNvSpPr>
            <p:nvPr/>
          </p:nvSpPr>
          <p:spPr bwMode="auto">
            <a:xfrm>
              <a:off x="2370" y="1356"/>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4" name="Line 79"/>
            <p:cNvSpPr>
              <a:spLocks noChangeAspect="1" noChangeShapeType="1"/>
            </p:cNvSpPr>
            <p:nvPr/>
          </p:nvSpPr>
          <p:spPr bwMode="auto">
            <a:xfrm>
              <a:off x="2370" y="1417"/>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5" name="Line 80"/>
            <p:cNvSpPr>
              <a:spLocks noChangeAspect="1" noChangeShapeType="1"/>
            </p:cNvSpPr>
            <p:nvPr/>
          </p:nvSpPr>
          <p:spPr bwMode="auto">
            <a:xfrm>
              <a:off x="2370" y="1310"/>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6" name="Line 81"/>
            <p:cNvSpPr>
              <a:spLocks noChangeAspect="1" noChangeShapeType="1"/>
            </p:cNvSpPr>
            <p:nvPr/>
          </p:nvSpPr>
          <p:spPr bwMode="auto">
            <a:xfrm>
              <a:off x="2370" y="1371"/>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7" name="Line 82"/>
            <p:cNvSpPr>
              <a:spLocks noChangeAspect="1" noChangeShapeType="1"/>
            </p:cNvSpPr>
            <p:nvPr/>
          </p:nvSpPr>
          <p:spPr bwMode="auto">
            <a:xfrm>
              <a:off x="2370" y="1433"/>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8" name="Line 83"/>
            <p:cNvSpPr>
              <a:spLocks noChangeAspect="1" noChangeShapeType="1"/>
            </p:cNvSpPr>
            <p:nvPr/>
          </p:nvSpPr>
          <p:spPr bwMode="auto">
            <a:xfrm>
              <a:off x="2370" y="1402"/>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9" name="Line 84"/>
            <p:cNvSpPr>
              <a:spLocks noChangeAspect="1" noChangeShapeType="1"/>
            </p:cNvSpPr>
            <p:nvPr/>
          </p:nvSpPr>
          <p:spPr bwMode="auto">
            <a:xfrm>
              <a:off x="2370" y="1279"/>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30" name="Line 85"/>
            <p:cNvSpPr>
              <a:spLocks noChangeAspect="1" noChangeShapeType="1"/>
            </p:cNvSpPr>
            <p:nvPr/>
          </p:nvSpPr>
          <p:spPr bwMode="auto">
            <a:xfrm>
              <a:off x="2370" y="1325"/>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31" name="Line 86"/>
            <p:cNvSpPr>
              <a:spLocks noChangeAspect="1" noChangeShapeType="1"/>
            </p:cNvSpPr>
            <p:nvPr/>
          </p:nvSpPr>
          <p:spPr bwMode="auto">
            <a:xfrm>
              <a:off x="2370" y="1386"/>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32" name="Line 87"/>
            <p:cNvSpPr>
              <a:spLocks noChangeAspect="1" noChangeShapeType="1"/>
            </p:cNvSpPr>
            <p:nvPr/>
          </p:nvSpPr>
          <p:spPr bwMode="auto">
            <a:xfrm>
              <a:off x="2370" y="1340"/>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33" name="AutoShape 88"/>
            <p:cNvSpPr>
              <a:spLocks noChangeAspect="1"/>
            </p:cNvSpPr>
            <p:nvPr/>
          </p:nvSpPr>
          <p:spPr bwMode="auto">
            <a:xfrm>
              <a:off x="3276" y="1265"/>
              <a:ext cx="28" cy="183"/>
            </a:xfrm>
            <a:prstGeom prst="rightBracket">
              <a:avLst>
                <a:gd name="adj" fmla="val 54464"/>
              </a:avLst>
            </a:pr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234" name="AutoShape 89"/>
            <p:cNvSpPr>
              <a:spLocks noChangeAspect="1"/>
            </p:cNvSpPr>
            <p:nvPr/>
          </p:nvSpPr>
          <p:spPr bwMode="auto">
            <a:xfrm>
              <a:off x="3278" y="1460"/>
              <a:ext cx="28" cy="57"/>
            </a:xfrm>
            <a:prstGeom prst="rightBracket">
              <a:avLst>
                <a:gd name="adj" fmla="val 16964"/>
              </a:avLst>
            </a:pr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235" name="Line 90"/>
            <p:cNvSpPr>
              <a:spLocks noChangeAspect="1" noChangeShapeType="1"/>
            </p:cNvSpPr>
            <p:nvPr/>
          </p:nvSpPr>
          <p:spPr bwMode="auto">
            <a:xfrm flipH="1" flipV="1">
              <a:off x="3280" y="1545"/>
              <a:ext cx="90" cy="93"/>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7236" name="Group 91"/>
            <p:cNvGrpSpPr>
              <a:grpSpLocks noChangeAspect="1"/>
            </p:cNvGrpSpPr>
            <p:nvPr/>
          </p:nvGrpSpPr>
          <p:grpSpPr bwMode="auto">
            <a:xfrm>
              <a:off x="2106" y="1599"/>
              <a:ext cx="133" cy="34"/>
              <a:chOff x="1387" y="2767"/>
              <a:chExt cx="530" cy="136"/>
            </a:xfrm>
          </p:grpSpPr>
          <p:grpSp>
            <p:nvGrpSpPr>
              <p:cNvPr id="147311" name="Group 92"/>
              <p:cNvGrpSpPr>
                <a:grpSpLocks noChangeAspect="1"/>
              </p:cNvGrpSpPr>
              <p:nvPr/>
            </p:nvGrpSpPr>
            <p:grpSpPr bwMode="auto">
              <a:xfrm>
                <a:off x="1387" y="2776"/>
                <a:ext cx="80" cy="127"/>
                <a:chOff x="3653" y="1343"/>
                <a:chExt cx="384" cy="612"/>
              </a:xfrm>
            </p:grpSpPr>
            <p:sp>
              <p:nvSpPr>
                <p:cNvPr id="147323" name="Freeform 93"/>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24" name="Line 94"/>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312" name="Group 95"/>
              <p:cNvGrpSpPr>
                <a:grpSpLocks noChangeAspect="1"/>
              </p:cNvGrpSpPr>
              <p:nvPr/>
            </p:nvGrpSpPr>
            <p:grpSpPr bwMode="auto">
              <a:xfrm>
                <a:off x="1518" y="2767"/>
                <a:ext cx="11" cy="136"/>
                <a:chOff x="1434" y="1286"/>
                <a:chExt cx="56" cy="679"/>
              </a:xfrm>
            </p:grpSpPr>
            <p:sp>
              <p:nvSpPr>
                <p:cNvPr id="147321" name="Freeform 96"/>
                <p:cNvSpPr>
                  <a:spLocks noChangeAspect="1"/>
                </p:cNvSpPr>
                <p:nvPr/>
              </p:nvSpPr>
              <p:spPr bwMode="auto">
                <a:xfrm>
                  <a:off x="1459" y="1459"/>
                  <a:ext cx="1" cy="506"/>
                </a:xfrm>
                <a:custGeom>
                  <a:avLst/>
                  <a:gdLst>
                    <a:gd name="T0" fmla="*/ 0 w 1"/>
                    <a:gd name="T1" fmla="*/ 0 h 506"/>
                    <a:gd name="T2" fmla="*/ 0 w 1"/>
                    <a:gd name="T3" fmla="*/ 506 h 506"/>
                    <a:gd name="T4" fmla="*/ 0 60000 65536"/>
                    <a:gd name="T5" fmla="*/ 0 60000 65536"/>
                    <a:gd name="T6" fmla="*/ 0 w 1"/>
                    <a:gd name="T7" fmla="*/ 0 h 506"/>
                    <a:gd name="T8" fmla="*/ 1 w 1"/>
                    <a:gd name="T9" fmla="*/ 506 h 506"/>
                  </a:gdLst>
                  <a:ahLst/>
                  <a:cxnLst>
                    <a:cxn ang="T4">
                      <a:pos x="T0" y="T1"/>
                    </a:cxn>
                    <a:cxn ang="T5">
                      <a:pos x="T2" y="T3"/>
                    </a:cxn>
                  </a:cxnLst>
                  <a:rect l="T6" t="T7" r="T8" b="T9"/>
                  <a:pathLst>
                    <a:path w="1" h="506">
                      <a:moveTo>
                        <a:pt x="0" y="0"/>
                      </a:moveTo>
                      <a:cubicBezTo>
                        <a:pt x="0" y="211"/>
                        <a:pt x="0" y="422"/>
                        <a:pt x="0" y="50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22" name="Oval 97"/>
                <p:cNvSpPr>
                  <a:spLocks noChangeAspect="1" noChangeArrowheads="1"/>
                </p:cNvSpPr>
                <p:nvPr/>
              </p:nvSpPr>
              <p:spPr bwMode="auto">
                <a:xfrm>
                  <a:off x="1434" y="1286"/>
                  <a:ext cx="56" cy="56"/>
                </a:xfrm>
                <a:prstGeom prst="ellipse">
                  <a:avLst/>
                </a:prstGeom>
                <a:solidFill>
                  <a:schemeClr val="tx1"/>
                </a:solidFill>
                <a:ln w="6350">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313" name="Line 98"/>
              <p:cNvSpPr>
                <a:spLocks noChangeAspect="1" noChangeShapeType="1"/>
              </p:cNvSpPr>
              <p:nvPr/>
            </p:nvSpPr>
            <p:spPr bwMode="auto">
              <a:xfrm>
                <a:off x="1590" y="2767"/>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47314" name="Group 99"/>
              <p:cNvGrpSpPr>
                <a:grpSpLocks noChangeAspect="1"/>
              </p:cNvGrpSpPr>
              <p:nvPr/>
            </p:nvGrpSpPr>
            <p:grpSpPr bwMode="auto">
              <a:xfrm>
                <a:off x="1645" y="2776"/>
                <a:ext cx="58" cy="127"/>
                <a:chOff x="3612" y="1686"/>
                <a:chExt cx="288" cy="634"/>
              </a:xfrm>
            </p:grpSpPr>
            <p:sp>
              <p:nvSpPr>
                <p:cNvPr id="147319" name="Freeform 100"/>
                <p:cNvSpPr>
                  <a:spLocks noChangeAspect="1"/>
                </p:cNvSpPr>
                <p:nvPr/>
              </p:nvSpPr>
              <p:spPr bwMode="auto">
                <a:xfrm>
                  <a:off x="3738" y="1686"/>
                  <a:ext cx="162" cy="634"/>
                </a:xfrm>
                <a:custGeom>
                  <a:avLst/>
                  <a:gdLst>
                    <a:gd name="T0" fmla="*/ 0 w 162"/>
                    <a:gd name="T1" fmla="*/ 0 h 634"/>
                    <a:gd name="T2" fmla="*/ 0 w 162"/>
                    <a:gd name="T3" fmla="*/ 534 h 634"/>
                    <a:gd name="T4" fmla="*/ 162 w 162"/>
                    <a:gd name="T5" fmla="*/ 600 h 634"/>
                    <a:gd name="T6" fmla="*/ 0 60000 65536"/>
                    <a:gd name="T7" fmla="*/ 0 60000 65536"/>
                    <a:gd name="T8" fmla="*/ 0 60000 65536"/>
                    <a:gd name="T9" fmla="*/ 0 w 162"/>
                    <a:gd name="T10" fmla="*/ 0 h 634"/>
                    <a:gd name="T11" fmla="*/ 162 w 162"/>
                    <a:gd name="T12" fmla="*/ 634 h 634"/>
                  </a:gdLst>
                  <a:ahLst/>
                  <a:cxnLst>
                    <a:cxn ang="T6">
                      <a:pos x="T0" y="T1"/>
                    </a:cxn>
                    <a:cxn ang="T7">
                      <a:pos x="T2" y="T3"/>
                    </a:cxn>
                    <a:cxn ang="T8">
                      <a:pos x="T4" y="T5"/>
                    </a:cxn>
                  </a:cxnLst>
                  <a:rect l="T9" t="T10" r="T11" b="T12"/>
                  <a:pathLst>
                    <a:path w="162" h="634">
                      <a:moveTo>
                        <a:pt x="0" y="0"/>
                      </a:moveTo>
                      <a:lnTo>
                        <a:pt x="0" y="534"/>
                      </a:lnTo>
                      <a:cubicBezTo>
                        <a:pt x="27" y="634"/>
                        <a:pt x="94" y="617"/>
                        <a:pt x="162" y="60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20" name="Freeform 101"/>
                <p:cNvSpPr>
                  <a:spLocks noChangeAspect="1"/>
                </p:cNvSpPr>
                <p:nvPr/>
              </p:nvSpPr>
              <p:spPr bwMode="auto">
                <a:xfrm>
                  <a:off x="3612" y="1872"/>
                  <a:ext cx="276" cy="1"/>
                </a:xfrm>
                <a:custGeom>
                  <a:avLst/>
                  <a:gdLst>
                    <a:gd name="T0" fmla="*/ 0 w 276"/>
                    <a:gd name="T1" fmla="*/ 0 h 1"/>
                    <a:gd name="T2" fmla="*/ 276 w 276"/>
                    <a:gd name="T3" fmla="*/ 0 h 1"/>
                    <a:gd name="T4" fmla="*/ 0 60000 65536"/>
                    <a:gd name="T5" fmla="*/ 0 60000 65536"/>
                    <a:gd name="T6" fmla="*/ 0 w 276"/>
                    <a:gd name="T7" fmla="*/ 0 h 1"/>
                    <a:gd name="T8" fmla="*/ 276 w 276"/>
                    <a:gd name="T9" fmla="*/ 1 h 1"/>
                  </a:gdLst>
                  <a:ahLst/>
                  <a:cxnLst>
                    <a:cxn ang="T4">
                      <a:pos x="T0" y="T1"/>
                    </a:cxn>
                    <a:cxn ang="T5">
                      <a:pos x="T2" y="T3"/>
                    </a:cxn>
                  </a:cxnLst>
                  <a:rect l="T6" t="T7" r="T8" b="T9"/>
                  <a:pathLst>
                    <a:path w="276" h="1">
                      <a:moveTo>
                        <a:pt x="0" y="0"/>
                      </a:moveTo>
                      <a:cubicBezTo>
                        <a:pt x="0" y="0"/>
                        <a:pt x="138" y="0"/>
                        <a:pt x="276"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315" name="Freeform 102"/>
              <p:cNvSpPr>
                <a:spLocks noChangeAspect="1"/>
              </p:cNvSpPr>
              <p:nvPr/>
            </p:nvSpPr>
            <p:spPr bwMode="auto">
              <a:xfrm>
                <a:off x="1741" y="2810"/>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16" name="Group 103"/>
              <p:cNvGrpSpPr>
                <a:grpSpLocks noChangeAspect="1"/>
              </p:cNvGrpSpPr>
              <p:nvPr/>
            </p:nvGrpSpPr>
            <p:grpSpPr bwMode="auto">
              <a:xfrm>
                <a:off x="1871" y="2800"/>
                <a:ext cx="46" cy="103"/>
                <a:chOff x="2808" y="1818"/>
                <a:chExt cx="228" cy="516"/>
              </a:xfrm>
            </p:grpSpPr>
            <p:sp>
              <p:nvSpPr>
                <p:cNvPr id="147317" name="Freeform 104"/>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18" name="Freeform 105"/>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7237" name="Group 106"/>
            <p:cNvGrpSpPr>
              <a:grpSpLocks noChangeAspect="1"/>
            </p:cNvGrpSpPr>
            <p:nvPr/>
          </p:nvGrpSpPr>
          <p:grpSpPr bwMode="auto">
            <a:xfrm>
              <a:off x="2106" y="1657"/>
              <a:ext cx="131" cy="37"/>
              <a:chOff x="2092" y="2798"/>
              <a:chExt cx="522" cy="145"/>
            </a:xfrm>
          </p:grpSpPr>
          <p:sp>
            <p:nvSpPr>
              <p:cNvPr id="147304" name="Freeform 107"/>
              <p:cNvSpPr>
                <a:spLocks noChangeAspect="1"/>
              </p:cNvSpPr>
              <p:nvPr/>
            </p:nvSpPr>
            <p:spPr bwMode="auto">
              <a:xfrm flipH="1" flipV="1">
                <a:off x="2092"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05" name="Freeform 108"/>
              <p:cNvSpPr>
                <a:spLocks noChangeAspect="1"/>
              </p:cNvSpPr>
              <p:nvPr/>
            </p:nvSpPr>
            <p:spPr bwMode="auto">
              <a:xfrm>
                <a:off x="2203" y="2798"/>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06" name="Freeform 109"/>
              <p:cNvSpPr>
                <a:spLocks noChangeAspect="1"/>
              </p:cNvSpPr>
              <p:nvPr/>
            </p:nvSpPr>
            <p:spPr bwMode="auto">
              <a:xfrm flipH="1" flipV="1">
                <a:off x="2323"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07" name="Freeform 110"/>
              <p:cNvSpPr>
                <a:spLocks noChangeAspect="1"/>
              </p:cNvSpPr>
              <p:nvPr/>
            </p:nvSpPr>
            <p:spPr bwMode="auto">
              <a:xfrm>
                <a:off x="2438" y="2798"/>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08" name="Group 111"/>
              <p:cNvGrpSpPr>
                <a:grpSpLocks noChangeAspect="1"/>
              </p:cNvGrpSpPr>
              <p:nvPr/>
            </p:nvGrpSpPr>
            <p:grpSpPr bwMode="auto">
              <a:xfrm>
                <a:off x="2568" y="2798"/>
                <a:ext cx="46" cy="103"/>
                <a:chOff x="2808" y="1818"/>
                <a:chExt cx="228" cy="516"/>
              </a:xfrm>
            </p:grpSpPr>
            <p:sp>
              <p:nvSpPr>
                <p:cNvPr id="147309" name="Freeform 112"/>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10" name="Freeform 113"/>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7238" name="Group 114"/>
            <p:cNvGrpSpPr>
              <a:grpSpLocks noChangeAspect="1"/>
            </p:cNvGrpSpPr>
            <p:nvPr/>
          </p:nvGrpSpPr>
          <p:grpSpPr bwMode="auto">
            <a:xfrm>
              <a:off x="3387" y="1599"/>
              <a:ext cx="118" cy="44"/>
              <a:chOff x="2891" y="2802"/>
              <a:chExt cx="467" cy="176"/>
            </a:xfrm>
          </p:grpSpPr>
          <p:sp>
            <p:nvSpPr>
              <p:cNvPr id="147297" name="Freeform 115"/>
              <p:cNvSpPr>
                <a:spLocks noChangeAspect="1"/>
              </p:cNvSpPr>
              <p:nvPr/>
            </p:nvSpPr>
            <p:spPr bwMode="auto">
              <a:xfrm>
                <a:off x="2891" y="2808"/>
                <a:ext cx="81" cy="130"/>
              </a:xfrm>
              <a:custGeom>
                <a:avLst/>
                <a:gdLst>
                  <a:gd name="T0" fmla="*/ 0 w 426"/>
                  <a:gd name="T1" fmla="*/ 1 h 684"/>
                  <a:gd name="T2" fmla="*/ 0 w 426"/>
                  <a:gd name="T3" fmla="*/ 0 h 684"/>
                  <a:gd name="T4" fmla="*/ 1 w 426"/>
                  <a:gd name="T5" fmla="*/ 1 h 684"/>
                  <a:gd name="T6" fmla="*/ 1 w 426"/>
                  <a:gd name="T7" fmla="*/ 0 h 684"/>
                  <a:gd name="T8" fmla="*/ 0 60000 65536"/>
                  <a:gd name="T9" fmla="*/ 0 60000 65536"/>
                  <a:gd name="T10" fmla="*/ 0 60000 65536"/>
                  <a:gd name="T11" fmla="*/ 0 60000 65536"/>
                  <a:gd name="T12" fmla="*/ 0 w 426"/>
                  <a:gd name="T13" fmla="*/ 0 h 684"/>
                  <a:gd name="T14" fmla="*/ 426 w 426"/>
                  <a:gd name="T15" fmla="*/ 684 h 684"/>
                </a:gdLst>
                <a:ahLst/>
                <a:cxnLst>
                  <a:cxn ang="T8">
                    <a:pos x="T0" y="T1"/>
                  </a:cxn>
                  <a:cxn ang="T9">
                    <a:pos x="T2" y="T3"/>
                  </a:cxn>
                  <a:cxn ang="T10">
                    <a:pos x="T4" y="T5"/>
                  </a:cxn>
                  <a:cxn ang="T11">
                    <a:pos x="T6" y="T7"/>
                  </a:cxn>
                </a:cxnLst>
                <a:rect l="T12" t="T13" r="T14" b="T15"/>
                <a:pathLst>
                  <a:path w="426" h="684">
                    <a:moveTo>
                      <a:pt x="0" y="684"/>
                    </a:moveTo>
                    <a:lnTo>
                      <a:pt x="0" y="6"/>
                    </a:lnTo>
                    <a:lnTo>
                      <a:pt x="426" y="672"/>
                    </a:lnTo>
                    <a:lnTo>
                      <a:pt x="426"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298" name="Group 116"/>
              <p:cNvGrpSpPr>
                <a:grpSpLocks noChangeAspect="1"/>
              </p:cNvGrpSpPr>
              <p:nvPr/>
            </p:nvGrpSpPr>
            <p:grpSpPr bwMode="auto">
              <a:xfrm>
                <a:off x="3018" y="2842"/>
                <a:ext cx="75" cy="136"/>
                <a:chOff x="2778" y="1746"/>
                <a:chExt cx="384" cy="701"/>
              </a:xfrm>
            </p:grpSpPr>
            <p:sp>
              <p:nvSpPr>
                <p:cNvPr id="147302" name="Freeform 117"/>
                <p:cNvSpPr>
                  <a:spLocks noChangeAspect="1"/>
                </p:cNvSpPr>
                <p:nvPr/>
              </p:nvSpPr>
              <p:spPr bwMode="auto">
                <a:xfrm>
                  <a:off x="2778" y="1746"/>
                  <a:ext cx="384" cy="701"/>
                </a:xfrm>
                <a:custGeom>
                  <a:avLst/>
                  <a:gdLst>
                    <a:gd name="T0" fmla="*/ 384 w 384"/>
                    <a:gd name="T1" fmla="*/ 0 h 701"/>
                    <a:gd name="T2" fmla="*/ 168 w 384"/>
                    <a:gd name="T3" fmla="*/ 594 h 701"/>
                    <a:gd name="T4" fmla="*/ 0 w 384"/>
                    <a:gd name="T5" fmla="*/ 642 h 701"/>
                    <a:gd name="T6" fmla="*/ 0 60000 65536"/>
                    <a:gd name="T7" fmla="*/ 0 60000 65536"/>
                    <a:gd name="T8" fmla="*/ 0 60000 65536"/>
                    <a:gd name="T9" fmla="*/ 0 w 384"/>
                    <a:gd name="T10" fmla="*/ 0 h 701"/>
                    <a:gd name="T11" fmla="*/ 384 w 384"/>
                    <a:gd name="T12" fmla="*/ 701 h 701"/>
                  </a:gdLst>
                  <a:ahLst/>
                  <a:cxnLst>
                    <a:cxn ang="T6">
                      <a:pos x="T0" y="T1"/>
                    </a:cxn>
                    <a:cxn ang="T7">
                      <a:pos x="T2" y="T3"/>
                    </a:cxn>
                    <a:cxn ang="T8">
                      <a:pos x="T4" y="T5"/>
                    </a:cxn>
                  </a:cxnLst>
                  <a:rect l="T9" t="T10" r="T11" b="T12"/>
                  <a:pathLst>
                    <a:path w="384" h="701">
                      <a:moveTo>
                        <a:pt x="384" y="0"/>
                      </a:moveTo>
                      <a:cubicBezTo>
                        <a:pt x="308" y="243"/>
                        <a:pt x="232" y="487"/>
                        <a:pt x="168" y="594"/>
                      </a:cubicBezTo>
                      <a:cubicBezTo>
                        <a:pt x="104" y="701"/>
                        <a:pt x="52" y="671"/>
                        <a:pt x="0"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03" name="Freeform 118"/>
                <p:cNvSpPr>
                  <a:spLocks noChangeAspect="1"/>
                </p:cNvSpPr>
                <p:nvPr/>
              </p:nvSpPr>
              <p:spPr bwMode="auto">
                <a:xfrm>
                  <a:off x="2802" y="1752"/>
                  <a:ext cx="180" cy="504"/>
                </a:xfrm>
                <a:custGeom>
                  <a:avLst/>
                  <a:gdLst>
                    <a:gd name="T0" fmla="*/ 0 w 180"/>
                    <a:gd name="T1" fmla="*/ 0 h 504"/>
                    <a:gd name="T2" fmla="*/ 180 w 180"/>
                    <a:gd name="T3" fmla="*/ 504 h 504"/>
                    <a:gd name="T4" fmla="*/ 0 60000 65536"/>
                    <a:gd name="T5" fmla="*/ 0 60000 65536"/>
                    <a:gd name="T6" fmla="*/ 0 w 180"/>
                    <a:gd name="T7" fmla="*/ 0 h 504"/>
                    <a:gd name="T8" fmla="*/ 180 w 180"/>
                    <a:gd name="T9" fmla="*/ 504 h 504"/>
                  </a:gdLst>
                  <a:ahLst/>
                  <a:cxnLst>
                    <a:cxn ang="T4">
                      <a:pos x="T0" y="T1"/>
                    </a:cxn>
                    <a:cxn ang="T5">
                      <a:pos x="T2" y="T3"/>
                    </a:cxn>
                  </a:cxnLst>
                  <a:rect l="T6" t="T7" r="T8" b="T9"/>
                  <a:pathLst>
                    <a:path w="180" h="504">
                      <a:moveTo>
                        <a:pt x="0" y="0"/>
                      </a:moveTo>
                      <a:cubicBezTo>
                        <a:pt x="0" y="0"/>
                        <a:pt x="90" y="252"/>
                        <a:pt x="180" y="50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99" name="Line 119"/>
              <p:cNvSpPr>
                <a:spLocks noChangeAspect="1" noChangeShapeType="1"/>
              </p:cNvSpPr>
              <p:nvPr/>
            </p:nvSpPr>
            <p:spPr bwMode="auto">
              <a:xfrm>
                <a:off x="3134" y="2802"/>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300" name="Freeform 120"/>
              <p:cNvSpPr>
                <a:spLocks noChangeAspect="1"/>
              </p:cNvSpPr>
              <p:nvPr/>
            </p:nvSpPr>
            <p:spPr bwMode="auto">
              <a:xfrm>
                <a:off x="3176" y="2845"/>
                <a:ext cx="81" cy="93"/>
              </a:xfrm>
              <a:custGeom>
                <a:avLst/>
                <a:gdLst>
                  <a:gd name="T0" fmla="*/ 0 w 402"/>
                  <a:gd name="T1" fmla="*/ 0 h 464"/>
                  <a:gd name="T2" fmla="*/ 0 w 402"/>
                  <a:gd name="T3" fmla="*/ 0 h 464"/>
                  <a:gd name="T4" fmla="*/ 0 w 402"/>
                  <a:gd name="T5" fmla="*/ 0 h 464"/>
                  <a:gd name="T6" fmla="*/ 0 w 402"/>
                  <a:gd name="T7" fmla="*/ 0 h 464"/>
                  <a:gd name="T8" fmla="*/ 0 w 402"/>
                  <a:gd name="T9" fmla="*/ 1 h 464"/>
                  <a:gd name="T10" fmla="*/ 0 w 402"/>
                  <a:gd name="T11" fmla="*/ 1 h 464"/>
                  <a:gd name="T12" fmla="*/ 0 w 402"/>
                  <a:gd name="T13" fmla="*/ 1 h 464"/>
                  <a:gd name="T14" fmla="*/ 1 w 402"/>
                  <a:gd name="T15" fmla="*/ 0 h 464"/>
                  <a:gd name="T16" fmla="*/ 1 w 402"/>
                  <a:gd name="T17" fmla="*/ 0 h 464"/>
                  <a:gd name="T18" fmla="*/ 1 w 402"/>
                  <a:gd name="T19" fmla="*/ 0 h 464"/>
                  <a:gd name="T20" fmla="*/ 0 w 402"/>
                  <a:gd name="T21" fmla="*/ 0 h 4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2"/>
                  <a:gd name="T34" fmla="*/ 0 h 464"/>
                  <a:gd name="T35" fmla="*/ 402 w 402"/>
                  <a:gd name="T36" fmla="*/ 464 h 4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2" h="464">
                    <a:moveTo>
                      <a:pt x="192" y="0"/>
                    </a:moveTo>
                    <a:cubicBezTo>
                      <a:pt x="176" y="4"/>
                      <a:pt x="120" y="2"/>
                      <a:pt x="90" y="26"/>
                    </a:cubicBezTo>
                    <a:cubicBezTo>
                      <a:pt x="60" y="50"/>
                      <a:pt x="26" y="101"/>
                      <a:pt x="13" y="147"/>
                    </a:cubicBezTo>
                    <a:cubicBezTo>
                      <a:pt x="0" y="193"/>
                      <a:pt x="3" y="258"/>
                      <a:pt x="13" y="301"/>
                    </a:cubicBezTo>
                    <a:cubicBezTo>
                      <a:pt x="23" y="344"/>
                      <a:pt x="44" y="377"/>
                      <a:pt x="71" y="403"/>
                    </a:cubicBezTo>
                    <a:cubicBezTo>
                      <a:pt x="98" y="429"/>
                      <a:pt x="140" y="458"/>
                      <a:pt x="179" y="461"/>
                    </a:cubicBezTo>
                    <a:cubicBezTo>
                      <a:pt x="218" y="464"/>
                      <a:pt x="273" y="448"/>
                      <a:pt x="307" y="422"/>
                    </a:cubicBezTo>
                    <a:cubicBezTo>
                      <a:pt x="341" y="396"/>
                      <a:pt x="370" y="351"/>
                      <a:pt x="384" y="307"/>
                    </a:cubicBezTo>
                    <a:cubicBezTo>
                      <a:pt x="398" y="263"/>
                      <a:pt x="402" y="205"/>
                      <a:pt x="391" y="160"/>
                    </a:cubicBezTo>
                    <a:cubicBezTo>
                      <a:pt x="380" y="115"/>
                      <a:pt x="352" y="65"/>
                      <a:pt x="320" y="38"/>
                    </a:cubicBezTo>
                    <a:cubicBezTo>
                      <a:pt x="288" y="11"/>
                      <a:pt x="224" y="8"/>
                      <a:pt x="199"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01" name="Freeform 121"/>
              <p:cNvSpPr>
                <a:spLocks noChangeAspect="1"/>
              </p:cNvSpPr>
              <p:nvPr/>
            </p:nvSpPr>
            <p:spPr bwMode="auto">
              <a:xfrm>
                <a:off x="3287" y="2835"/>
                <a:ext cx="71" cy="103"/>
              </a:xfrm>
              <a:custGeom>
                <a:avLst/>
                <a:gdLst>
                  <a:gd name="T0" fmla="*/ 0 w 356"/>
                  <a:gd name="T1" fmla="*/ 0 h 514"/>
                  <a:gd name="T2" fmla="*/ 0 w 356"/>
                  <a:gd name="T3" fmla="*/ 1 h 514"/>
                  <a:gd name="T4" fmla="*/ 0 w 356"/>
                  <a:gd name="T5" fmla="*/ 0 h 514"/>
                  <a:gd name="T6" fmla="*/ 0 w 356"/>
                  <a:gd name="T7" fmla="*/ 0 h 514"/>
                  <a:gd name="T8" fmla="*/ 0 w 356"/>
                  <a:gd name="T9" fmla="*/ 0 h 514"/>
                  <a:gd name="T10" fmla="*/ 1 w 356"/>
                  <a:gd name="T11" fmla="*/ 0 h 514"/>
                  <a:gd name="T12" fmla="*/ 1 w 356"/>
                  <a:gd name="T13" fmla="*/ 0 h 514"/>
                  <a:gd name="T14" fmla="*/ 1 w 356"/>
                  <a:gd name="T15" fmla="*/ 1 h 514"/>
                  <a:gd name="T16" fmla="*/ 0 60000 65536"/>
                  <a:gd name="T17" fmla="*/ 0 60000 65536"/>
                  <a:gd name="T18" fmla="*/ 0 60000 65536"/>
                  <a:gd name="T19" fmla="*/ 0 60000 65536"/>
                  <a:gd name="T20" fmla="*/ 0 60000 65536"/>
                  <a:gd name="T21" fmla="*/ 0 60000 65536"/>
                  <a:gd name="T22" fmla="*/ 0 60000 65536"/>
                  <a:gd name="T23" fmla="*/ 0 60000 65536"/>
                  <a:gd name="T24" fmla="*/ 0 w 356"/>
                  <a:gd name="T25" fmla="*/ 0 h 514"/>
                  <a:gd name="T26" fmla="*/ 356 w 356"/>
                  <a:gd name="T27" fmla="*/ 514 h 5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6" h="514">
                    <a:moveTo>
                      <a:pt x="11" y="0"/>
                    </a:moveTo>
                    <a:cubicBezTo>
                      <a:pt x="11" y="79"/>
                      <a:pt x="10" y="430"/>
                      <a:pt x="10" y="472"/>
                    </a:cubicBezTo>
                    <a:cubicBezTo>
                      <a:pt x="10" y="514"/>
                      <a:pt x="0" y="313"/>
                      <a:pt x="11" y="250"/>
                    </a:cubicBezTo>
                    <a:cubicBezTo>
                      <a:pt x="22" y="187"/>
                      <a:pt x="48" y="128"/>
                      <a:pt x="79" y="91"/>
                    </a:cubicBezTo>
                    <a:cubicBezTo>
                      <a:pt x="110" y="54"/>
                      <a:pt x="154" y="30"/>
                      <a:pt x="195" y="30"/>
                    </a:cubicBezTo>
                    <a:cubicBezTo>
                      <a:pt x="236" y="30"/>
                      <a:pt x="297" y="61"/>
                      <a:pt x="323" y="94"/>
                    </a:cubicBezTo>
                    <a:cubicBezTo>
                      <a:pt x="349" y="127"/>
                      <a:pt x="346" y="160"/>
                      <a:pt x="351" y="227"/>
                    </a:cubicBezTo>
                    <a:cubicBezTo>
                      <a:pt x="356" y="294"/>
                      <a:pt x="351" y="454"/>
                      <a:pt x="351" y="49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7239" name="Group 122"/>
            <p:cNvGrpSpPr>
              <a:grpSpLocks noChangeAspect="1"/>
            </p:cNvGrpSpPr>
            <p:nvPr/>
          </p:nvGrpSpPr>
          <p:grpSpPr bwMode="auto">
            <a:xfrm>
              <a:off x="3387" y="1645"/>
              <a:ext cx="239" cy="37"/>
              <a:chOff x="3565" y="2757"/>
              <a:chExt cx="949" cy="145"/>
            </a:xfrm>
          </p:grpSpPr>
          <p:grpSp>
            <p:nvGrpSpPr>
              <p:cNvPr id="147283" name="Group 123"/>
              <p:cNvGrpSpPr>
                <a:grpSpLocks noChangeAspect="1"/>
              </p:cNvGrpSpPr>
              <p:nvPr/>
            </p:nvGrpSpPr>
            <p:grpSpPr bwMode="auto">
              <a:xfrm>
                <a:off x="3565" y="2800"/>
                <a:ext cx="119" cy="102"/>
                <a:chOff x="1587" y="3362"/>
                <a:chExt cx="119" cy="102"/>
              </a:xfrm>
            </p:grpSpPr>
            <p:sp>
              <p:nvSpPr>
                <p:cNvPr id="147295" name="Freeform 124"/>
                <p:cNvSpPr>
                  <a:spLocks noChangeAspect="1"/>
                </p:cNvSpPr>
                <p:nvPr/>
              </p:nvSpPr>
              <p:spPr bwMode="auto">
                <a:xfrm>
                  <a:off x="1646" y="3367"/>
                  <a:ext cx="60" cy="91"/>
                </a:xfrm>
                <a:custGeom>
                  <a:avLst/>
                  <a:gdLst>
                    <a:gd name="T0" fmla="*/ 0 w 302"/>
                    <a:gd name="T1" fmla="*/ 1 h 456"/>
                    <a:gd name="T2" fmla="*/ 0 w 302"/>
                    <a:gd name="T3" fmla="*/ 0 h 456"/>
                    <a:gd name="T4" fmla="*/ 0 w 302"/>
                    <a:gd name="T5" fmla="*/ 0 h 456"/>
                    <a:gd name="T6" fmla="*/ 0 w 302"/>
                    <a:gd name="T7" fmla="*/ 0 h 456"/>
                    <a:gd name="T8" fmla="*/ 0 w 302"/>
                    <a:gd name="T9" fmla="*/ 0 h 456"/>
                    <a:gd name="T10" fmla="*/ 0 w 302"/>
                    <a:gd name="T11" fmla="*/ 0 h 456"/>
                    <a:gd name="T12" fmla="*/ 0 w 302"/>
                    <a:gd name="T13" fmla="*/ 1 h 456"/>
                    <a:gd name="T14" fmla="*/ 0 60000 65536"/>
                    <a:gd name="T15" fmla="*/ 0 60000 65536"/>
                    <a:gd name="T16" fmla="*/ 0 60000 65536"/>
                    <a:gd name="T17" fmla="*/ 0 60000 65536"/>
                    <a:gd name="T18" fmla="*/ 0 60000 65536"/>
                    <a:gd name="T19" fmla="*/ 0 60000 65536"/>
                    <a:gd name="T20" fmla="*/ 0 60000 65536"/>
                    <a:gd name="T21" fmla="*/ 0 w 302"/>
                    <a:gd name="T22" fmla="*/ 0 h 456"/>
                    <a:gd name="T23" fmla="*/ 302 w 302"/>
                    <a:gd name="T24" fmla="*/ 456 h 4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2" h="456">
                      <a:moveTo>
                        <a:pt x="298" y="456"/>
                      </a:moveTo>
                      <a:cubicBezTo>
                        <a:pt x="297" y="410"/>
                        <a:pt x="302" y="255"/>
                        <a:pt x="298" y="187"/>
                      </a:cubicBezTo>
                      <a:cubicBezTo>
                        <a:pt x="294" y="119"/>
                        <a:pt x="295" y="77"/>
                        <a:pt x="272" y="46"/>
                      </a:cubicBezTo>
                      <a:cubicBezTo>
                        <a:pt x="249" y="15"/>
                        <a:pt x="192" y="0"/>
                        <a:pt x="157" y="1"/>
                      </a:cubicBezTo>
                      <a:cubicBezTo>
                        <a:pt x="122" y="2"/>
                        <a:pt x="85" y="20"/>
                        <a:pt x="61" y="53"/>
                      </a:cubicBezTo>
                      <a:cubicBezTo>
                        <a:pt x="37" y="86"/>
                        <a:pt x="20" y="134"/>
                        <a:pt x="10" y="200"/>
                      </a:cubicBezTo>
                      <a:cubicBezTo>
                        <a:pt x="0" y="266"/>
                        <a:pt x="4" y="397"/>
                        <a:pt x="3" y="44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96" name="Freeform 125"/>
                <p:cNvSpPr>
                  <a:spLocks noChangeAspect="1"/>
                </p:cNvSpPr>
                <p:nvPr/>
              </p:nvSpPr>
              <p:spPr bwMode="auto">
                <a:xfrm>
                  <a:off x="1587" y="3362"/>
                  <a:ext cx="62" cy="102"/>
                </a:xfrm>
                <a:custGeom>
                  <a:avLst/>
                  <a:gdLst>
                    <a:gd name="T0" fmla="*/ 0 w 309"/>
                    <a:gd name="T1" fmla="*/ 0 h 510"/>
                    <a:gd name="T2" fmla="*/ 0 w 309"/>
                    <a:gd name="T3" fmla="*/ 1 h 510"/>
                    <a:gd name="T4" fmla="*/ 0 w 309"/>
                    <a:gd name="T5" fmla="*/ 0 h 510"/>
                    <a:gd name="T6" fmla="*/ 0 w 309"/>
                    <a:gd name="T7" fmla="*/ 0 h 510"/>
                    <a:gd name="T8" fmla="*/ 0 w 309"/>
                    <a:gd name="T9" fmla="*/ 0 h 510"/>
                    <a:gd name="T10" fmla="*/ 0 w 309"/>
                    <a:gd name="T11" fmla="*/ 0 h 510"/>
                    <a:gd name="T12" fmla="*/ 0 w 309"/>
                    <a:gd name="T13" fmla="*/ 0 h 510"/>
                    <a:gd name="T14" fmla="*/ 0 w 309"/>
                    <a:gd name="T15" fmla="*/ 1 h 510"/>
                    <a:gd name="T16" fmla="*/ 0 60000 65536"/>
                    <a:gd name="T17" fmla="*/ 0 60000 65536"/>
                    <a:gd name="T18" fmla="*/ 0 60000 65536"/>
                    <a:gd name="T19" fmla="*/ 0 60000 65536"/>
                    <a:gd name="T20" fmla="*/ 0 60000 65536"/>
                    <a:gd name="T21" fmla="*/ 0 60000 65536"/>
                    <a:gd name="T22" fmla="*/ 0 60000 65536"/>
                    <a:gd name="T23" fmla="*/ 0 60000 65536"/>
                    <a:gd name="T24" fmla="*/ 0 w 309"/>
                    <a:gd name="T25" fmla="*/ 0 h 510"/>
                    <a:gd name="T26" fmla="*/ 309 w 309"/>
                    <a:gd name="T27" fmla="*/ 510 h 5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9" h="510">
                      <a:moveTo>
                        <a:pt x="12" y="0"/>
                      </a:moveTo>
                      <a:cubicBezTo>
                        <a:pt x="12" y="78"/>
                        <a:pt x="10" y="426"/>
                        <a:pt x="10" y="468"/>
                      </a:cubicBezTo>
                      <a:cubicBezTo>
                        <a:pt x="10" y="510"/>
                        <a:pt x="0" y="313"/>
                        <a:pt x="12" y="250"/>
                      </a:cubicBezTo>
                      <a:cubicBezTo>
                        <a:pt x="24" y="187"/>
                        <a:pt x="49" y="128"/>
                        <a:pt x="80" y="91"/>
                      </a:cubicBezTo>
                      <a:cubicBezTo>
                        <a:pt x="111" y="54"/>
                        <a:pt x="161" y="30"/>
                        <a:pt x="196" y="30"/>
                      </a:cubicBezTo>
                      <a:cubicBezTo>
                        <a:pt x="231" y="30"/>
                        <a:pt x="273" y="59"/>
                        <a:pt x="291" y="94"/>
                      </a:cubicBezTo>
                      <a:cubicBezTo>
                        <a:pt x="309" y="129"/>
                        <a:pt x="302" y="176"/>
                        <a:pt x="304" y="241"/>
                      </a:cubicBezTo>
                      <a:cubicBezTo>
                        <a:pt x="306" y="306"/>
                        <a:pt x="304" y="434"/>
                        <a:pt x="304" y="48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84" name="Freeform 126"/>
              <p:cNvSpPr>
                <a:spLocks noChangeAspect="1"/>
              </p:cNvSpPr>
              <p:nvPr/>
            </p:nvSpPr>
            <p:spPr bwMode="auto">
              <a:xfrm>
                <a:off x="3719" y="2809"/>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285" name="Group 127"/>
              <p:cNvGrpSpPr>
                <a:grpSpLocks noChangeAspect="1"/>
              </p:cNvGrpSpPr>
              <p:nvPr/>
            </p:nvGrpSpPr>
            <p:grpSpPr bwMode="auto">
              <a:xfrm>
                <a:off x="3828" y="2800"/>
                <a:ext cx="119" cy="102"/>
                <a:chOff x="1587" y="3362"/>
                <a:chExt cx="119" cy="102"/>
              </a:xfrm>
            </p:grpSpPr>
            <p:sp>
              <p:nvSpPr>
                <p:cNvPr id="147293" name="Freeform 128"/>
                <p:cNvSpPr>
                  <a:spLocks noChangeAspect="1"/>
                </p:cNvSpPr>
                <p:nvPr/>
              </p:nvSpPr>
              <p:spPr bwMode="auto">
                <a:xfrm>
                  <a:off x="1646" y="3367"/>
                  <a:ext cx="60" cy="91"/>
                </a:xfrm>
                <a:custGeom>
                  <a:avLst/>
                  <a:gdLst>
                    <a:gd name="T0" fmla="*/ 0 w 302"/>
                    <a:gd name="T1" fmla="*/ 1 h 456"/>
                    <a:gd name="T2" fmla="*/ 0 w 302"/>
                    <a:gd name="T3" fmla="*/ 0 h 456"/>
                    <a:gd name="T4" fmla="*/ 0 w 302"/>
                    <a:gd name="T5" fmla="*/ 0 h 456"/>
                    <a:gd name="T6" fmla="*/ 0 w 302"/>
                    <a:gd name="T7" fmla="*/ 0 h 456"/>
                    <a:gd name="T8" fmla="*/ 0 w 302"/>
                    <a:gd name="T9" fmla="*/ 0 h 456"/>
                    <a:gd name="T10" fmla="*/ 0 w 302"/>
                    <a:gd name="T11" fmla="*/ 0 h 456"/>
                    <a:gd name="T12" fmla="*/ 0 w 302"/>
                    <a:gd name="T13" fmla="*/ 1 h 456"/>
                    <a:gd name="T14" fmla="*/ 0 60000 65536"/>
                    <a:gd name="T15" fmla="*/ 0 60000 65536"/>
                    <a:gd name="T16" fmla="*/ 0 60000 65536"/>
                    <a:gd name="T17" fmla="*/ 0 60000 65536"/>
                    <a:gd name="T18" fmla="*/ 0 60000 65536"/>
                    <a:gd name="T19" fmla="*/ 0 60000 65536"/>
                    <a:gd name="T20" fmla="*/ 0 60000 65536"/>
                    <a:gd name="T21" fmla="*/ 0 w 302"/>
                    <a:gd name="T22" fmla="*/ 0 h 456"/>
                    <a:gd name="T23" fmla="*/ 302 w 302"/>
                    <a:gd name="T24" fmla="*/ 456 h 4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2" h="456">
                      <a:moveTo>
                        <a:pt x="298" y="456"/>
                      </a:moveTo>
                      <a:cubicBezTo>
                        <a:pt x="297" y="410"/>
                        <a:pt x="302" y="255"/>
                        <a:pt x="298" y="187"/>
                      </a:cubicBezTo>
                      <a:cubicBezTo>
                        <a:pt x="294" y="119"/>
                        <a:pt x="295" y="77"/>
                        <a:pt x="272" y="46"/>
                      </a:cubicBezTo>
                      <a:cubicBezTo>
                        <a:pt x="249" y="15"/>
                        <a:pt x="192" y="0"/>
                        <a:pt x="157" y="1"/>
                      </a:cubicBezTo>
                      <a:cubicBezTo>
                        <a:pt x="122" y="2"/>
                        <a:pt x="85" y="20"/>
                        <a:pt x="61" y="53"/>
                      </a:cubicBezTo>
                      <a:cubicBezTo>
                        <a:pt x="37" y="86"/>
                        <a:pt x="20" y="134"/>
                        <a:pt x="10" y="200"/>
                      </a:cubicBezTo>
                      <a:cubicBezTo>
                        <a:pt x="0" y="266"/>
                        <a:pt x="4" y="397"/>
                        <a:pt x="3" y="44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94" name="Freeform 129"/>
                <p:cNvSpPr>
                  <a:spLocks noChangeAspect="1"/>
                </p:cNvSpPr>
                <p:nvPr/>
              </p:nvSpPr>
              <p:spPr bwMode="auto">
                <a:xfrm>
                  <a:off x="1587" y="3362"/>
                  <a:ext cx="62" cy="102"/>
                </a:xfrm>
                <a:custGeom>
                  <a:avLst/>
                  <a:gdLst>
                    <a:gd name="T0" fmla="*/ 0 w 309"/>
                    <a:gd name="T1" fmla="*/ 0 h 510"/>
                    <a:gd name="T2" fmla="*/ 0 w 309"/>
                    <a:gd name="T3" fmla="*/ 1 h 510"/>
                    <a:gd name="T4" fmla="*/ 0 w 309"/>
                    <a:gd name="T5" fmla="*/ 0 h 510"/>
                    <a:gd name="T6" fmla="*/ 0 w 309"/>
                    <a:gd name="T7" fmla="*/ 0 h 510"/>
                    <a:gd name="T8" fmla="*/ 0 w 309"/>
                    <a:gd name="T9" fmla="*/ 0 h 510"/>
                    <a:gd name="T10" fmla="*/ 0 w 309"/>
                    <a:gd name="T11" fmla="*/ 0 h 510"/>
                    <a:gd name="T12" fmla="*/ 0 w 309"/>
                    <a:gd name="T13" fmla="*/ 0 h 510"/>
                    <a:gd name="T14" fmla="*/ 0 w 309"/>
                    <a:gd name="T15" fmla="*/ 1 h 510"/>
                    <a:gd name="T16" fmla="*/ 0 60000 65536"/>
                    <a:gd name="T17" fmla="*/ 0 60000 65536"/>
                    <a:gd name="T18" fmla="*/ 0 60000 65536"/>
                    <a:gd name="T19" fmla="*/ 0 60000 65536"/>
                    <a:gd name="T20" fmla="*/ 0 60000 65536"/>
                    <a:gd name="T21" fmla="*/ 0 60000 65536"/>
                    <a:gd name="T22" fmla="*/ 0 60000 65536"/>
                    <a:gd name="T23" fmla="*/ 0 60000 65536"/>
                    <a:gd name="T24" fmla="*/ 0 w 309"/>
                    <a:gd name="T25" fmla="*/ 0 h 510"/>
                    <a:gd name="T26" fmla="*/ 309 w 309"/>
                    <a:gd name="T27" fmla="*/ 510 h 5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9" h="510">
                      <a:moveTo>
                        <a:pt x="12" y="0"/>
                      </a:moveTo>
                      <a:cubicBezTo>
                        <a:pt x="12" y="78"/>
                        <a:pt x="10" y="426"/>
                        <a:pt x="10" y="468"/>
                      </a:cubicBezTo>
                      <a:cubicBezTo>
                        <a:pt x="10" y="510"/>
                        <a:pt x="0" y="313"/>
                        <a:pt x="12" y="250"/>
                      </a:cubicBezTo>
                      <a:cubicBezTo>
                        <a:pt x="24" y="187"/>
                        <a:pt x="49" y="128"/>
                        <a:pt x="80" y="91"/>
                      </a:cubicBezTo>
                      <a:cubicBezTo>
                        <a:pt x="111" y="54"/>
                        <a:pt x="161" y="30"/>
                        <a:pt x="196" y="30"/>
                      </a:cubicBezTo>
                      <a:cubicBezTo>
                        <a:pt x="231" y="30"/>
                        <a:pt x="273" y="59"/>
                        <a:pt x="291" y="94"/>
                      </a:cubicBezTo>
                      <a:cubicBezTo>
                        <a:pt x="309" y="129"/>
                        <a:pt x="302" y="176"/>
                        <a:pt x="304" y="241"/>
                      </a:cubicBezTo>
                      <a:cubicBezTo>
                        <a:pt x="306" y="306"/>
                        <a:pt x="304" y="434"/>
                        <a:pt x="304" y="48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86" name="Freeform 130"/>
              <p:cNvSpPr>
                <a:spLocks noChangeAspect="1"/>
              </p:cNvSpPr>
              <p:nvPr/>
            </p:nvSpPr>
            <p:spPr bwMode="auto">
              <a:xfrm flipH="1">
                <a:off x="3988" y="2757"/>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287" name="Group 131"/>
              <p:cNvGrpSpPr>
                <a:grpSpLocks noChangeAspect="1"/>
              </p:cNvGrpSpPr>
              <p:nvPr/>
            </p:nvGrpSpPr>
            <p:grpSpPr bwMode="auto">
              <a:xfrm>
                <a:off x="4116" y="2799"/>
                <a:ext cx="46" cy="103"/>
                <a:chOff x="2808" y="1818"/>
                <a:chExt cx="228" cy="516"/>
              </a:xfrm>
            </p:grpSpPr>
            <p:sp>
              <p:nvSpPr>
                <p:cNvPr id="147291" name="Freeform 132"/>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92" name="Freeform 133"/>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88" name="Freeform 134"/>
              <p:cNvSpPr>
                <a:spLocks noChangeAspect="1"/>
              </p:cNvSpPr>
              <p:nvPr/>
            </p:nvSpPr>
            <p:spPr bwMode="auto">
              <a:xfrm>
                <a:off x="4197" y="2802"/>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89" name="Freeform 135"/>
              <p:cNvSpPr>
                <a:spLocks noChangeAspect="1"/>
              </p:cNvSpPr>
              <p:nvPr/>
            </p:nvSpPr>
            <p:spPr bwMode="auto">
              <a:xfrm>
                <a:off x="4321" y="2799"/>
                <a:ext cx="71" cy="103"/>
              </a:xfrm>
              <a:custGeom>
                <a:avLst/>
                <a:gdLst>
                  <a:gd name="T0" fmla="*/ 0 w 356"/>
                  <a:gd name="T1" fmla="*/ 0 h 514"/>
                  <a:gd name="T2" fmla="*/ 0 w 356"/>
                  <a:gd name="T3" fmla="*/ 1 h 514"/>
                  <a:gd name="T4" fmla="*/ 0 w 356"/>
                  <a:gd name="T5" fmla="*/ 0 h 514"/>
                  <a:gd name="T6" fmla="*/ 0 w 356"/>
                  <a:gd name="T7" fmla="*/ 0 h 514"/>
                  <a:gd name="T8" fmla="*/ 0 w 356"/>
                  <a:gd name="T9" fmla="*/ 0 h 514"/>
                  <a:gd name="T10" fmla="*/ 1 w 356"/>
                  <a:gd name="T11" fmla="*/ 0 h 514"/>
                  <a:gd name="T12" fmla="*/ 1 w 356"/>
                  <a:gd name="T13" fmla="*/ 0 h 514"/>
                  <a:gd name="T14" fmla="*/ 1 w 356"/>
                  <a:gd name="T15" fmla="*/ 1 h 514"/>
                  <a:gd name="T16" fmla="*/ 0 60000 65536"/>
                  <a:gd name="T17" fmla="*/ 0 60000 65536"/>
                  <a:gd name="T18" fmla="*/ 0 60000 65536"/>
                  <a:gd name="T19" fmla="*/ 0 60000 65536"/>
                  <a:gd name="T20" fmla="*/ 0 60000 65536"/>
                  <a:gd name="T21" fmla="*/ 0 60000 65536"/>
                  <a:gd name="T22" fmla="*/ 0 60000 65536"/>
                  <a:gd name="T23" fmla="*/ 0 60000 65536"/>
                  <a:gd name="T24" fmla="*/ 0 w 356"/>
                  <a:gd name="T25" fmla="*/ 0 h 514"/>
                  <a:gd name="T26" fmla="*/ 356 w 356"/>
                  <a:gd name="T27" fmla="*/ 514 h 5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6" h="514">
                    <a:moveTo>
                      <a:pt x="11" y="0"/>
                    </a:moveTo>
                    <a:cubicBezTo>
                      <a:pt x="11" y="79"/>
                      <a:pt x="10" y="430"/>
                      <a:pt x="10" y="472"/>
                    </a:cubicBezTo>
                    <a:cubicBezTo>
                      <a:pt x="10" y="514"/>
                      <a:pt x="0" y="313"/>
                      <a:pt x="11" y="250"/>
                    </a:cubicBezTo>
                    <a:cubicBezTo>
                      <a:pt x="22" y="187"/>
                      <a:pt x="48" y="128"/>
                      <a:pt x="79" y="91"/>
                    </a:cubicBezTo>
                    <a:cubicBezTo>
                      <a:pt x="110" y="54"/>
                      <a:pt x="154" y="30"/>
                      <a:pt x="195" y="30"/>
                    </a:cubicBezTo>
                    <a:cubicBezTo>
                      <a:pt x="236" y="30"/>
                      <a:pt x="297" y="61"/>
                      <a:pt x="323" y="94"/>
                    </a:cubicBezTo>
                    <a:cubicBezTo>
                      <a:pt x="349" y="127"/>
                      <a:pt x="346" y="160"/>
                      <a:pt x="351" y="227"/>
                    </a:cubicBezTo>
                    <a:cubicBezTo>
                      <a:pt x="356" y="294"/>
                      <a:pt x="351" y="454"/>
                      <a:pt x="351" y="49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90" name="Freeform 136"/>
              <p:cNvSpPr>
                <a:spLocks noChangeAspect="1"/>
              </p:cNvSpPr>
              <p:nvPr/>
            </p:nvSpPr>
            <p:spPr bwMode="auto">
              <a:xfrm>
                <a:off x="4440" y="2809"/>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40" name="Line 137"/>
            <p:cNvSpPr>
              <a:spLocks noChangeAspect="1" noChangeShapeType="1"/>
            </p:cNvSpPr>
            <p:nvPr/>
          </p:nvSpPr>
          <p:spPr bwMode="auto">
            <a:xfrm>
              <a:off x="2250" y="1686"/>
              <a:ext cx="93" cy="48"/>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41" name="Line 138"/>
            <p:cNvSpPr>
              <a:spLocks noChangeAspect="1" noChangeShapeType="1"/>
            </p:cNvSpPr>
            <p:nvPr/>
          </p:nvSpPr>
          <p:spPr bwMode="auto">
            <a:xfrm flipH="1">
              <a:off x="3319" y="1469"/>
              <a:ext cx="105" cy="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42" name="Line 139"/>
            <p:cNvSpPr>
              <a:spLocks noChangeAspect="1" noChangeShapeType="1"/>
            </p:cNvSpPr>
            <p:nvPr/>
          </p:nvSpPr>
          <p:spPr bwMode="auto">
            <a:xfrm flipH="1">
              <a:off x="3319" y="1325"/>
              <a:ext cx="99" cy="0"/>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7243" name="Group 140"/>
            <p:cNvGrpSpPr>
              <a:grpSpLocks noChangeAspect="1"/>
            </p:cNvGrpSpPr>
            <p:nvPr/>
          </p:nvGrpSpPr>
          <p:grpSpPr bwMode="auto">
            <a:xfrm>
              <a:off x="3454" y="1424"/>
              <a:ext cx="133" cy="34"/>
              <a:chOff x="1387" y="2767"/>
              <a:chExt cx="530" cy="136"/>
            </a:xfrm>
          </p:grpSpPr>
          <p:grpSp>
            <p:nvGrpSpPr>
              <p:cNvPr id="147269" name="Group 141"/>
              <p:cNvGrpSpPr>
                <a:grpSpLocks noChangeAspect="1"/>
              </p:cNvGrpSpPr>
              <p:nvPr/>
            </p:nvGrpSpPr>
            <p:grpSpPr bwMode="auto">
              <a:xfrm>
                <a:off x="1387" y="2776"/>
                <a:ext cx="80" cy="127"/>
                <a:chOff x="3653" y="1343"/>
                <a:chExt cx="384" cy="612"/>
              </a:xfrm>
            </p:grpSpPr>
            <p:sp>
              <p:nvSpPr>
                <p:cNvPr id="147281" name="Freeform 142"/>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82" name="Line 143"/>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270" name="Group 144"/>
              <p:cNvGrpSpPr>
                <a:grpSpLocks noChangeAspect="1"/>
              </p:cNvGrpSpPr>
              <p:nvPr/>
            </p:nvGrpSpPr>
            <p:grpSpPr bwMode="auto">
              <a:xfrm>
                <a:off x="1518" y="2767"/>
                <a:ext cx="11" cy="136"/>
                <a:chOff x="1434" y="1286"/>
                <a:chExt cx="56" cy="679"/>
              </a:xfrm>
            </p:grpSpPr>
            <p:sp>
              <p:nvSpPr>
                <p:cNvPr id="147279" name="Freeform 145"/>
                <p:cNvSpPr>
                  <a:spLocks noChangeAspect="1"/>
                </p:cNvSpPr>
                <p:nvPr/>
              </p:nvSpPr>
              <p:spPr bwMode="auto">
                <a:xfrm>
                  <a:off x="1459" y="1459"/>
                  <a:ext cx="1" cy="506"/>
                </a:xfrm>
                <a:custGeom>
                  <a:avLst/>
                  <a:gdLst>
                    <a:gd name="T0" fmla="*/ 0 w 1"/>
                    <a:gd name="T1" fmla="*/ 0 h 506"/>
                    <a:gd name="T2" fmla="*/ 0 w 1"/>
                    <a:gd name="T3" fmla="*/ 506 h 506"/>
                    <a:gd name="T4" fmla="*/ 0 60000 65536"/>
                    <a:gd name="T5" fmla="*/ 0 60000 65536"/>
                    <a:gd name="T6" fmla="*/ 0 w 1"/>
                    <a:gd name="T7" fmla="*/ 0 h 506"/>
                    <a:gd name="T8" fmla="*/ 1 w 1"/>
                    <a:gd name="T9" fmla="*/ 506 h 506"/>
                  </a:gdLst>
                  <a:ahLst/>
                  <a:cxnLst>
                    <a:cxn ang="T4">
                      <a:pos x="T0" y="T1"/>
                    </a:cxn>
                    <a:cxn ang="T5">
                      <a:pos x="T2" y="T3"/>
                    </a:cxn>
                  </a:cxnLst>
                  <a:rect l="T6" t="T7" r="T8" b="T9"/>
                  <a:pathLst>
                    <a:path w="1" h="506">
                      <a:moveTo>
                        <a:pt x="0" y="0"/>
                      </a:moveTo>
                      <a:cubicBezTo>
                        <a:pt x="0" y="211"/>
                        <a:pt x="0" y="422"/>
                        <a:pt x="0" y="50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80" name="Oval 146"/>
                <p:cNvSpPr>
                  <a:spLocks noChangeAspect="1" noChangeArrowheads="1"/>
                </p:cNvSpPr>
                <p:nvPr/>
              </p:nvSpPr>
              <p:spPr bwMode="auto">
                <a:xfrm>
                  <a:off x="1434" y="1286"/>
                  <a:ext cx="56" cy="56"/>
                </a:xfrm>
                <a:prstGeom prst="ellipse">
                  <a:avLst/>
                </a:prstGeom>
                <a:solidFill>
                  <a:schemeClr val="tx1"/>
                </a:solidFill>
                <a:ln w="6350">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271" name="Line 147"/>
              <p:cNvSpPr>
                <a:spLocks noChangeAspect="1" noChangeShapeType="1"/>
              </p:cNvSpPr>
              <p:nvPr/>
            </p:nvSpPr>
            <p:spPr bwMode="auto">
              <a:xfrm>
                <a:off x="1590" y="2767"/>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47272" name="Group 148"/>
              <p:cNvGrpSpPr>
                <a:grpSpLocks noChangeAspect="1"/>
              </p:cNvGrpSpPr>
              <p:nvPr/>
            </p:nvGrpSpPr>
            <p:grpSpPr bwMode="auto">
              <a:xfrm>
                <a:off x="1645" y="2776"/>
                <a:ext cx="58" cy="127"/>
                <a:chOff x="3612" y="1686"/>
                <a:chExt cx="288" cy="634"/>
              </a:xfrm>
            </p:grpSpPr>
            <p:sp>
              <p:nvSpPr>
                <p:cNvPr id="147277" name="Freeform 149"/>
                <p:cNvSpPr>
                  <a:spLocks noChangeAspect="1"/>
                </p:cNvSpPr>
                <p:nvPr/>
              </p:nvSpPr>
              <p:spPr bwMode="auto">
                <a:xfrm>
                  <a:off x="3738" y="1686"/>
                  <a:ext cx="162" cy="634"/>
                </a:xfrm>
                <a:custGeom>
                  <a:avLst/>
                  <a:gdLst>
                    <a:gd name="T0" fmla="*/ 0 w 162"/>
                    <a:gd name="T1" fmla="*/ 0 h 634"/>
                    <a:gd name="T2" fmla="*/ 0 w 162"/>
                    <a:gd name="T3" fmla="*/ 534 h 634"/>
                    <a:gd name="T4" fmla="*/ 162 w 162"/>
                    <a:gd name="T5" fmla="*/ 600 h 634"/>
                    <a:gd name="T6" fmla="*/ 0 60000 65536"/>
                    <a:gd name="T7" fmla="*/ 0 60000 65536"/>
                    <a:gd name="T8" fmla="*/ 0 60000 65536"/>
                    <a:gd name="T9" fmla="*/ 0 w 162"/>
                    <a:gd name="T10" fmla="*/ 0 h 634"/>
                    <a:gd name="T11" fmla="*/ 162 w 162"/>
                    <a:gd name="T12" fmla="*/ 634 h 634"/>
                  </a:gdLst>
                  <a:ahLst/>
                  <a:cxnLst>
                    <a:cxn ang="T6">
                      <a:pos x="T0" y="T1"/>
                    </a:cxn>
                    <a:cxn ang="T7">
                      <a:pos x="T2" y="T3"/>
                    </a:cxn>
                    <a:cxn ang="T8">
                      <a:pos x="T4" y="T5"/>
                    </a:cxn>
                  </a:cxnLst>
                  <a:rect l="T9" t="T10" r="T11" b="T12"/>
                  <a:pathLst>
                    <a:path w="162" h="634">
                      <a:moveTo>
                        <a:pt x="0" y="0"/>
                      </a:moveTo>
                      <a:lnTo>
                        <a:pt x="0" y="534"/>
                      </a:lnTo>
                      <a:cubicBezTo>
                        <a:pt x="27" y="634"/>
                        <a:pt x="94" y="617"/>
                        <a:pt x="162" y="60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78" name="Freeform 150"/>
                <p:cNvSpPr>
                  <a:spLocks noChangeAspect="1"/>
                </p:cNvSpPr>
                <p:nvPr/>
              </p:nvSpPr>
              <p:spPr bwMode="auto">
                <a:xfrm>
                  <a:off x="3612" y="1872"/>
                  <a:ext cx="276" cy="1"/>
                </a:xfrm>
                <a:custGeom>
                  <a:avLst/>
                  <a:gdLst>
                    <a:gd name="T0" fmla="*/ 0 w 276"/>
                    <a:gd name="T1" fmla="*/ 0 h 1"/>
                    <a:gd name="T2" fmla="*/ 276 w 276"/>
                    <a:gd name="T3" fmla="*/ 0 h 1"/>
                    <a:gd name="T4" fmla="*/ 0 60000 65536"/>
                    <a:gd name="T5" fmla="*/ 0 60000 65536"/>
                    <a:gd name="T6" fmla="*/ 0 w 276"/>
                    <a:gd name="T7" fmla="*/ 0 h 1"/>
                    <a:gd name="T8" fmla="*/ 276 w 276"/>
                    <a:gd name="T9" fmla="*/ 1 h 1"/>
                  </a:gdLst>
                  <a:ahLst/>
                  <a:cxnLst>
                    <a:cxn ang="T4">
                      <a:pos x="T0" y="T1"/>
                    </a:cxn>
                    <a:cxn ang="T5">
                      <a:pos x="T2" y="T3"/>
                    </a:cxn>
                  </a:cxnLst>
                  <a:rect l="T6" t="T7" r="T8" b="T9"/>
                  <a:pathLst>
                    <a:path w="276" h="1">
                      <a:moveTo>
                        <a:pt x="0" y="0"/>
                      </a:moveTo>
                      <a:cubicBezTo>
                        <a:pt x="0" y="0"/>
                        <a:pt x="138" y="0"/>
                        <a:pt x="276"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73" name="Freeform 151"/>
              <p:cNvSpPr>
                <a:spLocks noChangeAspect="1"/>
              </p:cNvSpPr>
              <p:nvPr/>
            </p:nvSpPr>
            <p:spPr bwMode="auto">
              <a:xfrm>
                <a:off x="1741" y="2810"/>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274" name="Group 152"/>
              <p:cNvGrpSpPr>
                <a:grpSpLocks noChangeAspect="1"/>
              </p:cNvGrpSpPr>
              <p:nvPr/>
            </p:nvGrpSpPr>
            <p:grpSpPr bwMode="auto">
              <a:xfrm>
                <a:off x="1871" y="2800"/>
                <a:ext cx="46" cy="103"/>
                <a:chOff x="2808" y="1818"/>
                <a:chExt cx="228" cy="516"/>
              </a:xfrm>
            </p:grpSpPr>
            <p:sp>
              <p:nvSpPr>
                <p:cNvPr id="147275" name="Freeform 153"/>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76" name="Freeform 154"/>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7244" name="Group 155"/>
            <p:cNvGrpSpPr>
              <a:grpSpLocks noChangeAspect="1"/>
            </p:cNvGrpSpPr>
            <p:nvPr/>
          </p:nvGrpSpPr>
          <p:grpSpPr bwMode="auto">
            <a:xfrm>
              <a:off x="3454" y="1482"/>
              <a:ext cx="131" cy="36"/>
              <a:chOff x="2092" y="2798"/>
              <a:chExt cx="522" cy="145"/>
            </a:xfrm>
          </p:grpSpPr>
          <p:sp>
            <p:nvSpPr>
              <p:cNvPr id="147262" name="Freeform 156"/>
              <p:cNvSpPr>
                <a:spLocks noChangeAspect="1"/>
              </p:cNvSpPr>
              <p:nvPr/>
            </p:nvSpPr>
            <p:spPr bwMode="auto">
              <a:xfrm flipH="1" flipV="1">
                <a:off x="2092"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63" name="Freeform 157"/>
              <p:cNvSpPr>
                <a:spLocks noChangeAspect="1"/>
              </p:cNvSpPr>
              <p:nvPr/>
            </p:nvSpPr>
            <p:spPr bwMode="auto">
              <a:xfrm>
                <a:off x="2203" y="2798"/>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64" name="Freeform 158"/>
              <p:cNvSpPr>
                <a:spLocks noChangeAspect="1"/>
              </p:cNvSpPr>
              <p:nvPr/>
            </p:nvSpPr>
            <p:spPr bwMode="auto">
              <a:xfrm flipH="1" flipV="1">
                <a:off x="2323"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65" name="Freeform 159"/>
              <p:cNvSpPr>
                <a:spLocks noChangeAspect="1"/>
              </p:cNvSpPr>
              <p:nvPr/>
            </p:nvSpPr>
            <p:spPr bwMode="auto">
              <a:xfrm>
                <a:off x="2438" y="2798"/>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266" name="Group 160"/>
              <p:cNvGrpSpPr>
                <a:grpSpLocks noChangeAspect="1"/>
              </p:cNvGrpSpPr>
              <p:nvPr/>
            </p:nvGrpSpPr>
            <p:grpSpPr bwMode="auto">
              <a:xfrm>
                <a:off x="2568" y="2798"/>
                <a:ext cx="46" cy="103"/>
                <a:chOff x="2808" y="1818"/>
                <a:chExt cx="228" cy="516"/>
              </a:xfrm>
            </p:grpSpPr>
            <p:sp>
              <p:nvSpPr>
                <p:cNvPr id="147267" name="Freeform 161"/>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68" name="Freeform 162"/>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7245" name="Group 163"/>
            <p:cNvGrpSpPr>
              <a:grpSpLocks noChangeAspect="1"/>
            </p:cNvGrpSpPr>
            <p:nvPr/>
          </p:nvGrpSpPr>
          <p:grpSpPr bwMode="auto">
            <a:xfrm>
              <a:off x="3442" y="1269"/>
              <a:ext cx="132" cy="47"/>
              <a:chOff x="2034" y="2498"/>
              <a:chExt cx="525" cy="188"/>
            </a:xfrm>
          </p:grpSpPr>
          <p:sp>
            <p:nvSpPr>
              <p:cNvPr id="147255" name="Freeform 164"/>
              <p:cNvSpPr>
                <a:spLocks noChangeAspect="1"/>
              </p:cNvSpPr>
              <p:nvPr/>
            </p:nvSpPr>
            <p:spPr bwMode="auto">
              <a:xfrm>
                <a:off x="2148" y="2541"/>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56" name="Freeform 165"/>
              <p:cNvSpPr>
                <a:spLocks noChangeAspect="1"/>
              </p:cNvSpPr>
              <p:nvPr/>
            </p:nvSpPr>
            <p:spPr bwMode="auto">
              <a:xfrm flipH="1" flipV="1">
                <a:off x="2268" y="2541"/>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57" name="Freeform 166"/>
              <p:cNvSpPr>
                <a:spLocks noChangeAspect="1"/>
              </p:cNvSpPr>
              <p:nvPr/>
            </p:nvSpPr>
            <p:spPr bwMode="auto">
              <a:xfrm>
                <a:off x="2383" y="2541"/>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258" name="Group 167"/>
              <p:cNvGrpSpPr>
                <a:grpSpLocks noChangeAspect="1"/>
              </p:cNvGrpSpPr>
              <p:nvPr/>
            </p:nvGrpSpPr>
            <p:grpSpPr bwMode="auto">
              <a:xfrm>
                <a:off x="2513" y="2541"/>
                <a:ext cx="46" cy="103"/>
                <a:chOff x="2808" y="1818"/>
                <a:chExt cx="228" cy="516"/>
              </a:xfrm>
            </p:grpSpPr>
            <p:sp>
              <p:nvSpPr>
                <p:cNvPr id="147260" name="Freeform 168"/>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61" name="Freeform 169"/>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59" name="Freeform 170"/>
              <p:cNvSpPr>
                <a:spLocks noChangeAspect="1"/>
              </p:cNvSpPr>
              <p:nvPr/>
            </p:nvSpPr>
            <p:spPr bwMode="auto">
              <a:xfrm>
                <a:off x="2034" y="2498"/>
                <a:ext cx="81" cy="132"/>
              </a:xfrm>
              <a:custGeom>
                <a:avLst/>
                <a:gdLst>
                  <a:gd name="T0" fmla="*/ 0 w 407"/>
                  <a:gd name="T1" fmla="*/ 1 h 666"/>
                  <a:gd name="T2" fmla="*/ 0 w 407"/>
                  <a:gd name="T3" fmla="*/ 0 h 666"/>
                  <a:gd name="T4" fmla="*/ 0 w 407"/>
                  <a:gd name="T5" fmla="*/ 0 h 666"/>
                  <a:gd name="T6" fmla="*/ 1 w 407"/>
                  <a:gd name="T7" fmla="*/ 0 h 666"/>
                  <a:gd name="T8" fmla="*/ 1 w 407"/>
                  <a:gd name="T9" fmla="*/ 0 h 666"/>
                  <a:gd name="T10" fmla="*/ 0 w 407"/>
                  <a:gd name="T11" fmla="*/ 1 h 666"/>
                  <a:gd name="T12" fmla="*/ 0 w 407"/>
                  <a:gd name="T13" fmla="*/ 1 h 666"/>
                  <a:gd name="T14" fmla="*/ 0 60000 65536"/>
                  <a:gd name="T15" fmla="*/ 0 60000 65536"/>
                  <a:gd name="T16" fmla="*/ 0 60000 65536"/>
                  <a:gd name="T17" fmla="*/ 0 60000 65536"/>
                  <a:gd name="T18" fmla="*/ 0 60000 65536"/>
                  <a:gd name="T19" fmla="*/ 0 60000 65536"/>
                  <a:gd name="T20" fmla="*/ 0 60000 65536"/>
                  <a:gd name="T21" fmla="*/ 0 w 407"/>
                  <a:gd name="T22" fmla="*/ 0 h 666"/>
                  <a:gd name="T23" fmla="*/ 407 w 407"/>
                  <a:gd name="T24" fmla="*/ 666 h 6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7" h="666">
                    <a:moveTo>
                      <a:pt x="0" y="666"/>
                    </a:moveTo>
                    <a:lnTo>
                      <a:pt x="0" y="0"/>
                    </a:lnTo>
                    <a:lnTo>
                      <a:pt x="246" y="0"/>
                    </a:lnTo>
                    <a:cubicBezTo>
                      <a:pt x="309" y="13"/>
                      <a:pt x="355" y="37"/>
                      <a:pt x="378" y="78"/>
                    </a:cubicBezTo>
                    <a:cubicBezTo>
                      <a:pt x="401" y="119"/>
                      <a:pt x="407" y="201"/>
                      <a:pt x="384" y="246"/>
                    </a:cubicBezTo>
                    <a:cubicBezTo>
                      <a:pt x="361" y="291"/>
                      <a:pt x="304" y="331"/>
                      <a:pt x="240" y="348"/>
                    </a:cubicBezTo>
                    <a:lnTo>
                      <a:pt x="0" y="348"/>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7246" name="Group 171"/>
            <p:cNvGrpSpPr>
              <a:grpSpLocks noChangeAspect="1"/>
            </p:cNvGrpSpPr>
            <p:nvPr/>
          </p:nvGrpSpPr>
          <p:grpSpPr bwMode="auto">
            <a:xfrm>
              <a:off x="3438" y="1321"/>
              <a:ext cx="150" cy="34"/>
              <a:chOff x="2734" y="2495"/>
              <a:chExt cx="597" cy="136"/>
            </a:xfrm>
          </p:grpSpPr>
          <p:grpSp>
            <p:nvGrpSpPr>
              <p:cNvPr id="147247" name="Group 172"/>
              <p:cNvGrpSpPr>
                <a:grpSpLocks noChangeAspect="1"/>
              </p:cNvGrpSpPr>
              <p:nvPr/>
            </p:nvGrpSpPr>
            <p:grpSpPr bwMode="auto">
              <a:xfrm>
                <a:off x="2734" y="2504"/>
                <a:ext cx="58" cy="127"/>
                <a:chOff x="3612" y="1686"/>
                <a:chExt cx="288" cy="634"/>
              </a:xfrm>
            </p:grpSpPr>
            <p:sp>
              <p:nvSpPr>
                <p:cNvPr id="147253" name="Freeform 173"/>
                <p:cNvSpPr>
                  <a:spLocks noChangeAspect="1"/>
                </p:cNvSpPr>
                <p:nvPr/>
              </p:nvSpPr>
              <p:spPr bwMode="auto">
                <a:xfrm>
                  <a:off x="3738" y="1686"/>
                  <a:ext cx="162" cy="634"/>
                </a:xfrm>
                <a:custGeom>
                  <a:avLst/>
                  <a:gdLst>
                    <a:gd name="T0" fmla="*/ 0 w 162"/>
                    <a:gd name="T1" fmla="*/ 0 h 634"/>
                    <a:gd name="T2" fmla="*/ 0 w 162"/>
                    <a:gd name="T3" fmla="*/ 534 h 634"/>
                    <a:gd name="T4" fmla="*/ 162 w 162"/>
                    <a:gd name="T5" fmla="*/ 600 h 634"/>
                    <a:gd name="T6" fmla="*/ 0 60000 65536"/>
                    <a:gd name="T7" fmla="*/ 0 60000 65536"/>
                    <a:gd name="T8" fmla="*/ 0 60000 65536"/>
                    <a:gd name="T9" fmla="*/ 0 w 162"/>
                    <a:gd name="T10" fmla="*/ 0 h 634"/>
                    <a:gd name="T11" fmla="*/ 162 w 162"/>
                    <a:gd name="T12" fmla="*/ 634 h 634"/>
                  </a:gdLst>
                  <a:ahLst/>
                  <a:cxnLst>
                    <a:cxn ang="T6">
                      <a:pos x="T0" y="T1"/>
                    </a:cxn>
                    <a:cxn ang="T7">
                      <a:pos x="T2" y="T3"/>
                    </a:cxn>
                    <a:cxn ang="T8">
                      <a:pos x="T4" y="T5"/>
                    </a:cxn>
                  </a:cxnLst>
                  <a:rect l="T9" t="T10" r="T11" b="T12"/>
                  <a:pathLst>
                    <a:path w="162" h="634">
                      <a:moveTo>
                        <a:pt x="0" y="0"/>
                      </a:moveTo>
                      <a:lnTo>
                        <a:pt x="0" y="534"/>
                      </a:lnTo>
                      <a:cubicBezTo>
                        <a:pt x="27" y="634"/>
                        <a:pt x="94" y="617"/>
                        <a:pt x="162" y="60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54" name="Freeform 174"/>
                <p:cNvSpPr>
                  <a:spLocks noChangeAspect="1"/>
                </p:cNvSpPr>
                <p:nvPr/>
              </p:nvSpPr>
              <p:spPr bwMode="auto">
                <a:xfrm>
                  <a:off x="3612" y="1872"/>
                  <a:ext cx="276" cy="1"/>
                </a:xfrm>
                <a:custGeom>
                  <a:avLst/>
                  <a:gdLst>
                    <a:gd name="T0" fmla="*/ 0 w 276"/>
                    <a:gd name="T1" fmla="*/ 0 h 1"/>
                    <a:gd name="T2" fmla="*/ 276 w 276"/>
                    <a:gd name="T3" fmla="*/ 0 h 1"/>
                    <a:gd name="T4" fmla="*/ 0 60000 65536"/>
                    <a:gd name="T5" fmla="*/ 0 60000 65536"/>
                    <a:gd name="T6" fmla="*/ 0 w 276"/>
                    <a:gd name="T7" fmla="*/ 0 h 1"/>
                    <a:gd name="T8" fmla="*/ 276 w 276"/>
                    <a:gd name="T9" fmla="*/ 1 h 1"/>
                  </a:gdLst>
                  <a:ahLst/>
                  <a:cxnLst>
                    <a:cxn ang="T4">
                      <a:pos x="T0" y="T1"/>
                    </a:cxn>
                    <a:cxn ang="T5">
                      <a:pos x="T2" y="T3"/>
                    </a:cxn>
                  </a:cxnLst>
                  <a:rect l="T6" t="T7" r="T8" b="T9"/>
                  <a:pathLst>
                    <a:path w="276" h="1">
                      <a:moveTo>
                        <a:pt x="0" y="0"/>
                      </a:moveTo>
                      <a:cubicBezTo>
                        <a:pt x="0" y="0"/>
                        <a:pt x="138" y="0"/>
                        <a:pt x="276"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48" name="Freeform 175"/>
              <p:cNvSpPr>
                <a:spLocks noChangeAspect="1"/>
              </p:cNvSpPr>
              <p:nvPr/>
            </p:nvSpPr>
            <p:spPr bwMode="auto">
              <a:xfrm>
                <a:off x="2832" y="2538"/>
                <a:ext cx="81" cy="93"/>
              </a:xfrm>
              <a:custGeom>
                <a:avLst/>
                <a:gdLst>
                  <a:gd name="T0" fmla="*/ 0 w 402"/>
                  <a:gd name="T1" fmla="*/ 0 h 464"/>
                  <a:gd name="T2" fmla="*/ 0 w 402"/>
                  <a:gd name="T3" fmla="*/ 0 h 464"/>
                  <a:gd name="T4" fmla="*/ 0 w 402"/>
                  <a:gd name="T5" fmla="*/ 0 h 464"/>
                  <a:gd name="T6" fmla="*/ 0 w 402"/>
                  <a:gd name="T7" fmla="*/ 0 h 464"/>
                  <a:gd name="T8" fmla="*/ 0 w 402"/>
                  <a:gd name="T9" fmla="*/ 1 h 464"/>
                  <a:gd name="T10" fmla="*/ 0 w 402"/>
                  <a:gd name="T11" fmla="*/ 1 h 464"/>
                  <a:gd name="T12" fmla="*/ 0 w 402"/>
                  <a:gd name="T13" fmla="*/ 1 h 464"/>
                  <a:gd name="T14" fmla="*/ 1 w 402"/>
                  <a:gd name="T15" fmla="*/ 0 h 464"/>
                  <a:gd name="T16" fmla="*/ 1 w 402"/>
                  <a:gd name="T17" fmla="*/ 0 h 464"/>
                  <a:gd name="T18" fmla="*/ 1 w 402"/>
                  <a:gd name="T19" fmla="*/ 0 h 464"/>
                  <a:gd name="T20" fmla="*/ 0 w 402"/>
                  <a:gd name="T21" fmla="*/ 0 h 4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2"/>
                  <a:gd name="T34" fmla="*/ 0 h 464"/>
                  <a:gd name="T35" fmla="*/ 402 w 402"/>
                  <a:gd name="T36" fmla="*/ 464 h 4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2" h="464">
                    <a:moveTo>
                      <a:pt x="192" y="0"/>
                    </a:moveTo>
                    <a:cubicBezTo>
                      <a:pt x="176" y="4"/>
                      <a:pt x="120" y="2"/>
                      <a:pt x="90" y="26"/>
                    </a:cubicBezTo>
                    <a:cubicBezTo>
                      <a:pt x="60" y="50"/>
                      <a:pt x="26" y="101"/>
                      <a:pt x="13" y="147"/>
                    </a:cubicBezTo>
                    <a:cubicBezTo>
                      <a:pt x="0" y="193"/>
                      <a:pt x="3" y="258"/>
                      <a:pt x="13" y="301"/>
                    </a:cubicBezTo>
                    <a:cubicBezTo>
                      <a:pt x="23" y="344"/>
                      <a:pt x="44" y="377"/>
                      <a:pt x="71" y="403"/>
                    </a:cubicBezTo>
                    <a:cubicBezTo>
                      <a:pt x="98" y="429"/>
                      <a:pt x="140" y="458"/>
                      <a:pt x="179" y="461"/>
                    </a:cubicBezTo>
                    <a:cubicBezTo>
                      <a:pt x="218" y="464"/>
                      <a:pt x="273" y="448"/>
                      <a:pt x="307" y="422"/>
                    </a:cubicBezTo>
                    <a:cubicBezTo>
                      <a:pt x="341" y="396"/>
                      <a:pt x="370" y="351"/>
                      <a:pt x="384" y="307"/>
                    </a:cubicBezTo>
                    <a:cubicBezTo>
                      <a:pt x="398" y="263"/>
                      <a:pt x="402" y="205"/>
                      <a:pt x="391" y="160"/>
                    </a:cubicBezTo>
                    <a:cubicBezTo>
                      <a:pt x="380" y="115"/>
                      <a:pt x="352" y="65"/>
                      <a:pt x="320" y="38"/>
                    </a:cubicBezTo>
                    <a:cubicBezTo>
                      <a:pt x="288" y="11"/>
                      <a:pt x="224" y="8"/>
                      <a:pt x="199"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49" name="Freeform 176"/>
              <p:cNvSpPr>
                <a:spLocks noChangeAspect="1"/>
              </p:cNvSpPr>
              <p:nvPr/>
            </p:nvSpPr>
            <p:spPr bwMode="auto">
              <a:xfrm>
                <a:off x="2945" y="2536"/>
                <a:ext cx="121" cy="95"/>
              </a:xfrm>
              <a:custGeom>
                <a:avLst/>
                <a:gdLst>
                  <a:gd name="T0" fmla="*/ 0 w 618"/>
                  <a:gd name="T1" fmla="*/ 0 h 498"/>
                  <a:gd name="T2" fmla="*/ 0 w 618"/>
                  <a:gd name="T3" fmla="*/ 1 h 498"/>
                  <a:gd name="T4" fmla="*/ 0 w 618"/>
                  <a:gd name="T5" fmla="*/ 0 h 498"/>
                  <a:gd name="T6" fmla="*/ 1 w 618"/>
                  <a:gd name="T7" fmla="*/ 1 h 498"/>
                  <a:gd name="T8" fmla="*/ 1 w 618"/>
                  <a:gd name="T9" fmla="*/ 0 h 498"/>
                  <a:gd name="T10" fmla="*/ 0 60000 65536"/>
                  <a:gd name="T11" fmla="*/ 0 60000 65536"/>
                  <a:gd name="T12" fmla="*/ 0 60000 65536"/>
                  <a:gd name="T13" fmla="*/ 0 60000 65536"/>
                  <a:gd name="T14" fmla="*/ 0 60000 65536"/>
                  <a:gd name="T15" fmla="*/ 0 w 618"/>
                  <a:gd name="T16" fmla="*/ 0 h 498"/>
                  <a:gd name="T17" fmla="*/ 618 w 618"/>
                  <a:gd name="T18" fmla="*/ 498 h 498"/>
                </a:gdLst>
                <a:ahLst/>
                <a:cxnLst>
                  <a:cxn ang="T10">
                    <a:pos x="T0" y="T1"/>
                  </a:cxn>
                  <a:cxn ang="T11">
                    <a:pos x="T2" y="T3"/>
                  </a:cxn>
                  <a:cxn ang="T12">
                    <a:pos x="T4" y="T5"/>
                  </a:cxn>
                  <a:cxn ang="T13">
                    <a:pos x="T6" y="T7"/>
                  </a:cxn>
                  <a:cxn ang="T14">
                    <a:pos x="T8" y="T9"/>
                  </a:cxn>
                </a:cxnLst>
                <a:rect l="T15" t="T16" r="T17" b="T18"/>
                <a:pathLst>
                  <a:path w="618" h="498">
                    <a:moveTo>
                      <a:pt x="0" y="0"/>
                    </a:moveTo>
                    <a:lnTo>
                      <a:pt x="150" y="498"/>
                    </a:lnTo>
                    <a:lnTo>
                      <a:pt x="306" y="12"/>
                    </a:lnTo>
                    <a:lnTo>
                      <a:pt x="462" y="498"/>
                    </a:lnTo>
                    <a:lnTo>
                      <a:pt x="618"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50" name="Freeform 177"/>
              <p:cNvSpPr>
                <a:spLocks noChangeAspect="1"/>
              </p:cNvSpPr>
              <p:nvPr/>
            </p:nvSpPr>
            <p:spPr bwMode="auto">
              <a:xfrm>
                <a:off x="3106" y="2538"/>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51" name="Line 178"/>
              <p:cNvSpPr>
                <a:spLocks noChangeAspect="1" noChangeShapeType="1"/>
              </p:cNvSpPr>
              <p:nvPr/>
            </p:nvSpPr>
            <p:spPr bwMode="auto">
              <a:xfrm>
                <a:off x="3220" y="2495"/>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252" name="Freeform 179"/>
              <p:cNvSpPr>
                <a:spLocks noChangeAspect="1"/>
              </p:cNvSpPr>
              <p:nvPr/>
            </p:nvSpPr>
            <p:spPr bwMode="auto">
              <a:xfrm>
                <a:off x="3261" y="2537"/>
                <a:ext cx="70" cy="94"/>
              </a:xfrm>
              <a:custGeom>
                <a:avLst/>
                <a:gdLst>
                  <a:gd name="T0" fmla="*/ 0 w 348"/>
                  <a:gd name="T1" fmla="*/ 0 h 454"/>
                  <a:gd name="T2" fmla="*/ 0 w 348"/>
                  <a:gd name="T3" fmla="*/ 0 h 454"/>
                  <a:gd name="T4" fmla="*/ 0 w 348"/>
                  <a:gd name="T5" fmla="*/ 0 h 454"/>
                  <a:gd name="T6" fmla="*/ 0 w 348"/>
                  <a:gd name="T7" fmla="*/ 0 h 454"/>
                  <a:gd name="T8" fmla="*/ 0 w 348"/>
                  <a:gd name="T9" fmla="*/ 0 h 454"/>
                  <a:gd name="T10" fmla="*/ 0 w 348"/>
                  <a:gd name="T11" fmla="*/ 1 h 454"/>
                  <a:gd name="T12" fmla="*/ 0 w 348"/>
                  <a:gd name="T13" fmla="*/ 1 h 454"/>
                  <a:gd name="T14" fmla="*/ 0 w 348"/>
                  <a:gd name="T15" fmla="*/ 1 h 454"/>
                  <a:gd name="T16" fmla="*/ 0 60000 65536"/>
                  <a:gd name="T17" fmla="*/ 0 60000 65536"/>
                  <a:gd name="T18" fmla="*/ 0 60000 65536"/>
                  <a:gd name="T19" fmla="*/ 0 60000 65536"/>
                  <a:gd name="T20" fmla="*/ 0 60000 65536"/>
                  <a:gd name="T21" fmla="*/ 0 60000 65536"/>
                  <a:gd name="T22" fmla="*/ 0 60000 65536"/>
                  <a:gd name="T23" fmla="*/ 0 60000 65536"/>
                  <a:gd name="T24" fmla="*/ 0 w 348"/>
                  <a:gd name="T25" fmla="*/ 0 h 454"/>
                  <a:gd name="T26" fmla="*/ 348 w 348"/>
                  <a:gd name="T27" fmla="*/ 454 h 4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8" h="454">
                    <a:moveTo>
                      <a:pt x="307" y="95"/>
                    </a:moveTo>
                    <a:cubicBezTo>
                      <a:pt x="296" y="82"/>
                      <a:pt x="284" y="28"/>
                      <a:pt x="241" y="17"/>
                    </a:cubicBezTo>
                    <a:cubicBezTo>
                      <a:pt x="198" y="6"/>
                      <a:pt x="82" y="0"/>
                      <a:pt x="49" y="29"/>
                    </a:cubicBezTo>
                    <a:cubicBezTo>
                      <a:pt x="16" y="58"/>
                      <a:pt x="0" y="148"/>
                      <a:pt x="43" y="191"/>
                    </a:cubicBezTo>
                    <a:cubicBezTo>
                      <a:pt x="86" y="234"/>
                      <a:pt x="266" y="248"/>
                      <a:pt x="307" y="287"/>
                    </a:cubicBezTo>
                    <a:cubicBezTo>
                      <a:pt x="348" y="326"/>
                      <a:pt x="325" y="399"/>
                      <a:pt x="289" y="425"/>
                    </a:cubicBezTo>
                    <a:cubicBezTo>
                      <a:pt x="253" y="451"/>
                      <a:pt x="138" y="454"/>
                      <a:pt x="91" y="443"/>
                    </a:cubicBezTo>
                    <a:cubicBezTo>
                      <a:pt x="44" y="432"/>
                      <a:pt x="24" y="376"/>
                      <a:pt x="7" y="35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146435" name="Text Box 180"/>
          <p:cNvSpPr txBox="1">
            <a:spLocks noChangeArrowheads="1"/>
          </p:cNvSpPr>
          <p:nvPr/>
        </p:nvSpPr>
        <p:spPr bwMode="auto">
          <a:xfrm>
            <a:off x="231775" y="173038"/>
            <a:ext cx="183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2000" b="1">
                <a:latin typeface="Arial" panose="020B0604020202020204" pitchFamily="34" charset="0"/>
              </a:rPr>
              <a:t>Southern blot</a:t>
            </a:r>
          </a:p>
        </p:txBody>
      </p:sp>
      <p:grpSp>
        <p:nvGrpSpPr>
          <p:cNvPr id="146436" name="Group 181"/>
          <p:cNvGrpSpPr>
            <a:grpSpLocks noChangeAspect="1"/>
          </p:cNvGrpSpPr>
          <p:nvPr/>
        </p:nvGrpSpPr>
        <p:grpSpPr bwMode="auto">
          <a:xfrm>
            <a:off x="2114550" y="2132013"/>
            <a:ext cx="2751138" cy="903287"/>
            <a:chOff x="756" y="1409"/>
            <a:chExt cx="1440" cy="473"/>
          </a:xfrm>
        </p:grpSpPr>
        <p:sp>
          <p:nvSpPr>
            <p:cNvPr id="147160" name="Freeform 182"/>
            <p:cNvSpPr>
              <a:spLocks noChangeAspect="1"/>
            </p:cNvSpPr>
            <p:nvPr/>
          </p:nvSpPr>
          <p:spPr bwMode="auto">
            <a:xfrm>
              <a:off x="853" y="1551"/>
              <a:ext cx="1247" cy="273"/>
            </a:xfrm>
            <a:custGeom>
              <a:avLst/>
              <a:gdLst>
                <a:gd name="T0" fmla="*/ 0 w 3102"/>
                <a:gd name="T1" fmla="*/ 0 h 678"/>
                <a:gd name="T2" fmla="*/ 0 w 3102"/>
                <a:gd name="T3" fmla="*/ 17 h 678"/>
                <a:gd name="T4" fmla="*/ 15 w 3102"/>
                <a:gd name="T5" fmla="*/ 17 h 678"/>
                <a:gd name="T6" fmla="*/ 16 w 3102"/>
                <a:gd name="T7" fmla="*/ 9 h 678"/>
                <a:gd name="T8" fmla="*/ 63 w 3102"/>
                <a:gd name="T9" fmla="*/ 9 h 678"/>
                <a:gd name="T10" fmla="*/ 63 w 3102"/>
                <a:gd name="T11" fmla="*/ 18 h 678"/>
                <a:gd name="T12" fmla="*/ 81 w 3102"/>
                <a:gd name="T13" fmla="*/ 17 h 678"/>
                <a:gd name="T14" fmla="*/ 81 w 3102"/>
                <a:gd name="T15" fmla="*/ 0 h 678"/>
                <a:gd name="T16" fmla="*/ 0 w 3102"/>
                <a:gd name="T17" fmla="*/ 0 h 6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02"/>
                <a:gd name="T28" fmla="*/ 0 h 678"/>
                <a:gd name="T29" fmla="*/ 3102 w 3102"/>
                <a:gd name="T30" fmla="*/ 678 h 6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02" h="678">
                  <a:moveTo>
                    <a:pt x="0" y="0"/>
                  </a:moveTo>
                  <a:lnTo>
                    <a:pt x="0" y="660"/>
                  </a:lnTo>
                  <a:lnTo>
                    <a:pt x="588" y="654"/>
                  </a:lnTo>
                  <a:lnTo>
                    <a:pt x="594" y="354"/>
                  </a:lnTo>
                  <a:lnTo>
                    <a:pt x="2400" y="354"/>
                  </a:lnTo>
                  <a:lnTo>
                    <a:pt x="2400" y="678"/>
                  </a:lnTo>
                  <a:lnTo>
                    <a:pt x="3102" y="666"/>
                  </a:lnTo>
                  <a:lnTo>
                    <a:pt x="3090" y="0"/>
                  </a:lnTo>
                  <a:lnTo>
                    <a:pt x="0" y="0"/>
                  </a:lnTo>
                  <a:close/>
                </a:path>
              </a:pathLst>
            </a:custGeom>
            <a:solidFill>
              <a:srgbClr val="EAEAEA"/>
            </a:solidFill>
            <a:ln>
              <a:noFill/>
            </a:ln>
            <a:extLst>
              <a:ext uri="{91240B29-F687-4F45-9708-019B960494DF}">
                <a14:hiddenLine xmlns:a14="http://schemas.microsoft.com/office/drawing/2010/main" w="28575">
                  <a:solidFill>
                    <a:srgbClr val="000000"/>
                  </a:solidFill>
                  <a:round/>
                </a14:hiddenLine>
              </a:ext>
            </a:extLst>
          </p:spPr>
          <p:txBody>
            <a:bodyPr wrap="none" anchor="ctr"/>
            <a:lstStyle/>
            <a:p>
              <a:endParaRPr lang="zh-CN" altLang="en-US"/>
            </a:p>
          </p:txBody>
        </p:sp>
        <p:sp>
          <p:nvSpPr>
            <p:cNvPr id="147161" name="Freeform 183"/>
            <p:cNvSpPr>
              <a:spLocks noChangeAspect="1"/>
            </p:cNvSpPr>
            <p:nvPr/>
          </p:nvSpPr>
          <p:spPr bwMode="auto">
            <a:xfrm>
              <a:off x="792" y="1484"/>
              <a:ext cx="1359" cy="398"/>
            </a:xfrm>
            <a:custGeom>
              <a:avLst/>
              <a:gdLst>
                <a:gd name="T0" fmla="*/ 0 w 3378"/>
                <a:gd name="T1" fmla="*/ 0 h 990"/>
                <a:gd name="T2" fmla="*/ 0 w 3378"/>
                <a:gd name="T3" fmla="*/ 26 h 990"/>
                <a:gd name="T4" fmla="*/ 23 w 3378"/>
                <a:gd name="T5" fmla="*/ 26 h 990"/>
                <a:gd name="T6" fmla="*/ 23 w 3378"/>
                <a:gd name="T7" fmla="*/ 18 h 990"/>
                <a:gd name="T8" fmla="*/ 63 w 3378"/>
                <a:gd name="T9" fmla="*/ 18 h 990"/>
                <a:gd name="T10" fmla="*/ 63 w 3378"/>
                <a:gd name="T11" fmla="*/ 25 h 990"/>
                <a:gd name="T12" fmla="*/ 89 w 3378"/>
                <a:gd name="T13" fmla="*/ 25 h 990"/>
                <a:gd name="T14" fmla="*/ 89 w 3378"/>
                <a:gd name="T15" fmla="*/ 0 h 990"/>
                <a:gd name="T16" fmla="*/ 85 w 3378"/>
                <a:gd name="T17" fmla="*/ 0 h 990"/>
                <a:gd name="T18" fmla="*/ 85 w 3378"/>
                <a:gd name="T19" fmla="*/ 22 h 990"/>
                <a:gd name="T20" fmla="*/ 67 w 3378"/>
                <a:gd name="T21" fmla="*/ 23 h 990"/>
                <a:gd name="T22" fmla="*/ 67 w 3378"/>
                <a:gd name="T23" fmla="*/ 14 h 990"/>
                <a:gd name="T24" fmla="*/ 19 w 3378"/>
                <a:gd name="T25" fmla="*/ 14 h 990"/>
                <a:gd name="T26" fmla="*/ 19 w 3378"/>
                <a:gd name="T27" fmla="*/ 22 h 990"/>
                <a:gd name="T28" fmla="*/ 4 w 3378"/>
                <a:gd name="T29" fmla="*/ 22 h 990"/>
                <a:gd name="T30" fmla="*/ 4 w 3378"/>
                <a:gd name="T31" fmla="*/ 0 h 990"/>
                <a:gd name="T32" fmla="*/ 0 w 3378"/>
                <a:gd name="T33" fmla="*/ 0 h 9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78"/>
                <a:gd name="T52" fmla="*/ 0 h 990"/>
                <a:gd name="T53" fmla="*/ 3378 w 3378"/>
                <a:gd name="T54" fmla="*/ 990 h 99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78" h="990">
                  <a:moveTo>
                    <a:pt x="0" y="0"/>
                  </a:moveTo>
                  <a:lnTo>
                    <a:pt x="0" y="990"/>
                  </a:lnTo>
                  <a:lnTo>
                    <a:pt x="870" y="990"/>
                  </a:lnTo>
                  <a:lnTo>
                    <a:pt x="870" y="678"/>
                  </a:lnTo>
                  <a:lnTo>
                    <a:pt x="2412" y="678"/>
                  </a:lnTo>
                  <a:lnTo>
                    <a:pt x="2412" y="972"/>
                  </a:lnTo>
                  <a:lnTo>
                    <a:pt x="3378" y="972"/>
                  </a:lnTo>
                  <a:lnTo>
                    <a:pt x="3378" y="0"/>
                  </a:lnTo>
                  <a:lnTo>
                    <a:pt x="3258" y="0"/>
                  </a:lnTo>
                  <a:lnTo>
                    <a:pt x="3258" y="852"/>
                  </a:lnTo>
                  <a:lnTo>
                    <a:pt x="2544" y="858"/>
                  </a:lnTo>
                  <a:lnTo>
                    <a:pt x="2544" y="528"/>
                  </a:lnTo>
                  <a:lnTo>
                    <a:pt x="744" y="534"/>
                  </a:lnTo>
                  <a:lnTo>
                    <a:pt x="744" y="834"/>
                  </a:lnTo>
                  <a:lnTo>
                    <a:pt x="138" y="834"/>
                  </a:lnTo>
                  <a:lnTo>
                    <a:pt x="138" y="0"/>
                  </a:lnTo>
                  <a:lnTo>
                    <a:pt x="0" y="0"/>
                  </a:lnTo>
                  <a:close/>
                </a:path>
              </a:pathLst>
            </a:custGeom>
            <a:solidFill>
              <a:srgbClr val="4D4D4D"/>
            </a:solidFill>
            <a:ln w="12700">
              <a:solidFill>
                <a:schemeClr val="bg2"/>
              </a:solidFill>
              <a:round/>
            </a:ln>
          </p:spPr>
          <p:txBody>
            <a:bodyPr wrap="none" anchor="ctr"/>
            <a:lstStyle/>
            <a:p>
              <a:endParaRPr lang="zh-CN" altLang="en-US"/>
            </a:p>
          </p:txBody>
        </p:sp>
        <p:sp>
          <p:nvSpPr>
            <p:cNvPr id="147162" name="Freeform 184"/>
            <p:cNvSpPr>
              <a:spLocks noChangeAspect="1"/>
            </p:cNvSpPr>
            <p:nvPr/>
          </p:nvSpPr>
          <p:spPr bwMode="auto">
            <a:xfrm>
              <a:off x="1089" y="1592"/>
              <a:ext cx="729" cy="99"/>
            </a:xfrm>
            <a:custGeom>
              <a:avLst/>
              <a:gdLst>
                <a:gd name="T0" fmla="*/ 0 w 1812"/>
                <a:gd name="T1" fmla="*/ 0 h 246"/>
                <a:gd name="T2" fmla="*/ 0 w 1812"/>
                <a:gd name="T3" fmla="*/ 6 h 246"/>
                <a:gd name="T4" fmla="*/ 47 w 1812"/>
                <a:gd name="T5" fmla="*/ 6 h 246"/>
                <a:gd name="T6" fmla="*/ 47 w 1812"/>
                <a:gd name="T7" fmla="*/ 0 h 246"/>
                <a:gd name="T8" fmla="*/ 0 w 1812"/>
                <a:gd name="T9" fmla="*/ 0 h 246"/>
                <a:gd name="T10" fmla="*/ 0 60000 65536"/>
                <a:gd name="T11" fmla="*/ 0 60000 65536"/>
                <a:gd name="T12" fmla="*/ 0 60000 65536"/>
                <a:gd name="T13" fmla="*/ 0 60000 65536"/>
                <a:gd name="T14" fmla="*/ 0 60000 65536"/>
                <a:gd name="T15" fmla="*/ 0 w 1812"/>
                <a:gd name="T16" fmla="*/ 0 h 246"/>
                <a:gd name="T17" fmla="*/ 1812 w 1812"/>
                <a:gd name="T18" fmla="*/ 246 h 246"/>
              </a:gdLst>
              <a:ahLst/>
              <a:cxnLst>
                <a:cxn ang="T10">
                  <a:pos x="T0" y="T1"/>
                </a:cxn>
                <a:cxn ang="T11">
                  <a:pos x="T2" y="T3"/>
                </a:cxn>
                <a:cxn ang="T12">
                  <a:pos x="T4" y="T5"/>
                </a:cxn>
                <a:cxn ang="T13">
                  <a:pos x="T6" y="T7"/>
                </a:cxn>
                <a:cxn ang="T14">
                  <a:pos x="T8" y="T9"/>
                </a:cxn>
              </a:cxnLst>
              <a:rect l="T15" t="T16" r="T17" b="T18"/>
              <a:pathLst>
                <a:path w="1812" h="246">
                  <a:moveTo>
                    <a:pt x="0" y="0"/>
                  </a:moveTo>
                  <a:lnTo>
                    <a:pt x="0" y="246"/>
                  </a:lnTo>
                  <a:lnTo>
                    <a:pt x="1812" y="246"/>
                  </a:lnTo>
                  <a:lnTo>
                    <a:pt x="1812" y="6"/>
                  </a:lnTo>
                  <a:lnTo>
                    <a:pt x="0" y="0"/>
                  </a:lnTo>
                  <a:close/>
                </a:path>
              </a:pathLst>
            </a:custGeom>
            <a:gradFill rotWithShape="1">
              <a:gsLst>
                <a:gs pos="0">
                  <a:srgbClr val="D9EDEF"/>
                </a:gs>
                <a:gs pos="100000">
                  <a:srgbClr val="CFE2E4"/>
                </a:gs>
              </a:gsLst>
              <a:lin ang="5400000" scaled="1"/>
            </a:gradFill>
            <a:ln w="19050">
              <a:solidFill>
                <a:srgbClr val="DDDDDD"/>
              </a:solidFill>
              <a:round/>
            </a:ln>
          </p:spPr>
          <p:txBody>
            <a:bodyPr wrap="none" anchor="ctr"/>
            <a:lstStyle/>
            <a:p>
              <a:endParaRPr lang="zh-CN" altLang="en-US"/>
            </a:p>
          </p:txBody>
        </p:sp>
        <p:sp>
          <p:nvSpPr>
            <p:cNvPr id="147163" name="Rectangle 185"/>
            <p:cNvSpPr>
              <a:spLocks noChangeAspect="1" noChangeArrowheads="1"/>
            </p:cNvSpPr>
            <p:nvPr/>
          </p:nvSpPr>
          <p:spPr bwMode="auto">
            <a:xfrm>
              <a:off x="1140" y="1595"/>
              <a:ext cx="22" cy="8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64" name="Rectangle 186"/>
            <p:cNvSpPr>
              <a:spLocks noChangeAspect="1" noChangeArrowheads="1"/>
            </p:cNvSpPr>
            <p:nvPr/>
          </p:nvSpPr>
          <p:spPr bwMode="auto">
            <a:xfrm>
              <a:off x="1139" y="1621"/>
              <a:ext cx="23" cy="63"/>
            </a:xfrm>
            <a:prstGeom prst="rect">
              <a:avLst/>
            </a:prstGeom>
            <a:solidFill>
              <a:srgbClr val="0000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65" name="Line 187"/>
            <p:cNvSpPr>
              <a:spLocks noChangeAspect="1" noChangeShapeType="1"/>
            </p:cNvSpPr>
            <p:nvPr/>
          </p:nvSpPr>
          <p:spPr bwMode="auto">
            <a:xfrm flipV="1">
              <a:off x="1190" y="1643"/>
              <a:ext cx="28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166" name="Freeform 188"/>
            <p:cNvSpPr>
              <a:spLocks noChangeAspect="1"/>
            </p:cNvSpPr>
            <p:nvPr/>
          </p:nvSpPr>
          <p:spPr bwMode="auto">
            <a:xfrm>
              <a:off x="756" y="1467"/>
              <a:ext cx="116" cy="323"/>
            </a:xfrm>
            <a:custGeom>
              <a:avLst/>
              <a:gdLst>
                <a:gd name="T0" fmla="*/ 8 w 288"/>
                <a:gd name="T1" fmla="*/ 21 h 804"/>
                <a:gd name="T2" fmla="*/ 8 w 288"/>
                <a:gd name="T3" fmla="*/ 0 h 804"/>
                <a:gd name="T4" fmla="*/ 0 w 288"/>
                <a:gd name="T5" fmla="*/ 0 h 804"/>
                <a:gd name="T6" fmla="*/ 0 60000 65536"/>
                <a:gd name="T7" fmla="*/ 0 60000 65536"/>
                <a:gd name="T8" fmla="*/ 0 60000 65536"/>
                <a:gd name="T9" fmla="*/ 0 w 288"/>
                <a:gd name="T10" fmla="*/ 0 h 804"/>
                <a:gd name="T11" fmla="*/ 288 w 288"/>
                <a:gd name="T12" fmla="*/ 804 h 804"/>
              </a:gdLst>
              <a:ahLst/>
              <a:cxnLst>
                <a:cxn ang="T6">
                  <a:pos x="T0" y="T1"/>
                </a:cxn>
                <a:cxn ang="T7">
                  <a:pos x="T2" y="T3"/>
                </a:cxn>
                <a:cxn ang="T8">
                  <a:pos x="T4" y="T5"/>
                </a:cxn>
              </a:cxnLst>
              <a:rect l="T9" t="T10" r="T11" b="T12"/>
              <a:pathLst>
                <a:path w="288" h="804">
                  <a:moveTo>
                    <a:pt x="288" y="804"/>
                  </a:moveTo>
                  <a:lnTo>
                    <a:pt x="288" y="0"/>
                  </a:lnTo>
                  <a:lnTo>
                    <a:pt x="0" y="0"/>
                  </a:lnTo>
                </a:path>
              </a:pathLst>
            </a:custGeom>
            <a:noFill/>
            <a:ln w="19050">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7167" name="Freeform 189"/>
            <p:cNvSpPr>
              <a:spLocks noChangeAspect="1"/>
            </p:cNvSpPr>
            <p:nvPr/>
          </p:nvSpPr>
          <p:spPr bwMode="auto">
            <a:xfrm flipH="1">
              <a:off x="2080" y="1467"/>
              <a:ext cx="116" cy="323"/>
            </a:xfrm>
            <a:custGeom>
              <a:avLst/>
              <a:gdLst>
                <a:gd name="T0" fmla="*/ 8 w 288"/>
                <a:gd name="T1" fmla="*/ 21 h 804"/>
                <a:gd name="T2" fmla="*/ 8 w 288"/>
                <a:gd name="T3" fmla="*/ 0 h 804"/>
                <a:gd name="T4" fmla="*/ 0 w 288"/>
                <a:gd name="T5" fmla="*/ 0 h 804"/>
                <a:gd name="T6" fmla="*/ 0 60000 65536"/>
                <a:gd name="T7" fmla="*/ 0 60000 65536"/>
                <a:gd name="T8" fmla="*/ 0 60000 65536"/>
                <a:gd name="T9" fmla="*/ 0 w 288"/>
                <a:gd name="T10" fmla="*/ 0 h 804"/>
                <a:gd name="T11" fmla="*/ 288 w 288"/>
                <a:gd name="T12" fmla="*/ 804 h 804"/>
              </a:gdLst>
              <a:ahLst/>
              <a:cxnLst>
                <a:cxn ang="T6">
                  <a:pos x="T0" y="T1"/>
                </a:cxn>
                <a:cxn ang="T7">
                  <a:pos x="T2" y="T3"/>
                </a:cxn>
                <a:cxn ang="T8">
                  <a:pos x="T4" y="T5"/>
                </a:cxn>
              </a:cxnLst>
              <a:rect l="T9" t="T10" r="T11" b="T12"/>
              <a:pathLst>
                <a:path w="288" h="804">
                  <a:moveTo>
                    <a:pt x="288" y="804"/>
                  </a:moveTo>
                  <a:lnTo>
                    <a:pt x="288" y="0"/>
                  </a:lnTo>
                  <a:lnTo>
                    <a:pt x="0" y="0"/>
                  </a:lnTo>
                </a:path>
              </a:pathLst>
            </a:custGeom>
            <a:noFill/>
            <a:ln w="19050">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7168" name="Oval 190"/>
            <p:cNvSpPr>
              <a:spLocks noChangeAspect="1" noChangeArrowheads="1"/>
            </p:cNvSpPr>
            <p:nvPr/>
          </p:nvSpPr>
          <p:spPr bwMode="auto">
            <a:xfrm>
              <a:off x="2102" y="1409"/>
              <a:ext cx="51" cy="51"/>
            </a:xfrm>
            <a:prstGeom prst="ellipse">
              <a:avLst/>
            </a:prstGeom>
            <a:noFill/>
            <a:ln w="12700" algn="ctr">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69" name="Line 191"/>
            <p:cNvSpPr>
              <a:spLocks noChangeAspect="1" noChangeShapeType="1"/>
            </p:cNvSpPr>
            <p:nvPr/>
          </p:nvSpPr>
          <p:spPr bwMode="auto">
            <a:xfrm>
              <a:off x="2129" y="1416"/>
              <a:ext cx="0" cy="3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170" name="Line 192"/>
            <p:cNvSpPr>
              <a:spLocks noChangeAspect="1" noChangeShapeType="1"/>
            </p:cNvSpPr>
            <p:nvPr/>
          </p:nvSpPr>
          <p:spPr bwMode="auto">
            <a:xfrm rot="5400000">
              <a:off x="2128" y="1416"/>
              <a:ext cx="0" cy="3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171" name="Line 193"/>
            <p:cNvSpPr>
              <a:spLocks noChangeAspect="1" noChangeShapeType="1"/>
            </p:cNvSpPr>
            <p:nvPr/>
          </p:nvSpPr>
          <p:spPr bwMode="auto">
            <a:xfrm rot="5400000">
              <a:off x="816" y="1423"/>
              <a:ext cx="0" cy="3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172" name="Oval 194"/>
            <p:cNvSpPr>
              <a:spLocks noChangeAspect="1" noChangeArrowheads="1"/>
            </p:cNvSpPr>
            <p:nvPr/>
          </p:nvSpPr>
          <p:spPr bwMode="auto">
            <a:xfrm>
              <a:off x="789" y="1416"/>
              <a:ext cx="51" cy="51"/>
            </a:xfrm>
            <a:prstGeom prst="ellipse">
              <a:avLst/>
            </a:prstGeom>
            <a:noFill/>
            <a:ln w="12700" algn="ctr">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147173" name="Group 195"/>
            <p:cNvGrpSpPr>
              <a:grpSpLocks noChangeAspect="1"/>
            </p:cNvGrpSpPr>
            <p:nvPr/>
          </p:nvGrpSpPr>
          <p:grpSpPr bwMode="auto">
            <a:xfrm>
              <a:off x="898" y="1576"/>
              <a:ext cx="156" cy="28"/>
              <a:chOff x="1176" y="572"/>
              <a:chExt cx="748" cy="135"/>
            </a:xfrm>
          </p:grpSpPr>
          <p:sp>
            <p:nvSpPr>
              <p:cNvPr id="147193" name="Freeform 196"/>
              <p:cNvSpPr>
                <a:spLocks noChangeAspect="1"/>
              </p:cNvSpPr>
              <p:nvPr/>
            </p:nvSpPr>
            <p:spPr bwMode="auto">
              <a:xfrm>
                <a:off x="1176" y="580"/>
                <a:ext cx="92" cy="127"/>
              </a:xfrm>
              <a:custGeom>
                <a:avLst/>
                <a:gdLst>
                  <a:gd name="T0" fmla="*/ 0 w 442"/>
                  <a:gd name="T1" fmla="*/ 0 h 612"/>
                  <a:gd name="T2" fmla="*/ 0 w 442"/>
                  <a:gd name="T3" fmla="*/ 1 h 612"/>
                  <a:gd name="T4" fmla="*/ 0 w 442"/>
                  <a:gd name="T5" fmla="*/ 1 h 612"/>
                  <a:gd name="T6" fmla="*/ 1 w 442"/>
                  <a:gd name="T7" fmla="*/ 1 h 612"/>
                  <a:gd name="T8" fmla="*/ 1 w 442"/>
                  <a:gd name="T9" fmla="*/ 1 h 612"/>
                  <a:gd name="T10" fmla="*/ 0 w 442"/>
                  <a:gd name="T11" fmla="*/ 1 h 612"/>
                  <a:gd name="T12" fmla="*/ 0 w 442"/>
                  <a:gd name="T13" fmla="*/ 0 h 612"/>
                  <a:gd name="T14" fmla="*/ 0 w 442"/>
                  <a:gd name="T15" fmla="*/ 0 h 612"/>
                  <a:gd name="T16" fmla="*/ 1 w 442"/>
                  <a:gd name="T17" fmla="*/ 0 h 612"/>
                  <a:gd name="T18" fmla="*/ 1 w 442"/>
                  <a:gd name="T19" fmla="*/ 0 h 612"/>
                  <a:gd name="T20" fmla="*/ 0 w 442"/>
                  <a:gd name="T21" fmla="*/ 0 h 612"/>
                  <a:gd name="T22" fmla="*/ 0 w 442"/>
                  <a:gd name="T23" fmla="*/ 0 h 6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2"/>
                  <a:gd name="T37" fmla="*/ 0 h 612"/>
                  <a:gd name="T38" fmla="*/ 442 w 442"/>
                  <a:gd name="T39" fmla="*/ 612 h 6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2" h="612">
                    <a:moveTo>
                      <a:pt x="0" y="0"/>
                    </a:moveTo>
                    <a:lnTo>
                      <a:pt x="0" y="612"/>
                    </a:lnTo>
                    <a:lnTo>
                      <a:pt x="288" y="612"/>
                    </a:lnTo>
                    <a:cubicBezTo>
                      <a:pt x="356" y="602"/>
                      <a:pt x="386" y="589"/>
                      <a:pt x="408" y="552"/>
                    </a:cubicBezTo>
                    <a:cubicBezTo>
                      <a:pt x="430" y="515"/>
                      <a:pt x="442" y="433"/>
                      <a:pt x="420" y="390"/>
                    </a:cubicBezTo>
                    <a:cubicBezTo>
                      <a:pt x="398" y="347"/>
                      <a:pt x="346" y="311"/>
                      <a:pt x="276" y="294"/>
                    </a:cubicBezTo>
                    <a:lnTo>
                      <a:pt x="0" y="288"/>
                    </a:lnTo>
                    <a:lnTo>
                      <a:pt x="288" y="288"/>
                    </a:lnTo>
                    <a:cubicBezTo>
                      <a:pt x="355" y="269"/>
                      <a:pt x="387" y="213"/>
                      <a:pt x="402" y="174"/>
                    </a:cubicBezTo>
                    <a:cubicBezTo>
                      <a:pt x="417" y="135"/>
                      <a:pt x="403" y="83"/>
                      <a:pt x="378" y="54"/>
                    </a:cubicBezTo>
                    <a:cubicBezTo>
                      <a:pt x="353" y="25"/>
                      <a:pt x="315" y="9"/>
                      <a:pt x="252" y="0"/>
                    </a:cubicBezTo>
                    <a:lnTo>
                      <a:pt x="0" y="0"/>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194" name="Freeform 197"/>
              <p:cNvSpPr>
                <a:spLocks noChangeAspect="1"/>
              </p:cNvSpPr>
              <p:nvPr/>
            </p:nvSpPr>
            <p:spPr bwMode="auto">
              <a:xfrm>
                <a:off x="1311" y="583"/>
                <a:ext cx="92" cy="124"/>
              </a:xfrm>
              <a:custGeom>
                <a:avLst/>
                <a:gdLst>
                  <a:gd name="T0" fmla="*/ 3 w 285"/>
                  <a:gd name="T1" fmla="*/ 0 h 383"/>
                  <a:gd name="T2" fmla="*/ 3 w 285"/>
                  <a:gd name="T3" fmla="*/ 2 h 383"/>
                  <a:gd name="T4" fmla="*/ 3 w 285"/>
                  <a:gd name="T5" fmla="*/ 4 h 383"/>
                  <a:gd name="T6" fmla="*/ 2 w 285"/>
                  <a:gd name="T7" fmla="*/ 4 h 383"/>
                  <a:gd name="T8" fmla="*/ 0 w 285"/>
                  <a:gd name="T9" fmla="*/ 4 h 383"/>
                  <a:gd name="T10" fmla="*/ 0 w 285"/>
                  <a:gd name="T11" fmla="*/ 2 h 383"/>
                  <a:gd name="T12" fmla="*/ 0 w 285"/>
                  <a:gd name="T13" fmla="*/ 0 h 383"/>
                  <a:gd name="T14" fmla="*/ 0 60000 65536"/>
                  <a:gd name="T15" fmla="*/ 0 60000 65536"/>
                  <a:gd name="T16" fmla="*/ 0 60000 65536"/>
                  <a:gd name="T17" fmla="*/ 0 60000 65536"/>
                  <a:gd name="T18" fmla="*/ 0 60000 65536"/>
                  <a:gd name="T19" fmla="*/ 0 60000 65536"/>
                  <a:gd name="T20" fmla="*/ 0 60000 65536"/>
                  <a:gd name="T21" fmla="*/ 0 w 285"/>
                  <a:gd name="T22" fmla="*/ 0 h 383"/>
                  <a:gd name="T23" fmla="*/ 285 w 285"/>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383">
                    <a:moveTo>
                      <a:pt x="283" y="3"/>
                    </a:moveTo>
                    <a:cubicBezTo>
                      <a:pt x="283" y="37"/>
                      <a:pt x="285" y="147"/>
                      <a:pt x="279" y="203"/>
                    </a:cubicBezTo>
                    <a:cubicBezTo>
                      <a:pt x="273" y="259"/>
                      <a:pt x="272" y="309"/>
                      <a:pt x="247" y="339"/>
                    </a:cubicBezTo>
                    <a:cubicBezTo>
                      <a:pt x="222" y="369"/>
                      <a:pt x="167" y="383"/>
                      <a:pt x="130" y="382"/>
                    </a:cubicBezTo>
                    <a:cubicBezTo>
                      <a:pt x="93" y="381"/>
                      <a:pt x="48" y="356"/>
                      <a:pt x="27" y="330"/>
                    </a:cubicBezTo>
                    <a:cubicBezTo>
                      <a:pt x="6" y="303"/>
                      <a:pt x="8" y="276"/>
                      <a:pt x="4" y="221"/>
                    </a:cubicBezTo>
                    <a:cubicBezTo>
                      <a:pt x="0" y="167"/>
                      <a:pt x="4" y="37"/>
                      <a:pt x="4" y="0"/>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195" name="Group 198"/>
              <p:cNvGrpSpPr>
                <a:grpSpLocks noChangeAspect="1"/>
              </p:cNvGrpSpPr>
              <p:nvPr/>
            </p:nvGrpSpPr>
            <p:grpSpPr bwMode="auto">
              <a:xfrm>
                <a:off x="1571" y="580"/>
                <a:ext cx="80" cy="127"/>
                <a:chOff x="3653" y="1343"/>
                <a:chExt cx="384" cy="612"/>
              </a:xfrm>
            </p:grpSpPr>
            <p:sp>
              <p:nvSpPr>
                <p:cNvPr id="147203" name="Freeform 199"/>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04" name="Line 200"/>
                <p:cNvSpPr>
                  <a:spLocks noChangeAspect="1" noChangeShapeType="1"/>
                </p:cNvSpPr>
                <p:nvPr/>
              </p:nvSpPr>
              <p:spPr bwMode="auto">
                <a:xfrm flipH="1">
                  <a:off x="3653" y="1637"/>
                  <a:ext cx="3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196" name="Group 201"/>
              <p:cNvGrpSpPr>
                <a:grpSpLocks noChangeAspect="1"/>
              </p:cNvGrpSpPr>
              <p:nvPr/>
            </p:nvGrpSpPr>
            <p:grpSpPr bwMode="auto">
              <a:xfrm>
                <a:off x="1447" y="580"/>
                <a:ext cx="80" cy="127"/>
                <a:chOff x="3653" y="1343"/>
                <a:chExt cx="384" cy="612"/>
              </a:xfrm>
            </p:grpSpPr>
            <p:sp>
              <p:nvSpPr>
                <p:cNvPr id="147201" name="Freeform 202"/>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02" name="Line 203"/>
                <p:cNvSpPr>
                  <a:spLocks noChangeAspect="1" noChangeShapeType="1"/>
                </p:cNvSpPr>
                <p:nvPr/>
              </p:nvSpPr>
              <p:spPr bwMode="auto">
                <a:xfrm flipH="1">
                  <a:off x="3653" y="1637"/>
                  <a:ext cx="3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197" name="Group 204"/>
              <p:cNvGrpSpPr>
                <a:grpSpLocks noChangeAspect="1"/>
              </p:cNvGrpSpPr>
              <p:nvPr/>
            </p:nvGrpSpPr>
            <p:grpSpPr bwMode="auto">
              <a:xfrm>
                <a:off x="1695" y="580"/>
                <a:ext cx="87" cy="127"/>
                <a:chOff x="3017" y="1343"/>
                <a:chExt cx="420" cy="612"/>
              </a:xfrm>
            </p:grpSpPr>
            <p:sp>
              <p:nvSpPr>
                <p:cNvPr id="147199" name="Freeform 205"/>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00" name="Line 206"/>
                <p:cNvSpPr>
                  <a:spLocks noChangeAspect="1" noChangeShapeType="1"/>
                </p:cNvSpPr>
                <p:nvPr/>
              </p:nvSpPr>
              <p:spPr bwMode="auto">
                <a:xfrm>
                  <a:off x="3017" y="1637"/>
                  <a:ext cx="37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198" name="Freeform 207"/>
              <p:cNvSpPr>
                <a:spLocks noChangeAspect="1"/>
              </p:cNvSpPr>
              <p:nvPr/>
            </p:nvSpPr>
            <p:spPr bwMode="auto">
              <a:xfrm>
                <a:off x="1826" y="57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7174" name="Group 208"/>
            <p:cNvGrpSpPr>
              <a:grpSpLocks noChangeAspect="1"/>
            </p:cNvGrpSpPr>
            <p:nvPr/>
          </p:nvGrpSpPr>
          <p:grpSpPr bwMode="auto">
            <a:xfrm>
              <a:off x="1501" y="1646"/>
              <a:ext cx="306" cy="28"/>
              <a:chOff x="1133" y="211"/>
              <a:chExt cx="1487" cy="135"/>
            </a:xfrm>
          </p:grpSpPr>
          <p:grpSp>
            <p:nvGrpSpPr>
              <p:cNvPr id="147175" name="Group 209"/>
              <p:cNvGrpSpPr>
                <a:grpSpLocks noChangeAspect="1"/>
              </p:cNvGrpSpPr>
              <p:nvPr/>
            </p:nvGrpSpPr>
            <p:grpSpPr bwMode="auto">
              <a:xfrm>
                <a:off x="1133" y="219"/>
                <a:ext cx="99" cy="127"/>
                <a:chOff x="263" y="1301"/>
                <a:chExt cx="540" cy="690"/>
              </a:xfrm>
            </p:grpSpPr>
            <p:sp>
              <p:nvSpPr>
                <p:cNvPr id="147191" name="Freeform 210"/>
                <p:cNvSpPr>
                  <a:spLocks noChangeAspect="1"/>
                </p:cNvSpPr>
                <p:nvPr/>
              </p:nvSpPr>
              <p:spPr bwMode="auto">
                <a:xfrm>
                  <a:off x="263" y="1301"/>
                  <a:ext cx="540" cy="690"/>
                </a:xfrm>
                <a:custGeom>
                  <a:avLst/>
                  <a:gdLst>
                    <a:gd name="T0" fmla="*/ 0 w 540"/>
                    <a:gd name="T1" fmla="*/ 690 h 690"/>
                    <a:gd name="T2" fmla="*/ 264 w 540"/>
                    <a:gd name="T3" fmla="*/ 0 h 690"/>
                    <a:gd name="T4" fmla="*/ 540 w 540"/>
                    <a:gd name="T5" fmla="*/ 678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264" y="0"/>
                      </a:lnTo>
                      <a:lnTo>
                        <a:pt x="540" y="678"/>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192" name="Line 211"/>
                <p:cNvSpPr>
                  <a:spLocks noChangeAspect="1" noChangeShapeType="1"/>
                </p:cNvSpPr>
                <p:nvPr/>
              </p:nvSpPr>
              <p:spPr bwMode="auto">
                <a:xfrm>
                  <a:off x="359" y="1727"/>
                  <a:ext cx="33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176" name="Freeform 212"/>
              <p:cNvSpPr>
                <a:spLocks noChangeAspect="1"/>
              </p:cNvSpPr>
              <p:nvPr/>
            </p:nvSpPr>
            <p:spPr bwMode="auto">
              <a:xfrm>
                <a:off x="1273" y="219"/>
                <a:ext cx="111" cy="127"/>
              </a:xfrm>
              <a:custGeom>
                <a:avLst/>
                <a:gdLst>
                  <a:gd name="T0" fmla="*/ 1 w 562"/>
                  <a:gd name="T1" fmla="*/ 0 h 641"/>
                  <a:gd name="T2" fmla="*/ 1 w 562"/>
                  <a:gd name="T3" fmla="*/ 0 h 641"/>
                  <a:gd name="T4" fmla="*/ 0 w 562"/>
                  <a:gd name="T5" fmla="*/ 0 h 641"/>
                  <a:gd name="T6" fmla="*/ 0 w 562"/>
                  <a:gd name="T7" fmla="*/ 0 h 641"/>
                  <a:gd name="T8" fmla="*/ 0 w 562"/>
                  <a:gd name="T9" fmla="*/ 0 h 641"/>
                  <a:gd name="T10" fmla="*/ 0 w 562"/>
                  <a:gd name="T11" fmla="*/ 1 h 641"/>
                  <a:gd name="T12" fmla="*/ 0 w 562"/>
                  <a:gd name="T13" fmla="*/ 1 h 641"/>
                  <a:gd name="T14" fmla="*/ 1 w 562"/>
                  <a:gd name="T15" fmla="*/ 1 h 641"/>
                  <a:gd name="T16" fmla="*/ 1 w 562"/>
                  <a:gd name="T17" fmla="*/ 1 h 641"/>
                  <a:gd name="T18" fmla="*/ 1 w 562"/>
                  <a:gd name="T19" fmla="*/ 1 h 641"/>
                  <a:gd name="T20" fmla="*/ 1 w 562"/>
                  <a:gd name="T21" fmla="*/ 1 h 6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641"/>
                  <a:gd name="T35" fmla="*/ 562 w 562"/>
                  <a:gd name="T36" fmla="*/ 641 h 6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641">
                    <a:moveTo>
                      <a:pt x="550" y="166"/>
                    </a:moveTo>
                    <a:cubicBezTo>
                      <a:pt x="538" y="147"/>
                      <a:pt x="519" y="79"/>
                      <a:pt x="478" y="52"/>
                    </a:cubicBezTo>
                    <a:cubicBezTo>
                      <a:pt x="437" y="25"/>
                      <a:pt x="367" y="0"/>
                      <a:pt x="304" y="4"/>
                    </a:cubicBezTo>
                    <a:cubicBezTo>
                      <a:pt x="241" y="8"/>
                      <a:pt x="149" y="28"/>
                      <a:pt x="100" y="76"/>
                    </a:cubicBezTo>
                    <a:cubicBezTo>
                      <a:pt x="51" y="124"/>
                      <a:pt x="20" y="222"/>
                      <a:pt x="10" y="292"/>
                    </a:cubicBezTo>
                    <a:cubicBezTo>
                      <a:pt x="0" y="362"/>
                      <a:pt x="10" y="442"/>
                      <a:pt x="40" y="496"/>
                    </a:cubicBezTo>
                    <a:cubicBezTo>
                      <a:pt x="70" y="550"/>
                      <a:pt x="126" y="594"/>
                      <a:pt x="190" y="616"/>
                    </a:cubicBezTo>
                    <a:cubicBezTo>
                      <a:pt x="254" y="638"/>
                      <a:pt x="362" y="641"/>
                      <a:pt x="424" y="628"/>
                    </a:cubicBezTo>
                    <a:cubicBezTo>
                      <a:pt x="486" y="615"/>
                      <a:pt x="540" y="584"/>
                      <a:pt x="562" y="538"/>
                    </a:cubicBezTo>
                    <a:lnTo>
                      <a:pt x="556" y="352"/>
                    </a:lnTo>
                    <a:lnTo>
                      <a:pt x="322" y="35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177" name="Group 213"/>
              <p:cNvGrpSpPr>
                <a:grpSpLocks noChangeAspect="1"/>
              </p:cNvGrpSpPr>
              <p:nvPr/>
            </p:nvGrpSpPr>
            <p:grpSpPr bwMode="auto">
              <a:xfrm>
                <a:off x="1426" y="219"/>
                <a:ext cx="99" cy="127"/>
                <a:chOff x="263" y="1301"/>
                <a:chExt cx="540" cy="690"/>
              </a:xfrm>
            </p:grpSpPr>
            <p:sp>
              <p:nvSpPr>
                <p:cNvPr id="147189" name="Freeform 214"/>
                <p:cNvSpPr>
                  <a:spLocks noChangeAspect="1"/>
                </p:cNvSpPr>
                <p:nvPr/>
              </p:nvSpPr>
              <p:spPr bwMode="auto">
                <a:xfrm>
                  <a:off x="263" y="1301"/>
                  <a:ext cx="540" cy="690"/>
                </a:xfrm>
                <a:custGeom>
                  <a:avLst/>
                  <a:gdLst>
                    <a:gd name="T0" fmla="*/ 0 w 540"/>
                    <a:gd name="T1" fmla="*/ 690 h 690"/>
                    <a:gd name="T2" fmla="*/ 264 w 540"/>
                    <a:gd name="T3" fmla="*/ 0 h 690"/>
                    <a:gd name="T4" fmla="*/ 540 w 540"/>
                    <a:gd name="T5" fmla="*/ 678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264" y="0"/>
                      </a:lnTo>
                      <a:lnTo>
                        <a:pt x="540" y="678"/>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190" name="Line 215"/>
                <p:cNvSpPr>
                  <a:spLocks noChangeAspect="1" noChangeShapeType="1"/>
                </p:cNvSpPr>
                <p:nvPr/>
              </p:nvSpPr>
              <p:spPr bwMode="auto">
                <a:xfrm>
                  <a:off x="359" y="1727"/>
                  <a:ext cx="33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178" name="Freeform 216"/>
              <p:cNvSpPr>
                <a:spLocks noChangeAspect="1"/>
              </p:cNvSpPr>
              <p:nvPr/>
            </p:nvSpPr>
            <p:spPr bwMode="auto">
              <a:xfrm>
                <a:off x="1567" y="211"/>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179" name="Freeform 217"/>
              <p:cNvSpPr>
                <a:spLocks noChangeAspect="1"/>
              </p:cNvSpPr>
              <p:nvPr/>
            </p:nvSpPr>
            <p:spPr bwMode="auto">
              <a:xfrm>
                <a:off x="1706" y="215"/>
                <a:ext cx="109" cy="131"/>
              </a:xfrm>
              <a:custGeom>
                <a:avLst/>
                <a:gdLst>
                  <a:gd name="T0" fmla="*/ 0 w 551"/>
                  <a:gd name="T1" fmla="*/ 0 h 660"/>
                  <a:gd name="T2" fmla="*/ 0 w 551"/>
                  <a:gd name="T3" fmla="*/ 0 h 660"/>
                  <a:gd name="T4" fmla="*/ 0 w 551"/>
                  <a:gd name="T5" fmla="*/ 1 h 660"/>
                  <a:gd name="T6" fmla="*/ 0 w 551"/>
                  <a:gd name="T7" fmla="*/ 1 h 660"/>
                  <a:gd name="T8" fmla="*/ 1 w 551"/>
                  <a:gd name="T9" fmla="*/ 1 h 660"/>
                  <a:gd name="T10" fmla="*/ 1 w 551"/>
                  <a:gd name="T11" fmla="*/ 1 h 660"/>
                  <a:gd name="T12" fmla="*/ 1 w 551"/>
                  <a:gd name="T13" fmla="*/ 0 h 660"/>
                  <a:gd name="T14" fmla="*/ 1 w 551"/>
                  <a:gd name="T15" fmla="*/ 0 h 660"/>
                  <a:gd name="T16" fmla="*/ 0 w 551"/>
                  <a:gd name="T17" fmla="*/ 0 h 6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1"/>
                  <a:gd name="T28" fmla="*/ 0 h 660"/>
                  <a:gd name="T29" fmla="*/ 551 w 551"/>
                  <a:gd name="T30" fmla="*/ 660 h 6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1" h="660">
                    <a:moveTo>
                      <a:pt x="166" y="26"/>
                    </a:moveTo>
                    <a:cubicBezTo>
                      <a:pt x="110" y="58"/>
                      <a:pt x="44" y="142"/>
                      <a:pt x="22" y="218"/>
                    </a:cubicBezTo>
                    <a:cubicBezTo>
                      <a:pt x="0" y="294"/>
                      <a:pt x="9" y="413"/>
                      <a:pt x="34" y="482"/>
                    </a:cubicBezTo>
                    <a:cubicBezTo>
                      <a:pt x="59" y="551"/>
                      <a:pt x="116" y="607"/>
                      <a:pt x="172" y="632"/>
                    </a:cubicBezTo>
                    <a:cubicBezTo>
                      <a:pt x="228" y="657"/>
                      <a:pt x="311" y="660"/>
                      <a:pt x="370" y="632"/>
                    </a:cubicBezTo>
                    <a:cubicBezTo>
                      <a:pt x="429" y="604"/>
                      <a:pt x="501" y="539"/>
                      <a:pt x="526" y="464"/>
                    </a:cubicBezTo>
                    <a:cubicBezTo>
                      <a:pt x="551" y="389"/>
                      <a:pt x="547" y="255"/>
                      <a:pt x="520" y="182"/>
                    </a:cubicBezTo>
                    <a:cubicBezTo>
                      <a:pt x="493" y="109"/>
                      <a:pt x="423" y="52"/>
                      <a:pt x="364" y="26"/>
                    </a:cubicBezTo>
                    <a:cubicBezTo>
                      <a:pt x="305" y="0"/>
                      <a:pt x="207" y="26"/>
                      <a:pt x="166" y="26"/>
                    </a:cubicBez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180" name="Freeform 218"/>
              <p:cNvSpPr>
                <a:spLocks noChangeAspect="1"/>
              </p:cNvSpPr>
              <p:nvPr/>
            </p:nvSpPr>
            <p:spPr bwMode="auto">
              <a:xfrm>
                <a:off x="1857" y="213"/>
                <a:ext cx="98" cy="133"/>
              </a:xfrm>
              <a:custGeom>
                <a:avLst/>
                <a:gdLst>
                  <a:gd name="T0" fmla="*/ 1 w 464"/>
                  <a:gd name="T1" fmla="*/ 0 h 632"/>
                  <a:gd name="T2" fmla="*/ 1 w 464"/>
                  <a:gd name="T3" fmla="*/ 0 h 632"/>
                  <a:gd name="T4" fmla="*/ 0 w 464"/>
                  <a:gd name="T5" fmla="*/ 0 h 632"/>
                  <a:gd name="T6" fmla="*/ 0 w 464"/>
                  <a:gd name="T7" fmla="*/ 0 h 632"/>
                  <a:gd name="T8" fmla="*/ 0 w 464"/>
                  <a:gd name="T9" fmla="*/ 1 h 632"/>
                  <a:gd name="T10" fmla="*/ 1 w 464"/>
                  <a:gd name="T11" fmla="*/ 1 h 632"/>
                  <a:gd name="T12" fmla="*/ 1 w 464"/>
                  <a:gd name="T13" fmla="*/ 1 h 632"/>
                  <a:gd name="T14" fmla="*/ 0 w 464"/>
                  <a:gd name="T15" fmla="*/ 1 h 632"/>
                  <a:gd name="T16" fmla="*/ 0 w 464"/>
                  <a:gd name="T17" fmla="*/ 1 h 632"/>
                  <a:gd name="T18" fmla="*/ 0 w 464"/>
                  <a:gd name="T19" fmla="*/ 1 h 6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4"/>
                  <a:gd name="T31" fmla="*/ 0 h 632"/>
                  <a:gd name="T32" fmla="*/ 464 w 464"/>
                  <a:gd name="T33" fmla="*/ 632 h 6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4" h="632">
                    <a:moveTo>
                      <a:pt x="414" y="178"/>
                    </a:moveTo>
                    <a:cubicBezTo>
                      <a:pt x="403" y="157"/>
                      <a:pt x="387" y="80"/>
                      <a:pt x="348" y="52"/>
                    </a:cubicBezTo>
                    <a:cubicBezTo>
                      <a:pt x="309" y="24"/>
                      <a:pt x="233" y="0"/>
                      <a:pt x="180" y="10"/>
                    </a:cubicBezTo>
                    <a:cubicBezTo>
                      <a:pt x="127" y="20"/>
                      <a:pt x="47" y="69"/>
                      <a:pt x="30" y="112"/>
                    </a:cubicBezTo>
                    <a:cubicBezTo>
                      <a:pt x="13" y="155"/>
                      <a:pt x="15" y="223"/>
                      <a:pt x="78" y="268"/>
                    </a:cubicBezTo>
                    <a:cubicBezTo>
                      <a:pt x="141" y="313"/>
                      <a:pt x="352" y="333"/>
                      <a:pt x="408" y="382"/>
                    </a:cubicBezTo>
                    <a:cubicBezTo>
                      <a:pt x="464" y="431"/>
                      <a:pt x="440" y="521"/>
                      <a:pt x="414" y="562"/>
                    </a:cubicBezTo>
                    <a:cubicBezTo>
                      <a:pt x="388" y="603"/>
                      <a:pt x="311" y="624"/>
                      <a:pt x="252" y="628"/>
                    </a:cubicBezTo>
                    <a:cubicBezTo>
                      <a:pt x="193" y="632"/>
                      <a:pt x="102" y="615"/>
                      <a:pt x="60" y="586"/>
                    </a:cubicBezTo>
                    <a:cubicBezTo>
                      <a:pt x="18" y="557"/>
                      <a:pt x="12" y="481"/>
                      <a:pt x="0" y="454"/>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181" name="Group 219"/>
              <p:cNvGrpSpPr>
                <a:grpSpLocks noChangeAspect="1"/>
              </p:cNvGrpSpPr>
              <p:nvPr/>
            </p:nvGrpSpPr>
            <p:grpSpPr bwMode="auto">
              <a:xfrm>
                <a:off x="1997" y="219"/>
                <a:ext cx="87" cy="127"/>
                <a:chOff x="3017" y="1343"/>
                <a:chExt cx="420" cy="612"/>
              </a:xfrm>
            </p:grpSpPr>
            <p:sp>
              <p:nvSpPr>
                <p:cNvPr id="147187" name="Freeform 220"/>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188" name="Line 221"/>
                <p:cNvSpPr>
                  <a:spLocks noChangeAspect="1" noChangeShapeType="1"/>
                </p:cNvSpPr>
                <p:nvPr/>
              </p:nvSpPr>
              <p:spPr bwMode="auto">
                <a:xfrm>
                  <a:off x="3017" y="1637"/>
                  <a:ext cx="37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182" name="Freeform 222"/>
              <p:cNvSpPr>
                <a:spLocks noChangeAspect="1"/>
              </p:cNvSpPr>
              <p:nvPr/>
            </p:nvSpPr>
            <p:spPr bwMode="auto">
              <a:xfrm>
                <a:off x="2259" y="219"/>
                <a:ext cx="111" cy="127"/>
              </a:xfrm>
              <a:custGeom>
                <a:avLst/>
                <a:gdLst>
                  <a:gd name="T0" fmla="*/ 1 w 562"/>
                  <a:gd name="T1" fmla="*/ 0 h 641"/>
                  <a:gd name="T2" fmla="*/ 1 w 562"/>
                  <a:gd name="T3" fmla="*/ 0 h 641"/>
                  <a:gd name="T4" fmla="*/ 0 w 562"/>
                  <a:gd name="T5" fmla="*/ 0 h 641"/>
                  <a:gd name="T6" fmla="*/ 0 w 562"/>
                  <a:gd name="T7" fmla="*/ 0 h 641"/>
                  <a:gd name="T8" fmla="*/ 0 w 562"/>
                  <a:gd name="T9" fmla="*/ 0 h 641"/>
                  <a:gd name="T10" fmla="*/ 0 w 562"/>
                  <a:gd name="T11" fmla="*/ 1 h 641"/>
                  <a:gd name="T12" fmla="*/ 0 w 562"/>
                  <a:gd name="T13" fmla="*/ 1 h 641"/>
                  <a:gd name="T14" fmla="*/ 1 w 562"/>
                  <a:gd name="T15" fmla="*/ 1 h 641"/>
                  <a:gd name="T16" fmla="*/ 1 w 562"/>
                  <a:gd name="T17" fmla="*/ 1 h 641"/>
                  <a:gd name="T18" fmla="*/ 1 w 562"/>
                  <a:gd name="T19" fmla="*/ 1 h 641"/>
                  <a:gd name="T20" fmla="*/ 1 w 562"/>
                  <a:gd name="T21" fmla="*/ 1 h 6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641"/>
                  <a:gd name="T35" fmla="*/ 562 w 562"/>
                  <a:gd name="T36" fmla="*/ 641 h 6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641">
                    <a:moveTo>
                      <a:pt x="550" y="166"/>
                    </a:moveTo>
                    <a:cubicBezTo>
                      <a:pt x="538" y="147"/>
                      <a:pt x="519" y="79"/>
                      <a:pt x="478" y="52"/>
                    </a:cubicBezTo>
                    <a:cubicBezTo>
                      <a:pt x="437" y="25"/>
                      <a:pt x="367" y="0"/>
                      <a:pt x="304" y="4"/>
                    </a:cubicBezTo>
                    <a:cubicBezTo>
                      <a:pt x="241" y="8"/>
                      <a:pt x="149" y="28"/>
                      <a:pt x="100" y="76"/>
                    </a:cubicBezTo>
                    <a:cubicBezTo>
                      <a:pt x="51" y="124"/>
                      <a:pt x="20" y="222"/>
                      <a:pt x="10" y="292"/>
                    </a:cubicBezTo>
                    <a:cubicBezTo>
                      <a:pt x="0" y="362"/>
                      <a:pt x="10" y="442"/>
                      <a:pt x="40" y="496"/>
                    </a:cubicBezTo>
                    <a:cubicBezTo>
                      <a:pt x="70" y="550"/>
                      <a:pt x="126" y="594"/>
                      <a:pt x="190" y="616"/>
                    </a:cubicBezTo>
                    <a:cubicBezTo>
                      <a:pt x="254" y="638"/>
                      <a:pt x="362" y="641"/>
                      <a:pt x="424" y="628"/>
                    </a:cubicBezTo>
                    <a:cubicBezTo>
                      <a:pt x="486" y="615"/>
                      <a:pt x="540" y="584"/>
                      <a:pt x="562" y="538"/>
                    </a:cubicBezTo>
                    <a:lnTo>
                      <a:pt x="556" y="352"/>
                    </a:lnTo>
                    <a:lnTo>
                      <a:pt x="322" y="35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183" name="Group 223"/>
              <p:cNvGrpSpPr>
                <a:grpSpLocks noChangeAspect="1"/>
              </p:cNvGrpSpPr>
              <p:nvPr/>
            </p:nvGrpSpPr>
            <p:grpSpPr bwMode="auto">
              <a:xfrm>
                <a:off x="2407" y="219"/>
                <a:ext cx="87" cy="127"/>
                <a:chOff x="3017" y="1343"/>
                <a:chExt cx="420" cy="612"/>
              </a:xfrm>
            </p:grpSpPr>
            <p:sp>
              <p:nvSpPr>
                <p:cNvPr id="147185" name="Freeform 224"/>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186" name="Line 225"/>
                <p:cNvSpPr>
                  <a:spLocks noChangeAspect="1" noChangeShapeType="1"/>
                </p:cNvSpPr>
                <p:nvPr/>
              </p:nvSpPr>
              <p:spPr bwMode="auto">
                <a:xfrm>
                  <a:off x="3017" y="1637"/>
                  <a:ext cx="37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184" name="Freeform 226"/>
              <p:cNvSpPr>
                <a:spLocks noChangeAspect="1"/>
              </p:cNvSpPr>
              <p:nvPr/>
            </p:nvSpPr>
            <p:spPr bwMode="auto">
              <a:xfrm>
                <a:off x="2534" y="212"/>
                <a:ext cx="86" cy="134"/>
              </a:xfrm>
              <a:custGeom>
                <a:avLst/>
                <a:gdLst>
                  <a:gd name="T0" fmla="*/ 0 w 420"/>
                  <a:gd name="T1" fmla="*/ 0 h 654"/>
                  <a:gd name="T2" fmla="*/ 0 w 420"/>
                  <a:gd name="T3" fmla="*/ 1 h 654"/>
                  <a:gd name="T4" fmla="*/ 1 w 420"/>
                  <a:gd name="T5" fmla="*/ 1 h 654"/>
                  <a:gd name="T6" fmla="*/ 0 60000 65536"/>
                  <a:gd name="T7" fmla="*/ 0 60000 65536"/>
                  <a:gd name="T8" fmla="*/ 0 60000 65536"/>
                  <a:gd name="T9" fmla="*/ 0 w 420"/>
                  <a:gd name="T10" fmla="*/ 0 h 654"/>
                  <a:gd name="T11" fmla="*/ 420 w 420"/>
                  <a:gd name="T12" fmla="*/ 654 h 654"/>
                </a:gdLst>
                <a:ahLst/>
                <a:cxnLst>
                  <a:cxn ang="T6">
                    <a:pos x="T0" y="T1"/>
                  </a:cxn>
                  <a:cxn ang="T7">
                    <a:pos x="T2" y="T3"/>
                  </a:cxn>
                  <a:cxn ang="T8">
                    <a:pos x="T4" y="T5"/>
                  </a:cxn>
                </a:cxnLst>
                <a:rect l="T9" t="T10" r="T11" b="T12"/>
                <a:pathLst>
                  <a:path w="420" h="654">
                    <a:moveTo>
                      <a:pt x="0" y="0"/>
                    </a:moveTo>
                    <a:lnTo>
                      <a:pt x="0" y="654"/>
                    </a:lnTo>
                    <a:lnTo>
                      <a:pt x="420" y="654"/>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6437" name="Group 227"/>
          <p:cNvGrpSpPr>
            <a:grpSpLocks noChangeAspect="1"/>
          </p:cNvGrpSpPr>
          <p:nvPr/>
        </p:nvGrpSpPr>
        <p:grpSpPr bwMode="auto">
          <a:xfrm>
            <a:off x="838200" y="1427163"/>
            <a:ext cx="209550" cy="901700"/>
            <a:chOff x="3500" y="1992"/>
            <a:chExt cx="173" cy="745"/>
          </a:xfrm>
        </p:grpSpPr>
        <p:sp>
          <p:nvSpPr>
            <p:cNvPr id="147153" name="Rectangle 228"/>
            <p:cNvSpPr>
              <a:spLocks noChangeAspect="1" noChangeArrowheads="1"/>
            </p:cNvSpPr>
            <p:nvPr/>
          </p:nvSpPr>
          <p:spPr bwMode="auto">
            <a:xfrm>
              <a:off x="3572" y="2183"/>
              <a:ext cx="35" cy="128"/>
            </a:xfrm>
            <a:prstGeom prst="rect">
              <a:avLst/>
            </a:prstGeom>
            <a:solidFill>
              <a:schemeClr val="bg2"/>
            </a:solidFill>
            <a:ln w="12700">
              <a:solidFill>
                <a:srgbClr val="4D4D4D"/>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54" name="Freeform 229"/>
            <p:cNvSpPr>
              <a:spLocks noChangeAspect="1"/>
            </p:cNvSpPr>
            <p:nvPr/>
          </p:nvSpPr>
          <p:spPr bwMode="auto">
            <a:xfrm>
              <a:off x="3509" y="1992"/>
              <a:ext cx="164" cy="215"/>
            </a:xfrm>
            <a:custGeom>
              <a:avLst/>
              <a:gdLst>
                <a:gd name="T0" fmla="*/ 1 w 661"/>
                <a:gd name="T1" fmla="*/ 3 h 869"/>
                <a:gd name="T2" fmla="*/ 0 w 661"/>
                <a:gd name="T3" fmla="*/ 2 h 869"/>
                <a:gd name="T4" fmla="*/ 0 w 661"/>
                <a:gd name="T5" fmla="*/ 1 h 869"/>
                <a:gd name="T6" fmla="*/ 1 w 661"/>
                <a:gd name="T7" fmla="*/ 0 h 869"/>
                <a:gd name="T8" fmla="*/ 2 w 661"/>
                <a:gd name="T9" fmla="*/ 0 h 869"/>
                <a:gd name="T10" fmla="*/ 2 w 661"/>
                <a:gd name="T11" fmla="*/ 1 h 869"/>
                <a:gd name="T12" fmla="*/ 2 w 661"/>
                <a:gd name="T13" fmla="*/ 2 h 869"/>
                <a:gd name="T14" fmla="*/ 2 w 661"/>
                <a:gd name="T15" fmla="*/ 3 h 869"/>
                <a:gd name="T16" fmla="*/ 1 w 661"/>
                <a:gd name="T17" fmla="*/ 3 h 8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1"/>
                <a:gd name="T28" fmla="*/ 0 h 869"/>
                <a:gd name="T29" fmla="*/ 661 w 661"/>
                <a:gd name="T30" fmla="*/ 869 h 8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1" h="869">
                  <a:moveTo>
                    <a:pt x="173" y="847"/>
                  </a:moveTo>
                  <a:cubicBezTo>
                    <a:pt x="98" y="820"/>
                    <a:pt x="46" y="777"/>
                    <a:pt x="23" y="679"/>
                  </a:cubicBezTo>
                  <a:cubicBezTo>
                    <a:pt x="0" y="581"/>
                    <a:pt x="4" y="365"/>
                    <a:pt x="35" y="259"/>
                  </a:cubicBezTo>
                  <a:cubicBezTo>
                    <a:pt x="66" y="153"/>
                    <a:pt x="138" y="78"/>
                    <a:pt x="209" y="41"/>
                  </a:cubicBezTo>
                  <a:cubicBezTo>
                    <a:pt x="280" y="4"/>
                    <a:pt x="391" y="0"/>
                    <a:pt x="461" y="37"/>
                  </a:cubicBezTo>
                  <a:cubicBezTo>
                    <a:pt x="531" y="74"/>
                    <a:pt x="600" y="158"/>
                    <a:pt x="629" y="265"/>
                  </a:cubicBezTo>
                  <a:cubicBezTo>
                    <a:pt x="658" y="372"/>
                    <a:pt x="661" y="583"/>
                    <a:pt x="635" y="679"/>
                  </a:cubicBezTo>
                  <a:cubicBezTo>
                    <a:pt x="609" y="775"/>
                    <a:pt x="550" y="813"/>
                    <a:pt x="473" y="841"/>
                  </a:cubicBezTo>
                  <a:cubicBezTo>
                    <a:pt x="396" y="869"/>
                    <a:pt x="235" y="846"/>
                    <a:pt x="173" y="847"/>
                  </a:cubicBezTo>
                  <a:close/>
                </a:path>
              </a:pathLst>
            </a:custGeom>
            <a:solidFill>
              <a:srgbClr val="C0C0C0"/>
            </a:solidFill>
            <a:ln w="12700">
              <a:solidFill>
                <a:schemeClr val="bg2"/>
              </a:solidFill>
              <a:round/>
            </a:ln>
          </p:spPr>
          <p:txBody>
            <a:bodyPr/>
            <a:lstStyle/>
            <a:p>
              <a:endParaRPr lang="zh-CN" altLang="en-US"/>
            </a:p>
          </p:txBody>
        </p:sp>
        <p:sp>
          <p:nvSpPr>
            <p:cNvPr id="147155" name="Oval 230"/>
            <p:cNvSpPr>
              <a:spLocks noChangeAspect="1" noChangeArrowheads="1"/>
            </p:cNvSpPr>
            <p:nvPr/>
          </p:nvSpPr>
          <p:spPr bwMode="auto">
            <a:xfrm>
              <a:off x="3501" y="2248"/>
              <a:ext cx="168" cy="24"/>
            </a:xfrm>
            <a:prstGeom prst="ellipse">
              <a:avLst/>
            </a:prstGeom>
            <a:solidFill>
              <a:schemeClr val="bg1"/>
            </a:solidFill>
            <a:ln w="3175">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56" name="Freeform 231"/>
            <p:cNvSpPr>
              <a:spLocks noChangeAspect="1"/>
            </p:cNvSpPr>
            <p:nvPr/>
          </p:nvSpPr>
          <p:spPr bwMode="auto">
            <a:xfrm>
              <a:off x="3515" y="2256"/>
              <a:ext cx="141" cy="481"/>
            </a:xfrm>
            <a:custGeom>
              <a:avLst/>
              <a:gdLst>
                <a:gd name="T0" fmla="*/ 0 w 570"/>
                <a:gd name="T1" fmla="*/ 0 h 1941"/>
                <a:gd name="T2" fmla="*/ 0 w 570"/>
                <a:gd name="T3" fmla="*/ 4 h 1941"/>
                <a:gd name="T4" fmla="*/ 1 w 570"/>
                <a:gd name="T5" fmla="*/ 7 h 1941"/>
                <a:gd name="T6" fmla="*/ 1 w 570"/>
                <a:gd name="T7" fmla="*/ 7 h 1941"/>
                <a:gd name="T8" fmla="*/ 2 w 570"/>
                <a:gd name="T9" fmla="*/ 4 h 1941"/>
                <a:gd name="T10" fmla="*/ 2 w 570"/>
                <a:gd name="T11" fmla="*/ 0 h 1941"/>
                <a:gd name="T12" fmla="*/ 0 w 570"/>
                <a:gd name="T13" fmla="*/ 0 h 1941"/>
                <a:gd name="T14" fmla="*/ 0 60000 65536"/>
                <a:gd name="T15" fmla="*/ 0 60000 65536"/>
                <a:gd name="T16" fmla="*/ 0 60000 65536"/>
                <a:gd name="T17" fmla="*/ 0 60000 65536"/>
                <a:gd name="T18" fmla="*/ 0 60000 65536"/>
                <a:gd name="T19" fmla="*/ 0 60000 65536"/>
                <a:gd name="T20" fmla="*/ 0 60000 65536"/>
                <a:gd name="T21" fmla="*/ 0 w 570"/>
                <a:gd name="T22" fmla="*/ 0 h 1941"/>
                <a:gd name="T23" fmla="*/ 570 w 570"/>
                <a:gd name="T24" fmla="*/ 1941 h 19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0" h="1941">
                  <a:moveTo>
                    <a:pt x="0" y="0"/>
                  </a:moveTo>
                  <a:lnTo>
                    <a:pt x="0" y="1135"/>
                  </a:lnTo>
                  <a:lnTo>
                    <a:pt x="222" y="1825"/>
                  </a:lnTo>
                  <a:cubicBezTo>
                    <a:pt x="281" y="1940"/>
                    <a:pt x="295" y="1941"/>
                    <a:pt x="353" y="1825"/>
                  </a:cubicBezTo>
                  <a:lnTo>
                    <a:pt x="570" y="1129"/>
                  </a:lnTo>
                  <a:lnTo>
                    <a:pt x="570" y="11"/>
                  </a:lnTo>
                  <a:lnTo>
                    <a:pt x="0" y="0"/>
                  </a:lnTo>
                  <a:close/>
                </a:path>
              </a:pathLst>
            </a:custGeom>
            <a:gradFill rotWithShape="1">
              <a:gsLst>
                <a:gs pos="0">
                  <a:srgbClr val="C0C0C0"/>
                </a:gs>
                <a:gs pos="50000">
                  <a:srgbClr val="FFFFFF"/>
                </a:gs>
                <a:gs pos="100000">
                  <a:srgbClr val="C0C0C0"/>
                </a:gs>
              </a:gsLst>
              <a:lin ang="0" scaled="1"/>
            </a:gradFill>
            <a:ln w="9525">
              <a:solidFill>
                <a:schemeClr val="bg2"/>
              </a:solidFill>
              <a:round/>
            </a:ln>
          </p:spPr>
          <p:txBody>
            <a:bodyPr/>
            <a:lstStyle/>
            <a:p>
              <a:endParaRPr lang="zh-CN" altLang="en-US"/>
            </a:p>
          </p:txBody>
        </p:sp>
        <p:sp>
          <p:nvSpPr>
            <p:cNvPr id="147157" name="Oval 232"/>
            <p:cNvSpPr>
              <a:spLocks noChangeAspect="1" noChangeArrowheads="1"/>
            </p:cNvSpPr>
            <p:nvPr/>
          </p:nvSpPr>
          <p:spPr bwMode="auto">
            <a:xfrm>
              <a:off x="3514" y="2249"/>
              <a:ext cx="143" cy="16"/>
            </a:xfrm>
            <a:prstGeom prst="ellipse">
              <a:avLst/>
            </a:prstGeom>
            <a:gradFill rotWithShape="1">
              <a:gsLst>
                <a:gs pos="0">
                  <a:schemeClr val="bg1"/>
                </a:gs>
                <a:gs pos="100000">
                  <a:schemeClr val="bg2"/>
                </a:gs>
              </a:gsLst>
              <a:lin ang="5400000" scaled="1"/>
            </a:gradFill>
            <a:ln w="952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58" name="Freeform 233"/>
            <p:cNvSpPr>
              <a:spLocks noChangeAspect="1"/>
            </p:cNvSpPr>
            <p:nvPr/>
          </p:nvSpPr>
          <p:spPr bwMode="auto">
            <a:xfrm>
              <a:off x="3500" y="2260"/>
              <a:ext cx="170" cy="23"/>
            </a:xfrm>
            <a:custGeom>
              <a:avLst/>
              <a:gdLst>
                <a:gd name="T0" fmla="*/ 0 w 685"/>
                <a:gd name="T1" fmla="*/ 0 h 93"/>
                <a:gd name="T2" fmla="*/ 0 w 685"/>
                <a:gd name="T3" fmla="*/ 0 h 93"/>
                <a:gd name="T4" fmla="*/ 0 w 685"/>
                <a:gd name="T5" fmla="*/ 0 h 93"/>
                <a:gd name="T6" fmla="*/ 1 w 685"/>
                <a:gd name="T7" fmla="*/ 0 h 93"/>
                <a:gd name="T8" fmla="*/ 2 w 685"/>
                <a:gd name="T9" fmla="*/ 0 h 93"/>
                <a:gd name="T10" fmla="*/ 2 w 685"/>
                <a:gd name="T11" fmla="*/ 0 h 93"/>
                <a:gd name="T12" fmla="*/ 2 w 685"/>
                <a:gd name="T13" fmla="*/ 0 h 93"/>
                <a:gd name="T14" fmla="*/ 2 w 685"/>
                <a:gd name="T15" fmla="*/ 0 h 93"/>
                <a:gd name="T16" fmla="*/ 2 w 685"/>
                <a:gd name="T17" fmla="*/ 0 h 93"/>
                <a:gd name="T18" fmla="*/ 1 w 685"/>
                <a:gd name="T19" fmla="*/ 0 h 93"/>
                <a:gd name="T20" fmla="*/ 1 w 685"/>
                <a:gd name="T21" fmla="*/ 0 h 93"/>
                <a:gd name="T22" fmla="*/ 0 w 685"/>
                <a:gd name="T23" fmla="*/ 0 h 93"/>
                <a:gd name="T24" fmla="*/ 0 w 685"/>
                <a:gd name="T25" fmla="*/ 0 h 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5"/>
                <a:gd name="T40" fmla="*/ 0 h 93"/>
                <a:gd name="T41" fmla="*/ 685 w 685"/>
                <a:gd name="T42" fmla="*/ 93 h 9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5" h="93">
                  <a:moveTo>
                    <a:pt x="1" y="6"/>
                  </a:moveTo>
                  <a:lnTo>
                    <a:pt x="3" y="50"/>
                  </a:lnTo>
                  <a:cubicBezTo>
                    <a:pt x="26" y="63"/>
                    <a:pt x="77" y="77"/>
                    <a:pt x="139" y="84"/>
                  </a:cubicBezTo>
                  <a:cubicBezTo>
                    <a:pt x="201" y="91"/>
                    <a:pt x="299" y="93"/>
                    <a:pt x="375" y="92"/>
                  </a:cubicBezTo>
                  <a:cubicBezTo>
                    <a:pt x="451" y="91"/>
                    <a:pt x="545" y="84"/>
                    <a:pt x="597" y="76"/>
                  </a:cubicBezTo>
                  <a:cubicBezTo>
                    <a:pt x="649" y="68"/>
                    <a:pt x="670" y="56"/>
                    <a:pt x="685" y="44"/>
                  </a:cubicBezTo>
                  <a:lnTo>
                    <a:pt x="685" y="4"/>
                  </a:lnTo>
                  <a:cubicBezTo>
                    <a:pt x="681" y="0"/>
                    <a:pt x="682" y="14"/>
                    <a:pt x="659" y="20"/>
                  </a:cubicBezTo>
                  <a:cubicBezTo>
                    <a:pt x="636" y="26"/>
                    <a:pt x="595" y="37"/>
                    <a:pt x="549" y="42"/>
                  </a:cubicBezTo>
                  <a:cubicBezTo>
                    <a:pt x="503" y="47"/>
                    <a:pt x="443" y="51"/>
                    <a:pt x="385" y="52"/>
                  </a:cubicBezTo>
                  <a:cubicBezTo>
                    <a:pt x="327" y="53"/>
                    <a:pt x="258" y="53"/>
                    <a:pt x="199" y="48"/>
                  </a:cubicBezTo>
                  <a:cubicBezTo>
                    <a:pt x="140" y="43"/>
                    <a:pt x="66" y="31"/>
                    <a:pt x="33" y="24"/>
                  </a:cubicBezTo>
                  <a:cubicBezTo>
                    <a:pt x="0" y="17"/>
                    <a:pt x="8" y="10"/>
                    <a:pt x="1" y="6"/>
                  </a:cubicBezTo>
                  <a:close/>
                </a:path>
              </a:pathLst>
            </a:custGeom>
            <a:solidFill>
              <a:schemeClr val="bg1"/>
            </a:solidFill>
            <a:ln w="3175">
              <a:solidFill>
                <a:schemeClr val="tx1"/>
              </a:solidFill>
              <a:round/>
            </a:ln>
          </p:spPr>
          <p:txBody>
            <a:bodyPr/>
            <a:lstStyle/>
            <a:p>
              <a:endParaRPr lang="zh-CN" altLang="en-US"/>
            </a:p>
          </p:txBody>
        </p:sp>
        <p:sp>
          <p:nvSpPr>
            <p:cNvPr id="147159" name="Oval 234"/>
            <p:cNvSpPr>
              <a:spLocks noChangeAspect="1" noChangeArrowheads="1"/>
            </p:cNvSpPr>
            <p:nvPr/>
          </p:nvSpPr>
          <p:spPr bwMode="auto">
            <a:xfrm>
              <a:off x="3526" y="2042"/>
              <a:ext cx="130" cy="117"/>
            </a:xfrm>
            <a:prstGeom prst="ellipse">
              <a:avLst/>
            </a:prstGeom>
            <a:solidFill>
              <a:schemeClr val="bg1"/>
            </a:solidFill>
            <a:ln w="2857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6438" name="Freeform 235"/>
          <p:cNvSpPr/>
          <p:nvPr/>
        </p:nvSpPr>
        <p:spPr bwMode="auto">
          <a:xfrm>
            <a:off x="1143000" y="1781175"/>
            <a:ext cx="1666875" cy="581025"/>
          </a:xfrm>
          <a:custGeom>
            <a:avLst/>
            <a:gdLst>
              <a:gd name="T0" fmla="*/ 0 w 1050"/>
              <a:gd name="T1" fmla="*/ 2147483646 h 366"/>
              <a:gd name="T2" fmla="*/ 2147483646 w 1050"/>
              <a:gd name="T3" fmla="*/ 2147483646 h 366"/>
              <a:gd name="T4" fmla="*/ 2147483646 w 1050"/>
              <a:gd name="T5" fmla="*/ 2147483646 h 366"/>
              <a:gd name="T6" fmla="*/ 0 60000 65536"/>
              <a:gd name="T7" fmla="*/ 0 60000 65536"/>
              <a:gd name="T8" fmla="*/ 0 60000 65536"/>
              <a:gd name="T9" fmla="*/ 0 w 1050"/>
              <a:gd name="T10" fmla="*/ 0 h 366"/>
              <a:gd name="T11" fmla="*/ 1050 w 1050"/>
              <a:gd name="T12" fmla="*/ 366 h 366"/>
            </a:gdLst>
            <a:ahLst/>
            <a:cxnLst>
              <a:cxn ang="T6">
                <a:pos x="T0" y="T1"/>
              </a:cxn>
              <a:cxn ang="T7">
                <a:pos x="T2" y="T3"/>
              </a:cxn>
              <a:cxn ang="T8">
                <a:pos x="T4" y="T5"/>
              </a:cxn>
            </a:cxnLst>
            <a:rect l="T9" t="T10" r="T11" b="T12"/>
            <a:pathLst>
              <a:path w="1050" h="366">
                <a:moveTo>
                  <a:pt x="0" y="6"/>
                </a:moveTo>
                <a:cubicBezTo>
                  <a:pt x="111" y="14"/>
                  <a:pt x="491" y="0"/>
                  <a:pt x="666" y="60"/>
                </a:cubicBezTo>
                <a:cubicBezTo>
                  <a:pt x="841" y="120"/>
                  <a:pt x="941" y="213"/>
                  <a:pt x="1050" y="366"/>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6439" name="Freeform 236"/>
          <p:cNvSpPr/>
          <p:nvPr/>
        </p:nvSpPr>
        <p:spPr bwMode="auto">
          <a:xfrm>
            <a:off x="4181475" y="1538288"/>
            <a:ext cx="2085975" cy="795337"/>
          </a:xfrm>
          <a:custGeom>
            <a:avLst/>
            <a:gdLst>
              <a:gd name="T0" fmla="*/ 0 w 1314"/>
              <a:gd name="T1" fmla="*/ 2147483646 h 501"/>
              <a:gd name="T2" fmla="*/ 2147483646 w 1314"/>
              <a:gd name="T3" fmla="*/ 2147483646 h 501"/>
              <a:gd name="T4" fmla="*/ 2147483646 w 1314"/>
              <a:gd name="T5" fmla="*/ 2147483646 h 501"/>
              <a:gd name="T6" fmla="*/ 0 60000 65536"/>
              <a:gd name="T7" fmla="*/ 0 60000 65536"/>
              <a:gd name="T8" fmla="*/ 0 60000 65536"/>
              <a:gd name="T9" fmla="*/ 0 w 1314"/>
              <a:gd name="T10" fmla="*/ 0 h 501"/>
              <a:gd name="T11" fmla="*/ 1314 w 1314"/>
              <a:gd name="T12" fmla="*/ 501 h 501"/>
            </a:gdLst>
            <a:ahLst/>
            <a:cxnLst>
              <a:cxn ang="T6">
                <a:pos x="T0" y="T1"/>
              </a:cxn>
              <a:cxn ang="T7">
                <a:pos x="T2" y="T3"/>
              </a:cxn>
              <a:cxn ang="T8">
                <a:pos x="T4" y="T5"/>
              </a:cxn>
            </a:cxnLst>
            <a:rect l="T9" t="T10" r="T11" b="T12"/>
            <a:pathLst>
              <a:path w="1314" h="501">
                <a:moveTo>
                  <a:pt x="0" y="501"/>
                </a:moveTo>
                <a:cubicBezTo>
                  <a:pt x="265" y="301"/>
                  <a:pt x="531" y="102"/>
                  <a:pt x="750" y="51"/>
                </a:cubicBezTo>
                <a:cubicBezTo>
                  <a:pt x="969" y="0"/>
                  <a:pt x="1141" y="97"/>
                  <a:pt x="1314" y="195"/>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6440" name="Text Box 237"/>
          <p:cNvSpPr txBox="1">
            <a:spLocks noChangeArrowheads="1"/>
          </p:cNvSpPr>
          <p:nvPr/>
        </p:nvSpPr>
        <p:spPr bwMode="auto">
          <a:xfrm>
            <a:off x="384175" y="763588"/>
            <a:ext cx="26765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1. Digest DNA with restriction</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enzymes</a:t>
            </a:r>
          </a:p>
        </p:txBody>
      </p:sp>
      <p:sp>
        <p:nvSpPr>
          <p:cNvPr id="146441" name="Text Box 238"/>
          <p:cNvSpPr txBox="1">
            <a:spLocks noChangeArrowheads="1"/>
          </p:cNvSpPr>
          <p:nvPr/>
        </p:nvSpPr>
        <p:spPr bwMode="auto">
          <a:xfrm>
            <a:off x="2679700" y="1363663"/>
            <a:ext cx="20367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2. Separate fragments</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on agarose gel</a:t>
            </a:r>
          </a:p>
        </p:txBody>
      </p:sp>
      <p:sp>
        <p:nvSpPr>
          <p:cNvPr id="146442" name="Text Box 239"/>
          <p:cNvSpPr txBox="1">
            <a:spLocks noChangeArrowheads="1"/>
          </p:cNvSpPr>
          <p:nvPr/>
        </p:nvSpPr>
        <p:spPr bwMode="auto">
          <a:xfrm>
            <a:off x="6051550" y="763588"/>
            <a:ext cx="271621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3a. Transfer separated DNA</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onto membrane for further</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analysis</a:t>
            </a:r>
          </a:p>
        </p:txBody>
      </p:sp>
      <p:grpSp>
        <p:nvGrpSpPr>
          <p:cNvPr id="146443" name="Group 240"/>
          <p:cNvGrpSpPr>
            <a:grpSpLocks noChangeAspect="1"/>
          </p:cNvGrpSpPr>
          <p:nvPr/>
        </p:nvGrpSpPr>
        <p:grpSpPr bwMode="auto">
          <a:xfrm>
            <a:off x="5910263" y="4270375"/>
            <a:ext cx="209550" cy="901700"/>
            <a:chOff x="3500" y="1992"/>
            <a:chExt cx="173" cy="745"/>
          </a:xfrm>
        </p:grpSpPr>
        <p:sp>
          <p:nvSpPr>
            <p:cNvPr id="147146" name="Rectangle 241"/>
            <p:cNvSpPr>
              <a:spLocks noChangeAspect="1" noChangeArrowheads="1"/>
            </p:cNvSpPr>
            <p:nvPr/>
          </p:nvSpPr>
          <p:spPr bwMode="auto">
            <a:xfrm>
              <a:off x="3572" y="2183"/>
              <a:ext cx="35" cy="128"/>
            </a:xfrm>
            <a:prstGeom prst="rect">
              <a:avLst/>
            </a:prstGeom>
            <a:solidFill>
              <a:schemeClr val="bg2"/>
            </a:solidFill>
            <a:ln w="12700">
              <a:solidFill>
                <a:srgbClr val="4D4D4D"/>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47" name="Freeform 242"/>
            <p:cNvSpPr>
              <a:spLocks noChangeAspect="1"/>
            </p:cNvSpPr>
            <p:nvPr/>
          </p:nvSpPr>
          <p:spPr bwMode="auto">
            <a:xfrm>
              <a:off x="3509" y="1992"/>
              <a:ext cx="164" cy="215"/>
            </a:xfrm>
            <a:custGeom>
              <a:avLst/>
              <a:gdLst>
                <a:gd name="T0" fmla="*/ 1 w 661"/>
                <a:gd name="T1" fmla="*/ 3 h 869"/>
                <a:gd name="T2" fmla="*/ 0 w 661"/>
                <a:gd name="T3" fmla="*/ 2 h 869"/>
                <a:gd name="T4" fmla="*/ 0 w 661"/>
                <a:gd name="T5" fmla="*/ 1 h 869"/>
                <a:gd name="T6" fmla="*/ 1 w 661"/>
                <a:gd name="T7" fmla="*/ 0 h 869"/>
                <a:gd name="T8" fmla="*/ 2 w 661"/>
                <a:gd name="T9" fmla="*/ 0 h 869"/>
                <a:gd name="T10" fmla="*/ 2 w 661"/>
                <a:gd name="T11" fmla="*/ 1 h 869"/>
                <a:gd name="T12" fmla="*/ 2 w 661"/>
                <a:gd name="T13" fmla="*/ 2 h 869"/>
                <a:gd name="T14" fmla="*/ 2 w 661"/>
                <a:gd name="T15" fmla="*/ 3 h 869"/>
                <a:gd name="T16" fmla="*/ 1 w 661"/>
                <a:gd name="T17" fmla="*/ 3 h 8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1"/>
                <a:gd name="T28" fmla="*/ 0 h 869"/>
                <a:gd name="T29" fmla="*/ 661 w 661"/>
                <a:gd name="T30" fmla="*/ 869 h 8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1" h="869">
                  <a:moveTo>
                    <a:pt x="173" y="847"/>
                  </a:moveTo>
                  <a:cubicBezTo>
                    <a:pt x="98" y="820"/>
                    <a:pt x="46" y="777"/>
                    <a:pt x="23" y="679"/>
                  </a:cubicBezTo>
                  <a:cubicBezTo>
                    <a:pt x="0" y="581"/>
                    <a:pt x="4" y="365"/>
                    <a:pt x="35" y="259"/>
                  </a:cubicBezTo>
                  <a:cubicBezTo>
                    <a:pt x="66" y="153"/>
                    <a:pt x="138" y="78"/>
                    <a:pt x="209" y="41"/>
                  </a:cubicBezTo>
                  <a:cubicBezTo>
                    <a:pt x="280" y="4"/>
                    <a:pt x="391" y="0"/>
                    <a:pt x="461" y="37"/>
                  </a:cubicBezTo>
                  <a:cubicBezTo>
                    <a:pt x="531" y="74"/>
                    <a:pt x="600" y="158"/>
                    <a:pt x="629" y="265"/>
                  </a:cubicBezTo>
                  <a:cubicBezTo>
                    <a:pt x="658" y="372"/>
                    <a:pt x="661" y="583"/>
                    <a:pt x="635" y="679"/>
                  </a:cubicBezTo>
                  <a:cubicBezTo>
                    <a:pt x="609" y="775"/>
                    <a:pt x="550" y="813"/>
                    <a:pt x="473" y="841"/>
                  </a:cubicBezTo>
                  <a:cubicBezTo>
                    <a:pt x="396" y="869"/>
                    <a:pt x="235" y="846"/>
                    <a:pt x="173" y="847"/>
                  </a:cubicBezTo>
                  <a:close/>
                </a:path>
              </a:pathLst>
            </a:custGeom>
            <a:solidFill>
              <a:srgbClr val="C0C0C0"/>
            </a:solidFill>
            <a:ln w="12700">
              <a:solidFill>
                <a:schemeClr val="bg2"/>
              </a:solidFill>
              <a:round/>
            </a:ln>
          </p:spPr>
          <p:txBody>
            <a:bodyPr/>
            <a:lstStyle/>
            <a:p>
              <a:endParaRPr lang="zh-CN" altLang="en-US"/>
            </a:p>
          </p:txBody>
        </p:sp>
        <p:sp>
          <p:nvSpPr>
            <p:cNvPr id="147148" name="Oval 243"/>
            <p:cNvSpPr>
              <a:spLocks noChangeAspect="1" noChangeArrowheads="1"/>
            </p:cNvSpPr>
            <p:nvPr/>
          </p:nvSpPr>
          <p:spPr bwMode="auto">
            <a:xfrm>
              <a:off x="3501" y="2248"/>
              <a:ext cx="168" cy="24"/>
            </a:xfrm>
            <a:prstGeom prst="ellipse">
              <a:avLst/>
            </a:prstGeom>
            <a:solidFill>
              <a:schemeClr val="bg1"/>
            </a:solidFill>
            <a:ln w="3175">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49" name="Freeform 244"/>
            <p:cNvSpPr>
              <a:spLocks noChangeAspect="1"/>
            </p:cNvSpPr>
            <p:nvPr/>
          </p:nvSpPr>
          <p:spPr bwMode="auto">
            <a:xfrm>
              <a:off x="3515" y="2256"/>
              <a:ext cx="141" cy="481"/>
            </a:xfrm>
            <a:custGeom>
              <a:avLst/>
              <a:gdLst>
                <a:gd name="T0" fmla="*/ 0 w 570"/>
                <a:gd name="T1" fmla="*/ 0 h 1941"/>
                <a:gd name="T2" fmla="*/ 0 w 570"/>
                <a:gd name="T3" fmla="*/ 4 h 1941"/>
                <a:gd name="T4" fmla="*/ 1 w 570"/>
                <a:gd name="T5" fmla="*/ 7 h 1941"/>
                <a:gd name="T6" fmla="*/ 1 w 570"/>
                <a:gd name="T7" fmla="*/ 7 h 1941"/>
                <a:gd name="T8" fmla="*/ 2 w 570"/>
                <a:gd name="T9" fmla="*/ 4 h 1941"/>
                <a:gd name="T10" fmla="*/ 2 w 570"/>
                <a:gd name="T11" fmla="*/ 0 h 1941"/>
                <a:gd name="T12" fmla="*/ 0 w 570"/>
                <a:gd name="T13" fmla="*/ 0 h 1941"/>
                <a:gd name="T14" fmla="*/ 0 60000 65536"/>
                <a:gd name="T15" fmla="*/ 0 60000 65536"/>
                <a:gd name="T16" fmla="*/ 0 60000 65536"/>
                <a:gd name="T17" fmla="*/ 0 60000 65536"/>
                <a:gd name="T18" fmla="*/ 0 60000 65536"/>
                <a:gd name="T19" fmla="*/ 0 60000 65536"/>
                <a:gd name="T20" fmla="*/ 0 60000 65536"/>
                <a:gd name="T21" fmla="*/ 0 w 570"/>
                <a:gd name="T22" fmla="*/ 0 h 1941"/>
                <a:gd name="T23" fmla="*/ 570 w 570"/>
                <a:gd name="T24" fmla="*/ 1941 h 19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0" h="1941">
                  <a:moveTo>
                    <a:pt x="0" y="0"/>
                  </a:moveTo>
                  <a:lnTo>
                    <a:pt x="0" y="1135"/>
                  </a:lnTo>
                  <a:lnTo>
                    <a:pt x="222" y="1825"/>
                  </a:lnTo>
                  <a:cubicBezTo>
                    <a:pt x="281" y="1940"/>
                    <a:pt x="295" y="1941"/>
                    <a:pt x="353" y="1825"/>
                  </a:cubicBezTo>
                  <a:lnTo>
                    <a:pt x="570" y="1129"/>
                  </a:lnTo>
                  <a:lnTo>
                    <a:pt x="570" y="11"/>
                  </a:lnTo>
                  <a:lnTo>
                    <a:pt x="0" y="0"/>
                  </a:lnTo>
                  <a:close/>
                </a:path>
              </a:pathLst>
            </a:custGeom>
            <a:gradFill rotWithShape="1">
              <a:gsLst>
                <a:gs pos="0">
                  <a:srgbClr val="C0C0C0"/>
                </a:gs>
                <a:gs pos="50000">
                  <a:srgbClr val="FFFFFF"/>
                </a:gs>
                <a:gs pos="100000">
                  <a:srgbClr val="C0C0C0"/>
                </a:gs>
              </a:gsLst>
              <a:lin ang="0" scaled="1"/>
            </a:gradFill>
            <a:ln w="9525">
              <a:solidFill>
                <a:schemeClr val="bg2"/>
              </a:solidFill>
              <a:round/>
            </a:ln>
          </p:spPr>
          <p:txBody>
            <a:bodyPr/>
            <a:lstStyle/>
            <a:p>
              <a:endParaRPr lang="zh-CN" altLang="en-US"/>
            </a:p>
          </p:txBody>
        </p:sp>
        <p:sp>
          <p:nvSpPr>
            <p:cNvPr id="147150" name="Oval 245"/>
            <p:cNvSpPr>
              <a:spLocks noChangeAspect="1" noChangeArrowheads="1"/>
            </p:cNvSpPr>
            <p:nvPr/>
          </p:nvSpPr>
          <p:spPr bwMode="auto">
            <a:xfrm>
              <a:off x="3514" y="2249"/>
              <a:ext cx="143" cy="16"/>
            </a:xfrm>
            <a:prstGeom prst="ellipse">
              <a:avLst/>
            </a:prstGeom>
            <a:gradFill rotWithShape="1">
              <a:gsLst>
                <a:gs pos="0">
                  <a:schemeClr val="bg1"/>
                </a:gs>
                <a:gs pos="100000">
                  <a:schemeClr val="bg2"/>
                </a:gs>
              </a:gsLst>
              <a:lin ang="5400000" scaled="1"/>
            </a:gradFill>
            <a:ln w="952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51" name="Freeform 246"/>
            <p:cNvSpPr>
              <a:spLocks noChangeAspect="1"/>
            </p:cNvSpPr>
            <p:nvPr/>
          </p:nvSpPr>
          <p:spPr bwMode="auto">
            <a:xfrm>
              <a:off x="3500" y="2260"/>
              <a:ext cx="170" cy="23"/>
            </a:xfrm>
            <a:custGeom>
              <a:avLst/>
              <a:gdLst>
                <a:gd name="T0" fmla="*/ 0 w 685"/>
                <a:gd name="T1" fmla="*/ 0 h 93"/>
                <a:gd name="T2" fmla="*/ 0 w 685"/>
                <a:gd name="T3" fmla="*/ 0 h 93"/>
                <a:gd name="T4" fmla="*/ 0 w 685"/>
                <a:gd name="T5" fmla="*/ 0 h 93"/>
                <a:gd name="T6" fmla="*/ 1 w 685"/>
                <a:gd name="T7" fmla="*/ 0 h 93"/>
                <a:gd name="T8" fmla="*/ 2 w 685"/>
                <a:gd name="T9" fmla="*/ 0 h 93"/>
                <a:gd name="T10" fmla="*/ 2 w 685"/>
                <a:gd name="T11" fmla="*/ 0 h 93"/>
                <a:gd name="T12" fmla="*/ 2 w 685"/>
                <a:gd name="T13" fmla="*/ 0 h 93"/>
                <a:gd name="T14" fmla="*/ 2 w 685"/>
                <a:gd name="T15" fmla="*/ 0 h 93"/>
                <a:gd name="T16" fmla="*/ 2 w 685"/>
                <a:gd name="T17" fmla="*/ 0 h 93"/>
                <a:gd name="T18" fmla="*/ 1 w 685"/>
                <a:gd name="T19" fmla="*/ 0 h 93"/>
                <a:gd name="T20" fmla="*/ 1 w 685"/>
                <a:gd name="T21" fmla="*/ 0 h 93"/>
                <a:gd name="T22" fmla="*/ 0 w 685"/>
                <a:gd name="T23" fmla="*/ 0 h 93"/>
                <a:gd name="T24" fmla="*/ 0 w 685"/>
                <a:gd name="T25" fmla="*/ 0 h 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5"/>
                <a:gd name="T40" fmla="*/ 0 h 93"/>
                <a:gd name="T41" fmla="*/ 685 w 685"/>
                <a:gd name="T42" fmla="*/ 93 h 9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5" h="93">
                  <a:moveTo>
                    <a:pt x="1" y="6"/>
                  </a:moveTo>
                  <a:lnTo>
                    <a:pt x="3" y="50"/>
                  </a:lnTo>
                  <a:cubicBezTo>
                    <a:pt x="26" y="63"/>
                    <a:pt x="77" y="77"/>
                    <a:pt x="139" y="84"/>
                  </a:cubicBezTo>
                  <a:cubicBezTo>
                    <a:pt x="201" y="91"/>
                    <a:pt x="299" y="93"/>
                    <a:pt x="375" y="92"/>
                  </a:cubicBezTo>
                  <a:cubicBezTo>
                    <a:pt x="451" y="91"/>
                    <a:pt x="545" y="84"/>
                    <a:pt x="597" y="76"/>
                  </a:cubicBezTo>
                  <a:cubicBezTo>
                    <a:pt x="649" y="68"/>
                    <a:pt x="670" y="56"/>
                    <a:pt x="685" y="44"/>
                  </a:cubicBezTo>
                  <a:lnTo>
                    <a:pt x="685" y="4"/>
                  </a:lnTo>
                  <a:cubicBezTo>
                    <a:pt x="681" y="0"/>
                    <a:pt x="682" y="14"/>
                    <a:pt x="659" y="20"/>
                  </a:cubicBezTo>
                  <a:cubicBezTo>
                    <a:pt x="636" y="26"/>
                    <a:pt x="595" y="37"/>
                    <a:pt x="549" y="42"/>
                  </a:cubicBezTo>
                  <a:cubicBezTo>
                    <a:pt x="503" y="47"/>
                    <a:pt x="443" y="51"/>
                    <a:pt x="385" y="52"/>
                  </a:cubicBezTo>
                  <a:cubicBezTo>
                    <a:pt x="327" y="53"/>
                    <a:pt x="258" y="53"/>
                    <a:pt x="199" y="48"/>
                  </a:cubicBezTo>
                  <a:cubicBezTo>
                    <a:pt x="140" y="43"/>
                    <a:pt x="66" y="31"/>
                    <a:pt x="33" y="24"/>
                  </a:cubicBezTo>
                  <a:cubicBezTo>
                    <a:pt x="0" y="17"/>
                    <a:pt x="8" y="10"/>
                    <a:pt x="1" y="6"/>
                  </a:cubicBezTo>
                  <a:close/>
                </a:path>
              </a:pathLst>
            </a:custGeom>
            <a:solidFill>
              <a:schemeClr val="bg1"/>
            </a:solidFill>
            <a:ln w="3175">
              <a:solidFill>
                <a:schemeClr val="tx1"/>
              </a:solidFill>
              <a:round/>
            </a:ln>
          </p:spPr>
          <p:txBody>
            <a:bodyPr/>
            <a:lstStyle/>
            <a:p>
              <a:endParaRPr lang="zh-CN" altLang="en-US"/>
            </a:p>
          </p:txBody>
        </p:sp>
        <p:sp>
          <p:nvSpPr>
            <p:cNvPr id="147152" name="Oval 247"/>
            <p:cNvSpPr>
              <a:spLocks noChangeAspect="1" noChangeArrowheads="1"/>
            </p:cNvSpPr>
            <p:nvPr/>
          </p:nvSpPr>
          <p:spPr bwMode="auto">
            <a:xfrm>
              <a:off x="3526" y="2042"/>
              <a:ext cx="130" cy="117"/>
            </a:xfrm>
            <a:prstGeom prst="ellipse">
              <a:avLst/>
            </a:prstGeom>
            <a:solidFill>
              <a:schemeClr val="bg1"/>
            </a:solidFill>
            <a:ln w="2857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6444" name="Text Box 248"/>
          <p:cNvSpPr txBox="1">
            <a:spLocks noChangeArrowheads="1"/>
          </p:cNvSpPr>
          <p:nvPr/>
        </p:nvSpPr>
        <p:spPr bwMode="auto">
          <a:xfrm>
            <a:off x="6470650" y="3354388"/>
            <a:ext cx="212248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3b. Synthesize labeled </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cDNA probe</a:t>
            </a:r>
          </a:p>
        </p:txBody>
      </p:sp>
      <p:grpSp>
        <p:nvGrpSpPr>
          <p:cNvPr id="146445" name="Group 249"/>
          <p:cNvGrpSpPr>
            <a:grpSpLocks noChangeAspect="1"/>
          </p:cNvGrpSpPr>
          <p:nvPr/>
        </p:nvGrpSpPr>
        <p:grpSpPr bwMode="auto">
          <a:xfrm>
            <a:off x="6738938" y="3971925"/>
            <a:ext cx="1855787" cy="109538"/>
            <a:chOff x="95" y="2136"/>
            <a:chExt cx="2246" cy="133"/>
          </a:xfrm>
        </p:grpSpPr>
        <p:sp>
          <p:nvSpPr>
            <p:cNvPr id="146931" name="Freeform 250"/>
            <p:cNvSpPr>
              <a:spLocks noChangeAspect="1"/>
            </p:cNvSpPr>
            <p:nvPr/>
          </p:nvSpPr>
          <p:spPr bwMode="auto">
            <a:xfrm>
              <a:off x="368"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2" name="Freeform 251"/>
            <p:cNvSpPr>
              <a:spLocks noChangeAspect="1"/>
            </p:cNvSpPr>
            <p:nvPr/>
          </p:nvSpPr>
          <p:spPr bwMode="auto">
            <a:xfrm>
              <a:off x="289"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3" name="Freeform 252"/>
            <p:cNvSpPr>
              <a:spLocks noChangeAspect="1"/>
            </p:cNvSpPr>
            <p:nvPr/>
          </p:nvSpPr>
          <p:spPr bwMode="auto">
            <a:xfrm>
              <a:off x="640"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4" name="Freeform 253"/>
            <p:cNvSpPr>
              <a:spLocks noChangeAspect="1"/>
            </p:cNvSpPr>
            <p:nvPr/>
          </p:nvSpPr>
          <p:spPr bwMode="auto">
            <a:xfrm>
              <a:off x="561"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5" name="Freeform 254"/>
            <p:cNvSpPr>
              <a:spLocks noChangeAspect="1"/>
            </p:cNvSpPr>
            <p:nvPr/>
          </p:nvSpPr>
          <p:spPr bwMode="auto">
            <a:xfrm>
              <a:off x="913"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6" name="Freeform 255"/>
            <p:cNvSpPr>
              <a:spLocks noChangeAspect="1"/>
            </p:cNvSpPr>
            <p:nvPr/>
          </p:nvSpPr>
          <p:spPr bwMode="auto">
            <a:xfrm>
              <a:off x="834"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7" name="Freeform 256"/>
            <p:cNvSpPr>
              <a:spLocks noChangeAspect="1"/>
            </p:cNvSpPr>
            <p:nvPr/>
          </p:nvSpPr>
          <p:spPr bwMode="auto">
            <a:xfrm>
              <a:off x="1187"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8" name="Freeform 257"/>
            <p:cNvSpPr>
              <a:spLocks noChangeAspect="1"/>
            </p:cNvSpPr>
            <p:nvPr/>
          </p:nvSpPr>
          <p:spPr bwMode="auto">
            <a:xfrm>
              <a:off x="110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9" name="Freeform 258"/>
            <p:cNvSpPr>
              <a:spLocks noChangeAspect="1"/>
            </p:cNvSpPr>
            <p:nvPr/>
          </p:nvSpPr>
          <p:spPr bwMode="auto">
            <a:xfrm>
              <a:off x="1460"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40" name="Freeform 259"/>
            <p:cNvSpPr>
              <a:spLocks noChangeAspect="1"/>
            </p:cNvSpPr>
            <p:nvPr/>
          </p:nvSpPr>
          <p:spPr bwMode="auto">
            <a:xfrm>
              <a:off x="1381"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41" name="Freeform 260"/>
            <p:cNvSpPr>
              <a:spLocks noChangeAspect="1"/>
            </p:cNvSpPr>
            <p:nvPr/>
          </p:nvSpPr>
          <p:spPr bwMode="auto">
            <a:xfrm>
              <a:off x="1732"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42" name="Freeform 261"/>
            <p:cNvSpPr>
              <a:spLocks noChangeAspect="1"/>
            </p:cNvSpPr>
            <p:nvPr/>
          </p:nvSpPr>
          <p:spPr bwMode="auto">
            <a:xfrm>
              <a:off x="1653"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43" name="Freeform 262"/>
            <p:cNvSpPr>
              <a:spLocks noChangeAspect="1"/>
            </p:cNvSpPr>
            <p:nvPr/>
          </p:nvSpPr>
          <p:spPr bwMode="auto">
            <a:xfrm>
              <a:off x="2005"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44" name="Freeform 263"/>
            <p:cNvSpPr>
              <a:spLocks noChangeAspect="1"/>
            </p:cNvSpPr>
            <p:nvPr/>
          </p:nvSpPr>
          <p:spPr bwMode="auto">
            <a:xfrm>
              <a:off x="192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45" name="Freeform 264"/>
            <p:cNvSpPr>
              <a:spLocks noChangeAspect="1"/>
            </p:cNvSpPr>
            <p:nvPr/>
          </p:nvSpPr>
          <p:spPr bwMode="auto">
            <a:xfrm>
              <a:off x="95"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46946" name="Group 265"/>
            <p:cNvGrpSpPr>
              <a:grpSpLocks noChangeAspect="1"/>
            </p:cNvGrpSpPr>
            <p:nvPr/>
          </p:nvGrpSpPr>
          <p:grpSpPr bwMode="auto">
            <a:xfrm>
              <a:off x="229" y="2137"/>
              <a:ext cx="11" cy="86"/>
              <a:chOff x="1015" y="2428"/>
              <a:chExt cx="46" cy="372"/>
            </a:xfrm>
          </p:grpSpPr>
          <p:sp>
            <p:nvSpPr>
              <p:cNvPr id="147144" name="AutoShape 266"/>
              <p:cNvSpPr>
                <a:spLocks noChangeAspect="1" noChangeArrowheads="1"/>
              </p:cNvSpPr>
              <p:nvPr/>
            </p:nvSpPr>
            <p:spPr bwMode="auto">
              <a:xfrm>
                <a:off x="1015" y="2428"/>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45" name="AutoShape 267"/>
              <p:cNvSpPr>
                <a:spLocks noChangeAspect="1" noChangeArrowheads="1"/>
              </p:cNvSpPr>
              <p:nvPr/>
            </p:nvSpPr>
            <p:spPr bwMode="auto">
              <a:xfrm>
                <a:off x="1015" y="2611"/>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47" name="Group 268"/>
            <p:cNvGrpSpPr>
              <a:grpSpLocks noChangeAspect="1"/>
            </p:cNvGrpSpPr>
            <p:nvPr/>
          </p:nvGrpSpPr>
          <p:grpSpPr bwMode="auto">
            <a:xfrm>
              <a:off x="394" y="2153"/>
              <a:ext cx="10" cy="104"/>
              <a:chOff x="1790" y="2461"/>
              <a:chExt cx="40" cy="447"/>
            </a:xfrm>
          </p:grpSpPr>
          <p:sp>
            <p:nvSpPr>
              <p:cNvPr id="147142" name="AutoShape 269"/>
              <p:cNvSpPr>
                <a:spLocks noChangeAspect="1" noChangeArrowheads="1"/>
              </p:cNvSpPr>
              <p:nvPr/>
            </p:nvSpPr>
            <p:spPr bwMode="auto">
              <a:xfrm>
                <a:off x="1790" y="2461"/>
                <a:ext cx="40" cy="223"/>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43" name="AutoShape 270"/>
              <p:cNvSpPr>
                <a:spLocks noChangeAspect="1" noChangeArrowheads="1"/>
              </p:cNvSpPr>
              <p:nvPr/>
            </p:nvSpPr>
            <p:spPr bwMode="auto">
              <a:xfrm>
                <a:off x="1790" y="2684"/>
                <a:ext cx="40" cy="2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48" name="Group 271"/>
            <p:cNvGrpSpPr>
              <a:grpSpLocks noChangeAspect="1"/>
            </p:cNvGrpSpPr>
            <p:nvPr/>
          </p:nvGrpSpPr>
          <p:grpSpPr bwMode="auto">
            <a:xfrm>
              <a:off x="260" y="2150"/>
              <a:ext cx="9" cy="107"/>
              <a:chOff x="1151" y="2490"/>
              <a:chExt cx="40" cy="455"/>
            </a:xfrm>
          </p:grpSpPr>
          <p:sp>
            <p:nvSpPr>
              <p:cNvPr id="147140" name="AutoShape 272"/>
              <p:cNvSpPr>
                <a:spLocks noChangeAspect="1" noChangeArrowheads="1"/>
              </p:cNvSpPr>
              <p:nvPr/>
            </p:nvSpPr>
            <p:spPr bwMode="auto">
              <a:xfrm>
                <a:off x="1151" y="2716"/>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41" name="AutoShape 273"/>
              <p:cNvSpPr>
                <a:spLocks noChangeAspect="1" noChangeArrowheads="1"/>
              </p:cNvSpPr>
              <p:nvPr/>
            </p:nvSpPr>
            <p:spPr bwMode="auto">
              <a:xfrm>
                <a:off x="1151" y="2490"/>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49" name="Group 274"/>
            <p:cNvGrpSpPr>
              <a:grpSpLocks noChangeAspect="1"/>
            </p:cNvGrpSpPr>
            <p:nvPr/>
          </p:nvGrpSpPr>
          <p:grpSpPr bwMode="auto">
            <a:xfrm>
              <a:off x="425" y="2140"/>
              <a:ext cx="9" cy="76"/>
              <a:chOff x="1914" y="2425"/>
              <a:chExt cx="40" cy="326"/>
            </a:xfrm>
          </p:grpSpPr>
          <p:sp>
            <p:nvSpPr>
              <p:cNvPr id="147138" name="AutoShape 275"/>
              <p:cNvSpPr>
                <a:spLocks noChangeAspect="1" noChangeArrowheads="1"/>
              </p:cNvSpPr>
              <p:nvPr/>
            </p:nvSpPr>
            <p:spPr bwMode="auto">
              <a:xfrm>
                <a:off x="1914" y="2425"/>
                <a:ext cx="40" cy="16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39" name="AutoShape 276"/>
              <p:cNvSpPr>
                <a:spLocks noChangeAspect="1" noChangeArrowheads="1"/>
              </p:cNvSpPr>
              <p:nvPr/>
            </p:nvSpPr>
            <p:spPr bwMode="auto">
              <a:xfrm>
                <a:off x="1914" y="2588"/>
                <a:ext cx="40" cy="16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0" name="Group 277"/>
            <p:cNvGrpSpPr>
              <a:grpSpLocks noChangeAspect="1"/>
            </p:cNvGrpSpPr>
            <p:nvPr/>
          </p:nvGrpSpPr>
          <p:grpSpPr bwMode="auto">
            <a:xfrm>
              <a:off x="290" y="2187"/>
              <a:ext cx="9" cy="78"/>
              <a:chOff x="1284" y="2652"/>
              <a:chExt cx="40" cy="337"/>
            </a:xfrm>
          </p:grpSpPr>
          <p:sp>
            <p:nvSpPr>
              <p:cNvPr id="147136" name="AutoShape 278"/>
              <p:cNvSpPr>
                <a:spLocks noChangeAspect="1" noChangeArrowheads="1"/>
              </p:cNvSpPr>
              <p:nvPr/>
            </p:nvSpPr>
            <p:spPr bwMode="auto">
              <a:xfrm>
                <a:off x="1284" y="2821"/>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37" name="AutoShape 279"/>
              <p:cNvSpPr>
                <a:spLocks noChangeAspect="1" noChangeArrowheads="1"/>
              </p:cNvSpPr>
              <p:nvPr/>
            </p:nvSpPr>
            <p:spPr bwMode="auto">
              <a:xfrm>
                <a:off x="1284" y="2652"/>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1" name="Group 280"/>
            <p:cNvGrpSpPr>
              <a:grpSpLocks noChangeAspect="1"/>
            </p:cNvGrpSpPr>
            <p:nvPr/>
          </p:nvGrpSpPr>
          <p:grpSpPr bwMode="auto">
            <a:xfrm>
              <a:off x="364" y="2184"/>
              <a:ext cx="9" cy="83"/>
              <a:chOff x="1658" y="2628"/>
              <a:chExt cx="40" cy="355"/>
            </a:xfrm>
          </p:grpSpPr>
          <p:sp>
            <p:nvSpPr>
              <p:cNvPr id="147134" name="AutoShape 281"/>
              <p:cNvSpPr>
                <a:spLocks noChangeAspect="1" noChangeArrowheads="1"/>
              </p:cNvSpPr>
              <p:nvPr/>
            </p:nvSpPr>
            <p:spPr bwMode="auto">
              <a:xfrm>
                <a:off x="1658" y="2628"/>
                <a:ext cx="40" cy="17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35" name="AutoShape 282"/>
              <p:cNvSpPr>
                <a:spLocks noChangeAspect="1" noChangeArrowheads="1"/>
              </p:cNvSpPr>
              <p:nvPr/>
            </p:nvSpPr>
            <p:spPr bwMode="auto">
              <a:xfrm>
                <a:off x="1658" y="2805"/>
                <a:ext cx="40" cy="17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2" name="Group 283"/>
            <p:cNvGrpSpPr>
              <a:grpSpLocks noChangeAspect="1"/>
            </p:cNvGrpSpPr>
            <p:nvPr/>
          </p:nvGrpSpPr>
          <p:grpSpPr bwMode="auto">
            <a:xfrm>
              <a:off x="334" y="2228"/>
              <a:ext cx="9" cy="29"/>
              <a:chOff x="1516" y="2835"/>
              <a:chExt cx="42" cy="123"/>
            </a:xfrm>
          </p:grpSpPr>
          <p:sp>
            <p:nvSpPr>
              <p:cNvPr id="147132" name="AutoShape 284"/>
              <p:cNvSpPr>
                <a:spLocks noChangeAspect="1" noChangeArrowheads="1"/>
              </p:cNvSpPr>
              <p:nvPr/>
            </p:nvSpPr>
            <p:spPr bwMode="auto">
              <a:xfrm>
                <a:off x="1516" y="2897"/>
                <a:ext cx="42" cy="6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33" name="AutoShape 285"/>
              <p:cNvSpPr>
                <a:spLocks noChangeAspect="1" noChangeArrowheads="1"/>
              </p:cNvSpPr>
              <p:nvPr/>
            </p:nvSpPr>
            <p:spPr bwMode="auto">
              <a:xfrm>
                <a:off x="1516" y="2835"/>
                <a:ext cx="42" cy="6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3" name="Group 286"/>
            <p:cNvGrpSpPr>
              <a:grpSpLocks noChangeAspect="1"/>
            </p:cNvGrpSpPr>
            <p:nvPr/>
          </p:nvGrpSpPr>
          <p:grpSpPr bwMode="auto">
            <a:xfrm>
              <a:off x="522" y="2144"/>
              <a:ext cx="9" cy="103"/>
              <a:chOff x="2195" y="2463"/>
              <a:chExt cx="40" cy="442"/>
            </a:xfrm>
          </p:grpSpPr>
          <p:sp>
            <p:nvSpPr>
              <p:cNvPr id="147130" name="AutoShape 287"/>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31" name="AutoShape 288"/>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4" name="Group 289"/>
            <p:cNvGrpSpPr>
              <a:grpSpLocks noChangeAspect="1"/>
            </p:cNvGrpSpPr>
            <p:nvPr/>
          </p:nvGrpSpPr>
          <p:grpSpPr bwMode="auto">
            <a:xfrm>
              <a:off x="554" y="2177"/>
              <a:ext cx="10" cy="90"/>
              <a:chOff x="2329" y="2599"/>
              <a:chExt cx="43" cy="386"/>
            </a:xfrm>
          </p:grpSpPr>
          <p:sp>
            <p:nvSpPr>
              <p:cNvPr id="147128" name="AutoShape 290"/>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29" name="AutoShape 291"/>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5" name="Group 292"/>
            <p:cNvGrpSpPr>
              <a:grpSpLocks noChangeAspect="1"/>
            </p:cNvGrpSpPr>
            <p:nvPr/>
          </p:nvGrpSpPr>
          <p:grpSpPr bwMode="auto">
            <a:xfrm>
              <a:off x="450" y="2143"/>
              <a:ext cx="10" cy="38"/>
              <a:chOff x="2478" y="2807"/>
              <a:chExt cx="43" cy="178"/>
            </a:xfrm>
          </p:grpSpPr>
          <p:sp>
            <p:nvSpPr>
              <p:cNvPr id="147126" name="AutoShape 293"/>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27" name="AutoShape 294"/>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6" name="Group 295"/>
            <p:cNvGrpSpPr>
              <a:grpSpLocks noChangeAspect="1"/>
            </p:cNvGrpSpPr>
            <p:nvPr/>
          </p:nvGrpSpPr>
          <p:grpSpPr bwMode="auto">
            <a:xfrm>
              <a:off x="490" y="2140"/>
              <a:ext cx="10" cy="63"/>
              <a:chOff x="2065" y="2441"/>
              <a:chExt cx="40" cy="272"/>
            </a:xfrm>
          </p:grpSpPr>
          <p:sp>
            <p:nvSpPr>
              <p:cNvPr id="147124" name="AutoShape 296"/>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25" name="AutoShape 297"/>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7" name="Group 298"/>
            <p:cNvGrpSpPr>
              <a:grpSpLocks noChangeAspect="1"/>
            </p:cNvGrpSpPr>
            <p:nvPr/>
          </p:nvGrpSpPr>
          <p:grpSpPr bwMode="auto">
            <a:xfrm>
              <a:off x="585" y="2222"/>
              <a:ext cx="10" cy="38"/>
              <a:chOff x="2478" y="2807"/>
              <a:chExt cx="43" cy="178"/>
            </a:xfrm>
          </p:grpSpPr>
          <p:sp>
            <p:nvSpPr>
              <p:cNvPr id="147122" name="AutoShape 299"/>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23" name="AutoShape 300"/>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8" name="Group 301"/>
            <p:cNvGrpSpPr>
              <a:grpSpLocks noChangeAspect="1"/>
            </p:cNvGrpSpPr>
            <p:nvPr/>
          </p:nvGrpSpPr>
          <p:grpSpPr bwMode="auto">
            <a:xfrm>
              <a:off x="713" y="2140"/>
              <a:ext cx="10" cy="52"/>
              <a:chOff x="3094" y="2443"/>
              <a:chExt cx="40" cy="183"/>
            </a:xfrm>
          </p:grpSpPr>
          <p:sp>
            <p:nvSpPr>
              <p:cNvPr id="147120" name="AutoShape 302"/>
              <p:cNvSpPr>
                <a:spLocks noChangeAspect="1" noChangeArrowheads="1"/>
              </p:cNvSpPr>
              <p:nvPr/>
            </p:nvSpPr>
            <p:spPr bwMode="auto">
              <a:xfrm flipV="1">
                <a:off x="3094" y="2443"/>
                <a:ext cx="40" cy="9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21" name="AutoShape 303"/>
              <p:cNvSpPr>
                <a:spLocks noChangeAspect="1" noChangeArrowheads="1"/>
              </p:cNvSpPr>
              <p:nvPr/>
            </p:nvSpPr>
            <p:spPr bwMode="auto">
              <a:xfrm flipV="1">
                <a:off x="3094" y="2534"/>
                <a:ext cx="40" cy="9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9" name="Group 304"/>
            <p:cNvGrpSpPr>
              <a:grpSpLocks noChangeAspect="1"/>
            </p:cNvGrpSpPr>
            <p:nvPr/>
          </p:nvGrpSpPr>
          <p:grpSpPr bwMode="auto">
            <a:xfrm>
              <a:off x="686" y="2140"/>
              <a:ext cx="11" cy="96"/>
              <a:chOff x="2978" y="2432"/>
              <a:chExt cx="46" cy="375"/>
            </a:xfrm>
          </p:grpSpPr>
          <p:sp>
            <p:nvSpPr>
              <p:cNvPr id="147118" name="AutoShape 305"/>
              <p:cNvSpPr>
                <a:spLocks noChangeAspect="1" noChangeArrowheads="1"/>
              </p:cNvSpPr>
              <p:nvPr/>
            </p:nvSpPr>
            <p:spPr bwMode="auto">
              <a:xfrm>
                <a:off x="2978" y="2619"/>
                <a:ext cx="46" cy="18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19" name="AutoShape 306"/>
              <p:cNvSpPr>
                <a:spLocks noChangeAspect="1" noChangeArrowheads="1"/>
              </p:cNvSpPr>
              <p:nvPr/>
            </p:nvSpPr>
            <p:spPr bwMode="auto">
              <a:xfrm>
                <a:off x="2978" y="2432"/>
                <a:ext cx="46" cy="18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0" name="Group 307"/>
            <p:cNvGrpSpPr>
              <a:grpSpLocks noChangeAspect="1"/>
            </p:cNvGrpSpPr>
            <p:nvPr/>
          </p:nvGrpSpPr>
          <p:grpSpPr bwMode="auto">
            <a:xfrm>
              <a:off x="655" y="2160"/>
              <a:ext cx="10" cy="102"/>
              <a:chOff x="2832" y="2516"/>
              <a:chExt cx="43" cy="436"/>
            </a:xfrm>
          </p:grpSpPr>
          <p:sp>
            <p:nvSpPr>
              <p:cNvPr id="147116" name="AutoShape 308"/>
              <p:cNvSpPr>
                <a:spLocks noChangeAspect="1" noChangeArrowheads="1"/>
              </p:cNvSpPr>
              <p:nvPr/>
            </p:nvSpPr>
            <p:spPr bwMode="auto">
              <a:xfrm flipV="1">
                <a:off x="2832" y="2516"/>
                <a:ext cx="43" cy="21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17" name="AutoShape 309"/>
              <p:cNvSpPr>
                <a:spLocks noChangeAspect="1" noChangeArrowheads="1"/>
              </p:cNvSpPr>
              <p:nvPr/>
            </p:nvSpPr>
            <p:spPr bwMode="auto">
              <a:xfrm flipV="1">
                <a:off x="2832" y="2734"/>
                <a:ext cx="43" cy="21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1" name="Group 310"/>
            <p:cNvGrpSpPr>
              <a:grpSpLocks noChangeAspect="1"/>
            </p:cNvGrpSpPr>
            <p:nvPr/>
          </p:nvGrpSpPr>
          <p:grpSpPr bwMode="auto">
            <a:xfrm>
              <a:off x="622" y="2213"/>
              <a:ext cx="9" cy="51"/>
              <a:chOff x="2668" y="2761"/>
              <a:chExt cx="40" cy="217"/>
            </a:xfrm>
          </p:grpSpPr>
          <p:sp>
            <p:nvSpPr>
              <p:cNvPr id="147114" name="AutoShape 311"/>
              <p:cNvSpPr>
                <a:spLocks noChangeAspect="1" noChangeArrowheads="1"/>
              </p:cNvSpPr>
              <p:nvPr/>
            </p:nvSpPr>
            <p:spPr bwMode="auto">
              <a:xfrm>
                <a:off x="2668" y="2870"/>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15" name="AutoShape 312"/>
              <p:cNvSpPr>
                <a:spLocks noChangeAspect="1" noChangeArrowheads="1"/>
              </p:cNvSpPr>
              <p:nvPr/>
            </p:nvSpPr>
            <p:spPr bwMode="auto">
              <a:xfrm>
                <a:off x="2668" y="2761"/>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2" name="Group 313"/>
            <p:cNvGrpSpPr>
              <a:grpSpLocks noChangeAspect="1"/>
            </p:cNvGrpSpPr>
            <p:nvPr/>
          </p:nvGrpSpPr>
          <p:grpSpPr bwMode="auto">
            <a:xfrm flipV="1">
              <a:off x="818" y="2163"/>
              <a:ext cx="10" cy="103"/>
              <a:chOff x="3217" y="3037"/>
              <a:chExt cx="46" cy="372"/>
            </a:xfrm>
          </p:grpSpPr>
          <p:sp>
            <p:nvSpPr>
              <p:cNvPr id="147112" name="AutoShape 314"/>
              <p:cNvSpPr>
                <a:spLocks noChangeAspect="1" noChangeArrowheads="1"/>
              </p:cNvSpPr>
              <p:nvPr/>
            </p:nvSpPr>
            <p:spPr bwMode="auto">
              <a:xfrm>
                <a:off x="3217" y="3037"/>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13" name="AutoShape 315"/>
              <p:cNvSpPr>
                <a:spLocks noChangeAspect="1" noChangeArrowheads="1"/>
              </p:cNvSpPr>
              <p:nvPr/>
            </p:nvSpPr>
            <p:spPr bwMode="auto">
              <a:xfrm>
                <a:off x="3217" y="3220"/>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3" name="Group 316"/>
            <p:cNvGrpSpPr>
              <a:grpSpLocks noChangeAspect="1"/>
            </p:cNvGrpSpPr>
            <p:nvPr/>
          </p:nvGrpSpPr>
          <p:grpSpPr bwMode="auto">
            <a:xfrm>
              <a:off x="785" y="2137"/>
              <a:ext cx="11" cy="102"/>
              <a:chOff x="3353" y="3099"/>
              <a:chExt cx="40" cy="455"/>
            </a:xfrm>
          </p:grpSpPr>
          <p:sp>
            <p:nvSpPr>
              <p:cNvPr id="147110" name="AutoShape 317"/>
              <p:cNvSpPr>
                <a:spLocks noChangeAspect="1" noChangeArrowheads="1"/>
              </p:cNvSpPr>
              <p:nvPr/>
            </p:nvSpPr>
            <p:spPr bwMode="auto">
              <a:xfrm>
                <a:off x="3353" y="3325"/>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11" name="AutoShape 318"/>
              <p:cNvSpPr>
                <a:spLocks noChangeAspect="1" noChangeArrowheads="1"/>
              </p:cNvSpPr>
              <p:nvPr/>
            </p:nvSpPr>
            <p:spPr bwMode="auto">
              <a:xfrm>
                <a:off x="3353" y="3099"/>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4" name="Group 319"/>
            <p:cNvGrpSpPr>
              <a:grpSpLocks noChangeAspect="1"/>
            </p:cNvGrpSpPr>
            <p:nvPr/>
          </p:nvGrpSpPr>
          <p:grpSpPr bwMode="auto">
            <a:xfrm>
              <a:off x="757" y="2139"/>
              <a:ext cx="11" cy="61"/>
              <a:chOff x="3486" y="3261"/>
              <a:chExt cx="40" cy="337"/>
            </a:xfrm>
          </p:grpSpPr>
          <p:sp>
            <p:nvSpPr>
              <p:cNvPr id="147108" name="AutoShape 320"/>
              <p:cNvSpPr>
                <a:spLocks noChangeAspect="1" noChangeArrowheads="1"/>
              </p:cNvSpPr>
              <p:nvPr/>
            </p:nvSpPr>
            <p:spPr bwMode="auto">
              <a:xfrm>
                <a:off x="3486" y="3430"/>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09" name="AutoShape 321"/>
              <p:cNvSpPr>
                <a:spLocks noChangeAspect="1" noChangeArrowheads="1"/>
              </p:cNvSpPr>
              <p:nvPr/>
            </p:nvSpPr>
            <p:spPr bwMode="auto">
              <a:xfrm>
                <a:off x="3486" y="3261"/>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5" name="Group 322"/>
            <p:cNvGrpSpPr>
              <a:grpSpLocks noChangeAspect="1"/>
            </p:cNvGrpSpPr>
            <p:nvPr/>
          </p:nvGrpSpPr>
          <p:grpSpPr bwMode="auto">
            <a:xfrm>
              <a:off x="953" y="2143"/>
              <a:ext cx="9" cy="104"/>
              <a:chOff x="2195" y="2463"/>
              <a:chExt cx="40" cy="442"/>
            </a:xfrm>
          </p:grpSpPr>
          <p:sp>
            <p:nvSpPr>
              <p:cNvPr id="147106" name="AutoShape 323"/>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07" name="AutoShape 324"/>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6" name="Group 325"/>
            <p:cNvGrpSpPr>
              <a:grpSpLocks noChangeAspect="1"/>
            </p:cNvGrpSpPr>
            <p:nvPr/>
          </p:nvGrpSpPr>
          <p:grpSpPr bwMode="auto">
            <a:xfrm>
              <a:off x="916" y="2176"/>
              <a:ext cx="10" cy="91"/>
              <a:chOff x="2329" y="2599"/>
              <a:chExt cx="43" cy="386"/>
            </a:xfrm>
          </p:grpSpPr>
          <p:sp>
            <p:nvSpPr>
              <p:cNvPr id="147104" name="AutoShape 326"/>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05" name="AutoShape 327"/>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7" name="Group 328"/>
            <p:cNvGrpSpPr>
              <a:grpSpLocks noChangeAspect="1"/>
            </p:cNvGrpSpPr>
            <p:nvPr/>
          </p:nvGrpSpPr>
          <p:grpSpPr bwMode="auto">
            <a:xfrm>
              <a:off x="846" y="2201"/>
              <a:ext cx="10" cy="63"/>
              <a:chOff x="2065" y="2441"/>
              <a:chExt cx="40" cy="272"/>
            </a:xfrm>
          </p:grpSpPr>
          <p:sp>
            <p:nvSpPr>
              <p:cNvPr id="147102" name="AutoShape 329"/>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03" name="AutoShape 330"/>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8" name="Group 331"/>
            <p:cNvGrpSpPr>
              <a:grpSpLocks noChangeAspect="1"/>
            </p:cNvGrpSpPr>
            <p:nvPr/>
          </p:nvGrpSpPr>
          <p:grpSpPr bwMode="auto">
            <a:xfrm flipV="1">
              <a:off x="888" y="2218"/>
              <a:ext cx="11" cy="42"/>
              <a:chOff x="2815" y="1923"/>
              <a:chExt cx="40" cy="217"/>
            </a:xfrm>
          </p:grpSpPr>
          <p:sp>
            <p:nvSpPr>
              <p:cNvPr id="147100" name="AutoShape 332"/>
              <p:cNvSpPr>
                <a:spLocks noChangeAspect="1" noChangeArrowheads="1"/>
              </p:cNvSpPr>
              <p:nvPr/>
            </p:nvSpPr>
            <p:spPr bwMode="auto">
              <a:xfrm>
                <a:off x="2815" y="2032"/>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01" name="AutoShape 333"/>
              <p:cNvSpPr>
                <a:spLocks noChangeAspect="1" noChangeArrowheads="1"/>
              </p:cNvSpPr>
              <p:nvPr/>
            </p:nvSpPr>
            <p:spPr bwMode="auto">
              <a:xfrm>
                <a:off x="2815" y="1923"/>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9" name="Group 334"/>
            <p:cNvGrpSpPr>
              <a:grpSpLocks noChangeAspect="1"/>
            </p:cNvGrpSpPr>
            <p:nvPr/>
          </p:nvGrpSpPr>
          <p:grpSpPr bwMode="auto">
            <a:xfrm>
              <a:off x="981" y="2139"/>
              <a:ext cx="11" cy="64"/>
              <a:chOff x="2329" y="2599"/>
              <a:chExt cx="43" cy="386"/>
            </a:xfrm>
          </p:grpSpPr>
          <p:sp>
            <p:nvSpPr>
              <p:cNvPr id="147098" name="AutoShape 335"/>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99" name="AutoShape 336"/>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0" name="Group 337"/>
            <p:cNvGrpSpPr>
              <a:grpSpLocks noChangeAspect="1"/>
            </p:cNvGrpSpPr>
            <p:nvPr/>
          </p:nvGrpSpPr>
          <p:grpSpPr bwMode="auto">
            <a:xfrm>
              <a:off x="1019" y="2144"/>
              <a:ext cx="10" cy="38"/>
              <a:chOff x="2478" y="2807"/>
              <a:chExt cx="43" cy="178"/>
            </a:xfrm>
          </p:grpSpPr>
          <p:sp>
            <p:nvSpPr>
              <p:cNvPr id="147096" name="AutoShape 338"/>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97" name="AutoShape 339"/>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1" name="Group 340"/>
            <p:cNvGrpSpPr>
              <a:grpSpLocks noChangeAspect="1"/>
            </p:cNvGrpSpPr>
            <p:nvPr/>
          </p:nvGrpSpPr>
          <p:grpSpPr bwMode="auto">
            <a:xfrm>
              <a:off x="1080" y="2154"/>
              <a:ext cx="10" cy="104"/>
              <a:chOff x="2195" y="2463"/>
              <a:chExt cx="40" cy="442"/>
            </a:xfrm>
          </p:grpSpPr>
          <p:sp>
            <p:nvSpPr>
              <p:cNvPr id="147094" name="AutoShape 341"/>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95" name="AutoShape 342"/>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2" name="Group 343"/>
            <p:cNvGrpSpPr>
              <a:grpSpLocks noChangeAspect="1"/>
            </p:cNvGrpSpPr>
            <p:nvPr/>
          </p:nvGrpSpPr>
          <p:grpSpPr bwMode="auto">
            <a:xfrm>
              <a:off x="1112" y="2192"/>
              <a:ext cx="10" cy="74"/>
              <a:chOff x="2329" y="2599"/>
              <a:chExt cx="43" cy="386"/>
            </a:xfrm>
          </p:grpSpPr>
          <p:sp>
            <p:nvSpPr>
              <p:cNvPr id="147092" name="AutoShape 344"/>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93" name="AutoShape 345"/>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3" name="Group 346"/>
            <p:cNvGrpSpPr>
              <a:grpSpLocks noChangeAspect="1"/>
            </p:cNvGrpSpPr>
            <p:nvPr/>
          </p:nvGrpSpPr>
          <p:grpSpPr bwMode="auto">
            <a:xfrm>
              <a:off x="1049" y="2140"/>
              <a:ext cx="10" cy="79"/>
              <a:chOff x="2065" y="2441"/>
              <a:chExt cx="40" cy="272"/>
            </a:xfrm>
          </p:grpSpPr>
          <p:sp>
            <p:nvSpPr>
              <p:cNvPr id="147090" name="AutoShape 347"/>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91" name="AutoShape 348"/>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6974" name="Freeform 349"/>
            <p:cNvSpPr>
              <a:spLocks noChangeAspect="1"/>
            </p:cNvSpPr>
            <p:nvPr/>
          </p:nvSpPr>
          <p:spPr bwMode="auto">
            <a:xfrm>
              <a:off x="2198"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46975" name="Group 350"/>
            <p:cNvGrpSpPr>
              <a:grpSpLocks noChangeAspect="1"/>
            </p:cNvGrpSpPr>
            <p:nvPr/>
          </p:nvGrpSpPr>
          <p:grpSpPr bwMode="auto">
            <a:xfrm>
              <a:off x="1321" y="2137"/>
              <a:ext cx="11" cy="86"/>
              <a:chOff x="1015" y="2428"/>
              <a:chExt cx="46" cy="372"/>
            </a:xfrm>
          </p:grpSpPr>
          <p:sp>
            <p:nvSpPr>
              <p:cNvPr id="147088" name="AutoShape 351"/>
              <p:cNvSpPr>
                <a:spLocks noChangeAspect="1" noChangeArrowheads="1"/>
              </p:cNvSpPr>
              <p:nvPr/>
            </p:nvSpPr>
            <p:spPr bwMode="auto">
              <a:xfrm>
                <a:off x="1015" y="2428"/>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89" name="AutoShape 352"/>
              <p:cNvSpPr>
                <a:spLocks noChangeAspect="1" noChangeArrowheads="1"/>
              </p:cNvSpPr>
              <p:nvPr/>
            </p:nvSpPr>
            <p:spPr bwMode="auto">
              <a:xfrm>
                <a:off x="1015" y="2611"/>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6" name="Group 353"/>
            <p:cNvGrpSpPr>
              <a:grpSpLocks noChangeAspect="1"/>
            </p:cNvGrpSpPr>
            <p:nvPr/>
          </p:nvGrpSpPr>
          <p:grpSpPr bwMode="auto">
            <a:xfrm>
              <a:off x="1488" y="2147"/>
              <a:ext cx="10" cy="104"/>
              <a:chOff x="1790" y="2461"/>
              <a:chExt cx="40" cy="447"/>
            </a:xfrm>
          </p:grpSpPr>
          <p:sp>
            <p:nvSpPr>
              <p:cNvPr id="147086" name="AutoShape 354"/>
              <p:cNvSpPr>
                <a:spLocks noChangeAspect="1" noChangeArrowheads="1"/>
              </p:cNvSpPr>
              <p:nvPr/>
            </p:nvSpPr>
            <p:spPr bwMode="auto">
              <a:xfrm>
                <a:off x="1790" y="2461"/>
                <a:ext cx="40" cy="223"/>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87" name="AutoShape 355"/>
              <p:cNvSpPr>
                <a:spLocks noChangeAspect="1" noChangeArrowheads="1"/>
              </p:cNvSpPr>
              <p:nvPr/>
            </p:nvSpPr>
            <p:spPr bwMode="auto">
              <a:xfrm>
                <a:off x="1790" y="2684"/>
                <a:ext cx="40" cy="2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7" name="Group 356"/>
            <p:cNvGrpSpPr>
              <a:grpSpLocks noChangeAspect="1"/>
            </p:cNvGrpSpPr>
            <p:nvPr/>
          </p:nvGrpSpPr>
          <p:grpSpPr bwMode="auto">
            <a:xfrm>
              <a:off x="1352" y="2150"/>
              <a:ext cx="10" cy="107"/>
              <a:chOff x="1151" y="2490"/>
              <a:chExt cx="40" cy="455"/>
            </a:xfrm>
          </p:grpSpPr>
          <p:sp>
            <p:nvSpPr>
              <p:cNvPr id="147084" name="AutoShape 357"/>
              <p:cNvSpPr>
                <a:spLocks noChangeAspect="1" noChangeArrowheads="1"/>
              </p:cNvSpPr>
              <p:nvPr/>
            </p:nvSpPr>
            <p:spPr bwMode="auto">
              <a:xfrm>
                <a:off x="1151" y="2716"/>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85" name="AutoShape 358"/>
              <p:cNvSpPr>
                <a:spLocks noChangeAspect="1" noChangeArrowheads="1"/>
              </p:cNvSpPr>
              <p:nvPr/>
            </p:nvSpPr>
            <p:spPr bwMode="auto">
              <a:xfrm>
                <a:off x="1151" y="2490"/>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8" name="Group 359"/>
            <p:cNvGrpSpPr>
              <a:grpSpLocks noChangeAspect="1"/>
            </p:cNvGrpSpPr>
            <p:nvPr/>
          </p:nvGrpSpPr>
          <p:grpSpPr bwMode="auto">
            <a:xfrm>
              <a:off x="1519" y="2138"/>
              <a:ext cx="9" cy="76"/>
              <a:chOff x="1914" y="2425"/>
              <a:chExt cx="40" cy="326"/>
            </a:xfrm>
          </p:grpSpPr>
          <p:sp>
            <p:nvSpPr>
              <p:cNvPr id="147082" name="AutoShape 360"/>
              <p:cNvSpPr>
                <a:spLocks noChangeAspect="1" noChangeArrowheads="1"/>
              </p:cNvSpPr>
              <p:nvPr/>
            </p:nvSpPr>
            <p:spPr bwMode="auto">
              <a:xfrm>
                <a:off x="1914" y="2425"/>
                <a:ext cx="40" cy="16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83" name="AutoShape 361"/>
              <p:cNvSpPr>
                <a:spLocks noChangeAspect="1" noChangeArrowheads="1"/>
              </p:cNvSpPr>
              <p:nvPr/>
            </p:nvSpPr>
            <p:spPr bwMode="auto">
              <a:xfrm>
                <a:off x="1914" y="2588"/>
                <a:ext cx="40" cy="16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9" name="Group 362"/>
            <p:cNvGrpSpPr>
              <a:grpSpLocks noChangeAspect="1"/>
            </p:cNvGrpSpPr>
            <p:nvPr/>
          </p:nvGrpSpPr>
          <p:grpSpPr bwMode="auto">
            <a:xfrm>
              <a:off x="1382" y="2187"/>
              <a:ext cx="9" cy="78"/>
              <a:chOff x="1284" y="2652"/>
              <a:chExt cx="40" cy="337"/>
            </a:xfrm>
          </p:grpSpPr>
          <p:sp>
            <p:nvSpPr>
              <p:cNvPr id="147080" name="AutoShape 363"/>
              <p:cNvSpPr>
                <a:spLocks noChangeAspect="1" noChangeArrowheads="1"/>
              </p:cNvSpPr>
              <p:nvPr/>
            </p:nvSpPr>
            <p:spPr bwMode="auto">
              <a:xfrm>
                <a:off x="1284" y="2821"/>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81" name="AutoShape 364"/>
              <p:cNvSpPr>
                <a:spLocks noChangeAspect="1" noChangeArrowheads="1"/>
              </p:cNvSpPr>
              <p:nvPr/>
            </p:nvSpPr>
            <p:spPr bwMode="auto">
              <a:xfrm>
                <a:off x="1284" y="2652"/>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0" name="Group 365"/>
            <p:cNvGrpSpPr>
              <a:grpSpLocks noChangeAspect="1"/>
            </p:cNvGrpSpPr>
            <p:nvPr/>
          </p:nvGrpSpPr>
          <p:grpSpPr bwMode="auto">
            <a:xfrm>
              <a:off x="1458" y="2184"/>
              <a:ext cx="9" cy="83"/>
              <a:chOff x="1658" y="2628"/>
              <a:chExt cx="40" cy="355"/>
            </a:xfrm>
          </p:grpSpPr>
          <p:sp>
            <p:nvSpPr>
              <p:cNvPr id="147078" name="AutoShape 366"/>
              <p:cNvSpPr>
                <a:spLocks noChangeAspect="1" noChangeArrowheads="1"/>
              </p:cNvSpPr>
              <p:nvPr/>
            </p:nvSpPr>
            <p:spPr bwMode="auto">
              <a:xfrm>
                <a:off x="1658" y="2628"/>
                <a:ext cx="40" cy="17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79" name="AutoShape 367"/>
              <p:cNvSpPr>
                <a:spLocks noChangeAspect="1" noChangeArrowheads="1"/>
              </p:cNvSpPr>
              <p:nvPr/>
            </p:nvSpPr>
            <p:spPr bwMode="auto">
              <a:xfrm>
                <a:off x="1658" y="2805"/>
                <a:ext cx="40" cy="17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1" name="Group 368"/>
            <p:cNvGrpSpPr>
              <a:grpSpLocks noChangeAspect="1"/>
            </p:cNvGrpSpPr>
            <p:nvPr/>
          </p:nvGrpSpPr>
          <p:grpSpPr bwMode="auto">
            <a:xfrm>
              <a:off x="1426" y="2228"/>
              <a:ext cx="9" cy="29"/>
              <a:chOff x="1516" y="2835"/>
              <a:chExt cx="42" cy="123"/>
            </a:xfrm>
          </p:grpSpPr>
          <p:sp>
            <p:nvSpPr>
              <p:cNvPr id="147076" name="AutoShape 369"/>
              <p:cNvSpPr>
                <a:spLocks noChangeAspect="1" noChangeArrowheads="1"/>
              </p:cNvSpPr>
              <p:nvPr/>
            </p:nvSpPr>
            <p:spPr bwMode="auto">
              <a:xfrm>
                <a:off x="1516" y="2897"/>
                <a:ext cx="42" cy="6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77" name="AutoShape 370"/>
              <p:cNvSpPr>
                <a:spLocks noChangeAspect="1" noChangeArrowheads="1"/>
              </p:cNvSpPr>
              <p:nvPr/>
            </p:nvSpPr>
            <p:spPr bwMode="auto">
              <a:xfrm>
                <a:off x="1516" y="2835"/>
                <a:ext cx="42" cy="6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2" name="Group 371"/>
            <p:cNvGrpSpPr>
              <a:grpSpLocks noChangeAspect="1"/>
            </p:cNvGrpSpPr>
            <p:nvPr/>
          </p:nvGrpSpPr>
          <p:grpSpPr bwMode="auto">
            <a:xfrm>
              <a:off x="1614" y="2144"/>
              <a:ext cx="9" cy="103"/>
              <a:chOff x="2195" y="2463"/>
              <a:chExt cx="40" cy="442"/>
            </a:xfrm>
          </p:grpSpPr>
          <p:sp>
            <p:nvSpPr>
              <p:cNvPr id="147074" name="AutoShape 372"/>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75" name="AutoShape 373"/>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3" name="Group 374"/>
            <p:cNvGrpSpPr>
              <a:grpSpLocks noChangeAspect="1"/>
            </p:cNvGrpSpPr>
            <p:nvPr/>
          </p:nvGrpSpPr>
          <p:grpSpPr bwMode="auto">
            <a:xfrm>
              <a:off x="1646" y="2177"/>
              <a:ext cx="10" cy="90"/>
              <a:chOff x="2329" y="2599"/>
              <a:chExt cx="43" cy="386"/>
            </a:xfrm>
          </p:grpSpPr>
          <p:sp>
            <p:nvSpPr>
              <p:cNvPr id="147072" name="AutoShape 375"/>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73" name="AutoShape 376"/>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4" name="Group 377"/>
            <p:cNvGrpSpPr>
              <a:grpSpLocks noChangeAspect="1"/>
            </p:cNvGrpSpPr>
            <p:nvPr/>
          </p:nvGrpSpPr>
          <p:grpSpPr bwMode="auto">
            <a:xfrm>
              <a:off x="1546" y="2145"/>
              <a:ext cx="10" cy="38"/>
              <a:chOff x="2478" y="2807"/>
              <a:chExt cx="43" cy="178"/>
            </a:xfrm>
          </p:grpSpPr>
          <p:sp>
            <p:nvSpPr>
              <p:cNvPr id="147070" name="AutoShape 378"/>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71" name="AutoShape 379"/>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5" name="Group 380"/>
            <p:cNvGrpSpPr>
              <a:grpSpLocks noChangeAspect="1"/>
            </p:cNvGrpSpPr>
            <p:nvPr/>
          </p:nvGrpSpPr>
          <p:grpSpPr bwMode="auto">
            <a:xfrm>
              <a:off x="1583" y="2140"/>
              <a:ext cx="9" cy="63"/>
              <a:chOff x="2065" y="2441"/>
              <a:chExt cx="40" cy="272"/>
            </a:xfrm>
          </p:grpSpPr>
          <p:sp>
            <p:nvSpPr>
              <p:cNvPr id="147068" name="AutoShape 381"/>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69" name="AutoShape 382"/>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6" name="Group 383"/>
            <p:cNvGrpSpPr>
              <a:grpSpLocks noChangeAspect="1"/>
            </p:cNvGrpSpPr>
            <p:nvPr/>
          </p:nvGrpSpPr>
          <p:grpSpPr bwMode="auto">
            <a:xfrm>
              <a:off x="1677" y="2222"/>
              <a:ext cx="10" cy="38"/>
              <a:chOff x="2478" y="2807"/>
              <a:chExt cx="43" cy="178"/>
            </a:xfrm>
          </p:grpSpPr>
          <p:sp>
            <p:nvSpPr>
              <p:cNvPr id="147066" name="AutoShape 384"/>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67" name="AutoShape 385"/>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7" name="Group 386"/>
            <p:cNvGrpSpPr>
              <a:grpSpLocks noChangeAspect="1"/>
            </p:cNvGrpSpPr>
            <p:nvPr/>
          </p:nvGrpSpPr>
          <p:grpSpPr bwMode="auto">
            <a:xfrm>
              <a:off x="1805" y="2140"/>
              <a:ext cx="10" cy="52"/>
              <a:chOff x="3094" y="2443"/>
              <a:chExt cx="40" cy="183"/>
            </a:xfrm>
          </p:grpSpPr>
          <p:sp>
            <p:nvSpPr>
              <p:cNvPr id="147064" name="AutoShape 387"/>
              <p:cNvSpPr>
                <a:spLocks noChangeAspect="1" noChangeArrowheads="1"/>
              </p:cNvSpPr>
              <p:nvPr/>
            </p:nvSpPr>
            <p:spPr bwMode="auto">
              <a:xfrm flipV="1">
                <a:off x="3094" y="2443"/>
                <a:ext cx="40" cy="9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65" name="AutoShape 388"/>
              <p:cNvSpPr>
                <a:spLocks noChangeAspect="1" noChangeArrowheads="1"/>
              </p:cNvSpPr>
              <p:nvPr/>
            </p:nvSpPr>
            <p:spPr bwMode="auto">
              <a:xfrm flipV="1">
                <a:off x="3094" y="2534"/>
                <a:ext cx="40" cy="9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8" name="Group 389"/>
            <p:cNvGrpSpPr>
              <a:grpSpLocks noChangeAspect="1"/>
            </p:cNvGrpSpPr>
            <p:nvPr/>
          </p:nvGrpSpPr>
          <p:grpSpPr bwMode="auto">
            <a:xfrm>
              <a:off x="1778" y="2140"/>
              <a:ext cx="11" cy="96"/>
              <a:chOff x="2978" y="2432"/>
              <a:chExt cx="46" cy="375"/>
            </a:xfrm>
          </p:grpSpPr>
          <p:sp>
            <p:nvSpPr>
              <p:cNvPr id="147062" name="AutoShape 390"/>
              <p:cNvSpPr>
                <a:spLocks noChangeAspect="1" noChangeArrowheads="1"/>
              </p:cNvSpPr>
              <p:nvPr/>
            </p:nvSpPr>
            <p:spPr bwMode="auto">
              <a:xfrm>
                <a:off x="2978" y="2619"/>
                <a:ext cx="46" cy="18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63" name="AutoShape 391"/>
              <p:cNvSpPr>
                <a:spLocks noChangeAspect="1" noChangeArrowheads="1"/>
              </p:cNvSpPr>
              <p:nvPr/>
            </p:nvSpPr>
            <p:spPr bwMode="auto">
              <a:xfrm>
                <a:off x="2978" y="2432"/>
                <a:ext cx="46" cy="18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9" name="Group 392"/>
            <p:cNvGrpSpPr>
              <a:grpSpLocks noChangeAspect="1"/>
            </p:cNvGrpSpPr>
            <p:nvPr/>
          </p:nvGrpSpPr>
          <p:grpSpPr bwMode="auto">
            <a:xfrm>
              <a:off x="1747" y="2160"/>
              <a:ext cx="10" cy="102"/>
              <a:chOff x="2832" y="2516"/>
              <a:chExt cx="43" cy="436"/>
            </a:xfrm>
          </p:grpSpPr>
          <p:sp>
            <p:nvSpPr>
              <p:cNvPr id="147060" name="AutoShape 393"/>
              <p:cNvSpPr>
                <a:spLocks noChangeAspect="1" noChangeArrowheads="1"/>
              </p:cNvSpPr>
              <p:nvPr/>
            </p:nvSpPr>
            <p:spPr bwMode="auto">
              <a:xfrm flipV="1">
                <a:off x="2832" y="2516"/>
                <a:ext cx="43" cy="21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61" name="AutoShape 394"/>
              <p:cNvSpPr>
                <a:spLocks noChangeAspect="1" noChangeArrowheads="1"/>
              </p:cNvSpPr>
              <p:nvPr/>
            </p:nvSpPr>
            <p:spPr bwMode="auto">
              <a:xfrm flipV="1">
                <a:off x="2832" y="2734"/>
                <a:ext cx="43" cy="21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0" name="Group 395"/>
            <p:cNvGrpSpPr>
              <a:grpSpLocks noChangeAspect="1"/>
            </p:cNvGrpSpPr>
            <p:nvPr/>
          </p:nvGrpSpPr>
          <p:grpSpPr bwMode="auto">
            <a:xfrm>
              <a:off x="1716" y="2213"/>
              <a:ext cx="9" cy="51"/>
              <a:chOff x="2668" y="2761"/>
              <a:chExt cx="40" cy="217"/>
            </a:xfrm>
          </p:grpSpPr>
          <p:sp>
            <p:nvSpPr>
              <p:cNvPr id="147058" name="AutoShape 396"/>
              <p:cNvSpPr>
                <a:spLocks noChangeAspect="1" noChangeArrowheads="1"/>
              </p:cNvSpPr>
              <p:nvPr/>
            </p:nvSpPr>
            <p:spPr bwMode="auto">
              <a:xfrm>
                <a:off x="2668" y="2870"/>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59" name="AutoShape 397"/>
              <p:cNvSpPr>
                <a:spLocks noChangeAspect="1" noChangeArrowheads="1"/>
              </p:cNvSpPr>
              <p:nvPr/>
            </p:nvSpPr>
            <p:spPr bwMode="auto">
              <a:xfrm>
                <a:off x="2668" y="2761"/>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1" name="Group 398"/>
            <p:cNvGrpSpPr>
              <a:grpSpLocks noChangeAspect="1"/>
            </p:cNvGrpSpPr>
            <p:nvPr/>
          </p:nvGrpSpPr>
          <p:grpSpPr bwMode="auto">
            <a:xfrm flipV="1">
              <a:off x="1910" y="2163"/>
              <a:ext cx="10" cy="103"/>
              <a:chOff x="3217" y="3037"/>
              <a:chExt cx="46" cy="372"/>
            </a:xfrm>
          </p:grpSpPr>
          <p:sp>
            <p:nvSpPr>
              <p:cNvPr id="147056" name="AutoShape 399"/>
              <p:cNvSpPr>
                <a:spLocks noChangeAspect="1" noChangeArrowheads="1"/>
              </p:cNvSpPr>
              <p:nvPr/>
            </p:nvSpPr>
            <p:spPr bwMode="auto">
              <a:xfrm>
                <a:off x="3217" y="3037"/>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57" name="AutoShape 400"/>
              <p:cNvSpPr>
                <a:spLocks noChangeAspect="1" noChangeArrowheads="1"/>
              </p:cNvSpPr>
              <p:nvPr/>
            </p:nvSpPr>
            <p:spPr bwMode="auto">
              <a:xfrm>
                <a:off x="3217" y="3220"/>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2" name="Group 401"/>
            <p:cNvGrpSpPr>
              <a:grpSpLocks noChangeAspect="1"/>
            </p:cNvGrpSpPr>
            <p:nvPr/>
          </p:nvGrpSpPr>
          <p:grpSpPr bwMode="auto">
            <a:xfrm>
              <a:off x="1877" y="2137"/>
              <a:ext cx="11" cy="102"/>
              <a:chOff x="3353" y="3099"/>
              <a:chExt cx="40" cy="455"/>
            </a:xfrm>
          </p:grpSpPr>
          <p:sp>
            <p:nvSpPr>
              <p:cNvPr id="147054" name="AutoShape 402"/>
              <p:cNvSpPr>
                <a:spLocks noChangeAspect="1" noChangeArrowheads="1"/>
              </p:cNvSpPr>
              <p:nvPr/>
            </p:nvSpPr>
            <p:spPr bwMode="auto">
              <a:xfrm>
                <a:off x="3353" y="3325"/>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55" name="AutoShape 403"/>
              <p:cNvSpPr>
                <a:spLocks noChangeAspect="1" noChangeArrowheads="1"/>
              </p:cNvSpPr>
              <p:nvPr/>
            </p:nvSpPr>
            <p:spPr bwMode="auto">
              <a:xfrm>
                <a:off x="3353" y="3099"/>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3" name="Group 404"/>
            <p:cNvGrpSpPr>
              <a:grpSpLocks noChangeAspect="1"/>
            </p:cNvGrpSpPr>
            <p:nvPr/>
          </p:nvGrpSpPr>
          <p:grpSpPr bwMode="auto">
            <a:xfrm>
              <a:off x="1849" y="2139"/>
              <a:ext cx="11" cy="61"/>
              <a:chOff x="3486" y="3261"/>
              <a:chExt cx="40" cy="337"/>
            </a:xfrm>
          </p:grpSpPr>
          <p:sp>
            <p:nvSpPr>
              <p:cNvPr id="147052" name="AutoShape 405"/>
              <p:cNvSpPr>
                <a:spLocks noChangeAspect="1" noChangeArrowheads="1"/>
              </p:cNvSpPr>
              <p:nvPr/>
            </p:nvSpPr>
            <p:spPr bwMode="auto">
              <a:xfrm>
                <a:off x="3486" y="3430"/>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53" name="AutoShape 406"/>
              <p:cNvSpPr>
                <a:spLocks noChangeAspect="1" noChangeArrowheads="1"/>
              </p:cNvSpPr>
              <p:nvPr/>
            </p:nvSpPr>
            <p:spPr bwMode="auto">
              <a:xfrm>
                <a:off x="3486" y="3261"/>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4" name="Group 407"/>
            <p:cNvGrpSpPr>
              <a:grpSpLocks noChangeAspect="1"/>
            </p:cNvGrpSpPr>
            <p:nvPr/>
          </p:nvGrpSpPr>
          <p:grpSpPr bwMode="auto">
            <a:xfrm>
              <a:off x="2043" y="2143"/>
              <a:ext cx="9" cy="104"/>
              <a:chOff x="2195" y="2463"/>
              <a:chExt cx="40" cy="442"/>
            </a:xfrm>
          </p:grpSpPr>
          <p:sp>
            <p:nvSpPr>
              <p:cNvPr id="147050" name="AutoShape 408"/>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51" name="AutoShape 409"/>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5" name="Group 410"/>
            <p:cNvGrpSpPr>
              <a:grpSpLocks noChangeAspect="1"/>
            </p:cNvGrpSpPr>
            <p:nvPr/>
          </p:nvGrpSpPr>
          <p:grpSpPr bwMode="auto">
            <a:xfrm>
              <a:off x="2008" y="2176"/>
              <a:ext cx="10" cy="91"/>
              <a:chOff x="2329" y="2599"/>
              <a:chExt cx="43" cy="386"/>
            </a:xfrm>
          </p:grpSpPr>
          <p:sp>
            <p:nvSpPr>
              <p:cNvPr id="147048" name="AutoShape 411"/>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49" name="AutoShape 412"/>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6" name="Group 413"/>
            <p:cNvGrpSpPr>
              <a:grpSpLocks noChangeAspect="1"/>
            </p:cNvGrpSpPr>
            <p:nvPr/>
          </p:nvGrpSpPr>
          <p:grpSpPr bwMode="auto">
            <a:xfrm>
              <a:off x="1938" y="2201"/>
              <a:ext cx="10" cy="63"/>
              <a:chOff x="2065" y="2441"/>
              <a:chExt cx="40" cy="272"/>
            </a:xfrm>
          </p:grpSpPr>
          <p:sp>
            <p:nvSpPr>
              <p:cNvPr id="147046" name="AutoShape 414"/>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47" name="AutoShape 415"/>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7" name="Group 416"/>
            <p:cNvGrpSpPr>
              <a:grpSpLocks noChangeAspect="1"/>
            </p:cNvGrpSpPr>
            <p:nvPr/>
          </p:nvGrpSpPr>
          <p:grpSpPr bwMode="auto">
            <a:xfrm flipV="1">
              <a:off x="1978" y="2218"/>
              <a:ext cx="11" cy="42"/>
              <a:chOff x="2815" y="1923"/>
              <a:chExt cx="40" cy="217"/>
            </a:xfrm>
          </p:grpSpPr>
          <p:sp>
            <p:nvSpPr>
              <p:cNvPr id="147044" name="AutoShape 417"/>
              <p:cNvSpPr>
                <a:spLocks noChangeAspect="1" noChangeArrowheads="1"/>
              </p:cNvSpPr>
              <p:nvPr/>
            </p:nvSpPr>
            <p:spPr bwMode="auto">
              <a:xfrm>
                <a:off x="2815" y="2032"/>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45" name="AutoShape 418"/>
              <p:cNvSpPr>
                <a:spLocks noChangeAspect="1" noChangeArrowheads="1"/>
              </p:cNvSpPr>
              <p:nvPr/>
            </p:nvSpPr>
            <p:spPr bwMode="auto">
              <a:xfrm>
                <a:off x="2815" y="1923"/>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8" name="Group 419"/>
            <p:cNvGrpSpPr>
              <a:grpSpLocks noChangeAspect="1"/>
            </p:cNvGrpSpPr>
            <p:nvPr/>
          </p:nvGrpSpPr>
          <p:grpSpPr bwMode="auto">
            <a:xfrm>
              <a:off x="2073" y="2139"/>
              <a:ext cx="11" cy="64"/>
              <a:chOff x="2329" y="2599"/>
              <a:chExt cx="43" cy="386"/>
            </a:xfrm>
          </p:grpSpPr>
          <p:sp>
            <p:nvSpPr>
              <p:cNvPr id="147042" name="AutoShape 420"/>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43" name="AutoShape 421"/>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9" name="Group 422"/>
            <p:cNvGrpSpPr>
              <a:grpSpLocks noChangeAspect="1"/>
            </p:cNvGrpSpPr>
            <p:nvPr/>
          </p:nvGrpSpPr>
          <p:grpSpPr bwMode="auto">
            <a:xfrm>
              <a:off x="2111" y="2144"/>
              <a:ext cx="10" cy="38"/>
              <a:chOff x="2478" y="2807"/>
              <a:chExt cx="43" cy="178"/>
            </a:xfrm>
          </p:grpSpPr>
          <p:sp>
            <p:nvSpPr>
              <p:cNvPr id="147040" name="AutoShape 423"/>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41" name="AutoShape 424"/>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0" name="Group 425"/>
            <p:cNvGrpSpPr>
              <a:grpSpLocks noChangeAspect="1"/>
            </p:cNvGrpSpPr>
            <p:nvPr/>
          </p:nvGrpSpPr>
          <p:grpSpPr bwMode="auto">
            <a:xfrm>
              <a:off x="2172" y="2154"/>
              <a:ext cx="10" cy="104"/>
              <a:chOff x="2195" y="2463"/>
              <a:chExt cx="40" cy="442"/>
            </a:xfrm>
          </p:grpSpPr>
          <p:sp>
            <p:nvSpPr>
              <p:cNvPr id="147038" name="AutoShape 426"/>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39" name="AutoShape 427"/>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1" name="Group 428"/>
            <p:cNvGrpSpPr>
              <a:grpSpLocks noChangeAspect="1"/>
            </p:cNvGrpSpPr>
            <p:nvPr/>
          </p:nvGrpSpPr>
          <p:grpSpPr bwMode="auto">
            <a:xfrm>
              <a:off x="2204" y="2192"/>
              <a:ext cx="10" cy="74"/>
              <a:chOff x="2329" y="2599"/>
              <a:chExt cx="43" cy="386"/>
            </a:xfrm>
          </p:grpSpPr>
          <p:sp>
            <p:nvSpPr>
              <p:cNvPr id="147036" name="AutoShape 429"/>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37" name="AutoShape 430"/>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2" name="Group 431"/>
            <p:cNvGrpSpPr>
              <a:grpSpLocks noChangeAspect="1"/>
            </p:cNvGrpSpPr>
            <p:nvPr/>
          </p:nvGrpSpPr>
          <p:grpSpPr bwMode="auto">
            <a:xfrm>
              <a:off x="2141" y="2140"/>
              <a:ext cx="10" cy="79"/>
              <a:chOff x="2065" y="2441"/>
              <a:chExt cx="40" cy="272"/>
            </a:xfrm>
          </p:grpSpPr>
          <p:sp>
            <p:nvSpPr>
              <p:cNvPr id="147034" name="AutoShape 432"/>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35" name="AutoShape 433"/>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3" name="Group 434"/>
            <p:cNvGrpSpPr>
              <a:grpSpLocks noChangeAspect="1"/>
            </p:cNvGrpSpPr>
            <p:nvPr/>
          </p:nvGrpSpPr>
          <p:grpSpPr bwMode="auto">
            <a:xfrm>
              <a:off x="1217" y="2147"/>
              <a:ext cx="9" cy="104"/>
              <a:chOff x="1790" y="2461"/>
              <a:chExt cx="40" cy="447"/>
            </a:xfrm>
          </p:grpSpPr>
          <p:sp>
            <p:nvSpPr>
              <p:cNvPr id="147032" name="AutoShape 435"/>
              <p:cNvSpPr>
                <a:spLocks noChangeAspect="1" noChangeArrowheads="1"/>
              </p:cNvSpPr>
              <p:nvPr/>
            </p:nvSpPr>
            <p:spPr bwMode="auto">
              <a:xfrm>
                <a:off x="1790" y="2461"/>
                <a:ext cx="40" cy="223"/>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33" name="AutoShape 436"/>
              <p:cNvSpPr>
                <a:spLocks noChangeAspect="1" noChangeArrowheads="1"/>
              </p:cNvSpPr>
              <p:nvPr/>
            </p:nvSpPr>
            <p:spPr bwMode="auto">
              <a:xfrm>
                <a:off x="1790" y="2684"/>
                <a:ext cx="40" cy="2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4" name="Group 437"/>
            <p:cNvGrpSpPr>
              <a:grpSpLocks noChangeAspect="1"/>
            </p:cNvGrpSpPr>
            <p:nvPr/>
          </p:nvGrpSpPr>
          <p:grpSpPr bwMode="auto">
            <a:xfrm>
              <a:off x="1247" y="2138"/>
              <a:ext cx="9" cy="76"/>
              <a:chOff x="1914" y="2425"/>
              <a:chExt cx="40" cy="326"/>
            </a:xfrm>
          </p:grpSpPr>
          <p:sp>
            <p:nvSpPr>
              <p:cNvPr id="147030" name="AutoShape 438"/>
              <p:cNvSpPr>
                <a:spLocks noChangeAspect="1" noChangeArrowheads="1"/>
              </p:cNvSpPr>
              <p:nvPr/>
            </p:nvSpPr>
            <p:spPr bwMode="auto">
              <a:xfrm>
                <a:off x="1914" y="2425"/>
                <a:ext cx="40" cy="16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31" name="AutoShape 439"/>
              <p:cNvSpPr>
                <a:spLocks noChangeAspect="1" noChangeArrowheads="1"/>
              </p:cNvSpPr>
              <p:nvPr/>
            </p:nvSpPr>
            <p:spPr bwMode="auto">
              <a:xfrm>
                <a:off x="1914" y="2588"/>
                <a:ext cx="40" cy="16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5" name="Group 440"/>
            <p:cNvGrpSpPr>
              <a:grpSpLocks noChangeAspect="1"/>
            </p:cNvGrpSpPr>
            <p:nvPr/>
          </p:nvGrpSpPr>
          <p:grpSpPr bwMode="auto">
            <a:xfrm>
              <a:off x="1184" y="2184"/>
              <a:ext cx="10" cy="83"/>
              <a:chOff x="1658" y="2628"/>
              <a:chExt cx="40" cy="355"/>
            </a:xfrm>
          </p:grpSpPr>
          <p:sp>
            <p:nvSpPr>
              <p:cNvPr id="147028" name="AutoShape 441"/>
              <p:cNvSpPr>
                <a:spLocks noChangeAspect="1" noChangeArrowheads="1"/>
              </p:cNvSpPr>
              <p:nvPr/>
            </p:nvSpPr>
            <p:spPr bwMode="auto">
              <a:xfrm>
                <a:off x="1658" y="2628"/>
                <a:ext cx="40" cy="17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29" name="AutoShape 442"/>
              <p:cNvSpPr>
                <a:spLocks noChangeAspect="1" noChangeArrowheads="1"/>
              </p:cNvSpPr>
              <p:nvPr/>
            </p:nvSpPr>
            <p:spPr bwMode="auto">
              <a:xfrm>
                <a:off x="1658" y="2805"/>
                <a:ext cx="40" cy="17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6" name="Group 443"/>
            <p:cNvGrpSpPr>
              <a:grpSpLocks noChangeAspect="1"/>
            </p:cNvGrpSpPr>
            <p:nvPr/>
          </p:nvGrpSpPr>
          <p:grpSpPr bwMode="auto">
            <a:xfrm>
              <a:off x="1151" y="2227"/>
              <a:ext cx="10" cy="29"/>
              <a:chOff x="1516" y="2835"/>
              <a:chExt cx="42" cy="123"/>
            </a:xfrm>
          </p:grpSpPr>
          <p:sp>
            <p:nvSpPr>
              <p:cNvPr id="147026" name="AutoShape 444"/>
              <p:cNvSpPr>
                <a:spLocks noChangeAspect="1" noChangeArrowheads="1"/>
              </p:cNvSpPr>
              <p:nvPr/>
            </p:nvSpPr>
            <p:spPr bwMode="auto">
              <a:xfrm>
                <a:off x="1516" y="2897"/>
                <a:ext cx="42" cy="6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27" name="AutoShape 445"/>
              <p:cNvSpPr>
                <a:spLocks noChangeAspect="1" noChangeArrowheads="1"/>
              </p:cNvSpPr>
              <p:nvPr/>
            </p:nvSpPr>
            <p:spPr bwMode="auto">
              <a:xfrm>
                <a:off x="1516" y="2835"/>
                <a:ext cx="42" cy="6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7" name="Group 446"/>
            <p:cNvGrpSpPr>
              <a:grpSpLocks noChangeAspect="1"/>
            </p:cNvGrpSpPr>
            <p:nvPr/>
          </p:nvGrpSpPr>
          <p:grpSpPr bwMode="auto">
            <a:xfrm flipV="1">
              <a:off x="1270" y="2143"/>
              <a:ext cx="10" cy="37"/>
              <a:chOff x="2478" y="2807"/>
              <a:chExt cx="43" cy="178"/>
            </a:xfrm>
          </p:grpSpPr>
          <p:sp>
            <p:nvSpPr>
              <p:cNvPr id="147024" name="AutoShape 447"/>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25" name="AutoShape 448"/>
              <p:cNvSpPr>
                <a:spLocks noChangeAspect="1" noChangeArrowheads="1"/>
              </p:cNvSpPr>
              <p:nvPr/>
            </p:nvSpPr>
            <p:spPr bwMode="auto">
              <a:xfrm flipV="1">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008" name="Freeform 449"/>
            <p:cNvSpPr>
              <a:spLocks noChangeAspect="1"/>
            </p:cNvSpPr>
            <p:nvPr/>
          </p:nvSpPr>
          <p:spPr bwMode="auto">
            <a:xfrm flipH="1">
              <a:off x="2141"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09" name="Freeform 450"/>
            <p:cNvSpPr>
              <a:spLocks noChangeAspect="1"/>
            </p:cNvSpPr>
            <p:nvPr/>
          </p:nvSpPr>
          <p:spPr bwMode="auto">
            <a:xfrm flipH="1">
              <a:off x="2062"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0" name="Freeform 451"/>
            <p:cNvSpPr>
              <a:spLocks noChangeAspect="1"/>
            </p:cNvSpPr>
            <p:nvPr/>
          </p:nvSpPr>
          <p:spPr bwMode="auto">
            <a:xfrm flipH="1">
              <a:off x="1868"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1" name="Freeform 452"/>
            <p:cNvSpPr>
              <a:spLocks noChangeAspect="1"/>
            </p:cNvSpPr>
            <p:nvPr/>
          </p:nvSpPr>
          <p:spPr bwMode="auto">
            <a:xfrm flipH="1">
              <a:off x="1789"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2" name="Freeform 453"/>
            <p:cNvSpPr>
              <a:spLocks noChangeAspect="1"/>
            </p:cNvSpPr>
            <p:nvPr/>
          </p:nvSpPr>
          <p:spPr bwMode="auto">
            <a:xfrm flipH="1">
              <a:off x="159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3" name="Freeform 454"/>
            <p:cNvSpPr>
              <a:spLocks noChangeAspect="1"/>
            </p:cNvSpPr>
            <p:nvPr/>
          </p:nvSpPr>
          <p:spPr bwMode="auto">
            <a:xfrm flipH="1">
              <a:off x="1517"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4" name="Freeform 455"/>
            <p:cNvSpPr>
              <a:spLocks noChangeAspect="1"/>
            </p:cNvSpPr>
            <p:nvPr/>
          </p:nvSpPr>
          <p:spPr bwMode="auto">
            <a:xfrm flipH="1">
              <a:off x="1324"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5" name="Freeform 456"/>
            <p:cNvSpPr>
              <a:spLocks noChangeAspect="1"/>
            </p:cNvSpPr>
            <p:nvPr/>
          </p:nvSpPr>
          <p:spPr bwMode="auto">
            <a:xfrm flipH="1">
              <a:off x="1245"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6" name="Freeform 457"/>
            <p:cNvSpPr>
              <a:spLocks noChangeAspect="1"/>
            </p:cNvSpPr>
            <p:nvPr/>
          </p:nvSpPr>
          <p:spPr bwMode="auto">
            <a:xfrm flipH="1">
              <a:off x="1049"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7" name="Freeform 458"/>
            <p:cNvSpPr>
              <a:spLocks noChangeAspect="1"/>
            </p:cNvSpPr>
            <p:nvPr/>
          </p:nvSpPr>
          <p:spPr bwMode="auto">
            <a:xfrm flipH="1">
              <a:off x="970"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8" name="Freeform 459"/>
            <p:cNvSpPr>
              <a:spLocks noChangeAspect="1"/>
            </p:cNvSpPr>
            <p:nvPr/>
          </p:nvSpPr>
          <p:spPr bwMode="auto">
            <a:xfrm flipH="1">
              <a:off x="77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9" name="Freeform 460"/>
            <p:cNvSpPr>
              <a:spLocks noChangeAspect="1"/>
            </p:cNvSpPr>
            <p:nvPr/>
          </p:nvSpPr>
          <p:spPr bwMode="auto">
            <a:xfrm flipH="1">
              <a:off x="697"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20" name="Freeform 461"/>
            <p:cNvSpPr>
              <a:spLocks noChangeAspect="1"/>
            </p:cNvSpPr>
            <p:nvPr/>
          </p:nvSpPr>
          <p:spPr bwMode="auto">
            <a:xfrm flipH="1">
              <a:off x="504"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21" name="Freeform 462"/>
            <p:cNvSpPr>
              <a:spLocks noChangeAspect="1"/>
            </p:cNvSpPr>
            <p:nvPr/>
          </p:nvSpPr>
          <p:spPr bwMode="auto">
            <a:xfrm flipH="1">
              <a:off x="425"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22" name="Freeform 463"/>
            <p:cNvSpPr>
              <a:spLocks noChangeAspect="1"/>
            </p:cNvSpPr>
            <p:nvPr/>
          </p:nvSpPr>
          <p:spPr bwMode="auto">
            <a:xfrm flipH="1">
              <a:off x="232"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23" name="Freeform 464"/>
            <p:cNvSpPr>
              <a:spLocks noChangeAspect="1"/>
            </p:cNvSpPr>
            <p:nvPr/>
          </p:nvSpPr>
          <p:spPr bwMode="auto">
            <a:xfrm flipH="1">
              <a:off x="153"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6446" name="Group 465"/>
          <p:cNvGrpSpPr/>
          <p:nvPr/>
        </p:nvGrpSpPr>
        <p:grpSpPr bwMode="auto">
          <a:xfrm>
            <a:off x="6656388" y="4662488"/>
            <a:ext cx="1887537" cy="169862"/>
            <a:chOff x="4193" y="3273"/>
            <a:chExt cx="1189" cy="107"/>
          </a:xfrm>
        </p:grpSpPr>
        <p:grpSp>
          <p:nvGrpSpPr>
            <p:cNvPr id="146844" name="Group 466"/>
            <p:cNvGrpSpPr/>
            <p:nvPr/>
          </p:nvGrpSpPr>
          <p:grpSpPr bwMode="auto">
            <a:xfrm>
              <a:off x="4243" y="3311"/>
              <a:ext cx="1139" cy="69"/>
              <a:chOff x="4274" y="3423"/>
              <a:chExt cx="1139" cy="69"/>
            </a:xfrm>
          </p:grpSpPr>
          <p:sp>
            <p:nvSpPr>
              <p:cNvPr id="146848" name="Freeform 467"/>
              <p:cNvSpPr>
                <a:spLocks noChangeAspect="1"/>
              </p:cNvSpPr>
              <p:nvPr/>
            </p:nvSpPr>
            <p:spPr bwMode="auto">
              <a:xfrm>
                <a:off x="4345"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49" name="Freeform 468"/>
              <p:cNvSpPr>
                <a:spLocks noChangeAspect="1"/>
              </p:cNvSpPr>
              <p:nvPr/>
            </p:nvSpPr>
            <p:spPr bwMode="auto">
              <a:xfrm>
                <a:off x="4487"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50" name="Freeform 469"/>
              <p:cNvSpPr>
                <a:spLocks noChangeAspect="1"/>
              </p:cNvSpPr>
              <p:nvPr/>
            </p:nvSpPr>
            <p:spPr bwMode="auto">
              <a:xfrm>
                <a:off x="4629"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51" name="Freeform 470"/>
              <p:cNvSpPr>
                <a:spLocks noChangeAspect="1"/>
              </p:cNvSpPr>
              <p:nvPr/>
            </p:nvSpPr>
            <p:spPr bwMode="auto">
              <a:xfrm>
                <a:off x="4770"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52" name="Freeform 471"/>
              <p:cNvSpPr>
                <a:spLocks noChangeAspect="1"/>
              </p:cNvSpPr>
              <p:nvPr/>
            </p:nvSpPr>
            <p:spPr bwMode="auto">
              <a:xfrm>
                <a:off x="4913"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53" name="Freeform 472"/>
              <p:cNvSpPr>
                <a:spLocks noChangeAspect="1"/>
              </p:cNvSpPr>
              <p:nvPr/>
            </p:nvSpPr>
            <p:spPr bwMode="auto">
              <a:xfrm>
                <a:off x="5055"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54" name="Freeform 473"/>
              <p:cNvSpPr>
                <a:spLocks noChangeAspect="1"/>
              </p:cNvSpPr>
              <p:nvPr/>
            </p:nvSpPr>
            <p:spPr bwMode="auto">
              <a:xfrm>
                <a:off x="5197"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55" name="AutoShape 474"/>
              <p:cNvSpPr>
                <a:spLocks noChangeAspect="1" noChangeArrowheads="1"/>
              </p:cNvSpPr>
              <p:nvPr/>
            </p:nvSpPr>
            <p:spPr bwMode="auto">
              <a:xfrm>
                <a:off x="4314" y="3446"/>
                <a:ext cx="5"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56" name="AutoShape 475"/>
              <p:cNvSpPr>
                <a:spLocks noChangeAspect="1" noChangeArrowheads="1"/>
              </p:cNvSpPr>
              <p:nvPr/>
            </p:nvSpPr>
            <p:spPr bwMode="auto">
              <a:xfrm>
                <a:off x="4400" y="3432"/>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57" name="AutoShape 476"/>
              <p:cNvSpPr>
                <a:spLocks noChangeAspect="1" noChangeArrowheads="1"/>
              </p:cNvSpPr>
              <p:nvPr/>
            </p:nvSpPr>
            <p:spPr bwMode="auto">
              <a:xfrm>
                <a:off x="4330" y="345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58" name="AutoShape 477"/>
              <p:cNvSpPr>
                <a:spLocks noChangeAspect="1" noChangeArrowheads="1"/>
              </p:cNvSpPr>
              <p:nvPr/>
            </p:nvSpPr>
            <p:spPr bwMode="auto">
              <a:xfrm>
                <a:off x="4416" y="3425"/>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59" name="AutoShape 478"/>
              <p:cNvSpPr>
                <a:spLocks noChangeAspect="1" noChangeArrowheads="1"/>
              </p:cNvSpPr>
              <p:nvPr/>
            </p:nvSpPr>
            <p:spPr bwMode="auto">
              <a:xfrm>
                <a:off x="4345" y="347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0" name="AutoShape 479"/>
              <p:cNvSpPr>
                <a:spLocks noChangeAspect="1" noChangeArrowheads="1"/>
              </p:cNvSpPr>
              <p:nvPr/>
            </p:nvSpPr>
            <p:spPr bwMode="auto">
              <a:xfrm>
                <a:off x="4384" y="344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1" name="AutoShape 480"/>
              <p:cNvSpPr>
                <a:spLocks noChangeAspect="1" noChangeArrowheads="1"/>
              </p:cNvSpPr>
              <p:nvPr/>
            </p:nvSpPr>
            <p:spPr bwMode="auto">
              <a:xfrm>
                <a:off x="4368" y="3479"/>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2" name="AutoShape 481"/>
              <p:cNvSpPr>
                <a:spLocks noChangeAspect="1" noChangeArrowheads="1"/>
              </p:cNvSpPr>
              <p:nvPr/>
            </p:nvSpPr>
            <p:spPr bwMode="auto">
              <a:xfrm>
                <a:off x="4368" y="3471"/>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3" name="AutoShape 482"/>
              <p:cNvSpPr>
                <a:spLocks noChangeAspect="1" noChangeArrowheads="1"/>
              </p:cNvSpPr>
              <p:nvPr/>
            </p:nvSpPr>
            <p:spPr bwMode="auto">
              <a:xfrm>
                <a:off x="4466" y="3454"/>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4" name="AutoShape 483"/>
              <p:cNvSpPr>
                <a:spLocks noChangeAspect="1" noChangeArrowheads="1"/>
              </p:cNvSpPr>
              <p:nvPr/>
            </p:nvSpPr>
            <p:spPr bwMode="auto">
              <a:xfrm>
                <a:off x="4483" y="346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5" name="AutoShape 484"/>
              <p:cNvSpPr>
                <a:spLocks noChangeAspect="1" noChangeArrowheads="1"/>
              </p:cNvSpPr>
              <p:nvPr/>
            </p:nvSpPr>
            <p:spPr bwMode="auto">
              <a:xfrm>
                <a:off x="4429" y="342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6" name="AutoShape 485"/>
              <p:cNvSpPr>
                <a:spLocks noChangeAspect="1" noChangeArrowheads="1"/>
              </p:cNvSpPr>
              <p:nvPr/>
            </p:nvSpPr>
            <p:spPr bwMode="auto">
              <a:xfrm>
                <a:off x="4429" y="3437"/>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7" name="AutoShape 486"/>
              <p:cNvSpPr>
                <a:spLocks noChangeAspect="1" noChangeArrowheads="1"/>
              </p:cNvSpPr>
              <p:nvPr/>
            </p:nvSpPr>
            <p:spPr bwMode="auto">
              <a:xfrm>
                <a:off x="4450" y="344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8" name="AutoShape 487"/>
              <p:cNvSpPr>
                <a:spLocks noChangeAspect="1" noChangeArrowheads="1"/>
              </p:cNvSpPr>
              <p:nvPr/>
            </p:nvSpPr>
            <p:spPr bwMode="auto">
              <a:xfrm>
                <a:off x="4499" y="3478"/>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9" name="AutoShape 488"/>
              <p:cNvSpPr>
                <a:spLocks noChangeAspect="1" noChangeArrowheads="1"/>
              </p:cNvSpPr>
              <p:nvPr/>
            </p:nvSpPr>
            <p:spPr bwMode="auto">
              <a:xfrm flipV="1">
                <a:off x="4566" y="342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0" name="AutoShape 489"/>
              <p:cNvSpPr>
                <a:spLocks noChangeAspect="1" noChangeArrowheads="1"/>
              </p:cNvSpPr>
              <p:nvPr/>
            </p:nvSpPr>
            <p:spPr bwMode="auto">
              <a:xfrm>
                <a:off x="4552" y="3425"/>
                <a:ext cx="5"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1" name="AutoShape 490"/>
              <p:cNvSpPr>
                <a:spLocks noChangeAspect="1" noChangeArrowheads="1"/>
              </p:cNvSpPr>
              <p:nvPr/>
            </p:nvSpPr>
            <p:spPr bwMode="auto">
              <a:xfrm flipV="1">
                <a:off x="4535" y="3435"/>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2" name="AutoShape 491"/>
              <p:cNvSpPr>
                <a:spLocks noChangeAspect="1" noChangeArrowheads="1"/>
              </p:cNvSpPr>
              <p:nvPr/>
            </p:nvSpPr>
            <p:spPr bwMode="auto">
              <a:xfrm>
                <a:off x="4518" y="3463"/>
                <a:ext cx="5"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3" name="AutoShape 492"/>
              <p:cNvSpPr>
                <a:spLocks noChangeAspect="1" noChangeArrowheads="1"/>
              </p:cNvSpPr>
              <p:nvPr/>
            </p:nvSpPr>
            <p:spPr bwMode="auto">
              <a:xfrm flipV="1">
                <a:off x="4620" y="3463"/>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4" name="AutoShape 493"/>
              <p:cNvSpPr>
                <a:spLocks noChangeAspect="1" noChangeArrowheads="1"/>
              </p:cNvSpPr>
              <p:nvPr/>
            </p:nvSpPr>
            <p:spPr bwMode="auto">
              <a:xfrm>
                <a:off x="4603" y="345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5" name="AutoShape 494"/>
              <p:cNvSpPr>
                <a:spLocks noChangeAspect="1" noChangeArrowheads="1"/>
              </p:cNvSpPr>
              <p:nvPr/>
            </p:nvSpPr>
            <p:spPr bwMode="auto">
              <a:xfrm>
                <a:off x="4589" y="3441"/>
                <a:ext cx="5"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6" name="AutoShape 495"/>
              <p:cNvSpPr>
                <a:spLocks noChangeAspect="1" noChangeArrowheads="1"/>
              </p:cNvSpPr>
              <p:nvPr/>
            </p:nvSpPr>
            <p:spPr bwMode="auto">
              <a:xfrm>
                <a:off x="4691" y="3427"/>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7" name="AutoShape 496"/>
              <p:cNvSpPr>
                <a:spLocks noChangeAspect="1" noChangeArrowheads="1"/>
              </p:cNvSpPr>
              <p:nvPr/>
            </p:nvSpPr>
            <p:spPr bwMode="auto">
              <a:xfrm>
                <a:off x="4671" y="3444"/>
                <a:ext cx="6"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8" name="AutoShape 497"/>
              <p:cNvSpPr>
                <a:spLocks noChangeAspect="1" noChangeArrowheads="1"/>
              </p:cNvSpPr>
              <p:nvPr/>
            </p:nvSpPr>
            <p:spPr bwMode="auto">
              <a:xfrm>
                <a:off x="4635" y="347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9" name="AutoShape 498"/>
              <p:cNvSpPr>
                <a:spLocks noChangeAspect="1" noChangeArrowheads="1"/>
              </p:cNvSpPr>
              <p:nvPr/>
            </p:nvSpPr>
            <p:spPr bwMode="auto">
              <a:xfrm flipV="1">
                <a:off x="4657" y="3466"/>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0" name="AutoShape 499"/>
              <p:cNvSpPr>
                <a:spLocks noChangeAspect="1" noChangeArrowheads="1"/>
              </p:cNvSpPr>
              <p:nvPr/>
            </p:nvSpPr>
            <p:spPr bwMode="auto">
              <a:xfrm>
                <a:off x="4705" y="3425"/>
                <a:ext cx="6"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1" name="AutoShape 500"/>
              <p:cNvSpPr>
                <a:spLocks noChangeAspect="1" noChangeArrowheads="1"/>
              </p:cNvSpPr>
              <p:nvPr/>
            </p:nvSpPr>
            <p:spPr bwMode="auto">
              <a:xfrm>
                <a:off x="4725" y="342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2" name="AutoShape 501"/>
              <p:cNvSpPr>
                <a:spLocks noChangeAspect="1" noChangeArrowheads="1"/>
              </p:cNvSpPr>
              <p:nvPr/>
            </p:nvSpPr>
            <p:spPr bwMode="auto">
              <a:xfrm>
                <a:off x="4725" y="343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3" name="AutoShape 502"/>
              <p:cNvSpPr>
                <a:spLocks noChangeAspect="1" noChangeArrowheads="1"/>
              </p:cNvSpPr>
              <p:nvPr/>
            </p:nvSpPr>
            <p:spPr bwMode="auto">
              <a:xfrm>
                <a:off x="4757" y="345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4" name="AutoShape 503"/>
              <p:cNvSpPr>
                <a:spLocks noChangeAspect="1" noChangeArrowheads="1"/>
              </p:cNvSpPr>
              <p:nvPr/>
            </p:nvSpPr>
            <p:spPr bwMode="auto">
              <a:xfrm>
                <a:off x="4773" y="3471"/>
                <a:ext cx="6"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5" name="AutoShape 504"/>
              <p:cNvSpPr>
                <a:spLocks noChangeAspect="1" noChangeArrowheads="1"/>
              </p:cNvSpPr>
              <p:nvPr/>
            </p:nvSpPr>
            <p:spPr bwMode="auto">
              <a:xfrm>
                <a:off x="4741" y="344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6" name="Freeform 505"/>
              <p:cNvSpPr>
                <a:spLocks noChangeAspect="1"/>
              </p:cNvSpPr>
              <p:nvPr/>
            </p:nvSpPr>
            <p:spPr bwMode="auto">
              <a:xfrm>
                <a:off x="5339"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87" name="AutoShape 506"/>
              <p:cNvSpPr>
                <a:spLocks noChangeAspect="1" noChangeArrowheads="1"/>
              </p:cNvSpPr>
              <p:nvPr/>
            </p:nvSpPr>
            <p:spPr bwMode="auto">
              <a:xfrm>
                <a:off x="4882" y="3446"/>
                <a:ext cx="6"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8" name="AutoShape 507"/>
              <p:cNvSpPr>
                <a:spLocks noChangeAspect="1" noChangeArrowheads="1"/>
              </p:cNvSpPr>
              <p:nvPr/>
            </p:nvSpPr>
            <p:spPr bwMode="auto">
              <a:xfrm>
                <a:off x="4969" y="342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9" name="AutoShape 508"/>
              <p:cNvSpPr>
                <a:spLocks noChangeAspect="1" noChangeArrowheads="1"/>
              </p:cNvSpPr>
              <p:nvPr/>
            </p:nvSpPr>
            <p:spPr bwMode="auto">
              <a:xfrm>
                <a:off x="4898" y="345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0" name="AutoShape 509"/>
              <p:cNvSpPr>
                <a:spLocks noChangeAspect="1" noChangeArrowheads="1"/>
              </p:cNvSpPr>
              <p:nvPr/>
            </p:nvSpPr>
            <p:spPr bwMode="auto">
              <a:xfrm>
                <a:off x="4985" y="3424"/>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1" name="AutoShape 510"/>
              <p:cNvSpPr>
                <a:spLocks noChangeAspect="1" noChangeArrowheads="1"/>
              </p:cNvSpPr>
              <p:nvPr/>
            </p:nvSpPr>
            <p:spPr bwMode="auto">
              <a:xfrm>
                <a:off x="4914" y="347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2" name="AutoShape 511"/>
              <p:cNvSpPr>
                <a:spLocks noChangeAspect="1" noChangeArrowheads="1"/>
              </p:cNvSpPr>
              <p:nvPr/>
            </p:nvSpPr>
            <p:spPr bwMode="auto">
              <a:xfrm>
                <a:off x="4953" y="344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3" name="AutoShape 512"/>
              <p:cNvSpPr>
                <a:spLocks noChangeAspect="1" noChangeArrowheads="1"/>
              </p:cNvSpPr>
              <p:nvPr/>
            </p:nvSpPr>
            <p:spPr bwMode="auto">
              <a:xfrm>
                <a:off x="4937" y="3479"/>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4" name="AutoShape 513"/>
              <p:cNvSpPr>
                <a:spLocks noChangeAspect="1" noChangeArrowheads="1"/>
              </p:cNvSpPr>
              <p:nvPr/>
            </p:nvSpPr>
            <p:spPr bwMode="auto">
              <a:xfrm>
                <a:off x="4937" y="3471"/>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5" name="AutoShape 514"/>
              <p:cNvSpPr>
                <a:spLocks noChangeAspect="1" noChangeArrowheads="1"/>
              </p:cNvSpPr>
              <p:nvPr/>
            </p:nvSpPr>
            <p:spPr bwMode="auto">
              <a:xfrm>
                <a:off x="5035" y="3454"/>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6" name="AutoShape 515"/>
              <p:cNvSpPr>
                <a:spLocks noChangeAspect="1" noChangeArrowheads="1"/>
              </p:cNvSpPr>
              <p:nvPr/>
            </p:nvSpPr>
            <p:spPr bwMode="auto">
              <a:xfrm>
                <a:off x="5051" y="346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7" name="AutoShape 516"/>
              <p:cNvSpPr>
                <a:spLocks noChangeAspect="1" noChangeArrowheads="1"/>
              </p:cNvSpPr>
              <p:nvPr/>
            </p:nvSpPr>
            <p:spPr bwMode="auto">
              <a:xfrm>
                <a:off x="4999" y="3428"/>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8" name="AutoShape 517"/>
              <p:cNvSpPr>
                <a:spLocks noChangeAspect="1" noChangeArrowheads="1"/>
              </p:cNvSpPr>
              <p:nvPr/>
            </p:nvSpPr>
            <p:spPr bwMode="auto">
              <a:xfrm>
                <a:off x="5018" y="344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9" name="AutoShape 518"/>
              <p:cNvSpPr>
                <a:spLocks noChangeAspect="1" noChangeArrowheads="1"/>
              </p:cNvSpPr>
              <p:nvPr/>
            </p:nvSpPr>
            <p:spPr bwMode="auto">
              <a:xfrm>
                <a:off x="5067" y="3478"/>
                <a:ext cx="6"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0" name="AutoShape 519"/>
              <p:cNvSpPr>
                <a:spLocks noChangeAspect="1" noChangeArrowheads="1"/>
              </p:cNvSpPr>
              <p:nvPr/>
            </p:nvSpPr>
            <p:spPr bwMode="auto">
              <a:xfrm flipV="1">
                <a:off x="5134" y="342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1" name="AutoShape 520"/>
              <p:cNvSpPr>
                <a:spLocks noChangeAspect="1" noChangeArrowheads="1"/>
              </p:cNvSpPr>
              <p:nvPr/>
            </p:nvSpPr>
            <p:spPr bwMode="auto">
              <a:xfrm>
                <a:off x="5120" y="3425"/>
                <a:ext cx="6"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2" name="AutoShape 521"/>
              <p:cNvSpPr>
                <a:spLocks noChangeAspect="1" noChangeArrowheads="1"/>
              </p:cNvSpPr>
              <p:nvPr/>
            </p:nvSpPr>
            <p:spPr bwMode="auto">
              <a:xfrm flipV="1">
                <a:off x="5104" y="3435"/>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3" name="AutoShape 522"/>
              <p:cNvSpPr>
                <a:spLocks noChangeAspect="1" noChangeArrowheads="1"/>
              </p:cNvSpPr>
              <p:nvPr/>
            </p:nvSpPr>
            <p:spPr bwMode="auto">
              <a:xfrm>
                <a:off x="5088" y="3463"/>
                <a:ext cx="4"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4" name="AutoShape 523"/>
              <p:cNvSpPr>
                <a:spLocks noChangeAspect="1" noChangeArrowheads="1"/>
              </p:cNvSpPr>
              <p:nvPr/>
            </p:nvSpPr>
            <p:spPr bwMode="auto">
              <a:xfrm flipV="1">
                <a:off x="5189" y="3463"/>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5" name="AutoShape 524"/>
              <p:cNvSpPr>
                <a:spLocks noChangeAspect="1" noChangeArrowheads="1"/>
              </p:cNvSpPr>
              <p:nvPr/>
            </p:nvSpPr>
            <p:spPr bwMode="auto">
              <a:xfrm>
                <a:off x="5171" y="345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6" name="AutoShape 525"/>
              <p:cNvSpPr>
                <a:spLocks noChangeAspect="1" noChangeArrowheads="1"/>
              </p:cNvSpPr>
              <p:nvPr/>
            </p:nvSpPr>
            <p:spPr bwMode="auto">
              <a:xfrm>
                <a:off x="5157" y="3441"/>
                <a:ext cx="6"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7" name="AutoShape 526"/>
              <p:cNvSpPr>
                <a:spLocks noChangeAspect="1" noChangeArrowheads="1"/>
              </p:cNvSpPr>
              <p:nvPr/>
            </p:nvSpPr>
            <p:spPr bwMode="auto">
              <a:xfrm>
                <a:off x="5258" y="342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8" name="AutoShape 527"/>
              <p:cNvSpPr>
                <a:spLocks noChangeAspect="1" noChangeArrowheads="1"/>
              </p:cNvSpPr>
              <p:nvPr/>
            </p:nvSpPr>
            <p:spPr bwMode="auto">
              <a:xfrm>
                <a:off x="5240" y="3444"/>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9" name="AutoShape 528"/>
              <p:cNvSpPr>
                <a:spLocks noChangeAspect="1" noChangeArrowheads="1"/>
              </p:cNvSpPr>
              <p:nvPr/>
            </p:nvSpPr>
            <p:spPr bwMode="auto">
              <a:xfrm>
                <a:off x="5203" y="347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0" name="AutoShape 529"/>
              <p:cNvSpPr>
                <a:spLocks noChangeAspect="1" noChangeArrowheads="1"/>
              </p:cNvSpPr>
              <p:nvPr/>
            </p:nvSpPr>
            <p:spPr bwMode="auto">
              <a:xfrm flipV="1">
                <a:off x="5224" y="3466"/>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1" name="AutoShape 530"/>
              <p:cNvSpPr>
                <a:spLocks noChangeAspect="1" noChangeArrowheads="1"/>
              </p:cNvSpPr>
              <p:nvPr/>
            </p:nvSpPr>
            <p:spPr bwMode="auto">
              <a:xfrm>
                <a:off x="5274" y="3425"/>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2" name="AutoShape 531"/>
              <p:cNvSpPr>
                <a:spLocks noChangeAspect="1" noChangeArrowheads="1"/>
              </p:cNvSpPr>
              <p:nvPr/>
            </p:nvSpPr>
            <p:spPr bwMode="auto">
              <a:xfrm>
                <a:off x="5293" y="342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3" name="AutoShape 532"/>
              <p:cNvSpPr>
                <a:spLocks noChangeAspect="1" noChangeArrowheads="1"/>
              </p:cNvSpPr>
              <p:nvPr/>
            </p:nvSpPr>
            <p:spPr bwMode="auto">
              <a:xfrm>
                <a:off x="5293" y="343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4" name="AutoShape 533"/>
              <p:cNvSpPr>
                <a:spLocks noChangeAspect="1" noChangeArrowheads="1"/>
              </p:cNvSpPr>
              <p:nvPr/>
            </p:nvSpPr>
            <p:spPr bwMode="auto">
              <a:xfrm>
                <a:off x="5325" y="345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5" name="AutoShape 534"/>
              <p:cNvSpPr>
                <a:spLocks noChangeAspect="1" noChangeArrowheads="1"/>
              </p:cNvSpPr>
              <p:nvPr/>
            </p:nvSpPr>
            <p:spPr bwMode="auto">
              <a:xfrm>
                <a:off x="5342" y="3471"/>
                <a:ext cx="5"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6" name="AutoShape 535"/>
              <p:cNvSpPr>
                <a:spLocks noChangeAspect="1" noChangeArrowheads="1"/>
              </p:cNvSpPr>
              <p:nvPr/>
            </p:nvSpPr>
            <p:spPr bwMode="auto">
              <a:xfrm>
                <a:off x="5309" y="344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7" name="AutoShape 536"/>
              <p:cNvSpPr>
                <a:spLocks noChangeAspect="1" noChangeArrowheads="1"/>
              </p:cNvSpPr>
              <p:nvPr/>
            </p:nvSpPr>
            <p:spPr bwMode="auto">
              <a:xfrm>
                <a:off x="4828" y="342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8" name="AutoShape 537"/>
              <p:cNvSpPr>
                <a:spLocks noChangeAspect="1" noChangeArrowheads="1"/>
              </p:cNvSpPr>
              <p:nvPr/>
            </p:nvSpPr>
            <p:spPr bwMode="auto">
              <a:xfrm>
                <a:off x="4844" y="3424"/>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9" name="AutoShape 538"/>
              <p:cNvSpPr>
                <a:spLocks noChangeAspect="1" noChangeArrowheads="1"/>
              </p:cNvSpPr>
              <p:nvPr/>
            </p:nvSpPr>
            <p:spPr bwMode="auto">
              <a:xfrm>
                <a:off x="4811" y="344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20" name="AutoShape 539"/>
              <p:cNvSpPr>
                <a:spLocks noChangeAspect="1" noChangeArrowheads="1"/>
              </p:cNvSpPr>
              <p:nvPr/>
            </p:nvSpPr>
            <p:spPr bwMode="auto">
              <a:xfrm>
                <a:off x="4794" y="3478"/>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21" name="AutoShape 540"/>
              <p:cNvSpPr>
                <a:spLocks noChangeAspect="1" noChangeArrowheads="1"/>
              </p:cNvSpPr>
              <p:nvPr/>
            </p:nvSpPr>
            <p:spPr bwMode="auto">
              <a:xfrm>
                <a:off x="4794" y="3470"/>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22" name="AutoShape 541"/>
              <p:cNvSpPr>
                <a:spLocks noChangeAspect="1" noChangeArrowheads="1"/>
              </p:cNvSpPr>
              <p:nvPr/>
            </p:nvSpPr>
            <p:spPr bwMode="auto">
              <a:xfrm>
                <a:off x="4856" y="342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23" name="Freeform 542"/>
              <p:cNvSpPr>
                <a:spLocks noChangeAspect="1"/>
              </p:cNvSpPr>
              <p:nvPr/>
            </p:nvSpPr>
            <p:spPr bwMode="auto">
              <a:xfrm flipH="1">
                <a:off x="5268"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24" name="Freeform 543"/>
              <p:cNvSpPr>
                <a:spLocks noChangeAspect="1"/>
              </p:cNvSpPr>
              <p:nvPr/>
            </p:nvSpPr>
            <p:spPr bwMode="auto">
              <a:xfrm flipH="1">
                <a:off x="5126"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25" name="Freeform 544"/>
              <p:cNvSpPr>
                <a:spLocks noChangeAspect="1"/>
              </p:cNvSpPr>
              <p:nvPr/>
            </p:nvSpPr>
            <p:spPr bwMode="auto">
              <a:xfrm flipH="1">
                <a:off x="4984"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26" name="Freeform 545"/>
              <p:cNvSpPr>
                <a:spLocks noChangeAspect="1"/>
              </p:cNvSpPr>
              <p:nvPr/>
            </p:nvSpPr>
            <p:spPr bwMode="auto">
              <a:xfrm flipH="1">
                <a:off x="4843" y="3423"/>
                <a:ext cx="73"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27" name="Freeform 546"/>
              <p:cNvSpPr>
                <a:spLocks noChangeAspect="1"/>
              </p:cNvSpPr>
              <p:nvPr/>
            </p:nvSpPr>
            <p:spPr bwMode="auto">
              <a:xfrm flipH="1">
                <a:off x="4699"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28" name="Freeform 547"/>
              <p:cNvSpPr>
                <a:spLocks noChangeAspect="1"/>
              </p:cNvSpPr>
              <p:nvPr/>
            </p:nvSpPr>
            <p:spPr bwMode="auto">
              <a:xfrm flipH="1">
                <a:off x="4557"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29" name="Freeform 548"/>
              <p:cNvSpPr>
                <a:spLocks noChangeAspect="1"/>
              </p:cNvSpPr>
              <p:nvPr/>
            </p:nvSpPr>
            <p:spPr bwMode="auto">
              <a:xfrm flipH="1">
                <a:off x="4416"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0" name="Freeform 549"/>
              <p:cNvSpPr>
                <a:spLocks noChangeAspect="1"/>
              </p:cNvSpPr>
              <p:nvPr/>
            </p:nvSpPr>
            <p:spPr bwMode="auto">
              <a:xfrm flipH="1">
                <a:off x="4274"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6845" name="Group 550"/>
            <p:cNvGrpSpPr>
              <a:grpSpLocks noChangeAspect="1"/>
            </p:cNvGrpSpPr>
            <p:nvPr/>
          </p:nvGrpSpPr>
          <p:grpSpPr bwMode="auto">
            <a:xfrm>
              <a:off x="4193" y="3273"/>
              <a:ext cx="54" cy="71"/>
              <a:chOff x="3743" y="2439"/>
              <a:chExt cx="164" cy="216"/>
            </a:xfrm>
          </p:grpSpPr>
          <p:sp>
            <p:nvSpPr>
              <p:cNvPr id="146846" name="Freeform 551"/>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847" name="AutoShape 552"/>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nvGrpSpPr>
          <p:cNvPr id="146447" name="Group 553"/>
          <p:cNvGrpSpPr/>
          <p:nvPr/>
        </p:nvGrpSpPr>
        <p:grpSpPr bwMode="auto">
          <a:xfrm>
            <a:off x="6900863" y="4552950"/>
            <a:ext cx="1897062" cy="144463"/>
            <a:chOff x="4347" y="2868"/>
            <a:chExt cx="1195" cy="91"/>
          </a:xfrm>
        </p:grpSpPr>
        <p:grpSp>
          <p:nvGrpSpPr>
            <p:cNvPr id="146756" name="Group 554"/>
            <p:cNvGrpSpPr/>
            <p:nvPr/>
          </p:nvGrpSpPr>
          <p:grpSpPr bwMode="auto">
            <a:xfrm>
              <a:off x="4347" y="2868"/>
              <a:ext cx="1139" cy="69"/>
              <a:chOff x="4267" y="3168"/>
              <a:chExt cx="1139" cy="69"/>
            </a:xfrm>
          </p:grpSpPr>
          <p:sp>
            <p:nvSpPr>
              <p:cNvPr id="146760" name="Freeform 555"/>
              <p:cNvSpPr>
                <a:spLocks noChangeAspect="1"/>
              </p:cNvSpPr>
              <p:nvPr/>
            </p:nvSpPr>
            <p:spPr bwMode="auto">
              <a:xfrm>
                <a:off x="4409"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1" name="Freeform 556"/>
              <p:cNvSpPr>
                <a:spLocks noChangeAspect="1"/>
              </p:cNvSpPr>
              <p:nvPr/>
            </p:nvSpPr>
            <p:spPr bwMode="auto">
              <a:xfrm>
                <a:off x="4551"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2" name="Freeform 557"/>
              <p:cNvSpPr>
                <a:spLocks noChangeAspect="1"/>
              </p:cNvSpPr>
              <p:nvPr/>
            </p:nvSpPr>
            <p:spPr bwMode="auto">
              <a:xfrm>
                <a:off x="4693"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3" name="Freeform 558"/>
              <p:cNvSpPr>
                <a:spLocks noChangeAspect="1"/>
              </p:cNvSpPr>
              <p:nvPr/>
            </p:nvSpPr>
            <p:spPr bwMode="auto">
              <a:xfrm>
                <a:off x="4835"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4" name="Freeform 559"/>
              <p:cNvSpPr>
                <a:spLocks noChangeAspect="1"/>
              </p:cNvSpPr>
              <p:nvPr/>
            </p:nvSpPr>
            <p:spPr bwMode="auto">
              <a:xfrm>
                <a:off x="4977"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5" name="Freeform 560"/>
              <p:cNvSpPr>
                <a:spLocks noChangeAspect="1"/>
              </p:cNvSpPr>
              <p:nvPr/>
            </p:nvSpPr>
            <p:spPr bwMode="auto">
              <a:xfrm>
                <a:off x="5119"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6" name="Freeform 561"/>
              <p:cNvSpPr>
                <a:spLocks noChangeAspect="1"/>
              </p:cNvSpPr>
              <p:nvPr/>
            </p:nvSpPr>
            <p:spPr bwMode="auto">
              <a:xfrm>
                <a:off x="5261"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7" name="Freeform 562"/>
              <p:cNvSpPr>
                <a:spLocks noChangeAspect="1"/>
              </p:cNvSpPr>
              <p:nvPr/>
            </p:nvSpPr>
            <p:spPr bwMode="auto">
              <a:xfrm>
                <a:off x="4267"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8" name="AutoShape 563"/>
              <p:cNvSpPr>
                <a:spLocks noChangeAspect="1" noChangeArrowheads="1"/>
              </p:cNvSpPr>
              <p:nvPr/>
            </p:nvSpPr>
            <p:spPr bwMode="auto">
              <a:xfrm>
                <a:off x="4337" y="3169"/>
                <a:ext cx="5"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69" name="AutoShape 564"/>
              <p:cNvSpPr>
                <a:spLocks noChangeAspect="1" noChangeArrowheads="1"/>
              </p:cNvSpPr>
              <p:nvPr/>
            </p:nvSpPr>
            <p:spPr bwMode="auto">
              <a:xfrm>
                <a:off x="4423" y="3204"/>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0" name="AutoShape 565"/>
              <p:cNvSpPr>
                <a:spLocks noChangeAspect="1" noChangeArrowheads="1"/>
              </p:cNvSpPr>
              <p:nvPr/>
            </p:nvSpPr>
            <p:spPr bwMode="auto">
              <a:xfrm>
                <a:off x="4353" y="317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1" name="AutoShape 566"/>
              <p:cNvSpPr>
                <a:spLocks noChangeAspect="1" noChangeArrowheads="1"/>
              </p:cNvSpPr>
              <p:nvPr/>
            </p:nvSpPr>
            <p:spPr bwMode="auto">
              <a:xfrm>
                <a:off x="4439" y="3170"/>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2" name="AutoShape 567"/>
              <p:cNvSpPr>
                <a:spLocks noChangeAspect="1" noChangeArrowheads="1"/>
              </p:cNvSpPr>
              <p:nvPr/>
            </p:nvSpPr>
            <p:spPr bwMode="auto">
              <a:xfrm>
                <a:off x="4439" y="3190"/>
                <a:ext cx="4"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3" name="AutoShape 568"/>
              <p:cNvSpPr>
                <a:spLocks noChangeAspect="1" noChangeArrowheads="1"/>
              </p:cNvSpPr>
              <p:nvPr/>
            </p:nvSpPr>
            <p:spPr bwMode="auto">
              <a:xfrm>
                <a:off x="4368" y="319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4" name="AutoShape 569"/>
              <p:cNvSpPr>
                <a:spLocks noChangeAspect="1" noChangeArrowheads="1"/>
              </p:cNvSpPr>
              <p:nvPr/>
            </p:nvSpPr>
            <p:spPr bwMode="auto">
              <a:xfrm>
                <a:off x="4407" y="321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5" name="AutoShape 570"/>
              <p:cNvSpPr>
                <a:spLocks noChangeAspect="1" noChangeArrowheads="1"/>
              </p:cNvSpPr>
              <p:nvPr/>
            </p:nvSpPr>
            <p:spPr bwMode="auto">
              <a:xfrm>
                <a:off x="4391" y="3224"/>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6" name="AutoShape 571"/>
              <p:cNvSpPr>
                <a:spLocks noChangeAspect="1" noChangeArrowheads="1"/>
              </p:cNvSpPr>
              <p:nvPr/>
            </p:nvSpPr>
            <p:spPr bwMode="auto">
              <a:xfrm>
                <a:off x="4391" y="3216"/>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7" name="AutoShape 572"/>
              <p:cNvSpPr>
                <a:spLocks noChangeAspect="1" noChangeArrowheads="1"/>
              </p:cNvSpPr>
              <p:nvPr/>
            </p:nvSpPr>
            <p:spPr bwMode="auto">
              <a:xfrm>
                <a:off x="4489" y="317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8" name="AutoShape 573"/>
              <p:cNvSpPr>
                <a:spLocks noChangeAspect="1" noChangeArrowheads="1"/>
              </p:cNvSpPr>
              <p:nvPr/>
            </p:nvSpPr>
            <p:spPr bwMode="auto">
              <a:xfrm>
                <a:off x="4506" y="318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9" name="AutoShape 574"/>
              <p:cNvSpPr>
                <a:spLocks noChangeAspect="1" noChangeArrowheads="1"/>
              </p:cNvSpPr>
              <p:nvPr/>
            </p:nvSpPr>
            <p:spPr bwMode="auto">
              <a:xfrm>
                <a:off x="4452" y="3182"/>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0" name="AutoShape 575"/>
              <p:cNvSpPr>
                <a:spLocks noChangeAspect="1" noChangeArrowheads="1"/>
              </p:cNvSpPr>
              <p:nvPr/>
            </p:nvSpPr>
            <p:spPr bwMode="auto">
              <a:xfrm>
                <a:off x="4473" y="317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1" name="AutoShape 576"/>
              <p:cNvSpPr>
                <a:spLocks noChangeAspect="1" noChangeArrowheads="1"/>
              </p:cNvSpPr>
              <p:nvPr/>
            </p:nvSpPr>
            <p:spPr bwMode="auto">
              <a:xfrm>
                <a:off x="4522" y="3213"/>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2" name="AutoShape 577"/>
              <p:cNvSpPr>
                <a:spLocks noChangeAspect="1" noChangeArrowheads="1"/>
              </p:cNvSpPr>
              <p:nvPr/>
            </p:nvSpPr>
            <p:spPr bwMode="auto">
              <a:xfrm>
                <a:off x="4522" y="322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3" name="AutoShape 578"/>
              <p:cNvSpPr>
                <a:spLocks noChangeAspect="1" noChangeArrowheads="1"/>
              </p:cNvSpPr>
              <p:nvPr/>
            </p:nvSpPr>
            <p:spPr bwMode="auto">
              <a:xfrm flipV="1">
                <a:off x="4589" y="318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4" name="AutoShape 579"/>
              <p:cNvSpPr>
                <a:spLocks noChangeAspect="1" noChangeArrowheads="1"/>
              </p:cNvSpPr>
              <p:nvPr/>
            </p:nvSpPr>
            <p:spPr bwMode="auto">
              <a:xfrm>
                <a:off x="4575" y="3195"/>
                <a:ext cx="5"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5" name="AutoShape 580"/>
              <p:cNvSpPr>
                <a:spLocks noChangeAspect="1" noChangeArrowheads="1"/>
              </p:cNvSpPr>
              <p:nvPr/>
            </p:nvSpPr>
            <p:spPr bwMode="auto">
              <a:xfrm flipV="1">
                <a:off x="4558" y="3207"/>
                <a:ext cx="6"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6" name="AutoShape 581"/>
              <p:cNvSpPr>
                <a:spLocks noChangeAspect="1" noChangeArrowheads="1"/>
              </p:cNvSpPr>
              <p:nvPr/>
            </p:nvSpPr>
            <p:spPr bwMode="auto">
              <a:xfrm>
                <a:off x="4541" y="3221"/>
                <a:ext cx="5"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7" name="AutoShape 582"/>
              <p:cNvSpPr>
                <a:spLocks noChangeAspect="1" noChangeArrowheads="1"/>
              </p:cNvSpPr>
              <p:nvPr/>
            </p:nvSpPr>
            <p:spPr bwMode="auto">
              <a:xfrm flipV="1">
                <a:off x="4643" y="3182"/>
                <a:ext cx="6"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8" name="AutoShape 583"/>
              <p:cNvSpPr>
                <a:spLocks noChangeAspect="1" noChangeArrowheads="1"/>
              </p:cNvSpPr>
              <p:nvPr/>
            </p:nvSpPr>
            <p:spPr bwMode="auto">
              <a:xfrm>
                <a:off x="4626" y="316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9" name="AutoShape 584"/>
              <p:cNvSpPr>
                <a:spLocks noChangeAspect="1" noChangeArrowheads="1"/>
              </p:cNvSpPr>
              <p:nvPr/>
            </p:nvSpPr>
            <p:spPr bwMode="auto">
              <a:xfrm>
                <a:off x="4612" y="3170"/>
                <a:ext cx="5"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0" name="AutoShape 585"/>
              <p:cNvSpPr>
                <a:spLocks noChangeAspect="1" noChangeArrowheads="1"/>
              </p:cNvSpPr>
              <p:nvPr/>
            </p:nvSpPr>
            <p:spPr bwMode="auto">
              <a:xfrm>
                <a:off x="4714" y="3199"/>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1" name="AutoShape 586"/>
              <p:cNvSpPr>
                <a:spLocks noChangeAspect="1" noChangeArrowheads="1"/>
              </p:cNvSpPr>
              <p:nvPr/>
            </p:nvSpPr>
            <p:spPr bwMode="auto">
              <a:xfrm>
                <a:off x="4694" y="3212"/>
                <a:ext cx="6"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2" name="AutoShape 587"/>
              <p:cNvSpPr>
                <a:spLocks noChangeAspect="1" noChangeArrowheads="1"/>
              </p:cNvSpPr>
              <p:nvPr/>
            </p:nvSpPr>
            <p:spPr bwMode="auto">
              <a:xfrm>
                <a:off x="4658" y="320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3" name="AutoShape 588"/>
              <p:cNvSpPr>
                <a:spLocks noChangeAspect="1" noChangeArrowheads="1"/>
              </p:cNvSpPr>
              <p:nvPr/>
            </p:nvSpPr>
            <p:spPr bwMode="auto">
              <a:xfrm flipV="1">
                <a:off x="4680" y="3211"/>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4" name="AutoShape 589"/>
              <p:cNvSpPr>
                <a:spLocks noChangeAspect="1" noChangeArrowheads="1"/>
              </p:cNvSpPr>
              <p:nvPr/>
            </p:nvSpPr>
            <p:spPr bwMode="auto">
              <a:xfrm flipV="1">
                <a:off x="4680" y="3222"/>
                <a:ext cx="5"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5" name="AutoShape 590"/>
              <p:cNvSpPr>
                <a:spLocks noChangeAspect="1" noChangeArrowheads="1"/>
              </p:cNvSpPr>
              <p:nvPr/>
            </p:nvSpPr>
            <p:spPr bwMode="auto">
              <a:xfrm>
                <a:off x="4728" y="3186"/>
                <a:ext cx="6"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6" name="AutoShape 591"/>
              <p:cNvSpPr>
                <a:spLocks noChangeAspect="1" noChangeArrowheads="1"/>
              </p:cNvSpPr>
              <p:nvPr/>
            </p:nvSpPr>
            <p:spPr bwMode="auto">
              <a:xfrm>
                <a:off x="4748" y="317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7" name="AutoShape 592"/>
              <p:cNvSpPr>
                <a:spLocks noChangeAspect="1" noChangeArrowheads="1"/>
              </p:cNvSpPr>
              <p:nvPr/>
            </p:nvSpPr>
            <p:spPr bwMode="auto">
              <a:xfrm>
                <a:off x="4780" y="317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8" name="AutoShape 593"/>
              <p:cNvSpPr>
                <a:spLocks noChangeAspect="1" noChangeArrowheads="1"/>
              </p:cNvSpPr>
              <p:nvPr/>
            </p:nvSpPr>
            <p:spPr bwMode="auto">
              <a:xfrm>
                <a:off x="4796" y="3197"/>
                <a:ext cx="6"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9" name="AutoShape 594"/>
              <p:cNvSpPr>
                <a:spLocks noChangeAspect="1" noChangeArrowheads="1"/>
              </p:cNvSpPr>
              <p:nvPr/>
            </p:nvSpPr>
            <p:spPr bwMode="auto">
              <a:xfrm>
                <a:off x="4764" y="317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0" name="AutoShape 595"/>
              <p:cNvSpPr>
                <a:spLocks noChangeAspect="1" noChangeArrowheads="1"/>
              </p:cNvSpPr>
              <p:nvPr/>
            </p:nvSpPr>
            <p:spPr bwMode="auto">
              <a:xfrm>
                <a:off x="4905" y="3169"/>
                <a:ext cx="6"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1" name="AutoShape 596"/>
              <p:cNvSpPr>
                <a:spLocks noChangeAspect="1" noChangeArrowheads="1"/>
              </p:cNvSpPr>
              <p:nvPr/>
            </p:nvSpPr>
            <p:spPr bwMode="auto">
              <a:xfrm>
                <a:off x="4992" y="320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2" name="AutoShape 597"/>
              <p:cNvSpPr>
                <a:spLocks noChangeAspect="1" noChangeArrowheads="1"/>
              </p:cNvSpPr>
              <p:nvPr/>
            </p:nvSpPr>
            <p:spPr bwMode="auto">
              <a:xfrm>
                <a:off x="4921" y="317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3" name="AutoShape 598"/>
              <p:cNvSpPr>
                <a:spLocks noChangeAspect="1" noChangeArrowheads="1"/>
              </p:cNvSpPr>
              <p:nvPr/>
            </p:nvSpPr>
            <p:spPr bwMode="auto">
              <a:xfrm>
                <a:off x="5008" y="3189"/>
                <a:ext cx="5"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4" name="AutoShape 599"/>
              <p:cNvSpPr>
                <a:spLocks noChangeAspect="1" noChangeArrowheads="1"/>
              </p:cNvSpPr>
              <p:nvPr/>
            </p:nvSpPr>
            <p:spPr bwMode="auto">
              <a:xfrm>
                <a:off x="4937" y="319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5" name="AutoShape 600"/>
              <p:cNvSpPr>
                <a:spLocks noChangeAspect="1" noChangeArrowheads="1"/>
              </p:cNvSpPr>
              <p:nvPr/>
            </p:nvSpPr>
            <p:spPr bwMode="auto">
              <a:xfrm>
                <a:off x="4976" y="321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6" name="AutoShape 601"/>
              <p:cNvSpPr>
                <a:spLocks noChangeAspect="1" noChangeArrowheads="1"/>
              </p:cNvSpPr>
              <p:nvPr/>
            </p:nvSpPr>
            <p:spPr bwMode="auto">
              <a:xfrm>
                <a:off x="4960" y="3224"/>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7" name="AutoShape 602"/>
              <p:cNvSpPr>
                <a:spLocks noChangeAspect="1" noChangeArrowheads="1"/>
              </p:cNvSpPr>
              <p:nvPr/>
            </p:nvSpPr>
            <p:spPr bwMode="auto">
              <a:xfrm>
                <a:off x="4960" y="3216"/>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8" name="AutoShape 603"/>
              <p:cNvSpPr>
                <a:spLocks noChangeAspect="1" noChangeArrowheads="1"/>
              </p:cNvSpPr>
              <p:nvPr/>
            </p:nvSpPr>
            <p:spPr bwMode="auto">
              <a:xfrm>
                <a:off x="5058" y="3172"/>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9" name="AutoShape 604"/>
              <p:cNvSpPr>
                <a:spLocks noChangeAspect="1" noChangeArrowheads="1"/>
              </p:cNvSpPr>
              <p:nvPr/>
            </p:nvSpPr>
            <p:spPr bwMode="auto">
              <a:xfrm>
                <a:off x="5074" y="318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0" name="AutoShape 605"/>
              <p:cNvSpPr>
                <a:spLocks noChangeAspect="1" noChangeArrowheads="1"/>
              </p:cNvSpPr>
              <p:nvPr/>
            </p:nvSpPr>
            <p:spPr bwMode="auto">
              <a:xfrm>
                <a:off x="5022" y="318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1" name="AutoShape 606"/>
              <p:cNvSpPr>
                <a:spLocks noChangeAspect="1" noChangeArrowheads="1"/>
              </p:cNvSpPr>
              <p:nvPr/>
            </p:nvSpPr>
            <p:spPr bwMode="auto">
              <a:xfrm>
                <a:off x="5041" y="317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2" name="AutoShape 607"/>
              <p:cNvSpPr>
                <a:spLocks noChangeAspect="1" noChangeArrowheads="1"/>
              </p:cNvSpPr>
              <p:nvPr/>
            </p:nvSpPr>
            <p:spPr bwMode="auto">
              <a:xfrm>
                <a:off x="5090" y="3213"/>
                <a:ext cx="6"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3" name="AutoShape 608"/>
              <p:cNvSpPr>
                <a:spLocks noChangeAspect="1" noChangeArrowheads="1"/>
              </p:cNvSpPr>
              <p:nvPr/>
            </p:nvSpPr>
            <p:spPr bwMode="auto">
              <a:xfrm flipV="1">
                <a:off x="5157" y="318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4" name="AutoShape 609"/>
              <p:cNvSpPr>
                <a:spLocks noChangeAspect="1" noChangeArrowheads="1"/>
              </p:cNvSpPr>
              <p:nvPr/>
            </p:nvSpPr>
            <p:spPr bwMode="auto">
              <a:xfrm>
                <a:off x="5143" y="3195"/>
                <a:ext cx="6"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5" name="AutoShape 610"/>
              <p:cNvSpPr>
                <a:spLocks noChangeAspect="1" noChangeArrowheads="1"/>
              </p:cNvSpPr>
              <p:nvPr/>
            </p:nvSpPr>
            <p:spPr bwMode="auto">
              <a:xfrm flipV="1">
                <a:off x="5127" y="3207"/>
                <a:ext cx="5"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6" name="AutoShape 611"/>
              <p:cNvSpPr>
                <a:spLocks noChangeAspect="1" noChangeArrowheads="1"/>
              </p:cNvSpPr>
              <p:nvPr/>
            </p:nvSpPr>
            <p:spPr bwMode="auto">
              <a:xfrm>
                <a:off x="5111" y="3221"/>
                <a:ext cx="4"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7" name="AutoShape 612"/>
              <p:cNvSpPr>
                <a:spLocks noChangeAspect="1" noChangeArrowheads="1"/>
              </p:cNvSpPr>
              <p:nvPr/>
            </p:nvSpPr>
            <p:spPr bwMode="auto">
              <a:xfrm flipV="1">
                <a:off x="5212" y="318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8" name="AutoShape 613"/>
              <p:cNvSpPr>
                <a:spLocks noChangeAspect="1" noChangeArrowheads="1"/>
              </p:cNvSpPr>
              <p:nvPr/>
            </p:nvSpPr>
            <p:spPr bwMode="auto">
              <a:xfrm>
                <a:off x="5194" y="316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9" name="AutoShape 614"/>
              <p:cNvSpPr>
                <a:spLocks noChangeAspect="1" noChangeArrowheads="1"/>
              </p:cNvSpPr>
              <p:nvPr/>
            </p:nvSpPr>
            <p:spPr bwMode="auto">
              <a:xfrm>
                <a:off x="5180" y="3170"/>
                <a:ext cx="6"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0" name="AutoShape 615"/>
              <p:cNvSpPr>
                <a:spLocks noChangeAspect="1" noChangeArrowheads="1"/>
              </p:cNvSpPr>
              <p:nvPr/>
            </p:nvSpPr>
            <p:spPr bwMode="auto">
              <a:xfrm>
                <a:off x="5281" y="319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1" name="AutoShape 616"/>
              <p:cNvSpPr>
                <a:spLocks noChangeAspect="1" noChangeArrowheads="1"/>
              </p:cNvSpPr>
              <p:nvPr/>
            </p:nvSpPr>
            <p:spPr bwMode="auto">
              <a:xfrm>
                <a:off x="5263" y="3212"/>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2" name="AutoShape 617"/>
              <p:cNvSpPr>
                <a:spLocks noChangeAspect="1" noChangeArrowheads="1"/>
              </p:cNvSpPr>
              <p:nvPr/>
            </p:nvSpPr>
            <p:spPr bwMode="auto">
              <a:xfrm>
                <a:off x="5226" y="320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3" name="AutoShape 618"/>
              <p:cNvSpPr>
                <a:spLocks noChangeAspect="1" noChangeArrowheads="1"/>
              </p:cNvSpPr>
              <p:nvPr/>
            </p:nvSpPr>
            <p:spPr bwMode="auto">
              <a:xfrm flipV="1">
                <a:off x="5247" y="3211"/>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4" name="AutoShape 619"/>
              <p:cNvSpPr>
                <a:spLocks noChangeAspect="1" noChangeArrowheads="1"/>
              </p:cNvSpPr>
              <p:nvPr/>
            </p:nvSpPr>
            <p:spPr bwMode="auto">
              <a:xfrm flipV="1">
                <a:off x="5247" y="3222"/>
                <a:ext cx="6"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5" name="AutoShape 620"/>
              <p:cNvSpPr>
                <a:spLocks noChangeAspect="1" noChangeArrowheads="1"/>
              </p:cNvSpPr>
              <p:nvPr/>
            </p:nvSpPr>
            <p:spPr bwMode="auto">
              <a:xfrm>
                <a:off x="5297" y="3186"/>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6" name="AutoShape 621"/>
              <p:cNvSpPr>
                <a:spLocks noChangeAspect="1" noChangeArrowheads="1"/>
              </p:cNvSpPr>
              <p:nvPr/>
            </p:nvSpPr>
            <p:spPr bwMode="auto">
              <a:xfrm>
                <a:off x="5316" y="317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7" name="AutoShape 622"/>
              <p:cNvSpPr>
                <a:spLocks noChangeAspect="1" noChangeArrowheads="1"/>
              </p:cNvSpPr>
              <p:nvPr/>
            </p:nvSpPr>
            <p:spPr bwMode="auto">
              <a:xfrm>
                <a:off x="5348" y="317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8" name="AutoShape 623"/>
              <p:cNvSpPr>
                <a:spLocks noChangeAspect="1" noChangeArrowheads="1"/>
              </p:cNvSpPr>
              <p:nvPr/>
            </p:nvSpPr>
            <p:spPr bwMode="auto">
              <a:xfrm>
                <a:off x="5365" y="3197"/>
                <a:ext cx="5"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9" name="AutoShape 624"/>
              <p:cNvSpPr>
                <a:spLocks noChangeAspect="1" noChangeArrowheads="1"/>
              </p:cNvSpPr>
              <p:nvPr/>
            </p:nvSpPr>
            <p:spPr bwMode="auto">
              <a:xfrm>
                <a:off x="5332" y="317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30" name="AutoShape 625"/>
              <p:cNvSpPr>
                <a:spLocks noChangeAspect="1" noChangeArrowheads="1"/>
              </p:cNvSpPr>
              <p:nvPr/>
            </p:nvSpPr>
            <p:spPr bwMode="auto">
              <a:xfrm>
                <a:off x="4851" y="320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31" name="AutoShape 626"/>
              <p:cNvSpPr>
                <a:spLocks noChangeAspect="1" noChangeArrowheads="1"/>
              </p:cNvSpPr>
              <p:nvPr/>
            </p:nvSpPr>
            <p:spPr bwMode="auto">
              <a:xfrm>
                <a:off x="4867" y="3189"/>
                <a:ext cx="4"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32" name="AutoShape 627"/>
              <p:cNvSpPr>
                <a:spLocks noChangeAspect="1" noChangeArrowheads="1"/>
              </p:cNvSpPr>
              <p:nvPr/>
            </p:nvSpPr>
            <p:spPr bwMode="auto">
              <a:xfrm>
                <a:off x="4834" y="321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33" name="AutoShape 628"/>
              <p:cNvSpPr>
                <a:spLocks noChangeAspect="1" noChangeArrowheads="1"/>
              </p:cNvSpPr>
              <p:nvPr/>
            </p:nvSpPr>
            <p:spPr bwMode="auto">
              <a:xfrm>
                <a:off x="4817" y="3223"/>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34" name="AutoShape 629"/>
              <p:cNvSpPr>
                <a:spLocks noChangeAspect="1" noChangeArrowheads="1"/>
              </p:cNvSpPr>
              <p:nvPr/>
            </p:nvSpPr>
            <p:spPr bwMode="auto">
              <a:xfrm>
                <a:off x="4817" y="3215"/>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35" name="AutoShape 630"/>
              <p:cNvSpPr>
                <a:spLocks noChangeAspect="1" noChangeArrowheads="1"/>
              </p:cNvSpPr>
              <p:nvPr/>
            </p:nvSpPr>
            <p:spPr bwMode="auto">
              <a:xfrm flipV="1">
                <a:off x="4879" y="3182"/>
                <a:ext cx="5" cy="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36" name="Freeform 631"/>
              <p:cNvSpPr>
                <a:spLocks noChangeAspect="1"/>
              </p:cNvSpPr>
              <p:nvPr/>
            </p:nvSpPr>
            <p:spPr bwMode="auto">
              <a:xfrm flipH="1">
                <a:off x="5332"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37" name="Freeform 632"/>
              <p:cNvSpPr>
                <a:spLocks noChangeAspect="1"/>
              </p:cNvSpPr>
              <p:nvPr/>
            </p:nvSpPr>
            <p:spPr bwMode="auto">
              <a:xfrm flipH="1">
                <a:off x="5190"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38" name="Freeform 633"/>
              <p:cNvSpPr>
                <a:spLocks noChangeAspect="1"/>
              </p:cNvSpPr>
              <p:nvPr/>
            </p:nvSpPr>
            <p:spPr bwMode="auto">
              <a:xfrm flipH="1">
                <a:off x="5048"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39" name="Freeform 634"/>
              <p:cNvSpPr>
                <a:spLocks noChangeAspect="1"/>
              </p:cNvSpPr>
              <p:nvPr/>
            </p:nvSpPr>
            <p:spPr bwMode="auto">
              <a:xfrm flipH="1">
                <a:off x="4907"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40" name="Freeform 635"/>
              <p:cNvSpPr>
                <a:spLocks noChangeAspect="1"/>
              </p:cNvSpPr>
              <p:nvPr/>
            </p:nvSpPr>
            <p:spPr bwMode="auto">
              <a:xfrm flipH="1">
                <a:off x="4764"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41" name="Freeform 636"/>
              <p:cNvSpPr>
                <a:spLocks noChangeAspect="1"/>
              </p:cNvSpPr>
              <p:nvPr/>
            </p:nvSpPr>
            <p:spPr bwMode="auto">
              <a:xfrm flipH="1">
                <a:off x="4621"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42" name="Freeform 637"/>
              <p:cNvSpPr>
                <a:spLocks noChangeAspect="1"/>
              </p:cNvSpPr>
              <p:nvPr/>
            </p:nvSpPr>
            <p:spPr bwMode="auto">
              <a:xfrm flipH="1">
                <a:off x="4480"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43" name="Freeform 638"/>
              <p:cNvSpPr>
                <a:spLocks noChangeAspect="1"/>
              </p:cNvSpPr>
              <p:nvPr/>
            </p:nvSpPr>
            <p:spPr bwMode="auto">
              <a:xfrm flipH="1">
                <a:off x="4338"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6757" name="Group 639"/>
            <p:cNvGrpSpPr>
              <a:grpSpLocks noChangeAspect="1"/>
            </p:cNvGrpSpPr>
            <p:nvPr/>
          </p:nvGrpSpPr>
          <p:grpSpPr bwMode="auto">
            <a:xfrm>
              <a:off x="5488" y="2888"/>
              <a:ext cx="54" cy="71"/>
              <a:chOff x="3743" y="2439"/>
              <a:chExt cx="164" cy="216"/>
            </a:xfrm>
          </p:grpSpPr>
          <p:sp>
            <p:nvSpPr>
              <p:cNvPr id="146758" name="Freeform 640"/>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59" name="AutoShape 641"/>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sp>
        <p:nvSpPr>
          <p:cNvPr id="146448" name="Line 642"/>
          <p:cNvSpPr>
            <a:spLocks noChangeShapeType="1"/>
          </p:cNvSpPr>
          <p:nvPr/>
        </p:nvSpPr>
        <p:spPr bwMode="auto">
          <a:xfrm flipV="1">
            <a:off x="6229350" y="3943350"/>
            <a:ext cx="523875" cy="6477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49" name="Line 643"/>
          <p:cNvSpPr>
            <a:spLocks noChangeShapeType="1"/>
          </p:cNvSpPr>
          <p:nvPr/>
        </p:nvSpPr>
        <p:spPr bwMode="auto">
          <a:xfrm>
            <a:off x="6229350" y="4686300"/>
            <a:ext cx="466725" cy="1762125"/>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50" name="Line 644"/>
          <p:cNvSpPr>
            <a:spLocks noChangeShapeType="1"/>
          </p:cNvSpPr>
          <p:nvPr/>
        </p:nvSpPr>
        <p:spPr bwMode="auto">
          <a:xfrm>
            <a:off x="7448550" y="4143375"/>
            <a:ext cx="0" cy="371475"/>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51" name="Line 645"/>
          <p:cNvSpPr>
            <a:spLocks noChangeShapeType="1"/>
          </p:cNvSpPr>
          <p:nvPr/>
        </p:nvSpPr>
        <p:spPr bwMode="auto">
          <a:xfrm>
            <a:off x="7446963" y="4941888"/>
            <a:ext cx="9525" cy="790575"/>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52" name="Text Box 646"/>
          <p:cNvSpPr txBox="1">
            <a:spLocks noChangeArrowheads="1"/>
          </p:cNvSpPr>
          <p:nvPr/>
        </p:nvSpPr>
        <p:spPr bwMode="auto">
          <a:xfrm>
            <a:off x="7561263" y="4125913"/>
            <a:ext cx="733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1000" b="1">
                <a:latin typeface="Arial" panose="020B0604020202020204" pitchFamily="34" charset="0"/>
              </a:rPr>
              <a:t>Denature</a:t>
            </a:r>
            <a:br>
              <a:rPr kumimoji="0" lang="en-US" altLang="zh-CN" sz="1000" b="1">
                <a:latin typeface="Arial" panose="020B0604020202020204" pitchFamily="34" charset="0"/>
              </a:rPr>
            </a:br>
            <a:r>
              <a:rPr kumimoji="0" lang="en-US" altLang="zh-CN" sz="1000" b="1">
                <a:latin typeface="Arial" panose="020B0604020202020204" pitchFamily="34" charset="0"/>
              </a:rPr>
              <a:t>DNA</a:t>
            </a:r>
          </a:p>
        </p:txBody>
      </p:sp>
      <p:sp>
        <p:nvSpPr>
          <p:cNvPr id="146453" name="Text Box 647"/>
          <p:cNvSpPr txBox="1">
            <a:spLocks noChangeArrowheads="1"/>
          </p:cNvSpPr>
          <p:nvPr/>
        </p:nvSpPr>
        <p:spPr bwMode="auto">
          <a:xfrm>
            <a:off x="7575550" y="4868863"/>
            <a:ext cx="123825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000" b="1">
                <a:latin typeface="Arial" panose="020B0604020202020204" pitchFamily="34" charset="0"/>
              </a:rPr>
              <a:t>Add Klenow</a:t>
            </a:r>
            <a:br>
              <a:rPr kumimoji="0" lang="en-US" altLang="zh-CN" sz="1000" b="1">
                <a:latin typeface="Arial" panose="020B0604020202020204" pitchFamily="34" charset="0"/>
              </a:rPr>
            </a:br>
            <a:r>
              <a:rPr kumimoji="0" lang="en-US" altLang="zh-CN" sz="1000" b="1">
                <a:latin typeface="Arial" panose="020B0604020202020204" pitchFamily="34" charset="0"/>
              </a:rPr>
              <a:t>DNA Polymerase,</a:t>
            </a:r>
            <a:br>
              <a:rPr kumimoji="0" lang="en-US" altLang="zh-CN" sz="1000" b="1">
                <a:latin typeface="Arial" panose="020B0604020202020204" pitchFamily="34" charset="0"/>
              </a:rPr>
            </a:br>
            <a:r>
              <a:rPr kumimoji="0" lang="en-US" altLang="zh-CN" sz="1000" b="1">
                <a:latin typeface="Arial" panose="020B0604020202020204" pitchFamily="34" charset="0"/>
              </a:rPr>
              <a:t>random primers</a:t>
            </a:r>
            <a:br>
              <a:rPr kumimoji="0" lang="en-US" altLang="zh-CN" sz="1000" b="1">
                <a:latin typeface="Arial" panose="020B0604020202020204" pitchFamily="34" charset="0"/>
              </a:rPr>
            </a:br>
            <a:r>
              <a:rPr kumimoji="0" lang="en-US" altLang="zh-CN" sz="1000" b="1">
                <a:latin typeface="Arial" panose="020B0604020202020204" pitchFamily="34" charset="0"/>
              </a:rPr>
              <a:t>and labeled </a:t>
            </a:r>
            <a:br>
              <a:rPr kumimoji="0" lang="en-US" altLang="zh-CN" sz="1000" b="1">
                <a:latin typeface="Arial" panose="020B0604020202020204" pitchFamily="34" charset="0"/>
              </a:rPr>
            </a:br>
            <a:r>
              <a:rPr kumimoji="0" lang="en-US" altLang="zh-CN" sz="1000" b="1">
                <a:latin typeface="Arial" panose="020B0604020202020204" pitchFamily="34" charset="0"/>
              </a:rPr>
              <a:t>nucleotides</a:t>
            </a:r>
          </a:p>
        </p:txBody>
      </p:sp>
      <p:sp>
        <p:nvSpPr>
          <p:cNvPr id="146454" name="Text Box 648"/>
          <p:cNvSpPr txBox="1">
            <a:spLocks noChangeArrowheads="1"/>
          </p:cNvSpPr>
          <p:nvPr/>
        </p:nvSpPr>
        <p:spPr bwMode="auto">
          <a:xfrm>
            <a:off x="3144838" y="4057650"/>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zh-CN" sz="1400" b="1">
              <a:solidFill>
                <a:srgbClr val="009900"/>
              </a:solidFill>
              <a:latin typeface="Arial" panose="020B0604020202020204" pitchFamily="34" charset="0"/>
            </a:endParaRPr>
          </a:p>
        </p:txBody>
      </p:sp>
      <p:sp>
        <p:nvSpPr>
          <p:cNvPr id="146455" name="Text Box 649"/>
          <p:cNvSpPr txBox="1">
            <a:spLocks noChangeArrowheads="1"/>
          </p:cNvSpPr>
          <p:nvPr/>
        </p:nvSpPr>
        <p:spPr bwMode="auto">
          <a:xfrm>
            <a:off x="3114675" y="3636963"/>
            <a:ext cx="25384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4. Hybridize denatured</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probe with the membrane</a:t>
            </a:r>
          </a:p>
        </p:txBody>
      </p:sp>
      <p:grpSp>
        <p:nvGrpSpPr>
          <p:cNvPr id="146456" name="Group 650"/>
          <p:cNvGrpSpPr/>
          <p:nvPr/>
        </p:nvGrpSpPr>
        <p:grpSpPr bwMode="auto">
          <a:xfrm>
            <a:off x="3619500" y="5006975"/>
            <a:ext cx="1563688" cy="457200"/>
            <a:chOff x="2280" y="3154"/>
            <a:chExt cx="985" cy="288"/>
          </a:xfrm>
        </p:grpSpPr>
        <p:sp>
          <p:nvSpPr>
            <p:cNvPr id="146754" name="Rectangle 651"/>
            <p:cNvSpPr>
              <a:spLocks noChangeArrowheads="1"/>
            </p:cNvSpPr>
            <p:nvPr/>
          </p:nvSpPr>
          <p:spPr bwMode="auto">
            <a:xfrm>
              <a:off x="2310" y="3366"/>
              <a:ext cx="936" cy="48"/>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55" name="Freeform 652"/>
            <p:cNvSpPr>
              <a:spLocks noChangeAspect="1"/>
            </p:cNvSpPr>
            <p:nvPr/>
          </p:nvSpPr>
          <p:spPr bwMode="auto">
            <a:xfrm>
              <a:off x="2280" y="3154"/>
              <a:ext cx="985" cy="288"/>
            </a:xfrm>
            <a:custGeom>
              <a:avLst/>
              <a:gdLst>
                <a:gd name="T0" fmla="*/ 0 w 1636"/>
                <a:gd name="T1" fmla="*/ 0 h 479"/>
                <a:gd name="T2" fmla="*/ 0 w 1636"/>
                <a:gd name="T3" fmla="*/ 63 h 479"/>
                <a:gd name="T4" fmla="*/ 55 w 1636"/>
                <a:gd name="T5" fmla="*/ 63 h 479"/>
                <a:gd name="T6" fmla="*/ 154 w 1636"/>
                <a:gd name="T7" fmla="*/ 61 h 479"/>
                <a:gd name="T8" fmla="*/ 215 w 1636"/>
                <a:gd name="T9" fmla="*/ 61 h 479"/>
                <a:gd name="T10" fmla="*/ 215 w 1636"/>
                <a:gd name="T11" fmla="*/ 0 h 479"/>
                <a:gd name="T12" fmla="*/ 207 w 1636"/>
                <a:gd name="T13" fmla="*/ 0 h 479"/>
                <a:gd name="T14" fmla="*/ 207 w 1636"/>
                <a:gd name="T15" fmla="*/ 51 h 479"/>
                <a:gd name="T16" fmla="*/ 8 w 1636"/>
                <a:gd name="T17" fmla="*/ 53 h 479"/>
                <a:gd name="T18" fmla="*/ 8 w 1636"/>
                <a:gd name="T19" fmla="*/ 0 h 479"/>
                <a:gd name="T20" fmla="*/ 0 w 1636"/>
                <a:gd name="T21" fmla="*/ 0 h 4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36"/>
                <a:gd name="T34" fmla="*/ 0 h 479"/>
                <a:gd name="T35" fmla="*/ 1636 w 1636"/>
                <a:gd name="T36" fmla="*/ 479 h 4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36" h="479">
                  <a:moveTo>
                    <a:pt x="0" y="0"/>
                  </a:moveTo>
                  <a:lnTo>
                    <a:pt x="0" y="479"/>
                  </a:lnTo>
                  <a:lnTo>
                    <a:pt x="421" y="479"/>
                  </a:lnTo>
                  <a:lnTo>
                    <a:pt x="1168" y="470"/>
                  </a:lnTo>
                  <a:lnTo>
                    <a:pt x="1636" y="470"/>
                  </a:lnTo>
                  <a:lnTo>
                    <a:pt x="1636" y="0"/>
                  </a:lnTo>
                  <a:lnTo>
                    <a:pt x="1578" y="0"/>
                  </a:lnTo>
                  <a:lnTo>
                    <a:pt x="1575" y="395"/>
                  </a:lnTo>
                  <a:lnTo>
                    <a:pt x="67" y="404"/>
                  </a:lnTo>
                  <a:lnTo>
                    <a:pt x="67" y="0"/>
                  </a:lnTo>
                  <a:lnTo>
                    <a:pt x="0" y="0"/>
                  </a:lnTo>
                  <a:close/>
                </a:path>
              </a:pathLst>
            </a:custGeom>
            <a:solidFill>
              <a:srgbClr val="4D4D4D"/>
            </a:solidFill>
            <a:ln w="12700">
              <a:solidFill>
                <a:schemeClr val="bg2"/>
              </a:solidFill>
              <a:round/>
            </a:ln>
          </p:spPr>
          <p:txBody>
            <a:bodyPr wrap="none" anchor="ctr"/>
            <a:lstStyle/>
            <a:p>
              <a:endParaRPr lang="zh-CN" altLang="en-US"/>
            </a:p>
          </p:txBody>
        </p:sp>
      </p:grpSp>
      <p:sp>
        <p:nvSpPr>
          <p:cNvPr id="146457" name="Freeform 653"/>
          <p:cNvSpPr/>
          <p:nvPr/>
        </p:nvSpPr>
        <p:spPr bwMode="auto">
          <a:xfrm>
            <a:off x="4362450" y="2943225"/>
            <a:ext cx="2095500" cy="2133600"/>
          </a:xfrm>
          <a:custGeom>
            <a:avLst/>
            <a:gdLst>
              <a:gd name="T0" fmla="*/ 2147483646 w 1320"/>
              <a:gd name="T1" fmla="*/ 0 h 1344"/>
              <a:gd name="T2" fmla="*/ 2147483646 w 1320"/>
              <a:gd name="T3" fmla="*/ 2147483646 h 1344"/>
              <a:gd name="T4" fmla="*/ 0 w 1320"/>
              <a:gd name="T5" fmla="*/ 2147483646 h 1344"/>
              <a:gd name="T6" fmla="*/ 0 60000 65536"/>
              <a:gd name="T7" fmla="*/ 0 60000 65536"/>
              <a:gd name="T8" fmla="*/ 0 60000 65536"/>
              <a:gd name="T9" fmla="*/ 0 w 1320"/>
              <a:gd name="T10" fmla="*/ 0 h 1344"/>
              <a:gd name="T11" fmla="*/ 1320 w 1320"/>
              <a:gd name="T12" fmla="*/ 1344 h 1344"/>
            </a:gdLst>
            <a:ahLst/>
            <a:cxnLst>
              <a:cxn ang="T6">
                <a:pos x="T0" y="T1"/>
              </a:cxn>
              <a:cxn ang="T7">
                <a:pos x="T2" y="T3"/>
              </a:cxn>
              <a:cxn ang="T8">
                <a:pos x="T4" y="T5"/>
              </a:cxn>
            </a:cxnLst>
            <a:rect l="T9" t="T10" r="T11" b="T12"/>
            <a:pathLst>
              <a:path w="1320" h="1344">
                <a:moveTo>
                  <a:pt x="1320" y="0"/>
                </a:moveTo>
                <a:cubicBezTo>
                  <a:pt x="1226" y="126"/>
                  <a:pt x="976" y="532"/>
                  <a:pt x="756" y="756"/>
                </a:cubicBezTo>
                <a:cubicBezTo>
                  <a:pt x="536" y="980"/>
                  <a:pt x="158" y="1222"/>
                  <a:pt x="0" y="1344"/>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6458" name="Freeform 654"/>
          <p:cNvSpPr/>
          <p:nvPr/>
        </p:nvSpPr>
        <p:spPr bwMode="auto">
          <a:xfrm>
            <a:off x="4410075" y="4552950"/>
            <a:ext cx="1438275" cy="581025"/>
          </a:xfrm>
          <a:custGeom>
            <a:avLst/>
            <a:gdLst>
              <a:gd name="T0" fmla="*/ 2147483646 w 906"/>
              <a:gd name="T1" fmla="*/ 0 h 366"/>
              <a:gd name="T2" fmla="*/ 2147483646 w 906"/>
              <a:gd name="T3" fmla="*/ 2147483646 h 366"/>
              <a:gd name="T4" fmla="*/ 0 w 906"/>
              <a:gd name="T5" fmla="*/ 2147483646 h 366"/>
              <a:gd name="T6" fmla="*/ 0 60000 65536"/>
              <a:gd name="T7" fmla="*/ 0 60000 65536"/>
              <a:gd name="T8" fmla="*/ 0 60000 65536"/>
              <a:gd name="T9" fmla="*/ 0 w 906"/>
              <a:gd name="T10" fmla="*/ 0 h 366"/>
              <a:gd name="T11" fmla="*/ 906 w 906"/>
              <a:gd name="T12" fmla="*/ 366 h 366"/>
            </a:gdLst>
            <a:ahLst/>
            <a:cxnLst>
              <a:cxn ang="T6">
                <a:pos x="T0" y="T1"/>
              </a:cxn>
              <a:cxn ang="T7">
                <a:pos x="T2" y="T3"/>
              </a:cxn>
              <a:cxn ang="T8">
                <a:pos x="T4" y="T5"/>
              </a:cxn>
            </a:cxnLst>
            <a:rect l="T9" t="T10" r="T11" b="T12"/>
            <a:pathLst>
              <a:path w="906" h="366">
                <a:moveTo>
                  <a:pt x="906" y="0"/>
                </a:moveTo>
                <a:cubicBezTo>
                  <a:pt x="783" y="2"/>
                  <a:pt x="661" y="5"/>
                  <a:pt x="510" y="66"/>
                </a:cubicBezTo>
                <a:cubicBezTo>
                  <a:pt x="359" y="127"/>
                  <a:pt x="179" y="246"/>
                  <a:pt x="0" y="366"/>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6459" name="Line 655"/>
          <p:cNvSpPr>
            <a:spLocks noChangeShapeType="1"/>
          </p:cNvSpPr>
          <p:nvPr/>
        </p:nvSpPr>
        <p:spPr bwMode="auto">
          <a:xfrm flipH="1">
            <a:off x="2914650" y="5334000"/>
            <a:ext cx="514350" cy="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60" name="Text Box 656"/>
          <p:cNvSpPr txBox="1">
            <a:spLocks noChangeArrowheads="1"/>
          </p:cNvSpPr>
          <p:nvPr/>
        </p:nvSpPr>
        <p:spPr bwMode="auto">
          <a:xfrm>
            <a:off x="431800" y="3668713"/>
            <a:ext cx="24368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5. Wash the membrane </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and expose with the film</a:t>
            </a:r>
          </a:p>
        </p:txBody>
      </p:sp>
      <p:grpSp>
        <p:nvGrpSpPr>
          <p:cNvPr id="146461" name="Group 657"/>
          <p:cNvGrpSpPr/>
          <p:nvPr/>
        </p:nvGrpSpPr>
        <p:grpSpPr bwMode="auto">
          <a:xfrm>
            <a:off x="768350" y="4348163"/>
            <a:ext cx="1828800" cy="1919287"/>
            <a:chOff x="4168" y="2139"/>
            <a:chExt cx="1152" cy="1209"/>
          </a:xfrm>
        </p:grpSpPr>
        <p:sp>
          <p:nvSpPr>
            <p:cNvPr id="146703" name="Rectangle 658"/>
            <p:cNvSpPr>
              <a:spLocks noChangeArrowheads="1"/>
            </p:cNvSpPr>
            <p:nvPr/>
          </p:nvSpPr>
          <p:spPr bwMode="auto">
            <a:xfrm>
              <a:off x="4168" y="2139"/>
              <a:ext cx="1152" cy="1209"/>
            </a:xfrm>
            <a:prstGeom prst="rect">
              <a:avLst/>
            </a:prstGeom>
            <a:solidFill>
              <a:srgbClr val="A3D5D9"/>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146704" name="Group 659"/>
            <p:cNvGrpSpPr/>
            <p:nvPr/>
          </p:nvGrpSpPr>
          <p:grpSpPr bwMode="auto">
            <a:xfrm>
              <a:off x="4620" y="2755"/>
              <a:ext cx="196" cy="65"/>
              <a:chOff x="2130" y="3040"/>
              <a:chExt cx="196" cy="65"/>
            </a:xfrm>
          </p:grpSpPr>
          <p:sp>
            <p:nvSpPr>
              <p:cNvPr id="146752" name="Oval 660"/>
              <p:cNvSpPr>
                <a:spLocks noChangeArrowheads="1"/>
              </p:cNvSpPr>
              <p:nvPr/>
            </p:nvSpPr>
            <p:spPr bwMode="auto">
              <a:xfrm>
                <a:off x="2141" y="3077"/>
                <a:ext cx="174" cy="27"/>
              </a:xfrm>
              <a:prstGeom prst="ellipse">
                <a:avLst/>
              </a:prstGeom>
              <a:gradFill rotWithShape="1">
                <a:gsLst>
                  <a:gs pos="0">
                    <a:schemeClr val="bg1"/>
                  </a:gs>
                  <a:gs pos="100000">
                    <a:srgbClr val="4D4D4D"/>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53" name="Freeform 661"/>
              <p:cNvSpPr/>
              <p:nvPr/>
            </p:nvSpPr>
            <p:spPr bwMode="auto">
              <a:xfrm>
                <a:off x="2130" y="3040"/>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chemeClr val="tx1">
                      <a:alpha val="50000"/>
                    </a:schemeClr>
                  </a:gs>
                  <a:gs pos="100000">
                    <a:schemeClr val="bg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grpSp>
          <p:nvGrpSpPr>
            <p:cNvPr id="146705" name="Group 662"/>
            <p:cNvGrpSpPr/>
            <p:nvPr/>
          </p:nvGrpSpPr>
          <p:grpSpPr bwMode="auto">
            <a:xfrm>
              <a:off x="4200" y="2694"/>
              <a:ext cx="196" cy="66"/>
              <a:chOff x="2380" y="3087"/>
              <a:chExt cx="196" cy="66"/>
            </a:xfrm>
          </p:grpSpPr>
          <p:sp>
            <p:nvSpPr>
              <p:cNvPr id="146750" name="Freeform 663"/>
              <p:cNvSpPr/>
              <p:nvPr/>
            </p:nvSpPr>
            <p:spPr bwMode="auto">
              <a:xfrm>
                <a:off x="2380" y="3087"/>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chemeClr val="tx1">
                      <a:alpha val="20000"/>
                    </a:schemeClr>
                  </a:gs>
                  <a:gs pos="100000">
                    <a:schemeClr val="bg2">
                      <a:alpha val="50000"/>
                    </a:schemeClr>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51" name="Oval 664"/>
              <p:cNvSpPr>
                <a:spLocks noChangeArrowheads="1"/>
              </p:cNvSpPr>
              <p:nvPr/>
            </p:nvSpPr>
            <p:spPr bwMode="auto">
              <a:xfrm flipH="1">
                <a:off x="2393" y="3123"/>
                <a:ext cx="174" cy="30"/>
              </a:xfrm>
              <a:prstGeom prst="ellipse">
                <a:avLst/>
              </a:prstGeom>
              <a:gradFill rotWithShape="1">
                <a:gsLst>
                  <a:gs pos="0">
                    <a:schemeClr val="tx2">
                      <a:alpha val="7999"/>
                    </a:schemeClr>
                  </a:gs>
                  <a:gs pos="100000">
                    <a:srgbClr val="4D4D4D"/>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706" name="Group 665"/>
            <p:cNvGrpSpPr/>
            <p:nvPr/>
          </p:nvGrpSpPr>
          <p:grpSpPr bwMode="auto">
            <a:xfrm>
              <a:off x="4407" y="2631"/>
              <a:ext cx="196" cy="65"/>
              <a:chOff x="2564" y="2752"/>
              <a:chExt cx="196" cy="65"/>
            </a:xfrm>
          </p:grpSpPr>
          <p:sp>
            <p:nvSpPr>
              <p:cNvPr id="146748" name="Freeform 666"/>
              <p:cNvSpPr/>
              <p:nvPr/>
            </p:nvSpPr>
            <p:spPr bwMode="auto">
              <a:xfrm>
                <a:off x="2564" y="2752"/>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chemeClr val="bg2"/>
                  </a:gs>
                  <a:gs pos="100000">
                    <a:schemeClr val="tx1">
                      <a:alpha val="50000"/>
                    </a:schemeClr>
                  </a:gs>
                </a:gsLst>
                <a:path path="rect">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49" name="Oval 667"/>
              <p:cNvSpPr>
                <a:spLocks noChangeArrowheads="1"/>
              </p:cNvSpPr>
              <p:nvPr/>
            </p:nvSpPr>
            <p:spPr bwMode="auto">
              <a:xfrm flipH="1">
                <a:off x="2574" y="2774"/>
                <a:ext cx="174" cy="42"/>
              </a:xfrm>
              <a:prstGeom prst="ellipse">
                <a:avLst/>
              </a:prstGeom>
              <a:gradFill rotWithShape="1">
                <a:gsLst>
                  <a:gs pos="0">
                    <a:srgbClr val="292929">
                      <a:alpha val="98000"/>
                    </a:srgbClr>
                  </a:gs>
                  <a:gs pos="100000">
                    <a:schemeClr val="tx2">
                      <a:alpha val="1999"/>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707" name="Group 668"/>
            <p:cNvGrpSpPr/>
            <p:nvPr/>
          </p:nvGrpSpPr>
          <p:grpSpPr bwMode="auto">
            <a:xfrm>
              <a:off x="4845" y="2884"/>
              <a:ext cx="196" cy="65"/>
              <a:chOff x="2124" y="2860"/>
              <a:chExt cx="196" cy="65"/>
            </a:xfrm>
          </p:grpSpPr>
          <p:sp>
            <p:nvSpPr>
              <p:cNvPr id="146746" name="Oval 669"/>
              <p:cNvSpPr>
                <a:spLocks noChangeArrowheads="1"/>
              </p:cNvSpPr>
              <p:nvPr/>
            </p:nvSpPr>
            <p:spPr bwMode="auto">
              <a:xfrm>
                <a:off x="2135" y="2895"/>
                <a:ext cx="174" cy="27"/>
              </a:xfrm>
              <a:prstGeom prst="ellipse">
                <a:avLst/>
              </a:prstGeom>
              <a:gradFill rotWithShape="1">
                <a:gsLst>
                  <a:gs pos="0">
                    <a:srgbClr val="B2B2B2"/>
                  </a:gs>
                  <a:gs pos="100000">
                    <a:schemeClr val="tx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47" name="Freeform 670"/>
              <p:cNvSpPr/>
              <p:nvPr/>
            </p:nvSpPr>
            <p:spPr bwMode="auto">
              <a:xfrm>
                <a:off x="2124" y="2860"/>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B2B2B2">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grpSp>
          <p:nvGrpSpPr>
            <p:cNvPr id="146708" name="Group 671"/>
            <p:cNvGrpSpPr/>
            <p:nvPr/>
          </p:nvGrpSpPr>
          <p:grpSpPr bwMode="auto">
            <a:xfrm>
              <a:off x="4620" y="2960"/>
              <a:ext cx="196" cy="83"/>
              <a:chOff x="2602" y="3078"/>
              <a:chExt cx="196" cy="83"/>
            </a:xfrm>
          </p:grpSpPr>
          <p:sp>
            <p:nvSpPr>
              <p:cNvPr id="146744" name="Oval 672"/>
              <p:cNvSpPr>
                <a:spLocks noChangeArrowheads="1"/>
              </p:cNvSpPr>
              <p:nvPr/>
            </p:nvSpPr>
            <p:spPr bwMode="auto">
              <a:xfrm flipH="1">
                <a:off x="2611" y="3090"/>
                <a:ext cx="174" cy="68"/>
              </a:xfrm>
              <a:prstGeom prst="ellipse">
                <a:avLst/>
              </a:prstGeom>
              <a:gradFill rotWithShape="1">
                <a:gsLst>
                  <a:gs pos="0">
                    <a:schemeClr val="tx2">
                      <a:alpha val="3998"/>
                    </a:schemeClr>
                  </a:gs>
                  <a:gs pos="100000">
                    <a:srgbClr val="B2B2B2">
                      <a:alpha val="8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45" name="Freeform 673"/>
              <p:cNvSpPr/>
              <p:nvPr/>
            </p:nvSpPr>
            <p:spPr bwMode="auto">
              <a:xfrm>
                <a:off x="2602" y="3078"/>
                <a:ext cx="196" cy="83"/>
              </a:xfrm>
              <a:custGeom>
                <a:avLst/>
                <a:gdLst>
                  <a:gd name="T0" fmla="*/ 5 w 196"/>
                  <a:gd name="T1" fmla="*/ 29 h 65"/>
                  <a:gd name="T2" fmla="*/ 14 w 196"/>
                  <a:gd name="T3" fmla="*/ 142 h 65"/>
                  <a:gd name="T4" fmla="*/ 91 w 196"/>
                  <a:gd name="T5" fmla="*/ 166 h 65"/>
                  <a:gd name="T6" fmla="*/ 180 w 196"/>
                  <a:gd name="T7" fmla="*/ 146 h 65"/>
                  <a:gd name="T8" fmla="*/ 185 w 196"/>
                  <a:gd name="T9" fmla="*/ 13 h 65"/>
                  <a:gd name="T10" fmla="*/ 167 w 196"/>
                  <a:gd name="T11" fmla="*/ 66 h 65"/>
                  <a:gd name="T12" fmla="*/ 27 w 196"/>
                  <a:gd name="T13" fmla="*/ 60 h 65"/>
                  <a:gd name="T14" fmla="*/ 5 w 196"/>
                  <a:gd name="T15" fmla="*/ 29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B2B2B2">
                      <a:alpha val="60001"/>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grpSp>
          <p:nvGrpSpPr>
            <p:cNvPr id="146709" name="Group 674"/>
            <p:cNvGrpSpPr/>
            <p:nvPr/>
          </p:nvGrpSpPr>
          <p:grpSpPr bwMode="auto">
            <a:xfrm>
              <a:off x="4407" y="3058"/>
              <a:ext cx="196" cy="107"/>
              <a:chOff x="2370" y="2863"/>
              <a:chExt cx="196" cy="107"/>
            </a:xfrm>
          </p:grpSpPr>
          <p:sp>
            <p:nvSpPr>
              <p:cNvPr id="146742" name="Oval 675"/>
              <p:cNvSpPr>
                <a:spLocks noChangeArrowheads="1"/>
              </p:cNvSpPr>
              <p:nvPr/>
            </p:nvSpPr>
            <p:spPr bwMode="auto">
              <a:xfrm flipH="1">
                <a:off x="2384" y="2908"/>
                <a:ext cx="174" cy="56"/>
              </a:xfrm>
              <a:prstGeom prst="ellipse">
                <a:avLst/>
              </a:prstGeom>
              <a:gradFill rotWithShape="1">
                <a:gsLst>
                  <a:gs pos="0">
                    <a:srgbClr val="C0C0C0"/>
                  </a:gs>
                  <a:gs pos="100000">
                    <a:schemeClr val="tx1">
                      <a:alpha val="7001"/>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43" name="Freeform 676"/>
              <p:cNvSpPr/>
              <p:nvPr/>
            </p:nvSpPr>
            <p:spPr bwMode="auto">
              <a:xfrm>
                <a:off x="2370" y="2863"/>
                <a:ext cx="196" cy="107"/>
              </a:xfrm>
              <a:custGeom>
                <a:avLst/>
                <a:gdLst>
                  <a:gd name="T0" fmla="*/ 5 w 196"/>
                  <a:gd name="T1" fmla="*/ 81 h 65"/>
                  <a:gd name="T2" fmla="*/ 14 w 196"/>
                  <a:gd name="T3" fmla="*/ 387 h 65"/>
                  <a:gd name="T4" fmla="*/ 91 w 196"/>
                  <a:gd name="T5" fmla="*/ 463 h 65"/>
                  <a:gd name="T6" fmla="*/ 180 w 196"/>
                  <a:gd name="T7" fmla="*/ 407 h 65"/>
                  <a:gd name="T8" fmla="*/ 185 w 196"/>
                  <a:gd name="T9" fmla="*/ 35 h 65"/>
                  <a:gd name="T10" fmla="*/ 167 w 196"/>
                  <a:gd name="T11" fmla="*/ 181 h 65"/>
                  <a:gd name="T12" fmla="*/ 27 w 196"/>
                  <a:gd name="T13" fmla="*/ 171 h 65"/>
                  <a:gd name="T14" fmla="*/ 5 w 196"/>
                  <a:gd name="T15" fmla="*/ 8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0"/>
                    </a:srgbClr>
                  </a:gs>
                  <a:gs pos="100000">
                    <a:schemeClr val="tx1">
                      <a:alpha val="87999"/>
                    </a:schemeClr>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sp>
          <p:nvSpPr>
            <p:cNvPr id="146710" name="Freeform 677"/>
            <p:cNvSpPr/>
            <p:nvPr/>
          </p:nvSpPr>
          <p:spPr bwMode="auto">
            <a:xfrm>
              <a:off x="4845" y="2378"/>
              <a:ext cx="196" cy="41"/>
            </a:xfrm>
            <a:custGeom>
              <a:avLst/>
              <a:gdLst>
                <a:gd name="T0" fmla="*/ 5 w 196"/>
                <a:gd name="T1" fmla="*/ 2 h 65"/>
                <a:gd name="T2" fmla="*/ 14 w 196"/>
                <a:gd name="T3" fmla="*/ 8 h 65"/>
                <a:gd name="T4" fmla="*/ 91 w 196"/>
                <a:gd name="T5" fmla="*/ 10 h 65"/>
                <a:gd name="T6" fmla="*/ 180 w 196"/>
                <a:gd name="T7" fmla="*/ 9 h 65"/>
                <a:gd name="T8" fmla="*/ 185 w 196"/>
                <a:gd name="T9" fmla="*/ 1 h 65"/>
                <a:gd name="T10" fmla="*/ 167 w 196"/>
                <a:gd name="T11" fmla="*/ 4 h 65"/>
                <a:gd name="T12" fmla="*/ 27 w 196"/>
                <a:gd name="T13" fmla="*/ 4 h 65"/>
                <a:gd name="T14" fmla="*/ 5 w 196"/>
                <a:gd name="T15" fmla="*/ 2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chemeClr val="tx1">
                    <a:alpha val="50000"/>
                  </a:schemeClr>
                </a:gs>
                <a:gs pos="100000">
                  <a:srgbClr val="292929"/>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1" name="Freeform 678"/>
            <p:cNvSpPr/>
            <p:nvPr/>
          </p:nvSpPr>
          <p:spPr bwMode="auto">
            <a:xfrm>
              <a:off x="5073" y="3205"/>
              <a:ext cx="196" cy="107"/>
            </a:xfrm>
            <a:custGeom>
              <a:avLst/>
              <a:gdLst>
                <a:gd name="T0" fmla="*/ 5 w 196"/>
                <a:gd name="T1" fmla="*/ 81 h 65"/>
                <a:gd name="T2" fmla="*/ 14 w 196"/>
                <a:gd name="T3" fmla="*/ 387 h 65"/>
                <a:gd name="T4" fmla="*/ 91 w 196"/>
                <a:gd name="T5" fmla="*/ 463 h 65"/>
                <a:gd name="T6" fmla="*/ 180 w 196"/>
                <a:gd name="T7" fmla="*/ 407 h 65"/>
                <a:gd name="T8" fmla="*/ 185 w 196"/>
                <a:gd name="T9" fmla="*/ 35 h 65"/>
                <a:gd name="T10" fmla="*/ 167 w 196"/>
                <a:gd name="T11" fmla="*/ 181 h 65"/>
                <a:gd name="T12" fmla="*/ 27 w 196"/>
                <a:gd name="T13" fmla="*/ 171 h 65"/>
                <a:gd name="T14" fmla="*/ 5 w 196"/>
                <a:gd name="T15" fmla="*/ 8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2" name="Freeform 679"/>
            <p:cNvSpPr/>
            <p:nvPr/>
          </p:nvSpPr>
          <p:spPr bwMode="auto">
            <a:xfrm>
              <a:off x="5073" y="3051"/>
              <a:ext cx="196" cy="71"/>
            </a:xfrm>
            <a:custGeom>
              <a:avLst/>
              <a:gdLst>
                <a:gd name="T0" fmla="*/ 5 w 196"/>
                <a:gd name="T1" fmla="*/ 15 h 65"/>
                <a:gd name="T2" fmla="*/ 14 w 196"/>
                <a:gd name="T3" fmla="*/ 75 h 65"/>
                <a:gd name="T4" fmla="*/ 91 w 196"/>
                <a:gd name="T5" fmla="*/ 90 h 65"/>
                <a:gd name="T6" fmla="*/ 180 w 196"/>
                <a:gd name="T7" fmla="*/ 79 h 65"/>
                <a:gd name="T8" fmla="*/ 185 w 196"/>
                <a:gd name="T9" fmla="*/ 5 h 65"/>
                <a:gd name="T10" fmla="*/ 167 w 196"/>
                <a:gd name="T11" fmla="*/ 35 h 65"/>
                <a:gd name="T12" fmla="*/ 27 w 196"/>
                <a:gd name="T13" fmla="*/ 32 h 65"/>
                <a:gd name="T14" fmla="*/ 5 w 196"/>
                <a:gd name="T15" fmla="*/ 15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3" name="Freeform 680"/>
            <p:cNvSpPr/>
            <p:nvPr/>
          </p:nvSpPr>
          <p:spPr bwMode="auto">
            <a:xfrm>
              <a:off x="5073" y="2905"/>
              <a:ext cx="196" cy="53"/>
            </a:xfrm>
            <a:custGeom>
              <a:avLst/>
              <a:gdLst>
                <a:gd name="T0" fmla="*/ 5 w 196"/>
                <a:gd name="T1" fmla="*/ 5 h 65"/>
                <a:gd name="T2" fmla="*/ 14 w 196"/>
                <a:gd name="T3" fmla="*/ 24 h 65"/>
                <a:gd name="T4" fmla="*/ 91 w 196"/>
                <a:gd name="T5" fmla="*/ 28 h 65"/>
                <a:gd name="T6" fmla="*/ 180 w 196"/>
                <a:gd name="T7" fmla="*/ 24 h 65"/>
                <a:gd name="T8" fmla="*/ 185 w 196"/>
                <a:gd name="T9" fmla="*/ 2 h 65"/>
                <a:gd name="T10" fmla="*/ 167 w 196"/>
                <a:gd name="T11" fmla="*/ 11 h 65"/>
                <a:gd name="T12" fmla="*/ 27 w 196"/>
                <a:gd name="T13" fmla="*/ 10 h 65"/>
                <a:gd name="T14" fmla="*/ 5 w 196"/>
                <a:gd name="T15" fmla="*/ 5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4" name="Freeform 681"/>
            <p:cNvSpPr/>
            <p:nvPr/>
          </p:nvSpPr>
          <p:spPr bwMode="auto">
            <a:xfrm>
              <a:off x="5073" y="2675"/>
              <a:ext cx="196" cy="51"/>
            </a:xfrm>
            <a:custGeom>
              <a:avLst/>
              <a:gdLst>
                <a:gd name="T0" fmla="*/ 5 w 196"/>
                <a:gd name="T1" fmla="*/ 4 h 65"/>
                <a:gd name="T2" fmla="*/ 14 w 196"/>
                <a:gd name="T3" fmla="*/ 20 h 65"/>
                <a:gd name="T4" fmla="*/ 91 w 196"/>
                <a:gd name="T5" fmla="*/ 24 h 65"/>
                <a:gd name="T6" fmla="*/ 180 w 196"/>
                <a:gd name="T7" fmla="*/ 21 h 65"/>
                <a:gd name="T8" fmla="*/ 185 w 196"/>
                <a:gd name="T9" fmla="*/ 2 h 65"/>
                <a:gd name="T10" fmla="*/ 167 w 196"/>
                <a:gd name="T11" fmla="*/ 10 h 65"/>
                <a:gd name="T12" fmla="*/ 27 w 196"/>
                <a:gd name="T13" fmla="*/ 9 h 65"/>
                <a:gd name="T14" fmla="*/ 5 w 196"/>
                <a:gd name="T15" fmla="*/ 4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5" name="Freeform 682"/>
            <p:cNvSpPr/>
            <p:nvPr/>
          </p:nvSpPr>
          <p:spPr bwMode="auto">
            <a:xfrm>
              <a:off x="5073" y="2487"/>
              <a:ext cx="196" cy="37"/>
            </a:xfrm>
            <a:custGeom>
              <a:avLst/>
              <a:gdLst>
                <a:gd name="T0" fmla="*/ 5 w 196"/>
                <a:gd name="T1" fmla="*/ 1 h 65"/>
                <a:gd name="T2" fmla="*/ 14 w 196"/>
                <a:gd name="T3" fmla="*/ 6 h 65"/>
                <a:gd name="T4" fmla="*/ 91 w 196"/>
                <a:gd name="T5" fmla="*/ 6 h 65"/>
                <a:gd name="T6" fmla="*/ 180 w 196"/>
                <a:gd name="T7" fmla="*/ 6 h 65"/>
                <a:gd name="T8" fmla="*/ 185 w 196"/>
                <a:gd name="T9" fmla="*/ 1 h 65"/>
                <a:gd name="T10" fmla="*/ 167 w 196"/>
                <a:gd name="T11" fmla="*/ 3 h 65"/>
                <a:gd name="T12" fmla="*/ 27 w 196"/>
                <a:gd name="T13" fmla="*/ 2 h 65"/>
                <a:gd name="T14" fmla="*/ 5 w 196"/>
                <a:gd name="T15" fmla="*/ 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6" name="Freeform 683"/>
            <p:cNvSpPr/>
            <p:nvPr/>
          </p:nvSpPr>
          <p:spPr bwMode="auto">
            <a:xfrm>
              <a:off x="5073" y="2415"/>
              <a:ext cx="196" cy="29"/>
            </a:xfrm>
            <a:custGeom>
              <a:avLst/>
              <a:gdLst>
                <a:gd name="T0" fmla="*/ 5 w 196"/>
                <a:gd name="T1" fmla="*/ 0 h 65"/>
                <a:gd name="T2" fmla="*/ 14 w 196"/>
                <a:gd name="T3" fmla="*/ 2 h 65"/>
                <a:gd name="T4" fmla="*/ 91 w 196"/>
                <a:gd name="T5" fmla="*/ 2 h 65"/>
                <a:gd name="T6" fmla="*/ 180 w 196"/>
                <a:gd name="T7" fmla="*/ 2 h 65"/>
                <a:gd name="T8" fmla="*/ 185 w 196"/>
                <a:gd name="T9" fmla="*/ 0 h 65"/>
                <a:gd name="T10" fmla="*/ 167 w 196"/>
                <a:gd name="T11" fmla="*/ 1 h 65"/>
                <a:gd name="T12" fmla="*/ 27 w 196"/>
                <a:gd name="T13" fmla="*/ 1 h 65"/>
                <a:gd name="T14" fmla="*/ 5 w 196"/>
                <a:gd name="T15" fmla="*/ 0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7" name="Freeform 684"/>
            <p:cNvSpPr/>
            <p:nvPr/>
          </p:nvSpPr>
          <p:spPr bwMode="auto">
            <a:xfrm>
              <a:off x="5073" y="2368"/>
              <a:ext cx="196" cy="27"/>
            </a:xfrm>
            <a:custGeom>
              <a:avLst/>
              <a:gdLst>
                <a:gd name="T0" fmla="*/ 5 w 196"/>
                <a:gd name="T1" fmla="*/ 0 h 65"/>
                <a:gd name="T2" fmla="*/ 14 w 196"/>
                <a:gd name="T3" fmla="*/ 2 h 65"/>
                <a:gd name="T4" fmla="*/ 91 w 196"/>
                <a:gd name="T5" fmla="*/ 2 h 65"/>
                <a:gd name="T6" fmla="*/ 180 w 196"/>
                <a:gd name="T7" fmla="*/ 2 h 65"/>
                <a:gd name="T8" fmla="*/ 185 w 196"/>
                <a:gd name="T9" fmla="*/ 0 h 65"/>
                <a:gd name="T10" fmla="*/ 167 w 196"/>
                <a:gd name="T11" fmla="*/ 1 h 65"/>
                <a:gd name="T12" fmla="*/ 27 w 196"/>
                <a:gd name="T13" fmla="*/ 1 h 65"/>
                <a:gd name="T14" fmla="*/ 5 w 196"/>
                <a:gd name="T15" fmla="*/ 0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8" name="Freeform 685"/>
            <p:cNvSpPr/>
            <p:nvPr/>
          </p:nvSpPr>
          <p:spPr bwMode="auto">
            <a:xfrm>
              <a:off x="5073" y="2337"/>
              <a:ext cx="196" cy="27"/>
            </a:xfrm>
            <a:custGeom>
              <a:avLst/>
              <a:gdLst>
                <a:gd name="T0" fmla="*/ 5 w 196"/>
                <a:gd name="T1" fmla="*/ 0 h 65"/>
                <a:gd name="T2" fmla="*/ 14 w 196"/>
                <a:gd name="T3" fmla="*/ 2 h 65"/>
                <a:gd name="T4" fmla="*/ 91 w 196"/>
                <a:gd name="T5" fmla="*/ 2 h 65"/>
                <a:gd name="T6" fmla="*/ 180 w 196"/>
                <a:gd name="T7" fmla="*/ 2 h 65"/>
                <a:gd name="T8" fmla="*/ 185 w 196"/>
                <a:gd name="T9" fmla="*/ 0 h 65"/>
                <a:gd name="T10" fmla="*/ 167 w 196"/>
                <a:gd name="T11" fmla="*/ 1 h 65"/>
                <a:gd name="T12" fmla="*/ 27 w 196"/>
                <a:gd name="T13" fmla="*/ 1 h 65"/>
                <a:gd name="T14" fmla="*/ 5 w 196"/>
                <a:gd name="T15" fmla="*/ 0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nvGrpSpPr>
            <p:cNvPr id="146719" name="Group 686"/>
            <p:cNvGrpSpPr>
              <a:grpSpLocks noChangeAspect="1"/>
            </p:cNvGrpSpPr>
            <p:nvPr/>
          </p:nvGrpSpPr>
          <p:grpSpPr bwMode="auto">
            <a:xfrm>
              <a:off x="4203" y="2198"/>
              <a:ext cx="1077" cy="81"/>
              <a:chOff x="3388" y="1798"/>
              <a:chExt cx="1798" cy="135"/>
            </a:xfrm>
          </p:grpSpPr>
          <p:sp>
            <p:nvSpPr>
              <p:cNvPr id="146721" name="Freeform 687"/>
              <p:cNvSpPr>
                <a:spLocks noChangeAspect="1"/>
              </p:cNvSpPr>
              <p:nvPr/>
            </p:nvSpPr>
            <p:spPr bwMode="auto">
              <a:xfrm>
                <a:off x="3388" y="1800"/>
                <a:ext cx="98" cy="133"/>
              </a:xfrm>
              <a:custGeom>
                <a:avLst/>
                <a:gdLst>
                  <a:gd name="T0" fmla="*/ 1 w 464"/>
                  <a:gd name="T1" fmla="*/ 0 h 632"/>
                  <a:gd name="T2" fmla="*/ 1 w 464"/>
                  <a:gd name="T3" fmla="*/ 0 h 632"/>
                  <a:gd name="T4" fmla="*/ 0 w 464"/>
                  <a:gd name="T5" fmla="*/ 0 h 632"/>
                  <a:gd name="T6" fmla="*/ 0 w 464"/>
                  <a:gd name="T7" fmla="*/ 0 h 632"/>
                  <a:gd name="T8" fmla="*/ 0 w 464"/>
                  <a:gd name="T9" fmla="*/ 1 h 632"/>
                  <a:gd name="T10" fmla="*/ 1 w 464"/>
                  <a:gd name="T11" fmla="*/ 1 h 632"/>
                  <a:gd name="T12" fmla="*/ 1 w 464"/>
                  <a:gd name="T13" fmla="*/ 1 h 632"/>
                  <a:gd name="T14" fmla="*/ 0 w 464"/>
                  <a:gd name="T15" fmla="*/ 1 h 632"/>
                  <a:gd name="T16" fmla="*/ 0 w 464"/>
                  <a:gd name="T17" fmla="*/ 1 h 632"/>
                  <a:gd name="T18" fmla="*/ 0 w 464"/>
                  <a:gd name="T19" fmla="*/ 1 h 6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4"/>
                  <a:gd name="T31" fmla="*/ 0 h 632"/>
                  <a:gd name="T32" fmla="*/ 464 w 464"/>
                  <a:gd name="T33" fmla="*/ 632 h 6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4" h="632">
                    <a:moveTo>
                      <a:pt x="414" y="178"/>
                    </a:moveTo>
                    <a:cubicBezTo>
                      <a:pt x="403" y="157"/>
                      <a:pt x="387" y="80"/>
                      <a:pt x="348" y="52"/>
                    </a:cubicBezTo>
                    <a:cubicBezTo>
                      <a:pt x="309" y="24"/>
                      <a:pt x="233" y="0"/>
                      <a:pt x="180" y="10"/>
                    </a:cubicBezTo>
                    <a:cubicBezTo>
                      <a:pt x="127" y="20"/>
                      <a:pt x="47" y="69"/>
                      <a:pt x="30" y="112"/>
                    </a:cubicBezTo>
                    <a:cubicBezTo>
                      <a:pt x="13" y="155"/>
                      <a:pt x="15" y="223"/>
                      <a:pt x="78" y="268"/>
                    </a:cubicBezTo>
                    <a:cubicBezTo>
                      <a:pt x="141" y="313"/>
                      <a:pt x="352" y="333"/>
                      <a:pt x="408" y="382"/>
                    </a:cubicBezTo>
                    <a:cubicBezTo>
                      <a:pt x="464" y="431"/>
                      <a:pt x="440" y="521"/>
                      <a:pt x="414" y="562"/>
                    </a:cubicBezTo>
                    <a:cubicBezTo>
                      <a:pt x="388" y="603"/>
                      <a:pt x="311" y="624"/>
                      <a:pt x="252" y="628"/>
                    </a:cubicBezTo>
                    <a:cubicBezTo>
                      <a:pt x="193" y="632"/>
                      <a:pt x="102" y="615"/>
                      <a:pt x="60" y="586"/>
                    </a:cubicBezTo>
                    <a:cubicBezTo>
                      <a:pt x="18" y="557"/>
                      <a:pt x="12" y="481"/>
                      <a:pt x="0" y="454"/>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22" name="Freeform 688"/>
              <p:cNvSpPr>
                <a:spLocks noChangeAspect="1"/>
              </p:cNvSpPr>
              <p:nvPr/>
            </p:nvSpPr>
            <p:spPr bwMode="auto">
              <a:xfrm>
                <a:off x="3524" y="1802"/>
                <a:ext cx="109" cy="131"/>
              </a:xfrm>
              <a:custGeom>
                <a:avLst/>
                <a:gdLst>
                  <a:gd name="T0" fmla="*/ 0 w 551"/>
                  <a:gd name="T1" fmla="*/ 0 h 660"/>
                  <a:gd name="T2" fmla="*/ 0 w 551"/>
                  <a:gd name="T3" fmla="*/ 0 h 660"/>
                  <a:gd name="T4" fmla="*/ 0 w 551"/>
                  <a:gd name="T5" fmla="*/ 1 h 660"/>
                  <a:gd name="T6" fmla="*/ 0 w 551"/>
                  <a:gd name="T7" fmla="*/ 1 h 660"/>
                  <a:gd name="T8" fmla="*/ 1 w 551"/>
                  <a:gd name="T9" fmla="*/ 1 h 660"/>
                  <a:gd name="T10" fmla="*/ 1 w 551"/>
                  <a:gd name="T11" fmla="*/ 1 h 660"/>
                  <a:gd name="T12" fmla="*/ 1 w 551"/>
                  <a:gd name="T13" fmla="*/ 0 h 660"/>
                  <a:gd name="T14" fmla="*/ 1 w 551"/>
                  <a:gd name="T15" fmla="*/ 0 h 660"/>
                  <a:gd name="T16" fmla="*/ 0 w 551"/>
                  <a:gd name="T17" fmla="*/ 0 h 6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1"/>
                  <a:gd name="T28" fmla="*/ 0 h 660"/>
                  <a:gd name="T29" fmla="*/ 551 w 551"/>
                  <a:gd name="T30" fmla="*/ 660 h 6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1" h="660">
                    <a:moveTo>
                      <a:pt x="166" y="26"/>
                    </a:moveTo>
                    <a:cubicBezTo>
                      <a:pt x="110" y="58"/>
                      <a:pt x="44" y="142"/>
                      <a:pt x="22" y="218"/>
                    </a:cubicBezTo>
                    <a:cubicBezTo>
                      <a:pt x="0" y="294"/>
                      <a:pt x="9" y="413"/>
                      <a:pt x="34" y="482"/>
                    </a:cubicBezTo>
                    <a:cubicBezTo>
                      <a:pt x="59" y="551"/>
                      <a:pt x="116" y="607"/>
                      <a:pt x="172" y="632"/>
                    </a:cubicBezTo>
                    <a:cubicBezTo>
                      <a:pt x="228" y="657"/>
                      <a:pt x="311" y="660"/>
                      <a:pt x="370" y="632"/>
                    </a:cubicBezTo>
                    <a:cubicBezTo>
                      <a:pt x="429" y="604"/>
                      <a:pt x="501" y="539"/>
                      <a:pt x="526" y="464"/>
                    </a:cubicBezTo>
                    <a:cubicBezTo>
                      <a:pt x="551" y="389"/>
                      <a:pt x="547" y="255"/>
                      <a:pt x="520" y="182"/>
                    </a:cubicBezTo>
                    <a:cubicBezTo>
                      <a:pt x="493" y="109"/>
                      <a:pt x="423" y="52"/>
                      <a:pt x="364" y="26"/>
                    </a:cubicBezTo>
                    <a:cubicBezTo>
                      <a:pt x="305" y="0"/>
                      <a:pt x="207" y="26"/>
                      <a:pt x="166" y="26"/>
                    </a:cubicBezTo>
                    <a:close/>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23" name="Freeform 689"/>
              <p:cNvSpPr>
                <a:spLocks noChangeAspect="1"/>
              </p:cNvSpPr>
              <p:nvPr/>
            </p:nvSpPr>
            <p:spPr bwMode="auto">
              <a:xfrm>
                <a:off x="3674" y="1809"/>
                <a:ext cx="92" cy="124"/>
              </a:xfrm>
              <a:custGeom>
                <a:avLst/>
                <a:gdLst>
                  <a:gd name="T0" fmla="*/ 3 w 285"/>
                  <a:gd name="T1" fmla="*/ 0 h 383"/>
                  <a:gd name="T2" fmla="*/ 3 w 285"/>
                  <a:gd name="T3" fmla="*/ 2 h 383"/>
                  <a:gd name="T4" fmla="*/ 3 w 285"/>
                  <a:gd name="T5" fmla="*/ 4 h 383"/>
                  <a:gd name="T6" fmla="*/ 2 w 285"/>
                  <a:gd name="T7" fmla="*/ 4 h 383"/>
                  <a:gd name="T8" fmla="*/ 0 w 285"/>
                  <a:gd name="T9" fmla="*/ 4 h 383"/>
                  <a:gd name="T10" fmla="*/ 0 w 285"/>
                  <a:gd name="T11" fmla="*/ 2 h 383"/>
                  <a:gd name="T12" fmla="*/ 0 w 285"/>
                  <a:gd name="T13" fmla="*/ 0 h 383"/>
                  <a:gd name="T14" fmla="*/ 0 60000 65536"/>
                  <a:gd name="T15" fmla="*/ 0 60000 65536"/>
                  <a:gd name="T16" fmla="*/ 0 60000 65536"/>
                  <a:gd name="T17" fmla="*/ 0 60000 65536"/>
                  <a:gd name="T18" fmla="*/ 0 60000 65536"/>
                  <a:gd name="T19" fmla="*/ 0 60000 65536"/>
                  <a:gd name="T20" fmla="*/ 0 60000 65536"/>
                  <a:gd name="T21" fmla="*/ 0 w 285"/>
                  <a:gd name="T22" fmla="*/ 0 h 383"/>
                  <a:gd name="T23" fmla="*/ 285 w 285"/>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383">
                    <a:moveTo>
                      <a:pt x="283" y="3"/>
                    </a:moveTo>
                    <a:cubicBezTo>
                      <a:pt x="283" y="37"/>
                      <a:pt x="285" y="147"/>
                      <a:pt x="279" y="203"/>
                    </a:cubicBezTo>
                    <a:cubicBezTo>
                      <a:pt x="273" y="259"/>
                      <a:pt x="272" y="309"/>
                      <a:pt x="247" y="339"/>
                    </a:cubicBezTo>
                    <a:cubicBezTo>
                      <a:pt x="222" y="369"/>
                      <a:pt x="167" y="383"/>
                      <a:pt x="130" y="382"/>
                    </a:cubicBezTo>
                    <a:cubicBezTo>
                      <a:pt x="93" y="381"/>
                      <a:pt x="48" y="356"/>
                      <a:pt x="27" y="330"/>
                    </a:cubicBezTo>
                    <a:cubicBezTo>
                      <a:pt x="6" y="303"/>
                      <a:pt x="8" y="276"/>
                      <a:pt x="4" y="221"/>
                    </a:cubicBezTo>
                    <a:cubicBezTo>
                      <a:pt x="0" y="167"/>
                      <a:pt x="4" y="37"/>
                      <a:pt x="4" y="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6724" name="Group 690"/>
              <p:cNvGrpSpPr>
                <a:grpSpLocks noChangeAspect="1"/>
              </p:cNvGrpSpPr>
              <p:nvPr/>
            </p:nvGrpSpPr>
            <p:grpSpPr bwMode="auto">
              <a:xfrm>
                <a:off x="3819" y="1801"/>
                <a:ext cx="110" cy="132"/>
                <a:chOff x="906" y="2412"/>
                <a:chExt cx="552" cy="660"/>
              </a:xfrm>
            </p:grpSpPr>
            <p:sp>
              <p:nvSpPr>
                <p:cNvPr id="146740" name="Freeform 691"/>
                <p:cNvSpPr>
                  <a:spLocks noChangeAspect="1"/>
                </p:cNvSpPr>
                <p:nvPr/>
              </p:nvSpPr>
              <p:spPr bwMode="auto">
                <a:xfrm>
                  <a:off x="906" y="2418"/>
                  <a:ext cx="552" cy="1"/>
                </a:xfrm>
                <a:custGeom>
                  <a:avLst/>
                  <a:gdLst>
                    <a:gd name="T0" fmla="*/ 0 w 552"/>
                    <a:gd name="T1" fmla="*/ 0 h 1"/>
                    <a:gd name="T2" fmla="*/ 552 w 552"/>
                    <a:gd name="T3" fmla="*/ 0 h 1"/>
                    <a:gd name="T4" fmla="*/ 0 60000 65536"/>
                    <a:gd name="T5" fmla="*/ 0 60000 65536"/>
                    <a:gd name="T6" fmla="*/ 0 w 552"/>
                    <a:gd name="T7" fmla="*/ 0 h 1"/>
                    <a:gd name="T8" fmla="*/ 552 w 552"/>
                    <a:gd name="T9" fmla="*/ 1 h 1"/>
                  </a:gdLst>
                  <a:ahLst/>
                  <a:cxnLst>
                    <a:cxn ang="T4">
                      <a:pos x="T0" y="T1"/>
                    </a:cxn>
                    <a:cxn ang="T5">
                      <a:pos x="T2" y="T3"/>
                    </a:cxn>
                  </a:cxnLst>
                  <a:rect l="T6" t="T7" r="T8" b="T9"/>
                  <a:pathLst>
                    <a:path w="552" h="1">
                      <a:moveTo>
                        <a:pt x="0" y="0"/>
                      </a:moveTo>
                      <a:cubicBezTo>
                        <a:pt x="230" y="0"/>
                        <a:pt x="461" y="0"/>
                        <a:pt x="552" y="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41" name="Freeform 692"/>
                <p:cNvSpPr>
                  <a:spLocks noChangeAspect="1"/>
                </p:cNvSpPr>
                <p:nvPr/>
              </p:nvSpPr>
              <p:spPr bwMode="auto">
                <a:xfrm>
                  <a:off x="1176" y="2412"/>
                  <a:ext cx="1" cy="660"/>
                </a:xfrm>
                <a:custGeom>
                  <a:avLst/>
                  <a:gdLst>
                    <a:gd name="T0" fmla="*/ 0 w 1"/>
                    <a:gd name="T1" fmla="*/ 0 h 660"/>
                    <a:gd name="T2" fmla="*/ 0 w 1"/>
                    <a:gd name="T3" fmla="*/ 660 h 660"/>
                    <a:gd name="T4" fmla="*/ 0 60000 65536"/>
                    <a:gd name="T5" fmla="*/ 0 60000 65536"/>
                    <a:gd name="T6" fmla="*/ 0 w 1"/>
                    <a:gd name="T7" fmla="*/ 0 h 660"/>
                    <a:gd name="T8" fmla="*/ 1 w 1"/>
                    <a:gd name="T9" fmla="*/ 660 h 660"/>
                  </a:gdLst>
                  <a:ahLst/>
                  <a:cxnLst>
                    <a:cxn ang="T4">
                      <a:pos x="T0" y="T1"/>
                    </a:cxn>
                    <a:cxn ang="T5">
                      <a:pos x="T2" y="T3"/>
                    </a:cxn>
                  </a:cxnLst>
                  <a:rect l="T6" t="T7" r="T8" b="T9"/>
                  <a:pathLst>
                    <a:path w="1" h="660">
                      <a:moveTo>
                        <a:pt x="0" y="0"/>
                      </a:moveTo>
                      <a:cubicBezTo>
                        <a:pt x="0" y="275"/>
                        <a:pt x="0" y="550"/>
                        <a:pt x="0" y="66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6725" name="Group 693"/>
              <p:cNvGrpSpPr>
                <a:grpSpLocks noChangeAspect="1"/>
              </p:cNvGrpSpPr>
              <p:nvPr/>
            </p:nvGrpSpPr>
            <p:grpSpPr bwMode="auto">
              <a:xfrm>
                <a:off x="3979" y="1806"/>
                <a:ext cx="94" cy="127"/>
                <a:chOff x="4991" y="1343"/>
                <a:chExt cx="456" cy="618"/>
              </a:xfrm>
            </p:grpSpPr>
            <p:sp>
              <p:nvSpPr>
                <p:cNvPr id="146737" name="Line 694"/>
                <p:cNvSpPr>
                  <a:spLocks noChangeAspect="1" noChangeShapeType="1"/>
                </p:cNvSpPr>
                <p:nvPr/>
              </p:nvSpPr>
              <p:spPr bwMode="auto">
                <a:xfrm>
                  <a:off x="4991" y="1343"/>
                  <a:ext cx="0" cy="618"/>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738" name="Line 695"/>
                <p:cNvSpPr>
                  <a:spLocks noChangeAspect="1" noChangeShapeType="1"/>
                </p:cNvSpPr>
                <p:nvPr/>
              </p:nvSpPr>
              <p:spPr bwMode="auto">
                <a:xfrm>
                  <a:off x="5441" y="1343"/>
                  <a:ext cx="0" cy="618"/>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739" name="Line 696"/>
                <p:cNvSpPr>
                  <a:spLocks noChangeAspect="1" noChangeShapeType="1"/>
                </p:cNvSpPr>
                <p:nvPr/>
              </p:nvSpPr>
              <p:spPr bwMode="auto">
                <a:xfrm>
                  <a:off x="4991" y="1631"/>
                  <a:ext cx="456" cy="0"/>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6726" name="Group 697"/>
              <p:cNvGrpSpPr>
                <a:grpSpLocks noChangeAspect="1"/>
              </p:cNvGrpSpPr>
              <p:nvPr/>
            </p:nvGrpSpPr>
            <p:grpSpPr bwMode="auto">
              <a:xfrm>
                <a:off x="4124" y="1806"/>
                <a:ext cx="87" cy="127"/>
                <a:chOff x="3017" y="1343"/>
                <a:chExt cx="420" cy="612"/>
              </a:xfrm>
            </p:grpSpPr>
            <p:sp>
              <p:nvSpPr>
                <p:cNvPr id="146735" name="Freeform 698"/>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36" name="Line 699"/>
                <p:cNvSpPr>
                  <a:spLocks noChangeAspect="1" noChangeShapeType="1"/>
                </p:cNvSpPr>
                <p:nvPr/>
              </p:nvSpPr>
              <p:spPr bwMode="auto">
                <a:xfrm>
                  <a:off x="3017" y="1637"/>
                  <a:ext cx="378" cy="0"/>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6727" name="Freeform 700"/>
              <p:cNvSpPr>
                <a:spLocks noChangeAspect="1"/>
              </p:cNvSpPr>
              <p:nvPr/>
            </p:nvSpPr>
            <p:spPr bwMode="auto">
              <a:xfrm>
                <a:off x="4262" y="1798"/>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28" name="Freeform 701"/>
              <p:cNvSpPr>
                <a:spLocks noChangeAspect="1"/>
              </p:cNvSpPr>
              <p:nvPr/>
            </p:nvSpPr>
            <p:spPr bwMode="auto">
              <a:xfrm>
                <a:off x="4411" y="1803"/>
                <a:ext cx="81" cy="130"/>
              </a:xfrm>
              <a:custGeom>
                <a:avLst/>
                <a:gdLst>
                  <a:gd name="T0" fmla="*/ 0 w 426"/>
                  <a:gd name="T1" fmla="*/ 1 h 684"/>
                  <a:gd name="T2" fmla="*/ 0 w 426"/>
                  <a:gd name="T3" fmla="*/ 0 h 684"/>
                  <a:gd name="T4" fmla="*/ 1 w 426"/>
                  <a:gd name="T5" fmla="*/ 1 h 684"/>
                  <a:gd name="T6" fmla="*/ 1 w 426"/>
                  <a:gd name="T7" fmla="*/ 0 h 684"/>
                  <a:gd name="T8" fmla="*/ 0 60000 65536"/>
                  <a:gd name="T9" fmla="*/ 0 60000 65536"/>
                  <a:gd name="T10" fmla="*/ 0 60000 65536"/>
                  <a:gd name="T11" fmla="*/ 0 60000 65536"/>
                  <a:gd name="T12" fmla="*/ 0 w 426"/>
                  <a:gd name="T13" fmla="*/ 0 h 684"/>
                  <a:gd name="T14" fmla="*/ 426 w 426"/>
                  <a:gd name="T15" fmla="*/ 684 h 684"/>
                </a:gdLst>
                <a:ahLst/>
                <a:cxnLst>
                  <a:cxn ang="T8">
                    <a:pos x="T0" y="T1"/>
                  </a:cxn>
                  <a:cxn ang="T9">
                    <a:pos x="T2" y="T3"/>
                  </a:cxn>
                  <a:cxn ang="T10">
                    <a:pos x="T4" y="T5"/>
                  </a:cxn>
                  <a:cxn ang="T11">
                    <a:pos x="T6" y="T7"/>
                  </a:cxn>
                </a:cxnLst>
                <a:rect l="T12" t="T13" r="T14" b="T15"/>
                <a:pathLst>
                  <a:path w="426" h="684">
                    <a:moveTo>
                      <a:pt x="0" y="684"/>
                    </a:moveTo>
                    <a:lnTo>
                      <a:pt x="0" y="6"/>
                    </a:lnTo>
                    <a:lnTo>
                      <a:pt x="426" y="672"/>
                    </a:lnTo>
                    <a:lnTo>
                      <a:pt x="426" y="0"/>
                    </a:ln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29" name="Freeform 702"/>
              <p:cNvSpPr>
                <a:spLocks noChangeAspect="1"/>
              </p:cNvSpPr>
              <p:nvPr/>
            </p:nvSpPr>
            <p:spPr bwMode="auto">
              <a:xfrm>
                <a:off x="4675" y="1806"/>
                <a:ext cx="92" cy="127"/>
              </a:xfrm>
              <a:custGeom>
                <a:avLst/>
                <a:gdLst>
                  <a:gd name="T0" fmla="*/ 0 w 442"/>
                  <a:gd name="T1" fmla="*/ 0 h 612"/>
                  <a:gd name="T2" fmla="*/ 0 w 442"/>
                  <a:gd name="T3" fmla="*/ 1 h 612"/>
                  <a:gd name="T4" fmla="*/ 0 w 442"/>
                  <a:gd name="T5" fmla="*/ 1 h 612"/>
                  <a:gd name="T6" fmla="*/ 1 w 442"/>
                  <a:gd name="T7" fmla="*/ 1 h 612"/>
                  <a:gd name="T8" fmla="*/ 1 w 442"/>
                  <a:gd name="T9" fmla="*/ 1 h 612"/>
                  <a:gd name="T10" fmla="*/ 0 w 442"/>
                  <a:gd name="T11" fmla="*/ 1 h 612"/>
                  <a:gd name="T12" fmla="*/ 0 w 442"/>
                  <a:gd name="T13" fmla="*/ 0 h 612"/>
                  <a:gd name="T14" fmla="*/ 0 w 442"/>
                  <a:gd name="T15" fmla="*/ 0 h 612"/>
                  <a:gd name="T16" fmla="*/ 1 w 442"/>
                  <a:gd name="T17" fmla="*/ 0 h 612"/>
                  <a:gd name="T18" fmla="*/ 1 w 442"/>
                  <a:gd name="T19" fmla="*/ 0 h 612"/>
                  <a:gd name="T20" fmla="*/ 0 w 442"/>
                  <a:gd name="T21" fmla="*/ 0 h 612"/>
                  <a:gd name="T22" fmla="*/ 0 w 442"/>
                  <a:gd name="T23" fmla="*/ 0 h 6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2"/>
                  <a:gd name="T37" fmla="*/ 0 h 612"/>
                  <a:gd name="T38" fmla="*/ 442 w 442"/>
                  <a:gd name="T39" fmla="*/ 612 h 6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2" h="612">
                    <a:moveTo>
                      <a:pt x="0" y="0"/>
                    </a:moveTo>
                    <a:lnTo>
                      <a:pt x="0" y="612"/>
                    </a:lnTo>
                    <a:lnTo>
                      <a:pt x="288" y="612"/>
                    </a:lnTo>
                    <a:cubicBezTo>
                      <a:pt x="356" y="602"/>
                      <a:pt x="386" y="589"/>
                      <a:pt x="408" y="552"/>
                    </a:cubicBezTo>
                    <a:cubicBezTo>
                      <a:pt x="430" y="515"/>
                      <a:pt x="442" y="433"/>
                      <a:pt x="420" y="390"/>
                    </a:cubicBezTo>
                    <a:cubicBezTo>
                      <a:pt x="398" y="347"/>
                      <a:pt x="346" y="311"/>
                      <a:pt x="276" y="294"/>
                    </a:cubicBezTo>
                    <a:lnTo>
                      <a:pt x="0" y="288"/>
                    </a:lnTo>
                    <a:lnTo>
                      <a:pt x="288" y="288"/>
                    </a:lnTo>
                    <a:cubicBezTo>
                      <a:pt x="355" y="269"/>
                      <a:pt x="387" y="213"/>
                      <a:pt x="402" y="174"/>
                    </a:cubicBezTo>
                    <a:cubicBezTo>
                      <a:pt x="417" y="135"/>
                      <a:pt x="403" y="83"/>
                      <a:pt x="378" y="54"/>
                    </a:cubicBezTo>
                    <a:cubicBezTo>
                      <a:pt x="353" y="25"/>
                      <a:pt x="315" y="9"/>
                      <a:pt x="252" y="0"/>
                    </a:cubicBezTo>
                    <a:lnTo>
                      <a:pt x="0" y="0"/>
                    </a:lnTo>
                    <a:close/>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30" name="Freeform 703"/>
              <p:cNvSpPr>
                <a:spLocks noChangeAspect="1"/>
              </p:cNvSpPr>
              <p:nvPr/>
            </p:nvSpPr>
            <p:spPr bwMode="auto">
              <a:xfrm>
                <a:off x="4805" y="1799"/>
                <a:ext cx="86" cy="134"/>
              </a:xfrm>
              <a:custGeom>
                <a:avLst/>
                <a:gdLst>
                  <a:gd name="T0" fmla="*/ 0 w 420"/>
                  <a:gd name="T1" fmla="*/ 0 h 654"/>
                  <a:gd name="T2" fmla="*/ 0 w 420"/>
                  <a:gd name="T3" fmla="*/ 1 h 654"/>
                  <a:gd name="T4" fmla="*/ 1 w 420"/>
                  <a:gd name="T5" fmla="*/ 1 h 654"/>
                  <a:gd name="T6" fmla="*/ 0 60000 65536"/>
                  <a:gd name="T7" fmla="*/ 0 60000 65536"/>
                  <a:gd name="T8" fmla="*/ 0 60000 65536"/>
                  <a:gd name="T9" fmla="*/ 0 w 420"/>
                  <a:gd name="T10" fmla="*/ 0 h 654"/>
                  <a:gd name="T11" fmla="*/ 420 w 420"/>
                  <a:gd name="T12" fmla="*/ 654 h 654"/>
                </a:gdLst>
                <a:ahLst/>
                <a:cxnLst>
                  <a:cxn ang="T6">
                    <a:pos x="T0" y="T1"/>
                  </a:cxn>
                  <a:cxn ang="T7">
                    <a:pos x="T2" y="T3"/>
                  </a:cxn>
                  <a:cxn ang="T8">
                    <a:pos x="T4" y="T5"/>
                  </a:cxn>
                </a:cxnLst>
                <a:rect l="T9" t="T10" r="T11" b="T12"/>
                <a:pathLst>
                  <a:path w="420" h="654">
                    <a:moveTo>
                      <a:pt x="0" y="0"/>
                    </a:moveTo>
                    <a:lnTo>
                      <a:pt x="0" y="654"/>
                    </a:lnTo>
                    <a:lnTo>
                      <a:pt x="420" y="654"/>
                    </a:ln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31" name="Freeform 704"/>
              <p:cNvSpPr>
                <a:spLocks noChangeAspect="1"/>
              </p:cNvSpPr>
              <p:nvPr/>
            </p:nvSpPr>
            <p:spPr bwMode="auto">
              <a:xfrm>
                <a:off x="4929" y="1802"/>
                <a:ext cx="109" cy="131"/>
              </a:xfrm>
              <a:custGeom>
                <a:avLst/>
                <a:gdLst>
                  <a:gd name="T0" fmla="*/ 0 w 551"/>
                  <a:gd name="T1" fmla="*/ 0 h 660"/>
                  <a:gd name="T2" fmla="*/ 0 w 551"/>
                  <a:gd name="T3" fmla="*/ 0 h 660"/>
                  <a:gd name="T4" fmla="*/ 0 w 551"/>
                  <a:gd name="T5" fmla="*/ 1 h 660"/>
                  <a:gd name="T6" fmla="*/ 0 w 551"/>
                  <a:gd name="T7" fmla="*/ 1 h 660"/>
                  <a:gd name="T8" fmla="*/ 1 w 551"/>
                  <a:gd name="T9" fmla="*/ 1 h 660"/>
                  <a:gd name="T10" fmla="*/ 1 w 551"/>
                  <a:gd name="T11" fmla="*/ 1 h 660"/>
                  <a:gd name="T12" fmla="*/ 1 w 551"/>
                  <a:gd name="T13" fmla="*/ 0 h 660"/>
                  <a:gd name="T14" fmla="*/ 1 w 551"/>
                  <a:gd name="T15" fmla="*/ 0 h 660"/>
                  <a:gd name="T16" fmla="*/ 0 w 551"/>
                  <a:gd name="T17" fmla="*/ 0 h 6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1"/>
                  <a:gd name="T28" fmla="*/ 0 h 660"/>
                  <a:gd name="T29" fmla="*/ 551 w 551"/>
                  <a:gd name="T30" fmla="*/ 660 h 6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1" h="660">
                    <a:moveTo>
                      <a:pt x="166" y="26"/>
                    </a:moveTo>
                    <a:cubicBezTo>
                      <a:pt x="110" y="58"/>
                      <a:pt x="44" y="142"/>
                      <a:pt x="22" y="218"/>
                    </a:cubicBezTo>
                    <a:cubicBezTo>
                      <a:pt x="0" y="294"/>
                      <a:pt x="9" y="413"/>
                      <a:pt x="34" y="482"/>
                    </a:cubicBezTo>
                    <a:cubicBezTo>
                      <a:pt x="59" y="551"/>
                      <a:pt x="116" y="607"/>
                      <a:pt x="172" y="632"/>
                    </a:cubicBezTo>
                    <a:cubicBezTo>
                      <a:pt x="228" y="657"/>
                      <a:pt x="311" y="660"/>
                      <a:pt x="370" y="632"/>
                    </a:cubicBezTo>
                    <a:cubicBezTo>
                      <a:pt x="429" y="604"/>
                      <a:pt x="501" y="539"/>
                      <a:pt x="526" y="464"/>
                    </a:cubicBezTo>
                    <a:cubicBezTo>
                      <a:pt x="551" y="389"/>
                      <a:pt x="547" y="255"/>
                      <a:pt x="520" y="182"/>
                    </a:cubicBezTo>
                    <a:cubicBezTo>
                      <a:pt x="493" y="109"/>
                      <a:pt x="423" y="52"/>
                      <a:pt x="364" y="26"/>
                    </a:cubicBezTo>
                    <a:cubicBezTo>
                      <a:pt x="305" y="0"/>
                      <a:pt x="207" y="26"/>
                      <a:pt x="166" y="26"/>
                    </a:cubicBezTo>
                    <a:close/>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6732" name="Group 705"/>
              <p:cNvGrpSpPr>
                <a:grpSpLocks noChangeAspect="1"/>
              </p:cNvGrpSpPr>
              <p:nvPr/>
            </p:nvGrpSpPr>
            <p:grpSpPr bwMode="auto">
              <a:xfrm>
                <a:off x="5076" y="1801"/>
                <a:ext cx="110" cy="132"/>
                <a:chOff x="906" y="2412"/>
                <a:chExt cx="552" cy="660"/>
              </a:xfrm>
            </p:grpSpPr>
            <p:sp>
              <p:nvSpPr>
                <p:cNvPr id="146733" name="Freeform 706"/>
                <p:cNvSpPr>
                  <a:spLocks noChangeAspect="1"/>
                </p:cNvSpPr>
                <p:nvPr/>
              </p:nvSpPr>
              <p:spPr bwMode="auto">
                <a:xfrm>
                  <a:off x="906" y="2418"/>
                  <a:ext cx="552" cy="1"/>
                </a:xfrm>
                <a:custGeom>
                  <a:avLst/>
                  <a:gdLst>
                    <a:gd name="T0" fmla="*/ 0 w 552"/>
                    <a:gd name="T1" fmla="*/ 0 h 1"/>
                    <a:gd name="T2" fmla="*/ 552 w 552"/>
                    <a:gd name="T3" fmla="*/ 0 h 1"/>
                    <a:gd name="T4" fmla="*/ 0 60000 65536"/>
                    <a:gd name="T5" fmla="*/ 0 60000 65536"/>
                    <a:gd name="T6" fmla="*/ 0 w 552"/>
                    <a:gd name="T7" fmla="*/ 0 h 1"/>
                    <a:gd name="T8" fmla="*/ 552 w 552"/>
                    <a:gd name="T9" fmla="*/ 1 h 1"/>
                  </a:gdLst>
                  <a:ahLst/>
                  <a:cxnLst>
                    <a:cxn ang="T4">
                      <a:pos x="T0" y="T1"/>
                    </a:cxn>
                    <a:cxn ang="T5">
                      <a:pos x="T2" y="T3"/>
                    </a:cxn>
                  </a:cxnLst>
                  <a:rect l="T6" t="T7" r="T8" b="T9"/>
                  <a:pathLst>
                    <a:path w="552" h="1">
                      <a:moveTo>
                        <a:pt x="0" y="0"/>
                      </a:moveTo>
                      <a:cubicBezTo>
                        <a:pt x="230" y="0"/>
                        <a:pt x="461" y="0"/>
                        <a:pt x="552" y="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34" name="Freeform 707"/>
                <p:cNvSpPr>
                  <a:spLocks noChangeAspect="1"/>
                </p:cNvSpPr>
                <p:nvPr/>
              </p:nvSpPr>
              <p:spPr bwMode="auto">
                <a:xfrm>
                  <a:off x="1176" y="2412"/>
                  <a:ext cx="1" cy="660"/>
                </a:xfrm>
                <a:custGeom>
                  <a:avLst/>
                  <a:gdLst>
                    <a:gd name="T0" fmla="*/ 0 w 1"/>
                    <a:gd name="T1" fmla="*/ 0 h 660"/>
                    <a:gd name="T2" fmla="*/ 0 w 1"/>
                    <a:gd name="T3" fmla="*/ 660 h 660"/>
                    <a:gd name="T4" fmla="*/ 0 60000 65536"/>
                    <a:gd name="T5" fmla="*/ 0 60000 65536"/>
                    <a:gd name="T6" fmla="*/ 0 w 1"/>
                    <a:gd name="T7" fmla="*/ 0 h 660"/>
                    <a:gd name="T8" fmla="*/ 1 w 1"/>
                    <a:gd name="T9" fmla="*/ 660 h 660"/>
                  </a:gdLst>
                  <a:ahLst/>
                  <a:cxnLst>
                    <a:cxn ang="T4">
                      <a:pos x="T0" y="T1"/>
                    </a:cxn>
                    <a:cxn ang="T5">
                      <a:pos x="T2" y="T3"/>
                    </a:cxn>
                  </a:cxnLst>
                  <a:rect l="T6" t="T7" r="T8" b="T9"/>
                  <a:pathLst>
                    <a:path w="1" h="660">
                      <a:moveTo>
                        <a:pt x="0" y="0"/>
                      </a:moveTo>
                      <a:cubicBezTo>
                        <a:pt x="0" y="275"/>
                        <a:pt x="0" y="550"/>
                        <a:pt x="0" y="66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146720" name="Freeform 708"/>
            <p:cNvSpPr/>
            <p:nvPr/>
          </p:nvSpPr>
          <p:spPr bwMode="auto">
            <a:xfrm>
              <a:off x="4200" y="2327"/>
              <a:ext cx="196" cy="27"/>
            </a:xfrm>
            <a:custGeom>
              <a:avLst/>
              <a:gdLst>
                <a:gd name="T0" fmla="*/ 5 w 196"/>
                <a:gd name="T1" fmla="*/ 0 h 65"/>
                <a:gd name="T2" fmla="*/ 14 w 196"/>
                <a:gd name="T3" fmla="*/ 2 h 65"/>
                <a:gd name="T4" fmla="*/ 91 w 196"/>
                <a:gd name="T5" fmla="*/ 2 h 65"/>
                <a:gd name="T6" fmla="*/ 180 w 196"/>
                <a:gd name="T7" fmla="*/ 2 h 65"/>
                <a:gd name="T8" fmla="*/ 185 w 196"/>
                <a:gd name="T9" fmla="*/ 0 h 65"/>
                <a:gd name="T10" fmla="*/ 167 w 196"/>
                <a:gd name="T11" fmla="*/ 1 h 65"/>
                <a:gd name="T12" fmla="*/ 27 w 196"/>
                <a:gd name="T13" fmla="*/ 1 h 65"/>
                <a:gd name="T14" fmla="*/ 5 w 196"/>
                <a:gd name="T15" fmla="*/ 0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1"/>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grpSp>
        <p:nvGrpSpPr>
          <p:cNvPr id="146462" name="Group 709"/>
          <p:cNvGrpSpPr/>
          <p:nvPr/>
        </p:nvGrpSpPr>
        <p:grpSpPr bwMode="auto">
          <a:xfrm>
            <a:off x="6761163" y="6146800"/>
            <a:ext cx="1901825" cy="361950"/>
            <a:chOff x="4259" y="3872"/>
            <a:chExt cx="1198" cy="228"/>
          </a:xfrm>
        </p:grpSpPr>
        <p:grpSp>
          <p:nvGrpSpPr>
            <p:cNvPr id="146594" name="Group 710"/>
            <p:cNvGrpSpPr/>
            <p:nvPr/>
          </p:nvGrpSpPr>
          <p:grpSpPr bwMode="auto">
            <a:xfrm>
              <a:off x="4259" y="3948"/>
              <a:ext cx="1139" cy="69"/>
              <a:chOff x="4313" y="4088"/>
              <a:chExt cx="1139" cy="69"/>
            </a:xfrm>
          </p:grpSpPr>
          <p:sp>
            <p:nvSpPr>
              <p:cNvPr id="146601" name="Freeform 711"/>
              <p:cNvSpPr>
                <a:spLocks noChangeAspect="1"/>
              </p:cNvSpPr>
              <p:nvPr/>
            </p:nvSpPr>
            <p:spPr bwMode="auto">
              <a:xfrm>
                <a:off x="4455"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2" name="Freeform 712"/>
              <p:cNvSpPr>
                <a:spLocks noChangeAspect="1"/>
              </p:cNvSpPr>
              <p:nvPr/>
            </p:nvSpPr>
            <p:spPr bwMode="auto">
              <a:xfrm>
                <a:off x="4414"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3" name="Freeform 713"/>
              <p:cNvSpPr>
                <a:spLocks noChangeAspect="1"/>
              </p:cNvSpPr>
              <p:nvPr/>
            </p:nvSpPr>
            <p:spPr bwMode="auto">
              <a:xfrm>
                <a:off x="4597"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4" name="Freeform 714"/>
              <p:cNvSpPr>
                <a:spLocks noChangeAspect="1"/>
              </p:cNvSpPr>
              <p:nvPr/>
            </p:nvSpPr>
            <p:spPr bwMode="auto">
              <a:xfrm>
                <a:off x="4556"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5" name="Freeform 715"/>
              <p:cNvSpPr>
                <a:spLocks noChangeAspect="1"/>
              </p:cNvSpPr>
              <p:nvPr/>
            </p:nvSpPr>
            <p:spPr bwMode="auto">
              <a:xfrm>
                <a:off x="4739"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6" name="Freeform 716"/>
              <p:cNvSpPr>
                <a:spLocks noChangeAspect="1"/>
              </p:cNvSpPr>
              <p:nvPr/>
            </p:nvSpPr>
            <p:spPr bwMode="auto">
              <a:xfrm>
                <a:off x="4881"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7" name="Freeform 717"/>
              <p:cNvSpPr>
                <a:spLocks noChangeAspect="1"/>
              </p:cNvSpPr>
              <p:nvPr/>
            </p:nvSpPr>
            <p:spPr bwMode="auto">
              <a:xfrm>
                <a:off x="502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8" name="Freeform 718"/>
              <p:cNvSpPr>
                <a:spLocks noChangeAspect="1"/>
              </p:cNvSpPr>
              <p:nvPr/>
            </p:nvSpPr>
            <p:spPr bwMode="auto">
              <a:xfrm>
                <a:off x="5165"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9" name="Freeform 719"/>
              <p:cNvSpPr>
                <a:spLocks noChangeAspect="1"/>
              </p:cNvSpPr>
              <p:nvPr/>
            </p:nvSpPr>
            <p:spPr bwMode="auto">
              <a:xfrm>
                <a:off x="5307"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10" name="Freeform 720"/>
              <p:cNvSpPr>
                <a:spLocks noChangeAspect="1"/>
              </p:cNvSpPr>
              <p:nvPr/>
            </p:nvSpPr>
            <p:spPr bwMode="auto">
              <a:xfrm>
                <a:off x="431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11" name="AutoShape 721"/>
              <p:cNvSpPr>
                <a:spLocks noChangeAspect="1" noChangeArrowheads="1"/>
              </p:cNvSpPr>
              <p:nvPr/>
            </p:nvSpPr>
            <p:spPr bwMode="auto">
              <a:xfrm>
                <a:off x="4383" y="4089"/>
                <a:ext cx="5"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2" name="AutoShape 722"/>
              <p:cNvSpPr>
                <a:spLocks noChangeAspect="1" noChangeArrowheads="1"/>
              </p:cNvSpPr>
              <p:nvPr/>
            </p:nvSpPr>
            <p:spPr bwMode="auto">
              <a:xfrm>
                <a:off x="4383" y="4111"/>
                <a:ext cx="5"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3" name="AutoShape 723"/>
              <p:cNvSpPr>
                <a:spLocks noChangeAspect="1" noChangeArrowheads="1"/>
              </p:cNvSpPr>
              <p:nvPr/>
            </p:nvSpPr>
            <p:spPr bwMode="auto">
              <a:xfrm>
                <a:off x="4469" y="4097"/>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4" name="AutoShape 724"/>
              <p:cNvSpPr>
                <a:spLocks noChangeAspect="1" noChangeArrowheads="1"/>
              </p:cNvSpPr>
              <p:nvPr/>
            </p:nvSpPr>
            <p:spPr bwMode="auto">
              <a:xfrm>
                <a:off x="4469" y="4124"/>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5" name="AutoShape 725"/>
              <p:cNvSpPr>
                <a:spLocks noChangeAspect="1" noChangeArrowheads="1"/>
              </p:cNvSpPr>
              <p:nvPr/>
            </p:nvSpPr>
            <p:spPr bwMode="auto">
              <a:xfrm>
                <a:off x="4399" y="4123"/>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6" name="AutoShape 726"/>
              <p:cNvSpPr>
                <a:spLocks noChangeAspect="1" noChangeArrowheads="1"/>
              </p:cNvSpPr>
              <p:nvPr/>
            </p:nvSpPr>
            <p:spPr bwMode="auto">
              <a:xfrm>
                <a:off x="4399" y="409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7" name="AutoShape 727"/>
              <p:cNvSpPr>
                <a:spLocks noChangeAspect="1" noChangeArrowheads="1"/>
              </p:cNvSpPr>
              <p:nvPr/>
            </p:nvSpPr>
            <p:spPr bwMode="auto">
              <a:xfrm>
                <a:off x="4485" y="4090"/>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8" name="AutoShape 728"/>
              <p:cNvSpPr>
                <a:spLocks noChangeAspect="1" noChangeArrowheads="1"/>
              </p:cNvSpPr>
              <p:nvPr/>
            </p:nvSpPr>
            <p:spPr bwMode="auto">
              <a:xfrm>
                <a:off x="4485" y="4110"/>
                <a:ext cx="4"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9" name="AutoShape 729"/>
              <p:cNvSpPr>
                <a:spLocks noChangeAspect="1" noChangeArrowheads="1"/>
              </p:cNvSpPr>
              <p:nvPr/>
            </p:nvSpPr>
            <p:spPr bwMode="auto">
              <a:xfrm>
                <a:off x="4414" y="4135"/>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0" name="AutoShape 730"/>
              <p:cNvSpPr>
                <a:spLocks noChangeAspect="1" noChangeArrowheads="1"/>
              </p:cNvSpPr>
              <p:nvPr/>
            </p:nvSpPr>
            <p:spPr bwMode="auto">
              <a:xfrm>
                <a:off x="4414" y="411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1" name="AutoShape 731"/>
              <p:cNvSpPr>
                <a:spLocks noChangeAspect="1" noChangeArrowheads="1"/>
              </p:cNvSpPr>
              <p:nvPr/>
            </p:nvSpPr>
            <p:spPr bwMode="auto">
              <a:xfrm>
                <a:off x="4453" y="4113"/>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2" name="AutoShape 732"/>
              <p:cNvSpPr>
                <a:spLocks noChangeAspect="1" noChangeArrowheads="1"/>
              </p:cNvSpPr>
              <p:nvPr/>
            </p:nvSpPr>
            <p:spPr bwMode="auto">
              <a:xfrm>
                <a:off x="4453" y="413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3" name="AutoShape 733"/>
              <p:cNvSpPr>
                <a:spLocks noChangeAspect="1" noChangeArrowheads="1"/>
              </p:cNvSpPr>
              <p:nvPr/>
            </p:nvSpPr>
            <p:spPr bwMode="auto">
              <a:xfrm>
                <a:off x="4437" y="4144"/>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4" name="AutoShape 734"/>
              <p:cNvSpPr>
                <a:spLocks noChangeAspect="1" noChangeArrowheads="1"/>
              </p:cNvSpPr>
              <p:nvPr/>
            </p:nvSpPr>
            <p:spPr bwMode="auto">
              <a:xfrm>
                <a:off x="4437" y="4136"/>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5" name="AutoShape 735"/>
              <p:cNvSpPr>
                <a:spLocks noChangeAspect="1" noChangeArrowheads="1"/>
              </p:cNvSpPr>
              <p:nvPr/>
            </p:nvSpPr>
            <p:spPr bwMode="auto">
              <a:xfrm>
                <a:off x="4535" y="411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6" name="AutoShape 736"/>
              <p:cNvSpPr>
                <a:spLocks noChangeAspect="1" noChangeArrowheads="1"/>
              </p:cNvSpPr>
              <p:nvPr/>
            </p:nvSpPr>
            <p:spPr bwMode="auto">
              <a:xfrm>
                <a:off x="4535" y="409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7" name="AutoShape 737"/>
              <p:cNvSpPr>
                <a:spLocks noChangeAspect="1" noChangeArrowheads="1"/>
              </p:cNvSpPr>
              <p:nvPr/>
            </p:nvSpPr>
            <p:spPr bwMode="auto">
              <a:xfrm>
                <a:off x="4552" y="4132"/>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8" name="AutoShape 738"/>
              <p:cNvSpPr>
                <a:spLocks noChangeAspect="1" noChangeArrowheads="1"/>
              </p:cNvSpPr>
              <p:nvPr/>
            </p:nvSpPr>
            <p:spPr bwMode="auto">
              <a:xfrm>
                <a:off x="4552" y="410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9" name="AutoShape 739"/>
              <p:cNvSpPr>
                <a:spLocks noChangeAspect="1" noChangeArrowheads="1"/>
              </p:cNvSpPr>
              <p:nvPr/>
            </p:nvSpPr>
            <p:spPr bwMode="auto">
              <a:xfrm>
                <a:off x="4498" y="409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0" name="AutoShape 740"/>
              <p:cNvSpPr>
                <a:spLocks noChangeAspect="1" noChangeArrowheads="1"/>
              </p:cNvSpPr>
              <p:nvPr/>
            </p:nvSpPr>
            <p:spPr bwMode="auto">
              <a:xfrm>
                <a:off x="4498" y="4102"/>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1" name="AutoShape 741"/>
              <p:cNvSpPr>
                <a:spLocks noChangeAspect="1" noChangeArrowheads="1"/>
              </p:cNvSpPr>
              <p:nvPr/>
            </p:nvSpPr>
            <p:spPr bwMode="auto">
              <a:xfrm>
                <a:off x="4519" y="4106"/>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2" name="AutoShape 742"/>
              <p:cNvSpPr>
                <a:spLocks noChangeAspect="1" noChangeArrowheads="1"/>
              </p:cNvSpPr>
              <p:nvPr/>
            </p:nvSpPr>
            <p:spPr bwMode="auto">
              <a:xfrm>
                <a:off x="4519" y="409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3" name="AutoShape 743"/>
              <p:cNvSpPr>
                <a:spLocks noChangeAspect="1" noChangeArrowheads="1"/>
              </p:cNvSpPr>
              <p:nvPr/>
            </p:nvSpPr>
            <p:spPr bwMode="auto">
              <a:xfrm>
                <a:off x="4568" y="4133"/>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4" name="AutoShape 744"/>
              <p:cNvSpPr>
                <a:spLocks noChangeAspect="1" noChangeArrowheads="1"/>
              </p:cNvSpPr>
              <p:nvPr/>
            </p:nvSpPr>
            <p:spPr bwMode="auto">
              <a:xfrm>
                <a:off x="4568" y="414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5" name="AutoShape 745"/>
              <p:cNvSpPr>
                <a:spLocks noChangeAspect="1" noChangeArrowheads="1"/>
              </p:cNvSpPr>
              <p:nvPr/>
            </p:nvSpPr>
            <p:spPr bwMode="auto">
              <a:xfrm flipV="1">
                <a:off x="4635" y="410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6" name="AutoShape 746"/>
              <p:cNvSpPr>
                <a:spLocks noChangeAspect="1" noChangeArrowheads="1"/>
              </p:cNvSpPr>
              <p:nvPr/>
            </p:nvSpPr>
            <p:spPr bwMode="auto">
              <a:xfrm>
                <a:off x="4621" y="4115"/>
                <a:ext cx="5"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7" name="AutoShape 747"/>
              <p:cNvSpPr>
                <a:spLocks noChangeAspect="1" noChangeArrowheads="1"/>
              </p:cNvSpPr>
              <p:nvPr/>
            </p:nvSpPr>
            <p:spPr bwMode="auto">
              <a:xfrm>
                <a:off x="4621" y="4090"/>
                <a:ext cx="5"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8" name="AutoShape 748"/>
              <p:cNvSpPr>
                <a:spLocks noChangeAspect="1" noChangeArrowheads="1"/>
              </p:cNvSpPr>
              <p:nvPr/>
            </p:nvSpPr>
            <p:spPr bwMode="auto">
              <a:xfrm flipV="1">
                <a:off x="4604" y="4100"/>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9" name="AutoShape 749"/>
              <p:cNvSpPr>
                <a:spLocks noChangeAspect="1" noChangeArrowheads="1"/>
              </p:cNvSpPr>
              <p:nvPr/>
            </p:nvSpPr>
            <p:spPr bwMode="auto">
              <a:xfrm flipV="1">
                <a:off x="4604" y="4127"/>
                <a:ext cx="6"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0" name="AutoShape 750"/>
              <p:cNvSpPr>
                <a:spLocks noChangeAspect="1" noChangeArrowheads="1"/>
              </p:cNvSpPr>
              <p:nvPr/>
            </p:nvSpPr>
            <p:spPr bwMode="auto">
              <a:xfrm>
                <a:off x="4587" y="4141"/>
                <a:ext cx="5"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1" name="AutoShape 751"/>
              <p:cNvSpPr>
                <a:spLocks noChangeAspect="1" noChangeArrowheads="1"/>
              </p:cNvSpPr>
              <p:nvPr/>
            </p:nvSpPr>
            <p:spPr bwMode="auto">
              <a:xfrm>
                <a:off x="4587" y="4128"/>
                <a:ext cx="5"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2" name="AutoShape 752"/>
              <p:cNvSpPr>
                <a:spLocks noChangeAspect="1" noChangeArrowheads="1"/>
              </p:cNvSpPr>
              <p:nvPr/>
            </p:nvSpPr>
            <p:spPr bwMode="auto">
              <a:xfrm flipV="1">
                <a:off x="4689" y="4102"/>
                <a:ext cx="6"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3" name="AutoShape 753"/>
              <p:cNvSpPr>
                <a:spLocks noChangeAspect="1" noChangeArrowheads="1"/>
              </p:cNvSpPr>
              <p:nvPr/>
            </p:nvSpPr>
            <p:spPr bwMode="auto">
              <a:xfrm>
                <a:off x="4672" y="408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4" name="AutoShape 754"/>
              <p:cNvSpPr>
                <a:spLocks noChangeAspect="1" noChangeArrowheads="1"/>
              </p:cNvSpPr>
              <p:nvPr/>
            </p:nvSpPr>
            <p:spPr bwMode="auto">
              <a:xfrm>
                <a:off x="4658" y="4090"/>
                <a:ext cx="5"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5" name="AutoShape 755"/>
              <p:cNvSpPr>
                <a:spLocks noChangeAspect="1" noChangeArrowheads="1"/>
              </p:cNvSpPr>
              <p:nvPr/>
            </p:nvSpPr>
            <p:spPr bwMode="auto">
              <a:xfrm>
                <a:off x="4760" y="4119"/>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6" name="AutoShape 756"/>
              <p:cNvSpPr>
                <a:spLocks noChangeAspect="1" noChangeArrowheads="1"/>
              </p:cNvSpPr>
              <p:nvPr/>
            </p:nvSpPr>
            <p:spPr bwMode="auto">
              <a:xfrm>
                <a:off x="4740" y="4132"/>
                <a:ext cx="6"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7" name="AutoShape 757"/>
              <p:cNvSpPr>
                <a:spLocks noChangeAspect="1" noChangeArrowheads="1"/>
              </p:cNvSpPr>
              <p:nvPr/>
            </p:nvSpPr>
            <p:spPr bwMode="auto">
              <a:xfrm>
                <a:off x="4704" y="412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8" name="AutoShape 758"/>
              <p:cNvSpPr>
                <a:spLocks noChangeAspect="1" noChangeArrowheads="1"/>
              </p:cNvSpPr>
              <p:nvPr/>
            </p:nvSpPr>
            <p:spPr bwMode="auto">
              <a:xfrm flipV="1">
                <a:off x="4726" y="4131"/>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9" name="AutoShape 759"/>
              <p:cNvSpPr>
                <a:spLocks noChangeAspect="1" noChangeArrowheads="1"/>
              </p:cNvSpPr>
              <p:nvPr/>
            </p:nvSpPr>
            <p:spPr bwMode="auto">
              <a:xfrm flipV="1">
                <a:off x="4726" y="4142"/>
                <a:ext cx="5"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0" name="AutoShape 760"/>
              <p:cNvSpPr>
                <a:spLocks noChangeAspect="1" noChangeArrowheads="1"/>
              </p:cNvSpPr>
              <p:nvPr/>
            </p:nvSpPr>
            <p:spPr bwMode="auto">
              <a:xfrm>
                <a:off x="4774" y="4106"/>
                <a:ext cx="6"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1" name="AutoShape 761"/>
              <p:cNvSpPr>
                <a:spLocks noChangeAspect="1" noChangeArrowheads="1"/>
              </p:cNvSpPr>
              <p:nvPr/>
            </p:nvSpPr>
            <p:spPr bwMode="auto">
              <a:xfrm>
                <a:off x="4794" y="409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2" name="AutoShape 762"/>
              <p:cNvSpPr>
                <a:spLocks noChangeAspect="1" noChangeArrowheads="1"/>
              </p:cNvSpPr>
              <p:nvPr/>
            </p:nvSpPr>
            <p:spPr bwMode="auto">
              <a:xfrm>
                <a:off x="4826" y="409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3" name="AutoShape 763"/>
              <p:cNvSpPr>
                <a:spLocks noChangeAspect="1" noChangeArrowheads="1"/>
              </p:cNvSpPr>
              <p:nvPr/>
            </p:nvSpPr>
            <p:spPr bwMode="auto">
              <a:xfrm>
                <a:off x="4842" y="4117"/>
                <a:ext cx="6"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4" name="AutoShape 764"/>
              <p:cNvSpPr>
                <a:spLocks noChangeAspect="1" noChangeArrowheads="1"/>
              </p:cNvSpPr>
              <p:nvPr/>
            </p:nvSpPr>
            <p:spPr bwMode="auto">
              <a:xfrm>
                <a:off x="4810" y="409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5" name="AutoShape 765"/>
              <p:cNvSpPr>
                <a:spLocks noChangeAspect="1" noChangeArrowheads="1"/>
              </p:cNvSpPr>
              <p:nvPr/>
            </p:nvSpPr>
            <p:spPr bwMode="auto">
              <a:xfrm>
                <a:off x="4951" y="4089"/>
                <a:ext cx="6"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6" name="AutoShape 766"/>
              <p:cNvSpPr>
                <a:spLocks noChangeAspect="1" noChangeArrowheads="1"/>
              </p:cNvSpPr>
              <p:nvPr/>
            </p:nvSpPr>
            <p:spPr bwMode="auto">
              <a:xfrm>
                <a:off x="5038" y="412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7" name="AutoShape 767"/>
              <p:cNvSpPr>
                <a:spLocks noChangeAspect="1" noChangeArrowheads="1"/>
              </p:cNvSpPr>
              <p:nvPr/>
            </p:nvSpPr>
            <p:spPr bwMode="auto">
              <a:xfrm>
                <a:off x="4967" y="409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8" name="AutoShape 768"/>
              <p:cNvSpPr>
                <a:spLocks noChangeAspect="1" noChangeArrowheads="1"/>
              </p:cNvSpPr>
              <p:nvPr/>
            </p:nvSpPr>
            <p:spPr bwMode="auto">
              <a:xfrm>
                <a:off x="5054" y="4109"/>
                <a:ext cx="5"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9" name="AutoShape 769"/>
              <p:cNvSpPr>
                <a:spLocks noChangeAspect="1" noChangeArrowheads="1"/>
              </p:cNvSpPr>
              <p:nvPr/>
            </p:nvSpPr>
            <p:spPr bwMode="auto">
              <a:xfrm>
                <a:off x="4983" y="411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0" name="AutoShape 770"/>
              <p:cNvSpPr>
                <a:spLocks noChangeAspect="1" noChangeArrowheads="1"/>
              </p:cNvSpPr>
              <p:nvPr/>
            </p:nvSpPr>
            <p:spPr bwMode="auto">
              <a:xfrm>
                <a:off x="5022" y="413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1" name="AutoShape 771"/>
              <p:cNvSpPr>
                <a:spLocks noChangeAspect="1" noChangeArrowheads="1"/>
              </p:cNvSpPr>
              <p:nvPr/>
            </p:nvSpPr>
            <p:spPr bwMode="auto">
              <a:xfrm>
                <a:off x="5006" y="4144"/>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2" name="AutoShape 772"/>
              <p:cNvSpPr>
                <a:spLocks noChangeAspect="1" noChangeArrowheads="1"/>
              </p:cNvSpPr>
              <p:nvPr/>
            </p:nvSpPr>
            <p:spPr bwMode="auto">
              <a:xfrm>
                <a:off x="5006" y="4136"/>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3" name="AutoShape 773"/>
              <p:cNvSpPr>
                <a:spLocks noChangeAspect="1" noChangeArrowheads="1"/>
              </p:cNvSpPr>
              <p:nvPr/>
            </p:nvSpPr>
            <p:spPr bwMode="auto">
              <a:xfrm>
                <a:off x="5104" y="4092"/>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4" name="AutoShape 774"/>
              <p:cNvSpPr>
                <a:spLocks noChangeAspect="1" noChangeArrowheads="1"/>
              </p:cNvSpPr>
              <p:nvPr/>
            </p:nvSpPr>
            <p:spPr bwMode="auto">
              <a:xfrm>
                <a:off x="5120" y="410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5" name="AutoShape 775"/>
              <p:cNvSpPr>
                <a:spLocks noChangeAspect="1" noChangeArrowheads="1"/>
              </p:cNvSpPr>
              <p:nvPr/>
            </p:nvSpPr>
            <p:spPr bwMode="auto">
              <a:xfrm>
                <a:off x="5068" y="410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6" name="AutoShape 776"/>
              <p:cNvSpPr>
                <a:spLocks noChangeAspect="1" noChangeArrowheads="1"/>
              </p:cNvSpPr>
              <p:nvPr/>
            </p:nvSpPr>
            <p:spPr bwMode="auto">
              <a:xfrm>
                <a:off x="5087" y="409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7" name="AutoShape 777"/>
              <p:cNvSpPr>
                <a:spLocks noChangeAspect="1" noChangeArrowheads="1"/>
              </p:cNvSpPr>
              <p:nvPr/>
            </p:nvSpPr>
            <p:spPr bwMode="auto">
              <a:xfrm>
                <a:off x="5136" y="4133"/>
                <a:ext cx="6"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8" name="AutoShape 778"/>
              <p:cNvSpPr>
                <a:spLocks noChangeAspect="1" noChangeArrowheads="1"/>
              </p:cNvSpPr>
              <p:nvPr/>
            </p:nvSpPr>
            <p:spPr bwMode="auto">
              <a:xfrm>
                <a:off x="5136" y="4143"/>
                <a:ext cx="6"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9" name="AutoShape 779"/>
              <p:cNvSpPr>
                <a:spLocks noChangeAspect="1" noChangeArrowheads="1"/>
              </p:cNvSpPr>
              <p:nvPr/>
            </p:nvSpPr>
            <p:spPr bwMode="auto">
              <a:xfrm flipV="1">
                <a:off x="5203" y="410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0" name="AutoShape 780"/>
              <p:cNvSpPr>
                <a:spLocks noChangeAspect="1" noChangeArrowheads="1"/>
              </p:cNvSpPr>
              <p:nvPr/>
            </p:nvSpPr>
            <p:spPr bwMode="auto">
              <a:xfrm>
                <a:off x="5189" y="4115"/>
                <a:ext cx="6"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1" name="AutoShape 781"/>
              <p:cNvSpPr>
                <a:spLocks noChangeAspect="1" noChangeArrowheads="1"/>
              </p:cNvSpPr>
              <p:nvPr/>
            </p:nvSpPr>
            <p:spPr bwMode="auto">
              <a:xfrm flipV="1">
                <a:off x="5173" y="4127"/>
                <a:ext cx="5"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2" name="AutoShape 782"/>
              <p:cNvSpPr>
                <a:spLocks noChangeAspect="1" noChangeArrowheads="1"/>
              </p:cNvSpPr>
              <p:nvPr/>
            </p:nvSpPr>
            <p:spPr bwMode="auto">
              <a:xfrm>
                <a:off x="5157" y="4141"/>
                <a:ext cx="4"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3" name="AutoShape 783"/>
              <p:cNvSpPr>
                <a:spLocks noChangeAspect="1" noChangeArrowheads="1"/>
              </p:cNvSpPr>
              <p:nvPr/>
            </p:nvSpPr>
            <p:spPr bwMode="auto">
              <a:xfrm>
                <a:off x="5157" y="4128"/>
                <a:ext cx="4"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4" name="AutoShape 784"/>
              <p:cNvSpPr>
                <a:spLocks noChangeAspect="1" noChangeArrowheads="1"/>
              </p:cNvSpPr>
              <p:nvPr/>
            </p:nvSpPr>
            <p:spPr bwMode="auto">
              <a:xfrm flipV="1">
                <a:off x="5258" y="410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5" name="AutoShape 785"/>
              <p:cNvSpPr>
                <a:spLocks noChangeAspect="1" noChangeArrowheads="1"/>
              </p:cNvSpPr>
              <p:nvPr/>
            </p:nvSpPr>
            <p:spPr bwMode="auto">
              <a:xfrm>
                <a:off x="5240" y="408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6" name="AutoShape 786"/>
              <p:cNvSpPr>
                <a:spLocks noChangeAspect="1" noChangeArrowheads="1"/>
              </p:cNvSpPr>
              <p:nvPr/>
            </p:nvSpPr>
            <p:spPr bwMode="auto">
              <a:xfrm>
                <a:off x="5226" y="4090"/>
                <a:ext cx="6"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7" name="AutoShape 787"/>
              <p:cNvSpPr>
                <a:spLocks noChangeAspect="1" noChangeArrowheads="1"/>
              </p:cNvSpPr>
              <p:nvPr/>
            </p:nvSpPr>
            <p:spPr bwMode="auto">
              <a:xfrm>
                <a:off x="5327" y="411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8" name="AutoShape 788"/>
              <p:cNvSpPr>
                <a:spLocks noChangeAspect="1" noChangeArrowheads="1"/>
              </p:cNvSpPr>
              <p:nvPr/>
            </p:nvSpPr>
            <p:spPr bwMode="auto">
              <a:xfrm>
                <a:off x="5309" y="4132"/>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9" name="AutoShape 789"/>
              <p:cNvSpPr>
                <a:spLocks noChangeAspect="1" noChangeArrowheads="1"/>
              </p:cNvSpPr>
              <p:nvPr/>
            </p:nvSpPr>
            <p:spPr bwMode="auto">
              <a:xfrm>
                <a:off x="5272" y="412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0" name="AutoShape 790"/>
              <p:cNvSpPr>
                <a:spLocks noChangeAspect="1" noChangeArrowheads="1"/>
              </p:cNvSpPr>
              <p:nvPr/>
            </p:nvSpPr>
            <p:spPr bwMode="auto">
              <a:xfrm flipV="1">
                <a:off x="5293" y="4131"/>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1" name="AutoShape 791"/>
              <p:cNvSpPr>
                <a:spLocks noChangeAspect="1" noChangeArrowheads="1"/>
              </p:cNvSpPr>
              <p:nvPr/>
            </p:nvSpPr>
            <p:spPr bwMode="auto">
              <a:xfrm flipV="1">
                <a:off x="5293" y="4142"/>
                <a:ext cx="6"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2" name="AutoShape 792"/>
              <p:cNvSpPr>
                <a:spLocks noChangeAspect="1" noChangeArrowheads="1"/>
              </p:cNvSpPr>
              <p:nvPr/>
            </p:nvSpPr>
            <p:spPr bwMode="auto">
              <a:xfrm>
                <a:off x="5343" y="4106"/>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3" name="AutoShape 793"/>
              <p:cNvSpPr>
                <a:spLocks noChangeAspect="1" noChangeArrowheads="1"/>
              </p:cNvSpPr>
              <p:nvPr/>
            </p:nvSpPr>
            <p:spPr bwMode="auto">
              <a:xfrm>
                <a:off x="5362" y="409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4" name="AutoShape 794"/>
              <p:cNvSpPr>
                <a:spLocks noChangeAspect="1" noChangeArrowheads="1"/>
              </p:cNvSpPr>
              <p:nvPr/>
            </p:nvSpPr>
            <p:spPr bwMode="auto">
              <a:xfrm>
                <a:off x="5394" y="409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5" name="AutoShape 795"/>
              <p:cNvSpPr>
                <a:spLocks noChangeAspect="1" noChangeArrowheads="1"/>
              </p:cNvSpPr>
              <p:nvPr/>
            </p:nvSpPr>
            <p:spPr bwMode="auto">
              <a:xfrm>
                <a:off x="5411" y="4117"/>
                <a:ext cx="5"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6" name="AutoShape 796"/>
              <p:cNvSpPr>
                <a:spLocks noChangeAspect="1" noChangeArrowheads="1"/>
              </p:cNvSpPr>
              <p:nvPr/>
            </p:nvSpPr>
            <p:spPr bwMode="auto">
              <a:xfrm>
                <a:off x="5378" y="409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7" name="AutoShape 797"/>
              <p:cNvSpPr>
                <a:spLocks noChangeAspect="1" noChangeArrowheads="1"/>
              </p:cNvSpPr>
              <p:nvPr/>
            </p:nvSpPr>
            <p:spPr bwMode="auto">
              <a:xfrm>
                <a:off x="4897" y="412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8" name="AutoShape 798"/>
              <p:cNvSpPr>
                <a:spLocks noChangeAspect="1" noChangeArrowheads="1"/>
              </p:cNvSpPr>
              <p:nvPr/>
            </p:nvSpPr>
            <p:spPr bwMode="auto">
              <a:xfrm>
                <a:off x="4913" y="4109"/>
                <a:ext cx="4"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9" name="AutoShape 799"/>
              <p:cNvSpPr>
                <a:spLocks noChangeAspect="1" noChangeArrowheads="1"/>
              </p:cNvSpPr>
              <p:nvPr/>
            </p:nvSpPr>
            <p:spPr bwMode="auto">
              <a:xfrm>
                <a:off x="4880" y="413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90" name="AutoShape 800"/>
              <p:cNvSpPr>
                <a:spLocks noChangeAspect="1" noChangeArrowheads="1"/>
              </p:cNvSpPr>
              <p:nvPr/>
            </p:nvSpPr>
            <p:spPr bwMode="auto">
              <a:xfrm>
                <a:off x="4863" y="4143"/>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91" name="AutoShape 801"/>
              <p:cNvSpPr>
                <a:spLocks noChangeAspect="1" noChangeArrowheads="1"/>
              </p:cNvSpPr>
              <p:nvPr/>
            </p:nvSpPr>
            <p:spPr bwMode="auto">
              <a:xfrm>
                <a:off x="4863" y="4135"/>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92" name="AutoShape 802"/>
              <p:cNvSpPr>
                <a:spLocks noChangeAspect="1" noChangeArrowheads="1"/>
              </p:cNvSpPr>
              <p:nvPr/>
            </p:nvSpPr>
            <p:spPr bwMode="auto">
              <a:xfrm flipV="1">
                <a:off x="4925" y="4102"/>
                <a:ext cx="5" cy="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93" name="Freeform 803"/>
              <p:cNvSpPr>
                <a:spLocks noChangeAspect="1"/>
              </p:cNvSpPr>
              <p:nvPr/>
            </p:nvSpPr>
            <p:spPr bwMode="auto">
              <a:xfrm flipH="1">
                <a:off x="5378"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94" name="Freeform 804"/>
              <p:cNvSpPr>
                <a:spLocks noChangeAspect="1"/>
              </p:cNvSpPr>
              <p:nvPr/>
            </p:nvSpPr>
            <p:spPr bwMode="auto">
              <a:xfrm flipH="1">
                <a:off x="5236"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95" name="Freeform 805"/>
              <p:cNvSpPr>
                <a:spLocks noChangeAspect="1"/>
              </p:cNvSpPr>
              <p:nvPr/>
            </p:nvSpPr>
            <p:spPr bwMode="auto">
              <a:xfrm flipH="1">
                <a:off x="5094"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96" name="Freeform 806"/>
              <p:cNvSpPr>
                <a:spLocks noChangeAspect="1"/>
              </p:cNvSpPr>
              <p:nvPr/>
            </p:nvSpPr>
            <p:spPr bwMode="auto">
              <a:xfrm flipH="1">
                <a:off x="495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97" name="Freeform 807"/>
              <p:cNvSpPr>
                <a:spLocks noChangeAspect="1"/>
              </p:cNvSpPr>
              <p:nvPr/>
            </p:nvSpPr>
            <p:spPr bwMode="auto">
              <a:xfrm flipH="1">
                <a:off x="4810"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98" name="Freeform 808"/>
              <p:cNvSpPr>
                <a:spLocks noChangeAspect="1"/>
              </p:cNvSpPr>
              <p:nvPr/>
            </p:nvSpPr>
            <p:spPr bwMode="auto">
              <a:xfrm flipH="1">
                <a:off x="4667"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99" name="Freeform 809"/>
              <p:cNvSpPr>
                <a:spLocks noChangeAspect="1"/>
              </p:cNvSpPr>
              <p:nvPr/>
            </p:nvSpPr>
            <p:spPr bwMode="auto">
              <a:xfrm flipH="1">
                <a:off x="4526"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00" name="Freeform 810"/>
              <p:cNvSpPr>
                <a:spLocks noChangeAspect="1"/>
              </p:cNvSpPr>
              <p:nvPr/>
            </p:nvSpPr>
            <p:spPr bwMode="auto">
              <a:xfrm flipH="1">
                <a:off x="4485"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01" name="Freeform 811"/>
              <p:cNvSpPr>
                <a:spLocks noChangeAspect="1"/>
              </p:cNvSpPr>
              <p:nvPr/>
            </p:nvSpPr>
            <p:spPr bwMode="auto">
              <a:xfrm flipH="1">
                <a:off x="4384"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02" name="Freeform 812"/>
              <p:cNvSpPr>
                <a:spLocks noChangeAspect="1"/>
              </p:cNvSpPr>
              <p:nvPr/>
            </p:nvSpPr>
            <p:spPr bwMode="auto">
              <a:xfrm flipH="1">
                <a:off x="434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46595" name="AutoShape 813"/>
            <p:cNvSpPr>
              <a:spLocks noChangeArrowheads="1"/>
            </p:cNvSpPr>
            <p:nvPr/>
          </p:nvSpPr>
          <p:spPr bwMode="auto">
            <a:xfrm>
              <a:off x="4384" y="3872"/>
              <a:ext cx="220" cy="228"/>
            </a:xfrm>
            <a:prstGeom prst="roundRect">
              <a:avLst>
                <a:gd name="adj" fmla="val 16667"/>
              </a:avLst>
            </a:prstGeom>
            <a:gradFill rotWithShape="1">
              <a:gsLst>
                <a:gs pos="0">
                  <a:srgbClr val="2F7618">
                    <a:alpha val="70000"/>
                  </a:srgbClr>
                </a:gs>
                <a:gs pos="50000">
                  <a:srgbClr val="66FF33">
                    <a:alpha val="70000"/>
                  </a:srgbClr>
                </a:gs>
                <a:gs pos="100000">
                  <a:srgbClr val="2F7618">
                    <a:alpha val="70000"/>
                  </a:srgbClr>
                </a:gs>
              </a:gsLst>
              <a:lin ang="5400000" scaled="1"/>
            </a:gradFill>
            <a:ln w="3175" algn="ctr">
              <a:solidFill>
                <a:srgbClr val="66FF33"/>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600" b="1">
                  <a:latin typeface="Arial" panose="020B0604020202020204" pitchFamily="34" charset="0"/>
                </a:rPr>
                <a:t>Klenow</a:t>
              </a:r>
            </a:p>
            <a:p>
              <a:pPr algn="ctr" eaLnBrk="1" hangingPunct="1">
                <a:spcBef>
                  <a:spcPct val="0"/>
                </a:spcBef>
                <a:buFontTx/>
                <a:buNone/>
              </a:pPr>
              <a:br>
                <a:rPr kumimoji="0" lang="en-US" altLang="zh-CN" sz="600" b="1">
                  <a:latin typeface="Arial" panose="020B0604020202020204" pitchFamily="34" charset="0"/>
                </a:rPr>
              </a:br>
              <a:r>
                <a:rPr kumimoji="0" lang="en-US" altLang="zh-CN" sz="600" b="1">
                  <a:latin typeface="Arial" panose="020B0604020202020204" pitchFamily="34" charset="0"/>
                </a:rPr>
                <a:t>Fragment</a:t>
              </a:r>
            </a:p>
          </p:txBody>
        </p:sp>
        <p:sp>
          <p:nvSpPr>
            <p:cNvPr id="146596" name="Line 814"/>
            <p:cNvSpPr>
              <a:spLocks noChangeShapeType="1"/>
            </p:cNvSpPr>
            <p:nvPr/>
          </p:nvSpPr>
          <p:spPr bwMode="auto">
            <a:xfrm>
              <a:off x="4624" y="4062"/>
              <a:ext cx="248" cy="0"/>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6543" name="AutoShape 815"/>
            <p:cNvSpPr>
              <a:spLocks noChangeAspect="1" noChangeArrowheads="1"/>
            </p:cNvSpPr>
            <p:nvPr/>
          </p:nvSpPr>
          <p:spPr bwMode="auto">
            <a:xfrm>
              <a:off x="4275" y="4002"/>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grpSp>
          <p:nvGrpSpPr>
            <p:cNvPr id="146598" name="Group 816"/>
            <p:cNvGrpSpPr>
              <a:grpSpLocks noChangeAspect="1"/>
            </p:cNvGrpSpPr>
            <p:nvPr/>
          </p:nvGrpSpPr>
          <p:grpSpPr bwMode="auto">
            <a:xfrm>
              <a:off x="5403" y="3985"/>
              <a:ext cx="54" cy="71"/>
              <a:chOff x="3743" y="2439"/>
              <a:chExt cx="164" cy="216"/>
            </a:xfrm>
          </p:grpSpPr>
          <p:sp>
            <p:nvSpPr>
              <p:cNvPr id="146599" name="Freeform 817"/>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600" name="AutoShape 818"/>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nvGrpSpPr>
          <p:cNvPr id="146463" name="Group 819"/>
          <p:cNvGrpSpPr/>
          <p:nvPr/>
        </p:nvGrpSpPr>
        <p:grpSpPr bwMode="auto">
          <a:xfrm>
            <a:off x="6634163" y="5748338"/>
            <a:ext cx="1909762" cy="361950"/>
            <a:chOff x="4179" y="3621"/>
            <a:chExt cx="1203" cy="228"/>
          </a:xfrm>
        </p:grpSpPr>
        <p:grpSp>
          <p:nvGrpSpPr>
            <p:cNvPr id="146464" name="Group 820"/>
            <p:cNvGrpSpPr/>
            <p:nvPr/>
          </p:nvGrpSpPr>
          <p:grpSpPr bwMode="auto">
            <a:xfrm>
              <a:off x="4243" y="3702"/>
              <a:ext cx="1139" cy="69"/>
              <a:chOff x="4320" y="3443"/>
              <a:chExt cx="1139" cy="69"/>
            </a:xfrm>
          </p:grpSpPr>
          <p:sp>
            <p:nvSpPr>
              <p:cNvPr id="146473" name="Freeform 821"/>
              <p:cNvSpPr>
                <a:spLocks noChangeAspect="1"/>
              </p:cNvSpPr>
              <p:nvPr/>
            </p:nvSpPr>
            <p:spPr bwMode="auto">
              <a:xfrm>
                <a:off x="4391"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74" name="Freeform 822"/>
              <p:cNvSpPr>
                <a:spLocks noChangeAspect="1"/>
              </p:cNvSpPr>
              <p:nvPr/>
            </p:nvSpPr>
            <p:spPr bwMode="auto">
              <a:xfrm>
                <a:off x="4533"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75" name="Freeform 823"/>
              <p:cNvSpPr>
                <a:spLocks noChangeAspect="1"/>
              </p:cNvSpPr>
              <p:nvPr/>
            </p:nvSpPr>
            <p:spPr bwMode="auto">
              <a:xfrm>
                <a:off x="4675"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76" name="Freeform 824"/>
              <p:cNvSpPr>
                <a:spLocks noChangeAspect="1"/>
              </p:cNvSpPr>
              <p:nvPr/>
            </p:nvSpPr>
            <p:spPr bwMode="auto">
              <a:xfrm>
                <a:off x="4858"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77" name="Freeform 825"/>
              <p:cNvSpPr>
                <a:spLocks noChangeAspect="1"/>
              </p:cNvSpPr>
              <p:nvPr/>
            </p:nvSpPr>
            <p:spPr bwMode="auto">
              <a:xfrm>
                <a:off x="4816"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78" name="Freeform 826"/>
              <p:cNvSpPr>
                <a:spLocks noChangeAspect="1"/>
              </p:cNvSpPr>
              <p:nvPr/>
            </p:nvSpPr>
            <p:spPr bwMode="auto">
              <a:xfrm>
                <a:off x="5000"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79" name="Freeform 827"/>
              <p:cNvSpPr>
                <a:spLocks noChangeAspect="1"/>
              </p:cNvSpPr>
              <p:nvPr/>
            </p:nvSpPr>
            <p:spPr bwMode="auto">
              <a:xfrm>
                <a:off x="4959"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80" name="Freeform 828"/>
              <p:cNvSpPr>
                <a:spLocks noChangeAspect="1"/>
              </p:cNvSpPr>
              <p:nvPr/>
            </p:nvSpPr>
            <p:spPr bwMode="auto">
              <a:xfrm>
                <a:off x="5142"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81" name="Freeform 829"/>
              <p:cNvSpPr>
                <a:spLocks noChangeAspect="1"/>
              </p:cNvSpPr>
              <p:nvPr/>
            </p:nvSpPr>
            <p:spPr bwMode="auto">
              <a:xfrm>
                <a:off x="5101"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82" name="Freeform 830"/>
              <p:cNvSpPr>
                <a:spLocks noChangeAspect="1"/>
              </p:cNvSpPr>
              <p:nvPr/>
            </p:nvSpPr>
            <p:spPr bwMode="auto">
              <a:xfrm>
                <a:off x="5284"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83" name="Freeform 831"/>
              <p:cNvSpPr>
                <a:spLocks noChangeAspect="1"/>
              </p:cNvSpPr>
              <p:nvPr/>
            </p:nvSpPr>
            <p:spPr bwMode="auto">
              <a:xfrm>
                <a:off x="5243"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84" name="AutoShape 832"/>
              <p:cNvSpPr>
                <a:spLocks noChangeAspect="1" noChangeArrowheads="1"/>
              </p:cNvSpPr>
              <p:nvPr/>
            </p:nvSpPr>
            <p:spPr bwMode="auto">
              <a:xfrm>
                <a:off x="4360" y="3466"/>
                <a:ext cx="5"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85" name="AutoShape 833"/>
              <p:cNvSpPr>
                <a:spLocks noChangeAspect="1" noChangeArrowheads="1"/>
              </p:cNvSpPr>
              <p:nvPr/>
            </p:nvSpPr>
            <p:spPr bwMode="auto">
              <a:xfrm>
                <a:off x="4446" y="3452"/>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86" name="AutoShape 834"/>
              <p:cNvSpPr>
                <a:spLocks noChangeAspect="1" noChangeArrowheads="1"/>
              </p:cNvSpPr>
              <p:nvPr/>
            </p:nvSpPr>
            <p:spPr bwMode="auto">
              <a:xfrm>
                <a:off x="4376" y="347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87" name="AutoShape 835"/>
              <p:cNvSpPr>
                <a:spLocks noChangeAspect="1" noChangeArrowheads="1"/>
              </p:cNvSpPr>
              <p:nvPr/>
            </p:nvSpPr>
            <p:spPr bwMode="auto">
              <a:xfrm>
                <a:off x="4462" y="3445"/>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88" name="AutoShape 836"/>
              <p:cNvSpPr>
                <a:spLocks noChangeAspect="1" noChangeArrowheads="1"/>
              </p:cNvSpPr>
              <p:nvPr/>
            </p:nvSpPr>
            <p:spPr bwMode="auto">
              <a:xfrm>
                <a:off x="4391" y="349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89" name="AutoShape 837"/>
              <p:cNvSpPr>
                <a:spLocks noChangeAspect="1" noChangeArrowheads="1"/>
              </p:cNvSpPr>
              <p:nvPr/>
            </p:nvSpPr>
            <p:spPr bwMode="auto">
              <a:xfrm>
                <a:off x="4430" y="346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0" name="AutoShape 838"/>
              <p:cNvSpPr>
                <a:spLocks noChangeAspect="1" noChangeArrowheads="1"/>
              </p:cNvSpPr>
              <p:nvPr/>
            </p:nvSpPr>
            <p:spPr bwMode="auto">
              <a:xfrm>
                <a:off x="4414" y="3499"/>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1" name="AutoShape 839"/>
              <p:cNvSpPr>
                <a:spLocks noChangeAspect="1" noChangeArrowheads="1"/>
              </p:cNvSpPr>
              <p:nvPr/>
            </p:nvSpPr>
            <p:spPr bwMode="auto">
              <a:xfrm>
                <a:off x="4414" y="3491"/>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2" name="AutoShape 840"/>
              <p:cNvSpPr>
                <a:spLocks noChangeAspect="1" noChangeArrowheads="1"/>
              </p:cNvSpPr>
              <p:nvPr/>
            </p:nvSpPr>
            <p:spPr bwMode="auto">
              <a:xfrm>
                <a:off x="4512" y="3474"/>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3" name="AutoShape 841"/>
              <p:cNvSpPr>
                <a:spLocks noChangeAspect="1" noChangeArrowheads="1"/>
              </p:cNvSpPr>
              <p:nvPr/>
            </p:nvSpPr>
            <p:spPr bwMode="auto">
              <a:xfrm>
                <a:off x="4529" y="348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4" name="AutoShape 842"/>
              <p:cNvSpPr>
                <a:spLocks noChangeAspect="1" noChangeArrowheads="1"/>
              </p:cNvSpPr>
              <p:nvPr/>
            </p:nvSpPr>
            <p:spPr bwMode="auto">
              <a:xfrm>
                <a:off x="4475" y="344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5" name="AutoShape 843"/>
              <p:cNvSpPr>
                <a:spLocks noChangeAspect="1" noChangeArrowheads="1"/>
              </p:cNvSpPr>
              <p:nvPr/>
            </p:nvSpPr>
            <p:spPr bwMode="auto">
              <a:xfrm>
                <a:off x="4475" y="3457"/>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6" name="AutoShape 844"/>
              <p:cNvSpPr>
                <a:spLocks noChangeAspect="1" noChangeArrowheads="1"/>
              </p:cNvSpPr>
              <p:nvPr/>
            </p:nvSpPr>
            <p:spPr bwMode="auto">
              <a:xfrm>
                <a:off x="4496" y="346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7" name="AutoShape 845"/>
              <p:cNvSpPr>
                <a:spLocks noChangeAspect="1" noChangeArrowheads="1"/>
              </p:cNvSpPr>
              <p:nvPr/>
            </p:nvSpPr>
            <p:spPr bwMode="auto">
              <a:xfrm>
                <a:off x="4545" y="3498"/>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8" name="AutoShape 846"/>
              <p:cNvSpPr>
                <a:spLocks noChangeAspect="1" noChangeArrowheads="1"/>
              </p:cNvSpPr>
              <p:nvPr/>
            </p:nvSpPr>
            <p:spPr bwMode="auto">
              <a:xfrm flipV="1">
                <a:off x="4612" y="344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9" name="AutoShape 847"/>
              <p:cNvSpPr>
                <a:spLocks noChangeAspect="1" noChangeArrowheads="1"/>
              </p:cNvSpPr>
              <p:nvPr/>
            </p:nvSpPr>
            <p:spPr bwMode="auto">
              <a:xfrm>
                <a:off x="4598" y="3445"/>
                <a:ext cx="5"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0" name="AutoShape 848"/>
              <p:cNvSpPr>
                <a:spLocks noChangeAspect="1" noChangeArrowheads="1"/>
              </p:cNvSpPr>
              <p:nvPr/>
            </p:nvSpPr>
            <p:spPr bwMode="auto">
              <a:xfrm flipV="1">
                <a:off x="4581" y="3455"/>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1" name="AutoShape 849"/>
              <p:cNvSpPr>
                <a:spLocks noChangeAspect="1" noChangeArrowheads="1"/>
              </p:cNvSpPr>
              <p:nvPr/>
            </p:nvSpPr>
            <p:spPr bwMode="auto">
              <a:xfrm>
                <a:off x="4564" y="3483"/>
                <a:ext cx="5"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2" name="AutoShape 850"/>
              <p:cNvSpPr>
                <a:spLocks noChangeAspect="1" noChangeArrowheads="1"/>
              </p:cNvSpPr>
              <p:nvPr/>
            </p:nvSpPr>
            <p:spPr bwMode="auto">
              <a:xfrm flipV="1">
                <a:off x="4666" y="3483"/>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3" name="AutoShape 851"/>
              <p:cNvSpPr>
                <a:spLocks noChangeAspect="1" noChangeArrowheads="1"/>
              </p:cNvSpPr>
              <p:nvPr/>
            </p:nvSpPr>
            <p:spPr bwMode="auto">
              <a:xfrm>
                <a:off x="4649" y="347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4" name="AutoShape 852"/>
              <p:cNvSpPr>
                <a:spLocks noChangeAspect="1" noChangeArrowheads="1"/>
              </p:cNvSpPr>
              <p:nvPr/>
            </p:nvSpPr>
            <p:spPr bwMode="auto">
              <a:xfrm>
                <a:off x="4635" y="3461"/>
                <a:ext cx="5"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5" name="AutoShape 853"/>
              <p:cNvSpPr>
                <a:spLocks noChangeAspect="1" noChangeArrowheads="1"/>
              </p:cNvSpPr>
              <p:nvPr/>
            </p:nvSpPr>
            <p:spPr bwMode="auto">
              <a:xfrm>
                <a:off x="4737" y="3447"/>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6" name="AutoShape 854"/>
              <p:cNvSpPr>
                <a:spLocks noChangeAspect="1" noChangeArrowheads="1"/>
              </p:cNvSpPr>
              <p:nvPr/>
            </p:nvSpPr>
            <p:spPr bwMode="auto">
              <a:xfrm>
                <a:off x="4717" y="3464"/>
                <a:ext cx="6"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7" name="AutoShape 855"/>
              <p:cNvSpPr>
                <a:spLocks noChangeAspect="1" noChangeArrowheads="1"/>
              </p:cNvSpPr>
              <p:nvPr/>
            </p:nvSpPr>
            <p:spPr bwMode="auto">
              <a:xfrm>
                <a:off x="4681" y="349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8" name="AutoShape 856"/>
              <p:cNvSpPr>
                <a:spLocks noChangeAspect="1" noChangeArrowheads="1"/>
              </p:cNvSpPr>
              <p:nvPr/>
            </p:nvSpPr>
            <p:spPr bwMode="auto">
              <a:xfrm flipV="1">
                <a:off x="4703" y="3486"/>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9" name="AutoShape 857"/>
              <p:cNvSpPr>
                <a:spLocks noChangeAspect="1" noChangeArrowheads="1"/>
              </p:cNvSpPr>
              <p:nvPr/>
            </p:nvSpPr>
            <p:spPr bwMode="auto">
              <a:xfrm>
                <a:off x="4751" y="3445"/>
                <a:ext cx="6"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0" name="AutoShape 858"/>
              <p:cNvSpPr>
                <a:spLocks noChangeAspect="1" noChangeArrowheads="1"/>
              </p:cNvSpPr>
              <p:nvPr/>
            </p:nvSpPr>
            <p:spPr bwMode="auto">
              <a:xfrm>
                <a:off x="4771" y="344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1" name="AutoShape 859"/>
              <p:cNvSpPr>
                <a:spLocks noChangeAspect="1" noChangeArrowheads="1"/>
              </p:cNvSpPr>
              <p:nvPr/>
            </p:nvSpPr>
            <p:spPr bwMode="auto">
              <a:xfrm>
                <a:off x="4771" y="345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2" name="AutoShape 860"/>
              <p:cNvSpPr>
                <a:spLocks noChangeAspect="1" noChangeArrowheads="1"/>
              </p:cNvSpPr>
              <p:nvPr/>
            </p:nvSpPr>
            <p:spPr bwMode="auto">
              <a:xfrm>
                <a:off x="4803" y="347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3" name="AutoShape 861"/>
              <p:cNvSpPr>
                <a:spLocks noChangeAspect="1" noChangeArrowheads="1"/>
              </p:cNvSpPr>
              <p:nvPr/>
            </p:nvSpPr>
            <p:spPr bwMode="auto">
              <a:xfrm>
                <a:off x="4819" y="3491"/>
                <a:ext cx="6"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4" name="AutoShape 862"/>
              <p:cNvSpPr>
                <a:spLocks noChangeAspect="1" noChangeArrowheads="1"/>
              </p:cNvSpPr>
              <p:nvPr/>
            </p:nvSpPr>
            <p:spPr bwMode="auto">
              <a:xfrm>
                <a:off x="4787" y="346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5" name="Freeform 863"/>
              <p:cNvSpPr>
                <a:spLocks noChangeAspect="1"/>
              </p:cNvSpPr>
              <p:nvPr/>
            </p:nvSpPr>
            <p:spPr bwMode="auto">
              <a:xfrm>
                <a:off x="5385"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16" name="AutoShape 864"/>
              <p:cNvSpPr>
                <a:spLocks noChangeAspect="1" noChangeArrowheads="1"/>
              </p:cNvSpPr>
              <p:nvPr/>
            </p:nvSpPr>
            <p:spPr bwMode="auto">
              <a:xfrm>
                <a:off x="4928" y="3444"/>
                <a:ext cx="6"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7" name="AutoShape 865"/>
              <p:cNvSpPr>
                <a:spLocks noChangeAspect="1" noChangeArrowheads="1"/>
              </p:cNvSpPr>
              <p:nvPr/>
            </p:nvSpPr>
            <p:spPr bwMode="auto">
              <a:xfrm>
                <a:off x="4928" y="3466"/>
                <a:ext cx="6"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8" name="AutoShape 866"/>
              <p:cNvSpPr>
                <a:spLocks noChangeAspect="1" noChangeArrowheads="1"/>
              </p:cNvSpPr>
              <p:nvPr/>
            </p:nvSpPr>
            <p:spPr bwMode="auto">
              <a:xfrm>
                <a:off x="5015" y="344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9" name="AutoShape 867"/>
              <p:cNvSpPr>
                <a:spLocks noChangeAspect="1" noChangeArrowheads="1"/>
              </p:cNvSpPr>
              <p:nvPr/>
            </p:nvSpPr>
            <p:spPr bwMode="auto">
              <a:xfrm>
                <a:off x="5015" y="3476"/>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0" name="AutoShape 868"/>
              <p:cNvSpPr>
                <a:spLocks noChangeAspect="1" noChangeArrowheads="1"/>
              </p:cNvSpPr>
              <p:nvPr/>
            </p:nvSpPr>
            <p:spPr bwMode="auto">
              <a:xfrm>
                <a:off x="4944" y="347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1" name="AutoShape 869"/>
              <p:cNvSpPr>
                <a:spLocks noChangeAspect="1" noChangeArrowheads="1"/>
              </p:cNvSpPr>
              <p:nvPr/>
            </p:nvSpPr>
            <p:spPr bwMode="auto">
              <a:xfrm>
                <a:off x="4944" y="3450"/>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2" name="AutoShape 870"/>
              <p:cNvSpPr>
                <a:spLocks noChangeAspect="1" noChangeArrowheads="1"/>
              </p:cNvSpPr>
              <p:nvPr/>
            </p:nvSpPr>
            <p:spPr bwMode="auto">
              <a:xfrm>
                <a:off x="5031" y="3444"/>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3" name="AutoShape 871"/>
              <p:cNvSpPr>
                <a:spLocks noChangeAspect="1" noChangeArrowheads="1"/>
              </p:cNvSpPr>
              <p:nvPr/>
            </p:nvSpPr>
            <p:spPr bwMode="auto">
              <a:xfrm>
                <a:off x="5031" y="3464"/>
                <a:ext cx="5"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4" name="AutoShape 872"/>
              <p:cNvSpPr>
                <a:spLocks noChangeAspect="1" noChangeArrowheads="1"/>
              </p:cNvSpPr>
              <p:nvPr/>
            </p:nvSpPr>
            <p:spPr bwMode="auto">
              <a:xfrm>
                <a:off x="4960" y="349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5" name="AutoShape 873"/>
              <p:cNvSpPr>
                <a:spLocks noChangeAspect="1" noChangeArrowheads="1"/>
              </p:cNvSpPr>
              <p:nvPr/>
            </p:nvSpPr>
            <p:spPr bwMode="auto">
              <a:xfrm>
                <a:off x="4960" y="3469"/>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6" name="AutoShape 874"/>
              <p:cNvSpPr>
                <a:spLocks noChangeAspect="1" noChangeArrowheads="1"/>
              </p:cNvSpPr>
              <p:nvPr/>
            </p:nvSpPr>
            <p:spPr bwMode="auto">
              <a:xfrm>
                <a:off x="4999" y="346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7" name="AutoShape 875"/>
              <p:cNvSpPr>
                <a:spLocks noChangeAspect="1" noChangeArrowheads="1"/>
              </p:cNvSpPr>
              <p:nvPr/>
            </p:nvSpPr>
            <p:spPr bwMode="auto">
              <a:xfrm>
                <a:off x="4999" y="3489"/>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8" name="AutoShape 876"/>
              <p:cNvSpPr>
                <a:spLocks noChangeAspect="1" noChangeArrowheads="1"/>
              </p:cNvSpPr>
              <p:nvPr/>
            </p:nvSpPr>
            <p:spPr bwMode="auto">
              <a:xfrm>
                <a:off x="4983" y="3499"/>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9" name="AutoShape 877"/>
              <p:cNvSpPr>
                <a:spLocks noChangeAspect="1" noChangeArrowheads="1"/>
              </p:cNvSpPr>
              <p:nvPr/>
            </p:nvSpPr>
            <p:spPr bwMode="auto">
              <a:xfrm>
                <a:off x="4983" y="3491"/>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0" name="AutoShape 878"/>
              <p:cNvSpPr>
                <a:spLocks noChangeAspect="1" noChangeArrowheads="1"/>
              </p:cNvSpPr>
              <p:nvPr/>
            </p:nvSpPr>
            <p:spPr bwMode="auto">
              <a:xfrm>
                <a:off x="5081" y="3474"/>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1" name="AutoShape 879"/>
              <p:cNvSpPr>
                <a:spLocks noChangeAspect="1" noChangeArrowheads="1"/>
              </p:cNvSpPr>
              <p:nvPr/>
            </p:nvSpPr>
            <p:spPr bwMode="auto">
              <a:xfrm>
                <a:off x="5081" y="3447"/>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2" name="AutoShape 880"/>
              <p:cNvSpPr>
                <a:spLocks noChangeAspect="1" noChangeArrowheads="1"/>
              </p:cNvSpPr>
              <p:nvPr/>
            </p:nvSpPr>
            <p:spPr bwMode="auto">
              <a:xfrm>
                <a:off x="5097" y="348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3" name="AutoShape 881"/>
              <p:cNvSpPr>
                <a:spLocks noChangeAspect="1" noChangeArrowheads="1"/>
              </p:cNvSpPr>
              <p:nvPr/>
            </p:nvSpPr>
            <p:spPr bwMode="auto">
              <a:xfrm>
                <a:off x="5097" y="3464"/>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4" name="AutoShape 882"/>
              <p:cNvSpPr>
                <a:spLocks noChangeAspect="1" noChangeArrowheads="1"/>
              </p:cNvSpPr>
              <p:nvPr/>
            </p:nvSpPr>
            <p:spPr bwMode="auto">
              <a:xfrm>
                <a:off x="5045" y="3448"/>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5" name="AutoShape 883"/>
              <p:cNvSpPr>
                <a:spLocks noChangeAspect="1" noChangeArrowheads="1"/>
              </p:cNvSpPr>
              <p:nvPr/>
            </p:nvSpPr>
            <p:spPr bwMode="auto">
              <a:xfrm>
                <a:off x="5045" y="3458"/>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6" name="AutoShape 884"/>
              <p:cNvSpPr>
                <a:spLocks noChangeAspect="1" noChangeArrowheads="1"/>
              </p:cNvSpPr>
              <p:nvPr/>
            </p:nvSpPr>
            <p:spPr bwMode="auto">
              <a:xfrm>
                <a:off x="5064" y="346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7" name="AutoShape 885"/>
              <p:cNvSpPr>
                <a:spLocks noChangeAspect="1" noChangeArrowheads="1"/>
              </p:cNvSpPr>
              <p:nvPr/>
            </p:nvSpPr>
            <p:spPr bwMode="auto">
              <a:xfrm>
                <a:off x="5064" y="3445"/>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8" name="AutoShape 886"/>
              <p:cNvSpPr>
                <a:spLocks noChangeAspect="1" noChangeArrowheads="1"/>
              </p:cNvSpPr>
              <p:nvPr/>
            </p:nvSpPr>
            <p:spPr bwMode="auto">
              <a:xfrm>
                <a:off x="5113" y="3488"/>
                <a:ext cx="6"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9" name="AutoShape 887"/>
              <p:cNvSpPr>
                <a:spLocks noChangeAspect="1" noChangeArrowheads="1"/>
              </p:cNvSpPr>
              <p:nvPr/>
            </p:nvSpPr>
            <p:spPr bwMode="auto">
              <a:xfrm>
                <a:off x="5113" y="3498"/>
                <a:ext cx="6"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0" name="AutoShape 888"/>
              <p:cNvSpPr>
                <a:spLocks noChangeAspect="1" noChangeArrowheads="1"/>
              </p:cNvSpPr>
              <p:nvPr/>
            </p:nvSpPr>
            <p:spPr bwMode="auto">
              <a:xfrm flipV="1">
                <a:off x="5180" y="344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1" name="AutoShape 889"/>
              <p:cNvSpPr>
                <a:spLocks noChangeAspect="1" noChangeArrowheads="1"/>
              </p:cNvSpPr>
              <p:nvPr/>
            </p:nvSpPr>
            <p:spPr bwMode="auto">
              <a:xfrm flipV="1">
                <a:off x="5180" y="3458"/>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2" name="AutoShape 890"/>
              <p:cNvSpPr>
                <a:spLocks noChangeAspect="1" noChangeArrowheads="1"/>
              </p:cNvSpPr>
              <p:nvPr/>
            </p:nvSpPr>
            <p:spPr bwMode="auto">
              <a:xfrm>
                <a:off x="5166" y="3470"/>
                <a:ext cx="6"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3" name="AutoShape 891"/>
              <p:cNvSpPr>
                <a:spLocks noChangeAspect="1" noChangeArrowheads="1"/>
              </p:cNvSpPr>
              <p:nvPr/>
            </p:nvSpPr>
            <p:spPr bwMode="auto">
              <a:xfrm>
                <a:off x="5166" y="3445"/>
                <a:ext cx="6"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4" name="AutoShape 892"/>
              <p:cNvSpPr>
                <a:spLocks noChangeAspect="1" noChangeArrowheads="1"/>
              </p:cNvSpPr>
              <p:nvPr/>
            </p:nvSpPr>
            <p:spPr bwMode="auto">
              <a:xfrm flipV="1">
                <a:off x="5150" y="3455"/>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5" name="AutoShape 893"/>
              <p:cNvSpPr>
                <a:spLocks noChangeAspect="1" noChangeArrowheads="1"/>
              </p:cNvSpPr>
              <p:nvPr/>
            </p:nvSpPr>
            <p:spPr bwMode="auto">
              <a:xfrm flipV="1">
                <a:off x="5150" y="3482"/>
                <a:ext cx="5"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6" name="AutoShape 894"/>
              <p:cNvSpPr>
                <a:spLocks noChangeAspect="1" noChangeArrowheads="1"/>
              </p:cNvSpPr>
              <p:nvPr/>
            </p:nvSpPr>
            <p:spPr bwMode="auto">
              <a:xfrm>
                <a:off x="5134" y="3496"/>
                <a:ext cx="4"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7" name="AutoShape 895"/>
              <p:cNvSpPr>
                <a:spLocks noChangeAspect="1" noChangeArrowheads="1"/>
              </p:cNvSpPr>
              <p:nvPr/>
            </p:nvSpPr>
            <p:spPr bwMode="auto">
              <a:xfrm>
                <a:off x="5134" y="3483"/>
                <a:ext cx="4"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8" name="AutoShape 896"/>
              <p:cNvSpPr>
                <a:spLocks noChangeAspect="1" noChangeArrowheads="1"/>
              </p:cNvSpPr>
              <p:nvPr/>
            </p:nvSpPr>
            <p:spPr bwMode="auto">
              <a:xfrm flipV="1">
                <a:off x="5235" y="3483"/>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9" name="AutoShape 897"/>
              <p:cNvSpPr>
                <a:spLocks noChangeAspect="1" noChangeArrowheads="1"/>
              </p:cNvSpPr>
              <p:nvPr/>
            </p:nvSpPr>
            <p:spPr bwMode="auto">
              <a:xfrm flipV="1">
                <a:off x="5235" y="345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0" name="AutoShape 898"/>
              <p:cNvSpPr>
                <a:spLocks noChangeAspect="1" noChangeArrowheads="1"/>
              </p:cNvSpPr>
              <p:nvPr/>
            </p:nvSpPr>
            <p:spPr bwMode="auto">
              <a:xfrm>
                <a:off x="5217" y="347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1" name="AutoShape 899"/>
              <p:cNvSpPr>
                <a:spLocks noChangeAspect="1" noChangeArrowheads="1"/>
              </p:cNvSpPr>
              <p:nvPr/>
            </p:nvSpPr>
            <p:spPr bwMode="auto">
              <a:xfrm>
                <a:off x="5217" y="3444"/>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2" name="AutoShape 900"/>
              <p:cNvSpPr>
                <a:spLocks noChangeAspect="1" noChangeArrowheads="1"/>
              </p:cNvSpPr>
              <p:nvPr/>
            </p:nvSpPr>
            <p:spPr bwMode="auto">
              <a:xfrm>
                <a:off x="5203" y="3461"/>
                <a:ext cx="6"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3" name="AutoShape 901"/>
              <p:cNvSpPr>
                <a:spLocks noChangeAspect="1" noChangeArrowheads="1"/>
              </p:cNvSpPr>
              <p:nvPr/>
            </p:nvSpPr>
            <p:spPr bwMode="auto">
              <a:xfrm>
                <a:off x="5203" y="3445"/>
                <a:ext cx="6"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4" name="AutoShape 902"/>
              <p:cNvSpPr>
                <a:spLocks noChangeAspect="1" noChangeArrowheads="1"/>
              </p:cNvSpPr>
              <p:nvPr/>
            </p:nvSpPr>
            <p:spPr bwMode="auto">
              <a:xfrm>
                <a:off x="5304" y="3474"/>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5" name="AutoShape 903"/>
              <p:cNvSpPr>
                <a:spLocks noChangeAspect="1" noChangeArrowheads="1"/>
              </p:cNvSpPr>
              <p:nvPr/>
            </p:nvSpPr>
            <p:spPr bwMode="auto">
              <a:xfrm>
                <a:off x="5304" y="344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6" name="AutoShape 904"/>
              <p:cNvSpPr>
                <a:spLocks noChangeAspect="1" noChangeArrowheads="1"/>
              </p:cNvSpPr>
              <p:nvPr/>
            </p:nvSpPr>
            <p:spPr bwMode="auto">
              <a:xfrm>
                <a:off x="5286" y="348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7" name="AutoShape 905"/>
              <p:cNvSpPr>
                <a:spLocks noChangeAspect="1" noChangeArrowheads="1"/>
              </p:cNvSpPr>
              <p:nvPr/>
            </p:nvSpPr>
            <p:spPr bwMode="auto">
              <a:xfrm>
                <a:off x="5286" y="3464"/>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8" name="AutoShape 906"/>
              <p:cNvSpPr>
                <a:spLocks noChangeAspect="1" noChangeArrowheads="1"/>
              </p:cNvSpPr>
              <p:nvPr/>
            </p:nvSpPr>
            <p:spPr bwMode="auto">
              <a:xfrm>
                <a:off x="5249" y="349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9" name="AutoShape 907"/>
              <p:cNvSpPr>
                <a:spLocks noChangeAspect="1" noChangeArrowheads="1"/>
              </p:cNvSpPr>
              <p:nvPr/>
            </p:nvSpPr>
            <p:spPr bwMode="auto">
              <a:xfrm>
                <a:off x="5249" y="3477"/>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0" name="AutoShape 908"/>
              <p:cNvSpPr>
                <a:spLocks noChangeAspect="1" noChangeArrowheads="1"/>
              </p:cNvSpPr>
              <p:nvPr/>
            </p:nvSpPr>
            <p:spPr bwMode="auto">
              <a:xfrm flipV="1">
                <a:off x="5270" y="3486"/>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1" name="AutoShape 909"/>
              <p:cNvSpPr>
                <a:spLocks noChangeAspect="1" noChangeArrowheads="1"/>
              </p:cNvSpPr>
              <p:nvPr/>
            </p:nvSpPr>
            <p:spPr bwMode="auto">
              <a:xfrm flipV="1">
                <a:off x="5270" y="3497"/>
                <a:ext cx="6"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2" name="AutoShape 910"/>
              <p:cNvSpPr>
                <a:spLocks noChangeAspect="1" noChangeArrowheads="1"/>
              </p:cNvSpPr>
              <p:nvPr/>
            </p:nvSpPr>
            <p:spPr bwMode="auto">
              <a:xfrm>
                <a:off x="5320" y="346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3" name="AutoShape 911"/>
              <p:cNvSpPr>
                <a:spLocks noChangeAspect="1" noChangeArrowheads="1"/>
              </p:cNvSpPr>
              <p:nvPr/>
            </p:nvSpPr>
            <p:spPr bwMode="auto">
              <a:xfrm>
                <a:off x="5320" y="3445"/>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4" name="AutoShape 912"/>
              <p:cNvSpPr>
                <a:spLocks noChangeAspect="1" noChangeArrowheads="1"/>
              </p:cNvSpPr>
              <p:nvPr/>
            </p:nvSpPr>
            <p:spPr bwMode="auto">
              <a:xfrm>
                <a:off x="5339" y="344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5" name="AutoShape 913"/>
              <p:cNvSpPr>
                <a:spLocks noChangeAspect="1" noChangeArrowheads="1"/>
              </p:cNvSpPr>
              <p:nvPr/>
            </p:nvSpPr>
            <p:spPr bwMode="auto">
              <a:xfrm>
                <a:off x="5339" y="345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6" name="AutoShape 914"/>
              <p:cNvSpPr>
                <a:spLocks noChangeAspect="1" noChangeArrowheads="1"/>
              </p:cNvSpPr>
              <p:nvPr/>
            </p:nvSpPr>
            <p:spPr bwMode="auto">
              <a:xfrm>
                <a:off x="5371" y="347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7" name="AutoShape 915"/>
              <p:cNvSpPr>
                <a:spLocks noChangeAspect="1" noChangeArrowheads="1"/>
              </p:cNvSpPr>
              <p:nvPr/>
            </p:nvSpPr>
            <p:spPr bwMode="auto">
              <a:xfrm>
                <a:off x="5371" y="345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8" name="AutoShape 916"/>
              <p:cNvSpPr>
                <a:spLocks noChangeAspect="1" noChangeArrowheads="1"/>
              </p:cNvSpPr>
              <p:nvPr/>
            </p:nvSpPr>
            <p:spPr bwMode="auto">
              <a:xfrm>
                <a:off x="5388" y="3491"/>
                <a:ext cx="5"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9" name="AutoShape 917"/>
              <p:cNvSpPr>
                <a:spLocks noChangeAspect="1" noChangeArrowheads="1"/>
              </p:cNvSpPr>
              <p:nvPr/>
            </p:nvSpPr>
            <p:spPr bwMode="auto">
              <a:xfrm>
                <a:off x="5388" y="3472"/>
                <a:ext cx="5"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0" name="AutoShape 918"/>
              <p:cNvSpPr>
                <a:spLocks noChangeAspect="1" noChangeArrowheads="1"/>
              </p:cNvSpPr>
              <p:nvPr/>
            </p:nvSpPr>
            <p:spPr bwMode="auto">
              <a:xfrm>
                <a:off x="5355" y="346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1" name="AutoShape 919"/>
              <p:cNvSpPr>
                <a:spLocks noChangeAspect="1" noChangeArrowheads="1"/>
              </p:cNvSpPr>
              <p:nvPr/>
            </p:nvSpPr>
            <p:spPr bwMode="auto">
              <a:xfrm>
                <a:off x="5355" y="3445"/>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2" name="AutoShape 920"/>
              <p:cNvSpPr>
                <a:spLocks noChangeAspect="1" noChangeArrowheads="1"/>
              </p:cNvSpPr>
              <p:nvPr/>
            </p:nvSpPr>
            <p:spPr bwMode="auto">
              <a:xfrm>
                <a:off x="4874" y="344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3" name="AutoShape 921"/>
              <p:cNvSpPr>
                <a:spLocks noChangeAspect="1" noChangeArrowheads="1"/>
              </p:cNvSpPr>
              <p:nvPr/>
            </p:nvSpPr>
            <p:spPr bwMode="auto">
              <a:xfrm>
                <a:off x="4874" y="3476"/>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4" name="AutoShape 922"/>
              <p:cNvSpPr>
                <a:spLocks noChangeAspect="1" noChangeArrowheads="1"/>
              </p:cNvSpPr>
              <p:nvPr/>
            </p:nvSpPr>
            <p:spPr bwMode="auto">
              <a:xfrm>
                <a:off x="4890" y="3444"/>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5" name="AutoShape 923"/>
              <p:cNvSpPr>
                <a:spLocks noChangeAspect="1" noChangeArrowheads="1"/>
              </p:cNvSpPr>
              <p:nvPr/>
            </p:nvSpPr>
            <p:spPr bwMode="auto">
              <a:xfrm>
                <a:off x="4890" y="3464"/>
                <a:ext cx="4"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6" name="AutoShape 924"/>
              <p:cNvSpPr>
                <a:spLocks noChangeAspect="1" noChangeArrowheads="1"/>
              </p:cNvSpPr>
              <p:nvPr/>
            </p:nvSpPr>
            <p:spPr bwMode="auto">
              <a:xfrm>
                <a:off x="4857" y="346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7" name="AutoShape 925"/>
              <p:cNvSpPr>
                <a:spLocks noChangeAspect="1" noChangeArrowheads="1"/>
              </p:cNvSpPr>
              <p:nvPr/>
            </p:nvSpPr>
            <p:spPr bwMode="auto">
              <a:xfrm>
                <a:off x="4857" y="3489"/>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8" name="AutoShape 926"/>
              <p:cNvSpPr>
                <a:spLocks noChangeAspect="1" noChangeArrowheads="1"/>
              </p:cNvSpPr>
              <p:nvPr/>
            </p:nvSpPr>
            <p:spPr bwMode="auto">
              <a:xfrm>
                <a:off x="4840" y="3498"/>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9" name="AutoShape 927"/>
              <p:cNvSpPr>
                <a:spLocks noChangeAspect="1" noChangeArrowheads="1"/>
              </p:cNvSpPr>
              <p:nvPr/>
            </p:nvSpPr>
            <p:spPr bwMode="auto">
              <a:xfrm>
                <a:off x="4840" y="3490"/>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80" name="AutoShape 928"/>
              <p:cNvSpPr>
                <a:spLocks noChangeAspect="1" noChangeArrowheads="1"/>
              </p:cNvSpPr>
              <p:nvPr/>
            </p:nvSpPr>
            <p:spPr bwMode="auto">
              <a:xfrm flipV="1">
                <a:off x="4902" y="3457"/>
                <a:ext cx="5" cy="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81" name="AutoShape 929"/>
              <p:cNvSpPr>
                <a:spLocks noChangeAspect="1" noChangeArrowheads="1"/>
              </p:cNvSpPr>
              <p:nvPr/>
            </p:nvSpPr>
            <p:spPr bwMode="auto">
              <a:xfrm>
                <a:off x="4902" y="344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82" name="Freeform 930"/>
              <p:cNvSpPr>
                <a:spLocks noChangeAspect="1"/>
              </p:cNvSpPr>
              <p:nvPr/>
            </p:nvSpPr>
            <p:spPr bwMode="auto">
              <a:xfrm flipH="1">
                <a:off x="5355"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83" name="Freeform 931"/>
              <p:cNvSpPr>
                <a:spLocks noChangeAspect="1"/>
              </p:cNvSpPr>
              <p:nvPr/>
            </p:nvSpPr>
            <p:spPr bwMode="auto">
              <a:xfrm flipH="1">
                <a:off x="5314"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84" name="Freeform 932"/>
              <p:cNvSpPr>
                <a:spLocks noChangeAspect="1"/>
              </p:cNvSpPr>
              <p:nvPr/>
            </p:nvSpPr>
            <p:spPr bwMode="auto">
              <a:xfrm flipH="1">
                <a:off x="5213"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85" name="Freeform 933"/>
              <p:cNvSpPr>
                <a:spLocks noChangeAspect="1"/>
              </p:cNvSpPr>
              <p:nvPr/>
            </p:nvSpPr>
            <p:spPr bwMode="auto">
              <a:xfrm flipH="1">
                <a:off x="5172"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86" name="Freeform 934"/>
              <p:cNvSpPr>
                <a:spLocks noChangeAspect="1"/>
              </p:cNvSpPr>
              <p:nvPr/>
            </p:nvSpPr>
            <p:spPr bwMode="auto">
              <a:xfrm flipH="1">
                <a:off x="5071"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87" name="Freeform 935"/>
              <p:cNvSpPr>
                <a:spLocks noChangeAspect="1"/>
              </p:cNvSpPr>
              <p:nvPr/>
            </p:nvSpPr>
            <p:spPr bwMode="auto">
              <a:xfrm flipH="1">
                <a:off x="5030"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88" name="Freeform 936"/>
              <p:cNvSpPr>
                <a:spLocks noChangeAspect="1"/>
              </p:cNvSpPr>
              <p:nvPr/>
            </p:nvSpPr>
            <p:spPr bwMode="auto">
              <a:xfrm flipH="1">
                <a:off x="4930"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89" name="Freeform 937"/>
              <p:cNvSpPr>
                <a:spLocks noChangeAspect="1"/>
              </p:cNvSpPr>
              <p:nvPr/>
            </p:nvSpPr>
            <p:spPr bwMode="auto">
              <a:xfrm flipH="1">
                <a:off x="4889" y="3443"/>
                <a:ext cx="73"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90" name="Freeform 938"/>
              <p:cNvSpPr>
                <a:spLocks noChangeAspect="1"/>
              </p:cNvSpPr>
              <p:nvPr/>
            </p:nvSpPr>
            <p:spPr bwMode="auto">
              <a:xfrm flipH="1">
                <a:off x="4745"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91" name="Freeform 939"/>
              <p:cNvSpPr>
                <a:spLocks noChangeAspect="1"/>
              </p:cNvSpPr>
              <p:nvPr/>
            </p:nvSpPr>
            <p:spPr bwMode="auto">
              <a:xfrm flipH="1">
                <a:off x="4603"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92" name="Freeform 940"/>
              <p:cNvSpPr>
                <a:spLocks noChangeAspect="1"/>
              </p:cNvSpPr>
              <p:nvPr/>
            </p:nvSpPr>
            <p:spPr bwMode="auto">
              <a:xfrm flipH="1">
                <a:off x="4462"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93" name="Freeform 941"/>
              <p:cNvSpPr>
                <a:spLocks noChangeAspect="1"/>
              </p:cNvSpPr>
              <p:nvPr/>
            </p:nvSpPr>
            <p:spPr bwMode="auto">
              <a:xfrm flipH="1">
                <a:off x="4320"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46465" name="AutoShape 942"/>
            <p:cNvSpPr>
              <a:spLocks noChangeArrowheads="1"/>
            </p:cNvSpPr>
            <p:nvPr/>
          </p:nvSpPr>
          <p:spPr bwMode="auto">
            <a:xfrm>
              <a:off x="4759" y="3621"/>
              <a:ext cx="220" cy="228"/>
            </a:xfrm>
            <a:prstGeom prst="roundRect">
              <a:avLst>
                <a:gd name="adj" fmla="val 16667"/>
              </a:avLst>
            </a:prstGeom>
            <a:gradFill rotWithShape="1">
              <a:gsLst>
                <a:gs pos="0">
                  <a:srgbClr val="2F7618">
                    <a:alpha val="70000"/>
                  </a:srgbClr>
                </a:gs>
                <a:gs pos="50000">
                  <a:srgbClr val="66FF33">
                    <a:alpha val="70000"/>
                  </a:srgbClr>
                </a:gs>
                <a:gs pos="100000">
                  <a:srgbClr val="2F7618">
                    <a:alpha val="70000"/>
                  </a:srgbClr>
                </a:gs>
              </a:gsLst>
              <a:lin ang="5400000" scaled="1"/>
            </a:gradFill>
            <a:ln w="3175" algn="ctr">
              <a:solidFill>
                <a:srgbClr val="66FF33"/>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600" b="1">
                  <a:latin typeface="Arial" panose="020B0604020202020204" pitchFamily="34" charset="0"/>
                </a:rPr>
                <a:t>Klenow</a:t>
              </a:r>
            </a:p>
            <a:p>
              <a:pPr algn="ctr" eaLnBrk="1" hangingPunct="1">
                <a:spcBef>
                  <a:spcPct val="0"/>
                </a:spcBef>
                <a:buFontTx/>
                <a:buNone/>
              </a:pPr>
              <a:br>
                <a:rPr kumimoji="0" lang="en-US" altLang="zh-CN" sz="600" b="1">
                  <a:latin typeface="Arial" panose="020B0604020202020204" pitchFamily="34" charset="0"/>
                </a:rPr>
              </a:br>
              <a:r>
                <a:rPr kumimoji="0" lang="en-US" altLang="zh-CN" sz="600" b="1">
                  <a:latin typeface="Arial" panose="020B0604020202020204" pitchFamily="34" charset="0"/>
                </a:rPr>
                <a:t>Fragment</a:t>
              </a:r>
            </a:p>
          </p:txBody>
        </p:sp>
        <p:sp>
          <p:nvSpPr>
            <p:cNvPr id="146466" name="Line 943"/>
            <p:cNvSpPr>
              <a:spLocks noChangeShapeType="1"/>
            </p:cNvSpPr>
            <p:nvPr/>
          </p:nvSpPr>
          <p:spPr bwMode="auto">
            <a:xfrm flipH="1">
              <a:off x="4489" y="3813"/>
              <a:ext cx="248" cy="0"/>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6672" name="AutoShape 944"/>
            <p:cNvSpPr>
              <a:spLocks noChangeAspect="1" noChangeArrowheads="1"/>
            </p:cNvSpPr>
            <p:nvPr/>
          </p:nvSpPr>
          <p:spPr bwMode="auto">
            <a:xfrm>
              <a:off x="5298" y="3697"/>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sp>
          <p:nvSpPr>
            <p:cNvPr id="586673" name="AutoShape 945"/>
            <p:cNvSpPr>
              <a:spLocks noChangeAspect="1" noChangeArrowheads="1"/>
            </p:cNvSpPr>
            <p:nvPr/>
          </p:nvSpPr>
          <p:spPr bwMode="auto">
            <a:xfrm>
              <a:off x="5143" y="3696"/>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sp>
          <p:nvSpPr>
            <p:cNvPr id="586674" name="AutoShape 946"/>
            <p:cNvSpPr>
              <a:spLocks noChangeAspect="1" noChangeArrowheads="1"/>
            </p:cNvSpPr>
            <p:nvPr/>
          </p:nvSpPr>
          <p:spPr bwMode="auto">
            <a:xfrm>
              <a:off x="5005" y="3696"/>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grpSp>
          <p:nvGrpSpPr>
            <p:cNvPr id="146470" name="Group 947"/>
            <p:cNvGrpSpPr>
              <a:grpSpLocks noChangeAspect="1"/>
            </p:cNvGrpSpPr>
            <p:nvPr/>
          </p:nvGrpSpPr>
          <p:grpSpPr bwMode="auto">
            <a:xfrm>
              <a:off x="4179" y="3655"/>
              <a:ext cx="54" cy="71"/>
              <a:chOff x="3743" y="2439"/>
              <a:chExt cx="164" cy="216"/>
            </a:xfrm>
          </p:grpSpPr>
          <p:sp>
            <p:nvSpPr>
              <p:cNvPr id="146471" name="Freeform 948"/>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472" name="AutoShape 949"/>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458" name="Group 2"/>
          <p:cNvGrpSpPr/>
          <p:nvPr/>
        </p:nvGrpSpPr>
        <p:grpSpPr bwMode="auto">
          <a:xfrm>
            <a:off x="5589588" y="1944688"/>
            <a:ext cx="2705100" cy="1062037"/>
            <a:chOff x="1997" y="1264"/>
            <a:chExt cx="1704" cy="669"/>
          </a:xfrm>
        </p:grpSpPr>
        <p:sp>
          <p:nvSpPr>
            <p:cNvPr id="148229" name="Rectangle 3"/>
            <p:cNvSpPr>
              <a:spLocks noChangeAspect="1" noChangeArrowheads="1"/>
            </p:cNvSpPr>
            <p:nvPr/>
          </p:nvSpPr>
          <p:spPr bwMode="auto">
            <a:xfrm>
              <a:off x="3276" y="1734"/>
              <a:ext cx="379" cy="135"/>
            </a:xfrm>
            <a:prstGeom prst="rect">
              <a:avLst/>
            </a:prstGeom>
            <a:solidFill>
              <a:srgbClr val="EAEAEA"/>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230" name="Rectangle 4"/>
            <p:cNvSpPr>
              <a:spLocks noChangeAspect="1" noChangeArrowheads="1"/>
            </p:cNvSpPr>
            <p:nvPr/>
          </p:nvSpPr>
          <p:spPr bwMode="auto">
            <a:xfrm>
              <a:off x="2057" y="1722"/>
              <a:ext cx="325" cy="136"/>
            </a:xfrm>
            <a:prstGeom prst="rect">
              <a:avLst/>
            </a:prstGeom>
            <a:solidFill>
              <a:srgbClr val="EAEAEA"/>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231" name="Freeform 5"/>
            <p:cNvSpPr>
              <a:spLocks noChangeAspect="1"/>
            </p:cNvSpPr>
            <p:nvPr/>
          </p:nvSpPr>
          <p:spPr bwMode="auto">
            <a:xfrm>
              <a:off x="1997" y="1641"/>
              <a:ext cx="1704" cy="292"/>
            </a:xfrm>
            <a:custGeom>
              <a:avLst/>
              <a:gdLst>
                <a:gd name="T0" fmla="*/ 0 w 3396"/>
                <a:gd name="T1" fmla="*/ 0 h 582"/>
                <a:gd name="T2" fmla="*/ 1 w 3396"/>
                <a:gd name="T3" fmla="*/ 37 h 582"/>
                <a:gd name="T4" fmla="*/ 56 w 3396"/>
                <a:gd name="T5" fmla="*/ 37 h 582"/>
                <a:gd name="T6" fmla="*/ 56 w 3396"/>
                <a:gd name="T7" fmla="*/ 17 h 582"/>
                <a:gd name="T8" fmla="*/ 154 w 3396"/>
                <a:gd name="T9" fmla="*/ 17 h 582"/>
                <a:gd name="T10" fmla="*/ 154 w 3396"/>
                <a:gd name="T11" fmla="*/ 36 h 582"/>
                <a:gd name="T12" fmla="*/ 215 w 3396"/>
                <a:gd name="T13" fmla="*/ 36 h 582"/>
                <a:gd name="T14" fmla="*/ 215 w 3396"/>
                <a:gd name="T15" fmla="*/ 1 h 582"/>
                <a:gd name="T16" fmla="*/ 207 w 3396"/>
                <a:gd name="T17" fmla="*/ 1 h 582"/>
                <a:gd name="T18" fmla="*/ 207 w 3396"/>
                <a:gd name="T19" fmla="*/ 28 h 582"/>
                <a:gd name="T20" fmla="*/ 162 w 3396"/>
                <a:gd name="T21" fmla="*/ 29 h 582"/>
                <a:gd name="T22" fmla="*/ 162 w 3396"/>
                <a:gd name="T23" fmla="*/ 8 h 582"/>
                <a:gd name="T24" fmla="*/ 48 w 3396"/>
                <a:gd name="T25" fmla="*/ 8 h 582"/>
                <a:gd name="T26" fmla="*/ 48 w 3396"/>
                <a:gd name="T27" fmla="*/ 27 h 582"/>
                <a:gd name="T28" fmla="*/ 10 w 3396"/>
                <a:gd name="T29" fmla="*/ 27 h 582"/>
                <a:gd name="T30" fmla="*/ 9 w 3396"/>
                <a:gd name="T31" fmla="*/ 0 h 582"/>
                <a:gd name="T32" fmla="*/ 0 w 3396"/>
                <a:gd name="T33" fmla="*/ 0 h 58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96"/>
                <a:gd name="T52" fmla="*/ 0 h 582"/>
                <a:gd name="T53" fmla="*/ 3396 w 3396"/>
                <a:gd name="T54" fmla="*/ 582 h 58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96" h="582">
                  <a:moveTo>
                    <a:pt x="0" y="0"/>
                  </a:moveTo>
                  <a:lnTo>
                    <a:pt x="12" y="582"/>
                  </a:lnTo>
                  <a:lnTo>
                    <a:pt x="882" y="582"/>
                  </a:lnTo>
                  <a:lnTo>
                    <a:pt x="882" y="270"/>
                  </a:lnTo>
                  <a:lnTo>
                    <a:pt x="2424" y="270"/>
                  </a:lnTo>
                  <a:lnTo>
                    <a:pt x="2424" y="564"/>
                  </a:lnTo>
                  <a:lnTo>
                    <a:pt x="3390" y="564"/>
                  </a:lnTo>
                  <a:lnTo>
                    <a:pt x="3396" y="6"/>
                  </a:lnTo>
                  <a:lnTo>
                    <a:pt x="3270" y="6"/>
                  </a:lnTo>
                  <a:lnTo>
                    <a:pt x="3270" y="444"/>
                  </a:lnTo>
                  <a:lnTo>
                    <a:pt x="2556" y="450"/>
                  </a:lnTo>
                  <a:lnTo>
                    <a:pt x="2556" y="120"/>
                  </a:lnTo>
                  <a:lnTo>
                    <a:pt x="756" y="126"/>
                  </a:lnTo>
                  <a:lnTo>
                    <a:pt x="756" y="426"/>
                  </a:lnTo>
                  <a:lnTo>
                    <a:pt x="150" y="426"/>
                  </a:lnTo>
                  <a:lnTo>
                    <a:pt x="144" y="0"/>
                  </a:lnTo>
                  <a:lnTo>
                    <a:pt x="0" y="0"/>
                  </a:lnTo>
                  <a:close/>
                </a:path>
              </a:pathLst>
            </a:custGeom>
            <a:solidFill>
              <a:srgbClr val="4D4D4D"/>
            </a:solidFill>
            <a:ln w="6350">
              <a:solidFill>
                <a:schemeClr val="bg2"/>
              </a:solidFill>
              <a:round/>
            </a:ln>
          </p:spPr>
          <p:txBody>
            <a:bodyPr wrap="none" anchor="ctr"/>
            <a:lstStyle/>
            <a:p>
              <a:endParaRPr lang="zh-CN" altLang="en-US"/>
            </a:p>
          </p:txBody>
        </p:sp>
        <p:grpSp>
          <p:nvGrpSpPr>
            <p:cNvPr id="148232" name="Group 6"/>
            <p:cNvGrpSpPr>
              <a:grpSpLocks noChangeAspect="1"/>
            </p:cNvGrpSpPr>
            <p:nvPr/>
          </p:nvGrpSpPr>
          <p:grpSpPr bwMode="auto">
            <a:xfrm>
              <a:off x="3405" y="1755"/>
              <a:ext cx="203" cy="26"/>
              <a:chOff x="251" y="1182"/>
              <a:chExt cx="1050" cy="135"/>
            </a:xfrm>
          </p:grpSpPr>
          <p:grpSp>
            <p:nvGrpSpPr>
              <p:cNvPr id="148390" name="Group 7"/>
              <p:cNvGrpSpPr>
                <a:grpSpLocks noChangeAspect="1"/>
              </p:cNvGrpSpPr>
              <p:nvPr/>
            </p:nvGrpSpPr>
            <p:grpSpPr bwMode="auto">
              <a:xfrm>
                <a:off x="251" y="1185"/>
                <a:ext cx="110" cy="132"/>
                <a:chOff x="906" y="2412"/>
                <a:chExt cx="552" cy="660"/>
              </a:xfrm>
            </p:grpSpPr>
            <p:sp>
              <p:nvSpPr>
                <p:cNvPr id="148404" name="Freeform 8"/>
                <p:cNvSpPr>
                  <a:spLocks noChangeAspect="1"/>
                </p:cNvSpPr>
                <p:nvPr/>
              </p:nvSpPr>
              <p:spPr bwMode="auto">
                <a:xfrm>
                  <a:off x="906" y="2418"/>
                  <a:ext cx="552" cy="1"/>
                </a:xfrm>
                <a:custGeom>
                  <a:avLst/>
                  <a:gdLst>
                    <a:gd name="T0" fmla="*/ 0 w 552"/>
                    <a:gd name="T1" fmla="*/ 0 h 1"/>
                    <a:gd name="T2" fmla="*/ 552 w 552"/>
                    <a:gd name="T3" fmla="*/ 0 h 1"/>
                    <a:gd name="T4" fmla="*/ 0 60000 65536"/>
                    <a:gd name="T5" fmla="*/ 0 60000 65536"/>
                    <a:gd name="T6" fmla="*/ 0 w 552"/>
                    <a:gd name="T7" fmla="*/ 0 h 1"/>
                    <a:gd name="T8" fmla="*/ 552 w 552"/>
                    <a:gd name="T9" fmla="*/ 1 h 1"/>
                  </a:gdLst>
                  <a:ahLst/>
                  <a:cxnLst>
                    <a:cxn ang="T4">
                      <a:pos x="T0" y="T1"/>
                    </a:cxn>
                    <a:cxn ang="T5">
                      <a:pos x="T2" y="T3"/>
                    </a:cxn>
                  </a:cxnLst>
                  <a:rect l="T6" t="T7" r="T8" b="T9"/>
                  <a:pathLst>
                    <a:path w="552" h="1">
                      <a:moveTo>
                        <a:pt x="0" y="0"/>
                      </a:moveTo>
                      <a:cubicBezTo>
                        <a:pt x="230" y="0"/>
                        <a:pt x="461" y="0"/>
                        <a:pt x="552"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405" name="Freeform 9"/>
                <p:cNvSpPr>
                  <a:spLocks noChangeAspect="1"/>
                </p:cNvSpPr>
                <p:nvPr/>
              </p:nvSpPr>
              <p:spPr bwMode="auto">
                <a:xfrm>
                  <a:off x="1176" y="2412"/>
                  <a:ext cx="1" cy="660"/>
                </a:xfrm>
                <a:custGeom>
                  <a:avLst/>
                  <a:gdLst>
                    <a:gd name="T0" fmla="*/ 0 w 1"/>
                    <a:gd name="T1" fmla="*/ 0 h 660"/>
                    <a:gd name="T2" fmla="*/ 0 w 1"/>
                    <a:gd name="T3" fmla="*/ 660 h 660"/>
                    <a:gd name="T4" fmla="*/ 0 60000 65536"/>
                    <a:gd name="T5" fmla="*/ 0 60000 65536"/>
                    <a:gd name="T6" fmla="*/ 0 w 1"/>
                    <a:gd name="T7" fmla="*/ 0 h 660"/>
                    <a:gd name="T8" fmla="*/ 1 w 1"/>
                    <a:gd name="T9" fmla="*/ 660 h 660"/>
                  </a:gdLst>
                  <a:ahLst/>
                  <a:cxnLst>
                    <a:cxn ang="T4">
                      <a:pos x="T0" y="T1"/>
                    </a:cxn>
                    <a:cxn ang="T5">
                      <a:pos x="T2" y="T3"/>
                    </a:cxn>
                  </a:cxnLst>
                  <a:rect l="T6" t="T7" r="T8" b="T9"/>
                  <a:pathLst>
                    <a:path w="1" h="660">
                      <a:moveTo>
                        <a:pt x="0" y="0"/>
                      </a:moveTo>
                      <a:cubicBezTo>
                        <a:pt x="0" y="275"/>
                        <a:pt x="0" y="550"/>
                        <a:pt x="0" y="66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391" name="Freeform 10"/>
              <p:cNvSpPr>
                <a:spLocks noChangeAspect="1"/>
              </p:cNvSpPr>
              <p:nvPr/>
            </p:nvSpPr>
            <p:spPr bwMode="auto">
              <a:xfrm>
                <a:off x="403" y="118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92" name="Group 11"/>
              <p:cNvGrpSpPr>
                <a:grpSpLocks noChangeAspect="1"/>
              </p:cNvGrpSpPr>
              <p:nvPr/>
            </p:nvGrpSpPr>
            <p:grpSpPr bwMode="auto">
              <a:xfrm>
                <a:off x="544" y="1190"/>
                <a:ext cx="99" cy="127"/>
                <a:chOff x="263" y="1301"/>
                <a:chExt cx="540" cy="690"/>
              </a:xfrm>
            </p:grpSpPr>
            <p:sp>
              <p:nvSpPr>
                <p:cNvPr id="148402" name="Freeform 12"/>
                <p:cNvSpPr>
                  <a:spLocks noChangeAspect="1"/>
                </p:cNvSpPr>
                <p:nvPr/>
              </p:nvSpPr>
              <p:spPr bwMode="auto">
                <a:xfrm>
                  <a:off x="263" y="1301"/>
                  <a:ext cx="540" cy="690"/>
                </a:xfrm>
                <a:custGeom>
                  <a:avLst/>
                  <a:gdLst>
                    <a:gd name="T0" fmla="*/ 0 w 540"/>
                    <a:gd name="T1" fmla="*/ 690 h 690"/>
                    <a:gd name="T2" fmla="*/ 264 w 540"/>
                    <a:gd name="T3" fmla="*/ 0 h 690"/>
                    <a:gd name="T4" fmla="*/ 540 w 540"/>
                    <a:gd name="T5" fmla="*/ 678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264" y="0"/>
                      </a:lnTo>
                      <a:lnTo>
                        <a:pt x="540" y="678"/>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403" name="Line 13"/>
                <p:cNvSpPr>
                  <a:spLocks noChangeAspect="1" noChangeShapeType="1"/>
                </p:cNvSpPr>
                <p:nvPr/>
              </p:nvSpPr>
              <p:spPr bwMode="auto">
                <a:xfrm>
                  <a:off x="359" y="1727"/>
                  <a:ext cx="336"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393" name="Freeform 14"/>
              <p:cNvSpPr>
                <a:spLocks noChangeAspect="1"/>
              </p:cNvSpPr>
              <p:nvPr/>
            </p:nvSpPr>
            <p:spPr bwMode="auto">
              <a:xfrm>
                <a:off x="686" y="1187"/>
                <a:ext cx="81" cy="130"/>
              </a:xfrm>
              <a:custGeom>
                <a:avLst/>
                <a:gdLst>
                  <a:gd name="T0" fmla="*/ 0 w 426"/>
                  <a:gd name="T1" fmla="*/ 1 h 684"/>
                  <a:gd name="T2" fmla="*/ 0 w 426"/>
                  <a:gd name="T3" fmla="*/ 0 h 684"/>
                  <a:gd name="T4" fmla="*/ 1 w 426"/>
                  <a:gd name="T5" fmla="*/ 1 h 684"/>
                  <a:gd name="T6" fmla="*/ 1 w 426"/>
                  <a:gd name="T7" fmla="*/ 0 h 684"/>
                  <a:gd name="T8" fmla="*/ 0 60000 65536"/>
                  <a:gd name="T9" fmla="*/ 0 60000 65536"/>
                  <a:gd name="T10" fmla="*/ 0 60000 65536"/>
                  <a:gd name="T11" fmla="*/ 0 60000 65536"/>
                  <a:gd name="T12" fmla="*/ 0 w 426"/>
                  <a:gd name="T13" fmla="*/ 0 h 684"/>
                  <a:gd name="T14" fmla="*/ 426 w 426"/>
                  <a:gd name="T15" fmla="*/ 684 h 684"/>
                </a:gdLst>
                <a:ahLst/>
                <a:cxnLst>
                  <a:cxn ang="T8">
                    <a:pos x="T0" y="T1"/>
                  </a:cxn>
                  <a:cxn ang="T9">
                    <a:pos x="T2" y="T3"/>
                  </a:cxn>
                  <a:cxn ang="T10">
                    <a:pos x="T4" y="T5"/>
                  </a:cxn>
                  <a:cxn ang="T11">
                    <a:pos x="T6" y="T7"/>
                  </a:cxn>
                </a:cxnLst>
                <a:rect l="T12" t="T13" r="T14" b="T15"/>
                <a:pathLst>
                  <a:path w="426" h="684">
                    <a:moveTo>
                      <a:pt x="0" y="684"/>
                    </a:moveTo>
                    <a:lnTo>
                      <a:pt x="0" y="6"/>
                    </a:lnTo>
                    <a:lnTo>
                      <a:pt x="426" y="672"/>
                    </a:lnTo>
                    <a:lnTo>
                      <a:pt x="426"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94" name="Freeform 15"/>
              <p:cNvSpPr>
                <a:spLocks noChangeAspect="1"/>
              </p:cNvSpPr>
              <p:nvPr/>
            </p:nvSpPr>
            <p:spPr bwMode="auto">
              <a:xfrm>
                <a:off x="809" y="1184"/>
                <a:ext cx="98" cy="133"/>
              </a:xfrm>
              <a:custGeom>
                <a:avLst/>
                <a:gdLst>
                  <a:gd name="T0" fmla="*/ 1 w 464"/>
                  <a:gd name="T1" fmla="*/ 0 h 632"/>
                  <a:gd name="T2" fmla="*/ 1 w 464"/>
                  <a:gd name="T3" fmla="*/ 0 h 632"/>
                  <a:gd name="T4" fmla="*/ 0 w 464"/>
                  <a:gd name="T5" fmla="*/ 0 h 632"/>
                  <a:gd name="T6" fmla="*/ 0 w 464"/>
                  <a:gd name="T7" fmla="*/ 0 h 632"/>
                  <a:gd name="T8" fmla="*/ 0 w 464"/>
                  <a:gd name="T9" fmla="*/ 1 h 632"/>
                  <a:gd name="T10" fmla="*/ 1 w 464"/>
                  <a:gd name="T11" fmla="*/ 1 h 632"/>
                  <a:gd name="T12" fmla="*/ 1 w 464"/>
                  <a:gd name="T13" fmla="*/ 1 h 632"/>
                  <a:gd name="T14" fmla="*/ 0 w 464"/>
                  <a:gd name="T15" fmla="*/ 1 h 632"/>
                  <a:gd name="T16" fmla="*/ 0 w 464"/>
                  <a:gd name="T17" fmla="*/ 1 h 632"/>
                  <a:gd name="T18" fmla="*/ 0 w 464"/>
                  <a:gd name="T19" fmla="*/ 1 h 6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4"/>
                  <a:gd name="T31" fmla="*/ 0 h 632"/>
                  <a:gd name="T32" fmla="*/ 464 w 464"/>
                  <a:gd name="T33" fmla="*/ 632 h 6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4" h="632">
                    <a:moveTo>
                      <a:pt x="414" y="178"/>
                    </a:moveTo>
                    <a:cubicBezTo>
                      <a:pt x="403" y="157"/>
                      <a:pt x="387" y="80"/>
                      <a:pt x="348" y="52"/>
                    </a:cubicBezTo>
                    <a:cubicBezTo>
                      <a:pt x="309" y="24"/>
                      <a:pt x="233" y="0"/>
                      <a:pt x="180" y="10"/>
                    </a:cubicBezTo>
                    <a:cubicBezTo>
                      <a:pt x="127" y="20"/>
                      <a:pt x="47" y="69"/>
                      <a:pt x="30" y="112"/>
                    </a:cubicBezTo>
                    <a:cubicBezTo>
                      <a:pt x="13" y="155"/>
                      <a:pt x="15" y="223"/>
                      <a:pt x="78" y="268"/>
                    </a:cubicBezTo>
                    <a:cubicBezTo>
                      <a:pt x="141" y="313"/>
                      <a:pt x="352" y="333"/>
                      <a:pt x="408" y="382"/>
                    </a:cubicBezTo>
                    <a:cubicBezTo>
                      <a:pt x="464" y="431"/>
                      <a:pt x="440" y="521"/>
                      <a:pt x="414" y="562"/>
                    </a:cubicBezTo>
                    <a:cubicBezTo>
                      <a:pt x="388" y="603"/>
                      <a:pt x="311" y="624"/>
                      <a:pt x="252" y="628"/>
                    </a:cubicBezTo>
                    <a:cubicBezTo>
                      <a:pt x="193" y="632"/>
                      <a:pt x="102" y="615"/>
                      <a:pt x="60" y="586"/>
                    </a:cubicBezTo>
                    <a:cubicBezTo>
                      <a:pt x="18" y="557"/>
                      <a:pt x="12" y="481"/>
                      <a:pt x="0" y="45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95" name="Group 16"/>
              <p:cNvGrpSpPr>
                <a:grpSpLocks noChangeAspect="1"/>
              </p:cNvGrpSpPr>
              <p:nvPr/>
            </p:nvGrpSpPr>
            <p:grpSpPr bwMode="auto">
              <a:xfrm>
                <a:off x="950" y="1190"/>
                <a:ext cx="80" cy="127"/>
                <a:chOff x="3653" y="1343"/>
                <a:chExt cx="384" cy="612"/>
              </a:xfrm>
            </p:grpSpPr>
            <p:sp>
              <p:nvSpPr>
                <p:cNvPr id="148400" name="Freeform 17"/>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401" name="Line 18"/>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396" name="Group 19"/>
              <p:cNvGrpSpPr>
                <a:grpSpLocks noChangeAspect="1"/>
              </p:cNvGrpSpPr>
              <p:nvPr/>
            </p:nvGrpSpPr>
            <p:grpSpPr bwMode="auto">
              <a:xfrm>
                <a:off x="1073" y="1190"/>
                <a:ext cx="87" cy="127"/>
                <a:chOff x="3017" y="1343"/>
                <a:chExt cx="420" cy="612"/>
              </a:xfrm>
            </p:grpSpPr>
            <p:sp>
              <p:nvSpPr>
                <p:cNvPr id="148398" name="Freeform 20"/>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99" name="Line 21"/>
                <p:cNvSpPr>
                  <a:spLocks noChangeAspect="1" noChangeShapeType="1"/>
                </p:cNvSpPr>
                <p:nvPr/>
              </p:nvSpPr>
              <p:spPr bwMode="auto">
                <a:xfrm>
                  <a:off x="3017" y="1637"/>
                  <a:ext cx="378"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397" name="Freeform 22"/>
              <p:cNvSpPr>
                <a:spLocks noChangeAspect="1"/>
              </p:cNvSpPr>
              <p:nvPr/>
            </p:nvSpPr>
            <p:spPr bwMode="auto">
              <a:xfrm>
                <a:off x="1203" y="118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8233" name="Group 23"/>
            <p:cNvGrpSpPr>
              <a:grpSpLocks noChangeAspect="1"/>
            </p:cNvGrpSpPr>
            <p:nvPr/>
          </p:nvGrpSpPr>
          <p:grpSpPr bwMode="auto">
            <a:xfrm>
              <a:off x="3439" y="1808"/>
              <a:ext cx="144" cy="26"/>
              <a:chOff x="168" y="32"/>
              <a:chExt cx="748" cy="135"/>
            </a:xfrm>
          </p:grpSpPr>
          <p:sp>
            <p:nvSpPr>
              <p:cNvPr id="148378" name="Freeform 24"/>
              <p:cNvSpPr>
                <a:spLocks noChangeAspect="1"/>
              </p:cNvSpPr>
              <p:nvPr/>
            </p:nvSpPr>
            <p:spPr bwMode="auto">
              <a:xfrm>
                <a:off x="168" y="40"/>
                <a:ext cx="92" cy="127"/>
              </a:xfrm>
              <a:custGeom>
                <a:avLst/>
                <a:gdLst>
                  <a:gd name="T0" fmla="*/ 0 w 442"/>
                  <a:gd name="T1" fmla="*/ 0 h 612"/>
                  <a:gd name="T2" fmla="*/ 0 w 442"/>
                  <a:gd name="T3" fmla="*/ 1 h 612"/>
                  <a:gd name="T4" fmla="*/ 0 w 442"/>
                  <a:gd name="T5" fmla="*/ 1 h 612"/>
                  <a:gd name="T6" fmla="*/ 1 w 442"/>
                  <a:gd name="T7" fmla="*/ 1 h 612"/>
                  <a:gd name="T8" fmla="*/ 1 w 442"/>
                  <a:gd name="T9" fmla="*/ 1 h 612"/>
                  <a:gd name="T10" fmla="*/ 0 w 442"/>
                  <a:gd name="T11" fmla="*/ 1 h 612"/>
                  <a:gd name="T12" fmla="*/ 0 w 442"/>
                  <a:gd name="T13" fmla="*/ 0 h 612"/>
                  <a:gd name="T14" fmla="*/ 0 w 442"/>
                  <a:gd name="T15" fmla="*/ 0 h 612"/>
                  <a:gd name="T16" fmla="*/ 1 w 442"/>
                  <a:gd name="T17" fmla="*/ 0 h 612"/>
                  <a:gd name="T18" fmla="*/ 1 w 442"/>
                  <a:gd name="T19" fmla="*/ 0 h 612"/>
                  <a:gd name="T20" fmla="*/ 0 w 442"/>
                  <a:gd name="T21" fmla="*/ 0 h 612"/>
                  <a:gd name="T22" fmla="*/ 0 w 442"/>
                  <a:gd name="T23" fmla="*/ 0 h 6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2"/>
                  <a:gd name="T37" fmla="*/ 0 h 612"/>
                  <a:gd name="T38" fmla="*/ 442 w 442"/>
                  <a:gd name="T39" fmla="*/ 612 h 6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2" h="612">
                    <a:moveTo>
                      <a:pt x="0" y="0"/>
                    </a:moveTo>
                    <a:lnTo>
                      <a:pt x="0" y="612"/>
                    </a:lnTo>
                    <a:lnTo>
                      <a:pt x="288" y="612"/>
                    </a:lnTo>
                    <a:cubicBezTo>
                      <a:pt x="356" y="602"/>
                      <a:pt x="386" y="589"/>
                      <a:pt x="408" y="552"/>
                    </a:cubicBezTo>
                    <a:cubicBezTo>
                      <a:pt x="430" y="515"/>
                      <a:pt x="442" y="433"/>
                      <a:pt x="420" y="390"/>
                    </a:cubicBezTo>
                    <a:cubicBezTo>
                      <a:pt x="398" y="347"/>
                      <a:pt x="346" y="311"/>
                      <a:pt x="276" y="294"/>
                    </a:cubicBezTo>
                    <a:lnTo>
                      <a:pt x="0" y="288"/>
                    </a:lnTo>
                    <a:lnTo>
                      <a:pt x="288" y="288"/>
                    </a:lnTo>
                    <a:cubicBezTo>
                      <a:pt x="355" y="269"/>
                      <a:pt x="387" y="213"/>
                      <a:pt x="402" y="174"/>
                    </a:cubicBezTo>
                    <a:cubicBezTo>
                      <a:pt x="417" y="135"/>
                      <a:pt x="403" y="83"/>
                      <a:pt x="378" y="54"/>
                    </a:cubicBezTo>
                    <a:cubicBezTo>
                      <a:pt x="353" y="25"/>
                      <a:pt x="315" y="9"/>
                      <a:pt x="252" y="0"/>
                    </a:cubicBezTo>
                    <a:lnTo>
                      <a:pt x="0" y="0"/>
                    </a:lnTo>
                    <a:close/>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79" name="Freeform 25"/>
              <p:cNvSpPr>
                <a:spLocks noChangeAspect="1"/>
              </p:cNvSpPr>
              <p:nvPr/>
            </p:nvSpPr>
            <p:spPr bwMode="auto">
              <a:xfrm>
                <a:off x="303" y="43"/>
                <a:ext cx="92" cy="124"/>
              </a:xfrm>
              <a:custGeom>
                <a:avLst/>
                <a:gdLst>
                  <a:gd name="T0" fmla="*/ 3 w 285"/>
                  <a:gd name="T1" fmla="*/ 0 h 383"/>
                  <a:gd name="T2" fmla="*/ 3 w 285"/>
                  <a:gd name="T3" fmla="*/ 2 h 383"/>
                  <a:gd name="T4" fmla="*/ 3 w 285"/>
                  <a:gd name="T5" fmla="*/ 4 h 383"/>
                  <a:gd name="T6" fmla="*/ 2 w 285"/>
                  <a:gd name="T7" fmla="*/ 4 h 383"/>
                  <a:gd name="T8" fmla="*/ 0 w 285"/>
                  <a:gd name="T9" fmla="*/ 4 h 383"/>
                  <a:gd name="T10" fmla="*/ 0 w 285"/>
                  <a:gd name="T11" fmla="*/ 2 h 383"/>
                  <a:gd name="T12" fmla="*/ 0 w 285"/>
                  <a:gd name="T13" fmla="*/ 0 h 383"/>
                  <a:gd name="T14" fmla="*/ 0 60000 65536"/>
                  <a:gd name="T15" fmla="*/ 0 60000 65536"/>
                  <a:gd name="T16" fmla="*/ 0 60000 65536"/>
                  <a:gd name="T17" fmla="*/ 0 60000 65536"/>
                  <a:gd name="T18" fmla="*/ 0 60000 65536"/>
                  <a:gd name="T19" fmla="*/ 0 60000 65536"/>
                  <a:gd name="T20" fmla="*/ 0 60000 65536"/>
                  <a:gd name="T21" fmla="*/ 0 w 285"/>
                  <a:gd name="T22" fmla="*/ 0 h 383"/>
                  <a:gd name="T23" fmla="*/ 285 w 285"/>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383">
                    <a:moveTo>
                      <a:pt x="283" y="3"/>
                    </a:moveTo>
                    <a:cubicBezTo>
                      <a:pt x="283" y="37"/>
                      <a:pt x="285" y="147"/>
                      <a:pt x="279" y="203"/>
                    </a:cubicBezTo>
                    <a:cubicBezTo>
                      <a:pt x="273" y="259"/>
                      <a:pt x="272" y="309"/>
                      <a:pt x="247" y="339"/>
                    </a:cubicBezTo>
                    <a:cubicBezTo>
                      <a:pt x="222" y="369"/>
                      <a:pt x="167" y="383"/>
                      <a:pt x="130" y="382"/>
                    </a:cubicBezTo>
                    <a:cubicBezTo>
                      <a:pt x="93" y="381"/>
                      <a:pt x="48" y="356"/>
                      <a:pt x="27" y="330"/>
                    </a:cubicBezTo>
                    <a:cubicBezTo>
                      <a:pt x="6" y="303"/>
                      <a:pt x="8" y="276"/>
                      <a:pt x="4" y="221"/>
                    </a:cubicBezTo>
                    <a:cubicBezTo>
                      <a:pt x="0" y="167"/>
                      <a:pt x="4" y="37"/>
                      <a:pt x="4"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80" name="Group 26"/>
              <p:cNvGrpSpPr>
                <a:grpSpLocks noChangeAspect="1"/>
              </p:cNvGrpSpPr>
              <p:nvPr/>
            </p:nvGrpSpPr>
            <p:grpSpPr bwMode="auto">
              <a:xfrm>
                <a:off x="563" y="40"/>
                <a:ext cx="80" cy="127"/>
                <a:chOff x="3653" y="1343"/>
                <a:chExt cx="384" cy="612"/>
              </a:xfrm>
            </p:grpSpPr>
            <p:sp>
              <p:nvSpPr>
                <p:cNvPr id="148388" name="Freeform 27"/>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89" name="Line 28"/>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381" name="Group 29"/>
              <p:cNvGrpSpPr>
                <a:grpSpLocks noChangeAspect="1"/>
              </p:cNvGrpSpPr>
              <p:nvPr/>
            </p:nvGrpSpPr>
            <p:grpSpPr bwMode="auto">
              <a:xfrm>
                <a:off x="439" y="40"/>
                <a:ext cx="80" cy="127"/>
                <a:chOff x="3653" y="1343"/>
                <a:chExt cx="384" cy="612"/>
              </a:xfrm>
            </p:grpSpPr>
            <p:sp>
              <p:nvSpPr>
                <p:cNvPr id="148386" name="Freeform 30"/>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87" name="Line 31"/>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382" name="Group 32"/>
              <p:cNvGrpSpPr>
                <a:grpSpLocks noChangeAspect="1"/>
              </p:cNvGrpSpPr>
              <p:nvPr/>
            </p:nvGrpSpPr>
            <p:grpSpPr bwMode="auto">
              <a:xfrm>
                <a:off x="687" y="40"/>
                <a:ext cx="87" cy="127"/>
                <a:chOff x="3017" y="1343"/>
                <a:chExt cx="420" cy="612"/>
              </a:xfrm>
            </p:grpSpPr>
            <p:sp>
              <p:nvSpPr>
                <p:cNvPr id="148384" name="Freeform 33"/>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85" name="Line 34"/>
                <p:cNvSpPr>
                  <a:spLocks noChangeAspect="1" noChangeShapeType="1"/>
                </p:cNvSpPr>
                <p:nvPr/>
              </p:nvSpPr>
              <p:spPr bwMode="auto">
                <a:xfrm>
                  <a:off x="3017" y="1637"/>
                  <a:ext cx="378"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383" name="Freeform 35"/>
              <p:cNvSpPr>
                <a:spLocks noChangeAspect="1"/>
              </p:cNvSpPr>
              <p:nvPr/>
            </p:nvSpPr>
            <p:spPr bwMode="auto">
              <a:xfrm>
                <a:off x="818" y="3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234" name="Freeform 36"/>
            <p:cNvSpPr>
              <a:spLocks noChangeAspect="1"/>
            </p:cNvSpPr>
            <p:nvPr/>
          </p:nvSpPr>
          <p:spPr bwMode="auto">
            <a:xfrm>
              <a:off x="2235" y="1683"/>
              <a:ext cx="1201" cy="169"/>
            </a:xfrm>
            <a:custGeom>
              <a:avLst/>
              <a:gdLst>
                <a:gd name="T0" fmla="*/ 0 w 2394"/>
                <a:gd name="T1" fmla="*/ 20 h 337"/>
                <a:gd name="T2" fmla="*/ 12 w 2394"/>
                <a:gd name="T3" fmla="*/ 16 h 337"/>
                <a:gd name="T4" fmla="*/ 15 w 2394"/>
                <a:gd name="T5" fmla="*/ 4 h 337"/>
                <a:gd name="T6" fmla="*/ 18 w 2394"/>
                <a:gd name="T7" fmla="*/ 1 h 337"/>
                <a:gd name="T8" fmla="*/ 25 w 2394"/>
                <a:gd name="T9" fmla="*/ 1 h 337"/>
                <a:gd name="T10" fmla="*/ 131 w 2394"/>
                <a:gd name="T11" fmla="*/ 1 h 337"/>
                <a:gd name="T12" fmla="*/ 133 w 2394"/>
                <a:gd name="T13" fmla="*/ 1 h 337"/>
                <a:gd name="T14" fmla="*/ 133 w 2394"/>
                <a:gd name="T15" fmla="*/ 4 h 337"/>
                <a:gd name="T16" fmla="*/ 138 w 2394"/>
                <a:gd name="T17" fmla="*/ 17 h 337"/>
                <a:gd name="T18" fmla="*/ 152 w 2394"/>
                <a:gd name="T19" fmla="*/ 22 h 33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94"/>
                <a:gd name="T31" fmla="*/ 0 h 337"/>
                <a:gd name="T32" fmla="*/ 2394 w 2394"/>
                <a:gd name="T33" fmla="*/ 337 h 33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94" h="337">
                  <a:moveTo>
                    <a:pt x="0" y="307"/>
                  </a:moveTo>
                  <a:cubicBezTo>
                    <a:pt x="30" y="298"/>
                    <a:pt x="141" y="294"/>
                    <a:pt x="180" y="253"/>
                  </a:cubicBezTo>
                  <a:cubicBezTo>
                    <a:pt x="219" y="212"/>
                    <a:pt x="217" y="102"/>
                    <a:pt x="234" y="61"/>
                  </a:cubicBezTo>
                  <a:cubicBezTo>
                    <a:pt x="251" y="20"/>
                    <a:pt x="257" y="16"/>
                    <a:pt x="282" y="7"/>
                  </a:cubicBezTo>
                  <a:lnTo>
                    <a:pt x="384" y="7"/>
                  </a:lnTo>
                  <a:cubicBezTo>
                    <a:pt x="682" y="6"/>
                    <a:pt x="1783" y="0"/>
                    <a:pt x="2070" y="1"/>
                  </a:cubicBezTo>
                  <a:lnTo>
                    <a:pt x="2106" y="13"/>
                  </a:lnTo>
                  <a:lnTo>
                    <a:pt x="2106" y="61"/>
                  </a:lnTo>
                  <a:cubicBezTo>
                    <a:pt x="2118" y="102"/>
                    <a:pt x="2130" y="213"/>
                    <a:pt x="2178" y="259"/>
                  </a:cubicBezTo>
                  <a:cubicBezTo>
                    <a:pt x="2226" y="305"/>
                    <a:pt x="2349" y="321"/>
                    <a:pt x="2394" y="337"/>
                  </a:cubicBezTo>
                </a:path>
              </a:pathLst>
            </a:custGeom>
            <a:noFill/>
            <a:ln w="38100">
              <a:solidFill>
                <a:srgbClr val="96969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8235" name="Freeform 37"/>
            <p:cNvSpPr>
              <a:spLocks noChangeAspect="1"/>
            </p:cNvSpPr>
            <p:nvPr/>
          </p:nvSpPr>
          <p:spPr bwMode="auto">
            <a:xfrm>
              <a:off x="2367" y="1554"/>
              <a:ext cx="910" cy="123"/>
            </a:xfrm>
            <a:custGeom>
              <a:avLst/>
              <a:gdLst>
                <a:gd name="T0" fmla="*/ 0 w 1812"/>
                <a:gd name="T1" fmla="*/ 0 h 246"/>
                <a:gd name="T2" fmla="*/ 0 w 1812"/>
                <a:gd name="T3" fmla="*/ 16 h 246"/>
                <a:gd name="T4" fmla="*/ 116 w 1812"/>
                <a:gd name="T5" fmla="*/ 16 h 246"/>
                <a:gd name="T6" fmla="*/ 116 w 1812"/>
                <a:gd name="T7" fmla="*/ 1 h 246"/>
                <a:gd name="T8" fmla="*/ 0 w 1812"/>
                <a:gd name="T9" fmla="*/ 0 h 246"/>
                <a:gd name="T10" fmla="*/ 0 60000 65536"/>
                <a:gd name="T11" fmla="*/ 0 60000 65536"/>
                <a:gd name="T12" fmla="*/ 0 60000 65536"/>
                <a:gd name="T13" fmla="*/ 0 60000 65536"/>
                <a:gd name="T14" fmla="*/ 0 60000 65536"/>
                <a:gd name="T15" fmla="*/ 0 w 1812"/>
                <a:gd name="T16" fmla="*/ 0 h 246"/>
                <a:gd name="T17" fmla="*/ 1812 w 1812"/>
                <a:gd name="T18" fmla="*/ 246 h 246"/>
              </a:gdLst>
              <a:ahLst/>
              <a:cxnLst>
                <a:cxn ang="T10">
                  <a:pos x="T0" y="T1"/>
                </a:cxn>
                <a:cxn ang="T11">
                  <a:pos x="T2" y="T3"/>
                </a:cxn>
                <a:cxn ang="T12">
                  <a:pos x="T4" y="T5"/>
                </a:cxn>
                <a:cxn ang="T13">
                  <a:pos x="T6" y="T7"/>
                </a:cxn>
                <a:cxn ang="T14">
                  <a:pos x="T8" y="T9"/>
                </a:cxn>
              </a:cxnLst>
              <a:rect l="T15" t="T16" r="T17" b="T18"/>
              <a:pathLst>
                <a:path w="1812" h="246">
                  <a:moveTo>
                    <a:pt x="0" y="0"/>
                  </a:moveTo>
                  <a:lnTo>
                    <a:pt x="0" y="246"/>
                  </a:lnTo>
                  <a:lnTo>
                    <a:pt x="1812" y="246"/>
                  </a:lnTo>
                  <a:lnTo>
                    <a:pt x="1812" y="6"/>
                  </a:lnTo>
                  <a:lnTo>
                    <a:pt x="0" y="0"/>
                  </a:lnTo>
                  <a:close/>
                </a:path>
              </a:pathLst>
            </a:custGeom>
            <a:solidFill>
              <a:srgbClr val="DDDDDD"/>
            </a:solidFill>
            <a:ln w="6350">
              <a:solidFill>
                <a:srgbClr val="C0C0C0"/>
              </a:solidFill>
              <a:round/>
            </a:ln>
          </p:spPr>
          <p:txBody>
            <a:bodyPr wrap="none" anchor="ctr"/>
            <a:lstStyle/>
            <a:p>
              <a:endParaRPr lang="zh-CN" altLang="en-US"/>
            </a:p>
          </p:txBody>
        </p:sp>
        <p:sp>
          <p:nvSpPr>
            <p:cNvPr id="148236" name="Line 38"/>
            <p:cNvSpPr>
              <a:spLocks noChangeAspect="1" noChangeShapeType="1"/>
            </p:cNvSpPr>
            <p:nvPr/>
          </p:nvSpPr>
          <p:spPr bwMode="auto">
            <a:xfrm>
              <a:off x="2367" y="1536"/>
              <a:ext cx="906"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37" name="Line 39"/>
            <p:cNvSpPr>
              <a:spLocks noChangeAspect="1" noChangeShapeType="1"/>
            </p:cNvSpPr>
            <p:nvPr/>
          </p:nvSpPr>
          <p:spPr bwMode="auto">
            <a:xfrm>
              <a:off x="2367" y="1466"/>
              <a:ext cx="906" cy="0"/>
            </a:xfrm>
            <a:prstGeom prst="line">
              <a:avLst/>
            </a:prstGeom>
            <a:noFill/>
            <a:ln w="28575">
              <a:solidFill>
                <a:srgbClr val="96969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38" name="Line 40"/>
            <p:cNvSpPr>
              <a:spLocks noChangeAspect="1" noChangeShapeType="1"/>
            </p:cNvSpPr>
            <p:nvPr/>
          </p:nvSpPr>
          <p:spPr bwMode="auto">
            <a:xfrm>
              <a:off x="2367" y="1489"/>
              <a:ext cx="906" cy="0"/>
            </a:xfrm>
            <a:prstGeom prst="line">
              <a:avLst/>
            </a:prstGeom>
            <a:noFill/>
            <a:ln w="28575">
              <a:solidFill>
                <a:srgbClr val="96969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39" name="Line 41"/>
            <p:cNvSpPr>
              <a:spLocks noChangeAspect="1" noChangeShapeType="1"/>
            </p:cNvSpPr>
            <p:nvPr/>
          </p:nvSpPr>
          <p:spPr bwMode="auto">
            <a:xfrm>
              <a:off x="2367" y="1512"/>
              <a:ext cx="906" cy="0"/>
            </a:xfrm>
            <a:prstGeom prst="line">
              <a:avLst/>
            </a:prstGeom>
            <a:noFill/>
            <a:ln w="28575">
              <a:solidFill>
                <a:srgbClr val="96969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40" name="Line 42"/>
            <p:cNvSpPr>
              <a:spLocks noChangeAspect="1" noChangeShapeType="1"/>
            </p:cNvSpPr>
            <p:nvPr/>
          </p:nvSpPr>
          <p:spPr bwMode="auto">
            <a:xfrm flipV="1">
              <a:off x="2322" y="1298"/>
              <a:ext cx="0" cy="377"/>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8241" name="Group 43"/>
            <p:cNvGrpSpPr>
              <a:grpSpLocks noChangeAspect="1"/>
            </p:cNvGrpSpPr>
            <p:nvPr/>
          </p:nvGrpSpPr>
          <p:grpSpPr bwMode="auto">
            <a:xfrm>
              <a:off x="2089" y="1376"/>
              <a:ext cx="217" cy="46"/>
              <a:chOff x="386" y="618"/>
              <a:chExt cx="860" cy="184"/>
            </a:xfrm>
          </p:grpSpPr>
          <p:sp>
            <p:nvSpPr>
              <p:cNvPr id="148363" name="Freeform 44"/>
              <p:cNvSpPr>
                <a:spLocks noChangeAspect="1"/>
              </p:cNvSpPr>
              <p:nvPr/>
            </p:nvSpPr>
            <p:spPr bwMode="auto">
              <a:xfrm>
                <a:off x="386" y="627"/>
                <a:ext cx="102" cy="127"/>
              </a:xfrm>
              <a:custGeom>
                <a:avLst/>
                <a:gdLst>
                  <a:gd name="T0" fmla="*/ 1 w 524"/>
                  <a:gd name="T1" fmla="*/ 0 h 653"/>
                  <a:gd name="T2" fmla="*/ 1 w 524"/>
                  <a:gd name="T3" fmla="*/ 0 h 653"/>
                  <a:gd name="T4" fmla="*/ 0 w 524"/>
                  <a:gd name="T5" fmla="*/ 0 h 653"/>
                  <a:gd name="T6" fmla="*/ 0 w 524"/>
                  <a:gd name="T7" fmla="*/ 0 h 653"/>
                  <a:gd name="T8" fmla="*/ 0 w 524"/>
                  <a:gd name="T9" fmla="*/ 1 h 653"/>
                  <a:gd name="T10" fmla="*/ 0 w 524"/>
                  <a:gd name="T11" fmla="*/ 1 h 653"/>
                  <a:gd name="T12" fmla="*/ 1 w 524"/>
                  <a:gd name="T13" fmla="*/ 1 h 653"/>
                  <a:gd name="T14" fmla="*/ 1 w 524"/>
                  <a:gd name="T15" fmla="*/ 1 h 653"/>
                  <a:gd name="T16" fmla="*/ 1 w 524"/>
                  <a:gd name="T17" fmla="*/ 1 h 6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4"/>
                  <a:gd name="T28" fmla="*/ 0 h 653"/>
                  <a:gd name="T29" fmla="*/ 524 w 524"/>
                  <a:gd name="T30" fmla="*/ 653 h 6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4" h="653">
                    <a:moveTo>
                      <a:pt x="506" y="171"/>
                    </a:moveTo>
                    <a:cubicBezTo>
                      <a:pt x="489" y="150"/>
                      <a:pt x="456" y="70"/>
                      <a:pt x="404" y="45"/>
                    </a:cubicBezTo>
                    <a:cubicBezTo>
                      <a:pt x="352" y="20"/>
                      <a:pt x="256" y="0"/>
                      <a:pt x="194" y="21"/>
                    </a:cubicBezTo>
                    <a:cubicBezTo>
                      <a:pt x="132" y="42"/>
                      <a:pt x="62" y="102"/>
                      <a:pt x="32" y="171"/>
                    </a:cubicBezTo>
                    <a:cubicBezTo>
                      <a:pt x="2" y="240"/>
                      <a:pt x="0" y="363"/>
                      <a:pt x="14" y="435"/>
                    </a:cubicBezTo>
                    <a:cubicBezTo>
                      <a:pt x="28" y="507"/>
                      <a:pt x="62" y="568"/>
                      <a:pt x="116" y="603"/>
                    </a:cubicBezTo>
                    <a:cubicBezTo>
                      <a:pt x="170" y="638"/>
                      <a:pt x="277" y="653"/>
                      <a:pt x="338" y="645"/>
                    </a:cubicBezTo>
                    <a:cubicBezTo>
                      <a:pt x="399" y="637"/>
                      <a:pt x="451" y="586"/>
                      <a:pt x="482" y="555"/>
                    </a:cubicBezTo>
                    <a:cubicBezTo>
                      <a:pt x="513" y="524"/>
                      <a:pt x="515" y="479"/>
                      <a:pt x="524" y="45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64" name="Freeform 45"/>
              <p:cNvSpPr>
                <a:spLocks noChangeAspect="1"/>
              </p:cNvSpPr>
              <p:nvPr/>
            </p:nvSpPr>
            <p:spPr bwMode="auto">
              <a:xfrm>
                <a:off x="530" y="654"/>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65" name="Freeform 46"/>
              <p:cNvSpPr>
                <a:spLocks noChangeAspect="1"/>
              </p:cNvSpPr>
              <p:nvPr/>
            </p:nvSpPr>
            <p:spPr bwMode="auto">
              <a:xfrm flipH="1" flipV="1">
                <a:off x="655" y="657"/>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66" name="Group 47"/>
              <p:cNvGrpSpPr>
                <a:grpSpLocks noChangeAspect="1"/>
              </p:cNvGrpSpPr>
              <p:nvPr/>
            </p:nvGrpSpPr>
            <p:grpSpPr bwMode="auto">
              <a:xfrm>
                <a:off x="783" y="618"/>
                <a:ext cx="11" cy="136"/>
                <a:chOff x="1434" y="1286"/>
                <a:chExt cx="56" cy="679"/>
              </a:xfrm>
            </p:grpSpPr>
            <p:sp>
              <p:nvSpPr>
                <p:cNvPr id="148376" name="Freeform 48"/>
                <p:cNvSpPr>
                  <a:spLocks noChangeAspect="1"/>
                </p:cNvSpPr>
                <p:nvPr/>
              </p:nvSpPr>
              <p:spPr bwMode="auto">
                <a:xfrm>
                  <a:off x="1459" y="1459"/>
                  <a:ext cx="1" cy="506"/>
                </a:xfrm>
                <a:custGeom>
                  <a:avLst/>
                  <a:gdLst>
                    <a:gd name="T0" fmla="*/ 0 w 1"/>
                    <a:gd name="T1" fmla="*/ 0 h 506"/>
                    <a:gd name="T2" fmla="*/ 0 w 1"/>
                    <a:gd name="T3" fmla="*/ 506 h 506"/>
                    <a:gd name="T4" fmla="*/ 0 60000 65536"/>
                    <a:gd name="T5" fmla="*/ 0 60000 65536"/>
                    <a:gd name="T6" fmla="*/ 0 w 1"/>
                    <a:gd name="T7" fmla="*/ 0 h 506"/>
                    <a:gd name="T8" fmla="*/ 1 w 1"/>
                    <a:gd name="T9" fmla="*/ 506 h 506"/>
                  </a:gdLst>
                  <a:ahLst/>
                  <a:cxnLst>
                    <a:cxn ang="T4">
                      <a:pos x="T0" y="T1"/>
                    </a:cxn>
                    <a:cxn ang="T5">
                      <a:pos x="T2" y="T3"/>
                    </a:cxn>
                  </a:cxnLst>
                  <a:rect l="T6" t="T7" r="T8" b="T9"/>
                  <a:pathLst>
                    <a:path w="1" h="506">
                      <a:moveTo>
                        <a:pt x="0" y="0"/>
                      </a:moveTo>
                      <a:cubicBezTo>
                        <a:pt x="0" y="211"/>
                        <a:pt x="0" y="422"/>
                        <a:pt x="0" y="50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77" name="Oval 49"/>
                <p:cNvSpPr>
                  <a:spLocks noChangeAspect="1" noChangeArrowheads="1"/>
                </p:cNvSpPr>
                <p:nvPr/>
              </p:nvSpPr>
              <p:spPr bwMode="auto">
                <a:xfrm>
                  <a:off x="1434" y="1286"/>
                  <a:ext cx="56" cy="56"/>
                </a:xfrm>
                <a:prstGeom prst="ellipse">
                  <a:avLst/>
                </a:prstGeom>
                <a:solidFill>
                  <a:schemeClr val="tx1"/>
                </a:solidFill>
                <a:ln w="6350">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8367" name="Line 50"/>
              <p:cNvSpPr>
                <a:spLocks noChangeAspect="1" noChangeShapeType="1"/>
              </p:cNvSpPr>
              <p:nvPr/>
            </p:nvSpPr>
            <p:spPr bwMode="auto">
              <a:xfrm>
                <a:off x="848" y="618"/>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368" name="Line 51"/>
              <p:cNvSpPr>
                <a:spLocks noChangeAspect="1" noChangeShapeType="1"/>
              </p:cNvSpPr>
              <p:nvPr/>
            </p:nvSpPr>
            <p:spPr bwMode="auto">
              <a:xfrm>
                <a:off x="903" y="618"/>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369" name="Freeform 52"/>
              <p:cNvSpPr>
                <a:spLocks noChangeAspect="1"/>
              </p:cNvSpPr>
              <p:nvPr/>
            </p:nvSpPr>
            <p:spPr bwMode="auto">
              <a:xfrm>
                <a:off x="958" y="654"/>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70" name="Group 53"/>
              <p:cNvGrpSpPr>
                <a:grpSpLocks noChangeAspect="1"/>
              </p:cNvGrpSpPr>
              <p:nvPr/>
            </p:nvGrpSpPr>
            <p:grpSpPr bwMode="auto">
              <a:xfrm>
                <a:off x="1089" y="651"/>
                <a:ext cx="46" cy="103"/>
                <a:chOff x="2808" y="1818"/>
                <a:chExt cx="228" cy="516"/>
              </a:xfrm>
            </p:grpSpPr>
            <p:sp>
              <p:nvSpPr>
                <p:cNvPr id="148374" name="Freeform 54"/>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75" name="Freeform 55"/>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8371" name="Group 56"/>
              <p:cNvGrpSpPr>
                <a:grpSpLocks noChangeAspect="1"/>
              </p:cNvGrpSpPr>
              <p:nvPr/>
            </p:nvGrpSpPr>
            <p:grpSpPr bwMode="auto">
              <a:xfrm>
                <a:off x="1171" y="652"/>
                <a:ext cx="75" cy="136"/>
                <a:chOff x="2778" y="1746"/>
                <a:chExt cx="384" cy="701"/>
              </a:xfrm>
            </p:grpSpPr>
            <p:sp>
              <p:nvSpPr>
                <p:cNvPr id="148372" name="Freeform 57"/>
                <p:cNvSpPr>
                  <a:spLocks noChangeAspect="1"/>
                </p:cNvSpPr>
                <p:nvPr/>
              </p:nvSpPr>
              <p:spPr bwMode="auto">
                <a:xfrm>
                  <a:off x="2778" y="1746"/>
                  <a:ext cx="384" cy="701"/>
                </a:xfrm>
                <a:custGeom>
                  <a:avLst/>
                  <a:gdLst>
                    <a:gd name="T0" fmla="*/ 384 w 384"/>
                    <a:gd name="T1" fmla="*/ 0 h 701"/>
                    <a:gd name="T2" fmla="*/ 168 w 384"/>
                    <a:gd name="T3" fmla="*/ 594 h 701"/>
                    <a:gd name="T4" fmla="*/ 0 w 384"/>
                    <a:gd name="T5" fmla="*/ 642 h 701"/>
                    <a:gd name="T6" fmla="*/ 0 60000 65536"/>
                    <a:gd name="T7" fmla="*/ 0 60000 65536"/>
                    <a:gd name="T8" fmla="*/ 0 60000 65536"/>
                    <a:gd name="T9" fmla="*/ 0 w 384"/>
                    <a:gd name="T10" fmla="*/ 0 h 701"/>
                    <a:gd name="T11" fmla="*/ 384 w 384"/>
                    <a:gd name="T12" fmla="*/ 701 h 701"/>
                  </a:gdLst>
                  <a:ahLst/>
                  <a:cxnLst>
                    <a:cxn ang="T6">
                      <a:pos x="T0" y="T1"/>
                    </a:cxn>
                    <a:cxn ang="T7">
                      <a:pos x="T2" y="T3"/>
                    </a:cxn>
                    <a:cxn ang="T8">
                      <a:pos x="T4" y="T5"/>
                    </a:cxn>
                  </a:cxnLst>
                  <a:rect l="T9" t="T10" r="T11" b="T12"/>
                  <a:pathLst>
                    <a:path w="384" h="701">
                      <a:moveTo>
                        <a:pt x="384" y="0"/>
                      </a:moveTo>
                      <a:cubicBezTo>
                        <a:pt x="308" y="243"/>
                        <a:pt x="232" y="487"/>
                        <a:pt x="168" y="594"/>
                      </a:cubicBezTo>
                      <a:cubicBezTo>
                        <a:pt x="104" y="701"/>
                        <a:pt x="52" y="671"/>
                        <a:pt x="0"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73" name="Freeform 58"/>
                <p:cNvSpPr>
                  <a:spLocks noChangeAspect="1"/>
                </p:cNvSpPr>
                <p:nvPr/>
              </p:nvSpPr>
              <p:spPr bwMode="auto">
                <a:xfrm>
                  <a:off x="2802" y="1752"/>
                  <a:ext cx="180" cy="504"/>
                </a:xfrm>
                <a:custGeom>
                  <a:avLst/>
                  <a:gdLst>
                    <a:gd name="T0" fmla="*/ 0 w 180"/>
                    <a:gd name="T1" fmla="*/ 0 h 504"/>
                    <a:gd name="T2" fmla="*/ 180 w 180"/>
                    <a:gd name="T3" fmla="*/ 504 h 504"/>
                    <a:gd name="T4" fmla="*/ 0 60000 65536"/>
                    <a:gd name="T5" fmla="*/ 0 60000 65536"/>
                    <a:gd name="T6" fmla="*/ 0 w 180"/>
                    <a:gd name="T7" fmla="*/ 0 h 504"/>
                    <a:gd name="T8" fmla="*/ 180 w 180"/>
                    <a:gd name="T9" fmla="*/ 504 h 504"/>
                  </a:gdLst>
                  <a:ahLst/>
                  <a:cxnLst>
                    <a:cxn ang="T4">
                      <a:pos x="T0" y="T1"/>
                    </a:cxn>
                    <a:cxn ang="T5">
                      <a:pos x="T2" y="T3"/>
                    </a:cxn>
                  </a:cxnLst>
                  <a:rect l="T6" t="T7" r="T8" b="T9"/>
                  <a:pathLst>
                    <a:path w="180" h="504">
                      <a:moveTo>
                        <a:pt x="0" y="0"/>
                      </a:moveTo>
                      <a:cubicBezTo>
                        <a:pt x="0" y="0"/>
                        <a:pt x="90" y="252"/>
                        <a:pt x="180" y="50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8242" name="Group 59"/>
            <p:cNvGrpSpPr>
              <a:grpSpLocks noChangeAspect="1"/>
            </p:cNvGrpSpPr>
            <p:nvPr/>
          </p:nvGrpSpPr>
          <p:grpSpPr bwMode="auto">
            <a:xfrm>
              <a:off x="2089" y="1426"/>
              <a:ext cx="118" cy="34"/>
              <a:chOff x="1491" y="621"/>
              <a:chExt cx="481" cy="141"/>
            </a:xfrm>
          </p:grpSpPr>
          <p:grpSp>
            <p:nvGrpSpPr>
              <p:cNvPr id="148354" name="Group 60"/>
              <p:cNvGrpSpPr>
                <a:grpSpLocks noChangeAspect="1"/>
              </p:cNvGrpSpPr>
              <p:nvPr/>
            </p:nvGrpSpPr>
            <p:grpSpPr bwMode="auto">
              <a:xfrm>
                <a:off x="1491" y="621"/>
                <a:ext cx="58" cy="141"/>
                <a:chOff x="4422" y="1823"/>
                <a:chExt cx="291" cy="705"/>
              </a:xfrm>
            </p:grpSpPr>
            <p:sp>
              <p:nvSpPr>
                <p:cNvPr id="148361" name="Freeform 61"/>
                <p:cNvSpPr>
                  <a:spLocks noChangeAspect="1"/>
                </p:cNvSpPr>
                <p:nvPr/>
              </p:nvSpPr>
              <p:spPr bwMode="auto">
                <a:xfrm>
                  <a:off x="4525" y="1823"/>
                  <a:ext cx="188" cy="705"/>
                </a:xfrm>
                <a:custGeom>
                  <a:avLst/>
                  <a:gdLst>
                    <a:gd name="T0" fmla="*/ 19 w 188"/>
                    <a:gd name="T1" fmla="*/ 705 h 705"/>
                    <a:gd name="T2" fmla="*/ 28 w 188"/>
                    <a:gd name="T3" fmla="*/ 111 h 705"/>
                    <a:gd name="T4" fmla="*/ 188 w 188"/>
                    <a:gd name="T5" fmla="*/ 42 h 705"/>
                    <a:gd name="T6" fmla="*/ 0 60000 65536"/>
                    <a:gd name="T7" fmla="*/ 0 60000 65536"/>
                    <a:gd name="T8" fmla="*/ 0 60000 65536"/>
                    <a:gd name="T9" fmla="*/ 0 w 188"/>
                    <a:gd name="T10" fmla="*/ 0 h 705"/>
                    <a:gd name="T11" fmla="*/ 188 w 188"/>
                    <a:gd name="T12" fmla="*/ 705 h 705"/>
                  </a:gdLst>
                  <a:ahLst/>
                  <a:cxnLst>
                    <a:cxn ang="T6">
                      <a:pos x="T0" y="T1"/>
                    </a:cxn>
                    <a:cxn ang="T7">
                      <a:pos x="T2" y="T3"/>
                    </a:cxn>
                    <a:cxn ang="T8">
                      <a:pos x="T4" y="T5"/>
                    </a:cxn>
                  </a:cxnLst>
                  <a:rect l="T9" t="T10" r="T11" b="T12"/>
                  <a:pathLst>
                    <a:path w="188" h="705">
                      <a:moveTo>
                        <a:pt x="19" y="705"/>
                      </a:moveTo>
                      <a:cubicBezTo>
                        <a:pt x="20" y="606"/>
                        <a:pt x="0" y="222"/>
                        <a:pt x="28" y="111"/>
                      </a:cubicBezTo>
                      <a:cubicBezTo>
                        <a:pt x="56" y="0"/>
                        <a:pt x="155" y="56"/>
                        <a:pt x="188" y="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62" name="Line 62"/>
                <p:cNvSpPr>
                  <a:spLocks noChangeAspect="1" noChangeShapeType="1"/>
                </p:cNvSpPr>
                <p:nvPr/>
              </p:nvSpPr>
              <p:spPr bwMode="auto">
                <a:xfrm>
                  <a:off x="4422" y="2047"/>
                  <a:ext cx="250"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355" name="Freeform 63"/>
              <p:cNvSpPr>
                <a:spLocks noChangeAspect="1"/>
              </p:cNvSpPr>
              <p:nvPr/>
            </p:nvSpPr>
            <p:spPr bwMode="auto">
              <a:xfrm>
                <a:off x="1572" y="669"/>
                <a:ext cx="81" cy="93"/>
              </a:xfrm>
              <a:custGeom>
                <a:avLst/>
                <a:gdLst>
                  <a:gd name="T0" fmla="*/ 0 w 402"/>
                  <a:gd name="T1" fmla="*/ 0 h 464"/>
                  <a:gd name="T2" fmla="*/ 0 w 402"/>
                  <a:gd name="T3" fmla="*/ 0 h 464"/>
                  <a:gd name="T4" fmla="*/ 0 w 402"/>
                  <a:gd name="T5" fmla="*/ 0 h 464"/>
                  <a:gd name="T6" fmla="*/ 0 w 402"/>
                  <a:gd name="T7" fmla="*/ 0 h 464"/>
                  <a:gd name="T8" fmla="*/ 0 w 402"/>
                  <a:gd name="T9" fmla="*/ 1 h 464"/>
                  <a:gd name="T10" fmla="*/ 0 w 402"/>
                  <a:gd name="T11" fmla="*/ 1 h 464"/>
                  <a:gd name="T12" fmla="*/ 0 w 402"/>
                  <a:gd name="T13" fmla="*/ 1 h 464"/>
                  <a:gd name="T14" fmla="*/ 1 w 402"/>
                  <a:gd name="T15" fmla="*/ 0 h 464"/>
                  <a:gd name="T16" fmla="*/ 1 w 402"/>
                  <a:gd name="T17" fmla="*/ 0 h 464"/>
                  <a:gd name="T18" fmla="*/ 1 w 402"/>
                  <a:gd name="T19" fmla="*/ 0 h 464"/>
                  <a:gd name="T20" fmla="*/ 0 w 402"/>
                  <a:gd name="T21" fmla="*/ 0 h 4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2"/>
                  <a:gd name="T34" fmla="*/ 0 h 464"/>
                  <a:gd name="T35" fmla="*/ 402 w 402"/>
                  <a:gd name="T36" fmla="*/ 464 h 4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2" h="464">
                    <a:moveTo>
                      <a:pt x="192" y="0"/>
                    </a:moveTo>
                    <a:cubicBezTo>
                      <a:pt x="176" y="4"/>
                      <a:pt x="120" y="2"/>
                      <a:pt x="90" y="26"/>
                    </a:cubicBezTo>
                    <a:cubicBezTo>
                      <a:pt x="60" y="50"/>
                      <a:pt x="26" y="101"/>
                      <a:pt x="13" y="147"/>
                    </a:cubicBezTo>
                    <a:cubicBezTo>
                      <a:pt x="0" y="193"/>
                      <a:pt x="3" y="258"/>
                      <a:pt x="13" y="301"/>
                    </a:cubicBezTo>
                    <a:cubicBezTo>
                      <a:pt x="23" y="344"/>
                      <a:pt x="44" y="377"/>
                      <a:pt x="71" y="403"/>
                    </a:cubicBezTo>
                    <a:cubicBezTo>
                      <a:pt x="98" y="429"/>
                      <a:pt x="140" y="458"/>
                      <a:pt x="179" y="461"/>
                    </a:cubicBezTo>
                    <a:cubicBezTo>
                      <a:pt x="218" y="464"/>
                      <a:pt x="273" y="448"/>
                      <a:pt x="307" y="422"/>
                    </a:cubicBezTo>
                    <a:cubicBezTo>
                      <a:pt x="341" y="396"/>
                      <a:pt x="370" y="351"/>
                      <a:pt x="384" y="307"/>
                    </a:cubicBezTo>
                    <a:cubicBezTo>
                      <a:pt x="398" y="263"/>
                      <a:pt x="402" y="205"/>
                      <a:pt x="391" y="160"/>
                    </a:cubicBezTo>
                    <a:cubicBezTo>
                      <a:pt x="380" y="115"/>
                      <a:pt x="352" y="65"/>
                      <a:pt x="320" y="38"/>
                    </a:cubicBezTo>
                    <a:cubicBezTo>
                      <a:pt x="288" y="11"/>
                      <a:pt x="224" y="8"/>
                      <a:pt x="199"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56" name="Group 64"/>
              <p:cNvGrpSpPr>
                <a:grpSpLocks noChangeAspect="1"/>
              </p:cNvGrpSpPr>
              <p:nvPr/>
            </p:nvGrpSpPr>
            <p:grpSpPr bwMode="auto">
              <a:xfrm>
                <a:off x="1695" y="659"/>
                <a:ext cx="46" cy="103"/>
                <a:chOff x="2808" y="1818"/>
                <a:chExt cx="228" cy="516"/>
              </a:xfrm>
            </p:grpSpPr>
            <p:sp>
              <p:nvSpPr>
                <p:cNvPr id="148359" name="Freeform 65"/>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60" name="Freeform 66"/>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357" name="Freeform 67"/>
              <p:cNvSpPr>
                <a:spLocks noChangeAspect="1"/>
              </p:cNvSpPr>
              <p:nvPr/>
            </p:nvSpPr>
            <p:spPr bwMode="auto">
              <a:xfrm>
                <a:off x="1782" y="665"/>
                <a:ext cx="74" cy="97"/>
              </a:xfrm>
              <a:custGeom>
                <a:avLst/>
                <a:gdLst>
                  <a:gd name="T0" fmla="*/ 1 w 372"/>
                  <a:gd name="T1" fmla="*/ 1 h 487"/>
                  <a:gd name="T2" fmla="*/ 1 w 372"/>
                  <a:gd name="T3" fmla="*/ 1 h 487"/>
                  <a:gd name="T4" fmla="*/ 0 w 372"/>
                  <a:gd name="T5" fmla="*/ 1 h 487"/>
                  <a:gd name="T6" fmla="*/ 0 w 372"/>
                  <a:gd name="T7" fmla="*/ 1 h 487"/>
                  <a:gd name="T8" fmla="*/ 0 w 372"/>
                  <a:gd name="T9" fmla="*/ 1 h 487"/>
                  <a:gd name="T10" fmla="*/ 0 w 372"/>
                  <a:gd name="T11" fmla="*/ 0 h 487"/>
                  <a:gd name="T12" fmla="*/ 0 w 372"/>
                  <a:gd name="T13" fmla="*/ 0 h 487"/>
                  <a:gd name="T14" fmla="*/ 0 w 372"/>
                  <a:gd name="T15" fmla="*/ 0 h 487"/>
                  <a:gd name="T16" fmla="*/ 0 w 372"/>
                  <a:gd name="T17" fmla="*/ 0 h 487"/>
                  <a:gd name="T18" fmla="*/ 1 w 372"/>
                  <a:gd name="T19" fmla="*/ 0 h 487"/>
                  <a:gd name="T20" fmla="*/ 1 w 372"/>
                  <a:gd name="T21" fmla="*/ 0 h 48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2"/>
                  <a:gd name="T34" fmla="*/ 0 h 487"/>
                  <a:gd name="T35" fmla="*/ 372 w 372"/>
                  <a:gd name="T36" fmla="*/ 487 h 48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2" h="487">
                    <a:moveTo>
                      <a:pt x="372" y="316"/>
                    </a:moveTo>
                    <a:cubicBezTo>
                      <a:pt x="365" y="332"/>
                      <a:pt x="357" y="388"/>
                      <a:pt x="337" y="414"/>
                    </a:cubicBezTo>
                    <a:cubicBezTo>
                      <a:pt x="317" y="440"/>
                      <a:pt x="284" y="463"/>
                      <a:pt x="252" y="473"/>
                    </a:cubicBezTo>
                    <a:cubicBezTo>
                      <a:pt x="220" y="483"/>
                      <a:pt x="180" y="487"/>
                      <a:pt x="147" y="477"/>
                    </a:cubicBezTo>
                    <a:cubicBezTo>
                      <a:pt x="114" y="467"/>
                      <a:pt x="75" y="443"/>
                      <a:pt x="52" y="412"/>
                    </a:cubicBezTo>
                    <a:cubicBezTo>
                      <a:pt x="29" y="381"/>
                      <a:pt x="12" y="340"/>
                      <a:pt x="6" y="294"/>
                    </a:cubicBezTo>
                    <a:cubicBezTo>
                      <a:pt x="0" y="248"/>
                      <a:pt x="1" y="181"/>
                      <a:pt x="15" y="138"/>
                    </a:cubicBezTo>
                    <a:cubicBezTo>
                      <a:pt x="29" y="95"/>
                      <a:pt x="60" y="57"/>
                      <a:pt x="92" y="34"/>
                    </a:cubicBezTo>
                    <a:cubicBezTo>
                      <a:pt x="124" y="11"/>
                      <a:pt x="169" y="0"/>
                      <a:pt x="206" y="2"/>
                    </a:cubicBezTo>
                    <a:cubicBezTo>
                      <a:pt x="243" y="4"/>
                      <a:pt x="290" y="26"/>
                      <a:pt x="316" y="48"/>
                    </a:cubicBezTo>
                    <a:cubicBezTo>
                      <a:pt x="342" y="70"/>
                      <a:pt x="353" y="116"/>
                      <a:pt x="362" y="13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58" name="Freeform 68"/>
              <p:cNvSpPr>
                <a:spLocks noChangeAspect="1"/>
              </p:cNvSpPr>
              <p:nvPr/>
            </p:nvSpPr>
            <p:spPr bwMode="auto">
              <a:xfrm>
                <a:off x="1898" y="669"/>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8243" name="Group 69"/>
            <p:cNvGrpSpPr>
              <a:grpSpLocks noChangeAspect="1"/>
            </p:cNvGrpSpPr>
            <p:nvPr/>
          </p:nvGrpSpPr>
          <p:grpSpPr bwMode="auto">
            <a:xfrm>
              <a:off x="2411" y="1591"/>
              <a:ext cx="93" cy="34"/>
              <a:chOff x="1492" y="1562"/>
              <a:chExt cx="185" cy="68"/>
            </a:xfrm>
          </p:grpSpPr>
          <p:sp>
            <p:nvSpPr>
              <p:cNvPr id="148349" name="Freeform 70"/>
              <p:cNvSpPr>
                <a:spLocks noChangeAspect="1"/>
              </p:cNvSpPr>
              <p:nvPr/>
            </p:nvSpPr>
            <p:spPr bwMode="auto">
              <a:xfrm>
                <a:off x="1492" y="1565"/>
                <a:ext cx="57" cy="65"/>
              </a:xfrm>
              <a:custGeom>
                <a:avLst/>
                <a:gdLst>
                  <a:gd name="T0" fmla="*/ 0 w 562"/>
                  <a:gd name="T1" fmla="*/ 0 h 641"/>
                  <a:gd name="T2" fmla="*/ 0 w 562"/>
                  <a:gd name="T3" fmla="*/ 0 h 641"/>
                  <a:gd name="T4" fmla="*/ 0 w 562"/>
                  <a:gd name="T5" fmla="*/ 0 h 641"/>
                  <a:gd name="T6" fmla="*/ 0 w 562"/>
                  <a:gd name="T7" fmla="*/ 0 h 641"/>
                  <a:gd name="T8" fmla="*/ 0 w 562"/>
                  <a:gd name="T9" fmla="*/ 0 h 641"/>
                  <a:gd name="T10" fmla="*/ 0 w 562"/>
                  <a:gd name="T11" fmla="*/ 0 h 641"/>
                  <a:gd name="T12" fmla="*/ 0 w 562"/>
                  <a:gd name="T13" fmla="*/ 0 h 641"/>
                  <a:gd name="T14" fmla="*/ 0 w 562"/>
                  <a:gd name="T15" fmla="*/ 0 h 641"/>
                  <a:gd name="T16" fmla="*/ 0 w 562"/>
                  <a:gd name="T17" fmla="*/ 0 h 641"/>
                  <a:gd name="T18" fmla="*/ 0 w 562"/>
                  <a:gd name="T19" fmla="*/ 0 h 641"/>
                  <a:gd name="T20" fmla="*/ 0 w 562"/>
                  <a:gd name="T21" fmla="*/ 0 h 6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641"/>
                  <a:gd name="T35" fmla="*/ 562 w 562"/>
                  <a:gd name="T36" fmla="*/ 641 h 6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641">
                    <a:moveTo>
                      <a:pt x="550" y="166"/>
                    </a:moveTo>
                    <a:cubicBezTo>
                      <a:pt x="538" y="147"/>
                      <a:pt x="519" y="79"/>
                      <a:pt x="478" y="52"/>
                    </a:cubicBezTo>
                    <a:cubicBezTo>
                      <a:pt x="437" y="25"/>
                      <a:pt x="367" y="0"/>
                      <a:pt x="304" y="4"/>
                    </a:cubicBezTo>
                    <a:cubicBezTo>
                      <a:pt x="241" y="8"/>
                      <a:pt x="149" y="28"/>
                      <a:pt x="100" y="76"/>
                    </a:cubicBezTo>
                    <a:cubicBezTo>
                      <a:pt x="51" y="124"/>
                      <a:pt x="20" y="222"/>
                      <a:pt x="10" y="292"/>
                    </a:cubicBezTo>
                    <a:cubicBezTo>
                      <a:pt x="0" y="362"/>
                      <a:pt x="10" y="442"/>
                      <a:pt x="40" y="496"/>
                    </a:cubicBezTo>
                    <a:cubicBezTo>
                      <a:pt x="70" y="550"/>
                      <a:pt x="126" y="594"/>
                      <a:pt x="190" y="616"/>
                    </a:cubicBezTo>
                    <a:cubicBezTo>
                      <a:pt x="254" y="638"/>
                      <a:pt x="362" y="641"/>
                      <a:pt x="424" y="628"/>
                    </a:cubicBezTo>
                    <a:cubicBezTo>
                      <a:pt x="486" y="615"/>
                      <a:pt x="540" y="584"/>
                      <a:pt x="562" y="538"/>
                    </a:cubicBezTo>
                    <a:lnTo>
                      <a:pt x="556" y="352"/>
                    </a:lnTo>
                    <a:lnTo>
                      <a:pt x="322" y="35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50" name="Group 71"/>
              <p:cNvGrpSpPr>
                <a:grpSpLocks noChangeAspect="1"/>
              </p:cNvGrpSpPr>
              <p:nvPr/>
            </p:nvGrpSpPr>
            <p:grpSpPr bwMode="auto">
              <a:xfrm>
                <a:off x="1568" y="1565"/>
                <a:ext cx="45" cy="65"/>
                <a:chOff x="3017" y="1343"/>
                <a:chExt cx="420" cy="612"/>
              </a:xfrm>
            </p:grpSpPr>
            <p:sp>
              <p:nvSpPr>
                <p:cNvPr id="148352" name="Freeform 72"/>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53" name="Line 73"/>
                <p:cNvSpPr>
                  <a:spLocks noChangeAspect="1" noChangeShapeType="1"/>
                </p:cNvSpPr>
                <p:nvPr/>
              </p:nvSpPr>
              <p:spPr bwMode="auto">
                <a:xfrm>
                  <a:off x="3017" y="1637"/>
                  <a:ext cx="378"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351" name="Freeform 74"/>
              <p:cNvSpPr>
                <a:spLocks noChangeAspect="1"/>
              </p:cNvSpPr>
              <p:nvPr/>
            </p:nvSpPr>
            <p:spPr bwMode="auto">
              <a:xfrm>
                <a:off x="1633" y="1562"/>
                <a:ext cx="44" cy="68"/>
              </a:xfrm>
              <a:custGeom>
                <a:avLst/>
                <a:gdLst>
                  <a:gd name="T0" fmla="*/ 0 w 420"/>
                  <a:gd name="T1" fmla="*/ 0 h 654"/>
                  <a:gd name="T2" fmla="*/ 0 w 420"/>
                  <a:gd name="T3" fmla="*/ 0 h 654"/>
                  <a:gd name="T4" fmla="*/ 0 w 420"/>
                  <a:gd name="T5" fmla="*/ 0 h 654"/>
                  <a:gd name="T6" fmla="*/ 0 60000 65536"/>
                  <a:gd name="T7" fmla="*/ 0 60000 65536"/>
                  <a:gd name="T8" fmla="*/ 0 60000 65536"/>
                  <a:gd name="T9" fmla="*/ 0 w 420"/>
                  <a:gd name="T10" fmla="*/ 0 h 654"/>
                  <a:gd name="T11" fmla="*/ 420 w 420"/>
                  <a:gd name="T12" fmla="*/ 654 h 654"/>
                </a:gdLst>
                <a:ahLst/>
                <a:cxnLst>
                  <a:cxn ang="T6">
                    <a:pos x="T0" y="T1"/>
                  </a:cxn>
                  <a:cxn ang="T7">
                    <a:pos x="T2" y="T3"/>
                  </a:cxn>
                  <a:cxn ang="T8">
                    <a:pos x="T4" y="T5"/>
                  </a:cxn>
                </a:cxnLst>
                <a:rect l="T9" t="T10" r="T11" b="T12"/>
                <a:pathLst>
                  <a:path w="420" h="654">
                    <a:moveTo>
                      <a:pt x="0" y="0"/>
                    </a:moveTo>
                    <a:lnTo>
                      <a:pt x="0" y="654"/>
                    </a:lnTo>
                    <a:lnTo>
                      <a:pt x="420" y="65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244" name="Line 75"/>
            <p:cNvSpPr>
              <a:spLocks noChangeAspect="1" noChangeShapeType="1"/>
            </p:cNvSpPr>
            <p:nvPr/>
          </p:nvSpPr>
          <p:spPr bwMode="auto">
            <a:xfrm>
              <a:off x="2370" y="1448"/>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45" name="Line 76"/>
            <p:cNvSpPr>
              <a:spLocks noChangeAspect="1" noChangeShapeType="1"/>
            </p:cNvSpPr>
            <p:nvPr/>
          </p:nvSpPr>
          <p:spPr bwMode="auto">
            <a:xfrm>
              <a:off x="2370" y="1264"/>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46" name="Line 77"/>
            <p:cNvSpPr>
              <a:spLocks noChangeAspect="1" noChangeShapeType="1"/>
            </p:cNvSpPr>
            <p:nvPr/>
          </p:nvSpPr>
          <p:spPr bwMode="auto">
            <a:xfrm>
              <a:off x="2370" y="1295"/>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47" name="Line 78"/>
            <p:cNvSpPr>
              <a:spLocks noChangeAspect="1" noChangeShapeType="1"/>
            </p:cNvSpPr>
            <p:nvPr/>
          </p:nvSpPr>
          <p:spPr bwMode="auto">
            <a:xfrm>
              <a:off x="2370" y="1356"/>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48" name="Line 79"/>
            <p:cNvSpPr>
              <a:spLocks noChangeAspect="1" noChangeShapeType="1"/>
            </p:cNvSpPr>
            <p:nvPr/>
          </p:nvSpPr>
          <p:spPr bwMode="auto">
            <a:xfrm>
              <a:off x="2370" y="1417"/>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49" name="Line 80"/>
            <p:cNvSpPr>
              <a:spLocks noChangeAspect="1" noChangeShapeType="1"/>
            </p:cNvSpPr>
            <p:nvPr/>
          </p:nvSpPr>
          <p:spPr bwMode="auto">
            <a:xfrm>
              <a:off x="2370" y="1310"/>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0" name="Line 81"/>
            <p:cNvSpPr>
              <a:spLocks noChangeAspect="1" noChangeShapeType="1"/>
            </p:cNvSpPr>
            <p:nvPr/>
          </p:nvSpPr>
          <p:spPr bwMode="auto">
            <a:xfrm>
              <a:off x="2370" y="1371"/>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1" name="Line 82"/>
            <p:cNvSpPr>
              <a:spLocks noChangeAspect="1" noChangeShapeType="1"/>
            </p:cNvSpPr>
            <p:nvPr/>
          </p:nvSpPr>
          <p:spPr bwMode="auto">
            <a:xfrm>
              <a:off x="2370" y="1433"/>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2" name="Line 83"/>
            <p:cNvSpPr>
              <a:spLocks noChangeAspect="1" noChangeShapeType="1"/>
            </p:cNvSpPr>
            <p:nvPr/>
          </p:nvSpPr>
          <p:spPr bwMode="auto">
            <a:xfrm>
              <a:off x="2370" y="1402"/>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3" name="Line 84"/>
            <p:cNvSpPr>
              <a:spLocks noChangeAspect="1" noChangeShapeType="1"/>
            </p:cNvSpPr>
            <p:nvPr/>
          </p:nvSpPr>
          <p:spPr bwMode="auto">
            <a:xfrm>
              <a:off x="2370" y="1279"/>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4" name="Line 85"/>
            <p:cNvSpPr>
              <a:spLocks noChangeAspect="1" noChangeShapeType="1"/>
            </p:cNvSpPr>
            <p:nvPr/>
          </p:nvSpPr>
          <p:spPr bwMode="auto">
            <a:xfrm>
              <a:off x="2370" y="1325"/>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5" name="Line 86"/>
            <p:cNvSpPr>
              <a:spLocks noChangeAspect="1" noChangeShapeType="1"/>
            </p:cNvSpPr>
            <p:nvPr/>
          </p:nvSpPr>
          <p:spPr bwMode="auto">
            <a:xfrm>
              <a:off x="2370" y="1386"/>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6" name="Line 87"/>
            <p:cNvSpPr>
              <a:spLocks noChangeAspect="1" noChangeShapeType="1"/>
            </p:cNvSpPr>
            <p:nvPr/>
          </p:nvSpPr>
          <p:spPr bwMode="auto">
            <a:xfrm>
              <a:off x="2370" y="1340"/>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7" name="AutoShape 88"/>
            <p:cNvSpPr>
              <a:spLocks noChangeAspect="1"/>
            </p:cNvSpPr>
            <p:nvPr/>
          </p:nvSpPr>
          <p:spPr bwMode="auto">
            <a:xfrm>
              <a:off x="3276" y="1265"/>
              <a:ext cx="28" cy="183"/>
            </a:xfrm>
            <a:prstGeom prst="rightBracket">
              <a:avLst>
                <a:gd name="adj" fmla="val 54464"/>
              </a:avLst>
            </a:pr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258" name="AutoShape 89"/>
            <p:cNvSpPr>
              <a:spLocks noChangeAspect="1"/>
            </p:cNvSpPr>
            <p:nvPr/>
          </p:nvSpPr>
          <p:spPr bwMode="auto">
            <a:xfrm>
              <a:off x="3278" y="1460"/>
              <a:ext cx="28" cy="57"/>
            </a:xfrm>
            <a:prstGeom prst="rightBracket">
              <a:avLst>
                <a:gd name="adj" fmla="val 16964"/>
              </a:avLst>
            </a:pr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259" name="Line 90"/>
            <p:cNvSpPr>
              <a:spLocks noChangeAspect="1" noChangeShapeType="1"/>
            </p:cNvSpPr>
            <p:nvPr/>
          </p:nvSpPr>
          <p:spPr bwMode="auto">
            <a:xfrm flipH="1" flipV="1">
              <a:off x="3280" y="1545"/>
              <a:ext cx="90" cy="93"/>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8260" name="Group 91"/>
            <p:cNvGrpSpPr>
              <a:grpSpLocks noChangeAspect="1"/>
            </p:cNvGrpSpPr>
            <p:nvPr/>
          </p:nvGrpSpPr>
          <p:grpSpPr bwMode="auto">
            <a:xfrm>
              <a:off x="2106" y="1599"/>
              <a:ext cx="133" cy="34"/>
              <a:chOff x="1387" y="2767"/>
              <a:chExt cx="530" cy="136"/>
            </a:xfrm>
          </p:grpSpPr>
          <p:grpSp>
            <p:nvGrpSpPr>
              <p:cNvPr id="148335" name="Group 92"/>
              <p:cNvGrpSpPr>
                <a:grpSpLocks noChangeAspect="1"/>
              </p:cNvGrpSpPr>
              <p:nvPr/>
            </p:nvGrpSpPr>
            <p:grpSpPr bwMode="auto">
              <a:xfrm>
                <a:off x="1387" y="2776"/>
                <a:ext cx="80" cy="127"/>
                <a:chOff x="3653" y="1343"/>
                <a:chExt cx="384" cy="612"/>
              </a:xfrm>
            </p:grpSpPr>
            <p:sp>
              <p:nvSpPr>
                <p:cNvPr id="148347" name="Freeform 93"/>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48" name="Line 94"/>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336" name="Group 95"/>
              <p:cNvGrpSpPr>
                <a:grpSpLocks noChangeAspect="1"/>
              </p:cNvGrpSpPr>
              <p:nvPr/>
            </p:nvGrpSpPr>
            <p:grpSpPr bwMode="auto">
              <a:xfrm>
                <a:off x="1518" y="2767"/>
                <a:ext cx="11" cy="136"/>
                <a:chOff x="1434" y="1286"/>
                <a:chExt cx="56" cy="679"/>
              </a:xfrm>
            </p:grpSpPr>
            <p:sp>
              <p:nvSpPr>
                <p:cNvPr id="148345" name="Freeform 96"/>
                <p:cNvSpPr>
                  <a:spLocks noChangeAspect="1"/>
                </p:cNvSpPr>
                <p:nvPr/>
              </p:nvSpPr>
              <p:spPr bwMode="auto">
                <a:xfrm>
                  <a:off x="1459" y="1459"/>
                  <a:ext cx="1" cy="506"/>
                </a:xfrm>
                <a:custGeom>
                  <a:avLst/>
                  <a:gdLst>
                    <a:gd name="T0" fmla="*/ 0 w 1"/>
                    <a:gd name="T1" fmla="*/ 0 h 506"/>
                    <a:gd name="T2" fmla="*/ 0 w 1"/>
                    <a:gd name="T3" fmla="*/ 506 h 506"/>
                    <a:gd name="T4" fmla="*/ 0 60000 65536"/>
                    <a:gd name="T5" fmla="*/ 0 60000 65536"/>
                    <a:gd name="T6" fmla="*/ 0 w 1"/>
                    <a:gd name="T7" fmla="*/ 0 h 506"/>
                    <a:gd name="T8" fmla="*/ 1 w 1"/>
                    <a:gd name="T9" fmla="*/ 506 h 506"/>
                  </a:gdLst>
                  <a:ahLst/>
                  <a:cxnLst>
                    <a:cxn ang="T4">
                      <a:pos x="T0" y="T1"/>
                    </a:cxn>
                    <a:cxn ang="T5">
                      <a:pos x="T2" y="T3"/>
                    </a:cxn>
                  </a:cxnLst>
                  <a:rect l="T6" t="T7" r="T8" b="T9"/>
                  <a:pathLst>
                    <a:path w="1" h="506">
                      <a:moveTo>
                        <a:pt x="0" y="0"/>
                      </a:moveTo>
                      <a:cubicBezTo>
                        <a:pt x="0" y="211"/>
                        <a:pt x="0" y="422"/>
                        <a:pt x="0" y="50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46" name="Oval 97"/>
                <p:cNvSpPr>
                  <a:spLocks noChangeAspect="1" noChangeArrowheads="1"/>
                </p:cNvSpPr>
                <p:nvPr/>
              </p:nvSpPr>
              <p:spPr bwMode="auto">
                <a:xfrm>
                  <a:off x="1434" y="1286"/>
                  <a:ext cx="56" cy="56"/>
                </a:xfrm>
                <a:prstGeom prst="ellipse">
                  <a:avLst/>
                </a:prstGeom>
                <a:solidFill>
                  <a:schemeClr val="tx1"/>
                </a:solidFill>
                <a:ln w="6350">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8337" name="Line 98"/>
              <p:cNvSpPr>
                <a:spLocks noChangeAspect="1" noChangeShapeType="1"/>
              </p:cNvSpPr>
              <p:nvPr/>
            </p:nvSpPr>
            <p:spPr bwMode="auto">
              <a:xfrm>
                <a:off x="1590" y="2767"/>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48338" name="Group 99"/>
              <p:cNvGrpSpPr>
                <a:grpSpLocks noChangeAspect="1"/>
              </p:cNvGrpSpPr>
              <p:nvPr/>
            </p:nvGrpSpPr>
            <p:grpSpPr bwMode="auto">
              <a:xfrm>
                <a:off x="1645" y="2776"/>
                <a:ext cx="58" cy="127"/>
                <a:chOff x="3612" y="1686"/>
                <a:chExt cx="288" cy="634"/>
              </a:xfrm>
            </p:grpSpPr>
            <p:sp>
              <p:nvSpPr>
                <p:cNvPr id="148343" name="Freeform 100"/>
                <p:cNvSpPr>
                  <a:spLocks noChangeAspect="1"/>
                </p:cNvSpPr>
                <p:nvPr/>
              </p:nvSpPr>
              <p:spPr bwMode="auto">
                <a:xfrm>
                  <a:off x="3738" y="1686"/>
                  <a:ext cx="162" cy="634"/>
                </a:xfrm>
                <a:custGeom>
                  <a:avLst/>
                  <a:gdLst>
                    <a:gd name="T0" fmla="*/ 0 w 162"/>
                    <a:gd name="T1" fmla="*/ 0 h 634"/>
                    <a:gd name="T2" fmla="*/ 0 w 162"/>
                    <a:gd name="T3" fmla="*/ 534 h 634"/>
                    <a:gd name="T4" fmla="*/ 162 w 162"/>
                    <a:gd name="T5" fmla="*/ 600 h 634"/>
                    <a:gd name="T6" fmla="*/ 0 60000 65536"/>
                    <a:gd name="T7" fmla="*/ 0 60000 65536"/>
                    <a:gd name="T8" fmla="*/ 0 60000 65536"/>
                    <a:gd name="T9" fmla="*/ 0 w 162"/>
                    <a:gd name="T10" fmla="*/ 0 h 634"/>
                    <a:gd name="T11" fmla="*/ 162 w 162"/>
                    <a:gd name="T12" fmla="*/ 634 h 634"/>
                  </a:gdLst>
                  <a:ahLst/>
                  <a:cxnLst>
                    <a:cxn ang="T6">
                      <a:pos x="T0" y="T1"/>
                    </a:cxn>
                    <a:cxn ang="T7">
                      <a:pos x="T2" y="T3"/>
                    </a:cxn>
                    <a:cxn ang="T8">
                      <a:pos x="T4" y="T5"/>
                    </a:cxn>
                  </a:cxnLst>
                  <a:rect l="T9" t="T10" r="T11" b="T12"/>
                  <a:pathLst>
                    <a:path w="162" h="634">
                      <a:moveTo>
                        <a:pt x="0" y="0"/>
                      </a:moveTo>
                      <a:lnTo>
                        <a:pt x="0" y="534"/>
                      </a:lnTo>
                      <a:cubicBezTo>
                        <a:pt x="27" y="634"/>
                        <a:pt x="94" y="617"/>
                        <a:pt x="162" y="60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44" name="Freeform 101"/>
                <p:cNvSpPr>
                  <a:spLocks noChangeAspect="1"/>
                </p:cNvSpPr>
                <p:nvPr/>
              </p:nvSpPr>
              <p:spPr bwMode="auto">
                <a:xfrm>
                  <a:off x="3612" y="1872"/>
                  <a:ext cx="276" cy="1"/>
                </a:xfrm>
                <a:custGeom>
                  <a:avLst/>
                  <a:gdLst>
                    <a:gd name="T0" fmla="*/ 0 w 276"/>
                    <a:gd name="T1" fmla="*/ 0 h 1"/>
                    <a:gd name="T2" fmla="*/ 276 w 276"/>
                    <a:gd name="T3" fmla="*/ 0 h 1"/>
                    <a:gd name="T4" fmla="*/ 0 60000 65536"/>
                    <a:gd name="T5" fmla="*/ 0 60000 65536"/>
                    <a:gd name="T6" fmla="*/ 0 w 276"/>
                    <a:gd name="T7" fmla="*/ 0 h 1"/>
                    <a:gd name="T8" fmla="*/ 276 w 276"/>
                    <a:gd name="T9" fmla="*/ 1 h 1"/>
                  </a:gdLst>
                  <a:ahLst/>
                  <a:cxnLst>
                    <a:cxn ang="T4">
                      <a:pos x="T0" y="T1"/>
                    </a:cxn>
                    <a:cxn ang="T5">
                      <a:pos x="T2" y="T3"/>
                    </a:cxn>
                  </a:cxnLst>
                  <a:rect l="T6" t="T7" r="T8" b="T9"/>
                  <a:pathLst>
                    <a:path w="276" h="1">
                      <a:moveTo>
                        <a:pt x="0" y="0"/>
                      </a:moveTo>
                      <a:cubicBezTo>
                        <a:pt x="0" y="0"/>
                        <a:pt x="138" y="0"/>
                        <a:pt x="276"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339" name="Freeform 102"/>
              <p:cNvSpPr>
                <a:spLocks noChangeAspect="1"/>
              </p:cNvSpPr>
              <p:nvPr/>
            </p:nvSpPr>
            <p:spPr bwMode="auto">
              <a:xfrm>
                <a:off x="1741" y="2810"/>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40" name="Group 103"/>
              <p:cNvGrpSpPr>
                <a:grpSpLocks noChangeAspect="1"/>
              </p:cNvGrpSpPr>
              <p:nvPr/>
            </p:nvGrpSpPr>
            <p:grpSpPr bwMode="auto">
              <a:xfrm>
                <a:off x="1871" y="2800"/>
                <a:ext cx="46" cy="103"/>
                <a:chOff x="2808" y="1818"/>
                <a:chExt cx="228" cy="516"/>
              </a:xfrm>
            </p:grpSpPr>
            <p:sp>
              <p:nvSpPr>
                <p:cNvPr id="148341" name="Freeform 104"/>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42" name="Freeform 105"/>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8261" name="Group 106"/>
            <p:cNvGrpSpPr>
              <a:grpSpLocks noChangeAspect="1"/>
            </p:cNvGrpSpPr>
            <p:nvPr/>
          </p:nvGrpSpPr>
          <p:grpSpPr bwMode="auto">
            <a:xfrm>
              <a:off x="2106" y="1657"/>
              <a:ext cx="131" cy="37"/>
              <a:chOff x="2092" y="2798"/>
              <a:chExt cx="522" cy="145"/>
            </a:xfrm>
          </p:grpSpPr>
          <p:sp>
            <p:nvSpPr>
              <p:cNvPr id="148328" name="Freeform 107"/>
              <p:cNvSpPr>
                <a:spLocks noChangeAspect="1"/>
              </p:cNvSpPr>
              <p:nvPr/>
            </p:nvSpPr>
            <p:spPr bwMode="auto">
              <a:xfrm flipH="1" flipV="1">
                <a:off x="2092"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29" name="Freeform 108"/>
              <p:cNvSpPr>
                <a:spLocks noChangeAspect="1"/>
              </p:cNvSpPr>
              <p:nvPr/>
            </p:nvSpPr>
            <p:spPr bwMode="auto">
              <a:xfrm>
                <a:off x="2203" y="2798"/>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30" name="Freeform 109"/>
              <p:cNvSpPr>
                <a:spLocks noChangeAspect="1"/>
              </p:cNvSpPr>
              <p:nvPr/>
            </p:nvSpPr>
            <p:spPr bwMode="auto">
              <a:xfrm flipH="1" flipV="1">
                <a:off x="2323"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31" name="Freeform 110"/>
              <p:cNvSpPr>
                <a:spLocks noChangeAspect="1"/>
              </p:cNvSpPr>
              <p:nvPr/>
            </p:nvSpPr>
            <p:spPr bwMode="auto">
              <a:xfrm>
                <a:off x="2438" y="2798"/>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32" name="Group 111"/>
              <p:cNvGrpSpPr>
                <a:grpSpLocks noChangeAspect="1"/>
              </p:cNvGrpSpPr>
              <p:nvPr/>
            </p:nvGrpSpPr>
            <p:grpSpPr bwMode="auto">
              <a:xfrm>
                <a:off x="2568" y="2798"/>
                <a:ext cx="46" cy="103"/>
                <a:chOff x="2808" y="1818"/>
                <a:chExt cx="228" cy="516"/>
              </a:xfrm>
            </p:grpSpPr>
            <p:sp>
              <p:nvSpPr>
                <p:cNvPr id="148333" name="Freeform 112"/>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34" name="Freeform 113"/>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8262" name="Group 114"/>
            <p:cNvGrpSpPr>
              <a:grpSpLocks noChangeAspect="1"/>
            </p:cNvGrpSpPr>
            <p:nvPr/>
          </p:nvGrpSpPr>
          <p:grpSpPr bwMode="auto">
            <a:xfrm>
              <a:off x="3387" y="1599"/>
              <a:ext cx="118" cy="44"/>
              <a:chOff x="2891" y="2802"/>
              <a:chExt cx="467" cy="176"/>
            </a:xfrm>
          </p:grpSpPr>
          <p:sp>
            <p:nvSpPr>
              <p:cNvPr id="148321" name="Freeform 115"/>
              <p:cNvSpPr>
                <a:spLocks noChangeAspect="1"/>
              </p:cNvSpPr>
              <p:nvPr/>
            </p:nvSpPr>
            <p:spPr bwMode="auto">
              <a:xfrm>
                <a:off x="2891" y="2808"/>
                <a:ext cx="81" cy="130"/>
              </a:xfrm>
              <a:custGeom>
                <a:avLst/>
                <a:gdLst>
                  <a:gd name="T0" fmla="*/ 0 w 426"/>
                  <a:gd name="T1" fmla="*/ 1 h 684"/>
                  <a:gd name="T2" fmla="*/ 0 w 426"/>
                  <a:gd name="T3" fmla="*/ 0 h 684"/>
                  <a:gd name="T4" fmla="*/ 1 w 426"/>
                  <a:gd name="T5" fmla="*/ 1 h 684"/>
                  <a:gd name="T6" fmla="*/ 1 w 426"/>
                  <a:gd name="T7" fmla="*/ 0 h 684"/>
                  <a:gd name="T8" fmla="*/ 0 60000 65536"/>
                  <a:gd name="T9" fmla="*/ 0 60000 65536"/>
                  <a:gd name="T10" fmla="*/ 0 60000 65536"/>
                  <a:gd name="T11" fmla="*/ 0 60000 65536"/>
                  <a:gd name="T12" fmla="*/ 0 w 426"/>
                  <a:gd name="T13" fmla="*/ 0 h 684"/>
                  <a:gd name="T14" fmla="*/ 426 w 426"/>
                  <a:gd name="T15" fmla="*/ 684 h 684"/>
                </a:gdLst>
                <a:ahLst/>
                <a:cxnLst>
                  <a:cxn ang="T8">
                    <a:pos x="T0" y="T1"/>
                  </a:cxn>
                  <a:cxn ang="T9">
                    <a:pos x="T2" y="T3"/>
                  </a:cxn>
                  <a:cxn ang="T10">
                    <a:pos x="T4" y="T5"/>
                  </a:cxn>
                  <a:cxn ang="T11">
                    <a:pos x="T6" y="T7"/>
                  </a:cxn>
                </a:cxnLst>
                <a:rect l="T12" t="T13" r="T14" b="T15"/>
                <a:pathLst>
                  <a:path w="426" h="684">
                    <a:moveTo>
                      <a:pt x="0" y="684"/>
                    </a:moveTo>
                    <a:lnTo>
                      <a:pt x="0" y="6"/>
                    </a:lnTo>
                    <a:lnTo>
                      <a:pt x="426" y="672"/>
                    </a:lnTo>
                    <a:lnTo>
                      <a:pt x="426"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22" name="Group 116"/>
              <p:cNvGrpSpPr>
                <a:grpSpLocks noChangeAspect="1"/>
              </p:cNvGrpSpPr>
              <p:nvPr/>
            </p:nvGrpSpPr>
            <p:grpSpPr bwMode="auto">
              <a:xfrm>
                <a:off x="3018" y="2842"/>
                <a:ext cx="75" cy="136"/>
                <a:chOff x="2778" y="1746"/>
                <a:chExt cx="384" cy="701"/>
              </a:xfrm>
            </p:grpSpPr>
            <p:sp>
              <p:nvSpPr>
                <p:cNvPr id="148326" name="Freeform 117"/>
                <p:cNvSpPr>
                  <a:spLocks noChangeAspect="1"/>
                </p:cNvSpPr>
                <p:nvPr/>
              </p:nvSpPr>
              <p:spPr bwMode="auto">
                <a:xfrm>
                  <a:off x="2778" y="1746"/>
                  <a:ext cx="384" cy="701"/>
                </a:xfrm>
                <a:custGeom>
                  <a:avLst/>
                  <a:gdLst>
                    <a:gd name="T0" fmla="*/ 384 w 384"/>
                    <a:gd name="T1" fmla="*/ 0 h 701"/>
                    <a:gd name="T2" fmla="*/ 168 w 384"/>
                    <a:gd name="T3" fmla="*/ 594 h 701"/>
                    <a:gd name="T4" fmla="*/ 0 w 384"/>
                    <a:gd name="T5" fmla="*/ 642 h 701"/>
                    <a:gd name="T6" fmla="*/ 0 60000 65536"/>
                    <a:gd name="T7" fmla="*/ 0 60000 65536"/>
                    <a:gd name="T8" fmla="*/ 0 60000 65536"/>
                    <a:gd name="T9" fmla="*/ 0 w 384"/>
                    <a:gd name="T10" fmla="*/ 0 h 701"/>
                    <a:gd name="T11" fmla="*/ 384 w 384"/>
                    <a:gd name="T12" fmla="*/ 701 h 701"/>
                  </a:gdLst>
                  <a:ahLst/>
                  <a:cxnLst>
                    <a:cxn ang="T6">
                      <a:pos x="T0" y="T1"/>
                    </a:cxn>
                    <a:cxn ang="T7">
                      <a:pos x="T2" y="T3"/>
                    </a:cxn>
                    <a:cxn ang="T8">
                      <a:pos x="T4" y="T5"/>
                    </a:cxn>
                  </a:cxnLst>
                  <a:rect l="T9" t="T10" r="T11" b="T12"/>
                  <a:pathLst>
                    <a:path w="384" h="701">
                      <a:moveTo>
                        <a:pt x="384" y="0"/>
                      </a:moveTo>
                      <a:cubicBezTo>
                        <a:pt x="308" y="243"/>
                        <a:pt x="232" y="487"/>
                        <a:pt x="168" y="594"/>
                      </a:cubicBezTo>
                      <a:cubicBezTo>
                        <a:pt x="104" y="701"/>
                        <a:pt x="52" y="671"/>
                        <a:pt x="0"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27" name="Freeform 118"/>
                <p:cNvSpPr>
                  <a:spLocks noChangeAspect="1"/>
                </p:cNvSpPr>
                <p:nvPr/>
              </p:nvSpPr>
              <p:spPr bwMode="auto">
                <a:xfrm>
                  <a:off x="2802" y="1752"/>
                  <a:ext cx="180" cy="504"/>
                </a:xfrm>
                <a:custGeom>
                  <a:avLst/>
                  <a:gdLst>
                    <a:gd name="T0" fmla="*/ 0 w 180"/>
                    <a:gd name="T1" fmla="*/ 0 h 504"/>
                    <a:gd name="T2" fmla="*/ 180 w 180"/>
                    <a:gd name="T3" fmla="*/ 504 h 504"/>
                    <a:gd name="T4" fmla="*/ 0 60000 65536"/>
                    <a:gd name="T5" fmla="*/ 0 60000 65536"/>
                    <a:gd name="T6" fmla="*/ 0 w 180"/>
                    <a:gd name="T7" fmla="*/ 0 h 504"/>
                    <a:gd name="T8" fmla="*/ 180 w 180"/>
                    <a:gd name="T9" fmla="*/ 504 h 504"/>
                  </a:gdLst>
                  <a:ahLst/>
                  <a:cxnLst>
                    <a:cxn ang="T4">
                      <a:pos x="T0" y="T1"/>
                    </a:cxn>
                    <a:cxn ang="T5">
                      <a:pos x="T2" y="T3"/>
                    </a:cxn>
                  </a:cxnLst>
                  <a:rect l="T6" t="T7" r="T8" b="T9"/>
                  <a:pathLst>
                    <a:path w="180" h="504">
                      <a:moveTo>
                        <a:pt x="0" y="0"/>
                      </a:moveTo>
                      <a:cubicBezTo>
                        <a:pt x="0" y="0"/>
                        <a:pt x="90" y="252"/>
                        <a:pt x="180" y="50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323" name="Line 119"/>
              <p:cNvSpPr>
                <a:spLocks noChangeAspect="1" noChangeShapeType="1"/>
              </p:cNvSpPr>
              <p:nvPr/>
            </p:nvSpPr>
            <p:spPr bwMode="auto">
              <a:xfrm>
                <a:off x="3134" y="2802"/>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324" name="Freeform 120"/>
              <p:cNvSpPr>
                <a:spLocks noChangeAspect="1"/>
              </p:cNvSpPr>
              <p:nvPr/>
            </p:nvSpPr>
            <p:spPr bwMode="auto">
              <a:xfrm>
                <a:off x="3176" y="2845"/>
                <a:ext cx="81" cy="93"/>
              </a:xfrm>
              <a:custGeom>
                <a:avLst/>
                <a:gdLst>
                  <a:gd name="T0" fmla="*/ 0 w 402"/>
                  <a:gd name="T1" fmla="*/ 0 h 464"/>
                  <a:gd name="T2" fmla="*/ 0 w 402"/>
                  <a:gd name="T3" fmla="*/ 0 h 464"/>
                  <a:gd name="T4" fmla="*/ 0 w 402"/>
                  <a:gd name="T5" fmla="*/ 0 h 464"/>
                  <a:gd name="T6" fmla="*/ 0 w 402"/>
                  <a:gd name="T7" fmla="*/ 0 h 464"/>
                  <a:gd name="T8" fmla="*/ 0 w 402"/>
                  <a:gd name="T9" fmla="*/ 1 h 464"/>
                  <a:gd name="T10" fmla="*/ 0 w 402"/>
                  <a:gd name="T11" fmla="*/ 1 h 464"/>
                  <a:gd name="T12" fmla="*/ 0 w 402"/>
                  <a:gd name="T13" fmla="*/ 1 h 464"/>
                  <a:gd name="T14" fmla="*/ 1 w 402"/>
                  <a:gd name="T15" fmla="*/ 0 h 464"/>
                  <a:gd name="T16" fmla="*/ 1 w 402"/>
                  <a:gd name="T17" fmla="*/ 0 h 464"/>
                  <a:gd name="T18" fmla="*/ 1 w 402"/>
                  <a:gd name="T19" fmla="*/ 0 h 464"/>
                  <a:gd name="T20" fmla="*/ 0 w 402"/>
                  <a:gd name="T21" fmla="*/ 0 h 4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2"/>
                  <a:gd name="T34" fmla="*/ 0 h 464"/>
                  <a:gd name="T35" fmla="*/ 402 w 402"/>
                  <a:gd name="T36" fmla="*/ 464 h 4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2" h="464">
                    <a:moveTo>
                      <a:pt x="192" y="0"/>
                    </a:moveTo>
                    <a:cubicBezTo>
                      <a:pt x="176" y="4"/>
                      <a:pt x="120" y="2"/>
                      <a:pt x="90" y="26"/>
                    </a:cubicBezTo>
                    <a:cubicBezTo>
                      <a:pt x="60" y="50"/>
                      <a:pt x="26" y="101"/>
                      <a:pt x="13" y="147"/>
                    </a:cubicBezTo>
                    <a:cubicBezTo>
                      <a:pt x="0" y="193"/>
                      <a:pt x="3" y="258"/>
                      <a:pt x="13" y="301"/>
                    </a:cubicBezTo>
                    <a:cubicBezTo>
                      <a:pt x="23" y="344"/>
                      <a:pt x="44" y="377"/>
                      <a:pt x="71" y="403"/>
                    </a:cubicBezTo>
                    <a:cubicBezTo>
                      <a:pt x="98" y="429"/>
                      <a:pt x="140" y="458"/>
                      <a:pt x="179" y="461"/>
                    </a:cubicBezTo>
                    <a:cubicBezTo>
                      <a:pt x="218" y="464"/>
                      <a:pt x="273" y="448"/>
                      <a:pt x="307" y="422"/>
                    </a:cubicBezTo>
                    <a:cubicBezTo>
                      <a:pt x="341" y="396"/>
                      <a:pt x="370" y="351"/>
                      <a:pt x="384" y="307"/>
                    </a:cubicBezTo>
                    <a:cubicBezTo>
                      <a:pt x="398" y="263"/>
                      <a:pt x="402" y="205"/>
                      <a:pt x="391" y="160"/>
                    </a:cubicBezTo>
                    <a:cubicBezTo>
                      <a:pt x="380" y="115"/>
                      <a:pt x="352" y="65"/>
                      <a:pt x="320" y="38"/>
                    </a:cubicBezTo>
                    <a:cubicBezTo>
                      <a:pt x="288" y="11"/>
                      <a:pt x="224" y="8"/>
                      <a:pt x="199"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25" name="Freeform 121"/>
              <p:cNvSpPr>
                <a:spLocks noChangeAspect="1"/>
              </p:cNvSpPr>
              <p:nvPr/>
            </p:nvSpPr>
            <p:spPr bwMode="auto">
              <a:xfrm>
                <a:off x="3287" y="2835"/>
                <a:ext cx="71" cy="103"/>
              </a:xfrm>
              <a:custGeom>
                <a:avLst/>
                <a:gdLst>
                  <a:gd name="T0" fmla="*/ 0 w 356"/>
                  <a:gd name="T1" fmla="*/ 0 h 514"/>
                  <a:gd name="T2" fmla="*/ 0 w 356"/>
                  <a:gd name="T3" fmla="*/ 1 h 514"/>
                  <a:gd name="T4" fmla="*/ 0 w 356"/>
                  <a:gd name="T5" fmla="*/ 0 h 514"/>
                  <a:gd name="T6" fmla="*/ 0 w 356"/>
                  <a:gd name="T7" fmla="*/ 0 h 514"/>
                  <a:gd name="T8" fmla="*/ 0 w 356"/>
                  <a:gd name="T9" fmla="*/ 0 h 514"/>
                  <a:gd name="T10" fmla="*/ 1 w 356"/>
                  <a:gd name="T11" fmla="*/ 0 h 514"/>
                  <a:gd name="T12" fmla="*/ 1 w 356"/>
                  <a:gd name="T13" fmla="*/ 0 h 514"/>
                  <a:gd name="T14" fmla="*/ 1 w 356"/>
                  <a:gd name="T15" fmla="*/ 1 h 514"/>
                  <a:gd name="T16" fmla="*/ 0 60000 65536"/>
                  <a:gd name="T17" fmla="*/ 0 60000 65536"/>
                  <a:gd name="T18" fmla="*/ 0 60000 65536"/>
                  <a:gd name="T19" fmla="*/ 0 60000 65536"/>
                  <a:gd name="T20" fmla="*/ 0 60000 65536"/>
                  <a:gd name="T21" fmla="*/ 0 60000 65536"/>
                  <a:gd name="T22" fmla="*/ 0 60000 65536"/>
                  <a:gd name="T23" fmla="*/ 0 60000 65536"/>
                  <a:gd name="T24" fmla="*/ 0 w 356"/>
                  <a:gd name="T25" fmla="*/ 0 h 514"/>
                  <a:gd name="T26" fmla="*/ 356 w 356"/>
                  <a:gd name="T27" fmla="*/ 514 h 5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6" h="514">
                    <a:moveTo>
                      <a:pt x="11" y="0"/>
                    </a:moveTo>
                    <a:cubicBezTo>
                      <a:pt x="11" y="79"/>
                      <a:pt x="10" y="430"/>
                      <a:pt x="10" y="472"/>
                    </a:cubicBezTo>
                    <a:cubicBezTo>
                      <a:pt x="10" y="514"/>
                      <a:pt x="0" y="313"/>
                      <a:pt x="11" y="250"/>
                    </a:cubicBezTo>
                    <a:cubicBezTo>
                      <a:pt x="22" y="187"/>
                      <a:pt x="48" y="128"/>
                      <a:pt x="79" y="91"/>
                    </a:cubicBezTo>
                    <a:cubicBezTo>
                      <a:pt x="110" y="54"/>
                      <a:pt x="154" y="30"/>
                      <a:pt x="195" y="30"/>
                    </a:cubicBezTo>
                    <a:cubicBezTo>
                      <a:pt x="236" y="30"/>
                      <a:pt x="297" y="61"/>
                      <a:pt x="323" y="94"/>
                    </a:cubicBezTo>
                    <a:cubicBezTo>
                      <a:pt x="349" y="127"/>
                      <a:pt x="346" y="160"/>
                      <a:pt x="351" y="227"/>
                    </a:cubicBezTo>
                    <a:cubicBezTo>
                      <a:pt x="356" y="294"/>
                      <a:pt x="351" y="454"/>
                      <a:pt x="351" y="49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8263" name="Group 122"/>
            <p:cNvGrpSpPr>
              <a:grpSpLocks noChangeAspect="1"/>
            </p:cNvGrpSpPr>
            <p:nvPr/>
          </p:nvGrpSpPr>
          <p:grpSpPr bwMode="auto">
            <a:xfrm>
              <a:off x="3387" y="1645"/>
              <a:ext cx="239" cy="37"/>
              <a:chOff x="3565" y="2757"/>
              <a:chExt cx="949" cy="145"/>
            </a:xfrm>
          </p:grpSpPr>
          <p:grpSp>
            <p:nvGrpSpPr>
              <p:cNvPr id="148307" name="Group 123"/>
              <p:cNvGrpSpPr>
                <a:grpSpLocks noChangeAspect="1"/>
              </p:cNvGrpSpPr>
              <p:nvPr/>
            </p:nvGrpSpPr>
            <p:grpSpPr bwMode="auto">
              <a:xfrm>
                <a:off x="3565" y="2800"/>
                <a:ext cx="119" cy="102"/>
                <a:chOff x="1587" y="3362"/>
                <a:chExt cx="119" cy="102"/>
              </a:xfrm>
            </p:grpSpPr>
            <p:sp>
              <p:nvSpPr>
                <p:cNvPr id="148319" name="Freeform 124"/>
                <p:cNvSpPr>
                  <a:spLocks noChangeAspect="1"/>
                </p:cNvSpPr>
                <p:nvPr/>
              </p:nvSpPr>
              <p:spPr bwMode="auto">
                <a:xfrm>
                  <a:off x="1646" y="3367"/>
                  <a:ext cx="60" cy="91"/>
                </a:xfrm>
                <a:custGeom>
                  <a:avLst/>
                  <a:gdLst>
                    <a:gd name="T0" fmla="*/ 0 w 302"/>
                    <a:gd name="T1" fmla="*/ 1 h 456"/>
                    <a:gd name="T2" fmla="*/ 0 w 302"/>
                    <a:gd name="T3" fmla="*/ 0 h 456"/>
                    <a:gd name="T4" fmla="*/ 0 w 302"/>
                    <a:gd name="T5" fmla="*/ 0 h 456"/>
                    <a:gd name="T6" fmla="*/ 0 w 302"/>
                    <a:gd name="T7" fmla="*/ 0 h 456"/>
                    <a:gd name="T8" fmla="*/ 0 w 302"/>
                    <a:gd name="T9" fmla="*/ 0 h 456"/>
                    <a:gd name="T10" fmla="*/ 0 w 302"/>
                    <a:gd name="T11" fmla="*/ 0 h 456"/>
                    <a:gd name="T12" fmla="*/ 0 w 302"/>
                    <a:gd name="T13" fmla="*/ 1 h 456"/>
                    <a:gd name="T14" fmla="*/ 0 60000 65536"/>
                    <a:gd name="T15" fmla="*/ 0 60000 65536"/>
                    <a:gd name="T16" fmla="*/ 0 60000 65536"/>
                    <a:gd name="T17" fmla="*/ 0 60000 65536"/>
                    <a:gd name="T18" fmla="*/ 0 60000 65536"/>
                    <a:gd name="T19" fmla="*/ 0 60000 65536"/>
                    <a:gd name="T20" fmla="*/ 0 60000 65536"/>
                    <a:gd name="T21" fmla="*/ 0 w 302"/>
                    <a:gd name="T22" fmla="*/ 0 h 456"/>
                    <a:gd name="T23" fmla="*/ 302 w 302"/>
                    <a:gd name="T24" fmla="*/ 456 h 4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2" h="456">
                      <a:moveTo>
                        <a:pt x="298" y="456"/>
                      </a:moveTo>
                      <a:cubicBezTo>
                        <a:pt x="297" y="410"/>
                        <a:pt x="302" y="255"/>
                        <a:pt x="298" y="187"/>
                      </a:cubicBezTo>
                      <a:cubicBezTo>
                        <a:pt x="294" y="119"/>
                        <a:pt x="295" y="77"/>
                        <a:pt x="272" y="46"/>
                      </a:cubicBezTo>
                      <a:cubicBezTo>
                        <a:pt x="249" y="15"/>
                        <a:pt x="192" y="0"/>
                        <a:pt x="157" y="1"/>
                      </a:cubicBezTo>
                      <a:cubicBezTo>
                        <a:pt x="122" y="2"/>
                        <a:pt x="85" y="20"/>
                        <a:pt x="61" y="53"/>
                      </a:cubicBezTo>
                      <a:cubicBezTo>
                        <a:pt x="37" y="86"/>
                        <a:pt x="20" y="134"/>
                        <a:pt x="10" y="200"/>
                      </a:cubicBezTo>
                      <a:cubicBezTo>
                        <a:pt x="0" y="266"/>
                        <a:pt x="4" y="397"/>
                        <a:pt x="3" y="44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20" name="Freeform 125"/>
                <p:cNvSpPr>
                  <a:spLocks noChangeAspect="1"/>
                </p:cNvSpPr>
                <p:nvPr/>
              </p:nvSpPr>
              <p:spPr bwMode="auto">
                <a:xfrm>
                  <a:off x="1587" y="3362"/>
                  <a:ext cx="62" cy="102"/>
                </a:xfrm>
                <a:custGeom>
                  <a:avLst/>
                  <a:gdLst>
                    <a:gd name="T0" fmla="*/ 0 w 309"/>
                    <a:gd name="T1" fmla="*/ 0 h 510"/>
                    <a:gd name="T2" fmla="*/ 0 w 309"/>
                    <a:gd name="T3" fmla="*/ 1 h 510"/>
                    <a:gd name="T4" fmla="*/ 0 w 309"/>
                    <a:gd name="T5" fmla="*/ 0 h 510"/>
                    <a:gd name="T6" fmla="*/ 0 w 309"/>
                    <a:gd name="T7" fmla="*/ 0 h 510"/>
                    <a:gd name="T8" fmla="*/ 0 w 309"/>
                    <a:gd name="T9" fmla="*/ 0 h 510"/>
                    <a:gd name="T10" fmla="*/ 0 w 309"/>
                    <a:gd name="T11" fmla="*/ 0 h 510"/>
                    <a:gd name="T12" fmla="*/ 0 w 309"/>
                    <a:gd name="T13" fmla="*/ 0 h 510"/>
                    <a:gd name="T14" fmla="*/ 0 w 309"/>
                    <a:gd name="T15" fmla="*/ 1 h 510"/>
                    <a:gd name="T16" fmla="*/ 0 60000 65536"/>
                    <a:gd name="T17" fmla="*/ 0 60000 65536"/>
                    <a:gd name="T18" fmla="*/ 0 60000 65536"/>
                    <a:gd name="T19" fmla="*/ 0 60000 65536"/>
                    <a:gd name="T20" fmla="*/ 0 60000 65536"/>
                    <a:gd name="T21" fmla="*/ 0 60000 65536"/>
                    <a:gd name="T22" fmla="*/ 0 60000 65536"/>
                    <a:gd name="T23" fmla="*/ 0 60000 65536"/>
                    <a:gd name="T24" fmla="*/ 0 w 309"/>
                    <a:gd name="T25" fmla="*/ 0 h 510"/>
                    <a:gd name="T26" fmla="*/ 309 w 309"/>
                    <a:gd name="T27" fmla="*/ 510 h 5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9" h="510">
                      <a:moveTo>
                        <a:pt x="12" y="0"/>
                      </a:moveTo>
                      <a:cubicBezTo>
                        <a:pt x="12" y="78"/>
                        <a:pt x="10" y="426"/>
                        <a:pt x="10" y="468"/>
                      </a:cubicBezTo>
                      <a:cubicBezTo>
                        <a:pt x="10" y="510"/>
                        <a:pt x="0" y="313"/>
                        <a:pt x="12" y="250"/>
                      </a:cubicBezTo>
                      <a:cubicBezTo>
                        <a:pt x="24" y="187"/>
                        <a:pt x="49" y="128"/>
                        <a:pt x="80" y="91"/>
                      </a:cubicBezTo>
                      <a:cubicBezTo>
                        <a:pt x="111" y="54"/>
                        <a:pt x="161" y="30"/>
                        <a:pt x="196" y="30"/>
                      </a:cubicBezTo>
                      <a:cubicBezTo>
                        <a:pt x="231" y="30"/>
                        <a:pt x="273" y="59"/>
                        <a:pt x="291" y="94"/>
                      </a:cubicBezTo>
                      <a:cubicBezTo>
                        <a:pt x="309" y="129"/>
                        <a:pt x="302" y="176"/>
                        <a:pt x="304" y="241"/>
                      </a:cubicBezTo>
                      <a:cubicBezTo>
                        <a:pt x="306" y="306"/>
                        <a:pt x="304" y="434"/>
                        <a:pt x="304" y="48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308" name="Freeform 126"/>
              <p:cNvSpPr>
                <a:spLocks noChangeAspect="1"/>
              </p:cNvSpPr>
              <p:nvPr/>
            </p:nvSpPr>
            <p:spPr bwMode="auto">
              <a:xfrm>
                <a:off x="3719" y="2809"/>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09" name="Group 127"/>
              <p:cNvGrpSpPr>
                <a:grpSpLocks noChangeAspect="1"/>
              </p:cNvGrpSpPr>
              <p:nvPr/>
            </p:nvGrpSpPr>
            <p:grpSpPr bwMode="auto">
              <a:xfrm>
                <a:off x="3828" y="2800"/>
                <a:ext cx="119" cy="102"/>
                <a:chOff x="1587" y="3362"/>
                <a:chExt cx="119" cy="102"/>
              </a:xfrm>
            </p:grpSpPr>
            <p:sp>
              <p:nvSpPr>
                <p:cNvPr id="148317" name="Freeform 128"/>
                <p:cNvSpPr>
                  <a:spLocks noChangeAspect="1"/>
                </p:cNvSpPr>
                <p:nvPr/>
              </p:nvSpPr>
              <p:spPr bwMode="auto">
                <a:xfrm>
                  <a:off x="1646" y="3367"/>
                  <a:ext cx="60" cy="91"/>
                </a:xfrm>
                <a:custGeom>
                  <a:avLst/>
                  <a:gdLst>
                    <a:gd name="T0" fmla="*/ 0 w 302"/>
                    <a:gd name="T1" fmla="*/ 1 h 456"/>
                    <a:gd name="T2" fmla="*/ 0 w 302"/>
                    <a:gd name="T3" fmla="*/ 0 h 456"/>
                    <a:gd name="T4" fmla="*/ 0 w 302"/>
                    <a:gd name="T5" fmla="*/ 0 h 456"/>
                    <a:gd name="T6" fmla="*/ 0 w 302"/>
                    <a:gd name="T7" fmla="*/ 0 h 456"/>
                    <a:gd name="T8" fmla="*/ 0 w 302"/>
                    <a:gd name="T9" fmla="*/ 0 h 456"/>
                    <a:gd name="T10" fmla="*/ 0 w 302"/>
                    <a:gd name="T11" fmla="*/ 0 h 456"/>
                    <a:gd name="T12" fmla="*/ 0 w 302"/>
                    <a:gd name="T13" fmla="*/ 1 h 456"/>
                    <a:gd name="T14" fmla="*/ 0 60000 65536"/>
                    <a:gd name="T15" fmla="*/ 0 60000 65536"/>
                    <a:gd name="T16" fmla="*/ 0 60000 65536"/>
                    <a:gd name="T17" fmla="*/ 0 60000 65536"/>
                    <a:gd name="T18" fmla="*/ 0 60000 65536"/>
                    <a:gd name="T19" fmla="*/ 0 60000 65536"/>
                    <a:gd name="T20" fmla="*/ 0 60000 65536"/>
                    <a:gd name="T21" fmla="*/ 0 w 302"/>
                    <a:gd name="T22" fmla="*/ 0 h 456"/>
                    <a:gd name="T23" fmla="*/ 302 w 302"/>
                    <a:gd name="T24" fmla="*/ 456 h 4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2" h="456">
                      <a:moveTo>
                        <a:pt x="298" y="456"/>
                      </a:moveTo>
                      <a:cubicBezTo>
                        <a:pt x="297" y="410"/>
                        <a:pt x="302" y="255"/>
                        <a:pt x="298" y="187"/>
                      </a:cubicBezTo>
                      <a:cubicBezTo>
                        <a:pt x="294" y="119"/>
                        <a:pt x="295" y="77"/>
                        <a:pt x="272" y="46"/>
                      </a:cubicBezTo>
                      <a:cubicBezTo>
                        <a:pt x="249" y="15"/>
                        <a:pt x="192" y="0"/>
                        <a:pt x="157" y="1"/>
                      </a:cubicBezTo>
                      <a:cubicBezTo>
                        <a:pt x="122" y="2"/>
                        <a:pt x="85" y="20"/>
                        <a:pt x="61" y="53"/>
                      </a:cubicBezTo>
                      <a:cubicBezTo>
                        <a:pt x="37" y="86"/>
                        <a:pt x="20" y="134"/>
                        <a:pt x="10" y="200"/>
                      </a:cubicBezTo>
                      <a:cubicBezTo>
                        <a:pt x="0" y="266"/>
                        <a:pt x="4" y="397"/>
                        <a:pt x="3" y="44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18" name="Freeform 129"/>
                <p:cNvSpPr>
                  <a:spLocks noChangeAspect="1"/>
                </p:cNvSpPr>
                <p:nvPr/>
              </p:nvSpPr>
              <p:spPr bwMode="auto">
                <a:xfrm>
                  <a:off x="1587" y="3362"/>
                  <a:ext cx="62" cy="102"/>
                </a:xfrm>
                <a:custGeom>
                  <a:avLst/>
                  <a:gdLst>
                    <a:gd name="T0" fmla="*/ 0 w 309"/>
                    <a:gd name="T1" fmla="*/ 0 h 510"/>
                    <a:gd name="T2" fmla="*/ 0 w 309"/>
                    <a:gd name="T3" fmla="*/ 1 h 510"/>
                    <a:gd name="T4" fmla="*/ 0 w 309"/>
                    <a:gd name="T5" fmla="*/ 0 h 510"/>
                    <a:gd name="T6" fmla="*/ 0 w 309"/>
                    <a:gd name="T7" fmla="*/ 0 h 510"/>
                    <a:gd name="T8" fmla="*/ 0 w 309"/>
                    <a:gd name="T9" fmla="*/ 0 h 510"/>
                    <a:gd name="T10" fmla="*/ 0 w 309"/>
                    <a:gd name="T11" fmla="*/ 0 h 510"/>
                    <a:gd name="T12" fmla="*/ 0 w 309"/>
                    <a:gd name="T13" fmla="*/ 0 h 510"/>
                    <a:gd name="T14" fmla="*/ 0 w 309"/>
                    <a:gd name="T15" fmla="*/ 1 h 510"/>
                    <a:gd name="T16" fmla="*/ 0 60000 65536"/>
                    <a:gd name="T17" fmla="*/ 0 60000 65536"/>
                    <a:gd name="T18" fmla="*/ 0 60000 65536"/>
                    <a:gd name="T19" fmla="*/ 0 60000 65536"/>
                    <a:gd name="T20" fmla="*/ 0 60000 65536"/>
                    <a:gd name="T21" fmla="*/ 0 60000 65536"/>
                    <a:gd name="T22" fmla="*/ 0 60000 65536"/>
                    <a:gd name="T23" fmla="*/ 0 60000 65536"/>
                    <a:gd name="T24" fmla="*/ 0 w 309"/>
                    <a:gd name="T25" fmla="*/ 0 h 510"/>
                    <a:gd name="T26" fmla="*/ 309 w 309"/>
                    <a:gd name="T27" fmla="*/ 510 h 5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9" h="510">
                      <a:moveTo>
                        <a:pt x="12" y="0"/>
                      </a:moveTo>
                      <a:cubicBezTo>
                        <a:pt x="12" y="78"/>
                        <a:pt x="10" y="426"/>
                        <a:pt x="10" y="468"/>
                      </a:cubicBezTo>
                      <a:cubicBezTo>
                        <a:pt x="10" y="510"/>
                        <a:pt x="0" y="313"/>
                        <a:pt x="12" y="250"/>
                      </a:cubicBezTo>
                      <a:cubicBezTo>
                        <a:pt x="24" y="187"/>
                        <a:pt x="49" y="128"/>
                        <a:pt x="80" y="91"/>
                      </a:cubicBezTo>
                      <a:cubicBezTo>
                        <a:pt x="111" y="54"/>
                        <a:pt x="161" y="30"/>
                        <a:pt x="196" y="30"/>
                      </a:cubicBezTo>
                      <a:cubicBezTo>
                        <a:pt x="231" y="30"/>
                        <a:pt x="273" y="59"/>
                        <a:pt x="291" y="94"/>
                      </a:cubicBezTo>
                      <a:cubicBezTo>
                        <a:pt x="309" y="129"/>
                        <a:pt x="302" y="176"/>
                        <a:pt x="304" y="241"/>
                      </a:cubicBezTo>
                      <a:cubicBezTo>
                        <a:pt x="306" y="306"/>
                        <a:pt x="304" y="434"/>
                        <a:pt x="304" y="48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310" name="Freeform 130"/>
              <p:cNvSpPr>
                <a:spLocks noChangeAspect="1"/>
              </p:cNvSpPr>
              <p:nvPr/>
            </p:nvSpPr>
            <p:spPr bwMode="auto">
              <a:xfrm flipH="1">
                <a:off x="3988" y="2757"/>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11" name="Group 131"/>
              <p:cNvGrpSpPr>
                <a:grpSpLocks noChangeAspect="1"/>
              </p:cNvGrpSpPr>
              <p:nvPr/>
            </p:nvGrpSpPr>
            <p:grpSpPr bwMode="auto">
              <a:xfrm>
                <a:off x="4116" y="2799"/>
                <a:ext cx="46" cy="103"/>
                <a:chOff x="2808" y="1818"/>
                <a:chExt cx="228" cy="516"/>
              </a:xfrm>
            </p:grpSpPr>
            <p:sp>
              <p:nvSpPr>
                <p:cNvPr id="148315" name="Freeform 132"/>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16" name="Freeform 133"/>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312" name="Freeform 134"/>
              <p:cNvSpPr>
                <a:spLocks noChangeAspect="1"/>
              </p:cNvSpPr>
              <p:nvPr/>
            </p:nvSpPr>
            <p:spPr bwMode="auto">
              <a:xfrm>
                <a:off x="4197" y="2802"/>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13" name="Freeform 135"/>
              <p:cNvSpPr>
                <a:spLocks noChangeAspect="1"/>
              </p:cNvSpPr>
              <p:nvPr/>
            </p:nvSpPr>
            <p:spPr bwMode="auto">
              <a:xfrm>
                <a:off x="4321" y="2799"/>
                <a:ext cx="71" cy="103"/>
              </a:xfrm>
              <a:custGeom>
                <a:avLst/>
                <a:gdLst>
                  <a:gd name="T0" fmla="*/ 0 w 356"/>
                  <a:gd name="T1" fmla="*/ 0 h 514"/>
                  <a:gd name="T2" fmla="*/ 0 w 356"/>
                  <a:gd name="T3" fmla="*/ 1 h 514"/>
                  <a:gd name="T4" fmla="*/ 0 w 356"/>
                  <a:gd name="T5" fmla="*/ 0 h 514"/>
                  <a:gd name="T6" fmla="*/ 0 w 356"/>
                  <a:gd name="T7" fmla="*/ 0 h 514"/>
                  <a:gd name="T8" fmla="*/ 0 w 356"/>
                  <a:gd name="T9" fmla="*/ 0 h 514"/>
                  <a:gd name="T10" fmla="*/ 1 w 356"/>
                  <a:gd name="T11" fmla="*/ 0 h 514"/>
                  <a:gd name="T12" fmla="*/ 1 w 356"/>
                  <a:gd name="T13" fmla="*/ 0 h 514"/>
                  <a:gd name="T14" fmla="*/ 1 w 356"/>
                  <a:gd name="T15" fmla="*/ 1 h 514"/>
                  <a:gd name="T16" fmla="*/ 0 60000 65536"/>
                  <a:gd name="T17" fmla="*/ 0 60000 65536"/>
                  <a:gd name="T18" fmla="*/ 0 60000 65536"/>
                  <a:gd name="T19" fmla="*/ 0 60000 65536"/>
                  <a:gd name="T20" fmla="*/ 0 60000 65536"/>
                  <a:gd name="T21" fmla="*/ 0 60000 65536"/>
                  <a:gd name="T22" fmla="*/ 0 60000 65536"/>
                  <a:gd name="T23" fmla="*/ 0 60000 65536"/>
                  <a:gd name="T24" fmla="*/ 0 w 356"/>
                  <a:gd name="T25" fmla="*/ 0 h 514"/>
                  <a:gd name="T26" fmla="*/ 356 w 356"/>
                  <a:gd name="T27" fmla="*/ 514 h 5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6" h="514">
                    <a:moveTo>
                      <a:pt x="11" y="0"/>
                    </a:moveTo>
                    <a:cubicBezTo>
                      <a:pt x="11" y="79"/>
                      <a:pt x="10" y="430"/>
                      <a:pt x="10" y="472"/>
                    </a:cubicBezTo>
                    <a:cubicBezTo>
                      <a:pt x="10" y="514"/>
                      <a:pt x="0" y="313"/>
                      <a:pt x="11" y="250"/>
                    </a:cubicBezTo>
                    <a:cubicBezTo>
                      <a:pt x="22" y="187"/>
                      <a:pt x="48" y="128"/>
                      <a:pt x="79" y="91"/>
                    </a:cubicBezTo>
                    <a:cubicBezTo>
                      <a:pt x="110" y="54"/>
                      <a:pt x="154" y="30"/>
                      <a:pt x="195" y="30"/>
                    </a:cubicBezTo>
                    <a:cubicBezTo>
                      <a:pt x="236" y="30"/>
                      <a:pt x="297" y="61"/>
                      <a:pt x="323" y="94"/>
                    </a:cubicBezTo>
                    <a:cubicBezTo>
                      <a:pt x="349" y="127"/>
                      <a:pt x="346" y="160"/>
                      <a:pt x="351" y="227"/>
                    </a:cubicBezTo>
                    <a:cubicBezTo>
                      <a:pt x="356" y="294"/>
                      <a:pt x="351" y="454"/>
                      <a:pt x="351" y="49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14" name="Freeform 136"/>
              <p:cNvSpPr>
                <a:spLocks noChangeAspect="1"/>
              </p:cNvSpPr>
              <p:nvPr/>
            </p:nvSpPr>
            <p:spPr bwMode="auto">
              <a:xfrm>
                <a:off x="4440" y="2809"/>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264" name="Line 137"/>
            <p:cNvSpPr>
              <a:spLocks noChangeAspect="1" noChangeShapeType="1"/>
            </p:cNvSpPr>
            <p:nvPr/>
          </p:nvSpPr>
          <p:spPr bwMode="auto">
            <a:xfrm>
              <a:off x="2250" y="1686"/>
              <a:ext cx="93" cy="48"/>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65" name="Line 138"/>
            <p:cNvSpPr>
              <a:spLocks noChangeAspect="1" noChangeShapeType="1"/>
            </p:cNvSpPr>
            <p:nvPr/>
          </p:nvSpPr>
          <p:spPr bwMode="auto">
            <a:xfrm flipH="1">
              <a:off x="3319" y="1469"/>
              <a:ext cx="105" cy="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66" name="Line 139"/>
            <p:cNvSpPr>
              <a:spLocks noChangeAspect="1" noChangeShapeType="1"/>
            </p:cNvSpPr>
            <p:nvPr/>
          </p:nvSpPr>
          <p:spPr bwMode="auto">
            <a:xfrm flipH="1">
              <a:off x="3319" y="1325"/>
              <a:ext cx="99" cy="0"/>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8267" name="Group 140"/>
            <p:cNvGrpSpPr>
              <a:grpSpLocks noChangeAspect="1"/>
            </p:cNvGrpSpPr>
            <p:nvPr/>
          </p:nvGrpSpPr>
          <p:grpSpPr bwMode="auto">
            <a:xfrm>
              <a:off x="3454" y="1424"/>
              <a:ext cx="133" cy="34"/>
              <a:chOff x="1387" y="2767"/>
              <a:chExt cx="530" cy="136"/>
            </a:xfrm>
          </p:grpSpPr>
          <p:grpSp>
            <p:nvGrpSpPr>
              <p:cNvPr id="148293" name="Group 141"/>
              <p:cNvGrpSpPr>
                <a:grpSpLocks noChangeAspect="1"/>
              </p:cNvGrpSpPr>
              <p:nvPr/>
            </p:nvGrpSpPr>
            <p:grpSpPr bwMode="auto">
              <a:xfrm>
                <a:off x="1387" y="2776"/>
                <a:ext cx="80" cy="127"/>
                <a:chOff x="3653" y="1343"/>
                <a:chExt cx="384" cy="612"/>
              </a:xfrm>
            </p:grpSpPr>
            <p:sp>
              <p:nvSpPr>
                <p:cNvPr id="148305" name="Freeform 142"/>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06" name="Line 143"/>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294" name="Group 144"/>
              <p:cNvGrpSpPr>
                <a:grpSpLocks noChangeAspect="1"/>
              </p:cNvGrpSpPr>
              <p:nvPr/>
            </p:nvGrpSpPr>
            <p:grpSpPr bwMode="auto">
              <a:xfrm>
                <a:off x="1518" y="2767"/>
                <a:ext cx="11" cy="136"/>
                <a:chOff x="1434" y="1286"/>
                <a:chExt cx="56" cy="679"/>
              </a:xfrm>
            </p:grpSpPr>
            <p:sp>
              <p:nvSpPr>
                <p:cNvPr id="148303" name="Freeform 145"/>
                <p:cNvSpPr>
                  <a:spLocks noChangeAspect="1"/>
                </p:cNvSpPr>
                <p:nvPr/>
              </p:nvSpPr>
              <p:spPr bwMode="auto">
                <a:xfrm>
                  <a:off x="1459" y="1459"/>
                  <a:ext cx="1" cy="506"/>
                </a:xfrm>
                <a:custGeom>
                  <a:avLst/>
                  <a:gdLst>
                    <a:gd name="T0" fmla="*/ 0 w 1"/>
                    <a:gd name="T1" fmla="*/ 0 h 506"/>
                    <a:gd name="T2" fmla="*/ 0 w 1"/>
                    <a:gd name="T3" fmla="*/ 506 h 506"/>
                    <a:gd name="T4" fmla="*/ 0 60000 65536"/>
                    <a:gd name="T5" fmla="*/ 0 60000 65536"/>
                    <a:gd name="T6" fmla="*/ 0 w 1"/>
                    <a:gd name="T7" fmla="*/ 0 h 506"/>
                    <a:gd name="T8" fmla="*/ 1 w 1"/>
                    <a:gd name="T9" fmla="*/ 506 h 506"/>
                  </a:gdLst>
                  <a:ahLst/>
                  <a:cxnLst>
                    <a:cxn ang="T4">
                      <a:pos x="T0" y="T1"/>
                    </a:cxn>
                    <a:cxn ang="T5">
                      <a:pos x="T2" y="T3"/>
                    </a:cxn>
                  </a:cxnLst>
                  <a:rect l="T6" t="T7" r="T8" b="T9"/>
                  <a:pathLst>
                    <a:path w="1" h="506">
                      <a:moveTo>
                        <a:pt x="0" y="0"/>
                      </a:moveTo>
                      <a:cubicBezTo>
                        <a:pt x="0" y="211"/>
                        <a:pt x="0" y="422"/>
                        <a:pt x="0" y="50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04" name="Oval 146"/>
                <p:cNvSpPr>
                  <a:spLocks noChangeAspect="1" noChangeArrowheads="1"/>
                </p:cNvSpPr>
                <p:nvPr/>
              </p:nvSpPr>
              <p:spPr bwMode="auto">
                <a:xfrm>
                  <a:off x="1434" y="1286"/>
                  <a:ext cx="56" cy="56"/>
                </a:xfrm>
                <a:prstGeom prst="ellipse">
                  <a:avLst/>
                </a:prstGeom>
                <a:solidFill>
                  <a:schemeClr val="tx1"/>
                </a:solidFill>
                <a:ln w="6350">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8295" name="Line 147"/>
              <p:cNvSpPr>
                <a:spLocks noChangeAspect="1" noChangeShapeType="1"/>
              </p:cNvSpPr>
              <p:nvPr/>
            </p:nvSpPr>
            <p:spPr bwMode="auto">
              <a:xfrm>
                <a:off x="1590" y="2767"/>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48296" name="Group 148"/>
              <p:cNvGrpSpPr>
                <a:grpSpLocks noChangeAspect="1"/>
              </p:cNvGrpSpPr>
              <p:nvPr/>
            </p:nvGrpSpPr>
            <p:grpSpPr bwMode="auto">
              <a:xfrm>
                <a:off x="1645" y="2776"/>
                <a:ext cx="58" cy="127"/>
                <a:chOff x="3612" y="1686"/>
                <a:chExt cx="288" cy="634"/>
              </a:xfrm>
            </p:grpSpPr>
            <p:sp>
              <p:nvSpPr>
                <p:cNvPr id="148301" name="Freeform 149"/>
                <p:cNvSpPr>
                  <a:spLocks noChangeAspect="1"/>
                </p:cNvSpPr>
                <p:nvPr/>
              </p:nvSpPr>
              <p:spPr bwMode="auto">
                <a:xfrm>
                  <a:off x="3738" y="1686"/>
                  <a:ext cx="162" cy="634"/>
                </a:xfrm>
                <a:custGeom>
                  <a:avLst/>
                  <a:gdLst>
                    <a:gd name="T0" fmla="*/ 0 w 162"/>
                    <a:gd name="T1" fmla="*/ 0 h 634"/>
                    <a:gd name="T2" fmla="*/ 0 w 162"/>
                    <a:gd name="T3" fmla="*/ 534 h 634"/>
                    <a:gd name="T4" fmla="*/ 162 w 162"/>
                    <a:gd name="T5" fmla="*/ 600 h 634"/>
                    <a:gd name="T6" fmla="*/ 0 60000 65536"/>
                    <a:gd name="T7" fmla="*/ 0 60000 65536"/>
                    <a:gd name="T8" fmla="*/ 0 60000 65536"/>
                    <a:gd name="T9" fmla="*/ 0 w 162"/>
                    <a:gd name="T10" fmla="*/ 0 h 634"/>
                    <a:gd name="T11" fmla="*/ 162 w 162"/>
                    <a:gd name="T12" fmla="*/ 634 h 634"/>
                  </a:gdLst>
                  <a:ahLst/>
                  <a:cxnLst>
                    <a:cxn ang="T6">
                      <a:pos x="T0" y="T1"/>
                    </a:cxn>
                    <a:cxn ang="T7">
                      <a:pos x="T2" y="T3"/>
                    </a:cxn>
                    <a:cxn ang="T8">
                      <a:pos x="T4" y="T5"/>
                    </a:cxn>
                  </a:cxnLst>
                  <a:rect l="T9" t="T10" r="T11" b="T12"/>
                  <a:pathLst>
                    <a:path w="162" h="634">
                      <a:moveTo>
                        <a:pt x="0" y="0"/>
                      </a:moveTo>
                      <a:lnTo>
                        <a:pt x="0" y="534"/>
                      </a:lnTo>
                      <a:cubicBezTo>
                        <a:pt x="27" y="634"/>
                        <a:pt x="94" y="617"/>
                        <a:pt x="162" y="60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02" name="Freeform 150"/>
                <p:cNvSpPr>
                  <a:spLocks noChangeAspect="1"/>
                </p:cNvSpPr>
                <p:nvPr/>
              </p:nvSpPr>
              <p:spPr bwMode="auto">
                <a:xfrm>
                  <a:off x="3612" y="1872"/>
                  <a:ext cx="276" cy="1"/>
                </a:xfrm>
                <a:custGeom>
                  <a:avLst/>
                  <a:gdLst>
                    <a:gd name="T0" fmla="*/ 0 w 276"/>
                    <a:gd name="T1" fmla="*/ 0 h 1"/>
                    <a:gd name="T2" fmla="*/ 276 w 276"/>
                    <a:gd name="T3" fmla="*/ 0 h 1"/>
                    <a:gd name="T4" fmla="*/ 0 60000 65536"/>
                    <a:gd name="T5" fmla="*/ 0 60000 65536"/>
                    <a:gd name="T6" fmla="*/ 0 w 276"/>
                    <a:gd name="T7" fmla="*/ 0 h 1"/>
                    <a:gd name="T8" fmla="*/ 276 w 276"/>
                    <a:gd name="T9" fmla="*/ 1 h 1"/>
                  </a:gdLst>
                  <a:ahLst/>
                  <a:cxnLst>
                    <a:cxn ang="T4">
                      <a:pos x="T0" y="T1"/>
                    </a:cxn>
                    <a:cxn ang="T5">
                      <a:pos x="T2" y="T3"/>
                    </a:cxn>
                  </a:cxnLst>
                  <a:rect l="T6" t="T7" r="T8" b="T9"/>
                  <a:pathLst>
                    <a:path w="276" h="1">
                      <a:moveTo>
                        <a:pt x="0" y="0"/>
                      </a:moveTo>
                      <a:cubicBezTo>
                        <a:pt x="0" y="0"/>
                        <a:pt x="138" y="0"/>
                        <a:pt x="276"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297" name="Freeform 151"/>
              <p:cNvSpPr>
                <a:spLocks noChangeAspect="1"/>
              </p:cNvSpPr>
              <p:nvPr/>
            </p:nvSpPr>
            <p:spPr bwMode="auto">
              <a:xfrm>
                <a:off x="1741" y="2810"/>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298" name="Group 152"/>
              <p:cNvGrpSpPr>
                <a:grpSpLocks noChangeAspect="1"/>
              </p:cNvGrpSpPr>
              <p:nvPr/>
            </p:nvGrpSpPr>
            <p:grpSpPr bwMode="auto">
              <a:xfrm>
                <a:off x="1871" y="2800"/>
                <a:ext cx="46" cy="103"/>
                <a:chOff x="2808" y="1818"/>
                <a:chExt cx="228" cy="516"/>
              </a:xfrm>
            </p:grpSpPr>
            <p:sp>
              <p:nvSpPr>
                <p:cNvPr id="148299" name="Freeform 153"/>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00" name="Freeform 154"/>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8268" name="Group 155"/>
            <p:cNvGrpSpPr>
              <a:grpSpLocks noChangeAspect="1"/>
            </p:cNvGrpSpPr>
            <p:nvPr/>
          </p:nvGrpSpPr>
          <p:grpSpPr bwMode="auto">
            <a:xfrm>
              <a:off x="3454" y="1482"/>
              <a:ext cx="131" cy="36"/>
              <a:chOff x="2092" y="2798"/>
              <a:chExt cx="522" cy="145"/>
            </a:xfrm>
          </p:grpSpPr>
          <p:sp>
            <p:nvSpPr>
              <p:cNvPr id="148286" name="Freeform 156"/>
              <p:cNvSpPr>
                <a:spLocks noChangeAspect="1"/>
              </p:cNvSpPr>
              <p:nvPr/>
            </p:nvSpPr>
            <p:spPr bwMode="auto">
              <a:xfrm flipH="1" flipV="1">
                <a:off x="2092"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87" name="Freeform 157"/>
              <p:cNvSpPr>
                <a:spLocks noChangeAspect="1"/>
              </p:cNvSpPr>
              <p:nvPr/>
            </p:nvSpPr>
            <p:spPr bwMode="auto">
              <a:xfrm>
                <a:off x="2203" y="2798"/>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88" name="Freeform 158"/>
              <p:cNvSpPr>
                <a:spLocks noChangeAspect="1"/>
              </p:cNvSpPr>
              <p:nvPr/>
            </p:nvSpPr>
            <p:spPr bwMode="auto">
              <a:xfrm flipH="1" flipV="1">
                <a:off x="2323"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89" name="Freeform 159"/>
              <p:cNvSpPr>
                <a:spLocks noChangeAspect="1"/>
              </p:cNvSpPr>
              <p:nvPr/>
            </p:nvSpPr>
            <p:spPr bwMode="auto">
              <a:xfrm>
                <a:off x="2438" y="2798"/>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290" name="Group 160"/>
              <p:cNvGrpSpPr>
                <a:grpSpLocks noChangeAspect="1"/>
              </p:cNvGrpSpPr>
              <p:nvPr/>
            </p:nvGrpSpPr>
            <p:grpSpPr bwMode="auto">
              <a:xfrm>
                <a:off x="2568" y="2798"/>
                <a:ext cx="46" cy="103"/>
                <a:chOff x="2808" y="1818"/>
                <a:chExt cx="228" cy="516"/>
              </a:xfrm>
            </p:grpSpPr>
            <p:sp>
              <p:nvSpPr>
                <p:cNvPr id="148291" name="Freeform 161"/>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92" name="Freeform 162"/>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8269" name="Group 163"/>
            <p:cNvGrpSpPr>
              <a:grpSpLocks noChangeAspect="1"/>
            </p:cNvGrpSpPr>
            <p:nvPr/>
          </p:nvGrpSpPr>
          <p:grpSpPr bwMode="auto">
            <a:xfrm>
              <a:off x="3442" y="1269"/>
              <a:ext cx="132" cy="47"/>
              <a:chOff x="2034" y="2498"/>
              <a:chExt cx="525" cy="188"/>
            </a:xfrm>
          </p:grpSpPr>
          <p:sp>
            <p:nvSpPr>
              <p:cNvPr id="148279" name="Freeform 164"/>
              <p:cNvSpPr>
                <a:spLocks noChangeAspect="1"/>
              </p:cNvSpPr>
              <p:nvPr/>
            </p:nvSpPr>
            <p:spPr bwMode="auto">
              <a:xfrm>
                <a:off x="2148" y="2541"/>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80" name="Freeform 165"/>
              <p:cNvSpPr>
                <a:spLocks noChangeAspect="1"/>
              </p:cNvSpPr>
              <p:nvPr/>
            </p:nvSpPr>
            <p:spPr bwMode="auto">
              <a:xfrm flipH="1" flipV="1">
                <a:off x="2268" y="2541"/>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81" name="Freeform 166"/>
              <p:cNvSpPr>
                <a:spLocks noChangeAspect="1"/>
              </p:cNvSpPr>
              <p:nvPr/>
            </p:nvSpPr>
            <p:spPr bwMode="auto">
              <a:xfrm>
                <a:off x="2383" y="2541"/>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282" name="Group 167"/>
              <p:cNvGrpSpPr>
                <a:grpSpLocks noChangeAspect="1"/>
              </p:cNvGrpSpPr>
              <p:nvPr/>
            </p:nvGrpSpPr>
            <p:grpSpPr bwMode="auto">
              <a:xfrm>
                <a:off x="2513" y="2541"/>
                <a:ext cx="46" cy="103"/>
                <a:chOff x="2808" y="1818"/>
                <a:chExt cx="228" cy="516"/>
              </a:xfrm>
            </p:grpSpPr>
            <p:sp>
              <p:nvSpPr>
                <p:cNvPr id="148284" name="Freeform 168"/>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85" name="Freeform 169"/>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283" name="Freeform 170"/>
              <p:cNvSpPr>
                <a:spLocks noChangeAspect="1"/>
              </p:cNvSpPr>
              <p:nvPr/>
            </p:nvSpPr>
            <p:spPr bwMode="auto">
              <a:xfrm>
                <a:off x="2034" y="2498"/>
                <a:ext cx="81" cy="132"/>
              </a:xfrm>
              <a:custGeom>
                <a:avLst/>
                <a:gdLst>
                  <a:gd name="T0" fmla="*/ 0 w 407"/>
                  <a:gd name="T1" fmla="*/ 1 h 666"/>
                  <a:gd name="T2" fmla="*/ 0 w 407"/>
                  <a:gd name="T3" fmla="*/ 0 h 666"/>
                  <a:gd name="T4" fmla="*/ 0 w 407"/>
                  <a:gd name="T5" fmla="*/ 0 h 666"/>
                  <a:gd name="T6" fmla="*/ 1 w 407"/>
                  <a:gd name="T7" fmla="*/ 0 h 666"/>
                  <a:gd name="T8" fmla="*/ 1 w 407"/>
                  <a:gd name="T9" fmla="*/ 0 h 666"/>
                  <a:gd name="T10" fmla="*/ 0 w 407"/>
                  <a:gd name="T11" fmla="*/ 1 h 666"/>
                  <a:gd name="T12" fmla="*/ 0 w 407"/>
                  <a:gd name="T13" fmla="*/ 1 h 666"/>
                  <a:gd name="T14" fmla="*/ 0 60000 65536"/>
                  <a:gd name="T15" fmla="*/ 0 60000 65536"/>
                  <a:gd name="T16" fmla="*/ 0 60000 65536"/>
                  <a:gd name="T17" fmla="*/ 0 60000 65536"/>
                  <a:gd name="T18" fmla="*/ 0 60000 65536"/>
                  <a:gd name="T19" fmla="*/ 0 60000 65536"/>
                  <a:gd name="T20" fmla="*/ 0 60000 65536"/>
                  <a:gd name="T21" fmla="*/ 0 w 407"/>
                  <a:gd name="T22" fmla="*/ 0 h 666"/>
                  <a:gd name="T23" fmla="*/ 407 w 407"/>
                  <a:gd name="T24" fmla="*/ 666 h 6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7" h="666">
                    <a:moveTo>
                      <a:pt x="0" y="666"/>
                    </a:moveTo>
                    <a:lnTo>
                      <a:pt x="0" y="0"/>
                    </a:lnTo>
                    <a:lnTo>
                      <a:pt x="246" y="0"/>
                    </a:lnTo>
                    <a:cubicBezTo>
                      <a:pt x="309" y="13"/>
                      <a:pt x="355" y="37"/>
                      <a:pt x="378" y="78"/>
                    </a:cubicBezTo>
                    <a:cubicBezTo>
                      <a:pt x="401" y="119"/>
                      <a:pt x="407" y="201"/>
                      <a:pt x="384" y="246"/>
                    </a:cubicBezTo>
                    <a:cubicBezTo>
                      <a:pt x="361" y="291"/>
                      <a:pt x="304" y="331"/>
                      <a:pt x="240" y="348"/>
                    </a:cubicBezTo>
                    <a:lnTo>
                      <a:pt x="0" y="348"/>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8270" name="Group 171"/>
            <p:cNvGrpSpPr>
              <a:grpSpLocks noChangeAspect="1"/>
            </p:cNvGrpSpPr>
            <p:nvPr/>
          </p:nvGrpSpPr>
          <p:grpSpPr bwMode="auto">
            <a:xfrm>
              <a:off x="3438" y="1321"/>
              <a:ext cx="150" cy="34"/>
              <a:chOff x="2734" y="2495"/>
              <a:chExt cx="597" cy="136"/>
            </a:xfrm>
          </p:grpSpPr>
          <p:grpSp>
            <p:nvGrpSpPr>
              <p:cNvPr id="148271" name="Group 172"/>
              <p:cNvGrpSpPr>
                <a:grpSpLocks noChangeAspect="1"/>
              </p:cNvGrpSpPr>
              <p:nvPr/>
            </p:nvGrpSpPr>
            <p:grpSpPr bwMode="auto">
              <a:xfrm>
                <a:off x="2734" y="2504"/>
                <a:ext cx="58" cy="127"/>
                <a:chOff x="3612" y="1686"/>
                <a:chExt cx="288" cy="634"/>
              </a:xfrm>
            </p:grpSpPr>
            <p:sp>
              <p:nvSpPr>
                <p:cNvPr id="148277" name="Freeform 173"/>
                <p:cNvSpPr>
                  <a:spLocks noChangeAspect="1"/>
                </p:cNvSpPr>
                <p:nvPr/>
              </p:nvSpPr>
              <p:spPr bwMode="auto">
                <a:xfrm>
                  <a:off x="3738" y="1686"/>
                  <a:ext cx="162" cy="634"/>
                </a:xfrm>
                <a:custGeom>
                  <a:avLst/>
                  <a:gdLst>
                    <a:gd name="T0" fmla="*/ 0 w 162"/>
                    <a:gd name="T1" fmla="*/ 0 h 634"/>
                    <a:gd name="T2" fmla="*/ 0 w 162"/>
                    <a:gd name="T3" fmla="*/ 534 h 634"/>
                    <a:gd name="T4" fmla="*/ 162 w 162"/>
                    <a:gd name="T5" fmla="*/ 600 h 634"/>
                    <a:gd name="T6" fmla="*/ 0 60000 65536"/>
                    <a:gd name="T7" fmla="*/ 0 60000 65536"/>
                    <a:gd name="T8" fmla="*/ 0 60000 65536"/>
                    <a:gd name="T9" fmla="*/ 0 w 162"/>
                    <a:gd name="T10" fmla="*/ 0 h 634"/>
                    <a:gd name="T11" fmla="*/ 162 w 162"/>
                    <a:gd name="T12" fmla="*/ 634 h 634"/>
                  </a:gdLst>
                  <a:ahLst/>
                  <a:cxnLst>
                    <a:cxn ang="T6">
                      <a:pos x="T0" y="T1"/>
                    </a:cxn>
                    <a:cxn ang="T7">
                      <a:pos x="T2" y="T3"/>
                    </a:cxn>
                    <a:cxn ang="T8">
                      <a:pos x="T4" y="T5"/>
                    </a:cxn>
                  </a:cxnLst>
                  <a:rect l="T9" t="T10" r="T11" b="T12"/>
                  <a:pathLst>
                    <a:path w="162" h="634">
                      <a:moveTo>
                        <a:pt x="0" y="0"/>
                      </a:moveTo>
                      <a:lnTo>
                        <a:pt x="0" y="534"/>
                      </a:lnTo>
                      <a:cubicBezTo>
                        <a:pt x="27" y="634"/>
                        <a:pt x="94" y="617"/>
                        <a:pt x="162" y="60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78" name="Freeform 174"/>
                <p:cNvSpPr>
                  <a:spLocks noChangeAspect="1"/>
                </p:cNvSpPr>
                <p:nvPr/>
              </p:nvSpPr>
              <p:spPr bwMode="auto">
                <a:xfrm>
                  <a:off x="3612" y="1872"/>
                  <a:ext cx="276" cy="1"/>
                </a:xfrm>
                <a:custGeom>
                  <a:avLst/>
                  <a:gdLst>
                    <a:gd name="T0" fmla="*/ 0 w 276"/>
                    <a:gd name="T1" fmla="*/ 0 h 1"/>
                    <a:gd name="T2" fmla="*/ 276 w 276"/>
                    <a:gd name="T3" fmla="*/ 0 h 1"/>
                    <a:gd name="T4" fmla="*/ 0 60000 65536"/>
                    <a:gd name="T5" fmla="*/ 0 60000 65536"/>
                    <a:gd name="T6" fmla="*/ 0 w 276"/>
                    <a:gd name="T7" fmla="*/ 0 h 1"/>
                    <a:gd name="T8" fmla="*/ 276 w 276"/>
                    <a:gd name="T9" fmla="*/ 1 h 1"/>
                  </a:gdLst>
                  <a:ahLst/>
                  <a:cxnLst>
                    <a:cxn ang="T4">
                      <a:pos x="T0" y="T1"/>
                    </a:cxn>
                    <a:cxn ang="T5">
                      <a:pos x="T2" y="T3"/>
                    </a:cxn>
                  </a:cxnLst>
                  <a:rect l="T6" t="T7" r="T8" b="T9"/>
                  <a:pathLst>
                    <a:path w="276" h="1">
                      <a:moveTo>
                        <a:pt x="0" y="0"/>
                      </a:moveTo>
                      <a:cubicBezTo>
                        <a:pt x="0" y="0"/>
                        <a:pt x="138" y="0"/>
                        <a:pt x="276"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272" name="Freeform 175"/>
              <p:cNvSpPr>
                <a:spLocks noChangeAspect="1"/>
              </p:cNvSpPr>
              <p:nvPr/>
            </p:nvSpPr>
            <p:spPr bwMode="auto">
              <a:xfrm>
                <a:off x="2832" y="2538"/>
                <a:ext cx="81" cy="93"/>
              </a:xfrm>
              <a:custGeom>
                <a:avLst/>
                <a:gdLst>
                  <a:gd name="T0" fmla="*/ 0 w 402"/>
                  <a:gd name="T1" fmla="*/ 0 h 464"/>
                  <a:gd name="T2" fmla="*/ 0 w 402"/>
                  <a:gd name="T3" fmla="*/ 0 h 464"/>
                  <a:gd name="T4" fmla="*/ 0 w 402"/>
                  <a:gd name="T5" fmla="*/ 0 h 464"/>
                  <a:gd name="T6" fmla="*/ 0 w 402"/>
                  <a:gd name="T7" fmla="*/ 0 h 464"/>
                  <a:gd name="T8" fmla="*/ 0 w 402"/>
                  <a:gd name="T9" fmla="*/ 1 h 464"/>
                  <a:gd name="T10" fmla="*/ 0 w 402"/>
                  <a:gd name="T11" fmla="*/ 1 h 464"/>
                  <a:gd name="T12" fmla="*/ 0 w 402"/>
                  <a:gd name="T13" fmla="*/ 1 h 464"/>
                  <a:gd name="T14" fmla="*/ 1 w 402"/>
                  <a:gd name="T15" fmla="*/ 0 h 464"/>
                  <a:gd name="T16" fmla="*/ 1 w 402"/>
                  <a:gd name="T17" fmla="*/ 0 h 464"/>
                  <a:gd name="T18" fmla="*/ 1 w 402"/>
                  <a:gd name="T19" fmla="*/ 0 h 464"/>
                  <a:gd name="T20" fmla="*/ 0 w 402"/>
                  <a:gd name="T21" fmla="*/ 0 h 4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2"/>
                  <a:gd name="T34" fmla="*/ 0 h 464"/>
                  <a:gd name="T35" fmla="*/ 402 w 402"/>
                  <a:gd name="T36" fmla="*/ 464 h 4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2" h="464">
                    <a:moveTo>
                      <a:pt x="192" y="0"/>
                    </a:moveTo>
                    <a:cubicBezTo>
                      <a:pt x="176" y="4"/>
                      <a:pt x="120" y="2"/>
                      <a:pt x="90" y="26"/>
                    </a:cubicBezTo>
                    <a:cubicBezTo>
                      <a:pt x="60" y="50"/>
                      <a:pt x="26" y="101"/>
                      <a:pt x="13" y="147"/>
                    </a:cubicBezTo>
                    <a:cubicBezTo>
                      <a:pt x="0" y="193"/>
                      <a:pt x="3" y="258"/>
                      <a:pt x="13" y="301"/>
                    </a:cubicBezTo>
                    <a:cubicBezTo>
                      <a:pt x="23" y="344"/>
                      <a:pt x="44" y="377"/>
                      <a:pt x="71" y="403"/>
                    </a:cubicBezTo>
                    <a:cubicBezTo>
                      <a:pt x="98" y="429"/>
                      <a:pt x="140" y="458"/>
                      <a:pt x="179" y="461"/>
                    </a:cubicBezTo>
                    <a:cubicBezTo>
                      <a:pt x="218" y="464"/>
                      <a:pt x="273" y="448"/>
                      <a:pt x="307" y="422"/>
                    </a:cubicBezTo>
                    <a:cubicBezTo>
                      <a:pt x="341" y="396"/>
                      <a:pt x="370" y="351"/>
                      <a:pt x="384" y="307"/>
                    </a:cubicBezTo>
                    <a:cubicBezTo>
                      <a:pt x="398" y="263"/>
                      <a:pt x="402" y="205"/>
                      <a:pt x="391" y="160"/>
                    </a:cubicBezTo>
                    <a:cubicBezTo>
                      <a:pt x="380" y="115"/>
                      <a:pt x="352" y="65"/>
                      <a:pt x="320" y="38"/>
                    </a:cubicBezTo>
                    <a:cubicBezTo>
                      <a:pt x="288" y="11"/>
                      <a:pt x="224" y="8"/>
                      <a:pt x="199"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73" name="Freeform 176"/>
              <p:cNvSpPr>
                <a:spLocks noChangeAspect="1"/>
              </p:cNvSpPr>
              <p:nvPr/>
            </p:nvSpPr>
            <p:spPr bwMode="auto">
              <a:xfrm>
                <a:off x="2945" y="2536"/>
                <a:ext cx="121" cy="95"/>
              </a:xfrm>
              <a:custGeom>
                <a:avLst/>
                <a:gdLst>
                  <a:gd name="T0" fmla="*/ 0 w 618"/>
                  <a:gd name="T1" fmla="*/ 0 h 498"/>
                  <a:gd name="T2" fmla="*/ 0 w 618"/>
                  <a:gd name="T3" fmla="*/ 1 h 498"/>
                  <a:gd name="T4" fmla="*/ 0 w 618"/>
                  <a:gd name="T5" fmla="*/ 0 h 498"/>
                  <a:gd name="T6" fmla="*/ 1 w 618"/>
                  <a:gd name="T7" fmla="*/ 1 h 498"/>
                  <a:gd name="T8" fmla="*/ 1 w 618"/>
                  <a:gd name="T9" fmla="*/ 0 h 498"/>
                  <a:gd name="T10" fmla="*/ 0 60000 65536"/>
                  <a:gd name="T11" fmla="*/ 0 60000 65536"/>
                  <a:gd name="T12" fmla="*/ 0 60000 65536"/>
                  <a:gd name="T13" fmla="*/ 0 60000 65536"/>
                  <a:gd name="T14" fmla="*/ 0 60000 65536"/>
                  <a:gd name="T15" fmla="*/ 0 w 618"/>
                  <a:gd name="T16" fmla="*/ 0 h 498"/>
                  <a:gd name="T17" fmla="*/ 618 w 618"/>
                  <a:gd name="T18" fmla="*/ 498 h 498"/>
                </a:gdLst>
                <a:ahLst/>
                <a:cxnLst>
                  <a:cxn ang="T10">
                    <a:pos x="T0" y="T1"/>
                  </a:cxn>
                  <a:cxn ang="T11">
                    <a:pos x="T2" y="T3"/>
                  </a:cxn>
                  <a:cxn ang="T12">
                    <a:pos x="T4" y="T5"/>
                  </a:cxn>
                  <a:cxn ang="T13">
                    <a:pos x="T6" y="T7"/>
                  </a:cxn>
                  <a:cxn ang="T14">
                    <a:pos x="T8" y="T9"/>
                  </a:cxn>
                </a:cxnLst>
                <a:rect l="T15" t="T16" r="T17" b="T18"/>
                <a:pathLst>
                  <a:path w="618" h="498">
                    <a:moveTo>
                      <a:pt x="0" y="0"/>
                    </a:moveTo>
                    <a:lnTo>
                      <a:pt x="150" y="498"/>
                    </a:lnTo>
                    <a:lnTo>
                      <a:pt x="306" y="12"/>
                    </a:lnTo>
                    <a:lnTo>
                      <a:pt x="462" y="498"/>
                    </a:lnTo>
                    <a:lnTo>
                      <a:pt x="618"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74" name="Freeform 177"/>
              <p:cNvSpPr>
                <a:spLocks noChangeAspect="1"/>
              </p:cNvSpPr>
              <p:nvPr/>
            </p:nvSpPr>
            <p:spPr bwMode="auto">
              <a:xfrm>
                <a:off x="3106" y="2538"/>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75" name="Line 178"/>
              <p:cNvSpPr>
                <a:spLocks noChangeAspect="1" noChangeShapeType="1"/>
              </p:cNvSpPr>
              <p:nvPr/>
            </p:nvSpPr>
            <p:spPr bwMode="auto">
              <a:xfrm>
                <a:off x="3220" y="2495"/>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276" name="Freeform 179"/>
              <p:cNvSpPr>
                <a:spLocks noChangeAspect="1"/>
              </p:cNvSpPr>
              <p:nvPr/>
            </p:nvSpPr>
            <p:spPr bwMode="auto">
              <a:xfrm>
                <a:off x="3261" y="2537"/>
                <a:ext cx="70" cy="94"/>
              </a:xfrm>
              <a:custGeom>
                <a:avLst/>
                <a:gdLst>
                  <a:gd name="T0" fmla="*/ 0 w 348"/>
                  <a:gd name="T1" fmla="*/ 0 h 454"/>
                  <a:gd name="T2" fmla="*/ 0 w 348"/>
                  <a:gd name="T3" fmla="*/ 0 h 454"/>
                  <a:gd name="T4" fmla="*/ 0 w 348"/>
                  <a:gd name="T5" fmla="*/ 0 h 454"/>
                  <a:gd name="T6" fmla="*/ 0 w 348"/>
                  <a:gd name="T7" fmla="*/ 0 h 454"/>
                  <a:gd name="T8" fmla="*/ 0 w 348"/>
                  <a:gd name="T9" fmla="*/ 0 h 454"/>
                  <a:gd name="T10" fmla="*/ 0 w 348"/>
                  <a:gd name="T11" fmla="*/ 1 h 454"/>
                  <a:gd name="T12" fmla="*/ 0 w 348"/>
                  <a:gd name="T13" fmla="*/ 1 h 454"/>
                  <a:gd name="T14" fmla="*/ 0 w 348"/>
                  <a:gd name="T15" fmla="*/ 1 h 454"/>
                  <a:gd name="T16" fmla="*/ 0 60000 65536"/>
                  <a:gd name="T17" fmla="*/ 0 60000 65536"/>
                  <a:gd name="T18" fmla="*/ 0 60000 65536"/>
                  <a:gd name="T19" fmla="*/ 0 60000 65536"/>
                  <a:gd name="T20" fmla="*/ 0 60000 65536"/>
                  <a:gd name="T21" fmla="*/ 0 60000 65536"/>
                  <a:gd name="T22" fmla="*/ 0 60000 65536"/>
                  <a:gd name="T23" fmla="*/ 0 60000 65536"/>
                  <a:gd name="T24" fmla="*/ 0 w 348"/>
                  <a:gd name="T25" fmla="*/ 0 h 454"/>
                  <a:gd name="T26" fmla="*/ 348 w 348"/>
                  <a:gd name="T27" fmla="*/ 454 h 4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8" h="454">
                    <a:moveTo>
                      <a:pt x="307" y="95"/>
                    </a:moveTo>
                    <a:cubicBezTo>
                      <a:pt x="296" y="82"/>
                      <a:pt x="284" y="28"/>
                      <a:pt x="241" y="17"/>
                    </a:cubicBezTo>
                    <a:cubicBezTo>
                      <a:pt x="198" y="6"/>
                      <a:pt x="82" y="0"/>
                      <a:pt x="49" y="29"/>
                    </a:cubicBezTo>
                    <a:cubicBezTo>
                      <a:pt x="16" y="58"/>
                      <a:pt x="0" y="148"/>
                      <a:pt x="43" y="191"/>
                    </a:cubicBezTo>
                    <a:cubicBezTo>
                      <a:pt x="86" y="234"/>
                      <a:pt x="266" y="248"/>
                      <a:pt x="307" y="287"/>
                    </a:cubicBezTo>
                    <a:cubicBezTo>
                      <a:pt x="348" y="326"/>
                      <a:pt x="325" y="399"/>
                      <a:pt x="289" y="425"/>
                    </a:cubicBezTo>
                    <a:cubicBezTo>
                      <a:pt x="253" y="451"/>
                      <a:pt x="138" y="454"/>
                      <a:pt x="91" y="443"/>
                    </a:cubicBezTo>
                    <a:cubicBezTo>
                      <a:pt x="44" y="432"/>
                      <a:pt x="24" y="376"/>
                      <a:pt x="7" y="35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147459" name="Text Box 180"/>
          <p:cNvSpPr txBox="1">
            <a:spLocks noChangeArrowheads="1"/>
          </p:cNvSpPr>
          <p:nvPr/>
        </p:nvSpPr>
        <p:spPr bwMode="auto">
          <a:xfrm>
            <a:off x="231775" y="173038"/>
            <a:ext cx="1792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2000" b="1">
                <a:latin typeface="Arial" panose="020B0604020202020204" pitchFamily="34" charset="0"/>
              </a:rPr>
              <a:t>Northern blot</a:t>
            </a:r>
          </a:p>
        </p:txBody>
      </p:sp>
      <p:grpSp>
        <p:nvGrpSpPr>
          <p:cNvPr id="147460" name="Group 181"/>
          <p:cNvGrpSpPr>
            <a:grpSpLocks noChangeAspect="1"/>
          </p:cNvGrpSpPr>
          <p:nvPr/>
        </p:nvGrpSpPr>
        <p:grpSpPr bwMode="auto">
          <a:xfrm>
            <a:off x="2638425" y="2132013"/>
            <a:ext cx="2751138" cy="903287"/>
            <a:chOff x="756" y="1409"/>
            <a:chExt cx="1440" cy="473"/>
          </a:xfrm>
        </p:grpSpPr>
        <p:sp>
          <p:nvSpPr>
            <p:cNvPr id="148184" name="Freeform 182"/>
            <p:cNvSpPr>
              <a:spLocks noChangeAspect="1"/>
            </p:cNvSpPr>
            <p:nvPr/>
          </p:nvSpPr>
          <p:spPr bwMode="auto">
            <a:xfrm>
              <a:off x="853" y="1551"/>
              <a:ext cx="1247" cy="273"/>
            </a:xfrm>
            <a:custGeom>
              <a:avLst/>
              <a:gdLst>
                <a:gd name="T0" fmla="*/ 0 w 3102"/>
                <a:gd name="T1" fmla="*/ 0 h 678"/>
                <a:gd name="T2" fmla="*/ 0 w 3102"/>
                <a:gd name="T3" fmla="*/ 17 h 678"/>
                <a:gd name="T4" fmla="*/ 15 w 3102"/>
                <a:gd name="T5" fmla="*/ 17 h 678"/>
                <a:gd name="T6" fmla="*/ 16 w 3102"/>
                <a:gd name="T7" fmla="*/ 9 h 678"/>
                <a:gd name="T8" fmla="*/ 63 w 3102"/>
                <a:gd name="T9" fmla="*/ 9 h 678"/>
                <a:gd name="T10" fmla="*/ 63 w 3102"/>
                <a:gd name="T11" fmla="*/ 18 h 678"/>
                <a:gd name="T12" fmla="*/ 81 w 3102"/>
                <a:gd name="T13" fmla="*/ 17 h 678"/>
                <a:gd name="T14" fmla="*/ 81 w 3102"/>
                <a:gd name="T15" fmla="*/ 0 h 678"/>
                <a:gd name="T16" fmla="*/ 0 w 3102"/>
                <a:gd name="T17" fmla="*/ 0 h 6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02"/>
                <a:gd name="T28" fmla="*/ 0 h 678"/>
                <a:gd name="T29" fmla="*/ 3102 w 3102"/>
                <a:gd name="T30" fmla="*/ 678 h 6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02" h="678">
                  <a:moveTo>
                    <a:pt x="0" y="0"/>
                  </a:moveTo>
                  <a:lnTo>
                    <a:pt x="0" y="660"/>
                  </a:lnTo>
                  <a:lnTo>
                    <a:pt x="588" y="654"/>
                  </a:lnTo>
                  <a:lnTo>
                    <a:pt x="594" y="354"/>
                  </a:lnTo>
                  <a:lnTo>
                    <a:pt x="2400" y="354"/>
                  </a:lnTo>
                  <a:lnTo>
                    <a:pt x="2400" y="678"/>
                  </a:lnTo>
                  <a:lnTo>
                    <a:pt x="3102" y="666"/>
                  </a:lnTo>
                  <a:lnTo>
                    <a:pt x="3090" y="0"/>
                  </a:lnTo>
                  <a:lnTo>
                    <a:pt x="0" y="0"/>
                  </a:lnTo>
                  <a:close/>
                </a:path>
              </a:pathLst>
            </a:custGeom>
            <a:solidFill>
              <a:srgbClr val="EAEAEA"/>
            </a:solidFill>
            <a:ln>
              <a:noFill/>
            </a:ln>
            <a:extLst>
              <a:ext uri="{91240B29-F687-4F45-9708-019B960494DF}">
                <a14:hiddenLine xmlns:a14="http://schemas.microsoft.com/office/drawing/2010/main" w="28575">
                  <a:solidFill>
                    <a:srgbClr val="000000"/>
                  </a:solidFill>
                  <a:round/>
                </a14:hiddenLine>
              </a:ext>
            </a:extLst>
          </p:spPr>
          <p:txBody>
            <a:bodyPr wrap="none" anchor="ctr"/>
            <a:lstStyle/>
            <a:p>
              <a:endParaRPr lang="zh-CN" altLang="en-US"/>
            </a:p>
          </p:txBody>
        </p:sp>
        <p:sp>
          <p:nvSpPr>
            <p:cNvPr id="148185" name="Freeform 183"/>
            <p:cNvSpPr>
              <a:spLocks noChangeAspect="1"/>
            </p:cNvSpPr>
            <p:nvPr/>
          </p:nvSpPr>
          <p:spPr bwMode="auto">
            <a:xfrm>
              <a:off x="792" y="1484"/>
              <a:ext cx="1359" cy="398"/>
            </a:xfrm>
            <a:custGeom>
              <a:avLst/>
              <a:gdLst>
                <a:gd name="T0" fmla="*/ 0 w 3378"/>
                <a:gd name="T1" fmla="*/ 0 h 990"/>
                <a:gd name="T2" fmla="*/ 0 w 3378"/>
                <a:gd name="T3" fmla="*/ 26 h 990"/>
                <a:gd name="T4" fmla="*/ 23 w 3378"/>
                <a:gd name="T5" fmla="*/ 26 h 990"/>
                <a:gd name="T6" fmla="*/ 23 w 3378"/>
                <a:gd name="T7" fmla="*/ 18 h 990"/>
                <a:gd name="T8" fmla="*/ 63 w 3378"/>
                <a:gd name="T9" fmla="*/ 18 h 990"/>
                <a:gd name="T10" fmla="*/ 63 w 3378"/>
                <a:gd name="T11" fmla="*/ 25 h 990"/>
                <a:gd name="T12" fmla="*/ 89 w 3378"/>
                <a:gd name="T13" fmla="*/ 25 h 990"/>
                <a:gd name="T14" fmla="*/ 89 w 3378"/>
                <a:gd name="T15" fmla="*/ 0 h 990"/>
                <a:gd name="T16" fmla="*/ 85 w 3378"/>
                <a:gd name="T17" fmla="*/ 0 h 990"/>
                <a:gd name="T18" fmla="*/ 85 w 3378"/>
                <a:gd name="T19" fmla="*/ 22 h 990"/>
                <a:gd name="T20" fmla="*/ 67 w 3378"/>
                <a:gd name="T21" fmla="*/ 23 h 990"/>
                <a:gd name="T22" fmla="*/ 67 w 3378"/>
                <a:gd name="T23" fmla="*/ 14 h 990"/>
                <a:gd name="T24" fmla="*/ 19 w 3378"/>
                <a:gd name="T25" fmla="*/ 14 h 990"/>
                <a:gd name="T26" fmla="*/ 19 w 3378"/>
                <a:gd name="T27" fmla="*/ 22 h 990"/>
                <a:gd name="T28" fmla="*/ 4 w 3378"/>
                <a:gd name="T29" fmla="*/ 22 h 990"/>
                <a:gd name="T30" fmla="*/ 4 w 3378"/>
                <a:gd name="T31" fmla="*/ 0 h 990"/>
                <a:gd name="T32" fmla="*/ 0 w 3378"/>
                <a:gd name="T33" fmla="*/ 0 h 9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78"/>
                <a:gd name="T52" fmla="*/ 0 h 990"/>
                <a:gd name="T53" fmla="*/ 3378 w 3378"/>
                <a:gd name="T54" fmla="*/ 990 h 99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78" h="990">
                  <a:moveTo>
                    <a:pt x="0" y="0"/>
                  </a:moveTo>
                  <a:lnTo>
                    <a:pt x="0" y="990"/>
                  </a:lnTo>
                  <a:lnTo>
                    <a:pt x="870" y="990"/>
                  </a:lnTo>
                  <a:lnTo>
                    <a:pt x="870" y="678"/>
                  </a:lnTo>
                  <a:lnTo>
                    <a:pt x="2412" y="678"/>
                  </a:lnTo>
                  <a:lnTo>
                    <a:pt x="2412" y="972"/>
                  </a:lnTo>
                  <a:lnTo>
                    <a:pt x="3378" y="972"/>
                  </a:lnTo>
                  <a:lnTo>
                    <a:pt x="3378" y="0"/>
                  </a:lnTo>
                  <a:lnTo>
                    <a:pt x="3258" y="0"/>
                  </a:lnTo>
                  <a:lnTo>
                    <a:pt x="3258" y="852"/>
                  </a:lnTo>
                  <a:lnTo>
                    <a:pt x="2544" y="858"/>
                  </a:lnTo>
                  <a:lnTo>
                    <a:pt x="2544" y="528"/>
                  </a:lnTo>
                  <a:lnTo>
                    <a:pt x="744" y="534"/>
                  </a:lnTo>
                  <a:lnTo>
                    <a:pt x="744" y="834"/>
                  </a:lnTo>
                  <a:lnTo>
                    <a:pt x="138" y="834"/>
                  </a:lnTo>
                  <a:lnTo>
                    <a:pt x="138" y="0"/>
                  </a:lnTo>
                  <a:lnTo>
                    <a:pt x="0" y="0"/>
                  </a:lnTo>
                  <a:close/>
                </a:path>
              </a:pathLst>
            </a:custGeom>
            <a:solidFill>
              <a:srgbClr val="4D4D4D"/>
            </a:solidFill>
            <a:ln w="12700">
              <a:solidFill>
                <a:schemeClr val="bg2"/>
              </a:solidFill>
              <a:round/>
            </a:ln>
          </p:spPr>
          <p:txBody>
            <a:bodyPr wrap="none" anchor="ctr"/>
            <a:lstStyle/>
            <a:p>
              <a:endParaRPr lang="zh-CN" altLang="en-US"/>
            </a:p>
          </p:txBody>
        </p:sp>
        <p:sp>
          <p:nvSpPr>
            <p:cNvPr id="148186" name="Freeform 184"/>
            <p:cNvSpPr>
              <a:spLocks noChangeAspect="1"/>
            </p:cNvSpPr>
            <p:nvPr/>
          </p:nvSpPr>
          <p:spPr bwMode="auto">
            <a:xfrm>
              <a:off x="1089" y="1592"/>
              <a:ext cx="729" cy="99"/>
            </a:xfrm>
            <a:custGeom>
              <a:avLst/>
              <a:gdLst>
                <a:gd name="T0" fmla="*/ 0 w 1812"/>
                <a:gd name="T1" fmla="*/ 0 h 246"/>
                <a:gd name="T2" fmla="*/ 0 w 1812"/>
                <a:gd name="T3" fmla="*/ 6 h 246"/>
                <a:gd name="T4" fmla="*/ 47 w 1812"/>
                <a:gd name="T5" fmla="*/ 6 h 246"/>
                <a:gd name="T6" fmla="*/ 47 w 1812"/>
                <a:gd name="T7" fmla="*/ 0 h 246"/>
                <a:gd name="T8" fmla="*/ 0 w 1812"/>
                <a:gd name="T9" fmla="*/ 0 h 246"/>
                <a:gd name="T10" fmla="*/ 0 60000 65536"/>
                <a:gd name="T11" fmla="*/ 0 60000 65536"/>
                <a:gd name="T12" fmla="*/ 0 60000 65536"/>
                <a:gd name="T13" fmla="*/ 0 60000 65536"/>
                <a:gd name="T14" fmla="*/ 0 60000 65536"/>
                <a:gd name="T15" fmla="*/ 0 w 1812"/>
                <a:gd name="T16" fmla="*/ 0 h 246"/>
                <a:gd name="T17" fmla="*/ 1812 w 1812"/>
                <a:gd name="T18" fmla="*/ 246 h 246"/>
              </a:gdLst>
              <a:ahLst/>
              <a:cxnLst>
                <a:cxn ang="T10">
                  <a:pos x="T0" y="T1"/>
                </a:cxn>
                <a:cxn ang="T11">
                  <a:pos x="T2" y="T3"/>
                </a:cxn>
                <a:cxn ang="T12">
                  <a:pos x="T4" y="T5"/>
                </a:cxn>
                <a:cxn ang="T13">
                  <a:pos x="T6" y="T7"/>
                </a:cxn>
                <a:cxn ang="T14">
                  <a:pos x="T8" y="T9"/>
                </a:cxn>
              </a:cxnLst>
              <a:rect l="T15" t="T16" r="T17" b="T18"/>
              <a:pathLst>
                <a:path w="1812" h="246">
                  <a:moveTo>
                    <a:pt x="0" y="0"/>
                  </a:moveTo>
                  <a:lnTo>
                    <a:pt x="0" y="246"/>
                  </a:lnTo>
                  <a:lnTo>
                    <a:pt x="1812" y="246"/>
                  </a:lnTo>
                  <a:lnTo>
                    <a:pt x="1812" y="6"/>
                  </a:lnTo>
                  <a:lnTo>
                    <a:pt x="0" y="0"/>
                  </a:lnTo>
                  <a:close/>
                </a:path>
              </a:pathLst>
            </a:custGeom>
            <a:gradFill rotWithShape="1">
              <a:gsLst>
                <a:gs pos="0">
                  <a:srgbClr val="D9EDEF"/>
                </a:gs>
                <a:gs pos="100000">
                  <a:srgbClr val="CFE2E4"/>
                </a:gs>
              </a:gsLst>
              <a:lin ang="5400000" scaled="1"/>
            </a:gradFill>
            <a:ln w="19050">
              <a:solidFill>
                <a:srgbClr val="DDDDDD"/>
              </a:solidFill>
              <a:round/>
            </a:ln>
          </p:spPr>
          <p:txBody>
            <a:bodyPr wrap="none" anchor="ctr"/>
            <a:lstStyle/>
            <a:p>
              <a:endParaRPr lang="zh-CN" altLang="en-US"/>
            </a:p>
          </p:txBody>
        </p:sp>
        <p:sp>
          <p:nvSpPr>
            <p:cNvPr id="148187" name="Rectangle 185"/>
            <p:cNvSpPr>
              <a:spLocks noChangeAspect="1" noChangeArrowheads="1"/>
            </p:cNvSpPr>
            <p:nvPr/>
          </p:nvSpPr>
          <p:spPr bwMode="auto">
            <a:xfrm>
              <a:off x="1140" y="1595"/>
              <a:ext cx="22" cy="8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88" name="Rectangle 186"/>
            <p:cNvSpPr>
              <a:spLocks noChangeAspect="1" noChangeArrowheads="1"/>
            </p:cNvSpPr>
            <p:nvPr/>
          </p:nvSpPr>
          <p:spPr bwMode="auto">
            <a:xfrm>
              <a:off x="1139" y="1621"/>
              <a:ext cx="23" cy="63"/>
            </a:xfrm>
            <a:prstGeom prst="rect">
              <a:avLst/>
            </a:prstGeom>
            <a:solidFill>
              <a:srgbClr val="0000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89" name="Line 187"/>
            <p:cNvSpPr>
              <a:spLocks noChangeAspect="1" noChangeShapeType="1"/>
            </p:cNvSpPr>
            <p:nvPr/>
          </p:nvSpPr>
          <p:spPr bwMode="auto">
            <a:xfrm flipV="1">
              <a:off x="1190" y="1643"/>
              <a:ext cx="28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190" name="Freeform 188"/>
            <p:cNvSpPr>
              <a:spLocks noChangeAspect="1"/>
            </p:cNvSpPr>
            <p:nvPr/>
          </p:nvSpPr>
          <p:spPr bwMode="auto">
            <a:xfrm>
              <a:off x="756" y="1467"/>
              <a:ext cx="116" cy="323"/>
            </a:xfrm>
            <a:custGeom>
              <a:avLst/>
              <a:gdLst>
                <a:gd name="T0" fmla="*/ 8 w 288"/>
                <a:gd name="T1" fmla="*/ 21 h 804"/>
                <a:gd name="T2" fmla="*/ 8 w 288"/>
                <a:gd name="T3" fmla="*/ 0 h 804"/>
                <a:gd name="T4" fmla="*/ 0 w 288"/>
                <a:gd name="T5" fmla="*/ 0 h 804"/>
                <a:gd name="T6" fmla="*/ 0 60000 65536"/>
                <a:gd name="T7" fmla="*/ 0 60000 65536"/>
                <a:gd name="T8" fmla="*/ 0 60000 65536"/>
                <a:gd name="T9" fmla="*/ 0 w 288"/>
                <a:gd name="T10" fmla="*/ 0 h 804"/>
                <a:gd name="T11" fmla="*/ 288 w 288"/>
                <a:gd name="T12" fmla="*/ 804 h 804"/>
              </a:gdLst>
              <a:ahLst/>
              <a:cxnLst>
                <a:cxn ang="T6">
                  <a:pos x="T0" y="T1"/>
                </a:cxn>
                <a:cxn ang="T7">
                  <a:pos x="T2" y="T3"/>
                </a:cxn>
                <a:cxn ang="T8">
                  <a:pos x="T4" y="T5"/>
                </a:cxn>
              </a:cxnLst>
              <a:rect l="T9" t="T10" r="T11" b="T12"/>
              <a:pathLst>
                <a:path w="288" h="804">
                  <a:moveTo>
                    <a:pt x="288" y="804"/>
                  </a:moveTo>
                  <a:lnTo>
                    <a:pt x="288" y="0"/>
                  </a:lnTo>
                  <a:lnTo>
                    <a:pt x="0" y="0"/>
                  </a:lnTo>
                </a:path>
              </a:pathLst>
            </a:custGeom>
            <a:noFill/>
            <a:ln w="19050">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8191" name="Freeform 189"/>
            <p:cNvSpPr>
              <a:spLocks noChangeAspect="1"/>
            </p:cNvSpPr>
            <p:nvPr/>
          </p:nvSpPr>
          <p:spPr bwMode="auto">
            <a:xfrm flipH="1">
              <a:off x="2080" y="1467"/>
              <a:ext cx="116" cy="323"/>
            </a:xfrm>
            <a:custGeom>
              <a:avLst/>
              <a:gdLst>
                <a:gd name="T0" fmla="*/ 8 w 288"/>
                <a:gd name="T1" fmla="*/ 21 h 804"/>
                <a:gd name="T2" fmla="*/ 8 w 288"/>
                <a:gd name="T3" fmla="*/ 0 h 804"/>
                <a:gd name="T4" fmla="*/ 0 w 288"/>
                <a:gd name="T5" fmla="*/ 0 h 804"/>
                <a:gd name="T6" fmla="*/ 0 60000 65536"/>
                <a:gd name="T7" fmla="*/ 0 60000 65536"/>
                <a:gd name="T8" fmla="*/ 0 60000 65536"/>
                <a:gd name="T9" fmla="*/ 0 w 288"/>
                <a:gd name="T10" fmla="*/ 0 h 804"/>
                <a:gd name="T11" fmla="*/ 288 w 288"/>
                <a:gd name="T12" fmla="*/ 804 h 804"/>
              </a:gdLst>
              <a:ahLst/>
              <a:cxnLst>
                <a:cxn ang="T6">
                  <a:pos x="T0" y="T1"/>
                </a:cxn>
                <a:cxn ang="T7">
                  <a:pos x="T2" y="T3"/>
                </a:cxn>
                <a:cxn ang="T8">
                  <a:pos x="T4" y="T5"/>
                </a:cxn>
              </a:cxnLst>
              <a:rect l="T9" t="T10" r="T11" b="T12"/>
              <a:pathLst>
                <a:path w="288" h="804">
                  <a:moveTo>
                    <a:pt x="288" y="804"/>
                  </a:moveTo>
                  <a:lnTo>
                    <a:pt x="288" y="0"/>
                  </a:lnTo>
                  <a:lnTo>
                    <a:pt x="0" y="0"/>
                  </a:lnTo>
                </a:path>
              </a:pathLst>
            </a:custGeom>
            <a:noFill/>
            <a:ln w="19050">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8192" name="Oval 190"/>
            <p:cNvSpPr>
              <a:spLocks noChangeAspect="1" noChangeArrowheads="1"/>
            </p:cNvSpPr>
            <p:nvPr/>
          </p:nvSpPr>
          <p:spPr bwMode="auto">
            <a:xfrm>
              <a:off x="2102" y="1409"/>
              <a:ext cx="51" cy="51"/>
            </a:xfrm>
            <a:prstGeom prst="ellipse">
              <a:avLst/>
            </a:prstGeom>
            <a:noFill/>
            <a:ln w="12700" algn="ctr">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93" name="Line 191"/>
            <p:cNvSpPr>
              <a:spLocks noChangeAspect="1" noChangeShapeType="1"/>
            </p:cNvSpPr>
            <p:nvPr/>
          </p:nvSpPr>
          <p:spPr bwMode="auto">
            <a:xfrm>
              <a:off x="2129" y="1416"/>
              <a:ext cx="0" cy="3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194" name="Line 192"/>
            <p:cNvSpPr>
              <a:spLocks noChangeAspect="1" noChangeShapeType="1"/>
            </p:cNvSpPr>
            <p:nvPr/>
          </p:nvSpPr>
          <p:spPr bwMode="auto">
            <a:xfrm rot="5400000">
              <a:off x="2128" y="1416"/>
              <a:ext cx="0" cy="3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195" name="Line 193"/>
            <p:cNvSpPr>
              <a:spLocks noChangeAspect="1" noChangeShapeType="1"/>
            </p:cNvSpPr>
            <p:nvPr/>
          </p:nvSpPr>
          <p:spPr bwMode="auto">
            <a:xfrm rot="5400000">
              <a:off x="816" y="1423"/>
              <a:ext cx="0" cy="3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196" name="Oval 194"/>
            <p:cNvSpPr>
              <a:spLocks noChangeAspect="1" noChangeArrowheads="1"/>
            </p:cNvSpPr>
            <p:nvPr/>
          </p:nvSpPr>
          <p:spPr bwMode="auto">
            <a:xfrm>
              <a:off x="789" y="1416"/>
              <a:ext cx="51" cy="51"/>
            </a:xfrm>
            <a:prstGeom prst="ellipse">
              <a:avLst/>
            </a:prstGeom>
            <a:noFill/>
            <a:ln w="12700" algn="ctr">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148197" name="Group 195"/>
            <p:cNvGrpSpPr>
              <a:grpSpLocks noChangeAspect="1"/>
            </p:cNvGrpSpPr>
            <p:nvPr/>
          </p:nvGrpSpPr>
          <p:grpSpPr bwMode="auto">
            <a:xfrm>
              <a:off x="898" y="1576"/>
              <a:ext cx="156" cy="28"/>
              <a:chOff x="1176" y="572"/>
              <a:chExt cx="748" cy="135"/>
            </a:xfrm>
          </p:grpSpPr>
          <p:sp>
            <p:nvSpPr>
              <p:cNvPr id="148217" name="Freeform 196"/>
              <p:cNvSpPr>
                <a:spLocks noChangeAspect="1"/>
              </p:cNvSpPr>
              <p:nvPr/>
            </p:nvSpPr>
            <p:spPr bwMode="auto">
              <a:xfrm>
                <a:off x="1176" y="580"/>
                <a:ext cx="92" cy="127"/>
              </a:xfrm>
              <a:custGeom>
                <a:avLst/>
                <a:gdLst>
                  <a:gd name="T0" fmla="*/ 0 w 442"/>
                  <a:gd name="T1" fmla="*/ 0 h 612"/>
                  <a:gd name="T2" fmla="*/ 0 w 442"/>
                  <a:gd name="T3" fmla="*/ 1 h 612"/>
                  <a:gd name="T4" fmla="*/ 0 w 442"/>
                  <a:gd name="T5" fmla="*/ 1 h 612"/>
                  <a:gd name="T6" fmla="*/ 1 w 442"/>
                  <a:gd name="T7" fmla="*/ 1 h 612"/>
                  <a:gd name="T8" fmla="*/ 1 w 442"/>
                  <a:gd name="T9" fmla="*/ 1 h 612"/>
                  <a:gd name="T10" fmla="*/ 0 w 442"/>
                  <a:gd name="T11" fmla="*/ 1 h 612"/>
                  <a:gd name="T12" fmla="*/ 0 w 442"/>
                  <a:gd name="T13" fmla="*/ 0 h 612"/>
                  <a:gd name="T14" fmla="*/ 0 w 442"/>
                  <a:gd name="T15" fmla="*/ 0 h 612"/>
                  <a:gd name="T16" fmla="*/ 1 w 442"/>
                  <a:gd name="T17" fmla="*/ 0 h 612"/>
                  <a:gd name="T18" fmla="*/ 1 w 442"/>
                  <a:gd name="T19" fmla="*/ 0 h 612"/>
                  <a:gd name="T20" fmla="*/ 0 w 442"/>
                  <a:gd name="T21" fmla="*/ 0 h 612"/>
                  <a:gd name="T22" fmla="*/ 0 w 442"/>
                  <a:gd name="T23" fmla="*/ 0 h 6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2"/>
                  <a:gd name="T37" fmla="*/ 0 h 612"/>
                  <a:gd name="T38" fmla="*/ 442 w 442"/>
                  <a:gd name="T39" fmla="*/ 612 h 6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2" h="612">
                    <a:moveTo>
                      <a:pt x="0" y="0"/>
                    </a:moveTo>
                    <a:lnTo>
                      <a:pt x="0" y="612"/>
                    </a:lnTo>
                    <a:lnTo>
                      <a:pt x="288" y="612"/>
                    </a:lnTo>
                    <a:cubicBezTo>
                      <a:pt x="356" y="602"/>
                      <a:pt x="386" y="589"/>
                      <a:pt x="408" y="552"/>
                    </a:cubicBezTo>
                    <a:cubicBezTo>
                      <a:pt x="430" y="515"/>
                      <a:pt x="442" y="433"/>
                      <a:pt x="420" y="390"/>
                    </a:cubicBezTo>
                    <a:cubicBezTo>
                      <a:pt x="398" y="347"/>
                      <a:pt x="346" y="311"/>
                      <a:pt x="276" y="294"/>
                    </a:cubicBezTo>
                    <a:lnTo>
                      <a:pt x="0" y="288"/>
                    </a:lnTo>
                    <a:lnTo>
                      <a:pt x="288" y="288"/>
                    </a:lnTo>
                    <a:cubicBezTo>
                      <a:pt x="355" y="269"/>
                      <a:pt x="387" y="213"/>
                      <a:pt x="402" y="174"/>
                    </a:cubicBezTo>
                    <a:cubicBezTo>
                      <a:pt x="417" y="135"/>
                      <a:pt x="403" y="83"/>
                      <a:pt x="378" y="54"/>
                    </a:cubicBezTo>
                    <a:cubicBezTo>
                      <a:pt x="353" y="25"/>
                      <a:pt x="315" y="9"/>
                      <a:pt x="252" y="0"/>
                    </a:cubicBezTo>
                    <a:lnTo>
                      <a:pt x="0" y="0"/>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18" name="Freeform 197"/>
              <p:cNvSpPr>
                <a:spLocks noChangeAspect="1"/>
              </p:cNvSpPr>
              <p:nvPr/>
            </p:nvSpPr>
            <p:spPr bwMode="auto">
              <a:xfrm>
                <a:off x="1311" y="583"/>
                <a:ext cx="92" cy="124"/>
              </a:xfrm>
              <a:custGeom>
                <a:avLst/>
                <a:gdLst>
                  <a:gd name="T0" fmla="*/ 3 w 285"/>
                  <a:gd name="T1" fmla="*/ 0 h 383"/>
                  <a:gd name="T2" fmla="*/ 3 w 285"/>
                  <a:gd name="T3" fmla="*/ 2 h 383"/>
                  <a:gd name="T4" fmla="*/ 3 w 285"/>
                  <a:gd name="T5" fmla="*/ 4 h 383"/>
                  <a:gd name="T6" fmla="*/ 2 w 285"/>
                  <a:gd name="T7" fmla="*/ 4 h 383"/>
                  <a:gd name="T8" fmla="*/ 0 w 285"/>
                  <a:gd name="T9" fmla="*/ 4 h 383"/>
                  <a:gd name="T10" fmla="*/ 0 w 285"/>
                  <a:gd name="T11" fmla="*/ 2 h 383"/>
                  <a:gd name="T12" fmla="*/ 0 w 285"/>
                  <a:gd name="T13" fmla="*/ 0 h 383"/>
                  <a:gd name="T14" fmla="*/ 0 60000 65536"/>
                  <a:gd name="T15" fmla="*/ 0 60000 65536"/>
                  <a:gd name="T16" fmla="*/ 0 60000 65536"/>
                  <a:gd name="T17" fmla="*/ 0 60000 65536"/>
                  <a:gd name="T18" fmla="*/ 0 60000 65536"/>
                  <a:gd name="T19" fmla="*/ 0 60000 65536"/>
                  <a:gd name="T20" fmla="*/ 0 60000 65536"/>
                  <a:gd name="T21" fmla="*/ 0 w 285"/>
                  <a:gd name="T22" fmla="*/ 0 h 383"/>
                  <a:gd name="T23" fmla="*/ 285 w 285"/>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383">
                    <a:moveTo>
                      <a:pt x="283" y="3"/>
                    </a:moveTo>
                    <a:cubicBezTo>
                      <a:pt x="283" y="37"/>
                      <a:pt x="285" y="147"/>
                      <a:pt x="279" y="203"/>
                    </a:cubicBezTo>
                    <a:cubicBezTo>
                      <a:pt x="273" y="259"/>
                      <a:pt x="272" y="309"/>
                      <a:pt x="247" y="339"/>
                    </a:cubicBezTo>
                    <a:cubicBezTo>
                      <a:pt x="222" y="369"/>
                      <a:pt x="167" y="383"/>
                      <a:pt x="130" y="382"/>
                    </a:cubicBezTo>
                    <a:cubicBezTo>
                      <a:pt x="93" y="381"/>
                      <a:pt x="48" y="356"/>
                      <a:pt x="27" y="330"/>
                    </a:cubicBezTo>
                    <a:cubicBezTo>
                      <a:pt x="6" y="303"/>
                      <a:pt x="8" y="276"/>
                      <a:pt x="4" y="221"/>
                    </a:cubicBezTo>
                    <a:cubicBezTo>
                      <a:pt x="0" y="167"/>
                      <a:pt x="4" y="37"/>
                      <a:pt x="4" y="0"/>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219" name="Group 198"/>
              <p:cNvGrpSpPr>
                <a:grpSpLocks noChangeAspect="1"/>
              </p:cNvGrpSpPr>
              <p:nvPr/>
            </p:nvGrpSpPr>
            <p:grpSpPr bwMode="auto">
              <a:xfrm>
                <a:off x="1571" y="580"/>
                <a:ext cx="80" cy="127"/>
                <a:chOff x="3653" y="1343"/>
                <a:chExt cx="384" cy="612"/>
              </a:xfrm>
            </p:grpSpPr>
            <p:sp>
              <p:nvSpPr>
                <p:cNvPr id="148227" name="Freeform 199"/>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28" name="Line 200"/>
                <p:cNvSpPr>
                  <a:spLocks noChangeAspect="1" noChangeShapeType="1"/>
                </p:cNvSpPr>
                <p:nvPr/>
              </p:nvSpPr>
              <p:spPr bwMode="auto">
                <a:xfrm flipH="1">
                  <a:off x="3653" y="1637"/>
                  <a:ext cx="3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220" name="Group 201"/>
              <p:cNvGrpSpPr>
                <a:grpSpLocks noChangeAspect="1"/>
              </p:cNvGrpSpPr>
              <p:nvPr/>
            </p:nvGrpSpPr>
            <p:grpSpPr bwMode="auto">
              <a:xfrm>
                <a:off x="1447" y="580"/>
                <a:ext cx="80" cy="127"/>
                <a:chOff x="3653" y="1343"/>
                <a:chExt cx="384" cy="612"/>
              </a:xfrm>
            </p:grpSpPr>
            <p:sp>
              <p:nvSpPr>
                <p:cNvPr id="148225" name="Freeform 202"/>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26" name="Line 203"/>
                <p:cNvSpPr>
                  <a:spLocks noChangeAspect="1" noChangeShapeType="1"/>
                </p:cNvSpPr>
                <p:nvPr/>
              </p:nvSpPr>
              <p:spPr bwMode="auto">
                <a:xfrm flipH="1">
                  <a:off x="3653" y="1637"/>
                  <a:ext cx="3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221" name="Group 204"/>
              <p:cNvGrpSpPr>
                <a:grpSpLocks noChangeAspect="1"/>
              </p:cNvGrpSpPr>
              <p:nvPr/>
            </p:nvGrpSpPr>
            <p:grpSpPr bwMode="auto">
              <a:xfrm>
                <a:off x="1695" y="580"/>
                <a:ext cx="87" cy="127"/>
                <a:chOff x="3017" y="1343"/>
                <a:chExt cx="420" cy="612"/>
              </a:xfrm>
            </p:grpSpPr>
            <p:sp>
              <p:nvSpPr>
                <p:cNvPr id="148223" name="Freeform 205"/>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24" name="Line 206"/>
                <p:cNvSpPr>
                  <a:spLocks noChangeAspect="1" noChangeShapeType="1"/>
                </p:cNvSpPr>
                <p:nvPr/>
              </p:nvSpPr>
              <p:spPr bwMode="auto">
                <a:xfrm>
                  <a:off x="3017" y="1637"/>
                  <a:ext cx="37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222" name="Freeform 207"/>
              <p:cNvSpPr>
                <a:spLocks noChangeAspect="1"/>
              </p:cNvSpPr>
              <p:nvPr/>
            </p:nvSpPr>
            <p:spPr bwMode="auto">
              <a:xfrm>
                <a:off x="1826" y="57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8198" name="Group 208"/>
            <p:cNvGrpSpPr>
              <a:grpSpLocks noChangeAspect="1"/>
            </p:cNvGrpSpPr>
            <p:nvPr/>
          </p:nvGrpSpPr>
          <p:grpSpPr bwMode="auto">
            <a:xfrm>
              <a:off x="1501" y="1646"/>
              <a:ext cx="306" cy="28"/>
              <a:chOff x="1133" y="211"/>
              <a:chExt cx="1487" cy="135"/>
            </a:xfrm>
          </p:grpSpPr>
          <p:grpSp>
            <p:nvGrpSpPr>
              <p:cNvPr id="148199" name="Group 209"/>
              <p:cNvGrpSpPr>
                <a:grpSpLocks noChangeAspect="1"/>
              </p:cNvGrpSpPr>
              <p:nvPr/>
            </p:nvGrpSpPr>
            <p:grpSpPr bwMode="auto">
              <a:xfrm>
                <a:off x="1133" y="219"/>
                <a:ext cx="99" cy="127"/>
                <a:chOff x="263" y="1301"/>
                <a:chExt cx="540" cy="690"/>
              </a:xfrm>
            </p:grpSpPr>
            <p:sp>
              <p:nvSpPr>
                <p:cNvPr id="148215" name="Freeform 210"/>
                <p:cNvSpPr>
                  <a:spLocks noChangeAspect="1"/>
                </p:cNvSpPr>
                <p:nvPr/>
              </p:nvSpPr>
              <p:spPr bwMode="auto">
                <a:xfrm>
                  <a:off x="263" y="1301"/>
                  <a:ext cx="540" cy="690"/>
                </a:xfrm>
                <a:custGeom>
                  <a:avLst/>
                  <a:gdLst>
                    <a:gd name="T0" fmla="*/ 0 w 540"/>
                    <a:gd name="T1" fmla="*/ 690 h 690"/>
                    <a:gd name="T2" fmla="*/ 264 w 540"/>
                    <a:gd name="T3" fmla="*/ 0 h 690"/>
                    <a:gd name="T4" fmla="*/ 540 w 540"/>
                    <a:gd name="T5" fmla="*/ 678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264" y="0"/>
                      </a:lnTo>
                      <a:lnTo>
                        <a:pt x="540" y="678"/>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16" name="Line 211"/>
                <p:cNvSpPr>
                  <a:spLocks noChangeAspect="1" noChangeShapeType="1"/>
                </p:cNvSpPr>
                <p:nvPr/>
              </p:nvSpPr>
              <p:spPr bwMode="auto">
                <a:xfrm>
                  <a:off x="359" y="1727"/>
                  <a:ext cx="33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200" name="Freeform 212"/>
              <p:cNvSpPr>
                <a:spLocks noChangeAspect="1"/>
              </p:cNvSpPr>
              <p:nvPr/>
            </p:nvSpPr>
            <p:spPr bwMode="auto">
              <a:xfrm>
                <a:off x="1273" y="219"/>
                <a:ext cx="111" cy="127"/>
              </a:xfrm>
              <a:custGeom>
                <a:avLst/>
                <a:gdLst>
                  <a:gd name="T0" fmla="*/ 1 w 562"/>
                  <a:gd name="T1" fmla="*/ 0 h 641"/>
                  <a:gd name="T2" fmla="*/ 1 w 562"/>
                  <a:gd name="T3" fmla="*/ 0 h 641"/>
                  <a:gd name="T4" fmla="*/ 0 w 562"/>
                  <a:gd name="T5" fmla="*/ 0 h 641"/>
                  <a:gd name="T6" fmla="*/ 0 w 562"/>
                  <a:gd name="T7" fmla="*/ 0 h 641"/>
                  <a:gd name="T8" fmla="*/ 0 w 562"/>
                  <a:gd name="T9" fmla="*/ 0 h 641"/>
                  <a:gd name="T10" fmla="*/ 0 w 562"/>
                  <a:gd name="T11" fmla="*/ 1 h 641"/>
                  <a:gd name="T12" fmla="*/ 0 w 562"/>
                  <a:gd name="T13" fmla="*/ 1 h 641"/>
                  <a:gd name="T14" fmla="*/ 1 w 562"/>
                  <a:gd name="T15" fmla="*/ 1 h 641"/>
                  <a:gd name="T16" fmla="*/ 1 w 562"/>
                  <a:gd name="T17" fmla="*/ 1 h 641"/>
                  <a:gd name="T18" fmla="*/ 1 w 562"/>
                  <a:gd name="T19" fmla="*/ 1 h 641"/>
                  <a:gd name="T20" fmla="*/ 1 w 562"/>
                  <a:gd name="T21" fmla="*/ 1 h 6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641"/>
                  <a:gd name="T35" fmla="*/ 562 w 562"/>
                  <a:gd name="T36" fmla="*/ 641 h 6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641">
                    <a:moveTo>
                      <a:pt x="550" y="166"/>
                    </a:moveTo>
                    <a:cubicBezTo>
                      <a:pt x="538" y="147"/>
                      <a:pt x="519" y="79"/>
                      <a:pt x="478" y="52"/>
                    </a:cubicBezTo>
                    <a:cubicBezTo>
                      <a:pt x="437" y="25"/>
                      <a:pt x="367" y="0"/>
                      <a:pt x="304" y="4"/>
                    </a:cubicBezTo>
                    <a:cubicBezTo>
                      <a:pt x="241" y="8"/>
                      <a:pt x="149" y="28"/>
                      <a:pt x="100" y="76"/>
                    </a:cubicBezTo>
                    <a:cubicBezTo>
                      <a:pt x="51" y="124"/>
                      <a:pt x="20" y="222"/>
                      <a:pt x="10" y="292"/>
                    </a:cubicBezTo>
                    <a:cubicBezTo>
                      <a:pt x="0" y="362"/>
                      <a:pt x="10" y="442"/>
                      <a:pt x="40" y="496"/>
                    </a:cubicBezTo>
                    <a:cubicBezTo>
                      <a:pt x="70" y="550"/>
                      <a:pt x="126" y="594"/>
                      <a:pt x="190" y="616"/>
                    </a:cubicBezTo>
                    <a:cubicBezTo>
                      <a:pt x="254" y="638"/>
                      <a:pt x="362" y="641"/>
                      <a:pt x="424" y="628"/>
                    </a:cubicBezTo>
                    <a:cubicBezTo>
                      <a:pt x="486" y="615"/>
                      <a:pt x="540" y="584"/>
                      <a:pt x="562" y="538"/>
                    </a:cubicBezTo>
                    <a:lnTo>
                      <a:pt x="556" y="352"/>
                    </a:lnTo>
                    <a:lnTo>
                      <a:pt x="322" y="35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201" name="Group 213"/>
              <p:cNvGrpSpPr>
                <a:grpSpLocks noChangeAspect="1"/>
              </p:cNvGrpSpPr>
              <p:nvPr/>
            </p:nvGrpSpPr>
            <p:grpSpPr bwMode="auto">
              <a:xfrm>
                <a:off x="1426" y="219"/>
                <a:ext cx="99" cy="127"/>
                <a:chOff x="263" y="1301"/>
                <a:chExt cx="540" cy="690"/>
              </a:xfrm>
            </p:grpSpPr>
            <p:sp>
              <p:nvSpPr>
                <p:cNvPr id="148213" name="Freeform 214"/>
                <p:cNvSpPr>
                  <a:spLocks noChangeAspect="1"/>
                </p:cNvSpPr>
                <p:nvPr/>
              </p:nvSpPr>
              <p:spPr bwMode="auto">
                <a:xfrm>
                  <a:off x="263" y="1301"/>
                  <a:ext cx="540" cy="690"/>
                </a:xfrm>
                <a:custGeom>
                  <a:avLst/>
                  <a:gdLst>
                    <a:gd name="T0" fmla="*/ 0 w 540"/>
                    <a:gd name="T1" fmla="*/ 690 h 690"/>
                    <a:gd name="T2" fmla="*/ 264 w 540"/>
                    <a:gd name="T3" fmla="*/ 0 h 690"/>
                    <a:gd name="T4" fmla="*/ 540 w 540"/>
                    <a:gd name="T5" fmla="*/ 678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264" y="0"/>
                      </a:lnTo>
                      <a:lnTo>
                        <a:pt x="540" y="678"/>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14" name="Line 215"/>
                <p:cNvSpPr>
                  <a:spLocks noChangeAspect="1" noChangeShapeType="1"/>
                </p:cNvSpPr>
                <p:nvPr/>
              </p:nvSpPr>
              <p:spPr bwMode="auto">
                <a:xfrm>
                  <a:off x="359" y="1727"/>
                  <a:ext cx="33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202" name="Freeform 216"/>
              <p:cNvSpPr>
                <a:spLocks noChangeAspect="1"/>
              </p:cNvSpPr>
              <p:nvPr/>
            </p:nvSpPr>
            <p:spPr bwMode="auto">
              <a:xfrm>
                <a:off x="1567" y="211"/>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03" name="Freeform 217"/>
              <p:cNvSpPr>
                <a:spLocks noChangeAspect="1"/>
              </p:cNvSpPr>
              <p:nvPr/>
            </p:nvSpPr>
            <p:spPr bwMode="auto">
              <a:xfrm>
                <a:off x="1706" y="215"/>
                <a:ext cx="109" cy="131"/>
              </a:xfrm>
              <a:custGeom>
                <a:avLst/>
                <a:gdLst>
                  <a:gd name="T0" fmla="*/ 0 w 551"/>
                  <a:gd name="T1" fmla="*/ 0 h 660"/>
                  <a:gd name="T2" fmla="*/ 0 w 551"/>
                  <a:gd name="T3" fmla="*/ 0 h 660"/>
                  <a:gd name="T4" fmla="*/ 0 w 551"/>
                  <a:gd name="T5" fmla="*/ 1 h 660"/>
                  <a:gd name="T6" fmla="*/ 0 w 551"/>
                  <a:gd name="T7" fmla="*/ 1 h 660"/>
                  <a:gd name="T8" fmla="*/ 1 w 551"/>
                  <a:gd name="T9" fmla="*/ 1 h 660"/>
                  <a:gd name="T10" fmla="*/ 1 w 551"/>
                  <a:gd name="T11" fmla="*/ 1 h 660"/>
                  <a:gd name="T12" fmla="*/ 1 w 551"/>
                  <a:gd name="T13" fmla="*/ 0 h 660"/>
                  <a:gd name="T14" fmla="*/ 1 w 551"/>
                  <a:gd name="T15" fmla="*/ 0 h 660"/>
                  <a:gd name="T16" fmla="*/ 0 w 551"/>
                  <a:gd name="T17" fmla="*/ 0 h 6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1"/>
                  <a:gd name="T28" fmla="*/ 0 h 660"/>
                  <a:gd name="T29" fmla="*/ 551 w 551"/>
                  <a:gd name="T30" fmla="*/ 660 h 6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1" h="660">
                    <a:moveTo>
                      <a:pt x="166" y="26"/>
                    </a:moveTo>
                    <a:cubicBezTo>
                      <a:pt x="110" y="58"/>
                      <a:pt x="44" y="142"/>
                      <a:pt x="22" y="218"/>
                    </a:cubicBezTo>
                    <a:cubicBezTo>
                      <a:pt x="0" y="294"/>
                      <a:pt x="9" y="413"/>
                      <a:pt x="34" y="482"/>
                    </a:cubicBezTo>
                    <a:cubicBezTo>
                      <a:pt x="59" y="551"/>
                      <a:pt x="116" y="607"/>
                      <a:pt x="172" y="632"/>
                    </a:cubicBezTo>
                    <a:cubicBezTo>
                      <a:pt x="228" y="657"/>
                      <a:pt x="311" y="660"/>
                      <a:pt x="370" y="632"/>
                    </a:cubicBezTo>
                    <a:cubicBezTo>
                      <a:pt x="429" y="604"/>
                      <a:pt x="501" y="539"/>
                      <a:pt x="526" y="464"/>
                    </a:cubicBezTo>
                    <a:cubicBezTo>
                      <a:pt x="551" y="389"/>
                      <a:pt x="547" y="255"/>
                      <a:pt x="520" y="182"/>
                    </a:cubicBezTo>
                    <a:cubicBezTo>
                      <a:pt x="493" y="109"/>
                      <a:pt x="423" y="52"/>
                      <a:pt x="364" y="26"/>
                    </a:cubicBezTo>
                    <a:cubicBezTo>
                      <a:pt x="305" y="0"/>
                      <a:pt x="207" y="26"/>
                      <a:pt x="166" y="26"/>
                    </a:cubicBez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04" name="Freeform 218"/>
              <p:cNvSpPr>
                <a:spLocks noChangeAspect="1"/>
              </p:cNvSpPr>
              <p:nvPr/>
            </p:nvSpPr>
            <p:spPr bwMode="auto">
              <a:xfrm>
                <a:off x="1857" y="213"/>
                <a:ext cx="98" cy="133"/>
              </a:xfrm>
              <a:custGeom>
                <a:avLst/>
                <a:gdLst>
                  <a:gd name="T0" fmla="*/ 1 w 464"/>
                  <a:gd name="T1" fmla="*/ 0 h 632"/>
                  <a:gd name="T2" fmla="*/ 1 w 464"/>
                  <a:gd name="T3" fmla="*/ 0 h 632"/>
                  <a:gd name="T4" fmla="*/ 0 w 464"/>
                  <a:gd name="T5" fmla="*/ 0 h 632"/>
                  <a:gd name="T6" fmla="*/ 0 w 464"/>
                  <a:gd name="T7" fmla="*/ 0 h 632"/>
                  <a:gd name="T8" fmla="*/ 0 w 464"/>
                  <a:gd name="T9" fmla="*/ 1 h 632"/>
                  <a:gd name="T10" fmla="*/ 1 w 464"/>
                  <a:gd name="T11" fmla="*/ 1 h 632"/>
                  <a:gd name="T12" fmla="*/ 1 w 464"/>
                  <a:gd name="T13" fmla="*/ 1 h 632"/>
                  <a:gd name="T14" fmla="*/ 0 w 464"/>
                  <a:gd name="T15" fmla="*/ 1 h 632"/>
                  <a:gd name="T16" fmla="*/ 0 w 464"/>
                  <a:gd name="T17" fmla="*/ 1 h 632"/>
                  <a:gd name="T18" fmla="*/ 0 w 464"/>
                  <a:gd name="T19" fmla="*/ 1 h 6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4"/>
                  <a:gd name="T31" fmla="*/ 0 h 632"/>
                  <a:gd name="T32" fmla="*/ 464 w 464"/>
                  <a:gd name="T33" fmla="*/ 632 h 6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4" h="632">
                    <a:moveTo>
                      <a:pt x="414" y="178"/>
                    </a:moveTo>
                    <a:cubicBezTo>
                      <a:pt x="403" y="157"/>
                      <a:pt x="387" y="80"/>
                      <a:pt x="348" y="52"/>
                    </a:cubicBezTo>
                    <a:cubicBezTo>
                      <a:pt x="309" y="24"/>
                      <a:pt x="233" y="0"/>
                      <a:pt x="180" y="10"/>
                    </a:cubicBezTo>
                    <a:cubicBezTo>
                      <a:pt x="127" y="20"/>
                      <a:pt x="47" y="69"/>
                      <a:pt x="30" y="112"/>
                    </a:cubicBezTo>
                    <a:cubicBezTo>
                      <a:pt x="13" y="155"/>
                      <a:pt x="15" y="223"/>
                      <a:pt x="78" y="268"/>
                    </a:cubicBezTo>
                    <a:cubicBezTo>
                      <a:pt x="141" y="313"/>
                      <a:pt x="352" y="333"/>
                      <a:pt x="408" y="382"/>
                    </a:cubicBezTo>
                    <a:cubicBezTo>
                      <a:pt x="464" y="431"/>
                      <a:pt x="440" y="521"/>
                      <a:pt x="414" y="562"/>
                    </a:cubicBezTo>
                    <a:cubicBezTo>
                      <a:pt x="388" y="603"/>
                      <a:pt x="311" y="624"/>
                      <a:pt x="252" y="628"/>
                    </a:cubicBezTo>
                    <a:cubicBezTo>
                      <a:pt x="193" y="632"/>
                      <a:pt x="102" y="615"/>
                      <a:pt x="60" y="586"/>
                    </a:cubicBezTo>
                    <a:cubicBezTo>
                      <a:pt x="18" y="557"/>
                      <a:pt x="12" y="481"/>
                      <a:pt x="0" y="454"/>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205" name="Group 219"/>
              <p:cNvGrpSpPr>
                <a:grpSpLocks noChangeAspect="1"/>
              </p:cNvGrpSpPr>
              <p:nvPr/>
            </p:nvGrpSpPr>
            <p:grpSpPr bwMode="auto">
              <a:xfrm>
                <a:off x="1997" y="219"/>
                <a:ext cx="87" cy="127"/>
                <a:chOff x="3017" y="1343"/>
                <a:chExt cx="420" cy="612"/>
              </a:xfrm>
            </p:grpSpPr>
            <p:sp>
              <p:nvSpPr>
                <p:cNvPr id="148211" name="Freeform 220"/>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12" name="Line 221"/>
                <p:cNvSpPr>
                  <a:spLocks noChangeAspect="1" noChangeShapeType="1"/>
                </p:cNvSpPr>
                <p:nvPr/>
              </p:nvSpPr>
              <p:spPr bwMode="auto">
                <a:xfrm>
                  <a:off x="3017" y="1637"/>
                  <a:ext cx="37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206" name="Freeform 222"/>
              <p:cNvSpPr>
                <a:spLocks noChangeAspect="1"/>
              </p:cNvSpPr>
              <p:nvPr/>
            </p:nvSpPr>
            <p:spPr bwMode="auto">
              <a:xfrm>
                <a:off x="2259" y="219"/>
                <a:ext cx="111" cy="127"/>
              </a:xfrm>
              <a:custGeom>
                <a:avLst/>
                <a:gdLst>
                  <a:gd name="T0" fmla="*/ 1 w 562"/>
                  <a:gd name="T1" fmla="*/ 0 h 641"/>
                  <a:gd name="T2" fmla="*/ 1 w 562"/>
                  <a:gd name="T3" fmla="*/ 0 h 641"/>
                  <a:gd name="T4" fmla="*/ 0 w 562"/>
                  <a:gd name="T5" fmla="*/ 0 h 641"/>
                  <a:gd name="T6" fmla="*/ 0 w 562"/>
                  <a:gd name="T7" fmla="*/ 0 h 641"/>
                  <a:gd name="T8" fmla="*/ 0 w 562"/>
                  <a:gd name="T9" fmla="*/ 0 h 641"/>
                  <a:gd name="T10" fmla="*/ 0 w 562"/>
                  <a:gd name="T11" fmla="*/ 1 h 641"/>
                  <a:gd name="T12" fmla="*/ 0 w 562"/>
                  <a:gd name="T13" fmla="*/ 1 h 641"/>
                  <a:gd name="T14" fmla="*/ 1 w 562"/>
                  <a:gd name="T15" fmla="*/ 1 h 641"/>
                  <a:gd name="T16" fmla="*/ 1 w 562"/>
                  <a:gd name="T17" fmla="*/ 1 h 641"/>
                  <a:gd name="T18" fmla="*/ 1 w 562"/>
                  <a:gd name="T19" fmla="*/ 1 h 641"/>
                  <a:gd name="T20" fmla="*/ 1 w 562"/>
                  <a:gd name="T21" fmla="*/ 1 h 6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641"/>
                  <a:gd name="T35" fmla="*/ 562 w 562"/>
                  <a:gd name="T36" fmla="*/ 641 h 6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641">
                    <a:moveTo>
                      <a:pt x="550" y="166"/>
                    </a:moveTo>
                    <a:cubicBezTo>
                      <a:pt x="538" y="147"/>
                      <a:pt x="519" y="79"/>
                      <a:pt x="478" y="52"/>
                    </a:cubicBezTo>
                    <a:cubicBezTo>
                      <a:pt x="437" y="25"/>
                      <a:pt x="367" y="0"/>
                      <a:pt x="304" y="4"/>
                    </a:cubicBezTo>
                    <a:cubicBezTo>
                      <a:pt x="241" y="8"/>
                      <a:pt x="149" y="28"/>
                      <a:pt x="100" y="76"/>
                    </a:cubicBezTo>
                    <a:cubicBezTo>
                      <a:pt x="51" y="124"/>
                      <a:pt x="20" y="222"/>
                      <a:pt x="10" y="292"/>
                    </a:cubicBezTo>
                    <a:cubicBezTo>
                      <a:pt x="0" y="362"/>
                      <a:pt x="10" y="442"/>
                      <a:pt x="40" y="496"/>
                    </a:cubicBezTo>
                    <a:cubicBezTo>
                      <a:pt x="70" y="550"/>
                      <a:pt x="126" y="594"/>
                      <a:pt x="190" y="616"/>
                    </a:cubicBezTo>
                    <a:cubicBezTo>
                      <a:pt x="254" y="638"/>
                      <a:pt x="362" y="641"/>
                      <a:pt x="424" y="628"/>
                    </a:cubicBezTo>
                    <a:cubicBezTo>
                      <a:pt x="486" y="615"/>
                      <a:pt x="540" y="584"/>
                      <a:pt x="562" y="538"/>
                    </a:cubicBezTo>
                    <a:lnTo>
                      <a:pt x="556" y="352"/>
                    </a:lnTo>
                    <a:lnTo>
                      <a:pt x="322" y="35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207" name="Group 223"/>
              <p:cNvGrpSpPr>
                <a:grpSpLocks noChangeAspect="1"/>
              </p:cNvGrpSpPr>
              <p:nvPr/>
            </p:nvGrpSpPr>
            <p:grpSpPr bwMode="auto">
              <a:xfrm>
                <a:off x="2407" y="219"/>
                <a:ext cx="87" cy="127"/>
                <a:chOff x="3017" y="1343"/>
                <a:chExt cx="420" cy="612"/>
              </a:xfrm>
            </p:grpSpPr>
            <p:sp>
              <p:nvSpPr>
                <p:cNvPr id="148209" name="Freeform 224"/>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10" name="Line 225"/>
                <p:cNvSpPr>
                  <a:spLocks noChangeAspect="1" noChangeShapeType="1"/>
                </p:cNvSpPr>
                <p:nvPr/>
              </p:nvSpPr>
              <p:spPr bwMode="auto">
                <a:xfrm>
                  <a:off x="3017" y="1637"/>
                  <a:ext cx="37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208" name="Freeform 226"/>
              <p:cNvSpPr>
                <a:spLocks noChangeAspect="1"/>
              </p:cNvSpPr>
              <p:nvPr/>
            </p:nvSpPr>
            <p:spPr bwMode="auto">
              <a:xfrm>
                <a:off x="2534" y="212"/>
                <a:ext cx="86" cy="134"/>
              </a:xfrm>
              <a:custGeom>
                <a:avLst/>
                <a:gdLst>
                  <a:gd name="T0" fmla="*/ 0 w 420"/>
                  <a:gd name="T1" fmla="*/ 0 h 654"/>
                  <a:gd name="T2" fmla="*/ 0 w 420"/>
                  <a:gd name="T3" fmla="*/ 1 h 654"/>
                  <a:gd name="T4" fmla="*/ 1 w 420"/>
                  <a:gd name="T5" fmla="*/ 1 h 654"/>
                  <a:gd name="T6" fmla="*/ 0 60000 65536"/>
                  <a:gd name="T7" fmla="*/ 0 60000 65536"/>
                  <a:gd name="T8" fmla="*/ 0 60000 65536"/>
                  <a:gd name="T9" fmla="*/ 0 w 420"/>
                  <a:gd name="T10" fmla="*/ 0 h 654"/>
                  <a:gd name="T11" fmla="*/ 420 w 420"/>
                  <a:gd name="T12" fmla="*/ 654 h 654"/>
                </a:gdLst>
                <a:ahLst/>
                <a:cxnLst>
                  <a:cxn ang="T6">
                    <a:pos x="T0" y="T1"/>
                  </a:cxn>
                  <a:cxn ang="T7">
                    <a:pos x="T2" y="T3"/>
                  </a:cxn>
                  <a:cxn ang="T8">
                    <a:pos x="T4" y="T5"/>
                  </a:cxn>
                </a:cxnLst>
                <a:rect l="T9" t="T10" r="T11" b="T12"/>
                <a:pathLst>
                  <a:path w="420" h="654">
                    <a:moveTo>
                      <a:pt x="0" y="0"/>
                    </a:moveTo>
                    <a:lnTo>
                      <a:pt x="0" y="654"/>
                    </a:lnTo>
                    <a:lnTo>
                      <a:pt x="420" y="654"/>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7461" name="Group 227"/>
          <p:cNvGrpSpPr>
            <a:grpSpLocks noChangeAspect="1"/>
          </p:cNvGrpSpPr>
          <p:nvPr/>
        </p:nvGrpSpPr>
        <p:grpSpPr bwMode="auto">
          <a:xfrm>
            <a:off x="2276475" y="1570038"/>
            <a:ext cx="209550" cy="901700"/>
            <a:chOff x="3500" y="1992"/>
            <a:chExt cx="173" cy="745"/>
          </a:xfrm>
        </p:grpSpPr>
        <p:sp>
          <p:nvSpPr>
            <p:cNvPr id="148177" name="Rectangle 228"/>
            <p:cNvSpPr>
              <a:spLocks noChangeAspect="1" noChangeArrowheads="1"/>
            </p:cNvSpPr>
            <p:nvPr/>
          </p:nvSpPr>
          <p:spPr bwMode="auto">
            <a:xfrm>
              <a:off x="3572" y="2183"/>
              <a:ext cx="35" cy="128"/>
            </a:xfrm>
            <a:prstGeom prst="rect">
              <a:avLst/>
            </a:prstGeom>
            <a:solidFill>
              <a:schemeClr val="bg2"/>
            </a:solidFill>
            <a:ln w="12700">
              <a:solidFill>
                <a:srgbClr val="4D4D4D"/>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78" name="Freeform 229"/>
            <p:cNvSpPr>
              <a:spLocks noChangeAspect="1"/>
            </p:cNvSpPr>
            <p:nvPr/>
          </p:nvSpPr>
          <p:spPr bwMode="auto">
            <a:xfrm>
              <a:off x="3509" y="1992"/>
              <a:ext cx="164" cy="215"/>
            </a:xfrm>
            <a:custGeom>
              <a:avLst/>
              <a:gdLst>
                <a:gd name="T0" fmla="*/ 1 w 661"/>
                <a:gd name="T1" fmla="*/ 3 h 869"/>
                <a:gd name="T2" fmla="*/ 0 w 661"/>
                <a:gd name="T3" fmla="*/ 2 h 869"/>
                <a:gd name="T4" fmla="*/ 0 w 661"/>
                <a:gd name="T5" fmla="*/ 1 h 869"/>
                <a:gd name="T6" fmla="*/ 1 w 661"/>
                <a:gd name="T7" fmla="*/ 0 h 869"/>
                <a:gd name="T8" fmla="*/ 2 w 661"/>
                <a:gd name="T9" fmla="*/ 0 h 869"/>
                <a:gd name="T10" fmla="*/ 2 w 661"/>
                <a:gd name="T11" fmla="*/ 1 h 869"/>
                <a:gd name="T12" fmla="*/ 2 w 661"/>
                <a:gd name="T13" fmla="*/ 2 h 869"/>
                <a:gd name="T14" fmla="*/ 2 w 661"/>
                <a:gd name="T15" fmla="*/ 3 h 869"/>
                <a:gd name="T16" fmla="*/ 1 w 661"/>
                <a:gd name="T17" fmla="*/ 3 h 8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1"/>
                <a:gd name="T28" fmla="*/ 0 h 869"/>
                <a:gd name="T29" fmla="*/ 661 w 661"/>
                <a:gd name="T30" fmla="*/ 869 h 8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1" h="869">
                  <a:moveTo>
                    <a:pt x="173" y="847"/>
                  </a:moveTo>
                  <a:cubicBezTo>
                    <a:pt x="98" y="820"/>
                    <a:pt x="46" y="777"/>
                    <a:pt x="23" y="679"/>
                  </a:cubicBezTo>
                  <a:cubicBezTo>
                    <a:pt x="0" y="581"/>
                    <a:pt x="4" y="365"/>
                    <a:pt x="35" y="259"/>
                  </a:cubicBezTo>
                  <a:cubicBezTo>
                    <a:pt x="66" y="153"/>
                    <a:pt x="138" y="78"/>
                    <a:pt x="209" y="41"/>
                  </a:cubicBezTo>
                  <a:cubicBezTo>
                    <a:pt x="280" y="4"/>
                    <a:pt x="391" y="0"/>
                    <a:pt x="461" y="37"/>
                  </a:cubicBezTo>
                  <a:cubicBezTo>
                    <a:pt x="531" y="74"/>
                    <a:pt x="600" y="158"/>
                    <a:pt x="629" y="265"/>
                  </a:cubicBezTo>
                  <a:cubicBezTo>
                    <a:pt x="658" y="372"/>
                    <a:pt x="661" y="583"/>
                    <a:pt x="635" y="679"/>
                  </a:cubicBezTo>
                  <a:cubicBezTo>
                    <a:pt x="609" y="775"/>
                    <a:pt x="550" y="813"/>
                    <a:pt x="473" y="841"/>
                  </a:cubicBezTo>
                  <a:cubicBezTo>
                    <a:pt x="396" y="869"/>
                    <a:pt x="235" y="846"/>
                    <a:pt x="173" y="847"/>
                  </a:cubicBezTo>
                  <a:close/>
                </a:path>
              </a:pathLst>
            </a:custGeom>
            <a:solidFill>
              <a:srgbClr val="C0C0C0"/>
            </a:solidFill>
            <a:ln w="12700">
              <a:solidFill>
                <a:schemeClr val="bg2"/>
              </a:solidFill>
              <a:round/>
            </a:ln>
          </p:spPr>
          <p:txBody>
            <a:bodyPr/>
            <a:lstStyle/>
            <a:p>
              <a:endParaRPr lang="zh-CN" altLang="en-US"/>
            </a:p>
          </p:txBody>
        </p:sp>
        <p:sp>
          <p:nvSpPr>
            <p:cNvPr id="148179" name="Oval 230"/>
            <p:cNvSpPr>
              <a:spLocks noChangeAspect="1" noChangeArrowheads="1"/>
            </p:cNvSpPr>
            <p:nvPr/>
          </p:nvSpPr>
          <p:spPr bwMode="auto">
            <a:xfrm>
              <a:off x="3501" y="2248"/>
              <a:ext cx="168" cy="24"/>
            </a:xfrm>
            <a:prstGeom prst="ellipse">
              <a:avLst/>
            </a:prstGeom>
            <a:solidFill>
              <a:schemeClr val="bg1"/>
            </a:solidFill>
            <a:ln w="3175">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80" name="Freeform 231"/>
            <p:cNvSpPr>
              <a:spLocks noChangeAspect="1"/>
            </p:cNvSpPr>
            <p:nvPr/>
          </p:nvSpPr>
          <p:spPr bwMode="auto">
            <a:xfrm>
              <a:off x="3515" y="2256"/>
              <a:ext cx="141" cy="481"/>
            </a:xfrm>
            <a:custGeom>
              <a:avLst/>
              <a:gdLst>
                <a:gd name="T0" fmla="*/ 0 w 570"/>
                <a:gd name="T1" fmla="*/ 0 h 1941"/>
                <a:gd name="T2" fmla="*/ 0 w 570"/>
                <a:gd name="T3" fmla="*/ 4 h 1941"/>
                <a:gd name="T4" fmla="*/ 1 w 570"/>
                <a:gd name="T5" fmla="*/ 7 h 1941"/>
                <a:gd name="T6" fmla="*/ 1 w 570"/>
                <a:gd name="T7" fmla="*/ 7 h 1941"/>
                <a:gd name="T8" fmla="*/ 2 w 570"/>
                <a:gd name="T9" fmla="*/ 4 h 1941"/>
                <a:gd name="T10" fmla="*/ 2 w 570"/>
                <a:gd name="T11" fmla="*/ 0 h 1941"/>
                <a:gd name="T12" fmla="*/ 0 w 570"/>
                <a:gd name="T13" fmla="*/ 0 h 1941"/>
                <a:gd name="T14" fmla="*/ 0 60000 65536"/>
                <a:gd name="T15" fmla="*/ 0 60000 65536"/>
                <a:gd name="T16" fmla="*/ 0 60000 65536"/>
                <a:gd name="T17" fmla="*/ 0 60000 65536"/>
                <a:gd name="T18" fmla="*/ 0 60000 65536"/>
                <a:gd name="T19" fmla="*/ 0 60000 65536"/>
                <a:gd name="T20" fmla="*/ 0 60000 65536"/>
                <a:gd name="T21" fmla="*/ 0 w 570"/>
                <a:gd name="T22" fmla="*/ 0 h 1941"/>
                <a:gd name="T23" fmla="*/ 570 w 570"/>
                <a:gd name="T24" fmla="*/ 1941 h 19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0" h="1941">
                  <a:moveTo>
                    <a:pt x="0" y="0"/>
                  </a:moveTo>
                  <a:lnTo>
                    <a:pt x="0" y="1135"/>
                  </a:lnTo>
                  <a:lnTo>
                    <a:pt x="222" y="1825"/>
                  </a:lnTo>
                  <a:cubicBezTo>
                    <a:pt x="281" y="1940"/>
                    <a:pt x="295" y="1941"/>
                    <a:pt x="353" y="1825"/>
                  </a:cubicBezTo>
                  <a:lnTo>
                    <a:pt x="570" y="1129"/>
                  </a:lnTo>
                  <a:lnTo>
                    <a:pt x="570" y="11"/>
                  </a:lnTo>
                  <a:lnTo>
                    <a:pt x="0" y="0"/>
                  </a:lnTo>
                  <a:close/>
                </a:path>
              </a:pathLst>
            </a:custGeom>
            <a:gradFill rotWithShape="1">
              <a:gsLst>
                <a:gs pos="0">
                  <a:srgbClr val="C0C0C0"/>
                </a:gs>
                <a:gs pos="50000">
                  <a:srgbClr val="FFFFFF"/>
                </a:gs>
                <a:gs pos="100000">
                  <a:srgbClr val="C0C0C0"/>
                </a:gs>
              </a:gsLst>
              <a:lin ang="0" scaled="1"/>
            </a:gradFill>
            <a:ln w="9525">
              <a:solidFill>
                <a:schemeClr val="bg2"/>
              </a:solidFill>
              <a:round/>
            </a:ln>
          </p:spPr>
          <p:txBody>
            <a:bodyPr/>
            <a:lstStyle/>
            <a:p>
              <a:endParaRPr lang="zh-CN" altLang="en-US"/>
            </a:p>
          </p:txBody>
        </p:sp>
        <p:sp>
          <p:nvSpPr>
            <p:cNvPr id="148181" name="Oval 232"/>
            <p:cNvSpPr>
              <a:spLocks noChangeAspect="1" noChangeArrowheads="1"/>
            </p:cNvSpPr>
            <p:nvPr/>
          </p:nvSpPr>
          <p:spPr bwMode="auto">
            <a:xfrm>
              <a:off x="3514" y="2249"/>
              <a:ext cx="143" cy="16"/>
            </a:xfrm>
            <a:prstGeom prst="ellipse">
              <a:avLst/>
            </a:prstGeom>
            <a:gradFill rotWithShape="1">
              <a:gsLst>
                <a:gs pos="0">
                  <a:schemeClr val="bg1"/>
                </a:gs>
                <a:gs pos="100000">
                  <a:schemeClr val="bg2"/>
                </a:gs>
              </a:gsLst>
              <a:lin ang="5400000" scaled="1"/>
            </a:gradFill>
            <a:ln w="952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82" name="Freeform 233"/>
            <p:cNvSpPr>
              <a:spLocks noChangeAspect="1"/>
            </p:cNvSpPr>
            <p:nvPr/>
          </p:nvSpPr>
          <p:spPr bwMode="auto">
            <a:xfrm>
              <a:off x="3500" y="2260"/>
              <a:ext cx="170" cy="23"/>
            </a:xfrm>
            <a:custGeom>
              <a:avLst/>
              <a:gdLst>
                <a:gd name="T0" fmla="*/ 0 w 685"/>
                <a:gd name="T1" fmla="*/ 0 h 93"/>
                <a:gd name="T2" fmla="*/ 0 w 685"/>
                <a:gd name="T3" fmla="*/ 0 h 93"/>
                <a:gd name="T4" fmla="*/ 0 w 685"/>
                <a:gd name="T5" fmla="*/ 0 h 93"/>
                <a:gd name="T6" fmla="*/ 1 w 685"/>
                <a:gd name="T7" fmla="*/ 0 h 93"/>
                <a:gd name="T8" fmla="*/ 2 w 685"/>
                <a:gd name="T9" fmla="*/ 0 h 93"/>
                <a:gd name="T10" fmla="*/ 2 w 685"/>
                <a:gd name="T11" fmla="*/ 0 h 93"/>
                <a:gd name="T12" fmla="*/ 2 w 685"/>
                <a:gd name="T13" fmla="*/ 0 h 93"/>
                <a:gd name="T14" fmla="*/ 2 w 685"/>
                <a:gd name="T15" fmla="*/ 0 h 93"/>
                <a:gd name="T16" fmla="*/ 2 w 685"/>
                <a:gd name="T17" fmla="*/ 0 h 93"/>
                <a:gd name="T18" fmla="*/ 1 w 685"/>
                <a:gd name="T19" fmla="*/ 0 h 93"/>
                <a:gd name="T20" fmla="*/ 1 w 685"/>
                <a:gd name="T21" fmla="*/ 0 h 93"/>
                <a:gd name="T22" fmla="*/ 0 w 685"/>
                <a:gd name="T23" fmla="*/ 0 h 93"/>
                <a:gd name="T24" fmla="*/ 0 w 685"/>
                <a:gd name="T25" fmla="*/ 0 h 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5"/>
                <a:gd name="T40" fmla="*/ 0 h 93"/>
                <a:gd name="T41" fmla="*/ 685 w 685"/>
                <a:gd name="T42" fmla="*/ 93 h 9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5" h="93">
                  <a:moveTo>
                    <a:pt x="1" y="6"/>
                  </a:moveTo>
                  <a:lnTo>
                    <a:pt x="3" y="50"/>
                  </a:lnTo>
                  <a:cubicBezTo>
                    <a:pt x="26" y="63"/>
                    <a:pt x="77" y="77"/>
                    <a:pt x="139" y="84"/>
                  </a:cubicBezTo>
                  <a:cubicBezTo>
                    <a:pt x="201" y="91"/>
                    <a:pt x="299" y="93"/>
                    <a:pt x="375" y="92"/>
                  </a:cubicBezTo>
                  <a:cubicBezTo>
                    <a:pt x="451" y="91"/>
                    <a:pt x="545" y="84"/>
                    <a:pt x="597" y="76"/>
                  </a:cubicBezTo>
                  <a:cubicBezTo>
                    <a:pt x="649" y="68"/>
                    <a:pt x="670" y="56"/>
                    <a:pt x="685" y="44"/>
                  </a:cubicBezTo>
                  <a:lnTo>
                    <a:pt x="685" y="4"/>
                  </a:lnTo>
                  <a:cubicBezTo>
                    <a:pt x="681" y="0"/>
                    <a:pt x="682" y="14"/>
                    <a:pt x="659" y="20"/>
                  </a:cubicBezTo>
                  <a:cubicBezTo>
                    <a:pt x="636" y="26"/>
                    <a:pt x="595" y="37"/>
                    <a:pt x="549" y="42"/>
                  </a:cubicBezTo>
                  <a:cubicBezTo>
                    <a:pt x="503" y="47"/>
                    <a:pt x="443" y="51"/>
                    <a:pt x="385" y="52"/>
                  </a:cubicBezTo>
                  <a:cubicBezTo>
                    <a:pt x="327" y="53"/>
                    <a:pt x="258" y="53"/>
                    <a:pt x="199" y="48"/>
                  </a:cubicBezTo>
                  <a:cubicBezTo>
                    <a:pt x="140" y="43"/>
                    <a:pt x="66" y="31"/>
                    <a:pt x="33" y="24"/>
                  </a:cubicBezTo>
                  <a:cubicBezTo>
                    <a:pt x="0" y="17"/>
                    <a:pt x="8" y="10"/>
                    <a:pt x="1" y="6"/>
                  </a:cubicBezTo>
                  <a:close/>
                </a:path>
              </a:pathLst>
            </a:custGeom>
            <a:solidFill>
              <a:schemeClr val="bg1"/>
            </a:solidFill>
            <a:ln w="3175">
              <a:solidFill>
                <a:schemeClr val="tx1"/>
              </a:solidFill>
              <a:round/>
            </a:ln>
          </p:spPr>
          <p:txBody>
            <a:bodyPr/>
            <a:lstStyle/>
            <a:p>
              <a:endParaRPr lang="zh-CN" altLang="en-US"/>
            </a:p>
          </p:txBody>
        </p:sp>
        <p:sp>
          <p:nvSpPr>
            <p:cNvPr id="148183" name="Oval 234"/>
            <p:cNvSpPr>
              <a:spLocks noChangeAspect="1" noChangeArrowheads="1"/>
            </p:cNvSpPr>
            <p:nvPr/>
          </p:nvSpPr>
          <p:spPr bwMode="auto">
            <a:xfrm>
              <a:off x="3526" y="2042"/>
              <a:ext cx="130" cy="117"/>
            </a:xfrm>
            <a:prstGeom prst="ellipse">
              <a:avLst/>
            </a:prstGeom>
            <a:solidFill>
              <a:schemeClr val="bg1"/>
            </a:solidFill>
            <a:ln w="2857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462" name="Freeform 235"/>
          <p:cNvSpPr/>
          <p:nvPr/>
        </p:nvSpPr>
        <p:spPr bwMode="auto">
          <a:xfrm>
            <a:off x="2543175" y="1704975"/>
            <a:ext cx="1190625" cy="657225"/>
          </a:xfrm>
          <a:custGeom>
            <a:avLst/>
            <a:gdLst>
              <a:gd name="T0" fmla="*/ 0 w 750"/>
              <a:gd name="T1" fmla="*/ 2147483646 h 414"/>
              <a:gd name="T2" fmla="*/ 2147483646 w 750"/>
              <a:gd name="T3" fmla="*/ 2147483646 h 414"/>
              <a:gd name="T4" fmla="*/ 2147483646 w 750"/>
              <a:gd name="T5" fmla="*/ 2147483646 h 414"/>
              <a:gd name="T6" fmla="*/ 0 60000 65536"/>
              <a:gd name="T7" fmla="*/ 0 60000 65536"/>
              <a:gd name="T8" fmla="*/ 0 60000 65536"/>
              <a:gd name="T9" fmla="*/ 0 w 750"/>
              <a:gd name="T10" fmla="*/ 0 h 414"/>
              <a:gd name="T11" fmla="*/ 750 w 750"/>
              <a:gd name="T12" fmla="*/ 414 h 414"/>
            </a:gdLst>
            <a:ahLst/>
            <a:cxnLst>
              <a:cxn ang="T6">
                <a:pos x="T0" y="T1"/>
              </a:cxn>
              <a:cxn ang="T7">
                <a:pos x="T2" y="T3"/>
              </a:cxn>
              <a:cxn ang="T8">
                <a:pos x="T4" y="T5"/>
              </a:cxn>
            </a:cxnLst>
            <a:rect l="T9" t="T10" r="T11" b="T12"/>
            <a:pathLst>
              <a:path w="750" h="414">
                <a:moveTo>
                  <a:pt x="0" y="90"/>
                </a:moveTo>
                <a:cubicBezTo>
                  <a:pt x="62" y="84"/>
                  <a:pt x="247" y="0"/>
                  <a:pt x="372" y="54"/>
                </a:cubicBezTo>
                <a:cubicBezTo>
                  <a:pt x="497" y="108"/>
                  <a:pt x="671" y="339"/>
                  <a:pt x="750" y="414"/>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7463" name="Freeform 236"/>
          <p:cNvSpPr/>
          <p:nvPr/>
        </p:nvSpPr>
        <p:spPr bwMode="auto">
          <a:xfrm>
            <a:off x="4181475" y="1538288"/>
            <a:ext cx="2085975" cy="795337"/>
          </a:xfrm>
          <a:custGeom>
            <a:avLst/>
            <a:gdLst>
              <a:gd name="T0" fmla="*/ 0 w 1314"/>
              <a:gd name="T1" fmla="*/ 2147483646 h 501"/>
              <a:gd name="T2" fmla="*/ 2147483646 w 1314"/>
              <a:gd name="T3" fmla="*/ 2147483646 h 501"/>
              <a:gd name="T4" fmla="*/ 2147483646 w 1314"/>
              <a:gd name="T5" fmla="*/ 2147483646 h 501"/>
              <a:gd name="T6" fmla="*/ 0 60000 65536"/>
              <a:gd name="T7" fmla="*/ 0 60000 65536"/>
              <a:gd name="T8" fmla="*/ 0 60000 65536"/>
              <a:gd name="T9" fmla="*/ 0 w 1314"/>
              <a:gd name="T10" fmla="*/ 0 h 501"/>
              <a:gd name="T11" fmla="*/ 1314 w 1314"/>
              <a:gd name="T12" fmla="*/ 501 h 501"/>
            </a:gdLst>
            <a:ahLst/>
            <a:cxnLst>
              <a:cxn ang="T6">
                <a:pos x="T0" y="T1"/>
              </a:cxn>
              <a:cxn ang="T7">
                <a:pos x="T2" y="T3"/>
              </a:cxn>
              <a:cxn ang="T8">
                <a:pos x="T4" y="T5"/>
              </a:cxn>
            </a:cxnLst>
            <a:rect l="T9" t="T10" r="T11" b="T12"/>
            <a:pathLst>
              <a:path w="1314" h="501">
                <a:moveTo>
                  <a:pt x="0" y="501"/>
                </a:moveTo>
                <a:cubicBezTo>
                  <a:pt x="265" y="301"/>
                  <a:pt x="531" y="102"/>
                  <a:pt x="750" y="51"/>
                </a:cubicBezTo>
                <a:cubicBezTo>
                  <a:pt x="969" y="0"/>
                  <a:pt x="1141" y="97"/>
                  <a:pt x="1314" y="195"/>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7464" name="Text Box 237"/>
          <p:cNvSpPr txBox="1">
            <a:spLocks noChangeArrowheads="1"/>
          </p:cNvSpPr>
          <p:nvPr/>
        </p:nvSpPr>
        <p:spPr bwMode="auto">
          <a:xfrm>
            <a:off x="260350" y="820738"/>
            <a:ext cx="22510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1. Collect cells or tissue </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and extract RNA with</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TRI Reagent (MRC) </a:t>
            </a:r>
          </a:p>
        </p:txBody>
      </p:sp>
      <p:sp>
        <p:nvSpPr>
          <p:cNvPr id="147465" name="Text Box 238"/>
          <p:cNvSpPr txBox="1">
            <a:spLocks noChangeArrowheads="1"/>
          </p:cNvSpPr>
          <p:nvPr/>
        </p:nvSpPr>
        <p:spPr bwMode="auto">
          <a:xfrm>
            <a:off x="3013075" y="1363663"/>
            <a:ext cx="16303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2. Separate RNA</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on agarose gel</a:t>
            </a:r>
          </a:p>
        </p:txBody>
      </p:sp>
      <p:sp>
        <p:nvSpPr>
          <p:cNvPr id="147466" name="Text Box 239"/>
          <p:cNvSpPr txBox="1">
            <a:spLocks noChangeArrowheads="1"/>
          </p:cNvSpPr>
          <p:nvPr/>
        </p:nvSpPr>
        <p:spPr bwMode="auto">
          <a:xfrm>
            <a:off x="6032500" y="1125538"/>
            <a:ext cx="25098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3a. Transfer separated RNA</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onto membrane</a:t>
            </a:r>
          </a:p>
        </p:txBody>
      </p:sp>
      <p:grpSp>
        <p:nvGrpSpPr>
          <p:cNvPr id="147467" name="Group 240"/>
          <p:cNvGrpSpPr>
            <a:grpSpLocks noChangeAspect="1"/>
          </p:cNvGrpSpPr>
          <p:nvPr/>
        </p:nvGrpSpPr>
        <p:grpSpPr bwMode="auto">
          <a:xfrm>
            <a:off x="5910263" y="4270375"/>
            <a:ext cx="209550" cy="901700"/>
            <a:chOff x="3500" y="1992"/>
            <a:chExt cx="173" cy="745"/>
          </a:xfrm>
        </p:grpSpPr>
        <p:sp>
          <p:nvSpPr>
            <p:cNvPr id="148170" name="Rectangle 241"/>
            <p:cNvSpPr>
              <a:spLocks noChangeAspect="1" noChangeArrowheads="1"/>
            </p:cNvSpPr>
            <p:nvPr/>
          </p:nvSpPr>
          <p:spPr bwMode="auto">
            <a:xfrm>
              <a:off x="3572" y="2183"/>
              <a:ext cx="35" cy="128"/>
            </a:xfrm>
            <a:prstGeom prst="rect">
              <a:avLst/>
            </a:prstGeom>
            <a:solidFill>
              <a:schemeClr val="bg2"/>
            </a:solidFill>
            <a:ln w="12700">
              <a:solidFill>
                <a:srgbClr val="4D4D4D"/>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71" name="Freeform 242"/>
            <p:cNvSpPr>
              <a:spLocks noChangeAspect="1"/>
            </p:cNvSpPr>
            <p:nvPr/>
          </p:nvSpPr>
          <p:spPr bwMode="auto">
            <a:xfrm>
              <a:off x="3509" y="1992"/>
              <a:ext cx="164" cy="215"/>
            </a:xfrm>
            <a:custGeom>
              <a:avLst/>
              <a:gdLst>
                <a:gd name="T0" fmla="*/ 1 w 661"/>
                <a:gd name="T1" fmla="*/ 3 h 869"/>
                <a:gd name="T2" fmla="*/ 0 w 661"/>
                <a:gd name="T3" fmla="*/ 2 h 869"/>
                <a:gd name="T4" fmla="*/ 0 w 661"/>
                <a:gd name="T5" fmla="*/ 1 h 869"/>
                <a:gd name="T6" fmla="*/ 1 w 661"/>
                <a:gd name="T7" fmla="*/ 0 h 869"/>
                <a:gd name="T8" fmla="*/ 2 w 661"/>
                <a:gd name="T9" fmla="*/ 0 h 869"/>
                <a:gd name="T10" fmla="*/ 2 w 661"/>
                <a:gd name="T11" fmla="*/ 1 h 869"/>
                <a:gd name="T12" fmla="*/ 2 w 661"/>
                <a:gd name="T13" fmla="*/ 2 h 869"/>
                <a:gd name="T14" fmla="*/ 2 w 661"/>
                <a:gd name="T15" fmla="*/ 3 h 869"/>
                <a:gd name="T16" fmla="*/ 1 w 661"/>
                <a:gd name="T17" fmla="*/ 3 h 8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1"/>
                <a:gd name="T28" fmla="*/ 0 h 869"/>
                <a:gd name="T29" fmla="*/ 661 w 661"/>
                <a:gd name="T30" fmla="*/ 869 h 8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1" h="869">
                  <a:moveTo>
                    <a:pt x="173" y="847"/>
                  </a:moveTo>
                  <a:cubicBezTo>
                    <a:pt x="98" y="820"/>
                    <a:pt x="46" y="777"/>
                    <a:pt x="23" y="679"/>
                  </a:cubicBezTo>
                  <a:cubicBezTo>
                    <a:pt x="0" y="581"/>
                    <a:pt x="4" y="365"/>
                    <a:pt x="35" y="259"/>
                  </a:cubicBezTo>
                  <a:cubicBezTo>
                    <a:pt x="66" y="153"/>
                    <a:pt x="138" y="78"/>
                    <a:pt x="209" y="41"/>
                  </a:cubicBezTo>
                  <a:cubicBezTo>
                    <a:pt x="280" y="4"/>
                    <a:pt x="391" y="0"/>
                    <a:pt x="461" y="37"/>
                  </a:cubicBezTo>
                  <a:cubicBezTo>
                    <a:pt x="531" y="74"/>
                    <a:pt x="600" y="158"/>
                    <a:pt x="629" y="265"/>
                  </a:cubicBezTo>
                  <a:cubicBezTo>
                    <a:pt x="658" y="372"/>
                    <a:pt x="661" y="583"/>
                    <a:pt x="635" y="679"/>
                  </a:cubicBezTo>
                  <a:cubicBezTo>
                    <a:pt x="609" y="775"/>
                    <a:pt x="550" y="813"/>
                    <a:pt x="473" y="841"/>
                  </a:cubicBezTo>
                  <a:cubicBezTo>
                    <a:pt x="396" y="869"/>
                    <a:pt x="235" y="846"/>
                    <a:pt x="173" y="847"/>
                  </a:cubicBezTo>
                  <a:close/>
                </a:path>
              </a:pathLst>
            </a:custGeom>
            <a:solidFill>
              <a:srgbClr val="C0C0C0"/>
            </a:solidFill>
            <a:ln w="12700">
              <a:solidFill>
                <a:schemeClr val="bg2"/>
              </a:solidFill>
              <a:round/>
            </a:ln>
          </p:spPr>
          <p:txBody>
            <a:bodyPr/>
            <a:lstStyle/>
            <a:p>
              <a:endParaRPr lang="zh-CN" altLang="en-US"/>
            </a:p>
          </p:txBody>
        </p:sp>
        <p:sp>
          <p:nvSpPr>
            <p:cNvPr id="148172" name="Oval 243"/>
            <p:cNvSpPr>
              <a:spLocks noChangeAspect="1" noChangeArrowheads="1"/>
            </p:cNvSpPr>
            <p:nvPr/>
          </p:nvSpPr>
          <p:spPr bwMode="auto">
            <a:xfrm>
              <a:off x="3501" y="2248"/>
              <a:ext cx="168" cy="24"/>
            </a:xfrm>
            <a:prstGeom prst="ellipse">
              <a:avLst/>
            </a:prstGeom>
            <a:solidFill>
              <a:schemeClr val="bg1"/>
            </a:solidFill>
            <a:ln w="3175">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73" name="Freeform 244"/>
            <p:cNvSpPr>
              <a:spLocks noChangeAspect="1"/>
            </p:cNvSpPr>
            <p:nvPr/>
          </p:nvSpPr>
          <p:spPr bwMode="auto">
            <a:xfrm>
              <a:off x="3515" y="2256"/>
              <a:ext cx="141" cy="481"/>
            </a:xfrm>
            <a:custGeom>
              <a:avLst/>
              <a:gdLst>
                <a:gd name="T0" fmla="*/ 0 w 570"/>
                <a:gd name="T1" fmla="*/ 0 h 1941"/>
                <a:gd name="T2" fmla="*/ 0 w 570"/>
                <a:gd name="T3" fmla="*/ 4 h 1941"/>
                <a:gd name="T4" fmla="*/ 1 w 570"/>
                <a:gd name="T5" fmla="*/ 7 h 1941"/>
                <a:gd name="T6" fmla="*/ 1 w 570"/>
                <a:gd name="T7" fmla="*/ 7 h 1941"/>
                <a:gd name="T8" fmla="*/ 2 w 570"/>
                <a:gd name="T9" fmla="*/ 4 h 1941"/>
                <a:gd name="T10" fmla="*/ 2 w 570"/>
                <a:gd name="T11" fmla="*/ 0 h 1941"/>
                <a:gd name="T12" fmla="*/ 0 w 570"/>
                <a:gd name="T13" fmla="*/ 0 h 1941"/>
                <a:gd name="T14" fmla="*/ 0 60000 65536"/>
                <a:gd name="T15" fmla="*/ 0 60000 65536"/>
                <a:gd name="T16" fmla="*/ 0 60000 65536"/>
                <a:gd name="T17" fmla="*/ 0 60000 65536"/>
                <a:gd name="T18" fmla="*/ 0 60000 65536"/>
                <a:gd name="T19" fmla="*/ 0 60000 65536"/>
                <a:gd name="T20" fmla="*/ 0 60000 65536"/>
                <a:gd name="T21" fmla="*/ 0 w 570"/>
                <a:gd name="T22" fmla="*/ 0 h 1941"/>
                <a:gd name="T23" fmla="*/ 570 w 570"/>
                <a:gd name="T24" fmla="*/ 1941 h 19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0" h="1941">
                  <a:moveTo>
                    <a:pt x="0" y="0"/>
                  </a:moveTo>
                  <a:lnTo>
                    <a:pt x="0" y="1135"/>
                  </a:lnTo>
                  <a:lnTo>
                    <a:pt x="222" y="1825"/>
                  </a:lnTo>
                  <a:cubicBezTo>
                    <a:pt x="281" y="1940"/>
                    <a:pt x="295" y="1941"/>
                    <a:pt x="353" y="1825"/>
                  </a:cubicBezTo>
                  <a:lnTo>
                    <a:pt x="570" y="1129"/>
                  </a:lnTo>
                  <a:lnTo>
                    <a:pt x="570" y="11"/>
                  </a:lnTo>
                  <a:lnTo>
                    <a:pt x="0" y="0"/>
                  </a:lnTo>
                  <a:close/>
                </a:path>
              </a:pathLst>
            </a:custGeom>
            <a:gradFill rotWithShape="1">
              <a:gsLst>
                <a:gs pos="0">
                  <a:srgbClr val="C0C0C0"/>
                </a:gs>
                <a:gs pos="50000">
                  <a:srgbClr val="FFFFFF"/>
                </a:gs>
                <a:gs pos="100000">
                  <a:srgbClr val="C0C0C0"/>
                </a:gs>
              </a:gsLst>
              <a:lin ang="0" scaled="1"/>
            </a:gradFill>
            <a:ln w="9525">
              <a:solidFill>
                <a:schemeClr val="bg2"/>
              </a:solidFill>
              <a:round/>
            </a:ln>
          </p:spPr>
          <p:txBody>
            <a:bodyPr/>
            <a:lstStyle/>
            <a:p>
              <a:endParaRPr lang="zh-CN" altLang="en-US"/>
            </a:p>
          </p:txBody>
        </p:sp>
        <p:sp>
          <p:nvSpPr>
            <p:cNvPr id="148174" name="Oval 245"/>
            <p:cNvSpPr>
              <a:spLocks noChangeAspect="1" noChangeArrowheads="1"/>
            </p:cNvSpPr>
            <p:nvPr/>
          </p:nvSpPr>
          <p:spPr bwMode="auto">
            <a:xfrm>
              <a:off x="3514" y="2249"/>
              <a:ext cx="143" cy="16"/>
            </a:xfrm>
            <a:prstGeom prst="ellipse">
              <a:avLst/>
            </a:prstGeom>
            <a:gradFill rotWithShape="1">
              <a:gsLst>
                <a:gs pos="0">
                  <a:schemeClr val="bg1"/>
                </a:gs>
                <a:gs pos="100000">
                  <a:schemeClr val="bg2"/>
                </a:gs>
              </a:gsLst>
              <a:lin ang="5400000" scaled="1"/>
            </a:gradFill>
            <a:ln w="952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75" name="Freeform 246"/>
            <p:cNvSpPr>
              <a:spLocks noChangeAspect="1"/>
            </p:cNvSpPr>
            <p:nvPr/>
          </p:nvSpPr>
          <p:spPr bwMode="auto">
            <a:xfrm>
              <a:off x="3500" y="2260"/>
              <a:ext cx="170" cy="23"/>
            </a:xfrm>
            <a:custGeom>
              <a:avLst/>
              <a:gdLst>
                <a:gd name="T0" fmla="*/ 0 w 685"/>
                <a:gd name="T1" fmla="*/ 0 h 93"/>
                <a:gd name="T2" fmla="*/ 0 w 685"/>
                <a:gd name="T3" fmla="*/ 0 h 93"/>
                <a:gd name="T4" fmla="*/ 0 w 685"/>
                <a:gd name="T5" fmla="*/ 0 h 93"/>
                <a:gd name="T6" fmla="*/ 1 w 685"/>
                <a:gd name="T7" fmla="*/ 0 h 93"/>
                <a:gd name="T8" fmla="*/ 2 w 685"/>
                <a:gd name="T9" fmla="*/ 0 h 93"/>
                <a:gd name="T10" fmla="*/ 2 w 685"/>
                <a:gd name="T11" fmla="*/ 0 h 93"/>
                <a:gd name="T12" fmla="*/ 2 w 685"/>
                <a:gd name="T13" fmla="*/ 0 h 93"/>
                <a:gd name="T14" fmla="*/ 2 w 685"/>
                <a:gd name="T15" fmla="*/ 0 h 93"/>
                <a:gd name="T16" fmla="*/ 2 w 685"/>
                <a:gd name="T17" fmla="*/ 0 h 93"/>
                <a:gd name="T18" fmla="*/ 1 w 685"/>
                <a:gd name="T19" fmla="*/ 0 h 93"/>
                <a:gd name="T20" fmla="*/ 1 w 685"/>
                <a:gd name="T21" fmla="*/ 0 h 93"/>
                <a:gd name="T22" fmla="*/ 0 w 685"/>
                <a:gd name="T23" fmla="*/ 0 h 93"/>
                <a:gd name="T24" fmla="*/ 0 w 685"/>
                <a:gd name="T25" fmla="*/ 0 h 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5"/>
                <a:gd name="T40" fmla="*/ 0 h 93"/>
                <a:gd name="T41" fmla="*/ 685 w 685"/>
                <a:gd name="T42" fmla="*/ 93 h 9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5" h="93">
                  <a:moveTo>
                    <a:pt x="1" y="6"/>
                  </a:moveTo>
                  <a:lnTo>
                    <a:pt x="3" y="50"/>
                  </a:lnTo>
                  <a:cubicBezTo>
                    <a:pt x="26" y="63"/>
                    <a:pt x="77" y="77"/>
                    <a:pt x="139" y="84"/>
                  </a:cubicBezTo>
                  <a:cubicBezTo>
                    <a:pt x="201" y="91"/>
                    <a:pt x="299" y="93"/>
                    <a:pt x="375" y="92"/>
                  </a:cubicBezTo>
                  <a:cubicBezTo>
                    <a:pt x="451" y="91"/>
                    <a:pt x="545" y="84"/>
                    <a:pt x="597" y="76"/>
                  </a:cubicBezTo>
                  <a:cubicBezTo>
                    <a:pt x="649" y="68"/>
                    <a:pt x="670" y="56"/>
                    <a:pt x="685" y="44"/>
                  </a:cubicBezTo>
                  <a:lnTo>
                    <a:pt x="685" y="4"/>
                  </a:lnTo>
                  <a:cubicBezTo>
                    <a:pt x="681" y="0"/>
                    <a:pt x="682" y="14"/>
                    <a:pt x="659" y="20"/>
                  </a:cubicBezTo>
                  <a:cubicBezTo>
                    <a:pt x="636" y="26"/>
                    <a:pt x="595" y="37"/>
                    <a:pt x="549" y="42"/>
                  </a:cubicBezTo>
                  <a:cubicBezTo>
                    <a:pt x="503" y="47"/>
                    <a:pt x="443" y="51"/>
                    <a:pt x="385" y="52"/>
                  </a:cubicBezTo>
                  <a:cubicBezTo>
                    <a:pt x="327" y="53"/>
                    <a:pt x="258" y="53"/>
                    <a:pt x="199" y="48"/>
                  </a:cubicBezTo>
                  <a:cubicBezTo>
                    <a:pt x="140" y="43"/>
                    <a:pt x="66" y="31"/>
                    <a:pt x="33" y="24"/>
                  </a:cubicBezTo>
                  <a:cubicBezTo>
                    <a:pt x="0" y="17"/>
                    <a:pt x="8" y="10"/>
                    <a:pt x="1" y="6"/>
                  </a:cubicBezTo>
                  <a:close/>
                </a:path>
              </a:pathLst>
            </a:custGeom>
            <a:solidFill>
              <a:schemeClr val="bg1"/>
            </a:solidFill>
            <a:ln w="3175">
              <a:solidFill>
                <a:schemeClr val="tx1"/>
              </a:solidFill>
              <a:round/>
            </a:ln>
          </p:spPr>
          <p:txBody>
            <a:bodyPr/>
            <a:lstStyle/>
            <a:p>
              <a:endParaRPr lang="zh-CN" altLang="en-US"/>
            </a:p>
          </p:txBody>
        </p:sp>
        <p:sp>
          <p:nvSpPr>
            <p:cNvPr id="148176" name="Oval 247"/>
            <p:cNvSpPr>
              <a:spLocks noChangeAspect="1" noChangeArrowheads="1"/>
            </p:cNvSpPr>
            <p:nvPr/>
          </p:nvSpPr>
          <p:spPr bwMode="auto">
            <a:xfrm>
              <a:off x="3526" y="2042"/>
              <a:ext cx="130" cy="117"/>
            </a:xfrm>
            <a:prstGeom prst="ellipse">
              <a:avLst/>
            </a:prstGeom>
            <a:solidFill>
              <a:schemeClr val="bg1"/>
            </a:solidFill>
            <a:ln w="2857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468" name="Text Box 248"/>
          <p:cNvSpPr txBox="1">
            <a:spLocks noChangeArrowheads="1"/>
          </p:cNvSpPr>
          <p:nvPr/>
        </p:nvSpPr>
        <p:spPr bwMode="auto">
          <a:xfrm>
            <a:off x="6470650" y="3354388"/>
            <a:ext cx="212248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3b. Synthesize labeled </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cDNA probe</a:t>
            </a:r>
          </a:p>
        </p:txBody>
      </p:sp>
      <p:grpSp>
        <p:nvGrpSpPr>
          <p:cNvPr id="147469" name="Group 249"/>
          <p:cNvGrpSpPr>
            <a:grpSpLocks noChangeAspect="1"/>
          </p:cNvGrpSpPr>
          <p:nvPr/>
        </p:nvGrpSpPr>
        <p:grpSpPr bwMode="auto">
          <a:xfrm>
            <a:off x="6738938" y="3971925"/>
            <a:ext cx="1855787" cy="109538"/>
            <a:chOff x="95" y="2136"/>
            <a:chExt cx="2246" cy="133"/>
          </a:xfrm>
        </p:grpSpPr>
        <p:sp>
          <p:nvSpPr>
            <p:cNvPr id="147955" name="Freeform 250"/>
            <p:cNvSpPr>
              <a:spLocks noChangeAspect="1"/>
            </p:cNvSpPr>
            <p:nvPr/>
          </p:nvSpPr>
          <p:spPr bwMode="auto">
            <a:xfrm>
              <a:off x="368"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6" name="Freeform 251"/>
            <p:cNvSpPr>
              <a:spLocks noChangeAspect="1"/>
            </p:cNvSpPr>
            <p:nvPr/>
          </p:nvSpPr>
          <p:spPr bwMode="auto">
            <a:xfrm>
              <a:off x="289"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7" name="Freeform 252"/>
            <p:cNvSpPr>
              <a:spLocks noChangeAspect="1"/>
            </p:cNvSpPr>
            <p:nvPr/>
          </p:nvSpPr>
          <p:spPr bwMode="auto">
            <a:xfrm>
              <a:off x="640"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8" name="Freeform 253"/>
            <p:cNvSpPr>
              <a:spLocks noChangeAspect="1"/>
            </p:cNvSpPr>
            <p:nvPr/>
          </p:nvSpPr>
          <p:spPr bwMode="auto">
            <a:xfrm>
              <a:off x="561"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9" name="Freeform 254"/>
            <p:cNvSpPr>
              <a:spLocks noChangeAspect="1"/>
            </p:cNvSpPr>
            <p:nvPr/>
          </p:nvSpPr>
          <p:spPr bwMode="auto">
            <a:xfrm>
              <a:off x="913"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0" name="Freeform 255"/>
            <p:cNvSpPr>
              <a:spLocks noChangeAspect="1"/>
            </p:cNvSpPr>
            <p:nvPr/>
          </p:nvSpPr>
          <p:spPr bwMode="auto">
            <a:xfrm>
              <a:off x="834"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1" name="Freeform 256"/>
            <p:cNvSpPr>
              <a:spLocks noChangeAspect="1"/>
            </p:cNvSpPr>
            <p:nvPr/>
          </p:nvSpPr>
          <p:spPr bwMode="auto">
            <a:xfrm>
              <a:off x="1187"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2" name="Freeform 257"/>
            <p:cNvSpPr>
              <a:spLocks noChangeAspect="1"/>
            </p:cNvSpPr>
            <p:nvPr/>
          </p:nvSpPr>
          <p:spPr bwMode="auto">
            <a:xfrm>
              <a:off x="110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3" name="Freeform 258"/>
            <p:cNvSpPr>
              <a:spLocks noChangeAspect="1"/>
            </p:cNvSpPr>
            <p:nvPr/>
          </p:nvSpPr>
          <p:spPr bwMode="auto">
            <a:xfrm>
              <a:off x="1460"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4" name="Freeform 259"/>
            <p:cNvSpPr>
              <a:spLocks noChangeAspect="1"/>
            </p:cNvSpPr>
            <p:nvPr/>
          </p:nvSpPr>
          <p:spPr bwMode="auto">
            <a:xfrm>
              <a:off x="1381"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5" name="Freeform 260"/>
            <p:cNvSpPr>
              <a:spLocks noChangeAspect="1"/>
            </p:cNvSpPr>
            <p:nvPr/>
          </p:nvSpPr>
          <p:spPr bwMode="auto">
            <a:xfrm>
              <a:off x="1732"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6" name="Freeform 261"/>
            <p:cNvSpPr>
              <a:spLocks noChangeAspect="1"/>
            </p:cNvSpPr>
            <p:nvPr/>
          </p:nvSpPr>
          <p:spPr bwMode="auto">
            <a:xfrm>
              <a:off x="1653"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7" name="Freeform 262"/>
            <p:cNvSpPr>
              <a:spLocks noChangeAspect="1"/>
            </p:cNvSpPr>
            <p:nvPr/>
          </p:nvSpPr>
          <p:spPr bwMode="auto">
            <a:xfrm>
              <a:off x="2005"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8" name="Freeform 263"/>
            <p:cNvSpPr>
              <a:spLocks noChangeAspect="1"/>
            </p:cNvSpPr>
            <p:nvPr/>
          </p:nvSpPr>
          <p:spPr bwMode="auto">
            <a:xfrm>
              <a:off x="192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9" name="Freeform 264"/>
            <p:cNvSpPr>
              <a:spLocks noChangeAspect="1"/>
            </p:cNvSpPr>
            <p:nvPr/>
          </p:nvSpPr>
          <p:spPr bwMode="auto">
            <a:xfrm>
              <a:off x="95"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47970" name="Group 265"/>
            <p:cNvGrpSpPr>
              <a:grpSpLocks noChangeAspect="1"/>
            </p:cNvGrpSpPr>
            <p:nvPr/>
          </p:nvGrpSpPr>
          <p:grpSpPr bwMode="auto">
            <a:xfrm>
              <a:off x="229" y="2137"/>
              <a:ext cx="11" cy="86"/>
              <a:chOff x="1015" y="2428"/>
              <a:chExt cx="46" cy="372"/>
            </a:xfrm>
          </p:grpSpPr>
          <p:sp>
            <p:nvSpPr>
              <p:cNvPr id="148168" name="AutoShape 266"/>
              <p:cNvSpPr>
                <a:spLocks noChangeAspect="1" noChangeArrowheads="1"/>
              </p:cNvSpPr>
              <p:nvPr/>
            </p:nvSpPr>
            <p:spPr bwMode="auto">
              <a:xfrm>
                <a:off x="1015" y="2428"/>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69" name="AutoShape 267"/>
              <p:cNvSpPr>
                <a:spLocks noChangeAspect="1" noChangeArrowheads="1"/>
              </p:cNvSpPr>
              <p:nvPr/>
            </p:nvSpPr>
            <p:spPr bwMode="auto">
              <a:xfrm>
                <a:off x="1015" y="2611"/>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1" name="Group 268"/>
            <p:cNvGrpSpPr>
              <a:grpSpLocks noChangeAspect="1"/>
            </p:cNvGrpSpPr>
            <p:nvPr/>
          </p:nvGrpSpPr>
          <p:grpSpPr bwMode="auto">
            <a:xfrm>
              <a:off x="394" y="2153"/>
              <a:ext cx="10" cy="104"/>
              <a:chOff x="1790" y="2461"/>
              <a:chExt cx="40" cy="447"/>
            </a:xfrm>
          </p:grpSpPr>
          <p:sp>
            <p:nvSpPr>
              <p:cNvPr id="148166" name="AutoShape 269"/>
              <p:cNvSpPr>
                <a:spLocks noChangeAspect="1" noChangeArrowheads="1"/>
              </p:cNvSpPr>
              <p:nvPr/>
            </p:nvSpPr>
            <p:spPr bwMode="auto">
              <a:xfrm>
                <a:off x="1790" y="2461"/>
                <a:ext cx="40" cy="223"/>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67" name="AutoShape 270"/>
              <p:cNvSpPr>
                <a:spLocks noChangeAspect="1" noChangeArrowheads="1"/>
              </p:cNvSpPr>
              <p:nvPr/>
            </p:nvSpPr>
            <p:spPr bwMode="auto">
              <a:xfrm>
                <a:off x="1790" y="2684"/>
                <a:ext cx="40" cy="2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2" name="Group 271"/>
            <p:cNvGrpSpPr>
              <a:grpSpLocks noChangeAspect="1"/>
            </p:cNvGrpSpPr>
            <p:nvPr/>
          </p:nvGrpSpPr>
          <p:grpSpPr bwMode="auto">
            <a:xfrm>
              <a:off x="260" y="2150"/>
              <a:ext cx="9" cy="107"/>
              <a:chOff x="1151" y="2490"/>
              <a:chExt cx="40" cy="455"/>
            </a:xfrm>
          </p:grpSpPr>
          <p:sp>
            <p:nvSpPr>
              <p:cNvPr id="148164" name="AutoShape 272"/>
              <p:cNvSpPr>
                <a:spLocks noChangeAspect="1" noChangeArrowheads="1"/>
              </p:cNvSpPr>
              <p:nvPr/>
            </p:nvSpPr>
            <p:spPr bwMode="auto">
              <a:xfrm>
                <a:off x="1151" y="2716"/>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65" name="AutoShape 273"/>
              <p:cNvSpPr>
                <a:spLocks noChangeAspect="1" noChangeArrowheads="1"/>
              </p:cNvSpPr>
              <p:nvPr/>
            </p:nvSpPr>
            <p:spPr bwMode="auto">
              <a:xfrm>
                <a:off x="1151" y="2490"/>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3" name="Group 274"/>
            <p:cNvGrpSpPr>
              <a:grpSpLocks noChangeAspect="1"/>
            </p:cNvGrpSpPr>
            <p:nvPr/>
          </p:nvGrpSpPr>
          <p:grpSpPr bwMode="auto">
            <a:xfrm>
              <a:off x="425" y="2140"/>
              <a:ext cx="9" cy="76"/>
              <a:chOff x="1914" y="2425"/>
              <a:chExt cx="40" cy="326"/>
            </a:xfrm>
          </p:grpSpPr>
          <p:sp>
            <p:nvSpPr>
              <p:cNvPr id="148162" name="AutoShape 275"/>
              <p:cNvSpPr>
                <a:spLocks noChangeAspect="1" noChangeArrowheads="1"/>
              </p:cNvSpPr>
              <p:nvPr/>
            </p:nvSpPr>
            <p:spPr bwMode="auto">
              <a:xfrm>
                <a:off x="1914" y="2425"/>
                <a:ext cx="40" cy="16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63" name="AutoShape 276"/>
              <p:cNvSpPr>
                <a:spLocks noChangeAspect="1" noChangeArrowheads="1"/>
              </p:cNvSpPr>
              <p:nvPr/>
            </p:nvSpPr>
            <p:spPr bwMode="auto">
              <a:xfrm>
                <a:off x="1914" y="2588"/>
                <a:ext cx="40" cy="16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4" name="Group 277"/>
            <p:cNvGrpSpPr>
              <a:grpSpLocks noChangeAspect="1"/>
            </p:cNvGrpSpPr>
            <p:nvPr/>
          </p:nvGrpSpPr>
          <p:grpSpPr bwMode="auto">
            <a:xfrm>
              <a:off x="290" y="2187"/>
              <a:ext cx="9" cy="78"/>
              <a:chOff x="1284" y="2652"/>
              <a:chExt cx="40" cy="337"/>
            </a:xfrm>
          </p:grpSpPr>
          <p:sp>
            <p:nvSpPr>
              <p:cNvPr id="148160" name="AutoShape 278"/>
              <p:cNvSpPr>
                <a:spLocks noChangeAspect="1" noChangeArrowheads="1"/>
              </p:cNvSpPr>
              <p:nvPr/>
            </p:nvSpPr>
            <p:spPr bwMode="auto">
              <a:xfrm>
                <a:off x="1284" y="2821"/>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61" name="AutoShape 279"/>
              <p:cNvSpPr>
                <a:spLocks noChangeAspect="1" noChangeArrowheads="1"/>
              </p:cNvSpPr>
              <p:nvPr/>
            </p:nvSpPr>
            <p:spPr bwMode="auto">
              <a:xfrm>
                <a:off x="1284" y="2652"/>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5" name="Group 280"/>
            <p:cNvGrpSpPr>
              <a:grpSpLocks noChangeAspect="1"/>
            </p:cNvGrpSpPr>
            <p:nvPr/>
          </p:nvGrpSpPr>
          <p:grpSpPr bwMode="auto">
            <a:xfrm>
              <a:off x="364" y="2184"/>
              <a:ext cx="9" cy="83"/>
              <a:chOff x="1658" y="2628"/>
              <a:chExt cx="40" cy="355"/>
            </a:xfrm>
          </p:grpSpPr>
          <p:sp>
            <p:nvSpPr>
              <p:cNvPr id="148158" name="AutoShape 281"/>
              <p:cNvSpPr>
                <a:spLocks noChangeAspect="1" noChangeArrowheads="1"/>
              </p:cNvSpPr>
              <p:nvPr/>
            </p:nvSpPr>
            <p:spPr bwMode="auto">
              <a:xfrm>
                <a:off x="1658" y="2628"/>
                <a:ext cx="40" cy="17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59" name="AutoShape 282"/>
              <p:cNvSpPr>
                <a:spLocks noChangeAspect="1" noChangeArrowheads="1"/>
              </p:cNvSpPr>
              <p:nvPr/>
            </p:nvSpPr>
            <p:spPr bwMode="auto">
              <a:xfrm>
                <a:off x="1658" y="2805"/>
                <a:ext cx="40" cy="17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6" name="Group 283"/>
            <p:cNvGrpSpPr>
              <a:grpSpLocks noChangeAspect="1"/>
            </p:cNvGrpSpPr>
            <p:nvPr/>
          </p:nvGrpSpPr>
          <p:grpSpPr bwMode="auto">
            <a:xfrm>
              <a:off x="334" y="2228"/>
              <a:ext cx="9" cy="29"/>
              <a:chOff x="1516" y="2835"/>
              <a:chExt cx="42" cy="123"/>
            </a:xfrm>
          </p:grpSpPr>
          <p:sp>
            <p:nvSpPr>
              <p:cNvPr id="148156" name="AutoShape 284"/>
              <p:cNvSpPr>
                <a:spLocks noChangeAspect="1" noChangeArrowheads="1"/>
              </p:cNvSpPr>
              <p:nvPr/>
            </p:nvSpPr>
            <p:spPr bwMode="auto">
              <a:xfrm>
                <a:off x="1516" y="2897"/>
                <a:ext cx="42" cy="6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57" name="AutoShape 285"/>
              <p:cNvSpPr>
                <a:spLocks noChangeAspect="1" noChangeArrowheads="1"/>
              </p:cNvSpPr>
              <p:nvPr/>
            </p:nvSpPr>
            <p:spPr bwMode="auto">
              <a:xfrm>
                <a:off x="1516" y="2835"/>
                <a:ext cx="42" cy="6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7" name="Group 286"/>
            <p:cNvGrpSpPr>
              <a:grpSpLocks noChangeAspect="1"/>
            </p:cNvGrpSpPr>
            <p:nvPr/>
          </p:nvGrpSpPr>
          <p:grpSpPr bwMode="auto">
            <a:xfrm>
              <a:off x="522" y="2144"/>
              <a:ext cx="9" cy="103"/>
              <a:chOff x="2195" y="2463"/>
              <a:chExt cx="40" cy="442"/>
            </a:xfrm>
          </p:grpSpPr>
          <p:sp>
            <p:nvSpPr>
              <p:cNvPr id="148154" name="AutoShape 287"/>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55" name="AutoShape 288"/>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8" name="Group 289"/>
            <p:cNvGrpSpPr>
              <a:grpSpLocks noChangeAspect="1"/>
            </p:cNvGrpSpPr>
            <p:nvPr/>
          </p:nvGrpSpPr>
          <p:grpSpPr bwMode="auto">
            <a:xfrm>
              <a:off x="554" y="2177"/>
              <a:ext cx="10" cy="90"/>
              <a:chOff x="2329" y="2599"/>
              <a:chExt cx="43" cy="386"/>
            </a:xfrm>
          </p:grpSpPr>
          <p:sp>
            <p:nvSpPr>
              <p:cNvPr id="148152" name="AutoShape 290"/>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53" name="AutoShape 291"/>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9" name="Group 292"/>
            <p:cNvGrpSpPr>
              <a:grpSpLocks noChangeAspect="1"/>
            </p:cNvGrpSpPr>
            <p:nvPr/>
          </p:nvGrpSpPr>
          <p:grpSpPr bwMode="auto">
            <a:xfrm>
              <a:off x="450" y="2143"/>
              <a:ext cx="10" cy="38"/>
              <a:chOff x="2478" y="2807"/>
              <a:chExt cx="43" cy="178"/>
            </a:xfrm>
          </p:grpSpPr>
          <p:sp>
            <p:nvSpPr>
              <p:cNvPr id="148150" name="AutoShape 293"/>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51" name="AutoShape 294"/>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0" name="Group 295"/>
            <p:cNvGrpSpPr>
              <a:grpSpLocks noChangeAspect="1"/>
            </p:cNvGrpSpPr>
            <p:nvPr/>
          </p:nvGrpSpPr>
          <p:grpSpPr bwMode="auto">
            <a:xfrm>
              <a:off x="490" y="2140"/>
              <a:ext cx="10" cy="63"/>
              <a:chOff x="2065" y="2441"/>
              <a:chExt cx="40" cy="272"/>
            </a:xfrm>
          </p:grpSpPr>
          <p:sp>
            <p:nvSpPr>
              <p:cNvPr id="148148" name="AutoShape 296"/>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49" name="AutoShape 297"/>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1" name="Group 298"/>
            <p:cNvGrpSpPr>
              <a:grpSpLocks noChangeAspect="1"/>
            </p:cNvGrpSpPr>
            <p:nvPr/>
          </p:nvGrpSpPr>
          <p:grpSpPr bwMode="auto">
            <a:xfrm>
              <a:off x="585" y="2222"/>
              <a:ext cx="10" cy="38"/>
              <a:chOff x="2478" y="2807"/>
              <a:chExt cx="43" cy="178"/>
            </a:xfrm>
          </p:grpSpPr>
          <p:sp>
            <p:nvSpPr>
              <p:cNvPr id="148146" name="AutoShape 299"/>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47" name="AutoShape 300"/>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2" name="Group 301"/>
            <p:cNvGrpSpPr>
              <a:grpSpLocks noChangeAspect="1"/>
            </p:cNvGrpSpPr>
            <p:nvPr/>
          </p:nvGrpSpPr>
          <p:grpSpPr bwMode="auto">
            <a:xfrm>
              <a:off x="713" y="2140"/>
              <a:ext cx="10" cy="52"/>
              <a:chOff x="3094" y="2443"/>
              <a:chExt cx="40" cy="183"/>
            </a:xfrm>
          </p:grpSpPr>
          <p:sp>
            <p:nvSpPr>
              <p:cNvPr id="148144" name="AutoShape 302"/>
              <p:cNvSpPr>
                <a:spLocks noChangeAspect="1" noChangeArrowheads="1"/>
              </p:cNvSpPr>
              <p:nvPr/>
            </p:nvSpPr>
            <p:spPr bwMode="auto">
              <a:xfrm flipV="1">
                <a:off x="3094" y="2443"/>
                <a:ext cx="40" cy="9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45" name="AutoShape 303"/>
              <p:cNvSpPr>
                <a:spLocks noChangeAspect="1" noChangeArrowheads="1"/>
              </p:cNvSpPr>
              <p:nvPr/>
            </p:nvSpPr>
            <p:spPr bwMode="auto">
              <a:xfrm flipV="1">
                <a:off x="3094" y="2534"/>
                <a:ext cx="40" cy="9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3" name="Group 304"/>
            <p:cNvGrpSpPr>
              <a:grpSpLocks noChangeAspect="1"/>
            </p:cNvGrpSpPr>
            <p:nvPr/>
          </p:nvGrpSpPr>
          <p:grpSpPr bwMode="auto">
            <a:xfrm>
              <a:off x="686" y="2140"/>
              <a:ext cx="11" cy="96"/>
              <a:chOff x="2978" y="2432"/>
              <a:chExt cx="46" cy="375"/>
            </a:xfrm>
          </p:grpSpPr>
          <p:sp>
            <p:nvSpPr>
              <p:cNvPr id="148142" name="AutoShape 305"/>
              <p:cNvSpPr>
                <a:spLocks noChangeAspect="1" noChangeArrowheads="1"/>
              </p:cNvSpPr>
              <p:nvPr/>
            </p:nvSpPr>
            <p:spPr bwMode="auto">
              <a:xfrm>
                <a:off x="2978" y="2619"/>
                <a:ext cx="46" cy="18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43" name="AutoShape 306"/>
              <p:cNvSpPr>
                <a:spLocks noChangeAspect="1" noChangeArrowheads="1"/>
              </p:cNvSpPr>
              <p:nvPr/>
            </p:nvSpPr>
            <p:spPr bwMode="auto">
              <a:xfrm>
                <a:off x="2978" y="2432"/>
                <a:ext cx="46" cy="18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4" name="Group 307"/>
            <p:cNvGrpSpPr>
              <a:grpSpLocks noChangeAspect="1"/>
            </p:cNvGrpSpPr>
            <p:nvPr/>
          </p:nvGrpSpPr>
          <p:grpSpPr bwMode="auto">
            <a:xfrm>
              <a:off x="655" y="2160"/>
              <a:ext cx="10" cy="102"/>
              <a:chOff x="2832" y="2516"/>
              <a:chExt cx="43" cy="436"/>
            </a:xfrm>
          </p:grpSpPr>
          <p:sp>
            <p:nvSpPr>
              <p:cNvPr id="148140" name="AutoShape 308"/>
              <p:cNvSpPr>
                <a:spLocks noChangeAspect="1" noChangeArrowheads="1"/>
              </p:cNvSpPr>
              <p:nvPr/>
            </p:nvSpPr>
            <p:spPr bwMode="auto">
              <a:xfrm flipV="1">
                <a:off x="2832" y="2516"/>
                <a:ext cx="43" cy="21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41" name="AutoShape 309"/>
              <p:cNvSpPr>
                <a:spLocks noChangeAspect="1" noChangeArrowheads="1"/>
              </p:cNvSpPr>
              <p:nvPr/>
            </p:nvSpPr>
            <p:spPr bwMode="auto">
              <a:xfrm flipV="1">
                <a:off x="2832" y="2734"/>
                <a:ext cx="43" cy="21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5" name="Group 310"/>
            <p:cNvGrpSpPr>
              <a:grpSpLocks noChangeAspect="1"/>
            </p:cNvGrpSpPr>
            <p:nvPr/>
          </p:nvGrpSpPr>
          <p:grpSpPr bwMode="auto">
            <a:xfrm>
              <a:off x="622" y="2213"/>
              <a:ext cx="9" cy="51"/>
              <a:chOff x="2668" y="2761"/>
              <a:chExt cx="40" cy="217"/>
            </a:xfrm>
          </p:grpSpPr>
          <p:sp>
            <p:nvSpPr>
              <p:cNvPr id="148138" name="AutoShape 311"/>
              <p:cNvSpPr>
                <a:spLocks noChangeAspect="1" noChangeArrowheads="1"/>
              </p:cNvSpPr>
              <p:nvPr/>
            </p:nvSpPr>
            <p:spPr bwMode="auto">
              <a:xfrm>
                <a:off x="2668" y="2870"/>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39" name="AutoShape 312"/>
              <p:cNvSpPr>
                <a:spLocks noChangeAspect="1" noChangeArrowheads="1"/>
              </p:cNvSpPr>
              <p:nvPr/>
            </p:nvSpPr>
            <p:spPr bwMode="auto">
              <a:xfrm>
                <a:off x="2668" y="2761"/>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6" name="Group 313"/>
            <p:cNvGrpSpPr>
              <a:grpSpLocks noChangeAspect="1"/>
            </p:cNvGrpSpPr>
            <p:nvPr/>
          </p:nvGrpSpPr>
          <p:grpSpPr bwMode="auto">
            <a:xfrm flipV="1">
              <a:off x="818" y="2163"/>
              <a:ext cx="10" cy="103"/>
              <a:chOff x="3217" y="3037"/>
              <a:chExt cx="46" cy="372"/>
            </a:xfrm>
          </p:grpSpPr>
          <p:sp>
            <p:nvSpPr>
              <p:cNvPr id="148136" name="AutoShape 314"/>
              <p:cNvSpPr>
                <a:spLocks noChangeAspect="1" noChangeArrowheads="1"/>
              </p:cNvSpPr>
              <p:nvPr/>
            </p:nvSpPr>
            <p:spPr bwMode="auto">
              <a:xfrm>
                <a:off x="3217" y="3037"/>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37" name="AutoShape 315"/>
              <p:cNvSpPr>
                <a:spLocks noChangeAspect="1" noChangeArrowheads="1"/>
              </p:cNvSpPr>
              <p:nvPr/>
            </p:nvSpPr>
            <p:spPr bwMode="auto">
              <a:xfrm>
                <a:off x="3217" y="3220"/>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7" name="Group 316"/>
            <p:cNvGrpSpPr>
              <a:grpSpLocks noChangeAspect="1"/>
            </p:cNvGrpSpPr>
            <p:nvPr/>
          </p:nvGrpSpPr>
          <p:grpSpPr bwMode="auto">
            <a:xfrm>
              <a:off x="785" y="2137"/>
              <a:ext cx="11" cy="102"/>
              <a:chOff x="3353" y="3099"/>
              <a:chExt cx="40" cy="455"/>
            </a:xfrm>
          </p:grpSpPr>
          <p:sp>
            <p:nvSpPr>
              <p:cNvPr id="148134" name="AutoShape 317"/>
              <p:cNvSpPr>
                <a:spLocks noChangeAspect="1" noChangeArrowheads="1"/>
              </p:cNvSpPr>
              <p:nvPr/>
            </p:nvSpPr>
            <p:spPr bwMode="auto">
              <a:xfrm>
                <a:off x="3353" y="3325"/>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35" name="AutoShape 318"/>
              <p:cNvSpPr>
                <a:spLocks noChangeAspect="1" noChangeArrowheads="1"/>
              </p:cNvSpPr>
              <p:nvPr/>
            </p:nvSpPr>
            <p:spPr bwMode="auto">
              <a:xfrm>
                <a:off x="3353" y="3099"/>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8" name="Group 319"/>
            <p:cNvGrpSpPr>
              <a:grpSpLocks noChangeAspect="1"/>
            </p:cNvGrpSpPr>
            <p:nvPr/>
          </p:nvGrpSpPr>
          <p:grpSpPr bwMode="auto">
            <a:xfrm>
              <a:off x="757" y="2139"/>
              <a:ext cx="11" cy="61"/>
              <a:chOff x="3486" y="3261"/>
              <a:chExt cx="40" cy="337"/>
            </a:xfrm>
          </p:grpSpPr>
          <p:sp>
            <p:nvSpPr>
              <p:cNvPr id="148132" name="AutoShape 320"/>
              <p:cNvSpPr>
                <a:spLocks noChangeAspect="1" noChangeArrowheads="1"/>
              </p:cNvSpPr>
              <p:nvPr/>
            </p:nvSpPr>
            <p:spPr bwMode="auto">
              <a:xfrm>
                <a:off x="3486" y="3430"/>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33" name="AutoShape 321"/>
              <p:cNvSpPr>
                <a:spLocks noChangeAspect="1" noChangeArrowheads="1"/>
              </p:cNvSpPr>
              <p:nvPr/>
            </p:nvSpPr>
            <p:spPr bwMode="auto">
              <a:xfrm>
                <a:off x="3486" y="3261"/>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9" name="Group 322"/>
            <p:cNvGrpSpPr>
              <a:grpSpLocks noChangeAspect="1"/>
            </p:cNvGrpSpPr>
            <p:nvPr/>
          </p:nvGrpSpPr>
          <p:grpSpPr bwMode="auto">
            <a:xfrm>
              <a:off x="953" y="2143"/>
              <a:ext cx="9" cy="104"/>
              <a:chOff x="2195" y="2463"/>
              <a:chExt cx="40" cy="442"/>
            </a:xfrm>
          </p:grpSpPr>
          <p:sp>
            <p:nvSpPr>
              <p:cNvPr id="148130" name="AutoShape 323"/>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31" name="AutoShape 324"/>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0" name="Group 325"/>
            <p:cNvGrpSpPr>
              <a:grpSpLocks noChangeAspect="1"/>
            </p:cNvGrpSpPr>
            <p:nvPr/>
          </p:nvGrpSpPr>
          <p:grpSpPr bwMode="auto">
            <a:xfrm>
              <a:off x="916" y="2176"/>
              <a:ext cx="10" cy="91"/>
              <a:chOff x="2329" y="2599"/>
              <a:chExt cx="43" cy="386"/>
            </a:xfrm>
          </p:grpSpPr>
          <p:sp>
            <p:nvSpPr>
              <p:cNvPr id="148128" name="AutoShape 326"/>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29" name="AutoShape 327"/>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1" name="Group 328"/>
            <p:cNvGrpSpPr>
              <a:grpSpLocks noChangeAspect="1"/>
            </p:cNvGrpSpPr>
            <p:nvPr/>
          </p:nvGrpSpPr>
          <p:grpSpPr bwMode="auto">
            <a:xfrm>
              <a:off x="846" y="2201"/>
              <a:ext cx="10" cy="63"/>
              <a:chOff x="2065" y="2441"/>
              <a:chExt cx="40" cy="272"/>
            </a:xfrm>
          </p:grpSpPr>
          <p:sp>
            <p:nvSpPr>
              <p:cNvPr id="148126" name="AutoShape 329"/>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27" name="AutoShape 330"/>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2" name="Group 331"/>
            <p:cNvGrpSpPr>
              <a:grpSpLocks noChangeAspect="1"/>
            </p:cNvGrpSpPr>
            <p:nvPr/>
          </p:nvGrpSpPr>
          <p:grpSpPr bwMode="auto">
            <a:xfrm flipV="1">
              <a:off x="888" y="2218"/>
              <a:ext cx="11" cy="42"/>
              <a:chOff x="2815" y="1923"/>
              <a:chExt cx="40" cy="217"/>
            </a:xfrm>
          </p:grpSpPr>
          <p:sp>
            <p:nvSpPr>
              <p:cNvPr id="148124" name="AutoShape 332"/>
              <p:cNvSpPr>
                <a:spLocks noChangeAspect="1" noChangeArrowheads="1"/>
              </p:cNvSpPr>
              <p:nvPr/>
            </p:nvSpPr>
            <p:spPr bwMode="auto">
              <a:xfrm>
                <a:off x="2815" y="2032"/>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25" name="AutoShape 333"/>
              <p:cNvSpPr>
                <a:spLocks noChangeAspect="1" noChangeArrowheads="1"/>
              </p:cNvSpPr>
              <p:nvPr/>
            </p:nvSpPr>
            <p:spPr bwMode="auto">
              <a:xfrm>
                <a:off x="2815" y="1923"/>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3" name="Group 334"/>
            <p:cNvGrpSpPr>
              <a:grpSpLocks noChangeAspect="1"/>
            </p:cNvGrpSpPr>
            <p:nvPr/>
          </p:nvGrpSpPr>
          <p:grpSpPr bwMode="auto">
            <a:xfrm>
              <a:off x="981" y="2139"/>
              <a:ext cx="11" cy="64"/>
              <a:chOff x="2329" y="2599"/>
              <a:chExt cx="43" cy="386"/>
            </a:xfrm>
          </p:grpSpPr>
          <p:sp>
            <p:nvSpPr>
              <p:cNvPr id="148122" name="AutoShape 335"/>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23" name="AutoShape 336"/>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4" name="Group 337"/>
            <p:cNvGrpSpPr>
              <a:grpSpLocks noChangeAspect="1"/>
            </p:cNvGrpSpPr>
            <p:nvPr/>
          </p:nvGrpSpPr>
          <p:grpSpPr bwMode="auto">
            <a:xfrm>
              <a:off x="1019" y="2144"/>
              <a:ext cx="10" cy="38"/>
              <a:chOff x="2478" y="2807"/>
              <a:chExt cx="43" cy="178"/>
            </a:xfrm>
          </p:grpSpPr>
          <p:sp>
            <p:nvSpPr>
              <p:cNvPr id="148120" name="AutoShape 338"/>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21" name="AutoShape 339"/>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5" name="Group 340"/>
            <p:cNvGrpSpPr>
              <a:grpSpLocks noChangeAspect="1"/>
            </p:cNvGrpSpPr>
            <p:nvPr/>
          </p:nvGrpSpPr>
          <p:grpSpPr bwMode="auto">
            <a:xfrm>
              <a:off x="1080" y="2154"/>
              <a:ext cx="10" cy="104"/>
              <a:chOff x="2195" y="2463"/>
              <a:chExt cx="40" cy="442"/>
            </a:xfrm>
          </p:grpSpPr>
          <p:sp>
            <p:nvSpPr>
              <p:cNvPr id="148118" name="AutoShape 341"/>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19" name="AutoShape 342"/>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6" name="Group 343"/>
            <p:cNvGrpSpPr>
              <a:grpSpLocks noChangeAspect="1"/>
            </p:cNvGrpSpPr>
            <p:nvPr/>
          </p:nvGrpSpPr>
          <p:grpSpPr bwMode="auto">
            <a:xfrm>
              <a:off x="1112" y="2192"/>
              <a:ext cx="10" cy="74"/>
              <a:chOff x="2329" y="2599"/>
              <a:chExt cx="43" cy="386"/>
            </a:xfrm>
          </p:grpSpPr>
          <p:sp>
            <p:nvSpPr>
              <p:cNvPr id="148116" name="AutoShape 344"/>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17" name="AutoShape 345"/>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7" name="Group 346"/>
            <p:cNvGrpSpPr>
              <a:grpSpLocks noChangeAspect="1"/>
            </p:cNvGrpSpPr>
            <p:nvPr/>
          </p:nvGrpSpPr>
          <p:grpSpPr bwMode="auto">
            <a:xfrm>
              <a:off x="1049" y="2140"/>
              <a:ext cx="10" cy="79"/>
              <a:chOff x="2065" y="2441"/>
              <a:chExt cx="40" cy="272"/>
            </a:xfrm>
          </p:grpSpPr>
          <p:sp>
            <p:nvSpPr>
              <p:cNvPr id="148114" name="AutoShape 347"/>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15" name="AutoShape 348"/>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998" name="Freeform 349"/>
            <p:cNvSpPr>
              <a:spLocks noChangeAspect="1"/>
            </p:cNvSpPr>
            <p:nvPr/>
          </p:nvSpPr>
          <p:spPr bwMode="auto">
            <a:xfrm>
              <a:off x="2198"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47999" name="Group 350"/>
            <p:cNvGrpSpPr>
              <a:grpSpLocks noChangeAspect="1"/>
            </p:cNvGrpSpPr>
            <p:nvPr/>
          </p:nvGrpSpPr>
          <p:grpSpPr bwMode="auto">
            <a:xfrm>
              <a:off x="1321" y="2137"/>
              <a:ext cx="11" cy="86"/>
              <a:chOff x="1015" y="2428"/>
              <a:chExt cx="46" cy="372"/>
            </a:xfrm>
          </p:grpSpPr>
          <p:sp>
            <p:nvSpPr>
              <p:cNvPr id="148112" name="AutoShape 351"/>
              <p:cNvSpPr>
                <a:spLocks noChangeAspect="1" noChangeArrowheads="1"/>
              </p:cNvSpPr>
              <p:nvPr/>
            </p:nvSpPr>
            <p:spPr bwMode="auto">
              <a:xfrm>
                <a:off x="1015" y="2428"/>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13" name="AutoShape 352"/>
              <p:cNvSpPr>
                <a:spLocks noChangeAspect="1" noChangeArrowheads="1"/>
              </p:cNvSpPr>
              <p:nvPr/>
            </p:nvSpPr>
            <p:spPr bwMode="auto">
              <a:xfrm>
                <a:off x="1015" y="2611"/>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0" name="Group 353"/>
            <p:cNvGrpSpPr>
              <a:grpSpLocks noChangeAspect="1"/>
            </p:cNvGrpSpPr>
            <p:nvPr/>
          </p:nvGrpSpPr>
          <p:grpSpPr bwMode="auto">
            <a:xfrm>
              <a:off x="1488" y="2147"/>
              <a:ext cx="10" cy="104"/>
              <a:chOff x="1790" y="2461"/>
              <a:chExt cx="40" cy="447"/>
            </a:xfrm>
          </p:grpSpPr>
          <p:sp>
            <p:nvSpPr>
              <p:cNvPr id="148110" name="AutoShape 354"/>
              <p:cNvSpPr>
                <a:spLocks noChangeAspect="1" noChangeArrowheads="1"/>
              </p:cNvSpPr>
              <p:nvPr/>
            </p:nvSpPr>
            <p:spPr bwMode="auto">
              <a:xfrm>
                <a:off x="1790" y="2461"/>
                <a:ext cx="40" cy="223"/>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11" name="AutoShape 355"/>
              <p:cNvSpPr>
                <a:spLocks noChangeAspect="1" noChangeArrowheads="1"/>
              </p:cNvSpPr>
              <p:nvPr/>
            </p:nvSpPr>
            <p:spPr bwMode="auto">
              <a:xfrm>
                <a:off x="1790" y="2684"/>
                <a:ext cx="40" cy="2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1" name="Group 356"/>
            <p:cNvGrpSpPr>
              <a:grpSpLocks noChangeAspect="1"/>
            </p:cNvGrpSpPr>
            <p:nvPr/>
          </p:nvGrpSpPr>
          <p:grpSpPr bwMode="auto">
            <a:xfrm>
              <a:off x="1352" y="2150"/>
              <a:ext cx="10" cy="107"/>
              <a:chOff x="1151" y="2490"/>
              <a:chExt cx="40" cy="455"/>
            </a:xfrm>
          </p:grpSpPr>
          <p:sp>
            <p:nvSpPr>
              <p:cNvPr id="148108" name="AutoShape 357"/>
              <p:cNvSpPr>
                <a:spLocks noChangeAspect="1" noChangeArrowheads="1"/>
              </p:cNvSpPr>
              <p:nvPr/>
            </p:nvSpPr>
            <p:spPr bwMode="auto">
              <a:xfrm>
                <a:off x="1151" y="2716"/>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09" name="AutoShape 358"/>
              <p:cNvSpPr>
                <a:spLocks noChangeAspect="1" noChangeArrowheads="1"/>
              </p:cNvSpPr>
              <p:nvPr/>
            </p:nvSpPr>
            <p:spPr bwMode="auto">
              <a:xfrm>
                <a:off x="1151" y="2490"/>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2" name="Group 359"/>
            <p:cNvGrpSpPr>
              <a:grpSpLocks noChangeAspect="1"/>
            </p:cNvGrpSpPr>
            <p:nvPr/>
          </p:nvGrpSpPr>
          <p:grpSpPr bwMode="auto">
            <a:xfrm>
              <a:off x="1519" y="2138"/>
              <a:ext cx="9" cy="76"/>
              <a:chOff x="1914" y="2425"/>
              <a:chExt cx="40" cy="326"/>
            </a:xfrm>
          </p:grpSpPr>
          <p:sp>
            <p:nvSpPr>
              <p:cNvPr id="148106" name="AutoShape 360"/>
              <p:cNvSpPr>
                <a:spLocks noChangeAspect="1" noChangeArrowheads="1"/>
              </p:cNvSpPr>
              <p:nvPr/>
            </p:nvSpPr>
            <p:spPr bwMode="auto">
              <a:xfrm>
                <a:off x="1914" y="2425"/>
                <a:ext cx="40" cy="16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07" name="AutoShape 361"/>
              <p:cNvSpPr>
                <a:spLocks noChangeAspect="1" noChangeArrowheads="1"/>
              </p:cNvSpPr>
              <p:nvPr/>
            </p:nvSpPr>
            <p:spPr bwMode="auto">
              <a:xfrm>
                <a:off x="1914" y="2588"/>
                <a:ext cx="40" cy="16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3" name="Group 362"/>
            <p:cNvGrpSpPr>
              <a:grpSpLocks noChangeAspect="1"/>
            </p:cNvGrpSpPr>
            <p:nvPr/>
          </p:nvGrpSpPr>
          <p:grpSpPr bwMode="auto">
            <a:xfrm>
              <a:off x="1382" y="2187"/>
              <a:ext cx="9" cy="78"/>
              <a:chOff x="1284" y="2652"/>
              <a:chExt cx="40" cy="337"/>
            </a:xfrm>
          </p:grpSpPr>
          <p:sp>
            <p:nvSpPr>
              <p:cNvPr id="148104" name="AutoShape 363"/>
              <p:cNvSpPr>
                <a:spLocks noChangeAspect="1" noChangeArrowheads="1"/>
              </p:cNvSpPr>
              <p:nvPr/>
            </p:nvSpPr>
            <p:spPr bwMode="auto">
              <a:xfrm>
                <a:off x="1284" y="2821"/>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05" name="AutoShape 364"/>
              <p:cNvSpPr>
                <a:spLocks noChangeAspect="1" noChangeArrowheads="1"/>
              </p:cNvSpPr>
              <p:nvPr/>
            </p:nvSpPr>
            <p:spPr bwMode="auto">
              <a:xfrm>
                <a:off x="1284" y="2652"/>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4" name="Group 365"/>
            <p:cNvGrpSpPr>
              <a:grpSpLocks noChangeAspect="1"/>
            </p:cNvGrpSpPr>
            <p:nvPr/>
          </p:nvGrpSpPr>
          <p:grpSpPr bwMode="auto">
            <a:xfrm>
              <a:off x="1458" y="2184"/>
              <a:ext cx="9" cy="83"/>
              <a:chOff x="1658" y="2628"/>
              <a:chExt cx="40" cy="355"/>
            </a:xfrm>
          </p:grpSpPr>
          <p:sp>
            <p:nvSpPr>
              <p:cNvPr id="148102" name="AutoShape 366"/>
              <p:cNvSpPr>
                <a:spLocks noChangeAspect="1" noChangeArrowheads="1"/>
              </p:cNvSpPr>
              <p:nvPr/>
            </p:nvSpPr>
            <p:spPr bwMode="auto">
              <a:xfrm>
                <a:off x="1658" y="2628"/>
                <a:ext cx="40" cy="17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03" name="AutoShape 367"/>
              <p:cNvSpPr>
                <a:spLocks noChangeAspect="1" noChangeArrowheads="1"/>
              </p:cNvSpPr>
              <p:nvPr/>
            </p:nvSpPr>
            <p:spPr bwMode="auto">
              <a:xfrm>
                <a:off x="1658" y="2805"/>
                <a:ext cx="40" cy="17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5" name="Group 368"/>
            <p:cNvGrpSpPr>
              <a:grpSpLocks noChangeAspect="1"/>
            </p:cNvGrpSpPr>
            <p:nvPr/>
          </p:nvGrpSpPr>
          <p:grpSpPr bwMode="auto">
            <a:xfrm>
              <a:off x="1426" y="2228"/>
              <a:ext cx="9" cy="29"/>
              <a:chOff x="1516" y="2835"/>
              <a:chExt cx="42" cy="123"/>
            </a:xfrm>
          </p:grpSpPr>
          <p:sp>
            <p:nvSpPr>
              <p:cNvPr id="148100" name="AutoShape 369"/>
              <p:cNvSpPr>
                <a:spLocks noChangeAspect="1" noChangeArrowheads="1"/>
              </p:cNvSpPr>
              <p:nvPr/>
            </p:nvSpPr>
            <p:spPr bwMode="auto">
              <a:xfrm>
                <a:off x="1516" y="2897"/>
                <a:ext cx="42" cy="6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01" name="AutoShape 370"/>
              <p:cNvSpPr>
                <a:spLocks noChangeAspect="1" noChangeArrowheads="1"/>
              </p:cNvSpPr>
              <p:nvPr/>
            </p:nvSpPr>
            <p:spPr bwMode="auto">
              <a:xfrm>
                <a:off x="1516" y="2835"/>
                <a:ext cx="42" cy="6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6" name="Group 371"/>
            <p:cNvGrpSpPr>
              <a:grpSpLocks noChangeAspect="1"/>
            </p:cNvGrpSpPr>
            <p:nvPr/>
          </p:nvGrpSpPr>
          <p:grpSpPr bwMode="auto">
            <a:xfrm>
              <a:off x="1614" y="2144"/>
              <a:ext cx="9" cy="103"/>
              <a:chOff x="2195" y="2463"/>
              <a:chExt cx="40" cy="442"/>
            </a:xfrm>
          </p:grpSpPr>
          <p:sp>
            <p:nvSpPr>
              <p:cNvPr id="148098" name="AutoShape 372"/>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99" name="AutoShape 373"/>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7" name="Group 374"/>
            <p:cNvGrpSpPr>
              <a:grpSpLocks noChangeAspect="1"/>
            </p:cNvGrpSpPr>
            <p:nvPr/>
          </p:nvGrpSpPr>
          <p:grpSpPr bwMode="auto">
            <a:xfrm>
              <a:off x="1646" y="2177"/>
              <a:ext cx="10" cy="90"/>
              <a:chOff x="2329" y="2599"/>
              <a:chExt cx="43" cy="386"/>
            </a:xfrm>
          </p:grpSpPr>
          <p:sp>
            <p:nvSpPr>
              <p:cNvPr id="148096" name="AutoShape 375"/>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97" name="AutoShape 376"/>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8" name="Group 377"/>
            <p:cNvGrpSpPr>
              <a:grpSpLocks noChangeAspect="1"/>
            </p:cNvGrpSpPr>
            <p:nvPr/>
          </p:nvGrpSpPr>
          <p:grpSpPr bwMode="auto">
            <a:xfrm>
              <a:off x="1546" y="2145"/>
              <a:ext cx="10" cy="38"/>
              <a:chOff x="2478" y="2807"/>
              <a:chExt cx="43" cy="178"/>
            </a:xfrm>
          </p:grpSpPr>
          <p:sp>
            <p:nvSpPr>
              <p:cNvPr id="148094" name="AutoShape 378"/>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95" name="AutoShape 379"/>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9" name="Group 380"/>
            <p:cNvGrpSpPr>
              <a:grpSpLocks noChangeAspect="1"/>
            </p:cNvGrpSpPr>
            <p:nvPr/>
          </p:nvGrpSpPr>
          <p:grpSpPr bwMode="auto">
            <a:xfrm>
              <a:off x="1583" y="2140"/>
              <a:ext cx="9" cy="63"/>
              <a:chOff x="2065" y="2441"/>
              <a:chExt cx="40" cy="272"/>
            </a:xfrm>
          </p:grpSpPr>
          <p:sp>
            <p:nvSpPr>
              <p:cNvPr id="148092" name="AutoShape 381"/>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93" name="AutoShape 382"/>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0" name="Group 383"/>
            <p:cNvGrpSpPr>
              <a:grpSpLocks noChangeAspect="1"/>
            </p:cNvGrpSpPr>
            <p:nvPr/>
          </p:nvGrpSpPr>
          <p:grpSpPr bwMode="auto">
            <a:xfrm>
              <a:off x="1677" y="2222"/>
              <a:ext cx="10" cy="38"/>
              <a:chOff x="2478" y="2807"/>
              <a:chExt cx="43" cy="178"/>
            </a:xfrm>
          </p:grpSpPr>
          <p:sp>
            <p:nvSpPr>
              <p:cNvPr id="148090" name="AutoShape 384"/>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91" name="AutoShape 385"/>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1" name="Group 386"/>
            <p:cNvGrpSpPr>
              <a:grpSpLocks noChangeAspect="1"/>
            </p:cNvGrpSpPr>
            <p:nvPr/>
          </p:nvGrpSpPr>
          <p:grpSpPr bwMode="auto">
            <a:xfrm>
              <a:off x="1805" y="2140"/>
              <a:ext cx="10" cy="52"/>
              <a:chOff x="3094" y="2443"/>
              <a:chExt cx="40" cy="183"/>
            </a:xfrm>
          </p:grpSpPr>
          <p:sp>
            <p:nvSpPr>
              <p:cNvPr id="148088" name="AutoShape 387"/>
              <p:cNvSpPr>
                <a:spLocks noChangeAspect="1" noChangeArrowheads="1"/>
              </p:cNvSpPr>
              <p:nvPr/>
            </p:nvSpPr>
            <p:spPr bwMode="auto">
              <a:xfrm flipV="1">
                <a:off x="3094" y="2443"/>
                <a:ext cx="40" cy="9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89" name="AutoShape 388"/>
              <p:cNvSpPr>
                <a:spLocks noChangeAspect="1" noChangeArrowheads="1"/>
              </p:cNvSpPr>
              <p:nvPr/>
            </p:nvSpPr>
            <p:spPr bwMode="auto">
              <a:xfrm flipV="1">
                <a:off x="3094" y="2534"/>
                <a:ext cx="40" cy="9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2" name="Group 389"/>
            <p:cNvGrpSpPr>
              <a:grpSpLocks noChangeAspect="1"/>
            </p:cNvGrpSpPr>
            <p:nvPr/>
          </p:nvGrpSpPr>
          <p:grpSpPr bwMode="auto">
            <a:xfrm>
              <a:off x="1778" y="2140"/>
              <a:ext cx="11" cy="96"/>
              <a:chOff x="2978" y="2432"/>
              <a:chExt cx="46" cy="375"/>
            </a:xfrm>
          </p:grpSpPr>
          <p:sp>
            <p:nvSpPr>
              <p:cNvPr id="148086" name="AutoShape 390"/>
              <p:cNvSpPr>
                <a:spLocks noChangeAspect="1" noChangeArrowheads="1"/>
              </p:cNvSpPr>
              <p:nvPr/>
            </p:nvSpPr>
            <p:spPr bwMode="auto">
              <a:xfrm>
                <a:off x="2978" y="2619"/>
                <a:ext cx="46" cy="18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87" name="AutoShape 391"/>
              <p:cNvSpPr>
                <a:spLocks noChangeAspect="1" noChangeArrowheads="1"/>
              </p:cNvSpPr>
              <p:nvPr/>
            </p:nvSpPr>
            <p:spPr bwMode="auto">
              <a:xfrm>
                <a:off x="2978" y="2432"/>
                <a:ext cx="46" cy="18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3" name="Group 392"/>
            <p:cNvGrpSpPr>
              <a:grpSpLocks noChangeAspect="1"/>
            </p:cNvGrpSpPr>
            <p:nvPr/>
          </p:nvGrpSpPr>
          <p:grpSpPr bwMode="auto">
            <a:xfrm>
              <a:off x="1747" y="2160"/>
              <a:ext cx="10" cy="102"/>
              <a:chOff x="2832" y="2516"/>
              <a:chExt cx="43" cy="436"/>
            </a:xfrm>
          </p:grpSpPr>
          <p:sp>
            <p:nvSpPr>
              <p:cNvPr id="148084" name="AutoShape 393"/>
              <p:cNvSpPr>
                <a:spLocks noChangeAspect="1" noChangeArrowheads="1"/>
              </p:cNvSpPr>
              <p:nvPr/>
            </p:nvSpPr>
            <p:spPr bwMode="auto">
              <a:xfrm flipV="1">
                <a:off x="2832" y="2516"/>
                <a:ext cx="43" cy="21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85" name="AutoShape 394"/>
              <p:cNvSpPr>
                <a:spLocks noChangeAspect="1" noChangeArrowheads="1"/>
              </p:cNvSpPr>
              <p:nvPr/>
            </p:nvSpPr>
            <p:spPr bwMode="auto">
              <a:xfrm flipV="1">
                <a:off x="2832" y="2734"/>
                <a:ext cx="43" cy="21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4" name="Group 395"/>
            <p:cNvGrpSpPr>
              <a:grpSpLocks noChangeAspect="1"/>
            </p:cNvGrpSpPr>
            <p:nvPr/>
          </p:nvGrpSpPr>
          <p:grpSpPr bwMode="auto">
            <a:xfrm>
              <a:off x="1716" y="2213"/>
              <a:ext cx="9" cy="51"/>
              <a:chOff x="2668" y="2761"/>
              <a:chExt cx="40" cy="217"/>
            </a:xfrm>
          </p:grpSpPr>
          <p:sp>
            <p:nvSpPr>
              <p:cNvPr id="148082" name="AutoShape 396"/>
              <p:cNvSpPr>
                <a:spLocks noChangeAspect="1" noChangeArrowheads="1"/>
              </p:cNvSpPr>
              <p:nvPr/>
            </p:nvSpPr>
            <p:spPr bwMode="auto">
              <a:xfrm>
                <a:off x="2668" y="2870"/>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83" name="AutoShape 397"/>
              <p:cNvSpPr>
                <a:spLocks noChangeAspect="1" noChangeArrowheads="1"/>
              </p:cNvSpPr>
              <p:nvPr/>
            </p:nvSpPr>
            <p:spPr bwMode="auto">
              <a:xfrm>
                <a:off x="2668" y="2761"/>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5" name="Group 398"/>
            <p:cNvGrpSpPr>
              <a:grpSpLocks noChangeAspect="1"/>
            </p:cNvGrpSpPr>
            <p:nvPr/>
          </p:nvGrpSpPr>
          <p:grpSpPr bwMode="auto">
            <a:xfrm flipV="1">
              <a:off x="1910" y="2163"/>
              <a:ext cx="10" cy="103"/>
              <a:chOff x="3217" y="3037"/>
              <a:chExt cx="46" cy="372"/>
            </a:xfrm>
          </p:grpSpPr>
          <p:sp>
            <p:nvSpPr>
              <p:cNvPr id="148080" name="AutoShape 399"/>
              <p:cNvSpPr>
                <a:spLocks noChangeAspect="1" noChangeArrowheads="1"/>
              </p:cNvSpPr>
              <p:nvPr/>
            </p:nvSpPr>
            <p:spPr bwMode="auto">
              <a:xfrm>
                <a:off x="3217" y="3037"/>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81" name="AutoShape 400"/>
              <p:cNvSpPr>
                <a:spLocks noChangeAspect="1" noChangeArrowheads="1"/>
              </p:cNvSpPr>
              <p:nvPr/>
            </p:nvSpPr>
            <p:spPr bwMode="auto">
              <a:xfrm>
                <a:off x="3217" y="3220"/>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6" name="Group 401"/>
            <p:cNvGrpSpPr>
              <a:grpSpLocks noChangeAspect="1"/>
            </p:cNvGrpSpPr>
            <p:nvPr/>
          </p:nvGrpSpPr>
          <p:grpSpPr bwMode="auto">
            <a:xfrm>
              <a:off x="1877" y="2137"/>
              <a:ext cx="11" cy="102"/>
              <a:chOff x="3353" y="3099"/>
              <a:chExt cx="40" cy="455"/>
            </a:xfrm>
          </p:grpSpPr>
          <p:sp>
            <p:nvSpPr>
              <p:cNvPr id="148078" name="AutoShape 402"/>
              <p:cNvSpPr>
                <a:spLocks noChangeAspect="1" noChangeArrowheads="1"/>
              </p:cNvSpPr>
              <p:nvPr/>
            </p:nvSpPr>
            <p:spPr bwMode="auto">
              <a:xfrm>
                <a:off x="3353" y="3325"/>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79" name="AutoShape 403"/>
              <p:cNvSpPr>
                <a:spLocks noChangeAspect="1" noChangeArrowheads="1"/>
              </p:cNvSpPr>
              <p:nvPr/>
            </p:nvSpPr>
            <p:spPr bwMode="auto">
              <a:xfrm>
                <a:off x="3353" y="3099"/>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7" name="Group 404"/>
            <p:cNvGrpSpPr>
              <a:grpSpLocks noChangeAspect="1"/>
            </p:cNvGrpSpPr>
            <p:nvPr/>
          </p:nvGrpSpPr>
          <p:grpSpPr bwMode="auto">
            <a:xfrm>
              <a:off x="1849" y="2139"/>
              <a:ext cx="11" cy="61"/>
              <a:chOff x="3486" y="3261"/>
              <a:chExt cx="40" cy="337"/>
            </a:xfrm>
          </p:grpSpPr>
          <p:sp>
            <p:nvSpPr>
              <p:cNvPr id="148076" name="AutoShape 405"/>
              <p:cNvSpPr>
                <a:spLocks noChangeAspect="1" noChangeArrowheads="1"/>
              </p:cNvSpPr>
              <p:nvPr/>
            </p:nvSpPr>
            <p:spPr bwMode="auto">
              <a:xfrm>
                <a:off x="3486" y="3430"/>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77" name="AutoShape 406"/>
              <p:cNvSpPr>
                <a:spLocks noChangeAspect="1" noChangeArrowheads="1"/>
              </p:cNvSpPr>
              <p:nvPr/>
            </p:nvSpPr>
            <p:spPr bwMode="auto">
              <a:xfrm>
                <a:off x="3486" y="3261"/>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8" name="Group 407"/>
            <p:cNvGrpSpPr>
              <a:grpSpLocks noChangeAspect="1"/>
            </p:cNvGrpSpPr>
            <p:nvPr/>
          </p:nvGrpSpPr>
          <p:grpSpPr bwMode="auto">
            <a:xfrm>
              <a:off x="2043" y="2143"/>
              <a:ext cx="9" cy="104"/>
              <a:chOff x="2195" y="2463"/>
              <a:chExt cx="40" cy="442"/>
            </a:xfrm>
          </p:grpSpPr>
          <p:sp>
            <p:nvSpPr>
              <p:cNvPr id="148074" name="AutoShape 408"/>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75" name="AutoShape 409"/>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9" name="Group 410"/>
            <p:cNvGrpSpPr>
              <a:grpSpLocks noChangeAspect="1"/>
            </p:cNvGrpSpPr>
            <p:nvPr/>
          </p:nvGrpSpPr>
          <p:grpSpPr bwMode="auto">
            <a:xfrm>
              <a:off x="2008" y="2176"/>
              <a:ext cx="10" cy="91"/>
              <a:chOff x="2329" y="2599"/>
              <a:chExt cx="43" cy="386"/>
            </a:xfrm>
          </p:grpSpPr>
          <p:sp>
            <p:nvSpPr>
              <p:cNvPr id="148072" name="AutoShape 411"/>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73" name="AutoShape 412"/>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0" name="Group 413"/>
            <p:cNvGrpSpPr>
              <a:grpSpLocks noChangeAspect="1"/>
            </p:cNvGrpSpPr>
            <p:nvPr/>
          </p:nvGrpSpPr>
          <p:grpSpPr bwMode="auto">
            <a:xfrm>
              <a:off x="1938" y="2201"/>
              <a:ext cx="10" cy="63"/>
              <a:chOff x="2065" y="2441"/>
              <a:chExt cx="40" cy="272"/>
            </a:xfrm>
          </p:grpSpPr>
          <p:sp>
            <p:nvSpPr>
              <p:cNvPr id="148070" name="AutoShape 414"/>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71" name="AutoShape 415"/>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1" name="Group 416"/>
            <p:cNvGrpSpPr>
              <a:grpSpLocks noChangeAspect="1"/>
            </p:cNvGrpSpPr>
            <p:nvPr/>
          </p:nvGrpSpPr>
          <p:grpSpPr bwMode="auto">
            <a:xfrm flipV="1">
              <a:off x="1978" y="2218"/>
              <a:ext cx="11" cy="42"/>
              <a:chOff x="2815" y="1923"/>
              <a:chExt cx="40" cy="217"/>
            </a:xfrm>
          </p:grpSpPr>
          <p:sp>
            <p:nvSpPr>
              <p:cNvPr id="148068" name="AutoShape 417"/>
              <p:cNvSpPr>
                <a:spLocks noChangeAspect="1" noChangeArrowheads="1"/>
              </p:cNvSpPr>
              <p:nvPr/>
            </p:nvSpPr>
            <p:spPr bwMode="auto">
              <a:xfrm>
                <a:off x="2815" y="2032"/>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69" name="AutoShape 418"/>
              <p:cNvSpPr>
                <a:spLocks noChangeAspect="1" noChangeArrowheads="1"/>
              </p:cNvSpPr>
              <p:nvPr/>
            </p:nvSpPr>
            <p:spPr bwMode="auto">
              <a:xfrm>
                <a:off x="2815" y="1923"/>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2" name="Group 419"/>
            <p:cNvGrpSpPr>
              <a:grpSpLocks noChangeAspect="1"/>
            </p:cNvGrpSpPr>
            <p:nvPr/>
          </p:nvGrpSpPr>
          <p:grpSpPr bwMode="auto">
            <a:xfrm>
              <a:off x="2073" y="2139"/>
              <a:ext cx="11" cy="64"/>
              <a:chOff x="2329" y="2599"/>
              <a:chExt cx="43" cy="386"/>
            </a:xfrm>
          </p:grpSpPr>
          <p:sp>
            <p:nvSpPr>
              <p:cNvPr id="148066" name="AutoShape 420"/>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67" name="AutoShape 421"/>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3" name="Group 422"/>
            <p:cNvGrpSpPr>
              <a:grpSpLocks noChangeAspect="1"/>
            </p:cNvGrpSpPr>
            <p:nvPr/>
          </p:nvGrpSpPr>
          <p:grpSpPr bwMode="auto">
            <a:xfrm>
              <a:off x="2111" y="2144"/>
              <a:ext cx="10" cy="38"/>
              <a:chOff x="2478" y="2807"/>
              <a:chExt cx="43" cy="178"/>
            </a:xfrm>
          </p:grpSpPr>
          <p:sp>
            <p:nvSpPr>
              <p:cNvPr id="148064" name="AutoShape 423"/>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65" name="AutoShape 424"/>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4" name="Group 425"/>
            <p:cNvGrpSpPr>
              <a:grpSpLocks noChangeAspect="1"/>
            </p:cNvGrpSpPr>
            <p:nvPr/>
          </p:nvGrpSpPr>
          <p:grpSpPr bwMode="auto">
            <a:xfrm>
              <a:off x="2172" y="2154"/>
              <a:ext cx="10" cy="104"/>
              <a:chOff x="2195" y="2463"/>
              <a:chExt cx="40" cy="442"/>
            </a:xfrm>
          </p:grpSpPr>
          <p:sp>
            <p:nvSpPr>
              <p:cNvPr id="148062" name="AutoShape 426"/>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63" name="AutoShape 427"/>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5" name="Group 428"/>
            <p:cNvGrpSpPr>
              <a:grpSpLocks noChangeAspect="1"/>
            </p:cNvGrpSpPr>
            <p:nvPr/>
          </p:nvGrpSpPr>
          <p:grpSpPr bwMode="auto">
            <a:xfrm>
              <a:off x="2204" y="2192"/>
              <a:ext cx="10" cy="74"/>
              <a:chOff x="2329" y="2599"/>
              <a:chExt cx="43" cy="386"/>
            </a:xfrm>
          </p:grpSpPr>
          <p:sp>
            <p:nvSpPr>
              <p:cNvPr id="148060" name="AutoShape 429"/>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61" name="AutoShape 430"/>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6" name="Group 431"/>
            <p:cNvGrpSpPr>
              <a:grpSpLocks noChangeAspect="1"/>
            </p:cNvGrpSpPr>
            <p:nvPr/>
          </p:nvGrpSpPr>
          <p:grpSpPr bwMode="auto">
            <a:xfrm>
              <a:off x="2141" y="2140"/>
              <a:ext cx="10" cy="79"/>
              <a:chOff x="2065" y="2441"/>
              <a:chExt cx="40" cy="272"/>
            </a:xfrm>
          </p:grpSpPr>
          <p:sp>
            <p:nvSpPr>
              <p:cNvPr id="148058" name="AutoShape 432"/>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59" name="AutoShape 433"/>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7" name="Group 434"/>
            <p:cNvGrpSpPr>
              <a:grpSpLocks noChangeAspect="1"/>
            </p:cNvGrpSpPr>
            <p:nvPr/>
          </p:nvGrpSpPr>
          <p:grpSpPr bwMode="auto">
            <a:xfrm>
              <a:off x="1217" y="2147"/>
              <a:ext cx="9" cy="104"/>
              <a:chOff x="1790" y="2461"/>
              <a:chExt cx="40" cy="447"/>
            </a:xfrm>
          </p:grpSpPr>
          <p:sp>
            <p:nvSpPr>
              <p:cNvPr id="148056" name="AutoShape 435"/>
              <p:cNvSpPr>
                <a:spLocks noChangeAspect="1" noChangeArrowheads="1"/>
              </p:cNvSpPr>
              <p:nvPr/>
            </p:nvSpPr>
            <p:spPr bwMode="auto">
              <a:xfrm>
                <a:off x="1790" y="2461"/>
                <a:ext cx="40" cy="223"/>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57" name="AutoShape 436"/>
              <p:cNvSpPr>
                <a:spLocks noChangeAspect="1" noChangeArrowheads="1"/>
              </p:cNvSpPr>
              <p:nvPr/>
            </p:nvSpPr>
            <p:spPr bwMode="auto">
              <a:xfrm>
                <a:off x="1790" y="2684"/>
                <a:ext cx="40" cy="2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8" name="Group 437"/>
            <p:cNvGrpSpPr>
              <a:grpSpLocks noChangeAspect="1"/>
            </p:cNvGrpSpPr>
            <p:nvPr/>
          </p:nvGrpSpPr>
          <p:grpSpPr bwMode="auto">
            <a:xfrm>
              <a:off x="1247" y="2138"/>
              <a:ext cx="9" cy="76"/>
              <a:chOff x="1914" y="2425"/>
              <a:chExt cx="40" cy="326"/>
            </a:xfrm>
          </p:grpSpPr>
          <p:sp>
            <p:nvSpPr>
              <p:cNvPr id="148054" name="AutoShape 438"/>
              <p:cNvSpPr>
                <a:spLocks noChangeAspect="1" noChangeArrowheads="1"/>
              </p:cNvSpPr>
              <p:nvPr/>
            </p:nvSpPr>
            <p:spPr bwMode="auto">
              <a:xfrm>
                <a:off x="1914" y="2425"/>
                <a:ext cx="40" cy="16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55" name="AutoShape 439"/>
              <p:cNvSpPr>
                <a:spLocks noChangeAspect="1" noChangeArrowheads="1"/>
              </p:cNvSpPr>
              <p:nvPr/>
            </p:nvSpPr>
            <p:spPr bwMode="auto">
              <a:xfrm>
                <a:off x="1914" y="2588"/>
                <a:ext cx="40" cy="16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9" name="Group 440"/>
            <p:cNvGrpSpPr>
              <a:grpSpLocks noChangeAspect="1"/>
            </p:cNvGrpSpPr>
            <p:nvPr/>
          </p:nvGrpSpPr>
          <p:grpSpPr bwMode="auto">
            <a:xfrm>
              <a:off x="1184" y="2184"/>
              <a:ext cx="10" cy="83"/>
              <a:chOff x="1658" y="2628"/>
              <a:chExt cx="40" cy="355"/>
            </a:xfrm>
          </p:grpSpPr>
          <p:sp>
            <p:nvSpPr>
              <p:cNvPr id="148052" name="AutoShape 441"/>
              <p:cNvSpPr>
                <a:spLocks noChangeAspect="1" noChangeArrowheads="1"/>
              </p:cNvSpPr>
              <p:nvPr/>
            </p:nvSpPr>
            <p:spPr bwMode="auto">
              <a:xfrm>
                <a:off x="1658" y="2628"/>
                <a:ext cx="40" cy="17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53" name="AutoShape 442"/>
              <p:cNvSpPr>
                <a:spLocks noChangeAspect="1" noChangeArrowheads="1"/>
              </p:cNvSpPr>
              <p:nvPr/>
            </p:nvSpPr>
            <p:spPr bwMode="auto">
              <a:xfrm>
                <a:off x="1658" y="2805"/>
                <a:ext cx="40" cy="17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30" name="Group 443"/>
            <p:cNvGrpSpPr>
              <a:grpSpLocks noChangeAspect="1"/>
            </p:cNvGrpSpPr>
            <p:nvPr/>
          </p:nvGrpSpPr>
          <p:grpSpPr bwMode="auto">
            <a:xfrm>
              <a:off x="1151" y="2227"/>
              <a:ext cx="10" cy="29"/>
              <a:chOff x="1516" y="2835"/>
              <a:chExt cx="42" cy="123"/>
            </a:xfrm>
          </p:grpSpPr>
          <p:sp>
            <p:nvSpPr>
              <p:cNvPr id="148050" name="AutoShape 444"/>
              <p:cNvSpPr>
                <a:spLocks noChangeAspect="1" noChangeArrowheads="1"/>
              </p:cNvSpPr>
              <p:nvPr/>
            </p:nvSpPr>
            <p:spPr bwMode="auto">
              <a:xfrm>
                <a:off x="1516" y="2897"/>
                <a:ext cx="42" cy="6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51" name="AutoShape 445"/>
              <p:cNvSpPr>
                <a:spLocks noChangeAspect="1" noChangeArrowheads="1"/>
              </p:cNvSpPr>
              <p:nvPr/>
            </p:nvSpPr>
            <p:spPr bwMode="auto">
              <a:xfrm>
                <a:off x="1516" y="2835"/>
                <a:ext cx="42" cy="6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31" name="Group 446"/>
            <p:cNvGrpSpPr>
              <a:grpSpLocks noChangeAspect="1"/>
            </p:cNvGrpSpPr>
            <p:nvPr/>
          </p:nvGrpSpPr>
          <p:grpSpPr bwMode="auto">
            <a:xfrm flipV="1">
              <a:off x="1270" y="2143"/>
              <a:ext cx="10" cy="37"/>
              <a:chOff x="2478" y="2807"/>
              <a:chExt cx="43" cy="178"/>
            </a:xfrm>
          </p:grpSpPr>
          <p:sp>
            <p:nvSpPr>
              <p:cNvPr id="148048" name="AutoShape 447"/>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49" name="AutoShape 448"/>
              <p:cNvSpPr>
                <a:spLocks noChangeAspect="1" noChangeArrowheads="1"/>
              </p:cNvSpPr>
              <p:nvPr/>
            </p:nvSpPr>
            <p:spPr bwMode="auto">
              <a:xfrm flipV="1">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8032" name="Freeform 449"/>
            <p:cNvSpPr>
              <a:spLocks noChangeAspect="1"/>
            </p:cNvSpPr>
            <p:nvPr/>
          </p:nvSpPr>
          <p:spPr bwMode="auto">
            <a:xfrm flipH="1">
              <a:off x="2141"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33" name="Freeform 450"/>
            <p:cNvSpPr>
              <a:spLocks noChangeAspect="1"/>
            </p:cNvSpPr>
            <p:nvPr/>
          </p:nvSpPr>
          <p:spPr bwMode="auto">
            <a:xfrm flipH="1">
              <a:off x="2062"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34" name="Freeform 451"/>
            <p:cNvSpPr>
              <a:spLocks noChangeAspect="1"/>
            </p:cNvSpPr>
            <p:nvPr/>
          </p:nvSpPr>
          <p:spPr bwMode="auto">
            <a:xfrm flipH="1">
              <a:off x="1868"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35" name="Freeform 452"/>
            <p:cNvSpPr>
              <a:spLocks noChangeAspect="1"/>
            </p:cNvSpPr>
            <p:nvPr/>
          </p:nvSpPr>
          <p:spPr bwMode="auto">
            <a:xfrm flipH="1">
              <a:off x="1789"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36" name="Freeform 453"/>
            <p:cNvSpPr>
              <a:spLocks noChangeAspect="1"/>
            </p:cNvSpPr>
            <p:nvPr/>
          </p:nvSpPr>
          <p:spPr bwMode="auto">
            <a:xfrm flipH="1">
              <a:off x="159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37" name="Freeform 454"/>
            <p:cNvSpPr>
              <a:spLocks noChangeAspect="1"/>
            </p:cNvSpPr>
            <p:nvPr/>
          </p:nvSpPr>
          <p:spPr bwMode="auto">
            <a:xfrm flipH="1">
              <a:off x="1517"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38" name="Freeform 455"/>
            <p:cNvSpPr>
              <a:spLocks noChangeAspect="1"/>
            </p:cNvSpPr>
            <p:nvPr/>
          </p:nvSpPr>
          <p:spPr bwMode="auto">
            <a:xfrm flipH="1">
              <a:off x="1324"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39" name="Freeform 456"/>
            <p:cNvSpPr>
              <a:spLocks noChangeAspect="1"/>
            </p:cNvSpPr>
            <p:nvPr/>
          </p:nvSpPr>
          <p:spPr bwMode="auto">
            <a:xfrm flipH="1">
              <a:off x="1245"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0" name="Freeform 457"/>
            <p:cNvSpPr>
              <a:spLocks noChangeAspect="1"/>
            </p:cNvSpPr>
            <p:nvPr/>
          </p:nvSpPr>
          <p:spPr bwMode="auto">
            <a:xfrm flipH="1">
              <a:off x="1049"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1" name="Freeform 458"/>
            <p:cNvSpPr>
              <a:spLocks noChangeAspect="1"/>
            </p:cNvSpPr>
            <p:nvPr/>
          </p:nvSpPr>
          <p:spPr bwMode="auto">
            <a:xfrm flipH="1">
              <a:off x="970"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2" name="Freeform 459"/>
            <p:cNvSpPr>
              <a:spLocks noChangeAspect="1"/>
            </p:cNvSpPr>
            <p:nvPr/>
          </p:nvSpPr>
          <p:spPr bwMode="auto">
            <a:xfrm flipH="1">
              <a:off x="77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3" name="Freeform 460"/>
            <p:cNvSpPr>
              <a:spLocks noChangeAspect="1"/>
            </p:cNvSpPr>
            <p:nvPr/>
          </p:nvSpPr>
          <p:spPr bwMode="auto">
            <a:xfrm flipH="1">
              <a:off x="697"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4" name="Freeform 461"/>
            <p:cNvSpPr>
              <a:spLocks noChangeAspect="1"/>
            </p:cNvSpPr>
            <p:nvPr/>
          </p:nvSpPr>
          <p:spPr bwMode="auto">
            <a:xfrm flipH="1">
              <a:off x="504"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5" name="Freeform 462"/>
            <p:cNvSpPr>
              <a:spLocks noChangeAspect="1"/>
            </p:cNvSpPr>
            <p:nvPr/>
          </p:nvSpPr>
          <p:spPr bwMode="auto">
            <a:xfrm flipH="1">
              <a:off x="425"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6" name="Freeform 463"/>
            <p:cNvSpPr>
              <a:spLocks noChangeAspect="1"/>
            </p:cNvSpPr>
            <p:nvPr/>
          </p:nvSpPr>
          <p:spPr bwMode="auto">
            <a:xfrm flipH="1">
              <a:off x="232"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7" name="Freeform 464"/>
            <p:cNvSpPr>
              <a:spLocks noChangeAspect="1"/>
            </p:cNvSpPr>
            <p:nvPr/>
          </p:nvSpPr>
          <p:spPr bwMode="auto">
            <a:xfrm flipH="1">
              <a:off x="153"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7470" name="Group 465"/>
          <p:cNvGrpSpPr/>
          <p:nvPr/>
        </p:nvGrpSpPr>
        <p:grpSpPr bwMode="auto">
          <a:xfrm>
            <a:off x="6656388" y="4662488"/>
            <a:ext cx="1887537" cy="169862"/>
            <a:chOff x="4193" y="3273"/>
            <a:chExt cx="1189" cy="107"/>
          </a:xfrm>
        </p:grpSpPr>
        <p:grpSp>
          <p:nvGrpSpPr>
            <p:cNvPr id="147868" name="Group 466"/>
            <p:cNvGrpSpPr/>
            <p:nvPr/>
          </p:nvGrpSpPr>
          <p:grpSpPr bwMode="auto">
            <a:xfrm>
              <a:off x="4243" y="3311"/>
              <a:ext cx="1139" cy="69"/>
              <a:chOff x="4274" y="3423"/>
              <a:chExt cx="1139" cy="69"/>
            </a:xfrm>
          </p:grpSpPr>
          <p:sp>
            <p:nvSpPr>
              <p:cNvPr id="147872" name="Freeform 467"/>
              <p:cNvSpPr>
                <a:spLocks noChangeAspect="1"/>
              </p:cNvSpPr>
              <p:nvPr/>
            </p:nvSpPr>
            <p:spPr bwMode="auto">
              <a:xfrm>
                <a:off x="4345"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73" name="Freeform 468"/>
              <p:cNvSpPr>
                <a:spLocks noChangeAspect="1"/>
              </p:cNvSpPr>
              <p:nvPr/>
            </p:nvSpPr>
            <p:spPr bwMode="auto">
              <a:xfrm>
                <a:off x="4487"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74" name="Freeform 469"/>
              <p:cNvSpPr>
                <a:spLocks noChangeAspect="1"/>
              </p:cNvSpPr>
              <p:nvPr/>
            </p:nvSpPr>
            <p:spPr bwMode="auto">
              <a:xfrm>
                <a:off x="4629"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75" name="Freeform 470"/>
              <p:cNvSpPr>
                <a:spLocks noChangeAspect="1"/>
              </p:cNvSpPr>
              <p:nvPr/>
            </p:nvSpPr>
            <p:spPr bwMode="auto">
              <a:xfrm>
                <a:off x="4770"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76" name="Freeform 471"/>
              <p:cNvSpPr>
                <a:spLocks noChangeAspect="1"/>
              </p:cNvSpPr>
              <p:nvPr/>
            </p:nvSpPr>
            <p:spPr bwMode="auto">
              <a:xfrm>
                <a:off x="4913"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77" name="Freeform 472"/>
              <p:cNvSpPr>
                <a:spLocks noChangeAspect="1"/>
              </p:cNvSpPr>
              <p:nvPr/>
            </p:nvSpPr>
            <p:spPr bwMode="auto">
              <a:xfrm>
                <a:off x="5055"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78" name="Freeform 473"/>
              <p:cNvSpPr>
                <a:spLocks noChangeAspect="1"/>
              </p:cNvSpPr>
              <p:nvPr/>
            </p:nvSpPr>
            <p:spPr bwMode="auto">
              <a:xfrm>
                <a:off x="5197"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79" name="AutoShape 474"/>
              <p:cNvSpPr>
                <a:spLocks noChangeAspect="1" noChangeArrowheads="1"/>
              </p:cNvSpPr>
              <p:nvPr/>
            </p:nvSpPr>
            <p:spPr bwMode="auto">
              <a:xfrm>
                <a:off x="4314" y="3446"/>
                <a:ext cx="5"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0" name="AutoShape 475"/>
              <p:cNvSpPr>
                <a:spLocks noChangeAspect="1" noChangeArrowheads="1"/>
              </p:cNvSpPr>
              <p:nvPr/>
            </p:nvSpPr>
            <p:spPr bwMode="auto">
              <a:xfrm>
                <a:off x="4400" y="3432"/>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1" name="AutoShape 476"/>
              <p:cNvSpPr>
                <a:spLocks noChangeAspect="1" noChangeArrowheads="1"/>
              </p:cNvSpPr>
              <p:nvPr/>
            </p:nvSpPr>
            <p:spPr bwMode="auto">
              <a:xfrm>
                <a:off x="4330" y="345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2" name="AutoShape 477"/>
              <p:cNvSpPr>
                <a:spLocks noChangeAspect="1" noChangeArrowheads="1"/>
              </p:cNvSpPr>
              <p:nvPr/>
            </p:nvSpPr>
            <p:spPr bwMode="auto">
              <a:xfrm>
                <a:off x="4416" y="3425"/>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3" name="AutoShape 478"/>
              <p:cNvSpPr>
                <a:spLocks noChangeAspect="1" noChangeArrowheads="1"/>
              </p:cNvSpPr>
              <p:nvPr/>
            </p:nvSpPr>
            <p:spPr bwMode="auto">
              <a:xfrm>
                <a:off x="4345" y="347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4" name="AutoShape 479"/>
              <p:cNvSpPr>
                <a:spLocks noChangeAspect="1" noChangeArrowheads="1"/>
              </p:cNvSpPr>
              <p:nvPr/>
            </p:nvSpPr>
            <p:spPr bwMode="auto">
              <a:xfrm>
                <a:off x="4384" y="344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5" name="AutoShape 480"/>
              <p:cNvSpPr>
                <a:spLocks noChangeAspect="1" noChangeArrowheads="1"/>
              </p:cNvSpPr>
              <p:nvPr/>
            </p:nvSpPr>
            <p:spPr bwMode="auto">
              <a:xfrm>
                <a:off x="4368" y="3479"/>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6" name="AutoShape 481"/>
              <p:cNvSpPr>
                <a:spLocks noChangeAspect="1" noChangeArrowheads="1"/>
              </p:cNvSpPr>
              <p:nvPr/>
            </p:nvSpPr>
            <p:spPr bwMode="auto">
              <a:xfrm>
                <a:off x="4368" y="3471"/>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7" name="AutoShape 482"/>
              <p:cNvSpPr>
                <a:spLocks noChangeAspect="1" noChangeArrowheads="1"/>
              </p:cNvSpPr>
              <p:nvPr/>
            </p:nvSpPr>
            <p:spPr bwMode="auto">
              <a:xfrm>
                <a:off x="4466" y="3454"/>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8" name="AutoShape 483"/>
              <p:cNvSpPr>
                <a:spLocks noChangeAspect="1" noChangeArrowheads="1"/>
              </p:cNvSpPr>
              <p:nvPr/>
            </p:nvSpPr>
            <p:spPr bwMode="auto">
              <a:xfrm>
                <a:off x="4483" y="346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9" name="AutoShape 484"/>
              <p:cNvSpPr>
                <a:spLocks noChangeAspect="1" noChangeArrowheads="1"/>
              </p:cNvSpPr>
              <p:nvPr/>
            </p:nvSpPr>
            <p:spPr bwMode="auto">
              <a:xfrm>
                <a:off x="4429" y="342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0" name="AutoShape 485"/>
              <p:cNvSpPr>
                <a:spLocks noChangeAspect="1" noChangeArrowheads="1"/>
              </p:cNvSpPr>
              <p:nvPr/>
            </p:nvSpPr>
            <p:spPr bwMode="auto">
              <a:xfrm>
                <a:off x="4429" y="3437"/>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1" name="AutoShape 486"/>
              <p:cNvSpPr>
                <a:spLocks noChangeAspect="1" noChangeArrowheads="1"/>
              </p:cNvSpPr>
              <p:nvPr/>
            </p:nvSpPr>
            <p:spPr bwMode="auto">
              <a:xfrm>
                <a:off x="4450" y="344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2" name="AutoShape 487"/>
              <p:cNvSpPr>
                <a:spLocks noChangeAspect="1" noChangeArrowheads="1"/>
              </p:cNvSpPr>
              <p:nvPr/>
            </p:nvSpPr>
            <p:spPr bwMode="auto">
              <a:xfrm>
                <a:off x="4499" y="3478"/>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3" name="AutoShape 488"/>
              <p:cNvSpPr>
                <a:spLocks noChangeAspect="1" noChangeArrowheads="1"/>
              </p:cNvSpPr>
              <p:nvPr/>
            </p:nvSpPr>
            <p:spPr bwMode="auto">
              <a:xfrm flipV="1">
                <a:off x="4566" y="342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4" name="AutoShape 489"/>
              <p:cNvSpPr>
                <a:spLocks noChangeAspect="1" noChangeArrowheads="1"/>
              </p:cNvSpPr>
              <p:nvPr/>
            </p:nvSpPr>
            <p:spPr bwMode="auto">
              <a:xfrm>
                <a:off x="4552" y="3425"/>
                <a:ext cx="5"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5" name="AutoShape 490"/>
              <p:cNvSpPr>
                <a:spLocks noChangeAspect="1" noChangeArrowheads="1"/>
              </p:cNvSpPr>
              <p:nvPr/>
            </p:nvSpPr>
            <p:spPr bwMode="auto">
              <a:xfrm flipV="1">
                <a:off x="4535" y="3435"/>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6" name="AutoShape 491"/>
              <p:cNvSpPr>
                <a:spLocks noChangeAspect="1" noChangeArrowheads="1"/>
              </p:cNvSpPr>
              <p:nvPr/>
            </p:nvSpPr>
            <p:spPr bwMode="auto">
              <a:xfrm>
                <a:off x="4518" y="3463"/>
                <a:ext cx="5"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7" name="AutoShape 492"/>
              <p:cNvSpPr>
                <a:spLocks noChangeAspect="1" noChangeArrowheads="1"/>
              </p:cNvSpPr>
              <p:nvPr/>
            </p:nvSpPr>
            <p:spPr bwMode="auto">
              <a:xfrm flipV="1">
                <a:off x="4620" y="3463"/>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8" name="AutoShape 493"/>
              <p:cNvSpPr>
                <a:spLocks noChangeAspect="1" noChangeArrowheads="1"/>
              </p:cNvSpPr>
              <p:nvPr/>
            </p:nvSpPr>
            <p:spPr bwMode="auto">
              <a:xfrm>
                <a:off x="4603" y="345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9" name="AutoShape 494"/>
              <p:cNvSpPr>
                <a:spLocks noChangeAspect="1" noChangeArrowheads="1"/>
              </p:cNvSpPr>
              <p:nvPr/>
            </p:nvSpPr>
            <p:spPr bwMode="auto">
              <a:xfrm>
                <a:off x="4589" y="3441"/>
                <a:ext cx="5"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0" name="AutoShape 495"/>
              <p:cNvSpPr>
                <a:spLocks noChangeAspect="1" noChangeArrowheads="1"/>
              </p:cNvSpPr>
              <p:nvPr/>
            </p:nvSpPr>
            <p:spPr bwMode="auto">
              <a:xfrm>
                <a:off x="4691" y="3427"/>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1" name="AutoShape 496"/>
              <p:cNvSpPr>
                <a:spLocks noChangeAspect="1" noChangeArrowheads="1"/>
              </p:cNvSpPr>
              <p:nvPr/>
            </p:nvSpPr>
            <p:spPr bwMode="auto">
              <a:xfrm>
                <a:off x="4671" y="3444"/>
                <a:ext cx="6"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2" name="AutoShape 497"/>
              <p:cNvSpPr>
                <a:spLocks noChangeAspect="1" noChangeArrowheads="1"/>
              </p:cNvSpPr>
              <p:nvPr/>
            </p:nvSpPr>
            <p:spPr bwMode="auto">
              <a:xfrm>
                <a:off x="4635" y="347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3" name="AutoShape 498"/>
              <p:cNvSpPr>
                <a:spLocks noChangeAspect="1" noChangeArrowheads="1"/>
              </p:cNvSpPr>
              <p:nvPr/>
            </p:nvSpPr>
            <p:spPr bwMode="auto">
              <a:xfrm flipV="1">
                <a:off x="4657" y="3466"/>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4" name="AutoShape 499"/>
              <p:cNvSpPr>
                <a:spLocks noChangeAspect="1" noChangeArrowheads="1"/>
              </p:cNvSpPr>
              <p:nvPr/>
            </p:nvSpPr>
            <p:spPr bwMode="auto">
              <a:xfrm>
                <a:off x="4705" y="3425"/>
                <a:ext cx="6"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5" name="AutoShape 500"/>
              <p:cNvSpPr>
                <a:spLocks noChangeAspect="1" noChangeArrowheads="1"/>
              </p:cNvSpPr>
              <p:nvPr/>
            </p:nvSpPr>
            <p:spPr bwMode="auto">
              <a:xfrm>
                <a:off x="4725" y="342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6" name="AutoShape 501"/>
              <p:cNvSpPr>
                <a:spLocks noChangeAspect="1" noChangeArrowheads="1"/>
              </p:cNvSpPr>
              <p:nvPr/>
            </p:nvSpPr>
            <p:spPr bwMode="auto">
              <a:xfrm>
                <a:off x="4725" y="343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7" name="AutoShape 502"/>
              <p:cNvSpPr>
                <a:spLocks noChangeAspect="1" noChangeArrowheads="1"/>
              </p:cNvSpPr>
              <p:nvPr/>
            </p:nvSpPr>
            <p:spPr bwMode="auto">
              <a:xfrm>
                <a:off x="4757" y="345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8" name="AutoShape 503"/>
              <p:cNvSpPr>
                <a:spLocks noChangeAspect="1" noChangeArrowheads="1"/>
              </p:cNvSpPr>
              <p:nvPr/>
            </p:nvSpPr>
            <p:spPr bwMode="auto">
              <a:xfrm>
                <a:off x="4773" y="3471"/>
                <a:ext cx="6"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9" name="AutoShape 504"/>
              <p:cNvSpPr>
                <a:spLocks noChangeAspect="1" noChangeArrowheads="1"/>
              </p:cNvSpPr>
              <p:nvPr/>
            </p:nvSpPr>
            <p:spPr bwMode="auto">
              <a:xfrm>
                <a:off x="4741" y="344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0" name="Freeform 505"/>
              <p:cNvSpPr>
                <a:spLocks noChangeAspect="1"/>
              </p:cNvSpPr>
              <p:nvPr/>
            </p:nvSpPr>
            <p:spPr bwMode="auto">
              <a:xfrm>
                <a:off x="5339"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11" name="AutoShape 506"/>
              <p:cNvSpPr>
                <a:spLocks noChangeAspect="1" noChangeArrowheads="1"/>
              </p:cNvSpPr>
              <p:nvPr/>
            </p:nvSpPr>
            <p:spPr bwMode="auto">
              <a:xfrm>
                <a:off x="4882" y="3446"/>
                <a:ext cx="6"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2" name="AutoShape 507"/>
              <p:cNvSpPr>
                <a:spLocks noChangeAspect="1" noChangeArrowheads="1"/>
              </p:cNvSpPr>
              <p:nvPr/>
            </p:nvSpPr>
            <p:spPr bwMode="auto">
              <a:xfrm>
                <a:off x="4969" y="342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3" name="AutoShape 508"/>
              <p:cNvSpPr>
                <a:spLocks noChangeAspect="1" noChangeArrowheads="1"/>
              </p:cNvSpPr>
              <p:nvPr/>
            </p:nvSpPr>
            <p:spPr bwMode="auto">
              <a:xfrm>
                <a:off x="4898" y="345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4" name="AutoShape 509"/>
              <p:cNvSpPr>
                <a:spLocks noChangeAspect="1" noChangeArrowheads="1"/>
              </p:cNvSpPr>
              <p:nvPr/>
            </p:nvSpPr>
            <p:spPr bwMode="auto">
              <a:xfrm>
                <a:off x="4985" y="3424"/>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5" name="AutoShape 510"/>
              <p:cNvSpPr>
                <a:spLocks noChangeAspect="1" noChangeArrowheads="1"/>
              </p:cNvSpPr>
              <p:nvPr/>
            </p:nvSpPr>
            <p:spPr bwMode="auto">
              <a:xfrm>
                <a:off x="4914" y="347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6" name="AutoShape 511"/>
              <p:cNvSpPr>
                <a:spLocks noChangeAspect="1" noChangeArrowheads="1"/>
              </p:cNvSpPr>
              <p:nvPr/>
            </p:nvSpPr>
            <p:spPr bwMode="auto">
              <a:xfrm>
                <a:off x="4953" y="344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7" name="AutoShape 512"/>
              <p:cNvSpPr>
                <a:spLocks noChangeAspect="1" noChangeArrowheads="1"/>
              </p:cNvSpPr>
              <p:nvPr/>
            </p:nvSpPr>
            <p:spPr bwMode="auto">
              <a:xfrm>
                <a:off x="4937" y="3479"/>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8" name="AutoShape 513"/>
              <p:cNvSpPr>
                <a:spLocks noChangeAspect="1" noChangeArrowheads="1"/>
              </p:cNvSpPr>
              <p:nvPr/>
            </p:nvSpPr>
            <p:spPr bwMode="auto">
              <a:xfrm>
                <a:off x="4937" y="3471"/>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9" name="AutoShape 514"/>
              <p:cNvSpPr>
                <a:spLocks noChangeAspect="1" noChangeArrowheads="1"/>
              </p:cNvSpPr>
              <p:nvPr/>
            </p:nvSpPr>
            <p:spPr bwMode="auto">
              <a:xfrm>
                <a:off x="5035" y="3454"/>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0" name="AutoShape 515"/>
              <p:cNvSpPr>
                <a:spLocks noChangeAspect="1" noChangeArrowheads="1"/>
              </p:cNvSpPr>
              <p:nvPr/>
            </p:nvSpPr>
            <p:spPr bwMode="auto">
              <a:xfrm>
                <a:off x="5051" y="346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1" name="AutoShape 516"/>
              <p:cNvSpPr>
                <a:spLocks noChangeAspect="1" noChangeArrowheads="1"/>
              </p:cNvSpPr>
              <p:nvPr/>
            </p:nvSpPr>
            <p:spPr bwMode="auto">
              <a:xfrm>
                <a:off x="4999" y="3428"/>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2" name="AutoShape 517"/>
              <p:cNvSpPr>
                <a:spLocks noChangeAspect="1" noChangeArrowheads="1"/>
              </p:cNvSpPr>
              <p:nvPr/>
            </p:nvSpPr>
            <p:spPr bwMode="auto">
              <a:xfrm>
                <a:off x="5018" y="344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3" name="AutoShape 518"/>
              <p:cNvSpPr>
                <a:spLocks noChangeAspect="1" noChangeArrowheads="1"/>
              </p:cNvSpPr>
              <p:nvPr/>
            </p:nvSpPr>
            <p:spPr bwMode="auto">
              <a:xfrm>
                <a:off x="5067" y="3478"/>
                <a:ext cx="6"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4" name="AutoShape 519"/>
              <p:cNvSpPr>
                <a:spLocks noChangeAspect="1" noChangeArrowheads="1"/>
              </p:cNvSpPr>
              <p:nvPr/>
            </p:nvSpPr>
            <p:spPr bwMode="auto">
              <a:xfrm flipV="1">
                <a:off x="5134" y="342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5" name="AutoShape 520"/>
              <p:cNvSpPr>
                <a:spLocks noChangeAspect="1" noChangeArrowheads="1"/>
              </p:cNvSpPr>
              <p:nvPr/>
            </p:nvSpPr>
            <p:spPr bwMode="auto">
              <a:xfrm>
                <a:off x="5120" y="3425"/>
                <a:ext cx="6"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6" name="AutoShape 521"/>
              <p:cNvSpPr>
                <a:spLocks noChangeAspect="1" noChangeArrowheads="1"/>
              </p:cNvSpPr>
              <p:nvPr/>
            </p:nvSpPr>
            <p:spPr bwMode="auto">
              <a:xfrm flipV="1">
                <a:off x="5104" y="3435"/>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7" name="AutoShape 522"/>
              <p:cNvSpPr>
                <a:spLocks noChangeAspect="1" noChangeArrowheads="1"/>
              </p:cNvSpPr>
              <p:nvPr/>
            </p:nvSpPr>
            <p:spPr bwMode="auto">
              <a:xfrm>
                <a:off x="5088" y="3463"/>
                <a:ext cx="4"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8" name="AutoShape 523"/>
              <p:cNvSpPr>
                <a:spLocks noChangeAspect="1" noChangeArrowheads="1"/>
              </p:cNvSpPr>
              <p:nvPr/>
            </p:nvSpPr>
            <p:spPr bwMode="auto">
              <a:xfrm flipV="1">
                <a:off x="5189" y="3463"/>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9" name="AutoShape 524"/>
              <p:cNvSpPr>
                <a:spLocks noChangeAspect="1" noChangeArrowheads="1"/>
              </p:cNvSpPr>
              <p:nvPr/>
            </p:nvSpPr>
            <p:spPr bwMode="auto">
              <a:xfrm>
                <a:off x="5171" y="345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0" name="AutoShape 525"/>
              <p:cNvSpPr>
                <a:spLocks noChangeAspect="1" noChangeArrowheads="1"/>
              </p:cNvSpPr>
              <p:nvPr/>
            </p:nvSpPr>
            <p:spPr bwMode="auto">
              <a:xfrm>
                <a:off x="5157" y="3441"/>
                <a:ext cx="6"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1" name="AutoShape 526"/>
              <p:cNvSpPr>
                <a:spLocks noChangeAspect="1" noChangeArrowheads="1"/>
              </p:cNvSpPr>
              <p:nvPr/>
            </p:nvSpPr>
            <p:spPr bwMode="auto">
              <a:xfrm>
                <a:off x="5258" y="342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2" name="AutoShape 527"/>
              <p:cNvSpPr>
                <a:spLocks noChangeAspect="1" noChangeArrowheads="1"/>
              </p:cNvSpPr>
              <p:nvPr/>
            </p:nvSpPr>
            <p:spPr bwMode="auto">
              <a:xfrm>
                <a:off x="5240" y="3444"/>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3" name="AutoShape 528"/>
              <p:cNvSpPr>
                <a:spLocks noChangeAspect="1" noChangeArrowheads="1"/>
              </p:cNvSpPr>
              <p:nvPr/>
            </p:nvSpPr>
            <p:spPr bwMode="auto">
              <a:xfrm>
                <a:off x="5203" y="347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4" name="AutoShape 529"/>
              <p:cNvSpPr>
                <a:spLocks noChangeAspect="1" noChangeArrowheads="1"/>
              </p:cNvSpPr>
              <p:nvPr/>
            </p:nvSpPr>
            <p:spPr bwMode="auto">
              <a:xfrm flipV="1">
                <a:off x="5224" y="3466"/>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5" name="AutoShape 530"/>
              <p:cNvSpPr>
                <a:spLocks noChangeAspect="1" noChangeArrowheads="1"/>
              </p:cNvSpPr>
              <p:nvPr/>
            </p:nvSpPr>
            <p:spPr bwMode="auto">
              <a:xfrm>
                <a:off x="5274" y="3425"/>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6" name="AutoShape 531"/>
              <p:cNvSpPr>
                <a:spLocks noChangeAspect="1" noChangeArrowheads="1"/>
              </p:cNvSpPr>
              <p:nvPr/>
            </p:nvSpPr>
            <p:spPr bwMode="auto">
              <a:xfrm>
                <a:off x="5293" y="342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7" name="AutoShape 532"/>
              <p:cNvSpPr>
                <a:spLocks noChangeAspect="1" noChangeArrowheads="1"/>
              </p:cNvSpPr>
              <p:nvPr/>
            </p:nvSpPr>
            <p:spPr bwMode="auto">
              <a:xfrm>
                <a:off x="5293" y="343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8" name="AutoShape 533"/>
              <p:cNvSpPr>
                <a:spLocks noChangeAspect="1" noChangeArrowheads="1"/>
              </p:cNvSpPr>
              <p:nvPr/>
            </p:nvSpPr>
            <p:spPr bwMode="auto">
              <a:xfrm>
                <a:off x="5325" y="345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9" name="AutoShape 534"/>
              <p:cNvSpPr>
                <a:spLocks noChangeAspect="1" noChangeArrowheads="1"/>
              </p:cNvSpPr>
              <p:nvPr/>
            </p:nvSpPr>
            <p:spPr bwMode="auto">
              <a:xfrm>
                <a:off x="5342" y="3471"/>
                <a:ext cx="5"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0" name="AutoShape 535"/>
              <p:cNvSpPr>
                <a:spLocks noChangeAspect="1" noChangeArrowheads="1"/>
              </p:cNvSpPr>
              <p:nvPr/>
            </p:nvSpPr>
            <p:spPr bwMode="auto">
              <a:xfrm>
                <a:off x="5309" y="344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1" name="AutoShape 536"/>
              <p:cNvSpPr>
                <a:spLocks noChangeAspect="1" noChangeArrowheads="1"/>
              </p:cNvSpPr>
              <p:nvPr/>
            </p:nvSpPr>
            <p:spPr bwMode="auto">
              <a:xfrm>
                <a:off x="4828" y="342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2" name="AutoShape 537"/>
              <p:cNvSpPr>
                <a:spLocks noChangeAspect="1" noChangeArrowheads="1"/>
              </p:cNvSpPr>
              <p:nvPr/>
            </p:nvSpPr>
            <p:spPr bwMode="auto">
              <a:xfrm>
                <a:off x="4844" y="3424"/>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3" name="AutoShape 538"/>
              <p:cNvSpPr>
                <a:spLocks noChangeAspect="1" noChangeArrowheads="1"/>
              </p:cNvSpPr>
              <p:nvPr/>
            </p:nvSpPr>
            <p:spPr bwMode="auto">
              <a:xfrm>
                <a:off x="4811" y="344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4" name="AutoShape 539"/>
              <p:cNvSpPr>
                <a:spLocks noChangeAspect="1" noChangeArrowheads="1"/>
              </p:cNvSpPr>
              <p:nvPr/>
            </p:nvSpPr>
            <p:spPr bwMode="auto">
              <a:xfrm>
                <a:off x="4794" y="3478"/>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5" name="AutoShape 540"/>
              <p:cNvSpPr>
                <a:spLocks noChangeAspect="1" noChangeArrowheads="1"/>
              </p:cNvSpPr>
              <p:nvPr/>
            </p:nvSpPr>
            <p:spPr bwMode="auto">
              <a:xfrm>
                <a:off x="4794" y="3470"/>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6" name="AutoShape 541"/>
              <p:cNvSpPr>
                <a:spLocks noChangeAspect="1" noChangeArrowheads="1"/>
              </p:cNvSpPr>
              <p:nvPr/>
            </p:nvSpPr>
            <p:spPr bwMode="auto">
              <a:xfrm>
                <a:off x="4856" y="342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7" name="Freeform 542"/>
              <p:cNvSpPr>
                <a:spLocks noChangeAspect="1"/>
              </p:cNvSpPr>
              <p:nvPr/>
            </p:nvSpPr>
            <p:spPr bwMode="auto">
              <a:xfrm flipH="1">
                <a:off x="5268"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48" name="Freeform 543"/>
              <p:cNvSpPr>
                <a:spLocks noChangeAspect="1"/>
              </p:cNvSpPr>
              <p:nvPr/>
            </p:nvSpPr>
            <p:spPr bwMode="auto">
              <a:xfrm flipH="1">
                <a:off x="5126"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49" name="Freeform 544"/>
              <p:cNvSpPr>
                <a:spLocks noChangeAspect="1"/>
              </p:cNvSpPr>
              <p:nvPr/>
            </p:nvSpPr>
            <p:spPr bwMode="auto">
              <a:xfrm flipH="1">
                <a:off x="4984"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0" name="Freeform 545"/>
              <p:cNvSpPr>
                <a:spLocks noChangeAspect="1"/>
              </p:cNvSpPr>
              <p:nvPr/>
            </p:nvSpPr>
            <p:spPr bwMode="auto">
              <a:xfrm flipH="1">
                <a:off x="4843" y="3423"/>
                <a:ext cx="73"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1" name="Freeform 546"/>
              <p:cNvSpPr>
                <a:spLocks noChangeAspect="1"/>
              </p:cNvSpPr>
              <p:nvPr/>
            </p:nvSpPr>
            <p:spPr bwMode="auto">
              <a:xfrm flipH="1">
                <a:off x="4699"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2" name="Freeform 547"/>
              <p:cNvSpPr>
                <a:spLocks noChangeAspect="1"/>
              </p:cNvSpPr>
              <p:nvPr/>
            </p:nvSpPr>
            <p:spPr bwMode="auto">
              <a:xfrm flipH="1">
                <a:off x="4557"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3" name="Freeform 548"/>
              <p:cNvSpPr>
                <a:spLocks noChangeAspect="1"/>
              </p:cNvSpPr>
              <p:nvPr/>
            </p:nvSpPr>
            <p:spPr bwMode="auto">
              <a:xfrm flipH="1">
                <a:off x="4416"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4" name="Freeform 549"/>
              <p:cNvSpPr>
                <a:spLocks noChangeAspect="1"/>
              </p:cNvSpPr>
              <p:nvPr/>
            </p:nvSpPr>
            <p:spPr bwMode="auto">
              <a:xfrm flipH="1">
                <a:off x="4274"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7869" name="Group 550"/>
            <p:cNvGrpSpPr>
              <a:grpSpLocks noChangeAspect="1"/>
            </p:cNvGrpSpPr>
            <p:nvPr/>
          </p:nvGrpSpPr>
          <p:grpSpPr bwMode="auto">
            <a:xfrm>
              <a:off x="4193" y="3273"/>
              <a:ext cx="54" cy="71"/>
              <a:chOff x="3743" y="2439"/>
              <a:chExt cx="164" cy="216"/>
            </a:xfrm>
          </p:grpSpPr>
          <p:sp>
            <p:nvSpPr>
              <p:cNvPr id="147870" name="Freeform 551"/>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871" name="AutoShape 552"/>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nvGrpSpPr>
          <p:cNvPr id="147471" name="Group 553"/>
          <p:cNvGrpSpPr/>
          <p:nvPr/>
        </p:nvGrpSpPr>
        <p:grpSpPr bwMode="auto">
          <a:xfrm>
            <a:off x="6900863" y="4552950"/>
            <a:ext cx="1897062" cy="144463"/>
            <a:chOff x="4347" y="2868"/>
            <a:chExt cx="1195" cy="91"/>
          </a:xfrm>
        </p:grpSpPr>
        <p:grpSp>
          <p:nvGrpSpPr>
            <p:cNvPr id="147780" name="Group 554"/>
            <p:cNvGrpSpPr/>
            <p:nvPr/>
          </p:nvGrpSpPr>
          <p:grpSpPr bwMode="auto">
            <a:xfrm>
              <a:off x="4347" y="2868"/>
              <a:ext cx="1139" cy="69"/>
              <a:chOff x="4267" y="3168"/>
              <a:chExt cx="1139" cy="69"/>
            </a:xfrm>
          </p:grpSpPr>
          <p:sp>
            <p:nvSpPr>
              <p:cNvPr id="147784" name="Freeform 555"/>
              <p:cNvSpPr>
                <a:spLocks noChangeAspect="1"/>
              </p:cNvSpPr>
              <p:nvPr/>
            </p:nvSpPr>
            <p:spPr bwMode="auto">
              <a:xfrm>
                <a:off x="4409"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85" name="Freeform 556"/>
              <p:cNvSpPr>
                <a:spLocks noChangeAspect="1"/>
              </p:cNvSpPr>
              <p:nvPr/>
            </p:nvSpPr>
            <p:spPr bwMode="auto">
              <a:xfrm>
                <a:off x="4551"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86" name="Freeform 557"/>
              <p:cNvSpPr>
                <a:spLocks noChangeAspect="1"/>
              </p:cNvSpPr>
              <p:nvPr/>
            </p:nvSpPr>
            <p:spPr bwMode="auto">
              <a:xfrm>
                <a:off x="4693"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87" name="Freeform 558"/>
              <p:cNvSpPr>
                <a:spLocks noChangeAspect="1"/>
              </p:cNvSpPr>
              <p:nvPr/>
            </p:nvSpPr>
            <p:spPr bwMode="auto">
              <a:xfrm>
                <a:off x="4835"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88" name="Freeform 559"/>
              <p:cNvSpPr>
                <a:spLocks noChangeAspect="1"/>
              </p:cNvSpPr>
              <p:nvPr/>
            </p:nvSpPr>
            <p:spPr bwMode="auto">
              <a:xfrm>
                <a:off x="4977"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89" name="Freeform 560"/>
              <p:cNvSpPr>
                <a:spLocks noChangeAspect="1"/>
              </p:cNvSpPr>
              <p:nvPr/>
            </p:nvSpPr>
            <p:spPr bwMode="auto">
              <a:xfrm>
                <a:off x="5119"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90" name="Freeform 561"/>
              <p:cNvSpPr>
                <a:spLocks noChangeAspect="1"/>
              </p:cNvSpPr>
              <p:nvPr/>
            </p:nvSpPr>
            <p:spPr bwMode="auto">
              <a:xfrm>
                <a:off x="5261"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91" name="Freeform 562"/>
              <p:cNvSpPr>
                <a:spLocks noChangeAspect="1"/>
              </p:cNvSpPr>
              <p:nvPr/>
            </p:nvSpPr>
            <p:spPr bwMode="auto">
              <a:xfrm>
                <a:off x="4267"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92" name="AutoShape 563"/>
              <p:cNvSpPr>
                <a:spLocks noChangeAspect="1" noChangeArrowheads="1"/>
              </p:cNvSpPr>
              <p:nvPr/>
            </p:nvSpPr>
            <p:spPr bwMode="auto">
              <a:xfrm>
                <a:off x="4337" y="3169"/>
                <a:ext cx="5"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93" name="AutoShape 564"/>
              <p:cNvSpPr>
                <a:spLocks noChangeAspect="1" noChangeArrowheads="1"/>
              </p:cNvSpPr>
              <p:nvPr/>
            </p:nvSpPr>
            <p:spPr bwMode="auto">
              <a:xfrm>
                <a:off x="4423" y="3204"/>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94" name="AutoShape 565"/>
              <p:cNvSpPr>
                <a:spLocks noChangeAspect="1" noChangeArrowheads="1"/>
              </p:cNvSpPr>
              <p:nvPr/>
            </p:nvSpPr>
            <p:spPr bwMode="auto">
              <a:xfrm>
                <a:off x="4353" y="317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95" name="AutoShape 566"/>
              <p:cNvSpPr>
                <a:spLocks noChangeAspect="1" noChangeArrowheads="1"/>
              </p:cNvSpPr>
              <p:nvPr/>
            </p:nvSpPr>
            <p:spPr bwMode="auto">
              <a:xfrm>
                <a:off x="4439" y="3170"/>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96" name="AutoShape 567"/>
              <p:cNvSpPr>
                <a:spLocks noChangeAspect="1" noChangeArrowheads="1"/>
              </p:cNvSpPr>
              <p:nvPr/>
            </p:nvSpPr>
            <p:spPr bwMode="auto">
              <a:xfrm>
                <a:off x="4439" y="3190"/>
                <a:ext cx="4"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97" name="AutoShape 568"/>
              <p:cNvSpPr>
                <a:spLocks noChangeAspect="1" noChangeArrowheads="1"/>
              </p:cNvSpPr>
              <p:nvPr/>
            </p:nvSpPr>
            <p:spPr bwMode="auto">
              <a:xfrm>
                <a:off x="4368" y="319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98" name="AutoShape 569"/>
              <p:cNvSpPr>
                <a:spLocks noChangeAspect="1" noChangeArrowheads="1"/>
              </p:cNvSpPr>
              <p:nvPr/>
            </p:nvSpPr>
            <p:spPr bwMode="auto">
              <a:xfrm>
                <a:off x="4407" y="321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99" name="AutoShape 570"/>
              <p:cNvSpPr>
                <a:spLocks noChangeAspect="1" noChangeArrowheads="1"/>
              </p:cNvSpPr>
              <p:nvPr/>
            </p:nvSpPr>
            <p:spPr bwMode="auto">
              <a:xfrm>
                <a:off x="4391" y="3224"/>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0" name="AutoShape 571"/>
              <p:cNvSpPr>
                <a:spLocks noChangeAspect="1" noChangeArrowheads="1"/>
              </p:cNvSpPr>
              <p:nvPr/>
            </p:nvSpPr>
            <p:spPr bwMode="auto">
              <a:xfrm>
                <a:off x="4391" y="3216"/>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1" name="AutoShape 572"/>
              <p:cNvSpPr>
                <a:spLocks noChangeAspect="1" noChangeArrowheads="1"/>
              </p:cNvSpPr>
              <p:nvPr/>
            </p:nvSpPr>
            <p:spPr bwMode="auto">
              <a:xfrm>
                <a:off x="4489" y="317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2" name="AutoShape 573"/>
              <p:cNvSpPr>
                <a:spLocks noChangeAspect="1" noChangeArrowheads="1"/>
              </p:cNvSpPr>
              <p:nvPr/>
            </p:nvSpPr>
            <p:spPr bwMode="auto">
              <a:xfrm>
                <a:off x="4506" y="318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3" name="AutoShape 574"/>
              <p:cNvSpPr>
                <a:spLocks noChangeAspect="1" noChangeArrowheads="1"/>
              </p:cNvSpPr>
              <p:nvPr/>
            </p:nvSpPr>
            <p:spPr bwMode="auto">
              <a:xfrm>
                <a:off x="4452" y="3182"/>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4" name="AutoShape 575"/>
              <p:cNvSpPr>
                <a:spLocks noChangeAspect="1" noChangeArrowheads="1"/>
              </p:cNvSpPr>
              <p:nvPr/>
            </p:nvSpPr>
            <p:spPr bwMode="auto">
              <a:xfrm>
                <a:off x="4473" y="317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5" name="AutoShape 576"/>
              <p:cNvSpPr>
                <a:spLocks noChangeAspect="1" noChangeArrowheads="1"/>
              </p:cNvSpPr>
              <p:nvPr/>
            </p:nvSpPr>
            <p:spPr bwMode="auto">
              <a:xfrm>
                <a:off x="4522" y="3213"/>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6" name="AutoShape 577"/>
              <p:cNvSpPr>
                <a:spLocks noChangeAspect="1" noChangeArrowheads="1"/>
              </p:cNvSpPr>
              <p:nvPr/>
            </p:nvSpPr>
            <p:spPr bwMode="auto">
              <a:xfrm>
                <a:off x="4522" y="322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7" name="AutoShape 578"/>
              <p:cNvSpPr>
                <a:spLocks noChangeAspect="1" noChangeArrowheads="1"/>
              </p:cNvSpPr>
              <p:nvPr/>
            </p:nvSpPr>
            <p:spPr bwMode="auto">
              <a:xfrm flipV="1">
                <a:off x="4589" y="318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8" name="AutoShape 579"/>
              <p:cNvSpPr>
                <a:spLocks noChangeAspect="1" noChangeArrowheads="1"/>
              </p:cNvSpPr>
              <p:nvPr/>
            </p:nvSpPr>
            <p:spPr bwMode="auto">
              <a:xfrm>
                <a:off x="4575" y="3195"/>
                <a:ext cx="5"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9" name="AutoShape 580"/>
              <p:cNvSpPr>
                <a:spLocks noChangeAspect="1" noChangeArrowheads="1"/>
              </p:cNvSpPr>
              <p:nvPr/>
            </p:nvSpPr>
            <p:spPr bwMode="auto">
              <a:xfrm flipV="1">
                <a:off x="4558" y="3207"/>
                <a:ext cx="6"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0" name="AutoShape 581"/>
              <p:cNvSpPr>
                <a:spLocks noChangeAspect="1" noChangeArrowheads="1"/>
              </p:cNvSpPr>
              <p:nvPr/>
            </p:nvSpPr>
            <p:spPr bwMode="auto">
              <a:xfrm>
                <a:off x="4541" y="3221"/>
                <a:ext cx="5"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1" name="AutoShape 582"/>
              <p:cNvSpPr>
                <a:spLocks noChangeAspect="1" noChangeArrowheads="1"/>
              </p:cNvSpPr>
              <p:nvPr/>
            </p:nvSpPr>
            <p:spPr bwMode="auto">
              <a:xfrm flipV="1">
                <a:off x="4643" y="3182"/>
                <a:ext cx="6"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2" name="AutoShape 583"/>
              <p:cNvSpPr>
                <a:spLocks noChangeAspect="1" noChangeArrowheads="1"/>
              </p:cNvSpPr>
              <p:nvPr/>
            </p:nvSpPr>
            <p:spPr bwMode="auto">
              <a:xfrm>
                <a:off x="4626" y="316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3" name="AutoShape 584"/>
              <p:cNvSpPr>
                <a:spLocks noChangeAspect="1" noChangeArrowheads="1"/>
              </p:cNvSpPr>
              <p:nvPr/>
            </p:nvSpPr>
            <p:spPr bwMode="auto">
              <a:xfrm>
                <a:off x="4612" y="3170"/>
                <a:ext cx="5"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4" name="AutoShape 585"/>
              <p:cNvSpPr>
                <a:spLocks noChangeAspect="1" noChangeArrowheads="1"/>
              </p:cNvSpPr>
              <p:nvPr/>
            </p:nvSpPr>
            <p:spPr bwMode="auto">
              <a:xfrm>
                <a:off x="4714" y="3199"/>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5" name="AutoShape 586"/>
              <p:cNvSpPr>
                <a:spLocks noChangeAspect="1" noChangeArrowheads="1"/>
              </p:cNvSpPr>
              <p:nvPr/>
            </p:nvSpPr>
            <p:spPr bwMode="auto">
              <a:xfrm>
                <a:off x="4694" y="3212"/>
                <a:ext cx="6"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6" name="AutoShape 587"/>
              <p:cNvSpPr>
                <a:spLocks noChangeAspect="1" noChangeArrowheads="1"/>
              </p:cNvSpPr>
              <p:nvPr/>
            </p:nvSpPr>
            <p:spPr bwMode="auto">
              <a:xfrm>
                <a:off x="4658" y="320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7" name="AutoShape 588"/>
              <p:cNvSpPr>
                <a:spLocks noChangeAspect="1" noChangeArrowheads="1"/>
              </p:cNvSpPr>
              <p:nvPr/>
            </p:nvSpPr>
            <p:spPr bwMode="auto">
              <a:xfrm flipV="1">
                <a:off x="4680" y="3211"/>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8" name="AutoShape 589"/>
              <p:cNvSpPr>
                <a:spLocks noChangeAspect="1" noChangeArrowheads="1"/>
              </p:cNvSpPr>
              <p:nvPr/>
            </p:nvSpPr>
            <p:spPr bwMode="auto">
              <a:xfrm flipV="1">
                <a:off x="4680" y="3222"/>
                <a:ext cx="5"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9" name="AutoShape 590"/>
              <p:cNvSpPr>
                <a:spLocks noChangeAspect="1" noChangeArrowheads="1"/>
              </p:cNvSpPr>
              <p:nvPr/>
            </p:nvSpPr>
            <p:spPr bwMode="auto">
              <a:xfrm>
                <a:off x="4728" y="3186"/>
                <a:ext cx="6"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0" name="AutoShape 591"/>
              <p:cNvSpPr>
                <a:spLocks noChangeAspect="1" noChangeArrowheads="1"/>
              </p:cNvSpPr>
              <p:nvPr/>
            </p:nvSpPr>
            <p:spPr bwMode="auto">
              <a:xfrm>
                <a:off x="4748" y="317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1" name="AutoShape 592"/>
              <p:cNvSpPr>
                <a:spLocks noChangeAspect="1" noChangeArrowheads="1"/>
              </p:cNvSpPr>
              <p:nvPr/>
            </p:nvSpPr>
            <p:spPr bwMode="auto">
              <a:xfrm>
                <a:off x="4780" y="317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2" name="AutoShape 593"/>
              <p:cNvSpPr>
                <a:spLocks noChangeAspect="1" noChangeArrowheads="1"/>
              </p:cNvSpPr>
              <p:nvPr/>
            </p:nvSpPr>
            <p:spPr bwMode="auto">
              <a:xfrm>
                <a:off x="4796" y="3197"/>
                <a:ext cx="6"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3" name="AutoShape 594"/>
              <p:cNvSpPr>
                <a:spLocks noChangeAspect="1" noChangeArrowheads="1"/>
              </p:cNvSpPr>
              <p:nvPr/>
            </p:nvSpPr>
            <p:spPr bwMode="auto">
              <a:xfrm>
                <a:off x="4764" y="317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4" name="AutoShape 595"/>
              <p:cNvSpPr>
                <a:spLocks noChangeAspect="1" noChangeArrowheads="1"/>
              </p:cNvSpPr>
              <p:nvPr/>
            </p:nvSpPr>
            <p:spPr bwMode="auto">
              <a:xfrm>
                <a:off x="4905" y="3169"/>
                <a:ext cx="6"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5" name="AutoShape 596"/>
              <p:cNvSpPr>
                <a:spLocks noChangeAspect="1" noChangeArrowheads="1"/>
              </p:cNvSpPr>
              <p:nvPr/>
            </p:nvSpPr>
            <p:spPr bwMode="auto">
              <a:xfrm>
                <a:off x="4992" y="320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6" name="AutoShape 597"/>
              <p:cNvSpPr>
                <a:spLocks noChangeAspect="1" noChangeArrowheads="1"/>
              </p:cNvSpPr>
              <p:nvPr/>
            </p:nvSpPr>
            <p:spPr bwMode="auto">
              <a:xfrm>
                <a:off x="4921" y="317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7" name="AutoShape 598"/>
              <p:cNvSpPr>
                <a:spLocks noChangeAspect="1" noChangeArrowheads="1"/>
              </p:cNvSpPr>
              <p:nvPr/>
            </p:nvSpPr>
            <p:spPr bwMode="auto">
              <a:xfrm>
                <a:off x="5008" y="3189"/>
                <a:ext cx="5"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8" name="AutoShape 599"/>
              <p:cNvSpPr>
                <a:spLocks noChangeAspect="1" noChangeArrowheads="1"/>
              </p:cNvSpPr>
              <p:nvPr/>
            </p:nvSpPr>
            <p:spPr bwMode="auto">
              <a:xfrm>
                <a:off x="4937" y="319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9" name="AutoShape 600"/>
              <p:cNvSpPr>
                <a:spLocks noChangeAspect="1" noChangeArrowheads="1"/>
              </p:cNvSpPr>
              <p:nvPr/>
            </p:nvSpPr>
            <p:spPr bwMode="auto">
              <a:xfrm>
                <a:off x="4976" y="321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0" name="AutoShape 601"/>
              <p:cNvSpPr>
                <a:spLocks noChangeAspect="1" noChangeArrowheads="1"/>
              </p:cNvSpPr>
              <p:nvPr/>
            </p:nvSpPr>
            <p:spPr bwMode="auto">
              <a:xfrm>
                <a:off x="4960" y="3224"/>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1" name="AutoShape 602"/>
              <p:cNvSpPr>
                <a:spLocks noChangeAspect="1" noChangeArrowheads="1"/>
              </p:cNvSpPr>
              <p:nvPr/>
            </p:nvSpPr>
            <p:spPr bwMode="auto">
              <a:xfrm>
                <a:off x="4960" y="3216"/>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2" name="AutoShape 603"/>
              <p:cNvSpPr>
                <a:spLocks noChangeAspect="1" noChangeArrowheads="1"/>
              </p:cNvSpPr>
              <p:nvPr/>
            </p:nvSpPr>
            <p:spPr bwMode="auto">
              <a:xfrm>
                <a:off x="5058" y="3172"/>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3" name="AutoShape 604"/>
              <p:cNvSpPr>
                <a:spLocks noChangeAspect="1" noChangeArrowheads="1"/>
              </p:cNvSpPr>
              <p:nvPr/>
            </p:nvSpPr>
            <p:spPr bwMode="auto">
              <a:xfrm>
                <a:off x="5074" y="318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4" name="AutoShape 605"/>
              <p:cNvSpPr>
                <a:spLocks noChangeAspect="1" noChangeArrowheads="1"/>
              </p:cNvSpPr>
              <p:nvPr/>
            </p:nvSpPr>
            <p:spPr bwMode="auto">
              <a:xfrm>
                <a:off x="5022" y="318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5" name="AutoShape 606"/>
              <p:cNvSpPr>
                <a:spLocks noChangeAspect="1" noChangeArrowheads="1"/>
              </p:cNvSpPr>
              <p:nvPr/>
            </p:nvSpPr>
            <p:spPr bwMode="auto">
              <a:xfrm>
                <a:off x="5041" y="317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6" name="AutoShape 607"/>
              <p:cNvSpPr>
                <a:spLocks noChangeAspect="1" noChangeArrowheads="1"/>
              </p:cNvSpPr>
              <p:nvPr/>
            </p:nvSpPr>
            <p:spPr bwMode="auto">
              <a:xfrm>
                <a:off x="5090" y="3213"/>
                <a:ext cx="6"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7" name="AutoShape 608"/>
              <p:cNvSpPr>
                <a:spLocks noChangeAspect="1" noChangeArrowheads="1"/>
              </p:cNvSpPr>
              <p:nvPr/>
            </p:nvSpPr>
            <p:spPr bwMode="auto">
              <a:xfrm flipV="1">
                <a:off x="5157" y="318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8" name="AutoShape 609"/>
              <p:cNvSpPr>
                <a:spLocks noChangeAspect="1" noChangeArrowheads="1"/>
              </p:cNvSpPr>
              <p:nvPr/>
            </p:nvSpPr>
            <p:spPr bwMode="auto">
              <a:xfrm>
                <a:off x="5143" y="3195"/>
                <a:ext cx="6"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9" name="AutoShape 610"/>
              <p:cNvSpPr>
                <a:spLocks noChangeAspect="1" noChangeArrowheads="1"/>
              </p:cNvSpPr>
              <p:nvPr/>
            </p:nvSpPr>
            <p:spPr bwMode="auto">
              <a:xfrm flipV="1">
                <a:off x="5127" y="3207"/>
                <a:ext cx="5"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0" name="AutoShape 611"/>
              <p:cNvSpPr>
                <a:spLocks noChangeAspect="1" noChangeArrowheads="1"/>
              </p:cNvSpPr>
              <p:nvPr/>
            </p:nvSpPr>
            <p:spPr bwMode="auto">
              <a:xfrm>
                <a:off x="5111" y="3221"/>
                <a:ext cx="4"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1" name="AutoShape 612"/>
              <p:cNvSpPr>
                <a:spLocks noChangeAspect="1" noChangeArrowheads="1"/>
              </p:cNvSpPr>
              <p:nvPr/>
            </p:nvSpPr>
            <p:spPr bwMode="auto">
              <a:xfrm flipV="1">
                <a:off x="5212" y="318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2" name="AutoShape 613"/>
              <p:cNvSpPr>
                <a:spLocks noChangeAspect="1" noChangeArrowheads="1"/>
              </p:cNvSpPr>
              <p:nvPr/>
            </p:nvSpPr>
            <p:spPr bwMode="auto">
              <a:xfrm>
                <a:off x="5194" y="316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3" name="AutoShape 614"/>
              <p:cNvSpPr>
                <a:spLocks noChangeAspect="1" noChangeArrowheads="1"/>
              </p:cNvSpPr>
              <p:nvPr/>
            </p:nvSpPr>
            <p:spPr bwMode="auto">
              <a:xfrm>
                <a:off x="5180" y="3170"/>
                <a:ext cx="6"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4" name="AutoShape 615"/>
              <p:cNvSpPr>
                <a:spLocks noChangeAspect="1" noChangeArrowheads="1"/>
              </p:cNvSpPr>
              <p:nvPr/>
            </p:nvSpPr>
            <p:spPr bwMode="auto">
              <a:xfrm>
                <a:off x="5281" y="319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5" name="AutoShape 616"/>
              <p:cNvSpPr>
                <a:spLocks noChangeAspect="1" noChangeArrowheads="1"/>
              </p:cNvSpPr>
              <p:nvPr/>
            </p:nvSpPr>
            <p:spPr bwMode="auto">
              <a:xfrm>
                <a:off x="5263" y="3212"/>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6" name="AutoShape 617"/>
              <p:cNvSpPr>
                <a:spLocks noChangeAspect="1" noChangeArrowheads="1"/>
              </p:cNvSpPr>
              <p:nvPr/>
            </p:nvSpPr>
            <p:spPr bwMode="auto">
              <a:xfrm>
                <a:off x="5226" y="320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7" name="AutoShape 618"/>
              <p:cNvSpPr>
                <a:spLocks noChangeAspect="1" noChangeArrowheads="1"/>
              </p:cNvSpPr>
              <p:nvPr/>
            </p:nvSpPr>
            <p:spPr bwMode="auto">
              <a:xfrm flipV="1">
                <a:off x="5247" y="3211"/>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8" name="AutoShape 619"/>
              <p:cNvSpPr>
                <a:spLocks noChangeAspect="1" noChangeArrowheads="1"/>
              </p:cNvSpPr>
              <p:nvPr/>
            </p:nvSpPr>
            <p:spPr bwMode="auto">
              <a:xfrm flipV="1">
                <a:off x="5247" y="3222"/>
                <a:ext cx="6"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9" name="AutoShape 620"/>
              <p:cNvSpPr>
                <a:spLocks noChangeAspect="1" noChangeArrowheads="1"/>
              </p:cNvSpPr>
              <p:nvPr/>
            </p:nvSpPr>
            <p:spPr bwMode="auto">
              <a:xfrm>
                <a:off x="5297" y="3186"/>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0" name="AutoShape 621"/>
              <p:cNvSpPr>
                <a:spLocks noChangeAspect="1" noChangeArrowheads="1"/>
              </p:cNvSpPr>
              <p:nvPr/>
            </p:nvSpPr>
            <p:spPr bwMode="auto">
              <a:xfrm>
                <a:off x="5316" y="317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1" name="AutoShape 622"/>
              <p:cNvSpPr>
                <a:spLocks noChangeAspect="1" noChangeArrowheads="1"/>
              </p:cNvSpPr>
              <p:nvPr/>
            </p:nvSpPr>
            <p:spPr bwMode="auto">
              <a:xfrm>
                <a:off x="5348" y="317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2" name="AutoShape 623"/>
              <p:cNvSpPr>
                <a:spLocks noChangeAspect="1" noChangeArrowheads="1"/>
              </p:cNvSpPr>
              <p:nvPr/>
            </p:nvSpPr>
            <p:spPr bwMode="auto">
              <a:xfrm>
                <a:off x="5365" y="3197"/>
                <a:ext cx="5"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3" name="AutoShape 624"/>
              <p:cNvSpPr>
                <a:spLocks noChangeAspect="1" noChangeArrowheads="1"/>
              </p:cNvSpPr>
              <p:nvPr/>
            </p:nvSpPr>
            <p:spPr bwMode="auto">
              <a:xfrm>
                <a:off x="5332" y="317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4" name="AutoShape 625"/>
              <p:cNvSpPr>
                <a:spLocks noChangeAspect="1" noChangeArrowheads="1"/>
              </p:cNvSpPr>
              <p:nvPr/>
            </p:nvSpPr>
            <p:spPr bwMode="auto">
              <a:xfrm>
                <a:off x="4851" y="320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5" name="AutoShape 626"/>
              <p:cNvSpPr>
                <a:spLocks noChangeAspect="1" noChangeArrowheads="1"/>
              </p:cNvSpPr>
              <p:nvPr/>
            </p:nvSpPr>
            <p:spPr bwMode="auto">
              <a:xfrm>
                <a:off x="4867" y="3189"/>
                <a:ext cx="4"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6" name="AutoShape 627"/>
              <p:cNvSpPr>
                <a:spLocks noChangeAspect="1" noChangeArrowheads="1"/>
              </p:cNvSpPr>
              <p:nvPr/>
            </p:nvSpPr>
            <p:spPr bwMode="auto">
              <a:xfrm>
                <a:off x="4834" y="321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7" name="AutoShape 628"/>
              <p:cNvSpPr>
                <a:spLocks noChangeAspect="1" noChangeArrowheads="1"/>
              </p:cNvSpPr>
              <p:nvPr/>
            </p:nvSpPr>
            <p:spPr bwMode="auto">
              <a:xfrm>
                <a:off x="4817" y="3223"/>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8" name="AutoShape 629"/>
              <p:cNvSpPr>
                <a:spLocks noChangeAspect="1" noChangeArrowheads="1"/>
              </p:cNvSpPr>
              <p:nvPr/>
            </p:nvSpPr>
            <p:spPr bwMode="auto">
              <a:xfrm>
                <a:off x="4817" y="3215"/>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9" name="AutoShape 630"/>
              <p:cNvSpPr>
                <a:spLocks noChangeAspect="1" noChangeArrowheads="1"/>
              </p:cNvSpPr>
              <p:nvPr/>
            </p:nvSpPr>
            <p:spPr bwMode="auto">
              <a:xfrm flipV="1">
                <a:off x="4879" y="3182"/>
                <a:ext cx="5" cy="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60" name="Freeform 631"/>
              <p:cNvSpPr>
                <a:spLocks noChangeAspect="1"/>
              </p:cNvSpPr>
              <p:nvPr/>
            </p:nvSpPr>
            <p:spPr bwMode="auto">
              <a:xfrm flipH="1">
                <a:off x="5332"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61" name="Freeform 632"/>
              <p:cNvSpPr>
                <a:spLocks noChangeAspect="1"/>
              </p:cNvSpPr>
              <p:nvPr/>
            </p:nvSpPr>
            <p:spPr bwMode="auto">
              <a:xfrm flipH="1">
                <a:off x="5190"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62" name="Freeform 633"/>
              <p:cNvSpPr>
                <a:spLocks noChangeAspect="1"/>
              </p:cNvSpPr>
              <p:nvPr/>
            </p:nvSpPr>
            <p:spPr bwMode="auto">
              <a:xfrm flipH="1">
                <a:off x="5048"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63" name="Freeform 634"/>
              <p:cNvSpPr>
                <a:spLocks noChangeAspect="1"/>
              </p:cNvSpPr>
              <p:nvPr/>
            </p:nvSpPr>
            <p:spPr bwMode="auto">
              <a:xfrm flipH="1">
                <a:off x="4907"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64" name="Freeform 635"/>
              <p:cNvSpPr>
                <a:spLocks noChangeAspect="1"/>
              </p:cNvSpPr>
              <p:nvPr/>
            </p:nvSpPr>
            <p:spPr bwMode="auto">
              <a:xfrm flipH="1">
                <a:off x="4764"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65" name="Freeform 636"/>
              <p:cNvSpPr>
                <a:spLocks noChangeAspect="1"/>
              </p:cNvSpPr>
              <p:nvPr/>
            </p:nvSpPr>
            <p:spPr bwMode="auto">
              <a:xfrm flipH="1">
                <a:off x="4621"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66" name="Freeform 637"/>
              <p:cNvSpPr>
                <a:spLocks noChangeAspect="1"/>
              </p:cNvSpPr>
              <p:nvPr/>
            </p:nvSpPr>
            <p:spPr bwMode="auto">
              <a:xfrm flipH="1">
                <a:off x="4480"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67" name="Freeform 638"/>
              <p:cNvSpPr>
                <a:spLocks noChangeAspect="1"/>
              </p:cNvSpPr>
              <p:nvPr/>
            </p:nvSpPr>
            <p:spPr bwMode="auto">
              <a:xfrm flipH="1">
                <a:off x="4338"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7781" name="Group 639"/>
            <p:cNvGrpSpPr>
              <a:grpSpLocks noChangeAspect="1"/>
            </p:cNvGrpSpPr>
            <p:nvPr/>
          </p:nvGrpSpPr>
          <p:grpSpPr bwMode="auto">
            <a:xfrm>
              <a:off x="5488" y="2888"/>
              <a:ext cx="54" cy="71"/>
              <a:chOff x="3743" y="2439"/>
              <a:chExt cx="164" cy="216"/>
            </a:xfrm>
          </p:grpSpPr>
          <p:sp>
            <p:nvSpPr>
              <p:cNvPr id="147782" name="Freeform 640"/>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783" name="AutoShape 641"/>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sp>
        <p:nvSpPr>
          <p:cNvPr id="147472" name="Line 642"/>
          <p:cNvSpPr>
            <a:spLocks noChangeShapeType="1"/>
          </p:cNvSpPr>
          <p:nvPr/>
        </p:nvSpPr>
        <p:spPr bwMode="auto">
          <a:xfrm flipV="1">
            <a:off x="6229350" y="3943350"/>
            <a:ext cx="523875" cy="6477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3" name="Line 643"/>
          <p:cNvSpPr>
            <a:spLocks noChangeShapeType="1"/>
          </p:cNvSpPr>
          <p:nvPr/>
        </p:nvSpPr>
        <p:spPr bwMode="auto">
          <a:xfrm>
            <a:off x="6229350" y="4686300"/>
            <a:ext cx="466725" cy="1762125"/>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4" name="Line 644"/>
          <p:cNvSpPr>
            <a:spLocks noChangeShapeType="1"/>
          </p:cNvSpPr>
          <p:nvPr/>
        </p:nvSpPr>
        <p:spPr bwMode="auto">
          <a:xfrm>
            <a:off x="7448550" y="4143375"/>
            <a:ext cx="0" cy="371475"/>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5" name="Line 645"/>
          <p:cNvSpPr>
            <a:spLocks noChangeShapeType="1"/>
          </p:cNvSpPr>
          <p:nvPr/>
        </p:nvSpPr>
        <p:spPr bwMode="auto">
          <a:xfrm>
            <a:off x="7446963" y="4941888"/>
            <a:ext cx="9525" cy="790575"/>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6" name="Text Box 646"/>
          <p:cNvSpPr txBox="1">
            <a:spLocks noChangeArrowheads="1"/>
          </p:cNvSpPr>
          <p:nvPr/>
        </p:nvSpPr>
        <p:spPr bwMode="auto">
          <a:xfrm>
            <a:off x="7419975" y="4125913"/>
            <a:ext cx="12334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1000" b="1">
                <a:latin typeface="Arial" panose="020B0604020202020204" pitchFamily="34" charset="0"/>
              </a:rPr>
              <a:t>Denature purified</a:t>
            </a:r>
            <a:br>
              <a:rPr kumimoji="0" lang="en-US" altLang="zh-CN" sz="1000" b="1">
                <a:latin typeface="Arial" panose="020B0604020202020204" pitchFamily="34" charset="0"/>
              </a:rPr>
            </a:br>
            <a:r>
              <a:rPr kumimoji="0" lang="en-US" altLang="zh-CN" sz="1000" b="1">
                <a:latin typeface="Arial" panose="020B0604020202020204" pitchFamily="34" charset="0"/>
              </a:rPr>
              <a:t>DNA fragment</a:t>
            </a:r>
          </a:p>
        </p:txBody>
      </p:sp>
      <p:sp>
        <p:nvSpPr>
          <p:cNvPr id="147477" name="Text Box 647"/>
          <p:cNvSpPr txBox="1">
            <a:spLocks noChangeArrowheads="1"/>
          </p:cNvSpPr>
          <p:nvPr/>
        </p:nvSpPr>
        <p:spPr bwMode="auto">
          <a:xfrm>
            <a:off x="7575550" y="4868863"/>
            <a:ext cx="123825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000" b="1">
                <a:latin typeface="Arial" panose="020B0604020202020204" pitchFamily="34" charset="0"/>
              </a:rPr>
              <a:t>Add Klenow</a:t>
            </a:r>
            <a:br>
              <a:rPr kumimoji="0" lang="en-US" altLang="zh-CN" sz="1000" b="1">
                <a:latin typeface="Arial" panose="020B0604020202020204" pitchFamily="34" charset="0"/>
              </a:rPr>
            </a:br>
            <a:r>
              <a:rPr kumimoji="0" lang="en-US" altLang="zh-CN" sz="1000" b="1">
                <a:latin typeface="Arial" panose="020B0604020202020204" pitchFamily="34" charset="0"/>
              </a:rPr>
              <a:t>DNA Polymerase,</a:t>
            </a:r>
            <a:br>
              <a:rPr kumimoji="0" lang="en-US" altLang="zh-CN" sz="1000" b="1">
                <a:latin typeface="Arial" panose="020B0604020202020204" pitchFamily="34" charset="0"/>
              </a:rPr>
            </a:br>
            <a:r>
              <a:rPr kumimoji="0" lang="en-US" altLang="zh-CN" sz="1000" b="1">
                <a:latin typeface="Arial" panose="020B0604020202020204" pitchFamily="34" charset="0"/>
              </a:rPr>
              <a:t>random primers</a:t>
            </a:r>
            <a:br>
              <a:rPr kumimoji="0" lang="en-US" altLang="zh-CN" sz="1000" b="1">
                <a:latin typeface="Arial" panose="020B0604020202020204" pitchFamily="34" charset="0"/>
              </a:rPr>
            </a:br>
            <a:r>
              <a:rPr kumimoji="0" lang="en-US" altLang="zh-CN" sz="1000" b="1">
                <a:latin typeface="Arial" panose="020B0604020202020204" pitchFamily="34" charset="0"/>
              </a:rPr>
              <a:t>and labeled </a:t>
            </a:r>
            <a:br>
              <a:rPr kumimoji="0" lang="en-US" altLang="zh-CN" sz="1000" b="1">
                <a:latin typeface="Arial" panose="020B0604020202020204" pitchFamily="34" charset="0"/>
              </a:rPr>
            </a:br>
            <a:r>
              <a:rPr kumimoji="0" lang="en-US" altLang="zh-CN" sz="1000" b="1">
                <a:latin typeface="Arial" panose="020B0604020202020204" pitchFamily="34" charset="0"/>
              </a:rPr>
              <a:t>nucleotides</a:t>
            </a:r>
          </a:p>
        </p:txBody>
      </p:sp>
      <p:sp>
        <p:nvSpPr>
          <p:cNvPr id="147478" name="Text Box 648"/>
          <p:cNvSpPr txBox="1">
            <a:spLocks noChangeArrowheads="1"/>
          </p:cNvSpPr>
          <p:nvPr/>
        </p:nvSpPr>
        <p:spPr bwMode="auto">
          <a:xfrm>
            <a:off x="3144838" y="4057650"/>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zh-CN" sz="1400" b="1">
              <a:solidFill>
                <a:srgbClr val="009900"/>
              </a:solidFill>
              <a:latin typeface="Arial" panose="020B0604020202020204" pitchFamily="34" charset="0"/>
            </a:endParaRPr>
          </a:p>
        </p:txBody>
      </p:sp>
      <p:sp>
        <p:nvSpPr>
          <p:cNvPr id="147479" name="Text Box 649"/>
          <p:cNvSpPr txBox="1">
            <a:spLocks noChangeArrowheads="1"/>
          </p:cNvSpPr>
          <p:nvPr/>
        </p:nvSpPr>
        <p:spPr bwMode="auto">
          <a:xfrm>
            <a:off x="3114675" y="3636963"/>
            <a:ext cx="25384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4. Hybridize denatured</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probe with the membrane</a:t>
            </a:r>
          </a:p>
        </p:txBody>
      </p:sp>
      <p:grpSp>
        <p:nvGrpSpPr>
          <p:cNvPr id="147480" name="Group 650"/>
          <p:cNvGrpSpPr/>
          <p:nvPr/>
        </p:nvGrpSpPr>
        <p:grpSpPr bwMode="auto">
          <a:xfrm>
            <a:off x="3619500" y="5006975"/>
            <a:ext cx="1563688" cy="457200"/>
            <a:chOff x="2280" y="3154"/>
            <a:chExt cx="985" cy="288"/>
          </a:xfrm>
        </p:grpSpPr>
        <p:sp>
          <p:nvSpPr>
            <p:cNvPr id="147778" name="Rectangle 651"/>
            <p:cNvSpPr>
              <a:spLocks noChangeArrowheads="1"/>
            </p:cNvSpPr>
            <p:nvPr/>
          </p:nvSpPr>
          <p:spPr bwMode="auto">
            <a:xfrm>
              <a:off x="2310" y="3366"/>
              <a:ext cx="936" cy="48"/>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79" name="Freeform 652"/>
            <p:cNvSpPr>
              <a:spLocks noChangeAspect="1"/>
            </p:cNvSpPr>
            <p:nvPr/>
          </p:nvSpPr>
          <p:spPr bwMode="auto">
            <a:xfrm>
              <a:off x="2280" y="3154"/>
              <a:ext cx="985" cy="288"/>
            </a:xfrm>
            <a:custGeom>
              <a:avLst/>
              <a:gdLst>
                <a:gd name="T0" fmla="*/ 0 w 1636"/>
                <a:gd name="T1" fmla="*/ 0 h 479"/>
                <a:gd name="T2" fmla="*/ 0 w 1636"/>
                <a:gd name="T3" fmla="*/ 63 h 479"/>
                <a:gd name="T4" fmla="*/ 55 w 1636"/>
                <a:gd name="T5" fmla="*/ 63 h 479"/>
                <a:gd name="T6" fmla="*/ 154 w 1636"/>
                <a:gd name="T7" fmla="*/ 61 h 479"/>
                <a:gd name="T8" fmla="*/ 215 w 1636"/>
                <a:gd name="T9" fmla="*/ 61 h 479"/>
                <a:gd name="T10" fmla="*/ 215 w 1636"/>
                <a:gd name="T11" fmla="*/ 0 h 479"/>
                <a:gd name="T12" fmla="*/ 207 w 1636"/>
                <a:gd name="T13" fmla="*/ 0 h 479"/>
                <a:gd name="T14" fmla="*/ 207 w 1636"/>
                <a:gd name="T15" fmla="*/ 51 h 479"/>
                <a:gd name="T16" fmla="*/ 8 w 1636"/>
                <a:gd name="T17" fmla="*/ 53 h 479"/>
                <a:gd name="T18" fmla="*/ 8 w 1636"/>
                <a:gd name="T19" fmla="*/ 0 h 479"/>
                <a:gd name="T20" fmla="*/ 0 w 1636"/>
                <a:gd name="T21" fmla="*/ 0 h 4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36"/>
                <a:gd name="T34" fmla="*/ 0 h 479"/>
                <a:gd name="T35" fmla="*/ 1636 w 1636"/>
                <a:gd name="T36" fmla="*/ 479 h 4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36" h="479">
                  <a:moveTo>
                    <a:pt x="0" y="0"/>
                  </a:moveTo>
                  <a:lnTo>
                    <a:pt x="0" y="479"/>
                  </a:lnTo>
                  <a:lnTo>
                    <a:pt x="421" y="479"/>
                  </a:lnTo>
                  <a:lnTo>
                    <a:pt x="1168" y="470"/>
                  </a:lnTo>
                  <a:lnTo>
                    <a:pt x="1636" y="470"/>
                  </a:lnTo>
                  <a:lnTo>
                    <a:pt x="1636" y="0"/>
                  </a:lnTo>
                  <a:lnTo>
                    <a:pt x="1578" y="0"/>
                  </a:lnTo>
                  <a:lnTo>
                    <a:pt x="1575" y="395"/>
                  </a:lnTo>
                  <a:lnTo>
                    <a:pt x="67" y="404"/>
                  </a:lnTo>
                  <a:lnTo>
                    <a:pt x="67" y="0"/>
                  </a:lnTo>
                  <a:lnTo>
                    <a:pt x="0" y="0"/>
                  </a:lnTo>
                  <a:close/>
                </a:path>
              </a:pathLst>
            </a:custGeom>
            <a:solidFill>
              <a:srgbClr val="4D4D4D"/>
            </a:solidFill>
            <a:ln w="12700">
              <a:solidFill>
                <a:schemeClr val="bg2"/>
              </a:solidFill>
              <a:round/>
            </a:ln>
          </p:spPr>
          <p:txBody>
            <a:bodyPr wrap="none" anchor="ctr"/>
            <a:lstStyle/>
            <a:p>
              <a:endParaRPr lang="zh-CN" altLang="en-US"/>
            </a:p>
          </p:txBody>
        </p:sp>
      </p:grpSp>
      <p:sp>
        <p:nvSpPr>
          <p:cNvPr id="147481" name="Freeform 653"/>
          <p:cNvSpPr/>
          <p:nvPr/>
        </p:nvSpPr>
        <p:spPr bwMode="auto">
          <a:xfrm>
            <a:off x="4362450" y="2943225"/>
            <a:ext cx="2095500" cy="2133600"/>
          </a:xfrm>
          <a:custGeom>
            <a:avLst/>
            <a:gdLst>
              <a:gd name="T0" fmla="*/ 2147483646 w 1320"/>
              <a:gd name="T1" fmla="*/ 0 h 1344"/>
              <a:gd name="T2" fmla="*/ 2147483646 w 1320"/>
              <a:gd name="T3" fmla="*/ 2147483646 h 1344"/>
              <a:gd name="T4" fmla="*/ 0 w 1320"/>
              <a:gd name="T5" fmla="*/ 2147483646 h 1344"/>
              <a:gd name="T6" fmla="*/ 0 60000 65536"/>
              <a:gd name="T7" fmla="*/ 0 60000 65536"/>
              <a:gd name="T8" fmla="*/ 0 60000 65536"/>
              <a:gd name="T9" fmla="*/ 0 w 1320"/>
              <a:gd name="T10" fmla="*/ 0 h 1344"/>
              <a:gd name="T11" fmla="*/ 1320 w 1320"/>
              <a:gd name="T12" fmla="*/ 1344 h 1344"/>
            </a:gdLst>
            <a:ahLst/>
            <a:cxnLst>
              <a:cxn ang="T6">
                <a:pos x="T0" y="T1"/>
              </a:cxn>
              <a:cxn ang="T7">
                <a:pos x="T2" y="T3"/>
              </a:cxn>
              <a:cxn ang="T8">
                <a:pos x="T4" y="T5"/>
              </a:cxn>
            </a:cxnLst>
            <a:rect l="T9" t="T10" r="T11" b="T12"/>
            <a:pathLst>
              <a:path w="1320" h="1344">
                <a:moveTo>
                  <a:pt x="1320" y="0"/>
                </a:moveTo>
                <a:cubicBezTo>
                  <a:pt x="1226" y="126"/>
                  <a:pt x="976" y="532"/>
                  <a:pt x="756" y="756"/>
                </a:cubicBezTo>
                <a:cubicBezTo>
                  <a:pt x="536" y="980"/>
                  <a:pt x="158" y="1222"/>
                  <a:pt x="0" y="1344"/>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7482" name="Freeform 654"/>
          <p:cNvSpPr/>
          <p:nvPr/>
        </p:nvSpPr>
        <p:spPr bwMode="auto">
          <a:xfrm>
            <a:off x="4410075" y="4552950"/>
            <a:ext cx="1438275" cy="581025"/>
          </a:xfrm>
          <a:custGeom>
            <a:avLst/>
            <a:gdLst>
              <a:gd name="T0" fmla="*/ 2147483646 w 906"/>
              <a:gd name="T1" fmla="*/ 0 h 366"/>
              <a:gd name="T2" fmla="*/ 2147483646 w 906"/>
              <a:gd name="T3" fmla="*/ 2147483646 h 366"/>
              <a:gd name="T4" fmla="*/ 0 w 906"/>
              <a:gd name="T5" fmla="*/ 2147483646 h 366"/>
              <a:gd name="T6" fmla="*/ 0 60000 65536"/>
              <a:gd name="T7" fmla="*/ 0 60000 65536"/>
              <a:gd name="T8" fmla="*/ 0 60000 65536"/>
              <a:gd name="T9" fmla="*/ 0 w 906"/>
              <a:gd name="T10" fmla="*/ 0 h 366"/>
              <a:gd name="T11" fmla="*/ 906 w 906"/>
              <a:gd name="T12" fmla="*/ 366 h 366"/>
            </a:gdLst>
            <a:ahLst/>
            <a:cxnLst>
              <a:cxn ang="T6">
                <a:pos x="T0" y="T1"/>
              </a:cxn>
              <a:cxn ang="T7">
                <a:pos x="T2" y="T3"/>
              </a:cxn>
              <a:cxn ang="T8">
                <a:pos x="T4" y="T5"/>
              </a:cxn>
            </a:cxnLst>
            <a:rect l="T9" t="T10" r="T11" b="T12"/>
            <a:pathLst>
              <a:path w="906" h="366">
                <a:moveTo>
                  <a:pt x="906" y="0"/>
                </a:moveTo>
                <a:cubicBezTo>
                  <a:pt x="783" y="2"/>
                  <a:pt x="661" y="5"/>
                  <a:pt x="510" y="66"/>
                </a:cubicBezTo>
                <a:cubicBezTo>
                  <a:pt x="359" y="127"/>
                  <a:pt x="179" y="246"/>
                  <a:pt x="0" y="366"/>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7483" name="Line 655"/>
          <p:cNvSpPr>
            <a:spLocks noChangeShapeType="1"/>
          </p:cNvSpPr>
          <p:nvPr/>
        </p:nvSpPr>
        <p:spPr bwMode="auto">
          <a:xfrm flipH="1">
            <a:off x="2857500" y="5257800"/>
            <a:ext cx="514350" cy="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4" name="Text Box 656"/>
          <p:cNvSpPr txBox="1">
            <a:spLocks noChangeArrowheads="1"/>
          </p:cNvSpPr>
          <p:nvPr/>
        </p:nvSpPr>
        <p:spPr bwMode="auto">
          <a:xfrm>
            <a:off x="431800" y="3668713"/>
            <a:ext cx="24368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5. Wash the membrane </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and expose with the film</a:t>
            </a:r>
          </a:p>
        </p:txBody>
      </p:sp>
      <p:grpSp>
        <p:nvGrpSpPr>
          <p:cNvPr id="147485" name="Group 657"/>
          <p:cNvGrpSpPr/>
          <p:nvPr/>
        </p:nvGrpSpPr>
        <p:grpSpPr bwMode="auto">
          <a:xfrm>
            <a:off x="6761163" y="6146800"/>
            <a:ext cx="1901825" cy="361950"/>
            <a:chOff x="4259" y="3872"/>
            <a:chExt cx="1198" cy="228"/>
          </a:xfrm>
        </p:grpSpPr>
        <p:grpSp>
          <p:nvGrpSpPr>
            <p:cNvPr id="147669" name="Group 658"/>
            <p:cNvGrpSpPr/>
            <p:nvPr/>
          </p:nvGrpSpPr>
          <p:grpSpPr bwMode="auto">
            <a:xfrm>
              <a:off x="4259" y="3948"/>
              <a:ext cx="1139" cy="69"/>
              <a:chOff x="4313" y="4088"/>
              <a:chExt cx="1139" cy="69"/>
            </a:xfrm>
          </p:grpSpPr>
          <p:sp>
            <p:nvSpPr>
              <p:cNvPr id="147676" name="Freeform 659"/>
              <p:cNvSpPr>
                <a:spLocks noChangeAspect="1"/>
              </p:cNvSpPr>
              <p:nvPr/>
            </p:nvSpPr>
            <p:spPr bwMode="auto">
              <a:xfrm>
                <a:off x="4455"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77" name="Freeform 660"/>
              <p:cNvSpPr>
                <a:spLocks noChangeAspect="1"/>
              </p:cNvSpPr>
              <p:nvPr/>
            </p:nvSpPr>
            <p:spPr bwMode="auto">
              <a:xfrm>
                <a:off x="4414"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78" name="Freeform 661"/>
              <p:cNvSpPr>
                <a:spLocks noChangeAspect="1"/>
              </p:cNvSpPr>
              <p:nvPr/>
            </p:nvSpPr>
            <p:spPr bwMode="auto">
              <a:xfrm>
                <a:off x="4597"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79" name="Freeform 662"/>
              <p:cNvSpPr>
                <a:spLocks noChangeAspect="1"/>
              </p:cNvSpPr>
              <p:nvPr/>
            </p:nvSpPr>
            <p:spPr bwMode="auto">
              <a:xfrm>
                <a:off x="4556"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80" name="Freeform 663"/>
              <p:cNvSpPr>
                <a:spLocks noChangeAspect="1"/>
              </p:cNvSpPr>
              <p:nvPr/>
            </p:nvSpPr>
            <p:spPr bwMode="auto">
              <a:xfrm>
                <a:off x="4739"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81" name="Freeform 664"/>
              <p:cNvSpPr>
                <a:spLocks noChangeAspect="1"/>
              </p:cNvSpPr>
              <p:nvPr/>
            </p:nvSpPr>
            <p:spPr bwMode="auto">
              <a:xfrm>
                <a:off x="4881"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82" name="Freeform 665"/>
              <p:cNvSpPr>
                <a:spLocks noChangeAspect="1"/>
              </p:cNvSpPr>
              <p:nvPr/>
            </p:nvSpPr>
            <p:spPr bwMode="auto">
              <a:xfrm>
                <a:off x="502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83" name="Freeform 666"/>
              <p:cNvSpPr>
                <a:spLocks noChangeAspect="1"/>
              </p:cNvSpPr>
              <p:nvPr/>
            </p:nvSpPr>
            <p:spPr bwMode="auto">
              <a:xfrm>
                <a:off x="5165"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84" name="Freeform 667"/>
              <p:cNvSpPr>
                <a:spLocks noChangeAspect="1"/>
              </p:cNvSpPr>
              <p:nvPr/>
            </p:nvSpPr>
            <p:spPr bwMode="auto">
              <a:xfrm>
                <a:off x="5307"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85" name="Freeform 668"/>
              <p:cNvSpPr>
                <a:spLocks noChangeAspect="1"/>
              </p:cNvSpPr>
              <p:nvPr/>
            </p:nvSpPr>
            <p:spPr bwMode="auto">
              <a:xfrm>
                <a:off x="431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86" name="AutoShape 669"/>
              <p:cNvSpPr>
                <a:spLocks noChangeAspect="1" noChangeArrowheads="1"/>
              </p:cNvSpPr>
              <p:nvPr/>
            </p:nvSpPr>
            <p:spPr bwMode="auto">
              <a:xfrm>
                <a:off x="4383" y="4089"/>
                <a:ext cx="5"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87" name="AutoShape 670"/>
              <p:cNvSpPr>
                <a:spLocks noChangeAspect="1" noChangeArrowheads="1"/>
              </p:cNvSpPr>
              <p:nvPr/>
            </p:nvSpPr>
            <p:spPr bwMode="auto">
              <a:xfrm>
                <a:off x="4383" y="4111"/>
                <a:ext cx="5"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88" name="AutoShape 671"/>
              <p:cNvSpPr>
                <a:spLocks noChangeAspect="1" noChangeArrowheads="1"/>
              </p:cNvSpPr>
              <p:nvPr/>
            </p:nvSpPr>
            <p:spPr bwMode="auto">
              <a:xfrm>
                <a:off x="4469" y="4097"/>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89" name="AutoShape 672"/>
              <p:cNvSpPr>
                <a:spLocks noChangeAspect="1" noChangeArrowheads="1"/>
              </p:cNvSpPr>
              <p:nvPr/>
            </p:nvSpPr>
            <p:spPr bwMode="auto">
              <a:xfrm>
                <a:off x="4469" y="4124"/>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0" name="AutoShape 673"/>
              <p:cNvSpPr>
                <a:spLocks noChangeAspect="1" noChangeArrowheads="1"/>
              </p:cNvSpPr>
              <p:nvPr/>
            </p:nvSpPr>
            <p:spPr bwMode="auto">
              <a:xfrm>
                <a:off x="4399" y="4123"/>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1" name="AutoShape 674"/>
              <p:cNvSpPr>
                <a:spLocks noChangeAspect="1" noChangeArrowheads="1"/>
              </p:cNvSpPr>
              <p:nvPr/>
            </p:nvSpPr>
            <p:spPr bwMode="auto">
              <a:xfrm>
                <a:off x="4399" y="409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2" name="AutoShape 675"/>
              <p:cNvSpPr>
                <a:spLocks noChangeAspect="1" noChangeArrowheads="1"/>
              </p:cNvSpPr>
              <p:nvPr/>
            </p:nvSpPr>
            <p:spPr bwMode="auto">
              <a:xfrm>
                <a:off x="4485" y="4090"/>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3" name="AutoShape 676"/>
              <p:cNvSpPr>
                <a:spLocks noChangeAspect="1" noChangeArrowheads="1"/>
              </p:cNvSpPr>
              <p:nvPr/>
            </p:nvSpPr>
            <p:spPr bwMode="auto">
              <a:xfrm>
                <a:off x="4485" y="4110"/>
                <a:ext cx="4"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4" name="AutoShape 677"/>
              <p:cNvSpPr>
                <a:spLocks noChangeAspect="1" noChangeArrowheads="1"/>
              </p:cNvSpPr>
              <p:nvPr/>
            </p:nvSpPr>
            <p:spPr bwMode="auto">
              <a:xfrm>
                <a:off x="4414" y="4135"/>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5" name="AutoShape 678"/>
              <p:cNvSpPr>
                <a:spLocks noChangeAspect="1" noChangeArrowheads="1"/>
              </p:cNvSpPr>
              <p:nvPr/>
            </p:nvSpPr>
            <p:spPr bwMode="auto">
              <a:xfrm>
                <a:off x="4414" y="411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6" name="AutoShape 679"/>
              <p:cNvSpPr>
                <a:spLocks noChangeAspect="1" noChangeArrowheads="1"/>
              </p:cNvSpPr>
              <p:nvPr/>
            </p:nvSpPr>
            <p:spPr bwMode="auto">
              <a:xfrm>
                <a:off x="4453" y="4113"/>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7" name="AutoShape 680"/>
              <p:cNvSpPr>
                <a:spLocks noChangeAspect="1" noChangeArrowheads="1"/>
              </p:cNvSpPr>
              <p:nvPr/>
            </p:nvSpPr>
            <p:spPr bwMode="auto">
              <a:xfrm>
                <a:off x="4453" y="413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8" name="AutoShape 681"/>
              <p:cNvSpPr>
                <a:spLocks noChangeAspect="1" noChangeArrowheads="1"/>
              </p:cNvSpPr>
              <p:nvPr/>
            </p:nvSpPr>
            <p:spPr bwMode="auto">
              <a:xfrm>
                <a:off x="4437" y="4144"/>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9" name="AutoShape 682"/>
              <p:cNvSpPr>
                <a:spLocks noChangeAspect="1" noChangeArrowheads="1"/>
              </p:cNvSpPr>
              <p:nvPr/>
            </p:nvSpPr>
            <p:spPr bwMode="auto">
              <a:xfrm>
                <a:off x="4437" y="4136"/>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0" name="AutoShape 683"/>
              <p:cNvSpPr>
                <a:spLocks noChangeAspect="1" noChangeArrowheads="1"/>
              </p:cNvSpPr>
              <p:nvPr/>
            </p:nvSpPr>
            <p:spPr bwMode="auto">
              <a:xfrm>
                <a:off x="4535" y="411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1" name="AutoShape 684"/>
              <p:cNvSpPr>
                <a:spLocks noChangeAspect="1" noChangeArrowheads="1"/>
              </p:cNvSpPr>
              <p:nvPr/>
            </p:nvSpPr>
            <p:spPr bwMode="auto">
              <a:xfrm>
                <a:off x="4535" y="409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2" name="AutoShape 685"/>
              <p:cNvSpPr>
                <a:spLocks noChangeAspect="1" noChangeArrowheads="1"/>
              </p:cNvSpPr>
              <p:nvPr/>
            </p:nvSpPr>
            <p:spPr bwMode="auto">
              <a:xfrm>
                <a:off x="4552" y="4132"/>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3" name="AutoShape 686"/>
              <p:cNvSpPr>
                <a:spLocks noChangeAspect="1" noChangeArrowheads="1"/>
              </p:cNvSpPr>
              <p:nvPr/>
            </p:nvSpPr>
            <p:spPr bwMode="auto">
              <a:xfrm>
                <a:off x="4552" y="410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4" name="AutoShape 687"/>
              <p:cNvSpPr>
                <a:spLocks noChangeAspect="1" noChangeArrowheads="1"/>
              </p:cNvSpPr>
              <p:nvPr/>
            </p:nvSpPr>
            <p:spPr bwMode="auto">
              <a:xfrm>
                <a:off x="4498" y="409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5" name="AutoShape 688"/>
              <p:cNvSpPr>
                <a:spLocks noChangeAspect="1" noChangeArrowheads="1"/>
              </p:cNvSpPr>
              <p:nvPr/>
            </p:nvSpPr>
            <p:spPr bwMode="auto">
              <a:xfrm>
                <a:off x="4498" y="4102"/>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6" name="AutoShape 689"/>
              <p:cNvSpPr>
                <a:spLocks noChangeAspect="1" noChangeArrowheads="1"/>
              </p:cNvSpPr>
              <p:nvPr/>
            </p:nvSpPr>
            <p:spPr bwMode="auto">
              <a:xfrm>
                <a:off x="4519" y="4106"/>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7" name="AutoShape 690"/>
              <p:cNvSpPr>
                <a:spLocks noChangeAspect="1" noChangeArrowheads="1"/>
              </p:cNvSpPr>
              <p:nvPr/>
            </p:nvSpPr>
            <p:spPr bwMode="auto">
              <a:xfrm>
                <a:off x="4519" y="409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8" name="AutoShape 691"/>
              <p:cNvSpPr>
                <a:spLocks noChangeAspect="1" noChangeArrowheads="1"/>
              </p:cNvSpPr>
              <p:nvPr/>
            </p:nvSpPr>
            <p:spPr bwMode="auto">
              <a:xfrm>
                <a:off x="4568" y="4133"/>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9" name="AutoShape 692"/>
              <p:cNvSpPr>
                <a:spLocks noChangeAspect="1" noChangeArrowheads="1"/>
              </p:cNvSpPr>
              <p:nvPr/>
            </p:nvSpPr>
            <p:spPr bwMode="auto">
              <a:xfrm>
                <a:off x="4568" y="414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0" name="AutoShape 693"/>
              <p:cNvSpPr>
                <a:spLocks noChangeAspect="1" noChangeArrowheads="1"/>
              </p:cNvSpPr>
              <p:nvPr/>
            </p:nvSpPr>
            <p:spPr bwMode="auto">
              <a:xfrm flipV="1">
                <a:off x="4635" y="410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1" name="AutoShape 694"/>
              <p:cNvSpPr>
                <a:spLocks noChangeAspect="1" noChangeArrowheads="1"/>
              </p:cNvSpPr>
              <p:nvPr/>
            </p:nvSpPr>
            <p:spPr bwMode="auto">
              <a:xfrm>
                <a:off x="4621" y="4115"/>
                <a:ext cx="5"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2" name="AutoShape 695"/>
              <p:cNvSpPr>
                <a:spLocks noChangeAspect="1" noChangeArrowheads="1"/>
              </p:cNvSpPr>
              <p:nvPr/>
            </p:nvSpPr>
            <p:spPr bwMode="auto">
              <a:xfrm>
                <a:off x="4621" y="4090"/>
                <a:ext cx="5"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3" name="AutoShape 696"/>
              <p:cNvSpPr>
                <a:spLocks noChangeAspect="1" noChangeArrowheads="1"/>
              </p:cNvSpPr>
              <p:nvPr/>
            </p:nvSpPr>
            <p:spPr bwMode="auto">
              <a:xfrm flipV="1">
                <a:off x="4604" y="4100"/>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4" name="AutoShape 697"/>
              <p:cNvSpPr>
                <a:spLocks noChangeAspect="1" noChangeArrowheads="1"/>
              </p:cNvSpPr>
              <p:nvPr/>
            </p:nvSpPr>
            <p:spPr bwMode="auto">
              <a:xfrm flipV="1">
                <a:off x="4604" y="4127"/>
                <a:ext cx="6"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5" name="AutoShape 698"/>
              <p:cNvSpPr>
                <a:spLocks noChangeAspect="1" noChangeArrowheads="1"/>
              </p:cNvSpPr>
              <p:nvPr/>
            </p:nvSpPr>
            <p:spPr bwMode="auto">
              <a:xfrm>
                <a:off x="4587" y="4141"/>
                <a:ext cx="5"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6" name="AutoShape 699"/>
              <p:cNvSpPr>
                <a:spLocks noChangeAspect="1" noChangeArrowheads="1"/>
              </p:cNvSpPr>
              <p:nvPr/>
            </p:nvSpPr>
            <p:spPr bwMode="auto">
              <a:xfrm>
                <a:off x="4587" y="4128"/>
                <a:ext cx="5"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7" name="AutoShape 700"/>
              <p:cNvSpPr>
                <a:spLocks noChangeAspect="1" noChangeArrowheads="1"/>
              </p:cNvSpPr>
              <p:nvPr/>
            </p:nvSpPr>
            <p:spPr bwMode="auto">
              <a:xfrm flipV="1">
                <a:off x="4689" y="4102"/>
                <a:ext cx="6"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8" name="AutoShape 701"/>
              <p:cNvSpPr>
                <a:spLocks noChangeAspect="1" noChangeArrowheads="1"/>
              </p:cNvSpPr>
              <p:nvPr/>
            </p:nvSpPr>
            <p:spPr bwMode="auto">
              <a:xfrm>
                <a:off x="4672" y="408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9" name="AutoShape 702"/>
              <p:cNvSpPr>
                <a:spLocks noChangeAspect="1" noChangeArrowheads="1"/>
              </p:cNvSpPr>
              <p:nvPr/>
            </p:nvSpPr>
            <p:spPr bwMode="auto">
              <a:xfrm>
                <a:off x="4658" y="4090"/>
                <a:ext cx="5"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0" name="AutoShape 703"/>
              <p:cNvSpPr>
                <a:spLocks noChangeAspect="1" noChangeArrowheads="1"/>
              </p:cNvSpPr>
              <p:nvPr/>
            </p:nvSpPr>
            <p:spPr bwMode="auto">
              <a:xfrm>
                <a:off x="4760" y="4119"/>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1" name="AutoShape 704"/>
              <p:cNvSpPr>
                <a:spLocks noChangeAspect="1" noChangeArrowheads="1"/>
              </p:cNvSpPr>
              <p:nvPr/>
            </p:nvSpPr>
            <p:spPr bwMode="auto">
              <a:xfrm>
                <a:off x="4740" y="4132"/>
                <a:ext cx="6"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2" name="AutoShape 705"/>
              <p:cNvSpPr>
                <a:spLocks noChangeAspect="1" noChangeArrowheads="1"/>
              </p:cNvSpPr>
              <p:nvPr/>
            </p:nvSpPr>
            <p:spPr bwMode="auto">
              <a:xfrm>
                <a:off x="4704" y="412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3" name="AutoShape 706"/>
              <p:cNvSpPr>
                <a:spLocks noChangeAspect="1" noChangeArrowheads="1"/>
              </p:cNvSpPr>
              <p:nvPr/>
            </p:nvSpPr>
            <p:spPr bwMode="auto">
              <a:xfrm flipV="1">
                <a:off x="4726" y="4131"/>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4" name="AutoShape 707"/>
              <p:cNvSpPr>
                <a:spLocks noChangeAspect="1" noChangeArrowheads="1"/>
              </p:cNvSpPr>
              <p:nvPr/>
            </p:nvSpPr>
            <p:spPr bwMode="auto">
              <a:xfrm flipV="1">
                <a:off x="4726" y="4142"/>
                <a:ext cx="5"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5" name="AutoShape 708"/>
              <p:cNvSpPr>
                <a:spLocks noChangeAspect="1" noChangeArrowheads="1"/>
              </p:cNvSpPr>
              <p:nvPr/>
            </p:nvSpPr>
            <p:spPr bwMode="auto">
              <a:xfrm>
                <a:off x="4774" y="4106"/>
                <a:ext cx="6"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6" name="AutoShape 709"/>
              <p:cNvSpPr>
                <a:spLocks noChangeAspect="1" noChangeArrowheads="1"/>
              </p:cNvSpPr>
              <p:nvPr/>
            </p:nvSpPr>
            <p:spPr bwMode="auto">
              <a:xfrm>
                <a:off x="4794" y="409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7" name="AutoShape 710"/>
              <p:cNvSpPr>
                <a:spLocks noChangeAspect="1" noChangeArrowheads="1"/>
              </p:cNvSpPr>
              <p:nvPr/>
            </p:nvSpPr>
            <p:spPr bwMode="auto">
              <a:xfrm>
                <a:off x="4826" y="409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8" name="AutoShape 711"/>
              <p:cNvSpPr>
                <a:spLocks noChangeAspect="1" noChangeArrowheads="1"/>
              </p:cNvSpPr>
              <p:nvPr/>
            </p:nvSpPr>
            <p:spPr bwMode="auto">
              <a:xfrm>
                <a:off x="4842" y="4117"/>
                <a:ext cx="6"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9" name="AutoShape 712"/>
              <p:cNvSpPr>
                <a:spLocks noChangeAspect="1" noChangeArrowheads="1"/>
              </p:cNvSpPr>
              <p:nvPr/>
            </p:nvSpPr>
            <p:spPr bwMode="auto">
              <a:xfrm>
                <a:off x="4810" y="409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0" name="AutoShape 713"/>
              <p:cNvSpPr>
                <a:spLocks noChangeAspect="1" noChangeArrowheads="1"/>
              </p:cNvSpPr>
              <p:nvPr/>
            </p:nvSpPr>
            <p:spPr bwMode="auto">
              <a:xfrm>
                <a:off x="4951" y="4089"/>
                <a:ext cx="6"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1" name="AutoShape 714"/>
              <p:cNvSpPr>
                <a:spLocks noChangeAspect="1" noChangeArrowheads="1"/>
              </p:cNvSpPr>
              <p:nvPr/>
            </p:nvSpPr>
            <p:spPr bwMode="auto">
              <a:xfrm>
                <a:off x="5038" y="412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2" name="AutoShape 715"/>
              <p:cNvSpPr>
                <a:spLocks noChangeAspect="1" noChangeArrowheads="1"/>
              </p:cNvSpPr>
              <p:nvPr/>
            </p:nvSpPr>
            <p:spPr bwMode="auto">
              <a:xfrm>
                <a:off x="4967" y="409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3" name="AutoShape 716"/>
              <p:cNvSpPr>
                <a:spLocks noChangeAspect="1" noChangeArrowheads="1"/>
              </p:cNvSpPr>
              <p:nvPr/>
            </p:nvSpPr>
            <p:spPr bwMode="auto">
              <a:xfrm>
                <a:off x="5054" y="4109"/>
                <a:ext cx="5"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4" name="AutoShape 717"/>
              <p:cNvSpPr>
                <a:spLocks noChangeAspect="1" noChangeArrowheads="1"/>
              </p:cNvSpPr>
              <p:nvPr/>
            </p:nvSpPr>
            <p:spPr bwMode="auto">
              <a:xfrm>
                <a:off x="4983" y="411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5" name="AutoShape 718"/>
              <p:cNvSpPr>
                <a:spLocks noChangeAspect="1" noChangeArrowheads="1"/>
              </p:cNvSpPr>
              <p:nvPr/>
            </p:nvSpPr>
            <p:spPr bwMode="auto">
              <a:xfrm>
                <a:off x="5022" y="413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6" name="AutoShape 719"/>
              <p:cNvSpPr>
                <a:spLocks noChangeAspect="1" noChangeArrowheads="1"/>
              </p:cNvSpPr>
              <p:nvPr/>
            </p:nvSpPr>
            <p:spPr bwMode="auto">
              <a:xfrm>
                <a:off x="5006" y="4144"/>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7" name="AutoShape 720"/>
              <p:cNvSpPr>
                <a:spLocks noChangeAspect="1" noChangeArrowheads="1"/>
              </p:cNvSpPr>
              <p:nvPr/>
            </p:nvSpPr>
            <p:spPr bwMode="auto">
              <a:xfrm>
                <a:off x="5006" y="4136"/>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8" name="AutoShape 721"/>
              <p:cNvSpPr>
                <a:spLocks noChangeAspect="1" noChangeArrowheads="1"/>
              </p:cNvSpPr>
              <p:nvPr/>
            </p:nvSpPr>
            <p:spPr bwMode="auto">
              <a:xfrm>
                <a:off x="5104" y="4092"/>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9" name="AutoShape 722"/>
              <p:cNvSpPr>
                <a:spLocks noChangeAspect="1" noChangeArrowheads="1"/>
              </p:cNvSpPr>
              <p:nvPr/>
            </p:nvSpPr>
            <p:spPr bwMode="auto">
              <a:xfrm>
                <a:off x="5120" y="410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0" name="AutoShape 723"/>
              <p:cNvSpPr>
                <a:spLocks noChangeAspect="1" noChangeArrowheads="1"/>
              </p:cNvSpPr>
              <p:nvPr/>
            </p:nvSpPr>
            <p:spPr bwMode="auto">
              <a:xfrm>
                <a:off x="5068" y="410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1" name="AutoShape 724"/>
              <p:cNvSpPr>
                <a:spLocks noChangeAspect="1" noChangeArrowheads="1"/>
              </p:cNvSpPr>
              <p:nvPr/>
            </p:nvSpPr>
            <p:spPr bwMode="auto">
              <a:xfrm>
                <a:off x="5087" y="409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2" name="AutoShape 725"/>
              <p:cNvSpPr>
                <a:spLocks noChangeAspect="1" noChangeArrowheads="1"/>
              </p:cNvSpPr>
              <p:nvPr/>
            </p:nvSpPr>
            <p:spPr bwMode="auto">
              <a:xfrm>
                <a:off x="5136" y="4133"/>
                <a:ext cx="6"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3" name="AutoShape 726"/>
              <p:cNvSpPr>
                <a:spLocks noChangeAspect="1" noChangeArrowheads="1"/>
              </p:cNvSpPr>
              <p:nvPr/>
            </p:nvSpPr>
            <p:spPr bwMode="auto">
              <a:xfrm>
                <a:off x="5136" y="4143"/>
                <a:ext cx="6"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4" name="AutoShape 727"/>
              <p:cNvSpPr>
                <a:spLocks noChangeAspect="1" noChangeArrowheads="1"/>
              </p:cNvSpPr>
              <p:nvPr/>
            </p:nvSpPr>
            <p:spPr bwMode="auto">
              <a:xfrm flipV="1">
                <a:off x="5203" y="410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5" name="AutoShape 728"/>
              <p:cNvSpPr>
                <a:spLocks noChangeAspect="1" noChangeArrowheads="1"/>
              </p:cNvSpPr>
              <p:nvPr/>
            </p:nvSpPr>
            <p:spPr bwMode="auto">
              <a:xfrm>
                <a:off x="5189" y="4115"/>
                <a:ext cx="6"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6" name="AutoShape 729"/>
              <p:cNvSpPr>
                <a:spLocks noChangeAspect="1" noChangeArrowheads="1"/>
              </p:cNvSpPr>
              <p:nvPr/>
            </p:nvSpPr>
            <p:spPr bwMode="auto">
              <a:xfrm flipV="1">
                <a:off x="5173" y="4127"/>
                <a:ext cx="5"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7" name="AutoShape 730"/>
              <p:cNvSpPr>
                <a:spLocks noChangeAspect="1" noChangeArrowheads="1"/>
              </p:cNvSpPr>
              <p:nvPr/>
            </p:nvSpPr>
            <p:spPr bwMode="auto">
              <a:xfrm>
                <a:off x="5157" y="4141"/>
                <a:ext cx="4"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8" name="AutoShape 731"/>
              <p:cNvSpPr>
                <a:spLocks noChangeAspect="1" noChangeArrowheads="1"/>
              </p:cNvSpPr>
              <p:nvPr/>
            </p:nvSpPr>
            <p:spPr bwMode="auto">
              <a:xfrm>
                <a:off x="5157" y="4128"/>
                <a:ext cx="4"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9" name="AutoShape 732"/>
              <p:cNvSpPr>
                <a:spLocks noChangeAspect="1" noChangeArrowheads="1"/>
              </p:cNvSpPr>
              <p:nvPr/>
            </p:nvSpPr>
            <p:spPr bwMode="auto">
              <a:xfrm flipV="1">
                <a:off x="5258" y="410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0" name="AutoShape 733"/>
              <p:cNvSpPr>
                <a:spLocks noChangeAspect="1" noChangeArrowheads="1"/>
              </p:cNvSpPr>
              <p:nvPr/>
            </p:nvSpPr>
            <p:spPr bwMode="auto">
              <a:xfrm>
                <a:off x="5240" y="408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1" name="AutoShape 734"/>
              <p:cNvSpPr>
                <a:spLocks noChangeAspect="1" noChangeArrowheads="1"/>
              </p:cNvSpPr>
              <p:nvPr/>
            </p:nvSpPr>
            <p:spPr bwMode="auto">
              <a:xfrm>
                <a:off x="5226" y="4090"/>
                <a:ext cx="6"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2" name="AutoShape 735"/>
              <p:cNvSpPr>
                <a:spLocks noChangeAspect="1" noChangeArrowheads="1"/>
              </p:cNvSpPr>
              <p:nvPr/>
            </p:nvSpPr>
            <p:spPr bwMode="auto">
              <a:xfrm>
                <a:off x="5327" y="411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3" name="AutoShape 736"/>
              <p:cNvSpPr>
                <a:spLocks noChangeAspect="1" noChangeArrowheads="1"/>
              </p:cNvSpPr>
              <p:nvPr/>
            </p:nvSpPr>
            <p:spPr bwMode="auto">
              <a:xfrm>
                <a:off x="5309" y="4132"/>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4" name="AutoShape 737"/>
              <p:cNvSpPr>
                <a:spLocks noChangeAspect="1" noChangeArrowheads="1"/>
              </p:cNvSpPr>
              <p:nvPr/>
            </p:nvSpPr>
            <p:spPr bwMode="auto">
              <a:xfrm>
                <a:off x="5272" y="412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5" name="AutoShape 738"/>
              <p:cNvSpPr>
                <a:spLocks noChangeAspect="1" noChangeArrowheads="1"/>
              </p:cNvSpPr>
              <p:nvPr/>
            </p:nvSpPr>
            <p:spPr bwMode="auto">
              <a:xfrm flipV="1">
                <a:off x="5293" y="4131"/>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6" name="AutoShape 739"/>
              <p:cNvSpPr>
                <a:spLocks noChangeAspect="1" noChangeArrowheads="1"/>
              </p:cNvSpPr>
              <p:nvPr/>
            </p:nvSpPr>
            <p:spPr bwMode="auto">
              <a:xfrm flipV="1">
                <a:off x="5293" y="4142"/>
                <a:ext cx="6"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7" name="AutoShape 740"/>
              <p:cNvSpPr>
                <a:spLocks noChangeAspect="1" noChangeArrowheads="1"/>
              </p:cNvSpPr>
              <p:nvPr/>
            </p:nvSpPr>
            <p:spPr bwMode="auto">
              <a:xfrm>
                <a:off x="5343" y="4106"/>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8" name="AutoShape 741"/>
              <p:cNvSpPr>
                <a:spLocks noChangeAspect="1" noChangeArrowheads="1"/>
              </p:cNvSpPr>
              <p:nvPr/>
            </p:nvSpPr>
            <p:spPr bwMode="auto">
              <a:xfrm>
                <a:off x="5362" y="409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9" name="AutoShape 742"/>
              <p:cNvSpPr>
                <a:spLocks noChangeAspect="1" noChangeArrowheads="1"/>
              </p:cNvSpPr>
              <p:nvPr/>
            </p:nvSpPr>
            <p:spPr bwMode="auto">
              <a:xfrm>
                <a:off x="5394" y="409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0" name="AutoShape 743"/>
              <p:cNvSpPr>
                <a:spLocks noChangeAspect="1" noChangeArrowheads="1"/>
              </p:cNvSpPr>
              <p:nvPr/>
            </p:nvSpPr>
            <p:spPr bwMode="auto">
              <a:xfrm>
                <a:off x="5411" y="4117"/>
                <a:ext cx="5"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1" name="AutoShape 744"/>
              <p:cNvSpPr>
                <a:spLocks noChangeAspect="1" noChangeArrowheads="1"/>
              </p:cNvSpPr>
              <p:nvPr/>
            </p:nvSpPr>
            <p:spPr bwMode="auto">
              <a:xfrm>
                <a:off x="5378" y="409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2" name="AutoShape 745"/>
              <p:cNvSpPr>
                <a:spLocks noChangeAspect="1" noChangeArrowheads="1"/>
              </p:cNvSpPr>
              <p:nvPr/>
            </p:nvSpPr>
            <p:spPr bwMode="auto">
              <a:xfrm>
                <a:off x="4897" y="412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3" name="AutoShape 746"/>
              <p:cNvSpPr>
                <a:spLocks noChangeAspect="1" noChangeArrowheads="1"/>
              </p:cNvSpPr>
              <p:nvPr/>
            </p:nvSpPr>
            <p:spPr bwMode="auto">
              <a:xfrm>
                <a:off x="4913" y="4109"/>
                <a:ext cx="4"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4" name="AutoShape 747"/>
              <p:cNvSpPr>
                <a:spLocks noChangeAspect="1" noChangeArrowheads="1"/>
              </p:cNvSpPr>
              <p:nvPr/>
            </p:nvSpPr>
            <p:spPr bwMode="auto">
              <a:xfrm>
                <a:off x="4880" y="413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5" name="AutoShape 748"/>
              <p:cNvSpPr>
                <a:spLocks noChangeAspect="1" noChangeArrowheads="1"/>
              </p:cNvSpPr>
              <p:nvPr/>
            </p:nvSpPr>
            <p:spPr bwMode="auto">
              <a:xfrm>
                <a:off x="4863" y="4143"/>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6" name="AutoShape 749"/>
              <p:cNvSpPr>
                <a:spLocks noChangeAspect="1" noChangeArrowheads="1"/>
              </p:cNvSpPr>
              <p:nvPr/>
            </p:nvSpPr>
            <p:spPr bwMode="auto">
              <a:xfrm>
                <a:off x="4863" y="4135"/>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7" name="AutoShape 750"/>
              <p:cNvSpPr>
                <a:spLocks noChangeAspect="1" noChangeArrowheads="1"/>
              </p:cNvSpPr>
              <p:nvPr/>
            </p:nvSpPr>
            <p:spPr bwMode="auto">
              <a:xfrm flipV="1">
                <a:off x="4925" y="4102"/>
                <a:ext cx="5" cy="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8" name="Freeform 751"/>
              <p:cNvSpPr>
                <a:spLocks noChangeAspect="1"/>
              </p:cNvSpPr>
              <p:nvPr/>
            </p:nvSpPr>
            <p:spPr bwMode="auto">
              <a:xfrm flipH="1">
                <a:off x="5378"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69" name="Freeform 752"/>
              <p:cNvSpPr>
                <a:spLocks noChangeAspect="1"/>
              </p:cNvSpPr>
              <p:nvPr/>
            </p:nvSpPr>
            <p:spPr bwMode="auto">
              <a:xfrm flipH="1">
                <a:off x="5236"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0" name="Freeform 753"/>
              <p:cNvSpPr>
                <a:spLocks noChangeAspect="1"/>
              </p:cNvSpPr>
              <p:nvPr/>
            </p:nvSpPr>
            <p:spPr bwMode="auto">
              <a:xfrm flipH="1">
                <a:off x="5094"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1" name="Freeform 754"/>
              <p:cNvSpPr>
                <a:spLocks noChangeAspect="1"/>
              </p:cNvSpPr>
              <p:nvPr/>
            </p:nvSpPr>
            <p:spPr bwMode="auto">
              <a:xfrm flipH="1">
                <a:off x="495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2" name="Freeform 755"/>
              <p:cNvSpPr>
                <a:spLocks noChangeAspect="1"/>
              </p:cNvSpPr>
              <p:nvPr/>
            </p:nvSpPr>
            <p:spPr bwMode="auto">
              <a:xfrm flipH="1">
                <a:off x="4810"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3" name="Freeform 756"/>
              <p:cNvSpPr>
                <a:spLocks noChangeAspect="1"/>
              </p:cNvSpPr>
              <p:nvPr/>
            </p:nvSpPr>
            <p:spPr bwMode="auto">
              <a:xfrm flipH="1">
                <a:off x="4667"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4" name="Freeform 757"/>
              <p:cNvSpPr>
                <a:spLocks noChangeAspect="1"/>
              </p:cNvSpPr>
              <p:nvPr/>
            </p:nvSpPr>
            <p:spPr bwMode="auto">
              <a:xfrm flipH="1">
                <a:off x="4526"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5" name="Freeform 758"/>
              <p:cNvSpPr>
                <a:spLocks noChangeAspect="1"/>
              </p:cNvSpPr>
              <p:nvPr/>
            </p:nvSpPr>
            <p:spPr bwMode="auto">
              <a:xfrm flipH="1">
                <a:off x="4485"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6" name="Freeform 759"/>
              <p:cNvSpPr>
                <a:spLocks noChangeAspect="1"/>
              </p:cNvSpPr>
              <p:nvPr/>
            </p:nvSpPr>
            <p:spPr bwMode="auto">
              <a:xfrm flipH="1">
                <a:off x="4384"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7" name="Freeform 760"/>
              <p:cNvSpPr>
                <a:spLocks noChangeAspect="1"/>
              </p:cNvSpPr>
              <p:nvPr/>
            </p:nvSpPr>
            <p:spPr bwMode="auto">
              <a:xfrm flipH="1">
                <a:off x="434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47670" name="AutoShape 761"/>
            <p:cNvSpPr>
              <a:spLocks noChangeArrowheads="1"/>
            </p:cNvSpPr>
            <p:nvPr/>
          </p:nvSpPr>
          <p:spPr bwMode="auto">
            <a:xfrm>
              <a:off x="4384" y="3872"/>
              <a:ext cx="220" cy="228"/>
            </a:xfrm>
            <a:prstGeom prst="roundRect">
              <a:avLst>
                <a:gd name="adj" fmla="val 16667"/>
              </a:avLst>
            </a:prstGeom>
            <a:gradFill rotWithShape="1">
              <a:gsLst>
                <a:gs pos="0">
                  <a:srgbClr val="2F7618">
                    <a:alpha val="70000"/>
                  </a:srgbClr>
                </a:gs>
                <a:gs pos="50000">
                  <a:srgbClr val="66FF33">
                    <a:alpha val="70000"/>
                  </a:srgbClr>
                </a:gs>
                <a:gs pos="100000">
                  <a:srgbClr val="2F7618">
                    <a:alpha val="70000"/>
                  </a:srgbClr>
                </a:gs>
              </a:gsLst>
              <a:lin ang="5400000" scaled="1"/>
            </a:gradFill>
            <a:ln w="3175" algn="ctr">
              <a:solidFill>
                <a:srgbClr val="66FF33"/>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600" b="1">
                  <a:latin typeface="Arial" panose="020B0604020202020204" pitchFamily="34" charset="0"/>
                </a:rPr>
                <a:t>Klenow</a:t>
              </a:r>
            </a:p>
            <a:p>
              <a:pPr algn="ctr" eaLnBrk="1" hangingPunct="1">
                <a:spcBef>
                  <a:spcPct val="0"/>
                </a:spcBef>
                <a:buFontTx/>
                <a:buNone/>
              </a:pPr>
              <a:br>
                <a:rPr kumimoji="0" lang="en-US" altLang="zh-CN" sz="600" b="1">
                  <a:latin typeface="Arial" panose="020B0604020202020204" pitchFamily="34" charset="0"/>
                </a:rPr>
              </a:br>
              <a:r>
                <a:rPr kumimoji="0" lang="en-US" altLang="zh-CN" sz="600" b="1">
                  <a:latin typeface="Arial" panose="020B0604020202020204" pitchFamily="34" charset="0"/>
                </a:rPr>
                <a:t>Fragment</a:t>
              </a:r>
            </a:p>
          </p:txBody>
        </p:sp>
        <p:sp>
          <p:nvSpPr>
            <p:cNvPr id="147671" name="Line 762"/>
            <p:cNvSpPr>
              <a:spLocks noChangeShapeType="1"/>
            </p:cNvSpPr>
            <p:nvPr/>
          </p:nvSpPr>
          <p:spPr bwMode="auto">
            <a:xfrm>
              <a:off x="4624" y="4062"/>
              <a:ext cx="248" cy="0"/>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7515" name="AutoShape 763"/>
            <p:cNvSpPr>
              <a:spLocks noChangeAspect="1" noChangeArrowheads="1"/>
            </p:cNvSpPr>
            <p:nvPr/>
          </p:nvSpPr>
          <p:spPr bwMode="auto">
            <a:xfrm>
              <a:off x="4275" y="4002"/>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grpSp>
          <p:nvGrpSpPr>
            <p:cNvPr id="147673" name="Group 764"/>
            <p:cNvGrpSpPr>
              <a:grpSpLocks noChangeAspect="1"/>
            </p:cNvGrpSpPr>
            <p:nvPr/>
          </p:nvGrpSpPr>
          <p:grpSpPr bwMode="auto">
            <a:xfrm>
              <a:off x="5403" y="3985"/>
              <a:ext cx="54" cy="71"/>
              <a:chOff x="3743" y="2439"/>
              <a:chExt cx="164" cy="216"/>
            </a:xfrm>
          </p:grpSpPr>
          <p:sp>
            <p:nvSpPr>
              <p:cNvPr id="147674" name="Freeform 765"/>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675" name="AutoShape 766"/>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nvGrpSpPr>
          <p:cNvPr id="147486" name="Group 767"/>
          <p:cNvGrpSpPr/>
          <p:nvPr/>
        </p:nvGrpSpPr>
        <p:grpSpPr bwMode="auto">
          <a:xfrm>
            <a:off x="6634163" y="5748338"/>
            <a:ext cx="1909762" cy="361950"/>
            <a:chOff x="4179" y="3621"/>
            <a:chExt cx="1203" cy="228"/>
          </a:xfrm>
        </p:grpSpPr>
        <p:grpSp>
          <p:nvGrpSpPr>
            <p:cNvPr id="147539" name="Group 768"/>
            <p:cNvGrpSpPr/>
            <p:nvPr/>
          </p:nvGrpSpPr>
          <p:grpSpPr bwMode="auto">
            <a:xfrm>
              <a:off x="4243" y="3702"/>
              <a:ext cx="1139" cy="69"/>
              <a:chOff x="4320" y="3443"/>
              <a:chExt cx="1139" cy="69"/>
            </a:xfrm>
          </p:grpSpPr>
          <p:sp>
            <p:nvSpPr>
              <p:cNvPr id="147548" name="Freeform 769"/>
              <p:cNvSpPr>
                <a:spLocks noChangeAspect="1"/>
              </p:cNvSpPr>
              <p:nvPr/>
            </p:nvSpPr>
            <p:spPr bwMode="auto">
              <a:xfrm>
                <a:off x="4391"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49" name="Freeform 770"/>
              <p:cNvSpPr>
                <a:spLocks noChangeAspect="1"/>
              </p:cNvSpPr>
              <p:nvPr/>
            </p:nvSpPr>
            <p:spPr bwMode="auto">
              <a:xfrm>
                <a:off x="4533"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0" name="Freeform 771"/>
              <p:cNvSpPr>
                <a:spLocks noChangeAspect="1"/>
              </p:cNvSpPr>
              <p:nvPr/>
            </p:nvSpPr>
            <p:spPr bwMode="auto">
              <a:xfrm>
                <a:off x="4675"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1" name="Freeform 772"/>
              <p:cNvSpPr>
                <a:spLocks noChangeAspect="1"/>
              </p:cNvSpPr>
              <p:nvPr/>
            </p:nvSpPr>
            <p:spPr bwMode="auto">
              <a:xfrm>
                <a:off x="4858"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2" name="Freeform 773"/>
              <p:cNvSpPr>
                <a:spLocks noChangeAspect="1"/>
              </p:cNvSpPr>
              <p:nvPr/>
            </p:nvSpPr>
            <p:spPr bwMode="auto">
              <a:xfrm>
                <a:off x="4816"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3" name="Freeform 774"/>
              <p:cNvSpPr>
                <a:spLocks noChangeAspect="1"/>
              </p:cNvSpPr>
              <p:nvPr/>
            </p:nvSpPr>
            <p:spPr bwMode="auto">
              <a:xfrm>
                <a:off x="5000"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4" name="Freeform 775"/>
              <p:cNvSpPr>
                <a:spLocks noChangeAspect="1"/>
              </p:cNvSpPr>
              <p:nvPr/>
            </p:nvSpPr>
            <p:spPr bwMode="auto">
              <a:xfrm>
                <a:off x="4959"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5" name="Freeform 776"/>
              <p:cNvSpPr>
                <a:spLocks noChangeAspect="1"/>
              </p:cNvSpPr>
              <p:nvPr/>
            </p:nvSpPr>
            <p:spPr bwMode="auto">
              <a:xfrm>
                <a:off x="5142"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6" name="Freeform 777"/>
              <p:cNvSpPr>
                <a:spLocks noChangeAspect="1"/>
              </p:cNvSpPr>
              <p:nvPr/>
            </p:nvSpPr>
            <p:spPr bwMode="auto">
              <a:xfrm>
                <a:off x="5101"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7" name="Freeform 778"/>
              <p:cNvSpPr>
                <a:spLocks noChangeAspect="1"/>
              </p:cNvSpPr>
              <p:nvPr/>
            </p:nvSpPr>
            <p:spPr bwMode="auto">
              <a:xfrm>
                <a:off x="5284"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8" name="Freeform 779"/>
              <p:cNvSpPr>
                <a:spLocks noChangeAspect="1"/>
              </p:cNvSpPr>
              <p:nvPr/>
            </p:nvSpPr>
            <p:spPr bwMode="auto">
              <a:xfrm>
                <a:off x="5243"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9" name="AutoShape 780"/>
              <p:cNvSpPr>
                <a:spLocks noChangeAspect="1" noChangeArrowheads="1"/>
              </p:cNvSpPr>
              <p:nvPr/>
            </p:nvSpPr>
            <p:spPr bwMode="auto">
              <a:xfrm>
                <a:off x="4360" y="3466"/>
                <a:ext cx="5"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0" name="AutoShape 781"/>
              <p:cNvSpPr>
                <a:spLocks noChangeAspect="1" noChangeArrowheads="1"/>
              </p:cNvSpPr>
              <p:nvPr/>
            </p:nvSpPr>
            <p:spPr bwMode="auto">
              <a:xfrm>
                <a:off x="4446" y="3452"/>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1" name="AutoShape 782"/>
              <p:cNvSpPr>
                <a:spLocks noChangeAspect="1" noChangeArrowheads="1"/>
              </p:cNvSpPr>
              <p:nvPr/>
            </p:nvSpPr>
            <p:spPr bwMode="auto">
              <a:xfrm>
                <a:off x="4376" y="347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2" name="AutoShape 783"/>
              <p:cNvSpPr>
                <a:spLocks noChangeAspect="1" noChangeArrowheads="1"/>
              </p:cNvSpPr>
              <p:nvPr/>
            </p:nvSpPr>
            <p:spPr bwMode="auto">
              <a:xfrm>
                <a:off x="4462" y="3445"/>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3" name="AutoShape 784"/>
              <p:cNvSpPr>
                <a:spLocks noChangeAspect="1" noChangeArrowheads="1"/>
              </p:cNvSpPr>
              <p:nvPr/>
            </p:nvSpPr>
            <p:spPr bwMode="auto">
              <a:xfrm>
                <a:off x="4391" y="349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4" name="AutoShape 785"/>
              <p:cNvSpPr>
                <a:spLocks noChangeAspect="1" noChangeArrowheads="1"/>
              </p:cNvSpPr>
              <p:nvPr/>
            </p:nvSpPr>
            <p:spPr bwMode="auto">
              <a:xfrm>
                <a:off x="4430" y="346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5" name="AutoShape 786"/>
              <p:cNvSpPr>
                <a:spLocks noChangeAspect="1" noChangeArrowheads="1"/>
              </p:cNvSpPr>
              <p:nvPr/>
            </p:nvSpPr>
            <p:spPr bwMode="auto">
              <a:xfrm>
                <a:off x="4414" y="3499"/>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6" name="AutoShape 787"/>
              <p:cNvSpPr>
                <a:spLocks noChangeAspect="1" noChangeArrowheads="1"/>
              </p:cNvSpPr>
              <p:nvPr/>
            </p:nvSpPr>
            <p:spPr bwMode="auto">
              <a:xfrm>
                <a:off x="4414" y="3491"/>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7" name="AutoShape 788"/>
              <p:cNvSpPr>
                <a:spLocks noChangeAspect="1" noChangeArrowheads="1"/>
              </p:cNvSpPr>
              <p:nvPr/>
            </p:nvSpPr>
            <p:spPr bwMode="auto">
              <a:xfrm>
                <a:off x="4512" y="3474"/>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8" name="AutoShape 789"/>
              <p:cNvSpPr>
                <a:spLocks noChangeAspect="1" noChangeArrowheads="1"/>
              </p:cNvSpPr>
              <p:nvPr/>
            </p:nvSpPr>
            <p:spPr bwMode="auto">
              <a:xfrm>
                <a:off x="4529" y="348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9" name="AutoShape 790"/>
              <p:cNvSpPr>
                <a:spLocks noChangeAspect="1" noChangeArrowheads="1"/>
              </p:cNvSpPr>
              <p:nvPr/>
            </p:nvSpPr>
            <p:spPr bwMode="auto">
              <a:xfrm>
                <a:off x="4475" y="344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0" name="AutoShape 791"/>
              <p:cNvSpPr>
                <a:spLocks noChangeAspect="1" noChangeArrowheads="1"/>
              </p:cNvSpPr>
              <p:nvPr/>
            </p:nvSpPr>
            <p:spPr bwMode="auto">
              <a:xfrm>
                <a:off x="4475" y="3457"/>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1" name="AutoShape 792"/>
              <p:cNvSpPr>
                <a:spLocks noChangeAspect="1" noChangeArrowheads="1"/>
              </p:cNvSpPr>
              <p:nvPr/>
            </p:nvSpPr>
            <p:spPr bwMode="auto">
              <a:xfrm>
                <a:off x="4496" y="346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2" name="AutoShape 793"/>
              <p:cNvSpPr>
                <a:spLocks noChangeAspect="1" noChangeArrowheads="1"/>
              </p:cNvSpPr>
              <p:nvPr/>
            </p:nvSpPr>
            <p:spPr bwMode="auto">
              <a:xfrm>
                <a:off x="4545" y="3498"/>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3" name="AutoShape 794"/>
              <p:cNvSpPr>
                <a:spLocks noChangeAspect="1" noChangeArrowheads="1"/>
              </p:cNvSpPr>
              <p:nvPr/>
            </p:nvSpPr>
            <p:spPr bwMode="auto">
              <a:xfrm flipV="1">
                <a:off x="4612" y="344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4" name="AutoShape 795"/>
              <p:cNvSpPr>
                <a:spLocks noChangeAspect="1" noChangeArrowheads="1"/>
              </p:cNvSpPr>
              <p:nvPr/>
            </p:nvSpPr>
            <p:spPr bwMode="auto">
              <a:xfrm>
                <a:off x="4598" y="3445"/>
                <a:ext cx="5"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5" name="AutoShape 796"/>
              <p:cNvSpPr>
                <a:spLocks noChangeAspect="1" noChangeArrowheads="1"/>
              </p:cNvSpPr>
              <p:nvPr/>
            </p:nvSpPr>
            <p:spPr bwMode="auto">
              <a:xfrm flipV="1">
                <a:off x="4581" y="3455"/>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6" name="AutoShape 797"/>
              <p:cNvSpPr>
                <a:spLocks noChangeAspect="1" noChangeArrowheads="1"/>
              </p:cNvSpPr>
              <p:nvPr/>
            </p:nvSpPr>
            <p:spPr bwMode="auto">
              <a:xfrm>
                <a:off x="4564" y="3483"/>
                <a:ext cx="5"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7" name="AutoShape 798"/>
              <p:cNvSpPr>
                <a:spLocks noChangeAspect="1" noChangeArrowheads="1"/>
              </p:cNvSpPr>
              <p:nvPr/>
            </p:nvSpPr>
            <p:spPr bwMode="auto">
              <a:xfrm flipV="1">
                <a:off x="4666" y="3483"/>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8" name="AutoShape 799"/>
              <p:cNvSpPr>
                <a:spLocks noChangeAspect="1" noChangeArrowheads="1"/>
              </p:cNvSpPr>
              <p:nvPr/>
            </p:nvSpPr>
            <p:spPr bwMode="auto">
              <a:xfrm>
                <a:off x="4649" y="347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9" name="AutoShape 800"/>
              <p:cNvSpPr>
                <a:spLocks noChangeAspect="1" noChangeArrowheads="1"/>
              </p:cNvSpPr>
              <p:nvPr/>
            </p:nvSpPr>
            <p:spPr bwMode="auto">
              <a:xfrm>
                <a:off x="4635" y="3461"/>
                <a:ext cx="5"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0" name="AutoShape 801"/>
              <p:cNvSpPr>
                <a:spLocks noChangeAspect="1" noChangeArrowheads="1"/>
              </p:cNvSpPr>
              <p:nvPr/>
            </p:nvSpPr>
            <p:spPr bwMode="auto">
              <a:xfrm>
                <a:off x="4737" y="3447"/>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1" name="AutoShape 802"/>
              <p:cNvSpPr>
                <a:spLocks noChangeAspect="1" noChangeArrowheads="1"/>
              </p:cNvSpPr>
              <p:nvPr/>
            </p:nvSpPr>
            <p:spPr bwMode="auto">
              <a:xfrm>
                <a:off x="4717" y="3464"/>
                <a:ext cx="6"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2" name="AutoShape 803"/>
              <p:cNvSpPr>
                <a:spLocks noChangeAspect="1" noChangeArrowheads="1"/>
              </p:cNvSpPr>
              <p:nvPr/>
            </p:nvSpPr>
            <p:spPr bwMode="auto">
              <a:xfrm>
                <a:off x="4681" y="349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3" name="AutoShape 804"/>
              <p:cNvSpPr>
                <a:spLocks noChangeAspect="1" noChangeArrowheads="1"/>
              </p:cNvSpPr>
              <p:nvPr/>
            </p:nvSpPr>
            <p:spPr bwMode="auto">
              <a:xfrm flipV="1">
                <a:off x="4703" y="3486"/>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4" name="AutoShape 805"/>
              <p:cNvSpPr>
                <a:spLocks noChangeAspect="1" noChangeArrowheads="1"/>
              </p:cNvSpPr>
              <p:nvPr/>
            </p:nvSpPr>
            <p:spPr bwMode="auto">
              <a:xfrm>
                <a:off x="4751" y="3445"/>
                <a:ext cx="6"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5" name="AutoShape 806"/>
              <p:cNvSpPr>
                <a:spLocks noChangeAspect="1" noChangeArrowheads="1"/>
              </p:cNvSpPr>
              <p:nvPr/>
            </p:nvSpPr>
            <p:spPr bwMode="auto">
              <a:xfrm>
                <a:off x="4771" y="344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6" name="AutoShape 807"/>
              <p:cNvSpPr>
                <a:spLocks noChangeAspect="1" noChangeArrowheads="1"/>
              </p:cNvSpPr>
              <p:nvPr/>
            </p:nvSpPr>
            <p:spPr bwMode="auto">
              <a:xfrm>
                <a:off x="4771" y="345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7" name="AutoShape 808"/>
              <p:cNvSpPr>
                <a:spLocks noChangeAspect="1" noChangeArrowheads="1"/>
              </p:cNvSpPr>
              <p:nvPr/>
            </p:nvSpPr>
            <p:spPr bwMode="auto">
              <a:xfrm>
                <a:off x="4803" y="347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8" name="AutoShape 809"/>
              <p:cNvSpPr>
                <a:spLocks noChangeAspect="1" noChangeArrowheads="1"/>
              </p:cNvSpPr>
              <p:nvPr/>
            </p:nvSpPr>
            <p:spPr bwMode="auto">
              <a:xfrm>
                <a:off x="4819" y="3491"/>
                <a:ext cx="6"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9" name="AutoShape 810"/>
              <p:cNvSpPr>
                <a:spLocks noChangeAspect="1" noChangeArrowheads="1"/>
              </p:cNvSpPr>
              <p:nvPr/>
            </p:nvSpPr>
            <p:spPr bwMode="auto">
              <a:xfrm>
                <a:off x="4787" y="346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0" name="Freeform 811"/>
              <p:cNvSpPr>
                <a:spLocks noChangeAspect="1"/>
              </p:cNvSpPr>
              <p:nvPr/>
            </p:nvSpPr>
            <p:spPr bwMode="auto">
              <a:xfrm>
                <a:off x="5385"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91" name="AutoShape 812"/>
              <p:cNvSpPr>
                <a:spLocks noChangeAspect="1" noChangeArrowheads="1"/>
              </p:cNvSpPr>
              <p:nvPr/>
            </p:nvSpPr>
            <p:spPr bwMode="auto">
              <a:xfrm>
                <a:off x="4928" y="3444"/>
                <a:ext cx="6"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2" name="AutoShape 813"/>
              <p:cNvSpPr>
                <a:spLocks noChangeAspect="1" noChangeArrowheads="1"/>
              </p:cNvSpPr>
              <p:nvPr/>
            </p:nvSpPr>
            <p:spPr bwMode="auto">
              <a:xfrm>
                <a:off x="4928" y="3466"/>
                <a:ext cx="6"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3" name="AutoShape 814"/>
              <p:cNvSpPr>
                <a:spLocks noChangeAspect="1" noChangeArrowheads="1"/>
              </p:cNvSpPr>
              <p:nvPr/>
            </p:nvSpPr>
            <p:spPr bwMode="auto">
              <a:xfrm>
                <a:off x="5015" y="344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4" name="AutoShape 815"/>
              <p:cNvSpPr>
                <a:spLocks noChangeAspect="1" noChangeArrowheads="1"/>
              </p:cNvSpPr>
              <p:nvPr/>
            </p:nvSpPr>
            <p:spPr bwMode="auto">
              <a:xfrm>
                <a:off x="5015" y="3476"/>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5" name="AutoShape 816"/>
              <p:cNvSpPr>
                <a:spLocks noChangeAspect="1" noChangeArrowheads="1"/>
              </p:cNvSpPr>
              <p:nvPr/>
            </p:nvSpPr>
            <p:spPr bwMode="auto">
              <a:xfrm>
                <a:off x="4944" y="347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6" name="AutoShape 817"/>
              <p:cNvSpPr>
                <a:spLocks noChangeAspect="1" noChangeArrowheads="1"/>
              </p:cNvSpPr>
              <p:nvPr/>
            </p:nvSpPr>
            <p:spPr bwMode="auto">
              <a:xfrm>
                <a:off x="4944" y="3450"/>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7" name="AutoShape 818"/>
              <p:cNvSpPr>
                <a:spLocks noChangeAspect="1" noChangeArrowheads="1"/>
              </p:cNvSpPr>
              <p:nvPr/>
            </p:nvSpPr>
            <p:spPr bwMode="auto">
              <a:xfrm>
                <a:off x="5031" y="3444"/>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8" name="AutoShape 819"/>
              <p:cNvSpPr>
                <a:spLocks noChangeAspect="1" noChangeArrowheads="1"/>
              </p:cNvSpPr>
              <p:nvPr/>
            </p:nvSpPr>
            <p:spPr bwMode="auto">
              <a:xfrm>
                <a:off x="5031" y="3464"/>
                <a:ext cx="5"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9" name="AutoShape 820"/>
              <p:cNvSpPr>
                <a:spLocks noChangeAspect="1" noChangeArrowheads="1"/>
              </p:cNvSpPr>
              <p:nvPr/>
            </p:nvSpPr>
            <p:spPr bwMode="auto">
              <a:xfrm>
                <a:off x="4960" y="349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0" name="AutoShape 821"/>
              <p:cNvSpPr>
                <a:spLocks noChangeAspect="1" noChangeArrowheads="1"/>
              </p:cNvSpPr>
              <p:nvPr/>
            </p:nvSpPr>
            <p:spPr bwMode="auto">
              <a:xfrm>
                <a:off x="4960" y="3469"/>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1" name="AutoShape 822"/>
              <p:cNvSpPr>
                <a:spLocks noChangeAspect="1" noChangeArrowheads="1"/>
              </p:cNvSpPr>
              <p:nvPr/>
            </p:nvSpPr>
            <p:spPr bwMode="auto">
              <a:xfrm>
                <a:off x="4999" y="346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2" name="AutoShape 823"/>
              <p:cNvSpPr>
                <a:spLocks noChangeAspect="1" noChangeArrowheads="1"/>
              </p:cNvSpPr>
              <p:nvPr/>
            </p:nvSpPr>
            <p:spPr bwMode="auto">
              <a:xfrm>
                <a:off x="4999" y="3489"/>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3" name="AutoShape 824"/>
              <p:cNvSpPr>
                <a:spLocks noChangeAspect="1" noChangeArrowheads="1"/>
              </p:cNvSpPr>
              <p:nvPr/>
            </p:nvSpPr>
            <p:spPr bwMode="auto">
              <a:xfrm>
                <a:off x="4983" y="3499"/>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4" name="AutoShape 825"/>
              <p:cNvSpPr>
                <a:spLocks noChangeAspect="1" noChangeArrowheads="1"/>
              </p:cNvSpPr>
              <p:nvPr/>
            </p:nvSpPr>
            <p:spPr bwMode="auto">
              <a:xfrm>
                <a:off x="4983" y="3491"/>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5" name="AutoShape 826"/>
              <p:cNvSpPr>
                <a:spLocks noChangeAspect="1" noChangeArrowheads="1"/>
              </p:cNvSpPr>
              <p:nvPr/>
            </p:nvSpPr>
            <p:spPr bwMode="auto">
              <a:xfrm>
                <a:off x="5081" y="3474"/>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6" name="AutoShape 827"/>
              <p:cNvSpPr>
                <a:spLocks noChangeAspect="1" noChangeArrowheads="1"/>
              </p:cNvSpPr>
              <p:nvPr/>
            </p:nvSpPr>
            <p:spPr bwMode="auto">
              <a:xfrm>
                <a:off x="5081" y="3447"/>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7" name="AutoShape 828"/>
              <p:cNvSpPr>
                <a:spLocks noChangeAspect="1" noChangeArrowheads="1"/>
              </p:cNvSpPr>
              <p:nvPr/>
            </p:nvSpPr>
            <p:spPr bwMode="auto">
              <a:xfrm>
                <a:off x="5097" y="348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8" name="AutoShape 829"/>
              <p:cNvSpPr>
                <a:spLocks noChangeAspect="1" noChangeArrowheads="1"/>
              </p:cNvSpPr>
              <p:nvPr/>
            </p:nvSpPr>
            <p:spPr bwMode="auto">
              <a:xfrm>
                <a:off x="5097" y="3464"/>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9" name="AutoShape 830"/>
              <p:cNvSpPr>
                <a:spLocks noChangeAspect="1" noChangeArrowheads="1"/>
              </p:cNvSpPr>
              <p:nvPr/>
            </p:nvSpPr>
            <p:spPr bwMode="auto">
              <a:xfrm>
                <a:off x="5045" y="3448"/>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0" name="AutoShape 831"/>
              <p:cNvSpPr>
                <a:spLocks noChangeAspect="1" noChangeArrowheads="1"/>
              </p:cNvSpPr>
              <p:nvPr/>
            </p:nvSpPr>
            <p:spPr bwMode="auto">
              <a:xfrm>
                <a:off x="5045" y="3458"/>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1" name="AutoShape 832"/>
              <p:cNvSpPr>
                <a:spLocks noChangeAspect="1" noChangeArrowheads="1"/>
              </p:cNvSpPr>
              <p:nvPr/>
            </p:nvSpPr>
            <p:spPr bwMode="auto">
              <a:xfrm>
                <a:off x="5064" y="346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2" name="AutoShape 833"/>
              <p:cNvSpPr>
                <a:spLocks noChangeAspect="1" noChangeArrowheads="1"/>
              </p:cNvSpPr>
              <p:nvPr/>
            </p:nvSpPr>
            <p:spPr bwMode="auto">
              <a:xfrm>
                <a:off x="5064" y="3445"/>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3" name="AutoShape 834"/>
              <p:cNvSpPr>
                <a:spLocks noChangeAspect="1" noChangeArrowheads="1"/>
              </p:cNvSpPr>
              <p:nvPr/>
            </p:nvSpPr>
            <p:spPr bwMode="auto">
              <a:xfrm>
                <a:off x="5113" y="3488"/>
                <a:ext cx="6"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4" name="AutoShape 835"/>
              <p:cNvSpPr>
                <a:spLocks noChangeAspect="1" noChangeArrowheads="1"/>
              </p:cNvSpPr>
              <p:nvPr/>
            </p:nvSpPr>
            <p:spPr bwMode="auto">
              <a:xfrm>
                <a:off x="5113" y="3498"/>
                <a:ext cx="6"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5" name="AutoShape 836"/>
              <p:cNvSpPr>
                <a:spLocks noChangeAspect="1" noChangeArrowheads="1"/>
              </p:cNvSpPr>
              <p:nvPr/>
            </p:nvSpPr>
            <p:spPr bwMode="auto">
              <a:xfrm flipV="1">
                <a:off x="5180" y="344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6" name="AutoShape 837"/>
              <p:cNvSpPr>
                <a:spLocks noChangeAspect="1" noChangeArrowheads="1"/>
              </p:cNvSpPr>
              <p:nvPr/>
            </p:nvSpPr>
            <p:spPr bwMode="auto">
              <a:xfrm flipV="1">
                <a:off x="5180" y="3458"/>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7" name="AutoShape 838"/>
              <p:cNvSpPr>
                <a:spLocks noChangeAspect="1" noChangeArrowheads="1"/>
              </p:cNvSpPr>
              <p:nvPr/>
            </p:nvSpPr>
            <p:spPr bwMode="auto">
              <a:xfrm>
                <a:off x="5166" y="3470"/>
                <a:ext cx="6"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8" name="AutoShape 839"/>
              <p:cNvSpPr>
                <a:spLocks noChangeAspect="1" noChangeArrowheads="1"/>
              </p:cNvSpPr>
              <p:nvPr/>
            </p:nvSpPr>
            <p:spPr bwMode="auto">
              <a:xfrm>
                <a:off x="5166" y="3445"/>
                <a:ext cx="6"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9" name="AutoShape 840"/>
              <p:cNvSpPr>
                <a:spLocks noChangeAspect="1" noChangeArrowheads="1"/>
              </p:cNvSpPr>
              <p:nvPr/>
            </p:nvSpPr>
            <p:spPr bwMode="auto">
              <a:xfrm flipV="1">
                <a:off x="5150" y="3455"/>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0" name="AutoShape 841"/>
              <p:cNvSpPr>
                <a:spLocks noChangeAspect="1" noChangeArrowheads="1"/>
              </p:cNvSpPr>
              <p:nvPr/>
            </p:nvSpPr>
            <p:spPr bwMode="auto">
              <a:xfrm flipV="1">
                <a:off x="5150" y="3482"/>
                <a:ext cx="5"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1" name="AutoShape 842"/>
              <p:cNvSpPr>
                <a:spLocks noChangeAspect="1" noChangeArrowheads="1"/>
              </p:cNvSpPr>
              <p:nvPr/>
            </p:nvSpPr>
            <p:spPr bwMode="auto">
              <a:xfrm>
                <a:off x="5134" y="3496"/>
                <a:ext cx="4"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2" name="AutoShape 843"/>
              <p:cNvSpPr>
                <a:spLocks noChangeAspect="1" noChangeArrowheads="1"/>
              </p:cNvSpPr>
              <p:nvPr/>
            </p:nvSpPr>
            <p:spPr bwMode="auto">
              <a:xfrm>
                <a:off x="5134" y="3483"/>
                <a:ext cx="4"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3" name="AutoShape 844"/>
              <p:cNvSpPr>
                <a:spLocks noChangeAspect="1" noChangeArrowheads="1"/>
              </p:cNvSpPr>
              <p:nvPr/>
            </p:nvSpPr>
            <p:spPr bwMode="auto">
              <a:xfrm flipV="1">
                <a:off x="5235" y="3483"/>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4" name="AutoShape 845"/>
              <p:cNvSpPr>
                <a:spLocks noChangeAspect="1" noChangeArrowheads="1"/>
              </p:cNvSpPr>
              <p:nvPr/>
            </p:nvSpPr>
            <p:spPr bwMode="auto">
              <a:xfrm flipV="1">
                <a:off x="5235" y="345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5" name="AutoShape 846"/>
              <p:cNvSpPr>
                <a:spLocks noChangeAspect="1" noChangeArrowheads="1"/>
              </p:cNvSpPr>
              <p:nvPr/>
            </p:nvSpPr>
            <p:spPr bwMode="auto">
              <a:xfrm>
                <a:off x="5217" y="347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6" name="AutoShape 847"/>
              <p:cNvSpPr>
                <a:spLocks noChangeAspect="1" noChangeArrowheads="1"/>
              </p:cNvSpPr>
              <p:nvPr/>
            </p:nvSpPr>
            <p:spPr bwMode="auto">
              <a:xfrm>
                <a:off x="5217" y="3444"/>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7" name="AutoShape 848"/>
              <p:cNvSpPr>
                <a:spLocks noChangeAspect="1" noChangeArrowheads="1"/>
              </p:cNvSpPr>
              <p:nvPr/>
            </p:nvSpPr>
            <p:spPr bwMode="auto">
              <a:xfrm>
                <a:off x="5203" y="3461"/>
                <a:ext cx="6"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8" name="AutoShape 849"/>
              <p:cNvSpPr>
                <a:spLocks noChangeAspect="1" noChangeArrowheads="1"/>
              </p:cNvSpPr>
              <p:nvPr/>
            </p:nvSpPr>
            <p:spPr bwMode="auto">
              <a:xfrm>
                <a:off x="5203" y="3445"/>
                <a:ext cx="6"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9" name="AutoShape 850"/>
              <p:cNvSpPr>
                <a:spLocks noChangeAspect="1" noChangeArrowheads="1"/>
              </p:cNvSpPr>
              <p:nvPr/>
            </p:nvSpPr>
            <p:spPr bwMode="auto">
              <a:xfrm>
                <a:off x="5304" y="3474"/>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0" name="AutoShape 851"/>
              <p:cNvSpPr>
                <a:spLocks noChangeAspect="1" noChangeArrowheads="1"/>
              </p:cNvSpPr>
              <p:nvPr/>
            </p:nvSpPr>
            <p:spPr bwMode="auto">
              <a:xfrm>
                <a:off x="5304" y="344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1" name="AutoShape 852"/>
              <p:cNvSpPr>
                <a:spLocks noChangeAspect="1" noChangeArrowheads="1"/>
              </p:cNvSpPr>
              <p:nvPr/>
            </p:nvSpPr>
            <p:spPr bwMode="auto">
              <a:xfrm>
                <a:off x="5286" y="348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2" name="AutoShape 853"/>
              <p:cNvSpPr>
                <a:spLocks noChangeAspect="1" noChangeArrowheads="1"/>
              </p:cNvSpPr>
              <p:nvPr/>
            </p:nvSpPr>
            <p:spPr bwMode="auto">
              <a:xfrm>
                <a:off x="5286" y="3464"/>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3" name="AutoShape 854"/>
              <p:cNvSpPr>
                <a:spLocks noChangeAspect="1" noChangeArrowheads="1"/>
              </p:cNvSpPr>
              <p:nvPr/>
            </p:nvSpPr>
            <p:spPr bwMode="auto">
              <a:xfrm>
                <a:off x="5249" y="349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4" name="AutoShape 855"/>
              <p:cNvSpPr>
                <a:spLocks noChangeAspect="1" noChangeArrowheads="1"/>
              </p:cNvSpPr>
              <p:nvPr/>
            </p:nvSpPr>
            <p:spPr bwMode="auto">
              <a:xfrm>
                <a:off x="5249" y="3477"/>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5" name="AutoShape 856"/>
              <p:cNvSpPr>
                <a:spLocks noChangeAspect="1" noChangeArrowheads="1"/>
              </p:cNvSpPr>
              <p:nvPr/>
            </p:nvSpPr>
            <p:spPr bwMode="auto">
              <a:xfrm flipV="1">
                <a:off x="5270" y="3486"/>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6" name="AutoShape 857"/>
              <p:cNvSpPr>
                <a:spLocks noChangeAspect="1" noChangeArrowheads="1"/>
              </p:cNvSpPr>
              <p:nvPr/>
            </p:nvSpPr>
            <p:spPr bwMode="auto">
              <a:xfrm flipV="1">
                <a:off x="5270" y="3497"/>
                <a:ext cx="6"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7" name="AutoShape 858"/>
              <p:cNvSpPr>
                <a:spLocks noChangeAspect="1" noChangeArrowheads="1"/>
              </p:cNvSpPr>
              <p:nvPr/>
            </p:nvSpPr>
            <p:spPr bwMode="auto">
              <a:xfrm>
                <a:off x="5320" y="346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8" name="AutoShape 859"/>
              <p:cNvSpPr>
                <a:spLocks noChangeAspect="1" noChangeArrowheads="1"/>
              </p:cNvSpPr>
              <p:nvPr/>
            </p:nvSpPr>
            <p:spPr bwMode="auto">
              <a:xfrm>
                <a:off x="5320" y="3445"/>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9" name="AutoShape 860"/>
              <p:cNvSpPr>
                <a:spLocks noChangeAspect="1" noChangeArrowheads="1"/>
              </p:cNvSpPr>
              <p:nvPr/>
            </p:nvSpPr>
            <p:spPr bwMode="auto">
              <a:xfrm>
                <a:off x="5339" y="344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0" name="AutoShape 861"/>
              <p:cNvSpPr>
                <a:spLocks noChangeAspect="1" noChangeArrowheads="1"/>
              </p:cNvSpPr>
              <p:nvPr/>
            </p:nvSpPr>
            <p:spPr bwMode="auto">
              <a:xfrm>
                <a:off x="5339" y="345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1" name="AutoShape 862"/>
              <p:cNvSpPr>
                <a:spLocks noChangeAspect="1" noChangeArrowheads="1"/>
              </p:cNvSpPr>
              <p:nvPr/>
            </p:nvSpPr>
            <p:spPr bwMode="auto">
              <a:xfrm>
                <a:off x="5371" y="347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2" name="AutoShape 863"/>
              <p:cNvSpPr>
                <a:spLocks noChangeAspect="1" noChangeArrowheads="1"/>
              </p:cNvSpPr>
              <p:nvPr/>
            </p:nvSpPr>
            <p:spPr bwMode="auto">
              <a:xfrm>
                <a:off x="5371" y="345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3" name="AutoShape 864"/>
              <p:cNvSpPr>
                <a:spLocks noChangeAspect="1" noChangeArrowheads="1"/>
              </p:cNvSpPr>
              <p:nvPr/>
            </p:nvSpPr>
            <p:spPr bwMode="auto">
              <a:xfrm>
                <a:off x="5388" y="3491"/>
                <a:ext cx="5"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4" name="AutoShape 865"/>
              <p:cNvSpPr>
                <a:spLocks noChangeAspect="1" noChangeArrowheads="1"/>
              </p:cNvSpPr>
              <p:nvPr/>
            </p:nvSpPr>
            <p:spPr bwMode="auto">
              <a:xfrm>
                <a:off x="5388" y="3472"/>
                <a:ext cx="5"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5" name="AutoShape 866"/>
              <p:cNvSpPr>
                <a:spLocks noChangeAspect="1" noChangeArrowheads="1"/>
              </p:cNvSpPr>
              <p:nvPr/>
            </p:nvSpPr>
            <p:spPr bwMode="auto">
              <a:xfrm>
                <a:off x="5355" y="346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6" name="AutoShape 867"/>
              <p:cNvSpPr>
                <a:spLocks noChangeAspect="1" noChangeArrowheads="1"/>
              </p:cNvSpPr>
              <p:nvPr/>
            </p:nvSpPr>
            <p:spPr bwMode="auto">
              <a:xfrm>
                <a:off x="5355" y="3445"/>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7" name="AutoShape 868"/>
              <p:cNvSpPr>
                <a:spLocks noChangeAspect="1" noChangeArrowheads="1"/>
              </p:cNvSpPr>
              <p:nvPr/>
            </p:nvSpPr>
            <p:spPr bwMode="auto">
              <a:xfrm>
                <a:off x="4874" y="344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8" name="AutoShape 869"/>
              <p:cNvSpPr>
                <a:spLocks noChangeAspect="1" noChangeArrowheads="1"/>
              </p:cNvSpPr>
              <p:nvPr/>
            </p:nvSpPr>
            <p:spPr bwMode="auto">
              <a:xfrm>
                <a:off x="4874" y="3476"/>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9" name="AutoShape 870"/>
              <p:cNvSpPr>
                <a:spLocks noChangeAspect="1" noChangeArrowheads="1"/>
              </p:cNvSpPr>
              <p:nvPr/>
            </p:nvSpPr>
            <p:spPr bwMode="auto">
              <a:xfrm>
                <a:off x="4890" y="3444"/>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0" name="AutoShape 871"/>
              <p:cNvSpPr>
                <a:spLocks noChangeAspect="1" noChangeArrowheads="1"/>
              </p:cNvSpPr>
              <p:nvPr/>
            </p:nvSpPr>
            <p:spPr bwMode="auto">
              <a:xfrm>
                <a:off x="4890" y="3464"/>
                <a:ext cx="4"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1" name="AutoShape 872"/>
              <p:cNvSpPr>
                <a:spLocks noChangeAspect="1" noChangeArrowheads="1"/>
              </p:cNvSpPr>
              <p:nvPr/>
            </p:nvSpPr>
            <p:spPr bwMode="auto">
              <a:xfrm>
                <a:off x="4857" y="346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2" name="AutoShape 873"/>
              <p:cNvSpPr>
                <a:spLocks noChangeAspect="1" noChangeArrowheads="1"/>
              </p:cNvSpPr>
              <p:nvPr/>
            </p:nvSpPr>
            <p:spPr bwMode="auto">
              <a:xfrm>
                <a:off x="4857" y="3489"/>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3" name="AutoShape 874"/>
              <p:cNvSpPr>
                <a:spLocks noChangeAspect="1" noChangeArrowheads="1"/>
              </p:cNvSpPr>
              <p:nvPr/>
            </p:nvSpPr>
            <p:spPr bwMode="auto">
              <a:xfrm>
                <a:off x="4840" y="3498"/>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4" name="AutoShape 875"/>
              <p:cNvSpPr>
                <a:spLocks noChangeAspect="1" noChangeArrowheads="1"/>
              </p:cNvSpPr>
              <p:nvPr/>
            </p:nvSpPr>
            <p:spPr bwMode="auto">
              <a:xfrm>
                <a:off x="4840" y="3490"/>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5" name="AutoShape 876"/>
              <p:cNvSpPr>
                <a:spLocks noChangeAspect="1" noChangeArrowheads="1"/>
              </p:cNvSpPr>
              <p:nvPr/>
            </p:nvSpPr>
            <p:spPr bwMode="auto">
              <a:xfrm flipV="1">
                <a:off x="4902" y="3457"/>
                <a:ext cx="5" cy="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6" name="AutoShape 877"/>
              <p:cNvSpPr>
                <a:spLocks noChangeAspect="1" noChangeArrowheads="1"/>
              </p:cNvSpPr>
              <p:nvPr/>
            </p:nvSpPr>
            <p:spPr bwMode="auto">
              <a:xfrm>
                <a:off x="4902" y="344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7" name="Freeform 878"/>
              <p:cNvSpPr>
                <a:spLocks noChangeAspect="1"/>
              </p:cNvSpPr>
              <p:nvPr/>
            </p:nvSpPr>
            <p:spPr bwMode="auto">
              <a:xfrm flipH="1">
                <a:off x="5355"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58" name="Freeform 879"/>
              <p:cNvSpPr>
                <a:spLocks noChangeAspect="1"/>
              </p:cNvSpPr>
              <p:nvPr/>
            </p:nvSpPr>
            <p:spPr bwMode="auto">
              <a:xfrm flipH="1">
                <a:off x="5314"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59" name="Freeform 880"/>
              <p:cNvSpPr>
                <a:spLocks noChangeAspect="1"/>
              </p:cNvSpPr>
              <p:nvPr/>
            </p:nvSpPr>
            <p:spPr bwMode="auto">
              <a:xfrm flipH="1">
                <a:off x="5213"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0" name="Freeform 881"/>
              <p:cNvSpPr>
                <a:spLocks noChangeAspect="1"/>
              </p:cNvSpPr>
              <p:nvPr/>
            </p:nvSpPr>
            <p:spPr bwMode="auto">
              <a:xfrm flipH="1">
                <a:off x="5172"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1" name="Freeform 882"/>
              <p:cNvSpPr>
                <a:spLocks noChangeAspect="1"/>
              </p:cNvSpPr>
              <p:nvPr/>
            </p:nvSpPr>
            <p:spPr bwMode="auto">
              <a:xfrm flipH="1">
                <a:off x="5071"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2" name="Freeform 883"/>
              <p:cNvSpPr>
                <a:spLocks noChangeAspect="1"/>
              </p:cNvSpPr>
              <p:nvPr/>
            </p:nvSpPr>
            <p:spPr bwMode="auto">
              <a:xfrm flipH="1">
                <a:off x="5030"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3" name="Freeform 884"/>
              <p:cNvSpPr>
                <a:spLocks noChangeAspect="1"/>
              </p:cNvSpPr>
              <p:nvPr/>
            </p:nvSpPr>
            <p:spPr bwMode="auto">
              <a:xfrm flipH="1">
                <a:off x="4930"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4" name="Freeform 885"/>
              <p:cNvSpPr>
                <a:spLocks noChangeAspect="1"/>
              </p:cNvSpPr>
              <p:nvPr/>
            </p:nvSpPr>
            <p:spPr bwMode="auto">
              <a:xfrm flipH="1">
                <a:off x="4889" y="3443"/>
                <a:ext cx="73"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5" name="Freeform 886"/>
              <p:cNvSpPr>
                <a:spLocks noChangeAspect="1"/>
              </p:cNvSpPr>
              <p:nvPr/>
            </p:nvSpPr>
            <p:spPr bwMode="auto">
              <a:xfrm flipH="1">
                <a:off x="4745"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6" name="Freeform 887"/>
              <p:cNvSpPr>
                <a:spLocks noChangeAspect="1"/>
              </p:cNvSpPr>
              <p:nvPr/>
            </p:nvSpPr>
            <p:spPr bwMode="auto">
              <a:xfrm flipH="1">
                <a:off x="4603"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7" name="Freeform 888"/>
              <p:cNvSpPr>
                <a:spLocks noChangeAspect="1"/>
              </p:cNvSpPr>
              <p:nvPr/>
            </p:nvSpPr>
            <p:spPr bwMode="auto">
              <a:xfrm flipH="1">
                <a:off x="4462"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8" name="Freeform 889"/>
              <p:cNvSpPr>
                <a:spLocks noChangeAspect="1"/>
              </p:cNvSpPr>
              <p:nvPr/>
            </p:nvSpPr>
            <p:spPr bwMode="auto">
              <a:xfrm flipH="1">
                <a:off x="4320"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47540" name="AutoShape 890"/>
            <p:cNvSpPr>
              <a:spLocks noChangeArrowheads="1"/>
            </p:cNvSpPr>
            <p:nvPr/>
          </p:nvSpPr>
          <p:spPr bwMode="auto">
            <a:xfrm>
              <a:off x="4759" y="3621"/>
              <a:ext cx="220" cy="228"/>
            </a:xfrm>
            <a:prstGeom prst="roundRect">
              <a:avLst>
                <a:gd name="adj" fmla="val 16667"/>
              </a:avLst>
            </a:prstGeom>
            <a:gradFill rotWithShape="1">
              <a:gsLst>
                <a:gs pos="0">
                  <a:srgbClr val="2F7618">
                    <a:alpha val="70000"/>
                  </a:srgbClr>
                </a:gs>
                <a:gs pos="50000">
                  <a:srgbClr val="66FF33">
                    <a:alpha val="70000"/>
                  </a:srgbClr>
                </a:gs>
                <a:gs pos="100000">
                  <a:srgbClr val="2F7618">
                    <a:alpha val="70000"/>
                  </a:srgbClr>
                </a:gs>
              </a:gsLst>
              <a:lin ang="5400000" scaled="1"/>
            </a:gradFill>
            <a:ln w="3175" algn="ctr">
              <a:solidFill>
                <a:srgbClr val="66FF33"/>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600" b="1">
                  <a:latin typeface="Arial" panose="020B0604020202020204" pitchFamily="34" charset="0"/>
                </a:rPr>
                <a:t>Klenow</a:t>
              </a:r>
            </a:p>
            <a:p>
              <a:pPr algn="ctr" eaLnBrk="1" hangingPunct="1">
                <a:spcBef>
                  <a:spcPct val="0"/>
                </a:spcBef>
                <a:buFontTx/>
                <a:buNone/>
              </a:pPr>
              <a:br>
                <a:rPr kumimoji="0" lang="en-US" altLang="zh-CN" sz="600" b="1">
                  <a:latin typeface="Arial" panose="020B0604020202020204" pitchFamily="34" charset="0"/>
                </a:rPr>
              </a:br>
              <a:r>
                <a:rPr kumimoji="0" lang="en-US" altLang="zh-CN" sz="600" b="1">
                  <a:latin typeface="Arial" panose="020B0604020202020204" pitchFamily="34" charset="0"/>
                </a:rPr>
                <a:t>Fragment</a:t>
              </a:r>
            </a:p>
          </p:txBody>
        </p:sp>
        <p:sp>
          <p:nvSpPr>
            <p:cNvPr id="147541" name="Line 891"/>
            <p:cNvSpPr>
              <a:spLocks noChangeShapeType="1"/>
            </p:cNvSpPr>
            <p:nvPr/>
          </p:nvSpPr>
          <p:spPr bwMode="auto">
            <a:xfrm flipH="1">
              <a:off x="4489" y="3813"/>
              <a:ext cx="248" cy="0"/>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7644" name="AutoShape 892"/>
            <p:cNvSpPr>
              <a:spLocks noChangeAspect="1" noChangeArrowheads="1"/>
            </p:cNvSpPr>
            <p:nvPr/>
          </p:nvSpPr>
          <p:spPr bwMode="auto">
            <a:xfrm>
              <a:off x="5298" y="3697"/>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sp>
          <p:nvSpPr>
            <p:cNvPr id="587645" name="AutoShape 893"/>
            <p:cNvSpPr>
              <a:spLocks noChangeAspect="1" noChangeArrowheads="1"/>
            </p:cNvSpPr>
            <p:nvPr/>
          </p:nvSpPr>
          <p:spPr bwMode="auto">
            <a:xfrm>
              <a:off x="5143" y="3696"/>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sp>
          <p:nvSpPr>
            <p:cNvPr id="587646" name="AutoShape 894"/>
            <p:cNvSpPr>
              <a:spLocks noChangeAspect="1" noChangeArrowheads="1"/>
            </p:cNvSpPr>
            <p:nvPr/>
          </p:nvSpPr>
          <p:spPr bwMode="auto">
            <a:xfrm>
              <a:off x="5005" y="3696"/>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grpSp>
          <p:nvGrpSpPr>
            <p:cNvPr id="147545" name="Group 895"/>
            <p:cNvGrpSpPr>
              <a:grpSpLocks noChangeAspect="1"/>
            </p:cNvGrpSpPr>
            <p:nvPr/>
          </p:nvGrpSpPr>
          <p:grpSpPr bwMode="auto">
            <a:xfrm>
              <a:off x="4179" y="3655"/>
              <a:ext cx="54" cy="71"/>
              <a:chOff x="3743" y="2439"/>
              <a:chExt cx="164" cy="216"/>
            </a:xfrm>
          </p:grpSpPr>
          <p:sp>
            <p:nvSpPr>
              <p:cNvPr id="147546" name="Freeform 896"/>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47" name="AutoShape 897"/>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nvGrpSpPr>
          <p:cNvPr id="147487" name="Group 898"/>
          <p:cNvGrpSpPr>
            <a:grpSpLocks noChangeAspect="1"/>
          </p:cNvGrpSpPr>
          <p:nvPr/>
        </p:nvGrpSpPr>
        <p:grpSpPr bwMode="auto">
          <a:xfrm>
            <a:off x="606425" y="1833563"/>
            <a:ext cx="1262063" cy="484187"/>
            <a:chOff x="1920" y="1649"/>
            <a:chExt cx="1753" cy="672"/>
          </a:xfrm>
        </p:grpSpPr>
        <p:sp>
          <p:nvSpPr>
            <p:cNvPr id="147537" name="Oval 899"/>
            <p:cNvSpPr>
              <a:spLocks noChangeAspect="1" noChangeArrowheads="1"/>
            </p:cNvSpPr>
            <p:nvPr/>
          </p:nvSpPr>
          <p:spPr bwMode="auto">
            <a:xfrm>
              <a:off x="1920" y="1984"/>
              <a:ext cx="1744" cy="336"/>
            </a:xfrm>
            <a:prstGeom prst="ellipse">
              <a:avLst/>
            </a:prstGeom>
            <a:solidFill>
              <a:srgbClr val="FFD72F"/>
            </a:solidFill>
            <a:ln w="9525">
              <a:solidFill>
                <a:srgbClr val="EAEAEA"/>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38" name="AutoShape 900"/>
            <p:cNvSpPr>
              <a:spLocks noChangeAspect="1" noChangeArrowheads="1"/>
            </p:cNvSpPr>
            <p:nvPr/>
          </p:nvSpPr>
          <p:spPr bwMode="auto">
            <a:xfrm>
              <a:off x="1921" y="1649"/>
              <a:ext cx="1752" cy="672"/>
            </a:xfrm>
            <a:prstGeom prst="can">
              <a:avLst>
                <a:gd name="adj" fmla="val 50000"/>
              </a:avLst>
            </a:prstGeom>
            <a:noFill/>
            <a:ln w="28575">
              <a:solidFill>
                <a:srgbClr val="777777"/>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488" name="Freeform 901"/>
          <p:cNvSpPr/>
          <p:nvPr/>
        </p:nvSpPr>
        <p:spPr bwMode="auto">
          <a:xfrm>
            <a:off x="1466850" y="1700213"/>
            <a:ext cx="750888" cy="304800"/>
          </a:xfrm>
          <a:custGeom>
            <a:avLst/>
            <a:gdLst>
              <a:gd name="T0" fmla="*/ 0 w 473"/>
              <a:gd name="T1" fmla="*/ 2147483646 h 192"/>
              <a:gd name="T2" fmla="*/ 2147483646 w 473"/>
              <a:gd name="T3" fmla="*/ 2147483646 h 192"/>
              <a:gd name="T4" fmla="*/ 2147483646 w 473"/>
              <a:gd name="T5" fmla="*/ 2147483646 h 192"/>
              <a:gd name="T6" fmla="*/ 0 60000 65536"/>
              <a:gd name="T7" fmla="*/ 0 60000 65536"/>
              <a:gd name="T8" fmla="*/ 0 60000 65536"/>
              <a:gd name="T9" fmla="*/ 0 w 473"/>
              <a:gd name="T10" fmla="*/ 0 h 192"/>
              <a:gd name="T11" fmla="*/ 473 w 473"/>
              <a:gd name="T12" fmla="*/ 192 h 192"/>
            </a:gdLst>
            <a:ahLst/>
            <a:cxnLst>
              <a:cxn ang="T6">
                <a:pos x="T0" y="T1"/>
              </a:cxn>
              <a:cxn ang="T7">
                <a:pos x="T2" y="T3"/>
              </a:cxn>
              <a:cxn ang="T8">
                <a:pos x="T4" y="T5"/>
              </a:cxn>
            </a:cxnLst>
            <a:rect l="T9" t="T10" r="T11" b="T12"/>
            <a:pathLst>
              <a:path w="473" h="192">
                <a:moveTo>
                  <a:pt x="0" y="192"/>
                </a:moveTo>
                <a:cubicBezTo>
                  <a:pt x="97" y="112"/>
                  <a:pt x="194" y="32"/>
                  <a:pt x="273" y="16"/>
                </a:cubicBezTo>
                <a:cubicBezTo>
                  <a:pt x="352" y="0"/>
                  <a:pt x="412" y="47"/>
                  <a:pt x="473" y="95"/>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489" name="Group 902"/>
          <p:cNvGrpSpPr>
            <a:grpSpLocks noChangeAspect="1"/>
          </p:cNvGrpSpPr>
          <p:nvPr/>
        </p:nvGrpSpPr>
        <p:grpSpPr bwMode="auto">
          <a:xfrm>
            <a:off x="606425" y="1833563"/>
            <a:ext cx="1262063" cy="484187"/>
            <a:chOff x="1920" y="1649"/>
            <a:chExt cx="1753" cy="672"/>
          </a:xfrm>
        </p:grpSpPr>
        <p:sp>
          <p:nvSpPr>
            <p:cNvPr id="147535" name="Oval 903"/>
            <p:cNvSpPr>
              <a:spLocks noChangeAspect="1" noChangeArrowheads="1"/>
            </p:cNvSpPr>
            <p:nvPr/>
          </p:nvSpPr>
          <p:spPr bwMode="auto">
            <a:xfrm>
              <a:off x="1920" y="1984"/>
              <a:ext cx="1744" cy="336"/>
            </a:xfrm>
            <a:prstGeom prst="ellipse">
              <a:avLst/>
            </a:prstGeom>
            <a:solidFill>
              <a:srgbClr val="FFD72F"/>
            </a:solidFill>
            <a:ln w="9525">
              <a:solidFill>
                <a:srgbClr val="FFFFFF">
                  <a:alpha val="50195"/>
                </a:srgbClr>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36" name="AutoShape 904"/>
            <p:cNvSpPr>
              <a:spLocks noChangeAspect="1" noChangeArrowheads="1"/>
            </p:cNvSpPr>
            <p:nvPr/>
          </p:nvSpPr>
          <p:spPr bwMode="auto">
            <a:xfrm>
              <a:off x="1921" y="1649"/>
              <a:ext cx="1752" cy="672"/>
            </a:xfrm>
            <a:prstGeom prst="can">
              <a:avLst>
                <a:gd name="adj" fmla="val 50000"/>
              </a:avLst>
            </a:prstGeom>
            <a:noFill/>
            <a:ln w="28575">
              <a:solidFill>
                <a:srgbClr val="FFFFFF">
                  <a:alpha val="50195"/>
                </a:srgbClr>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490" name="Freeform 905"/>
          <p:cNvSpPr/>
          <p:nvPr/>
        </p:nvSpPr>
        <p:spPr bwMode="auto">
          <a:xfrm>
            <a:off x="1466850" y="1700213"/>
            <a:ext cx="750888" cy="304800"/>
          </a:xfrm>
          <a:custGeom>
            <a:avLst/>
            <a:gdLst>
              <a:gd name="T0" fmla="*/ 0 w 473"/>
              <a:gd name="T1" fmla="*/ 2147483646 h 192"/>
              <a:gd name="T2" fmla="*/ 2147483646 w 473"/>
              <a:gd name="T3" fmla="*/ 2147483646 h 192"/>
              <a:gd name="T4" fmla="*/ 2147483646 w 473"/>
              <a:gd name="T5" fmla="*/ 2147483646 h 192"/>
              <a:gd name="T6" fmla="*/ 0 60000 65536"/>
              <a:gd name="T7" fmla="*/ 0 60000 65536"/>
              <a:gd name="T8" fmla="*/ 0 60000 65536"/>
              <a:gd name="T9" fmla="*/ 0 w 473"/>
              <a:gd name="T10" fmla="*/ 0 h 192"/>
              <a:gd name="T11" fmla="*/ 473 w 473"/>
              <a:gd name="T12" fmla="*/ 192 h 192"/>
            </a:gdLst>
            <a:ahLst/>
            <a:cxnLst>
              <a:cxn ang="T6">
                <a:pos x="T0" y="T1"/>
              </a:cxn>
              <a:cxn ang="T7">
                <a:pos x="T2" y="T3"/>
              </a:cxn>
              <a:cxn ang="T8">
                <a:pos x="T4" y="T5"/>
              </a:cxn>
            </a:cxnLst>
            <a:rect l="T9" t="T10" r="T11" b="T12"/>
            <a:pathLst>
              <a:path w="473" h="192">
                <a:moveTo>
                  <a:pt x="0" y="192"/>
                </a:moveTo>
                <a:cubicBezTo>
                  <a:pt x="97" y="112"/>
                  <a:pt x="194" y="32"/>
                  <a:pt x="273" y="16"/>
                </a:cubicBezTo>
                <a:cubicBezTo>
                  <a:pt x="352" y="0"/>
                  <a:pt x="412" y="47"/>
                  <a:pt x="473" y="95"/>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491" name="Group 906"/>
          <p:cNvGrpSpPr/>
          <p:nvPr/>
        </p:nvGrpSpPr>
        <p:grpSpPr bwMode="auto">
          <a:xfrm>
            <a:off x="768350" y="4348163"/>
            <a:ext cx="1828800" cy="1919287"/>
            <a:chOff x="484" y="2739"/>
            <a:chExt cx="1152" cy="1209"/>
          </a:xfrm>
        </p:grpSpPr>
        <p:sp>
          <p:nvSpPr>
            <p:cNvPr id="147492" name="Rectangle 907"/>
            <p:cNvSpPr>
              <a:spLocks noChangeArrowheads="1"/>
            </p:cNvSpPr>
            <p:nvPr/>
          </p:nvSpPr>
          <p:spPr bwMode="auto">
            <a:xfrm>
              <a:off x="484" y="2739"/>
              <a:ext cx="1152" cy="1209"/>
            </a:xfrm>
            <a:prstGeom prst="rect">
              <a:avLst/>
            </a:prstGeom>
            <a:solidFill>
              <a:srgbClr val="A3D5D9"/>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147493" name="Group 908"/>
            <p:cNvGrpSpPr/>
            <p:nvPr/>
          </p:nvGrpSpPr>
          <p:grpSpPr bwMode="auto">
            <a:xfrm>
              <a:off x="936" y="3460"/>
              <a:ext cx="196" cy="41"/>
              <a:chOff x="2130" y="3040"/>
              <a:chExt cx="196" cy="65"/>
            </a:xfrm>
          </p:grpSpPr>
          <p:sp>
            <p:nvSpPr>
              <p:cNvPr id="147533" name="Oval 909"/>
              <p:cNvSpPr>
                <a:spLocks noChangeArrowheads="1"/>
              </p:cNvSpPr>
              <p:nvPr/>
            </p:nvSpPr>
            <p:spPr bwMode="auto">
              <a:xfrm>
                <a:off x="2141" y="3077"/>
                <a:ext cx="174" cy="27"/>
              </a:xfrm>
              <a:prstGeom prst="ellipse">
                <a:avLst/>
              </a:prstGeom>
              <a:gradFill rotWithShape="1">
                <a:gsLst>
                  <a:gs pos="0">
                    <a:schemeClr val="accent1"/>
                  </a:gs>
                  <a:gs pos="100000">
                    <a:srgbClr val="777777"/>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34" name="Freeform 910"/>
              <p:cNvSpPr/>
              <p:nvPr/>
            </p:nvSpPr>
            <p:spPr bwMode="auto">
              <a:xfrm>
                <a:off x="2130" y="3040"/>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chemeClr val="accent1">
                      <a:alpha val="50000"/>
                    </a:schemeClr>
                  </a:gs>
                  <a:gs pos="100000">
                    <a:srgbClr val="777777"/>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grpSp>
          <p:nvGrpSpPr>
            <p:cNvPr id="147494" name="Group 911"/>
            <p:cNvGrpSpPr/>
            <p:nvPr/>
          </p:nvGrpSpPr>
          <p:grpSpPr bwMode="auto">
            <a:xfrm>
              <a:off x="510" y="3429"/>
              <a:ext cx="196" cy="66"/>
              <a:chOff x="2380" y="3087"/>
              <a:chExt cx="196" cy="66"/>
            </a:xfrm>
          </p:grpSpPr>
          <p:sp>
            <p:nvSpPr>
              <p:cNvPr id="147531" name="Freeform 912"/>
              <p:cNvSpPr/>
              <p:nvPr/>
            </p:nvSpPr>
            <p:spPr bwMode="auto">
              <a:xfrm>
                <a:off x="2380" y="3087"/>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chemeClr val="tx1">
                      <a:alpha val="20000"/>
                    </a:schemeClr>
                  </a:gs>
                  <a:gs pos="100000">
                    <a:schemeClr val="bg2">
                      <a:alpha val="50000"/>
                    </a:schemeClr>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532" name="Oval 913"/>
              <p:cNvSpPr>
                <a:spLocks noChangeArrowheads="1"/>
              </p:cNvSpPr>
              <p:nvPr/>
            </p:nvSpPr>
            <p:spPr bwMode="auto">
              <a:xfrm flipH="1">
                <a:off x="2393" y="3123"/>
                <a:ext cx="174" cy="30"/>
              </a:xfrm>
              <a:prstGeom prst="ellipse">
                <a:avLst/>
              </a:prstGeom>
              <a:gradFill rotWithShape="1">
                <a:gsLst>
                  <a:gs pos="0">
                    <a:schemeClr val="tx2">
                      <a:alpha val="7999"/>
                    </a:schemeClr>
                  </a:gs>
                  <a:gs pos="100000">
                    <a:srgbClr val="4D4D4D"/>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495" name="Group 914"/>
            <p:cNvGrpSpPr/>
            <p:nvPr/>
          </p:nvGrpSpPr>
          <p:grpSpPr bwMode="auto">
            <a:xfrm>
              <a:off x="723" y="3436"/>
              <a:ext cx="196" cy="65"/>
              <a:chOff x="2564" y="2752"/>
              <a:chExt cx="196" cy="65"/>
            </a:xfrm>
          </p:grpSpPr>
          <p:sp>
            <p:nvSpPr>
              <p:cNvPr id="147529" name="Freeform 915"/>
              <p:cNvSpPr/>
              <p:nvPr/>
            </p:nvSpPr>
            <p:spPr bwMode="auto">
              <a:xfrm>
                <a:off x="2564" y="2752"/>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chemeClr val="bg2"/>
                  </a:gs>
                  <a:gs pos="100000">
                    <a:schemeClr val="tx1">
                      <a:alpha val="50000"/>
                    </a:schemeClr>
                  </a:gs>
                </a:gsLst>
                <a:path path="rect">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530" name="Oval 916"/>
              <p:cNvSpPr>
                <a:spLocks noChangeArrowheads="1"/>
              </p:cNvSpPr>
              <p:nvPr/>
            </p:nvSpPr>
            <p:spPr bwMode="auto">
              <a:xfrm flipH="1">
                <a:off x="2574" y="2774"/>
                <a:ext cx="174" cy="42"/>
              </a:xfrm>
              <a:prstGeom prst="ellipse">
                <a:avLst/>
              </a:prstGeom>
              <a:gradFill rotWithShape="1">
                <a:gsLst>
                  <a:gs pos="0">
                    <a:srgbClr val="292929">
                      <a:alpha val="98000"/>
                    </a:srgbClr>
                  </a:gs>
                  <a:gs pos="100000">
                    <a:schemeClr val="tx2">
                      <a:alpha val="1999"/>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496" name="Group 917"/>
            <p:cNvGrpSpPr/>
            <p:nvPr/>
          </p:nvGrpSpPr>
          <p:grpSpPr bwMode="auto">
            <a:xfrm>
              <a:off x="1161" y="3436"/>
              <a:ext cx="196" cy="65"/>
              <a:chOff x="2124" y="2860"/>
              <a:chExt cx="196" cy="65"/>
            </a:xfrm>
          </p:grpSpPr>
          <p:sp>
            <p:nvSpPr>
              <p:cNvPr id="147527" name="Oval 918"/>
              <p:cNvSpPr>
                <a:spLocks noChangeArrowheads="1"/>
              </p:cNvSpPr>
              <p:nvPr/>
            </p:nvSpPr>
            <p:spPr bwMode="auto">
              <a:xfrm>
                <a:off x="2135" y="2895"/>
                <a:ext cx="174" cy="27"/>
              </a:xfrm>
              <a:prstGeom prst="ellipse">
                <a:avLst/>
              </a:prstGeom>
              <a:gradFill rotWithShape="1">
                <a:gsLst>
                  <a:gs pos="0">
                    <a:srgbClr val="B2B2B2"/>
                  </a:gs>
                  <a:gs pos="100000">
                    <a:schemeClr val="tx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28" name="Freeform 919"/>
              <p:cNvSpPr/>
              <p:nvPr/>
            </p:nvSpPr>
            <p:spPr bwMode="auto">
              <a:xfrm>
                <a:off x="2124" y="2860"/>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B2B2B2">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sp>
          <p:nvSpPr>
            <p:cNvPr id="147497" name="Freeform 920"/>
            <p:cNvSpPr/>
            <p:nvPr/>
          </p:nvSpPr>
          <p:spPr bwMode="auto">
            <a:xfrm>
              <a:off x="1389" y="3805"/>
              <a:ext cx="196" cy="107"/>
            </a:xfrm>
            <a:custGeom>
              <a:avLst/>
              <a:gdLst>
                <a:gd name="T0" fmla="*/ 5 w 196"/>
                <a:gd name="T1" fmla="*/ 81 h 65"/>
                <a:gd name="T2" fmla="*/ 14 w 196"/>
                <a:gd name="T3" fmla="*/ 387 h 65"/>
                <a:gd name="T4" fmla="*/ 91 w 196"/>
                <a:gd name="T5" fmla="*/ 463 h 65"/>
                <a:gd name="T6" fmla="*/ 180 w 196"/>
                <a:gd name="T7" fmla="*/ 407 h 65"/>
                <a:gd name="T8" fmla="*/ 185 w 196"/>
                <a:gd name="T9" fmla="*/ 35 h 65"/>
                <a:gd name="T10" fmla="*/ 167 w 196"/>
                <a:gd name="T11" fmla="*/ 181 h 65"/>
                <a:gd name="T12" fmla="*/ 27 w 196"/>
                <a:gd name="T13" fmla="*/ 171 h 65"/>
                <a:gd name="T14" fmla="*/ 5 w 196"/>
                <a:gd name="T15" fmla="*/ 8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498" name="Freeform 921"/>
            <p:cNvSpPr/>
            <p:nvPr/>
          </p:nvSpPr>
          <p:spPr bwMode="auto">
            <a:xfrm>
              <a:off x="1389" y="3651"/>
              <a:ext cx="196" cy="71"/>
            </a:xfrm>
            <a:custGeom>
              <a:avLst/>
              <a:gdLst>
                <a:gd name="T0" fmla="*/ 5 w 196"/>
                <a:gd name="T1" fmla="*/ 15 h 65"/>
                <a:gd name="T2" fmla="*/ 14 w 196"/>
                <a:gd name="T3" fmla="*/ 75 h 65"/>
                <a:gd name="T4" fmla="*/ 91 w 196"/>
                <a:gd name="T5" fmla="*/ 90 h 65"/>
                <a:gd name="T6" fmla="*/ 180 w 196"/>
                <a:gd name="T7" fmla="*/ 79 h 65"/>
                <a:gd name="T8" fmla="*/ 185 w 196"/>
                <a:gd name="T9" fmla="*/ 5 h 65"/>
                <a:gd name="T10" fmla="*/ 167 w 196"/>
                <a:gd name="T11" fmla="*/ 35 h 65"/>
                <a:gd name="T12" fmla="*/ 27 w 196"/>
                <a:gd name="T13" fmla="*/ 32 h 65"/>
                <a:gd name="T14" fmla="*/ 5 w 196"/>
                <a:gd name="T15" fmla="*/ 15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499" name="Freeform 922"/>
            <p:cNvSpPr/>
            <p:nvPr/>
          </p:nvSpPr>
          <p:spPr bwMode="auto">
            <a:xfrm>
              <a:off x="1389" y="3505"/>
              <a:ext cx="196" cy="53"/>
            </a:xfrm>
            <a:custGeom>
              <a:avLst/>
              <a:gdLst>
                <a:gd name="T0" fmla="*/ 5 w 196"/>
                <a:gd name="T1" fmla="*/ 5 h 65"/>
                <a:gd name="T2" fmla="*/ 14 w 196"/>
                <a:gd name="T3" fmla="*/ 24 h 65"/>
                <a:gd name="T4" fmla="*/ 91 w 196"/>
                <a:gd name="T5" fmla="*/ 28 h 65"/>
                <a:gd name="T6" fmla="*/ 180 w 196"/>
                <a:gd name="T7" fmla="*/ 24 h 65"/>
                <a:gd name="T8" fmla="*/ 185 w 196"/>
                <a:gd name="T9" fmla="*/ 2 h 65"/>
                <a:gd name="T10" fmla="*/ 167 w 196"/>
                <a:gd name="T11" fmla="*/ 11 h 65"/>
                <a:gd name="T12" fmla="*/ 27 w 196"/>
                <a:gd name="T13" fmla="*/ 10 h 65"/>
                <a:gd name="T14" fmla="*/ 5 w 196"/>
                <a:gd name="T15" fmla="*/ 5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500" name="Freeform 923"/>
            <p:cNvSpPr/>
            <p:nvPr/>
          </p:nvSpPr>
          <p:spPr bwMode="auto">
            <a:xfrm>
              <a:off x="1389" y="3275"/>
              <a:ext cx="196" cy="51"/>
            </a:xfrm>
            <a:custGeom>
              <a:avLst/>
              <a:gdLst>
                <a:gd name="T0" fmla="*/ 5 w 196"/>
                <a:gd name="T1" fmla="*/ 4 h 65"/>
                <a:gd name="T2" fmla="*/ 14 w 196"/>
                <a:gd name="T3" fmla="*/ 20 h 65"/>
                <a:gd name="T4" fmla="*/ 91 w 196"/>
                <a:gd name="T5" fmla="*/ 24 h 65"/>
                <a:gd name="T6" fmla="*/ 180 w 196"/>
                <a:gd name="T7" fmla="*/ 21 h 65"/>
                <a:gd name="T8" fmla="*/ 185 w 196"/>
                <a:gd name="T9" fmla="*/ 2 h 65"/>
                <a:gd name="T10" fmla="*/ 167 w 196"/>
                <a:gd name="T11" fmla="*/ 10 h 65"/>
                <a:gd name="T12" fmla="*/ 27 w 196"/>
                <a:gd name="T13" fmla="*/ 9 h 65"/>
                <a:gd name="T14" fmla="*/ 5 w 196"/>
                <a:gd name="T15" fmla="*/ 4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501" name="Freeform 924"/>
            <p:cNvSpPr/>
            <p:nvPr/>
          </p:nvSpPr>
          <p:spPr bwMode="auto">
            <a:xfrm>
              <a:off x="1389" y="3087"/>
              <a:ext cx="196" cy="37"/>
            </a:xfrm>
            <a:custGeom>
              <a:avLst/>
              <a:gdLst>
                <a:gd name="T0" fmla="*/ 5 w 196"/>
                <a:gd name="T1" fmla="*/ 1 h 65"/>
                <a:gd name="T2" fmla="*/ 14 w 196"/>
                <a:gd name="T3" fmla="*/ 6 h 65"/>
                <a:gd name="T4" fmla="*/ 91 w 196"/>
                <a:gd name="T5" fmla="*/ 6 h 65"/>
                <a:gd name="T6" fmla="*/ 180 w 196"/>
                <a:gd name="T7" fmla="*/ 6 h 65"/>
                <a:gd name="T8" fmla="*/ 185 w 196"/>
                <a:gd name="T9" fmla="*/ 1 h 65"/>
                <a:gd name="T10" fmla="*/ 167 w 196"/>
                <a:gd name="T11" fmla="*/ 3 h 65"/>
                <a:gd name="T12" fmla="*/ 27 w 196"/>
                <a:gd name="T13" fmla="*/ 2 h 65"/>
                <a:gd name="T14" fmla="*/ 5 w 196"/>
                <a:gd name="T15" fmla="*/ 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502" name="Freeform 925"/>
            <p:cNvSpPr/>
            <p:nvPr/>
          </p:nvSpPr>
          <p:spPr bwMode="auto">
            <a:xfrm>
              <a:off x="1389" y="3015"/>
              <a:ext cx="196" cy="29"/>
            </a:xfrm>
            <a:custGeom>
              <a:avLst/>
              <a:gdLst>
                <a:gd name="T0" fmla="*/ 5 w 196"/>
                <a:gd name="T1" fmla="*/ 0 h 65"/>
                <a:gd name="T2" fmla="*/ 14 w 196"/>
                <a:gd name="T3" fmla="*/ 2 h 65"/>
                <a:gd name="T4" fmla="*/ 91 w 196"/>
                <a:gd name="T5" fmla="*/ 2 h 65"/>
                <a:gd name="T6" fmla="*/ 180 w 196"/>
                <a:gd name="T7" fmla="*/ 2 h 65"/>
                <a:gd name="T8" fmla="*/ 185 w 196"/>
                <a:gd name="T9" fmla="*/ 0 h 65"/>
                <a:gd name="T10" fmla="*/ 167 w 196"/>
                <a:gd name="T11" fmla="*/ 1 h 65"/>
                <a:gd name="T12" fmla="*/ 27 w 196"/>
                <a:gd name="T13" fmla="*/ 1 h 65"/>
                <a:gd name="T14" fmla="*/ 5 w 196"/>
                <a:gd name="T15" fmla="*/ 0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503" name="Freeform 926"/>
            <p:cNvSpPr/>
            <p:nvPr/>
          </p:nvSpPr>
          <p:spPr bwMode="auto">
            <a:xfrm>
              <a:off x="1389" y="2968"/>
              <a:ext cx="196" cy="27"/>
            </a:xfrm>
            <a:custGeom>
              <a:avLst/>
              <a:gdLst>
                <a:gd name="T0" fmla="*/ 5 w 196"/>
                <a:gd name="T1" fmla="*/ 0 h 65"/>
                <a:gd name="T2" fmla="*/ 14 w 196"/>
                <a:gd name="T3" fmla="*/ 2 h 65"/>
                <a:gd name="T4" fmla="*/ 91 w 196"/>
                <a:gd name="T5" fmla="*/ 2 h 65"/>
                <a:gd name="T6" fmla="*/ 180 w 196"/>
                <a:gd name="T7" fmla="*/ 2 h 65"/>
                <a:gd name="T8" fmla="*/ 185 w 196"/>
                <a:gd name="T9" fmla="*/ 0 h 65"/>
                <a:gd name="T10" fmla="*/ 167 w 196"/>
                <a:gd name="T11" fmla="*/ 1 h 65"/>
                <a:gd name="T12" fmla="*/ 27 w 196"/>
                <a:gd name="T13" fmla="*/ 1 h 65"/>
                <a:gd name="T14" fmla="*/ 5 w 196"/>
                <a:gd name="T15" fmla="*/ 0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504" name="Freeform 927"/>
            <p:cNvSpPr/>
            <p:nvPr/>
          </p:nvSpPr>
          <p:spPr bwMode="auto">
            <a:xfrm>
              <a:off x="1389" y="2937"/>
              <a:ext cx="196" cy="27"/>
            </a:xfrm>
            <a:custGeom>
              <a:avLst/>
              <a:gdLst>
                <a:gd name="T0" fmla="*/ 5 w 196"/>
                <a:gd name="T1" fmla="*/ 0 h 65"/>
                <a:gd name="T2" fmla="*/ 14 w 196"/>
                <a:gd name="T3" fmla="*/ 2 h 65"/>
                <a:gd name="T4" fmla="*/ 91 w 196"/>
                <a:gd name="T5" fmla="*/ 2 h 65"/>
                <a:gd name="T6" fmla="*/ 180 w 196"/>
                <a:gd name="T7" fmla="*/ 2 h 65"/>
                <a:gd name="T8" fmla="*/ 185 w 196"/>
                <a:gd name="T9" fmla="*/ 0 h 65"/>
                <a:gd name="T10" fmla="*/ 167 w 196"/>
                <a:gd name="T11" fmla="*/ 1 h 65"/>
                <a:gd name="T12" fmla="*/ 27 w 196"/>
                <a:gd name="T13" fmla="*/ 1 h 65"/>
                <a:gd name="T14" fmla="*/ 5 w 196"/>
                <a:gd name="T15" fmla="*/ 0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nvGrpSpPr>
            <p:cNvPr id="147505" name="Group 928"/>
            <p:cNvGrpSpPr>
              <a:grpSpLocks noChangeAspect="1"/>
            </p:cNvGrpSpPr>
            <p:nvPr/>
          </p:nvGrpSpPr>
          <p:grpSpPr bwMode="auto">
            <a:xfrm>
              <a:off x="590" y="2780"/>
              <a:ext cx="950" cy="81"/>
              <a:chOff x="3564" y="1839"/>
              <a:chExt cx="1807" cy="154"/>
            </a:xfrm>
          </p:grpSpPr>
          <p:sp>
            <p:nvSpPr>
              <p:cNvPr id="147506" name="Freeform 929"/>
              <p:cNvSpPr>
                <a:spLocks noChangeAspect="1"/>
              </p:cNvSpPr>
              <p:nvPr/>
            </p:nvSpPr>
            <p:spPr bwMode="auto">
              <a:xfrm>
                <a:off x="3564" y="1863"/>
                <a:ext cx="81" cy="130"/>
              </a:xfrm>
              <a:custGeom>
                <a:avLst/>
                <a:gdLst>
                  <a:gd name="T0" fmla="*/ 0 w 426"/>
                  <a:gd name="T1" fmla="*/ 1 h 684"/>
                  <a:gd name="T2" fmla="*/ 0 w 426"/>
                  <a:gd name="T3" fmla="*/ 0 h 684"/>
                  <a:gd name="T4" fmla="*/ 1 w 426"/>
                  <a:gd name="T5" fmla="*/ 1 h 684"/>
                  <a:gd name="T6" fmla="*/ 1 w 426"/>
                  <a:gd name="T7" fmla="*/ 0 h 684"/>
                  <a:gd name="T8" fmla="*/ 0 60000 65536"/>
                  <a:gd name="T9" fmla="*/ 0 60000 65536"/>
                  <a:gd name="T10" fmla="*/ 0 60000 65536"/>
                  <a:gd name="T11" fmla="*/ 0 60000 65536"/>
                  <a:gd name="T12" fmla="*/ 0 w 426"/>
                  <a:gd name="T13" fmla="*/ 0 h 684"/>
                  <a:gd name="T14" fmla="*/ 426 w 426"/>
                  <a:gd name="T15" fmla="*/ 684 h 684"/>
                </a:gdLst>
                <a:ahLst/>
                <a:cxnLst>
                  <a:cxn ang="T8">
                    <a:pos x="T0" y="T1"/>
                  </a:cxn>
                  <a:cxn ang="T9">
                    <a:pos x="T2" y="T3"/>
                  </a:cxn>
                  <a:cxn ang="T10">
                    <a:pos x="T4" y="T5"/>
                  </a:cxn>
                  <a:cxn ang="T11">
                    <a:pos x="T6" y="T7"/>
                  </a:cxn>
                </a:cxnLst>
                <a:rect l="T12" t="T13" r="T14" b="T15"/>
                <a:pathLst>
                  <a:path w="426" h="684">
                    <a:moveTo>
                      <a:pt x="0" y="684"/>
                    </a:moveTo>
                    <a:lnTo>
                      <a:pt x="0" y="6"/>
                    </a:lnTo>
                    <a:lnTo>
                      <a:pt x="426" y="672"/>
                    </a:lnTo>
                    <a:lnTo>
                      <a:pt x="426" y="0"/>
                    </a:ln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07" name="Freeform 930"/>
              <p:cNvSpPr>
                <a:spLocks noChangeAspect="1"/>
              </p:cNvSpPr>
              <p:nvPr/>
            </p:nvSpPr>
            <p:spPr bwMode="auto">
              <a:xfrm>
                <a:off x="3695" y="1862"/>
                <a:ext cx="109" cy="131"/>
              </a:xfrm>
              <a:custGeom>
                <a:avLst/>
                <a:gdLst>
                  <a:gd name="T0" fmla="*/ 0 w 551"/>
                  <a:gd name="T1" fmla="*/ 0 h 660"/>
                  <a:gd name="T2" fmla="*/ 0 w 551"/>
                  <a:gd name="T3" fmla="*/ 0 h 660"/>
                  <a:gd name="T4" fmla="*/ 0 w 551"/>
                  <a:gd name="T5" fmla="*/ 1 h 660"/>
                  <a:gd name="T6" fmla="*/ 0 w 551"/>
                  <a:gd name="T7" fmla="*/ 1 h 660"/>
                  <a:gd name="T8" fmla="*/ 1 w 551"/>
                  <a:gd name="T9" fmla="*/ 1 h 660"/>
                  <a:gd name="T10" fmla="*/ 1 w 551"/>
                  <a:gd name="T11" fmla="*/ 1 h 660"/>
                  <a:gd name="T12" fmla="*/ 1 w 551"/>
                  <a:gd name="T13" fmla="*/ 0 h 660"/>
                  <a:gd name="T14" fmla="*/ 1 w 551"/>
                  <a:gd name="T15" fmla="*/ 0 h 660"/>
                  <a:gd name="T16" fmla="*/ 0 w 551"/>
                  <a:gd name="T17" fmla="*/ 0 h 6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1"/>
                  <a:gd name="T28" fmla="*/ 0 h 660"/>
                  <a:gd name="T29" fmla="*/ 551 w 551"/>
                  <a:gd name="T30" fmla="*/ 660 h 6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1" h="660">
                    <a:moveTo>
                      <a:pt x="166" y="26"/>
                    </a:moveTo>
                    <a:cubicBezTo>
                      <a:pt x="110" y="58"/>
                      <a:pt x="44" y="142"/>
                      <a:pt x="22" y="218"/>
                    </a:cubicBezTo>
                    <a:cubicBezTo>
                      <a:pt x="0" y="294"/>
                      <a:pt x="9" y="413"/>
                      <a:pt x="34" y="482"/>
                    </a:cubicBezTo>
                    <a:cubicBezTo>
                      <a:pt x="59" y="551"/>
                      <a:pt x="116" y="607"/>
                      <a:pt x="172" y="632"/>
                    </a:cubicBezTo>
                    <a:cubicBezTo>
                      <a:pt x="228" y="657"/>
                      <a:pt x="311" y="660"/>
                      <a:pt x="370" y="632"/>
                    </a:cubicBezTo>
                    <a:cubicBezTo>
                      <a:pt x="429" y="604"/>
                      <a:pt x="501" y="539"/>
                      <a:pt x="526" y="464"/>
                    </a:cubicBezTo>
                    <a:cubicBezTo>
                      <a:pt x="551" y="389"/>
                      <a:pt x="547" y="255"/>
                      <a:pt x="520" y="182"/>
                    </a:cubicBezTo>
                    <a:cubicBezTo>
                      <a:pt x="493" y="109"/>
                      <a:pt x="423" y="52"/>
                      <a:pt x="364" y="26"/>
                    </a:cubicBezTo>
                    <a:cubicBezTo>
                      <a:pt x="305" y="0"/>
                      <a:pt x="207" y="26"/>
                      <a:pt x="166" y="26"/>
                    </a:cubicBezTo>
                    <a:close/>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08" name="Freeform 931"/>
              <p:cNvSpPr>
                <a:spLocks noChangeAspect="1"/>
              </p:cNvSpPr>
              <p:nvPr/>
            </p:nvSpPr>
            <p:spPr bwMode="auto">
              <a:xfrm>
                <a:off x="3855" y="1858"/>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509" name="Group 932"/>
              <p:cNvGrpSpPr>
                <a:grpSpLocks noChangeAspect="1"/>
              </p:cNvGrpSpPr>
              <p:nvPr/>
            </p:nvGrpSpPr>
            <p:grpSpPr bwMode="auto">
              <a:xfrm>
                <a:off x="4004" y="1861"/>
                <a:ext cx="110" cy="132"/>
                <a:chOff x="906" y="2412"/>
                <a:chExt cx="552" cy="660"/>
              </a:xfrm>
            </p:grpSpPr>
            <p:sp>
              <p:nvSpPr>
                <p:cNvPr id="147525" name="Freeform 933"/>
                <p:cNvSpPr>
                  <a:spLocks noChangeAspect="1"/>
                </p:cNvSpPr>
                <p:nvPr/>
              </p:nvSpPr>
              <p:spPr bwMode="auto">
                <a:xfrm>
                  <a:off x="906" y="2418"/>
                  <a:ext cx="552" cy="1"/>
                </a:xfrm>
                <a:custGeom>
                  <a:avLst/>
                  <a:gdLst>
                    <a:gd name="T0" fmla="*/ 0 w 552"/>
                    <a:gd name="T1" fmla="*/ 0 h 1"/>
                    <a:gd name="T2" fmla="*/ 552 w 552"/>
                    <a:gd name="T3" fmla="*/ 0 h 1"/>
                    <a:gd name="T4" fmla="*/ 0 60000 65536"/>
                    <a:gd name="T5" fmla="*/ 0 60000 65536"/>
                    <a:gd name="T6" fmla="*/ 0 w 552"/>
                    <a:gd name="T7" fmla="*/ 0 h 1"/>
                    <a:gd name="T8" fmla="*/ 552 w 552"/>
                    <a:gd name="T9" fmla="*/ 1 h 1"/>
                  </a:gdLst>
                  <a:ahLst/>
                  <a:cxnLst>
                    <a:cxn ang="T4">
                      <a:pos x="T0" y="T1"/>
                    </a:cxn>
                    <a:cxn ang="T5">
                      <a:pos x="T2" y="T3"/>
                    </a:cxn>
                  </a:cxnLst>
                  <a:rect l="T6" t="T7" r="T8" b="T9"/>
                  <a:pathLst>
                    <a:path w="552" h="1">
                      <a:moveTo>
                        <a:pt x="0" y="0"/>
                      </a:moveTo>
                      <a:cubicBezTo>
                        <a:pt x="230" y="0"/>
                        <a:pt x="461" y="0"/>
                        <a:pt x="552" y="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26" name="Freeform 934"/>
                <p:cNvSpPr>
                  <a:spLocks noChangeAspect="1"/>
                </p:cNvSpPr>
                <p:nvPr/>
              </p:nvSpPr>
              <p:spPr bwMode="auto">
                <a:xfrm>
                  <a:off x="1176" y="2412"/>
                  <a:ext cx="1" cy="660"/>
                </a:xfrm>
                <a:custGeom>
                  <a:avLst/>
                  <a:gdLst>
                    <a:gd name="T0" fmla="*/ 0 w 1"/>
                    <a:gd name="T1" fmla="*/ 0 h 660"/>
                    <a:gd name="T2" fmla="*/ 0 w 1"/>
                    <a:gd name="T3" fmla="*/ 660 h 660"/>
                    <a:gd name="T4" fmla="*/ 0 60000 65536"/>
                    <a:gd name="T5" fmla="*/ 0 60000 65536"/>
                    <a:gd name="T6" fmla="*/ 0 w 1"/>
                    <a:gd name="T7" fmla="*/ 0 h 660"/>
                    <a:gd name="T8" fmla="*/ 1 w 1"/>
                    <a:gd name="T9" fmla="*/ 660 h 660"/>
                  </a:gdLst>
                  <a:ahLst/>
                  <a:cxnLst>
                    <a:cxn ang="T4">
                      <a:pos x="T0" y="T1"/>
                    </a:cxn>
                    <a:cxn ang="T5">
                      <a:pos x="T2" y="T3"/>
                    </a:cxn>
                  </a:cxnLst>
                  <a:rect l="T6" t="T7" r="T8" b="T9"/>
                  <a:pathLst>
                    <a:path w="1" h="660">
                      <a:moveTo>
                        <a:pt x="0" y="0"/>
                      </a:moveTo>
                      <a:cubicBezTo>
                        <a:pt x="0" y="275"/>
                        <a:pt x="0" y="550"/>
                        <a:pt x="0" y="66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7510" name="Group 935"/>
              <p:cNvGrpSpPr>
                <a:grpSpLocks noChangeAspect="1"/>
              </p:cNvGrpSpPr>
              <p:nvPr/>
            </p:nvGrpSpPr>
            <p:grpSpPr bwMode="auto">
              <a:xfrm>
                <a:off x="4164" y="1866"/>
                <a:ext cx="94" cy="127"/>
                <a:chOff x="4991" y="1343"/>
                <a:chExt cx="456" cy="618"/>
              </a:xfrm>
            </p:grpSpPr>
            <p:sp>
              <p:nvSpPr>
                <p:cNvPr id="147522" name="Line 936"/>
                <p:cNvSpPr>
                  <a:spLocks noChangeAspect="1" noChangeShapeType="1"/>
                </p:cNvSpPr>
                <p:nvPr/>
              </p:nvSpPr>
              <p:spPr bwMode="auto">
                <a:xfrm>
                  <a:off x="4991" y="1343"/>
                  <a:ext cx="0" cy="618"/>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23" name="Line 937"/>
                <p:cNvSpPr>
                  <a:spLocks noChangeAspect="1" noChangeShapeType="1"/>
                </p:cNvSpPr>
                <p:nvPr/>
              </p:nvSpPr>
              <p:spPr bwMode="auto">
                <a:xfrm>
                  <a:off x="5441" y="1343"/>
                  <a:ext cx="0" cy="618"/>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24" name="Line 938"/>
                <p:cNvSpPr>
                  <a:spLocks noChangeAspect="1" noChangeShapeType="1"/>
                </p:cNvSpPr>
                <p:nvPr/>
              </p:nvSpPr>
              <p:spPr bwMode="auto">
                <a:xfrm>
                  <a:off x="4991" y="1631"/>
                  <a:ext cx="456" cy="0"/>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511" name="Group 939"/>
              <p:cNvGrpSpPr>
                <a:grpSpLocks noChangeAspect="1"/>
              </p:cNvGrpSpPr>
              <p:nvPr/>
            </p:nvGrpSpPr>
            <p:grpSpPr bwMode="auto">
              <a:xfrm>
                <a:off x="4309" y="1866"/>
                <a:ext cx="87" cy="127"/>
                <a:chOff x="3017" y="1343"/>
                <a:chExt cx="420" cy="612"/>
              </a:xfrm>
            </p:grpSpPr>
            <p:sp>
              <p:nvSpPr>
                <p:cNvPr id="147520" name="Freeform 940"/>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21" name="Line 941"/>
                <p:cNvSpPr>
                  <a:spLocks noChangeAspect="1" noChangeShapeType="1"/>
                </p:cNvSpPr>
                <p:nvPr/>
              </p:nvSpPr>
              <p:spPr bwMode="auto">
                <a:xfrm>
                  <a:off x="3017" y="1637"/>
                  <a:ext cx="378" cy="0"/>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512" name="Freeform 942"/>
              <p:cNvSpPr>
                <a:spLocks noChangeAspect="1"/>
              </p:cNvSpPr>
              <p:nvPr/>
            </p:nvSpPr>
            <p:spPr bwMode="auto">
              <a:xfrm>
                <a:off x="4447" y="1858"/>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13" name="Freeform 943"/>
              <p:cNvSpPr>
                <a:spLocks noChangeAspect="1"/>
              </p:cNvSpPr>
              <p:nvPr/>
            </p:nvSpPr>
            <p:spPr bwMode="auto">
              <a:xfrm>
                <a:off x="4596" y="1863"/>
                <a:ext cx="81" cy="130"/>
              </a:xfrm>
              <a:custGeom>
                <a:avLst/>
                <a:gdLst>
                  <a:gd name="T0" fmla="*/ 0 w 426"/>
                  <a:gd name="T1" fmla="*/ 1 h 684"/>
                  <a:gd name="T2" fmla="*/ 0 w 426"/>
                  <a:gd name="T3" fmla="*/ 0 h 684"/>
                  <a:gd name="T4" fmla="*/ 1 w 426"/>
                  <a:gd name="T5" fmla="*/ 1 h 684"/>
                  <a:gd name="T6" fmla="*/ 1 w 426"/>
                  <a:gd name="T7" fmla="*/ 0 h 684"/>
                  <a:gd name="T8" fmla="*/ 0 60000 65536"/>
                  <a:gd name="T9" fmla="*/ 0 60000 65536"/>
                  <a:gd name="T10" fmla="*/ 0 60000 65536"/>
                  <a:gd name="T11" fmla="*/ 0 60000 65536"/>
                  <a:gd name="T12" fmla="*/ 0 w 426"/>
                  <a:gd name="T13" fmla="*/ 0 h 684"/>
                  <a:gd name="T14" fmla="*/ 426 w 426"/>
                  <a:gd name="T15" fmla="*/ 684 h 684"/>
                </a:gdLst>
                <a:ahLst/>
                <a:cxnLst>
                  <a:cxn ang="T8">
                    <a:pos x="T0" y="T1"/>
                  </a:cxn>
                  <a:cxn ang="T9">
                    <a:pos x="T2" y="T3"/>
                  </a:cxn>
                  <a:cxn ang="T10">
                    <a:pos x="T4" y="T5"/>
                  </a:cxn>
                  <a:cxn ang="T11">
                    <a:pos x="T6" y="T7"/>
                  </a:cxn>
                </a:cxnLst>
                <a:rect l="T12" t="T13" r="T14" b="T15"/>
                <a:pathLst>
                  <a:path w="426" h="684">
                    <a:moveTo>
                      <a:pt x="0" y="684"/>
                    </a:moveTo>
                    <a:lnTo>
                      <a:pt x="0" y="6"/>
                    </a:lnTo>
                    <a:lnTo>
                      <a:pt x="426" y="672"/>
                    </a:lnTo>
                    <a:lnTo>
                      <a:pt x="426" y="0"/>
                    </a:ln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14" name="Freeform 944"/>
              <p:cNvSpPr>
                <a:spLocks noChangeAspect="1"/>
              </p:cNvSpPr>
              <p:nvPr/>
            </p:nvSpPr>
            <p:spPr bwMode="auto">
              <a:xfrm>
                <a:off x="4860" y="1846"/>
                <a:ext cx="92" cy="127"/>
              </a:xfrm>
              <a:custGeom>
                <a:avLst/>
                <a:gdLst>
                  <a:gd name="T0" fmla="*/ 0 w 442"/>
                  <a:gd name="T1" fmla="*/ 0 h 612"/>
                  <a:gd name="T2" fmla="*/ 0 w 442"/>
                  <a:gd name="T3" fmla="*/ 1 h 612"/>
                  <a:gd name="T4" fmla="*/ 0 w 442"/>
                  <a:gd name="T5" fmla="*/ 1 h 612"/>
                  <a:gd name="T6" fmla="*/ 1 w 442"/>
                  <a:gd name="T7" fmla="*/ 1 h 612"/>
                  <a:gd name="T8" fmla="*/ 1 w 442"/>
                  <a:gd name="T9" fmla="*/ 1 h 612"/>
                  <a:gd name="T10" fmla="*/ 0 w 442"/>
                  <a:gd name="T11" fmla="*/ 1 h 612"/>
                  <a:gd name="T12" fmla="*/ 0 w 442"/>
                  <a:gd name="T13" fmla="*/ 0 h 612"/>
                  <a:gd name="T14" fmla="*/ 0 w 442"/>
                  <a:gd name="T15" fmla="*/ 0 h 612"/>
                  <a:gd name="T16" fmla="*/ 1 w 442"/>
                  <a:gd name="T17" fmla="*/ 0 h 612"/>
                  <a:gd name="T18" fmla="*/ 1 w 442"/>
                  <a:gd name="T19" fmla="*/ 0 h 612"/>
                  <a:gd name="T20" fmla="*/ 0 w 442"/>
                  <a:gd name="T21" fmla="*/ 0 h 612"/>
                  <a:gd name="T22" fmla="*/ 0 w 442"/>
                  <a:gd name="T23" fmla="*/ 0 h 6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2"/>
                  <a:gd name="T37" fmla="*/ 0 h 612"/>
                  <a:gd name="T38" fmla="*/ 442 w 442"/>
                  <a:gd name="T39" fmla="*/ 612 h 6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2" h="612">
                    <a:moveTo>
                      <a:pt x="0" y="0"/>
                    </a:moveTo>
                    <a:lnTo>
                      <a:pt x="0" y="612"/>
                    </a:lnTo>
                    <a:lnTo>
                      <a:pt x="288" y="612"/>
                    </a:lnTo>
                    <a:cubicBezTo>
                      <a:pt x="356" y="602"/>
                      <a:pt x="386" y="589"/>
                      <a:pt x="408" y="552"/>
                    </a:cubicBezTo>
                    <a:cubicBezTo>
                      <a:pt x="430" y="515"/>
                      <a:pt x="442" y="433"/>
                      <a:pt x="420" y="390"/>
                    </a:cubicBezTo>
                    <a:cubicBezTo>
                      <a:pt x="398" y="347"/>
                      <a:pt x="346" y="311"/>
                      <a:pt x="276" y="294"/>
                    </a:cubicBezTo>
                    <a:lnTo>
                      <a:pt x="0" y="288"/>
                    </a:lnTo>
                    <a:lnTo>
                      <a:pt x="288" y="288"/>
                    </a:lnTo>
                    <a:cubicBezTo>
                      <a:pt x="355" y="269"/>
                      <a:pt x="387" y="213"/>
                      <a:pt x="402" y="174"/>
                    </a:cubicBezTo>
                    <a:cubicBezTo>
                      <a:pt x="417" y="135"/>
                      <a:pt x="403" y="83"/>
                      <a:pt x="378" y="54"/>
                    </a:cubicBezTo>
                    <a:cubicBezTo>
                      <a:pt x="353" y="25"/>
                      <a:pt x="315" y="9"/>
                      <a:pt x="252" y="0"/>
                    </a:cubicBezTo>
                    <a:lnTo>
                      <a:pt x="0" y="0"/>
                    </a:lnTo>
                    <a:close/>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15" name="Freeform 945"/>
              <p:cNvSpPr>
                <a:spLocks noChangeAspect="1"/>
              </p:cNvSpPr>
              <p:nvPr/>
            </p:nvSpPr>
            <p:spPr bwMode="auto">
              <a:xfrm>
                <a:off x="4990" y="1839"/>
                <a:ext cx="86" cy="134"/>
              </a:xfrm>
              <a:custGeom>
                <a:avLst/>
                <a:gdLst>
                  <a:gd name="T0" fmla="*/ 0 w 420"/>
                  <a:gd name="T1" fmla="*/ 0 h 654"/>
                  <a:gd name="T2" fmla="*/ 0 w 420"/>
                  <a:gd name="T3" fmla="*/ 1 h 654"/>
                  <a:gd name="T4" fmla="*/ 1 w 420"/>
                  <a:gd name="T5" fmla="*/ 1 h 654"/>
                  <a:gd name="T6" fmla="*/ 0 60000 65536"/>
                  <a:gd name="T7" fmla="*/ 0 60000 65536"/>
                  <a:gd name="T8" fmla="*/ 0 60000 65536"/>
                  <a:gd name="T9" fmla="*/ 0 w 420"/>
                  <a:gd name="T10" fmla="*/ 0 h 654"/>
                  <a:gd name="T11" fmla="*/ 420 w 420"/>
                  <a:gd name="T12" fmla="*/ 654 h 654"/>
                </a:gdLst>
                <a:ahLst/>
                <a:cxnLst>
                  <a:cxn ang="T6">
                    <a:pos x="T0" y="T1"/>
                  </a:cxn>
                  <a:cxn ang="T7">
                    <a:pos x="T2" y="T3"/>
                  </a:cxn>
                  <a:cxn ang="T8">
                    <a:pos x="T4" y="T5"/>
                  </a:cxn>
                </a:cxnLst>
                <a:rect l="T9" t="T10" r="T11" b="T12"/>
                <a:pathLst>
                  <a:path w="420" h="654">
                    <a:moveTo>
                      <a:pt x="0" y="0"/>
                    </a:moveTo>
                    <a:lnTo>
                      <a:pt x="0" y="654"/>
                    </a:lnTo>
                    <a:lnTo>
                      <a:pt x="420" y="654"/>
                    </a:ln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16" name="Freeform 946"/>
              <p:cNvSpPr>
                <a:spLocks noChangeAspect="1"/>
              </p:cNvSpPr>
              <p:nvPr/>
            </p:nvSpPr>
            <p:spPr bwMode="auto">
              <a:xfrm>
                <a:off x="5114" y="1842"/>
                <a:ext cx="109" cy="131"/>
              </a:xfrm>
              <a:custGeom>
                <a:avLst/>
                <a:gdLst>
                  <a:gd name="T0" fmla="*/ 0 w 551"/>
                  <a:gd name="T1" fmla="*/ 0 h 660"/>
                  <a:gd name="T2" fmla="*/ 0 w 551"/>
                  <a:gd name="T3" fmla="*/ 0 h 660"/>
                  <a:gd name="T4" fmla="*/ 0 w 551"/>
                  <a:gd name="T5" fmla="*/ 1 h 660"/>
                  <a:gd name="T6" fmla="*/ 0 w 551"/>
                  <a:gd name="T7" fmla="*/ 1 h 660"/>
                  <a:gd name="T8" fmla="*/ 1 w 551"/>
                  <a:gd name="T9" fmla="*/ 1 h 660"/>
                  <a:gd name="T10" fmla="*/ 1 w 551"/>
                  <a:gd name="T11" fmla="*/ 1 h 660"/>
                  <a:gd name="T12" fmla="*/ 1 w 551"/>
                  <a:gd name="T13" fmla="*/ 0 h 660"/>
                  <a:gd name="T14" fmla="*/ 1 w 551"/>
                  <a:gd name="T15" fmla="*/ 0 h 660"/>
                  <a:gd name="T16" fmla="*/ 0 w 551"/>
                  <a:gd name="T17" fmla="*/ 0 h 6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1"/>
                  <a:gd name="T28" fmla="*/ 0 h 660"/>
                  <a:gd name="T29" fmla="*/ 551 w 551"/>
                  <a:gd name="T30" fmla="*/ 660 h 6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1" h="660">
                    <a:moveTo>
                      <a:pt x="166" y="26"/>
                    </a:moveTo>
                    <a:cubicBezTo>
                      <a:pt x="110" y="58"/>
                      <a:pt x="44" y="142"/>
                      <a:pt x="22" y="218"/>
                    </a:cubicBezTo>
                    <a:cubicBezTo>
                      <a:pt x="0" y="294"/>
                      <a:pt x="9" y="413"/>
                      <a:pt x="34" y="482"/>
                    </a:cubicBezTo>
                    <a:cubicBezTo>
                      <a:pt x="59" y="551"/>
                      <a:pt x="116" y="607"/>
                      <a:pt x="172" y="632"/>
                    </a:cubicBezTo>
                    <a:cubicBezTo>
                      <a:pt x="228" y="657"/>
                      <a:pt x="311" y="660"/>
                      <a:pt x="370" y="632"/>
                    </a:cubicBezTo>
                    <a:cubicBezTo>
                      <a:pt x="429" y="604"/>
                      <a:pt x="501" y="539"/>
                      <a:pt x="526" y="464"/>
                    </a:cubicBezTo>
                    <a:cubicBezTo>
                      <a:pt x="551" y="389"/>
                      <a:pt x="547" y="255"/>
                      <a:pt x="520" y="182"/>
                    </a:cubicBezTo>
                    <a:cubicBezTo>
                      <a:pt x="493" y="109"/>
                      <a:pt x="423" y="52"/>
                      <a:pt x="364" y="26"/>
                    </a:cubicBezTo>
                    <a:cubicBezTo>
                      <a:pt x="305" y="0"/>
                      <a:pt x="207" y="26"/>
                      <a:pt x="166" y="26"/>
                    </a:cubicBezTo>
                    <a:close/>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517" name="Group 947"/>
              <p:cNvGrpSpPr>
                <a:grpSpLocks noChangeAspect="1"/>
              </p:cNvGrpSpPr>
              <p:nvPr/>
            </p:nvGrpSpPr>
            <p:grpSpPr bwMode="auto">
              <a:xfrm>
                <a:off x="5261" y="1841"/>
                <a:ext cx="110" cy="132"/>
                <a:chOff x="906" y="2412"/>
                <a:chExt cx="552" cy="660"/>
              </a:xfrm>
            </p:grpSpPr>
            <p:sp>
              <p:nvSpPr>
                <p:cNvPr id="147518" name="Freeform 948"/>
                <p:cNvSpPr>
                  <a:spLocks noChangeAspect="1"/>
                </p:cNvSpPr>
                <p:nvPr/>
              </p:nvSpPr>
              <p:spPr bwMode="auto">
                <a:xfrm>
                  <a:off x="906" y="2418"/>
                  <a:ext cx="552" cy="1"/>
                </a:xfrm>
                <a:custGeom>
                  <a:avLst/>
                  <a:gdLst>
                    <a:gd name="T0" fmla="*/ 0 w 552"/>
                    <a:gd name="T1" fmla="*/ 0 h 1"/>
                    <a:gd name="T2" fmla="*/ 552 w 552"/>
                    <a:gd name="T3" fmla="*/ 0 h 1"/>
                    <a:gd name="T4" fmla="*/ 0 60000 65536"/>
                    <a:gd name="T5" fmla="*/ 0 60000 65536"/>
                    <a:gd name="T6" fmla="*/ 0 w 552"/>
                    <a:gd name="T7" fmla="*/ 0 h 1"/>
                    <a:gd name="T8" fmla="*/ 552 w 552"/>
                    <a:gd name="T9" fmla="*/ 1 h 1"/>
                  </a:gdLst>
                  <a:ahLst/>
                  <a:cxnLst>
                    <a:cxn ang="T4">
                      <a:pos x="T0" y="T1"/>
                    </a:cxn>
                    <a:cxn ang="T5">
                      <a:pos x="T2" y="T3"/>
                    </a:cxn>
                  </a:cxnLst>
                  <a:rect l="T6" t="T7" r="T8" b="T9"/>
                  <a:pathLst>
                    <a:path w="552" h="1">
                      <a:moveTo>
                        <a:pt x="0" y="0"/>
                      </a:moveTo>
                      <a:cubicBezTo>
                        <a:pt x="230" y="0"/>
                        <a:pt x="461" y="0"/>
                        <a:pt x="552" y="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19" name="Freeform 949"/>
                <p:cNvSpPr>
                  <a:spLocks noChangeAspect="1"/>
                </p:cNvSpPr>
                <p:nvPr/>
              </p:nvSpPr>
              <p:spPr bwMode="auto">
                <a:xfrm>
                  <a:off x="1176" y="2412"/>
                  <a:ext cx="1" cy="660"/>
                </a:xfrm>
                <a:custGeom>
                  <a:avLst/>
                  <a:gdLst>
                    <a:gd name="T0" fmla="*/ 0 w 1"/>
                    <a:gd name="T1" fmla="*/ 0 h 660"/>
                    <a:gd name="T2" fmla="*/ 0 w 1"/>
                    <a:gd name="T3" fmla="*/ 660 h 660"/>
                    <a:gd name="T4" fmla="*/ 0 60000 65536"/>
                    <a:gd name="T5" fmla="*/ 0 60000 65536"/>
                    <a:gd name="T6" fmla="*/ 0 w 1"/>
                    <a:gd name="T7" fmla="*/ 0 h 660"/>
                    <a:gd name="T8" fmla="*/ 1 w 1"/>
                    <a:gd name="T9" fmla="*/ 660 h 660"/>
                  </a:gdLst>
                  <a:ahLst/>
                  <a:cxnLst>
                    <a:cxn ang="T4">
                      <a:pos x="T0" y="T1"/>
                    </a:cxn>
                    <a:cxn ang="T5">
                      <a:pos x="T2" y="T3"/>
                    </a:cxn>
                  </a:cxnLst>
                  <a:rect l="T6" t="T7" r="T8" b="T9"/>
                  <a:pathLst>
                    <a:path w="1" h="660">
                      <a:moveTo>
                        <a:pt x="0" y="0"/>
                      </a:moveTo>
                      <a:cubicBezTo>
                        <a:pt x="0" y="275"/>
                        <a:pt x="0" y="550"/>
                        <a:pt x="0" y="66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2"/>
          <p:cNvSpPr txBox="1">
            <a:spLocks noChangeArrowheads="1"/>
          </p:cNvSpPr>
          <p:nvPr/>
        </p:nvSpPr>
        <p:spPr bwMode="auto">
          <a:xfrm>
            <a:off x="214313" y="476250"/>
            <a:ext cx="89296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3600" b="1">
                <a:solidFill>
                  <a:srgbClr val="FF0066"/>
                </a:solidFill>
                <a:latin typeface="Tahoma" panose="020B0604030504040204" pitchFamily="34" charset="0"/>
              </a:rPr>
              <a:t>F2  DNA organization in chromosomes</a:t>
            </a:r>
          </a:p>
        </p:txBody>
      </p:sp>
      <p:sp>
        <p:nvSpPr>
          <p:cNvPr id="149507" name="Text Box 3"/>
          <p:cNvSpPr txBox="1">
            <a:spLocks noChangeArrowheads="1"/>
          </p:cNvSpPr>
          <p:nvPr/>
        </p:nvSpPr>
        <p:spPr bwMode="auto">
          <a:xfrm>
            <a:off x="539750" y="1196975"/>
            <a:ext cx="8001000"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3000" b="1" dirty="0">
                <a:solidFill>
                  <a:srgbClr val="FF0000"/>
                </a:solidFill>
              </a:rPr>
              <a:t>Every cell </a:t>
            </a:r>
            <a:r>
              <a:rPr lang="en-US" altLang="zh-CN" sz="3000" b="1" dirty="0"/>
              <a:t>of a multicellular organism generally contains the </a:t>
            </a:r>
            <a:r>
              <a:rPr lang="en-US" altLang="zh-CN" sz="3000" b="1" dirty="0">
                <a:solidFill>
                  <a:srgbClr val="FF0000"/>
                </a:solidFill>
              </a:rPr>
              <a:t>same genetic material</a:t>
            </a:r>
            <a:r>
              <a:rPr lang="en-US" altLang="zh-CN" sz="3000" b="1" dirty="0"/>
              <a:t>.</a:t>
            </a:r>
          </a:p>
          <a:p>
            <a:pPr eaLnBrk="1" hangingPunct="1">
              <a:spcBef>
                <a:spcPct val="50000"/>
              </a:spcBef>
              <a:buFontTx/>
              <a:buNone/>
            </a:pPr>
            <a:r>
              <a:rPr lang="en-US" altLang="zh-CN" sz="3000" b="1" dirty="0"/>
              <a:t>DNA molecules are the largest macromolecules in the cell and are commonly packaged into structures called </a:t>
            </a:r>
            <a:r>
              <a:rPr lang="en-US" altLang="zh-CN" sz="3000" b="1" dirty="0">
                <a:solidFill>
                  <a:srgbClr val="FF3300"/>
                </a:solidFill>
              </a:rPr>
              <a:t>chromosomes.</a:t>
            </a:r>
          </a:p>
          <a:p>
            <a:pPr eaLnBrk="1" hangingPunct="1">
              <a:spcBef>
                <a:spcPct val="50000"/>
              </a:spcBef>
              <a:buFontTx/>
              <a:buNone/>
            </a:pPr>
            <a:r>
              <a:rPr lang="en-US" altLang="zh-CN" sz="3000" b="1" dirty="0"/>
              <a:t>Most bacteria and viruses have a single chromosome, whereas eukaryotic cells usually contain many.</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p:cNvSpPr txBox="1">
            <a:spLocks noChangeArrowheads="1"/>
          </p:cNvSpPr>
          <p:nvPr/>
        </p:nvSpPr>
        <p:spPr bwMode="auto">
          <a:xfrm>
            <a:off x="250825" y="836613"/>
            <a:ext cx="8893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3600" b="1">
                <a:solidFill>
                  <a:srgbClr val="FF0066"/>
                </a:solidFill>
              </a:rPr>
              <a:t>1.Viral DNA molecules are relatively small</a:t>
            </a:r>
          </a:p>
        </p:txBody>
      </p:sp>
      <p:sp>
        <p:nvSpPr>
          <p:cNvPr id="150531" name="Text Box 3"/>
          <p:cNvSpPr txBox="1">
            <a:spLocks noChangeArrowheads="1"/>
          </p:cNvSpPr>
          <p:nvPr/>
        </p:nvSpPr>
        <p:spPr bwMode="auto">
          <a:xfrm>
            <a:off x="971550" y="2133600"/>
            <a:ext cx="7696200" cy="308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lang="en-US" altLang="zh-CN" sz="2800" b="1" dirty="0"/>
              <a:t>1.1 Viruses generally contain considerably less genetic information than cells. </a:t>
            </a:r>
          </a:p>
          <a:p>
            <a:pPr eaLnBrk="1" hangingPunct="1">
              <a:lnSpc>
                <a:spcPct val="130000"/>
              </a:lnSpc>
              <a:spcBef>
                <a:spcPct val="50000"/>
              </a:spcBef>
              <a:buFontTx/>
              <a:buNone/>
            </a:pPr>
            <a:r>
              <a:rPr lang="en-US" altLang="zh-CN" sz="2800" b="1" dirty="0"/>
              <a:t>An infectious virus particle often consists a single RNA or DNA molecule surrounded by a protein coat.</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1066800"/>
            <a:ext cx="8026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28084"/>
            <a:ext cx="58674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9229FF4C-E40D-458F-8EAF-6971AFA6F12F}"/>
              </a:ext>
            </a:extLst>
          </p:cNvPr>
          <p:cNvPicPr>
            <a:picLocks noChangeAspect="1"/>
          </p:cNvPicPr>
          <p:nvPr/>
        </p:nvPicPr>
        <p:blipFill>
          <a:blip r:embed="rId4"/>
          <a:stretch>
            <a:fillRect/>
          </a:stretch>
        </p:blipFill>
        <p:spPr>
          <a:xfrm>
            <a:off x="6014897" y="1270086"/>
            <a:ext cx="2886794" cy="2655850"/>
          </a:xfrm>
          <a:prstGeom prst="rect">
            <a:avLst/>
          </a:prstGeom>
        </p:spPr>
      </p:pic>
      <p:pic>
        <p:nvPicPr>
          <p:cNvPr id="3" name="图片 2">
            <a:extLst>
              <a:ext uri="{FF2B5EF4-FFF2-40B4-BE49-F238E27FC236}">
                <a16:creationId xmlns:a16="http://schemas.microsoft.com/office/drawing/2014/main" id="{9EC3C376-3F8E-4B52-AD00-E63D35964B17}"/>
              </a:ext>
            </a:extLst>
          </p:cNvPr>
          <p:cNvPicPr>
            <a:picLocks noChangeAspect="1"/>
          </p:cNvPicPr>
          <p:nvPr/>
        </p:nvPicPr>
        <p:blipFill>
          <a:blip r:embed="rId5"/>
          <a:stretch>
            <a:fillRect/>
          </a:stretch>
        </p:blipFill>
        <p:spPr>
          <a:xfrm>
            <a:off x="4735388" y="4211146"/>
            <a:ext cx="4229100" cy="2505075"/>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50" name="Picture 2" descr="0257"/>
          <p:cNvPicPr>
            <a:picLocks noChangeAspect="1" noChangeArrowheads="1"/>
          </p:cNvPicPr>
          <p:nvPr/>
        </p:nvPicPr>
        <p:blipFill>
          <a:blip r:embed="rId3" cstate="print">
            <a:extLst>
              <a:ext uri="{28A0092B-C50C-407E-A947-70E740481C1C}">
                <a14:useLocalDpi xmlns:a14="http://schemas.microsoft.com/office/drawing/2010/main" val="0"/>
              </a:ext>
            </a:extLst>
          </a:blip>
          <a:srcRect l="34375" t="4167" r="4167"/>
          <a:stretch>
            <a:fillRect/>
          </a:stretch>
        </p:blipFill>
        <p:spPr bwMode="auto">
          <a:xfrm>
            <a:off x="1828800" y="228600"/>
            <a:ext cx="5408613"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8" name="Picture 2" descr="噬菌体2"/>
          <p:cNvPicPr>
            <a:picLocks noChangeAspect="1" noChangeArrowheads="1"/>
          </p:cNvPicPr>
          <p:nvPr/>
        </p:nvPicPr>
        <p:blipFill>
          <a:blip r:embed="rId2" cstate="print">
            <a:extLst>
              <a:ext uri="{28A0092B-C50C-407E-A947-70E740481C1C}">
                <a14:useLocalDpi xmlns:a14="http://schemas.microsoft.com/office/drawing/2010/main" val="0"/>
              </a:ext>
            </a:extLst>
          </a:blip>
          <a:srcRect l="8316" t="4651" r="4361" b="5814"/>
          <a:stretch>
            <a:fillRect/>
          </a:stretch>
        </p:blipFill>
        <p:spPr bwMode="auto">
          <a:xfrm>
            <a:off x="2267744" y="260648"/>
            <a:ext cx="4680520" cy="5719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ext Box 2"/>
          <p:cNvSpPr txBox="1">
            <a:spLocks noChangeArrowheads="1"/>
          </p:cNvSpPr>
          <p:nvPr/>
        </p:nvSpPr>
        <p:spPr bwMode="auto">
          <a:xfrm>
            <a:off x="762000" y="914400"/>
            <a:ext cx="6934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dirty="0"/>
              <a:t>2  Bacteria contain </a:t>
            </a:r>
            <a:r>
              <a:rPr lang="en-US" altLang="zh-CN" b="1" dirty="0">
                <a:solidFill>
                  <a:srgbClr val="FF0000"/>
                </a:solidFill>
              </a:rPr>
              <a:t>chromosomes and extrachromosomal DNA</a:t>
            </a:r>
          </a:p>
        </p:txBody>
      </p:sp>
      <p:sp>
        <p:nvSpPr>
          <p:cNvPr id="158723" name="Text Box 3"/>
          <p:cNvSpPr txBox="1">
            <a:spLocks noChangeArrowheads="1"/>
          </p:cNvSpPr>
          <p:nvPr/>
        </p:nvSpPr>
        <p:spPr bwMode="auto">
          <a:xfrm>
            <a:off x="755650" y="2205038"/>
            <a:ext cx="8001000" cy="402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lang="en-US" altLang="zh-CN" sz="2800" b="1" dirty="0"/>
              <a:t>2.1  Chromosomal DNA</a:t>
            </a:r>
          </a:p>
          <a:p>
            <a:pPr eaLnBrk="1" hangingPunct="1">
              <a:lnSpc>
                <a:spcPct val="120000"/>
              </a:lnSpc>
              <a:spcBef>
                <a:spcPct val="50000"/>
              </a:spcBef>
              <a:buFontTx/>
              <a:buNone/>
            </a:pPr>
            <a:r>
              <a:rPr lang="en-US" altLang="zh-CN" sz="2800" dirty="0"/>
              <a:t>The chromosome of an </a:t>
            </a:r>
            <a:r>
              <a:rPr lang="en-US" altLang="zh-CN" sz="2800" i="1" dirty="0"/>
              <a:t>E. coli</a:t>
            </a:r>
            <a:r>
              <a:rPr lang="en-US" altLang="zh-CN" sz="2800" dirty="0"/>
              <a:t> cell is a </a:t>
            </a:r>
            <a:r>
              <a:rPr lang="en-US" altLang="zh-CN" sz="2800" dirty="0">
                <a:solidFill>
                  <a:srgbClr val="FF0000"/>
                </a:solidFill>
              </a:rPr>
              <a:t>single double-stranded circular DNA molecule</a:t>
            </a:r>
            <a:r>
              <a:rPr lang="en-US" altLang="zh-CN" sz="2800" dirty="0"/>
              <a:t>. Its </a:t>
            </a:r>
            <a:r>
              <a:rPr lang="en-US" altLang="zh-CN" sz="2800" dirty="0">
                <a:solidFill>
                  <a:srgbClr val="FF0000"/>
                </a:solidFill>
              </a:rPr>
              <a:t>4,639,221 base pairs</a:t>
            </a:r>
            <a:r>
              <a:rPr lang="en-US" altLang="zh-CN" sz="2800" dirty="0"/>
              <a:t> have a contour length of about 1.7 mm, some 850 times the length of the E. coli cell. Bacterial DNA must have an even more tightly compacted tertiary structure than the viral DNA.</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8255000" cy="512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47" name="Text Box 3"/>
          <p:cNvSpPr txBox="1">
            <a:spLocks noChangeArrowheads="1"/>
          </p:cNvSpPr>
          <p:nvPr/>
        </p:nvSpPr>
        <p:spPr bwMode="auto">
          <a:xfrm>
            <a:off x="685800" y="5105400"/>
            <a:ext cx="82296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dirty="0"/>
              <a:t>The length of the E. coli </a:t>
            </a:r>
            <a:r>
              <a:rPr lang="en-US" altLang="zh-CN" sz="2800" dirty="0">
                <a:solidFill>
                  <a:srgbClr val="FF0000"/>
                </a:solidFill>
              </a:rPr>
              <a:t>chromosome </a:t>
            </a:r>
            <a:r>
              <a:rPr lang="en-US" altLang="zh-CN" sz="2800" dirty="0"/>
              <a:t>(</a:t>
            </a:r>
            <a:r>
              <a:rPr lang="en-US" altLang="zh-CN" sz="2800" dirty="0">
                <a:solidFill>
                  <a:srgbClr val="FF0000"/>
                </a:solidFill>
              </a:rPr>
              <a:t>1.7 mm</a:t>
            </a:r>
            <a:r>
              <a:rPr lang="en-US" altLang="zh-CN" sz="2800" dirty="0"/>
              <a:t>) is depicted in linear form relative to the length of a typical  E. coli </a:t>
            </a:r>
            <a:r>
              <a:rPr lang="en-US" altLang="zh-CN" sz="2800" dirty="0">
                <a:solidFill>
                  <a:srgbClr val="FF0000"/>
                </a:solidFill>
              </a:rPr>
              <a:t>cell</a:t>
            </a:r>
            <a:r>
              <a:rPr lang="en-US" altLang="zh-CN" sz="2800" dirty="0"/>
              <a:t> (</a:t>
            </a:r>
            <a:r>
              <a:rPr lang="en-US" altLang="zh-CN" sz="2800" dirty="0">
                <a:solidFill>
                  <a:srgbClr val="FF0000"/>
                </a:solidFill>
              </a:rPr>
              <a:t>2 </a:t>
            </a:r>
            <a:r>
              <a:rPr lang="en-US" altLang="zh-CN" sz="2800" dirty="0">
                <a:solidFill>
                  <a:srgbClr val="FF0000"/>
                </a:solidFill>
                <a:sym typeface="Symbol" panose="05050102010706020507" pitchFamily="18" charset="2"/>
              </a:rPr>
              <a:t>m</a:t>
            </a:r>
            <a:r>
              <a:rPr lang="en-US" altLang="zh-CN" sz="2800" dirty="0">
                <a:sym typeface="Symbol" panose="05050102010706020507" pitchFamily="18" charset="2"/>
              </a:rPr>
              <a:t>)</a:t>
            </a:r>
            <a:endParaRPr lang="en-US" altLang="zh-CN" sz="28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770" name="Picture 2" descr="bacterial DNA"/>
          <p:cNvPicPr>
            <a:picLocks noChangeAspect="1" noChangeArrowheads="1"/>
          </p:cNvPicPr>
          <p:nvPr/>
        </p:nvPicPr>
        <p:blipFill>
          <a:blip r:embed="rId2" cstate="print">
            <a:lum bright="-12000" contrast="54000"/>
            <a:extLst>
              <a:ext uri="{28A0092B-C50C-407E-A947-70E740481C1C}">
                <a14:useLocalDpi xmlns:a14="http://schemas.microsoft.com/office/drawing/2010/main" val="0"/>
              </a:ext>
            </a:extLst>
          </a:blip>
          <a:srcRect/>
          <a:stretch>
            <a:fillRect/>
          </a:stretch>
        </p:blipFill>
        <p:spPr bwMode="auto">
          <a:xfrm>
            <a:off x="0" y="228600"/>
            <a:ext cx="9144000" cy="471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771" name="Text Box 3"/>
          <p:cNvSpPr txBox="1">
            <a:spLocks noChangeArrowheads="1"/>
          </p:cNvSpPr>
          <p:nvPr/>
        </p:nvSpPr>
        <p:spPr bwMode="auto">
          <a:xfrm>
            <a:off x="1905000" y="304800"/>
            <a:ext cx="2514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zh-CN" altLang="en-US" sz="2000" b="1">
                <a:latin typeface="Arial" panose="020B0604020202020204" pitchFamily="34" charset="0"/>
              </a:rPr>
              <a:t>蛋白质骨架</a:t>
            </a:r>
          </a:p>
        </p:txBody>
      </p:sp>
      <p:sp>
        <p:nvSpPr>
          <p:cNvPr id="160772" name="Text Box 4"/>
          <p:cNvSpPr txBox="1">
            <a:spLocks noChangeArrowheads="1"/>
          </p:cNvSpPr>
          <p:nvPr/>
        </p:nvSpPr>
        <p:spPr bwMode="auto">
          <a:xfrm>
            <a:off x="914400" y="4797152"/>
            <a:ext cx="7696200" cy="13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en-US" altLang="zh-CN" sz="2400" b="1" dirty="0">
                <a:solidFill>
                  <a:schemeClr val="tx2"/>
                </a:solidFill>
              </a:rPr>
              <a:t>The DNA is negatively </a:t>
            </a:r>
            <a:r>
              <a:rPr lang="en-US" altLang="zh-CN" sz="2400" b="1" dirty="0">
                <a:solidFill>
                  <a:srgbClr val="FF0000"/>
                </a:solidFill>
              </a:rPr>
              <a:t>supercoiled</a:t>
            </a:r>
            <a:r>
              <a:rPr lang="en-US" altLang="zh-CN" sz="2400" b="1" dirty="0">
                <a:solidFill>
                  <a:schemeClr val="tx2"/>
                </a:solidFill>
              </a:rPr>
              <a:t>, complexed to several </a:t>
            </a:r>
            <a:r>
              <a:rPr lang="en-US" altLang="zh-CN" sz="2400" b="1" dirty="0">
                <a:solidFill>
                  <a:srgbClr val="FF0000"/>
                </a:solidFill>
              </a:rPr>
              <a:t>histone-like proteins </a:t>
            </a:r>
            <a:r>
              <a:rPr lang="en-US" altLang="zh-CN" sz="2400" b="1" dirty="0">
                <a:solidFill>
                  <a:schemeClr val="tx2"/>
                </a:solidFill>
              </a:rPr>
              <a:t>and organize into about 50 domains bound to a protein scaffold.</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0"/>
            <a:ext cx="8153400" cy="581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2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4064000" cy="52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821"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38600" y="381000"/>
            <a:ext cx="3759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AutoShape 2" descr="get?name=T1mY7jBKZj1RCvBVdK"/>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pic>
        <p:nvPicPr>
          <p:cNvPr id="165891" name="Picture 3" descr="ge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7500" y="1900238"/>
            <a:ext cx="8064500" cy="269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43400" y="304800"/>
            <a:ext cx="33909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4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3600" y="787400"/>
            <a:ext cx="7416800" cy="52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7938" name="Picture 2" descr="8-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8763" y="990600"/>
            <a:ext cx="5481637"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2" descr="ge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641350"/>
            <a:ext cx="7470775"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2"/>
          <p:cNvSpPr txBox="1">
            <a:spLocks noChangeArrowheads="1"/>
          </p:cNvSpPr>
          <p:nvPr/>
        </p:nvSpPr>
        <p:spPr bwMode="auto">
          <a:xfrm>
            <a:off x="1066800" y="990600"/>
            <a:ext cx="7162800"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2800" b="1">
                <a:latin typeface="Arial" panose="020B0604020202020204" pitchFamily="34" charset="0"/>
              </a:rPr>
              <a:t>DNA</a:t>
            </a:r>
            <a:r>
              <a:rPr kumimoji="0" lang="zh-CN" altLang="en-US" sz="2800" b="1">
                <a:latin typeface="Arial" panose="020B0604020202020204" pitchFamily="34" charset="0"/>
              </a:rPr>
              <a:t>超螺旋结构的拓扑学性质</a:t>
            </a:r>
          </a:p>
          <a:p>
            <a:pPr eaLnBrk="1" hangingPunct="1">
              <a:spcBef>
                <a:spcPct val="0"/>
              </a:spcBef>
              <a:buFontTx/>
              <a:buNone/>
            </a:pPr>
            <a:endParaRPr kumimoji="0" lang="zh-CN" altLang="en-US" sz="2800" b="1">
              <a:latin typeface="Arial" panose="020B0604020202020204" pitchFamily="34" charset="0"/>
            </a:endParaRPr>
          </a:p>
          <a:p>
            <a:pPr eaLnBrk="1" hangingPunct="1">
              <a:spcBef>
                <a:spcPct val="0"/>
              </a:spcBef>
              <a:buFontTx/>
              <a:buNone/>
            </a:pPr>
            <a:r>
              <a:rPr kumimoji="0" lang="en-US" altLang="zh-CN" sz="2800" b="1">
                <a:latin typeface="Arial" panose="020B0604020202020204" pitchFamily="34" charset="0"/>
              </a:rPr>
              <a:t>       DNA</a:t>
            </a:r>
            <a:r>
              <a:rPr kumimoji="0" lang="zh-CN" altLang="en-US" sz="2800" b="1">
                <a:latin typeface="Arial" panose="020B0604020202020204" pitchFamily="34" charset="0"/>
              </a:rPr>
              <a:t>不同的空间分子构象又称为拓扑异构体</a:t>
            </a:r>
            <a:r>
              <a:rPr kumimoji="0" lang="en-US" altLang="zh-CN" sz="2800" b="1">
                <a:latin typeface="Arial" panose="020B0604020202020204" pitchFamily="34" charset="0"/>
              </a:rPr>
              <a:t>(topoisomer)</a:t>
            </a:r>
            <a:r>
              <a:rPr kumimoji="0" lang="zh-CN" altLang="en-US" sz="2800" b="1">
                <a:latin typeface="Arial" panose="020B0604020202020204" pitchFamily="34" charset="0"/>
              </a:rPr>
              <a:t>，其拓扑学特性可以用</a:t>
            </a:r>
            <a:r>
              <a:rPr kumimoji="0" lang="en-US" altLang="zh-CN" sz="2800" b="1">
                <a:latin typeface="Arial" panose="020B0604020202020204" pitchFamily="34" charset="0"/>
              </a:rPr>
              <a:t>3</a:t>
            </a:r>
            <a:r>
              <a:rPr kumimoji="0" lang="zh-CN" altLang="en-US" sz="2800" b="1">
                <a:latin typeface="Arial" panose="020B0604020202020204" pitchFamily="34" charset="0"/>
              </a:rPr>
              <a:t>个参数来描述。</a:t>
            </a:r>
          </a:p>
          <a:p>
            <a:pPr eaLnBrk="1" hangingPunct="1">
              <a:spcBef>
                <a:spcPct val="0"/>
              </a:spcBef>
              <a:buFontTx/>
              <a:buNone/>
            </a:pPr>
            <a:endParaRPr kumimoji="0" lang="zh-CN" altLang="en-US" sz="2800" b="1">
              <a:latin typeface="Arial" panose="020B0604020202020204" pitchFamily="34" charset="0"/>
            </a:endParaRPr>
          </a:p>
          <a:p>
            <a:pPr eaLnBrk="1" hangingPunct="1">
              <a:spcBef>
                <a:spcPct val="0"/>
              </a:spcBef>
              <a:buFontTx/>
              <a:buNone/>
            </a:pPr>
            <a:r>
              <a:rPr kumimoji="0" lang="zh-CN" altLang="en-US" sz="2800" b="1">
                <a:latin typeface="Arial" panose="020B0604020202020204" pitchFamily="34" charset="0"/>
              </a:rPr>
              <a:t>连环数（</a:t>
            </a:r>
            <a:r>
              <a:rPr kumimoji="0" lang="en-US" altLang="zh-CN" sz="2800" b="1" i="1">
                <a:latin typeface="Arial" panose="020B0604020202020204" pitchFamily="34" charset="0"/>
              </a:rPr>
              <a:t>L, </a:t>
            </a:r>
            <a:r>
              <a:rPr kumimoji="0" lang="en-US" altLang="zh-CN" sz="2800" b="1">
                <a:latin typeface="Arial" panose="020B0604020202020204" pitchFamily="34" charset="0"/>
              </a:rPr>
              <a:t>linking number</a:t>
            </a:r>
            <a:r>
              <a:rPr kumimoji="0" lang="zh-CN" altLang="en-US" sz="2800" b="1">
                <a:latin typeface="Arial" panose="020B0604020202020204" pitchFamily="34" charset="0"/>
              </a:rPr>
              <a:t>）、</a:t>
            </a:r>
          </a:p>
          <a:p>
            <a:pPr eaLnBrk="1" hangingPunct="1">
              <a:spcBef>
                <a:spcPct val="0"/>
              </a:spcBef>
              <a:buFontTx/>
              <a:buNone/>
            </a:pPr>
            <a:r>
              <a:rPr kumimoji="0" lang="zh-CN" altLang="en-US" sz="2800" b="1">
                <a:latin typeface="Arial" panose="020B0604020202020204" pitchFamily="34" charset="0"/>
              </a:rPr>
              <a:t>盘绕数（</a:t>
            </a:r>
            <a:r>
              <a:rPr kumimoji="0" lang="en-US" altLang="zh-CN" sz="2800" b="1" i="1">
                <a:latin typeface="Arial" panose="020B0604020202020204" pitchFamily="34" charset="0"/>
              </a:rPr>
              <a:t>T , </a:t>
            </a:r>
            <a:r>
              <a:rPr kumimoji="0" lang="en-US" altLang="zh-CN" sz="2800" b="1">
                <a:latin typeface="Arial" panose="020B0604020202020204" pitchFamily="34" charset="0"/>
              </a:rPr>
              <a:t>twsting number</a:t>
            </a:r>
            <a:r>
              <a:rPr kumimoji="0" lang="zh-CN" altLang="en-US" sz="2800" b="1">
                <a:latin typeface="Arial" panose="020B0604020202020204" pitchFamily="34" charset="0"/>
              </a:rPr>
              <a:t>）、</a:t>
            </a:r>
          </a:p>
          <a:p>
            <a:pPr eaLnBrk="1" hangingPunct="1">
              <a:spcBef>
                <a:spcPct val="0"/>
              </a:spcBef>
              <a:buFontTx/>
              <a:buNone/>
            </a:pPr>
            <a:r>
              <a:rPr kumimoji="0" lang="zh-CN" altLang="en-US" sz="2800" b="1">
                <a:latin typeface="Arial" panose="020B0604020202020204" pitchFamily="34" charset="0"/>
              </a:rPr>
              <a:t>超螺旋周数（</a:t>
            </a:r>
            <a:r>
              <a:rPr kumimoji="0" lang="en-US" altLang="zh-CN" sz="2800" b="1" i="1">
                <a:latin typeface="Arial" panose="020B0604020202020204" pitchFamily="34" charset="0"/>
              </a:rPr>
              <a:t>W , </a:t>
            </a:r>
            <a:r>
              <a:rPr kumimoji="0" lang="en-US" altLang="zh-CN" sz="2800" b="1">
                <a:latin typeface="Arial" panose="020B0604020202020204" pitchFamily="34" charset="0"/>
              </a:rPr>
              <a:t>writhing number</a:t>
            </a:r>
            <a:r>
              <a:rPr kumimoji="0" lang="zh-CN" altLang="en-US" sz="2800" b="1">
                <a:latin typeface="Arial" panose="020B0604020202020204" pitchFamily="34" charset="0"/>
              </a:rPr>
              <a:t>）</a:t>
            </a:r>
          </a:p>
        </p:txBody>
      </p:sp>
      <p:sp>
        <p:nvSpPr>
          <p:cNvPr id="169987" name="Text Box 3"/>
          <p:cNvSpPr txBox="1">
            <a:spLocks noChangeArrowheads="1"/>
          </p:cNvSpPr>
          <p:nvPr/>
        </p:nvSpPr>
        <p:spPr bwMode="auto">
          <a:xfrm>
            <a:off x="2819400" y="5181600"/>
            <a:ext cx="3962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b="1" i="1">
                <a:latin typeface="Arial" panose="020B0604020202020204" pitchFamily="34" charset="0"/>
              </a:rPr>
              <a:t>L = T + W</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990600" y="1219200"/>
            <a:ext cx="7543800" cy="457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lang="en-US" altLang="zh-CN" b="1" dirty="0"/>
              <a:t>2.2  </a:t>
            </a:r>
            <a:r>
              <a:rPr lang="en-US" altLang="zh-CN" b="1" dirty="0">
                <a:solidFill>
                  <a:srgbClr val="FF0000"/>
                </a:solidFill>
              </a:rPr>
              <a:t>Extrachromosomal DNA</a:t>
            </a:r>
          </a:p>
          <a:p>
            <a:pPr eaLnBrk="1" hangingPunct="1">
              <a:lnSpc>
                <a:spcPct val="120000"/>
              </a:lnSpc>
              <a:spcBef>
                <a:spcPct val="50000"/>
              </a:spcBef>
              <a:buFontTx/>
              <a:buNone/>
            </a:pPr>
            <a:r>
              <a:rPr lang="en-US" altLang="zh-CN" dirty="0"/>
              <a:t>In addition to the very large, circular DNA chromosome in the nucleoid, many bacteria contain </a:t>
            </a:r>
            <a:r>
              <a:rPr lang="en-US" altLang="zh-CN" dirty="0">
                <a:solidFill>
                  <a:srgbClr val="FF0000"/>
                </a:solidFill>
              </a:rPr>
              <a:t>one or more small</a:t>
            </a:r>
            <a:r>
              <a:rPr lang="en-US" altLang="zh-CN" dirty="0"/>
              <a:t>, </a:t>
            </a:r>
            <a:r>
              <a:rPr lang="en-US" altLang="zh-CN" dirty="0">
                <a:solidFill>
                  <a:srgbClr val="FF0000"/>
                </a:solidFill>
              </a:rPr>
              <a:t>circular DNA molecules</a:t>
            </a:r>
            <a:r>
              <a:rPr lang="en-US" altLang="zh-CN" dirty="0"/>
              <a:t> that are free in the cytosol. These extrachromosomal elements are called </a:t>
            </a:r>
            <a:r>
              <a:rPr lang="en-US" altLang="zh-CN" b="1" dirty="0">
                <a:solidFill>
                  <a:srgbClr val="FF3300"/>
                </a:solidFill>
              </a:rPr>
              <a:t>plasmids</a:t>
            </a:r>
            <a:r>
              <a:rPr lang="en-US" altLang="zh-CN" dirty="0">
                <a:solidFill>
                  <a:srgbClr val="FF3300"/>
                </a:solidFill>
              </a:rPr>
              <a:t>.</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0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5920" y="404664"/>
            <a:ext cx="7384290" cy="5267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5" name="Text Box 3"/>
          <p:cNvSpPr txBox="1">
            <a:spLocks noChangeArrowheads="1"/>
          </p:cNvSpPr>
          <p:nvPr/>
        </p:nvSpPr>
        <p:spPr bwMode="auto">
          <a:xfrm>
            <a:off x="1043608" y="5646215"/>
            <a:ext cx="510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dirty="0"/>
              <a:t>DNA from a lysed E. coli cell</a:t>
            </a:r>
          </a:p>
        </p:txBody>
      </p:sp>
      <p:sp>
        <p:nvSpPr>
          <p:cNvPr id="2" name="文本框 1"/>
          <p:cNvSpPr txBox="1"/>
          <p:nvPr/>
        </p:nvSpPr>
        <p:spPr>
          <a:xfrm>
            <a:off x="7020272" y="2060848"/>
            <a:ext cx="1080120" cy="369332"/>
          </a:xfrm>
          <a:prstGeom prst="rect">
            <a:avLst/>
          </a:prstGeom>
          <a:noFill/>
        </p:spPr>
        <p:txBody>
          <a:bodyPr wrap="square" rtlCol="0">
            <a:spAutoFit/>
          </a:bodyPr>
          <a:lstStyle/>
          <a:p>
            <a:r>
              <a:rPr lang="en-US" altLang="zh-CN" b="1" dirty="0">
                <a:solidFill>
                  <a:schemeClr val="bg1"/>
                </a:solidFill>
              </a:rPr>
              <a:t>plasmid</a:t>
            </a:r>
            <a:endParaRPr lang="zh-CN" altLang="en-US" b="1" dirty="0">
              <a:solidFill>
                <a:schemeClr val="bg1"/>
              </a:solidFil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2"/>
          <p:cNvSpPr txBox="1">
            <a:spLocks noChangeArrowheads="1"/>
          </p:cNvSpPr>
          <p:nvPr/>
        </p:nvSpPr>
        <p:spPr bwMode="auto">
          <a:xfrm>
            <a:off x="762000" y="914400"/>
            <a:ext cx="6781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dirty="0"/>
              <a:t>3. Eukaryotic cells contain more DNA than prokaryotes</a:t>
            </a:r>
          </a:p>
        </p:txBody>
      </p:sp>
      <p:sp>
        <p:nvSpPr>
          <p:cNvPr id="173059" name="Text Box 3"/>
          <p:cNvSpPr txBox="1">
            <a:spLocks noChangeArrowheads="1"/>
          </p:cNvSpPr>
          <p:nvPr/>
        </p:nvSpPr>
        <p:spPr bwMode="auto">
          <a:xfrm>
            <a:off x="762000" y="1988840"/>
            <a:ext cx="7848600" cy="3554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ct val="50000"/>
              </a:spcBef>
              <a:buFontTx/>
              <a:buNone/>
            </a:pPr>
            <a:r>
              <a:rPr lang="en-US" altLang="zh-CN" sz="3000" dirty="0"/>
              <a:t>Human cells and many other mammalian cells have about 600 times as much DNA as E. coli. The plants contain an even greater amount.</a:t>
            </a:r>
          </a:p>
          <a:p>
            <a:pPr eaLnBrk="1" hangingPunct="1">
              <a:lnSpc>
                <a:spcPct val="140000"/>
              </a:lnSpc>
              <a:spcBef>
                <a:spcPct val="50000"/>
              </a:spcBef>
              <a:buFontTx/>
              <a:buNone/>
            </a:pPr>
            <a:r>
              <a:rPr lang="en-US" altLang="zh-CN" sz="3000" dirty="0"/>
              <a:t>The total contour </a:t>
            </a:r>
            <a:r>
              <a:rPr lang="en-US" altLang="zh-CN" sz="3000" dirty="0">
                <a:solidFill>
                  <a:srgbClr val="FF0000"/>
                </a:solidFill>
              </a:rPr>
              <a:t>length of all the DNA </a:t>
            </a:r>
            <a:r>
              <a:rPr lang="en-US" altLang="zh-CN" sz="3000" dirty="0"/>
              <a:t>in a single human cell is </a:t>
            </a:r>
            <a:r>
              <a:rPr lang="en-US" altLang="zh-CN" sz="3000" dirty="0">
                <a:solidFill>
                  <a:srgbClr val="FF0000"/>
                </a:solidFill>
              </a:rPr>
              <a:t>about 2 m</a:t>
            </a:r>
            <a:r>
              <a:rPr lang="en-US" altLang="zh-CN" sz="3000" dirty="0"/>
              <a:t>.</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3717925"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083" name="Text Box 3"/>
          <p:cNvSpPr txBox="1">
            <a:spLocks noChangeArrowheads="1"/>
          </p:cNvSpPr>
          <p:nvPr/>
        </p:nvSpPr>
        <p:spPr bwMode="auto">
          <a:xfrm>
            <a:off x="4114800" y="3625850"/>
            <a:ext cx="472440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800" dirty="0">
                <a:solidFill>
                  <a:schemeClr val="tx2"/>
                </a:solidFill>
                <a:latin typeface="Arial" panose="020B0604020202020204" pitchFamily="34" charset="0"/>
              </a:rPr>
              <a:t>Complete set of chromosomes from a leukocyte. There are 46 chromosomes in each normal human somatic cell.</a:t>
            </a:r>
          </a:p>
        </p:txBody>
      </p:sp>
      <p:sp>
        <p:nvSpPr>
          <p:cNvPr id="174084" name="Text Box 4"/>
          <p:cNvSpPr txBox="1">
            <a:spLocks noChangeArrowheads="1"/>
          </p:cNvSpPr>
          <p:nvPr/>
        </p:nvSpPr>
        <p:spPr bwMode="auto">
          <a:xfrm>
            <a:off x="1905000" y="511175"/>
            <a:ext cx="34290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800">
                <a:solidFill>
                  <a:schemeClr val="tx2"/>
                </a:solidFill>
                <a:latin typeface="Arial" panose="020B0604020202020204" pitchFamily="34" charset="0"/>
              </a:rPr>
              <a:t>A  single human chromosomes.</a:t>
            </a:r>
            <a:endParaRPr lang="en-US" altLang="zh-CN" sz="3600" b="1">
              <a:solidFill>
                <a:schemeClr val="tx2"/>
              </a:solidFill>
              <a:latin typeface="Arial" panose="020B0604020202020204" pitchFamily="34"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00400" y="0"/>
            <a:ext cx="24003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6130" name="Object 2"/>
          <p:cNvGraphicFramePr>
            <a:graphicFrameLocks noChangeAspect="1"/>
          </p:cNvGraphicFramePr>
          <p:nvPr/>
        </p:nvGraphicFramePr>
        <p:xfrm>
          <a:off x="3733800" y="0"/>
          <a:ext cx="4427538" cy="6705600"/>
        </p:xfrm>
        <a:graphic>
          <a:graphicData uri="http://schemas.openxmlformats.org/presentationml/2006/ole">
            <mc:AlternateContent xmlns:mc="http://schemas.openxmlformats.org/markup-compatibility/2006">
              <mc:Choice xmlns:v="urn:schemas-microsoft-com:vml" Requires="v">
                <p:oleObj name="Image" r:id="rId2" imgW="3086100" imgH="4673600" progId="Photoshop.Image.6">
                  <p:embed/>
                </p:oleObj>
              </mc:Choice>
              <mc:Fallback>
                <p:oleObj name="Image" r:id="rId2" imgW="3086100" imgH="4673600" progId="Photoshop.Image.6">
                  <p:embed/>
                  <p:pic>
                    <p:nvPicPr>
                      <p:cNvPr id="0" name="Picture 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0"/>
                        <a:ext cx="4427538"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76131" name="Group 3"/>
          <p:cNvGrpSpPr/>
          <p:nvPr/>
        </p:nvGrpSpPr>
        <p:grpSpPr bwMode="auto">
          <a:xfrm>
            <a:off x="3733800" y="1600200"/>
            <a:ext cx="2514600" cy="4773613"/>
            <a:chOff x="2352" y="1008"/>
            <a:chExt cx="1584" cy="3007"/>
          </a:xfrm>
        </p:grpSpPr>
        <p:sp>
          <p:nvSpPr>
            <p:cNvPr id="176132" name="Text Box 4"/>
            <p:cNvSpPr txBox="1">
              <a:spLocks noChangeArrowheads="1"/>
            </p:cNvSpPr>
            <p:nvPr/>
          </p:nvSpPr>
          <p:spPr bwMode="auto">
            <a:xfrm>
              <a:off x="2928" y="3744"/>
              <a:ext cx="624" cy="271"/>
            </a:xfrm>
            <a:prstGeom prst="rect">
              <a:avLst/>
            </a:prstGeom>
            <a:solidFill>
              <a:schemeClr val="bg1"/>
            </a:solidFill>
            <a:ln w="9525">
              <a:solidFill>
                <a:schemeClr val="bg1"/>
              </a:solidFill>
              <a:miter lim="800000"/>
            </a:ln>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b="1">
                  <a:solidFill>
                    <a:schemeClr val="tx2"/>
                  </a:solidFill>
                  <a:latin typeface="Arial" panose="020B0604020202020204" pitchFamily="34" charset="0"/>
                </a:rPr>
                <a:t>DNA</a:t>
              </a:r>
            </a:p>
          </p:txBody>
        </p:sp>
        <p:sp>
          <p:nvSpPr>
            <p:cNvPr id="176133" name="Text Box 5"/>
            <p:cNvSpPr txBox="1">
              <a:spLocks noChangeArrowheads="1"/>
            </p:cNvSpPr>
            <p:nvPr/>
          </p:nvSpPr>
          <p:spPr bwMode="auto">
            <a:xfrm>
              <a:off x="2640" y="2634"/>
              <a:ext cx="960" cy="271"/>
            </a:xfrm>
            <a:prstGeom prst="rect">
              <a:avLst/>
            </a:prstGeom>
            <a:solidFill>
              <a:schemeClr val="bg1"/>
            </a:solidFill>
            <a:ln w="9525">
              <a:solidFill>
                <a:schemeClr val="bg1"/>
              </a:solidFill>
              <a:miter lim="800000"/>
            </a:ln>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b="1">
                  <a:solidFill>
                    <a:schemeClr val="tx2"/>
                  </a:solidFill>
                  <a:latin typeface="Arial" panose="020B0604020202020204" pitchFamily="34" charset="0"/>
                </a:rPr>
                <a:t>Histones</a:t>
              </a:r>
            </a:p>
          </p:txBody>
        </p:sp>
        <p:sp>
          <p:nvSpPr>
            <p:cNvPr id="176134" name="Text Box 6"/>
            <p:cNvSpPr txBox="1">
              <a:spLocks noChangeArrowheads="1"/>
            </p:cNvSpPr>
            <p:nvPr/>
          </p:nvSpPr>
          <p:spPr bwMode="auto">
            <a:xfrm>
              <a:off x="2352" y="1728"/>
              <a:ext cx="1440" cy="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000" b="1">
                  <a:solidFill>
                    <a:schemeClr val="tx2"/>
                  </a:solidFill>
                </a:rPr>
                <a:t>Nucleosomes</a:t>
              </a:r>
            </a:p>
            <a:p>
              <a:pPr eaLnBrk="1" hangingPunct="1">
                <a:lnSpc>
                  <a:spcPct val="90000"/>
                </a:lnSpc>
                <a:spcBef>
                  <a:spcPct val="50000"/>
                </a:spcBef>
                <a:buFontTx/>
                <a:buNone/>
              </a:pPr>
              <a:r>
                <a:rPr lang="en-US" altLang="zh-CN" sz="2000" b="1">
                  <a:solidFill>
                    <a:schemeClr val="tx2"/>
                  </a:solidFill>
                </a:rPr>
                <a:t>(10 nm in diameter)</a:t>
              </a:r>
            </a:p>
          </p:txBody>
        </p:sp>
        <p:sp>
          <p:nvSpPr>
            <p:cNvPr id="176135" name="Text Box 7"/>
            <p:cNvSpPr txBox="1">
              <a:spLocks noChangeArrowheads="1"/>
            </p:cNvSpPr>
            <p:nvPr/>
          </p:nvSpPr>
          <p:spPr bwMode="auto">
            <a:xfrm>
              <a:off x="2496" y="1008"/>
              <a:ext cx="1440" cy="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000" b="1">
                  <a:solidFill>
                    <a:schemeClr val="tx2"/>
                  </a:solidFill>
                </a:rPr>
                <a:t>Chromatin fiber</a:t>
              </a:r>
            </a:p>
            <a:p>
              <a:pPr eaLnBrk="1" hangingPunct="1">
                <a:lnSpc>
                  <a:spcPct val="90000"/>
                </a:lnSpc>
                <a:spcBef>
                  <a:spcPct val="50000"/>
                </a:spcBef>
                <a:buFontTx/>
                <a:buNone/>
              </a:pPr>
              <a:r>
                <a:rPr lang="en-US" altLang="zh-CN" sz="2000" b="1">
                  <a:solidFill>
                    <a:schemeClr val="tx2"/>
                  </a:solidFill>
                </a:rPr>
                <a:t>(30 nm in diameter)</a:t>
              </a:r>
            </a:p>
          </p:txBody>
        </p:sp>
      </p:gr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p:cNvSpPr txBox="1">
            <a:spLocks noChangeArrowheads="1"/>
          </p:cNvSpPr>
          <p:nvPr/>
        </p:nvSpPr>
        <p:spPr bwMode="auto">
          <a:xfrm>
            <a:off x="611560" y="764704"/>
            <a:ext cx="7772400" cy="4669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en-US" altLang="zh-CN" dirty="0">
                <a:solidFill>
                  <a:srgbClr val="000000"/>
                </a:solidFill>
              </a:rPr>
              <a:t>Chromosomes contain both </a:t>
            </a:r>
            <a:r>
              <a:rPr lang="en-US" altLang="zh-CN" dirty="0">
                <a:solidFill>
                  <a:srgbClr val="FF0000"/>
                </a:solidFill>
              </a:rPr>
              <a:t>DNA</a:t>
            </a:r>
            <a:r>
              <a:rPr lang="en-US" altLang="zh-CN" dirty="0">
                <a:solidFill>
                  <a:srgbClr val="000000"/>
                </a:solidFill>
              </a:rPr>
              <a:t> and protein. Most of the protein are </a:t>
            </a:r>
            <a:r>
              <a:rPr lang="en-US" altLang="zh-CN" dirty="0">
                <a:solidFill>
                  <a:srgbClr val="FF0000"/>
                </a:solidFill>
              </a:rPr>
              <a:t>histones</a:t>
            </a:r>
            <a:r>
              <a:rPr lang="en-US" altLang="zh-CN" dirty="0">
                <a:solidFill>
                  <a:srgbClr val="000000"/>
                </a:solidFill>
              </a:rPr>
              <a:t>, but there are </a:t>
            </a:r>
            <a:r>
              <a:rPr lang="en-US" altLang="zh-CN" dirty="0">
                <a:solidFill>
                  <a:srgbClr val="FF0000"/>
                </a:solidFill>
              </a:rPr>
              <a:t>also nonhistone </a:t>
            </a:r>
            <a:r>
              <a:rPr lang="en-US" altLang="zh-CN" dirty="0">
                <a:solidFill>
                  <a:srgbClr val="000000"/>
                </a:solidFill>
              </a:rPr>
              <a:t>proteins.</a:t>
            </a:r>
          </a:p>
          <a:p>
            <a:pPr eaLnBrk="1" hangingPunct="1">
              <a:lnSpc>
                <a:spcPct val="120000"/>
              </a:lnSpc>
              <a:spcBef>
                <a:spcPct val="50000"/>
              </a:spcBef>
              <a:buFontTx/>
              <a:buNone/>
            </a:pPr>
            <a:r>
              <a:rPr lang="en-US" altLang="zh-CN" dirty="0">
                <a:solidFill>
                  <a:srgbClr val="000000"/>
                </a:solidFill>
              </a:rPr>
              <a:t>This </a:t>
            </a:r>
            <a:r>
              <a:rPr lang="en-US" altLang="zh-CN" dirty="0">
                <a:solidFill>
                  <a:srgbClr val="FF0000"/>
                </a:solidFill>
              </a:rPr>
              <a:t>nuclear DNA-protein complex is called chromatin</a:t>
            </a:r>
            <a:r>
              <a:rPr lang="en-US" altLang="zh-CN" dirty="0">
                <a:solidFill>
                  <a:srgbClr val="000000"/>
                </a:solidFill>
              </a:rPr>
              <a:t>.</a:t>
            </a:r>
          </a:p>
          <a:p>
            <a:pPr eaLnBrk="1" hangingPunct="1">
              <a:lnSpc>
                <a:spcPct val="120000"/>
              </a:lnSpc>
              <a:spcBef>
                <a:spcPct val="50000"/>
              </a:spcBef>
              <a:buFontTx/>
              <a:buNone/>
            </a:pPr>
            <a:r>
              <a:rPr lang="en-US" altLang="zh-CN" dirty="0">
                <a:solidFill>
                  <a:srgbClr val="000000"/>
                </a:solidFill>
              </a:rPr>
              <a:t>In the nucleus, </a:t>
            </a:r>
            <a:r>
              <a:rPr lang="en-US" altLang="zh-CN" dirty="0">
                <a:solidFill>
                  <a:srgbClr val="FF0000"/>
                </a:solidFill>
              </a:rPr>
              <a:t>each chromosome contains a single </a:t>
            </a:r>
            <a:r>
              <a:rPr lang="en-US" altLang="zh-CN" dirty="0">
                <a:solidFill>
                  <a:srgbClr val="000000"/>
                </a:solidFill>
              </a:rPr>
              <a:t>linear double-stranded DNA molecule.</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Box 2"/>
          <p:cNvSpPr txBox="1">
            <a:spLocks noChangeArrowheads="1"/>
          </p:cNvSpPr>
          <p:nvPr/>
        </p:nvSpPr>
        <p:spPr bwMode="auto">
          <a:xfrm>
            <a:off x="762000" y="1319213"/>
            <a:ext cx="6629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endParaRPr lang="zh-CN" altLang="zh-CN" sz="3600" b="1">
              <a:solidFill>
                <a:schemeClr val="tx2"/>
              </a:solidFill>
              <a:latin typeface="Arial" panose="020B0604020202020204" pitchFamily="34" charset="0"/>
            </a:endParaRPr>
          </a:p>
        </p:txBody>
      </p:sp>
      <p:sp>
        <p:nvSpPr>
          <p:cNvPr id="178179" name="Text Box 3"/>
          <p:cNvSpPr txBox="1">
            <a:spLocks noChangeArrowheads="1"/>
          </p:cNvSpPr>
          <p:nvPr/>
        </p:nvSpPr>
        <p:spPr bwMode="auto">
          <a:xfrm>
            <a:off x="838200" y="1319213"/>
            <a:ext cx="41910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3600" b="1">
                <a:solidFill>
                  <a:schemeClr val="tx2"/>
                </a:solidFill>
                <a:latin typeface="Arial" panose="020B0604020202020204" pitchFamily="34" charset="0"/>
              </a:rPr>
              <a:t>4. Nucleosomes</a:t>
            </a:r>
          </a:p>
        </p:txBody>
      </p:sp>
      <p:sp>
        <p:nvSpPr>
          <p:cNvPr id="178180" name="Text Box 4"/>
          <p:cNvSpPr txBox="1">
            <a:spLocks noChangeArrowheads="1"/>
          </p:cNvSpPr>
          <p:nvPr/>
        </p:nvSpPr>
        <p:spPr bwMode="auto">
          <a:xfrm>
            <a:off x="1042988" y="2133600"/>
            <a:ext cx="7543800" cy="404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en-US" altLang="zh-CN" sz="3600">
                <a:solidFill>
                  <a:schemeClr val="tx2"/>
                </a:solidFill>
              </a:rPr>
              <a:t>When chromosomes are gently “condensed”, they have the appearance under the electron microscope of “beads on a string”. The “beads” are called nucleosomes and consist of DNA complexed with histones.</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920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650" y="404813"/>
            <a:ext cx="8915400"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02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457200"/>
            <a:ext cx="7823200" cy="375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25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812800"/>
            <a:ext cx="7924800"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27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765175"/>
            <a:ext cx="8839200" cy="456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27584" y="5013176"/>
            <a:ext cx="1368152" cy="216024"/>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32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89300" y="254000"/>
            <a:ext cx="25654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648" y="236868"/>
            <a:ext cx="6696744" cy="5733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0232" y="2987030"/>
            <a:ext cx="2095500" cy="1162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53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0"/>
            <a:ext cx="7315200" cy="674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39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0"/>
            <a:ext cx="6505575"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944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52600" y="457200"/>
            <a:ext cx="5689600" cy="538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49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600" y="711200"/>
            <a:ext cx="71628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491" name="Text Box 4"/>
          <p:cNvSpPr txBox="1">
            <a:spLocks noChangeArrowheads="1"/>
          </p:cNvSpPr>
          <p:nvPr/>
        </p:nvSpPr>
        <p:spPr bwMode="auto">
          <a:xfrm>
            <a:off x="5334000" y="3376613"/>
            <a:ext cx="33528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endParaRPr lang="zh-CN" altLang="zh-CN" sz="3600" b="1">
              <a:solidFill>
                <a:schemeClr val="tx2"/>
              </a:solidFill>
              <a:latin typeface="Arial" panose="020B0604020202020204" pitchFamily="34"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353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1092200"/>
            <a:ext cx="8026400"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3539" name="Text Box 3"/>
          <p:cNvSpPr txBox="1">
            <a:spLocks noChangeArrowheads="1"/>
          </p:cNvSpPr>
          <p:nvPr/>
        </p:nvSpPr>
        <p:spPr bwMode="auto">
          <a:xfrm>
            <a:off x="4724400" y="4800600"/>
            <a:ext cx="3657600"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b="1">
                <a:solidFill>
                  <a:schemeClr val="tx2"/>
                </a:solidFill>
                <a:latin typeface="Arial" panose="020B0604020202020204" pitchFamily="34" charset="0"/>
              </a:rPr>
              <a:t>30nm chromatin fiber</a:t>
            </a:r>
          </a:p>
          <a:p>
            <a:pPr eaLnBrk="1" hangingPunct="1">
              <a:lnSpc>
                <a:spcPct val="90000"/>
              </a:lnSpc>
              <a:spcBef>
                <a:spcPct val="50000"/>
              </a:spcBef>
              <a:buFontTx/>
              <a:buNone/>
            </a:pPr>
            <a:r>
              <a:rPr lang="zh-CN" altLang="en-US" sz="2400" b="1">
                <a:solidFill>
                  <a:schemeClr val="tx2"/>
                </a:solidFill>
                <a:latin typeface="Arial" panose="020B0604020202020204" pitchFamily="34" charset="0"/>
              </a:rPr>
              <a:t>每圈</a:t>
            </a:r>
            <a:r>
              <a:rPr lang="en-US" altLang="zh-CN" sz="2400" b="1">
                <a:solidFill>
                  <a:schemeClr val="tx2"/>
                </a:solidFill>
                <a:latin typeface="Arial" panose="020B0604020202020204" pitchFamily="34" charset="0"/>
              </a:rPr>
              <a:t>6</a:t>
            </a:r>
            <a:r>
              <a:rPr lang="zh-CN" altLang="en-US" sz="2400" b="1">
                <a:solidFill>
                  <a:schemeClr val="tx2"/>
                </a:solidFill>
                <a:latin typeface="Arial" panose="020B0604020202020204" pitchFamily="34" charset="0"/>
              </a:rPr>
              <a:t>核小体</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58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09600"/>
            <a:ext cx="914400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96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1800" y="0"/>
            <a:ext cx="30178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9683" name="Group 3"/>
          <p:cNvGrpSpPr/>
          <p:nvPr/>
        </p:nvGrpSpPr>
        <p:grpSpPr bwMode="auto">
          <a:xfrm>
            <a:off x="838200" y="685800"/>
            <a:ext cx="7391400" cy="5662613"/>
            <a:chOff x="528" y="432"/>
            <a:chExt cx="4656" cy="3567"/>
          </a:xfrm>
        </p:grpSpPr>
        <p:sp>
          <p:nvSpPr>
            <p:cNvPr id="199684" name="Text Box 4"/>
            <p:cNvSpPr txBox="1">
              <a:spLocks noChangeArrowheads="1"/>
            </p:cNvSpPr>
            <p:nvPr/>
          </p:nvSpPr>
          <p:spPr bwMode="auto">
            <a:xfrm>
              <a:off x="1104" y="432"/>
              <a:ext cx="1440" cy="4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Two chromatids (10 coils each)</a:t>
              </a:r>
            </a:p>
          </p:txBody>
        </p:sp>
        <p:sp>
          <p:nvSpPr>
            <p:cNvPr id="199685" name="Rectangle 5"/>
            <p:cNvSpPr>
              <a:spLocks noChangeArrowheads="1"/>
            </p:cNvSpPr>
            <p:nvPr/>
          </p:nvSpPr>
          <p:spPr bwMode="auto">
            <a:xfrm>
              <a:off x="3744" y="1200"/>
              <a:ext cx="1200"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99686" name="Text Box 6"/>
            <p:cNvSpPr txBox="1">
              <a:spLocks noChangeArrowheads="1"/>
            </p:cNvSpPr>
            <p:nvPr/>
          </p:nvSpPr>
          <p:spPr bwMode="auto">
            <a:xfrm>
              <a:off x="672" y="3072"/>
              <a:ext cx="1824" cy="4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“Beads –on-a-string” form of chromatin</a:t>
              </a:r>
            </a:p>
          </p:txBody>
        </p:sp>
        <p:sp>
          <p:nvSpPr>
            <p:cNvPr id="199687" name="Text Box 7"/>
            <p:cNvSpPr txBox="1">
              <a:spLocks noChangeArrowheads="1"/>
            </p:cNvSpPr>
            <p:nvPr/>
          </p:nvSpPr>
          <p:spPr bwMode="auto">
            <a:xfrm>
              <a:off x="1872" y="3792"/>
              <a:ext cx="624" cy="2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DNA</a:t>
              </a:r>
            </a:p>
          </p:txBody>
        </p:sp>
        <p:sp>
          <p:nvSpPr>
            <p:cNvPr id="199688" name="Text Box 8"/>
            <p:cNvSpPr txBox="1">
              <a:spLocks noChangeArrowheads="1"/>
            </p:cNvSpPr>
            <p:nvPr/>
          </p:nvSpPr>
          <p:spPr bwMode="auto">
            <a:xfrm>
              <a:off x="1440" y="2640"/>
              <a:ext cx="1104" cy="2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30 nm Fiber</a:t>
              </a:r>
            </a:p>
          </p:txBody>
        </p:sp>
        <p:sp>
          <p:nvSpPr>
            <p:cNvPr id="199689" name="Text Box 9"/>
            <p:cNvSpPr txBox="1">
              <a:spLocks noChangeArrowheads="1"/>
            </p:cNvSpPr>
            <p:nvPr/>
          </p:nvSpPr>
          <p:spPr bwMode="auto">
            <a:xfrm>
              <a:off x="1488" y="1584"/>
              <a:ext cx="1056" cy="2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One rosette</a:t>
              </a:r>
            </a:p>
          </p:txBody>
        </p:sp>
        <p:sp>
          <p:nvSpPr>
            <p:cNvPr id="199690" name="Text Box 10"/>
            <p:cNvSpPr txBox="1">
              <a:spLocks noChangeArrowheads="1"/>
            </p:cNvSpPr>
            <p:nvPr/>
          </p:nvSpPr>
          <p:spPr bwMode="auto">
            <a:xfrm>
              <a:off x="576" y="2112"/>
              <a:ext cx="1968" cy="2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One loop (-75,000 bp)</a:t>
              </a:r>
            </a:p>
          </p:txBody>
        </p:sp>
        <p:sp>
          <p:nvSpPr>
            <p:cNvPr id="199691" name="Text Box 11"/>
            <p:cNvSpPr txBox="1">
              <a:spLocks noChangeArrowheads="1"/>
            </p:cNvSpPr>
            <p:nvPr/>
          </p:nvSpPr>
          <p:spPr bwMode="auto">
            <a:xfrm>
              <a:off x="3360" y="1632"/>
              <a:ext cx="1824" cy="2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Nuclear scaffold</a:t>
              </a:r>
            </a:p>
          </p:txBody>
        </p:sp>
        <p:sp>
          <p:nvSpPr>
            <p:cNvPr id="199692" name="Text Box 12"/>
            <p:cNvSpPr txBox="1">
              <a:spLocks noChangeArrowheads="1"/>
            </p:cNvSpPr>
            <p:nvPr/>
          </p:nvSpPr>
          <p:spPr bwMode="auto">
            <a:xfrm>
              <a:off x="528" y="1007"/>
              <a:ext cx="2016" cy="52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One coil (30 rosettes)</a:t>
              </a:r>
            </a:p>
            <a:p>
              <a:pPr eaLnBrk="1" hangingPunct="1">
                <a:lnSpc>
                  <a:spcPct val="90000"/>
                </a:lnSpc>
                <a:spcBef>
                  <a:spcPct val="50000"/>
                </a:spcBef>
                <a:buFontTx/>
                <a:buNone/>
              </a:pPr>
              <a:endParaRPr lang="en-US" altLang="zh-CN" sz="2400">
                <a:solidFill>
                  <a:schemeClr val="tx2"/>
                </a:solidFill>
                <a:latin typeface="Tahoma" panose="020B0604030504040204" pitchFamily="34" charset="0"/>
              </a:endParaRPr>
            </a:p>
          </p:txBody>
        </p:sp>
      </p:gr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1730" name="Picture 2" descr="chromesome3"/>
          <p:cNvPicPr>
            <a:picLocks noChangeAspect="1" noChangeArrowheads="1"/>
          </p:cNvPicPr>
          <p:nvPr/>
        </p:nvPicPr>
        <p:blipFill>
          <a:blip r:embed="rId2" cstate="print">
            <a:lum bright="-36000" contrast="36000"/>
            <a:extLst>
              <a:ext uri="{28A0092B-C50C-407E-A947-70E740481C1C}">
                <a14:useLocalDpi xmlns:a14="http://schemas.microsoft.com/office/drawing/2010/main" val="0"/>
              </a:ext>
            </a:extLst>
          </a:blip>
          <a:srcRect/>
          <a:stretch>
            <a:fillRect/>
          </a:stretch>
        </p:blipFill>
        <p:spPr bwMode="auto">
          <a:xfrm>
            <a:off x="2057400" y="0"/>
            <a:ext cx="593248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2756" name="Picture 4" descr="025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57150"/>
            <a:ext cx="8763000" cy="657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r>
              <a:rPr lang="en-US" altLang="zh-CN" sz="6000" b="1">
                <a:solidFill>
                  <a:srgbClr val="FF0000"/>
                </a:solidFill>
              </a:rPr>
              <a:t>DNA Replication  </a:t>
            </a:r>
            <a:r>
              <a:rPr lang="en-US" altLang="zh-CN" sz="4000">
                <a:solidFill>
                  <a:srgbClr val="FF0000"/>
                </a:solidFill>
              </a:rPr>
              <a:t>(F3F4)</a:t>
            </a:r>
          </a:p>
        </p:txBody>
      </p:sp>
      <p:sp>
        <p:nvSpPr>
          <p:cNvPr id="203779" name="Text Box 3"/>
          <p:cNvSpPr txBox="1">
            <a:spLocks noChangeArrowheads="1"/>
          </p:cNvSpPr>
          <p:nvPr/>
        </p:nvSpPr>
        <p:spPr bwMode="auto">
          <a:xfrm>
            <a:off x="457200" y="2895600"/>
            <a:ext cx="8001000" cy="184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dirty="0"/>
              <a:t>How does a DNA molecule replicate with high fidelity?</a:t>
            </a:r>
          </a:p>
          <a:p>
            <a:pPr eaLnBrk="1" hangingPunct="1">
              <a:buFontTx/>
              <a:buNone/>
            </a:pPr>
            <a:endParaRPr lang="en-US" altLang="zh-CN" sz="3600" dirty="0"/>
          </a:p>
        </p:txBody>
      </p:sp>
    </p:spTree>
  </p:cSld>
  <p:clrMapOvr>
    <a:masterClrMapping/>
  </p:clrMapOvr>
  <p:transition>
    <p:zoom/>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lnSpc>
                <a:spcPct val="80000"/>
              </a:lnSpc>
            </a:pPr>
            <a:r>
              <a:rPr lang="en-US" altLang="zh-CN" sz="4000" b="1" dirty="0">
                <a:solidFill>
                  <a:srgbClr val="FF0066"/>
                </a:solidFill>
              </a:rPr>
              <a:t>1. The deduced double helix structure of DNA revealed the possible ways for its replication (1953)</a:t>
            </a:r>
          </a:p>
        </p:txBody>
      </p:sp>
      <p:pic>
        <p:nvPicPr>
          <p:cNvPr id="204803"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16389" y="1844824"/>
            <a:ext cx="2552700" cy="485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04" name="Rectangle 6"/>
          <p:cNvSpPr>
            <a:spLocks noChangeArrowheads="1"/>
          </p:cNvSpPr>
          <p:nvPr/>
        </p:nvSpPr>
        <p:spPr bwMode="auto">
          <a:xfrm>
            <a:off x="1043608" y="2636912"/>
            <a:ext cx="3960813"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dirty="0">
                <a:solidFill>
                  <a:schemeClr val="accent2"/>
                </a:solidFill>
              </a:rPr>
              <a:t>The hypothesis of</a:t>
            </a:r>
          </a:p>
          <a:p>
            <a:pPr eaLnBrk="1" hangingPunct="1">
              <a:spcBef>
                <a:spcPct val="0"/>
              </a:spcBef>
              <a:buFontTx/>
              <a:buNone/>
            </a:pPr>
            <a:r>
              <a:rPr lang="en-US" altLang="zh-CN" sz="2800" b="1" dirty="0">
                <a:solidFill>
                  <a:schemeClr val="accent2"/>
                </a:solidFill>
              </a:rPr>
              <a:t>semiconservative</a:t>
            </a:r>
          </a:p>
          <a:p>
            <a:pPr eaLnBrk="1" hangingPunct="1">
              <a:spcBef>
                <a:spcPct val="0"/>
              </a:spcBef>
              <a:buFontTx/>
              <a:buNone/>
            </a:pPr>
            <a:r>
              <a:rPr lang="en-US" altLang="zh-CN" sz="2800" b="1" dirty="0">
                <a:solidFill>
                  <a:schemeClr val="accent2"/>
                </a:solidFill>
              </a:rPr>
              <a:t>replication</a:t>
            </a:r>
            <a:r>
              <a:rPr lang="en-US" altLang="zh-CN" sz="2800" dirty="0">
                <a:solidFill>
                  <a:schemeClr val="accent2"/>
                </a:solidFill>
              </a:rPr>
              <a:t> proposed </a:t>
            </a:r>
          </a:p>
          <a:p>
            <a:pPr eaLnBrk="1" hangingPunct="1">
              <a:spcBef>
                <a:spcPct val="0"/>
              </a:spcBef>
              <a:buFontTx/>
              <a:buNone/>
            </a:pPr>
            <a:r>
              <a:rPr lang="en-US" altLang="zh-CN" sz="2800" dirty="0">
                <a:solidFill>
                  <a:schemeClr val="accent2"/>
                </a:solidFill>
              </a:rPr>
              <a:t>by Watson and Crick</a:t>
            </a:r>
          </a:p>
          <a:p>
            <a:pPr eaLnBrk="1" hangingPunct="1">
              <a:spcBef>
                <a:spcPct val="0"/>
              </a:spcBef>
              <a:buFontTx/>
              <a:buNone/>
            </a:pPr>
            <a:r>
              <a:rPr lang="en-US" altLang="zh-CN" sz="2800" dirty="0">
                <a:solidFill>
                  <a:schemeClr val="accent2"/>
                </a:solidFill>
              </a:rPr>
              <a:t>in  1953.</a:t>
            </a:r>
          </a:p>
        </p:txBody>
      </p:sp>
    </p:spTree>
  </p:cSld>
  <p:clrMapOvr>
    <a:masterClrMapping/>
  </p:clrMapOvr>
  <p:transition>
    <p:zoom/>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r>
              <a:rPr lang="en-US" altLang="zh-CN" sz="3200" b="1" dirty="0">
                <a:solidFill>
                  <a:srgbClr val="FF0066"/>
                </a:solidFill>
              </a:rPr>
              <a:t>2. DNA replication was proved to be semiconservative by the Meselson-Stahl experiment using </a:t>
            </a:r>
            <a:r>
              <a:rPr lang="en-US" altLang="zh-CN" sz="3200" b="1" i="1" dirty="0">
                <a:solidFill>
                  <a:srgbClr val="FF0066"/>
                </a:solidFill>
              </a:rPr>
              <a:t>E. coli</a:t>
            </a:r>
            <a:r>
              <a:rPr lang="en-US" altLang="zh-CN" sz="3200" b="1" dirty="0">
                <a:solidFill>
                  <a:srgbClr val="FF0066"/>
                </a:solidFill>
              </a:rPr>
              <a:t> cells (1957)</a:t>
            </a:r>
            <a:endParaRPr lang="en-US" altLang="zh-CN" sz="3200" dirty="0">
              <a:solidFill>
                <a:srgbClr val="FF0066"/>
              </a:solidFill>
            </a:endParaRPr>
          </a:p>
        </p:txBody>
      </p:sp>
      <p:sp>
        <p:nvSpPr>
          <p:cNvPr id="205827" name="Rectangle 3"/>
          <p:cNvSpPr>
            <a:spLocks noGrp="1" noChangeArrowheads="1"/>
          </p:cNvSpPr>
          <p:nvPr>
            <p:ph idx="4294967295"/>
          </p:nvPr>
        </p:nvSpPr>
        <p:spPr>
          <a:xfrm>
            <a:off x="457200" y="1927373"/>
            <a:ext cx="8229600" cy="4525963"/>
          </a:xfrm>
          <a:prstGeom prst="rect">
            <a:avLst/>
          </a:prstGeom>
        </p:spPr>
        <p:txBody>
          <a:bodyPr/>
          <a:lstStyle/>
          <a:p>
            <a:pPr eaLnBrk="1" hangingPunct="1"/>
            <a:r>
              <a:rPr lang="en-US" altLang="zh-CN" sz="3000" b="1" baseline="30000" dirty="0">
                <a:solidFill>
                  <a:schemeClr val="tx2"/>
                </a:solidFill>
              </a:rPr>
              <a:t>15</a:t>
            </a:r>
            <a:r>
              <a:rPr lang="en-US" altLang="zh-CN" sz="3000" b="1" dirty="0">
                <a:solidFill>
                  <a:schemeClr val="tx2"/>
                </a:solidFill>
              </a:rPr>
              <a:t>N</a:t>
            </a:r>
            <a:r>
              <a:rPr lang="en-US" altLang="zh-CN" sz="3000" dirty="0">
                <a:solidFill>
                  <a:schemeClr val="tx2"/>
                </a:solidFill>
              </a:rPr>
              <a:t> (the Heavy isotope) and </a:t>
            </a:r>
            <a:r>
              <a:rPr lang="en-US" altLang="zh-CN" sz="3000" b="1" baseline="30000" dirty="0">
                <a:solidFill>
                  <a:schemeClr val="tx2"/>
                </a:solidFill>
              </a:rPr>
              <a:t>14</a:t>
            </a:r>
            <a:r>
              <a:rPr lang="en-US" altLang="zh-CN" sz="3000" b="1" dirty="0">
                <a:solidFill>
                  <a:schemeClr val="tx2"/>
                </a:solidFill>
              </a:rPr>
              <a:t>N</a:t>
            </a:r>
            <a:r>
              <a:rPr lang="en-US" altLang="zh-CN" sz="3000" dirty="0">
                <a:solidFill>
                  <a:schemeClr val="tx2"/>
                </a:solidFill>
              </a:rPr>
              <a:t> (the Light isotope) was used (as NH</a:t>
            </a:r>
            <a:r>
              <a:rPr lang="en-US" altLang="zh-CN" sz="3000" baseline="-25000" dirty="0">
                <a:solidFill>
                  <a:schemeClr val="tx2"/>
                </a:solidFill>
              </a:rPr>
              <a:t>4</a:t>
            </a:r>
            <a:r>
              <a:rPr lang="en-US" altLang="zh-CN" sz="3000" dirty="0">
                <a:solidFill>
                  <a:schemeClr val="tx2"/>
                </a:solidFill>
              </a:rPr>
              <a:t>Cl) to label the DNA to distinguish the old and newly synthesized DNA molecules in cells;</a:t>
            </a:r>
          </a:p>
          <a:p>
            <a:pPr eaLnBrk="1" hangingPunct="1"/>
            <a:r>
              <a:rPr lang="en-US" altLang="zh-CN" sz="3000" dirty="0">
                <a:solidFill>
                  <a:schemeClr val="tx2"/>
                </a:solidFill>
              </a:rPr>
              <a:t>Three types of DNA molecules containing various proportions of </a:t>
            </a:r>
            <a:r>
              <a:rPr lang="en-US" altLang="zh-CN" sz="3000" b="1" baseline="30000" dirty="0">
                <a:solidFill>
                  <a:schemeClr val="tx2"/>
                </a:solidFill>
              </a:rPr>
              <a:t>15</a:t>
            </a:r>
            <a:r>
              <a:rPr lang="en-US" altLang="zh-CN" sz="3000" b="1" dirty="0">
                <a:solidFill>
                  <a:schemeClr val="tx2"/>
                </a:solidFill>
              </a:rPr>
              <a:t>N</a:t>
            </a:r>
            <a:r>
              <a:rPr lang="en-US" altLang="zh-CN" sz="3000" dirty="0">
                <a:solidFill>
                  <a:schemeClr val="tx2"/>
                </a:solidFill>
              </a:rPr>
              <a:t> and </a:t>
            </a:r>
            <a:r>
              <a:rPr lang="en-US" altLang="zh-CN" sz="3000" b="1" baseline="30000" dirty="0">
                <a:solidFill>
                  <a:schemeClr val="tx2"/>
                </a:solidFill>
              </a:rPr>
              <a:t>14</a:t>
            </a:r>
            <a:r>
              <a:rPr lang="en-US" altLang="zh-CN" sz="3000" b="1" dirty="0">
                <a:solidFill>
                  <a:schemeClr val="tx2"/>
                </a:solidFill>
              </a:rPr>
              <a:t>N</a:t>
            </a:r>
            <a:r>
              <a:rPr lang="en-US" altLang="zh-CN" sz="3000" dirty="0">
                <a:solidFill>
                  <a:schemeClr val="tx2"/>
                </a:solidFill>
              </a:rPr>
              <a:t> (H-H, H-L, L-L) were separated by centrifugation to equilibrium in a cesium chloride (</a:t>
            </a:r>
            <a:r>
              <a:rPr lang="en-US" altLang="zh-CN" sz="3000" dirty="0" err="1">
                <a:solidFill>
                  <a:schemeClr val="tx2"/>
                </a:solidFill>
              </a:rPr>
              <a:t>CsCl</a:t>
            </a:r>
            <a:r>
              <a:rPr lang="en-US" altLang="zh-CN" sz="3000" dirty="0">
                <a:solidFill>
                  <a:schemeClr val="tx2"/>
                </a:solidFill>
              </a:rPr>
              <a:t>) density gradient. </a:t>
            </a:r>
          </a:p>
        </p:txBody>
      </p:sp>
    </p:spTree>
  </p:cSld>
  <p:clrMapOvr>
    <a:masterClrMapping/>
  </p:clrMapOvr>
  <p:transition>
    <p:zoom/>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ChangeArrowheads="1"/>
          </p:cNvSpPr>
          <p:nvPr/>
        </p:nvSpPr>
        <p:spPr bwMode="auto">
          <a:xfrm>
            <a:off x="5105400" y="98425"/>
            <a:ext cx="3919538" cy="350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b="1" dirty="0">
                <a:solidFill>
                  <a:srgbClr val="800000"/>
                </a:solidFill>
              </a:rPr>
              <a:t>Radioisotope labeling</a:t>
            </a:r>
          </a:p>
          <a:p>
            <a:pPr>
              <a:spcBef>
                <a:spcPct val="0"/>
              </a:spcBef>
              <a:buFontTx/>
              <a:buNone/>
            </a:pPr>
            <a:r>
              <a:rPr lang="en-US" altLang="zh-CN" b="1" dirty="0">
                <a:solidFill>
                  <a:srgbClr val="800000"/>
                </a:solidFill>
              </a:rPr>
              <a:t>and density gradient</a:t>
            </a:r>
          </a:p>
          <a:p>
            <a:pPr>
              <a:spcBef>
                <a:spcPct val="0"/>
              </a:spcBef>
              <a:buFontTx/>
              <a:buNone/>
            </a:pPr>
            <a:r>
              <a:rPr lang="en-US" altLang="zh-CN" b="1" dirty="0">
                <a:solidFill>
                  <a:srgbClr val="800000"/>
                </a:solidFill>
              </a:rPr>
              <a:t>centrifugation clearly</a:t>
            </a:r>
          </a:p>
          <a:p>
            <a:pPr>
              <a:spcBef>
                <a:spcPct val="0"/>
              </a:spcBef>
              <a:buFontTx/>
              <a:buNone/>
            </a:pPr>
            <a:r>
              <a:rPr lang="en-US" altLang="zh-CN" b="1" dirty="0">
                <a:solidFill>
                  <a:srgbClr val="800000"/>
                </a:solidFill>
              </a:rPr>
              <a:t>distinguishes </a:t>
            </a:r>
          </a:p>
          <a:p>
            <a:pPr>
              <a:spcBef>
                <a:spcPct val="0"/>
              </a:spcBef>
              <a:buFontTx/>
              <a:buNone/>
            </a:pPr>
            <a:r>
              <a:rPr lang="en-US" altLang="zh-CN" b="1" dirty="0">
                <a:solidFill>
                  <a:srgbClr val="800000"/>
                </a:solidFill>
              </a:rPr>
              <a:t>replications of</a:t>
            </a:r>
          </a:p>
          <a:p>
            <a:pPr>
              <a:spcBef>
                <a:spcPct val="0"/>
              </a:spcBef>
              <a:buFontTx/>
              <a:buNone/>
            </a:pPr>
            <a:r>
              <a:rPr lang="en-US" altLang="zh-CN" b="1" dirty="0">
                <a:solidFill>
                  <a:srgbClr val="800000"/>
                </a:solidFill>
              </a:rPr>
              <a:t>semiconservative </a:t>
            </a:r>
          </a:p>
          <a:p>
            <a:pPr>
              <a:spcBef>
                <a:spcPct val="0"/>
              </a:spcBef>
              <a:buFontTx/>
              <a:buNone/>
            </a:pPr>
            <a:r>
              <a:rPr lang="en-US" altLang="zh-CN" b="1" dirty="0">
                <a:solidFill>
                  <a:srgbClr val="800000"/>
                </a:solidFill>
              </a:rPr>
              <a:t>from conservative.</a:t>
            </a:r>
          </a:p>
        </p:txBody>
      </p:sp>
      <p:pic>
        <p:nvPicPr>
          <p:cNvPr id="2068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52400"/>
            <a:ext cx="5084763" cy="64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7874" name="Picture 2" descr="mesels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609600"/>
            <a:ext cx="1595438"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875" name="Rectangle 3"/>
          <p:cNvSpPr>
            <a:spLocks noChangeArrowheads="1"/>
          </p:cNvSpPr>
          <p:nvPr/>
        </p:nvSpPr>
        <p:spPr bwMode="auto">
          <a:xfrm>
            <a:off x="5257800" y="381000"/>
            <a:ext cx="3867150"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3600" b="1">
                <a:solidFill>
                  <a:schemeClr val="accent2"/>
                </a:solidFill>
              </a:rPr>
              <a:t>The Meselson-</a:t>
            </a:r>
          </a:p>
          <a:p>
            <a:pPr eaLnBrk="1" hangingPunct="1">
              <a:spcBef>
                <a:spcPct val="0"/>
              </a:spcBef>
              <a:buFontTx/>
              <a:buNone/>
            </a:pPr>
            <a:r>
              <a:rPr lang="en-US" altLang="zh-CN" sz="3600" b="1">
                <a:solidFill>
                  <a:schemeClr val="accent2"/>
                </a:solidFill>
              </a:rPr>
              <a:t>Stahl experiment:</a:t>
            </a:r>
          </a:p>
          <a:p>
            <a:pPr eaLnBrk="1" hangingPunct="1">
              <a:spcBef>
                <a:spcPct val="0"/>
              </a:spcBef>
              <a:buFontTx/>
              <a:buNone/>
            </a:pPr>
            <a:r>
              <a:rPr lang="en-US" altLang="zh-CN" sz="3600" b="1">
                <a:solidFill>
                  <a:srgbClr val="FF0066"/>
                </a:solidFill>
              </a:rPr>
              <a:t>DNA molecules </a:t>
            </a:r>
          </a:p>
          <a:p>
            <a:pPr eaLnBrk="1" hangingPunct="1">
              <a:spcBef>
                <a:spcPct val="0"/>
              </a:spcBef>
              <a:buFontTx/>
              <a:buNone/>
            </a:pPr>
            <a:r>
              <a:rPr lang="en-US" altLang="zh-CN" sz="3600" b="1">
                <a:solidFill>
                  <a:srgbClr val="FF0066"/>
                </a:solidFill>
              </a:rPr>
              <a:t>duplicate  </a:t>
            </a:r>
          </a:p>
          <a:p>
            <a:pPr eaLnBrk="1" hangingPunct="1">
              <a:spcBef>
                <a:spcPct val="0"/>
              </a:spcBef>
              <a:buFontTx/>
              <a:buNone/>
            </a:pPr>
            <a:r>
              <a:rPr lang="en-US" altLang="zh-CN" sz="3600" b="1">
                <a:solidFill>
                  <a:srgbClr val="FF0066"/>
                </a:solidFill>
              </a:rPr>
              <a:t>semiconservatively</a:t>
            </a:r>
          </a:p>
          <a:p>
            <a:pPr eaLnBrk="1" hangingPunct="1">
              <a:spcBef>
                <a:spcPct val="0"/>
              </a:spcBef>
              <a:buFontTx/>
              <a:buNone/>
            </a:pPr>
            <a:r>
              <a:rPr lang="en-US" altLang="zh-CN" sz="3600" b="1">
                <a:solidFill>
                  <a:srgbClr val="FF0066"/>
                </a:solidFill>
              </a:rPr>
              <a:t>in </a:t>
            </a:r>
            <a:r>
              <a:rPr lang="en-US" altLang="zh-CN" sz="3600" b="1" i="1">
                <a:solidFill>
                  <a:srgbClr val="FF0066"/>
                </a:solidFill>
              </a:rPr>
              <a:t>E. coli</a:t>
            </a:r>
            <a:r>
              <a:rPr lang="en-US" altLang="zh-CN" sz="3600" b="1">
                <a:solidFill>
                  <a:srgbClr val="FF0066"/>
                </a:solidFill>
              </a:rPr>
              <a:t> cells.</a:t>
            </a:r>
          </a:p>
          <a:p>
            <a:pPr eaLnBrk="1" hangingPunct="1">
              <a:spcBef>
                <a:spcPct val="0"/>
              </a:spcBef>
              <a:buFontTx/>
              <a:buNone/>
            </a:pPr>
            <a:endParaRPr lang="en-US" altLang="zh-CN" sz="2000">
              <a:solidFill>
                <a:srgbClr val="FF0066"/>
              </a:solidFill>
            </a:endParaRPr>
          </a:p>
        </p:txBody>
      </p:sp>
      <p:sp>
        <p:nvSpPr>
          <p:cNvPr id="207876" name="Rectangle 4"/>
          <p:cNvSpPr>
            <a:spLocks noChangeArrowheads="1"/>
          </p:cNvSpPr>
          <p:nvPr/>
        </p:nvSpPr>
        <p:spPr bwMode="auto">
          <a:xfrm>
            <a:off x="1524000" y="0"/>
            <a:ext cx="1133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baseline="30000">
                <a:solidFill>
                  <a:srgbClr val="FF33CC"/>
                </a:solidFill>
              </a:rPr>
              <a:t>15</a:t>
            </a:r>
            <a:r>
              <a:rPr lang="en-US" altLang="zh-CN" sz="2400" b="1">
                <a:solidFill>
                  <a:srgbClr val="FF33CC"/>
                </a:solidFill>
              </a:rPr>
              <a:t>N</a:t>
            </a:r>
            <a:r>
              <a:rPr lang="en-US" altLang="zh-CN" sz="2400" b="1"/>
              <a:t>-</a:t>
            </a:r>
            <a:r>
              <a:rPr lang="en-US" altLang="zh-CN" sz="2400" b="1" baseline="30000">
                <a:solidFill>
                  <a:srgbClr val="FF33CC"/>
                </a:solidFill>
              </a:rPr>
              <a:t>15</a:t>
            </a:r>
            <a:r>
              <a:rPr lang="en-US" altLang="zh-CN" sz="2400" b="1">
                <a:solidFill>
                  <a:srgbClr val="FF33CC"/>
                </a:solidFill>
              </a:rPr>
              <a:t>N</a:t>
            </a:r>
            <a:endParaRPr lang="en-US" altLang="zh-CN" sz="2400">
              <a:solidFill>
                <a:srgbClr val="FF33CC"/>
              </a:solidFill>
            </a:endParaRPr>
          </a:p>
        </p:txBody>
      </p:sp>
      <p:sp>
        <p:nvSpPr>
          <p:cNvPr id="207877" name="Line 5"/>
          <p:cNvSpPr>
            <a:spLocks noChangeShapeType="1"/>
          </p:cNvSpPr>
          <p:nvPr/>
        </p:nvSpPr>
        <p:spPr bwMode="auto">
          <a:xfrm>
            <a:off x="2133600" y="381000"/>
            <a:ext cx="0" cy="304800"/>
          </a:xfrm>
          <a:prstGeom prst="line">
            <a:avLst/>
          </a:prstGeom>
          <a:noFill/>
          <a:ln w="9525">
            <a:solidFill>
              <a:srgbClr val="FF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878" name="Rectangle 6"/>
          <p:cNvSpPr>
            <a:spLocks noChangeArrowheads="1"/>
          </p:cNvSpPr>
          <p:nvPr/>
        </p:nvSpPr>
        <p:spPr bwMode="auto">
          <a:xfrm>
            <a:off x="3124200" y="609600"/>
            <a:ext cx="194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t>0 generation</a:t>
            </a:r>
          </a:p>
        </p:txBody>
      </p:sp>
      <p:sp>
        <p:nvSpPr>
          <p:cNvPr id="207879" name="Rectangle 7"/>
          <p:cNvSpPr>
            <a:spLocks noChangeArrowheads="1"/>
          </p:cNvSpPr>
          <p:nvPr/>
        </p:nvSpPr>
        <p:spPr bwMode="auto">
          <a:xfrm>
            <a:off x="3048000" y="1981200"/>
            <a:ext cx="194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t>1 generation</a:t>
            </a:r>
          </a:p>
        </p:txBody>
      </p:sp>
      <p:sp>
        <p:nvSpPr>
          <p:cNvPr id="207880" name="Rectangle 8"/>
          <p:cNvSpPr>
            <a:spLocks noChangeArrowheads="1"/>
          </p:cNvSpPr>
          <p:nvPr/>
        </p:nvSpPr>
        <p:spPr bwMode="auto">
          <a:xfrm>
            <a:off x="3124200" y="3352800"/>
            <a:ext cx="2087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t>2 generations</a:t>
            </a:r>
          </a:p>
        </p:txBody>
      </p:sp>
      <p:sp>
        <p:nvSpPr>
          <p:cNvPr id="207881" name="Rectangle 9"/>
          <p:cNvSpPr>
            <a:spLocks noChangeArrowheads="1"/>
          </p:cNvSpPr>
          <p:nvPr/>
        </p:nvSpPr>
        <p:spPr bwMode="auto">
          <a:xfrm>
            <a:off x="3124200" y="4343400"/>
            <a:ext cx="2087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t>3 generations</a:t>
            </a:r>
          </a:p>
        </p:txBody>
      </p:sp>
      <p:sp>
        <p:nvSpPr>
          <p:cNvPr id="207882" name="Rectangle 10"/>
          <p:cNvSpPr>
            <a:spLocks noChangeArrowheads="1"/>
          </p:cNvSpPr>
          <p:nvPr/>
        </p:nvSpPr>
        <p:spPr bwMode="auto">
          <a:xfrm>
            <a:off x="3200400" y="4800600"/>
            <a:ext cx="2087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dirty="0"/>
              <a:t>4 generations</a:t>
            </a:r>
          </a:p>
        </p:txBody>
      </p:sp>
      <p:sp>
        <p:nvSpPr>
          <p:cNvPr id="207883" name="AutoShape 11"/>
          <p:cNvSpPr>
            <a:spLocks noChangeArrowheads="1"/>
          </p:cNvSpPr>
          <p:nvPr/>
        </p:nvSpPr>
        <p:spPr bwMode="auto">
          <a:xfrm>
            <a:off x="2819400" y="838200"/>
            <a:ext cx="304800" cy="152400"/>
          </a:xfrm>
          <a:prstGeom prst="leftArrow">
            <a:avLst>
              <a:gd name="adj1" fmla="val 50000"/>
              <a:gd name="adj2" fmla="val 50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07884" name="AutoShape 12"/>
          <p:cNvSpPr>
            <a:spLocks noChangeArrowheads="1"/>
          </p:cNvSpPr>
          <p:nvPr/>
        </p:nvSpPr>
        <p:spPr bwMode="auto">
          <a:xfrm>
            <a:off x="2819400" y="2209800"/>
            <a:ext cx="304800" cy="152400"/>
          </a:xfrm>
          <a:prstGeom prst="leftArrow">
            <a:avLst>
              <a:gd name="adj1" fmla="val 50000"/>
              <a:gd name="adj2" fmla="val 50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07885" name="AutoShape 13"/>
          <p:cNvSpPr>
            <a:spLocks noChangeArrowheads="1"/>
          </p:cNvSpPr>
          <p:nvPr/>
        </p:nvSpPr>
        <p:spPr bwMode="auto">
          <a:xfrm>
            <a:off x="2819400" y="3581400"/>
            <a:ext cx="304800" cy="152400"/>
          </a:xfrm>
          <a:prstGeom prst="leftArrow">
            <a:avLst>
              <a:gd name="adj1" fmla="val 50000"/>
              <a:gd name="adj2" fmla="val 50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07886" name="AutoShape 14"/>
          <p:cNvSpPr>
            <a:spLocks noChangeArrowheads="1"/>
          </p:cNvSpPr>
          <p:nvPr/>
        </p:nvSpPr>
        <p:spPr bwMode="auto">
          <a:xfrm>
            <a:off x="2819400" y="4572000"/>
            <a:ext cx="304800" cy="152400"/>
          </a:xfrm>
          <a:prstGeom prst="leftArrow">
            <a:avLst>
              <a:gd name="adj1" fmla="val 50000"/>
              <a:gd name="adj2" fmla="val 50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07887" name="Rectangle 15"/>
          <p:cNvSpPr>
            <a:spLocks noChangeArrowheads="1"/>
          </p:cNvSpPr>
          <p:nvPr/>
        </p:nvSpPr>
        <p:spPr bwMode="auto">
          <a:xfrm>
            <a:off x="3124200" y="5257800"/>
            <a:ext cx="2295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t>0 and 2  mixed</a:t>
            </a:r>
          </a:p>
        </p:txBody>
      </p:sp>
      <p:sp>
        <p:nvSpPr>
          <p:cNvPr id="207888" name="Rectangle 16"/>
          <p:cNvSpPr>
            <a:spLocks noChangeArrowheads="1"/>
          </p:cNvSpPr>
          <p:nvPr/>
        </p:nvSpPr>
        <p:spPr bwMode="auto">
          <a:xfrm>
            <a:off x="3124200" y="5791200"/>
            <a:ext cx="2206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dirty="0"/>
              <a:t>0 and 4 mixed</a:t>
            </a:r>
          </a:p>
        </p:txBody>
      </p:sp>
      <p:sp>
        <p:nvSpPr>
          <p:cNvPr id="207889" name="Rectangle 17"/>
          <p:cNvSpPr>
            <a:spLocks noChangeArrowheads="1"/>
          </p:cNvSpPr>
          <p:nvPr/>
        </p:nvSpPr>
        <p:spPr bwMode="auto">
          <a:xfrm>
            <a:off x="1524000" y="6461125"/>
            <a:ext cx="966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aseline="30000">
                <a:solidFill>
                  <a:srgbClr val="FF0000"/>
                </a:solidFill>
              </a:rPr>
              <a:t>15</a:t>
            </a:r>
            <a:r>
              <a:rPr lang="en-US" altLang="zh-CN" sz="2000">
                <a:solidFill>
                  <a:srgbClr val="FF0000"/>
                </a:solidFill>
              </a:rPr>
              <a:t>N-</a:t>
            </a:r>
            <a:r>
              <a:rPr lang="en-US" altLang="zh-CN" sz="2000" baseline="30000">
                <a:solidFill>
                  <a:srgbClr val="FF0000"/>
                </a:solidFill>
              </a:rPr>
              <a:t>14</a:t>
            </a:r>
            <a:r>
              <a:rPr lang="en-US" altLang="zh-CN" sz="2000">
                <a:solidFill>
                  <a:srgbClr val="FF0000"/>
                </a:solidFill>
              </a:rPr>
              <a:t>N</a:t>
            </a:r>
            <a:endParaRPr lang="en-US" altLang="zh-CN" sz="2400">
              <a:solidFill>
                <a:srgbClr val="FF0000"/>
              </a:solidFill>
            </a:endParaRPr>
          </a:p>
        </p:txBody>
      </p:sp>
      <p:sp>
        <p:nvSpPr>
          <p:cNvPr id="207890" name="Line 18"/>
          <p:cNvSpPr>
            <a:spLocks noChangeShapeType="1"/>
          </p:cNvSpPr>
          <p:nvPr/>
        </p:nvSpPr>
        <p:spPr bwMode="auto">
          <a:xfrm flipV="1">
            <a:off x="1981200" y="5791200"/>
            <a:ext cx="0" cy="685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891" name="Rectangle 19"/>
          <p:cNvSpPr>
            <a:spLocks noChangeArrowheads="1"/>
          </p:cNvSpPr>
          <p:nvPr/>
        </p:nvSpPr>
        <p:spPr bwMode="auto">
          <a:xfrm>
            <a:off x="2590800" y="6450013"/>
            <a:ext cx="966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baseline="30000">
                <a:solidFill>
                  <a:srgbClr val="FF33CC"/>
                </a:solidFill>
              </a:rPr>
              <a:t>15</a:t>
            </a:r>
            <a:r>
              <a:rPr lang="en-US" altLang="zh-CN" sz="2000" b="1">
                <a:solidFill>
                  <a:srgbClr val="FF33CC"/>
                </a:solidFill>
              </a:rPr>
              <a:t>N</a:t>
            </a:r>
            <a:r>
              <a:rPr lang="en-US" altLang="zh-CN" sz="2000" b="1"/>
              <a:t>-</a:t>
            </a:r>
            <a:r>
              <a:rPr lang="en-US" altLang="zh-CN" sz="2000" b="1" baseline="30000">
                <a:solidFill>
                  <a:srgbClr val="FF33CC"/>
                </a:solidFill>
              </a:rPr>
              <a:t>15</a:t>
            </a:r>
            <a:r>
              <a:rPr lang="en-US" altLang="zh-CN" sz="2000" b="1">
                <a:solidFill>
                  <a:srgbClr val="FF33CC"/>
                </a:solidFill>
              </a:rPr>
              <a:t>N</a:t>
            </a:r>
            <a:endParaRPr lang="en-US" altLang="zh-CN" sz="2400" b="1">
              <a:solidFill>
                <a:srgbClr val="FF33CC"/>
              </a:solidFill>
            </a:endParaRPr>
          </a:p>
        </p:txBody>
      </p:sp>
      <p:sp>
        <p:nvSpPr>
          <p:cNvPr id="207892" name="Line 20"/>
          <p:cNvSpPr>
            <a:spLocks noChangeShapeType="1"/>
          </p:cNvSpPr>
          <p:nvPr/>
        </p:nvSpPr>
        <p:spPr bwMode="auto">
          <a:xfrm flipH="1" flipV="1">
            <a:off x="2133600" y="6096000"/>
            <a:ext cx="533400" cy="381000"/>
          </a:xfrm>
          <a:prstGeom prst="line">
            <a:avLst/>
          </a:prstGeom>
          <a:noFill/>
          <a:ln w="9525">
            <a:solidFill>
              <a:srgbClr val="FF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893" name="Rectangle 21"/>
          <p:cNvSpPr>
            <a:spLocks noChangeArrowheads="1"/>
          </p:cNvSpPr>
          <p:nvPr/>
        </p:nvSpPr>
        <p:spPr bwMode="auto">
          <a:xfrm>
            <a:off x="228600" y="6461125"/>
            <a:ext cx="966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aseline="30000">
                <a:solidFill>
                  <a:schemeClr val="accent2"/>
                </a:solidFill>
              </a:rPr>
              <a:t>14</a:t>
            </a:r>
            <a:r>
              <a:rPr lang="en-US" altLang="zh-CN" sz="2000">
                <a:solidFill>
                  <a:schemeClr val="accent2"/>
                </a:solidFill>
              </a:rPr>
              <a:t>N-</a:t>
            </a:r>
            <a:r>
              <a:rPr lang="en-US" altLang="zh-CN" sz="2000" baseline="30000">
                <a:solidFill>
                  <a:schemeClr val="accent2"/>
                </a:solidFill>
              </a:rPr>
              <a:t>14</a:t>
            </a:r>
            <a:r>
              <a:rPr lang="en-US" altLang="zh-CN" sz="2000">
                <a:solidFill>
                  <a:schemeClr val="accent2"/>
                </a:solidFill>
              </a:rPr>
              <a:t>N</a:t>
            </a:r>
            <a:endParaRPr lang="en-US" altLang="zh-CN" sz="2400">
              <a:solidFill>
                <a:schemeClr val="accent2"/>
              </a:solidFill>
            </a:endParaRPr>
          </a:p>
        </p:txBody>
      </p:sp>
      <p:sp>
        <p:nvSpPr>
          <p:cNvPr id="207894" name="Line 22"/>
          <p:cNvSpPr>
            <a:spLocks noChangeShapeType="1"/>
          </p:cNvSpPr>
          <p:nvPr/>
        </p:nvSpPr>
        <p:spPr bwMode="auto">
          <a:xfrm flipV="1">
            <a:off x="1219200" y="6172200"/>
            <a:ext cx="609600" cy="3810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895" name="AutoShape 23"/>
          <p:cNvSpPr>
            <a:spLocks noChangeArrowheads="1"/>
          </p:cNvSpPr>
          <p:nvPr/>
        </p:nvSpPr>
        <p:spPr bwMode="auto">
          <a:xfrm>
            <a:off x="2819400" y="5029200"/>
            <a:ext cx="304800" cy="152400"/>
          </a:xfrm>
          <a:prstGeom prst="leftArrow">
            <a:avLst>
              <a:gd name="adj1" fmla="val 50000"/>
              <a:gd name="adj2" fmla="val 50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07896" name="AutoShape 24"/>
          <p:cNvSpPr>
            <a:spLocks noChangeArrowheads="1"/>
          </p:cNvSpPr>
          <p:nvPr/>
        </p:nvSpPr>
        <p:spPr bwMode="auto">
          <a:xfrm>
            <a:off x="2819400" y="5486400"/>
            <a:ext cx="304800" cy="152400"/>
          </a:xfrm>
          <a:prstGeom prst="leftArrow">
            <a:avLst>
              <a:gd name="adj1" fmla="val 50000"/>
              <a:gd name="adj2" fmla="val 50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07897" name="AutoShape 25"/>
          <p:cNvSpPr>
            <a:spLocks noChangeArrowheads="1"/>
          </p:cNvSpPr>
          <p:nvPr/>
        </p:nvSpPr>
        <p:spPr bwMode="auto">
          <a:xfrm>
            <a:off x="2819400" y="6019800"/>
            <a:ext cx="304800" cy="152400"/>
          </a:xfrm>
          <a:prstGeom prst="leftArrow">
            <a:avLst>
              <a:gd name="adj1" fmla="val 50000"/>
              <a:gd name="adj2" fmla="val 50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07898" name="Rectangle 26"/>
          <p:cNvSpPr>
            <a:spLocks noChangeArrowheads="1"/>
          </p:cNvSpPr>
          <p:nvPr/>
        </p:nvSpPr>
        <p:spPr bwMode="auto">
          <a:xfrm>
            <a:off x="2590800" y="304800"/>
            <a:ext cx="944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a:solidFill>
                  <a:srgbClr val="FF0066"/>
                </a:solidFill>
              </a:rPr>
              <a:t>Bottom</a:t>
            </a:r>
            <a:endParaRPr lang="en-US" altLang="zh-CN" sz="2000"/>
          </a:p>
        </p:txBody>
      </p:sp>
      <p:sp>
        <p:nvSpPr>
          <p:cNvPr id="207899" name="Rectangle 27"/>
          <p:cNvSpPr>
            <a:spLocks noChangeArrowheads="1"/>
          </p:cNvSpPr>
          <p:nvPr/>
        </p:nvSpPr>
        <p:spPr bwMode="auto">
          <a:xfrm>
            <a:off x="762000" y="304800"/>
            <a:ext cx="593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a:solidFill>
                  <a:srgbClr val="FF0066"/>
                </a:solidFill>
              </a:rPr>
              <a:t>Top</a:t>
            </a:r>
            <a:endParaRPr lang="en-US" altLang="zh-CN" sz="2000"/>
          </a:p>
        </p:txBody>
      </p:sp>
    </p:spTree>
  </p:cSld>
  <p:clrMapOvr>
    <a:masterClrMapping/>
  </p:clrMapOvr>
  <p:transition>
    <p:zoom/>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r>
              <a:rPr lang="en-US" altLang="zh-CN" sz="4000" b="1" dirty="0">
                <a:solidFill>
                  <a:srgbClr val="FF0066"/>
                </a:solidFill>
              </a:rPr>
              <a:t>3. A variety of simple questions were asked about DNA replication</a:t>
            </a:r>
          </a:p>
        </p:txBody>
      </p:sp>
      <p:sp>
        <p:nvSpPr>
          <p:cNvPr id="208899" name="Rectangle 3"/>
          <p:cNvSpPr>
            <a:spLocks noGrp="1" noChangeArrowheads="1"/>
          </p:cNvSpPr>
          <p:nvPr>
            <p:ph idx="4294967295"/>
          </p:nvPr>
        </p:nvSpPr>
        <p:spPr>
          <a:xfrm>
            <a:off x="457200" y="1600200"/>
            <a:ext cx="8229600" cy="4525963"/>
          </a:xfrm>
          <a:prstGeom prst="rect">
            <a:avLst/>
          </a:prstGeom>
        </p:spPr>
        <p:txBody>
          <a:bodyPr/>
          <a:lstStyle/>
          <a:p>
            <a:pPr eaLnBrk="1" hangingPunct="1">
              <a:lnSpc>
                <a:spcPct val="80000"/>
              </a:lnSpc>
            </a:pPr>
            <a:r>
              <a:rPr lang="en-US" altLang="zh-CN" sz="3100" dirty="0"/>
              <a:t>Are the two parental strands </a:t>
            </a:r>
            <a:r>
              <a:rPr lang="en-US" altLang="zh-CN" sz="3100" dirty="0">
                <a:solidFill>
                  <a:schemeClr val="tx2"/>
                </a:solidFill>
              </a:rPr>
              <a:t>completely unwound before replication begins? </a:t>
            </a:r>
          </a:p>
          <a:p>
            <a:pPr eaLnBrk="1" hangingPunct="1">
              <a:lnSpc>
                <a:spcPct val="80000"/>
              </a:lnSpc>
            </a:pPr>
            <a:r>
              <a:rPr lang="en-US" altLang="zh-CN" sz="3100" dirty="0">
                <a:solidFill>
                  <a:schemeClr val="tx2"/>
                </a:solidFill>
              </a:rPr>
              <a:t>Does replication begin at random sites or at unique sites? </a:t>
            </a:r>
          </a:p>
          <a:p>
            <a:pPr eaLnBrk="1" hangingPunct="1">
              <a:lnSpc>
                <a:spcPct val="80000"/>
              </a:lnSpc>
            </a:pPr>
            <a:r>
              <a:rPr lang="en-US" altLang="zh-CN" sz="3100" dirty="0">
                <a:solidFill>
                  <a:schemeClr val="tx2"/>
                </a:solidFill>
              </a:rPr>
              <a:t>Does DNA replication proceed in one direction or both</a:t>
            </a:r>
            <a:r>
              <a:rPr lang="en-US" altLang="zh-CN" sz="3100" dirty="0"/>
              <a:t> directions? </a:t>
            </a:r>
          </a:p>
          <a:p>
            <a:pPr eaLnBrk="1" hangingPunct="1">
              <a:lnSpc>
                <a:spcPct val="80000"/>
              </a:lnSpc>
            </a:pPr>
            <a:r>
              <a:rPr lang="en-US" altLang="zh-CN" sz="3100" dirty="0"/>
              <a:t>The overall chain growth occurs in 5` 3`, 3`  5`, or both directions?</a:t>
            </a:r>
          </a:p>
          <a:p>
            <a:pPr eaLnBrk="1" hangingPunct="1">
              <a:lnSpc>
                <a:spcPct val="80000"/>
              </a:lnSpc>
            </a:pPr>
            <a:r>
              <a:rPr lang="en-US" altLang="zh-CN" sz="3100" dirty="0"/>
              <a:t>What enzymes take part in DNA synthesis?</a:t>
            </a:r>
          </a:p>
          <a:p>
            <a:pPr eaLnBrk="1" hangingPunct="1">
              <a:lnSpc>
                <a:spcPct val="80000"/>
              </a:lnSpc>
            </a:pPr>
            <a:endParaRPr lang="en-US" altLang="zh-CN" sz="3100" dirty="0"/>
          </a:p>
        </p:txBody>
      </p:sp>
      <p:sp>
        <p:nvSpPr>
          <p:cNvPr id="208900" name="Line 4"/>
          <p:cNvSpPr>
            <a:spLocks noChangeShapeType="1"/>
          </p:cNvSpPr>
          <p:nvPr/>
        </p:nvSpPr>
        <p:spPr bwMode="auto">
          <a:xfrm>
            <a:off x="6588224" y="4365104"/>
            <a:ext cx="228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8901" name="Line 5"/>
          <p:cNvSpPr>
            <a:spLocks noChangeShapeType="1"/>
          </p:cNvSpPr>
          <p:nvPr/>
        </p:nvSpPr>
        <p:spPr bwMode="auto">
          <a:xfrm>
            <a:off x="7524328" y="4379457"/>
            <a:ext cx="228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zoom/>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r>
              <a:rPr lang="en-US" altLang="zh-CN" sz="4000" b="1" dirty="0">
                <a:solidFill>
                  <a:srgbClr val="FF0066"/>
                </a:solidFill>
              </a:rPr>
              <a:t>4. Autoradiography studies: daughter strands are synthesized immediately after parental strands separate</a:t>
            </a:r>
            <a:r>
              <a:rPr lang="en-US" altLang="zh-CN" dirty="0"/>
              <a:t> </a:t>
            </a:r>
          </a:p>
        </p:txBody>
      </p:sp>
      <p:pic>
        <p:nvPicPr>
          <p:cNvPr id="209923" name="Picture 4" descr="24-3a"/>
          <p:cNvPicPr>
            <a:picLocks noChangeAspect="1" noChangeArrowheads="1"/>
          </p:cNvPicPr>
          <p:nvPr/>
        </p:nvPicPr>
        <p:blipFill>
          <a:blip r:embed="rId3" cstate="print">
            <a:extLst>
              <a:ext uri="{28A0092B-C50C-407E-A947-70E740481C1C}">
                <a14:useLocalDpi xmlns:a14="http://schemas.microsoft.com/office/drawing/2010/main" val="0"/>
              </a:ext>
            </a:extLst>
          </a:blip>
          <a:srcRect l="40157" t="27303" r="1563" b="27785"/>
          <a:stretch>
            <a:fillRect/>
          </a:stretch>
        </p:blipFill>
        <p:spPr bwMode="auto">
          <a:xfrm>
            <a:off x="0" y="2060575"/>
            <a:ext cx="5329238" cy="309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9924" name="Picture 5" descr="24-3a"/>
          <p:cNvPicPr>
            <a:picLocks noChangeAspect="1" noChangeArrowheads="1"/>
          </p:cNvPicPr>
          <p:nvPr/>
        </p:nvPicPr>
        <p:blipFill>
          <a:blip r:embed="rId4" cstate="print">
            <a:lum bright="-12000" contrast="30000"/>
            <a:extLst>
              <a:ext uri="{28A0092B-C50C-407E-A947-70E740481C1C}">
                <a14:useLocalDpi xmlns:a14="http://schemas.microsoft.com/office/drawing/2010/main" val="0"/>
              </a:ext>
            </a:extLst>
          </a:blip>
          <a:srcRect b="62604"/>
          <a:stretch>
            <a:fillRect/>
          </a:stretch>
        </p:blipFill>
        <p:spPr bwMode="auto">
          <a:xfrm>
            <a:off x="3708400" y="3933825"/>
            <a:ext cx="5256213" cy="269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3"/>
          <p:cNvSpPr>
            <a:spLocks noChangeArrowheads="1"/>
          </p:cNvSpPr>
          <p:nvPr/>
        </p:nvSpPr>
        <p:spPr bwMode="auto">
          <a:xfrm>
            <a:off x="827088" y="620713"/>
            <a:ext cx="7991475"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dirty="0"/>
              <a:t>A electron micrograph of the replication</a:t>
            </a:r>
          </a:p>
          <a:p>
            <a:pPr eaLnBrk="1" hangingPunct="1">
              <a:spcBef>
                <a:spcPct val="0"/>
              </a:spcBef>
              <a:buFontTx/>
              <a:buNone/>
            </a:pPr>
            <a:r>
              <a:rPr lang="en-US" altLang="zh-CN" b="1" dirty="0"/>
              <a:t>intermediate of a plasmid DNA: </a:t>
            </a:r>
            <a:r>
              <a:rPr lang="en-US" altLang="zh-CN" b="1" i="1" dirty="0">
                <a:solidFill>
                  <a:srgbClr val="FF0000"/>
                </a:solidFill>
                <a:sym typeface="Symbol" panose="05050102010706020507" pitchFamily="18" charset="2"/>
              </a:rPr>
              <a:t></a:t>
            </a:r>
            <a:r>
              <a:rPr lang="en-US" altLang="zh-CN" b="1" dirty="0">
                <a:solidFill>
                  <a:srgbClr val="FF0000"/>
                </a:solidFill>
              </a:rPr>
              <a:t>-shaped </a:t>
            </a:r>
          </a:p>
          <a:p>
            <a:pPr eaLnBrk="1" hangingPunct="1">
              <a:spcBef>
                <a:spcPct val="0"/>
              </a:spcBef>
              <a:buFontTx/>
              <a:buNone/>
            </a:pPr>
            <a:r>
              <a:rPr lang="en-US" altLang="zh-CN" b="1" dirty="0">
                <a:solidFill>
                  <a:srgbClr val="FF0000"/>
                </a:solidFill>
              </a:rPr>
              <a:t>structures</a:t>
            </a:r>
            <a:r>
              <a:rPr lang="en-US" altLang="zh-CN" b="1" dirty="0"/>
              <a:t> were observed; no single stranded</a:t>
            </a:r>
          </a:p>
          <a:p>
            <a:pPr eaLnBrk="1" hangingPunct="1">
              <a:spcBef>
                <a:spcPct val="0"/>
              </a:spcBef>
              <a:buFontTx/>
              <a:buNone/>
            </a:pPr>
            <a:r>
              <a:rPr lang="en-US" altLang="zh-CN" b="1" dirty="0"/>
              <a:t>DNA is visible.</a:t>
            </a:r>
            <a:endParaRPr lang="en-US" altLang="zh-CN" dirty="0"/>
          </a:p>
        </p:txBody>
      </p:sp>
      <p:sp>
        <p:nvSpPr>
          <p:cNvPr id="210947" name="Rectangle 4"/>
          <p:cNvSpPr>
            <a:spLocks noChangeArrowheads="1"/>
          </p:cNvSpPr>
          <p:nvPr/>
        </p:nvSpPr>
        <p:spPr bwMode="auto">
          <a:xfrm>
            <a:off x="755650" y="3213100"/>
            <a:ext cx="78486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dirty="0"/>
              <a:t>No complete unwinding of the two parental strands occurred before the daughter strands are synthesized</a:t>
            </a:r>
          </a:p>
        </p:txBody>
      </p:sp>
    </p:spTree>
  </p:cSld>
  <p:clrMapOvr>
    <a:masterClrMapping/>
  </p:clrMapOvr>
  <p:transition>
    <p:zoom/>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19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11400" y="711200"/>
            <a:ext cx="4521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2994" name="Picture 1026" descr="E1-2a"/>
          <p:cNvPicPr>
            <a:picLocks noChangeAspect="1" noChangeArrowheads="1"/>
          </p:cNvPicPr>
          <p:nvPr/>
        </p:nvPicPr>
        <p:blipFill>
          <a:blip r:embed="rId3" cstate="print">
            <a:lum bright="-18000" contrast="20000"/>
            <a:extLst>
              <a:ext uri="{28A0092B-C50C-407E-A947-70E740481C1C}">
                <a14:useLocalDpi xmlns:a14="http://schemas.microsoft.com/office/drawing/2010/main" val="0"/>
              </a:ext>
            </a:extLst>
          </a:blip>
          <a:srcRect/>
          <a:stretch>
            <a:fillRect/>
          </a:stretch>
        </p:blipFill>
        <p:spPr bwMode="auto">
          <a:xfrm>
            <a:off x="285750" y="2143125"/>
            <a:ext cx="8534400"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2995" name="Text Box 1027"/>
          <p:cNvSpPr txBox="1">
            <a:spLocks noChangeArrowheads="1"/>
          </p:cNvSpPr>
          <p:nvPr/>
        </p:nvSpPr>
        <p:spPr bwMode="auto">
          <a:xfrm>
            <a:off x="503238" y="260350"/>
            <a:ext cx="8274050" cy="519113"/>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dirty="0">
                <a:latin typeface="Impact" panose="020B0806030902050204" pitchFamily="34" charset="0"/>
              </a:rPr>
              <a:t>Bidirectional replication of a circular bacterial replicon</a:t>
            </a:r>
          </a:p>
        </p:txBody>
      </p:sp>
      <p:sp>
        <p:nvSpPr>
          <p:cNvPr id="212996" name="Text Box 1029"/>
          <p:cNvSpPr txBox="1">
            <a:spLocks noChangeArrowheads="1"/>
          </p:cNvSpPr>
          <p:nvPr/>
        </p:nvSpPr>
        <p:spPr bwMode="auto">
          <a:xfrm>
            <a:off x="857250" y="2143125"/>
            <a:ext cx="901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a:t>Origin</a:t>
            </a:r>
          </a:p>
        </p:txBody>
      </p:sp>
      <p:sp>
        <p:nvSpPr>
          <p:cNvPr id="212997" name="Text Box 1030"/>
          <p:cNvSpPr txBox="1">
            <a:spLocks noChangeArrowheads="1"/>
          </p:cNvSpPr>
          <p:nvPr/>
        </p:nvSpPr>
        <p:spPr bwMode="auto">
          <a:xfrm>
            <a:off x="571500" y="4929188"/>
            <a:ext cx="1241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a:t>Terminus</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r>
              <a:rPr lang="en-US" altLang="zh-CN" sz="4000" b="1">
                <a:solidFill>
                  <a:srgbClr val="FF0066"/>
                </a:solidFill>
              </a:rPr>
              <a:t>5. DNA replication was found to begin at specific sites and proceed bidirectionally</a:t>
            </a:r>
          </a:p>
        </p:txBody>
      </p:sp>
      <p:sp>
        <p:nvSpPr>
          <p:cNvPr id="214019" name="Rectangle 3"/>
          <p:cNvSpPr>
            <a:spLocks noChangeArrowheads="1"/>
          </p:cNvSpPr>
          <p:nvPr/>
        </p:nvSpPr>
        <p:spPr bwMode="auto">
          <a:xfrm>
            <a:off x="228600" y="2057400"/>
            <a:ext cx="8610600"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t>   </a:t>
            </a:r>
          </a:p>
          <a:p>
            <a:pPr eaLnBrk="1" hangingPunct="1">
              <a:spcBef>
                <a:spcPct val="0"/>
              </a:spcBef>
              <a:buFontTx/>
              <a:buNone/>
            </a:pPr>
            <a:r>
              <a:rPr lang="en-US" altLang="zh-CN" sz="2800" b="1">
                <a:solidFill>
                  <a:srgbClr val="FF33CC"/>
                </a:solidFill>
              </a:rPr>
              <a:t>1.</a:t>
            </a:r>
            <a:r>
              <a:rPr lang="en-US" altLang="zh-CN" sz="2800"/>
              <a:t> Replication always began at a specific  internal site (</a:t>
            </a:r>
            <a:r>
              <a:rPr lang="en-US" altLang="zh-CN" sz="2800" b="1">
                <a:solidFill>
                  <a:schemeClr val="accent2"/>
                </a:solidFill>
              </a:rPr>
              <a:t>not from the ends</a:t>
            </a:r>
            <a:r>
              <a:rPr lang="en-US" altLang="zh-CN" sz="2800" b="1"/>
              <a:t>,  </a:t>
            </a:r>
            <a:r>
              <a:rPr lang="en-US" altLang="zh-CN" sz="2800" b="1">
                <a:solidFill>
                  <a:schemeClr val="accent2"/>
                </a:solidFill>
              </a:rPr>
              <a:t>not random</a:t>
            </a:r>
            <a:r>
              <a:rPr lang="en-US" altLang="zh-CN" sz="2800"/>
              <a:t>);</a:t>
            </a:r>
          </a:p>
          <a:p>
            <a:pPr eaLnBrk="1" hangingPunct="1">
              <a:spcBef>
                <a:spcPct val="0"/>
              </a:spcBef>
              <a:buFontTx/>
              <a:buNone/>
            </a:pPr>
            <a:r>
              <a:rPr lang="en-US" altLang="zh-CN" sz="2800" b="1">
                <a:solidFill>
                  <a:srgbClr val="FF33CC"/>
                </a:solidFill>
              </a:rPr>
              <a:t>2.</a:t>
            </a:r>
            <a:r>
              <a:rPr lang="en-US" altLang="zh-CN" sz="2800"/>
              <a:t> The replication proceeds </a:t>
            </a:r>
            <a:r>
              <a:rPr lang="en-US" altLang="zh-CN" sz="2800" b="1">
                <a:solidFill>
                  <a:schemeClr val="accent2"/>
                </a:solidFill>
              </a:rPr>
              <a:t>in both directions</a:t>
            </a:r>
            <a:r>
              <a:rPr lang="en-US" altLang="zh-CN" sz="2800"/>
              <a:t> (determined by measuring the distance between the replication fork and the ends)</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r>
              <a:rPr lang="en-US" altLang="zh-CN" sz="3600" b="1" dirty="0">
                <a:solidFill>
                  <a:srgbClr val="FF0066"/>
                </a:solidFill>
              </a:rPr>
              <a:t>6. The chemistry of DNA polymerization was revealed by </a:t>
            </a:r>
            <a:r>
              <a:rPr lang="en-US" altLang="zh-CN" sz="3600" b="1" i="1" dirty="0">
                <a:solidFill>
                  <a:srgbClr val="FF0066"/>
                </a:solidFill>
              </a:rPr>
              <a:t>in vitro</a:t>
            </a:r>
            <a:r>
              <a:rPr lang="en-US" altLang="zh-CN" sz="3600" b="1" dirty="0">
                <a:solidFill>
                  <a:srgbClr val="FF0066"/>
                </a:solidFill>
              </a:rPr>
              <a:t> studies using a DNA polymerase purified from </a:t>
            </a:r>
            <a:r>
              <a:rPr lang="en-US" altLang="zh-CN" sz="3600" b="1" i="1" dirty="0">
                <a:solidFill>
                  <a:srgbClr val="FF0066"/>
                </a:solidFill>
              </a:rPr>
              <a:t>E. coli</a:t>
            </a:r>
            <a:endParaRPr lang="en-US" altLang="zh-CN" sz="3600" b="1" dirty="0">
              <a:solidFill>
                <a:srgbClr val="FF0066"/>
              </a:solidFill>
            </a:endParaRPr>
          </a:p>
        </p:txBody>
      </p:sp>
      <p:sp>
        <p:nvSpPr>
          <p:cNvPr id="215043" name="Rectangle 3"/>
          <p:cNvSpPr>
            <a:spLocks noGrp="1" noChangeArrowheads="1"/>
          </p:cNvSpPr>
          <p:nvPr>
            <p:ph idx="4294967295"/>
          </p:nvPr>
        </p:nvSpPr>
        <p:spPr>
          <a:xfrm>
            <a:off x="457200" y="1600200"/>
            <a:ext cx="8229600" cy="4525963"/>
          </a:xfrm>
          <a:prstGeom prst="rect">
            <a:avLst/>
          </a:prstGeom>
        </p:spPr>
        <p:txBody>
          <a:bodyPr/>
          <a:lstStyle/>
          <a:p>
            <a:pPr eaLnBrk="1" hangingPunct="1">
              <a:buFontTx/>
              <a:buNone/>
            </a:pPr>
            <a:endParaRPr lang="en-US" altLang="zh-CN" dirty="0"/>
          </a:p>
          <a:p>
            <a:pPr eaLnBrk="1" hangingPunct="1"/>
            <a:r>
              <a:rPr lang="en-US" altLang="zh-CN" dirty="0">
                <a:solidFill>
                  <a:srgbClr val="FF0000"/>
                </a:solidFill>
              </a:rPr>
              <a:t>DNA polymerase I</a:t>
            </a:r>
            <a:r>
              <a:rPr lang="en-US" altLang="zh-CN" dirty="0"/>
              <a:t> was found to catalyze DNA polymerization </a:t>
            </a:r>
            <a:r>
              <a:rPr lang="en-US" altLang="zh-CN" i="1" dirty="0"/>
              <a:t>in vitro </a:t>
            </a:r>
            <a:r>
              <a:rPr lang="en-US" altLang="zh-CN" dirty="0"/>
              <a:t>in the presence of a single-stranded DNA template, a preexisting </a:t>
            </a:r>
            <a:r>
              <a:rPr lang="en-US" altLang="zh-CN" dirty="0">
                <a:solidFill>
                  <a:srgbClr val="FF0000"/>
                </a:solidFill>
              </a:rPr>
              <a:t>primer</a:t>
            </a:r>
            <a:r>
              <a:rPr lang="en-US" altLang="zh-CN" dirty="0"/>
              <a:t> with a free </a:t>
            </a:r>
            <a:r>
              <a:rPr lang="en-US" altLang="zh-CN" dirty="0">
                <a:solidFill>
                  <a:srgbClr val="FF0000"/>
                </a:solidFill>
              </a:rPr>
              <a:t>3`-OH group </a:t>
            </a:r>
            <a:r>
              <a:rPr lang="en-US" altLang="zh-CN" dirty="0"/>
              <a:t>and the </a:t>
            </a:r>
            <a:r>
              <a:rPr lang="en-US" altLang="zh-CN" dirty="0">
                <a:solidFill>
                  <a:srgbClr val="FF0000"/>
                </a:solidFill>
              </a:rPr>
              <a:t>dNTP</a:t>
            </a:r>
            <a:r>
              <a:rPr lang="en-US" altLang="zh-CN" dirty="0"/>
              <a:t>s.</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60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031875"/>
            <a:ext cx="8915400"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4788024" y="1700808"/>
            <a:ext cx="1944216" cy="369332"/>
          </a:xfrm>
          <a:prstGeom prst="rect">
            <a:avLst/>
          </a:prstGeom>
          <a:noFill/>
        </p:spPr>
        <p:txBody>
          <a:bodyPr wrap="square" rtlCol="0">
            <a:spAutoFit/>
          </a:bodyPr>
          <a:lstStyle/>
          <a:p>
            <a:r>
              <a:rPr lang="en-US" altLang="zh-CN" dirty="0"/>
              <a:t>pyrophosphate</a:t>
            </a:r>
            <a:endParaRPr lang="zh-CN" alt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7090" name="Picture 2" descr="replication2"/>
          <p:cNvPicPr>
            <a:picLocks noChangeAspect="1" noChangeArrowheads="1"/>
          </p:cNvPicPr>
          <p:nvPr/>
        </p:nvPicPr>
        <p:blipFill>
          <a:blip r:embed="rId2" cstate="print">
            <a:lum contrast="30000"/>
            <a:extLst>
              <a:ext uri="{28A0092B-C50C-407E-A947-70E740481C1C}">
                <a14:useLocalDpi xmlns:a14="http://schemas.microsoft.com/office/drawing/2010/main" val="0"/>
              </a:ext>
            </a:extLst>
          </a:blip>
          <a:srcRect l="1869" r="3738"/>
          <a:stretch>
            <a:fillRect/>
          </a:stretch>
        </p:blipFill>
        <p:spPr bwMode="auto">
          <a:xfrm>
            <a:off x="304800" y="533400"/>
            <a:ext cx="8305800" cy="502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idx="4294967295"/>
          </p:nvPr>
        </p:nvSpPr>
        <p:spPr>
          <a:xfrm>
            <a:off x="462272" y="295470"/>
            <a:ext cx="8229600" cy="1143000"/>
          </a:xfrm>
          <a:prstGeom prst="rect">
            <a:avLst/>
          </a:prstGeom>
        </p:spPr>
        <p:txBody>
          <a:bodyPr/>
          <a:lstStyle/>
          <a:p>
            <a:pPr eaLnBrk="1" hangingPunct="1"/>
            <a:r>
              <a:rPr lang="en-US" altLang="zh-CN" sz="3600" b="1" dirty="0">
                <a:solidFill>
                  <a:srgbClr val="FF0066"/>
                </a:solidFill>
              </a:rPr>
              <a:t>7. DNA polymerase I has 3`     5`, as well as 5`     3` exonuclease activities</a:t>
            </a:r>
          </a:p>
        </p:txBody>
      </p:sp>
      <p:sp>
        <p:nvSpPr>
          <p:cNvPr id="218115" name="Rectangle 3"/>
          <p:cNvSpPr>
            <a:spLocks noGrp="1" noChangeArrowheads="1"/>
          </p:cNvSpPr>
          <p:nvPr>
            <p:ph idx="4294967295"/>
          </p:nvPr>
        </p:nvSpPr>
        <p:spPr>
          <a:xfrm>
            <a:off x="457200" y="1600200"/>
            <a:ext cx="8229600" cy="4525963"/>
          </a:xfrm>
          <a:prstGeom prst="rect">
            <a:avLst/>
          </a:prstGeom>
        </p:spPr>
        <p:txBody>
          <a:bodyPr/>
          <a:lstStyle/>
          <a:p>
            <a:pPr eaLnBrk="1" hangingPunct="1"/>
            <a:r>
              <a:rPr lang="en-US" altLang="zh-CN" dirty="0"/>
              <a:t>The 3`    5` exonuclease activity was also found to be able to remove mismatched base pairs, thus to proofread the newly incorporated nucleotides.</a:t>
            </a:r>
          </a:p>
        </p:txBody>
      </p:sp>
      <p:sp>
        <p:nvSpPr>
          <p:cNvPr id="218116" name="Line 4"/>
          <p:cNvSpPr>
            <a:spLocks noChangeShapeType="1"/>
          </p:cNvSpPr>
          <p:nvPr/>
        </p:nvSpPr>
        <p:spPr bwMode="auto">
          <a:xfrm>
            <a:off x="5580112" y="620688"/>
            <a:ext cx="504056"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8117" name="Line 5"/>
          <p:cNvSpPr>
            <a:spLocks noChangeShapeType="1"/>
          </p:cNvSpPr>
          <p:nvPr/>
        </p:nvSpPr>
        <p:spPr bwMode="auto">
          <a:xfrm>
            <a:off x="2123728" y="1196752"/>
            <a:ext cx="504056"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8118" name="Line 7"/>
          <p:cNvSpPr>
            <a:spLocks noChangeShapeType="1"/>
          </p:cNvSpPr>
          <p:nvPr/>
        </p:nvSpPr>
        <p:spPr bwMode="auto">
          <a:xfrm>
            <a:off x="1835696" y="1916832"/>
            <a:ext cx="381000"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8119" name="Rectangle 9"/>
          <p:cNvSpPr>
            <a:spLocks noChangeArrowheads="1"/>
          </p:cNvSpPr>
          <p:nvPr/>
        </p:nvSpPr>
        <p:spPr bwMode="auto">
          <a:xfrm>
            <a:off x="251520" y="3573016"/>
            <a:ext cx="8784976" cy="309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t>The 5`   3` exonuclease activity of DNA polymerase I enable it to catalyze the </a:t>
            </a:r>
            <a:r>
              <a:rPr lang="en-US" altLang="zh-CN" sz="2800" dirty="0">
                <a:solidFill>
                  <a:srgbClr val="FF0000"/>
                </a:solidFill>
              </a:rPr>
              <a:t>nick translation process</a:t>
            </a:r>
            <a:r>
              <a:rPr lang="en-US" altLang="zh-CN" sz="2800" dirty="0">
                <a:solidFill>
                  <a:schemeClr val="tx2"/>
                </a:solidFill>
              </a:rPr>
              <a:t>: an RNA or DNA strand paired to a DNA template is simultaneously degraded and replaced; an activity</a:t>
            </a:r>
            <a:r>
              <a:rPr lang="en-US" altLang="zh-CN" sz="2800" dirty="0"/>
              <a:t> used for the removal of RNA primers in DNA replication.</a:t>
            </a:r>
          </a:p>
        </p:txBody>
      </p:sp>
      <p:sp>
        <p:nvSpPr>
          <p:cNvPr id="218120" name="Line 10"/>
          <p:cNvSpPr>
            <a:spLocks noChangeShapeType="1"/>
          </p:cNvSpPr>
          <p:nvPr/>
        </p:nvSpPr>
        <p:spPr bwMode="auto">
          <a:xfrm>
            <a:off x="1547813" y="3860800"/>
            <a:ext cx="381000"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idx="4294967295"/>
          </p:nvPr>
        </p:nvSpPr>
        <p:spPr>
          <a:xfrm>
            <a:off x="462272" y="295470"/>
            <a:ext cx="8229600" cy="1143000"/>
          </a:xfrm>
          <a:prstGeom prst="rect">
            <a:avLst/>
          </a:prstGeom>
        </p:spPr>
        <p:txBody>
          <a:bodyPr/>
          <a:lstStyle/>
          <a:p>
            <a:pPr eaLnBrk="1" hangingPunct="1"/>
            <a:r>
              <a:rPr lang="en-US" altLang="zh-CN" sz="3600" b="1" dirty="0">
                <a:solidFill>
                  <a:srgbClr val="FF0066"/>
                </a:solidFill>
              </a:rPr>
              <a:t>7. DNA polymerase I has 3`     5`, as well as 5`     3` exonuclease activities</a:t>
            </a:r>
          </a:p>
        </p:txBody>
      </p:sp>
      <p:sp>
        <p:nvSpPr>
          <p:cNvPr id="218115" name="Rectangle 3"/>
          <p:cNvSpPr>
            <a:spLocks noGrp="1" noChangeArrowheads="1"/>
          </p:cNvSpPr>
          <p:nvPr>
            <p:ph idx="4294967295"/>
          </p:nvPr>
        </p:nvSpPr>
        <p:spPr>
          <a:xfrm>
            <a:off x="457200" y="1600200"/>
            <a:ext cx="8229600" cy="4525963"/>
          </a:xfrm>
          <a:prstGeom prst="rect">
            <a:avLst/>
          </a:prstGeom>
        </p:spPr>
        <p:txBody>
          <a:bodyPr/>
          <a:lstStyle/>
          <a:p>
            <a:pPr eaLnBrk="1" hangingPunct="1"/>
            <a:r>
              <a:rPr lang="en-US" altLang="zh-CN" dirty="0"/>
              <a:t>The 3`    5` exonuclease activity was also found to be able to remove mismatched base pairs, thus to proofread the newly incorporated nucleotides.</a:t>
            </a:r>
          </a:p>
        </p:txBody>
      </p:sp>
      <p:sp>
        <p:nvSpPr>
          <p:cNvPr id="218116" name="Line 4"/>
          <p:cNvSpPr>
            <a:spLocks noChangeShapeType="1"/>
          </p:cNvSpPr>
          <p:nvPr/>
        </p:nvSpPr>
        <p:spPr bwMode="auto">
          <a:xfrm>
            <a:off x="5580112" y="620688"/>
            <a:ext cx="504056"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8117" name="Line 5"/>
          <p:cNvSpPr>
            <a:spLocks noChangeShapeType="1"/>
          </p:cNvSpPr>
          <p:nvPr/>
        </p:nvSpPr>
        <p:spPr bwMode="auto">
          <a:xfrm>
            <a:off x="2123728" y="1196752"/>
            <a:ext cx="504056"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8118" name="Line 7"/>
          <p:cNvSpPr>
            <a:spLocks noChangeShapeType="1"/>
          </p:cNvSpPr>
          <p:nvPr/>
        </p:nvSpPr>
        <p:spPr bwMode="auto">
          <a:xfrm>
            <a:off x="1835696" y="1916832"/>
            <a:ext cx="381000"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8119" name="Rectangle 9"/>
          <p:cNvSpPr>
            <a:spLocks noChangeArrowheads="1"/>
          </p:cNvSpPr>
          <p:nvPr/>
        </p:nvSpPr>
        <p:spPr bwMode="auto">
          <a:xfrm>
            <a:off x="251520" y="3573016"/>
            <a:ext cx="8784976" cy="309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t>The 5`   3` exonuclease activity of DNA polymerase I enable it to catalyze the </a:t>
            </a:r>
            <a:r>
              <a:rPr lang="en-US" altLang="zh-CN" sz="2800" dirty="0">
                <a:solidFill>
                  <a:srgbClr val="FF0000"/>
                </a:solidFill>
              </a:rPr>
              <a:t>nick translation process</a:t>
            </a:r>
            <a:r>
              <a:rPr lang="en-US" altLang="zh-CN" sz="2800" dirty="0">
                <a:solidFill>
                  <a:schemeClr val="tx2"/>
                </a:solidFill>
              </a:rPr>
              <a:t>: an RNA or DNA strand paired to a DNA template is simultaneously degraded and replaced; an activity</a:t>
            </a:r>
            <a:r>
              <a:rPr lang="en-US" altLang="zh-CN" sz="2800" dirty="0"/>
              <a:t> used for the removal of RNA primers in DNA replication.</a:t>
            </a:r>
          </a:p>
        </p:txBody>
      </p:sp>
      <p:sp>
        <p:nvSpPr>
          <p:cNvPr id="218120" name="Line 10"/>
          <p:cNvSpPr>
            <a:spLocks noChangeShapeType="1"/>
          </p:cNvSpPr>
          <p:nvPr/>
        </p:nvSpPr>
        <p:spPr bwMode="auto">
          <a:xfrm>
            <a:off x="1547813" y="3860800"/>
            <a:ext cx="381000"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9138" name="Picture 2" descr="pol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371600"/>
            <a:ext cx="9144000"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9139" name="Rectangle 3"/>
          <p:cNvSpPr>
            <a:spLocks noChangeArrowheads="1"/>
          </p:cNvSpPr>
          <p:nvPr/>
        </p:nvSpPr>
        <p:spPr bwMode="auto">
          <a:xfrm>
            <a:off x="533400" y="3505200"/>
            <a:ext cx="819785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3600" b="1" dirty="0">
                <a:solidFill>
                  <a:srgbClr val="FF0000"/>
                </a:solidFill>
              </a:rPr>
              <a:t>DNA polymerase I has three enzymatic </a:t>
            </a:r>
          </a:p>
          <a:p>
            <a:pPr eaLnBrk="1" hangingPunct="1">
              <a:spcBef>
                <a:spcPct val="0"/>
              </a:spcBef>
              <a:buFontTx/>
              <a:buNone/>
            </a:pPr>
            <a:r>
              <a:rPr lang="en-US" altLang="zh-CN" sz="3600" b="1" dirty="0">
                <a:solidFill>
                  <a:srgbClr val="FF0000"/>
                </a:solidFill>
              </a:rPr>
              <a:t>activities in a single polypeptide chain, </a:t>
            </a:r>
          </a:p>
          <a:p>
            <a:pPr eaLnBrk="1" hangingPunct="1">
              <a:spcBef>
                <a:spcPct val="0"/>
              </a:spcBef>
              <a:buFontTx/>
              <a:buNone/>
            </a:pPr>
            <a:r>
              <a:rPr lang="en-US" altLang="zh-CN" sz="3600" b="1" dirty="0">
                <a:solidFill>
                  <a:srgbClr val="FF0000"/>
                </a:solidFill>
              </a:rPr>
              <a:t>which can be cleaved into two functional </a:t>
            </a:r>
          </a:p>
          <a:p>
            <a:pPr eaLnBrk="1" hangingPunct="1">
              <a:spcBef>
                <a:spcPct val="0"/>
              </a:spcBef>
              <a:buFontTx/>
              <a:buNone/>
            </a:pPr>
            <a:r>
              <a:rPr lang="en-US" altLang="zh-CN" sz="3600" b="1" dirty="0">
                <a:solidFill>
                  <a:srgbClr val="FF0000"/>
                </a:solidFill>
              </a:rPr>
              <a:t>parts by mild protease treatment.</a:t>
            </a:r>
          </a:p>
        </p:txBody>
      </p:sp>
      <p:sp>
        <p:nvSpPr>
          <p:cNvPr id="219140" name="AutoShape 4"/>
          <p:cNvSpPr>
            <a:spLocks noChangeArrowheads="1"/>
          </p:cNvSpPr>
          <p:nvPr/>
        </p:nvSpPr>
        <p:spPr bwMode="auto">
          <a:xfrm>
            <a:off x="3200400" y="1143000"/>
            <a:ext cx="228600" cy="1143000"/>
          </a:xfrm>
          <a:prstGeom prst="downArrow">
            <a:avLst>
              <a:gd name="adj1" fmla="val 50000"/>
              <a:gd name="adj2" fmla="val 125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19141" name="Rectangle 5"/>
          <p:cNvSpPr>
            <a:spLocks noChangeArrowheads="1"/>
          </p:cNvSpPr>
          <p:nvPr/>
        </p:nvSpPr>
        <p:spPr bwMode="auto">
          <a:xfrm>
            <a:off x="2286000" y="457200"/>
            <a:ext cx="30876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a:t>Protease cleavage</a:t>
            </a:r>
          </a:p>
        </p:txBody>
      </p:sp>
    </p:spTree>
  </p:cSld>
  <p:clrMapOvr>
    <a:masterClrMapping/>
  </p:clrMapOvr>
  <p:transition>
    <p:zoom/>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162" name="Picture 2" descr="kornber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4881563"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0163" name="Rectangle 3"/>
          <p:cNvSpPr>
            <a:spLocks noChangeArrowheads="1"/>
          </p:cNvSpPr>
          <p:nvPr/>
        </p:nvSpPr>
        <p:spPr bwMode="auto">
          <a:xfrm>
            <a:off x="5029200" y="233363"/>
            <a:ext cx="3944938" cy="447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dirty="0">
                <a:solidFill>
                  <a:srgbClr val="006600"/>
                </a:solidFill>
              </a:rPr>
              <a:t>Arthur Kornberg won</a:t>
            </a:r>
          </a:p>
          <a:p>
            <a:pPr eaLnBrk="1" hangingPunct="1">
              <a:spcBef>
                <a:spcPct val="0"/>
              </a:spcBef>
              <a:buFontTx/>
              <a:buNone/>
            </a:pPr>
            <a:r>
              <a:rPr lang="en-US" altLang="zh-CN" dirty="0">
                <a:solidFill>
                  <a:srgbClr val="006600"/>
                </a:solidFill>
              </a:rPr>
              <a:t>the 1959 Nobel Prize</a:t>
            </a:r>
          </a:p>
          <a:p>
            <a:pPr eaLnBrk="1" hangingPunct="1">
              <a:spcBef>
                <a:spcPct val="0"/>
              </a:spcBef>
              <a:buFontTx/>
              <a:buNone/>
            </a:pPr>
            <a:r>
              <a:rPr lang="en-US" altLang="zh-CN" dirty="0">
                <a:solidFill>
                  <a:srgbClr val="006600"/>
                </a:solidFill>
              </a:rPr>
              <a:t>in Medicine for his</a:t>
            </a:r>
          </a:p>
          <a:p>
            <a:pPr eaLnBrk="1" hangingPunct="1">
              <a:spcBef>
                <a:spcPct val="0"/>
              </a:spcBef>
              <a:buFontTx/>
              <a:buNone/>
            </a:pPr>
            <a:r>
              <a:rPr lang="en-US" altLang="zh-CN" dirty="0">
                <a:solidFill>
                  <a:srgbClr val="006600"/>
                </a:solidFill>
              </a:rPr>
              <a:t>discovery of the </a:t>
            </a:r>
          </a:p>
          <a:p>
            <a:pPr eaLnBrk="1" hangingPunct="1">
              <a:spcBef>
                <a:spcPct val="0"/>
              </a:spcBef>
              <a:buFontTx/>
              <a:buNone/>
            </a:pPr>
            <a:r>
              <a:rPr lang="en-US" altLang="zh-CN" dirty="0">
                <a:solidFill>
                  <a:srgbClr val="006600"/>
                </a:solidFill>
              </a:rPr>
              <a:t>mechanism in the </a:t>
            </a:r>
          </a:p>
          <a:p>
            <a:pPr eaLnBrk="1" hangingPunct="1">
              <a:spcBef>
                <a:spcPct val="0"/>
              </a:spcBef>
              <a:buFontTx/>
              <a:buNone/>
            </a:pPr>
            <a:r>
              <a:rPr lang="en-US" altLang="zh-CN" dirty="0">
                <a:solidFill>
                  <a:srgbClr val="006600"/>
                </a:solidFill>
              </a:rPr>
              <a:t>biological synthesis of </a:t>
            </a:r>
          </a:p>
          <a:p>
            <a:pPr eaLnBrk="1" hangingPunct="1">
              <a:spcBef>
                <a:spcPct val="0"/>
              </a:spcBef>
              <a:buFontTx/>
              <a:buNone/>
            </a:pPr>
            <a:r>
              <a:rPr lang="en-US" altLang="zh-CN" dirty="0">
                <a:solidFill>
                  <a:srgbClr val="006600"/>
                </a:solidFill>
              </a:rPr>
              <a:t>deoxyribonucleic acid </a:t>
            </a:r>
          </a:p>
          <a:p>
            <a:pPr eaLnBrk="1" hangingPunct="1">
              <a:spcBef>
                <a:spcPct val="0"/>
              </a:spcBef>
              <a:buFontTx/>
              <a:buNone/>
            </a:pPr>
            <a:r>
              <a:rPr lang="en-US" altLang="zh-CN" dirty="0">
                <a:solidFill>
                  <a:srgbClr val="006600"/>
                </a:solidFill>
              </a:rPr>
              <a:t>(</a:t>
            </a:r>
            <a:r>
              <a:rPr lang="en-US" altLang="zh-CN" i="1" dirty="0">
                <a:solidFill>
                  <a:srgbClr val="006600"/>
                </a:solidFill>
              </a:rPr>
              <a:t>before Watson and </a:t>
            </a:r>
          </a:p>
          <a:p>
            <a:pPr eaLnBrk="1" hangingPunct="1">
              <a:spcBef>
                <a:spcPct val="0"/>
              </a:spcBef>
              <a:buFontTx/>
              <a:buNone/>
            </a:pPr>
            <a:r>
              <a:rPr lang="en-US" altLang="zh-CN" i="1" dirty="0">
                <a:solidFill>
                  <a:srgbClr val="006600"/>
                </a:solidFill>
              </a:rPr>
              <a:t>Crick won theirs</a:t>
            </a:r>
            <a:r>
              <a:rPr lang="en-US" altLang="zh-CN" dirty="0">
                <a:solidFill>
                  <a:srgbClr val="006600"/>
                </a:solidFill>
              </a:rPr>
              <a:t>!)</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lnSpc>
                <a:spcPct val="80000"/>
              </a:lnSpc>
            </a:pPr>
            <a:r>
              <a:rPr lang="en-US" altLang="zh-CN" sz="4000" b="1" dirty="0">
                <a:solidFill>
                  <a:srgbClr val="FF0066"/>
                </a:solidFill>
              </a:rPr>
              <a:t>8. DNA polymerase I was found to be not responsible for DNA replication in </a:t>
            </a:r>
            <a:r>
              <a:rPr lang="en-US" altLang="zh-CN" sz="4000" b="1" i="1" dirty="0">
                <a:solidFill>
                  <a:srgbClr val="FF0066"/>
                </a:solidFill>
              </a:rPr>
              <a:t>E. coli</a:t>
            </a:r>
            <a:r>
              <a:rPr lang="en-US" altLang="zh-CN" sz="4000" b="1" dirty="0">
                <a:solidFill>
                  <a:srgbClr val="FF0066"/>
                </a:solidFill>
              </a:rPr>
              <a:t> cells</a:t>
            </a:r>
          </a:p>
        </p:txBody>
      </p:sp>
      <p:sp>
        <p:nvSpPr>
          <p:cNvPr id="225283" name="Rectangle 3"/>
          <p:cNvSpPr>
            <a:spLocks noGrp="1" noChangeArrowheads="1"/>
          </p:cNvSpPr>
          <p:nvPr>
            <p:ph idx="4294967295"/>
          </p:nvPr>
        </p:nvSpPr>
        <p:spPr>
          <a:xfrm>
            <a:off x="457200" y="1600200"/>
            <a:ext cx="8229600" cy="4525963"/>
          </a:xfrm>
          <a:prstGeom prst="rect">
            <a:avLst/>
          </a:prstGeom>
        </p:spPr>
        <p:txBody>
          <a:bodyPr/>
          <a:lstStyle/>
          <a:p>
            <a:pPr eaLnBrk="1" hangingPunct="1"/>
            <a:r>
              <a:rPr lang="en-US" altLang="zh-CN" sz="3100" b="1" dirty="0">
                <a:solidFill>
                  <a:schemeClr val="tx2"/>
                </a:solidFill>
              </a:rPr>
              <a:t>The reaction velocity of  this enzyme is too low to account for the observed rates of fork movement.</a:t>
            </a:r>
          </a:p>
          <a:p>
            <a:pPr eaLnBrk="1" hangingPunct="1"/>
            <a:r>
              <a:rPr lang="en-US" altLang="zh-CN" sz="3100" b="1" i="1" dirty="0">
                <a:solidFill>
                  <a:schemeClr val="tx2"/>
                </a:solidFill>
              </a:rPr>
              <a:t>E.coli</a:t>
            </a:r>
            <a:r>
              <a:rPr lang="en-US" altLang="zh-CN" sz="3100" b="1" dirty="0">
                <a:solidFill>
                  <a:schemeClr val="tx2"/>
                </a:solidFill>
              </a:rPr>
              <a:t> cells having a defective DNA polymerase I were found to be still viable, although sensitive to UV light (1969).</a:t>
            </a:r>
          </a:p>
          <a:p>
            <a:pPr eaLnBrk="1" hangingPunct="1"/>
            <a:r>
              <a:rPr lang="en-US" altLang="zh-CN" sz="3100" b="1" dirty="0">
                <a:solidFill>
                  <a:schemeClr val="tx2"/>
                </a:solidFill>
              </a:rPr>
              <a:t>Two more DNA polymerases (II and III) were revealed in </a:t>
            </a:r>
            <a:r>
              <a:rPr lang="en-US" altLang="zh-CN" sz="3100" b="1" i="1" dirty="0">
                <a:solidFill>
                  <a:schemeClr val="tx2"/>
                </a:solidFill>
              </a:rPr>
              <a:t>E.coli</a:t>
            </a:r>
            <a:r>
              <a:rPr lang="en-US" altLang="zh-CN" sz="3100" b="1" dirty="0">
                <a:solidFill>
                  <a:schemeClr val="tx2"/>
                </a:solidFill>
              </a:rPr>
              <a:t> cells in the early 1970s and two more in 1999.</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3234" name="Picture 2" descr="5'3'3'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42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3235" name="Rectangle 3"/>
          <p:cNvSpPr>
            <a:spLocks noChangeArrowheads="1"/>
          </p:cNvSpPr>
          <p:nvPr/>
        </p:nvSpPr>
        <p:spPr bwMode="auto">
          <a:xfrm>
            <a:off x="127617" y="4653136"/>
            <a:ext cx="6608763"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b="1">
                <a:solidFill>
                  <a:srgbClr val="66FFFF"/>
                </a:solidFill>
              </a:rPr>
              <a:t>Overall direction of progeny chain growth</a:t>
            </a:r>
          </a:p>
          <a:p>
            <a:pPr eaLnBrk="1" hangingPunct="1">
              <a:spcBef>
                <a:spcPct val="0"/>
              </a:spcBef>
              <a:buFontTx/>
              <a:buNone/>
            </a:pPr>
            <a:r>
              <a:rPr lang="en-US" altLang="zh-CN" sz="2800" b="1">
                <a:solidFill>
                  <a:srgbClr val="66FFFF"/>
                </a:solidFill>
              </a:rPr>
              <a:t>at a replicating fork: one in 5’   3’ and the </a:t>
            </a:r>
          </a:p>
          <a:p>
            <a:pPr eaLnBrk="1" hangingPunct="1">
              <a:spcBef>
                <a:spcPct val="0"/>
              </a:spcBef>
              <a:buFontTx/>
              <a:buNone/>
            </a:pPr>
            <a:r>
              <a:rPr lang="en-US" altLang="zh-CN" sz="2800" b="1">
                <a:solidFill>
                  <a:srgbClr val="66FFFF"/>
                </a:solidFill>
              </a:rPr>
              <a:t>other in 3’   5’ direction.</a:t>
            </a:r>
            <a:endParaRPr lang="en-US" altLang="zh-CN" sz="2800" b="1" dirty="0">
              <a:solidFill>
                <a:srgbClr val="66FFFF"/>
              </a:solidFill>
            </a:endParaRPr>
          </a:p>
        </p:txBody>
      </p:sp>
      <p:sp>
        <p:nvSpPr>
          <p:cNvPr id="223236" name="Line 4"/>
          <p:cNvSpPr>
            <a:spLocks noChangeShapeType="1"/>
          </p:cNvSpPr>
          <p:nvPr/>
        </p:nvSpPr>
        <p:spPr bwMode="auto">
          <a:xfrm>
            <a:off x="4644008" y="5373216"/>
            <a:ext cx="304800" cy="0"/>
          </a:xfrm>
          <a:prstGeom prst="line">
            <a:avLst/>
          </a:prstGeom>
          <a:noFill/>
          <a:ln w="9525">
            <a:solidFill>
              <a:srgbClr val="66FF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3237" name="Line 5"/>
          <p:cNvSpPr>
            <a:spLocks noChangeShapeType="1"/>
          </p:cNvSpPr>
          <p:nvPr/>
        </p:nvSpPr>
        <p:spPr bwMode="auto">
          <a:xfrm>
            <a:off x="1751112" y="5805264"/>
            <a:ext cx="228600" cy="0"/>
          </a:xfrm>
          <a:prstGeom prst="line">
            <a:avLst/>
          </a:prstGeom>
          <a:noFill/>
          <a:ln w="9525">
            <a:solidFill>
              <a:srgbClr val="00FF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矩形 1"/>
          <p:cNvSpPr/>
          <p:nvPr/>
        </p:nvSpPr>
        <p:spPr>
          <a:xfrm>
            <a:off x="154638" y="249076"/>
            <a:ext cx="7401644" cy="1384995"/>
          </a:xfrm>
          <a:prstGeom prst="rect">
            <a:avLst/>
          </a:prstGeom>
        </p:spPr>
        <p:txBody>
          <a:bodyPr wrap="square">
            <a:spAutoFit/>
          </a:bodyPr>
          <a:lstStyle/>
          <a:p>
            <a:r>
              <a:rPr lang="en-US" altLang="zh-CN" sz="2800" b="1" dirty="0">
                <a:solidFill>
                  <a:srgbClr val="FF0066"/>
                </a:solidFill>
              </a:rPr>
              <a:t>9. The synthesis of the two daughter DNA strands was found to be </a:t>
            </a:r>
            <a:r>
              <a:rPr lang="en-US" altLang="zh-CN" sz="2800" b="1" dirty="0" err="1">
                <a:solidFill>
                  <a:srgbClr val="FF0066"/>
                </a:solidFill>
              </a:rPr>
              <a:t>semidiscontinuous</a:t>
            </a:r>
            <a:endParaRPr lang="zh-CN" altLang="en-US" sz="2800" dirty="0"/>
          </a:p>
        </p:txBody>
      </p:sp>
    </p:spTree>
  </p:cSld>
  <p:clrMapOvr>
    <a:masterClrMapping/>
  </p:clrMapOvr>
  <p:transition>
    <p:zoom/>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lnSpc>
                <a:spcPct val="80000"/>
              </a:lnSpc>
            </a:pPr>
            <a:r>
              <a:rPr lang="en-US" altLang="zh-CN" sz="4000" b="1" dirty="0">
                <a:solidFill>
                  <a:srgbClr val="FF0066"/>
                </a:solidFill>
              </a:rPr>
              <a:t>9. The synthesis of the two daughter DNA strands was found to be </a:t>
            </a:r>
            <a:r>
              <a:rPr lang="en-US" altLang="zh-CN" sz="4000" b="1" dirty="0" err="1">
                <a:solidFill>
                  <a:srgbClr val="FF0066"/>
                </a:solidFill>
              </a:rPr>
              <a:t>semidiscontinuous</a:t>
            </a:r>
            <a:endParaRPr lang="en-US" altLang="zh-CN" sz="4000" b="1" dirty="0">
              <a:solidFill>
                <a:srgbClr val="FF0066"/>
              </a:solidFill>
            </a:endParaRPr>
          </a:p>
        </p:txBody>
      </p:sp>
      <p:sp>
        <p:nvSpPr>
          <p:cNvPr id="221187" name="Rectangle 3"/>
          <p:cNvSpPr>
            <a:spLocks noGrp="1" noChangeArrowheads="1"/>
          </p:cNvSpPr>
          <p:nvPr>
            <p:ph idx="4294967295"/>
          </p:nvPr>
        </p:nvSpPr>
        <p:spPr>
          <a:xfrm>
            <a:off x="457200" y="2071389"/>
            <a:ext cx="8229600" cy="3805883"/>
          </a:xfrm>
          <a:prstGeom prst="rect">
            <a:avLst/>
          </a:prstGeom>
        </p:spPr>
        <p:txBody>
          <a:bodyPr/>
          <a:lstStyle/>
          <a:p>
            <a:pPr eaLnBrk="1" hangingPunct="1"/>
            <a:r>
              <a:rPr lang="en-US" altLang="zh-CN" dirty="0"/>
              <a:t>At a replication fork, the overall elongation direction for one daughter strand is 5` to 3` and 3` to 5` for the other due to the antiparallel features of DNA duplexes. </a:t>
            </a:r>
          </a:p>
          <a:p>
            <a:pPr eaLnBrk="1" hangingPunct="1"/>
            <a:r>
              <a:rPr lang="en-US" altLang="zh-CN" dirty="0"/>
              <a:t>Reiji Okazaki discovered ( in the 1960s) that a significant proportion of </a:t>
            </a:r>
            <a:r>
              <a:rPr lang="en-US" altLang="zh-CN" dirty="0">
                <a:solidFill>
                  <a:srgbClr val="FF0000"/>
                </a:solidFill>
              </a:rPr>
              <a:t>newly synthesized DNA exists as small fragments</a:t>
            </a:r>
            <a:r>
              <a:rPr lang="en-US" altLang="zh-CN" dirty="0"/>
              <a:t>!</a:t>
            </a:r>
            <a:endParaRPr lang="en-US" altLang="zh-CN" sz="28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idx="4294967295"/>
          </p:nvPr>
        </p:nvSpPr>
        <p:spPr>
          <a:xfrm>
            <a:off x="457200" y="1600200"/>
            <a:ext cx="8229600" cy="4525963"/>
          </a:xfrm>
          <a:prstGeom prst="rect">
            <a:avLst/>
          </a:prstGeom>
        </p:spPr>
        <p:txBody>
          <a:bodyPr/>
          <a:lstStyle/>
          <a:p>
            <a:pPr eaLnBrk="1" hangingPunct="1">
              <a:lnSpc>
                <a:spcPct val="90000"/>
              </a:lnSpc>
            </a:pPr>
            <a:r>
              <a:rPr lang="en-US" altLang="zh-CN" dirty="0"/>
              <a:t>These </a:t>
            </a:r>
            <a:r>
              <a:rPr lang="en-US" altLang="zh-CN" dirty="0">
                <a:solidFill>
                  <a:srgbClr val="FF0000"/>
                </a:solidFill>
              </a:rPr>
              <a:t>so-called Okazaki fragments</a:t>
            </a:r>
            <a:r>
              <a:rPr lang="en-US" altLang="zh-CN" dirty="0"/>
              <a:t> were found to join together by DNA ligases to form one of the daughter strands;</a:t>
            </a:r>
          </a:p>
          <a:p>
            <a:pPr eaLnBrk="1" hangingPunct="1">
              <a:lnSpc>
                <a:spcPct val="90000"/>
              </a:lnSpc>
            </a:pPr>
            <a:r>
              <a:rPr lang="en-US" altLang="zh-CN" dirty="0"/>
              <a:t>Thus both daughter strands are synthesized in 5` to  3` direction.</a:t>
            </a:r>
          </a:p>
          <a:p>
            <a:pPr eaLnBrk="1" hangingPunct="1">
              <a:lnSpc>
                <a:spcPct val="90000"/>
              </a:lnSpc>
            </a:pPr>
            <a:r>
              <a:rPr lang="en-US" altLang="zh-CN" dirty="0"/>
              <a:t>One daughter strand at the replication fork is synthesized </a:t>
            </a:r>
            <a:r>
              <a:rPr lang="en-US" altLang="zh-CN" dirty="0">
                <a:solidFill>
                  <a:srgbClr val="FF0000"/>
                </a:solidFill>
              </a:rPr>
              <a:t>continuously </a:t>
            </a:r>
            <a:r>
              <a:rPr lang="en-US" altLang="zh-CN" dirty="0"/>
              <a:t>and the other </a:t>
            </a:r>
            <a:r>
              <a:rPr lang="en-US" altLang="zh-CN" dirty="0">
                <a:solidFill>
                  <a:srgbClr val="FF0000"/>
                </a:solidFill>
              </a:rPr>
              <a:t>discontinuously</a:t>
            </a:r>
            <a:r>
              <a:rPr lang="en-US" altLang="zh-CN" dirty="0"/>
              <a:t>, called the leading and lagging strands respectively</a:t>
            </a:r>
            <a:r>
              <a:rPr lang="en-US" altLang="zh-CN" sz="2800" dirty="0">
                <a:solidFill>
                  <a:schemeClr val="tx2"/>
                </a:solidFill>
              </a:rPr>
              <a:t>.</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ChangeArrowheads="1"/>
          </p:cNvSpPr>
          <p:nvPr/>
        </p:nvSpPr>
        <p:spPr bwMode="auto">
          <a:xfrm>
            <a:off x="0" y="4365104"/>
            <a:ext cx="91725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dirty="0"/>
              <a:t>Both daughter strands at the replication fork are synthesized in</a:t>
            </a:r>
          </a:p>
          <a:p>
            <a:pPr>
              <a:spcBef>
                <a:spcPct val="0"/>
              </a:spcBef>
              <a:buFontTx/>
              <a:buNone/>
            </a:pPr>
            <a:r>
              <a:rPr lang="en-US" altLang="zh-CN" sz="2800" dirty="0"/>
              <a:t>5’   3’ direction, but one (</a:t>
            </a:r>
            <a:r>
              <a:rPr lang="en-US" altLang="zh-CN" sz="2800" dirty="0">
                <a:solidFill>
                  <a:srgbClr val="FF0000"/>
                </a:solidFill>
              </a:rPr>
              <a:t>the leading strand</a:t>
            </a:r>
            <a:r>
              <a:rPr lang="en-US" altLang="zh-CN" sz="2800" dirty="0"/>
              <a:t>) is synthesized </a:t>
            </a:r>
          </a:p>
          <a:p>
            <a:pPr>
              <a:spcBef>
                <a:spcPct val="0"/>
              </a:spcBef>
              <a:buFontTx/>
              <a:buNone/>
            </a:pPr>
            <a:r>
              <a:rPr lang="en-US" altLang="zh-CN" sz="2800" dirty="0"/>
              <a:t>continuously and the other </a:t>
            </a:r>
            <a:r>
              <a:rPr lang="en-US" altLang="zh-CN" sz="2800" dirty="0">
                <a:solidFill>
                  <a:srgbClr val="FF0000"/>
                </a:solidFill>
              </a:rPr>
              <a:t>(the lagging strand</a:t>
            </a:r>
            <a:r>
              <a:rPr lang="en-US" altLang="zh-CN" sz="2800" dirty="0"/>
              <a:t>) discontinuously</a:t>
            </a:r>
          </a:p>
          <a:p>
            <a:pPr>
              <a:spcBef>
                <a:spcPct val="0"/>
              </a:spcBef>
              <a:buFontTx/>
              <a:buNone/>
            </a:pPr>
            <a:r>
              <a:rPr lang="en-US" altLang="zh-CN" sz="2800" dirty="0"/>
              <a:t>(synthesized initially as Okazaki fragments).</a:t>
            </a:r>
          </a:p>
        </p:txBody>
      </p:sp>
      <p:sp>
        <p:nvSpPr>
          <p:cNvPr id="224259" name="Line 3"/>
          <p:cNvSpPr>
            <a:spLocks noChangeShapeType="1"/>
          </p:cNvSpPr>
          <p:nvPr/>
        </p:nvSpPr>
        <p:spPr bwMode="auto">
          <a:xfrm>
            <a:off x="251520" y="5085184"/>
            <a:ext cx="381000" cy="0"/>
          </a:xfrm>
          <a:prstGeom prst="line">
            <a:avLst/>
          </a:prstGeom>
          <a:noFill/>
          <a:ln w="9525">
            <a:solidFill>
              <a:srgbClr val="8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4260" name="Rectangle 4"/>
          <p:cNvSpPr>
            <a:spLocks noChangeArrowheads="1"/>
          </p:cNvSpPr>
          <p:nvPr/>
        </p:nvSpPr>
        <p:spPr bwMode="auto">
          <a:xfrm>
            <a:off x="3276600" y="609600"/>
            <a:ext cx="2827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FF0066"/>
                </a:solidFill>
              </a:rPr>
              <a:t>The leading strand</a:t>
            </a:r>
            <a:endParaRPr lang="en-US" altLang="zh-CN" sz="2800"/>
          </a:p>
        </p:txBody>
      </p:sp>
      <p:sp>
        <p:nvSpPr>
          <p:cNvPr id="224261" name="Line 5"/>
          <p:cNvSpPr>
            <a:spLocks noChangeShapeType="1"/>
          </p:cNvSpPr>
          <p:nvPr/>
        </p:nvSpPr>
        <p:spPr bwMode="auto">
          <a:xfrm flipH="1">
            <a:off x="2209800" y="914400"/>
            <a:ext cx="990600" cy="381000"/>
          </a:xfrm>
          <a:prstGeom prst="line">
            <a:avLst/>
          </a:prstGeom>
          <a:noFill/>
          <a:ln w="25400">
            <a:solidFill>
              <a:srgbClr val="FF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4262" name="Rectangle 6"/>
          <p:cNvSpPr>
            <a:spLocks noChangeArrowheads="1"/>
          </p:cNvSpPr>
          <p:nvPr/>
        </p:nvSpPr>
        <p:spPr bwMode="auto">
          <a:xfrm>
            <a:off x="3505200" y="3352800"/>
            <a:ext cx="2847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FFFF00"/>
                </a:solidFill>
              </a:rPr>
              <a:t>The lagging strand</a:t>
            </a:r>
            <a:endParaRPr lang="en-US" altLang="zh-CN" sz="2800"/>
          </a:p>
        </p:txBody>
      </p:sp>
      <p:sp>
        <p:nvSpPr>
          <p:cNvPr id="224263" name="Line 7"/>
          <p:cNvSpPr>
            <a:spLocks noChangeShapeType="1"/>
          </p:cNvSpPr>
          <p:nvPr/>
        </p:nvSpPr>
        <p:spPr bwMode="auto">
          <a:xfrm flipH="1" flipV="1">
            <a:off x="2819400" y="2819400"/>
            <a:ext cx="685800" cy="685800"/>
          </a:xfrm>
          <a:prstGeom prst="line">
            <a:avLst/>
          </a:prstGeom>
          <a:noFill/>
          <a:ln w="9525">
            <a:solidFill>
              <a:srgbClr val="FFFF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4264" name="Picture 8" descr="f25-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441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lnSpc>
                <a:spcPct val="80000"/>
              </a:lnSpc>
            </a:pPr>
            <a:r>
              <a:rPr lang="en-US" altLang="zh-CN" sz="4000" b="1">
                <a:solidFill>
                  <a:srgbClr val="FF0066"/>
                </a:solidFill>
              </a:rPr>
              <a:t>10. DNA polymerase III is responsible for DNA replication in </a:t>
            </a:r>
            <a:r>
              <a:rPr lang="en-US" altLang="zh-CN" sz="4000" b="1" i="1">
                <a:solidFill>
                  <a:srgbClr val="FF0066"/>
                </a:solidFill>
              </a:rPr>
              <a:t>E.coli</a:t>
            </a:r>
            <a:r>
              <a:rPr lang="en-US" altLang="zh-CN" sz="4000" b="1">
                <a:solidFill>
                  <a:srgbClr val="FF0066"/>
                </a:solidFill>
              </a:rPr>
              <a:t> cells</a:t>
            </a:r>
          </a:p>
        </p:txBody>
      </p:sp>
      <p:sp>
        <p:nvSpPr>
          <p:cNvPr id="3" name="Text Box 4"/>
          <p:cNvSpPr txBox="1">
            <a:spLocks noChangeArrowheads="1"/>
          </p:cNvSpPr>
          <p:nvPr/>
        </p:nvSpPr>
        <p:spPr bwMode="auto">
          <a:xfrm>
            <a:off x="395288" y="1700808"/>
            <a:ext cx="8208962"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rgbClr val="FF3300"/>
                </a:solidFill>
                <a:latin typeface="Times New Roman" panose="02020603050405020304" pitchFamily="18" charset="0"/>
                <a:ea typeface="楷体_GB2312" pitchFamily="49" charset="-122"/>
              </a:defRPr>
            </a:lvl1pPr>
            <a:lvl2pPr marL="742950" indent="-285750">
              <a:defRPr kumimoji="1" sz="2800" b="1">
                <a:solidFill>
                  <a:srgbClr val="FF3300"/>
                </a:solidFill>
                <a:latin typeface="Times New Roman" panose="02020603050405020304" pitchFamily="18" charset="0"/>
                <a:ea typeface="楷体_GB2312" pitchFamily="49" charset="-122"/>
              </a:defRPr>
            </a:lvl2pPr>
            <a:lvl3pPr marL="1143000" indent="-228600">
              <a:defRPr kumimoji="1" sz="2800" b="1">
                <a:solidFill>
                  <a:srgbClr val="FF3300"/>
                </a:solidFill>
                <a:latin typeface="Times New Roman" panose="02020603050405020304" pitchFamily="18" charset="0"/>
                <a:ea typeface="楷体_GB2312" pitchFamily="49" charset="-122"/>
              </a:defRPr>
            </a:lvl3pPr>
            <a:lvl4pPr marL="1600200" indent="-228600">
              <a:defRPr kumimoji="1" sz="2800" b="1">
                <a:solidFill>
                  <a:srgbClr val="FF3300"/>
                </a:solidFill>
                <a:latin typeface="Times New Roman" panose="02020603050405020304" pitchFamily="18" charset="0"/>
                <a:ea typeface="楷体_GB2312" pitchFamily="49" charset="-122"/>
              </a:defRPr>
            </a:lvl4pPr>
            <a:lvl5pPr marL="2057400" indent="-228600">
              <a:defRPr kumimoji="1" sz="2800" b="1">
                <a:solidFill>
                  <a:srgbClr val="FF33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defRPr kumimoji="1" sz="2800" b="1">
                <a:solidFill>
                  <a:srgbClr val="FF33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defRPr kumimoji="1" sz="2800" b="1">
                <a:solidFill>
                  <a:srgbClr val="FF33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defRPr kumimoji="1" sz="2800" b="1">
                <a:solidFill>
                  <a:srgbClr val="FF33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defRPr kumimoji="1" sz="2800" b="1">
                <a:solidFill>
                  <a:srgbClr val="FF3300"/>
                </a:solidFill>
                <a:latin typeface="Times New Roman" panose="02020603050405020304" pitchFamily="18" charset="0"/>
                <a:ea typeface="楷体_GB2312" pitchFamily="49" charset="-122"/>
              </a:defRPr>
            </a:lvl9pPr>
          </a:lstStyle>
          <a:p>
            <a:r>
              <a:rPr kumimoji="0" lang="zh-CN" altLang="en-US" dirty="0">
                <a:solidFill>
                  <a:schemeClr val="accent2"/>
                </a:solidFill>
                <a:latin typeface="Goudy Old Style" panose="02020502050305020303" pitchFamily="18" charset="0"/>
              </a:rPr>
              <a:t>◆ </a:t>
            </a:r>
            <a:r>
              <a:rPr lang="en-US" altLang="zh-CN" dirty="0"/>
              <a:t>DNA polymerase III</a:t>
            </a:r>
            <a:r>
              <a:rPr lang="en-US" altLang="zh-CN" dirty="0">
                <a:solidFill>
                  <a:schemeClr val="accent2"/>
                </a:solidFill>
              </a:rPr>
              <a:t> is the principle replication enzyme in </a:t>
            </a:r>
            <a:r>
              <a:rPr lang="en-US" altLang="zh-CN" i="1" dirty="0" err="1">
                <a:solidFill>
                  <a:schemeClr val="accent2"/>
                </a:solidFill>
              </a:rPr>
              <a:t>E.coli</a:t>
            </a:r>
            <a:r>
              <a:rPr lang="en-US" altLang="zh-CN" dirty="0">
                <a:solidFill>
                  <a:schemeClr val="accent2"/>
                </a:solidFill>
              </a:rPr>
              <a:t>.</a:t>
            </a:r>
          </a:p>
          <a:p>
            <a:endParaRPr kumimoji="0" lang="en-US" altLang="zh-CN" dirty="0">
              <a:solidFill>
                <a:schemeClr val="accent2"/>
              </a:solidFill>
              <a:latin typeface="Goudy Old Style" panose="02020502050305020303" pitchFamily="18" charset="0"/>
            </a:endParaRPr>
          </a:p>
        </p:txBody>
      </p:sp>
      <p:grpSp>
        <p:nvGrpSpPr>
          <p:cNvPr id="4" name="Group 7"/>
          <p:cNvGrpSpPr/>
          <p:nvPr/>
        </p:nvGrpSpPr>
        <p:grpSpPr bwMode="auto">
          <a:xfrm>
            <a:off x="932383" y="2732558"/>
            <a:ext cx="7312025" cy="3360738"/>
            <a:chOff x="476" y="2069"/>
            <a:chExt cx="4606" cy="2117"/>
          </a:xfrm>
        </p:grpSpPr>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6" y="2069"/>
              <a:ext cx="4606" cy="2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Line 6"/>
            <p:cNvSpPr>
              <a:spLocks noChangeShapeType="1"/>
            </p:cNvSpPr>
            <p:nvPr/>
          </p:nvSpPr>
          <p:spPr bwMode="auto">
            <a:xfrm>
              <a:off x="604" y="3742"/>
              <a:ext cx="4355" cy="0"/>
            </a:xfrm>
            <a:prstGeom prst="line">
              <a:avLst/>
            </a:prstGeom>
            <a:noFill/>
            <a:ln w="28575">
              <a:solidFill>
                <a:srgbClr val="FF0066"/>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7330" name="Picture 2" descr="dnapo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407150" cy="64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31" name="Rectangle 3"/>
          <p:cNvSpPr>
            <a:spLocks noChangeArrowheads="1"/>
          </p:cNvSpPr>
          <p:nvPr/>
        </p:nvSpPr>
        <p:spPr bwMode="auto">
          <a:xfrm>
            <a:off x="2057400" y="990600"/>
            <a:ext cx="16700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a:solidFill>
                  <a:srgbClr val="FF0066"/>
                </a:solidFill>
              </a:rPr>
              <a:t>Sliding clamp</a:t>
            </a:r>
          </a:p>
          <a:p>
            <a:pPr eaLnBrk="1" hangingPunct="1">
              <a:spcBef>
                <a:spcPct val="0"/>
              </a:spcBef>
              <a:buFontTx/>
              <a:buNone/>
            </a:pPr>
            <a:r>
              <a:rPr lang="en-US" altLang="zh-CN" sz="2000" b="1">
                <a:solidFill>
                  <a:srgbClr val="FF0066"/>
                </a:solidFill>
              </a:rPr>
              <a:t> subunits</a:t>
            </a:r>
            <a:endParaRPr lang="en-US" altLang="zh-CN" sz="2000" b="1">
              <a:solidFill>
                <a:schemeClr val="accent2"/>
              </a:solidFill>
            </a:endParaRPr>
          </a:p>
        </p:txBody>
      </p:sp>
      <p:sp>
        <p:nvSpPr>
          <p:cNvPr id="227332" name="Line 4"/>
          <p:cNvSpPr>
            <a:spLocks noChangeShapeType="1"/>
          </p:cNvSpPr>
          <p:nvPr/>
        </p:nvSpPr>
        <p:spPr bwMode="auto">
          <a:xfrm>
            <a:off x="3200400" y="1447800"/>
            <a:ext cx="304800" cy="4572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33" name="Line 5"/>
          <p:cNvSpPr>
            <a:spLocks noChangeShapeType="1"/>
          </p:cNvSpPr>
          <p:nvPr/>
        </p:nvSpPr>
        <p:spPr bwMode="auto">
          <a:xfrm flipH="1">
            <a:off x="1905000" y="1295400"/>
            <a:ext cx="228600" cy="3810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34" name="Rectangle 6"/>
          <p:cNvSpPr>
            <a:spLocks noChangeArrowheads="1"/>
          </p:cNvSpPr>
          <p:nvPr/>
        </p:nvSpPr>
        <p:spPr bwMode="auto">
          <a:xfrm>
            <a:off x="4114800" y="3554413"/>
            <a:ext cx="11699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a:solidFill>
                  <a:srgbClr val="FF0066"/>
                </a:solidFill>
              </a:rPr>
              <a:t>Catalytic</a:t>
            </a:r>
          </a:p>
          <a:p>
            <a:pPr eaLnBrk="1" hangingPunct="1">
              <a:spcBef>
                <a:spcPct val="0"/>
              </a:spcBef>
              <a:buFontTx/>
              <a:buNone/>
            </a:pPr>
            <a:r>
              <a:rPr lang="en-US" altLang="zh-CN" sz="2000" b="1">
                <a:solidFill>
                  <a:srgbClr val="FF0066"/>
                </a:solidFill>
              </a:rPr>
              <a:t>subunit</a:t>
            </a:r>
            <a:endParaRPr lang="en-US" altLang="zh-CN" sz="2400" b="1">
              <a:solidFill>
                <a:srgbClr val="FF0066"/>
              </a:solidFill>
            </a:endParaRPr>
          </a:p>
        </p:txBody>
      </p:sp>
      <p:sp>
        <p:nvSpPr>
          <p:cNvPr id="227335" name="Rectangle 7"/>
          <p:cNvSpPr>
            <a:spLocks noChangeArrowheads="1"/>
          </p:cNvSpPr>
          <p:nvPr/>
        </p:nvSpPr>
        <p:spPr bwMode="auto">
          <a:xfrm>
            <a:off x="762000" y="3581400"/>
            <a:ext cx="11699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a:solidFill>
                  <a:srgbClr val="FF0066"/>
                </a:solidFill>
              </a:rPr>
              <a:t>Catalytic</a:t>
            </a:r>
          </a:p>
          <a:p>
            <a:pPr eaLnBrk="1" hangingPunct="1">
              <a:spcBef>
                <a:spcPct val="0"/>
              </a:spcBef>
              <a:buFontTx/>
              <a:buNone/>
            </a:pPr>
            <a:r>
              <a:rPr lang="en-US" altLang="zh-CN" sz="2000" b="1">
                <a:solidFill>
                  <a:srgbClr val="FF0066"/>
                </a:solidFill>
              </a:rPr>
              <a:t>subunit</a:t>
            </a:r>
          </a:p>
        </p:txBody>
      </p:sp>
      <p:sp>
        <p:nvSpPr>
          <p:cNvPr id="227336" name="Rectangle 8"/>
          <p:cNvSpPr>
            <a:spLocks noChangeArrowheads="1"/>
          </p:cNvSpPr>
          <p:nvPr/>
        </p:nvSpPr>
        <p:spPr bwMode="auto">
          <a:xfrm>
            <a:off x="4267200" y="4876800"/>
            <a:ext cx="21431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a:solidFill>
                  <a:srgbClr val="66FFFF"/>
                </a:solidFill>
              </a:rPr>
              <a:t>3’   5’ exonuclease</a:t>
            </a:r>
          </a:p>
          <a:p>
            <a:pPr eaLnBrk="1" hangingPunct="1">
              <a:spcBef>
                <a:spcPct val="0"/>
              </a:spcBef>
              <a:buFontTx/>
              <a:buNone/>
            </a:pPr>
            <a:r>
              <a:rPr lang="en-US" altLang="zh-CN" sz="2000" b="1">
                <a:solidFill>
                  <a:srgbClr val="66FFFF"/>
                </a:solidFill>
              </a:rPr>
              <a:t>subunits</a:t>
            </a:r>
          </a:p>
        </p:txBody>
      </p:sp>
      <p:sp>
        <p:nvSpPr>
          <p:cNvPr id="227337" name="Line 9"/>
          <p:cNvSpPr>
            <a:spLocks noChangeShapeType="1"/>
          </p:cNvSpPr>
          <p:nvPr/>
        </p:nvSpPr>
        <p:spPr bwMode="auto">
          <a:xfrm>
            <a:off x="4572000" y="5105400"/>
            <a:ext cx="152400" cy="0"/>
          </a:xfrm>
          <a:prstGeom prst="line">
            <a:avLst/>
          </a:prstGeom>
          <a:noFill/>
          <a:ln w="9525">
            <a:solidFill>
              <a:srgbClr val="66FF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38" name="Line 10"/>
          <p:cNvSpPr>
            <a:spLocks noChangeShapeType="1"/>
          </p:cNvSpPr>
          <p:nvPr/>
        </p:nvSpPr>
        <p:spPr bwMode="auto">
          <a:xfrm flipH="1" flipV="1">
            <a:off x="3505200" y="3200400"/>
            <a:ext cx="1143000" cy="1676400"/>
          </a:xfrm>
          <a:prstGeom prst="line">
            <a:avLst/>
          </a:prstGeom>
          <a:noFill/>
          <a:ln w="9525">
            <a:solidFill>
              <a:srgbClr val="66FF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39" name="Line 11"/>
          <p:cNvSpPr>
            <a:spLocks noChangeShapeType="1"/>
          </p:cNvSpPr>
          <p:nvPr/>
        </p:nvSpPr>
        <p:spPr bwMode="auto">
          <a:xfrm flipH="1" flipV="1">
            <a:off x="2667000" y="3276600"/>
            <a:ext cx="1981200" cy="1600200"/>
          </a:xfrm>
          <a:prstGeom prst="line">
            <a:avLst/>
          </a:prstGeom>
          <a:noFill/>
          <a:ln w="9525">
            <a:solidFill>
              <a:srgbClr val="66FF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40" name="Rectangle 12"/>
          <p:cNvSpPr>
            <a:spLocks noChangeArrowheads="1"/>
          </p:cNvSpPr>
          <p:nvPr/>
        </p:nvSpPr>
        <p:spPr bwMode="auto">
          <a:xfrm>
            <a:off x="6477000" y="1371600"/>
            <a:ext cx="9382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a:solidFill>
                  <a:schemeClr val="accent2"/>
                </a:solidFill>
              </a:rPr>
              <a:t>Clamp</a:t>
            </a:r>
          </a:p>
          <a:p>
            <a:pPr eaLnBrk="1" hangingPunct="1">
              <a:spcBef>
                <a:spcPct val="0"/>
              </a:spcBef>
              <a:buFontTx/>
              <a:buNone/>
            </a:pPr>
            <a:r>
              <a:rPr lang="en-US" altLang="zh-CN" sz="2000" b="1">
                <a:solidFill>
                  <a:schemeClr val="accent2"/>
                </a:solidFill>
              </a:rPr>
              <a:t> loader</a:t>
            </a:r>
          </a:p>
        </p:txBody>
      </p:sp>
      <p:sp>
        <p:nvSpPr>
          <p:cNvPr id="227341" name="AutoShape 13"/>
          <p:cNvSpPr>
            <a:spLocks noChangeArrowheads="1"/>
          </p:cNvSpPr>
          <p:nvPr/>
        </p:nvSpPr>
        <p:spPr bwMode="auto">
          <a:xfrm>
            <a:off x="6096000" y="1524000"/>
            <a:ext cx="381000" cy="304800"/>
          </a:xfrm>
          <a:prstGeom prst="leftArrow">
            <a:avLst>
              <a:gd name="adj1" fmla="val 50000"/>
              <a:gd name="adj2" fmla="val 3125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27342" name="Rectangle 14"/>
          <p:cNvSpPr>
            <a:spLocks noChangeArrowheads="1"/>
          </p:cNvSpPr>
          <p:nvPr/>
        </p:nvSpPr>
        <p:spPr bwMode="auto">
          <a:xfrm>
            <a:off x="6172200" y="2362200"/>
            <a:ext cx="307022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dirty="0">
                <a:solidFill>
                  <a:srgbClr val="FF0066"/>
                </a:solidFill>
              </a:rPr>
              <a:t>   </a:t>
            </a:r>
            <a:r>
              <a:rPr lang="en-US" altLang="zh-CN" sz="2400" b="1" dirty="0">
                <a:solidFill>
                  <a:schemeClr val="accent2"/>
                </a:solidFill>
              </a:rPr>
              <a:t>Proposed </a:t>
            </a:r>
          </a:p>
          <a:p>
            <a:pPr eaLnBrk="1" hangingPunct="1">
              <a:spcBef>
                <a:spcPct val="0"/>
              </a:spcBef>
              <a:buFontTx/>
              <a:buNone/>
            </a:pPr>
            <a:r>
              <a:rPr lang="en-US" altLang="zh-CN" sz="2400" b="1" dirty="0">
                <a:solidFill>
                  <a:schemeClr val="accent2"/>
                </a:solidFill>
              </a:rPr>
              <a:t>   architecture of </a:t>
            </a:r>
            <a:r>
              <a:rPr lang="en-US" altLang="zh-CN" sz="2400" b="1" dirty="0">
                <a:solidFill>
                  <a:srgbClr val="006600"/>
                </a:solidFill>
              </a:rPr>
              <a:t>DNA</a:t>
            </a:r>
          </a:p>
          <a:p>
            <a:pPr eaLnBrk="1" hangingPunct="1">
              <a:spcBef>
                <a:spcPct val="0"/>
              </a:spcBef>
              <a:buFontTx/>
              <a:buNone/>
            </a:pPr>
            <a:r>
              <a:rPr lang="en-US" altLang="zh-CN" sz="2400" b="1" dirty="0">
                <a:solidFill>
                  <a:srgbClr val="006600"/>
                </a:solidFill>
              </a:rPr>
              <a:t>   polymerase III</a:t>
            </a:r>
            <a:r>
              <a:rPr lang="en-US" altLang="zh-CN" sz="2400" b="1" dirty="0">
                <a:solidFill>
                  <a:schemeClr val="accent2"/>
                </a:solidFill>
              </a:rPr>
              <a:t> </a:t>
            </a:r>
          </a:p>
          <a:p>
            <a:pPr eaLnBrk="1" hangingPunct="1">
              <a:spcBef>
                <a:spcPct val="0"/>
              </a:spcBef>
              <a:buFontTx/>
              <a:buNone/>
            </a:pPr>
            <a:r>
              <a:rPr lang="en-US" altLang="zh-CN" sz="2400" b="1" dirty="0">
                <a:solidFill>
                  <a:schemeClr val="accent2"/>
                </a:solidFill>
              </a:rPr>
              <a:t>   holoenzyme: </a:t>
            </a:r>
          </a:p>
          <a:p>
            <a:pPr eaLnBrk="1" hangingPunct="1">
              <a:spcBef>
                <a:spcPct val="0"/>
              </a:spcBef>
              <a:buFontTx/>
              <a:buNone/>
            </a:pPr>
            <a:r>
              <a:rPr lang="en-US" altLang="zh-CN" sz="2400" b="1" dirty="0">
                <a:solidFill>
                  <a:schemeClr val="accent2"/>
                </a:solidFill>
              </a:rPr>
              <a:t>   an asymmetric </a:t>
            </a:r>
          </a:p>
          <a:p>
            <a:pPr eaLnBrk="1" hangingPunct="1">
              <a:spcBef>
                <a:spcPct val="0"/>
              </a:spcBef>
              <a:buFontTx/>
              <a:buNone/>
            </a:pPr>
            <a:r>
              <a:rPr lang="en-US" altLang="zh-CN" sz="2400" b="1" dirty="0">
                <a:solidFill>
                  <a:schemeClr val="accent2"/>
                </a:solidFill>
              </a:rPr>
              <a:t>   dimer</a:t>
            </a:r>
          </a:p>
        </p:txBody>
      </p:sp>
      <p:sp>
        <p:nvSpPr>
          <p:cNvPr id="227343" name="Rectangle 15"/>
          <p:cNvSpPr>
            <a:spLocks noChangeArrowheads="1"/>
          </p:cNvSpPr>
          <p:nvPr/>
        </p:nvSpPr>
        <p:spPr bwMode="auto">
          <a:xfrm>
            <a:off x="3124200" y="5638800"/>
            <a:ext cx="32400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solidFill>
                  <a:srgbClr val="CC00CC"/>
                </a:solidFill>
              </a:rPr>
              <a:t>No 5` to 3` exonuclease </a:t>
            </a:r>
          </a:p>
          <a:p>
            <a:pPr eaLnBrk="1" hangingPunct="1">
              <a:spcBef>
                <a:spcPct val="0"/>
              </a:spcBef>
              <a:buFontTx/>
              <a:buNone/>
            </a:pPr>
            <a:r>
              <a:rPr lang="en-US" altLang="zh-CN" sz="2400" b="1">
                <a:solidFill>
                  <a:srgbClr val="CC00CC"/>
                </a:solidFill>
              </a:rPr>
              <a:t>activity</a:t>
            </a:r>
          </a:p>
        </p:txBody>
      </p:sp>
    </p:spTree>
  </p:cSld>
  <p:clrMapOvr>
    <a:masterClrMapping/>
  </p:clrMapOvr>
  <p:transition>
    <p:zoom/>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B292F63-451D-4884-BDE0-B8B802EC4CA6}"/>
              </a:ext>
            </a:extLst>
          </p:cNvPr>
          <p:cNvPicPr>
            <a:picLocks noChangeAspect="1"/>
          </p:cNvPicPr>
          <p:nvPr/>
        </p:nvPicPr>
        <p:blipFill>
          <a:blip r:embed="rId3"/>
          <a:stretch>
            <a:fillRect/>
          </a:stretch>
        </p:blipFill>
        <p:spPr>
          <a:xfrm>
            <a:off x="0" y="692696"/>
            <a:ext cx="9144000" cy="4617835"/>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lnSpc>
                <a:spcPct val="80000"/>
              </a:lnSpc>
            </a:pPr>
            <a:r>
              <a:rPr lang="en-US" altLang="zh-CN" sz="3600" b="1" dirty="0">
                <a:solidFill>
                  <a:srgbClr val="FF0066"/>
                </a:solidFill>
              </a:rPr>
              <a:t>11. DNA polymerase III and many other proteins are part of the replisome for DNA replication in </a:t>
            </a:r>
            <a:r>
              <a:rPr lang="en-US" altLang="zh-CN" sz="3600" b="1" i="1" dirty="0">
                <a:solidFill>
                  <a:srgbClr val="FF0066"/>
                </a:solidFill>
              </a:rPr>
              <a:t>E.coli</a:t>
            </a:r>
            <a:r>
              <a:rPr lang="en-US" altLang="zh-CN" sz="3600" b="1" dirty="0">
                <a:solidFill>
                  <a:srgbClr val="FF0066"/>
                </a:solidFill>
              </a:rPr>
              <a:t> cells</a:t>
            </a:r>
            <a:endParaRPr lang="en-US" altLang="zh-CN" sz="3600" dirty="0">
              <a:solidFill>
                <a:srgbClr val="FF0066"/>
              </a:solidFill>
            </a:endParaRPr>
          </a:p>
        </p:txBody>
      </p:sp>
      <p:sp>
        <p:nvSpPr>
          <p:cNvPr id="228355" name="Rectangle 3"/>
          <p:cNvSpPr>
            <a:spLocks noGrp="1" noChangeArrowheads="1"/>
          </p:cNvSpPr>
          <p:nvPr>
            <p:ph idx="4294967295"/>
          </p:nvPr>
        </p:nvSpPr>
        <p:spPr>
          <a:xfrm>
            <a:off x="457200" y="1783357"/>
            <a:ext cx="8229600" cy="4525963"/>
          </a:xfrm>
          <a:prstGeom prst="rect">
            <a:avLst/>
          </a:prstGeom>
        </p:spPr>
        <p:txBody>
          <a:bodyPr/>
          <a:lstStyle/>
          <a:p>
            <a:pPr eaLnBrk="1" hangingPunct="1">
              <a:lnSpc>
                <a:spcPct val="90000"/>
              </a:lnSpc>
            </a:pPr>
            <a:r>
              <a:rPr lang="en-US" altLang="zh-CN" sz="2800" b="1" i="1" dirty="0"/>
              <a:t>In vitro</a:t>
            </a:r>
            <a:r>
              <a:rPr lang="en-US" altLang="zh-CN" sz="2800" b="1" dirty="0"/>
              <a:t> studies revealed about </a:t>
            </a:r>
            <a:r>
              <a:rPr lang="en-US" altLang="zh-CN" sz="2800" b="1" dirty="0">
                <a:solidFill>
                  <a:srgbClr val="FF0066"/>
                </a:solidFill>
              </a:rPr>
              <a:t>20</a:t>
            </a:r>
            <a:r>
              <a:rPr lang="en-US" altLang="zh-CN" sz="2800" b="1" dirty="0"/>
              <a:t> proteins are involved in DNA replication in </a:t>
            </a:r>
            <a:r>
              <a:rPr lang="en-US" altLang="zh-CN" sz="2800" b="1" i="1" dirty="0"/>
              <a:t>E.coli</a:t>
            </a:r>
            <a:r>
              <a:rPr lang="en-US" altLang="zh-CN" sz="2800" b="1" dirty="0"/>
              <a:t> cells.</a:t>
            </a:r>
          </a:p>
          <a:p>
            <a:pPr eaLnBrk="1" hangingPunct="1">
              <a:lnSpc>
                <a:spcPct val="90000"/>
              </a:lnSpc>
            </a:pPr>
            <a:r>
              <a:rPr lang="en-US" altLang="zh-CN" sz="2800" b="1" dirty="0">
                <a:solidFill>
                  <a:srgbClr val="FF0000"/>
                </a:solidFill>
              </a:rPr>
              <a:t>Accessory proteins</a:t>
            </a:r>
            <a:r>
              <a:rPr lang="en-US" altLang="zh-CN" sz="2800" b="1" dirty="0"/>
              <a:t> include: </a:t>
            </a:r>
          </a:p>
          <a:p>
            <a:pPr lvl="1" eaLnBrk="1" hangingPunct="1">
              <a:lnSpc>
                <a:spcPct val="90000"/>
              </a:lnSpc>
            </a:pPr>
            <a:r>
              <a:rPr lang="en-US" altLang="zh-CN" b="1" dirty="0"/>
              <a:t>the </a:t>
            </a:r>
            <a:r>
              <a:rPr lang="en-US" altLang="zh-CN" b="1" dirty="0">
                <a:solidFill>
                  <a:srgbClr val="FF0066"/>
                </a:solidFill>
              </a:rPr>
              <a:t>helicase</a:t>
            </a:r>
            <a:r>
              <a:rPr lang="en-US" altLang="zh-CN" b="1" dirty="0">
                <a:solidFill>
                  <a:schemeClr val="accent2"/>
                </a:solidFill>
              </a:rPr>
              <a:t> (</a:t>
            </a:r>
            <a:r>
              <a:rPr lang="zh-CN" altLang="en-US" b="1" dirty="0">
                <a:solidFill>
                  <a:schemeClr val="accent2"/>
                </a:solidFill>
              </a:rPr>
              <a:t>解螺旋酶）</a:t>
            </a:r>
            <a:r>
              <a:rPr lang="en-US" altLang="zh-CN" b="1" dirty="0">
                <a:solidFill>
                  <a:schemeClr val="tx2"/>
                </a:solidFill>
              </a:rPr>
              <a:t>for</a:t>
            </a:r>
            <a:r>
              <a:rPr lang="en-US" altLang="zh-CN" b="1" dirty="0"/>
              <a:t> moving along the DNA and separating the two DNA strands using energy from ATP;</a:t>
            </a:r>
          </a:p>
          <a:p>
            <a:pPr lvl="1" eaLnBrk="1" hangingPunct="1">
              <a:lnSpc>
                <a:spcPct val="90000"/>
              </a:lnSpc>
            </a:pPr>
            <a:r>
              <a:rPr lang="en-US" altLang="zh-CN" b="1" dirty="0"/>
              <a:t>the </a:t>
            </a:r>
            <a:r>
              <a:rPr lang="en-US" altLang="zh-CN" b="1" dirty="0">
                <a:solidFill>
                  <a:srgbClr val="FF0000"/>
                </a:solidFill>
              </a:rPr>
              <a:t>single stranded DNA-binding (SSB) protein</a:t>
            </a:r>
            <a:r>
              <a:rPr lang="en-US" altLang="zh-CN" b="1" dirty="0"/>
              <a:t> for binding and stabilizing the single stranded DNA generated; </a:t>
            </a:r>
          </a:p>
        </p:txBody>
      </p:sp>
      <p:sp>
        <p:nvSpPr>
          <p:cNvPr id="3" name="文本框 2"/>
          <p:cNvSpPr txBox="1"/>
          <p:nvPr/>
        </p:nvSpPr>
        <p:spPr>
          <a:xfrm>
            <a:off x="539552" y="3068960"/>
            <a:ext cx="586408" cy="1703030"/>
          </a:xfrm>
          <a:prstGeom prst="rect">
            <a:avLst/>
          </a:prstGeom>
          <a:noFill/>
        </p:spPr>
        <p:txBody>
          <a:bodyPr wrap="square" rtlCol="0">
            <a:spAutoFit/>
          </a:bodyPr>
          <a:lstStyle/>
          <a:p>
            <a:r>
              <a:rPr lang="zh-CN" altLang="en-US" sz="2400" dirty="0"/>
              <a:t>①</a:t>
            </a:r>
            <a:endParaRPr lang="en-US" altLang="zh-CN" sz="2400" dirty="0"/>
          </a:p>
          <a:p>
            <a:pPr>
              <a:lnSpc>
                <a:spcPts val="1700"/>
              </a:lnSpc>
            </a:pPr>
            <a:endParaRPr lang="en-US" altLang="zh-CN" sz="2400" dirty="0"/>
          </a:p>
          <a:p>
            <a:pPr>
              <a:lnSpc>
                <a:spcPts val="1700"/>
              </a:lnSpc>
            </a:pPr>
            <a:endParaRPr lang="en-US" altLang="zh-CN" sz="2400" dirty="0"/>
          </a:p>
          <a:p>
            <a:pPr>
              <a:lnSpc>
                <a:spcPts val="1700"/>
              </a:lnSpc>
            </a:pPr>
            <a:endParaRPr lang="en-US" altLang="zh-CN" sz="2400" dirty="0"/>
          </a:p>
          <a:p>
            <a:pPr>
              <a:lnSpc>
                <a:spcPts val="1700"/>
              </a:lnSpc>
            </a:pPr>
            <a:endParaRPr lang="en-US" altLang="zh-CN" sz="2400" dirty="0"/>
          </a:p>
          <a:p>
            <a:r>
              <a:rPr lang="zh-CN" altLang="en-US" sz="2400" dirty="0"/>
              <a:t>②</a:t>
            </a:r>
          </a:p>
        </p:txBody>
      </p:sp>
    </p:spTree>
  </p:cSld>
  <p:clrMapOvr>
    <a:masterClrMapping/>
  </p:clrMapOvr>
  <p:transition>
    <p:zoom/>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idx="4294967295"/>
          </p:nvPr>
        </p:nvSpPr>
        <p:spPr>
          <a:xfrm>
            <a:off x="457200" y="-315416"/>
            <a:ext cx="8229600" cy="6552728"/>
          </a:xfrm>
          <a:prstGeom prst="rect">
            <a:avLst/>
          </a:prstGeom>
        </p:spPr>
        <p:txBody>
          <a:bodyPr/>
          <a:lstStyle/>
          <a:p>
            <a:pPr lvl="1" eaLnBrk="1" hangingPunct="1">
              <a:lnSpc>
                <a:spcPct val="90000"/>
              </a:lnSpc>
            </a:pPr>
            <a:endParaRPr lang="en-US" altLang="zh-CN" sz="2000" b="1" dirty="0"/>
          </a:p>
          <a:p>
            <a:pPr lvl="1" eaLnBrk="1" hangingPunct="1">
              <a:lnSpc>
                <a:spcPct val="110000"/>
              </a:lnSpc>
            </a:pPr>
            <a:r>
              <a:rPr lang="en-US" altLang="zh-CN" b="1" dirty="0"/>
              <a:t>the </a:t>
            </a:r>
            <a:r>
              <a:rPr lang="en-US" altLang="zh-CN" b="1" dirty="0">
                <a:solidFill>
                  <a:srgbClr val="FF0066"/>
                </a:solidFill>
              </a:rPr>
              <a:t>topoisomerases</a:t>
            </a:r>
            <a:r>
              <a:rPr lang="en-US" altLang="zh-CN" b="1" dirty="0">
                <a:solidFill>
                  <a:schemeClr val="accent2"/>
                </a:solidFill>
              </a:rPr>
              <a:t> </a:t>
            </a:r>
            <a:r>
              <a:rPr lang="zh-CN" altLang="en-US" b="1" dirty="0">
                <a:solidFill>
                  <a:schemeClr val="accent2"/>
                </a:solidFill>
              </a:rPr>
              <a:t>（拓扑异构酶）</a:t>
            </a:r>
            <a:r>
              <a:rPr lang="en-US" altLang="zh-CN" b="1" dirty="0"/>
              <a:t>for relieving topological (torsional) strains in the helical structure (positive supercoils) generated during strand separation; </a:t>
            </a:r>
          </a:p>
          <a:p>
            <a:pPr lvl="1" eaLnBrk="1" hangingPunct="1">
              <a:lnSpc>
                <a:spcPct val="110000"/>
              </a:lnSpc>
            </a:pPr>
            <a:r>
              <a:rPr lang="en-US" altLang="zh-CN" b="1" dirty="0"/>
              <a:t>the </a:t>
            </a:r>
            <a:r>
              <a:rPr lang="en-US" altLang="zh-CN" b="1" dirty="0">
                <a:solidFill>
                  <a:srgbClr val="FF0066"/>
                </a:solidFill>
              </a:rPr>
              <a:t>primase</a:t>
            </a:r>
            <a:r>
              <a:rPr lang="en-US" altLang="zh-CN" b="1" dirty="0"/>
              <a:t> for generating a short RNA primer; </a:t>
            </a:r>
            <a:endParaRPr lang="en-US" altLang="zh-CN" b="1" dirty="0">
              <a:solidFill>
                <a:schemeClr val="tx2"/>
              </a:solidFill>
            </a:endParaRPr>
          </a:p>
          <a:p>
            <a:pPr lvl="1" eaLnBrk="1" hangingPunct="1">
              <a:lnSpc>
                <a:spcPct val="110000"/>
              </a:lnSpc>
            </a:pPr>
            <a:r>
              <a:rPr lang="en-US" altLang="zh-CN" b="1" dirty="0">
                <a:solidFill>
                  <a:schemeClr val="tx2"/>
                </a:solidFill>
              </a:rPr>
              <a:t>the </a:t>
            </a:r>
            <a:r>
              <a:rPr lang="en-US" altLang="zh-CN" b="1" dirty="0">
                <a:solidFill>
                  <a:srgbClr val="FF0066"/>
                </a:solidFill>
              </a:rPr>
              <a:t>DNA polymerase III</a:t>
            </a:r>
            <a:r>
              <a:rPr lang="en-US" altLang="zh-CN" b="1" dirty="0"/>
              <a:t> for polymerizing and proofreading the nucleotides according to the templates;</a:t>
            </a:r>
          </a:p>
          <a:p>
            <a:pPr lvl="1" eaLnBrk="1" hangingPunct="1">
              <a:lnSpc>
                <a:spcPct val="110000"/>
              </a:lnSpc>
            </a:pPr>
            <a:r>
              <a:rPr lang="en-US" altLang="zh-CN" b="1" dirty="0"/>
              <a:t>the </a:t>
            </a:r>
            <a:r>
              <a:rPr lang="en-US" altLang="zh-CN" b="1" dirty="0">
                <a:solidFill>
                  <a:srgbClr val="FF0066"/>
                </a:solidFill>
              </a:rPr>
              <a:t>DNA polymerase I</a:t>
            </a:r>
            <a:r>
              <a:rPr lang="en-US" altLang="zh-CN" b="1" dirty="0"/>
              <a:t> for removing the RNA primers and replacing by a DNA sequence;</a:t>
            </a:r>
          </a:p>
          <a:p>
            <a:pPr lvl="1" eaLnBrk="1" hangingPunct="1">
              <a:lnSpc>
                <a:spcPct val="110000"/>
              </a:lnSpc>
            </a:pPr>
            <a:r>
              <a:rPr lang="en-US" altLang="zh-CN" b="1" dirty="0"/>
              <a:t>the </a:t>
            </a:r>
            <a:r>
              <a:rPr lang="en-US" altLang="zh-CN" b="1" dirty="0">
                <a:solidFill>
                  <a:srgbClr val="FF0066"/>
                </a:solidFill>
              </a:rPr>
              <a:t>DNA ligase</a:t>
            </a:r>
            <a:r>
              <a:rPr lang="en-US" altLang="zh-CN" b="1" dirty="0"/>
              <a:t> for sealing nicks between the Okazaki fragments.</a:t>
            </a:r>
          </a:p>
        </p:txBody>
      </p:sp>
      <p:sp>
        <p:nvSpPr>
          <p:cNvPr id="2" name="矩形 1"/>
          <p:cNvSpPr/>
          <p:nvPr/>
        </p:nvSpPr>
        <p:spPr>
          <a:xfrm>
            <a:off x="539552" y="116632"/>
            <a:ext cx="511607" cy="5452775"/>
          </a:xfrm>
          <a:prstGeom prst="rect">
            <a:avLst/>
          </a:prstGeom>
        </p:spPr>
        <p:txBody>
          <a:bodyPr wrap="square">
            <a:spAutoFit/>
          </a:bodyPr>
          <a:lstStyle/>
          <a:p>
            <a:r>
              <a:rPr lang="zh-CN" altLang="en-US" sz="2400" dirty="0"/>
              <a:t>③</a:t>
            </a:r>
            <a:endParaRPr lang="en-US" altLang="zh-CN" sz="2400" dirty="0"/>
          </a:p>
          <a:p>
            <a:pPr>
              <a:lnSpc>
                <a:spcPct val="150000"/>
              </a:lnSpc>
            </a:pPr>
            <a:endParaRPr lang="en-US" altLang="zh-CN" sz="2400" dirty="0"/>
          </a:p>
          <a:p>
            <a:pPr>
              <a:lnSpc>
                <a:spcPct val="150000"/>
              </a:lnSpc>
            </a:pPr>
            <a:endParaRPr lang="en-US" altLang="zh-CN" sz="2400" dirty="0"/>
          </a:p>
          <a:p>
            <a:pPr>
              <a:lnSpc>
                <a:spcPct val="150000"/>
              </a:lnSpc>
            </a:pPr>
            <a:endParaRPr lang="en-US" altLang="zh-CN" sz="2400" dirty="0"/>
          </a:p>
          <a:p>
            <a:r>
              <a:rPr lang="zh-CN" altLang="en-US" sz="2400" dirty="0"/>
              <a:t>④</a:t>
            </a:r>
            <a:endParaRPr lang="en-US" altLang="zh-CN" sz="2400" dirty="0"/>
          </a:p>
          <a:p>
            <a:pPr>
              <a:lnSpc>
                <a:spcPts val="4200"/>
              </a:lnSpc>
            </a:pPr>
            <a:r>
              <a:rPr lang="zh-CN" altLang="en-US" sz="2400" dirty="0"/>
              <a:t>⑤</a:t>
            </a:r>
            <a:endParaRPr lang="en-US" altLang="zh-CN" sz="2400" dirty="0"/>
          </a:p>
          <a:p>
            <a:endParaRPr lang="en-US" altLang="zh-CN" sz="2400" dirty="0"/>
          </a:p>
          <a:p>
            <a:endParaRPr lang="en-US" altLang="zh-CN" sz="2400" dirty="0"/>
          </a:p>
          <a:p>
            <a:endParaRPr lang="en-US" altLang="zh-CN" sz="2400" dirty="0"/>
          </a:p>
          <a:p>
            <a:r>
              <a:rPr lang="zh-CN" altLang="en-US" sz="2400" dirty="0"/>
              <a:t>⑥</a:t>
            </a:r>
            <a:endParaRPr lang="en-US" altLang="zh-CN" sz="2400" dirty="0"/>
          </a:p>
          <a:p>
            <a:endParaRPr lang="en-US" altLang="zh-CN" sz="2400" dirty="0"/>
          </a:p>
          <a:p>
            <a:pPr>
              <a:lnSpc>
                <a:spcPts val="1900"/>
              </a:lnSpc>
            </a:pPr>
            <a:endParaRPr lang="en-US" altLang="zh-CN" sz="2400" dirty="0"/>
          </a:p>
          <a:p>
            <a:r>
              <a:rPr lang="zh-CN" altLang="en-US" sz="2400" dirty="0"/>
              <a:t>⑦</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0402" name="Picture 2" descr="f25-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69863"/>
            <a:ext cx="8915400" cy="660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0403" name="Rectangle 3"/>
          <p:cNvSpPr>
            <a:spLocks noChangeArrowheads="1"/>
          </p:cNvSpPr>
          <p:nvPr/>
        </p:nvSpPr>
        <p:spPr bwMode="auto">
          <a:xfrm>
            <a:off x="76200" y="1981200"/>
            <a:ext cx="2286000" cy="1371600"/>
          </a:xfrm>
          <a:prstGeom prst="rect">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0404" name="Rectangle 4"/>
          <p:cNvSpPr>
            <a:spLocks noChangeArrowheads="1"/>
          </p:cNvSpPr>
          <p:nvPr/>
        </p:nvSpPr>
        <p:spPr bwMode="auto">
          <a:xfrm>
            <a:off x="155575" y="1965325"/>
            <a:ext cx="220662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solidFill>
                  <a:srgbClr val="FFFF00"/>
                </a:solidFill>
              </a:rPr>
              <a:t>RNA primers are</a:t>
            </a:r>
          </a:p>
          <a:p>
            <a:pPr>
              <a:spcBef>
                <a:spcPct val="0"/>
              </a:spcBef>
              <a:buFontTx/>
              <a:buNone/>
            </a:pPr>
            <a:r>
              <a:rPr lang="en-US" altLang="zh-CN" sz="2000" b="1">
                <a:solidFill>
                  <a:srgbClr val="FFFF00"/>
                </a:solidFill>
              </a:rPr>
              <a:t>repeatedly formed</a:t>
            </a:r>
          </a:p>
          <a:p>
            <a:pPr>
              <a:spcBef>
                <a:spcPct val="0"/>
              </a:spcBef>
              <a:buFontTx/>
              <a:buNone/>
            </a:pPr>
            <a:r>
              <a:rPr lang="en-US" altLang="zh-CN" sz="2000" b="1">
                <a:solidFill>
                  <a:srgbClr val="FFFF00"/>
                </a:solidFill>
              </a:rPr>
              <a:t>by the primase on </a:t>
            </a:r>
          </a:p>
          <a:p>
            <a:pPr>
              <a:spcBef>
                <a:spcPct val="0"/>
              </a:spcBef>
              <a:buFontTx/>
              <a:buNone/>
            </a:pPr>
            <a:r>
              <a:rPr lang="en-US" altLang="zh-CN" sz="2000" b="1">
                <a:solidFill>
                  <a:srgbClr val="FFFF00"/>
                </a:solidFill>
              </a:rPr>
              <a:t>the lagging strand.</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1426" name="Picture 2" descr="f25-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1427" name="Rectangle 3"/>
          <p:cNvSpPr>
            <a:spLocks noChangeArrowheads="1"/>
          </p:cNvSpPr>
          <p:nvPr/>
        </p:nvSpPr>
        <p:spPr bwMode="auto">
          <a:xfrm>
            <a:off x="0" y="0"/>
            <a:ext cx="5562600" cy="914400"/>
          </a:xfrm>
          <a:prstGeom prst="rect">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1428" name="Rectangle 4"/>
          <p:cNvSpPr>
            <a:spLocks noChangeArrowheads="1"/>
          </p:cNvSpPr>
          <p:nvPr/>
        </p:nvSpPr>
        <p:spPr bwMode="auto">
          <a:xfrm>
            <a:off x="0" y="0"/>
            <a:ext cx="54244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solidFill>
                  <a:srgbClr val="FFFF00"/>
                </a:solidFill>
              </a:rPr>
              <a:t>DNA polymerase I replaces the RNA primers by</a:t>
            </a:r>
          </a:p>
          <a:p>
            <a:pPr>
              <a:spcBef>
                <a:spcPct val="0"/>
              </a:spcBef>
              <a:buFontTx/>
              <a:buNone/>
            </a:pPr>
            <a:r>
              <a:rPr lang="en-US" altLang="zh-CN" sz="2000" b="1">
                <a:solidFill>
                  <a:srgbClr val="FFFF00"/>
                </a:solidFill>
              </a:rPr>
              <a:t>DNA sequences and DNA ligase seals the nicks</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2450" name="Picture 2" descr="f25-16"/>
          <p:cNvPicPr>
            <a:picLocks noChangeAspect="1" noChangeArrowheads="1"/>
          </p:cNvPicPr>
          <p:nvPr/>
        </p:nvPicPr>
        <p:blipFill>
          <a:blip r:embed="rId3" cstate="print">
            <a:lum bright="-30000" contrast="60000"/>
            <a:extLst>
              <a:ext uri="{28A0092B-C50C-407E-A947-70E740481C1C}">
                <a14:useLocalDpi xmlns:a14="http://schemas.microsoft.com/office/drawing/2010/main" val="0"/>
              </a:ext>
            </a:extLst>
          </a:blip>
          <a:srcRect/>
          <a:stretch>
            <a:fillRect/>
          </a:stretch>
        </p:blipFill>
        <p:spPr bwMode="auto">
          <a:xfrm>
            <a:off x="0" y="19050"/>
            <a:ext cx="6019800" cy="569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2451" name="Picture 3" descr="f25-16b"/>
          <p:cNvPicPr>
            <a:picLocks noChangeAspect="1" noChangeArrowheads="1"/>
          </p:cNvPicPr>
          <p:nvPr/>
        </p:nvPicPr>
        <p:blipFill>
          <a:blip r:embed="rId4" cstate="print">
            <a:lum bright="-24000" contrast="48000"/>
            <a:extLst>
              <a:ext uri="{28A0092B-C50C-407E-A947-70E740481C1C}">
                <a14:useLocalDpi xmlns:a14="http://schemas.microsoft.com/office/drawing/2010/main" val="0"/>
              </a:ext>
            </a:extLst>
          </a:blip>
          <a:srcRect/>
          <a:stretch>
            <a:fillRect/>
          </a:stretch>
        </p:blipFill>
        <p:spPr bwMode="auto">
          <a:xfrm>
            <a:off x="5334000" y="2362200"/>
            <a:ext cx="3810000" cy="333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2452" name="Rectangle 4"/>
          <p:cNvSpPr>
            <a:spLocks noChangeArrowheads="1"/>
          </p:cNvSpPr>
          <p:nvPr/>
        </p:nvSpPr>
        <p:spPr bwMode="auto">
          <a:xfrm>
            <a:off x="5334000" y="0"/>
            <a:ext cx="3810000" cy="2514600"/>
          </a:xfrm>
          <a:prstGeom prst="rect">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2453" name="Rectangle 5"/>
          <p:cNvSpPr>
            <a:spLocks noChangeArrowheads="1"/>
          </p:cNvSpPr>
          <p:nvPr/>
        </p:nvSpPr>
        <p:spPr bwMode="auto">
          <a:xfrm>
            <a:off x="5283200" y="11113"/>
            <a:ext cx="3867150"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600" b="1">
                <a:solidFill>
                  <a:srgbClr val="FFFF00"/>
                </a:solidFill>
              </a:rPr>
              <a:t>DNA ligase  first transfers</a:t>
            </a:r>
          </a:p>
          <a:p>
            <a:pPr>
              <a:spcBef>
                <a:spcPct val="0"/>
              </a:spcBef>
              <a:buFontTx/>
              <a:buNone/>
            </a:pPr>
            <a:r>
              <a:rPr lang="en-US" altLang="zh-CN" sz="2600" b="1">
                <a:solidFill>
                  <a:srgbClr val="FFFF00"/>
                </a:solidFill>
              </a:rPr>
              <a:t>an AMP moiety to the 5`</a:t>
            </a:r>
          </a:p>
          <a:p>
            <a:pPr>
              <a:spcBef>
                <a:spcPct val="0"/>
              </a:spcBef>
              <a:buFontTx/>
              <a:buNone/>
            </a:pPr>
            <a:r>
              <a:rPr lang="en-US" altLang="zh-CN" sz="2600" b="1">
                <a:solidFill>
                  <a:srgbClr val="FFFF00"/>
                </a:solidFill>
              </a:rPr>
              <a:t>phosphate group (from </a:t>
            </a:r>
          </a:p>
          <a:p>
            <a:pPr>
              <a:spcBef>
                <a:spcPct val="0"/>
              </a:spcBef>
              <a:buFontTx/>
              <a:buNone/>
            </a:pPr>
            <a:r>
              <a:rPr lang="en-US" altLang="zh-CN" sz="2600" b="1">
                <a:solidFill>
                  <a:srgbClr val="FFFF00"/>
                </a:solidFill>
              </a:rPr>
              <a:t>NAD</a:t>
            </a:r>
            <a:r>
              <a:rPr lang="en-US" altLang="zh-CN" sz="2600" b="1" baseline="30000">
                <a:solidFill>
                  <a:srgbClr val="FFFF00"/>
                </a:solidFill>
              </a:rPr>
              <a:t>+</a:t>
            </a:r>
            <a:r>
              <a:rPr lang="en-US" altLang="zh-CN" sz="2600" b="1">
                <a:solidFill>
                  <a:srgbClr val="FFFF00"/>
                </a:solidFill>
              </a:rPr>
              <a:t> or ATP) before</a:t>
            </a:r>
          </a:p>
          <a:p>
            <a:pPr>
              <a:spcBef>
                <a:spcPct val="0"/>
              </a:spcBef>
              <a:buFontTx/>
              <a:buNone/>
            </a:pPr>
            <a:r>
              <a:rPr lang="en-US" altLang="zh-CN" sz="2600" b="1">
                <a:solidFill>
                  <a:srgbClr val="FFFF00"/>
                </a:solidFill>
              </a:rPr>
              <a:t>making a phosphodiester</a:t>
            </a:r>
          </a:p>
          <a:p>
            <a:pPr>
              <a:spcBef>
                <a:spcPct val="0"/>
              </a:spcBef>
              <a:buFontTx/>
              <a:buNone/>
            </a:pPr>
            <a:r>
              <a:rPr lang="en-US" altLang="zh-CN" sz="2600" b="1">
                <a:solidFill>
                  <a:srgbClr val="FFFF00"/>
                </a:solidFill>
              </a:rPr>
              <a:t>bond.</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lnSpc>
                <a:spcPct val="80000"/>
              </a:lnSpc>
            </a:pPr>
            <a:r>
              <a:rPr lang="en-US" altLang="zh-CN" sz="4000" b="1" dirty="0">
                <a:solidFill>
                  <a:srgbClr val="FF0000"/>
                </a:solidFill>
              </a:rPr>
              <a:t>12. DNA replication in eukaryotic cells use essentially the same principles but more complex in the details (F4)</a:t>
            </a:r>
          </a:p>
        </p:txBody>
      </p:sp>
      <p:sp>
        <p:nvSpPr>
          <p:cNvPr id="234499" name="Rectangle 3"/>
          <p:cNvSpPr>
            <a:spLocks noGrp="1" noChangeArrowheads="1"/>
          </p:cNvSpPr>
          <p:nvPr>
            <p:ph idx="4294967295"/>
          </p:nvPr>
        </p:nvSpPr>
        <p:spPr>
          <a:xfrm>
            <a:off x="457200" y="1600200"/>
            <a:ext cx="8229600" cy="4525963"/>
          </a:xfrm>
          <a:prstGeom prst="rect">
            <a:avLst/>
          </a:prstGeom>
          <a:noFill/>
        </p:spPr>
        <p:txBody>
          <a:bodyPr/>
          <a:lstStyle/>
          <a:p>
            <a:pPr eaLnBrk="1" hangingPunct="1"/>
            <a:endParaRPr lang="en-US" altLang="zh-CN" b="1" dirty="0"/>
          </a:p>
          <a:p>
            <a:pPr eaLnBrk="1" hangingPunct="1"/>
            <a:r>
              <a:rPr lang="en-US" altLang="zh-CN" b="1" dirty="0"/>
              <a:t>The rate of DNA synthesis in eukaryotic cells is about </a:t>
            </a:r>
            <a:r>
              <a:rPr lang="en-US" altLang="zh-CN" b="1" dirty="0">
                <a:solidFill>
                  <a:srgbClr val="FF0000"/>
                </a:solidFill>
              </a:rPr>
              <a:t>one tenth </a:t>
            </a:r>
            <a:r>
              <a:rPr lang="en-US" altLang="zh-CN" b="1" dirty="0"/>
              <a:t>of that of the </a:t>
            </a:r>
            <a:r>
              <a:rPr lang="en-US" altLang="zh-CN" b="1" i="1" dirty="0"/>
              <a:t>E.coli</a:t>
            </a:r>
            <a:r>
              <a:rPr lang="en-US" altLang="zh-CN" b="1" dirty="0"/>
              <a:t> cells.</a:t>
            </a:r>
          </a:p>
          <a:p>
            <a:pPr eaLnBrk="1" hangingPunct="1"/>
            <a:r>
              <a:rPr lang="en-US" altLang="zh-CN" b="1" dirty="0"/>
              <a:t>Replication in the eukaryotic genomes begin at </a:t>
            </a:r>
            <a:r>
              <a:rPr lang="en-US" altLang="zh-CN" b="1" dirty="0">
                <a:solidFill>
                  <a:srgbClr val="FF0000"/>
                </a:solidFill>
              </a:rPr>
              <a:t>many replication origins</a:t>
            </a:r>
            <a:r>
              <a:rPr lang="en-US" altLang="zh-CN" b="1" dirty="0"/>
              <a:t>.</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l="9000" t="9334" r="9000" b="6667"/>
          <a:stretch>
            <a:fillRect/>
          </a:stretch>
        </p:blipFill>
        <p:spPr bwMode="auto">
          <a:xfrm>
            <a:off x="2590800" y="228600"/>
            <a:ext cx="6248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23" name="Text Box 3"/>
          <p:cNvSpPr txBox="1">
            <a:spLocks noChangeArrowheads="1"/>
          </p:cNvSpPr>
          <p:nvPr/>
        </p:nvSpPr>
        <p:spPr bwMode="auto">
          <a:xfrm>
            <a:off x="304800" y="4941168"/>
            <a:ext cx="88392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400" b="1" dirty="0"/>
              <a:t>In eukaryotes, the cell  cycle consists of G</a:t>
            </a:r>
            <a:r>
              <a:rPr lang="en-US" altLang="zh-CN" sz="2400" b="1" baseline="-25000" dirty="0"/>
              <a:t>1</a:t>
            </a:r>
            <a:r>
              <a:rPr lang="en-US" altLang="zh-CN" sz="2400" b="1" dirty="0"/>
              <a:t>, S, G</a:t>
            </a:r>
            <a:r>
              <a:rPr lang="en-US" altLang="zh-CN" sz="2400" b="1" baseline="-25000" dirty="0"/>
              <a:t>2</a:t>
            </a:r>
            <a:r>
              <a:rPr lang="en-US" altLang="zh-CN" sz="2400" b="1" dirty="0"/>
              <a:t> and M phases. Quiescent cells are said to be in G</a:t>
            </a:r>
            <a:r>
              <a:rPr lang="en-US" altLang="zh-CN" sz="2400" b="1" baseline="-25000" dirty="0"/>
              <a:t>0</a:t>
            </a:r>
            <a:r>
              <a:rPr lang="en-US" altLang="zh-CN" sz="2400" b="1" dirty="0"/>
              <a:t> phase.</a:t>
            </a:r>
          </a:p>
          <a:p>
            <a:pPr>
              <a:spcBef>
                <a:spcPct val="50000"/>
              </a:spcBef>
              <a:buFontTx/>
              <a:buNone/>
            </a:pPr>
            <a:r>
              <a:rPr lang="en-US" altLang="zh-CN" sz="2400" b="1" dirty="0"/>
              <a:t>                         G (gap);   S (synthesis);   M (mitosis)</a:t>
            </a:r>
          </a:p>
        </p:txBody>
      </p:sp>
      <p:sp>
        <p:nvSpPr>
          <p:cNvPr id="235524" name="Text Box 4"/>
          <p:cNvSpPr txBox="1">
            <a:spLocks noChangeArrowheads="1"/>
          </p:cNvSpPr>
          <p:nvPr/>
        </p:nvSpPr>
        <p:spPr bwMode="auto">
          <a:xfrm>
            <a:off x="0" y="304800"/>
            <a:ext cx="2971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b="1">
                <a:solidFill>
                  <a:srgbClr val="FF0000"/>
                </a:solidFill>
              </a:rPr>
              <a:t>12.1 Cell cycle</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654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l="9000" t="9000" r="9000" b="9000"/>
          <a:stretch>
            <a:fillRect/>
          </a:stretch>
        </p:blipFill>
        <p:spPr bwMode="auto">
          <a:xfrm>
            <a:off x="990600" y="533400"/>
            <a:ext cx="7467600"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75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l="8000" t="12666" r="8000" b="18001"/>
          <a:stretch>
            <a:fillRect/>
          </a:stretch>
        </p:blipFill>
        <p:spPr bwMode="auto">
          <a:xfrm>
            <a:off x="685800" y="457200"/>
            <a:ext cx="7848600" cy="485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59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l="6000" t="11333" r="9000" b="16667"/>
          <a:stretch>
            <a:fillRect/>
          </a:stretch>
        </p:blipFill>
        <p:spPr bwMode="auto">
          <a:xfrm>
            <a:off x="533400" y="304800"/>
            <a:ext cx="8001000"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62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l="8000" t="12666" r="8000" b="18001"/>
          <a:stretch>
            <a:fillRect/>
          </a:stretch>
        </p:blipFill>
        <p:spPr bwMode="auto">
          <a:xfrm>
            <a:off x="990600" y="533400"/>
            <a:ext cx="7620000" cy="471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064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l="8000" t="10001" r="8000" b="17999"/>
          <a:stretch>
            <a:fillRect/>
          </a:stretch>
        </p:blipFill>
        <p:spPr bwMode="auto">
          <a:xfrm>
            <a:off x="1295400" y="381000"/>
            <a:ext cx="7086600" cy="455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0643" name="Text Box 3"/>
          <p:cNvSpPr txBox="1">
            <a:spLocks noChangeArrowheads="1"/>
          </p:cNvSpPr>
          <p:nvPr/>
        </p:nvSpPr>
        <p:spPr bwMode="auto">
          <a:xfrm>
            <a:off x="609600" y="5105400"/>
            <a:ext cx="7924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a:t>Mitosis and cell division occur in the M phase which lasts for only about 1 h.</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Text Box 2"/>
          <p:cNvSpPr txBox="1">
            <a:spLocks noChangeArrowheads="1"/>
          </p:cNvSpPr>
          <p:nvPr/>
        </p:nvSpPr>
        <p:spPr bwMode="auto">
          <a:xfrm>
            <a:off x="914400" y="685800"/>
            <a:ext cx="601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endParaRPr lang="zh-CN" altLang="zh-CN" sz="2400"/>
          </a:p>
        </p:txBody>
      </p:sp>
      <p:sp>
        <p:nvSpPr>
          <p:cNvPr id="241667" name="Text Box 3"/>
          <p:cNvSpPr txBox="1">
            <a:spLocks noChangeArrowheads="1"/>
          </p:cNvSpPr>
          <p:nvPr/>
        </p:nvSpPr>
        <p:spPr bwMode="auto">
          <a:xfrm>
            <a:off x="0" y="304800"/>
            <a:ext cx="7924800"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800" b="1">
                <a:solidFill>
                  <a:srgbClr val="FF0000"/>
                </a:solidFill>
              </a:rPr>
              <a:t>12.2  DNA replication occurs only in the S phase.</a:t>
            </a:r>
          </a:p>
          <a:p>
            <a:pPr>
              <a:spcBef>
                <a:spcPct val="50000"/>
              </a:spcBef>
              <a:buFontTx/>
              <a:buNone/>
            </a:pPr>
            <a:r>
              <a:rPr lang="en-US" altLang="zh-CN" sz="2800"/>
              <a:t>   many chromosomal origins (multiple replicons);   </a:t>
            </a:r>
          </a:p>
          <a:p>
            <a:pPr>
              <a:spcBef>
                <a:spcPct val="50000"/>
              </a:spcBef>
              <a:buFontTx/>
              <a:buNone/>
            </a:pPr>
            <a:r>
              <a:rPr lang="en-US" altLang="zh-CN" sz="2800"/>
              <a:t>    bi-directional;  semi-conservative</a:t>
            </a:r>
          </a:p>
        </p:txBody>
      </p:sp>
      <p:pic>
        <p:nvPicPr>
          <p:cNvPr id="24166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t="10667" b="10666"/>
          <a:stretch>
            <a:fillRect/>
          </a:stretch>
        </p:blipFill>
        <p:spPr bwMode="auto">
          <a:xfrm>
            <a:off x="685800" y="2133600"/>
            <a:ext cx="76200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1669" name="Text Box 5"/>
          <p:cNvSpPr txBox="1">
            <a:spLocks noChangeArrowheads="1"/>
          </p:cNvSpPr>
          <p:nvPr/>
        </p:nvSpPr>
        <p:spPr bwMode="auto">
          <a:xfrm>
            <a:off x="7543800" y="1752600"/>
            <a:ext cx="1600200" cy="8223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400"/>
              <a:t>Replication bubble</a:t>
            </a:r>
          </a:p>
        </p:txBody>
      </p:sp>
      <p:sp>
        <p:nvSpPr>
          <p:cNvPr id="241670" name="Line 6"/>
          <p:cNvSpPr>
            <a:spLocks noChangeShapeType="1"/>
          </p:cNvSpPr>
          <p:nvPr/>
        </p:nvSpPr>
        <p:spPr bwMode="auto">
          <a:xfrm flipV="1">
            <a:off x="6858000" y="2514600"/>
            <a:ext cx="1447800" cy="1066800"/>
          </a:xfrm>
          <a:prstGeom prst="line">
            <a:avLst/>
          </a:prstGeom>
          <a:noFill/>
          <a:ln w="28575">
            <a:solidFill>
              <a:schemeClr val="bg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Text Box 2"/>
          <p:cNvSpPr txBox="1">
            <a:spLocks noChangeArrowheads="1"/>
          </p:cNvSpPr>
          <p:nvPr/>
        </p:nvSpPr>
        <p:spPr bwMode="auto">
          <a:xfrm>
            <a:off x="533400" y="304800"/>
            <a:ext cx="8153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800" b="1">
                <a:solidFill>
                  <a:srgbClr val="FF0000"/>
                </a:solidFill>
              </a:rPr>
              <a:t>12.3 Eukaryotic cells contain five different DNA polymerases</a:t>
            </a:r>
          </a:p>
        </p:txBody>
      </p:sp>
      <p:sp>
        <p:nvSpPr>
          <p:cNvPr id="242691" name="Text Box 3"/>
          <p:cNvSpPr txBox="1">
            <a:spLocks noChangeArrowheads="1"/>
          </p:cNvSpPr>
          <p:nvPr/>
        </p:nvSpPr>
        <p:spPr bwMode="auto">
          <a:xfrm>
            <a:off x="685800" y="1752600"/>
            <a:ext cx="815340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buFontTx/>
              <a:buNone/>
            </a:pPr>
            <a:r>
              <a:rPr lang="en-US" altLang="zh-CN" sz="2800" b="1"/>
              <a:t>DNA polymerases </a:t>
            </a:r>
            <a:r>
              <a:rPr lang="en-US" altLang="zh-CN" sz="2800" b="1">
                <a:solidFill>
                  <a:srgbClr val="FF0000"/>
                </a:solidFill>
                <a:sym typeface="Symbol" panose="05050102010706020507" pitchFamily="18" charset="2"/>
              </a:rPr>
              <a:t> </a:t>
            </a:r>
            <a:r>
              <a:rPr lang="en-US" altLang="zh-CN" sz="2800" b="1">
                <a:solidFill>
                  <a:srgbClr val="FF0000"/>
                </a:solidFill>
              </a:rPr>
              <a:t>and </a:t>
            </a:r>
            <a:r>
              <a:rPr lang="en-US" altLang="zh-CN" sz="2800" b="1">
                <a:solidFill>
                  <a:srgbClr val="FF0000"/>
                </a:solidFill>
                <a:sym typeface="Symbol" panose="05050102010706020507" pitchFamily="18" charset="2"/>
              </a:rPr>
              <a:t></a:t>
            </a:r>
            <a:r>
              <a:rPr lang="en-US" altLang="zh-CN" sz="2800" b="1"/>
              <a:t> replicate chromosomal DNA</a:t>
            </a:r>
          </a:p>
          <a:p>
            <a:pPr>
              <a:lnSpc>
                <a:spcPct val="120000"/>
              </a:lnSpc>
              <a:spcBef>
                <a:spcPct val="50000"/>
              </a:spcBef>
              <a:buFontTx/>
              <a:buNone/>
            </a:pPr>
            <a:r>
              <a:rPr lang="en-US" altLang="zh-CN" sz="2800" b="1"/>
              <a:t> DNA polymerases </a:t>
            </a:r>
            <a:r>
              <a:rPr lang="en-US" altLang="zh-CN" sz="2800" b="1">
                <a:solidFill>
                  <a:srgbClr val="FF0000"/>
                </a:solidFill>
                <a:sym typeface="Symbol" panose="05050102010706020507" pitchFamily="18" charset="2"/>
              </a:rPr>
              <a:t></a:t>
            </a:r>
            <a:r>
              <a:rPr lang="en-US" altLang="zh-CN" sz="2800" b="1">
                <a:solidFill>
                  <a:srgbClr val="FF0000"/>
                </a:solidFill>
              </a:rPr>
              <a:t> and </a:t>
            </a:r>
            <a:r>
              <a:rPr lang="en-US" altLang="zh-CN" sz="2800" b="1">
                <a:solidFill>
                  <a:srgbClr val="FF0000"/>
                </a:solidFill>
                <a:sym typeface="Symbol" panose="05050102010706020507" pitchFamily="18" charset="2"/>
              </a:rPr>
              <a:t></a:t>
            </a:r>
            <a:r>
              <a:rPr lang="en-US" altLang="zh-CN" sz="2800" b="1"/>
              <a:t> repair DNA</a:t>
            </a:r>
          </a:p>
          <a:p>
            <a:pPr>
              <a:lnSpc>
                <a:spcPct val="120000"/>
              </a:lnSpc>
              <a:spcBef>
                <a:spcPct val="50000"/>
              </a:spcBef>
              <a:buFontTx/>
              <a:buNone/>
            </a:pPr>
            <a:r>
              <a:rPr lang="en-US" altLang="zh-CN" sz="2800" b="1"/>
              <a:t> DNA polymerase </a:t>
            </a:r>
            <a:r>
              <a:rPr lang="en-US" altLang="zh-CN" sz="2800" b="1">
                <a:solidFill>
                  <a:srgbClr val="FF0000"/>
                </a:solidFill>
                <a:sym typeface="Symbol" panose="05050102010706020507" pitchFamily="18" charset="2"/>
              </a:rPr>
              <a:t></a:t>
            </a:r>
            <a:r>
              <a:rPr lang="en-US" altLang="zh-CN" sz="2800" b="1"/>
              <a:t> replicates mitochondral DNA.</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Text Box 2"/>
          <p:cNvSpPr txBox="1">
            <a:spLocks noChangeArrowheads="1"/>
          </p:cNvSpPr>
          <p:nvPr/>
        </p:nvSpPr>
        <p:spPr bwMode="auto">
          <a:xfrm>
            <a:off x="0" y="533400"/>
            <a:ext cx="800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800" b="1" dirty="0">
                <a:solidFill>
                  <a:srgbClr val="FF0000"/>
                </a:solidFill>
              </a:rPr>
              <a:t>12.4  Telomere replication (</a:t>
            </a:r>
            <a:r>
              <a:rPr lang="zh-CN" altLang="en-US" sz="2800" b="1" dirty="0">
                <a:solidFill>
                  <a:srgbClr val="FF0000"/>
                </a:solidFill>
              </a:rPr>
              <a:t>端粒复制）</a:t>
            </a:r>
          </a:p>
        </p:txBody>
      </p:sp>
      <p:sp>
        <p:nvSpPr>
          <p:cNvPr id="243715" name="Text Box 3"/>
          <p:cNvSpPr txBox="1">
            <a:spLocks noChangeArrowheads="1"/>
          </p:cNvSpPr>
          <p:nvPr/>
        </p:nvSpPr>
        <p:spPr bwMode="auto">
          <a:xfrm>
            <a:off x="228600" y="1340768"/>
            <a:ext cx="8534400"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30000"/>
              </a:lnSpc>
              <a:spcBef>
                <a:spcPct val="50000"/>
              </a:spcBef>
              <a:buFontTx/>
              <a:buNone/>
            </a:pPr>
            <a:r>
              <a:rPr lang="en-US" altLang="zh-CN" sz="2800" b="1" dirty="0"/>
              <a:t>Different with the circular DNA in bacteria, eukaryotic DNA is a linear molecule. According to the mechanism of replication, the  3’ end of  lagging chain is not replicated. This creates a gap at the end of the chromosome and therefore a shortening of the double-stranded replicated portion. In many organisms the solution is to use an enzyme called </a:t>
            </a:r>
            <a:r>
              <a:rPr lang="en-US" altLang="zh-CN" sz="2800" b="1" dirty="0">
                <a:solidFill>
                  <a:srgbClr val="FF0000"/>
                </a:solidFill>
              </a:rPr>
              <a:t>telomerase</a:t>
            </a:r>
            <a:r>
              <a:rPr lang="en-US" altLang="zh-CN" sz="2800" b="1" dirty="0"/>
              <a:t> (</a:t>
            </a:r>
            <a:r>
              <a:rPr lang="zh-CN" altLang="en-US" sz="2800" b="1" dirty="0"/>
              <a:t>端粒酶）</a:t>
            </a:r>
            <a:r>
              <a:rPr lang="en-US" altLang="zh-CN" sz="2800" b="1" dirty="0"/>
              <a:t>to replicate the chromosome ends (</a:t>
            </a:r>
            <a:r>
              <a:rPr lang="en-US" altLang="zh-CN" sz="2800" b="1" dirty="0">
                <a:solidFill>
                  <a:srgbClr val="FF0000"/>
                </a:solidFill>
              </a:rPr>
              <a:t>telomeres</a:t>
            </a:r>
            <a:r>
              <a:rPr lang="en-US" altLang="zh-CN" sz="2800" b="1" dirty="0"/>
              <a:t>).</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4738" name="Picture 2" descr="f25-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219200"/>
            <a:ext cx="9144000" cy="441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3" name="Text Box 3"/>
          <p:cNvSpPr txBox="1">
            <a:spLocks noChangeArrowheads="1"/>
          </p:cNvSpPr>
          <p:nvPr/>
        </p:nvSpPr>
        <p:spPr bwMode="auto">
          <a:xfrm>
            <a:off x="5940152" y="762000"/>
            <a:ext cx="2822848" cy="5217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buFontTx/>
              <a:buNone/>
            </a:pPr>
            <a:r>
              <a:rPr lang="en-US" altLang="zh-CN" sz="2800" dirty="0"/>
              <a:t>Telomerase, a DNA polymerase that contains an integral RNA that acts as its own primer, is used to replicate DNA at the ends of chromosomes (telomeres).</a:t>
            </a:r>
          </a:p>
        </p:txBody>
      </p:sp>
      <p:pic>
        <p:nvPicPr>
          <p:cNvPr id="2" name="图片 1"/>
          <p:cNvPicPr>
            <a:picLocks noChangeAspect="1"/>
          </p:cNvPicPr>
          <p:nvPr/>
        </p:nvPicPr>
        <p:blipFill rotWithShape="1">
          <a:blip r:embed="rId2"/>
          <a:srcRect b="47900"/>
          <a:stretch>
            <a:fillRect/>
          </a:stretch>
        </p:blipFill>
        <p:spPr>
          <a:xfrm>
            <a:off x="48126" y="762000"/>
            <a:ext cx="5760640" cy="5056213"/>
          </a:xfrm>
          <a:prstGeom prst="rect">
            <a:avLst/>
          </a:prstGeom>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t="42650"/>
          <a:stretch>
            <a:fillRect/>
          </a:stretch>
        </p:blipFill>
        <p:spPr>
          <a:xfrm>
            <a:off x="971600" y="201215"/>
            <a:ext cx="6912768" cy="6678852"/>
          </a:xfrm>
          <a:prstGeom prst="rect">
            <a:avLst/>
          </a:prstGeom>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ext Box 2"/>
          <p:cNvSpPr txBox="1">
            <a:spLocks noChangeArrowheads="1"/>
          </p:cNvSpPr>
          <p:nvPr/>
        </p:nvSpPr>
        <p:spPr bwMode="auto">
          <a:xfrm>
            <a:off x="304800" y="533400"/>
            <a:ext cx="8458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800" b="1">
                <a:solidFill>
                  <a:srgbClr val="FF0000"/>
                </a:solidFill>
              </a:rPr>
              <a:t>12.5 Nucleosomes do not dissociate from the DNA during DNA replication.</a:t>
            </a:r>
          </a:p>
        </p:txBody>
      </p:sp>
      <p:sp>
        <p:nvSpPr>
          <p:cNvPr id="247811" name="Text Box 3"/>
          <p:cNvSpPr txBox="1">
            <a:spLocks noChangeArrowheads="1"/>
          </p:cNvSpPr>
          <p:nvPr/>
        </p:nvSpPr>
        <p:spPr bwMode="auto">
          <a:xfrm>
            <a:off x="533400" y="1412776"/>
            <a:ext cx="8001000" cy="470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buFontTx/>
              <a:buNone/>
            </a:pPr>
            <a:r>
              <a:rPr lang="en-US" altLang="zh-CN" sz="2800" b="1" dirty="0"/>
              <a:t>When a chromosome is replicated, the histones stay in place but somehow must allow the replication machinery to pass through and make new DNA. One suggestion is that the nucleosome histone octamer transiently unfolds into two half-nucleosomes to allow the replication machinery access to the DNA. The new DNA must also be packaged into nucleosomes and so histones are also synthesized during the S phase of the cell cycle.</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834" name="Picture 2"/>
          <p:cNvPicPr>
            <a:picLocks noChangeAspect="1" noChangeArrowheads="1"/>
          </p:cNvPicPr>
          <p:nvPr/>
        </p:nvPicPr>
        <p:blipFill>
          <a:blip r:embed="rId2" cstate="print">
            <a:lum bright="-36000" contrast="42000"/>
            <a:extLst>
              <a:ext uri="{28A0092B-C50C-407E-A947-70E740481C1C}">
                <a14:useLocalDpi xmlns:a14="http://schemas.microsoft.com/office/drawing/2010/main" val="0"/>
              </a:ext>
            </a:extLst>
          </a:blip>
          <a:srcRect t="3914" b="3133"/>
          <a:stretch>
            <a:fillRect/>
          </a:stretch>
        </p:blipFill>
        <p:spPr bwMode="auto">
          <a:xfrm>
            <a:off x="428625" y="285750"/>
            <a:ext cx="8550275" cy="635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8835" name="TextBox 2"/>
          <p:cNvSpPr txBox="1">
            <a:spLocks noChangeArrowheads="1"/>
          </p:cNvSpPr>
          <p:nvPr/>
        </p:nvSpPr>
        <p:spPr bwMode="auto">
          <a:xfrm>
            <a:off x="357188" y="323850"/>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逆转录病毒</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419872" y="2276872"/>
            <a:ext cx="2736304" cy="1754326"/>
          </a:xfrm>
          <a:prstGeom prst="rect">
            <a:avLst/>
          </a:prstGeom>
          <a:noFill/>
        </p:spPr>
        <p:txBody>
          <a:bodyPr wrap="square" rtlCol="0">
            <a:spAutoFit/>
          </a:bodyPr>
          <a:lstStyle/>
          <a:p>
            <a:pPr algn="ctr"/>
            <a:r>
              <a:rPr lang="en-US" altLang="zh-CN" sz="5400" dirty="0"/>
              <a:t>END</a:t>
            </a:r>
          </a:p>
          <a:p>
            <a:pPr algn="ctr"/>
            <a:endParaRPr lang="en-US" altLang="zh-CN" dirty="0"/>
          </a:p>
          <a:p>
            <a:pPr algn="ctr"/>
            <a:r>
              <a:rPr lang="en-US" altLang="zh-CN" sz="3600" dirty="0"/>
              <a:t>Thank you</a:t>
            </a:r>
            <a:endParaRPr lang="zh-CN" altLang="en-US" sz="36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55576" y="980728"/>
            <a:ext cx="7272808" cy="2031325"/>
          </a:xfrm>
          <a:prstGeom prst="rect">
            <a:avLst/>
          </a:prstGeom>
          <a:noFill/>
        </p:spPr>
        <p:txBody>
          <a:bodyPr wrap="square" rtlCol="0">
            <a:spAutoFit/>
          </a:bodyPr>
          <a:lstStyle/>
          <a:p>
            <a:r>
              <a:rPr lang="en-US" altLang="zh-CN" dirty="0"/>
              <a:t>Date</a:t>
            </a:r>
            <a:r>
              <a:rPr lang="zh-CN" altLang="en-US" dirty="0"/>
              <a:t>：</a:t>
            </a:r>
            <a:r>
              <a:rPr lang="en-US" altLang="zh-CN" dirty="0"/>
              <a:t>2018/10/18</a:t>
            </a:r>
          </a:p>
          <a:p>
            <a:endParaRPr lang="en-US" altLang="zh-CN" dirty="0"/>
          </a:p>
          <a:p>
            <a:r>
              <a:rPr lang="en-US" altLang="zh-CN" dirty="0"/>
              <a:t>Name</a:t>
            </a:r>
            <a:r>
              <a:rPr lang="zh-CN" altLang="en-US" dirty="0"/>
              <a:t>：                         </a:t>
            </a:r>
            <a:r>
              <a:rPr lang="en-US" altLang="zh-CN" dirty="0"/>
              <a:t>Student number</a:t>
            </a:r>
            <a:r>
              <a:rPr lang="zh-CN" altLang="en-US" dirty="0"/>
              <a:t>：                             </a:t>
            </a:r>
            <a:r>
              <a:rPr lang="en-US" altLang="zh-CN" dirty="0"/>
              <a:t>Class</a:t>
            </a:r>
            <a:r>
              <a:rPr lang="zh-CN" altLang="en-US" dirty="0"/>
              <a:t>：</a:t>
            </a:r>
            <a:endParaRPr lang="en-US" altLang="zh-CN" dirty="0"/>
          </a:p>
          <a:p>
            <a:endParaRPr lang="en-US" altLang="zh-CN" dirty="0"/>
          </a:p>
          <a:p>
            <a:r>
              <a:rPr lang="en-US" altLang="zh-CN" dirty="0"/>
              <a:t>Q: How does a DNA molecule replicate with high fidelity in E. coli ?</a:t>
            </a:r>
          </a:p>
          <a:p>
            <a:endParaRPr lang="en-US" altLang="zh-CN" dirty="0"/>
          </a:p>
          <a:p>
            <a:r>
              <a:rPr lang="en-US" altLang="zh-CN" dirty="0"/>
              <a:t>A</a:t>
            </a:r>
            <a:r>
              <a:rPr lang="zh-CN" altLang="en-US" dirty="0"/>
              <a:t>：            </a:t>
            </a:r>
          </a:p>
        </p:txBody>
      </p:sp>
    </p:spTree>
  </p:cSld>
  <p:clrMapOvr>
    <a:masterClrMapping/>
  </p:clrMapOvr>
</p:sld>
</file>

<file path=ppt/theme/theme1.xml><?xml version="1.0" encoding="utf-8"?>
<a:theme xmlns:a="http://schemas.openxmlformats.org/drawingml/2006/main" name="shan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shand</Template>
  <TotalTime>4408</TotalTime>
  <Words>5057</Words>
  <Application>Microsoft Office PowerPoint</Application>
  <PresentationFormat>全屏显示(4:3)</PresentationFormat>
  <Paragraphs>602</Paragraphs>
  <Slides>192</Slides>
  <Notes>97</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192</vt:i4>
      </vt:variant>
    </vt:vector>
  </HeadingPairs>
  <TitlesOfParts>
    <vt:vector size="205" baseType="lpstr">
      <vt:lpstr>Whitney-Light</vt:lpstr>
      <vt:lpstr>Whitney-LightItalic</vt:lpstr>
      <vt:lpstr>华文中宋</vt:lpstr>
      <vt:lpstr>Arial</vt:lpstr>
      <vt:lpstr>Arial</vt:lpstr>
      <vt:lpstr>Calibri</vt:lpstr>
      <vt:lpstr>Goudy Old Style</vt:lpstr>
      <vt:lpstr>Impact</vt:lpstr>
      <vt:lpstr>Symbol</vt:lpstr>
      <vt:lpstr>Tahoma</vt:lpstr>
      <vt:lpstr>Times New Roman</vt:lpstr>
      <vt:lpstr>shand</vt:lpstr>
      <vt:lpstr>Image</vt:lpstr>
      <vt:lpstr>Section F    DNA structure and replication</vt:lpstr>
      <vt:lpstr>PowerPoint 演示文稿</vt:lpstr>
      <vt:lpstr>PowerPoint 演示文稿</vt:lpstr>
      <vt:lpstr>PowerPoint 演示文稿</vt:lpstr>
      <vt:lpstr>Section F DNA structure and replication</vt:lpstr>
      <vt:lpstr>Section F1 and G1  DNA (RNA) structure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Deoxyribose and Ribose</vt:lpstr>
      <vt:lpstr>The atoms in the 5-carbon sugar  are also numbered.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DNA的Tm值与下列因素有关</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DNA Replication  (F3F4)</vt:lpstr>
      <vt:lpstr>1. The deduced double helix structure of DNA revealed the possible ways for its replication (1953)</vt:lpstr>
      <vt:lpstr>2. DNA replication was proved to be semiconservative by the Meselson-Stahl experiment using E. coli cells (1957)</vt:lpstr>
      <vt:lpstr>PowerPoint 演示文稿</vt:lpstr>
      <vt:lpstr>PowerPoint 演示文稿</vt:lpstr>
      <vt:lpstr>3. A variety of simple questions were asked about DNA replication</vt:lpstr>
      <vt:lpstr>4. Autoradiography studies: daughter strands are synthesized immediately after parental strands separate </vt:lpstr>
      <vt:lpstr>PowerPoint 演示文稿</vt:lpstr>
      <vt:lpstr>PowerPoint 演示文稿</vt:lpstr>
      <vt:lpstr>PowerPoint 演示文稿</vt:lpstr>
      <vt:lpstr>5. DNA replication was found to begin at specific sites and proceed bidirectionally</vt:lpstr>
      <vt:lpstr>6. The chemistry of DNA polymerization was revealed by in vitro studies using a DNA polymerase purified from E. coli</vt:lpstr>
      <vt:lpstr>PowerPoint 演示文稿</vt:lpstr>
      <vt:lpstr>PowerPoint 演示文稿</vt:lpstr>
      <vt:lpstr>7. DNA polymerase I has 3`     5`, as well as 5`     3` exonuclease activities</vt:lpstr>
      <vt:lpstr>7. DNA polymerase I has 3`     5`, as well as 5`     3` exonuclease activities</vt:lpstr>
      <vt:lpstr>PowerPoint 演示文稿</vt:lpstr>
      <vt:lpstr>PowerPoint 演示文稿</vt:lpstr>
      <vt:lpstr>8. DNA polymerase I was found to be not responsible for DNA replication in E. coli cells</vt:lpstr>
      <vt:lpstr>PowerPoint 演示文稿</vt:lpstr>
      <vt:lpstr>9. The synthesis of the two daughter DNA strands was found to be semidiscontinuous</vt:lpstr>
      <vt:lpstr>PowerPoint 演示文稿</vt:lpstr>
      <vt:lpstr>PowerPoint 演示文稿</vt:lpstr>
      <vt:lpstr>10. DNA polymerase III is responsible for DNA replication in E.coli cells</vt:lpstr>
      <vt:lpstr>PowerPoint 演示文稿</vt:lpstr>
      <vt:lpstr>PowerPoint 演示文稿</vt:lpstr>
      <vt:lpstr>11. DNA polymerase III and many other proteins are part of the replisome for DNA replication in E.coli cells</vt:lpstr>
      <vt:lpstr>PowerPoint 演示文稿</vt:lpstr>
      <vt:lpstr>PowerPoint 演示文稿</vt:lpstr>
      <vt:lpstr>PowerPoint 演示文稿</vt:lpstr>
      <vt:lpstr>PowerPoint 演示文稿</vt:lpstr>
      <vt:lpstr>12. DNA replication in eukaryotic cells use essentially the same principles but more complex in the details (F4)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dc:creator>
  <cp:lastModifiedBy>weiyu</cp:lastModifiedBy>
  <cp:revision>147</cp:revision>
  <dcterms:created xsi:type="dcterms:W3CDTF">2014-10-13T11:37:00Z</dcterms:created>
  <dcterms:modified xsi:type="dcterms:W3CDTF">2023-09-03T02:34:44Z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2052-11.1.0.9098</vt:lpwstr>
  </property>
</Properties>
</file>