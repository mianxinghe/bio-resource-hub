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6"/>
  </p:notesMasterIdLst>
  <p:handoutMasterIdLst>
    <p:handoutMasterId r:id="rId127"/>
  </p:handoutMasterIdLst>
  <p:sldIdLst>
    <p:sldId id="398" r:id="rId2"/>
    <p:sldId id="268" r:id="rId3"/>
    <p:sldId id="400" r:id="rId4"/>
    <p:sldId id="269" r:id="rId5"/>
    <p:sldId id="270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4" r:id="rId18"/>
    <p:sldId id="285" r:id="rId19"/>
    <p:sldId id="286" r:id="rId20"/>
    <p:sldId id="287" r:id="rId21"/>
    <p:sldId id="289" r:id="rId22"/>
    <p:sldId id="290" r:id="rId23"/>
    <p:sldId id="402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56" r:id="rId86"/>
    <p:sldId id="357" r:id="rId87"/>
    <p:sldId id="358" r:id="rId88"/>
    <p:sldId id="359" r:id="rId89"/>
    <p:sldId id="360" r:id="rId90"/>
    <p:sldId id="361" r:id="rId91"/>
    <p:sldId id="362" r:id="rId92"/>
    <p:sldId id="403" r:id="rId93"/>
    <p:sldId id="364" r:id="rId94"/>
    <p:sldId id="365" r:id="rId95"/>
    <p:sldId id="404" r:id="rId96"/>
    <p:sldId id="366" r:id="rId97"/>
    <p:sldId id="367" r:id="rId98"/>
    <p:sldId id="368" r:id="rId99"/>
    <p:sldId id="369" r:id="rId100"/>
    <p:sldId id="375" r:id="rId101"/>
    <p:sldId id="371" r:id="rId102"/>
    <p:sldId id="372" r:id="rId103"/>
    <p:sldId id="373" r:id="rId104"/>
    <p:sldId id="378" r:id="rId105"/>
    <p:sldId id="377" r:id="rId106"/>
    <p:sldId id="379" r:id="rId107"/>
    <p:sldId id="380" r:id="rId108"/>
    <p:sldId id="381" r:id="rId109"/>
    <p:sldId id="382" r:id="rId110"/>
    <p:sldId id="383" r:id="rId111"/>
    <p:sldId id="384" r:id="rId112"/>
    <p:sldId id="385" r:id="rId113"/>
    <p:sldId id="386" r:id="rId114"/>
    <p:sldId id="387" r:id="rId115"/>
    <p:sldId id="388" r:id="rId116"/>
    <p:sldId id="389" r:id="rId117"/>
    <p:sldId id="391" r:id="rId118"/>
    <p:sldId id="390" r:id="rId119"/>
    <p:sldId id="392" r:id="rId120"/>
    <p:sldId id="393" r:id="rId121"/>
    <p:sldId id="394" r:id="rId122"/>
    <p:sldId id="395" r:id="rId123"/>
    <p:sldId id="396" r:id="rId124"/>
    <p:sldId id="399" r:id="rId12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8000"/>
    <a:srgbClr val="000099"/>
    <a:srgbClr val="F8F8F8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352" autoAdjust="0"/>
  </p:normalViewPr>
  <p:slideViewPr>
    <p:cSldViewPr>
      <p:cViewPr varScale="1">
        <p:scale>
          <a:sx n="66" d="100"/>
          <a:sy n="66" d="100"/>
        </p:scale>
        <p:origin x="18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553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A4EC9AE-754B-49FD-BA16-B62493B54AAE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4895103-49AF-4E9F-8FAA-AC2C9A984A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8BD7D17-9F94-433F-85A9-A167373EBE7A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7F5F534-2C7B-4B3E-AB7E-5181B22398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791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6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697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472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904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atinLnBrk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atinLnBrk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745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222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95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54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929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009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CA135-6ADA-4119-B004-221C4C154516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0F2AB6-68FA-46B1-8DC0-CD1EA0BD75DC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AC6A96-EFF9-42A9-BC13-7659E19AB823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83FAC7-BB48-42EE-80CE-28FEFA11E3F9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7B9CD7-E320-4BA7-B000-9A3FCCCC890C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EFB61-9963-42D6-8AE7-B6CE61B005F2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B42A7D-AB03-4563-BCF4-B27050D2BEF3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F52F46-1684-4517-BCC0-CADB6BD49F28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D6EB76-8955-432C-A26D-6F964CE7644B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136754-A098-4221-9EB7-7F14A716ADD3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4FB035-80C1-44DB-9E7C-BBABAB8F0933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81AD50-EAC6-4A9B-8B56-96FB2EB86C94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95F3D7-DFCD-4AEC-B15F-0F26E2349EDD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C26BE1-05F6-4A9C-8E8C-725281780FB0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50C749-1253-4634-B994-3AD0E47CA5A7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CB2B7F-04AC-45C5-97BE-990922F312AD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E7BC9F-54DD-420F-A90D-C6B184055DA4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79CD2C-2CA7-4CD3-9E25-913B5F6BEB98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C70074-4D7E-4E04-9364-F65954D95CD9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538719-E23A-45AC-BB3E-EC0097F538B0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44F68C-0BEF-40B0-9285-BD62CFBB5EAB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697C58-6EBD-4357-8A07-B6A914B42978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39941B-E1C5-41AD-AD12-0AE84DFA860B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44F5A6-800C-45E7-968C-E821DAC23E45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941A2-E18E-4F98-86A8-626E30E95C76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DFB757-8449-477C-8AC8-60C2BB5690CE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D79867-5A01-4444-9EAC-EFE0F301EF2D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567FC3-1708-46F6-8B63-21C88E0E669D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0B5116-19C1-4D68-B29D-E6241D70ED9D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C6CB26-8F50-4C6A-BDA1-D72E0336E74A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4FC00-4F8B-4495-AB1A-969CEB25B9D9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6278A6-AFA0-4B4D-BB95-604846333258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0397CE-DF62-4E01-84FF-0A549E43C410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0691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384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3DED2C-4CF4-48AE-ADE1-943DE9C476CA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49DF8-9DE4-4356-A284-774F3F96E1F8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48343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51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BF51C4-B2B6-47B0-BD5E-A3AD658883AF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84981A-F7C7-4B83-A471-A9D8EC5938CE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908566-2822-4BA6-979B-4F93DCA73721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BCF5FB-AB83-44DD-A534-BD2DC3E65304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C931E5-8CF3-42F0-854B-BD10CBDFFAEE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888D2D-570A-4DEE-B847-9C05D98DFFFE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2A292B-B958-4A20-950C-A2903FAF6AB6}" type="slidenum">
              <a:rPr lang="en-US" altLang="zh-CN"/>
              <a:pPr/>
              <a:t>83</a:t>
            </a:fld>
            <a:endParaRPr lang="en-US" altLang="zh-CN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C17D30-72E0-46CE-8E2A-0366001D9624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DA3ED9-4BB6-4FC5-A2AF-7F7F0A5937FC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1C2638-B94A-4E5D-80E6-9DAC486BB842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22F21-35E1-4BA6-BABB-63CA2E24AC56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2F7F78-AFD0-4FB1-828D-354D2C3F1D77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45F2C-1F3D-46A4-9AA1-1B03992878FA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8296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18D05B-61EA-425B-B549-297D11A99CE5}" type="slidenum">
              <a:rPr lang="en-US" altLang="zh-CN"/>
              <a:pPr/>
              <a:t>97</a:t>
            </a:fld>
            <a:endParaRPr lang="en-US" altLang="zh-CN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B851E8-74CC-4A1D-9C44-B28D5A25FF1D}" type="slidenum">
              <a:rPr lang="en-US" altLang="zh-CN"/>
              <a:pPr/>
              <a:t>98</a:t>
            </a:fld>
            <a:endParaRPr lang="en-US" altLang="zh-CN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7319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22339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1B0BB8-5433-408C-B196-5119B67105CA}" type="slidenum">
              <a:rPr lang="en-US" altLang="zh-CN"/>
              <a:pPr/>
              <a:t>104</a:t>
            </a:fld>
            <a:endParaRPr lang="en-US" altLang="zh-CN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57991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10E857-6E7C-4C0A-B7AC-FEDA8F8F9D3F}" type="slidenum">
              <a:rPr lang="en-US" altLang="zh-CN"/>
              <a:pPr/>
              <a:t>106</a:t>
            </a:fld>
            <a:endParaRPr lang="en-US" altLang="zh-CN"/>
          </a:p>
        </p:txBody>
      </p:sp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79648B-83E0-415C-930B-EAD00A963E90}" type="slidenum">
              <a:rPr lang="en-US" altLang="zh-CN"/>
              <a:pPr/>
              <a:t>107</a:t>
            </a:fld>
            <a:endParaRPr lang="en-US" altLang="zh-CN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B83FD1-4409-46D0-BAE5-3809667F193B}" type="slidenum">
              <a:rPr lang="en-US" altLang="zh-CN"/>
              <a:pPr/>
              <a:t>108</a:t>
            </a:fld>
            <a:endParaRPr lang="en-US" altLang="zh-CN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096CFF-F5C1-45BB-85E6-22E48F651E2E}" type="slidenum">
              <a:rPr lang="en-US" altLang="zh-CN"/>
              <a:pPr/>
              <a:t>109</a:t>
            </a:fld>
            <a:endParaRPr lang="en-US" altLang="zh-CN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EFD396-C808-4072-B27E-03DB0F21741B}" type="slidenum">
              <a:rPr lang="en-US" altLang="zh-CN"/>
              <a:pPr/>
              <a:t>110</a:t>
            </a:fld>
            <a:endParaRPr lang="en-US" altLang="zh-CN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752313-4E1E-4F47-906A-BC63E99ACEC1}" type="slidenum">
              <a:rPr lang="en-US" altLang="zh-CN"/>
              <a:pPr/>
              <a:t>111</a:t>
            </a:fld>
            <a:endParaRPr lang="en-US" altLang="zh-CN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36758A-4AA4-4EEA-B359-4ED3AD19AB66}" type="slidenum">
              <a:rPr lang="en-US" altLang="zh-CN"/>
              <a:pPr/>
              <a:t>112</a:t>
            </a:fld>
            <a:endParaRPr lang="en-US" altLang="zh-CN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2D4376-B736-4395-B421-3E06E858018A}" type="slidenum">
              <a:rPr lang="en-US" altLang="zh-CN"/>
              <a:pPr/>
              <a:t>113</a:t>
            </a:fld>
            <a:endParaRPr lang="en-US" altLang="zh-CN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3D8DBD-79CD-4FC3-8035-DAFC81BE85D2}" type="slidenum">
              <a:rPr lang="en-US" altLang="zh-CN"/>
              <a:pPr/>
              <a:t>114</a:t>
            </a:fld>
            <a:endParaRPr lang="en-US" altLang="zh-CN"/>
          </a:p>
        </p:txBody>
      </p:sp>
      <p:sp>
        <p:nvSpPr>
          <p:cNvPr id="31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3918DC-0842-41B9-A59C-25E769EE04BD}" type="slidenum">
              <a:rPr lang="en-US" altLang="zh-CN"/>
              <a:pPr/>
              <a:t>115</a:t>
            </a:fld>
            <a:endParaRPr lang="en-US" altLang="zh-CN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4EC128-E44E-4BFD-8656-8E2F18E2BB02}" type="slidenum">
              <a:rPr lang="en-US" altLang="zh-CN"/>
              <a:pPr/>
              <a:t>116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06380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16AE12-24C7-428A-97E3-70286D61CFA6}" type="slidenum">
              <a:rPr lang="en-US" altLang="zh-CN"/>
              <a:pPr/>
              <a:t>118</a:t>
            </a:fld>
            <a:endParaRPr lang="en-US" altLang="zh-CN"/>
          </a:p>
        </p:txBody>
      </p:sp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5500A-9482-4815-A51A-6A000F1087D4}" type="slidenum">
              <a:rPr lang="en-US" altLang="zh-CN"/>
              <a:pPr/>
              <a:t>119</a:t>
            </a:fld>
            <a:endParaRPr lang="en-US" altLang="zh-CN"/>
          </a:p>
        </p:txBody>
      </p:sp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96890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46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C:\Users\Administrator\AppData\Roaming\Tencent\Users\85060380\QQ\WinTemp\RichOle\3{JSB(G2RI2O{CFOGZRGH23.jpg"/>
          <p:cNvPicPr>
            <a:picLocks noChangeAspect="1" noChangeArrowheads="1"/>
          </p:cNvPicPr>
          <p:nvPr/>
        </p:nvPicPr>
        <p:blipFill rotWithShape="1">
          <a:blip r:embed="rId2" cstate="print"/>
          <a:srcRect r="78850"/>
          <a:stretch/>
        </p:blipFill>
        <p:spPr bwMode="auto">
          <a:xfrm>
            <a:off x="1" y="44624"/>
            <a:ext cx="899591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Users\Administrator\AppData\Roaming\Tencent\Users\85060380\QQ\WinTemp\RichOle\J6JYNSSQRTOD2X}K2W`MNJ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4751" y="1"/>
            <a:ext cx="1191625" cy="74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C:\Users\Administrator\AppData\Roaming\Tencent\Users\85060380\QQ\WinTemp\RichOle\GD$GN72[756M7J@}Q112F3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56376" y="1"/>
            <a:ext cx="1191625" cy="74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C:\Users\Administrator\AppData\Roaming\Tencent\Users\85060380\QQ\WinTemp\RichOle\{SL304[_K`X~M@`NNZQS~X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0"/>
            <a:ext cx="2350885" cy="74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9F77C-FFE2-4793-9207-02588634C718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8E333-6AB3-4FDA-8E97-ACA84AEA88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93D3275-083F-47FB-8AE6-915D3BE6F6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/>
          <a:srcRect l="32675" t="11636" r="34167" b="75247"/>
          <a:stretch/>
        </p:blipFill>
        <p:spPr>
          <a:xfrm>
            <a:off x="971600" y="259870"/>
            <a:ext cx="2592288" cy="5768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istrator\Desktop\4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00" y="5948363"/>
            <a:ext cx="1714500" cy="90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F3533-4646-4892-B1D3-08067A86ACDD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D17FC-20E3-4805-979B-A7677B8B4C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1" descr="C:\Users\Administrator\AppData\Roaming\Tencent\Users\85060380\QQ\WinTemp\RichOle\3{JSB(G2RI2O{CFOGZRGH23.jpg">
            <a:extLst>
              <a:ext uri="{FF2B5EF4-FFF2-40B4-BE49-F238E27FC236}">
                <a16:creationId xmlns:a16="http://schemas.microsoft.com/office/drawing/2014/main" id="{3270E545-7934-4BFA-B40E-1C355AF290B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/>
          <a:srcRect r="78850"/>
          <a:stretch/>
        </p:blipFill>
        <p:spPr bwMode="auto">
          <a:xfrm>
            <a:off x="1" y="6126164"/>
            <a:ext cx="862263" cy="759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D899D2D-93AD-4325-9F12-9039E226AB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32675" t="11636" r="34167" b="75247"/>
          <a:stretch/>
        </p:blipFill>
        <p:spPr>
          <a:xfrm>
            <a:off x="810072" y="6309320"/>
            <a:ext cx="1872208" cy="4166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D29482-33CF-481B-96A0-139B86FAC950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CAA0F-046B-4F95-895B-81CD4A6F97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08D0-9777-46E5-8CD2-243B8DBC2E7E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200FF-9D1B-4EDF-84DB-F860005513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95C0A-1844-48A2-990B-042EBB1C5E5D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1865BB-9052-4115-90F0-13EE3E4ED9A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4F1A8-960E-4ED9-9A4F-401EFE12B95D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A7321-CB36-4EF0-87BA-C64E2A84FA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9E1E0-9E63-41E0-8CDD-DF0C8EF81975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E5839-3D4F-4698-B864-F37BC54DB9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0510E-738A-4BCF-A997-3F9844EB6F00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BB1ED-864B-4BBB-A169-7623F6B49B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2317B-E539-4449-A4E4-953D83123880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3C950-90C1-4BA5-A0E0-DE52BA8761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DBE6-D526-4889-9558-7CE646AEAB4F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2D626-89B4-4965-9172-80E6946FF0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25ED1-746E-4220-8D3F-8230166A076B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1450B-1AE2-4423-BCAB-59BF187F13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1D7156-5C3F-4BEA-93EC-FF328D866D27}" type="datetimeFigureOut">
              <a:rPr lang="zh-CN" altLang="en-US"/>
              <a:pPr>
                <a:defRPr/>
              </a:pPr>
              <a:t>2023/9/3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09816-5D03-481C-A7CB-52B98C3CDE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dyang@sda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71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ike.baidu.com/item/%E8%AE%B0%E5%BF%86%E6%96%B9%E6%B3%95" TargetMode="Externa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../&#22235;&#24029;&#22823;&#23398;&#29983;&#29289;/Y8-2.ppt#-1,16,&#27809;&#26377;&#24187;&#28783;&#29255;&#26631;&#39064;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hyperlink" Target="../&#22235;&#24029;&#22823;&#23398;&#29983;&#29289;/Y8-2.ppt#-1,17,&#27809;&#26377;&#24187;&#28783;&#29255;&#26631;&#39064;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hyperlink" Target="../&#22235;&#24029;&#22823;&#23398;&#29983;&#29289;/Y8-2.ppt#-1,26,&#27809;&#26377;&#24187;&#28783;&#29255;&#26631;&#39064;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114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gif"/><Relationship Id="rId4" Type="http://schemas.openxmlformats.org/officeDocument/2006/relationships/slide" Target="slide9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../&#22235;&#24029;&#22823;&#23398;&#29983;&#29289;/Y8-2.ppt#-1,24,&#27809;&#26377;&#24187;&#28783;&#29255;&#26631;&#39064;" TargetMode="Externa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../&#22235;&#24029;&#22823;&#23398;&#29983;&#29289;/Y8-2.ppt#-1,21,&#27809;&#26377;&#24187;&#28783;&#29255;&#26631;&#39064;" TargetMode="Externa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7.xml"/><Relationship Id="rId4" Type="http://schemas.openxmlformats.org/officeDocument/2006/relationships/hyperlink" Target="../&#22235;&#24029;&#22823;&#23398;&#29983;&#29289;/Y8-2.ppt#-1,22,&#27809;&#26377;&#24187;&#28783;&#29255;&#26631;&#39064;" TargetMode="Externa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2.xml"/><Relationship Id="rId4" Type="http://schemas.openxmlformats.org/officeDocument/2006/relationships/image" Target="../media/image98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" Target="slide114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1785926"/>
            <a:ext cx="8915400" cy="1143000"/>
          </a:xfrm>
        </p:spPr>
        <p:txBody>
          <a:bodyPr/>
          <a:lstStyle/>
          <a:p>
            <a:pPr algn="ctr"/>
            <a:r>
              <a:rPr lang="en-US" altLang="zh-CN" sz="4600" b="1" dirty="0">
                <a:solidFill>
                  <a:srgbClr val="0000FF"/>
                </a:solidFill>
              </a:rPr>
              <a:t>Section M</a:t>
            </a:r>
            <a:br>
              <a:rPr lang="en-US" altLang="zh-CN" sz="4600" b="1" dirty="0">
                <a:solidFill>
                  <a:srgbClr val="0000FF"/>
                </a:solidFill>
              </a:rPr>
            </a:br>
            <a:r>
              <a:rPr lang="en-US" altLang="zh-CN" sz="6300" b="1" dirty="0">
                <a:solidFill>
                  <a:srgbClr val="0000FF"/>
                </a:solidFill>
              </a:rPr>
              <a:t> Nitrogen metabolism</a:t>
            </a:r>
          </a:p>
        </p:txBody>
      </p:sp>
      <p:sp>
        <p:nvSpPr>
          <p:cNvPr id="5" name="副标题 2"/>
          <p:cNvSpPr txBox="1">
            <a:spLocks/>
          </p:cNvSpPr>
          <p:nvPr/>
        </p:nvSpPr>
        <p:spPr bwMode="auto">
          <a:xfrm>
            <a:off x="5143500" y="3714750"/>
            <a:ext cx="3214688" cy="147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Guodong Yang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Biochemistry and Molecular Biology, College of Life Sciences</a:t>
            </a:r>
            <a:b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gdyang@sdau.edu.cn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13854808762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Click="0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5720" y="1714488"/>
            <a:ext cx="8229600" cy="1143000"/>
          </a:xfrm>
        </p:spPr>
        <p:txBody>
          <a:bodyPr/>
          <a:lstStyle/>
          <a:p>
            <a:pPr algn="ctr"/>
            <a:r>
              <a:rPr lang="en-US" altLang="zh-CN" sz="4600" b="1" dirty="0">
                <a:solidFill>
                  <a:srgbClr val="0000FF"/>
                </a:solidFill>
              </a:rPr>
              <a:t>Section M</a:t>
            </a:r>
            <a:br>
              <a:rPr lang="en-US" altLang="zh-CN" sz="4600" b="1" dirty="0">
                <a:solidFill>
                  <a:srgbClr val="0000FF"/>
                </a:solidFill>
              </a:rPr>
            </a:br>
            <a:r>
              <a:rPr lang="en-US" altLang="zh-CN" sz="6300" b="1" dirty="0">
                <a:solidFill>
                  <a:srgbClr val="0000FF"/>
                </a:solidFill>
              </a:rPr>
              <a:t> Nitrogen metabolism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643042" y="3500438"/>
            <a:ext cx="6229368" cy="2114552"/>
          </a:xfrm>
          <a:solidFill>
            <a:schemeClr val="bg1"/>
          </a:solidFill>
        </p:spPr>
        <p:txBody>
          <a:bodyPr/>
          <a:lstStyle/>
          <a:p>
            <a:r>
              <a:rPr lang="en-US" altLang="zh-CN" sz="2400" dirty="0"/>
              <a:t>1. Reduction of 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 into ammonia (NH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or NH</a:t>
            </a:r>
            <a:r>
              <a:rPr lang="en-US" altLang="zh-CN" sz="2400" baseline="-25000" dirty="0"/>
              <a:t>4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2. Synthesis of the 20 amino acids.</a:t>
            </a:r>
          </a:p>
          <a:p>
            <a:r>
              <a:rPr lang="en-US" altLang="zh-CN" sz="2400" dirty="0"/>
              <a:t>3. Amino acid degradation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5A74FAE7-2442-4A6D-9115-49D6D3AEA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82" y="404664"/>
            <a:ext cx="4533900" cy="54356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2EBECE6-7124-4F80-8043-0AE92E3EEF56}"/>
              </a:ext>
            </a:extLst>
          </p:cNvPr>
          <p:cNvGrpSpPr/>
          <p:nvPr/>
        </p:nvGrpSpPr>
        <p:grpSpPr>
          <a:xfrm>
            <a:off x="107504" y="2978448"/>
            <a:ext cx="2808312" cy="1502916"/>
            <a:chOff x="1619672" y="2978448"/>
            <a:chExt cx="2808312" cy="1502916"/>
          </a:xfrm>
        </p:grpSpPr>
        <p:sp>
          <p:nvSpPr>
            <p:cNvPr id="3" name="TextBox 2"/>
            <p:cNvSpPr txBox="1"/>
            <p:nvPr/>
          </p:nvSpPr>
          <p:spPr>
            <a:xfrm>
              <a:off x="1619672" y="3773478"/>
              <a:ext cx="15001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altLang="zh-CN" sz="3200" b="1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altLang="zh-CN" sz="4000" b="1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sz="4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0747F700-A49F-4BEC-B6EB-AE0C42C78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3808" y="2978448"/>
              <a:ext cx="1584176" cy="1008112"/>
            </a:xfrm>
            <a:prstGeom prst="straightConnector1">
              <a:avLst/>
            </a:prstGeom>
            <a:ln w="38100">
              <a:solidFill>
                <a:srgbClr val="0000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525C045-80B2-4970-804D-4841EE257970}"/>
              </a:ext>
            </a:extLst>
          </p:cNvPr>
          <p:cNvGrpSpPr/>
          <p:nvPr/>
        </p:nvGrpSpPr>
        <p:grpSpPr>
          <a:xfrm>
            <a:off x="1187624" y="4600972"/>
            <a:ext cx="3124862" cy="1716345"/>
            <a:chOff x="1187624" y="4600972"/>
            <a:chExt cx="3124862" cy="171634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A9D64D1-2036-4E67-9042-0AC8467AF11B}"/>
                </a:ext>
              </a:extLst>
            </p:cNvPr>
            <p:cNvSpPr txBox="1"/>
            <p:nvPr/>
          </p:nvSpPr>
          <p:spPr>
            <a:xfrm>
              <a:off x="2987824" y="5609431"/>
              <a:ext cx="13246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O</a:t>
              </a:r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4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9DF98835-C714-46A3-83CB-D0E1058CB29C}"/>
                </a:ext>
              </a:extLst>
            </p:cNvPr>
            <p:cNvCxnSpPr>
              <a:cxnSpLocks/>
              <a:stCxn id="10242" idx="2"/>
            </p:cNvCxnSpPr>
            <p:nvPr/>
          </p:nvCxnSpPr>
          <p:spPr>
            <a:xfrm flipH="1" flipV="1">
              <a:off x="1187624" y="4600972"/>
              <a:ext cx="1872208" cy="1239292"/>
            </a:xfrm>
            <a:prstGeom prst="straightConnector1">
              <a:avLst/>
            </a:prstGeom>
            <a:ln w="38100">
              <a:solidFill>
                <a:srgbClr val="0000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2" descr="F09-01b.GIF003                                                 00005046Sumanas' Hard Drive            B4EBCDA7:">
            <a:extLst>
              <a:ext uri="{FF2B5EF4-FFF2-40B4-BE49-F238E27FC236}">
                <a16:creationId xmlns:a16="http://schemas.microsoft.com/office/drawing/2014/main" id="{FACE08DD-9EF7-4EF2-9FA1-612C9A06D5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28" b="15530"/>
          <a:stretch/>
        </p:blipFill>
        <p:spPr bwMode="auto">
          <a:xfrm>
            <a:off x="4353372" y="288119"/>
            <a:ext cx="1512168" cy="2899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ED687566-054C-4A58-9601-228F45F82187}"/>
              </a:ext>
            </a:extLst>
          </p:cNvPr>
          <p:cNvGrpSpPr/>
          <p:nvPr/>
        </p:nvGrpSpPr>
        <p:grpSpPr>
          <a:xfrm>
            <a:off x="6023890" y="791841"/>
            <a:ext cx="2641600" cy="2396277"/>
            <a:chOff x="3184203" y="3985050"/>
            <a:chExt cx="2641600" cy="239627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FDDD59F-1D68-481C-98F6-70A6BE126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4203" y="3985050"/>
              <a:ext cx="2641600" cy="22352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105F260-DB4C-4916-9A10-7CCDE54417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2" t="2039" b="60571"/>
            <a:stretch/>
          </p:blipFill>
          <p:spPr>
            <a:xfrm>
              <a:off x="3690117" y="5329489"/>
              <a:ext cx="2135686" cy="835753"/>
            </a:xfrm>
            <a:prstGeom prst="rect">
              <a:avLst/>
            </a:prstGeom>
          </p:spPr>
        </p:pic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9511050-917C-402C-9BD2-F10DFFEDC940}"/>
                </a:ext>
              </a:extLst>
            </p:cNvPr>
            <p:cNvSpPr/>
            <p:nvPr/>
          </p:nvSpPr>
          <p:spPr>
            <a:xfrm>
              <a:off x="4049883" y="5841240"/>
              <a:ext cx="450109" cy="5400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724193F-3E46-4DFD-BAAB-D60360132594}"/>
              </a:ext>
            </a:extLst>
          </p:cNvPr>
          <p:cNvSpPr txBox="1"/>
          <p:nvPr/>
        </p:nvSpPr>
        <p:spPr>
          <a:xfrm>
            <a:off x="2231740" y="1268758"/>
            <a:ext cx="165618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1954F7-100B-4243-8578-E5A5EDB989CD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13560" y="3122675"/>
            <a:ext cx="3420379" cy="28341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EFCD8C-39DA-4481-9073-B45F19B35BD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/>
          <a:srcRect l="8769" t="1835" r="8516" b="56522"/>
          <a:stretch/>
        </p:blipFill>
        <p:spPr>
          <a:xfrm>
            <a:off x="3733939" y="3217403"/>
            <a:ext cx="5178279" cy="26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6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468313" y="908050"/>
            <a:ext cx="8496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dirty="0">
                <a:solidFill>
                  <a:srgbClr val="2A05C7"/>
                </a:solidFill>
                <a:latin typeface="Times New Roman" panose="02020603050405020304" pitchFamily="18" charset="0"/>
              </a:rPr>
              <a:t>M1 Nitrogen fixation and assimilation</a:t>
            </a:r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1476375" y="2420938"/>
            <a:ext cx="56165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The nitrogen cycle</a:t>
            </a:r>
          </a:p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Nitrogen fixation</a:t>
            </a:r>
          </a:p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Nitrogen assimilation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800" y="838200"/>
            <a:ext cx="8026400" cy="5181600"/>
          </a:xfrm>
          <a:prstGeom prst="rect">
            <a:avLst/>
          </a:prstGeom>
          <a:noFill/>
        </p:spPr>
      </p:pic>
      <p:sp>
        <p:nvSpPr>
          <p:cNvPr id="2" name="文本框 1">
            <a:hlinkClick r:id="rId4" action="ppaction://hlinksldjump"/>
            <a:extLst>
              <a:ext uri="{FF2B5EF4-FFF2-40B4-BE49-F238E27FC236}">
                <a16:creationId xmlns:a16="http://schemas.microsoft.com/office/drawing/2014/main" id="{613356DA-1C4B-4F5E-A0B2-970A23818C73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3A7A24-1792-45E5-99B3-91A9DB0ABBBF}"/>
              </a:ext>
            </a:extLst>
          </p:cNvPr>
          <p:cNvCxnSpPr/>
          <p:nvPr/>
        </p:nvCxnSpPr>
        <p:spPr>
          <a:xfrm>
            <a:off x="3131840" y="2852936"/>
            <a:ext cx="0" cy="3600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3770CAA-FBAD-4413-B39A-65EA0420996B}"/>
              </a:ext>
            </a:extLst>
          </p:cNvPr>
          <p:cNvCxnSpPr/>
          <p:nvPr/>
        </p:nvCxnSpPr>
        <p:spPr>
          <a:xfrm>
            <a:off x="3131840" y="3041196"/>
            <a:ext cx="3600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425CBB6-2839-4C97-ABDF-FB42A36CBBB4}"/>
              </a:ext>
            </a:extLst>
          </p:cNvPr>
          <p:cNvSpPr txBox="1"/>
          <p:nvPr/>
        </p:nvSpPr>
        <p:spPr>
          <a:xfrm>
            <a:off x="3635896" y="2780928"/>
            <a:ext cx="1080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Nitrogen fixation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A12446-0B8E-43FE-BE18-E53B4087E611}"/>
              </a:ext>
            </a:extLst>
          </p:cNvPr>
          <p:cNvSpPr txBox="1"/>
          <p:nvPr/>
        </p:nvSpPr>
        <p:spPr>
          <a:xfrm rot="20206861">
            <a:off x="5142224" y="1628800"/>
            <a:ext cx="1512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Ammonia assimilation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0" y="19050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sz="2800" dirty="0">
                <a:latin typeface="Times New Roman" panose="02020603050405020304" pitchFamily="18" charset="0"/>
              </a:rPr>
              <a:t>The nitrogen in amino acids, purines, pyrimidines and other biomolecules ultimately comes from atmospheric nitrogen.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sz="2800" dirty="0">
                <a:latin typeface="Times New Roman" panose="02020603050405020304" pitchFamily="18" charset="0"/>
              </a:rPr>
              <a:t>Cyanobacteria (</a:t>
            </a:r>
            <a:r>
              <a:rPr lang="zh-CN" altLang="en-US" sz="2800" dirty="0">
                <a:latin typeface="Times New Roman" panose="02020603050405020304" pitchFamily="18" charset="0"/>
                <a:ea typeface="华文新魏" pitchFamily="2" charset="-122"/>
              </a:rPr>
              <a:t>蓝藻细菌</a:t>
            </a:r>
            <a:r>
              <a:rPr lang="en-US" altLang="zh-CN" sz="2800" dirty="0">
                <a:latin typeface="Times New Roman" panose="02020603050405020304" pitchFamily="18" charset="0"/>
              </a:rPr>
              <a:t>, photosynthetic) and rhizobia (</a:t>
            </a:r>
            <a:r>
              <a:rPr lang="zh-CN" altLang="en-US" sz="2800" dirty="0">
                <a:latin typeface="Times New Roman" panose="02020603050405020304" pitchFamily="18" charset="0"/>
                <a:ea typeface="华文新魏" pitchFamily="2" charset="-122"/>
              </a:rPr>
              <a:t>根瘤菌</a:t>
            </a:r>
            <a:r>
              <a:rPr lang="en-US" altLang="zh-CN" sz="2800" dirty="0">
                <a:latin typeface="Times New Roman" panose="02020603050405020304" pitchFamily="18" charset="0"/>
              </a:rPr>
              <a:t>, symbiont) can fix N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 into NH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sz="2800" dirty="0">
                <a:latin typeface="Times New Roman" panose="02020603050405020304" pitchFamily="18" charset="0"/>
              </a:rPr>
              <a:t>The reduction of N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 to NH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 is thermodynamically favorable :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sz="2800" dirty="0">
                <a:latin typeface="Times New Roman" panose="02020603050405020304" pitchFamily="18" charset="0"/>
              </a:rPr>
              <a:t>    N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</a:rPr>
              <a:t>+ 6e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2800" dirty="0">
                <a:latin typeface="Times New Roman" panose="02020603050405020304" pitchFamily="18" charset="0"/>
              </a:rPr>
              <a:t> + 6H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</a:rPr>
              <a:t>        2NH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   </a:t>
            </a:r>
            <a:r>
              <a:rPr lang="en-US" altLang="zh-CN" sz="2800" i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dirty="0" err="1">
                <a:latin typeface="Times New Roman" panose="02020603050405020304" pitchFamily="18" charset="0"/>
              </a:rPr>
              <a:t>`</a:t>
            </a:r>
            <a:r>
              <a:rPr lang="en-US" altLang="zh-CN" sz="2800" baseline="30000" dirty="0" err="1">
                <a:latin typeface="Times New Roman" panose="02020603050405020304" pitchFamily="18" charset="0"/>
              </a:rPr>
              <a:t>o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= -33.5kJ/mol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2469" name="Line 5"/>
          <p:cNvSpPr>
            <a:spLocks noChangeShapeType="1"/>
          </p:cNvSpPr>
          <p:nvPr/>
        </p:nvSpPr>
        <p:spPr bwMode="auto">
          <a:xfrm>
            <a:off x="2915816" y="4797152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56" name="Picture 4"/>
          <p:cNvPicPr>
            <a:picLocks noChangeAspect="1" noChangeArrowheads="1"/>
          </p:cNvPicPr>
          <p:nvPr/>
        </p:nvPicPr>
        <p:blipFill>
          <a:blip r:embed="rId2" cstate="print"/>
          <a:srcRect l="13086" t="13585" r="15300" b="16536"/>
          <a:stretch>
            <a:fillRect/>
          </a:stretch>
        </p:blipFill>
        <p:spPr bwMode="auto">
          <a:xfrm>
            <a:off x="2807296" y="1040136"/>
            <a:ext cx="6192688" cy="50405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7E47FF-7527-4102-874E-96B59ECD6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551"/>
            <a:ext cx="9144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sz="3800" b="1" dirty="0"/>
              <a:t>Certain bacteria can fix N</a:t>
            </a:r>
            <a:r>
              <a:rPr lang="en-US" altLang="zh-CN" sz="3800" b="1" baseline="-25000" dirty="0"/>
              <a:t>2</a:t>
            </a:r>
            <a:r>
              <a:rPr lang="en-US" altLang="zh-CN" sz="3800" b="1" dirty="0"/>
              <a:t> into ammonia</a:t>
            </a:r>
          </a:p>
        </p:txBody>
      </p:sp>
      <p:pic>
        <p:nvPicPr>
          <p:cNvPr id="4" name="Picture 4" descr="21-3a">
            <a:extLst>
              <a:ext uri="{FF2B5EF4-FFF2-40B4-BE49-F238E27FC236}">
                <a16:creationId xmlns:a16="http://schemas.microsoft.com/office/drawing/2014/main" id="{F0266AD2-3D7A-46AF-9C72-52033DA8C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26268"/>
          <a:stretch/>
        </p:blipFill>
        <p:spPr bwMode="auto">
          <a:xfrm>
            <a:off x="129444" y="1219200"/>
            <a:ext cx="2627784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09" name="Picture 5"/>
          <p:cNvPicPr>
            <a:picLocks noChangeAspect="1" noChangeArrowheads="1"/>
          </p:cNvPicPr>
          <p:nvPr/>
        </p:nvPicPr>
        <p:blipFill>
          <a:blip r:embed="rId3" cstate="print"/>
          <a:srcRect l="18994" t="19489" r="18994" b="19487"/>
          <a:stretch>
            <a:fillRect/>
          </a:stretch>
        </p:blipFill>
        <p:spPr bwMode="auto">
          <a:xfrm>
            <a:off x="755576" y="476672"/>
            <a:ext cx="7488237" cy="552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44675"/>
            <a:ext cx="9144000" cy="1143000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Nitrogen fixation</a:t>
            </a:r>
            <a:br>
              <a:rPr lang="en-US" altLang="zh-CN" b="1" dirty="0">
                <a:solidFill>
                  <a:srgbClr val="0000FF"/>
                </a:solidFill>
              </a:rPr>
            </a:br>
            <a:r>
              <a:rPr lang="en-US" altLang="zh-CN" b="1" dirty="0">
                <a:solidFill>
                  <a:srgbClr val="0000FF"/>
                </a:solidFill>
              </a:rPr>
              <a:t>The nitrogenase complex in certain bacteria catalyzes the conversion of N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 to NH</a:t>
            </a:r>
            <a:r>
              <a:rPr lang="en-US" altLang="zh-CN" b="1" baseline="-25000" dirty="0">
                <a:solidFill>
                  <a:srgbClr val="0000FF"/>
                </a:solidFill>
              </a:rPr>
              <a:t>3</a:t>
            </a:r>
            <a:r>
              <a:rPr lang="en-US" altLang="zh-CN" b="1" dirty="0">
                <a:solidFill>
                  <a:srgbClr val="0000FF"/>
                </a:solidFill>
              </a:rPr>
              <a:t>, which is the ultimate source of nitrogen for all the nitrogen-containing biomolecules.</a:t>
            </a:r>
            <a:r>
              <a:rPr lang="en-US" altLang="zh-CN" b="1" dirty="0"/>
              <a:t> </a:t>
            </a:r>
          </a:p>
        </p:txBody>
      </p:sp>
      <p:sp>
        <p:nvSpPr>
          <p:cNvPr id="3" name="文本框 2">
            <a:hlinkClick r:id="rId3" action="ppaction://hlinksldjump"/>
            <a:extLst>
              <a:ext uri="{FF2B5EF4-FFF2-40B4-BE49-F238E27FC236}">
                <a16:creationId xmlns:a16="http://schemas.microsoft.com/office/drawing/2014/main" id="{B0B19A8A-B860-47CC-A04C-11BC5C4C35ED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</p:spTree>
  </p:cSld>
  <p:clrMapOvr>
    <a:masterClrMapping/>
  </p:clrMapOvr>
  <p:transition spd="slow" advClick="0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22-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489575"/>
          </a:xfrm>
          <a:prstGeom prst="rect">
            <a:avLst/>
          </a:prstGeom>
          <a:noFill/>
        </p:spPr>
      </p:pic>
      <p:pic>
        <p:nvPicPr>
          <p:cNvPr id="6147" name="Picture 3" descr="f22-3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4816475"/>
            <a:ext cx="8610600" cy="2041525"/>
          </a:xfrm>
          <a:prstGeom prst="rect">
            <a:avLst/>
          </a:prstGeom>
          <a:noFill/>
        </p:spPr>
      </p:pic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217863" y="0"/>
            <a:ext cx="5926137" cy="1373188"/>
          </a:xfrm>
          <a:prstGeom prst="rect">
            <a:avLst/>
          </a:prstGeom>
          <a:solidFill>
            <a:schemeClr val="bg1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0066FF"/>
                </a:solidFill>
                <a:latin typeface="Times New Roman" pitchFamily="18" charset="0"/>
              </a:rPr>
              <a:t>The </a:t>
            </a:r>
            <a:r>
              <a:rPr kumimoji="1" lang="en-US" altLang="zh-CN" sz="2800" b="1" dirty="0" err="1">
                <a:solidFill>
                  <a:srgbClr val="0066FF"/>
                </a:solidFill>
                <a:latin typeface="Times New Roman" pitchFamily="18" charset="0"/>
              </a:rPr>
              <a:t>nitrogenase</a:t>
            </a:r>
            <a:r>
              <a:rPr kumimoji="1" lang="en-US" altLang="zh-CN" sz="2800" b="1" dirty="0">
                <a:solidFill>
                  <a:srgbClr val="0066FF"/>
                </a:solidFill>
                <a:latin typeface="Times New Roman" pitchFamily="18" charset="0"/>
              </a:rPr>
              <a:t> complex consists of </a:t>
            </a:r>
          </a:p>
          <a:p>
            <a:r>
              <a:rPr kumimoji="1" lang="en-US" altLang="zh-CN" sz="2800" b="1" dirty="0" err="1">
                <a:solidFill>
                  <a:srgbClr val="2A05C7"/>
                </a:solidFill>
                <a:latin typeface="Times New Roman" pitchFamily="18" charset="0"/>
              </a:rPr>
              <a:t>dinitrogenase</a:t>
            </a:r>
            <a:r>
              <a:rPr kumimoji="1" lang="en-US" altLang="zh-CN" sz="2800" b="1" dirty="0">
                <a:solidFill>
                  <a:srgbClr val="0066FF"/>
                </a:solidFill>
                <a:latin typeface="Times New Roman" pitchFamily="18" charset="0"/>
              </a:rPr>
              <a:t>  and </a:t>
            </a:r>
            <a:r>
              <a:rPr kumimoji="1" lang="en-US" altLang="zh-CN" sz="2800" b="1" dirty="0" err="1">
                <a:solidFill>
                  <a:srgbClr val="2A05C7"/>
                </a:solidFill>
                <a:latin typeface="Times New Roman" pitchFamily="18" charset="0"/>
              </a:rPr>
              <a:t>dinitrogenase</a:t>
            </a:r>
            <a:r>
              <a:rPr kumimoji="1" lang="en-US" altLang="zh-CN" sz="2800" b="1" dirty="0">
                <a:solidFill>
                  <a:srgbClr val="2A05C7"/>
                </a:solidFill>
                <a:latin typeface="Times New Roman" pitchFamily="18" charset="0"/>
              </a:rPr>
              <a:t> reductase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0" y="5254625"/>
            <a:ext cx="65405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itchFamily="18" charset="0"/>
              </a:rPr>
              <a:t>ADP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0" y="6245225"/>
            <a:ext cx="65405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itchFamily="18" charset="0"/>
              </a:rPr>
              <a:t>ADP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1447800" y="5281613"/>
            <a:ext cx="782638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4Fe-4S</a:t>
            </a: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2484438" y="5734050"/>
            <a:ext cx="1101725" cy="5810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4Fe-4S</a:t>
            </a:r>
          </a:p>
          <a:p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(P-cluster)</a:t>
            </a: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2555875" y="4581525"/>
            <a:ext cx="1411288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00CC"/>
                </a:solidFill>
                <a:latin typeface="Times New Roman" pitchFamily="18" charset="0"/>
              </a:rPr>
              <a:t>Fe-Mo cofactor</a:t>
            </a:r>
            <a:r>
              <a:rPr kumimoji="1" lang="en-US" altLang="zh-CN" b="1">
                <a:solidFill>
                  <a:srgbClr val="0000CC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762000" y="4191000"/>
            <a:ext cx="523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4000" b="1">
                <a:solidFill>
                  <a:srgbClr val="0000FF"/>
                </a:solidFill>
                <a:latin typeface="Times New Roman" pitchFamily="18" charset="0"/>
              </a:rPr>
              <a:t>e</a:t>
            </a:r>
            <a:r>
              <a:rPr kumimoji="1" lang="en-US" altLang="zh-CN" sz="4000" b="1" baseline="30000">
                <a:solidFill>
                  <a:srgbClr val="0000FF"/>
                </a:solidFill>
                <a:latin typeface="Times New Roman" pitchFamily="18" charset="0"/>
              </a:rPr>
              <a:t>-</a:t>
            </a:r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1066800" y="47244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 flipV="1">
            <a:off x="2057400" y="57150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60" name="Line 16"/>
          <p:cNvSpPr>
            <a:spLocks noChangeShapeType="1"/>
          </p:cNvSpPr>
          <p:nvPr/>
        </p:nvSpPr>
        <p:spPr bwMode="auto">
          <a:xfrm flipV="1">
            <a:off x="2971800" y="54102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447800" y="4572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0000CC"/>
                </a:solidFill>
                <a:latin typeface="Times New Roman" pitchFamily="18" charset="0"/>
              </a:rPr>
              <a:t>?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5219700" y="6381750"/>
            <a:ext cx="1354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00CC"/>
                </a:solidFill>
                <a:latin typeface="Times New Roman" pitchFamily="18" charset="0"/>
              </a:rPr>
              <a:t>Fe-Mo cofactor</a:t>
            </a:r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5508625" y="5157788"/>
            <a:ext cx="11017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4Fe-4S</a:t>
            </a:r>
          </a:p>
          <a:p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(P-cluster)</a:t>
            </a: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6732588" y="5300663"/>
            <a:ext cx="782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4Fe-4S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7956550" y="5094288"/>
            <a:ext cx="654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itchFamily="18" charset="0"/>
              </a:rPr>
              <a:t>ADP</a:t>
            </a:r>
          </a:p>
        </p:txBody>
      </p:sp>
      <p:sp>
        <p:nvSpPr>
          <p:cNvPr id="6168" name="Rectangle 24"/>
          <p:cNvSpPr>
            <a:spLocks noChangeArrowheads="1"/>
          </p:cNvSpPr>
          <p:nvPr/>
        </p:nvSpPr>
        <p:spPr bwMode="auto">
          <a:xfrm>
            <a:off x="8321675" y="6030913"/>
            <a:ext cx="654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Times New Roman" pitchFamily="18" charset="0"/>
              </a:rPr>
              <a:t>ADP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22-3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989388" cy="6858000"/>
          </a:xfrm>
          <a:prstGeom prst="rect">
            <a:avLst/>
          </a:prstGeom>
          <a:noFill/>
        </p:spPr>
      </p:pic>
      <p:pic>
        <p:nvPicPr>
          <p:cNvPr id="7171" name="Picture 3" descr="homocit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8038" y="3843338"/>
            <a:ext cx="1676400" cy="3014662"/>
          </a:xfrm>
          <a:prstGeom prst="rect">
            <a:avLst/>
          </a:prstGeom>
          <a:noFill/>
        </p:spPr>
      </p:pic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203575" y="3284538"/>
            <a:ext cx="1928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Molybdenum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5219700" y="404813"/>
            <a:ext cx="3924300" cy="1920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4000" b="1">
                <a:solidFill>
                  <a:srgbClr val="2A05C7"/>
                </a:solidFill>
                <a:latin typeface="Times New Roman" pitchFamily="18" charset="0"/>
              </a:rPr>
              <a:t>N</a:t>
            </a:r>
            <a:r>
              <a:rPr kumimoji="1" lang="en-US" altLang="zh-CN" sz="4000" b="1" baseline="-25000">
                <a:solidFill>
                  <a:srgbClr val="2A05C7"/>
                </a:solidFill>
                <a:latin typeface="Times New Roman" pitchFamily="18" charset="0"/>
              </a:rPr>
              <a:t>2</a:t>
            </a:r>
            <a:r>
              <a:rPr kumimoji="1" lang="en-US" altLang="zh-CN" sz="4000" b="1">
                <a:solidFill>
                  <a:srgbClr val="2A05C7"/>
                </a:solidFill>
                <a:latin typeface="Times New Roman" pitchFamily="18" charset="0"/>
              </a:rPr>
              <a:t> is believed to </a:t>
            </a:r>
          </a:p>
          <a:p>
            <a:r>
              <a:rPr kumimoji="1" lang="en-US" altLang="zh-CN" sz="4000" b="1">
                <a:solidFill>
                  <a:srgbClr val="2A05C7"/>
                </a:solidFill>
                <a:latin typeface="Times New Roman" pitchFamily="18" charset="0"/>
              </a:rPr>
              <a:t>be reduced at the</a:t>
            </a:r>
          </a:p>
          <a:p>
            <a:r>
              <a:rPr kumimoji="1" lang="en-US" altLang="zh-CN" sz="4000" b="1">
                <a:solidFill>
                  <a:srgbClr val="2A05C7"/>
                </a:solidFill>
                <a:latin typeface="Times New Roman" pitchFamily="18" charset="0"/>
              </a:rPr>
              <a:t>Fe-Mo cofactor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2105025" y="1557338"/>
            <a:ext cx="666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3600" b="1">
                <a:solidFill>
                  <a:srgbClr val="2A05C7"/>
                </a:solidFill>
                <a:latin typeface="Times New Roman" pitchFamily="18" charset="0"/>
              </a:rPr>
              <a:t>N</a:t>
            </a:r>
            <a:r>
              <a:rPr kumimoji="1" lang="en-US" altLang="zh-CN" sz="3600" b="1" baseline="-25000">
                <a:solidFill>
                  <a:srgbClr val="2A05C7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979613" y="0"/>
            <a:ext cx="5048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2555875" y="1203325"/>
            <a:ext cx="3635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1403350" y="1125538"/>
            <a:ext cx="3635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1908175" y="1347788"/>
            <a:ext cx="3635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2700338" y="2276475"/>
            <a:ext cx="3635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1331913" y="2349500"/>
            <a:ext cx="3635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1979613" y="2420938"/>
            <a:ext cx="36353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chemeClr val="hlink"/>
                </a:solidFill>
                <a:latin typeface="Tahoma" pitchFamily="34" charset="0"/>
              </a:rPr>
              <a:t>Fe</a:t>
            </a: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2051050" y="476250"/>
            <a:ext cx="280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2916238" y="692150"/>
            <a:ext cx="2809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3419475" y="1628775"/>
            <a:ext cx="280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1187450" y="692150"/>
            <a:ext cx="280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611188" y="1700213"/>
            <a:ext cx="2809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1979613" y="2060575"/>
            <a:ext cx="2809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2051050" y="2859088"/>
            <a:ext cx="2809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2843213" y="3003550"/>
            <a:ext cx="2809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1116013" y="3074988"/>
            <a:ext cx="2809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200" b="1">
                <a:solidFill>
                  <a:srgbClr val="FFCC00"/>
                </a:solidFill>
                <a:latin typeface="Tahoma" pitchFamily="34" charset="0"/>
              </a:rPr>
              <a:t>S</a:t>
            </a: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1835150" y="3284538"/>
            <a:ext cx="644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hlink"/>
                </a:solidFill>
                <a:latin typeface="Tahoma" pitchFamily="34" charset="0"/>
              </a:rPr>
              <a:t>Mo</a:t>
            </a:r>
          </a:p>
        </p:txBody>
      </p:sp>
      <p:sp>
        <p:nvSpPr>
          <p:cNvPr id="7192" name="AutoShape 24"/>
          <p:cNvSpPr>
            <a:spLocks noChangeArrowheads="1"/>
          </p:cNvSpPr>
          <p:nvPr/>
        </p:nvSpPr>
        <p:spPr bwMode="auto">
          <a:xfrm>
            <a:off x="2484438" y="3500438"/>
            <a:ext cx="719137" cy="73025"/>
          </a:xfrm>
          <a:prstGeom prst="leftArrow">
            <a:avLst>
              <a:gd name="adj1" fmla="val 50000"/>
              <a:gd name="adj2" fmla="val 24619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93" name="AutoShape 25"/>
          <p:cNvSpPr>
            <a:spLocks noChangeArrowheads="1"/>
          </p:cNvSpPr>
          <p:nvPr/>
        </p:nvSpPr>
        <p:spPr bwMode="auto">
          <a:xfrm>
            <a:off x="2411413" y="5229225"/>
            <a:ext cx="935037" cy="215900"/>
          </a:xfrm>
          <a:prstGeom prst="leftArrow">
            <a:avLst>
              <a:gd name="adj1" fmla="val 50000"/>
              <a:gd name="adj2" fmla="val 108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52513"/>
            <a:ext cx="9144000" cy="114300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n-US" altLang="zh-CN" b="1">
                <a:solidFill>
                  <a:srgbClr val="0000FF"/>
                </a:solidFill>
              </a:rPr>
              <a:t>Electrons are transferred through a series of carriers to N</a:t>
            </a:r>
            <a:r>
              <a:rPr lang="en-US" altLang="zh-CN" b="1" baseline="-25000">
                <a:solidFill>
                  <a:srgbClr val="0000FF"/>
                </a:solidFill>
              </a:rPr>
              <a:t>2</a:t>
            </a:r>
            <a:r>
              <a:rPr lang="en-US" altLang="zh-CN" b="1">
                <a:solidFill>
                  <a:srgbClr val="0000FF"/>
                </a:solidFill>
              </a:rPr>
              <a:t> for its reduction on the nitrogenase complex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44463" y="2852738"/>
            <a:ext cx="8964612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N</a:t>
            </a:r>
            <a:r>
              <a:rPr kumimoji="1" lang="en-US" altLang="zh-CN" sz="3200" b="1" baseline="-25000" dirty="0">
                <a:solidFill>
                  <a:srgbClr val="0000FF"/>
                </a:solidFill>
                <a:latin typeface="Tahoma" pitchFamily="34" charset="0"/>
              </a:rPr>
              <a:t>2</a:t>
            </a: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 + 8H+ +8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Tahoma" pitchFamily="34" charset="0"/>
              </a:rPr>
              <a:t>e</a:t>
            </a: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- + 16ATP + 16H</a:t>
            </a:r>
            <a:r>
              <a:rPr kumimoji="1" lang="en-US" altLang="zh-CN" sz="3200" b="1" baseline="-25000" dirty="0">
                <a:solidFill>
                  <a:srgbClr val="0000FF"/>
                </a:solidFill>
                <a:latin typeface="Tahoma" pitchFamily="34" charset="0"/>
              </a:rPr>
              <a:t>2</a:t>
            </a: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O </a:t>
            </a:r>
          </a:p>
          <a:p>
            <a:pPr>
              <a:lnSpc>
                <a:spcPct val="150000"/>
              </a:lnSpc>
            </a:pP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  <a:sym typeface="Symbol" pitchFamily="18" charset="2"/>
              </a:rPr>
              <a:t>                </a:t>
            </a: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  2NH</a:t>
            </a:r>
            <a:r>
              <a:rPr kumimoji="1" lang="en-US" altLang="zh-CN" sz="3200" b="1" baseline="-25000" dirty="0">
                <a:solidFill>
                  <a:srgbClr val="0000FF"/>
                </a:solidFill>
                <a:latin typeface="Tahoma" pitchFamily="34" charset="0"/>
              </a:rPr>
              <a:t>3</a:t>
            </a: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 + H</a:t>
            </a:r>
            <a:r>
              <a:rPr kumimoji="1" lang="en-US" altLang="zh-CN" sz="3200" b="1" baseline="-25000" dirty="0">
                <a:solidFill>
                  <a:srgbClr val="0000FF"/>
                </a:solidFill>
                <a:latin typeface="Tahoma" pitchFamily="34" charset="0"/>
              </a:rPr>
              <a:t>2</a:t>
            </a:r>
            <a:r>
              <a:rPr kumimoji="1" lang="en-US" altLang="zh-CN" sz="3200" b="1" dirty="0">
                <a:solidFill>
                  <a:srgbClr val="0000FF"/>
                </a:solidFill>
                <a:latin typeface="Tahoma" pitchFamily="34" charset="0"/>
              </a:rPr>
              <a:t> + 16ADP + 16P</a:t>
            </a:r>
            <a:r>
              <a:rPr kumimoji="1" lang="en-US" altLang="zh-CN" sz="3200" b="1" baseline="-25000" dirty="0">
                <a:solidFill>
                  <a:srgbClr val="0000FF"/>
                </a:solidFill>
                <a:latin typeface="Tahoma" pitchFamily="34" charset="0"/>
              </a:rPr>
              <a:t>i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22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6372225" cy="6858000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519863" y="333375"/>
            <a:ext cx="2624137" cy="4362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Electrons are </a:t>
            </a: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transferred</a:t>
            </a: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to N</a:t>
            </a:r>
            <a:r>
              <a:rPr kumimoji="1" lang="en-US" altLang="zh-CN" sz="2800" b="1" baseline="-25000" dirty="0">
                <a:solidFill>
                  <a:schemeClr val="hlink"/>
                </a:solidFill>
                <a:latin typeface="Times New Roman" pitchFamily="18" charset="0"/>
              </a:rPr>
              <a:t>2 </a:t>
            </a:r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bound in </a:t>
            </a: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the active site </a:t>
            </a: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of </a:t>
            </a:r>
            <a:r>
              <a:rPr kumimoji="1" lang="en-US" altLang="zh-CN" sz="2800" b="1" dirty="0" err="1">
                <a:solidFill>
                  <a:schemeClr val="hlink"/>
                </a:solidFill>
                <a:latin typeface="Times New Roman" pitchFamily="18" charset="0"/>
              </a:rPr>
              <a:t>dinitrogenase</a:t>
            </a:r>
            <a:endParaRPr kumimoji="1" lang="en-US" altLang="zh-CN" sz="2800" b="1" dirty="0">
              <a:solidFill>
                <a:schemeClr val="hlink"/>
              </a:solidFill>
              <a:latin typeface="Times New Roman" pitchFamily="18" charset="0"/>
            </a:endParaRP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via ferredoxin/</a:t>
            </a: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flavodoxin and </a:t>
            </a:r>
          </a:p>
          <a:p>
            <a:r>
              <a:rPr kumimoji="1" lang="en-US" altLang="zh-CN" sz="2800" b="1" dirty="0" err="1">
                <a:solidFill>
                  <a:schemeClr val="hlink"/>
                </a:solidFill>
                <a:latin typeface="Times New Roman" pitchFamily="18" charset="0"/>
              </a:rPr>
              <a:t>dinitrogenase</a:t>
            </a:r>
            <a:endParaRPr kumimoji="1" lang="en-US" altLang="zh-CN" sz="2800" b="1" dirty="0">
              <a:solidFill>
                <a:schemeClr val="hlink"/>
              </a:solidFill>
              <a:latin typeface="Times New Roman" pitchFamily="18" charset="0"/>
            </a:endParaRPr>
          </a:p>
          <a:p>
            <a:r>
              <a:rPr kumimoji="1" lang="en-US" altLang="zh-CN" sz="2800" b="1" dirty="0">
                <a:solidFill>
                  <a:schemeClr val="hlink"/>
                </a:solidFill>
                <a:latin typeface="Times New Roman" pitchFamily="18" charset="0"/>
              </a:rPr>
              <a:t>reductase</a:t>
            </a:r>
          </a:p>
          <a:p>
            <a:endParaRPr kumimoji="1" lang="en-US" altLang="zh-CN" sz="2800" b="1" dirty="0">
              <a:solidFill>
                <a:schemeClr val="hlin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slow" advClick="0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333" name="Picture 5"/>
          <p:cNvPicPr>
            <a:picLocks noChangeAspect="1" noChangeArrowheads="1"/>
          </p:cNvPicPr>
          <p:nvPr/>
        </p:nvPicPr>
        <p:blipFill>
          <a:blip r:embed="rId2" cstate="print"/>
          <a:srcRect l="18262" t="18512" r="18262" b="18489"/>
          <a:stretch>
            <a:fillRect/>
          </a:stretch>
        </p:blipFill>
        <p:spPr bwMode="auto">
          <a:xfrm>
            <a:off x="900113" y="333375"/>
            <a:ext cx="7704137" cy="573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7813"/>
            <a:ext cx="8229600" cy="1139825"/>
          </a:xfrm>
        </p:spPr>
        <p:txBody>
          <a:bodyPr/>
          <a:lstStyle/>
          <a:p>
            <a:r>
              <a:rPr lang="en-US" altLang="zh-CN"/>
              <a:t>M2 Amino Acid Metabolism</a:t>
            </a:r>
          </a:p>
        </p:txBody>
      </p:sp>
      <p:sp>
        <p:nvSpPr>
          <p:cNvPr id="289799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30725"/>
          </a:xfrm>
        </p:spPr>
        <p:txBody>
          <a:bodyPr/>
          <a:lstStyle/>
          <a:p>
            <a:r>
              <a:rPr lang="en-US" altLang="zh-CN"/>
              <a:t>Biosynthesis of amino acids</a:t>
            </a:r>
          </a:p>
          <a:p>
            <a:r>
              <a:rPr lang="en-US" altLang="zh-CN"/>
              <a:t>Amino acid degradation</a:t>
            </a:r>
          </a:p>
          <a:p>
            <a:r>
              <a:rPr lang="en-US" altLang="zh-CN"/>
              <a:t>Transamination</a:t>
            </a:r>
          </a:p>
          <a:p>
            <a:r>
              <a:rPr lang="en-US" altLang="zh-CN"/>
              <a:t>Oxidative deamination of glutamate</a:t>
            </a:r>
          </a:p>
          <a:p>
            <a:r>
              <a:rPr lang="en-US" altLang="zh-CN"/>
              <a:t>Amino acid oxidation</a:t>
            </a:r>
          </a:p>
          <a:p>
            <a:r>
              <a:rPr lang="en-US" altLang="zh-CN"/>
              <a:t>Metabolism of phenylalamine</a:t>
            </a:r>
          </a:p>
          <a:p>
            <a:pPr>
              <a:buFont typeface="Wingdings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536" y="2232174"/>
            <a:ext cx="9144000" cy="422116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algn="l"/>
            <a:br>
              <a:rPr lang="en-US" altLang="zh-CN" sz="4000" b="1" dirty="0">
                <a:solidFill>
                  <a:srgbClr val="0000FF"/>
                </a:solidFill>
              </a:rPr>
            </a:br>
            <a:r>
              <a:rPr lang="en-US" altLang="zh-CN" sz="4000" b="1" dirty="0">
                <a:solidFill>
                  <a:srgbClr val="0000FF"/>
                </a:solidFill>
              </a:rPr>
              <a:t>Reduced nitrogen in the form of NH</a:t>
            </a:r>
            <a:r>
              <a:rPr lang="en-US" altLang="zh-CN" sz="4000" b="1" baseline="-25000" dirty="0">
                <a:solidFill>
                  <a:srgbClr val="0000FF"/>
                </a:solidFill>
              </a:rPr>
              <a:t>4</a:t>
            </a:r>
            <a:r>
              <a:rPr lang="en-US" altLang="zh-CN" sz="4000" b="1" baseline="30000" dirty="0">
                <a:solidFill>
                  <a:srgbClr val="0000FF"/>
                </a:solidFill>
              </a:rPr>
              <a:t>+</a:t>
            </a:r>
            <a:r>
              <a:rPr lang="en-US" altLang="zh-CN" sz="4000" b="1" dirty="0">
                <a:solidFill>
                  <a:srgbClr val="0000FF"/>
                </a:solidFill>
              </a:rPr>
              <a:t> is assimilated into organic nitrogen-containing compounds by the action of </a:t>
            </a:r>
            <a:r>
              <a:rPr lang="en-US" altLang="zh-CN" sz="4000" b="1" dirty="0">
                <a:solidFill>
                  <a:srgbClr val="993366"/>
                </a:solidFill>
              </a:rPr>
              <a:t>glutamate dehydrogenase</a:t>
            </a:r>
            <a:r>
              <a:rPr lang="en-US" altLang="zh-CN" sz="4000" b="1" dirty="0">
                <a:solidFill>
                  <a:srgbClr val="0000FF"/>
                </a:solidFill>
              </a:rPr>
              <a:t> and </a:t>
            </a:r>
            <a:r>
              <a:rPr lang="en-US" altLang="zh-CN" sz="4000" b="1" dirty="0">
                <a:solidFill>
                  <a:srgbClr val="993366"/>
                </a:solidFill>
              </a:rPr>
              <a:t>glutamine synthetase</a:t>
            </a:r>
            <a:r>
              <a:rPr lang="en-US" altLang="zh-CN" sz="4000" b="1" dirty="0">
                <a:solidFill>
                  <a:srgbClr val="0000FF"/>
                </a:solidFill>
              </a:rPr>
              <a:t> .</a:t>
            </a:r>
            <a:endParaRPr lang="en-US" altLang="zh-CN" sz="4000" dirty="0">
              <a:solidFill>
                <a:srgbClr val="0000FF"/>
              </a:solidFill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23850" y="260350"/>
            <a:ext cx="85693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b="1" dirty="0">
                <a:solidFill>
                  <a:srgbClr val="FF0000"/>
                </a:solidFill>
              </a:rPr>
              <a:t>Ammonia assimilation</a:t>
            </a:r>
            <a:endParaRPr lang="en-US" altLang="zh-CN" sz="4000" b="1" dirty="0">
              <a:solidFill>
                <a:srgbClr val="0000FF"/>
              </a:solidFill>
              <a:latin typeface="Garamond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4000" b="1" dirty="0">
                <a:solidFill>
                  <a:srgbClr val="0000FF"/>
                </a:solidFill>
                <a:latin typeface="Garamond" pitchFamily="18" charset="0"/>
              </a:rPr>
              <a:t>Ammonia is incorporated into biomolecules through </a:t>
            </a:r>
            <a:r>
              <a:rPr lang="en-US" altLang="zh-CN" sz="4000" b="1" dirty="0">
                <a:solidFill>
                  <a:srgbClr val="993366"/>
                </a:solidFill>
                <a:latin typeface="Garamond" pitchFamily="18" charset="0"/>
              </a:rPr>
              <a:t>Glutamate</a:t>
            </a:r>
            <a:r>
              <a:rPr lang="en-US" altLang="zh-CN" sz="4000" b="1" dirty="0">
                <a:solidFill>
                  <a:srgbClr val="0000FF"/>
                </a:solidFill>
                <a:latin typeface="Garamond" pitchFamily="18" charset="0"/>
              </a:rPr>
              <a:t> and </a:t>
            </a:r>
            <a:r>
              <a:rPr lang="en-US" altLang="zh-CN" sz="4000" b="1" dirty="0">
                <a:solidFill>
                  <a:srgbClr val="993366"/>
                </a:solidFill>
                <a:latin typeface="Garamond" pitchFamily="18" charset="0"/>
              </a:rPr>
              <a:t>glutamine.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800" y="1803400"/>
            <a:ext cx="8026400" cy="3251200"/>
          </a:xfrm>
          <a:prstGeom prst="rect">
            <a:avLst/>
          </a:prstGeom>
          <a:noFill/>
        </p:spPr>
      </p:pic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1403350" y="620713"/>
            <a:ext cx="57610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2A05C7"/>
                </a:solidFill>
                <a:latin typeface="Times New Roman" panose="02020603050405020304" pitchFamily="18" charset="0"/>
              </a:rPr>
              <a:t>glutamate dehydrogenase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04" name="Picture 4"/>
          <p:cNvPicPr>
            <a:picLocks noChangeAspect="1" noChangeArrowheads="1"/>
          </p:cNvPicPr>
          <p:nvPr/>
        </p:nvPicPr>
        <p:blipFill>
          <a:blip r:embed="rId2" cstate="print"/>
          <a:srcRect b="29260"/>
          <a:stretch>
            <a:fillRect/>
          </a:stretch>
        </p:blipFill>
        <p:spPr bwMode="auto">
          <a:xfrm>
            <a:off x="2268538" y="549275"/>
            <a:ext cx="5613400" cy="6092825"/>
          </a:xfrm>
          <a:prstGeom prst="rect">
            <a:avLst/>
          </a:prstGeom>
          <a:noFill/>
        </p:spPr>
      </p:pic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250825" y="112713"/>
            <a:ext cx="386516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2A05C7"/>
                </a:solidFill>
                <a:latin typeface="Times New Roman" panose="02020603050405020304" pitchFamily="18" charset="0"/>
              </a:rPr>
              <a:t>glutamine synthetase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4"/>
          <p:cNvSpPr>
            <a:spLocks noChangeArrowheads="1"/>
          </p:cNvSpPr>
          <p:nvPr/>
        </p:nvSpPr>
        <p:spPr bwMode="auto">
          <a:xfrm>
            <a:off x="3186653" y="1285845"/>
            <a:ext cx="24817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2A05C7"/>
                </a:solidFill>
                <a:latin typeface="Times New Roman" panose="02020603050405020304" pitchFamily="18" charset="0"/>
              </a:rPr>
              <a:t>glutamine synthetase</a:t>
            </a: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179388" y="1628775"/>
            <a:ext cx="8964612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Glutamate + NH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 +ATP             Glutamine  + ADP + Pi </a:t>
            </a:r>
          </a:p>
          <a:p>
            <a:pPr>
              <a:spcBef>
                <a:spcPct val="50000"/>
              </a:spcBef>
            </a:pP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Glutamine + Ketoglutarate                               2Glutamate</a:t>
            </a:r>
          </a:p>
        </p:txBody>
      </p:sp>
      <p:sp>
        <p:nvSpPr>
          <p:cNvPr id="201734" name="Line 6"/>
          <p:cNvSpPr>
            <a:spLocks noChangeShapeType="1"/>
          </p:cNvSpPr>
          <p:nvPr/>
        </p:nvSpPr>
        <p:spPr bwMode="auto">
          <a:xfrm>
            <a:off x="3779912" y="1916832"/>
            <a:ext cx="10810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1735" name="Line 7"/>
          <p:cNvSpPr>
            <a:spLocks noChangeShapeType="1"/>
          </p:cNvSpPr>
          <p:nvPr/>
        </p:nvSpPr>
        <p:spPr bwMode="auto">
          <a:xfrm>
            <a:off x="4500563" y="3213100"/>
            <a:ext cx="2232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1737" name="Text Box 9"/>
          <p:cNvSpPr txBox="1">
            <a:spLocks noChangeArrowheads="1"/>
          </p:cNvSpPr>
          <p:nvPr/>
        </p:nvSpPr>
        <p:spPr bwMode="auto">
          <a:xfrm>
            <a:off x="4067175" y="3716338"/>
            <a:ext cx="417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NADPH               NADP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01740" name="Freeform 12"/>
          <p:cNvSpPr>
            <a:spLocks/>
          </p:cNvSpPr>
          <p:nvPr/>
        </p:nvSpPr>
        <p:spPr bwMode="auto">
          <a:xfrm>
            <a:off x="4572000" y="3213100"/>
            <a:ext cx="2305050" cy="431800"/>
          </a:xfrm>
          <a:custGeom>
            <a:avLst/>
            <a:gdLst/>
            <a:ahLst/>
            <a:cxnLst>
              <a:cxn ang="0">
                <a:pos x="0" y="468"/>
              </a:cxn>
              <a:cxn ang="0">
                <a:pos x="182" y="286"/>
              </a:cxn>
              <a:cxn ang="0">
                <a:pos x="499" y="60"/>
              </a:cxn>
              <a:cxn ang="0">
                <a:pos x="998" y="60"/>
              </a:cxn>
              <a:cxn ang="0">
                <a:pos x="1452" y="423"/>
              </a:cxn>
            </a:cxnLst>
            <a:rect l="0" t="0" r="r" b="b"/>
            <a:pathLst>
              <a:path w="1452" h="468">
                <a:moveTo>
                  <a:pt x="0" y="468"/>
                </a:moveTo>
                <a:cubicBezTo>
                  <a:pt x="49" y="411"/>
                  <a:pt x="99" y="354"/>
                  <a:pt x="182" y="286"/>
                </a:cubicBezTo>
                <a:cubicBezTo>
                  <a:pt x="265" y="218"/>
                  <a:pt x="363" y="98"/>
                  <a:pt x="499" y="60"/>
                </a:cubicBezTo>
                <a:cubicBezTo>
                  <a:pt x="635" y="22"/>
                  <a:pt x="839" y="0"/>
                  <a:pt x="998" y="60"/>
                </a:cubicBezTo>
                <a:cubicBezTo>
                  <a:pt x="1157" y="120"/>
                  <a:pt x="1304" y="271"/>
                  <a:pt x="1452" y="423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1742" name="Text Box 14"/>
          <p:cNvSpPr txBox="1">
            <a:spLocks noChangeArrowheads="1"/>
          </p:cNvSpPr>
          <p:nvPr/>
        </p:nvSpPr>
        <p:spPr bwMode="auto">
          <a:xfrm>
            <a:off x="395288" y="4868863"/>
            <a:ext cx="8497887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itchFamily="18" charset="0"/>
                <a:ea typeface="华文中宋" pitchFamily="2" charset="-122"/>
              </a:rPr>
              <a:t>形成</a:t>
            </a:r>
            <a:r>
              <a:rPr lang="en-US" altLang="zh-CN" sz="2800">
                <a:latin typeface="Times New Roman" pitchFamily="18" charset="0"/>
                <a:ea typeface="华文中宋" pitchFamily="2" charset="-122"/>
              </a:rPr>
              <a:t>Gln</a:t>
            </a:r>
            <a:r>
              <a:rPr lang="zh-CN" altLang="en-US" sz="2800">
                <a:latin typeface="Times New Roman" pitchFamily="18" charset="0"/>
                <a:ea typeface="华文中宋" pitchFamily="2" charset="-122"/>
              </a:rPr>
              <a:t>既是氨同化的一种方式，又可消除过高氨浓度带来的毒害，还可以作为氨的供体，用于</a:t>
            </a:r>
            <a:r>
              <a:rPr lang="en-US" altLang="zh-CN" sz="2800">
                <a:latin typeface="Times New Roman" pitchFamily="18" charset="0"/>
                <a:ea typeface="华文中宋" pitchFamily="2" charset="-122"/>
              </a:rPr>
              <a:t>Glu</a:t>
            </a:r>
            <a:r>
              <a:rPr lang="zh-CN" altLang="en-US" sz="2800">
                <a:latin typeface="Times New Roman" pitchFamily="18" charset="0"/>
                <a:ea typeface="华文中宋" pitchFamily="2" charset="-122"/>
              </a:rPr>
              <a:t>的合成。</a:t>
            </a:r>
          </a:p>
        </p:txBody>
      </p:sp>
      <p:sp>
        <p:nvSpPr>
          <p:cNvPr id="201743" name="Text Box 15"/>
          <p:cNvSpPr txBox="1">
            <a:spLocks noChangeArrowheads="1"/>
          </p:cNvSpPr>
          <p:nvPr/>
        </p:nvSpPr>
        <p:spPr bwMode="auto">
          <a:xfrm>
            <a:off x="4427538" y="2708275"/>
            <a:ext cx="24495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Glutamate synthase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539750" y="2133600"/>
            <a:ext cx="7920038" cy="329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200" b="1">
                <a:solidFill>
                  <a:srgbClr val="0000FF"/>
                </a:solidFill>
                <a:latin typeface="Garamond" pitchFamily="18" charset="0"/>
              </a:rPr>
              <a:t>The amino acids can be grouped into six biosynthetic families depending on the metabolic intermediate from which their carbon skeleton is derived.</a:t>
            </a:r>
          </a:p>
        </p:txBody>
      </p:sp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539750" y="476250"/>
            <a:ext cx="7704138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200" b="1">
                <a:solidFill>
                  <a:srgbClr val="993366"/>
                </a:solidFill>
                <a:latin typeface="Garamond" pitchFamily="18" charset="0"/>
              </a:rPr>
              <a:t>Biosynthesis of amino acids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89138"/>
            <a:ext cx="9144000" cy="1143000"/>
          </a:xfrm>
        </p:spPr>
        <p:txBody>
          <a:bodyPr/>
          <a:lstStyle/>
          <a:p>
            <a:pPr algn="ctr"/>
            <a:r>
              <a:rPr lang="en-US" altLang="zh-CN" b="1">
                <a:solidFill>
                  <a:srgbClr val="0000FF"/>
                </a:solidFill>
              </a:rPr>
              <a:t>The 20 amino acids are synthesized mainly from intermediates of </a:t>
            </a:r>
            <a:r>
              <a:rPr lang="en-US" altLang="zh-CN" b="1">
                <a:solidFill>
                  <a:srgbClr val="FF0000"/>
                </a:solidFill>
              </a:rPr>
              <a:t>glycolysis</a:t>
            </a:r>
            <a:r>
              <a:rPr lang="en-US" altLang="zh-CN" b="1">
                <a:solidFill>
                  <a:srgbClr val="0000FF"/>
                </a:solidFill>
              </a:rPr>
              <a:t>, </a:t>
            </a:r>
            <a:r>
              <a:rPr lang="en-US" altLang="zh-CN" b="1">
                <a:solidFill>
                  <a:srgbClr val="FF0000"/>
                </a:solidFill>
              </a:rPr>
              <a:t>citric acid cycle</a:t>
            </a:r>
            <a:r>
              <a:rPr lang="en-US" altLang="zh-CN" b="1">
                <a:solidFill>
                  <a:srgbClr val="0000FF"/>
                </a:solidFill>
              </a:rPr>
              <a:t>, or </a:t>
            </a:r>
            <a:r>
              <a:rPr lang="en-US" altLang="zh-CN" b="1">
                <a:solidFill>
                  <a:srgbClr val="FF0000"/>
                </a:solidFill>
              </a:rPr>
              <a:t>pentose phosphate pathway</a:t>
            </a:r>
            <a:r>
              <a:rPr lang="en-US" altLang="zh-CN" b="1">
                <a:solidFill>
                  <a:srgbClr val="0000FF"/>
                </a:solidFill>
              </a:rPr>
              <a:t> in bacteria and plants.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hlinkClick r:id="rId3" action="ppaction://hlinksldjump"/>
            <a:extLst>
              <a:ext uri="{FF2B5EF4-FFF2-40B4-BE49-F238E27FC236}">
                <a16:creationId xmlns:a16="http://schemas.microsoft.com/office/drawing/2014/main" id="{904198FF-4B9B-4B09-B413-11D654A3FBD8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C836DB-3946-47C2-AF78-5DCCAADD1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6261" y="364014"/>
            <a:ext cx="4631477" cy="63093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F091D6-0242-4F7E-B067-3779048D3F8F}"/>
              </a:ext>
            </a:extLst>
          </p:cNvPr>
          <p:cNvSpPr txBox="1"/>
          <p:nvPr/>
        </p:nvSpPr>
        <p:spPr>
          <a:xfrm>
            <a:off x="539552" y="648866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edition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F313DF-E4F7-4C33-A7CC-4B7ED52941B7}"/>
              </a:ext>
            </a:extLst>
          </p:cNvPr>
          <p:cNvSpPr txBox="1"/>
          <p:nvPr/>
        </p:nvSpPr>
        <p:spPr>
          <a:xfrm>
            <a:off x="1132022" y="351867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aromatic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F1E1AB1-3EA8-410F-A31F-0696E4352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06" y="0"/>
            <a:ext cx="7329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30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4" name="Picture 2"/>
          <p:cNvPicPr>
            <a:picLocks noChangeAspect="1" noChangeArrowheads="1"/>
          </p:cNvPicPr>
          <p:nvPr/>
        </p:nvPicPr>
        <p:blipFill>
          <a:blip r:embed="rId3" cstate="print"/>
          <a:srcRect l="17513" t="17513" r="18262" b="17513"/>
          <a:stretch>
            <a:fillRect/>
          </a:stretch>
        </p:blipFill>
        <p:spPr bwMode="auto">
          <a:xfrm>
            <a:off x="323850" y="295275"/>
            <a:ext cx="8137525" cy="617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DD649F06-9D96-4C59-8C0E-36E7566C0253}"/>
              </a:ext>
            </a:extLst>
          </p:cNvPr>
          <p:cNvSpPr/>
          <p:nvPr/>
        </p:nvSpPr>
        <p:spPr>
          <a:xfrm>
            <a:off x="2555776" y="4005064"/>
            <a:ext cx="1152128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3CE34C9-E584-4361-BB79-FB54B3498818}"/>
              </a:ext>
            </a:extLst>
          </p:cNvPr>
          <p:cNvCxnSpPr/>
          <p:nvPr/>
        </p:nvCxnSpPr>
        <p:spPr>
          <a:xfrm flipV="1">
            <a:off x="3707904" y="1844824"/>
            <a:ext cx="3024336" cy="21602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4200" y="863600"/>
            <a:ext cx="8026400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8238" y="0"/>
            <a:ext cx="452596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2" cstate="print"/>
          <a:srcRect l="18958" t="18671" r="19159" b="19450"/>
          <a:stretch>
            <a:fillRect/>
          </a:stretch>
        </p:blipFill>
        <p:spPr bwMode="auto">
          <a:xfrm>
            <a:off x="323850" y="333375"/>
            <a:ext cx="8208963" cy="615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0"/>
            <a:ext cx="40465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7181739-797B-4D0D-A4EA-B7AA28798930}"/>
              </a:ext>
            </a:extLst>
          </p:cNvPr>
          <p:cNvSpPr/>
          <p:nvPr/>
        </p:nvSpPr>
        <p:spPr>
          <a:xfrm>
            <a:off x="5364088" y="422108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鸟氨酸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2" cstate="print"/>
          <a:srcRect l="17513" t="17513" r="18262" b="17513"/>
          <a:stretch>
            <a:fillRect/>
          </a:stretch>
        </p:blipFill>
        <p:spPr bwMode="auto">
          <a:xfrm>
            <a:off x="323850" y="295275"/>
            <a:ext cx="8137525" cy="617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533400" y="228600"/>
            <a:ext cx="8026400" cy="629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413" y="836613"/>
            <a:ext cx="8891587" cy="5183187"/>
          </a:xfrm>
          <a:prstGeom prst="rect">
            <a:avLst/>
          </a:prstGeom>
          <a:noFill/>
        </p:spPr>
      </p:pic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1908175" y="620713"/>
            <a:ext cx="1439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Aspartate</a:t>
            </a:r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6300788" y="692150"/>
            <a:ext cx="14398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Pyruvate</a:t>
            </a:r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1619250" y="5805488"/>
            <a:ext cx="1439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Lysine</a:t>
            </a:r>
          </a:p>
        </p:txBody>
      </p:sp>
      <p:sp>
        <p:nvSpPr>
          <p:cNvPr id="89095" name="Text Box 7"/>
          <p:cNvSpPr txBox="1">
            <a:spLocks noChangeArrowheads="1"/>
          </p:cNvSpPr>
          <p:nvPr/>
        </p:nvSpPr>
        <p:spPr bwMode="auto">
          <a:xfrm>
            <a:off x="2700338" y="5805488"/>
            <a:ext cx="14398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Methionine</a:t>
            </a:r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2484438" y="1196975"/>
            <a:ext cx="14398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Threonine </a:t>
            </a:r>
          </a:p>
        </p:txBody>
      </p:sp>
      <p:sp>
        <p:nvSpPr>
          <p:cNvPr id="89097" name="Text Box 9"/>
          <p:cNvSpPr txBox="1">
            <a:spLocks noChangeArrowheads="1"/>
          </p:cNvSpPr>
          <p:nvPr/>
        </p:nvSpPr>
        <p:spPr bwMode="auto">
          <a:xfrm>
            <a:off x="4787900" y="5734050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2A05C7"/>
                </a:solidFill>
                <a:latin typeface="Times New Roman" panose="02020603050405020304" pitchFamily="18" charset="0"/>
              </a:rPr>
              <a:t>Isoleusine</a:t>
            </a:r>
            <a:endParaRPr lang="en-US" altLang="zh-CN" dirty="0">
              <a:solidFill>
                <a:srgbClr val="2A05C7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8" name="Text Box 10"/>
          <p:cNvSpPr txBox="1">
            <a:spLocks noChangeArrowheads="1"/>
          </p:cNvSpPr>
          <p:nvPr/>
        </p:nvSpPr>
        <p:spPr bwMode="auto">
          <a:xfrm>
            <a:off x="6227763" y="5661025"/>
            <a:ext cx="10080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Valine</a:t>
            </a:r>
          </a:p>
        </p:txBody>
      </p:sp>
      <p:sp>
        <p:nvSpPr>
          <p:cNvPr id="89099" name="Text Box 11"/>
          <p:cNvSpPr txBox="1">
            <a:spLocks noChangeArrowheads="1"/>
          </p:cNvSpPr>
          <p:nvPr/>
        </p:nvSpPr>
        <p:spPr bwMode="auto">
          <a:xfrm>
            <a:off x="7451725" y="6092825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2A05C7"/>
                </a:solidFill>
                <a:latin typeface="Times New Roman" panose="02020603050405020304" pitchFamily="18" charset="0"/>
              </a:rPr>
              <a:t>Leusine</a:t>
            </a:r>
            <a:endParaRPr lang="en-US" altLang="zh-CN" dirty="0">
              <a:solidFill>
                <a:srgbClr val="2A05C7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838200"/>
            <a:ext cx="6973888" cy="5437188"/>
          </a:xfrm>
          <a:prstGeom prst="rect">
            <a:avLst/>
          </a:prstGeom>
          <a:noFill/>
        </p:spPr>
      </p:pic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132138" y="1557338"/>
            <a:ext cx="1368425" cy="43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323850" y="981075"/>
            <a:ext cx="1871663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Step1-step 5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Asp        </a:t>
            </a:r>
            <a:r>
              <a:rPr lang="en-US" altLang="zh-CN" dirty="0" err="1">
                <a:solidFill>
                  <a:srgbClr val="2A05C7"/>
                </a:solidFill>
                <a:latin typeface="Times New Roman" panose="02020603050405020304" pitchFamily="18" charset="0"/>
              </a:rPr>
              <a:t>Thr</a:t>
            </a:r>
            <a:endParaRPr lang="en-US" altLang="zh-CN" dirty="0">
              <a:solidFill>
                <a:srgbClr val="2A05C7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1" name="Line 5"/>
          <p:cNvSpPr>
            <a:spLocks noChangeShapeType="1"/>
          </p:cNvSpPr>
          <p:nvPr/>
        </p:nvSpPr>
        <p:spPr bwMode="auto">
          <a:xfrm>
            <a:off x="881063" y="1595438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685800"/>
            <a:ext cx="6783388" cy="5437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133600"/>
            <a:ext cx="8026400" cy="27955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762000"/>
            <a:ext cx="8026400" cy="535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8026400" cy="4330700"/>
          </a:xfrm>
          <a:prstGeom prst="rect">
            <a:avLst/>
          </a:prstGeom>
          <a:noFill/>
        </p:spPr>
      </p:pic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684213" y="1989138"/>
            <a:ext cx="1366837" cy="3603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685800"/>
            <a:ext cx="7377113" cy="5435600"/>
          </a:xfrm>
          <a:prstGeom prst="rect">
            <a:avLst/>
          </a:prstGeom>
          <a:noFill/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659563" y="476250"/>
            <a:ext cx="1728787" cy="779463"/>
            <a:chOff x="4195" y="300"/>
            <a:chExt cx="1089" cy="491"/>
          </a:xfrm>
        </p:grpSpPr>
        <p:sp>
          <p:nvSpPr>
            <p:cNvPr id="101379" name="Text Box 3"/>
            <p:cNvSpPr txBox="1">
              <a:spLocks noChangeArrowheads="1"/>
            </p:cNvSpPr>
            <p:nvPr/>
          </p:nvSpPr>
          <p:spPr bwMode="auto">
            <a:xfrm>
              <a:off x="4195" y="300"/>
              <a:ext cx="1089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2A05C7"/>
                  </a:solidFill>
                  <a:latin typeface="Times New Roman" panose="02020603050405020304" pitchFamily="18" charset="0"/>
                </a:rPr>
                <a:t>Step1-step 9</a:t>
              </a:r>
            </a:p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2A05C7"/>
                  </a:solidFill>
                  <a:latin typeface="Times New Roman" panose="02020603050405020304" pitchFamily="18" charset="0"/>
                </a:rPr>
                <a:t>Asp        Met</a:t>
              </a:r>
            </a:p>
          </p:txBody>
        </p:sp>
        <p:sp>
          <p:nvSpPr>
            <p:cNvPr id="101381" name="Line 5"/>
            <p:cNvSpPr>
              <a:spLocks noChangeShapeType="1"/>
            </p:cNvSpPr>
            <p:nvPr/>
          </p:nvSpPr>
          <p:spPr bwMode="auto">
            <a:xfrm>
              <a:off x="4540" y="693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609600"/>
            <a:ext cx="7350125" cy="5434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838200"/>
            <a:ext cx="8026400" cy="495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838200"/>
            <a:ext cx="8026400" cy="5294313"/>
          </a:xfrm>
          <a:prstGeom prst="rect">
            <a:avLst/>
          </a:prstGeom>
          <a:noFill/>
        </p:spPr>
      </p:pic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2584450" y="5516563"/>
            <a:ext cx="1871663" cy="4333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762000"/>
            <a:ext cx="7212013" cy="5434013"/>
          </a:xfrm>
          <a:prstGeom prst="rect">
            <a:avLst/>
          </a:prstGeom>
          <a:noFill/>
        </p:spPr>
      </p:pic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971550" y="476250"/>
            <a:ext cx="230505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Step10-step 16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2A05C7"/>
                </a:solidFill>
                <a:latin typeface="Times New Roman" panose="02020603050405020304" pitchFamily="18" charset="0"/>
              </a:rPr>
              <a:t>Asp        Lys</a:t>
            </a:r>
          </a:p>
        </p:txBody>
      </p:sp>
      <p:sp>
        <p:nvSpPr>
          <p:cNvPr id="109573" name="Line 5"/>
          <p:cNvSpPr>
            <a:spLocks noChangeShapeType="1"/>
          </p:cNvSpPr>
          <p:nvPr/>
        </p:nvSpPr>
        <p:spPr bwMode="auto">
          <a:xfrm>
            <a:off x="1519238" y="1100138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5508625" y="333375"/>
            <a:ext cx="1979613" cy="376238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993366"/>
                </a:solidFill>
                <a:latin typeface="Times New Roman" panose="02020603050405020304" pitchFamily="18" charset="0"/>
              </a:rPr>
              <a:t>Product of step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438400"/>
            <a:ext cx="8026400" cy="23637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762000"/>
            <a:ext cx="4268788" cy="5437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362200"/>
            <a:ext cx="8026400" cy="238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49613" y="609600"/>
            <a:ext cx="2541587" cy="5438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8026400" cy="431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8026400" cy="4318000"/>
          </a:xfrm>
          <a:prstGeom prst="rect">
            <a:avLst/>
          </a:prstGeom>
          <a:noFill/>
        </p:spPr>
      </p:pic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6573838" y="4768850"/>
            <a:ext cx="1368425" cy="5032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3" cstate="print">
            <a:lum bright="-12000"/>
          </a:blip>
          <a:srcRect/>
          <a:stretch>
            <a:fillRect/>
          </a:stretch>
        </p:blipFill>
        <p:spPr bwMode="auto">
          <a:xfrm>
            <a:off x="558800" y="2463800"/>
            <a:ext cx="8026400" cy="1930400"/>
          </a:xfrm>
          <a:prstGeom prst="rect">
            <a:avLst/>
          </a:prstGeom>
          <a:noFill/>
        </p:spPr>
      </p:pic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684213" y="3068638"/>
            <a:ext cx="1079500" cy="2889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468313" y="1916113"/>
            <a:ext cx="1979612" cy="376237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993366"/>
                </a:solidFill>
                <a:latin typeface="Times New Roman" panose="02020603050405020304" pitchFamily="18" charset="0"/>
              </a:rPr>
              <a:t>Product of step 5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3492500" y="549275"/>
            <a:ext cx="4679950" cy="5794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993366"/>
                </a:solidFill>
                <a:latin typeface="Times New Roman" pitchFamily="18" charset="0"/>
              </a:rPr>
              <a:t> Synthesis of  Ile  Val  Leu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3" cstate="print">
            <a:lum bright="-12000"/>
          </a:blip>
          <a:srcRect/>
          <a:stretch>
            <a:fillRect/>
          </a:stretch>
        </p:blipFill>
        <p:spPr bwMode="auto">
          <a:xfrm>
            <a:off x="914400" y="685800"/>
            <a:ext cx="7413625" cy="5434013"/>
          </a:xfrm>
          <a:prstGeom prst="rect">
            <a:avLst/>
          </a:prstGeom>
          <a:noFill/>
        </p:spPr>
      </p:pic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971550" y="2636838"/>
            <a:ext cx="2087563" cy="36671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Product of step 17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4211638" y="115888"/>
            <a:ext cx="4679950" cy="5794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993366"/>
                </a:solidFill>
                <a:latin typeface="Times New Roman" pitchFamily="18" charset="0"/>
              </a:rPr>
              <a:t> Synthesis of  Ile  Val  Leu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3" cstate="print">
            <a:lum bright="-12000"/>
          </a:blip>
          <a:srcRect/>
          <a:stretch>
            <a:fillRect/>
          </a:stretch>
        </p:blipFill>
        <p:spPr bwMode="auto">
          <a:xfrm>
            <a:off x="1295400" y="762000"/>
            <a:ext cx="6654800" cy="5434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457200" y="1600200"/>
            <a:ext cx="8026400" cy="3709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533400" y="990600"/>
            <a:ext cx="8026400" cy="4673600"/>
          </a:xfrm>
          <a:prstGeom prst="rect">
            <a:avLst/>
          </a:prstGeom>
          <a:noFill/>
        </p:spPr>
      </p:pic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1431925" y="5229225"/>
            <a:ext cx="1008063" cy="2873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5940425" y="5229225"/>
            <a:ext cx="719138" cy="2873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558800" y="1574800"/>
            <a:ext cx="8026400" cy="3708400"/>
          </a:xfrm>
          <a:prstGeom prst="rect">
            <a:avLst/>
          </a:prstGeom>
          <a:noFill/>
        </p:spPr>
      </p:pic>
      <p:sp>
        <p:nvSpPr>
          <p:cNvPr id="134147" name="Text Box 3"/>
          <p:cNvSpPr txBox="1">
            <a:spLocks noChangeArrowheads="1"/>
          </p:cNvSpPr>
          <p:nvPr/>
        </p:nvSpPr>
        <p:spPr bwMode="auto">
          <a:xfrm>
            <a:off x="684213" y="3213100"/>
            <a:ext cx="2087562" cy="36671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Product of step 20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762000"/>
            <a:ext cx="8026400" cy="48275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838200"/>
            <a:ext cx="6554788" cy="5437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685800"/>
            <a:ext cx="6343650" cy="5430838"/>
          </a:xfrm>
          <a:prstGeom prst="rect">
            <a:avLst/>
          </a:prstGeom>
          <a:noFill/>
        </p:spPr>
      </p:pic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987675" y="5589588"/>
            <a:ext cx="1152525" cy="43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114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533400" y="228600"/>
            <a:ext cx="8026400" cy="6299200"/>
          </a:xfrm>
          <a:prstGeom prst="rect">
            <a:avLst/>
          </a:prstGeom>
          <a:noFill/>
        </p:spPr>
      </p:pic>
      <p:sp>
        <p:nvSpPr>
          <p:cNvPr id="346115" name="Text Box 3"/>
          <p:cNvSpPr txBox="1">
            <a:spLocks noChangeArrowheads="1"/>
          </p:cNvSpPr>
          <p:nvPr/>
        </p:nvSpPr>
        <p:spPr bwMode="auto">
          <a:xfrm>
            <a:off x="1403350" y="3789363"/>
            <a:ext cx="5543550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Aspartate family  and Pyruvate family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018" name="Picture 2"/>
          <p:cNvPicPr>
            <a:picLocks noChangeAspect="1" noChangeArrowheads="1"/>
          </p:cNvPicPr>
          <p:nvPr/>
        </p:nvPicPr>
        <p:blipFill>
          <a:blip r:embed="rId2" cstate="print">
            <a:lum bright="-6000" contrast="6000"/>
          </a:blip>
          <a:srcRect l="20313" t="19315" r="19531" b="19032"/>
          <a:stretch>
            <a:fillRect/>
          </a:stretch>
        </p:blipFill>
        <p:spPr bwMode="auto">
          <a:xfrm>
            <a:off x="755650" y="404813"/>
            <a:ext cx="7416800" cy="570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042" name="Picture 2"/>
          <p:cNvPicPr>
            <a:picLocks noChangeAspect="1" noChangeArrowheads="1"/>
          </p:cNvPicPr>
          <p:nvPr/>
        </p:nvPicPr>
        <p:blipFill>
          <a:blip r:embed="rId2" cstate="print"/>
          <a:srcRect l="18994" t="18512" r="18994" b="18489"/>
          <a:stretch>
            <a:fillRect/>
          </a:stretch>
        </p:blipFill>
        <p:spPr bwMode="auto">
          <a:xfrm>
            <a:off x="539750" y="476250"/>
            <a:ext cx="7488238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3043" name="Rectangle 3"/>
          <p:cNvSpPr>
            <a:spLocks noChangeArrowheads="1"/>
          </p:cNvSpPr>
          <p:nvPr/>
        </p:nvSpPr>
        <p:spPr bwMode="auto">
          <a:xfrm>
            <a:off x="3276600" y="5589588"/>
            <a:ext cx="1368425" cy="43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3044" name="Rectangle 4"/>
          <p:cNvSpPr>
            <a:spLocks noChangeArrowheads="1"/>
          </p:cNvSpPr>
          <p:nvPr/>
        </p:nvSpPr>
        <p:spPr bwMode="auto">
          <a:xfrm>
            <a:off x="900113" y="2349500"/>
            <a:ext cx="1368425" cy="431800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066" name="Picture 2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 l="18816" t="19032" r="19173" b="19943"/>
          <a:stretch>
            <a:fillRect/>
          </a:stretch>
        </p:blipFill>
        <p:spPr bwMode="auto">
          <a:xfrm>
            <a:off x="611188" y="476250"/>
            <a:ext cx="7705725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685800"/>
            <a:ext cx="5384800" cy="543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 cstate="print"/>
          <a:srcRect l="17513" t="17513" r="18262" b="17513"/>
          <a:stretch>
            <a:fillRect/>
          </a:stretch>
        </p:blipFill>
        <p:spPr bwMode="auto">
          <a:xfrm>
            <a:off x="323850" y="295275"/>
            <a:ext cx="8137525" cy="617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38" name="Picture 2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 l="18457" t="18707" r="18799" b="19270"/>
          <a:stretch>
            <a:fillRect/>
          </a:stretch>
        </p:blipFill>
        <p:spPr bwMode="auto">
          <a:xfrm>
            <a:off x="755650" y="404813"/>
            <a:ext cx="7632700" cy="565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圆角矩形 2"/>
          <p:cNvSpPr/>
          <p:nvPr/>
        </p:nvSpPr>
        <p:spPr>
          <a:xfrm>
            <a:off x="5076056" y="2564904"/>
            <a:ext cx="360040" cy="360040"/>
          </a:xfrm>
          <a:prstGeom prst="roundRect">
            <a:avLst/>
          </a:prstGeom>
          <a:solidFill>
            <a:srgbClr val="008000">
              <a:alpha val="4392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362" name="Picture 2"/>
          <p:cNvPicPr>
            <a:picLocks noChangeAspect="1" noChangeArrowheads="1"/>
          </p:cNvPicPr>
          <p:nvPr/>
        </p:nvPicPr>
        <p:blipFill>
          <a:blip r:embed="rId2" cstate="print"/>
          <a:srcRect l="18994" t="18512" r="18994" b="19487"/>
          <a:stretch>
            <a:fillRect/>
          </a:stretch>
        </p:blipFill>
        <p:spPr bwMode="auto">
          <a:xfrm>
            <a:off x="539750" y="404813"/>
            <a:ext cx="7632700" cy="572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EED374-7ED1-4B0D-BE47-3E2C44672153}"/>
              </a:ext>
            </a:extLst>
          </p:cNvPr>
          <p:cNvSpPr txBox="1"/>
          <p:nvPr/>
        </p:nvSpPr>
        <p:spPr>
          <a:xfrm>
            <a:off x="4211960" y="620688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一碳集团（代谢）：在代谢过程中，某些化合物可以分解产生具有一个碳原子的集团，称为一碳基团，辅酶是</a:t>
            </a:r>
            <a:r>
              <a:rPr lang="en-US" altLang="zh-CN" sz="1200" dirty="0"/>
              <a:t>FH4/THF </a:t>
            </a:r>
            <a:r>
              <a:rPr lang="zh-CN" altLang="en-US" sz="1200" dirty="0"/>
              <a:t>（四氢叶酸）。</a:t>
            </a:r>
            <a:endParaRPr lang="en-US" altLang="zh-CN" sz="1200" dirty="0"/>
          </a:p>
          <a:p>
            <a:endParaRPr lang="zh-CN" altLang="en-US" sz="1200" dirty="0"/>
          </a:p>
        </p:txBody>
      </p:sp>
      <p:sp>
        <p:nvSpPr>
          <p:cNvPr id="4" name="文本框 3">
            <a:hlinkClick r:id="rId3" action="ppaction://hlinksldjump"/>
            <a:extLst>
              <a:ext uri="{FF2B5EF4-FFF2-40B4-BE49-F238E27FC236}">
                <a16:creationId xmlns:a16="http://schemas.microsoft.com/office/drawing/2014/main" id="{11145350-38EF-456E-ADC4-79FE251FC590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77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0"/>
            <a:ext cx="4003675" cy="6858000"/>
          </a:xfr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8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914400"/>
            <a:ext cx="8026400" cy="497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8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19200"/>
            <a:ext cx="8026400" cy="444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838200"/>
            <a:ext cx="7642225" cy="543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762000"/>
            <a:ext cx="7404100" cy="543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386" name="Picture 2"/>
          <p:cNvPicPr>
            <a:picLocks noChangeAspect="1" noChangeArrowheads="1"/>
          </p:cNvPicPr>
          <p:nvPr/>
        </p:nvPicPr>
        <p:blipFill>
          <a:blip r:embed="rId3" cstate="print"/>
          <a:srcRect l="18262" t="18512" r="18994" b="18489"/>
          <a:stretch>
            <a:fillRect/>
          </a:stretch>
        </p:blipFill>
        <p:spPr bwMode="auto">
          <a:xfrm>
            <a:off x="755650" y="476250"/>
            <a:ext cx="7561263" cy="569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3" cstate="print">
            <a:lum bright="-12000"/>
          </a:blip>
          <a:srcRect l="18262" t="18510" r="18994" b="18489"/>
          <a:stretch>
            <a:fillRect/>
          </a:stretch>
        </p:blipFill>
        <p:spPr bwMode="auto">
          <a:xfrm>
            <a:off x="684213" y="333375"/>
            <a:ext cx="7848600" cy="591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>
            <a:hlinkClick r:id="rId4" action="ppaction://hlinksldjump"/>
            <a:extLst>
              <a:ext uri="{FF2B5EF4-FFF2-40B4-BE49-F238E27FC236}">
                <a16:creationId xmlns:a16="http://schemas.microsoft.com/office/drawing/2014/main" id="{B10B7080-318D-4DDA-A644-FF757D6AC31B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10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 contrast="6000"/>
          </a:blip>
          <a:srcRect/>
          <a:stretch>
            <a:fillRect/>
          </a:stretch>
        </p:blipFill>
        <p:spPr bwMode="auto">
          <a:xfrm>
            <a:off x="965200" y="711200"/>
            <a:ext cx="7213600" cy="543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685800"/>
            <a:ext cx="8026400" cy="5230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554" name="Picture 2"/>
          <p:cNvPicPr>
            <a:picLocks noChangeAspect="1" noChangeArrowheads="1"/>
          </p:cNvPicPr>
          <p:nvPr/>
        </p:nvPicPr>
        <p:blipFill>
          <a:blip r:embed="rId3" cstate="print"/>
          <a:srcRect l="17513" t="17513" r="18262" b="17513"/>
          <a:stretch>
            <a:fillRect/>
          </a:stretch>
        </p:blipFill>
        <p:spPr bwMode="auto">
          <a:xfrm>
            <a:off x="323850" y="295275"/>
            <a:ext cx="8137525" cy="617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458" name="Picture 2"/>
          <p:cNvPicPr>
            <a:picLocks noChangeAspect="1" noChangeArrowheads="1"/>
          </p:cNvPicPr>
          <p:nvPr/>
        </p:nvPicPr>
        <p:blipFill>
          <a:blip r:embed="rId3" cstate="print"/>
          <a:srcRect l="18262" t="18512" r="18994" b="18489"/>
          <a:stretch>
            <a:fillRect/>
          </a:stretch>
        </p:blipFill>
        <p:spPr bwMode="auto">
          <a:xfrm>
            <a:off x="539750" y="620713"/>
            <a:ext cx="7561263" cy="569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5D61F4D-9407-4BF5-8713-E434DF3DBFE8}"/>
              </a:ext>
            </a:extLst>
          </p:cNvPr>
          <p:cNvGrpSpPr/>
          <p:nvPr/>
        </p:nvGrpSpPr>
        <p:grpSpPr>
          <a:xfrm>
            <a:off x="3205163" y="836712"/>
            <a:ext cx="2160587" cy="647700"/>
            <a:chOff x="3205163" y="836712"/>
            <a:chExt cx="2160587" cy="647700"/>
          </a:xfrm>
        </p:grpSpPr>
        <p:sp>
          <p:nvSpPr>
            <p:cNvPr id="5" name="Text Box 3">
              <a:extLst>
                <a:ext uri="{FF2B5EF4-FFF2-40B4-BE49-F238E27FC236}">
                  <a16:creationId xmlns:a16="http://schemas.microsoft.com/office/drawing/2014/main" id="{56CF27DF-3030-42EB-A48D-EB50B17E6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163" y="836712"/>
              <a:ext cx="2160587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2A05C7"/>
                  </a:solidFill>
                  <a:latin typeface="Times New Roman" panose="02020603050405020304" pitchFamily="18" charset="0"/>
                  <a:ea typeface="华文中宋" pitchFamily="2" charset="-122"/>
                </a:rPr>
                <a:t>莽草酸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71946E4-9E6D-40EB-9AA0-9BE6783F7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163" y="836712"/>
              <a:ext cx="1366837" cy="6477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0CDB6A6-2DAE-EBA9-C9E7-72399CF7F854}"/>
              </a:ext>
            </a:extLst>
          </p:cNvPr>
          <p:cNvSpPr/>
          <p:nvPr/>
        </p:nvSpPr>
        <p:spPr>
          <a:xfrm>
            <a:off x="3205163" y="3645024"/>
            <a:ext cx="3815109" cy="25202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684213" y="795338"/>
            <a:ext cx="16557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PEP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E – 4 –</a:t>
            </a:r>
            <a:r>
              <a:rPr lang="en-US" altLang="zh-CN" sz="2400" dirty="0">
                <a:solidFill>
                  <a:srgbClr val="9933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96613" name="Line 5"/>
          <p:cNvSpPr>
            <a:spLocks noChangeShapeType="1"/>
          </p:cNvSpPr>
          <p:nvPr/>
        </p:nvSpPr>
        <p:spPr bwMode="auto">
          <a:xfrm>
            <a:off x="2268538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4" name="Line 6"/>
          <p:cNvSpPr>
            <a:spLocks noChangeShapeType="1"/>
          </p:cNvSpPr>
          <p:nvPr/>
        </p:nvSpPr>
        <p:spPr bwMode="auto">
          <a:xfrm>
            <a:off x="3059113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5" name="Line 7"/>
          <p:cNvSpPr>
            <a:spLocks noChangeShapeType="1"/>
          </p:cNvSpPr>
          <p:nvPr/>
        </p:nvSpPr>
        <p:spPr bwMode="auto">
          <a:xfrm>
            <a:off x="3708400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6" name="Text Box 8"/>
          <p:cNvSpPr txBox="1">
            <a:spLocks noChangeArrowheads="1"/>
          </p:cNvSpPr>
          <p:nvPr/>
        </p:nvSpPr>
        <p:spPr bwMode="auto">
          <a:xfrm>
            <a:off x="4140200" y="1052513"/>
            <a:ext cx="475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itchFamily="2" charset="-122"/>
              </a:rPr>
              <a:t>莽草酸        分枝酸</a:t>
            </a:r>
          </a:p>
        </p:txBody>
      </p:sp>
      <p:sp>
        <p:nvSpPr>
          <p:cNvPr id="196618" name="Line 10"/>
          <p:cNvSpPr>
            <a:spLocks noChangeShapeType="1"/>
          </p:cNvSpPr>
          <p:nvPr/>
        </p:nvSpPr>
        <p:spPr bwMode="auto">
          <a:xfrm>
            <a:off x="5292725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0" name="Line 12"/>
          <p:cNvSpPr>
            <a:spLocks noChangeShapeType="1"/>
          </p:cNvSpPr>
          <p:nvPr/>
        </p:nvSpPr>
        <p:spPr bwMode="auto">
          <a:xfrm>
            <a:off x="6804025" y="1700213"/>
            <a:ext cx="360363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1" name="Text Box 13"/>
          <p:cNvSpPr txBox="1">
            <a:spLocks noChangeArrowheads="1"/>
          </p:cNvSpPr>
          <p:nvPr/>
        </p:nvSpPr>
        <p:spPr bwMode="auto">
          <a:xfrm>
            <a:off x="1258888" y="3429000"/>
            <a:ext cx="7705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latin typeface="华文中宋" pitchFamily="2" charset="-122"/>
                <a:ea typeface="华文中宋" pitchFamily="2" charset="-122"/>
              </a:rPr>
              <a:t>色氨酸         苯丙氨酸     酪氨酸</a:t>
            </a:r>
          </a:p>
        </p:txBody>
      </p:sp>
      <p:sp>
        <p:nvSpPr>
          <p:cNvPr id="196622" name="Line 14"/>
          <p:cNvSpPr>
            <a:spLocks noChangeShapeType="1"/>
          </p:cNvSpPr>
          <p:nvPr/>
        </p:nvSpPr>
        <p:spPr bwMode="auto">
          <a:xfrm flipH="1">
            <a:off x="5940425" y="1700213"/>
            <a:ext cx="576263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3" name="Line 15"/>
          <p:cNvSpPr>
            <a:spLocks noChangeShapeType="1"/>
          </p:cNvSpPr>
          <p:nvPr/>
        </p:nvSpPr>
        <p:spPr bwMode="auto">
          <a:xfrm flipH="1">
            <a:off x="2843213" y="3789363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4" name="Line 16"/>
          <p:cNvSpPr>
            <a:spLocks noChangeShapeType="1"/>
          </p:cNvSpPr>
          <p:nvPr/>
        </p:nvSpPr>
        <p:spPr bwMode="auto">
          <a:xfrm flipH="1">
            <a:off x="5867400" y="1628775"/>
            <a:ext cx="433388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5" name="Line 17"/>
          <p:cNvSpPr>
            <a:spLocks noChangeShapeType="1"/>
          </p:cNvSpPr>
          <p:nvPr/>
        </p:nvSpPr>
        <p:spPr bwMode="auto">
          <a:xfrm flipH="1">
            <a:off x="4067175" y="1989138"/>
            <a:ext cx="1584325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6" name="Line 18"/>
          <p:cNvSpPr>
            <a:spLocks noChangeShapeType="1"/>
          </p:cNvSpPr>
          <p:nvPr/>
        </p:nvSpPr>
        <p:spPr bwMode="auto">
          <a:xfrm flipH="1">
            <a:off x="2051050" y="2708275"/>
            <a:ext cx="1584325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7" name="Line 19"/>
          <p:cNvSpPr>
            <a:spLocks noChangeShapeType="1"/>
          </p:cNvSpPr>
          <p:nvPr/>
        </p:nvSpPr>
        <p:spPr bwMode="auto">
          <a:xfrm flipH="1">
            <a:off x="4643438" y="2708275"/>
            <a:ext cx="1152525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8" name="Line 20"/>
          <p:cNvSpPr>
            <a:spLocks noChangeShapeType="1"/>
          </p:cNvSpPr>
          <p:nvPr/>
        </p:nvSpPr>
        <p:spPr bwMode="auto">
          <a:xfrm>
            <a:off x="7235825" y="2636838"/>
            <a:ext cx="215900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30" name="AutoShape 22"/>
          <p:cNvSpPr>
            <a:spLocks/>
          </p:cNvSpPr>
          <p:nvPr/>
        </p:nvSpPr>
        <p:spPr bwMode="auto">
          <a:xfrm>
            <a:off x="2195513" y="947738"/>
            <a:ext cx="144462" cy="647700"/>
          </a:xfrm>
          <a:prstGeom prst="rightBrace">
            <a:avLst>
              <a:gd name="adj1" fmla="val 3736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" name="文本框 18">
            <a:hlinkClick r:id="rId2" action="ppaction://hlinksldjump"/>
            <a:extLst>
              <a:ext uri="{FF2B5EF4-FFF2-40B4-BE49-F238E27FC236}">
                <a16:creationId xmlns:a16="http://schemas.microsoft.com/office/drawing/2014/main" id="{5A08D67B-8CA6-4500-8ED2-F192214F2EF9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3" cstate="print">
            <a:lum bright="-6000" contrast="6000"/>
          </a:blip>
          <a:srcRect/>
          <a:stretch>
            <a:fillRect/>
          </a:stretch>
        </p:blipFill>
        <p:spPr bwMode="auto">
          <a:xfrm>
            <a:off x="2339975" y="333375"/>
            <a:ext cx="3417888" cy="6048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685800"/>
            <a:ext cx="4086225" cy="54308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533400"/>
            <a:ext cx="5329238" cy="5429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533400"/>
            <a:ext cx="5348288" cy="5435600"/>
          </a:xfrm>
          <a:prstGeom prst="rect">
            <a:avLst/>
          </a:prstGeom>
          <a:noFill/>
        </p:spPr>
      </p:pic>
      <p:sp>
        <p:nvSpPr>
          <p:cNvPr id="152579" name="Text Box 3"/>
          <p:cNvSpPr txBox="1">
            <a:spLocks noChangeArrowheads="1"/>
          </p:cNvSpPr>
          <p:nvPr/>
        </p:nvSpPr>
        <p:spPr bwMode="auto">
          <a:xfrm>
            <a:off x="6227763" y="5157788"/>
            <a:ext cx="21605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2A05C7"/>
                </a:solidFill>
                <a:latin typeface="Times New Roman" panose="02020603050405020304" pitchFamily="18" charset="0"/>
                <a:ea typeface="华文中宋" pitchFamily="2" charset="-122"/>
              </a:rPr>
              <a:t>莽草酸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6227763" y="5157788"/>
            <a:ext cx="1366837" cy="6477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609600"/>
            <a:ext cx="4725988" cy="5438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533400"/>
            <a:ext cx="6224588" cy="543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685800"/>
            <a:ext cx="6097588" cy="5435600"/>
          </a:xfrm>
          <a:prstGeom prst="rect">
            <a:avLst/>
          </a:prstGeom>
          <a:noFill/>
        </p:spPr>
      </p:pic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6156325" y="4652963"/>
            <a:ext cx="2016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2A05C7"/>
                </a:solidFill>
                <a:latin typeface="Times New Roman" panose="02020603050405020304" pitchFamily="18" charset="0"/>
                <a:ea typeface="华文中宋" pitchFamily="2" charset="-122"/>
              </a:rPr>
              <a:t>分枝酸</a:t>
            </a:r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6156325" y="4652963"/>
            <a:ext cx="1366838" cy="6477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533400"/>
            <a:ext cx="5000625" cy="5432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1388" y="533400"/>
            <a:ext cx="7212012" cy="5434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8026400" cy="4598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8026400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692150"/>
            <a:ext cx="5840413" cy="5435600"/>
          </a:xfrm>
          <a:prstGeom prst="rect">
            <a:avLst/>
          </a:prstGeom>
          <a:noFill/>
        </p:spPr>
      </p:pic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2268538" y="5589588"/>
            <a:ext cx="1366837" cy="431800"/>
          </a:xfrm>
          <a:prstGeom prst="rect">
            <a:avLst/>
          </a:prstGeom>
          <a:noFill/>
          <a:ln w="28575">
            <a:solidFill>
              <a:srgbClr val="2A05C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>
          <a:xfrm>
            <a:off x="0" y="0"/>
            <a:ext cx="4587875" cy="6858000"/>
          </a:xfr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60575"/>
            <a:ext cx="8296275" cy="1143000"/>
          </a:xfrm>
        </p:spPr>
        <p:txBody>
          <a:bodyPr/>
          <a:lstStyle/>
          <a:p>
            <a:pPr algn="ctr"/>
            <a:r>
              <a:rPr lang="en-US" altLang="zh-CN" b="1">
                <a:solidFill>
                  <a:srgbClr val="0000FF"/>
                </a:solidFill>
              </a:rPr>
              <a:t>Only about half of the amino acids can be synthesized by us human being: the rest have to be obtained from diet, thus called </a:t>
            </a:r>
            <a:r>
              <a:rPr lang="en-US" altLang="zh-CN" b="1">
                <a:solidFill>
                  <a:srgbClr val="FF0000"/>
                </a:solidFill>
              </a:rPr>
              <a:t>essential amino acids</a:t>
            </a:r>
            <a:r>
              <a:rPr lang="en-US" altLang="zh-CN" b="1"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290" name="Picture 2"/>
          <p:cNvPicPr>
            <a:picLocks noChangeAspect="1" noChangeArrowheads="1"/>
          </p:cNvPicPr>
          <p:nvPr/>
        </p:nvPicPr>
        <p:blipFill>
          <a:blip r:embed="rId2" cstate="print"/>
          <a:srcRect l="18994" t="18512" r="18262" b="19487"/>
          <a:stretch>
            <a:fillRect/>
          </a:stretch>
        </p:blipFill>
        <p:spPr bwMode="auto">
          <a:xfrm>
            <a:off x="684213" y="476250"/>
            <a:ext cx="8064500" cy="597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3F5E060-8D4C-4167-826E-1844DBBE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547" y="346979"/>
            <a:ext cx="5679000" cy="40634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6D64A4-41E3-4003-816B-25573BA6F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548" y="4415664"/>
            <a:ext cx="6300956" cy="13896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0F7FEED-9385-4530-81EE-8E8D97AF9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76672"/>
            <a:ext cx="221193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eaLnBrk="0" hangingPunct="0"/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Amino Acids </a:t>
            </a:r>
          </a:p>
          <a:p>
            <a:pPr algn="ctr" eaLnBrk="0" hangingPunct="0"/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that can not be</a:t>
            </a:r>
          </a:p>
          <a:p>
            <a:pPr algn="ctr" eaLnBrk="0" hangingPunct="0"/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 synthesized by</a:t>
            </a:r>
          </a:p>
          <a:p>
            <a:pPr algn="ctr" eaLnBrk="0" hangingPunct="0"/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 human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(essential</a:t>
            </a:r>
          </a:p>
          <a:p>
            <a:pPr algn="ctr" eaLnBrk="0" hangingPunct="0"/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Amino acids)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7FB992-D762-4003-AF3E-860C25CD442F}"/>
              </a:ext>
            </a:extLst>
          </p:cNvPr>
          <p:cNvSpPr/>
          <p:nvPr/>
        </p:nvSpPr>
        <p:spPr>
          <a:xfrm>
            <a:off x="179512" y="3429000"/>
            <a:ext cx="284084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  <a:ea typeface="+mn-ea"/>
              </a:rPr>
              <a:t>9</a:t>
            </a:r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种人体必需氨基酸的简单</a:t>
            </a:r>
            <a:endParaRPr lang="en-US" altLang="zh-CN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记忆方法</a:t>
            </a:r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CN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“甲组携来一本亮色书”</a:t>
            </a:r>
            <a:endParaRPr lang="en-US" altLang="zh-CN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就是甲硫氨酸、组氨酸</a:t>
            </a:r>
            <a:r>
              <a:rPr lang="zh-CN" altLang="en-US" dirty="0">
                <a:latin typeface="+mn-lt"/>
                <a:ea typeface="+mn-ea"/>
              </a:rPr>
              <a:t>、</a:t>
            </a:r>
            <a:endParaRPr lang="en-US" altLang="zh-CN" dirty="0">
              <a:latin typeface="+mn-lt"/>
              <a:ea typeface="+mn-ea"/>
            </a:endParaRPr>
          </a:p>
          <a:p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缬氨酸、赖氨酸、</a:t>
            </a:r>
            <a:endParaRPr lang="en-US" altLang="zh-CN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异亮氨酸、苯丙氨酸、</a:t>
            </a:r>
            <a:endParaRPr lang="en-US" altLang="zh-CN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亮氨酸、色氨酸、苏氨酸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3B7889-A70C-46C4-AF34-A34137255E55}"/>
              </a:ext>
            </a:extLst>
          </p:cNvPr>
          <p:cNvSpPr/>
          <p:nvPr/>
        </p:nvSpPr>
        <p:spPr>
          <a:xfrm>
            <a:off x="6876256" y="1844824"/>
            <a:ext cx="1944216" cy="36724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94822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60575"/>
            <a:ext cx="8664575" cy="1143000"/>
          </a:xfrm>
        </p:spPr>
        <p:txBody>
          <a:bodyPr/>
          <a:lstStyle/>
          <a:p>
            <a:pPr algn="ctr"/>
            <a:r>
              <a:rPr lang="en-US" altLang="zh-CN" b="1">
                <a:solidFill>
                  <a:srgbClr val="0000CC"/>
                </a:solidFill>
              </a:rPr>
              <a:t>Amino acids are precursors of many specialized biomolecules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922" name="Object 2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93637" imgH="596521" progId="">
                  <p:embed/>
                </p:oleObj>
              </mc:Choice>
              <mc:Fallback>
                <p:oleObj name="Image" r:id="rId2" imgW="593637" imgH="596521" progId="">
                  <p:embed/>
                  <p:pic>
                    <p:nvPicPr>
                      <p:cNvPr id="2099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1558925" y="4632325"/>
            <a:ext cx="1857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kumimoji="1" lang="en-US" altLang="zh-CN" sz="2400">
              <a:solidFill>
                <a:srgbClr val="0000CC"/>
              </a:solidFill>
              <a:latin typeface="Times New Roman" pitchFamily="18" charset="0"/>
            </a:endParaRPr>
          </a:p>
          <a:p>
            <a:pPr algn="ctr"/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5581650" y="5084763"/>
            <a:ext cx="3562350" cy="11874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hlink"/>
                </a:solidFill>
                <a:latin typeface="Tahoma" pitchFamily="34" charset="0"/>
              </a:rPr>
              <a:t>Porphyrins</a:t>
            </a:r>
            <a:r>
              <a:rPr kumimoji="1" lang="en-US" altLang="zh-CN" sz="2400" b="1" dirty="0">
                <a:latin typeface="Tahoma" pitchFamily="34" charset="0"/>
              </a:rPr>
              <a:t> </a:t>
            </a:r>
            <a:r>
              <a:rPr kumimoji="1" lang="en-US" altLang="zh-CN" sz="2400" dirty="0">
                <a:solidFill>
                  <a:srgbClr val="0000CC"/>
                </a:solidFill>
                <a:latin typeface="Tahoma" pitchFamily="34" charset="0"/>
              </a:rPr>
              <a:t>in mammals</a:t>
            </a:r>
          </a:p>
          <a:p>
            <a:r>
              <a:rPr kumimoji="1" lang="en-US" altLang="zh-CN" sz="2400" dirty="0">
                <a:solidFill>
                  <a:srgbClr val="0000CC"/>
                </a:solidFill>
                <a:latin typeface="Tahoma" pitchFamily="34" charset="0"/>
              </a:rPr>
              <a:t>are made from</a:t>
            </a:r>
            <a:r>
              <a:rPr kumimoji="1" lang="en-US" altLang="zh-CN" sz="2400" b="1" dirty="0">
                <a:solidFill>
                  <a:srgbClr val="0000CC"/>
                </a:solidFill>
                <a:latin typeface="Tahoma" pitchFamily="34" charset="0"/>
              </a:rPr>
              <a:t> </a:t>
            </a:r>
            <a:r>
              <a:rPr kumimoji="1" lang="en-US" altLang="zh-CN" sz="2400" b="1" dirty="0" err="1">
                <a:solidFill>
                  <a:schemeClr val="hlink"/>
                </a:solidFill>
                <a:latin typeface="Tahoma" pitchFamily="34" charset="0"/>
              </a:rPr>
              <a:t>Gly</a:t>
            </a:r>
            <a:r>
              <a:rPr kumimoji="1" lang="en-US" altLang="zh-CN" sz="2400" b="1" dirty="0">
                <a:solidFill>
                  <a:schemeClr val="hlink"/>
                </a:solidFill>
                <a:latin typeface="Tahoma" pitchFamily="34" charset="0"/>
              </a:rPr>
              <a:t> </a:t>
            </a:r>
            <a:r>
              <a:rPr kumimoji="1" lang="en-US" altLang="zh-CN" sz="2400" dirty="0">
                <a:solidFill>
                  <a:srgbClr val="0000CC"/>
                </a:solidFill>
                <a:latin typeface="Tahoma" pitchFamily="34" charset="0"/>
              </a:rPr>
              <a:t>and </a:t>
            </a:r>
          </a:p>
          <a:p>
            <a:r>
              <a:rPr kumimoji="1" lang="en-US" altLang="zh-CN" sz="2400" b="1" dirty="0">
                <a:solidFill>
                  <a:srgbClr val="FF0000"/>
                </a:solidFill>
                <a:latin typeface="Tahoma" pitchFamily="34" charset="0"/>
              </a:rPr>
              <a:t>succinyl-CoA</a:t>
            </a:r>
            <a:r>
              <a:rPr kumimoji="1" lang="en-US" altLang="zh-CN" sz="2400" b="1" dirty="0">
                <a:latin typeface="Tahoma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183F97-448D-4647-B67A-49734B6235E6}"/>
              </a:ext>
            </a:extLst>
          </p:cNvPr>
          <p:cNvSpPr txBox="1"/>
          <p:nvPr/>
        </p:nvSpPr>
        <p:spPr>
          <a:xfrm>
            <a:off x="251520" y="620688"/>
            <a:ext cx="8784976" cy="5304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400" b="1" i="0" dirty="0">
                <a:solidFill>
                  <a:srgbClr val="000000"/>
                </a:solidFill>
                <a:effectLst/>
                <a:latin typeface="TimesNewRomanPS-BoldMT"/>
              </a:rPr>
              <a:t>Phosphocreatine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NewRomanPSMT"/>
              </a:rPr>
              <a:t>, derived from </a:t>
            </a:r>
            <a:r>
              <a:rPr lang="en-US" altLang="zh-CN" sz="2400" b="1" i="0" dirty="0">
                <a:solidFill>
                  <a:srgbClr val="FF0000"/>
                </a:solidFill>
                <a:effectLst/>
                <a:latin typeface="TimesNewRomanPS-BoldMT"/>
              </a:rPr>
              <a:t>creatine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NewRomanPSMT"/>
              </a:rPr>
              <a:t>. Creatine is synthesized from glycine and arginine; methionine, in the form of </a:t>
            </a:r>
            <a:r>
              <a:rPr lang="en-US" altLang="zh-CN" sz="2400" b="0" i="1" dirty="0">
                <a:solidFill>
                  <a:srgbClr val="000000"/>
                </a:solidFill>
                <a:effectLst/>
                <a:latin typeface="TimesNewRomanPS-ItalicMT"/>
              </a:rPr>
              <a:t>SAM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r>
              <a:rPr lang="en-US" altLang="zh-CN" sz="2400" dirty="0"/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NewRomanPSMT"/>
              </a:rPr>
              <a:t>Phenylalanine, tyrosine, and tryptophan are converted to a variety of important compounds in plants. </a:t>
            </a:r>
            <a:r>
              <a:rPr lang="en-US" altLang="zh-CN" sz="2400" b="1" i="0" dirty="0">
                <a:solidFill>
                  <a:srgbClr val="FF0000"/>
                </a:solidFill>
                <a:effectLst/>
                <a:latin typeface="TimesNewRomanPS-BoldMT"/>
              </a:rPr>
              <a:t>lignin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NewRomanPSMT"/>
              </a:rPr>
              <a:t>, derived from phenylalanine and tyrosine; Tryptophan is also the precursor of the plant growth hormone indole-3-acetate, or </a:t>
            </a:r>
            <a:r>
              <a:rPr lang="en-US" altLang="zh-CN" sz="2400" b="1" i="0" dirty="0">
                <a:solidFill>
                  <a:srgbClr val="FF0000"/>
                </a:solidFill>
                <a:effectLst/>
                <a:latin typeface="TimesNewRomanPS-BoldMT"/>
              </a:rPr>
              <a:t>auxin</a:t>
            </a:r>
            <a:r>
              <a:rPr lang="en-US" altLang="zh-CN" sz="2400" b="1" i="0" dirty="0">
                <a:effectLst/>
                <a:latin typeface="TimesNewRomanPS-BoldMT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400" b="1" i="0" dirty="0">
                <a:solidFill>
                  <a:srgbClr val="FF0000"/>
                </a:solidFill>
                <a:effectLst/>
                <a:latin typeface="TimesNewRomanPSMT"/>
              </a:rPr>
              <a:t>Nitric oxide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NewRomanPSMT"/>
              </a:rPr>
              <a:t>is synthesized from arginine in an NADPH-dependent reaction catalyzed by nitric oxide synthase in animals.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83319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323850" y="1268413"/>
            <a:ext cx="8459788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6000" dirty="0">
                <a:solidFill>
                  <a:srgbClr val="993366"/>
                </a:solidFill>
                <a:latin typeface="Times New Roman" panose="02020603050405020304" pitchFamily="18" charset="0"/>
              </a:rPr>
              <a:t>M2</a:t>
            </a:r>
          </a:p>
          <a:p>
            <a:pPr algn="ctr">
              <a:spcBef>
                <a:spcPct val="50000"/>
              </a:spcBef>
            </a:pPr>
            <a:r>
              <a:rPr lang="en-US" altLang="zh-CN" sz="6000" dirty="0">
                <a:solidFill>
                  <a:srgbClr val="993366"/>
                </a:solidFill>
                <a:latin typeface="Times New Roman" panose="02020603050405020304" pitchFamily="18" charset="0"/>
              </a:rPr>
              <a:t>Amino acid degradation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6900" y="431800"/>
            <a:ext cx="8547100" cy="1143000"/>
          </a:xfrm>
          <a:noFill/>
          <a:ln/>
        </p:spPr>
        <p:txBody>
          <a:bodyPr lIns="91430" tIns="45716" rIns="91430" bIns="45716"/>
          <a:lstStyle/>
          <a:p>
            <a:r>
              <a:rPr lang="en-US" altLang="zh-CN" sz="4400">
                <a:solidFill>
                  <a:srgbClr val="CC0000"/>
                </a:solidFill>
                <a:ea typeface="隶书" pitchFamily="49" charset="-122"/>
              </a:rPr>
              <a:t>         </a:t>
            </a:r>
            <a:r>
              <a:rPr lang="zh-CN" altLang="en-US" sz="4400">
                <a:solidFill>
                  <a:srgbClr val="CC0000"/>
                </a:solidFill>
                <a:ea typeface="隶书" pitchFamily="49" charset="-122"/>
              </a:rPr>
              <a:t>氨基酸的分解与转化</a:t>
            </a:r>
            <a:br>
              <a:rPr lang="zh-CN" altLang="en-US" sz="4400">
                <a:solidFill>
                  <a:srgbClr val="CC0000"/>
                </a:solidFill>
                <a:ea typeface="隶书" pitchFamily="49" charset="-122"/>
              </a:rPr>
            </a:br>
            <a:endParaRPr lang="zh-CN" altLang="en-US">
              <a:solidFill>
                <a:srgbClr val="FFFF00"/>
              </a:solidFill>
              <a:ea typeface="隶书" pitchFamily="49" charset="-122"/>
            </a:endParaRPr>
          </a:p>
        </p:txBody>
      </p:sp>
      <p:sp>
        <p:nvSpPr>
          <p:cNvPr id="325635" name="Line 3"/>
          <p:cNvSpPr>
            <a:spLocks noChangeShapeType="1"/>
          </p:cNvSpPr>
          <p:nvPr/>
        </p:nvSpPr>
        <p:spPr bwMode="auto">
          <a:xfrm>
            <a:off x="990600" y="1371600"/>
            <a:ext cx="7391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lg" len="lg"/>
            <a:tailEnd type="none" w="med" len="lg"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 anchor="ctr">
            <a:flatTx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5636" name="Text Box 4"/>
          <p:cNvSpPr txBox="1">
            <a:spLocks noChangeArrowheads="1"/>
          </p:cNvSpPr>
          <p:nvPr/>
        </p:nvSpPr>
        <p:spPr bwMode="auto">
          <a:xfrm>
            <a:off x="1646238" y="2838450"/>
            <a:ext cx="59436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2.</a:t>
            </a:r>
            <a:r>
              <a:rPr kumimoji="1" lang="zh-CN" altLang="en-US" sz="3700">
                <a:latin typeface="Times New Roman" pitchFamily="18" charset="0"/>
                <a:ea typeface="隶书" pitchFamily="49" charset="-122"/>
              </a:rPr>
              <a:t>脱羧基作用</a:t>
            </a:r>
            <a:endParaRPr kumimoji="1" lang="zh-CN" altLang="en-US" sz="3700">
              <a:latin typeface="Times New Roman" pitchFamily="18" charset="0"/>
              <a:ea typeface="隶书" pitchFamily="49" charset="-122"/>
              <a:hlinkClick r:id="rId3" action="ppaction://hlinkpres?slideindex=16&amp;slidetitle=没有幻灯片标题"/>
            </a:endParaRPr>
          </a:p>
        </p:txBody>
      </p:sp>
      <p:sp>
        <p:nvSpPr>
          <p:cNvPr id="325637" name="Text Box 5"/>
          <p:cNvSpPr txBox="1">
            <a:spLocks noChangeArrowheads="1"/>
          </p:cNvSpPr>
          <p:nvPr/>
        </p:nvSpPr>
        <p:spPr bwMode="auto">
          <a:xfrm>
            <a:off x="1646238" y="4000500"/>
            <a:ext cx="61722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3.</a:t>
            </a:r>
            <a:r>
              <a:rPr kumimoji="1" lang="zh-CN" altLang="en-US" sz="3700">
                <a:latin typeface="Times New Roman" pitchFamily="18" charset="0"/>
                <a:ea typeface="隶书" pitchFamily="49" charset="-122"/>
              </a:rPr>
              <a:t>氨基酸分解产物的转化</a:t>
            </a:r>
            <a:endParaRPr kumimoji="1" lang="zh-CN" altLang="en-US" sz="3100">
              <a:latin typeface="宋体" charset="-122"/>
              <a:ea typeface="隶书" pitchFamily="49" charset="-122"/>
              <a:hlinkClick r:id="rId4" action="ppaction://hlinkpres?slideindex=17&amp;slidetitle=没有幻灯片标题"/>
            </a:endParaRPr>
          </a:p>
        </p:txBody>
      </p:sp>
      <p:sp>
        <p:nvSpPr>
          <p:cNvPr id="325638" name="Text Box 6"/>
          <p:cNvSpPr txBox="1">
            <a:spLocks noChangeArrowheads="1"/>
          </p:cNvSpPr>
          <p:nvPr/>
        </p:nvSpPr>
        <p:spPr bwMode="auto">
          <a:xfrm>
            <a:off x="1646238" y="1809750"/>
            <a:ext cx="64008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700">
                <a:latin typeface="Times New Roman" pitchFamily="18" charset="0"/>
                <a:ea typeface="隶书" pitchFamily="49" charset="-122"/>
              </a:rPr>
              <a:t>1.</a:t>
            </a:r>
            <a:r>
              <a:rPr kumimoji="1" lang="zh-CN" altLang="en-US" sz="3700">
                <a:latin typeface="Times New Roman" pitchFamily="18" charset="0"/>
                <a:ea typeface="隶书" pitchFamily="49" charset="-122"/>
              </a:rPr>
              <a:t>脱氨基作用</a:t>
            </a:r>
            <a:endParaRPr kumimoji="1" lang="zh-CN" altLang="en-US" sz="3100">
              <a:latin typeface="Times New Roman" pitchFamily="18" charset="0"/>
              <a:ea typeface="隶书" pitchFamily="49" charset="-122"/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31800"/>
            <a:ext cx="7772400" cy="1143000"/>
          </a:xfrm>
          <a:noFill/>
          <a:ln/>
        </p:spPr>
        <p:txBody>
          <a:bodyPr lIns="91430" tIns="45716" rIns="91430" bIns="45716"/>
          <a:lstStyle/>
          <a:p>
            <a:r>
              <a:rPr lang="zh-CN" altLang="en-US">
                <a:solidFill>
                  <a:srgbClr val="CC0000"/>
                </a:solidFill>
                <a:ea typeface="隶书" pitchFamily="49" charset="-122"/>
              </a:rPr>
              <a:t>氨基酸的脱氨基作用</a:t>
            </a:r>
            <a:br>
              <a:rPr lang="zh-CN" altLang="en-US" sz="2500">
                <a:solidFill>
                  <a:srgbClr val="CC0000"/>
                </a:solidFill>
                <a:ea typeface="隶书" pitchFamily="49" charset="-122"/>
              </a:rPr>
            </a:br>
            <a:endParaRPr lang="zh-CN" altLang="en-US" sz="2500">
              <a:solidFill>
                <a:schemeClr val="bg1"/>
              </a:solidFill>
              <a:ea typeface="隶书" pitchFamily="49" charset="-122"/>
            </a:endParaRPr>
          </a:p>
        </p:txBody>
      </p:sp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2238375" y="1697038"/>
            <a:ext cx="394335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氧化脱氨基作用</a:t>
            </a:r>
          </a:p>
          <a:p>
            <a:pPr>
              <a:spcBef>
                <a:spcPct val="50000"/>
              </a:spcBef>
            </a:pPr>
            <a:r>
              <a:rPr kumimoji="1" lang="zh-CN" altLang="en-US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转氨脱氨基作用</a:t>
            </a:r>
          </a:p>
          <a:p>
            <a:pPr>
              <a:spcBef>
                <a:spcPct val="50000"/>
              </a:spcBef>
            </a:pPr>
            <a:r>
              <a:rPr kumimoji="1" lang="zh-CN" altLang="en-US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联合脱氨基作用</a:t>
            </a:r>
          </a:p>
          <a:p>
            <a:pPr>
              <a:spcBef>
                <a:spcPct val="50000"/>
              </a:spcBef>
            </a:pPr>
            <a:r>
              <a:rPr kumimoji="1" lang="zh-CN" altLang="en-US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非氧化脱氨基作用</a:t>
            </a:r>
          </a:p>
          <a:p>
            <a:pPr>
              <a:spcBef>
                <a:spcPct val="50000"/>
              </a:spcBef>
            </a:pPr>
            <a:r>
              <a:rPr kumimoji="1" lang="zh-CN" altLang="en-US" sz="3700">
                <a:solidFill>
                  <a:srgbClr val="660066"/>
                </a:solidFill>
                <a:latin typeface="Times New Roman" pitchFamily="18" charset="0"/>
                <a:ea typeface="隶书" pitchFamily="49" charset="-122"/>
              </a:rPr>
              <a:t>脱酰氨作用</a:t>
            </a:r>
          </a:p>
          <a:p>
            <a:endParaRPr kumimoji="1" lang="en-US" altLang="zh-CN" sz="3700">
              <a:solidFill>
                <a:srgbClr val="660066"/>
              </a:solidFill>
              <a:latin typeface="Times New Roman" pitchFamily="18" charset="0"/>
              <a:ea typeface="隶书" pitchFamily="49" charset="-122"/>
            </a:endParaRPr>
          </a:p>
        </p:txBody>
      </p:sp>
      <p:pic>
        <p:nvPicPr>
          <p:cNvPr id="292868" name="Picture 4" descr="bar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219200"/>
            <a:ext cx="7916863" cy="1365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29816"/>
            <a:ext cx="9144000" cy="1143000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2A05C7"/>
                </a:solidFill>
              </a:rPr>
              <a:t>The surplus amino acids in animals can be completely oxidized or converted to </a:t>
            </a:r>
            <a:r>
              <a:rPr lang="en-US" altLang="zh-CN" sz="3800" b="1" dirty="0">
                <a:solidFill>
                  <a:srgbClr val="2A05C7"/>
                </a:solidFill>
              </a:rPr>
              <a:t>othe</a:t>
            </a:r>
            <a:r>
              <a:rPr lang="en-US" altLang="zh-CN" b="1" dirty="0">
                <a:solidFill>
                  <a:srgbClr val="2A05C7"/>
                </a:solidFill>
              </a:rPr>
              <a:t>r storable fuels</a:t>
            </a:r>
            <a:r>
              <a:rPr lang="en-US" altLang="zh-CN" dirty="0">
                <a:solidFill>
                  <a:srgbClr val="2A05C7"/>
                </a:solidFill>
              </a:rPr>
              <a:t> 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565400"/>
            <a:ext cx="9144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 dirty="0"/>
              <a:t>Amino acids in excess can </a:t>
            </a:r>
            <a:r>
              <a:rPr lang="en-US" altLang="zh-CN" sz="2600" dirty="0">
                <a:solidFill>
                  <a:srgbClr val="2A05C7"/>
                </a:solidFill>
              </a:rPr>
              <a:t>neither be stored, nor excreted</a:t>
            </a:r>
            <a:r>
              <a:rPr lang="en-US" altLang="zh-CN" sz="2600" dirty="0"/>
              <a:t>, but oxidized to release energy or converted to fatty acids/glucose.</a:t>
            </a:r>
          </a:p>
          <a:p>
            <a:pPr>
              <a:lnSpc>
                <a:spcPct val="90000"/>
              </a:lnSpc>
            </a:pPr>
            <a:r>
              <a:rPr lang="en-US" altLang="zh-CN" sz="2600" dirty="0"/>
              <a:t>Animals utilize amino acids for energy generation following a protein meal, during starvation.</a:t>
            </a:r>
          </a:p>
          <a:p>
            <a:pPr>
              <a:lnSpc>
                <a:spcPct val="90000"/>
              </a:lnSpc>
            </a:pPr>
            <a:r>
              <a:rPr lang="en-US" altLang="zh-CN" sz="2600" dirty="0"/>
              <a:t>Microorganisms can also use amino acids as an energy source when the supply is in excess.</a:t>
            </a:r>
          </a:p>
          <a:p>
            <a:pPr>
              <a:lnSpc>
                <a:spcPct val="90000"/>
              </a:lnSpc>
            </a:pPr>
            <a:r>
              <a:rPr lang="en-US" altLang="zh-CN" sz="2600" b="1" dirty="0">
                <a:solidFill>
                  <a:srgbClr val="FF0000"/>
                </a:solidFill>
              </a:rPr>
              <a:t>Plants almost never use amino acids (neither fatty acids) as an energy source.</a:t>
            </a: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800" y="1803400"/>
            <a:ext cx="8026400" cy="3251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65137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626" name="Picture 2" descr="f18-4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0" y="0"/>
            <a:ext cx="9144000" cy="4292600"/>
          </a:xfrm>
          <a:prstGeom prst="rect">
            <a:avLst/>
          </a:prstGeom>
          <a:noFill/>
        </p:spPr>
      </p:pic>
      <p:sp>
        <p:nvSpPr>
          <p:cNvPr id="282627" name="Oval 3"/>
          <p:cNvSpPr>
            <a:spLocks noChangeArrowheads="1"/>
          </p:cNvSpPr>
          <p:nvPr/>
        </p:nvSpPr>
        <p:spPr bwMode="auto">
          <a:xfrm>
            <a:off x="3779838" y="1916113"/>
            <a:ext cx="2305050" cy="936625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3708400" y="2060575"/>
            <a:ext cx="2446338" cy="6715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000" b="1">
                <a:solidFill>
                  <a:srgbClr val="2A05C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Aminotransferase</a:t>
            </a:r>
          </a:p>
          <a:p>
            <a:pPr algn="ctr"/>
            <a:r>
              <a:rPr lang="en-US" altLang="zh-CN">
                <a:solidFill>
                  <a:srgbClr val="2A05C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or transaminase</a:t>
            </a:r>
          </a:p>
        </p:txBody>
      </p:sp>
      <p:sp>
        <p:nvSpPr>
          <p:cNvPr id="282629" name="Rectangle 5"/>
          <p:cNvSpPr>
            <a:spLocks noChangeArrowheads="1"/>
          </p:cNvSpPr>
          <p:nvPr/>
        </p:nvSpPr>
        <p:spPr bwMode="auto">
          <a:xfrm>
            <a:off x="277813" y="4437063"/>
            <a:ext cx="8550275" cy="2054225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2A05C7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The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a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-amino group of many amino acids </a:t>
            </a:r>
          </a:p>
          <a:p>
            <a:pPr algn="ctr"/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is transferred to </a:t>
            </a:r>
            <a:r>
              <a:rPr lang="en-US" altLang="zh-CN" sz="3200" b="1">
                <a:solidFill>
                  <a:srgbClr val="2A05C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a</a:t>
            </a:r>
            <a:r>
              <a:rPr lang="en-US" altLang="zh-CN" sz="3200" b="1">
                <a:solidFill>
                  <a:srgbClr val="2A05C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-ketoglutarate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 </a:t>
            </a:r>
          </a:p>
          <a:p>
            <a:pPr algn="ctr"/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via catalysis of a specific</a:t>
            </a:r>
            <a:r>
              <a:rPr lang="en-US" altLang="zh-CN" sz="32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 </a:t>
            </a:r>
            <a:r>
              <a:rPr lang="en-US" altLang="zh-CN" sz="3200" b="1">
                <a:solidFill>
                  <a:srgbClr val="2A05C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aminotransferase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,</a:t>
            </a:r>
            <a:r>
              <a:rPr lang="en-US" altLang="zh-CN" sz="32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 </a:t>
            </a:r>
          </a:p>
          <a:p>
            <a:pPr algn="ctr"/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producing </a:t>
            </a:r>
            <a:r>
              <a:rPr lang="en-US" altLang="zh-CN" sz="3200" b="1">
                <a:solidFill>
                  <a:srgbClr val="2A05C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Glu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 and an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a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-keto acid.</a:t>
            </a:r>
            <a:endParaRPr lang="en-US" altLang="zh-CN" sz="320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1547813" y="188913"/>
            <a:ext cx="49720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FF0000"/>
                </a:solidFill>
                <a:latin typeface="Tahoma" pitchFamily="34" charset="0"/>
              </a:rPr>
              <a:t>This reaction is fully reversible!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16A3EF-D364-4A85-B5AE-143616CE4B05}"/>
              </a:ext>
            </a:extLst>
          </p:cNvPr>
          <p:cNvSpPr txBox="1"/>
          <p:nvPr/>
        </p:nvSpPr>
        <p:spPr>
          <a:xfrm>
            <a:off x="3563888" y="28832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FF0000"/>
                </a:solidFill>
                <a:effectLst/>
                <a:latin typeface="TimesNewRomanPSMT"/>
              </a:rPr>
              <a:t>Pyridoxal phosphate (PLP) </a:t>
            </a: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2" descr="未标题-1 拷贝"/>
          <p:cNvPicPr>
            <a:picLocks noChangeAspect="1" noChangeArrowheads="1"/>
          </p:cNvPicPr>
          <p:nvPr/>
        </p:nvPicPr>
        <p:blipFill>
          <a:blip r:embed="rId2" cstate="print">
            <a:lum bright="6000"/>
          </a:blip>
          <a:srcRect/>
          <a:stretch>
            <a:fillRect/>
          </a:stretch>
        </p:blipFill>
        <p:spPr bwMode="auto">
          <a:xfrm>
            <a:off x="827088" y="260350"/>
            <a:ext cx="7345362" cy="6389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323850" y="549275"/>
            <a:ext cx="882015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200" b="1" dirty="0">
                <a:solidFill>
                  <a:srgbClr val="2A05C7"/>
                </a:solidFill>
                <a:latin typeface="Garamond" pitchFamily="18" charset="0"/>
              </a:rPr>
              <a:t>The major route for the deamination of amino acids is transamination followed by the oxidative deamination of glutamate. </a:t>
            </a:r>
            <a:r>
              <a:rPr lang="zh-CN" altLang="en-US" sz="4200" b="1" dirty="0">
                <a:solidFill>
                  <a:srgbClr val="2A05C7"/>
                </a:solidFill>
                <a:latin typeface="Garamond" pitchFamily="18" charset="0"/>
              </a:rPr>
              <a:t>（联合脱氨基）</a:t>
            </a:r>
            <a:endParaRPr lang="en-US" altLang="zh-CN" sz="4200" b="1" dirty="0">
              <a:solidFill>
                <a:srgbClr val="2A05C7"/>
              </a:solidFill>
              <a:latin typeface="Garamond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4200" b="1" dirty="0">
                <a:solidFill>
                  <a:srgbClr val="993366"/>
                </a:solidFill>
                <a:latin typeface="Garamond" pitchFamily="18" charset="0"/>
              </a:rPr>
              <a:t>However, a minor route also exists that involves direct oxidation of the amino acid by L-amino acid </a:t>
            </a:r>
            <a:r>
              <a:rPr lang="en-US" altLang="zh-CN" sz="4200" b="1" dirty="0" err="1">
                <a:solidFill>
                  <a:srgbClr val="993366"/>
                </a:solidFill>
                <a:latin typeface="Garamond" pitchFamily="18" charset="0"/>
              </a:rPr>
              <a:t>oxidase</a:t>
            </a:r>
            <a:r>
              <a:rPr lang="en-US" altLang="zh-CN" sz="4200" b="1" dirty="0">
                <a:solidFill>
                  <a:srgbClr val="993366"/>
                </a:solidFill>
                <a:latin typeface="Garamond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31800"/>
            <a:ext cx="7772400" cy="1114425"/>
          </a:xfrm>
          <a:noFill/>
          <a:ln/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脱氨基产物</a:t>
            </a:r>
            <a:r>
              <a:rPr lang="en-US" altLang="zh-CN" b="1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α-</a:t>
            </a:r>
            <a:r>
              <a:rPr lang="zh-CN" altLang="en-US" b="1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酮酸的代谢转变</a:t>
            </a:r>
          </a:p>
        </p:txBody>
      </p:sp>
      <p:sp>
        <p:nvSpPr>
          <p:cNvPr id="323587" name="Line 3"/>
          <p:cNvSpPr>
            <a:spLocks noChangeShapeType="1"/>
          </p:cNvSpPr>
          <p:nvPr/>
        </p:nvSpPr>
        <p:spPr bwMode="auto">
          <a:xfrm>
            <a:off x="822325" y="1285875"/>
            <a:ext cx="7620000" cy="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1736725" y="1727200"/>
            <a:ext cx="6264275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kumimoji="1" lang="en-US" altLang="zh-CN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）</a:t>
            </a:r>
            <a:r>
              <a:rPr kumimoji="1" lang="zh-CN" altLang="en-US" sz="36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再氨基化生成氨基酸</a:t>
            </a:r>
          </a:p>
        </p:txBody>
      </p:sp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1736725" y="2852738"/>
            <a:ext cx="60198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kumimoji="1" lang="en-US" altLang="zh-CN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）</a:t>
            </a:r>
            <a:r>
              <a:rPr kumimoji="1" lang="zh-CN" altLang="en-US" sz="36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转变成糖或脂肪</a:t>
            </a: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2727325" y="3614738"/>
            <a:ext cx="5905500" cy="600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300" b="1" dirty="0">
                <a:solidFill>
                  <a:srgbClr val="6600CC"/>
                </a:solidFill>
                <a:latin typeface="隶书" pitchFamily="49" charset="-122"/>
                <a:ea typeface="隶书" pitchFamily="49" charset="-122"/>
              </a:rPr>
              <a:t>生糖氨基酸和生酮氨基酸</a:t>
            </a:r>
            <a:endParaRPr kumimoji="1" lang="en-US" altLang="zh-CN" sz="3300" b="1" dirty="0">
              <a:solidFill>
                <a:srgbClr val="6600CC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1979613" y="4643438"/>
            <a:ext cx="5546725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kumimoji="1" lang="en-US" altLang="zh-CN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）</a:t>
            </a:r>
            <a:r>
              <a:rPr kumimoji="1" lang="zh-CN" altLang="en-US"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氧化成</a:t>
            </a:r>
            <a:r>
              <a:rPr kumimoji="1" lang="en-US" altLang="zh-CN"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CO</a:t>
            </a:r>
            <a:r>
              <a:rPr kumimoji="1" lang="en-US" altLang="zh-CN" sz="3600" b="1" baseline="-25000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2</a:t>
            </a:r>
            <a:r>
              <a:rPr kumimoji="1" lang="zh-CN" altLang="en-US"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和</a:t>
            </a:r>
            <a:r>
              <a:rPr kumimoji="1" lang="en-US" altLang="zh-CN"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H</a:t>
            </a:r>
            <a:r>
              <a:rPr kumimoji="1" lang="en-US" altLang="zh-CN" sz="3600" b="1" baseline="-25000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2</a:t>
            </a:r>
            <a:r>
              <a:rPr kumimoji="1" lang="en-US" altLang="zh-CN"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O</a:t>
            </a:r>
            <a:endParaRPr kumimoji="1" lang="en-US" altLang="zh-CN" sz="3600" b="1">
              <a:solidFill>
                <a:schemeClr val="bg1"/>
              </a:solidFill>
              <a:latin typeface="隶书" pitchFamily="49" charset="-122"/>
              <a:ea typeface="隶书" pitchFamily="49" charset="-122"/>
              <a:hlinkClick r:id="rId4" action="ppaction://hlinkpres?slideindex=26&amp;slidetitle=没有幻灯片标题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6" name="Rectangle 4"/>
          <p:cNvSpPr>
            <a:spLocks noChangeArrowheads="1"/>
          </p:cNvSpPr>
          <p:nvPr/>
        </p:nvSpPr>
        <p:spPr bwMode="auto">
          <a:xfrm>
            <a:off x="139234" y="332656"/>
            <a:ext cx="9257302" cy="212365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Trp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, Ala, </a:t>
            </a:r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Gly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, Ser, </a:t>
            </a:r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Cys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 are converted</a:t>
            </a:r>
          </a:p>
          <a:p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to pyruvate </a:t>
            </a:r>
          </a:p>
          <a:p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kumimoji="1" lang="en-US" altLang="zh-CN" sz="4400" b="1" dirty="0">
                <a:solidFill>
                  <a:srgbClr val="2A05C7"/>
                </a:solidFill>
                <a:latin typeface="Times New Roman" pitchFamily="18" charset="0"/>
              </a:rPr>
              <a:t>thus being glucogenic</a:t>
            </a:r>
            <a:r>
              <a:rPr kumimoji="1" lang="zh-CN" altLang="en-US" sz="4400" b="1" dirty="0">
                <a:solidFill>
                  <a:srgbClr val="2A05C7"/>
                </a:solidFill>
                <a:latin typeface="Times New Roman" pitchFamily="18" charset="0"/>
              </a:rPr>
              <a:t>生糖氨基酸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84677" name="Rectangle 5"/>
          <p:cNvSpPr>
            <a:spLocks noChangeArrowheads="1"/>
          </p:cNvSpPr>
          <p:nvPr/>
        </p:nvSpPr>
        <p:spPr bwMode="auto">
          <a:xfrm>
            <a:off x="287337" y="2636912"/>
            <a:ext cx="8569325" cy="3477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en-US" altLang="zh-CN" b="1" dirty="0">
                <a:solidFill>
                  <a:srgbClr val="FFFF00"/>
                </a:solidFill>
                <a:latin typeface="Tahoma" pitchFamily="34" charset="0"/>
              </a:rPr>
              <a:t> 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Part of </a:t>
            </a:r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Trp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, </a:t>
            </a:r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Phe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, Tyr, Leu &amp; Lys are converted to </a:t>
            </a:r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acetoacetyl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-CoA, and Part of </a:t>
            </a:r>
            <a:r>
              <a:rPr kumimoji="1" lang="en-US" altLang="zh-CN" sz="4400" b="1" dirty="0" err="1">
                <a:solidFill>
                  <a:schemeClr val="tx2"/>
                </a:solidFill>
                <a:latin typeface="Times New Roman" pitchFamily="18" charset="0"/>
              </a:rPr>
              <a:t>Trp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, Leu, and </a:t>
            </a:r>
            <a:r>
              <a:rPr kumimoji="1" lang="en-US" altLang="zh-CN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Ile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 is converted to acetyl-CoA. </a:t>
            </a:r>
          </a:p>
          <a:p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kumimoji="1" lang="en-US" altLang="zh-CN" sz="4400" b="1" dirty="0">
                <a:solidFill>
                  <a:srgbClr val="2A05C7"/>
                </a:solidFill>
                <a:latin typeface="Times New Roman" pitchFamily="18" charset="0"/>
              </a:rPr>
              <a:t>thus being ketogenic</a:t>
            </a:r>
            <a:r>
              <a:rPr kumimoji="1" lang="zh-CN" altLang="en-US" sz="4400" b="1" dirty="0">
                <a:solidFill>
                  <a:srgbClr val="2A05C7"/>
                </a:solidFill>
                <a:latin typeface="Times New Roman" pitchFamily="18" charset="0"/>
              </a:rPr>
              <a:t>生酮氨基酸</a:t>
            </a:r>
            <a:r>
              <a:rPr kumimoji="1" lang="en-US" altLang="zh-CN" sz="4400" b="1" dirty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5725"/>
            <a:ext cx="7772400" cy="1114425"/>
          </a:xfrm>
          <a:noFill/>
          <a:ln/>
        </p:spPr>
        <p:txBody>
          <a:bodyPr/>
          <a:lstStyle/>
          <a:p>
            <a:r>
              <a:rPr lang="en-US" altLang="zh-CN" sz="380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2.</a:t>
            </a:r>
            <a:r>
              <a:rPr lang="zh-CN" altLang="en-US" sz="380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氨基酸的脱羧基作用</a:t>
            </a:r>
            <a:br>
              <a:rPr lang="zh-CN" altLang="en-US" sz="250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</a:br>
            <a:endParaRPr lang="zh-CN" altLang="en-US" sz="2500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94915" name="Line 3"/>
          <p:cNvSpPr>
            <a:spLocks noChangeShapeType="1"/>
          </p:cNvSpPr>
          <p:nvPr/>
        </p:nvSpPr>
        <p:spPr bwMode="auto">
          <a:xfrm>
            <a:off x="365125" y="942975"/>
            <a:ext cx="77724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2524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731838" y="1714500"/>
            <a:ext cx="40386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33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概念</a:t>
            </a:r>
          </a:p>
        </p:txBody>
      </p:sp>
      <p:sp>
        <p:nvSpPr>
          <p:cNvPr id="294917" name="Text Box 5"/>
          <p:cNvSpPr txBox="1">
            <a:spLocks noChangeArrowheads="1"/>
          </p:cNvSpPr>
          <p:nvPr/>
        </p:nvSpPr>
        <p:spPr bwMode="auto">
          <a:xfrm>
            <a:off x="822325" y="5454650"/>
            <a:ext cx="8588375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33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脱羧产物的进一步转化（次生物质代谢</a:t>
            </a:r>
            <a:r>
              <a:rPr kumimoji="1" lang="zh-CN" altLang="en-US" sz="28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）</a:t>
            </a:r>
            <a:endParaRPr kumimoji="1" lang="zh-CN" altLang="en-US" sz="2800" b="1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94918" name="AutoShape 6"/>
          <p:cNvSpPr>
            <a:spLocks noChangeArrowheads="1"/>
          </p:cNvSpPr>
          <p:nvPr/>
        </p:nvSpPr>
        <p:spPr bwMode="auto">
          <a:xfrm>
            <a:off x="3836988" y="942975"/>
            <a:ext cx="4572000" cy="3171825"/>
          </a:xfrm>
          <a:prstGeom prst="cloudCallout">
            <a:avLst>
              <a:gd name="adj1" fmla="val -73875"/>
              <a:gd name="adj2" fmla="val -15653"/>
            </a:avLst>
          </a:prstGeom>
          <a:solidFill>
            <a:srgbClr val="FFFF99">
              <a:alpha val="50000"/>
            </a:srgb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lIns="78364" tIns="39183" rIns="78364" bIns="39183" anchor="ctr"/>
          <a:lstStyle/>
          <a:p>
            <a:pPr algn="ctr"/>
            <a:endParaRPr kumimoji="1" lang="zh-CN" altLang="zh-CN" sz="2000">
              <a:solidFill>
                <a:schemeClr val="bg1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4202113" y="1368425"/>
            <a:ext cx="4206875" cy="220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8364" tIns="39183" rIns="78364" bIns="39183" anchor="ctr"/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   </a:t>
            </a:r>
            <a:r>
              <a:rPr kumimoji="1" lang="zh-CN" altLang="en-US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氨基酸在脱羧酶的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作用下脱掉羧基生成相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应的一级胺类化合物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的作用。脱羧酶的辅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酶为磷酸吡哆醛</a:t>
            </a:r>
            <a:r>
              <a:rPr kumimoji="1" lang="en-US" altLang="zh-CN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(Pyridoxal 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b="1" dirty="0" err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phosphate;PLP</a:t>
            </a:r>
            <a:r>
              <a:rPr kumimoji="1" lang="en-US" altLang="zh-CN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。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009054" y="4029075"/>
            <a:ext cx="5921971" cy="1290638"/>
            <a:chOff x="530" y="2256"/>
            <a:chExt cx="3108" cy="723"/>
          </a:xfrm>
        </p:grpSpPr>
        <p:sp>
          <p:nvSpPr>
            <p:cNvPr id="294921" name="Text Box 9"/>
            <p:cNvSpPr txBox="1">
              <a:spLocks noChangeArrowheads="1"/>
            </p:cNvSpPr>
            <p:nvPr/>
          </p:nvSpPr>
          <p:spPr bwMode="auto">
            <a:xfrm>
              <a:off x="1488" y="2256"/>
              <a:ext cx="2150" cy="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0" tIns="45716" rIns="91430" bIns="45716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3300" b="1">
                  <a:solidFill>
                    <a:srgbClr val="000099"/>
                  </a:solidFill>
                  <a:latin typeface="隶书" pitchFamily="49" charset="-122"/>
                  <a:ea typeface="隶书" pitchFamily="49" charset="-122"/>
                </a:rPr>
                <a:t>直接脱羧      胺</a:t>
              </a:r>
            </a:p>
            <a:p>
              <a:pPr>
                <a:spcBef>
                  <a:spcPct val="50000"/>
                </a:spcBef>
              </a:pPr>
              <a:r>
                <a:rPr kumimoji="1" lang="zh-CN" altLang="en-US" sz="3300" b="1">
                  <a:solidFill>
                    <a:srgbClr val="000099"/>
                  </a:solidFill>
                  <a:latin typeface="隶书" pitchFamily="49" charset="-122"/>
                  <a:ea typeface="隶书" pitchFamily="49" charset="-122"/>
                </a:rPr>
                <a:t>羟化脱羧      羟胺</a:t>
              </a:r>
              <a:r>
                <a:rPr kumimoji="1" lang="zh-CN" altLang="en-US" sz="2800" b="1">
                  <a:solidFill>
                    <a:srgbClr val="000099"/>
                  </a:solidFill>
                  <a:latin typeface="隶书" pitchFamily="49" charset="-122"/>
                  <a:ea typeface="隶书" pitchFamily="49" charset="-122"/>
                </a:rPr>
                <a:t> </a:t>
              </a:r>
            </a:p>
          </p:txBody>
        </p:sp>
        <p:sp>
          <p:nvSpPr>
            <p:cNvPr id="294922" name="AutoShape 10"/>
            <p:cNvSpPr>
              <a:spLocks/>
            </p:cNvSpPr>
            <p:nvPr/>
          </p:nvSpPr>
          <p:spPr bwMode="auto">
            <a:xfrm>
              <a:off x="1266" y="2400"/>
              <a:ext cx="214" cy="432"/>
            </a:xfrm>
            <a:prstGeom prst="leftBrace">
              <a:avLst>
                <a:gd name="adj1" fmla="val 62213"/>
                <a:gd name="adj2" fmla="val 50000"/>
              </a:avLst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square" lIns="78373" tIns="39187" rIns="78373" bIns="39187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4923" name="Line 11"/>
            <p:cNvSpPr>
              <a:spLocks noChangeShapeType="1"/>
            </p:cNvSpPr>
            <p:nvPr/>
          </p:nvSpPr>
          <p:spPr bwMode="auto">
            <a:xfrm>
              <a:off x="2496" y="2448"/>
              <a:ext cx="5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lIns="78373" tIns="39187" rIns="78373" bIns="39187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4924" name="Line 12"/>
            <p:cNvSpPr>
              <a:spLocks noChangeShapeType="1"/>
            </p:cNvSpPr>
            <p:nvPr/>
          </p:nvSpPr>
          <p:spPr bwMode="auto">
            <a:xfrm flipV="1">
              <a:off x="2496" y="2832"/>
              <a:ext cx="49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lIns="78373" tIns="39187" rIns="78373" bIns="39187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4925" name="Text Box 13"/>
            <p:cNvSpPr txBox="1">
              <a:spLocks noChangeArrowheads="1"/>
            </p:cNvSpPr>
            <p:nvPr/>
          </p:nvSpPr>
          <p:spPr bwMode="auto">
            <a:xfrm>
              <a:off x="530" y="2413"/>
              <a:ext cx="1152" cy="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pPr defTabSz="1066800" eaLnBrk="0" hangingPunct="0">
                <a:lnSpc>
                  <a:spcPct val="90000"/>
                </a:lnSpc>
                <a:spcBef>
                  <a:spcPct val="50000"/>
                </a:spcBef>
                <a:buFontTx/>
                <a:buChar char="•"/>
              </a:pPr>
              <a:r>
                <a:rPr kumimoji="1" lang="zh-CN" altLang="en-US" sz="3300" b="1" dirty="0">
                  <a:solidFill>
                    <a:srgbClr val="000099"/>
                  </a:solidFill>
                  <a:latin typeface="隶书" pitchFamily="49" charset="-122"/>
                  <a:ea typeface="隶书" pitchFamily="49" charset="-122"/>
                </a:rPr>
                <a:t>类型</a:t>
              </a:r>
              <a:r>
                <a:rPr kumimoji="1" lang="en-US" altLang="zh-CN" sz="2800" b="1" dirty="0">
                  <a:solidFill>
                    <a:srgbClr val="000099"/>
                  </a:solidFill>
                  <a:latin typeface="隶书" pitchFamily="49" charset="-122"/>
                  <a:ea typeface="隶书" pitchFamily="49" charset="-122"/>
                </a:rPr>
                <a:t>: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6" grpId="0"/>
      <p:bldP spid="294917" grpId="0" autoUpdateAnimBg="0"/>
      <p:bldP spid="294918" grpId="0" animBg="1"/>
      <p:bldP spid="294919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Text Box 2"/>
          <p:cNvSpPr txBox="1">
            <a:spLocks noChangeArrowheads="1"/>
          </p:cNvSpPr>
          <p:nvPr/>
        </p:nvSpPr>
        <p:spPr bwMode="auto">
          <a:xfrm>
            <a:off x="336550" y="116632"/>
            <a:ext cx="8458200" cy="578619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100" dirty="0">
                <a:solidFill>
                  <a:srgbClr val="FFFF99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3100" dirty="0">
                <a:solidFill>
                  <a:srgbClr val="FFFF9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31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31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）直接脱羧作用</a:t>
            </a:r>
          </a:p>
          <a:p>
            <a:pPr>
              <a:spcBef>
                <a:spcPct val="50000"/>
              </a:spcBef>
            </a:pPr>
            <a:r>
              <a:rPr kumimoji="1" lang="zh-CN" altLang="en-US" sz="31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  脱羧酶（辅酶为磷酸吡哆醛</a:t>
            </a:r>
            <a:r>
              <a:rPr kumimoji="1" lang="en-US" altLang="zh-CN" sz="31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sz="31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胺）</a:t>
            </a:r>
            <a:r>
              <a:rPr kumimoji="1" lang="zh-CN" altLang="en-US" sz="3100" dirty="0">
                <a:solidFill>
                  <a:srgbClr val="FFFF99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rgbClr val="FF3300"/>
              </a:buClr>
              <a:buFont typeface="Wingdings" pitchFamily="2" charset="2"/>
              <a:buChar char="l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FFFF99"/>
                </a:solidFill>
                <a:latin typeface="Times New Roman" panose="02020603050405020304" pitchFamily="18" charset="0"/>
              </a:rPr>
              <a:t>Glu</a:t>
            </a:r>
            <a:r>
              <a:rPr kumimoji="1" lang="en-US" altLang="zh-CN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→</a:t>
            </a: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氨基丁酸（</a:t>
            </a:r>
            <a:r>
              <a:rPr kumimoji="1" lang="en-US" altLang="zh-CN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GABA</a:t>
            </a: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）</a:t>
            </a:r>
            <a:endParaRPr kumimoji="1" lang="en-US" altLang="zh-CN" sz="2800" b="1" dirty="0">
              <a:solidFill>
                <a:srgbClr val="FFFF99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rgbClr val="FF3300"/>
              </a:buClr>
              <a:buFont typeface="Wingdings" pitchFamily="2" charset="2"/>
              <a:buChar char="l"/>
            </a:pPr>
            <a:r>
              <a:rPr kumimoji="1" lang="en-US" altLang="zh-CN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 His→</a:t>
            </a: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组胺</a:t>
            </a:r>
          </a:p>
          <a:p>
            <a:pPr algn="just">
              <a:spcBef>
                <a:spcPct val="50000"/>
              </a:spcBef>
              <a:buClr>
                <a:srgbClr val="FF3300"/>
              </a:buClr>
              <a:buFont typeface="Wingdings" pitchFamily="2" charset="2"/>
              <a:buChar char="l"/>
            </a:pP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Trp→5</a:t>
            </a: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羟色胺</a:t>
            </a:r>
          </a:p>
          <a:p>
            <a:pPr algn="just">
              <a:spcBef>
                <a:spcPct val="50000"/>
              </a:spcBef>
              <a:buClr>
                <a:srgbClr val="FF3300"/>
              </a:buClr>
              <a:buFont typeface="Wingdings" pitchFamily="2" charset="2"/>
              <a:buChar char="l"/>
            </a:pP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FFFF99"/>
                </a:solidFill>
                <a:latin typeface="Times New Roman" panose="02020603050405020304" pitchFamily="18" charset="0"/>
              </a:rPr>
              <a:t>Cys</a:t>
            </a:r>
            <a:r>
              <a:rPr kumimoji="1" lang="en-US" altLang="zh-CN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→</a:t>
            </a: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牛磺酸 </a:t>
            </a:r>
            <a:endParaRPr kumimoji="1" lang="en-US" altLang="zh-CN" sz="2800" b="1" dirty="0">
              <a:solidFill>
                <a:srgbClr val="FFFF99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rgbClr val="FF3300"/>
              </a:buClr>
              <a:buFont typeface="Wingdings" pitchFamily="2" charset="2"/>
              <a:buChar char="l"/>
            </a:pPr>
            <a:r>
              <a:rPr kumimoji="1" lang="en-US" altLang="zh-CN" sz="2800" b="1" dirty="0" err="1">
                <a:solidFill>
                  <a:srgbClr val="FFFF99"/>
                </a:solidFill>
                <a:latin typeface="Times New Roman" panose="02020603050405020304" pitchFamily="18" charset="0"/>
              </a:rPr>
              <a:t>Orn</a:t>
            </a:r>
            <a:r>
              <a:rPr kumimoji="1" lang="en-US" altLang="zh-CN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→</a:t>
            </a:r>
            <a:r>
              <a:rPr kumimoji="1" lang="zh-CN" altLang="en-US" sz="28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多胺</a:t>
            </a:r>
            <a:r>
              <a:rPr kumimoji="1" lang="en-US" altLang="zh-CN" sz="24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腐胺、精脒、精胺</a:t>
            </a:r>
            <a:r>
              <a:rPr kumimoji="1" lang="en-US" altLang="zh-CN" sz="2400" b="1" dirty="0">
                <a:solidFill>
                  <a:srgbClr val="FFFF99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FFFF99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3300" b="1" dirty="0">
                <a:solidFill>
                  <a:srgbClr val="FFFF99"/>
                </a:solidFill>
                <a:latin typeface="Times New Roman" pitchFamily="18" charset="0"/>
                <a:ea typeface="隶书" pitchFamily="49" charset="-122"/>
              </a:rPr>
              <a:t>腐败细菌作用时，常发生此类脱羧反应，生成胺类</a:t>
            </a:r>
          </a:p>
        </p:txBody>
      </p:sp>
      <p:sp>
        <p:nvSpPr>
          <p:cNvPr id="3" name="文本框 2">
            <a:hlinkClick r:id="rId3" action="ppaction://hlinksldjump"/>
            <a:extLst>
              <a:ext uri="{FF2B5EF4-FFF2-40B4-BE49-F238E27FC236}">
                <a16:creationId xmlns:a16="http://schemas.microsoft.com/office/drawing/2014/main" id="{B0874800-73A8-434A-8055-16398D3F1814}"/>
              </a:ext>
            </a:extLst>
          </p:cNvPr>
          <p:cNvSpPr txBox="1"/>
          <p:nvPr/>
        </p:nvSpPr>
        <p:spPr>
          <a:xfrm>
            <a:off x="7740352" y="64886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Next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Text Box 2"/>
          <p:cNvSpPr txBox="1">
            <a:spLocks noChangeArrowheads="1"/>
          </p:cNvSpPr>
          <p:nvPr/>
        </p:nvSpPr>
        <p:spPr bwMode="auto">
          <a:xfrm>
            <a:off x="990600" y="990600"/>
            <a:ext cx="7086600" cy="333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COOH</a:t>
            </a: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 |</a:t>
            </a: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(CH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)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                                                  COOH</a:t>
            </a: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|                    L-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itchFamily="18" charset="0"/>
              </a:rPr>
              <a:t>谷氨酸脱羧酶              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|</a:t>
            </a: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CH-NH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                                           (CH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)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|                                         CO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           |</a:t>
            </a: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 COOH                                                  CH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NH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itchFamily="18" charset="0"/>
              </a:rPr>
              <a:t>2</a:t>
            </a:r>
            <a:endParaRPr kumimoji="1" lang="en-US" altLang="zh-CN" sz="2400" b="1">
              <a:solidFill>
                <a:srgbClr val="000066"/>
              </a:solidFill>
              <a:latin typeface="Times New Roman" pitchFamily="18" charset="0"/>
            </a:endParaRPr>
          </a:p>
          <a:p>
            <a:endParaRPr kumimoji="1" lang="en-US" altLang="zh-CN" sz="2400" b="1">
              <a:solidFill>
                <a:srgbClr val="000066"/>
              </a:solidFill>
              <a:latin typeface="Times New Roman" pitchFamily="18" charset="0"/>
            </a:endParaRPr>
          </a:p>
          <a:p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 L-  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itchFamily="18" charset="0"/>
              </a:rPr>
              <a:t>谷氨酸                                       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itchFamily="18" charset="0"/>
              </a:rPr>
              <a:t>γ-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itchFamily="18" charset="0"/>
              </a:rPr>
              <a:t>氨基丁酸</a:t>
            </a:r>
          </a:p>
        </p:txBody>
      </p:sp>
      <p:sp>
        <p:nvSpPr>
          <p:cNvPr id="299011" name="Line 3"/>
          <p:cNvSpPr>
            <a:spLocks noChangeShapeType="1"/>
          </p:cNvSpPr>
          <p:nvPr/>
        </p:nvSpPr>
        <p:spPr bwMode="auto">
          <a:xfrm>
            <a:off x="2514600" y="2743200"/>
            <a:ext cx="3124200" cy="0"/>
          </a:xfrm>
          <a:prstGeom prst="line">
            <a:avLst/>
          </a:prstGeom>
          <a:noFill/>
          <a:ln w="28575">
            <a:solidFill>
              <a:srgbClr val="00CC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9012" name="Line 4"/>
          <p:cNvSpPr>
            <a:spLocks noChangeShapeType="1"/>
          </p:cNvSpPr>
          <p:nvPr/>
        </p:nvSpPr>
        <p:spPr bwMode="auto">
          <a:xfrm>
            <a:off x="4191000" y="2743200"/>
            <a:ext cx="304800" cy="304800"/>
          </a:xfrm>
          <a:prstGeom prst="line">
            <a:avLst/>
          </a:prstGeom>
          <a:noFill/>
          <a:ln w="28575">
            <a:solidFill>
              <a:srgbClr val="00CC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9013" name="Text Box 5"/>
          <p:cNvSpPr txBox="1">
            <a:spLocks noChangeArrowheads="1"/>
          </p:cNvSpPr>
          <p:nvPr/>
        </p:nvSpPr>
        <p:spPr bwMode="auto">
          <a:xfrm>
            <a:off x="4572000" y="620713"/>
            <a:ext cx="43894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r>
              <a:rPr kumimoji="1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γ-</a:t>
            </a:r>
            <a:r>
              <a:rPr kumimoji="1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氨基丁酸</a:t>
            </a:r>
            <a:endParaRPr kumimoji="1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1050925" y="4918075"/>
            <a:ext cx="6022975" cy="81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0" tIns="45716" rIns="91430" bIns="45716">
            <a:spAutoFit/>
          </a:bodyPr>
          <a:lstStyle/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itchFamily="18" charset="0"/>
              </a:rPr>
              <a:t>γ-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itchFamily="18" charset="0"/>
              </a:rPr>
              <a:t>氨基丁酸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itchFamily="18" charset="0"/>
              </a:rPr>
              <a:t>:γ-aminobutyric acid, GABA</a:t>
            </a:r>
          </a:p>
          <a:p>
            <a:r>
              <a:rPr kumimoji="1" lang="en-US" altLang="zh-CN" sz="2400" b="1" dirty="0">
                <a:solidFill>
                  <a:srgbClr val="000066"/>
                </a:solidFill>
                <a:latin typeface="Times New Roman" pitchFamily="18" charset="0"/>
              </a:rPr>
              <a:t>                       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itchFamily="18" charset="0"/>
              </a:rPr>
              <a:t>抑制性神经递质</a:t>
            </a:r>
            <a:endParaRPr kumimoji="1" lang="zh-CN" altLang="en-US" sz="2400" b="1" dirty="0">
              <a:solidFill>
                <a:srgbClr val="00006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Text Box 2"/>
          <p:cNvSpPr txBox="1">
            <a:spLocks noChangeArrowheads="1"/>
          </p:cNvSpPr>
          <p:nvPr/>
        </p:nvSpPr>
        <p:spPr bwMode="auto">
          <a:xfrm>
            <a:off x="5364163" y="836613"/>
            <a:ext cx="32115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r>
              <a:rPr kumimoji="1" lang="zh-CN" altLang="en-US" sz="3600" b="1">
                <a:latin typeface="Times New Roman" pitchFamily="18" charset="0"/>
              </a:rPr>
              <a:t>组胺</a:t>
            </a:r>
            <a:endParaRPr kumimoji="1" lang="zh-CN" altLang="en-US" sz="2400" b="1">
              <a:latin typeface="Times New Roman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0825" y="1646238"/>
            <a:ext cx="8553450" cy="4413250"/>
            <a:chOff x="144" y="768"/>
            <a:chExt cx="5140" cy="2780"/>
          </a:xfrm>
        </p:grpSpPr>
        <p:sp>
          <p:nvSpPr>
            <p:cNvPr id="303108" name="Text Box 4"/>
            <p:cNvSpPr txBox="1">
              <a:spLocks noChangeArrowheads="1"/>
            </p:cNvSpPr>
            <p:nvPr/>
          </p:nvSpPr>
          <p:spPr bwMode="auto">
            <a:xfrm>
              <a:off x="144" y="768"/>
              <a:ext cx="5140" cy="2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30" tIns="45716" rIns="91430" bIns="45716">
              <a:spAutoFit/>
            </a:bodyPr>
            <a:lstStyle/>
            <a:p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                                             </a:t>
              </a:r>
              <a:r>
                <a:rPr kumimoji="1" lang="zh-CN" altLang="en-US" sz="1700">
                  <a:solidFill>
                    <a:srgbClr val="000066"/>
                  </a:solidFill>
                  <a:latin typeface="Times New Roman" pitchFamily="18" charset="0"/>
                </a:rPr>
                <a:t>组氨酸脱羧酶</a:t>
              </a:r>
            </a:p>
            <a:p>
              <a:r>
                <a:rPr kumimoji="1" lang="zh-CN" altLang="en-US" sz="2400">
                  <a:solidFill>
                    <a:srgbClr val="000066"/>
                  </a:solidFill>
                  <a:latin typeface="Times New Roman" pitchFamily="18" charset="0"/>
                </a:rPr>
                <a:t>  </a:t>
              </a:r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HC=C-CH</a:t>
              </a:r>
              <a:r>
                <a:rPr kumimoji="1" lang="en-US" altLang="zh-CN" sz="2400" baseline="-25000">
                  <a:solidFill>
                    <a:srgbClr val="000066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CHCOOH                                 HC=C-CH</a:t>
              </a:r>
              <a:r>
                <a:rPr kumimoji="1" lang="en-US" altLang="zh-CN" sz="2400" baseline="-25000">
                  <a:solidFill>
                    <a:srgbClr val="000066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CH</a:t>
              </a:r>
              <a:r>
                <a:rPr kumimoji="1" lang="en-US" altLang="zh-CN" sz="2400" baseline="-25000">
                  <a:solidFill>
                    <a:srgbClr val="000066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NH</a:t>
              </a:r>
              <a:r>
                <a:rPr kumimoji="1" lang="en-US" altLang="zh-CN" sz="2400" baseline="-25000">
                  <a:solidFill>
                    <a:srgbClr val="000066"/>
                  </a:solidFill>
                  <a:latin typeface="Times New Roman" pitchFamily="18" charset="0"/>
                </a:rPr>
                <a:t>2 </a:t>
              </a:r>
            </a:p>
            <a:p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     |     |           |                           CO</a:t>
              </a:r>
              <a:r>
                <a:rPr kumimoji="1" lang="en-US" altLang="zh-CN" sz="2400" baseline="-25000">
                  <a:solidFill>
                    <a:srgbClr val="000066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                 |     |  </a:t>
              </a:r>
            </a:p>
            <a:p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HN     N        NH</a:t>
              </a:r>
              <a:r>
                <a:rPr kumimoji="1" lang="en-US" altLang="zh-CN" sz="2400" baseline="-25000">
                  <a:solidFill>
                    <a:srgbClr val="000066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                                         HN    N</a:t>
              </a:r>
            </a:p>
            <a:p>
              <a:endParaRPr kumimoji="1" lang="en-US" altLang="zh-CN" sz="2400">
                <a:solidFill>
                  <a:srgbClr val="000066"/>
                </a:solidFill>
                <a:latin typeface="Times New Roman" pitchFamily="18" charset="0"/>
              </a:endParaRPr>
            </a:p>
            <a:p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      C                                                                    C</a:t>
              </a:r>
            </a:p>
            <a:p>
              <a:r>
                <a:rPr kumimoji="1" lang="en-US" altLang="zh-CN" sz="2400">
                  <a:solidFill>
                    <a:srgbClr val="000066"/>
                  </a:solidFill>
                  <a:latin typeface="Times New Roman" pitchFamily="18" charset="0"/>
                </a:rPr>
                <a:t>      H                                                                    H    </a:t>
              </a:r>
            </a:p>
            <a:p>
              <a:endParaRPr kumimoji="1" lang="en-US" altLang="zh-CN" sz="2400">
                <a:solidFill>
                  <a:srgbClr val="000066"/>
                </a:solidFill>
                <a:latin typeface="Times New Roman" pitchFamily="18" charset="0"/>
              </a:endParaRPr>
            </a:p>
            <a:p>
              <a:r>
                <a:rPr kumimoji="1" lang="en-US" altLang="zh-CN" sz="2400" b="1">
                  <a:solidFill>
                    <a:srgbClr val="000066"/>
                  </a:solidFill>
                  <a:latin typeface="Times New Roman" pitchFamily="18" charset="0"/>
                </a:rPr>
                <a:t>L-</a:t>
              </a:r>
              <a:r>
                <a:rPr kumimoji="1" lang="zh-CN" altLang="en-US" sz="2400" b="1">
                  <a:solidFill>
                    <a:srgbClr val="000066"/>
                  </a:solidFill>
                  <a:latin typeface="Times New Roman" pitchFamily="18" charset="0"/>
                </a:rPr>
                <a:t>组氨酸                                                          组胺 </a:t>
              </a:r>
            </a:p>
          </p:txBody>
        </p:sp>
        <p:sp>
          <p:nvSpPr>
            <p:cNvPr id="303109" name="Line 5"/>
            <p:cNvSpPr>
              <a:spLocks noChangeShapeType="1"/>
            </p:cNvSpPr>
            <p:nvPr/>
          </p:nvSpPr>
          <p:spPr bwMode="auto">
            <a:xfrm>
              <a:off x="432" y="17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0" name="Line 6"/>
            <p:cNvSpPr>
              <a:spLocks noChangeShapeType="1"/>
            </p:cNvSpPr>
            <p:nvPr/>
          </p:nvSpPr>
          <p:spPr bwMode="auto">
            <a:xfrm flipH="1">
              <a:off x="576" y="1680"/>
              <a:ext cx="144" cy="28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1" name="Line 7"/>
            <p:cNvSpPr>
              <a:spLocks noChangeShapeType="1"/>
            </p:cNvSpPr>
            <p:nvPr/>
          </p:nvSpPr>
          <p:spPr bwMode="auto">
            <a:xfrm flipH="1">
              <a:off x="624" y="1728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2" name="Line 8"/>
            <p:cNvSpPr>
              <a:spLocks noChangeShapeType="1"/>
            </p:cNvSpPr>
            <p:nvPr/>
          </p:nvSpPr>
          <p:spPr bwMode="auto">
            <a:xfrm>
              <a:off x="3744" y="172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3" name="Line 9"/>
            <p:cNvSpPr>
              <a:spLocks noChangeShapeType="1"/>
            </p:cNvSpPr>
            <p:nvPr/>
          </p:nvSpPr>
          <p:spPr bwMode="auto">
            <a:xfrm flipH="1">
              <a:off x="3984" y="172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4" name="Line 10"/>
            <p:cNvSpPr>
              <a:spLocks noChangeShapeType="1"/>
            </p:cNvSpPr>
            <p:nvPr/>
          </p:nvSpPr>
          <p:spPr bwMode="auto">
            <a:xfrm flipH="1">
              <a:off x="4032" y="172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5" name="Line 11"/>
            <p:cNvSpPr>
              <a:spLocks noChangeShapeType="1"/>
            </p:cNvSpPr>
            <p:nvPr/>
          </p:nvSpPr>
          <p:spPr bwMode="auto">
            <a:xfrm>
              <a:off x="2064" y="1152"/>
              <a:ext cx="1392" cy="0"/>
            </a:xfrm>
            <a:prstGeom prst="line">
              <a:avLst/>
            </a:prstGeom>
            <a:noFill/>
            <a:ln w="38100">
              <a:solidFill>
                <a:srgbClr val="00CC66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6" name="Line 12"/>
            <p:cNvSpPr>
              <a:spLocks noChangeShapeType="1"/>
            </p:cNvSpPr>
            <p:nvPr/>
          </p:nvSpPr>
          <p:spPr bwMode="auto">
            <a:xfrm>
              <a:off x="2400" y="1152"/>
              <a:ext cx="144" cy="144"/>
            </a:xfrm>
            <a:prstGeom prst="line">
              <a:avLst/>
            </a:prstGeom>
            <a:noFill/>
            <a:ln w="19050">
              <a:solidFill>
                <a:srgbClr val="00CC66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3117" name="Text Box 13"/>
            <p:cNvSpPr txBox="1">
              <a:spLocks noChangeArrowheads="1"/>
            </p:cNvSpPr>
            <p:nvPr/>
          </p:nvSpPr>
          <p:spPr bwMode="auto">
            <a:xfrm>
              <a:off x="481" y="3264"/>
              <a:ext cx="2820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430" tIns="45716" rIns="91430" bIns="45716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0066"/>
                  </a:solidFill>
                  <a:latin typeface="Times New Roman" pitchFamily="18" charset="0"/>
                </a:rPr>
                <a:t>组胺：血管舒张剂、胃酸刺激剂</a:t>
              </a:r>
            </a:p>
          </p:txBody>
        </p:sp>
      </p:grp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54" name="Picture 2" descr="幻灯片3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1265238"/>
            <a:ext cx="8353425" cy="4686300"/>
          </a:xfrm>
          <a:prstGeom prst="rect">
            <a:avLst/>
          </a:prstGeom>
          <a:noFill/>
        </p:spPr>
      </p:pic>
      <p:sp>
        <p:nvSpPr>
          <p:cNvPr id="305155" name="Text Box 3"/>
          <p:cNvSpPr txBox="1">
            <a:spLocks noChangeArrowheads="1"/>
          </p:cNvSpPr>
          <p:nvPr/>
        </p:nvSpPr>
        <p:spPr bwMode="auto">
          <a:xfrm>
            <a:off x="812800" y="1403350"/>
            <a:ext cx="474663" cy="5365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33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4</a:t>
            </a:r>
          </a:p>
        </p:txBody>
      </p:sp>
      <p:sp>
        <p:nvSpPr>
          <p:cNvPr id="305156" name="Rectangle 4"/>
          <p:cNvSpPr>
            <a:spLocks noChangeArrowheads="1"/>
          </p:cNvSpPr>
          <p:nvPr/>
        </p:nvSpPr>
        <p:spPr bwMode="auto">
          <a:xfrm>
            <a:off x="539750" y="1268413"/>
            <a:ext cx="936625" cy="7207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02" name="Picture 2" descr="幻灯片3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674688"/>
            <a:ext cx="8496300" cy="5521325"/>
          </a:xfrm>
          <a:prstGeom prst="rect">
            <a:avLst/>
          </a:prstGeom>
          <a:noFill/>
        </p:spPr>
      </p:pic>
      <p:pic>
        <p:nvPicPr>
          <p:cNvPr id="307203" name="Picture 3" descr="Pi_12368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74063" y="512763"/>
            <a:ext cx="500062" cy="830262"/>
          </a:xfrm>
          <a:prstGeom prst="rect">
            <a:avLst/>
          </a:prstGeom>
          <a:noFill/>
        </p:spPr>
      </p:pic>
      <p:sp>
        <p:nvSpPr>
          <p:cNvPr id="307204" name="Rectangle 4"/>
          <p:cNvSpPr>
            <a:spLocks noChangeArrowheads="1"/>
          </p:cNvSpPr>
          <p:nvPr/>
        </p:nvSpPr>
        <p:spPr bwMode="auto">
          <a:xfrm>
            <a:off x="6040438" y="5670550"/>
            <a:ext cx="24161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隶书" pitchFamily="49" charset="-122"/>
              </a:rPr>
              <a:t>促进细胞增殖</a:t>
            </a:r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684213" y="755650"/>
            <a:ext cx="431800" cy="534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33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5</a:t>
            </a:r>
          </a:p>
        </p:txBody>
      </p:sp>
      <p:sp>
        <p:nvSpPr>
          <p:cNvPr id="307206" name="Rectangle 6"/>
          <p:cNvSpPr>
            <a:spLocks noChangeArrowheads="1"/>
          </p:cNvSpPr>
          <p:nvPr/>
        </p:nvSpPr>
        <p:spPr bwMode="auto">
          <a:xfrm>
            <a:off x="468313" y="47625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838200"/>
            <a:ext cx="8229600" cy="4524375"/>
          </a:xfrm>
          <a:noFill/>
          <a:ln>
            <a:solidFill>
              <a:srgbClr val="000066"/>
            </a:solidFill>
          </a:ln>
        </p:spPr>
        <p:txBody>
          <a:bodyPr/>
          <a:lstStyle/>
          <a:p>
            <a:r>
              <a:rPr lang="zh-CN" altLang="en-US" dirty="0"/>
              <a:t>羟化脱羧基作用</a:t>
            </a:r>
          </a:p>
        </p:txBody>
      </p:sp>
      <p:sp>
        <p:nvSpPr>
          <p:cNvPr id="309251" name="Text Box 3"/>
          <p:cNvSpPr txBox="1">
            <a:spLocks noChangeArrowheads="1"/>
          </p:cNvSpPr>
          <p:nvPr/>
        </p:nvSpPr>
        <p:spPr bwMode="auto">
          <a:xfrm>
            <a:off x="336550" y="917575"/>
            <a:ext cx="8458200" cy="5772150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1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3100" b="1" dirty="0">
                <a:latin typeface="Times New Roman" panose="02020603050405020304" pitchFamily="18" charset="0"/>
              </a:rPr>
              <a:t>羟化脱羧基作用</a:t>
            </a:r>
          </a:p>
          <a:p>
            <a:pPr>
              <a:spcBef>
                <a:spcPct val="50000"/>
              </a:spcBef>
            </a:pPr>
            <a:endParaRPr kumimoji="1" lang="zh-CN" altLang="en-US" sz="3100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3300" b="1" dirty="0">
                <a:latin typeface="Times New Roman" pitchFamily="18" charset="0"/>
                <a:ea typeface="隶书" pitchFamily="49" charset="-122"/>
              </a:rPr>
              <a:t>酪氨酸                    二羟苯丙氨酸（多巴）</a:t>
            </a:r>
          </a:p>
          <a:p>
            <a:pPr>
              <a:spcBef>
                <a:spcPct val="5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3300" b="1" dirty="0">
                <a:latin typeface="Times New Roman" pitchFamily="18" charset="0"/>
                <a:ea typeface="隶书" pitchFamily="49" charset="-122"/>
              </a:rPr>
              <a:t>                                                                                                       </a:t>
            </a:r>
          </a:p>
          <a:p>
            <a:pPr>
              <a:spcBef>
                <a:spcPct val="5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3300" b="1" dirty="0">
                <a:latin typeface="Times New Roman" pitchFamily="18" charset="0"/>
                <a:ea typeface="隶书" pitchFamily="49" charset="-122"/>
              </a:rPr>
              <a:t>                                    二羟苯乙胺（多巴胺）</a:t>
            </a:r>
          </a:p>
          <a:p>
            <a:pPr>
              <a:spcBef>
                <a:spcPct val="50000"/>
              </a:spcBef>
              <a:buClr>
                <a:srgbClr val="FF3300"/>
              </a:buClr>
              <a:buFont typeface="Wingdings" pitchFamily="2" charset="2"/>
              <a:buNone/>
            </a:pPr>
            <a:endParaRPr kumimoji="1" lang="zh-CN" altLang="en-US" sz="3300" b="1" dirty="0">
              <a:latin typeface="Times New Roman" pitchFamily="18" charset="0"/>
              <a:ea typeface="隶书" pitchFamily="49" charset="-122"/>
            </a:endParaRPr>
          </a:p>
          <a:p>
            <a:pPr>
              <a:spcBef>
                <a:spcPct val="50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3300" b="1" dirty="0">
                <a:latin typeface="Times New Roman" pitchFamily="18" charset="0"/>
                <a:ea typeface="隶书" pitchFamily="49" charset="-122"/>
              </a:rPr>
              <a:t> </a:t>
            </a:r>
          </a:p>
          <a:p>
            <a:pPr>
              <a:spcBef>
                <a:spcPct val="50000"/>
              </a:spcBef>
            </a:pPr>
            <a:endParaRPr kumimoji="1" lang="en-US" altLang="zh-CN" sz="3100" b="1" dirty="0">
              <a:latin typeface="Times New Roman" panose="02020603050405020304" pitchFamily="18" charset="0"/>
            </a:endParaRPr>
          </a:p>
        </p:txBody>
      </p:sp>
      <p:sp>
        <p:nvSpPr>
          <p:cNvPr id="309252" name="Line 4"/>
          <p:cNvSpPr>
            <a:spLocks noChangeShapeType="1"/>
          </p:cNvSpPr>
          <p:nvPr/>
        </p:nvSpPr>
        <p:spPr bwMode="auto">
          <a:xfrm flipV="1">
            <a:off x="1808163" y="2617788"/>
            <a:ext cx="1528762" cy="1428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53" name="Text Box 5"/>
          <p:cNvSpPr txBox="1">
            <a:spLocks noChangeArrowheads="1"/>
          </p:cNvSpPr>
          <p:nvPr/>
        </p:nvSpPr>
        <p:spPr bwMode="auto">
          <a:xfrm>
            <a:off x="1720850" y="2713038"/>
            <a:ext cx="1985963" cy="398565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酪氨酸羟化酶</a:t>
            </a:r>
          </a:p>
        </p:txBody>
      </p:sp>
      <p:sp>
        <p:nvSpPr>
          <p:cNvPr id="309254" name="Text Box 6"/>
          <p:cNvSpPr txBox="1">
            <a:spLocks noChangeArrowheads="1"/>
          </p:cNvSpPr>
          <p:nvPr/>
        </p:nvSpPr>
        <p:spPr bwMode="auto">
          <a:xfrm>
            <a:off x="1893888" y="2052638"/>
            <a:ext cx="1382712" cy="495514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1/2O</a:t>
            </a:r>
            <a:r>
              <a:rPr kumimoji="1" lang="en-US" altLang="zh-CN" sz="33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2</a:t>
            </a:r>
          </a:p>
        </p:txBody>
      </p:sp>
      <p:sp>
        <p:nvSpPr>
          <p:cNvPr id="309255" name="Line 7"/>
          <p:cNvSpPr>
            <a:spLocks noChangeShapeType="1"/>
          </p:cNvSpPr>
          <p:nvPr/>
        </p:nvSpPr>
        <p:spPr bwMode="auto">
          <a:xfrm>
            <a:off x="5178425" y="2860675"/>
            <a:ext cx="3175" cy="9398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56" name="Line 8"/>
          <p:cNvSpPr>
            <a:spLocks noChangeShapeType="1"/>
          </p:cNvSpPr>
          <p:nvPr/>
        </p:nvSpPr>
        <p:spPr bwMode="auto">
          <a:xfrm>
            <a:off x="5178425" y="3267075"/>
            <a:ext cx="430213" cy="16192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57" name="Text Box 9"/>
          <p:cNvSpPr txBox="1">
            <a:spLocks noChangeArrowheads="1"/>
          </p:cNvSpPr>
          <p:nvPr/>
        </p:nvSpPr>
        <p:spPr bwMode="auto">
          <a:xfrm>
            <a:off x="5695950" y="3186113"/>
            <a:ext cx="755644" cy="426264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CO</a:t>
            </a:r>
            <a:r>
              <a:rPr kumimoji="1" lang="en-US" altLang="zh-CN" sz="23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2</a:t>
            </a:r>
          </a:p>
        </p:txBody>
      </p:sp>
      <p:sp>
        <p:nvSpPr>
          <p:cNvPr id="309258" name="Line 10"/>
          <p:cNvSpPr>
            <a:spLocks noChangeShapeType="1"/>
          </p:cNvSpPr>
          <p:nvPr/>
        </p:nvSpPr>
        <p:spPr bwMode="auto">
          <a:xfrm>
            <a:off x="5264150" y="3186113"/>
            <a:ext cx="431800" cy="24288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59" name="Line 11"/>
          <p:cNvSpPr>
            <a:spLocks noChangeShapeType="1"/>
          </p:cNvSpPr>
          <p:nvPr/>
        </p:nvSpPr>
        <p:spPr bwMode="auto">
          <a:xfrm flipH="1">
            <a:off x="2930525" y="2781300"/>
            <a:ext cx="1727200" cy="1862138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60" name="Text Box 12"/>
          <p:cNvSpPr txBox="1">
            <a:spLocks noChangeArrowheads="1"/>
          </p:cNvSpPr>
          <p:nvPr/>
        </p:nvSpPr>
        <p:spPr bwMode="auto">
          <a:xfrm>
            <a:off x="2584450" y="3429000"/>
            <a:ext cx="1816100" cy="564764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3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氧化</a:t>
            </a:r>
          </a:p>
        </p:txBody>
      </p:sp>
      <p:sp>
        <p:nvSpPr>
          <p:cNvPr id="309261" name="Text Box 13"/>
          <p:cNvSpPr txBox="1">
            <a:spLocks noChangeArrowheads="1"/>
          </p:cNvSpPr>
          <p:nvPr/>
        </p:nvSpPr>
        <p:spPr bwMode="auto">
          <a:xfrm>
            <a:off x="2325688" y="4643438"/>
            <a:ext cx="1295400" cy="564764"/>
          </a:xfrm>
          <a:prstGeom prst="rect">
            <a:avLst/>
          </a:prstGeom>
          <a:solidFill>
            <a:srgbClr val="FFFF9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3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黑素</a:t>
            </a:r>
          </a:p>
        </p:txBody>
      </p:sp>
      <p:sp>
        <p:nvSpPr>
          <p:cNvPr id="309262" name="Line 14"/>
          <p:cNvSpPr>
            <a:spLocks noChangeShapeType="1"/>
          </p:cNvSpPr>
          <p:nvPr/>
        </p:nvSpPr>
        <p:spPr bwMode="auto">
          <a:xfrm>
            <a:off x="5178425" y="4240213"/>
            <a:ext cx="3175" cy="9398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63" name="Text Box 15"/>
          <p:cNvSpPr txBox="1">
            <a:spLocks noChangeArrowheads="1"/>
          </p:cNvSpPr>
          <p:nvPr/>
        </p:nvSpPr>
        <p:spPr bwMode="auto">
          <a:xfrm>
            <a:off x="4572000" y="5211763"/>
            <a:ext cx="1727200" cy="564764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3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生物碱</a:t>
            </a:r>
          </a:p>
        </p:txBody>
      </p:sp>
      <p:sp>
        <p:nvSpPr>
          <p:cNvPr id="309264" name="Line 16"/>
          <p:cNvSpPr>
            <a:spLocks noChangeShapeType="1"/>
          </p:cNvSpPr>
          <p:nvPr/>
        </p:nvSpPr>
        <p:spPr bwMode="auto">
          <a:xfrm>
            <a:off x="2930525" y="4076700"/>
            <a:ext cx="431800" cy="485775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65" name="Line 17"/>
          <p:cNvSpPr>
            <a:spLocks noChangeShapeType="1"/>
          </p:cNvSpPr>
          <p:nvPr/>
        </p:nvSpPr>
        <p:spPr bwMode="auto">
          <a:xfrm flipH="1">
            <a:off x="1808163" y="4319588"/>
            <a:ext cx="1036637" cy="24288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66" name="Text Box 18"/>
          <p:cNvSpPr txBox="1">
            <a:spLocks noChangeArrowheads="1"/>
          </p:cNvSpPr>
          <p:nvPr/>
        </p:nvSpPr>
        <p:spPr bwMode="auto">
          <a:xfrm>
            <a:off x="769938" y="4400550"/>
            <a:ext cx="950912" cy="147886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3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白化病</a:t>
            </a:r>
          </a:p>
        </p:txBody>
      </p:sp>
      <p:sp>
        <p:nvSpPr>
          <p:cNvPr id="309267" name="Line 19"/>
          <p:cNvSpPr>
            <a:spLocks noChangeShapeType="1"/>
          </p:cNvSpPr>
          <p:nvPr/>
        </p:nvSpPr>
        <p:spPr bwMode="auto">
          <a:xfrm>
            <a:off x="7597775" y="4319588"/>
            <a:ext cx="0" cy="728662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9268" name="Text Box 20"/>
          <p:cNvSpPr txBox="1">
            <a:spLocks noChangeArrowheads="1"/>
          </p:cNvSpPr>
          <p:nvPr/>
        </p:nvSpPr>
        <p:spPr bwMode="auto">
          <a:xfrm>
            <a:off x="6559550" y="5130800"/>
            <a:ext cx="2073275" cy="564764"/>
          </a:xfrm>
          <a:prstGeom prst="rect">
            <a:avLst/>
          </a:prstGeom>
          <a:solidFill>
            <a:srgbClr val="FFFF9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106674" tIns="53337" rIns="106674" bIns="53337">
            <a:spAutoFit/>
          </a:bodyPr>
          <a:lstStyle/>
          <a:p>
            <a:pPr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3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帕金森病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9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9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9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9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9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9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9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9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9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9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9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9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9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9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9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09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9" grpId="0" animBg="1"/>
      <p:bldP spid="309260" grpId="0" animBg="1"/>
      <p:bldP spid="309261" grpId="0" animBg="1"/>
      <p:bldP spid="309264" grpId="0" animBg="1"/>
      <p:bldP spid="309265" grpId="0" animBg="1"/>
      <p:bldP spid="309266" grpId="0" animBg="1"/>
      <p:bldP spid="309267" grpId="0" animBg="1"/>
      <p:bldP spid="30926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600075"/>
            <a:ext cx="7772400" cy="1114425"/>
          </a:xfrm>
          <a:noFill/>
          <a:ln/>
        </p:spPr>
        <p:txBody>
          <a:bodyPr/>
          <a:lstStyle/>
          <a:p>
            <a:r>
              <a:rPr lang="en-US" altLang="zh-CN" b="1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3.</a:t>
            </a:r>
            <a:r>
              <a:rPr lang="zh-CN" altLang="en-US" b="1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氨基酸分解产物的转化</a:t>
            </a:r>
          </a:p>
        </p:txBody>
      </p:sp>
      <p:sp>
        <p:nvSpPr>
          <p:cNvPr id="311299" name="Line 3"/>
          <p:cNvSpPr>
            <a:spLocks noChangeShapeType="1"/>
          </p:cNvSpPr>
          <p:nvPr/>
        </p:nvSpPr>
        <p:spPr bwMode="auto">
          <a:xfrm>
            <a:off x="914400" y="1524000"/>
            <a:ext cx="76200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1300" name="Text Box 4"/>
          <p:cNvSpPr txBox="1">
            <a:spLocks noChangeArrowheads="1"/>
          </p:cNvSpPr>
          <p:nvPr/>
        </p:nvSpPr>
        <p:spPr bwMode="auto">
          <a:xfrm>
            <a:off x="1812925" y="2636838"/>
            <a:ext cx="47037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6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kumimoji="1" lang="en-US" altLang="zh-CN" sz="36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36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）</a:t>
            </a:r>
            <a:r>
              <a:rPr kumimoji="1" lang="zh-CN" altLang="en-US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氨的代谢转变</a:t>
            </a:r>
            <a:endParaRPr kumimoji="1" lang="zh-CN" altLang="en-US" sz="3600">
              <a:solidFill>
                <a:schemeClr val="bg1"/>
              </a:solidFill>
              <a:latin typeface="隶书" pitchFamily="49" charset="-122"/>
              <a:ea typeface="隶书" pitchFamily="49" charset="-122"/>
              <a:hlinkClick r:id="" action="ppaction://hlinkshowjump?jump=nextslide"/>
            </a:endParaRPr>
          </a:p>
        </p:txBody>
      </p:sp>
      <p:sp>
        <p:nvSpPr>
          <p:cNvPr id="311301" name="Text Box 5"/>
          <p:cNvSpPr txBox="1">
            <a:spLocks noChangeArrowheads="1"/>
          </p:cNvSpPr>
          <p:nvPr/>
        </p:nvSpPr>
        <p:spPr bwMode="auto">
          <a:xfrm>
            <a:off x="1798638" y="4114800"/>
            <a:ext cx="68056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6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kumimoji="1" lang="en-US" altLang="zh-CN" sz="36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kumimoji="1" lang="zh-CN" altLang="en-US" sz="36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）</a:t>
            </a:r>
            <a:r>
              <a:rPr kumimoji="1" lang="zh-CN" altLang="en-US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氨基酸碳骨架的代谢途径</a:t>
            </a:r>
            <a:endParaRPr kumimoji="1" lang="zh-CN" altLang="en-US" sz="3600">
              <a:solidFill>
                <a:schemeClr val="bg1"/>
              </a:solidFill>
              <a:latin typeface="隶书" pitchFamily="49" charset="-122"/>
              <a:ea typeface="隶书" pitchFamily="49" charset="-122"/>
              <a:hlinkClick r:id="rId3" action="ppaction://hlinkpres?slideindex=24&amp;slidetitle=没有幻灯片标题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autoUpdateAnimBg="0"/>
      <p:bldP spid="311301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28625"/>
            <a:ext cx="7772400" cy="1114425"/>
          </a:xfrm>
          <a:noFill/>
          <a:ln/>
        </p:spPr>
        <p:txBody>
          <a:bodyPr/>
          <a:lstStyle/>
          <a:p>
            <a:r>
              <a:rPr lang="zh-CN" altLang="en-US" sz="5100" b="1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lang="en-US" altLang="zh-CN" sz="5100" b="1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5100" b="1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）氨的代谢转变</a:t>
            </a:r>
            <a:endParaRPr lang="zh-CN" altLang="en-US" sz="5100" b="1">
              <a:solidFill>
                <a:srgbClr val="FFFF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3347" name="Line 3"/>
          <p:cNvSpPr>
            <a:spLocks noChangeShapeType="1"/>
          </p:cNvSpPr>
          <p:nvPr/>
        </p:nvSpPr>
        <p:spPr bwMode="auto">
          <a:xfrm>
            <a:off x="1171575" y="1524000"/>
            <a:ext cx="69342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3348" name="Text Box 4"/>
          <p:cNvSpPr txBox="1">
            <a:spLocks noChangeArrowheads="1"/>
          </p:cNvSpPr>
          <p:nvPr/>
        </p:nvSpPr>
        <p:spPr bwMode="auto">
          <a:xfrm>
            <a:off x="1539875" y="2133600"/>
            <a:ext cx="5434013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3300" b="1">
                <a:latin typeface="隶书" pitchFamily="49" charset="-122"/>
                <a:ea typeface="隶书" pitchFamily="49" charset="-122"/>
              </a:rPr>
              <a:t>重新生成氨基酸</a:t>
            </a:r>
          </a:p>
        </p:txBody>
      </p:sp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1463675" y="3000375"/>
            <a:ext cx="6719888" cy="135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3300" b="1">
                <a:latin typeface="隶书" pitchFamily="49" charset="-122"/>
                <a:ea typeface="隶书" pitchFamily="49" charset="-122"/>
              </a:rPr>
              <a:t>谷氨酰胺和天冬酰氨的生成</a:t>
            </a:r>
            <a:endParaRPr kumimoji="1" lang="zh-CN" altLang="en-US" sz="3300" b="1">
              <a:latin typeface="隶书" pitchFamily="49" charset="-122"/>
              <a:ea typeface="隶书" pitchFamily="49" charset="-122"/>
              <a:hlinkClick r:id="rId3" action="ppaction://hlinkpres?slideindex=21&amp;slidetitle=没有幻灯片标题"/>
            </a:endParaRPr>
          </a:p>
          <a:p>
            <a:pPr>
              <a:spcBef>
                <a:spcPct val="50000"/>
              </a:spcBef>
            </a:pPr>
            <a:endParaRPr kumimoji="1" lang="en-US" altLang="zh-CN" sz="3300" b="1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3350" name="Text Box 6"/>
          <p:cNvSpPr txBox="1">
            <a:spLocks noChangeArrowheads="1"/>
          </p:cNvSpPr>
          <p:nvPr/>
        </p:nvSpPr>
        <p:spPr bwMode="auto">
          <a:xfrm>
            <a:off x="1460500" y="4643438"/>
            <a:ext cx="6723063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3300" b="1" u="sng" dirty="0">
                <a:latin typeface="隶书" pitchFamily="49" charset="-122"/>
                <a:ea typeface="隶书" pitchFamily="49" charset="-122"/>
              </a:rPr>
              <a:t>尿素的生成</a:t>
            </a:r>
            <a:r>
              <a:rPr kumimoji="1" lang="zh-CN" altLang="en-US" sz="3300" b="1" u="sng" dirty="0">
                <a:latin typeface="Times New Roman"/>
                <a:ea typeface="隶书" pitchFamily="49" charset="-122"/>
              </a:rPr>
              <a:t>、及直接排氨</a:t>
            </a:r>
            <a:endParaRPr kumimoji="1" lang="zh-CN" altLang="en-US" sz="3300" b="1" u="sng" dirty="0">
              <a:latin typeface="隶书" pitchFamily="49" charset="-122"/>
              <a:ea typeface="隶书" pitchFamily="49" charset="-122"/>
              <a:hlinkClick r:id="rId4" action="ppaction://hlinkpres?slideindex=22&amp;slidetitle=没有幻灯片标题"/>
            </a:endParaRPr>
          </a:p>
        </p:txBody>
      </p:sp>
      <p:sp>
        <p:nvSpPr>
          <p:cNvPr id="313351" name="Text Box 7"/>
          <p:cNvSpPr txBox="1">
            <a:spLocks noChangeArrowheads="1"/>
          </p:cNvSpPr>
          <p:nvPr/>
        </p:nvSpPr>
        <p:spPr bwMode="auto">
          <a:xfrm>
            <a:off x="1427163" y="3833813"/>
            <a:ext cx="6170612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3300" b="1">
                <a:latin typeface="隶书" pitchFamily="49" charset="-122"/>
                <a:ea typeface="隶书" pitchFamily="49" charset="-122"/>
              </a:rPr>
              <a:t>合成其他含</a:t>
            </a:r>
            <a:r>
              <a:rPr kumimoji="1" lang="en-US" altLang="zh-CN" sz="3300" b="1">
                <a:latin typeface="隶书" pitchFamily="49" charset="-122"/>
                <a:ea typeface="隶书" pitchFamily="49" charset="-122"/>
              </a:rPr>
              <a:t>N</a:t>
            </a:r>
            <a:r>
              <a:rPr kumimoji="1" lang="zh-CN" altLang="en-US" sz="3300" b="1">
                <a:latin typeface="隶书" pitchFamily="49" charset="-122"/>
                <a:ea typeface="隶书" pitchFamily="49" charset="-122"/>
              </a:rPr>
              <a:t>物质</a:t>
            </a:r>
          </a:p>
        </p:txBody>
      </p:sp>
      <p:sp>
        <p:nvSpPr>
          <p:cNvPr id="2" name="动作按钮: 前进或下一项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E60A959-F39D-4BD9-9930-0D661548986F}"/>
              </a:ext>
            </a:extLst>
          </p:cNvPr>
          <p:cNvSpPr/>
          <p:nvPr/>
        </p:nvSpPr>
        <p:spPr>
          <a:xfrm>
            <a:off x="7956376" y="6309320"/>
            <a:ext cx="504056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3725"/>
            <a:ext cx="7772400" cy="1143000"/>
          </a:xfrm>
          <a:noFill/>
          <a:ln/>
        </p:spPr>
        <p:txBody>
          <a:bodyPr lIns="91430" tIns="45716" rIns="91430" bIns="45716"/>
          <a:lstStyle/>
          <a:p>
            <a:r>
              <a:rPr lang="en-US" altLang="zh-CN" sz="4000">
                <a:solidFill>
                  <a:srgbClr val="CC0000"/>
                </a:solidFill>
                <a:ea typeface="隶书" pitchFamily="49" charset="-122"/>
              </a:rPr>
              <a:t>a</a:t>
            </a:r>
            <a:r>
              <a:rPr lang="zh-CN" altLang="en-US" sz="4000">
                <a:solidFill>
                  <a:srgbClr val="CC0000"/>
                </a:solidFill>
                <a:ea typeface="隶书" pitchFamily="49" charset="-122"/>
              </a:rPr>
              <a:t>、谷氨酸的重新生成</a:t>
            </a:r>
            <a:endParaRPr lang="zh-CN" altLang="en-US" sz="4000">
              <a:solidFill>
                <a:srgbClr val="FF66FF"/>
              </a:solidFill>
              <a:ea typeface="隶书" pitchFamily="49" charset="-122"/>
            </a:endParaRPr>
          </a:p>
        </p:txBody>
      </p:sp>
      <p:sp>
        <p:nvSpPr>
          <p:cNvPr id="315395" name="Rectangle 3"/>
          <p:cNvSpPr>
            <a:spLocks noChangeArrowheads="1"/>
          </p:cNvSpPr>
          <p:nvPr/>
        </p:nvSpPr>
        <p:spPr bwMode="auto">
          <a:xfrm>
            <a:off x="3429000" y="2667000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9341" tIns="24670" rIns="49341" bIns="24670"/>
          <a:lstStyle/>
          <a:p>
            <a:pPr algn="ctr"/>
            <a:r>
              <a:rPr kumimoji="1" lang="en-US" altLang="zh-CN" sz="23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L-</a:t>
            </a:r>
            <a:r>
              <a:rPr kumimoji="1" lang="zh-CN" altLang="en-US" sz="23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谷氨酸脱氢酶</a:t>
            </a:r>
            <a:endParaRPr kumimoji="1" lang="zh-CN" altLang="en-US" sz="230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6340475" y="3000375"/>
            <a:ext cx="2620963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9341" tIns="24670" rIns="49341" bIns="2467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谷氨酸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H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315397" name="Line 5"/>
          <p:cNvSpPr>
            <a:spLocks noChangeShapeType="1"/>
          </p:cNvSpPr>
          <p:nvPr/>
        </p:nvSpPr>
        <p:spPr bwMode="auto">
          <a:xfrm>
            <a:off x="3429000" y="3275013"/>
            <a:ext cx="2514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</p:spPr>
        <p:txBody>
          <a:bodyPr lIns="42295" tIns="21147" rIns="42295" bIns="21147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5398" name="Text Box 6"/>
          <p:cNvSpPr txBox="1">
            <a:spLocks noChangeArrowheads="1"/>
          </p:cNvSpPr>
          <p:nvPr/>
        </p:nvSpPr>
        <p:spPr bwMode="auto">
          <a:xfrm>
            <a:off x="228600" y="3000375"/>
            <a:ext cx="3429000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9341" tIns="24670" rIns="49341" bIns="2467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-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酮戊二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酸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NH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315399" name="AutoShape 7"/>
          <p:cNvSpPr>
            <a:spLocks noChangeArrowheads="1"/>
          </p:cNvSpPr>
          <p:nvPr/>
        </p:nvSpPr>
        <p:spPr bwMode="auto">
          <a:xfrm>
            <a:off x="3886200" y="3275013"/>
            <a:ext cx="1752600" cy="382587"/>
          </a:xfrm>
          <a:prstGeom prst="curvedDownArrow">
            <a:avLst>
              <a:gd name="adj1" fmla="val 13870"/>
              <a:gd name="adj2" fmla="val 105488"/>
              <a:gd name="adj3" fmla="val 33333"/>
            </a:avLst>
          </a:prstGeom>
          <a:solidFill>
            <a:srgbClr val="00CCFF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42295" tIns="21147" rIns="42295" bIns="21147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5400" name="Text Box 8"/>
          <p:cNvSpPr txBox="1">
            <a:spLocks noChangeArrowheads="1"/>
          </p:cNvSpPr>
          <p:nvPr/>
        </p:nvSpPr>
        <p:spPr bwMode="auto">
          <a:xfrm>
            <a:off x="5181600" y="3732213"/>
            <a:ext cx="1905000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9341" tIns="24670" rIns="49341" bIns="2467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NAD(P)</a:t>
            </a:r>
            <a:r>
              <a:rPr kumimoji="1" lang="en-US" altLang="zh-CN" sz="2400" b="1" baseline="30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+</a:t>
            </a:r>
          </a:p>
        </p:txBody>
      </p:sp>
      <p:sp>
        <p:nvSpPr>
          <p:cNvPr id="315401" name="Text Box 9"/>
          <p:cNvSpPr txBox="1">
            <a:spLocks noChangeArrowheads="1"/>
          </p:cNvSpPr>
          <p:nvPr/>
        </p:nvSpPr>
        <p:spPr bwMode="auto">
          <a:xfrm>
            <a:off x="2946400" y="3732213"/>
            <a:ext cx="1697038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9341" tIns="24670" rIns="49341" bIns="2467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rPr>
              <a:t>NAD(P)H</a:t>
            </a:r>
          </a:p>
        </p:txBody>
      </p:sp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228600"/>
            <a:ext cx="7772400" cy="1143000"/>
          </a:xfrm>
          <a:noFill/>
          <a:ln/>
        </p:spPr>
        <p:txBody>
          <a:bodyPr lIns="91430" tIns="45716" rIns="91430" bIns="45716"/>
          <a:lstStyle/>
          <a:p>
            <a:r>
              <a:rPr lang="zh-CN" altLang="en-US" sz="3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谷氨酰胺的生成和利用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31838" y="1458913"/>
            <a:ext cx="7772400" cy="2212975"/>
            <a:chOff x="432" y="624"/>
            <a:chExt cx="4080" cy="1239"/>
          </a:xfrm>
        </p:grpSpPr>
        <p:graphicFrame>
          <p:nvGraphicFramePr>
            <p:cNvPr id="317444" name="Object 4"/>
            <p:cNvGraphicFramePr>
              <a:graphicFrameLocks noChangeAspect="1"/>
            </p:cNvGraphicFramePr>
            <p:nvPr/>
          </p:nvGraphicFramePr>
          <p:xfrm>
            <a:off x="432" y="624"/>
            <a:ext cx="4080" cy="1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3" imgW="6912813" imgH="2528768" progId="">
                    <p:embed/>
                  </p:oleObj>
                </mc:Choice>
                <mc:Fallback>
                  <p:oleObj name="Image" r:id="rId3" imgW="6912813" imgH="2528768" progId="">
                    <p:embed/>
                    <p:pic>
                      <p:nvPicPr>
                        <p:cNvPr id="31744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624"/>
                          <a:ext cx="4080" cy="1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tx1"/>
                                  </a:gs>
                                  <a:gs pos="100000">
                                    <a:srgbClr val="666666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FFFFCC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45" name="Rectangle 5"/>
            <p:cNvSpPr>
              <a:spLocks noChangeArrowheads="1"/>
            </p:cNvSpPr>
            <p:nvPr/>
          </p:nvSpPr>
          <p:spPr bwMode="auto">
            <a:xfrm>
              <a:off x="1056" y="1097"/>
              <a:ext cx="2400" cy="2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446" name="AutoShape 6"/>
            <p:cNvSpPr>
              <a:spLocks noChangeArrowheads="1"/>
            </p:cNvSpPr>
            <p:nvPr/>
          </p:nvSpPr>
          <p:spPr bwMode="auto">
            <a:xfrm>
              <a:off x="1488" y="1019"/>
              <a:ext cx="1920" cy="411"/>
            </a:xfrm>
            <a:prstGeom prst="rightArrow">
              <a:avLst>
                <a:gd name="adj1" fmla="val 50000"/>
                <a:gd name="adj2" fmla="val 1000000"/>
              </a:avLst>
            </a:prstGeom>
            <a:solidFill>
              <a:srgbClr val="66FFFF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447" name="AutoShape 7"/>
            <p:cNvSpPr>
              <a:spLocks noChangeArrowheads="1"/>
            </p:cNvSpPr>
            <p:nvPr/>
          </p:nvSpPr>
          <p:spPr bwMode="auto">
            <a:xfrm>
              <a:off x="1392" y="1115"/>
              <a:ext cx="193" cy="411"/>
            </a:xfrm>
            <a:prstGeom prst="rightArrow">
              <a:avLst>
                <a:gd name="adj1" fmla="val 50000"/>
                <a:gd name="adj2" fmla="val 1125000"/>
              </a:avLst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448" name="Text Box 8"/>
            <p:cNvSpPr txBox="1">
              <a:spLocks noChangeArrowheads="1"/>
            </p:cNvSpPr>
            <p:nvPr/>
          </p:nvSpPr>
          <p:spPr bwMode="auto">
            <a:xfrm>
              <a:off x="960" y="1104"/>
              <a:ext cx="816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pPr defTabSz="1066800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+NH</a:t>
              </a:r>
              <a:r>
                <a:rPr kumimoji="1" lang="en-US" altLang="zh-CN" sz="21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3</a:t>
              </a:r>
            </a:p>
          </p:txBody>
        </p:sp>
        <p:sp>
          <p:nvSpPr>
            <p:cNvPr id="317449" name="Rectangle 9"/>
            <p:cNvSpPr>
              <a:spLocks noChangeArrowheads="1"/>
            </p:cNvSpPr>
            <p:nvPr/>
          </p:nvSpPr>
          <p:spPr bwMode="auto">
            <a:xfrm>
              <a:off x="4032" y="1145"/>
              <a:ext cx="97" cy="2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450" name="Text Box 10"/>
            <p:cNvSpPr txBox="1">
              <a:spLocks noChangeArrowheads="1"/>
            </p:cNvSpPr>
            <p:nvPr/>
          </p:nvSpPr>
          <p:spPr bwMode="auto">
            <a:xfrm>
              <a:off x="3984" y="1152"/>
              <a:ext cx="528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pPr defTabSz="1066800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+H</a:t>
              </a:r>
              <a:r>
                <a:rPr kumimoji="1" lang="en-US" altLang="zh-CN" sz="21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</a:t>
              </a:r>
              <a:r>
                <a:rPr kumimoji="1" lang="en-US" altLang="zh-CN" sz="21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O</a:t>
              </a:r>
            </a:p>
          </p:txBody>
        </p:sp>
        <p:sp>
          <p:nvSpPr>
            <p:cNvPr id="317451" name="AutoShape 11"/>
            <p:cNvSpPr>
              <a:spLocks noChangeArrowheads="1"/>
            </p:cNvSpPr>
            <p:nvPr/>
          </p:nvSpPr>
          <p:spPr bwMode="auto">
            <a:xfrm>
              <a:off x="1872" y="1001"/>
              <a:ext cx="1152" cy="207"/>
            </a:xfrm>
            <a:prstGeom prst="curvedUpArrow">
              <a:avLst>
                <a:gd name="adj1" fmla="val 60972"/>
                <a:gd name="adj2" fmla="val 200528"/>
                <a:gd name="adj3" fmla="val 28648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7452" name="Text Box 12"/>
            <p:cNvSpPr txBox="1">
              <a:spLocks noChangeArrowheads="1"/>
            </p:cNvSpPr>
            <p:nvPr/>
          </p:nvSpPr>
          <p:spPr bwMode="auto">
            <a:xfrm>
              <a:off x="1680" y="816"/>
              <a:ext cx="1488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pPr defTabSz="1066800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ATP              ADP+Pi</a:t>
              </a:r>
            </a:p>
          </p:txBody>
        </p:sp>
        <p:sp>
          <p:nvSpPr>
            <p:cNvPr id="317453" name="Text Box 13"/>
            <p:cNvSpPr txBox="1">
              <a:spLocks noChangeArrowheads="1"/>
            </p:cNvSpPr>
            <p:nvPr/>
          </p:nvSpPr>
          <p:spPr bwMode="auto">
            <a:xfrm>
              <a:off x="1680" y="1200"/>
              <a:ext cx="1536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pPr defTabSz="1066800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CC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谷氨酰胺合成酶</a:t>
              </a:r>
            </a:p>
          </p:txBody>
        </p:sp>
        <p:sp>
          <p:nvSpPr>
            <p:cNvPr id="317454" name="Text Box 14"/>
            <p:cNvSpPr txBox="1">
              <a:spLocks noChangeArrowheads="1"/>
            </p:cNvSpPr>
            <p:nvPr/>
          </p:nvSpPr>
          <p:spPr bwMode="auto">
            <a:xfrm>
              <a:off x="2208" y="986"/>
              <a:ext cx="432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pPr defTabSz="1066800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>
                  <a:solidFill>
                    <a:srgbClr val="99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Mg</a:t>
              </a:r>
              <a:r>
                <a:rPr kumimoji="1" lang="en-US" altLang="zh-CN" sz="2100" b="1" baseline="30000">
                  <a:solidFill>
                    <a:srgbClr val="99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2+</a:t>
              </a:r>
            </a:p>
          </p:txBody>
        </p:sp>
      </p:grpSp>
      <p:sp>
        <p:nvSpPr>
          <p:cNvPr id="317455" name="Text Box 15"/>
          <p:cNvSpPr txBox="1">
            <a:spLocks noChangeArrowheads="1"/>
          </p:cNvSpPr>
          <p:nvPr/>
        </p:nvSpPr>
        <p:spPr bwMode="auto">
          <a:xfrm>
            <a:off x="942975" y="431800"/>
            <a:ext cx="760412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1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b</a:t>
            </a:r>
            <a:r>
              <a:rPr kumimoji="1" lang="zh-CN" altLang="en-US" sz="3100" b="1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、</a:t>
            </a:r>
            <a:r>
              <a:rPr kumimoji="1" lang="zh-CN" altLang="en-US" sz="37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5" action="ppaction://hlinksldjump"/>
              </a:rPr>
              <a:t>谷氨酰胺和天冬酰氨的生成</a:t>
            </a:r>
            <a:endParaRPr kumimoji="1" lang="zh-CN" altLang="en-US" sz="3700" b="1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7456" name="Text Box 16"/>
          <p:cNvSpPr txBox="1">
            <a:spLocks noChangeArrowheads="1"/>
          </p:cNvSpPr>
          <p:nvPr/>
        </p:nvSpPr>
        <p:spPr bwMode="auto">
          <a:xfrm>
            <a:off x="857250" y="4400550"/>
            <a:ext cx="7604125" cy="2005013"/>
          </a:xfrm>
          <a:prstGeom prst="rect">
            <a:avLst/>
          </a:prstGeom>
          <a:solidFill>
            <a:srgbClr val="FFFF99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1430" tIns="45716" rIns="91430" bIns="45716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7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c</a:t>
            </a:r>
            <a:r>
              <a:rPr kumimoji="1" lang="zh-CN" altLang="en-US" sz="37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、生成铵盐</a:t>
            </a:r>
          </a:p>
          <a:p>
            <a:pPr>
              <a:spcBef>
                <a:spcPct val="50000"/>
              </a:spcBef>
            </a:pPr>
            <a:r>
              <a:rPr kumimoji="1" lang="zh-CN" altLang="en-US" sz="37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   </a:t>
            </a:r>
            <a:r>
              <a:rPr kumimoji="1" lang="zh-CN" altLang="en-US" sz="33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与柠檬酸、苹果酸、草酰乙酸等生成铵盐，保持细胞内正常的</a:t>
            </a:r>
            <a:r>
              <a:rPr kumimoji="1" lang="en-US" altLang="zh-CN" sz="3300" b="1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pH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395536" y="980728"/>
            <a:ext cx="7772400" cy="1470025"/>
          </a:xfrm>
        </p:spPr>
        <p:txBody>
          <a:bodyPr/>
          <a:lstStyle/>
          <a:p>
            <a:r>
              <a:rPr lang="en-US" altLang="zh-CN" dirty="0"/>
              <a:t>D   The Urea Cycle</a:t>
            </a:r>
          </a:p>
        </p:txBody>
      </p:sp>
      <p:sp>
        <p:nvSpPr>
          <p:cNvPr id="327688" name="Text Box 8"/>
          <p:cNvSpPr txBox="1">
            <a:spLocks noChangeArrowheads="1"/>
          </p:cNvSpPr>
          <p:nvPr/>
        </p:nvSpPr>
        <p:spPr bwMode="auto">
          <a:xfrm>
            <a:off x="863600" y="2564904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itchFamily="18" charset="0"/>
              </a:rPr>
              <a:t>Excess nitrogen is excreted as ammonia. </a:t>
            </a:r>
            <a:r>
              <a:rPr lang="en-US" altLang="zh-CN" sz="3200" dirty="0" err="1">
                <a:latin typeface="Times New Roman" pitchFamily="18" charset="0"/>
              </a:rPr>
              <a:t>Ammonotelic</a:t>
            </a:r>
            <a:r>
              <a:rPr lang="en-US" altLang="zh-CN" sz="3200" dirty="0">
                <a:latin typeface="Times New Roman" pitchFamily="18" charset="0"/>
              </a:rPr>
              <a:t> (</a:t>
            </a:r>
            <a:r>
              <a:rPr lang="zh-CN" altLang="en-US" sz="3200" dirty="0"/>
              <a:t>排氨的</a:t>
            </a:r>
            <a:r>
              <a:rPr lang="en-US" altLang="zh-CN" sz="3200" dirty="0">
                <a:latin typeface="Times New Roman" pitchFamily="18" charset="0"/>
              </a:rPr>
              <a:t>)organisms excrete </a:t>
            </a:r>
            <a:r>
              <a:rPr lang="en-US" altLang="zh-CN" sz="3200" b="1" dirty="0">
                <a:solidFill>
                  <a:srgbClr val="000099"/>
                </a:solidFill>
                <a:latin typeface="Times New Roman" pitchFamily="18" charset="0"/>
              </a:rPr>
              <a:t>ammonia</a:t>
            </a:r>
            <a:r>
              <a:rPr lang="en-US" altLang="zh-CN" sz="3200" dirty="0">
                <a:latin typeface="Times New Roman" pitchFamily="18" charset="0"/>
              </a:rPr>
              <a:t> directly, uricotelic (</a:t>
            </a:r>
            <a:r>
              <a:rPr lang="zh-CN" altLang="en-US" sz="3200" dirty="0"/>
              <a:t>排尿酸的</a:t>
            </a:r>
            <a:r>
              <a:rPr lang="en-US" altLang="zh-CN" sz="3200" dirty="0"/>
              <a:t>) </a:t>
            </a:r>
            <a:r>
              <a:rPr lang="en-US" altLang="zh-CN" sz="3200" dirty="0">
                <a:latin typeface="Times New Roman" pitchFamily="18" charset="0"/>
              </a:rPr>
              <a:t>organisms excrete it as </a:t>
            </a:r>
            <a:r>
              <a:rPr lang="en-US" altLang="zh-CN" sz="3200" b="1" dirty="0">
                <a:solidFill>
                  <a:srgbClr val="000099"/>
                </a:solidFill>
                <a:latin typeface="Times New Roman" pitchFamily="18" charset="0"/>
              </a:rPr>
              <a:t>uric acid</a:t>
            </a:r>
            <a:r>
              <a:rPr lang="en-US" altLang="zh-CN" sz="3200" dirty="0">
                <a:latin typeface="Times New Roman" pitchFamily="18" charset="0"/>
              </a:rPr>
              <a:t>, and ureotelic(</a:t>
            </a:r>
            <a:r>
              <a:rPr lang="zh-CN" altLang="en-US" sz="3200" dirty="0">
                <a:latin typeface="Times New Roman" pitchFamily="18" charset="0"/>
              </a:rPr>
              <a:t>排尿的</a:t>
            </a:r>
            <a:r>
              <a:rPr lang="en-US" altLang="zh-CN" sz="3200" dirty="0">
                <a:latin typeface="Times New Roman" pitchFamily="18" charset="0"/>
              </a:rPr>
              <a:t>) organism excrete it as </a:t>
            </a:r>
            <a:r>
              <a:rPr lang="en-US" altLang="zh-CN" sz="3200" b="1" dirty="0">
                <a:solidFill>
                  <a:srgbClr val="000099"/>
                </a:solidFill>
                <a:latin typeface="Times New Roman" pitchFamily="18" charset="0"/>
              </a:rPr>
              <a:t>urea</a:t>
            </a:r>
            <a:r>
              <a:rPr lang="en-US" altLang="zh-CN" sz="3200" dirty="0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28625"/>
            <a:ext cx="7772400" cy="1114425"/>
          </a:xfrm>
          <a:noFill/>
          <a:ln/>
        </p:spPr>
        <p:txBody>
          <a:bodyPr lIns="106662" tIns="53331" rIns="106662" bIns="53331"/>
          <a:lstStyle/>
          <a:p>
            <a:r>
              <a:rPr lang="zh-CN" altLang="en-US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尿 素 的 生 成</a:t>
            </a:r>
            <a:br>
              <a:rPr lang="zh-CN" altLang="en-US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</a:br>
            <a:endParaRPr lang="zh-CN" altLang="en-US" b="1" dirty="0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9491" name="Line 3"/>
          <p:cNvSpPr>
            <a:spLocks noChangeShapeType="1"/>
          </p:cNvSpPr>
          <p:nvPr/>
        </p:nvSpPr>
        <p:spPr bwMode="auto">
          <a:xfrm>
            <a:off x="1219200" y="1200150"/>
            <a:ext cx="67818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ffectLst>
            <a:outerShdw dist="35921" dir="2700000" algn="ctr" rotWithShape="0">
              <a:srgbClr val="FF0066"/>
            </a:outerShdw>
          </a:effec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9492" name="Text Box 4"/>
          <p:cNvSpPr txBox="1">
            <a:spLocks noChangeArrowheads="1"/>
          </p:cNvSpPr>
          <p:nvPr/>
        </p:nvSpPr>
        <p:spPr bwMode="auto">
          <a:xfrm>
            <a:off x="942975" y="1566863"/>
            <a:ext cx="26670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1" tIns="45711" rIns="91421" bIns="45711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60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a</a:t>
            </a:r>
            <a:r>
              <a:rPr kumimoji="1" lang="zh-CN" altLang="en-US" sz="360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、概念</a:t>
            </a:r>
          </a:p>
        </p:txBody>
      </p:sp>
      <p:sp>
        <p:nvSpPr>
          <p:cNvPr id="319493" name="Text Box 5"/>
          <p:cNvSpPr txBox="1">
            <a:spLocks noChangeArrowheads="1"/>
          </p:cNvSpPr>
          <p:nvPr/>
        </p:nvSpPr>
        <p:spPr bwMode="auto">
          <a:xfrm>
            <a:off x="1028700" y="4483100"/>
            <a:ext cx="3932238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1" tIns="45711" rIns="91421" bIns="45711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60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b</a:t>
            </a:r>
            <a:r>
              <a:rPr kumimoji="1" lang="zh-CN" altLang="en-US" sz="360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、</a:t>
            </a:r>
            <a:r>
              <a:rPr kumimoji="1" lang="zh-CN" altLang="en-US" sz="3600">
                <a:solidFill>
                  <a:schemeClr val="bg1"/>
                </a:solidFill>
                <a:latin typeface="隶书" pitchFamily="49" charset="-122"/>
                <a:ea typeface="隶书" pitchFamily="49" charset="-122"/>
                <a:hlinkClick r:id="rId3" action="ppaction://hlinksldjump"/>
              </a:rPr>
              <a:t>总反应和过程</a:t>
            </a:r>
            <a:endParaRPr kumimoji="1" lang="zh-CN" altLang="en-US" sz="3600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794125" y="1403350"/>
            <a:ext cx="4918075" cy="2997200"/>
            <a:chOff x="2400" y="1200"/>
            <a:chExt cx="2880" cy="1872"/>
          </a:xfrm>
        </p:grpSpPr>
        <p:sp>
          <p:nvSpPr>
            <p:cNvPr id="319495" name="AutoShape 7"/>
            <p:cNvSpPr>
              <a:spLocks noChangeArrowheads="1"/>
            </p:cNvSpPr>
            <p:nvPr/>
          </p:nvSpPr>
          <p:spPr bwMode="auto">
            <a:xfrm>
              <a:off x="2400" y="1200"/>
              <a:ext cx="2880" cy="1872"/>
            </a:xfrm>
            <a:prstGeom prst="cloudCallout">
              <a:avLst>
                <a:gd name="adj1" fmla="val -69898"/>
                <a:gd name="adj2" fmla="val -33278"/>
              </a:avLst>
            </a:prstGeom>
            <a:solidFill>
              <a:srgbClr val="FFFF99"/>
            </a:solidFill>
            <a:ln w="9525">
              <a:solidFill>
                <a:srgbClr val="FFFF99"/>
              </a:solidFill>
              <a:round/>
              <a:headEnd/>
              <a:tailEnd/>
            </a:ln>
            <a:effectLst>
              <a:outerShdw dist="35921" dir="2700000" algn="ctr" rotWithShape="0">
                <a:srgbClr val="FF0066"/>
              </a:outerShdw>
            </a:effectLst>
          </p:spPr>
          <p:txBody>
            <a:bodyPr wrap="none" lIns="91409" tIns="45706" rIns="91409" bIns="45706" anchor="ctr"/>
            <a:lstStyle/>
            <a:p>
              <a:pPr algn="ctr"/>
              <a:endParaRPr kumimoji="1" lang="zh-CN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endParaRPr>
            </a:p>
          </p:txBody>
        </p:sp>
        <p:sp>
          <p:nvSpPr>
            <p:cNvPr id="319496" name="Text Box 8"/>
            <p:cNvSpPr txBox="1">
              <a:spLocks noChangeArrowheads="1"/>
            </p:cNvSpPr>
            <p:nvPr/>
          </p:nvSpPr>
          <p:spPr bwMode="auto">
            <a:xfrm>
              <a:off x="2640" y="1392"/>
              <a:ext cx="2496" cy="1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409" tIns="45706" rIns="91409" bIns="45706" anchor="ctr"/>
            <a:lstStyle/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   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在排尿动物体内由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NH</a:t>
              </a:r>
              <a:r>
                <a:rPr kumimoji="1" lang="en-US" altLang="zh-CN" sz="28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合成尿素是在肝脏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中通过鸟氨酸循环机制完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成的，这一个循环称为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尿素循环。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279525" y="5143501"/>
            <a:ext cx="6950075" cy="1062633"/>
            <a:chOff x="816" y="2784"/>
            <a:chExt cx="3648" cy="595"/>
          </a:xfrm>
        </p:grpSpPr>
        <p:sp>
          <p:nvSpPr>
            <p:cNvPr id="319498" name="Rectangle 10"/>
            <p:cNvSpPr>
              <a:spLocks noChangeArrowheads="1"/>
            </p:cNvSpPr>
            <p:nvPr/>
          </p:nvSpPr>
          <p:spPr bwMode="auto">
            <a:xfrm>
              <a:off x="816" y="2784"/>
              <a:ext cx="3648" cy="21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106674" tIns="53337" rIns="106674" bIns="53337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9499" name="Text Box 11"/>
            <p:cNvSpPr txBox="1">
              <a:spLocks noChangeArrowheads="1"/>
            </p:cNvSpPr>
            <p:nvPr/>
          </p:nvSpPr>
          <p:spPr bwMode="auto">
            <a:xfrm>
              <a:off x="864" y="2903"/>
              <a:ext cx="3552" cy="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06662" tIns="53331" rIns="106662" bIns="53331">
              <a:spAutoFit/>
            </a:bodyPr>
            <a:lstStyle/>
            <a:p>
              <a:pPr defTabSz="106680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NH</a:t>
              </a:r>
              <a:r>
                <a:rPr kumimoji="1" lang="en-US" altLang="zh-CN" sz="2100" b="1" baseline="-25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3</a:t>
              </a:r>
              <a:r>
                <a:rPr kumimoji="1" lang="en-US" altLang="zh-CN" sz="21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+CO</a:t>
              </a:r>
              <a:r>
                <a:rPr kumimoji="1" lang="en-US" altLang="zh-CN" sz="2100" b="1" baseline="-25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</a:t>
              </a:r>
              <a:r>
                <a:rPr kumimoji="1" lang="en-US" altLang="zh-CN" sz="21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+3ATP+</a:t>
              </a:r>
              <a:r>
                <a:rPr kumimoji="1" lang="zh-CN" altLang="en-US" sz="21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天冬氨酸</a:t>
              </a:r>
              <a:r>
                <a:rPr kumimoji="1" lang="en-US" altLang="zh-CN" sz="21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+2H</a:t>
              </a:r>
              <a:r>
                <a:rPr kumimoji="1" lang="en-US" altLang="zh-CN" sz="2100" b="1" baseline="-25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</a:t>
              </a:r>
              <a:r>
                <a:rPr kumimoji="1" lang="en-US" altLang="zh-CN" sz="21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O </a:t>
              </a:r>
              <a:r>
                <a:rPr kumimoji="1" lang="en-US" altLang="zh-CN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  <a:sym typeface="Symbol" pitchFamily="18" charset="2"/>
                </a:rPr>
                <a:t> </a:t>
              </a:r>
              <a:r>
                <a:rPr kumimoji="1" lang="en-US" altLang="zh-CN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NH</a:t>
              </a:r>
              <a:r>
                <a:rPr kumimoji="1" lang="en-US" altLang="zh-CN" sz="2100" b="1" baseline="-250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</a:t>
              </a:r>
              <a:r>
                <a:rPr kumimoji="1" lang="en-US" altLang="zh-CN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-CO-NH</a:t>
              </a:r>
              <a:r>
                <a:rPr kumimoji="1" lang="en-US" altLang="zh-CN" sz="2100" b="1" baseline="-250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 </a:t>
              </a:r>
              <a:endParaRPr kumimoji="1" lang="en-US" altLang="zh-CN" sz="21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  <a:sym typeface="Symbol" pitchFamily="18" charset="2"/>
              </a:endParaRPr>
            </a:p>
            <a:p>
              <a:pPr defTabSz="106680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                               </a:t>
              </a:r>
              <a:r>
                <a:rPr kumimoji="1" lang="en-US" altLang="zh-CN" sz="21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</a:t>
              </a:r>
              <a:r>
                <a:rPr kumimoji="1" lang="en-US" altLang="zh-CN" sz="21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 </a:t>
              </a:r>
              <a:r>
                <a:rPr kumimoji="1" lang="en-US" altLang="zh-CN" sz="21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2ADP +2+</a:t>
              </a:r>
              <a:r>
                <a:rPr kumimoji="1" lang="en-US" altLang="zh-CN" sz="21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 </a:t>
              </a:r>
              <a:r>
                <a:rPr kumimoji="1" lang="en-US" altLang="zh-CN" sz="21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AMP +</a:t>
              </a:r>
              <a:r>
                <a:rPr kumimoji="1" lang="en-US" altLang="zh-CN" sz="21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PPi</a:t>
              </a:r>
              <a:r>
                <a:rPr kumimoji="1" lang="en-US" altLang="zh-CN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+</a:t>
              </a:r>
              <a:r>
                <a:rPr kumimoji="1" lang="zh-CN" altLang="en-US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延胡索酸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animBg="1"/>
      <p:bldP spid="319492" grpId="0" autoUpdateAnimBg="0"/>
      <p:bldP spid="319493" grpId="0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54872" y="1312486"/>
            <a:ext cx="549275" cy="3362325"/>
          </a:xfrm>
          <a:noFill/>
          <a:ln/>
        </p:spPr>
        <p:txBody>
          <a:bodyPr lIns="106662" tIns="53331" rIns="106662" bIns="53331">
            <a:spAutoFit/>
          </a:bodyPr>
          <a:lstStyle/>
          <a:p>
            <a:r>
              <a:rPr lang="zh-CN" altLang="en-US" b="1" dirty="0">
                <a:solidFill>
                  <a:srgbClr val="CC0000"/>
                </a:solidFill>
                <a:ea typeface="隶书" pitchFamily="49" charset="-122"/>
              </a:rPr>
              <a:t>鸟氨酸循环</a:t>
            </a:r>
            <a:endParaRPr lang="zh-CN" altLang="en-US" dirty="0"/>
          </a:p>
        </p:txBody>
      </p:sp>
      <p:graphicFrame>
        <p:nvGraphicFramePr>
          <p:cNvPr id="321539" name="Object 3"/>
          <p:cNvGraphicFramePr>
            <a:graphicFrameLocks noChangeAspect="1"/>
          </p:cNvGraphicFramePr>
          <p:nvPr/>
        </p:nvGraphicFramePr>
        <p:xfrm>
          <a:off x="2925763" y="1114425"/>
          <a:ext cx="5711825" cy="542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9200847" imgH="19442287" progId="">
                  <p:embed/>
                </p:oleObj>
              </mc:Choice>
              <mc:Fallback>
                <p:oleObj name="Image" r:id="rId3" imgW="19200847" imgH="19442287" progId="">
                  <p:embed/>
                  <p:pic>
                    <p:nvPicPr>
                      <p:cNvPr id="321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1114425"/>
                        <a:ext cx="5711825" cy="542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6723063" y="85725"/>
            <a:ext cx="1096962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氨基酸</a:t>
            </a:r>
          </a:p>
        </p:txBody>
      </p:sp>
      <p:sp>
        <p:nvSpPr>
          <p:cNvPr id="321541" name="Text Box 5"/>
          <p:cNvSpPr txBox="1">
            <a:spLocks noChangeArrowheads="1"/>
          </p:cNvSpPr>
          <p:nvPr/>
        </p:nvSpPr>
        <p:spPr bwMode="auto">
          <a:xfrm>
            <a:off x="6723063" y="685800"/>
            <a:ext cx="1096962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谷氨酸</a:t>
            </a:r>
          </a:p>
        </p:txBody>
      </p:sp>
      <p:sp>
        <p:nvSpPr>
          <p:cNvPr id="321542" name="Text Box 6"/>
          <p:cNvSpPr txBox="1">
            <a:spLocks noChangeArrowheads="1"/>
          </p:cNvSpPr>
          <p:nvPr/>
        </p:nvSpPr>
        <p:spPr bwMode="auto">
          <a:xfrm>
            <a:off x="6723063" y="1362075"/>
            <a:ext cx="1096962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谷氨酸</a:t>
            </a:r>
          </a:p>
        </p:txBody>
      </p:sp>
      <p:sp>
        <p:nvSpPr>
          <p:cNvPr id="321543" name="Text Box 7"/>
          <p:cNvSpPr txBox="1">
            <a:spLocks noChangeArrowheads="1"/>
          </p:cNvSpPr>
          <p:nvPr/>
        </p:nvSpPr>
        <p:spPr bwMode="auto">
          <a:xfrm>
            <a:off x="6905625" y="2828925"/>
            <a:ext cx="14636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氨甲酰磷酸</a:t>
            </a:r>
          </a:p>
        </p:txBody>
      </p:sp>
      <p:sp>
        <p:nvSpPr>
          <p:cNvPr id="321544" name="Text Box 8"/>
          <p:cNvSpPr txBox="1">
            <a:spLocks noChangeArrowheads="1"/>
          </p:cNvSpPr>
          <p:nvPr/>
        </p:nvSpPr>
        <p:spPr bwMode="auto">
          <a:xfrm>
            <a:off x="6083300" y="2400300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鸟氨酸</a:t>
            </a:r>
          </a:p>
        </p:txBody>
      </p:sp>
      <p:sp>
        <p:nvSpPr>
          <p:cNvPr id="321545" name="Text Box 9"/>
          <p:cNvSpPr txBox="1">
            <a:spLocks noChangeArrowheads="1"/>
          </p:cNvSpPr>
          <p:nvPr/>
        </p:nvSpPr>
        <p:spPr bwMode="auto">
          <a:xfrm>
            <a:off x="6448425" y="3857625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瓜氨酸</a:t>
            </a:r>
          </a:p>
        </p:txBody>
      </p:sp>
      <p:sp>
        <p:nvSpPr>
          <p:cNvPr id="321546" name="Text Box 10"/>
          <p:cNvSpPr txBox="1">
            <a:spLocks noChangeArrowheads="1"/>
          </p:cNvSpPr>
          <p:nvPr/>
        </p:nvSpPr>
        <p:spPr bwMode="auto">
          <a:xfrm>
            <a:off x="4619625" y="5057775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瓜氨酸</a:t>
            </a:r>
          </a:p>
        </p:txBody>
      </p:sp>
      <p:sp>
        <p:nvSpPr>
          <p:cNvPr id="321547" name="Text Box 11"/>
          <p:cNvSpPr txBox="1">
            <a:spLocks noChangeArrowheads="1"/>
          </p:cNvSpPr>
          <p:nvPr/>
        </p:nvSpPr>
        <p:spPr bwMode="auto">
          <a:xfrm>
            <a:off x="2882900" y="4029075"/>
            <a:ext cx="1462088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精氨琥珀酸</a:t>
            </a:r>
          </a:p>
        </p:txBody>
      </p:sp>
      <p:sp>
        <p:nvSpPr>
          <p:cNvPr id="321548" name="Text Box 12"/>
          <p:cNvSpPr txBox="1">
            <a:spLocks noChangeArrowheads="1"/>
          </p:cNvSpPr>
          <p:nvPr/>
        </p:nvSpPr>
        <p:spPr bwMode="auto">
          <a:xfrm>
            <a:off x="4254500" y="1885950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鸟氨酸</a:t>
            </a:r>
          </a:p>
        </p:txBody>
      </p:sp>
      <p:sp>
        <p:nvSpPr>
          <p:cNvPr id="321549" name="Text Box 13"/>
          <p:cNvSpPr txBox="1">
            <a:spLocks noChangeArrowheads="1"/>
          </p:cNvSpPr>
          <p:nvPr/>
        </p:nvSpPr>
        <p:spPr bwMode="auto">
          <a:xfrm>
            <a:off x="2973388" y="2914650"/>
            <a:ext cx="14636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精氨酸</a:t>
            </a:r>
          </a:p>
        </p:txBody>
      </p:sp>
      <p:sp>
        <p:nvSpPr>
          <p:cNvPr id="321550" name="Text Box 14"/>
          <p:cNvSpPr txBox="1">
            <a:spLocks noChangeArrowheads="1"/>
          </p:cNvSpPr>
          <p:nvPr/>
        </p:nvSpPr>
        <p:spPr bwMode="auto">
          <a:xfrm>
            <a:off x="1736725" y="3429000"/>
            <a:ext cx="14636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延胡索酸</a:t>
            </a:r>
          </a:p>
        </p:txBody>
      </p:sp>
      <p:sp>
        <p:nvSpPr>
          <p:cNvPr id="321551" name="Text Box 15"/>
          <p:cNvSpPr txBox="1">
            <a:spLocks noChangeArrowheads="1"/>
          </p:cNvSpPr>
          <p:nvPr/>
        </p:nvSpPr>
        <p:spPr bwMode="auto">
          <a:xfrm>
            <a:off x="2925763" y="6172200"/>
            <a:ext cx="14636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草酰乙酸</a:t>
            </a:r>
          </a:p>
        </p:txBody>
      </p:sp>
      <p:sp>
        <p:nvSpPr>
          <p:cNvPr id="321552" name="Text Box 16"/>
          <p:cNvSpPr txBox="1">
            <a:spLocks noChangeArrowheads="1"/>
          </p:cNvSpPr>
          <p:nvPr/>
        </p:nvSpPr>
        <p:spPr bwMode="auto">
          <a:xfrm>
            <a:off x="6492875" y="6162675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氨基酸</a:t>
            </a:r>
          </a:p>
        </p:txBody>
      </p:sp>
      <p:sp>
        <p:nvSpPr>
          <p:cNvPr id="321553" name="Text Box 17"/>
          <p:cNvSpPr txBox="1">
            <a:spLocks noChangeArrowheads="1"/>
          </p:cNvSpPr>
          <p:nvPr/>
        </p:nvSpPr>
        <p:spPr bwMode="auto">
          <a:xfrm>
            <a:off x="4664075" y="6172200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谷氨酸</a:t>
            </a:r>
          </a:p>
        </p:txBody>
      </p:sp>
      <p:sp>
        <p:nvSpPr>
          <p:cNvPr id="321554" name="Text Box 18"/>
          <p:cNvSpPr txBox="1">
            <a:spLocks noChangeArrowheads="1"/>
          </p:cNvSpPr>
          <p:nvPr/>
        </p:nvSpPr>
        <p:spPr bwMode="auto">
          <a:xfrm>
            <a:off x="5578475" y="5743575"/>
            <a:ext cx="18288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900" b="1">
                <a:solidFill>
                  <a:srgbClr val="000099"/>
                </a:solidFill>
                <a:latin typeface="Times New Roman" pitchFamily="18" charset="0"/>
                <a:sym typeface="Symbol" pitchFamily="18" charset="2"/>
              </a:rPr>
              <a:t></a:t>
            </a:r>
            <a:r>
              <a:rPr kumimoji="1" lang="en-US" altLang="zh-CN" sz="1900" b="1">
                <a:solidFill>
                  <a:srgbClr val="000099"/>
                </a:solidFill>
                <a:latin typeface="Times New Roman" pitchFamily="18" charset="0"/>
              </a:rPr>
              <a:t>-</a:t>
            </a: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酮戊二酸</a:t>
            </a:r>
          </a:p>
        </p:txBody>
      </p:sp>
      <p:sp>
        <p:nvSpPr>
          <p:cNvPr id="321555" name="Text Box 19"/>
          <p:cNvSpPr txBox="1">
            <a:spLocks noChangeArrowheads="1"/>
          </p:cNvSpPr>
          <p:nvPr/>
        </p:nvSpPr>
        <p:spPr bwMode="auto">
          <a:xfrm>
            <a:off x="3657600" y="5562600"/>
            <a:ext cx="13716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天冬氨酸</a:t>
            </a:r>
          </a:p>
        </p:txBody>
      </p:sp>
      <p:sp>
        <p:nvSpPr>
          <p:cNvPr id="321556" name="Text Box 20"/>
          <p:cNvSpPr txBox="1">
            <a:spLocks noChangeArrowheads="1"/>
          </p:cNvSpPr>
          <p:nvPr/>
        </p:nvSpPr>
        <p:spPr bwMode="auto">
          <a:xfrm>
            <a:off x="3200400" y="5133975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900" b="1">
                <a:solidFill>
                  <a:srgbClr val="CC0066"/>
                </a:solidFill>
                <a:latin typeface="Times New Roman" pitchFamily="18" charset="0"/>
              </a:rPr>
              <a:t>ATP</a:t>
            </a:r>
          </a:p>
        </p:txBody>
      </p:sp>
      <p:sp>
        <p:nvSpPr>
          <p:cNvPr id="321557" name="Text Box 21"/>
          <p:cNvSpPr txBox="1">
            <a:spLocks noChangeArrowheads="1"/>
          </p:cNvSpPr>
          <p:nvPr/>
        </p:nvSpPr>
        <p:spPr bwMode="auto">
          <a:xfrm>
            <a:off x="2378075" y="4714875"/>
            <a:ext cx="12795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900" b="1">
                <a:solidFill>
                  <a:srgbClr val="CC0066"/>
                </a:solidFill>
                <a:latin typeface="Times New Roman" pitchFamily="18" charset="0"/>
              </a:rPr>
              <a:t>AMP+PPi</a:t>
            </a:r>
          </a:p>
        </p:txBody>
      </p:sp>
      <p:sp>
        <p:nvSpPr>
          <p:cNvPr id="321558" name="Text Box 22"/>
          <p:cNvSpPr txBox="1">
            <a:spLocks noChangeArrowheads="1"/>
          </p:cNvSpPr>
          <p:nvPr/>
        </p:nvSpPr>
        <p:spPr bwMode="auto">
          <a:xfrm>
            <a:off x="2743200" y="2400300"/>
            <a:ext cx="1096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900" b="1">
                <a:solidFill>
                  <a:srgbClr val="CC0066"/>
                </a:solidFill>
                <a:latin typeface="Times New Roman" pitchFamily="18" charset="0"/>
              </a:rPr>
              <a:t>H</a:t>
            </a:r>
            <a:r>
              <a:rPr kumimoji="1" lang="en-US" altLang="zh-CN" sz="1900" b="1" baseline="-25000">
                <a:solidFill>
                  <a:srgbClr val="CC0066"/>
                </a:solidFill>
                <a:latin typeface="Times New Roman" pitchFamily="18" charset="0"/>
              </a:rPr>
              <a:t>2</a:t>
            </a:r>
            <a:r>
              <a:rPr kumimoji="1" lang="en-US" altLang="zh-CN" sz="1900" b="1">
                <a:solidFill>
                  <a:srgbClr val="CC0066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321559" name="Text Box 23"/>
          <p:cNvSpPr txBox="1">
            <a:spLocks noChangeArrowheads="1"/>
          </p:cNvSpPr>
          <p:nvPr/>
        </p:nvSpPr>
        <p:spPr bwMode="auto">
          <a:xfrm>
            <a:off x="6218238" y="1995488"/>
            <a:ext cx="24685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600" b="1">
                <a:solidFill>
                  <a:srgbClr val="CC0066"/>
                </a:solidFill>
                <a:latin typeface="Times New Roman" pitchFamily="18" charset="0"/>
              </a:rPr>
              <a:t>2ATP+CO</a:t>
            </a:r>
            <a:r>
              <a:rPr kumimoji="1" lang="en-US" altLang="zh-CN" sz="1600" b="1" baseline="-25000">
                <a:solidFill>
                  <a:srgbClr val="CC0066"/>
                </a:solidFill>
                <a:latin typeface="Times New Roman" pitchFamily="18" charset="0"/>
              </a:rPr>
              <a:t>2</a:t>
            </a:r>
            <a:r>
              <a:rPr kumimoji="1" lang="en-US" altLang="zh-CN" sz="1600" b="1">
                <a:solidFill>
                  <a:srgbClr val="CC0066"/>
                </a:solidFill>
                <a:latin typeface="Times New Roman" pitchFamily="18" charset="0"/>
              </a:rPr>
              <a:t>+NH</a:t>
            </a:r>
            <a:r>
              <a:rPr kumimoji="1" lang="en-US" altLang="zh-CN" sz="1600" b="1" baseline="-25000">
                <a:solidFill>
                  <a:srgbClr val="CC0066"/>
                </a:solidFill>
                <a:latin typeface="Times New Roman" pitchFamily="18" charset="0"/>
              </a:rPr>
              <a:t>3</a:t>
            </a:r>
            <a:r>
              <a:rPr kumimoji="1" lang="en-US" altLang="zh-CN" sz="1600" b="1">
                <a:solidFill>
                  <a:srgbClr val="CC0066"/>
                </a:solidFill>
                <a:latin typeface="Times New Roman" pitchFamily="18" charset="0"/>
              </a:rPr>
              <a:t>+H</a:t>
            </a:r>
            <a:r>
              <a:rPr kumimoji="1" lang="en-US" altLang="zh-CN" sz="1600" b="1" baseline="-25000">
                <a:solidFill>
                  <a:srgbClr val="CC0066"/>
                </a:solidFill>
                <a:latin typeface="Times New Roman" pitchFamily="18" charset="0"/>
              </a:rPr>
              <a:t>2</a:t>
            </a:r>
            <a:r>
              <a:rPr kumimoji="1" lang="en-US" altLang="zh-CN" sz="1600" b="1">
                <a:solidFill>
                  <a:srgbClr val="CC0066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321560" name="Text Box 24"/>
          <p:cNvSpPr txBox="1">
            <a:spLocks noChangeArrowheads="1"/>
          </p:cNvSpPr>
          <p:nvPr/>
        </p:nvSpPr>
        <p:spPr bwMode="auto">
          <a:xfrm>
            <a:off x="7407275" y="2509838"/>
            <a:ext cx="1279525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600" b="1">
                <a:solidFill>
                  <a:srgbClr val="CC0066"/>
                </a:solidFill>
                <a:latin typeface="Times New Roman" pitchFamily="18" charset="0"/>
              </a:rPr>
              <a:t>2ADP+Pi</a:t>
            </a:r>
          </a:p>
        </p:txBody>
      </p:sp>
      <p:sp>
        <p:nvSpPr>
          <p:cNvPr id="321561" name="Line 25"/>
          <p:cNvSpPr>
            <a:spLocks noChangeShapeType="1"/>
          </p:cNvSpPr>
          <p:nvPr/>
        </p:nvSpPr>
        <p:spPr bwMode="auto">
          <a:xfrm>
            <a:off x="7223125" y="428625"/>
            <a:ext cx="0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1562" name="Line 26"/>
          <p:cNvSpPr>
            <a:spLocks noChangeShapeType="1"/>
          </p:cNvSpPr>
          <p:nvPr/>
        </p:nvSpPr>
        <p:spPr bwMode="auto">
          <a:xfrm>
            <a:off x="7223125" y="1028700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1563" name="Line 27"/>
          <p:cNvSpPr>
            <a:spLocks noChangeShapeType="1"/>
          </p:cNvSpPr>
          <p:nvPr/>
        </p:nvSpPr>
        <p:spPr bwMode="auto">
          <a:xfrm>
            <a:off x="7223125" y="1543050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1564" name="Line 28"/>
          <p:cNvSpPr>
            <a:spLocks noChangeShapeType="1"/>
          </p:cNvSpPr>
          <p:nvPr/>
        </p:nvSpPr>
        <p:spPr bwMode="auto">
          <a:xfrm>
            <a:off x="7223125" y="2400300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1565" name="Line 29"/>
          <p:cNvSpPr>
            <a:spLocks noChangeShapeType="1"/>
          </p:cNvSpPr>
          <p:nvPr/>
        </p:nvSpPr>
        <p:spPr bwMode="auto">
          <a:xfrm>
            <a:off x="7223125" y="2571750"/>
            <a:ext cx="274638" cy="85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1566" name="Text Box 30"/>
          <p:cNvSpPr txBox="1">
            <a:spLocks noChangeArrowheads="1"/>
          </p:cNvSpPr>
          <p:nvPr/>
        </p:nvSpPr>
        <p:spPr bwMode="auto">
          <a:xfrm>
            <a:off x="6950075" y="4714875"/>
            <a:ext cx="8223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660033"/>
                </a:solidFill>
                <a:latin typeface="Times New Roman" pitchFamily="18" charset="0"/>
              </a:rPr>
              <a:t>基质</a:t>
            </a:r>
          </a:p>
        </p:txBody>
      </p:sp>
      <p:sp>
        <p:nvSpPr>
          <p:cNvPr id="321567" name="Text Box 31"/>
          <p:cNvSpPr txBox="1">
            <a:spLocks noChangeArrowheads="1"/>
          </p:cNvSpPr>
          <p:nvPr/>
        </p:nvSpPr>
        <p:spPr bwMode="auto">
          <a:xfrm>
            <a:off x="8504238" y="3000375"/>
            <a:ext cx="547687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660033"/>
                </a:solidFill>
                <a:latin typeface="Times New Roman" pitchFamily="18" charset="0"/>
              </a:rPr>
              <a:t>线粒体</a:t>
            </a:r>
          </a:p>
        </p:txBody>
      </p:sp>
      <p:sp>
        <p:nvSpPr>
          <p:cNvPr id="321568" name="Text Box 32"/>
          <p:cNvSpPr txBox="1">
            <a:spLocks noChangeArrowheads="1"/>
          </p:cNvSpPr>
          <p:nvPr/>
        </p:nvSpPr>
        <p:spPr bwMode="auto">
          <a:xfrm>
            <a:off x="1736725" y="942975"/>
            <a:ext cx="82391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660033"/>
                </a:solidFill>
                <a:latin typeface="Times New Roman" pitchFamily="18" charset="0"/>
              </a:rPr>
              <a:t>胞液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3200400" y="731838"/>
            <a:ext cx="1920875" cy="811212"/>
            <a:chOff x="1680" y="624"/>
            <a:chExt cx="1008" cy="454"/>
          </a:xfrm>
        </p:grpSpPr>
        <p:sp>
          <p:nvSpPr>
            <p:cNvPr id="321570" name="Text Box 34"/>
            <p:cNvSpPr txBox="1">
              <a:spLocks noChangeArrowheads="1"/>
            </p:cNvSpPr>
            <p:nvPr/>
          </p:nvSpPr>
          <p:spPr bwMode="auto">
            <a:xfrm>
              <a:off x="1680" y="864"/>
              <a:ext cx="1008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45164" tIns="72581" rIns="145164" bIns="72581">
              <a:spAutoFit/>
            </a:bodyPr>
            <a:lstStyle/>
            <a:p>
              <a:pPr defTabSz="106680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NH2-C-NH2</a:t>
              </a:r>
              <a:endParaRPr kumimoji="1" lang="en-US" altLang="zh-CN" sz="33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endParaRPr>
            </a:p>
          </p:txBody>
        </p:sp>
        <p:sp>
          <p:nvSpPr>
            <p:cNvPr id="321571" name="Text Box 35"/>
            <p:cNvSpPr txBox="1">
              <a:spLocks noChangeArrowheads="1"/>
            </p:cNvSpPr>
            <p:nvPr/>
          </p:nvSpPr>
          <p:spPr bwMode="auto">
            <a:xfrm>
              <a:off x="1968" y="624"/>
              <a:ext cx="33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45164" tIns="72581" rIns="145164" bIns="72581">
              <a:spAutoFit/>
            </a:bodyPr>
            <a:lstStyle/>
            <a:p>
              <a:pPr defTabSz="1066800">
                <a:lnSpc>
                  <a:spcPct val="90000"/>
                </a:lnSpc>
                <a:spcBef>
                  <a:spcPct val="50000"/>
                </a:spcBef>
              </a:pPr>
              <a:endParaRPr kumimoji="1" lang="zh-CN" altLang="zh-CN" sz="33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endParaRPr>
            </a:p>
          </p:txBody>
        </p:sp>
        <p:grpSp>
          <p:nvGrpSpPr>
            <p:cNvPr id="3" name="Group 36"/>
            <p:cNvGrpSpPr>
              <a:grpSpLocks/>
            </p:cNvGrpSpPr>
            <p:nvPr/>
          </p:nvGrpSpPr>
          <p:grpSpPr bwMode="auto">
            <a:xfrm>
              <a:off x="2112" y="816"/>
              <a:ext cx="48" cy="96"/>
              <a:chOff x="1680" y="576"/>
              <a:chExt cx="48" cy="96"/>
            </a:xfrm>
          </p:grpSpPr>
          <p:sp>
            <p:nvSpPr>
              <p:cNvPr id="321573" name="Line 37"/>
              <p:cNvSpPr>
                <a:spLocks noChangeShapeType="1"/>
              </p:cNvSpPr>
              <p:nvPr/>
            </p:nvSpPr>
            <p:spPr bwMode="auto">
              <a:xfrm>
                <a:off x="1680" y="57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 lIns="145179" tIns="72589" rIns="145179" bIns="72589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74" name="Line 38"/>
              <p:cNvSpPr>
                <a:spLocks noChangeShapeType="1"/>
              </p:cNvSpPr>
              <p:nvPr/>
            </p:nvSpPr>
            <p:spPr bwMode="auto">
              <a:xfrm>
                <a:off x="1728" y="57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 lIns="145179" tIns="72589" rIns="145179" bIns="72589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1575" name="Text Box 39"/>
            <p:cNvSpPr txBox="1">
              <a:spLocks noChangeArrowheads="1"/>
            </p:cNvSpPr>
            <p:nvPr/>
          </p:nvSpPr>
          <p:spPr bwMode="auto">
            <a:xfrm>
              <a:off x="2016" y="650"/>
              <a:ext cx="48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45164" tIns="72581" rIns="145164" bIns="72581">
              <a:spAutoFit/>
            </a:bodyPr>
            <a:lstStyle/>
            <a:p>
              <a:pPr defTabSz="1066800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en-US" altLang="zh-CN" sz="2100" b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隶书" pitchFamily="49" charset="-122"/>
                </a:rPr>
                <a:t>O</a:t>
              </a:r>
              <a:endParaRPr kumimoji="1" lang="en-US" altLang="zh-CN" sz="33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隶书" pitchFamily="49" charset="-122"/>
              </a:endParaRPr>
            </a:p>
          </p:txBody>
        </p:sp>
      </p:grpSp>
      <p:sp>
        <p:nvSpPr>
          <p:cNvPr id="321576" name="Text Box 40"/>
          <p:cNvSpPr txBox="1">
            <a:spLocks noChangeArrowheads="1"/>
          </p:cNvSpPr>
          <p:nvPr/>
        </p:nvSpPr>
        <p:spPr bwMode="auto">
          <a:xfrm>
            <a:off x="3749675" y="1457325"/>
            <a:ext cx="9144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6662" tIns="53331" rIns="106662" bIns="53331">
            <a:spAutoFit/>
          </a:bodyPr>
          <a:lstStyle/>
          <a:p>
            <a:pPr defTabSz="1066800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900" b="1">
                <a:solidFill>
                  <a:srgbClr val="000099"/>
                </a:solidFill>
                <a:latin typeface="Times New Roman" pitchFamily="18" charset="0"/>
              </a:rPr>
              <a:t>尿素</a:t>
            </a:r>
          </a:p>
        </p:txBody>
      </p:sp>
      <p:sp>
        <p:nvSpPr>
          <p:cNvPr id="321577" name="Oval 41"/>
          <p:cNvSpPr>
            <a:spLocks noChangeArrowheads="1"/>
          </p:cNvSpPr>
          <p:nvPr/>
        </p:nvSpPr>
        <p:spPr bwMode="auto">
          <a:xfrm>
            <a:off x="6559550" y="3186113"/>
            <a:ext cx="419100" cy="509587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CCCC"/>
            </a:solidFill>
            <a:round/>
            <a:headEnd/>
            <a:tailEnd/>
          </a:ln>
          <a:effectLst/>
        </p:spPr>
        <p:txBody>
          <a:bodyPr lIns="106674" tIns="53337" rIns="106674" bIns="53337" anchor="ctr">
            <a:spAutoFit/>
          </a:bodyPr>
          <a:lstStyle/>
          <a:p>
            <a:pPr algn="ctr"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1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隶书" pitchFamily="49" charset="-122"/>
              </a:rPr>
              <a:t>2</a:t>
            </a:r>
          </a:p>
        </p:txBody>
      </p:sp>
      <p:sp>
        <p:nvSpPr>
          <p:cNvPr id="321578" name="Oval 42"/>
          <p:cNvSpPr>
            <a:spLocks noChangeArrowheads="1"/>
          </p:cNvSpPr>
          <p:nvPr/>
        </p:nvSpPr>
        <p:spPr bwMode="auto">
          <a:xfrm>
            <a:off x="7313613" y="2205038"/>
            <a:ext cx="354012" cy="388937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CCCC"/>
            </a:solidFill>
            <a:round/>
            <a:headEnd/>
            <a:tailEnd/>
          </a:ln>
          <a:effectLst/>
        </p:spPr>
        <p:txBody>
          <a:bodyPr lIns="106674" tIns="53337" rIns="106674" bIns="53337" anchor="ctr">
            <a:spAutoFit/>
          </a:bodyPr>
          <a:lstStyle/>
          <a:p>
            <a:pPr algn="ctr"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隶书" pitchFamily="49" charset="-122"/>
              </a:rPr>
              <a:t>1</a:t>
            </a:r>
          </a:p>
        </p:txBody>
      </p:sp>
      <p:sp>
        <p:nvSpPr>
          <p:cNvPr id="321579" name="Oval 43"/>
          <p:cNvSpPr>
            <a:spLocks noChangeArrowheads="1"/>
          </p:cNvSpPr>
          <p:nvPr/>
        </p:nvSpPr>
        <p:spPr bwMode="auto">
          <a:xfrm>
            <a:off x="4054475" y="4483100"/>
            <a:ext cx="419100" cy="5080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CCCC"/>
            </a:solidFill>
            <a:round/>
            <a:headEnd/>
            <a:tailEnd/>
          </a:ln>
          <a:effectLst/>
        </p:spPr>
        <p:txBody>
          <a:bodyPr lIns="106674" tIns="53337" rIns="106674" bIns="53337" anchor="ctr">
            <a:spAutoFit/>
          </a:bodyPr>
          <a:lstStyle/>
          <a:p>
            <a:pPr algn="ctr"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1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隶书" pitchFamily="49" charset="-122"/>
              </a:rPr>
              <a:t>3</a:t>
            </a:r>
          </a:p>
        </p:txBody>
      </p:sp>
      <p:sp>
        <p:nvSpPr>
          <p:cNvPr id="321580" name="Oval 44"/>
          <p:cNvSpPr>
            <a:spLocks noChangeArrowheads="1"/>
          </p:cNvSpPr>
          <p:nvPr/>
        </p:nvSpPr>
        <p:spPr bwMode="auto">
          <a:xfrm>
            <a:off x="3362325" y="3348038"/>
            <a:ext cx="419100" cy="509587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CCCC"/>
            </a:solidFill>
            <a:round/>
            <a:headEnd/>
            <a:tailEnd/>
          </a:ln>
          <a:effectLst/>
        </p:spPr>
        <p:txBody>
          <a:bodyPr lIns="106674" tIns="53337" rIns="106674" bIns="53337" anchor="ctr">
            <a:spAutoFit/>
          </a:bodyPr>
          <a:lstStyle/>
          <a:p>
            <a:pPr algn="ctr"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1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隶书" pitchFamily="49" charset="-122"/>
              </a:rPr>
              <a:t>4</a:t>
            </a:r>
          </a:p>
        </p:txBody>
      </p:sp>
      <p:sp>
        <p:nvSpPr>
          <p:cNvPr id="321581" name="Oval 45"/>
          <p:cNvSpPr>
            <a:spLocks noChangeArrowheads="1"/>
          </p:cNvSpPr>
          <p:nvPr/>
        </p:nvSpPr>
        <p:spPr bwMode="auto">
          <a:xfrm>
            <a:off x="3879850" y="2295525"/>
            <a:ext cx="419100" cy="5080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CCCC"/>
            </a:solidFill>
            <a:round/>
            <a:headEnd/>
            <a:tailEnd/>
          </a:ln>
          <a:effectLst/>
        </p:spPr>
        <p:txBody>
          <a:bodyPr lIns="106674" tIns="53337" rIns="106674" bIns="53337" anchor="ctr">
            <a:spAutoFit/>
          </a:bodyPr>
          <a:lstStyle/>
          <a:p>
            <a:pPr algn="ctr" defTabSz="1066800" eaLnBrk="0" hangingPunct="0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1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隶书" pitchFamily="49" charset="-122"/>
              </a:rPr>
              <a:t>5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04365FB-4FA0-4530-9BC8-FD51E5E0BEBF}"/>
              </a:ext>
            </a:extLst>
          </p:cNvPr>
          <p:cNvGrpSpPr/>
          <p:nvPr/>
        </p:nvGrpSpPr>
        <p:grpSpPr>
          <a:xfrm>
            <a:off x="7822635" y="5671726"/>
            <a:ext cx="1338828" cy="1213658"/>
            <a:chOff x="2530" y="4815126"/>
            <a:chExt cx="1338828" cy="121365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93B07C4-C574-443B-90E5-C16C099A4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13" y="4815126"/>
              <a:ext cx="1322386" cy="119014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998F31F-E1C0-4902-B310-58561A6EE1EE}"/>
                </a:ext>
              </a:extLst>
            </p:cNvPr>
            <p:cNvSpPr txBox="1"/>
            <p:nvPr/>
          </p:nvSpPr>
          <p:spPr>
            <a:xfrm>
              <a:off x="2530" y="565945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氨甲酰磷酸</a:t>
              </a:r>
            </a:p>
          </p:txBody>
        </p:sp>
      </p:grpSp>
    </p:spTree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512" y="4670"/>
            <a:ext cx="7772400" cy="904050"/>
          </a:xfrm>
        </p:spPr>
        <p:txBody>
          <a:bodyPr/>
          <a:lstStyle/>
          <a:p>
            <a:pPr algn="ctr"/>
            <a:r>
              <a:rPr lang="en-US" altLang="zh-CN" dirty="0"/>
              <a:t>Summary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8960" y="692696"/>
            <a:ext cx="88392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Nitrogen fixation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reduced to ammonia by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dinitrogenase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reductase and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dinitrogenase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(containing a key Fe-Mo cofactor) of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nitrogenase complex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only in certain bacteria.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Ammonia assimilation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 enters organic molecules via 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 (glutamate dehydrogenase, glutamate synthase)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Gln (glutamine synthetase)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Glutamine/Glutamate aminotransferases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catalyzes the transferring of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to many acceptor molecules.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>
    <p:blinds dir="vert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68413"/>
            <a:ext cx="9144000" cy="4114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600" dirty="0"/>
              <a:t>Amino acids are mainly derived from intermediates of glycolysis, the citric acid cycle, and the pentose phosphate pathway.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Pro and </a:t>
            </a:r>
            <a:r>
              <a:rPr lang="en-US" altLang="zh-CN" sz="2600" dirty="0" err="1"/>
              <a:t>Arg</a:t>
            </a:r>
            <a:r>
              <a:rPr lang="en-US" altLang="zh-CN" sz="2600" dirty="0"/>
              <a:t> are derived from </a:t>
            </a:r>
            <a:r>
              <a:rPr lang="en-US" altLang="zh-CN" sz="2600" dirty="0" err="1"/>
              <a:t>Glu</a:t>
            </a:r>
            <a:r>
              <a:rPr lang="en-US" altLang="zh-CN" sz="2600" dirty="0"/>
              <a:t>, which is synthesized from </a:t>
            </a:r>
            <a:r>
              <a:rPr lang="en-US" altLang="zh-CN" sz="2600" dirty="0">
                <a:latin typeface="Symbol" pitchFamily="18" charset="2"/>
              </a:rPr>
              <a:t>a</a:t>
            </a:r>
            <a:r>
              <a:rPr lang="en-US" altLang="zh-CN" sz="2600" dirty="0"/>
              <a:t>-ketoglutarate.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Ser, </a:t>
            </a:r>
            <a:r>
              <a:rPr lang="en-US" altLang="zh-CN" sz="2600" dirty="0" err="1"/>
              <a:t>Gly</a:t>
            </a:r>
            <a:r>
              <a:rPr lang="en-US" altLang="zh-CN" sz="2600" dirty="0"/>
              <a:t>, and </a:t>
            </a:r>
            <a:r>
              <a:rPr lang="en-US" altLang="zh-CN" sz="2600" dirty="0" err="1"/>
              <a:t>Cys</a:t>
            </a:r>
            <a:r>
              <a:rPr lang="en-US" altLang="zh-CN" sz="2600" dirty="0"/>
              <a:t> are derived from 3-phosphoglycerate.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Met and </a:t>
            </a:r>
            <a:r>
              <a:rPr lang="en-US" altLang="zh-CN" sz="2600" dirty="0" err="1"/>
              <a:t>Thr</a:t>
            </a:r>
            <a:r>
              <a:rPr lang="en-US" altLang="zh-CN" sz="2600" dirty="0"/>
              <a:t> are derived from oxaloacetate.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Lys and Ile are derived from oxaloacetate and pyruvate. 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395536" y="566738"/>
            <a:ext cx="66246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dirty="0">
                <a:latin typeface="Times New Roman" panose="02020603050405020304" pitchFamily="18" charset="0"/>
              </a:rPr>
              <a:t>For Biosynthesis</a:t>
            </a:r>
          </a:p>
        </p:txBody>
      </p:sp>
    </p:spTree>
  </p:cSld>
  <p:clrMapOvr>
    <a:masterClrMapping/>
  </p:clrMapOvr>
  <p:transition spd="slow" advClick="0">
    <p:blinds dir="vert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25538"/>
            <a:ext cx="9144000" cy="453548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600" dirty="0"/>
              <a:t>Val and Leu are derived from pyruvate.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Ile and Val are derived from </a:t>
            </a:r>
            <a:r>
              <a:rPr lang="en-US" altLang="zh-CN" sz="2600" dirty="0" err="1"/>
              <a:t>Thr</a:t>
            </a:r>
            <a:r>
              <a:rPr lang="en-US" altLang="zh-CN" sz="2600" dirty="0"/>
              <a:t>/pyruvate and two molecules of pyruvate respectively, using the same enzymes; Leu is derived from two molecules of pyruvate, sharing four steps of reactions with Val synthesis.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Tryptophan is derived from phosphoenolpyruvate, </a:t>
            </a:r>
            <a:r>
              <a:rPr lang="en-US" altLang="zh-CN" sz="2600" dirty="0" err="1"/>
              <a:t>erythrose</a:t>
            </a:r>
            <a:r>
              <a:rPr lang="en-US" altLang="zh-CN" sz="2600" dirty="0"/>
              <a:t> 4-P, </a:t>
            </a:r>
            <a:r>
              <a:rPr lang="en-US" altLang="zh-CN" sz="2600" dirty="0" err="1"/>
              <a:t>Gln</a:t>
            </a:r>
            <a:r>
              <a:rPr lang="en-US" altLang="zh-CN" sz="2600" dirty="0"/>
              <a:t>, PRPP, and one Ser.</a:t>
            </a:r>
          </a:p>
          <a:p>
            <a:pPr>
              <a:lnSpc>
                <a:spcPct val="110000"/>
              </a:lnSpc>
            </a:pPr>
            <a:r>
              <a:rPr lang="en-US" altLang="zh-CN" sz="2600" dirty="0" err="1"/>
              <a:t>Phe</a:t>
            </a:r>
            <a:r>
              <a:rPr lang="en-US" altLang="zh-CN" sz="2600" dirty="0"/>
              <a:t> and Tyr are synthesized from two phosphoenolpyruvates, one erythrose 4-P  </a:t>
            </a:r>
            <a:r>
              <a:rPr lang="zh-CN" altLang="en-US" sz="2600" dirty="0"/>
              <a:t>（</a:t>
            </a:r>
            <a:r>
              <a:rPr lang="en-US" altLang="zh-CN" sz="2800" dirty="0"/>
              <a:t> shikimate </a:t>
            </a:r>
            <a:r>
              <a:rPr lang="zh-CN" altLang="en-US" sz="2800" dirty="0"/>
              <a:t>莽草酸</a:t>
            </a:r>
            <a:r>
              <a:rPr lang="zh-CN" altLang="en-US" sz="2600" dirty="0"/>
              <a:t>）</a:t>
            </a:r>
            <a:r>
              <a:rPr lang="en-US" altLang="zh-CN" sz="2600" dirty="0"/>
              <a:t>, and one Glu.</a:t>
            </a:r>
          </a:p>
          <a:p>
            <a:pPr>
              <a:lnSpc>
                <a:spcPct val="110000"/>
              </a:lnSpc>
            </a:pPr>
            <a:endParaRPr lang="en-US" altLang="zh-CN" sz="2600" dirty="0"/>
          </a:p>
        </p:txBody>
      </p:sp>
    </p:spTree>
  </p:cSld>
  <p:clrMapOvr>
    <a:masterClrMapping/>
  </p:clrMapOvr>
  <p:transition spd="slow" advClick="0">
    <p:blinds dir="vert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00213"/>
            <a:ext cx="9144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Amino acid in excess can neither be stored, nor excreted, but oxidized or converted.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The amino groups and carbon skeletons of amino acids take separate but interconnected pathways.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Glutamate collects and delivers free ammonia</a:t>
            </a:r>
            <a:r>
              <a:rPr lang="zh-CN" altLang="en-US" dirty="0">
                <a:solidFill>
                  <a:srgbClr val="FF0000"/>
                </a:solidFill>
              </a:rPr>
              <a:t>（转氨基作用）</a:t>
            </a:r>
            <a:r>
              <a:rPr lang="en-US" altLang="zh-CN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Gln</a:t>
            </a:r>
            <a:r>
              <a:rPr lang="en-US" altLang="zh-CN" dirty="0">
                <a:solidFill>
                  <a:srgbClr val="FF0000"/>
                </a:solidFill>
              </a:rPr>
              <a:t> and Glu releases NH</a:t>
            </a:r>
            <a:r>
              <a:rPr lang="en-US" altLang="zh-CN" baseline="-25000" dirty="0">
                <a:solidFill>
                  <a:srgbClr val="FF0000"/>
                </a:solidFill>
              </a:rPr>
              <a:t>4</a:t>
            </a:r>
            <a:r>
              <a:rPr lang="en-US" altLang="zh-CN" baseline="30000" dirty="0">
                <a:solidFill>
                  <a:srgbClr val="FF0000"/>
                </a:solidFill>
              </a:rPr>
              <a:t>+</a:t>
            </a:r>
            <a:r>
              <a:rPr lang="en-US" altLang="zh-CN" dirty="0">
                <a:solidFill>
                  <a:srgbClr val="FF0000"/>
                </a:solidFill>
              </a:rPr>
              <a:t> in mitochondria</a:t>
            </a:r>
            <a:r>
              <a:rPr lang="zh-CN" altLang="en-US" dirty="0">
                <a:solidFill>
                  <a:srgbClr val="FF0000"/>
                </a:solidFill>
              </a:rPr>
              <a:t>（氧化脱氨基作用）</a:t>
            </a:r>
            <a:r>
              <a:rPr lang="en-US" altLang="zh-CN" dirty="0"/>
              <a:t>.</a:t>
            </a:r>
          </a:p>
        </p:txBody>
      </p:sp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395536" y="1042987"/>
            <a:ext cx="75612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dirty="0">
                <a:solidFill>
                  <a:srgbClr val="2A05C7"/>
                </a:solidFill>
                <a:latin typeface="Times New Roman" panose="02020603050405020304" pitchFamily="18" charset="0"/>
              </a:rPr>
              <a:t>For Degradation </a:t>
            </a:r>
          </a:p>
        </p:txBody>
      </p:sp>
    </p:spTree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FC3423-E345-4802-AB9D-C80D504E2B96}"/>
              </a:ext>
            </a:extLst>
          </p:cNvPr>
          <p:cNvSpPr txBox="1"/>
          <p:nvPr/>
        </p:nvSpPr>
        <p:spPr>
          <a:xfrm>
            <a:off x="3419872" y="2276872"/>
            <a:ext cx="2736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603050405020304" pitchFamily="18" charset="0"/>
              </a:rPr>
              <a:t>END</a:t>
            </a:r>
          </a:p>
          <a:p>
            <a:pPr algn="ctr"/>
            <a:endParaRPr lang="en-US" altLang="zh-CN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3600" dirty="0">
                <a:latin typeface="Times New Roman" panose="02020603050405020304" pitchFamily="18" charset="0"/>
              </a:rPr>
              <a:t>Thank you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139802"/>
      </p:ext>
    </p:extLst>
  </p:cSld>
  <p:clrMapOvr>
    <a:masterClrMapping/>
  </p:clrMapOvr>
</p:sld>
</file>

<file path=ppt/theme/theme1.xml><?xml version="1.0" encoding="utf-8"?>
<a:theme xmlns:a="http://schemas.openxmlformats.org/drawingml/2006/main" name="sha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shand</Template>
  <TotalTime>4004</TotalTime>
  <Words>2002</Words>
  <Application>Microsoft Office PowerPoint</Application>
  <PresentationFormat>全屏显示(4:3)</PresentationFormat>
  <Paragraphs>435</Paragraphs>
  <Slides>124</Slides>
  <Notes>89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124</vt:i4>
      </vt:variant>
    </vt:vector>
  </HeadingPairs>
  <TitlesOfParts>
    <vt:vector size="141" baseType="lpstr">
      <vt:lpstr>TimesNewRomanPS-BoldMT</vt:lpstr>
      <vt:lpstr>TimesNewRomanPS-ItalicMT</vt:lpstr>
      <vt:lpstr>TimesNewRomanPSMT</vt:lpstr>
      <vt:lpstr>黑体</vt:lpstr>
      <vt:lpstr>华文中宋</vt:lpstr>
      <vt:lpstr>楷体_GB2312</vt:lpstr>
      <vt:lpstr>隶书</vt:lpstr>
      <vt:lpstr>宋体</vt:lpstr>
      <vt:lpstr>Arial</vt:lpstr>
      <vt:lpstr>Calibri</vt:lpstr>
      <vt:lpstr>Garamond</vt:lpstr>
      <vt:lpstr>Symbol</vt:lpstr>
      <vt:lpstr>Tahoma</vt:lpstr>
      <vt:lpstr>Times New Roman</vt:lpstr>
      <vt:lpstr>Wingdings</vt:lpstr>
      <vt:lpstr>shand</vt:lpstr>
      <vt:lpstr>Image</vt:lpstr>
      <vt:lpstr>Section M  Nitrogen metabolism</vt:lpstr>
      <vt:lpstr>Section M  Nitrogen metabolism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Nitrogen fixation The nitrogenase complex in certain bacteria catalyzes the conversion of N2 to NH3, which is the ultimate source of nitrogen for all the nitrogen-containing biomolecules. </vt:lpstr>
      <vt:lpstr>PowerPoint 演示文稿</vt:lpstr>
      <vt:lpstr>PowerPoint 演示文稿</vt:lpstr>
      <vt:lpstr>Electrons are transferred through a series of carriers to N2 for its reduction on the nitrogenase complex</vt:lpstr>
      <vt:lpstr>PowerPoint 演示文稿</vt:lpstr>
      <vt:lpstr>PowerPoint 演示文稿</vt:lpstr>
      <vt:lpstr>M2 Amino Acid Metabolism</vt:lpstr>
      <vt:lpstr> Reduced nitrogen in the form of NH4+ is assimilated into organic nitrogen-containing compounds by the action of glutamate dehydrogenase and glutamine synthetase .</vt:lpstr>
      <vt:lpstr>PowerPoint 演示文稿</vt:lpstr>
      <vt:lpstr>PowerPoint 演示文稿</vt:lpstr>
      <vt:lpstr>PowerPoint 演示文稿</vt:lpstr>
      <vt:lpstr>PowerPoint 演示文稿</vt:lpstr>
      <vt:lpstr>The 20 amino acids are synthesized mainly from intermediates of glycolysis, citric acid cycle, or pentose phosphate pathway in bacteria and plants.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Only about half of the amino acids can be synthesized by us human being: the rest have to be obtained from diet, thus called essential amino acids.</vt:lpstr>
      <vt:lpstr>PowerPoint 演示文稿</vt:lpstr>
      <vt:lpstr>PowerPoint 演示文稿</vt:lpstr>
      <vt:lpstr>Amino acids are precursors of many specialized biomolecules</vt:lpstr>
      <vt:lpstr>PowerPoint 演示文稿</vt:lpstr>
      <vt:lpstr>PowerPoint 演示文稿</vt:lpstr>
      <vt:lpstr>PowerPoint 演示文稿</vt:lpstr>
      <vt:lpstr>         氨基酸的分解与转化 </vt:lpstr>
      <vt:lpstr>氨基酸的脱氨基作用 </vt:lpstr>
      <vt:lpstr>The surplus amino acids in animals can be completely oxidized or converted to other storable fuels </vt:lpstr>
      <vt:lpstr>PowerPoint 演示文稿</vt:lpstr>
      <vt:lpstr>PowerPoint 演示文稿</vt:lpstr>
      <vt:lpstr>PowerPoint 演示文稿</vt:lpstr>
      <vt:lpstr>PowerPoint 演示文稿</vt:lpstr>
      <vt:lpstr>脱氨基产物α-酮酸的代谢转变</vt:lpstr>
      <vt:lpstr>PowerPoint 演示文稿</vt:lpstr>
      <vt:lpstr>2.氨基酸的脱羧基作用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3.氨基酸分解产物的转化</vt:lpstr>
      <vt:lpstr>（1）氨的代谢转变</vt:lpstr>
      <vt:lpstr>a、谷氨酸的重新生成</vt:lpstr>
      <vt:lpstr>谷氨酰胺的生成和利用</vt:lpstr>
      <vt:lpstr>D   The Urea Cycle</vt:lpstr>
      <vt:lpstr>尿 素 的 生 成 </vt:lpstr>
      <vt:lpstr>鸟氨酸循环</vt:lpstr>
      <vt:lpstr>Summary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weiyu</cp:lastModifiedBy>
  <cp:revision>102</cp:revision>
  <dcterms:created xsi:type="dcterms:W3CDTF">2014-10-13T11:37:17Z</dcterms:created>
  <dcterms:modified xsi:type="dcterms:W3CDTF">2023-09-03T02:31:18Z</dcterms:modified>
</cp:coreProperties>
</file>